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2" r:id="rId26"/>
    <p:sldId id="283" r:id="rId27"/>
    <p:sldId id="284" r:id="rId28"/>
    <p:sldId id="285" r:id="rId29"/>
    <p:sldId id="280" r:id="rId30"/>
    <p:sldId id="281" r:id="rId31"/>
    <p:sldId id="286" r:id="rId32"/>
    <p:sldId id="287" r:id="rId33"/>
    <p:sldId id="289" r:id="rId34"/>
    <p:sldId id="290" r:id="rId35"/>
    <p:sldId id="291" r:id="rId36"/>
    <p:sldId id="293" r:id="rId37"/>
    <p:sldId id="292" r:id="rId38"/>
    <p:sldId id="294" r:id="rId39"/>
    <p:sldId id="295" r:id="rId40"/>
    <p:sldId id="296" r:id="rId41"/>
    <p:sldId id="297" r:id="rId42"/>
    <p:sldId id="299" r:id="rId43"/>
    <p:sldId id="300" r:id="rId44"/>
    <p:sldId id="301" r:id="rId45"/>
    <p:sldId id="298" r:id="rId46"/>
    <p:sldId id="305" r:id="rId47"/>
    <p:sldId id="306" r:id="rId48"/>
    <p:sldId id="288" r:id="rId49"/>
    <p:sldId id="308" r:id="rId50"/>
    <p:sldId id="309"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27" r:id="rId69"/>
    <p:sldId id="328"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E525-47B9-C471-010D-0D1AED5682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8ED8210-A17B-8C4D-26BC-289C18618C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E0EC94-BC78-A748-82DA-FCB59FD7F1CA}"/>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5" name="Footer Placeholder 4">
            <a:extLst>
              <a:ext uri="{FF2B5EF4-FFF2-40B4-BE49-F238E27FC236}">
                <a16:creationId xmlns:a16="http://schemas.microsoft.com/office/drawing/2014/main" id="{ED5542A3-08C5-9C1E-A3CA-E8DE436C3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C8990D-D00A-2761-3CFE-AADE9EF262B4}"/>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735230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B2D95-D880-3A65-E712-E135CE1D55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AB70BF-9242-D2F9-ACE6-4DF96AFE88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A59BA0-4B35-91ED-968C-8550130A5D83}"/>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5" name="Footer Placeholder 4">
            <a:extLst>
              <a:ext uri="{FF2B5EF4-FFF2-40B4-BE49-F238E27FC236}">
                <a16:creationId xmlns:a16="http://schemas.microsoft.com/office/drawing/2014/main" id="{B4A8D99E-2476-7590-867C-8B1B4E33D3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731BDE-1E77-5A45-5841-55E6184C150B}"/>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19009132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5C7D7-107F-4312-08A4-228B08C7EC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16F703-2AC5-EB05-228B-98AF396B20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8B0A5D-3A6A-A598-662A-71815A395388}"/>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5" name="Footer Placeholder 4">
            <a:extLst>
              <a:ext uri="{FF2B5EF4-FFF2-40B4-BE49-F238E27FC236}">
                <a16:creationId xmlns:a16="http://schemas.microsoft.com/office/drawing/2014/main" id="{68451DF1-952B-819D-65C6-9BF16C609B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C0E2BF-2390-53D8-A6C3-67E74C34EFFE}"/>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1627963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C07D8-B6D4-351C-C2B2-F9474BBE71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D9BD89-1BD7-DAAB-5805-00BA770CC5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2B58C0-93AC-C36A-4F11-FD62FA46F9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B2AF5B-6BE8-D767-C8D7-F773232B1156}"/>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6" name="Footer Placeholder 5">
            <a:extLst>
              <a:ext uri="{FF2B5EF4-FFF2-40B4-BE49-F238E27FC236}">
                <a16:creationId xmlns:a16="http://schemas.microsoft.com/office/drawing/2014/main" id="{6B84D047-0CA8-1AE9-E179-663B5F558E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F4734B-E13B-325E-1AC3-5356EC1A258C}"/>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3377167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7C595-B003-9F0D-A8CA-C20699F656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341011-B452-B7F5-15D0-1ABA00716E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20D880-BB81-DD0E-B6BE-814EE5923D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42AA3A-96FA-6D9E-38A8-36E2A0DE0B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D186EE-CB90-A147-E6BF-9915BB12F6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1753E7-6893-F27B-E98C-6E1283130C5A}"/>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8" name="Footer Placeholder 7">
            <a:extLst>
              <a:ext uri="{FF2B5EF4-FFF2-40B4-BE49-F238E27FC236}">
                <a16:creationId xmlns:a16="http://schemas.microsoft.com/office/drawing/2014/main" id="{4C229538-54F2-74F5-0EBB-8237E3C74D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441423-172B-D498-4722-C59CF40BCA6C}"/>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3778308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24CCE-D67E-1864-B6F8-462CD55051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4A52380-FFBA-2E66-7E86-CC9A8B80D240}"/>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4" name="Footer Placeholder 3">
            <a:extLst>
              <a:ext uri="{FF2B5EF4-FFF2-40B4-BE49-F238E27FC236}">
                <a16:creationId xmlns:a16="http://schemas.microsoft.com/office/drawing/2014/main" id="{5ECA805C-12F3-2AFA-9FBF-FA7831C9A3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E9D27C-D889-BB33-8CC7-907B0546EE3C}"/>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3221452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31CDBC-FC85-0375-9E97-27B5A90904D4}"/>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3" name="Footer Placeholder 2">
            <a:extLst>
              <a:ext uri="{FF2B5EF4-FFF2-40B4-BE49-F238E27FC236}">
                <a16:creationId xmlns:a16="http://schemas.microsoft.com/office/drawing/2014/main" id="{855BFD24-9A13-C581-6E26-F10CBC5AAF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95F6AC-2F18-7182-4073-AEF36CE54F78}"/>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36067167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67016-E5B4-9B97-ECAF-7604DA97F2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21032F-0EC8-EF68-BEBB-46EAAA63D9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2B31C2-C548-B2FA-7C9E-0B77774A06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C40CFA-E975-8EED-9324-F485D6B6A212}"/>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6" name="Footer Placeholder 5">
            <a:extLst>
              <a:ext uri="{FF2B5EF4-FFF2-40B4-BE49-F238E27FC236}">
                <a16:creationId xmlns:a16="http://schemas.microsoft.com/office/drawing/2014/main" id="{67333027-A301-7619-2D0B-3EF80F6963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6194C-2856-9342-0015-39B6CB0A479A}"/>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1054701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60EC7-F499-D961-9557-39AF31B270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6A97EB-CBF6-5CC8-E964-1A5EBDF39A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04C8BFB-919E-771B-77F8-9064585F00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653447-786C-6A05-D0EC-2A35FF9AC8E8}"/>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6" name="Footer Placeholder 5">
            <a:extLst>
              <a:ext uri="{FF2B5EF4-FFF2-40B4-BE49-F238E27FC236}">
                <a16:creationId xmlns:a16="http://schemas.microsoft.com/office/drawing/2014/main" id="{52260097-E3E7-DC2D-1663-588AF26D2F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215A77-3EC5-8443-989C-9148431A8F7B}"/>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1134879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82C7A-7CC7-969E-D793-53DED10B33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32DFC1-7B26-B91F-25FE-EF2ED2E04F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9A6608-FAF8-32DE-B9F7-295272EEF92B}"/>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5" name="Footer Placeholder 4">
            <a:extLst>
              <a:ext uri="{FF2B5EF4-FFF2-40B4-BE49-F238E27FC236}">
                <a16:creationId xmlns:a16="http://schemas.microsoft.com/office/drawing/2014/main" id="{D1BAB596-E9C6-4409-157C-CF33161EB3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F8845-A9DE-0757-8541-884DF075E1D5}"/>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2589427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4739AE-AC94-558C-29D5-243BD7FA46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AA0306-3877-342C-3B3D-2E78474B29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D785F4-B796-C248-2A56-BE2BDBAEDFE6}"/>
              </a:ext>
            </a:extLst>
          </p:cNvPr>
          <p:cNvSpPr>
            <a:spLocks noGrp="1"/>
          </p:cNvSpPr>
          <p:nvPr>
            <p:ph type="dt" sz="half" idx="10"/>
          </p:nvPr>
        </p:nvSpPr>
        <p:spPr/>
        <p:txBody>
          <a:bodyPr/>
          <a:lstStyle/>
          <a:p>
            <a:fld id="{97C9F1D5-022E-4DCF-A67E-A667E83710FC}" type="datetimeFigureOut">
              <a:rPr lang="en-US" smtClean="0"/>
              <a:t>3/22/2023</a:t>
            </a:fld>
            <a:endParaRPr lang="en-US"/>
          </a:p>
        </p:txBody>
      </p:sp>
      <p:sp>
        <p:nvSpPr>
          <p:cNvPr id="5" name="Footer Placeholder 4">
            <a:extLst>
              <a:ext uri="{FF2B5EF4-FFF2-40B4-BE49-F238E27FC236}">
                <a16:creationId xmlns:a16="http://schemas.microsoft.com/office/drawing/2014/main" id="{55F684F8-DCBA-DB36-6B0E-A3C9415D73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3319A5-9157-F8D6-FA4C-9B7D8A89EEC5}"/>
              </a:ext>
            </a:extLst>
          </p:cNvPr>
          <p:cNvSpPr>
            <a:spLocks noGrp="1"/>
          </p:cNvSpPr>
          <p:nvPr>
            <p:ph type="sldNum" sz="quarter" idx="12"/>
          </p:nvPr>
        </p:nvSpPr>
        <p:spPr/>
        <p:txBody>
          <a:bodyPr/>
          <a:lstStyle/>
          <a:p>
            <a:fld id="{4D0755E1-4A35-4DF3-8CDB-1B950E0CF000}" type="slidenum">
              <a:rPr lang="en-US" smtClean="0"/>
              <a:t>‹#›</a:t>
            </a:fld>
            <a:endParaRPr lang="en-US"/>
          </a:p>
        </p:txBody>
      </p:sp>
    </p:spTree>
    <p:extLst>
      <p:ext uri="{BB962C8B-B14F-4D97-AF65-F5344CB8AC3E}">
        <p14:creationId xmlns:p14="http://schemas.microsoft.com/office/powerpoint/2010/main" val="3616629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6558F8-0054-AD4B-0668-21204052EC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97A1CED-087E-2CD7-A7C2-E7B6C45136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8F8442-BADD-748F-6329-E743FF7CE9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C9F1D5-022E-4DCF-A67E-A667E83710FC}" type="datetimeFigureOut">
              <a:rPr lang="en-US" smtClean="0"/>
              <a:t>3/22/2023</a:t>
            </a:fld>
            <a:endParaRPr lang="en-US"/>
          </a:p>
        </p:txBody>
      </p:sp>
      <p:sp>
        <p:nvSpPr>
          <p:cNvPr id="5" name="Footer Placeholder 4">
            <a:extLst>
              <a:ext uri="{FF2B5EF4-FFF2-40B4-BE49-F238E27FC236}">
                <a16:creationId xmlns:a16="http://schemas.microsoft.com/office/drawing/2014/main" id="{47AD1068-9632-452A-D588-E9F8489DC4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ADC702-4ED9-585E-323B-685D0180C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0755E1-4A35-4DF3-8CDB-1B950E0CF000}" type="slidenum">
              <a:rPr lang="en-US" smtClean="0"/>
              <a:t>‹#›</a:t>
            </a:fld>
            <a:endParaRPr lang="en-US"/>
          </a:p>
        </p:txBody>
      </p:sp>
    </p:spTree>
    <p:extLst>
      <p:ext uri="{BB962C8B-B14F-4D97-AF65-F5344CB8AC3E}">
        <p14:creationId xmlns:p14="http://schemas.microsoft.com/office/powerpoint/2010/main" val="2514272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emf"/></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E2A75-2B11-E873-11EB-CDFD8BDA48AC}"/>
              </a:ext>
            </a:extLst>
          </p:cNvPr>
          <p:cNvSpPr>
            <a:spLocks noGrp="1"/>
          </p:cNvSpPr>
          <p:nvPr>
            <p:ph type="ctrTitle"/>
          </p:nvPr>
        </p:nvSpPr>
        <p:spPr>
          <a:xfrm>
            <a:off x="1524000" y="1122363"/>
            <a:ext cx="9144000" cy="1655762"/>
          </a:xfrm>
        </p:spPr>
        <p:txBody>
          <a:bodyPr/>
          <a:lstStyle/>
          <a:p>
            <a:r>
              <a:rPr lang="en-US" dirty="0"/>
              <a:t>Module 2</a:t>
            </a:r>
          </a:p>
        </p:txBody>
      </p:sp>
      <p:sp>
        <p:nvSpPr>
          <p:cNvPr id="3" name="Subtitle 2">
            <a:extLst>
              <a:ext uri="{FF2B5EF4-FFF2-40B4-BE49-F238E27FC236}">
                <a16:creationId xmlns:a16="http://schemas.microsoft.com/office/drawing/2014/main" id="{2F4161F7-F47B-5D5E-2BCA-EC728C140955}"/>
              </a:ext>
            </a:extLst>
          </p:cNvPr>
          <p:cNvSpPr>
            <a:spLocks noGrp="1"/>
          </p:cNvSpPr>
          <p:nvPr>
            <p:ph type="subTitle" idx="1"/>
          </p:nvPr>
        </p:nvSpPr>
        <p:spPr>
          <a:xfrm>
            <a:off x="612743" y="3602038"/>
            <a:ext cx="10821970" cy="2421690"/>
          </a:xfrm>
        </p:spPr>
        <p:txBody>
          <a:bodyPr>
            <a:normAutofit fontScale="92500" lnSpcReduction="10000"/>
          </a:bodyPr>
          <a:lstStyle/>
          <a:p>
            <a:pPr marL="67945" algn="just">
              <a:lnSpc>
                <a:spcPts val="1625"/>
              </a:lnSpc>
            </a:pPr>
            <a:r>
              <a:rPr lang="en-US" sz="2400" i="1" spc="-5" dirty="0">
                <a:latin typeface="Times New Roman"/>
                <a:cs typeface="Times New Roman"/>
              </a:rPr>
              <a:t>Register transfer logic: inter register transfer </a:t>
            </a:r>
            <a:r>
              <a:rPr lang="en-US" sz="2400" i="1" dirty="0">
                <a:latin typeface="Times New Roman"/>
                <a:cs typeface="Times New Roman"/>
              </a:rPr>
              <a:t>— </a:t>
            </a:r>
            <a:r>
              <a:rPr lang="en-US" sz="2400" i="1" spc="-5" dirty="0">
                <a:latin typeface="Times New Roman"/>
                <a:cs typeface="Times New Roman"/>
              </a:rPr>
              <a:t>arithmetic, logic and shift</a:t>
            </a:r>
            <a:r>
              <a:rPr lang="en-US" sz="2400" i="1" spc="-75" dirty="0">
                <a:latin typeface="Times New Roman"/>
                <a:cs typeface="Times New Roman"/>
              </a:rPr>
              <a:t> </a:t>
            </a:r>
            <a:r>
              <a:rPr lang="en-US" sz="2400" i="1" spc="-10" dirty="0">
                <a:latin typeface="Times New Roman"/>
                <a:cs typeface="Times New Roman"/>
              </a:rPr>
              <a:t>micro</a:t>
            </a:r>
            <a:endParaRPr lang="en-US" sz="2400" dirty="0">
              <a:latin typeface="Times New Roman"/>
              <a:cs typeface="Times New Roman"/>
            </a:endParaRPr>
          </a:p>
          <a:p>
            <a:pPr marL="67945" marR="59055" algn="just">
              <a:lnSpc>
                <a:spcPct val="143600"/>
              </a:lnSpc>
            </a:pPr>
            <a:r>
              <a:rPr lang="en-US" sz="2400" i="1" spc="-5" dirty="0">
                <a:latin typeface="Times New Roman"/>
                <a:cs typeface="Times New Roman"/>
              </a:rPr>
              <a:t>operations. Processor logic design: </a:t>
            </a:r>
            <a:r>
              <a:rPr lang="en-US" sz="2400" i="1" dirty="0">
                <a:latin typeface="Times New Roman"/>
                <a:cs typeface="Times New Roman"/>
              </a:rPr>
              <a:t>- </a:t>
            </a:r>
            <a:r>
              <a:rPr lang="en-US" sz="2400" i="1" spc="-5" dirty="0">
                <a:latin typeface="Times New Roman"/>
                <a:cs typeface="Times New Roman"/>
              </a:rPr>
              <a:t>processor organization </a:t>
            </a:r>
            <a:r>
              <a:rPr lang="en-US" sz="2400" i="1" dirty="0">
                <a:latin typeface="Times New Roman"/>
                <a:cs typeface="Times New Roman"/>
              </a:rPr>
              <a:t>— </a:t>
            </a:r>
            <a:r>
              <a:rPr lang="en-US" sz="2400" i="1" spc="-5" dirty="0">
                <a:latin typeface="Times New Roman"/>
                <a:cs typeface="Times New Roman"/>
              </a:rPr>
              <a:t>Arithmetic logic unit </a:t>
            </a:r>
            <a:r>
              <a:rPr lang="en-US" sz="2400" i="1" dirty="0">
                <a:latin typeface="Times New Roman"/>
                <a:cs typeface="Times New Roman"/>
              </a:rPr>
              <a:t>-  </a:t>
            </a:r>
            <a:r>
              <a:rPr lang="en-US" sz="2400" i="1" spc="-5" dirty="0">
                <a:latin typeface="Times New Roman"/>
                <a:cs typeface="Times New Roman"/>
              </a:rPr>
              <a:t>design </a:t>
            </a:r>
            <a:r>
              <a:rPr lang="en-US" sz="2400" i="1" dirty="0">
                <a:latin typeface="Times New Roman"/>
                <a:cs typeface="Times New Roman"/>
              </a:rPr>
              <a:t>of </a:t>
            </a:r>
            <a:r>
              <a:rPr lang="en-US" sz="2400" i="1" spc="-5" dirty="0">
                <a:latin typeface="Times New Roman"/>
                <a:cs typeface="Times New Roman"/>
              </a:rPr>
              <a:t>arithmetic circuit </a:t>
            </a:r>
            <a:r>
              <a:rPr lang="en-US" sz="2400" i="1" dirty="0">
                <a:latin typeface="Times New Roman"/>
                <a:cs typeface="Times New Roman"/>
              </a:rPr>
              <a:t>- </a:t>
            </a:r>
            <a:r>
              <a:rPr lang="en-US" sz="2400" i="1" spc="-5" dirty="0">
                <a:latin typeface="Times New Roman"/>
                <a:cs typeface="Times New Roman"/>
              </a:rPr>
              <a:t>design of logic circuit </a:t>
            </a:r>
            <a:r>
              <a:rPr lang="en-US" sz="2400" i="1" dirty="0">
                <a:latin typeface="Times New Roman"/>
                <a:cs typeface="Times New Roman"/>
              </a:rPr>
              <a:t>- </a:t>
            </a:r>
            <a:r>
              <a:rPr lang="en-US" sz="2400" i="1" spc="-5" dirty="0">
                <a:latin typeface="Times New Roman"/>
                <a:cs typeface="Times New Roman"/>
              </a:rPr>
              <a:t>Design </a:t>
            </a:r>
            <a:r>
              <a:rPr lang="en-US" sz="2400" i="1" dirty="0">
                <a:latin typeface="Times New Roman"/>
                <a:cs typeface="Times New Roman"/>
              </a:rPr>
              <a:t>of </a:t>
            </a:r>
            <a:r>
              <a:rPr lang="en-US" sz="2400" i="1" spc="-5" dirty="0">
                <a:latin typeface="Times New Roman"/>
                <a:cs typeface="Times New Roman"/>
              </a:rPr>
              <a:t>arithmetic logic unit </a:t>
            </a:r>
            <a:r>
              <a:rPr lang="en-US" sz="2400" i="1" dirty="0">
                <a:latin typeface="Times New Roman"/>
                <a:cs typeface="Times New Roman"/>
              </a:rPr>
              <a:t>-  </a:t>
            </a:r>
            <a:r>
              <a:rPr lang="en-US" sz="2400" i="1" spc="-5" dirty="0">
                <a:latin typeface="Times New Roman"/>
                <a:cs typeface="Times New Roman"/>
              </a:rPr>
              <a:t>status register —design </a:t>
            </a:r>
            <a:r>
              <a:rPr lang="en-US" sz="2400" i="1" dirty="0">
                <a:latin typeface="Times New Roman"/>
                <a:cs typeface="Times New Roman"/>
              </a:rPr>
              <a:t>of </a:t>
            </a:r>
            <a:r>
              <a:rPr lang="en-US" sz="2400" i="1" spc="-5" dirty="0">
                <a:latin typeface="Times New Roman"/>
                <a:cs typeface="Times New Roman"/>
              </a:rPr>
              <a:t>shifter </a:t>
            </a:r>
            <a:r>
              <a:rPr lang="en-US" sz="2400" i="1" dirty="0">
                <a:latin typeface="Times New Roman"/>
                <a:cs typeface="Times New Roman"/>
              </a:rPr>
              <a:t>- </a:t>
            </a:r>
            <a:r>
              <a:rPr lang="en-US" sz="2400" i="1" spc="-5" dirty="0">
                <a:latin typeface="Times New Roman"/>
                <a:cs typeface="Times New Roman"/>
              </a:rPr>
              <a:t>processor unit </a:t>
            </a:r>
            <a:r>
              <a:rPr lang="en-US" sz="2400" i="1" dirty="0">
                <a:latin typeface="Times New Roman"/>
                <a:cs typeface="Times New Roman"/>
              </a:rPr>
              <a:t>— </a:t>
            </a:r>
            <a:r>
              <a:rPr lang="en-US" sz="2400" i="1" spc="-5" dirty="0">
                <a:latin typeface="Times New Roman"/>
                <a:cs typeface="Times New Roman"/>
              </a:rPr>
              <a:t>design of</a:t>
            </a:r>
            <a:r>
              <a:rPr lang="en-US" sz="2400" i="1" spc="20" dirty="0">
                <a:latin typeface="Times New Roman"/>
                <a:cs typeface="Times New Roman"/>
              </a:rPr>
              <a:t> </a:t>
            </a:r>
            <a:r>
              <a:rPr lang="en-US" sz="2400" i="1" spc="-5" dirty="0">
                <a:latin typeface="Times New Roman"/>
                <a:cs typeface="Times New Roman"/>
              </a:rPr>
              <a:t>accumulator.</a:t>
            </a:r>
          </a:p>
          <a:p>
            <a:pPr marL="67945" marR="59055" algn="just">
              <a:lnSpc>
                <a:spcPct val="143600"/>
              </a:lnSpc>
            </a:pPr>
            <a:r>
              <a:rPr lang="en-US" b="1" i="1" spc="-5" dirty="0">
                <a:latin typeface="Times New Roman"/>
                <a:cs typeface="Times New Roman"/>
              </a:rPr>
              <a:t>Text :</a:t>
            </a:r>
            <a:r>
              <a:rPr lang="it-IT" b="1" dirty="0"/>
              <a:t>Mano M. M., Digital Logic &amp; Computer Design, chapters 8 and 9</a:t>
            </a:r>
            <a:endParaRPr lang="en-US" sz="2400" b="1" dirty="0">
              <a:latin typeface="Times New Roman"/>
              <a:cs typeface="Times New Roman"/>
            </a:endParaRPr>
          </a:p>
          <a:p>
            <a:endParaRPr lang="en-US" dirty="0"/>
          </a:p>
        </p:txBody>
      </p:sp>
    </p:spTree>
    <p:extLst>
      <p:ext uri="{BB962C8B-B14F-4D97-AF65-F5344CB8AC3E}">
        <p14:creationId xmlns:p14="http://schemas.microsoft.com/office/powerpoint/2010/main" val="271027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F9F29E-1E02-A523-E133-CAA91DACC0EB}"/>
              </a:ext>
            </a:extLst>
          </p:cNvPr>
          <p:cNvSpPr>
            <a:spLocks noGrp="1"/>
          </p:cNvSpPr>
          <p:nvPr>
            <p:ph idx="1"/>
          </p:nvPr>
        </p:nvSpPr>
        <p:spPr>
          <a:xfrm>
            <a:off x="838200" y="452487"/>
            <a:ext cx="10515600" cy="5724476"/>
          </a:xfrm>
        </p:spPr>
        <p:txBody>
          <a:bodyPr>
            <a:normAutofit/>
          </a:bodyPr>
          <a:lstStyle/>
          <a:p>
            <a:pPr marL="0" indent="0">
              <a:lnSpc>
                <a:spcPct val="100000"/>
              </a:lnSpc>
              <a:spcBef>
                <a:spcPts val="1220"/>
              </a:spcBef>
              <a:buNone/>
              <a:tabLst>
                <a:tab pos="232410" algn="l"/>
              </a:tabLst>
            </a:pPr>
            <a:r>
              <a:rPr lang="en-US" sz="2400" b="1" i="1" spc="-5" dirty="0">
                <a:latin typeface="Times New Roman"/>
                <a:cs typeface="Times New Roman"/>
              </a:rPr>
              <a:t>Micro-operations</a:t>
            </a:r>
            <a:endParaRPr lang="en-US" sz="2400" dirty="0">
              <a:latin typeface="Times New Roman"/>
              <a:cs typeface="Times New Roman"/>
            </a:endParaRPr>
          </a:p>
          <a:p>
            <a:pPr marL="698500" marR="10160" lvl="1" indent="-228600">
              <a:lnSpc>
                <a:spcPct val="143600"/>
              </a:lnSpc>
              <a:spcBef>
                <a:spcPts val="259"/>
              </a:spcBef>
              <a:buFont typeface="Symbol"/>
              <a:buChar char=""/>
              <a:tabLst>
                <a:tab pos="698500" algn="l"/>
                <a:tab pos="699135" algn="l"/>
              </a:tabLst>
            </a:pPr>
            <a:r>
              <a:rPr lang="en-US" spc="-5" dirty="0">
                <a:latin typeface="Times New Roman"/>
                <a:cs typeface="Times New Roman"/>
              </a:rPr>
              <a:t>Microoperations </a:t>
            </a:r>
            <a:r>
              <a:rPr lang="en-US" dirty="0">
                <a:latin typeface="Times New Roman"/>
                <a:cs typeface="Times New Roman"/>
              </a:rPr>
              <a:t>are </a:t>
            </a:r>
            <a:r>
              <a:rPr lang="en-US" spc="-5" dirty="0">
                <a:latin typeface="Times New Roman"/>
                <a:cs typeface="Times New Roman"/>
              </a:rPr>
              <a:t>the basic operations that </a:t>
            </a:r>
            <a:r>
              <a:rPr lang="en-US" dirty="0">
                <a:latin typeface="Times New Roman"/>
                <a:cs typeface="Times New Roman"/>
              </a:rPr>
              <a:t>can </a:t>
            </a:r>
            <a:r>
              <a:rPr lang="en-US" spc="-5" dirty="0">
                <a:latin typeface="Times New Roman"/>
                <a:cs typeface="Times New Roman"/>
              </a:rPr>
              <a:t>be performed by system  </a:t>
            </a:r>
            <a:r>
              <a:rPr lang="en-US" dirty="0">
                <a:latin typeface="Times New Roman"/>
                <a:cs typeface="Times New Roman"/>
              </a:rPr>
              <a:t>on </a:t>
            </a:r>
            <a:r>
              <a:rPr lang="en-US" spc="-5" dirty="0">
                <a:latin typeface="Times New Roman"/>
                <a:cs typeface="Times New Roman"/>
              </a:rPr>
              <a:t>data stored in</a:t>
            </a:r>
            <a:r>
              <a:rPr lang="en-US" dirty="0">
                <a:latin typeface="Times New Roman"/>
                <a:cs typeface="Times New Roman"/>
              </a:rPr>
              <a:t> </a:t>
            </a:r>
            <a:r>
              <a:rPr lang="en-US" spc="-5" dirty="0">
                <a:latin typeface="Times New Roman"/>
                <a:cs typeface="Times New Roman"/>
              </a:rPr>
              <a:t>registers.</a:t>
            </a:r>
            <a:endParaRPr lang="en-US" dirty="0">
              <a:latin typeface="Times New Roman"/>
              <a:cs typeface="Times New Roman"/>
            </a:endParaRPr>
          </a:p>
          <a:p>
            <a:pPr marL="698500" marR="12065" lvl="1" indent="-228600">
              <a:lnSpc>
                <a:spcPct val="143600"/>
              </a:lnSpc>
              <a:spcBef>
                <a:spcPts val="105"/>
              </a:spcBef>
              <a:buFont typeface="Symbol"/>
              <a:buChar char=""/>
              <a:tabLst>
                <a:tab pos="698500" algn="l"/>
                <a:tab pos="699135" algn="l"/>
              </a:tabLst>
            </a:pPr>
            <a:r>
              <a:rPr lang="en-US" spc="-5" dirty="0">
                <a:latin typeface="Times New Roman"/>
                <a:cs typeface="Times New Roman"/>
              </a:rPr>
              <a:t>Microoperations </a:t>
            </a:r>
            <a:r>
              <a:rPr lang="en-US" dirty="0">
                <a:latin typeface="Times New Roman"/>
                <a:cs typeface="Times New Roman"/>
              </a:rPr>
              <a:t>are </a:t>
            </a:r>
            <a:r>
              <a:rPr lang="en-US" spc="-5" dirty="0">
                <a:latin typeface="Times New Roman"/>
                <a:cs typeface="Times New Roman"/>
              </a:rPr>
              <a:t>used </a:t>
            </a:r>
            <a:r>
              <a:rPr lang="en-US" dirty="0">
                <a:latin typeface="Times New Roman"/>
                <a:cs typeface="Times New Roman"/>
              </a:rPr>
              <a:t>by </a:t>
            </a:r>
            <a:r>
              <a:rPr lang="en-US" spc="-5" dirty="0">
                <a:latin typeface="Times New Roman"/>
                <a:cs typeface="Times New Roman"/>
              </a:rPr>
              <a:t>processors to complete their tasks </a:t>
            </a:r>
            <a:r>
              <a:rPr lang="en-US" dirty="0">
                <a:latin typeface="Times New Roman"/>
                <a:cs typeface="Times New Roman"/>
              </a:rPr>
              <a:t>to </a:t>
            </a:r>
            <a:r>
              <a:rPr lang="en-US" spc="-5" dirty="0">
                <a:latin typeface="Times New Roman"/>
                <a:cs typeface="Times New Roman"/>
              </a:rPr>
              <a:t>transfer  data from one place to</a:t>
            </a:r>
            <a:r>
              <a:rPr lang="en-US" spc="5" dirty="0">
                <a:latin typeface="Times New Roman"/>
                <a:cs typeface="Times New Roman"/>
              </a:rPr>
              <a:t> </a:t>
            </a:r>
            <a:r>
              <a:rPr lang="en-US" spc="-5" dirty="0">
                <a:latin typeface="Times New Roman"/>
                <a:cs typeface="Times New Roman"/>
              </a:rPr>
              <a:t>another.</a:t>
            </a:r>
            <a:endParaRPr lang="en-US" dirty="0">
              <a:latin typeface="Times New Roman"/>
              <a:cs typeface="Times New Roman"/>
            </a:endParaRPr>
          </a:p>
          <a:p>
            <a:pPr marL="12700" indent="0">
              <a:lnSpc>
                <a:spcPct val="100000"/>
              </a:lnSpc>
              <a:spcBef>
                <a:spcPts val="735"/>
              </a:spcBef>
              <a:buNone/>
            </a:pPr>
            <a:r>
              <a:rPr lang="en-US" sz="2400" i="1" spc="-5" dirty="0">
                <a:latin typeface="Times New Roman"/>
                <a:cs typeface="Times New Roman"/>
              </a:rPr>
              <a:t>Types of</a:t>
            </a:r>
            <a:r>
              <a:rPr lang="en-US" sz="2400" i="1" spc="-10" dirty="0">
                <a:latin typeface="Times New Roman"/>
                <a:cs typeface="Times New Roman"/>
              </a:rPr>
              <a:t> </a:t>
            </a:r>
            <a:r>
              <a:rPr lang="en-US" sz="2400" i="1" spc="-5" dirty="0">
                <a:latin typeface="Times New Roman"/>
                <a:cs typeface="Times New Roman"/>
              </a:rPr>
              <a:t>Microoperations</a:t>
            </a:r>
            <a:endParaRPr lang="en-US" sz="2400" dirty="0">
              <a:latin typeface="Times New Roman"/>
              <a:cs typeface="Times New Roman"/>
            </a:endParaRPr>
          </a:p>
          <a:p>
            <a:pPr>
              <a:lnSpc>
                <a:spcPct val="100000"/>
              </a:lnSpc>
              <a:spcBef>
                <a:spcPts val="5"/>
              </a:spcBef>
            </a:pPr>
            <a:endParaRPr lang="en-US" sz="2400" dirty="0">
              <a:latin typeface="Times New Roman"/>
              <a:cs typeface="Times New Roman"/>
            </a:endParaRPr>
          </a:p>
          <a:p>
            <a:pPr marL="965200" lvl="2" indent="-229235">
              <a:lnSpc>
                <a:spcPct val="100000"/>
              </a:lnSpc>
              <a:spcBef>
                <a:spcPts val="5"/>
              </a:spcBef>
              <a:buAutoNum type="arabicPeriod"/>
              <a:tabLst>
                <a:tab pos="965835" algn="l"/>
              </a:tabLst>
            </a:pPr>
            <a:r>
              <a:rPr lang="en-US" sz="2400" dirty="0">
                <a:latin typeface="Times New Roman"/>
                <a:cs typeface="Times New Roman"/>
              </a:rPr>
              <a:t>Inter </a:t>
            </a:r>
            <a:r>
              <a:rPr lang="en-US" sz="2400" spc="-5" dirty="0">
                <a:latin typeface="Times New Roman"/>
                <a:cs typeface="Times New Roman"/>
              </a:rPr>
              <a:t>register transfer micro-operations</a:t>
            </a:r>
            <a:endParaRPr lang="en-US" sz="2400" dirty="0">
              <a:latin typeface="Times New Roman"/>
              <a:cs typeface="Times New Roman"/>
            </a:endParaRPr>
          </a:p>
          <a:p>
            <a:pPr marL="965200" lvl="2" indent="-229235">
              <a:lnSpc>
                <a:spcPct val="100000"/>
              </a:lnSpc>
              <a:spcBef>
                <a:spcPts val="730"/>
              </a:spcBef>
              <a:buAutoNum type="arabicPeriod"/>
              <a:tabLst>
                <a:tab pos="965835" algn="l"/>
              </a:tabLst>
            </a:pPr>
            <a:r>
              <a:rPr lang="en-US" sz="2400" spc="-5" dirty="0">
                <a:latin typeface="Times New Roman"/>
                <a:cs typeface="Times New Roman"/>
              </a:rPr>
              <a:t>Arithmetic</a:t>
            </a:r>
            <a:r>
              <a:rPr lang="en-US" sz="2400" dirty="0">
                <a:latin typeface="Times New Roman"/>
                <a:cs typeface="Times New Roman"/>
              </a:rPr>
              <a:t> </a:t>
            </a:r>
            <a:r>
              <a:rPr lang="en-US" sz="2400" spc="-5" dirty="0">
                <a:latin typeface="Times New Roman"/>
                <a:cs typeface="Times New Roman"/>
              </a:rPr>
              <a:t>micro-operations</a:t>
            </a:r>
            <a:endParaRPr lang="en-US" sz="2400" dirty="0">
              <a:latin typeface="Times New Roman"/>
              <a:cs typeface="Times New Roman"/>
            </a:endParaRPr>
          </a:p>
          <a:p>
            <a:pPr marL="965200" lvl="2" indent="-229235">
              <a:lnSpc>
                <a:spcPct val="100000"/>
              </a:lnSpc>
              <a:spcBef>
                <a:spcPts val="745"/>
              </a:spcBef>
              <a:buAutoNum type="arabicPeriod"/>
              <a:tabLst>
                <a:tab pos="965835" algn="l"/>
              </a:tabLst>
            </a:pPr>
            <a:r>
              <a:rPr lang="en-US" sz="2400" spc="-5" dirty="0">
                <a:latin typeface="Times New Roman"/>
                <a:cs typeface="Times New Roman"/>
              </a:rPr>
              <a:t>Logic micro-operations</a:t>
            </a:r>
            <a:endParaRPr lang="en-US" sz="2400" dirty="0">
              <a:latin typeface="Times New Roman"/>
              <a:cs typeface="Times New Roman"/>
            </a:endParaRPr>
          </a:p>
          <a:p>
            <a:pPr marL="965200" lvl="2" indent="-229235">
              <a:lnSpc>
                <a:spcPct val="100000"/>
              </a:lnSpc>
              <a:spcBef>
                <a:spcPts val="730"/>
              </a:spcBef>
              <a:buAutoNum type="arabicPeriod"/>
              <a:tabLst>
                <a:tab pos="965835" algn="l"/>
              </a:tabLst>
            </a:pPr>
            <a:r>
              <a:rPr lang="en-US" sz="2400" spc="-5" dirty="0">
                <a:latin typeface="Times New Roman"/>
                <a:cs typeface="Times New Roman"/>
              </a:rPr>
              <a:t>Shift</a:t>
            </a:r>
            <a:r>
              <a:rPr lang="en-US" sz="2400" dirty="0">
                <a:latin typeface="Times New Roman"/>
                <a:cs typeface="Times New Roman"/>
              </a:rPr>
              <a:t> </a:t>
            </a:r>
            <a:r>
              <a:rPr lang="en-US" sz="2400" spc="-5" dirty="0">
                <a:latin typeface="Times New Roman"/>
                <a:cs typeface="Times New Roman"/>
              </a:rPr>
              <a:t>micro-operations</a:t>
            </a:r>
            <a:endParaRPr lang="en-US" sz="2400" dirty="0">
              <a:latin typeface="Times New Roman"/>
              <a:cs typeface="Times New Roman"/>
            </a:endParaRPr>
          </a:p>
          <a:p>
            <a:endParaRPr lang="en-US" sz="2400" dirty="0"/>
          </a:p>
        </p:txBody>
      </p:sp>
    </p:spTree>
    <p:extLst>
      <p:ext uri="{BB962C8B-B14F-4D97-AF65-F5344CB8AC3E}">
        <p14:creationId xmlns:p14="http://schemas.microsoft.com/office/powerpoint/2010/main" val="3395533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19E0E1-5AB7-5BEE-052E-AF3DA96696F6}"/>
              </a:ext>
            </a:extLst>
          </p:cNvPr>
          <p:cNvSpPr>
            <a:spLocks noGrp="1"/>
          </p:cNvSpPr>
          <p:nvPr>
            <p:ph idx="1"/>
          </p:nvPr>
        </p:nvSpPr>
        <p:spPr>
          <a:xfrm>
            <a:off x="-282804" y="358219"/>
            <a:ext cx="12198283" cy="5818744"/>
          </a:xfrm>
        </p:spPr>
        <p:txBody>
          <a:bodyPr>
            <a:normAutofit/>
          </a:bodyPr>
          <a:lstStyle/>
          <a:p>
            <a:pPr marL="411480" indent="-170815">
              <a:lnSpc>
                <a:spcPct val="100000"/>
              </a:lnSpc>
              <a:buSzPct val="93750"/>
              <a:buAutoNum type="arabicParenR"/>
              <a:tabLst>
                <a:tab pos="412115" algn="l"/>
              </a:tabLst>
            </a:pPr>
            <a:r>
              <a:rPr lang="en-US" sz="2400" b="1" i="1" u="heavy" spc="-5" dirty="0">
                <a:uFill>
                  <a:solidFill>
                    <a:srgbClr val="000000"/>
                  </a:solidFill>
                </a:uFill>
                <a:latin typeface="Times New Roman"/>
                <a:cs typeface="Times New Roman"/>
              </a:rPr>
              <a:t>Inter register </a:t>
            </a:r>
            <a:r>
              <a:rPr lang="en-US" sz="2400" b="1" i="1" u="heavy" dirty="0">
                <a:uFill>
                  <a:solidFill>
                    <a:srgbClr val="000000"/>
                  </a:solidFill>
                </a:uFill>
                <a:latin typeface="Times New Roman"/>
                <a:cs typeface="Times New Roman"/>
              </a:rPr>
              <a:t>transfer</a:t>
            </a:r>
            <a:r>
              <a:rPr lang="en-US" sz="2400" b="1" i="1" u="heavy" spc="15" dirty="0">
                <a:uFill>
                  <a:solidFill>
                    <a:srgbClr val="000000"/>
                  </a:solidFill>
                </a:uFill>
                <a:latin typeface="Times New Roman"/>
                <a:cs typeface="Times New Roman"/>
              </a:rPr>
              <a:t> </a:t>
            </a:r>
            <a:r>
              <a:rPr lang="en-US" sz="2400" b="1" i="1" u="heavy" spc="-5" dirty="0">
                <a:uFill>
                  <a:solidFill>
                    <a:srgbClr val="000000"/>
                  </a:solidFill>
                </a:uFill>
                <a:latin typeface="Times New Roman"/>
                <a:cs typeface="Times New Roman"/>
              </a:rPr>
              <a:t>micro-operations</a:t>
            </a:r>
            <a:endParaRPr lang="en-US" sz="2400" dirty="0">
              <a:latin typeface="Times New Roman"/>
              <a:cs typeface="Times New Roman"/>
            </a:endParaRPr>
          </a:p>
          <a:p>
            <a:pPr>
              <a:lnSpc>
                <a:spcPct val="100000"/>
              </a:lnSpc>
              <a:spcBef>
                <a:spcPts val="10"/>
              </a:spcBef>
              <a:buFont typeface="Times New Roman"/>
              <a:buAutoNum type="arabicParenR"/>
            </a:pPr>
            <a:endParaRPr lang="en-US" sz="2400" dirty="0">
              <a:latin typeface="Times New Roman"/>
              <a:cs typeface="Times New Roman"/>
            </a:endParaRPr>
          </a:p>
          <a:p>
            <a:pPr marL="698500" marR="8255" lvl="1" indent="-228600">
              <a:lnSpc>
                <a:spcPct val="143600"/>
              </a:lnSpc>
              <a:buFont typeface="Symbol"/>
              <a:buChar char=""/>
              <a:tabLst>
                <a:tab pos="698500" algn="l"/>
                <a:tab pos="699135" algn="l"/>
              </a:tabLst>
            </a:pPr>
            <a:r>
              <a:rPr lang="en-US" dirty="0">
                <a:latin typeface="Times New Roman"/>
                <a:cs typeface="Times New Roman"/>
              </a:rPr>
              <a:t>These </a:t>
            </a:r>
            <a:r>
              <a:rPr lang="en-US" spc="-5" dirty="0">
                <a:latin typeface="Times New Roman"/>
                <a:cs typeface="Times New Roman"/>
              </a:rPr>
              <a:t>micro-operations do not change the information content when the  binary information moves from one register </a:t>
            </a:r>
            <a:r>
              <a:rPr lang="en-US" dirty="0">
                <a:latin typeface="Times New Roman"/>
                <a:cs typeface="Times New Roman"/>
              </a:rPr>
              <a:t>to</a:t>
            </a:r>
            <a:r>
              <a:rPr lang="en-US" spc="30" dirty="0">
                <a:latin typeface="Times New Roman"/>
                <a:cs typeface="Times New Roman"/>
              </a:rPr>
              <a:t> </a:t>
            </a:r>
            <a:r>
              <a:rPr lang="en-US" spc="-5" dirty="0">
                <a:latin typeface="Times New Roman"/>
                <a:cs typeface="Times New Roman"/>
              </a:rPr>
              <a:t>another.</a:t>
            </a:r>
            <a:endParaRPr lang="en-US" dirty="0">
              <a:latin typeface="Times New Roman"/>
              <a:cs typeface="Times New Roman"/>
            </a:endParaRPr>
          </a:p>
          <a:p>
            <a:pPr marL="698500" marR="5080" lvl="1" indent="-228600">
              <a:lnSpc>
                <a:spcPct val="143600"/>
              </a:lnSpc>
              <a:spcBef>
                <a:spcPts val="110"/>
              </a:spcBef>
              <a:buFont typeface="Symbol"/>
              <a:buChar char=""/>
              <a:tabLst>
                <a:tab pos="698500" algn="l"/>
                <a:tab pos="699135" algn="l"/>
              </a:tabLst>
            </a:pPr>
            <a:r>
              <a:rPr lang="en-US" spc="-5" dirty="0">
                <a:latin typeface="Times New Roman"/>
                <a:cs typeface="Times New Roman"/>
              </a:rPr>
              <a:t>The</a:t>
            </a:r>
            <a:r>
              <a:rPr lang="en-US" spc="-50" dirty="0">
                <a:latin typeface="Times New Roman"/>
                <a:cs typeface="Times New Roman"/>
              </a:rPr>
              <a:t> </a:t>
            </a:r>
            <a:r>
              <a:rPr lang="en-US" spc="-5" dirty="0">
                <a:latin typeface="Times New Roman"/>
                <a:cs typeface="Times New Roman"/>
              </a:rPr>
              <a:t>registers</a:t>
            </a:r>
            <a:r>
              <a:rPr lang="en-US" spc="-55" dirty="0">
                <a:latin typeface="Times New Roman"/>
                <a:cs typeface="Times New Roman"/>
              </a:rPr>
              <a:t> </a:t>
            </a:r>
            <a:r>
              <a:rPr lang="en-US" dirty="0">
                <a:latin typeface="Times New Roman"/>
                <a:cs typeface="Times New Roman"/>
              </a:rPr>
              <a:t>in</a:t>
            </a:r>
            <a:r>
              <a:rPr lang="en-US" spc="-45" dirty="0">
                <a:latin typeface="Times New Roman"/>
                <a:cs typeface="Times New Roman"/>
              </a:rPr>
              <a:t> </a:t>
            </a:r>
            <a:r>
              <a:rPr lang="en-US" dirty="0">
                <a:latin typeface="Times New Roman"/>
                <a:cs typeface="Times New Roman"/>
              </a:rPr>
              <a:t>a</a:t>
            </a:r>
            <a:r>
              <a:rPr lang="en-US" spc="-60" dirty="0">
                <a:latin typeface="Times New Roman"/>
                <a:cs typeface="Times New Roman"/>
              </a:rPr>
              <a:t> </a:t>
            </a:r>
            <a:r>
              <a:rPr lang="en-US" spc="-5" dirty="0">
                <a:latin typeface="Times New Roman"/>
                <a:cs typeface="Times New Roman"/>
              </a:rPr>
              <a:t>digital</a:t>
            </a:r>
            <a:r>
              <a:rPr lang="en-US" spc="-55" dirty="0">
                <a:latin typeface="Times New Roman"/>
                <a:cs typeface="Times New Roman"/>
              </a:rPr>
              <a:t> </a:t>
            </a:r>
            <a:r>
              <a:rPr lang="en-US" spc="-5" dirty="0">
                <a:latin typeface="Times New Roman"/>
                <a:cs typeface="Times New Roman"/>
              </a:rPr>
              <a:t>system</a:t>
            </a:r>
            <a:r>
              <a:rPr lang="en-US" spc="-45" dirty="0">
                <a:latin typeface="Times New Roman"/>
                <a:cs typeface="Times New Roman"/>
              </a:rPr>
              <a:t> </a:t>
            </a:r>
            <a:r>
              <a:rPr lang="en-US" spc="-5" dirty="0">
                <a:latin typeface="Times New Roman"/>
                <a:cs typeface="Times New Roman"/>
              </a:rPr>
              <a:t>are</a:t>
            </a:r>
            <a:r>
              <a:rPr lang="en-US" spc="-45" dirty="0">
                <a:latin typeface="Times New Roman"/>
                <a:cs typeface="Times New Roman"/>
              </a:rPr>
              <a:t> </a:t>
            </a:r>
            <a:r>
              <a:rPr lang="en-US" spc="-5" dirty="0">
                <a:latin typeface="Times New Roman"/>
                <a:cs typeface="Times New Roman"/>
              </a:rPr>
              <a:t>designated</a:t>
            </a:r>
            <a:r>
              <a:rPr lang="en-US" spc="-55" dirty="0">
                <a:latin typeface="Times New Roman"/>
                <a:cs typeface="Times New Roman"/>
              </a:rPr>
              <a:t> </a:t>
            </a:r>
            <a:r>
              <a:rPr lang="en-US" spc="-5" dirty="0">
                <a:latin typeface="Times New Roman"/>
                <a:cs typeface="Times New Roman"/>
              </a:rPr>
              <a:t>by</a:t>
            </a:r>
            <a:r>
              <a:rPr lang="en-US" spc="-45" dirty="0">
                <a:latin typeface="Times New Roman"/>
                <a:cs typeface="Times New Roman"/>
              </a:rPr>
              <a:t> </a:t>
            </a:r>
            <a:r>
              <a:rPr lang="en-US" spc="-5" dirty="0">
                <a:latin typeface="Times New Roman"/>
                <a:cs typeface="Times New Roman"/>
              </a:rPr>
              <a:t>capital</a:t>
            </a:r>
            <a:r>
              <a:rPr lang="en-US" spc="-50" dirty="0">
                <a:latin typeface="Times New Roman"/>
                <a:cs typeface="Times New Roman"/>
              </a:rPr>
              <a:t> </a:t>
            </a:r>
            <a:r>
              <a:rPr lang="en-US" spc="-5" dirty="0">
                <a:latin typeface="Times New Roman"/>
                <a:cs typeface="Times New Roman"/>
              </a:rPr>
              <a:t>letters.</a:t>
            </a:r>
            <a:r>
              <a:rPr lang="en-US" spc="-60" dirty="0">
                <a:latin typeface="Times New Roman"/>
                <a:cs typeface="Times New Roman"/>
              </a:rPr>
              <a:t> </a:t>
            </a:r>
            <a:r>
              <a:rPr lang="en-US" dirty="0">
                <a:latin typeface="Times New Roman"/>
                <a:cs typeface="Times New Roman"/>
              </a:rPr>
              <a:t>Examples  A, B, R1, </a:t>
            </a:r>
            <a:r>
              <a:rPr lang="en-US" spc="-10" dirty="0">
                <a:latin typeface="Times New Roman"/>
                <a:cs typeface="Times New Roman"/>
              </a:rPr>
              <a:t>R2</a:t>
            </a:r>
            <a:r>
              <a:rPr lang="en-US" spc="-20" dirty="0">
                <a:latin typeface="Times New Roman"/>
                <a:cs typeface="Times New Roman"/>
              </a:rPr>
              <a:t> </a:t>
            </a:r>
            <a:r>
              <a:rPr lang="en-US" dirty="0">
                <a:latin typeface="Times New Roman"/>
                <a:cs typeface="Times New Roman"/>
              </a:rPr>
              <a:t>etc.</a:t>
            </a:r>
          </a:p>
          <a:p>
            <a:pPr marL="698500" marR="10160" lvl="1" indent="-228600" algn="just">
              <a:lnSpc>
                <a:spcPct val="143600"/>
              </a:lnSpc>
              <a:spcBef>
                <a:spcPts val="105"/>
              </a:spcBef>
              <a:buFont typeface="Symbol"/>
              <a:buChar char=""/>
              <a:tabLst>
                <a:tab pos="699135" algn="l"/>
              </a:tabLst>
            </a:pPr>
            <a:r>
              <a:rPr lang="en-US" spc="-5" dirty="0">
                <a:latin typeface="Times New Roman"/>
                <a:cs typeface="Times New Roman"/>
              </a:rPr>
              <a:t>The register that holds the address </a:t>
            </a:r>
            <a:r>
              <a:rPr lang="en-US" dirty="0">
                <a:latin typeface="Times New Roman"/>
                <a:cs typeface="Times New Roman"/>
              </a:rPr>
              <a:t>of </a:t>
            </a:r>
            <a:r>
              <a:rPr lang="en-US" spc="-5" dirty="0">
                <a:latin typeface="Times New Roman"/>
                <a:cs typeface="Times New Roman"/>
              </a:rPr>
              <a:t>the </a:t>
            </a:r>
            <a:r>
              <a:rPr lang="en-US" dirty="0">
                <a:latin typeface="Times New Roman"/>
                <a:cs typeface="Times New Roman"/>
              </a:rPr>
              <a:t>memory </a:t>
            </a:r>
            <a:r>
              <a:rPr lang="en-US" spc="-5" dirty="0">
                <a:latin typeface="Times New Roman"/>
                <a:cs typeface="Times New Roman"/>
              </a:rPr>
              <a:t>unit </a:t>
            </a:r>
            <a:r>
              <a:rPr lang="en-US" dirty="0">
                <a:latin typeface="Times New Roman"/>
                <a:cs typeface="Times New Roman"/>
              </a:rPr>
              <a:t>is </a:t>
            </a:r>
            <a:r>
              <a:rPr lang="en-US" spc="-5" dirty="0">
                <a:latin typeface="Times New Roman"/>
                <a:cs typeface="Times New Roman"/>
              </a:rPr>
              <a:t>called Memory  Address Register (MAR). The cells of </a:t>
            </a:r>
            <a:r>
              <a:rPr lang="en-US" dirty="0">
                <a:latin typeface="Times New Roman"/>
                <a:cs typeface="Times New Roman"/>
              </a:rPr>
              <a:t>an n </a:t>
            </a:r>
            <a:r>
              <a:rPr lang="en-US" spc="-5" dirty="0">
                <a:latin typeface="Times New Roman"/>
                <a:cs typeface="Times New Roman"/>
              </a:rPr>
              <a:t>bit register </a:t>
            </a:r>
            <a:r>
              <a:rPr lang="en-US" dirty="0">
                <a:latin typeface="Times New Roman"/>
                <a:cs typeface="Times New Roman"/>
              </a:rPr>
              <a:t>are </a:t>
            </a:r>
            <a:r>
              <a:rPr lang="en-US" spc="-5" dirty="0">
                <a:latin typeface="Times New Roman"/>
                <a:cs typeface="Times New Roman"/>
              </a:rPr>
              <a:t>numbered in  sequence from </a:t>
            </a:r>
            <a:r>
              <a:rPr lang="en-US" dirty="0">
                <a:latin typeface="Times New Roman"/>
                <a:cs typeface="Times New Roman"/>
              </a:rPr>
              <a:t>1 </a:t>
            </a:r>
            <a:r>
              <a:rPr lang="en-US" spc="-5" dirty="0">
                <a:latin typeface="Times New Roman"/>
                <a:cs typeface="Times New Roman"/>
              </a:rPr>
              <a:t>to </a:t>
            </a:r>
            <a:r>
              <a:rPr lang="en-US" dirty="0">
                <a:latin typeface="Times New Roman"/>
                <a:cs typeface="Times New Roman"/>
              </a:rPr>
              <a:t>n, </a:t>
            </a:r>
            <a:r>
              <a:rPr lang="en-US" spc="-5" dirty="0">
                <a:latin typeface="Times New Roman"/>
                <a:cs typeface="Times New Roman"/>
              </a:rPr>
              <a:t>starting either from the left </a:t>
            </a:r>
            <a:r>
              <a:rPr lang="en-US" dirty="0">
                <a:latin typeface="Times New Roman"/>
                <a:cs typeface="Times New Roman"/>
              </a:rPr>
              <a:t>or </a:t>
            </a:r>
            <a:r>
              <a:rPr lang="en-US" spc="-5" dirty="0">
                <a:latin typeface="Times New Roman"/>
                <a:cs typeface="Times New Roman"/>
              </a:rPr>
              <a:t>from the</a:t>
            </a:r>
            <a:r>
              <a:rPr lang="en-US" spc="30" dirty="0">
                <a:latin typeface="Times New Roman"/>
                <a:cs typeface="Times New Roman"/>
              </a:rPr>
              <a:t> </a:t>
            </a:r>
            <a:r>
              <a:rPr lang="en-US" spc="-5" dirty="0">
                <a:latin typeface="Times New Roman"/>
                <a:cs typeface="Times New Roman"/>
              </a:rPr>
              <a:t>right.</a:t>
            </a:r>
            <a:endParaRPr lang="en-US" dirty="0">
              <a:latin typeface="Times New Roman"/>
              <a:cs typeface="Times New Roman"/>
            </a:endParaRPr>
          </a:p>
          <a:p>
            <a:pPr marL="698500" lvl="1" indent="-229235" algn="just">
              <a:lnSpc>
                <a:spcPct val="100000"/>
              </a:lnSpc>
              <a:spcBef>
                <a:spcPts val="840"/>
              </a:spcBef>
              <a:buFont typeface="Symbol"/>
              <a:buChar char=""/>
              <a:tabLst>
                <a:tab pos="699135" algn="l"/>
              </a:tabLst>
            </a:pPr>
            <a:r>
              <a:rPr lang="en-US" dirty="0">
                <a:latin typeface="Times New Roman"/>
                <a:cs typeface="Times New Roman"/>
              </a:rPr>
              <a:t>A </a:t>
            </a:r>
            <a:r>
              <a:rPr lang="en-US" spc="-5" dirty="0">
                <a:latin typeface="Times New Roman"/>
                <a:cs typeface="Times New Roman"/>
              </a:rPr>
              <a:t>register can </a:t>
            </a:r>
            <a:r>
              <a:rPr lang="en-US" dirty="0">
                <a:latin typeface="Times New Roman"/>
                <a:cs typeface="Times New Roman"/>
              </a:rPr>
              <a:t>be </a:t>
            </a:r>
            <a:r>
              <a:rPr lang="en-US" spc="-5" dirty="0">
                <a:latin typeface="Times New Roman"/>
                <a:cs typeface="Times New Roman"/>
              </a:rPr>
              <a:t>represented </a:t>
            </a:r>
            <a:r>
              <a:rPr lang="en-US" dirty="0">
                <a:latin typeface="Times New Roman"/>
                <a:cs typeface="Times New Roman"/>
              </a:rPr>
              <a:t>in 4 </a:t>
            </a:r>
            <a:r>
              <a:rPr lang="en-US" spc="-5" dirty="0">
                <a:latin typeface="Times New Roman"/>
                <a:cs typeface="Times New Roman"/>
              </a:rPr>
              <a:t>ways</a:t>
            </a:r>
            <a:endParaRPr lang="en-US" sz="2400" dirty="0"/>
          </a:p>
        </p:txBody>
      </p:sp>
    </p:spTree>
    <p:extLst>
      <p:ext uri="{BB962C8B-B14F-4D97-AF65-F5344CB8AC3E}">
        <p14:creationId xmlns:p14="http://schemas.microsoft.com/office/powerpoint/2010/main" val="1898498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59797A-8792-1B28-5153-092D7955F037}"/>
              </a:ext>
            </a:extLst>
          </p:cNvPr>
          <p:cNvSpPr>
            <a:spLocks noGrp="1"/>
          </p:cNvSpPr>
          <p:nvPr>
            <p:ph idx="1"/>
          </p:nvPr>
        </p:nvSpPr>
        <p:spPr>
          <a:xfrm>
            <a:off x="216816" y="292231"/>
            <a:ext cx="11136984" cy="5884731"/>
          </a:xfrm>
        </p:spPr>
        <p:txBody>
          <a:bodyPr>
            <a:normAutofit/>
          </a:bodyPr>
          <a:lstStyle/>
          <a:p>
            <a:pPr marL="469265" marR="10795" indent="-228600">
              <a:lnSpc>
                <a:spcPct val="143700"/>
              </a:lnSpc>
              <a:spcBef>
                <a:spcPts val="100"/>
              </a:spcBef>
              <a:buAutoNum type="arabicPeriod"/>
              <a:tabLst>
                <a:tab pos="469900" algn="l"/>
              </a:tabLst>
            </a:pPr>
            <a:r>
              <a:rPr lang="en-US" sz="2200" dirty="0">
                <a:latin typeface="Times New Roman"/>
                <a:cs typeface="Times New Roman"/>
              </a:rPr>
              <a:t>Figure (a) </a:t>
            </a:r>
            <a:r>
              <a:rPr lang="en-US" sz="2200" spc="-5" dirty="0">
                <a:latin typeface="Times New Roman"/>
                <a:cs typeface="Times New Roman"/>
              </a:rPr>
              <a:t>shows </a:t>
            </a:r>
            <a:r>
              <a:rPr lang="en-US" sz="2200" dirty="0">
                <a:latin typeface="Times New Roman"/>
                <a:cs typeface="Times New Roman"/>
              </a:rPr>
              <a:t>the </a:t>
            </a:r>
            <a:r>
              <a:rPr lang="en-US" sz="2200" spc="-5" dirty="0">
                <a:latin typeface="Times New Roman"/>
                <a:cs typeface="Times New Roman"/>
              </a:rPr>
              <a:t>most common way to represent </a:t>
            </a:r>
            <a:r>
              <a:rPr lang="en-US" sz="2200" dirty="0">
                <a:latin typeface="Times New Roman"/>
                <a:cs typeface="Times New Roman"/>
              </a:rPr>
              <a:t>a </a:t>
            </a:r>
            <a:r>
              <a:rPr lang="en-US" sz="2200" spc="-5" dirty="0">
                <a:latin typeface="Times New Roman"/>
                <a:cs typeface="Times New Roman"/>
              </a:rPr>
              <a:t>register </a:t>
            </a:r>
            <a:r>
              <a:rPr lang="en-US" sz="2200" dirty="0">
                <a:latin typeface="Times New Roman"/>
                <a:cs typeface="Times New Roman"/>
              </a:rPr>
              <a:t>is </a:t>
            </a:r>
            <a:r>
              <a:rPr lang="en-US" sz="2200" spc="-5" dirty="0">
                <a:latin typeface="Times New Roman"/>
                <a:cs typeface="Times New Roman"/>
              </a:rPr>
              <a:t>with </a:t>
            </a:r>
            <a:r>
              <a:rPr lang="en-US" sz="2200" dirty="0">
                <a:latin typeface="Times New Roman"/>
                <a:cs typeface="Times New Roman"/>
              </a:rPr>
              <a:t>a  </a:t>
            </a:r>
            <a:r>
              <a:rPr lang="en-US" sz="2200" spc="-5" dirty="0">
                <a:latin typeface="Times New Roman"/>
                <a:cs typeface="Times New Roman"/>
              </a:rPr>
              <a:t>rectangular box </a:t>
            </a:r>
            <a:r>
              <a:rPr lang="en-US" sz="2200" dirty="0">
                <a:latin typeface="Times New Roman"/>
                <a:cs typeface="Times New Roman"/>
              </a:rPr>
              <a:t>in </a:t>
            </a:r>
            <a:r>
              <a:rPr lang="en-US" sz="2200" spc="-5" dirty="0">
                <a:latin typeface="Times New Roman"/>
                <a:cs typeface="Times New Roman"/>
              </a:rPr>
              <a:t>which name </a:t>
            </a:r>
            <a:r>
              <a:rPr lang="en-US" sz="2200" dirty="0">
                <a:latin typeface="Times New Roman"/>
                <a:cs typeface="Times New Roman"/>
              </a:rPr>
              <a:t>of </a:t>
            </a:r>
            <a:r>
              <a:rPr lang="en-US" sz="2200" spc="-5" dirty="0">
                <a:latin typeface="Times New Roman"/>
                <a:cs typeface="Times New Roman"/>
              </a:rPr>
              <a:t>the register </a:t>
            </a:r>
            <a:r>
              <a:rPr lang="en-US" sz="2200" dirty="0">
                <a:latin typeface="Times New Roman"/>
                <a:cs typeface="Times New Roman"/>
              </a:rPr>
              <a:t>is </a:t>
            </a:r>
            <a:r>
              <a:rPr lang="en-US" sz="2200" spc="-5" dirty="0">
                <a:latin typeface="Times New Roman"/>
                <a:cs typeface="Times New Roman"/>
              </a:rPr>
              <a:t>specified within </a:t>
            </a:r>
            <a:r>
              <a:rPr lang="en-US" sz="2200" dirty="0">
                <a:latin typeface="Times New Roman"/>
                <a:cs typeface="Times New Roman"/>
              </a:rPr>
              <a:t>the</a:t>
            </a:r>
            <a:r>
              <a:rPr lang="en-US" sz="2200" spc="-15" dirty="0">
                <a:latin typeface="Times New Roman"/>
                <a:cs typeface="Times New Roman"/>
              </a:rPr>
              <a:t> </a:t>
            </a:r>
            <a:r>
              <a:rPr lang="en-US" sz="2200" spc="-5" dirty="0">
                <a:latin typeface="Times New Roman"/>
                <a:cs typeface="Times New Roman"/>
              </a:rPr>
              <a:t>box.</a:t>
            </a:r>
            <a:endParaRPr lang="en-US" sz="2200" dirty="0">
              <a:latin typeface="Times New Roman"/>
              <a:cs typeface="Times New Roman"/>
            </a:endParaRPr>
          </a:p>
          <a:p>
            <a:pPr marL="469265" marR="5715" indent="-228600">
              <a:lnSpc>
                <a:spcPct val="143600"/>
              </a:lnSpc>
              <a:spcBef>
                <a:spcPts val="10"/>
              </a:spcBef>
              <a:buAutoNum type="arabicPeriod"/>
              <a:tabLst>
                <a:tab pos="469900" algn="l"/>
              </a:tabLst>
            </a:pPr>
            <a:r>
              <a:rPr lang="en-US" sz="2200" dirty="0">
                <a:latin typeface="Times New Roman"/>
                <a:cs typeface="Times New Roman"/>
              </a:rPr>
              <a:t>In </a:t>
            </a:r>
            <a:r>
              <a:rPr lang="en-US" sz="2200" spc="-5" dirty="0">
                <a:latin typeface="Times New Roman"/>
                <a:cs typeface="Times New Roman"/>
              </a:rPr>
              <a:t>figure (b), it shows the individual cells </a:t>
            </a:r>
            <a:r>
              <a:rPr lang="en-US" sz="2200" dirty="0">
                <a:latin typeface="Times New Roman"/>
                <a:cs typeface="Times New Roman"/>
              </a:rPr>
              <a:t>of a register </a:t>
            </a:r>
            <a:r>
              <a:rPr lang="en-US" sz="2200" spc="-5" dirty="0">
                <a:latin typeface="Times New Roman"/>
                <a:cs typeface="Times New Roman"/>
              </a:rPr>
              <a:t>is assigned </a:t>
            </a:r>
            <a:r>
              <a:rPr lang="en-US" sz="2200" dirty="0">
                <a:latin typeface="Times New Roman"/>
                <a:cs typeface="Times New Roman"/>
              </a:rPr>
              <a:t>a </a:t>
            </a:r>
            <a:r>
              <a:rPr lang="en-US" sz="2200" spc="-5" dirty="0">
                <a:latin typeface="Times New Roman"/>
                <a:cs typeface="Times New Roman"/>
              </a:rPr>
              <a:t>letter  with </a:t>
            </a:r>
            <a:r>
              <a:rPr lang="en-US" sz="2200" dirty="0">
                <a:latin typeface="Times New Roman"/>
                <a:cs typeface="Times New Roman"/>
              </a:rPr>
              <a:t>a </a:t>
            </a:r>
            <a:r>
              <a:rPr lang="en-US" sz="2200" spc="-5" dirty="0">
                <a:latin typeface="Times New Roman"/>
                <a:cs typeface="Times New Roman"/>
              </a:rPr>
              <a:t>subscript number and </a:t>
            </a:r>
            <a:r>
              <a:rPr lang="en-US" sz="2200" dirty="0">
                <a:latin typeface="Times New Roman"/>
                <a:cs typeface="Times New Roman"/>
              </a:rPr>
              <a:t>is </a:t>
            </a:r>
            <a:r>
              <a:rPr lang="en-US" sz="2200" spc="-5" dirty="0">
                <a:latin typeface="Times New Roman"/>
                <a:cs typeface="Times New Roman"/>
              </a:rPr>
              <a:t>marked from right to</a:t>
            </a:r>
            <a:r>
              <a:rPr lang="en-US" sz="2200" spc="45" dirty="0">
                <a:latin typeface="Times New Roman"/>
                <a:cs typeface="Times New Roman"/>
              </a:rPr>
              <a:t> </a:t>
            </a:r>
            <a:r>
              <a:rPr lang="en-US" sz="2200" spc="-5" dirty="0">
                <a:latin typeface="Times New Roman"/>
                <a:cs typeface="Times New Roman"/>
              </a:rPr>
              <a:t>left.</a:t>
            </a:r>
            <a:endParaRPr lang="en-US" sz="2200" dirty="0">
              <a:latin typeface="Times New Roman"/>
              <a:cs typeface="Times New Roman"/>
            </a:endParaRPr>
          </a:p>
          <a:p>
            <a:pPr marL="469265" marR="12700" indent="-228600">
              <a:lnSpc>
                <a:spcPct val="143600"/>
              </a:lnSpc>
              <a:buAutoNum type="arabicPeriod"/>
              <a:tabLst>
                <a:tab pos="469900" algn="l"/>
              </a:tabLst>
            </a:pPr>
            <a:r>
              <a:rPr lang="en-US" sz="2200" spc="-5" dirty="0">
                <a:latin typeface="Times New Roman"/>
                <a:cs typeface="Times New Roman"/>
              </a:rPr>
              <a:t>The numbering of cells from </a:t>
            </a:r>
            <a:r>
              <a:rPr lang="en-US" sz="2200" spc="-10" dirty="0">
                <a:latin typeface="Times New Roman"/>
                <a:cs typeface="Times New Roman"/>
              </a:rPr>
              <a:t>right </a:t>
            </a:r>
            <a:r>
              <a:rPr lang="en-US" sz="2200" spc="-5" dirty="0">
                <a:latin typeface="Times New Roman"/>
                <a:cs typeface="Times New Roman"/>
              </a:rPr>
              <a:t>to left can be marked on top </a:t>
            </a:r>
            <a:r>
              <a:rPr lang="en-US" sz="2200" dirty="0">
                <a:latin typeface="Times New Roman"/>
                <a:cs typeface="Times New Roman"/>
              </a:rPr>
              <a:t>of </a:t>
            </a:r>
            <a:r>
              <a:rPr lang="en-US" sz="2200" spc="-5" dirty="0">
                <a:latin typeface="Times New Roman"/>
                <a:cs typeface="Times New Roman"/>
              </a:rPr>
              <a:t>the box  </a:t>
            </a:r>
            <a:r>
              <a:rPr lang="en-US" sz="2200" dirty="0">
                <a:latin typeface="Times New Roman"/>
                <a:cs typeface="Times New Roman"/>
              </a:rPr>
              <a:t>as </a:t>
            </a:r>
            <a:r>
              <a:rPr lang="en-US" sz="2200" spc="-5" dirty="0">
                <a:latin typeface="Times New Roman"/>
                <a:cs typeface="Times New Roman"/>
              </a:rPr>
              <a:t>in figure</a:t>
            </a:r>
            <a:r>
              <a:rPr lang="en-US" sz="2200" spc="10" dirty="0">
                <a:latin typeface="Times New Roman"/>
                <a:cs typeface="Times New Roman"/>
              </a:rPr>
              <a:t> </a:t>
            </a:r>
            <a:r>
              <a:rPr lang="en-US" sz="2200" dirty="0">
                <a:latin typeface="Times New Roman"/>
                <a:cs typeface="Times New Roman"/>
              </a:rPr>
              <a:t>(c).</a:t>
            </a:r>
          </a:p>
          <a:p>
            <a:pPr marL="469265" indent="-228600">
              <a:lnSpc>
                <a:spcPct val="100000"/>
              </a:lnSpc>
              <a:spcBef>
                <a:spcPts val="730"/>
              </a:spcBef>
              <a:buAutoNum type="arabicPeriod"/>
              <a:tabLst>
                <a:tab pos="469900" algn="l"/>
              </a:tabLst>
            </a:pPr>
            <a:r>
              <a:rPr lang="en-US" sz="2200" dirty="0">
                <a:latin typeface="Times New Roman"/>
                <a:cs typeface="Times New Roman"/>
              </a:rPr>
              <a:t>A</a:t>
            </a:r>
            <a:r>
              <a:rPr lang="en-US" sz="2200" spc="225" dirty="0">
                <a:latin typeface="Times New Roman"/>
                <a:cs typeface="Times New Roman"/>
              </a:rPr>
              <a:t> </a:t>
            </a:r>
            <a:r>
              <a:rPr lang="en-US" sz="2200" spc="-5" dirty="0">
                <a:latin typeface="Times New Roman"/>
                <a:cs typeface="Times New Roman"/>
              </a:rPr>
              <a:t>16</a:t>
            </a:r>
            <a:r>
              <a:rPr lang="en-US" sz="2200" spc="225" dirty="0">
                <a:latin typeface="Times New Roman"/>
                <a:cs typeface="Times New Roman"/>
              </a:rPr>
              <a:t> </a:t>
            </a:r>
            <a:r>
              <a:rPr lang="en-US" sz="2200" spc="-10" dirty="0">
                <a:latin typeface="Times New Roman"/>
                <a:cs typeface="Times New Roman"/>
              </a:rPr>
              <a:t>bit</a:t>
            </a:r>
            <a:r>
              <a:rPr lang="en-US" sz="2200" spc="225" dirty="0">
                <a:latin typeface="Times New Roman"/>
                <a:cs typeface="Times New Roman"/>
              </a:rPr>
              <a:t> </a:t>
            </a:r>
            <a:r>
              <a:rPr lang="en-US" sz="2200" spc="-5" dirty="0">
                <a:latin typeface="Times New Roman"/>
                <a:cs typeface="Times New Roman"/>
              </a:rPr>
              <a:t>register</a:t>
            </a:r>
            <a:r>
              <a:rPr lang="en-US" sz="2200" spc="225" dirty="0">
                <a:latin typeface="Times New Roman"/>
                <a:cs typeface="Times New Roman"/>
              </a:rPr>
              <a:t> </a:t>
            </a:r>
            <a:r>
              <a:rPr lang="en-US" sz="2200" spc="-5" dirty="0">
                <a:latin typeface="Times New Roman"/>
                <a:cs typeface="Times New Roman"/>
              </a:rPr>
              <a:t>is</a:t>
            </a:r>
            <a:r>
              <a:rPr lang="en-US" sz="2200" spc="229" dirty="0">
                <a:latin typeface="Times New Roman"/>
                <a:cs typeface="Times New Roman"/>
              </a:rPr>
              <a:t> </a:t>
            </a:r>
            <a:r>
              <a:rPr lang="en-US" sz="2200" spc="-5" dirty="0">
                <a:latin typeface="Times New Roman"/>
                <a:cs typeface="Times New Roman"/>
              </a:rPr>
              <a:t>partitioned</a:t>
            </a:r>
            <a:r>
              <a:rPr lang="en-US" sz="2200" spc="225" dirty="0">
                <a:latin typeface="Times New Roman"/>
                <a:cs typeface="Times New Roman"/>
              </a:rPr>
              <a:t> </a:t>
            </a:r>
            <a:r>
              <a:rPr lang="en-US" sz="2200" spc="-5" dirty="0">
                <a:latin typeface="Times New Roman"/>
                <a:cs typeface="Times New Roman"/>
              </a:rPr>
              <a:t>into</a:t>
            </a:r>
            <a:r>
              <a:rPr lang="en-US" sz="2200" spc="225" dirty="0">
                <a:latin typeface="Times New Roman"/>
                <a:cs typeface="Times New Roman"/>
              </a:rPr>
              <a:t> </a:t>
            </a:r>
            <a:r>
              <a:rPr lang="en-US" sz="2200" spc="-5" dirty="0">
                <a:latin typeface="Times New Roman"/>
                <a:cs typeface="Times New Roman"/>
              </a:rPr>
              <a:t>two</a:t>
            </a:r>
            <a:r>
              <a:rPr lang="en-US" sz="2200" spc="215" dirty="0">
                <a:latin typeface="Times New Roman"/>
                <a:cs typeface="Times New Roman"/>
              </a:rPr>
              <a:t> </a:t>
            </a:r>
            <a:r>
              <a:rPr lang="en-US" sz="2200" spc="-5" dirty="0">
                <a:latin typeface="Times New Roman"/>
                <a:cs typeface="Times New Roman"/>
              </a:rPr>
              <a:t>parts,</a:t>
            </a:r>
            <a:r>
              <a:rPr lang="en-US" sz="2200" spc="215" dirty="0">
                <a:latin typeface="Times New Roman"/>
                <a:cs typeface="Times New Roman"/>
              </a:rPr>
              <a:t> </a:t>
            </a:r>
            <a:r>
              <a:rPr lang="en-US" sz="2200" dirty="0">
                <a:latin typeface="Times New Roman"/>
                <a:cs typeface="Times New Roman"/>
              </a:rPr>
              <a:t>one</a:t>
            </a:r>
            <a:r>
              <a:rPr lang="en-US" sz="2200" spc="210" dirty="0">
                <a:latin typeface="Times New Roman"/>
                <a:cs typeface="Times New Roman"/>
              </a:rPr>
              <a:t> </a:t>
            </a:r>
            <a:r>
              <a:rPr lang="en-US" sz="2200" spc="-5" dirty="0">
                <a:latin typeface="Times New Roman"/>
                <a:cs typeface="Times New Roman"/>
              </a:rPr>
              <a:t>high</a:t>
            </a:r>
            <a:r>
              <a:rPr lang="en-US" sz="2200" spc="225" dirty="0">
                <a:latin typeface="Times New Roman"/>
                <a:cs typeface="Times New Roman"/>
              </a:rPr>
              <a:t> </a:t>
            </a:r>
            <a:r>
              <a:rPr lang="en-US" sz="2200" spc="-5" dirty="0">
                <a:latin typeface="Times New Roman"/>
                <a:cs typeface="Times New Roman"/>
              </a:rPr>
              <a:t>order</a:t>
            </a:r>
            <a:r>
              <a:rPr lang="en-US" sz="2200" spc="210" dirty="0">
                <a:latin typeface="Times New Roman"/>
                <a:cs typeface="Times New Roman"/>
              </a:rPr>
              <a:t> </a:t>
            </a:r>
            <a:r>
              <a:rPr lang="en-US" sz="2200" dirty="0">
                <a:latin typeface="Times New Roman"/>
                <a:cs typeface="Times New Roman"/>
              </a:rPr>
              <a:t>part</a:t>
            </a:r>
            <a:r>
              <a:rPr lang="en-US" sz="2200" spc="235" dirty="0">
                <a:latin typeface="Times New Roman"/>
                <a:cs typeface="Times New Roman"/>
              </a:rPr>
              <a:t> </a:t>
            </a:r>
            <a:r>
              <a:rPr lang="en-US" sz="2200" spc="-5" dirty="0">
                <a:latin typeface="Times New Roman"/>
                <a:cs typeface="Times New Roman"/>
              </a:rPr>
              <a:t>(H) consisting </a:t>
            </a:r>
            <a:r>
              <a:rPr lang="en-US" sz="2200" dirty="0">
                <a:latin typeface="Times New Roman"/>
                <a:cs typeface="Times New Roman"/>
              </a:rPr>
              <a:t>of </a:t>
            </a:r>
            <a:r>
              <a:rPr lang="en-US" sz="2200" spc="-10" dirty="0">
                <a:latin typeface="Times New Roman"/>
                <a:cs typeface="Times New Roman"/>
              </a:rPr>
              <a:t>eight </a:t>
            </a:r>
            <a:r>
              <a:rPr lang="en-US" sz="2200" spc="-5" dirty="0">
                <a:latin typeface="Times New Roman"/>
                <a:cs typeface="Times New Roman"/>
              </a:rPr>
              <a:t>high ordered cells and one lower order part (L)  consisting </a:t>
            </a:r>
            <a:r>
              <a:rPr lang="en-US" sz="2200" dirty="0">
                <a:latin typeface="Times New Roman"/>
                <a:cs typeface="Times New Roman"/>
              </a:rPr>
              <a:t>of </a:t>
            </a:r>
            <a:r>
              <a:rPr lang="en-US" sz="2200" spc="-10" dirty="0">
                <a:latin typeface="Times New Roman"/>
                <a:cs typeface="Times New Roman"/>
              </a:rPr>
              <a:t>eight </a:t>
            </a:r>
            <a:r>
              <a:rPr lang="en-US" sz="2200" spc="-5" dirty="0">
                <a:latin typeface="Times New Roman"/>
                <a:cs typeface="Times New Roman"/>
              </a:rPr>
              <a:t>low ordered cells </a:t>
            </a:r>
            <a:r>
              <a:rPr lang="en-US" sz="2200" spc="-10" dirty="0">
                <a:latin typeface="Times New Roman"/>
                <a:cs typeface="Times New Roman"/>
              </a:rPr>
              <a:t>as </a:t>
            </a:r>
            <a:r>
              <a:rPr lang="en-US" sz="2200" spc="-5" dirty="0">
                <a:latin typeface="Times New Roman"/>
                <a:cs typeface="Times New Roman"/>
              </a:rPr>
              <a:t>in figure</a:t>
            </a:r>
            <a:r>
              <a:rPr lang="en-US" sz="2200" spc="80" dirty="0">
                <a:latin typeface="Times New Roman"/>
                <a:cs typeface="Times New Roman"/>
              </a:rPr>
              <a:t> </a:t>
            </a:r>
            <a:r>
              <a:rPr lang="en-US" sz="2200" spc="-5" dirty="0">
                <a:latin typeface="Times New Roman"/>
                <a:cs typeface="Times New Roman"/>
              </a:rPr>
              <a:t>(d).</a:t>
            </a:r>
            <a:endParaRPr lang="en-US" sz="2200" dirty="0">
              <a:latin typeface="Times New Roman"/>
              <a:cs typeface="Times New Roman"/>
            </a:endParaRPr>
          </a:p>
          <a:p>
            <a:endParaRPr lang="en-US" sz="2200" dirty="0"/>
          </a:p>
        </p:txBody>
      </p:sp>
      <p:sp>
        <p:nvSpPr>
          <p:cNvPr id="4" name="object 3">
            <a:extLst>
              <a:ext uri="{FF2B5EF4-FFF2-40B4-BE49-F238E27FC236}">
                <a16:creationId xmlns:a16="http://schemas.microsoft.com/office/drawing/2014/main" id="{A55F3465-867A-596E-0949-2EB4EB4C35D4}"/>
              </a:ext>
            </a:extLst>
          </p:cNvPr>
          <p:cNvSpPr/>
          <p:nvPr/>
        </p:nvSpPr>
        <p:spPr>
          <a:xfrm>
            <a:off x="3035431" y="4223209"/>
            <a:ext cx="7079530" cy="2479182"/>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204672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C77BB3-45AC-571A-293A-0F73089B12E3}"/>
              </a:ext>
            </a:extLst>
          </p:cNvPr>
          <p:cNvSpPr>
            <a:spLocks noGrp="1"/>
          </p:cNvSpPr>
          <p:nvPr>
            <p:ph idx="1"/>
          </p:nvPr>
        </p:nvSpPr>
        <p:spPr>
          <a:xfrm>
            <a:off x="254523" y="226243"/>
            <a:ext cx="11689237" cy="6353665"/>
          </a:xfrm>
        </p:spPr>
        <p:txBody>
          <a:bodyPr>
            <a:normAutofit/>
          </a:bodyPr>
          <a:lstStyle/>
          <a:p>
            <a:pPr marL="0" indent="0">
              <a:lnSpc>
                <a:spcPct val="100000"/>
              </a:lnSpc>
              <a:buNone/>
            </a:pPr>
            <a:r>
              <a:rPr lang="en-US" sz="2800" u="sng" spc="-5" dirty="0">
                <a:uFill>
                  <a:solidFill>
                    <a:srgbClr val="000000"/>
                  </a:solidFill>
                </a:uFill>
                <a:latin typeface="Times New Roman"/>
                <a:cs typeface="Times New Roman"/>
              </a:rPr>
              <a:t>Conditional</a:t>
            </a:r>
            <a:r>
              <a:rPr lang="en-US" sz="2800" u="sng" dirty="0">
                <a:uFill>
                  <a:solidFill>
                    <a:srgbClr val="000000"/>
                  </a:solidFill>
                </a:uFill>
                <a:latin typeface="Times New Roman"/>
                <a:cs typeface="Times New Roman"/>
              </a:rPr>
              <a:t> </a:t>
            </a:r>
            <a:r>
              <a:rPr lang="en-US" sz="2800" u="sng" spc="-5" dirty="0">
                <a:uFill>
                  <a:solidFill>
                    <a:srgbClr val="000000"/>
                  </a:solidFill>
                </a:uFill>
                <a:latin typeface="Times New Roman"/>
                <a:cs typeface="Times New Roman"/>
              </a:rPr>
              <a:t>transfer</a:t>
            </a:r>
            <a:endParaRPr lang="en-US" sz="2800" dirty="0">
              <a:latin typeface="Times New Roman"/>
              <a:cs typeface="Times New Roman"/>
            </a:endParaRPr>
          </a:p>
          <a:p>
            <a:pPr>
              <a:lnSpc>
                <a:spcPct val="100000"/>
              </a:lnSpc>
              <a:spcBef>
                <a:spcPts val="15"/>
              </a:spcBef>
            </a:pPr>
            <a:endParaRPr lang="en-US" sz="2800" dirty="0">
              <a:latin typeface="Times New Roman"/>
              <a:cs typeface="Times New Roman"/>
            </a:endParaRPr>
          </a:p>
          <a:p>
            <a:pPr marL="469265" marR="10160" indent="-228600" algn="just">
              <a:lnSpc>
                <a:spcPct val="143600"/>
              </a:lnSpc>
              <a:buFont typeface="Symbol"/>
              <a:buChar char=""/>
              <a:tabLst>
                <a:tab pos="469900" algn="l"/>
              </a:tabLst>
            </a:pPr>
            <a:r>
              <a:rPr lang="en-US" sz="2800" spc="-5" dirty="0">
                <a:latin typeface="Times New Roman"/>
                <a:cs typeface="Times New Roman"/>
              </a:rPr>
              <a:t>The condition that determines when the transfer </a:t>
            </a:r>
            <a:r>
              <a:rPr lang="en-US" sz="2800" dirty="0">
                <a:latin typeface="Times New Roman"/>
                <a:cs typeface="Times New Roman"/>
              </a:rPr>
              <a:t>is to </a:t>
            </a:r>
            <a:r>
              <a:rPr lang="en-US" sz="2800" spc="-5" dirty="0">
                <a:latin typeface="Times New Roman"/>
                <a:cs typeface="Times New Roman"/>
              </a:rPr>
              <a:t>occur </a:t>
            </a:r>
            <a:r>
              <a:rPr lang="en-US" sz="2800" dirty="0">
                <a:latin typeface="Times New Roman"/>
                <a:cs typeface="Times New Roman"/>
              </a:rPr>
              <a:t>is </a:t>
            </a:r>
            <a:r>
              <a:rPr lang="en-US" sz="2800" spc="-5" dirty="0">
                <a:latin typeface="Times New Roman"/>
                <a:cs typeface="Times New Roman"/>
              </a:rPr>
              <a:t>called </a:t>
            </a:r>
            <a:r>
              <a:rPr lang="en-US" sz="2800" dirty="0">
                <a:latin typeface="Times New Roman"/>
                <a:cs typeface="Times New Roman"/>
              </a:rPr>
              <a:t>a  </a:t>
            </a:r>
            <a:r>
              <a:rPr lang="en-US" sz="2800" spc="-5" dirty="0">
                <a:latin typeface="Times New Roman"/>
                <a:cs typeface="Times New Roman"/>
              </a:rPr>
              <a:t>control</a:t>
            </a:r>
            <a:r>
              <a:rPr lang="en-US" sz="2800" spc="-50" dirty="0">
                <a:latin typeface="Times New Roman"/>
                <a:cs typeface="Times New Roman"/>
              </a:rPr>
              <a:t> </a:t>
            </a:r>
            <a:r>
              <a:rPr lang="en-US" sz="2800" spc="-5" dirty="0">
                <a:latin typeface="Times New Roman"/>
                <a:cs typeface="Times New Roman"/>
              </a:rPr>
              <a:t>function.</a:t>
            </a:r>
            <a:r>
              <a:rPr lang="en-US" sz="2800" spc="-50" dirty="0">
                <a:latin typeface="Times New Roman"/>
                <a:cs typeface="Times New Roman"/>
              </a:rPr>
              <a:t> </a:t>
            </a:r>
          </a:p>
          <a:p>
            <a:pPr marL="469265" marR="10160" indent="-228600" algn="just">
              <a:lnSpc>
                <a:spcPct val="143600"/>
              </a:lnSpc>
              <a:buFont typeface="Symbol"/>
              <a:buChar char=""/>
              <a:tabLst>
                <a:tab pos="469900" algn="l"/>
              </a:tabLst>
            </a:pPr>
            <a:r>
              <a:rPr lang="en-US" sz="2800" dirty="0">
                <a:latin typeface="Times New Roman"/>
                <a:cs typeface="Times New Roman"/>
              </a:rPr>
              <a:t>A</a:t>
            </a:r>
            <a:r>
              <a:rPr lang="en-US" sz="2800" spc="-45" dirty="0">
                <a:latin typeface="Times New Roman"/>
                <a:cs typeface="Times New Roman"/>
              </a:rPr>
              <a:t> </a:t>
            </a:r>
            <a:r>
              <a:rPr lang="en-US" sz="2800" spc="-10" dirty="0">
                <a:latin typeface="Times New Roman"/>
                <a:cs typeface="Times New Roman"/>
              </a:rPr>
              <a:t>control</a:t>
            </a:r>
            <a:r>
              <a:rPr lang="en-US" sz="2800" spc="-50" dirty="0">
                <a:latin typeface="Times New Roman"/>
                <a:cs typeface="Times New Roman"/>
              </a:rPr>
              <a:t> </a:t>
            </a:r>
            <a:r>
              <a:rPr lang="en-US" sz="2800" spc="-5" dirty="0">
                <a:latin typeface="Times New Roman"/>
                <a:cs typeface="Times New Roman"/>
              </a:rPr>
              <a:t>function</a:t>
            </a:r>
            <a:r>
              <a:rPr lang="en-US" sz="2800" spc="-45" dirty="0">
                <a:latin typeface="Times New Roman"/>
                <a:cs typeface="Times New Roman"/>
              </a:rPr>
              <a:t> </a:t>
            </a:r>
            <a:r>
              <a:rPr lang="en-US" sz="2800" spc="-5" dirty="0">
                <a:latin typeface="Times New Roman"/>
                <a:cs typeface="Times New Roman"/>
              </a:rPr>
              <a:t>is</a:t>
            </a:r>
            <a:r>
              <a:rPr lang="en-US" sz="2800" spc="-45" dirty="0">
                <a:latin typeface="Times New Roman"/>
                <a:cs typeface="Times New Roman"/>
              </a:rPr>
              <a:t> </a:t>
            </a:r>
            <a:r>
              <a:rPr lang="en-US" sz="2800" dirty="0">
                <a:latin typeface="Times New Roman"/>
                <a:cs typeface="Times New Roman"/>
              </a:rPr>
              <a:t>a</a:t>
            </a:r>
            <a:r>
              <a:rPr lang="en-US" sz="2800" spc="-45" dirty="0">
                <a:latin typeface="Times New Roman"/>
                <a:cs typeface="Times New Roman"/>
              </a:rPr>
              <a:t> </a:t>
            </a:r>
            <a:r>
              <a:rPr lang="en-US" sz="2800" spc="-5" dirty="0">
                <a:latin typeface="Times New Roman"/>
                <a:cs typeface="Times New Roman"/>
              </a:rPr>
              <a:t>Boolean</a:t>
            </a:r>
            <a:r>
              <a:rPr lang="en-US" sz="2800" spc="-45" dirty="0">
                <a:latin typeface="Times New Roman"/>
                <a:cs typeface="Times New Roman"/>
              </a:rPr>
              <a:t> </a:t>
            </a:r>
            <a:r>
              <a:rPr lang="en-US" sz="2800" spc="-5" dirty="0">
                <a:latin typeface="Times New Roman"/>
                <a:cs typeface="Times New Roman"/>
              </a:rPr>
              <a:t>function</a:t>
            </a:r>
            <a:r>
              <a:rPr lang="en-US" sz="2800" spc="-55" dirty="0">
                <a:latin typeface="Times New Roman"/>
                <a:cs typeface="Times New Roman"/>
              </a:rPr>
              <a:t> </a:t>
            </a:r>
            <a:r>
              <a:rPr lang="en-US" sz="2800" spc="-5" dirty="0">
                <a:latin typeface="Times New Roman"/>
                <a:cs typeface="Times New Roman"/>
              </a:rPr>
              <a:t>that</a:t>
            </a:r>
            <a:r>
              <a:rPr lang="en-US" sz="2800" spc="-45" dirty="0">
                <a:latin typeface="Times New Roman"/>
                <a:cs typeface="Times New Roman"/>
              </a:rPr>
              <a:t> </a:t>
            </a:r>
            <a:r>
              <a:rPr lang="en-US" sz="2800" spc="-5" dirty="0">
                <a:latin typeface="Times New Roman"/>
                <a:cs typeface="Times New Roman"/>
              </a:rPr>
              <a:t>can</a:t>
            </a:r>
            <a:r>
              <a:rPr lang="en-US" sz="2800" spc="-45" dirty="0">
                <a:latin typeface="Times New Roman"/>
                <a:cs typeface="Times New Roman"/>
              </a:rPr>
              <a:t> </a:t>
            </a:r>
            <a:r>
              <a:rPr lang="en-US" sz="2800" dirty="0">
                <a:latin typeface="Times New Roman"/>
                <a:cs typeface="Times New Roman"/>
              </a:rPr>
              <a:t>be</a:t>
            </a:r>
            <a:r>
              <a:rPr lang="en-US" sz="2800" spc="-50" dirty="0">
                <a:latin typeface="Times New Roman"/>
                <a:cs typeface="Times New Roman"/>
              </a:rPr>
              <a:t> </a:t>
            </a:r>
            <a:r>
              <a:rPr lang="en-US" sz="2800" spc="-10" dirty="0">
                <a:latin typeface="Times New Roman"/>
                <a:cs typeface="Times New Roman"/>
              </a:rPr>
              <a:t>equal  </a:t>
            </a:r>
            <a:r>
              <a:rPr lang="en-US" sz="2800" dirty="0">
                <a:latin typeface="Times New Roman"/>
                <a:cs typeface="Times New Roman"/>
              </a:rPr>
              <a:t>to 0 or 1. </a:t>
            </a:r>
          </a:p>
          <a:p>
            <a:pPr marL="469265" marR="10160" indent="-228600" algn="just">
              <a:lnSpc>
                <a:spcPct val="143600"/>
              </a:lnSpc>
              <a:buFont typeface="Symbol"/>
              <a:buChar char=""/>
              <a:tabLst>
                <a:tab pos="469900" algn="l"/>
              </a:tabLst>
            </a:pPr>
            <a:r>
              <a:rPr lang="en-US" sz="2800" spc="-5" dirty="0">
                <a:latin typeface="Times New Roman"/>
                <a:cs typeface="Times New Roman"/>
              </a:rPr>
              <a:t>The control function can </a:t>
            </a:r>
            <a:r>
              <a:rPr lang="en-US" sz="2800" dirty="0">
                <a:latin typeface="Times New Roman"/>
                <a:cs typeface="Times New Roman"/>
              </a:rPr>
              <a:t>be </a:t>
            </a:r>
            <a:r>
              <a:rPr lang="en-US" sz="2800" spc="-5" dirty="0">
                <a:latin typeface="Times New Roman"/>
                <a:cs typeface="Times New Roman"/>
              </a:rPr>
              <a:t>specified with </a:t>
            </a:r>
            <a:r>
              <a:rPr lang="en-US" sz="2800" dirty="0">
                <a:latin typeface="Times New Roman"/>
                <a:cs typeface="Times New Roman"/>
              </a:rPr>
              <a:t>the </a:t>
            </a:r>
            <a:r>
              <a:rPr lang="en-US" sz="2800" spc="-5" dirty="0">
                <a:latin typeface="Times New Roman"/>
                <a:cs typeface="Times New Roman"/>
              </a:rPr>
              <a:t>following  statement:</a:t>
            </a:r>
            <a:endParaRPr lang="en-US" sz="2800" dirty="0">
              <a:latin typeface="Times New Roman"/>
              <a:cs typeface="Times New Roman"/>
            </a:endParaRPr>
          </a:p>
          <a:p>
            <a:pPr marL="240665" indent="0">
              <a:lnSpc>
                <a:spcPct val="100000"/>
              </a:lnSpc>
              <a:spcBef>
                <a:spcPts val="735"/>
              </a:spcBef>
              <a:buNone/>
            </a:pPr>
            <a:r>
              <a:rPr lang="en-US" sz="2800" spc="-5" dirty="0">
                <a:latin typeface="Times New Roman"/>
                <a:cs typeface="Times New Roman"/>
              </a:rPr>
              <a:t>        x'T1:</a:t>
            </a:r>
            <a:r>
              <a:rPr lang="en-US" sz="2800" dirty="0">
                <a:latin typeface="Times New Roman"/>
                <a:cs typeface="Times New Roman"/>
              </a:rPr>
              <a:t> A</a:t>
            </a:r>
            <a:r>
              <a:rPr lang="en-US" sz="2800" dirty="0">
                <a:latin typeface="Wingdings"/>
                <a:cs typeface="Wingdings"/>
              </a:rPr>
              <a:t></a:t>
            </a:r>
            <a:r>
              <a:rPr lang="en-US" sz="2800" dirty="0">
                <a:latin typeface="Times New Roman"/>
                <a:cs typeface="Times New Roman"/>
              </a:rPr>
              <a:t>B</a:t>
            </a:r>
          </a:p>
          <a:p>
            <a:pPr marL="926465" marR="8255" lvl="1" algn="just">
              <a:lnSpc>
                <a:spcPct val="143600"/>
              </a:lnSpc>
              <a:spcBef>
                <a:spcPts val="110"/>
              </a:spcBef>
              <a:buFont typeface="Symbol"/>
              <a:buChar char=""/>
              <a:tabLst>
                <a:tab pos="469900" algn="l"/>
              </a:tabLst>
            </a:pPr>
            <a:r>
              <a:rPr lang="en-US" dirty="0">
                <a:latin typeface="Times New Roman"/>
                <a:cs typeface="Times New Roman"/>
              </a:rPr>
              <a:t>It</a:t>
            </a:r>
            <a:r>
              <a:rPr lang="en-US" spc="-50" dirty="0">
                <a:latin typeface="Times New Roman"/>
                <a:cs typeface="Times New Roman"/>
              </a:rPr>
              <a:t> </a:t>
            </a:r>
            <a:r>
              <a:rPr lang="en-US" spc="-5" dirty="0">
                <a:latin typeface="Times New Roman"/>
                <a:cs typeface="Times New Roman"/>
              </a:rPr>
              <a:t>means</a:t>
            </a:r>
            <a:r>
              <a:rPr lang="en-US" spc="-50" dirty="0">
                <a:latin typeface="Times New Roman"/>
                <a:cs typeface="Times New Roman"/>
              </a:rPr>
              <a:t> </a:t>
            </a:r>
            <a:r>
              <a:rPr lang="en-US" spc="-5" dirty="0">
                <a:latin typeface="Times New Roman"/>
                <a:cs typeface="Times New Roman"/>
              </a:rPr>
              <a:t>that</a:t>
            </a:r>
            <a:r>
              <a:rPr lang="en-US" spc="-45" dirty="0">
                <a:latin typeface="Times New Roman"/>
                <a:cs typeface="Times New Roman"/>
              </a:rPr>
              <a:t> </a:t>
            </a:r>
            <a:r>
              <a:rPr lang="en-US" spc="-5" dirty="0">
                <a:latin typeface="Times New Roman"/>
                <a:cs typeface="Times New Roman"/>
              </a:rPr>
              <a:t>the</a:t>
            </a:r>
            <a:r>
              <a:rPr lang="en-US" spc="-55" dirty="0">
                <a:latin typeface="Times New Roman"/>
                <a:cs typeface="Times New Roman"/>
              </a:rPr>
              <a:t> </a:t>
            </a:r>
            <a:r>
              <a:rPr lang="en-US" spc="-5" dirty="0">
                <a:latin typeface="Times New Roman"/>
                <a:cs typeface="Times New Roman"/>
              </a:rPr>
              <a:t>transfer</a:t>
            </a:r>
            <a:r>
              <a:rPr lang="en-US" spc="-45" dirty="0">
                <a:latin typeface="Times New Roman"/>
                <a:cs typeface="Times New Roman"/>
              </a:rPr>
              <a:t> </a:t>
            </a:r>
            <a:r>
              <a:rPr lang="en-US" spc="-5" dirty="0">
                <a:latin typeface="Times New Roman"/>
                <a:cs typeface="Times New Roman"/>
              </a:rPr>
              <a:t>operation</a:t>
            </a:r>
            <a:r>
              <a:rPr lang="en-US" spc="-60" dirty="0">
                <a:latin typeface="Times New Roman"/>
                <a:cs typeface="Times New Roman"/>
              </a:rPr>
              <a:t> </a:t>
            </a:r>
            <a:r>
              <a:rPr lang="en-US" dirty="0">
                <a:latin typeface="Times New Roman"/>
                <a:cs typeface="Times New Roman"/>
              </a:rPr>
              <a:t>be</a:t>
            </a:r>
            <a:r>
              <a:rPr lang="en-US" spc="-45" dirty="0">
                <a:latin typeface="Times New Roman"/>
                <a:cs typeface="Times New Roman"/>
              </a:rPr>
              <a:t> </a:t>
            </a:r>
            <a:r>
              <a:rPr lang="en-US" spc="-5" dirty="0">
                <a:latin typeface="Times New Roman"/>
                <a:cs typeface="Times New Roman"/>
              </a:rPr>
              <a:t>executed</a:t>
            </a:r>
            <a:r>
              <a:rPr lang="en-US" spc="-60" dirty="0">
                <a:latin typeface="Times New Roman"/>
                <a:cs typeface="Times New Roman"/>
              </a:rPr>
              <a:t> </a:t>
            </a:r>
            <a:r>
              <a:rPr lang="en-US" spc="-5" dirty="0">
                <a:latin typeface="Times New Roman"/>
                <a:cs typeface="Times New Roman"/>
              </a:rPr>
              <a:t>by</a:t>
            </a:r>
            <a:r>
              <a:rPr lang="en-US" spc="-50" dirty="0">
                <a:latin typeface="Times New Roman"/>
                <a:cs typeface="Times New Roman"/>
              </a:rPr>
              <a:t> </a:t>
            </a:r>
            <a:r>
              <a:rPr lang="en-US" spc="-5" dirty="0">
                <a:latin typeface="Times New Roman"/>
                <a:cs typeface="Times New Roman"/>
              </a:rPr>
              <a:t>the</a:t>
            </a:r>
            <a:r>
              <a:rPr lang="en-US" spc="-60" dirty="0">
                <a:latin typeface="Times New Roman"/>
                <a:cs typeface="Times New Roman"/>
              </a:rPr>
              <a:t> </a:t>
            </a:r>
            <a:r>
              <a:rPr lang="en-US" spc="-5" dirty="0">
                <a:latin typeface="Times New Roman"/>
                <a:cs typeface="Times New Roman"/>
              </a:rPr>
              <a:t>hardware</a:t>
            </a:r>
            <a:r>
              <a:rPr lang="en-US" spc="-65" dirty="0">
                <a:latin typeface="Times New Roman"/>
                <a:cs typeface="Times New Roman"/>
              </a:rPr>
              <a:t> </a:t>
            </a:r>
            <a:r>
              <a:rPr lang="en-US" spc="-5" dirty="0">
                <a:latin typeface="Times New Roman"/>
                <a:cs typeface="Times New Roman"/>
              </a:rPr>
              <a:t>only</a:t>
            </a:r>
            <a:r>
              <a:rPr lang="en-US" spc="-45" dirty="0">
                <a:latin typeface="Times New Roman"/>
                <a:cs typeface="Times New Roman"/>
              </a:rPr>
              <a:t> </a:t>
            </a:r>
            <a:r>
              <a:rPr lang="en-US" spc="-5" dirty="0">
                <a:latin typeface="Times New Roman"/>
                <a:cs typeface="Times New Roman"/>
              </a:rPr>
              <a:t>when  </a:t>
            </a:r>
            <a:r>
              <a:rPr lang="en-US" dirty="0">
                <a:latin typeface="Times New Roman"/>
                <a:cs typeface="Times New Roman"/>
              </a:rPr>
              <a:t>the </a:t>
            </a:r>
            <a:r>
              <a:rPr lang="en-US" spc="-5" dirty="0">
                <a:latin typeface="Times New Roman"/>
                <a:cs typeface="Times New Roman"/>
              </a:rPr>
              <a:t>Boolean function x'T1=1.That is, variable x=0 </a:t>
            </a:r>
            <a:r>
              <a:rPr lang="en-US" spc="-10" dirty="0">
                <a:latin typeface="Times New Roman"/>
                <a:cs typeface="Times New Roman"/>
              </a:rPr>
              <a:t>and </a:t>
            </a:r>
            <a:r>
              <a:rPr lang="en-US" spc="-5" dirty="0">
                <a:latin typeface="Times New Roman"/>
                <a:cs typeface="Times New Roman"/>
              </a:rPr>
              <a:t>timing variable  T1=1.</a:t>
            </a:r>
            <a:endParaRPr lang="en-US" dirty="0">
              <a:latin typeface="Times New Roman"/>
              <a:cs typeface="Times New Roman"/>
            </a:endParaRPr>
          </a:p>
        </p:txBody>
      </p:sp>
    </p:spTree>
    <p:extLst>
      <p:ext uri="{BB962C8B-B14F-4D97-AF65-F5344CB8AC3E}">
        <p14:creationId xmlns:p14="http://schemas.microsoft.com/office/powerpoint/2010/main" val="3837056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C77BB3-45AC-571A-293A-0F73089B12E3}"/>
              </a:ext>
            </a:extLst>
          </p:cNvPr>
          <p:cNvSpPr>
            <a:spLocks noGrp="1"/>
          </p:cNvSpPr>
          <p:nvPr>
            <p:ph idx="1"/>
          </p:nvPr>
        </p:nvSpPr>
        <p:spPr>
          <a:xfrm>
            <a:off x="254523" y="226243"/>
            <a:ext cx="11689237" cy="6353665"/>
          </a:xfrm>
        </p:spPr>
        <p:txBody>
          <a:bodyPr>
            <a:normAutofit/>
          </a:bodyPr>
          <a:lstStyle/>
          <a:p>
            <a:pPr marL="0" indent="0">
              <a:lnSpc>
                <a:spcPct val="100000"/>
              </a:lnSpc>
              <a:buNone/>
            </a:pPr>
            <a:r>
              <a:rPr lang="en-US" sz="2800" u="sng" spc="-5" dirty="0">
                <a:uFill>
                  <a:solidFill>
                    <a:srgbClr val="000000"/>
                  </a:solidFill>
                </a:uFill>
                <a:latin typeface="Times New Roman"/>
                <a:cs typeface="Times New Roman"/>
              </a:rPr>
              <a:t>Conditional</a:t>
            </a:r>
            <a:r>
              <a:rPr lang="en-US" sz="2800" u="sng" dirty="0">
                <a:uFill>
                  <a:solidFill>
                    <a:srgbClr val="000000"/>
                  </a:solidFill>
                </a:uFill>
                <a:latin typeface="Times New Roman"/>
                <a:cs typeface="Times New Roman"/>
              </a:rPr>
              <a:t> </a:t>
            </a:r>
            <a:r>
              <a:rPr lang="en-US" sz="2800" u="sng" spc="-5" dirty="0">
                <a:uFill>
                  <a:solidFill>
                    <a:srgbClr val="000000"/>
                  </a:solidFill>
                </a:uFill>
                <a:latin typeface="Times New Roman"/>
                <a:cs typeface="Times New Roman"/>
              </a:rPr>
              <a:t>transfer</a:t>
            </a:r>
            <a:endParaRPr lang="en-US" sz="2800" dirty="0">
              <a:latin typeface="Times New Roman"/>
              <a:cs typeface="Times New Roman"/>
            </a:endParaRPr>
          </a:p>
          <a:p>
            <a:pPr>
              <a:lnSpc>
                <a:spcPct val="100000"/>
              </a:lnSpc>
              <a:spcBef>
                <a:spcPts val="15"/>
              </a:spcBef>
            </a:pPr>
            <a:endParaRPr lang="en-US" sz="2800" dirty="0">
              <a:latin typeface="Times New Roman"/>
              <a:cs typeface="Times New Roman"/>
            </a:endParaRPr>
          </a:p>
          <a:p>
            <a:pPr marL="469265" marR="5080" indent="-228600" algn="just">
              <a:lnSpc>
                <a:spcPct val="143600"/>
              </a:lnSpc>
              <a:spcBef>
                <a:spcPts val="105"/>
              </a:spcBef>
              <a:buFont typeface="Symbol"/>
              <a:buChar char=""/>
              <a:tabLst>
                <a:tab pos="469900" algn="l"/>
              </a:tabLst>
            </a:pPr>
            <a:r>
              <a:rPr lang="en-US" sz="2800" spc="-5" dirty="0">
                <a:latin typeface="Times New Roman"/>
                <a:cs typeface="Times New Roman"/>
              </a:rPr>
              <a:t>Example: Hardware implementation </a:t>
            </a:r>
            <a:r>
              <a:rPr lang="en-US" sz="2800" dirty="0">
                <a:latin typeface="Times New Roman"/>
                <a:cs typeface="Times New Roman"/>
              </a:rPr>
              <a:t>of a </a:t>
            </a:r>
            <a:r>
              <a:rPr lang="en-US" sz="2800" spc="-5" dirty="0">
                <a:latin typeface="Times New Roman"/>
                <a:cs typeface="Times New Roman"/>
              </a:rPr>
              <a:t>controlled transfer x'T1: </a:t>
            </a:r>
            <a:r>
              <a:rPr lang="en-US" sz="2800" spc="15" dirty="0">
                <a:latin typeface="Times New Roman"/>
                <a:cs typeface="Times New Roman"/>
              </a:rPr>
              <a:t>A</a:t>
            </a:r>
            <a:r>
              <a:rPr lang="en-US" sz="2000" spc="15" dirty="0">
                <a:latin typeface="Wingdings"/>
                <a:cs typeface="Wingdings"/>
              </a:rPr>
              <a:t></a:t>
            </a:r>
            <a:r>
              <a:rPr lang="en-US" sz="2800" spc="15" dirty="0">
                <a:latin typeface="Times New Roman"/>
                <a:cs typeface="Times New Roman"/>
              </a:rPr>
              <a:t>B </a:t>
            </a:r>
            <a:r>
              <a:rPr lang="en-US" sz="2800" spc="-5" dirty="0">
                <a:latin typeface="Times New Roman"/>
                <a:cs typeface="Times New Roman"/>
              </a:rPr>
              <a:t>is  shown in figure. </a:t>
            </a:r>
          </a:p>
          <a:p>
            <a:pPr marL="469265" marR="5080" indent="-228600" algn="just">
              <a:lnSpc>
                <a:spcPct val="143600"/>
              </a:lnSpc>
              <a:spcBef>
                <a:spcPts val="105"/>
              </a:spcBef>
              <a:buFont typeface="Symbol"/>
              <a:buChar char=""/>
              <a:tabLst>
                <a:tab pos="469900" algn="l"/>
              </a:tabLst>
            </a:pPr>
            <a:r>
              <a:rPr lang="en-US" sz="2800" spc="-5" dirty="0">
                <a:latin typeface="Times New Roman"/>
                <a:cs typeface="Times New Roman"/>
              </a:rPr>
              <a:t>Here A</a:t>
            </a:r>
            <a:r>
              <a:rPr lang="en-US" sz="2000" spc="-5" dirty="0">
                <a:latin typeface="Wingdings"/>
                <a:cs typeface="Wingdings"/>
              </a:rPr>
              <a:t></a:t>
            </a:r>
            <a:r>
              <a:rPr lang="en-US" sz="2800" spc="-5" dirty="0">
                <a:latin typeface="Times New Roman"/>
                <a:cs typeface="Times New Roman"/>
              </a:rPr>
              <a:t>B transfers the contents </a:t>
            </a:r>
            <a:r>
              <a:rPr lang="en-US" sz="2800" dirty="0">
                <a:latin typeface="Times New Roman"/>
                <a:cs typeface="Times New Roman"/>
              </a:rPr>
              <a:t>of </a:t>
            </a:r>
            <a:r>
              <a:rPr lang="en-US" sz="2800" spc="-5" dirty="0">
                <a:latin typeface="Times New Roman"/>
                <a:cs typeface="Times New Roman"/>
              </a:rPr>
              <a:t>register </a:t>
            </a:r>
            <a:r>
              <a:rPr lang="en-US" sz="2800" dirty="0">
                <a:latin typeface="Times New Roman"/>
                <a:cs typeface="Times New Roman"/>
              </a:rPr>
              <a:t>B </a:t>
            </a:r>
            <a:r>
              <a:rPr lang="en-US" sz="2800" spc="-5" dirty="0">
                <a:latin typeface="Times New Roman"/>
                <a:cs typeface="Times New Roman"/>
              </a:rPr>
              <a:t>to</a:t>
            </a:r>
            <a:r>
              <a:rPr lang="en-US" sz="2800" spc="65" dirty="0">
                <a:latin typeface="Times New Roman"/>
                <a:cs typeface="Times New Roman"/>
              </a:rPr>
              <a:t> </a:t>
            </a:r>
            <a:r>
              <a:rPr lang="en-US" sz="2800" spc="-5" dirty="0">
                <a:latin typeface="Times New Roman"/>
                <a:cs typeface="Times New Roman"/>
              </a:rPr>
              <a:t>register </a:t>
            </a:r>
            <a:r>
              <a:rPr lang="en-US" sz="2800" dirty="0">
                <a:latin typeface="Times New Roman"/>
                <a:cs typeface="Times New Roman"/>
              </a:rPr>
              <a:t>A. </a:t>
            </a:r>
            <a:r>
              <a:rPr lang="en-US" sz="2800" spc="-5" dirty="0">
                <a:latin typeface="Times New Roman"/>
                <a:cs typeface="Times New Roman"/>
              </a:rPr>
              <a:t>Contents </a:t>
            </a:r>
            <a:r>
              <a:rPr lang="en-US" sz="2800" dirty="0">
                <a:latin typeface="Times New Roman"/>
                <a:cs typeface="Times New Roman"/>
              </a:rPr>
              <a:t>of </a:t>
            </a:r>
            <a:r>
              <a:rPr lang="en-US" sz="2800" spc="-5" dirty="0">
                <a:latin typeface="Times New Roman"/>
                <a:cs typeface="Times New Roman"/>
              </a:rPr>
              <a:t>source </a:t>
            </a:r>
            <a:r>
              <a:rPr lang="en-US" sz="2800" dirty="0">
                <a:latin typeface="Times New Roman"/>
                <a:cs typeface="Times New Roman"/>
              </a:rPr>
              <a:t>register B </a:t>
            </a:r>
            <a:r>
              <a:rPr lang="en-US" sz="2800" spc="-5" dirty="0">
                <a:latin typeface="Times New Roman"/>
                <a:cs typeface="Times New Roman"/>
              </a:rPr>
              <a:t>do not change after the transfer.</a:t>
            </a:r>
            <a:endParaRPr lang="en-US" dirty="0"/>
          </a:p>
        </p:txBody>
      </p:sp>
      <p:sp>
        <p:nvSpPr>
          <p:cNvPr id="2" name="object 4">
            <a:extLst>
              <a:ext uri="{FF2B5EF4-FFF2-40B4-BE49-F238E27FC236}">
                <a16:creationId xmlns:a16="http://schemas.microsoft.com/office/drawing/2014/main" id="{3696E73A-4DF5-2002-5910-E86E821FD5DB}"/>
              </a:ext>
            </a:extLst>
          </p:cNvPr>
          <p:cNvSpPr/>
          <p:nvPr/>
        </p:nvSpPr>
        <p:spPr>
          <a:xfrm>
            <a:off x="900156" y="3665372"/>
            <a:ext cx="4724400" cy="2049779"/>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617609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D2039-57C3-DEE6-6FEF-E3AF4D26646A}"/>
              </a:ext>
            </a:extLst>
          </p:cNvPr>
          <p:cNvSpPr>
            <a:spLocks noGrp="1"/>
          </p:cNvSpPr>
          <p:nvPr>
            <p:ph type="title"/>
          </p:nvPr>
        </p:nvSpPr>
        <p:spPr>
          <a:xfrm>
            <a:off x="838200" y="365126"/>
            <a:ext cx="10515600" cy="455008"/>
          </a:xfrm>
        </p:spPr>
        <p:txBody>
          <a:bodyPr>
            <a:normAutofit fontScale="90000"/>
          </a:bodyPr>
          <a:lstStyle/>
          <a:p>
            <a:r>
              <a:rPr lang="en-US" sz="3200" spc="-5" dirty="0">
                <a:latin typeface="Times New Roman"/>
                <a:cs typeface="Times New Roman"/>
              </a:rPr>
              <a:t>The basic symbols </a:t>
            </a:r>
            <a:r>
              <a:rPr lang="en-US" sz="3200" dirty="0">
                <a:latin typeface="Times New Roman"/>
                <a:cs typeface="Times New Roman"/>
              </a:rPr>
              <a:t>of the </a:t>
            </a:r>
            <a:r>
              <a:rPr lang="en-US" sz="3200" spc="-5" dirty="0">
                <a:latin typeface="Times New Roman"/>
                <a:cs typeface="Times New Roman"/>
              </a:rPr>
              <a:t>register transfer logic</a:t>
            </a:r>
            <a:endParaRPr lang="en-US" sz="3200" dirty="0"/>
          </a:p>
        </p:txBody>
      </p:sp>
      <p:sp>
        <p:nvSpPr>
          <p:cNvPr id="3" name="Content Placeholder 2">
            <a:extLst>
              <a:ext uri="{FF2B5EF4-FFF2-40B4-BE49-F238E27FC236}">
                <a16:creationId xmlns:a16="http://schemas.microsoft.com/office/drawing/2014/main" id="{FBF2B349-B700-95B9-EC6E-744E1D3E3F50}"/>
              </a:ext>
            </a:extLst>
          </p:cNvPr>
          <p:cNvSpPr>
            <a:spLocks noGrp="1"/>
          </p:cNvSpPr>
          <p:nvPr>
            <p:ph idx="1"/>
          </p:nvPr>
        </p:nvSpPr>
        <p:spPr/>
        <p:txBody>
          <a:bodyPr/>
          <a:lstStyle/>
          <a:p>
            <a:endParaRPr lang="en-US"/>
          </a:p>
        </p:txBody>
      </p:sp>
      <p:sp>
        <p:nvSpPr>
          <p:cNvPr id="4" name="object 5">
            <a:extLst>
              <a:ext uri="{FF2B5EF4-FFF2-40B4-BE49-F238E27FC236}">
                <a16:creationId xmlns:a16="http://schemas.microsoft.com/office/drawing/2014/main" id="{6AAA6F8E-6D1F-BCCF-9F06-23337A90A639}"/>
              </a:ext>
            </a:extLst>
          </p:cNvPr>
          <p:cNvSpPr/>
          <p:nvPr/>
        </p:nvSpPr>
        <p:spPr>
          <a:xfrm>
            <a:off x="1020596" y="961533"/>
            <a:ext cx="8802133" cy="5806911"/>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252636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1F1E3-A31F-9C8A-7719-F1480AA8EC5E}"/>
              </a:ext>
            </a:extLst>
          </p:cNvPr>
          <p:cNvSpPr>
            <a:spLocks noGrp="1"/>
          </p:cNvSpPr>
          <p:nvPr>
            <p:ph idx="1"/>
          </p:nvPr>
        </p:nvSpPr>
        <p:spPr>
          <a:xfrm>
            <a:off x="377072" y="405353"/>
            <a:ext cx="10976728" cy="5771610"/>
          </a:xfrm>
        </p:spPr>
        <p:txBody>
          <a:bodyPr>
            <a:normAutofit/>
          </a:bodyPr>
          <a:lstStyle/>
          <a:p>
            <a:pPr marL="165735" indent="-153670">
              <a:lnSpc>
                <a:spcPct val="100000"/>
              </a:lnSpc>
              <a:spcBef>
                <a:spcPts val="95"/>
              </a:spcBef>
              <a:buSzPct val="93750"/>
              <a:buAutoNum type="arabicPeriod" startAt="2"/>
              <a:tabLst>
                <a:tab pos="166370" algn="l"/>
              </a:tabLst>
            </a:pPr>
            <a:r>
              <a:rPr lang="en-US" sz="2400" b="1" u="heavy" spc="-5" dirty="0">
                <a:uFill>
                  <a:solidFill>
                    <a:srgbClr val="000000"/>
                  </a:solidFill>
                </a:uFill>
                <a:latin typeface="Times New Roman"/>
                <a:cs typeface="Times New Roman"/>
              </a:rPr>
              <a:t>Arithmetic Micro</a:t>
            </a:r>
            <a:r>
              <a:rPr lang="en-US" sz="2400" b="1" u="heavy" spc="-10" dirty="0">
                <a:uFill>
                  <a:solidFill>
                    <a:srgbClr val="000000"/>
                  </a:solidFill>
                </a:uFill>
                <a:latin typeface="Times New Roman"/>
                <a:cs typeface="Times New Roman"/>
              </a:rPr>
              <a:t> </a:t>
            </a:r>
            <a:r>
              <a:rPr lang="en-US" sz="2400" b="1" u="heavy" spc="-5" dirty="0">
                <a:uFill>
                  <a:solidFill>
                    <a:srgbClr val="000000"/>
                  </a:solidFill>
                </a:uFill>
                <a:latin typeface="Times New Roman"/>
                <a:cs typeface="Times New Roman"/>
              </a:rPr>
              <a:t>operations</a:t>
            </a:r>
            <a:endParaRPr lang="en-US" sz="2400" dirty="0">
              <a:latin typeface="Times New Roman"/>
              <a:cs typeface="Times New Roman"/>
            </a:endParaRPr>
          </a:p>
          <a:p>
            <a:pPr>
              <a:lnSpc>
                <a:spcPct val="100000"/>
              </a:lnSpc>
              <a:spcBef>
                <a:spcPts val="15"/>
              </a:spcBef>
              <a:buFont typeface="Times New Roman"/>
              <a:buAutoNum type="arabicPeriod" startAt="2"/>
            </a:pPr>
            <a:endParaRPr lang="en-US" sz="2400" dirty="0">
              <a:latin typeface="Times New Roman"/>
              <a:cs typeface="Times New Roman"/>
            </a:endParaRPr>
          </a:p>
          <a:p>
            <a:pPr marL="469265" marR="6350" lvl="1" indent="-228600">
              <a:lnSpc>
                <a:spcPct val="143600"/>
              </a:lnSpc>
              <a:buFont typeface="Symbol"/>
              <a:buChar char=""/>
              <a:tabLst>
                <a:tab pos="469265" algn="l"/>
                <a:tab pos="469900" algn="l"/>
              </a:tabLst>
            </a:pPr>
            <a:r>
              <a:rPr lang="en-US" spc="-5" dirty="0">
                <a:latin typeface="Times New Roman"/>
                <a:cs typeface="Times New Roman"/>
              </a:rPr>
              <a:t>The basic arithmetic micro-Operations are add, subtract, complement, and  shift.</a:t>
            </a:r>
            <a:endParaRPr lang="en-US" dirty="0">
              <a:latin typeface="Times New Roman"/>
              <a:cs typeface="Times New Roman"/>
            </a:endParaRPr>
          </a:p>
          <a:p>
            <a:pPr marL="469265" marR="5080" lvl="1" indent="-228600">
              <a:lnSpc>
                <a:spcPct val="142900"/>
              </a:lnSpc>
              <a:spcBef>
                <a:spcPts val="125"/>
              </a:spcBef>
              <a:buFont typeface="Symbol"/>
              <a:buChar char=""/>
              <a:tabLst>
                <a:tab pos="469265" algn="l"/>
                <a:tab pos="469900" algn="l"/>
              </a:tabLst>
            </a:pPr>
            <a:r>
              <a:rPr lang="en-US" spc="-5" dirty="0">
                <a:latin typeface="Times New Roman"/>
                <a:cs typeface="Times New Roman"/>
              </a:rPr>
              <a:t>Add operation- </a:t>
            </a:r>
            <a:r>
              <a:rPr lang="en-US" dirty="0">
                <a:latin typeface="Times New Roman"/>
                <a:cs typeface="Times New Roman"/>
              </a:rPr>
              <a:t>It </a:t>
            </a:r>
            <a:r>
              <a:rPr lang="en-US" spc="-5" dirty="0">
                <a:latin typeface="Times New Roman"/>
                <a:cs typeface="Times New Roman"/>
              </a:rPr>
              <a:t>can </a:t>
            </a:r>
            <a:r>
              <a:rPr lang="en-US" dirty="0">
                <a:latin typeface="Times New Roman"/>
                <a:cs typeface="Times New Roman"/>
              </a:rPr>
              <a:t>be </a:t>
            </a:r>
            <a:r>
              <a:rPr lang="en-US" spc="-5" dirty="0">
                <a:latin typeface="Times New Roman"/>
                <a:cs typeface="Times New Roman"/>
              </a:rPr>
              <a:t>specified by the statement: </a:t>
            </a:r>
            <a:r>
              <a:rPr lang="en-US" dirty="0">
                <a:latin typeface="Times New Roman"/>
                <a:cs typeface="Times New Roman"/>
              </a:rPr>
              <a:t>F</a:t>
            </a:r>
            <a:r>
              <a:rPr lang="en-US" dirty="0">
                <a:latin typeface="Wingdings"/>
                <a:cs typeface="Wingdings"/>
              </a:rPr>
              <a:t></a:t>
            </a:r>
            <a:r>
              <a:rPr lang="en-US" dirty="0">
                <a:latin typeface="Times New Roman"/>
                <a:cs typeface="Times New Roman"/>
              </a:rPr>
              <a:t>A + B </a:t>
            </a:r>
            <a:r>
              <a:rPr lang="en-US" spc="-5" dirty="0">
                <a:latin typeface="Times New Roman"/>
                <a:cs typeface="Times New Roman"/>
              </a:rPr>
              <a:t>That is, the  contents</a:t>
            </a:r>
            <a:r>
              <a:rPr lang="en-US" spc="35" dirty="0">
                <a:latin typeface="Times New Roman"/>
                <a:cs typeface="Times New Roman"/>
              </a:rPr>
              <a:t> </a:t>
            </a:r>
            <a:r>
              <a:rPr lang="en-US" spc="-5" dirty="0">
                <a:latin typeface="Times New Roman"/>
                <a:cs typeface="Times New Roman"/>
              </a:rPr>
              <a:t>of</a:t>
            </a:r>
            <a:r>
              <a:rPr lang="en-US" spc="35" dirty="0">
                <a:latin typeface="Times New Roman"/>
                <a:cs typeface="Times New Roman"/>
              </a:rPr>
              <a:t> </a:t>
            </a:r>
            <a:r>
              <a:rPr lang="en-US" spc="-5" dirty="0">
                <a:latin typeface="Times New Roman"/>
                <a:cs typeface="Times New Roman"/>
              </a:rPr>
              <a:t>register</a:t>
            </a:r>
            <a:r>
              <a:rPr lang="en-US" spc="50" dirty="0">
                <a:latin typeface="Times New Roman"/>
                <a:cs typeface="Times New Roman"/>
              </a:rPr>
              <a:t> </a:t>
            </a:r>
            <a:r>
              <a:rPr lang="en-US" spc="-5" dirty="0">
                <a:latin typeface="Times New Roman"/>
                <a:cs typeface="Times New Roman"/>
              </a:rPr>
              <a:t>‘A’</a:t>
            </a:r>
            <a:r>
              <a:rPr lang="en-US" spc="35" dirty="0">
                <a:latin typeface="Times New Roman"/>
                <a:cs typeface="Times New Roman"/>
              </a:rPr>
              <a:t> </a:t>
            </a:r>
            <a:r>
              <a:rPr lang="en-US" spc="-5" dirty="0">
                <a:latin typeface="Times New Roman"/>
                <a:cs typeface="Times New Roman"/>
              </a:rPr>
              <a:t>is</a:t>
            </a:r>
            <a:r>
              <a:rPr lang="en-US" spc="40" dirty="0">
                <a:latin typeface="Times New Roman"/>
                <a:cs typeface="Times New Roman"/>
              </a:rPr>
              <a:t> </a:t>
            </a:r>
            <a:r>
              <a:rPr lang="en-US" spc="-5" dirty="0">
                <a:latin typeface="Times New Roman"/>
                <a:cs typeface="Times New Roman"/>
              </a:rPr>
              <a:t>added</a:t>
            </a:r>
            <a:r>
              <a:rPr lang="en-US" spc="40" dirty="0">
                <a:latin typeface="Times New Roman"/>
                <a:cs typeface="Times New Roman"/>
              </a:rPr>
              <a:t> </a:t>
            </a:r>
            <a:r>
              <a:rPr lang="en-US" dirty="0">
                <a:latin typeface="Times New Roman"/>
                <a:cs typeface="Times New Roman"/>
              </a:rPr>
              <a:t>to</a:t>
            </a:r>
            <a:r>
              <a:rPr lang="en-US" spc="40" dirty="0">
                <a:latin typeface="Times New Roman"/>
                <a:cs typeface="Times New Roman"/>
              </a:rPr>
              <a:t> </a:t>
            </a:r>
            <a:r>
              <a:rPr lang="en-US" spc="-5" dirty="0">
                <a:latin typeface="Times New Roman"/>
                <a:cs typeface="Times New Roman"/>
              </a:rPr>
              <a:t>the</a:t>
            </a:r>
            <a:r>
              <a:rPr lang="en-US" spc="35" dirty="0">
                <a:latin typeface="Times New Roman"/>
                <a:cs typeface="Times New Roman"/>
              </a:rPr>
              <a:t> </a:t>
            </a:r>
            <a:r>
              <a:rPr lang="en-US" spc="-5" dirty="0">
                <a:latin typeface="Times New Roman"/>
                <a:cs typeface="Times New Roman"/>
              </a:rPr>
              <a:t>contents</a:t>
            </a:r>
            <a:r>
              <a:rPr lang="en-US" spc="25" dirty="0">
                <a:latin typeface="Times New Roman"/>
                <a:cs typeface="Times New Roman"/>
              </a:rPr>
              <a:t> </a:t>
            </a:r>
            <a:r>
              <a:rPr lang="en-US" dirty="0">
                <a:latin typeface="Times New Roman"/>
                <a:cs typeface="Times New Roman"/>
              </a:rPr>
              <a:t>of</a:t>
            </a:r>
            <a:r>
              <a:rPr lang="en-US" spc="35" dirty="0">
                <a:latin typeface="Times New Roman"/>
                <a:cs typeface="Times New Roman"/>
              </a:rPr>
              <a:t> </a:t>
            </a:r>
            <a:r>
              <a:rPr lang="en-US" spc="-5" dirty="0">
                <a:latin typeface="Times New Roman"/>
                <a:cs typeface="Times New Roman"/>
              </a:rPr>
              <a:t>register</a:t>
            </a:r>
            <a:r>
              <a:rPr lang="en-US" spc="35" dirty="0">
                <a:latin typeface="Times New Roman"/>
                <a:cs typeface="Times New Roman"/>
              </a:rPr>
              <a:t> </a:t>
            </a:r>
            <a:r>
              <a:rPr lang="en-US" dirty="0">
                <a:latin typeface="Times New Roman"/>
                <a:cs typeface="Times New Roman"/>
              </a:rPr>
              <a:t>B</a:t>
            </a:r>
            <a:r>
              <a:rPr lang="en-US" spc="30" dirty="0">
                <a:latin typeface="Times New Roman"/>
                <a:cs typeface="Times New Roman"/>
              </a:rPr>
              <a:t> </a:t>
            </a:r>
            <a:r>
              <a:rPr lang="en-US" spc="-5" dirty="0">
                <a:latin typeface="Times New Roman"/>
                <a:cs typeface="Times New Roman"/>
              </a:rPr>
              <a:t>and</a:t>
            </a:r>
            <a:r>
              <a:rPr lang="en-US" spc="40" dirty="0">
                <a:latin typeface="Times New Roman"/>
                <a:cs typeface="Times New Roman"/>
              </a:rPr>
              <a:t> </a:t>
            </a:r>
            <a:r>
              <a:rPr lang="en-US" spc="-5" dirty="0">
                <a:latin typeface="Times New Roman"/>
                <a:cs typeface="Times New Roman"/>
              </a:rPr>
              <a:t>the</a:t>
            </a:r>
            <a:r>
              <a:rPr lang="en-US" spc="35" dirty="0">
                <a:latin typeface="Times New Roman"/>
                <a:cs typeface="Times New Roman"/>
              </a:rPr>
              <a:t> </a:t>
            </a:r>
            <a:r>
              <a:rPr lang="en-US" spc="-5" dirty="0">
                <a:latin typeface="Times New Roman"/>
                <a:cs typeface="Times New Roman"/>
              </a:rPr>
              <a:t>sum </a:t>
            </a:r>
            <a:r>
              <a:rPr lang="en-US" sz="2400" dirty="0">
                <a:latin typeface="Times New Roman"/>
                <a:cs typeface="Times New Roman"/>
              </a:rPr>
              <a:t>is </a:t>
            </a:r>
            <a:r>
              <a:rPr lang="en-US" sz="2400" spc="-5" dirty="0">
                <a:latin typeface="Times New Roman"/>
                <a:cs typeface="Times New Roman"/>
              </a:rPr>
              <a:t>transferred to register </a:t>
            </a:r>
            <a:r>
              <a:rPr lang="en-US" sz="2400" dirty="0">
                <a:latin typeface="Times New Roman"/>
                <a:cs typeface="Times New Roman"/>
              </a:rPr>
              <a:t>F. </a:t>
            </a:r>
          </a:p>
          <a:p>
            <a:pPr marL="469265" marR="5080" lvl="1" indent="-228600">
              <a:lnSpc>
                <a:spcPct val="142900"/>
              </a:lnSpc>
              <a:spcBef>
                <a:spcPts val="125"/>
              </a:spcBef>
              <a:buFont typeface="Symbol"/>
              <a:buChar char=""/>
              <a:tabLst>
                <a:tab pos="469265" algn="l"/>
                <a:tab pos="469900" algn="l"/>
              </a:tabLst>
            </a:pPr>
            <a:r>
              <a:rPr lang="en-US" sz="2400" dirty="0">
                <a:latin typeface="Times New Roman"/>
                <a:cs typeface="Times New Roman"/>
              </a:rPr>
              <a:t>Here we </a:t>
            </a:r>
            <a:r>
              <a:rPr lang="en-US" sz="2400" spc="-5" dirty="0">
                <a:latin typeface="Times New Roman"/>
                <a:cs typeface="Times New Roman"/>
              </a:rPr>
              <a:t>require </a:t>
            </a:r>
            <a:r>
              <a:rPr lang="en-US" sz="2400" dirty="0">
                <a:latin typeface="Times New Roman"/>
                <a:cs typeface="Times New Roman"/>
              </a:rPr>
              <a:t>3 </a:t>
            </a:r>
            <a:r>
              <a:rPr lang="en-US" sz="2400" spc="-5" dirty="0">
                <a:latin typeface="Times New Roman"/>
                <a:cs typeface="Times New Roman"/>
              </a:rPr>
              <a:t>registers and one digital circuit that perform addition operation such </a:t>
            </a:r>
            <a:r>
              <a:rPr lang="en-US" sz="2400" spc="-10" dirty="0">
                <a:latin typeface="Times New Roman"/>
                <a:cs typeface="Times New Roman"/>
              </a:rPr>
              <a:t>as </a:t>
            </a:r>
            <a:r>
              <a:rPr lang="en-US" sz="2400" spc="-5" dirty="0">
                <a:latin typeface="Times New Roman"/>
                <a:cs typeface="Times New Roman"/>
              </a:rPr>
              <a:t>parallel</a:t>
            </a:r>
            <a:r>
              <a:rPr lang="en-US" sz="2400" spc="25" dirty="0">
                <a:latin typeface="Times New Roman"/>
                <a:cs typeface="Times New Roman"/>
              </a:rPr>
              <a:t> </a:t>
            </a:r>
            <a:r>
              <a:rPr lang="en-US" sz="2400" spc="-5" dirty="0">
                <a:latin typeface="Times New Roman"/>
                <a:cs typeface="Times New Roman"/>
              </a:rPr>
              <a:t>adder.</a:t>
            </a:r>
          </a:p>
          <a:p>
            <a:pPr marL="469265" marR="5080" lvl="1" indent="-228600">
              <a:lnSpc>
                <a:spcPct val="142900"/>
              </a:lnSpc>
              <a:spcBef>
                <a:spcPts val="125"/>
              </a:spcBef>
              <a:buFont typeface="Symbol"/>
              <a:buChar char=""/>
              <a:tabLst>
                <a:tab pos="469265" algn="l"/>
                <a:tab pos="469900" algn="l"/>
              </a:tabLst>
            </a:pPr>
            <a:r>
              <a:rPr lang="en-US" spc="-5" dirty="0">
                <a:latin typeface="Times New Roman"/>
                <a:cs typeface="Times New Roman"/>
              </a:rPr>
              <a:t>Arithmetic subtraction is implemented through complemented addition</a:t>
            </a:r>
            <a:endParaRPr lang="en-US" sz="2400" dirty="0"/>
          </a:p>
        </p:txBody>
      </p:sp>
    </p:spTree>
    <p:extLst>
      <p:ext uri="{BB962C8B-B14F-4D97-AF65-F5344CB8AC3E}">
        <p14:creationId xmlns:p14="http://schemas.microsoft.com/office/powerpoint/2010/main" val="86748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DACF5-A6D3-0B3F-2F54-556FC2419836}"/>
              </a:ext>
            </a:extLst>
          </p:cNvPr>
          <p:cNvSpPr>
            <a:spLocks noGrp="1"/>
          </p:cNvSpPr>
          <p:nvPr>
            <p:ph type="title"/>
          </p:nvPr>
        </p:nvSpPr>
        <p:spPr/>
        <p:txBody>
          <a:bodyPr>
            <a:normAutofit/>
          </a:bodyPr>
          <a:lstStyle/>
          <a:p>
            <a:r>
              <a:rPr lang="en-US" sz="3200" spc="-5" dirty="0">
                <a:latin typeface="Times New Roman"/>
                <a:cs typeface="Times New Roman"/>
              </a:rPr>
              <a:t>Basic arithmetic operations</a:t>
            </a:r>
            <a:endParaRPr lang="en-US" sz="3200" dirty="0"/>
          </a:p>
        </p:txBody>
      </p:sp>
      <p:sp>
        <p:nvSpPr>
          <p:cNvPr id="3" name="Content Placeholder 2">
            <a:extLst>
              <a:ext uri="{FF2B5EF4-FFF2-40B4-BE49-F238E27FC236}">
                <a16:creationId xmlns:a16="http://schemas.microsoft.com/office/drawing/2014/main" id="{658CD2B3-3953-9FF7-CB20-67FC2ED9FB04}"/>
              </a:ext>
            </a:extLst>
          </p:cNvPr>
          <p:cNvSpPr>
            <a:spLocks noGrp="1"/>
          </p:cNvSpPr>
          <p:nvPr>
            <p:ph idx="1"/>
          </p:nvPr>
        </p:nvSpPr>
        <p:spPr/>
        <p:txBody>
          <a:bodyPr/>
          <a:lstStyle/>
          <a:p>
            <a:endParaRPr lang="en-US"/>
          </a:p>
        </p:txBody>
      </p:sp>
      <p:sp>
        <p:nvSpPr>
          <p:cNvPr id="4" name="object 8">
            <a:extLst>
              <a:ext uri="{FF2B5EF4-FFF2-40B4-BE49-F238E27FC236}">
                <a16:creationId xmlns:a16="http://schemas.microsoft.com/office/drawing/2014/main" id="{A55ED042-1A46-4BEA-6F74-2111AA016CCF}"/>
              </a:ext>
            </a:extLst>
          </p:cNvPr>
          <p:cNvSpPr/>
          <p:nvPr/>
        </p:nvSpPr>
        <p:spPr>
          <a:xfrm>
            <a:off x="1224577" y="1300899"/>
            <a:ext cx="6693937" cy="537327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700480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9B8068-ABB1-4E2B-13D4-5D6F294065D3}"/>
              </a:ext>
            </a:extLst>
          </p:cNvPr>
          <p:cNvSpPr>
            <a:spLocks noGrp="1"/>
          </p:cNvSpPr>
          <p:nvPr>
            <p:ph idx="1"/>
          </p:nvPr>
        </p:nvSpPr>
        <p:spPr>
          <a:xfrm>
            <a:off x="207390" y="263951"/>
            <a:ext cx="11566688" cy="6268824"/>
          </a:xfrm>
        </p:spPr>
        <p:txBody>
          <a:bodyPr>
            <a:noAutofit/>
          </a:bodyPr>
          <a:lstStyle/>
          <a:p>
            <a:pPr marL="215265" indent="-203200">
              <a:lnSpc>
                <a:spcPct val="100000"/>
              </a:lnSpc>
              <a:spcBef>
                <a:spcPts val="95"/>
              </a:spcBef>
              <a:buAutoNum type="arabicPeriod" startAt="3"/>
              <a:tabLst>
                <a:tab pos="215900" algn="l"/>
              </a:tabLst>
            </a:pPr>
            <a:r>
              <a:rPr lang="en-US" sz="2400" b="1" u="heavy" spc="-5" dirty="0">
                <a:uFill>
                  <a:solidFill>
                    <a:srgbClr val="000000"/>
                  </a:solidFill>
                </a:uFill>
                <a:latin typeface="Times New Roman"/>
                <a:cs typeface="Times New Roman"/>
              </a:rPr>
              <a:t>Logic Micro</a:t>
            </a:r>
            <a:r>
              <a:rPr lang="en-US" sz="2400" b="1" u="heavy" dirty="0">
                <a:uFill>
                  <a:solidFill>
                    <a:srgbClr val="000000"/>
                  </a:solidFill>
                </a:uFill>
                <a:latin typeface="Times New Roman"/>
                <a:cs typeface="Times New Roman"/>
              </a:rPr>
              <a:t> </a:t>
            </a:r>
            <a:r>
              <a:rPr lang="en-US" sz="2400" b="1" u="heavy" spc="-5" dirty="0">
                <a:uFill>
                  <a:solidFill>
                    <a:srgbClr val="000000"/>
                  </a:solidFill>
                </a:uFill>
                <a:latin typeface="Times New Roman"/>
                <a:cs typeface="Times New Roman"/>
              </a:rPr>
              <a:t>Operations</a:t>
            </a:r>
            <a:endParaRPr lang="en-US" sz="2400" dirty="0">
              <a:latin typeface="Times New Roman"/>
              <a:cs typeface="Times New Roman"/>
            </a:endParaRPr>
          </a:p>
          <a:p>
            <a:pPr>
              <a:lnSpc>
                <a:spcPct val="100000"/>
              </a:lnSpc>
              <a:spcBef>
                <a:spcPts val="25"/>
              </a:spcBef>
              <a:buFont typeface="Times New Roman"/>
              <a:buAutoNum type="arabicPeriod" startAt="3"/>
            </a:pPr>
            <a:endParaRPr lang="en-US" sz="2400" dirty="0">
              <a:latin typeface="Times New Roman"/>
              <a:cs typeface="Times New Roman"/>
            </a:endParaRPr>
          </a:p>
          <a:p>
            <a:pPr marL="469265" marR="7620" lvl="1" indent="-228600" algn="just">
              <a:lnSpc>
                <a:spcPct val="143200"/>
              </a:lnSpc>
              <a:buFont typeface="Symbol"/>
              <a:buChar char=""/>
              <a:tabLst>
                <a:tab pos="469900" algn="l"/>
              </a:tabLst>
            </a:pPr>
            <a:r>
              <a:rPr lang="en-US" spc="-5" dirty="0">
                <a:latin typeface="Times New Roman"/>
                <a:cs typeface="Times New Roman"/>
              </a:rPr>
              <a:t>Logic</a:t>
            </a:r>
            <a:r>
              <a:rPr lang="en-US" spc="-35" dirty="0">
                <a:latin typeface="Times New Roman"/>
                <a:cs typeface="Times New Roman"/>
              </a:rPr>
              <a:t> </a:t>
            </a:r>
            <a:r>
              <a:rPr lang="en-US" spc="-5" dirty="0">
                <a:latin typeface="Times New Roman"/>
                <a:cs typeface="Times New Roman"/>
              </a:rPr>
              <a:t>micro-operations</a:t>
            </a:r>
            <a:r>
              <a:rPr lang="en-US" spc="-25" dirty="0">
                <a:latin typeface="Times New Roman"/>
                <a:cs typeface="Times New Roman"/>
              </a:rPr>
              <a:t> </a:t>
            </a:r>
            <a:r>
              <a:rPr lang="en-US" spc="-5" dirty="0">
                <a:latin typeface="Times New Roman"/>
                <a:cs typeface="Times New Roman"/>
              </a:rPr>
              <a:t>specify</a:t>
            </a:r>
            <a:r>
              <a:rPr lang="en-US" spc="-30" dirty="0">
                <a:latin typeface="Times New Roman"/>
                <a:cs typeface="Times New Roman"/>
              </a:rPr>
              <a:t> </a:t>
            </a:r>
            <a:r>
              <a:rPr lang="en-US" spc="-5" dirty="0">
                <a:latin typeface="Times New Roman"/>
                <a:cs typeface="Times New Roman"/>
              </a:rPr>
              <a:t>binary</a:t>
            </a:r>
            <a:r>
              <a:rPr lang="en-US" spc="-30" dirty="0">
                <a:latin typeface="Times New Roman"/>
                <a:cs typeface="Times New Roman"/>
              </a:rPr>
              <a:t> </a:t>
            </a:r>
            <a:r>
              <a:rPr lang="en-US" spc="-5" dirty="0">
                <a:latin typeface="Times New Roman"/>
                <a:cs typeface="Times New Roman"/>
              </a:rPr>
              <a:t>operations</a:t>
            </a:r>
            <a:r>
              <a:rPr lang="en-US" spc="-30" dirty="0">
                <a:latin typeface="Times New Roman"/>
                <a:cs typeface="Times New Roman"/>
              </a:rPr>
              <a:t> </a:t>
            </a:r>
            <a:r>
              <a:rPr lang="en-US" spc="-5" dirty="0">
                <a:latin typeface="Times New Roman"/>
                <a:cs typeface="Times New Roman"/>
              </a:rPr>
              <a:t>for</a:t>
            </a:r>
            <a:r>
              <a:rPr lang="en-US" spc="-40" dirty="0">
                <a:latin typeface="Times New Roman"/>
                <a:cs typeface="Times New Roman"/>
              </a:rPr>
              <a:t> </a:t>
            </a:r>
            <a:r>
              <a:rPr lang="en-US" dirty="0">
                <a:latin typeface="Times New Roman"/>
                <a:cs typeface="Times New Roman"/>
              </a:rPr>
              <a:t>a</a:t>
            </a:r>
            <a:r>
              <a:rPr lang="en-US" spc="-35" dirty="0">
                <a:latin typeface="Times New Roman"/>
                <a:cs typeface="Times New Roman"/>
              </a:rPr>
              <a:t> </a:t>
            </a:r>
            <a:r>
              <a:rPr lang="en-US" spc="-5" dirty="0">
                <a:latin typeface="Times New Roman"/>
                <a:cs typeface="Times New Roman"/>
              </a:rPr>
              <a:t>string</a:t>
            </a:r>
            <a:r>
              <a:rPr lang="en-US" spc="-30" dirty="0">
                <a:latin typeface="Times New Roman"/>
                <a:cs typeface="Times New Roman"/>
              </a:rPr>
              <a:t> </a:t>
            </a:r>
            <a:r>
              <a:rPr lang="en-US" dirty="0">
                <a:latin typeface="Times New Roman"/>
                <a:cs typeface="Times New Roman"/>
              </a:rPr>
              <a:t>of</a:t>
            </a:r>
            <a:r>
              <a:rPr lang="en-US" spc="-35" dirty="0">
                <a:latin typeface="Times New Roman"/>
                <a:cs typeface="Times New Roman"/>
              </a:rPr>
              <a:t> </a:t>
            </a:r>
            <a:r>
              <a:rPr lang="en-US" spc="-5" dirty="0">
                <a:latin typeface="Times New Roman"/>
                <a:cs typeface="Times New Roman"/>
              </a:rPr>
              <a:t>bits</a:t>
            </a:r>
            <a:r>
              <a:rPr lang="en-US" spc="-30" dirty="0">
                <a:latin typeface="Times New Roman"/>
                <a:cs typeface="Times New Roman"/>
              </a:rPr>
              <a:t> </a:t>
            </a:r>
            <a:r>
              <a:rPr lang="en-US" spc="-5" dirty="0">
                <a:latin typeface="Times New Roman"/>
                <a:cs typeface="Times New Roman"/>
              </a:rPr>
              <a:t>stored  </a:t>
            </a:r>
            <a:r>
              <a:rPr lang="en-US" dirty="0">
                <a:latin typeface="Times New Roman"/>
                <a:cs typeface="Times New Roman"/>
              </a:rPr>
              <a:t>in </a:t>
            </a:r>
            <a:r>
              <a:rPr lang="en-US" spc="-5" dirty="0">
                <a:latin typeface="Times New Roman"/>
                <a:cs typeface="Times New Roman"/>
              </a:rPr>
              <a:t>registers. These operations consider each bit </a:t>
            </a:r>
            <a:r>
              <a:rPr lang="en-US" dirty="0">
                <a:latin typeface="Times New Roman"/>
                <a:cs typeface="Times New Roman"/>
              </a:rPr>
              <a:t>in </a:t>
            </a:r>
            <a:r>
              <a:rPr lang="en-US" spc="-5" dirty="0">
                <a:latin typeface="Times New Roman"/>
                <a:cs typeface="Times New Roman"/>
              </a:rPr>
              <a:t>the registers separately  and treat </a:t>
            </a:r>
            <a:r>
              <a:rPr lang="en-US" dirty="0">
                <a:latin typeface="Times New Roman"/>
                <a:cs typeface="Times New Roman"/>
              </a:rPr>
              <a:t>it </a:t>
            </a:r>
            <a:r>
              <a:rPr lang="en-US" spc="-10" dirty="0">
                <a:latin typeface="Times New Roman"/>
                <a:cs typeface="Times New Roman"/>
              </a:rPr>
              <a:t>as </a:t>
            </a:r>
            <a:r>
              <a:rPr lang="en-US" dirty="0">
                <a:latin typeface="Times New Roman"/>
                <a:cs typeface="Times New Roman"/>
              </a:rPr>
              <a:t>a </a:t>
            </a:r>
            <a:r>
              <a:rPr lang="en-US" spc="-5" dirty="0">
                <a:latin typeface="Times New Roman"/>
                <a:cs typeface="Times New Roman"/>
              </a:rPr>
              <a:t>binary</a:t>
            </a:r>
            <a:r>
              <a:rPr lang="en-US" spc="15" dirty="0">
                <a:latin typeface="Times New Roman"/>
                <a:cs typeface="Times New Roman"/>
              </a:rPr>
              <a:t> </a:t>
            </a:r>
            <a:r>
              <a:rPr lang="en-US" spc="-5" dirty="0">
                <a:latin typeface="Times New Roman"/>
                <a:cs typeface="Times New Roman"/>
              </a:rPr>
              <a:t>variable.</a:t>
            </a:r>
            <a:endParaRPr lang="en-US" dirty="0">
              <a:latin typeface="Times New Roman"/>
              <a:cs typeface="Times New Roman"/>
            </a:endParaRPr>
          </a:p>
          <a:p>
            <a:pPr marL="926465" marR="6985" lvl="2" algn="just">
              <a:lnSpc>
                <a:spcPct val="142900"/>
              </a:lnSpc>
              <a:spcBef>
                <a:spcPts val="130"/>
              </a:spcBef>
              <a:buFont typeface="Symbol"/>
              <a:buChar char=""/>
              <a:tabLst>
                <a:tab pos="469900" algn="l"/>
              </a:tabLst>
            </a:pPr>
            <a:r>
              <a:rPr lang="en-US" dirty="0">
                <a:latin typeface="Times New Roman"/>
                <a:cs typeface="Times New Roman"/>
              </a:rPr>
              <a:t>For</a:t>
            </a:r>
            <a:r>
              <a:rPr lang="en-US" spc="-75" dirty="0">
                <a:latin typeface="Times New Roman"/>
                <a:cs typeface="Times New Roman"/>
              </a:rPr>
              <a:t> </a:t>
            </a:r>
            <a:r>
              <a:rPr lang="en-US" spc="-5" dirty="0">
                <a:latin typeface="Times New Roman"/>
                <a:cs typeface="Times New Roman"/>
              </a:rPr>
              <a:t>example,</a:t>
            </a:r>
            <a:r>
              <a:rPr lang="en-US" spc="-75" dirty="0">
                <a:latin typeface="Times New Roman"/>
                <a:cs typeface="Times New Roman"/>
              </a:rPr>
              <a:t> </a:t>
            </a:r>
            <a:r>
              <a:rPr lang="en-US" spc="-5" dirty="0">
                <a:latin typeface="Times New Roman"/>
                <a:cs typeface="Times New Roman"/>
              </a:rPr>
              <a:t>consider</a:t>
            </a:r>
            <a:r>
              <a:rPr lang="en-US" spc="-75" dirty="0">
                <a:latin typeface="Times New Roman"/>
                <a:cs typeface="Times New Roman"/>
              </a:rPr>
              <a:t> </a:t>
            </a:r>
            <a:r>
              <a:rPr lang="en-US" dirty="0">
                <a:latin typeface="Times New Roman"/>
                <a:cs typeface="Times New Roman"/>
              </a:rPr>
              <a:t>the</a:t>
            </a:r>
            <a:r>
              <a:rPr lang="en-US" spc="-85" dirty="0">
                <a:latin typeface="Times New Roman"/>
                <a:cs typeface="Times New Roman"/>
              </a:rPr>
              <a:t> </a:t>
            </a:r>
            <a:r>
              <a:rPr lang="en-US" spc="-5" dirty="0">
                <a:latin typeface="Times New Roman"/>
                <a:cs typeface="Times New Roman"/>
              </a:rPr>
              <a:t>AND</a:t>
            </a:r>
            <a:r>
              <a:rPr lang="en-US" spc="-85" dirty="0">
                <a:latin typeface="Times New Roman"/>
                <a:cs typeface="Times New Roman"/>
              </a:rPr>
              <a:t> </a:t>
            </a:r>
            <a:r>
              <a:rPr lang="en-US" spc="-5" dirty="0">
                <a:latin typeface="Times New Roman"/>
                <a:cs typeface="Times New Roman"/>
              </a:rPr>
              <a:t>operation</a:t>
            </a:r>
            <a:r>
              <a:rPr lang="en-US" spc="-85" dirty="0">
                <a:latin typeface="Times New Roman"/>
                <a:cs typeface="Times New Roman"/>
              </a:rPr>
              <a:t> </a:t>
            </a:r>
            <a:r>
              <a:rPr lang="en-US" dirty="0">
                <a:latin typeface="Times New Roman"/>
                <a:cs typeface="Times New Roman"/>
              </a:rPr>
              <a:t>of</a:t>
            </a:r>
            <a:r>
              <a:rPr lang="en-US" spc="-75" dirty="0">
                <a:latin typeface="Times New Roman"/>
                <a:cs typeface="Times New Roman"/>
              </a:rPr>
              <a:t> </a:t>
            </a:r>
            <a:r>
              <a:rPr lang="en-US" dirty="0">
                <a:latin typeface="Times New Roman"/>
                <a:cs typeface="Times New Roman"/>
              </a:rPr>
              <a:t>A</a:t>
            </a:r>
            <a:r>
              <a:rPr lang="en-US" spc="-65" dirty="0">
                <a:latin typeface="Times New Roman"/>
                <a:cs typeface="Times New Roman"/>
              </a:rPr>
              <a:t> </a:t>
            </a:r>
            <a:r>
              <a:rPr lang="en-US" spc="-10" dirty="0">
                <a:latin typeface="Times New Roman"/>
                <a:cs typeface="Times New Roman"/>
              </a:rPr>
              <a:t>and</a:t>
            </a:r>
            <a:r>
              <a:rPr lang="en-US" spc="-70" dirty="0">
                <a:latin typeface="Times New Roman"/>
                <a:cs typeface="Times New Roman"/>
              </a:rPr>
              <a:t> </a:t>
            </a:r>
            <a:r>
              <a:rPr lang="en-US" dirty="0">
                <a:latin typeface="Times New Roman"/>
                <a:cs typeface="Times New Roman"/>
              </a:rPr>
              <a:t>B.</a:t>
            </a:r>
            <a:r>
              <a:rPr lang="en-US" spc="-80" dirty="0">
                <a:latin typeface="Times New Roman"/>
                <a:cs typeface="Times New Roman"/>
              </a:rPr>
              <a:t> </a:t>
            </a:r>
          </a:p>
          <a:p>
            <a:pPr marL="926465" marR="6985" lvl="2" algn="just">
              <a:lnSpc>
                <a:spcPct val="142900"/>
              </a:lnSpc>
              <a:spcBef>
                <a:spcPts val="130"/>
              </a:spcBef>
              <a:buFont typeface="Symbol"/>
              <a:buChar char=""/>
              <a:tabLst>
                <a:tab pos="469900" algn="l"/>
              </a:tabLst>
            </a:pPr>
            <a:r>
              <a:rPr lang="en-US" spc="-5" dirty="0">
                <a:latin typeface="Times New Roman"/>
                <a:cs typeface="Times New Roman"/>
              </a:rPr>
              <a:t>Content</a:t>
            </a:r>
            <a:r>
              <a:rPr lang="en-US" spc="-65" dirty="0">
                <a:latin typeface="Times New Roman"/>
                <a:cs typeface="Times New Roman"/>
              </a:rPr>
              <a:t> </a:t>
            </a:r>
            <a:r>
              <a:rPr lang="en-US" spc="-5" dirty="0">
                <a:latin typeface="Times New Roman"/>
                <a:cs typeface="Times New Roman"/>
              </a:rPr>
              <a:t>of</a:t>
            </a:r>
            <a:r>
              <a:rPr lang="en-US" spc="-75" dirty="0">
                <a:latin typeface="Times New Roman"/>
                <a:cs typeface="Times New Roman"/>
              </a:rPr>
              <a:t> </a:t>
            </a:r>
            <a:r>
              <a:rPr lang="en-US" dirty="0">
                <a:latin typeface="Times New Roman"/>
                <a:cs typeface="Times New Roman"/>
              </a:rPr>
              <a:t>A</a:t>
            </a:r>
            <a:r>
              <a:rPr lang="en-US" spc="-70" dirty="0">
                <a:latin typeface="Times New Roman"/>
                <a:cs typeface="Times New Roman"/>
              </a:rPr>
              <a:t> </a:t>
            </a:r>
            <a:r>
              <a:rPr lang="en-US" spc="-5" dirty="0">
                <a:latin typeface="Times New Roman"/>
                <a:cs typeface="Times New Roman"/>
              </a:rPr>
              <a:t>is</a:t>
            </a:r>
            <a:r>
              <a:rPr lang="en-US" spc="-70" dirty="0">
                <a:latin typeface="Times New Roman"/>
                <a:cs typeface="Times New Roman"/>
              </a:rPr>
              <a:t> </a:t>
            </a:r>
            <a:r>
              <a:rPr lang="en-US" spc="-5" dirty="0">
                <a:latin typeface="Times New Roman"/>
                <a:cs typeface="Times New Roman"/>
              </a:rPr>
              <a:t>1101  and content of </a:t>
            </a:r>
            <a:r>
              <a:rPr lang="en-US" dirty="0">
                <a:latin typeface="Times New Roman"/>
                <a:cs typeface="Times New Roman"/>
              </a:rPr>
              <a:t>B </a:t>
            </a:r>
            <a:r>
              <a:rPr lang="en-US" spc="-5" dirty="0">
                <a:latin typeface="Times New Roman"/>
                <a:cs typeface="Times New Roman"/>
              </a:rPr>
              <a:t>is 1010.</a:t>
            </a:r>
            <a:r>
              <a:rPr lang="en-US" spc="30" dirty="0">
                <a:latin typeface="Times New Roman"/>
                <a:cs typeface="Times New Roman"/>
              </a:rPr>
              <a:t> </a:t>
            </a:r>
            <a:r>
              <a:rPr lang="en-US" spc="-5" dirty="0">
                <a:latin typeface="Times New Roman"/>
                <a:cs typeface="Times New Roman"/>
              </a:rPr>
              <a:t>Then, </a:t>
            </a:r>
            <a:r>
              <a:rPr lang="en-US" sz="2400" spc="-5" dirty="0">
                <a:latin typeface="Times New Roman"/>
                <a:cs typeface="Times New Roman"/>
              </a:rPr>
              <a:t>1101(A)         1010(B)</a:t>
            </a:r>
            <a:endParaRPr lang="en-US" sz="2400" dirty="0">
              <a:latin typeface="Times New Roman"/>
              <a:cs typeface="Times New Roman"/>
            </a:endParaRPr>
          </a:p>
          <a:p>
            <a:pPr marL="926465" lvl="1">
              <a:lnSpc>
                <a:spcPct val="100000"/>
              </a:lnSpc>
              <a:spcBef>
                <a:spcPts val="730"/>
              </a:spcBef>
            </a:pPr>
            <a:r>
              <a:rPr lang="en-US" sz="2000" dirty="0">
                <a:latin typeface="Times New Roman"/>
                <a:cs typeface="Times New Roman"/>
              </a:rPr>
              <a:t>A </a:t>
            </a:r>
            <a:r>
              <a:rPr lang="en-US" sz="2000" spc="-5" dirty="0">
                <a:latin typeface="Times New Roman"/>
                <a:cs typeface="Times New Roman"/>
              </a:rPr>
              <a:t>AND </a:t>
            </a:r>
            <a:r>
              <a:rPr lang="en-US" sz="2000" dirty="0">
                <a:latin typeface="Times New Roman"/>
                <a:cs typeface="Times New Roman"/>
              </a:rPr>
              <a:t>B </a:t>
            </a:r>
            <a:r>
              <a:rPr lang="en-US" sz="2000" spc="-5" dirty="0">
                <a:latin typeface="Times New Roman"/>
                <a:cs typeface="Times New Roman"/>
              </a:rPr>
              <a:t>will </a:t>
            </a:r>
            <a:r>
              <a:rPr lang="en-US" sz="2000" dirty="0">
                <a:latin typeface="Times New Roman"/>
                <a:cs typeface="Times New Roman"/>
              </a:rPr>
              <a:t>be </a:t>
            </a:r>
            <a:r>
              <a:rPr lang="en-US" sz="2000" spc="-5" dirty="0">
                <a:latin typeface="Times New Roman"/>
                <a:cs typeface="Times New Roman"/>
              </a:rPr>
              <a:t>1000 (it will contain </a:t>
            </a:r>
            <a:r>
              <a:rPr lang="en-US" sz="2000" dirty="0">
                <a:latin typeface="Times New Roman"/>
                <a:cs typeface="Times New Roman"/>
              </a:rPr>
              <a:t>in </a:t>
            </a:r>
            <a:r>
              <a:rPr lang="en-US" sz="2000" spc="-5" dirty="0">
                <a:latin typeface="Times New Roman"/>
                <a:cs typeface="Times New Roman"/>
              </a:rPr>
              <a:t>the register</a:t>
            </a:r>
            <a:r>
              <a:rPr lang="en-US" sz="2000" spc="-25" dirty="0">
                <a:latin typeface="Times New Roman"/>
                <a:cs typeface="Times New Roman"/>
              </a:rPr>
              <a:t> </a:t>
            </a:r>
            <a:r>
              <a:rPr lang="en-US" sz="2000" dirty="0">
                <a:latin typeface="Times New Roman"/>
                <a:cs typeface="Times New Roman"/>
              </a:rPr>
              <a:t>F)</a:t>
            </a:r>
          </a:p>
          <a:p>
            <a:pPr marL="507365" marR="9525" lvl="1" indent="-228600" algn="just">
              <a:lnSpc>
                <a:spcPct val="143600"/>
              </a:lnSpc>
              <a:spcBef>
                <a:spcPts val="110"/>
              </a:spcBef>
              <a:buFont typeface="Symbol"/>
              <a:buChar char=""/>
              <a:tabLst>
                <a:tab pos="508000" algn="l"/>
              </a:tabLst>
            </a:pPr>
            <a:r>
              <a:rPr lang="en-US" spc="-5" dirty="0">
                <a:latin typeface="Times New Roman"/>
                <a:cs typeface="Times New Roman"/>
              </a:rPr>
              <a:t>There </a:t>
            </a:r>
            <a:r>
              <a:rPr lang="en-US" dirty="0">
                <a:latin typeface="Times New Roman"/>
                <a:cs typeface="Times New Roman"/>
              </a:rPr>
              <a:t>are </a:t>
            </a:r>
            <a:r>
              <a:rPr lang="en-US" spc="-5" dirty="0">
                <a:latin typeface="Times New Roman"/>
                <a:cs typeface="Times New Roman"/>
              </a:rPr>
              <a:t>16 different logic operations can </a:t>
            </a:r>
            <a:r>
              <a:rPr lang="en-US" dirty="0">
                <a:latin typeface="Times New Roman"/>
                <a:cs typeface="Times New Roman"/>
              </a:rPr>
              <a:t>be </a:t>
            </a:r>
            <a:r>
              <a:rPr lang="en-US" spc="-5" dirty="0">
                <a:latin typeface="Times New Roman"/>
                <a:cs typeface="Times New Roman"/>
              </a:rPr>
              <a:t>performed with two binary  variables.</a:t>
            </a:r>
            <a:endParaRPr lang="en-US" dirty="0">
              <a:latin typeface="Times New Roman"/>
              <a:cs typeface="Times New Roman"/>
            </a:endParaRPr>
          </a:p>
          <a:p>
            <a:pPr marL="469265" marR="5080" lvl="1" indent="-228600" algn="just">
              <a:lnSpc>
                <a:spcPct val="143600"/>
              </a:lnSpc>
              <a:spcBef>
                <a:spcPts val="105"/>
              </a:spcBef>
              <a:buFont typeface="Symbol"/>
              <a:buChar char=""/>
              <a:tabLst>
                <a:tab pos="469900" algn="l"/>
              </a:tabLst>
            </a:pPr>
            <a:r>
              <a:rPr lang="en-US" spc="-5" dirty="0">
                <a:latin typeface="Times New Roman"/>
                <a:cs typeface="Times New Roman"/>
              </a:rPr>
              <a:t>All 16 logic operations can </a:t>
            </a:r>
            <a:r>
              <a:rPr lang="en-US" dirty="0">
                <a:latin typeface="Times New Roman"/>
                <a:cs typeface="Times New Roman"/>
              </a:rPr>
              <a:t>be </a:t>
            </a:r>
            <a:r>
              <a:rPr lang="en-US" spc="-5" dirty="0">
                <a:latin typeface="Times New Roman"/>
                <a:cs typeface="Times New Roman"/>
              </a:rPr>
              <a:t>expressed </a:t>
            </a:r>
            <a:r>
              <a:rPr lang="en-US" dirty="0">
                <a:latin typeface="Times New Roman"/>
                <a:cs typeface="Times New Roman"/>
              </a:rPr>
              <a:t>in </a:t>
            </a:r>
            <a:r>
              <a:rPr lang="en-US" spc="5" dirty="0">
                <a:latin typeface="Times New Roman"/>
                <a:cs typeface="Times New Roman"/>
              </a:rPr>
              <a:t>terms </a:t>
            </a:r>
            <a:r>
              <a:rPr lang="en-US" dirty="0">
                <a:latin typeface="Times New Roman"/>
                <a:cs typeface="Times New Roman"/>
              </a:rPr>
              <a:t>of </a:t>
            </a:r>
            <a:r>
              <a:rPr lang="en-US" spc="-5" dirty="0">
                <a:latin typeface="Times New Roman"/>
                <a:cs typeface="Times New Roman"/>
              </a:rPr>
              <a:t>the </a:t>
            </a:r>
            <a:r>
              <a:rPr lang="en-US" spc="-10" dirty="0">
                <a:latin typeface="Times New Roman"/>
                <a:cs typeface="Times New Roman"/>
              </a:rPr>
              <a:t>AND, </a:t>
            </a:r>
            <a:r>
              <a:rPr lang="en-US" dirty="0">
                <a:latin typeface="Times New Roman"/>
                <a:cs typeface="Times New Roman"/>
              </a:rPr>
              <a:t>OR </a:t>
            </a:r>
            <a:r>
              <a:rPr lang="en-US" spc="-5" dirty="0">
                <a:latin typeface="Times New Roman"/>
                <a:cs typeface="Times New Roman"/>
              </a:rPr>
              <a:t>and  complement operations. Special symbols are adopted for these three micro  operations.</a:t>
            </a:r>
            <a:endParaRPr lang="en-US" dirty="0">
              <a:latin typeface="Times New Roman"/>
              <a:cs typeface="Times New Roman"/>
            </a:endParaRPr>
          </a:p>
          <a:p>
            <a:endParaRPr lang="en-US" sz="2400" dirty="0"/>
          </a:p>
        </p:txBody>
      </p:sp>
    </p:spTree>
    <p:extLst>
      <p:ext uri="{BB962C8B-B14F-4D97-AF65-F5344CB8AC3E}">
        <p14:creationId xmlns:p14="http://schemas.microsoft.com/office/powerpoint/2010/main" val="3392176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C8DA9-E8A6-523E-DD06-C87A90704CA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3364A7A-E0B0-1BB9-D9FE-291C5BDA98C9}"/>
              </a:ext>
            </a:extLst>
          </p:cNvPr>
          <p:cNvSpPr>
            <a:spLocks noGrp="1"/>
          </p:cNvSpPr>
          <p:nvPr>
            <p:ph idx="1"/>
          </p:nvPr>
        </p:nvSpPr>
        <p:spPr/>
        <p:txBody>
          <a:bodyPr/>
          <a:lstStyle/>
          <a:p>
            <a:endParaRPr lang="en-US"/>
          </a:p>
        </p:txBody>
      </p:sp>
      <p:sp>
        <p:nvSpPr>
          <p:cNvPr id="4" name="object 3">
            <a:extLst>
              <a:ext uri="{FF2B5EF4-FFF2-40B4-BE49-F238E27FC236}">
                <a16:creationId xmlns:a16="http://schemas.microsoft.com/office/drawing/2014/main" id="{5FAE7C64-E782-02C0-1BEF-FCF9EA8409A2}"/>
              </a:ext>
            </a:extLst>
          </p:cNvPr>
          <p:cNvSpPr/>
          <p:nvPr/>
        </p:nvSpPr>
        <p:spPr>
          <a:xfrm>
            <a:off x="3082443" y="461913"/>
            <a:ext cx="7880930" cy="5849987"/>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138815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825A91-5BBD-D825-A4E6-4B01FA953F75}"/>
              </a:ext>
            </a:extLst>
          </p:cNvPr>
          <p:cNvSpPr>
            <a:spLocks noGrp="1"/>
          </p:cNvSpPr>
          <p:nvPr>
            <p:ph idx="1"/>
          </p:nvPr>
        </p:nvSpPr>
        <p:spPr>
          <a:xfrm>
            <a:off x="254523" y="292230"/>
            <a:ext cx="11528981" cy="6268825"/>
          </a:xfrm>
        </p:spPr>
        <p:txBody>
          <a:bodyPr>
            <a:normAutofit/>
          </a:bodyPr>
          <a:lstStyle/>
          <a:p>
            <a:pPr marL="165735" indent="-153670">
              <a:lnSpc>
                <a:spcPct val="100000"/>
              </a:lnSpc>
              <a:spcBef>
                <a:spcPts val="95"/>
              </a:spcBef>
              <a:buSzPct val="93750"/>
              <a:buAutoNum type="arabicPeriod" startAt="4"/>
              <a:tabLst>
                <a:tab pos="166370" algn="l"/>
              </a:tabLst>
            </a:pPr>
            <a:r>
              <a:rPr lang="en-US" sz="2400" b="1" u="heavy" spc="-5" dirty="0">
                <a:uFill>
                  <a:solidFill>
                    <a:srgbClr val="000000"/>
                  </a:solidFill>
                </a:uFill>
                <a:latin typeface="Times New Roman"/>
                <a:cs typeface="Times New Roman"/>
              </a:rPr>
              <a:t>Shift Micro</a:t>
            </a:r>
            <a:r>
              <a:rPr lang="en-US" sz="2400" b="1" u="heavy" spc="10" dirty="0">
                <a:uFill>
                  <a:solidFill>
                    <a:srgbClr val="000000"/>
                  </a:solidFill>
                </a:uFill>
                <a:latin typeface="Times New Roman"/>
                <a:cs typeface="Times New Roman"/>
              </a:rPr>
              <a:t> </a:t>
            </a:r>
            <a:r>
              <a:rPr lang="en-US" sz="2400" b="1" u="heavy" spc="-5" dirty="0">
                <a:uFill>
                  <a:solidFill>
                    <a:srgbClr val="000000"/>
                  </a:solidFill>
                </a:uFill>
                <a:latin typeface="Times New Roman"/>
                <a:cs typeface="Times New Roman"/>
              </a:rPr>
              <a:t>Operations</a:t>
            </a:r>
            <a:endParaRPr lang="en-US" sz="2400" dirty="0">
              <a:latin typeface="Times New Roman"/>
              <a:cs typeface="Times New Roman"/>
            </a:endParaRPr>
          </a:p>
          <a:p>
            <a:pPr>
              <a:lnSpc>
                <a:spcPct val="100000"/>
              </a:lnSpc>
              <a:spcBef>
                <a:spcPts val="25"/>
              </a:spcBef>
              <a:buFont typeface="Times New Roman"/>
              <a:buAutoNum type="arabicPeriod" startAt="4"/>
            </a:pPr>
            <a:endParaRPr lang="en-US" sz="2400" dirty="0">
              <a:latin typeface="Times New Roman"/>
              <a:cs typeface="Times New Roman"/>
            </a:endParaRPr>
          </a:p>
          <a:p>
            <a:pPr marL="469265" marR="6350" lvl="1" indent="-228600" algn="just">
              <a:lnSpc>
                <a:spcPct val="143200"/>
              </a:lnSpc>
              <a:buFont typeface="Symbol"/>
              <a:buChar char=""/>
              <a:tabLst>
                <a:tab pos="469900" algn="l"/>
              </a:tabLst>
            </a:pPr>
            <a:r>
              <a:rPr lang="en-US" spc="-5" dirty="0">
                <a:latin typeface="Times New Roman"/>
                <a:cs typeface="Times New Roman"/>
              </a:rPr>
              <a:t>Shift micro-operations transfer binary information between registers in  serial computers. They </a:t>
            </a:r>
            <a:r>
              <a:rPr lang="en-US" dirty="0">
                <a:latin typeface="Times New Roman"/>
                <a:cs typeface="Times New Roman"/>
              </a:rPr>
              <a:t>are </a:t>
            </a:r>
            <a:r>
              <a:rPr lang="en-US" spc="-5" dirty="0">
                <a:latin typeface="Times New Roman"/>
                <a:cs typeface="Times New Roman"/>
              </a:rPr>
              <a:t>also used in parallel computers </a:t>
            </a:r>
            <a:r>
              <a:rPr lang="en-US" dirty="0">
                <a:latin typeface="Times New Roman"/>
                <a:cs typeface="Times New Roman"/>
              </a:rPr>
              <a:t>for </a:t>
            </a:r>
            <a:r>
              <a:rPr lang="en-US" spc="-5" dirty="0">
                <a:latin typeface="Times New Roman"/>
                <a:cs typeface="Times New Roman"/>
              </a:rPr>
              <a:t>arithmetic,  logic and control operations</a:t>
            </a:r>
            <a:endParaRPr lang="en-US" dirty="0">
              <a:latin typeface="Times New Roman"/>
              <a:cs typeface="Times New Roman"/>
            </a:endParaRPr>
          </a:p>
          <a:p>
            <a:pPr marL="469265" marR="5080" lvl="1" indent="-228600" algn="just">
              <a:lnSpc>
                <a:spcPct val="143700"/>
              </a:lnSpc>
              <a:spcBef>
                <a:spcPts val="114"/>
              </a:spcBef>
              <a:buFont typeface="Symbol"/>
              <a:buChar char=""/>
              <a:tabLst>
                <a:tab pos="514350" algn="l"/>
              </a:tabLst>
            </a:pPr>
            <a:r>
              <a:rPr lang="en-US" dirty="0"/>
              <a:t>	</a:t>
            </a:r>
            <a:r>
              <a:rPr lang="en-US" spc="-5" dirty="0">
                <a:latin typeface="Times New Roman"/>
                <a:cs typeface="Times New Roman"/>
              </a:rPr>
              <a:t>Registers can </a:t>
            </a:r>
            <a:r>
              <a:rPr lang="en-US" dirty="0">
                <a:latin typeface="Times New Roman"/>
                <a:cs typeface="Times New Roman"/>
              </a:rPr>
              <a:t>be </a:t>
            </a:r>
            <a:r>
              <a:rPr lang="en-US" spc="-5" dirty="0">
                <a:latin typeface="Times New Roman"/>
                <a:cs typeface="Times New Roman"/>
              </a:rPr>
              <a:t>shifted to the left </a:t>
            </a:r>
            <a:r>
              <a:rPr lang="en-US" dirty="0">
                <a:latin typeface="Times New Roman"/>
                <a:cs typeface="Times New Roman"/>
              </a:rPr>
              <a:t>or </a:t>
            </a:r>
            <a:r>
              <a:rPr lang="en-US" spc="-5" dirty="0">
                <a:latin typeface="Times New Roman"/>
                <a:cs typeface="Times New Roman"/>
              </a:rPr>
              <a:t>right. There are </a:t>
            </a:r>
            <a:r>
              <a:rPr lang="en-US" dirty="0">
                <a:latin typeface="Times New Roman"/>
                <a:cs typeface="Times New Roman"/>
              </a:rPr>
              <a:t>no </a:t>
            </a:r>
            <a:r>
              <a:rPr lang="en-US" spc="-5" dirty="0">
                <a:latin typeface="Times New Roman"/>
                <a:cs typeface="Times New Roman"/>
              </a:rPr>
              <a:t>conventional  symbols for shift. Here we </a:t>
            </a:r>
            <a:r>
              <a:rPr lang="en-US" dirty="0">
                <a:latin typeface="Times New Roman"/>
                <a:cs typeface="Times New Roman"/>
              </a:rPr>
              <a:t>are </a:t>
            </a:r>
            <a:r>
              <a:rPr lang="en-US" spc="-10" dirty="0">
                <a:latin typeface="Times New Roman"/>
                <a:cs typeface="Times New Roman"/>
              </a:rPr>
              <a:t>adopting </a:t>
            </a:r>
            <a:r>
              <a:rPr lang="en-US" spc="-5" dirty="0">
                <a:latin typeface="Times New Roman"/>
                <a:cs typeface="Times New Roman"/>
              </a:rPr>
              <a:t>the symbols </a:t>
            </a:r>
            <a:r>
              <a:rPr lang="en-US" spc="-10" dirty="0" err="1">
                <a:latin typeface="Times New Roman"/>
                <a:cs typeface="Times New Roman"/>
              </a:rPr>
              <a:t>shl</a:t>
            </a:r>
            <a:r>
              <a:rPr lang="en-US" spc="-10" dirty="0">
                <a:latin typeface="Times New Roman"/>
                <a:cs typeface="Times New Roman"/>
              </a:rPr>
              <a:t> and </a:t>
            </a:r>
            <a:r>
              <a:rPr lang="en-US" spc="-10" dirty="0" err="1">
                <a:latin typeface="Times New Roman"/>
                <a:cs typeface="Times New Roman"/>
              </a:rPr>
              <a:t>shr</a:t>
            </a:r>
            <a:r>
              <a:rPr lang="en-US" spc="-10" dirty="0">
                <a:latin typeface="Times New Roman"/>
                <a:cs typeface="Times New Roman"/>
              </a:rPr>
              <a:t> </a:t>
            </a:r>
            <a:r>
              <a:rPr lang="en-US" dirty="0">
                <a:latin typeface="Times New Roman"/>
                <a:cs typeface="Times New Roman"/>
              </a:rPr>
              <a:t>for </a:t>
            </a:r>
            <a:r>
              <a:rPr lang="en-US" spc="-10" dirty="0">
                <a:latin typeface="Times New Roman"/>
                <a:cs typeface="Times New Roman"/>
              </a:rPr>
              <a:t>shift  </a:t>
            </a:r>
            <a:r>
              <a:rPr lang="en-US" spc="-5" dirty="0">
                <a:latin typeface="Times New Roman"/>
                <a:cs typeface="Times New Roman"/>
              </a:rPr>
              <a:t>left and shift </a:t>
            </a:r>
            <a:r>
              <a:rPr lang="en-US" spc="-10" dirty="0">
                <a:latin typeface="Times New Roman"/>
                <a:cs typeface="Times New Roman"/>
              </a:rPr>
              <a:t>right </a:t>
            </a:r>
            <a:r>
              <a:rPr lang="en-US" spc="-5" dirty="0">
                <a:latin typeface="Times New Roman"/>
                <a:cs typeface="Times New Roman"/>
              </a:rPr>
              <a:t>operations</a:t>
            </a:r>
            <a:r>
              <a:rPr lang="en-US" spc="50" dirty="0">
                <a:latin typeface="Times New Roman"/>
                <a:cs typeface="Times New Roman"/>
              </a:rPr>
              <a:t> </a:t>
            </a:r>
            <a:r>
              <a:rPr lang="en-US" spc="-5" dirty="0">
                <a:latin typeface="Times New Roman"/>
                <a:cs typeface="Times New Roman"/>
              </a:rPr>
              <a:t>respectively.</a:t>
            </a:r>
            <a:endParaRPr lang="en-US" dirty="0">
              <a:latin typeface="Times New Roman"/>
              <a:cs typeface="Times New Roman"/>
            </a:endParaRPr>
          </a:p>
          <a:p>
            <a:endParaRPr lang="en-US" sz="2400" dirty="0"/>
          </a:p>
        </p:txBody>
      </p:sp>
      <p:sp>
        <p:nvSpPr>
          <p:cNvPr id="4" name="object 6">
            <a:extLst>
              <a:ext uri="{FF2B5EF4-FFF2-40B4-BE49-F238E27FC236}">
                <a16:creationId xmlns:a16="http://schemas.microsoft.com/office/drawing/2014/main" id="{63846F12-9998-479F-9321-993F4FF51C12}"/>
              </a:ext>
            </a:extLst>
          </p:cNvPr>
          <p:cNvSpPr/>
          <p:nvPr/>
        </p:nvSpPr>
        <p:spPr>
          <a:xfrm>
            <a:off x="1222146" y="4157078"/>
            <a:ext cx="6206176" cy="1018237"/>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438140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A0503-BA16-2D75-D666-10A344F964FF}"/>
              </a:ext>
            </a:extLst>
          </p:cNvPr>
          <p:cNvSpPr>
            <a:spLocks noGrp="1"/>
          </p:cNvSpPr>
          <p:nvPr>
            <p:ph idx="1"/>
          </p:nvPr>
        </p:nvSpPr>
        <p:spPr>
          <a:xfrm>
            <a:off x="197963" y="254524"/>
            <a:ext cx="11783505" cy="6466787"/>
          </a:xfrm>
        </p:spPr>
        <p:txBody>
          <a:bodyPr>
            <a:normAutofit/>
          </a:bodyPr>
          <a:lstStyle/>
          <a:p>
            <a:pPr marL="0" indent="0">
              <a:buNone/>
            </a:pPr>
            <a:r>
              <a:rPr lang="en-US" sz="2400" u="sng" spc="-5" dirty="0">
                <a:uFill>
                  <a:solidFill>
                    <a:srgbClr val="000000"/>
                  </a:solidFill>
                </a:uFill>
                <a:latin typeface="Times New Roman"/>
                <a:cs typeface="Times New Roman"/>
              </a:rPr>
              <a:t>Example </a:t>
            </a:r>
            <a:r>
              <a:rPr lang="en-US" sz="2400" u="sng" dirty="0">
                <a:uFill>
                  <a:solidFill>
                    <a:srgbClr val="000000"/>
                  </a:solidFill>
                </a:uFill>
                <a:latin typeface="Times New Roman"/>
                <a:cs typeface="Times New Roman"/>
              </a:rPr>
              <a:t>1: </a:t>
            </a:r>
            <a:r>
              <a:rPr lang="en-US" sz="2400" u="sng" spc="-10" dirty="0" err="1">
                <a:uFill>
                  <a:solidFill>
                    <a:srgbClr val="000000"/>
                  </a:solidFill>
                </a:uFill>
                <a:latin typeface="Times New Roman"/>
                <a:cs typeface="Times New Roman"/>
              </a:rPr>
              <a:t>Shl</a:t>
            </a:r>
            <a:r>
              <a:rPr lang="en-US" sz="2400" u="sng" spc="-55" dirty="0">
                <a:uFill>
                  <a:solidFill>
                    <a:srgbClr val="000000"/>
                  </a:solidFill>
                </a:uFill>
                <a:latin typeface="Times New Roman"/>
                <a:cs typeface="Times New Roman"/>
              </a:rPr>
              <a:t> </a:t>
            </a:r>
            <a:r>
              <a:rPr lang="en-US" sz="2400" u="sng" dirty="0">
                <a:uFill>
                  <a:solidFill>
                    <a:srgbClr val="000000"/>
                  </a:solidFill>
                </a:uFill>
                <a:latin typeface="Times New Roman"/>
                <a:cs typeface="Times New Roman"/>
              </a:rPr>
              <a:t>A</a:t>
            </a:r>
          </a:p>
          <a:p>
            <a:pPr marL="469265" marR="5080" indent="-228600">
              <a:lnSpc>
                <a:spcPct val="142900"/>
              </a:lnSpc>
              <a:spcBef>
                <a:spcPts val="95"/>
              </a:spcBef>
              <a:buFont typeface="Symbol"/>
              <a:buChar char=""/>
              <a:tabLst>
                <a:tab pos="469265" algn="l"/>
                <a:tab pos="469900" algn="l"/>
              </a:tabLst>
            </a:pPr>
            <a:r>
              <a:rPr lang="en-US" sz="2400" dirty="0">
                <a:latin typeface="Times New Roman"/>
                <a:cs typeface="Times New Roman"/>
              </a:rPr>
              <a:t>Here </a:t>
            </a:r>
            <a:r>
              <a:rPr lang="en-US" sz="2400" spc="-5" dirty="0">
                <a:latin typeface="Times New Roman"/>
                <a:cs typeface="Times New Roman"/>
              </a:rPr>
              <a:t>when </a:t>
            </a:r>
            <a:r>
              <a:rPr lang="en-US" sz="2400" dirty="0">
                <a:latin typeface="Times New Roman"/>
                <a:cs typeface="Times New Roman"/>
              </a:rPr>
              <a:t>we are </a:t>
            </a:r>
            <a:r>
              <a:rPr lang="en-US" sz="2400" spc="-5" dirty="0">
                <a:latin typeface="Times New Roman"/>
                <a:cs typeface="Times New Roman"/>
              </a:rPr>
              <a:t>shifting </a:t>
            </a:r>
            <a:r>
              <a:rPr lang="en-US" sz="2400" dirty="0">
                <a:latin typeface="Times New Roman"/>
                <a:cs typeface="Times New Roman"/>
              </a:rPr>
              <a:t>to </a:t>
            </a:r>
            <a:r>
              <a:rPr lang="en-US" sz="2400" spc="-5" dirty="0">
                <a:latin typeface="Times New Roman"/>
                <a:cs typeface="Times New Roman"/>
              </a:rPr>
              <a:t>left the bit </a:t>
            </a:r>
            <a:r>
              <a:rPr lang="en-US" sz="2400" dirty="0">
                <a:latin typeface="Times New Roman"/>
                <a:cs typeface="Times New Roman"/>
              </a:rPr>
              <a:t>at </a:t>
            </a:r>
            <a:r>
              <a:rPr lang="en-US" sz="2400" spc="-5" dirty="0">
                <a:latin typeface="Times New Roman"/>
                <a:cs typeface="Times New Roman"/>
              </a:rPr>
              <a:t>position </a:t>
            </a:r>
            <a:r>
              <a:rPr lang="en-US" sz="2400" spc="10" dirty="0">
                <a:latin typeface="Times New Roman"/>
                <a:cs typeface="Times New Roman"/>
              </a:rPr>
              <a:t>A0 </a:t>
            </a:r>
            <a:r>
              <a:rPr lang="en-US" sz="2400" dirty="0">
                <a:latin typeface="Times New Roman"/>
                <a:cs typeface="Times New Roman"/>
              </a:rPr>
              <a:t>is </a:t>
            </a:r>
            <a:r>
              <a:rPr lang="en-US" sz="2400" spc="-5" dirty="0">
                <a:latin typeface="Times New Roman"/>
                <a:cs typeface="Times New Roman"/>
              </a:rPr>
              <a:t>vacant. </a:t>
            </a:r>
            <a:r>
              <a:rPr lang="en-US" sz="2400" dirty="0">
                <a:latin typeface="Times New Roman"/>
                <a:cs typeface="Times New Roman"/>
              </a:rPr>
              <a:t>This </a:t>
            </a:r>
            <a:r>
              <a:rPr lang="en-US" sz="2400" spc="-5" dirty="0">
                <a:latin typeface="Times New Roman"/>
                <a:cs typeface="Times New Roman"/>
              </a:rPr>
              <a:t>gap  </a:t>
            </a:r>
            <a:r>
              <a:rPr lang="en-US" sz="2400" dirty="0">
                <a:latin typeface="Times New Roman"/>
                <a:cs typeface="Times New Roman"/>
              </a:rPr>
              <a:t>can</a:t>
            </a:r>
            <a:r>
              <a:rPr lang="en-US" sz="2400" spc="60" dirty="0">
                <a:latin typeface="Times New Roman"/>
                <a:cs typeface="Times New Roman"/>
              </a:rPr>
              <a:t> </a:t>
            </a:r>
            <a:r>
              <a:rPr lang="en-US" sz="2400" dirty="0">
                <a:latin typeface="Times New Roman"/>
                <a:cs typeface="Times New Roman"/>
              </a:rPr>
              <a:t>be</a:t>
            </a:r>
            <a:r>
              <a:rPr lang="en-US" sz="2400" spc="75" dirty="0">
                <a:latin typeface="Times New Roman"/>
                <a:cs typeface="Times New Roman"/>
              </a:rPr>
              <a:t> </a:t>
            </a:r>
            <a:r>
              <a:rPr lang="en-US" sz="2400" spc="-10" dirty="0">
                <a:latin typeface="Times New Roman"/>
                <a:cs typeface="Times New Roman"/>
              </a:rPr>
              <a:t>filled</a:t>
            </a:r>
            <a:r>
              <a:rPr lang="en-US" sz="2400" spc="65" dirty="0">
                <a:latin typeface="Times New Roman"/>
                <a:cs typeface="Times New Roman"/>
              </a:rPr>
              <a:t> </a:t>
            </a:r>
            <a:r>
              <a:rPr lang="en-US" sz="2400" dirty="0">
                <a:latin typeface="Times New Roman"/>
                <a:cs typeface="Times New Roman"/>
              </a:rPr>
              <a:t>by</a:t>
            </a:r>
            <a:r>
              <a:rPr lang="en-US" sz="2400" spc="65" dirty="0">
                <a:latin typeface="Times New Roman"/>
                <a:cs typeface="Times New Roman"/>
              </a:rPr>
              <a:t> </a:t>
            </a:r>
            <a:r>
              <a:rPr lang="en-US" sz="2400" spc="-5" dirty="0">
                <a:latin typeface="Times New Roman"/>
                <a:cs typeface="Times New Roman"/>
              </a:rPr>
              <a:t>transferring</a:t>
            </a:r>
            <a:r>
              <a:rPr lang="en-US" sz="2400" spc="75" dirty="0">
                <a:latin typeface="Times New Roman"/>
                <a:cs typeface="Times New Roman"/>
              </a:rPr>
              <a:t> </a:t>
            </a:r>
            <a:r>
              <a:rPr lang="en-US" sz="2400" spc="-5" dirty="0">
                <a:latin typeface="Times New Roman"/>
                <a:cs typeface="Times New Roman"/>
              </a:rPr>
              <a:t>the</a:t>
            </a:r>
            <a:r>
              <a:rPr lang="en-US" sz="2400" spc="60" dirty="0">
                <a:latin typeface="Times New Roman"/>
                <a:cs typeface="Times New Roman"/>
              </a:rPr>
              <a:t> </a:t>
            </a:r>
            <a:r>
              <a:rPr lang="en-US" sz="2400" spc="-5" dirty="0">
                <a:latin typeface="Times New Roman"/>
                <a:cs typeface="Times New Roman"/>
              </a:rPr>
              <a:t>bit</a:t>
            </a:r>
            <a:r>
              <a:rPr lang="en-US" sz="2400" spc="60" dirty="0">
                <a:latin typeface="Times New Roman"/>
                <a:cs typeface="Times New Roman"/>
              </a:rPr>
              <a:t> </a:t>
            </a:r>
            <a:r>
              <a:rPr lang="en-US" sz="2400" dirty="0">
                <a:latin typeface="Times New Roman"/>
                <a:cs typeface="Times New Roman"/>
              </a:rPr>
              <a:t>of</a:t>
            </a:r>
            <a:r>
              <a:rPr lang="en-US" sz="2400" spc="60" dirty="0">
                <a:latin typeface="Times New Roman"/>
                <a:cs typeface="Times New Roman"/>
              </a:rPr>
              <a:t> </a:t>
            </a:r>
            <a:r>
              <a:rPr lang="en-US" sz="2400" spc="-5" dirty="0">
                <a:latin typeface="Times New Roman"/>
                <a:cs typeface="Times New Roman"/>
              </a:rPr>
              <a:t>position</a:t>
            </a:r>
            <a:r>
              <a:rPr lang="en-US" sz="2400" spc="65" dirty="0">
                <a:latin typeface="Times New Roman"/>
                <a:cs typeface="Times New Roman"/>
              </a:rPr>
              <a:t> </a:t>
            </a:r>
            <a:r>
              <a:rPr lang="en-US" sz="2400" spc="-5" dirty="0">
                <a:latin typeface="Times New Roman"/>
                <a:cs typeface="Times New Roman"/>
              </a:rPr>
              <a:t>An</a:t>
            </a:r>
            <a:r>
              <a:rPr lang="en-US" sz="2400" spc="65" dirty="0">
                <a:latin typeface="Times New Roman"/>
                <a:cs typeface="Times New Roman"/>
              </a:rPr>
              <a:t> </a:t>
            </a:r>
            <a:r>
              <a:rPr lang="en-US" sz="2400" dirty="0">
                <a:latin typeface="Times New Roman"/>
                <a:cs typeface="Times New Roman"/>
              </a:rPr>
              <a:t>in</a:t>
            </a:r>
            <a:r>
              <a:rPr lang="en-US" sz="2400" spc="65" dirty="0">
                <a:latin typeface="Times New Roman"/>
                <a:cs typeface="Times New Roman"/>
              </a:rPr>
              <a:t> </a:t>
            </a:r>
            <a:r>
              <a:rPr lang="en-US" sz="2400" spc="-5" dirty="0">
                <a:latin typeface="Times New Roman"/>
                <a:cs typeface="Times New Roman"/>
              </a:rPr>
              <a:t>the</a:t>
            </a:r>
            <a:r>
              <a:rPr lang="en-US" sz="2400" spc="75" dirty="0">
                <a:latin typeface="Times New Roman"/>
                <a:cs typeface="Times New Roman"/>
              </a:rPr>
              <a:t> </a:t>
            </a:r>
            <a:r>
              <a:rPr lang="en-US" sz="2400" spc="-5" dirty="0">
                <a:latin typeface="Times New Roman"/>
                <a:cs typeface="Times New Roman"/>
              </a:rPr>
              <a:t>original</a:t>
            </a:r>
            <a:r>
              <a:rPr lang="en-US" sz="2400" spc="70" dirty="0">
                <a:latin typeface="Times New Roman"/>
                <a:cs typeface="Times New Roman"/>
              </a:rPr>
              <a:t> </a:t>
            </a:r>
            <a:r>
              <a:rPr lang="en-US" sz="2400" spc="-5" dirty="0">
                <a:latin typeface="Times New Roman"/>
                <a:cs typeface="Times New Roman"/>
              </a:rPr>
              <a:t>register</a:t>
            </a:r>
            <a:endParaRPr lang="en-US" sz="2400" dirty="0">
              <a:latin typeface="Times New Roman"/>
              <a:cs typeface="Times New Roman"/>
            </a:endParaRPr>
          </a:p>
          <a:p>
            <a:pPr marL="469265" marR="2120900">
              <a:lnSpc>
                <a:spcPts val="2420"/>
              </a:lnSpc>
              <a:spcBef>
                <a:spcPts val="200"/>
              </a:spcBef>
              <a:tabLst>
                <a:tab pos="1383665" algn="l"/>
              </a:tabLst>
            </a:pPr>
            <a:r>
              <a:rPr lang="en-US" sz="2400" dirty="0">
                <a:latin typeface="Times New Roman"/>
                <a:cs typeface="Times New Roman"/>
              </a:rPr>
              <a:t>A. </a:t>
            </a:r>
            <a:r>
              <a:rPr lang="en-US" sz="2400" spc="-5" dirty="0">
                <a:latin typeface="Times New Roman"/>
                <a:cs typeface="Times New Roman"/>
              </a:rPr>
              <a:t>This can be considered </a:t>
            </a:r>
            <a:r>
              <a:rPr lang="en-US" sz="2400" spc="-10" dirty="0">
                <a:latin typeface="Times New Roman"/>
                <a:cs typeface="Times New Roman"/>
              </a:rPr>
              <a:t>as </a:t>
            </a:r>
            <a:r>
              <a:rPr lang="en-US" sz="2400" dirty="0">
                <a:latin typeface="Times New Roman"/>
                <a:cs typeface="Times New Roman"/>
              </a:rPr>
              <a:t>a </a:t>
            </a:r>
            <a:r>
              <a:rPr lang="en-US" sz="2400" spc="-5" dirty="0">
                <a:latin typeface="Times New Roman"/>
                <a:cs typeface="Times New Roman"/>
              </a:rPr>
              <a:t>circular shift.  </a:t>
            </a:r>
            <a:r>
              <a:rPr lang="en-US" sz="2400" spc="-5" dirty="0" err="1">
                <a:latin typeface="Times New Roman"/>
                <a:cs typeface="Times New Roman"/>
              </a:rPr>
              <a:t>A</a:t>
            </a:r>
            <a:r>
              <a:rPr lang="en-US" sz="2400" spc="-5" dirty="0" err="1">
                <a:latin typeface="Wingdings"/>
                <a:cs typeface="Wingdings"/>
              </a:rPr>
              <a:t></a:t>
            </a:r>
            <a:r>
              <a:rPr lang="en-US" sz="2400" spc="-5" dirty="0" err="1">
                <a:latin typeface="Times New Roman"/>
                <a:cs typeface="Times New Roman"/>
              </a:rPr>
              <a:t>Shl</a:t>
            </a:r>
            <a:r>
              <a:rPr lang="en-US" sz="2400" spc="10" dirty="0">
                <a:latin typeface="Times New Roman"/>
                <a:cs typeface="Times New Roman"/>
              </a:rPr>
              <a:t> </a:t>
            </a:r>
            <a:r>
              <a:rPr lang="en-US" sz="2400" dirty="0">
                <a:latin typeface="Times New Roman"/>
                <a:cs typeface="Times New Roman"/>
              </a:rPr>
              <a:t>A,	A0</a:t>
            </a:r>
            <a:r>
              <a:rPr lang="en-US" sz="2400" spc="-5" dirty="0">
                <a:latin typeface="Times New Roman"/>
                <a:cs typeface="Times New Roman"/>
              </a:rPr>
              <a:t> </a:t>
            </a:r>
            <a:r>
              <a:rPr lang="en-US" sz="2400" dirty="0">
                <a:latin typeface="Wingdings"/>
                <a:cs typeface="Wingdings"/>
              </a:rPr>
              <a:t></a:t>
            </a:r>
            <a:r>
              <a:rPr lang="en-US" sz="2400" dirty="0">
                <a:latin typeface="Times New Roman"/>
                <a:cs typeface="Times New Roman"/>
              </a:rPr>
              <a:t>An</a:t>
            </a:r>
          </a:p>
          <a:p>
            <a:pPr marL="469265" marR="2120900">
              <a:lnSpc>
                <a:spcPts val="2420"/>
              </a:lnSpc>
              <a:spcBef>
                <a:spcPts val="200"/>
              </a:spcBef>
              <a:tabLst>
                <a:tab pos="1383665" algn="l"/>
              </a:tabLst>
            </a:pPr>
            <a:endParaRPr lang="en-US" sz="2400" dirty="0">
              <a:latin typeface="Times New Roman"/>
              <a:cs typeface="Times New Roman"/>
            </a:endParaRPr>
          </a:p>
          <a:p>
            <a:pPr marL="469265" marR="2120900">
              <a:lnSpc>
                <a:spcPts val="2420"/>
              </a:lnSpc>
              <a:spcBef>
                <a:spcPts val="200"/>
              </a:spcBef>
              <a:tabLst>
                <a:tab pos="1383665" algn="l"/>
              </a:tabLst>
            </a:pPr>
            <a:endParaRPr lang="en-US" sz="2400" dirty="0">
              <a:latin typeface="Times New Roman"/>
              <a:cs typeface="Times New Roman"/>
            </a:endParaRPr>
          </a:p>
          <a:p>
            <a:pPr marL="240665" marR="2120900" indent="0">
              <a:lnSpc>
                <a:spcPts val="2420"/>
              </a:lnSpc>
              <a:spcBef>
                <a:spcPts val="200"/>
              </a:spcBef>
              <a:buNone/>
              <a:tabLst>
                <a:tab pos="1383665" algn="l"/>
              </a:tabLst>
            </a:pPr>
            <a:endParaRPr lang="en-US" sz="2400" dirty="0">
              <a:latin typeface="Times New Roman"/>
              <a:cs typeface="Times New Roman"/>
            </a:endParaRPr>
          </a:p>
          <a:p>
            <a:pPr marL="0" indent="0">
              <a:lnSpc>
                <a:spcPct val="100000"/>
              </a:lnSpc>
              <a:spcBef>
                <a:spcPts val="530"/>
              </a:spcBef>
              <a:buNone/>
            </a:pPr>
            <a:r>
              <a:rPr lang="en-US" sz="2400" u="sng" spc="-5" dirty="0">
                <a:uFill>
                  <a:solidFill>
                    <a:srgbClr val="000000"/>
                  </a:solidFill>
                </a:uFill>
                <a:latin typeface="Times New Roman"/>
                <a:cs typeface="Times New Roman"/>
              </a:rPr>
              <a:t>Example </a:t>
            </a:r>
            <a:r>
              <a:rPr lang="en-US" sz="2400" u="sng" dirty="0">
                <a:uFill>
                  <a:solidFill>
                    <a:srgbClr val="000000"/>
                  </a:solidFill>
                </a:uFill>
                <a:latin typeface="Times New Roman"/>
                <a:cs typeface="Times New Roman"/>
              </a:rPr>
              <a:t>2: </a:t>
            </a:r>
            <a:r>
              <a:rPr lang="en-US" sz="2400" u="sng" spc="-5" dirty="0" err="1">
                <a:uFill>
                  <a:solidFill>
                    <a:srgbClr val="000000"/>
                  </a:solidFill>
                </a:uFill>
                <a:latin typeface="Times New Roman"/>
                <a:cs typeface="Times New Roman"/>
              </a:rPr>
              <a:t>Shr</a:t>
            </a:r>
            <a:r>
              <a:rPr lang="en-US" sz="2400" u="sng" spc="-25" dirty="0">
                <a:uFill>
                  <a:solidFill>
                    <a:srgbClr val="000000"/>
                  </a:solidFill>
                </a:uFill>
                <a:latin typeface="Times New Roman"/>
                <a:cs typeface="Times New Roman"/>
              </a:rPr>
              <a:t> </a:t>
            </a:r>
            <a:r>
              <a:rPr lang="en-US" sz="2400" u="sng" dirty="0">
                <a:uFill>
                  <a:solidFill>
                    <a:srgbClr val="000000"/>
                  </a:solidFill>
                </a:uFill>
                <a:latin typeface="Times New Roman"/>
                <a:cs typeface="Times New Roman"/>
              </a:rPr>
              <a:t>A</a:t>
            </a:r>
            <a:endParaRPr lang="en-US" sz="2400" dirty="0">
              <a:latin typeface="Times New Roman"/>
              <a:cs typeface="Times New Roman"/>
            </a:endParaRPr>
          </a:p>
          <a:p>
            <a:pPr marL="240665" marR="5080" indent="-228600" algn="just">
              <a:lnSpc>
                <a:spcPct val="143600"/>
              </a:lnSpc>
              <a:spcBef>
                <a:spcPts val="95"/>
              </a:spcBef>
              <a:buFont typeface="Symbol"/>
              <a:buChar char=""/>
              <a:tabLst>
                <a:tab pos="241300" algn="l"/>
              </a:tabLst>
            </a:pPr>
            <a:r>
              <a:rPr lang="en-US" sz="2400" spc="-5" dirty="0">
                <a:latin typeface="Times New Roman"/>
                <a:cs typeface="Times New Roman"/>
              </a:rPr>
              <a:t>When</a:t>
            </a:r>
            <a:r>
              <a:rPr lang="en-US" sz="2400" spc="-45" dirty="0">
                <a:latin typeface="Times New Roman"/>
                <a:cs typeface="Times New Roman"/>
              </a:rPr>
              <a:t> </a:t>
            </a:r>
            <a:r>
              <a:rPr lang="en-US" sz="2400" spc="-5" dirty="0">
                <a:latin typeface="Times New Roman"/>
                <a:cs typeface="Times New Roman"/>
              </a:rPr>
              <a:t>we</a:t>
            </a:r>
            <a:r>
              <a:rPr lang="en-US" sz="2400" spc="-35" dirty="0">
                <a:latin typeface="Times New Roman"/>
                <a:cs typeface="Times New Roman"/>
              </a:rPr>
              <a:t> </a:t>
            </a:r>
            <a:r>
              <a:rPr lang="en-US" sz="2400" dirty="0">
                <a:latin typeface="Times New Roman"/>
                <a:cs typeface="Times New Roman"/>
              </a:rPr>
              <a:t>are</a:t>
            </a:r>
            <a:r>
              <a:rPr lang="en-US" sz="2400" spc="-50" dirty="0">
                <a:latin typeface="Times New Roman"/>
                <a:cs typeface="Times New Roman"/>
              </a:rPr>
              <a:t> </a:t>
            </a:r>
            <a:r>
              <a:rPr lang="en-US" sz="2400" spc="-5" dirty="0">
                <a:latin typeface="Times New Roman"/>
                <a:cs typeface="Times New Roman"/>
              </a:rPr>
              <a:t>shifting</a:t>
            </a:r>
            <a:r>
              <a:rPr lang="en-US" sz="2400" spc="-45" dirty="0">
                <a:latin typeface="Times New Roman"/>
                <a:cs typeface="Times New Roman"/>
              </a:rPr>
              <a:t> </a:t>
            </a:r>
            <a:r>
              <a:rPr lang="en-US" sz="2400" dirty="0">
                <a:latin typeface="Times New Roman"/>
                <a:cs typeface="Times New Roman"/>
              </a:rPr>
              <a:t>the</a:t>
            </a:r>
            <a:r>
              <a:rPr lang="en-US" sz="2400" spc="-50" dirty="0">
                <a:latin typeface="Times New Roman"/>
                <a:cs typeface="Times New Roman"/>
              </a:rPr>
              <a:t> </a:t>
            </a:r>
            <a:r>
              <a:rPr lang="en-US" sz="2400" spc="-5" dirty="0">
                <a:latin typeface="Times New Roman"/>
                <a:cs typeface="Times New Roman"/>
              </a:rPr>
              <a:t>register</a:t>
            </a:r>
            <a:r>
              <a:rPr lang="en-US" sz="2400" spc="-35" dirty="0">
                <a:latin typeface="Times New Roman"/>
                <a:cs typeface="Times New Roman"/>
              </a:rPr>
              <a:t> </a:t>
            </a:r>
            <a:r>
              <a:rPr lang="en-US" sz="2400" spc="-10" dirty="0">
                <a:latin typeface="Times New Roman"/>
                <a:cs typeface="Times New Roman"/>
              </a:rPr>
              <a:t>content</a:t>
            </a:r>
            <a:r>
              <a:rPr lang="en-US" sz="2400" spc="-50" dirty="0">
                <a:latin typeface="Times New Roman"/>
                <a:cs typeface="Times New Roman"/>
              </a:rPr>
              <a:t> </a:t>
            </a:r>
            <a:r>
              <a:rPr lang="en-US" sz="2400" dirty="0">
                <a:latin typeface="Times New Roman"/>
                <a:cs typeface="Times New Roman"/>
              </a:rPr>
              <a:t>to</a:t>
            </a:r>
            <a:r>
              <a:rPr lang="en-US" sz="2400" spc="-40" dirty="0">
                <a:latin typeface="Times New Roman"/>
                <a:cs typeface="Times New Roman"/>
              </a:rPr>
              <a:t> </a:t>
            </a:r>
            <a:r>
              <a:rPr lang="en-US" sz="2400" spc="-5" dirty="0">
                <a:latin typeface="Times New Roman"/>
                <a:cs typeface="Times New Roman"/>
              </a:rPr>
              <a:t>the</a:t>
            </a:r>
            <a:r>
              <a:rPr lang="en-US" sz="2400" spc="-40" dirty="0">
                <a:latin typeface="Times New Roman"/>
                <a:cs typeface="Times New Roman"/>
              </a:rPr>
              <a:t> </a:t>
            </a:r>
            <a:r>
              <a:rPr lang="en-US" sz="2400" spc="-5" dirty="0">
                <a:latin typeface="Times New Roman"/>
                <a:cs typeface="Times New Roman"/>
              </a:rPr>
              <a:t>right,</a:t>
            </a:r>
            <a:r>
              <a:rPr lang="en-US" sz="2400" spc="-40" dirty="0">
                <a:latin typeface="Times New Roman"/>
                <a:cs typeface="Times New Roman"/>
              </a:rPr>
              <a:t> </a:t>
            </a:r>
            <a:r>
              <a:rPr lang="en-US" sz="2400" spc="-5" dirty="0">
                <a:latin typeface="Times New Roman"/>
                <a:cs typeface="Times New Roman"/>
              </a:rPr>
              <a:t>the</a:t>
            </a:r>
            <a:r>
              <a:rPr lang="en-US" sz="2400" spc="-50" dirty="0">
                <a:latin typeface="Times New Roman"/>
                <a:cs typeface="Times New Roman"/>
              </a:rPr>
              <a:t> </a:t>
            </a:r>
            <a:r>
              <a:rPr lang="en-US" sz="2400" spc="-5" dirty="0">
                <a:latin typeface="Times New Roman"/>
                <a:cs typeface="Times New Roman"/>
              </a:rPr>
              <a:t>bit</a:t>
            </a:r>
            <a:r>
              <a:rPr lang="en-US" sz="2400" spc="-40" dirty="0">
                <a:latin typeface="Times New Roman"/>
                <a:cs typeface="Times New Roman"/>
              </a:rPr>
              <a:t> </a:t>
            </a:r>
            <a:r>
              <a:rPr lang="en-US" sz="2400" dirty="0">
                <a:latin typeface="Times New Roman"/>
                <a:cs typeface="Times New Roman"/>
              </a:rPr>
              <a:t>at</a:t>
            </a:r>
            <a:r>
              <a:rPr lang="en-US" sz="2400" spc="-40" dirty="0">
                <a:latin typeface="Times New Roman"/>
                <a:cs typeface="Times New Roman"/>
              </a:rPr>
              <a:t> </a:t>
            </a:r>
            <a:r>
              <a:rPr lang="en-US" sz="2400" spc="-5" dirty="0">
                <a:latin typeface="Times New Roman"/>
                <a:cs typeface="Times New Roman"/>
              </a:rPr>
              <a:t>position</a:t>
            </a:r>
            <a:r>
              <a:rPr lang="en-US" sz="2400" spc="-50" dirty="0">
                <a:latin typeface="Times New Roman"/>
                <a:cs typeface="Times New Roman"/>
              </a:rPr>
              <a:t> </a:t>
            </a:r>
            <a:r>
              <a:rPr lang="en-US" sz="2400" spc="-5" dirty="0">
                <a:latin typeface="Times New Roman"/>
                <a:cs typeface="Times New Roman"/>
              </a:rPr>
              <a:t>An  </a:t>
            </a:r>
            <a:r>
              <a:rPr lang="en-US" sz="2400" dirty="0">
                <a:latin typeface="Times New Roman"/>
                <a:cs typeface="Times New Roman"/>
              </a:rPr>
              <a:t>is </a:t>
            </a:r>
            <a:r>
              <a:rPr lang="en-US" sz="2400" spc="-5" dirty="0">
                <a:latin typeface="Times New Roman"/>
                <a:cs typeface="Times New Roman"/>
              </a:rPr>
              <a:t>vacant. This gap </a:t>
            </a:r>
            <a:r>
              <a:rPr lang="en-US" sz="2400" dirty="0">
                <a:latin typeface="Times New Roman"/>
                <a:cs typeface="Times New Roman"/>
              </a:rPr>
              <a:t>can be </a:t>
            </a:r>
            <a:r>
              <a:rPr lang="en-US" sz="2400" spc="-5" dirty="0">
                <a:latin typeface="Times New Roman"/>
                <a:cs typeface="Times New Roman"/>
              </a:rPr>
              <a:t>filled by receiving </a:t>
            </a:r>
            <a:r>
              <a:rPr lang="en-US" sz="2400" dirty="0">
                <a:latin typeface="Times New Roman"/>
                <a:cs typeface="Times New Roman"/>
              </a:rPr>
              <a:t>the </a:t>
            </a:r>
            <a:r>
              <a:rPr lang="en-US" sz="2400" spc="-5" dirty="0">
                <a:latin typeface="Times New Roman"/>
                <a:cs typeface="Times New Roman"/>
              </a:rPr>
              <a:t>value </a:t>
            </a:r>
            <a:r>
              <a:rPr lang="en-US" sz="2400" dirty="0">
                <a:latin typeface="Times New Roman"/>
                <a:cs typeface="Times New Roman"/>
              </a:rPr>
              <a:t>of </a:t>
            </a:r>
            <a:r>
              <a:rPr lang="en-US" sz="2400" spc="-5" dirty="0">
                <a:latin typeface="Times New Roman"/>
                <a:cs typeface="Times New Roman"/>
              </a:rPr>
              <a:t>the </a:t>
            </a:r>
            <a:r>
              <a:rPr lang="en-US" sz="2400" dirty="0">
                <a:latin typeface="Times New Roman"/>
                <a:cs typeface="Times New Roman"/>
              </a:rPr>
              <a:t>1 </a:t>
            </a:r>
            <a:r>
              <a:rPr lang="en-US" sz="2400" spc="-10" dirty="0">
                <a:latin typeface="Times New Roman"/>
                <a:cs typeface="Times New Roman"/>
              </a:rPr>
              <a:t>bit </a:t>
            </a:r>
            <a:r>
              <a:rPr lang="en-US" sz="2400" spc="-5" dirty="0">
                <a:latin typeface="Times New Roman"/>
                <a:cs typeface="Times New Roman"/>
              </a:rPr>
              <a:t>register  </a:t>
            </a:r>
            <a:r>
              <a:rPr lang="en-US" sz="2400" dirty="0">
                <a:latin typeface="Times New Roman"/>
                <a:cs typeface="Times New Roman"/>
              </a:rPr>
              <a:t>E.</a:t>
            </a:r>
          </a:p>
          <a:p>
            <a:pPr marL="2070100" algn="just">
              <a:lnSpc>
                <a:spcPct val="100000"/>
              </a:lnSpc>
              <a:spcBef>
                <a:spcPts val="735"/>
              </a:spcBef>
            </a:pPr>
            <a:r>
              <a:rPr lang="en-US" sz="2400" dirty="0" err="1">
                <a:latin typeface="Times New Roman"/>
                <a:cs typeface="Times New Roman"/>
              </a:rPr>
              <a:t>A</a:t>
            </a:r>
            <a:r>
              <a:rPr lang="en-US" sz="2400" dirty="0" err="1">
                <a:latin typeface="Wingdings"/>
                <a:cs typeface="Wingdings"/>
              </a:rPr>
              <a:t></a:t>
            </a:r>
            <a:r>
              <a:rPr lang="en-US" sz="2400" dirty="0" err="1">
                <a:latin typeface="Times New Roman"/>
                <a:cs typeface="Times New Roman"/>
              </a:rPr>
              <a:t>Shr</a:t>
            </a:r>
            <a:r>
              <a:rPr lang="en-US" sz="2400" dirty="0">
                <a:latin typeface="Times New Roman"/>
                <a:cs typeface="Times New Roman"/>
              </a:rPr>
              <a:t> A, An</a:t>
            </a:r>
            <a:r>
              <a:rPr lang="en-US" sz="2400" spc="65" dirty="0">
                <a:latin typeface="Times New Roman"/>
                <a:cs typeface="Times New Roman"/>
              </a:rPr>
              <a:t> </a:t>
            </a:r>
            <a:r>
              <a:rPr lang="en-US" sz="2400" spc="-5" dirty="0">
                <a:latin typeface="Wingdings"/>
                <a:cs typeface="Wingdings"/>
              </a:rPr>
              <a:t></a:t>
            </a:r>
            <a:r>
              <a:rPr lang="en-US" sz="2400" spc="-5" dirty="0">
                <a:latin typeface="Times New Roman"/>
                <a:cs typeface="Times New Roman"/>
              </a:rPr>
              <a:t>E</a:t>
            </a:r>
            <a:endParaRPr lang="en-US" sz="2400" dirty="0">
              <a:latin typeface="Times New Roman"/>
              <a:cs typeface="Times New Roman"/>
            </a:endParaRPr>
          </a:p>
          <a:p>
            <a:pPr marL="0" indent="0">
              <a:buNone/>
            </a:pPr>
            <a:endParaRPr lang="en-US" sz="2400" dirty="0">
              <a:latin typeface="Times New Roman"/>
              <a:cs typeface="Times New Roman"/>
            </a:endParaRPr>
          </a:p>
          <a:p>
            <a:endParaRPr lang="en-US" sz="2400" dirty="0"/>
          </a:p>
        </p:txBody>
      </p:sp>
      <p:sp>
        <p:nvSpPr>
          <p:cNvPr id="4" name="object 7">
            <a:extLst>
              <a:ext uri="{FF2B5EF4-FFF2-40B4-BE49-F238E27FC236}">
                <a16:creationId xmlns:a16="http://schemas.microsoft.com/office/drawing/2014/main" id="{7875EF9F-D066-BA34-A44E-AE2B10F3BF54}"/>
              </a:ext>
            </a:extLst>
          </p:cNvPr>
          <p:cNvSpPr/>
          <p:nvPr/>
        </p:nvSpPr>
        <p:spPr>
          <a:xfrm>
            <a:off x="1537227" y="2194890"/>
            <a:ext cx="5664864" cy="808354"/>
          </a:xfrm>
          <a:prstGeom prst="rect">
            <a:avLst/>
          </a:prstGeom>
          <a:blipFill>
            <a:blip r:embed="rId2" cstate="print"/>
            <a:stretch>
              <a:fillRect/>
            </a:stretch>
          </a:blipFill>
        </p:spPr>
        <p:txBody>
          <a:bodyPr wrap="square" lIns="0" tIns="0" rIns="0" bIns="0" rtlCol="0"/>
          <a:lstStyle/>
          <a:p>
            <a:endParaRPr/>
          </a:p>
        </p:txBody>
      </p:sp>
      <p:sp>
        <p:nvSpPr>
          <p:cNvPr id="5" name="object 8">
            <a:extLst>
              <a:ext uri="{FF2B5EF4-FFF2-40B4-BE49-F238E27FC236}">
                <a16:creationId xmlns:a16="http://schemas.microsoft.com/office/drawing/2014/main" id="{7EB3D8FC-A76B-9D39-4B6D-D536FF334E42}"/>
              </a:ext>
            </a:extLst>
          </p:cNvPr>
          <p:cNvSpPr/>
          <p:nvPr/>
        </p:nvSpPr>
        <p:spPr>
          <a:xfrm>
            <a:off x="1474119" y="5263524"/>
            <a:ext cx="5791079" cy="1000125"/>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774868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0A0503-BA16-2D75-D666-10A344F964FF}"/>
              </a:ext>
            </a:extLst>
          </p:cNvPr>
          <p:cNvSpPr>
            <a:spLocks noGrp="1"/>
          </p:cNvSpPr>
          <p:nvPr>
            <p:ph idx="1"/>
          </p:nvPr>
        </p:nvSpPr>
        <p:spPr>
          <a:xfrm>
            <a:off x="197963" y="254524"/>
            <a:ext cx="11783505" cy="6466787"/>
          </a:xfrm>
        </p:spPr>
        <p:txBody>
          <a:bodyPr>
            <a:noAutofit/>
          </a:bodyPr>
          <a:lstStyle/>
          <a:p>
            <a:pPr marL="12065" indent="0">
              <a:lnSpc>
                <a:spcPct val="100000"/>
              </a:lnSpc>
              <a:spcBef>
                <a:spcPts val="0"/>
              </a:spcBef>
              <a:buNone/>
              <a:tabLst>
                <a:tab pos="232410" algn="l"/>
              </a:tabLst>
            </a:pPr>
            <a:r>
              <a:rPr lang="en-US" sz="2400" b="1" spc="-5" dirty="0">
                <a:latin typeface="Times New Roman"/>
                <a:cs typeface="Times New Roman"/>
              </a:rPr>
              <a:t>Design of arithmetic logic unit (ALU</a:t>
            </a:r>
            <a:r>
              <a:rPr lang="en-US" sz="2400" b="1" spc="15" dirty="0">
                <a:latin typeface="Times New Roman"/>
                <a:cs typeface="Times New Roman"/>
              </a:rPr>
              <a:t> </a:t>
            </a:r>
            <a:r>
              <a:rPr lang="en-US" sz="2400" b="1" spc="-5" dirty="0">
                <a:latin typeface="Times New Roman"/>
                <a:cs typeface="Times New Roman"/>
              </a:rPr>
              <a:t>unit)</a:t>
            </a:r>
            <a:endParaRPr lang="en-US" sz="2400" dirty="0">
              <a:latin typeface="Times New Roman"/>
              <a:cs typeface="Times New Roman"/>
            </a:endParaRPr>
          </a:p>
          <a:p>
            <a:pPr marL="469265" marR="5715" lvl="1" indent="-228600">
              <a:lnSpc>
                <a:spcPct val="100000"/>
              </a:lnSpc>
              <a:spcBef>
                <a:spcPts val="0"/>
              </a:spcBef>
              <a:buFont typeface="Symbol"/>
              <a:buChar char=""/>
              <a:tabLst>
                <a:tab pos="469265" algn="l"/>
                <a:tab pos="469900" algn="l"/>
              </a:tabLst>
            </a:pPr>
            <a:r>
              <a:rPr lang="en-US" dirty="0">
                <a:latin typeface="Times New Roman"/>
                <a:cs typeface="Times New Roman"/>
              </a:rPr>
              <a:t>An </a:t>
            </a:r>
            <a:r>
              <a:rPr lang="en-US" spc="-5" dirty="0">
                <a:latin typeface="Times New Roman"/>
                <a:cs typeface="Times New Roman"/>
              </a:rPr>
              <a:t>ALU </a:t>
            </a:r>
            <a:r>
              <a:rPr lang="en-US" dirty="0">
                <a:latin typeface="Times New Roman"/>
                <a:cs typeface="Times New Roman"/>
              </a:rPr>
              <a:t>is a </a:t>
            </a:r>
            <a:r>
              <a:rPr lang="en-US" spc="-5" dirty="0">
                <a:latin typeface="Times New Roman"/>
                <a:cs typeface="Times New Roman"/>
              </a:rPr>
              <a:t>multioperation, combinational logic digital function. </a:t>
            </a:r>
          </a:p>
          <a:p>
            <a:pPr marL="469265" marR="5715" lvl="1" indent="-228600">
              <a:lnSpc>
                <a:spcPct val="100000"/>
              </a:lnSpc>
              <a:spcBef>
                <a:spcPts val="0"/>
              </a:spcBef>
              <a:buFont typeface="Symbol"/>
              <a:buChar char=""/>
              <a:tabLst>
                <a:tab pos="469265" algn="l"/>
                <a:tab pos="469900" algn="l"/>
              </a:tabLst>
            </a:pPr>
            <a:r>
              <a:rPr lang="en-US" spc="-10" dirty="0">
                <a:latin typeface="Times New Roman"/>
                <a:cs typeface="Times New Roman"/>
              </a:rPr>
              <a:t>It </a:t>
            </a:r>
            <a:r>
              <a:rPr lang="en-US" spc="-5" dirty="0">
                <a:latin typeface="Times New Roman"/>
                <a:cs typeface="Times New Roman"/>
              </a:rPr>
              <a:t>can  </a:t>
            </a:r>
            <a:r>
              <a:rPr lang="en-US" dirty="0">
                <a:latin typeface="Times New Roman"/>
                <a:cs typeface="Times New Roman"/>
              </a:rPr>
              <a:t>perform a set of </a:t>
            </a:r>
            <a:r>
              <a:rPr lang="en-US" spc="-5" dirty="0">
                <a:latin typeface="Times New Roman"/>
                <a:cs typeface="Times New Roman"/>
              </a:rPr>
              <a:t>basic arithmetic operations </a:t>
            </a:r>
            <a:r>
              <a:rPr lang="en-US" dirty="0">
                <a:latin typeface="Times New Roman"/>
                <a:cs typeface="Times New Roman"/>
              </a:rPr>
              <a:t>and a </a:t>
            </a:r>
            <a:r>
              <a:rPr lang="en-US" spc="-5" dirty="0">
                <a:latin typeface="Times New Roman"/>
                <a:cs typeface="Times New Roman"/>
              </a:rPr>
              <a:t>set </a:t>
            </a:r>
            <a:r>
              <a:rPr lang="en-US" dirty="0">
                <a:latin typeface="Times New Roman"/>
                <a:cs typeface="Times New Roman"/>
              </a:rPr>
              <a:t>of </a:t>
            </a:r>
            <a:r>
              <a:rPr lang="en-US" spc="-5" dirty="0">
                <a:latin typeface="Times New Roman"/>
                <a:cs typeface="Times New Roman"/>
              </a:rPr>
              <a:t>logic</a:t>
            </a:r>
            <a:r>
              <a:rPr lang="en-US" spc="-40" dirty="0">
                <a:latin typeface="Times New Roman"/>
                <a:cs typeface="Times New Roman"/>
              </a:rPr>
              <a:t> </a:t>
            </a:r>
            <a:r>
              <a:rPr lang="en-US" spc="-5" dirty="0">
                <a:latin typeface="Times New Roman"/>
                <a:cs typeface="Times New Roman"/>
              </a:rPr>
              <a:t>operations.</a:t>
            </a:r>
            <a:endParaRPr lang="en-US" dirty="0">
              <a:latin typeface="Times New Roman"/>
              <a:cs typeface="Times New Roman"/>
            </a:endParaRPr>
          </a:p>
          <a:p>
            <a:pPr marL="469265" marR="5080" lvl="1" indent="-228600">
              <a:lnSpc>
                <a:spcPct val="100000"/>
              </a:lnSpc>
              <a:spcBef>
                <a:spcPts val="0"/>
              </a:spcBef>
              <a:buFont typeface="Symbol"/>
              <a:buChar char=""/>
              <a:tabLst>
                <a:tab pos="469265" algn="l"/>
                <a:tab pos="469900" algn="l"/>
              </a:tabLst>
            </a:pPr>
            <a:r>
              <a:rPr lang="en-US" spc="-5" dirty="0">
                <a:latin typeface="Times New Roman"/>
                <a:cs typeface="Times New Roman"/>
              </a:rPr>
              <a:t>The ALU has number </a:t>
            </a:r>
            <a:r>
              <a:rPr lang="en-US" dirty="0">
                <a:latin typeface="Times New Roman"/>
                <a:cs typeface="Times New Roman"/>
              </a:rPr>
              <a:t>of </a:t>
            </a:r>
            <a:r>
              <a:rPr lang="en-US" spc="-5" dirty="0">
                <a:latin typeface="Times New Roman"/>
                <a:cs typeface="Times New Roman"/>
              </a:rPr>
              <a:t>selection lines to select </a:t>
            </a:r>
            <a:r>
              <a:rPr lang="en-US" dirty="0">
                <a:latin typeface="Times New Roman"/>
                <a:cs typeface="Times New Roman"/>
              </a:rPr>
              <a:t>a </a:t>
            </a:r>
            <a:r>
              <a:rPr lang="en-US" spc="-5" dirty="0">
                <a:latin typeface="Times New Roman"/>
                <a:cs typeface="Times New Roman"/>
              </a:rPr>
              <a:t>particular operation </a:t>
            </a:r>
            <a:r>
              <a:rPr lang="en-US" dirty="0">
                <a:latin typeface="Times New Roman"/>
                <a:cs typeface="Times New Roman"/>
              </a:rPr>
              <a:t>in  the </a:t>
            </a:r>
            <a:r>
              <a:rPr lang="en-US" spc="-5" dirty="0">
                <a:latin typeface="Times New Roman"/>
                <a:cs typeface="Times New Roman"/>
              </a:rPr>
              <a:t>unit. The selection lines </a:t>
            </a:r>
            <a:r>
              <a:rPr lang="en-US" dirty="0">
                <a:latin typeface="Times New Roman"/>
                <a:cs typeface="Times New Roman"/>
              </a:rPr>
              <a:t>are </a:t>
            </a:r>
            <a:r>
              <a:rPr lang="en-US" spc="-5" dirty="0">
                <a:latin typeface="Times New Roman"/>
                <a:cs typeface="Times New Roman"/>
              </a:rPr>
              <a:t>decoded within the</a:t>
            </a:r>
            <a:r>
              <a:rPr lang="en-US" spc="20" dirty="0">
                <a:latin typeface="Times New Roman"/>
                <a:cs typeface="Times New Roman"/>
              </a:rPr>
              <a:t> </a:t>
            </a:r>
            <a:r>
              <a:rPr lang="en-US" spc="-5" dirty="0">
                <a:latin typeface="Times New Roman"/>
                <a:cs typeface="Times New Roman"/>
              </a:rPr>
              <a:t>ALU.</a:t>
            </a:r>
          </a:p>
          <a:p>
            <a:pPr marL="240665" marR="8255" indent="-228600" algn="just">
              <a:lnSpc>
                <a:spcPct val="100000"/>
              </a:lnSpc>
              <a:spcBef>
                <a:spcPts val="0"/>
              </a:spcBef>
              <a:buFont typeface="Symbol"/>
              <a:buChar char=""/>
              <a:tabLst>
                <a:tab pos="285750" algn="l"/>
              </a:tabLst>
            </a:pPr>
            <a:r>
              <a:rPr lang="en-US" sz="2400" dirty="0"/>
              <a:t>	</a:t>
            </a:r>
            <a:r>
              <a:rPr lang="en-US" sz="2400" dirty="0">
                <a:latin typeface="Times New Roman"/>
                <a:cs typeface="Times New Roman"/>
              </a:rPr>
              <a:t>The </a:t>
            </a:r>
            <a:r>
              <a:rPr lang="en-US" sz="2400" spc="-5" dirty="0">
                <a:latin typeface="Times New Roman"/>
                <a:cs typeface="Times New Roman"/>
              </a:rPr>
              <a:t>four data inputs from </a:t>
            </a:r>
            <a:r>
              <a:rPr lang="en-US" sz="2400" dirty="0">
                <a:latin typeface="Times New Roman"/>
                <a:cs typeface="Times New Roman"/>
              </a:rPr>
              <a:t>A </a:t>
            </a:r>
            <a:r>
              <a:rPr lang="en-US" sz="2400" spc="-5" dirty="0">
                <a:latin typeface="Times New Roman"/>
                <a:cs typeface="Times New Roman"/>
              </a:rPr>
              <a:t>are combined with the four </a:t>
            </a:r>
            <a:r>
              <a:rPr lang="en-US" sz="2400" spc="-10" dirty="0">
                <a:latin typeface="Times New Roman"/>
                <a:cs typeface="Times New Roman"/>
              </a:rPr>
              <a:t>inputs </a:t>
            </a:r>
            <a:r>
              <a:rPr lang="en-US" sz="2400" dirty="0">
                <a:latin typeface="Times New Roman"/>
                <a:cs typeface="Times New Roman"/>
              </a:rPr>
              <a:t>B </a:t>
            </a:r>
            <a:r>
              <a:rPr lang="en-US" sz="2400" spc="-5" dirty="0">
                <a:latin typeface="Times New Roman"/>
                <a:cs typeface="Times New Roman"/>
              </a:rPr>
              <a:t>to  generate </a:t>
            </a:r>
            <a:r>
              <a:rPr lang="en-US" sz="2400" spc="-10" dirty="0">
                <a:latin typeface="Times New Roman"/>
                <a:cs typeface="Times New Roman"/>
              </a:rPr>
              <a:t>an </a:t>
            </a:r>
            <a:r>
              <a:rPr lang="en-US" sz="2400" spc="-5" dirty="0">
                <a:latin typeface="Times New Roman"/>
                <a:cs typeface="Times New Roman"/>
              </a:rPr>
              <a:t>operation </a:t>
            </a:r>
            <a:r>
              <a:rPr lang="en-US" sz="2400" dirty="0">
                <a:latin typeface="Times New Roman"/>
                <a:cs typeface="Times New Roman"/>
              </a:rPr>
              <a:t>at </a:t>
            </a:r>
            <a:r>
              <a:rPr lang="en-US" sz="2400" spc="-5" dirty="0">
                <a:latin typeface="Times New Roman"/>
                <a:cs typeface="Times New Roman"/>
              </a:rPr>
              <a:t>the </a:t>
            </a:r>
            <a:r>
              <a:rPr lang="en-US" sz="2400" dirty="0">
                <a:latin typeface="Times New Roman"/>
                <a:cs typeface="Times New Roman"/>
              </a:rPr>
              <a:t>F</a:t>
            </a:r>
            <a:r>
              <a:rPr lang="en-US" sz="2400" spc="15" dirty="0">
                <a:latin typeface="Times New Roman"/>
                <a:cs typeface="Times New Roman"/>
              </a:rPr>
              <a:t> </a:t>
            </a:r>
            <a:r>
              <a:rPr lang="en-US" sz="2400" spc="-5" dirty="0">
                <a:latin typeface="Times New Roman"/>
                <a:cs typeface="Times New Roman"/>
              </a:rPr>
              <a:t>outputs.</a:t>
            </a:r>
            <a:endParaRPr lang="en-US" sz="2400" dirty="0">
              <a:latin typeface="Times New Roman"/>
              <a:cs typeface="Times New Roman"/>
            </a:endParaRPr>
          </a:p>
          <a:p>
            <a:pPr marL="240665" marR="8255" indent="-228600" algn="just">
              <a:lnSpc>
                <a:spcPct val="100000"/>
              </a:lnSpc>
              <a:spcBef>
                <a:spcPts val="0"/>
              </a:spcBef>
              <a:buFont typeface="Symbol"/>
              <a:buChar char=""/>
              <a:tabLst>
                <a:tab pos="241300" algn="l"/>
              </a:tabLst>
            </a:pPr>
            <a:r>
              <a:rPr lang="en-US" sz="2400" spc="-5" dirty="0">
                <a:latin typeface="Times New Roman"/>
                <a:cs typeface="Times New Roman"/>
              </a:rPr>
              <a:t>The mode select input </a:t>
            </a:r>
            <a:r>
              <a:rPr lang="en-US" sz="2400" dirty="0">
                <a:solidFill>
                  <a:srgbClr val="FF0000"/>
                </a:solidFill>
                <a:latin typeface="Times New Roman"/>
                <a:cs typeface="Times New Roman"/>
              </a:rPr>
              <a:t>S2 </a:t>
            </a:r>
            <a:r>
              <a:rPr lang="en-US" sz="2400" spc="-5" dirty="0">
                <a:solidFill>
                  <a:srgbClr val="FF0000"/>
                </a:solidFill>
                <a:latin typeface="Times New Roman"/>
                <a:cs typeface="Times New Roman"/>
              </a:rPr>
              <a:t>distinguishes between arithmetic and logic  operations</a:t>
            </a:r>
            <a:r>
              <a:rPr lang="en-US" sz="2400" spc="-5" dirty="0">
                <a:latin typeface="Times New Roman"/>
                <a:cs typeface="Times New Roman"/>
              </a:rPr>
              <a:t>. </a:t>
            </a:r>
            <a:r>
              <a:rPr lang="en-US" sz="2400" dirty="0">
                <a:latin typeface="Times New Roman"/>
                <a:cs typeface="Times New Roman"/>
              </a:rPr>
              <a:t>The </a:t>
            </a:r>
            <a:r>
              <a:rPr lang="en-US" sz="2400" spc="-5" dirty="0">
                <a:latin typeface="Times New Roman"/>
                <a:cs typeface="Times New Roman"/>
              </a:rPr>
              <a:t>two function select inputs </a:t>
            </a:r>
            <a:r>
              <a:rPr lang="en-US" sz="2400" dirty="0">
                <a:solidFill>
                  <a:srgbClr val="FF0000"/>
                </a:solidFill>
                <a:latin typeface="Times New Roman"/>
                <a:cs typeface="Times New Roman"/>
              </a:rPr>
              <a:t>S1 </a:t>
            </a:r>
            <a:r>
              <a:rPr lang="en-US" sz="2400" spc="-5" dirty="0">
                <a:solidFill>
                  <a:srgbClr val="FF0000"/>
                </a:solidFill>
                <a:latin typeface="Times New Roman"/>
                <a:cs typeface="Times New Roman"/>
              </a:rPr>
              <a:t>and </a:t>
            </a:r>
            <a:r>
              <a:rPr lang="en-US" sz="2400" spc="-10" dirty="0">
                <a:solidFill>
                  <a:srgbClr val="FF0000"/>
                </a:solidFill>
                <a:latin typeface="Times New Roman"/>
                <a:cs typeface="Times New Roman"/>
              </a:rPr>
              <a:t>S0 </a:t>
            </a:r>
            <a:r>
              <a:rPr lang="en-US" sz="2400" spc="-5" dirty="0">
                <a:solidFill>
                  <a:srgbClr val="FF0000"/>
                </a:solidFill>
                <a:latin typeface="Times New Roman"/>
                <a:cs typeface="Times New Roman"/>
              </a:rPr>
              <a:t>specify </a:t>
            </a:r>
            <a:r>
              <a:rPr lang="en-US" sz="2400" dirty="0">
                <a:solidFill>
                  <a:srgbClr val="FF0000"/>
                </a:solidFill>
                <a:latin typeface="Times New Roman"/>
                <a:cs typeface="Times New Roman"/>
              </a:rPr>
              <a:t>the </a:t>
            </a:r>
            <a:r>
              <a:rPr lang="en-US" sz="2400" spc="-5" dirty="0">
                <a:solidFill>
                  <a:srgbClr val="FF0000"/>
                </a:solidFill>
                <a:latin typeface="Times New Roman"/>
                <a:cs typeface="Times New Roman"/>
              </a:rPr>
              <a:t>particular  arithmetic </a:t>
            </a:r>
            <a:r>
              <a:rPr lang="en-US" sz="2400" dirty="0">
                <a:solidFill>
                  <a:srgbClr val="FF0000"/>
                </a:solidFill>
                <a:latin typeface="Times New Roman"/>
                <a:cs typeface="Times New Roman"/>
              </a:rPr>
              <a:t>or </a:t>
            </a:r>
            <a:r>
              <a:rPr lang="en-US" sz="2400" spc="-5" dirty="0">
                <a:solidFill>
                  <a:srgbClr val="FF0000"/>
                </a:solidFill>
                <a:latin typeface="Times New Roman"/>
                <a:cs typeface="Times New Roman"/>
              </a:rPr>
              <a:t>logic operation to </a:t>
            </a:r>
            <a:r>
              <a:rPr lang="en-US" sz="2400" dirty="0">
                <a:solidFill>
                  <a:srgbClr val="FF0000"/>
                </a:solidFill>
                <a:latin typeface="Times New Roman"/>
                <a:cs typeface="Times New Roman"/>
              </a:rPr>
              <a:t>be</a:t>
            </a:r>
            <a:r>
              <a:rPr lang="en-US" sz="2400" spc="-20" dirty="0">
                <a:solidFill>
                  <a:srgbClr val="FF0000"/>
                </a:solidFill>
                <a:latin typeface="Times New Roman"/>
                <a:cs typeface="Times New Roman"/>
              </a:rPr>
              <a:t> </a:t>
            </a:r>
            <a:r>
              <a:rPr lang="en-US" sz="2400" spc="-5" dirty="0">
                <a:solidFill>
                  <a:srgbClr val="FF0000"/>
                </a:solidFill>
                <a:latin typeface="Times New Roman"/>
                <a:cs typeface="Times New Roman"/>
              </a:rPr>
              <a:t>generated.</a:t>
            </a:r>
            <a:endParaRPr lang="en-US" sz="2400" dirty="0">
              <a:solidFill>
                <a:srgbClr val="FF0000"/>
              </a:solidFill>
              <a:latin typeface="Times New Roman"/>
              <a:cs typeface="Times New Roman"/>
            </a:endParaRPr>
          </a:p>
          <a:p>
            <a:pPr marL="240665" marR="8890" indent="-228600" algn="just">
              <a:lnSpc>
                <a:spcPct val="100000"/>
              </a:lnSpc>
              <a:spcBef>
                <a:spcPts val="0"/>
              </a:spcBef>
              <a:buFont typeface="Symbol"/>
              <a:buChar char=""/>
              <a:tabLst>
                <a:tab pos="241300" algn="l"/>
              </a:tabLst>
            </a:pPr>
            <a:r>
              <a:rPr lang="en-US" sz="2400" spc="-5" dirty="0">
                <a:latin typeface="Times New Roman"/>
                <a:cs typeface="Times New Roman"/>
              </a:rPr>
              <a:t>With three selection variables </a:t>
            </a:r>
            <a:r>
              <a:rPr lang="en-US" sz="2400" dirty="0">
                <a:latin typeface="Times New Roman"/>
                <a:cs typeface="Times New Roman"/>
              </a:rPr>
              <a:t>it </a:t>
            </a:r>
            <a:r>
              <a:rPr lang="en-US" sz="2400" spc="-5" dirty="0">
                <a:latin typeface="Times New Roman"/>
                <a:cs typeface="Times New Roman"/>
              </a:rPr>
              <a:t>is possible to specify four arithmetic  operations and four logical</a:t>
            </a:r>
            <a:r>
              <a:rPr lang="en-US" sz="2400" spc="25" dirty="0">
                <a:latin typeface="Times New Roman"/>
                <a:cs typeface="Times New Roman"/>
              </a:rPr>
              <a:t> </a:t>
            </a:r>
            <a:r>
              <a:rPr lang="en-US" sz="2400" spc="-5" dirty="0">
                <a:latin typeface="Times New Roman"/>
                <a:cs typeface="Times New Roman"/>
              </a:rPr>
              <a:t>operations.</a:t>
            </a:r>
            <a:endParaRPr lang="en-US" sz="2400" dirty="0">
              <a:latin typeface="Times New Roman"/>
              <a:cs typeface="Times New Roman"/>
            </a:endParaRPr>
          </a:p>
          <a:p>
            <a:pPr marL="240665" marR="5080" indent="-228600" algn="just">
              <a:lnSpc>
                <a:spcPct val="100000"/>
              </a:lnSpc>
              <a:spcBef>
                <a:spcPts val="0"/>
              </a:spcBef>
              <a:buFont typeface="Symbol"/>
              <a:buChar char=""/>
              <a:tabLst>
                <a:tab pos="241300" algn="l"/>
              </a:tabLst>
            </a:pPr>
            <a:r>
              <a:rPr lang="en-US" sz="2400" spc="-5" dirty="0">
                <a:latin typeface="Times New Roman"/>
                <a:cs typeface="Times New Roman"/>
              </a:rPr>
              <a:t>The input and output </a:t>
            </a:r>
            <a:r>
              <a:rPr lang="en-US" sz="2400" dirty="0">
                <a:latin typeface="Times New Roman"/>
                <a:cs typeface="Times New Roman"/>
              </a:rPr>
              <a:t>carries </a:t>
            </a:r>
            <a:r>
              <a:rPr lang="en-US" sz="2400" spc="5" dirty="0">
                <a:latin typeface="Times New Roman"/>
                <a:cs typeface="Times New Roman"/>
              </a:rPr>
              <a:t>have </a:t>
            </a:r>
            <a:r>
              <a:rPr lang="en-US" sz="2400" spc="-5" dirty="0">
                <a:latin typeface="Times New Roman"/>
                <a:cs typeface="Times New Roman"/>
              </a:rPr>
              <a:t>meaning only during </a:t>
            </a:r>
            <a:r>
              <a:rPr lang="en-US" sz="2400" spc="-10" dirty="0">
                <a:latin typeface="Times New Roman"/>
                <a:cs typeface="Times New Roman"/>
              </a:rPr>
              <a:t>an </a:t>
            </a:r>
            <a:r>
              <a:rPr lang="en-US" sz="2400" spc="-5" dirty="0">
                <a:latin typeface="Times New Roman"/>
                <a:cs typeface="Times New Roman"/>
              </a:rPr>
              <a:t>arithmetic  operation. </a:t>
            </a:r>
            <a:endParaRPr lang="en-US" sz="2400" dirty="0">
              <a:latin typeface="Times New Roman"/>
              <a:cs typeface="Times New Roman"/>
            </a:endParaRPr>
          </a:p>
        </p:txBody>
      </p:sp>
    </p:spTree>
    <p:extLst>
      <p:ext uri="{BB962C8B-B14F-4D97-AF65-F5344CB8AC3E}">
        <p14:creationId xmlns:p14="http://schemas.microsoft.com/office/powerpoint/2010/main" val="5005927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504B0B-82A8-2AB0-BD82-A1384DDC387A}"/>
              </a:ext>
            </a:extLst>
          </p:cNvPr>
          <p:cNvSpPr>
            <a:spLocks noGrp="1"/>
          </p:cNvSpPr>
          <p:nvPr>
            <p:ph idx="1"/>
          </p:nvPr>
        </p:nvSpPr>
        <p:spPr>
          <a:xfrm>
            <a:off x="405353" y="468165"/>
            <a:ext cx="10797618" cy="2746375"/>
          </a:xfrm>
        </p:spPr>
        <p:txBody>
          <a:bodyPr>
            <a:noAutofit/>
          </a:bodyPr>
          <a:lstStyle/>
          <a:p>
            <a:pPr marL="240665" marR="5080" indent="-228600" algn="just">
              <a:lnSpc>
                <a:spcPct val="143600"/>
              </a:lnSpc>
              <a:spcBef>
                <a:spcPts val="910"/>
              </a:spcBef>
              <a:buFont typeface="Symbol"/>
              <a:buChar char=""/>
              <a:tabLst>
                <a:tab pos="241300" algn="l"/>
              </a:tabLst>
            </a:pPr>
            <a:r>
              <a:rPr lang="en-US" sz="2200" spc="-5" dirty="0">
                <a:latin typeface="Times New Roman"/>
                <a:cs typeface="Times New Roman"/>
              </a:rPr>
              <a:t>The input and output </a:t>
            </a:r>
            <a:r>
              <a:rPr lang="en-US" sz="2200" dirty="0">
                <a:latin typeface="Times New Roman"/>
                <a:cs typeface="Times New Roman"/>
              </a:rPr>
              <a:t>carries </a:t>
            </a:r>
            <a:r>
              <a:rPr lang="en-US" sz="2200" spc="5" dirty="0">
                <a:latin typeface="Times New Roman"/>
                <a:cs typeface="Times New Roman"/>
              </a:rPr>
              <a:t>have </a:t>
            </a:r>
            <a:r>
              <a:rPr lang="en-US" sz="2200" spc="-5" dirty="0">
                <a:latin typeface="Times New Roman"/>
                <a:cs typeface="Times New Roman"/>
              </a:rPr>
              <a:t>meaning only during </a:t>
            </a:r>
            <a:r>
              <a:rPr lang="en-US" sz="2200" spc="-10" dirty="0">
                <a:latin typeface="Times New Roman"/>
                <a:cs typeface="Times New Roman"/>
              </a:rPr>
              <a:t>an </a:t>
            </a:r>
            <a:r>
              <a:rPr lang="en-US" sz="2200" spc="-5" dirty="0">
                <a:latin typeface="Times New Roman"/>
                <a:cs typeface="Times New Roman"/>
              </a:rPr>
              <a:t>arithmetic  operation. The design </a:t>
            </a:r>
            <a:r>
              <a:rPr lang="en-US" sz="2200" dirty="0">
                <a:latin typeface="Times New Roman"/>
                <a:cs typeface="Times New Roman"/>
              </a:rPr>
              <a:t>of </a:t>
            </a:r>
            <a:r>
              <a:rPr lang="en-US" sz="2200" spc="-5" dirty="0">
                <a:latin typeface="Times New Roman"/>
                <a:cs typeface="Times New Roman"/>
              </a:rPr>
              <a:t>ALU can </a:t>
            </a:r>
            <a:r>
              <a:rPr lang="en-US" sz="2200" dirty="0">
                <a:latin typeface="Times New Roman"/>
                <a:cs typeface="Times New Roman"/>
              </a:rPr>
              <a:t>be </a:t>
            </a:r>
            <a:r>
              <a:rPr lang="en-US" sz="2200" spc="-5" dirty="0">
                <a:latin typeface="Times New Roman"/>
                <a:cs typeface="Times New Roman"/>
              </a:rPr>
              <a:t>carried out </a:t>
            </a:r>
            <a:r>
              <a:rPr lang="en-US" sz="2200" dirty="0">
                <a:latin typeface="Times New Roman"/>
                <a:cs typeface="Times New Roman"/>
              </a:rPr>
              <a:t>in 3 </a:t>
            </a:r>
            <a:r>
              <a:rPr lang="en-US" sz="2200" spc="-5" dirty="0">
                <a:latin typeface="Times New Roman"/>
                <a:cs typeface="Times New Roman"/>
              </a:rPr>
              <a:t>stages:</a:t>
            </a:r>
            <a:endParaRPr lang="en-US" sz="2200" dirty="0">
              <a:latin typeface="Times New Roman"/>
              <a:cs typeface="Times New Roman"/>
            </a:endParaRPr>
          </a:p>
          <a:p>
            <a:pPr>
              <a:lnSpc>
                <a:spcPct val="100000"/>
              </a:lnSpc>
              <a:spcBef>
                <a:spcPts val="40"/>
              </a:spcBef>
            </a:pPr>
            <a:endParaRPr lang="en-US" sz="2200" dirty="0">
              <a:latin typeface="Times New Roman"/>
              <a:cs typeface="Times New Roman"/>
            </a:endParaRPr>
          </a:p>
          <a:p>
            <a:pPr marL="240665" indent="-228600">
              <a:lnSpc>
                <a:spcPct val="100000"/>
              </a:lnSpc>
              <a:spcBef>
                <a:spcPts val="5"/>
              </a:spcBef>
              <a:buAutoNum type="arabicPeriod"/>
              <a:tabLst>
                <a:tab pos="241300" algn="l"/>
              </a:tabLst>
            </a:pPr>
            <a:r>
              <a:rPr lang="en-US" sz="2200" spc="-5" dirty="0">
                <a:latin typeface="Times New Roman"/>
                <a:cs typeface="Times New Roman"/>
              </a:rPr>
              <a:t>Design </a:t>
            </a:r>
            <a:r>
              <a:rPr lang="en-US" sz="2200" dirty="0">
                <a:latin typeface="Times New Roman"/>
                <a:cs typeface="Times New Roman"/>
              </a:rPr>
              <a:t>of </a:t>
            </a:r>
            <a:r>
              <a:rPr lang="en-US" sz="2200" spc="-5" dirty="0">
                <a:latin typeface="Times New Roman"/>
                <a:cs typeface="Times New Roman"/>
              </a:rPr>
              <a:t>Arithmetic</a:t>
            </a:r>
            <a:r>
              <a:rPr lang="en-US" sz="2200" spc="-45" dirty="0">
                <a:latin typeface="Times New Roman"/>
                <a:cs typeface="Times New Roman"/>
              </a:rPr>
              <a:t> </a:t>
            </a:r>
            <a:r>
              <a:rPr lang="en-US" sz="2200" spc="-5" dirty="0">
                <a:latin typeface="Times New Roman"/>
                <a:cs typeface="Times New Roman"/>
              </a:rPr>
              <a:t>section</a:t>
            </a:r>
            <a:endParaRPr lang="en-US" sz="2200" dirty="0">
              <a:latin typeface="Times New Roman"/>
              <a:cs typeface="Times New Roman"/>
            </a:endParaRPr>
          </a:p>
          <a:p>
            <a:pPr>
              <a:lnSpc>
                <a:spcPct val="100000"/>
              </a:lnSpc>
              <a:spcBef>
                <a:spcPts val="40"/>
              </a:spcBef>
              <a:buFont typeface="Times New Roman"/>
              <a:buAutoNum type="arabicPeriod"/>
            </a:pPr>
            <a:endParaRPr lang="en-US" sz="2200" dirty="0">
              <a:latin typeface="Times New Roman"/>
              <a:cs typeface="Times New Roman"/>
            </a:endParaRPr>
          </a:p>
          <a:p>
            <a:pPr marL="240665" indent="-228600">
              <a:lnSpc>
                <a:spcPct val="100000"/>
              </a:lnSpc>
              <a:buAutoNum type="arabicPeriod"/>
              <a:tabLst>
                <a:tab pos="241300" algn="l"/>
              </a:tabLst>
            </a:pPr>
            <a:r>
              <a:rPr lang="en-US" sz="2200" spc="-5" dirty="0">
                <a:latin typeface="Times New Roman"/>
                <a:cs typeface="Times New Roman"/>
              </a:rPr>
              <a:t>Design </a:t>
            </a:r>
            <a:r>
              <a:rPr lang="en-US" sz="2200" dirty="0">
                <a:latin typeface="Times New Roman"/>
                <a:cs typeface="Times New Roman"/>
              </a:rPr>
              <a:t>of </a:t>
            </a:r>
            <a:r>
              <a:rPr lang="en-US" sz="2200" spc="-5" dirty="0">
                <a:latin typeface="Times New Roman"/>
                <a:cs typeface="Times New Roman"/>
              </a:rPr>
              <a:t>Logic</a:t>
            </a:r>
            <a:r>
              <a:rPr lang="en-US" sz="2200" spc="-30" dirty="0">
                <a:latin typeface="Times New Roman"/>
                <a:cs typeface="Times New Roman"/>
              </a:rPr>
              <a:t> </a:t>
            </a:r>
            <a:r>
              <a:rPr lang="en-US" sz="2200" spc="-5" dirty="0">
                <a:latin typeface="Times New Roman"/>
                <a:cs typeface="Times New Roman"/>
              </a:rPr>
              <a:t>section</a:t>
            </a:r>
            <a:endParaRPr lang="en-US" sz="2200" dirty="0">
              <a:latin typeface="Times New Roman"/>
              <a:cs typeface="Times New Roman"/>
            </a:endParaRPr>
          </a:p>
          <a:p>
            <a:pPr marL="240665" marR="8255" indent="-228600" algn="just">
              <a:lnSpc>
                <a:spcPct val="144300"/>
              </a:lnSpc>
              <a:spcBef>
                <a:spcPts val="780"/>
              </a:spcBef>
              <a:buAutoNum type="arabicPeriod"/>
              <a:tabLst>
                <a:tab pos="241300" algn="l"/>
              </a:tabLst>
            </a:pPr>
            <a:r>
              <a:rPr lang="en-US" sz="2200" spc="-5" dirty="0">
                <a:latin typeface="Times New Roman"/>
                <a:cs typeface="Times New Roman"/>
              </a:rPr>
              <a:t>Modification </a:t>
            </a:r>
            <a:r>
              <a:rPr lang="en-US" sz="2200" dirty="0">
                <a:latin typeface="Times New Roman"/>
                <a:cs typeface="Times New Roman"/>
              </a:rPr>
              <a:t>of </a:t>
            </a:r>
            <a:r>
              <a:rPr lang="en-US" sz="2200" spc="-5" dirty="0">
                <a:latin typeface="Times New Roman"/>
                <a:cs typeface="Times New Roman"/>
              </a:rPr>
              <a:t>arithmetic section so that </a:t>
            </a:r>
            <a:r>
              <a:rPr lang="en-US" sz="2200" dirty="0">
                <a:latin typeface="Times New Roman"/>
                <a:cs typeface="Times New Roman"/>
              </a:rPr>
              <a:t>it </a:t>
            </a:r>
            <a:r>
              <a:rPr lang="en-US" sz="2200" spc="-5" dirty="0">
                <a:latin typeface="Times New Roman"/>
                <a:cs typeface="Times New Roman"/>
              </a:rPr>
              <a:t>can perform both arithmetic  and logic</a:t>
            </a:r>
            <a:r>
              <a:rPr lang="en-US" sz="2200" spc="-10" dirty="0">
                <a:latin typeface="Times New Roman"/>
                <a:cs typeface="Times New Roman"/>
              </a:rPr>
              <a:t> </a:t>
            </a:r>
            <a:r>
              <a:rPr lang="en-US" sz="2200" spc="-5" dirty="0">
                <a:latin typeface="Times New Roman"/>
                <a:cs typeface="Times New Roman"/>
              </a:rPr>
              <a:t>operations.</a:t>
            </a:r>
            <a:endParaRPr lang="en-US" sz="2200" dirty="0">
              <a:latin typeface="Times New Roman"/>
              <a:cs typeface="Times New Roman"/>
            </a:endParaRPr>
          </a:p>
          <a:p>
            <a:endParaRPr lang="en-US" sz="2200" dirty="0"/>
          </a:p>
        </p:txBody>
      </p:sp>
      <p:sp>
        <p:nvSpPr>
          <p:cNvPr id="4" name="object 4">
            <a:extLst>
              <a:ext uri="{FF2B5EF4-FFF2-40B4-BE49-F238E27FC236}">
                <a16:creationId xmlns:a16="http://schemas.microsoft.com/office/drawing/2014/main" id="{A6A1B2A6-AAAE-5752-A97D-D7448AE950E5}"/>
              </a:ext>
            </a:extLst>
          </p:cNvPr>
          <p:cNvSpPr/>
          <p:nvPr/>
        </p:nvSpPr>
        <p:spPr>
          <a:xfrm>
            <a:off x="3354042" y="3949718"/>
            <a:ext cx="6006773" cy="229082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310901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85410B-034E-E0ED-8AD8-BAAD8E582421}"/>
              </a:ext>
            </a:extLst>
          </p:cNvPr>
          <p:cNvSpPr>
            <a:spLocks noGrp="1"/>
          </p:cNvSpPr>
          <p:nvPr>
            <p:ph idx="1"/>
          </p:nvPr>
        </p:nvSpPr>
        <p:spPr>
          <a:xfrm>
            <a:off x="311085" y="292230"/>
            <a:ext cx="11557261" cy="6278251"/>
          </a:xfrm>
        </p:spPr>
        <p:txBody>
          <a:bodyPr>
            <a:normAutofit/>
          </a:bodyPr>
          <a:lstStyle/>
          <a:p>
            <a:pPr marL="12065" indent="0">
              <a:lnSpc>
                <a:spcPct val="100000"/>
              </a:lnSpc>
              <a:spcBef>
                <a:spcPts val="95"/>
              </a:spcBef>
              <a:buNone/>
              <a:tabLst>
                <a:tab pos="288925" algn="l"/>
              </a:tabLst>
            </a:pPr>
            <a:r>
              <a:rPr lang="en-US" sz="2400" b="1" spc="-5" dirty="0">
                <a:latin typeface="Times New Roman"/>
                <a:cs typeface="Times New Roman"/>
              </a:rPr>
              <a:t>Design of  arithmetic</a:t>
            </a:r>
            <a:r>
              <a:rPr lang="en-US" sz="2400" b="1" spc="-10" dirty="0">
                <a:latin typeface="Times New Roman"/>
                <a:cs typeface="Times New Roman"/>
              </a:rPr>
              <a:t> </a:t>
            </a:r>
            <a:r>
              <a:rPr lang="en-US" sz="2400" b="1" spc="-5" dirty="0">
                <a:latin typeface="Times New Roman"/>
                <a:cs typeface="Times New Roman"/>
              </a:rPr>
              <a:t>Circuit</a:t>
            </a:r>
            <a:endParaRPr lang="en-US" sz="2400" dirty="0">
              <a:latin typeface="Times New Roman"/>
              <a:cs typeface="Times New Roman"/>
            </a:endParaRPr>
          </a:p>
          <a:p>
            <a:pPr>
              <a:lnSpc>
                <a:spcPct val="100000"/>
              </a:lnSpc>
              <a:spcBef>
                <a:spcPts val="20"/>
              </a:spcBef>
              <a:buFont typeface="Times New Roman"/>
              <a:buAutoNum type="alphaUcParenR" startAt="17"/>
            </a:pPr>
            <a:endParaRPr lang="en-US" sz="2400" dirty="0">
              <a:latin typeface="Times New Roman"/>
              <a:cs typeface="Times New Roman"/>
            </a:endParaRPr>
          </a:p>
          <a:p>
            <a:pPr marL="469265" lvl="1" indent="-228600" algn="just">
              <a:lnSpc>
                <a:spcPct val="100000"/>
              </a:lnSpc>
              <a:spcBef>
                <a:spcPts val="5"/>
              </a:spcBef>
              <a:buFont typeface="Symbol"/>
              <a:buChar char=""/>
              <a:tabLst>
                <a:tab pos="469900" algn="l"/>
              </a:tabLst>
            </a:pPr>
            <a:r>
              <a:rPr lang="en-US" spc="-5" dirty="0">
                <a:latin typeface="Times New Roman"/>
                <a:cs typeface="Times New Roman"/>
              </a:rPr>
              <a:t>The basic component </a:t>
            </a:r>
            <a:r>
              <a:rPr lang="en-US" dirty="0">
                <a:latin typeface="Times New Roman"/>
                <a:cs typeface="Times New Roman"/>
              </a:rPr>
              <a:t>of </a:t>
            </a:r>
            <a:r>
              <a:rPr lang="en-US" spc="-5" dirty="0">
                <a:latin typeface="Times New Roman"/>
                <a:cs typeface="Times New Roman"/>
              </a:rPr>
              <a:t>arithmetic section </a:t>
            </a:r>
            <a:r>
              <a:rPr lang="en-US" dirty="0">
                <a:latin typeface="Times New Roman"/>
                <a:cs typeface="Times New Roman"/>
              </a:rPr>
              <a:t>of </a:t>
            </a:r>
            <a:r>
              <a:rPr lang="en-US" spc="-10" dirty="0">
                <a:latin typeface="Times New Roman"/>
                <a:cs typeface="Times New Roman"/>
              </a:rPr>
              <a:t>an </a:t>
            </a:r>
            <a:r>
              <a:rPr lang="en-US" spc="-5" dirty="0">
                <a:latin typeface="Times New Roman"/>
                <a:cs typeface="Times New Roman"/>
              </a:rPr>
              <a:t>ALU is </a:t>
            </a:r>
            <a:r>
              <a:rPr lang="en-US" dirty="0">
                <a:latin typeface="Times New Roman"/>
                <a:cs typeface="Times New Roman"/>
              </a:rPr>
              <a:t>a </a:t>
            </a:r>
            <a:r>
              <a:rPr lang="en-US" spc="-5" dirty="0">
                <a:latin typeface="Times New Roman"/>
                <a:cs typeface="Times New Roman"/>
              </a:rPr>
              <a:t>parallel</a:t>
            </a:r>
            <a:r>
              <a:rPr lang="en-US" spc="65" dirty="0">
                <a:latin typeface="Times New Roman"/>
                <a:cs typeface="Times New Roman"/>
              </a:rPr>
              <a:t> </a:t>
            </a:r>
            <a:r>
              <a:rPr lang="en-US" spc="-5" dirty="0">
                <a:latin typeface="Times New Roman"/>
                <a:cs typeface="Times New Roman"/>
              </a:rPr>
              <a:t>adder.</a:t>
            </a:r>
            <a:endParaRPr lang="en-US" dirty="0">
              <a:latin typeface="Times New Roman"/>
              <a:cs typeface="Times New Roman"/>
            </a:endParaRPr>
          </a:p>
          <a:p>
            <a:pPr marL="469265" marR="5080" lvl="1" indent="-228600" algn="just">
              <a:lnSpc>
                <a:spcPct val="143600"/>
              </a:lnSpc>
              <a:spcBef>
                <a:spcPts val="910"/>
              </a:spcBef>
              <a:buFont typeface="Symbol"/>
              <a:buChar char=""/>
              <a:tabLst>
                <a:tab pos="469900" algn="l"/>
              </a:tabLst>
            </a:pPr>
            <a:r>
              <a:rPr lang="en-US" spc="-5" dirty="0">
                <a:latin typeface="Times New Roman"/>
                <a:cs typeface="Times New Roman"/>
              </a:rPr>
              <a:t>Parallel</a:t>
            </a:r>
            <a:r>
              <a:rPr lang="en-US" spc="-45" dirty="0">
                <a:latin typeface="Times New Roman"/>
                <a:cs typeface="Times New Roman"/>
              </a:rPr>
              <a:t> </a:t>
            </a:r>
            <a:r>
              <a:rPr lang="en-US" spc="-5" dirty="0">
                <a:latin typeface="Times New Roman"/>
                <a:cs typeface="Times New Roman"/>
              </a:rPr>
              <a:t>adder</a:t>
            </a:r>
            <a:r>
              <a:rPr lang="en-US" spc="-45" dirty="0">
                <a:latin typeface="Times New Roman"/>
                <a:cs typeface="Times New Roman"/>
              </a:rPr>
              <a:t> </a:t>
            </a:r>
            <a:r>
              <a:rPr lang="en-US" spc="-5" dirty="0">
                <a:latin typeface="Times New Roman"/>
                <a:cs typeface="Times New Roman"/>
              </a:rPr>
              <a:t>is</a:t>
            </a:r>
            <a:r>
              <a:rPr lang="en-US" spc="-45" dirty="0">
                <a:latin typeface="Times New Roman"/>
                <a:cs typeface="Times New Roman"/>
              </a:rPr>
              <a:t> </a:t>
            </a:r>
            <a:r>
              <a:rPr lang="en-US" spc="-5" dirty="0">
                <a:latin typeface="Times New Roman"/>
                <a:cs typeface="Times New Roman"/>
              </a:rPr>
              <a:t>constructed</a:t>
            </a:r>
            <a:r>
              <a:rPr lang="en-US" spc="-55" dirty="0">
                <a:latin typeface="Times New Roman"/>
                <a:cs typeface="Times New Roman"/>
              </a:rPr>
              <a:t> </a:t>
            </a:r>
            <a:r>
              <a:rPr lang="en-US" spc="-5" dirty="0">
                <a:latin typeface="Times New Roman"/>
                <a:cs typeface="Times New Roman"/>
              </a:rPr>
              <a:t>with</a:t>
            </a:r>
            <a:r>
              <a:rPr lang="en-US" spc="-45" dirty="0">
                <a:latin typeface="Times New Roman"/>
                <a:cs typeface="Times New Roman"/>
              </a:rPr>
              <a:t> </a:t>
            </a:r>
            <a:r>
              <a:rPr lang="en-US" dirty="0">
                <a:latin typeface="Times New Roman"/>
                <a:cs typeface="Times New Roman"/>
              </a:rPr>
              <a:t>a</a:t>
            </a:r>
            <a:r>
              <a:rPr lang="en-US" spc="-45" dirty="0">
                <a:latin typeface="Times New Roman"/>
                <a:cs typeface="Times New Roman"/>
              </a:rPr>
              <a:t> </a:t>
            </a:r>
            <a:r>
              <a:rPr lang="en-US" spc="-5" dirty="0">
                <a:latin typeface="Times New Roman"/>
                <a:cs typeface="Times New Roman"/>
              </a:rPr>
              <a:t>number</a:t>
            </a:r>
            <a:r>
              <a:rPr lang="en-US" spc="-45" dirty="0">
                <a:latin typeface="Times New Roman"/>
                <a:cs typeface="Times New Roman"/>
              </a:rPr>
              <a:t> </a:t>
            </a:r>
            <a:r>
              <a:rPr lang="en-US" dirty="0">
                <a:latin typeface="Times New Roman"/>
                <a:cs typeface="Times New Roman"/>
              </a:rPr>
              <a:t>of</a:t>
            </a:r>
            <a:r>
              <a:rPr lang="en-US" spc="-45" dirty="0">
                <a:latin typeface="Times New Roman"/>
                <a:cs typeface="Times New Roman"/>
              </a:rPr>
              <a:t> </a:t>
            </a:r>
            <a:r>
              <a:rPr lang="en-US" spc="-5" dirty="0">
                <a:latin typeface="Times New Roman"/>
                <a:cs typeface="Times New Roman"/>
              </a:rPr>
              <a:t>full</a:t>
            </a:r>
            <a:r>
              <a:rPr lang="en-US" spc="-45" dirty="0">
                <a:latin typeface="Times New Roman"/>
                <a:cs typeface="Times New Roman"/>
              </a:rPr>
              <a:t> </a:t>
            </a:r>
            <a:r>
              <a:rPr lang="en-US" spc="-5" dirty="0">
                <a:latin typeface="Times New Roman"/>
                <a:cs typeface="Times New Roman"/>
              </a:rPr>
              <a:t>adder</a:t>
            </a:r>
            <a:r>
              <a:rPr lang="en-US" spc="-45" dirty="0">
                <a:latin typeface="Times New Roman"/>
                <a:cs typeface="Times New Roman"/>
              </a:rPr>
              <a:t> </a:t>
            </a:r>
            <a:r>
              <a:rPr lang="en-US" spc="-5" dirty="0">
                <a:latin typeface="Times New Roman"/>
                <a:cs typeface="Times New Roman"/>
              </a:rPr>
              <a:t>circuits</a:t>
            </a:r>
            <a:r>
              <a:rPr lang="en-US" spc="-45" dirty="0">
                <a:latin typeface="Times New Roman"/>
                <a:cs typeface="Times New Roman"/>
              </a:rPr>
              <a:t> </a:t>
            </a:r>
            <a:r>
              <a:rPr lang="en-US" spc="-5" dirty="0">
                <a:latin typeface="Times New Roman"/>
                <a:cs typeface="Times New Roman"/>
              </a:rPr>
              <a:t>connected  </a:t>
            </a:r>
            <a:r>
              <a:rPr lang="en-US" dirty="0">
                <a:latin typeface="Times New Roman"/>
                <a:cs typeface="Times New Roman"/>
              </a:rPr>
              <a:t>in</a:t>
            </a:r>
            <a:r>
              <a:rPr lang="en-US" spc="-50" dirty="0">
                <a:latin typeface="Times New Roman"/>
                <a:cs typeface="Times New Roman"/>
              </a:rPr>
              <a:t> </a:t>
            </a:r>
            <a:r>
              <a:rPr lang="en-US" spc="-5" dirty="0">
                <a:latin typeface="Times New Roman"/>
                <a:cs typeface="Times New Roman"/>
              </a:rPr>
              <a:t>cascade.</a:t>
            </a:r>
            <a:r>
              <a:rPr lang="en-US" spc="-50" dirty="0">
                <a:latin typeface="Times New Roman"/>
                <a:cs typeface="Times New Roman"/>
              </a:rPr>
              <a:t> </a:t>
            </a:r>
            <a:r>
              <a:rPr lang="en-US" dirty="0">
                <a:latin typeface="Times New Roman"/>
                <a:cs typeface="Times New Roman"/>
              </a:rPr>
              <a:t>By</a:t>
            </a:r>
            <a:r>
              <a:rPr lang="en-US" spc="-60" dirty="0">
                <a:latin typeface="Times New Roman"/>
                <a:cs typeface="Times New Roman"/>
              </a:rPr>
              <a:t> </a:t>
            </a:r>
            <a:r>
              <a:rPr lang="en-US" spc="-5" dirty="0">
                <a:latin typeface="Times New Roman"/>
                <a:cs typeface="Times New Roman"/>
              </a:rPr>
              <a:t>combining</a:t>
            </a:r>
            <a:r>
              <a:rPr lang="en-US" spc="-45" dirty="0">
                <a:latin typeface="Times New Roman"/>
                <a:cs typeface="Times New Roman"/>
              </a:rPr>
              <a:t> </a:t>
            </a:r>
            <a:r>
              <a:rPr lang="en-US" spc="-5" dirty="0">
                <a:latin typeface="Times New Roman"/>
                <a:cs typeface="Times New Roman"/>
              </a:rPr>
              <a:t>the</a:t>
            </a:r>
            <a:r>
              <a:rPr lang="en-US" spc="-65" dirty="0">
                <a:latin typeface="Times New Roman"/>
                <a:cs typeface="Times New Roman"/>
              </a:rPr>
              <a:t> </a:t>
            </a:r>
            <a:r>
              <a:rPr lang="en-US" spc="-5" dirty="0">
                <a:latin typeface="Times New Roman"/>
                <a:cs typeface="Times New Roman"/>
              </a:rPr>
              <a:t>data</a:t>
            </a:r>
            <a:r>
              <a:rPr lang="en-US" spc="-45" dirty="0">
                <a:latin typeface="Times New Roman"/>
                <a:cs typeface="Times New Roman"/>
              </a:rPr>
              <a:t> </a:t>
            </a:r>
            <a:r>
              <a:rPr lang="en-US" spc="-10" dirty="0">
                <a:latin typeface="Times New Roman"/>
                <a:cs typeface="Times New Roman"/>
              </a:rPr>
              <a:t>inputs</a:t>
            </a:r>
            <a:r>
              <a:rPr lang="en-US" spc="-45" dirty="0">
                <a:latin typeface="Times New Roman"/>
                <a:cs typeface="Times New Roman"/>
              </a:rPr>
              <a:t> </a:t>
            </a:r>
            <a:r>
              <a:rPr lang="en-US" spc="-5" dirty="0">
                <a:latin typeface="Times New Roman"/>
                <a:cs typeface="Times New Roman"/>
              </a:rPr>
              <a:t>to</a:t>
            </a:r>
            <a:r>
              <a:rPr lang="en-US" spc="-60" dirty="0">
                <a:latin typeface="Times New Roman"/>
                <a:cs typeface="Times New Roman"/>
              </a:rPr>
              <a:t> </a:t>
            </a:r>
            <a:r>
              <a:rPr lang="en-US" dirty="0">
                <a:latin typeface="Times New Roman"/>
                <a:cs typeface="Times New Roman"/>
              </a:rPr>
              <a:t>the</a:t>
            </a:r>
            <a:r>
              <a:rPr lang="en-US" spc="-60" dirty="0">
                <a:latin typeface="Times New Roman"/>
                <a:cs typeface="Times New Roman"/>
              </a:rPr>
              <a:t> </a:t>
            </a:r>
            <a:r>
              <a:rPr lang="en-US" spc="-5" dirty="0">
                <a:latin typeface="Times New Roman"/>
                <a:cs typeface="Times New Roman"/>
              </a:rPr>
              <a:t>parallel</a:t>
            </a:r>
            <a:r>
              <a:rPr lang="en-US" spc="-50" dirty="0">
                <a:latin typeface="Times New Roman"/>
                <a:cs typeface="Times New Roman"/>
              </a:rPr>
              <a:t> </a:t>
            </a:r>
            <a:r>
              <a:rPr lang="en-US" spc="-5" dirty="0">
                <a:latin typeface="Times New Roman"/>
                <a:cs typeface="Times New Roman"/>
              </a:rPr>
              <a:t>adder,</a:t>
            </a:r>
            <a:r>
              <a:rPr lang="en-US" spc="-50" dirty="0">
                <a:latin typeface="Times New Roman"/>
                <a:cs typeface="Times New Roman"/>
              </a:rPr>
              <a:t> </a:t>
            </a:r>
            <a:r>
              <a:rPr lang="en-US" spc="-5" dirty="0">
                <a:latin typeface="Times New Roman"/>
                <a:cs typeface="Times New Roman"/>
              </a:rPr>
              <a:t>it</a:t>
            </a:r>
            <a:r>
              <a:rPr lang="en-US" spc="-45" dirty="0">
                <a:latin typeface="Times New Roman"/>
                <a:cs typeface="Times New Roman"/>
              </a:rPr>
              <a:t> </a:t>
            </a:r>
            <a:r>
              <a:rPr lang="en-US" spc="-5" dirty="0">
                <a:latin typeface="Times New Roman"/>
                <a:cs typeface="Times New Roman"/>
              </a:rPr>
              <a:t>is</a:t>
            </a:r>
            <a:r>
              <a:rPr lang="en-US" spc="-50" dirty="0">
                <a:latin typeface="Times New Roman"/>
                <a:cs typeface="Times New Roman"/>
              </a:rPr>
              <a:t> </a:t>
            </a:r>
            <a:r>
              <a:rPr lang="en-US" spc="-5" dirty="0">
                <a:latin typeface="Times New Roman"/>
                <a:cs typeface="Times New Roman"/>
              </a:rPr>
              <a:t>possible  </a:t>
            </a:r>
            <a:r>
              <a:rPr lang="en-US" dirty="0">
                <a:latin typeface="Times New Roman"/>
                <a:cs typeface="Times New Roman"/>
              </a:rPr>
              <a:t>to </a:t>
            </a:r>
            <a:r>
              <a:rPr lang="en-US" spc="-5" dirty="0">
                <a:latin typeface="Times New Roman"/>
                <a:cs typeface="Times New Roman"/>
              </a:rPr>
              <a:t>obtain different types </a:t>
            </a:r>
            <a:r>
              <a:rPr lang="en-US" dirty="0">
                <a:latin typeface="Times New Roman"/>
                <a:cs typeface="Times New Roman"/>
              </a:rPr>
              <a:t>of </a:t>
            </a:r>
            <a:r>
              <a:rPr lang="en-US" spc="-5" dirty="0">
                <a:latin typeface="Times New Roman"/>
                <a:cs typeface="Times New Roman"/>
              </a:rPr>
              <a:t>arithmetic</a:t>
            </a:r>
            <a:r>
              <a:rPr lang="en-US" spc="-20" dirty="0">
                <a:latin typeface="Times New Roman"/>
                <a:cs typeface="Times New Roman"/>
              </a:rPr>
              <a:t> </a:t>
            </a:r>
            <a:r>
              <a:rPr lang="en-US" spc="-5" dirty="0">
                <a:latin typeface="Times New Roman"/>
                <a:cs typeface="Times New Roman"/>
              </a:rPr>
              <a:t>operations.</a:t>
            </a:r>
            <a:endParaRPr lang="en-US" dirty="0">
              <a:latin typeface="Times New Roman"/>
              <a:cs typeface="Times New Roman"/>
            </a:endParaRPr>
          </a:p>
          <a:p>
            <a:pPr marL="469265" marR="6985" lvl="1" indent="-228600" algn="just">
              <a:lnSpc>
                <a:spcPct val="143700"/>
              </a:lnSpc>
              <a:spcBef>
                <a:spcPts val="910"/>
              </a:spcBef>
              <a:buFont typeface="Symbol"/>
              <a:buChar char=""/>
              <a:tabLst>
                <a:tab pos="469900" algn="l"/>
              </a:tabLst>
            </a:pPr>
            <a:r>
              <a:rPr lang="en-US" spc="-5" dirty="0">
                <a:latin typeface="Times New Roman"/>
                <a:cs typeface="Times New Roman"/>
              </a:rPr>
              <a:t>The</a:t>
            </a:r>
            <a:r>
              <a:rPr lang="en-US" spc="-90" dirty="0">
                <a:latin typeface="Times New Roman"/>
                <a:cs typeface="Times New Roman"/>
              </a:rPr>
              <a:t> </a:t>
            </a:r>
            <a:r>
              <a:rPr lang="en-US" spc="-5" dirty="0">
                <a:latin typeface="Times New Roman"/>
                <a:cs typeface="Times New Roman"/>
              </a:rPr>
              <a:t>following</a:t>
            </a:r>
            <a:r>
              <a:rPr lang="en-US" spc="-80" dirty="0">
                <a:latin typeface="Times New Roman"/>
                <a:cs typeface="Times New Roman"/>
              </a:rPr>
              <a:t> </a:t>
            </a:r>
            <a:r>
              <a:rPr lang="en-US" spc="-5" dirty="0">
                <a:latin typeface="Times New Roman"/>
                <a:cs typeface="Times New Roman"/>
              </a:rPr>
              <a:t>figure</a:t>
            </a:r>
            <a:r>
              <a:rPr lang="en-US" spc="-100" dirty="0">
                <a:latin typeface="Times New Roman"/>
                <a:cs typeface="Times New Roman"/>
              </a:rPr>
              <a:t> </a:t>
            </a:r>
            <a:r>
              <a:rPr lang="en-US" spc="-5" dirty="0">
                <a:latin typeface="Times New Roman"/>
                <a:cs typeface="Times New Roman"/>
              </a:rPr>
              <a:t>demonstrates</a:t>
            </a:r>
            <a:r>
              <a:rPr lang="en-US" spc="-90" dirty="0">
                <a:latin typeface="Times New Roman"/>
                <a:cs typeface="Times New Roman"/>
              </a:rPr>
              <a:t> </a:t>
            </a:r>
            <a:r>
              <a:rPr lang="en-US" spc="-5" dirty="0">
                <a:latin typeface="Times New Roman"/>
                <a:cs typeface="Times New Roman"/>
              </a:rPr>
              <a:t>the</a:t>
            </a:r>
            <a:r>
              <a:rPr lang="en-US" spc="-90" dirty="0">
                <a:latin typeface="Times New Roman"/>
                <a:cs typeface="Times New Roman"/>
              </a:rPr>
              <a:t> </a:t>
            </a:r>
            <a:r>
              <a:rPr lang="en-US" spc="-5" dirty="0">
                <a:latin typeface="Times New Roman"/>
                <a:cs typeface="Times New Roman"/>
              </a:rPr>
              <a:t>arithmetic</a:t>
            </a:r>
            <a:r>
              <a:rPr lang="en-US" spc="-95" dirty="0">
                <a:latin typeface="Times New Roman"/>
                <a:cs typeface="Times New Roman"/>
              </a:rPr>
              <a:t> </a:t>
            </a:r>
            <a:r>
              <a:rPr lang="en-US" spc="-5" dirty="0">
                <a:latin typeface="Times New Roman"/>
                <a:cs typeface="Times New Roman"/>
              </a:rPr>
              <a:t>operations</a:t>
            </a:r>
            <a:r>
              <a:rPr lang="en-US" spc="-90" dirty="0">
                <a:latin typeface="Times New Roman"/>
                <a:cs typeface="Times New Roman"/>
              </a:rPr>
              <a:t> </a:t>
            </a:r>
            <a:r>
              <a:rPr lang="en-US" spc="-5" dirty="0">
                <a:latin typeface="Times New Roman"/>
                <a:cs typeface="Times New Roman"/>
              </a:rPr>
              <a:t>obtained</a:t>
            </a:r>
            <a:r>
              <a:rPr lang="en-US" spc="-85" dirty="0">
                <a:latin typeface="Times New Roman"/>
                <a:cs typeface="Times New Roman"/>
              </a:rPr>
              <a:t> </a:t>
            </a:r>
            <a:r>
              <a:rPr lang="en-US" spc="-5" dirty="0">
                <a:latin typeface="Times New Roman"/>
                <a:cs typeface="Times New Roman"/>
              </a:rPr>
              <a:t>when  one set </a:t>
            </a:r>
            <a:r>
              <a:rPr lang="en-US" dirty="0">
                <a:latin typeface="Times New Roman"/>
                <a:cs typeface="Times New Roman"/>
              </a:rPr>
              <a:t>of </a:t>
            </a:r>
            <a:r>
              <a:rPr lang="en-US" spc="-5" dirty="0">
                <a:latin typeface="Times New Roman"/>
                <a:cs typeface="Times New Roman"/>
              </a:rPr>
              <a:t>inputs to the parallel adder is controlled externally. The no </a:t>
            </a:r>
            <a:r>
              <a:rPr lang="en-US" dirty="0">
                <a:latin typeface="Times New Roman"/>
                <a:cs typeface="Times New Roman"/>
              </a:rPr>
              <a:t>of  </a:t>
            </a:r>
            <a:r>
              <a:rPr lang="en-US" spc="-5" dirty="0">
                <a:latin typeface="Times New Roman"/>
                <a:cs typeface="Times New Roman"/>
              </a:rPr>
              <a:t>bits in the parallel adder may be </a:t>
            </a:r>
            <a:r>
              <a:rPr lang="en-US" dirty="0">
                <a:latin typeface="Times New Roman"/>
                <a:cs typeface="Times New Roman"/>
              </a:rPr>
              <a:t>of </a:t>
            </a:r>
            <a:r>
              <a:rPr lang="en-US" spc="-5" dirty="0">
                <a:latin typeface="Times New Roman"/>
                <a:cs typeface="Times New Roman"/>
              </a:rPr>
              <a:t>any</a:t>
            </a:r>
            <a:r>
              <a:rPr lang="en-US" spc="35" dirty="0">
                <a:latin typeface="Times New Roman"/>
                <a:cs typeface="Times New Roman"/>
              </a:rPr>
              <a:t> </a:t>
            </a:r>
            <a:r>
              <a:rPr lang="en-US" spc="-5" dirty="0">
                <a:latin typeface="Times New Roman"/>
                <a:cs typeface="Times New Roman"/>
              </a:rPr>
              <a:t>value.</a:t>
            </a:r>
            <a:endParaRPr lang="en-US" dirty="0">
              <a:latin typeface="Times New Roman"/>
              <a:cs typeface="Times New Roman"/>
            </a:endParaRPr>
          </a:p>
          <a:p>
            <a:endParaRPr lang="en-US" sz="2400" dirty="0"/>
          </a:p>
        </p:txBody>
      </p:sp>
    </p:spTree>
    <p:extLst>
      <p:ext uri="{BB962C8B-B14F-4D97-AF65-F5344CB8AC3E}">
        <p14:creationId xmlns:p14="http://schemas.microsoft.com/office/powerpoint/2010/main" val="592449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6EA0-8C4B-ACBF-3277-E2FA015562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E4F66B-D3EB-C406-E4E8-70181D5BC0D7}"/>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7B786791-C589-073D-8B42-D56EC1399493}"/>
              </a:ext>
            </a:extLst>
          </p:cNvPr>
          <p:cNvPicPr>
            <a:picLocks noChangeAspect="1"/>
          </p:cNvPicPr>
          <p:nvPr/>
        </p:nvPicPr>
        <p:blipFill>
          <a:blip r:embed="rId2"/>
          <a:stretch>
            <a:fillRect/>
          </a:stretch>
        </p:blipFill>
        <p:spPr>
          <a:xfrm>
            <a:off x="2998609" y="207387"/>
            <a:ext cx="5608063" cy="6547213"/>
          </a:xfrm>
          <a:prstGeom prst="rect">
            <a:avLst/>
          </a:prstGeom>
        </p:spPr>
      </p:pic>
    </p:spTree>
    <p:extLst>
      <p:ext uri="{BB962C8B-B14F-4D97-AF65-F5344CB8AC3E}">
        <p14:creationId xmlns:p14="http://schemas.microsoft.com/office/powerpoint/2010/main" val="3685381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D51662-BDBC-D86F-DB0B-3D2B2EA53C1B}"/>
              </a:ext>
            </a:extLst>
          </p:cNvPr>
          <p:cNvSpPr>
            <a:spLocks noGrp="1"/>
          </p:cNvSpPr>
          <p:nvPr>
            <p:ph idx="1"/>
          </p:nvPr>
        </p:nvSpPr>
        <p:spPr>
          <a:xfrm>
            <a:off x="273377" y="263951"/>
            <a:ext cx="11651530" cy="5913012"/>
          </a:xfrm>
        </p:spPr>
        <p:txBody>
          <a:bodyPr/>
          <a:lstStyle/>
          <a:p>
            <a:r>
              <a:rPr lang="en-US" sz="2800" dirty="0">
                <a:latin typeface="Times New Roman"/>
                <a:cs typeface="Times New Roman"/>
              </a:rPr>
              <a:t>By </a:t>
            </a:r>
            <a:r>
              <a:rPr lang="en-US" sz="2800" spc="-5" dirty="0">
                <a:latin typeface="Times New Roman"/>
                <a:cs typeface="Times New Roman"/>
              </a:rPr>
              <a:t>changing the </a:t>
            </a:r>
            <a:r>
              <a:rPr lang="en-US" sz="2800" dirty="0">
                <a:latin typeface="Times New Roman"/>
                <a:cs typeface="Times New Roman"/>
              </a:rPr>
              <a:t>B </a:t>
            </a:r>
            <a:r>
              <a:rPr lang="en-US" sz="2800" spc="-5" dirty="0">
                <a:latin typeface="Times New Roman"/>
                <a:cs typeface="Times New Roman"/>
              </a:rPr>
              <a:t>input and </a:t>
            </a:r>
            <a:r>
              <a:rPr lang="en-US" sz="2800" spc="-5" dirty="0" err="1">
                <a:latin typeface="Times New Roman"/>
                <a:cs typeface="Times New Roman"/>
              </a:rPr>
              <a:t>Cin</a:t>
            </a:r>
            <a:r>
              <a:rPr lang="en-US" sz="2800" spc="-5" dirty="0">
                <a:latin typeface="Times New Roman"/>
                <a:cs typeface="Times New Roman"/>
              </a:rPr>
              <a:t>, </a:t>
            </a:r>
            <a:r>
              <a:rPr lang="en-US" sz="2800" dirty="0">
                <a:latin typeface="Times New Roman"/>
                <a:cs typeface="Times New Roman"/>
              </a:rPr>
              <a:t>we </a:t>
            </a:r>
            <a:r>
              <a:rPr lang="en-US" sz="2800" spc="-5" dirty="0">
                <a:latin typeface="Times New Roman"/>
                <a:cs typeface="Times New Roman"/>
              </a:rPr>
              <a:t>get </a:t>
            </a:r>
            <a:r>
              <a:rPr lang="en-US" sz="2800" dirty="0">
                <a:latin typeface="Times New Roman"/>
                <a:cs typeface="Times New Roman"/>
              </a:rPr>
              <a:t>8 </a:t>
            </a:r>
            <a:r>
              <a:rPr lang="en-US" sz="2800" spc="-5" dirty="0">
                <a:latin typeface="Times New Roman"/>
                <a:cs typeface="Times New Roman"/>
              </a:rPr>
              <a:t>operations. </a:t>
            </a:r>
          </a:p>
          <a:p>
            <a:r>
              <a:rPr lang="en-US" sz="2800" spc="-10" dirty="0">
                <a:latin typeface="Times New Roman"/>
                <a:cs typeface="Times New Roman"/>
              </a:rPr>
              <a:t>So </a:t>
            </a:r>
            <a:r>
              <a:rPr lang="en-US" sz="2800" spc="-5" dirty="0">
                <a:latin typeface="Times New Roman"/>
                <a:cs typeface="Times New Roman"/>
              </a:rPr>
              <a:t>the input </a:t>
            </a:r>
            <a:r>
              <a:rPr lang="en-US" sz="2800" dirty="0">
                <a:latin typeface="Times New Roman"/>
                <a:cs typeface="Times New Roman"/>
              </a:rPr>
              <a:t>B </a:t>
            </a:r>
            <a:r>
              <a:rPr lang="en-US" sz="2800" spc="-5" dirty="0">
                <a:latin typeface="Times New Roman"/>
                <a:cs typeface="Times New Roman"/>
              </a:rPr>
              <a:t>is  applied in four different form </a:t>
            </a:r>
            <a:r>
              <a:rPr lang="en-US" sz="2800" dirty="0">
                <a:latin typeface="Times New Roman"/>
                <a:cs typeface="Times New Roman"/>
              </a:rPr>
              <a:t>by </a:t>
            </a:r>
            <a:r>
              <a:rPr lang="en-US" sz="2800" spc="-5" dirty="0">
                <a:latin typeface="Times New Roman"/>
                <a:cs typeface="Times New Roman"/>
              </a:rPr>
              <a:t>using following circuit. </a:t>
            </a:r>
          </a:p>
          <a:p>
            <a:r>
              <a:rPr lang="en-US" sz="2800" spc="-5" dirty="0">
                <a:latin typeface="Times New Roman"/>
                <a:cs typeface="Times New Roman"/>
              </a:rPr>
              <a:t>The circuit that  controls input </a:t>
            </a:r>
            <a:r>
              <a:rPr lang="en-US" sz="2800" dirty="0">
                <a:latin typeface="Times New Roman"/>
                <a:cs typeface="Times New Roman"/>
              </a:rPr>
              <a:t>B to </a:t>
            </a:r>
            <a:r>
              <a:rPr lang="en-US" sz="2800" spc="-5" dirty="0">
                <a:latin typeface="Times New Roman"/>
                <a:cs typeface="Times New Roman"/>
              </a:rPr>
              <a:t>provide the function </a:t>
            </a:r>
            <a:r>
              <a:rPr lang="en-US" sz="2800" dirty="0">
                <a:latin typeface="Times New Roman"/>
                <a:cs typeface="Times New Roman"/>
              </a:rPr>
              <a:t>is </a:t>
            </a:r>
            <a:r>
              <a:rPr lang="en-US" sz="2800" spc="-5" dirty="0">
                <a:latin typeface="Times New Roman"/>
                <a:cs typeface="Times New Roman"/>
              </a:rPr>
              <a:t>called </a:t>
            </a:r>
            <a:r>
              <a:rPr lang="en-US" sz="2800" dirty="0">
                <a:latin typeface="Times New Roman"/>
                <a:cs typeface="Times New Roman"/>
              </a:rPr>
              <a:t>a </a:t>
            </a:r>
            <a:r>
              <a:rPr lang="en-US" sz="2800" spc="-5" dirty="0">
                <a:latin typeface="Times New Roman"/>
                <a:cs typeface="Times New Roman"/>
              </a:rPr>
              <a:t>true/complement,  one/zero element. </a:t>
            </a:r>
            <a:r>
              <a:rPr lang="en-US" sz="2800" spc="-10" dirty="0">
                <a:latin typeface="Times New Roman"/>
                <a:cs typeface="Times New Roman"/>
              </a:rPr>
              <a:t>This </a:t>
            </a:r>
            <a:r>
              <a:rPr lang="en-US" sz="2800" spc="-5" dirty="0">
                <a:latin typeface="Times New Roman"/>
                <a:cs typeface="Times New Roman"/>
              </a:rPr>
              <a:t>circuit can </a:t>
            </a:r>
            <a:r>
              <a:rPr lang="en-US" sz="2800" dirty="0">
                <a:latin typeface="Times New Roman"/>
                <a:cs typeface="Times New Roman"/>
              </a:rPr>
              <a:t>be </a:t>
            </a:r>
            <a:r>
              <a:rPr lang="en-US" sz="2800" spc="-10" dirty="0">
                <a:latin typeface="Times New Roman"/>
                <a:cs typeface="Times New Roman"/>
              </a:rPr>
              <a:t>shown </a:t>
            </a:r>
            <a:r>
              <a:rPr lang="en-US" sz="2800" dirty="0">
                <a:latin typeface="Times New Roman"/>
                <a:cs typeface="Times New Roman"/>
              </a:rPr>
              <a:t>as</a:t>
            </a:r>
            <a:r>
              <a:rPr lang="en-US" sz="2800" spc="65" dirty="0">
                <a:latin typeface="Times New Roman"/>
                <a:cs typeface="Times New Roman"/>
              </a:rPr>
              <a:t> </a:t>
            </a:r>
            <a:r>
              <a:rPr lang="en-US" sz="2800" spc="-5" dirty="0">
                <a:latin typeface="Times New Roman"/>
                <a:cs typeface="Times New Roman"/>
              </a:rPr>
              <a:t>follows.</a:t>
            </a:r>
          </a:p>
          <a:p>
            <a:pPr marL="0" indent="0">
              <a:buNone/>
            </a:pPr>
            <a:endParaRPr lang="en-US" dirty="0"/>
          </a:p>
        </p:txBody>
      </p:sp>
      <p:sp>
        <p:nvSpPr>
          <p:cNvPr id="4" name="object 5">
            <a:extLst>
              <a:ext uri="{FF2B5EF4-FFF2-40B4-BE49-F238E27FC236}">
                <a16:creationId xmlns:a16="http://schemas.microsoft.com/office/drawing/2014/main" id="{60C71020-3728-81D4-042F-FB366404AA33}"/>
              </a:ext>
            </a:extLst>
          </p:cNvPr>
          <p:cNvSpPr/>
          <p:nvPr/>
        </p:nvSpPr>
        <p:spPr>
          <a:xfrm>
            <a:off x="1588886" y="2569587"/>
            <a:ext cx="5664864" cy="145346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711124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E17D6F-BFAB-295D-F31C-6101E8218D8E}"/>
              </a:ext>
            </a:extLst>
          </p:cNvPr>
          <p:cNvSpPr>
            <a:spLocks noGrp="1"/>
          </p:cNvSpPr>
          <p:nvPr>
            <p:ph idx="1"/>
          </p:nvPr>
        </p:nvSpPr>
        <p:spPr>
          <a:xfrm>
            <a:off x="216816" y="226243"/>
            <a:ext cx="11136984" cy="5950720"/>
          </a:xfrm>
        </p:spPr>
        <p:txBody>
          <a:bodyPr>
            <a:normAutofit/>
          </a:bodyPr>
          <a:lstStyle/>
          <a:p>
            <a:r>
              <a:rPr lang="en-US" sz="2400" spc="-5" dirty="0">
                <a:latin typeface="Times New Roman"/>
                <a:cs typeface="Times New Roman"/>
              </a:rPr>
              <a:t>The</a:t>
            </a:r>
            <a:r>
              <a:rPr lang="en-US" sz="2400" spc="-30" dirty="0">
                <a:latin typeface="Times New Roman"/>
                <a:cs typeface="Times New Roman"/>
              </a:rPr>
              <a:t> </a:t>
            </a:r>
            <a:r>
              <a:rPr lang="en-US" sz="2400" dirty="0">
                <a:latin typeface="Times New Roman"/>
                <a:cs typeface="Times New Roman"/>
              </a:rPr>
              <a:t>A</a:t>
            </a:r>
            <a:r>
              <a:rPr lang="en-US" sz="2400" spc="-20" dirty="0">
                <a:latin typeface="Times New Roman"/>
                <a:cs typeface="Times New Roman"/>
              </a:rPr>
              <a:t> </a:t>
            </a:r>
            <a:r>
              <a:rPr lang="en-US" sz="2400" spc="-5" dirty="0">
                <a:latin typeface="Times New Roman"/>
                <a:cs typeface="Times New Roman"/>
              </a:rPr>
              <a:t>input</a:t>
            </a:r>
            <a:r>
              <a:rPr lang="en-US" sz="2400" spc="-20" dirty="0">
                <a:latin typeface="Times New Roman"/>
                <a:cs typeface="Times New Roman"/>
              </a:rPr>
              <a:t> </a:t>
            </a:r>
            <a:r>
              <a:rPr lang="en-US" sz="2400" spc="-5" dirty="0">
                <a:latin typeface="Times New Roman"/>
                <a:cs typeface="Times New Roman"/>
              </a:rPr>
              <a:t>is</a:t>
            </a:r>
            <a:r>
              <a:rPr lang="en-US" sz="2400" spc="-25" dirty="0">
                <a:latin typeface="Times New Roman"/>
                <a:cs typeface="Times New Roman"/>
              </a:rPr>
              <a:t> </a:t>
            </a:r>
            <a:r>
              <a:rPr lang="en-US" sz="2400" spc="-5" dirty="0">
                <a:latin typeface="Times New Roman"/>
                <a:cs typeface="Times New Roman"/>
              </a:rPr>
              <a:t>applied</a:t>
            </a:r>
            <a:r>
              <a:rPr lang="en-US" sz="2400" spc="-20" dirty="0">
                <a:latin typeface="Times New Roman"/>
                <a:cs typeface="Times New Roman"/>
              </a:rPr>
              <a:t> </a:t>
            </a:r>
            <a:r>
              <a:rPr lang="en-US" sz="2400" spc="-5" dirty="0">
                <a:latin typeface="Times New Roman"/>
                <a:cs typeface="Times New Roman"/>
              </a:rPr>
              <a:t>directly</a:t>
            </a:r>
            <a:r>
              <a:rPr lang="en-US" sz="2400" spc="-20" dirty="0">
                <a:latin typeface="Times New Roman"/>
                <a:cs typeface="Times New Roman"/>
              </a:rPr>
              <a:t> </a:t>
            </a:r>
            <a:r>
              <a:rPr lang="en-US" sz="2400" spc="-5" dirty="0">
                <a:latin typeface="Times New Roman"/>
                <a:cs typeface="Times New Roman"/>
              </a:rPr>
              <a:t>to</a:t>
            </a:r>
            <a:r>
              <a:rPr lang="en-US" sz="2400" spc="-25" dirty="0">
                <a:latin typeface="Times New Roman"/>
                <a:cs typeface="Times New Roman"/>
              </a:rPr>
              <a:t> </a:t>
            </a:r>
            <a:r>
              <a:rPr lang="en-US" sz="2400" spc="-5" dirty="0">
                <a:latin typeface="Times New Roman"/>
                <a:cs typeface="Times New Roman"/>
              </a:rPr>
              <a:t>the</a:t>
            </a:r>
            <a:r>
              <a:rPr lang="en-US" sz="2400" spc="-15" dirty="0">
                <a:latin typeface="Times New Roman"/>
                <a:cs typeface="Times New Roman"/>
              </a:rPr>
              <a:t> </a:t>
            </a:r>
            <a:r>
              <a:rPr lang="en-US" sz="2400" spc="-5" dirty="0">
                <a:latin typeface="Times New Roman"/>
                <a:cs typeface="Times New Roman"/>
              </a:rPr>
              <a:t>4-bit</a:t>
            </a:r>
            <a:r>
              <a:rPr lang="en-US" sz="2400" spc="-20" dirty="0">
                <a:latin typeface="Times New Roman"/>
                <a:cs typeface="Times New Roman"/>
              </a:rPr>
              <a:t> </a:t>
            </a:r>
            <a:r>
              <a:rPr lang="en-US" sz="2400" spc="-5" dirty="0">
                <a:latin typeface="Times New Roman"/>
                <a:cs typeface="Times New Roman"/>
              </a:rPr>
              <a:t>parallel</a:t>
            </a:r>
            <a:r>
              <a:rPr lang="en-US" sz="2400" spc="-25" dirty="0">
                <a:latin typeface="Times New Roman"/>
                <a:cs typeface="Times New Roman"/>
              </a:rPr>
              <a:t> </a:t>
            </a:r>
            <a:r>
              <a:rPr lang="en-US" sz="2400" spc="-5" dirty="0">
                <a:latin typeface="Times New Roman"/>
                <a:cs typeface="Times New Roman"/>
              </a:rPr>
              <a:t>adder</a:t>
            </a:r>
            <a:r>
              <a:rPr lang="en-US" sz="2400" spc="-20" dirty="0">
                <a:latin typeface="Times New Roman"/>
                <a:cs typeface="Times New Roman"/>
              </a:rPr>
              <a:t> </a:t>
            </a:r>
            <a:r>
              <a:rPr lang="en-US" sz="2400" spc="-5" dirty="0">
                <a:latin typeface="Times New Roman"/>
                <a:cs typeface="Times New Roman"/>
              </a:rPr>
              <a:t>and</a:t>
            </a:r>
            <a:r>
              <a:rPr lang="en-US" sz="2400" spc="-20" dirty="0">
                <a:latin typeface="Times New Roman"/>
                <a:cs typeface="Times New Roman"/>
              </a:rPr>
              <a:t> </a:t>
            </a:r>
            <a:r>
              <a:rPr lang="en-US" sz="2400" spc="-5" dirty="0">
                <a:latin typeface="Times New Roman"/>
                <a:cs typeface="Times New Roman"/>
              </a:rPr>
              <a:t>the</a:t>
            </a:r>
            <a:r>
              <a:rPr lang="en-US" sz="2400" spc="-40" dirty="0">
                <a:latin typeface="Times New Roman"/>
                <a:cs typeface="Times New Roman"/>
              </a:rPr>
              <a:t> </a:t>
            </a:r>
            <a:r>
              <a:rPr lang="en-US" sz="2400" dirty="0">
                <a:latin typeface="Times New Roman"/>
                <a:cs typeface="Times New Roman"/>
              </a:rPr>
              <a:t>B</a:t>
            </a:r>
            <a:r>
              <a:rPr lang="en-US" sz="2400" spc="-25" dirty="0">
                <a:latin typeface="Times New Roman"/>
                <a:cs typeface="Times New Roman"/>
              </a:rPr>
              <a:t> </a:t>
            </a:r>
            <a:r>
              <a:rPr lang="en-US" sz="2400" spc="-5" dirty="0">
                <a:latin typeface="Times New Roman"/>
                <a:cs typeface="Times New Roman"/>
              </a:rPr>
              <a:t>input</a:t>
            </a:r>
            <a:r>
              <a:rPr lang="en-US" sz="2400" spc="-20" dirty="0">
                <a:latin typeface="Times New Roman"/>
                <a:cs typeface="Times New Roman"/>
              </a:rPr>
              <a:t> </a:t>
            </a:r>
            <a:r>
              <a:rPr lang="en-US" sz="2400" spc="-5" dirty="0">
                <a:latin typeface="Times New Roman"/>
                <a:cs typeface="Times New Roman"/>
              </a:rPr>
              <a:t>is  modified. The resultant arithmetic circuit is shown in below</a:t>
            </a:r>
            <a:r>
              <a:rPr lang="en-US" sz="2400" spc="65" dirty="0">
                <a:latin typeface="Times New Roman"/>
                <a:cs typeface="Times New Roman"/>
              </a:rPr>
              <a:t> </a:t>
            </a:r>
            <a:r>
              <a:rPr lang="en-US" sz="2400" spc="-5" dirty="0">
                <a:latin typeface="Times New Roman"/>
                <a:cs typeface="Times New Roman"/>
              </a:rPr>
              <a:t>figure.</a:t>
            </a:r>
            <a:endParaRPr lang="en-US" sz="2400" dirty="0">
              <a:latin typeface="Times New Roman"/>
              <a:cs typeface="Times New Roman"/>
            </a:endParaRPr>
          </a:p>
          <a:p>
            <a:endParaRPr lang="en-US" sz="2400" dirty="0"/>
          </a:p>
        </p:txBody>
      </p:sp>
      <p:sp>
        <p:nvSpPr>
          <p:cNvPr id="4" name="object 6">
            <a:extLst>
              <a:ext uri="{FF2B5EF4-FFF2-40B4-BE49-F238E27FC236}">
                <a16:creationId xmlns:a16="http://schemas.microsoft.com/office/drawing/2014/main" id="{EB7C1E32-5B7C-F715-342A-0B813FC00147}"/>
              </a:ext>
            </a:extLst>
          </p:cNvPr>
          <p:cNvSpPr/>
          <p:nvPr/>
        </p:nvSpPr>
        <p:spPr>
          <a:xfrm>
            <a:off x="2309566" y="1159497"/>
            <a:ext cx="7258639" cy="5333378"/>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657868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2">
            <a:extLst>
              <a:ext uri="{FF2B5EF4-FFF2-40B4-BE49-F238E27FC236}">
                <a16:creationId xmlns:a16="http://schemas.microsoft.com/office/drawing/2014/main" id="{4EA29E3C-9E59-E9CF-9249-080D521C93B5}"/>
              </a:ext>
            </a:extLst>
          </p:cNvPr>
          <p:cNvGraphicFramePr>
            <a:graphicFrameLocks noGrp="1"/>
          </p:cNvGraphicFramePr>
          <p:nvPr>
            <p:extLst>
              <p:ext uri="{D42A27DB-BD31-4B8C-83A1-F6EECF244321}">
                <p14:modId xmlns:p14="http://schemas.microsoft.com/office/powerpoint/2010/main" val="3487023491"/>
              </p:ext>
            </p:extLst>
          </p:nvPr>
        </p:nvGraphicFramePr>
        <p:xfrm>
          <a:off x="1371852" y="914398"/>
          <a:ext cx="9195594" cy="5722071"/>
        </p:xfrm>
        <a:graphic>
          <a:graphicData uri="http://schemas.openxmlformats.org/drawingml/2006/table">
            <a:tbl>
              <a:tblPr firstRow="1" bandRow="1">
                <a:tableStyleId>{2D5ABB26-0587-4C30-8999-92F81FD0307C}</a:tableStyleId>
              </a:tblPr>
              <a:tblGrid>
                <a:gridCol w="569438">
                  <a:extLst>
                    <a:ext uri="{9D8B030D-6E8A-4147-A177-3AD203B41FA5}">
                      <a16:colId xmlns:a16="http://schemas.microsoft.com/office/drawing/2014/main" val="20000"/>
                    </a:ext>
                  </a:extLst>
                </a:gridCol>
                <a:gridCol w="730366">
                  <a:extLst>
                    <a:ext uri="{9D8B030D-6E8A-4147-A177-3AD203B41FA5}">
                      <a16:colId xmlns:a16="http://schemas.microsoft.com/office/drawing/2014/main" val="20001"/>
                    </a:ext>
                  </a:extLst>
                </a:gridCol>
                <a:gridCol w="876851">
                  <a:extLst>
                    <a:ext uri="{9D8B030D-6E8A-4147-A177-3AD203B41FA5}">
                      <a16:colId xmlns:a16="http://schemas.microsoft.com/office/drawing/2014/main" val="20002"/>
                    </a:ext>
                  </a:extLst>
                </a:gridCol>
                <a:gridCol w="1170854">
                  <a:extLst>
                    <a:ext uri="{9D8B030D-6E8A-4147-A177-3AD203B41FA5}">
                      <a16:colId xmlns:a16="http://schemas.microsoft.com/office/drawing/2014/main" val="20003"/>
                    </a:ext>
                  </a:extLst>
                </a:gridCol>
                <a:gridCol w="2047707">
                  <a:extLst>
                    <a:ext uri="{9D8B030D-6E8A-4147-A177-3AD203B41FA5}">
                      <a16:colId xmlns:a16="http://schemas.microsoft.com/office/drawing/2014/main" val="20004"/>
                    </a:ext>
                  </a:extLst>
                </a:gridCol>
                <a:gridCol w="3800378">
                  <a:extLst>
                    <a:ext uri="{9D8B030D-6E8A-4147-A177-3AD203B41FA5}">
                      <a16:colId xmlns:a16="http://schemas.microsoft.com/office/drawing/2014/main" val="20005"/>
                    </a:ext>
                  </a:extLst>
                </a:gridCol>
              </a:tblGrid>
              <a:tr h="385581">
                <a:tc gridSpan="3">
                  <a:txBody>
                    <a:bodyPr/>
                    <a:lstStyle/>
                    <a:p>
                      <a:pPr marL="68580">
                        <a:lnSpc>
                          <a:spcPts val="1560"/>
                        </a:lnSpc>
                      </a:pPr>
                      <a:r>
                        <a:rPr sz="2000" b="1" spc="-5" dirty="0">
                          <a:latin typeface="Times New Roman"/>
                          <a:cs typeface="Times New Roman"/>
                        </a:rPr>
                        <a:t>Function</a:t>
                      </a:r>
                      <a:r>
                        <a:rPr sz="2000" b="1" spc="-15" dirty="0">
                          <a:latin typeface="Times New Roman"/>
                          <a:cs typeface="Times New Roman"/>
                        </a:rPr>
                        <a:t> </a:t>
                      </a:r>
                      <a:r>
                        <a:rPr sz="2000" b="1" spc="-5" dirty="0">
                          <a:latin typeface="Times New Roman"/>
                          <a:cs typeface="Times New Roman"/>
                        </a:rPr>
                        <a:t>select</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rowSpan="2">
                  <a:txBody>
                    <a:bodyPr/>
                    <a:lstStyle/>
                    <a:p>
                      <a:pPr algn="ctr">
                        <a:lnSpc>
                          <a:spcPts val="1580"/>
                        </a:lnSpc>
                      </a:pPr>
                      <a:r>
                        <a:rPr sz="2000" b="1" dirty="0">
                          <a:latin typeface="Times New Roman"/>
                          <a:cs typeface="Times New Roman"/>
                        </a:rPr>
                        <a:t>Y</a:t>
                      </a:r>
                      <a:endParaRPr sz="2000" b="1">
                        <a:latin typeface="Times New Roman"/>
                        <a:cs typeface="Times New Roman"/>
                      </a:endParaRPr>
                    </a:p>
                    <a:p>
                      <a:pPr algn="ctr">
                        <a:lnSpc>
                          <a:spcPts val="1645"/>
                        </a:lnSpc>
                      </a:pPr>
                      <a:r>
                        <a:rPr sz="2000" b="1" dirty="0">
                          <a:latin typeface="Times New Roman"/>
                          <a:cs typeface="Times New Roman"/>
                        </a:rPr>
                        <a:t>equals</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7945">
                        <a:lnSpc>
                          <a:spcPts val="1614"/>
                        </a:lnSpc>
                      </a:pPr>
                      <a:r>
                        <a:rPr sz="2000" b="1" dirty="0">
                          <a:latin typeface="Times New Roman"/>
                          <a:cs typeface="Times New Roman"/>
                        </a:rPr>
                        <a:t>Output</a:t>
                      </a:r>
                      <a:r>
                        <a:rPr sz="2000" b="1" spc="-30" dirty="0">
                          <a:latin typeface="Times New Roman"/>
                          <a:cs typeface="Times New Roman"/>
                        </a:rPr>
                        <a:t> </a:t>
                      </a:r>
                      <a:r>
                        <a:rPr sz="2000" b="1" spc="-5" dirty="0">
                          <a:latin typeface="Times New Roman"/>
                          <a:cs typeface="Times New Roman"/>
                        </a:rPr>
                        <a:t>equals</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rowSpan="2">
                  <a:txBody>
                    <a:bodyPr/>
                    <a:lstStyle/>
                    <a:p>
                      <a:pPr marL="67945">
                        <a:lnSpc>
                          <a:spcPts val="1614"/>
                        </a:lnSpc>
                      </a:pPr>
                      <a:r>
                        <a:rPr sz="2000" b="1" spc="-5" dirty="0">
                          <a:latin typeface="Times New Roman"/>
                          <a:cs typeface="Times New Roman"/>
                        </a:rPr>
                        <a:t>Function</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387906">
                <a:tc>
                  <a:txBody>
                    <a:bodyPr/>
                    <a:lstStyle/>
                    <a:p>
                      <a:pPr marL="68580">
                        <a:lnSpc>
                          <a:spcPts val="1570"/>
                        </a:lnSpc>
                      </a:pPr>
                      <a:r>
                        <a:rPr sz="2000" b="1" spc="-5" dirty="0">
                          <a:latin typeface="Times New Roman"/>
                          <a:cs typeface="Times New Roman"/>
                        </a:rPr>
                        <a:t>S1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42545">
                        <a:lnSpc>
                          <a:spcPts val="1570"/>
                        </a:lnSpc>
                      </a:pPr>
                      <a:r>
                        <a:rPr sz="2000" b="1" spc="-5" dirty="0">
                          <a:latin typeface="Times New Roman"/>
                          <a:cs typeface="Times New Roman"/>
                        </a:rPr>
                        <a:t>S0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2000" b="1" spc="5" dirty="0">
                          <a:latin typeface="Times New Roman"/>
                          <a:cs typeface="Times New Roman"/>
                        </a:rPr>
                        <a:t>Cin</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vMerge="1">
                  <a:txBody>
                    <a:bodyPr/>
                    <a:lstStyle/>
                    <a:p>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616742">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F=A</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Transfer </a:t>
                      </a:r>
                      <a:r>
                        <a:rPr sz="2000" b="1" dirty="0">
                          <a:latin typeface="Times New Roman"/>
                          <a:cs typeface="Times New Roman"/>
                        </a:rPr>
                        <a:t>A</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619532">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F=A+1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Increment</a:t>
                      </a:r>
                      <a:r>
                        <a:rPr sz="2000" b="1" spc="-20" dirty="0">
                          <a:latin typeface="Times New Roman"/>
                          <a:cs typeface="Times New Roman"/>
                        </a:rPr>
                        <a:t> </a:t>
                      </a:r>
                      <a:r>
                        <a:rPr sz="2000" b="1" dirty="0">
                          <a:latin typeface="Times New Roman"/>
                          <a:cs typeface="Times New Roman"/>
                        </a:rPr>
                        <a:t>A</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619532">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F=A+B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Add </a:t>
                      </a:r>
                      <a:r>
                        <a:rPr sz="2000" b="1" dirty="0">
                          <a:latin typeface="Times New Roman"/>
                          <a:cs typeface="Times New Roman"/>
                        </a:rPr>
                        <a:t>B </a:t>
                      </a:r>
                      <a:r>
                        <a:rPr sz="2000" b="1" spc="-5" dirty="0">
                          <a:latin typeface="Times New Roman"/>
                          <a:cs typeface="Times New Roman"/>
                        </a:rPr>
                        <a:t>to</a:t>
                      </a:r>
                      <a:r>
                        <a:rPr sz="2000" b="1" spc="-25" dirty="0">
                          <a:latin typeface="Times New Roman"/>
                          <a:cs typeface="Times New Roman"/>
                        </a:rPr>
                        <a:t> </a:t>
                      </a:r>
                      <a:r>
                        <a:rPr sz="2000" b="1" dirty="0">
                          <a:latin typeface="Times New Roman"/>
                          <a:cs typeface="Times New Roman"/>
                        </a:rPr>
                        <a:t>A</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616743">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F=A+B+1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Add </a:t>
                      </a:r>
                      <a:r>
                        <a:rPr sz="2000" b="1" dirty="0">
                          <a:latin typeface="Times New Roman"/>
                          <a:cs typeface="Times New Roman"/>
                        </a:rPr>
                        <a:t>B </a:t>
                      </a:r>
                      <a:r>
                        <a:rPr sz="2000" b="1" spc="-5" dirty="0">
                          <a:latin typeface="Times New Roman"/>
                          <a:cs typeface="Times New Roman"/>
                        </a:rPr>
                        <a:t>to </a:t>
                      </a:r>
                      <a:r>
                        <a:rPr sz="2000" b="1" dirty="0">
                          <a:latin typeface="Times New Roman"/>
                          <a:cs typeface="Times New Roman"/>
                        </a:rPr>
                        <a:t>A </a:t>
                      </a:r>
                      <a:r>
                        <a:rPr sz="2000" b="1" spc="-5" dirty="0">
                          <a:latin typeface="Times New Roman"/>
                          <a:cs typeface="Times New Roman"/>
                        </a:rPr>
                        <a:t>plus</a:t>
                      </a:r>
                      <a:r>
                        <a:rPr sz="2000" b="1" spc="-35" dirty="0">
                          <a:latin typeface="Times New Roman"/>
                          <a:cs typeface="Times New Roman"/>
                        </a:rPr>
                        <a:t> </a:t>
                      </a: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620229">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F=A+B’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Add </a:t>
                      </a:r>
                      <a:r>
                        <a:rPr sz="2000" b="1" dirty="0">
                          <a:latin typeface="Times New Roman"/>
                          <a:cs typeface="Times New Roman"/>
                        </a:rPr>
                        <a:t>1’s </a:t>
                      </a:r>
                      <a:r>
                        <a:rPr sz="2000" b="1" spc="-5" dirty="0">
                          <a:latin typeface="Times New Roman"/>
                          <a:cs typeface="Times New Roman"/>
                        </a:rPr>
                        <a:t>complement </a:t>
                      </a:r>
                      <a:r>
                        <a:rPr sz="2000" b="1" dirty="0">
                          <a:latin typeface="Times New Roman"/>
                          <a:cs typeface="Times New Roman"/>
                        </a:rPr>
                        <a:t>of B </a:t>
                      </a:r>
                      <a:r>
                        <a:rPr sz="2000" b="1" spc="-5" dirty="0">
                          <a:latin typeface="Times New Roman"/>
                          <a:cs typeface="Times New Roman"/>
                        </a:rPr>
                        <a:t>to</a:t>
                      </a:r>
                      <a:r>
                        <a:rPr sz="2000" b="1" spc="-55" dirty="0">
                          <a:latin typeface="Times New Roman"/>
                          <a:cs typeface="Times New Roman"/>
                        </a:rPr>
                        <a:t> </a:t>
                      </a:r>
                      <a:r>
                        <a:rPr sz="2000" b="1" dirty="0">
                          <a:latin typeface="Times New Roman"/>
                          <a:cs typeface="Times New Roman"/>
                        </a:rPr>
                        <a:t>A</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619532">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F=A+B’+1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Add </a:t>
                      </a:r>
                      <a:r>
                        <a:rPr sz="2000" b="1" dirty="0">
                          <a:latin typeface="Times New Roman"/>
                          <a:cs typeface="Times New Roman"/>
                        </a:rPr>
                        <a:t>2’s </a:t>
                      </a:r>
                      <a:r>
                        <a:rPr sz="2000" b="1" spc="-5" dirty="0">
                          <a:latin typeface="Times New Roman"/>
                          <a:cs typeface="Times New Roman"/>
                        </a:rPr>
                        <a:t>complement </a:t>
                      </a:r>
                      <a:r>
                        <a:rPr sz="2000" b="1" dirty="0">
                          <a:latin typeface="Times New Roman"/>
                          <a:cs typeface="Times New Roman"/>
                        </a:rPr>
                        <a:t>of B </a:t>
                      </a:r>
                      <a:r>
                        <a:rPr sz="2000" b="1" spc="-5" dirty="0">
                          <a:latin typeface="Times New Roman"/>
                          <a:cs typeface="Times New Roman"/>
                        </a:rPr>
                        <a:t>to</a:t>
                      </a:r>
                      <a:r>
                        <a:rPr sz="2000" b="1" spc="-60" dirty="0">
                          <a:latin typeface="Times New Roman"/>
                          <a:cs typeface="Times New Roman"/>
                        </a:rPr>
                        <a:t> </a:t>
                      </a:r>
                      <a:r>
                        <a:rPr sz="2000" b="1" dirty="0">
                          <a:latin typeface="Times New Roman"/>
                          <a:cs typeface="Times New Roman"/>
                        </a:rPr>
                        <a:t>A</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616742">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All</a:t>
                      </a:r>
                      <a:r>
                        <a:rPr sz="2000" b="1" spc="-15" dirty="0">
                          <a:latin typeface="Times New Roman"/>
                          <a:cs typeface="Times New Roman"/>
                        </a:rPr>
                        <a:t> </a:t>
                      </a:r>
                      <a:r>
                        <a:rPr sz="2000" b="1" spc="-5" dirty="0">
                          <a:latin typeface="Times New Roman"/>
                          <a:cs typeface="Times New Roman"/>
                        </a:rPr>
                        <a:t>1’s</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F=A-1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Decrement</a:t>
                      </a:r>
                      <a:r>
                        <a:rPr sz="2000" b="1" spc="-20" dirty="0">
                          <a:latin typeface="Times New Roman"/>
                          <a:cs typeface="Times New Roman"/>
                        </a:rPr>
                        <a:t> </a:t>
                      </a:r>
                      <a:r>
                        <a:rPr sz="2000" b="1" dirty="0">
                          <a:latin typeface="Times New Roman"/>
                          <a:cs typeface="Times New Roman"/>
                        </a:rPr>
                        <a:t>A</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619532">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All</a:t>
                      </a:r>
                      <a:r>
                        <a:rPr sz="2000" b="1" spc="-15" dirty="0">
                          <a:latin typeface="Times New Roman"/>
                          <a:cs typeface="Times New Roman"/>
                        </a:rPr>
                        <a:t> </a:t>
                      </a:r>
                      <a:r>
                        <a:rPr sz="2000" b="1" spc="-5" dirty="0">
                          <a:latin typeface="Times New Roman"/>
                          <a:cs typeface="Times New Roman"/>
                        </a:rPr>
                        <a:t>1’s</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F=A</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Transfer </a:t>
                      </a:r>
                      <a:r>
                        <a:rPr sz="2000" b="1" dirty="0">
                          <a:latin typeface="Times New Roman"/>
                          <a:cs typeface="Times New Roman"/>
                        </a:rPr>
                        <a:t>A</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7252370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227E13-D838-325C-73FF-3984C1B819CC}"/>
              </a:ext>
            </a:extLst>
          </p:cNvPr>
          <p:cNvSpPr>
            <a:spLocks noGrp="1"/>
          </p:cNvSpPr>
          <p:nvPr>
            <p:ph idx="1"/>
          </p:nvPr>
        </p:nvSpPr>
        <p:spPr>
          <a:xfrm>
            <a:off x="377072" y="405353"/>
            <a:ext cx="10976728" cy="5771610"/>
          </a:xfrm>
        </p:spPr>
        <p:txBody>
          <a:bodyPr>
            <a:normAutofit/>
          </a:bodyPr>
          <a:lstStyle/>
          <a:p>
            <a:pPr marL="12065" indent="0">
              <a:lnSpc>
                <a:spcPct val="100000"/>
              </a:lnSpc>
              <a:spcBef>
                <a:spcPts val="95"/>
              </a:spcBef>
              <a:buNone/>
              <a:tabLst>
                <a:tab pos="288290" algn="l"/>
              </a:tabLst>
            </a:pPr>
            <a:r>
              <a:rPr lang="en-US" sz="2400" b="1" spc="-5" dirty="0">
                <a:latin typeface="Times New Roman"/>
                <a:cs typeface="Times New Roman"/>
              </a:rPr>
              <a:t>Design of Logic</a:t>
            </a:r>
            <a:r>
              <a:rPr lang="en-US" sz="2400" b="1" spc="-10" dirty="0">
                <a:latin typeface="Times New Roman"/>
                <a:cs typeface="Times New Roman"/>
              </a:rPr>
              <a:t> </a:t>
            </a:r>
            <a:r>
              <a:rPr lang="en-US" sz="2400" b="1" spc="-5" dirty="0">
                <a:latin typeface="Times New Roman"/>
                <a:cs typeface="Times New Roman"/>
              </a:rPr>
              <a:t>circuit</a:t>
            </a:r>
            <a:endParaRPr lang="en-US" sz="2400" dirty="0">
              <a:latin typeface="Times New Roman"/>
              <a:cs typeface="Times New Roman"/>
            </a:endParaRPr>
          </a:p>
          <a:p>
            <a:pPr marL="469265" marR="5080" lvl="1" indent="-228600" algn="just">
              <a:lnSpc>
                <a:spcPct val="143600"/>
              </a:lnSpc>
              <a:buFont typeface="Symbol"/>
              <a:buChar char=""/>
              <a:tabLst>
                <a:tab pos="469900" algn="l"/>
              </a:tabLst>
            </a:pPr>
            <a:r>
              <a:rPr lang="en-US" spc="-5" dirty="0">
                <a:latin typeface="Times New Roman"/>
                <a:cs typeface="Times New Roman"/>
              </a:rPr>
              <a:t>The</a:t>
            </a:r>
            <a:r>
              <a:rPr lang="en-US" spc="-40" dirty="0">
                <a:latin typeface="Times New Roman"/>
                <a:cs typeface="Times New Roman"/>
              </a:rPr>
              <a:t> </a:t>
            </a:r>
            <a:r>
              <a:rPr lang="en-US" spc="-5" dirty="0">
                <a:latin typeface="Times New Roman"/>
                <a:cs typeface="Times New Roman"/>
              </a:rPr>
              <a:t>logic</a:t>
            </a:r>
            <a:r>
              <a:rPr lang="en-US" spc="-40" dirty="0">
                <a:latin typeface="Times New Roman"/>
                <a:cs typeface="Times New Roman"/>
              </a:rPr>
              <a:t> </a:t>
            </a:r>
            <a:r>
              <a:rPr lang="en-US" spc="-5" dirty="0">
                <a:latin typeface="Times New Roman"/>
                <a:cs typeface="Times New Roman"/>
              </a:rPr>
              <a:t>microoperation</a:t>
            </a:r>
            <a:r>
              <a:rPr lang="en-US" spc="-50" dirty="0">
                <a:latin typeface="Times New Roman"/>
                <a:cs typeface="Times New Roman"/>
              </a:rPr>
              <a:t> </a:t>
            </a:r>
            <a:r>
              <a:rPr lang="en-US" spc="-5" dirty="0">
                <a:latin typeface="Times New Roman"/>
                <a:cs typeface="Times New Roman"/>
              </a:rPr>
              <a:t>manipulates</a:t>
            </a:r>
            <a:r>
              <a:rPr lang="en-US" spc="-30" dirty="0">
                <a:latin typeface="Times New Roman"/>
                <a:cs typeface="Times New Roman"/>
              </a:rPr>
              <a:t> </a:t>
            </a:r>
            <a:r>
              <a:rPr lang="en-US" spc="-5" dirty="0">
                <a:latin typeface="Times New Roman"/>
                <a:cs typeface="Times New Roman"/>
              </a:rPr>
              <a:t>bits</a:t>
            </a:r>
            <a:r>
              <a:rPr lang="en-US" spc="-50" dirty="0">
                <a:latin typeface="Times New Roman"/>
                <a:cs typeface="Times New Roman"/>
              </a:rPr>
              <a:t> </a:t>
            </a:r>
            <a:r>
              <a:rPr lang="en-US" dirty="0">
                <a:latin typeface="Times New Roman"/>
                <a:cs typeface="Times New Roman"/>
              </a:rPr>
              <a:t>of</a:t>
            </a:r>
            <a:r>
              <a:rPr lang="en-US" spc="-40" dirty="0">
                <a:latin typeface="Times New Roman"/>
                <a:cs typeface="Times New Roman"/>
              </a:rPr>
              <a:t> </a:t>
            </a:r>
            <a:r>
              <a:rPr lang="en-US" spc="-5" dirty="0">
                <a:latin typeface="Times New Roman"/>
                <a:cs typeface="Times New Roman"/>
              </a:rPr>
              <a:t>operands</a:t>
            </a:r>
            <a:r>
              <a:rPr lang="en-US" spc="-30" dirty="0">
                <a:latin typeface="Times New Roman"/>
                <a:cs typeface="Times New Roman"/>
              </a:rPr>
              <a:t> </a:t>
            </a:r>
            <a:r>
              <a:rPr lang="en-US" spc="-5" dirty="0">
                <a:latin typeface="Times New Roman"/>
                <a:cs typeface="Times New Roman"/>
              </a:rPr>
              <a:t>separately</a:t>
            </a:r>
            <a:r>
              <a:rPr lang="en-US" spc="-35" dirty="0">
                <a:latin typeface="Times New Roman"/>
                <a:cs typeface="Times New Roman"/>
              </a:rPr>
              <a:t> </a:t>
            </a:r>
            <a:r>
              <a:rPr lang="en-US" spc="-5" dirty="0">
                <a:latin typeface="Times New Roman"/>
                <a:cs typeface="Times New Roman"/>
              </a:rPr>
              <a:t>and</a:t>
            </a:r>
            <a:r>
              <a:rPr lang="en-US" spc="-50" dirty="0">
                <a:latin typeface="Times New Roman"/>
                <a:cs typeface="Times New Roman"/>
              </a:rPr>
              <a:t> </a:t>
            </a:r>
            <a:r>
              <a:rPr lang="en-US" spc="-5" dirty="0">
                <a:latin typeface="Times New Roman"/>
                <a:cs typeface="Times New Roman"/>
              </a:rPr>
              <a:t>treat  </a:t>
            </a:r>
            <a:r>
              <a:rPr lang="en-US" dirty="0">
                <a:latin typeface="Times New Roman"/>
                <a:cs typeface="Times New Roman"/>
              </a:rPr>
              <a:t>each </a:t>
            </a:r>
            <a:r>
              <a:rPr lang="en-US" spc="-5" dirty="0">
                <a:latin typeface="Times New Roman"/>
                <a:cs typeface="Times New Roman"/>
              </a:rPr>
              <a:t>bit </a:t>
            </a:r>
            <a:r>
              <a:rPr lang="en-US" spc="-10" dirty="0">
                <a:latin typeface="Times New Roman"/>
                <a:cs typeface="Times New Roman"/>
              </a:rPr>
              <a:t>as </a:t>
            </a:r>
            <a:r>
              <a:rPr lang="en-US" dirty="0">
                <a:latin typeface="Times New Roman"/>
                <a:cs typeface="Times New Roman"/>
              </a:rPr>
              <a:t>a </a:t>
            </a:r>
            <a:r>
              <a:rPr lang="en-US" spc="-5" dirty="0">
                <a:latin typeface="Times New Roman"/>
                <a:cs typeface="Times New Roman"/>
              </a:rPr>
              <a:t>binary variable. </a:t>
            </a:r>
          </a:p>
          <a:p>
            <a:pPr marL="469265" marR="5080" lvl="1" indent="-228600" algn="just">
              <a:lnSpc>
                <a:spcPct val="143600"/>
              </a:lnSpc>
              <a:buFont typeface="Symbol"/>
              <a:buChar char=""/>
              <a:tabLst>
                <a:tab pos="469900" algn="l"/>
              </a:tabLst>
            </a:pPr>
            <a:r>
              <a:rPr lang="en-US" spc="-5" dirty="0">
                <a:latin typeface="Times New Roman"/>
                <a:cs typeface="Times New Roman"/>
              </a:rPr>
              <a:t>The </a:t>
            </a:r>
            <a:r>
              <a:rPr lang="en-US" dirty="0">
                <a:latin typeface="Times New Roman"/>
                <a:cs typeface="Times New Roman"/>
              </a:rPr>
              <a:t>16-logic </a:t>
            </a:r>
            <a:r>
              <a:rPr lang="en-US" spc="-5" dirty="0">
                <a:latin typeface="Times New Roman"/>
                <a:cs typeface="Times New Roman"/>
              </a:rPr>
              <a:t>operation </a:t>
            </a:r>
            <a:r>
              <a:rPr lang="en-US" dirty="0">
                <a:latin typeface="Times New Roman"/>
                <a:cs typeface="Times New Roman"/>
              </a:rPr>
              <a:t>can be </a:t>
            </a:r>
            <a:r>
              <a:rPr lang="en-US" spc="-5" dirty="0">
                <a:latin typeface="Times New Roman"/>
                <a:cs typeface="Times New Roman"/>
              </a:rPr>
              <a:t>generated in  one circuit </a:t>
            </a:r>
            <a:r>
              <a:rPr lang="en-US" spc="-10" dirty="0">
                <a:latin typeface="Times New Roman"/>
                <a:cs typeface="Times New Roman"/>
              </a:rPr>
              <a:t>and </a:t>
            </a:r>
            <a:r>
              <a:rPr lang="en-US" spc="-5" dirty="0">
                <a:latin typeface="Times New Roman"/>
                <a:cs typeface="Times New Roman"/>
              </a:rPr>
              <a:t>selected by means </a:t>
            </a:r>
            <a:r>
              <a:rPr lang="en-US" dirty="0">
                <a:latin typeface="Times New Roman"/>
                <a:cs typeface="Times New Roman"/>
              </a:rPr>
              <a:t>of </a:t>
            </a:r>
            <a:r>
              <a:rPr lang="en-US" spc="-5" dirty="0">
                <a:latin typeface="Times New Roman"/>
                <a:cs typeface="Times New Roman"/>
              </a:rPr>
              <a:t>four selection</a:t>
            </a:r>
            <a:r>
              <a:rPr lang="en-US" spc="75" dirty="0">
                <a:latin typeface="Times New Roman"/>
                <a:cs typeface="Times New Roman"/>
              </a:rPr>
              <a:t> </a:t>
            </a:r>
            <a:r>
              <a:rPr lang="en-US" spc="-5" dirty="0">
                <a:latin typeface="Times New Roman"/>
                <a:cs typeface="Times New Roman"/>
              </a:rPr>
              <a:t>lines. </a:t>
            </a:r>
          </a:p>
          <a:p>
            <a:pPr marL="469265" marR="5080" lvl="1" indent="-228600" algn="just">
              <a:lnSpc>
                <a:spcPct val="143600"/>
              </a:lnSpc>
              <a:buFont typeface="Symbol"/>
              <a:buChar char=""/>
              <a:tabLst>
                <a:tab pos="469900" algn="l"/>
              </a:tabLst>
            </a:pPr>
            <a:r>
              <a:rPr lang="en-US" sz="2400" spc="-5" dirty="0">
                <a:latin typeface="Times New Roman"/>
                <a:cs typeface="Times New Roman"/>
              </a:rPr>
              <a:t>All logic operations </a:t>
            </a:r>
            <a:r>
              <a:rPr lang="en-US" sz="2400" dirty="0">
                <a:latin typeface="Times New Roman"/>
                <a:cs typeface="Times New Roman"/>
              </a:rPr>
              <a:t>can be </a:t>
            </a:r>
            <a:r>
              <a:rPr lang="en-US" sz="2400" spc="-5" dirty="0">
                <a:latin typeface="Times New Roman"/>
                <a:cs typeface="Times New Roman"/>
              </a:rPr>
              <a:t>obtained by </a:t>
            </a:r>
            <a:r>
              <a:rPr lang="en-US" sz="2400" dirty="0">
                <a:latin typeface="Times New Roman"/>
                <a:cs typeface="Times New Roman"/>
              </a:rPr>
              <a:t>means </a:t>
            </a:r>
            <a:r>
              <a:rPr lang="en-US" sz="2400" spc="-5" dirty="0">
                <a:latin typeface="Times New Roman"/>
                <a:cs typeface="Times New Roman"/>
              </a:rPr>
              <a:t>of AND, </a:t>
            </a:r>
            <a:r>
              <a:rPr lang="en-US" sz="2400" dirty="0">
                <a:latin typeface="Times New Roman"/>
                <a:cs typeface="Times New Roman"/>
              </a:rPr>
              <a:t>OR and </a:t>
            </a:r>
            <a:r>
              <a:rPr lang="en-US" sz="2400" spc="-5" dirty="0">
                <a:latin typeface="Times New Roman"/>
                <a:cs typeface="Times New Roman"/>
              </a:rPr>
              <a:t>NOT  operations. </a:t>
            </a:r>
          </a:p>
          <a:p>
            <a:pPr marL="0" indent="0">
              <a:buNone/>
            </a:pPr>
            <a:endParaRPr lang="en-US" sz="2400" dirty="0"/>
          </a:p>
        </p:txBody>
      </p:sp>
      <p:sp>
        <p:nvSpPr>
          <p:cNvPr id="4" name="object 5">
            <a:extLst>
              <a:ext uri="{FF2B5EF4-FFF2-40B4-BE49-F238E27FC236}">
                <a16:creationId xmlns:a16="http://schemas.microsoft.com/office/drawing/2014/main" id="{67AC407F-EC9F-84D4-E139-7D4A7B5708B6}"/>
              </a:ext>
            </a:extLst>
          </p:cNvPr>
          <p:cNvSpPr/>
          <p:nvPr/>
        </p:nvSpPr>
        <p:spPr>
          <a:xfrm>
            <a:off x="5660468" y="3638746"/>
            <a:ext cx="5265198" cy="2989731"/>
          </a:xfrm>
          <a:prstGeom prst="rect">
            <a:avLst/>
          </a:prstGeom>
          <a:blipFill>
            <a:blip r:embed="rId2" cstate="print"/>
            <a:stretch>
              <a:fillRect/>
            </a:stretch>
          </a:blipFill>
        </p:spPr>
        <p:txBody>
          <a:bodyPr wrap="square" lIns="0" tIns="0" rIns="0" bIns="0" rtlCol="0"/>
          <a:lstStyle/>
          <a:p>
            <a:endParaRPr/>
          </a:p>
        </p:txBody>
      </p:sp>
      <p:graphicFrame>
        <p:nvGraphicFramePr>
          <p:cNvPr id="6" name="object 3">
            <a:extLst>
              <a:ext uri="{FF2B5EF4-FFF2-40B4-BE49-F238E27FC236}">
                <a16:creationId xmlns:a16="http://schemas.microsoft.com/office/drawing/2014/main" id="{FF2E52AD-B10D-28BB-F966-B27D910FAF43}"/>
              </a:ext>
            </a:extLst>
          </p:cNvPr>
          <p:cNvGraphicFramePr>
            <a:graphicFrameLocks noGrp="1"/>
          </p:cNvGraphicFramePr>
          <p:nvPr>
            <p:extLst>
              <p:ext uri="{D42A27DB-BD31-4B8C-83A1-F6EECF244321}">
                <p14:modId xmlns:p14="http://schemas.microsoft.com/office/powerpoint/2010/main" val="1634043392"/>
              </p:ext>
            </p:extLst>
          </p:nvPr>
        </p:nvGraphicFramePr>
        <p:xfrm>
          <a:off x="1415127" y="3986025"/>
          <a:ext cx="3901591" cy="2556177"/>
        </p:xfrm>
        <a:graphic>
          <a:graphicData uri="http://schemas.openxmlformats.org/drawingml/2006/table">
            <a:tbl>
              <a:tblPr firstRow="1" bandRow="1">
                <a:tableStyleId>{2D5ABB26-0587-4C30-8999-92F81FD0307C}</a:tableStyleId>
              </a:tblPr>
              <a:tblGrid>
                <a:gridCol w="504966">
                  <a:extLst>
                    <a:ext uri="{9D8B030D-6E8A-4147-A177-3AD203B41FA5}">
                      <a16:colId xmlns:a16="http://schemas.microsoft.com/office/drawing/2014/main" val="20000"/>
                    </a:ext>
                  </a:extLst>
                </a:gridCol>
                <a:gridCol w="467459">
                  <a:extLst>
                    <a:ext uri="{9D8B030D-6E8A-4147-A177-3AD203B41FA5}">
                      <a16:colId xmlns:a16="http://schemas.microsoft.com/office/drawing/2014/main" val="20001"/>
                    </a:ext>
                  </a:extLst>
                </a:gridCol>
                <a:gridCol w="1607291">
                  <a:extLst>
                    <a:ext uri="{9D8B030D-6E8A-4147-A177-3AD203B41FA5}">
                      <a16:colId xmlns:a16="http://schemas.microsoft.com/office/drawing/2014/main" val="20002"/>
                    </a:ext>
                  </a:extLst>
                </a:gridCol>
                <a:gridCol w="1321875">
                  <a:extLst>
                    <a:ext uri="{9D8B030D-6E8A-4147-A177-3AD203B41FA5}">
                      <a16:colId xmlns:a16="http://schemas.microsoft.com/office/drawing/2014/main" val="20003"/>
                    </a:ext>
                  </a:extLst>
                </a:gridCol>
              </a:tblGrid>
              <a:tr h="356759">
                <a:tc>
                  <a:txBody>
                    <a:bodyPr/>
                    <a:lstStyle/>
                    <a:p>
                      <a:pPr marL="68580">
                        <a:lnSpc>
                          <a:spcPts val="1610"/>
                        </a:lnSpc>
                      </a:pPr>
                      <a:r>
                        <a:rPr sz="2000" b="1" spc="-5" dirty="0">
                          <a:latin typeface="Times New Roman"/>
                          <a:cs typeface="Times New Roman"/>
                        </a:rPr>
                        <a:t>S1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S0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Output</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Operation</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551193">
                <a:tc>
                  <a:txBody>
                    <a:bodyPr/>
                    <a:lstStyle/>
                    <a:p>
                      <a:pPr marL="68580">
                        <a:lnSpc>
                          <a:spcPts val="1625"/>
                        </a:lnSpc>
                      </a:pPr>
                      <a:r>
                        <a:rPr sz="2000" b="1" dirty="0">
                          <a:latin typeface="Times New Roman"/>
                          <a:cs typeface="Times New Roman"/>
                        </a:rPr>
                        <a:t>0</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dirty="0">
                          <a:latin typeface="Times New Roman"/>
                          <a:cs typeface="Times New Roman"/>
                        </a:rPr>
                        <a:t>0</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 dirty="0">
                          <a:latin typeface="Times New Roman"/>
                          <a:cs typeface="Times New Roman"/>
                        </a:rPr>
                        <a:t>Fi=Ai+Bi</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spc="5" dirty="0">
                          <a:latin typeface="Times New Roman"/>
                          <a:cs typeface="Times New Roman"/>
                        </a:rPr>
                        <a:t>OR</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548517">
                <a:tc>
                  <a:txBody>
                    <a:bodyPr/>
                    <a:lstStyle/>
                    <a:p>
                      <a:pPr marL="68580">
                        <a:lnSpc>
                          <a:spcPts val="1610"/>
                        </a:lnSpc>
                      </a:pPr>
                      <a:r>
                        <a:rPr lang="en-US" sz="2000" b="1" dirty="0">
                          <a:latin typeface="Times New Roman"/>
                          <a:cs typeface="Times New Roman"/>
                        </a:rPr>
                        <a:t>0</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tabLst>
                          <a:tab pos="784225" algn="l"/>
                        </a:tabLst>
                      </a:pPr>
                      <a:r>
                        <a:rPr sz="2000" b="1" spc="-5" dirty="0">
                          <a:latin typeface="Times New Roman"/>
                          <a:cs typeface="Times New Roman"/>
                        </a:rPr>
                        <a:t>Fi=Ai	Bi</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XOR</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551191">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Fi=AiBi</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AND</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548517">
                <a:tc>
                  <a:txBody>
                    <a:bodyPr/>
                    <a:lstStyle/>
                    <a:p>
                      <a:pPr marL="68580">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Fi=Ai’</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NOT</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74287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0DAF30-0D46-35FA-8285-DE4C76DF8DE2}"/>
              </a:ext>
            </a:extLst>
          </p:cNvPr>
          <p:cNvSpPr>
            <a:spLocks noGrp="1"/>
          </p:cNvSpPr>
          <p:nvPr>
            <p:ph idx="1"/>
          </p:nvPr>
        </p:nvSpPr>
        <p:spPr>
          <a:xfrm>
            <a:off x="329938" y="443060"/>
            <a:ext cx="11023862" cy="5733903"/>
          </a:xfrm>
        </p:spPr>
        <p:txBody>
          <a:bodyPr>
            <a:normAutofit/>
          </a:bodyPr>
          <a:lstStyle/>
          <a:p>
            <a:pPr marL="0" indent="0">
              <a:buNone/>
            </a:pPr>
            <a:r>
              <a:rPr lang="en-US" sz="2400" b="1" spc="-5" dirty="0">
                <a:uFill>
                  <a:solidFill>
                    <a:srgbClr val="000000"/>
                  </a:solidFill>
                </a:uFill>
                <a:latin typeface="Times New Roman"/>
                <a:cs typeface="Times New Roman"/>
              </a:rPr>
              <a:t>Final</a:t>
            </a:r>
            <a:r>
              <a:rPr lang="en-US" sz="2400" b="1" spc="-40"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design</a:t>
            </a:r>
            <a:r>
              <a:rPr lang="en-US" sz="2400" b="1" spc="-50"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of</a:t>
            </a:r>
            <a:r>
              <a:rPr lang="en-US" sz="2400" b="1" spc="-35"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ALU</a:t>
            </a:r>
            <a:r>
              <a:rPr lang="en-US" sz="2400" b="1" spc="-40"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unit</a:t>
            </a:r>
            <a:r>
              <a:rPr lang="en-US" sz="2400" b="1" spc="-35"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by</a:t>
            </a:r>
            <a:r>
              <a:rPr lang="en-US" sz="2400" b="1" spc="-40"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combining</a:t>
            </a:r>
            <a:r>
              <a:rPr lang="en-US" sz="2400" b="1" spc="-40"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arithmetic</a:t>
            </a:r>
            <a:r>
              <a:rPr lang="en-US" sz="2400" b="1" spc="-50"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circuit</a:t>
            </a:r>
            <a:r>
              <a:rPr lang="en-US" sz="2400" b="1" spc="-45"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and</a:t>
            </a:r>
            <a:r>
              <a:rPr lang="en-US" sz="2400" b="1" spc="-35" dirty="0">
                <a:uFill>
                  <a:solidFill>
                    <a:srgbClr val="000000"/>
                  </a:solidFill>
                </a:uFill>
                <a:latin typeface="Times New Roman"/>
                <a:cs typeface="Times New Roman"/>
              </a:rPr>
              <a:t> </a:t>
            </a:r>
            <a:r>
              <a:rPr lang="en-US" sz="2400" b="1" spc="-5" dirty="0">
                <a:uFill>
                  <a:solidFill>
                    <a:srgbClr val="000000"/>
                  </a:solidFill>
                </a:uFill>
                <a:latin typeface="Times New Roman"/>
                <a:cs typeface="Times New Roman"/>
              </a:rPr>
              <a:t>logic </a:t>
            </a:r>
            <a:r>
              <a:rPr lang="en-US" sz="2400" b="1" spc="-5" dirty="0">
                <a:latin typeface="Times New Roman"/>
                <a:cs typeface="Times New Roman"/>
              </a:rPr>
              <a:t> </a:t>
            </a:r>
            <a:r>
              <a:rPr lang="en-US" sz="2400" b="1" spc="-5" dirty="0">
                <a:uFill>
                  <a:solidFill>
                    <a:srgbClr val="000000"/>
                  </a:solidFill>
                </a:uFill>
                <a:latin typeface="Times New Roman"/>
                <a:cs typeface="Times New Roman"/>
              </a:rPr>
              <a:t>circuit</a:t>
            </a:r>
            <a:endParaRPr lang="en-US" sz="2400" b="1" dirty="0">
              <a:latin typeface="Times New Roman"/>
              <a:cs typeface="Times New Roman"/>
            </a:endParaRPr>
          </a:p>
          <a:p>
            <a:endParaRPr lang="en-US" sz="2400" b="1" dirty="0"/>
          </a:p>
        </p:txBody>
      </p:sp>
      <p:sp>
        <p:nvSpPr>
          <p:cNvPr id="4" name="object 6">
            <a:extLst>
              <a:ext uri="{FF2B5EF4-FFF2-40B4-BE49-F238E27FC236}">
                <a16:creationId xmlns:a16="http://schemas.microsoft.com/office/drawing/2014/main" id="{09884E66-373F-A680-B8B3-592180FAD98B}"/>
              </a:ext>
            </a:extLst>
          </p:cNvPr>
          <p:cNvSpPr/>
          <p:nvPr/>
        </p:nvSpPr>
        <p:spPr>
          <a:xfrm>
            <a:off x="1216058" y="1065229"/>
            <a:ext cx="8795208" cy="5646656"/>
          </a:xfrm>
          <a:prstGeom prst="rect">
            <a:avLst/>
          </a:prstGeom>
          <a:blipFill>
            <a:blip r:embed="rId2" cstate="print"/>
            <a:stretch>
              <a:fillRect/>
            </a:stretch>
          </a:blipFill>
        </p:spPr>
        <p:txBody>
          <a:bodyPr wrap="square" lIns="0" tIns="0" rIns="0" bIns="0" rtlCol="0"/>
          <a:lstStyle/>
          <a:p>
            <a:endParaRPr lang="en-US"/>
          </a:p>
        </p:txBody>
      </p:sp>
    </p:spTree>
    <p:extLst>
      <p:ext uri="{BB962C8B-B14F-4D97-AF65-F5344CB8AC3E}">
        <p14:creationId xmlns:p14="http://schemas.microsoft.com/office/powerpoint/2010/main" val="40363903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86582A-7D54-50EF-E29D-7DF7C5D4ABA4}"/>
              </a:ext>
            </a:extLst>
          </p:cNvPr>
          <p:cNvSpPr>
            <a:spLocks noGrp="1"/>
          </p:cNvSpPr>
          <p:nvPr>
            <p:ph idx="1"/>
          </p:nvPr>
        </p:nvSpPr>
        <p:spPr>
          <a:xfrm>
            <a:off x="245097" y="273377"/>
            <a:ext cx="11108703" cy="5903586"/>
          </a:xfrm>
        </p:spPr>
        <p:txBody>
          <a:bodyPr>
            <a:noAutofit/>
          </a:bodyPr>
          <a:lstStyle/>
          <a:p>
            <a:pPr marL="12065" indent="0">
              <a:lnSpc>
                <a:spcPct val="100000"/>
              </a:lnSpc>
              <a:spcBef>
                <a:spcPts val="95"/>
              </a:spcBef>
              <a:buNone/>
              <a:tabLst>
                <a:tab pos="276860" algn="l"/>
              </a:tabLst>
            </a:pPr>
            <a:r>
              <a:rPr lang="en-US" sz="2400" b="1" i="1" spc="-5" dirty="0">
                <a:latin typeface="Times New Roman"/>
                <a:cs typeface="Times New Roman"/>
              </a:rPr>
              <a:t>Design of Combinational Logic Shifter</a:t>
            </a:r>
            <a:endParaRPr lang="en-US" sz="2400" dirty="0">
              <a:latin typeface="Times New Roman"/>
              <a:cs typeface="Times New Roman"/>
            </a:endParaRPr>
          </a:p>
          <a:p>
            <a:pPr>
              <a:lnSpc>
                <a:spcPct val="100000"/>
              </a:lnSpc>
              <a:spcBef>
                <a:spcPts val="35"/>
              </a:spcBef>
              <a:buFont typeface="Times New Roman"/>
              <a:buAutoNum type="alphaUcParenR" startAt="17"/>
            </a:pPr>
            <a:endParaRPr lang="en-US" sz="2400" dirty="0">
              <a:latin typeface="Times New Roman"/>
              <a:cs typeface="Times New Roman"/>
            </a:endParaRPr>
          </a:p>
          <a:p>
            <a:pPr marL="469265" marR="10160" lvl="1" indent="-228600">
              <a:lnSpc>
                <a:spcPct val="143600"/>
              </a:lnSpc>
              <a:buSzPct val="114285"/>
              <a:buFont typeface="Symbol"/>
              <a:buChar char=""/>
              <a:tabLst>
                <a:tab pos="469265" algn="l"/>
                <a:tab pos="469900" algn="l"/>
              </a:tabLst>
            </a:pPr>
            <a:r>
              <a:rPr lang="en-US" spc="-5" dirty="0">
                <a:latin typeface="Times New Roman"/>
                <a:cs typeface="Times New Roman"/>
              </a:rPr>
              <a:t>The shift unit attached </a:t>
            </a:r>
            <a:r>
              <a:rPr lang="en-US" dirty="0">
                <a:latin typeface="Times New Roman"/>
                <a:cs typeface="Times New Roman"/>
              </a:rPr>
              <a:t>to </a:t>
            </a:r>
            <a:r>
              <a:rPr lang="en-US" spc="-5" dirty="0">
                <a:latin typeface="Times New Roman"/>
                <a:cs typeface="Times New Roman"/>
              </a:rPr>
              <a:t>the processor transfers the output of </a:t>
            </a:r>
            <a:r>
              <a:rPr lang="en-US" dirty="0">
                <a:latin typeface="Times New Roman"/>
                <a:cs typeface="Times New Roman"/>
              </a:rPr>
              <a:t>the </a:t>
            </a:r>
            <a:r>
              <a:rPr lang="en-US" spc="-5" dirty="0">
                <a:latin typeface="Times New Roman"/>
                <a:cs typeface="Times New Roman"/>
              </a:rPr>
              <a:t>ALU  onto the output bus.</a:t>
            </a:r>
          </a:p>
          <a:p>
            <a:pPr marL="469265" marR="10160" lvl="1" indent="-228600">
              <a:lnSpc>
                <a:spcPct val="143600"/>
              </a:lnSpc>
              <a:buSzPct val="114285"/>
              <a:buFont typeface="Symbol"/>
              <a:buChar char=""/>
              <a:tabLst>
                <a:tab pos="469265" algn="l"/>
                <a:tab pos="469900" algn="l"/>
              </a:tabLst>
            </a:pPr>
            <a:r>
              <a:rPr lang="en-US" spc="-5" dirty="0">
                <a:latin typeface="Times New Roman"/>
                <a:cs typeface="Times New Roman"/>
              </a:rPr>
              <a:t> Shifter may function </a:t>
            </a:r>
            <a:r>
              <a:rPr lang="en-US" dirty="0">
                <a:latin typeface="Times New Roman"/>
                <a:cs typeface="Times New Roman"/>
              </a:rPr>
              <a:t>in 4 </a:t>
            </a:r>
            <a:r>
              <a:rPr lang="en-US" spc="-5" dirty="0">
                <a:latin typeface="Times New Roman"/>
                <a:cs typeface="Times New Roman"/>
              </a:rPr>
              <a:t>different</a:t>
            </a:r>
            <a:r>
              <a:rPr lang="en-US" spc="30" dirty="0">
                <a:latin typeface="Times New Roman"/>
                <a:cs typeface="Times New Roman"/>
              </a:rPr>
              <a:t> </a:t>
            </a:r>
            <a:r>
              <a:rPr lang="en-US" spc="-5" dirty="0">
                <a:latin typeface="Times New Roman"/>
                <a:cs typeface="Times New Roman"/>
              </a:rPr>
              <a:t>ways.</a:t>
            </a:r>
            <a:endParaRPr lang="en-US" dirty="0">
              <a:latin typeface="Times New Roman"/>
              <a:cs typeface="Times New Roman"/>
            </a:endParaRPr>
          </a:p>
          <a:p>
            <a:pPr marL="926465" lvl="2" indent="-229235">
              <a:lnSpc>
                <a:spcPct val="100000"/>
              </a:lnSpc>
              <a:spcBef>
                <a:spcPts val="735"/>
              </a:spcBef>
              <a:buAutoNum type="arabicPeriod"/>
              <a:tabLst>
                <a:tab pos="927100" algn="l"/>
              </a:tabLst>
            </a:pPr>
            <a:r>
              <a:rPr lang="en-US" sz="2400" spc="-5" dirty="0">
                <a:latin typeface="Times New Roman"/>
                <a:cs typeface="Times New Roman"/>
              </a:rPr>
              <a:t>The shifter may transfer the information directly without </a:t>
            </a:r>
            <a:r>
              <a:rPr lang="en-US" sz="2400" dirty="0">
                <a:latin typeface="Times New Roman"/>
                <a:cs typeface="Times New Roman"/>
              </a:rPr>
              <a:t>a</a:t>
            </a:r>
            <a:r>
              <a:rPr lang="en-US" sz="2400" spc="40" dirty="0">
                <a:latin typeface="Times New Roman"/>
                <a:cs typeface="Times New Roman"/>
              </a:rPr>
              <a:t> </a:t>
            </a:r>
            <a:r>
              <a:rPr lang="en-US" sz="2400" spc="-5" dirty="0">
                <a:latin typeface="Times New Roman"/>
                <a:cs typeface="Times New Roman"/>
              </a:rPr>
              <a:t>shift.</a:t>
            </a:r>
            <a:endParaRPr lang="en-US" sz="2400" dirty="0">
              <a:latin typeface="Times New Roman"/>
              <a:cs typeface="Times New Roman"/>
            </a:endParaRPr>
          </a:p>
          <a:p>
            <a:pPr marL="926465" lvl="2" indent="-229235">
              <a:lnSpc>
                <a:spcPct val="100000"/>
              </a:lnSpc>
              <a:spcBef>
                <a:spcPts val="730"/>
              </a:spcBef>
              <a:buAutoNum type="arabicPeriod"/>
              <a:tabLst>
                <a:tab pos="927100" algn="l"/>
              </a:tabLst>
            </a:pPr>
            <a:r>
              <a:rPr lang="en-US" sz="2400" spc="-5" dirty="0">
                <a:latin typeface="Times New Roman"/>
                <a:cs typeface="Times New Roman"/>
              </a:rPr>
              <a:t>The shifter may shift </a:t>
            </a:r>
            <a:r>
              <a:rPr lang="en-US" sz="2400" dirty="0">
                <a:latin typeface="Times New Roman"/>
                <a:cs typeface="Times New Roman"/>
              </a:rPr>
              <a:t>the </a:t>
            </a:r>
            <a:r>
              <a:rPr lang="en-US" sz="2400" spc="-5" dirty="0">
                <a:latin typeface="Times New Roman"/>
                <a:cs typeface="Times New Roman"/>
              </a:rPr>
              <a:t>information to the</a:t>
            </a:r>
            <a:r>
              <a:rPr lang="en-US" sz="2400" spc="-35" dirty="0">
                <a:latin typeface="Times New Roman"/>
                <a:cs typeface="Times New Roman"/>
              </a:rPr>
              <a:t> </a:t>
            </a:r>
            <a:r>
              <a:rPr lang="en-US" sz="2400" dirty="0">
                <a:latin typeface="Times New Roman"/>
                <a:cs typeface="Times New Roman"/>
              </a:rPr>
              <a:t>right.</a:t>
            </a:r>
          </a:p>
          <a:p>
            <a:pPr marL="926465" lvl="2" indent="-229235">
              <a:lnSpc>
                <a:spcPct val="100000"/>
              </a:lnSpc>
              <a:spcBef>
                <a:spcPts val="745"/>
              </a:spcBef>
              <a:buAutoNum type="arabicPeriod"/>
              <a:tabLst>
                <a:tab pos="927100" algn="l"/>
              </a:tabLst>
            </a:pPr>
            <a:r>
              <a:rPr lang="en-US" sz="2400" spc="-5" dirty="0">
                <a:latin typeface="Times New Roman"/>
                <a:cs typeface="Times New Roman"/>
              </a:rPr>
              <a:t>The shifter may shift </a:t>
            </a:r>
            <a:r>
              <a:rPr lang="en-US" sz="2400" dirty="0">
                <a:latin typeface="Times New Roman"/>
                <a:cs typeface="Times New Roman"/>
              </a:rPr>
              <a:t>the </a:t>
            </a:r>
            <a:r>
              <a:rPr lang="en-US" sz="2400" spc="-5" dirty="0">
                <a:latin typeface="Times New Roman"/>
                <a:cs typeface="Times New Roman"/>
              </a:rPr>
              <a:t>information to the</a:t>
            </a:r>
            <a:r>
              <a:rPr lang="en-US" sz="2400" spc="-35" dirty="0">
                <a:latin typeface="Times New Roman"/>
                <a:cs typeface="Times New Roman"/>
              </a:rPr>
              <a:t> </a:t>
            </a:r>
            <a:r>
              <a:rPr lang="en-US" sz="2400" dirty="0">
                <a:latin typeface="Times New Roman"/>
                <a:cs typeface="Times New Roman"/>
              </a:rPr>
              <a:t>left.</a:t>
            </a:r>
          </a:p>
          <a:p>
            <a:pPr marL="926465" lvl="2" indent="-229235">
              <a:lnSpc>
                <a:spcPct val="100000"/>
              </a:lnSpc>
              <a:spcBef>
                <a:spcPts val="735"/>
              </a:spcBef>
              <a:buAutoNum type="arabicPeriod"/>
              <a:tabLst>
                <a:tab pos="927100" algn="l"/>
              </a:tabLst>
            </a:pPr>
            <a:r>
              <a:rPr lang="en-US" sz="2400" dirty="0">
                <a:latin typeface="Times New Roman"/>
                <a:cs typeface="Times New Roman"/>
              </a:rPr>
              <a:t>In </a:t>
            </a:r>
            <a:r>
              <a:rPr lang="en-US" sz="2400" spc="-5" dirty="0">
                <a:latin typeface="Times New Roman"/>
                <a:cs typeface="Times New Roman"/>
              </a:rPr>
              <a:t>some cases </a:t>
            </a:r>
            <a:r>
              <a:rPr lang="en-US" sz="2400" dirty="0">
                <a:latin typeface="Times New Roman"/>
                <a:cs typeface="Times New Roman"/>
              </a:rPr>
              <a:t>no </a:t>
            </a:r>
            <a:r>
              <a:rPr lang="en-US" sz="2400" spc="-5" dirty="0">
                <a:latin typeface="Times New Roman"/>
                <a:cs typeface="Times New Roman"/>
              </a:rPr>
              <a:t>transfer </a:t>
            </a:r>
            <a:r>
              <a:rPr lang="en-US" sz="2400" dirty="0">
                <a:latin typeface="Times New Roman"/>
                <a:cs typeface="Times New Roman"/>
              </a:rPr>
              <a:t>is </a:t>
            </a:r>
            <a:r>
              <a:rPr lang="en-US" sz="2400" spc="-5" dirty="0">
                <a:latin typeface="Times New Roman"/>
                <a:cs typeface="Times New Roman"/>
              </a:rPr>
              <a:t>made from ALU to the output</a:t>
            </a:r>
            <a:r>
              <a:rPr lang="en-US" sz="2400" dirty="0">
                <a:latin typeface="Times New Roman"/>
                <a:cs typeface="Times New Roman"/>
              </a:rPr>
              <a:t> </a:t>
            </a:r>
            <a:r>
              <a:rPr lang="en-US" sz="2400" spc="-5" dirty="0">
                <a:latin typeface="Times New Roman"/>
                <a:cs typeface="Times New Roman"/>
              </a:rPr>
              <a:t>bus.</a:t>
            </a:r>
            <a:endParaRPr lang="en-US" sz="2400" dirty="0">
              <a:latin typeface="Times New Roman"/>
              <a:cs typeface="Times New Roman"/>
            </a:endParaRPr>
          </a:p>
          <a:p>
            <a:pPr marL="469265" marR="5080" lvl="1" indent="-228600" algn="just">
              <a:lnSpc>
                <a:spcPct val="143600"/>
              </a:lnSpc>
              <a:spcBef>
                <a:spcPts val="105"/>
              </a:spcBef>
              <a:buFont typeface="Symbol"/>
              <a:buChar char=""/>
              <a:tabLst>
                <a:tab pos="469900" algn="l"/>
              </a:tabLst>
            </a:pPr>
            <a:r>
              <a:rPr lang="en-US" dirty="0">
                <a:latin typeface="Times New Roman"/>
                <a:cs typeface="Times New Roman"/>
              </a:rPr>
              <a:t>A </a:t>
            </a:r>
            <a:r>
              <a:rPr lang="en-US" spc="-5" dirty="0">
                <a:latin typeface="Times New Roman"/>
                <a:cs typeface="Times New Roman"/>
              </a:rPr>
              <a:t>shifter is </a:t>
            </a:r>
            <a:r>
              <a:rPr lang="en-US" dirty="0">
                <a:latin typeface="Times New Roman"/>
                <a:cs typeface="Times New Roman"/>
              </a:rPr>
              <a:t>a </a:t>
            </a:r>
            <a:r>
              <a:rPr lang="en-US" spc="-5" dirty="0">
                <a:latin typeface="Times New Roman"/>
                <a:cs typeface="Times New Roman"/>
              </a:rPr>
              <a:t>bi-directional shift-register with parallel load. The  information</a:t>
            </a:r>
            <a:r>
              <a:rPr lang="en-US" spc="-85" dirty="0">
                <a:latin typeface="Times New Roman"/>
                <a:cs typeface="Times New Roman"/>
              </a:rPr>
              <a:t> </a:t>
            </a:r>
            <a:r>
              <a:rPr lang="en-US" spc="-5" dirty="0">
                <a:latin typeface="Times New Roman"/>
                <a:cs typeface="Times New Roman"/>
              </a:rPr>
              <a:t>from</a:t>
            </a:r>
            <a:r>
              <a:rPr lang="en-US" spc="-85" dirty="0">
                <a:latin typeface="Times New Roman"/>
                <a:cs typeface="Times New Roman"/>
              </a:rPr>
              <a:t> </a:t>
            </a:r>
            <a:r>
              <a:rPr lang="en-US" spc="-5" dirty="0">
                <a:latin typeface="Times New Roman"/>
                <a:cs typeface="Times New Roman"/>
              </a:rPr>
              <a:t>ALU</a:t>
            </a:r>
            <a:r>
              <a:rPr lang="en-US" spc="-65" dirty="0">
                <a:latin typeface="Times New Roman"/>
                <a:cs typeface="Times New Roman"/>
              </a:rPr>
              <a:t> </a:t>
            </a:r>
            <a:r>
              <a:rPr lang="en-US" spc="-5" dirty="0">
                <a:latin typeface="Times New Roman"/>
                <a:cs typeface="Times New Roman"/>
              </a:rPr>
              <a:t>can</a:t>
            </a:r>
            <a:r>
              <a:rPr lang="en-US" spc="-80" dirty="0">
                <a:latin typeface="Times New Roman"/>
                <a:cs typeface="Times New Roman"/>
              </a:rPr>
              <a:t> </a:t>
            </a:r>
            <a:r>
              <a:rPr lang="en-US" dirty="0">
                <a:latin typeface="Times New Roman"/>
                <a:cs typeface="Times New Roman"/>
              </a:rPr>
              <a:t>be</a:t>
            </a:r>
            <a:r>
              <a:rPr lang="en-US" spc="-85" dirty="0">
                <a:latin typeface="Times New Roman"/>
                <a:cs typeface="Times New Roman"/>
              </a:rPr>
              <a:t> </a:t>
            </a:r>
            <a:r>
              <a:rPr lang="en-US" spc="-5" dirty="0">
                <a:latin typeface="Times New Roman"/>
                <a:cs typeface="Times New Roman"/>
              </a:rPr>
              <a:t>transferred</a:t>
            </a:r>
            <a:r>
              <a:rPr lang="en-US" spc="-80" dirty="0">
                <a:latin typeface="Times New Roman"/>
                <a:cs typeface="Times New Roman"/>
              </a:rPr>
              <a:t> </a:t>
            </a:r>
            <a:r>
              <a:rPr lang="en-US" spc="-5" dirty="0">
                <a:latin typeface="Times New Roman"/>
                <a:cs typeface="Times New Roman"/>
              </a:rPr>
              <a:t>to</a:t>
            </a:r>
            <a:r>
              <a:rPr lang="en-US" spc="-65" dirty="0">
                <a:latin typeface="Times New Roman"/>
                <a:cs typeface="Times New Roman"/>
              </a:rPr>
              <a:t> </a:t>
            </a:r>
            <a:r>
              <a:rPr lang="en-US" spc="-5" dirty="0">
                <a:latin typeface="Times New Roman"/>
                <a:cs typeface="Times New Roman"/>
              </a:rPr>
              <a:t>the</a:t>
            </a:r>
            <a:r>
              <a:rPr lang="en-US" spc="-80" dirty="0">
                <a:latin typeface="Times New Roman"/>
                <a:cs typeface="Times New Roman"/>
              </a:rPr>
              <a:t> </a:t>
            </a:r>
            <a:r>
              <a:rPr lang="en-US" spc="-5" dirty="0">
                <a:latin typeface="Times New Roman"/>
                <a:cs typeface="Times New Roman"/>
              </a:rPr>
              <a:t>register</a:t>
            </a:r>
            <a:r>
              <a:rPr lang="en-US" spc="-80" dirty="0">
                <a:latin typeface="Times New Roman"/>
                <a:cs typeface="Times New Roman"/>
              </a:rPr>
              <a:t> </a:t>
            </a:r>
            <a:r>
              <a:rPr lang="en-US" dirty="0">
                <a:latin typeface="Times New Roman"/>
                <a:cs typeface="Times New Roman"/>
              </a:rPr>
              <a:t>in</a:t>
            </a:r>
            <a:r>
              <a:rPr lang="en-US" spc="-80" dirty="0">
                <a:latin typeface="Times New Roman"/>
                <a:cs typeface="Times New Roman"/>
              </a:rPr>
              <a:t> </a:t>
            </a:r>
            <a:r>
              <a:rPr lang="en-US" spc="-5" dirty="0">
                <a:latin typeface="Times New Roman"/>
                <a:cs typeface="Times New Roman"/>
              </a:rPr>
              <a:t>parallel</a:t>
            </a:r>
            <a:r>
              <a:rPr lang="en-US" spc="-65" dirty="0">
                <a:latin typeface="Times New Roman"/>
                <a:cs typeface="Times New Roman"/>
              </a:rPr>
              <a:t> </a:t>
            </a:r>
            <a:r>
              <a:rPr lang="en-US" spc="-10" dirty="0">
                <a:latin typeface="Times New Roman"/>
                <a:cs typeface="Times New Roman"/>
              </a:rPr>
              <a:t>and</a:t>
            </a:r>
            <a:r>
              <a:rPr lang="en-US" spc="-65" dirty="0">
                <a:latin typeface="Times New Roman"/>
                <a:cs typeface="Times New Roman"/>
              </a:rPr>
              <a:t> </a:t>
            </a:r>
            <a:r>
              <a:rPr lang="en-US" spc="-5" dirty="0">
                <a:latin typeface="Times New Roman"/>
                <a:cs typeface="Times New Roman"/>
              </a:rPr>
              <a:t>then  shifted to the right </a:t>
            </a:r>
            <a:r>
              <a:rPr lang="en-US" dirty="0">
                <a:latin typeface="Times New Roman"/>
                <a:cs typeface="Times New Roman"/>
              </a:rPr>
              <a:t>or</a:t>
            </a:r>
            <a:r>
              <a:rPr lang="en-US" spc="-20" dirty="0">
                <a:latin typeface="Times New Roman"/>
                <a:cs typeface="Times New Roman"/>
              </a:rPr>
              <a:t> </a:t>
            </a:r>
            <a:r>
              <a:rPr lang="en-US" spc="-5" dirty="0">
                <a:latin typeface="Times New Roman"/>
                <a:cs typeface="Times New Roman"/>
              </a:rPr>
              <a:t>left.</a:t>
            </a:r>
            <a:endParaRPr lang="en-US" dirty="0">
              <a:latin typeface="Times New Roman"/>
              <a:cs typeface="Times New Roman"/>
            </a:endParaRPr>
          </a:p>
          <a:p>
            <a:pPr marL="469265" marR="6350" lvl="1" indent="-228600" algn="just">
              <a:lnSpc>
                <a:spcPct val="143600"/>
              </a:lnSpc>
              <a:spcBef>
                <a:spcPts val="110"/>
              </a:spcBef>
              <a:buFont typeface="Symbol"/>
              <a:buChar char=""/>
              <a:tabLst>
                <a:tab pos="469900" algn="l"/>
              </a:tabLst>
            </a:pPr>
            <a:r>
              <a:rPr lang="en-US" dirty="0">
                <a:latin typeface="Times New Roman"/>
                <a:cs typeface="Times New Roman"/>
              </a:rPr>
              <a:t>A </a:t>
            </a:r>
            <a:r>
              <a:rPr lang="en-US" spc="-5" dirty="0">
                <a:latin typeface="Times New Roman"/>
                <a:cs typeface="Times New Roman"/>
              </a:rPr>
              <a:t>combinational logic shifter can </a:t>
            </a:r>
            <a:r>
              <a:rPr lang="en-US" dirty="0">
                <a:latin typeface="Times New Roman"/>
                <a:cs typeface="Times New Roman"/>
              </a:rPr>
              <a:t>be </a:t>
            </a:r>
            <a:r>
              <a:rPr lang="en-US" spc="-5" dirty="0">
                <a:latin typeface="Times New Roman"/>
                <a:cs typeface="Times New Roman"/>
              </a:rPr>
              <a:t>constructed with multiplexers. The  following </a:t>
            </a:r>
            <a:r>
              <a:rPr lang="en-US" spc="-10" dirty="0">
                <a:latin typeface="Times New Roman"/>
                <a:cs typeface="Times New Roman"/>
              </a:rPr>
              <a:t>figure </a:t>
            </a:r>
            <a:r>
              <a:rPr lang="en-US" spc="-5" dirty="0">
                <a:latin typeface="Times New Roman"/>
                <a:cs typeface="Times New Roman"/>
              </a:rPr>
              <a:t>will </a:t>
            </a:r>
            <a:r>
              <a:rPr lang="en-US" dirty="0">
                <a:latin typeface="Times New Roman"/>
                <a:cs typeface="Times New Roman"/>
              </a:rPr>
              <a:t>show </a:t>
            </a:r>
            <a:r>
              <a:rPr lang="en-US" spc="-5" dirty="0">
                <a:latin typeface="Times New Roman"/>
                <a:cs typeface="Times New Roman"/>
              </a:rPr>
              <a:t>the</a:t>
            </a:r>
            <a:r>
              <a:rPr lang="en-US" spc="10" dirty="0">
                <a:latin typeface="Times New Roman"/>
                <a:cs typeface="Times New Roman"/>
              </a:rPr>
              <a:t> </a:t>
            </a:r>
            <a:r>
              <a:rPr lang="en-US" spc="-5" dirty="0">
                <a:latin typeface="Times New Roman"/>
                <a:cs typeface="Times New Roman"/>
              </a:rPr>
              <a:t>same.</a:t>
            </a:r>
            <a:endParaRPr lang="en-US" dirty="0">
              <a:latin typeface="Times New Roman"/>
              <a:cs typeface="Times New Roman"/>
            </a:endParaRPr>
          </a:p>
          <a:p>
            <a:endParaRPr lang="en-US" sz="2400" dirty="0"/>
          </a:p>
        </p:txBody>
      </p:sp>
    </p:spTree>
    <p:extLst>
      <p:ext uri="{BB962C8B-B14F-4D97-AF65-F5344CB8AC3E}">
        <p14:creationId xmlns:p14="http://schemas.microsoft.com/office/powerpoint/2010/main" val="2644747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30293-C663-6425-9BB0-7EB1732BC80F}"/>
              </a:ext>
            </a:extLst>
          </p:cNvPr>
          <p:cNvSpPr>
            <a:spLocks noGrp="1"/>
          </p:cNvSpPr>
          <p:nvPr>
            <p:ph idx="1"/>
          </p:nvPr>
        </p:nvSpPr>
        <p:spPr>
          <a:xfrm>
            <a:off x="-254524" y="292231"/>
            <a:ext cx="3968685" cy="5884732"/>
          </a:xfrm>
        </p:spPr>
        <p:txBody>
          <a:bodyPr>
            <a:normAutofit/>
          </a:bodyPr>
          <a:lstStyle/>
          <a:p>
            <a:pPr marL="697865" marR="6985" lvl="1" indent="-228600">
              <a:lnSpc>
                <a:spcPts val="2410"/>
              </a:lnSpc>
              <a:spcBef>
                <a:spcPts val="204"/>
              </a:spcBef>
              <a:buAutoNum type="arabicPeriod"/>
              <a:tabLst>
                <a:tab pos="698500" algn="l"/>
              </a:tabLst>
            </a:pPr>
            <a:r>
              <a:rPr lang="en-US" dirty="0">
                <a:latin typeface="Times New Roman"/>
                <a:cs typeface="Times New Roman"/>
              </a:rPr>
              <a:t>If H1 </a:t>
            </a:r>
            <a:r>
              <a:rPr lang="en-US" spc="-5" dirty="0">
                <a:latin typeface="Times New Roman"/>
                <a:cs typeface="Times New Roman"/>
              </a:rPr>
              <a:t>H0=00, </a:t>
            </a:r>
            <a:r>
              <a:rPr lang="en-US" dirty="0">
                <a:latin typeface="Times New Roman"/>
                <a:cs typeface="Times New Roman"/>
              </a:rPr>
              <a:t>no </a:t>
            </a:r>
            <a:r>
              <a:rPr lang="en-US" spc="-5" dirty="0">
                <a:latin typeface="Times New Roman"/>
                <a:cs typeface="Times New Roman"/>
              </a:rPr>
              <a:t>shift </a:t>
            </a:r>
            <a:r>
              <a:rPr lang="en-US" dirty="0">
                <a:latin typeface="Times New Roman"/>
                <a:cs typeface="Times New Roman"/>
              </a:rPr>
              <a:t>is </a:t>
            </a:r>
            <a:r>
              <a:rPr lang="en-US" spc="-5" dirty="0">
                <a:latin typeface="Times New Roman"/>
                <a:cs typeface="Times New Roman"/>
              </a:rPr>
              <a:t>executed and the signals from </a:t>
            </a:r>
            <a:r>
              <a:rPr lang="en-US" dirty="0">
                <a:latin typeface="Times New Roman"/>
                <a:cs typeface="Times New Roman"/>
              </a:rPr>
              <a:t>F </a:t>
            </a:r>
            <a:r>
              <a:rPr lang="en-US" spc="-5" dirty="0">
                <a:latin typeface="Times New Roman"/>
                <a:cs typeface="Times New Roman"/>
              </a:rPr>
              <a:t>go directly  </a:t>
            </a:r>
            <a:r>
              <a:rPr lang="en-US" dirty="0">
                <a:latin typeface="Times New Roman"/>
                <a:cs typeface="Times New Roman"/>
              </a:rPr>
              <a:t>to </a:t>
            </a:r>
            <a:r>
              <a:rPr lang="en-US" spc="-5" dirty="0">
                <a:latin typeface="Times New Roman"/>
                <a:cs typeface="Times New Roman"/>
              </a:rPr>
              <a:t>the </a:t>
            </a:r>
            <a:r>
              <a:rPr lang="en-US" dirty="0">
                <a:latin typeface="Times New Roman"/>
                <a:cs typeface="Times New Roman"/>
              </a:rPr>
              <a:t>S</a:t>
            </a:r>
            <a:r>
              <a:rPr lang="en-US" spc="-20" dirty="0">
                <a:latin typeface="Times New Roman"/>
                <a:cs typeface="Times New Roman"/>
              </a:rPr>
              <a:t> </a:t>
            </a:r>
            <a:r>
              <a:rPr lang="en-US" spc="-5" dirty="0">
                <a:latin typeface="Times New Roman"/>
                <a:cs typeface="Times New Roman"/>
              </a:rPr>
              <a:t>lines.</a:t>
            </a:r>
            <a:endParaRPr lang="en-US" dirty="0">
              <a:latin typeface="Times New Roman"/>
              <a:cs typeface="Times New Roman"/>
            </a:endParaRPr>
          </a:p>
          <a:p>
            <a:pPr marL="697865" lvl="1" indent="-229235">
              <a:lnSpc>
                <a:spcPct val="100000"/>
              </a:lnSpc>
              <a:spcBef>
                <a:spcPts val="5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H0=01, shift right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0"/>
              </a:spcBef>
              <a:buAutoNum type="arabicPeriod"/>
              <a:tabLst>
                <a:tab pos="698500" algn="l"/>
              </a:tabLst>
            </a:pPr>
            <a:r>
              <a:rPr lang="en-US" dirty="0">
                <a:latin typeface="Times New Roman"/>
                <a:cs typeface="Times New Roman"/>
              </a:rPr>
              <a:t>If </a:t>
            </a:r>
            <a:r>
              <a:rPr lang="en-US" spc="-5" dirty="0">
                <a:latin typeface="Times New Roman"/>
                <a:cs typeface="Times New Roman"/>
              </a:rPr>
              <a:t>H1 H0=10, shift left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H0=11, </a:t>
            </a:r>
            <a:r>
              <a:rPr lang="en-US" dirty="0">
                <a:latin typeface="Times New Roman"/>
                <a:cs typeface="Times New Roman"/>
              </a:rPr>
              <a:t>no</a:t>
            </a:r>
            <a:r>
              <a:rPr lang="en-US" spc="-35" dirty="0">
                <a:latin typeface="Times New Roman"/>
                <a:cs typeface="Times New Roman"/>
              </a:rPr>
              <a:t> </a:t>
            </a:r>
            <a:r>
              <a:rPr lang="en-US" spc="-5" dirty="0">
                <a:latin typeface="Times New Roman"/>
                <a:cs typeface="Times New Roman"/>
              </a:rPr>
              <a:t>operation</a:t>
            </a:r>
            <a:endParaRPr lang="en-US" dirty="0"/>
          </a:p>
        </p:txBody>
      </p:sp>
      <p:sp>
        <p:nvSpPr>
          <p:cNvPr id="4" name="object 4">
            <a:extLst>
              <a:ext uri="{FF2B5EF4-FFF2-40B4-BE49-F238E27FC236}">
                <a16:creationId xmlns:a16="http://schemas.microsoft.com/office/drawing/2014/main" id="{9A202468-BD77-8246-5DCA-0F743F0CDCB0}"/>
              </a:ext>
            </a:extLst>
          </p:cNvPr>
          <p:cNvSpPr/>
          <p:nvPr/>
        </p:nvSpPr>
        <p:spPr>
          <a:xfrm>
            <a:off x="3908981" y="932542"/>
            <a:ext cx="8037006" cy="4421884"/>
          </a:xfrm>
          <a:prstGeom prst="rect">
            <a:avLst/>
          </a:prstGeom>
          <a:blipFill>
            <a:blip r:embed="rId2" cstate="print"/>
            <a:stretch>
              <a:fillRect/>
            </a:stretch>
          </a:blipFill>
        </p:spPr>
        <p:txBody>
          <a:bodyPr wrap="square" lIns="0" tIns="0" rIns="0" bIns="0" rtlCol="0"/>
          <a:lstStyle/>
          <a:p>
            <a:endParaRPr/>
          </a:p>
        </p:txBody>
      </p:sp>
      <p:graphicFrame>
        <p:nvGraphicFramePr>
          <p:cNvPr id="5" name="object 3">
            <a:extLst>
              <a:ext uri="{FF2B5EF4-FFF2-40B4-BE49-F238E27FC236}">
                <a16:creationId xmlns:a16="http://schemas.microsoft.com/office/drawing/2014/main" id="{CD1E2A89-F074-7ED0-96B0-D749AD70F3EB}"/>
              </a:ext>
            </a:extLst>
          </p:cNvPr>
          <p:cNvGraphicFramePr>
            <a:graphicFrameLocks noGrp="1"/>
          </p:cNvGraphicFramePr>
          <p:nvPr>
            <p:extLst>
              <p:ext uri="{D42A27DB-BD31-4B8C-83A1-F6EECF244321}">
                <p14:modId xmlns:p14="http://schemas.microsoft.com/office/powerpoint/2010/main" val="418825742"/>
              </p:ext>
            </p:extLst>
          </p:nvPr>
        </p:nvGraphicFramePr>
        <p:xfrm>
          <a:off x="476307" y="5395086"/>
          <a:ext cx="7168830" cy="1333245"/>
        </p:xfrm>
        <a:graphic>
          <a:graphicData uri="http://schemas.openxmlformats.org/drawingml/2006/table">
            <a:tbl>
              <a:tblPr firstRow="1" bandRow="1">
                <a:tableStyleId>{2D5ABB26-0587-4C30-8999-92F81FD0307C}</a:tableStyleId>
              </a:tblPr>
              <a:tblGrid>
                <a:gridCol w="1367313">
                  <a:extLst>
                    <a:ext uri="{9D8B030D-6E8A-4147-A177-3AD203B41FA5}">
                      <a16:colId xmlns:a16="http://schemas.microsoft.com/office/drawing/2014/main" val="20000"/>
                    </a:ext>
                  </a:extLst>
                </a:gridCol>
                <a:gridCol w="1589111">
                  <a:extLst>
                    <a:ext uri="{9D8B030D-6E8A-4147-A177-3AD203B41FA5}">
                      <a16:colId xmlns:a16="http://schemas.microsoft.com/office/drawing/2014/main" val="20001"/>
                    </a:ext>
                  </a:extLst>
                </a:gridCol>
                <a:gridCol w="1509960">
                  <a:extLst>
                    <a:ext uri="{9D8B030D-6E8A-4147-A177-3AD203B41FA5}">
                      <a16:colId xmlns:a16="http://schemas.microsoft.com/office/drawing/2014/main" val="20002"/>
                    </a:ext>
                  </a:extLst>
                </a:gridCol>
                <a:gridCol w="2702446">
                  <a:extLst>
                    <a:ext uri="{9D8B030D-6E8A-4147-A177-3AD203B41FA5}">
                      <a16:colId xmlns:a16="http://schemas.microsoft.com/office/drawing/2014/main" val="20003"/>
                    </a:ext>
                  </a:extLst>
                </a:gridCol>
              </a:tblGrid>
              <a:tr h="234695">
                <a:tc>
                  <a:txBody>
                    <a:bodyPr/>
                    <a:lstStyle/>
                    <a:p>
                      <a:pPr marL="635" algn="ctr">
                        <a:lnSpc>
                          <a:spcPct val="100000"/>
                        </a:lnSpc>
                        <a:spcBef>
                          <a:spcPts val="25"/>
                        </a:spcBef>
                      </a:pPr>
                      <a:r>
                        <a:rPr sz="1800" b="1" spc="-5" dirty="0">
                          <a:latin typeface="Times New Roman"/>
                          <a:cs typeface="Times New Roman"/>
                        </a:rPr>
                        <a:t>H1</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ct val="100000"/>
                        </a:lnSpc>
                        <a:spcBef>
                          <a:spcPts val="25"/>
                        </a:spcBef>
                      </a:pPr>
                      <a:r>
                        <a:rPr sz="1800" b="1" spc="-5" dirty="0">
                          <a:latin typeface="Times New Roman"/>
                          <a:cs typeface="Times New Roman"/>
                        </a:rPr>
                        <a:t>H0</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60020">
                        <a:lnSpc>
                          <a:spcPct val="100000"/>
                        </a:lnSpc>
                        <a:spcBef>
                          <a:spcPts val="25"/>
                        </a:spcBef>
                      </a:pPr>
                      <a:r>
                        <a:rPr sz="1800" b="1" spc="-5" dirty="0">
                          <a:latin typeface="Times New Roman"/>
                          <a:cs typeface="Times New Roman"/>
                        </a:rPr>
                        <a:t>Operation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4525">
                        <a:lnSpc>
                          <a:spcPct val="100000"/>
                        </a:lnSpc>
                        <a:spcBef>
                          <a:spcPts val="25"/>
                        </a:spcBef>
                      </a:pPr>
                      <a:r>
                        <a:rPr sz="1800" b="1" spc="-5" dirty="0">
                          <a:latin typeface="Times New Roman"/>
                          <a:cs typeface="Times New Roman"/>
                        </a:rPr>
                        <a:t>Function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41045">
                <a:tc>
                  <a:txBody>
                    <a:bodyPr/>
                    <a:lstStyle/>
                    <a:p>
                      <a:pPr algn="ctr">
                        <a:lnSpc>
                          <a:spcPct val="100000"/>
                        </a:lnSpc>
                        <a:spcBef>
                          <a:spcPts val="50"/>
                        </a:spcBef>
                      </a:pPr>
                      <a:r>
                        <a:rPr sz="1800" dirty="0">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latin typeface="Times New Roman"/>
                          <a:cs typeface="Times New Roman"/>
                        </a:rPr>
                        <a:t>0</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dirty="0">
                          <a:latin typeface="Times New Roman"/>
                          <a:cs typeface="Times New Roman"/>
                        </a:rPr>
                        <a:t>S</a:t>
                      </a:r>
                      <a:r>
                        <a:rPr sz="1800" dirty="0">
                          <a:latin typeface="Wingdings"/>
                          <a:cs typeface="Wingdings"/>
                        </a:rPr>
                        <a:t></a:t>
                      </a:r>
                      <a:r>
                        <a:rPr sz="1800" dirty="0">
                          <a:latin typeface="Times New Roman"/>
                          <a:cs typeface="Times New Roman"/>
                        </a:rPr>
                        <a:t>F</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Transfer </a:t>
                      </a:r>
                      <a:r>
                        <a:rPr sz="1800" dirty="0">
                          <a:latin typeface="Times New Roman"/>
                          <a:cs typeface="Times New Roman"/>
                        </a:rPr>
                        <a:t>F </a:t>
                      </a:r>
                      <a:r>
                        <a:rPr sz="1800" spc="-5" dirty="0">
                          <a:latin typeface="Times New Roman"/>
                          <a:cs typeface="Times New Roman"/>
                        </a:rPr>
                        <a:t>to </a:t>
                      </a:r>
                      <a:r>
                        <a:rPr sz="1800" dirty="0">
                          <a:latin typeface="Times New Roman"/>
                          <a:cs typeface="Times New Roman"/>
                        </a:rPr>
                        <a:t>S </a:t>
                      </a:r>
                      <a:r>
                        <a:rPr sz="1800" spc="-5" dirty="0">
                          <a:latin typeface="Times New Roman"/>
                          <a:cs typeface="Times New Roman"/>
                        </a:rPr>
                        <a:t>(no</a:t>
                      </a:r>
                      <a:r>
                        <a:rPr sz="1800" spc="-35" dirty="0">
                          <a:latin typeface="Times New Roman"/>
                          <a:cs typeface="Times New Roman"/>
                        </a:rPr>
                        <a:t> </a:t>
                      </a:r>
                      <a:r>
                        <a:rPr sz="1800" spc="-5" dirty="0">
                          <a:latin typeface="Times New Roman"/>
                          <a:cs typeface="Times New Roman"/>
                        </a:rPr>
                        <a:t>shift)</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42316">
                <a:tc>
                  <a:txBody>
                    <a:bodyPr/>
                    <a:lstStyle/>
                    <a:p>
                      <a:pPr algn="ctr">
                        <a:lnSpc>
                          <a:spcPct val="100000"/>
                        </a:lnSpc>
                        <a:spcBef>
                          <a:spcPts val="65"/>
                        </a:spcBef>
                      </a:pPr>
                      <a:r>
                        <a:rPr sz="1800" dirty="0">
                          <a:latin typeface="Times New Roman"/>
                          <a:cs typeface="Times New Roman"/>
                        </a:rPr>
                        <a:t>0</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sz="1800" dirty="0">
                          <a:latin typeface="Times New Roman"/>
                          <a:cs typeface="Times New Roman"/>
                        </a:rPr>
                        <a:t>1</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latin typeface="Times New Roman"/>
                          <a:cs typeface="Times New Roman"/>
                        </a:rPr>
                        <a:t>S</a:t>
                      </a:r>
                      <a:r>
                        <a:rPr sz="1800" spc="-5" dirty="0">
                          <a:latin typeface="Wingdings"/>
                          <a:cs typeface="Wingdings"/>
                        </a:rPr>
                        <a:t></a:t>
                      </a:r>
                      <a:r>
                        <a:rPr sz="1800" spc="-5" dirty="0">
                          <a:latin typeface="Times New Roman"/>
                          <a:cs typeface="Times New Roman"/>
                        </a:rPr>
                        <a:t>shr</a:t>
                      </a:r>
                      <a:r>
                        <a:rPr sz="1800" spc="-10" dirty="0">
                          <a:latin typeface="Times New Roman"/>
                          <a:cs typeface="Times New Roman"/>
                        </a:rPr>
                        <a:t> </a:t>
                      </a:r>
                      <a:r>
                        <a:rPr sz="1800" dirty="0">
                          <a:latin typeface="Times New Roman"/>
                          <a:cs typeface="Times New Roman"/>
                        </a:rPr>
                        <a:t>F</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latin typeface="Times New Roman"/>
                          <a:cs typeface="Times New Roman"/>
                        </a:rPr>
                        <a:t>Shift </a:t>
                      </a:r>
                      <a:r>
                        <a:rPr sz="1800" spc="-10" dirty="0">
                          <a:latin typeface="Times New Roman"/>
                          <a:cs typeface="Times New Roman"/>
                        </a:rPr>
                        <a:t>right </a:t>
                      </a:r>
                      <a:r>
                        <a:rPr sz="1800" dirty="0">
                          <a:latin typeface="Times New Roman"/>
                          <a:cs typeface="Times New Roman"/>
                        </a:rPr>
                        <a:t>F </a:t>
                      </a:r>
                      <a:r>
                        <a:rPr sz="1800" spc="-5" dirty="0">
                          <a:latin typeface="Times New Roman"/>
                          <a:cs typeface="Times New Roman"/>
                        </a:rPr>
                        <a:t>into</a:t>
                      </a:r>
                      <a:r>
                        <a:rPr sz="1800" spc="5" dirty="0">
                          <a:latin typeface="Times New Roman"/>
                          <a:cs typeface="Times New Roman"/>
                        </a:rPr>
                        <a:t> </a:t>
                      </a:r>
                      <a:r>
                        <a:rPr sz="1800" dirty="0">
                          <a:latin typeface="Times New Roman"/>
                          <a:cs typeface="Times New Roman"/>
                        </a:rPr>
                        <a:t>S</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40792">
                <a:tc>
                  <a:txBody>
                    <a:bodyPr/>
                    <a:lstStyle/>
                    <a:p>
                      <a:pPr algn="ctr">
                        <a:lnSpc>
                          <a:spcPct val="100000"/>
                        </a:lnSpc>
                        <a:spcBef>
                          <a:spcPts val="50"/>
                        </a:spcBef>
                      </a:pPr>
                      <a:r>
                        <a:rPr sz="1800" dirty="0">
                          <a:latin typeface="Times New Roman"/>
                          <a:cs typeface="Times New Roman"/>
                        </a:rPr>
                        <a:t>1</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latin typeface="Times New Roman"/>
                          <a:cs typeface="Times New Roman"/>
                        </a:rPr>
                        <a:t>0</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S</a:t>
                      </a:r>
                      <a:r>
                        <a:rPr sz="1800" spc="-5" dirty="0">
                          <a:latin typeface="Wingdings"/>
                          <a:cs typeface="Wingdings"/>
                        </a:rPr>
                        <a:t></a:t>
                      </a:r>
                      <a:r>
                        <a:rPr sz="1800" spc="-5" dirty="0">
                          <a:latin typeface="Times New Roman"/>
                          <a:cs typeface="Times New Roman"/>
                        </a:rPr>
                        <a:t>shl </a:t>
                      </a:r>
                      <a:r>
                        <a:rPr sz="1800" dirty="0">
                          <a:latin typeface="Times New Roman"/>
                          <a:cs typeface="Times New Roman"/>
                        </a:rPr>
                        <a:t>F</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Shift </a:t>
                      </a:r>
                      <a:r>
                        <a:rPr sz="1800" dirty="0">
                          <a:latin typeface="Times New Roman"/>
                          <a:cs typeface="Times New Roman"/>
                        </a:rPr>
                        <a:t>left F </a:t>
                      </a:r>
                      <a:r>
                        <a:rPr sz="1800" spc="-5" dirty="0">
                          <a:latin typeface="Times New Roman"/>
                          <a:cs typeface="Times New Roman"/>
                        </a:rPr>
                        <a:t>into</a:t>
                      </a:r>
                      <a:r>
                        <a:rPr sz="1800" spc="-30" dirty="0">
                          <a:latin typeface="Times New Roman"/>
                          <a:cs typeface="Times New Roman"/>
                        </a:rPr>
                        <a:t> </a:t>
                      </a:r>
                      <a:r>
                        <a:rPr sz="1800" dirty="0">
                          <a:latin typeface="Times New Roman"/>
                          <a:cs typeface="Times New Roman"/>
                        </a:rPr>
                        <a:t>S</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1835">
                <a:tc>
                  <a:txBody>
                    <a:bodyPr/>
                    <a:lstStyle/>
                    <a:p>
                      <a:pPr algn="ctr">
                        <a:lnSpc>
                          <a:spcPts val="1570"/>
                        </a:lnSpc>
                      </a:pPr>
                      <a:r>
                        <a:rPr sz="1800" dirty="0">
                          <a:latin typeface="Times New Roman"/>
                          <a:cs typeface="Times New Roman"/>
                        </a:rPr>
                        <a:t>1</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570"/>
                        </a:lnSpc>
                      </a:pPr>
                      <a:r>
                        <a:rPr sz="1800" dirty="0">
                          <a:latin typeface="Times New Roman"/>
                          <a:cs typeface="Times New Roman"/>
                        </a:rPr>
                        <a:t>1</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dirty="0">
                          <a:latin typeface="Times New Roman"/>
                          <a:cs typeface="Times New Roman"/>
                        </a:rPr>
                        <a:t>S</a:t>
                      </a:r>
                      <a:r>
                        <a:rPr sz="1800" dirty="0">
                          <a:latin typeface="Wingdings"/>
                          <a:cs typeface="Wingdings"/>
                        </a:rPr>
                        <a:t></a:t>
                      </a:r>
                      <a:r>
                        <a:rPr sz="1800" dirty="0">
                          <a:latin typeface="Times New Roman"/>
                          <a:cs typeface="Times New Roman"/>
                        </a:rPr>
                        <a:t>0</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spc="-5" dirty="0">
                          <a:latin typeface="Times New Roman"/>
                          <a:cs typeface="Times New Roman"/>
                        </a:rPr>
                        <a:t>Transfer 0’s into</a:t>
                      </a:r>
                      <a:r>
                        <a:rPr sz="1800" spc="-10" dirty="0">
                          <a:latin typeface="Times New Roman"/>
                          <a:cs typeface="Times New Roman"/>
                        </a:rPr>
                        <a:t> </a:t>
                      </a:r>
                      <a:r>
                        <a:rPr sz="1800" dirty="0">
                          <a:latin typeface="Times New Roman"/>
                          <a:cs typeface="Times New Roman"/>
                        </a:rPr>
                        <a:t>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68307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30293-C663-6425-9BB0-7EB1732BC80F}"/>
              </a:ext>
            </a:extLst>
          </p:cNvPr>
          <p:cNvSpPr>
            <a:spLocks noGrp="1"/>
          </p:cNvSpPr>
          <p:nvPr>
            <p:ph idx="1"/>
          </p:nvPr>
        </p:nvSpPr>
        <p:spPr>
          <a:xfrm>
            <a:off x="-254524" y="292231"/>
            <a:ext cx="3968685" cy="5884732"/>
          </a:xfrm>
        </p:spPr>
        <p:txBody>
          <a:bodyPr>
            <a:normAutofit/>
          </a:bodyPr>
          <a:lstStyle/>
          <a:p>
            <a:pPr marL="697865" marR="6985" lvl="1" indent="-228600">
              <a:lnSpc>
                <a:spcPts val="2410"/>
              </a:lnSpc>
              <a:spcBef>
                <a:spcPts val="204"/>
              </a:spcBef>
              <a:buAutoNum type="arabicPeriod"/>
              <a:tabLst>
                <a:tab pos="698500" algn="l"/>
              </a:tabLst>
            </a:pPr>
            <a:r>
              <a:rPr lang="en-US" dirty="0">
                <a:latin typeface="Times New Roman"/>
                <a:cs typeface="Times New Roman"/>
              </a:rPr>
              <a:t>If H1 </a:t>
            </a:r>
            <a:r>
              <a:rPr lang="en-US" spc="-5" dirty="0">
                <a:latin typeface="Times New Roman"/>
                <a:cs typeface="Times New Roman"/>
              </a:rPr>
              <a:t>H0=00, </a:t>
            </a:r>
            <a:r>
              <a:rPr lang="en-US" dirty="0">
                <a:latin typeface="Times New Roman"/>
                <a:cs typeface="Times New Roman"/>
              </a:rPr>
              <a:t>no </a:t>
            </a:r>
            <a:r>
              <a:rPr lang="en-US" spc="-5" dirty="0">
                <a:latin typeface="Times New Roman"/>
                <a:cs typeface="Times New Roman"/>
              </a:rPr>
              <a:t>shift </a:t>
            </a:r>
            <a:r>
              <a:rPr lang="en-US" dirty="0">
                <a:latin typeface="Times New Roman"/>
                <a:cs typeface="Times New Roman"/>
              </a:rPr>
              <a:t>is </a:t>
            </a:r>
            <a:r>
              <a:rPr lang="en-US" spc="-5" dirty="0">
                <a:latin typeface="Times New Roman"/>
                <a:cs typeface="Times New Roman"/>
              </a:rPr>
              <a:t>executed and the signals from </a:t>
            </a:r>
            <a:r>
              <a:rPr lang="en-US" dirty="0">
                <a:latin typeface="Times New Roman"/>
                <a:cs typeface="Times New Roman"/>
              </a:rPr>
              <a:t>F </a:t>
            </a:r>
            <a:r>
              <a:rPr lang="en-US" spc="-5" dirty="0">
                <a:latin typeface="Times New Roman"/>
                <a:cs typeface="Times New Roman"/>
              </a:rPr>
              <a:t>go directly  </a:t>
            </a:r>
            <a:r>
              <a:rPr lang="en-US" dirty="0">
                <a:latin typeface="Times New Roman"/>
                <a:cs typeface="Times New Roman"/>
              </a:rPr>
              <a:t>to </a:t>
            </a:r>
            <a:r>
              <a:rPr lang="en-US" spc="-5" dirty="0">
                <a:latin typeface="Times New Roman"/>
                <a:cs typeface="Times New Roman"/>
              </a:rPr>
              <a:t>the </a:t>
            </a:r>
            <a:r>
              <a:rPr lang="en-US" dirty="0">
                <a:latin typeface="Times New Roman"/>
                <a:cs typeface="Times New Roman"/>
              </a:rPr>
              <a:t>S</a:t>
            </a:r>
            <a:r>
              <a:rPr lang="en-US" spc="-20" dirty="0">
                <a:latin typeface="Times New Roman"/>
                <a:cs typeface="Times New Roman"/>
              </a:rPr>
              <a:t> </a:t>
            </a:r>
            <a:r>
              <a:rPr lang="en-US" spc="-5" dirty="0">
                <a:latin typeface="Times New Roman"/>
                <a:cs typeface="Times New Roman"/>
              </a:rPr>
              <a:t>lines.</a:t>
            </a:r>
            <a:endParaRPr lang="en-US" dirty="0">
              <a:latin typeface="Times New Roman"/>
              <a:cs typeface="Times New Roman"/>
            </a:endParaRPr>
          </a:p>
          <a:p>
            <a:pPr marL="697865" lvl="1" indent="-229235">
              <a:lnSpc>
                <a:spcPct val="100000"/>
              </a:lnSpc>
              <a:spcBef>
                <a:spcPts val="5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H0=01, shift right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0"/>
              </a:spcBef>
              <a:buAutoNum type="arabicPeriod"/>
              <a:tabLst>
                <a:tab pos="698500" algn="l"/>
              </a:tabLst>
            </a:pPr>
            <a:r>
              <a:rPr lang="en-US" dirty="0">
                <a:latin typeface="Times New Roman"/>
                <a:cs typeface="Times New Roman"/>
              </a:rPr>
              <a:t>If </a:t>
            </a:r>
            <a:r>
              <a:rPr lang="en-US" spc="-5" dirty="0">
                <a:latin typeface="Times New Roman"/>
                <a:cs typeface="Times New Roman"/>
              </a:rPr>
              <a:t>H1 H0=10, shift left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H0=11, </a:t>
            </a:r>
            <a:r>
              <a:rPr lang="en-US" dirty="0">
                <a:latin typeface="Times New Roman"/>
                <a:cs typeface="Times New Roman"/>
              </a:rPr>
              <a:t>no</a:t>
            </a:r>
            <a:r>
              <a:rPr lang="en-US" spc="-35" dirty="0">
                <a:latin typeface="Times New Roman"/>
                <a:cs typeface="Times New Roman"/>
              </a:rPr>
              <a:t> </a:t>
            </a:r>
            <a:r>
              <a:rPr lang="en-US" spc="-5" dirty="0">
                <a:latin typeface="Times New Roman"/>
                <a:cs typeface="Times New Roman"/>
              </a:rPr>
              <a:t>operation</a:t>
            </a:r>
            <a:endParaRPr lang="en-US" dirty="0"/>
          </a:p>
        </p:txBody>
      </p:sp>
      <p:sp>
        <p:nvSpPr>
          <p:cNvPr id="4" name="object 4">
            <a:extLst>
              <a:ext uri="{FF2B5EF4-FFF2-40B4-BE49-F238E27FC236}">
                <a16:creationId xmlns:a16="http://schemas.microsoft.com/office/drawing/2014/main" id="{9A202468-BD77-8246-5DCA-0F743F0CDCB0}"/>
              </a:ext>
            </a:extLst>
          </p:cNvPr>
          <p:cNvSpPr/>
          <p:nvPr/>
        </p:nvSpPr>
        <p:spPr>
          <a:xfrm>
            <a:off x="3908981" y="932542"/>
            <a:ext cx="8037006" cy="4421884"/>
          </a:xfrm>
          <a:prstGeom prst="rect">
            <a:avLst/>
          </a:prstGeom>
          <a:blipFill>
            <a:blip r:embed="rId2" cstate="print"/>
            <a:stretch>
              <a:fillRect/>
            </a:stretch>
          </a:blipFill>
        </p:spPr>
        <p:txBody>
          <a:bodyPr wrap="square" lIns="0" tIns="0" rIns="0" bIns="0" rtlCol="0"/>
          <a:lstStyle/>
          <a:p>
            <a:endParaRPr/>
          </a:p>
        </p:txBody>
      </p:sp>
      <p:graphicFrame>
        <p:nvGraphicFramePr>
          <p:cNvPr id="5" name="object 3">
            <a:extLst>
              <a:ext uri="{FF2B5EF4-FFF2-40B4-BE49-F238E27FC236}">
                <a16:creationId xmlns:a16="http://schemas.microsoft.com/office/drawing/2014/main" id="{CD1E2A89-F074-7ED0-96B0-D749AD70F3EB}"/>
              </a:ext>
            </a:extLst>
          </p:cNvPr>
          <p:cNvGraphicFramePr>
            <a:graphicFrameLocks noGrp="1"/>
          </p:cNvGraphicFramePr>
          <p:nvPr>
            <p:extLst>
              <p:ext uri="{D42A27DB-BD31-4B8C-83A1-F6EECF244321}">
                <p14:modId xmlns:p14="http://schemas.microsoft.com/office/powerpoint/2010/main" val="1684820146"/>
              </p:ext>
            </p:extLst>
          </p:nvPr>
        </p:nvGraphicFramePr>
        <p:xfrm>
          <a:off x="476307" y="5395086"/>
          <a:ext cx="7168830" cy="1333245"/>
        </p:xfrm>
        <a:graphic>
          <a:graphicData uri="http://schemas.openxmlformats.org/drawingml/2006/table">
            <a:tbl>
              <a:tblPr firstRow="1" bandRow="1">
                <a:tableStyleId>{2D5ABB26-0587-4C30-8999-92F81FD0307C}</a:tableStyleId>
              </a:tblPr>
              <a:tblGrid>
                <a:gridCol w="1367313">
                  <a:extLst>
                    <a:ext uri="{9D8B030D-6E8A-4147-A177-3AD203B41FA5}">
                      <a16:colId xmlns:a16="http://schemas.microsoft.com/office/drawing/2014/main" val="20000"/>
                    </a:ext>
                  </a:extLst>
                </a:gridCol>
                <a:gridCol w="1589111">
                  <a:extLst>
                    <a:ext uri="{9D8B030D-6E8A-4147-A177-3AD203B41FA5}">
                      <a16:colId xmlns:a16="http://schemas.microsoft.com/office/drawing/2014/main" val="20001"/>
                    </a:ext>
                  </a:extLst>
                </a:gridCol>
                <a:gridCol w="1509960">
                  <a:extLst>
                    <a:ext uri="{9D8B030D-6E8A-4147-A177-3AD203B41FA5}">
                      <a16:colId xmlns:a16="http://schemas.microsoft.com/office/drawing/2014/main" val="20002"/>
                    </a:ext>
                  </a:extLst>
                </a:gridCol>
                <a:gridCol w="2702446">
                  <a:extLst>
                    <a:ext uri="{9D8B030D-6E8A-4147-A177-3AD203B41FA5}">
                      <a16:colId xmlns:a16="http://schemas.microsoft.com/office/drawing/2014/main" val="20003"/>
                    </a:ext>
                  </a:extLst>
                </a:gridCol>
              </a:tblGrid>
              <a:tr h="234695">
                <a:tc>
                  <a:txBody>
                    <a:bodyPr/>
                    <a:lstStyle/>
                    <a:p>
                      <a:pPr marL="635" algn="ctr">
                        <a:lnSpc>
                          <a:spcPct val="100000"/>
                        </a:lnSpc>
                        <a:spcBef>
                          <a:spcPts val="25"/>
                        </a:spcBef>
                      </a:pPr>
                      <a:r>
                        <a:rPr sz="1800" b="1" spc="-5" dirty="0">
                          <a:latin typeface="Times New Roman"/>
                          <a:cs typeface="Times New Roman"/>
                        </a:rPr>
                        <a:t>H1</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ct val="100000"/>
                        </a:lnSpc>
                        <a:spcBef>
                          <a:spcPts val="25"/>
                        </a:spcBef>
                      </a:pPr>
                      <a:r>
                        <a:rPr sz="1800" b="1" spc="-5" dirty="0">
                          <a:latin typeface="Times New Roman"/>
                          <a:cs typeface="Times New Roman"/>
                        </a:rPr>
                        <a:t>H0</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60020">
                        <a:lnSpc>
                          <a:spcPct val="100000"/>
                        </a:lnSpc>
                        <a:spcBef>
                          <a:spcPts val="25"/>
                        </a:spcBef>
                      </a:pPr>
                      <a:r>
                        <a:rPr sz="1800" b="1" spc="-5" dirty="0">
                          <a:latin typeface="Times New Roman"/>
                          <a:cs typeface="Times New Roman"/>
                        </a:rPr>
                        <a:t>Operation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4525">
                        <a:lnSpc>
                          <a:spcPct val="100000"/>
                        </a:lnSpc>
                        <a:spcBef>
                          <a:spcPts val="25"/>
                        </a:spcBef>
                      </a:pPr>
                      <a:r>
                        <a:rPr sz="1800" b="1" spc="-5" dirty="0">
                          <a:latin typeface="Times New Roman"/>
                          <a:cs typeface="Times New Roman"/>
                        </a:rPr>
                        <a:t>Function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41045">
                <a:tc>
                  <a:txBody>
                    <a:bodyPr/>
                    <a:lstStyle/>
                    <a:p>
                      <a:pPr algn="ctr">
                        <a:lnSpc>
                          <a:spcPct val="100000"/>
                        </a:lnSpc>
                        <a:spcBef>
                          <a:spcPts val="50"/>
                        </a:spcBef>
                      </a:pPr>
                      <a:r>
                        <a:rPr sz="1800" dirty="0">
                          <a:solidFill>
                            <a:srgbClr val="FF0000"/>
                          </a:solidFill>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solidFill>
                            <a:srgbClr val="FF0000"/>
                          </a:solidFill>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dirty="0">
                          <a:solidFill>
                            <a:srgbClr val="FF0000"/>
                          </a:solidFill>
                          <a:latin typeface="Times New Roman"/>
                          <a:cs typeface="Times New Roman"/>
                        </a:rPr>
                        <a:t>S</a:t>
                      </a:r>
                      <a:r>
                        <a:rPr sz="1800" dirty="0">
                          <a:solidFill>
                            <a:srgbClr val="FF0000"/>
                          </a:solidFill>
                          <a:latin typeface="Wingdings"/>
                          <a:cs typeface="Wingdings"/>
                        </a:rPr>
                        <a:t></a:t>
                      </a:r>
                      <a:r>
                        <a:rPr sz="1800" dirty="0">
                          <a:solidFill>
                            <a:srgbClr val="FF0000"/>
                          </a:solidFill>
                          <a:latin typeface="Times New Roman"/>
                          <a:cs typeface="Times New Roman"/>
                        </a:rPr>
                        <a:t>F</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solidFill>
                            <a:srgbClr val="FF0000"/>
                          </a:solidFill>
                          <a:latin typeface="Times New Roman"/>
                          <a:cs typeface="Times New Roman"/>
                        </a:rPr>
                        <a:t>Transfer </a:t>
                      </a:r>
                      <a:r>
                        <a:rPr sz="1800" dirty="0">
                          <a:solidFill>
                            <a:srgbClr val="FF0000"/>
                          </a:solidFill>
                          <a:latin typeface="Times New Roman"/>
                          <a:cs typeface="Times New Roman"/>
                        </a:rPr>
                        <a:t>F </a:t>
                      </a:r>
                      <a:r>
                        <a:rPr sz="1800" spc="-5" dirty="0">
                          <a:solidFill>
                            <a:srgbClr val="FF0000"/>
                          </a:solidFill>
                          <a:latin typeface="Times New Roman"/>
                          <a:cs typeface="Times New Roman"/>
                        </a:rPr>
                        <a:t>to </a:t>
                      </a:r>
                      <a:r>
                        <a:rPr sz="1800" dirty="0">
                          <a:solidFill>
                            <a:srgbClr val="FF0000"/>
                          </a:solidFill>
                          <a:latin typeface="Times New Roman"/>
                          <a:cs typeface="Times New Roman"/>
                        </a:rPr>
                        <a:t>S </a:t>
                      </a:r>
                      <a:r>
                        <a:rPr sz="1800" spc="-5" dirty="0">
                          <a:solidFill>
                            <a:srgbClr val="FF0000"/>
                          </a:solidFill>
                          <a:latin typeface="Times New Roman"/>
                          <a:cs typeface="Times New Roman"/>
                        </a:rPr>
                        <a:t>(no</a:t>
                      </a:r>
                      <a:r>
                        <a:rPr sz="1800" spc="-35" dirty="0">
                          <a:solidFill>
                            <a:srgbClr val="FF0000"/>
                          </a:solidFill>
                          <a:latin typeface="Times New Roman"/>
                          <a:cs typeface="Times New Roman"/>
                        </a:rPr>
                        <a:t> </a:t>
                      </a:r>
                      <a:r>
                        <a:rPr sz="1800" spc="-5" dirty="0">
                          <a:solidFill>
                            <a:srgbClr val="FF0000"/>
                          </a:solidFill>
                          <a:latin typeface="Times New Roman"/>
                          <a:cs typeface="Times New Roman"/>
                        </a:rPr>
                        <a:t>shift)</a:t>
                      </a:r>
                      <a:endParaRPr sz="1800" dirty="0">
                        <a:solidFill>
                          <a:srgbClr val="FF0000"/>
                        </a:solidFill>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42316">
                <a:tc>
                  <a:txBody>
                    <a:bodyPr/>
                    <a:lstStyle/>
                    <a:p>
                      <a:pPr algn="ctr">
                        <a:lnSpc>
                          <a:spcPct val="100000"/>
                        </a:lnSpc>
                        <a:spcBef>
                          <a:spcPts val="65"/>
                        </a:spcBef>
                      </a:pPr>
                      <a:r>
                        <a:rPr sz="1800" dirty="0">
                          <a:latin typeface="Times New Roman"/>
                          <a:cs typeface="Times New Roman"/>
                        </a:rPr>
                        <a:t>0</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sz="1800" dirty="0">
                          <a:latin typeface="Times New Roman"/>
                          <a:cs typeface="Times New Roman"/>
                        </a:rPr>
                        <a:t>1</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latin typeface="Times New Roman"/>
                          <a:cs typeface="Times New Roman"/>
                        </a:rPr>
                        <a:t>S</a:t>
                      </a:r>
                      <a:r>
                        <a:rPr sz="1800" spc="-5" dirty="0">
                          <a:latin typeface="Wingdings"/>
                          <a:cs typeface="Wingdings"/>
                        </a:rPr>
                        <a:t></a:t>
                      </a:r>
                      <a:r>
                        <a:rPr sz="1800" spc="-5" dirty="0">
                          <a:latin typeface="Times New Roman"/>
                          <a:cs typeface="Times New Roman"/>
                        </a:rPr>
                        <a:t>shr</a:t>
                      </a:r>
                      <a:r>
                        <a:rPr sz="1800" spc="-10" dirty="0">
                          <a:latin typeface="Times New Roman"/>
                          <a:cs typeface="Times New Roman"/>
                        </a:rPr>
                        <a:t> </a:t>
                      </a:r>
                      <a:r>
                        <a:rPr sz="1800" dirty="0">
                          <a:latin typeface="Times New Roman"/>
                          <a:cs typeface="Times New Roman"/>
                        </a:rPr>
                        <a:t>F</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latin typeface="Times New Roman"/>
                          <a:cs typeface="Times New Roman"/>
                        </a:rPr>
                        <a:t>Shift </a:t>
                      </a:r>
                      <a:r>
                        <a:rPr sz="1800" spc="-10" dirty="0">
                          <a:latin typeface="Times New Roman"/>
                          <a:cs typeface="Times New Roman"/>
                        </a:rPr>
                        <a:t>right </a:t>
                      </a:r>
                      <a:r>
                        <a:rPr sz="1800" dirty="0">
                          <a:latin typeface="Times New Roman"/>
                          <a:cs typeface="Times New Roman"/>
                        </a:rPr>
                        <a:t>F </a:t>
                      </a:r>
                      <a:r>
                        <a:rPr sz="1800" spc="-5" dirty="0">
                          <a:latin typeface="Times New Roman"/>
                          <a:cs typeface="Times New Roman"/>
                        </a:rPr>
                        <a:t>into</a:t>
                      </a:r>
                      <a:r>
                        <a:rPr sz="1800" spc="5" dirty="0">
                          <a:latin typeface="Times New Roman"/>
                          <a:cs typeface="Times New Roman"/>
                        </a:rPr>
                        <a:t> </a:t>
                      </a:r>
                      <a:r>
                        <a:rPr sz="1800" dirty="0">
                          <a:latin typeface="Times New Roman"/>
                          <a:cs typeface="Times New Roman"/>
                        </a:rPr>
                        <a:t>S</a:t>
                      </a: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40792">
                <a:tc>
                  <a:txBody>
                    <a:bodyPr/>
                    <a:lstStyle/>
                    <a:p>
                      <a:pPr algn="ctr">
                        <a:lnSpc>
                          <a:spcPct val="100000"/>
                        </a:lnSpc>
                        <a:spcBef>
                          <a:spcPts val="50"/>
                        </a:spcBef>
                      </a:pPr>
                      <a:r>
                        <a:rPr sz="1800" dirty="0">
                          <a:latin typeface="Times New Roman"/>
                          <a:cs typeface="Times New Roman"/>
                        </a:rPr>
                        <a:t>1</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latin typeface="Times New Roman"/>
                          <a:cs typeface="Times New Roman"/>
                        </a:rPr>
                        <a:t>0</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S</a:t>
                      </a:r>
                      <a:r>
                        <a:rPr sz="1800" spc="-5" dirty="0">
                          <a:latin typeface="Wingdings"/>
                          <a:cs typeface="Wingdings"/>
                        </a:rPr>
                        <a:t></a:t>
                      </a:r>
                      <a:r>
                        <a:rPr sz="1800" spc="-5" dirty="0">
                          <a:latin typeface="Times New Roman"/>
                          <a:cs typeface="Times New Roman"/>
                        </a:rPr>
                        <a:t>shl </a:t>
                      </a:r>
                      <a:r>
                        <a:rPr sz="1800" dirty="0">
                          <a:latin typeface="Times New Roman"/>
                          <a:cs typeface="Times New Roman"/>
                        </a:rPr>
                        <a:t>F</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Shift </a:t>
                      </a:r>
                      <a:r>
                        <a:rPr sz="1800" dirty="0">
                          <a:latin typeface="Times New Roman"/>
                          <a:cs typeface="Times New Roman"/>
                        </a:rPr>
                        <a:t>left F </a:t>
                      </a:r>
                      <a:r>
                        <a:rPr sz="1800" spc="-5" dirty="0">
                          <a:latin typeface="Times New Roman"/>
                          <a:cs typeface="Times New Roman"/>
                        </a:rPr>
                        <a:t>into</a:t>
                      </a:r>
                      <a:r>
                        <a:rPr sz="1800" spc="-30" dirty="0">
                          <a:latin typeface="Times New Roman"/>
                          <a:cs typeface="Times New Roman"/>
                        </a:rPr>
                        <a:t> </a:t>
                      </a:r>
                      <a:r>
                        <a:rPr sz="1800" dirty="0">
                          <a:latin typeface="Times New Roman"/>
                          <a:cs typeface="Times New Roman"/>
                        </a:rPr>
                        <a:t>S</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1835">
                <a:tc>
                  <a:txBody>
                    <a:bodyPr/>
                    <a:lstStyle/>
                    <a:p>
                      <a:pPr algn="ctr">
                        <a:lnSpc>
                          <a:spcPts val="1570"/>
                        </a:lnSpc>
                      </a:pPr>
                      <a:r>
                        <a:rPr sz="1800" dirty="0">
                          <a:latin typeface="Times New Roman"/>
                          <a:cs typeface="Times New Roman"/>
                        </a:rPr>
                        <a:t>1</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570"/>
                        </a:lnSpc>
                      </a:pPr>
                      <a:r>
                        <a:rPr sz="1800" dirty="0">
                          <a:latin typeface="Times New Roman"/>
                          <a:cs typeface="Times New Roman"/>
                        </a:rPr>
                        <a:t>1</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dirty="0">
                          <a:latin typeface="Times New Roman"/>
                          <a:cs typeface="Times New Roman"/>
                        </a:rPr>
                        <a:t>S</a:t>
                      </a:r>
                      <a:r>
                        <a:rPr sz="1800" dirty="0">
                          <a:latin typeface="Wingdings"/>
                          <a:cs typeface="Wingdings"/>
                        </a:rPr>
                        <a:t></a:t>
                      </a:r>
                      <a:r>
                        <a:rPr sz="1800" dirty="0">
                          <a:latin typeface="Times New Roman"/>
                          <a:cs typeface="Times New Roman"/>
                        </a:rPr>
                        <a:t>0</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spc="-5" dirty="0">
                          <a:latin typeface="Times New Roman"/>
                          <a:cs typeface="Times New Roman"/>
                        </a:rPr>
                        <a:t>Transfer 0’s into</a:t>
                      </a:r>
                      <a:r>
                        <a:rPr sz="1800" spc="-10" dirty="0">
                          <a:latin typeface="Times New Roman"/>
                          <a:cs typeface="Times New Roman"/>
                        </a:rPr>
                        <a:t> </a:t>
                      </a:r>
                      <a:r>
                        <a:rPr sz="1800" dirty="0">
                          <a:latin typeface="Times New Roman"/>
                          <a:cs typeface="Times New Roman"/>
                        </a:rPr>
                        <a:t>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cxnSp>
        <p:nvCxnSpPr>
          <p:cNvPr id="6" name="Straight Connector 5">
            <a:extLst>
              <a:ext uri="{FF2B5EF4-FFF2-40B4-BE49-F238E27FC236}">
                <a16:creationId xmlns:a16="http://schemas.microsoft.com/office/drawing/2014/main" id="{30C4DDE9-359E-2EE2-0102-CD6D606A37C6}"/>
              </a:ext>
            </a:extLst>
          </p:cNvPr>
          <p:cNvCxnSpPr>
            <a:cxnSpLocks/>
          </p:cNvCxnSpPr>
          <p:nvPr/>
        </p:nvCxnSpPr>
        <p:spPr>
          <a:xfrm>
            <a:off x="5052769" y="1244339"/>
            <a:ext cx="0" cy="26206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FD8E6C9-D878-6ECC-3449-B402B051127F}"/>
              </a:ext>
            </a:extLst>
          </p:cNvPr>
          <p:cNvCxnSpPr>
            <a:cxnSpLocks/>
          </p:cNvCxnSpPr>
          <p:nvPr/>
        </p:nvCxnSpPr>
        <p:spPr>
          <a:xfrm>
            <a:off x="6770016" y="1255334"/>
            <a:ext cx="0" cy="26206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3A6C07-2DC7-DF5D-A016-96E84D7CFBFA}"/>
              </a:ext>
            </a:extLst>
          </p:cNvPr>
          <p:cNvCxnSpPr>
            <a:cxnSpLocks/>
          </p:cNvCxnSpPr>
          <p:nvPr/>
        </p:nvCxnSpPr>
        <p:spPr>
          <a:xfrm>
            <a:off x="8542255" y="1274189"/>
            <a:ext cx="0" cy="26206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1FD1BEA-DC27-9A41-916A-4A7016F36870}"/>
              </a:ext>
            </a:extLst>
          </p:cNvPr>
          <p:cNvCxnSpPr>
            <a:cxnSpLocks/>
          </p:cNvCxnSpPr>
          <p:nvPr/>
        </p:nvCxnSpPr>
        <p:spPr>
          <a:xfrm>
            <a:off x="10276789" y="1170491"/>
            <a:ext cx="0" cy="262065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6493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30293-C663-6425-9BB0-7EB1732BC80F}"/>
              </a:ext>
            </a:extLst>
          </p:cNvPr>
          <p:cNvSpPr>
            <a:spLocks noGrp="1"/>
          </p:cNvSpPr>
          <p:nvPr>
            <p:ph idx="1"/>
          </p:nvPr>
        </p:nvSpPr>
        <p:spPr>
          <a:xfrm>
            <a:off x="-254524" y="292231"/>
            <a:ext cx="3968685" cy="5884732"/>
          </a:xfrm>
        </p:spPr>
        <p:txBody>
          <a:bodyPr>
            <a:normAutofit/>
          </a:bodyPr>
          <a:lstStyle/>
          <a:p>
            <a:pPr marL="697865" marR="6985" lvl="1" indent="-228600">
              <a:lnSpc>
                <a:spcPts val="2410"/>
              </a:lnSpc>
              <a:spcBef>
                <a:spcPts val="204"/>
              </a:spcBef>
              <a:buAutoNum type="arabicPeriod"/>
              <a:tabLst>
                <a:tab pos="698500" algn="l"/>
              </a:tabLst>
            </a:pPr>
            <a:r>
              <a:rPr lang="en-US" dirty="0">
                <a:latin typeface="Times New Roman"/>
                <a:cs typeface="Times New Roman"/>
              </a:rPr>
              <a:t>If H1 </a:t>
            </a:r>
            <a:r>
              <a:rPr lang="en-US" spc="-5" dirty="0">
                <a:latin typeface="Times New Roman"/>
                <a:cs typeface="Times New Roman"/>
              </a:rPr>
              <a:t>H0=00, </a:t>
            </a:r>
            <a:r>
              <a:rPr lang="en-US" dirty="0">
                <a:latin typeface="Times New Roman"/>
                <a:cs typeface="Times New Roman"/>
              </a:rPr>
              <a:t>no </a:t>
            </a:r>
            <a:r>
              <a:rPr lang="en-US" spc="-5" dirty="0">
                <a:latin typeface="Times New Roman"/>
                <a:cs typeface="Times New Roman"/>
              </a:rPr>
              <a:t>shift </a:t>
            </a:r>
            <a:r>
              <a:rPr lang="en-US" dirty="0">
                <a:latin typeface="Times New Roman"/>
                <a:cs typeface="Times New Roman"/>
              </a:rPr>
              <a:t>is </a:t>
            </a:r>
            <a:r>
              <a:rPr lang="en-US" spc="-5" dirty="0">
                <a:latin typeface="Times New Roman"/>
                <a:cs typeface="Times New Roman"/>
              </a:rPr>
              <a:t>executed and the signals from </a:t>
            </a:r>
            <a:r>
              <a:rPr lang="en-US" dirty="0">
                <a:latin typeface="Times New Roman"/>
                <a:cs typeface="Times New Roman"/>
              </a:rPr>
              <a:t>F </a:t>
            </a:r>
            <a:r>
              <a:rPr lang="en-US" spc="-5" dirty="0">
                <a:latin typeface="Times New Roman"/>
                <a:cs typeface="Times New Roman"/>
              </a:rPr>
              <a:t>go directly  </a:t>
            </a:r>
            <a:r>
              <a:rPr lang="en-US" dirty="0">
                <a:latin typeface="Times New Roman"/>
                <a:cs typeface="Times New Roman"/>
              </a:rPr>
              <a:t>to </a:t>
            </a:r>
            <a:r>
              <a:rPr lang="en-US" spc="-5" dirty="0">
                <a:latin typeface="Times New Roman"/>
                <a:cs typeface="Times New Roman"/>
              </a:rPr>
              <a:t>the </a:t>
            </a:r>
            <a:r>
              <a:rPr lang="en-US" dirty="0">
                <a:latin typeface="Times New Roman"/>
                <a:cs typeface="Times New Roman"/>
              </a:rPr>
              <a:t>S</a:t>
            </a:r>
            <a:r>
              <a:rPr lang="en-US" spc="-20" dirty="0">
                <a:latin typeface="Times New Roman"/>
                <a:cs typeface="Times New Roman"/>
              </a:rPr>
              <a:t> </a:t>
            </a:r>
            <a:r>
              <a:rPr lang="en-US" spc="-5" dirty="0">
                <a:latin typeface="Times New Roman"/>
                <a:cs typeface="Times New Roman"/>
              </a:rPr>
              <a:t>lines.</a:t>
            </a:r>
            <a:endParaRPr lang="en-US" dirty="0">
              <a:latin typeface="Times New Roman"/>
              <a:cs typeface="Times New Roman"/>
            </a:endParaRPr>
          </a:p>
          <a:p>
            <a:pPr marL="697865" lvl="1" indent="-229235">
              <a:lnSpc>
                <a:spcPct val="100000"/>
              </a:lnSpc>
              <a:spcBef>
                <a:spcPts val="5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H0=01, shift right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0"/>
              </a:spcBef>
              <a:buAutoNum type="arabicPeriod"/>
              <a:tabLst>
                <a:tab pos="698500" algn="l"/>
              </a:tabLst>
            </a:pPr>
            <a:r>
              <a:rPr lang="en-US" dirty="0">
                <a:latin typeface="Times New Roman"/>
                <a:cs typeface="Times New Roman"/>
              </a:rPr>
              <a:t>If </a:t>
            </a:r>
            <a:r>
              <a:rPr lang="en-US" spc="-5" dirty="0">
                <a:latin typeface="Times New Roman"/>
                <a:cs typeface="Times New Roman"/>
              </a:rPr>
              <a:t>H1 H0=10, shift left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H0=11, </a:t>
            </a:r>
            <a:r>
              <a:rPr lang="en-US" dirty="0">
                <a:latin typeface="Times New Roman"/>
                <a:cs typeface="Times New Roman"/>
              </a:rPr>
              <a:t>no</a:t>
            </a:r>
            <a:r>
              <a:rPr lang="en-US" spc="-35" dirty="0">
                <a:latin typeface="Times New Roman"/>
                <a:cs typeface="Times New Roman"/>
              </a:rPr>
              <a:t> </a:t>
            </a:r>
            <a:r>
              <a:rPr lang="en-US" spc="-5" dirty="0">
                <a:latin typeface="Times New Roman"/>
                <a:cs typeface="Times New Roman"/>
              </a:rPr>
              <a:t>operation</a:t>
            </a:r>
            <a:endParaRPr lang="en-US" dirty="0"/>
          </a:p>
        </p:txBody>
      </p:sp>
      <p:sp>
        <p:nvSpPr>
          <p:cNvPr id="4" name="object 4">
            <a:extLst>
              <a:ext uri="{FF2B5EF4-FFF2-40B4-BE49-F238E27FC236}">
                <a16:creationId xmlns:a16="http://schemas.microsoft.com/office/drawing/2014/main" id="{9A202468-BD77-8246-5DCA-0F743F0CDCB0}"/>
              </a:ext>
            </a:extLst>
          </p:cNvPr>
          <p:cNvSpPr/>
          <p:nvPr/>
        </p:nvSpPr>
        <p:spPr>
          <a:xfrm>
            <a:off x="3908981" y="932542"/>
            <a:ext cx="8037006" cy="4421884"/>
          </a:xfrm>
          <a:prstGeom prst="rect">
            <a:avLst/>
          </a:prstGeom>
          <a:blipFill>
            <a:blip r:embed="rId2" cstate="print"/>
            <a:stretch>
              <a:fillRect/>
            </a:stretch>
          </a:blipFill>
        </p:spPr>
        <p:txBody>
          <a:bodyPr wrap="square" lIns="0" tIns="0" rIns="0" bIns="0" rtlCol="0"/>
          <a:lstStyle/>
          <a:p>
            <a:endParaRPr/>
          </a:p>
        </p:txBody>
      </p:sp>
      <p:graphicFrame>
        <p:nvGraphicFramePr>
          <p:cNvPr id="5" name="object 3">
            <a:extLst>
              <a:ext uri="{FF2B5EF4-FFF2-40B4-BE49-F238E27FC236}">
                <a16:creationId xmlns:a16="http://schemas.microsoft.com/office/drawing/2014/main" id="{CD1E2A89-F074-7ED0-96B0-D749AD70F3EB}"/>
              </a:ext>
            </a:extLst>
          </p:cNvPr>
          <p:cNvGraphicFramePr>
            <a:graphicFrameLocks noGrp="1"/>
          </p:cNvGraphicFramePr>
          <p:nvPr>
            <p:extLst>
              <p:ext uri="{D42A27DB-BD31-4B8C-83A1-F6EECF244321}">
                <p14:modId xmlns:p14="http://schemas.microsoft.com/office/powerpoint/2010/main" val="1912988466"/>
              </p:ext>
            </p:extLst>
          </p:nvPr>
        </p:nvGraphicFramePr>
        <p:xfrm>
          <a:off x="476307" y="5395086"/>
          <a:ext cx="7168830" cy="1333245"/>
        </p:xfrm>
        <a:graphic>
          <a:graphicData uri="http://schemas.openxmlformats.org/drawingml/2006/table">
            <a:tbl>
              <a:tblPr firstRow="1" bandRow="1">
                <a:tableStyleId>{2D5ABB26-0587-4C30-8999-92F81FD0307C}</a:tableStyleId>
              </a:tblPr>
              <a:tblGrid>
                <a:gridCol w="1367313">
                  <a:extLst>
                    <a:ext uri="{9D8B030D-6E8A-4147-A177-3AD203B41FA5}">
                      <a16:colId xmlns:a16="http://schemas.microsoft.com/office/drawing/2014/main" val="20000"/>
                    </a:ext>
                  </a:extLst>
                </a:gridCol>
                <a:gridCol w="1589111">
                  <a:extLst>
                    <a:ext uri="{9D8B030D-6E8A-4147-A177-3AD203B41FA5}">
                      <a16:colId xmlns:a16="http://schemas.microsoft.com/office/drawing/2014/main" val="20001"/>
                    </a:ext>
                  </a:extLst>
                </a:gridCol>
                <a:gridCol w="1509960">
                  <a:extLst>
                    <a:ext uri="{9D8B030D-6E8A-4147-A177-3AD203B41FA5}">
                      <a16:colId xmlns:a16="http://schemas.microsoft.com/office/drawing/2014/main" val="20002"/>
                    </a:ext>
                  </a:extLst>
                </a:gridCol>
                <a:gridCol w="2702446">
                  <a:extLst>
                    <a:ext uri="{9D8B030D-6E8A-4147-A177-3AD203B41FA5}">
                      <a16:colId xmlns:a16="http://schemas.microsoft.com/office/drawing/2014/main" val="20003"/>
                    </a:ext>
                  </a:extLst>
                </a:gridCol>
              </a:tblGrid>
              <a:tr h="234695">
                <a:tc>
                  <a:txBody>
                    <a:bodyPr/>
                    <a:lstStyle/>
                    <a:p>
                      <a:pPr marL="635" algn="ctr">
                        <a:lnSpc>
                          <a:spcPct val="100000"/>
                        </a:lnSpc>
                        <a:spcBef>
                          <a:spcPts val="25"/>
                        </a:spcBef>
                      </a:pPr>
                      <a:r>
                        <a:rPr sz="1800" b="1" spc="-5" dirty="0">
                          <a:latin typeface="Times New Roman"/>
                          <a:cs typeface="Times New Roman"/>
                        </a:rPr>
                        <a:t>H1</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ct val="100000"/>
                        </a:lnSpc>
                        <a:spcBef>
                          <a:spcPts val="25"/>
                        </a:spcBef>
                      </a:pPr>
                      <a:r>
                        <a:rPr sz="1800" b="1" spc="-5" dirty="0">
                          <a:latin typeface="Times New Roman"/>
                          <a:cs typeface="Times New Roman"/>
                        </a:rPr>
                        <a:t>H0</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60020">
                        <a:lnSpc>
                          <a:spcPct val="100000"/>
                        </a:lnSpc>
                        <a:spcBef>
                          <a:spcPts val="25"/>
                        </a:spcBef>
                      </a:pPr>
                      <a:r>
                        <a:rPr sz="1800" b="1" spc="-5" dirty="0">
                          <a:latin typeface="Times New Roman"/>
                          <a:cs typeface="Times New Roman"/>
                        </a:rPr>
                        <a:t>Operation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4525">
                        <a:lnSpc>
                          <a:spcPct val="100000"/>
                        </a:lnSpc>
                        <a:spcBef>
                          <a:spcPts val="25"/>
                        </a:spcBef>
                      </a:pPr>
                      <a:r>
                        <a:rPr sz="1800" b="1" spc="-5" dirty="0">
                          <a:latin typeface="Times New Roman"/>
                          <a:cs typeface="Times New Roman"/>
                        </a:rPr>
                        <a:t>Function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41045">
                <a:tc>
                  <a:txBody>
                    <a:bodyPr/>
                    <a:lstStyle/>
                    <a:p>
                      <a:pPr algn="ctr">
                        <a:lnSpc>
                          <a:spcPct val="100000"/>
                        </a:lnSpc>
                        <a:spcBef>
                          <a:spcPts val="50"/>
                        </a:spcBef>
                      </a:pPr>
                      <a:r>
                        <a:rPr sz="1800" dirty="0">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latin typeface="Times New Roman"/>
                          <a:cs typeface="Times New Roman"/>
                        </a:rPr>
                        <a:t>0</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dirty="0">
                          <a:latin typeface="Times New Roman"/>
                          <a:cs typeface="Times New Roman"/>
                        </a:rPr>
                        <a:t>S</a:t>
                      </a:r>
                      <a:r>
                        <a:rPr sz="1800" dirty="0">
                          <a:latin typeface="Wingdings"/>
                          <a:cs typeface="Wingdings"/>
                        </a:rPr>
                        <a:t></a:t>
                      </a:r>
                      <a:r>
                        <a:rPr sz="1800" dirty="0">
                          <a:latin typeface="Times New Roman"/>
                          <a:cs typeface="Times New Roman"/>
                        </a:rPr>
                        <a:t>F</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Transfer </a:t>
                      </a:r>
                      <a:r>
                        <a:rPr sz="1800" dirty="0">
                          <a:latin typeface="Times New Roman"/>
                          <a:cs typeface="Times New Roman"/>
                        </a:rPr>
                        <a:t>F </a:t>
                      </a:r>
                      <a:r>
                        <a:rPr sz="1800" spc="-5" dirty="0">
                          <a:latin typeface="Times New Roman"/>
                          <a:cs typeface="Times New Roman"/>
                        </a:rPr>
                        <a:t>to </a:t>
                      </a:r>
                      <a:r>
                        <a:rPr sz="1800" dirty="0">
                          <a:latin typeface="Times New Roman"/>
                          <a:cs typeface="Times New Roman"/>
                        </a:rPr>
                        <a:t>S </a:t>
                      </a:r>
                      <a:r>
                        <a:rPr sz="1800" spc="-5" dirty="0">
                          <a:latin typeface="Times New Roman"/>
                          <a:cs typeface="Times New Roman"/>
                        </a:rPr>
                        <a:t>(no</a:t>
                      </a:r>
                      <a:r>
                        <a:rPr sz="1800" spc="-35" dirty="0">
                          <a:latin typeface="Times New Roman"/>
                          <a:cs typeface="Times New Roman"/>
                        </a:rPr>
                        <a:t> </a:t>
                      </a:r>
                      <a:r>
                        <a:rPr sz="1800" spc="-5" dirty="0">
                          <a:latin typeface="Times New Roman"/>
                          <a:cs typeface="Times New Roman"/>
                        </a:rPr>
                        <a:t>shift)</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42316">
                <a:tc>
                  <a:txBody>
                    <a:bodyPr/>
                    <a:lstStyle/>
                    <a:p>
                      <a:pPr algn="ctr">
                        <a:lnSpc>
                          <a:spcPct val="100000"/>
                        </a:lnSpc>
                        <a:spcBef>
                          <a:spcPts val="65"/>
                        </a:spcBef>
                      </a:pPr>
                      <a:r>
                        <a:rPr sz="1800" dirty="0">
                          <a:solidFill>
                            <a:srgbClr val="FF0000"/>
                          </a:solidFill>
                          <a:latin typeface="Times New Roman"/>
                          <a:cs typeface="Times New Roman"/>
                        </a:rPr>
                        <a:t>0</a:t>
                      </a: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sz="1800" dirty="0">
                          <a:solidFill>
                            <a:srgbClr val="FF0000"/>
                          </a:solidFill>
                          <a:latin typeface="Times New Roman"/>
                          <a:cs typeface="Times New Roman"/>
                        </a:rPr>
                        <a:t>1</a:t>
                      </a:r>
                      <a:endParaRPr sz="1800">
                        <a:solidFill>
                          <a:srgbClr val="FF0000"/>
                        </a:solidFill>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solidFill>
                            <a:srgbClr val="FF0000"/>
                          </a:solidFill>
                          <a:latin typeface="Times New Roman"/>
                          <a:cs typeface="Times New Roman"/>
                        </a:rPr>
                        <a:t>S</a:t>
                      </a:r>
                      <a:r>
                        <a:rPr sz="1800" spc="-5" dirty="0">
                          <a:solidFill>
                            <a:srgbClr val="FF0000"/>
                          </a:solidFill>
                          <a:latin typeface="Wingdings"/>
                          <a:cs typeface="Wingdings"/>
                        </a:rPr>
                        <a:t></a:t>
                      </a:r>
                      <a:r>
                        <a:rPr sz="1800" spc="-5" dirty="0">
                          <a:solidFill>
                            <a:srgbClr val="FF0000"/>
                          </a:solidFill>
                          <a:latin typeface="Times New Roman"/>
                          <a:cs typeface="Times New Roman"/>
                        </a:rPr>
                        <a:t>shr</a:t>
                      </a:r>
                      <a:r>
                        <a:rPr sz="1800" spc="-10" dirty="0">
                          <a:solidFill>
                            <a:srgbClr val="FF0000"/>
                          </a:solidFill>
                          <a:latin typeface="Times New Roman"/>
                          <a:cs typeface="Times New Roman"/>
                        </a:rPr>
                        <a:t> </a:t>
                      </a:r>
                      <a:r>
                        <a:rPr sz="1800" dirty="0">
                          <a:solidFill>
                            <a:srgbClr val="FF0000"/>
                          </a:solidFill>
                          <a:latin typeface="Times New Roman"/>
                          <a:cs typeface="Times New Roman"/>
                        </a:rPr>
                        <a:t>F</a:t>
                      </a:r>
                      <a:endParaRPr sz="1800">
                        <a:solidFill>
                          <a:srgbClr val="FF0000"/>
                        </a:solidFill>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solidFill>
                            <a:srgbClr val="FF0000"/>
                          </a:solidFill>
                          <a:latin typeface="Times New Roman"/>
                          <a:cs typeface="Times New Roman"/>
                        </a:rPr>
                        <a:t>Shift </a:t>
                      </a:r>
                      <a:r>
                        <a:rPr sz="1800" spc="-10" dirty="0">
                          <a:solidFill>
                            <a:srgbClr val="FF0000"/>
                          </a:solidFill>
                          <a:latin typeface="Times New Roman"/>
                          <a:cs typeface="Times New Roman"/>
                        </a:rPr>
                        <a:t>right </a:t>
                      </a:r>
                      <a:r>
                        <a:rPr sz="1800" dirty="0">
                          <a:solidFill>
                            <a:srgbClr val="FF0000"/>
                          </a:solidFill>
                          <a:latin typeface="Times New Roman"/>
                          <a:cs typeface="Times New Roman"/>
                        </a:rPr>
                        <a:t>F </a:t>
                      </a:r>
                      <a:r>
                        <a:rPr sz="1800" spc="-5" dirty="0">
                          <a:solidFill>
                            <a:srgbClr val="FF0000"/>
                          </a:solidFill>
                          <a:latin typeface="Times New Roman"/>
                          <a:cs typeface="Times New Roman"/>
                        </a:rPr>
                        <a:t>into</a:t>
                      </a:r>
                      <a:r>
                        <a:rPr sz="1800" spc="5" dirty="0">
                          <a:solidFill>
                            <a:srgbClr val="FF0000"/>
                          </a:solidFill>
                          <a:latin typeface="Times New Roman"/>
                          <a:cs typeface="Times New Roman"/>
                        </a:rPr>
                        <a:t> </a:t>
                      </a:r>
                      <a:r>
                        <a:rPr sz="1800" dirty="0">
                          <a:solidFill>
                            <a:srgbClr val="FF0000"/>
                          </a:solidFill>
                          <a:latin typeface="Times New Roman"/>
                          <a:cs typeface="Times New Roman"/>
                        </a:rPr>
                        <a:t>S</a:t>
                      </a: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40792">
                <a:tc>
                  <a:txBody>
                    <a:bodyPr/>
                    <a:lstStyle/>
                    <a:p>
                      <a:pPr algn="ctr">
                        <a:lnSpc>
                          <a:spcPct val="100000"/>
                        </a:lnSpc>
                        <a:spcBef>
                          <a:spcPts val="50"/>
                        </a:spcBef>
                      </a:pPr>
                      <a:r>
                        <a:rPr sz="1800" dirty="0">
                          <a:latin typeface="Times New Roman"/>
                          <a:cs typeface="Times New Roman"/>
                        </a:rPr>
                        <a:t>1</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S</a:t>
                      </a:r>
                      <a:r>
                        <a:rPr sz="1800" spc="-5" dirty="0">
                          <a:latin typeface="Wingdings"/>
                          <a:cs typeface="Wingdings"/>
                        </a:rPr>
                        <a:t></a:t>
                      </a:r>
                      <a:r>
                        <a:rPr sz="1800" spc="-5" dirty="0">
                          <a:latin typeface="Times New Roman"/>
                          <a:cs typeface="Times New Roman"/>
                        </a:rPr>
                        <a:t>shl </a:t>
                      </a:r>
                      <a:r>
                        <a:rPr sz="1800" dirty="0">
                          <a:latin typeface="Times New Roman"/>
                          <a:cs typeface="Times New Roman"/>
                        </a:rPr>
                        <a:t>F</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Shift </a:t>
                      </a:r>
                      <a:r>
                        <a:rPr sz="1800" dirty="0">
                          <a:latin typeface="Times New Roman"/>
                          <a:cs typeface="Times New Roman"/>
                        </a:rPr>
                        <a:t>left F </a:t>
                      </a:r>
                      <a:r>
                        <a:rPr sz="1800" spc="-5" dirty="0">
                          <a:latin typeface="Times New Roman"/>
                          <a:cs typeface="Times New Roman"/>
                        </a:rPr>
                        <a:t>into</a:t>
                      </a:r>
                      <a:r>
                        <a:rPr sz="1800" spc="-30" dirty="0">
                          <a:latin typeface="Times New Roman"/>
                          <a:cs typeface="Times New Roman"/>
                        </a:rPr>
                        <a:t> </a:t>
                      </a:r>
                      <a:r>
                        <a:rPr sz="1800" dirty="0">
                          <a:latin typeface="Times New Roman"/>
                          <a:cs typeface="Times New Roman"/>
                        </a:rPr>
                        <a:t>S</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1835">
                <a:tc>
                  <a:txBody>
                    <a:bodyPr/>
                    <a:lstStyle/>
                    <a:p>
                      <a:pPr algn="ctr">
                        <a:lnSpc>
                          <a:spcPts val="1570"/>
                        </a:lnSpc>
                      </a:pPr>
                      <a:r>
                        <a:rPr sz="1800" dirty="0">
                          <a:latin typeface="Times New Roman"/>
                          <a:cs typeface="Times New Roman"/>
                        </a:rPr>
                        <a:t>1</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570"/>
                        </a:lnSpc>
                      </a:pPr>
                      <a:r>
                        <a:rPr sz="1800" dirty="0">
                          <a:latin typeface="Times New Roman"/>
                          <a:cs typeface="Times New Roman"/>
                        </a:rPr>
                        <a:t>1</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dirty="0">
                          <a:latin typeface="Times New Roman"/>
                          <a:cs typeface="Times New Roman"/>
                        </a:rPr>
                        <a:t>S</a:t>
                      </a:r>
                      <a:r>
                        <a:rPr sz="1800" dirty="0">
                          <a:latin typeface="Wingdings"/>
                          <a:cs typeface="Wingdings"/>
                        </a:rPr>
                        <a:t></a:t>
                      </a:r>
                      <a:r>
                        <a:rPr sz="1800" dirty="0">
                          <a:latin typeface="Times New Roman"/>
                          <a:cs typeface="Times New Roman"/>
                        </a:rPr>
                        <a:t>0</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spc="-5" dirty="0">
                          <a:latin typeface="Times New Roman"/>
                          <a:cs typeface="Times New Roman"/>
                        </a:rPr>
                        <a:t>Transfer 0’s into</a:t>
                      </a:r>
                      <a:r>
                        <a:rPr sz="1800" spc="-10" dirty="0">
                          <a:latin typeface="Times New Roman"/>
                          <a:cs typeface="Times New Roman"/>
                        </a:rPr>
                        <a:t> </a:t>
                      </a:r>
                      <a:r>
                        <a:rPr sz="1800" dirty="0">
                          <a:latin typeface="Times New Roman"/>
                          <a:cs typeface="Times New Roman"/>
                        </a:rPr>
                        <a:t>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cxnSp>
        <p:nvCxnSpPr>
          <p:cNvPr id="6" name="Straight Connector 5">
            <a:extLst>
              <a:ext uri="{FF2B5EF4-FFF2-40B4-BE49-F238E27FC236}">
                <a16:creationId xmlns:a16="http://schemas.microsoft.com/office/drawing/2014/main" id="{F40FCB3B-A2E4-3183-5757-70B93CFBE708}"/>
              </a:ext>
            </a:extLst>
          </p:cNvPr>
          <p:cNvCxnSpPr/>
          <p:nvPr/>
        </p:nvCxnSpPr>
        <p:spPr>
          <a:xfrm>
            <a:off x="4392891" y="3506771"/>
            <a:ext cx="92382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25207F-133A-0C25-FB2C-623E7170BA05}"/>
              </a:ext>
            </a:extLst>
          </p:cNvPr>
          <p:cNvCxnSpPr>
            <a:cxnSpLocks/>
          </p:cNvCxnSpPr>
          <p:nvPr/>
        </p:nvCxnSpPr>
        <p:spPr>
          <a:xfrm>
            <a:off x="5054339" y="3037002"/>
            <a:ext cx="195920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46FC3F-C6F8-FBCF-91CC-93895DDA94AB}"/>
              </a:ext>
            </a:extLst>
          </p:cNvPr>
          <p:cNvCxnSpPr>
            <a:cxnSpLocks/>
          </p:cNvCxnSpPr>
          <p:nvPr/>
        </p:nvCxnSpPr>
        <p:spPr>
          <a:xfrm>
            <a:off x="6826577" y="2518528"/>
            <a:ext cx="194035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495D9BC-911D-EEAF-7F89-DCBB63A66381}"/>
              </a:ext>
            </a:extLst>
          </p:cNvPr>
          <p:cNvCxnSpPr>
            <a:cxnSpLocks/>
          </p:cNvCxnSpPr>
          <p:nvPr/>
        </p:nvCxnSpPr>
        <p:spPr>
          <a:xfrm>
            <a:off x="8590960" y="2020478"/>
            <a:ext cx="194035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D6A3624-2516-165D-E293-F15558A83113}"/>
              </a:ext>
            </a:extLst>
          </p:cNvPr>
          <p:cNvCxnSpPr>
            <a:cxnSpLocks/>
          </p:cNvCxnSpPr>
          <p:nvPr/>
        </p:nvCxnSpPr>
        <p:spPr>
          <a:xfrm>
            <a:off x="10531311" y="2069184"/>
            <a:ext cx="34565" cy="161826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0BC256-A437-54AC-65EA-1160FDE72AC5}"/>
              </a:ext>
            </a:extLst>
          </p:cNvPr>
          <p:cNvCxnSpPr>
            <a:cxnSpLocks/>
          </p:cNvCxnSpPr>
          <p:nvPr/>
        </p:nvCxnSpPr>
        <p:spPr>
          <a:xfrm>
            <a:off x="8770070" y="2518528"/>
            <a:ext cx="72272" cy="137474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AF8A29A-75A9-C1DC-E9E4-EA79071D0B56}"/>
              </a:ext>
            </a:extLst>
          </p:cNvPr>
          <p:cNvCxnSpPr>
            <a:cxnSpLocks/>
          </p:cNvCxnSpPr>
          <p:nvPr/>
        </p:nvCxnSpPr>
        <p:spPr>
          <a:xfrm>
            <a:off x="7037110" y="2964730"/>
            <a:ext cx="0" cy="85312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5843438-8CD7-D886-C6A0-BE4A9CAFE901}"/>
              </a:ext>
            </a:extLst>
          </p:cNvPr>
          <p:cNvCxnSpPr>
            <a:cxnSpLocks/>
          </p:cNvCxnSpPr>
          <p:nvPr/>
        </p:nvCxnSpPr>
        <p:spPr>
          <a:xfrm>
            <a:off x="5316718" y="3547432"/>
            <a:ext cx="0" cy="34583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2F893B6-AC0B-7159-163F-FC6E48434CDE}"/>
              </a:ext>
            </a:extLst>
          </p:cNvPr>
          <p:cNvCxnSpPr>
            <a:cxnSpLocks/>
          </p:cNvCxnSpPr>
          <p:nvPr/>
        </p:nvCxnSpPr>
        <p:spPr>
          <a:xfrm>
            <a:off x="10263432" y="1662260"/>
            <a:ext cx="53575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03503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30293-C663-6425-9BB0-7EB1732BC80F}"/>
              </a:ext>
            </a:extLst>
          </p:cNvPr>
          <p:cNvSpPr>
            <a:spLocks noGrp="1"/>
          </p:cNvSpPr>
          <p:nvPr>
            <p:ph idx="1"/>
          </p:nvPr>
        </p:nvSpPr>
        <p:spPr>
          <a:xfrm>
            <a:off x="-254524" y="292231"/>
            <a:ext cx="3968685" cy="5884732"/>
          </a:xfrm>
        </p:spPr>
        <p:txBody>
          <a:bodyPr>
            <a:normAutofit/>
          </a:bodyPr>
          <a:lstStyle/>
          <a:p>
            <a:pPr marL="697865" marR="6985" lvl="1" indent="-228600">
              <a:lnSpc>
                <a:spcPts val="2410"/>
              </a:lnSpc>
              <a:spcBef>
                <a:spcPts val="204"/>
              </a:spcBef>
              <a:buAutoNum type="arabicPeriod"/>
              <a:tabLst>
                <a:tab pos="698500" algn="l"/>
              </a:tabLst>
            </a:pPr>
            <a:r>
              <a:rPr lang="en-US" dirty="0">
                <a:latin typeface="Times New Roman"/>
                <a:cs typeface="Times New Roman"/>
              </a:rPr>
              <a:t>If H1 </a:t>
            </a:r>
            <a:r>
              <a:rPr lang="en-US" spc="-5" dirty="0">
                <a:latin typeface="Times New Roman"/>
                <a:cs typeface="Times New Roman"/>
              </a:rPr>
              <a:t>H0=00, </a:t>
            </a:r>
            <a:r>
              <a:rPr lang="en-US" dirty="0">
                <a:latin typeface="Times New Roman"/>
                <a:cs typeface="Times New Roman"/>
              </a:rPr>
              <a:t>no </a:t>
            </a:r>
            <a:r>
              <a:rPr lang="en-US" spc="-5" dirty="0">
                <a:latin typeface="Times New Roman"/>
                <a:cs typeface="Times New Roman"/>
              </a:rPr>
              <a:t>shift </a:t>
            </a:r>
            <a:r>
              <a:rPr lang="en-US" dirty="0">
                <a:latin typeface="Times New Roman"/>
                <a:cs typeface="Times New Roman"/>
              </a:rPr>
              <a:t>is </a:t>
            </a:r>
            <a:r>
              <a:rPr lang="en-US" spc="-5" dirty="0">
                <a:latin typeface="Times New Roman"/>
                <a:cs typeface="Times New Roman"/>
              </a:rPr>
              <a:t>executed and the signals from </a:t>
            </a:r>
            <a:r>
              <a:rPr lang="en-US" dirty="0">
                <a:latin typeface="Times New Roman"/>
                <a:cs typeface="Times New Roman"/>
              </a:rPr>
              <a:t>F </a:t>
            </a:r>
            <a:r>
              <a:rPr lang="en-US" spc="-5" dirty="0">
                <a:latin typeface="Times New Roman"/>
                <a:cs typeface="Times New Roman"/>
              </a:rPr>
              <a:t>go directly  </a:t>
            </a:r>
            <a:r>
              <a:rPr lang="en-US" dirty="0">
                <a:latin typeface="Times New Roman"/>
                <a:cs typeface="Times New Roman"/>
              </a:rPr>
              <a:t>to </a:t>
            </a:r>
            <a:r>
              <a:rPr lang="en-US" spc="-5" dirty="0">
                <a:latin typeface="Times New Roman"/>
                <a:cs typeface="Times New Roman"/>
              </a:rPr>
              <a:t>the </a:t>
            </a:r>
            <a:r>
              <a:rPr lang="en-US" dirty="0">
                <a:latin typeface="Times New Roman"/>
                <a:cs typeface="Times New Roman"/>
              </a:rPr>
              <a:t>S</a:t>
            </a:r>
            <a:r>
              <a:rPr lang="en-US" spc="-20" dirty="0">
                <a:latin typeface="Times New Roman"/>
                <a:cs typeface="Times New Roman"/>
              </a:rPr>
              <a:t> </a:t>
            </a:r>
            <a:r>
              <a:rPr lang="en-US" spc="-5" dirty="0">
                <a:latin typeface="Times New Roman"/>
                <a:cs typeface="Times New Roman"/>
              </a:rPr>
              <a:t>lines.</a:t>
            </a:r>
            <a:endParaRPr lang="en-US" dirty="0">
              <a:latin typeface="Times New Roman"/>
              <a:cs typeface="Times New Roman"/>
            </a:endParaRPr>
          </a:p>
          <a:p>
            <a:pPr marL="697865" lvl="1" indent="-229235">
              <a:lnSpc>
                <a:spcPct val="100000"/>
              </a:lnSpc>
              <a:spcBef>
                <a:spcPts val="5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H0=01, shift right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0"/>
              </a:spcBef>
              <a:buAutoNum type="arabicPeriod"/>
              <a:tabLst>
                <a:tab pos="698500" algn="l"/>
              </a:tabLst>
            </a:pPr>
            <a:r>
              <a:rPr lang="en-US" dirty="0">
                <a:latin typeface="Times New Roman"/>
                <a:cs typeface="Times New Roman"/>
              </a:rPr>
              <a:t>If </a:t>
            </a:r>
            <a:r>
              <a:rPr lang="en-US" spc="-5" dirty="0">
                <a:latin typeface="Times New Roman"/>
                <a:cs typeface="Times New Roman"/>
              </a:rPr>
              <a:t>H1 H0=10, shift left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H0=11, </a:t>
            </a:r>
            <a:r>
              <a:rPr lang="en-US" dirty="0">
                <a:latin typeface="Times New Roman"/>
                <a:cs typeface="Times New Roman"/>
              </a:rPr>
              <a:t>no</a:t>
            </a:r>
            <a:r>
              <a:rPr lang="en-US" spc="-35" dirty="0">
                <a:latin typeface="Times New Roman"/>
                <a:cs typeface="Times New Roman"/>
              </a:rPr>
              <a:t> </a:t>
            </a:r>
            <a:r>
              <a:rPr lang="en-US" spc="-5" dirty="0">
                <a:latin typeface="Times New Roman"/>
                <a:cs typeface="Times New Roman"/>
              </a:rPr>
              <a:t>operation</a:t>
            </a:r>
            <a:endParaRPr lang="en-US" dirty="0"/>
          </a:p>
        </p:txBody>
      </p:sp>
      <p:sp>
        <p:nvSpPr>
          <p:cNvPr id="4" name="object 4">
            <a:extLst>
              <a:ext uri="{FF2B5EF4-FFF2-40B4-BE49-F238E27FC236}">
                <a16:creationId xmlns:a16="http://schemas.microsoft.com/office/drawing/2014/main" id="{9A202468-BD77-8246-5DCA-0F743F0CDCB0}"/>
              </a:ext>
            </a:extLst>
          </p:cNvPr>
          <p:cNvSpPr/>
          <p:nvPr/>
        </p:nvSpPr>
        <p:spPr>
          <a:xfrm>
            <a:off x="3908981" y="932542"/>
            <a:ext cx="8037006" cy="4421884"/>
          </a:xfrm>
          <a:prstGeom prst="rect">
            <a:avLst/>
          </a:prstGeom>
          <a:blipFill>
            <a:blip r:embed="rId2" cstate="print"/>
            <a:stretch>
              <a:fillRect/>
            </a:stretch>
          </a:blipFill>
        </p:spPr>
        <p:txBody>
          <a:bodyPr wrap="square" lIns="0" tIns="0" rIns="0" bIns="0" rtlCol="0"/>
          <a:lstStyle/>
          <a:p>
            <a:endParaRPr/>
          </a:p>
        </p:txBody>
      </p:sp>
      <p:graphicFrame>
        <p:nvGraphicFramePr>
          <p:cNvPr id="5" name="object 3">
            <a:extLst>
              <a:ext uri="{FF2B5EF4-FFF2-40B4-BE49-F238E27FC236}">
                <a16:creationId xmlns:a16="http://schemas.microsoft.com/office/drawing/2014/main" id="{CD1E2A89-F074-7ED0-96B0-D749AD70F3EB}"/>
              </a:ext>
            </a:extLst>
          </p:cNvPr>
          <p:cNvGraphicFramePr>
            <a:graphicFrameLocks noGrp="1"/>
          </p:cNvGraphicFramePr>
          <p:nvPr>
            <p:extLst>
              <p:ext uri="{D42A27DB-BD31-4B8C-83A1-F6EECF244321}">
                <p14:modId xmlns:p14="http://schemas.microsoft.com/office/powerpoint/2010/main" val="1635381884"/>
              </p:ext>
            </p:extLst>
          </p:nvPr>
        </p:nvGraphicFramePr>
        <p:xfrm>
          <a:off x="476307" y="5395086"/>
          <a:ext cx="7168830" cy="1333245"/>
        </p:xfrm>
        <a:graphic>
          <a:graphicData uri="http://schemas.openxmlformats.org/drawingml/2006/table">
            <a:tbl>
              <a:tblPr firstRow="1" bandRow="1">
                <a:tableStyleId>{2D5ABB26-0587-4C30-8999-92F81FD0307C}</a:tableStyleId>
              </a:tblPr>
              <a:tblGrid>
                <a:gridCol w="1367313">
                  <a:extLst>
                    <a:ext uri="{9D8B030D-6E8A-4147-A177-3AD203B41FA5}">
                      <a16:colId xmlns:a16="http://schemas.microsoft.com/office/drawing/2014/main" val="20000"/>
                    </a:ext>
                  </a:extLst>
                </a:gridCol>
                <a:gridCol w="1589111">
                  <a:extLst>
                    <a:ext uri="{9D8B030D-6E8A-4147-A177-3AD203B41FA5}">
                      <a16:colId xmlns:a16="http://schemas.microsoft.com/office/drawing/2014/main" val="20001"/>
                    </a:ext>
                  </a:extLst>
                </a:gridCol>
                <a:gridCol w="1509960">
                  <a:extLst>
                    <a:ext uri="{9D8B030D-6E8A-4147-A177-3AD203B41FA5}">
                      <a16:colId xmlns:a16="http://schemas.microsoft.com/office/drawing/2014/main" val="20002"/>
                    </a:ext>
                  </a:extLst>
                </a:gridCol>
                <a:gridCol w="2702446">
                  <a:extLst>
                    <a:ext uri="{9D8B030D-6E8A-4147-A177-3AD203B41FA5}">
                      <a16:colId xmlns:a16="http://schemas.microsoft.com/office/drawing/2014/main" val="20003"/>
                    </a:ext>
                  </a:extLst>
                </a:gridCol>
              </a:tblGrid>
              <a:tr h="234695">
                <a:tc>
                  <a:txBody>
                    <a:bodyPr/>
                    <a:lstStyle/>
                    <a:p>
                      <a:pPr marL="635" algn="ctr">
                        <a:lnSpc>
                          <a:spcPct val="100000"/>
                        </a:lnSpc>
                        <a:spcBef>
                          <a:spcPts val="25"/>
                        </a:spcBef>
                      </a:pPr>
                      <a:r>
                        <a:rPr sz="1800" b="1" spc="-5" dirty="0">
                          <a:latin typeface="Times New Roman"/>
                          <a:cs typeface="Times New Roman"/>
                        </a:rPr>
                        <a:t>H1</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ct val="100000"/>
                        </a:lnSpc>
                        <a:spcBef>
                          <a:spcPts val="25"/>
                        </a:spcBef>
                      </a:pPr>
                      <a:r>
                        <a:rPr sz="1800" b="1" spc="-5" dirty="0">
                          <a:latin typeface="Times New Roman"/>
                          <a:cs typeface="Times New Roman"/>
                        </a:rPr>
                        <a:t>H0</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60020">
                        <a:lnSpc>
                          <a:spcPct val="100000"/>
                        </a:lnSpc>
                        <a:spcBef>
                          <a:spcPts val="25"/>
                        </a:spcBef>
                      </a:pPr>
                      <a:r>
                        <a:rPr sz="1800" b="1" spc="-5" dirty="0">
                          <a:latin typeface="Times New Roman"/>
                          <a:cs typeface="Times New Roman"/>
                        </a:rPr>
                        <a:t>Operation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4525">
                        <a:lnSpc>
                          <a:spcPct val="100000"/>
                        </a:lnSpc>
                        <a:spcBef>
                          <a:spcPts val="25"/>
                        </a:spcBef>
                      </a:pPr>
                      <a:r>
                        <a:rPr sz="1800" b="1" spc="-5" dirty="0">
                          <a:latin typeface="Times New Roman"/>
                          <a:cs typeface="Times New Roman"/>
                        </a:rPr>
                        <a:t>Function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41045">
                <a:tc>
                  <a:txBody>
                    <a:bodyPr/>
                    <a:lstStyle/>
                    <a:p>
                      <a:pPr algn="ctr">
                        <a:lnSpc>
                          <a:spcPct val="100000"/>
                        </a:lnSpc>
                        <a:spcBef>
                          <a:spcPts val="50"/>
                        </a:spcBef>
                      </a:pPr>
                      <a:r>
                        <a:rPr sz="1800" dirty="0">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latin typeface="Times New Roman"/>
                          <a:cs typeface="Times New Roman"/>
                        </a:rPr>
                        <a:t>0</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dirty="0">
                          <a:latin typeface="Times New Roman"/>
                          <a:cs typeface="Times New Roman"/>
                        </a:rPr>
                        <a:t>S</a:t>
                      </a:r>
                      <a:r>
                        <a:rPr sz="1800" dirty="0">
                          <a:latin typeface="Wingdings"/>
                          <a:cs typeface="Wingdings"/>
                        </a:rPr>
                        <a:t></a:t>
                      </a:r>
                      <a:r>
                        <a:rPr sz="1800" dirty="0">
                          <a:latin typeface="Times New Roman"/>
                          <a:cs typeface="Times New Roman"/>
                        </a:rPr>
                        <a:t>F</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Transfer </a:t>
                      </a:r>
                      <a:r>
                        <a:rPr sz="1800" dirty="0">
                          <a:latin typeface="Times New Roman"/>
                          <a:cs typeface="Times New Roman"/>
                        </a:rPr>
                        <a:t>F </a:t>
                      </a:r>
                      <a:r>
                        <a:rPr sz="1800" spc="-5" dirty="0">
                          <a:latin typeface="Times New Roman"/>
                          <a:cs typeface="Times New Roman"/>
                        </a:rPr>
                        <a:t>to </a:t>
                      </a:r>
                      <a:r>
                        <a:rPr sz="1800" dirty="0">
                          <a:latin typeface="Times New Roman"/>
                          <a:cs typeface="Times New Roman"/>
                        </a:rPr>
                        <a:t>S </a:t>
                      </a:r>
                      <a:r>
                        <a:rPr sz="1800" spc="-5" dirty="0">
                          <a:latin typeface="Times New Roman"/>
                          <a:cs typeface="Times New Roman"/>
                        </a:rPr>
                        <a:t>(no</a:t>
                      </a:r>
                      <a:r>
                        <a:rPr sz="1800" spc="-35" dirty="0">
                          <a:latin typeface="Times New Roman"/>
                          <a:cs typeface="Times New Roman"/>
                        </a:rPr>
                        <a:t> </a:t>
                      </a:r>
                      <a:r>
                        <a:rPr sz="1800" spc="-5" dirty="0">
                          <a:latin typeface="Times New Roman"/>
                          <a:cs typeface="Times New Roman"/>
                        </a:rPr>
                        <a:t>shift)</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42316">
                <a:tc>
                  <a:txBody>
                    <a:bodyPr/>
                    <a:lstStyle/>
                    <a:p>
                      <a:pPr algn="ctr">
                        <a:lnSpc>
                          <a:spcPct val="100000"/>
                        </a:lnSpc>
                        <a:spcBef>
                          <a:spcPts val="65"/>
                        </a:spcBef>
                      </a:pPr>
                      <a:r>
                        <a:rPr sz="1800" dirty="0">
                          <a:solidFill>
                            <a:schemeClr val="bg2">
                              <a:lumMod val="10000"/>
                            </a:schemeClr>
                          </a:solidFill>
                          <a:latin typeface="Times New Roman"/>
                          <a:cs typeface="Times New Roman"/>
                        </a:rPr>
                        <a:t>0</a:t>
                      </a: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sz="1800" dirty="0">
                          <a:solidFill>
                            <a:schemeClr val="bg2">
                              <a:lumMod val="10000"/>
                            </a:schemeClr>
                          </a:solidFill>
                          <a:latin typeface="Times New Roman"/>
                          <a:cs typeface="Times New Roman"/>
                        </a:rPr>
                        <a:t>1</a:t>
                      </a: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solidFill>
                            <a:schemeClr val="bg2">
                              <a:lumMod val="10000"/>
                            </a:schemeClr>
                          </a:solidFill>
                          <a:latin typeface="Times New Roman"/>
                          <a:cs typeface="Times New Roman"/>
                        </a:rPr>
                        <a:t>S</a:t>
                      </a:r>
                      <a:r>
                        <a:rPr sz="1800" spc="-5" dirty="0">
                          <a:solidFill>
                            <a:schemeClr val="bg2">
                              <a:lumMod val="10000"/>
                            </a:schemeClr>
                          </a:solidFill>
                          <a:latin typeface="Wingdings"/>
                          <a:cs typeface="Wingdings"/>
                        </a:rPr>
                        <a:t></a:t>
                      </a:r>
                      <a:r>
                        <a:rPr sz="1800" spc="-5" dirty="0">
                          <a:solidFill>
                            <a:schemeClr val="bg2">
                              <a:lumMod val="10000"/>
                            </a:schemeClr>
                          </a:solidFill>
                          <a:latin typeface="Times New Roman"/>
                          <a:cs typeface="Times New Roman"/>
                        </a:rPr>
                        <a:t>shr</a:t>
                      </a:r>
                      <a:r>
                        <a:rPr sz="1800" spc="-10" dirty="0">
                          <a:solidFill>
                            <a:schemeClr val="bg2">
                              <a:lumMod val="10000"/>
                            </a:schemeClr>
                          </a:solidFill>
                          <a:latin typeface="Times New Roman"/>
                          <a:cs typeface="Times New Roman"/>
                        </a:rPr>
                        <a:t> </a:t>
                      </a:r>
                      <a:r>
                        <a:rPr sz="1800" dirty="0">
                          <a:solidFill>
                            <a:schemeClr val="bg2">
                              <a:lumMod val="10000"/>
                            </a:schemeClr>
                          </a:solidFill>
                          <a:latin typeface="Times New Roman"/>
                          <a:cs typeface="Times New Roman"/>
                        </a:rPr>
                        <a:t>F</a:t>
                      </a:r>
                      <a:endParaRPr sz="1800">
                        <a:solidFill>
                          <a:schemeClr val="bg2">
                            <a:lumMod val="10000"/>
                          </a:schemeClr>
                        </a:solidFill>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solidFill>
                            <a:schemeClr val="bg2">
                              <a:lumMod val="10000"/>
                            </a:schemeClr>
                          </a:solidFill>
                          <a:latin typeface="Times New Roman"/>
                          <a:cs typeface="Times New Roman"/>
                        </a:rPr>
                        <a:t>Shift </a:t>
                      </a:r>
                      <a:r>
                        <a:rPr sz="1800" spc="-10" dirty="0">
                          <a:solidFill>
                            <a:schemeClr val="bg2">
                              <a:lumMod val="10000"/>
                            </a:schemeClr>
                          </a:solidFill>
                          <a:latin typeface="Times New Roman"/>
                          <a:cs typeface="Times New Roman"/>
                        </a:rPr>
                        <a:t>right </a:t>
                      </a:r>
                      <a:r>
                        <a:rPr sz="1800" dirty="0">
                          <a:solidFill>
                            <a:schemeClr val="bg2">
                              <a:lumMod val="10000"/>
                            </a:schemeClr>
                          </a:solidFill>
                          <a:latin typeface="Times New Roman"/>
                          <a:cs typeface="Times New Roman"/>
                        </a:rPr>
                        <a:t>F </a:t>
                      </a:r>
                      <a:r>
                        <a:rPr sz="1800" spc="-5" dirty="0">
                          <a:solidFill>
                            <a:schemeClr val="bg2">
                              <a:lumMod val="10000"/>
                            </a:schemeClr>
                          </a:solidFill>
                          <a:latin typeface="Times New Roman"/>
                          <a:cs typeface="Times New Roman"/>
                        </a:rPr>
                        <a:t>into</a:t>
                      </a:r>
                      <a:r>
                        <a:rPr sz="1800" spc="5" dirty="0">
                          <a:solidFill>
                            <a:schemeClr val="bg2">
                              <a:lumMod val="10000"/>
                            </a:schemeClr>
                          </a:solidFill>
                          <a:latin typeface="Times New Roman"/>
                          <a:cs typeface="Times New Roman"/>
                        </a:rPr>
                        <a:t> </a:t>
                      </a:r>
                      <a:r>
                        <a:rPr sz="1800" dirty="0">
                          <a:solidFill>
                            <a:schemeClr val="bg2">
                              <a:lumMod val="10000"/>
                            </a:schemeClr>
                          </a:solidFill>
                          <a:latin typeface="Times New Roman"/>
                          <a:cs typeface="Times New Roman"/>
                        </a:rPr>
                        <a:t>S</a:t>
                      </a: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40792">
                <a:tc>
                  <a:txBody>
                    <a:bodyPr/>
                    <a:lstStyle/>
                    <a:p>
                      <a:pPr algn="ctr">
                        <a:lnSpc>
                          <a:spcPct val="100000"/>
                        </a:lnSpc>
                        <a:spcBef>
                          <a:spcPts val="50"/>
                        </a:spcBef>
                      </a:pPr>
                      <a:r>
                        <a:rPr sz="1800" dirty="0">
                          <a:solidFill>
                            <a:srgbClr val="FF0000"/>
                          </a:solidFill>
                          <a:latin typeface="Times New Roman"/>
                          <a:cs typeface="Times New Roman"/>
                        </a:rPr>
                        <a:t>1</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solidFill>
                            <a:srgbClr val="FF0000"/>
                          </a:solidFill>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solidFill>
                            <a:srgbClr val="FF0000"/>
                          </a:solidFill>
                          <a:latin typeface="Times New Roman"/>
                          <a:cs typeface="Times New Roman"/>
                        </a:rPr>
                        <a:t>S</a:t>
                      </a:r>
                      <a:r>
                        <a:rPr sz="1800" spc="-5" dirty="0">
                          <a:solidFill>
                            <a:srgbClr val="FF0000"/>
                          </a:solidFill>
                          <a:latin typeface="Wingdings"/>
                          <a:cs typeface="Wingdings"/>
                        </a:rPr>
                        <a:t></a:t>
                      </a:r>
                      <a:r>
                        <a:rPr sz="1800" spc="-5" dirty="0">
                          <a:solidFill>
                            <a:srgbClr val="FF0000"/>
                          </a:solidFill>
                          <a:latin typeface="Times New Roman"/>
                          <a:cs typeface="Times New Roman"/>
                        </a:rPr>
                        <a:t>shl </a:t>
                      </a:r>
                      <a:r>
                        <a:rPr sz="1800" dirty="0">
                          <a:solidFill>
                            <a:srgbClr val="FF0000"/>
                          </a:solidFill>
                          <a:latin typeface="Times New Roman"/>
                          <a:cs typeface="Times New Roman"/>
                        </a:rPr>
                        <a:t>F</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solidFill>
                            <a:srgbClr val="FF0000"/>
                          </a:solidFill>
                          <a:latin typeface="Times New Roman"/>
                          <a:cs typeface="Times New Roman"/>
                        </a:rPr>
                        <a:t>Shift </a:t>
                      </a:r>
                      <a:r>
                        <a:rPr sz="1800" dirty="0">
                          <a:solidFill>
                            <a:srgbClr val="FF0000"/>
                          </a:solidFill>
                          <a:latin typeface="Times New Roman"/>
                          <a:cs typeface="Times New Roman"/>
                        </a:rPr>
                        <a:t>left F </a:t>
                      </a:r>
                      <a:r>
                        <a:rPr sz="1800" spc="-5" dirty="0">
                          <a:solidFill>
                            <a:srgbClr val="FF0000"/>
                          </a:solidFill>
                          <a:latin typeface="Times New Roman"/>
                          <a:cs typeface="Times New Roman"/>
                        </a:rPr>
                        <a:t>into</a:t>
                      </a:r>
                      <a:r>
                        <a:rPr sz="1800" spc="-30" dirty="0">
                          <a:solidFill>
                            <a:srgbClr val="FF0000"/>
                          </a:solidFill>
                          <a:latin typeface="Times New Roman"/>
                          <a:cs typeface="Times New Roman"/>
                        </a:rPr>
                        <a:t> </a:t>
                      </a:r>
                      <a:r>
                        <a:rPr sz="1800" dirty="0">
                          <a:solidFill>
                            <a:srgbClr val="FF0000"/>
                          </a:solidFill>
                          <a:latin typeface="Times New Roman"/>
                          <a:cs typeface="Times New Roman"/>
                        </a:rPr>
                        <a:t>S</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1835">
                <a:tc>
                  <a:txBody>
                    <a:bodyPr/>
                    <a:lstStyle/>
                    <a:p>
                      <a:pPr algn="ctr">
                        <a:lnSpc>
                          <a:spcPts val="1570"/>
                        </a:lnSpc>
                      </a:pPr>
                      <a:r>
                        <a:rPr sz="1800" dirty="0">
                          <a:latin typeface="Times New Roman"/>
                          <a:cs typeface="Times New Roman"/>
                        </a:rPr>
                        <a:t>1</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570"/>
                        </a:lnSpc>
                      </a:pPr>
                      <a:r>
                        <a:rPr sz="1800" dirty="0">
                          <a:latin typeface="Times New Roman"/>
                          <a:cs typeface="Times New Roman"/>
                        </a:rPr>
                        <a:t>1</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dirty="0">
                          <a:latin typeface="Times New Roman"/>
                          <a:cs typeface="Times New Roman"/>
                        </a:rPr>
                        <a:t>S</a:t>
                      </a:r>
                      <a:r>
                        <a:rPr sz="1800" dirty="0">
                          <a:latin typeface="Wingdings"/>
                          <a:cs typeface="Wingdings"/>
                        </a:rPr>
                        <a:t></a:t>
                      </a:r>
                      <a:r>
                        <a:rPr sz="1800" dirty="0">
                          <a:latin typeface="Times New Roman"/>
                          <a:cs typeface="Times New Roman"/>
                        </a:rPr>
                        <a:t>0</a:t>
                      </a:r>
                      <a:endParaRPr sz="18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spc="-5" dirty="0">
                          <a:latin typeface="Times New Roman"/>
                          <a:cs typeface="Times New Roman"/>
                        </a:rPr>
                        <a:t>Transfer 0’s into</a:t>
                      </a:r>
                      <a:r>
                        <a:rPr sz="1800" spc="-10" dirty="0">
                          <a:latin typeface="Times New Roman"/>
                          <a:cs typeface="Times New Roman"/>
                        </a:rPr>
                        <a:t> </a:t>
                      </a:r>
                      <a:r>
                        <a:rPr sz="1800" dirty="0">
                          <a:latin typeface="Times New Roman"/>
                          <a:cs typeface="Times New Roman"/>
                        </a:rPr>
                        <a:t>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cxnSp>
        <p:nvCxnSpPr>
          <p:cNvPr id="6" name="Straight Connector 5">
            <a:extLst>
              <a:ext uri="{FF2B5EF4-FFF2-40B4-BE49-F238E27FC236}">
                <a16:creationId xmlns:a16="http://schemas.microsoft.com/office/drawing/2014/main" id="{F40FCB3B-A2E4-3183-5757-70B93CFBE708}"/>
              </a:ext>
            </a:extLst>
          </p:cNvPr>
          <p:cNvCxnSpPr>
            <a:cxnSpLocks/>
          </p:cNvCxnSpPr>
          <p:nvPr/>
        </p:nvCxnSpPr>
        <p:spPr>
          <a:xfrm flipV="1">
            <a:off x="10869106" y="2878318"/>
            <a:ext cx="490193" cy="628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25207F-133A-0C25-FB2C-623E7170BA05}"/>
              </a:ext>
            </a:extLst>
          </p:cNvPr>
          <p:cNvCxnSpPr>
            <a:cxnSpLocks/>
          </p:cNvCxnSpPr>
          <p:nvPr/>
        </p:nvCxnSpPr>
        <p:spPr>
          <a:xfrm>
            <a:off x="5514680" y="2565662"/>
            <a:ext cx="131504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46FC3F-C6F8-FBCF-91CC-93895DDA94AB}"/>
              </a:ext>
            </a:extLst>
          </p:cNvPr>
          <p:cNvCxnSpPr>
            <a:cxnSpLocks/>
          </p:cNvCxnSpPr>
          <p:nvPr/>
        </p:nvCxnSpPr>
        <p:spPr>
          <a:xfrm>
            <a:off x="7241356" y="2066042"/>
            <a:ext cx="1318182"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495D9BC-911D-EEAF-7F89-DCBB63A66381}"/>
              </a:ext>
            </a:extLst>
          </p:cNvPr>
          <p:cNvCxnSpPr>
            <a:cxnSpLocks/>
          </p:cNvCxnSpPr>
          <p:nvPr/>
        </p:nvCxnSpPr>
        <p:spPr>
          <a:xfrm>
            <a:off x="9046592" y="1690540"/>
            <a:ext cx="123805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D6A3624-2516-165D-E293-F15558A83113}"/>
              </a:ext>
            </a:extLst>
          </p:cNvPr>
          <p:cNvCxnSpPr>
            <a:cxnSpLocks/>
          </p:cNvCxnSpPr>
          <p:nvPr/>
        </p:nvCxnSpPr>
        <p:spPr>
          <a:xfrm>
            <a:off x="9029310" y="1617900"/>
            <a:ext cx="34565" cy="219995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E0BC256-A437-54AC-65EA-1160FDE72AC5}"/>
              </a:ext>
            </a:extLst>
          </p:cNvPr>
          <p:cNvCxnSpPr>
            <a:cxnSpLocks/>
          </p:cNvCxnSpPr>
          <p:nvPr/>
        </p:nvCxnSpPr>
        <p:spPr>
          <a:xfrm>
            <a:off x="7280636" y="2066042"/>
            <a:ext cx="13683" cy="175181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AF8A29A-75A9-C1DC-E9E4-EA79071D0B56}"/>
              </a:ext>
            </a:extLst>
          </p:cNvPr>
          <p:cNvCxnSpPr>
            <a:cxnSpLocks/>
          </p:cNvCxnSpPr>
          <p:nvPr/>
        </p:nvCxnSpPr>
        <p:spPr>
          <a:xfrm>
            <a:off x="5514680" y="2575874"/>
            <a:ext cx="65988" cy="127968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5843438-8CD7-D886-C6A0-BE4A9CAFE901}"/>
              </a:ext>
            </a:extLst>
          </p:cNvPr>
          <p:cNvCxnSpPr>
            <a:cxnSpLocks/>
          </p:cNvCxnSpPr>
          <p:nvPr/>
        </p:nvCxnSpPr>
        <p:spPr>
          <a:xfrm>
            <a:off x="10869106" y="2860061"/>
            <a:ext cx="0" cy="103320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A85035B-95B0-BF22-0DF6-11BA27A4A834}"/>
              </a:ext>
            </a:extLst>
          </p:cNvPr>
          <p:cNvCxnSpPr>
            <a:cxnSpLocks/>
          </p:cNvCxnSpPr>
          <p:nvPr/>
        </p:nvCxnSpPr>
        <p:spPr>
          <a:xfrm>
            <a:off x="4507583" y="1690540"/>
            <a:ext cx="535757"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0355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130293-C663-6425-9BB0-7EB1732BC80F}"/>
              </a:ext>
            </a:extLst>
          </p:cNvPr>
          <p:cNvSpPr>
            <a:spLocks noGrp="1"/>
          </p:cNvSpPr>
          <p:nvPr>
            <p:ph idx="1"/>
          </p:nvPr>
        </p:nvSpPr>
        <p:spPr>
          <a:xfrm>
            <a:off x="-254524" y="292231"/>
            <a:ext cx="3968685" cy="5884732"/>
          </a:xfrm>
        </p:spPr>
        <p:txBody>
          <a:bodyPr>
            <a:normAutofit/>
          </a:bodyPr>
          <a:lstStyle/>
          <a:p>
            <a:pPr marL="697865" marR="6985" lvl="1" indent="-228600">
              <a:lnSpc>
                <a:spcPts val="2410"/>
              </a:lnSpc>
              <a:spcBef>
                <a:spcPts val="204"/>
              </a:spcBef>
              <a:buAutoNum type="arabicPeriod"/>
              <a:tabLst>
                <a:tab pos="698500" algn="l"/>
              </a:tabLst>
            </a:pPr>
            <a:r>
              <a:rPr lang="en-US" dirty="0">
                <a:latin typeface="Times New Roman"/>
                <a:cs typeface="Times New Roman"/>
              </a:rPr>
              <a:t>If H1 </a:t>
            </a:r>
            <a:r>
              <a:rPr lang="en-US" spc="-5" dirty="0">
                <a:latin typeface="Times New Roman"/>
                <a:cs typeface="Times New Roman"/>
              </a:rPr>
              <a:t>H0=00, </a:t>
            </a:r>
            <a:r>
              <a:rPr lang="en-US" dirty="0">
                <a:latin typeface="Times New Roman"/>
                <a:cs typeface="Times New Roman"/>
              </a:rPr>
              <a:t>no </a:t>
            </a:r>
            <a:r>
              <a:rPr lang="en-US" spc="-5" dirty="0">
                <a:latin typeface="Times New Roman"/>
                <a:cs typeface="Times New Roman"/>
              </a:rPr>
              <a:t>shift </a:t>
            </a:r>
            <a:r>
              <a:rPr lang="en-US" dirty="0">
                <a:latin typeface="Times New Roman"/>
                <a:cs typeface="Times New Roman"/>
              </a:rPr>
              <a:t>is </a:t>
            </a:r>
            <a:r>
              <a:rPr lang="en-US" spc="-5" dirty="0">
                <a:latin typeface="Times New Roman"/>
                <a:cs typeface="Times New Roman"/>
              </a:rPr>
              <a:t>executed and the signals from </a:t>
            </a:r>
            <a:r>
              <a:rPr lang="en-US" dirty="0">
                <a:latin typeface="Times New Roman"/>
                <a:cs typeface="Times New Roman"/>
              </a:rPr>
              <a:t>F </a:t>
            </a:r>
            <a:r>
              <a:rPr lang="en-US" spc="-5" dirty="0">
                <a:latin typeface="Times New Roman"/>
                <a:cs typeface="Times New Roman"/>
              </a:rPr>
              <a:t>go directly  </a:t>
            </a:r>
            <a:r>
              <a:rPr lang="en-US" dirty="0">
                <a:latin typeface="Times New Roman"/>
                <a:cs typeface="Times New Roman"/>
              </a:rPr>
              <a:t>to </a:t>
            </a:r>
            <a:r>
              <a:rPr lang="en-US" spc="-5" dirty="0">
                <a:latin typeface="Times New Roman"/>
                <a:cs typeface="Times New Roman"/>
              </a:rPr>
              <a:t>the </a:t>
            </a:r>
            <a:r>
              <a:rPr lang="en-US" dirty="0">
                <a:latin typeface="Times New Roman"/>
                <a:cs typeface="Times New Roman"/>
              </a:rPr>
              <a:t>S</a:t>
            </a:r>
            <a:r>
              <a:rPr lang="en-US" spc="-20" dirty="0">
                <a:latin typeface="Times New Roman"/>
                <a:cs typeface="Times New Roman"/>
              </a:rPr>
              <a:t> </a:t>
            </a:r>
            <a:r>
              <a:rPr lang="en-US" spc="-5" dirty="0">
                <a:latin typeface="Times New Roman"/>
                <a:cs typeface="Times New Roman"/>
              </a:rPr>
              <a:t>lines.</a:t>
            </a:r>
            <a:endParaRPr lang="en-US" dirty="0">
              <a:latin typeface="Times New Roman"/>
              <a:cs typeface="Times New Roman"/>
            </a:endParaRPr>
          </a:p>
          <a:p>
            <a:pPr marL="697865" lvl="1" indent="-229235">
              <a:lnSpc>
                <a:spcPct val="100000"/>
              </a:lnSpc>
              <a:spcBef>
                <a:spcPts val="5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H0=01, shift right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0"/>
              </a:spcBef>
              <a:buAutoNum type="arabicPeriod"/>
              <a:tabLst>
                <a:tab pos="698500" algn="l"/>
              </a:tabLst>
            </a:pPr>
            <a:r>
              <a:rPr lang="en-US" dirty="0">
                <a:latin typeface="Times New Roman"/>
                <a:cs typeface="Times New Roman"/>
              </a:rPr>
              <a:t>If </a:t>
            </a:r>
            <a:r>
              <a:rPr lang="en-US" spc="-5" dirty="0">
                <a:latin typeface="Times New Roman"/>
                <a:cs typeface="Times New Roman"/>
              </a:rPr>
              <a:t>H1 H0=10, shift left is</a:t>
            </a:r>
            <a:r>
              <a:rPr lang="en-US" spc="5" dirty="0">
                <a:latin typeface="Times New Roman"/>
                <a:cs typeface="Times New Roman"/>
              </a:rPr>
              <a:t> </a:t>
            </a:r>
            <a:r>
              <a:rPr lang="en-US" spc="-5" dirty="0">
                <a:latin typeface="Times New Roman"/>
                <a:cs typeface="Times New Roman"/>
              </a:rPr>
              <a:t>executed.</a:t>
            </a:r>
            <a:endParaRPr lang="en-US" dirty="0">
              <a:latin typeface="Times New Roman"/>
              <a:cs typeface="Times New Roman"/>
            </a:endParaRPr>
          </a:p>
          <a:p>
            <a:pPr marL="697865" lvl="1" indent="-229235">
              <a:lnSpc>
                <a:spcPct val="100000"/>
              </a:lnSpc>
              <a:spcBef>
                <a:spcPts val="735"/>
              </a:spcBef>
              <a:buAutoNum type="arabicPeriod"/>
              <a:tabLst>
                <a:tab pos="698500" algn="l"/>
              </a:tabLst>
            </a:pPr>
            <a:r>
              <a:rPr lang="en-US" dirty="0">
                <a:latin typeface="Times New Roman"/>
                <a:cs typeface="Times New Roman"/>
              </a:rPr>
              <a:t>If </a:t>
            </a:r>
            <a:r>
              <a:rPr lang="en-US" spc="-5" dirty="0">
                <a:latin typeface="Times New Roman"/>
                <a:cs typeface="Times New Roman"/>
              </a:rPr>
              <a:t>H1 H0=11, </a:t>
            </a:r>
            <a:r>
              <a:rPr lang="en-US" dirty="0">
                <a:latin typeface="Times New Roman"/>
                <a:cs typeface="Times New Roman"/>
              </a:rPr>
              <a:t>no</a:t>
            </a:r>
            <a:r>
              <a:rPr lang="en-US" spc="-35" dirty="0">
                <a:latin typeface="Times New Roman"/>
                <a:cs typeface="Times New Roman"/>
              </a:rPr>
              <a:t> </a:t>
            </a:r>
            <a:r>
              <a:rPr lang="en-US" spc="-5" dirty="0">
                <a:latin typeface="Times New Roman"/>
                <a:cs typeface="Times New Roman"/>
              </a:rPr>
              <a:t>operation</a:t>
            </a:r>
            <a:endParaRPr lang="en-US" dirty="0"/>
          </a:p>
        </p:txBody>
      </p:sp>
      <p:sp>
        <p:nvSpPr>
          <p:cNvPr id="4" name="object 4">
            <a:extLst>
              <a:ext uri="{FF2B5EF4-FFF2-40B4-BE49-F238E27FC236}">
                <a16:creationId xmlns:a16="http://schemas.microsoft.com/office/drawing/2014/main" id="{9A202468-BD77-8246-5DCA-0F743F0CDCB0}"/>
              </a:ext>
            </a:extLst>
          </p:cNvPr>
          <p:cNvSpPr/>
          <p:nvPr/>
        </p:nvSpPr>
        <p:spPr>
          <a:xfrm>
            <a:off x="3908981" y="932542"/>
            <a:ext cx="8037006" cy="4421884"/>
          </a:xfrm>
          <a:prstGeom prst="rect">
            <a:avLst/>
          </a:prstGeom>
          <a:blipFill>
            <a:blip r:embed="rId2" cstate="print"/>
            <a:stretch>
              <a:fillRect/>
            </a:stretch>
          </a:blipFill>
        </p:spPr>
        <p:txBody>
          <a:bodyPr wrap="square" lIns="0" tIns="0" rIns="0" bIns="0" rtlCol="0"/>
          <a:lstStyle/>
          <a:p>
            <a:endParaRPr/>
          </a:p>
        </p:txBody>
      </p:sp>
      <p:graphicFrame>
        <p:nvGraphicFramePr>
          <p:cNvPr id="5" name="object 3">
            <a:extLst>
              <a:ext uri="{FF2B5EF4-FFF2-40B4-BE49-F238E27FC236}">
                <a16:creationId xmlns:a16="http://schemas.microsoft.com/office/drawing/2014/main" id="{CD1E2A89-F074-7ED0-96B0-D749AD70F3EB}"/>
              </a:ext>
            </a:extLst>
          </p:cNvPr>
          <p:cNvGraphicFramePr>
            <a:graphicFrameLocks noGrp="1"/>
          </p:cNvGraphicFramePr>
          <p:nvPr>
            <p:extLst>
              <p:ext uri="{D42A27DB-BD31-4B8C-83A1-F6EECF244321}">
                <p14:modId xmlns:p14="http://schemas.microsoft.com/office/powerpoint/2010/main" val="3661248546"/>
              </p:ext>
            </p:extLst>
          </p:nvPr>
        </p:nvGraphicFramePr>
        <p:xfrm>
          <a:off x="476307" y="5395086"/>
          <a:ext cx="7168830" cy="1333245"/>
        </p:xfrm>
        <a:graphic>
          <a:graphicData uri="http://schemas.openxmlformats.org/drawingml/2006/table">
            <a:tbl>
              <a:tblPr firstRow="1" bandRow="1">
                <a:tableStyleId>{2D5ABB26-0587-4C30-8999-92F81FD0307C}</a:tableStyleId>
              </a:tblPr>
              <a:tblGrid>
                <a:gridCol w="1367313">
                  <a:extLst>
                    <a:ext uri="{9D8B030D-6E8A-4147-A177-3AD203B41FA5}">
                      <a16:colId xmlns:a16="http://schemas.microsoft.com/office/drawing/2014/main" val="20000"/>
                    </a:ext>
                  </a:extLst>
                </a:gridCol>
                <a:gridCol w="1589111">
                  <a:extLst>
                    <a:ext uri="{9D8B030D-6E8A-4147-A177-3AD203B41FA5}">
                      <a16:colId xmlns:a16="http://schemas.microsoft.com/office/drawing/2014/main" val="20001"/>
                    </a:ext>
                  </a:extLst>
                </a:gridCol>
                <a:gridCol w="1509960">
                  <a:extLst>
                    <a:ext uri="{9D8B030D-6E8A-4147-A177-3AD203B41FA5}">
                      <a16:colId xmlns:a16="http://schemas.microsoft.com/office/drawing/2014/main" val="20002"/>
                    </a:ext>
                  </a:extLst>
                </a:gridCol>
                <a:gridCol w="2702446">
                  <a:extLst>
                    <a:ext uri="{9D8B030D-6E8A-4147-A177-3AD203B41FA5}">
                      <a16:colId xmlns:a16="http://schemas.microsoft.com/office/drawing/2014/main" val="20003"/>
                    </a:ext>
                  </a:extLst>
                </a:gridCol>
              </a:tblGrid>
              <a:tr h="234695">
                <a:tc>
                  <a:txBody>
                    <a:bodyPr/>
                    <a:lstStyle/>
                    <a:p>
                      <a:pPr marL="635" algn="ctr">
                        <a:lnSpc>
                          <a:spcPct val="100000"/>
                        </a:lnSpc>
                        <a:spcBef>
                          <a:spcPts val="25"/>
                        </a:spcBef>
                      </a:pPr>
                      <a:r>
                        <a:rPr sz="1800" b="1" spc="-5" dirty="0">
                          <a:latin typeface="Times New Roman"/>
                          <a:cs typeface="Times New Roman"/>
                        </a:rPr>
                        <a:t>H1</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35" algn="ctr">
                        <a:lnSpc>
                          <a:spcPct val="100000"/>
                        </a:lnSpc>
                        <a:spcBef>
                          <a:spcPts val="25"/>
                        </a:spcBef>
                      </a:pPr>
                      <a:r>
                        <a:rPr sz="1800" b="1" spc="-5" dirty="0">
                          <a:latin typeface="Times New Roman"/>
                          <a:cs typeface="Times New Roman"/>
                        </a:rPr>
                        <a:t>H0</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60020">
                        <a:lnSpc>
                          <a:spcPct val="100000"/>
                        </a:lnSpc>
                        <a:spcBef>
                          <a:spcPts val="25"/>
                        </a:spcBef>
                      </a:pPr>
                      <a:r>
                        <a:rPr sz="1800" b="1" spc="-5" dirty="0">
                          <a:latin typeface="Times New Roman"/>
                          <a:cs typeface="Times New Roman"/>
                        </a:rPr>
                        <a:t>Operation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44525">
                        <a:lnSpc>
                          <a:spcPct val="100000"/>
                        </a:lnSpc>
                        <a:spcBef>
                          <a:spcPts val="25"/>
                        </a:spcBef>
                      </a:pPr>
                      <a:r>
                        <a:rPr sz="1800" b="1" spc="-5" dirty="0">
                          <a:latin typeface="Times New Roman"/>
                          <a:cs typeface="Times New Roman"/>
                        </a:rPr>
                        <a:t>Function</a:t>
                      </a:r>
                      <a:endParaRPr sz="1800">
                        <a:latin typeface="Times New Roman"/>
                        <a:cs typeface="Times New Roman"/>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241045">
                <a:tc>
                  <a:txBody>
                    <a:bodyPr/>
                    <a:lstStyle/>
                    <a:p>
                      <a:pPr algn="ctr">
                        <a:lnSpc>
                          <a:spcPct val="100000"/>
                        </a:lnSpc>
                        <a:spcBef>
                          <a:spcPts val="50"/>
                        </a:spcBef>
                      </a:pPr>
                      <a:r>
                        <a:rPr sz="1800" dirty="0">
                          <a:solidFill>
                            <a:schemeClr val="tx1"/>
                          </a:solidFill>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solidFill>
                            <a:schemeClr val="tx1"/>
                          </a:solidFill>
                          <a:latin typeface="Times New Roman"/>
                          <a:cs typeface="Times New Roman"/>
                        </a:rPr>
                        <a:t>0</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dirty="0">
                          <a:solidFill>
                            <a:schemeClr val="tx1"/>
                          </a:solidFill>
                          <a:latin typeface="Times New Roman"/>
                          <a:cs typeface="Times New Roman"/>
                        </a:rPr>
                        <a:t>S</a:t>
                      </a:r>
                      <a:r>
                        <a:rPr sz="1800" dirty="0">
                          <a:solidFill>
                            <a:schemeClr val="tx1"/>
                          </a:solidFill>
                          <a:latin typeface="Wingdings"/>
                          <a:cs typeface="Wingdings"/>
                        </a:rPr>
                        <a:t></a:t>
                      </a:r>
                      <a:r>
                        <a:rPr sz="1800" dirty="0">
                          <a:solidFill>
                            <a:schemeClr val="tx1"/>
                          </a:solidFill>
                          <a:latin typeface="Times New Roman"/>
                          <a:cs typeface="Times New Roman"/>
                        </a:rPr>
                        <a:t>F</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solidFill>
                            <a:schemeClr val="tx1"/>
                          </a:solidFill>
                          <a:latin typeface="Times New Roman"/>
                          <a:cs typeface="Times New Roman"/>
                        </a:rPr>
                        <a:t>Transfer </a:t>
                      </a:r>
                      <a:r>
                        <a:rPr sz="1800" dirty="0">
                          <a:solidFill>
                            <a:schemeClr val="tx1"/>
                          </a:solidFill>
                          <a:latin typeface="Times New Roman"/>
                          <a:cs typeface="Times New Roman"/>
                        </a:rPr>
                        <a:t>F </a:t>
                      </a:r>
                      <a:r>
                        <a:rPr sz="1800" spc="-5" dirty="0">
                          <a:solidFill>
                            <a:schemeClr val="tx1"/>
                          </a:solidFill>
                          <a:latin typeface="Times New Roman"/>
                          <a:cs typeface="Times New Roman"/>
                        </a:rPr>
                        <a:t>to </a:t>
                      </a:r>
                      <a:r>
                        <a:rPr sz="1800" dirty="0">
                          <a:solidFill>
                            <a:schemeClr val="tx1"/>
                          </a:solidFill>
                          <a:latin typeface="Times New Roman"/>
                          <a:cs typeface="Times New Roman"/>
                        </a:rPr>
                        <a:t>S </a:t>
                      </a:r>
                      <a:r>
                        <a:rPr sz="1800" spc="-5" dirty="0">
                          <a:solidFill>
                            <a:schemeClr val="tx1"/>
                          </a:solidFill>
                          <a:latin typeface="Times New Roman"/>
                          <a:cs typeface="Times New Roman"/>
                        </a:rPr>
                        <a:t>(no</a:t>
                      </a:r>
                      <a:r>
                        <a:rPr sz="1800" spc="-35" dirty="0">
                          <a:solidFill>
                            <a:schemeClr val="tx1"/>
                          </a:solidFill>
                          <a:latin typeface="Times New Roman"/>
                          <a:cs typeface="Times New Roman"/>
                        </a:rPr>
                        <a:t> </a:t>
                      </a:r>
                      <a:r>
                        <a:rPr sz="1800" spc="-5" dirty="0">
                          <a:solidFill>
                            <a:schemeClr val="tx1"/>
                          </a:solidFill>
                          <a:latin typeface="Times New Roman"/>
                          <a:cs typeface="Times New Roman"/>
                        </a:rPr>
                        <a:t>shift)</a:t>
                      </a:r>
                      <a:endParaRPr sz="1800" dirty="0">
                        <a:solidFill>
                          <a:schemeClr val="tx1"/>
                        </a:solidFill>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42316">
                <a:tc>
                  <a:txBody>
                    <a:bodyPr/>
                    <a:lstStyle/>
                    <a:p>
                      <a:pPr algn="ctr">
                        <a:lnSpc>
                          <a:spcPct val="100000"/>
                        </a:lnSpc>
                        <a:spcBef>
                          <a:spcPts val="65"/>
                        </a:spcBef>
                      </a:pPr>
                      <a:r>
                        <a:rPr sz="1800" dirty="0">
                          <a:latin typeface="Times New Roman"/>
                          <a:cs typeface="Times New Roman"/>
                        </a:rPr>
                        <a:t>0</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65"/>
                        </a:spcBef>
                      </a:pPr>
                      <a:r>
                        <a:rPr sz="1800" dirty="0">
                          <a:latin typeface="Times New Roman"/>
                          <a:cs typeface="Times New Roman"/>
                        </a:rPr>
                        <a:t>1</a:t>
                      </a:r>
                      <a:endParaRPr sz="1800">
                        <a:latin typeface="Times New Roman"/>
                        <a:cs typeface="Times New Roman"/>
                      </a:endParaRP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latin typeface="Times New Roman"/>
                          <a:cs typeface="Times New Roman"/>
                        </a:rPr>
                        <a:t>S</a:t>
                      </a:r>
                      <a:r>
                        <a:rPr sz="1800" spc="-5" dirty="0">
                          <a:latin typeface="Wingdings"/>
                          <a:cs typeface="Wingdings"/>
                        </a:rPr>
                        <a:t></a:t>
                      </a:r>
                      <a:r>
                        <a:rPr sz="1800" spc="-5" dirty="0">
                          <a:latin typeface="Times New Roman"/>
                          <a:cs typeface="Times New Roman"/>
                        </a:rPr>
                        <a:t>shr</a:t>
                      </a:r>
                      <a:r>
                        <a:rPr sz="1800" spc="-10" dirty="0">
                          <a:latin typeface="Times New Roman"/>
                          <a:cs typeface="Times New Roman"/>
                        </a:rPr>
                        <a:t> </a:t>
                      </a:r>
                      <a:r>
                        <a:rPr sz="1800" dirty="0">
                          <a:latin typeface="Times New Roman"/>
                          <a:cs typeface="Times New Roman"/>
                        </a:rPr>
                        <a:t>F</a:t>
                      </a: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65"/>
                        </a:spcBef>
                      </a:pPr>
                      <a:r>
                        <a:rPr sz="1800" spc="-5" dirty="0">
                          <a:latin typeface="Times New Roman"/>
                          <a:cs typeface="Times New Roman"/>
                        </a:rPr>
                        <a:t>Shift </a:t>
                      </a:r>
                      <a:r>
                        <a:rPr sz="1800" spc="-10" dirty="0">
                          <a:latin typeface="Times New Roman"/>
                          <a:cs typeface="Times New Roman"/>
                        </a:rPr>
                        <a:t>right </a:t>
                      </a:r>
                      <a:r>
                        <a:rPr sz="1800" dirty="0">
                          <a:latin typeface="Times New Roman"/>
                          <a:cs typeface="Times New Roman"/>
                        </a:rPr>
                        <a:t>F </a:t>
                      </a:r>
                      <a:r>
                        <a:rPr sz="1800" spc="-5" dirty="0">
                          <a:latin typeface="Times New Roman"/>
                          <a:cs typeface="Times New Roman"/>
                        </a:rPr>
                        <a:t>into</a:t>
                      </a:r>
                      <a:r>
                        <a:rPr sz="1800" spc="5" dirty="0">
                          <a:latin typeface="Times New Roman"/>
                          <a:cs typeface="Times New Roman"/>
                        </a:rPr>
                        <a:t> </a:t>
                      </a:r>
                      <a:r>
                        <a:rPr sz="1800" dirty="0">
                          <a:latin typeface="Times New Roman"/>
                          <a:cs typeface="Times New Roman"/>
                        </a:rPr>
                        <a:t>S</a:t>
                      </a:r>
                    </a:p>
                  </a:txBody>
                  <a:tcPr marL="0" marR="0" marT="825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240792">
                <a:tc>
                  <a:txBody>
                    <a:bodyPr/>
                    <a:lstStyle/>
                    <a:p>
                      <a:pPr algn="ctr">
                        <a:lnSpc>
                          <a:spcPct val="100000"/>
                        </a:lnSpc>
                        <a:spcBef>
                          <a:spcPts val="50"/>
                        </a:spcBef>
                      </a:pPr>
                      <a:r>
                        <a:rPr sz="1800" dirty="0">
                          <a:latin typeface="Times New Roman"/>
                          <a:cs typeface="Times New Roman"/>
                        </a:rPr>
                        <a:t>1</a:t>
                      </a: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50"/>
                        </a:spcBef>
                      </a:pPr>
                      <a:r>
                        <a:rPr sz="1800" dirty="0">
                          <a:latin typeface="Times New Roman"/>
                          <a:cs typeface="Times New Roman"/>
                        </a:rPr>
                        <a:t>0</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S</a:t>
                      </a:r>
                      <a:r>
                        <a:rPr sz="1800" spc="-5" dirty="0">
                          <a:latin typeface="Wingdings"/>
                          <a:cs typeface="Wingdings"/>
                        </a:rPr>
                        <a:t></a:t>
                      </a:r>
                      <a:r>
                        <a:rPr sz="1800" spc="-5" dirty="0">
                          <a:latin typeface="Times New Roman"/>
                          <a:cs typeface="Times New Roman"/>
                        </a:rPr>
                        <a:t>shl </a:t>
                      </a:r>
                      <a:r>
                        <a:rPr sz="1800" dirty="0">
                          <a:latin typeface="Times New Roman"/>
                          <a:cs typeface="Times New Roman"/>
                        </a:rPr>
                        <a:t>F</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ct val="100000"/>
                        </a:lnSpc>
                        <a:spcBef>
                          <a:spcPts val="50"/>
                        </a:spcBef>
                      </a:pPr>
                      <a:r>
                        <a:rPr sz="1800" spc="-5" dirty="0">
                          <a:latin typeface="Times New Roman"/>
                          <a:cs typeface="Times New Roman"/>
                        </a:rPr>
                        <a:t>Shift </a:t>
                      </a:r>
                      <a:r>
                        <a:rPr sz="1800" dirty="0">
                          <a:latin typeface="Times New Roman"/>
                          <a:cs typeface="Times New Roman"/>
                        </a:rPr>
                        <a:t>left F </a:t>
                      </a:r>
                      <a:r>
                        <a:rPr sz="1800" spc="-5" dirty="0">
                          <a:latin typeface="Times New Roman"/>
                          <a:cs typeface="Times New Roman"/>
                        </a:rPr>
                        <a:t>into</a:t>
                      </a:r>
                      <a:r>
                        <a:rPr sz="1800" spc="-30" dirty="0">
                          <a:latin typeface="Times New Roman"/>
                          <a:cs typeface="Times New Roman"/>
                        </a:rPr>
                        <a:t> </a:t>
                      </a:r>
                      <a:r>
                        <a:rPr sz="1800" dirty="0">
                          <a:latin typeface="Times New Roman"/>
                          <a:cs typeface="Times New Roman"/>
                        </a:rPr>
                        <a:t>S</a:t>
                      </a:r>
                      <a:endParaRPr sz="1800">
                        <a:latin typeface="Times New Roman"/>
                        <a:cs typeface="Times New Roman"/>
                      </a:endParaRPr>
                    </a:p>
                  </a:txBody>
                  <a:tcPr marL="0" marR="0" marT="635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211835">
                <a:tc>
                  <a:txBody>
                    <a:bodyPr/>
                    <a:lstStyle/>
                    <a:p>
                      <a:pPr algn="ctr">
                        <a:lnSpc>
                          <a:spcPts val="1570"/>
                        </a:lnSpc>
                      </a:pPr>
                      <a:r>
                        <a:rPr sz="1800" dirty="0">
                          <a:solidFill>
                            <a:srgbClr val="FF0000"/>
                          </a:solidFill>
                          <a:latin typeface="Times New Roman"/>
                          <a:cs typeface="Times New Roman"/>
                        </a:rPr>
                        <a:t>1</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570"/>
                        </a:lnSpc>
                      </a:pPr>
                      <a:r>
                        <a:rPr sz="1800" dirty="0">
                          <a:solidFill>
                            <a:srgbClr val="FF0000"/>
                          </a:solidFill>
                          <a:latin typeface="Times New Roman"/>
                          <a:cs typeface="Times New Roman"/>
                        </a:rPr>
                        <a:t>1</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dirty="0">
                          <a:solidFill>
                            <a:srgbClr val="FF0000"/>
                          </a:solidFill>
                          <a:latin typeface="Times New Roman"/>
                          <a:cs typeface="Times New Roman"/>
                        </a:rPr>
                        <a:t>S</a:t>
                      </a:r>
                      <a:r>
                        <a:rPr sz="1800" dirty="0">
                          <a:solidFill>
                            <a:srgbClr val="FF0000"/>
                          </a:solidFill>
                          <a:latin typeface="Wingdings"/>
                          <a:cs typeface="Wingdings"/>
                        </a:rPr>
                        <a:t></a:t>
                      </a:r>
                      <a:r>
                        <a:rPr sz="1800" dirty="0">
                          <a:solidFill>
                            <a:srgbClr val="FF0000"/>
                          </a:solidFill>
                          <a:latin typeface="Times New Roman"/>
                          <a:cs typeface="Times New Roman"/>
                        </a:rPr>
                        <a:t>0</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570"/>
                        </a:lnSpc>
                      </a:pPr>
                      <a:r>
                        <a:rPr sz="1800" spc="-5" dirty="0">
                          <a:solidFill>
                            <a:srgbClr val="FF0000"/>
                          </a:solidFill>
                          <a:latin typeface="Times New Roman"/>
                          <a:cs typeface="Times New Roman"/>
                        </a:rPr>
                        <a:t>Transfer 0’s into</a:t>
                      </a:r>
                      <a:r>
                        <a:rPr sz="1800" spc="-10" dirty="0">
                          <a:solidFill>
                            <a:srgbClr val="FF0000"/>
                          </a:solidFill>
                          <a:latin typeface="Times New Roman"/>
                          <a:cs typeface="Times New Roman"/>
                        </a:rPr>
                        <a:t> </a:t>
                      </a:r>
                      <a:r>
                        <a:rPr sz="1800" dirty="0">
                          <a:solidFill>
                            <a:srgbClr val="FF0000"/>
                          </a:solidFill>
                          <a:latin typeface="Times New Roman"/>
                          <a:cs typeface="Times New Roman"/>
                        </a:rPr>
                        <a:t>S</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cxnSp>
        <p:nvCxnSpPr>
          <p:cNvPr id="6" name="Straight Connector 5">
            <a:extLst>
              <a:ext uri="{FF2B5EF4-FFF2-40B4-BE49-F238E27FC236}">
                <a16:creationId xmlns:a16="http://schemas.microsoft.com/office/drawing/2014/main" id="{30C4DDE9-359E-2EE2-0102-CD6D606A37C6}"/>
              </a:ext>
            </a:extLst>
          </p:cNvPr>
          <p:cNvCxnSpPr/>
          <p:nvPr/>
        </p:nvCxnSpPr>
        <p:spPr>
          <a:xfrm flipV="1">
            <a:off x="5872899" y="3429000"/>
            <a:ext cx="5806911" cy="6834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4877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5D20D1-C6B3-13E1-D6D7-C914E7170874}"/>
              </a:ext>
            </a:extLst>
          </p:cNvPr>
          <p:cNvSpPr>
            <a:spLocks noGrp="1"/>
          </p:cNvSpPr>
          <p:nvPr>
            <p:ph idx="1"/>
          </p:nvPr>
        </p:nvSpPr>
        <p:spPr>
          <a:xfrm>
            <a:off x="282804" y="367645"/>
            <a:ext cx="11070996" cy="5809318"/>
          </a:xfrm>
        </p:spPr>
        <p:txBody>
          <a:bodyPr/>
          <a:lstStyle/>
          <a:p>
            <a:pPr marL="0" indent="0">
              <a:buNone/>
            </a:pPr>
            <a:r>
              <a:rPr lang="en-US" sz="2400" b="1" i="1" spc="-5" dirty="0">
                <a:latin typeface="Times New Roman"/>
                <a:cs typeface="Times New Roman"/>
              </a:rPr>
              <a:t>Design of 4-bit Status Register</a:t>
            </a:r>
          </a:p>
          <a:p>
            <a:r>
              <a:rPr lang="en-US" sz="2400" spc="-5" dirty="0">
                <a:latin typeface="Times New Roman"/>
                <a:cs typeface="Times New Roman"/>
              </a:rPr>
              <a:t>The relative magnitude </a:t>
            </a:r>
            <a:r>
              <a:rPr lang="en-US" sz="2400" dirty="0">
                <a:latin typeface="Times New Roman"/>
                <a:cs typeface="Times New Roman"/>
              </a:rPr>
              <a:t>of </a:t>
            </a:r>
            <a:r>
              <a:rPr lang="en-US" sz="2400" spc="-5" dirty="0">
                <a:latin typeface="Times New Roman"/>
                <a:cs typeface="Times New Roman"/>
              </a:rPr>
              <a:t>two numbers may be determined by subtracting  one number from the other and then checking certain bit conditions in the  resultant</a:t>
            </a:r>
            <a:r>
              <a:rPr lang="en-US" sz="2400" spc="-65" dirty="0">
                <a:latin typeface="Times New Roman"/>
                <a:cs typeface="Times New Roman"/>
              </a:rPr>
              <a:t> </a:t>
            </a:r>
            <a:r>
              <a:rPr lang="en-US" sz="2400" spc="-5" dirty="0">
                <a:latin typeface="Times New Roman"/>
                <a:cs typeface="Times New Roman"/>
              </a:rPr>
              <a:t>difference.</a:t>
            </a:r>
            <a:r>
              <a:rPr lang="en-US" sz="2400" spc="-70" dirty="0">
                <a:latin typeface="Times New Roman"/>
                <a:cs typeface="Times New Roman"/>
              </a:rPr>
              <a:t> </a:t>
            </a:r>
          </a:p>
          <a:p>
            <a:r>
              <a:rPr lang="en-US" sz="2400" dirty="0">
                <a:latin typeface="Times New Roman"/>
                <a:cs typeface="Times New Roman"/>
              </a:rPr>
              <a:t>This</a:t>
            </a:r>
            <a:r>
              <a:rPr lang="en-US" sz="2400" spc="-65" dirty="0">
                <a:latin typeface="Times New Roman"/>
                <a:cs typeface="Times New Roman"/>
              </a:rPr>
              <a:t> </a:t>
            </a:r>
            <a:r>
              <a:rPr lang="en-US" sz="2400" spc="-5" dirty="0">
                <a:latin typeface="Times New Roman"/>
                <a:cs typeface="Times New Roman"/>
              </a:rPr>
              <a:t>status</a:t>
            </a:r>
            <a:r>
              <a:rPr lang="en-US" sz="2400" spc="-60" dirty="0">
                <a:latin typeface="Times New Roman"/>
                <a:cs typeface="Times New Roman"/>
              </a:rPr>
              <a:t> </a:t>
            </a:r>
            <a:r>
              <a:rPr lang="en-US" sz="2400" spc="-10" dirty="0">
                <a:latin typeface="Times New Roman"/>
                <a:cs typeface="Times New Roman"/>
              </a:rPr>
              <a:t>bit</a:t>
            </a:r>
            <a:r>
              <a:rPr lang="en-US" sz="2400" spc="-55" dirty="0">
                <a:latin typeface="Times New Roman"/>
                <a:cs typeface="Times New Roman"/>
              </a:rPr>
              <a:t> </a:t>
            </a:r>
            <a:r>
              <a:rPr lang="en-US" sz="2400" spc="-5" dirty="0">
                <a:latin typeface="Times New Roman"/>
                <a:cs typeface="Times New Roman"/>
              </a:rPr>
              <a:t>conditions</a:t>
            </a:r>
            <a:r>
              <a:rPr lang="en-US" sz="2400" spc="-60" dirty="0">
                <a:latin typeface="Times New Roman"/>
                <a:cs typeface="Times New Roman"/>
              </a:rPr>
              <a:t> </a:t>
            </a:r>
            <a:r>
              <a:rPr lang="en-US" sz="2400" dirty="0">
                <a:latin typeface="Times New Roman"/>
                <a:cs typeface="Times New Roman"/>
              </a:rPr>
              <a:t>are</a:t>
            </a:r>
            <a:r>
              <a:rPr lang="en-US" sz="2400" spc="-65" dirty="0">
                <a:latin typeface="Times New Roman"/>
                <a:cs typeface="Times New Roman"/>
              </a:rPr>
              <a:t> </a:t>
            </a:r>
            <a:r>
              <a:rPr lang="en-US" sz="2400" spc="-5" dirty="0">
                <a:latin typeface="Times New Roman"/>
                <a:cs typeface="Times New Roman"/>
              </a:rPr>
              <a:t>stored</a:t>
            </a:r>
            <a:r>
              <a:rPr lang="en-US" sz="2400" spc="-60" dirty="0">
                <a:latin typeface="Times New Roman"/>
                <a:cs typeface="Times New Roman"/>
              </a:rPr>
              <a:t> </a:t>
            </a:r>
            <a:r>
              <a:rPr lang="en-US" sz="2400" spc="-5" dirty="0">
                <a:latin typeface="Times New Roman"/>
                <a:cs typeface="Times New Roman"/>
              </a:rPr>
              <a:t>in</a:t>
            </a:r>
            <a:r>
              <a:rPr lang="en-US" sz="2400" spc="-60" dirty="0">
                <a:latin typeface="Times New Roman"/>
                <a:cs typeface="Times New Roman"/>
              </a:rPr>
              <a:t> </a:t>
            </a:r>
            <a:r>
              <a:rPr lang="en-US" sz="2400" dirty="0">
                <a:latin typeface="Times New Roman"/>
                <a:cs typeface="Times New Roman"/>
              </a:rPr>
              <a:t>a</a:t>
            </a:r>
            <a:r>
              <a:rPr lang="en-US" sz="2400" spc="-70" dirty="0">
                <a:latin typeface="Times New Roman"/>
                <a:cs typeface="Times New Roman"/>
              </a:rPr>
              <a:t> </a:t>
            </a:r>
            <a:r>
              <a:rPr lang="en-US" sz="2400" spc="-5" dirty="0">
                <a:latin typeface="Times New Roman"/>
                <a:cs typeface="Times New Roman"/>
              </a:rPr>
              <a:t>status</a:t>
            </a:r>
            <a:r>
              <a:rPr lang="en-US" sz="2400" spc="-60" dirty="0">
                <a:latin typeface="Times New Roman"/>
                <a:cs typeface="Times New Roman"/>
              </a:rPr>
              <a:t> </a:t>
            </a:r>
            <a:r>
              <a:rPr lang="en-US" sz="2400" spc="-5" dirty="0">
                <a:latin typeface="Times New Roman"/>
                <a:cs typeface="Times New Roman"/>
              </a:rPr>
              <a:t>register</a:t>
            </a:r>
          </a:p>
          <a:p>
            <a:r>
              <a:rPr lang="en-US" sz="2400" spc="-5" dirty="0">
                <a:latin typeface="Times New Roman"/>
                <a:cs typeface="Times New Roman"/>
              </a:rPr>
              <a:t>The checking conditions may vary for signed and unsigned numbers.  Status register is </a:t>
            </a:r>
            <a:r>
              <a:rPr lang="en-US" sz="2400" dirty="0">
                <a:latin typeface="Times New Roman"/>
                <a:cs typeface="Times New Roman"/>
              </a:rPr>
              <a:t>a </a:t>
            </a:r>
            <a:r>
              <a:rPr lang="en-US" sz="2400" spc="-5" dirty="0">
                <a:latin typeface="Times New Roman"/>
                <a:cs typeface="Times New Roman"/>
              </a:rPr>
              <a:t>4-bit register. </a:t>
            </a:r>
          </a:p>
          <a:p>
            <a:r>
              <a:rPr lang="en-US" sz="2400" spc="-5" dirty="0">
                <a:latin typeface="Times New Roman"/>
                <a:cs typeface="Times New Roman"/>
              </a:rPr>
              <a:t>The four bits are </a:t>
            </a:r>
            <a:r>
              <a:rPr lang="en-US" sz="2400" dirty="0">
                <a:latin typeface="Times New Roman"/>
                <a:cs typeface="Times New Roman"/>
              </a:rPr>
              <a:t>C </a:t>
            </a:r>
            <a:r>
              <a:rPr lang="en-US" sz="2400" spc="-5" dirty="0">
                <a:latin typeface="Times New Roman"/>
                <a:cs typeface="Times New Roman"/>
              </a:rPr>
              <a:t>(carry), </a:t>
            </a:r>
            <a:r>
              <a:rPr lang="en-US" sz="2400" dirty="0">
                <a:latin typeface="Times New Roman"/>
                <a:cs typeface="Times New Roman"/>
              </a:rPr>
              <a:t>Z (zero), S  </a:t>
            </a:r>
            <a:r>
              <a:rPr lang="en-US" sz="2400" spc="-5" dirty="0">
                <a:latin typeface="Times New Roman"/>
                <a:cs typeface="Times New Roman"/>
              </a:rPr>
              <a:t>(sign) </a:t>
            </a:r>
            <a:r>
              <a:rPr lang="en-US" sz="2400" spc="-10" dirty="0">
                <a:latin typeface="Times New Roman"/>
                <a:cs typeface="Times New Roman"/>
              </a:rPr>
              <a:t>and </a:t>
            </a:r>
            <a:r>
              <a:rPr lang="en-US" sz="2400" dirty="0">
                <a:latin typeface="Times New Roman"/>
                <a:cs typeface="Times New Roman"/>
              </a:rPr>
              <a:t>V </a:t>
            </a:r>
            <a:r>
              <a:rPr lang="en-US" sz="2400" spc="-5" dirty="0">
                <a:latin typeface="Times New Roman"/>
                <a:cs typeface="Times New Roman"/>
              </a:rPr>
              <a:t>(overflow). </a:t>
            </a:r>
          </a:p>
          <a:p>
            <a:r>
              <a:rPr lang="en-US" sz="2400" spc="-5" dirty="0">
                <a:latin typeface="Times New Roman"/>
                <a:cs typeface="Times New Roman"/>
              </a:rPr>
              <a:t>These bits are </a:t>
            </a:r>
            <a:r>
              <a:rPr lang="en-US" sz="2400" dirty="0">
                <a:latin typeface="Times New Roman"/>
                <a:cs typeface="Times New Roman"/>
              </a:rPr>
              <a:t>set </a:t>
            </a:r>
            <a:r>
              <a:rPr lang="en-US" sz="2400" spc="-5" dirty="0">
                <a:latin typeface="Times New Roman"/>
                <a:cs typeface="Times New Roman"/>
              </a:rPr>
              <a:t>or cleared </a:t>
            </a:r>
            <a:r>
              <a:rPr lang="en-US" sz="2400" dirty="0">
                <a:latin typeface="Times New Roman"/>
                <a:cs typeface="Times New Roman"/>
              </a:rPr>
              <a:t>as a </a:t>
            </a:r>
            <a:r>
              <a:rPr lang="en-US" sz="2400" spc="-5" dirty="0">
                <a:latin typeface="Times New Roman"/>
                <a:cs typeface="Times New Roman"/>
              </a:rPr>
              <a:t>result </a:t>
            </a:r>
            <a:r>
              <a:rPr lang="en-US" sz="2400" dirty="0">
                <a:latin typeface="Times New Roman"/>
                <a:cs typeface="Times New Roman"/>
              </a:rPr>
              <a:t>of </a:t>
            </a:r>
            <a:r>
              <a:rPr lang="en-US" sz="2400" spc="-10" dirty="0">
                <a:latin typeface="Times New Roman"/>
                <a:cs typeface="Times New Roman"/>
              </a:rPr>
              <a:t>an  </a:t>
            </a:r>
            <a:r>
              <a:rPr lang="en-US" sz="2400" spc="-5" dirty="0">
                <a:latin typeface="Times New Roman"/>
                <a:cs typeface="Times New Roman"/>
              </a:rPr>
              <a:t>operation performed in the</a:t>
            </a:r>
            <a:r>
              <a:rPr lang="en-US" sz="2400" spc="-20" dirty="0">
                <a:latin typeface="Times New Roman"/>
                <a:cs typeface="Times New Roman"/>
              </a:rPr>
              <a:t> </a:t>
            </a:r>
            <a:r>
              <a:rPr lang="en-US" sz="2400" spc="-5" dirty="0">
                <a:latin typeface="Times New Roman"/>
                <a:cs typeface="Times New Roman"/>
              </a:rPr>
              <a:t>ALU.</a:t>
            </a:r>
            <a:endParaRPr lang="en-US" sz="2400" dirty="0">
              <a:latin typeface="Times New Roman"/>
              <a:cs typeface="Times New Roman"/>
            </a:endParaRPr>
          </a:p>
          <a:p>
            <a:endParaRPr lang="en-US" sz="2400" b="1" i="1" spc="-5" dirty="0">
              <a:latin typeface="Times New Roman"/>
              <a:cs typeface="Times New Roman"/>
            </a:endParaRPr>
          </a:p>
        </p:txBody>
      </p:sp>
    </p:spTree>
    <p:extLst>
      <p:ext uri="{BB962C8B-B14F-4D97-AF65-F5344CB8AC3E}">
        <p14:creationId xmlns:p14="http://schemas.microsoft.com/office/powerpoint/2010/main" val="7743717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30E1531-06F3-93BD-AAC7-5D09A77E95B8}"/>
              </a:ext>
            </a:extLst>
          </p:cNvPr>
          <p:cNvSpPr txBox="1"/>
          <p:nvPr/>
        </p:nvSpPr>
        <p:spPr>
          <a:xfrm>
            <a:off x="-301658" y="207390"/>
            <a:ext cx="12264272" cy="1292662"/>
          </a:xfrm>
          <a:prstGeom prst="rect">
            <a:avLst/>
          </a:prstGeom>
          <a:noFill/>
        </p:spPr>
        <p:txBody>
          <a:bodyPr wrap="square">
            <a:spAutoFit/>
          </a:bodyPr>
          <a:lstStyle/>
          <a:p>
            <a:pPr marL="697865" marR="7620" lvl="1" indent="-228600" algn="just">
              <a:lnSpc>
                <a:spcPts val="2420"/>
              </a:lnSpc>
              <a:spcBef>
                <a:spcPts val="200"/>
              </a:spcBef>
              <a:buFont typeface="Times New Roman"/>
              <a:buAutoNum type="arabicPeriod"/>
              <a:tabLst>
                <a:tab pos="698500" algn="l"/>
              </a:tabLst>
            </a:pPr>
            <a:r>
              <a:rPr lang="en-US" sz="2400" b="1" dirty="0">
                <a:latin typeface="Times New Roman"/>
                <a:cs typeface="Times New Roman"/>
              </a:rPr>
              <a:t>Bit C </a:t>
            </a:r>
            <a:r>
              <a:rPr lang="en-US" sz="2400" spc="-5" dirty="0">
                <a:latin typeface="Times New Roman"/>
                <a:cs typeface="Times New Roman"/>
              </a:rPr>
              <a:t>is </a:t>
            </a:r>
            <a:r>
              <a:rPr lang="en-US" sz="2400" dirty="0">
                <a:latin typeface="Times New Roman"/>
                <a:cs typeface="Times New Roman"/>
              </a:rPr>
              <a:t>set if </a:t>
            </a:r>
            <a:r>
              <a:rPr lang="en-US" sz="2400" spc="-5" dirty="0">
                <a:latin typeface="Times New Roman"/>
                <a:cs typeface="Times New Roman"/>
              </a:rPr>
              <a:t>the output carry </a:t>
            </a:r>
            <a:r>
              <a:rPr lang="en-US" sz="2400" dirty="0">
                <a:latin typeface="Times New Roman"/>
                <a:cs typeface="Times New Roman"/>
              </a:rPr>
              <a:t>of </a:t>
            </a:r>
            <a:r>
              <a:rPr lang="en-US" sz="2400" spc="-10" dirty="0">
                <a:latin typeface="Times New Roman"/>
                <a:cs typeface="Times New Roman"/>
              </a:rPr>
              <a:t>an </a:t>
            </a:r>
            <a:r>
              <a:rPr lang="en-US" sz="2400" spc="-5" dirty="0">
                <a:latin typeface="Times New Roman"/>
                <a:cs typeface="Times New Roman"/>
              </a:rPr>
              <a:t>ALU </a:t>
            </a:r>
            <a:r>
              <a:rPr lang="en-US" sz="2400" dirty="0">
                <a:latin typeface="Times New Roman"/>
                <a:cs typeface="Times New Roman"/>
              </a:rPr>
              <a:t>is 1. It is </a:t>
            </a:r>
            <a:r>
              <a:rPr lang="en-US" sz="2400" spc="-5" dirty="0">
                <a:latin typeface="Times New Roman"/>
                <a:cs typeface="Times New Roman"/>
              </a:rPr>
              <a:t>cleared </a:t>
            </a:r>
            <a:r>
              <a:rPr lang="en-US" sz="2400" dirty="0">
                <a:latin typeface="Times New Roman"/>
                <a:cs typeface="Times New Roman"/>
              </a:rPr>
              <a:t>if </a:t>
            </a:r>
            <a:r>
              <a:rPr lang="en-US" sz="2400" spc="-5" dirty="0">
                <a:latin typeface="Times New Roman"/>
                <a:cs typeface="Times New Roman"/>
              </a:rPr>
              <a:t>the  output carry is</a:t>
            </a:r>
            <a:r>
              <a:rPr lang="en-US" sz="2400" spc="15" dirty="0">
                <a:latin typeface="Times New Roman"/>
                <a:cs typeface="Times New Roman"/>
              </a:rPr>
              <a:t> </a:t>
            </a:r>
            <a:r>
              <a:rPr lang="en-US" sz="2400" dirty="0">
                <a:latin typeface="Times New Roman"/>
                <a:cs typeface="Times New Roman"/>
              </a:rPr>
              <a:t>0.</a:t>
            </a:r>
          </a:p>
          <a:p>
            <a:pPr marL="697865" lvl="1" indent="-229235" algn="just">
              <a:lnSpc>
                <a:spcPct val="100000"/>
              </a:lnSpc>
              <a:spcBef>
                <a:spcPts val="530"/>
              </a:spcBef>
              <a:buFont typeface="Times New Roman"/>
              <a:buAutoNum type="arabicPeriod"/>
              <a:tabLst>
                <a:tab pos="698500" algn="l"/>
              </a:tabLst>
            </a:pPr>
            <a:r>
              <a:rPr lang="en-US" sz="2400" b="1" dirty="0">
                <a:latin typeface="Times New Roman"/>
                <a:cs typeface="Times New Roman"/>
              </a:rPr>
              <a:t>Bit</a:t>
            </a:r>
            <a:r>
              <a:rPr lang="en-US" sz="2400" b="1" spc="30" dirty="0">
                <a:latin typeface="Times New Roman"/>
                <a:cs typeface="Times New Roman"/>
              </a:rPr>
              <a:t> </a:t>
            </a:r>
            <a:r>
              <a:rPr lang="en-US" sz="2400" b="1" dirty="0">
                <a:latin typeface="Times New Roman"/>
                <a:cs typeface="Times New Roman"/>
              </a:rPr>
              <a:t>S</a:t>
            </a:r>
            <a:r>
              <a:rPr lang="en-US" sz="2400" b="1" spc="20" dirty="0">
                <a:latin typeface="Times New Roman"/>
                <a:cs typeface="Times New Roman"/>
              </a:rPr>
              <a:t> </a:t>
            </a:r>
            <a:r>
              <a:rPr lang="en-US" sz="2400" dirty="0">
                <a:latin typeface="Times New Roman"/>
                <a:cs typeface="Times New Roman"/>
              </a:rPr>
              <a:t>is</a:t>
            </a:r>
            <a:r>
              <a:rPr lang="en-US" sz="2400" spc="20" dirty="0">
                <a:latin typeface="Times New Roman"/>
                <a:cs typeface="Times New Roman"/>
              </a:rPr>
              <a:t> </a:t>
            </a:r>
            <a:r>
              <a:rPr lang="en-US" sz="2400" spc="-5" dirty="0">
                <a:latin typeface="Times New Roman"/>
                <a:cs typeface="Times New Roman"/>
              </a:rPr>
              <a:t>set</a:t>
            </a:r>
            <a:r>
              <a:rPr lang="en-US" sz="2400" spc="35" dirty="0">
                <a:latin typeface="Times New Roman"/>
                <a:cs typeface="Times New Roman"/>
              </a:rPr>
              <a:t> </a:t>
            </a:r>
            <a:r>
              <a:rPr lang="en-US" sz="2400" spc="-5" dirty="0">
                <a:latin typeface="Times New Roman"/>
                <a:cs typeface="Times New Roman"/>
              </a:rPr>
              <a:t>to</a:t>
            </a:r>
            <a:r>
              <a:rPr lang="en-US" sz="2400" spc="20" dirty="0">
                <a:latin typeface="Times New Roman"/>
                <a:cs typeface="Times New Roman"/>
              </a:rPr>
              <a:t> </a:t>
            </a:r>
            <a:r>
              <a:rPr lang="en-US" sz="2400" dirty="0">
                <a:latin typeface="Times New Roman"/>
                <a:cs typeface="Times New Roman"/>
              </a:rPr>
              <a:t>1</a:t>
            </a:r>
            <a:r>
              <a:rPr lang="en-US" sz="2400" spc="20" dirty="0">
                <a:latin typeface="Times New Roman"/>
                <a:cs typeface="Times New Roman"/>
              </a:rPr>
              <a:t> </a:t>
            </a:r>
            <a:r>
              <a:rPr lang="en-US" sz="2400" dirty="0">
                <a:latin typeface="Times New Roman"/>
                <a:cs typeface="Times New Roman"/>
              </a:rPr>
              <a:t>if</a:t>
            </a:r>
            <a:r>
              <a:rPr lang="en-US" sz="2400" spc="30" dirty="0">
                <a:latin typeface="Times New Roman"/>
                <a:cs typeface="Times New Roman"/>
              </a:rPr>
              <a:t> </a:t>
            </a:r>
            <a:r>
              <a:rPr lang="en-US" sz="2400" spc="-5" dirty="0">
                <a:latin typeface="Times New Roman"/>
                <a:cs typeface="Times New Roman"/>
              </a:rPr>
              <a:t>the</a:t>
            </a:r>
            <a:r>
              <a:rPr lang="en-US" sz="2400" spc="20" dirty="0">
                <a:latin typeface="Times New Roman"/>
                <a:cs typeface="Times New Roman"/>
              </a:rPr>
              <a:t> </a:t>
            </a:r>
            <a:r>
              <a:rPr lang="en-US" sz="2400" spc="-5" dirty="0">
                <a:latin typeface="Times New Roman"/>
                <a:cs typeface="Times New Roman"/>
              </a:rPr>
              <a:t>highest</a:t>
            </a:r>
            <a:r>
              <a:rPr lang="en-US" sz="2400" spc="25" dirty="0">
                <a:latin typeface="Times New Roman"/>
                <a:cs typeface="Times New Roman"/>
              </a:rPr>
              <a:t> </a:t>
            </a:r>
            <a:r>
              <a:rPr lang="en-US" sz="2400" spc="-5" dirty="0">
                <a:latin typeface="Times New Roman"/>
                <a:cs typeface="Times New Roman"/>
              </a:rPr>
              <a:t>order</a:t>
            </a:r>
            <a:r>
              <a:rPr lang="en-US" sz="2400" spc="20" dirty="0">
                <a:latin typeface="Times New Roman"/>
                <a:cs typeface="Times New Roman"/>
              </a:rPr>
              <a:t> </a:t>
            </a:r>
            <a:r>
              <a:rPr lang="en-US" sz="2400" spc="-5" dirty="0">
                <a:latin typeface="Times New Roman"/>
                <a:cs typeface="Times New Roman"/>
              </a:rPr>
              <a:t>bit</a:t>
            </a:r>
            <a:r>
              <a:rPr lang="en-US" sz="2400" spc="30" dirty="0">
                <a:latin typeface="Times New Roman"/>
                <a:cs typeface="Times New Roman"/>
              </a:rPr>
              <a:t> </a:t>
            </a:r>
            <a:r>
              <a:rPr lang="en-US" sz="2400" dirty="0">
                <a:latin typeface="Times New Roman"/>
                <a:cs typeface="Times New Roman"/>
              </a:rPr>
              <a:t>of</a:t>
            </a:r>
            <a:r>
              <a:rPr lang="en-US" sz="2400" spc="30" dirty="0">
                <a:latin typeface="Times New Roman"/>
                <a:cs typeface="Times New Roman"/>
              </a:rPr>
              <a:t> </a:t>
            </a:r>
            <a:r>
              <a:rPr lang="en-US" sz="2400" spc="-5" dirty="0">
                <a:latin typeface="Times New Roman"/>
                <a:cs typeface="Times New Roman"/>
              </a:rPr>
              <a:t>the</a:t>
            </a:r>
            <a:r>
              <a:rPr lang="en-US" sz="2400" spc="30" dirty="0">
                <a:latin typeface="Times New Roman"/>
                <a:cs typeface="Times New Roman"/>
              </a:rPr>
              <a:t> </a:t>
            </a:r>
            <a:r>
              <a:rPr lang="en-US" sz="2400" spc="-5" dirty="0">
                <a:latin typeface="Times New Roman"/>
                <a:cs typeface="Times New Roman"/>
              </a:rPr>
              <a:t>result</a:t>
            </a:r>
            <a:r>
              <a:rPr lang="en-US" sz="2400" spc="80" dirty="0">
                <a:latin typeface="Times New Roman"/>
                <a:cs typeface="Times New Roman"/>
              </a:rPr>
              <a:t> </a:t>
            </a:r>
            <a:r>
              <a:rPr lang="en-US" sz="2400" spc="-5" dirty="0">
                <a:latin typeface="Times New Roman"/>
                <a:cs typeface="Times New Roman"/>
              </a:rPr>
              <a:t>in</a:t>
            </a:r>
            <a:r>
              <a:rPr lang="en-US" sz="2400" spc="20" dirty="0">
                <a:latin typeface="Times New Roman"/>
                <a:cs typeface="Times New Roman"/>
              </a:rPr>
              <a:t> </a:t>
            </a:r>
            <a:r>
              <a:rPr lang="en-US" sz="2400" spc="-5" dirty="0">
                <a:latin typeface="Times New Roman"/>
                <a:cs typeface="Times New Roman"/>
              </a:rPr>
              <a:t>the</a:t>
            </a:r>
            <a:r>
              <a:rPr lang="en-US" sz="2400" spc="30" dirty="0">
                <a:latin typeface="Times New Roman"/>
                <a:cs typeface="Times New Roman"/>
              </a:rPr>
              <a:t> </a:t>
            </a:r>
            <a:r>
              <a:rPr lang="en-US" sz="2400" spc="-5" dirty="0">
                <a:latin typeface="Times New Roman"/>
                <a:cs typeface="Times New Roman"/>
              </a:rPr>
              <a:t>output</a:t>
            </a:r>
            <a:r>
              <a:rPr lang="en-US" sz="2400" spc="35" dirty="0">
                <a:latin typeface="Times New Roman"/>
                <a:cs typeface="Times New Roman"/>
              </a:rPr>
              <a:t> </a:t>
            </a:r>
            <a:r>
              <a:rPr lang="en-US" sz="2400" spc="-5" dirty="0">
                <a:latin typeface="Times New Roman"/>
                <a:cs typeface="Times New Roman"/>
              </a:rPr>
              <a:t>of</a:t>
            </a:r>
            <a:endParaRPr lang="en-US" sz="2400" dirty="0">
              <a:latin typeface="Times New Roman"/>
              <a:cs typeface="Times New Roman"/>
            </a:endParaRPr>
          </a:p>
          <a:p>
            <a:pPr marL="697865" algn="just">
              <a:lnSpc>
                <a:spcPct val="100000"/>
              </a:lnSpc>
              <a:spcBef>
                <a:spcPts val="735"/>
              </a:spcBef>
            </a:pPr>
            <a:r>
              <a:rPr lang="en-US" sz="2400" dirty="0">
                <a:latin typeface="Times New Roman"/>
                <a:cs typeface="Times New Roman"/>
              </a:rPr>
              <a:t>the </a:t>
            </a:r>
            <a:r>
              <a:rPr lang="en-US" sz="2400" spc="-5" dirty="0">
                <a:latin typeface="Times New Roman"/>
                <a:cs typeface="Times New Roman"/>
              </a:rPr>
              <a:t>ALU is </a:t>
            </a:r>
            <a:r>
              <a:rPr lang="en-US" sz="2400" spc="5" dirty="0">
                <a:latin typeface="Times New Roman"/>
                <a:cs typeface="Times New Roman"/>
              </a:rPr>
              <a:t>1. </a:t>
            </a:r>
            <a:r>
              <a:rPr lang="en-US" sz="2400" dirty="0">
                <a:latin typeface="Times New Roman"/>
                <a:cs typeface="Times New Roman"/>
              </a:rPr>
              <a:t>If </a:t>
            </a:r>
            <a:r>
              <a:rPr lang="en-US" sz="2400" spc="-5" dirty="0">
                <a:latin typeface="Times New Roman"/>
                <a:cs typeface="Times New Roman"/>
              </a:rPr>
              <a:t>the highest order </a:t>
            </a:r>
            <a:r>
              <a:rPr lang="en-US" sz="2400" spc="-10" dirty="0">
                <a:latin typeface="Times New Roman"/>
                <a:cs typeface="Times New Roman"/>
              </a:rPr>
              <a:t>bit </a:t>
            </a:r>
            <a:r>
              <a:rPr lang="en-US" sz="2400" spc="-5" dirty="0">
                <a:latin typeface="Times New Roman"/>
                <a:cs typeface="Times New Roman"/>
              </a:rPr>
              <a:t>is </a:t>
            </a:r>
            <a:r>
              <a:rPr lang="en-US" sz="2400" dirty="0">
                <a:latin typeface="Times New Roman"/>
                <a:cs typeface="Times New Roman"/>
              </a:rPr>
              <a:t>0, </a:t>
            </a:r>
            <a:r>
              <a:rPr lang="en-US" sz="2400" spc="-5" dirty="0">
                <a:latin typeface="Times New Roman"/>
                <a:cs typeface="Times New Roman"/>
              </a:rPr>
              <a:t>this </a:t>
            </a:r>
            <a:r>
              <a:rPr lang="en-US" sz="2400" spc="-10" dirty="0">
                <a:latin typeface="Times New Roman"/>
                <a:cs typeface="Times New Roman"/>
              </a:rPr>
              <a:t>bit </a:t>
            </a:r>
            <a:r>
              <a:rPr lang="en-US" sz="2400" spc="-5" dirty="0">
                <a:latin typeface="Times New Roman"/>
                <a:cs typeface="Times New Roman"/>
              </a:rPr>
              <a:t>is</a:t>
            </a:r>
            <a:r>
              <a:rPr lang="en-US" sz="2400" spc="45" dirty="0">
                <a:latin typeface="Times New Roman"/>
                <a:cs typeface="Times New Roman"/>
              </a:rPr>
              <a:t> </a:t>
            </a:r>
            <a:r>
              <a:rPr lang="en-US" sz="2400" spc="-5" dirty="0">
                <a:latin typeface="Times New Roman"/>
                <a:cs typeface="Times New Roman"/>
              </a:rPr>
              <a:t>cleared.</a:t>
            </a:r>
            <a:endParaRPr lang="en-US" sz="2400" dirty="0">
              <a:latin typeface="Times New Roman"/>
              <a:cs typeface="Times New Roman"/>
            </a:endParaRPr>
          </a:p>
        </p:txBody>
      </p:sp>
      <p:sp>
        <p:nvSpPr>
          <p:cNvPr id="6" name="object 3">
            <a:extLst>
              <a:ext uri="{FF2B5EF4-FFF2-40B4-BE49-F238E27FC236}">
                <a16:creationId xmlns:a16="http://schemas.microsoft.com/office/drawing/2014/main" id="{8E2DB1EA-1529-8FEF-85A0-5763A8BA2CFA}"/>
              </a:ext>
            </a:extLst>
          </p:cNvPr>
          <p:cNvSpPr/>
          <p:nvPr/>
        </p:nvSpPr>
        <p:spPr>
          <a:xfrm>
            <a:off x="5382901" y="1857081"/>
            <a:ext cx="6683407" cy="4344586"/>
          </a:xfrm>
          <a:prstGeom prst="rect">
            <a:avLst/>
          </a:prstGeom>
          <a:blipFill>
            <a:blip r:embed="rId2" cstate="print"/>
            <a:stretch>
              <a:fillRect/>
            </a:stretch>
          </a:blipFill>
        </p:spPr>
        <p:txBody>
          <a:bodyPr wrap="square" lIns="0" tIns="0" rIns="0" bIns="0" rtlCol="0"/>
          <a:lstStyle/>
          <a:p>
            <a:endParaRPr/>
          </a:p>
        </p:txBody>
      </p:sp>
      <p:sp>
        <p:nvSpPr>
          <p:cNvPr id="8" name="TextBox 7">
            <a:extLst>
              <a:ext uri="{FF2B5EF4-FFF2-40B4-BE49-F238E27FC236}">
                <a16:creationId xmlns:a16="http://schemas.microsoft.com/office/drawing/2014/main" id="{ED1481E0-56B7-E191-7A1B-9FEC87A31745}"/>
              </a:ext>
            </a:extLst>
          </p:cNvPr>
          <p:cNvSpPr txBox="1"/>
          <p:nvPr/>
        </p:nvSpPr>
        <p:spPr>
          <a:xfrm>
            <a:off x="-301658" y="2011865"/>
            <a:ext cx="5184743" cy="5349670"/>
          </a:xfrm>
          <a:prstGeom prst="rect">
            <a:avLst/>
          </a:prstGeom>
          <a:noFill/>
        </p:spPr>
        <p:txBody>
          <a:bodyPr wrap="square">
            <a:spAutoFit/>
          </a:bodyPr>
          <a:lstStyle/>
          <a:p>
            <a:pPr marL="697865" marR="9525" lvl="1" indent="-228600" algn="just">
              <a:lnSpc>
                <a:spcPct val="143600"/>
              </a:lnSpc>
              <a:buFont typeface="Times New Roman"/>
              <a:buAutoNum type="arabicPeriod" startAt="3"/>
              <a:tabLst>
                <a:tab pos="698500" algn="l"/>
              </a:tabLst>
            </a:pPr>
            <a:r>
              <a:rPr lang="en-US" sz="2400" b="1" dirty="0">
                <a:latin typeface="Times New Roman"/>
                <a:cs typeface="Times New Roman"/>
              </a:rPr>
              <a:t>Bit Z </a:t>
            </a:r>
            <a:r>
              <a:rPr lang="en-US" sz="2400" spc="-5" dirty="0">
                <a:latin typeface="Times New Roman"/>
                <a:cs typeface="Times New Roman"/>
              </a:rPr>
              <a:t>is </a:t>
            </a:r>
            <a:r>
              <a:rPr lang="en-US" sz="2400" dirty="0">
                <a:latin typeface="Times New Roman"/>
                <a:cs typeface="Times New Roman"/>
              </a:rPr>
              <a:t>set to 1 </a:t>
            </a:r>
            <a:r>
              <a:rPr lang="en-US" sz="2400" spc="-5" dirty="0">
                <a:latin typeface="Times New Roman"/>
                <a:cs typeface="Times New Roman"/>
              </a:rPr>
              <a:t>if the output </a:t>
            </a:r>
            <a:r>
              <a:rPr lang="en-US" sz="2400" dirty="0">
                <a:latin typeface="Times New Roman"/>
                <a:cs typeface="Times New Roman"/>
              </a:rPr>
              <a:t>of </a:t>
            </a:r>
            <a:r>
              <a:rPr lang="en-US" sz="2400" spc="-5" dirty="0">
                <a:latin typeface="Times New Roman"/>
                <a:cs typeface="Times New Roman"/>
              </a:rPr>
              <a:t>the ALU contains all 0’s. That is </a:t>
            </a:r>
            <a:r>
              <a:rPr lang="en-US" sz="2400" dirty="0">
                <a:latin typeface="Times New Roman"/>
                <a:cs typeface="Times New Roman"/>
              </a:rPr>
              <a:t>if  the </a:t>
            </a:r>
            <a:r>
              <a:rPr lang="en-US" sz="2400" spc="-5" dirty="0">
                <a:latin typeface="Times New Roman"/>
                <a:cs typeface="Times New Roman"/>
              </a:rPr>
              <a:t>result is zero </a:t>
            </a:r>
            <a:r>
              <a:rPr lang="en-US" sz="2400" dirty="0">
                <a:latin typeface="Times New Roman"/>
                <a:cs typeface="Times New Roman"/>
              </a:rPr>
              <a:t>Z </a:t>
            </a:r>
            <a:r>
              <a:rPr lang="en-US" sz="2400" spc="-5" dirty="0">
                <a:latin typeface="Times New Roman"/>
                <a:cs typeface="Times New Roman"/>
              </a:rPr>
              <a:t>bit </a:t>
            </a:r>
            <a:r>
              <a:rPr lang="en-US" sz="2400" dirty="0">
                <a:latin typeface="Times New Roman"/>
                <a:cs typeface="Times New Roman"/>
              </a:rPr>
              <a:t>is </a:t>
            </a:r>
            <a:r>
              <a:rPr lang="en-US" sz="2400" spc="10" dirty="0">
                <a:latin typeface="Times New Roman"/>
                <a:cs typeface="Times New Roman"/>
              </a:rPr>
              <a:t>1, </a:t>
            </a:r>
            <a:r>
              <a:rPr lang="en-US" sz="2400" spc="-5" dirty="0">
                <a:latin typeface="Times New Roman"/>
                <a:cs typeface="Times New Roman"/>
              </a:rPr>
              <a:t>and </a:t>
            </a:r>
            <a:r>
              <a:rPr lang="en-US" sz="2400" dirty="0">
                <a:latin typeface="Times New Roman"/>
                <a:cs typeface="Times New Roman"/>
              </a:rPr>
              <a:t>if </a:t>
            </a:r>
            <a:r>
              <a:rPr lang="en-US" sz="2400" spc="-5" dirty="0">
                <a:latin typeface="Times New Roman"/>
                <a:cs typeface="Times New Roman"/>
              </a:rPr>
              <a:t>the result </a:t>
            </a:r>
            <a:r>
              <a:rPr lang="en-US" sz="2400" dirty="0">
                <a:latin typeface="Times New Roman"/>
                <a:cs typeface="Times New Roman"/>
              </a:rPr>
              <a:t>is </a:t>
            </a:r>
            <a:r>
              <a:rPr lang="en-US" sz="2400" spc="-5" dirty="0">
                <a:latin typeface="Times New Roman"/>
                <a:cs typeface="Times New Roman"/>
              </a:rPr>
              <a:t>nonzero </a:t>
            </a:r>
            <a:r>
              <a:rPr lang="en-US" sz="2400" dirty="0">
                <a:latin typeface="Times New Roman"/>
                <a:cs typeface="Times New Roman"/>
              </a:rPr>
              <a:t>Z </a:t>
            </a:r>
            <a:r>
              <a:rPr lang="en-US" sz="2400" spc="-5" dirty="0">
                <a:latin typeface="Times New Roman"/>
                <a:cs typeface="Times New Roman"/>
              </a:rPr>
              <a:t>bit </a:t>
            </a:r>
            <a:r>
              <a:rPr lang="en-US" sz="2400" dirty="0">
                <a:latin typeface="Times New Roman"/>
                <a:cs typeface="Times New Roman"/>
              </a:rPr>
              <a:t>is </a:t>
            </a:r>
            <a:r>
              <a:rPr lang="en-US" sz="2400" spc="5" dirty="0">
                <a:latin typeface="Times New Roman"/>
                <a:cs typeface="Times New Roman"/>
              </a:rPr>
              <a:t>0.</a:t>
            </a:r>
            <a:endParaRPr lang="en-US" sz="2400" dirty="0">
              <a:latin typeface="Times New Roman"/>
              <a:cs typeface="Times New Roman"/>
            </a:endParaRPr>
          </a:p>
          <a:p>
            <a:pPr marL="697865" marR="10160" lvl="1" indent="-228600" algn="just">
              <a:lnSpc>
                <a:spcPct val="143600"/>
              </a:lnSpc>
              <a:spcBef>
                <a:spcPts val="10"/>
              </a:spcBef>
              <a:buFont typeface="Times New Roman"/>
              <a:buAutoNum type="arabicPeriod" startAt="3"/>
              <a:tabLst>
                <a:tab pos="698500" algn="l"/>
              </a:tabLst>
            </a:pPr>
            <a:r>
              <a:rPr lang="en-US" sz="2400" b="1" dirty="0">
                <a:latin typeface="Times New Roman"/>
                <a:cs typeface="Times New Roman"/>
              </a:rPr>
              <a:t>Bit</a:t>
            </a:r>
            <a:r>
              <a:rPr lang="en-US" sz="2400" b="1" spc="-80" dirty="0">
                <a:latin typeface="Times New Roman"/>
                <a:cs typeface="Times New Roman"/>
              </a:rPr>
              <a:t> </a:t>
            </a:r>
            <a:r>
              <a:rPr lang="en-US" sz="2400" b="1" dirty="0">
                <a:latin typeface="Times New Roman"/>
                <a:cs typeface="Times New Roman"/>
              </a:rPr>
              <a:t>V</a:t>
            </a:r>
            <a:r>
              <a:rPr lang="en-US" sz="2400" b="1" spc="-55" dirty="0">
                <a:latin typeface="Times New Roman"/>
                <a:cs typeface="Times New Roman"/>
              </a:rPr>
              <a:t> </a:t>
            </a:r>
            <a:r>
              <a:rPr lang="en-US" sz="2400" spc="-5" dirty="0">
                <a:latin typeface="Times New Roman"/>
                <a:cs typeface="Times New Roman"/>
              </a:rPr>
              <a:t>is</a:t>
            </a:r>
            <a:r>
              <a:rPr lang="en-US" sz="2400" spc="-60" dirty="0">
                <a:latin typeface="Times New Roman"/>
                <a:cs typeface="Times New Roman"/>
              </a:rPr>
              <a:t> </a:t>
            </a:r>
            <a:r>
              <a:rPr lang="en-US" sz="2400" spc="-5" dirty="0">
                <a:latin typeface="Times New Roman"/>
                <a:cs typeface="Times New Roman"/>
              </a:rPr>
              <a:t>set</a:t>
            </a:r>
            <a:r>
              <a:rPr lang="en-US" sz="2400" spc="-70" dirty="0">
                <a:latin typeface="Times New Roman"/>
                <a:cs typeface="Times New Roman"/>
              </a:rPr>
              <a:t> </a:t>
            </a:r>
            <a:r>
              <a:rPr lang="en-US" sz="2400" dirty="0">
                <a:latin typeface="Times New Roman"/>
                <a:cs typeface="Times New Roman"/>
              </a:rPr>
              <a:t>if</a:t>
            </a:r>
            <a:r>
              <a:rPr lang="en-US" sz="2400" spc="-65" dirty="0">
                <a:latin typeface="Times New Roman"/>
                <a:cs typeface="Times New Roman"/>
              </a:rPr>
              <a:t> </a:t>
            </a:r>
            <a:r>
              <a:rPr lang="en-US" sz="2400" spc="-5" dirty="0">
                <a:latin typeface="Times New Roman"/>
                <a:cs typeface="Times New Roman"/>
              </a:rPr>
              <a:t>the</a:t>
            </a:r>
            <a:r>
              <a:rPr lang="en-US" sz="2400" spc="-65" dirty="0">
                <a:latin typeface="Times New Roman"/>
                <a:cs typeface="Times New Roman"/>
              </a:rPr>
              <a:t> </a:t>
            </a:r>
            <a:r>
              <a:rPr lang="en-US" sz="2400" spc="-5" dirty="0">
                <a:latin typeface="Times New Roman"/>
                <a:cs typeface="Times New Roman"/>
              </a:rPr>
              <a:t>exclusive</a:t>
            </a:r>
            <a:r>
              <a:rPr lang="en-US" sz="2400" spc="-65" dirty="0">
                <a:latin typeface="Times New Roman"/>
                <a:cs typeface="Times New Roman"/>
              </a:rPr>
              <a:t> </a:t>
            </a:r>
            <a:r>
              <a:rPr lang="en-US" sz="2400" spc="-5" dirty="0">
                <a:latin typeface="Times New Roman"/>
                <a:cs typeface="Times New Roman"/>
              </a:rPr>
              <a:t>OR</a:t>
            </a:r>
            <a:r>
              <a:rPr lang="en-US" sz="2400" spc="-65" dirty="0">
                <a:latin typeface="Times New Roman"/>
                <a:cs typeface="Times New Roman"/>
              </a:rPr>
              <a:t> </a:t>
            </a:r>
            <a:r>
              <a:rPr lang="en-US" sz="2400" dirty="0">
                <a:latin typeface="Times New Roman"/>
                <a:cs typeface="Times New Roman"/>
              </a:rPr>
              <a:t>of</a:t>
            </a:r>
            <a:r>
              <a:rPr lang="en-US" sz="2400" spc="-75" dirty="0">
                <a:latin typeface="Times New Roman"/>
                <a:cs typeface="Times New Roman"/>
              </a:rPr>
              <a:t> </a:t>
            </a:r>
            <a:r>
              <a:rPr lang="en-US" sz="2400" dirty="0">
                <a:latin typeface="Times New Roman"/>
                <a:cs typeface="Times New Roman"/>
              </a:rPr>
              <a:t>carries</a:t>
            </a:r>
            <a:r>
              <a:rPr lang="en-US" sz="2400" spc="-70" dirty="0">
                <a:latin typeface="Times New Roman"/>
                <a:cs typeface="Times New Roman"/>
              </a:rPr>
              <a:t> </a:t>
            </a:r>
            <a:r>
              <a:rPr lang="en-US" sz="2400" spc="-10" dirty="0">
                <a:latin typeface="Times New Roman"/>
                <a:cs typeface="Times New Roman"/>
              </a:rPr>
              <a:t>C8</a:t>
            </a:r>
            <a:r>
              <a:rPr lang="en-US" sz="2400" spc="-60" dirty="0">
                <a:latin typeface="Times New Roman"/>
                <a:cs typeface="Times New Roman"/>
              </a:rPr>
              <a:t> </a:t>
            </a:r>
            <a:r>
              <a:rPr lang="en-US" sz="2400" spc="-5" dirty="0">
                <a:latin typeface="Times New Roman"/>
                <a:cs typeface="Times New Roman"/>
              </a:rPr>
              <a:t>and</a:t>
            </a:r>
            <a:r>
              <a:rPr lang="en-US" sz="2400" spc="-60" dirty="0">
                <a:latin typeface="Times New Roman"/>
                <a:cs typeface="Times New Roman"/>
              </a:rPr>
              <a:t> </a:t>
            </a:r>
            <a:r>
              <a:rPr lang="en-US" sz="2400" spc="-10" dirty="0">
                <a:latin typeface="Times New Roman"/>
                <a:cs typeface="Times New Roman"/>
              </a:rPr>
              <a:t>C9</a:t>
            </a:r>
            <a:r>
              <a:rPr lang="en-US" sz="2400" spc="-70" dirty="0">
                <a:latin typeface="Times New Roman"/>
                <a:cs typeface="Times New Roman"/>
              </a:rPr>
              <a:t> </a:t>
            </a:r>
            <a:r>
              <a:rPr lang="en-US" sz="2400" dirty="0">
                <a:latin typeface="Times New Roman"/>
                <a:cs typeface="Times New Roman"/>
              </a:rPr>
              <a:t>is</a:t>
            </a:r>
            <a:r>
              <a:rPr lang="en-US" sz="2400" spc="-70" dirty="0">
                <a:latin typeface="Times New Roman"/>
                <a:cs typeface="Times New Roman"/>
              </a:rPr>
              <a:t> </a:t>
            </a:r>
            <a:r>
              <a:rPr lang="en-US" sz="2400" dirty="0">
                <a:latin typeface="Times New Roman"/>
                <a:cs typeface="Times New Roman"/>
              </a:rPr>
              <a:t>1,</a:t>
            </a:r>
            <a:r>
              <a:rPr lang="en-US" sz="2400" spc="-65" dirty="0">
                <a:latin typeface="Times New Roman"/>
                <a:cs typeface="Times New Roman"/>
              </a:rPr>
              <a:t> </a:t>
            </a:r>
            <a:r>
              <a:rPr lang="en-US" sz="2400" spc="-5" dirty="0">
                <a:latin typeface="Times New Roman"/>
                <a:cs typeface="Times New Roman"/>
              </a:rPr>
              <a:t>and</a:t>
            </a:r>
            <a:r>
              <a:rPr lang="en-US" sz="2400" spc="-60" dirty="0">
                <a:latin typeface="Times New Roman"/>
                <a:cs typeface="Times New Roman"/>
              </a:rPr>
              <a:t> </a:t>
            </a:r>
            <a:r>
              <a:rPr lang="en-US" sz="2400" spc="-5" dirty="0">
                <a:latin typeface="Times New Roman"/>
                <a:cs typeface="Times New Roman"/>
              </a:rPr>
              <a:t>cleared  otherwise. This </a:t>
            </a:r>
            <a:r>
              <a:rPr lang="en-US" sz="2400" dirty="0">
                <a:latin typeface="Times New Roman"/>
                <a:cs typeface="Times New Roman"/>
              </a:rPr>
              <a:t>is </a:t>
            </a:r>
            <a:r>
              <a:rPr lang="en-US" sz="2400" spc="-5" dirty="0">
                <a:latin typeface="Times New Roman"/>
                <a:cs typeface="Times New Roman"/>
              </a:rPr>
              <a:t>the condition for overflow when the numbers </a:t>
            </a:r>
            <a:r>
              <a:rPr lang="en-US" sz="2400" dirty="0">
                <a:latin typeface="Times New Roman"/>
                <a:cs typeface="Times New Roman"/>
              </a:rPr>
              <a:t>are  in </a:t>
            </a:r>
            <a:r>
              <a:rPr lang="en-US" sz="2400" spc="-10" dirty="0">
                <a:latin typeface="Times New Roman"/>
                <a:cs typeface="Times New Roman"/>
              </a:rPr>
              <a:t>Signed </a:t>
            </a:r>
            <a:r>
              <a:rPr lang="en-US" sz="2400" spc="-5" dirty="0">
                <a:latin typeface="Times New Roman"/>
                <a:cs typeface="Times New Roman"/>
              </a:rPr>
              <a:t>2’s complement</a:t>
            </a:r>
            <a:r>
              <a:rPr lang="en-US" sz="2400" spc="30" dirty="0">
                <a:latin typeface="Times New Roman"/>
                <a:cs typeface="Times New Roman"/>
              </a:rPr>
              <a:t> </a:t>
            </a:r>
            <a:r>
              <a:rPr lang="en-US" sz="2400" spc="-5" dirty="0">
                <a:latin typeface="Times New Roman"/>
                <a:cs typeface="Times New Roman"/>
              </a:rPr>
              <a:t>representation.</a:t>
            </a:r>
            <a:endParaRPr lang="en-US" sz="2400" dirty="0">
              <a:latin typeface="Times New Roman"/>
              <a:cs typeface="Times New Roman"/>
            </a:endParaRPr>
          </a:p>
        </p:txBody>
      </p:sp>
    </p:spTree>
    <p:extLst>
      <p:ext uri="{BB962C8B-B14F-4D97-AF65-F5344CB8AC3E}">
        <p14:creationId xmlns:p14="http://schemas.microsoft.com/office/powerpoint/2010/main" val="1941016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99EE3D-62A7-9518-BEA4-45B8A17CC2CF}"/>
              </a:ext>
            </a:extLst>
          </p:cNvPr>
          <p:cNvSpPr>
            <a:spLocks noGrp="1"/>
          </p:cNvSpPr>
          <p:nvPr>
            <p:ph idx="1"/>
          </p:nvPr>
        </p:nvSpPr>
        <p:spPr>
          <a:xfrm>
            <a:off x="160256" y="207390"/>
            <a:ext cx="6815579" cy="3855563"/>
          </a:xfrm>
        </p:spPr>
        <p:txBody>
          <a:bodyPr>
            <a:noAutofit/>
          </a:bodyPr>
          <a:lstStyle/>
          <a:p>
            <a:pPr marL="240665" marR="10795" indent="-228600" algn="just">
              <a:lnSpc>
                <a:spcPct val="143600"/>
              </a:lnSpc>
              <a:spcBef>
                <a:spcPts val="95"/>
              </a:spcBef>
              <a:buFont typeface="Symbol"/>
              <a:buChar char=""/>
              <a:tabLst>
                <a:tab pos="241300" algn="l"/>
              </a:tabLst>
            </a:pPr>
            <a:r>
              <a:rPr lang="en-US" sz="2400" spc="-5" dirty="0">
                <a:latin typeface="Times New Roman"/>
                <a:cs typeface="Times New Roman"/>
              </a:rPr>
              <a:t>After </a:t>
            </a:r>
            <a:r>
              <a:rPr lang="en-US" sz="2400" spc="-10" dirty="0">
                <a:latin typeface="Times New Roman"/>
                <a:cs typeface="Times New Roman"/>
              </a:rPr>
              <a:t>an </a:t>
            </a:r>
            <a:r>
              <a:rPr lang="en-US" sz="2400" spc="-5" dirty="0">
                <a:latin typeface="Times New Roman"/>
                <a:cs typeface="Times New Roman"/>
              </a:rPr>
              <a:t>ALU operation, status bits can </a:t>
            </a:r>
            <a:r>
              <a:rPr lang="en-US" sz="2400" dirty="0">
                <a:latin typeface="Times New Roman"/>
                <a:cs typeface="Times New Roman"/>
              </a:rPr>
              <a:t>be </a:t>
            </a:r>
            <a:r>
              <a:rPr lang="en-US" sz="2400" spc="-5" dirty="0">
                <a:latin typeface="Times New Roman"/>
                <a:cs typeface="Times New Roman"/>
              </a:rPr>
              <a:t>checked </a:t>
            </a:r>
            <a:r>
              <a:rPr lang="en-US" sz="2400" dirty="0">
                <a:latin typeface="Times New Roman"/>
                <a:cs typeface="Times New Roman"/>
              </a:rPr>
              <a:t>to </a:t>
            </a:r>
            <a:r>
              <a:rPr lang="en-US" sz="2400" spc="-5" dirty="0">
                <a:latin typeface="Times New Roman"/>
                <a:cs typeface="Times New Roman"/>
              </a:rPr>
              <a:t>determine the  relationship that exist between the values </a:t>
            </a:r>
            <a:r>
              <a:rPr lang="en-US" sz="2400" dirty="0">
                <a:latin typeface="Times New Roman"/>
                <a:cs typeface="Times New Roman"/>
              </a:rPr>
              <a:t>of A </a:t>
            </a:r>
            <a:r>
              <a:rPr lang="en-US" sz="2400" spc="-5" dirty="0">
                <a:latin typeface="Times New Roman"/>
                <a:cs typeface="Times New Roman"/>
              </a:rPr>
              <a:t>and </a:t>
            </a:r>
            <a:r>
              <a:rPr lang="en-US" sz="2400" dirty="0">
                <a:latin typeface="Times New Roman"/>
                <a:cs typeface="Times New Roman"/>
              </a:rPr>
              <a:t>B. </a:t>
            </a:r>
          </a:p>
          <a:p>
            <a:pPr marL="240665" marR="10795" indent="-228600" algn="just">
              <a:lnSpc>
                <a:spcPct val="143600"/>
              </a:lnSpc>
              <a:spcBef>
                <a:spcPts val="95"/>
              </a:spcBef>
              <a:buFont typeface="Symbol"/>
              <a:buChar char=""/>
              <a:tabLst>
                <a:tab pos="241300" algn="l"/>
              </a:tabLst>
            </a:pPr>
            <a:r>
              <a:rPr lang="en-US" sz="2400" dirty="0">
                <a:latin typeface="Times New Roman"/>
                <a:cs typeface="Times New Roman"/>
              </a:rPr>
              <a:t>If </a:t>
            </a:r>
            <a:r>
              <a:rPr lang="en-US" sz="2400" spc="-5" dirty="0">
                <a:latin typeface="Times New Roman"/>
                <a:cs typeface="Times New Roman"/>
              </a:rPr>
              <a:t>bit </a:t>
            </a:r>
            <a:r>
              <a:rPr lang="en-US" sz="2400" dirty="0">
                <a:latin typeface="Times New Roman"/>
                <a:cs typeface="Times New Roman"/>
              </a:rPr>
              <a:t>V </a:t>
            </a:r>
            <a:r>
              <a:rPr lang="en-US" sz="2400" spc="-5" dirty="0">
                <a:latin typeface="Times New Roman"/>
                <a:cs typeface="Times New Roman"/>
              </a:rPr>
              <a:t>is set after  </a:t>
            </a:r>
            <a:r>
              <a:rPr lang="en-US" sz="2400" dirty="0">
                <a:latin typeface="Times New Roman"/>
                <a:cs typeface="Times New Roman"/>
              </a:rPr>
              <a:t>the </a:t>
            </a:r>
            <a:r>
              <a:rPr lang="en-US" sz="2400" spc="-5" dirty="0">
                <a:latin typeface="Times New Roman"/>
                <a:cs typeface="Times New Roman"/>
              </a:rPr>
              <a:t>addition two signed numbers, it indicates </a:t>
            </a:r>
            <a:r>
              <a:rPr lang="en-US" sz="2400" spc="-10" dirty="0">
                <a:latin typeface="Times New Roman"/>
                <a:cs typeface="Times New Roman"/>
              </a:rPr>
              <a:t>an </a:t>
            </a:r>
            <a:r>
              <a:rPr lang="en-US" sz="2400" spc="-5" dirty="0">
                <a:latin typeface="Times New Roman"/>
                <a:cs typeface="Times New Roman"/>
              </a:rPr>
              <a:t>overflow</a:t>
            </a:r>
            <a:r>
              <a:rPr lang="en-US" sz="2400" spc="55" dirty="0">
                <a:latin typeface="Times New Roman"/>
                <a:cs typeface="Times New Roman"/>
              </a:rPr>
              <a:t> </a:t>
            </a:r>
            <a:r>
              <a:rPr lang="en-US" sz="2400" spc="-5" dirty="0">
                <a:latin typeface="Times New Roman"/>
                <a:cs typeface="Times New Roman"/>
              </a:rPr>
              <a:t>condition.</a:t>
            </a:r>
            <a:endParaRPr lang="en-US" sz="2400" dirty="0">
              <a:latin typeface="Times New Roman"/>
              <a:cs typeface="Times New Roman"/>
            </a:endParaRPr>
          </a:p>
          <a:p>
            <a:pPr marL="240665" marR="8255" indent="-228600" algn="just">
              <a:lnSpc>
                <a:spcPct val="143600"/>
              </a:lnSpc>
              <a:spcBef>
                <a:spcPts val="110"/>
              </a:spcBef>
              <a:buFont typeface="Symbol"/>
              <a:buChar char=""/>
              <a:tabLst>
                <a:tab pos="241300" algn="l"/>
              </a:tabLst>
            </a:pPr>
            <a:r>
              <a:rPr lang="en-US" sz="2400" dirty="0">
                <a:latin typeface="Times New Roman"/>
                <a:cs typeface="Times New Roman"/>
              </a:rPr>
              <a:t>If Z is </a:t>
            </a:r>
            <a:r>
              <a:rPr lang="en-US" sz="2400" spc="-5" dirty="0">
                <a:latin typeface="Times New Roman"/>
                <a:cs typeface="Times New Roman"/>
              </a:rPr>
              <a:t>set after </a:t>
            </a:r>
            <a:r>
              <a:rPr lang="en-US" sz="2400" spc="-10" dirty="0">
                <a:latin typeface="Times New Roman"/>
                <a:cs typeface="Times New Roman"/>
              </a:rPr>
              <a:t>an </a:t>
            </a:r>
            <a:r>
              <a:rPr lang="en-US" sz="2400" spc="-5" dirty="0">
                <a:latin typeface="Times New Roman"/>
                <a:cs typeface="Times New Roman"/>
              </a:rPr>
              <a:t>exclusive </a:t>
            </a:r>
            <a:r>
              <a:rPr lang="en-US" sz="2400" dirty="0">
                <a:latin typeface="Times New Roman"/>
                <a:cs typeface="Times New Roman"/>
              </a:rPr>
              <a:t>OR </a:t>
            </a:r>
            <a:r>
              <a:rPr lang="en-US" sz="2400" spc="-5" dirty="0">
                <a:latin typeface="Times New Roman"/>
                <a:cs typeface="Times New Roman"/>
              </a:rPr>
              <a:t>operation, </a:t>
            </a:r>
            <a:r>
              <a:rPr lang="en-US" sz="2400" dirty="0">
                <a:latin typeface="Times New Roman"/>
                <a:cs typeface="Times New Roman"/>
              </a:rPr>
              <a:t>it </a:t>
            </a:r>
            <a:r>
              <a:rPr lang="en-US" sz="2400" spc="-5" dirty="0">
                <a:latin typeface="Times New Roman"/>
                <a:cs typeface="Times New Roman"/>
              </a:rPr>
              <a:t>indicates that A=B. </a:t>
            </a:r>
          </a:p>
          <a:p>
            <a:pPr marL="240665" marR="8255" indent="-228600" algn="just">
              <a:lnSpc>
                <a:spcPct val="143600"/>
              </a:lnSpc>
              <a:spcBef>
                <a:spcPts val="110"/>
              </a:spcBef>
              <a:buFont typeface="Symbol"/>
              <a:buChar char=""/>
              <a:tabLst>
                <a:tab pos="241300" algn="l"/>
              </a:tabLst>
            </a:pPr>
            <a:r>
              <a:rPr lang="en-US" sz="2400" dirty="0">
                <a:latin typeface="Times New Roman"/>
                <a:cs typeface="Times New Roman"/>
              </a:rPr>
              <a:t>A </a:t>
            </a:r>
            <a:r>
              <a:rPr lang="en-US" sz="2400" spc="-5" dirty="0">
                <a:latin typeface="Times New Roman"/>
                <a:cs typeface="Times New Roman"/>
              </a:rPr>
              <a:t>single  bit</a:t>
            </a:r>
            <a:r>
              <a:rPr lang="en-US" sz="2400" spc="-70" dirty="0">
                <a:latin typeface="Times New Roman"/>
                <a:cs typeface="Times New Roman"/>
              </a:rPr>
              <a:t> </a:t>
            </a:r>
            <a:r>
              <a:rPr lang="en-US" sz="2400" spc="-5" dirty="0">
                <a:latin typeface="Times New Roman"/>
                <a:cs typeface="Times New Roman"/>
              </a:rPr>
              <a:t>in</a:t>
            </a:r>
            <a:r>
              <a:rPr lang="en-US" sz="2400" spc="-70" dirty="0">
                <a:latin typeface="Times New Roman"/>
                <a:cs typeface="Times New Roman"/>
              </a:rPr>
              <a:t> </a:t>
            </a:r>
            <a:r>
              <a:rPr lang="en-US" sz="2400" dirty="0">
                <a:latin typeface="Times New Roman"/>
                <a:cs typeface="Times New Roman"/>
              </a:rPr>
              <a:t>A</a:t>
            </a:r>
            <a:r>
              <a:rPr lang="en-US" sz="2400" spc="-70" dirty="0">
                <a:latin typeface="Times New Roman"/>
                <a:cs typeface="Times New Roman"/>
              </a:rPr>
              <a:t> </a:t>
            </a:r>
            <a:r>
              <a:rPr lang="en-US" sz="2400" spc="-5" dirty="0">
                <a:latin typeface="Times New Roman"/>
                <a:cs typeface="Times New Roman"/>
              </a:rPr>
              <a:t>can</a:t>
            </a:r>
            <a:r>
              <a:rPr lang="en-US" sz="2400" spc="-70" dirty="0">
                <a:latin typeface="Times New Roman"/>
                <a:cs typeface="Times New Roman"/>
              </a:rPr>
              <a:t> </a:t>
            </a:r>
            <a:r>
              <a:rPr lang="en-US" sz="2400" dirty="0">
                <a:latin typeface="Times New Roman"/>
                <a:cs typeface="Times New Roman"/>
              </a:rPr>
              <a:t>be</a:t>
            </a:r>
            <a:r>
              <a:rPr lang="en-US" sz="2400" spc="-75" dirty="0">
                <a:latin typeface="Times New Roman"/>
                <a:cs typeface="Times New Roman"/>
              </a:rPr>
              <a:t> </a:t>
            </a:r>
            <a:r>
              <a:rPr lang="en-US" sz="2400" spc="-5" dirty="0">
                <a:latin typeface="Times New Roman"/>
                <a:cs typeface="Times New Roman"/>
              </a:rPr>
              <a:t>checked</a:t>
            </a:r>
            <a:r>
              <a:rPr lang="en-US" sz="2400" spc="-70" dirty="0">
                <a:latin typeface="Times New Roman"/>
                <a:cs typeface="Times New Roman"/>
              </a:rPr>
              <a:t> </a:t>
            </a:r>
            <a:r>
              <a:rPr lang="en-US" sz="2400" dirty="0">
                <a:latin typeface="Times New Roman"/>
                <a:cs typeface="Times New Roman"/>
              </a:rPr>
              <a:t>to</a:t>
            </a:r>
            <a:r>
              <a:rPr lang="en-US" sz="2400" spc="-80" dirty="0">
                <a:latin typeface="Times New Roman"/>
                <a:cs typeface="Times New Roman"/>
              </a:rPr>
              <a:t> </a:t>
            </a:r>
            <a:r>
              <a:rPr lang="en-US" sz="2400" spc="-5" dirty="0">
                <a:latin typeface="Times New Roman"/>
                <a:cs typeface="Times New Roman"/>
              </a:rPr>
              <a:t>determine</a:t>
            </a:r>
            <a:r>
              <a:rPr lang="en-US" sz="2400" spc="-75" dirty="0">
                <a:latin typeface="Times New Roman"/>
                <a:cs typeface="Times New Roman"/>
              </a:rPr>
              <a:t> </a:t>
            </a:r>
            <a:r>
              <a:rPr lang="en-US" sz="2400" dirty="0">
                <a:latin typeface="Times New Roman"/>
                <a:cs typeface="Times New Roman"/>
              </a:rPr>
              <a:t>if</a:t>
            </a:r>
            <a:r>
              <a:rPr lang="en-US" sz="2400" spc="-75" dirty="0">
                <a:latin typeface="Times New Roman"/>
                <a:cs typeface="Times New Roman"/>
              </a:rPr>
              <a:t> </a:t>
            </a:r>
            <a:r>
              <a:rPr lang="en-US" sz="2400" spc="-5" dirty="0">
                <a:latin typeface="Times New Roman"/>
                <a:cs typeface="Times New Roman"/>
              </a:rPr>
              <a:t>it</a:t>
            </a:r>
            <a:r>
              <a:rPr lang="en-US" sz="2400" spc="-70" dirty="0">
                <a:latin typeface="Times New Roman"/>
                <a:cs typeface="Times New Roman"/>
              </a:rPr>
              <a:t> </a:t>
            </a:r>
            <a:r>
              <a:rPr lang="en-US" sz="2400" dirty="0">
                <a:latin typeface="Times New Roman"/>
                <a:cs typeface="Times New Roman"/>
              </a:rPr>
              <a:t>is</a:t>
            </a:r>
            <a:r>
              <a:rPr lang="en-US" sz="2400" spc="-85" dirty="0">
                <a:latin typeface="Times New Roman"/>
                <a:cs typeface="Times New Roman"/>
              </a:rPr>
              <a:t> </a:t>
            </a:r>
            <a:r>
              <a:rPr lang="en-US" sz="2400" dirty="0">
                <a:latin typeface="Times New Roman"/>
                <a:cs typeface="Times New Roman"/>
              </a:rPr>
              <a:t>0</a:t>
            </a:r>
            <a:r>
              <a:rPr lang="en-US" sz="2400" spc="-70" dirty="0">
                <a:latin typeface="Times New Roman"/>
                <a:cs typeface="Times New Roman"/>
              </a:rPr>
              <a:t> </a:t>
            </a:r>
            <a:r>
              <a:rPr lang="en-US" sz="2400" dirty="0">
                <a:latin typeface="Times New Roman"/>
                <a:cs typeface="Times New Roman"/>
              </a:rPr>
              <a:t>or</a:t>
            </a:r>
            <a:r>
              <a:rPr lang="en-US" sz="2400" spc="-45" dirty="0">
                <a:latin typeface="Times New Roman"/>
                <a:cs typeface="Times New Roman"/>
              </a:rPr>
              <a:t> </a:t>
            </a:r>
            <a:r>
              <a:rPr lang="en-US" sz="2400" dirty="0">
                <a:latin typeface="Times New Roman"/>
                <a:cs typeface="Times New Roman"/>
              </a:rPr>
              <a:t>1</a:t>
            </a:r>
            <a:r>
              <a:rPr lang="en-US" sz="2400" spc="-65" dirty="0">
                <a:latin typeface="Times New Roman"/>
                <a:cs typeface="Times New Roman"/>
              </a:rPr>
              <a:t> </a:t>
            </a:r>
            <a:r>
              <a:rPr lang="en-US" sz="2400" spc="-5" dirty="0">
                <a:latin typeface="Times New Roman"/>
                <a:cs typeface="Times New Roman"/>
              </a:rPr>
              <a:t>by</a:t>
            </a:r>
            <a:r>
              <a:rPr lang="en-US" sz="2400" spc="-70" dirty="0">
                <a:latin typeface="Times New Roman"/>
                <a:cs typeface="Times New Roman"/>
              </a:rPr>
              <a:t> </a:t>
            </a:r>
            <a:r>
              <a:rPr lang="en-US" sz="2400" spc="-5" dirty="0">
                <a:latin typeface="Times New Roman"/>
                <a:cs typeface="Times New Roman"/>
              </a:rPr>
              <a:t>masking</a:t>
            </a:r>
            <a:r>
              <a:rPr lang="en-US" sz="2400" spc="-70" dirty="0">
                <a:latin typeface="Times New Roman"/>
                <a:cs typeface="Times New Roman"/>
              </a:rPr>
              <a:t> </a:t>
            </a:r>
            <a:r>
              <a:rPr lang="en-US" sz="2400" spc="-5" dirty="0">
                <a:latin typeface="Times New Roman"/>
                <a:cs typeface="Times New Roman"/>
              </a:rPr>
              <a:t>all</a:t>
            </a:r>
            <a:r>
              <a:rPr lang="en-US" sz="2400" spc="-85" dirty="0">
                <a:latin typeface="Times New Roman"/>
                <a:cs typeface="Times New Roman"/>
              </a:rPr>
              <a:t> </a:t>
            </a:r>
            <a:r>
              <a:rPr lang="en-US" sz="2400" spc="-5" dirty="0">
                <a:latin typeface="Times New Roman"/>
                <a:cs typeface="Times New Roman"/>
              </a:rPr>
              <a:t>bits</a:t>
            </a:r>
            <a:r>
              <a:rPr lang="en-US" sz="2400" spc="-70" dirty="0">
                <a:latin typeface="Times New Roman"/>
                <a:cs typeface="Times New Roman"/>
              </a:rPr>
              <a:t> </a:t>
            </a:r>
            <a:r>
              <a:rPr lang="en-US" sz="2400" spc="-5" dirty="0">
                <a:latin typeface="Times New Roman"/>
                <a:cs typeface="Times New Roman"/>
              </a:rPr>
              <a:t>except  </a:t>
            </a:r>
            <a:r>
              <a:rPr lang="en-US" sz="2400" dirty="0">
                <a:latin typeface="Times New Roman"/>
                <a:cs typeface="Times New Roman"/>
              </a:rPr>
              <a:t>the </a:t>
            </a:r>
            <a:r>
              <a:rPr lang="en-US" sz="2400" spc="-5" dirty="0">
                <a:latin typeface="Times New Roman"/>
                <a:cs typeface="Times New Roman"/>
              </a:rPr>
              <a:t>bit </a:t>
            </a:r>
            <a:r>
              <a:rPr lang="en-US" sz="2400" dirty="0">
                <a:latin typeface="Times New Roman"/>
                <a:cs typeface="Times New Roman"/>
              </a:rPr>
              <a:t>in </a:t>
            </a:r>
            <a:r>
              <a:rPr lang="en-US" sz="2400" spc="-5" dirty="0">
                <a:latin typeface="Times New Roman"/>
                <a:cs typeface="Times New Roman"/>
              </a:rPr>
              <a:t>question and then checking the </a:t>
            </a:r>
            <a:r>
              <a:rPr lang="en-US" sz="2400" dirty="0">
                <a:latin typeface="Times New Roman"/>
                <a:cs typeface="Times New Roman"/>
              </a:rPr>
              <a:t>Z </a:t>
            </a:r>
            <a:r>
              <a:rPr lang="en-US" sz="2400" spc="-5" dirty="0">
                <a:latin typeface="Times New Roman"/>
                <a:cs typeface="Times New Roman"/>
              </a:rPr>
              <a:t>status</a:t>
            </a:r>
            <a:r>
              <a:rPr lang="en-US" sz="2400" spc="-40" dirty="0">
                <a:latin typeface="Times New Roman"/>
                <a:cs typeface="Times New Roman"/>
              </a:rPr>
              <a:t> </a:t>
            </a:r>
            <a:r>
              <a:rPr lang="en-US" sz="2400" spc="-5" dirty="0">
                <a:latin typeface="Times New Roman"/>
                <a:cs typeface="Times New Roman"/>
              </a:rPr>
              <a:t>bit.</a:t>
            </a:r>
            <a:endParaRPr lang="en-US" sz="2400" dirty="0">
              <a:latin typeface="Times New Roman"/>
              <a:cs typeface="Times New Roman"/>
            </a:endParaRPr>
          </a:p>
          <a:p>
            <a:endParaRPr lang="en-US" sz="2400" dirty="0"/>
          </a:p>
        </p:txBody>
      </p:sp>
      <p:graphicFrame>
        <p:nvGraphicFramePr>
          <p:cNvPr id="4" name="object 3">
            <a:extLst>
              <a:ext uri="{FF2B5EF4-FFF2-40B4-BE49-F238E27FC236}">
                <a16:creationId xmlns:a16="http://schemas.microsoft.com/office/drawing/2014/main" id="{0421ED50-C9DA-8BA9-5C9D-22FABBB19DE4}"/>
              </a:ext>
            </a:extLst>
          </p:cNvPr>
          <p:cNvGraphicFramePr>
            <a:graphicFrameLocks noGrp="1"/>
          </p:cNvGraphicFramePr>
          <p:nvPr>
            <p:extLst>
              <p:ext uri="{D42A27DB-BD31-4B8C-83A1-F6EECF244321}">
                <p14:modId xmlns:p14="http://schemas.microsoft.com/office/powerpoint/2010/main" val="2529445885"/>
              </p:ext>
            </p:extLst>
          </p:nvPr>
        </p:nvGraphicFramePr>
        <p:xfrm>
          <a:off x="7165128" y="498557"/>
          <a:ext cx="5165132" cy="3736362"/>
        </p:xfrm>
        <a:graphic>
          <a:graphicData uri="http://schemas.openxmlformats.org/drawingml/2006/table">
            <a:tbl>
              <a:tblPr firstRow="1" bandRow="1">
                <a:tableStyleId>{2D5ABB26-0587-4C30-8999-92F81FD0307C}</a:tableStyleId>
              </a:tblPr>
              <a:tblGrid>
                <a:gridCol w="1471582">
                  <a:extLst>
                    <a:ext uri="{9D8B030D-6E8A-4147-A177-3AD203B41FA5}">
                      <a16:colId xmlns:a16="http://schemas.microsoft.com/office/drawing/2014/main" val="20000"/>
                    </a:ext>
                  </a:extLst>
                </a:gridCol>
                <a:gridCol w="2058635">
                  <a:extLst>
                    <a:ext uri="{9D8B030D-6E8A-4147-A177-3AD203B41FA5}">
                      <a16:colId xmlns:a16="http://schemas.microsoft.com/office/drawing/2014/main" val="20001"/>
                    </a:ext>
                  </a:extLst>
                </a:gridCol>
                <a:gridCol w="1634915">
                  <a:extLst>
                    <a:ext uri="{9D8B030D-6E8A-4147-A177-3AD203B41FA5}">
                      <a16:colId xmlns:a16="http://schemas.microsoft.com/office/drawing/2014/main" val="20002"/>
                    </a:ext>
                  </a:extLst>
                </a:gridCol>
              </a:tblGrid>
              <a:tr h="1000305">
                <a:tc>
                  <a:txBody>
                    <a:bodyPr/>
                    <a:lstStyle/>
                    <a:p>
                      <a:pPr marL="269240">
                        <a:lnSpc>
                          <a:spcPct val="100000"/>
                        </a:lnSpc>
                        <a:spcBef>
                          <a:spcPts val="1140"/>
                        </a:spcBef>
                      </a:pPr>
                      <a:r>
                        <a:rPr sz="2000" b="1" spc="-5" dirty="0">
                          <a:latin typeface="Times New Roman"/>
                          <a:cs typeface="Times New Roman"/>
                        </a:rPr>
                        <a:t>Relation</a:t>
                      </a:r>
                      <a:endParaRPr sz="2000" b="1">
                        <a:latin typeface="Times New Roman"/>
                        <a:cs typeface="Times New Roman"/>
                      </a:endParaRPr>
                    </a:p>
                  </a:txBody>
                  <a:tcPr marL="0" marR="0" marT="14478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610"/>
                        </a:lnSpc>
                      </a:pPr>
                      <a:r>
                        <a:rPr sz="2000" b="1" spc="-5" dirty="0">
                          <a:latin typeface="Times New Roman"/>
                          <a:cs typeface="Times New Roman"/>
                        </a:rPr>
                        <a:t>Condition </a:t>
                      </a:r>
                      <a:r>
                        <a:rPr sz="2000" b="1" dirty="0">
                          <a:latin typeface="Times New Roman"/>
                          <a:cs typeface="Times New Roman"/>
                        </a:rPr>
                        <a:t>of</a:t>
                      </a:r>
                      <a:r>
                        <a:rPr sz="2000" b="1" spc="-25" dirty="0">
                          <a:latin typeface="Times New Roman"/>
                          <a:cs typeface="Times New Roman"/>
                        </a:rPr>
                        <a:t> </a:t>
                      </a:r>
                      <a:r>
                        <a:rPr sz="2000" b="1" spc="-5" dirty="0">
                          <a:latin typeface="Times New Roman"/>
                          <a:cs typeface="Times New Roman"/>
                        </a:rPr>
                        <a:t>Status</a:t>
                      </a:r>
                      <a:endParaRPr sz="2000" b="1">
                        <a:latin typeface="Times New Roman"/>
                        <a:cs typeface="Times New Roman"/>
                      </a:endParaRPr>
                    </a:p>
                    <a:p>
                      <a:pPr algn="ctr">
                        <a:lnSpc>
                          <a:spcPct val="100000"/>
                        </a:lnSpc>
                        <a:spcBef>
                          <a:spcPts val="740"/>
                        </a:spcBef>
                      </a:pPr>
                      <a:r>
                        <a:rPr sz="2000" b="1" dirty="0">
                          <a:latin typeface="Times New Roman"/>
                          <a:cs typeface="Times New Roman"/>
                        </a:rPr>
                        <a:t>bits</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348615">
                        <a:lnSpc>
                          <a:spcPts val="1610"/>
                        </a:lnSpc>
                      </a:pPr>
                      <a:r>
                        <a:rPr sz="2000" b="1" spc="-5" dirty="0">
                          <a:latin typeface="Times New Roman"/>
                          <a:cs typeface="Times New Roman"/>
                        </a:rPr>
                        <a:t>Boolean</a:t>
                      </a:r>
                      <a:endParaRPr sz="2000" b="1">
                        <a:latin typeface="Times New Roman"/>
                        <a:cs typeface="Times New Roman"/>
                      </a:endParaRPr>
                    </a:p>
                    <a:p>
                      <a:pPr marL="339725">
                        <a:lnSpc>
                          <a:spcPct val="100000"/>
                        </a:lnSpc>
                        <a:spcBef>
                          <a:spcPts val="740"/>
                        </a:spcBef>
                      </a:pPr>
                      <a:r>
                        <a:rPr sz="2000" b="1" dirty="0">
                          <a:latin typeface="Times New Roman"/>
                          <a:cs typeface="Times New Roman"/>
                        </a:rPr>
                        <a:t>function</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455208">
                <a:tc>
                  <a:txBody>
                    <a:bodyPr/>
                    <a:lstStyle/>
                    <a:p>
                      <a:pPr marL="67945">
                        <a:lnSpc>
                          <a:spcPts val="1610"/>
                        </a:lnSpc>
                      </a:pPr>
                      <a:r>
                        <a:rPr sz="2000" b="1" dirty="0">
                          <a:latin typeface="Times New Roman"/>
                          <a:cs typeface="Times New Roman"/>
                        </a:rPr>
                        <a:t>A&lt;B</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C=</a:t>
                      </a:r>
                      <a:r>
                        <a:rPr lang="en-US" sz="2000" b="1" dirty="0">
                          <a:latin typeface="Times New Roman"/>
                          <a:cs typeface="Times New Roman"/>
                        </a:rPr>
                        <a:t>0</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C</a:t>
                      </a:r>
                      <a:r>
                        <a:rPr lang="en-US" sz="2000" b="1" dirty="0">
                          <a:latin typeface="Times New Roman"/>
                          <a:cs typeface="Times New Roman"/>
                        </a:rPr>
                        <a:t>'</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57429">
                <a:tc>
                  <a:txBody>
                    <a:bodyPr/>
                    <a:lstStyle/>
                    <a:p>
                      <a:pPr marL="67945">
                        <a:lnSpc>
                          <a:spcPts val="1610"/>
                        </a:lnSpc>
                      </a:pPr>
                      <a:r>
                        <a:rPr sz="2000" b="1" dirty="0">
                          <a:latin typeface="Times New Roman"/>
                          <a:cs typeface="Times New Roman"/>
                        </a:rPr>
                        <a:t>A&lt;=B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C=1or</a:t>
                      </a:r>
                      <a:r>
                        <a:rPr sz="2000" b="1" spc="-5" dirty="0">
                          <a:latin typeface="Times New Roman"/>
                          <a:cs typeface="Times New Roman"/>
                        </a:rPr>
                        <a:t> Z=1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C+Z</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55578">
                <a:tc>
                  <a:txBody>
                    <a:bodyPr/>
                    <a:lstStyle/>
                    <a:p>
                      <a:pPr marL="67945">
                        <a:lnSpc>
                          <a:spcPts val="1614"/>
                        </a:lnSpc>
                      </a:pPr>
                      <a:r>
                        <a:rPr sz="2000" b="1" dirty="0">
                          <a:latin typeface="Times New Roman"/>
                          <a:cs typeface="Times New Roman"/>
                        </a:rPr>
                        <a:t>A&gt;B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4"/>
                        </a:lnSpc>
                      </a:pPr>
                      <a:r>
                        <a:rPr sz="2000" b="1" spc="-5" dirty="0">
                          <a:latin typeface="Times New Roman"/>
                          <a:cs typeface="Times New Roman"/>
                        </a:rPr>
                        <a:t>C=</a:t>
                      </a:r>
                      <a:r>
                        <a:rPr lang="en-US" sz="2000" b="1" spc="-5" dirty="0">
                          <a:latin typeface="Times New Roman"/>
                          <a:cs typeface="Times New Roman"/>
                        </a:rPr>
                        <a:t>1</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4"/>
                        </a:lnSpc>
                      </a:pPr>
                      <a:r>
                        <a:rPr sz="2000" b="1" spc="-5" dirty="0">
                          <a:latin typeface="Times New Roman"/>
                          <a:cs typeface="Times New Roman"/>
                        </a:rPr>
                        <a:t>C</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55208">
                <a:tc>
                  <a:txBody>
                    <a:bodyPr/>
                    <a:lstStyle/>
                    <a:p>
                      <a:pPr marL="67945">
                        <a:lnSpc>
                          <a:spcPts val="1610"/>
                        </a:lnSpc>
                      </a:pPr>
                      <a:r>
                        <a:rPr sz="2000" b="1" dirty="0">
                          <a:latin typeface="Times New Roman"/>
                          <a:cs typeface="Times New Roman"/>
                        </a:rPr>
                        <a:t>A&gt;=B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C=0 or</a:t>
                      </a:r>
                      <a:r>
                        <a:rPr sz="2000" b="1" spc="-25" dirty="0">
                          <a:latin typeface="Times New Roman"/>
                          <a:cs typeface="Times New Roman"/>
                        </a:rPr>
                        <a:t> </a:t>
                      </a:r>
                      <a:r>
                        <a:rPr sz="2000" b="1" spc="-5" dirty="0">
                          <a:latin typeface="Times New Roman"/>
                          <a:cs typeface="Times New Roman"/>
                        </a:rPr>
                        <a:t>Z=1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C’+Z</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57427">
                <a:tc>
                  <a:txBody>
                    <a:bodyPr/>
                    <a:lstStyle/>
                    <a:p>
                      <a:pPr marL="67945">
                        <a:lnSpc>
                          <a:spcPts val="1625"/>
                        </a:lnSpc>
                      </a:pPr>
                      <a:r>
                        <a:rPr sz="2000" b="1" dirty="0">
                          <a:latin typeface="Times New Roman"/>
                          <a:cs typeface="Times New Roman"/>
                        </a:rPr>
                        <a:t>A=B</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 dirty="0">
                          <a:latin typeface="Times New Roman"/>
                          <a:cs typeface="Times New Roman"/>
                        </a:rPr>
                        <a:t>Z=1</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dirty="0">
                          <a:latin typeface="Times New Roman"/>
                          <a:cs typeface="Times New Roman"/>
                        </a:rPr>
                        <a:t>Z</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55207">
                <a:tc>
                  <a:txBody>
                    <a:bodyPr/>
                    <a:lstStyle/>
                    <a:p>
                      <a:pPr marL="67945">
                        <a:lnSpc>
                          <a:spcPts val="1610"/>
                        </a:lnSpc>
                      </a:pPr>
                      <a:r>
                        <a:rPr sz="2000" b="1" dirty="0">
                          <a:latin typeface="Times New Roman"/>
                          <a:cs typeface="Times New Roman"/>
                        </a:rPr>
                        <a:t>A≠</a:t>
                      </a:r>
                      <a:r>
                        <a:rPr sz="2000" b="1" spc="-15" dirty="0">
                          <a:latin typeface="Times New Roman"/>
                          <a:cs typeface="Times New Roman"/>
                        </a:rPr>
                        <a:t> </a:t>
                      </a:r>
                      <a:r>
                        <a:rPr sz="2000" b="1" dirty="0">
                          <a:latin typeface="Times New Roman"/>
                          <a:cs typeface="Times New Roman"/>
                        </a:rPr>
                        <a: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Z=0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Z’</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19423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85DFBE-0A77-B60D-7E16-8DCACDD7FF6C}"/>
              </a:ext>
            </a:extLst>
          </p:cNvPr>
          <p:cNvSpPr>
            <a:spLocks noGrp="1"/>
          </p:cNvSpPr>
          <p:nvPr>
            <p:ph idx="1"/>
          </p:nvPr>
        </p:nvSpPr>
        <p:spPr>
          <a:xfrm>
            <a:off x="320511" y="282804"/>
            <a:ext cx="5363852" cy="5941293"/>
          </a:xfrm>
        </p:spPr>
        <p:txBody>
          <a:bodyPr/>
          <a:lstStyle/>
          <a:p>
            <a:pPr marL="0" indent="0">
              <a:buNone/>
            </a:pPr>
            <a:r>
              <a:rPr lang="en-US" sz="2400" b="1" spc="-5" dirty="0">
                <a:latin typeface="Times New Roman"/>
                <a:cs typeface="Times New Roman"/>
              </a:rPr>
              <a:t>Processor Logic Design</a:t>
            </a:r>
          </a:p>
          <a:p>
            <a:r>
              <a:rPr lang="en-US" sz="2400" spc="-5" dirty="0">
                <a:latin typeface="Times New Roman"/>
                <a:cs typeface="Times New Roman"/>
              </a:rPr>
              <a:t>Processor part of a computer is referred as data path of CPU</a:t>
            </a:r>
          </a:p>
          <a:p>
            <a:r>
              <a:rPr lang="en-US" sz="2400" spc="-5" dirty="0">
                <a:latin typeface="Times New Roman"/>
                <a:cs typeface="Times New Roman"/>
              </a:rPr>
              <a:t>In a processor unit data path is formed by means of buses and other common lines.</a:t>
            </a:r>
          </a:p>
          <a:p>
            <a:endParaRPr lang="en-US" dirty="0"/>
          </a:p>
          <a:p>
            <a:endParaRPr lang="en-US" dirty="0"/>
          </a:p>
        </p:txBody>
      </p:sp>
      <p:pic>
        <p:nvPicPr>
          <p:cNvPr id="2" name="Picture 1">
            <a:extLst>
              <a:ext uri="{FF2B5EF4-FFF2-40B4-BE49-F238E27FC236}">
                <a16:creationId xmlns:a16="http://schemas.microsoft.com/office/drawing/2014/main" id="{BD8AF806-4F7E-AD48-D02D-165BF444C965}"/>
              </a:ext>
            </a:extLst>
          </p:cNvPr>
          <p:cNvPicPr>
            <a:picLocks noChangeAspect="1"/>
          </p:cNvPicPr>
          <p:nvPr/>
        </p:nvPicPr>
        <p:blipFill>
          <a:blip r:embed="rId2"/>
          <a:stretch>
            <a:fillRect/>
          </a:stretch>
        </p:blipFill>
        <p:spPr>
          <a:xfrm>
            <a:off x="5775767" y="0"/>
            <a:ext cx="5881772" cy="6858000"/>
          </a:xfrm>
          <a:prstGeom prst="rect">
            <a:avLst/>
          </a:prstGeom>
        </p:spPr>
      </p:pic>
    </p:spTree>
    <p:extLst>
      <p:ext uri="{BB962C8B-B14F-4D97-AF65-F5344CB8AC3E}">
        <p14:creationId xmlns:p14="http://schemas.microsoft.com/office/powerpoint/2010/main" val="3023611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251C37-0B48-3EC7-4762-539F4C35A2D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FFB58A7-DE16-8F60-D230-DF0FE69602D8}"/>
              </a:ext>
            </a:extLst>
          </p:cNvPr>
          <p:cNvPicPr>
            <a:picLocks noChangeAspect="1"/>
          </p:cNvPicPr>
          <p:nvPr/>
        </p:nvPicPr>
        <p:blipFill>
          <a:blip r:embed="rId2"/>
          <a:stretch>
            <a:fillRect/>
          </a:stretch>
        </p:blipFill>
        <p:spPr>
          <a:xfrm>
            <a:off x="264957" y="681037"/>
            <a:ext cx="11496955" cy="5418105"/>
          </a:xfrm>
          <a:prstGeom prst="rect">
            <a:avLst/>
          </a:prstGeom>
        </p:spPr>
      </p:pic>
    </p:spTree>
    <p:extLst>
      <p:ext uri="{BB962C8B-B14F-4D97-AF65-F5344CB8AC3E}">
        <p14:creationId xmlns:p14="http://schemas.microsoft.com/office/powerpoint/2010/main" val="30215409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9AA8DF-C019-17FB-9517-D634A46FCD36}"/>
              </a:ext>
            </a:extLst>
          </p:cNvPr>
          <p:cNvSpPr>
            <a:spLocks noGrp="1"/>
          </p:cNvSpPr>
          <p:nvPr>
            <p:ph idx="1"/>
          </p:nvPr>
        </p:nvSpPr>
        <p:spPr>
          <a:xfrm>
            <a:off x="263951" y="141402"/>
            <a:ext cx="11089849" cy="6035561"/>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Processor with Scratchpad Memory</a:t>
            </a:r>
          </a:p>
          <a:p>
            <a:r>
              <a:rPr lang="en-US" dirty="0">
                <a:latin typeface="Times New Roman" panose="02020603050405020304" pitchFamily="18" charset="0"/>
                <a:cs typeface="Times New Roman" panose="02020603050405020304" pitchFamily="18" charset="0"/>
              </a:rPr>
              <a:t>Registers in a processor unit can be included in a small memory unit</a:t>
            </a:r>
          </a:p>
          <a:p>
            <a:r>
              <a:rPr lang="en-US" dirty="0">
                <a:latin typeface="Times New Roman" panose="02020603050405020304" pitchFamily="18" charset="0"/>
                <a:cs typeface="Times New Roman" panose="02020603050405020304" pitchFamily="18" charset="0"/>
              </a:rPr>
              <a:t>It is called scratchpad memory</a:t>
            </a:r>
          </a:p>
          <a:p>
            <a:r>
              <a:rPr lang="en-US" dirty="0">
                <a:latin typeface="Times New Roman" panose="02020603050405020304" pitchFamily="18" charset="0"/>
                <a:cs typeface="Times New Roman" panose="02020603050405020304" pitchFamily="18" charset="0"/>
              </a:rPr>
              <a:t>It is cheaper compared alternative to connecting processor registers through bus system</a:t>
            </a:r>
          </a:p>
          <a:p>
            <a:r>
              <a:rPr lang="en-US" dirty="0">
                <a:latin typeface="Times New Roman" panose="02020603050405020304" pitchFamily="18" charset="0"/>
                <a:cs typeface="Times New Roman" panose="02020603050405020304" pitchFamily="18" charset="0"/>
              </a:rPr>
              <a:t>In bus system the information transfer is selected by mux</a:t>
            </a:r>
          </a:p>
          <a:p>
            <a:r>
              <a:rPr lang="en-US" dirty="0">
                <a:latin typeface="Times New Roman" panose="02020603050405020304" pitchFamily="18" charset="0"/>
                <a:cs typeface="Times New Roman" panose="02020603050405020304" pitchFamily="18" charset="0"/>
              </a:rPr>
              <a:t>But in scratchpad memory a single register must be selected by means of address to the memory unit</a:t>
            </a:r>
          </a:p>
          <a:p>
            <a:r>
              <a:rPr lang="en-US" dirty="0">
                <a:latin typeface="Times New Roman" panose="02020603050405020304" pitchFamily="18" charset="0"/>
                <a:cs typeface="Times New Roman" panose="02020603050405020304" pitchFamily="18" charset="0"/>
              </a:rPr>
              <a:t>Also it is different from main memory as main memory stores instruction and data but information stored in scratchpad memory comes from main memory</a:t>
            </a:r>
          </a:p>
        </p:txBody>
      </p:sp>
    </p:spTree>
    <p:extLst>
      <p:ext uri="{BB962C8B-B14F-4D97-AF65-F5344CB8AC3E}">
        <p14:creationId xmlns:p14="http://schemas.microsoft.com/office/powerpoint/2010/main" val="2906156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D943E-4035-E6CC-F446-37D8E09C9807}"/>
              </a:ext>
            </a:extLst>
          </p:cNvPr>
          <p:cNvSpPr>
            <a:spLocks noGrp="1"/>
          </p:cNvSpPr>
          <p:nvPr>
            <p:ph idx="1"/>
          </p:nvPr>
        </p:nvSpPr>
        <p:spPr>
          <a:xfrm>
            <a:off x="216031" y="157080"/>
            <a:ext cx="10515600" cy="4351338"/>
          </a:xfrm>
        </p:spPr>
        <p:txBody>
          <a:bodyPr/>
          <a:lstStyle/>
          <a:p>
            <a:pPr marL="0" indent="0">
              <a:buNone/>
            </a:pPr>
            <a:r>
              <a:rPr lang="en-US" b="1" dirty="0">
                <a:latin typeface="Times New Roman" panose="02020603050405020304" pitchFamily="18" charset="0"/>
                <a:cs typeface="Times New Roman" panose="02020603050405020304" pitchFamily="18" charset="0"/>
              </a:rPr>
              <a:t>Processor with Scratchpad Memory</a:t>
            </a:r>
          </a:p>
          <a:p>
            <a:endParaRPr lang="en-US" dirty="0"/>
          </a:p>
        </p:txBody>
      </p:sp>
      <p:pic>
        <p:nvPicPr>
          <p:cNvPr id="5" name="Picture 4">
            <a:extLst>
              <a:ext uri="{FF2B5EF4-FFF2-40B4-BE49-F238E27FC236}">
                <a16:creationId xmlns:a16="http://schemas.microsoft.com/office/drawing/2014/main" id="{50BA918D-6C5E-38F1-A6EB-97F5C460C622}"/>
              </a:ext>
            </a:extLst>
          </p:cNvPr>
          <p:cNvPicPr>
            <a:picLocks noChangeAspect="1"/>
          </p:cNvPicPr>
          <p:nvPr/>
        </p:nvPicPr>
        <p:blipFill>
          <a:blip r:embed="rId2"/>
          <a:stretch>
            <a:fillRect/>
          </a:stretch>
        </p:blipFill>
        <p:spPr>
          <a:xfrm>
            <a:off x="100050" y="1427874"/>
            <a:ext cx="6896100" cy="1809750"/>
          </a:xfrm>
          <a:prstGeom prst="rect">
            <a:avLst/>
          </a:prstGeom>
        </p:spPr>
      </p:pic>
      <p:pic>
        <p:nvPicPr>
          <p:cNvPr id="7" name="Picture 6">
            <a:extLst>
              <a:ext uri="{FF2B5EF4-FFF2-40B4-BE49-F238E27FC236}">
                <a16:creationId xmlns:a16="http://schemas.microsoft.com/office/drawing/2014/main" id="{46E6C0AA-B827-66AA-E3FB-23AC16E561AC}"/>
              </a:ext>
            </a:extLst>
          </p:cNvPr>
          <p:cNvPicPr>
            <a:picLocks noChangeAspect="1"/>
          </p:cNvPicPr>
          <p:nvPr/>
        </p:nvPicPr>
        <p:blipFill>
          <a:blip r:embed="rId3"/>
          <a:stretch>
            <a:fillRect/>
          </a:stretch>
        </p:blipFill>
        <p:spPr>
          <a:xfrm>
            <a:off x="548719" y="868445"/>
            <a:ext cx="2152650" cy="581025"/>
          </a:xfrm>
          <a:prstGeom prst="rect">
            <a:avLst/>
          </a:prstGeom>
        </p:spPr>
      </p:pic>
      <p:pic>
        <p:nvPicPr>
          <p:cNvPr id="9" name="Picture 8">
            <a:extLst>
              <a:ext uri="{FF2B5EF4-FFF2-40B4-BE49-F238E27FC236}">
                <a16:creationId xmlns:a16="http://schemas.microsoft.com/office/drawing/2014/main" id="{8307D6F3-8E0B-AEA7-5745-D7F6846B53FD}"/>
              </a:ext>
            </a:extLst>
          </p:cNvPr>
          <p:cNvPicPr>
            <a:picLocks noChangeAspect="1"/>
          </p:cNvPicPr>
          <p:nvPr/>
        </p:nvPicPr>
        <p:blipFill>
          <a:blip r:embed="rId4"/>
          <a:stretch>
            <a:fillRect/>
          </a:stretch>
        </p:blipFill>
        <p:spPr>
          <a:xfrm>
            <a:off x="6372520" y="-1"/>
            <a:ext cx="5719430" cy="7001529"/>
          </a:xfrm>
          <a:prstGeom prst="rect">
            <a:avLst/>
          </a:prstGeom>
        </p:spPr>
      </p:pic>
    </p:spTree>
    <p:extLst>
      <p:ext uri="{BB962C8B-B14F-4D97-AF65-F5344CB8AC3E}">
        <p14:creationId xmlns:p14="http://schemas.microsoft.com/office/powerpoint/2010/main" val="2132961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6D943E-4035-E6CC-F446-37D8E09C9807}"/>
              </a:ext>
            </a:extLst>
          </p:cNvPr>
          <p:cNvSpPr>
            <a:spLocks noGrp="1"/>
          </p:cNvSpPr>
          <p:nvPr>
            <p:ph idx="1"/>
          </p:nvPr>
        </p:nvSpPr>
        <p:spPr>
          <a:xfrm>
            <a:off x="216031" y="157080"/>
            <a:ext cx="4556631" cy="4351338"/>
          </a:xfrm>
        </p:spPr>
        <p:txBody>
          <a:bodyPr/>
          <a:lstStyle/>
          <a:p>
            <a:pPr marL="0" indent="0">
              <a:buNone/>
            </a:pPr>
            <a:r>
              <a:rPr lang="en-US" b="1" dirty="0">
                <a:latin typeface="Times New Roman" panose="02020603050405020304" pitchFamily="18" charset="0"/>
                <a:cs typeface="Times New Roman" panose="02020603050405020304" pitchFamily="18" charset="0"/>
              </a:rPr>
              <a:t>Processor with  2 port Memory</a:t>
            </a:r>
          </a:p>
          <a:p>
            <a:r>
              <a:rPr lang="en-US" sz="2400" dirty="0">
                <a:latin typeface="Times New Roman" panose="02020603050405020304" pitchFamily="18" charset="0"/>
                <a:cs typeface="Times New Roman" panose="02020603050405020304" pitchFamily="18" charset="0"/>
              </a:rPr>
              <a:t>2 separate address lines to select 2 words of memory simultaneously</a:t>
            </a:r>
          </a:p>
          <a:p>
            <a:endParaRPr lang="en-US" dirty="0"/>
          </a:p>
        </p:txBody>
      </p:sp>
      <p:pic>
        <p:nvPicPr>
          <p:cNvPr id="4" name="Picture 3">
            <a:extLst>
              <a:ext uri="{FF2B5EF4-FFF2-40B4-BE49-F238E27FC236}">
                <a16:creationId xmlns:a16="http://schemas.microsoft.com/office/drawing/2014/main" id="{8C6EB84A-F553-3553-D82E-B10AFF3C3622}"/>
              </a:ext>
            </a:extLst>
          </p:cNvPr>
          <p:cNvPicPr>
            <a:picLocks noChangeAspect="1"/>
          </p:cNvPicPr>
          <p:nvPr/>
        </p:nvPicPr>
        <p:blipFill>
          <a:blip r:embed="rId2"/>
          <a:stretch>
            <a:fillRect/>
          </a:stretch>
        </p:blipFill>
        <p:spPr>
          <a:xfrm>
            <a:off x="4772662" y="595312"/>
            <a:ext cx="7096125" cy="5667375"/>
          </a:xfrm>
          <a:prstGeom prst="rect">
            <a:avLst/>
          </a:prstGeom>
        </p:spPr>
      </p:pic>
    </p:spTree>
    <p:extLst>
      <p:ext uri="{BB962C8B-B14F-4D97-AF65-F5344CB8AC3E}">
        <p14:creationId xmlns:p14="http://schemas.microsoft.com/office/powerpoint/2010/main" val="3236064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1AA74E-E261-354B-5A26-60DE4CEF0868}"/>
              </a:ext>
            </a:extLst>
          </p:cNvPr>
          <p:cNvSpPr>
            <a:spLocks noGrp="1"/>
          </p:cNvSpPr>
          <p:nvPr>
            <p:ph idx="1"/>
          </p:nvPr>
        </p:nvSpPr>
        <p:spPr>
          <a:xfrm>
            <a:off x="273378" y="141402"/>
            <a:ext cx="6259397" cy="6466788"/>
          </a:xfrm>
        </p:spPr>
        <p:txBody>
          <a:bodyPr/>
          <a:lstStyle/>
          <a:p>
            <a:pPr marL="0" indent="0">
              <a:buNone/>
            </a:pPr>
            <a:r>
              <a:rPr lang="en-US" b="1" dirty="0">
                <a:latin typeface="Times New Roman" panose="02020603050405020304" pitchFamily="18" charset="0"/>
                <a:cs typeface="Times New Roman" panose="02020603050405020304" pitchFamily="18" charset="0"/>
              </a:rPr>
              <a:t>Accumulator register</a:t>
            </a:r>
          </a:p>
          <a:p>
            <a:r>
              <a:rPr lang="en-US" sz="2400" dirty="0">
                <a:latin typeface="Times New Roman" panose="02020603050405020304" pitchFamily="18" charset="0"/>
                <a:cs typeface="Times New Roman" panose="02020603050405020304" pitchFamily="18" charset="0"/>
              </a:rPr>
              <a:t>Some processors use accumulator register for arithmetic operations</a:t>
            </a:r>
          </a:p>
          <a:p>
            <a:r>
              <a:rPr lang="en-US" sz="2400" dirty="0"/>
              <a:t>It is called an </a:t>
            </a:r>
            <a:r>
              <a:rPr lang="en-US" sz="2400" i="1" dirty="0"/>
              <a:t>accumulator </a:t>
            </a:r>
            <a:r>
              <a:rPr lang="en-US" sz="2400" dirty="0"/>
              <a:t>register, abbreviated </a:t>
            </a:r>
            <a:r>
              <a:rPr lang="en-US" sz="2400" i="1" dirty="0"/>
              <a:t>AC </a:t>
            </a:r>
            <a:r>
              <a:rPr lang="en-US" sz="2400" dirty="0"/>
              <a:t>or </a:t>
            </a:r>
            <a:r>
              <a:rPr lang="en-US" sz="2400" i="1" dirty="0"/>
              <a:t>A </a:t>
            </a:r>
            <a:r>
              <a:rPr lang="en-US" sz="2400" dirty="0"/>
              <a:t>register. </a:t>
            </a:r>
          </a:p>
          <a:p>
            <a:r>
              <a:rPr lang="en-US" sz="2400" dirty="0"/>
              <a:t>multipurpose register capable of perform­ing not only the add microoperation, but many other microoperations as well. </a:t>
            </a:r>
          </a:p>
          <a:p>
            <a:r>
              <a:rPr lang="en-US" sz="2400" dirty="0"/>
              <a:t>Gates associated with an accumulator register provide all the digital functions found in an ALU.</a:t>
            </a: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5" name="Picture 4">
            <a:extLst>
              <a:ext uri="{FF2B5EF4-FFF2-40B4-BE49-F238E27FC236}">
                <a16:creationId xmlns:a16="http://schemas.microsoft.com/office/drawing/2014/main" id="{838B73D7-27DE-1033-9222-A6526D95CC7F}"/>
              </a:ext>
            </a:extLst>
          </p:cNvPr>
          <p:cNvPicPr>
            <a:picLocks noChangeAspect="1"/>
          </p:cNvPicPr>
          <p:nvPr/>
        </p:nvPicPr>
        <p:blipFill>
          <a:blip r:embed="rId2"/>
          <a:stretch>
            <a:fillRect/>
          </a:stretch>
        </p:blipFill>
        <p:spPr>
          <a:xfrm>
            <a:off x="6713455" y="268173"/>
            <a:ext cx="4572000" cy="6448425"/>
          </a:xfrm>
          <a:prstGeom prst="rect">
            <a:avLst/>
          </a:prstGeom>
        </p:spPr>
      </p:pic>
      <p:pic>
        <p:nvPicPr>
          <p:cNvPr id="7" name="Picture 6">
            <a:extLst>
              <a:ext uri="{FF2B5EF4-FFF2-40B4-BE49-F238E27FC236}">
                <a16:creationId xmlns:a16="http://schemas.microsoft.com/office/drawing/2014/main" id="{40E32CD1-0472-F683-33CC-B3587C1FD912}"/>
              </a:ext>
            </a:extLst>
          </p:cNvPr>
          <p:cNvPicPr>
            <a:picLocks noChangeAspect="1"/>
          </p:cNvPicPr>
          <p:nvPr/>
        </p:nvPicPr>
        <p:blipFill>
          <a:blip r:embed="rId3"/>
          <a:stretch>
            <a:fillRect/>
          </a:stretch>
        </p:blipFill>
        <p:spPr>
          <a:xfrm>
            <a:off x="1457325" y="4885687"/>
            <a:ext cx="4638675" cy="1390650"/>
          </a:xfrm>
          <a:prstGeom prst="rect">
            <a:avLst/>
          </a:prstGeom>
        </p:spPr>
      </p:pic>
      <p:pic>
        <p:nvPicPr>
          <p:cNvPr id="9" name="Picture 8">
            <a:extLst>
              <a:ext uri="{FF2B5EF4-FFF2-40B4-BE49-F238E27FC236}">
                <a16:creationId xmlns:a16="http://schemas.microsoft.com/office/drawing/2014/main" id="{6A629BF0-A960-6FB4-6C9C-38972264F5AB}"/>
              </a:ext>
            </a:extLst>
          </p:cNvPr>
          <p:cNvPicPr>
            <a:picLocks noChangeAspect="1"/>
          </p:cNvPicPr>
          <p:nvPr/>
        </p:nvPicPr>
        <p:blipFill>
          <a:blip r:embed="rId4"/>
          <a:stretch>
            <a:fillRect/>
          </a:stretch>
        </p:blipFill>
        <p:spPr>
          <a:xfrm>
            <a:off x="1387556" y="4495162"/>
            <a:ext cx="2228850" cy="390525"/>
          </a:xfrm>
          <a:prstGeom prst="rect">
            <a:avLst/>
          </a:prstGeom>
        </p:spPr>
      </p:pic>
    </p:spTree>
    <p:extLst>
      <p:ext uri="{BB962C8B-B14F-4D97-AF65-F5344CB8AC3E}">
        <p14:creationId xmlns:p14="http://schemas.microsoft.com/office/powerpoint/2010/main" val="25005140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19535A-28C1-1013-322C-C688976EAA40}"/>
              </a:ext>
            </a:extLst>
          </p:cNvPr>
          <p:cNvSpPr>
            <a:spLocks noGrp="1"/>
          </p:cNvSpPr>
          <p:nvPr>
            <p:ph idx="1"/>
          </p:nvPr>
        </p:nvSpPr>
        <p:spPr>
          <a:xfrm>
            <a:off x="1" y="226243"/>
            <a:ext cx="11915480" cy="5816338"/>
          </a:xfrm>
        </p:spPr>
        <p:txBody>
          <a:bodyPr>
            <a:noAutofit/>
          </a:bodyPr>
          <a:lstStyle/>
          <a:p>
            <a:pPr marL="12065" indent="0">
              <a:lnSpc>
                <a:spcPct val="100000"/>
              </a:lnSpc>
              <a:spcBef>
                <a:spcPts val="95"/>
              </a:spcBef>
              <a:buNone/>
              <a:tabLst>
                <a:tab pos="276860" algn="l"/>
              </a:tabLst>
            </a:pPr>
            <a:r>
              <a:rPr lang="en-US" sz="2400" b="1" i="1" spc="-5" dirty="0">
                <a:latin typeface="Times New Roman"/>
                <a:cs typeface="Times New Roman"/>
              </a:rPr>
              <a:t>Block diagram of Processor</a:t>
            </a:r>
            <a:r>
              <a:rPr lang="en-US" sz="2400" b="1" i="1" spc="20" dirty="0">
                <a:latin typeface="Times New Roman"/>
                <a:cs typeface="Times New Roman"/>
              </a:rPr>
              <a:t> </a:t>
            </a:r>
            <a:r>
              <a:rPr lang="en-US" sz="2400" b="1" i="1" spc="-5" dirty="0">
                <a:latin typeface="Times New Roman"/>
                <a:cs typeface="Times New Roman"/>
              </a:rPr>
              <a:t>Unit</a:t>
            </a:r>
            <a:endParaRPr lang="en-US" sz="2400" dirty="0">
              <a:latin typeface="Times New Roman"/>
              <a:cs typeface="Times New Roman"/>
            </a:endParaRPr>
          </a:p>
          <a:p>
            <a:pPr marL="469265" marR="5080" lvl="1" indent="-228600" algn="just">
              <a:lnSpc>
                <a:spcPct val="143200"/>
              </a:lnSpc>
              <a:buFont typeface="Symbol"/>
              <a:buChar char=""/>
              <a:tabLst>
                <a:tab pos="469900" algn="l"/>
              </a:tabLst>
            </a:pPr>
            <a:r>
              <a:rPr lang="en-US" spc="-5" dirty="0">
                <a:latin typeface="Times New Roman"/>
                <a:cs typeface="Times New Roman"/>
              </a:rPr>
              <a:t>The micro-operations within the processor during </a:t>
            </a:r>
            <a:r>
              <a:rPr lang="en-US" dirty="0">
                <a:latin typeface="Times New Roman"/>
                <a:cs typeface="Times New Roman"/>
              </a:rPr>
              <a:t>a </a:t>
            </a:r>
            <a:r>
              <a:rPr lang="en-US" spc="-5" dirty="0">
                <a:latin typeface="Times New Roman"/>
                <a:cs typeface="Times New Roman"/>
              </a:rPr>
              <a:t>given clock cycle can  </a:t>
            </a:r>
            <a:r>
              <a:rPr lang="en-US" dirty="0">
                <a:latin typeface="Times New Roman"/>
                <a:cs typeface="Times New Roman"/>
              </a:rPr>
              <a:t>be </a:t>
            </a:r>
            <a:r>
              <a:rPr lang="en-US" spc="-5" dirty="0">
                <a:latin typeface="Times New Roman"/>
                <a:cs typeface="Times New Roman"/>
              </a:rPr>
              <a:t>determined by the selection variables. </a:t>
            </a:r>
          </a:p>
          <a:p>
            <a:pPr marL="469265" marR="5080" lvl="1" indent="-228600" algn="just">
              <a:lnSpc>
                <a:spcPct val="143200"/>
              </a:lnSpc>
              <a:buFont typeface="Symbol"/>
              <a:buChar char=""/>
              <a:tabLst>
                <a:tab pos="469900" algn="l"/>
              </a:tabLst>
            </a:pPr>
            <a:r>
              <a:rPr lang="en-US" spc="-5" dirty="0">
                <a:latin typeface="Times New Roman"/>
                <a:cs typeface="Times New Roman"/>
              </a:rPr>
              <a:t>The selection variables control  </a:t>
            </a:r>
            <a:r>
              <a:rPr lang="en-US" dirty="0">
                <a:latin typeface="Times New Roman"/>
                <a:cs typeface="Times New Roman"/>
              </a:rPr>
              <a:t>the </a:t>
            </a:r>
            <a:r>
              <a:rPr lang="en-US" spc="-5" dirty="0">
                <a:latin typeface="Times New Roman"/>
                <a:cs typeface="Times New Roman"/>
              </a:rPr>
              <a:t>buses, the ALU, the shifter, and the destination</a:t>
            </a:r>
            <a:r>
              <a:rPr lang="en-US" spc="-10" dirty="0">
                <a:latin typeface="Times New Roman"/>
                <a:cs typeface="Times New Roman"/>
              </a:rPr>
              <a:t> </a:t>
            </a:r>
            <a:r>
              <a:rPr lang="en-US" spc="-5" dirty="0">
                <a:latin typeface="Times New Roman"/>
                <a:cs typeface="Times New Roman"/>
              </a:rPr>
              <a:t>register</a:t>
            </a:r>
          </a:p>
          <a:p>
            <a:pPr marL="469265" marR="5080" lvl="1" indent="-228600" algn="just">
              <a:lnSpc>
                <a:spcPct val="143200"/>
              </a:lnSpc>
              <a:buFont typeface="Symbol"/>
              <a:buChar char=""/>
              <a:tabLst>
                <a:tab pos="469900" algn="l"/>
              </a:tabLst>
            </a:pPr>
            <a:r>
              <a:rPr lang="en-US" dirty="0">
                <a:latin typeface="Times New Roman"/>
                <a:cs typeface="Times New Roman"/>
              </a:rPr>
              <a:t>It</a:t>
            </a:r>
            <a:r>
              <a:rPr lang="en-US" spc="-25" dirty="0">
                <a:latin typeface="Times New Roman"/>
                <a:cs typeface="Times New Roman"/>
              </a:rPr>
              <a:t> </a:t>
            </a:r>
            <a:r>
              <a:rPr lang="en-US" spc="-5" dirty="0">
                <a:latin typeface="Times New Roman"/>
                <a:cs typeface="Times New Roman"/>
              </a:rPr>
              <a:t>consists</a:t>
            </a:r>
            <a:r>
              <a:rPr lang="en-US" spc="-35" dirty="0">
                <a:latin typeface="Times New Roman"/>
                <a:cs typeface="Times New Roman"/>
              </a:rPr>
              <a:t> </a:t>
            </a:r>
            <a:r>
              <a:rPr lang="en-US" dirty="0">
                <a:latin typeface="Times New Roman"/>
                <a:cs typeface="Times New Roman"/>
              </a:rPr>
              <a:t>of</a:t>
            </a:r>
            <a:r>
              <a:rPr lang="en-US" spc="-25" dirty="0">
                <a:latin typeface="Times New Roman"/>
                <a:cs typeface="Times New Roman"/>
              </a:rPr>
              <a:t> </a:t>
            </a:r>
            <a:r>
              <a:rPr lang="en-US" spc="-5" dirty="0">
                <a:latin typeface="Times New Roman"/>
                <a:cs typeface="Times New Roman"/>
              </a:rPr>
              <a:t>seven</a:t>
            </a:r>
            <a:r>
              <a:rPr lang="en-US" spc="-25" dirty="0">
                <a:latin typeface="Times New Roman"/>
                <a:cs typeface="Times New Roman"/>
              </a:rPr>
              <a:t> </a:t>
            </a:r>
            <a:r>
              <a:rPr lang="en-US" spc="-5" dirty="0">
                <a:latin typeface="Times New Roman"/>
                <a:cs typeface="Times New Roman"/>
              </a:rPr>
              <a:t>registers</a:t>
            </a:r>
            <a:r>
              <a:rPr lang="en-US" spc="-15" dirty="0">
                <a:latin typeface="Times New Roman"/>
                <a:cs typeface="Times New Roman"/>
              </a:rPr>
              <a:t> </a:t>
            </a:r>
            <a:r>
              <a:rPr lang="en-US" dirty="0">
                <a:latin typeface="Times New Roman"/>
                <a:cs typeface="Times New Roman"/>
              </a:rPr>
              <a:t>(R1</a:t>
            </a:r>
            <a:r>
              <a:rPr lang="en-US" spc="-35" dirty="0">
                <a:latin typeface="Times New Roman"/>
                <a:cs typeface="Times New Roman"/>
              </a:rPr>
              <a:t> </a:t>
            </a:r>
            <a:r>
              <a:rPr lang="en-US" dirty="0">
                <a:latin typeface="Times New Roman"/>
                <a:cs typeface="Times New Roman"/>
              </a:rPr>
              <a:t>to</a:t>
            </a:r>
            <a:r>
              <a:rPr lang="en-US" spc="-20" dirty="0">
                <a:latin typeface="Times New Roman"/>
                <a:cs typeface="Times New Roman"/>
              </a:rPr>
              <a:t> </a:t>
            </a:r>
            <a:r>
              <a:rPr lang="en-US" spc="-5" dirty="0">
                <a:latin typeface="Times New Roman"/>
                <a:cs typeface="Times New Roman"/>
              </a:rPr>
              <a:t>R7)</a:t>
            </a:r>
            <a:r>
              <a:rPr lang="en-US" spc="-30" dirty="0">
                <a:latin typeface="Times New Roman"/>
                <a:cs typeface="Times New Roman"/>
              </a:rPr>
              <a:t> </a:t>
            </a:r>
            <a:r>
              <a:rPr lang="en-US" spc="-10" dirty="0">
                <a:latin typeface="Times New Roman"/>
                <a:cs typeface="Times New Roman"/>
              </a:rPr>
              <a:t>and</a:t>
            </a:r>
            <a:r>
              <a:rPr lang="en-US" spc="-30" dirty="0">
                <a:latin typeface="Times New Roman"/>
                <a:cs typeface="Times New Roman"/>
              </a:rPr>
              <a:t> </a:t>
            </a:r>
            <a:r>
              <a:rPr lang="en-US" dirty="0">
                <a:latin typeface="Times New Roman"/>
                <a:cs typeface="Times New Roman"/>
              </a:rPr>
              <a:t>a</a:t>
            </a:r>
            <a:r>
              <a:rPr lang="en-US" spc="-30" dirty="0">
                <a:latin typeface="Times New Roman"/>
                <a:cs typeface="Times New Roman"/>
              </a:rPr>
              <a:t> </a:t>
            </a:r>
            <a:r>
              <a:rPr lang="en-US" spc="-5" dirty="0">
                <a:latin typeface="Times New Roman"/>
                <a:cs typeface="Times New Roman"/>
              </a:rPr>
              <a:t>status</a:t>
            </a:r>
            <a:r>
              <a:rPr lang="en-US" spc="-20" dirty="0">
                <a:latin typeface="Times New Roman"/>
                <a:cs typeface="Times New Roman"/>
              </a:rPr>
              <a:t> </a:t>
            </a:r>
            <a:r>
              <a:rPr lang="en-US" spc="-5" dirty="0">
                <a:latin typeface="Times New Roman"/>
                <a:cs typeface="Times New Roman"/>
              </a:rPr>
              <a:t>register.</a:t>
            </a:r>
            <a:r>
              <a:rPr lang="en-US" spc="-40" dirty="0">
                <a:latin typeface="Times New Roman"/>
                <a:cs typeface="Times New Roman"/>
              </a:rPr>
              <a:t> </a:t>
            </a:r>
          </a:p>
          <a:p>
            <a:pPr marL="469265" marR="5080" lvl="1" indent="-228600" algn="just">
              <a:lnSpc>
                <a:spcPct val="143200"/>
              </a:lnSpc>
              <a:buFont typeface="Symbol"/>
              <a:buChar char=""/>
              <a:tabLst>
                <a:tab pos="469900" algn="l"/>
              </a:tabLst>
            </a:pPr>
            <a:r>
              <a:rPr lang="en-US" spc="-5" dirty="0">
                <a:latin typeface="Times New Roman"/>
                <a:cs typeface="Times New Roman"/>
              </a:rPr>
              <a:t>The</a:t>
            </a:r>
            <a:r>
              <a:rPr lang="en-US" spc="-30" dirty="0">
                <a:latin typeface="Times New Roman"/>
                <a:cs typeface="Times New Roman"/>
              </a:rPr>
              <a:t> </a:t>
            </a:r>
            <a:r>
              <a:rPr lang="en-US" spc="-5" dirty="0">
                <a:latin typeface="Times New Roman"/>
                <a:cs typeface="Times New Roman"/>
              </a:rPr>
              <a:t>output</a:t>
            </a:r>
            <a:r>
              <a:rPr lang="en-US" spc="-20" dirty="0">
                <a:latin typeface="Times New Roman"/>
                <a:cs typeface="Times New Roman"/>
              </a:rPr>
              <a:t> </a:t>
            </a:r>
            <a:r>
              <a:rPr lang="en-US" spc="-5" dirty="0">
                <a:latin typeface="Times New Roman"/>
                <a:cs typeface="Times New Roman"/>
              </a:rPr>
              <a:t>of  </a:t>
            </a:r>
            <a:r>
              <a:rPr lang="en-US" dirty="0">
                <a:latin typeface="Times New Roman"/>
                <a:cs typeface="Times New Roman"/>
              </a:rPr>
              <a:t>the</a:t>
            </a:r>
            <a:r>
              <a:rPr lang="en-US" spc="-65" dirty="0">
                <a:latin typeface="Times New Roman"/>
                <a:cs typeface="Times New Roman"/>
              </a:rPr>
              <a:t> </a:t>
            </a:r>
            <a:r>
              <a:rPr lang="en-US" spc="-5" dirty="0">
                <a:latin typeface="Times New Roman"/>
                <a:cs typeface="Times New Roman"/>
              </a:rPr>
              <a:t>seven</a:t>
            </a:r>
            <a:r>
              <a:rPr lang="en-US" spc="-35" dirty="0">
                <a:latin typeface="Times New Roman"/>
                <a:cs typeface="Times New Roman"/>
              </a:rPr>
              <a:t> </a:t>
            </a:r>
            <a:r>
              <a:rPr lang="en-US" spc="-5" dirty="0">
                <a:latin typeface="Times New Roman"/>
                <a:cs typeface="Times New Roman"/>
              </a:rPr>
              <a:t>registers</a:t>
            </a:r>
            <a:r>
              <a:rPr lang="en-US" spc="-45" dirty="0">
                <a:latin typeface="Times New Roman"/>
                <a:cs typeface="Times New Roman"/>
              </a:rPr>
              <a:t> </a:t>
            </a:r>
            <a:r>
              <a:rPr lang="en-US" spc="-5" dirty="0">
                <a:latin typeface="Times New Roman"/>
                <a:cs typeface="Times New Roman"/>
              </a:rPr>
              <a:t>goes</a:t>
            </a:r>
            <a:r>
              <a:rPr lang="en-US" spc="-40" dirty="0">
                <a:latin typeface="Times New Roman"/>
                <a:cs typeface="Times New Roman"/>
              </a:rPr>
              <a:t> </a:t>
            </a:r>
            <a:r>
              <a:rPr lang="en-US" spc="-5" dirty="0">
                <a:latin typeface="Times New Roman"/>
                <a:cs typeface="Times New Roman"/>
              </a:rPr>
              <a:t>through</a:t>
            </a:r>
            <a:r>
              <a:rPr lang="en-US" spc="-55" dirty="0">
                <a:latin typeface="Times New Roman"/>
                <a:cs typeface="Times New Roman"/>
              </a:rPr>
              <a:t> </a:t>
            </a:r>
            <a:r>
              <a:rPr lang="en-US" spc="-5" dirty="0">
                <a:latin typeface="Times New Roman"/>
                <a:cs typeface="Times New Roman"/>
              </a:rPr>
              <a:t>two</a:t>
            </a:r>
            <a:r>
              <a:rPr lang="en-US" spc="-45" dirty="0">
                <a:latin typeface="Times New Roman"/>
                <a:cs typeface="Times New Roman"/>
              </a:rPr>
              <a:t> </a:t>
            </a:r>
            <a:r>
              <a:rPr lang="en-US" spc="-5" dirty="0">
                <a:latin typeface="Times New Roman"/>
                <a:cs typeface="Times New Roman"/>
              </a:rPr>
              <a:t>multiplexers</a:t>
            </a:r>
            <a:r>
              <a:rPr lang="en-US" spc="-55" dirty="0">
                <a:latin typeface="Times New Roman"/>
                <a:cs typeface="Times New Roman"/>
              </a:rPr>
              <a:t> </a:t>
            </a:r>
            <a:r>
              <a:rPr lang="en-US" dirty="0">
                <a:latin typeface="Times New Roman"/>
                <a:cs typeface="Times New Roman"/>
              </a:rPr>
              <a:t>to</a:t>
            </a:r>
            <a:r>
              <a:rPr lang="en-US" spc="-45" dirty="0">
                <a:latin typeface="Times New Roman"/>
                <a:cs typeface="Times New Roman"/>
              </a:rPr>
              <a:t> </a:t>
            </a:r>
            <a:r>
              <a:rPr lang="en-US" spc="-5" dirty="0">
                <a:latin typeface="Times New Roman"/>
                <a:cs typeface="Times New Roman"/>
              </a:rPr>
              <a:t>select</a:t>
            </a:r>
            <a:r>
              <a:rPr lang="en-US" spc="-45" dirty="0">
                <a:latin typeface="Times New Roman"/>
                <a:cs typeface="Times New Roman"/>
              </a:rPr>
              <a:t> </a:t>
            </a:r>
            <a:r>
              <a:rPr lang="en-US" spc="-5" dirty="0">
                <a:latin typeface="Times New Roman"/>
                <a:cs typeface="Times New Roman"/>
              </a:rPr>
              <a:t>the</a:t>
            </a:r>
            <a:r>
              <a:rPr lang="en-US" spc="-45" dirty="0">
                <a:latin typeface="Times New Roman"/>
                <a:cs typeface="Times New Roman"/>
              </a:rPr>
              <a:t> </a:t>
            </a:r>
            <a:r>
              <a:rPr lang="en-US" spc="-10" dirty="0">
                <a:latin typeface="Times New Roman"/>
                <a:cs typeface="Times New Roman"/>
              </a:rPr>
              <a:t>inputs</a:t>
            </a:r>
            <a:r>
              <a:rPr lang="en-US" spc="-45" dirty="0">
                <a:latin typeface="Times New Roman"/>
                <a:cs typeface="Times New Roman"/>
              </a:rPr>
              <a:t> </a:t>
            </a:r>
            <a:r>
              <a:rPr lang="en-US" dirty="0">
                <a:latin typeface="Times New Roman"/>
                <a:cs typeface="Times New Roman"/>
              </a:rPr>
              <a:t>to</a:t>
            </a:r>
            <a:r>
              <a:rPr lang="en-US" spc="-45" dirty="0">
                <a:latin typeface="Times New Roman"/>
                <a:cs typeface="Times New Roman"/>
              </a:rPr>
              <a:t> </a:t>
            </a:r>
            <a:r>
              <a:rPr lang="en-US" spc="-5" dirty="0">
                <a:latin typeface="Times New Roman"/>
                <a:cs typeface="Times New Roman"/>
              </a:rPr>
              <a:t>the  ALU.</a:t>
            </a:r>
          </a:p>
          <a:p>
            <a:pPr marL="469265" marR="5080" lvl="1" indent="-228600" algn="just">
              <a:lnSpc>
                <a:spcPct val="143200"/>
              </a:lnSpc>
              <a:buFont typeface="Symbol"/>
              <a:buChar char=""/>
              <a:tabLst>
                <a:tab pos="469900" algn="l"/>
              </a:tabLst>
            </a:pPr>
            <a:r>
              <a:rPr lang="en-US" dirty="0">
                <a:latin typeface="Times New Roman"/>
                <a:cs typeface="Times New Roman"/>
              </a:rPr>
              <a:t>If the </a:t>
            </a:r>
            <a:r>
              <a:rPr lang="en-US" spc="-5" dirty="0">
                <a:latin typeface="Times New Roman"/>
                <a:cs typeface="Times New Roman"/>
              </a:rPr>
              <a:t>input </a:t>
            </a:r>
            <a:r>
              <a:rPr lang="en-US" dirty="0">
                <a:latin typeface="Times New Roman"/>
                <a:cs typeface="Times New Roman"/>
              </a:rPr>
              <a:t>is given from </a:t>
            </a:r>
            <a:r>
              <a:rPr lang="en-US" spc="-5" dirty="0">
                <a:latin typeface="Times New Roman"/>
                <a:cs typeface="Times New Roman"/>
              </a:rPr>
              <a:t>any external </a:t>
            </a:r>
            <a:r>
              <a:rPr lang="en-US" dirty="0">
                <a:latin typeface="Times New Roman"/>
                <a:cs typeface="Times New Roman"/>
              </a:rPr>
              <a:t>source </a:t>
            </a:r>
            <a:r>
              <a:rPr lang="en-US" spc="-5" dirty="0">
                <a:latin typeface="Times New Roman"/>
                <a:cs typeface="Times New Roman"/>
              </a:rPr>
              <a:t>it </a:t>
            </a:r>
            <a:r>
              <a:rPr lang="en-US" dirty="0">
                <a:latin typeface="Times New Roman"/>
                <a:cs typeface="Times New Roman"/>
              </a:rPr>
              <a:t>can be a</a:t>
            </a:r>
            <a:r>
              <a:rPr lang="en-US" spc="-5" dirty="0">
                <a:latin typeface="Times New Roman"/>
                <a:cs typeface="Times New Roman"/>
              </a:rPr>
              <a:t>ccepted </a:t>
            </a:r>
            <a:r>
              <a:rPr lang="en-US" dirty="0">
                <a:latin typeface="Times New Roman"/>
                <a:cs typeface="Times New Roman"/>
              </a:rPr>
              <a:t>by </a:t>
            </a:r>
            <a:r>
              <a:rPr lang="en-US" spc="-5" dirty="0">
                <a:latin typeface="Times New Roman"/>
                <a:cs typeface="Times New Roman"/>
              </a:rPr>
              <a:t>the  </a:t>
            </a:r>
            <a:r>
              <a:rPr lang="en-US" dirty="0">
                <a:latin typeface="Times New Roman"/>
                <a:cs typeface="Times New Roman"/>
              </a:rPr>
              <a:t>same </a:t>
            </a:r>
            <a:r>
              <a:rPr lang="en-US" spc="-5" dirty="0">
                <a:latin typeface="Times New Roman"/>
                <a:cs typeface="Times New Roman"/>
              </a:rPr>
              <a:t>multiplexers. </a:t>
            </a:r>
          </a:p>
          <a:p>
            <a:pPr marL="469265" marR="5080" lvl="1" indent="-228600" algn="just">
              <a:lnSpc>
                <a:spcPct val="143200"/>
              </a:lnSpc>
              <a:buFont typeface="Symbol"/>
              <a:buChar char=""/>
              <a:tabLst>
                <a:tab pos="469900" algn="l"/>
              </a:tabLst>
            </a:pPr>
            <a:r>
              <a:rPr lang="en-US" spc="-5" dirty="0">
                <a:latin typeface="Times New Roman"/>
                <a:cs typeface="Times New Roman"/>
              </a:rPr>
              <a:t>The output from </a:t>
            </a:r>
            <a:r>
              <a:rPr lang="en-US" dirty="0">
                <a:latin typeface="Times New Roman"/>
                <a:cs typeface="Times New Roman"/>
              </a:rPr>
              <a:t>the </a:t>
            </a:r>
            <a:r>
              <a:rPr lang="en-US" spc="-5" dirty="0">
                <a:latin typeface="Times New Roman"/>
                <a:cs typeface="Times New Roman"/>
              </a:rPr>
              <a:t>ALU goes through </a:t>
            </a:r>
            <a:r>
              <a:rPr lang="en-US" dirty="0">
                <a:latin typeface="Times New Roman"/>
                <a:cs typeface="Times New Roman"/>
              </a:rPr>
              <a:t>a </a:t>
            </a:r>
            <a:r>
              <a:rPr lang="en-US" spc="-5" dirty="0">
                <a:latin typeface="Times New Roman"/>
                <a:cs typeface="Times New Roman"/>
              </a:rPr>
              <a:t>shifter and  then </a:t>
            </a:r>
            <a:r>
              <a:rPr lang="en-US" dirty="0">
                <a:latin typeface="Times New Roman"/>
                <a:cs typeface="Times New Roman"/>
              </a:rPr>
              <a:t>to a set of </a:t>
            </a:r>
            <a:r>
              <a:rPr lang="en-US" spc="-5" dirty="0">
                <a:latin typeface="Times New Roman"/>
                <a:cs typeface="Times New Roman"/>
              </a:rPr>
              <a:t>external output</a:t>
            </a:r>
            <a:r>
              <a:rPr lang="en-US" spc="-50" dirty="0">
                <a:latin typeface="Times New Roman"/>
                <a:cs typeface="Times New Roman"/>
              </a:rPr>
              <a:t> </a:t>
            </a:r>
            <a:r>
              <a:rPr lang="en-US" dirty="0">
                <a:latin typeface="Times New Roman"/>
                <a:cs typeface="Times New Roman"/>
              </a:rPr>
              <a:t>terminals.</a:t>
            </a:r>
          </a:p>
          <a:p>
            <a:pPr marL="469265" marR="5080" lvl="1" indent="-228600" algn="just">
              <a:lnSpc>
                <a:spcPct val="143200"/>
              </a:lnSpc>
              <a:buFont typeface="Symbol"/>
              <a:buChar char=""/>
              <a:tabLst>
                <a:tab pos="469900" algn="l"/>
              </a:tabLst>
            </a:pPr>
            <a:r>
              <a:rPr lang="en-US" dirty="0">
                <a:latin typeface="Times New Roman"/>
                <a:cs typeface="Times New Roman"/>
              </a:rPr>
              <a:t>It </a:t>
            </a:r>
            <a:r>
              <a:rPr lang="en-US" spc="-5" dirty="0">
                <a:latin typeface="Times New Roman"/>
                <a:cs typeface="Times New Roman"/>
              </a:rPr>
              <a:t>is also possible to transfer the </a:t>
            </a:r>
            <a:r>
              <a:rPr lang="en-US" spc="-10" dirty="0">
                <a:latin typeface="Times New Roman"/>
                <a:cs typeface="Times New Roman"/>
              </a:rPr>
              <a:t>content </a:t>
            </a:r>
            <a:r>
              <a:rPr lang="en-US" dirty="0">
                <a:latin typeface="Times New Roman"/>
                <a:cs typeface="Times New Roman"/>
              </a:rPr>
              <a:t>from </a:t>
            </a:r>
            <a:r>
              <a:rPr lang="en-US" spc="-5" dirty="0">
                <a:latin typeface="Times New Roman"/>
                <a:cs typeface="Times New Roman"/>
              </a:rPr>
              <a:t>shifter </a:t>
            </a:r>
            <a:r>
              <a:rPr lang="en-US" dirty="0">
                <a:latin typeface="Times New Roman"/>
                <a:cs typeface="Times New Roman"/>
              </a:rPr>
              <a:t>to </a:t>
            </a:r>
            <a:r>
              <a:rPr lang="en-US" spc="-5" dirty="0">
                <a:latin typeface="Times New Roman"/>
                <a:cs typeface="Times New Roman"/>
              </a:rPr>
              <a:t>any one </a:t>
            </a:r>
            <a:r>
              <a:rPr lang="en-US" dirty="0">
                <a:latin typeface="Times New Roman"/>
                <a:cs typeface="Times New Roman"/>
              </a:rPr>
              <a:t>of </a:t>
            </a:r>
            <a:r>
              <a:rPr lang="en-US" spc="-5" dirty="0">
                <a:latin typeface="Times New Roman"/>
                <a:cs typeface="Times New Roman"/>
              </a:rPr>
              <a:t>the  registers.</a:t>
            </a:r>
            <a:endParaRPr lang="en-US" dirty="0">
              <a:latin typeface="Times New Roman"/>
              <a:cs typeface="Times New Roman"/>
            </a:endParaRPr>
          </a:p>
          <a:p>
            <a:pPr marL="469265" marR="5080" lvl="1" indent="-228600" algn="just">
              <a:lnSpc>
                <a:spcPct val="143200"/>
              </a:lnSpc>
              <a:buFont typeface="Symbol"/>
              <a:buChar char=""/>
              <a:tabLst>
                <a:tab pos="469900" algn="l"/>
              </a:tabLst>
            </a:pPr>
            <a:endParaRPr lang="en-US" dirty="0">
              <a:latin typeface="Times New Roman"/>
              <a:cs typeface="Times New Roman"/>
            </a:endParaRPr>
          </a:p>
        </p:txBody>
      </p:sp>
    </p:spTree>
    <p:extLst>
      <p:ext uri="{BB962C8B-B14F-4D97-AF65-F5344CB8AC3E}">
        <p14:creationId xmlns:p14="http://schemas.microsoft.com/office/powerpoint/2010/main" val="40663201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a:extLst>
              <a:ext uri="{FF2B5EF4-FFF2-40B4-BE49-F238E27FC236}">
                <a16:creationId xmlns:a16="http://schemas.microsoft.com/office/drawing/2014/main" id="{F1C056CD-453C-A0D0-7DAF-5154666C9385}"/>
              </a:ext>
            </a:extLst>
          </p:cNvPr>
          <p:cNvSpPr/>
          <p:nvPr/>
        </p:nvSpPr>
        <p:spPr>
          <a:xfrm>
            <a:off x="1527340" y="365125"/>
            <a:ext cx="9068387" cy="6333173"/>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0202540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9DD6F-9F68-AE18-F180-810038E30A53}"/>
              </a:ext>
            </a:extLst>
          </p:cNvPr>
          <p:cNvSpPr>
            <a:spLocks noGrp="1"/>
          </p:cNvSpPr>
          <p:nvPr>
            <p:ph idx="1"/>
          </p:nvPr>
        </p:nvSpPr>
        <p:spPr>
          <a:xfrm>
            <a:off x="301658" y="282804"/>
            <a:ext cx="11052142" cy="5894159"/>
          </a:xfrm>
        </p:spPr>
        <p:txBody>
          <a:bodyPr>
            <a:normAutofit/>
          </a:bodyPr>
          <a:lstStyle/>
          <a:p>
            <a:pPr marL="240665" marR="5080">
              <a:lnSpc>
                <a:spcPct val="143600"/>
              </a:lnSpc>
              <a:spcBef>
                <a:spcPts val="95"/>
              </a:spcBef>
              <a:buFont typeface="Symbol"/>
              <a:buChar char=""/>
              <a:tabLst>
                <a:tab pos="240665" algn="l"/>
                <a:tab pos="241300" algn="l"/>
              </a:tabLst>
            </a:pPr>
            <a:r>
              <a:rPr lang="en-US" sz="2400" spc="-5" dirty="0">
                <a:latin typeface="Times New Roman"/>
                <a:cs typeface="Times New Roman"/>
              </a:rPr>
              <a:t>There</a:t>
            </a:r>
            <a:r>
              <a:rPr lang="en-US" sz="2400" spc="-25" dirty="0">
                <a:latin typeface="Times New Roman"/>
                <a:cs typeface="Times New Roman"/>
              </a:rPr>
              <a:t> </a:t>
            </a:r>
            <a:r>
              <a:rPr lang="en-US" sz="2400" dirty="0">
                <a:latin typeface="Times New Roman"/>
                <a:cs typeface="Times New Roman"/>
              </a:rPr>
              <a:t>are</a:t>
            </a:r>
            <a:r>
              <a:rPr lang="en-US" sz="2400" spc="-25" dirty="0">
                <a:latin typeface="Times New Roman"/>
                <a:cs typeface="Times New Roman"/>
              </a:rPr>
              <a:t> </a:t>
            </a:r>
            <a:r>
              <a:rPr lang="en-US" sz="2400" spc="-5" dirty="0">
                <a:latin typeface="Times New Roman"/>
                <a:cs typeface="Times New Roman"/>
              </a:rPr>
              <a:t>16</a:t>
            </a:r>
            <a:r>
              <a:rPr lang="en-US" sz="2400" spc="-20" dirty="0">
                <a:latin typeface="Times New Roman"/>
                <a:cs typeface="Times New Roman"/>
              </a:rPr>
              <a:t> </a:t>
            </a:r>
            <a:r>
              <a:rPr lang="en-US" sz="2400" spc="-5" dirty="0">
                <a:latin typeface="Times New Roman"/>
                <a:cs typeface="Times New Roman"/>
              </a:rPr>
              <a:t>selection</a:t>
            </a:r>
            <a:r>
              <a:rPr lang="en-US" sz="2400" spc="-25" dirty="0">
                <a:latin typeface="Times New Roman"/>
                <a:cs typeface="Times New Roman"/>
              </a:rPr>
              <a:t> </a:t>
            </a:r>
            <a:r>
              <a:rPr lang="en-US" sz="2400" spc="-5" dirty="0">
                <a:latin typeface="Times New Roman"/>
                <a:cs typeface="Times New Roman"/>
              </a:rPr>
              <a:t>variables</a:t>
            </a:r>
            <a:r>
              <a:rPr lang="en-US" sz="2400" spc="-20" dirty="0">
                <a:latin typeface="Times New Roman"/>
                <a:cs typeface="Times New Roman"/>
              </a:rPr>
              <a:t> </a:t>
            </a:r>
            <a:r>
              <a:rPr lang="en-US" sz="2400" spc="-5" dirty="0">
                <a:latin typeface="Times New Roman"/>
                <a:cs typeface="Times New Roman"/>
              </a:rPr>
              <a:t>in</a:t>
            </a:r>
            <a:r>
              <a:rPr lang="en-US" sz="2400" spc="-25" dirty="0">
                <a:latin typeface="Times New Roman"/>
                <a:cs typeface="Times New Roman"/>
              </a:rPr>
              <a:t> </a:t>
            </a:r>
            <a:r>
              <a:rPr lang="en-US" sz="2400" dirty="0">
                <a:latin typeface="Times New Roman"/>
                <a:cs typeface="Times New Roman"/>
              </a:rPr>
              <a:t>the</a:t>
            </a:r>
            <a:r>
              <a:rPr lang="en-US" sz="2400" spc="-25" dirty="0">
                <a:latin typeface="Times New Roman"/>
                <a:cs typeface="Times New Roman"/>
              </a:rPr>
              <a:t> </a:t>
            </a:r>
            <a:r>
              <a:rPr lang="en-US" sz="2400" spc="-5" dirty="0">
                <a:latin typeface="Times New Roman"/>
                <a:cs typeface="Times New Roman"/>
              </a:rPr>
              <a:t>unit.</a:t>
            </a:r>
            <a:r>
              <a:rPr lang="en-US" sz="2400" spc="-30" dirty="0">
                <a:latin typeface="Times New Roman"/>
                <a:cs typeface="Times New Roman"/>
              </a:rPr>
              <a:t> </a:t>
            </a:r>
            <a:r>
              <a:rPr lang="en-US" sz="2400" dirty="0">
                <a:latin typeface="Times New Roman"/>
                <a:cs typeface="Times New Roman"/>
              </a:rPr>
              <a:t>It</a:t>
            </a:r>
            <a:r>
              <a:rPr lang="en-US" sz="2400" spc="-20" dirty="0">
                <a:latin typeface="Times New Roman"/>
                <a:cs typeface="Times New Roman"/>
              </a:rPr>
              <a:t> </a:t>
            </a:r>
            <a:r>
              <a:rPr lang="en-US" sz="2400" dirty="0">
                <a:latin typeface="Times New Roman"/>
                <a:cs typeface="Times New Roman"/>
              </a:rPr>
              <a:t>can</a:t>
            </a:r>
            <a:r>
              <a:rPr lang="en-US" sz="2400" spc="-20" dirty="0">
                <a:latin typeface="Times New Roman"/>
                <a:cs typeface="Times New Roman"/>
              </a:rPr>
              <a:t> </a:t>
            </a:r>
            <a:r>
              <a:rPr lang="en-US" sz="2400" dirty="0">
                <a:latin typeface="Times New Roman"/>
                <a:cs typeface="Times New Roman"/>
              </a:rPr>
              <a:t>be</a:t>
            </a:r>
            <a:r>
              <a:rPr lang="en-US" sz="2400" spc="-25" dirty="0">
                <a:latin typeface="Times New Roman"/>
                <a:cs typeface="Times New Roman"/>
              </a:rPr>
              <a:t> </a:t>
            </a:r>
            <a:r>
              <a:rPr lang="en-US" sz="2400" spc="-5" dirty="0">
                <a:latin typeface="Times New Roman"/>
                <a:cs typeface="Times New Roman"/>
              </a:rPr>
              <a:t>specified</a:t>
            </a:r>
            <a:r>
              <a:rPr lang="en-US" sz="2400" spc="-25" dirty="0">
                <a:latin typeface="Times New Roman"/>
                <a:cs typeface="Times New Roman"/>
              </a:rPr>
              <a:t> </a:t>
            </a:r>
            <a:r>
              <a:rPr lang="en-US" sz="2400" spc="-5" dirty="0">
                <a:latin typeface="Times New Roman"/>
                <a:cs typeface="Times New Roman"/>
              </a:rPr>
              <a:t>by</a:t>
            </a:r>
            <a:r>
              <a:rPr lang="en-US" sz="2400" spc="-20" dirty="0">
                <a:latin typeface="Times New Roman"/>
                <a:cs typeface="Times New Roman"/>
              </a:rPr>
              <a:t> </a:t>
            </a:r>
            <a:r>
              <a:rPr lang="en-US" sz="2400" dirty="0">
                <a:latin typeface="Times New Roman"/>
                <a:cs typeface="Times New Roman"/>
              </a:rPr>
              <a:t>a</a:t>
            </a:r>
            <a:r>
              <a:rPr lang="en-US" sz="2400" spc="-30" dirty="0">
                <a:latin typeface="Times New Roman"/>
                <a:cs typeface="Times New Roman"/>
              </a:rPr>
              <a:t> </a:t>
            </a:r>
            <a:r>
              <a:rPr lang="en-US" sz="2400" spc="-5" dirty="0">
                <a:latin typeface="Times New Roman"/>
                <a:cs typeface="Times New Roman"/>
              </a:rPr>
              <a:t>control  </a:t>
            </a:r>
            <a:r>
              <a:rPr lang="en-US" sz="2400" dirty="0">
                <a:latin typeface="Times New Roman"/>
                <a:cs typeface="Times New Roman"/>
              </a:rPr>
              <a:t>word. </a:t>
            </a:r>
          </a:p>
          <a:p>
            <a:pPr marL="240665" marR="5080">
              <a:lnSpc>
                <a:spcPct val="143600"/>
              </a:lnSpc>
              <a:spcBef>
                <a:spcPts val="95"/>
              </a:spcBef>
              <a:buFont typeface="Symbol"/>
              <a:buChar char=""/>
              <a:tabLst>
                <a:tab pos="240665" algn="l"/>
                <a:tab pos="241300" algn="l"/>
              </a:tabLst>
            </a:pPr>
            <a:endParaRPr lang="en-US" sz="2400" dirty="0">
              <a:latin typeface="Times New Roman"/>
              <a:cs typeface="Times New Roman"/>
            </a:endParaRPr>
          </a:p>
          <a:p>
            <a:pPr marL="240665" marR="5080">
              <a:lnSpc>
                <a:spcPct val="143600"/>
              </a:lnSpc>
              <a:spcBef>
                <a:spcPts val="95"/>
              </a:spcBef>
              <a:buFont typeface="Symbol"/>
              <a:buChar char=""/>
              <a:tabLst>
                <a:tab pos="240665" algn="l"/>
                <a:tab pos="241300" algn="l"/>
              </a:tabLst>
            </a:pPr>
            <a:endParaRPr lang="en-US" sz="2400" dirty="0">
              <a:latin typeface="Times New Roman"/>
              <a:cs typeface="Times New Roman"/>
            </a:endParaRPr>
          </a:p>
          <a:p>
            <a:pPr marL="240665" marR="5080" indent="-228600">
              <a:lnSpc>
                <a:spcPct val="143600"/>
              </a:lnSpc>
              <a:spcBef>
                <a:spcPts val="95"/>
              </a:spcBef>
              <a:buFont typeface="Symbol"/>
              <a:buChar char=""/>
              <a:tabLst>
                <a:tab pos="240665" algn="l"/>
                <a:tab pos="241300" algn="l"/>
              </a:tabLst>
            </a:pPr>
            <a:r>
              <a:rPr lang="en-US" sz="2400" spc="-5" dirty="0">
                <a:latin typeface="Times New Roman"/>
                <a:cs typeface="Times New Roman"/>
              </a:rPr>
              <a:t>The</a:t>
            </a:r>
            <a:r>
              <a:rPr lang="en-US" sz="2400" spc="-40" dirty="0">
                <a:latin typeface="Times New Roman"/>
                <a:cs typeface="Times New Roman"/>
              </a:rPr>
              <a:t> </a:t>
            </a:r>
            <a:r>
              <a:rPr lang="en-US" sz="2400" spc="-5" dirty="0">
                <a:latin typeface="Times New Roman"/>
                <a:cs typeface="Times New Roman"/>
              </a:rPr>
              <a:t>control</a:t>
            </a:r>
            <a:r>
              <a:rPr lang="en-US" sz="2400" spc="-45" dirty="0">
                <a:latin typeface="Times New Roman"/>
                <a:cs typeface="Times New Roman"/>
              </a:rPr>
              <a:t> </a:t>
            </a:r>
            <a:r>
              <a:rPr lang="en-US" sz="2400" spc="-5" dirty="0">
                <a:latin typeface="Times New Roman"/>
                <a:cs typeface="Times New Roman"/>
              </a:rPr>
              <a:t>word</a:t>
            </a:r>
            <a:r>
              <a:rPr lang="en-US" sz="2400" spc="-50" dirty="0">
                <a:latin typeface="Times New Roman"/>
                <a:cs typeface="Times New Roman"/>
              </a:rPr>
              <a:t> </a:t>
            </a:r>
            <a:r>
              <a:rPr lang="en-US" sz="2400" dirty="0">
                <a:latin typeface="Times New Roman"/>
                <a:cs typeface="Times New Roman"/>
              </a:rPr>
              <a:t>is</a:t>
            </a:r>
            <a:r>
              <a:rPr lang="en-US" sz="2400" spc="-40" dirty="0">
                <a:latin typeface="Times New Roman"/>
                <a:cs typeface="Times New Roman"/>
              </a:rPr>
              <a:t> </a:t>
            </a:r>
            <a:r>
              <a:rPr lang="en-US" sz="2400" spc="-5" dirty="0">
                <a:latin typeface="Times New Roman"/>
                <a:cs typeface="Times New Roman"/>
              </a:rPr>
              <a:t>partitioned</a:t>
            </a:r>
            <a:r>
              <a:rPr lang="en-US" sz="2400" spc="-50" dirty="0">
                <a:latin typeface="Times New Roman"/>
                <a:cs typeface="Times New Roman"/>
              </a:rPr>
              <a:t> </a:t>
            </a:r>
            <a:r>
              <a:rPr lang="en-US" sz="2400" spc="-5" dirty="0">
                <a:latin typeface="Times New Roman"/>
                <a:cs typeface="Times New Roman"/>
              </a:rPr>
              <a:t>into</a:t>
            </a:r>
            <a:r>
              <a:rPr lang="en-US" sz="2400" spc="-50" dirty="0">
                <a:latin typeface="Times New Roman"/>
                <a:cs typeface="Times New Roman"/>
              </a:rPr>
              <a:t> </a:t>
            </a:r>
            <a:r>
              <a:rPr lang="en-US" sz="2400" spc="-5" dirty="0">
                <a:latin typeface="Times New Roman"/>
                <a:cs typeface="Times New Roman"/>
              </a:rPr>
              <a:t>six</a:t>
            </a:r>
            <a:r>
              <a:rPr lang="en-US" sz="2400" spc="-35" dirty="0">
                <a:latin typeface="Times New Roman"/>
                <a:cs typeface="Times New Roman"/>
              </a:rPr>
              <a:t> </a:t>
            </a:r>
            <a:r>
              <a:rPr lang="en-US" sz="2400" spc="-5" dirty="0">
                <a:latin typeface="Times New Roman"/>
                <a:cs typeface="Times New Roman"/>
              </a:rPr>
              <a:t>fields,</a:t>
            </a:r>
            <a:r>
              <a:rPr lang="en-US" sz="2400" spc="-50" dirty="0">
                <a:latin typeface="Times New Roman"/>
                <a:cs typeface="Times New Roman"/>
              </a:rPr>
              <a:t> </a:t>
            </a:r>
            <a:r>
              <a:rPr lang="en-US" sz="2400" spc="-5" dirty="0">
                <a:latin typeface="Times New Roman"/>
                <a:cs typeface="Times New Roman"/>
              </a:rPr>
              <a:t>with</a:t>
            </a:r>
            <a:r>
              <a:rPr lang="en-US" sz="2400" spc="-35" dirty="0">
                <a:latin typeface="Times New Roman"/>
                <a:cs typeface="Times New Roman"/>
              </a:rPr>
              <a:t> </a:t>
            </a:r>
            <a:r>
              <a:rPr lang="en-US" sz="2400" spc="-10" dirty="0">
                <a:latin typeface="Times New Roman"/>
                <a:cs typeface="Times New Roman"/>
              </a:rPr>
              <a:t>each</a:t>
            </a:r>
            <a:r>
              <a:rPr lang="en-US" sz="2400" spc="-35" dirty="0">
                <a:latin typeface="Times New Roman"/>
                <a:cs typeface="Times New Roman"/>
              </a:rPr>
              <a:t> </a:t>
            </a:r>
            <a:r>
              <a:rPr lang="en-US" sz="2400" spc="-5" dirty="0">
                <a:latin typeface="Times New Roman"/>
                <a:cs typeface="Times New Roman"/>
              </a:rPr>
              <a:t>field</a:t>
            </a:r>
            <a:r>
              <a:rPr lang="en-US" sz="2400" spc="-50" dirty="0">
                <a:latin typeface="Times New Roman"/>
                <a:cs typeface="Times New Roman"/>
              </a:rPr>
              <a:t> </a:t>
            </a:r>
            <a:r>
              <a:rPr lang="en-US" sz="2400" spc="-5" dirty="0">
                <a:latin typeface="Times New Roman"/>
                <a:cs typeface="Times New Roman"/>
              </a:rPr>
              <a:t>is</a:t>
            </a:r>
            <a:r>
              <a:rPr lang="en-US" sz="2400" spc="-45" dirty="0">
                <a:latin typeface="Times New Roman"/>
                <a:cs typeface="Times New Roman"/>
              </a:rPr>
              <a:t> </a:t>
            </a:r>
            <a:r>
              <a:rPr lang="en-US" sz="2400" spc="-5" dirty="0">
                <a:latin typeface="Times New Roman"/>
                <a:cs typeface="Times New Roman"/>
              </a:rPr>
              <a:t>designated  </a:t>
            </a:r>
            <a:r>
              <a:rPr lang="en-US" sz="2400" dirty="0">
                <a:latin typeface="Times New Roman"/>
                <a:cs typeface="Times New Roman"/>
              </a:rPr>
              <a:t>by a </a:t>
            </a:r>
            <a:r>
              <a:rPr lang="en-US" sz="2400" spc="-5" dirty="0">
                <a:latin typeface="Times New Roman"/>
                <a:cs typeface="Times New Roman"/>
              </a:rPr>
              <a:t>letter name. All the fields, except </a:t>
            </a:r>
            <a:r>
              <a:rPr lang="en-US" sz="2400" dirty="0" err="1">
                <a:latin typeface="Times New Roman"/>
                <a:cs typeface="Times New Roman"/>
              </a:rPr>
              <a:t>Cin</a:t>
            </a:r>
            <a:r>
              <a:rPr lang="en-US" sz="2400" dirty="0">
                <a:latin typeface="Times New Roman"/>
                <a:cs typeface="Times New Roman"/>
              </a:rPr>
              <a:t>, </a:t>
            </a:r>
            <a:r>
              <a:rPr lang="en-US" sz="2400" spc="-5" dirty="0">
                <a:latin typeface="Times New Roman"/>
                <a:cs typeface="Times New Roman"/>
              </a:rPr>
              <a:t>have </a:t>
            </a:r>
            <a:r>
              <a:rPr lang="en-US" sz="2400" dirty="0">
                <a:latin typeface="Times New Roman"/>
                <a:cs typeface="Times New Roman"/>
              </a:rPr>
              <a:t>a </a:t>
            </a:r>
            <a:r>
              <a:rPr lang="en-US" sz="2400" spc="-5" dirty="0">
                <a:latin typeface="Times New Roman"/>
                <a:cs typeface="Times New Roman"/>
              </a:rPr>
              <a:t>code </a:t>
            </a:r>
            <a:r>
              <a:rPr lang="en-US" sz="2400" dirty="0">
                <a:latin typeface="Times New Roman"/>
                <a:cs typeface="Times New Roman"/>
              </a:rPr>
              <a:t>of 3</a:t>
            </a:r>
            <a:r>
              <a:rPr lang="en-US" sz="2400" spc="-25" dirty="0">
                <a:latin typeface="Times New Roman"/>
                <a:cs typeface="Times New Roman"/>
              </a:rPr>
              <a:t> </a:t>
            </a:r>
            <a:r>
              <a:rPr lang="en-US" sz="2400" spc="-5" dirty="0">
                <a:latin typeface="Times New Roman"/>
                <a:cs typeface="Times New Roman"/>
              </a:rPr>
              <a:t>bits.</a:t>
            </a:r>
            <a:endParaRPr lang="en-US" sz="2400" dirty="0">
              <a:latin typeface="Times New Roman"/>
              <a:cs typeface="Times New Roman"/>
            </a:endParaRPr>
          </a:p>
          <a:p>
            <a:pPr marL="697865" lvl="1" indent="-229235">
              <a:lnSpc>
                <a:spcPct val="100000"/>
              </a:lnSpc>
              <a:spcBef>
                <a:spcPts val="735"/>
              </a:spcBef>
              <a:buAutoNum type="arabicPeriod"/>
              <a:tabLst>
                <a:tab pos="698500" algn="l"/>
              </a:tabLst>
            </a:pPr>
            <a:r>
              <a:rPr lang="en-US" dirty="0">
                <a:latin typeface="Times New Roman"/>
                <a:cs typeface="Times New Roman"/>
              </a:rPr>
              <a:t>A </a:t>
            </a:r>
            <a:r>
              <a:rPr lang="en-US" spc="-5" dirty="0">
                <a:latin typeface="Times New Roman"/>
                <a:cs typeface="Times New Roman"/>
              </a:rPr>
              <a:t>selects the input register for the left side </a:t>
            </a:r>
            <a:r>
              <a:rPr lang="en-US" dirty="0">
                <a:latin typeface="Times New Roman"/>
                <a:cs typeface="Times New Roman"/>
              </a:rPr>
              <a:t>of</a:t>
            </a:r>
            <a:r>
              <a:rPr lang="en-US" spc="25" dirty="0">
                <a:latin typeface="Times New Roman"/>
                <a:cs typeface="Times New Roman"/>
              </a:rPr>
              <a:t> </a:t>
            </a:r>
            <a:r>
              <a:rPr lang="en-US" spc="-5" dirty="0">
                <a:latin typeface="Times New Roman"/>
                <a:cs typeface="Times New Roman"/>
              </a:rPr>
              <a:t>ALU.</a:t>
            </a:r>
            <a:endParaRPr lang="en-US" dirty="0">
              <a:latin typeface="Times New Roman"/>
              <a:cs typeface="Times New Roman"/>
            </a:endParaRPr>
          </a:p>
          <a:p>
            <a:pPr marL="697865" lvl="1" indent="-229235">
              <a:lnSpc>
                <a:spcPct val="100000"/>
              </a:lnSpc>
              <a:spcBef>
                <a:spcPts val="735"/>
              </a:spcBef>
              <a:buAutoNum type="arabicPeriod"/>
              <a:tabLst>
                <a:tab pos="698500" algn="l"/>
              </a:tabLst>
            </a:pPr>
            <a:r>
              <a:rPr lang="en-US" dirty="0">
                <a:latin typeface="Times New Roman"/>
                <a:cs typeface="Times New Roman"/>
              </a:rPr>
              <a:t>B selects </a:t>
            </a:r>
            <a:r>
              <a:rPr lang="en-US" spc="-5" dirty="0">
                <a:latin typeface="Times New Roman"/>
                <a:cs typeface="Times New Roman"/>
              </a:rPr>
              <a:t>the input register for the right side </a:t>
            </a:r>
            <a:r>
              <a:rPr lang="en-US" dirty="0">
                <a:latin typeface="Times New Roman"/>
                <a:cs typeface="Times New Roman"/>
              </a:rPr>
              <a:t>of</a:t>
            </a:r>
            <a:r>
              <a:rPr lang="en-US" spc="10" dirty="0">
                <a:latin typeface="Times New Roman"/>
                <a:cs typeface="Times New Roman"/>
              </a:rPr>
              <a:t> </a:t>
            </a:r>
            <a:r>
              <a:rPr lang="en-US" spc="-5" dirty="0">
                <a:latin typeface="Times New Roman"/>
                <a:cs typeface="Times New Roman"/>
              </a:rPr>
              <a:t>ALU.</a:t>
            </a:r>
            <a:endParaRPr lang="en-US" dirty="0">
              <a:latin typeface="Times New Roman"/>
              <a:cs typeface="Times New Roman"/>
            </a:endParaRPr>
          </a:p>
          <a:p>
            <a:pPr marL="697865" lvl="1" indent="-229235">
              <a:lnSpc>
                <a:spcPct val="100000"/>
              </a:lnSpc>
              <a:spcBef>
                <a:spcPts val="730"/>
              </a:spcBef>
              <a:buAutoNum type="arabicPeriod"/>
              <a:tabLst>
                <a:tab pos="698500" algn="l"/>
              </a:tabLst>
            </a:pPr>
            <a:r>
              <a:rPr lang="en-US" dirty="0">
                <a:latin typeface="Times New Roman"/>
                <a:cs typeface="Times New Roman"/>
              </a:rPr>
              <a:t>D </a:t>
            </a:r>
            <a:r>
              <a:rPr lang="en-US" spc="-5" dirty="0">
                <a:latin typeface="Times New Roman"/>
                <a:cs typeface="Times New Roman"/>
              </a:rPr>
              <a:t>selects the destination</a:t>
            </a:r>
            <a:r>
              <a:rPr lang="en-US" spc="20" dirty="0">
                <a:latin typeface="Times New Roman"/>
                <a:cs typeface="Times New Roman"/>
              </a:rPr>
              <a:t> </a:t>
            </a:r>
            <a:r>
              <a:rPr lang="en-US" spc="-5" dirty="0">
                <a:latin typeface="Times New Roman"/>
                <a:cs typeface="Times New Roman"/>
              </a:rPr>
              <a:t>register.</a:t>
            </a:r>
            <a:endParaRPr lang="en-US" dirty="0">
              <a:latin typeface="Times New Roman"/>
              <a:cs typeface="Times New Roman"/>
            </a:endParaRPr>
          </a:p>
          <a:p>
            <a:pPr marL="697865" lvl="1" indent="-229235">
              <a:lnSpc>
                <a:spcPct val="100000"/>
              </a:lnSpc>
              <a:spcBef>
                <a:spcPts val="745"/>
              </a:spcBef>
              <a:buAutoNum type="arabicPeriod"/>
              <a:tabLst>
                <a:tab pos="698500" algn="l"/>
              </a:tabLst>
            </a:pPr>
            <a:r>
              <a:rPr lang="en-US" dirty="0">
                <a:latin typeface="Times New Roman"/>
                <a:cs typeface="Times New Roman"/>
              </a:rPr>
              <a:t>F and </a:t>
            </a:r>
            <a:r>
              <a:rPr lang="en-US" spc="-10" dirty="0" err="1">
                <a:latin typeface="Times New Roman"/>
                <a:cs typeface="Times New Roman"/>
              </a:rPr>
              <a:t>Cin</a:t>
            </a:r>
            <a:r>
              <a:rPr lang="en-US" spc="-10" dirty="0">
                <a:latin typeface="Times New Roman"/>
                <a:cs typeface="Times New Roman"/>
              </a:rPr>
              <a:t> </a:t>
            </a:r>
            <a:r>
              <a:rPr lang="en-US" spc="-5" dirty="0">
                <a:latin typeface="Times New Roman"/>
                <a:cs typeface="Times New Roman"/>
              </a:rPr>
              <a:t>bits together selects </a:t>
            </a:r>
            <a:r>
              <a:rPr lang="en-US" dirty="0">
                <a:latin typeface="Times New Roman"/>
                <a:cs typeface="Times New Roman"/>
              </a:rPr>
              <a:t>the </a:t>
            </a:r>
            <a:r>
              <a:rPr lang="en-US" spc="-5" dirty="0">
                <a:latin typeface="Times New Roman"/>
                <a:cs typeface="Times New Roman"/>
              </a:rPr>
              <a:t>function </a:t>
            </a:r>
            <a:r>
              <a:rPr lang="en-US" dirty="0">
                <a:latin typeface="Times New Roman"/>
                <a:cs typeface="Times New Roman"/>
              </a:rPr>
              <a:t>for</a:t>
            </a:r>
            <a:r>
              <a:rPr lang="en-US" spc="25" dirty="0">
                <a:latin typeface="Times New Roman"/>
                <a:cs typeface="Times New Roman"/>
              </a:rPr>
              <a:t> </a:t>
            </a:r>
            <a:r>
              <a:rPr lang="en-US" spc="-5" dirty="0">
                <a:latin typeface="Times New Roman"/>
                <a:cs typeface="Times New Roman"/>
              </a:rPr>
              <a:t>ALU.</a:t>
            </a:r>
            <a:endParaRPr lang="en-US" dirty="0">
              <a:latin typeface="Times New Roman"/>
              <a:cs typeface="Times New Roman"/>
            </a:endParaRPr>
          </a:p>
          <a:p>
            <a:pPr marL="697865" lvl="1" indent="-229235">
              <a:lnSpc>
                <a:spcPct val="100000"/>
              </a:lnSpc>
              <a:spcBef>
                <a:spcPts val="730"/>
              </a:spcBef>
              <a:buAutoNum type="arabicPeriod"/>
              <a:tabLst>
                <a:tab pos="698500" algn="l"/>
              </a:tabLst>
            </a:pPr>
            <a:r>
              <a:rPr lang="en-US" dirty="0">
                <a:latin typeface="Times New Roman"/>
                <a:cs typeface="Times New Roman"/>
              </a:rPr>
              <a:t>H </a:t>
            </a:r>
            <a:r>
              <a:rPr lang="en-US" spc="-5" dirty="0">
                <a:latin typeface="Times New Roman"/>
                <a:cs typeface="Times New Roman"/>
              </a:rPr>
              <a:t>selects the type </a:t>
            </a:r>
            <a:r>
              <a:rPr lang="en-US" dirty="0">
                <a:latin typeface="Times New Roman"/>
                <a:cs typeface="Times New Roman"/>
              </a:rPr>
              <a:t>of </a:t>
            </a:r>
            <a:r>
              <a:rPr lang="en-US" spc="-5" dirty="0">
                <a:latin typeface="Times New Roman"/>
                <a:cs typeface="Times New Roman"/>
              </a:rPr>
              <a:t>shift in shifter</a:t>
            </a:r>
            <a:r>
              <a:rPr lang="en-US" spc="10" dirty="0">
                <a:latin typeface="Times New Roman"/>
                <a:cs typeface="Times New Roman"/>
              </a:rPr>
              <a:t> </a:t>
            </a:r>
            <a:r>
              <a:rPr lang="en-US" spc="-5" dirty="0">
                <a:latin typeface="Times New Roman"/>
                <a:cs typeface="Times New Roman"/>
              </a:rPr>
              <a:t>unit.</a:t>
            </a:r>
            <a:endParaRPr lang="en-US" dirty="0">
              <a:latin typeface="Times New Roman"/>
              <a:cs typeface="Times New Roman"/>
            </a:endParaRPr>
          </a:p>
          <a:p>
            <a:pPr marL="0" indent="0">
              <a:buNone/>
            </a:pPr>
            <a:endParaRPr lang="en-US" sz="2400" dirty="0"/>
          </a:p>
        </p:txBody>
      </p:sp>
      <p:pic>
        <p:nvPicPr>
          <p:cNvPr id="8" name="Picture 7">
            <a:extLst>
              <a:ext uri="{FF2B5EF4-FFF2-40B4-BE49-F238E27FC236}">
                <a16:creationId xmlns:a16="http://schemas.microsoft.com/office/drawing/2014/main" id="{CD14095A-7BA1-4262-9088-17B0564AEDA8}"/>
              </a:ext>
            </a:extLst>
          </p:cNvPr>
          <p:cNvPicPr>
            <a:picLocks noChangeAspect="1"/>
          </p:cNvPicPr>
          <p:nvPr/>
        </p:nvPicPr>
        <p:blipFill>
          <a:blip r:embed="rId2"/>
          <a:stretch>
            <a:fillRect/>
          </a:stretch>
        </p:blipFill>
        <p:spPr>
          <a:xfrm>
            <a:off x="954267" y="1072544"/>
            <a:ext cx="4457700" cy="866775"/>
          </a:xfrm>
          <a:prstGeom prst="rect">
            <a:avLst/>
          </a:prstGeom>
        </p:spPr>
      </p:pic>
    </p:spTree>
    <p:extLst>
      <p:ext uri="{BB962C8B-B14F-4D97-AF65-F5344CB8AC3E}">
        <p14:creationId xmlns:p14="http://schemas.microsoft.com/office/powerpoint/2010/main" val="35555577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5">
            <a:extLst>
              <a:ext uri="{FF2B5EF4-FFF2-40B4-BE49-F238E27FC236}">
                <a16:creationId xmlns:a16="http://schemas.microsoft.com/office/drawing/2014/main" id="{5ED5A2B9-8CD3-884A-7990-F95BFAB5ACAA}"/>
              </a:ext>
            </a:extLst>
          </p:cNvPr>
          <p:cNvGraphicFramePr>
            <a:graphicFrameLocks noGrp="1"/>
          </p:cNvGraphicFramePr>
          <p:nvPr>
            <p:extLst>
              <p:ext uri="{D42A27DB-BD31-4B8C-83A1-F6EECF244321}">
                <p14:modId xmlns:p14="http://schemas.microsoft.com/office/powerpoint/2010/main" val="1155171630"/>
              </p:ext>
            </p:extLst>
          </p:nvPr>
        </p:nvGraphicFramePr>
        <p:xfrm>
          <a:off x="311085" y="339365"/>
          <a:ext cx="10397764" cy="6104328"/>
        </p:xfrm>
        <a:graphic>
          <a:graphicData uri="http://schemas.openxmlformats.org/drawingml/2006/table">
            <a:tbl>
              <a:tblPr firstRow="1" bandRow="1">
                <a:tableStyleId>{2D5ABB26-0587-4C30-8999-92F81FD0307C}</a:tableStyleId>
              </a:tblPr>
              <a:tblGrid>
                <a:gridCol w="1223535">
                  <a:extLst>
                    <a:ext uri="{9D8B030D-6E8A-4147-A177-3AD203B41FA5}">
                      <a16:colId xmlns:a16="http://schemas.microsoft.com/office/drawing/2014/main" val="20000"/>
                    </a:ext>
                  </a:extLst>
                </a:gridCol>
                <a:gridCol w="1293421">
                  <a:extLst>
                    <a:ext uri="{9D8B030D-6E8A-4147-A177-3AD203B41FA5}">
                      <a16:colId xmlns:a16="http://schemas.microsoft.com/office/drawing/2014/main" val="20001"/>
                    </a:ext>
                  </a:extLst>
                </a:gridCol>
                <a:gridCol w="1366887">
                  <a:extLst>
                    <a:ext uri="{9D8B030D-6E8A-4147-A177-3AD203B41FA5}">
                      <a16:colId xmlns:a16="http://schemas.microsoft.com/office/drawing/2014/main" val="20002"/>
                    </a:ext>
                  </a:extLst>
                </a:gridCol>
                <a:gridCol w="1117622">
                  <a:extLst>
                    <a:ext uri="{9D8B030D-6E8A-4147-A177-3AD203B41FA5}">
                      <a16:colId xmlns:a16="http://schemas.microsoft.com/office/drawing/2014/main" val="20003"/>
                    </a:ext>
                  </a:extLst>
                </a:gridCol>
                <a:gridCol w="973997">
                  <a:extLst>
                    <a:ext uri="{9D8B030D-6E8A-4147-A177-3AD203B41FA5}">
                      <a16:colId xmlns:a16="http://schemas.microsoft.com/office/drawing/2014/main" val="20004"/>
                    </a:ext>
                  </a:extLst>
                </a:gridCol>
                <a:gridCol w="1206540">
                  <a:extLst>
                    <a:ext uri="{9D8B030D-6E8A-4147-A177-3AD203B41FA5}">
                      <a16:colId xmlns:a16="http://schemas.microsoft.com/office/drawing/2014/main" val="20005"/>
                    </a:ext>
                  </a:extLst>
                </a:gridCol>
                <a:gridCol w="3215762">
                  <a:extLst>
                    <a:ext uri="{9D8B030D-6E8A-4147-A177-3AD203B41FA5}">
                      <a16:colId xmlns:a16="http://schemas.microsoft.com/office/drawing/2014/main" val="20006"/>
                    </a:ext>
                  </a:extLst>
                </a:gridCol>
              </a:tblGrid>
              <a:tr h="465735">
                <a:tc rowSpan="2">
                  <a:txBody>
                    <a:bodyPr/>
                    <a:lstStyle/>
                    <a:p>
                      <a:pPr marL="260350" marR="163830" indent="-88900">
                        <a:lnSpc>
                          <a:spcPct val="143600"/>
                        </a:lnSpc>
                        <a:spcBef>
                          <a:spcPts val="1130"/>
                        </a:spcBef>
                      </a:pPr>
                      <a:r>
                        <a:rPr sz="2000" b="1" dirty="0">
                          <a:latin typeface="Times New Roman"/>
                          <a:cs typeface="Times New Roman"/>
                        </a:rPr>
                        <a:t>Bi</a:t>
                      </a:r>
                      <a:r>
                        <a:rPr sz="2000" b="1" spc="-15" dirty="0">
                          <a:latin typeface="Times New Roman"/>
                          <a:cs typeface="Times New Roman"/>
                        </a:rPr>
                        <a:t>n</a:t>
                      </a:r>
                      <a:r>
                        <a:rPr sz="2000" b="1" dirty="0">
                          <a:latin typeface="Times New Roman"/>
                          <a:cs typeface="Times New Roman"/>
                        </a:rPr>
                        <a:t>ary  code</a:t>
                      </a:r>
                      <a:endParaRPr sz="2000" b="1">
                        <a:latin typeface="Times New Roman"/>
                        <a:cs typeface="Times New Roman"/>
                      </a:endParaRPr>
                    </a:p>
                  </a:txBody>
                  <a:tcPr marL="0" marR="0" marT="143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gridSpan="6">
                  <a:txBody>
                    <a:bodyPr/>
                    <a:lstStyle/>
                    <a:p>
                      <a:pPr algn="ctr">
                        <a:lnSpc>
                          <a:spcPts val="1610"/>
                        </a:lnSpc>
                      </a:pPr>
                      <a:r>
                        <a:rPr sz="2000" b="1" spc="-5" dirty="0">
                          <a:latin typeface="Times New Roman"/>
                          <a:cs typeface="Times New Roman"/>
                        </a:rPr>
                        <a:t>Function </a:t>
                      </a:r>
                      <a:r>
                        <a:rPr sz="2000" b="1" dirty="0">
                          <a:latin typeface="Times New Roman"/>
                          <a:cs typeface="Times New Roman"/>
                        </a:rPr>
                        <a:t>of </a:t>
                      </a:r>
                      <a:r>
                        <a:rPr sz="2000" b="1" spc="-5" dirty="0">
                          <a:latin typeface="Times New Roman"/>
                          <a:cs typeface="Times New Roman"/>
                        </a:rPr>
                        <a:t>selection</a:t>
                      </a:r>
                      <a:r>
                        <a:rPr sz="2000" b="1" spc="-15" dirty="0">
                          <a:latin typeface="Times New Roman"/>
                          <a:cs typeface="Times New Roman"/>
                        </a:rPr>
                        <a:t> </a:t>
                      </a:r>
                      <a:r>
                        <a:rPr sz="2000" b="1" spc="-5" dirty="0">
                          <a:latin typeface="Times New Roman"/>
                          <a:cs typeface="Times New Roman"/>
                        </a:rPr>
                        <a:t>variable</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901152">
                <a:tc vMerge="1">
                  <a:txBody>
                    <a:bodyPr/>
                    <a:lstStyle/>
                    <a:p>
                      <a:endParaRPr/>
                    </a:p>
                  </a:txBody>
                  <a:tcPr marL="0" marR="0" marT="14351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ct val="100000"/>
                        </a:lnSpc>
                        <a:spcBef>
                          <a:spcPts val="110"/>
                        </a:spcBef>
                      </a:pPr>
                      <a:r>
                        <a:rPr sz="2000" b="1" dirty="0">
                          <a:latin typeface="Times New Roman"/>
                          <a:cs typeface="Times New Roman"/>
                        </a:rPr>
                        <a:t>A</a:t>
                      </a:r>
                      <a:endParaRPr sz="2000" b="1">
                        <a:latin typeface="Times New Roman"/>
                        <a:cs typeface="Times New Roman"/>
                      </a:endParaRPr>
                    </a:p>
                  </a:txBody>
                  <a:tcPr marL="0" marR="0" marT="139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270" algn="ctr">
                        <a:lnSpc>
                          <a:spcPts val="1610"/>
                        </a:lnSpc>
                      </a:pPr>
                      <a:r>
                        <a:rPr sz="2000" b="1" dirty="0">
                          <a:latin typeface="Times New Roman"/>
                          <a:cs typeface="Times New Roman"/>
                        </a:rPr>
                        <a: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1610"/>
                        </a:lnSpc>
                      </a:pPr>
                      <a:r>
                        <a:rPr sz="2000" b="1" dirty="0">
                          <a:latin typeface="Times New Roman"/>
                          <a:cs typeface="Times New Roman"/>
                        </a:rPr>
                        <a:t>D</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12395" marR="93345" indent="-12700">
                        <a:lnSpc>
                          <a:spcPts val="2410"/>
                        </a:lnSpc>
                        <a:spcBef>
                          <a:spcPts val="110"/>
                        </a:spcBef>
                      </a:pPr>
                      <a:r>
                        <a:rPr sz="2000" b="1" dirty="0">
                          <a:latin typeface="Times New Roman"/>
                          <a:cs typeface="Times New Roman"/>
                        </a:rPr>
                        <a:t>F</a:t>
                      </a:r>
                      <a:r>
                        <a:rPr sz="2000" b="1" spc="-75" dirty="0">
                          <a:latin typeface="Times New Roman"/>
                          <a:cs typeface="Times New Roman"/>
                        </a:rPr>
                        <a:t> </a:t>
                      </a:r>
                      <a:r>
                        <a:rPr sz="2000" b="1" spc="-5" dirty="0">
                          <a:latin typeface="Times New Roman"/>
                          <a:cs typeface="Times New Roman"/>
                        </a:rPr>
                        <a:t>with  </a:t>
                      </a:r>
                      <a:r>
                        <a:rPr sz="2000" b="1" dirty="0">
                          <a:latin typeface="Times New Roman"/>
                          <a:cs typeface="Times New Roman"/>
                        </a:rPr>
                        <a:t>Ci</a:t>
                      </a:r>
                      <a:r>
                        <a:rPr sz="2000" b="1" spc="-15" dirty="0">
                          <a:latin typeface="Times New Roman"/>
                          <a:cs typeface="Times New Roman"/>
                        </a:rPr>
                        <a:t>n</a:t>
                      </a:r>
                      <a:r>
                        <a:rPr sz="2000" b="1" spc="-10" dirty="0">
                          <a:latin typeface="Times New Roman"/>
                          <a:cs typeface="Times New Roman"/>
                        </a:rPr>
                        <a:t>=</a:t>
                      </a:r>
                      <a:r>
                        <a:rPr sz="2000" b="1" dirty="0">
                          <a:latin typeface="Times New Roman"/>
                          <a:cs typeface="Times New Roman"/>
                        </a:rPr>
                        <a:t>0</a:t>
                      </a:r>
                      <a:endParaRPr sz="2000" b="1">
                        <a:latin typeface="Times New Roman"/>
                        <a:cs typeface="Times New Roman"/>
                      </a:endParaRPr>
                    </a:p>
                  </a:txBody>
                  <a:tcPr marL="0" marR="0" marT="139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194945" marR="175895" indent="-12700">
                        <a:lnSpc>
                          <a:spcPts val="2410"/>
                        </a:lnSpc>
                        <a:spcBef>
                          <a:spcPts val="110"/>
                        </a:spcBef>
                      </a:pPr>
                      <a:r>
                        <a:rPr sz="2000" b="1" dirty="0">
                          <a:latin typeface="Times New Roman"/>
                          <a:cs typeface="Times New Roman"/>
                        </a:rPr>
                        <a:t>F</a:t>
                      </a:r>
                      <a:r>
                        <a:rPr sz="2000" b="1" spc="-75" dirty="0">
                          <a:latin typeface="Times New Roman"/>
                          <a:cs typeface="Times New Roman"/>
                        </a:rPr>
                        <a:t> </a:t>
                      </a:r>
                      <a:r>
                        <a:rPr sz="2000" b="1" spc="-5" dirty="0">
                          <a:latin typeface="Times New Roman"/>
                          <a:cs typeface="Times New Roman"/>
                        </a:rPr>
                        <a:t>with  </a:t>
                      </a:r>
                      <a:r>
                        <a:rPr sz="2000" b="1" dirty="0">
                          <a:latin typeface="Times New Roman"/>
                          <a:cs typeface="Times New Roman"/>
                        </a:rPr>
                        <a:t>Ci</a:t>
                      </a:r>
                      <a:r>
                        <a:rPr sz="2000" b="1" spc="-15" dirty="0">
                          <a:latin typeface="Times New Roman"/>
                          <a:cs typeface="Times New Roman"/>
                        </a:rPr>
                        <a:t>n</a:t>
                      </a:r>
                      <a:r>
                        <a:rPr sz="2000" b="1" spc="-10" dirty="0">
                          <a:latin typeface="Times New Roman"/>
                          <a:cs typeface="Times New Roman"/>
                        </a:rPr>
                        <a:t>=</a:t>
                      </a:r>
                      <a:r>
                        <a:rPr sz="2000" b="1" dirty="0">
                          <a:latin typeface="Times New Roman"/>
                          <a:cs typeface="Times New Roman"/>
                        </a:rPr>
                        <a:t>1</a:t>
                      </a:r>
                      <a:endParaRPr sz="2000" b="1">
                        <a:latin typeface="Times New Roman"/>
                        <a:cs typeface="Times New Roman"/>
                      </a:endParaRPr>
                    </a:p>
                  </a:txBody>
                  <a:tcPr marL="0" marR="0" marT="1397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nSpc>
                          <a:spcPct val="100000"/>
                        </a:lnSpc>
                      </a:pPr>
                      <a:endParaRPr sz="2000" b="1">
                        <a:latin typeface="Times New Roman"/>
                        <a:cs typeface="Times New Roman"/>
                      </a:endParaRPr>
                    </a:p>
                    <a:p>
                      <a:pPr algn="ctr">
                        <a:lnSpc>
                          <a:spcPct val="100000"/>
                        </a:lnSpc>
                      </a:pPr>
                      <a:r>
                        <a:rPr sz="2000" b="1" dirty="0">
                          <a:latin typeface="Times New Roman"/>
                          <a:cs typeface="Times New Roman"/>
                        </a:rPr>
                        <a:t>H</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468009">
                <a:tc>
                  <a:txBody>
                    <a:bodyPr/>
                    <a:lstStyle/>
                    <a:p>
                      <a:pPr marL="67945">
                        <a:lnSpc>
                          <a:spcPts val="1625"/>
                        </a:lnSpc>
                      </a:pPr>
                      <a:r>
                        <a:rPr sz="2000" b="1" spc="-5" dirty="0">
                          <a:latin typeface="Times New Roman"/>
                          <a:cs typeface="Times New Roman"/>
                        </a:rPr>
                        <a:t>000</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390"/>
                        </a:lnSpc>
                      </a:pPr>
                      <a:r>
                        <a:rPr sz="2000" b="1" spc="-5" dirty="0">
                          <a:latin typeface="Times New Roman"/>
                          <a:cs typeface="Times New Roman"/>
                        </a:rPr>
                        <a:t>Input</a:t>
                      </a:r>
                      <a:r>
                        <a:rPr sz="2000" b="1" spc="-25" dirty="0">
                          <a:latin typeface="Times New Roman"/>
                          <a:cs typeface="Times New Roman"/>
                        </a:rPr>
                        <a:t> </a:t>
                      </a:r>
                      <a:r>
                        <a:rPr sz="2000" b="1" dirty="0">
                          <a:latin typeface="Times New Roman"/>
                          <a:cs typeface="Times New Roman"/>
                        </a:rPr>
                        <a:t>data</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390"/>
                        </a:lnSpc>
                      </a:pPr>
                      <a:r>
                        <a:rPr sz="2000" b="1" spc="-5" dirty="0">
                          <a:latin typeface="Times New Roman"/>
                          <a:cs typeface="Times New Roman"/>
                        </a:rPr>
                        <a:t>Input</a:t>
                      </a:r>
                      <a:r>
                        <a:rPr sz="2000" b="1" spc="-25" dirty="0">
                          <a:latin typeface="Times New Roman"/>
                          <a:cs typeface="Times New Roman"/>
                        </a:rPr>
                        <a:t> </a:t>
                      </a:r>
                      <a:r>
                        <a:rPr sz="2000" b="1" dirty="0">
                          <a:latin typeface="Times New Roman"/>
                          <a:cs typeface="Times New Roman"/>
                        </a:rPr>
                        <a:t>data</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spc="-5" dirty="0">
                          <a:latin typeface="Times New Roman"/>
                          <a:cs typeface="Times New Roman"/>
                        </a:rPr>
                        <a:t>None</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 dirty="0">
                          <a:latin typeface="Times New Roman"/>
                          <a:cs typeface="Times New Roman"/>
                        </a:rPr>
                        <a:t>A,C</a:t>
                      </a:r>
                      <a:r>
                        <a:rPr sz="2000" b="1" spc="-5" dirty="0">
                          <a:latin typeface="Wingdings"/>
                          <a:cs typeface="Wingdings"/>
                        </a:rPr>
                        <a:t></a:t>
                      </a:r>
                      <a:r>
                        <a:rPr sz="2000" b="1" spc="-5" dirty="0">
                          <a:latin typeface="Times New Roman"/>
                          <a:cs typeface="Times New Roman"/>
                        </a:rPr>
                        <a:t>0</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spc="-5" dirty="0">
                          <a:latin typeface="Times New Roman"/>
                          <a:cs typeface="Times New Roman"/>
                        </a:rPr>
                        <a:t>A+1</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dirty="0">
                          <a:latin typeface="Times New Roman"/>
                          <a:cs typeface="Times New Roman"/>
                        </a:rPr>
                        <a:t>No</a:t>
                      </a:r>
                      <a:r>
                        <a:rPr sz="2000" b="1" spc="-25" dirty="0">
                          <a:latin typeface="Times New Roman"/>
                          <a:cs typeface="Times New Roman"/>
                        </a:rPr>
                        <a:t> </a:t>
                      </a:r>
                      <a:r>
                        <a:rPr sz="2000" b="1" spc="-5" dirty="0">
                          <a:latin typeface="Times New Roman"/>
                          <a:cs typeface="Times New Roman"/>
                        </a:rPr>
                        <a:t>shift</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466304">
                <a:tc>
                  <a:txBody>
                    <a:bodyPr/>
                    <a:lstStyle/>
                    <a:p>
                      <a:pPr marL="67945">
                        <a:lnSpc>
                          <a:spcPts val="1610"/>
                        </a:lnSpc>
                      </a:pPr>
                      <a:r>
                        <a:rPr sz="2000" b="1" spc="-5" dirty="0">
                          <a:latin typeface="Times New Roman"/>
                          <a:cs typeface="Times New Roman"/>
                        </a:rPr>
                        <a:t>001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R1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A+B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A+B+1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Shift </a:t>
                      </a:r>
                      <a:r>
                        <a:rPr sz="2000" b="1" spc="-10" dirty="0">
                          <a:latin typeface="Times New Roman"/>
                          <a:cs typeface="Times New Roman"/>
                        </a:rPr>
                        <a:t>right</a:t>
                      </a:r>
                      <a:r>
                        <a:rPr lang="en-US" sz="2000" b="1" spc="-10" dirty="0">
                          <a:latin typeface="Times New Roman"/>
                          <a:cs typeface="Times New Roman"/>
                        </a:rPr>
                        <a:t>. I</a:t>
                      </a:r>
                      <a:r>
                        <a:rPr lang="en-US" sz="2000" b="1" spc="-10" baseline="-25000" dirty="0">
                          <a:latin typeface="Times New Roman"/>
                          <a:cs typeface="Times New Roman"/>
                        </a:rPr>
                        <a:t>R</a:t>
                      </a:r>
                      <a:r>
                        <a:rPr lang="en-US" sz="2000" b="1" spc="-10" dirty="0">
                          <a:latin typeface="Times New Roman"/>
                          <a:cs typeface="Times New Roman"/>
                        </a:rPr>
                        <a:t>=0</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468009">
                <a:tc>
                  <a:txBody>
                    <a:bodyPr/>
                    <a:lstStyle/>
                    <a:p>
                      <a:pPr marL="67945">
                        <a:lnSpc>
                          <a:spcPts val="1610"/>
                        </a:lnSpc>
                      </a:pPr>
                      <a:r>
                        <a:rPr sz="2000" b="1" spc="-5" dirty="0">
                          <a:latin typeface="Times New Roman"/>
                          <a:cs typeface="Times New Roman"/>
                        </a:rPr>
                        <a:t>010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R2</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R2</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R2</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A-B-1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A-B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Shift</a:t>
                      </a:r>
                      <a:r>
                        <a:rPr sz="2000" b="1" spc="-25" dirty="0">
                          <a:latin typeface="Times New Roman"/>
                          <a:cs typeface="Times New Roman"/>
                        </a:rPr>
                        <a:t> </a:t>
                      </a:r>
                      <a:r>
                        <a:rPr sz="2000" b="1" dirty="0">
                          <a:latin typeface="Times New Roman"/>
                          <a:cs typeface="Times New Roman"/>
                        </a:rPr>
                        <a:t>left</a:t>
                      </a:r>
                      <a:r>
                        <a:rPr lang="en-US" sz="2000" b="1" dirty="0">
                          <a:latin typeface="Times New Roman"/>
                          <a:cs typeface="Times New Roman"/>
                        </a:rPr>
                        <a:t>. I</a:t>
                      </a:r>
                      <a:r>
                        <a:rPr lang="en-US" sz="2000" b="1" baseline="-25000" dirty="0">
                          <a:latin typeface="Times New Roman"/>
                          <a:cs typeface="Times New Roman"/>
                        </a:rPr>
                        <a:t>L</a:t>
                      </a:r>
                      <a:r>
                        <a:rPr lang="en-US" sz="2000" b="1" dirty="0">
                          <a:latin typeface="Times New Roman"/>
                          <a:cs typeface="Times New Roman"/>
                        </a:rPr>
                        <a:t>=0</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r h="465735">
                <a:tc>
                  <a:txBody>
                    <a:bodyPr/>
                    <a:lstStyle/>
                    <a:p>
                      <a:pPr marL="67945">
                        <a:lnSpc>
                          <a:spcPts val="1610"/>
                        </a:lnSpc>
                      </a:pPr>
                      <a:r>
                        <a:rPr sz="2000" b="1" spc="-5" dirty="0">
                          <a:latin typeface="Times New Roman"/>
                          <a:cs typeface="Times New Roman"/>
                        </a:rPr>
                        <a:t>011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R3</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R3</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R3</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A-1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A,C</a:t>
                      </a:r>
                      <a:r>
                        <a:rPr sz="2000" b="1" dirty="0">
                          <a:latin typeface="Wingdings"/>
                          <a:cs typeface="Wingdings"/>
                        </a:rPr>
                        <a:t></a:t>
                      </a:r>
                      <a:r>
                        <a:rPr sz="2000" b="1" dirty="0">
                          <a:latin typeface="Times New Roman"/>
                          <a:cs typeface="Times New Roman"/>
                        </a:rPr>
                        <a:t>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0’s to </a:t>
                      </a:r>
                      <a:r>
                        <a:rPr sz="2000" b="1" spc="-5" dirty="0">
                          <a:latin typeface="Times New Roman"/>
                          <a:cs typeface="Times New Roman"/>
                        </a:rPr>
                        <a:t>o/p</a:t>
                      </a:r>
                      <a:r>
                        <a:rPr sz="2000" b="1" spc="-80" dirty="0">
                          <a:latin typeface="Times New Roman"/>
                          <a:cs typeface="Times New Roman"/>
                        </a:rPr>
                        <a:t> </a:t>
                      </a:r>
                      <a:r>
                        <a:rPr sz="2000" b="1" spc="-5" dirty="0">
                          <a:latin typeface="Times New Roman"/>
                          <a:cs typeface="Times New Roman"/>
                        </a:rPr>
                        <a:t>bus</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5"/>
                  </a:ext>
                </a:extLst>
              </a:tr>
              <a:tr h="465738">
                <a:tc>
                  <a:txBody>
                    <a:bodyPr/>
                    <a:lstStyle/>
                    <a:p>
                      <a:pPr marL="67945">
                        <a:lnSpc>
                          <a:spcPts val="1610"/>
                        </a:lnSpc>
                      </a:pPr>
                      <a:r>
                        <a:rPr sz="2000" b="1" spc="-5" dirty="0">
                          <a:latin typeface="Times New Roman"/>
                          <a:cs typeface="Times New Roman"/>
                        </a:rPr>
                        <a:t>100</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R4</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R4</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R4</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AVB</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6"/>
                  </a:ext>
                </a:extLst>
              </a:tr>
              <a:tr h="924657">
                <a:tc>
                  <a:txBody>
                    <a:bodyPr/>
                    <a:lstStyle/>
                    <a:p>
                      <a:pPr marL="67945">
                        <a:lnSpc>
                          <a:spcPts val="1625"/>
                        </a:lnSpc>
                      </a:pPr>
                      <a:r>
                        <a:rPr sz="2000" b="1" spc="-5" dirty="0">
                          <a:latin typeface="Times New Roman"/>
                          <a:cs typeface="Times New Roman"/>
                        </a:rPr>
                        <a:t>101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 dirty="0">
                          <a:latin typeface="Times New Roman"/>
                          <a:cs typeface="Times New Roman"/>
                        </a:rPr>
                        <a:t>R5</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spc="-5" dirty="0">
                          <a:latin typeface="Times New Roman"/>
                          <a:cs typeface="Times New Roman"/>
                        </a:rPr>
                        <a:t>R5</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spc="-5" dirty="0">
                          <a:latin typeface="Times New Roman"/>
                          <a:cs typeface="Times New Roman"/>
                        </a:rPr>
                        <a:t>R5</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5" dirty="0">
                          <a:latin typeface="Times New Roman"/>
                          <a:cs typeface="Times New Roman"/>
                        </a:rPr>
                        <a:t>A</a:t>
                      </a:r>
                      <a:r>
                        <a:rPr sz="2000" b="1" spc="-55" dirty="0">
                          <a:latin typeface="DejaVu Sans"/>
                          <a:cs typeface="DejaVu Sans"/>
                        </a:rPr>
                        <a:t>⨁</a:t>
                      </a:r>
                      <a:r>
                        <a:rPr sz="2000" b="1" spc="-55" dirty="0">
                          <a:latin typeface="Times New Roman"/>
                          <a:cs typeface="Times New Roman"/>
                        </a:rPr>
                        <a:t>B</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dirty="0">
                          <a:latin typeface="Times New Roman"/>
                          <a:cs typeface="Times New Roman"/>
                        </a:rPr>
                        <a:t>……….</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 dirty="0">
                          <a:latin typeface="Times New Roman"/>
                          <a:cs typeface="Times New Roman"/>
                        </a:rPr>
                        <a:t>C</a:t>
                      </a:r>
                      <a:r>
                        <a:rPr lang="en-US" sz="2000" b="1" spc="-5" dirty="0">
                          <a:latin typeface="Times New Roman"/>
                          <a:cs typeface="Times New Roman"/>
                        </a:rPr>
                        <a:t>ir</a:t>
                      </a:r>
                      <a:r>
                        <a:rPr sz="2000" b="1" spc="-5" dirty="0">
                          <a:latin typeface="Times New Roman"/>
                          <a:cs typeface="Times New Roman"/>
                        </a:rPr>
                        <a:t>culate</a:t>
                      </a:r>
                      <a:r>
                        <a:rPr sz="2000" b="1" spc="50" dirty="0">
                          <a:latin typeface="Times New Roman"/>
                          <a:cs typeface="Times New Roman"/>
                        </a:rPr>
                        <a:t> </a:t>
                      </a:r>
                      <a:r>
                        <a:rPr sz="2000" b="1" spc="-10" dirty="0">
                          <a:latin typeface="Times New Roman"/>
                          <a:cs typeface="Times New Roman"/>
                        </a:rPr>
                        <a:t>right</a:t>
                      </a:r>
                      <a:r>
                        <a:rPr lang="en-US" sz="2000" b="1" spc="-10" dirty="0">
                          <a:latin typeface="Times New Roman"/>
                          <a:cs typeface="Times New Roman"/>
                        </a:rPr>
                        <a:t>  w</a:t>
                      </a:r>
                      <a:r>
                        <a:rPr sz="2000" b="1" spc="-5" dirty="0">
                          <a:latin typeface="Times New Roman"/>
                          <a:cs typeface="Times New Roman"/>
                        </a:rPr>
                        <a:t>ith </a:t>
                      </a:r>
                      <a:r>
                        <a:rPr sz="2000" b="1" dirty="0">
                          <a:latin typeface="Times New Roman"/>
                          <a:cs typeface="Times New Roman"/>
                        </a:rPr>
                        <a:t>C</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7"/>
                  </a:ext>
                </a:extLst>
              </a:tr>
              <a:tr h="465738">
                <a:tc>
                  <a:txBody>
                    <a:bodyPr/>
                    <a:lstStyle/>
                    <a:p>
                      <a:pPr marL="67945">
                        <a:lnSpc>
                          <a:spcPts val="1610"/>
                        </a:lnSpc>
                      </a:pPr>
                      <a:r>
                        <a:rPr sz="2000" b="1" spc="-5" dirty="0">
                          <a:latin typeface="Times New Roman"/>
                          <a:cs typeface="Times New Roman"/>
                        </a:rPr>
                        <a:t>101</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spc="-5" dirty="0">
                          <a:latin typeface="Times New Roman"/>
                          <a:cs typeface="Times New Roman"/>
                        </a:rPr>
                        <a:t>R6</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R6</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spc="-5" dirty="0">
                          <a:latin typeface="Times New Roman"/>
                          <a:cs typeface="Times New Roman"/>
                        </a:rPr>
                        <a:t>R6</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tabLst>
                          <a:tab pos="365125" algn="l"/>
                        </a:tabLst>
                      </a:pPr>
                      <a:r>
                        <a:rPr sz="2000" b="1" dirty="0">
                          <a:latin typeface="Times New Roman"/>
                          <a:cs typeface="Times New Roman"/>
                        </a:rPr>
                        <a:t>A</a:t>
                      </a:r>
                      <a:r>
                        <a:rPr lang="en-US" sz="2000" b="1" dirty="0">
                          <a:latin typeface="Times New Roman"/>
                          <a:cs typeface="Times New Roman"/>
                        </a:rPr>
                        <a:t>Ʌ</a:t>
                      </a:r>
                      <a:r>
                        <a:rPr sz="2000" b="1" dirty="0">
                          <a:latin typeface="Times New Roman"/>
                          <a:cs typeface="Times New Roman"/>
                        </a:rPr>
                        <a:t>B</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10"/>
                        </a:lnSpc>
                      </a:pPr>
                      <a:r>
                        <a:rPr sz="2000" b="1" dirty="0">
                          <a:latin typeface="Times New Roman"/>
                          <a:cs typeface="Times New Roman"/>
                        </a:rPr>
                        <a:t>………</a:t>
                      </a:r>
                      <a:endParaRPr sz="2000" b="1">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10"/>
                        </a:lnSpc>
                      </a:pPr>
                      <a:r>
                        <a:rPr sz="2000" b="1" dirty="0">
                          <a:latin typeface="Times New Roman"/>
                          <a:cs typeface="Times New Roman"/>
                        </a:rPr>
                        <a: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8"/>
                  </a:ext>
                </a:extLst>
              </a:tr>
              <a:tr h="1013251">
                <a:tc>
                  <a:txBody>
                    <a:bodyPr/>
                    <a:lstStyle/>
                    <a:p>
                      <a:pPr marL="67945">
                        <a:lnSpc>
                          <a:spcPts val="1625"/>
                        </a:lnSpc>
                      </a:pPr>
                      <a:r>
                        <a:rPr sz="2000" b="1" spc="-5" dirty="0">
                          <a:latin typeface="Times New Roman"/>
                          <a:cs typeface="Times New Roman"/>
                        </a:rPr>
                        <a:t>111</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 dirty="0">
                          <a:latin typeface="Times New Roman"/>
                          <a:cs typeface="Times New Roman"/>
                        </a:rPr>
                        <a:t>R7</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spc="-5" dirty="0">
                          <a:latin typeface="Times New Roman"/>
                          <a:cs typeface="Times New Roman"/>
                        </a:rPr>
                        <a:t>R7</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spc="-5" dirty="0">
                          <a:latin typeface="Times New Roman"/>
                          <a:cs typeface="Times New Roman"/>
                        </a:rPr>
                        <a:t>R7</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 dirty="0">
                          <a:latin typeface="Times New Roman"/>
                          <a:cs typeface="Times New Roman"/>
                        </a:rPr>
                        <a:t>A’</a:t>
                      </a:r>
                      <a:endParaRPr sz="2000" b="1" dirty="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8580">
                        <a:lnSpc>
                          <a:spcPts val="1625"/>
                        </a:lnSpc>
                      </a:pPr>
                      <a:r>
                        <a:rPr sz="2000" b="1" dirty="0">
                          <a:latin typeface="Times New Roman"/>
                          <a:cs typeface="Times New Roman"/>
                        </a:rPr>
                        <a:t>………..</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67945">
                        <a:lnSpc>
                          <a:spcPts val="1625"/>
                        </a:lnSpc>
                      </a:pPr>
                      <a:r>
                        <a:rPr sz="2000" b="1" spc="-5" dirty="0">
                          <a:latin typeface="Times New Roman"/>
                          <a:cs typeface="Times New Roman"/>
                        </a:rPr>
                        <a:t>C</a:t>
                      </a:r>
                      <a:r>
                        <a:rPr lang="en-US" sz="2000" b="1" spc="-5" dirty="0">
                          <a:latin typeface="Times New Roman"/>
                          <a:cs typeface="Times New Roman"/>
                        </a:rPr>
                        <a:t>ir</a:t>
                      </a:r>
                      <a:r>
                        <a:rPr sz="2000" b="1" spc="-5" dirty="0">
                          <a:latin typeface="Times New Roman"/>
                          <a:cs typeface="Times New Roman"/>
                        </a:rPr>
                        <a:t>culate</a:t>
                      </a:r>
                      <a:r>
                        <a:rPr sz="2000" b="1" spc="-30" dirty="0">
                          <a:latin typeface="Times New Roman"/>
                          <a:cs typeface="Times New Roman"/>
                        </a:rPr>
                        <a:t> </a:t>
                      </a:r>
                      <a:r>
                        <a:rPr sz="2000" b="1" spc="-5" dirty="0">
                          <a:latin typeface="Times New Roman"/>
                          <a:cs typeface="Times New Roman"/>
                        </a:rPr>
                        <a:t>left</a:t>
                      </a:r>
                      <a:r>
                        <a:rPr lang="en-US" sz="2000" b="1" spc="-5" dirty="0">
                          <a:latin typeface="Times New Roman"/>
                          <a:cs typeface="Times New Roman"/>
                        </a:rPr>
                        <a:t> </a:t>
                      </a:r>
                      <a:r>
                        <a:rPr sz="2000" b="1" spc="-5" dirty="0">
                          <a:latin typeface="Times New Roman"/>
                          <a:cs typeface="Times New Roman"/>
                        </a:rPr>
                        <a:t>with </a:t>
                      </a:r>
                      <a:r>
                        <a:rPr sz="2000" b="1" dirty="0">
                          <a:latin typeface="Times New Roman"/>
                          <a:cs typeface="Times New Roman"/>
                        </a:rPr>
                        <a:t>C</a:t>
                      </a: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0868310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194" y="304800"/>
            <a:ext cx="11331018" cy="6248400"/>
          </a:xfrm>
        </p:spPr>
        <p:txBody>
          <a:bodyPr>
            <a:normAutofit/>
          </a:bodyPr>
          <a:lstStyle/>
          <a:p>
            <a:pPr>
              <a:buFont typeface="Wingdings" pitchFamily="2" charset="2"/>
              <a:buChar char="Ø"/>
            </a:pPr>
            <a:r>
              <a:rPr lang="en-US" sz="2400" dirty="0">
                <a:latin typeface="Times New Roman" panose="02020603050405020304" pitchFamily="18" charset="0"/>
                <a:cs typeface="Times New Roman" panose="02020603050405020304" pitchFamily="18" charset="0"/>
              </a:rPr>
              <a:t>The register selected by A, B, and D is the one whose decimal number is equivalent to the binary number in the code. </a:t>
            </a:r>
          </a:p>
          <a:p>
            <a:pPr>
              <a:buFont typeface="Wingdings" pitchFamily="2" charset="2"/>
              <a:buChar char="Ø"/>
            </a:pPr>
            <a:r>
              <a:rPr lang="en-US" sz="2400" dirty="0">
                <a:latin typeface="Times New Roman" panose="02020603050405020304" pitchFamily="18" charset="0"/>
                <a:cs typeface="Times New Roman" panose="02020603050405020304" pitchFamily="18" charset="0"/>
              </a:rPr>
              <a:t>When the A or B field is 000, the corresponding multiplexer selects the input data. </a:t>
            </a:r>
          </a:p>
          <a:p>
            <a:pPr>
              <a:buFont typeface="Wingdings" pitchFamily="2" charset="2"/>
              <a:buChar char="Ø"/>
            </a:pPr>
            <a:r>
              <a:rPr lang="en-US" sz="2400" dirty="0">
                <a:latin typeface="Times New Roman" panose="02020603050405020304" pitchFamily="18" charset="0"/>
                <a:cs typeface="Times New Roman" panose="02020603050405020304" pitchFamily="18" charset="0"/>
              </a:rPr>
              <a:t> When D = 000, no destination register is selected. </a:t>
            </a:r>
          </a:p>
          <a:p>
            <a:pPr>
              <a:buFont typeface="Wingdings" pitchFamily="2" charset="2"/>
              <a:buChar char="Ø"/>
            </a:pPr>
            <a:r>
              <a:rPr lang="en-US" sz="2400" dirty="0">
                <a:latin typeface="Times New Roman" panose="02020603050405020304" pitchFamily="18" charset="0"/>
                <a:cs typeface="Times New Roman" panose="02020603050405020304" pitchFamily="18" charset="0"/>
              </a:rPr>
              <a:t>The 3 bits in the F field, together with the input carry </a:t>
            </a:r>
            <a:r>
              <a:rPr lang="en-US" sz="2400" dirty="0" err="1">
                <a:latin typeface="Times New Roman" panose="02020603050405020304" pitchFamily="18" charset="0"/>
                <a:cs typeface="Times New Roman" panose="02020603050405020304" pitchFamily="18" charset="0"/>
              </a:rPr>
              <a:t>Cin</a:t>
            </a:r>
            <a:r>
              <a:rPr lang="en-US" sz="2400" dirty="0">
                <a:latin typeface="Times New Roman" panose="02020603050405020304" pitchFamily="18" charset="0"/>
                <a:cs typeface="Times New Roman" panose="02020603050405020304" pitchFamily="18" charset="0"/>
              </a:rPr>
              <a:t>, provide the 12 operations of the ALU. </a:t>
            </a:r>
          </a:p>
          <a:p>
            <a:pPr>
              <a:buFont typeface="Wingdings" pitchFamily="2" charset="2"/>
              <a:buChar char="Ø"/>
            </a:pPr>
            <a:r>
              <a:rPr lang="en-US" sz="2400" dirty="0">
                <a:latin typeface="Times New Roman" panose="02020603050405020304" pitchFamily="18" charset="0"/>
                <a:cs typeface="Times New Roman" panose="02020603050405020304" pitchFamily="18" charset="0"/>
              </a:rPr>
              <a:t>A control word of 16 bits is needed to specify a microoperation for the processor unit. </a:t>
            </a:r>
          </a:p>
          <a:p>
            <a:pPr>
              <a:buFont typeface="Wingdings" pitchFamily="2" charset="2"/>
              <a:buChar char="Ø"/>
            </a:pPr>
            <a:r>
              <a:rPr lang="en-US" sz="2400" dirty="0">
                <a:latin typeface="Times New Roman" panose="02020603050405020304" pitchFamily="18" charset="0"/>
                <a:cs typeface="Times New Roman" panose="02020603050405020304" pitchFamily="18" charset="0"/>
              </a:rPr>
              <a:t> The most efficient way to is to store them in a memory unit which functions as a control memory. </a:t>
            </a:r>
          </a:p>
          <a:p>
            <a:pPr>
              <a:buFont typeface="Wingdings" pitchFamily="2" charset="2"/>
              <a:buChar char="Ø"/>
            </a:pPr>
            <a:r>
              <a:rPr lang="en-US" sz="2400" dirty="0">
                <a:latin typeface="Times New Roman" panose="02020603050405020304" pitchFamily="18" charset="0"/>
                <a:cs typeface="Times New Roman" panose="02020603050405020304" pitchFamily="18" charset="0"/>
              </a:rPr>
              <a:t> The sequence of control words is then read from the control memory, one word at a time, to initiate the desired sequence of </a:t>
            </a:r>
            <a:r>
              <a:rPr lang="en-US" sz="2400" dirty="0" err="1">
                <a:latin typeface="Times New Roman" panose="02020603050405020304" pitchFamily="18" charset="0"/>
                <a:cs typeface="Times New Roman" panose="02020603050405020304" pitchFamily="18" charset="0"/>
              </a:rPr>
              <a:t>microoperations</a:t>
            </a:r>
            <a:r>
              <a:rPr lang="en-US" sz="2400" dirty="0">
                <a:latin typeface="Times New Roman" panose="02020603050405020304" pitchFamily="18" charset="0"/>
                <a:cs typeface="Times New Roman" panose="02020603050405020304" pitchFamily="18" charset="0"/>
              </a:rPr>
              <a:t>. </a:t>
            </a:r>
          </a:p>
          <a:p>
            <a:pPr>
              <a:buFont typeface="Wingdings" pitchFamily="2" charset="2"/>
              <a:buChar char="Ø"/>
            </a:pPr>
            <a:r>
              <a:rPr lang="en-US" sz="2400" dirty="0">
                <a:latin typeface="Times New Roman" panose="02020603050405020304" pitchFamily="18" charset="0"/>
                <a:cs typeface="Times New Roman" panose="02020603050405020304" pitchFamily="18" charset="0"/>
              </a:rPr>
              <a:t>-This type of control organization is called Microprogramming. </a:t>
            </a:r>
          </a:p>
          <a:p>
            <a:pPr>
              <a:buFont typeface="Wingdings"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01685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6755" y="533400"/>
            <a:ext cx="11236750" cy="5715000"/>
          </a:xfrm>
        </p:spPr>
        <p:txBody>
          <a:bodyPr>
            <a:normAutofit/>
          </a:bodyPr>
          <a:lstStyle/>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Many </a:t>
            </a:r>
            <a:r>
              <a:rPr lang="en-US" sz="2400" dirty="0" err="1">
                <a:latin typeface="Times New Roman" panose="02020603050405020304" pitchFamily="18" charset="0"/>
                <a:cs typeface="Times New Roman" panose="02020603050405020304" pitchFamily="18" charset="0"/>
              </a:rPr>
              <a:t>microoperations</a:t>
            </a:r>
            <a:r>
              <a:rPr lang="en-US" sz="2400" dirty="0">
                <a:latin typeface="Times New Roman" panose="02020603050405020304" pitchFamily="18" charset="0"/>
                <a:cs typeface="Times New Roman" panose="02020603050405020304" pitchFamily="18" charset="0"/>
              </a:rPr>
              <a:t> can be generated in the processor unit by different variety of control words.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 control word for each </a:t>
            </a:r>
            <a:r>
              <a:rPr lang="en-US" sz="2400" dirty="0" err="1">
                <a:latin typeface="Times New Roman" panose="02020603050405020304" pitchFamily="18" charset="0"/>
                <a:cs typeface="Times New Roman" panose="02020603050405020304" pitchFamily="18" charset="0"/>
              </a:rPr>
              <a:t>microoperation</a:t>
            </a:r>
            <a:r>
              <a:rPr lang="en-US" sz="2400" dirty="0">
                <a:latin typeface="Times New Roman" panose="02020603050405020304" pitchFamily="18" charset="0"/>
                <a:cs typeface="Times New Roman" panose="02020603050405020304" pitchFamily="18" charset="0"/>
              </a:rPr>
              <a:t> is derived from the function table of the processor.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 processor unit with a complete set of </a:t>
            </a:r>
            <a:r>
              <a:rPr lang="en-US" sz="2400" dirty="0" err="1">
                <a:latin typeface="Times New Roman" panose="02020603050405020304" pitchFamily="18" charset="0"/>
                <a:cs typeface="Times New Roman" panose="02020603050405020304" pitchFamily="18" charset="0"/>
              </a:rPr>
              <a:t>microoperations</a:t>
            </a:r>
            <a:r>
              <a:rPr lang="en-US" sz="2400" dirty="0">
                <a:latin typeface="Times New Roman" panose="02020603050405020304" pitchFamily="18" charset="0"/>
                <a:cs typeface="Times New Roman" panose="02020603050405020304" pitchFamily="18" charset="0"/>
              </a:rPr>
              <a:t> is a general-purpose device that can be adapted for many applications.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register-transfer method is a convenient tool for specifying the operations.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sequence of control words for the system is stored in a control memory.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The output of the control memory is applied to the selection variables of the processor. </a:t>
            </a:r>
          </a:p>
          <a:p>
            <a:pP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By reading consecutive control words from memory, it is possible to sequence the </a:t>
            </a:r>
            <a:r>
              <a:rPr lang="en-US" sz="2400" dirty="0" err="1">
                <a:latin typeface="Times New Roman" panose="02020603050405020304" pitchFamily="18" charset="0"/>
                <a:cs typeface="Times New Roman" panose="02020603050405020304" pitchFamily="18" charset="0"/>
              </a:rPr>
              <a:t>microoperations</a:t>
            </a:r>
            <a:r>
              <a:rPr lang="en-US" sz="2400" dirty="0">
                <a:latin typeface="Times New Roman" panose="02020603050405020304" pitchFamily="18" charset="0"/>
                <a:cs typeface="Times New Roman" panose="02020603050405020304" pitchFamily="18" charset="0"/>
              </a:rPr>
              <a:t> in the processor. </a:t>
            </a:r>
          </a:p>
          <a:p>
            <a:pP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6978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70550"/>
          </a:xfrm>
        </p:spPr>
        <p:txBody>
          <a:bodyPr>
            <a:normAutofit fontScale="90000"/>
          </a:bodyPr>
          <a:lstStyle/>
          <a:p>
            <a:r>
              <a:rPr lang="en-US" dirty="0"/>
              <a:t>Ex:</a:t>
            </a:r>
          </a:p>
        </p:txBody>
      </p:sp>
      <p:pic>
        <p:nvPicPr>
          <p:cNvPr id="5" name="Picture 4" descr="Screen Clippi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9158" y="735674"/>
            <a:ext cx="10393836" cy="5988879"/>
          </a:xfrm>
          <a:prstGeom prst="rect">
            <a:avLst/>
          </a:prstGeom>
        </p:spPr>
      </p:pic>
    </p:spTree>
    <p:extLst>
      <p:ext uri="{BB962C8B-B14F-4D97-AF65-F5344CB8AC3E}">
        <p14:creationId xmlns:p14="http://schemas.microsoft.com/office/powerpoint/2010/main" val="37491933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053B55-005D-0A1E-86D2-F33764E9EDD3}"/>
              </a:ext>
            </a:extLst>
          </p:cNvPr>
          <p:cNvSpPr>
            <a:spLocks noGrp="1"/>
          </p:cNvSpPr>
          <p:nvPr>
            <p:ph idx="1"/>
          </p:nvPr>
        </p:nvSpPr>
        <p:spPr>
          <a:xfrm>
            <a:off x="151148" y="443060"/>
            <a:ext cx="5944852" cy="5733903"/>
          </a:xfrm>
        </p:spPr>
        <p:txBody>
          <a:bodyPr>
            <a:normAutofit fontScale="85000" lnSpcReduction="10000"/>
          </a:bodyPr>
          <a:lstStyle/>
          <a:p>
            <a:pPr marL="0" indent="0">
              <a:buNone/>
            </a:pPr>
            <a:r>
              <a:rPr lang="en-US" sz="3400" b="1" dirty="0"/>
              <a:t>Design of accumulator</a:t>
            </a:r>
          </a:p>
          <a:p>
            <a:endParaRPr lang="en-US" sz="2400" dirty="0"/>
          </a:p>
          <a:p>
            <a:r>
              <a:rPr lang="en-US" sz="2800" dirty="0"/>
              <a:t>Special register - </a:t>
            </a:r>
            <a:r>
              <a:rPr lang="en-US" sz="2800" b="1" dirty="0"/>
              <a:t>Accumulator Register</a:t>
            </a:r>
            <a:r>
              <a:rPr lang="en-US" sz="2800" dirty="0"/>
              <a:t>. </a:t>
            </a:r>
          </a:p>
          <a:p>
            <a:pPr marL="0" indent="0">
              <a:buNone/>
            </a:pPr>
            <a:r>
              <a:rPr lang="en-US" sz="2800" dirty="0">
                <a:solidFill>
                  <a:srgbClr val="C00000"/>
                </a:solidFill>
              </a:rPr>
              <a:t>         A register= Accumulator register (AC)</a:t>
            </a:r>
          </a:p>
          <a:p>
            <a:endParaRPr lang="en-US" sz="2800" dirty="0"/>
          </a:p>
          <a:p>
            <a:r>
              <a:rPr lang="en-US" sz="2800" dirty="0"/>
              <a:t>The </a:t>
            </a:r>
            <a:r>
              <a:rPr lang="en-US" sz="2800" b="1" dirty="0"/>
              <a:t>accumulator </a:t>
            </a:r>
            <a:r>
              <a:rPr lang="en-US" sz="2800" dirty="0"/>
              <a:t>register is essentially a </a:t>
            </a:r>
            <a:r>
              <a:rPr lang="en-US" sz="2800" b="1" dirty="0"/>
              <a:t>bidirectional shift register with parallel load which is connected to an ALU</a:t>
            </a:r>
            <a:r>
              <a:rPr lang="en-US" sz="2800" dirty="0"/>
              <a:t>. </a:t>
            </a:r>
          </a:p>
          <a:p>
            <a:r>
              <a:rPr lang="en-US" sz="2800" dirty="0"/>
              <a:t> Because of the feedback connection from the output of the register to one of the inputs in the ALU, the accumulator register and its associated logic, when taken as one unit, constitute a </a:t>
            </a:r>
            <a:r>
              <a:rPr lang="en-US" sz="2800" b="1" dirty="0"/>
              <a:t>sequential circuit</a:t>
            </a:r>
            <a:r>
              <a:rPr lang="en-US" sz="2800" dirty="0"/>
              <a:t>.</a:t>
            </a:r>
          </a:p>
          <a:p>
            <a:r>
              <a:rPr lang="en-US" sz="2800" dirty="0"/>
              <a:t> And an accumulator register can be designed by sequential-circuit techniques instead of using a combinational-circuit ALU. </a:t>
            </a:r>
          </a:p>
          <a:p>
            <a:pPr marL="0" indent="0">
              <a:buNone/>
            </a:pPr>
            <a:endParaRPr lang="en-US" sz="2800" dirty="0"/>
          </a:p>
          <a:p>
            <a:endParaRPr lang="en-US" dirty="0"/>
          </a:p>
        </p:txBody>
      </p:sp>
      <p:pic>
        <p:nvPicPr>
          <p:cNvPr id="4" name="Picture 3">
            <a:extLst>
              <a:ext uri="{FF2B5EF4-FFF2-40B4-BE49-F238E27FC236}">
                <a16:creationId xmlns:a16="http://schemas.microsoft.com/office/drawing/2014/main" id="{0C8D8CF3-7CC4-08FC-2205-1BDFE99A4D81}"/>
              </a:ext>
            </a:extLst>
          </p:cNvPr>
          <p:cNvPicPr>
            <a:picLocks noChangeAspect="1" noChangeArrowheads="1"/>
          </p:cNvPicPr>
          <p:nvPr/>
        </p:nvPicPr>
        <p:blipFill>
          <a:blip r:embed="rId2"/>
          <a:srcRect/>
          <a:stretch>
            <a:fillRect/>
          </a:stretch>
        </p:blipFill>
        <p:spPr bwMode="auto">
          <a:xfrm>
            <a:off x="6919913" y="1302544"/>
            <a:ext cx="5272087" cy="4252912"/>
          </a:xfrm>
          <a:prstGeom prst="rect">
            <a:avLst/>
          </a:prstGeom>
          <a:noFill/>
          <a:ln w="9525">
            <a:noFill/>
            <a:miter lim="800000"/>
            <a:headEnd/>
            <a:tailEnd/>
          </a:ln>
          <a:effectLst/>
        </p:spPr>
      </p:pic>
      <p:sp>
        <p:nvSpPr>
          <p:cNvPr id="6" name="TextBox 5">
            <a:extLst>
              <a:ext uri="{FF2B5EF4-FFF2-40B4-BE49-F238E27FC236}">
                <a16:creationId xmlns:a16="http://schemas.microsoft.com/office/drawing/2014/main" id="{220E2112-EB92-796F-22DE-D75671163C59}"/>
              </a:ext>
            </a:extLst>
          </p:cNvPr>
          <p:cNvSpPr txBox="1"/>
          <p:nvPr/>
        </p:nvSpPr>
        <p:spPr>
          <a:xfrm>
            <a:off x="825484" y="6176963"/>
            <a:ext cx="9987059" cy="461665"/>
          </a:xfrm>
          <a:prstGeom prst="rect">
            <a:avLst/>
          </a:prstGeom>
          <a:noFill/>
        </p:spPr>
        <p:txBody>
          <a:bodyPr wrap="square">
            <a:spAutoFit/>
          </a:bodyPr>
          <a:lstStyle/>
          <a:p>
            <a:pPr marL="0" indent="0">
              <a:buNone/>
            </a:pPr>
            <a:r>
              <a:rPr lang="en-US" sz="2400" dirty="0"/>
              <a:t>A register + associated combinational circuit = sequential circuit</a:t>
            </a:r>
          </a:p>
        </p:txBody>
      </p:sp>
    </p:spTree>
    <p:extLst>
      <p:ext uri="{BB962C8B-B14F-4D97-AF65-F5344CB8AC3E}">
        <p14:creationId xmlns:p14="http://schemas.microsoft.com/office/powerpoint/2010/main" val="13914018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365" y="301658"/>
            <a:ext cx="11491274" cy="6259398"/>
          </a:xfrm>
        </p:spPr>
        <p:txBody>
          <a:bodyPr>
            <a:noAutofit/>
          </a:bodyPr>
          <a:lstStyle/>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external inputs to the accumulator are the data inputs from B and the control variables that determine the micro operations for the register. </a:t>
            </a:r>
          </a:p>
          <a:p>
            <a:pPr>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next state of register A is a function of its present state and of the external inputs. </a:t>
            </a:r>
          </a:p>
          <a:p>
            <a:pPr>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Accumulator can also perform data processing operations.</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An accumulator is a </a:t>
            </a:r>
            <a:r>
              <a:rPr lang="en-US" sz="2400" b="1" dirty="0">
                <a:latin typeface="Times New Roman" panose="02020603050405020304" pitchFamily="18" charset="0"/>
                <a:cs typeface="Times New Roman" panose="02020603050405020304" pitchFamily="18" charset="0"/>
              </a:rPr>
              <a:t>multi-function register </a:t>
            </a:r>
            <a:r>
              <a:rPr lang="en-US" sz="2400" dirty="0">
                <a:latin typeface="Times New Roman" panose="02020603050405020304" pitchFamily="18" charset="0"/>
                <a:cs typeface="Times New Roman" panose="02020603050405020304" pitchFamily="18" charset="0"/>
              </a:rPr>
              <a:t>that, by itself, can be made  to </a:t>
            </a:r>
            <a:r>
              <a:rPr lang="en-US" sz="2400" b="1" dirty="0">
                <a:latin typeface="Times New Roman" panose="02020603050405020304" pitchFamily="18" charset="0"/>
                <a:cs typeface="Times New Roman" panose="02020603050405020304" pitchFamily="18" charset="0"/>
              </a:rPr>
              <a:t>perform all of the </a:t>
            </a:r>
            <a:r>
              <a:rPr lang="en-US" sz="2400" b="1" dirty="0" err="1">
                <a:latin typeface="Times New Roman" panose="02020603050405020304" pitchFamily="18" charset="0"/>
                <a:cs typeface="Times New Roman" panose="02020603050405020304" pitchFamily="18" charset="0"/>
              </a:rPr>
              <a:t>microoperations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a processor unit. </a:t>
            </a:r>
          </a:p>
          <a:p>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00604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0"/>
            <a:ext cx="8229600" cy="1295400"/>
          </a:xfrm>
        </p:spPr>
        <p:txBody>
          <a:bodyPr>
            <a:normAutofit/>
          </a:bodyPr>
          <a:lstStyle/>
          <a:p>
            <a:r>
              <a:rPr lang="en-US" dirty="0"/>
              <a:t>Total of </a:t>
            </a:r>
            <a:r>
              <a:rPr lang="en-US" b="1" dirty="0"/>
              <a:t>9 </a:t>
            </a:r>
            <a:r>
              <a:rPr lang="en-US" b="1" dirty="0" err="1"/>
              <a:t>microoperations</a:t>
            </a:r>
            <a:r>
              <a:rPr lang="en-US" dirty="0"/>
              <a:t>. </a:t>
            </a:r>
            <a:r>
              <a:rPr lang="en-US" dirty="0">
                <a:solidFill>
                  <a:srgbClr val="C00000"/>
                </a:solidFill>
              </a:rPr>
              <a:t> </a:t>
            </a:r>
            <a:r>
              <a:rPr lang="en-US" dirty="0"/>
              <a:t>is considered here for the design of accumulator circuit.</a:t>
            </a:r>
          </a:p>
          <a:p>
            <a:endParaRPr lang="en-US" dirty="0"/>
          </a:p>
          <a:p>
            <a:endParaRPr lang="en-US" dirty="0"/>
          </a:p>
        </p:txBody>
      </p:sp>
      <p:pic>
        <p:nvPicPr>
          <p:cNvPr id="8195" name="Picture 3"/>
          <p:cNvPicPr>
            <a:picLocks noChangeAspect="1" noChangeArrowheads="1"/>
          </p:cNvPicPr>
          <p:nvPr/>
        </p:nvPicPr>
        <p:blipFill>
          <a:blip r:embed="rId2"/>
          <a:srcRect/>
          <a:stretch>
            <a:fillRect/>
          </a:stretch>
        </p:blipFill>
        <p:spPr bwMode="auto">
          <a:xfrm>
            <a:off x="2667000" y="1295400"/>
            <a:ext cx="7200900" cy="3886200"/>
          </a:xfrm>
          <a:prstGeom prst="rect">
            <a:avLst/>
          </a:prstGeom>
          <a:noFill/>
          <a:ln w="9525">
            <a:noFill/>
            <a:miter lim="800000"/>
            <a:headEnd/>
            <a:tailEnd/>
          </a:ln>
          <a:effectLst/>
        </p:spPr>
      </p:pic>
      <p:sp>
        <p:nvSpPr>
          <p:cNvPr id="6" name="Rectangle 5"/>
          <p:cNvSpPr/>
          <p:nvPr/>
        </p:nvSpPr>
        <p:spPr>
          <a:xfrm>
            <a:off x="2362200" y="5257801"/>
            <a:ext cx="7467600" cy="1323439"/>
          </a:xfrm>
          <a:prstGeom prst="rect">
            <a:avLst/>
          </a:prstGeom>
        </p:spPr>
        <p:txBody>
          <a:bodyPr wrap="square">
            <a:spAutoFit/>
          </a:bodyPr>
          <a:lstStyle/>
          <a:p>
            <a:pPr>
              <a:buFont typeface="Wingdings" pitchFamily="2" charset="2"/>
              <a:buChar char="Ø"/>
            </a:pPr>
            <a:r>
              <a:rPr lang="en-US" sz="2000" dirty="0">
                <a:solidFill>
                  <a:srgbClr val="C00000"/>
                </a:solidFill>
              </a:rPr>
              <a:t>A=source register. </a:t>
            </a:r>
          </a:p>
          <a:p>
            <a:pPr>
              <a:buFont typeface="Wingdings" pitchFamily="2" charset="2"/>
              <a:buChar char="Ø"/>
            </a:pPr>
            <a:r>
              <a:rPr lang="en-US" sz="2000" dirty="0">
                <a:solidFill>
                  <a:srgbClr val="C00000"/>
                </a:solidFill>
              </a:rPr>
              <a:t>B =second source register. </a:t>
            </a:r>
          </a:p>
          <a:p>
            <a:pPr>
              <a:buFont typeface="Wingdings" pitchFamily="2" charset="2"/>
              <a:buChar char="Ø"/>
            </a:pPr>
            <a:r>
              <a:rPr lang="en-US" sz="2000" dirty="0">
                <a:solidFill>
                  <a:srgbClr val="C00000"/>
                </a:solidFill>
              </a:rPr>
              <a:t>Destination register =accumulator register </a:t>
            </a:r>
          </a:p>
          <a:p>
            <a:pPr>
              <a:buFont typeface="Wingdings" pitchFamily="2" charset="2"/>
              <a:buChar char="Ø"/>
            </a:pPr>
            <a:r>
              <a:rPr lang="en-US" sz="2000" dirty="0">
                <a:solidFill>
                  <a:srgbClr val="C00000"/>
                </a:solidFill>
              </a:rPr>
              <a:t>For a complete accumulator there will be n stages. </a:t>
            </a:r>
          </a:p>
        </p:txBody>
      </p:sp>
    </p:spTree>
    <p:extLst>
      <p:ext uri="{BB962C8B-B14F-4D97-AF65-F5344CB8AC3E}">
        <p14:creationId xmlns:p14="http://schemas.microsoft.com/office/powerpoint/2010/main" val="20192331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3377" y="228600"/>
            <a:ext cx="11500701" cy="6400800"/>
          </a:xfrm>
        </p:spPr>
        <p:txBody>
          <a:bodyPr>
            <a:noAutofit/>
          </a:bodyPr>
          <a:lstStyle/>
          <a:p>
            <a:r>
              <a:rPr lang="en-US" sz="2400" dirty="0"/>
              <a:t>Control variables p1 to p9 are generated by </a:t>
            </a:r>
            <a:r>
              <a:rPr lang="en-US" sz="2400" b="1" dirty="0"/>
              <a:t>control logic circuits </a:t>
            </a:r>
            <a:r>
              <a:rPr lang="en-US" sz="2400" dirty="0"/>
              <a:t>and initiate the corresponding </a:t>
            </a:r>
            <a:r>
              <a:rPr lang="en-US" sz="2400" b="1" dirty="0"/>
              <a:t>register-transfer operations</a:t>
            </a:r>
            <a:r>
              <a:rPr lang="en-US" sz="2400" dirty="0"/>
              <a:t>. </a:t>
            </a:r>
          </a:p>
          <a:p>
            <a:r>
              <a:rPr lang="en-US" sz="2400" b="1" dirty="0"/>
              <a:t>Register A </a:t>
            </a:r>
            <a:r>
              <a:rPr lang="en-US" sz="2400" dirty="0"/>
              <a:t>is a </a:t>
            </a:r>
            <a:r>
              <a:rPr lang="en-US" sz="2400" b="1" dirty="0"/>
              <a:t>source </a:t>
            </a:r>
            <a:r>
              <a:rPr lang="en-US" sz="2400" dirty="0"/>
              <a:t>register in all the listed </a:t>
            </a:r>
            <a:r>
              <a:rPr lang="en-US" sz="2400" dirty="0" err="1"/>
              <a:t>microoperations</a:t>
            </a:r>
            <a:r>
              <a:rPr lang="en-US" sz="2400" dirty="0"/>
              <a:t>. </a:t>
            </a:r>
          </a:p>
          <a:p>
            <a:r>
              <a:rPr lang="en-US" sz="2400" dirty="0"/>
              <a:t>The </a:t>
            </a:r>
            <a:r>
              <a:rPr lang="en-US" sz="2400" b="1" dirty="0"/>
              <a:t>B register </a:t>
            </a:r>
            <a:r>
              <a:rPr lang="en-US" sz="2400" dirty="0"/>
              <a:t>is used as a </a:t>
            </a:r>
            <a:r>
              <a:rPr lang="en-US" sz="2400" b="1" dirty="0"/>
              <a:t>second source </a:t>
            </a:r>
            <a:r>
              <a:rPr lang="en-US" sz="2400" dirty="0"/>
              <a:t>register for microoperations that need two operands. </a:t>
            </a:r>
          </a:p>
          <a:p>
            <a:pPr>
              <a:buFont typeface="Wingdings" pitchFamily="2" charset="2"/>
              <a:buChar char="ü"/>
            </a:pPr>
            <a:r>
              <a:rPr lang="en-US" sz="2400" dirty="0"/>
              <a:t>The B register is assumed to be connected to the  accumulator and supplies the inputs to the sequential circuit. </a:t>
            </a:r>
          </a:p>
          <a:p>
            <a:r>
              <a:rPr lang="en-US" sz="2400" dirty="0"/>
              <a:t> The </a:t>
            </a:r>
            <a:r>
              <a:rPr lang="en-US" sz="2400" b="1" dirty="0"/>
              <a:t>destination register </a:t>
            </a:r>
            <a:r>
              <a:rPr lang="en-US" sz="2400" dirty="0"/>
              <a:t>for all </a:t>
            </a:r>
            <a:r>
              <a:rPr lang="en-US" sz="2400" dirty="0" err="1"/>
              <a:t>microoperations</a:t>
            </a:r>
            <a:r>
              <a:rPr lang="en-US" sz="2400" dirty="0"/>
              <a:t> is always </a:t>
            </a:r>
            <a:r>
              <a:rPr lang="en-US" sz="2400" b="1" dirty="0"/>
              <a:t>register A</a:t>
            </a:r>
            <a:r>
              <a:rPr lang="en-US" sz="2400" dirty="0"/>
              <a:t>. </a:t>
            </a:r>
          </a:p>
          <a:p>
            <a:r>
              <a:rPr lang="en-US" sz="2400" dirty="0"/>
              <a:t>The new information transferred to A constitutes the next state of the sequential circuit.</a:t>
            </a:r>
          </a:p>
          <a:p>
            <a:r>
              <a:rPr lang="en-US" sz="2400" dirty="0"/>
              <a:t>The </a:t>
            </a:r>
            <a:r>
              <a:rPr lang="en-US" sz="2400" b="1" dirty="0"/>
              <a:t>9 control variables </a:t>
            </a:r>
            <a:r>
              <a:rPr lang="en-US" sz="2400" dirty="0"/>
              <a:t>are also considered </a:t>
            </a:r>
            <a:r>
              <a:rPr lang="en-US" sz="2400" b="1" dirty="0"/>
              <a:t>as inputs </a:t>
            </a:r>
            <a:r>
              <a:rPr lang="en-US" sz="2400" dirty="0"/>
              <a:t>to the sequential circuit. </a:t>
            </a:r>
          </a:p>
          <a:p>
            <a:pPr>
              <a:buFont typeface="Wingdings" pitchFamily="2" charset="2"/>
              <a:buChar char="Ø"/>
            </a:pPr>
            <a:r>
              <a:rPr lang="en-US" sz="2400" dirty="0"/>
              <a:t>These variables are mutually exclusive and only one variable must be enabled when a clock pulse occurs. </a:t>
            </a:r>
          </a:p>
          <a:p>
            <a:pPr>
              <a:buFont typeface="Wingdings" pitchFamily="2" charset="2"/>
              <a:buChar char="Ø"/>
            </a:pPr>
            <a:r>
              <a:rPr lang="en-US" sz="2400" dirty="0"/>
              <a:t> The last entry in Table is a conditional control statement. It produces a binary 1 in an output variable Z when the content of register A is 0, i.e., when all flip-flops in the register are cleared.  </a:t>
            </a:r>
          </a:p>
          <a:p>
            <a:endParaRPr lang="en-US" sz="2400" dirty="0"/>
          </a:p>
        </p:txBody>
      </p:sp>
    </p:spTree>
    <p:extLst>
      <p:ext uri="{BB962C8B-B14F-4D97-AF65-F5344CB8AC3E}">
        <p14:creationId xmlns:p14="http://schemas.microsoft.com/office/powerpoint/2010/main" val="3150860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lstStyle/>
          <a:p>
            <a:pPr marL="0" indent="0">
              <a:buNone/>
            </a:pPr>
            <a:r>
              <a:rPr lang="en-US" b="1" dirty="0">
                <a:solidFill>
                  <a:srgbClr val="FF0000"/>
                </a:solidFill>
              </a:rPr>
              <a:t>One Stage of Accumulator </a:t>
            </a:r>
            <a:endParaRPr lang="en-US" dirty="0">
              <a:solidFill>
                <a:srgbClr val="FF0000"/>
              </a:solidFill>
            </a:endParaRPr>
          </a:p>
          <a:p>
            <a:pPr marL="0" indent="0">
              <a:buNone/>
            </a:pPr>
            <a:r>
              <a:rPr lang="en-US" dirty="0"/>
              <a:t>A typical accumulator stage consists of all the circuits that were designed for the individual </a:t>
            </a:r>
            <a:r>
              <a:rPr lang="en-US" dirty="0" err="1"/>
              <a:t>microoperations</a:t>
            </a:r>
            <a:r>
              <a:rPr lang="en-US" dirty="0"/>
              <a:t>. </a:t>
            </a:r>
          </a:p>
          <a:p>
            <a:r>
              <a:rPr lang="en-US" dirty="0"/>
              <a:t>Control variables p1 through p9 are </a:t>
            </a:r>
            <a:r>
              <a:rPr lang="en-US" b="1" dirty="0"/>
              <a:t>Mutually Exclusive</a:t>
            </a:r>
            <a:r>
              <a:rPr lang="en-US" dirty="0"/>
              <a:t>. ( i.e. only one at a time). </a:t>
            </a:r>
          </a:p>
          <a:p>
            <a:endParaRPr lang="en-US" dirty="0"/>
          </a:p>
          <a:p>
            <a:pPr marL="0" indent="0">
              <a:buNone/>
            </a:pPr>
            <a:endParaRPr lang="en-US" dirty="0"/>
          </a:p>
          <a:p>
            <a:pPr marL="0" indent="0">
              <a:buNone/>
            </a:pPr>
            <a:endParaRPr lang="en-US" dirty="0"/>
          </a:p>
        </p:txBody>
      </p:sp>
      <p:graphicFrame>
        <p:nvGraphicFramePr>
          <p:cNvPr id="4" name="Table 3"/>
          <p:cNvGraphicFramePr>
            <a:graphicFrameLocks noGrp="1"/>
          </p:cNvGraphicFramePr>
          <p:nvPr/>
        </p:nvGraphicFramePr>
        <p:xfrm>
          <a:off x="2895600" y="3886200"/>
          <a:ext cx="6400800" cy="25146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tblGrid>
              <a:tr h="502920">
                <a:tc>
                  <a:txBody>
                    <a:bodyPr/>
                    <a:lstStyle/>
                    <a:p>
                      <a:r>
                        <a:rPr lang="en-US" dirty="0"/>
                        <a:t>Present state</a:t>
                      </a:r>
                    </a:p>
                  </a:txBody>
                  <a:tcPr/>
                </a:tc>
                <a:tc>
                  <a:txBody>
                    <a:bodyPr/>
                    <a:lstStyle/>
                    <a:p>
                      <a:r>
                        <a:rPr lang="en-US" dirty="0"/>
                        <a:t>Next state</a:t>
                      </a:r>
                    </a:p>
                  </a:txBody>
                  <a:tcPr/>
                </a:tc>
                <a:tc>
                  <a:txBody>
                    <a:bodyPr/>
                    <a:lstStyle/>
                    <a:p>
                      <a:r>
                        <a:rPr lang="en-US" dirty="0"/>
                        <a:t>j</a:t>
                      </a:r>
                    </a:p>
                  </a:txBody>
                  <a:tcPr/>
                </a:tc>
                <a:tc>
                  <a:txBody>
                    <a:bodyPr/>
                    <a:lstStyle/>
                    <a:p>
                      <a:r>
                        <a:rPr lang="en-US" dirty="0"/>
                        <a:t>k</a:t>
                      </a:r>
                    </a:p>
                  </a:txBody>
                  <a:tcPr/>
                </a:tc>
                <a:extLst>
                  <a:ext uri="{0D108BD9-81ED-4DB2-BD59-A6C34878D82A}">
                    <a16:rowId xmlns:a16="http://schemas.microsoft.com/office/drawing/2014/main" val="10000"/>
                  </a:ext>
                </a:extLst>
              </a:tr>
              <a:tr h="502920">
                <a:tc>
                  <a:txBody>
                    <a:bodyPr/>
                    <a:lstStyle/>
                    <a:p>
                      <a:r>
                        <a:rPr lang="en-US" dirty="0"/>
                        <a:t>0</a:t>
                      </a:r>
                    </a:p>
                  </a:txBody>
                  <a:tcPr/>
                </a:tc>
                <a:tc>
                  <a:txBody>
                    <a:bodyPr/>
                    <a:lstStyle/>
                    <a:p>
                      <a:r>
                        <a:rPr lang="en-US" dirty="0"/>
                        <a:t>0</a:t>
                      </a:r>
                    </a:p>
                  </a:txBody>
                  <a:tcPr/>
                </a:tc>
                <a:tc>
                  <a:txBody>
                    <a:bodyPr/>
                    <a:lstStyle/>
                    <a:p>
                      <a:r>
                        <a:rPr lang="en-US" dirty="0"/>
                        <a:t>0</a:t>
                      </a:r>
                    </a:p>
                  </a:txBody>
                  <a:tcPr/>
                </a:tc>
                <a:tc>
                  <a:txBody>
                    <a:bodyPr/>
                    <a:lstStyle/>
                    <a:p>
                      <a:r>
                        <a:rPr lang="en-US" dirty="0"/>
                        <a:t>x</a:t>
                      </a:r>
                    </a:p>
                  </a:txBody>
                  <a:tcPr/>
                </a:tc>
                <a:extLst>
                  <a:ext uri="{0D108BD9-81ED-4DB2-BD59-A6C34878D82A}">
                    <a16:rowId xmlns:a16="http://schemas.microsoft.com/office/drawing/2014/main" val="10001"/>
                  </a:ext>
                </a:extLst>
              </a:tr>
              <a:tr h="502920">
                <a:tc>
                  <a:txBody>
                    <a:bodyPr/>
                    <a:lstStyle/>
                    <a:p>
                      <a:r>
                        <a:rPr lang="en-US" dirty="0"/>
                        <a:t>0</a:t>
                      </a:r>
                    </a:p>
                  </a:txBody>
                  <a:tcPr/>
                </a:tc>
                <a:tc>
                  <a:txBody>
                    <a:bodyPr/>
                    <a:lstStyle/>
                    <a:p>
                      <a:r>
                        <a:rPr lang="en-US" dirty="0"/>
                        <a:t>1</a:t>
                      </a:r>
                    </a:p>
                  </a:txBody>
                  <a:tcPr/>
                </a:tc>
                <a:tc>
                  <a:txBody>
                    <a:bodyPr/>
                    <a:lstStyle/>
                    <a:p>
                      <a:r>
                        <a:rPr lang="en-US" dirty="0"/>
                        <a:t>1</a:t>
                      </a:r>
                    </a:p>
                  </a:txBody>
                  <a:tcPr/>
                </a:tc>
                <a:tc>
                  <a:txBody>
                    <a:bodyPr/>
                    <a:lstStyle/>
                    <a:p>
                      <a:r>
                        <a:rPr lang="en-US" dirty="0"/>
                        <a:t>x</a:t>
                      </a:r>
                    </a:p>
                  </a:txBody>
                  <a:tcPr/>
                </a:tc>
                <a:extLst>
                  <a:ext uri="{0D108BD9-81ED-4DB2-BD59-A6C34878D82A}">
                    <a16:rowId xmlns:a16="http://schemas.microsoft.com/office/drawing/2014/main" val="10002"/>
                  </a:ext>
                </a:extLst>
              </a:tr>
              <a:tr h="502920">
                <a:tc>
                  <a:txBody>
                    <a:bodyPr/>
                    <a:lstStyle/>
                    <a:p>
                      <a:r>
                        <a:rPr lang="en-US" dirty="0"/>
                        <a:t>1</a:t>
                      </a:r>
                    </a:p>
                  </a:txBody>
                  <a:tcPr/>
                </a:tc>
                <a:tc>
                  <a:txBody>
                    <a:bodyPr/>
                    <a:lstStyle/>
                    <a:p>
                      <a:r>
                        <a:rPr lang="en-US" dirty="0"/>
                        <a:t>0</a:t>
                      </a:r>
                    </a:p>
                  </a:txBody>
                  <a:tcPr/>
                </a:tc>
                <a:tc>
                  <a:txBody>
                    <a:bodyPr/>
                    <a:lstStyle/>
                    <a:p>
                      <a:r>
                        <a:rPr lang="en-US" dirty="0"/>
                        <a:t>x</a:t>
                      </a:r>
                    </a:p>
                  </a:txBody>
                  <a:tcPr/>
                </a:tc>
                <a:tc>
                  <a:txBody>
                    <a:bodyPr/>
                    <a:lstStyle/>
                    <a:p>
                      <a:r>
                        <a:rPr lang="en-US" dirty="0"/>
                        <a:t>1</a:t>
                      </a:r>
                    </a:p>
                  </a:txBody>
                  <a:tcPr/>
                </a:tc>
                <a:extLst>
                  <a:ext uri="{0D108BD9-81ED-4DB2-BD59-A6C34878D82A}">
                    <a16:rowId xmlns:a16="http://schemas.microsoft.com/office/drawing/2014/main" val="10003"/>
                  </a:ext>
                </a:extLst>
              </a:tr>
              <a:tr h="502920">
                <a:tc>
                  <a:txBody>
                    <a:bodyPr/>
                    <a:lstStyle/>
                    <a:p>
                      <a:r>
                        <a:rPr lang="en-US" dirty="0"/>
                        <a:t>1</a:t>
                      </a:r>
                    </a:p>
                  </a:txBody>
                  <a:tcPr/>
                </a:tc>
                <a:tc>
                  <a:txBody>
                    <a:bodyPr/>
                    <a:lstStyle/>
                    <a:p>
                      <a:r>
                        <a:rPr lang="en-US" dirty="0"/>
                        <a:t>1</a:t>
                      </a:r>
                    </a:p>
                  </a:txBody>
                  <a:tcPr/>
                </a:tc>
                <a:tc>
                  <a:txBody>
                    <a:bodyPr/>
                    <a:lstStyle/>
                    <a:p>
                      <a:r>
                        <a:rPr lang="en-US" dirty="0"/>
                        <a:t>x</a:t>
                      </a:r>
                    </a:p>
                  </a:txBody>
                  <a:tcPr/>
                </a:tc>
                <a:tc>
                  <a:txBody>
                    <a:bodyPr/>
                    <a:lstStyle/>
                    <a:p>
                      <a:r>
                        <a:rPr lang="en-US" dirty="0"/>
                        <a:t>0</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579225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38401" y="838201"/>
            <a:ext cx="6320209" cy="4854090"/>
          </a:xfrm>
        </p:spPr>
      </p:pic>
    </p:spTree>
    <p:extLst>
      <p:ext uri="{BB962C8B-B14F-4D97-AF65-F5344CB8AC3E}">
        <p14:creationId xmlns:p14="http://schemas.microsoft.com/office/powerpoint/2010/main" val="1979172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8607" y="1450539"/>
            <a:ext cx="7715742" cy="3356968"/>
          </a:xfrm>
        </p:spPr>
      </p:pic>
      <p:cxnSp>
        <p:nvCxnSpPr>
          <p:cNvPr id="6" name="Straight Connector 5"/>
          <p:cNvCxnSpPr/>
          <p:nvPr/>
        </p:nvCxnSpPr>
        <p:spPr>
          <a:xfrm flipH="1" flipV="1">
            <a:off x="2057400" y="1828800"/>
            <a:ext cx="381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4495800" y="1828800"/>
            <a:ext cx="381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flipV="1">
            <a:off x="6934200" y="1828800"/>
            <a:ext cx="381000" cy="30480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808487" y="1992868"/>
            <a:ext cx="317716" cy="369332"/>
          </a:xfrm>
          <a:prstGeom prst="rect">
            <a:avLst/>
          </a:prstGeom>
          <a:noFill/>
        </p:spPr>
        <p:txBody>
          <a:bodyPr wrap="none" rtlCol="0">
            <a:spAutoFit/>
          </a:bodyPr>
          <a:lstStyle/>
          <a:p>
            <a:r>
              <a:rPr lang="en-US" dirty="0"/>
              <a:t>A</a:t>
            </a:r>
          </a:p>
        </p:txBody>
      </p:sp>
      <p:sp>
        <p:nvSpPr>
          <p:cNvPr id="10" name="TextBox 9"/>
          <p:cNvSpPr txBox="1"/>
          <p:nvPr/>
        </p:nvSpPr>
        <p:spPr>
          <a:xfrm>
            <a:off x="2247900" y="1496659"/>
            <a:ext cx="433132" cy="369332"/>
          </a:xfrm>
          <a:prstGeom prst="rect">
            <a:avLst/>
          </a:prstGeom>
          <a:noFill/>
        </p:spPr>
        <p:txBody>
          <a:bodyPr wrap="none" rtlCol="0">
            <a:spAutoFit/>
          </a:bodyPr>
          <a:lstStyle/>
          <a:p>
            <a:r>
              <a:rPr lang="en-US" dirty="0"/>
              <a:t>BC</a:t>
            </a:r>
          </a:p>
        </p:txBody>
      </p:sp>
      <p:sp>
        <p:nvSpPr>
          <p:cNvPr id="11" name="TextBox 10"/>
          <p:cNvSpPr txBox="1"/>
          <p:nvPr/>
        </p:nvSpPr>
        <p:spPr>
          <a:xfrm>
            <a:off x="4770961" y="1598013"/>
            <a:ext cx="418704" cy="369332"/>
          </a:xfrm>
          <a:prstGeom prst="rect">
            <a:avLst/>
          </a:prstGeom>
          <a:noFill/>
        </p:spPr>
        <p:txBody>
          <a:bodyPr wrap="none" rtlCol="0">
            <a:spAutoFit/>
          </a:bodyPr>
          <a:lstStyle/>
          <a:p>
            <a:r>
              <a:rPr lang="en-US" dirty="0"/>
              <a:t>00</a:t>
            </a:r>
          </a:p>
        </p:txBody>
      </p:sp>
      <p:sp>
        <p:nvSpPr>
          <p:cNvPr id="12" name="TextBox 11"/>
          <p:cNvSpPr txBox="1"/>
          <p:nvPr/>
        </p:nvSpPr>
        <p:spPr>
          <a:xfrm>
            <a:off x="5207774" y="1648875"/>
            <a:ext cx="418704" cy="369332"/>
          </a:xfrm>
          <a:prstGeom prst="rect">
            <a:avLst/>
          </a:prstGeom>
          <a:noFill/>
        </p:spPr>
        <p:txBody>
          <a:bodyPr wrap="none" rtlCol="0">
            <a:spAutoFit/>
          </a:bodyPr>
          <a:lstStyle/>
          <a:p>
            <a:r>
              <a:rPr lang="en-US" dirty="0"/>
              <a:t>01</a:t>
            </a:r>
          </a:p>
        </p:txBody>
      </p:sp>
      <p:sp>
        <p:nvSpPr>
          <p:cNvPr id="14" name="TextBox 13"/>
          <p:cNvSpPr txBox="1"/>
          <p:nvPr/>
        </p:nvSpPr>
        <p:spPr>
          <a:xfrm>
            <a:off x="5718860" y="1630462"/>
            <a:ext cx="418704" cy="369332"/>
          </a:xfrm>
          <a:prstGeom prst="rect">
            <a:avLst/>
          </a:prstGeom>
          <a:noFill/>
        </p:spPr>
        <p:txBody>
          <a:bodyPr wrap="none" rtlCol="0">
            <a:spAutoFit/>
          </a:bodyPr>
          <a:lstStyle/>
          <a:p>
            <a:r>
              <a:rPr lang="en-US" dirty="0"/>
              <a:t>11</a:t>
            </a:r>
          </a:p>
        </p:txBody>
      </p:sp>
      <p:sp>
        <p:nvSpPr>
          <p:cNvPr id="15" name="TextBox 14"/>
          <p:cNvSpPr txBox="1"/>
          <p:nvPr/>
        </p:nvSpPr>
        <p:spPr>
          <a:xfrm>
            <a:off x="6137564" y="1519627"/>
            <a:ext cx="489236" cy="369332"/>
          </a:xfrm>
          <a:prstGeom prst="rect">
            <a:avLst/>
          </a:prstGeom>
          <a:noFill/>
        </p:spPr>
        <p:txBody>
          <a:bodyPr wrap="none" rtlCol="0">
            <a:spAutoFit/>
          </a:bodyPr>
          <a:lstStyle/>
          <a:p>
            <a:r>
              <a:rPr lang="en-US" dirty="0"/>
              <a:t>10-</a:t>
            </a:r>
          </a:p>
        </p:txBody>
      </p:sp>
      <p:sp>
        <p:nvSpPr>
          <p:cNvPr id="16" name="Rectangle 15"/>
          <p:cNvSpPr/>
          <p:nvPr/>
        </p:nvSpPr>
        <p:spPr>
          <a:xfrm>
            <a:off x="2895600" y="2018208"/>
            <a:ext cx="304800" cy="95359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3810000" y="2133600"/>
            <a:ext cx="228600" cy="838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302826" y="2133600"/>
            <a:ext cx="228600" cy="838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267882" y="2133600"/>
            <a:ext cx="228600" cy="838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0642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85801"/>
            <a:ext cx="8229600" cy="5668963"/>
          </a:xfrm>
        </p:spPr>
        <p:txBody>
          <a:bodyPr>
            <a:normAutofit/>
          </a:bodyPr>
          <a:lstStyle/>
          <a:p>
            <a:pPr marL="0" indent="0">
              <a:buNone/>
            </a:pPr>
            <a:r>
              <a:rPr lang="en-US" sz="2400" dirty="0"/>
              <a:t>The j input is designated by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3429001"/>
            <a:ext cx="5568364" cy="2223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8953" y="1066800"/>
            <a:ext cx="8124825"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08909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762001"/>
            <a:ext cx="8229600" cy="5364163"/>
          </a:xfrm>
        </p:spPr>
        <p:txBody>
          <a:bodyPr/>
          <a:lstStyle/>
          <a:p>
            <a:pPr marL="0" indent="0">
              <a:buNone/>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685800"/>
            <a:ext cx="8458200"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1676" y="1600200"/>
            <a:ext cx="8162925" cy="2053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1" y="4038600"/>
            <a:ext cx="7934325"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08607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85801"/>
            <a:ext cx="8229600" cy="5440363"/>
          </a:xfrm>
        </p:spPr>
        <p:txBody>
          <a:bodyPr>
            <a:normAutofit/>
          </a:bodyPr>
          <a:lstStyle/>
          <a:p>
            <a:pPr marL="0" indent="0">
              <a:buNone/>
            </a:pPr>
            <a:r>
              <a:rPr lang="en-US" sz="2400" dirty="0"/>
              <a:t>AND </a:t>
            </a:r>
            <a:r>
              <a:rPr lang="en-US" sz="2400" i="1" dirty="0"/>
              <a:t>(p</a:t>
            </a:r>
            <a:r>
              <a:rPr lang="en-US" sz="2400" dirty="0"/>
              <a:t>4): The AND </a:t>
            </a:r>
            <a:r>
              <a:rPr lang="en-US" sz="2400" dirty="0" err="1"/>
              <a:t>microoperation</a:t>
            </a:r>
            <a:r>
              <a:rPr lang="en-US" sz="2400" dirty="0"/>
              <a:t> is initiated with control variable </a:t>
            </a:r>
            <a:r>
              <a:rPr lang="en-US" sz="2400" i="1" dirty="0"/>
              <a:t>p </a:t>
            </a:r>
            <a:r>
              <a:rPr lang="en-US" sz="2400" dirty="0"/>
              <a:t>4This operation forms the logic AND operation between </a:t>
            </a:r>
            <a:r>
              <a:rPr lang="en-US" sz="2400" i="1" dirty="0"/>
              <a:t>Ai </a:t>
            </a:r>
            <a:r>
              <a:rPr lang="en-US" sz="2400" dirty="0"/>
              <a:t>and </a:t>
            </a:r>
            <a:r>
              <a:rPr lang="en-US" sz="2400" i="1" dirty="0"/>
              <a:t>Bi </a:t>
            </a:r>
            <a:r>
              <a:rPr lang="en-US" sz="2400" dirty="0"/>
              <a:t>and transfers the result to </a:t>
            </a:r>
            <a:r>
              <a:rPr lang="en-US" sz="2400" i="1" dirty="0"/>
              <a:t>Ai. </a:t>
            </a:r>
            <a:r>
              <a:rPr lang="en-US" sz="2400" dirty="0"/>
              <a:t>The excitation</a:t>
            </a:r>
          </a:p>
          <a:p>
            <a:pPr marL="0" indent="0">
              <a:buNone/>
            </a:pPr>
            <a:endParaRPr lang="en-US"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133601"/>
            <a:ext cx="8077200" cy="303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1" y="5410200"/>
            <a:ext cx="3609975"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37318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85801"/>
            <a:ext cx="8229600" cy="5440363"/>
          </a:xfrm>
        </p:spPr>
        <p:txBody>
          <a:bodyPr>
            <a:normAutofit/>
          </a:bodyPr>
          <a:lstStyle/>
          <a:p>
            <a:pPr marL="0" indent="0">
              <a:buNone/>
            </a:pPr>
            <a:endParaRPr lang="en-US" sz="2400" dirty="0"/>
          </a:p>
          <a:p>
            <a:pPr marL="0" indent="0">
              <a:buNone/>
            </a:pPr>
            <a:r>
              <a:rPr lang="en-US" sz="2400" dirty="0"/>
              <a:t>OR (p5): Control variable p5initiates the logic OR operation between Ai and B, with the result transferred to A,. </a:t>
            </a:r>
          </a:p>
          <a:p>
            <a:pPr marL="0" indent="0">
              <a:buNone/>
            </a:pPr>
            <a:endParaRPr lang="en-US" sz="2400"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7553" y="2104594"/>
            <a:ext cx="7667625" cy="3000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5334001"/>
            <a:ext cx="2438400" cy="90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19433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7425" y="3733801"/>
            <a:ext cx="7677150"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04975" y="599119"/>
            <a:ext cx="8229600" cy="2677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72442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38201"/>
            <a:ext cx="8229600" cy="5287963"/>
          </a:xfrm>
        </p:spPr>
        <p:txBody>
          <a:bodyPr>
            <a:normAutofit/>
          </a:bodyPr>
          <a:lstStyle/>
          <a:p>
            <a:pPr marL="0" indent="0">
              <a:buNone/>
            </a:pPr>
            <a:endParaRPr lang="en-US" sz="2400"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6930" y="1401042"/>
            <a:ext cx="8896350" cy="1951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590800"/>
            <a:ext cx="859588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48647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lstStyle/>
          <a:p>
            <a:pPr marL="0" indent="0">
              <a:buNone/>
            </a:pP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0" y="990600"/>
            <a:ext cx="88582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20215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68963"/>
          </a:xfrm>
        </p:spPr>
        <p:txBody>
          <a:bodyPr>
            <a:normAutofit/>
          </a:bodyPr>
          <a:lstStyle/>
          <a:p>
            <a:pPr marL="0" indent="0">
              <a:buNone/>
            </a:pPr>
            <a:r>
              <a:rPr lang="en-US" sz="2400" dirty="0"/>
              <a:t>Increment (p9): This operation increments the contents of the </a:t>
            </a:r>
            <a:r>
              <a:rPr lang="en-US" sz="2400" i="1" dirty="0"/>
              <a:t>A </a:t>
            </a:r>
            <a:r>
              <a:rPr lang="en-US" sz="2400" dirty="0"/>
              <a:t>register by one; in other words, the register behaves like a synchronous binary counter withp</a:t>
            </a:r>
            <a:r>
              <a:rPr lang="en-US" sz="2400" baseline="-25000" dirty="0"/>
              <a:t>9 </a:t>
            </a:r>
            <a:r>
              <a:rPr lang="en-US" sz="2400" baseline="30000" dirty="0"/>
              <a:t>enabling the count. </a:t>
            </a:r>
          </a:p>
          <a:p>
            <a:pPr marL="0" indent="0">
              <a:buNone/>
            </a:pPr>
            <a:endParaRPr lang="en-US" sz="2400"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565635"/>
            <a:ext cx="7696200" cy="5540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24135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1195" y="685800"/>
            <a:ext cx="7843405"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657600" y="1981201"/>
            <a:ext cx="4014080" cy="1816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6558" y="3962400"/>
            <a:ext cx="8182842"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07413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609601"/>
            <a:ext cx="8229600" cy="5516563"/>
          </a:xfrm>
        </p:spPr>
        <p:txBody>
          <a:bodyPr/>
          <a:lstStyle/>
          <a:p>
            <a:pPr marL="0" indent="0">
              <a:buNone/>
            </a:pPr>
            <a:endParaRPr lang="en-U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85305"/>
            <a:ext cx="7924800" cy="3229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6975" y="2828926"/>
            <a:ext cx="7105650" cy="402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811426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1" y="2286000"/>
            <a:ext cx="634884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184590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1" y="533400"/>
            <a:ext cx="8153399"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91995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2400"/>
            <a:ext cx="94488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41654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normAutofit/>
          </a:bodyPr>
          <a:lstStyle/>
          <a:p>
            <a:pPr marL="0" indent="0">
              <a:buNone/>
            </a:pPr>
            <a:r>
              <a:rPr lang="en-US" b="1">
                <a:solidFill>
                  <a:srgbClr val="FF0000"/>
                </a:solidFill>
              </a:rPr>
              <a:t>Complete Accumulator</a:t>
            </a:r>
            <a:endParaRPr lang="en-US" dirty="0"/>
          </a:p>
          <a:p>
            <a:r>
              <a:rPr lang="en-US" dirty="0"/>
              <a:t>The accumulator is to be partitioned into </a:t>
            </a:r>
            <a:r>
              <a:rPr lang="en-US" b="1" dirty="0"/>
              <a:t>n stages</a:t>
            </a:r>
            <a:r>
              <a:rPr lang="en-US" dirty="0"/>
              <a:t>, and each stage is to be partitioned into those circuits that are needed for each </a:t>
            </a:r>
            <a:r>
              <a:rPr lang="en-US" dirty="0" err="1"/>
              <a:t>microoperation</a:t>
            </a:r>
            <a:r>
              <a:rPr lang="en-US" dirty="0"/>
              <a:t>. </a:t>
            </a:r>
          </a:p>
          <a:p>
            <a:r>
              <a:rPr lang="en-US" dirty="0"/>
              <a:t>Once the various pieces are designed separately, it will be possible to combine them to obtain one typical stage of the accumulator and then to combine the stages into a </a:t>
            </a:r>
            <a:r>
              <a:rPr lang="en-US" b="1" dirty="0"/>
              <a:t>complete accumulator </a:t>
            </a:r>
            <a:endParaRPr lang="en-US" dirty="0"/>
          </a:p>
          <a:p>
            <a:pPr marL="0" indent="0">
              <a:buNone/>
            </a:pPr>
            <a:endParaRPr lang="en-US" dirty="0"/>
          </a:p>
        </p:txBody>
      </p:sp>
    </p:spTree>
    <p:extLst>
      <p:ext uri="{BB962C8B-B14F-4D97-AF65-F5344CB8AC3E}">
        <p14:creationId xmlns:p14="http://schemas.microsoft.com/office/powerpoint/2010/main" val="31282346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0"/>
            <a:ext cx="8229600" cy="6096000"/>
          </a:xfrm>
        </p:spPr>
        <p:txBody>
          <a:bodyPr>
            <a:normAutofit/>
          </a:bodyPr>
          <a:lstStyle/>
          <a:p>
            <a:pPr marL="0" indent="0">
              <a:buNone/>
            </a:pPr>
            <a:r>
              <a:rPr lang="en-US" sz="2400" b="1" dirty="0">
                <a:solidFill>
                  <a:srgbClr val="FF0000"/>
                </a:solidFill>
              </a:rPr>
              <a:t>Complete Accumulator</a:t>
            </a:r>
          </a:p>
          <a:p>
            <a:endParaRPr lang="en-US" sz="2400" dirty="0"/>
          </a:p>
          <a:p>
            <a:r>
              <a:rPr lang="en-US" sz="2400" dirty="0"/>
              <a:t>An accumulator with </a:t>
            </a:r>
            <a:r>
              <a:rPr lang="en-US" sz="2400" b="1" dirty="0"/>
              <a:t>n bits </a:t>
            </a:r>
            <a:r>
              <a:rPr lang="en-US" sz="2400" dirty="0"/>
              <a:t>requires </a:t>
            </a:r>
            <a:r>
              <a:rPr lang="en-US" sz="2400" b="1" dirty="0"/>
              <a:t>n stages </a:t>
            </a:r>
            <a:r>
              <a:rPr lang="en-US" sz="2400" dirty="0"/>
              <a:t>connected in </a:t>
            </a:r>
            <a:r>
              <a:rPr lang="en-US" sz="2400" b="1" dirty="0"/>
              <a:t>cascade</a:t>
            </a:r>
            <a:r>
              <a:rPr lang="en-US" sz="2400" dirty="0"/>
              <a:t>, with each stage having the circuit shown in above Figure. </a:t>
            </a:r>
          </a:p>
          <a:p>
            <a:pPr marL="0" indent="0">
              <a:buNone/>
            </a:pPr>
            <a:endParaRPr lang="en-US" sz="2400" dirty="0"/>
          </a:p>
          <a:p>
            <a:pPr>
              <a:buFont typeface="Wingdings" pitchFamily="2" charset="2"/>
              <a:buChar char="Ø"/>
            </a:pPr>
            <a:r>
              <a:rPr lang="en-US" sz="2400" dirty="0"/>
              <a:t>All control variables, except p9, must be applied to each stage. </a:t>
            </a:r>
          </a:p>
          <a:p>
            <a:pPr>
              <a:buFont typeface="Wingdings" pitchFamily="2" charset="2"/>
              <a:buChar char="Ø"/>
            </a:pPr>
            <a:r>
              <a:rPr lang="en-US" sz="2400" dirty="0"/>
              <a:t>The other inputs and outputs in each stage must be connected in cascade to form a complete accumulator. </a:t>
            </a:r>
          </a:p>
          <a:p>
            <a:pPr marL="0" indent="0">
              <a:buNone/>
            </a:pPr>
            <a:endParaRPr lang="en-US" sz="2400" dirty="0"/>
          </a:p>
          <a:p>
            <a:r>
              <a:rPr lang="en-US" sz="2400" dirty="0"/>
              <a:t>The interconnection among stages to form a complete accumulator is illustrated in the 4-bit accumulator shown below. </a:t>
            </a:r>
          </a:p>
          <a:p>
            <a:pPr marL="0" indent="0">
              <a:buNone/>
            </a:pPr>
            <a:r>
              <a:rPr lang="en-US" sz="2400" b="1" dirty="0">
                <a:solidFill>
                  <a:srgbClr val="FF0000"/>
                </a:solidFill>
              </a:rPr>
              <a:t> </a:t>
            </a:r>
            <a:endParaRPr lang="en-US" sz="2400" dirty="0">
              <a:solidFill>
                <a:srgbClr val="FF0000"/>
              </a:solidFill>
            </a:endParaRPr>
          </a:p>
        </p:txBody>
      </p:sp>
    </p:spTree>
    <p:extLst>
      <p:ext uri="{BB962C8B-B14F-4D97-AF65-F5344CB8AC3E}">
        <p14:creationId xmlns:p14="http://schemas.microsoft.com/office/powerpoint/2010/main" val="16692108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srcRect/>
          <a:stretch>
            <a:fillRect/>
          </a:stretch>
        </p:blipFill>
        <p:spPr bwMode="auto">
          <a:xfrm>
            <a:off x="2133600" y="0"/>
            <a:ext cx="8153400" cy="5257800"/>
          </a:xfrm>
          <a:prstGeom prst="rect">
            <a:avLst/>
          </a:prstGeom>
          <a:noFill/>
          <a:ln w="9525">
            <a:noFill/>
            <a:miter lim="800000"/>
            <a:headEnd/>
            <a:tailEnd/>
          </a:ln>
          <a:effectLst/>
        </p:spPr>
      </p:pic>
      <p:sp>
        <p:nvSpPr>
          <p:cNvPr id="5" name="TextBox 4"/>
          <p:cNvSpPr txBox="1"/>
          <p:nvPr/>
        </p:nvSpPr>
        <p:spPr>
          <a:xfrm>
            <a:off x="3352800" y="5486400"/>
            <a:ext cx="5257800" cy="400110"/>
          </a:xfrm>
          <a:prstGeom prst="rect">
            <a:avLst/>
          </a:prstGeom>
          <a:noFill/>
        </p:spPr>
        <p:txBody>
          <a:bodyPr wrap="square" rtlCol="0">
            <a:spAutoFit/>
          </a:bodyPr>
          <a:lstStyle/>
          <a:p>
            <a:r>
              <a:rPr lang="en-US" sz="2000" dirty="0">
                <a:solidFill>
                  <a:srgbClr val="C00000"/>
                </a:solidFill>
              </a:rPr>
              <a:t>Fig: 4-bit Accumulator constructed with 4 stages</a:t>
            </a:r>
          </a:p>
        </p:txBody>
      </p:sp>
    </p:spTree>
    <p:extLst>
      <p:ext uri="{BB962C8B-B14F-4D97-AF65-F5344CB8AC3E}">
        <p14:creationId xmlns:p14="http://schemas.microsoft.com/office/powerpoint/2010/main" val="235085617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
            <a:ext cx="8229600" cy="6126163"/>
          </a:xfrm>
        </p:spPr>
        <p:txBody>
          <a:bodyPr>
            <a:normAutofit/>
          </a:bodyPr>
          <a:lstStyle/>
          <a:p>
            <a:endParaRPr lang="en-US" sz="2400" dirty="0"/>
          </a:p>
          <a:p>
            <a:r>
              <a:rPr lang="en-US" sz="2400" dirty="0"/>
              <a:t>The number on top of each block represents the bit position in the accumulator. </a:t>
            </a:r>
          </a:p>
          <a:p>
            <a:pPr>
              <a:buFont typeface="Wingdings" pitchFamily="2" charset="2"/>
              <a:buChar char="ü"/>
            </a:pPr>
            <a:r>
              <a:rPr lang="en-US" sz="2400" dirty="0"/>
              <a:t>All blocks receive </a:t>
            </a:r>
            <a:r>
              <a:rPr lang="en-US" sz="2400" b="1" dirty="0"/>
              <a:t>8 control variables</a:t>
            </a:r>
            <a:r>
              <a:rPr lang="en-US" sz="2400" dirty="0"/>
              <a:t>, through p1 to p8, and the </a:t>
            </a:r>
            <a:r>
              <a:rPr lang="en-US" sz="2400" b="1" dirty="0"/>
              <a:t>clock pulses </a:t>
            </a:r>
            <a:r>
              <a:rPr lang="en-US" sz="2400" dirty="0"/>
              <a:t>from CP. </a:t>
            </a:r>
          </a:p>
          <a:p>
            <a:pPr>
              <a:buFont typeface="Wingdings" pitchFamily="2" charset="2"/>
              <a:buChar char="ü"/>
            </a:pPr>
            <a:r>
              <a:rPr lang="en-US" sz="2400" dirty="0"/>
              <a:t>The other </a:t>
            </a:r>
            <a:r>
              <a:rPr lang="en-US" sz="2400" b="1" dirty="0"/>
              <a:t>6 inputs </a:t>
            </a:r>
            <a:r>
              <a:rPr lang="en-US" sz="2400" dirty="0"/>
              <a:t>and </a:t>
            </a:r>
            <a:r>
              <a:rPr lang="en-US" sz="2400" b="1" dirty="0"/>
              <a:t>4 outputs </a:t>
            </a:r>
            <a:r>
              <a:rPr lang="en-US" sz="2400" dirty="0"/>
              <a:t>in each block are identical to those of a typical stage. </a:t>
            </a:r>
          </a:p>
          <a:p>
            <a:r>
              <a:rPr lang="en-US" sz="2400" dirty="0"/>
              <a:t>The circuit has </a:t>
            </a:r>
            <a:r>
              <a:rPr lang="en-US" sz="2400" b="1" dirty="0"/>
              <a:t>four B inputs</a:t>
            </a:r>
            <a:r>
              <a:rPr lang="en-US" sz="2400" dirty="0"/>
              <a:t>. </a:t>
            </a:r>
          </a:p>
          <a:p>
            <a:r>
              <a:rPr lang="en-US" sz="2400" dirty="0"/>
              <a:t>The </a:t>
            </a:r>
            <a:r>
              <a:rPr lang="en-US" sz="2400" b="1" dirty="0"/>
              <a:t>zero-detect chain </a:t>
            </a:r>
            <a:r>
              <a:rPr lang="en-US" sz="2400" dirty="0"/>
              <a:t>is obtained by connecting the </a:t>
            </a:r>
            <a:r>
              <a:rPr lang="en-US" sz="2400" b="1" dirty="0"/>
              <a:t>z variables in cascade</a:t>
            </a:r>
            <a:r>
              <a:rPr lang="en-US" sz="2400" dirty="0"/>
              <a:t>. </a:t>
            </a:r>
          </a:p>
          <a:p>
            <a:r>
              <a:rPr lang="en-US" sz="2400" dirty="0"/>
              <a:t>The last stage in this chain produces the zero-detect variable Z. </a:t>
            </a:r>
          </a:p>
          <a:p>
            <a:r>
              <a:rPr lang="en-US" sz="2400" dirty="0"/>
              <a:t> The carries for the arithmetic addition are connected in cascade as in full-adder circuits. </a:t>
            </a:r>
          </a:p>
        </p:txBody>
      </p:sp>
    </p:spTree>
    <p:extLst>
      <p:ext uri="{BB962C8B-B14F-4D97-AF65-F5344CB8AC3E}">
        <p14:creationId xmlns:p14="http://schemas.microsoft.com/office/powerpoint/2010/main" val="40494530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57201"/>
            <a:ext cx="8229600" cy="5668963"/>
          </a:xfrm>
        </p:spPr>
        <p:txBody>
          <a:bodyPr>
            <a:normAutofit fontScale="92500" lnSpcReduction="10000"/>
          </a:bodyPr>
          <a:lstStyle/>
          <a:p>
            <a:r>
              <a:rPr lang="en-US" sz="2400" dirty="0"/>
              <a:t> The serial input for the shift-left operation goes to input A0, which corresponds to input A i-1 in the first stage. </a:t>
            </a:r>
          </a:p>
          <a:p>
            <a:r>
              <a:rPr lang="en-US" sz="2400" dirty="0"/>
              <a:t>The serial input for the shift-right operation goes to input A5, which corresponds to A </a:t>
            </a:r>
            <a:r>
              <a:rPr lang="en-US" sz="2400" dirty="0" err="1"/>
              <a:t>i+l</a:t>
            </a:r>
            <a:r>
              <a:rPr lang="en-US" sz="2400" dirty="0"/>
              <a:t> in the fourth and last stage. </a:t>
            </a:r>
          </a:p>
          <a:p>
            <a:r>
              <a:rPr lang="en-US" sz="2400" dirty="0"/>
              <a:t>The increment operation is enabled with control variable in the first stage. </a:t>
            </a:r>
          </a:p>
          <a:p>
            <a:r>
              <a:rPr lang="en-US" sz="2400" dirty="0"/>
              <a:t>The other blocks receive the increment carry from the previous stage. </a:t>
            </a:r>
          </a:p>
          <a:p>
            <a:r>
              <a:rPr lang="en-US" sz="2400" dirty="0"/>
              <a:t> The total number of terminals in the 4-bit accumulator is 25, including terminals for the A outputs. </a:t>
            </a:r>
          </a:p>
          <a:p>
            <a:pPr>
              <a:buFont typeface="Wingdings" pitchFamily="2" charset="2"/>
              <a:buChar char="ü"/>
            </a:pPr>
            <a:r>
              <a:rPr lang="en-US" sz="2400" dirty="0"/>
              <a:t> Incorporating </a:t>
            </a:r>
            <a:r>
              <a:rPr lang="en-US" sz="2400" b="1" dirty="0"/>
              <a:t>two more terminals for power supply</a:t>
            </a:r>
            <a:r>
              <a:rPr lang="en-US" sz="2400" dirty="0"/>
              <a:t>, the circuit can be enclosed within one </a:t>
            </a:r>
            <a:r>
              <a:rPr lang="en-US" sz="2400" b="1" dirty="0"/>
              <a:t>IC package </a:t>
            </a:r>
            <a:r>
              <a:rPr lang="en-US" sz="2400" dirty="0"/>
              <a:t>having </a:t>
            </a:r>
            <a:r>
              <a:rPr lang="en-US" sz="2400" b="1" dirty="0"/>
              <a:t>27 or 28 pins</a:t>
            </a:r>
            <a:r>
              <a:rPr lang="en-US" sz="2400" dirty="0"/>
              <a:t>. </a:t>
            </a:r>
          </a:p>
          <a:p>
            <a:pPr>
              <a:buFont typeface="Wingdings" pitchFamily="2" charset="2"/>
              <a:buChar char="ü"/>
            </a:pPr>
            <a:r>
              <a:rPr lang="en-US" sz="2400" dirty="0"/>
              <a:t>The number of terminals for the control variables can be reduced from 9 to 4 if a decoder is inserted in the IC. </a:t>
            </a:r>
          </a:p>
          <a:p>
            <a:pPr>
              <a:buFont typeface="Wingdings" pitchFamily="2" charset="2"/>
              <a:buChar char="ü"/>
            </a:pPr>
            <a:r>
              <a:rPr lang="en-US" sz="2400" dirty="0"/>
              <a:t>In such a case, the IC pin count can be reduced to 22 and the accumulator can be extended to 16 </a:t>
            </a:r>
            <a:r>
              <a:rPr lang="en-US" sz="2400" dirty="0" err="1"/>
              <a:t>microoperations</a:t>
            </a:r>
            <a:r>
              <a:rPr lang="en-US" sz="2400" dirty="0"/>
              <a:t> without adding external pins. </a:t>
            </a:r>
          </a:p>
          <a:p>
            <a:pPr>
              <a:buFont typeface="Wingdings" pitchFamily="2" charset="2"/>
              <a:buChar char="ü"/>
            </a:pPr>
            <a:endParaRPr lang="en-US" sz="2400" dirty="0"/>
          </a:p>
          <a:p>
            <a:pPr marL="0" indent="0">
              <a:buNone/>
            </a:pPr>
            <a:endParaRPr lang="en-US" sz="2400" dirty="0"/>
          </a:p>
        </p:txBody>
      </p:sp>
    </p:spTree>
    <p:extLst>
      <p:ext uri="{BB962C8B-B14F-4D97-AF65-F5344CB8AC3E}">
        <p14:creationId xmlns:p14="http://schemas.microsoft.com/office/powerpoint/2010/main" val="1885145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10546</TotalTime>
  <Words>4217</Words>
  <Application>Microsoft Office PowerPoint</Application>
  <PresentationFormat>Widescreen</PresentationFormat>
  <Paragraphs>549</Paragraphs>
  <Slides>69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69</vt:i4>
      </vt:variant>
    </vt:vector>
  </HeadingPairs>
  <TitlesOfParts>
    <vt:vector size="77" baseType="lpstr">
      <vt:lpstr>Arial</vt:lpstr>
      <vt:lpstr>Calibri</vt:lpstr>
      <vt:lpstr>Calibri Light</vt:lpstr>
      <vt:lpstr>DejaVu Sans</vt:lpstr>
      <vt:lpstr>Symbol</vt:lpstr>
      <vt:lpstr>Times New Roman</vt:lpstr>
      <vt:lpstr>Wingdings</vt:lpstr>
      <vt:lpstr>Office Theme</vt:lpstr>
      <vt:lpstr>Module 2</vt:lpstr>
      <vt:lpstr>PowerPoint Presentation</vt:lpstr>
      <vt:lpstr>PowerPoint Presentation</vt:lpstr>
      <vt:lpstr>PowerPoint Presentation</vt:lpstr>
      <vt:lpstr>PowerPoint Presentation</vt:lpstr>
      <vt:lpstr>PowerPoint Presentation</vt:lpstr>
      <vt:lpstr>The basic symbols of the register transfer logic</vt:lpstr>
      <vt:lpstr>PowerPoint Presentation</vt:lpstr>
      <vt:lpstr>Basic arithmetic operations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dc:title>
  <dc:creator>Femy John</dc:creator>
  <cp:lastModifiedBy>Femy John</cp:lastModifiedBy>
  <cp:revision>20</cp:revision>
  <dcterms:created xsi:type="dcterms:W3CDTF">2023-03-01T13:41:52Z</dcterms:created>
  <dcterms:modified xsi:type="dcterms:W3CDTF">2023-03-22T13:56:50Z</dcterms:modified>
</cp:coreProperties>
</file>