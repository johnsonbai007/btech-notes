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embeddedFontLst>
    <p:embeddedFont>
      <p:font typeface="Calibri" panose="020F0502020204030204" pitchFamily="34" charset="0"/>
      <p:regular r:id="rId54"/>
      <p:bold r:id="rId55"/>
      <p:italic r:id="rId56"/>
      <p:boldItalic r:id="rId57"/>
    </p:embeddedFont>
    <p:embeddedFont>
      <p:font typeface="Comic Sans MS" panose="030F0702030302020204" pitchFamily="66" charset="0"/>
      <p:regular r:id="rId58"/>
      <p:bold r:id="rId59"/>
      <p:italic r:id="rId60"/>
      <p:boldItalic r:id="rId61"/>
    </p:embeddedFont>
    <p:embeddedFont>
      <p:font typeface="Noto Sans Symbols" panose="020B0604020202020204" charset="0"/>
      <p:regular r:id="rId62"/>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980" y="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3"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61"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f06fba46ab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f06fba46ab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f06fba46ab_1_15: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g1f06fba46ab_1_15: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1f06fba46ab_0_42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g1f06fba46ab_0_4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f06fba46ab_0_5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g1f06fba46ab_0_5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f06fba46ab_0_52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g1f06fba46ab_0_5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f06fba46ab_0_60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g1f06fba46ab_0_6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f06fba46ab_0_683:notes"/>
          <p:cNvSpPr txBox="1"/>
          <p:nvPr/>
        </p:nvSpPr>
        <p:spPr>
          <a:xfrm>
            <a:off x="3886885" y="8687111"/>
            <a:ext cx="2971200" cy="464700"/>
          </a:xfrm>
          <a:prstGeom prst="rect">
            <a:avLst/>
          </a:prstGeom>
          <a:noFill/>
          <a:ln>
            <a:noFill/>
          </a:ln>
        </p:spPr>
        <p:txBody>
          <a:bodyPr spcFirstLastPara="1" wrap="square" lIns="18725" tIns="0" rIns="18725" bIns="0" anchor="b"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1" u="none">
                <a:solidFill>
                  <a:srgbClr val="000000"/>
                </a:solidFill>
                <a:latin typeface="Arial"/>
                <a:ea typeface="Arial"/>
                <a:cs typeface="Arial"/>
                <a:sym typeface="Arial"/>
              </a:rPr>
              <a:t>7</a:t>
            </a:fld>
            <a:endParaRPr sz="1400"/>
          </a:p>
        </p:txBody>
      </p:sp>
      <p:sp>
        <p:nvSpPr>
          <p:cNvPr id="108" name="Google Shape;108;g1f06fba46ab_0_683:notes"/>
          <p:cNvSpPr>
            <a:spLocks noGrp="1" noRot="1" noChangeAspect="1"/>
          </p:cNvSpPr>
          <p:nvPr>
            <p:ph type="sldImg" idx="2"/>
          </p:nvPr>
        </p:nvSpPr>
        <p:spPr>
          <a:xfrm>
            <a:off x="425450" y="674688"/>
            <a:ext cx="6076950" cy="341788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g1f06fba46ab_0_683:notes"/>
          <p:cNvSpPr txBox="1">
            <a:spLocks noGrp="1"/>
          </p:cNvSpPr>
          <p:nvPr>
            <p:ph type="body" idx="1"/>
          </p:nvPr>
        </p:nvSpPr>
        <p:spPr>
          <a:xfrm>
            <a:off x="914193" y="4342776"/>
            <a:ext cx="5029500" cy="4115100"/>
          </a:xfrm>
          <a:prstGeom prst="rect">
            <a:avLst/>
          </a:prstGeom>
          <a:noFill/>
          <a:ln>
            <a:noFill/>
          </a:ln>
        </p:spPr>
        <p:txBody>
          <a:bodyPr spcFirstLastPara="1" wrap="square" lIns="92200" tIns="46875" rIns="92200" bIns="46875" anchor="t" anchorCtr="0">
            <a:noAutofit/>
          </a:bodyPr>
          <a:lstStyle/>
          <a:p>
            <a:pPr marL="0" lvl="0" indent="0" algn="l" rtl="0">
              <a:spcBef>
                <a:spcPts val="0"/>
              </a:spcBef>
              <a:spcAft>
                <a:spcPts val="0"/>
              </a:spcAft>
              <a:buSzPts val="1800"/>
              <a:buNone/>
            </a:pPr>
            <a:r>
              <a:rPr lang="en"/>
              <a:t>What is a word? What is a word length? During the discussion of which functional unit did we come across this concept?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f06fba46ab_0_716: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1f06fba46ab_0_716: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f06fba46ab_0_89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g1f06fba46ab_0_8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f06fba46ab_0_810: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1f06fba46ab_0_810: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f06fba46ab_0_816: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g1f06fba46ab_0_816: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f06fba46ab_0_0: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g1f06fba46ab_0_0: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f06fba46ab_0_89: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g1f06fba46ab_0_89: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f06fba46ab_0_174: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f06fba46ab_0_174: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f06fba46ab_0_257: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1f06fba46ab_0_257: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f06fba46ab_0_344: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7" name="Google Shape;217;g1f06fba46ab_0_344:notes"/>
          <p:cNvSpPr txBox="1">
            <a:spLocks noGrp="1"/>
          </p:cNvSpPr>
          <p:nvPr>
            <p:ph type="body" idx="1"/>
          </p:nvPr>
        </p:nvSpPr>
        <p:spPr>
          <a:xfrm>
            <a:off x="914193" y="4342776"/>
            <a:ext cx="5029500" cy="4115100"/>
          </a:xfrm>
          <a:prstGeom prst="rect">
            <a:avLst/>
          </a:prstGeom>
          <a:noFill/>
          <a:ln>
            <a:noFill/>
          </a:ln>
        </p:spPr>
        <p:txBody>
          <a:bodyPr spcFirstLastPara="1" wrap="square" lIns="92200" tIns="46875" rIns="92200" bIns="46875" anchor="t" anchorCtr="0">
            <a:noAutofit/>
          </a:bodyPr>
          <a:lstStyle/>
          <a:p>
            <a:pPr marL="0" lvl="0" indent="0" algn="l" rtl="0">
              <a:spcBef>
                <a:spcPts val="0"/>
              </a:spcBef>
              <a:spcAft>
                <a:spcPts val="0"/>
              </a:spcAft>
              <a:buSzPts val="1800"/>
              <a:buFont typeface="Arial"/>
              <a:buNone/>
            </a:pPr>
            <a:r>
              <a:rPr lang="en">
                <a:latin typeface="Arial"/>
                <a:ea typeface="Arial"/>
                <a:cs typeface="Arial"/>
                <a:sym typeface="Arial"/>
              </a:rPr>
              <a:t>1 --🡪load</a:t>
            </a:r>
            <a:endParaRPr/>
          </a:p>
          <a:p>
            <a:pPr marL="0" lvl="0" indent="0" algn="l" rtl="0">
              <a:spcBef>
                <a:spcPts val="0"/>
              </a:spcBef>
              <a:spcAft>
                <a:spcPts val="0"/>
              </a:spcAft>
              <a:buSzPts val="1800"/>
              <a:buFont typeface="Arial"/>
              <a:buNone/>
            </a:pPr>
            <a:r>
              <a:rPr lang="en">
                <a:latin typeface="Arial"/>
                <a:ea typeface="Arial"/>
                <a:cs typeface="Arial"/>
                <a:sym typeface="Arial"/>
              </a:rPr>
              <a:t>5--🡪 add</a:t>
            </a:r>
            <a:endParaRPr/>
          </a:p>
          <a:p>
            <a:pPr marL="0" lvl="0" indent="0" algn="l" rtl="0">
              <a:spcBef>
                <a:spcPts val="0"/>
              </a:spcBef>
              <a:spcAft>
                <a:spcPts val="0"/>
              </a:spcAft>
              <a:buSzPts val="1800"/>
              <a:buFont typeface="Arial"/>
              <a:buNone/>
            </a:pPr>
            <a:r>
              <a:rPr lang="en">
                <a:latin typeface="Arial"/>
                <a:ea typeface="Arial"/>
                <a:cs typeface="Arial"/>
                <a:sym typeface="Arial"/>
              </a:rPr>
              <a:t>2---🡪store</a:t>
            </a:r>
            <a:endParaRPr/>
          </a:p>
        </p:txBody>
      </p:sp>
      <p:sp>
        <p:nvSpPr>
          <p:cNvPr id="218" name="Google Shape;218;g1f06fba46ab_0_344:notes"/>
          <p:cNvSpPr txBox="1"/>
          <p:nvPr/>
        </p:nvSpPr>
        <p:spPr>
          <a:xfrm>
            <a:off x="3886885" y="8687111"/>
            <a:ext cx="2971200" cy="464700"/>
          </a:xfrm>
          <a:prstGeom prst="rect">
            <a:avLst/>
          </a:prstGeom>
          <a:noFill/>
          <a:ln>
            <a:noFill/>
          </a:ln>
        </p:spPr>
        <p:txBody>
          <a:bodyPr spcFirstLastPara="1" wrap="square" lIns="18725" tIns="0" rIns="18725" bIns="0" anchor="b"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1" u="none">
                <a:solidFill>
                  <a:srgbClr val="000000"/>
                </a:solidFill>
                <a:latin typeface="Arial"/>
                <a:ea typeface="Arial"/>
                <a:cs typeface="Arial"/>
                <a:sym typeface="Arial"/>
              </a:rPr>
              <a:t>16</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f06fba46ab_0_350:notes"/>
          <p:cNvSpPr txBox="1">
            <a:spLocks noGrp="1"/>
          </p:cNvSpPr>
          <p:nvPr>
            <p:ph type="body" idx="1"/>
          </p:nvPr>
        </p:nvSpPr>
        <p:spPr>
          <a:xfrm>
            <a:off x="914193" y="4342776"/>
            <a:ext cx="5029500" cy="411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1f06fba46ab_0_350:notes"/>
          <p:cNvSpPr>
            <a:spLocks noGrp="1" noRot="1" noChangeAspect="1"/>
          </p:cNvSpPr>
          <p:nvPr>
            <p:ph type="sldImg" idx="2"/>
          </p:nvPr>
        </p:nvSpPr>
        <p:spPr>
          <a:xfrm>
            <a:off x="393700" y="692150"/>
            <a:ext cx="6075363" cy="34178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f06fba46ab_0_98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1f06fba46ab_0_9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f06fba46ab_0_106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1f06fba46ab_0_10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f06fba46ab_0_114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g1f06fba46ab_0_1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f06fba46ab_0_115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g1f06fba46ab_0_11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f06fba46ab_0_115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g1f06fba46ab_0_11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f37e3c43f1_1_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g1f37e3c43f1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f37e3c43f1_0_1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1f37e3c43f1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1f37e3c43f1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g1f37e3c43f1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f37e3c43f1_1_9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g1f37e3c43f1_1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f37e3c43f1_0_1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1f37e3c43f1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f37e3c43f1_0_2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g1f37e3c43f1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f37e3c43f1_0_2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g1f37e3c43f1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f37e3c43f1_0_3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1f37e3c43f1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f37e3c43f1_0_3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g1f37e3c43f1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f37e3c43f1_0_4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g1f37e3c43f1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f37e3c43f1_0_4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g1f37e3c43f1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f37e3c43f1_1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f37e3c43f1_1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f37e3c43f1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Arial"/>
                <a:ea typeface="Arial"/>
                <a:cs typeface="Arial"/>
                <a:sym typeface="Arial"/>
              </a:rPr>
              <a:t>35</a:t>
            </a:fld>
            <a:endParaRPr sz="1200" b="0" i="0" u="none" strike="noStrike" cap="none">
              <a:solidFill>
                <a:schemeClr val="dk1"/>
              </a:solidFill>
              <a:latin typeface="Arial"/>
              <a:ea typeface="Arial"/>
              <a:cs typeface="Arial"/>
              <a:sym typeface="Arial"/>
            </a:endParaRPr>
          </a:p>
        </p:txBody>
      </p:sp>
      <p:sp>
        <p:nvSpPr>
          <p:cNvPr id="330" name="Google Shape;330;g1f37e3c43f1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g1f37e3c43f1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f37e3c43f1_0_5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g1f37e3c43f1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1f37e3c43f1_0_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1f37e3c43f1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f37e3c43f1_0_6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g1f37e3c43f1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f37e3c43f1_0_7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g1f37e3c43f1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f37e3c43f1_0_8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g1f37e3c43f1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f37e3c43f1_0_8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g1f37e3c43f1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1f37e3c43f1_0_9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g1f37e3c43f1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f37e3c43f1_0_9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g1f37e3c43f1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f37e3c43f1_0_10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g1f37e3c43f1_0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f37e3c43f1_0_10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g1f37e3c43f1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143000" y="342900"/>
            <a:ext cx="7315200" cy="457200"/>
          </a:xfrm>
          <a:prstGeom prst="rect">
            <a:avLst/>
          </a:prstGeom>
          <a:noFill/>
          <a:ln>
            <a:noFill/>
          </a:ln>
        </p:spPr>
        <p:txBody>
          <a:bodyPr spcFirstLastPara="1" wrap="square" lIns="92075" tIns="46025" rIns="92075" bIns="46025" anchor="ctr"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85800" y="1009650"/>
            <a:ext cx="7772400" cy="3675300"/>
          </a:xfrm>
          <a:prstGeom prst="rect">
            <a:avLst/>
          </a:prstGeom>
          <a:noFill/>
          <a:ln>
            <a:noFill/>
          </a:ln>
        </p:spPr>
        <p:txBody>
          <a:bodyPr spcFirstLastPara="1" wrap="square" lIns="92075" tIns="46025" rIns="92075" bIns="46025" anchor="t" anchorCtr="0">
            <a:noAutofit/>
          </a:bodyPr>
          <a:lstStyle>
            <a:lvl1pPr marL="457200" lvl="0" indent="-342900" algn="l" rtl="0">
              <a:spcBef>
                <a:spcPts val="360"/>
              </a:spcBef>
              <a:spcAft>
                <a:spcPts val="0"/>
              </a:spcAft>
              <a:buClr>
                <a:schemeClr val="dk1"/>
              </a:buClr>
              <a:buSzPts val="1800"/>
              <a:buChar char="●"/>
              <a:defRPr/>
            </a:lvl1pPr>
            <a:lvl2pPr marL="914400" lvl="1" indent="-320040" algn="l" rtl="0">
              <a:spcBef>
                <a:spcPts val="360"/>
              </a:spcBef>
              <a:spcAft>
                <a:spcPts val="0"/>
              </a:spcAft>
              <a:buClr>
                <a:schemeClr val="dk1"/>
              </a:buClr>
              <a:buSzPts val="1440"/>
              <a:buChar char="○"/>
              <a:defRPr/>
            </a:lvl2pPr>
            <a:lvl3pPr marL="1371600" lvl="2" indent="-388619" algn="l" rtl="0">
              <a:spcBef>
                <a:spcPts val="360"/>
              </a:spcBef>
              <a:spcAft>
                <a:spcPts val="0"/>
              </a:spcAft>
              <a:buClr>
                <a:schemeClr val="dk1"/>
              </a:buClr>
              <a:buSzPts val="252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53" name="Google Shape;53;p13"/>
          <p:cNvSpPr txBox="1">
            <a:spLocks noGrp="1"/>
          </p:cNvSpPr>
          <p:nvPr>
            <p:ph type="ftr" idx="11"/>
          </p:nvPr>
        </p:nvSpPr>
        <p:spPr>
          <a:xfrm>
            <a:off x="685800" y="4800600"/>
            <a:ext cx="6096000" cy="228600"/>
          </a:xfrm>
          <a:prstGeom prst="rect">
            <a:avLst/>
          </a:prstGeom>
          <a:noFill/>
          <a:ln>
            <a:noFill/>
          </a:ln>
        </p:spPr>
        <p:txBody>
          <a:bodyPr spcFirstLastPara="1" wrap="square" lIns="92075" tIns="46025" rIns="92075" bIns="46025"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4" name="Google Shape;54;p13"/>
          <p:cNvSpPr txBox="1">
            <a:spLocks noGrp="1"/>
          </p:cNvSpPr>
          <p:nvPr>
            <p:ph type="sldNum" idx="12"/>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lvl1pPr marL="0" marR="0" lvl="0"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
        <p:nvSpPr>
          <p:cNvPr id="55" name="Google Shape;55;p13"/>
          <p:cNvSpPr txBox="1">
            <a:spLocks noGrp="1"/>
          </p:cNvSpPr>
          <p:nvPr>
            <p:ph type="dt" idx="10"/>
          </p:nvPr>
        </p:nvSpPr>
        <p:spPr>
          <a:xfrm>
            <a:off x="685800" y="4686300"/>
            <a:ext cx="1905000" cy="342900"/>
          </a:xfrm>
          <a:prstGeom prst="rect">
            <a:avLst/>
          </a:prstGeom>
          <a:noFill/>
          <a:ln>
            <a:noFill/>
          </a:ln>
        </p:spPr>
        <p:txBody>
          <a:bodyPr spcFirstLastPara="1" wrap="square" lIns="92075" tIns="46025" rIns="92075" bIns="46025"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1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rtl="0">
              <a:lnSpc>
                <a:spcPct val="90000"/>
              </a:lnSpc>
              <a:spcBef>
                <a:spcPts val="800"/>
              </a:spcBef>
              <a:spcAft>
                <a:spcPts val="0"/>
              </a:spcAft>
              <a:buClr>
                <a:schemeClr val="dk1"/>
              </a:buClr>
              <a:buSzPts val="2400"/>
              <a:buChar char="●"/>
              <a:defRPr sz="2400"/>
            </a:lvl1pPr>
            <a:lvl2pPr marL="914400" lvl="1" indent="-361950" algn="l" rtl="0">
              <a:lnSpc>
                <a:spcPct val="90000"/>
              </a:lnSpc>
              <a:spcBef>
                <a:spcPts val="1200"/>
              </a:spcBef>
              <a:spcAft>
                <a:spcPts val="0"/>
              </a:spcAft>
              <a:buClr>
                <a:schemeClr val="dk1"/>
              </a:buClr>
              <a:buSzPts val="2100"/>
              <a:buChar char="○"/>
              <a:defRPr sz="2100"/>
            </a:lvl2pPr>
            <a:lvl3pPr marL="1371600" lvl="2" indent="-342900" algn="l" rtl="0">
              <a:lnSpc>
                <a:spcPct val="90000"/>
              </a:lnSpc>
              <a:spcBef>
                <a:spcPts val="1200"/>
              </a:spcBef>
              <a:spcAft>
                <a:spcPts val="0"/>
              </a:spcAft>
              <a:buClr>
                <a:schemeClr val="dk1"/>
              </a:buClr>
              <a:buSzPts val="1800"/>
              <a:buChar char="■"/>
              <a:defRPr sz="1800"/>
            </a:lvl3pPr>
            <a:lvl4pPr marL="1828800" lvl="3" indent="-323850" algn="l" rtl="0">
              <a:lnSpc>
                <a:spcPct val="90000"/>
              </a:lnSpc>
              <a:spcBef>
                <a:spcPts val="1200"/>
              </a:spcBef>
              <a:spcAft>
                <a:spcPts val="0"/>
              </a:spcAft>
              <a:buClr>
                <a:schemeClr val="dk1"/>
              </a:buClr>
              <a:buSzPts val="1500"/>
              <a:buChar char="●"/>
              <a:defRPr sz="1500"/>
            </a:lvl4pPr>
            <a:lvl5pPr marL="2286000" lvl="4" indent="-323850" algn="l" rtl="0">
              <a:lnSpc>
                <a:spcPct val="90000"/>
              </a:lnSpc>
              <a:spcBef>
                <a:spcPts val="1200"/>
              </a:spcBef>
              <a:spcAft>
                <a:spcPts val="0"/>
              </a:spcAft>
              <a:buClr>
                <a:schemeClr val="dk1"/>
              </a:buClr>
              <a:buSzPts val="1500"/>
              <a:buChar char="○"/>
              <a:defRPr sz="1500"/>
            </a:lvl5pPr>
            <a:lvl6pPr marL="2743200" lvl="5" indent="-323850" algn="l" rtl="0">
              <a:lnSpc>
                <a:spcPct val="90000"/>
              </a:lnSpc>
              <a:spcBef>
                <a:spcPts val="1200"/>
              </a:spcBef>
              <a:spcAft>
                <a:spcPts val="0"/>
              </a:spcAft>
              <a:buClr>
                <a:schemeClr val="dk1"/>
              </a:buClr>
              <a:buSzPts val="1500"/>
              <a:buChar char="■"/>
              <a:defRPr sz="1500"/>
            </a:lvl6pPr>
            <a:lvl7pPr marL="3200400" lvl="6" indent="-323850" algn="l" rtl="0">
              <a:lnSpc>
                <a:spcPct val="90000"/>
              </a:lnSpc>
              <a:spcBef>
                <a:spcPts val="1200"/>
              </a:spcBef>
              <a:spcAft>
                <a:spcPts val="0"/>
              </a:spcAft>
              <a:buClr>
                <a:schemeClr val="dk1"/>
              </a:buClr>
              <a:buSzPts val="1500"/>
              <a:buChar char="●"/>
              <a:defRPr sz="1500"/>
            </a:lvl7pPr>
            <a:lvl8pPr marL="3657600" lvl="7" indent="-323850" algn="l" rtl="0">
              <a:lnSpc>
                <a:spcPct val="90000"/>
              </a:lnSpc>
              <a:spcBef>
                <a:spcPts val="1200"/>
              </a:spcBef>
              <a:spcAft>
                <a:spcPts val="0"/>
              </a:spcAft>
              <a:buClr>
                <a:schemeClr val="dk1"/>
              </a:buClr>
              <a:buSzPts val="1500"/>
              <a:buChar char="○"/>
              <a:defRPr sz="1500"/>
            </a:lvl8pPr>
            <a:lvl9pPr marL="4114800" lvl="8" indent="-323850" algn="l" rtl="0">
              <a:lnSpc>
                <a:spcPct val="90000"/>
              </a:lnSpc>
              <a:spcBef>
                <a:spcPts val="1200"/>
              </a:spcBef>
              <a:spcAft>
                <a:spcPts val="1200"/>
              </a:spcAft>
              <a:buClr>
                <a:schemeClr val="dk1"/>
              </a:buClr>
              <a:buSzPts val="1500"/>
              <a:buChar char="■"/>
              <a:defRPr sz="1500"/>
            </a:lvl9pPr>
          </a:lstStyle>
          <a:p>
            <a:endParaRPr/>
          </a:p>
        </p:txBody>
      </p:sp>
      <p:sp>
        <p:nvSpPr>
          <p:cNvPr id="59" name="Google Shape;59;p1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1200"/>
              </a:spcBef>
              <a:spcAft>
                <a:spcPts val="0"/>
              </a:spcAft>
              <a:buClr>
                <a:schemeClr val="dk1"/>
              </a:buClr>
              <a:buSzPts val="1100"/>
              <a:buNone/>
              <a:defRPr sz="1100"/>
            </a:lvl2pPr>
            <a:lvl3pPr marL="1371600" lvl="2" indent="-228600" algn="l" rtl="0">
              <a:lnSpc>
                <a:spcPct val="90000"/>
              </a:lnSpc>
              <a:spcBef>
                <a:spcPts val="1200"/>
              </a:spcBef>
              <a:spcAft>
                <a:spcPts val="0"/>
              </a:spcAft>
              <a:buClr>
                <a:schemeClr val="dk1"/>
              </a:buClr>
              <a:buSzPts val="900"/>
              <a:buNone/>
              <a:defRPr sz="900"/>
            </a:lvl3pPr>
            <a:lvl4pPr marL="1828800" lvl="3" indent="-228600" algn="l" rtl="0">
              <a:lnSpc>
                <a:spcPct val="90000"/>
              </a:lnSpc>
              <a:spcBef>
                <a:spcPts val="1200"/>
              </a:spcBef>
              <a:spcAft>
                <a:spcPts val="0"/>
              </a:spcAft>
              <a:buClr>
                <a:schemeClr val="dk1"/>
              </a:buClr>
              <a:buSzPts val="800"/>
              <a:buNone/>
              <a:defRPr sz="800"/>
            </a:lvl4pPr>
            <a:lvl5pPr marL="2286000" lvl="4" indent="-228600" algn="l" rtl="0">
              <a:lnSpc>
                <a:spcPct val="90000"/>
              </a:lnSpc>
              <a:spcBef>
                <a:spcPts val="1200"/>
              </a:spcBef>
              <a:spcAft>
                <a:spcPts val="0"/>
              </a:spcAft>
              <a:buClr>
                <a:schemeClr val="dk1"/>
              </a:buClr>
              <a:buSzPts val="800"/>
              <a:buNone/>
              <a:defRPr sz="800"/>
            </a:lvl5pPr>
            <a:lvl6pPr marL="2743200" lvl="5" indent="-228600" algn="l" rtl="0">
              <a:lnSpc>
                <a:spcPct val="90000"/>
              </a:lnSpc>
              <a:spcBef>
                <a:spcPts val="1200"/>
              </a:spcBef>
              <a:spcAft>
                <a:spcPts val="0"/>
              </a:spcAft>
              <a:buClr>
                <a:schemeClr val="dk1"/>
              </a:buClr>
              <a:buSzPts val="800"/>
              <a:buNone/>
              <a:defRPr sz="800"/>
            </a:lvl6pPr>
            <a:lvl7pPr marL="3200400" lvl="6" indent="-228600" algn="l" rtl="0">
              <a:lnSpc>
                <a:spcPct val="90000"/>
              </a:lnSpc>
              <a:spcBef>
                <a:spcPts val="1200"/>
              </a:spcBef>
              <a:spcAft>
                <a:spcPts val="0"/>
              </a:spcAft>
              <a:buClr>
                <a:schemeClr val="dk1"/>
              </a:buClr>
              <a:buSzPts val="800"/>
              <a:buNone/>
              <a:defRPr sz="800"/>
            </a:lvl7pPr>
            <a:lvl8pPr marL="3657600" lvl="7" indent="-228600" algn="l" rtl="0">
              <a:lnSpc>
                <a:spcPct val="90000"/>
              </a:lnSpc>
              <a:spcBef>
                <a:spcPts val="1200"/>
              </a:spcBef>
              <a:spcAft>
                <a:spcPts val="0"/>
              </a:spcAft>
              <a:buClr>
                <a:schemeClr val="dk1"/>
              </a:buClr>
              <a:buSzPts val="800"/>
              <a:buNone/>
              <a:defRPr sz="800"/>
            </a:lvl8pPr>
            <a:lvl9pPr marL="4114800" lvl="8" indent="-228600" algn="l" rtl="0">
              <a:lnSpc>
                <a:spcPct val="90000"/>
              </a:lnSpc>
              <a:spcBef>
                <a:spcPts val="1200"/>
              </a:spcBef>
              <a:spcAft>
                <a:spcPts val="1200"/>
              </a:spcAft>
              <a:buClr>
                <a:schemeClr val="dk1"/>
              </a:buClr>
              <a:buSzPts val="800"/>
              <a:buNone/>
              <a:defRPr sz="800"/>
            </a:lvl9pPr>
          </a:lstStyle>
          <a:p>
            <a:endParaRPr/>
          </a:p>
        </p:txBody>
      </p:sp>
      <p:sp>
        <p:nvSpPr>
          <p:cNvPr id="60" name="Google Shape;60;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61" name="Google Shape;61;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62" name="Google Shape;62;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5"/>
          <p:cNvSpPr>
            <a:spLocks noGrp="1"/>
          </p:cNvSpPr>
          <p:nvPr>
            <p:ph type="pic" idx="2"/>
          </p:nvPr>
        </p:nvSpPr>
        <p:spPr>
          <a:xfrm>
            <a:off x="3887391" y="740569"/>
            <a:ext cx="4629300" cy="3655200"/>
          </a:xfrm>
          <a:prstGeom prst="rect">
            <a:avLst/>
          </a:prstGeom>
          <a:noFill/>
          <a:ln>
            <a:noFill/>
          </a:ln>
        </p:spPr>
      </p:sp>
      <p:sp>
        <p:nvSpPr>
          <p:cNvPr id="66" name="Google Shape;66;p1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1200"/>
              </a:spcBef>
              <a:spcAft>
                <a:spcPts val="0"/>
              </a:spcAft>
              <a:buClr>
                <a:schemeClr val="dk1"/>
              </a:buClr>
              <a:buSzPts val="1100"/>
              <a:buNone/>
              <a:defRPr sz="1100"/>
            </a:lvl2pPr>
            <a:lvl3pPr marL="1371600" lvl="2" indent="-228600" algn="l" rtl="0">
              <a:lnSpc>
                <a:spcPct val="90000"/>
              </a:lnSpc>
              <a:spcBef>
                <a:spcPts val="1200"/>
              </a:spcBef>
              <a:spcAft>
                <a:spcPts val="0"/>
              </a:spcAft>
              <a:buClr>
                <a:schemeClr val="dk1"/>
              </a:buClr>
              <a:buSzPts val="900"/>
              <a:buNone/>
              <a:defRPr sz="900"/>
            </a:lvl3pPr>
            <a:lvl4pPr marL="1828800" lvl="3" indent="-228600" algn="l" rtl="0">
              <a:lnSpc>
                <a:spcPct val="90000"/>
              </a:lnSpc>
              <a:spcBef>
                <a:spcPts val="1200"/>
              </a:spcBef>
              <a:spcAft>
                <a:spcPts val="0"/>
              </a:spcAft>
              <a:buClr>
                <a:schemeClr val="dk1"/>
              </a:buClr>
              <a:buSzPts val="800"/>
              <a:buNone/>
              <a:defRPr sz="800"/>
            </a:lvl4pPr>
            <a:lvl5pPr marL="2286000" lvl="4" indent="-228600" algn="l" rtl="0">
              <a:lnSpc>
                <a:spcPct val="90000"/>
              </a:lnSpc>
              <a:spcBef>
                <a:spcPts val="1200"/>
              </a:spcBef>
              <a:spcAft>
                <a:spcPts val="0"/>
              </a:spcAft>
              <a:buClr>
                <a:schemeClr val="dk1"/>
              </a:buClr>
              <a:buSzPts val="800"/>
              <a:buNone/>
              <a:defRPr sz="800"/>
            </a:lvl5pPr>
            <a:lvl6pPr marL="2743200" lvl="5" indent="-228600" algn="l" rtl="0">
              <a:lnSpc>
                <a:spcPct val="90000"/>
              </a:lnSpc>
              <a:spcBef>
                <a:spcPts val="1200"/>
              </a:spcBef>
              <a:spcAft>
                <a:spcPts val="0"/>
              </a:spcAft>
              <a:buClr>
                <a:schemeClr val="dk1"/>
              </a:buClr>
              <a:buSzPts val="800"/>
              <a:buNone/>
              <a:defRPr sz="800"/>
            </a:lvl6pPr>
            <a:lvl7pPr marL="3200400" lvl="6" indent="-228600" algn="l" rtl="0">
              <a:lnSpc>
                <a:spcPct val="90000"/>
              </a:lnSpc>
              <a:spcBef>
                <a:spcPts val="1200"/>
              </a:spcBef>
              <a:spcAft>
                <a:spcPts val="0"/>
              </a:spcAft>
              <a:buClr>
                <a:schemeClr val="dk1"/>
              </a:buClr>
              <a:buSzPts val="800"/>
              <a:buNone/>
              <a:defRPr sz="800"/>
            </a:lvl7pPr>
            <a:lvl8pPr marL="3657600" lvl="7" indent="-228600" algn="l" rtl="0">
              <a:lnSpc>
                <a:spcPct val="90000"/>
              </a:lnSpc>
              <a:spcBef>
                <a:spcPts val="1200"/>
              </a:spcBef>
              <a:spcAft>
                <a:spcPts val="0"/>
              </a:spcAft>
              <a:buClr>
                <a:schemeClr val="dk1"/>
              </a:buClr>
              <a:buSzPts val="800"/>
              <a:buNone/>
              <a:defRPr sz="800"/>
            </a:lvl8pPr>
            <a:lvl9pPr marL="4114800" lvl="8" indent="-228600" algn="l" rtl="0">
              <a:lnSpc>
                <a:spcPct val="90000"/>
              </a:lnSpc>
              <a:spcBef>
                <a:spcPts val="1200"/>
              </a:spcBef>
              <a:spcAft>
                <a:spcPts val="1200"/>
              </a:spcAft>
              <a:buClr>
                <a:schemeClr val="dk1"/>
              </a:buClr>
              <a:buSzPts val="800"/>
              <a:buNone/>
              <a:defRPr sz="800"/>
            </a:lvl9pPr>
          </a:lstStyle>
          <a:p>
            <a:endParaRPr/>
          </a:p>
        </p:txBody>
      </p:sp>
      <p:sp>
        <p:nvSpPr>
          <p:cNvPr id="67" name="Google Shape;67;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68" name="Google Shape;68;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69" name="Google Shape;69;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1143000" y="342900"/>
            <a:ext cx="7315200" cy="457200"/>
          </a:xfrm>
          <a:prstGeom prst="rect">
            <a:avLst/>
          </a:prstGeom>
        </p:spPr>
        <p:txBody>
          <a:bodyPr spcFirstLastPara="1" wrap="square" lIns="92075" tIns="46025" rIns="92075" bIns="46025" anchor="ctr" anchorCtr="0">
            <a:noAutofit/>
          </a:bodyPr>
          <a:lstStyle/>
          <a:p>
            <a:pPr marL="0" lvl="0" indent="0" algn="l" rtl="0">
              <a:spcBef>
                <a:spcPts val="0"/>
              </a:spcBef>
              <a:spcAft>
                <a:spcPts val="0"/>
              </a:spcAft>
              <a:buNone/>
            </a:pPr>
            <a:endParaRPr/>
          </a:p>
        </p:txBody>
      </p:sp>
      <p:sp>
        <p:nvSpPr>
          <p:cNvPr id="75" name="Google Shape;75;p16"/>
          <p:cNvSpPr txBox="1">
            <a:spLocks noGrp="1"/>
          </p:cNvSpPr>
          <p:nvPr>
            <p:ph type="body" idx="1"/>
          </p:nvPr>
        </p:nvSpPr>
        <p:spPr>
          <a:xfrm>
            <a:off x="685800" y="1009650"/>
            <a:ext cx="7772400" cy="3675300"/>
          </a:xfrm>
          <a:prstGeom prst="rect">
            <a:avLst/>
          </a:prstGeom>
        </p:spPr>
        <p:txBody>
          <a:bodyPr spcFirstLastPara="1" wrap="square" lIns="92075" tIns="46025" rIns="92075" bIns="46025" anchor="t" anchorCtr="0">
            <a:noAutofit/>
          </a:bodyPr>
          <a:lstStyle/>
          <a:p>
            <a:pPr marL="0" lvl="0" indent="0" algn="ctr" rtl="0">
              <a:spcBef>
                <a:spcPts val="360"/>
              </a:spcBef>
              <a:spcAft>
                <a:spcPts val="0"/>
              </a:spcAft>
              <a:buNone/>
            </a:pPr>
            <a:endParaRPr sz="3200" i="1">
              <a:solidFill>
                <a:srgbClr val="FF0000"/>
              </a:solidFill>
              <a:latin typeface="Comic Sans MS"/>
              <a:ea typeface="Comic Sans MS"/>
              <a:cs typeface="Comic Sans MS"/>
              <a:sym typeface="Comic Sans MS"/>
            </a:endParaRPr>
          </a:p>
          <a:p>
            <a:pPr marL="0" lvl="0" indent="0" algn="ctr" rtl="0">
              <a:spcBef>
                <a:spcPts val="360"/>
              </a:spcBef>
              <a:spcAft>
                <a:spcPts val="0"/>
              </a:spcAft>
              <a:buNone/>
            </a:pPr>
            <a:endParaRPr sz="3200" i="1">
              <a:solidFill>
                <a:srgbClr val="FF0000"/>
              </a:solidFill>
              <a:latin typeface="Comic Sans MS"/>
              <a:ea typeface="Comic Sans MS"/>
              <a:cs typeface="Comic Sans MS"/>
              <a:sym typeface="Comic Sans MS"/>
            </a:endParaRPr>
          </a:p>
          <a:p>
            <a:pPr marL="0" lvl="0" indent="0" algn="ctr" rtl="0">
              <a:spcBef>
                <a:spcPts val="360"/>
              </a:spcBef>
              <a:spcAft>
                <a:spcPts val="0"/>
              </a:spcAft>
              <a:buNone/>
            </a:pPr>
            <a:r>
              <a:rPr lang="en" sz="3200" i="1">
                <a:solidFill>
                  <a:srgbClr val="FF0000"/>
                </a:solidFill>
                <a:latin typeface="Comic Sans MS"/>
                <a:ea typeface="Comic Sans MS"/>
                <a:cs typeface="Comic Sans MS"/>
                <a:sym typeface="Comic Sans MS"/>
              </a:rPr>
              <a:t>MODULE 1</a:t>
            </a:r>
            <a:endParaRPr sz="3200" i="1">
              <a:solidFill>
                <a:srgbClr val="FF0000"/>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2</a:t>
            </a:fld>
            <a:endParaRPr/>
          </a:p>
        </p:txBody>
      </p:sp>
      <p:sp>
        <p:nvSpPr>
          <p:cNvPr id="81" name="Google Shape;81;p17"/>
          <p:cNvSpPr txBox="1">
            <a:spLocks noGrp="1"/>
          </p:cNvSpPr>
          <p:nvPr>
            <p:ph type="title"/>
          </p:nvPr>
        </p:nvSpPr>
        <p:spPr>
          <a:xfrm>
            <a:off x="1143000" y="257175"/>
            <a:ext cx="7315200" cy="3429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800"/>
              <a:buFont typeface="Comic Sans MS"/>
              <a:buNone/>
            </a:pPr>
            <a:r>
              <a:rPr lang="en" sz="2800" b="0" i="0" u="none">
                <a:solidFill>
                  <a:srgbClr val="CC0000"/>
                </a:solidFill>
                <a:latin typeface="Comic Sans MS"/>
                <a:ea typeface="Comic Sans MS"/>
                <a:cs typeface="Comic Sans MS"/>
                <a:sym typeface="Comic Sans MS"/>
              </a:rPr>
              <a:t>What is a computer?</a:t>
            </a:r>
            <a:endParaRPr/>
          </a:p>
        </p:txBody>
      </p:sp>
      <p:sp>
        <p:nvSpPr>
          <p:cNvPr id="82" name="Google Shape;82;p17"/>
          <p:cNvSpPr txBox="1">
            <a:spLocks noGrp="1"/>
          </p:cNvSpPr>
          <p:nvPr>
            <p:ph type="body" idx="1"/>
          </p:nvPr>
        </p:nvSpPr>
        <p:spPr>
          <a:xfrm>
            <a:off x="685800" y="757238"/>
            <a:ext cx="7772400" cy="2756400"/>
          </a:xfrm>
          <a:prstGeom prst="rect">
            <a:avLst/>
          </a:prstGeom>
          <a:noFill/>
          <a:ln>
            <a:noFill/>
          </a:ln>
        </p:spPr>
        <p:txBody>
          <a:bodyPr spcFirstLastPara="1" wrap="square" lIns="92075" tIns="46025" rIns="92075" bIns="46025" anchor="t" anchorCtr="0">
            <a:noAutofit/>
          </a:bodyPr>
          <a:lstStyle/>
          <a:p>
            <a:pPr marL="342900" lvl="0" indent="-342900" algn="l" rtl="0">
              <a:lnSpc>
                <a:spcPct val="100000"/>
              </a:lnSpc>
              <a:spcBef>
                <a:spcPts val="0"/>
              </a:spcBef>
              <a:spcAft>
                <a:spcPts val="0"/>
              </a:spcAft>
              <a:buClr>
                <a:srgbClr val="000099"/>
              </a:buClr>
              <a:buSzPts val="2000"/>
              <a:buFont typeface="Noto Sans Symbols"/>
              <a:buChar char="❑"/>
            </a:pPr>
            <a:r>
              <a:rPr lang="en" sz="2000" b="0" i="0" u="none">
                <a:solidFill>
                  <a:srgbClr val="000099"/>
                </a:solidFill>
                <a:latin typeface="Times New Roman"/>
                <a:ea typeface="Times New Roman"/>
                <a:cs typeface="Times New Roman"/>
                <a:sym typeface="Times New Roman"/>
              </a:rPr>
              <a:t>a computer is a sophisticated electronic calculating machine</a:t>
            </a:r>
            <a:r>
              <a:rPr lang="en" sz="2000" b="0" i="0" u="none">
                <a:solidFill>
                  <a:schemeClr val="dk1"/>
                </a:solidFill>
                <a:latin typeface="Times New Roman"/>
                <a:ea typeface="Times New Roman"/>
                <a:cs typeface="Times New Roman"/>
                <a:sym typeface="Times New Roman"/>
              </a:rPr>
              <a:t> that:</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Accepts</a:t>
            </a:r>
            <a:r>
              <a:rPr lang="en" sz="2000" b="0" i="0" u="none">
                <a:solidFill>
                  <a:schemeClr val="dk1"/>
                </a:solidFill>
                <a:latin typeface="Times New Roman"/>
                <a:ea typeface="Times New Roman"/>
                <a:cs typeface="Times New Roman"/>
                <a:sym typeface="Times New Roman"/>
              </a:rPr>
              <a:t> input information,</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Processes</a:t>
            </a:r>
            <a:r>
              <a:rPr lang="en" sz="2000" b="0" i="0" u="none">
                <a:solidFill>
                  <a:schemeClr val="dk1"/>
                </a:solidFill>
                <a:latin typeface="Times New Roman"/>
                <a:ea typeface="Times New Roman"/>
                <a:cs typeface="Times New Roman"/>
                <a:sym typeface="Times New Roman"/>
              </a:rPr>
              <a:t> the information according to a list of internally stored instructions and</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Produces</a:t>
            </a:r>
            <a:r>
              <a:rPr lang="en" sz="2000" b="0" i="0" u="none">
                <a:solidFill>
                  <a:schemeClr val="dk1"/>
                </a:solidFill>
                <a:latin typeface="Times New Roman"/>
                <a:ea typeface="Times New Roman"/>
                <a:cs typeface="Times New Roman"/>
                <a:sym typeface="Times New Roman"/>
              </a:rPr>
              <a:t> the resulting output information.</a:t>
            </a:r>
            <a:endParaRPr/>
          </a:p>
          <a:p>
            <a:pPr marL="342900" lvl="0" indent="-342900" algn="l" rtl="0">
              <a:lnSpc>
                <a:spcPct val="100000"/>
              </a:lnSpc>
              <a:spcBef>
                <a:spcPts val="400"/>
              </a:spcBef>
              <a:spcAft>
                <a:spcPts val="0"/>
              </a:spcAft>
              <a:buClr>
                <a:srgbClr val="000099"/>
              </a:buClr>
              <a:buSzPts val="2000"/>
              <a:buFont typeface="Noto Sans Symbols"/>
              <a:buChar char="❑"/>
            </a:pPr>
            <a:r>
              <a:rPr lang="en" sz="2000" b="0" i="0" u="none">
                <a:solidFill>
                  <a:srgbClr val="000099"/>
                </a:solidFill>
                <a:latin typeface="Times New Roman"/>
                <a:ea typeface="Times New Roman"/>
                <a:cs typeface="Times New Roman"/>
                <a:sym typeface="Times New Roman"/>
              </a:rPr>
              <a:t>Functions performed by a computer</a:t>
            </a:r>
            <a:r>
              <a:rPr lang="en" sz="2000" b="0" i="0" u="none">
                <a:solidFill>
                  <a:schemeClr val="dk1"/>
                </a:solidFill>
                <a:latin typeface="Times New Roman"/>
                <a:ea typeface="Times New Roman"/>
                <a:cs typeface="Times New Roman"/>
                <a:sym typeface="Times New Roman"/>
              </a:rPr>
              <a:t> are:</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Accepting</a:t>
            </a:r>
            <a:r>
              <a:rPr lang="en" sz="2000" b="0" i="0" u="none">
                <a:solidFill>
                  <a:schemeClr val="dk1"/>
                </a:solidFill>
                <a:latin typeface="Times New Roman"/>
                <a:ea typeface="Times New Roman"/>
                <a:cs typeface="Times New Roman"/>
                <a:sym typeface="Times New Roman"/>
              </a:rPr>
              <a:t> information to be processed as </a:t>
            </a:r>
            <a:r>
              <a:rPr lang="en" sz="2000" b="0" i="0" u="none">
                <a:solidFill>
                  <a:srgbClr val="FF0000"/>
                </a:solidFill>
                <a:latin typeface="Times New Roman"/>
                <a:ea typeface="Times New Roman"/>
                <a:cs typeface="Times New Roman"/>
                <a:sym typeface="Times New Roman"/>
              </a:rPr>
              <a:t>input</a:t>
            </a:r>
            <a:r>
              <a:rPr lang="en" sz="2000" b="0" i="0" u="none">
                <a:solidFill>
                  <a:schemeClr val="dk1"/>
                </a:solidFill>
                <a:latin typeface="Times New Roman"/>
                <a:ea typeface="Times New Roman"/>
                <a:cs typeface="Times New Roman"/>
                <a:sym typeface="Times New Roman"/>
              </a:rPr>
              <a:t>.</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Storing</a:t>
            </a:r>
            <a:r>
              <a:rPr lang="en" sz="2000" b="0" i="0" u="none">
                <a:solidFill>
                  <a:schemeClr val="dk1"/>
                </a:solidFill>
                <a:latin typeface="Times New Roman"/>
                <a:ea typeface="Times New Roman"/>
                <a:cs typeface="Times New Roman"/>
                <a:sym typeface="Times New Roman"/>
              </a:rPr>
              <a:t> a list of </a:t>
            </a:r>
            <a:r>
              <a:rPr lang="en" sz="2000" b="0" i="0" u="none">
                <a:solidFill>
                  <a:srgbClr val="FF0000"/>
                </a:solidFill>
                <a:latin typeface="Times New Roman"/>
                <a:ea typeface="Times New Roman"/>
                <a:cs typeface="Times New Roman"/>
                <a:sym typeface="Times New Roman"/>
              </a:rPr>
              <a:t>instructions</a:t>
            </a:r>
            <a:r>
              <a:rPr lang="en" sz="2000" b="0" i="0" u="none">
                <a:solidFill>
                  <a:schemeClr val="dk1"/>
                </a:solidFill>
                <a:latin typeface="Times New Roman"/>
                <a:ea typeface="Times New Roman"/>
                <a:cs typeface="Times New Roman"/>
                <a:sym typeface="Times New Roman"/>
              </a:rPr>
              <a:t> to process the information.</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Processing</a:t>
            </a:r>
            <a:r>
              <a:rPr lang="en" sz="2000" b="0" i="0" u="none">
                <a:solidFill>
                  <a:schemeClr val="dk1"/>
                </a:solidFill>
                <a:latin typeface="Times New Roman"/>
                <a:ea typeface="Times New Roman"/>
                <a:cs typeface="Times New Roman"/>
                <a:sym typeface="Times New Roman"/>
              </a:rPr>
              <a:t> the </a:t>
            </a:r>
            <a:r>
              <a:rPr lang="en" sz="2000" b="0" i="0" u="none">
                <a:solidFill>
                  <a:srgbClr val="FF0000"/>
                </a:solidFill>
                <a:latin typeface="Times New Roman"/>
                <a:ea typeface="Times New Roman"/>
                <a:cs typeface="Times New Roman"/>
                <a:sym typeface="Times New Roman"/>
              </a:rPr>
              <a:t>information</a:t>
            </a:r>
            <a:r>
              <a:rPr lang="en" sz="2000" b="0" i="0" u="none">
                <a:solidFill>
                  <a:schemeClr val="dk1"/>
                </a:solidFill>
                <a:latin typeface="Times New Roman"/>
                <a:ea typeface="Times New Roman"/>
                <a:cs typeface="Times New Roman"/>
                <a:sym typeface="Times New Roman"/>
              </a:rPr>
              <a:t> according to the list of instructions.</a:t>
            </a:r>
            <a:endParaRPr/>
          </a:p>
          <a:p>
            <a:pPr marL="742950" lvl="1" indent="-285750" algn="l" rtl="0">
              <a:lnSpc>
                <a:spcPct val="100000"/>
              </a:lnSpc>
              <a:spcBef>
                <a:spcPts val="400"/>
              </a:spcBef>
              <a:spcAft>
                <a:spcPts val="0"/>
              </a:spcAft>
              <a:buClr>
                <a:srgbClr val="FF0000"/>
              </a:buClr>
              <a:buSzPts val="1600"/>
              <a:buFont typeface="Noto Sans Symbols"/>
              <a:buChar char="◆"/>
            </a:pPr>
            <a:r>
              <a:rPr lang="en" sz="2000" b="0" i="0" u="none">
                <a:solidFill>
                  <a:srgbClr val="FF0000"/>
                </a:solidFill>
                <a:latin typeface="Times New Roman"/>
                <a:ea typeface="Times New Roman"/>
                <a:cs typeface="Times New Roman"/>
                <a:sym typeface="Times New Roman"/>
              </a:rPr>
              <a:t>Providing</a:t>
            </a:r>
            <a:r>
              <a:rPr lang="en" sz="2000" b="0" i="0" u="none">
                <a:solidFill>
                  <a:schemeClr val="dk1"/>
                </a:solidFill>
                <a:latin typeface="Times New Roman"/>
                <a:ea typeface="Times New Roman"/>
                <a:cs typeface="Times New Roman"/>
                <a:sym typeface="Times New Roman"/>
              </a:rPr>
              <a:t> the results of the processing as </a:t>
            </a:r>
            <a:r>
              <a:rPr lang="en" sz="2000" b="0" i="0" u="none">
                <a:solidFill>
                  <a:srgbClr val="FF0000"/>
                </a:solidFill>
                <a:latin typeface="Times New Roman"/>
                <a:ea typeface="Times New Roman"/>
                <a:cs typeface="Times New Roman"/>
                <a:sym typeface="Times New Roman"/>
              </a:rPr>
              <a:t>output</a:t>
            </a:r>
            <a:r>
              <a:rPr lang="en" sz="2000" b="0" i="0" u="none">
                <a:solidFill>
                  <a:schemeClr val="dk1"/>
                </a:solidFill>
                <a:latin typeface="Times New Roman"/>
                <a:ea typeface="Times New Roman"/>
                <a:cs typeface="Times New Roman"/>
                <a:sym typeface="Times New Roman"/>
              </a:rPr>
              <a:t>.</a:t>
            </a:r>
            <a:endParaRPr/>
          </a:p>
          <a:p>
            <a:pPr marL="342900" lvl="0" indent="-342900" algn="l" rtl="0">
              <a:lnSpc>
                <a:spcPct val="100000"/>
              </a:lnSpc>
              <a:spcBef>
                <a:spcPts val="400"/>
              </a:spcBef>
              <a:spcAft>
                <a:spcPts val="0"/>
              </a:spcAft>
              <a:buClr>
                <a:srgbClr val="CC3300"/>
              </a:buClr>
              <a:buSzPts val="2000"/>
              <a:buFont typeface="Noto Sans Symbols"/>
              <a:buChar char="❑"/>
            </a:pPr>
            <a:r>
              <a:rPr lang="en" sz="2000" b="0" i="0" u="none">
                <a:solidFill>
                  <a:srgbClr val="CC3300"/>
                </a:solidFill>
                <a:latin typeface="Times New Roman"/>
                <a:ea typeface="Times New Roman"/>
                <a:cs typeface="Times New Roman"/>
                <a:sym typeface="Times New Roman"/>
              </a:rPr>
              <a:t>What are the functional units of a computer?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628650" y="273844"/>
            <a:ext cx="7886700" cy="504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0000"/>
              </a:buClr>
              <a:buSzPts val="1400"/>
              <a:buFont typeface="Times New Roman"/>
              <a:buNone/>
            </a:pPr>
            <a:r>
              <a:rPr lang="en" sz="1400" b="1" i="0" u="none" strike="noStrike">
                <a:solidFill>
                  <a:srgbClr val="FF0000"/>
                </a:solidFill>
                <a:latin typeface="Comic Sans MS"/>
                <a:ea typeface="Comic Sans MS"/>
                <a:cs typeface="Comic Sans MS"/>
                <a:sym typeface="Comic Sans MS"/>
              </a:rPr>
              <a:t>FUNCTIONAL UNITS: </a:t>
            </a:r>
            <a:endParaRPr>
              <a:solidFill>
                <a:srgbClr val="FF0000"/>
              </a:solidFill>
              <a:latin typeface="Comic Sans MS"/>
              <a:ea typeface="Comic Sans MS"/>
              <a:cs typeface="Comic Sans MS"/>
              <a:sym typeface="Comic Sans MS"/>
            </a:endParaRPr>
          </a:p>
        </p:txBody>
      </p:sp>
      <p:sp>
        <p:nvSpPr>
          <p:cNvPr id="88" name="Google Shape;88;p18"/>
          <p:cNvSpPr txBox="1">
            <a:spLocks noGrp="1"/>
          </p:cNvSpPr>
          <p:nvPr>
            <p:ph type="body" idx="1"/>
          </p:nvPr>
        </p:nvSpPr>
        <p:spPr>
          <a:xfrm>
            <a:off x="628650" y="881743"/>
            <a:ext cx="7886700" cy="40869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The computer system is divided into five separate units for its operation.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Input Unit.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Memory Unit.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ALU.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Control Unit.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Output Unit. </a:t>
            </a:r>
            <a:endParaRPr/>
          </a:p>
          <a:p>
            <a:pPr marL="177800" lvl="0" indent="-88900" algn="l" rtl="0">
              <a:lnSpc>
                <a:spcPct val="90000"/>
              </a:lnSpc>
              <a:spcBef>
                <a:spcPts val="800"/>
              </a:spcBef>
              <a:spcAft>
                <a:spcPts val="0"/>
              </a:spcAft>
              <a:buClr>
                <a:schemeClr val="dk1"/>
              </a:buClr>
              <a:buSzPts val="1400"/>
              <a:buNone/>
            </a:pPr>
            <a:endParaRPr sz="1400">
              <a:solidFill>
                <a:srgbClr val="000000"/>
              </a:solidFill>
              <a:latin typeface="Times New Roman"/>
              <a:ea typeface="Times New Roman"/>
              <a:cs typeface="Times New Roman"/>
              <a:sym typeface="Times New Roman"/>
            </a:endParaRPr>
          </a:p>
          <a:p>
            <a:pPr marL="177800" lvl="0" indent="-88900" algn="l" rtl="0">
              <a:lnSpc>
                <a:spcPct val="100000"/>
              </a:lnSpc>
              <a:spcBef>
                <a:spcPts val="800"/>
              </a:spcBef>
              <a:spcAft>
                <a:spcPts val="0"/>
              </a:spcAft>
              <a:buClr>
                <a:schemeClr val="dk1"/>
              </a:buClr>
              <a:buSzPts val="1400"/>
              <a:buNone/>
            </a:pPr>
            <a:endParaRPr sz="1400" b="0" i="0" u="none" strike="noStrike">
              <a:solidFill>
                <a:srgbClr val="000000"/>
              </a:solidFill>
              <a:latin typeface="Times New Roman"/>
              <a:ea typeface="Times New Roman"/>
              <a:cs typeface="Times New Roman"/>
              <a:sym typeface="Times New Roman"/>
            </a:endParaRPr>
          </a:p>
          <a:p>
            <a:pPr marL="177800" lvl="0" indent="-88900" algn="just" rtl="0">
              <a:lnSpc>
                <a:spcPct val="100000"/>
              </a:lnSpc>
              <a:spcBef>
                <a:spcPts val="800"/>
              </a:spcBef>
              <a:spcAft>
                <a:spcPts val="0"/>
              </a:spcAft>
              <a:buClr>
                <a:schemeClr val="dk1"/>
              </a:buClr>
              <a:buSzPts val="1400"/>
              <a:buNone/>
            </a:pPr>
            <a:endParaRPr sz="1400">
              <a:solidFill>
                <a:srgbClr val="000000"/>
              </a:solidFill>
              <a:latin typeface="Times New Roman"/>
              <a:ea typeface="Times New Roman"/>
              <a:cs typeface="Times New Roman"/>
              <a:sym typeface="Times New Roman"/>
            </a:endParaRPr>
          </a:p>
          <a:p>
            <a:pPr marL="177800" lvl="0" indent="-177800" algn="just" rtl="0">
              <a:lnSpc>
                <a:spcPct val="10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input unit accepts the code information from the  users .</a:t>
            </a:r>
            <a:r>
              <a:rPr lang="en" sz="1400">
                <a:solidFill>
                  <a:srgbClr val="000000"/>
                </a:solidFill>
                <a:latin typeface="Times New Roman"/>
                <a:ea typeface="Times New Roman"/>
                <a:cs typeface="Times New Roman"/>
                <a:sym typeface="Times New Roman"/>
              </a:rPr>
              <a:t>The information received is either stored in the </a:t>
            </a:r>
            <a:r>
              <a:rPr lang="en" sz="1400" b="0" i="0" u="none" strike="noStrike">
                <a:solidFill>
                  <a:srgbClr val="000000"/>
                </a:solidFill>
                <a:latin typeface="Times New Roman"/>
                <a:ea typeface="Times New Roman"/>
                <a:cs typeface="Times New Roman"/>
                <a:sym typeface="Times New Roman"/>
              </a:rPr>
              <a:t>Memory or immediately used by the Arithmetic &amp; </a:t>
            </a:r>
            <a:r>
              <a:rPr lang="en" sz="1400">
                <a:solidFill>
                  <a:srgbClr val="000000"/>
                </a:solidFill>
                <a:latin typeface="Times New Roman"/>
                <a:ea typeface="Times New Roman"/>
                <a:cs typeface="Times New Roman"/>
                <a:sym typeface="Times New Roman"/>
              </a:rPr>
              <a:t>Logic circuitry to form the desired operations .</a:t>
            </a:r>
            <a:r>
              <a:rPr lang="en" sz="1400" b="0" i="0" u="none" strike="noStrike">
                <a:solidFill>
                  <a:srgbClr val="000000"/>
                </a:solidFill>
                <a:latin typeface="Times New Roman"/>
                <a:ea typeface="Times New Roman"/>
                <a:cs typeface="Times New Roman"/>
                <a:sym typeface="Times New Roman"/>
              </a:rPr>
              <a:t>The processing steps are determined by the program stored in the memory. Finally</a:t>
            </a:r>
            <a:r>
              <a:rPr lang="en" sz="1400">
                <a:solidFill>
                  <a:srgbClr val="000000"/>
                </a:solidFill>
                <a:latin typeface="Times New Roman"/>
                <a:ea typeface="Times New Roman"/>
                <a:cs typeface="Times New Roman"/>
                <a:sym typeface="Times New Roman"/>
              </a:rPr>
              <a:t> the results are sent back to the outside world through the output unit. All these actions are coordinated by the control unit</a:t>
            </a:r>
            <a:endParaRPr sz="1400" b="0" i="0" u="none" strike="noStrike">
              <a:solidFill>
                <a:srgbClr val="000000"/>
              </a:solidFill>
              <a:latin typeface="Times New Roman"/>
              <a:ea typeface="Times New Roman"/>
              <a:cs typeface="Times New Roman"/>
              <a:sym typeface="Times New Roman"/>
            </a:endParaRPr>
          </a:p>
          <a:p>
            <a:pPr marL="177800" lvl="0" indent="-38100" algn="l" rtl="0">
              <a:lnSpc>
                <a:spcPct val="90000"/>
              </a:lnSpc>
              <a:spcBef>
                <a:spcPts val="800"/>
              </a:spcBef>
              <a:spcAft>
                <a:spcPts val="0"/>
              </a:spcAft>
              <a:buClr>
                <a:schemeClr val="dk1"/>
              </a:buClr>
              <a:buSzPts val="2100"/>
              <a:buNone/>
            </a:pPr>
            <a:endParaRPr/>
          </a:p>
        </p:txBody>
      </p:sp>
      <p:pic>
        <p:nvPicPr>
          <p:cNvPr id="89" name="Google Shape;89;p18"/>
          <p:cNvPicPr preferRelativeResize="0"/>
          <p:nvPr/>
        </p:nvPicPr>
        <p:blipFill rotWithShape="1">
          <a:blip r:embed="rId3">
            <a:alphaModFix/>
          </a:blip>
          <a:srcRect/>
          <a:stretch/>
        </p:blipFill>
        <p:spPr>
          <a:xfrm>
            <a:off x="4219770" y="1185317"/>
            <a:ext cx="3536992" cy="20958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body" idx="1"/>
          </p:nvPr>
        </p:nvSpPr>
        <p:spPr>
          <a:xfrm>
            <a:off x="628650" y="328904"/>
            <a:ext cx="7886700" cy="46887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FF0000"/>
              </a:buClr>
              <a:buSzPts val="1400"/>
              <a:buFont typeface="Comic Sans MS"/>
              <a:buChar char="●"/>
            </a:pPr>
            <a:r>
              <a:rPr lang="en" sz="1400" b="1" i="0" u="none" strike="noStrike">
                <a:solidFill>
                  <a:srgbClr val="FF0000"/>
                </a:solidFill>
                <a:latin typeface="Comic Sans MS"/>
                <a:ea typeface="Comic Sans MS"/>
                <a:cs typeface="Comic Sans MS"/>
                <a:sym typeface="Comic Sans MS"/>
              </a:rPr>
              <a:t>Input Unit. </a:t>
            </a:r>
            <a:endParaRPr sz="1400" b="1">
              <a:solidFill>
                <a:srgbClr val="FF0000"/>
              </a:solidFill>
              <a:latin typeface="Comic Sans MS"/>
              <a:ea typeface="Comic Sans MS"/>
              <a:cs typeface="Comic Sans MS"/>
              <a:sym typeface="Comic Sans MS"/>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Input units are used by the computer to read the data. The most commonly used input devices are keyboards, mouse, joysticks, trackballs, microphones, etc..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Most well known input device is the keyboard</a:t>
            </a:r>
            <a:r>
              <a:rPr lang="en" sz="1400">
                <a:solidFill>
                  <a:srgbClr val="000000"/>
                </a:solidFill>
                <a:latin typeface="Times New Roman"/>
                <a:ea typeface="Times New Roman"/>
                <a:cs typeface="Times New Roman"/>
                <a:sym typeface="Times New Roman"/>
              </a:rPr>
              <a:t>. Whenever a key is pressed, the corresponding letter or digit is automatically translated in to its binary code and transmitted through a cable either to memory or the processor</a:t>
            </a:r>
            <a:endParaRPr/>
          </a:p>
          <a:p>
            <a:pPr marL="177800" lvl="0" indent="-177800" algn="just" rtl="0">
              <a:lnSpc>
                <a:spcPct val="90000"/>
              </a:lnSpc>
              <a:spcBef>
                <a:spcPts val="800"/>
              </a:spcBef>
              <a:spcAft>
                <a:spcPts val="0"/>
              </a:spcAft>
              <a:buClr>
                <a:srgbClr val="FF0000"/>
              </a:buClr>
              <a:buSzPts val="1400"/>
              <a:buFont typeface="Comic Sans MS"/>
              <a:buChar char="●"/>
            </a:pPr>
            <a:r>
              <a:rPr lang="en" sz="1400" b="1" i="0" u="none" strike="noStrike">
                <a:solidFill>
                  <a:srgbClr val="FF0000"/>
                </a:solidFill>
                <a:latin typeface="Comic Sans MS"/>
                <a:ea typeface="Comic Sans MS"/>
                <a:cs typeface="Comic Sans MS"/>
                <a:sym typeface="Comic Sans MS"/>
              </a:rPr>
              <a:t>Memory Unit. </a:t>
            </a:r>
            <a:endParaRPr>
              <a:solidFill>
                <a:srgbClr val="FF0000"/>
              </a:solidFill>
              <a:latin typeface="Comic Sans MS"/>
              <a:ea typeface="Comic Sans MS"/>
              <a:cs typeface="Comic Sans MS"/>
              <a:sym typeface="Comic Sans MS"/>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The function of the memory unit is to store programs and data. </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There are two classes of storage, called primary and secondary. </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Programs must be stored in memory while they are being executed.</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Memory contains a large number of semiconductor storage cells, each capable of storing one bit of information. </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These cells are rarely read or written as individual cell but instead are processed in groups of fixed size called word. </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The memory is organized so that the contents of one word containing n bits can be stored and retrieved in one basic operation</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To provide easy access to any word in memory, a distinct address is associated with each word location. Address are numbers that identify successive locations. A given is accessed by its address and issuing a control command that starts the storage or retrieval process</a:t>
            </a:r>
            <a:endParaRPr/>
          </a:p>
        </p:txBody>
      </p:sp>
      <p:pic>
        <p:nvPicPr>
          <p:cNvPr id="95" name="Google Shape;95;p19"/>
          <p:cNvPicPr preferRelativeResize="0"/>
          <p:nvPr/>
        </p:nvPicPr>
        <p:blipFill rotWithShape="1">
          <a:blip r:embed="rId3">
            <a:alphaModFix/>
          </a:blip>
          <a:srcRect/>
          <a:stretch/>
        </p:blipFill>
        <p:spPr>
          <a:xfrm>
            <a:off x="6051704" y="1454439"/>
            <a:ext cx="1539735" cy="9038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body" idx="1"/>
          </p:nvPr>
        </p:nvSpPr>
        <p:spPr>
          <a:xfrm>
            <a:off x="628650" y="237931"/>
            <a:ext cx="7886700" cy="43947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FF0000"/>
              </a:buClr>
              <a:buSzPts val="1400"/>
              <a:buFont typeface="Comic Sans MS"/>
              <a:buChar char="●"/>
            </a:pPr>
            <a:r>
              <a:rPr lang="en" sz="1400" b="1">
                <a:solidFill>
                  <a:srgbClr val="FF0000"/>
                </a:solidFill>
                <a:latin typeface="Comic Sans MS"/>
                <a:ea typeface="Comic Sans MS"/>
                <a:cs typeface="Comic Sans MS"/>
                <a:sym typeface="Comic Sans MS"/>
              </a:rPr>
              <a:t>Arithmetic and logic unit</a:t>
            </a:r>
            <a:endParaRPr>
              <a:solidFill>
                <a:srgbClr val="FF0000"/>
              </a:solidFill>
              <a:latin typeface="Comic Sans MS"/>
              <a:ea typeface="Comic Sans MS"/>
              <a:cs typeface="Comic Sans MS"/>
              <a:sym typeface="Comic Sans MS"/>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Most of all the arithmetic and logical operations of a computer are executed in the ALU (Arithmetic and Logical Unit) of the processor. It performs arithmetic operations like addition, subtraction, multiplication, division and also the logical operations like AND, OR, NOT operations.</a:t>
            </a:r>
            <a:endParaRPr sz="1400">
              <a:solidFill>
                <a:srgbClr val="000000"/>
              </a:solidFill>
              <a:latin typeface="Times New Roman"/>
              <a:ea typeface="Times New Roman"/>
              <a:cs typeface="Times New Roman"/>
              <a:sym typeface="Times New Roman"/>
            </a:endParaRPr>
          </a:p>
          <a:p>
            <a:pPr marL="177800" lvl="0" indent="-177800" algn="just" rtl="0">
              <a:lnSpc>
                <a:spcPct val="90000"/>
              </a:lnSpc>
              <a:spcBef>
                <a:spcPts val="800"/>
              </a:spcBef>
              <a:spcAft>
                <a:spcPts val="0"/>
              </a:spcAft>
              <a:buClr>
                <a:srgbClr val="FF0000"/>
              </a:buClr>
              <a:buSzPts val="1400"/>
              <a:buFont typeface="Comic Sans MS"/>
              <a:buChar char="●"/>
            </a:pPr>
            <a:r>
              <a:rPr lang="en" sz="1400" b="1" i="0" u="none" strike="noStrike">
                <a:solidFill>
                  <a:srgbClr val="FF0000"/>
                </a:solidFill>
                <a:latin typeface="Comic Sans MS"/>
                <a:ea typeface="Comic Sans MS"/>
                <a:cs typeface="Comic Sans MS"/>
                <a:sym typeface="Comic Sans MS"/>
              </a:rPr>
              <a:t>Output Unit. </a:t>
            </a:r>
            <a:endParaRPr>
              <a:solidFill>
                <a:srgbClr val="FF0000"/>
              </a:solidFill>
              <a:latin typeface="Comic Sans MS"/>
              <a:ea typeface="Comic Sans MS"/>
              <a:cs typeface="Comic Sans MS"/>
              <a:sym typeface="Comic Sans MS"/>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primary function of the output unit is to send the processed results to the user. Output devices display information in a way that the user can understand.</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Output devices are pieces of equipment that are used to generate information or any other response processed by the computer. These devices display information that has been held or generated within a computer.</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most common example of an output device is a monitor.</a:t>
            </a:r>
            <a:endParaRPr/>
          </a:p>
          <a:p>
            <a:pPr marL="177800" lvl="0" indent="-177800" algn="just" rtl="0">
              <a:lnSpc>
                <a:spcPct val="90000"/>
              </a:lnSpc>
              <a:spcBef>
                <a:spcPts val="800"/>
              </a:spcBef>
              <a:spcAft>
                <a:spcPts val="0"/>
              </a:spcAft>
              <a:buClr>
                <a:srgbClr val="FF0000"/>
              </a:buClr>
              <a:buSzPts val="1400"/>
              <a:buFont typeface="Comic Sans MS"/>
              <a:buChar char="●"/>
            </a:pPr>
            <a:r>
              <a:rPr lang="en" sz="1400" b="1" i="0" u="none" strike="noStrike">
                <a:solidFill>
                  <a:srgbClr val="FF0000"/>
                </a:solidFill>
                <a:latin typeface="Comic Sans MS"/>
                <a:ea typeface="Comic Sans MS"/>
                <a:cs typeface="Comic Sans MS"/>
                <a:sym typeface="Comic Sans MS"/>
              </a:rPr>
              <a:t>Control Unit. </a:t>
            </a:r>
            <a:endParaRPr sz="1400" b="1">
              <a:solidFill>
                <a:srgbClr val="FF0000"/>
              </a:solidFill>
              <a:latin typeface="Comic Sans MS"/>
              <a:ea typeface="Comic Sans MS"/>
              <a:cs typeface="Comic Sans MS"/>
              <a:sym typeface="Comic Sans MS"/>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Control unit controls and coordinates the entire operations of the computer system.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control unit determines the sequence in which computer programs and instructions are executed.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Things like processing of programs stored in the main memory, interpretation of the instructions and issuing of signals for other units of the computer to execute them </a:t>
            </a:r>
            <a:endParaRPr sz="1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body" idx="1"/>
          </p:nvPr>
        </p:nvSpPr>
        <p:spPr>
          <a:xfrm>
            <a:off x="628650" y="230933"/>
            <a:ext cx="7886700" cy="44019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chemeClr val="dk1"/>
              </a:buClr>
              <a:buSzPts val="1400"/>
              <a:buChar char="●"/>
            </a:pPr>
            <a:r>
              <a:rPr lang="en" sz="1400">
                <a:latin typeface="Times New Roman"/>
                <a:ea typeface="Times New Roman"/>
                <a:cs typeface="Times New Roman"/>
                <a:sym typeface="Times New Roman"/>
              </a:rPr>
              <a:t>The operation of a computer can be summarized as follows</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The computer accepts information in the form of programs and data through an input and stores it in the memory</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Information stored in the memory is fetched to the processor where it is processed</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Processed information leaves the computer through an output unit</a:t>
            </a:r>
            <a:endParaRPr/>
          </a:p>
          <a:p>
            <a:pPr marL="520700" lvl="1" indent="-177800" algn="just" rtl="0">
              <a:lnSpc>
                <a:spcPct val="90000"/>
              </a:lnSpc>
              <a:spcBef>
                <a:spcPts val="400"/>
              </a:spcBef>
              <a:spcAft>
                <a:spcPts val="0"/>
              </a:spcAft>
              <a:buClr>
                <a:schemeClr val="dk1"/>
              </a:buClr>
              <a:buSzPts val="1400"/>
              <a:buChar char="○"/>
            </a:pPr>
            <a:r>
              <a:rPr lang="en" sz="1400">
                <a:latin typeface="Times New Roman"/>
                <a:ea typeface="Times New Roman"/>
                <a:cs typeface="Times New Roman"/>
                <a:sym typeface="Times New Roman"/>
              </a:rPr>
              <a:t>All  activities inside the machine are directed by control unit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7</a:t>
            </a:fld>
            <a:endParaRPr/>
          </a:p>
        </p:txBody>
      </p:sp>
      <p:sp>
        <p:nvSpPr>
          <p:cNvPr id="112" name="Google Shape;112;p22"/>
          <p:cNvSpPr txBox="1"/>
          <p:nvPr/>
        </p:nvSpPr>
        <p:spPr>
          <a:xfrm>
            <a:off x="893762" y="1829990"/>
            <a:ext cx="7180200" cy="1507200"/>
          </a:xfrm>
          <a:prstGeom prst="rect">
            <a:avLst/>
          </a:prstGeom>
          <a:solidFill>
            <a:srgbClr val="DDDDD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3" name="Google Shape;113;p22"/>
          <p:cNvSpPr txBox="1">
            <a:spLocks noGrp="1"/>
          </p:cNvSpPr>
          <p:nvPr>
            <p:ph type="title"/>
          </p:nvPr>
        </p:nvSpPr>
        <p:spPr>
          <a:xfrm>
            <a:off x="311700" y="333769"/>
            <a:ext cx="8520600" cy="4296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800"/>
              <a:buFont typeface="Comic Sans MS"/>
              <a:buNone/>
            </a:pPr>
            <a:r>
              <a:rPr lang="en" sz="2800" b="0" i="0" u="none">
                <a:solidFill>
                  <a:srgbClr val="CC0000"/>
                </a:solidFill>
                <a:latin typeface="Comic Sans MS"/>
                <a:ea typeface="Comic Sans MS"/>
                <a:cs typeface="Comic Sans MS"/>
                <a:sym typeface="Comic Sans MS"/>
              </a:rPr>
              <a:t>How are the functional units connected? </a:t>
            </a:r>
            <a:endParaRPr/>
          </a:p>
        </p:txBody>
      </p:sp>
      <p:sp>
        <p:nvSpPr>
          <p:cNvPr id="114" name="Google Shape;114;p22"/>
          <p:cNvSpPr txBox="1"/>
          <p:nvPr/>
        </p:nvSpPr>
        <p:spPr>
          <a:xfrm>
            <a:off x="733425" y="934640"/>
            <a:ext cx="6510300" cy="923400"/>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chemeClr val="dk1"/>
              </a:buClr>
              <a:buSzPts val="1800"/>
              <a:buFont typeface="Times New Roman"/>
              <a:buChar char="•"/>
            </a:pPr>
            <a:r>
              <a:rPr lang="en" sz="1800" b="0" i="0" u="none">
                <a:solidFill>
                  <a:schemeClr val="dk1"/>
                </a:solidFill>
                <a:latin typeface="Times New Roman"/>
                <a:ea typeface="Times New Roman"/>
                <a:cs typeface="Times New Roman"/>
                <a:sym typeface="Times New Roman"/>
              </a:rPr>
              <a:t>For a computer to achieve its operation, the </a:t>
            </a:r>
            <a:r>
              <a:rPr lang="en" sz="1800" b="0" i="0" u="none">
                <a:solidFill>
                  <a:srgbClr val="FF0000"/>
                </a:solidFill>
                <a:latin typeface="Times New Roman"/>
                <a:ea typeface="Times New Roman"/>
                <a:cs typeface="Times New Roman"/>
                <a:sym typeface="Times New Roman"/>
              </a:rPr>
              <a:t>functional</a:t>
            </a:r>
            <a:r>
              <a:rPr lang="en" sz="1800" b="0" i="0" u="none">
                <a:solidFill>
                  <a:schemeClr val="dk1"/>
                </a:solidFill>
                <a:latin typeface="Times New Roman"/>
                <a:ea typeface="Times New Roman"/>
                <a:cs typeface="Times New Roman"/>
                <a:sym typeface="Times New Roman"/>
              </a:rPr>
              <a:t> </a:t>
            </a:r>
            <a:r>
              <a:rPr lang="en" sz="1800" b="0" i="0" u="none">
                <a:solidFill>
                  <a:srgbClr val="FF0000"/>
                </a:solidFill>
                <a:latin typeface="Times New Roman"/>
                <a:ea typeface="Times New Roman"/>
                <a:cs typeface="Times New Roman"/>
                <a:sym typeface="Times New Roman"/>
              </a:rPr>
              <a:t>units</a:t>
            </a:r>
            <a:r>
              <a:rPr lang="en" sz="1800" b="0" i="0" u="none">
                <a:solidFill>
                  <a:schemeClr val="dk1"/>
                </a:solidFill>
                <a:latin typeface="Times New Roman"/>
                <a:ea typeface="Times New Roman"/>
                <a:cs typeface="Times New Roman"/>
                <a:sym typeface="Times New Roman"/>
              </a:rPr>
              <a:t> need to</a:t>
            </a:r>
            <a:endParaRPr/>
          </a:p>
          <a:p>
            <a:pPr marL="0" marR="0" lvl="0" indent="0" algn="l" rtl="0">
              <a:lnSpc>
                <a:spcPct val="100000"/>
              </a:lnSpc>
              <a:spcBef>
                <a:spcPts val="0"/>
              </a:spcBef>
              <a:spcAft>
                <a:spcPts val="0"/>
              </a:spcAft>
              <a:buClr>
                <a:srgbClr val="FF0000"/>
              </a:buClr>
              <a:buSzPts val="1800"/>
              <a:buFont typeface="Times New Roman"/>
              <a:buNone/>
            </a:pPr>
            <a:r>
              <a:rPr lang="en" sz="1800" b="0" i="0" u="none">
                <a:solidFill>
                  <a:srgbClr val="FF0000"/>
                </a:solidFill>
                <a:latin typeface="Times New Roman"/>
                <a:ea typeface="Times New Roman"/>
                <a:cs typeface="Times New Roman"/>
                <a:sym typeface="Times New Roman"/>
              </a:rPr>
              <a:t>communicate</a:t>
            </a:r>
            <a:r>
              <a:rPr lang="en" sz="1800" b="0" i="0" u="none">
                <a:solidFill>
                  <a:schemeClr val="dk1"/>
                </a:solidFill>
                <a:latin typeface="Times New Roman"/>
                <a:ea typeface="Times New Roman"/>
                <a:cs typeface="Times New Roman"/>
                <a:sym typeface="Times New Roman"/>
              </a:rPr>
              <a:t> with each other.</a:t>
            </a:r>
            <a:endParaRPr/>
          </a:p>
          <a:p>
            <a:pPr marL="0" marR="0" lvl="0" indent="-114300" algn="l" rtl="0">
              <a:lnSpc>
                <a:spcPct val="100000"/>
              </a:lnSpc>
              <a:spcBef>
                <a:spcPts val="0"/>
              </a:spcBef>
              <a:spcAft>
                <a:spcPts val="0"/>
              </a:spcAft>
              <a:buClr>
                <a:schemeClr val="dk1"/>
              </a:buClr>
              <a:buSzPts val="1800"/>
              <a:buFont typeface="Times New Roman"/>
              <a:buChar char="•"/>
            </a:pPr>
            <a:r>
              <a:rPr lang="en" sz="1800" b="0" i="0" u="none">
                <a:solidFill>
                  <a:schemeClr val="dk1"/>
                </a:solidFill>
                <a:latin typeface="Times New Roman"/>
                <a:ea typeface="Times New Roman"/>
                <a:cs typeface="Times New Roman"/>
                <a:sym typeface="Times New Roman"/>
              </a:rPr>
              <a:t>In order to communicate, they need to be </a:t>
            </a:r>
            <a:r>
              <a:rPr lang="en" sz="1800" b="0" i="0" u="none">
                <a:solidFill>
                  <a:srgbClr val="FF0000"/>
                </a:solidFill>
                <a:latin typeface="Times New Roman"/>
                <a:ea typeface="Times New Roman"/>
                <a:cs typeface="Times New Roman"/>
                <a:sym typeface="Times New Roman"/>
              </a:rPr>
              <a:t>connected</a:t>
            </a:r>
            <a:r>
              <a:rPr lang="en" sz="1800" b="0" i="0" u="none">
                <a:solidFill>
                  <a:schemeClr val="dk1"/>
                </a:solidFill>
                <a:latin typeface="Comic Sans MS"/>
                <a:ea typeface="Comic Sans MS"/>
                <a:cs typeface="Comic Sans MS"/>
                <a:sym typeface="Comic Sans MS"/>
              </a:rPr>
              <a:t>. </a:t>
            </a:r>
            <a:endParaRPr/>
          </a:p>
        </p:txBody>
      </p:sp>
      <p:sp>
        <p:nvSpPr>
          <p:cNvPr id="115" name="Google Shape;115;p22"/>
          <p:cNvSpPr/>
          <p:nvPr/>
        </p:nvSpPr>
        <p:spPr>
          <a:xfrm>
            <a:off x="1276350" y="3009900"/>
            <a:ext cx="184150" cy="184547"/>
          </a:xfrm>
          <a:custGeom>
            <a:avLst/>
            <a:gdLst/>
            <a:ahLst/>
            <a:cxnLst/>
            <a:rect l="l" t="t" r="r" b="b"/>
            <a:pathLst>
              <a:path w="9" h="12" extrusionOk="0">
                <a:moveTo>
                  <a:pt x="9" y="9"/>
                </a:moveTo>
                <a:lnTo>
                  <a:pt x="9" y="12"/>
                </a:lnTo>
                <a:lnTo>
                  <a:pt x="0" y="6"/>
                </a:lnTo>
                <a:lnTo>
                  <a:pt x="9" y="0"/>
                </a:lnTo>
                <a:lnTo>
                  <a:pt x="9" y="3"/>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6" name="Google Shape;116;p22"/>
          <p:cNvSpPr/>
          <p:nvPr/>
        </p:nvSpPr>
        <p:spPr>
          <a:xfrm>
            <a:off x="7704137" y="3009900"/>
            <a:ext cx="163512" cy="184547"/>
          </a:xfrm>
          <a:custGeom>
            <a:avLst/>
            <a:gdLst/>
            <a:ahLst/>
            <a:cxnLst/>
            <a:rect l="l" t="t" r="r" b="b"/>
            <a:pathLst>
              <a:path w="8" h="12" extrusionOk="0">
                <a:moveTo>
                  <a:pt x="0" y="9"/>
                </a:moveTo>
                <a:lnTo>
                  <a:pt x="0" y="12"/>
                </a:lnTo>
                <a:lnTo>
                  <a:pt x="8" y="6"/>
                </a:lnTo>
                <a:lnTo>
                  <a:pt x="0" y="0"/>
                </a:lnTo>
                <a:lnTo>
                  <a:pt x="0" y="3"/>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7" name="Google Shape;117;p22"/>
          <p:cNvSpPr/>
          <p:nvPr/>
        </p:nvSpPr>
        <p:spPr>
          <a:xfrm>
            <a:off x="3630612" y="2518172"/>
            <a:ext cx="246062" cy="276225"/>
          </a:xfrm>
          <a:custGeom>
            <a:avLst/>
            <a:gdLst/>
            <a:ahLst/>
            <a:cxnLst/>
            <a:rect l="l" t="t" r="r" b="b"/>
            <a:pathLst>
              <a:path w="12" h="18" extrusionOk="0">
                <a:moveTo>
                  <a:pt x="9" y="18"/>
                </a:moveTo>
                <a:lnTo>
                  <a:pt x="9" y="9"/>
                </a:lnTo>
                <a:lnTo>
                  <a:pt x="12" y="9"/>
                </a:lnTo>
                <a:lnTo>
                  <a:pt x="6" y="0"/>
                </a:lnTo>
                <a:lnTo>
                  <a:pt x="0" y="9"/>
                </a:lnTo>
                <a:lnTo>
                  <a:pt x="3" y="9"/>
                </a:lnTo>
                <a:lnTo>
                  <a:pt x="3" y="18"/>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8" name="Google Shape;118;p22"/>
          <p:cNvSpPr/>
          <p:nvPr/>
        </p:nvSpPr>
        <p:spPr>
          <a:xfrm>
            <a:off x="1971675" y="2794397"/>
            <a:ext cx="246062" cy="261937"/>
          </a:xfrm>
          <a:custGeom>
            <a:avLst/>
            <a:gdLst/>
            <a:ahLst/>
            <a:cxnLst/>
            <a:rect l="l" t="t" r="r" b="b"/>
            <a:pathLst>
              <a:path w="12" h="17" extrusionOk="0">
                <a:moveTo>
                  <a:pt x="9" y="0"/>
                </a:moveTo>
                <a:lnTo>
                  <a:pt x="9" y="8"/>
                </a:lnTo>
                <a:lnTo>
                  <a:pt x="12" y="8"/>
                </a:lnTo>
                <a:lnTo>
                  <a:pt x="6" y="17"/>
                </a:lnTo>
                <a:lnTo>
                  <a:pt x="0" y="8"/>
                </a:lnTo>
                <a:lnTo>
                  <a:pt x="3" y="8"/>
                </a:lnTo>
                <a:lnTo>
                  <a:pt x="3" y="0"/>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9" name="Google Shape;119;p22"/>
          <p:cNvSpPr/>
          <p:nvPr/>
        </p:nvSpPr>
        <p:spPr>
          <a:xfrm>
            <a:off x="5287962" y="2518172"/>
            <a:ext cx="225425" cy="276225"/>
          </a:xfrm>
          <a:custGeom>
            <a:avLst/>
            <a:gdLst/>
            <a:ahLst/>
            <a:cxnLst/>
            <a:rect l="l" t="t" r="r" b="b"/>
            <a:pathLst>
              <a:path w="11" h="18" extrusionOk="0">
                <a:moveTo>
                  <a:pt x="8" y="18"/>
                </a:moveTo>
                <a:lnTo>
                  <a:pt x="8" y="9"/>
                </a:lnTo>
                <a:lnTo>
                  <a:pt x="11" y="9"/>
                </a:lnTo>
                <a:lnTo>
                  <a:pt x="5" y="0"/>
                </a:lnTo>
                <a:lnTo>
                  <a:pt x="0" y="9"/>
                </a:lnTo>
                <a:lnTo>
                  <a:pt x="3" y="9"/>
                </a:lnTo>
                <a:lnTo>
                  <a:pt x="3" y="18"/>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0" name="Google Shape;120;p22"/>
          <p:cNvSpPr/>
          <p:nvPr/>
        </p:nvSpPr>
        <p:spPr>
          <a:xfrm>
            <a:off x="6926262" y="2518172"/>
            <a:ext cx="246062" cy="276225"/>
          </a:xfrm>
          <a:custGeom>
            <a:avLst/>
            <a:gdLst/>
            <a:ahLst/>
            <a:cxnLst/>
            <a:rect l="l" t="t" r="r" b="b"/>
            <a:pathLst>
              <a:path w="12" h="18" extrusionOk="0">
                <a:moveTo>
                  <a:pt x="9" y="18"/>
                </a:moveTo>
                <a:lnTo>
                  <a:pt x="9" y="9"/>
                </a:lnTo>
                <a:lnTo>
                  <a:pt x="12" y="9"/>
                </a:lnTo>
                <a:lnTo>
                  <a:pt x="6" y="0"/>
                </a:lnTo>
                <a:lnTo>
                  <a:pt x="0" y="9"/>
                </a:lnTo>
                <a:lnTo>
                  <a:pt x="3" y="9"/>
                </a:lnTo>
                <a:lnTo>
                  <a:pt x="3" y="18"/>
                </a:lnTo>
              </a:path>
            </a:pathLst>
          </a:custGeom>
          <a:noFill/>
          <a:ln w="20625" cap="flat" cmpd="sng">
            <a:solidFill>
              <a:srgbClr val="000099"/>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1" name="Google Shape;121;p22"/>
          <p:cNvSpPr/>
          <p:nvPr/>
        </p:nvSpPr>
        <p:spPr>
          <a:xfrm>
            <a:off x="5287962" y="2794397"/>
            <a:ext cx="225425" cy="261937"/>
          </a:xfrm>
          <a:custGeom>
            <a:avLst/>
            <a:gdLst/>
            <a:ahLst/>
            <a:cxnLst/>
            <a:rect l="l" t="t" r="r" b="b"/>
            <a:pathLst>
              <a:path w="11" h="17" extrusionOk="0">
                <a:moveTo>
                  <a:pt x="8" y="0"/>
                </a:moveTo>
                <a:lnTo>
                  <a:pt x="8" y="8"/>
                </a:lnTo>
                <a:lnTo>
                  <a:pt x="11" y="8"/>
                </a:lnTo>
                <a:lnTo>
                  <a:pt x="5" y="17"/>
                </a:lnTo>
                <a:lnTo>
                  <a:pt x="0" y="8"/>
                </a:lnTo>
                <a:lnTo>
                  <a:pt x="3" y="8"/>
                </a:lnTo>
                <a:lnTo>
                  <a:pt x="3" y="0"/>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2" name="Google Shape;122;p22"/>
          <p:cNvSpPr/>
          <p:nvPr/>
        </p:nvSpPr>
        <p:spPr>
          <a:xfrm>
            <a:off x="6926262" y="2794397"/>
            <a:ext cx="246062" cy="261937"/>
          </a:xfrm>
          <a:custGeom>
            <a:avLst/>
            <a:gdLst/>
            <a:ahLst/>
            <a:cxnLst/>
            <a:rect l="l" t="t" r="r" b="b"/>
            <a:pathLst>
              <a:path w="12" h="17" extrusionOk="0">
                <a:moveTo>
                  <a:pt x="9" y="0"/>
                </a:moveTo>
                <a:lnTo>
                  <a:pt x="9" y="8"/>
                </a:lnTo>
                <a:lnTo>
                  <a:pt x="12" y="8"/>
                </a:lnTo>
                <a:lnTo>
                  <a:pt x="6" y="17"/>
                </a:lnTo>
                <a:lnTo>
                  <a:pt x="0" y="8"/>
                </a:lnTo>
                <a:lnTo>
                  <a:pt x="3" y="8"/>
                </a:lnTo>
                <a:lnTo>
                  <a:pt x="3" y="0"/>
                </a:lnTo>
              </a:path>
            </a:pathLst>
          </a:custGeom>
          <a:noFill/>
          <a:ln w="20700" cap="flat" cmpd="sng">
            <a:solidFill>
              <a:srgbClr val="003366"/>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23" name="Google Shape;123;p22"/>
          <p:cNvCxnSpPr/>
          <p:nvPr/>
        </p:nvCxnSpPr>
        <p:spPr>
          <a:xfrm flipH="1">
            <a:off x="1460537" y="3148013"/>
            <a:ext cx="6243600" cy="1200"/>
          </a:xfrm>
          <a:prstGeom prst="straightConnector1">
            <a:avLst/>
          </a:prstGeom>
          <a:noFill/>
          <a:ln w="20700" cap="flat" cmpd="sng">
            <a:solidFill>
              <a:srgbClr val="003366"/>
            </a:solidFill>
            <a:prstDash val="solid"/>
            <a:miter lim="800000"/>
            <a:headEnd type="none" w="med" len="med"/>
            <a:tailEnd type="none" w="med" len="med"/>
          </a:ln>
        </p:spPr>
      </p:cxnSp>
      <p:cxnSp>
        <p:nvCxnSpPr>
          <p:cNvPr id="124" name="Google Shape;124;p22"/>
          <p:cNvCxnSpPr/>
          <p:nvPr/>
        </p:nvCxnSpPr>
        <p:spPr>
          <a:xfrm flipH="1">
            <a:off x="1460525" y="3056334"/>
            <a:ext cx="2232000" cy="1200"/>
          </a:xfrm>
          <a:prstGeom prst="straightConnector1">
            <a:avLst/>
          </a:prstGeom>
          <a:noFill/>
          <a:ln w="20700" cap="flat" cmpd="sng">
            <a:solidFill>
              <a:srgbClr val="003366"/>
            </a:solidFill>
            <a:prstDash val="solid"/>
            <a:miter lim="800000"/>
            <a:headEnd type="none" w="med" len="med"/>
            <a:tailEnd type="none" w="med" len="med"/>
          </a:ln>
        </p:spPr>
      </p:cxnSp>
      <p:cxnSp>
        <p:nvCxnSpPr>
          <p:cNvPr id="125" name="Google Shape;125;p22"/>
          <p:cNvCxnSpPr/>
          <p:nvPr/>
        </p:nvCxnSpPr>
        <p:spPr>
          <a:xfrm flipH="1">
            <a:off x="3814637" y="3056334"/>
            <a:ext cx="3889500" cy="1200"/>
          </a:xfrm>
          <a:prstGeom prst="straightConnector1">
            <a:avLst/>
          </a:prstGeom>
          <a:noFill/>
          <a:ln w="20700" cap="flat" cmpd="sng">
            <a:solidFill>
              <a:srgbClr val="003366"/>
            </a:solidFill>
            <a:prstDash val="solid"/>
            <a:miter lim="800000"/>
            <a:headEnd type="none" w="med" len="med"/>
            <a:tailEnd type="none" w="med" len="med"/>
          </a:ln>
        </p:spPr>
      </p:cxnSp>
      <p:cxnSp>
        <p:nvCxnSpPr>
          <p:cNvPr id="126" name="Google Shape;126;p22"/>
          <p:cNvCxnSpPr/>
          <p:nvPr/>
        </p:nvCxnSpPr>
        <p:spPr>
          <a:xfrm>
            <a:off x="2155825" y="2518172"/>
            <a:ext cx="1500" cy="276300"/>
          </a:xfrm>
          <a:prstGeom prst="straightConnector1">
            <a:avLst/>
          </a:prstGeom>
          <a:noFill/>
          <a:ln w="20700" cap="flat" cmpd="sng">
            <a:solidFill>
              <a:srgbClr val="003366"/>
            </a:solidFill>
            <a:prstDash val="solid"/>
            <a:miter lim="800000"/>
            <a:headEnd type="none" w="med" len="med"/>
            <a:tailEnd type="none" w="med" len="med"/>
          </a:ln>
        </p:spPr>
      </p:cxnSp>
      <p:cxnSp>
        <p:nvCxnSpPr>
          <p:cNvPr id="127" name="Google Shape;127;p22"/>
          <p:cNvCxnSpPr/>
          <p:nvPr/>
        </p:nvCxnSpPr>
        <p:spPr>
          <a:xfrm>
            <a:off x="2033587" y="2518172"/>
            <a:ext cx="1500" cy="276300"/>
          </a:xfrm>
          <a:prstGeom prst="straightConnector1">
            <a:avLst/>
          </a:prstGeom>
          <a:noFill/>
          <a:ln w="20700" cap="flat" cmpd="sng">
            <a:solidFill>
              <a:srgbClr val="003366"/>
            </a:solidFill>
            <a:prstDash val="solid"/>
            <a:miter lim="800000"/>
            <a:headEnd type="none" w="med" len="med"/>
            <a:tailEnd type="none" w="med" len="med"/>
          </a:ln>
        </p:spPr>
      </p:cxnSp>
      <p:cxnSp>
        <p:nvCxnSpPr>
          <p:cNvPr id="128" name="Google Shape;128;p22"/>
          <p:cNvCxnSpPr/>
          <p:nvPr/>
        </p:nvCxnSpPr>
        <p:spPr>
          <a:xfrm>
            <a:off x="3692525" y="2794397"/>
            <a:ext cx="1500" cy="261900"/>
          </a:xfrm>
          <a:prstGeom prst="straightConnector1">
            <a:avLst/>
          </a:prstGeom>
          <a:noFill/>
          <a:ln w="20700" cap="flat" cmpd="sng">
            <a:solidFill>
              <a:srgbClr val="003366"/>
            </a:solidFill>
            <a:prstDash val="solid"/>
            <a:miter lim="800000"/>
            <a:headEnd type="none" w="med" len="med"/>
            <a:tailEnd type="none" w="med" len="med"/>
          </a:ln>
        </p:spPr>
      </p:cxnSp>
      <p:cxnSp>
        <p:nvCxnSpPr>
          <p:cNvPr id="129" name="Google Shape;129;p22"/>
          <p:cNvCxnSpPr/>
          <p:nvPr/>
        </p:nvCxnSpPr>
        <p:spPr>
          <a:xfrm>
            <a:off x="3814762" y="2794397"/>
            <a:ext cx="1500" cy="261900"/>
          </a:xfrm>
          <a:prstGeom prst="straightConnector1">
            <a:avLst/>
          </a:prstGeom>
          <a:noFill/>
          <a:ln w="20700" cap="flat" cmpd="sng">
            <a:solidFill>
              <a:srgbClr val="003366"/>
            </a:solidFill>
            <a:prstDash val="solid"/>
            <a:miter lim="800000"/>
            <a:headEnd type="none" w="med" len="med"/>
            <a:tailEnd type="none" w="med" len="med"/>
          </a:ln>
        </p:spPr>
      </p:cxnSp>
      <p:sp>
        <p:nvSpPr>
          <p:cNvPr id="130" name="Google Shape;130;p22"/>
          <p:cNvSpPr txBox="1"/>
          <p:nvPr/>
        </p:nvSpPr>
        <p:spPr>
          <a:xfrm>
            <a:off x="5083175" y="2165747"/>
            <a:ext cx="6555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a:solidFill>
                  <a:srgbClr val="000000"/>
                </a:solidFill>
                <a:latin typeface="Arial"/>
                <a:ea typeface="Arial"/>
                <a:cs typeface="Arial"/>
                <a:sym typeface="Arial"/>
              </a:rPr>
              <a:t>Memory</a:t>
            </a:r>
            <a:endParaRPr/>
          </a:p>
        </p:txBody>
      </p:sp>
      <p:sp>
        <p:nvSpPr>
          <p:cNvPr id="131" name="Google Shape;131;p22"/>
          <p:cNvSpPr txBox="1"/>
          <p:nvPr/>
        </p:nvSpPr>
        <p:spPr>
          <a:xfrm>
            <a:off x="1911350" y="2165747"/>
            <a:ext cx="4017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a:solidFill>
                  <a:srgbClr val="000000"/>
                </a:solidFill>
                <a:latin typeface="Arial"/>
                <a:ea typeface="Arial"/>
                <a:cs typeface="Arial"/>
                <a:sym typeface="Arial"/>
              </a:rPr>
              <a:t>Input</a:t>
            </a:r>
            <a:endParaRPr/>
          </a:p>
        </p:txBody>
      </p:sp>
      <p:sp>
        <p:nvSpPr>
          <p:cNvPr id="132" name="Google Shape;132;p22"/>
          <p:cNvSpPr txBox="1"/>
          <p:nvPr/>
        </p:nvSpPr>
        <p:spPr>
          <a:xfrm>
            <a:off x="3487737" y="2165747"/>
            <a:ext cx="5286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a:solidFill>
                  <a:srgbClr val="000000"/>
                </a:solidFill>
                <a:latin typeface="Arial"/>
                <a:ea typeface="Arial"/>
                <a:cs typeface="Arial"/>
                <a:sym typeface="Arial"/>
              </a:rPr>
              <a:t>Output</a:t>
            </a:r>
            <a:endParaRPr/>
          </a:p>
        </p:txBody>
      </p:sp>
      <p:sp>
        <p:nvSpPr>
          <p:cNvPr id="133" name="Google Shape;133;p22"/>
          <p:cNvSpPr txBox="1"/>
          <p:nvPr/>
        </p:nvSpPr>
        <p:spPr>
          <a:xfrm>
            <a:off x="6700837" y="2165747"/>
            <a:ext cx="7413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a:solidFill>
                  <a:srgbClr val="000000"/>
                </a:solidFill>
                <a:latin typeface="Arial"/>
                <a:ea typeface="Arial"/>
                <a:cs typeface="Arial"/>
                <a:sym typeface="Arial"/>
              </a:rPr>
              <a:t>Processor</a:t>
            </a:r>
            <a:endParaRPr/>
          </a:p>
        </p:txBody>
      </p:sp>
      <p:sp>
        <p:nvSpPr>
          <p:cNvPr id="134" name="Google Shape;134;p22"/>
          <p:cNvSpPr txBox="1"/>
          <p:nvPr/>
        </p:nvSpPr>
        <p:spPr>
          <a:xfrm>
            <a:off x="1460500" y="1996678"/>
            <a:ext cx="1289100" cy="521700"/>
          </a:xfrm>
          <a:prstGeom prst="rect">
            <a:avLst/>
          </a:prstGeom>
          <a:noFill/>
          <a:ln w="206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5" name="Google Shape;135;p22"/>
          <p:cNvSpPr txBox="1"/>
          <p:nvPr/>
        </p:nvSpPr>
        <p:spPr>
          <a:xfrm>
            <a:off x="6394450" y="1996678"/>
            <a:ext cx="1309800" cy="521700"/>
          </a:xfrm>
          <a:prstGeom prst="rect">
            <a:avLst/>
          </a:prstGeom>
          <a:noFill/>
          <a:ln w="206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6" name="Google Shape;136;p22"/>
          <p:cNvSpPr txBox="1"/>
          <p:nvPr/>
        </p:nvSpPr>
        <p:spPr>
          <a:xfrm>
            <a:off x="4756150" y="1996678"/>
            <a:ext cx="1289100" cy="521700"/>
          </a:xfrm>
          <a:prstGeom prst="rect">
            <a:avLst/>
          </a:prstGeom>
          <a:noFill/>
          <a:ln w="206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7" name="Google Shape;137;p22"/>
          <p:cNvSpPr txBox="1"/>
          <p:nvPr/>
        </p:nvSpPr>
        <p:spPr>
          <a:xfrm>
            <a:off x="3098800" y="1996678"/>
            <a:ext cx="1309800" cy="521700"/>
          </a:xfrm>
          <a:prstGeom prst="rect">
            <a:avLst/>
          </a:prstGeom>
          <a:noFill/>
          <a:ln w="206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8" name="Google Shape;138;p22"/>
          <p:cNvSpPr txBox="1"/>
          <p:nvPr/>
        </p:nvSpPr>
        <p:spPr>
          <a:xfrm>
            <a:off x="876300" y="3383756"/>
            <a:ext cx="6542100" cy="1477500"/>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000099"/>
              </a:buClr>
              <a:buSzPts val="1800"/>
              <a:buFont typeface="Times New Roman"/>
              <a:buChar char="•"/>
            </a:pPr>
            <a:r>
              <a:rPr lang="en" sz="1800" b="0" i="0" u="none">
                <a:solidFill>
                  <a:srgbClr val="000099"/>
                </a:solidFill>
                <a:latin typeface="Times New Roman"/>
                <a:ea typeface="Times New Roman"/>
                <a:cs typeface="Times New Roman"/>
                <a:sym typeface="Times New Roman"/>
              </a:rPr>
              <a:t>Functional units may be connected by a </a:t>
            </a:r>
            <a:r>
              <a:rPr lang="en" sz="1800" b="0" i="0" u="none">
                <a:solidFill>
                  <a:srgbClr val="FF0000"/>
                </a:solidFill>
                <a:latin typeface="Times New Roman"/>
                <a:ea typeface="Times New Roman"/>
                <a:cs typeface="Times New Roman"/>
                <a:sym typeface="Times New Roman"/>
              </a:rPr>
              <a:t>group</a:t>
            </a:r>
            <a:r>
              <a:rPr lang="en" sz="1800" b="0" i="0" u="none">
                <a:solidFill>
                  <a:srgbClr val="000099"/>
                </a:solidFill>
                <a:latin typeface="Times New Roman"/>
                <a:ea typeface="Times New Roman"/>
                <a:cs typeface="Times New Roman"/>
                <a:sym typeface="Times New Roman"/>
              </a:rPr>
              <a:t> of </a:t>
            </a:r>
            <a:r>
              <a:rPr lang="en" sz="1800" b="0" i="0" u="none">
                <a:solidFill>
                  <a:srgbClr val="FF0000"/>
                </a:solidFill>
                <a:latin typeface="Times New Roman"/>
                <a:ea typeface="Times New Roman"/>
                <a:cs typeface="Times New Roman"/>
                <a:sym typeface="Times New Roman"/>
              </a:rPr>
              <a:t>parallel</a:t>
            </a:r>
            <a:r>
              <a:rPr lang="en" sz="1800" b="0" i="0" u="none">
                <a:solidFill>
                  <a:srgbClr val="000099"/>
                </a:solidFill>
                <a:latin typeface="Times New Roman"/>
                <a:ea typeface="Times New Roman"/>
                <a:cs typeface="Times New Roman"/>
                <a:sym typeface="Times New Roman"/>
              </a:rPr>
              <a:t> </a:t>
            </a:r>
            <a:r>
              <a:rPr lang="en" sz="1800" b="0" i="0" u="none">
                <a:solidFill>
                  <a:srgbClr val="FF0000"/>
                </a:solidFill>
                <a:latin typeface="Times New Roman"/>
                <a:ea typeface="Times New Roman"/>
                <a:cs typeface="Times New Roman"/>
                <a:sym typeface="Times New Roman"/>
              </a:rPr>
              <a:t>wires</a:t>
            </a:r>
            <a:r>
              <a:rPr lang="en" sz="1800" b="0" i="0" u="none">
                <a:solidFill>
                  <a:srgbClr val="000099"/>
                </a:solidFill>
                <a:latin typeface="Times New Roman"/>
                <a:ea typeface="Times New Roman"/>
                <a:cs typeface="Times New Roman"/>
                <a:sym typeface="Times New Roman"/>
              </a:rPr>
              <a:t>.</a:t>
            </a:r>
            <a:endParaRPr/>
          </a:p>
          <a:p>
            <a:pPr marL="0" marR="0" lvl="0" indent="-114300" algn="l" rtl="0">
              <a:lnSpc>
                <a:spcPct val="100000"/>
              </a:lnSpc>
              <a:spcBef>
                <a:spcPts val="0"/>
              </a:spcBef>
              <a:spcAft>
                <a:spcPts val="0"/>
              </a:spcAft>
              <a:buClr>
                <a:srgbClr val="000099"/>
              </a:buClr>
              <a:buSzPts val="1800"/>
              <a:buFont typeface="Times New Roman"/>
              <a:buChar char="•"/>
            </a:pPr>
            <a:r>
              <a:rPr lang="en" sz="1800" b="0" i="0" u="none">
                <a:solidFill>
                  <a:srgbClr val="000099"/>
                </a:solidFill>
                <a:latin typeface="Times New Roman"/>
                <a:ea typeface="Times New Roman"/>
                <a:cs typeface="Times New Roman"/>
                <a:sym typeface="Times New Roman"/>
              </a:rPr>
              <a:t>The group of parallel wires is called a </a:t>
            </a:r>
            <a:r>
              <a:rPr lang="en" sz="1800" b="1" i="1" u="none">
                <a:solidFill>
                  <a:srgbClr val="FF0000"/>
                </a:solidFill>
                <a:latin typeface="Times New Roman"/>
                <a:ea typeface="Times New Roman"/>
                <a:cs typeface="Times New Roman"/>
                <a:sym typeface="Times New Roman"/>
              </a:rPr>
              <a:t>bus</a:t>
            </a:r>
            <a:r>
              <a:rPr lang="en" sz="1800" b="0" i="0" u="none">
                <a:solidFill>
                  <a:srgbClr val="000099"/>
                </a:solidFill>
                <a:latin typeface="Times New Roman"/>
                <a:ea typeface="Times New Roman"/>
                <a:cs typeface="Times New Roman"/>
                <a:sym typeface="Times New Roman"/>
              </a:rPr>
              <a:t>.</a:t>
            </a:r>
            <a:endParaRPr/>
          </a:p>
          <a:p>
            <a:pPr marL="0" marR="0" lvl="0" indent="-114300" algn="l" rtl="0">
              <a:lnSpc>
                <a:spcPct val="100000"/>
              </a:lnSpc>
              <a:spcBef>
                <a:spcPts val="0"/>
              </a:spcBef>
              <a:spcAft>
                <a:spcPts val="0"/>
              </a:spcAft>
              <a:buClr>
                <a:srgbClr val="000099"/>
              </a:buClr>
              <a:buSzPts val="1800"/>
              <a:buFont typeface="Times New Roman"/>
              <a:buChar char="•"/>
            </a:pPr>
            <a:r>
              <a:rPr lang="en" sz="1800" b="0" i="0" u="none">
                <a:solidFill>
                  <a:srgbClr val="000099"/>
                </a:solidFill>
                <a:latin typeface="Times New Roman"/>
                <a:ea typeface="Times New Roman"/>
                <a:cs typeface="Times New Roman"/>
                <a:sym typeface="Times New Roman"/>
              </a:rPr>
              <a:t>Each </a:t>
            </a:r>
            <a:r>
              <a:rPr lang="en" sz="1800" b="0" i="0" u="none">
                <a:solidFill>
                  <a:srgbClr val="FF0000"/>
                </a:solidFill>
                <a:latin typeface="Times New Roman"/>
                <a:ea typeface="Times New Roman"/>
                <a:cs typeface="Times New Roman"/>
                <a:sym typeface="Times New Roman"/>
              </a:rPr>
              <a:t>wire</a:t>
            </a:r>
            <a:r>
              <a:rPr lang="en" sz="1800" b="0" i="0" u="none">
                <a:solidFill>
                  <a:srgbClr val="000099"/>
                </a:solidFill>
                <a:latin typeface="Times New Roman"/>
                <a:ea typeface="Times New Roman"/>
                <a:cs typeface="Times New Roman"/>
                <a:sym typeface="Times New Roman"/>
              </a:rPr>
              <a:t> in a bus can transfer </a:t>
            </a:r>
            <a:r>
              <a:rPr lang="en" sz="1800" b="0" i="0" u="none">
                <a:solidFill>
                  <a:srgbClr val="FF0000"/>
                </a:solidFill>
                <a:latin typeface="Times New Roman"/>
                <a:ea typeface="Times New Roman"/>
                <a:cs typeface="Times New Roman"/>
                <a:sym typeface="Times New Roman"/>
              </a:rPr>
              <a:t>one</a:t>
            </a:r>
            <a:r>
              <a:rPr lang="en" sz="1800" b="0" i="0" u="none">
                <a:solidFill>
                  <a:srgbClr val="000099"/>
                </a:solidFill>
                <a:latin typeface="Times New Roman"/>
                <a:ea typeface="Times New Roman"/>
                <a:cs typeface="Times New Roman"/>
                <a:sym typeface="Times New Roman"/>
              </a:rPr>
              <a:t> </a:t>
            </a:r>
            <a:r>
              <a:rPr lang="en" sz="1800" b="0" i="0" u="none">
                <a:solidFill>
                  <a:srgbClr val="FF0000"/>
                </a:solidFill>
                <a:latin typeface="Times New Roman"/>
                <a:ea typeface="Times New Roman"/>
                <a:cs typeface="Times New Roman"/>
                <a:sym typeface="Times New Roman"/>
              </a:rPr>
              <a:t>bit</a:t>
            </a:r>
            <a:r>
              <a:rPr lang="en" sz="1800" b="0" i="0" u="none">
                <a:solidFill>
                  <a:srgbClr val="000099"/>
                </a:solidFill>
                <a:latin typeface="Times New Roman"/>
                <a:ea typeface="Times New Roman"/>
                <a:cs typeface="Times New Roman"/>
                <a:sym typeface="Times New Roman"/>
              </a:rPr>
              <a:t> of information.</a:t>
            </a:r>
            <a:endParaRPr/>
          </a:p>
          <a:p>
            <a:pPr marL="0" marR="0" lvl="0" indent="-114300" algn="l" rtl="0">
              <a:lnSpc>
                <a:spcPct val="100000"/>
              </a:lnSpc>
              <a:spcBef>
                <a:spcPts val="0"/>
              </a:spcBef>
              <a:spcAft>
                <a:spcPts val="0"/>
              </a:spcAft>
              <a:buClr>
                <a:srgbClr val="000099"/>
              </a:buClr>
              <a:buSzPts val="1800"/>
              <a:buFont typeface="Times New Roman"/>
              <a:buChar char="•"/>
            </a:pPr>
            <a:r>
              <a:rPr lang="en" sz="1800" b="0" i="0" u="none">
                <a:solidFill>
                  <a:srgbClr val="000099"/>
                </a:solidFill>
                <a:latin typeface="Times New Roman"/>
                <a:ea typeface="Times New Roman"/>
                <a:cs typeface="Times New Roman"/>
                <a:sym typeface="Times New Roman"/>
              </a:rPr>
              <a:t>The </a:t>
            </a:r>
            <a:r>
              <a:rPr lang="en" sz="1800" b="0" i="0" u="none">
                <a:solidFill>
                  <a:srgbClr val="FF0000"/>
                </a:solidFill>
                <a:latin typeface="Times New Roman"/>
                <a:ea typeface="Times New Roman"/>
                <a:cs typeface="Times New Roman"/>
                <a:sym typeface="Times New Roman"/>
              </a:rPr>
              <a:t>number</a:t>
            </a:r>
            <a:r>
              <a:rPr lang="en" sz="1800" b="0" i="0" u="none">
                <a:solidFill>
                  <a:srgbClr val="000099"/>
                </a:solidFill>
                <a:latin typeface="Times New Roman"/>
                <a:ea typeface="Times New Roman"/>
                <a:cs typeface="Times New Roman"/>
                <a:sym typeface="Times New Roman"/>
              </a:rPr>
              <a:t> of parallel </a:t>
            </a:r>
            <a:r>
              <a:rPr lang="en" sz="1800" b="0" i="0" u="none">
                <a:solidFill>
                  <a:srgbClr val="FF0000"/>
                </a:solidFill>
                <a:latin typeface="Times New Roman"/>
                <a:ea typeface="Times New Roman"/>
                <a:cs typeface="Times New Roman"/>
                <a:sym typeface="Times New Roman"/>
              </a:rPr>
              <a:t>wires</a:t>
            </a:r>
            <a:r>
              <a:rPr lang="en" sz="1800" b="0" i="0" u="none">
                <a:solidFill>
                  <a:srgbClr val="000099"/>
                </a:solidFill>
                <a:latin typeface="Times New Roman"/>
                <a:ea typeface="Times New Roman"/>
                <a:cs typeface="Times New Roman"/>
                <a:sym typeface="Times New Roman"/>
              </a:rPr>
              <a:t> in a bus is equal to the </a:t>
            </a:r>
            <a:r>
              <a:rPr lang="en" sz="1800" b="0" i="0" u="none">
                <a:solidFill>
                  <a:srgbClr val="FF0000"/>
                </a:solidFill>
                <a:latin typeface="Times New Roman"/>
                <a:ea typeface="Times New Roman"/>
                <a:cs typeface="Times New Roman"/>
                <a:sym typeface="Times New Roman"/>
              </a:rPr>
              <a:t>word</a:t>
            </a:r>
            <a:r>
              <a:rPr lang="en" sz="1800" b="0" i="0" u="none">
                <a:solidFill>
                  <a:srgbClr val="000099"/>
                </a:solidFill>
                <a:latin typeface="Times New Roman"/>
                <a:ea typeface="Times New Roman"/>
                <a:cs typeface="Times New Roman"/>
                <a:sym typeface="Times New Roman"/>
              </a:rPr>
              <a:t> </a:t>
            </a:r>
            <a:r>
              <a:rPr lang="en" sz="1800" b="0" i="0" u="none">
                <a:solidFill>
                  <a:srgbClr val="FF0000"/>
                </a:solidFill>
                <a:latin typeface="Times New Roman"/>
                <a:ea typeface="Times New Roman"/>
                <a:cs typeface="Times New Roman"/>
                <a:sym typeface="Times New Roman"/>
              </a:rPr>
              <a:t>length</a:t>
            </a:r>
            <a:r>
              <a:rPr lang="en" sz="1800" b="0" i="0" u="none">
                <a:solidFill>
                  <a:srgbClr val="000099"/>
                </a:solidFill>
                <a:latin typeface="Times New Roman"/>
                <a:ea typeface="Times New Roman"/>
                <a:cs typeface="Times New Roman"/>
                <a:sym typeface="Times New Roman"/>
              </a:rPr>
              <a:t> of </a:t>
            </a:r>
            <a:endParaRPr/>
          </a:p>
          <a:p>
            <a:pPr marL="0" marR="0" lvl="0" indent="0" algn="l" rtl="0">
              <a:lnSpc>
                <a:spcPct val="100000"/>
              </a:lnSpc>
              <a:spcBef>
                <a:spcPts val="0"/>
              </a:spcBef>
              <a:spcAft>
                <a:spcPts val="0"/>
              </a:spcAft>
              <a:buClr>
                <a:srgbClr val="000099"/>
              </a:buClr>
              <a:buSzPts val="1800"/>
              <a:buFont typeface="Times New Roman"/>
              <a:buNone/>
            </a:pPr>
            <a:r>
              <a:rPr lang="en" sz="1800" b="0" i="0" u="none">
                <a:solidFill>
                  <a:srgbClr val="000099"/>
                </a:solidFill>
                <a:latin typeface="Times New Roman"/>
                <a:ea typeface="Times New Roman"/>
                <a:cs typeface="Times New Roman"/>
                <a:sym typeface="Times New Roman"/>
              </a:rPr>
              <a:t>a computer</a:t>
            </a:r>
            <a:endParaRPr/>
          </a:p>
        </p:txBody>
      </p:sp>
      <p:sp>
        <p:nvSpPr>
          <p:cNvPr id="139" name="Google Shape;139;p22"/>
          <p:cNvSpPr txBox="1"/>
          <p:nvPr/>
        </p:nvSpPr>
        <p:spPr>
          <a:xfrm>
            <a:off x="4124325" y="2770584"/>
            <a:ext cx="539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 sz="1800" b="0" i="0" u="none">
                <a:solidFill>
                  <a:schemeClr val="dk1"/>
                </a:solidFill>
                <a:latin typeface="Times New Roman"/>
                <a:ea typeface="Times New Roman"/>
                <a:cs typeface="Times New Roman"/>
                <a:sym typeface="Times New Roman"/>
              </a:rPr>
              <a:t>Bus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3"/>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8</a:t>
            </a:fld>
            <a:endParaRPr/>
          </a:p>
        </p:txBody>
      </p:sp>
      <p:sp>
        <p:nvSpPr>
          <p:cNvPr id="145" name="Google Shape;145;p23"/>
          <p:cNvSpPr txBox="1"/>
          <p:nvPr/>
        </p:nvSpPr>
        <p:spPr>
          <a:xfrm>
            <a:off x="934262" y="1205109"/>
            <a:ext cx="7108800" cy="2282400"/>
          </a:xfrm>
          <a:prstGeom prst="rect">
            <a:avLst/>
          </a:prstGeom>
          <a:solidFill>
            <a:srgbClr val="DDDDD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6" name="Google Shape;146;p23"/>
          <p:cNvSpPr txBox="1">
            <a:spLocks noGrp="1"/>
          </p:cNvSpPr>
          <p:nvPr>
            <p:ph type="title"/>
          </p:nvPr>
        </p:nvSpPr>
        <p:spPr>
          <a:xfrm>
            <a:off x="311700" y="333769"/>
            <a:ext cx="8520600" cy="4296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400"/>
              <a:buFont typeface="Comic Sans MS"/>
              <a:buNone/>
            </a:pPr>
            <a:r>
              <a:rPr lang="en" sz="2400" b="0" i="0" u="none">
                <a:solidFill>
                  <a:srgbClr val="CC0000"/>
                </a:solidFill>
                <a:latin typeface="Comic Sans MS"/>
                <a:ea typeface="Comic Sans MS"/>
                <a:cs typeface="Comic Sans MS"/>
                <a:sym typeface="Comic Sans MS"/>
              </a:rPr>
              <a:t>Organization of cache and main memory</a:t>
            </a:r>
            <a:endParaRPr/>
          </a:p>
        </p:txBody>
      </p:sp>
      <p:sp>
        <p:nvSpPr>
          <p:cNvPr id="147" name="Google Shape;147;p23"/>
          <p:cNvSpPr/>
          <p:nvPr/>
        </p:nvSpPr>
        <p:spPr>
          <a:xfrm>
            <a:off x="5549900" y="2315765"/>
            <a:ext cx="227012" cy="695325"/>
          </a:xfrm>
          <a:custGeom>
            <a:avLst/>
            <a:gdLst/>
            <a:ahLst/>
            <a:cxnLst/>
            <a:rect l="l" t="t" r="r" b="b"/>
            <a:pathLst>
              <a:path w="11" h="45" extrusionOk="0">
                <a:moveTo>
                  <a:pt x="11" y="9"/>
                </a:moveTo>
                <a:lnTo>
                  <a:pt x="8" y="9"/>
                </a:lnTo>
                <a:lnTo>
                  <a:pt x="8" y="37"/>
                </a:lnTo>
                <a:lnTo>
                  <a:pt x="11" y="37"/>
                </a:lnTo>
                <a:lnTo>
                  <a:pt x="6" y="45"/>
                </a:lnTo>
                <a:lnTo>
                  <a:pt x="0" y="37"/>
                </a:lnTo>
                <a:lnTo>
                  <a:pt x="3" y="37"/>
                </a:lnTo>
                <a:lnTo>
                  <a:pt x="3" y="9"/>
                </a:lnTo>
                <a:lnTo>
                  <a:pt x="0" y="9"/>
                </a:lnTo>
                <a:lnTo>
                  <a:pt x="6" y="0"/>
                </a:lnTo>
                <a:lnTo>
                  <a:pt x="11" y="9"/>
                </a:lnTo>
              </a:path>
            </a:pathLst>
          </a:custGeom>
          <a:noFill/>
          <a:ln w="27050" cap="flat" cmpd="sng">
            <a:solidFill>
              <a:srgbClr val="000099"/>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8" name="Google Shape;148;p23"/>
          <p:cNvSpPr txBox="1"/>
          <p:nvPr/>
        </p:nvSpPr>
        <p:spPr>
          <a:xfrm>
            <a:off x="2151062" y="1434703"/>
            <a:ext cx="1400100" cy="881100"/>
          </a:xfrm>
          <a:prstGeom prst="rect">
            <a:avLst/>
          </a:prstGeom>
          <a:noFill/>
          <a:ln w="2697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49" name="Google Shape;149;p23"/>
          <p:cNvSpPr txBox="1"/>
          <p:nvPr/>
        </p:nvSpPr>
        <p:spPr>
          <a:xfrm>
            <a:off x="4498975" y="1434703"/>
            <a:ext cx="2327400" cy="881100"/>
          </a:xfrm>
          <a:prstGeom prst="rect">
            <a:avLst/>
          </a:prstGeom>
          <a:solidFill>
            <a:srgbClr val="E5FFFF"/>
          </a:solidFill>
          <a:ln w="9525"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0" name="Google Shape;150;p23"/>
          <p:cNvSpPr txBox="1"/>
          <p:nvPr/>
        </p:nvSpPr>
        <p:spPr>
          <a:xfrm>
            <a:off x="4498975" y="1434703"/>
            <a:ext cx="2327400" cy="881100"/>
          </a:xfrm>
          <a:prstGeom prst="rect">
            <a:avLst/>
          </a:prstGeom>
          <a:noFill/>
          <a:ln w="27050" cap="flat" cmpd="sng">
            <a:solidFill>
              <a:srgbClr val="000099"/>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1" name="Google Shape;151;p23"/>
          <p:cNvSpPr txBox="1"/>
          <p:nvPr/>
        </p:nvSpPr>
        <p:spPr>
          <a:xfrm>
            <a:off x="4725987" y="1620440"/>
            <a:ext cx="947700" cy="525000"/>
          </a:xfrm>
          <a:prstGeom prst="rect">
            <a:avLst/>
          </a:prstGeom>
          <a:solidFill>
            <a:srgbClr val="FFFFFF"/>
          </a:solidFill>
          <a:ln w="9525"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2" name="Google Shape;152;p23"/>
          <p:cNvSpPr txBox="1"/>
          <p:nvPr/>
        </p:nvSpPr>
        <p:spPr>
          <a:xfrm>
            <a:off x="4725987" y="1620440"/>
            <a:ext cx="947700" cy="525000"/>
          </a:xfrm>
          <a:prstGeom prst="rect">
            <a:avLst/>
          </a:prstGeom>
          <a:noFill/>
          <a:ln w="2697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3" name="Google Shape;153;p23"/>
          <p:cNvSpPr txBox="1"/>
          <p:nvPr/>
        </p:nvSpPr>
        <p:spPr>
          <a:xfrm>
            <a:off x="2356800" y="1579250"/>
            <a:ext cx="1400100" cy="585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0" i="0" u="none">
                <a:solidFill>
                  <a:srgbClr val="000000"/>
                </a:solidFill>
                <a:latin typeface="Arial"/>
                <a:ea typeface="Arial"/>
                <a:cs typeface="Arial"/>
                <a:sym typeface="Arial"/>
              </a:rPr>
              <a:t>Main Memory</a:t>
            </a:r>
            <a:endParaRPr/>
          </a:p>
        </p:txBody>
      </p:sp>
      <p:sp>
        <p:nvSpPr>
          <p:cNvPr id="154" name="Google Shape;154;p23"/>
          <p:cNvSpPr txBox="1"/>
          <p:nvPr/>
        </p:nvSpPr>
        <p:spPr>
          <a:xfrm>
            <a:off x="5776900" y="1740950"/>
            <a:ext cx="1073700" cy="261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700" b="0" i="0" u="none">
                <a:solidFill>
                  <a:srgbClr val="000000"/>
                </a:solidFill>
                <a:latin typeface="Arial"/>
                <a:ea typeface="Arial"/>
                <a:cs typeface="Arial"/>
                <a:sym typeface="Arial"/>
              </a:rPr>
              <a:t>Processor</a:t>
            </a:r>
            <a:endParaRPr sz="1200"/>
          </a:p>
        </p:txBody>
      </p:sp>
      <p:sp>
        <p:nvSpPr>
          <p:cNvPr id="155" name="Google Shape;155;p23"/>
          <p:cNvSpPr/>
          <p:nvPr/>
        </p:nvSpPr>
        <p:spPr>
          <a:xfrm>
            <a:off x="2746375" y="2315765"/>
            <a:ext cx="228600" cy="695325"/>
          </a:xfrm>
          <a:custGeom>
            <a:avLst/>
            <a:gdLst/>
            <a:ahLst/>
            <a:cxnLst/>
            <a:rect l="l" t="t" r="r" b="b"/>
            <a:pathLst>
              <a:path w="11" h="45" extrusionOk="0">
                <a:moveTo>
                  <a:pt x="11" y="9"/>
                </a:moveTo>
                <a:lnTo>
                  <a:pt x="8" y="9"/>
                </a:lnTo>
                <a:lnTo>
                  <a:pt x="8" y="37"/>
                </a:lnTo>
                <a:lnTo>
                  <a:pt x="11" y="37"/>
                </a:lnTo>
                <a:lnTo>
                  <a:pt x="5" y="45"/>
                </a:lnTo>
                <a:lnTo>
                  <a:pt x="0" y="37"/>
                </a:lnTo>
                <a:lnTo>
                  <a:pt x="3" y="37"/>
                </a:lnTo>
                <a:lnTo>
                  <a:pt x="3" y="9"/>
                </a:lnTo>
                <a:lnTo>
                  <a:pt x="0" y="9"/>
                </a:lnTo>
                <a:lnTo>
                  <a:pt x="5" y="0"/>
                </a:lnTo>
                <a:lnTo>
                  <a:pt x="11" y="9"/>
                </a:lnTo>
              </a:path>
            </a:pathLst>
          </a:custGeom>
          <a:noFill/>
          <a:ln w="27050" cap="flat" cmpd="sng">
            <a:solidFill>
              <a:srgbClr val="000099"/>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6" name="Google Shape;156;p23"/>
          <p:cNvSpPr/>
          <p:nvPr/>
        </p:nvSpPr>
        <p:spPr>
          <a:xfrm>
            <a:off x="1449387" y="2980134"/>
            <a:ext cx="6078537" cy="170259"/>
          </a:xfrm>
          <a:custGeom>
            <a:avLst/>
            <a:gdLst/>
            <a:ahLst/>
            <a:cxnLst/>
            <a:rect l="l" t="t" r="r" b="b"/>
            <a:pathLst>
              <a:path w="295" h="11" extrusionOk="0">
                <a:moveTo>
                  <a:pt x="287" y="2"/>
                </a:moveTo>
                <a:lnTo>
                  <a:pt x="287" y="0"/>
                </a:lnTo>
                <a:lnTo>
                  <a:pt x="295" y="5"/>
                </a:lnTo>
                <a:lnTo>
                  <a:pt x="287" y="11"/>
                </a:lnTo>
                <a:lnTo>
                  <a:pt x="287" y="8"/>
                </a:lnTo>
                <a:lnTo>
                  <a:pt x="9" y="8"/>
                </a:lnTo>
                <a:lnTo>
                  <a:pt x="9" y="11"/>
                </a:lnTo>
                <a:lnTo>
                  <a:pt x="0" y="5"/>
                </a:lnTo>
                <a:lnTo>
                  <a:pt x="9" y="0"/>
                </a:lnTo>
                <a:lnTo>
                  <a:pt x="9" y="2"/>
                </a:lnTo>
                <a:lnTo>
                  <a:pt x="287" y="2"/>
                </a:lnTo>
              </a:path>
            </a:pathLst>
          </a:custGeom>
          <a:noFill/>
          <a:ln w="27050" cap="flat" cmpd="sng">
            <a:solidFill>
              <a:srgbClr val="000099"/>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7" name="Google Shape;157;p23"/>
          <p:cNvSpPr txBox="1"/>
          <p:nvPr/>
        </p:nvSpPr>
        <p:spPr>
          <a:xfrm>
            <a:off x="3725577" y="2571738"/>
            <a:ext cx="1073700" cy="292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0" i="0" u="none">
                <a:solidFill>
                  <a:srgbClr val="000000"/>
                </a:solidFill>
                <a:latin typeface="Arial"/>
                <a:ea typeface="Arial"/>
                <a:cs typeface="Arial"/>
                <a:sym typeface="Arial"/>
              </a:rPr>
              <a:t>Bus</a:t>
            </a:r>
            <a:endParaRPr/>
          </a:p>
        </p:txBody>
      </p:sp>
      <p:sp>
        <p:nvSpPr>
          <p:cNvPr id="158" name="Google Shape;158;p23"/>
          <p:cNvSpPr txBox="1"/>
          <p:nvPr/>
        </p:nvSpPr>
        <p:spPr>
          <a:xfrm>
            <a:off x="4730775" y="1625450"/>
            <a:ext cx="9381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600"/>
              <a:t> </a:t>
            </a:r>
            <a:r>
              <a:rPr lang="en" sz="1600" b="0" i="0" u="none">
                <a:solidFill>
                  <a:srgbClr val="000000"/>
                </a:solidFill>
                <a:latin typeface="Arial"/>
                <a:ea typeface="Arial"/>
                <a:cs typeface="Arial"/>
                <a:sym typeface="Arial"/>
              </a:rPr>
              <a:t>Cache          m/y</a:t>
            </a:r>
            <a:endParaRPr sz="1100"/>
          </a:p>
        </p:txBody>
      </p:sp>
      <p:sp>
        <p:nvSpPr>
          <p:cNvPr id="159" name="Google Shape;159;p23"/>
          <p:cNvSpPr txBox="1"/>
          <p:nvPr/>
        </p:nvSpPr>
        <p:spPr>
          <a:xfrm>
            <a:off x="1231900" y="3565921"/>
            <a:ext cx="5737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1800"/>
              <a:buFont typeface="Times New Roman"/>
              <a:buNone/>
            </a:pPr>
            <a:r>
              <a:rPr lang="en" sz="1800" b="0" i="0" u="none">
                <a:solidFill>
                  <a:srgbClr val="CC3300"/>
                </a:solidFill>
                <a:latin typeface="Times New Roman"/>
                <a:ea typeface="Times New Roman"/>
                <a:cs typeface="Times New Roman"/>
                <a:sym typeface="Times New Roman"/>
              </a:rPr>
              <a:t>Why is the access time of the cache memory lesser than the </a:t>
            </a:r>
            <a:endParaRPr/>
          </a:p>
          <a:p>
            <a:pPr marL="0" marR="0" lvl="0" indent="0" algn="l" rtl="0">
              <a:lnSpc>
                <a:spcPct val="100000"/>
              </a:lnSpc>
              <a:spcBef>
                <a:spcPts val="0"/>
              </a:spcBef>
              <a:spcAft>
                <a:spcPts val="0"/>
              </a:spcAft>
              <a:buClr>
                <a:srgbClr val="CC3300"/>
              </a:buClr>
              <a:buSzPts val="1800"/>
              <a:buFont typeface="Times New Roman"/>
              <a:buNone/>
            </a:pPr>
            <a:r>
              <a:rPr lang="en" sz="1800" b="0" i="0" u="none">
                <a:solidFill>
                  <a:srgbClr val="CC3300"/>
                </a:solidFill>
                <a:latin typeface="Times New Roman"/>
                <a:ea typeface="Times New Roman"/>
                <a:cs typeface="Times New Roman"/>
                <a:sym typeface="Times New Roman"/>
              </a:rPr>
              <a:t>access time of the main memory?</a:t>
            </a:r>
            <a:endParaRPr/>
          </a:p>
        </p:txBody>
      </p:sp>
      <p:sp>
        <p:nvSpPr>
          <p:cNvPr id="160" name="Google Shape;160;p23"/>
          <p:cNvSpPr txBox="1"/>
          <p:nvPr/>
        </p:nvSpPr>
        <p:spPr>
          <a:xfrm>
            <a:off x="2581925" y="-44400"/>
            <a:ext cx="91662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629841" y="335901"/>
            <a:ext cx="2949000" cy="20853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2400"/>
              <a:buFont typeface="Calibri"/>
              <a:buNone/>
            </a:pPr>
            <a:endParaRPr/>
          </a:p>
        </p:txBody>
      </p:sp>
      <p:sp>
        <p:nvSpPr>
          <p:cNvPr id="166" name="Google Shape;166;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FF0000"/>
              </a:buClr>
              <a:buSzPts val="1600"/>
              <a:buFont typeface="Comic Sans MS"/>
              <a:buChar char="●"/>
            </a:pPr>
            <a:r>
              <a:rPr lang="en" sz="1600" i="0" u="none" strike="noStrike">
                <a:solidFill>
                  <a:srgbClr val="FF0000"/>
                </a:solidFill>
                <a:latin typeface="Comic Sans MS"/>
                <a:ea typeface="Comic Sans MS"/>
                <a:cs typeface="Comic Sans MS"/>
                <a:sym typeface="Comic Sans MS"/>
              </a:rPr>
              <a:t>BUS STRUCTURES </a:t>
            </a:r>
            <a:endParaRPr sz="2500">
              <a:solidFill>
                <a:srgbClr val="FF0000"/>
              </a:solidFill>
              <a:latin typeface="Comic Sans MS"/>
              <a:ea typeface="Comic Sans MS"/>
              <a:cs typeface="Comic Sans MS"/>
              <a:sym typeface="Comic Sans MS"/>
            </a:endParaRPr>
          </a:p>
          <a:p>
            <a:pPr marL="177800" lvl="0" indent="-171450" algn="just" rtl="0">
              <a:lnSpc>
                <a:spcPct val="90000"/>
              </a:lnSpc>
              <a:spcBef>
                <a:spcPts val="800"/>
              </a:spcBef>
              <a:spcAft>
                <a:spcPts val="0"/>
              </a:spcAft>
              <a:buClr>
                <a:srgbClr val="000000"/>
              </a:buClr>
              <a:buSzPts val="1500"/>
              <a:buChar char="●"/>
            </a:pPr>
            <a:r>
              <a:rPr lang="en" sz="1500">
                <a:solidFill>
                  <a:srgbClr val="000000"/>
                </a:solidFill>
                <a:latin typeface="Times New Roman"/>
                <a:ea typeface="Times New Roman"/>
                <a:cs typeface="Times New Roman"/>
                <a:sym typeface="Times New Roman"/>
              </a:rPr>
              <a:t>A group of lines that serves as a connecting path for several devices is called a bus</a:t>
            </a:r>
            <a:endParaRPr/>
          </a:p>
          <a:p>
            <a:pPr marL="177800" lvl="0" indent="-171450" algn="just" rtl="0">
              <a:lnSpc>
                <a:spcPct val="90000"/>
              </a:lnSpc>
              <a:spcBef>
                <a:spcPts val="800"/>
              </a:spcBef>
              <a:spcAft>
                <a:spcPts val="0"/>
              </a:spcAft>
              <a:buClr>
                <a:srgbClr val="000000"/>
              </a:buClr>
              <a:buSzPts val="1500"/>
              <a:buChar char="●"/>
            </a:pPr>
            <a:r>
              <a:rPr lang="en" sz="1500">
                <a:solidFill>
                  <a:srgbClr val="000000"/>
                </a:solidFill>
                <a:latin typeface="Times New Roman"/>
                <a:ea typeface="Times New Roman"/>
                <a:cs typeface="Times New Roman"/>
                <a:sym typeface="Times New Roman"/>
              </a:rPr>
              <a:t>The simplest way to interconnect functional units is to use a single bus (All the units are connected to this bus)</a:t>
            </a:r>
            <a:endParaRPr/>
          </a:p>
          <a:p>
            <a:pPr marL="177800" lvl="0" indent="-171450" algn="just" rtl="0">
              <a:lnSpc>
                <a:spcPct val="90000"/>
              </a:lnSpc>
              <a:spcBef>
                <a:spcPts val="800"/>
              </a:spcBef>
              <a:spcAft>
                <a:spcPts val="0"/>
              </a:spcAft>
              <a:buClr>
                <a:srgbClr val="000000"/>
              </a:buClr>
              <a:buSzPts val="1500"/>
              <a:buChar char="●"/>
            </a:pPr>
            <a:r>
              <a:rPr lang="en" sz="1500">
                <a:solidFill>
                  <a:srgbClr val="000000"/>
                </a:solidFill>
                <a:latin typeface="Times New Roman"/>
                <a:ea typeface="Times New Roman"/>
                <a:cs typeface="Times New Roman"/>
                <a:sym typeface="Times New Roman"/>
              </a:rPr>
              <a:t>Only two units can actively use the bus at any given time</a:t>
            </a:r>
            <a:endParaRPr/>
          </a:p>
          <a:p>
            <a:pPr marL="177800" lvl="0" indent="-171450" algn="just" rtl="0">
              <a:lnSpc>
                <a:spcPct val="90000"/>
              </a:lnSpc>
              <a:spcBef>
                <a:spcPts val="800"/>
              </a:spcBef>
              <a:spcAft>
                <a:spcPts val="0"/>
              </a:spcAft>
              <a:buClr>
                <a:srgbClr val="000000"/>
              </a:buClr>
              <a:buSzPts val="1500"/>
              <a:buChar char="●"/>
            </a:pPr>
            <a:r>
              <a:rPr lang="en" sz="1500">
                <a:solidFill>
                  <a:srgbClr val="000000"/>
                </a:solidFill>
                <a:latin typeface="Times New Roman"/>
                <a:ea typeface="Times New Roman"/>
                <a:cs typeface="Times New Roman"/>
                <a:sym typeface="Times New Roman"/>
              </a:rPr>
              <a:t>System that contain multiple bus allows two or more transfers to be carried out at the same time</a:t>
            </a:r>
            <a:endParaRPr/>
          </a:p>
          <a:p>
            <a:pPr marL="177800" lvl="0" indent="-171450" algn="just" rtl="0">
              <a:lnSpc>
                <a:spcPct val="90000"/>
              </a:lnSpc>
              <a:spcBef>
                <a:spcPts val="800"/>
              </a:spcBef>
              <a:spcAft>
                <a:spcPts val="1200"/>
              </a:spcAft>
              <a:buClr>
                <a:srgbClr val="000000"/>
              </a:buClr>
              <a:buSzPts val="1500"/>
              <a:buChar char="●"/>
            </a:pPr>
            <a:r>
              <a:rPr lang="en" sz="1500">
                <a:solidFill>
                  <a:srgbClr val="000000"/>
                </a:solidFill>
                <a:latin typeface="Times New Roman"/>
                <a:ea typeface="Times New Roman"/>
                <a:cs typeface="Times New Roman"/>
                <a:sym typeface="Times New Roman"/>
              </a:rPr>
              <a:t>When a word of data is transferred between units, all its bits are transferred in parallel ie the  bits are transferred simultaneously over many wires or lines, one bit per line</a:t>
            </a:r>
            <a:endParaRPr sz="2700"/>
          </a:p>
        </p:txBody>
      </p:sp>
      <p:sp>
        <p:nvSpPr>
          <p:cNvPr id="167" name="Google Shape;167;p24"/>
          <p:cNvSpPr txBox="1">
            <a:spLocks noGrp="1"/>
          </p:cNvSpPr>
          <p:nvPr>
            <p:ph type="body" idx="2"/>
          </p:nvPr>
        </p:nvSpPr>
        <p:spPr>
          <a:xfrm>
            <a:off x="629841" y="2421293"/>
            <a:ext cx="2949000" cy="19806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1200"/>
              </a:spcAft>
              <a:buClr>
                <a:schemeClr val="dk1"/>
              </a:buClr>
              <a:buSzPts val="1200"/>
              <a:buNone/>
            </a:pPr>
            <a:endParaRPr/>
          </a:p>
        </p:txBody>
      </p:sp>
      <p:pic>
        <p:nvPicPr>
          <p:cNvPr id="168" name="Google Shape;168;p24"/>
          <p:cNvPicPr preferRelativeResize="0"/>
          <p:nvPr/>
        </p:nvPicPr>
        <p:blipFill rotWithShape="1">
          <a:blip r:embed="rId3">
            <a:alphaModFix/>
          </a:blip>
          <a:srcRect/>
          <a:stretch/>
        </p:blipFill>
        <p:spPr>
          <a:xfrm>
            <a:off x="1060503" y="856412"/>
            <a:ext cx="1970469" cy="1009382"/>
          </a:xfrm>
          <a:prstGeom prst="rect">
            <a:avLst/>
          </a:prstGeom>
          <a:noFill/>
          <a:ln>
            <a:noFill/>
          </a:ln>
        </p:spPr>
      </p:pic>
      <p:pic>
        <p:nvPicPr>
          <p:cNvPr id="169" name="Google Shape;169;p24"/>
          <p:cNvPicPr preferRelativeResize="0"/>
          <p:nvPr/>
        </p:nvPicPr>
        <p:blipFill rotWithShape="1">
          <a:blip r:embed="rId4">
            <a:alphaModFix/>
          </a:blip>
          <a:srcRect/>
          <a:stretch/>
        </p:blipFill>
        <p:spPr>
          <a:xfrm>
            <a:off x="770728" y="2627881"/>
            <a:ext cx="2550020" cy="13233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1143000" y="257175"/>
            <a:ext cx="7315200" cy="3429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800"/>
              <a:buFont typeface="Comic Sans MS"/>
              <a:buNone/>
            </a:pPr>
            <a:r>
              <a:rPr lang="en" sz="2800" b="1" i="0" u="none">
                <a:solidFill>
                  <a:srgbClr val="CC0000"/>
                </a:solidFill>
                <a:latin typeface="Comic Sans MS"/>
                <a:ea typeface="Comic Sans MS"/>
                <a:cs typeface="Comic Sans MS"/>
                <a:sym typeface="Comic Sans MS"/>
              </a:rPr>
              <a:t>Computer Components: Top-Level View</a:t>
            </a:r>
            <a:endParaRPr/>
          </a:p>
        </p:txBody>
      </p:sp>
      <p:pic>
        <p:nvPicPr>
          <p:cNvPr id="175" name="Google Shape;175;p25"/>
          <p:cNvPicPr preferRelativeResize="0"/>
          <p:nvPr/>
        </p:nvPicPr>
        <p:blipFill rotWithShape="1">
          <a:blip r:embed="rId3">
            <a:alphaModFix/>
          </a:blip>
          <a:srcRect/>
          <a:stretch/>
        </p:blipFill>
        <p:spPr>
          <a:xfrm>
            <a:off x="609600" y="1095375"/>
            <a:ext cx="7358063" cy="3030140"/>
          </a:xfrm>
          <a:prstGeom prst="rect">
            <a:avLst/>
          </a:prstGeom>
          <a:noFill/>
          <a:ln>
            <a:noFill/>
          </a:ln>
        </p:spPr>
      </p:pic>
      <p:sp>
        <p:nvSpPr>
          <p:cNvPr id="176" name="Google Shape;176;p25"/>
          <p:cNvSpPr txBox="1"/>
          <p:nvPr/>
        </p:nvSpPr>
        <p:spPr>
          <a:xfrm>
            <a:off x="1516062" y="4140994"/>
            <a:ext cx="66120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2400"/>
              <a:buFont typeface="Times New Roman"/>
              <a:buNone/>
            </a:pPr>
            <a:r>
              <a:rPr lang="en" sz="2400" b="0" i="0" u="none">
                <a:solidFill>
                  <a:schemeClr val="dk1"/>
                </a:solidFill>
                <a:latin typeface="Times New Roman"/>
                <a:ea typeface="Times New Roman"/>
                <a:cs typeface="Times New Roman"/>
                <a:sym typeface="Times New Roman"/>
              </a:rPr>
              <a:t>Interconnection between Processor and Memory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6"/>
          <p:cNvSpPr txBox="1">
            <a:spLocks noGrp="1"/>
          </p:cNvSpPr>
          <p:nvPr>
            <p:ph type="title"/>
          </p:nvPr>
        </p:nvSpPr>
        <p:spPr>
          <a:xfrm>
            <a:off x="1143000" y="257175"/>
            <a:ext cx="7315200" cy="3429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800"/>
              <a:buFont typeface="Comic Sans MS"/>
              <a:buNone/>
            </a:pPr>
            <a:r>
              <a:rPr lang="en" sz="2800" b="1" i="0" u="none">
                <a:solidFill>
                  <a:srgbClr val="CC0000"/>
                </a:solidFill>
                <a:latin typeface="Comic Sans MS"/>
                <a:ea typeface="Comic Sans MS"/>
                <a:cs typeface="Comic Sans MS"/>
                <a:sym typeface="Comic Sans MS"/>
              </a:rPr>
              <a:t>Basic Operational Concepts</a:t>
            </a:r>
            <a:endParaRPr/>
          </a:p>
        </p:txBody>
      </p:sp>
      <p:pic>
        <p:nvPicPr>
          <p:cNvPr id="182" name="Google Shape;182;p26"/>
          <p:cNvPicPr preferRelativeResize="0"/>
          <p:nvPr/>
        </p:nvPicPr>
        <p:blipFill rotWithShape="1">
          <a:blip r:embed="rId3">
            <a:alphaModFix/>
          </a:blip>
          <a:srcRect/>
          <a:stretch/>
        </p:blipFill>
        <p:spPr>
          <a:xfrm>
            <a:off x="700087" y="922734"/>
            <a:ext cx="7729537" cy="37409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1143000" y="133175"/>
            <a:ext cx="7315200" cy="457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FF0000"/>
              </a:buClr>
              <a:buSzPts val="2800"/>
              <a:buFont typeface="Comic Sans MS"/>
              <a:buNone/>
            </a:pPr>
            <a:r>
              <a:rPr lang="en" sz="2800" b="1" i="0" u="none">
                <a:solidFill>
                  <a:srgbClr val="FF0000"/>
                </a:solidFill>
                <a:latin typeface="Comic Sans MS"/>
                <a:ea typeface="Comic Sans MS"/>
                <a:cs typeface="Comic Sans MS"/>
                <a:sym typeface="Comic Sans MS"/>
              </a:rPr>
              <a:t>Registers</a:t>
            </a:r>
            <a:br>
              <a:rPr lang="en" sz="2800" b="1" i="0" u="none">
                <a:solidFill>
                  <a:srgbClr val="FF0000"/>
                </a:solidFill>
                <a:latin typeface="Comic Sans MS"/>
                <a:ea typeface="Comic Sans MS"/>
                <a:cs typeface="Comic Sans MS"/>
                <a:sym typeface="Comic Sans MS"/>
              </a:rPr>
            </a:br>
            <a:endParaRPr/>
          </a:p>
        </p:txBody>
      </p:sp>
      <p:sp>
        <p:nvSpPr>
          <p:cNvPr id="188" name="Google Shape;188;p27"/>
          <p:cNvSpPr txBox="1">
            <a:spLocks noGrp="1"/>
          </p:cNvSpPr>
          <p:nvPr>
            <p:ph type="body" idx="1"/>
          </p:nvPr>
        </p:nvSpPr>
        <p:spPr>
          <a:xfrm>
            <a:off x="685800" y="407400"/>
            <a:ext cx="7772400" cy="47361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50000"/>
              </a:lnSpc>
              <a:spcBef>
                <a:spcPts val="0"/>
              </a:spcBef>
              <a:spcAft>
                <a:spcPts val="0"/>
              </a:spcAft>
              <a:buClr>
                <a:schemeClr val="dk1"/>
              </a:buClr>
              <a:buSzPts val="2000"/>
              <a:buFont typeface="Noto Sans Symbols"/>
              <a:buChar char="❑"/>
            </a:pPr>
            <a:r>
              <a:rPr lang="en" sz="2000" b="0" i="0" u="none">
                <a:solidFill>
                  <a:schemeClr val="dk1"/>
                </a:solidFill>
                <a:latin typeface="Times New Roman"/>
                <a:ea typeface="Times New Roman"/>
                <a:cs typeface="Times New Roman"/>
                <a:sym typeface="Times New Roman"/>
              </a:rPr>
              <a:t>Registers are fastest and alone storage locations that hold data temporarily. Multiple registers are needed to facilitate the operation of the CPU. Some of these registers are</a:t>
            </a:r>
            <a:endParaRPr/>
          </a:p>
          <a:p>
            <a:pPr marL="342900" marR="0" lvl="0" indent="-342900" algn="l" rtl="0">
              <a:lnSpc>
                <a:spcPct val="150000"/>
              </a:lnSpc>
              <a:spcBef>
                <a:spcPts val="400"/>
              </a:spcBef>
              <a:spcAft>
                <a:spcPts val="0"/>
              </a:spcAft>
              <a:buClr>
                <a:schemeClr val="dk1"/>
              </a:buClr>
              <a:buSzPts val="2000"/>
              <a:buFont typeface="Noto Sans Symbols"/>
              <a:buChar char="❑"/>
            </a:pPr>
            <a:r>
              <a:rPr lang="en" sz="2000" b="0" i="0" u="none">
                <a:solidFill>
                  <a:schemeClr val="dk1"/>
                </a:solidFill>
                <a:latin typeface="Times New Roman"/>
                <a:ea typeface="Times New Roman"/>
                <a:cs typeface="Times New Roman"/>
                <a:sym typeface="Times New Roman"/>
              </a:rPr>
              <a:t>􀂉Two registers-MAR (Memory Address Register) and MDR (Memory Data Register): To handle the data transfer between main memory and processor. MAR- Holds addresses, MDR-Holds data</a:t>
            </a:r>
            <a:endParaRPr/>
          </a:p>
          <a:p>
            <a:pPr marL="742950" marR="0" lvl="1" indent="-285750" algn="l" rtl="0">
              <a:lnSpc>
                <a:spcPct val="150000"/>
              </a:lnSpc>
              <a:spcBef>
                <a:spcPts val="400"/>
              </a:spcBef>
              <a:spcAft>
                <a:spcPts val="0"/>
              </a:spcAft>
              <a:buClr>
                <a:schemeClr val="dk1"/>
              </a:buClr>
              <a:buSzPts val="1600"/>
              <a:buFont typeface="Noto Sans Symbols"/>
              <a:buChar char="◆"/>
            </a:pPr>
            <a:r>
              <a:rPr lang="en" sz="2000" b="0" i="0" u="none" strike="noStrike" cap="none">
                <a:solidFill>
                  <a:schemeClr val="dk1"/>
                </a:solidFill>
                <a:latin typeface="Times New Roman"/>
                <a:ea typeface="Times New Roman"/>
                <a:cs typeface="Times New Roman"/>
                <a:sym typeface="Times New Roman"/>
              </a:rPr>
              <a:t>􀂉Instruction register (IR): Hold the Instructions that is currently being executed.</a:t>
            </a:r>
            <a:endParaRPr/>
          </a:p>
          <a:p>
            <a:pPr marL="742950" marR="0" lvl="1" indent="-285750" algn="l" rtl="0">
              <a:lnSpc>
                <a:spcPct val="150000"/>
              </a:lnSpc>
              <a:spcBef>
                <a:spcPts val="400"/>
              </a:spcBef>
              <a:spcAft>
                <a:spcPts val="0"/>
              </a:spcAft>
              <a:buClr>
                <a:schemeClr val="dk1"/>
              </a:buClr>
              <a:buSzPts val="1600"/>
              <a:buFont typeface="Noto Sans Symbols"/>
              <a:buChar char="◆"/>
            </a:pPr>
            <a:r>
              <a:rPr lang="en" sz="2000" b="0" i="0" u="none" strike="noStrike" cap="none">
                <a:solidFill>
                  <a:schemeClr val="dk1"/>
                </a:solidFill>
                <a:latin typeface="Times New Roman"/>
                <a:ea typeface="Times New Roman"/>
                <a:cs typeface="Times New Roman"/>
                <a:sym typeface="Times New Roman"/>
              </a:rPr>
              <a:t>􀂉Program counter (PC): Points to the next instructions that is to be fetched from memory.</a:t>
            </a:r>
            <a:endParaRPr/>
          </a:p>
          <a:p>
            <a:pPr marL="342900" marR="0" lvl="0" indent="-215900" algn="l" rtl="0">
              <a:spcBef>
                <a:spcPts val="400"/>
              </a:spcBef>
              <a:spcAft>
                <a:spcPts val="0"/>
              </a:spcAft>
              <a:buClr>
                <a:schemeClr val="dk1"/>
              </a:buClr>
              <a:buSzPts val="20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
        <p:nvSpPr>
          <p:cNvPr id="189" name="Google Shape;189;p27"/>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a:spLocks noGrp="1"/>
          </p:cNvSpPr>
          <p:nvPr>
            <p:ph type="title"/>
          </p:nvPr>
        </p:nvSpPr>
        <p:spPr>
          <a:xfrm>
            <a:off x="1143000" y="257175"/>
            <a:ext cx="7315200" cy="342900"/>
          </a:xfrm>
          <a:prstGeom prst="rect">
            <a:avLst/>
          </a:prstGeom>
          <a:noFill/>
          <a:ln>
            <a:noFill/>
          </a:ln>
        </p:spPr>
        <p:txBody>
          <a:bodyPr spcFirstLastPara="1" wrap="square" lIns="92075" tIns="46025" rIns="92075" bIns="46025" anchor="ctr" anchorCtr="0">
            <a:noAutofit/>
          </a:bodyPr>
          <a:lstStyle/>
          <a:p>
            <a:pPr marL="0" lvl="0" indent="0" algn="l" rtl="0">
              <a:spcBef>
                <a:spcPts val="0"/>
              </a:spcBef>
              <a:spcAft>
                <a:spcPts val="0"/>
              </a:spcAft>
              <a:buNone/>
            </a:pPr>
            <a:endParaRPr sz="2400">
              <a:solidFill>
                <a:srgbClr val="CC0000"/>
              </a:solidFill>
              <a:latin typeface="Comic Sans MS"/>
              <a:ea typeface="Comic Sans MS"/>
              <a:cs typeface="Comic Sans MS"/>
              <a:sym typeface="Comic Sans MS"/>
            </a:endParaRPr>
          </a:p>
        </p:txBody>
      </p:sp>
      <p:sp>
        <p:nvSpPr>
          <p:cNvPr id="195" name="Google Shape;195;p28"/>
          <p:cNvSpPr txBox="1">
            <a:spLocks noGrp="1"/>
          </p:cNvSpPr>
          <p:nvPr>
            <p:ph type="body" idx="1"/>
          </p:nvPr>
        </p:nvSpPr>
        <p:spPr>
          <a:xfrm>
            <a:off x="321800" y="257175"/>
            <a:ext cx="8672700" cy="4772100"/>
          </a:xfrm>
          <a:prstGeom prst="rect">
            <a:avLst/>
          </a:prstGeom>
          <a:noFill/>
          <a:ln>
            <a:noFill/>
          </a:ln>
        </p:spPr>
        <p:txBody>
          <a:bodyPr spcFirstLastPara="1" wrap="square" lIns="92075" tIns="46025" rIns="92075" bIns="46025" anchor="t" anchorCtr="0">
            <a:noAutofit/>
          </a:bodyPr>
          <a:lstStyle/>
          <a:p>
            <a:pPr marL="342900" marR="0" lvl="0" indent="-215900" algn="l" rtl="0">
              <a:lnSpc>
                <a:spcPct val="100000"/>
              </a:lnSpc>
              <a:spcBef>
                <a:spcPts val="0"/>
              </a:spcBef>
              <a:spcAft>
                <a:spcPts val="0"/>
              </a:spcAft>
              <a:buClr>
                <a:schemeClr val="dk1"/>
              </a:buClr>
              <a:buSzPts val="2000"/>
              <a:buFont typeface="Noto Sans Symbols"/>
              <a:buNone/>
            </a:pPr>
            <a:endParaRPr sz="2000" b="0" i="0" u="none">
              <a:solidFill>
                <a:schemeClr val="dk1"/>
              </a:solidFill>
              <a:latin typeface="Comic Sans MS"/>
              <a:ea typeface="Comic Sans MS"/>
              <a:cs typeface="Comic Sans MS"/>
              <a:sym typeface="Comic Sans MS"/>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(PC)             (MAR) ( the contents of PC transferred to MAR)</a:t>
            </a:r>
            <a:endParaRPr sz="2400" b="0" i="0" u="none">
              <a:solidFill>
                <a:schemeClr val="dk1"/>
              </a:solidFill>
              <a:latin typeface="Times New Roman"/>
              <a:ea typeface="Times New Roman"/>
              <a:cs typeface="Times New Roman"/>
              <a:sym typeface="Times New Roman"/>
            </a:endParaRPr>
          </a:p>
          <a:p>
            <a:pPr marL="342900" marR="0" lvl="0" indent="0" algn="l" rtl="0">
              <a:lnSpc>
                <a:spcPct val="100000"/>
              </a:lnSpc>
              <a:spcBef>
                <a:spcPts val="480"/>
              </a:spcBef>
              <a:spcAft>
                <a:spcPts val="0"/>
              </a:spcAft>
              <a:buNone/>
            </a:pPr>
            <a:endParaRPr sz="2400">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(MAR)              (Address bus) Select a particular memory location</a:t>
            </a:r>
            <a:endParaRPr sz="2400" b="0" i="0" u="none">
              <a:solidFill>
                <a:schemeClr val="dk1"/>
              </a:solidFill>
              <a:latin typeface="Times New Roman"/>
              <a:ea typeface="Times New Roman"/>
              <a:cs typeface="Times New Roman"/>
              <a:sym typeface="Times New Roman"/>
            </a:endParaRPr>
          </a:p>
          <a:p>
            <a:pPr marL="342900" marR="0" lvl="0" indent="0" algn="l" rtl="0">
              <a:lnSpc>
                <a:spcPct val="100000"/>
              </a:lnSpc>
              <a:spcBef>
                <a:spcPts val="480"/>
              </a:spcBef>
              <a:spcAft>
                <a:spcPts val="0"/>
              </a:spcAft>
              <a:buNone/>
            </a:pPr>
            <a:endParaRPr sz="2400">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Issues RD control signals</a:t>
            </a:r>
            <a:endParaRPr sz="2400" b="0" i="0" u="none">
              <a:solidFill>
                <a:schemeClr val="dk1"/>
              </a:solidFill>
              <a:latin typeface="Times New Roman"/>
              <a:ea typeface="Times New Roman"/>
              <a:cs typeface="Times New Roman"/>
              <a:sym typeface="Times New Roman"/>
            </a:endParaRPr>
          </a:p>
          <a:p>
            <a:pPr marL="342900" marR="0" lvl="0" indent="0" algn="l" rtl="0">
              <a:lnSpc>
                <a:spcPct val="100000"/>
              </a:lnSpc>
              <a:spcBef>
                <a:spcPts val="480"/>
              </a:spcBef>
              <a:spcAft>
                <a:spcPts val="0"/>
              </a:spcAft>
              <a:buNone/>
            </a:pPr>
            <a:endParaRPr sz="2400">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•Reads instruction present in memory and loaded into MDR</a:t>
            </a:r>
            <a:endParaRPr sz="2400" b="0" i="0" u="none">
              <a:solidFill>
                <a:schemeClr val="dk1"/>
              </a:solidFill>
              <a:latin typeface="Times New Roman"/>
              <a:ea typeface="Times New Roman"/>
              <a:cs typeface="Times New Roman"/>
              <a:sym typeface="Times New Roman"/>
            </a:endParaRPr>
          </a:p>
          <a:p>
            <a:pPr marL="342900" marR="0" lvl="0" indent="0" algn="l" rtl="0">
              <a:lnSpc>
                <a:spcPct val="100000"/>
              </a:lnSpc>
              <a:spcBef>
                <a:spcPts val="480"/>
              </a:spcBef>
              <a:spcAft>
                <a:spcPts val="0"/>
              </a:spcAft>
              <a:buNone/>
            </a:pPr>
            <a:endParaRPr sz="2400">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•Will be placed in IR (Contents transferred from MDR to IR)</a:t>
            </a:r>
            <a:endParaRPr/>
          </a:p>
          <a:p>
            <a:pPr marL="342900" marR="0" lvl="0" indent="-190500" algn="l" rtl="0">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p:txBody>
      </p:sp>
      <p:sp>
        <p:nvSpPr>
          <p:cNvPr id="196" name="Google Shape;196;p28"/>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13</a:t>
            </a:fld>
            <a:endParaRPr/>
          </a:p>
        </p:txBody>
      </p:sp>
      <p:cxnSp>
        <p:nvCxnSpPr>
          <p:cNvPr id="197" name="Google Shape;197;p28"/>
          <p:cNvCxnSpPr/>
          <p:nvPr/>
        </p:nvCxnSpPr>
        <p:spPr>
          <a:xfrm>
            <a:off x="1572462" y="842331"/>
            <a:ext cx="784200" cy="0"/>
          </a:xfrm>
          <a:prstGeom prst="straightConnector1">
            <a:avLst/>
          </a:prstGeom>
          <a:noFill/>
          <a:ln w="12700" cap="flat" cmpd="sng">
            <a:solidFill>
              <a:schemeClr val="dk1"/>
            </a:solidFill>
            <a:prstDash val="solid"/>
            <a:miter lim="800000"/>
            <a:headEnd type="none" w="med" len="med"/>
            <a:tailEnd type="stealth" w="med" len="med"/>
          </a:ln>
        </p:spPr>
      </p:cxnSp>
      <p:cxnSp>
        <p:nvCxnSpPr>
          <p:cNvPr id="198" name="Google Shape;198;p28"/>
          <p:cNvCxnSpPr/>
          <p:nvPr/>
        </p:nvCxnSpPr>
        <p:spPr>
          <a:xfrm>
            <a:off x="1870950" y="1707265"/>
            <a:ext cx="784200" cy="0"/>
          </a:xfrm>
          <a:prstGeom prst="straightConnector1">
            <a:avLst/>
          </a:prstGeom>
          <a:noFill/>
          <a:ln w="12700" cap="flat" cmpd="sng">
            <a:solidFill>
              <a:schemeClr val="dk1"/>
            </a:solidFill>
            <a:prstDash val="solid"/>
            <a:miter lim="800000"/>
            <a:headEnd type="none" w="med" len="med"/>
            <a:tailEnd type="stealth"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a:spLocks noGrp="1"/>
          </p:cNvSpPr>
          <p:nvPr>
            <p:ph type="body" idx="1"/>
          </p:nvPr>
        </p:nvSpPr>
        <p:spPr>
          <a:xfrm>
            <a:off x="226850" y="178950"/>
            <a:ext cx="8688600" cy="4785600"/>
          </a:xfrm>
          <a:prstGeom prst="rect">
            <a:avLst/>
          </a:prstGeom>
          <a:noFill/>
          <a:ln>
            <a:noFill/>
          </a:ln>
        </p:spPr>
        <p:txBody>
          <a:bodyPr spcFirstLastPara="1" wrap="square" lIns="92075" tIns="46025" rIns="92075" bIns="46025" anchor="t" anchorCtr="0">
            <a:noAutofit/>
          </a:bodyPr>
          <a:lstStyle/>
          <a:p>
            <a:pPr marL="342900" marR="0" lvl="0" indent="-215900" algn="l" rtl="0">
              <a:lnSpc>
                <a:spcPct val="100000"/>
              </a:lnSpc>
              <a:spcBef>
                <a:spcPts val="0"/>
              </a:spcBef>
              <a:spcAft>
                <a:spcPts val="0"/>
              </a:spcAft>
              <a:buClr>
                <a:schemeClr val="dk1"/>
              </a:buClr>
              <a:buSzPts val="2000"/>
              <a:buFont typeface="Noto Sans Symbols"/>
              <a:buNone/>
            </a:pPr>
            <a:endParaRPr sz="2000" b="0" i="0" u="none">
              <a:solidFill>
                <a:schemeClr val="dk1"/>
              </a:solidFill>
              <a:latin typeface="Comic Sans MS"/>
              <a:ea typeface="Comic Sans MS"/>
              <a:cs typeface="Comic Sans MS"/>
              <a:sym typeface="Comic Sans MS"/>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•Instruction present in IR will be decoded by which processor understand what operation it has to perform</a:t>
            </a:r>
            <a:endParaRPr/>
          </a:p>
          <a:p>
            <a:pPr marL="342900" marR="0" lvl="0" indent="-190500" algn="l" rtl="0">
              <a:lnSpc>
                <a:spcPct val="100000"/>
              </a:lnSpc>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•Increments the contents of PC by 1, so that it points to the next instruction address</a:t>
            </a:r>
            <a:endParaRPr/>
          </a:p>
          <a:p>
            <a:pPr marL="342900" marR="0" lvl="0" indent="-190500" algn="l" rtl="0">
              <a:lnSpc>
                <a:spcPct val="100000"/>
              </a:lnSpc>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•If data required for operation is available in register, it performs the operation</a:t>
            </a:r>
            <a:endParaRPr/>
          </a:p>
          <a:p>
            <a:pPr marL="342900" marR="0" lvl="0" indent="-190500" algn="l" rtl="0">
              <a:lnSpc>
                <a:spcPct val="100000"/>
              </a:lnSpc>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•If data is present in memory following sequence is performed</a:t>
            </a:r>
            <a:endParaRPr/>
          </a:p>
          <a:p>
            <a:pPr marL="342900" marR="0" lvl="0" indent="-190500" algn="l" rtl="0">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p:txBody>
      </p:sp>
      <p:sp>
        <p:nvSpPr>
          <p:cNvPr id="204" name="Google Shape;204;p29"/>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0"/>
          <p:cNvSpPr txBox="1">
            <a:spLocks noGrp="1"/>
          </p:cNvSpPr>
          <p:nvPr>
            <p:ph type="body" idx="1"/>
          </p:nvPr>
        </p:nvSpPr>
        <p:spPr>
          <a:xfrm>
            <a:off x="685800" y="244126"/>
            <a:ext cx="7772400" cy="4660800"/>
          </a:xfrm>
          <a:prstGeom prst="rect">
            <a:avLst/>
          </a:prstGeom>
          <a:noFill/>
          <a:ln>
            <a:noFill/>
          </a:ln>
        </p:spPr>
        <p:txBody>
          <a:bodyPr spcFirstLastPara="1" wrap="square" lIns="92075" tIns="46025" rIns="92075" bIns="46025" anchor="t" anchorCtr="0">
            <a:noAutofit/>
          </a:bodyPr>
          <a:lstStyle/>
          <a:p>
            <a:pPr marL="342900" marR="0" lvl="0" indent="-215900" algn="l" rtl="0">
              <a:lnSpc>
                <a:spcPct val="100000"/>
              </a:lnSpc>
              <a:spcBef>
                <a:spcPts val="0"/>
              </a:spcBef>
              <a:spcAft>
                <a:spcPts val="0"/>
              </a:spcAft>
              <a:buClr>
                <a:schemeClr val="dk1"/>
              </a:buClr>
              <a:buSzPts val="2000"/>
              <a:buFont typeface="Noto Sans Symbols"/>
              <a:buNone/>
            </a:pPr>
            <a:endParaRPr sz="2000" b="0" i="0" u="none">
              <a:solidFill>
                <a:schemeClr val="dk1"/>
              </a:solidFill>
              <a:latin typeface="Comic Sans MS"/>
              <a:ea typeface="Comic Sans MS"/>
              <a:cs typeface="Comic Sans MS"/>
              <a:sym typeface="Comic Sans MS"/>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•Address of the data             MAR</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•MAR             Address bus             select memory location where is issued RD signal</a:t>
            </a:r>
            <a:endParaRPr/>
          </a:p>
          <a:p>
            <a:pPr marL="342900" marR="0" lvl="0" indent="-190500" algn="l" rtl="0">
              <a:lnSpc>
                <a:spcPct val="100000"/>
              </a:lnSpc>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•Reads data via data bus            MDR</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•From MDR data can be directly routed to ALU or it can be placed in register and then operation can be performed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•Results of the operation can be directed towards output device, memory or register</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 sz="2400" b="0" i="0" u="none">
                <a:solidFill>
                  <a:schemeClr val="dk1"/>
                </a:solidFill>
                <a:latin typeface="Times New Roman"/>
                <a:ea typeface="Times New Roman"/>
                <a:cs typeface="Times New Roman"/>
                <a:sym typeface="Times New Roman"/>
              </a:rPr>
              <a:t>•Normal execution preempted (interrupt)</a:t>
            </a:r>
            <a:endParaRPr/>
          </a:p>
          <a:p>
            <a:pPr marL="342900" marR="0" lvl="0" indent="-190500" algn="l" rtl="0">
              <a:spcBef>
                <a:spcPts val="48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p:txBody>
      </p:sp>
      <p:sp>
        <p:nvSpPr>
          <p:cNvPr id="210" name="Google Shape;210;p30"/>
          <p:cNvSpPr txBox="1"/>
          <p:nvPr/>
        </p:nvSpPr>
        <p:spPr>
          <a:xfrm>
            <a:off x="7162800" y="4800600"/>
            <a:ext cx="1295400" cy="2286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 sz="1400" b="0" i="0" u="none">
                <a:solidFill>
                  <a:schemeClr val="dk1"/>
                </a:solidFill>
                <a:latin typeface="Times New Roman"/>
                <a:ea typeface="Times New Roman"/>
                <a:cs typeface="Times New Roman"/>
                <a:sym typeface="Times New Roman"/>
              </a:rPr>
              <a:t>15</a:t>
            </a:fld>
            <a:endParaRPr/>
          </a:p>
        </p:txBody>
      </p:sp>
      <p:cxnSp>
        <p:nvCxnSpPr>
          <p:cNvPr id="211" name="Google Shape;211;p30"/>
          <p:cNvCxnSpPr/>
          <p:nvPr/>
        </p:nvCxnSpPr>
        <p:spPr>
          <a:xfrm>
            <a:off x="3729050" y="846922"/>
            <a:ext cx="784200" cy="0"/>
          </a:xfrm>
          <a:prstGeom prst="straightConnector1">
            <a:avLst/>
          </a:prstGeom>
          <a:noFill/>
          <a:ln w="12700" cap="flat" cmpd="sng">
            <a:solidFill>
              <a:schemeClr val="dk1"/>
            </a:solidFill>
            <a:prstDash val="solid"/>
            <a:miter lim="800000"/>
            <a:headEnd type="none" w="med" len="med"/>
            <a:tailEnd type="stealth" w="med" len="med"/>
          </a:ln>
        </p:spPr>
      </p:cxnSp>
      <p:cxnSp>
        <p:nvCxnSpPr>
          <p:cNvPr id="212" name="Google Shape;212;p30"/>
          <p:cNvCxnSpPr/>
          <p:nvPr/>
        </p:nvCxnSpPr>
        <p:spPr>
          <a:xfrm>
            <a:off x="4572000" y="1311653"/>
            <a:ext cx="784200" cy="0"/>
          </a:xfrm>
          <a:prstGeom prst="straightConnector1">
            <a:avLst/>
          </a:prstGeom>
          <a:noFill/>
          <a:ln w="12700" cap="flat" cmpd="sng">
            <a:solidFill>
              <a:schemeClr val="dk1"/>
            </a:solidFill>
            <a:prstDash val="solid"/>
            <a:miter lim="800000"/>
            <a:headEnd type="none" w="med" len="med"/>
            <a:tailEnd type="stealth" w="med" len="med"/>
          </a:ln>
        </p:spPr>
      </p:cxnSp>
      <p:cxnSp>
        <p:nvCxnSpPr>
          <p:cNvPr id="213" name="Google Shape;213;p30"/>
          <p:cNvCxnSpPr/>
          <p:nvPr/>
        </p:nvCxnSpPr>
        <p:spPr>
          <a:xfrm>
            <a:off x="1949437" y="1311659"/>
            <a:ext cx="784200" cy="0"/>
          </a:xfrm>
          <a:prstGeom prst="straightConnector1">
            <a:avLst/>
          </a:prstGeom>
          <a:noFill/>
          <a:ln w="12700" cap="flat" cmpd="sng">
            <a:solidFill>
              <a:schemeClr val="dk1"/>
            </a:solidFill>
            <a:prstDash val="solid"/>
            <a:miter lim="800000"/>
            <a:headEnd type="none" w="med" len="med"/>
            <a:tailEnd type="stealth" w="med" len="med"/>
          </a:ln>
        </p:spPr>
      </p:cxnSp>
      <p:cxnSp>
        <p:nvCxnSpPr>
          <p:cNvPr id="214" name="Google Shape;214;p30"/>
          <p:cNvCxnSpPr/>
          <p:nvPr/>
        </p:nvCxnSpPr>
        <p:spPr>
          <a:xfrm>
            <a:off x="4179900" y="2495384"/>
            <a:ext cx="784200" cy="0"/>
          </a:xfrm>
          <a:prstGeom prst="straightConnector1">
            <a:avLst/>
          </a:prstGeom>
          <a:noFill/>
          <a:ln w="12700" cap="flat" cmpd="sng">
            <a:solidFill>
              <a:schemeClr val="dk1"/>
            </a:solidFill>
            <a:prstDash val="solid"/>
            <a:miter lim="800000"/>
            <a:headEnd type="none" w="med" len="med"/>
            <a:tailEnd type="stealth"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a:spLocks noGrp="1"/>
          </p:cNvSpPr>
          <p:nvPr>
            <p:ph type="title"/>
          </p:nvPr>
        </p:nvSpPr>
        <p:spPr>
          <a:xfrm>
            <a:off x="1143000" y="257175"/>
            <a:ext cx="7315200" cy="3429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800"/>
              <a:buFont typeface="Comic Sans MS"/>
              <a:buNone/>
            </a:pPr>
            <a:r>
              <a:rPr lang="en" sz="2800" b="1" i="0" u="none">
                <a:solidFill>
                  <a:srgbClr val="CC0000"/>
                </a:solidFill>
                <a:latin typeface="Comic Sans MS"/>
                <a:ea typeface="Comic Sans MS"/>
                <a:cs typeface="Comic Sans MS"/>
                <a:sym typeface="Comic Sans MS"/>
              </a:rPr>
              <a:t>A Partial Program Execution Example</a:t>
            </a:r>
            <a:endParaRPr/>
          </a:p>
        </p:txBody>
      </p:sp>
      <p:pic>
        <p:nvPicPr>
          <p:cNvPr id="221" name="Google Shape;221;p31"/>
          <p:cNvPicPr preferRelativeResize="0"/>
          <p:nvPr/>
        </p:nvPicPr>
        <p:blipFill rotWithShape="1">
          <a:blip r:embed="rId3">
            <a:alphaModFix/>
          </a:blip>
          <a:srcRect/>
          <a:stretch/>
        </p:blipFill>
        <p:spPr>
          <a:xfrm>
            <a:off x="600075" y="947738"/>
            <a:ext cx="7929563" cy="391715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txBox="1">
            <a:spLocks noGrp="1"/>
          </p:cNvSpPr>
          <p:nvPr>
            <p:ph type="title"/>
          </p:nvPr>
        </p:nvSpPr>
        <p:spPr>
          <a:xfrm>
            <a:off x="1143000" y="257175"/>
            <a:ext cx="7315200" cy="3429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CC0000"/>
              </a:buClr>
              <a:buSzPts val="2800"/>
              <a:buFont typeface="Comic Sans MS"/>
              <a:buNone/>
            </a:pPr>
            <a:r>
              <a:rPr lang="en" sz="2800" b="1" i="0" u="none">
                <a:solidFill>
                  <a:srgbClr val="CC0000"/>
                </a:solidFill>
                <a:latin typeface="Comic Sans MS"/>
                <a:ea typeface="Comic Sans MS"/>
                <a:cs typeface="Comic Sans MS"/>
                <a:sym typeface="Comic Sans MS"/>
              </a:rPr>
              <a:t>A Partial Program Execution Example</a:t>
            </a:r>
            <a:endParaRPr/>
          </a:p>
        </p:txBody>
      </p:sp>
      <p:sp>
        <p:nvSpPr>
          <p:cNvPr id="227" name="Google Shape;227;p32"/>
          <p:cNvSpPr txBox="1">
            <a:spLocks noGrp="1"/>
          </p:cNvSpPr>
          <p:nvPr>
            <p:ph type="body" idx="1"/>
          </p:nvPr>
        </p:nvSpPr>
        <p:spPr>
          <a:xfrm>
            <a:off x="457200" y="3557588"/>
            <a:ext cx="8229600" cy="1185900"/>
          </a:xfrm>
          <a:prstGeom prst="rect">
            <a:avLst/>
          </a:prstGeom>
          <a:noFill/>
          <a:ln>
            <a:noFill/>
          </a:ln>
        </p:spPr>
        <p:txBody>
          <a:bodyPr spcFirstLastPara="1" wrap="square" lIns="92075" tIns="46025" rIns="92075" bIns="46025" anchor="t" anchorCtr="0">
            <a:noAutofit/>
          </a:bodyPr>
          <a:lstStyle/>
          <a:p>
            <a:pPr marL="342900" lvl="0" indent="-215900" algn="l" rtl="0">
              <a:spcBef>
                <a:spcPts val="0"/>
              </a:spcBef>
              <a:spcAft>
                <a:spcPts val="0"/>
              </a:spcAft>
              <a:buClr>
                <a:schemeClr val="dk1"/>
              </a:buClr>
              <a:buSzPts val="2000"/>
              <a:buNone/>
            </a:pPr>
            <a:endParaRPr sz="2000">
              <a:solidFill>
                <a:schemeClr val="dk1"/>
              </a:solidFill>
              <a:latin typeface="Comic Sans MS"/>
              <a:ea typeface="Comic Sans MS"/>
              <a:cs typeface="Comic Sans MS"/>
              <a:sym typeface="Comic Sans MS"/>
            </a:endParaRPr>
          </a:p>
        </p:txBody>
      </p:sp>
      <p:pic>
        <p:nvPicPr>
          <p:cNvPr id="228" name="Google Shape;228;p32"/>
          <p:cNvPicPr preferRelativeResize="0"/>
          <p:nvPr/>
        </p:nvPicPr>
        <p:blipFill rotWithShape="1">
          <a:blip r:embed="rId3">
            <a:alphaModFix/>
          </a:blip>
          <a:srcRect/>
          <a:stretch/>
        </p:blipFill>
        <p:spPr>
          <a:xfrm>
            <a:off x="500062" y="985838"/>
            <a:ext cx="8429624" cy="369689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3"/>
          <p:cNvSpPr txBox="1">
            <a:spLocks noGrp="1"/>
          </p:cNvSpPr>
          <p:nvPr>
            <p:ph type="body" idx="1"/>
          </p:nvPr>
        </p:nvSpPr>
        <p:spPr>
          <a:xfrm>
            <a:off x="628650" y="216937"/>
            <a:ext cx="7886700" cy="4415700"/>
          </a:xfrm>
          <a:prstGeom prst="rect">
            <a:avLst/>
          </a:prstGeom>
          <a:noFill/>
          <a:ln>
            <a:noFill/>
          </a:ln>
        </p:spPr>
        <p:txBody>
          <a:bodyPr spcFirstLastPara="1" wrap="square" lIns="68575" tIns="34275" rIns="68575" bIns="34275" anchor="t" anchorCtr="0">
            <a:normAutofit/>
          </a:bodyPr>
          <a:lstStyle/>
          <a:p>
            <a:pPr marL="342900" lvl="0" indent="0" algn="just" rtl="0">
              <a:lnSpc>
                <a:spcPct val="90000"/>
              </a:lnSpc>
              <a:spcBef>
                <a:spcPts val="0"/>
              </a:spcBef>
              <a:spcAft>
                <a:spcPts val="0"/>
              </a:spcAft>
              <a:buNone/>
            </a:pPr>
            <a:r>
              <a:rPr lang="en" sz="1500" b="1" i="0" u="none" strike="noStrike">
                <a:solidFill>
                  <a:srgbClr val="FF0000"/>
                </a:solidFill>
                <a:latin typeface="Comic Sans MS"/>
                <a:ea typeface="Comic Sans MS"/>
                <a:cs typeface="Comic Sans MS"/>
                <a:sym typeface="Comic Sans MS"/>
              </a:rPr>
              <a:t>MEMORY LOCATIONS AND ADDRESSES </a:t>
            </a:r>
            <a:endParaRPr>
              <a:solidFill>
                <a:srgbClr val="FF0000"/>
              </a:solidFill>
              <a:latin typeface="Comic Sans MS"/>
              <a:ea typeface="Comic Sans MS"/>
              <a:cs typeface="Comic Sans MS"/>
              <a:sym typeface="Comic Sans MS"/>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The memory consists of many millions of storage cells, each of which can store a bit of information having the value 0 or 1. </a:t>
            </a:r>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The memory is organized so that a group of n bits can be stored or retrieved in a single, basic operation. </a:t>
            </a:r>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Each group of n bits is referred to as a </a:t>
            </a:r>
            <a:r>
              <a:rPr lang="en" sz="1500" b="1" i="1" u="none" strike="noStrike">
                <a:solidFill>
                  <a:srgbClr val="000000"/>
                </a:solidFill>
                <a:latin typeface="Times New Roman"/>
                <a:ea typeface="Times New Roman"/>
                <a:cs typeface="Times New Roman"/>
                <a:sym typeface="Times New Roman"/>
              </a:rPr>
              <a:t>word </a:t>
            </a:r>
            <a:r>
              <a:rPr lang="en" sz="1500" b="0" i="0" u="none" strike="noStrike">
                <a:solidFill>
                  <a:srgbClr val="000000"/>
                </a:solidFill>
                <a:latin typeface="Times New Roman"/>
                <a:ea typeface="Times New Roman"/>
                <a:cs typeface="Times New Roman"/>
                <a:sym typeface="Times New Roman"/>
              </a:rPr>
              <a:t>of information, and n is called the </a:t>
            </a:r>
            <a:r>
              <a:rPr lang="en" sz="1500" b="1" i="1" u="none" strike="noStrike">
                <a:solidFill>
                  <a:srgbClr val="000000"/>
                </a:solidFill>
                <a:latin typeface="Times New Roman"/>
                <a:ea typeface="Times New Roman"/>
                <a:cs typeface="Times New Roman"/>
                <a:sym typeface="Times New Roman"/>
              </a:rPr>
              <a:t>word length </a:t>
            </a:r>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A unit of 8 bits is called a </a:t>
            </a:r>
            <a:r>
              <a:rPr lang="en" sz="1500" b="1" i="0" u="none" strike="noStrike">
                <a:solidFill>
                  <a:srgbClr val="000000"/>
                </a:solidFill>
                <a:latin typeface="Times New Roman"/>
                <a:ea typeface="Times New Roman"/>
                <a:cs typeface="Times New Roman"/>
                <a:sym typeface="Times New Roman"/>
              </a:rPr>
              <a:t>byte</a:t>
            </a:r>
            <a:r>
              <a:rPr lang="en" sz="1500" b="0" i="0" u="none" strike="noStrike">
                <a:solidFill>
                  <a:srgbClr val="000000"/>
                </a:solidFill>
                <a:latin typeface="Times New Roman"/>
                <a:ea typeface="Times New Roman"/>
                <a:cs typeface="Times New Roman"/>
                <a:sym typeface="Times New Roman"/>
              </a:rPr>
              <a:t>. </a:t>
            </a:r>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Machine instructions may require one or more words for their representation. </a:t>
            </a:r>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Accessing the memory to store or retrieve a single item of information, either a word or a byte, requires distinct names or addresses for each location. </a:t>
            </a:r>
            <a:endParaRPr/>
          </a:p>
          <a:p>
            <a:pPr marL="177800" lvl="0" indent="-171450" algn="just" rtl="0">
              <a:lnSpc>
                <a:spcPct val="90000"/>
              </a:lnSpc>
              <a:spcBef>
                <a:spcPts val="800"/>
              </a:spcBef>
              <a:spcAft>
                <a:spcPts val="0"/>
              </a:spcAft>
              <a:buClr>
                <a:srgbClr val="000000"/>
              </a:buClr>
              <a:buSzPts val="1500"/>
              <a:buChar char="●"/>
            </a:pPr>
            <a:r>
              <a:rPr lang="en" sz="1500" b="0" i="0" u="none" strike="noStrike">
                <a:solidFill>
                  <a:srgbClr val="000000"/>
                </a:solidFill>
                <a:latin typeface="Times New Roman"/>
                <a:ea typeface="Times New Roman"/>
                <a:cs typeface="Times New Roman"/>
                <a:sym typeface="Times New Roman"/>
              </a:rPr>
              <a:t>The memory can have up to 2</a:t>
            </a:r>
            <a:r>
              <a:rPr lang="en" sz="1500" b="0" i="0" u="none" strike="noStrike" baseline="30000">
                <a:solidFill>
                  <a:srgbClr val="000000"/>
                </a:solidFill>
                <a:latin typeface="Times New Roman"/>
                <a:ea typeface="Times New Roman"/>
                <a:cs typeface="Times New Roman"/>
                <a:sym typeface="Times New Roman"/>
              </a:rPr>
              <a:t>k</a:t>
            </a:r>
            <a:r>
              <a:rPr lang="en" sz="1500" b="0" i="0" u="none" strike="noStrike">
                <a:solidFill>
                  <a:srgbClr val="000000"/>
                </a:solidFill>
                <a:latin typeface="Times New Roman"/>
                <a:ea typeface="Times New Roman"/>
                <a:cs typeface="Times New Roman"/>
                <a:sym typeface="Times New Roman"/>
              </a:rPr>
              <a:t> addressable locations. The 2</a:t>
            </a:r>
            <a:r>
              <a:rPr lang="en" sz="1500" b="0" i="0" u="none" strike="noStrike" baseline="30000">
                <a:solidFill>
                  <a:srgbClr val="000000"/>
                </a:solidFill>
                <a:latin typeface="Times New Roman"/>
                <a:ea typeface="Times New Roman"/>
                <a:cs typeface="Times New Roman"/>
                <a:sym typeface="Times New Roman"/>
              </a:rPr>
              <a:t>k</a:t>
            </a:r>
            <a:r>
              <a:rPr lang="en" sz="1500" b="0" i="0" u="none" strike="noStrike">
                <a:solidFill>
                  <a:srgbClr val="000000"/>
                </a:solidFill>
                <a:latin typeface="Times New Roman"/>
                <a:ea typeface="Times New Roman"/>
                <a:cs typeface="Times New Roman"/>
                <a:sym typeface="Times New Roman"/>
              </a:rPr>
              <a:t> addresses constitute the address space of the computer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4"/>
          <p:cNvSpPr txBox="1">
            <a:spLocks noGrp="1"/>
          </p:cNvSpPr>
          <p:nvPr>
            <p:ph type="title"/>
          </p:nvPr>
        </p:nvSpPr>
        <p:spPr>
          <a:xfrm>
            <a:off x="100225" y="274000"/>
            <a:ext cx="3703200" cy="22905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2400"/>
              <a:buFont typeface="Calibri"/>
              <a:buNone/>
            </a:pPr>
            <a:endParaRPr/>
          </a:p>
        </p:txBody>
      </p:sp>
      <p:sp>
        <p:nvSpPr>
          <p:cNvPr id="239" name="Google Shape;239;p34"/>
          <p:cNvSpPr txBox="1">
            <a:spLocks noGrp="1"/>
          </p:cNvSpPr>
          <p:nvPr>
            <p:ph type="body" idx="1"/>
          </p:nvPr>
        </p:nvSpPr>
        <p:spPr>
          <a:xfrm>
            <a:off x="4025125" y="338250"/>
            <a:ext cx="4858800" cy="3523200"/>
          </a:xfrm>
          <a:prstGeom prst="rect">
            <a:avLst/>
          </a:prstGeom>
          <a:noFill/>
          <a:ln>
            <a:noFill/>
          </a:ln>
        </p:spPr>
        <p:txBody>
          <a:bodyPr spcFirstLastPara="1" wrap="square" lIns="68575" tIns="34275" rIns="68575" bIns="34275" anchor="t" anchorCtr="0">
            <a:normAutofit/>
          </a:bodyPr>
          <a:lstStyle/>
          <a:p>
            <a:pPr marL="177800" lvl="0" indent="0" algn="just" rtl="0">
              <a:lnSpc>
                <a:spcPct val="90000"/>
              </a:lnSpc>
              <a:spcBef>
                <a:spcPts val="0"/>
              </a:spcBef>
              <a:spcAft>
                <a:spcPts val="0"/>
              </a:spcAft>
              <a:buNone/>
            </a:pPr>
            <a:r>
              <a:rPr lang="en" sz="1400" b="1" i="1" u="none" strike="noStrike">
                <a:solidFill>
                  <a:srgbClr val="FF0000"/>
                </a:solidFill>
                <a:latin typeface="Comic Sans MS"/>
                <a:ea typeface="Comic Sans MS"/>
                <a:cs typeface="Comic Sans MS"/>
                <a:sym typeface="Comic Sans MS"/>
              </a:rPr>
              <a:t>Byte Addressability </a:t>
            </a:r>
            <a:endParaRPr>
              <a:solidFill>
                <a:srgbClr val="FF0000"/>
              </a:solidFill>
              <a:latin typeface="Comic Sans MS"/>
              <a:ea typeface="Comic Sans MS"/>
              <a:cs typeface="Comic Sans MS"/>
              <a:sym typeface="Comic Sans MS"/>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We now have three basic information quantities to deal with: </a:t>
            </a:r>
            <a:r>
              <a:rPr lang="en" sz="1400" b="1" i="0" u="none" strike="noStrike">
                <a:solidFill>
                  <a:srgbClr val="000000"/>
                </a:solidFill>
                <a:latin typeface="Times New Roman"/>
                <a:ea typeface="Times New Roman"/>
                <a:cs typeface="Times New Roman"/>
                <a:sym typeface="Times New Roman"/>
              </a:rPr>
              <a:t>bit, byte, and word</a:t>
            </a:r>
            <a:r>
              <a:rPr lang="en" sz="1400" b="0" i="0" u="none" strike="noStrike">
                <a:solidFill>
                  <a:srgbClr val="000000"/>
                </a:solidFill>
                <a:latin typeface="Times New Roman"/>
                <a:ea typeface="Times New Roman"/>
                <a:cs typeface="Times New Roman"/>
                <a:sym typeface="Times New Roman"/>
              </a:rPr>
              <a:t>.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 byte is always 8 bits, but the word length typically ranges from 16 to 64 bits.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It is impractical to assign distinct addresses to individual bit locations in the memory. The most practical assignment is to have successive addresses refer to successive byte locations in the memory. </a:t>
            </a:r>
            <a:endParaRPr/>
          </a:p>
          <a:p>
            <a:pPr marL="177800" lvl="0" indent="-177800" algn="just" rtl="0">
              <a:lnSpc>
                <a:spcPct val="90000"/>
              </a:lnSpc>
              <a:spcBef>
                <a:spcPts val="800"/>
              </a:spcBef>
              <a:spcAft>
                <a:spcPts val="120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term byte-addressable memory is used for this assignment. Byte locations have addresses 0, 1, 2 . . . Thus, if the word length of the machine is 32 bits, successive words are located at addresses 0, 4, 8… with each word consisting of four bytes.</a:t>
            </a:r>
            <a:endParaRPr/>
          </a:p>
        </p:txBody>
      </p:sp>
      <p:sp>
        <p:nvSpPr>
          <p:cNvPr id="240" name="Google Shape;240;p34"/>
          <p:cNvSpPr txBox="1">
            <a:spLocks noGrp="1"/>
          </p:cNvSpPr>
          <p:nvPr>
            <p:ph type="body" idx="2"/>
          </p:nvPr>
        </p:nvSpPr>
        <p:spPr>
          <a:xfrm>
            <a:off x="385100" y="2564425"/>
            <a:ext cx="3545100" cy="23574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1200"/>
              </a:spcAft>
              <a:buClr>
                <a:schemeClr val="dk1"/>
              </a:buClr>
              <a:buSzPts val="1200"/>
              <a:buNone/>
            </a:pPr>
            <a:endParaRPr/>
          </a:p>
        </p:txBody>
      </p:sp>
      <p:pic>
        <p:nvPicPr>
          <p:cNvPr id="241" name="Google Shape;241;p34"/>
          <p:cNvPicPr preferRelativeResize="0"/>
          <p:nvPr/>
        </p:nvPicPr>
        <p:blipFill rotWithShape="1">
          <a:blip r:embed="rId3">
            <a:alphaModFix/>
          </a:blip>
          <a:srcRect/>
          <a:stretch/>
        </p:blipFill>
        <p:spPr>
          <a:xfrm>
            <a:off x="1349052" y="338257"/>
            <a:ext cx="1738648" cy="2091206"/>
          </a:xfrm>
          <a:prstGeom prst="rect">
            <a:avLst/>
          </a:prstGeom>
          <a:noFill/>
          <a:ln>
            <a:noFill/>
          </a:ln>
        </p:spPr>
      </p:pic>
      <p:pic>
        <p:nvPicPr>
          <p:cNvPr id="242" name="Google Shape;242;p34"/>
          <p:cNvPicPr preferRelativeResize="0"/>
          <p:nvPr/>
        </p:nvPicPr>
        <p:blipFill rotWithShape="1">
          <a:blip r:embed="rId4">
            <a:alphaModFix/>
          </a:blip>
          <a:srcRect/>
          <a:stretch/>
        </p:blipFill>
        <p:spPr>
          <a:xfrm>
            <a:off x="931038" y="2714036"/>
            <a:ext cx="2472746" cy="184489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5"/>
          <p:cNvSpPr txBox="1">
            <a:spLocks noGrp="1"/>
          </p:cNvSpPr>
          <p:nvPr>
            <p:ph type="body" idx="1"/>
          </p:nvPr>
        </p:nvSpPr>
        <p:spPr>
          <a:xfrm>
            <a:off x="628650" y="349898"/>
            <a:ext cx="7886700" cy="42828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FF0000"/>
              </a:buClr>
              <a:buSzPts val="1400"/>
              <a:buFont typeface="Comic Sans MS"/>
              <a:buChar char="●"/>
            </a:pPr>
            <a:r>
              <a:rPr lang="en" sz="1400" b="1" i="1" u="none" strike="noStrike">
                <a:solidFill>
                  <a:srgbClr val="FF0000"/>
                </a:solidFill>
                <a:latin typeface="Comic Sans MS"/>
                <a:ea typeface="Comic Sans MS"/>
                <a:cs typeface="Comic Sans MS"/>
                <a:sym typeface="Comic Sans MS"/>
              </a:rPr>
              <a:t>Big-Endian and Little-Endian Assignments</a:t>
            </a:r>
            <a:endParaRPr>
              <a:solidFill>
                <a:srgbClr val="FF0000"/>
              </a:solidFill>
              <a:latin typeface="Comic Sans MS"/>
              <a:ea typeface="Comic Sans MS"/>
              <a:cs typeface="Comic Sans MS"/>
              <a:sym typeface="Comic Sans MS"/>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There are two ways that byte addresses can be assigned across words.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name </a:t>
            </a:r>
            <a:r>
              <a:rPr lang="en" sz="1400" b="1" i="0" u="none" strike="noStrike">
                <a:solidFill>
                  <a:srgbClr val="000000"/>
                </a:solidFill>
                <a:latin typeface="Times New Roman"/>
                <a:ea typeface="Times New Roman"/>
                <a:cs typeface="Times New Roman"/>
                <a:sym typeface="Times New Roman"/>
              </a:rPr>
              <a:t>big-endian </a:t>
            </a:r>
            <a:r>
              <a:rPr lang="en" sz="1400" b="0" i="0" u="none" strike="noStrike">
                <a:solidFill>
                  <a:srgbClr val="000000"/>
                </a:solidFill>
                <a:latin typeface="Times New Roman"/>
                <a:ea typeface="Times New Roman"/>
                <a:cs typeface="Times New Roman"/>
                <a:sym typeface="Times New Roman"/>
              </a:rPr>
              <a:t>is used when lower byte addresses are used for the more significant bytes (the leftmost bytes) of the word.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name </a:t>
            </a:r>
            <a:r>
              <a:rPr lang="en" sz="1400" b="1" i="0" u="none" strike="noStrike">
                <a:solidFill>
                  <a:srgbClr val="000000"/>
                </a:solidFill>
                <a:latin typeface="Times New Roman"/>
                <a:ea typeface="Times New Roman"/>
                <a:cs typeface="Times New Roman"/>
                <a:sym typeface="Times New Roman"/>
              </a:rPr>
              <a:t>little-endian </a:t>
            </a:r>
            <a:r>
              <a:rPr lang="en" sz="1400" b="0" i="0" u="none" strike="noStrike">
                <a:solidFill>
                  <a:srgbClr val="000000"/>
                </a:solidFill>
                <a:latin typeface="Times New Roman"/>
                <a:ea typeface="Times New Roman"/>
                <a:cs typeface="Times New Roman"/>
                <a:sym typeface="Times New Roman"/>
              </a:rPr>
              <a:t>is used for the opposite ordering, where the lower byte addresses are used for the less significant bytes (the rightmost bytes) of the word.</a:t>
            </a:r>
            <a:endParaRPr/>
          </a:p>
        </p:txBody>
      </p:sp>
      <p:pic>
        <p:nvPicPr>
          <p:cNvPr id="248" name="Google Shape;248;p35"/>
          <p:cNvPicPr preferRelativeResize="0"/>
          <p:nvPr/>
        </p:nvPicPr>
        <p:blipFill rotWithShape="1">
          <a:blip r:embed="rId3">
            <a:alphaModFix/>
          </a:blip>
          <a:srcRect/>
          <a:stretch/>
        </p:blipFill>
        <p:spPr>
          <a:xfrm>
            <a:off x="1525555" y="1945285"/>
            <a:ext cx="5185489" cy="24089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6"/>
          <p:cNvSpPr txBox="1">
            <a:spLocks noGrp="1"/>
          </p:cNvSpPr>
          <p:nvPr>
            <p:ph type="body" idx="1"/>
          </p:nvPr>
        </p:nvSpPr>
        <p:spPr>
          <a:xfrm>
            <a:off x="628650" y="209939"/>
            <a:ext cx="7886700" cy="4422900"/>
          </a:xfrm>
          <a:prstGeom prst="rect">
            <a:avLst/>
          </a:prstGeom>
          <a:noFill/>
          <a:ln>
            <a:noFill/>
          </a:ln>
        </p:spPr>
        <p:txBody>
          <a:bodyPr spcFirstLastPara="1" wrap="square" lIns="68575" tIns="34275" rIns="68575" bIns="34275" anchor="t" anchorCtr="0">
            <a:normAutofit lnSpcReduction="10000"/>
          </a:bodyPr>
          <a:lstStyle/>
          <a:p>
            <a:pPr marL="177800" lvl="0" indent="-177800" algn="just" rtl="0">
              <a:lnSpc>
                <a:spcPct val="90000"/>
              </a:lnSpc>
              <a:spcBef>
                <a:spcPts val="0"/>
              </a:spcBef>
              <a:spcAft>
                <a:spcPts val="0"/>
              </a:spcAft>
              <a:buClr>
                <a:srgbClr val="FF0000"/>
              </a:buClr>
              <a:buSzPts val="1400"/>
              <a:buFont typeface="Comic Sans MS"/>
              <a:buChar char="●"/>
            </a:pPr>
            <a:r>
              <a:rPr lang="en" sz="1400" b="1" i="1" u="none" strike="noStrike">
                <a:solidFill>
                  <a:srgbClr val="FF0000"/>
                </a:solidFill>
                <a:latin typeface="Comic Sans MS"/>
                <a:ea typeface="Comic Sans MS"/>
                <a:cs typeface="Comic Sans MS"/>
                <a:sym typeface="Comic Sans MS"/>
              </a:rPr>
              <a:t>Word Alignment </a:t>
            </a:r>
            <a:endParaRPr>
              <a:solidFill>
                <a:srgbClr val="FF0000"/>
              </a:solidFill>
              <a:latin typeface="Comic Sans MS"/>
              <a:ea typeface="Comic Sans MS"/>
              <a:cs typeface="Comic Sans MS"/>
              <a:sym typeface="Comic Sans MS"/>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In the case of a 32-bit word length, natural word boundaries occur at addresses 0, 4, 8…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We say that the word locations have aligned addresses if they begin at a byte address that is a multiple of the number of bytes in a word.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For practical reasons associated with manipulating binary-coded addresses, the number of bytes in a word is a power of 2.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Hence, if the word length is 16 (2 bytes), aligned words begin at byte addresses 0, 2, 4... and for a word length of 64 (8 bytes), aligned words begin at byte addresses 0, 8, 16…</a:t>
            </a:r>
            <a:endParaRPr/>
          </a:p>
          <a:p>
            <a:pPr marL="177800" lvl="0" indent="-88900" algn="just" rtl="0">
              <a:lnSpc>
                <a:spcPct val="90000"/>
              </a:lnSpc>
              <a:spcBef>
                <a:spcPts val="800"/>
              </a:spcBef>
              <a:spcAft>
                <a:spcPts val="0"/>
              </a:spcAft>
              <a:buClr>
                <a:schemeClr val="dk1"/>
              </a:buClr>
              <a:buSzPts val="1400"/>
              <a:buNone/>
            </a:pPr>
            <a:endParaRPr sz="1400">
              <a:solidFill>
                <a:srgbClr val="000000"/>
              </a:solidFill>
              <a:latin typeface="Times New Roman"/>
              <a:ea typeface="Times New Roman"/>
              <a:cs typeface="Times New Roman"/>
              <a:sym typeface="Times New Roman"/>
            </a:endParaRPr>
          </a:p>
          <a:p>
            <a:pPr marL="177800" lvl="0" indent="-177800" algn="just" rtl="0">
              <a:lnSpc>
                <a:spcPct val="90000"/>
              </a:lnSpc>
              <a:spcBef>
                <a:spcPts val="800"/>
              </a:spcBef>
              <a:spcAft>
                <a:spcPts val="0"/>
              </a:spcAft>
              <a:buClr>
                <a:srgbClr val="FF0000"/>
              </a:buClr>
              <a:buSzPts val="1400"/>
              <a:buFont typeface="Comic Sans MS"/>
              <a:buChar char="●"/>
            </a:pPr>
            <a:r>
              <a:rPr lang="en" sz="1400" b="1" i="0" u="none" strike="noStrike">
                <a:solidFill>
                  <a:srgbClr val="FF0000"/>
                </a:solidFill>
                <a:latin typeface="Comic Sans MS"/>
                <a:ea typeface="Comic Sans MS"/>
                <a:cs typeface="Comic Sans MS"/>
                <a:sym typeface="Comic Sans MS"/>
              </a:rPr>
              <a:t>MEMORY OPERATIONS</a:t>
            </a:r>
            <a:endParaRPr>
              <a:solidFill>
                <a:srgbClr val="FF0000"/>
              </a:solidFill>
              <a:latin typeface="Comic Sans MS"/>
              <a:ea typeface="Comic Sans MS"/>
              <a:cs typeface="Comic Sans MS"/>
              <a:sym typeface="Comic Sans MS"/>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Both program instructions and data operands are stored in the memory.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Two basic operations involving the memory are needed, namely, Read and Write.</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Read operation transfers a copy of the contents of a specific memory location to the processor. The memory contents remain unchanged.</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To start a Read operation, the processor sends the address of the desired location to the memory and requests that its contents be read.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memory reads the data stored at that address and sends them to the processor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7"/>
          <p:cNvSpPr txBox="1">
            <a:spLocks noGrp="1"/>
          </p:cNvSpPr>
          <p:nvPr>
            <p:ph type="body" idx="1"/>
          </p:nvPr>
        </p:nvSpPr>
        <p:spPr>
          <a:xfrm>
            <a:off x="628650" y="265922"/>
            <a:ext cx="7886700" cy="43668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Write operation transfers an item of information from the processor to a specific memory location, overwriting the former contents of that location.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To initiate a Write operation, the processor sends the address of the desired location to the memory, together with the data to be written into that location.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memory then uses the address and data to perform the write.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8"/>
          <p:cNvSpPr txBox="1">
            <a:spLocks noGrp="1"/>
          </p:cNvSpPr>
          <p:nvPr>
            <p:ph type="body" idx="1"/>
          </p:nvPr>
        </p:nvSpPr>
        <p:spPr>
          <a:xfrm>
            <a:off x="629841" y="552839"/>
            <a:ext cx="5122500" cy="4247700"/>
          </a:xfrm>
          <a:prstGeom prst="rect">
            <a:avLst/>
          </a:prstGeom>
          <a:noFill/>
          <a:ln>
            <a:noFill/>
          </a:ln>
        </p:spPr>
        <p:txBody>
          <a:bodyPr spcFirstLastPara="1" wrap="square" lIns="68575" tIns="34275" rIns="68575" bIns="34275" anchor="t" anchorCtr="0">
            <a:normAutofit lnSpcReduction="10000"/>
          </a:bodyPr>
          <a:lstStyle/>
          <a:p>
            <a:pPr marL="0" lvl="0" indent="0" algn="just" rtl="0">
              <a:lnSpc>
                <a:spcPct val="90000"/>
              </a:lnSpc>
              <a:spcBef>
                <a:spcPts val="0"/>
              </a:spcBef>
              <a:spcAft>
                <a:spcPts val="0"/>
              </a:spcAft>
              <a:buClr>
                <a:srgbClr val="000000"/>
              </a:buClr>
              <a:buSzPts val="1400"/>
              <a:buNone/>
            </a:pPr>
            <a:r>
              <a:rPr lang="en" sz="1400" b="1" i="1" u="none" strike="noStrike">
                <a:solidFill>
                  <a:srgbClr val="000000"/>
                </a:solidFill>
                <a:latin typeface="Times New Roman"/>
                <a:ea typeface="Times New Roman"/>
                <a:cs typeface="Times New Roman"/>
                <a:sym typeface="Times New Roman"/>
              </a:rPr>
              <a:t>Instruction Execution and Straight-Line Sequencing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Let’s consider task C = A + B, implemented as C←[A] + [B].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Figure  shows a possible program segment for this task as it appears in the memory of a computer.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We assume that the word length is 32 bits and the memory is byte-addressable.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The three instructions of the program are in successive word locations, starting at location i. Since each instruction is 4 bytes long, the second and third instructions are at addresses i + 4 and i + 8.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Let us consider how this program is executed.</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To begin executing a program, the address of its first instruction (i in our example) must be placed into the PC.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Then, the processor control circuits use the information in the PC to fetch and execute instructions, one at a time, in the order of increasing addresses. This is called </a:t>
            </a:r>
            <a:r>
              <a:rPr lang="en" sz="1400" b="1" i="0" u="none" strike="noStrike">
                <a:solidFill>
                  <a:srgbClr val="000000"/>
                </a:solidFill>
                <a:latin typeface="Times New Roman"/>
                <a:ea typeface="Times New Roman"/>
                <a:cs typeface="Times New Roman"/>
                <a:sym typeface="Times New Roman"/>
              </a:rPr>
              <a:t>straight-line sequencing. </a:t>
            </a:r>
            <a:endParaRPr sz="1400" b="0" i="0" u="none" strike="noStrike">
              <a:solidFill>
                <a:srgbClr val="000000"/>
              </a:solidFill>
              <a:latin typeface="Times New Roman"/>
              <a:ea typeface="Times New Roman"/>
              <a:cs typeface="Times New Roman"/>
              <a:sym typeface="Times New Roman"/>
            </a:endParaRPr>
          </a:p>
          <a:p>
            <a:pPr marL="0" lvl="0" indent="0" algn="just" rtl="0">
              <a:lnSpc>
                <a:spcPct val="90000"/>
              </a:lnSpc>
              <a:spcBef>
                <a:spcPts val="800"/>
              </a:spcBef>
              <a:spcAft>
                <a:spcPts val="120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During the execution of each instruction, the PC is incremented by 4 to point to the next instruction. Thus, after the Move instruction at location i + 8 is executed, the PC contains the value i + 12</a:t>
            </a:r>
            <a:endParaRPr/>
          </a:p>
        </p:txBody>
      </p:sp>
      <p:pic>
        <p:nvPicPr>
          <p:cNvPr id="264" name="Google Shape;264;p38"/>
          <p:cNvPicPr preferRelativeResize="0"/>
          <p:nvPr/>
        </p:nvPicPr>
        <p:blipFill rotWithShape="1">
          <a:blip r:embed="rId3">
            <a:alphaModFix/>
          </a:blip>
          <a:srcRect/>
          <a:stretch/>
        </p:blipFill>
        <p:spPr>
          <a:xfrm>
            <a:off x="5986220" y="1253276"/>
            <a:ext cx="2723881" cy="2636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9"/>
          <p:cNvSpPr txBox="1">
            <a:spLocks noGrp="1"/>
          </p:cNvSpPr>
          <p:nvPr>
            <p:ph type="body" idx="1"/>
          </p:nvPr>
        </p:nvSpPr>
        <p:spPr>
          <a:xfrm>
            <a:off x="628650" y="258925"/>
            <a:ext cx="7886700" cy="43737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Executing a given instruction is a two-phase procedure.</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 In the </a:t>
            </a:r>
            <a:r>
              <a:rPr lang="en" sz="1400" b="1" i="0" u="none" strike="noStrike">
                <a:solidFill>
                  <a:srgbClr val="000000"/>
                </a:solidFill>
                <a:latin typeface="Times New Roman"/>
                <a:ea typeface="Times New Roman"/>
                <a:cs typeface="Times New Roman"/>
                <a:sym typeface="Times New Roman"/>
              </a:rPr>
              <a:t>first phase</a:t>
            </a:r>
            <a:r>
              <a:rPr lang="en" sz="1400" b="0" i="0" u="none" strike="noStrike">
                <a:solidFill>
                  <a:srgbClr val="000000"/>
                </a:solidFill>
                <a:latin typeface="Times New Roman"/>
                <a:ea typeface="Times New Roman"/>
                <a:cs typeface="Times New Roman"/>
                <a:sym typeface="Times New Roman"/>
              </a:rPr>
              <a:t>, called </a:t>
            </a:r>
            <a:r>
              <a:rPr lang="en" sz="1400" b="1" i="0" u="none" strike="noStrike">
                <a:solidFill>
                  <a:srgbClr val="000000"/>
                </a:solidFill>
                <a:latin typeface="Times New Roman"/>
                <a:ea typeface="Times New Roman"/>
                <a:cs typeface="Times New Roman"/>
                <a:sym typeface="Times New Roman"/>
              </a:rPr>
              <a:t>instruction fetch</a:t>
            </a:r>
            <a:r>
              <a:rPr lang="en" sz="1400" b="0" i="0" u="none" strike="noStrike">
                <a:solidFill>
                  <a:srgbClr val="000000"/>
                </a:solidFill>
                <a:latin typeface="Times New Roman"/>
                <a:ea typeface="Times New Roman"/>
                <a:cs typeface="Times New Roman"/>
                <a:sym typeface="Times New Roman"/>
              </a:rPr>
              <a:t>, the instruction is fetched from the memory location whose address is in the PC. This instruction is placed in the instruction register (IR) in the processor.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At the start of the </a:t>
            </a:r>
            <a:r>
              <a:rPr lang="en" sz="1400" b="1" i="0" u="none" strike="noStrike">
                <a:solidFill>
                  <a:srgbClr val="000000"/>
                </a:solidFill>
                <a:latin typeface="Times New Roman"/>
                <a:ea typeface="Times New Roman"/>
                <a:cs typeface="Times New Roman"/>
                <a:sym typeface="Times New Roman"/>
              </a:rPr>
              <a:t>second phase</a:t>
            </a:r>
            <a:r>
              <a:rPr lang="en" sz="1400" b="0" i="0" u="none" strike="noStrike">
                <a:solidFill>
                  <a:srgbClr val="000000"/>
                </a:solidFill>
                <a:latin typeface="Times New Roman"/>
                <a:ea typeface="Times New Roman"/>
                <a:cs typeface="Times New Roman"/>
                <a:sym typeface="Times New Roman"/>
              </a:rPr>
              <a:t>, called </a:t>
            </a:r>
            <a:r>
              <a:rPr lang="en" sz="1400" b="1" i="0" u="none" strike="noStrike">
                <a:solidFill>
                  <a:srgbClr val="000000"/>
                </a:solidFill>
                <a:latin typeface="Times New Roman"/>
                <a:ea typeface="Times New Roman"/>
                <a:cs typeface="Times New Roman"/>
                <a:sym typeface="Times New Roman"/>
              </a:rPr>
              <a:t>instruction decode &amp; execute</a:t>
            </a:r>
            <a:r>
              <a:rPr lang="en" sz="1400" b="0" i="0" u="none" strike="noStrike">
                <a:solidFill>
                  <a:srgbClr val="000000"/>
                </a:solidFill>
                <a:latin typeface="Times New Roman"/>
                <a:ea typeface="Times New Roman"/>
                <a:cs typeface="Times New Roman"/>
                <a:sym typeface="Times New Roman"/>
              </a:rPr>
              <a:t>, the instruction in IR is examined to determine which operation is to be performed.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specified operation is then performed by the processor. </a:t>
            </a:r>
            <a:endParaRPr/>
          </a:p>
          <a:p>
            <a:pPr marL="177800" lvl="0" indent="-88900" algn="just" rtl="0">
              <a:lnSpc>
                <a:spcPct val="90000"/>
              </a:lnSpc>
              <a:spcBef>
                <a:spcPts val="800"/>
              </a:spcBef>
              <a:spcAft>
                <a:spcPts val="0"/>
              </a:spcAft>
              <a:buClr>
                <a:schemeClr val="dk1"/>
              </a:buClr>
              <a:buSzPts val="1400"/>
              <a:buNone/>
            </a:pPr>
            <a:endParaRPr sz="1400">
              <a:solidFill>
                <a:srgbClr val="000000"/>
              </a:solidFill>
              <a:latin typeface="Times New Roman"/>
              <a:ea typeface="Times New Roman"/>
              <a:cs typeface="Times New Roman"/>
              <a:sym typeface="Times New Roman"/>
            </a:endParaRPr>
          </a:p>
          <a:p>
            <a:pPr marL="177800" lvl="0" indent="-177800" algn="just" rtl="0">
              <a:lnSpc>
                <a:spcPct val="90000"/>
              </a:lnSpc>
              <a:spcBef>
                <a:spcPts val="800"/>
              </a:spcBef>
              <a:spcAft>
                <a:spcPts val="0"/>
              </a:spcAft>
              <a:buClr>
                <a:srgbClr val="000000"/>
              </a:buClr>
              <a:buSzPts val="1400"/>
              <a:buChar char="●"/>
            </a:pPr>
            <a:r>
              <a:rPr lang="en" sz="1400" b="1" i="1" u="none" strike="noStrike">
                <a:solidFill>
                  <a:srgbClr val="000000"/>
                </a:solidFill>
                <a:latin typeface="Times New Roman"/>
                <a:ea typeface="Times New Roman"/>
                <a:cs typeface="Times New Roman"/>
                <a:sym typeface="Times New Roman"/>
              </a:rPr>
              <a:t>Branching</a:t>
            </a:r>
            <a:endParaRPr sz="1400" b="1" i="1" u="none" strike="noStrike">
              <a:solidFill>
                <a:srgbClr val="000000"/>
              </a:solidFill>
              <a:latin typeface="Times New Roman"/>
              <a:ea typeface="Times New Roman"/>
              <a:cs typeface="Times New Roman"/>
              <a:sym typeface="Times New Roman"/>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We now introduce branch instructions.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This type of instruction loads a new address into the program counter.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As a result, the processor fetches and executes the instruction at this new address, called the </a:t>
            </a:r>
            <a:r>
              <a:rPr lang="en" sz="1400" b="1" i="0" u="none" strike="noStrike">
                <a:solidFill>
                  <a:srgbClr val="000000"/>
                </a:solidFill>
                <a:latin typeface="Times New Roman"/>
                <a:ea typeface="Times New Roman"/>
                <a:cs typeface="Times New Roman"/>
                <a:sym typeface="Times New Roman"/>
              </a:rPr>
              <a:t>branch target</a:t>
            </a:r>
            <a:r>
              <a:rPr lang="en" sz="1400" b="0" i="0" u="none" strike="noStrike">
                <a:solidFill>
                  <a:srgbClr val="000000"/>
                </a:solidFill>
                <a:latin typeface="Times New Roman"/>
                <a:ea typeface="Times New Roman"/>
                <a:cs typeface="Times New Roman"/>
                <a:sym typeface="Times New Roman"/>
              </a:rPr>
              <a:t>, instead of the instruction at the location that follows the branch instruction in sequential address order.</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 </a:t>
            </a:r>
            <a:r>
              <a:rPr lang="en" sz="1400" b="1" i="0" u="none" strike="noStrike">
                <a:solidFill>
                  <a:srgbClr val="000000"/>
                </a:solidFill>
                <a:latin typeface="Times New Roman"/>
                <a:ea typeface="Times New Roman"/>
                <a:cs typeface="Times New Roman"/>
                <a:sym typeface="Times New Roman"/>
              </a:rPr>
              <a:t>conditional branch </a:t>
            </a:r>
            <a:r>
              <a:rPr lang="en" sz="1400" b="0" i="0" u="none" strike="noStrike">
                <a:solidFill>
                  <a:srgbClr val="000000"/>
                </a:solidFill>
                <a:latin typeface="Times New Roman"/>
                <a:ea typeface="Times New Roman"/>
                <a:cs typeface="Times New Roman"/>
                <a:sym typeface="Times New Roman"/>
              </a:rPr>
              <a:t>instruction causes a branch only if a specified condition is satisfied.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If the condition is not satisfied, the PC is incremented in the normal way, and the next instruction in sequential address order is fetched and executed.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40"/>
          <p:cNvPicPr preferRelativeResize="0">
            <a:picLocks noGrp="1"/>
          </p:cNvPicPr>
          <p:nvPr>
            <p:ph type="body" idx="1"/>
          </p:nvPr>
        </p:nvPicPr>
        <p:blipFill rotWithShape="1">
          <a:blip r:embed="rId3">
            <a:alphaModFix/>
          </a:blip>
          <a:srcRect/>
          <a:stretch/>
        </p:blipFill>
        <p:spPr>
          <a:xfrm>
            <a:off x="5759321" y="92653"/>
            <a:ext cx="2754900" cy="5039700"/>
          </a:xfrm>
          <a:prstGeom prst="rect">
            <a:avLst/>
          </a:prstGeom>
          <a:noFill/>
          <a:ln>
            <a:noFill/>
          </a:ln>
        </p:spPr>
      </p:pic>
      <p:sp>
        <p:nvSpPr>
          <p:cNvPr id="275" name="Google Shape;275;p40"/>
          <p:cNvSpPr txBox="1">
            <a:spLocks noGrp="1"/>
          </p:cNvSpPr>
          <p:nvPr>
            <p:ph type="body" idx="2"/>
          </p:nvPr>
        </p:nvSpPr>
        <p:spPr>
          <a:xfrm>
            <a:off x="629841" y="363894"/>
            <a:ext cx="4968600" cy="40380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Consider the task of adding a list of n numbers.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LOOP is a straight line sequence of instructions executed as many times as needed.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Assume that the number of entries in the list, n, is stored in memory location N.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Register R1 is used as a counter to determine the number of times the loop is executed.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Hence, the contents of location N are loaded into register R1 at the beginning of the program.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Then, within the body of the loop, the instruction </a:t>
            </a:r>
            <a:r>
              <a:rPr lang="en" sz="1400" b="1" i="0" u="none" strike="noStrike">
                <a:solidFill>
                  <a:srgbClr val="000000"/>
                </a:solidFill>
                <a:latin typeface="Times New Roman"/>
                <a:ea typeface="Times New Roman"/>
                <a:cs typeface="Times New Roman"/>
                <a:sym typeface="Times New Roman"/>
              </a:rPr>
              <a:t>Decrement R1 </a:t>
            </a:r>
            <a:r>
              <a:rPr lang="en" sz="1400" b="0" i="0" u="none" strike="noStrike">
                <a:solidFill>
                  <a:srgbClr val="000000"/>
                </a:solidFill>
                <a:latin typeface="Times New Roman"/>
                <a:ea typeface="Times New Roman"/>
                <a:cs typeface="Times New Roman"/>
                <a:sym typeface="Times New Roman"/>
              </a:rPr>
              <a:t>reduces the contents of R1 by 1 each time through the loop. </a:t>
            </a:r>
            <a:endParaRPr/>
          </a:p>
          <a:p>
            <a:pPr marL="0" lvl="0" indent="0" algn="just" rtl="0">
              <a:lnSpc>
                <a:spcPct val="90000"/>
              </a:lnSpc>
              <a:spcBef>
                <a:spcPts val="800"/>
              </a:spcBef>
              <a:spcAft>
                <a:spcPts val="120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Execution of the loop is repeated as long as the content of R1 is greater than zero.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41"/>
          <p:cNvPicPr preferRelativeResize="0">
            <a:picLocks noGrp="1"/>
          </p:cNvPicPr>
          <p:nvPr>
            <p:ph type="body" idx="1"/>
          </p:nvPr>
        </p:nvPicPr>
        <p:blipFill rotWithShape="1">
          <a:blip r:embed="rId3">
            <a:alphaModFix/>
          </a:blip>
          <a:srcRect/>
          <a:stretch/>
        </p:blipFill>
        <p:spPr>
          <a:xfrm>
            <a:off x="6067231" y="577319"/>
            <a:ext cx="2180400" cy="3988800"/>
          </a:xfrm>
          <a:prstGeom prst="rect">
            <a:avLst/>
          </a:prstGeom>
          <a:noFill/>
          <a:ln>
            <a:noFill/>
          </a:ln>
        </p:spPr>
      </p:pic>
      <p:sp>
        <p:nvSpPr>
          <p:cNvPr id="281" name="Google Shape;281;p41"/>
          <p:cNvSpPr txBox="1">
            <a:spLocks noGrp="1"/>
          </p:cNvSpPr>
          <p:nvPr>
            <p:ph type="body" idx="2"/>
          </p:nvPr>
        </p:nvSpPr>
        <p:spPr>
          <a:xfrm>
            <a:off x="629840" y="174949"/>
            <a:ext cx="4982700" cy="48498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Branch&gt;0 LOOP is same is a conditional branch instruction that causes a branch to location LOOP if the contents of register R1 are greater than zero.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This means that the loop is executed as long as there are entries in the list that are yet to be added to R0.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At the end of the nth pass through the loop, the Decrement instruction produces a zero and hence branching does not occur. </a:t>
            </a:r>
            <a:endParaRPr/>
          </a:p>
          <a:p>
            <a:pPr marL="0" lvl="0" indent="0" algn="just" rtl="0">
              <a:lnSpc>
                <a:spcPct val="90000"/>
              </a:lnSpc>
              <a:spcBef>
                <a:spcPts val="800"/>
              </a:spcBef>
              <a:spcAft>
                <a:spcPts val="120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Move instruction is fetched and executed. It moves the final result from R0 into memory location SUM.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42"/>
          <p:cNvPicPr preferRelativeResize="0">
            <a:picLocks noGrp="1"/>
          </p:cNvPicPr>
          <p:nvPr>
            <p:ph type="body" idx="1"/>
          </p:nvPr>
        </p:nvPicPr>
        <p:blipFill rotWithShape="1">
          <a:blip r:embed="rId3">
            <a:alphaModFix/>
          </a:blip>
          <a:srcRect/>
          <a:stretch/>
        </p:blipFill>
        <p:spPr>
          <a:xfrm>
            <a:off x="5233519" y="955222"/>
            <a:ext cx="3396300" cy="1616700"/>
          </a:xfrm>
          <a:prstGeom prst="rect">
            <a:avLst/>
          </a:prstGeom>
          <a:noFill/>
          <a:ln>
            <a:noFill/>
          </a:ln>
        </p:spPr>
      </p:pic>
      <p:sp>
        <p:nvSpPr>
          <p:cNvPr id="287" name="Google Shape;287;p42"/>
          <p:cNvSpPr txBox="1">
            <a:spLocks noGrp="1"/>
          </p:cNvSpPr>
          <p:nvPr>
            <p:ph type="body" idx="2"/>
          </p:nvPr>
        </p:nvSpPr>
        <p:spPr>
          <a:xfrm>
            <a:off x="629841" y="174949"/>
            <a:ext cx="4101000" cy="4227000"/>
          </a:xfrm>
          <a:prstGeom prst="rect">
            <a:avLst/>
          </a:prstGeom>
          <a:noFill/>
          <a:ln>
            <a:noFill/>
          </a:ln>
        </p:spPr>
        <p:txBody>
          <a:bodyPr spcFirstLastPara="1" wrap="square" lIns="68575" tIns="34275" rIns="68575" bIns="34275" anchor="t" anchorCtr="0">
            <a:normAutofit/>
          </a:bodyPr>
          <a:lstStyle/>
          <a:p>
            <a:pPr marL="0" lvl="0" indent="0" algn="just" rtl="0">
              <a:lnSpc>
                <a:spcPct val="90000"/>
              </a:lnSpc>
              <a:spcBef>
                <a:spcPts val="0"/>
              </a:spcBef>
              <a:spcAft>
                <a:spcPts val="0"/>
              </a:spcAft>
              <a:buClr>
                <a:srgbClr val="000000"/>
              </a:buClr>
              <a:buSzPts val="1400"/>
              <a:buNone/>
            </a:pPr>
            <a:r>
              <a:rPr lang="en" sz="1400" b="1" i="1" u="none" strike="noStrike">
                <a:solidFill>
                  <a:srgbClr val="000000"/>
                </a:solidFill>
                <a:latin typeface="Times New Roman"/>
                <a:ea typeface="Times New Roman"/>
                <a:cs typeface="Times New Roman"/>
                <a:sym typeface="Times New Roman"/>
              </a:rPr>
              <a:t>Condition Codes </a:t>
            </a:r>
            <a:endParaRPr sz="1400" b="0" i="0" u="none" strike="noStrike">
              <a:solidFill>
                <a:srgbClr val="000000"/>
              </a:solidFill>
              <a:latin typeface="Times New Roman"/>
              <a:ea typeface="Times New Roman"/>
              <a:cs typeface="Times New Roman"/>
              <a:sym typeface="Times New Roman"/>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The processor keeps track of instruction about the results of various operations for use by subsequent conditional branch instructions.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This is accomplished by recording the required information in individual bits often called as </a:t>
            </a:r>
            <a:r>
              <a:rPr lang="en" sz="1400" b="1" i="0" u="none" strike="noStrike">
                <a:solidFill>
                  <a:srgbClr val="000000"/>
                </a:solidFill>
                <a:latin typeface="Times New Roman"/>
                <a:ea typeface="Times New Roman"/>
                <a:cs typeface="Times New Roman"/>
                <a:sym typeface="Times New Roman"/>
              </a:rPr>
              <a:t>conditional code flags</a:t>
            </a:r>
            <a:r>
              <a:rPr lang="en" sz="1400" b="0" i="0" u="none" strike="noStrike">
                <a:solidFill>
                  <a:srgbClr val="000000"/>
                </a:solidFill>
                <a:latin typeface="Times New Roman"/>
                <a:ea typeface="Times New Roman"/>
                <a:cs typeface="Times New Roman"/>
                <a:sym typeface="Times New Roman"/>
              </a:rPr>
              <a:t>. </a:t>
            </a:r>
            <a:endParaRPr/>
          </a:p>
          <a:p>
            <a:pPr marL="0" lvl="0" indent="0" algn="just" rtl="0">
              <a:lnSpc>
                <a:spcPct val="90000"/>
              </a:lnSpc>
              <a:spcBef>
                <a:spcPts val="800"/>
              </a:spcBef>
              <a:spcAft>
                <a:spcPts val="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These flags are usually grouped together in a special processor register called the condition </a:t>
            </a:r>
            <a:r>
              <a:rPr lang="en" sz="1400" b="1" i="0" u="none" strike="noStrike">
                <a:solidFill>
                  <a:srgbClr val="000000"/>
                </a:solidFill>
                <a:latin typeface="Times New Roman"/>
                <a:ea typeface="Times New Roman"/>
                <a:cs typeface="Times New Roman"/>
                <a:sym typeface="Times New Roman"/>
              </a:rPr>
              <a:t>code register or status register</a:t>
            </a:r>
            <a:r>
              <a:rPr lang="en" sz="1400" b="0" i="0" u="none" strike="noStrike">
                <a:solidFill>
                  <a:srgbClr val="000000"/>
                </a:solidFill>
                <a:latin typeface="Times New Roman"/>
                <a:ea typeface="Times New Roman"/>
                <a:cs typeface="Times New Roman"/>
                <a:sym typeface="Times New Roman"/>
              </a:rPr>
              <a:t>.</a:t>
            </a:r>
            <a:endParaRPr/>
          </a:p>
          <a:p>
            <a:pPr marL="0" lvl="0" indent="0" algn="just" rtl="0">
              <a:lnSpc>
                <a:spcPct val="90000"/>
              </a:lnSpc>
              <a:spcBef>
                <a:spcPts val="800"/>
              </a:spcBef>
              <a:spcAft>
                <a:spcPts val="1200"/>
              </a:spcAft>
              <a:buClr>
                <a:srgbClr val="000000"/>
              </a:buClr>
              <a:buSzPts val="1400"/>
              <a:buNone/>
            </a:pPr>
            <a:r>
              <a:rPr lang="en" sz="1400" b="0" i="0" u="none" strike="noStrike">
                <a:solidFill>
                  <a:srgbClr val="000000"/>
                </a:solidFill>
                <a:latin typeface="Times New Roman"/>
                <a:ea typeface="Times New Roman"/>
                <a:cs typeface="Times New Roman"/>
                <a:sym typeface="Times New Roman"/>
              </a:rPr>
              <a:t> Individual condition codes are set to 1 or cleared to 0, depending upon the outcome of the operation performed.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3"/>
          <p:cNvSpPr txBox="1">
            <a:spLocks noGrp="1"/>
          </p:cNvSpPr>
          <p:nvPr>
            <p:ph type="body" idx="1"/>
          </p:nvPr>
        </p:nvSpPr>
        <p:spPr>
          <a:xfrm>
            <a:off x="628650" y="391885"/>
            <a:ext cx="7886700" cy="42408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ADDRESSING MODES</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different ways for specifying the locations of  operands are known as </a:t>
            </a:r>
            <a:r>
              <a:rPr lang="en" sz="1400" b="1" i="0" u="none" strike="noStrike">
                <a:solidFill>
                  <a:srgbClr val="000000"/>
                </a:solidFill>
                <a:latin typeface="Times New Roman"/>
                <a:ea typeface="Times New Roman"/>
                <a:cs typeface="Times New Roman"/>
                <a:sym typeface="Times New Roman"/>
              </a:rPr>
              <a:t>addressing modes.  </a:t>
            </a:r>
            <a:endParaRPr/>
          </a:p>
          <a:p>
            <a:pPr marL="177800" lvl="0" indent="-177800" algn="just" rtl="0">
              <a:lnSpc>
                <a:spcPct val="90000"/>
              </a:lnSpc>
              <a:spcBef>
                <a:spcPts val="80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Immediate mode</a:t>
            </a:r>
            <a:r>
              <a:rPr lang="en" sz="1400" b="0" i="0" u="none" strike="noStrike">
                <a:solidFill>
                  <a:srgbClr val="000000"/>
                </a:solidFill>
                <a:latin typeface="Times New Roman"/>
                <a:ea typeface="Times New Roman"/>
                <a:cs typeface="Times New Roman"/>
                <a:sym typeface="Times New Roman"/>
              </a:rPr>
              <a:t>: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operand is given explicitly in the instruction.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Example: The instruction </a:t>
            </a:r>
            <a:r>
              <a:rPr lang="en" sz="1400" b="1" i="1" u="none" strike="noStrike">
                <a:solidFill>
                  <a:srgbClr val="000000"/>
                </a:solidFill>
                <a:latin typeface="Times New Roman"/>
                <a:ea typeface="Times New Roman"/>
                <a:cs typeface="Times New Roman"/>
                <a:sym typeface="Times New Roman"/>
              </a:rPr>
              <a:t>Add #200, R1, R2 </a:t>
            </a:r>
            <a:r>
              <a:rPr lang="en" sz="1400" b="0" i="0" u="none" strike="noStrike">
                <a:solidFill>
                  <a:srgbClr val="000000"/>
                </a:solidFill>
                <a:latin typeface="Times New Roman"/>
                <a:ea typeface="Times New Roman"/>
                <a:cs typeface="Times New Roman"/>
                <a:sym typeface="Times New Roman"/>
              </a:rPr>
              <a:t>adds the value 200 to the contents of register R1, and places the result into register R2. A common convention is to use the </a:t>
            </a:r>
            <a:r>
              <a:rPr lang="en" sz="1400" b="1" i="0" u="none" strike="noStrike">
                <a:solidFill>
                  <a:srgbClr val="000000"/>
                </a:solidFill>
                <a:latin typeface="Times New Roman"/>
                <a:ea typeface="Times New Roman"/>
                <a:cs typeface="Times New Roman"/>
                <a:sym typeface="Times New Roman"/>
              </a:rPr>
              <a:t>number sign (#) </a:t>
            </a:r>
            <a:r>
              <a:rPr lang="en" sz="1400" b="0" i="0" u="none" strike="noStrike">
                <a:solidFill>
                  <a:srgbClr val="000000"/>
                </a:solidFill>
                <a:latin typeface="Times New Roman"/>
                <a:ea typeface="Times New Roman"/>
                <a:cs typeface="Times New Roman"/>
                <a:sym typeface="Times New Roman"/>
              </a:rPr>
              <a:t>in front of the value to indicate that this value is to be used as an </a:t>
            </a:r>
            <a:r>
              <a:rPr lang="en" sz="1400" b="1" i="0" u="none" strike="noStrike">
                <a:solidFill>
                  <a:srgbClr val="000000"/>
                </a:solidFill>
                <a:latin typeface="Times New Roman"/>
                <a:ea typeface="Times New Roman"/>
                <a:cs typeface="Times New Roman"/>
                <a:sym typeface="Times New Roman"/>
              </a:rPr>
              <a:t>immediate </a:t>
            </a:r>
            <a:r>
              <a:rPr lang="en" sz="1400" b="0" i="0" u="none" strike="noStrike">
                <a:solidFill>
                  <a:srgbClr val="000000"/>
                </a:solidFill>
                <a:latin typeface="Times New Roman"/>
                <a:ea typeface="Times New Roman"/>
                <a:cs typeface="Times New Roman"/>
                <a:sym typeface="Times New Roman"/>
              </a:rPr>
              <a:t>operand. </a:t>
            </a:r>
            <a:endParaRPr sz="1400" b="1">
              <a:solidFill>
                <a:srgbClr val="000000"/>
              </a:solidFill>
              <a:latin typeface="Times New Roman"/>
              <a:ea typeface="Times New Roman"/>
              <a:cs typeface="Times New Roman"/>
              <a:sym typeface="Times New Roman"/>
            </a:endParaRPr>
          </a:p>
          <a:p>
            <a:pPr marL="177800" lvl="0" indent="-177800" algn="just" rtl="0">
              <a:lnSpc>
                <a:spcPct val="90000"/>
              </a:lnSpc>
              <a:spcBef>
                <a:spcPts val="80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Register mode</a:t>
            </a:r>
            <a:r>
              <a:rPr lang="en" sz="1400" b="0" i="0" u="none" strike="noStrike">
                <a:solidFill>
                  <a:srgbClr val="000000"/>
                </a:solidFill>
                <a:latin typeface="Times New Roman"/>
                <a:ea typeface="Times New Roman"/>
                <a:cs typeface="Times New Roman"/>
                <a:sym typeface="Times New Roman"/>
              </a:rPr>
              <a:t>: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operand is the contents of a processor register; the name (address) of the register is given in the instruction. Example: The instruction </a:t>
            </a:r>
            <a:r>
              <a:rPr lang="en" sz="1400" b="1" i="1" u="none" strike="noStrike">
                <a:solidFill>
                  <a:srgbClr val="000000"/>
                </a:solidFill>
                <a:latin typeface="Times New Roman"/>
                <a:ea typeface="Times New Roman"/>
                <a:cs typeface="Times New Roman"/>
                <a:sym typeface="Times New Roman"/>
              </a:rPr>
              <a:t>Add R1, R2, R3 </a:t>
            </a:r>
            <a:r>
              <a:rPr lang="en" sz="1400" b="0" i="0" u="none" strike="noStrike">
                <a:solidFill>
                  <a:srgbClr val="000000"/>
                </a:solidFill>
                <a:latin typeface="Times New Roman"/>
                <a:ea typeface="Times New Roman"/>
                <a:cs typeface="Times New Roman"/>
                <a:sym typeface="Times New Roman"/>
              </a:rPr>
              <a:t>uses the Register mode for all three operands. Registers R1 and R2 hold the two source operands, while R3 is the destination. </a:t>
            </a:r>
            <a:endParaRPr/>
          </a:p>
          <a:p>
            <a:pPr marL="177800" lvl="0" indent="-177800" algn="just" rtl="0">
              <a:lnSpc>
                <a:spcPct val="90000"/>
              </a:lnSpc>
              <a:spcBef>
                <a:spcPts val="80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Absolute/Direct mode: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operand is in a memory location; the address of this location is given explicitly in the instruction.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Example: The Absolute mode is used in the instruction </a:t>
            </a:r>
            <a:r>
              <a:rPr lang="en" sz="1400" b="1" i="1" u="none" strike="noStrike">
                <a:solidFill>
                  <a:srgbClr val="000000"/>
                </a:solidFill>
                <a:latin typeface="Times New Roman"/>
                <a:ea typeface="Times New Roman"/>
                <a:cs typeface="Times New Roman"/>
                <a:sym typeface="Times New Roman"/>
              </a:rPr>
              <a:t>Move LOC, R1 </a:t>
            </a:r>
            <a:r>
              <a:rPr lang="en" sz="1400" b="0" i="0" u="none" strike="noStrike">
                <a:solidFill>
                  <a:srgbClr val="000000"/>
                </a:solidFill>
                <a:latin typeface="Times New Roman"/>
                <a:ea typeface="Times New Roman"/>
                <a:cs typeface="Times New Roman"/>
                <a:sym typeface="Times New Roman"/>
              </a:rPr>
              <a:t>which copies the value in the memory location LOC into register R1. </a:t>
            </a:r>
            <a:endParaRPr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4"/>
          <p:cNvSpPr txBox="1">
            <a:spLocks noGrp="1"/>
          </p:cNvSpPr>
          <p:nvPr>
            <p:ph type="body" idx="1"/>
          </p:nvPr>
        </p:nvSpPr>
        <p:spPr>
          <a:xfrm>
            <a:off x="628650" y="223935"/>
            <a:ext cx="7886700" cy="44088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Indirect mode: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effective address of the operand is the contents of a register or memory location whose address appears in the instruction. We denote indirection by placing the name of the register given in the instruction in </a:t>
            </a:r>
            <a:r>
              <a:rPr lang="en" sz="1400" b="1" i="0" u="none" strike="noStrike">
                <a:solidFill>
                  <a:srgbClr val="000000"/>
                </a:solidFill>
                <a:latin typeface="Times New Roman"/>
                <a:ea typeface="Times New Roman"/>
                <a:cs typeface="Times New Roman"/>
                <a:sym typeface="Times New Roman"/>
              </a:rPr>
              <a:t>parentheses ()</a:t>
            </a:r>
            <a:r>
              <a:rPr lang="en" sz="1400" b="0" i="0" u="none" strike="noStrike">
                <a:solidFill>
                  <a:srgbClr val="000000"/>
                </a:solidFill>
                <a:latin typeface="Times New Roman"/>
                <a:ea typeface="Times New Roman"/>
                <a:cs typeface="Times New Roman"/>
                <a:sym typeface="Times New Roman"/>
              </a:rPr>
              <a:t>. </a:t>
            </a:r>
            <a:endParaRPr sz="1400"/>
          </a:p>
        </p:txBody>
      </p:sp>
      <p:pic>
        <p:nvPicPr>
          <p:cNvPr id="298" name="Google Shape;298;p44"/>
          <p:cNvPicPr preferRelativeResize="0"/>
          <p:nvPr/>
        </p:nvPicPr>
        <p:blipFill rotWithShape="1">
          <a:blip r:embed="rId3">
            <a:alphaModFix/>
          </a:blip>
          <a:srcRect/>
          <a:stretch/>
        </p:blipFill>
        <p:spPr>
          <a:xfrm>
            <a:off x="2259716" y="1671970"/>
            <a:ext cx="4288666" cy="256933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5"/>
          <p:cNvSpPr txBox="1">
            <a:spLocks noGrp="1"/>
          </p:cNvSpPr>
          <p:nvPr>
            <p:ph type="body" idx="1"/>
          </p:nvPr>
        </p:nvSpPr>
        <p:spPr>
          <a:xfrm>
            <a:off x="628650" y="202941"/>
            <a:ext cx="7886700" cy="44298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Index mode: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effective address of the operand is generated by adding a constant value to the contents of a register.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register used in this mode is referred as the </a:t>
            </a:r>
            <a:r>
              <a:rPr lang="en" sz="1400" b="1" i="0" u="none" strike="noStrike">
                <a:solidFill>
                  <a:srgbClr val="000000"/>
                </a:solidFill>
                <a:latin typeface="Times New Roman"/>
                <a:ea typeface="Times New Roman"/>
                <a:cs typeface="Times New Roman"/>
                <a:sym typeface="Times New Roman"/>
              </a:rPr>
              <a:t>index register</a:t>
            </a:r>
            <a:r>
              <a:rPr lang="en" sz="1400" b="0" i="0" u="none" strike="noStrike">
                <a:solidFill>
                  <a:srgbClr val="000000"/>
                </a:solidFill>
                <a:latin typeface="Times New Roman"/>
                <a:ea typeface="Times New Roman"/>
                <a:cs typeface="Times New Roman"/>
                <a:sym typeface="Times New Roman"/>
              </a:rPr>
              <a:t>.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We indicate the Index mode symbolically as </a:t>
            </a:r>
            <a:r>
              <a:rPr lang="en" sz="1400" b="1" i="0" u="none" strike="noStrike">
                <a:solidFill>
                  <a:srgbClr val="000000"/>
                </a:solidFill>
                <a:latin typeface="Times New Roman"/>
                <a:ea typeface="Times New Roman"/>
                <a:cs typeface="Times New Roman"/>
                <a:sym typeface="Times New Roman"/>
              </a:rPr>
              <a:t>X(Ri) </a:t>
            </a:r>
            <a:r>
              <a:rPr lang="en" sz="1400" b="0" i="0" u="none" strike="noStrike">
                <a:solidFill>
                  <a:srgbClr val="000000"/>
                </a:solidFill>
                <a:latin typeface="Times New Roman"/>
                <a:ea typeface="Times New Roman"/>
                <a:cs typeface="Times New Roman"/>
                <a:sym typeface="Times New Roman"/>
              </a:rPr>
              <a:t>where X denotes a constant signed integer value contained in the instruction and Ri is the name of the register involved.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effective address of the operand is given by </a:t>
            </a:r>
            <a:r>
              <a:rPr lang="en" sz="1400" b="1" i="0" u="none" strike="noStrike">
                <a:solidFill>
                  <a:srgbClr val="000000"/>
                </a:solidFill>
                <a:latin typeface="Times New Roman"/>
                <a:ea typeface="Times New Roman"/>
                <a:cs typeface="Times New Roman"/>
                <a:sym typeface="Times New Roman"/>
              </a:rPr>
              <a:t>EA = X + [Ri]. </a:t>
            </a:r>
            <a:r>
              <a:rPr lang="en" sz="1400" b="0" i="0" u="none" strike="noStrike">
                <a:solidFill>
                  <a:srgbClr val="000000"/>
                </a:solidFill>
                <a:latin typeface="Times New Roman"/>
                <a:ea typeface="Times New Roman"/>
                <a:cs typeface="Times New Roman"/>
                <a:sym typeface="Times New Roman"/>
              </a:rPr>
              <a:t>The contents of index register are not changed in the process of generating the effective address. </a:t>
            </a:r>
            <a:endParaRPr sz="1400"/>
          </a:p>
        </p:txBody>
      </p:sp>
      <p:pic>
        <p:nvPicPr>
          <p:cNvPr id="304" name="Google Shape;304;p45"/>
          <p:cNvPicPr preferRelativeResize="0"/>
          <p:nvPr/>
        </p:nvPicPr>
        <p:blipFill rotWithShape="1">
          <a:blip r:embed="rId3">
            <a:alphaModFix/>
          </a:blip>
          <a:srcRect/>
          <a:stretch/>
        </p:blipFill>
        <p:spPr>
          <a:xfrm>
            <a:off x="2791561" y="2253343"/>
            <a:ext cx="4026611" cy="219997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6"/>
          <p:cNvSpPr txBox="1">
            <a:spLocks noGrp="1"/>
          </p:cNvSpPr>
          <p:nvPr>
            <p:ph type="body" idx="1"/>
          </p:nvPr>
        </p:nvSpPr>
        <p:spPr>
          <a:xfrm>
            <a:off x="628650" y="314908"/>
            <a:ext cx="7886700" cy="4317900"/>
          </a:xfrm>
          <a:prstGeom prst="rect">
            <a:avLst/>
          </a:prstGeom>
          <a:noFill/>
          <a:ln>
            <a:noFill/>
          </a:ln>
        </p:spPr>
        <p:txBody>
          <a:bodyPr spcFirstLastPara="1" wrap="square" lIns="68575" tIns="34275" rIns="68575" bIns="34275" anchor="t" anchorCtr="0">
            <a:normAutofit fontScale="92500"/>
          </a:bodyPr>
          <a:lstStyle/>
          <a:p>
            <a:pPr marL="177800" lvl="0" indent="-177800" algn="just" rtl="0">
              <a:lnSpc>
                <a:spcPct val="90000"/>
              </a:lnSpc>
              <a:spcBef>
                <a:spcPts val="0"/>
              </a:spcBef>
              <a:spcAft>
                <a:spcPts val="0"/>
              </a:spcAft>
              <a:buClr>
                <a:srgbClr val="000000"/>
              </a:buClr>
              <a:buSzPts val="1400"/>
              <a:buChar char="●"/>
            </a:pPr>
            <a:r>
              <a:rPr lang="en" sz="1400" b="1" i="1" u="none" strike="noStrike">
                <a:solidFill>
                  <a:srgbClr val="000000"/>
                </a:solidFill>
                <a:latin typeface="Times New Roman"/>
                <a:ea typeface="Times New Roman"/>
                <a:cs typeface="Times New Roman"/>
                <a:sym typeface="Times New Roman"/>
              </a:rPr>
              <a:t>Base with index: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 second register may be used to contain the offset X, in which case the index mode is written as, </a:t>
            </a:r>
            <a:r>
              <a:rPr lang="en" sz="1400" b="1" i="0" u="none" strike="noStrike">
                <a:solidFill>
                  <a:srgbClr val="000000"/>
                </a:solidFill>
                <a:latin typeface="Times New Roman"/>
                <a:ea typeface="Times New Roman"/>
                <a:cs typeface="Times New Roman"/>
                <a:sym typeface="Times New Roman"/>
              </a:rPr>
              <a:t>(Ri,Rj). </a:t>
            </a:r>
            <a:r>
              <a:rPr lang="en" sz="1400" b="0" i="0" u="none" strike="noStrike">
                <a:solidFill>
                  <a:srgbClr val="000000"/>
                </a:solidFill>
                <a:latin typeface="Times New Roman"/>
                <a:ea typeface="Times New Roman"/>
                <a:cs typeface="Times New Roman"/>
                <a:sym typeface="Times New Roman"/>
              </a:rPr>
              <a:t>The effective address is the sum of the contents of register Ri and Rj.</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second register is called as </a:t>
            </a:r>
            <a:r>
              <a:rPr lang="en" sz="1400" b="1" i="0" u="none" strike="noStrike">
                <a:solidFill>
                  <a:srgbClr val="000000"/>
                </a:solidFill>
                <a:latin typeface="Times New Roman"/>
                <a:ea typeface="Times New Roman"/>
                <a:cs typeface="Times New Roman"/>
                <a:sym typeface="Times New Roman"/>
              </a:rPr>
              <a:t>base register</a:t>
            </a:r>
            <a:r>
              <a:rPr lang="en" sz="1400" b="0" i="0" u="none" strike="noStrike">
                <a:solidFill>
                  <a:srgbClr val="000000"/>
                </a:solidFill>
                <a:latin typeface="Times New Roman"/>
                <a:ea typeface="Times New Roman"/>
                <a:cs typeface="Times New Roman"/>
                <a:sym typeface="Times New Roman"/>
              </a:rPr>
              <a:t>. </a:t>
            </a:r>
            <a:endParaRPr/>
          </a:p>
          <a:p>
            <a:pPr marL="177800" lvl="0" indent="-177800" algn="just" rtl="0">
              <a:lnSpc>
                <a:spcPct val="90000"/>
              </a:lnSpc>
              <a:spcBef>
                <a:spcPts val="800"/>
              </a:spcBef>
              <a:spcAft>
                <a:spcPts val="0"/>
              </a:spcAft>
              <a:buClr>
                <a:srgbClr val="000000"/>
              </a:buClr>
              <a:buSzPts val="1400"/>
              <a:buChar char="●"/>
            </a:pPr>
            <a:r>
              <a:rPr lang="en" sz="1400" b="1" i="1" u="none" strike="noStrike">
                <a:solidFill>
                  <a:srgbClr val="000000"/>
                </a:solidFill>
                <a:latin typeface="Times New Roman"/>
                <a:ea typeface="Times New Roman"/>
                <a:cs typeface="Times New Roman"/>
                <a:sym typeface="Times New Roman"/>
              </a:rPr>
              <a:t>Base with index and offset: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Uses two registers plus a constant denoted as X(</a:t>
            </a:r>
            <a:r>
              <a:rPr lang="en" sz="1400" b="1" i="0" u="none" strike="noStrike">
                <a:solidFill>
                  <a:srgbClr val="000000"/>
                </a:solidFill>
                <a:latin typeface="Times New Roman"/>
                <a:ea typeface="Times New Roman"/>
                <a:cs typeface="Times New Roman"/>
                <a:sym typeface="Times New Roman"/>
              </a:rPr>
              <a:t>Ri,Rj). </a:t>
            </a:r>
            <a:r>
              <a:rPr lang="en" sz="1400" b="0" i="0" u="none" strike="noStrike">
                <a:solidFill>
                  <a:srgbClr val="000000"/>
                </a:solidFill>
                <a:latin typeface="Times New Roman"/>
                <a:ea typeface="Times New Roman"/>
                <a:cs typeface="Times New Roman"/>
                <a:sym typeface="Times New Roman"/>
              </a:rPr>
              <a:t>The effective address is the sum of the constant X and the contents of register Ri and Rj. </a:t>
            </a:r>
            <a:endParaRPr/>
          </a:p>
          <a:p>
            <a:pPr marL="177800" lvl="0" indent="-177800" algn="just" rtl="0">
              <a:lnSpc>
                <a:spcPct val="90000"/>
              </a:lnSpc>
              <a:spcBef>
                <a:spcPts val="800"/>
              </a:spcBef>
              <a:spcAft>
                <a:spcPts val="0"/>
              </a:spcAft>
              <a:buClr>
                <a:srgbClr val="000000"/>
              </a:buClr>
              <a:buSzPts val="1400"/>
              <a:buChar char="●"/>
            </a:pPr>
            <a:r>
              <a:rPr lang="en" sz="1400" b="1" i="1" u="none" strike="noStrike">
                <a:solidFill>
                  <a:srgbClr val="000000"/>
                </a:solidFill>
                <a:latin typeface="Times New Roman"/>
                <a:ea typeface="Times New Roman"/>
                <a:cs typeface="Times New Roman"/>
                <a:sym typeface="Times New Roman"/>
              </a:rPr>
              <a:t>Relative Addressing </a:t>
            </a:r>
            <a:endParaRPr sz="1400" b="0" i="0" u="none" strike="noStrike">
              <a:solidFill>
                <a:srgbClr val="000000"/>
              </a:solidFill>
              <a:latin typeface="Times New Roman"/>
              <a:ea typeface="Times New Roman"/>
              <a:cs typeface="Times New Roman"/>
              <a:sym typeface="Times New Roman"/>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In index addressing, if the program counter PC, is used instead of a general-purpose register then X(PC) can be used to address a memory location that is X bytes away from the location presently pointed to by the program counter.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Since the addressed location is identified "relative" to the program counter, which always identifies the current execution point in a program, the name Relative mode is associated with this type of addressing. </a:t>
            </a:r>
            <a:endParaRPr/>
          </a:p>
          <a:p>
            <a:pPr marL="177800" lvl="0" indent="-177800" algn="just" rtl="0">
              <a:lnSpc>
                <a:spcPct val="90000"/>
              </a:lnSpc>
              <a:spcBef>
                <a:spcPts val="80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Auto-increment mode:</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effective address of the operand is the contents of a register specified in the instruction. After accessing the operand, the contents of this register are automatically incremented to point to the next item in a list. </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We denote the Auto-increment mode by putting the specified register in parentheses, to show that the contents of the register are used as the effective address, followed by a plus sign to  indicate that these contents are to be incremented after the operand is accessed. Thus, the Auto-increment mode is written as </a:t>
            </a:r>
            <a:r>
              <a:rPr lang="en" sz="1400" b="1" i="0" u="none" strike="noStrike">
                <a:solidFill>
                  <a:srgbClr val="000000"/>
                </a:solidFill>
                <a:latin typeface="Times New Roman"/>
                <a:ea typeface="Times New Roman"/>
                <a:cs typeface="Times New Roman"/>
                <a:sym typeface="Times New Roman"/>
              </a:rPr>
              <a:t>(Ri)+ </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7"/>
          <p:cNvSpPr txBox="1">
            <a:spLocks noGrp="1"/>
          </p:cNvSpPr>
          <p:nvPr>
            <p:ph type="body" idx="1"/>
          </p:nvPr>
        </p:nvSpPr>
        <p:spPr>
          <a:xfrm>
            <a:off x="628650" y="251926"/>
            <a:ext cx="7886700" cy="43809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1" i="0" u="none" strike="noStrike">
                <a:solidFill>
                  <a:srgbClr val="000000"/>
                </a:solidFill>
                <a:latin typeface="Times New Roman"/>
                <a:ea typeface="Times New Roman"/>
                <a:cs typeface="Times New Roman"/>
                <a:sym typeface="Times New Roman"/>
              </a:rPr>
              <a:t>Auto-decrement mode:</a:t>
            </a:r>
            <a:endParaRPr/>
          </a:p>
          <a:p>
            <a:pPr marL="520700" lvl="1" indent="-177800" algn="just" rtl="0">
              <a:lnSpc>
                <a:spcPct val="90000"/>
              </a:lnSpc>
              <a:spcBef>
                <a:spcPts val="4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contents of a register specified in the instruction are first automatically decremented and are then used as the effective address of the operand. The Auto-increment mode is written as -</a:t>
            </a:r>
            <a:r>
              <a:rPr lang="en" sz="1400" b="1" i="0" u="none" strike="noStrike">
                <a:solidFill>
                  <a:srgbClr val="000000"/>
                </a:solidFill>
                <a:latin typeface="Times New Roman"/>
                <a:ea typeface="Times New Roman"/>
                <a:cs typeface="Times New Roman"/>
                <a:sym typeface="Times New Roman"/>
              </a:rPr>
              <a:t>(Ri) </a:t>
            </a:r>
            <a:endParaRPr/>
          </a:p>
          <a:p>
            <a:pPr marL="520700" lvl="1" indent="-88900" algn="just" rtl="0">
              <a:lnSpc>
                <a:spcPct val="90000"/>
              </a:lnSpc>
              <a:spcBef>
                <a:spcPts val="400"/>
              </a:spcBef>
              <a:spcAft>
                <a:spcPts val="0"/>
              </a:spcAft>
              <a:buClr>
                <a:schemeClr val="dk1"/>
              </a:buClr>
              <a:buSzPts val="1400"/>
              <a:buNone/>
            </a:pPr>
            <a:endParaRPr sz="1400"/>
          </a:p>
        </p:txBody>
      </p:sp>
      <p:pic>
        <p:nvPicPr>
          <p:cNvPr id="315" name="Google Shape;315;p47"/>
          <p:cNvPicPr preferRelativeResize="0"/>
          <p:nvPr/>
        </p:nvPicPr>
        <p:blipFill rotWithShape="1">
          <a:blip r:embed="rId3">
            <a:alphaModFix/>
          </a:blip>
          <a:srcRect/>
          <a:stretch/>
        </p:blipFill>
        <p:spPr>
          <a:xfrm>
            <a:off x="1710639" y="1058540"/>
            <a:ext cx="5722723" cy="367215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8"/>
          <p:cNvSpPr txBox="1">
            <a:spLocks noGrp="1"/>
          </p:cNvSpPr>
          <p:nvPr>
            <p:ph type="title"/>
          </p:nvPr>
        </p:nvSpPr>
        <p:spPr>
          <a:xfrm>
            <a:off x="628650" y="74370"/>
            <a:ext cx="7886700" cy="4470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2160"/>
              <a:buFont typeface="Calibri"/>
              <a:buNone/>
            </a:pPr>
            <a:r>
              <a:rPr lang="en" sz="1860" b="1">
                <a:solidFill>
                  <a:srgbClr val="CC3300"/>
                </a:solidFill>
                <a:latin typeface="Comic Sans MS"/>
                <a:ea typeface="Comic Sans MS"/>
                <a:cs typeface="Comic Sans MS"/>
                <a:sym typeface="Comic Sans MS"/>
              </a:rPr>
              <a:t>BASIC PROCESSING UNIT - SOME FUNDAMENTAL CONCEPT</a:t>
            </a:r>
            <a:endParaRPr sz="1860" b="1">
              <a:solidFill>
                <a:srgbClr val="CC3300"/>
              </a:solidFill>
              <a:latin typeface="Comic Sans MS"/>
              <a:ea typeface="Comic Sans MS"/>
              <a:cs typeface="Comic Sans MS"/>
              <a:sym typeface="Comic Sans MS"/>
            </a:endParaRPr>
          </a:p>
        </p:txBody>
      </p:sp>
      <p:sp>
        <p:nvSpPr>
          <p:cNvPr id="321" name="Google Shape;321;p48"/>
          <p:cNvSpPr txBox="1">
            <a:spLocks noGrp="1"/>
          </p:cNvSpPr>
          <p:nvPr>
            <p:ph type="body" idx="1"/>
          </p:nvPr>
        </p:nvSpPr>
        <p:spPr>
          <a:xfrm>
            <a:off x="628650" y="521375"/>
            <a:ext cx="7886700" cy="4712100"/>
          </a:xfrm>
          <a:prstGeom prst="rect">
            <a:avLst/>
          </a:prstGeom>
          <a:noFill/>
          <a:ln>
            <a:noFill/>
          </a:ln>
        </p:spPr>
        <p:txBody>
          <a:bodyPr spcFirstLastPara="1" wrap="square" lIns="68575" tIns="34275" rIns="68575" bIns="34275" anchor="t" anchorCtr="0">
            <a:noAutofit/>
          </a:bodyPr>
          <a:lstStyle/>
          <a:p>
            <a:pPr marL="177800" lvl="0" indent="-177800" algn="just" rtl="0">
              <a:lnSpc>
                <a:spcPct val="90000"/>
              </a:lnSpc>
              <a:spcBef>
                <a:spcPts val="0"/>
              </a:spcBef>
              <a:spcAft>
                <a:spcPts val="0"/>
              </a:spcAft>
              <a:buClr>
                <a:schemeClr val="dk1"/>
              </a:buClr>
              <a:buSzPts val="1400"/>
              <a:buChar char="●"/>
            </a:pPr>
            <a:r>
              <a:rPr lang="en" sz="1400"/>
              <a:t>T</a:t>
            </a:r>
            <a:r>
              <a:rPr lang="en" sz="1500">
                <a:latin typeface="Times New Roman"/>
                <a:ea typeface="Times New Roman"/>
                <a:cs typeface="Times New Roman"/>
                <a:sym typeface="Times New Roman"/>
              </a:rPr>
              <a:t>o execute a program, the processor fetches one instruction at a time and performs the operations specified.</a:t>
            </a:r>
            <a:endParaRPr sz="1500">
              <a:latin typeface="Times New Roman"/>
              <a:ea typeface="Times New Roman"/>
              <a:cs typeface="Times New Roman"/>
              <a:sym typeface="Times New Roman"/>
            </a:endParaRPr>
          </a:p>
          <a:p>
            <a:pPr marL="342900" lvl="0" indent="0" algn="just" rtl="0">
              <a:lnSpc>
                <a:spcPct val="90000"/>
              </a:lnSpc>
              <a:spcBef>
                <a:spcPts val="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 Instructions are fetched from successive memory locations until a branch or a jump instruction is encountered. </a:t>
            </a:r>
            <a:endParaRPr sz="15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The processor keeps track of the address of the memory location containing the next instruction to be fetched using the program counter, PC. </a:t>
            </a:r>
            <a:endParaRPr sz="15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After fetching an instruction, the contents of the PC are updated to point to the next instruction in the sequence. </a:t>
            </a:r>
            <a:endParaRPr sz="15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A branch instruction may load a different value into the PC. Another key register in the processor is the instruction register, IR</a:t>
            </a:r>
            <a:endParaRPr sz="15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Suppose that each instruction comprises 4 bytes, and that it is stored in one memory word. To execute an instruction, the processor has to perform the following three steps:</a:t>
            </a:r>
            <a:endParaRPr sz="19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9"/>
          <p:cNvSpPr txBox="1">
            <a:spLocks noGrp="1"/>
          </p:cNvSpPr>
          <p:nvPr>
            <p:ph type="title"/>
          </p:nvPr>
        </p:nvSpPr>
        <p:spPr>
          <a:xfrm>
            <a:off x="1143000" y="342900"/>
            <a:ext cx="7315200" cy="457200"/>
          </a:xfrm>
          <a:prstGeom prst="rect">
            <a:avLst/>
          </a:prstGeom>
        </p:spPr>
        <p:txBody>
          <a:bodyPr spcFirstLastPara="1" wrap="square" lIns="92075" tIns="46025" rIns="92075" bIns="46025" anchor="ctr" anchorCtr="0">
            <a:noAutofit/>
          </a:bodyPr>
          <a:lstStyle/>
          <a:p>
            <a:pPr marL="0" lvl="0" indent="0" algn="l" rtl="0">
              <a:spcBef>
                <a:spcPts val="0"/>
              </a:spcBef>
              <a:spcAft>
                <a:spcPts val="0"/>
              </a:spcAft>
              <a:buNone/>
            </a:pPr>
            <a:endParaRPr/>
          </a:p>
        </p:txBody>
      </p:sp>
      <p:sp>
        <p:nvSpPr>
          <p:cNvPr id="327" name="Google Shape;327;p49"/>
          <p:cNvSpPr txBox="1">
            <a:spLocks noGrp="1"/>
          </p:cNvSpPr>
          <p:nvPr>
            <p:ph type="body" idx="1"/>
          </p:nvPr>
        </p:nvSpPr>
        <p:spPr>
          <a:xfrm>
            <a:off x="685800" y="1009650"/>
            <a:ext cx="7772400" cy="3675300"/>
          </a:xfrm>
          <a:prstGeom prst="rect">
            <a:avLst/>
          </a:prstGeom>
        </p:spPr>
        <p:txBody>
          <a:bodyPr spcFirstLastPara="1" wrap="square" lIns="92075" tIns="46025" rIns="92075" bIns="46025" anchor="t" anchorCtr="0">
            <a:noAutofit/>
          </a:bodyPr>
          <a:lstStyle/>
          <a:p>
            <a:pPr marL="177800" lvl="0" indent="-184150" algn="just" rtl="0">
              <a:lnSpc>
                <a:spcPct val="90000"/>
              </a:lnSpc>
              <a:spcBef>
                <a:spcPts val="800"/>
              </a:spcBef>
              <a:spcAft>
                <a:spcPts val="0"/>
              </a:spcAft>
              <a:buSzPts val="1500"/>
              <a:buFont typeface="Times New Roman"/>
              <a:buChar char="●"/>
            </a:pPr>
            <a:r>
              <a:rPr lang="en" sz="1500">
                <a:latin typeface="Times New Roman"/>
                <a:ea typeface="Times New Roman"/>
                <a:cs typeface="Times New Roman"/>
                <a:sym typeface="Times New Roman"/>
              </a:rPr>
              <a:t>Fetch the contents of the memory location pointed to by the PC. The contents of this location are the instruction to be executed; hence they are loaded into the IR. In register transfer notation, the required action is IR←[[PC]] </a:t>
            </a:r>
            <a:endParaRPr sz="15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SzPts val="1500"/>
              <a:buFont typeface="Times New Roman"/>
              <a:buChar char="●"/>
            </a:pPr>
            <a:r>
              <a:rPr lang="en" sz="1500">
                <a:latin typeface="Times New Roman"/>
                <a:ea typeface="Times New Roman"/>
                <a:cs typeface="Times New Roman"/>
                <a:sym typeface="Times New Roman"/>
              </a:rPr>
              <a:t>Increment the PC to point to the next instruction. Assuming that the memory is byte addressable, the PC is incremented by 4; that is PC←[PC] + 4</a:t>
            </a:r>
            <a:endParaRPr sz="1500">
              <a:latin typeface="Times New Roman"/>
              <a:ea typeface="Times New Roman"/>
              <a:cs typeface="Times New Roman"/>
              <a:sym typeface="Times New Roman"/>
            </a:endParaRPr>
          </a:p>
          <a:p>
            <a:pPr marL="342900" lvl="0" indent="0" algn="just" rtl="0">
              <a:lnSpc>
                <a:spcPct val="90000"/>
              </a:lnSpc>
              <a:spcBef>
                <a:spcPts val="800"/>
              </a:spcBef>
              <a:spcAft>
                <a:spcPts val="0"/>
              </a:spcAft>
              <a:buNone/>
            </a:pPr>
            <a:endParaRPr sz="1500">
              <a:latin typeface="Times New Roman"/>
              <a:ea typeface="Times New Roman"/>
              <a:cs typeface="Times New Roman"/>
              <a:sym typeface="Times New Roman"/>
            </a:endParaRPr>
          </a:p>
          <a:p>
            <a:pPr marL="177800" lvl="0" indent="-184150" algn="just" rtl="0">
              <a:lnSpc>
                <a:spcPct val="90000"/>
              </a:lnSpc>
              <a:spcBef>
                <a:spcPts val="800"/>
              </a:spcBef>
              <a:spcAft>
                <a:spcPts val="0"/>
              </a:spcAft>
              <a:buSzPts val="1500"/>
              <a:buFont typeface="Times New Roman"/>
              <a:buChar char="●"/>
            </a:pPr>
            <a:r>
              <a:rPr lang="en" sz="1500">
                <a:latin typeface="Times New Roman"/>
                <a:ea typeface="Times New Roman"/>
                <a:cs typeface="Times New Roman"/>
                <a:sym typeface="Times New Roman"/>
              </a:rPr>
              <a:t>Carry out the operation specified by the instruction in the IR. Fetching an instruction and loading it into the IR is usually referred to as the instruction fetch phase. Performing the operation specified in the instruction constitutes the instruction execution phase. </a:t>
            </a:r>
            <a:endParaRPr sz="1500">
              <a:latin typeface="Times New Roman"/>
              <a:ea typeface="Times New Roman"/>
              <a:cs typeface="Times New Roman"/>
              <a:sym typeface="Times New Roman"/>
            </a:endParaRPr>
          </a:p>
          <a:p>
            <a:pPr marL="0" lvl="0" indent="0" algn="l" rtl="0">
              <a:spcBef>
                <a:spcPts val="36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0"/>
          <p:cNvSpPr txBox="1">
            <a:spLocks noGrp="1"/>
          </p:cNvSpPr>
          <p:nvPr>
            <p:ph type="title"/>
          </p:nvPr>
        </p:nvSpPr>
        <p:spPr>
          <a:xfrm>
            <a:off x="1543050" y="1"/>
            <a:ext cx="5658000" cy="365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 sz="2700"/>
              <a:t>Internal organization of Processor </a:t>
            </a:r>
            <a:endParaRPr/>
          </a:p>
        </p:txBody>
      </p:sp>
      <p:sp>
        <p:nvSpPr>
          <p:cNvPr id="334" name="Google Shape;334;p50"/>
          <p:cNvSpPr txBox="1"/>
          <p:nvPr/>
        </p:nvSpPr>
        <p:spPr>
          <a:xfrm flipH="1">
            <a:off x="5143650" y="3143250"/>
            <a:ext cx="8571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dk1"/>
              </a:buClr>
              <a:buSzPts val="1400"/>
              <a:buFont typeface="Arial"/>
              <a:buNone/>
            </a:pPr>
            <a:r>
              <a:rPr lang="en" sz="1400" b="0" i="0" u="none" strike="noStrike" cap="none">
                <a:solidFill>
                  <a:schemeClr val="dk1"/>
                </a:solidFill>
                <a:latin typeface="Arial"/>
                <a:ea typeface="Arial"/>
                <a:cs typeface="Arial"/>
                <a:sym typeface="Arial"/>
              </a:rPr>
              <a:t>Datapath</a:t>
            </a:r>
            <a:endParaRPr sz="1100"/>
          </a:p>
        </p:txBody>
      </p:sp>
      <p:pic>
        <p:nvPicPr>
          <p:cNvPr id="335" name="Google Shape;335;p50"/>
          <p:cNvPicPr preferRelativeResize="0"/>
          <p:nvPr/>
        </p:nvPicPr>
        <p:blipFill rotWithShape="1">
          <a:blip r:embed="rId3">
            <a:alphaModFix/>
          </a:blip>
          <a:srcRect/>
          <a:stretch/>
        </p:blipFill>
        <p:spPr>
          <a:xfrm>
            <a:off x="1314450" y="407194"/>
            <a:ext cx="6286499" cy="467915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1"/>
          <p:cNvSpPr txBox="1">
            <a:spLocks noGrp="1"/>
          </p:cNvSpPr>
          <p:nvPr>
            <p:ph type="title"/>
          </p:nvPr>
        </p:nvSpPr>
        <p:spPr>
          <a:xfrm>
            <a:off x="857250" y="257175"/>
            <a:ext cx="5486400" cy="3429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Calibri"/>
              <a:buNone/>
            </a:pPr>
            <a:r>
              <a:rPr lang="en"/>
              <a:t>Single Bus organization of Processor</a:t>
            </a:r>
            <a:endParaRPr/>
          </a:p>
        </p:txBody>
      </p:sp>
      <p:sp>
        <p:nvSpPr>
          <p:cNvPr id="341" name="Google Shape;341;p51"/>
          <p:cNvSpPr txBox="1">
            <a:spLocks noGrp="1"/>
          </p:cNvSpPr>
          <p:nvPr>
            <p:ph type="body" idx="1"/>
          </p:nvPr>
        </p:nvSpPr>
        <p:spPr>
          <a:xfrm>
            <a:off x="514350" y="757250"/>
            <a:ext cx="8324100" cy="4072800"/>
          </a:xfrm>
          <a:prstGeom prst="rect">
            <a:avLst/>
          </a:prstGeom>
          <a:noFill/>
          <a:ln>
            <a:noFill/>
          </a:ln>
        </p:spPr>
        <p:txBody>
          <a:bodyPr spcFirstLastPara="1" wrap="square" lIns="68575" tIns="34275" rIns="68575" bIns="34275" anchor="t" anchorCtr="0">
            <a:normAutofit lnSpcReduction="10000"/>
          </a:bodyPr>
          <a:lstStyle/>
          <a:p>
            <a:pPr marL="177800" lvl="0" indent="-177800" algn="just" rtl="0">
              <a:lnSpc>
                <a:spcPct val="90000"/>
              </a:lnSpc>
              <a:spcBef>
                <a:spcPts val="0"/>
              </a:spcBef>
              <a:spcAft>
                <a:spcPts val="0"/>
              </a:spcAft>
              <a:buClr>
                <a:schemeClr val="dk1"/>
              </a:buClr>
              <a:buSzPts val="1400"/>
              <a:buChar char="●"/>
            </a:pPr>
            <a:r>
              <a:rPr lang="en" sz="1400"/>
              <a:t>Figure shows the organization in which the arithmetic and logic unit (ALU) and all the registers are interconnected via a single common bus</a:t>
            </a:r>
            <a:endParaRPr sz="1400"/>
          </a:p>
          <a:p>
            <a:pPr marL="342900" lvl="0" indent="0" algn="just" rtl="0">
              <a:lnSpc>
                <a:spcPct val="90000"/>
              </a:lnSpc>
              <a:spcBef>
                <a:spcPts val="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The data and address lines of the external memory bus are connected to the internal processor bus via the memory data register, MDR, and the memory address register, MAR, respectively. </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Register MDR has two inputs and two outputs. Data may be loaded into MDR either from the memory bus or from the internal processor bus</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The data stored in MDR may be placed on either bus. The input of MAR is connected to the internal bus, and its output is connected to the external bus. The control lines of the memory bus are connected to the instruction decoder and control logic block.</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Three registers Y, Z, and TEMP registers are used by the processor for temporary storage during execution of some instructions. </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The multiplexer MUX selects either the output of register Y or a constant value 4 to be provided as input A of the ALU. The constant 4 is used to increment the contents of the program counter</a:t>
            </a:r>
            <a:endParaRPr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2"/>
          <p:cNvSpPr txBox="1">
            <a:spLocks noGrp="1"/>
          </p:cNvSpPr>
          <p:nvPr>
            <p:ph type="body" idx="1"/>
          </p:nvPr>
        </p:nvSpPr>
        <p:spPr>
          <a:xfrm>
            <a:off x="628650" y="167951"/>
            <a:ext cx="7886700" cy="44646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chemeClr val="dk1"/>
              </a:buClr>
              <a:buSzPts val="1400"/>
              <a:buChar char="●"/>
            </a:pPr>
            <a:r>
              <a:rPr lang="en" sz="1400"/>
              <a:t>With few exceptions, an instruction can be executed by performing one or more of the following operations in some specified sequence: </a:t>
            </a:r>
            <a:endParaRPr sz="1400"/>
          </a:p>
          <a:p>
            <a:pPr marL="342900" lvl="0" indent="0" algn="just" rtl="0">
              <a:lnSpc>
                <a:spcPct val="90000"/>
              </a:lnSpc>
              <a:spcBef>
                <a:spcPts val="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Transfer a word of data from one processor register to another or to the ALU </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Perform an arithmetic or a logic operation and store the result in a processor register </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Fetch the contents of a given memory location and load them into a processor register </a:t>
            </a:r>
            <a:endParaRPr sz="1400"/>
          </a:p>
          <a:p>
            <a:pPr marL="342900" lvl="0" indent="0" algn="just" rtl="0">
              <a:lnSpc>
                <a:spcPct val="90000"/>
              </a:lnSpc>
              <a:spcBef>
                <a:spcPts val="800"/>
              </a:spcBef>
              <a:spcAft>
                <a:spcPts val="0"/>
              </a:spcAft>
              <a:buNone/>
            </a:pPr>
            <a:endParaRPr sz="1400"/>
          </a:p>
          <a:p>
            <a:pPr marL="177800" lvl="0" indent="-177800" algn="just" rtl="0">
              <a:lnSpc>
                <a:spcPct val="90000"/>
              </a:lnSpc>
              <a:spcBef>
                <a:spcPts val="800"/>
              </a:spcBef>
              <a:spcAft>
                <a:spcPts val="0"/>
              </a:spcAft>
              <a:buClr>
                <a:schemeClr val="dk1"/>
              </a:buClr>
              <a:buSzPts val="1400"/>
              <a:buChar char="●"/>
            </a:pPr>
            <a:r>
              <a:rPr lang="en" sz="1400"/>
              <a:t>Store a word of data from a processor register into a given memory location </a:t>
            </a:r>
            <a:endParaRPr/>
          </a:p>
          <a:p>
            <a:pPr marL="177800" lvl="0" indent="-88900" algn="just" rtl="0">
              <a:lnSpc>
                <a:spcPct val="90000"/>
              </a:lnSpc>
              <a:spcBef>
                <a:spcPts val="800"/>
              </a:spcBef>
              <a:spcAft>
                <a:spcPts val="0"/>
              </a:spcAft>
              <a:buClr>
                <a:schemeClr val="dk1"/>
              </a:buClr>
              <a:buSzPts val="1400"/>
              <a:buNone/>
            </a:pPr>
            <a:endParaRPr sz="1400"/>
          </a:p>
          <a:p>
            <a:pPr marL="177800" lvl="0" indent="-88900" algn="just" rtl="0">
              <a:lnSpc>
                <a:spcPct val="90000"/>
              </a:lnSpc>
              <a:spcBef>
                <a:spcPts val="800"/>
              </a:spcBef>
              <a:spcAft>
                <a:spcPts val="0"/>
              </a:spcAft>
              <a:buClr>
                <a:schemeClr val="dk1"/>
              </a:buClr>
              <a:buSzPts val="1400"/>
              <a:buNone/>
            </a:pPr>
            <a:endParaRPr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3"/>
          <p:cNvSpPr txBox="1">
            <a:spLocks noGrp="1"/>
          </p:cNvSpPr>
          <p:nvPr>
            <p:ph type="title"/>
          </p:nvPr>
        </p:nvSpPr>
        <p:spPr>
          <a:xfrm>
            <a:off x="628650" y="273844"/>
            <a:ext cx="7886700" cy="356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0000"/>
              </a:buClr>
              <a:buSzPts val="1400"/>
              <a:buFont typeface="Times New Roman"/>
              <a:buNone/>
            </a:pPr>
            <a:r>
              <a:rPr lang="en" sz="1400" b="1" i="1" u="none" strike="noStrike">
                <a:solidFill>
                  <a:srgbClr val="000000"/>
                </a:solidFill>
                <a:latin typeface="Times New Roman"/>
                <a:ea typeface="Times New Roman"/>
                <a:cs typeface="Times New Roman"/>
                <a:sym typeface="Times New Roman"/>
              </a:rPr>
              <a:t>Register Transfers </a:t>
            </a:r>
            <a:endParaRPr/>
          </a:p>
        </p:txBody>
      </p:sp>
      <p:sp>
        <p:nvSpPr>
          <p:cNvPr id="352" name="Google Shape;352;p53"/>
          <p:cNvSpPr txBox="1">
            <a:spLocks noGrp="1"/>
          </p:cNvSpPr>
          <p:nvPr>
            <p:ph type="body" idx="1"/>
          </p:nvPr>
        </p:nvSpPr>
        <p:spPr>
          <a:xfrm>
            <a:off x="628650" y="629817"/>
            <a:ext cx="7886700" cy="40029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Instruction execution involves a sequence of steps in which data are transferred from one register to another.</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 For each register, two control signals are used to place the contents of that register on the bus or to load the data on the bus into the register.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input and output of register Ri are connected to the bus via switches controlled by the signals Ri</a:t>
            </a:r>
            <a:r>
              <a:rPr lang="en" sz="1400" b="0" i="0" u="none" strike="noStrike" baseline="-25000">
                <a:solidFill>
                  <a:srgbClr val="000000"/>
                </a:solidFill>
                <a:latin typeface="Times New Roman"/>
                <a:ea typeface="Times New Roman"/>
                <a:cs typeface="Times New Roman"/>
                <a:sym typeface="Times New Roman"/>
              </a:rPr>
              <a:t>in </a:t>
            </a:r>
            <a:r>
              <a:rPr lang="en" sz="1400" b="0" i="0" u="none" strike="noStrike">
                <a:solidFill>
                  <a:srgbClr val="000000"/>
                </a:solidFill>
                <a:latin typeface="Times New Roman"/>
                <a:ea typeface="Times New Roman"/>
                <a:cs typeface="Times New Roman"/>
                <a:sym typeface="Times New Roman"/>
              </a:rPr>
              <a:t>and Ri </a:t>
            </a:r>
            <a:r>
              <a:rPr lang="en" sz="1400" b="0" i="0" u="none" strike="noStrike" baseline="-25000">
                <a:solidFill>
                  <a:srgbClr val="000000"/>
                </a:solidFill>
                <a:latin typeface="Times New Roman"/>
                <a:ea typeface="Times New Roman"/>
                <a:cs typeface="Times New Roman"/>
                <a:sym typeface="Times New Roman"/>
              </a:rPr>
              <a:t>out</a:t>
            </a:r>
            <a:r>
              <a:rPr lang="en" sz="1400" b="0" i="0" u="none" strike="noStrike">
                <a:solidFill>
                  <a:srgbClr val="000000"/>
                </a:solidFill>
                <a:latin typeface="Times New Roman"/>
                <a:ea typeface="Times New Roman"/>
                <a:cs typeface="Times New Roman"/>
                <a:sym typeface="Times New Roman"/>
              </a:rPr>
              <a:t>, respectively.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When Ri </a:t>
            </a:r>
            <a:r>
              <a:rPr lang="en" sz="1400" b="0" i="0" u="none" strike="noStrike" baseline="-25000">
                <a:solidFill>
                  <a:srgbClr val="000000"/>
                </a:solidFill>
                <a:latin typeface="Times New Roman"/>
                <a:ea typeface="Times New Roman"/>
                <a:cs typeface="Times New Roman"/>
                <a:sym typeface="Times New Roman"/>
              </a:rPr>
              <a:t>in</a:t>
            </a:r>
            <a:r>
              <a:rPr lang="en" sz="1400" b="0" i="0" u="none" strike="noStrike">
                <a:solidFill>
                  <a:srgbClr val="000000"/>
                </a:solidFill>
                <a:latin typeface="Times New Roman"/>
                <a:ea typeface="Times New Roman"/>
                <a:cs typeface="Times New Roman"/>
                <a:sym typeface="Times New Roman"/>
              </a:rPr>
              <a:t> is set to 1, the data on the bus are loaded into Ri. Similarly, when Ri </a:t>
            </a:r>
            <a:r>
              <a:rPr lang="en" sz="1400" b="0" i="0" u="none" strike="noStrike" baseline="-25000">
                <a:solidFill>
                  <a:srgbClr val="000000"/>
                </a:solidFill>
                <a:latin typeface="Times New Roman"/>
                <a:ea typeface="Times New Roman"/>
                <a:cs typeface="Times New Roman"/>
                <a:sym typeface="Times New Roman"/>
              </a:rPr>
              <a:t>out</a:t>
            </a:r>
            <a:r>
              <a:rPr lang="en" sz="1400" b="0" i="0" u="none" strike="noStrike">
                <a:solidFill>
                  <a:srgbClr val="000000"/>
                </a:solidFill>
                <a:latin typeface="Times New Roman"/>
                <a:ea typeface="Times New Roman"/>
                <a:cs typeface="Times New Roman"/>
                <a:sym typeface="Times New Roman"/>
              </a:rPr>
              <a:t>, is set to 1, the contents of register Ri are placed on the bus.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While Ri </a:t>
            </a:r>
            <a:r>
              <a:rPr lang="en" sz="1400" b="0" i="0" u="none" strike="noStrike" baseline="-25000">
                <a:solidFill>
                  <a:srgbClr val="000000"/>
                </a:solidFill>
                <a:latin typeface="Times New Roman"/>
                <a:ea typeface="Times New Roman"/>
                <a:cs typeface="Times New Roman"/>
                <a:sym typeface="Times New Roman"/>
              </a:rPr>
              <a:t>out</a:t>
            </a:r>
            <a:r>
              <a:rPr lang="en" sz="1400" b="0" i="0" u="none" strike="noStrike">
                <a:solidFill>
                  <a:srgbClr val="000000"/>
                </a:solidFill>
                <a:latin typeface="Times New Roman"/>
                <a:ea typeface="Times New Roman"/>
                <a:cs typeface="Times New Roman"/>
                <a:sym typeface="Times New Roman"/>
              </a:rPr>
              <a:t> is equal to 0, the bus can be used for transferring data from other registers. </a:t>
            </a:r>
            <a:endParaRPr sz="1400"/>
          </a:p>
        </p:txBody>
      </p:sp>
      <p:pic>
        <p:nvPicPr>
          <p:cNvPr id="353" name="Google Shape;353;p53"/>
          <p:cNvPicPr preferRelativeResize="0"/>
          <p:nvPr/>
        </p:nvPicPr>
        <p:blipFill rotWithShape="1">
          <a:blip r:embed="rId3">
            <a:alphaModFix/>
          </a:blip>
          <a:srcRect/>
          <a:stretch/>
        </p:blipFill>
        <p:spPr>
          <a:xfrm>
            <a:off x="3131899" y="2720210"/>
            <a:ext cx="1970468" cy="191251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4"/>
          <p:cNvSpPr txBox="1">
            <a:spLocks noGrp="1"/>
          </p:cNvSpPr>
          <p:nvPr>
            <p:ph type="title"/>
          </p:nvPr>
        </p:nvSpPr>
        <p:spPr>
          <a:xfrm>
            <a:off x="628650" y="273844"/>
            <a:ext cx="7886700" cy="45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0000"/>
              </a:buClr>
              <a:buSzPts val="1400"/>
              <a:buFont typeface="Times New Roman"/>
              <a:buNone/>
            </a:pPr>
            <a:r>
              <a:rPr lang="en" sz="1400" b="1" i="1" u="none" strike="noStrike">
                <a:solidFill>
                  <a:srgbClr val="000000"/>
                </a:solidFill>
                <a:latin typeface="Times New Roman"/>
                <a:ea typeface="Times New Roman"/>
                <a:cs typeface="Times New Roman"/>
                <a:sym typeface="Times New Roman"/>
              </a:rPr>
              <a:t>Performing an Arithmetic or Logic Operation </a:t>
            </a:r>
            <a:endParaRPr/>
          </a:p>
        </p:txBody>
      </p:sp>
      <p:sp>
        <p:nvSpPr>
          <p:cNvPr id="359" name="Google Shape;359;p54"/>
          <p:cNvSpPr txBox="1">
            <a:spLocks noGrp="1"/>
          </p:cNvSpPr>
          <p:nvPr>
            <p:ph type="body" idx="1"/>
          </p:nvPr>
        </p:nvSpPr>
        <p:spPr>
          <a:xfrm>
            <a:off x="628650" y="727788"/>
            <a:ext cx="7886700" cy="3904800"/>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a sequence of operations to add the contents of register R1 to those of register R2 and store the result in register R3 is </a:t>
            </a:r>
            <a:endParaRPr/>
          </a:p>
          <a:p>
            <a:pPr marL="177800" lvl="0" indent="-88900" algn="l" rtl="0">
              <a:lnSpc>
                <a:spcPct val="90000"/>
              </a:lnSpc>
              <a:spcBef>
                <a:spcPts val="800"/>
              </a:spcBef>
              <a:spcAft>
                <a:spcPts val="0"/>
              </a:spcAft>
              <a:buClr>
                <a:schemeClr val="dk1"/>
              </a:buClr>
              <a:buSzPts val="1400"/>
              <a:buNone/>
            </a:pPr>
            <a:endParaRPr sz="1400" b="0" i="0" u="none" strike="noStrike">
              <a:solidFill>
                <a:srgbClr val="000000"/>
              </a:solidFill>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1. R1out, Yin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2. R2out, Select Y, Add, Zin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3. Zout R3in </a:t>
            </a:r>
            <a:endParaRPr/>
          </a:p>
          <a:p>
            <a:pPr marL="0" lvl="0" indent="0" algn="l" rtl="0">
              <a:lnSpc>
                <a:spcPct val="90000"/>
              </a:lnSpc>
              <a:spcBef>
                <a:spcPts val="800"/>
              </a:spcBef>
              <a:spcAft>
                <a:spcPts val="0"/>
              </a:spcAft>
              <a:buClr>
                <a:schemeClr val="dk1"/>
              </a:buClr>
              <a:buSzPts val="1400"/>
              <a:buNone/>
            </a:pPr>
            <a:endParaRPr sz="1400" b="0" i="0" u="none" strike="noStrike">
              <a:solidFill>
                <a:srgbClr val="000000"/>
              </a:solidFill>
              <a:latin typeface="Times New Roman"/>
              <a:ea typeface="Times New Roman"/>
              <a:cs typeface="Times New Roman"/>
              <a:sym typeface="Times New Roman"/>
            </a:endParaRPr>
          </a:p>
          <a:p>
            <a:pPr marL="177800" lvl="0" indent="-38100" algn="l" rtl="0">
              <a:lnSpc>
                <a:spcPct val="90000"/>
              </a:lnSpc>
              <a:spcBef>
                <a:spcPts val="800"/>
              </a:spcBef>
              <a:spcAft>
                <a:spcPts val="0"/>
              </a:spcAft>
              <a:buClr>
                <a:schemeClr val="dk1"/>
              </a:buClr>
              <a:buSzPts val="2100"/>
              <a:buNone/>
            </a:pPr>
            <a:endParaRPr/>
          </a:p>
        </p:txBody>
      </p:sp>
      <p:pic>
        <p:nvPicPr>
          <p:cNvPr id="360" name="Google Shape;360;p54"/>
          <p:cNvPicPr preferRelativeResize="0"/>
          <p:nvPr/>
        </p:nvPicPr>
        <p:blipFill rotWithShape="1">
          <a:blip r:embed="rId3">
            <a:alphaModFix/>
          </a:blip>
          <a:srcRect/>
          <a:stretch/>
        </p:blipFill>
        <p:spPr>
          <a:xfrm>
            <a:off x="6459686" y="963351"/>
            <a:ext cx="1894712" cy="390630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5"/>
          <p:cNvSpPr txBox="1">
            <a:spLocks noGrp="1"/>
          </p:cNvSpPr>
          <p:nvPr>
            <p:ph type="title"/>
          </p:nvPr>
        </p:nvSpPr>
        <p:spPr>
          <a:xfrm>
            <a:off x="628650" y="273844"/>
            <a:ext cx="7886700" cy="3699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0000"/>
              </a:buClr>
              <a:buSzPts val="1400"/>
              <a:buFont typeface="Times New Roman"/>
              <a:buNone/>
            </a:pPr>
            <a:r>
              <a:rPr lang="en" sz="1400" b="1" i="1" u="none" strike="noStrike">
                <a:solidFill>
                  <a:srgbClr val="000000"/>
                </a:solidFill>
                <a:latin typeface="Times New Roman"/>
                <a:ea typeface="Times New Roman"/>
                <a:cs typeface="Times New Roman"/>
                <a:sym typeface="Times New Roman"/>
              </a:rPr>
              <a:t>Fetching a Word from Memory </a:t>
            </a:r>
            <a:endParaRPr/>
          </a:p>
        </p:txBody>
      </p:sp>
      <p:sp>
        <p:nvSpPr>
          <p:cNvPr id="366" name="Google Shape;366;p55"/>
          <p:cNvSpPr txBox="1">
            <a:spLocks noGrp="1"/>
          </p:cNvSpPr>
          <p:nvPr>
            <p:ph type="body" idx="1"/>
          </p:nvPr>
        </p:nvSpPr>
        <p:spPr>
          <a:xfrm>
            <a:off x="628650" y="580831"/>
            <a:ext cx="7886700" cy="4051800"/>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To fetch a word of information from memory, the processor has to specify the address of the memory location where this information is stored and request a Read operation.</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It has four control signals: MDRin and MDRout, control the connection to the internal bus, and MDRinE and MDRoutE control the connection to the external bus </a:t>
            </a:r>
            <a:endParaRPr/>
          </a:p>
        </p:txBody>
      </p:sp>
      <p:pic>
        <p:nvPicPr>
          <p:cNvPr id="367" name="Google Shape;367;p55"/>
          <p:cNvPicPr preferRelativeResize="0"/>
          <p:nvPr/>
        </p:nvPicPr>
        <p:blipFill rotWithShape="1">
          <a:blip r:embed="rId3">
            <a:alphaModFix/>
          </a:blip>
          <a:srcRect/>
          <a:stretch/>
        </p:blipFill>
        <p:spPr>
          <a:xfrm>
            <a:off x="2298156" y="1963666"/>
            <a:ext cx="3400022" cy="201393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6"/>
          <p:cNvSpPr txBox="1">
            <a:spLocks noGrp="1"/>
          </p:cNvSpPr>
          <p:nvPr>
            <p:ph type="title"/>
          </p:nvPr>
        </p:nvSpPr>
        <p:spPr>
          <a:xfrm>
            <a:off x="857250" y="257175"/>
            <a:ext cx="5486400" cy="3429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Calibri"/>
              <a:buNone/>
            </a:pPr>
            <a:endParaRPr/>
          </a:p>
        </p:txBody>
      </p:sp>
      <p:sp>
        <p:nvSpPr>
          <p:cNvPr id="373" name="Google Shape;373;p56"/>
          <p:cNvSpPr txBox="1">
            <a:spLocks noGrp="1"/>
          </p:cNvSpPr>
          <p:nvPr>
            <p:ph type="body" idx="1"/>
          </p:nvPr>
        </p:nvSpPr>
        <p:spPr>
          <a:xfrm>
            <a:off x="857250" y="823740"/>
            <a:ext cx="7607185" cy="2756400"/>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Clr>
                <a:srgbClr val="000000"/>
              </a:buClr>
              <a:buSzPts val="1400"/>
              <a:buChar char="●"/>
            </a:pPr>
            <a:r>
              <a:rPr lang="en" sz="1400" b="0" i="0" u="none" strike="noStrike" dirty="0">
                <a:solidFill>
                  <a:srgbClr val="000000"/>
                </a:solidFill>
                <a:latin typeface="Times New Roman"/>
                <a:ea typeface="Times New Roman"/>
                <a:cs typeface="Times New Roman"/>
                <a:sym typeface="Times New Roman"/>
              </a:rPr>
              <a:t>As an example of a read operation, consider the instruction Move (R1),R2. The actions needed to execute this instruction are: </a:t>
            </a:r>
            <a:endParaRPr dirty="0"/>
          </a:p>
          <a:p>
            <a:pPr marL="177800" lvl="0" indent="-177800" algn="l" rtl="0">
              <a:lnSpc>
                <a:spcPct val="90000"/>
              </a:lnSpc>
              <a:spcBef>
                <a:spcPts val="800"/>
              </a:spcBef>
              <a:spcAft>
                <a:spcPts val="0"/>
              </a:spcAft>
              <a:buClr>
                <a:srgbClr val="000000"/>
              </a:buClr>
              <a:buSzPts val="1400"/>
              <a:buChar char="●"/>
            </a:pPr>
            <a:r>
              <a:rPr lang="en" sz="1400" b="0" i="0" u="none" strike="noStrike" dirty="0">
                <a:solidFill>
                  <a:srgbClr val="000000"/>
                </a:solidFill>
                <a:latin typeface="Times New Roman"/>
                <a:ea typeface="Times New Roman"/>
                <a:cs typeface="Times New Roman"/>
                <a:sym typeface="Times New Roman"/>
              </a:rPr>
              <a:t>1. MAR      [RI] </a:t>
            </a:r>
            <a:endParaRPr dirty="0"/>
          </a:p>
          <a:p>
            <a:pPr marL="177800" lvl="0" indent="-177800" algn="l" rtl="0">
              <a:lnSpc>
                <a:spcPct val="90000"/>
              </a:lnSpc>
              <a:spcBef>
                <a:spcPts val="800"/>
              </a:spcBef>
              <a:spcAft>
                <a:spcPts val="0"/>
              </a:spcAft>
              <a:buClr>
                <a:srgbClr val="000000"/>
              </a:buClr>
              <a:buSzPts val="1400"/>
              <a:buChar char="●"/>
            </a:pPr>
            <a:r>
              <a:rPr lang="en" sz="1400" b="0" i="0" u="none" strike="noStrike" dirty="0">
                <a:solidFill>
                  <a:srgbClr val="000000"/>
                </a:solidFill>
                <a:latin typeface="Times New Roman"/>
                <a:ea typeface="Times New Roman"/>
                <a:cs typeface="Times New Roman"/>
                <a:sym typeface="Times New Roman"/>
              </a:rPr>
              <a:t>2. Start a Read operation on the memory bus </a:t>
            </a:r>
            <a:endParaRPr dirty="0"/>
          </a:p>
          <a:p>
            <a:pPr marL="177800" lvl="0" indent="-177800" algn="l" rtl="0">
              <a:lnSpc>
                <a:spcPct val="90000"/>
              </a:lnSpc>
              <a:spcBef>
                <a:spcPts val="800"/>
              </a:spcBef>
              <a:spcAft>
                <a:spcPts val="0"/>
              </a:spcAft>
              <a:buClr>
                <a:srgbClr val="000000"/>
              </a:buClr>
              <a:buSzPts val="1400"/>
              <a:buChar char="●"/>
            </a:pPr>
            <a:r>
              <a:rPr lang="en" sz="1400" b="0" i="0" u="none" strike="noStrike" dirty="0">
                <a:solidFill>
                  <a:srgbClr val="000000"/>
                </a:solidFill>
                <a:latin typeface="Times New Roman"/>
                <a:ea typeface="Times New Roman"/>
                <a:cs typeface="Times New Roman"/>
                <a:sym typeface="Times New Roman"/>
              </a:rPr>
              <a:t>3. Wait for the MFC(Memory Function Completed) response from the memory </a:t>
            </a:r>
            <a:endParaRPr dirty="0"/>
          </a:p>
          <a:p>
            <a:pPr marL="177800" lvl="0" indent="-177800" algn="l" rtl="0">
              <a:lnSpc>
                <a:spcPct val="90000"/>
              </a:lnSpc>
              <a:spcBef>
                <a:spcPts val="800"/>
              </a:spcBef>
              <a:spcAft>
                <a:spcPts val="0"/>
              </a:spcAft>
              <a:buClr>
                <a:srgbClr val="000000"/>
              </a:buClr>
              <a:buSzPts val="1400"/>
              <a:buChar char="●"/>
            </a:pPr>
            <a:r>
              <a:rPr lang="en" sz="1400" b="0" i="0" u="none" strike="noStrike" dirty="0">
                <a:solidFill>
                  <a:srgbClr val="000000"/>
                </a:solidFill>
                <a:latin typeface="Times New Roman"/>
                <a:ea typeface="Times New Roman"/>
                <a:cs typeface="Times New Roman"/>
                <a:sym typeface="Times New Roman"/>
              </a:rPr>
              <a:t>4. Load MDR from the memory bus </a:t>
            </a:r>
            <a:endParaRPr dirty="0"/>
          </a:p>
          <a:p>
            <a:pPr marL="177800" lvl="0" indent="-177800" algn="l" rtl="0">
              <a:lnSpc>
                <a:spcPct val="90000"/>
              </a:lnSpc>
              <a:spcBef>
                <a:spcPts val="800"/>
              </a:spcBef>
              <a:spcAft>
                <a:spcPts val="0"/>
              </a:spcAft>
              <a:buClr>
                <a:srgbClr val="000000"/>
              </a:buClr>
              <a:buSzPts val="1400"/>
              <a:buChar char="●"/>
            </a:pPr>
            <a:r>
              <a:rPr lang="en" sz="1400" b="0" i="0" u="none" strike="noStrike" dirty="0">
                <a:solidFill>
                  <a:srgbClr val="000000"/>
                </a:solidFill>
                <a:latin typeface="Times New Roman"/>
                <a:ea typeface="Times New Roman"/>
                <a:cs typeface="Times New Roman"/>
                <a:sym typeface="Times New Roman"/>
              </a:rPr>
              <a:t>5. R2         [MDR] </a:t>
            </a:r>
            <a:endParaRPr dirty="0"/>
          </a:p>
          <a:p>
            <a:pPr marL="0" lvl="0" indent="0" algn="l" rtl="0">
              <a:lnSpc>
                <a:spcPct val="90000"/>
              </a:lnSpc>
              <a:spcBef>
                <a:spcPts val="800"/>
              </a:spcBef>
              <a:spcAft>
                <a:spcPts val="0"/>
              </a:spcAft>
              <a:buClr>
                <a:schemeClr val="dk1"/>
              </a:buClr>
              <a:buSzPts val="2100"/>
              <a:buNone/>
            </a:pPr>
            <a:endParaRPr dirty="0"/>
          </a:p>
        </p:txBody>
      </p:sp>
      <p:cxnSp>
        <p:nvCxnSpPr>
          <p:cNvPr id="3" name="Straight Arrow Connector 2">
            <a:extLst>
              <a:ext uri="{FF2B5EF4-FFF2-40B4-BE49-F238E27FC236}">
                <a16:creationId xmlns:a16="http://schemas.microsoft.com/office/drawing/2014/main" id="{6980485B-FA70-4C40-B0BA-111505570103}"/>
              </a:ext>
            </a:extLst>
          </p:cNvPr>
          <p:cNvCxnSpPr>
            <a:cxnSpLocks/>
          </p:cNvCxnSpPr>
          <p:nvPr/>
        </p:nvCxnSpPr>
        <p:spPr>
          <a:xfrm flipH="1">
            <a:off x="1704110" y="1421477"/>
            <a:ext cx="17456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ED257ECB-F7E1-473E-BA8C-79A9DDF4DC6A}"/>
              </a:ext>
            </a:extLst>
          </p:cNvPr>
          <p:cNvCxnSpPr>
            <a:cxnSpLocks/>
          </p:cNvCxnSpPr>
          <p:nvPr/>
        </p:nvCxnSpPr>
        <p:spPr>
          <a:xfrm flipH="1">
            <a:off x="1551364" y="2583181"/>
            <a:ext cx="2649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7"/>
          <p:cNvSpPr txBox="1">
            <a:spLocks noGrp="1"/>
          </p:cNvSpPr>
          <p:nvPr>
            <p:ph type="body" idx="1"/>
          </p:nvPr>
        </p:nvSpPr>
        <p:spPr>
          <a:xfrm>
            <a:off x="628650" y="482859"/>
            <a:ext cx="7886700" cy="4149900"/>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memory read operation requires three steps, which can be described by the signals being activated as follows: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1. Rlout, MARin, Read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2. MDRinE, WMFC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3. MDRout, R2in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where WMFC is the control signal that causes the processor's control circuitry to wait for the arrival of the MFC signal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8"/>
          <p:cNvSpPr txBox="1">
            <a:spLocks noGrp="1"/>
          </p:cNvSpPr>
          <p:nvPr>
            <p:ph type="title"/>
          </p:nvPr>
        </p:nvSpPr>
        <p:spPr>
          <a:xfrm>
            <a:off x="628650" y="273844"/>
            <a:ext cx="7886700" cy="335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0000"/>
              </a:buClr>
              <a:buSzPts val="1400"/>
              <a:buFont typeface="Times New Roman"/>
              <a:buNone/>
            </a:pPr>
            <a:r>
              <a:rPr lang="en" sz="1400" b="1" i="1" u="none" strike="noStrike">
                <a:solidFill>
                  <a:srgbClr val="000000"/>
                </a:solidFill>
                <a:latin typeface="Times New Roman"/>
                <a:ea typeface="Times New Roman"/>
                <a:cs typeface="Times New Roman"/>
                <a:sym typeface="Times New Roman"/>
              </a:rPr>
              <a:t>Storing a word in Memory </a:t>
            </a:r>
            <a:endParaRPr/>
          </a:p>
        </p:txBody>
      </p:sp>
      <p:sp>
        <p:nvSpPr>
          <p:cNvPr id="384" name="Google Shape;384;p58"/>
          <p:cNvSpPr txBox="1">
            <a:spLocks noGrp="1"/>
          </p:cNvSpPr>
          <p:nvPr>
            <p:ph type="body" idx="1"/>
          </p:nvPr>
        </p:nvSpPr>
        <p:spPr>
          <a:xfrm>
            <a:off x="628650" y="608823"/>
            <a:ext cx="7886700" cy="40239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Writing a word into a memory location follows a similar procedure.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The desired address is loaded into MAR. Then, the data to be written are loaded into MDR, and a Write command is issued. Hence, executing the instruction Move R2,(R1) requires the following sequence:</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1. R1out, MARin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2. R2out, MDRin, Write </a:t>
            </a:r>
            <a:endParaRPr/>
          </a:p>
          <a:p>
            <a:pPr marL="177800" lvl="0" indent="-177800" algn="just"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3. MDRoutE, WMFC </a:t>
            </a:r>
            <a:endParaRPr/>
          </a:p>
          <a:p>
            <a:pPr marL="177800" lvl="0" indent="-38100" algn="just" rtl="0">
              <a:lnSpc>
                <a:spcPct val="90000"/>
              </a:lnSpc>
              <a:spcBef>
                <a:spcPts val="800"/>
              </a:spcBef>
              <a:spcAft>
                <a:spcPts val="0"/>
              </a:spcAft>
              <a:buClr>
                <a:schemeClr val="dk1"/>
              </a:buClr>
              <a:buSzPts val="210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9"/>
          <p:cNvSpPr txBox="1">
            <a:spLocks noGrp="1"/>
          </p:cNvSpPr>
          <p:nvPr>
            <p:ph type="title"/>
          </p:nvPr>
        </p:nvSpPr>
        <p:spPr>
          <a:xfrm>
            <a:off x="628650" y="273845"/>
            <a:ext cx="7886700" cy="4050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000000"/>
              </a:buClr>
              <a:buSzPts val="1400"/>
              <a:buFont typeface="Times New Roman"/>
              <a:buNone/>
            </a:pPr>
            <a:r>
              <a:rPr lang="en" sz="1400" b="1" i="0" u="none" strike="noStrike">
                <a:solidFill>
                  <a:srgbClr val="000000"/>
                </a:solidFill>
                <a:latin typeface="Times New Roman"/>
                <a:ea typeface="Times New Roman"/>
                <a:cs typeface="Times New Roman"/>
                <a:sym typeface="Times New Roman"/>
              </a:rPr>
              <a:t>EXECUTION OF A COMPLETE INSTRUCTION </a:t>
            </a:r>
            <a:endParaRPr/>
          </a:p>
        </p:txBody>
      </p:sp>
      <p:sp>
        <p:nvSpPr>
          <p:cNvPr id="390" name="Google Shape;390;p59"/>
          <p:cNvSpPr txBox="1">
            <a:spLocks noGrp="1"/>
          </p:cNvSpPr>
          <p:nvPr>
            <p:ph type="body" idx="1"/>
          </p:nvPr>
        </p:nvSpPr>
        <p:spPr>
          <a:xfrm>
            <a:off x="628650" y="902697"/>
            <a:ext cx="7886700" cy="4065900"/>
          </a:xfrm>
          <a:prstGeom prst="rect">
            <a:avLst/>
          </a:prstGeom>
          <a:noFill/>
          <a:ln>
            <a:noFill/>
          </a:ln>
        </p:spPr>
        <p:txBody>
          <a:bodyPr spcFirstLastPara="1" wrap="square" lIns="68575" tIns="34275" rIns="68575" bIns="34275" anchor="t" anchorCtr="0">
            <a:normAutofit/>
          </a:bodyPr>
          <a:lstStyle/>
          <a:p>
            <a:pPr marL="177800" lvl="0" indent="-177800" algn="l" rtl="0">
              <a:lnSpc>
                <a:spcPct val="90000"/>
              </a:lnSpc>
              <a:spcBef>
                <a:spcPts val="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Consider the instruction </a:t>
            </a:r>
            <a:r>
              <a:rPr lang="en" sz="1400" b="1" i="0" u="none" strike="noStrike">
                <a:solidFill>
                  <a:srgbClr val="000000"/>
                </a:solidFill>
                <a:latin typeface="Times New Roman"/>
                <a:ea typeface="Times New Roman"/>
                <a:cs typeface="Times New Roman"/>
                <a:sym typeface="Times New Roman"/>
              </a:rPr>
              <a:t>Add (R3),R1 </a:t>
            </a:r>
            <a:r>
              <a:rPr lang="en" sz="1400" b="0" i="0" u="none" strike="noStrike">
                <a:solidFill>
                  <a:srgbClr val="000000"/>
                </a:solidFill>
                <a:latin typeface="Times New Roman"/>
                <a:ea typeface="Times New Roman"/>
                <a:cs typeface="Times New Roman"/>
                <a:sym typeface="Times New Roman"/>
              </a:rPr>
              <a:t>which adds the contents of a memory location pointed to by R3 to register R 1. Executing this instruction requires the following actions: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1. Fetch the instruction.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2. Fetch the first operand (the contents of the memory location pointed to by R3).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3. Perform the addition. </a:t>
            </a:r>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4. Load the result into RI. </a:t>
            </a:r>
            <a:endParaRPr/>
          </a:p>
          <a:p>
            <a:pPr marL="177800" lvl="0" indent="-88900" algn="l" rtl="0">
              <a:lnSpc>
                <a:spcPct val="90000"/>
              </a:lnSpc>
              <a:spcBef>
                <a:spcPts val="800"/>
              </a:spcBef>
              <a:spcAft>
                <a:spcPts val="0"/>
              </a:spcAft>
              <a:buClr>
                <a:schemeClr val="dk1"/>
              </a:buClr>
              <a:buSzPts val="1400"/>
              <a:buNone/>
            </a:pPr>
            <a:endParaRPr sz="1400" b="0" i="0" u="none" strike="noStrike">
              <a:solidFill>
                <a:srgbClr val="000000"/>
              </a:solidFill>
              <a:latin typeface="Times New Roman"/>
              <a:ea typeface="Times New Roman"/>
              <a:cs typeface="Times New Roman"/>
              <a:sym typeface="Times New Roman"/>
            </a:endParaRPr>
          </a:p>
          <a:p>
            <a:pPr marL="177800" lvl="0" indent="-177800" algn="l" rtl="0">
              <a:lnSpc>
                <a:spcPct val="90000"/>
              </a:lnSpc>
              <a:spcBef>
                <a:spcPts val="800"/>
              </a:spcBef>
              <a:spcAft>
                <a:spcPts val="0"/>
              </a:spcAft>
              <a:buClr>
                <a:srgbClr val="000000"/>
              </a:buClr>
              <a:buSzPts val="1400"/>
              <a:buChar char="●"/>
            </a:pPr>
            <a:r>
              <a:rPr lang="en" sz="1400" b="0" i="0" u="none" strike="noStrike">
                <a:solidFill>
                  <a:srgbClr val="000000"/>
                </a:solidFill>
                <a:latin typeface="Times New Roman"/>
                <a:ea typeface="Times New Roman"/>
                <a:cs typeface="Times New Roman"/>
                <a:sym typeface="Times New Roman"/>
              </a:rPr>
              <a:t>Instruction execution proceeds as follows </a:t>
            </a:r>
            <a:endParaRPr/>
          </a:p>
        </p:txBody>
      </p:sp>
      <p:pic>
        <p:nvPicPr>
          <p:cNvPr id="391" name="Google Shape;391;p59"/>
          <p:cNvPicPr preferRelativeResize="0"/>
          <p:nvPr/>
        </p:nvPicPr>
        <p:blipFill rotWithShape="1">
          <a:blip r:embed="rId3">
            <a:alphaModFix/>
          </a:blip>
          <a:srcRect/>
          <a:stretch/>
        </p:blipFill>
        <p:spPr>
          <a:xfrm>
            <a:off x="4300263" y="2104957"/>
            <a:ext cx="2125013" cy="16613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0"/>
          <p:cNvSpPr txBox="1">
            <a:spLocks noGrp="1"/>
          </p:cNvSpPr>
          <p:nvPr>
            <p:ph type="title"/>
          </p:nvPr>
        </p:nvSpPr>
        <p:spPr>
          <a:xfrm>
            <a:off x="628650" y="273845"/>
            <a:ext cx="7886700" cy="398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1"/>
              </a:buClr>
              <a:buSzPct val="117857"/>
              <a:buFont typeface="Calibri"/>
              <a:buNone/>
            </a:pPr>
            <a:r>
              <a:rPr lang="en"/>
              <a:t>Branch Instruction </a:t>
            </a:r>
            <a:endParaRPr/>
          </a:p>
        </p:txBody>
      </p:sp>
      <p:sp>
        <p:nvSpPr>
          <p:cNvPr id="397" name="Google Shape;397;p60"/>
          <p:cNvSpPr txBox="1">
            <a:spLocks noGrp="1"/>
          </p:cNvSpPr>
          <p:nvPr>
            <p:ph type="body" idx="1"/>
          </p:nvPr>
        </p:nvSpPr>
        <p:spPr>
          <a:xfrm>
            <a:off x="628650" y="818761"/>
            <a:ext cx="7886700" cy="3813900"/>
          </a:xfrm>
          <a:prstGeom prst="rect">
            <a:avLst/>
          </a:prstGeom>
          <a:noFill/>
          <a:ln>
            <a:noFill/>
          </a:ln>
        </p:spPr>
        <p:txBody>
          <a:bodyPr spcFirstLastPara="1" wrap="square" lIns="68575" tIns="34275" rIns="68575" bIns="34275" anchor="t" anchorCtr="0">
            <a:normAutofit/>
          </a:bodyPr>
          <a:lstStyle/>
          <a:p>
            <a:pPr marL="177800" lvl="0" indent="-177800" algn="just" rtl="0">
              <a:lnSpc>
                <a:spcPct val="90000"/>
              </a:lnSpc>
              <a:spcBef>
                <a:spcPts val="0"/>
              </a:spcBef>
              <a:spcAft>
                <a:spcPts val="0"/>
              </a:spcAft>
              <a:buClr>
                <a:schemeClr val="dk1"/>
              </a:buClr>
              <a:buSzPts val="1400"/>
              <a:buChar char="●"/>
            </a:pPr>
            <a:r>
              <a:rPr lang="en" sz="1400"/>
              <a:t>A branch instruction replaces the contents of the PC with the branch target address. </a:t>
            </a:r>
            <a:endParaRPr/>
          </a:p>
          <a:p>
            <a:pPr marL="177800" lvl="0" indent="-177800" algn="just" rtl="0">
              <a:lnSpc>
                <a:spcPct val="90000"/>
              </a:lnSpc>
              <a:spcBef>
                <a:spcPts val="800"/>
              </a:spcBef>
              <a:spcAft>
                <a:spcPts val="0"/>
              </a:spcAft>
              <a:buClr>
                <a:schemeClr val="dk1"/>
              </a:buClr>
              <a:buSzPts val="1400"/>
              <a:buChar char="●"/>
            </a:pPr>
            <a:r>
              <a:rPr lang="en" sz="1400"/>
              <a:t>This address is usually obtained by adding an offset X, which is given in the branch instruction, to the updated value of the PC. Figure gives a control sequence that implements an </a:t>
            </a:r>
            <a:r>
              <a:rPr lang="en" sz="1400" b="1">
                <a:solidFill>
                  <a:srgbClr val="FF0000"/>
                </a:solidFill>
              </a:rPr>
              <a:t>unconditional</a:t>
            </a:r>
            <a:r>
              <a:rPr lang="en" sz="1400"/>
              <a:t> branch instruction. </a:t>
            </a:r>
            <a:endParaRPr/>
          </a:p>
          <a:p>
            <a:pPr marL="177800" lvl="0" indent="-177800" algn="just" rtl="0">
              <a:lnSpc>
                <a:spcPct val="90000"/>
              </a:lnSpc>
              <a:spcBef>
                <a:spcPts val="800"/>
              </a:spcBef>
              <a:spcAft>
                <a:spcPts val="0"/>
              </a:spcAft>
              <a:buClr>
                <a:schemeClr val="dk1"/>
              </a:buClr>
              <a:buSzPts val="1400"/>
              <a:buChar char="●"/>
            </a:pPr>
            <a:r>
              <a:rPr lang="en" sz="1400"/>
              <a:t>Processing starts, as usual, with the fetch phase. This phase ends when the instruction is loaded into the IR in step 3. </a:t>
            </a:r>
            <a:endParaRPr/>
          </a:p>
          <a:p>
            <a:pPr marL="177800" lvl="0" indent="-177800" algn="just" rtl="0">
              <a:lnSpc>
                <a:spcPct val="90000"/>
              </a:lnSpc>
              <a:spcBef>
                <a:spcPts val="800"/>
              </a:spcBef>
              <a:spcAft>
                <a:spcPts val="0"/>
              </a:spcAft>
              <a:buClr>
                <a:schemeClr val="dk1"/>
              </a:buClr>
              <a:buSzPts val="1400"/>
              <a:buChar char="●"/>
            </a:pPr>
            <a:r>
              <a:rPr lang="en" sz="1400"/>
              <a:t>The offset value is extracted from the IR by the instruction decoding circuit, which will also perform sign extension if required. </a:t>
            </a:r>
            <a:endParaRPr/>
          </a:p>
          <a:p>
            <a:pPr marL="177800" lvl="0" indent="-177800" algn="just" rtl="0">
              <a:lnSpc>
                <a:spcPct val="90000"/>
              </a:lnSpc>
              <a:spcBef>
                <a:spcPts val="800"/>
              </a:spcBef>
              <a:spcAft>
                <a:spcPts val="0"/>
              </a:spcAft>
              <a:buClr>
                <a:schemeClr val="dk1"/>
              </a:buClr>
              <a:buSzPts val="1400"/>
              <a:buChar char="●"/>
            </a:pPr>
            <a:r>
              <a:rPr lang="en" sz="1400"/>
              <a:t>Since the value of the updated PC is already available in register Y, the offset X is gated onto the bus in step 4, and an addition operation is performed. The result, which is the branch target address, is loaded into the PC in step 5.</a:t>
            </a:r>
            <a:endParaRPr sz="1400"/>
          </a:p>
        </p:txBody>
      </p:sp>
      <p:pic>
        <p:nvPicPr>
          <p:cNvPr id="398" name="Google Shape;398;p60"/>
          <p:cNvPicPr preferRelativeResize="0"/>
          <p:nvPr/>
        </p:nvPicPr>
        <p:blipFill rotWithShape="1">
          <a:blip r:embed="rId3">
            <a:alphaModFix/>
          </a:blip>
          <a:srcRect/>
          <a:stretch/>
        </p:blipFill>
        <p:spPr>
          <a:xfrm>
            <a:off x="4572000" y="3242126"/>
            <a:ext cx="2086378" cy="13184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9092F-D890-D941-4A19-C29294E28D28}"/>
              </a:ext>
            </a:extLst>
          </p:cNvPr>
          <p:cNvSpPr>
            <a:spLocks noGrp="1"/>
          </p:cNvSpPr>
          <p:nvPr>
            <p:ph idx="1"/>
          </p:nvPr>
        </p:nvSpPr>
        <p:spPr>
          <a:xfrm>
            <a:off x="628650" y="216937"/>
            <a:ext cx="7886700" cy="4415786"/>
          </a:xfrm>
        </p:spPr>
        <p:txBody>
          <a:bodyPr>
            <a:normAutofit fontScale="85000" lnSpcReduction="10000"/>
          </a:bodyPr>
          <a:lstStyle/>
          <a:p>
            <a:pPr marL="0" indent="0">
              <a:buNone/>
            </a:pPr>
            <a:r>
              <a:rPr lang="en-IN" b="1" dirty="0">
                <a:latin typeface="Times New Roman" panose="02020603050405020304" pitchFamily="18" charset="0"/>
                <a:cs typeface="Times New Roman" panose="02020603050405020304" pitchFamily="18" charset="0"/>
              </a:rPr>
              <a:t>MULTIPLE BUS ORGANIZATION </a:t>
            </a:r>
          </a:p>
          <a:p>
            <a:r>
              <a:rPr lang="en-IN" dirty="0">
                <a:latin typeface="Times New Roman" panose="02020603050405020304" pitchFamily="18" charset="0"/>
                <a:cs typeface="Times New Roman" panose="02020603050405020304" pitchFamily="18" charset="0"/>
              </a:rPr>
              <a:t>In single-bus structure only one data item can be transferred over the bus in a clock cycle. </a:t>
            </a:r>
          </a:p>
          <a:p>
            <a:pPr mar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To reduce the number of steps needed, most commercial processors provide multiple internal paths that enable several transfers to take place in parallel. </a:t>
            </a:r>
          </a:p>
          <a:p>
            <a:pPr mar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Figure depicts a three-bus structure used to connect the registers and the ALU of a processor. </a:t>
            </a:r>
          </a:p>
          <a:p>
            <a:pPr mar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register file is said to have three ports. There are two outputs, allowing the contents of two different registers to be accessed simultaneously and have their contents placed on buses A and B.</a:t>
            </a:r>
          </a:p>
          <a:p>
            <a:pPr marL="0"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The third port allows the data on bus C to be loaded into a third register during the same clock cycle. </a:t>
            </a:r>
          </a:p>
        </p:txBody>
      </p:sp>
    </p:spTree>
    <p:extLst>
      <p:ext uri="{BB962C8B-B14F-4D97-AF65-F5344CB8AC3E}">
        <p14:creationId xmlns:p14="http://schemas.microsoft.com/office/powerpoint/2010/main" val="3769182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C2BF5-8FFF-401A-8850-BFFBBF3228B0}"/>
              </a:ext>
            </a:extLst>
          </p:cNvPr>
          <p:cNvSpPr>
            <a:spLocks noGrp="1"/>
          </p:cNvSpPr>
          <p:nvPr>
            <p:ph type="title"/>
          </p:nvPr>
        </p:nvSpPr>
        <p:spPr>
          <a:xfrm flipV="1">
            <a:off x="628650" y="181779"/>
            <a:ext cx="7886700" cy="9206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D5A883E5-9177-4BC1-8A5A-80479515330C}"/>
              </a:ext>
            </a:extLst>
          </p:cNvPr>
          <p:cNvSpPr>
            <a:spLocks noGrp="1"/>
          </p:cNvSpPr>
          <p:nvPr>
            <p:ph idx="1"/>
          </p:nvPr>
        </p:nvSpPr>
        <p:spPr>
          <a:xfrm>
            <a:off x="388345" y="437920"/>
            <a:ext cx="8419641" cy="4523801"/>
          </a:xfrm>
        </p:spPr>
        <p:txBody>
          <a:bodyPr>
            <a:normAutofit/>
          </a:bodyPr>
          <a:lstStyle/>
          <a:p>
            <a:pPr algn="just"/>
            <a:r>
              <a:rPr lang="en-IN" dirty="0">
                <a:latin typeface="Times New Roman" panose="02020603050405020304" pitchFamily="18" charset="0"/>
                <a:cs typeface="Times New Roman" panose="02020603050405020304" pitchFamily="18" charset="0"/>
              </a:rPr>
              <a:t>Buses A and B are used to transfer the source operands to the A and B inputs of the ALU, where an arithmetic or logic operation may be performed. The result is transferred to the destination over bus C. </a:t>
            </a:r>
          </a:p>
          <a:p>
            <a:pPr marL="0" indent="0" algn="just">
              <a:buNone/>
            </a:pP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If needed, the ALU may simply pass one of its two input operands unmodified to bus C. We will call the ALU control signals for such an operation R=A or R=B. The three-bus arrangement obviates the need for registers Y and Z. </a:t>
            </a:r>
          </a:p>
        </p:txBody>
      </p:sp>
    </p:spTree>
    <p:extLst>
      <p:ext uri="{BB962C8B-B14F-4D97-AF65-F5344CB8AC3E}">
        <p14:creationId xmlns:p14="http://schemas.microsoft.com/office/powerpoint/2010/main" val="3028072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458E-956C-4E0B-AB08-74344A7F152E}"/>
              </a:ext>
            </a:extLst>
          </p:cNvPr>
          <p:cNvSpPr>
            <a:spLocks noGrp="1"/>
          </p:cNvSpPr>
          <p:nvPr>
            <p:ph type="title"/>
          </p:nvPr>
        </p:nvSpPr>
        <p:spPr>
          <a:xfrm>
            <a:off x="628650" y="273844"/>
            <a:ext cx="7886700" cy="89713"/>
          </a:xfrm>
        </p:spPr>
        <p:txBody>
          <a:bodyPr>
            <a:normAutofit fontScale="90000"/>
          </a:bodyPr>
          <a:lstStyle/>
          <a:p>
            <a:endParaRPr lang="en-IN" dirty="0"/>
          </a:p>
        </p:txBody>
      </p:sp>
      <p:pic>
        <p:nvPicPr>
          <p:cNvPr id="7" name="Content Placeholder 6">
            <a:extLst>
              <a:ext uri="{FF2B5EF4-FFF2-40B4-BE49-F238E27FC236}">
                <a16:creationId xmlns:a16="http://schemas.microsoft.com/office/drawing/2014/main" id="{67866027-649A-44F5-BAFD-1259857F0AE9}"/>
              </a:ext>
            </a:extLst>
          </p:cNvPr>
          <p:cNvPicPr>
            <a:picLocks noGrp="1" noChangeAspect="1"/>
          </p:cNvPicPr>
          <p:nvPr>
            <p:ph idx="1"/>
          </p:nvPr>
        </p:nvPicPr>
        <p:blipFill>
          <a:blip r:embed="rId2"/>
          <a:stretch>
            <a:fillRect/>
          </a:stretch>
        </p:blipFill>
        <p:spPr>
          <a:xfrm>
            <a:off x="868029" y="363557"/>
            <a:ext cx="3379424" cy="4735088"/>
          </a:xfrm>
          <a:prstGeom prst="rect">
            <a:avLst/>
          </a:prstGeom>
        </p:spPr>
      </p:pic>
      <p:pic>
        <p:nvPicPr>
          <p:cNvPr id="4" name="Content Placeholder 6">
            <a:extLst>
              <a:ext uri="{FF2B5EF4-FFF2-40B4-BE49-F238E27FC236}">
                <a16:creationId xmlns:a16="http://schemas.microsoft.com/office/drawing/2014/main" id="{F7270260-5735-493B-92B2-BB64E9CDF657}"/>
              </a:ext>
            </a:extLst>
          </p:cNvPr>
          <p:cNvPicPr>
            <a:picLocks noChangeAspect="1"/>
          </p:cNvPicPr>
          <p:nvPr/>
        </p:nvPicPr>
        <p:blipFill>
          <a:blip r:embed="rId3"/>
          <a:stretch>
            <a:fillRect/>
          </a:stretch>
        </p:blipFill>
        <p:spPr>
          <a:xfrm>
            <a:off x="4572000" y="992730"/>
            <a:ext cx="3875183" cy="1982915"/>
          </a:xfrm>
          <a:prstGeom prst="rect">
            <a:avLst/>
          </a:prstGeom>
          <a:noFill/>
          <a:ln>
            <a:noFill/>
          </a:ln>
        </p:spPr>
      </p:pic>
    </p:spTree>
    <p:extLst>
      <p:ext uri="{BB962C8B-B14F-4D97-AF65-F5344CB8AC3E}">
        <p14:creationId xmlns:p14="http://schemas.microsoft.com/office/powerpoint/2010/main" val="3835171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B733B-D885-4FFB-B66E-06C7D4E2245D}"/>
              </a:ext>
            </a:extLst>
          </p:cNvPr>
          <p:cNvSpPr>
            <a:spLocks noGrp="1"/>
          </p:cNvSpPr>
          <p:nvPr>
            <p:ph type="title"/>
          </p:nvPr>
        </p:nvSpPr>
        <p:spPr>
          <a:xfrm flipV="1">
            <a:off x="628650" y="239555"/>
            <a:ext cx="7886700" cy="3428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B84BC63F-F485-40C1-A57A-4F2855163E14}"/>
              </a:ext>
            </a:extLst>
          </p:cNvPr>
          <p:cNvSpPr>
            <a:spLocks noGrp="1"/>
          </p:cNvSpPr>
          <p:nvPr>
            <p:ph idx="1"/>
          </p:nvPr>
        </p:nvSpPr>
        <p:spPr>
          <a:xfrm>
            <a:off x="330506" y="463947"/>
            <a:ext cx="8535318" cy="4439999"/>
          </a:xfrm>
        </p:spPr>
        <p:txBody>
          <a:bodyPr>
            <a:normAutofit/>
          </a:bodyPr>
          <a:lstStyle/>
          <a:p>
            <a:pPr algn="just"/>
            <a:r>
              <a:rPr lang="en-IN" dirty="0">
                <a:latin typeface="Times New Roman" panose="02020603050405020304" pitchFamily="18" charset="0"/>
                <a:cs typeface="Times New Roman" panose="02020603050405020304" pitchFamily="18" charset="0"/>
              </a:rPr>
              <a:t>A second feature is the introduction of the </a:t>
            </a:r>
            <a:r>
              <a:rPr lang="en-IN" dirty="0" err="1">
                <a:latin typeface="Times New Roman" panose="02020603050405020304" pitchFamily="18" charset="0"/>
                <a:cs typeface="Times New Roman" panose="02020603050405020304" pitchFamily="18" charset="0"/>
              </a:rPr>
              <a:t>Incrementer</a:t>
            </a:r>
            <a:r>
              <a:rPr lang="en-IN" dirty="0">
                <a:latin typeface="Times New Roman" panose="02020603050405020304" pitchFamily="18" charset="0"/>
                <a:cs typeface="Times New Roman" panose="02020603050405020304" pitchFamily="18" charset="0"/>
              </a:rPr>
              <a:t> unit, which is used to increment the PC by 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Using the </a:t>
            </a:r>
            <a:r>
              <a:rPr lang="en-IN" dirty="0" err="1">
                <a:latin typeface="Times New Roman" panose="02020603050405020304" pitchFamily="18" charset="0"/>
                <a:cs typeface="Times New Roman" panose="02020603050405020304" pitchFamily="18" charset="0"/>
              </a:rPr>
              <a:t>Incrementer</a:t>
            </a:r>
            <a:r>
              <a:rPr lang="en-IN" dirty="0">
                <a:latin typeface="Times New Roman" panose="02020603050405020304" pitchFamily="18" charset="0"/>
                <a:cs typeface="Times New Roman" panose="02020603050405020304" pitchFamily="18" charset="0"/>
              </a:rPr>
              <a:t> eliminates the need to add 4 to the PC using the main ALU. The source for the constant 4 at the ALU input multiplexer is still useful. </a:t>
            </a:r>
          </a:p>
          <a:p>
            <a:pPr algn="just"/>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Consider the three-operand instruction </a:t>
            </a:r>
          </a:p>
          <a:p>
            <a:pPr marL="0" indent="0">
              <a:buNone/>
            </a:pPr>
            <a:r>
              <a:rPr lang="en-IN" b="1" dirty="0">
                <a:latin typeface="Times New Roman" panose="02020603050405020304" pitchFamily="18" charset="0"/>
                <a:cs typeface="Times New Roman" panose="02020603050405020304" pitchFamily="18" charset="0"/>
              </a:rPr>
              <a:t>		Add R4,R5,R6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control sequence for executing this instruction is given as below </a:t>
            </a:r>
          </a:p>
        </p:txBody>
      </p:sp>
    </p:spTree>
    <p:extLst>
      <p:ext uri="{BB962C8B-B14F-4D97-AF65-F5344CB8AC3E}">
        <p14:creationId xmlns:p14="http://schemas.microsoft.com/office/powerpoint/2010/main" val="1665143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0D645-0E7A-4580-97BA-18BB283725C0}"/>
              </a:ext>
            </a:extLst>
          </p:cNvPr>
          <p:cNvSpPr>
            <a:spLocks noGrp="1"/>
          </p:cNvSpPr>
          <p:nvPr>
            <p:ph type="title"/>
          </p:nvPr>
        </p:nvSpPr>
        <p:spPr>
          <a:xfrm>
            <a:off x="628650" y="0"/>
            <a:ext cx="7886700" cy="155814"/>
          </a:xfrm>
        </p:spPr>
        <p:txBody>
          <a:bodyPr>
            <a:normAutofit fontScale="90000"/>
          </a:bodyPr>
          <a:lstStyle/>
          <a:p>
            <a:endParaRPr lang="en-IN" dirty="0"/>
          </a:p>
        </p:txBody>
      </p:sp>
      <p:pic>
        <p:nvPicPr>
          <p:cNvPr id="7" name="Content Placeholder 6">
            <a:extLst>
              <a:ext uri="{FF2B5EF4-FFF2-40B4-BE49-F238E27FC236}">
                <a16:creationId xmlns:a16="http://schemas.microsoft.com/office/drawing/2014/main" id="{CF0C0005-FE94-4557-A32E-CA5BA4B034B5}"/>
              </a:ext>
            </a:extLst>
          </p:cNvPr>
          <p:cNvPicPr>
            <a:picLocks noGrp="1" noChangeAspect="1"/>
          </p:cNvPicPr>
          <p:nvPr>
            <p:ph idx="1"/>
          </p:nvPr>
        </p:nvPicPr>
        <p:blipFill>
          <a:blip r:embed="rId2"/>
          <a:stretch>
            <a:fillRect/>
          </a:stretch>
        </p:blipFill>
        <p:spPr>
          <a:xfrm>
            <a:off x="1949986" y="302773"/>
            <a:ext cx="3875183" cy="1982915"/>
          </a:xfrm>
          <a:prstGeom prst="rect">
            <a:avLst/>
          </a:prstGeom>
        </p:spPr>
      </p:pic>
      <p:sp>
        <p:nvSpPr>
          <p:cNvPr id="8" name="Rectangle 7">
            <a:extLst>
              <a:ext uri="{FF2B5EF4-FFF2-40B4-BE49-F238E27FC236}">
                <a16:creationId xmlns:a16="http://schemas.microsoft.com/office/drawing/2014/main" id="{68487E00-15B6-426B-B650-98AB1F1D6BC1}"/>
              </a:ext>
            </a:extLst>
          </p:cNvPr>
          <p:cNvSpPr/>
          <p:nvPr/>
        </p:nvSpPr>
        <p:spPr>
          <a:xfrm>
            <a:off x="628651" y="2285688"/>
            <a:ext cx="8237174" cy="1754326"/>
          </a:xfrm>
          <a:prstGeom prst="rect">
            <a:avLst/>
          </a:prstGeom>
        </p:spPr>
        <p:txBody>
          <a:bodyPr wrap="square">
            <a:spAutoFit/>
          </a:bodyPr>
          <a:lstStyle/>
          <a:p>
            <a:pPr algn="just"/>
            <a:r>
              <a:rPr lang="en-IN" sz="1800" b="1" i="1" dirty="0">
                <a:latin typeface="Times New Roman" panose="02020603050405020304" pitchFamily="18" charset="0"/>
              </a:rPr>
              <a:t>Step 1: </a:t>
            </a:r>
            <a:r>
              <a:rPr lang="en-IN" sz="1800" dirty="0">
                <a:latin typeface="Times New Roman" panose="02020603050405020304" pitchFamily="18" charset="0"/>
              </a:rPr>
              <a:t>the contents of the PC are passed through the ALU, using the R=B control signal, and loaded into the MAR to start a memory read operation. At the same time the PC is incremented by 4. Note that the value loaded into MAR is the original contents of the PC. The incremented value is loaded into the PC at the end of the clock cycle and will not affect the contents of MAR. </a:t>
            </a:r>
          </a:p>
          <a:p>
            <a:pPr algn="just"/>
            <a:endParaRPr lang="en-IN" sz="1800" b="1" i="1" dirty="0">
              <a:latin typeface="Times New Roman" panose="02020603050405020304" pitchFamily="18" charset="0"/>
            </a:endParaRPr>
          </a:p>
        </p:txBody>
      </p:sp>
    </p:spTree>
    <p:extLst>
      <p:ext uri="{BB962C8B-B14F-4D97-AF65-F5344CB8AC3E}">
        <p14:creationId xmlns:p14="http://schemas.microsoft.com/office/powerpoint/2010/main" val="41418464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FD23E-4A20-4C6B-B90F-D6ADEB30091B}"/>
              </a:ext>
            </a:extLst>
          </p:cNvPr>
          <p:cNvSpPr>
            <a:spLocks noGrp="1"/>
          </p:cNvSpPr>
          <p:nvPr>
            <p:ph type="title"/>
          </p:nvPr>
        </p:nvSpPr>
        <p:spPr>
          <a:xfrm flipV="1">
            <a:off x="628650" y="239555"/>
            <a:ext cx="7886700" cy="3428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1026B02-9818-46BA-80A9-7430E4494BAA}"/>
              </a:ext>
            </a:extLst>
          </p:cNvPr>
          <p:cNvSpPr>
            <a:spLocks noGrp="1"/>
          </p:cNvSpPr>
          <p:nvPr>
            <p:ph idx="1"/>
          </p:nvPr>
        </p:nvSpPr>
        <p:spPr>
          <a:xfrm>
            <a:off x="628650" y="794453"/>
            <a:ext cx="8138022" cy="4109492"/>
          </a:xfrm>
        </p:spPr>
        <p:txBody>
          <a:bodyPr/>
          <a:lstStyle/>
          <a:p>
            <a:pPr algn="just"/>
            <a:r>
              <a:rPr lang="en-IN" b="1" i="1" dirty="0">
                <a:solidFill>
                  <a:srgbClr val="000000"/>
                </a:solidFill>
                <a:latin typeface="Times New Roman" panose="02020603050405020304" pitchFamily="18" charset="0"/>
                <a:cs typeface="Times New Roman" panose="02020603050405020304" pitchFamily="18" charset="0"/>
              </a:rPr>
              <a:t>Step 2: </a:t>
            </a:r>
            <a:r>
              <a:rPr lang="en-IN" dirty="0">
                <a:solidFill>
                  <a:srgbClr val="000000"/>
                </a:solidFill>
                <a:latin typeface="Times New Roman" panose="02020603050405020304" pitchFamily="18" charset="0"/>
                <a:cs typeface="Times New Roman" panose="02020603050405020304" pitchFamily="18" charset="0"/>
              </a:rPr>
              <a:t>the processor waits for MFC and loads the data received into MDR. </a:t>
            </a:r>
          </a:p>
          <a:p>
            <a:pPr algn="just"/>
            <a:endParaRPr lang="en-IN" b="1" i="1" dirty="0">
              <a:solidFill>
                <a:srgbClr val="000000"/>
              </a:solidFill>
              <a:latin typeface="Times New Roman" panose="02020603050405020304" pitchFamily="18" charset="0"/>
              <a:cs typeface="Times New Roman" panose="02020603050405020304" pitchFamily="18" charset="0"/>
            </a:endParaRPr>
          </a:p>
          <a:p>
            <a:pPr algn="just"/>
            <a:r>
              <a:rPr lang="en-IN" b="1" i="1" dirty="0">
                <a:solidFill>
                  <a:srgbClr val="000000"/>
                </a:solidFill>
                <a:latin typeface="Times New Roman" panose="02020603050405020304" pitchFamily="18" charset="0"/>
                <a:cs typeface="Times New Roman" panose="02020603050405020304" pitchFamily="18" charset="0"/>
              </a:rPr>
              <a:t>Step 3: </a:t>
            </a:r>
            <a:r>
              <a:rPr lang="en-IN" dirty="0">
                <a:solidFill>
                  <a:srgbClr val="000000"/>
                </a:solidFill>
                <a:latin typeface="Times New Roman" panose="02020603050405020304" pitchFamily="18" charset="0"/>
                <a:cs typeface="Times New Roman" panose="02020603050405020304" pitchFamily="18" charset="0"/>
              </a:rPr>
              <a:t>Transfers the data received in MDR to IR.</a:t>
            </a:r>
          </a:p>
          <a:p>
            <a:pPr algn="just"/>
            <a:endParaRPr lang="en-IN" dirty="0">
              <a:solidFill>
                <a:srgbClr val="000000"/>
              </a:solidFill>
              <a:latin typeface="Times New Roman" panose="02020603050405020304" pitchFamily="18" charset="0"/>
              <a:cs typeface="Times New Roman" panose="02020603050405020304" pitchFamily="18" charset="0"/>
            </a:endParaRPr>
          </a:p>
          <a:p>
            <a:pPr algn="just"/>
            <a:r>
              <a:rPr lang="en-IN" b="1" i="1" dirty="0">
                <a:solidFill>
                  <a:srgbClr val="000000"/>
                </a:solidFill>
                <a:latin typeface="Times New Roman" panose="02020603050405020304" pitchFamily="18" charset="0"/>
                <a:cs typeface="Times New Roman" panose="02020603050405020304" pitchFamily="18" charset="0"/>
              </a:rPr>
              <a:t>Step 4: </a:t>
            </a:r>
            <a:r>
              <a:rPr lang="en-IN" dirty="0">
                <a:solidFill>
                  <a:srgbClr val="000000"/>
                </a:solidFill>
                <a:latin typeface="Times New Roman" panose="02020603050405020304" pitchFamily="18" charset="0"/>
                <a:cs typeface="Times New Roman" panose="02020603050405020304" pitchFamily="18" charset="0"/>
              </a:rPr>
              <a:t>The execution phase of the instruction requires only one control step to complete. By providing more paths for data transfer a significant reduction in the number of clock cycles needed to execute an instruction is achieved. </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8793526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4961</Words>
  <Application>Microsoft Office PowerPoint</Application>
  <PresentationFormat>On-screen Show (16:9)</PresentationFormat>
  <Paragraphs>339</Paragraphs>
  <Slides>51</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Times New Roman</vt:lpstr>
      <vt:lpstr>Comic Sans MS</vt:lpstr>
      <vt:lpstr>Calibri</vt:lpstr>
      <vt:lpstr>Arial</vt:lpstr>
      <vt:lpstr>Noto Sans Symbols</vt:lpstr>
      <vt:lpstr>Simple Light</vt:lpstr>
      <vt:lpstr>PowerPoint Presentation</vt:lpstr>
      <vt:lpstr>What is a computer?</vt:lpstr>
      <vt:lpstr>FUNCTIONAL UNITS: </vt:lpstr>
      <vt:lpstr>PowerPoint Presentation</vt:lpstr>
      <vt:lpstr>PowerPoint Presentation</vt:lpstr>
      <vt:lpstr>PowerPoint Presentation</vt:lpstr>
      <vt:lpstr>How are the functional units connected? </vt:lpstr>
      <vt:lpstr>Organization of cache and main memory</vt:lpstr>
      <vt:lpstr>PowerPoint Presentation</vt:lpstr>
      <vt:lpstr>Computer Components: Top-Level View</vt:lpstr>
      <vt:lpstr>Basic Operational Concepts</vt:lpstr>
      <vt:lpstr>Registers </vt:lpstr>
      <vt:lpstr>PowerPoint Presentation</vt:lpstr>
      <vt:lpstr>PowerPoint Presentation</vt:lpstr>
      <vt:lpstr>PowerPoint Presentation</vt:lpstr>
      <vt:lpstr>A Partial Program Execution Example</vt:lpstr>
      <vt:lpstr>A Partial Program Execution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PROCESSING UNIT - SOME FUNDAMENTAL CONCEPT</vt:lpstr>
      <vt:lpstr>PowerPoint Presentation</vt:lpstr>
      <vt:lpstr>Internal organization of Processor </vt:lpstr>
      <vt:lpstr>Single Bus organization of Processor</vt:lpstr>
      <vt:lpstr>PowerPoint Presentation</vt:lpstr>
      <vt:lpstr>Register Transfers </vt:lpstr>
      <vt:lpstr>Performing an Arithmetic or Logic Operation </vt:lpstr>
      <vt:lpstr>Fetching a Word from Memory </vt:lpstr>
      <vt:lpstr>PowerPoint Presentation</vt:lpstr>
      <vt:lpstr>PowerPoint Presentation</vt:lpstr>
      <vt:lpstr>Storing a word in Memory </vt:lpstr>
      <vt:lpstr>EXECUTION OF A COMPLETE INSTRUCTION </vt:lpstr>
      <vt:lpstr>Branch Instruction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asha</cp:lastModifiedBy>
  <cp:revision>4</cp:revision>
  <dcterms:modified xsi:type="dcterms:W3CDTF">2023-02-24T08:21:13Z</dcterms:modified>
</cp:coreProperties>
</file>