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47" r:id="rId2"/>
    <p:sldId id="348" r:id="rId3"/>
    <p:sldId id="362" r:id="rId4"/>
    <p:sldId id="363" r:id="rId5"/>
    <p:sldId id="355" r:id="rId6"/>
    <p:sldId id="356" r:id="rId7"/>
    <p:sldId id="357" r:id="rId8"/>
    <p:sldId id="358" r:id="rId9"/>
    <p:sldId id="361" r:id="rId10"/>
    <p:sldId id="364" r:id="rId11"/>
    <p:sldId id="350" r:id="rId12"/>
    <p:sldId id="351" r:id="rId13"/>
    <p:sldId id="352" r:id="rId14"/>
    <p:sldId id="353" r:id="rId15"/>
    <p:sldId id="354" r:id="rId16"/>
    <p:sldId id="349" r:id="rId17"/>
    <p:sldId id="36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59" autoAdjust="0"/>
    <p:restoredTop sz="94660"/>
  </p:normalViewPr>
  <p:slideViewPr>
    <p:cSldViewPr snapToGrid="0">
      <p:cViewPr varScale="1">
        <p:scale>
          <a:sx n="74" d="100"/>
          <a:sy n="74" d="100"/>
        </p:scale>
        <p:origin x="79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AFAEDF-F118-40ED-B2B4-32F4DFFC352F}" type="datetimeFigureOut">
              <a:rPr lang="en-IN" smtClean="0"/>
              <a:t>13-05-2024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130A8C-D578-48E3-94AC-45E9C7DA83D9}" type="slidenum">
              <a:rPr lang="en-IN" smtClean="0"/>
              <a:t>‹#›</a:t>
            </a:fld>
            <a:endParaRPr lang="en-IN"/>
          </a:p>
        </p:txBody>
      </p:sp>
    </p:spTree>
    <p:extLst>
      <p:ext uri="{BB962C8B-B14F-4D97-AF65-F5344CB8AC3E}">
        <p14:creationId xmlns:p14="http://schemas.microsoft.com/office/powerpoint/2010/main" val="852446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 xmlns:a16="http://schemas.microsoft.com/office/drawing/2014/main" id="{03BA4EB7-78D0-4203-8556-A205EB6F61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CD010B-C49A-4C10-9282-8083E1E14DCE}" type="slidenum">
              <a:rPr lang="en-US" altLang="en-US"/>
              <a:pPr eaLnBrk="1" hangingPunct="1"/>
              <a:t>11</a:t>
            </a:fld>
            <a:endParaRPr lang="en-US" altLang="en-US"/>
          </a:p>
        </p:txBody>
      </p:sp>
      <p:sp>
        <p:nvSpPr>
          <p:cNvPr id="86019" name="Rectangle 2">
            <a:extLst>
              <a:ext uri="{FF2B5EF4-FFF2-40B4-BE49-F238E27FC236}">
                <a16:creationId xmlns="" xmlns:a16="http://schemas.microsoft.com/office/drawing/2014/main" id="{B045B79C-8BC5-463D-A4D1-0C01C4582EE2}"/>
              </a:ext>
            </a:extLst>
          </p:cNvPr>
          <p:cNvSpPr>
            <a:spLocks noGrp="1" noRot="1" noChangeAspect="1" noChangeArrowheads="1" noTextEdit="1"/>
          </p:cNvSpPr>
          <p:nvPr>
            <p:ph type="sldImg"/>
          </p:nvPr>
        </p:nvSpPr>
        <p:spPr>
          <a:ln/>
        </p:spPr>
      </p:sp>
      <p:sp>
        <p:nvSpPr>
          <p:cNvPr id="86020" name="Rectangle 3">
            <a:extLst>
              <a:ext uri="{FF2B5EF4-FFF2-40B4-BE49-F238E27FC236}">
                <a16:creationId xmlns="" xmlns:a16="http://schemas.microsoft.com/office/drawing/2014/main" id="{53FA6F42-183C-4777-BA57-6F1227F3C2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37751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 xmlns:a16="http://schemas.microsoft.com/office/drawing/2014/main" id="{C95531C8-9ADA-4426-9865-143F55A5A9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0DE01D-9C68-459F-B9FF-C635B55DABF9}" type="slidenum">
              <a:rPr lang="en-US" altLang="en-US"/>
              <a:pPr eaLnBrk="1" hangingPunct="1"/>
              <a:t>14</a:t>
            </a:fld>
            <a:endParaRPr lang="en-US" altLang="en-US"/>
          </a:p>
        </p:txBody>
      </p:sp>
      <p:sp>
        <p:nvSpPr>
          <p:cNvPr id="87043" name="Rectangle 2">
            <a:extLst>
              <a:ext uri="{FF2B5EF4-FFF2-40B4-BE49-F238E27FC236}">
                <a16:creationId xmlns="" xmlns:a16="http://schemas.microsoft.com/office/drawing/2014/main" id="{4B78BF7E-5E2C-4301-9721-F948936E1359}"/>
              </a:ext>
            </a:extLst>
          </p:cNvPr>
          <p:cNvSpPr>
            <a:spLocks noGrp="1" noRot="1" noChangeAspect="1" noChangeArrowheads="1" noTextEdit="1"/>
          </p:cNvSpPr>
          <p:nvPr>
            <p:ph type="sldImg"/>
          </p:nvPr>
        </p:nvSpPr>
        <p:spPr>
          <a:ln/>
        </p:spPr>
      </p:sp>
      <p:sp>
        <p:nvSpPr>
          <p:cNvPr id="87044" name="Rectangle 3">
            <a:extLst>
              <a:ext uri="{FF2B5EF4-FFF2-40B4-BE49-F238E27FC236}">
                <a16:creationId xmlns="" xmlns:a16="http://schemas.microsoft.com/office/drawing/2014/main" id="{0708E706-E5C6-4033-A3F9-A244BE3854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80403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3323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237941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934471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77CEA2-ED57-4431-849E-CA008CA11F62}" type="datetimeFigureOut">
              <a:rPr lang="en-IN" smtClean="0"/>
              <a:t>13-05-2024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761726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77CEA2-ED57-4431-849E-CA008CA11F62}" type="datetimeFigureOut">
              <a:rPr lang="en-IN" smtClean="0"/>
              <a:t>13-05-2024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808133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77CEA2-ED57-4431-849E-CA008CA11F62}" type="datetimeFigureOut">
              <a:rPr lang="en-IN" smtClean="0"/>
              <a:t>13-05-2024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636759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77CEA2-ED57-4431-849E-CA008CA11F62}" type="datetimeFigureOut">
              <a:rPr lang="en-IN" smtClean="0"/>
              <a:t>13-05-2024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135365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77CEA2-ED57-4431-849E-CA008CA11F62}" type="datetimeFigureOut">
              <a:rPr lang="en-IN" smtClean="0"/>
              <a:t>13-05-2024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720816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77CEA2-ED57-4431-849E-CA008CA11F62}" type="datetimeFigureOut">
              <a:rPr lang="en-IN" smtClean="0"/>
              <a:t>13-05-2024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3064558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3712598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75310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797858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21184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295163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598508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77CEA2-ED57-4431-849E-CA008CA11F62}" type="datetimeFigureOut">
              <a:rPr lang="en-IN" smtClean="0"/>
              <a:t>13-05-2024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6CBED9A-D9F7-4BAF-A05D-D50C05C03F14}" type="slidenum">
              <a:rPr lang="en-IN" smtClean="0"/>
              <a:t>‹#›</a:t>
            </a:fld>
            <a:endParaRPr lang="en-IN"/>
          </a:p>
        </p:txBody>
      </p:sp>
    </p:spTree>
    <p:extLst>
      <p:ext uri="{BB962C8B-B14F-4D97-AF65-F5344CB8AC3E}">
        <p14:creationId xmlns:p14="http://schemas.microsoft.com/office/powerpoint/2010/main" val="1613062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A77CEA2-ED57-4431-849E-CA008CA11F62}" type="datetimeFigureOut">
              <a:rPr lang="en-IN" smtClean="0"/>
              <a:t>13-05-2024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CBED9A-D9F7-4BAF-A05D-D50C05C03F14}" type="slidenum">
              <a:rPr lang="en-IN" smtClean="0"/>
              <a:t>‹#›</a:t>
            </a:fld>
            <a:endParaRPr lang="en-IN"/>
          </a:p>
        </p:txBody>
      </p:sp>
    </p:spTree>
    <p:extLst>
      <p:ext uri="{BB962C8B-B14F-4D97-AF65-F5344CB8AC3E}">
        <p14:creationId xmlns:p14="http://schemas.microsoft.com/office/powerpoint/2010/main" val="8033941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80647"/>
            <a:ext cx="8596668" cy="5560716"/>
          </a:xfrm>
        </p:spPr>
        <p:txBody>
          <a:bodyPr/>
          <a:lstStyle/>
          <a:p>
            <a:pPr marL="0" indent="0">
              <a:buNone/>
            </a:pPr>
            <a:r>
              <a:rPr lang="en-US" b="1" dirty="0" smtClean="0"/>
              <a:t>1</a:t>
            </a:r>
            <a:r>
              <a:rPr lang="en-US" b="1" dirty="0"/>
              <a:t>. For a single bus organization , write the complete control sequence for the following instructions. </a:t>
            </a:r>
            <a:endParaRPr lang="en-US" dirty="0"/>
          </a:p>
          <a:p>
            <a:pPr marL="0" indent="0">
              <a:buNone/>
            </a:pPr>
            <a:r>
              <a:rPr lang="en-US" b="1" dirty="0"/>
              <a:t>a) Add the immediate number NUM to the register R1. </a:t>
            </a:r>
            <a:endParaRPr lang="en-US" dirty="0"/>
          </a:p>
          <a:p>
            <a:endParaRPr lang="en-US" dirty="0"/>
          </a:p>
          <a:p>
            <a:pPr marL="0" indent="0">
              <a:buNone/>
            </a:pPr>
            <a:endParaRPr lang="en-US" dirty="0"/>
          </a:p>
        </p:txBody>
      </p:sp>
      <p:sp>
        <p:nvSpPr>
          <p:cNvPr id="2" name="TextBox 1"/>
          <p:cNvSpPr txBox="1"/>
          <p:nvPr/>
        </p:nvSpPr>
        <p:spPr>
          <a:xfrm>
            <a:off x="832504" y="2177851"/>
            <a:ext cx="7203913" cy="26776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AutoNum type="arabicParenR"/>
            </a:pPr>
            <a:r>
              <a:rPr lang="en-US" sz="2800" dirty="0" smtClean="0"/>
              <a:t>PC out, MAR in, </a:t>
            </a:r>
            <a:r>
              <a:rPr lang="en-US" sz="2800" dirty="0" err="1" smtClean="0"/>
              <a:t>Read,select</a:t>
            </a:r>
            <a:r>
              <a:rPr lang="en-US" sz="2800" dirty="0" smtClean="0"/>
              <a:t> 4,Add,Zin</a:t>
            </a:r>
          </a:p>
          <a:p>
            <a:pPr marL="342900" indent="-342900">
              <a:buAutoNum type="arabicParenR"/>
            </a:pPr>
            <a:r>
              <a:rPr lang="en-US" sz="2800" dirty="0" err="1" smtClean="0"/>
              <a:t>Zout</a:t>
            </a:r>
            <a:r>
              <a:rPr lang="en-US" sz="2800" dirty="0" smtClean="0"/>
              <a:t>, </a:t>
            </a:r>
            <a:r>
              <a:rPr lang="en-US" sz="2800" dirty="0" err="1" smtClean="0"/>
              <a:t>Pcin</a:t>
            </a:r>
            <a:r>
              <a:rPr lang="en-US" sz="2800" dirty="0" smtClean="0"/>
              <a:t>, Yin, </a:t>
            </a:r>
            <a:r>
              <a:rPr lang="en-US" altLang="en-US" sz="2800" dirty="0" err="1">
                <a:solidFill>
                  <a:srgbClr val="0000CC"/>
                </a:solidFill>
              </a:rPr>
              <a:t>MDRinE</a:t>
            </a:r>
            <a:r>
              <a:rPr lang="en-US" altLang="en-US" sz="2800" dirty="0">
                <a:solidFill>
                  <a:srgbClr val="0000CC"/>
                </a:solidFill>
              </a:rPr>
              <a:t> </a:t>
            </a:r>
            <a:r>
              <a:rPr lang="en-US" altLang="en-US" sz="2800" dirty="0" smtClean="0">
                <a:solidFill>
                  <a:srgbClr val="0000CC"/>
                </a:solidFill>
              </a:rPr>
              <a:t>,</a:t>
            </a:r>
            <a:r>
              <a:rPr lang="en-US" sz="2800" dirty="0" smtClean="0"/>
              <a:t>WMFC.</a:t>
            </a:r>
          </a:p>
          <a:p>
            <a:pPr marL="342900" indent="-342900">
              <a:buAutoNum type="arabicParenR"/>
            </a:pPr>
            <a:r>
              <a:rPr lang="en-US" sz="2800" dirty="0" smtClean="0"/>
              <a:t>MDR </a:t>
            </a:r>
            <a:r>
              <a:rPr lang="en-US" sz="2800" dirty="0" err="1" smtClean="0"/>
              <a:t>out,IRin</a:t>
            </a:r>
            <a:endParaRPr lang="en-US" sz="2800" dirty="0" smtClean="0"/>
          </a:p>
          <a:p>
            <a:pPr marL="342900" indent="-342900">
              <a:buAutoNum type="arabicParenR"/>
            </a:pPr>
            <a:r>
              <a:rPr lang="en-US" sz="2800" dirty="0" smtClean="0"/>
              <a:t>IR </a:t>
            </a:r>
            <a:r>
              <a:rPr lang="en-US" sz="2800" dirty="0" err="1" smtClean="0"/>
              <a:t>Num</a:t>
            </a:r>
            <a:r>
              <a:rPr lang="en-US" sz="2800" dirty="0" smtClean="0"/>
              <a:t> out, Yin.</a:t>
            </a:r>
          </a:p>
          <a:p>
            <a:pPr marL="342900" indent="-342900">
              <a:buAutoNum type="arabicParenR"/>
            </a:pPr>
            <a:r>
              <a:rPr lang="en-US" sz="2800" dirty="0" smtClean="0"/>
              <a:t>Select Y, R1out,Add,Zin</a:t>
            </a:r>
          </a:p>
          <a:p>
            <a:pPr marL="342900" indent="-342900">
              <a:buAutoNum type="arabicParenR"/>
            </a:pPr>
            <a:r>
              <a:rPr lang="en-US" sz="2800" dirty="0" err="1" smtClean="0"/>
              <a:t>Zout</a:t>
            </a:r>
            <a:r>
              <a:rPr lang="en-US" sz="2800" dirty="0" smtClean="0"/>
              <a:t>, </a:t>
            </a:r>
            <a:r>
              <a:rPr lang="en-US" sz="2800" dirty="0" err="1" smtClean="0"/>
              <a:t>Rin,End</a:t>
            </a:r>
            <a:endParaRPr lang="en-US" sz="2800" dirty="0"/>
          </a:p>
        </p:txBody>
      </p:sp>
    </p:spTree>
    <p:extLst>
      <p:ext uri="{BB962C8B-B14F-4D97-AF65-F5344CB8AC3E}">
        <p14:creationId xmlns:p14="http://schemas.microsoft.com/office/powerpoint/2010/main" val="3669918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4460" y="300482"/>
            <a:ext cx="4654062"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smtClean="0"/>
              <a:t>ADD (NUM),R1</a:t>
            </a:r>
          </a:p>
          <a:p>
            <a:endParaRPr lang="en-US" dirty="0"/>
          </a:p>
        </p:txBody>
      </p:sp>
      <p:sp>
        <p:nvSpPr>
          <p:cNvPr id="6" name="TextBox 5"/>
          <p:cNvSpPr txBox="1"/>
          <p:nvPr/>
        </p:nvSpPr>
        <p:spPr>
          <a:xfrm>
            <a:off x="135061" y="1146219"/>
            <a:ext cx="7643777" cy="4124206"/>
          </a:xfrm>
          <a:prstGeom prst="rect">
            <a:avLst/>
          </a:prstGeom>
          <a:noFill/>
        </p:spPr>
        <p:txBody>
          <a:bodyPr wrap="square" rtlCol="0">
            <a:spAutoFit/>
          </a:bodyPr>
          <a:lstStyle/>
          <a:p>
            <a:pPr marL="342900" indent="-342900">
              <a:buAutoNum type="arabicParenR"/>
            </a:pPr>
            <a:r>
              <a:rPr lang="en-US" sz="2400" dirty="0"/>
              <a:t>PC out, MAR in, </a:t>
            </a:r>
            <a:r>
              <a:rPr lang="en-US" sz="2400" dirty="0" err="1"/>
              <a:t>Read,select</a:t>
            </a:r>
            <a:r>
              <a:rPr lang="en-US" sz="2400" dirty="0"/>
              <a:t> 4,Add,Zin</a:t>
            </a:r>
          </a:p>
          <a:p>
            <a:pPr marL="342900" indent="-342900">
              <a:buAutoNum type="arabicParenR"/>
            </a:pPr>
            <a:r>
              <a:rPr lang="en-US" sz="2400" dirty="0" err="1"/>
              <a:t>Zout</a:t>
            </a:r>
            <a:r>
              <a:rPr lang="en-US" sz="2400" dirty="0"/>
              <a:t>, </a:t>
            </a:r>
            <a:r>
              <a:rPr lang="en-US" sz="2400" dirty="0" err="1"/>
              <a:t>Pcin</a:t>
            </a:r>
            <a:r>
              <a:rPr lang="en-US" sz="2400" dirty="0"/>
              <a:t>, </a:t>
            </a:r>
            <a:r>
              <a:rPr lang="en-US" sz="2400" dirty="0" smtClean="0"/>
              <a:t>Yin, </a:t>
            </a:r>
            <a:r>
              <a:rPr lang="en-US" altLang="en-US" sz="2400" dirty="0" err="1">
                <a:solidFill>
                  <a:srgbClr val="0000CC"/>
                </a:solidFill>
              </a:rPr>
              <a:t>MDRinE</a:t>
            </a:r>
            <a:r>
              <a:rPr lang="en-US" altLang="en-US" sz="2400" dirty="0">
                <a:solidFill>
                  <a:srgbClr val="0000CC"/>
                </a:solidFill>
              </a:rPr>
              <a:t> </a:t>
            </a:r>
            <a:r>
              <a:rPr lang="en-US" altLang="en-US" sz="2400" dirty="0" smtClean="0">
                <a:solidFill>
                  <a:srgbClr val="0000CC"/>
                </a:solidFill>
              </a:rPr>
              <a:t>,</a:t>
            </a:r>
            <a:r>
              <a:rPr lang="en-US" sz="2400" dirty="0" smtClean="0"/>
              <a:t>WMFC</a:t>
            </a:r>
            <a:r>
              <a:rPr lang="en-US" sz="2400" dirty="0"/>
              <a:t>.</a:t>
            </a:r>
          </a:p>
          <a:p>
            <a:pPr marL="342900" indent="-342900">
              <a:buAutoNum type="arabicParenR"/>
            </a:pPr>
            <a:r>
              <a:rPr lang="en-US" sz="2400" dirty="0"/>
              <a:t>MDR </a:t>
            </a:r>
            <a:r>
              <a:rPr lang="en-US" sz="2400" dirty="0" err="1" smtClean="0"/>
              <a:t>out,IRin</a:t>
            </a:r>
            <a:endParaRPr lang="en-US" sz="2400" dirty="0" smtClean="0"/>
          </a:p>
          <a:p>
            <a:pPr marL="342900" indent="-342900">
              <a:buAutoNum type="arabicParenR"/>
            </a:pPr>
            <a:r>
              <a:rPr lang="en-US" sz="2400" dirty="0" smtClean="0"/>
              <a:t>IR </a:t>
            </a:r>
            <a:r>
              <a:rPr lang="en-US" sz="2400" dirty="0" err="1" smtClean="0"/>
              <a:t>Num</a:t>
            </a:r>
            <a:r>
              <a:rPr lang="en-US" sz="2400" dirty="0" smtClean="0"/>
              <a:t> out, </a:t>
            </a:r>
            <a:r>
              <a:rPr lang="en-US" sz="2400" dirty="0" err="1" smtClean="0"/>
              <a:t>MARin,Read</a:t>
            </a:r>
            <a:endParaRPr lang="en-US" sz="2400" dirty="0" smtClean="0"/>
          </a:p>
          <a:p>
            <a:pPr marL="342900" indent="-342900">
              <a:buAutoNum type="arabicParenR"/>
            </a:pPr>
            <a:r>
              <a:rPr lang="en-US" altLang="en-US" sz="2400" dirty="0" err="1">
                <a:solidFill>
                  <a:srgbClr val="0000CC"/>
                </a:solidFill>
              </a:rPr>
              <a:t>MDRinE</a:t>
            </a:r>
            <a:r>
              <a:rPr lang="en-US" altLang="en-US" sz="2400" dirty="0">
                <a:solidFill>
                  <a:srgbClr val="0000CC"/>
                </a:solidFill>
              </a:rPr>
              <a:t> </a:t>
            </a:r>
            <a:r>
              <a:rPr lang="en-US" altLang="en-US" sz="2400" dirty="0" smtClean="0">
                <a:solidFill>
                  <a:srgbClr val="0000CC"/>
                </a:solidFill>
              </a:rPr>
              <a:t>,</a:t>
            </a:r>
            <a:r>
              <a:rPr lang="en-US" sz="2400" dirty="0" smtClean="0"/>
              <a:t>WMFC, </a:t>
            </a:r>
            <a:r>
              <a:rPr lang="en-US" sz="2400" dirty="0" err="1" smtClean="0"/>
              <a:t>MDRout</a:t>
            </a:r>
            <a:endParaRPr lang="en-US" sz="2400" dirty="0" smtClean="0"/>
          </a:p>
          <a:p>
            <a:pPr marL="342900" indent="-342900">
              <a:buFontTx/>
              <a:buAutoNum type="arabicParenR"/>
            </a:pPr>
            <a:r>
              <a:rPr lang="en-US" sz="2400" dirty="0" smtClean="0"/>
              <a:t>Yin</a:t>
            </a:r>
            <a:r>
              <a:rPr lang="en-US" sz="2400" dirty="0"/>
              <a:t>,</a:t>
            </a:r>
            <a:r>
              <a:rPr lang="en-US" sz="2400" dirty="0" smtClean="0"/>
              <a:t>R1out,</a:t>
            </a:r>
            <a:r>
              <a:rPr lang="en-US" sz="2400" dirty="0"/>
              <a:t> Select Y, </a:t>
            </a:r>
            <a:r>
              <a:rPr lang="en-US" sz="2400" dirty="0" err="1" smtClean="0"/>
              <a:t>Add,Zin</a:t>
            </a:r>
            <a:endParaRPr lang="en-US" sz="2400" dirty="0" smtClean="0"/>
          </a:p>
          <a:p>
            <a:pPr marL="342900" indent="-342900">
              <a:buFontTx/>
              <a:buAutoNum type="arabicParenR"/>
            </a:pPr>
            <a:r>
              <a:rPr lang="en-US" sz="2400" dirty="0" err="1"/>
              <a:t>Zout</a:t>
            </a:r>
            <a:r>
              <a:rPr lang="en-US" sz="2400" dirty="0"/>
              <a:t>, </a:t>
            </a:r>
            <a:r>
              <a:rPr lang="en-US" sz="2400" dirty="0" err="1"/>
              <a:t>Rin,End</a:t>
            </a:r>
            <a:endParaRPr lang="en-US" sz="2400" dirty="0"/>
          </a:p>
          <a:p>
            <a:endParaRPr lang="en-US" sz="2000" dirty="0"/>
          </a:p>
          <a:p>
            <a:pPr marL="342900" indent="-342900">
              <a:buFontTx/>
              <a:buAutoNum type="arabicParenR"/>
            </a:pPr>
            <a:endParaRPr lang="en-US" sz="2000" dirty="0"/>
          </a:p>
          <a:p>
            <a:pPr marL="342900" indent="-342900">
              <a:buFontTx/>
              <a:buAutoNum type="arabicParenR"/>
            </a:pPr>
            <a:endParaRPr lang="en-US" dirty="0" smtClean="0"/>
          </a:p>
          <a:p>
            <a:pPr marL="342900" indent="-342900">
              <a:buAutoNum type="arabicParenR"/>
            </a:pPr>
            <a:endParaRPr lang="en-US" dirty="0"/>
          </a:p>
          <a:p>
            <a:endParaRPr lang="en-US" dirty="0"/>
          </a:p>
        </p:txBody>
      </p:sp>
    </p:spTree>
    <p:extLst>
      <p:ext uri="{BB962C8B-B14F-4D97-AF65-F5344CB8AC3E}">
        <p14:creationId xmlns:p14="http://schemas.microsoft.com/office/powerpoint/2010/main" val="3156624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10356"/>
            <a:ext cx="8596668" cy="454624"/>
          </a:xfrm>
        </p:spPr>
        <p:txBody>
          <a:bodyPr>
            <a:normAutofit fontScale="90000"/>
          </a:bodyPr>
          <a:lstStyle/>
          <a:p>
            <a:r>
              <a:rPr lang="en-US" sz="2800" dirty="0" smtClean="0">
                <a:solidFill>
                  <a:schemeClr val="tx1"/>
                </a:solidFill>
              </a:rPr>
              <a:t>LOAD 10(R2),R1</a:t>
            </a:r>
            <a:endParaRPr lang="en-US" sz="2800" dirty="0">
              <a:solidFill>
                <a:schemeClr val="tx1"/>
              </a:solidFill>
            </a:endParaRPr>
          </a:p>
        </p:txBody>
      </p:sp>
      <p:sp>
        <p:nvSpPr>
          <p:cNvPr id="3" name="Content Placeholder 2"/>
          <p:cNvSpPr>
            <a:spLocks noGrp="1"/>
          </p:cNvSpPr>
          <p:nvPr>
            <p:ph idx="1"/>
          </p:nvPr>
        </p:nvSpPr>
        <p:spPr>
          <a:xfrm>
            <a:off x="3296991" y="2670546"/>
            <a:ext cx="6787166" cy="4946658"/>
          </a:xfrm>
        </p:spPr>
        <p:txBody>
          <a:bodyPr>
            <a:normAutofit/>
          </a:bodyPr>
          <a:lstStyle/>
          <a:p>
            <a:pPr>
              <a:buAutoNum type="arabicParenR"/>
            </a:pPr>
            <a:r>
              <a:rPr lang="en-US" sz="2800" dirty="0"/>
              <a:t>PC out, MAR in, </a:t>
            </a:r>
            <a:r>
              <a:rPr lang="en-US" sz="2800" dirty="0" err="1"/>
              <a:t>Read,select</a:t>
            </a:r>
            <a:r>
              <a:rPr lang="en-US" sz="2800" dirty="0"/>
              <a:t> 4,Add,Zin</a:t>
            </a:r>
          </a:p>
          <a:p>
            <a:pPr>
              <a:buAutoNum type="arabicParenR"/>
            </a:pPr>
            <a:r>
              <a:rPr lang="en-US" sz="2800" dirty="0" err="1"/>
              <a:t>Zout</a:t>
            </a:r>
            <a:r>
              <a:rPr lang="en-US" sz="2800" dirty="0"/>
              <a:t>, </a:t>
            </a:r>
            <a:r>
              <a:rPr lang="en-US" sz="2800" dirty="0" err="1"/>
              <a:t>Pcin</a:t>
            </a:r>
            <a:r>
              <a:rPr lang="en-US" sz="2800" dirty="0"/>
              <a:t>, </a:t>
            </a:r>
            <a:r>
              <a:rPr lang="en-US" sz="2800" dirty="0" err="1" smtClean="0"/>
              <a:t>Yin,WMFC</a:t>
            </a:r>
            <a:r>
              <a:rPr lang="en-US" sz="2800" dirty="0" smtClean="0"/>
              <a:t>.</a:t>
            </a:r>
            <a:endParaRPr lang="en-US" sz="2800" dirty="0"/>
          </a:p>
          <a:p>
            <a:pPr>
              <a:buAutoNum type="arabicParenR"/>
            </a:pPr>
            <a:r>
              <a:rPr lang="en-US" sz="2800" dirty="0"/>
              <a:t>MDR </a:t>
            </a:r>
            <a:r>
              <a:rPr lang="en-US" sz="2800" dirty="0" err="1" smtClean="0"/>
              <a:t>out,IRin</a:t>
            </a:r>
            <a:endParaRPr lang="en-US" sz="2800" dirty="0" smtClean="0"/>
          </a:p>
          <a:p>
            <a:pPr>
              <a:buAutoNum type="arabicParenR"/>
            </a:pPr>
            <a:r>
              <a:rPr lang="en-US" sz="2800" dirty="0" smtClean="0"/>
              <a:t>R2out,Yin,IR10 out</a:t>
            </a:r>
          </a:p>
          <a:p>
            <a:pPr>
              <a:buAutoNum type="arabicParenR"/>
            </a:pPr>
            <a:r>
              <a:rPr lang="en-US" sz="2800" dirty="0" smtClean="0"/>
              <a:t>Select </a:t>
            </a:r>
            <a:r>
              <a:rPr lang="en-US" sz="2800" dirty="0" err="1" smtClean="0"/>
              <a:t>Y,ADD,Zin</a:t>
            </a:r>
            <a:endParaRPr lang="en-US" sz="2800" dirty="0" smtClean="0"/>
          </a:p>
          <a:p>
            <a:pPr>
              <a:buAutoNum type="arabicParenR"/>
            </a:pPr>
            <a:r>
              <a:rPr lang="en-US" sz="2800" dirty="0" err="1" smtClean="0"/>
              <a:t>Zout,MARin,READ</a:t>
            </a:r>
            <a:r>
              <a:rPr lang="en-US" sz="2800" dirty="0" smtClean="0"/>
              <a:t>,</a:t>
            </a:r>
          </a:p>
          <a:p>
            <a:pPr>
              <a:buAutoNum type="arabicParenR"/>
            </a:pPr>
            <a:r>
              <a:rPr lang="en-US" sz="2800" dirty="0" smtClean="0"/>
              <a:t>WMFC,MDRout,R1in,End</a:t>
            </a:r>
          </a:p>
          <a:p>
            <a:pPr marL="0" indent="0">
              <a:buNone/>
            </a:pPr>
            <a:endParaRPr lang="en-US" sz="2800" dirty="0"/>
          </a:p>
        </p:txBody>
      </p:sp>
      <p:sp>
        <p:nvSpPr>
          <p:cNvPr id="4" name="Rectangle 3"/>
          <p:cNvSpPr/>
          <p:nvPr/>
        </p:nvSpPr>
        <p:spPr>
          <a:xfrm>
            <a:off x="882810" y="929099"/>
            <a:ext cx="7552852" cy="1477328"/>
          </a:xfrm>
          <a:prstGeom prst="rect">
            <a:avLst/>
          </a:prstGeom>
        </p:spPr>
        <p:txBody>
          <a:bodyPr wrap="square">
            <a:spAutoFit/>
          </a:bodyPr>
          <a:lstStyle/>
          <a:p>
            <a:pPr>
              <a:buFont typeface="+mj-lt"/>
              <a:buAutoNum type="arabicPeriod"/>
            </a:pPr>
            <a:r>
              <a:rPr lang="en-US" dirty="0">
                <a:solidFill>
                  <a:srgbClr val="0D0D0D"/>
                </a:solidFill>
                <a:latin typeface="Söhne"/>
              </a:rPr>
              <a:t>MAR ← R2 + 10 (Calculate the effective address by adding the content of Register R2 and the offset 10)</a:t>
            </a:r>
          </a:p>
          <a:p>
            <a:pPr>
              <a:buFont typeface="+mj-lt"/>
              <a:buAutoNum type="arabicPeriod"/>
            </a:pPr>
            <a:r>
              <a:rPr lang="en-US" dirty="0" smtClean="0">
                <a:solidFill>
                  <a:srgbClr val="0D0D0D"/>
                </a:solidFill>
                <a:latin typeface="Söhne"/>
              </a:rPr>
              <a:t>MDR </a:t>
            </a:r>
            <a:r>
              <a:rPr lang="en-US" dirty="0">
                <a:solidFill>
                  <a:srgbClr val="0D0D0D"/>
                </a:solidFill>
                <a:latin typeface="Söhne"/>
              </a:rPr>
              <a:t>← Memory[MAR] (Read the content of memory at the calculated address and store it in the Memory </a:t>
            </a:r>
            <a:r>
              <a:rPr lang="en-US" dirty="0" smtClean="0">
                <a:solidFill>
                  <a:srgbClr val="0D0D0D"/>
                </a:solidFill>
                <a:latin typeface="Söhne"/>
              </a:rPr>
              <a:t>DATA </a:t>
            </a:r>
            <a:r>
              <a:rPr lang="en-US" dirty="0">
                <a:solidFill>
                  <a:srgbClr val="0D0D0D"/>
                </a:solidFill>
                <a:latin typeface="Söhne"/>
              </a:rPr>
              <a:t>Register </a:t>
            </a:r>
            <a:r>
              <a:rPr lang="en-US" dirty="0" smtClean="0">
                <a:solidFill>
                  <a:srgbClr val="0D0D0D"/>
                </a:solidFill>
                <a:latin typeface="Söhne"/>
              </a:rPr>
              <a:t>MDR</a:t>
            </a:r>
            <a:r>
              <a:rPr lang="en-US" dirty="0">
                <a:solidFill>
                  <a:srgbClr val="0D0D0D"/>
                </a:solidFill>
                <a:latin typeface="Söhne"/>
              </a:rPr>
              <a:t>)</a:t>
            </a:r>
          </a:p>
          <a:p>
            <a:pPr>
              <a:buFont typeface="+mj-lt"/>
              <a:buAutoNum type="arabicPeriod"/>
            </a:pPr>
            <a:r>
              <a:rPr lang="en-US" dirty="0">
                <a:solidFill>
                  <a:srgbClr val="0D0D0D"/>
                </a:solidFill>
                <a:latin typeface="Söhne"/>
              </a:rPr>
              <a:t>R1 ← </a:t>
            </a:r>
            <a:r>
              <a:rPr lang="en-US" dirty="0" smtClean="0">
                <a:solidFill>
                  <a:srgbClr val="0D0D0D"/>
                </a:solidFill>
                <a:latin typeface="Söhne"/>
              </a:rPr>
              <a:t>MDR </a:t>
            </a:r>
            <a:r>
              <a:rPr lang="en-US" dirty="0">
                <a:solidFill>
                  <a:srgbClr val="0D0D0D"/>
                </a:solidFill>
                <a:latin typeface="Söhne"/>
              </a:rPr>
              <a:t>(Copy the data from MBR to Register R1)</a:t>
            </a:r>
            <a:endParaRPr lang="en-US" b="0" i="0" dirty="0">
              <a:solidFill>
                <a:srgbClr val="0D0D0D"/>
              </a:solidFill>
              <a:effectLst/>
              <a:latin typeface="Söhne"/>
            </a:endParaRPr>
          </a:p>
        </p:txBody>
      </p:sp>
    </p:spTree>
    <p:extLst>
      <p:ext uri="{BB962C8B-B14F-4D97-AF65-F5344CB8AC3E}">
        <p14:creationId xmlns:p14="http://schemas.microsoft.com/office/powerpoint/2010/main" val="2841076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42175"/>
            <a:ext cx="8596668" cy="652529"/>
          </a:xfrm>
        </p:spPr>
        <p:txBody>
          <a:bodyPr>
            <a:normAutofit/>
          </a:bodyPr>
          <a:lstStyle/>
          <a:p>
            <a:r>
              <a:rPr lang="en-US" sz="2800" dirty="0" smtClean="0">
                <a:solidFill>
                  <a:schemeClr val="tx1"/>
                </a:solidFill>
              </a:rPr>
              <a:t>STORE R1,10(R2)</a:t>
            </a:r>
            <a:endParaRPr lang="en-US" sz="2800" dirty="0">
              <a:solidFill>
                <a:schemeClr val="tx1"/>
              </a:solidFill>
            </a:endParaRPr>
          </a:p>
        </p:txBody>
      </p:sp>
      <p:sp>
        <p:nvSpPr>
          <p:cNvPr id="3" name="Content Placeholder 2"/>
          <p:cNvSpPr>
            <a:spLocks noGrp="1"/>
          </p:cNvSpPr>
          <p:nvPr>
            <p:ph idx="1"/>
          </p:nvPr>
        </p:nvSpPr>
        <p:spPr>
          <a:xfrm>
            <a:off x="677334" y="1094705"/>
            <a:ext cx="8596668" cy="4946658"/>
          </a:xfrm>
        </p:spPr>
        <p:txBody>
          <a:bodyPr>
            <a:normAutofit lnSpcReduction="10000"/>
          </a:bodyPr>
          <a:lstStyle/>
          <a:p>
            <a:pPr>
              <a:buAutoNum type="arabicParenR"/>
            </a:pPr>
            <a:r>
              <a:rPr lang="en-US" sz="2800" dirty="0"/>
              <a:t>PC out, MAR in, </a:t>
            </a:r>
            <a:r>
              <a:rPr lang="en-US" sz="2800" dirty="0" err="1"/>
              <a:t>Read,select</a:t>
            </a:r>
            <a:r>
              <a:rPr lang="en-US" sz="2800" dirty="0"/>
              <a:t> 4,Add,Zin</a:t>
            </a:r>
          </a:p>
          <a:p>
            <a:pPr>
              <a:buAutoNum type="arabicParenR"/>
            </a:pPr>
            <a:r>
              <a:rPr lang="en-US" sz="2800" dirty="0" err="1"/>
              <a:t>Zout</a:t>
            </a:r>
            <a:r>
              <a:rPr lang="en-US" sz="2800" dirty="0"/>
              <a:t>, </a:t>
            </a:r>
            <a:r>
              <a:rPr lang="en-US" sz="2800" dirty="0" err="1"/>
              <a:t>Pcin</a:t>
            </a:r>
            <a:r>
              <a:rPr lang="en-US" sz="2800" dirty="0"/>
              <a:t>, </a:t>
            </a:r>
            <a:r>
              <a:rPr lang="en-US" sz="2800" dirty="0" err="1" smtClean="0"/>
              <a:t>Yin,WMFC</a:t>
            </a:r>
            <a:r>
              <a:rPr lang="en-US" sz="2800" dirty="0"/>
              <a:t>.</a:t>
            </a:r>
          </a:p>
          <a:p>
            <a:pPr>
              <a:buAutoNum type="arabicParenR"/>
            </a:pPr>
            <a:r>
              <a:rPr lang="en-US" sz="2800" dirty="0"/>
              <a:t>MDR </a:t>
            </a:r>
            <a:r>
              <a:rPr lang="en-US" sz="2800" dirty="0" err="1" smtClean="0"/>
              <a:t>out,IRin</a:t>
            </a:r>
            <a:endParaRPr lang="en-US" sz="2800" dirty="0" smtClean="0"/>
          </a:p>
          <a:p>
            <a:pPr>
              <a:buAutoNum type="arabicParenR"/>
            </a:pPr>
            <a:r>
              <a:rPr lang="en-US" sz="2800" dirty="0"/>
              <a:t>R2out,Yin,IR10 out</a:t>
            </a:r>
          </a:p>
          <a:p>
            <a:pPr>
              <a:buAutoNum type="arabicParenR"/>
            </a:pPr>
            <a:r>
              <a:rPr lang="en-US" sz="2800" dirty="0"/>
              <a:t>Select </a:t>
            </a:r>
            <a:r>
              <a:rPr lang="en-US" sz="2800" dirty="0" err="1"/>
              <a:t>Y,ADD,Zin</a:t>
            </a:r>
            <a:endParaRPr lang="en-US" sz="2800" dirty="0"/>
          </a:p>
          <a:p>
            <a:pPr>
              <a:buAutoNum type="arabicParenR"/>
            </a:pPr>
            <a:r>
              <a:rPr lang="en-US" sz="2800" dirty="0" err="1" smtClean="0"/>
              <a:t>Zout,MARin</a:t>
            </a:r>
            <a:r>
              <a:rPr lang="en-US" sz="2800" dirty="0" smtClean="0"/>
              <a:t>,</a:t>
            </a:r>
          </a:p>
          <a:p>
            <a:pPr>
              <a:buAutoNum type="arabicParenR"/>
            </a:pPr>
            <a:r>
              <a:rPr lang="en-US" sz="2800" dirty="0" smtClean="0"/>
              <a:t>R1out,Yin</a:t>
            </a:r>
          </a:p>
          <a:p>
            <a:pPr>
              <a:buAutoNum type="arabicParenR"/>
            </a:pPr>
            <a:r>
              <a:rPr lang="en-US" sz="2800" dirty="0" err="1" smtClean="0"/>
              <a:t>MDRin</a:t>
            </a:r>
            <a:r>
              <a:rPr lang="en-US" sz="2800" dirty="0" smtClean="0"/>
              <a:t>, </a:t>
            </a:r>
            <a:r>
              <a:rPr lang="en-US" sz="2800" dirty="0" err="1" smtClean="0"/>
              <a:t>MDRout,write</a:t>
            </a:r>
            <a:endParaRPr lang="en-US" sz="2800" dirty="0" smtClean="0"/>
          </a:p>
          <a:p>
            <a:pPr>
              <a:buAutoNum type="arabicParenR"/>
            </a:pPr>
            <a:r>
              <a:rPr lang="en-US" sz="2800" dirty="0" err="1" smtClean="0"/>
              <a:t>WMFC,End</a:t>
            </a:r>
            <a:endParaRPr lang="en-US" sz="2800" dirty="0" smtClean="0"/>
          </a:p>
          <a:p>
            <a:pPr marL="0" indent="0">
              <a:buNone/>
            </a:pPr>
            <a:endParaRPr lang="en-US" sz="2800" dirty="0"/>
          </a:p>
        </p:txBody>
      </p:sp>
    </p:spTree>
    <p:extLst>
      <p:ext uri="{BB962C8B-B14F-4D97-AF65-F5344CB8AC3E}">
        <p14:creationId xmlns:p14="http://schemas.microsoft.com/office/powerpoint/2010/main" val="42956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4431"/>
            <a:ext cx="8596668" cy="5466931"/>
          </a:xfrm>
        </p:spPr>
        <p:txBody>
          <a:bodyPr/>
          <a:lstStyle/>
          <a:p>
            <a:pPr marL="0" indent="0">
              <a:buNone/>
            </a:pPr>
            <a:r>
              <a:rPr lang="en-US" b="1" dirty="0" smtClean="0"/>
              <a:t>DIV R1,(R2) using single bus</a:t>
            </a:r>
          </a:p>
          <a:p>
            <a:pPr>
              <a:buAutoNum type="arabicParenR"/>
            </a:pPr>
            <a:r>
              <a:rPr lang="en-US" sz="2400" dirty="0"/>
              <a:t>PC out, MAR in, </a:t>
            </a:r>
            <a:r>
              <a:rPr lang="en-US" sz="2400" dirty="0" err="1"/>
              <a:t>Read,select</a:t>
            </a:r>
            <a:r>
              <a:rPr lang="en-US" sz="2400" dirty="0"/>
              <a:t> 4,Add,Zin</a:t>
            </a:r>
          </a:p>
          <a:p>
            <a:pPr>
              <a:buAutoNum type="arabicParenR"/>
            </a:pPr>
            <a:r>
              <a:rPr lang="en-US" sz="2400" dirty="0" err="1"/>
              <a:t>Zout</a:t>
            </a:r>
            <a:r>
              <a:rPr lang="en-US" sz="2400" dirty="0"/>
              <a:t>, </a:t>
            </a:r>
            <a:r>
              <a:rPr lang="en-US" sz="2400" dirty="0" err="1"/>
              <a:t>Pcin</a:t>
            </a:r>
            <a:r>
              <a:rPr lang="en-US" sz="2400" dirty="0"/>
              <a:t>, </a:t>
            </a:r>
            <a:r>
              <a:rPr lang="en-US" sz="2400" dirty="0" err="1" smtClean="0"/>
              <a:t>Yi,WMFC</a:t>
            </a:r>
            <a:r>
              <a:rPr lang="en-US" sz="2400" dirty="0"/>
              <a:t>.</a:t>
            </a:r>
          </a:p>
          <a:p>
            <a:pPr>
              <a:buAutoNum type="arabicParenR"/>
            </a:pPr>
            <a:r>
              <a:rPr lang="en-US" sz="2400" dirty="0"/>
              <a:t>MDR </a:t>
            </a:r>
            <a:r>
              <a:rPr lang="en-US" sz="2400" dirty="0" err="1" smtClean="0"/>
              <a:t>out,IRin</a:t>
            </a:r>
            <a:endParaRPr lang="en-US" sz="2400" dirty="0" smtClean="0"/>
          </a:p>
          <a:p>
            <a:pPr>
              <a:buAutoNum type="arabicParenR"/>
            </a:pPr>
            <a:r>
              <a:rPr lang="en-US" sz="2400" dirty="0" smtClean="0"/>
              <a:t>R2out,MAR </a:t>
            </a:r>
            <a:r>
              <a:rPr lang="en-US" sz="2400" dirty="0" err="1" smtClean="0"/>
              <a:t>in,READ</a:t>
            </a:r>
            <a:endParaRPr lang="en-US" sz="2400" dirty="0" smtClean="0"/>
          </a:p>
          <a:p>
            <a:pPr>
              <a:buAutoNum type="arabicParenR"/>
            </a:pPr>
            <a:r>
              <a:rPr lang="en-US" sz="2400" dirty="0" smtClean="0"/>
              <a:t>R1out, Yin, WMFC</a:t>
            </a:r>
          </a:p>
          <a:p>
            <a:pPr>
              <a:buAutoNum type="arabicParenR"/>
            </a:pPr>
            <a:r>
              <a:rPr lang="en-US" sz="2400" dirty="0" smtClean="0"/>
              <a:t>MDR out, select y, DIV, </a:t>
            </a:r>
            <a:r>
              <a:rPr lang="en-US" sz="2400" dirty="0" err="1" smtClean="0"/>
              <a:t>Zin</a:t>
            </a:r>
            <a:endParaRPr lang="en-US" sz="2400" dirty="0" smtClean="0"/>
          </a:p>
          <a:p>
            <a:pPr>
              <a:buAutoNum type="arabicParenR"/>
            </a:pPr>
            <a:r>
              <a:rPr lang="en-US" sz="2400" dirty="0" err="1" smtClean="0"/>
              <a:t>Zout</a:t>
            </a:r>
            <a:r>
              <a:rPr lang="en-US" sz="2400" dirty="0" smtClean="0"/>
              <a:t>, MDR in, write</a:t>
            </a:r>
          </a:p>
          <a:p>
            <a:pPr>
              <a:buAutoNum type="arabicParenR"/>
            </a:pPr>
            <a:r>
              <a:rPr lang="en-US" sz="2400" dirty="0" smtClean="0"/>
              <a:t>WMFC, END</a:t>
            </a:r>
            <a:endParaRPr lang="en-US" sz="2400" dirty="0"/>
          </a:p>
          <a:p>
            <a:pPr marL="0" indent="0">
              <a:buNone/>
            </a:pPr>
            <a:endParaRPr lang="en-US" sz="2400" dirty="0" smtClean="0"/>
          </a:p>
          <a:p>
            <a:pPr marL="0" indent="0">
              <a:buNone/>
            </a:pPr>
            <a:r>
              <a:rPr lang="en-US" sz="2400" dirty="0" smtClean="0"/>
              <a:t> </a:t>
            </a:r>
          </a:p>
          <a:p>
            <a:pPr marL="0" indent="0">
              <a:buNone/>
            </a:pPr>
            <a:endParaRPr lang="en-US" dirty="0"/>
          </a:p>
        </p:txBody>
      </p:sp>
    </p:spTree>
    <p:extLst>
      <p:ext uri="{BB962C8B-B14F-4D97-AF65-F5344CB8AC3E}">
        <p14:creationId xmlns:p14="http://schemas.microsoft.com/office/powerpoint/2010/main" val="2136241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433755"/>
            <a:ext cx="8596668" cy="5607608"/>
          </a:xfrm>
        </p:spPr>
        <p:txBody>
          <a:bodyPr/>
          <a:lstStyle/>
          <a:p>
            <a:pPr marL="0" indent="0">
              <a:buNone/>
            </a:pPr>
            <a:r>
              <a:rPr lang="en-US" b="1" dirty="0" smtClean="0"/>
              <a:t>STORE R6,(R8)</a:t>
            </a:r>
          </a:p>
          <a:p>
            <a:pPr marL="0" indent="0">
              <a:buNone/>
            </a:pPr>
            <a:endParaRPr lang="en-US" dirty="0" smtClean="0"/>
          </a:p>
          <a:p>
            <a:pPr>
              <a:buAutoNum type="arabicParenR"/>
            </a:pPr>
            <a:r>
              <a:rPr lang="en-US" sz="2800" dirty="0" smtClean="0"/>
              <a:t>PC </a:t>
            </a:r>
            <a:r>
              <a:rPr lang="en-US" sz="2800" dirty="0"/>
              <a:t>out, MAR in, </a:t>
            </a:r>
            <a:r>
              <a:rPr lang="en-US" sz="2800" dirty="0" err="1"/>
              <a:t>Read,select</a:t>
            </a:r>
            <a:r>
              <a:rPr lang="en-US" sz="2800" dirty="0"/>
              <a:t> 4,Add,Zin</a:t>
            </a:r>
          </a:p>
          <a:p>
            <a:pPr>
              <a:buAutoNum type="arabicParenR"/>
            </a:pPr>
            <a:r>
              <a:rPr lang="en-US" sz="2800" dirty="0" err="1"/>
              <a:t>Zout</a:t>
            </a:r>
            <a:r>
              <a:rPr lang="en-US" sz="2800" dirty="0"/>
              <a:t>, </a:t>
            </a:r>
            <a:r>
              <a:rPr lang="en-US" sz="2800" dirty="0" err="1"/>
              <a:t>Pcin</a:t>
            </a:r>
            <a:r>
              <a:rPr lang="en-US" sz="2800" dirty="0"/>
              <a:t>, </a:t>
            </a:r>
            <a:r>
              <a:rPr lang="en-US" sz="2800" dirty="0" err="1" smtClean="0"/>
              <a:t>Yin,WMFC</a:t>
            </a:r>
            <a:r>
              <a:rPr lang="en-US" sz="2800" dirty="0"/>
              <a:t>.</a:t>
            </a:r>
          </a:p>
          <a:p>
            <a:pPr>
              <a:buAutoNum type="arabicParenR"/>
            </a:pPr>
            <a:r>
              <a:rPr lang="en-US" sz="2800" dirty="0"/>
              <a:t>MDR </a:t>
            </a:r>
            <a:r>
              <a:rPr lang="en-US" sz="2800" dirty="0" err="1" smtClean="0"/>
              <a:t>out,IRin</a:t>
            </a:r>
            <a:endParaRPr lang="en-US" sz="2800" dirty="0" smtClean="0"/>
          </a:p>
          <a:p>
            <a:pPr>
              <a:buAutoNum type="arabicParenR"/>
            </a:pPr>
            <a:r>
              <a:rPr lang="en-US" sz="2800" dirty="0" smtClean="0"/>
              <a:t>R8 </a:t>
            </a:r>
            <a:r>
              <a:rPr lang="en-US" sz="2800" dirty="0" err="1" smtClean="0"/>
              <a:t>out,MAR</a:t>
            </a:r>
            <a:r>
              <a:rPr lang="en-US" sz="2800" dirty="0" smtClean="0"/>
              <a:t> in</a:t>
            </a:r>
          </a:p>
          <a:p>
            <a:pPr>
              <a:buAutoNum type="arabicParenR"/>
            </a:pPr>
            <a:r>
              <a:rPr lang="en-US" sz="2800" dirty="0" smtClean="0"/>
              <a:t>R6out,MDR </a:t>
            </a:r>
            <a:r>
              <a:rPr lang="en-US" sz="2800" dirty="0" err="1" smtClean="0"/>
              <a:t>in,write</a:t>
            </a:r>
            <a:endParaRPr lang="en-US" sz="2800" dirty="0"/>
          </a:p>
          <a:p>
            <a:pPr>
              <a:buAutoNum type="arabicParenR"/>
            </a:pPr>
            <a:r>
              <a:rPr lang="en-US" sz="2800" dirty="0" smtClean="0"/>
              <a:t>MDR </a:t>
            </a:r>
            <a:r>
              <a:rPr lang="en-US" sz="2800" dirty="0" err="1" smtClean="0"/>
              <a:t>outE,WMFC,END</a:t>
            </a:r>
            <a:endParaRPr lang="en-US" sz="2800" dirty="0"/>
          </a:p>
          <a:p>
            <a:pPr marL="0" indent="0">
              <a:buNone/>
            </a:pPr>
            <a:endParaRPr lang="en-US" dirty="0"/>
          </a:p>
        </p:txBody>
      </p:sp>
    </p:spTree>
    <p:extLst>
      <p:ext uri="{BB962C8B-B14F-4D97-AF65-F5344CB8AC3E}">
        <p14:creationId xmlns:p14="http://schemas.microsoft.com/office/powerpoint/2010/main" val="1010252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888" y="304800"/>
            <a:ext cx="8596668" cy="574431"/>
          </a:xfrm>
        </p:spPr>
        <p:txBody>
          <a:bodyPr>
            <a:normAutofit fontScale="90000"/>
          </a:bodyPr>
          <a:lstStyle/>
          <a:p>
            <a:r>
              <a:rPr lang="en-US" b="1" dirty="0"/>
              <a:t>STORE </a:t>
            </a:r>
            <a:r>
              <a:rPr lang="en-US" b="1" dirty="0" smtClean="0"/>
              <a:t>R6,X(R8</a:t>
            </a:r>
            <a:r>
              <a:rPr lang="en-US" b="1" dirty="0"/>
              <a:t>)</a:t>
            </a:r>
            <a:br>
              <a:rPr lang="en-US" b="1" dirty="0"/>
            </a:br>
            <a:endParaRPr lang="en-US" dirty="0"/>
          </a:p>
        </p:txBody>
      </p:sp>
      <p:sp>
        <p:nvSpPr>
          <p:cNvPr id="3" name="Content Placeholder 2"/>
          <p:cNvSpPr>
            <a:spLocks noGrp="1"/>
          </p:cNvSpPr>
          <p:nvPr>
            <p:ph idx="1"/>
          </p:nvPr>
        </p:nvSpPr>
        <p:spPr>
          <a:xfrm>
            <a:off x="677334" y="1219199"/>
            <a:ext cx="8596668" cy="4822163"/>
          </a:xfrm>
        </p:spPr>
        <p:txBody>
          <a:bodyPr/>
          <a:lstStyle/>
          <a:p>
            <a:pPr>
              <a:buAutoNum type="arabicParenR"/>
            </a:pPr>
            <a:r>
              <a:rPr lang="en-US" sz="2000" dirty="0"/>
              <a:t>PC out, MAR in, </a:t>
            </a:r>
            <a:r>
              <a:rPr lang="en-US" sz="2000" dirty="0" err="1"/>
              <a:t>Read,select</a:t>
            </a:r>
            <a:r>
              <a:rPr lang="en-US" sz="2000" dirty="0"/>
              <a:t> 4,Add,Zin</a:t>
            </a:r>
          </a:p>
          <a:p>
            <a:pPr>
              <a:buAutoNum type="arabicParenR"/>
            </a:pPr>
            <a:r>
              <a:rPr lang="en-US" sz="2000" dirty="0" err="1"/>
              <a:t>Zout</a:t>
            </a:r>
            <a:r>
              <a:rPr lang="en-US" sz="2000" dirty="0"/>
              <a:t>, </a:t>
            </a:r>
            <a:r>
              <a:rPr lang="en-US" sz="2000" dirty="0" err="1"/>
              <a:t>Pcin</a:t>
            </a:r>
            <a:r>
              <a:rPr lang="en-US" sz="2000" dirty="0"/>
              <a:t>, </a:t>
            </a:r>
            <a:r>
              <a:rPr lang="en-US" sz="2000" dirty="0" err="1" smtClean="0"/>
              <a:t>Yin,WMFC</a:t>
            </a:r>
            <a:r>
              <a:rPr lang="en-US" sz="2000" dirty="0"/>
              <a:t>.</a:t>
            </a:r>
          </a:p>
          <a:p>
            <a:pPr>
              <a:buAutoNum type="arabicParenR"/>
            </a:pPr>
            <a:r>
              <a:rPr lang="en-US" sz="2000" dirty="0"/>
              <a:t>MDR </a:t>
            </a:r>
            <a:r>
              <a:rPr lang="en-US" sz="2000" dirty="0" err="1" smtClean="0"/>
              <a:t>out,IRin</a:t>
            </a:r>
            <a:endParaRPr lang="en-US" sz="2000" dirty="0" smtClean="0"/>
          </a:p>
          <a:p>
            <a:pPr>
              <a:buAutoNum type="arabicParenR"/>
            </a:pPr>
            <a:r>
              <a:rPr lang="en-US" sz="2000" dirty="0" smtClean="0"/>
              <a:t>R8 out, Yin</a:t>
            </a:r>
          </a:p>
          <a:p>
            <a:pPr>
              <a:buAutoNum type="arabicParenR"/>
            </a:pPr>
            <a:r>
              <a:rPr lang="en-US" sz="2000" dirty="0" smtClean="0"/>
              <a:t>IR X </a:t>
            </a:r>
            <a:r>
              <a:rPr lang="en-US" sz="2000" dirty="0" err="1" smtClean="0"/>
              <a:t>Out,select</a:t>
            </a:r>
            <a:r>
              <a:rPr lang="en-US" sz="2000" dirty="0" smtClean="0"/>
              <a:t> y, </a:t>
            </a:r>
            <a:r>
              <a:rPr lang="en-US" sz="2000" dirty="0" err="1" smtClean="0"/>
              <a:t>add,Zin</a:t>
            </a:r>
            <a:endParaRPr lang="en-US" sz="2000" dirty="0" smtClean="0"/>
          </a:p>
          <a:p>
            <a:pPr>
              <a:buAutoNum type="arabicParenR"/>
            </a:pPr>
            <a:r>
              <a:rPr lang="en-US" sz="2000" dirty="0" smtClean="0"/>
              <a:t>Zout,R8 in</a:t>
            </a:r>
          </a:p>
          <a:p>
            <a:pPr>
              <a:buAutoNum type="arabicParenR"/>
            </a:pPr>
            <a:r>
              <a:rPr lang="en-US" sz="2000" dirty="0" smtClean="0"/>
              <a:t>R8 out, MAR in</a:t>
            </a:r>
          </a:p>
          <a:p>
            <a:pPr>
              <a:buAutoNum type="arabicParenR"/>
            </a:pPr>
            <a:r>
              <a:rPr lang="en-US" sz="2000" dirty="0" smtClean="0"/>
              <a:t>R6 out, </a:t>
            </a:r>
            <a:r>
              <a:rPr lang="en-US" sz="2000" dirty="0" err="1" smtClean="0"/>
              <a:t>MDRin,write</a:t>
            </a:r>
            <a:endParaRPr lang="en-US" sz="2000" dirty="0" smtClean="0"/>
          </a:p>
          <a:p>
            <a:pPr>
              <a:buAutoNum type="arabicParenR"/>
            </a:pPr>
            <a:r>
              <a:rPr lang="en-US" sz="2000" dirty="0" err="1" smtClean="0"/>
              <a:t>MDRoutE,WMFC</a:t>
            </a:r>
            <a:r>
              <a:rPr lang="en-US" sz="2000" dirty="0" smtClean="0"/>
              <a:t>, END</a:t>
            </a:r>
          </a:p>
          <a:p>
            <a:pPr>
              <a:buAutoNum type="arabicParenR"/>
            </a:pPr>
            <a:endParaRPr lang="en-US" dirty="0"/>
          </a:p>
          <a:p>
            <a:pPr marL="0" indent="0">
              <a:buNone/>
            </a:pPr>
            <a:endParaRPr lang="en-US" dirty="0"/>
          </a:p>
        </p:txBody>
      </p:sp>
    </p:spTree>
    <p:extLst>
      <p:ext uri="{BB962C8B-B14F-4D97-AF65-F5344CB8AC3E}">
        <p14:creationId xmlns:p14="http://schemas.microsoft.com/office/powerpoint/2010/main" val="2892007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611" y="375138"/>
            <a:ext cx="8596668" cy="715108"/>
          </a:xfrm>
        </p:spPr>
        <p:txBody>
          <a:bodyPr>
            <a:normAutofit/>
          </a:bodyPr>
          <a:lstStyle/>
          <a:p>
            <a:r>
              <a:rPr lang="en-US" dirty="0" smtClean="0"/>
              <a:t>ADD [R1],[R2]</a:t>
            </a:r>
            <a:endParaRPr lang="en-US" dirty="0"/>
          </a:p>
        </p:txBody>
      </p:sp>
      <p:sp>
        <p:nvSpPr>
          <p:cNvPr id="3" name="Content Placeholder 2"/>
          <p:cNvSpPr>
            <a:spLocks noGrp="1"/>
          </p:cNvSpPr>
          <p:nvPr>
            <p:ph idx="1"/>
          </p:nvPr>
        </p:nvSpPr>
        <p:spPr>
          <a:xfrm>
            <a:off x="677334" y="1406769"/>
            <a:ext cx="8596668" cy="4634593"/>
          </a:xfrm>
        </p:spPr>
        <p:txBody>
          <a:bodyPr/>
          <a:lstStyle/>
          <a:p>
            <a:pPr>
              <a:buAutoNum type="arabicParenR"/>
            </a:pPr>
            <a:r>
              <a:rPr lang="en-US" dirty="0"/>
              <a:t>PC out, MAR in, </a:t>
            </a:r>
            <a:r>
              <a:rPr lang="en-US" dirty="0" err="1"/>
              <a:t>Read,select</a:t>
            </a:r>
            <a:r>
              <a:rPr lang="en-US" dirty="0"/>
              <a:t> 4,Add,Zin</a:t>
            </a:r>
          </a:p>
          <a:p>
            <a:pPr>
              <a:buAutoNum type="arabicParenR"/>
            </a:pPr>
            <a:r>
              <a:rPr lang="en-US" dirty="0" err="1"/>
              <a:t>Zout</a:t>
            </a:r>
            <a:r>
              <a:rPr lang="en-US" dirty="0"/>
              <a:t>, </a:t>
            </a:r>
            <a:r>
              <a:rPr lang="en-US" dirty="0" err="1"/>
              <a:t>Pcin</a:t>
            </a:r>
            <a:r>
              <a:rPr lang="en-US" dirty="0"/>
              <a:t>, </a:t>
            </a:r>
            <a:r>
              <a:rPr lang="en-US" dirty="0" err="1" smtClean="0"/>
              <a:t>Yin,WMFC</a:t>
            </a:r>
            <a:r>
              <a:rPr lang="en-US" dirty="0"/>
              <a:t>.</a:t>
            </a:r>
          </a:p>
          <a:p>
            <a:pPr>
              <a:buAutoNum type="arabicParenR"/>
            </a:pPr>
            <a:r>
              <a:rPr lang="en-US" dirty="0"/>
              <a:t>MDR </a:t>
            </a:r>
            <a:r>
              <a:rPr lang="en-US" dirty="0" err="1" smtClean="0"/>
              <a:t>out,IRin</a:t>
            </a:r>
            <a:endParaRPr lang="en-US" dirty="0" smtClean="0"/>
          </a:p>
          <a:p>
            <a:pPr>
              <a:buAutoNum type="arabicParenR"/>
            </a:pPr>
            <a:r>
              <a:rPr lang="en-US" dirty="0" smtClean="0"/>
              <a:t>R1 out, MAR in, READ</a:t>
            </a:r>
          </a:p>
          <a:p>
            <a:pPr>
              <a:buAutoNum type="arabicParenR"/>
            </a:pPr>
            <a:r>
              <a:rPr lang="en-US" dirty="0" smtClean="0"/>
              <a:t>MDR In E,WMFC</a:t>
            </a:r>
          </a:p>
          <a:p>
            <a:pPr>
              <a:buAutoNum type="arabicParenR"/>
            </a:pPr>
            <a:r>
              <a:rPr lang="en-US" dirty="0" smtClean="0"/>
              <a:t>MDR out, Yin</a:t>
            </a:r>
          </a:p>
          <a:p>
            <a:pPr>
              <a:buFont typeface="Wingdings 3" charset="2"/>
              <a:buAutoNum type="arabicParenR"/>
            </a:pPr>
            <a:r>
              <a:rPr lang="en-US" dirty="0" smtClean="0"/>
              <a:t>R2 </a:t>
            </a:r>
            <a:r>
              <a:rPr lang="en-US" dirty="0"/>
              <a:t>out, MAR in, </a:t>
            </a:r>
            <a:r>
              <a:rPr lang="en-US" dirty="0" smtClean="0"/>
              <a:t>READ</a:t>
            </a:r>
          </a:p>
          <a:p>
            <a:pPr>
              <a:buFont typeface="Wingdings 3" charset="2"/>
              <a:buAutoNum type="arabicParenR"/>
            </a:pPr>
            <a:r>
              <a:rPr lang="en-US" dirty="0"/>
              <a:t>MDR In </a:t>
            </a:r>
            <a:r>
              <a:rPr lang="en-US" dirty="0" smtClean="0"/>
              <a:t>E,WMFC</a:t>
            </a:r>
          </a:p>
          <a:p>
            <a:pPr>
              <a:buFont typeface="Wingdings 3" charset="2"/>
              <a:buAutoNum type="arabicParenR"/>
            </a:pPr>
            <a:r>
              <a:rPr lang="en-US" dirty="0"/>
              <a:t>MDR </a:t>
            </a:r>
            <a:r>
              <a:rPr lang="en-US" dirty="0" smtClean="0"/>
              <a:t>out, select y, Add, </a:t>
            </a:r>
            <a:r>
              <a:rPr lang="en-US" dirty="0" err="1" smtClean="0"/>
              <a:t>Zin</a:t>
            </a:r>
            <a:endParaRPr lang="en-US" dirty="0" smtClean="0"/>
          </a:p>
          <a:p>
            <a:pPr>
              <a:buFont typeface="Wingdings 3" charset="2"/>
              <a:buAutoNum type="arabicParenR"/>
            </a:pPr>
            <a:r>
              <a:rPr lang="en-US" dirty="0" err="1" smtClean="0"/>
              <a:t>Zout</a:t>
            </a:r>
            <a:r>
              <a:rPr lang="en-US" dirty="0" smtClean="0"/>
              <a:t>, </a:t>
            </a:r>
            <a:r>
              <a:rPr lang="en-US" dirty="0" err="1" smtClean="0"/>
              <a:t>MDRin</a:t>
            </a:r>
            <a:r>
              <a:rPr lang="en-US" dirty="0" smtClean="0"/>
              <a:t>, write</a:t>
            </a:r>
          </a:p>
          <a:p>
            <a:pPr>
              <a:buFont typeface="Wingdings 3" charset="2"/>
              <a:buAutoNum type="arabicParenR"/>
            </a:pPr>
            <a:r>
              <a:rPr lang="en-US" dirty="0" err="1" smtClean="0"/>
              <a:t>MDRout</a:t>
            </a:r>
            <a:r>
              <a:rPr lang="en-US" dirty="0" smtClean="0"/>
              <a:t> E,WMFC</a:t>
            </a:r>
            <a:endParaRPr lang="en-US" dirty="0"/>
          </a:p>
          <a:p>
            <a:pPr>
              <a:buFont typeface="Wingdings 3" charset="2"/>
              <a:buAutoNum type="arabicParenR"/>
            </a:pPr>
            <a:endParaRPr lang="en-US" dirty="0"/>
          </a:p>
          <a:p>
            <a:pPr>
              <a:buAutoNum type="arabicParenR"/>
            </a:pPr>
            <a:endParaRPr lang="en-US" dirty="0" smtClean="0"/>
          </a:p>
          <a:p>
            <a:pPr>
              <a:buAutoNum type="arabicParenR"/>
            </a:pPr>
            <a:endParaRPr lang="en-US" dirty="0"/>
          </a:p>
          <a:p>
            <a:pPr>
              <a:buAutoNum type="arabicParenR"/>
            </a:pPr>
            <a:endParaRPr lang="en-US" dirty="0"/>
          </a:p>
          <a:p>
            <a:pPr marL="0" indent="0">
              <a:buNone/>
            </a:pPr>
            <a:endParaRPr lang="en-US" dirty="0"/>
          </a:p>
        </p:txBody>
      </p:sp>
    </p:spTree>
    <p:extLst>
      <p:ext uri="{BB962C8B-B14F-4D97-AF65-F5344CB8AC3E}">
        <p14:creationId xmlns:p14="http://schemas.microsoft.com/office/powerpoint/2010/main" val="2884676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03385"/>
            <a:ext cx="8596668" cy="5337977"/>
          </a:xfrm>
        </p:spPr>
        <p:txBody>
          <a:bodyPr/>
          <a:lstStyle/>
          <a:p>
            <a:r>
              <a:rPr lang="en-US" i="1" dirty="0" smtClean="0">
                <a:solidFill>
                  <a:srgbClr val="FF0000"/>
                </a:solidFill>
              </a:rPr>
              <a:t>Transfer </a:t>
            </a:r>
            <a:r>
              <a:rPr lang="en-US" i="1" dirty="0">
                <a:solidFill>
                  <a:srgbClr val="FF0000"/>
                </a:solidFill>
              </a:rPr>
              <a:t>contents of register R5 to R1 </a:t>
            </a:r>
            <a:r>
              <a:rPr lang="en-US" dirty="0"/>
              <a:t>	</a:t>
            </a:r>
          </a:p>
          <a:p>
            <a:pPr marL="0" indent="0">
              <a:buNone/>
            </a:pPr>
            <a:r>
              <a:rPr lang="en-US" dirty="0" smtClean="0"/>
              <a:t>Set </a:t>
            </a:r>
            <a:r>
              <a:rPr lang="en-US" dirty="0"/>
              <a:t>output enable signal of R5 to high. This places contents of R5 on the bus. Next set input enable signal of R1 to high. This loads data from processor bus to register R1. 	</a:t>
            </a:r>
          </a:p>
          <a:p>
            <a:r>
              <a:rPr lang="en-US" dirty="0" smtClean="0"/>
              <a:t> </a:t>
            </a:r>
            <a:r>
              <a:rPr lang="en-US" i="1" dirty="0">
                <a:solidFill>
                  <a:srgbClr val="FF0000"/>
                </a:solidFill>
              </a:rPr>
              <a:t>Move (R6), R2 </a:t>
            </a:r>
            <a:endParaRPr lang="en-US" i="1" dirty="0" smtClean="0">
              <a:solidFill>
                <a:srgbClr val="FF0000"/>
              </a:solidFill>
            </a:endParaRPr>
          </a:p>
          <a:p>
            <a:pPr marL="0" indent="0">
              <a:buNone/>
            </a:pPr>
            <a:r>
              <a:rPr lang="en-US" i="1" dirty="0" smtClean="0"/>
              <a:t>Fetch </a:t>
            </a:r>
            <a:r>
              <a:rPr lang="en-US" i="1" dirty="0"/>
              <a:t>a word from memory and move it to register R2, when the memory address is stored in register R6 </a:t>
            </a:r>
            <a:endParaRPr lang="en-US" dirty="0"/>
          </a:p>
          <a:p>
            <a:pPr marL="0" indent="0">
              <a:buNone/>
            </a:pPr>
            <a:r>
              <a:rPr lang="en-US" dirty="0" smtClean="0"/>
              <a:t>4. R6out</a:t>
            </a:r>
            <a:r>
              <a:rPr lang="en-US" dirty="0"/>
              <a:t>, </a:t>
            </a:r>
            <a:r>
              <a:rPr lang="en-US" dirty="0" err="1"/>
              <a:t>MARin</a:t>
            </a:r>
            <a:r>
              <a:rPr lang="en-US" dirty="0"/>
              <a:t>, Read </a:t>
            </a:r>
          </a:p>
          <a:p>
            <a:pPr marL="0" indent="0">
              <a:buNone/>
            </a:pPr>
            <a:r>
              <a:rPr lang="en-US" dirty="0" smtClean="0"/>
              <a:t>5. </a:t>
            </a:r>
            <a:r>
              <a:rPr lang="en-US" dirty="0" err="1" smtClean="0"/>
              <a:t>MDRinE</a:t>
            </a:r>
            <a:r>
              <a:rPr lang="en-US" dirty="0"/>
              <a:t>, WMFC </a:t>
            </a:r>
          </a:p>
          <a:p>
            <a:pPr marL="0" indent="0">
              <a:buNone/>
            </a:pPr>
            <a:r>
              <a:rPr lang="en-US" dirty="0" smtClean="0"/>
              <a:t>6. </a:t>
            </a:r>
            <a:r>
              <a:rPr lang="en-US" dirty="0" err="1" smtClean="0"/>
              <a:t>MDRout</a:t>
            </a:r>
            <a:r>
              <a:rPr lang="en-US" dirty="0"/>
              <a:t>, R2in 	</a:t>
            </a:r>
            <a:endParaRPr lang="en-US" dirty="0" smtClean="0"/>
          </a:p>
          <a:p>
            <a:r>
              <a:rPr lang="en-US" i="1" dirty="0"/>
              <a:t>MOVE R2,(R1).</a:t>
            </a:r>
            <a:endParaRPr lang="en-US" dirty="0"/>
          </a:p>
          <a:p>
            <a:pPr>
              <a:buFont typeface="+mj-lt"/>
              <a:buAutoNum type="arabicPeriod"/>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473151980"/>
              </p:ext>
            </p:extLst>
          </p:nvPr>
        </p:nvGraphicFramePr>
        <p:xfrm>
          <a:off x="864706" y="4933922"/>
          <a:ext cx="9690083" cy="1584445"/>
        </p:xfrm>
        <a:graphic>
          <a:graphicData uri="http://schemas.openxmlformats.org/drawingml/2006/table">
            <a:tbl>
              <a:tblPr/>
              <a:tblGrid>
                <a:gridCol w="259735"/>
                <a:gridCol w="2197751"/>
                <a:gridCol w="7232597"/>
              </a:tblGrid>
              <a:tr h="784954">
                <a:tc>
                  <a:txBody>
                    <a:bodyPr/>
                    <a:lstStyle/>
                    <a:p>
                      <a:pPr algn="r"/>
                      <a:r>
                        <a:rPr lang="en-US" dirty="0">
                          <a:effectLst/>
                          <a:latin typeface="Cambria" panose="02040503050406030204" pitchFamily="18" charset="0"/>
                        </a:rPr>
                        <a:t>1)</a:t>
                      </a:r>
                      <a:endParaRPr lang="en-US" dirty="0">
                        <a:effectLst/>
                      </a:endParaRPr>
                    </a:p>
                  </a:txBody>
                  <a:tcPr marL="0" marR="0" marT="0" marB="0" anchor="b">
                    <a:lnL>
                      <a:noFill/>
                    </a:lnL>
                    <a:lnR>
                      <a:noFill/>
                    </a:lnR>
                    <a:lnT>
                      <a:noFill/>
                    </a:lnT>
                    <a:lnB>
                      <a:noFill/>
                    </a:lnB>
                    <a:noFill/>
                  </a:tcPr>
                </a:tc>
                <a:tc>
                  <a:txBody>
                    <a:bodyPr/>
                    <a:lstStyle/>
                    <a:p>
                      <a:pPr marL="12700" algn="ctr">
                        <a:lnSpc>
                          <a:spcPts val="1465"/>
                        </a:lnSpc>
                      </a:pPr>
                      <a:r>
                        <a:rPr lang="en-US" dirty="0">
                          <a:effectLst/>
                          <a:latin typeface="Cambria" panose="02040503050406030204" pitchFamily="18" charset="0"/>
                        </a:rPr>
                        <a:t>R1</a:t>
                      </a:r>
                      <a:r>
                        <a:rPr lang="en-US" baseline="-25000" dirty="0">
                          <a:effectLst/>
                          <a:latin typeface="Cambria" panose="02040503050406030204" pitchFamily="18" charset="0"/>
                        </a:rPr>
                        <a:t>out</a:t>
                      </a:r>
                      <a:r>
                        <a:rPr lang="en-US" dirty="0">
                          <a:effectLst/>
                          <a:latin typeface="Cambria" panose="02040503050406030204" pitchFamily="18" charset="0"/>
                        </a:rPr>
                        <a:t>, </a:t>
                      </a:r>
                      <a:r>
                        <a:rPr lang="en-US" dirty="0" err="1">
                          <a:effectLst/>
                          <a:latin typeface="Cambria" panose="02040503050406030204" pitchFamily="18" charset="0"/>
                        </a:rPr>
                        <a:t>MAR</a:t>
                      </a:r>
                      <a:r>
                        <a:rPr lang="en-US" baseline="-25000" dirty="0" err="1">
                          <a:effectLst/>
                          <a:latin typeface="Cambria" panose="02040503050406030204" pitchFamily="18" charset="0"/>
                        </a:rPr>
                        <a:t>in</a:t>
                      </a:r>
                      <a:endParaRPr lang="en-US" dirty="0">
                        <a:effectLst/>
                      </a:endParaRPr>
                    </a:p>
                  </a:txBody>
                  <a:tcPr marL="0" marR="0" marT="0" marB="0" anchor="b">
                    <a:lnL>
                      <a:noFill/>
                    </a:lnL>
                    <a:lnR>
                      <a:noFill/>
                    </a:lnR>
                    <a:lnT>
                      <a:noFill/>
                    </a:lnT>
                    <a:lnB>
                      <a:noFill/>
                    </a:lnB>
                    <a:noFill/>
                  </a:tcPr>
                </a:tc>
                <a:tc>
                  <a:txBody>
                    <a:bodyPr/>
                    <a:lstStyle/>
                    <a:p>
                      <a:pPr marL="190500" algn="ctr"/>
                      <a:r>
                        <a:rPr lang="en-US" dirty="0">
                          <a:effectLst/>
                          <a:latin typeface="Cambria" panose="02040503050406030204" pitchFamily="18" charset="0"/>
                        </a:rPr>
                        <a:t>;desired address is loaded into MAR.</a:t>
                      </a:r>
                      <a:endParaRPr lang="en-US" dirty="0">
                        <a:effectLst/>
                      </a:endParaRPr>
                    </a:p>
                  </a:txBody>
                  <a:tcPr marL="0" marR="0" marT="0" marB="0" anchor="b">
                    <a:lnL>
                      <a:noFill/>
                    </a:lnL>
                    <a:lnR>
                      <a:noFill/>
                    </a:lnR>
                    <a:lnT>
                      <a:noFill/>
                    </a:lnT>
                    <a:lnB>
                      <a:noFill/>
                    </a:lnB>
                    <a:noFill/>
                  </a:tcPr>
                </a:tc>
              </a:tr>
              <a:tr h="436086">
                <a:tc>
                  <a:txBody>
                    <a:bodyPr/>
                    <a:lstStyle/>
                    <a:p>
                      <a:pPr algn="r">
                        <a:lnSpc>
                          <a:spcPts val="970"/>
                        </a:lnSpc>
                      </a:pPr>
                      <a:r>
                        <a:rPr lang="en-US" dirty="0">
                          <a:effectLst/>
                          <a:latin typeface="Cambria" panose="02040503050406030204" pitchFamily="18" charset="0"/>
                        </a:rPr>
                        <a:t>2)</a:t>
                      </a:r>
                      <a:endParaRPr lang="en-US" dirty="0">
                        <a:effectLst/>
                      </a:endParaRPr>
                    </a:p>
                  </a:txBody>
                  <a:tcPr marL="0" marR="0" marT="0" marB="0" anchor="b">
                    <a:lnL>
                      <a:noFill/>
                    </a:lnL>
                    <a:lnR>
                      <a:noFill/>
                    </a:lnR>
                    <a:lnT>
                      <a:noFill/>
                    </a:lnT>
                    <a:lnB>
                      <a:noFill/>
                    </a:lnB>
                    <a:noFill/>
                  </a:tcPr>
                </a:tc>
                <a:tc>
                  <a:txBody>
                    <a:bodyPr/>
                    <a:lstStyle/>
                    <a:p>
                      <a:pPr marL="12700" algn="ctr">
                        <a:lnSpc>
                          <a:spcPts val="1220"/>
                        </a:lnSpc>
                      </a:pPr>
                      <a:r>
                        <a:rPr lang="en-US" dirty="0">
                          <a:effectLst/>
                          <a:latin typeface="Cambria" panose="02040503050406030204" pitchFamily="18" charset="0"/>
                        </a:rPr>
                        <a:t>R2</a:t>
                      </a:r>
                      <a:r>
                        <a:rPr lang="en-US" baseline="-25000" dirty="0">
                          <a:effectLst/>
                          <a:latin typeface="Cambria" panose="02040503050406030204" pitchFamily="18" charset="0"/>
                        </a:rPr>
                        <a:t>out</a:t>
                      </a:r>
                      <a:r>
                        <a:rPr lang="en-US" dirty="0">
                          <a:effectLst/>
                          <a:latin typeface="Cambria" panose="02040503050406030204" pitchFamily="18" charset="0"/>
                        </a:rPr>
                        <a:t>, </a:t>
                      </a:r>
                      <a:r>
                        <a:rPr lang="en-US" dirty="0" err="1">
                          <a:effectLst/>
                          <a:latin typeface="Cambria" panose="02040503050406030204" pitchFamily="18" charset="0"/>
                        </a:rPr>
                        <a:t>MDR</a:t>
                      </a:r>
                      <a:r>
                        <a:rPr lang="en-US" baseline="-25000" dirty="0" err="1">
                          <a:effectLst/>
                          <a:latin typeface="Cambria" panose="02040503050406030204" pitchFamily="18" charset="0"/>
                        </a:rPr>
                        <a:t>in</a:t>
                      </a:r>
                      <a:r>
                        <a:rPr lang="en-US" dirty="0">
                          <a:effectLst/>
                          <a:latin typeface="Cambria" panose="02040503050406030204" pitchFamily="18" charset="0"/>
                        </a:rPr>
                        <a:t>, Write</a:t>
                      </a:r>
                      <a:endParaRPr lang="en-US" dirty="0">
                        <a:effectLst/>
                      </a:endParaRPr>
                    </a:p>
                  </a:txBody>
                  <a:tcPr marL="0" marR="0" marT="0" marB="0" anchor="b">
                    <a:lnL>
                      <a:noFill/>
                    </a:lnL>
                    <a:lnR>
                      <a:noFill/>
                    </a:lnR>
                    <a:lnT>
                      <a:noFill/>
                    </a:lnT>
                    <a:lnB>
                      <a:noFill/>
                    </a:lnB>
                    <a:noFill/>
                  </a:tcPr>
                </a:tc>
                <a:tc>
                  <a:txBody>
                    <a:bodyPr/>
                    <a:lstStyle/>
                    <a:p>
                      <a:pPr marL="215900" algn="ctr">
                        <a:lnSpc>
                          <a:spcPts val="970"/>
                        </a:lnSpc>
                      </a:pPr>
                      <a:r>
                        <a:rPr lang="en-US" dirty="0">
                          <a:effectLst/>
                          <a:latin typeface="Cambria" panose="02040503050406030204" pitchFamily="18" charset="0"/>
                        </a:rPr>
                        <a:t>;data to be written are loaded into MDR &amp; Write command is issued.</a:t>
                      </a:r>
                      <a:endParaRPr lang="en-US" dirty="0">
                        <a:effectLst/>
                      </a:endParaRPr>
                    </a:p>
                  </a:txBody>
                  <a:tcPr marL="0" marR="0" marT="0" marB="0" anchor="b">
                    <a:lnL>
                      <a:noFill/>
                    </a:lnL>
                    <a:lnR>
                      <a:noFill/>
                    </a:lnR>
                    <a:lnT>
                      <a:noFill/>
                    </a:lnT>
                    <a:lnB>
                      <a:noFill/>
                    </a:lnB>
                    <a:noFill/>
                  </a:tcPr>
                </a:tc>
              </a:tr>
              <a:tr h="363405">
                <a:tc>
                  <a:txBody>
                    <a:bodyPr/>
                    <a:lstStyle/>
                    <a:p>
                      <a:pPr algn="r">
                        <a:lnSpc>
                          <a:spcPts val="960"/>
                        </a:lnSpc>
                      </a:pPr>
                      <a:r>
                        <a:rPr lang="en-US" dirty="0">
                          <a:effectLst/>
                          <a:latin typeface="Cambria" panose="02040503050406030204" pitchFamily="18" charset="0"/>
                        </a:rPr>
                        <a:t>3)</a:t>
                      </a:r>
                      <a:endParaRPr lang="en-US" dirty="0">
                        <a:effectLst/>
                      </a:endParaRPr>
                    </a:p>
                  </a:txBody>
                  <a:tcPr marL="0" marR="0" marT="0" marB="0" anchor="b">
                    <a:lnL>
                      <a:noFill/>
                    </a:lnL>
                    <a:lnR>
                      <a:noFill/>
                    </a:lnR>
                    <a:lnT>
                      <a:noFill/>
                    </a:lnT>
                    <a:lnB>
                      <a:noFill/>
                    </a:lnB>
                    <a:noFill/>
                  </a:tcPr>
                </a:tc>
                <a:tc>
                  <a:txBody>
                    <a:bodyPr/>
                    <a:lstStyle/>
                    <a:p>
                      <a:pPr marL="12700" algn="ctr">
                        <a:lnSpc>
                          <a:spcPts val="1370"/>
                        </a:lnSpc>
                      </a:pPr>
                      <a:r>
                        <a:rPr lang="en-US" dirty="0" err="1">
                          <a:effectLst/>
                          <a:latin typeface="Cambria" panose="02040503050406030204" pitchFamily="18" charset="0"/>
                        </a:rPr>
                        <a:t>MDR</a:t>
                      </a:r>
                      <a:r>
                        <a:rPr lang="en-US" baseline="-25000" dirty="0" err="1">
                          <a:effectLst/>
                          <a:latin typeface="Cambria" panose="02040503050406030204" pitchFamily="18" charset="0"/>
                        </a:rPr>
                        <a:t>outE</a:t>
                      </a:r>
                      <a:r>
                        <a:rPr lang="en-US" dirty="0">
                          <a:effectLst/>
                          <a:latin typeface="Cambria" panose="02040503050406030204" pitchFamily="18" charset="0"/>
                        </a:rPr>
                        <a:t>, WMFC</a:t>
                      </a:r>
                      <a:endParaRPr lang="en-US" dirty="0">
                        <a:effectLst/>
                      </a:endParaRPr>
                    </a:p>
                  </a:txBody>
                  <a:tcPr marL="0" marR="0" marT="0" marB="0" anchor="b">
                    <a:lnL>
                      <a:noFill/>
                    </a:lnL>
                    <a:lnR>
                      <a:noFill/>
                    </a:lnR>
                    <a:lnT>
                      <a:noFill/>
                    </a:lnT>
                    <a:lnB>
                      <a:noFill/>
                    </a:lnB>
                    <a:noFill/>
                  </a:tcPr>
                </a:tc>
                <a:tc>
                  <a:txBody>
                    <a:bodyPr/>
                    <a:lstStyle/>
                    <a:p>
                      <a:pPr marL="215900" algn="ctr">
                        <a:lnSpc>
                          <a:spcPts val="960"/>
                        </a:lnSpc>
                      </a:pPr>
                      <a:r>
                        <a:rPr lang="en-US" dirty="0">
                          <a:effectLst/>
                          <a:latin typeface="Cambria" panose="02040503050406030204" pitchFamily="18" charset="0"/>
                        </a:rPr>
                        <a:t>;load data into memory-location pointed by R1 from MDR.</a:t>
                      </a:r>
                      <a:endParaRPr lang="en-US" dirty="0">
                        <a:effectLst/>
                      </a:endParaRPr>
                    </a:p>
                  </a:txBody>
                  <a:tcPr marL="0" marR="0" marT="0" marB="0" anchor="b">
                    <a:lnL>
                      <a:noFill/>
                    </a:lnL>
                    <a:lnR>
                      <a:noFill/>
                    </a:lnR>
                    <a:lnT>
                      <a:noFill/>
                    </a:lnT>
                    <a:lnB>
                      <a:noFill/>
                    </a:lnB>
                    <a:noFill/>
                  </a:tcPr>
                </a:tc>
              </a:tr>
            </a:tbl>
          </a:graphicData>
        </a:graphic>
      </p:graphicFrame>
    </p:spTree>
    <p:extLst>
      <p:ext uri="{BB962C8B-B14F-4D97-AF65-F5344CB8AC3E}">
        <p14:creationId xmlns:p14="http://schemas.microsoft.com/office/powerpoint/2010/main" val="239482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78526"/>
            <a:ext cx="8596668" cy="892629"/>
          </a:xfrm>
        </p:spPr>
        <p:txBody>
          <a:bodyPr/>
          <a:lstStyle/>
          <a:p>
            <a:r>
              <a:rPr lang="en-US" dirty="0" smtClean="0"/>
              <a:t>ADD R1,NUM</a:t>
            </a:r>
            <a:endParaRPr lang="en-US" dirty="0"/>
          </a:p>
        </p:txBody>
      </p:sp>
      <p:sp>
        <p:nvSpPr>
          <p:cNvPr id="3" name="Content Placeholder 2"/>
          <p:cNvSpPr>
            <a:spLocks noGrp="1"/>
          </p:cNvSpPr>
          <p:nvPr>
            <p:ph idx="1"/>
          </p:nvPr>
        </p:nvSpPr>
        <p:spPr>
          <a:xfrm>
            <a:off x="677334" y="862149"/>
            <a:ext cx="8596668" cy="5179213"/>
          </a:xfrm>
        </p:spPr>
        <p:txBody>
          <a:bodyPr/>
          <a:lstStyle/>
          <a:p>
            <a:pPr>
              <a:buAutoNum type="arabicParenR"/>
            </a:pPr>
            <a:r>
              <a:rPr lang="en-US" dirty="0"/>
              <a:t>PC out, MAR in, </a:t>
            </a:r>
            <a:r>
              <a:rPr lang="en-US" dirty="0" err="1"/>
              <a:t>Read,select</a:t>
            </a:r>
            <a:r>
              <a:rPr lang="en-US" dirty="0"/>
              <a:t> 4,Add,Zin</a:t>
            </a:r>
          </a:p>
          <a:p>
            <a:pPr>
              <a:buAutoNum type="arabicParenR"/>
            </a:pPr>
            <a:r>
              <a:rPr lang="en-US" dirty="0" err="1"/>
              <a:t>Zout</a:t>
            </a:r>
            <a:r>
              <a:rPr lang="en-US" dirty="0"/>
              <a:t>, </a:t>
            </a:r>
            <a:r>
              <a:rPr lang="en-US" dirty="0" err="1"/>
              <a:t>Pcin</a:t>
            </a:r>
            <a:r>
              <a:rPr lang="en-US" dirty="0"/>
              <a:t>, </a:t>
            </a:r>
            <a:r>
              <a:rPr lang="en-US" dirty="0" err="1"/>
              <a:t>Yin,WMFC</a:t>
            </a:r>
            <a:r>
              <a:rPr lang="en-US" dirty="0"/>
              <a:t>.</a:t>
            </a:r>
          </a:p>
          <a:p>
            <a:pPr>
              <a:buAutoNum type="arabicParenR"/>
            </a:pPr>
            <a:r>
              <a:rPr lang="en-US" dirty="0"/>
              <a:t>MDR </a:t>
            </a:r>
            <a:r>
              <a:rPr lang="en-US" dirty="0" err="1" smtClean="0"/>
              <a:t>out,Irin</a:t>
            </a:r>
            <a:endParaRPr lang="en-US" dirty="0" smtClean="0"/>
          </a:p>
          <a:p>
            <a:pPr>
              <a:buAutoNum type="arabicParenR"/>
            </a:pPr>
            <a:r>
              <a:rPr lang="en-US" dirty="0" smtClean="0"/>
              <a:t>IR </a:t>
            </a:r>
            <a:r>
              <a:rPr lang="en-US" dirty="0" err="1" smtClean="0"/>
              <a:t>NUMout,MAR</a:t>
            </a:r>
            <a:r>
              <a:rPr lang="en-US" dirty="0" smtClean="0"/>
              <a:t> </a:t>
            </a:r>
            <a:r>
              <a:rPr lang="en-US" dirty="0" err="1" smtClean="0"/>
              <a:t>in,READ</a:t>
            </a:r>
            <a:endParaRPr lang="en-US" dirty="0" smtClean="0"/>
          </a:p>
          <a:p>
            <a:pPr>
              <a:buAutoNum type="arabicParenR"/>
            </a:pPr>
            <a:r>
              <a:rPr lang="en-US" dirty="0" err="1" smtClean="0"/>
              <a:t>WMFC,MDRout,Yin</a:t>
            </a:r>
            <a:endParaRPr lang="en-US" dirty="0" smtClean="0"/>
          </a:p>
          <a:p>
            <a:pPr>
              <a:buAutoNum type="arabicParenR"/>
            </a:pPr>
            <a:r>
              <a:rPr lang="en-US" dirty="0" smtClean="0"/>
              <a:t>selectY,R1out,ADD,Zin</a:t>
            </a:r>
          </a:p>
          <a:p>
            <a:pPr>
              <a:buAutoNum type="arabicParenR"/>
            </a:pPr>
            <a:r>
              <a:rPr lang="en-US" dirty="0" err="1" smtClean="0"/>
              <a:t>Zout,MDRin,WRITE</a:t>
            </a:r>
            <a:endParaRPr lang="en-US" dirty="0" smtClean="0"/>
          </a:p>
          <a:p>
            <a:pPr>
              <a:buAutoNum type="arabicParenR"/>
            </a:pPr>
            <a:r>
              <a:rPr lang="en-US" dirty="0" smtClean="0"/>
              <a:t>WMFC,END</a:t>
            </a:r>
            <a:endParaRPr lang="en-US" dirty="0"/>
          </a:p>
          <a:p>
            <a:pPr marL="0" indent="0">
              <a:buNone/>
            </a:pPr>
            <a:endParaRPr lang="en-US" dirty="0"/>
          </a:p>
        </p:txBody>
      </p:sp>
    </p:spTree>
    <p:extLst>
      <p:ext uri="{BB962C8B-B14F-4D97-AF65-F5344CB8AC3E}">
        <p14:creationId xmlns:p14="http://schemas.microsoft.com/office/powerpoint/2010/main" val="154634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 xmlns:a16="http://schemas.microsoft.com/office/drawing/2014/main" id="{681DFD04-9CB5-488F-89D3-A8098409A64C}"/>
              </a:ext>
            </a:extLst>
          </p:cNvPr>
          <p:cNvSpPr>
            <a:spLocks noGrp="1" noChangeArrowheads="1"/>
          </p:cNvSpPr>
          <p:nvPr>
            <p:ph type="title"/>
          </p:nvPr>
        </p:nvSpPr>
        <p:spPr>
          <a:xfrm>
            <a:off x="1981200" y="1"/>
            <a:ext cx="8229600" cy="334963"/>
          </a:xfrm>
        </p:spPr>
        <p:txBody>
          <a:bodyPr>
            <a:normAutofit fontScale="90000"/>
          </a:bodyPr>
          <a:lstStyle/>
          <a:p>
            <a:pPr eaLnBrk="1" hangingPunct="1"/>
            <a:r>
              <a:rPr lang="en-US" altLang="en-US" sz="2800"/>
              <a:t>Multiple-Bus Organization</a:t>
            </a:r>
          </a:p>
        </p:txBody>
      </p:sp>
      <p:pic>
        <p:nvPicPr>
          <p:cNvPr id="29699" name="Picture 5">
            <a:extLst>
              <a:ext uri="{FF2B5EF4-FFF2-40B4-BE49-F238E27FC236}">
                <a16:creationId xmlns="" xmlns:a16="http://schemas.microsoft.com/office/drawing/2014/main" id="{E06880AD-32D4-4A6B-9261-B42867BEDA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381000"/>
            <a:ext cx="822960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4746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a:extLst>
              <a:ext uri="{FF2B5EF4-FFF2-40B4-BE49-F238E27FC236}">
                <a16:creationId xmlns="" xmlns:a16="http://schemas.microsoft.com/office/drawing/2014/main" id="{7DC916BD-F1D7-4A80-BF10-8FACD35535CD}"/>
              </a:ext>
            </a:extLst>
          </p:cNvPr>
          <p:cNvSpPr>
            <a:spLocks noGrp="1" noChangeArrowheads="1"/>
          </p:cNvSpPr>
          <p:nvPr>
            <p:ph idx="1"/>
          </p:nvPr>
        </p:nvSpPr>
        <p:spPr>
          <a:xfrm>
            <a:off x="574431" y="550984"/>
            <a:ext cx="8915400" cy="6019800"/>
          </a:xfrm>
        </p:spPr>
        <p:txBody>
          <a:bodyPr rtlCol="0">
            <a:normAutofit lnSpcReduction="10000"/>
          </a:bodyPr>
          <a:lstStyle/>
          <a:p>
            <a:pPr marL="173038" indent="-173038" algn="just">
              <a:lnSpc>
                <a:spcPct val="120000"/>
              </a:lnSpc>
              <a:spcBef>
                <a:spcPct val="50000"/>
              </a:spcBef>
              <a:buFontTx/>
              <a:buChar char="•"/>
              <a:defRPr/>
            </a:pPr>
            <a:r>
              <a:rPr lang="en-US" sz="2400" dirty="0"/>
              <a:t>General  purpose registers are combined into a single block called </a:t>
            </a:r>
            <a:r>
              <a:rPr lang="en-US" sz="2400" dirty="0">
                <a:solidFill>
                  <a:srgbClr val="C00000"/>
                </a:solidFill>
              </a:rPr>
              <a:t>register </a:t>
            </a:r>
            <a:r>
              <a:rPr lang="en-US" sz="2400" dirty="0" smtClean="0">
                <a:solidFill>
                  <a:srgbClr val="C00000"/>
                </a:solidFill>
              </a:rPr>
              <a:t>file.</a:t>
            </a:r>
          </a:p>
          <a:p>
            <a:pPr marL="173038" indent="-173038" algn="just">
              <a:lnSpc>
                <a:spcPct val="120000"/>
              </a:lnSpc>
              <a:spcBef>
                <a:spcPct val="50000"/>
              </a:spcBef>
              <a:buFontTx/>
              <a:buChar char="•"/>
              <a:defRPr/>
            </a:pPr>
            <a:r>
              <a:rPr lang="en-US" sz="2400" dirty="0" smtClean="0"/>
              <a:t>There are 2 output ,Allowing  </a:t>
            </a:r>
            <a:r>
              <a:rPr lang="en-US" sz="2400" dirty="0"/>
              <a:t>the contents of two different registers to be accessed simultaneously and have their contents placed on buses A and B.</a:t>
            </a:r>
          </a:p>
          <a:p>
            <a:pPr marL="173038" indent="-173038" algn="just">
              <a:lnSpc>
                <a:spcPct val="120000"/>
              </a:lnSpc>
              <a:spcBef>
                <a:spcPct val="50000"/>
              </a:spcBef>
              <a:buFontTx/>
              <a:buChar char="•"/>
              <a:defRPr/>
            </a:pPr>
            <a:r>
              <a:rPr lang="en-US" sz="2400" dirty="0"/>
              <a:t> </a:t>
            </a:r>
            <a:r>
              <a:rPr lang="en-US" sz="2400" dirty="0" smtClean="0"/>
              <a:t>the 3</a:t>
            </a:r>
            <a:r>
              <a:rPr lang="en-US" sz="2400" baseline="30000" dirty="0" smtClean="0"/>
              <a:t>rd</a:t>
            </a:r>
            <a:r>
              <a:rPr lang="en-US" sz="2400" dirty="0" smtClean="0"/>
              <a:t> port allow  </a:t>
            </a:r>
            <a:r>
              <a:rPr lang="en-US" sz="2400" dirty="0"/>
              <a:t>the data on bus C to be loaded into a third register during the same clock cycle</a:t>
            </a:r>
            <a:r>
              <a:rPr lang="en-US" sz="2400" dirty="0" smtClean="0"/>
              <a:t>.</a:t>
            </a:r>
          </a:p>
          <a:p>
            <a:pPr algn="just"/>
            <a:r>
              <a:rPr lang="en-US" sz="2400" dirty="0"/>
              <a:t>Buses A and B are used to transfer the source operands to the A and B </a:t>
            </a:r>
            <a:r>
              <a:rPr lang="en-US" sz="2400" dirty="0" smtClean="0"/>
              <a:t>inputs of </a:t>
            </a:r>
            <a:r>
              <a:rPr lang="en-US" sz="2400" dirty="0"/>
              <a:t>the ALU, where an arithmetic or logic operation may be performed. </a:t>
            </a:r>
            <a:endParaRPr lang="en-US" sz="2400" dirty="0" smtClean="0"/>
          </a:p>
          <a:p>
            <a:pPr algn="just"/>
            <a:r>
              <a:rPr lang="en-US" sz="2400" dirty="0" smtClean="0"/>
              <a:t>The </a:t>
            </a:r>
            <a:r>
              <a:rPr lang="en-US" sz="2400" dirty="0"/>
              <a:t>result is transferred to the destination over bus C. </a:t>
            </a:r>
            <a:endParaRPr lang="en-US" sz="2400" dirty="0" smtClean="0"/>
          </a:p>
          <a:p>
            <a:pPr algn="just"/>
            <a:r>
              <a:rPr lang="en-US" sz="2400" dirty="0" smtClean="0"/>
              <a:t>If needed</a:t>
            </a:r>
            <a:r>
              <a:rPr lang="en-US" sz="2400" dirty="0"/>
              <a:t>, the ALU may simply pass one of its two input operands unmodified to bus C. We will call the ALU control signals for such an operation R=A or R=B. </a:t>
            </a:r>
          </a:p>
        </p:txBody>
      </p:sp>
      <p:sp>
        <p:nvSpPr>
          <p:cNvPr id="30723" name="Rectangle 2">
            <a:extLst>
              <a:ext uri="{FF2B5EF4-FFF2-40B4-BE49-F238E27FC236}">
                <a16:creationId xmlns="" xmlns:a16="http://schemas.microsoft.com/office/drawing/2014/main" id="{61BF474B-3E2E-4B54-86E5-B49084BFC449}"/>
              </a:ext>
            </a:extLst>
          </p:cNvPr>
          <p:cNvSpPr>
            <a:spLocks noGrp="1" noChangeArrowheads="1"/>
          </p:cNvSpPr>
          <p:nvPr>
            <p:ph type="title"/>
          </p:nvPr>
        </p:nvSpPr>
        <p:spPr>
          <a:xfrm>
            <a:off x="1981200" y="1"/>
            <a:ext cx="8229600" cy="334963"/>
          </a:xfrm>
        </p:spPr>
        <p:txBody>
          <a:bodyPr>
            <a:normAutofit fontScale="90000"/>
          </a:bodyPr>
          <a:lstStyle/>
          <a:p>
            <a:pPr eaLnBrk="1" hangingPunct="1"/>
            <a:r>
              <a:rPr lang="en-US" altLang="en-US" sz="2800"/>
              <a:t>Multiple-Bus Organization</a:t>
            </a:r>
          </a:p>
        </p:txBody>
      </p:sp>
    </p:spTree>
    <p:extLst>
      <p:ext uri="{BB962C8B-B14F-4D97-AF65-F5344CB8AC3E}">
        <p14:creationId xmlns:p14="http://schemas.microsoft.com/office/powerpoint/2010/main" val="1714635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3242" y="261451"/>
            <a:ext cx="8596668" cy="3880773"/>
          </a:xfrm>
        </p:spPr>
        <p:txBody>
          <a:bodyPr>
            <a:normAutofit/>
          </a:bodyPr>
          <a:lstStyle/>
          <a:p>
            <a:pPr marL="173038" indent="-173038" algn="just">
              <a:lnSpc>
                <a:spcPct val="120000"/>
              </a:lnSpc>
              <a:spcBef>
                <a:spcPct val="50000"/>
              </a:spcBef>
              <a:buFontTx/>
              <a:buChar char="•"/>
              <a:defRPr/>
            </a:pPr>
            <a:r>
              <a:rPr lang="en-US" dirty="0"/>
              <a:t> </a:t>
            </a:r>
            <a:r>
              <a:rPr lang="en-US" dirty="0" err="1">
                <a:solidFill>
                  <a:srgbClr val="C00000"/>
                </a:solidFill>
              </a:rPr>
              <a:t>Incrementer</a:t>
            </a:r>
            <a:r>
              <a:rPr lang="en-US" dirty="0">
                <a:solidFill>
                  <a:srgbClr val="C00000"/>
                </a:solidFill>
              </a:rPr>
              <a:t> unit.</a:t>
            </a:r>
          </a:p>
          <a:p>
            <a:pPr algn="just"/>
            <a:r>
              <a:rPr lang="en-US" dirty="0" smtClean="0"/>
              <a:t>which </a:t>
            </a:r>
            <a:r>
              <a:rPr lang="en-US" dirty="0"/>
              <a:t>is used to increment the PC by 4. Using the </a:t>
            </a:r>
            <a:r>
              <a:rPr lang="en-US" dirty="0" err="1"/>
              <a:t>Incrementer</a:t>
            </a:r>
            <a:r>
              <a:rPr lang="en-US" dirty="0"/>
              <a:t> eliminates the need to add 4 to the PC using the main ALU, </a:t>
            </a:r>
            <a:endParaRPr lang="en-US" dirty="0" smtClean="0"/>
          </a:p>
          <a:p>
            <a:pPr algn="just"/>
            <a:r>
              <a:rPr lang="en-US" dirty="0" smtClean="0"/>
              <a:t>It </a:t>
            </a:r>
            <a:r>
              <a:rPr lang="en-US" dirty="0"/>
              <a:t>can be used to increment other addresses, such as the memory addresses in </a:t>
            </a:r>
            <a:r>
              <a:rPr lang="en-US" dirty="0" err="1"/>
              <a:t>LoadMultiple</a:t>
            </a:r>
            <a:r>
              <a:rPr lang="en-US" dirty="0"/>
              <a:t> and </a:t>
            </a:r>
            <a:r>
              <a:rPr lang="en-US" dirty="0" err="1"/>
              <a:t>StoreMultiple</a:t>
            </a:r>
            <a:r>
              <a:rPr lang="en-US" dirty="0"/>
              <a:t> instructions.</a:t>
            </a:r>
          </a:p>
          <a:p>
            <a:pPr marL="173038" indent="-173038" algn="just">
              <a:lnSpc>
                <a:spcPct val="120000"/>
              </a:lnSpc>
              <a:spcBef>
                <a:spcPct val="50000"/>
              </a:spcBef>
              <a:buFontTx/>
              <a:buChar char="•"/>
              <a:defRPr/>
            </a:pPr>
            <a:endParaRPr lang="en-US" dirty="0"/>
          </a:p>
          <a:p>
            <a:pPr marL="0" indent="0" algn="just">
              <a:buNone/>
            </a:pPr>
            <a:endParaRPr lang="en-US" dirty="0"/>
          </a:p>
        </p:txBody>
      </p:sp>
    </p:spTree>
    <p:extLst>
      <p:ext uri="{BB962C8B-B14F-4D97-AF65-F5344CB8AC3E}">
        <p14:creationId xmlns:p14="http://schemas.microsoft.com/office/powerpoint/2010/main" val="3449099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 xmlns:a16="http://schemas.microsoft.com/office/drawing/2014/main" id="{3675633A-E9E2-4149-A41C-79D8AE98D132}"/>
              </a:ext>
            </a:extLst>
          </p:cNvPr>
          <p:cNvSpPr>
            <a:spLocks noGrp="1" noChangeArrowheads="1"/>
          </p:cNvSpPr>
          <p:nvPr>
            <p:ph type="title"/>
          </p:nvPr>
        </p:nvSpPr>
        <p:spPr/>
        <p:txBody>
          <a:bodyPr/>
          <a:lstStyle/>
          <a:p>
            <a:pPr eaLnBrk="1" hangingPunct="1"/>
            <a:r>
              <a:rPr lang="en-US" altLang="en-US"/>
              <a:t>Multiple-Bus Organization</a:t>
            </a:r>
          </a:p>
        </p:txBody>
      </p:sp>
      <p:sp>
        <p:nvSpPr>
          <p:cNvPr id="32771" name="Rectangle 3">
            <a:extLst>
              <a:ext uri="{FF2B5EF4-FFF2-40B4-BE49-F238E27FC236}">
                <a16:creationId xmlns="" xmlns:a16="http://schemas.microsoft.com/office/drawing/2014/main" id="{90FD7306-B7A3-4945-A033-CE612CCA1EF4}"/>
              </a:ext>
            </a:extLst>
          </p:cNvPr>
          <p:cNvSpPr>
            <a:spLocks noGrp="1" noChangeArrowheads="1"/>
          </p:cNvSpPr>
          <p:nvPr>
            <p:ph idx="1"/>
          </p:nvPr>
        </p:nvSpPr>
        <p:spPr>
          <a:xfrm>
            <a:off x="1981200" y="1719264"/>
            <a:ext cx="8229600" cy="338137"/>
          </a:xfrm>
        </p:spPr>
        <p:txBody>
          <a:bodyPr>
            <a:normAutofit fontScale="92500" lnSpcReduction="10000"/>
          </a:bodyPr>
          <a:lstStyle/>
          <a:p>
            <a:pPr eaLnBrk="1" hangingPunct="1">
              <a:lnSpc>
                <a:spcPct val="80000"/>
              </a:lnSpc>
            </a:pPr>
            <a:r>
              <a:rPr lang="en-US" altLang="en-US" sz="2400">
                <a:solidFill>
                  <a:srgbClr val="FF0000"/>
                </a:solidFill>
              </a:rPr>
              <a:t>Add R4, R5, R6</a:t>
            </a:r>
          </a:p>
        </p:txBody>
      </p:sp>
      <p:sp>
        <p:nvSpPr>
          <p:cNvPr id="32772" name="Rectangle 4">
            <a:extLst>
              <a:ext uri="{FF2B5EF4-FFF2-40B4-BE49-F238E27FC236}">
                <a16:creationId xmlns="" xmlns:a16="http://schemas.microsoft.com/office/drawing/2014/main" id="{6994582E-29DB-462F-9816-7A1DBA045C65}"/>
              </a:ext>
            </a:extLst>
          </p:cNvPr>
          <p:cNvSpPr>
            <a:spLocks noChangeArrowheads="1"/>
          </p:cNvSpPr>
          <p:nvPr/>
        </p:nvSpPr>
        <p:spPr bwMode="auto">
          <a:xfrm>
            <a:off x="3592514" y="2362200"/>
            <a:ext cx="5006975"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73" name="Rectangle 5">
            <a:extLst>
              <a:ext uri="{FF2B5EF4-FFF2-40B4-BE49-F238E27FC236}">
                <a16:creationId xmlns="" xmlns:a16="http://schemas.microsoft.com/office/drawing/2014/main" id="{8C54CBF8-9086-4FE5-AF8C-DEC8FF5C1524}"/>
              </a:ext>
            </a:extLst>
          </p:cNvPr>
          <p:cNvSpPr>
            <a:spLocks noChangeArrowheads="1"/>
          </p:cNvSpPr>
          <p:nvPr/>
        </p:nvSpPr>
        <p:spPr bwMode="auto">
          <a:xfrm>
            <a:off x="3592514" y="2608264"/>
            <a:ext cx="4251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b="1">
                <a:solidFill>
                  <a:srgbClr val="000000"/>
                </a:solidFill>
                <a:latin typeface="Computer Modern" charset="0"/>
              </a:rPr>
              <a:t>Step</a:t>
            </a:r>
            <a:endParaRPr lang="en-CA" altLang="en-US" sz="2400">
              <a:latin typeface="Times New Roman" panose="02020603050405020304" pitchFamily="18" charset="0"/>
            </a:endParaRPr>
          </a:p>
        </p:txBody>
      </p:sp>
      <p:sp>
        <p:nvSpPr>
          <p:cNvPr id="32774" name="Rectangle 6">
            <a:extLst>
              <a:ext uri="{FF2B5EF4-FFF2-40B4-BE49-F238E27FC236}">
                <a16:creationId xmlns="" xmlns:a16="http://schemas.microsoft.com/office/drawing/2014/main" id="{8789BD05-20DA-4429-9F31-6A3432E79BE3}"/>
              </a:ext>
            </a:extLst>
          </p:cNvPr>
          <p:cNvSpPr>
            <a:spLocks noChangeArrowheads="1"/>
          </p:cNvSpPr>
          <p:nvPr/>
        </p:nvSpPr>
        <p:spPr bwMode="auto">
          <a:xfrm>
            <a:off x="4144964" y="2608264"/>
            <a:ext cx="6187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b="1">
                <a:solidFill>
                  <a:srgbClr val="000000"/>
                </a:solidFill>
                <a:latin typeface="Computer Modern" charset="0"/>
              </a:rPr>
              <a:t>Action</a:t>
            </a:r>
            <a:endParaRPr lang="en-CA" altLang="en-US" sz="2400">
              <a:latin typeface="Times New Roman" panose="02020603050405020304" pitchFamily="18" charset="0"/>
            </a:endParaRPr>
          </a:p>
        </p:txBody>
      </p:sp>
      <p:sp>
        <p:nvSpPr>
          <p:cNvPr id="32775" name="Rectangle 7">
            <a:extLst>
              <a:ext uri="{FF2B5EF4-FFF2-40B4-BE49-F238E27FC236}">
                <a16:creationId xmlns="" xmlns:a16="http://schemas.microsoft.com/office/drawing/2014/main" id="{097CFEB2-5DF2-4C1F-9A01-55D3C6049673}"/>
              </a:ext>
            </a:extLst>
          </p:cNvPr>
          <p:cNvSpPr>
            <a:spLocks noChangeArrowheads="1"/>
          </p:cNvSpPr>
          <p:nvPr/>
        </p:nvSpPr>
        <p:spPr bwMode="auto">
          <a:xfrm>
            <a:off x="3592514" y="3144839"/>
            <a:ext cx="5006975" cy="1587"/>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776" name="Rectangle 8">
            <a:extLst>
              <a:ext uri="{FF2B5EF4-FFF2-40B4-BE49-F238E27FC236}">
                <a16:creationId xmlns="" xmlns:a16="http://schemas.microsoft.com/office/drawing/2014/main" id="{8D3DB6CB-7BA8-47D9-A9A7-09F1B9A975F5}"/>
              </a:ext>
            </a:extLst>
          </p:cNvPr>
          <p:cNvSpPr>
            <a:spLocks noChangeArrowheads="1"/>
          </p:cNvSpPr>
          <p:nvPr/>
        </p:nvSpPr>
        <p:spPr bwMode="auto">
          <a:xfrm>
            <a:off x="3592513" y="3238501"/>
            <a:ext cx="1170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1</a:t>
            </a:r>
            <a:endParaRPr lang="en-CA" altLang="en-US" sz="2400">
              <a:latin typeface="Times New Roman" panose="02020603050405020304" pitchFamily="18" charset="0"/>
            </a:endParaRPr>
          </a:p>
        </p:txBody>
      </p:sp>
      <p:sp>
        <p:nvSpPr>
          <p:cNvPr id="32777" name="Rectangle 9">
            <a:extLst>
              <a:ext uri="{FF2B5EF4-FFF2-40B4-BE49-F238E27FC236}">
                <a16:creationId xmlns="" xmlns:a16="http://schemas.microsoft.com/office/drawing/2014/main" id="{71BD741E-510A-437E-B9FA-31F6777A6EE3}"/>
              </a:ext>
            </a:extLst>
          </p:cNvPr>
          <p:cNvSpPr>
            <a:spLocks noChangeArrowheads="1"/>
          </p:cNvSpPr>
          <p:nvPr/>
        </p:nvSpPr>
        <p:spPr bwMode="auto">
          <a:xfrm>
            <a:off x="4411663" y="3238501"/>
            <a:ext cx="2420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PC</a:t>
            </a:r>
            <a:endParaRPr lang="en-CA" altLang="en-US" sz="2400">
              <a:latin typeface="Times New Roman" panose="02020603050405020304" pitchFamily="18" charset="0"/>
            </a:endParaRPr>
          </a:p>
        </p:txBody>
      </p:sp>
      <p:sp>
        <p:nvSpPr>
          <p:cNvPr id="32778" name="Rectangle 10">
            <a:extLst>
              <a:ext uri="{FF2B5EF4-FFF2-40B4-BE49-F238E27FC236}">
                <a16:creationId xmlns="" xmlns:a16="http://schemas.microsoft.com/office/drawing/2014/main" id="{44867E5C-CFFF-429E-9F4C-24A3A55DC8AC}"/>
              </a:ext>
            </a:extLst>
          </p:cNvPr>
          <p:cNvSpPr>
            <a:spLocks noChangeArrowheads="1"/>
          </p:cNvSpPr>
          <p:nvPr/>
        </p:nvSpPr>
        <p:spPr bwMode="auto">
          <a:xfrm>
            <a:off x="4700588" y="3365501"/>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2779" name="Rectangle 11">
            <a:extLst>
              <a:ext uri="{FF2B5EF4-FFF2-40B4-BE49-F238E27FC236}">
                <a16:creationId xmlns="" xmlns:a16="http://schemas.microsoft.com/office/drawing/2014/main" id="{074C3676-5FEA-4C6F-BA29-2B18915009B3}"/>
              </a:ext>
            </a:extLst>
          </p:cNvPr>
          <p:cNvSpPr>
            <a:spLocks noChangeArrowheads="1"/>
          </p:cNvSpPr>
          <p:nvPr/>
        </p:nvSpPr>
        <p:spPr bwMode="auto">
          <a:xfrm>
            <a:off x="4933950" y="3238501"/>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780" name="Rectangle 12">
            <a:extLst>
              <a:ext uri="{FF2B5EF4-FFF2-40B4-BE49-F238E27FC236}">
                <a16:creationId xmlns="" xmlns:a16="http://schemas.microsoft.com/office/drawing/2014/main" id="{FC7FE14D-7C0F-49AD-AF35-C0B019401742}"/>
              </a:ext>
            </a:extLst>
          </p:cNvPr>
          <p:cNvSpPr>
            <a:spLocks noChangeArrowheads="1"/>
          </p:cNvSpPr>
          <p:nvPr/>
        </p:nvSpPr>
        <p:spPr bwMode="auto">
          <a:xfrm>
            <a:off x="5160964" y="3238501"/>
            <a:ext cx="4200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32781" name="Rectangle 13">
            <a:extLst>
              <a:ext uri="{FF2B5EF4-FFF2-40B4-BE49-F238E27FC236}">
                <a16:creationId xmlns="" xmlns:a16="http://schemas.microsoft.com/office/drawing/2014/main" id="{12FA1DF9-3D0E-4750-8FEC-8D2A07F48D05}"/>
              </a:ext>
            </a:extLst>
          </p:cNvPr>
          <p:cNvSpPr>
            <a:spLocks noChangeArrowheads="1"/>
          </p:cNvSpPr>
          <p:nvPr/>
        </p:nvSpPr>
        <p:spPr bwMode="auto">
          <a:xfrm>
            <a:off x="5815014" y="3238501"/>
            <a:ext cx="45525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MAR</a:t>
            </a:r>
            <a:endParaRPr lang="en-CA" altLang="en-US" sz="2400">
              <a:latin typeface="Times New Roman" panose="02020603050405020304" pitchFamily="18" charset="0"/>
            </a:endParaRPr>
          </a:p>
        </p:txBody>
      </p:sp>
      <p:sp>
        <p:nvSpPr>
          <p:cNvPr id="32782" name="Rectangle 14">
            <a:extLst>
              <a:ext uri="{FF2B5EF4-FFF2-40B4-BE49-F238E27FC236}">
                <a16:creationId xmlns="" xmlns:a16="http://schemas.microsoft.com/office/drawing/2014/main" id="{CA9C0110-EACF-4815-ACB7-2869F2D3DD22}"/>
              </a:ext>
            </a:extLst>
          </p:cNvPr>
          <p:cNvSpPr>
            <a:spLocks noChangeArrowheads="1"/>
          </p:cNvSpPr>
          <p:nvPr/>
        </p:nvSpPr>
        <p:spPr bwMode="auto">
          <a:xfrm>
            <a:off x="6357939" y="336550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2783" name="Rectangle 15">
            <a:extLst>
              <a:ext uri="{FF2B5EF4-FFF2-40B4-BE49-F238E27FC236}">
                <a16:creationId xmlns="" xmlns:a16="http://schemas.microsoft.com/office/drawing/2014/main" id="{18E6AAFD-C516-48DE-87C8-2EB70B52EB0E}"/>
              </a:ext>
            </a:extLst>
          </p:cNvPr>
          <p:cNvSpPr>
            <a:spLocks noChangeArrowheads="1"/>
          </p:cNvSpPr>
          <p:nvPr/>
        </p:nvSpPr>
        <p:spPr bwMode="auto">
          <a:xfrm>
            <a:off x="6511925" y="3238501"/>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784" name="Rectangle 16">
            <a:extLst>
              <a:ext uri="{FF2B5EF4-FFF2-40B4-BE49-F238E27FC236}">
                <a16:creationId xmlns="" xmlns:a16="http://schemas.microsoft.com/office/drawing/2014/main" id="{054BB5CB-C712-4867-94D5-3CDF7C8CFF0B}"/>
              </a:ext>
            </a:extLst>
          </p:cNvPr>
          <p:cNvSpPr>
            <a:spLocks noChangeArrowheads="1"/>
          </p:cNvSpPr>
          <p:nvPr/>
        </p:nvSpPr>
        <p:spPr bwMode="auto">
          <a:xfrm>
            <a:off x="6680200" y="3238501"/>
            <a:ext cx="526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Read,</a:t>
            </a:r>
            <a:endParaRPr lang="en-CA" altLang="en-US" sz="2400">
              <a:latin typeface="Times New Roman" panose="02020603050405020304" pitchFamily="18" charset="0"/>
            </a:endParaRPr>
          </a:p>
        </p:txBody>
      </p:sp>
      <p:sp>
        <p:nvSpPr>
          <p:cNvPr id="32785" name="Rectangle 17">
            <a:extLst>
              <a:ext uri="{FF2B5EF4-FFF2-40B4-BE49-F238E27FC236}">
                <a16:creationId xmlns="" xmlns:a16="http://schemas.microsoft.com/office/drawing/2014/main" id="{2BAD9235-12A1-48A5-B921-9426A58F017F}"/>
              </a:ext>
            </a:extLst>
          </p:cNvPr>
          <p:cNvSpPr>
            <a:spLocks noChangeArrowheads="1"/>
          </p:cNvSpPr>
          <p:nvPr/>
        </p:nvSpPr>
        <p:spPr bwMode="auto">
          <a:xfrm>
            <a:off x="7359651" y="3238501"/>
            <a:ext cx="51937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IncPC</a:t>
            </a:r>
            <a:endParaRPr lang="en-CA" altLang="en-US" sz="2400">
              <a:latin typeface="Times New Roman" panose="02020603050405020304" pitchFamily="18" charset="0"/>
            </a:endParaRPr>
          </a:p>
        </p:txBody>
      </p:sp>
      <p:sp>
        <p:nvSpPr>
          <p:cNvPr id="32786" name="Rectangle 18">
            <a:extLst>
              <a:ext uri="{FF2B5EF4-FFF2-40B4-BE49-F238E27FC236}">
                <a16:creationId xmlns="" xmlns:a16="http://schemas.microsoft.com/office/drawing/2014/main" id="{8F592EA3-8F9B-4E32-934C-6F7A529CE8E2}"/>
              </a:ext>
            </a:extLst>
          </p:cNvPr>
          <p:cNvSpPr>
            <a:spLocks noChangeArrowheads="1"/>
          </p:cNvSpPr>
          <p:nvPr/>
        </p:nvSpPr>
        <p:spPr bwMode="auto">
          <a:xfrm>
            <a:off x="3592513" y="3659189"/>
            <a:ext cx="1170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2</a:t>
            </a:r>
            <a:endParaRPr lang="en-CA" altLang="en-US" sz="2400">
              <a:latin typeface="Times New Roman" panose="02020603050405020304" pitchFamily="18" charset="0"/>
            </a:endParaRPr>
          </a:p>
        </p:txBody>
      </p:sp>
      <p:sp>
        <p:nvSpPr>
          <p:cNvPr id="32787" name="Rectangle 19">
            <a:extLst>
              <a:ext uri="{FF2B5EF4-FFF2-40B4-BE49-F238E27FC236}">
                <a16:creationId xmlns="" xmlns:a16="http://schemas.microsoft.com/office/drawing/2014/main" id="{254BBDC6-1A31-468A-ABCF-80EA6E9032D3}"/>
              </a:ext>
            </a:extLst>
          </p:cNvPr>
          <p:cNvSpPr>
            <a:spLocks noChangeArrowheads="1"/>
          </p:cNvSpPr>
          <p:nvPr/>
        </p:nvSpPr>
        <p:spPr bwMode="auto">
          <a:xfrm>
            <a:off x="4411663" y="3659189"/>
            <a:ext cx="50815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WMF</a:t>
            </a:r>
            <a:endParaRPr lang="en-CA" altLang="en-US" sz="2400">
              <a:latin typeface="Times New Roman" panose="02020603050405020304" pitchFamily="18" charset="0"/>
            </a:endParaRPr>
          </a:p>
        </p:txBody>
      </p:sp>
      <p:sp>
        <p:nvSpPr>
          <p:cNvPr id="32788" name="Rectangle 20">
            <a:extLst>
              <a:ext uri="{FF2B5EF4-FFF2-40B4-BE49-F238E27FC236}">
                <a16:creationId xmlns="" xmlns:a16="http://schemas.microsoft.com/office/drawing/2014/main" id="{C9260F9E-6C44-482C-A04A-D86DD0029219}"/>
              </a:ext>
            </a:extLst>
          </p:cNvPr>
          <p:cNvSpPr>
            <a:spLocks noChangeArrowheads="1"/>
          </p:cNvSpPr>
          <p:nvPr/>
        </p:nvSpPr>
        <p:spPr bwMode="auto">
          <a:xfrm>
            <a:off x="4954588" y="3659189"/>
            <a:ext cx="12343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C</a:t>
            </a:r>
            <a:endParaRPr lang="en-CA" altLang="en-US" sz="2400">
              <a:latin typeface="Times New Roman" panose="02020603050405020304" pitchFamily="18" charset="0"/>
            </a:endParaRPr>
          </a:p>
        </p:txBody>
      </p:sp>
      <p:sp>
        <p:nvSpPr>
          <p:cNvPr id="32789" name="Rectangle 21">
            <a:extLst>
              <a:ext uri="{FF2B5EF4-FFF2-40B4-BE49-F238E27FC236}">
                <a16:creationId xmlns="" xmlns:a16="http://schemas.microsoft.com/office/drawing/2014/main" id="{66ABAC5E-3227-46A3-A8F9-2FE4082639F8}"/>
              </a:ext>
            </a:extLst>
          </p:cNvPr>
          <p:cNvSpPr>
            <a:spLocks noChangeArrowheads="1"/>
          </p:cNvSpPr>
          <p:nvPr/>
        </p:nvSpPr>
        <p:spPr bwMode="auto">
          <a:xfrm>
            <a:off x="3592513" y="4057651"/>
            <a:ext cx="1170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3</a:t>
            </a:r>
            <a:endParaRPr lang="en-CA" altLang="en-US" sz="2400">
              <a:latin typeface="Times New Roman" panose="02020603050405020304" pitchFamily="18" charset="0"/>
            </a:endParaRPr>
          </a:p>
        </p:txBody>
      </p:sp>
      <p:sp>
        <p:nvSpPr>
          <p:cNvPr id="32790" name="Rectangle 22">
            <a:extLst>
              <a:ext uri="{FF2B5EF4-FFF2-40B4-BE49-F238E27FC236}">
                <a16:creationId xmlns="" xmlns:a16="http://schemas.microsoft.com/office/drawing/2014/main" id="{C5AFCA5A-3B56-4701-A877-CEB1510914C2}"/>
              </a:ext>
            </a:extLst>
          </p:cNvPr>
          <p:cNvSpPr>
            <a:spLocks noChangeArrowheads="1"/>
          </p:cNvSpPr>
          <p:nvPr/>
        </p:nvSpPr>
        <p:spPr bwMode="auto">
          <a:xfrm>
            <a:off x="4411664" y="4057651"/>
            <a:ext cx="4648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MDR</a:t>
            </a:r>
            <a:endParaRPr lang="en-CA" altLang="en-US" sz="2400">
              <a:latin typeface="Times New Roman" panose="02020603050405020304" pitchFamily="18" charset="0"/>
            </a:endParaRPr>
          </a:p>
        </p:txBody>
      </p:sp>
      <p:sp>
        <p:nvSpPr>
          <p:cNvPr id="32791" name="Rectangle 23">
            <a:extLst>
              <a:ext uri="{FF2B5EF4-FFF2-40B4-BE49-F238E27FC236}">
                <a16:creationId xmlns="" xmlns:a16="http://schemas.microsoft.com/office/drawing/2014/main" id="{3195406A-D389-4678-AADF-F163E2DBB8F3}"/>
              </a:ext>
            </a:extLst>
          </p:cNvPr>
          <p:cNvSpPr>
            <a:spLocks noChangeArrowheads="1"/>
          </p:cNvSpPr>
          <p:nvPr/>
        </p:nvSpPr>
        <p:spPr bwMode="auto">
          <a:xfrm>
            <a:off x="4945064" y="4178301"/>
            <a:ext cx="323807"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32792" name="Rectangle 24">
            <a:extLst>
              <a:ext uri="{FF2B5EF4-FFF2-40B4-BE49-F238E27FC236}">
                <a16:creationId xmlns="" xmlns:a16="http://schemas.microsoft.com/office/drawing/2014/main" id="{2A597E48-0B8C-4E3B-94F2-C08AE20165A7}"/>
              </a:ext>
            </a:extLst>
          </p:cNvPr>
          <p:cNvSpPr>
            <a:spLocks noChangeArrowheads="1"/>
          </p:cNvSpPr>
          <p:nvPr/>
        </p:nvSpPr>
        <p:spPr bwMode="auto">
          <a:xfrm>
            <a:off x="5294313" y="4057651"/>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793" name="Rectangle 25">
            <a:extLst>
              <a:ext uri="{FF2B5EF4-FFF2-40B4-BE49-F238E27FC236}">
                <a16:creationId xmlns="" xmlns:a16="http://schemas.microsoft.com/office/drawing/2014/main" id="{EC00245C-6D06-4F06-B5B4-724C30AB1AC1}"/>
              </a:ext>
            </a:extLst>
          </p:cNvPr>
          <p:cNvSpPr>
            <a:spLocks noChangeArrowheads="1"/>
          </p:cNvSpPr>
          <p:nvPr/>
        </p:nvSpPr>
        <p:spPr bwMode="auto">
          <a:xfrm>
            <a:off x="5476876" y="4057651"/>
            <a:ext cx="4200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R=B,</a:t>
            </a:r>
            <a:endParaRPr lang="en-CA" altLang="en-US" sz="2400">
              <a:latin typeface="Times New Roman" panose="02020603050405020304" pitchFamily="18" charset="0"/>
            </a:endParaRPr>
          </a:p>
        </p:txBody>
      </p:sp>
      <p:sp>
        <p:nvSpPr>
          <p:cNvPr id="32794" name="Rectangle 26">
            <a:extLst>
              <a:ext uri="{FF2B5EF4-FFF2-40B4-BE49-F238E27FC236}">
                <a16:creationId xmlns="" xmlns:a16="http://schemas.microsoft.com/office/drawing/2014/main" id="{1E5DE558-6152-476A-ABCD-D3FC60A21A0C}"/>
              </a:ext>
            </a:extLst>
          </p:cNvPr>
          <p:cNvSpPr>
            <a:spLocks noChangeArrowheads="1"/>
          </p:cNvSpPr>
          <p:nvPr/>
        </p:nvSpPr>
        <p:spPr bwMode="auto">
          <a:xfrm>
            <a:off x="6075363" y="4057651"/>
            <a:ext cx="1827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IR</a:t>
            </a:r>
            <a:endParaRPr lang="en-CA" altLang="en-US" sz="2400">
              <a:latin typeface="Times New Roman" panose="02020603050405020304" pitchFamily="18" charset="0"/>
            </a:endParaRPr>
          </a:p>
        </p:txBody>
      </p:sp>
      <p:sp>
        <p:nvSpPr>
          <p:cNvPr id="32795" name="Rectangle 27">
            <a:extLst>
              <a:ext uri="{FF2B5EF4-FFF2-40B4-BE49-F238E27FC236}">
                <a16:creationId xmlns="" xmlns:a16="http://schemas.microsoft.com/office/drawing/2014/main" id="{8C8C10FB-7665-4D7F-B07E-28CAA6A6AEFF}"/>
              </a:ext>
            </a:extLst>
          </p:cNvPr>
          <p:cNvSpPr>
            <a:spLocks noChangeArrowheads="1"/>
          </p:cNvSpPr>
          <p:nvPr/>
        </p:nvSpPr>
        <p:spPr bwMode="auto">
          <a:xfrm>
            <a:off x="6332539" y="4164014"/>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2796" name="Rectangle 28">
            <a:extLst>
              <a:ext uri="{FF2B5EF4-FFF2-40B4-BE49-F238E27FC236}">
                <a16:creationId xmlns="" xmlns:a16="http://schemas.microsoft.com/office/drawing/2014/main" id="{92E16707-9B54-4707-978F-B5B6A3EB1D6B}"/>
              </a:ext>
            </a:extLst>
          </p:cNvPr>
          <p:cNvSpPr>
            <a:spLocks noChangeArrowheads="1"/>
          </p:cNvSpPr>
          <p:nvPr/>
        </p:nvSpPr>
        <p:spPr bwMode="auto">
          <a:xfrm>
            <a:off x="3592513" y="4478339"/>
            <a:ext cx="11702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4</a:t>
            </a:r>
            <a:endParaRPr lang="en-CA" altLang="en-US" sz="2400">
              <a:latin typeface="Times New Roman" panose="02020603050405020304" pitchFamily="18" charset="0"/>
            </a:endParaRPr>
          </a:p>
        </p:txBody>
      </p:sp>
      <p:sp>
        <p:nvSpPr>
          <p:cNvPr id="32797" name="Rectangle 29">
            <a:extLst>
              <a:ext uri="{FF2B5EF4-FFF2-40B4-BE49-F238E27FC236}">
                <a16:creationId xmlns="" xmlns:a16="http://schemas.microsoft.com/office/drawing/2014/main" id="{4F927FA5-5D3A-447F-A072-A3E4AE83EF63}"/>
              </a:ext>
            </a:extLst>
          </p:cNvPr>
          <p:cNvSpPr>
            <a:spLocks noChangeArrowheads="1"/>
          </p:cNvSpPr>
          <p:nvPr/>
        </p:nvSpPr>
        <p:spPr bwMode="auto">
          <a:xfrm>
            <a:off x="4411663" y="4478339"/>
            <a:ext cx="2420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R4</a:t>
            </a:r>
            <a:endParaRPr lang="en-CA" altLang="en-US" sz="2400">
              <a:latin typeface="Times New Roman" panose="02020603050405020304" pitchFamily="18" charset="0"/>
            </a:endParaRPr>
          </a:p>
        </p:txBody>
      </p:sp>
      <p:sp>
        <p:nvSpPr>
          <p:cNvPr id="32798" name="Rectangle 30">
            <a:extLst>
              <a:ext uri="{FF2B5EF4-FFF2-40B4-BE49-F238E27FC236}">
                <a16:creationId xmlns="" xmlns:a16="http://schemas.microsoft.com/office/drawing/2014/main" id="{CE70A990-9679-4130-A570-07F0B077E27C}"/>
              </a:ext>
            </a:extLst>
          </p:cNvPr>
          <p:cNvSpPr>
            <a:spLocks noChangeArrowheads="1"/>
          </p:cNvSpPr>
          <p:nvPr/>
        </p:nvSpPr>
        <p:spPr bwMode="auto">
          <a:xfrm>
            <a:off x="4678364" y="456247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outA</a:t>
            </a:r>
            <a:endParaRPr lang="en-CA" altLang="en-US" sz="2400">
              <a:latin typeface="Times New Roman" panose="02020603050405020304" pitchFamily="18" charset="0"/>
            </a:endParaRPr>
          </a:p>
        </p:txBody>
      </p:sp>
      <p:sp>
        <p:nvSpPr>
          <p:cNvPr id="32799" name="Rectangle 31">
            <a:extLst>
              <a:ext uri="{FF2B5EF4-FFF2-40B4-BE49-F238E27FC236}">
                <a16:creationId xmlns="" xmlns:a16="http://schemas.microsoft.com/office/drawing/2014/main" id="{556408DF-A449-4954-BC07-DD96ADF33AB3}"/>
              </a:ext>
            </a:extLst>
          </p:cNvPr>
          <p:cNvSpPr>
            <a:spLocks noChangeArrowheads="1"/>
          </p:cNvSpPr>
          <p:nvPr/>
        </p:nvSpPr>
        <p:spPr bwMode="auto">
          <a:xfrm>
            <a:off x="5027613" y="4478339"/>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800" name="Rectangle 32">
            <a:extLst>
              <a:ext uri="{FF2B5EF4-FFF2-40B4-BE49-F238E27FC236}">
                <a16:creationId xmlns="" xmlns:a16="http://schemas.microsoft.com/office/drawing/2014/main" id="{F7D6FF02-01AD-4B09-B7A2-CD9571ED8540}"/>
              </a:ext>
            </a:extLst>
          </p:cNvPr>
          <p:cNvSpPr>
            <a:spLocks noChangeArrowheads="1"/>
          </p:cNvSpPr>
          <p:nvPr/>
        </p:nvSpPr>
        <p:spPr bwMode="auto">
          <a:xfrm>
            <a:off x="5254625" y="4478339"/>
            <a:ext cx="2420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R5</a:t>
            </a:r>
            <a:endParaRPr lang="en-CA" altLang="en-US" sz="2400">
              <a:latin typeface="Times New Roman" panose="02020603050405020304" pitchFamily="18" charset="0"/>
            </a:endParaRPr>
          </a:p>
        </p:txBody>
      </p:sp>
      <p:sp>
        <p:nvSpPr>
          <p:cNvPr id="32801" name="Rectangle 33">
            <a:extLst>
              <a:ext uri="{FF2B5EF4-FFF2-40B4-BE49-F238E27FC236}">
                <a16:creationId xmlns="" xmlns:a16="http://schemas.microsoft.com/office/drawing/2014/main" id="{2CBD27A9-A8D9-4121-A709-65DFDF507FFB}"/>
              </a:ext>
            </a:extLst>
          </p:cNvPr>
          <p:cNvSpPr>
            <a:spLocks noChangeArrowheads="1"/>
          </p:cNvSpPr>
          <p:nvPr/>
        </p:nvSpPr>
        <p:spPr bwMode="auto">
          <a:xfrm>
            <a:off x="5519739" y="4562476"/>
            <a:ext cx="323807"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outB</a:t>
            </a:r>
            <a:endParaRPr lang="en-CA" altLang="en-US" sz="2400">
              <a:latin typeface="Times New Roman" panose="02020603050405020304" pitchFamily="18" charset="0"/>
            </a:endParaRPr>
          </a:p>
        </p:txBody>
      </p:sp>
      <p:sp>
        <p:nvSpPr>
          <p:cNvPr id="32802" name="Rectangle 34">
            <a:extLst>
              <a:ext uri="{FF2B5EF4-FFF2-40B4-BE49-F238E27FC236}">
                <a16:creationId xmlns="" xmlns:a16="http://schemas.microsoft.com/office/drawing/2014/main" id="{DE596C25-FBEE-41DA-95DE-2354760FD5A9}"/>
              </a:ext>
            </a:extLst>
          </p:cNvPr>
          <p:cNvSpPr>
            <a:spLocks noChangeArrowheads="1"/>
          </p:cNvSpPr>
          <p:nvPr/>
        </p:nvSpPr>
        <p:spPr bwMode="auto">
          <a:xfrm>
            <a:off x="5870575" y="4478339"/>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803" name="Rectangle 35">
            <a:extLst>
              <a:ext uri="{FF2B5EF4-FFF2-40B4-BE49-F238E27FC236}">
                <a16:creationId xmlns="" xmlns:a16="http://schemas.microsoft.com/office/drawing/2014/main" id="{05638C4C-C564-48F6-9010-731E3E982F21}"/>
              </a:ext>
            </a:extLst>
          </p:cNvPr>
          <p:cNvSpPr>
            <a:spLocks noChangeArrowheads="1"/>
          </p:cNvSpPr>
          <p:nvPr/>
        </p:nvSpPr>
        <p:spPr bwMode="auto">
          <a:xfrm>
            <a:off x="6096000" y="4478339"/>
            <a:ext cx="7566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SelectA,</a:t>
            </a:r>
            <a:endParaRPr lang="en-CA" altLang="en-US" sz="2400">
              <a:latin typeface="Times New Roman" panose="02020603050405020304" pitchFamily="18" charset="0"/>
            </a:endParaRPr>
          </a:p>
        </p:txBody>
      </p:sp>
      <p:sp>
        <p:nvSpPr>
          <p:cNvPr id="32804" name="Rectangle 36">
            <a:extLst>
              <a:ext uri="{FF2B5EF4-FFF2-40B4-BE49-F238E27FC236}">
                <a16:creationId xmlns="" xmlns:a16="http://schemas.microsoft.com/office/drawing/2014/main" id="{7C6EA536-0821-4DC6-AEF5-739A0AD5C0B1}"/>
              </a:ext>
            </a:extLst>
          </p:cNvPr>
          <p:cNvSpPr>
            <a:spLocks noChangeArrowheads="1"/>
          </p:cNvSpPr>
          <p:nvPr/>
        </p:nvSpPr>
        <p:spPr bwMode="auto">
          <a:xfrm>
            <a:off x="7008813" y="4478339"/>
            <a:ext cx="43441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Add,</a:t>
            </a:r>
            <a:endParaRPr lang="en-CA" altLang="en-US" sz="2400">
              <a:latin typeface="Times New Roman" panose="02020603050405020304" pitchFamily="18" charset="0"/>
            </a:endParaRPr>
          </a:p>
        </p:txBody>
      </p:sp>
      <p:sp>
        <p:nvSpPr>
          <p:cNvPr id="32805" name="Rectangle 37">
            <a:extLst>
              <a:ext uri="{FF2B5EF4-FFF2-40B4-BE49-F238E27FC236}">
                <a16:creationId xmlns="" xmlns:a16="http://schemas.microsoft.com/office/drawing/2014/main" id="{37CAF8E1-F6BC-4569-9995-D24B797F4F7F}"/>
              </a:ext>
            </a:extLst>
          </p:cNvPr>
          <p:cNvSpPr>
            <a:spLocks noChangeArrowheads="1"/>
          </p:cNvSpPr>
          <p:nvPr/>
        </p:nvSpPr>
        <p:spPr bwMode="auto">
          <a:xfrm>
            <a:off x="7569200" y="4478339"/>
            <a:ext cx="2420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R6</a:t>
            </a:r>
            <a:endParaRPr lang="en-CA" altLang="en-US" sz="2400">
              <a:latin typeface="Times New Roman" panose="02020603050405020304" pitchFamily="18" charset="0"/>
            </a:endParaRPr>
          </a:p>
        </p:txBody>
      </p:sp>
      <p:sp>
        <p:nvSpPr>
          <p:cNvPr id="32806" name="Rectangle 38">
            <a:extLst>
              <a:ext uri="{FF2B5EF4-FFF2-40B4-BE49-F238E27FC236}">
                <a16:creationId xmlns="" xmlns:a16="http://schemas.microsoft.com/office/drawing/2014/main" id="{9860694B-C06D-4CF0-9060-B4D1B530D1E2}"/>
              </a:ext>
            </a:extLst>
          </p:cNvPr>
          <p:cNvSpPr>
            <a:spLocks noChangeArrowheads="1"/>
          </p:cNvSpPr>
          <p:nvPr/>
        </p:nvSpPr>
        <p:spPr bwMode="auto">
          <a:xfrm>
            <a:off x="7859714" y="45624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2807" name="Rectangle 39">
            <a:extLst>
              <a:ext uri="{FF2B5EF4-FFF2-40B4-BE49-F238E27FC236}">
                <a16:creationId xmlns="" xmlns:a16="http://schemas.microsoft.com/office/drawing/2014/main" id="{9E47ADCA-DC6A-41ED-A2C9-0D355643868A}"/>
              </a:ext>
            </a:extLst>
          </p:cNvPr>
          <p:cNvSpPr>
            <a:spLocks noChangeArrowheads="1"/>
          </p:cNvSpPr>
          <p:nvPr/>
        </p:nvSpPr>
        <p:spPr bwMode="auto">
          <a:xfrm>
            <a:off x="8008938" y="4478339"/>
            <a:ext cx="577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a:t>
            </a:r>
            <a:endParaRPr lang="en-CA" altLang="en-US" sz="2400">
              <a:latin typeface="Times New Roman" panose="02020603050405020304" pitchFamily="18" charset="0"/>
            </a:endParaRPr>
          </a:p>
        </p:txBody>
      </p:sp>
      <p:sp>
        <p:nvSpPr>
          <p:cNvPr id="32808" name="Rectangle 40">
            <a:extLst>
              <a:ext uri="{FF2B5EF4-FFF2-40B4-BE49-F238E27FC236}">
                <a16:creationId xmlns="" xmlns:a16="http://schemas.microsoft.com/office/drawing/2014/main" id="{A55AD1C7-DC35-4EE0-B9E9-1609F1A10B82}"/>
              </a:ext>
            </a:extLst>
          </p:cNvPr>
          <p:cNvSpPr>
            <a:spLocks noChangeArrowheads="1"/>
          </p:cNvSpPr>
          <p:nvPr/>
        </p:nvSpPr>
        <p:spPr bwMode="auto">
          <a:xfrm>
            <a:off x="8177214" y="4478339"/>
            <a:ext cx="3558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End</a:t>
            </a:r>
            <a:endParaRPr lang="en-CA" altLang="en-US" sz="2400">
              <a:latin typeface="Times New Roman" panose="02020603050405020304" pitchFamily="18" charset="0"/>
            </a:endParaRPr>
          </a:p>
        </p:txBody>
      </p:sp>
      <p:sp>
        <p:nvSpPr>
          <p:cNvPr id="32809" name="Rectangle 41">
            <a:extLst>
              <a:ext uri="{FF2B5EF4-FFF2-40B4-BE49-F238E27FC236}">
                <a16:creationId xmlns="" xmlns:a16="http://schemas.microsoft.com/office/drawing/2014/main" id="{3811D4E8-EA6E-4E57-86E8-F156D327B9C5}"/>
              </a:ext>
            </a:extLst>
          </p:cNvPr>
          <p:cNvSpPr>
            <a:spLocks noChangeArrowheads="1"/>
          </p:cNvSpPr>
          <p:nvPr/>
        </p:nvSpPr>
        <p:spPr bwMode="auto">
          <a:xfrm>
            <a:off x="3592514" y="5040314"/>
            <a:ext cx="5006975" cy="1587"/>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2810" name="Rectangle 42">
            <a:extLst>
              <a:ext uri="{FF2B5EF4-FFF2-40B4-BE49-F238E27FC236}">
                <a16:creationId xmlns="" xmlns:a16="http://schemas.microsoft.com/office/drawing/2014/main" id="{83A56EC9-2072-45A7-A1DB-8CC357639BC6}"/>
              </a:ext>
            </a:extLst>
          </p:cNvPr>
          <p:cNvSpPr>
            <a:spLocks noChangeArrowheads="1"/>
          </p:cNvSpPr>
          <p:nvPr/>
        </p:nvSpPr>
        <p:spPr bwMode="auto">
          <a:xfrm>
            <a:off x="3222626" y="5846763"/>
            <a:ext cx="604126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tabLst>
                <a:tab pos="1139825" algn="l"/>
              </a:tabLst>
              <a:defRPr>
                <a:solidFill>
                  <a:schemeClr val="tx1"/>
                </a:solidFill>
                <a:latin typeface="Arial" panose="020B0604020202020204" pitchFamily="34" charset="0"/>
              </a:defRPr>
            </a:lvl1pPr>
            <a:lvl2pPr marL="742950" indent="-285750" eaLnBrk="0" hangingPunct="0">
              <a:tabLst>
                <a:tab pos="1139825" algn="l"/>
              </a:tabLst>
              <a:defRPr>
                <a:solidFill>
                  <a:schemeClr val="tx1"/>
                </a:solidFill>
                <a:latin typeface="Arial" panose="020B0604020202020204" pitchFamily="34" charset="0"/>
              </a:defRPr>
            </a:lvl2pPr>
            <a:lvl3pPr marL="1143000" indent="-228600" eaLnBrk="0" hangingPunct="0">
              <a:tabLst>
                <a:tab pos="1139825" algn="l"/>
              </a:tabLst>
              <a:defRPr>
                <a:solidFill>
                  <a:schemeClr val="tx1"/>
                </a:solidFill>
                <a:latin typeface="Arial" panose="020B0604020202020204" pitchFamily="34" charset="0"/>
              </a:defRPr>
            </a:lvl3pPr>
            <a:lvl4pPr marL="1600200" indent="-228600" eaLnBrk="0" hangingPunct="0">
              <a:tabLst>
                <a:tab pos="1139825" algn="l"/>
              </a:tabLst>
              <a:defRPr>
                <a:solidFill>
                  <a:schemeClr val="tx1"/>
                </a:solidFill>
                <a:latin typeface="Arial" panose="020B0604020202020204" pitchFamily="34" charset="0"/>
              </a:defRPr>
            </a:lvl4pPr>
            <a:lvl5pPr marL="2057400" indent="-228600" eaLnBrk="0" hangingPunct="0">
              <a:tabLst>
                <a:tab pos="1139825" algn="l"/>
              </a:tabLst>
              <a:defRPr>
                <a:solidFill>
                  <a:schemeClr val="tx1"/>
                </a:solidFill>
                <a:latin typeface="Arial" panose="020B0604020202020204" pitchFamily="34" charset="0"/>
              </a:defRPr>
            </a:lvl5pPr>
            <a:lvl6pPr marL="2514600" indent="-228600" algn="ctr" eaLnBrk="0" fontAlgn="base" hangingPunct="0">
              <a:spcBef>
                <a:spcPct val="0"/>
              </a:spcBef>
              <a:spcAft>
                <a:spcPct val="0"/>
              </a:spcAft>
              <a:tabLst>
                <a:tab pos="1139825" algn="l"/>
              </a:tabLst>
              <a:defRPr>
                <a:solidFill>
                  <a:schemeClr val="tx1"/>
                </a:solidFill>
                <a:latin typeface="Arial" panose="020B0604020202020204" pitchFamily="34" charset="0"/>
              </a:defRPr>
            </a:lvl6pPr>
            <a:lvl7pPr marL="2971800" indent="-228600" algn="ctr" eaLnBrk="0" fontAlgn="base" hangingPunct="0">
              <a:spcBef>
                <a:spcPct val="0"/>
              </a:spcBef>
              <a:spcAft>
                <a:spcPct val="0"/>
              </a:spcAft>
              <a:tabLst>
                <a:tab pos="1139825" algn="l"/>
              </a:tabLst>
              <a:defRPr>
                <a:solidFill>
                  <a:schemeClr val="tx1"/>
                </a:solidFill>
                <a:latin typeface="Arial" panose="020B0604020202020204" pitchFamily="34" charset="0"/>
              </a:defRPr>
            </a:lvl7pPr>
            <a:lvl8pPr marL="3429000" indent="-228600" algn="ctr" eaLnBrk="0" fontAlgn="base" hangingPunct="0">
              <a:spcBef>
                <a:spcPct val="0"/>
              </a:spcBef>
              <a:spcAft>
                <a:spcPct val="0"/>
              </a:spcAft>
              <a:tabLst>
                <a:tab pos="1139825" algn="l"/>
              </a:tabLst>
              <a:defRPr>
                <a:solidFill>
                  <a:schemeClr val="tx1"/>
                </a:solidFill>
                <a:latin typeface="Arial" panose="020B0604020202020204" pitchFamily="34" charset="0"/>
              </a:defRPr>
            </a:lvl8pPr>
            <a:lvl9pPr marL="3886200" indent="-228600" algn="ctr" eaLnBrk="0" fontAlgn="base" hangingPunct="0">
              <a:spcBef>
                <a:spcPct val="0"/>
              </a:spcBef>
              <a:spcAft>
                <a:spcPct val="0"/>
              </a:spcAft>
              <a:tabLst>
                <a:tab pos="1139825" algn="l"/>
              </a:tabLst>
              <a:defRPr>
                <a:solidFill>
                  <a:schemeClr val="tx1"/>
                </a:solidFill>
                <a:latin typeface="Arial" panose="020B0604020202020204" pitchFamily="34" charset="0"/>
              </a:defRPr>
            </a:lvl9pPr>
          </a:lstStyle>
          <a:p>
            <a:pPr algn="l" eaLnBrk="1" hangingPunct="1"/>
            <a:r>
              <a:rPr lang="en-CA" altLang="en-US">
                <a:solidFill>
                  <a:srgbClr val="000000"/>
                </a:solidFill>
                <a:latin typeface="Computer Modern" charset="0"/>
              </a:rPr>
              <a:t>Figure</a:t>
            </a:r>
            <a:r>
              <a:rPr lang="en-US" altLang="en-US">
                <a:solidFill>
                  <a:srgbClr val="000000"/>
                </a:solidFill>
                <a:latin typeface="Computer Modern" charset="0"/>
              </a:rPr>
              <a:t> 7.9.	Control sequence for the instruction.  Add R4,R5,R6,</a:t>
            </a:r>
          </a:p>
          <a:p>
            <a:pPr algn="l" eaLnBrk="1" hangingPunct="1"/>
            <a:r>
              <a:rPr lang="en-US" altLang="en-US">
                <a:solidFill>
                  <a:srgbClr val="000000"/>
                </a:solidFill>
                <a:latin typeface="Computer Modern" charset="0"/>
              </a:rPr>
              <a:t>	for the three-bus organization in Figure 7.8. </a:t>
            </a:r>
            <a:endParaRPr lang="en-CA" altLang="en-US" sz="2400">
              <a:latin typeface="Times New Roman" panose="02020603050405020304" pitchFamily="18" charset="0"/>
            </a:endParaRPr>
          </a:p>
        </p:txBody>
      </p:sp>
    </p:spTree>
    <p:extLst>
      <p:ext uri="{BB962C8B-B14F-4D97-AF65-F5344CB8AC3E}">
        <p14:creationId xmlns:p14="http://schemas.microsoft.com/office/powerpoint/2010/main" val="67971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 xmlns:a16="http://schemas.microsoft.com/office/drawing/2014/main" id="{12B5DA11-5B2C-4C7B-9A53-A2ECCB6E2E64}"/>
              </a:ext>
            </a:extLst>
          </p:cNvPr>
          <p:cNvSpPr>
            <a:spLocks noGrp="1" noChangeArrowheads="1"/>
          </p:cNvSpPr>
          <p:nvPr>
            <p:ph type="title"/>
          </p:nvPr>
        </p:nvSpPr>
        <p:spPr>
          <a:xfrm>
            <a:off x="1981200" y="122238"/>
            <a:ext cx="7543800" cy="563562"/>
          </a:xfrm>
        </p:spPr>
        <p:txBody>
          <a:bodyPr rtlCol="0">
            <a:normAutofit fontScale="90000"/>
          </a:bodyPr>
          <a:lstStyle/>
          <a:p>
            <a:pPr>
              <a:defRPr/>
            </a:pPr>
            <a:endParaRPr lang="en-US" sz="3500"/>
          </a:p>
        </p:txBody>
      </p:sp>
      <p:sp>
        <p:nvSpPr>
          <p:cNvPr id="33795" name="Rectangle 3">
            <a:extLst>
              <a:ext uri="{FF2B5EF4-FFF2-40B4-BE49-F238E27FC236}">
                <a16:creationId xmlns="" xmlns:a16="http://schemas.microsoft.com/office/drawing/2014/main" id="{C3275F93-3B24-4B87-B610-6B22BD6E1EE4}"/>
              </a:ext>
            </a:extLst>
          </p:cNvPr>
          <p:cNvSpPr>
            <a:spLocks noGrp="1" noChangeArrowheads="1"/>
          </p:cNvSpPr>
          <p:nvPr>
            <p:ph idx="1"/>
          </p:nvPr>
        </p:nvSpPr>
        <p:spPr>
          <a:xfrm>
            <a:off x="1981200" y="879476"/>
            <a:ext cx="8229600" cy="5826125"/>
          </a:xfrm>
        </p:spPr>
        <p:txBody>
          <a:bodyPr/>
          <a:lstStyle/>
          <a:p>
            <a:pPr algn="just" eaLnBrk="1" hangingPunct="1"/>
            <a:r>
              <a:rPr lang="en-US" altLang="en-US" sz="2400" dirty="0"/>
              <a:t>Step 1:The contents of PC are passed </a:t>
            </a:r>
          </a:p>
          <a:p>
            <a:pPr algn="just" eaLnBrk="1" hangingPunct="1">
              <a:buFont typeface="Wingdings" panose="05000000000000000000" pitchFamily="2" charset="2"/>
              <a:buNone/>
            </a:pPr>
            <a:r>
              <a:rPr lang="en-US" altLang="en-US" sz="2400" dirty="0"/>
              <a:t>	through the ALU using  R=B control signal &amp; loaded into MAR to start a memory read operation</a:t>
            </a:r>
          </a:p>
          <a:p>
            <a:pPr algn="just" eaLnBrk="1" hangingPunct="1">
              <a:buFont typeface="Wingdings" panose="05000000000000000000" pitchFamily="2" charset="2"/>
              <a:buNone/>
            </a:pPr>
            <a:r>
              <a:rPr lang="en-US" altLang="en-US" sz="2400" dirty="0"/>
              <a:t>          At the same time PC is </a:t>
            </a:r>
            <a:r>
              <a:rPr lang="en-US" altLang="en-US" sz="2400" dirty="0" err="1"/>
              <a:t>incrementer</a:t>
            </a:r>
            <a:r>
              <a:rPr lang="en-US" altLang="en-US" sz="2400" dirty="0"/>
              <a:t>  by 4</a:t>
            </a:r>
          </a:p>
          <a:p>
            <a:pPr algn="just" eaLnBrk="1" hangingPunct="1"/>
            <a:r>
              <a:rPr lang="en-US" altLang="en-US" sz="2400" dirty="0"/>
              <a:t>Step 2:The processor waits for MFC</a:t>
            </a:r>
          </a:p>
          <a:p>
            <a:pPr algn="just" eaLnBrk="1" hangingPunct="1"/>
            <a:r>
              <a:rPr lang="en-US" altLang="en-US" sz="2400" dirty="0"/>
              <a:t>Step 3: Loads the data ,received into MDR ,then transfers them to IR.</a:t>
            </a:r>
          </a:p>
          <a:p>
            <a:pPr algn="just" eaLnBrk="1" hangingPunct="1"/>
            <a:r>
              <a:rPr lang="en-US" altLang="en-US" sz="2400" dirty="0"/>
              <a:t>Step 4: The execution phase of the instruction requires only one control step to complete.</a:t>
            </a:r>
          </a:p>
        </p:txBody>
      </p:sp>
    </p:spTree>
    <p:extLst>
      <p:ext uri="{BB962C8B-B14F-4D97-AF65-F5344CB8AC3E}">
        <p14:creationId xmlns:p14="http://schemas.microsoft.com/office/powerpoint/2010/main" val="3904097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62709"/>
            <a:ext cx="8596668" cy="5478654"/>
          </a:xfrm>
        </p:spPr>
        <p:txBody>
          <a:bodyPr>
            <a:normAutofit/>
          </a:bodyPr>
          <a:lstStyle/>
          <a:p>
            <a:pPr marL="0" indent="0">
              <a:buNone/>
            </a:pPr>
            <a:r>
              <a:rPr lang="en-US" sz="2400" dirty="0" smtClean="0"/>
              <a:t>Write the control sequence For DIV R1,[R2] in a 3 bus structure</a:t>
            </a:r>
          </a:p>
          <a:p>
            <a:pPr>
              <a:buAutoNum type="arabicParenR"/>
            </a:pPr>
            <a:r>
              <a:rPr lang="en-US" sz="2400" dirty="0" smtClean="0"/>
              <a:t>PC out, R=B, MAR in, READ, </a:t>
            </a:r>
            <a:r>
              <a:rPr lang="en-US" sz="2400" dirty="0" err="1" smtClean="0"/>
              <a:t>Inc</a:t>
            </a:r>
            <a:r>
              <a:rPr lang="en-US" sz="2400" dirty="0" smtClean="0"/>
              <a:t> PC</a:t>
            </a:r>
          </a:p>
          <a:p>
            <a:pPr>
              <a:buAutoNum type="arabicParenR"/>
            </a:pPr>
            <a:r>
              <a:rPr lang="en-US" sz="2400" dirty="0" smtClean="0"/>
              <a:t>WMFC</a:t>
            </a:r>
          </a:p>
          <a:p>
            <a:pPr>
              <a:buAutoNum type="arabicParenR"/>
            </a:pPr>
            <a:r>
              <a:rPr lang="en-US" sz="2400" dirty="0" smtClean="0"/>
              <a:t>MDR </a:t>
            </a:r>
            <a:r>
              <a:rPr lang="en-US" sz="2400" dirty="0" err="1" smtClean="0"/>
              <a:t>outB</a:t>
            </a:r>
            <a:r>
              <a:rPr lang="en-US" sz="2400" dirty="0" smtClean="0"/>
              <a:t>, R=B, </a:t>
            </a:r>
            <a:r>
              <a:rPr lang="en-US" sz="2400" dirty="0" err="1" smtClean="0"/>
              <a:t>IRin</a:t>
            </a:r>
            <a:endParaRPr lang="en-US" sz="2400" dirty="0" smtClean="0"/>
          </a:p>
          <a:p>
            <a:pPr>
              <a:buAutoNum type="arabicParenR"/>
            </a:pPr>
            <a:r>
              <a:rPr lang="en-US" sz="2400" dirty="0" smtClean="0"/>
              <a:t>R2out B, </a:t>
            </a:r>
            <a:r>
              <a:rPr lang="en-US" sz="2400" dirty="0" err="1" smtClean="0"/>
              <a:t>MARin</a:t>
            </a:r>
            <a:r>
              <a:rPr lang="en-US" sz="2400" dirty="0" smtClean="0"/>
              <a:t> , R=B, read</a:t>
            </a:r>
          </a:p>
          <a:p>
            <a:pPr>
              <a:buAutoNum type="arabicParenR"/>
            </a:pPr>
            <a:r>
              <a:rPr lang="en-US" sz="2400" dirty="0" err="1" smtClean="0"/>
              <a:t>Wmfc</a:t>
            </a:r>
            <a:endParaRPr lang="en-US" sz="2400" dirty="0" smtClean="0"/>
          </a:p>
          <a:p>
            <a:pPr>
              <a:buAutoNum type="arabicParenR"/>
            </a:pPr>
            <a:r>
              <a:rPr lang="en-US" sz="2400" dirty="0" smtClean="0"/>
              <a:t>MDR out B, R1 out </a:t>
            </a:r>
            <a:r>
              <a:rPr lang="en-US" sz="2400" dirty="0" err="1" smtClean="0"/>
              <a:t>A,select</a:t>
            </a:r>
            <a:r>
              <a:rPr lang="en-US" sz="2400" dirty="0" smtClean="0"/>
              <a:t> A, div, MDR in</a:t>
            </a:r>
          </a:p>
          <a:p>
            <a:pPr>
              <a:buAutoNum type="arabicParenR"/>
            </a:pPr>
            <a:r>
              <a:rPr lang="en-US" sz="2400" dirty="0" smtClean="0"/>
              <a:t>MDR OUT B,WMFC,END</a:t>
            </a:r>
          </a:p>
        </p:txBody>
      </p:sp>
    </p:spTree>
    <p:extLst>
      <p:ext uri="{BB962C8B-B14F-4D97-AF65-F5344CB8AC3E}">
        <p14:creationId xmlns:p14="http://schemas.microsoft.com/office/powerpoint/2010/main" val="326078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79549"/>
            <a:ext cx="8596668" cy="5461813"/>
          </a:xfrm>
        </p:spPr>
        <p:txBody>
          <a:bodyPr/>
          <a:lstStyle/>
          <a:p>
            <a:r>
              <a:rPr lang="en-US" dirty="0" smtClean="0"/>
              <a:t>SUB R3,(R4)</a:t>
            </a:r>
          </a:p>
          <a:p>
            <a:pPr marL="0" indent="0">
              <a:buNone/>
            </a:pPr>
            <a:endParaRPr lang="en-US" dirty="0" smtClean="0"/>
          </a:p>
          <a:p>
            <a:pPr>
              <a:buAutoNum type="arabicParenR"/>
            </a:pPr>
            <a:r>
              <a:rPr lang="en-US" dirty="0"/>
              <a:t>PC out, R=B, MAR in, READ, </a:t>
            </a:r>
            <a:r>
              <a:rPr lang="en-US" dirty="0" err="1"/>
              <a:t>Inc</a:t>
            </a:r>
            <a:r>
              <a:rPr lang="en-US" dirty="0"/>
              <a:t> PC</a:t>
            </a:r>
          </a:p>
          <a:p>
            <a:pPr>
              <a:buAutoNum type="arabicParenR"/>
            </a:pPr>
            <a:r>
              <a:rPr lang="en-US" dirty="0"/>
              <a:t>WMFC</a:t>
            </a:r>
          </a:p>
          <a:p>
            <a:pPr>
              <a:buAutoNum type="arabicParenR"/>
            </a:pPr>
            <a:r>
              <a:rPr lang="en-US" dirty="0"/>
              <a:t>MDR </a:t>
            </a:r>
            <a:r>
              <a:rPr lang="en-US" dirty="0" err="1"/>
              <a:t>outB</a:t>
            </a:r>
            <a:r>
              <a:rPr lang="en-US" dirty="0"/>
              <a:t>, R=B, </a:t>
            </a:r>
            <a:r>
              <a:rPr lang="en-US" dirty="0" err="1"/>
              <a:t>IRin</a:t>
            </a:r>
            <a:endParaRPr lang="en-US" dirty="0"/>
          </a:p>
          <a:p>
            <a:pPr>
              <a:buAutoNum type="arabicParenR"/>
            </a:pPr>
            <a:r>
              <a:rPr lang="en-US" dirty="0"/>
              <a:t>R4out </a:t>
            </a:r>
            <a:r>
              <a:rPr lang="en-US" dirty="0" err="1"/>
              <a:t>B,MARin</a:t>
            </a:r>
            <a:r>
              <a:rPr lang="en-US" dirty="0"/>
              <a:t>, R=</a:t>
            </a:r>
            <a:r>
              <a:rPr lang="en-US" dirty="0" err="1"/>
              <a:t>B,read</a:t>
            </a:r>
            <a:endParaRPr lang="en-US" dirty="0"/>
          </a:p>
          <a:p>
            <a:pPr>
              <a:buAutoNum type="arabicParenR"/>
            </a:pPr>
            <a:r>
              <a:rPr lang="en-US" dirty="0" err="1"/>
              <a:t>Wmfc</a:t>
            </a:r>
            <a:endParaRPr lang="en-US" dirty="0"/>
          </a:p>
          <a:p>
            <a:pPr>
              <a:buAutoNum type="arabicParenR"/>
            </a:pPr>
            <a:r>
              <a:rPr lang="en-US" dirty="0" err="1"/>
              <a:t>MDRout</a:t>
            </a:r>
            <a:r>
              <a:rPr lang="en-US" dirty="0"/>
              <a:t> B,R3out </a:t>
            </a:r>
            <a:r>
              <a:rPr lang="en-US" dirty="0" err="1"/>
              <a:t>A,select</a:t>
            </a:r>
            <a:r>
              <a:rPr lang="en-US" dirty="0"/>
              <a:t> </a:t>
            </a:r>
            <a:r>
              <a:rPr lang="en-US" dirty="0" err="1"/>
              <a:t>A,sub,MDRin</a:t>
            </a:r>
            <a:endParaRPr lang="en-US" dirty="0"/>
          </a:p>
          <a:p>
            <a:pPr>
              <a:buAutoNum type="arabicParenR"/>
            </a:pPr>
            <a:r>
              <a:rPr lang="en-US" dirty="0"/>
              <a:t>MDR </a:t>
            </a:r>
            <a:r>
              <a:rPr lang="en-US"/>
              <a:t>out </a:t>
            </a:r>
            <a:r>
              <a:rPr lang="en-US" smtClean="0"/>
              <a:t>B, </a:t>
            </a:r>
            <a:r>
              <a:rPr lang="en-US" dirty="0" smtClean="0"/>
              <a:t>WMFC,END</a:t>
            </a:r>
            <a:endParaRPr lang="en-US" dirty="0"/>
          </a:p>
          <a:p>
            <a:pPr marL="0" indent="0">
              <a:buNone/>
            </a:pPr>
            <a:endParaRPr lang="en-US" dirty="0"/>
          </a:p>
        </p:txBody>
      </p:sp>
    </p:spTree>
    <p:extLst>
      <p:ext uri="{BB962C8B-B14F-4D97-AF65-F5344CB8AC3E}">
        <p14:creationId xmlns:p14="http://schemas.microsoft.com/office/powerpoint/2010/main" val="12627956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604</TotalTime>
  <Words>840</Words>
  <Application>Microsoft Office PowerPoint</Application>
  <PresentationFormat>Widescreen</PresentationFormat>
  <Paragraphs>185</Paragraphs>
  <Slides>17</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Cambria</vt:lpstr>
      <vt:lpstr>Computer Modern</vt:lpstr>
      <vt:lpstr>Söhne</vt:lpstr>
      <vt:lpstr>Times New Roman</vt:lpstr>
      <vt:lpstr>Trebuchet MS</vt:lpstr>
      <vt:lpstr>Wingdings</vt:lpstr>
      <vt:lpstr>Wingdings 3</vt:lpstr>
      <vt:lpstr>Facet</vt:lpstr>
      <vt:lpstr>PowerPoint Presentation</vt:lpstr>
      <vt:lpstr>PowerPoint Presentation</vt:lpstr>
      <vt:lpstr>LOAD 10(R2),R1</vt:lpstr>
      <vt:lpstr>STORE R1,10(R2)</vt:lpstr>
      <vt:lpstr>PowerPoint Presentation</vt:lpstr>
      <vt:lpstr>PowerPoint Presentation</vt:lpstr>
      <vt:lpstr>STORE R6,X(R8) </vt:lpstr>
      <vt:lpstr>ADD [R1],[R2]</vt:lpstr>
      <vt:lpstr>PowerPoint Presentation</vt:lpstr>
      <vt:lpstr>ADD R1,NUM</vt:lpstr>
      <vt:lpstr>Multiple-Bus Organization</vt:lpstr>
      <vt:lpstr>Multiple-Bus Organization</vt:lpstr>
      <vt:lpstr>PowerPoint Presentation</vt:lpstr>
      <vt:lpstr>Multiple-Bus Organization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 CST 202</dc:title>
  <dc:creator>Jithika</dc:creator>
  <cp:lastModifiedBy>RAHUMATH</cp:lastModifiedBy>
  <cp:revision>90</cp:revision>
  <dcterms:created xsi:type="dcterms:W3CDTF">2021-05-04T08:48:37Z</dcterms:created>
  <dcterms:modified xsi:type="dcterms:W3CDTF">2024-05-12T21:09:22Z</dcterms:modified>
</cp:coreProperties>
</file>