
<file path=[Content_Types].xml><?xml version="1.0" encoding="utf-8"?>
<Types xmlns="http://schemas.openxmlformats.org/package/2006/content-types">
  <Default Extension="png" ContentType="image/png"/>
  <Default Extension="tmp"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7" r:id="rId2"/>
    <p:sldId id="288" r:id="rId3"/>
    <p:sldId id="289" r:id="rId4"/>
    <p:sldId id="290" r:id="rId5"/>
    <p:sldId id="291" r:id="rId6"/>
    <p:sldId id="259" r:id="rId7"/>
    <p:sldId id="292" r:id="rId8"/>
    <p:sldId id="260" r:id="rId9"/>
    <p:sldId id="293" r:id="rId10"/>
    <p:sldId id="294" r:id="rId11"/>
    <p:sldId id="295" r:id="rId12"/>
    <p:sldId id="296" r:id="rId13"/>
    <p:sldId id="297" r:id="rId14"/>
    <p:sldId id="298" r:id="rId15"/>
    <p:sldId id="270" r:id="rId16"/>
    <p:sldId id="256" r:id="rId17"/>
    <p:sldId id="257" r:id="rId18"/>
    <p:sldId id="258" r:id="rId19"/>
    <p:sldId id="271" r:id="rId20"/>
    <p:sldId id="286" r:id="rId21"/>
    <p:sldId id="285" r:id="rId22"/>
    <p:sldId id="261" r:id="rId23"/>
    <p:sldId id="262" r:id="rId24"/>
    <p:sldId id="263" r:id="rId25"/>
    <p:sldId id="274" r:id="rId26"/>
    <p:sldId id="264" r:id="rId27"/>
    <p:sldId id="279" r:id="rId28"/>
    <p:sldId id="280" r:id="rId29"/>
    <p:sldId id="266" r:id="rId30"/>
    <p:sldId id="275" r:id="rId31"/>
    <p:sldId id="267" r:id="rId32"/>
    <p:sldId id="276" r:id="rId33"/>
    <p:sldId id="268" r:id="rId34"/>
    <p:sldId id="281" r:id="rId35"/>
    <p:sldId id="269" r:id="rId36"/>
    <p:sldId id="299" r:id="rId37"/>
    <p:sldId id="300" r:id="rId38"/>
    <p:sldId id="301" r:id="rId39"/>
    <p:sldId id="307" r:id="rId40"/>
    <p:sldId id="321" r:id="rId41"/>
    <p:sldId id="305" r:id="rId42"/>
    <p:sldId id="308" r:id="rId43"/>
    <p:sldId id="272" r:id="rId44"/>
    <p:sldId id="273" r:id="rId45"/>
    <p:sldId id="310" r:id="rId46"/>
    <p:sldId id="311" r:id="rId47"/>
    <p:sldId id="312" r:id="rId48"/>
    <p:sldId id="313" r:id="rId49"/>
    <p:sldId id="315" r:id="rId50"/>
    <p:sldId id="316" r:id="rId51"/>
    <p:sldId id="317" r:id="rId52"/>
    <p:sldId id="319" r:id="rId53"/>
    <p:sldId id="320" r:id="rId54"/>
    <p:sldId id="395" r:id="rId55"/>
    <p:sldId id="396" r:id="rId56"/>
    <p:sldId id="394" r:id="rId57"/>
    <p:sldId id="322" r:id="rId58"/>
    <p:sldId id="323" r:id="rId59"/>
    <p:sldId id="325" r:id="rId60"/>
    <p:sldId id="326" r:id="rId61"/>
    <p:sldId id="327" r:id="rId62"/>
    <p:sldId id="328" r:id="rId63"/>
    <p:sldId id="329" r:id="rId64"/>
    <p:sldId id="265" r:id="rId65"/>
    <p:sldId id="330" r:id="rId66"/>
    <p:sldId id="331" r:id="rId67"/>
    <p:sldId id="332" r:id="rId68"/>
    <p:sldId id="333" r:id="rId69"/>
    <p:sldId id="334" r:id="rId70"/>
    <p:sldId id="335" r:id="rId71"/>
    <p:sldId id="336" r:id="rId72"/>
    <p:sldId id="337" r:id="rId73"/>
    <p:sldId id="338" r:id="rId74"/>
    <p:sldId id="339" r:id="rId75"/>
    <p:sldId id="340" r:id="rId76"/>
    <p:sldId id="341" r:id="rId77"/>
    <p:sldId id="342" r:id="rId78"/>
    <p:sldId id="343" r:id="rId79"/>
    <p:sldId id="344" r:id="rId80"/>
    <p:sldId id="345" r:id="rId81"/>
    <p:sldId id="346" r:id="rId82"/>
    <p:sldId id="347" r:id="rId83"/>
    <p:sldId id="348" r:id="rId8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2" d="100"/>
          <a:sy n="42" d="100"/>
        </p:scale>
        <p:origin x="924" y="4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C3481171-9894-4FB9-9481-451F9F4F0595}" type="datetimeFigureOut">
              <a:rPr lang="en-IN" smtClean="0"/>
              <a:t>09-04-2024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FADEE4-9F98-4E59-97A7-18B4BAE0BEE8}" type="slidenum">
              <a:rPr lang="en-IN" smtClean="0"/>
              <a:t>‹#›</a:t>
            </a:fld>
            <a:endParaRPr lang="en-IN"/>
          </a:p>
        </p:txBody>
      </p:sp>
    </p:spTree>
    <p:extLst>
      <p:ext uri="{BB962C8B-B14F-4D97-AF65-F5344CB8AC3E}">
        <p14:creationId xmlns:p14="http://schemas.microsoft.com/office/powerpoint/2010/main" val="31255956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3481171-9894-4FB9-9481-451F9F4F0595}" type="datetimeFigureOut">
              <a:rPr lang="en-IN" smtClean="0"/>
              <a:t>09-04-2024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FADEE4-9F98-4E59-97A7-18B4BAE0BEE8}" type="slidenum">
              <a:rPr lang="en-IN" smtClean="0"/>
              <a:t>‹#›</a:t>
            </a:fld>
            <a:endParaRPr lang="en-IN"/>
          </a:p>
        </p:txBody>
      </p:sp>
    </p:spTree>
    <p:extLst>
      <p:ext uri="{BB962C8B-B14F-4D97-AF65-F5344CB8AC3E}">
        <p14:creationId xmlns:p14="http://schemas.microsoft.com/office/powerpoint/2010/main" val="38163622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3481171-9894-4FB9-9481-451F9F4F0595}" type="datetimeFigureOut">
              <a:rPr lang="en-IN" smtClean="0"/>
              <a:t>09-04-2024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FADEE4-9F98-4E59-97A7-18B4BAE0BEE8}" type="slidenum">
              <a:rPr lang="en-IN" smtClean="0"/>
              <a:t>‹#›</a:t>
            </a:fld>
            <a:endParaRPr lang="en-IN"/>
          </a:p>
        </p:txBody>
      </p:sp>
    </p:spTree>
    <p:extLst>
      <p:ext uri="{BB962C8B-B14F-4D97-AF65-F5344CB8AC3E}">
        <p14:creationId xmlns:p14="http://schemas.microsoft.com/office/powerpoint/2010/main" val="29499188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C3481171-9894-4FB9-9481-451F9F4F0595}" type="datetimeFigureOut">
              <a:rPr lang="en-IN" smtClean="0"/>
              <a:t>09-04-2024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4FADEE4-9F98-4E59-97A7-18B4BAE0BEE8}" type="slidenum">
              <a:rPr lang="en-IN" smtClean="0"/>
              <a:t>‹#›</a:t>
            </a:fld>
            <a:endParaRPr lang="en-IN"/>
          </a:p>
        </p:txBody>
      </p:sp>
    </p:spTree>
    <p:extLst>
      <p:ext uri="{BB962C8B-B14F-4D97-AF65-F5344CB8AC3E}">
        <p14:creationId xmlns:p14="http://schemas.microsoft.com/office/powerpoint/2010/main" val="41842053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C3481171-9894-4FB9-9481-451F9F4F0595}" type="datetimeFigureOut">
              <a:rPr lang="en-IN" smtClean="0"/>
              <a:t>09-04-2024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4FADEE4-9F98-4E59-97A7-18B4BAE0BEE8}" type="slidenum">
              <a:rPr lang="en-IN" smtClean="0"/>
              <a:t>‹#›</a:t>
            </a:fld>
            <a:endParaRPr lang="en-IN"/>
          </a:p>
        </p:txBody>
      </p:sp>
    </p:spTree>
    <p:extLst>
      <p:ext uri="{BB962C8B-B14F-4D97-AF65-F5344CB8AC3E}">
        <p14:creationId xmlns:p14="http://schemas.microsoft.com/office/powerpoint/2010/main" val="30909307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C3481171-9894-4FB9-9481-451F9F4F0595}" type="datetimeFigureOut">
              <a:rPr lang="en-IN" smtClean="0"/>
              <a:t>09-04-2024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4FADEE4-9F98-4E59-97A7-18B4BAE0BEE8}" type="slidenum">
              <a:rPr lang="en-IN" smtClean="0"/>
              <a:t>‹#›</a:t>
            </a:fld>
            <a:endParaRPr lang="en-IN"/>
          </a:p>
        </p:txBody>
      </p:sp>
    </p:spTree>
    <p:extLst>
      <p:ext uri="{BB962C8B-B14F-4D97-AF65-F5344CB8AC3E}">
        <p14:creationId xmlns:p14="http://schemas.microsoft.com/office/powerpoint/2010/main" val="15155890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481171-9894-4FB9-9481-451F9F4F0595}" type="datetimeFigureOut">
              <a:rPr lang="en-IN" smtClean="0"/>
              <a:t>09-04-2024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4FADEE4-9F98-4E59-97A7-18B4BAE0BEE8}" type="slidenum">
              <a:rPr lang="en-IN" smtClean="0"/>
              <a:t>‹#›</a:t>
            </a:fld>
            <a:endParaRPr lang="en-IN"/>
          </a:p>
        </p:txBody>
      </p:sp>
    </p:spTree>
    <p:extLst>
      <p:ext uri="{BB962C8B-B14F-4D97-AF65-F5344CB8AC3E}">
        <p14:creationId xmlns:p14="http://schemas.microsoft.com/office/powerpoint/2010/main" val="33572763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3481171-9894-4FB9-9481-451F9F4F0595}" type="datetimeFigureOut">
              <a:rPr lang="en-IN" smtClean="0"/>
              <a:t>09-04-2024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4FADEE4-9F98-4E59-97A7-18B4BAE0BEE8}" type="slidenum">
              <a:rPr lang="en-IN" smtClean="0"/>
              <a:t>‹#›</a:t>
            </a:fld>
            <a:endParaRPr lang="en-IN"/>
          </a:p>
        </p:txBody>
      </p:sp>
    </p:spTree>
    <p:extLst>
      <p:ext uri="{BB962C8B-B14F-4D97-AF65-F5344CB8AC3E}">
        <p14:creationId xmlns:p14="http://schemas.microsoft.com/office/powerpoint/2010/main" val="9553359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3481171-9894-4FB9-9481-451F9F4F0595}" type="datetimeFigureOut">
              <a:rPr lang="en-IN" smtClean="0"/>
              <a:t>09-04-2024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4FADEE4-9F98-4E59-97A7-18B4BAE0BEE8}" type="slidenum">
              <a:rPr lang="en-IN" smtClean="0"/>
              <a:t>‹#›</a:t>
            </a:fld>
            <a:endParaRPr lang="en-IN"/>
          </a:p>
        </p:txBody>
      </p:sp>
    </p:spTree>
    <p:extLst>
      <p:ext uri="{BB962C8B-B14F-4D97-AF65-F5344CB8AC3E}">
        <p14:creationId xmlns:p14="http://schemas.microsoft.com/office/powerpoint/2010/main" val="9807189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3481171-9894-4FB9-9481-451F9F4F0595}" type="datetimeFigureOut">
              <a:rPr lang="en-IN" smtClean="0"/>
              <a:t>09-04-2024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FADEE4-9F98-4E59-97A7-18B4BAE0BEE8}" type="slidenum">
              <a:rPr lang="en-IN" smtClean="0"/>
              <a:t>‹#›</a:t>
            </a:fld>
            <a:endParaRPr lang="en-IN"/>
          </a:p>
        </p:txBody>
      </p:sp>
    </p:spTree>
    <p:extLst>
      <p:ext uri="{BB962C8B-B14F-4D97-AF65-F5344CB8AC3E}">
        <p14:creationId xmlns:p14="http://schemas.microsoft.com/office/powerpoint/2010/main" val="3574741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3481171-9894-4FB9-9481-451F9F4F0595}" type="datetimeFigureOut">
              <a:rPr lang="en-IN" smtClean="0"/>
              <a:t>09-04-2024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FADEE4-9F98-4E59-97A7-18B4BAE0BEE8}" type="slidenum">
              <a:rPr lang="en-IN" smtClean="0"/>
              <a:t>‹#›</a:t>
            </a:fld>
            <a:endParaRPr lang="en-IN"/>
          </a:p>
        </p:txBody>
      </p:sp>
    </p:spTree>
    <p:extLst>
      <p:ext uri="{BB962C8B-B14F-4D97-AF65-F5344CB8AC3E}">
        <p14:creationId xmlns:p14="http://schemas.microsoft.com/office/powerpoint/2010/main" val="26819354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481171-9894-4FB9-9481-451F9F4F0595}" type="datetimeFigureOut">
              <a:rPr lang="en-IN" smtClean="0"/>
              <a:t>09-04-2024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FADEE4-9F98-4E59-97A7-18B4BAE0BEE8}" type="slidenum">
              <a:rPr lang="en-IN" smtClean="0"/>
              <a:t>‹#›</a:t>
            </a:fld>
            <a:endParaRPr lang="en-IN"/>
          </a:p>
        </p:txBody>
      </p:sp>
    </p:spTree>
    <p:extLst>
      <p:ext uri="{BB962C8B-B14F-4D97-AF65-F5344CB8AC3E}">
        <p14:creationId xmlns:p14="http://schemas.microsoft.com/office/powerpoint/2010/main" val="41104733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5.tmp"/><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7.tmp"/><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tmp"/><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0.tmp"/><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22.tmp"/><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26.tmp"/><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7.tmp"/><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0.tmp"/><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1.tmp"/><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42.tmp"/><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43.tmp"/><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44.tmp"/><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5.tmp"/><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6.tmp"/><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7.tmp"/><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48.tmp"/><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49.tmp"/><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E2A75-2B11-E873-11EB-CDFD8BDA48AC}"/>
              </a:ext>
            </a:extLst>
          </p:cNvPr>
          <p:cNvSpPr>
            <a:spLocks noGrp="1"/>
          </p:cNvSpPr>
          <p:nvPr>
            <p:ph type="ctrTitle"/>
          </p:nvPr>
        </p:nvSpPr>
        <p:spPr>
          <a:xfrm>
            <a:off x="1524000" y="1122363"/>
            <a:ext cx="9144000" cy="1655762"/>
          </a:xfrm>
        </p:spPr>
        <p:txBody>
          <a:bodyPr/>
          <a:lstStyle/>
          <a:p>
            <a:r>
              <a:rPr lang="en-US" dirty="0"/>
              <a:t>Module 4</a:t>
            </a:r>
          </a:p>
        </p:txBody>
      </p:sp>
      <p:sp>
        <p:nvSpPr>
          <p:cNvPr id="3" name="Subtitle 2">
            <a:extLst>
              <a:ext uri="{FF2B5EF4-FFF2-40B4-BE49-F238E27FC236}">
                <a16:creationId xmlns:a16="http://schemas.microsoft.com/office/drawing/2014/main" id="{2F4161F7-F47B-5D5E-2BCA-EC728C140955}"/>
              </a:ext>
            </a:extLst>
          </p:cNvPr>
          <p:cNvSpPr>
            <a:spLocks noGrp="1"/>
          </p:cNvSpPr>
          <p:nvPr>
            <p:ph type="subTitle" idx="1"/>
          </p:nvPr>
        </p:nvSpPr>
        <p:spPr>
          <a:xfrm>
            <a:off x="612743" y="3602038"/>
            <a:ext cx="10821970" cy="2421690"/>
          </a:xfrm>
        </p:spPr>
        <p:txBody>
          <a:bodyPr>
            <a:normAutofit fontScale="62500" lnSpcReduction="20000"/>
          </a:bodyPr>
          <a:lstStyle/>
          <a:p>
            <a:pPr marL="67945" algn="just">
              <a:lnSpc>
                <a:spcPct val="200000"/>
              </a:lnSpc>
              <a:spcAft>
                <a:spcPts val="1200"/>
              </a:spcAft>
            </a:pPr>
            <a:r>
              <a:rPr lang="en-US" dirty="0">
                <a:latin typeface="Times New Roman" panose="02020603050405020304" pitchFamily="18" charset="0"/>
                <a:cs typeface="Times New Roman" panose="02020603050405020304" pitchFamily="18" charset="0"/>
              </a:rPr>
              <a:t>CONTROL LOGIC DESIGN: Control organization, Hardwired control, microprogram control, control of processor unit, micro-program sequencer, micro-programmed CPU organization, horizontal and vertical micro instructions,</a:t>
            </a:r>
          </a:p>
          <a:p>
            <a:pPr marL="67945" algn="just">
              <a:lnSpc>
                <a:spcPct val="200000"/>
              </a:lnSpc>
              <a:spcAft>
                <a:spcPts val="1200"/>
              </a:spcAft>
            </a:pPr>
            <a:r>
              <a:rPr lang="en-US" b="1" i="1" spc="-5" dirty="0">
                <a:latin typeface="Times New Roman" panose="02020603050405020304" pitchFamily="18" charset="0"/>
                <a:cs typeface="Times New Roman" panose="02020603050405020304" pitchFamily="18" charset="0"/>
              </a:rPr>
              <a:t>Text :</a:t>
            </a:r>
            <a:r>
              <a:rPr lang="en-US" dirty="0" err="1"/>
              <a:t>Hamacher</a:t>
            </a:r>
            <a:r>
              <a:rPr lang="en-US" dirty="0"/>
              <a:t> C., Z. </a:t>
            </a:r>
            <a:r>
              <a:rPr lang="en-US" dirty="0" err="1"/>
              <a:t>Vranesic</a:t>
            </a:r>
            <a:r>
              <a:rPr lang="en-US" dirty="0"/>
              <a:t> and S. </a:t>
            </a:r>
            <a:r>
              <a:rPr lang="en-US" dirty="0" err="1"/>
              <a:t>Zaky</a:t>
            </a:r>
            <a:r>
              <a:rPr lang="en-US" dirty="0"/>
              <a:t>, Computer Organization ,5/e, McGraw Hill, 2011 Chapter 7</a:t>
            </a:r>
          </a:p>
          <a:p>
            <a:pPr marL="67945" algn="just">
              <a:lnSpc>
                <a:spcPct val="200000"/>
              </a:lnSpc>
              <a:spcAft>
                <a:spcPts val="1200"/>
              </a:spcAft>
            </a:pPr>
            <a:r>
              <a:rPr lang="it-IT" b="1" dirty="0"/>
              <a:t>Mano M. M., Digital Logic &amp; Computer Design ,  chapter 10</a:t>
            </a:r>
            <a:endParaRPr lang="en-US" sz="2400" b="1" dirty="0">
              <a:latin typeface="Times New Roman"/>
              <a:cs typeface="Times New Roman"/>
            </a:endParaRPr>
          </a:p>
        </p:txBody>
      </p:sp>
    </p:spTree>
    <p:extLst>
      <p:ext uri="{BB962C8B-B14F-4D97-AF65-F5344CB8AC3E}">
        <p14:creationId xmlns:p14="http://schemas.microsoft.com/office/powerpoint/2010/main" val="2710273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6CD1C-2358-145C-4E37-7D21B31F3B01}"/>
              </a:ext>
            </a:extLst>
          </p:cNvPr>
          <p:cNvSpPr>
            <a:spLocks noGrp="1"/>
          </p:cNvSpPr>
          <p:nvPr>
            <p:ph type="title"/>
          </p:nvPr>
        </p:nvSpPr>
        <p:spPr>
          <a:xfrm>
            <a:off x="838200" y="365125"/>
            <a:ext cx="10515600" cy="491331"/>
          </a:xfrm>
        </p:spPr>
        <p:txBody>
          <a:bodyPr>
            <a:noAutofit/>
          </a:bodyPr>
          <a:lstStyle/>
          <a:p>
            <a:r>
              <a:rPr lang="en-US" sz="3200" dirty="0"/>
              <a:t>CONTROL LOGIC DESIGN</a:t>
            </a:r>
          </a:p>
        </p:txBody>
      </p:sp>
      <p:pic>
        <p:nvPicPr>
          <p:cNvPr id="9" name="Content Placeholder 8">
            <a:extLst>
              <a:ext uri="{FF2B5EF4-FFF2-40B4-BE49-F238E27FC236}">
                <a16:creationId xmlns:a16="http://schemas.microsoft.com/office/drawing/2014/main" id="{229DB14B-723C-76BC-3B3E-798889E8FAAF}"/>
              </a:ext>
            </a:extLst>
          </p:cNvPr>
          <p:cNvPicPr>
            <a:picLocks noGrp="1" noChangeAspect="1"/>
          </p:cNvPicPr>
          <p:nvPr>
            <p:ph idx="1"/>
          </p:nvPr>
        </p:nvPicPr>
        <p:blipFill>
          <a:blip r:embed="rId2"/>
          <a:stretch>
            <a:fillRect/>
          </a:stretch>
        </p:blipFill>
        <p:spPr>
          <a:xfrm>
            <a:off x="3286125" y="2001044"/>
            <a:ext cx="5619750" cy="4000500"/>
          </a:xfrm>
        </p:spPr>
      </p:pic>
    </p:spTree>
    <p:extLst>
      <p:ext uri="{BB962C8B-B14F-4D97-AF65-F5344CB8AC3E}">
        <p14:creationId xmlns:p14="http://schemas.microsoft.com/office/powerpoint/2010/main" val="3310218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E94B6-4B4C-4A73-580F-DA4B02724DC7}"/>
              </a:ext>
            </a:extLst>
          </p:cNvPr>
          <p:cNvSpPr>
            <a:spLocks noGrp="1"/>
          </p:cNvSpPr>
          <p:nvPr>
            <p:ph type="title"/>
          </p:nvPr>
        </p:nvSpPr>
        <p:spPr>
          <a:xfrm>
            <a:off x="838200" y="365125"/>
            <a:ext cx="10515600" cy="502141"/>
          </a:xfrm>
        </p:spPr>
        <p:txBody>
          <a:bodyPr>
            <a:normAutofit fontScale="90000"/>
          </a:bodyPr>
          <a:lstStyle/>
          <a:p>
            <a:r>
              <a:rPr lang="en-US" sz="3200" b="1" dirty="0">
                <a:latin typeface="Times New Roman" panose="02020603050405020304" pitchFamily="18" charset="0"/>
                <a:cs typeface="Times New Roman" panose="02020603050405020304" pitchFamily="18" charset="0"/>
              </a:rPr>
              <a:t>CONTROL LOGIC DESIGN</a:t>
            </a:r>
          </a:p>
        </p:txBody>
      </p:sp>
      <p:sp>
        <p:nvSpPr>
          <p:cNvPr id="3" name="Content Placeholder 2">
            <a:extLst>
              <a:ext uri="{FF2B5EF4-FFF2-40B4-BE49-F238E27FC236}">
                <a16:creationId xmlns:a16="http://schemas.microsoft.com/office/drawing/2014/main" id="{0FF17286-C268-B100-B49E-3584D2D9F44D}"/>
              </a:ext>
            </a:extLst>
          </p:cNvPr>
          <p:cNvSpPr>
            <a:spLocks noGrp="1"/>
          </p:cNvSpPr>
          <p:nvPr>
            <p:ph idx="1"/>
          </p:nvPr>
        </p:nvSpPr>
        <p:spPr>
          <a:xfrm>
            <a:off x="338578" y="996066"/>
            <a:ext cx="11614609" cy="5621550"/>
          </a:xfrm>
        </p:spPr>
        <p:txBody>
          <a:bodyPr>
            <a:normAutofit lnSpcReduction="10000"/>
          </a:bodyPr>
          <a:lstStyle/>
          <a:p>
            <a:r>
              <a:rPr lang="en-US" dirty="0">
                <a:latin typeface="Times New Roman" panose="02020603050405020304" pitchFamily="18" charset="0"/>
                <a:cs typeface="Times New Roman" panose="02020603050405020304" pitchFamily="18" charset="0"/>
              </a:rPr>
              <a:t>The binary information found in a digital system is stored in processor or memory registers, and it can be either data or control information. </a:t>
            </a:r>
          </a:p>
          <a:p>
            <a:r>
              <a:rPr lang="en-US" dirty="0">
                <a:latin typeface="Times New Roman" panose="02020603050405020304" pitchFamily="18" charset="0"/>
                <a:cs typeface="Times New Roman" panose="02020603050405020304" pitchFamily="18" charset="0"/>
              </a:rPr>
              <a:t>The logic design of a digital system is a process for deriving the digital circuits that perform data processing and the digital circuits that provide control signals. </a:t>
            </a:r>
          </a:p>
          <a:p>
            <a:r>
              <a:rPr lang="en-US" dirty="0">
                <a:latin typeface="Times New Roman" panose="02020603050405020304" pitchFamily="18" charset="0"/>
                <a:cs typeface="Times New Roman" panose="02020603050405020304" pitchFamily="18" charset="0"/>
              </a:rPr>
              <a:t>The timing for all registers in a synchronous digital system is controlled by a master-clock generator. </a:t>
            </a:r>
          </a:p>
          <a:p>
            <a:r>
              <a:rPr lang="en-US" dirty="0">
                <a:latin typeface="Times New Roman" panose="02020603050405020304" pitchFamily="18" charset="0"/>
                <a:cs typeface="Times New Roman" panose="02020603050405020304" pitchFamily="18" charset="0"/>
              </a:rPr>
              <a:t>The clock pulses are applied to all flip-flops and registers in the system, including the flip-flops and registers in the control unit. </a:t>
            </a:r>
          </a:p>
          <a:p>
            <a:r>
              <a:rPr lang="en-US" dirty="0">
                <a:latin typeface="Times New Roman" panose="02020603050405020304" pitchFamily="18" charset="0"/>
                <a:cs typeface="Times New Roman" panose="02020603050405020304" pitchFamily="18" charset="0"/>
              </a:rPr>
              <a:t>Two representations</a:t>
            </a:r>
          </a:p>
          <a:p>
            <a:pPr lvl="1"/>
            <a:r>
              <a:rPr lang="en-US" dirty="0">
                <a:latin typeface="Times New Roman" panose="02020603050405020304" pitchFamily="18" charset="0"/>
                <a:cs typeface="Times New Roman" panose="02020603050405020304" pitchFamily="18" charset="0"/>
              </a:rPr>
              <a:t>Timing diagrams- clarifies the timing sequence and other relationships among the various control signals in the system.</a:t>
            </a:r>
          </a:p>
          <a:p>
            <a:pPr lvl="1"/>
            <a:r>
              <a:rPr lang="en-US" dirty="0">
                <a:latin typeface="Times New Roman" panose="02020603050405020304" pitchFamily="18" charset="0"/>
                <a:cs typeface="Times New Roman" panose="02020603050405020304" pitchFamily="18" charset="0"/>
              </a:rPr>
              <a:t>Flowcharts - a convenient way to specify the sequence of procedural steps and decision paths for an algorithm</a:t>
            </a:r>
          </a:p>
        </p:txBody>
      </p:sp>
    </p:spTree>
    <p:extLst>
      <p:ext uri="{BB962C8B-B14F-4D97-AF65-F5344CB8AC3E}">
        <p14:creationId xmlns:p14="http://schemas.microsoft.com/office/powerpoint/2010/main" val="7529598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F9F29E-1E02-A523-E133-CAA91DACC0EB}"/>
              </a:ext>
            </a:extLst>
          </p:cNvPr>
          <p:cNvSpPr>
            <a:spLocks noGrp="1"/>
          </p:cNvSpPr>
          <p:nvPr>
            <p:ph idx="1"/>
          </p:nvPr>
        </p:nvSpPr>
        <p:spPr>
          <a:xfrm>
            <a:off x="179109" y="452486"/>
            <a:ext cx="11849493" cy="6405513"/>
          </a:xfrm>
        </p:spPr>
        <p:txBody>
          <a:bodyPr>
            <a:normAutofit/>
          </a:bodyPr>
          <a:lstStyle/>
          <a:p>
            <a:pPr marL="12700" indent="0">
              <a:lnSpc>
                <a:spcPct val="100000"/>
              </a:lnSpc>
              <a:spcBef>
                <a:spcPts val="735"/>
              </a:spcBef>
              <a:buNone/>
            </a:pPr>
            <a:r>
              <a:rPr lang="en-US" sz="2400" i="1" spc="-5" dirty="0">
                <a:latin typeface="Times New Roman"/>
                <a:cs typeface="Times New Roman"/>
              </a:rPr>
              <a:t>Control Organization</a:t>
            </a:r>
            <a:endParaRPr lang="en-US" sz="2400" dirty="0">
              <a:latin typeface="Times New Roman"/>
              <a:cs typeface="Times New Roman"/>
            </a:endParaRPr>
          </a:p>
          <a:p>
            <a:pPr>
              <a:lnSpc>
                <a:spcPct val="100000"/>
              </a:lnSpc>
              <a:spcBef>
                <a:spcPts val="5"/>
              </a:spcBef>
            </a:pPr>
            <a:endParaRPr lang="en-US" sz="1600" dirty="0"/>
          </a:p>
          <a:p>
            <a:pPr marL="0" indent="0">
              <a:lnSpc>
                <a:spcPct val="100000"/>
              </a:lnSpc>
              <a:spcBef>
                <a:spcPts val="5"/>
              </a:spcBef>
              <a:buNone/>
            </a:pPr>
            <a:r>
              <a:rPr lang="en-US" sz="2000" dirty="0"/>
              <a:t>four methods of control organization </a:t>
            </a:r>
          </a:p>
          <a:p>
            <a:pPr marL="0" indent="0">
              <a:lnSpc>
                <a:spcPct val="100000"/>
              </a:lnSpc>
              <a:spcBef>
                <a:spcPts val="5"/>
              </a:spcBef>
              <a:buNone/>
            </a:pPr>
            <a:endParaRPr lang="en-US" sz="2000" dirty="0">
              <a:latin typeface="Times New Roman"/>
              <a:cs typeface="Times New Roman"/>
            </a:endParaRPr>
          </a:p>
          <a:p>
            <a:pPr marL="965200" lvl="2" indent="-229235">
              <a:lnSpc>
                <a:spcPct val="100000"/>
              </a:lnSpc>
              <a:spcBef>
                <a:spcPts val="5"/>
              </a:spcBef>
              <a:buAutoNum type="arabicPeriod"/>
              <a:tabLst>
                <a:tab pos="965835" algn="l"/>
              </a:tabLst>
            </a:pPr>
            <a:r>
              <a:rPr lang="en-US" sz="2000" dirty="0"/>
              <a:t> One flip-flop per state methods</a:t>
            </a:r>
          </a:p>
          <a:p>
            <a:pPr marL="965200" lvl="2" indent="-229235">
              <a:lnSpc>
                <a:spcPct val="100000"/>
              </a:lnSpc>
              <a:spcBef>
                <a:spcPts val="5"/>
              </a:spcBef>
              <a:buAutoNum type="arabicPeriod"/>
              <a:tabLst>
                <a:tab pos="965835" algn="l"/>
              </a:tabLst>
            </a:pPr>
            <a:r>
              <a:rPr lang="en-US" sz="2000" dirty="0"/>
              <a:t>Sequence register and decoder method</a:t>
            </a:r>
          </a:p>
          <a:p>
            <a:pPr marL="965200" lvl="2" indent="-229235">
              <a:lnSpc>
                <a:spcPct val="100000"/>
              </a:lnSpc>
              <a:spcBef>
                <a:spcPts val="5"/>
              </a:spcBef>
              <a:buAutoNum type="arabicPeriod"/>
              <a:tabLst>
                <a:tab pos="965835" algn="l"/>
              </a:tabLst>
            </a:pPr>
            <a:r>
              <a:rPr lang="en-US" sz="2000" dirty="0"/>
              <a:t>PLA control </a:t>
            </a:r>
          </a:p>
          <a:p>
            <a:pPr marL="965200" lvl="2" indent="-229235">
              <a:lnSpc>
                <a:spcPct val="100000"/>
              </a:lnSpc>
              <a:spcBef>
                <a:spcPts val="5"/>
              </a:spcBef>
              <a:buAutoNum type="arabicPeriod"/>
              <a:tabLst>
                <a:tab pos="965835" algn="l"/>
              </a:tabLst>
            </a:pPr>
            <a:r>
              <a:rPr lang="en-US" sz="2000" dirty="0"/>
              <a:t>Micro-program control</a:t>
            </a:r>
          </a:p>
          <a:p>
            <a:pPr marL="735965" lvl="2" indent="0">
              <a:lnSpc>
                <a:spcPct val="100000"/>
              </a:lnSpc>
              <a:spcBef>
                <a:spcPts val="5"/>
              </a:spcBef>
              <a:buNone/>
              <a:tabLst>
                <a:tab pos="965835" algn="l"/>
              </a:tabLst>
            </a:pPr>
            <a:endParaRPr lang="en-US" sz="2400" dirty="0"/>
          </a:p>
          <a:p>
            <a:pPr marL="1078865" lvl="2" indent="-342900">
              <a:lnSpc>
                <a:spcPct val="100000"/>
              </a:lnSpc>
              <a:spcBef>
                <a:spcPts val="5"/>
              </a:spcBef>
              <a:tabLst>
                <a:tab pos="965835" algn="l"/>
              </a:tabLst>
            </a:pPr>
            <a:r>
              <a:rPr lang="en-US" dirty="0"/>
              <a:t>The first two methods result in a circuit that must use SSI and MSI circuits for the implementation.</a:t>
            </a:r>
          </a:p>
          <a:p>
            <a:pPr marL="1078865" lvl="2" indent="-342900">
              <a:lnSpc>
                <a:spcPct val="100000"/>
              </a:lnSpc>
              <a:spcBef>
                <a:spcPts val="5"/>
              </a:spcBef>
              <a:tabLst>
                <a:tab pos="965835" algn="l"/>
              </a:tabLst>
            </a:pPr>
            <a:r>
              <a:rPr lang="en-US" dirty="0"/>
              <a:t>A control unit implemented with SSI and MSI devices is said to be a hard-wired control.</a:t>
            </a:r>
          </a:p>
          <a:p>
            <a:pPr marL="1078865" lvl="2" indent="-342900">
              <a:lnSpc>
                <a:spcPct val="100000"/>
              </a:lnSpc>
              <a:spcBef>
                <a:spcPts val="5"/>
              </a:spcBef>
              <a:tabLst>
                <a:tab pos="965835" algn="l"/>
              </a:tabLst>
            </a:pPr>
            <a:r>
              <a:rPr lang="en-US" dirty="0"/>
              <a:t>If any alterations or modifications are needed, the circuits must be rewired to fulfill the new requirements. </a:t>
            </a:r>
          </a:p>
          <a:p>
            <a:pPr marL="1078865" lvl="2" indent="-342900">
              <a:lnSpc>
                <a:spcPct val="100000"/>
              </a:lnSpc>
              <a:spcBef>
                <a:spcPts val="5"/>
              </a:spcBef>
              <a:tabLst>
                <a:tab pos="965835" algn="l"/>
              </a:tabLst>
            </a:pPr>
            <a:r>
              <a:rPr lang="en-US" dirty="0"/>
              <a:t>The PLA or micro-program control which uses an LSI device such as a programmable logic array or a read-only memory.</a:t>
            </a:r>
          </a:p>
          <a:p>
            <a:pPr marL="1078865" lvl="2" indent="-342900">
              <a:lnSpc>
                <a:spcPct val="100000"/>
              </a:lnSpc>
              <a:spcBef>
                <a:spcPts val="5"/>
              </a:spcBef>
              <a:tabLst>
                <a:tab pos="965835" algn="l"/>
              </a:tabLst>
            </a:pPr>
            <a:r>
              <a:rPr lang="en-US" dirty="0"/>
              <a:t>Any alterations or modifications in a micro-program control can be easily achieved without wiring changes by removing the ROM from its socket and inserting another ROM programmed to fulfill the new specifications.</a:t>
            </a:r>
            <a:endParaRPr lang="en-US" sz="2000" dirty="0"/>
          </a:p>
        </p:txBody>
      </p:sp>
    </p:spTree>
    <p:extLst>
      <p:ext uri="{BB962C8B-B14F-4D97-AF65-F5344CB8AC3E}">
        <p14:creationId xmlns:p14="http://schemas.microsoft.com/office/powerpoint/2010/main" val="33955338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1C6D9-5D65-C4CA-1EE3-68E6CE2D6B08}"/>
              </a:ext>
            </a:extLst>
          </p:cNvPr>
          <p:cNvSpPr>
            <a:spLocks noGrp="1"/>
          </p:cNvSpPr>
          <p:nvPr>
            <p:ph type="title"/>
          </p:nvPr>
        </p:nvSpPr>
        <p:spPr>
          <a:xfrm>
            <a:off x="838200" y="365125"/>
            <a:ext cx="10515600" cy="766091"/>
          </a:xfrm>
        </p:spPr>
        <p:txBody>
          <a:bodyPr>
            <a:normAutofit/>
          </a:bodyPr>
          <a:lstStyle/>
          <a:p>
            <a:r>
              <a:rPr lang="en-US" sz="2800" b="1" dirty="0"/>
              <a:t>One flip-flop per state methods</a:t>
            </a:r>
          </a:p>
        </p:txBody>
      </p:sp>
      <p:sp>
        <p:nvSpPr>
          <p:cNvPr id="3" name="Content Placeholder 2">
            <a:extLst>
              <a:ext uri="{FF2B5EF4-FFF2-40B4-BE49-F238E27FC236}">
                <a16:creationId xmlns:a16="http://schemas.microsoft.com/office/drawing/2014/main" id="{EB43F148-6150-FD01-BADD-6C9846FB2A30}"/>
              </a:ext>
            </a:extLst>
          </p:cNvPr>
          <p:cNvSpPr>
            <a:spLocks noGrp="1"/>
          </p:cNvSpPr>
          <p:nvPr>
            <p:ph idx="1"/>
          </p:nvPr>
        </p:nvSpPr>
        <p:spPr>
          <a:xfrm>
            <a:off x="216816" y="1216058"/>
            <a:ext cx="11136984" cy="4960905"/>
          </a:xfrm>
        </p:spPr>
        <p:txBody>
          <a:bodyPr/>
          <a:lstStyle/>
          <a:p>
            <a:r>
              <a:rPr lang="en-US" dirty="0"/>
              <a:t>This method uses one flip-flop per state in the control sequential circuit.</a:t>
            </a:r>
          </a:p>
          <a:p>
            <a:r>
              <a:rPr lang="en-US" dirty="0"/>
              <a:t>Only one flip-flop is set at any particular time: all others are cleared. </a:t>
            </a:r>
          </a:p>
          <a:p>
            <a:r>
              <a:rPr lang="en-US" dirty="0"/>
              <a:t>A single bit is made to propagate from one flipflop to the other under the control of decision logic. </a:t>
            </a:r>
          </a:p>
          <a:p>
            <a:r>
              <a:rPr lang="en-US" dirty="0"/>
              <a:t>In such an array, each flip-flop represents a state and is activated only when the control bit is transferred to it.</a:t>
            </a:r>
          </a:p>
        </p:txBody>
      </p:sp>
    </p:spTree>
    <p:extLst>
      <p:ext uri="{BB962C8B-B14F-4D97-AF65-F5344CB8AC3E}">
        <p14:creationId xmlns:p14="http://schemas.microsoft.com/office/powerpoint/2010/main" val="33179776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C9C4D-D08F-28B4-7B54-EC0814003D13}"/>
              </a:ext>
            </a:extLst>
          </p:cNvPr>
          <p:cNvSpPr>
            <a:spLocks noGrp="1"/>
          </p:cNvSpPr>
          <p:nvPr>
            <p:ph type="title"/>
          </p:nvPr>
        </p:nvSpPr>
        <p:spPr>
          <a:xfrm>
            <a:off x="838200" y="365126"/>
            <a:ext cx="6411012" cy="634116"/>
          </a:xfrm>
        </p:spPr>
        <p:txBody>
          <a:bodyPr>
            <a:normAutofit/>
          </a:bodyPr>
          <a:lstStyle/>
          <a:p>
            <a:r>
              <a:rPr lang="en-US" sz="3200" b="1" dirty="0"/>
              <a:t>One flip-flop per state method</a:t>
            </a:r>
          </a:p>
        </p:txBody>
      </p:sp>
      <p:sp>
        <p:nvSpPr>
          <p:cNvPr id="3" name="Content Placeholder 2">
            <a:extLst>
              <a:ext uri="{FF2B5EF4-FFF2-40B4-BE49-F238E27FC236}">
                <a16:creationId xmlns:a16="http://schemas.microsoft.com/office/drawing/2014/main" id="{8467EBBA-EB9E-0CC9-0C9B-C543CAE1BC25}"/>
              </a:ext>
            </a:extLst>
          </p:cNvPr>
          <p:cNvSpPr>
            <a:spLocks noGrp="1"/>
          </p:cNvSpPr>
          <p:nvPr>
            <p:ph idx="1"/>
          </p:nvPr>
        </p:nvSpPr>
        <p:spPr>
          <a:xfrm>
            <a:off x="348792" y="1100987"/>
            <a:ext cx="5747208" cy="5120704"/>
          </a:xfrm>
        </p:spPr>
        <p:txBody>
          <a:bodyPr/>
          <a:lstStyle/>
          <a:p>
            <a:r>
              <a:rPr lang="en-US" dirty="0"/>
              <a:t>Maximum numbers of flipflops were used. </a:t>
            </a:r>
          </a:p>
          <a:p>
            <a:r>
              <a:rPr lang="en-US" dirty="0"/>
              <a:t>Example: A sequential circuit with 12 states requires a minimum of four flipflops because 23&lt; 12&lt; 24</a:t>
            </a:r>
          </a:p>
          <a:p>
            <a:r>
              <a:rPr lang="en-US" dirty="0"/>
              <a:t>Control circuit uses 12 flip-flops, one for each state </a:t>
            </a:r>
          </a:p>
        </p:txBody>
      </p:sp>
      <p:pic>
        <p:nvPicPr>
          <p:cNvPr id="5" name="Picture 4">
            <a:extLst>
              <a:ext uri="{FF2B5EF4-FFF2-40B4-BE49-F238E27FC236}">
                <a16:creationId xmlns:a16="http://schemas.microsoft.com/office/drawing/2014/main" id="{11F4CCA4-22DF-C976-B2FA-B9F0A316D1AA}"/>
              </a:ext>
            </a:extLst>
          </p:cNvPr>
          <p:cNvPicPr>
            <a:picLocks noChangeAspect="1"/>
          </p:cNvPicPr>
          <p:nvPr/>
        </p:nvPicPr>
        <p:blipFill>
          <a:blip r:embed="rId2"/>
          <a:stretch>
            <a:fillRect/>
          </a:stretch>
        </p:blipFill>
        <p:spPr>
          <a:xfrm>
            <a:off x="6531745" y="263381"/>
            <a:ext cx="5449724" cy="6229494"/>
          </a:xfrm>
          <a:prstGeom prst="rect">
            <a:avLst/>
          </a:prstGeom>
        </p:spPr>
      </p:pic>
    </p:spTree>
    <p:extLst>
      <p:ext uri="{BB962C8B-B14F-4D97-AF65-F5344CB8AC3E}">
        <p14:creationId xmlns:p14="http://schemas.microsoft.com/office/powerpoint/2010/main" val="37274570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F3505-F482-B024-1EC3-762F1B663056}"/>
              </a:ext>
            </a:extLst>
          </p:cNvPr>
          <p:cNvSpPr>
            <a:spLocks noGrp="1"/>
          </p:cNvSpPr>
          <p:nvPr>
            <p:ph type="title"/>
          </p:nvPr>
        </p:nvSpPr>
        <p:spPr/>
        <p:txBody>
          <a:bodyPr/>
          <a:lstStyle/>
          <a:p>
            <a:r>
              <a:rPr lang="en-US" dirty="0"/>
              <a:t>Sequence Register and Decoder Method</a:t>
            </a:r>
          </a:p>
        </p:txBody>
      </p:sp>
      <p:sp>
        <p:nvSpPr>
          <p:cNvPr id="3" name="Content Placeholder 2">
            <a:extLst>
              <a:ext uri="{FF2B5EF4-FFF2-40B4-BE49-F238E27FC236}">
                <a16:creationId xmlns:a16="http://schemas.microsoft.com/office/drawing/2014/main" id="{FEC941CE-1E06-DE11-12BF-4B001ED379B2}"/>
              </a:ext>
            </a:extLst>
          </p:cNvPr>
          <p:cNvSpPr>
            <a:spLocks noGrp="1"/>
          </p:cNvSpPr>
          <p:nvPr>
            <p:ph idx="1"/>
          </p:nvPr>
        </p:nvSpPr>
        <p:spPr/>
        <p:txBody>
          <a:bodyPr/>
          <a:lstStyle/>
          <a:p>
            <a:r>
              <a:rPr lang="en-US" dirty="0"/>
              <a:t>This method uses a register to sequence the control states. </a:t>
            </a:r>
          </a:p>
          <a:p>
            <a:r>
              <a:rPr lang="en-US" dirty="0"/>
              <a:t>The register is decoded to provide one output for each state. </a:t>
            </a:r>
          </a:p>
          <a:p>
            <a:r>
              <a:rPr lang="en-US" dirty="0"/>
              <a:t>For n flip-flops in the sequence register, the circuit will have 2</a:t>
            </a:r>
            <a:r>
              <a:rPr lang="en-US" baseline="30000" dirty="0"/>
              <a:t>n</a:t>
            </a:r>
            <a:r>
              <a:rPr lang="en-US" dirty="0"/>
              <a:t> states and the decoder will have 2</a:t>
            </a:r>
            <a:r>
              <a:rPr lang="en-US" baseline="30000" dirty="0"/>
              <a:t>n</a:t>
            </a:r>
            <a:r>
              <a:rPr lang="en-US" dirty="0"/>
              <a:t> outputs. </a:t>
            </a:r>
          </a:p>
          <a:p>
            <a:r>
              <a:rPr lang="en-US" dirty="0"/>
              <a:t>For example, a 4-bit register can be in any one of 16 states. </a:t>
            </a:r>
          </a:p>
          <a:p>
            <a:r>
              <a:rPr lang="en-US" dirty="0"/>
              <a:t>4 x 16 decoder will have 16 outputs, one for each state of the register.</a:t>
            </a:r>
          </a:p>
          <a:p>
            <a:r>
              <a:rPr lang="en-US" dirty="0"/>
              <a:t>Both the sequence register and decoder are MSI devices.</a:t>
            </a:r>
          </a:p>
        </p:txBody>
      </p:sp>
    </p:spTree>
    <p:extLst>
      <p:ext uri="{BB962C8B-B14F-4D97-AF65-F5344CB8AC3E}">
        <p14:creationId xmlns:p14="http://schemas.microsoft.com/office/powerpoint/2010/main" val="12741917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F3505-F482-B024-1EC3-762F1B663056}"/>
              </a:ext>
            </a:extLst>
          </p:cNvPr>
          <p:cNvSpPr>
            <a:spLocks noGrp="1"/>
          </p:cNvSpPr>
          <p:nvPr>
            <p:ph type="title"/>
          </p:nvPr>
        </p:nvSpPr>
        <p:spPr/>
        <p:txBody>
          <a:bodyPr/>
          <a:lstStyle/>
          <a:p>
            <a:r>
              <a:rPr lang="en-US" dirty="0"/>
              <a:t>Sequence Register and Decoder Method</a:t>
            </a:r>
          </a:p>
        </p:txBody>
      </p:sp>
      <p:sp>
        <p:nvSpPr>
          <p:cNvPr id="3" name="Content Placeholder 2">
            <a:extLst>
              <a:ext uri="{FF2B5EF4-FFF2-40B4-BE49-F238E27FC236}">
                <a16:creationId xmlns:a16="http://schemas.microsoft.com/office/drawing/2014/main" id="{FEC941CE-1E06-DE11-12BF-4B001ED379B2}"/>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4EA84648-E15D-CDB7-66B2-A434B3A8BBB7}"/>
              </a:ext>
            </a:extLst>
          </p:cNvPr>
          <p:cNvPicPr>
            <a:picLocks noChangeAspect="1"/>
          </p:cNvPicPr>
          <p:nvPr/>
        </p:nvPicPr>
        <p:blipFill>
          <a:blip r:embed="rId2"/>
          <a:stretch>
            <a:fillRect/>
          </a:stretch>
        </p:blipFill>
        <p:spPr>
          <a:xfrm>
            <a:off x="1189102" y="1734344"/>
            <a:ext cx="9191625" cy="4533900"/>
          </a:xfrm>
          <a:prstGeom prst="rect">
            <a:avLst/>
          </a:prstGeom>
        </p:spPr>
      </p:pic>
    </p:spTree>
    <p:extLst>
      <p:ext uri="{BB962C8B-B14F-4D97-AF65-F5344CB8AC3E}">
        <p14:creationId xmlns:p14="http://schemas.microsoft.com/office/powerpoint/2010/main" val="38248636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D5E09-34C8-C59F-676B-92BA34A42963}"/>
              </a:ext>
            </a:extLst>
          </p:cNvPr>
          <p:cNvSpPr>
            <a:spLocks noGrp="1"/>
          </p:cNvSpPr>
          <p:nvPr>
            <p:ph type="title"/>
          </p:nvPr>
        </p:nvSpPr>
        <p:spPr/>
        <p:txBody>
          <a:bodyPr/>
          <a:lstStyle/>
          <a:p>
            <a:r>
              <a:rPr lang="en-US" dirty="0"/>
              <a:t>PLA control</a:t>
            </a:r>
          </a:p>
        </p:txBody>
      </p:sp>
      <p:sp>
        <p:nvSpPr>
          <p:cNvPr id="3" name="Content Placeholder 2">
            <a:extLst>
              <a:ext uri="{FF2B5EF4-FFF2-40B4-BE49-F238E27FC236}">
                <a16:creationId xmlns:a16="http://schemas.microsoft.com/office/drawing/2014/main" id="{7727F956-F2BF-B82D-FE81-C691BF54F33C}"/>
              </a:ext>
            </a:extLst>
          </p:cNvPr>
          <p:cNvSpPr>
            <a:spLocks noGrp="1"/>
          </p:cNvSpPr>
          <p:nvPr>
            <p:ph idx="1"/>
          </p:nvPr>
        </p:nvSpPr>
        <p:spPr/>
        <p:txBody>
          <a:bodyPr/>
          <a:lstStyle/>
          <a:p>
            <a:r>
              <a:rPr lang="en-US" dirty="0"/>
              <a:t>The external sequence register establishes the present state of the control circuit. </a:t>
            </a:r>
          </a:p>
          <a:p>
            <a:r>
              <a:rPr lang="en-US" dirty="0"/>
              <a:t>The PLA outputs determine which micro-operations should be initiated depending on the external input conditions and the present state of the sequence register. </a:t>
            </a:r>
          </a:p>
          <a:p>
            <a:r>
              <a:rPr lang="en-US" dirty="0"/>
              <a:t>At the same time other PLA outputs determine the next state of the sequence register.</a:t>
            </a:r>
          </a:p>
        </p:txBody>
      </p:sp>
    </p:spTree>
    <p:extLst>
      <p:ext uri="{BB962C8B-B14F-4D97-AF65-F5344CB8AC3E}">
        <p14:creationId xmlns:p14="http://schemas.microsoft.com/office/powerpoint/2010/main" val="20876251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DC6F9-257D-69FE-999B-3591F2F6668F}"/>
              </a:ext>
            </a:extLst>
          </p:cNvPr>
          <p:cNvSpPr>
            <a:spLocks noGrp="1"/>
          </p:cNvSpPr>
          <p:nvPr>
            <p:ph type="title"/>
          </p:nvPr>
        </p:nvSpPr>
        <p:spPr>
          <a:xfrm>
            <a:off x="838200" y="365125"/>
            <a:ext cx="10515600" cy="709531"/>
          </a:xfrm>
        </p:spPr>
        <p:txBody>
          <a:bodyPr/>
          <a:lstStyle/>
          <a:p>
            <a:r>
              <a:rPr lang="en-US" dirty="0"/>
              <a:t>PLA control</a:t>
            </a:r>
          </a:p>
        </p:txBody>
      </p:sp>
      <p:pic>
        <p:nvPicPr>
          <p:cNvPr id="17" name="Content Placeholder 16">
            <a:extLst>
              <a:ext uri="{FF2B5EF4-FFF2-40B4-BE49-F238E27FC236}">
                <a16:creationId xmlns:a16="http://schemas.microsoft.com/office/drawing/2014/main" id="{9C7F6567-BE7E-7387-B388-FF534418946A}"/>
              </a:ext>
            </a:extLst>
          </p:cNvPr>
          <p:cNvPicPr>
            <a:picLocks noGrp="1" noChangeAspect="1"/>
          </p:cNvPicPr>
          <p:nvPr>
            <p:ph idx="1"/>
          </p:nvPr>
        </p:nvPicPr>
        <p:blipFill>
          <a:blip r:embed="rId2"/>
          <a:stretch>
            <a:fillRect/>
          </a:stretch>
        </p:blipFill>
        <p:spPr>
          <a:xfrm>
            <a:off x="1894297" y="1723983"/>
            <a:ext cx="6800850" cy="3800475"/>
          </a:xfrm>
        </p:spPr>
      </p:pic>
    </p:spTree>
    <p:extLst>
      <p:ext uri="{BB962C8B-B14F-4D97-AF65-F5344CB8AC3E}">
        <p14:creationId xmlns:p14="http://schemas.microsoft.com/office/powerpoint/2010/main" val="20989043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19DAB-224B-677A-381A-0883AFEF3C65}"/>
              </a:ext>
            </a:extLst>
          </p:cNvPr>
          <p:cNvSpPr>
            <a:spLocks noGrp="1"/>
          </p:cNvSpPr>
          <p:nvPr>
            <p:ph type="title"/>
          </p:nvPr>
        </p:nvSpPr>
        <p:spPr/>
        <p:txBody>
          <a:bodyPr/>
          <a:lstStyle/>
          <a:p>
            <a:r>
              <a:rPr lang="en-US" dirty="0"/>
              <a:t>Micro-program Control</a:t>
            </a:r>
          </a:p>
        </p:txBody>
      </p:sp>
      <p:sp>
        <p:nvSpPr>
          <p:cNvPr id="3" name="Content Placeholder 2">
            <a:extLst>
              <a:ext uri="{FF2B5EF4-FFF2-40B4-BE49-F238E27FC236}">
                <a16:creationId xmlns:a16="http://schemas.microsoft.com/office/drawing/2014/main" id="{C4E10F68-0C3C-2DCE-3763-84183162A004}"/>
              </a:ext>
            </a:extLst>
          </p:cNvPr>
          <p:cNvSpPr>
            <a:spLocks noGrp="1"/>
          </p:cNvSpPr>
          <p:nvPr>
            <p:ph idx="1"/>
          </p:nvPr>
        </p:nvSpPr>
        <p:spPr/>
        <p:txBody>
          <a:bodyPr>
            <a:normAutofit fontScale="92500" lnSpcReduction="20000"/>
          </a:bodyPr>
          <a:lstStyle/>
          <a:p>
            <a:r>
              <a:rPr lang="en-US" dirty="0"/>
              <a:t>The control variable at any given time can be represented by a string of 1's and 0's called control word.</a:t>
            </a:r>
          </a:p>
          <a:p>
            <a:r>
              <a:rPr lang="en-US" dirty="0"/>
              <a:t>A control unit whose control variables are stored in a memory called a micro-programmed control unit.</a:t>
            </a:r>
          </a:p>
          <a:p>
            <a:r>
              <a:rPr lang="en-US" dirty="0"/>
              <a:t>Each control word of memory is called Microinstruction and Sequence of microinstructions is called Micro-program.</a:t>
            </a:r>
          </a:p>
          <a:p>
            <a:r>
              <a:rPr lang="en-US" dirty="0"/>
              <a:t>Control memory is usually ROM since an alteration of micro-program is seldom needed. </a:t>
            </a:r>
          </a:p>
          <a:p>
            <a:r>
              <a:rPr lang="en-US" dirty="0"/>
              <a:t>The use of micro-program involves placing all control variables in words of the ROM for use by the control unit through successive read operations.</a:t>
            </a:r>
          </a:p>
          <a:p>
            <a:r>
              <a:rPr lang="en-US" dirty="0"/>
              <a:t>The content of the word in the ROM at a given address specifies the micro-operations for the system. </a:t>
            </a:r>
          </a:p>
        </p:txBody>
      </p:sp>
    </p:spTree>
    <p:extLst>
      <p:ext uri="{BB962C8B-B14F-4D97-AF65-F5344CB8AC3E}">
        <p14:creationId xmlns:p14="http://schemas.microsoft.com/office/powerpoint/2010/main" val="30575037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6439" y="-76200"/>
            <a:ext cx="8239125"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6626" y="3429000"/>
            <a:ext cx="8998974"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38127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E3193-322A-8CF6-A9F9-B701366C8074}"/>
              </a:ext>
            </a:extLst>
          </p:cNvPr>
          <p:cNvSpPr>
            <a:spLocks noGrp="1"/>
          </p:cNvSpPr>
          <p:nvPr>
            <p:ph type="title"/>
          </p:nvPr>
        </p:nvSpPr>
        <p:spPr/>
        <p:txBody>
          <a:bodyPr/>
          <a:lstStyle/>
          <a:p>
            <a:r>
              <a:rPr lang="en-US" dirty="0"/>
              <a:t>HARDWIRED CONTROL</a:t>
            </a:r>
          </a:p>
        </p:txBody>
      </p:sp>
      <p:sp>
        <p:nvSpPr>
          <p:cNvPr id="3" name="Content Placeholder 2">
            <a:extLst>
              <a:ext uri="{FF2B5EF4-FFF2-40B4-BE49-F238E27FC236}">
                <a16:creationId xmlns:a16="http://schemas.microsoft.com/office/drawing/2014/main" id="{A151265F-276D-E628-CD94-E1ABD2CCE9EA}"/>
              </a:ext>
            </a:extLst>
          </p:cNvPr>
          <p:cNvSpPr>
            <a:spLocks noGrp="1"/>
          </p:cNvSpPr>
          <p:nvPr>
            <p:ph idx="1"/>
          </p:nvPr>
        </p:nvSpPr>
        <p:spPr/>
        <p:txBody>
          <a:bodyPr/>
          <a:lstStyle/>
          <a:p>
            <a:pPr marL="0" indent="0">
              <a:buNone/>
            </a:pPr>
            <a:r>
              <a:rPr lang="en-US" dirty="0"/>
              <a:t>The design of hardwired control is carried out in 5 consecutive steps </a:t>
            </a:r>
          </a:p>
          <a:p>
            <a:pPr marL="0" indent="0">
              <a:buNone/>
            </a:pPr>
            <a:r>
              <a:rPr lang="en-US" dirty="0"/>
              <a:t>1. The problem is stated </a:t>
            </a:r>
          </a:p>
          <a:p>
            <a:pPr marL="0" indent="0">
              <a:buNone/>
            </a:pPr>
            <a:r>
              <a:rPr lang="en-US" dirty="0"/>
              <a:t>2. An initial equipment configuration is assumed </a:t>
            </a:r>
          </a:p>
          <a:p>
            <a:pPr marL="0" indent="0">
              <a:buNone/>
            </a:pPr>
            <a:r>
              <a:rPr lang="en-US" dirty="0"/>
              <a:t>3. An algorithm is formulated </a:t>
            </a:r>
          </a:p>
          <a:p>
            <a:pPr marL="0" indent="0">
              <a:buNone/>
            </a:pPr>
            <a:r>
              <a:rPr lang="en-US" dirty="0"/>
              <a:t>4. The data processor part is specified </a:t>
            </a:r>
          </a:p>
          <a:p>
            <a:pPr marL="0" indent="0">
              <a:buNone/>
            </a:pPr>
            <a:r>
              <a:rPr lang="en-US" dirty="0"/>
              <a:t>5. The control logic is designed</a:t>
            </a:r>
          </a:p>
        </p:txBody>
      </p:sp>
    </p:spTree>
    <p:extLst>
      <p:ext uri="{BB962C8B-B14F-4D97-AF65-F5344CB8AC3E}">
        <p14:creationId xmlns:p14="http://schemas.microsoft.com/office/powerpoint/2010/main" val="38142482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BD213-3679-C042-8966-6C935E6D31F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BD41746-A889-B12C-0A37-335FF58E7DE3}"/>
              </a:ext>
            </a:extLst>
          </p:cNvPr>
          <p:cNvSpPr>
            <a:spLocks noGrp="1"/>
          </p:cNvSpPr>
          <p:nvPr>
            <p:ph idx="1"/>
          </p:nvPr>
        </p:nvSpPr>
        <p:spPr>
          <a:xfrm>
            <a:off x="367645" y="1825625"/>
            <a:ext cx="5728355" cy="4339505"/>
          </a:xfrm>
        </p:spPr>
        <p:txBody>
          <a:bodyPr/>
          <a:lstStyle/>
          <a:p>
            <a:r>
              <a:rPr lang="en-US" dirty="0"/>
              <a:t>The two signed binary numbers to be added or subtracted contain n bits. </a:t>
            </a:r>
          </a:p>
          <a:p>
            <a:r>
              <a:rPr lang="en-US" dirty="0"/>
              <a:t>The magnitudes of the numbers contain k = n - 1 bits and are stored in registers A and B. </a:t>
            </a:r>
          </a:p>
          <a:p>
            <a:r>
              <a:rPr lang="en-US" dirty="0"/>
              <a:t>The sign bits are stored in flip-flops As and Bs. </a:t>
            </a:r>
          </a:p>
        </p:txBody>
      </p:sp>
      <p:pic>
        <p:nvPicPr>
          <p:cNvPr id="4" name="Content Placeholder 6">
            <a:extLst>
              <a:ext uri="{FF2B5EF4-FFF2-40B4-BE49-F238E27FC236}">
                <a16:creationId xmlns:a16="http://schemas.microsoft.com/office/drawing/2014/main" id="{7470B0CC-1A7A-A55B-FEB8-8340C96FDC3B}"/>
              </a:ext>
            </a:extLst>
          </p:cNvPr>
          <p:cNvPicPr>
            <a:picLocks noChangeAspect="1"/>
          </p:cNvPicPr>
          <p:nvPr/>
        </p:nvPicPr>
        <p:blipFill>
          <a:blip r:embed="rId2"/>
          <a:stretch>
            <a:fillRect/>
          </a:stretch>
        </p:blipFill>
        <p:spPr>
          <a:xfrm>
            <a:off x="6096000" y="1825625"/>
            <a:ext cx="5659225" cy="2705953"/>
          </a:xfrm>
          <a:prstGeom prst="rect">
            <a:avLst/>
          </a:prstGeom>
        </p:spPr>
      </p:pic>
    </p:spTree>
    <p:extLst>
      <p:ext uri="{BB962C8B-B14F-4D97-AF65-F5344CB8AC3E}">
        <p14:creationId xmlns:p14="http://schemas.microsoft.com/office/powerpoint/2010/main" val="25800436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49691"/>
          </a:xfrm>
        </p:spPr>
        <p:txBody>
          <a:bodyPr>
            <a:normAutofit/>
          </a:bodyPr>
          <a:lstStyle/>
          <a:p>
            <a:r>
              <a:rPr lang="en-US" sz="2800" b="1" dirty="0"/>
              <a:t>HARDWIRED CONTROL </a:t>
            </a:r>
            <a:endParaRPr lang="en-US" sz="2800" dirty="0"/>
          </a:p>
        </p:txBody>
      </p:sp>
      <p:sp>
        <p:nvSpPr>
          <p:cNvPr id="3" name="Content Placeholder 2"/>
          <p:cNvSpPr>
            <a:spLocks noGrp="1"/>
          </p:cNvSpPr>
          <p:nvPr>
            <p:ph idx="1"/>
          </p:nvPr>
        </p:nvSpPr>
        <p:spPr>
          <a:xfrm>
            <a:off x="675361" y="964504"/>
            <a:ext cx="10515600" cy="4999516"/>
          </a:xfrm>
        </p:spPr>
        <p:txBody>
          <a:bodyPr/>
          <a:lstStyle/>
          <a:p>
            <a:pPr algn="just"/>
            <a:r>
              <a:rPr lang="en-US" dirty="0"/>
              <a:t>The control hardware can be viewed as a state machine that changes from one state to another in every clock cycle, depending on the contents of the instruction register, the condition codes and the external inputs. </a:t>
            </a:r>
          </a:p>
          <a:p>
            <a:pPr algn="just"/>
            <a:r>
              <a:rPr lang="en-US" dirty="0"/>
              <a:t>The outputs of the state machine are the control signals.</a:t>
            </a:r>
          </a:p>
          <a:p>
            <a:pPr algn="just"/>
            <a:r>
              <a:rPr lang="en-US" dirty="0"/>
              <a:t> The sequence of the operation carried out by this machine is determined by the wiring of the logic elements and hence named as “hardwired”.</a:t>
            </a:r>
          </a:p>
          <a:p>
            <a:pPr algn="just"/>
            <a:r>
              <a:rPr lang="en-US" dirty="0"/>
              <a:t> Control logic derived in this section is a hardwired control of the one flip-flop per state method. </a:t>
            </a:r>
          </a:p>
          <a:p>
            <a:pPr marL="0" indent="0" algn="just">
              <a:buNone/>
            </a:pPr>
            <a:r>
              <a:rPr lang="en-US" dirty="0"/>
              <a:t>The design of hardwired control is carried out in 5 consecutive steps </a:t>
            </a:r>
          </a:p>
        </p:txBody>
      </p:sp>
    </p:spTree>
    <p:extLst>
      <p:ext uri="{BB962C8B-B14F-4D97-AF65-F5344CB8AC3E}">
        <p14:creationId xmlns:p14="http://schemas.microsoft.com/office/powerpoint/2010/main" val="30150999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952108" y="504158"/>
            <a:ext cx="10918516" cy="5878170"/>
          </a:xfrm>
          <a:prstGeom prst="rect">
            <a:avLst/>
          </a:prstGeom>
        </p:spPr>
      </p:pic>
    </p:spTree>
    <p:extLst>
      <p:ext uri="{BB962C8B-B14F-4D97-AF65-F5344CB8AC3E}">
        <p14:creationId xmlns:p14="http://schemas.microsoft.com/office/powerpoint/2010/main" val="33281913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66339" y="358981"/>
            <a:ext cx="11640730" cy="5958692"/>
          </a:xfrm>
          <a:prstGeom prst="rect">
            <a:avLst/>
          </a:prstGeom>
        </p:spPr>
      </p:pic>
    </p:spTree>
    <p:extLst>
      <p:ext uri="{BB962C8B-B14F-4D97-AF65-F5344CB8AC3E}">
        <p14:creationId xmlns:p14="http://schemas.microsoft.com/office/powerpoint/2010/main" val="20239891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47668" y="433633"/>
            <a:ext cx="10455535" cy="5852719"/>
          </a:xfrm>
          <a:prstGeom prst="rect">
            <a:avLst/>
          </a:prstGeom>
        </p:spPr>
      </p:pic>
    </p:spTree>
    <p:extLst>
      <p:ext uri="{BB962C8B-B14F-4D97-AF65-F5344CB8AC3E}">
        <p14:creationId xmlns:p14="http://schemas.microsoft.com/office/powerpoint/2010/main" val="27775016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926" y="501041"/>
            <a:ext cx="11378152" cy="5675922"/>
          </a:xfrm>
        </p:spPr>
        <p:txBody>
          <a:bodyPr>
            <a:noAutofit/>
          </a:bodyPr>
          <a:lstStyle/>
          <a:p>
            <a:pPr marL="0" indent="0">
              <a:buNone/>
            </a:pPr>
            <a:r>
              <a:rPr lang="en-US" sz="3600" dirty="0"/>
              <a:t>±A ± (±B )</a:t>
            </a:r>
          </a:p>
          <a:p>
            <a:r>
              <a:rPr lang="en-US" sz="3600" dirty="0"/>
              <a:t>If the arithmetic operation specified is subtraction, we change the sign of B and add. </a:t>
            </a:r>
          </a:p>
          <a:p>
            <a:r>
              <a:rPr lang="en-US" sz="3600" dirty="0"/>
              <a:t>This is evident from the relations:</a:t>
            </a:r>
          </a:p>
          <a:p>
            <a:endParaRPr lang="en-US" sz="3600" dirty="0"/>
          </a:p>
          <a:p>
            <a:pPr marL="457200" lvl="1" indent="0">
              <a:buNone/>
            </a:pPr>
            <a:r>
              <a:rPr lang="en-US" sz="3600" dirty="0"/>
              <a:t>±A − (+B)  =  ±A + (−B)</a:t>
            </a:r>
          </a:p>
          <a:p>
            <a:pPr marL="457200" lvl="1" indent="0">
              <a:buNone/>
            </a:pPr>
            <a:r>
              <a:rPr lang="en-US" sz="3600" dirty="0"/>
              <a:t>± A- (−B)  =   ±A + (+B)</a:t>
            </a:r>
          </a:p>
          <a:p>
            <a:r>
              <a:rPr lang="en-US" sz="3600" dirty="0"/>
              <a:t>This reduces the number of possible conditions to four, namely:</a:t>
            </a:r>
          </a:p>
          <a:p>
            <a:pPr marL="0" indent="0">
              <a:buNone/>
            </a:pPr>
            <a:r>
              <a:rPr lang="en-US" sz="3600" dirty="0"/>
              <a:t>±A + (±B)</a:t>
            </a:r>
          </a:p>
          <a:p>
            <a:pPr marL="0" indent="0">
              <a:buNone/>
            </a:pPr>
            <a:endParaRPr lang="en-US" sz="3600" dirty="0"/>
          </a:p>
          <a:p>
            <a:pPr marL="0" indent="0">
              <a:buNone/>
            </a:pPr>
            <a:endParaRPr lang="en-US" sz="3600" dirty="0"/>
          </a:p>
        </p:txBody>
      </p:sp>
    </p:spTree>
    <p:extLst>
      <p:ext uri="{BB962C8B-B14F-4D97-AF65-F5344CB8AC3E}">
        <p14:creationId xmlns:p14="http://schemas.microsoft.com/office/powerpoint/2010/main" val="8753339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926" y="501041"/>
            <a:ext cx="11378152" cy="5675922"/>
          </a:xfrm>
        </p:spPr>
        <p:txBody>
          <a:bodyPr>
            <a:noAutofit/>
          </a:bodyPr>
          <a:lstStyle/>
          <a:p>
            <a:pPr marL="0" indent="0">
              <a:buNone/>
            </a:pPr>
            <a:r>
              <a:rPr lang="en-US" sz="3600" dirty="0"/>
              <a:t>±A ± (±B )</a:t>
            </a:r>
          </a:p>
          <a:p>
            <a:r>
              <a:rPr lang="en-US" sz="3600" dirty="0"/>
              <a:t>If the arithmetic operation specified is subtraction, we change the sign of B and add. </a:t>
            </a:r>
          </a:p>
          <a:p>
            <a:r>
              <a:rPr lang="en-US" sz="3600" dirty="0"/>
              <a:t>This is evident from the relations:</a:t>
            </a:r>
          </a:p>
          <a:p>
            <a:endParaRPr lang="en-US" sz="3600" dirty="0"/>
          </a:p>
          <a:p>
            <a:pPr marL="457200" lvl="1" indent="0">
              <a:buNone/>
            </a:pPr>
            <a:r>
              <a:rPr lang="en-US" sz="3600" dirty="0"/>
              <a:t>±A − (+B)  =  ±A + (−B)</a:t>
            </a:r>
          </a:p>
          <a:p>
            <a:pPr marL="457200" lvl="1" indent="0">
              <a:buNone/>
            </a:pPr>
            <a:r>
              <a:rPr lang="en-US" sz="3600" dirty="0"/>
              <a:t>± A- (−B)  =   ±A + (+B)</a:t>
            </a:r>
          </a:p>
          <a:p>
            <a:r>
              <a:rPr lang="en-US" sz="3600" dirty="0"/>
              <a:t>This reduces the number of possible conditions to four, namely:</a:t>
            </a:r>
          </a:p>
          <a:p>
            <a:pPr marL="0" indent="0">
              <a:buNone/>
            </a:pPr>
            <a:r>
              <a:rPr lang="en-US" sz="3600" dirty="0"/>
              <a:t>±A + (±B)</a:t>
            </a:r>
          </a:p>
          <a:p>
            <a:pPr marL="0" indent="0">
              <a:buNone/>
            </a:pPr>
            <a:endParaRPr lang="en-US" sz="3600" dirty="0"/>
          </a:p>
          <a:p>
            <a:pPr marL="0" indent="0">
              <a:buNone/>
            </a:pPr>
            <a:endParaRPr lang="en-US" sz="3600" dirty="0"/>
          </a:p>
        </p:txBody>
      </p:sp>
    </p:spTree>
    <p:extLst>
      <p:ext uri="{BB962C8B-B14F-4D97-AF65-F5344CB8AC3E}">
        <p14:creationId xmlns:p14="http://schemas.microsoft.com/office/powerpoint/2010/main" val="31420988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C04DD-DF26-BCF2-EC4A-E74D4B0D1AA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5501520-F79C-3D7D-7E3B-C4591D021DF4}"/>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92383B33-22AB-5683-AD79-839F404DE8CD}"/>
              </a:ext>
            </a:extLst>
          </p:cNvPr>
          <p:cNvPicPr>
            <a:picLocks noChangeAspect="1"/>
          </p:cNvPicPr>
          <p:nvPr/>
        </p:nvPicPr>
        <p:blipFill>
          <a:blip r:embed="rId2"/>
          <a:stretch>
            <a:fillRect/>
          </a:stretch>
        </p:blipFill>
        <p:spPr>
          <a:xfrm>
            <a:off x="3482113" y="-116183"/>
            <a:ext cx="5558192" cy="6692516"/>
          </a:xfrm>
          <a:prstGeom prst="rect">
            <a:avLst/>
          </a:prstGeom>
        </p:spPr>
      </p:pic>
    </p:spTree>
    <p:extLst>
      <p:ext uri="{BB962C8B-B14F-4D97-AF65-F5344CB8AC3E}">
        <p14:creationId xmlns:p14="http://schemas.microsoft.com/office/powerpoint/2010/main" val="18277078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76464" y="243676"/>
            <a:ext cx="10961601" cy="6157308"/>
          </a:xfrm>
          <a:prstGeom prst="rect">
            <a:avLst/>
          </a:prstGeom>
        </p:spPr>
      </p:pic>
    </p:spTree>
    <p:extLst>
      <p:ext uri="{BB962C8B-B14F-4D97-AF65-F5344CB8AC3E}">
        <p14:creationId xmlns:p14="http://schemas.microsoft.com/office/powerpoint/2010/main" val="38544137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38986" y="463067"/>
            <a:ext cx="10680078" cy="5884118"/>
          </a:xfrm>
          <a:prstGeom prst="rect">
            <a:avLst/>
          </a:prstGeom>
        </p:spPr>
      </p:pic>
    </p:spTree>
    <p:extLst>
      <p:ext uri="{BB962C8B-B14F-4D97-AF65-F5344CB8AC3E}">
        <p14:creationId xmlns:p14="http://schemas.microsoft.com/office/powerpoint/2010/main" val="5559669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50448" y="373959"/>
            <a:ext cx="11416057" cy="5814787"/>
          </a:xfrm>
          <a:prstGeom prst="rect">
            <a:avLst/>
          </a:prstGeom>
        </p:spPr>
      </p:pic>
    </p:spTree>
    <p:extLst>
      <p:ext uri="{BB962C8B-B14F-4D97-AF65-F5344CB8AC3E}">
        <p14:creationId xmlns:p14="http://schemas.microsoft.com/office/powerpoint/2010/main" val="39188529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0181" y="308112"/>
            <a:ext cx="9517083" cy="5367131"/>
          </a:xfrm>
          <a:prstGeom prst="rect">
            <a:avLst/>
          </a:prstGeom>
        </p:spPr>
      </p:pic>
    </p:spTree>
    <p:extLst>
      <p:ext uri="{BB962C8B-B14F-4D97-AF65-F5344CB8AC3E}">
        <p14:creationId xmlns:p14="http://schemas.microsoft.com/office/powerpoint/2010/main" val="42556120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72303" y="801278"/>
            <a:ext cx="10903812" cy="4986780"/>
          </a:xfrm>
          <a:prstGeom prst="rect">
            <a:avLst/>
          </a:prstGeom>
        </p:spPr>
      </p:pic>
    </p:spTree>
    <p:extLst>
      <p:ext uri="{BB962C8B-B14F-4D97-AF65-F5344CB8AC3E}">
        <p14:creationId xmlns:p14="http://schemas.microsoft.com/office/powerpoint/2010/main" val="16138202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3189" y="273378"/>
            <a:ext cx="11835986" cy="6487180"/>
          </a:xfrm>
          <a:prstGeom prst="rect">
            <a:avLst/>
          </a:prstGeom>
        </p:spPr>
      </p:pic>
      <p:sp>
        <p:nvSpPr>
          <p:cNvPr id="5" name="TextBox 4"/>
          <p:cNvSpPr txBox="1"/>
          <p:nvPr/>
        </p:nvSpPr>
        <p:spPr>
          <a:xfrm>
            <a:off x="8611982" y="5551115"/>
            <a:ext cx="2244440" cy="369332"/>
          </a:xfrm>
          <a:prstGeom prst="rect">
            <a:avLst/>
          </a:prstGeom>
          <a:solidFill>
            <a:schemeClr val="tx2"/>
          </a:solidFill>
        </p:spPr>
        <p:txBody>
          <a:bodyPr wrap="square" rtlCol="0">
            <a:spAutoFit/>
          </a:bodyPr>
          <a:lstStyle/>
          <a:p>
            <a:endParaRPr lang="en-US"/>
          </a:p>
        </p:txBody>
      </p:sp>
    </p:spTree>
    <p:extLst>
      <p:ext uri="{BB962C8B-B14F-4D97-AF65-F5344CB8AC3E}">
        <p14:creationId xmlns:p14="http://schemas.microsoft.com/office/powerpoint/2010/main" val="20675997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789" y="232757"/>
            <a:ext cx="11800284" cy="6500552"/>
          </a:xfrm>
        </p:spPr>
      </p:pic>
    </p:spTree>
    <p:extLst>
      <p:ext uri="{BB962C8B-B14F-4D97-AF65-F5344CB8AC3E}">
        <p14:creationId xmlns:p14="http://schemas.microsoft.com/office/powerpoint/2010/main" val="18162415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45097" y="179388"/>
            <a:ext cx="11854540" cy="6587437"/>
          </a:xfrm>
          <a:prstGeom prst="rect">
            <a:avLst/>
          </a:prstGeom>
        </p:spPr>
      </p:pic>
    </p:spTree>
    <p:extLst>
      <p:ext uri="{BB962C8B-B14F-4D97-AF65-F5344CB8AC3E}">
        <p14:creationId xmlns:p14="http://schemas.microsoft.com/office/powerpoint/2010/main" val="42153526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7248" y="315884"/>
            <a:ext cx="11926933" cy="6151417"/>
          </a:xfrm>
        </p:spPr>
      </p:pic>
    </p:spTree>
    <p:extLst>
      <p:ext uri="{BB962C8B-B14F-4D97-AF65-F5344CB8AC3E}">
        <p14:creationId xmlns:p14="http://schemas.microsoft.com/office/powerpoint/2010/main" val="35607618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00048" y="257881"/>
            <a:ext cx="11797988" cy="6600119"/>
          </a:xfrm>
          <a:prstGeom prst="rect">
            <a:avLst/>
          </a:prstGeom>
        </p:spPr>
      </p:pic>
    </p:spTree>
    <p:extLst>
      <p:ext uri="{BB962C8B-B14F-4D97-AF65-F5344CB8AC3E}">
        <p14:creationId xmlns:p14="http://schemas.microsoft.com/office/powerpoint/2010/main" val="10623111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Screen Clippi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45178" y="964277"/>
            <a:ext cx="8214404" cy="5586152"/>
          </a:xfrm>
        </p:spPr>
      </p:pic>
    </p:spTree>
    <p:extLst>
      <p:ext uri="{BB962C8B-B14F-4D97-AF65-F5344CB8AC3E}">
        <p14:creationId xmlns:p14="http://schemas.microsoft.com/office/powerpoint/2010/main" val="12453566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7590" y="350142"/>
            <a:ext cx="12104410" cy="5969401"/>
          </a:xfrm>
          <a:prstGeom prst="rect">
            <a:avLst/>
          </a:prstGeom>
        </p:spPr>
      </p:pic>
    </p:spTree>
    <p:extLst>
      <p:ext uri="{BB962C8B-B14F-4D97-AF65-F5344CB8AC3E}">
        <p14:creationId xmlns:p14="http://schemas.microsoft.com/office/powerpoint/2010/main" val="33886861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98764"/>
            <a:ext cx="10515600" cy="5678199"/>
          </a:xfrm>
        </p:spPr>
        <p:txBody>
          <a:bodyPr/>
          <a:lstStyle/>
          <a:p>
            <a:pPr marL="0" indent="0">
              <a:buNone/>
            </a:pP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258" y="299258"/>
            <a:ext cx="11055928" cy="66834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264111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44718" y="243905"/>
            <a:ext cx="10591456" cy="6190145"/>
          </a:xfrm>
          <a:prstGeom prst="rect">
            <a:avLst/>
          </a:prstGeom>
        </p:spPr>
      </p:pic>
    </p:spTree>
    <p:extLst>
      <p:ext uri="{BB962C8B-B14F-4D97-AF65-F5344CB8AC3E}">
        <p14:creationId xmlns:p14="http://schemas.microsoft.com/office/powerpoint/2010/main" val="27451408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26510"/>
            <a:ext cx="10515600" cy="5450453"/>
          </a:xfrm>
        </p:spPr>
        <p:txBody>
          <a:bodyPr>
            <a:normAutofit/>
          </a:bodyPr>
          <a:lstStyle/>
          <a:p>
            <a:pPr marL="0" indent="0" algn="ctr">
              <a:buNone/>
            </a:pPr>
            <a:endParaRPr lang="en-US" sz="3600" dirty="0">
              <a:solidFill>
                <a:srgbClr val="FF0000"/>
              </a:solidFill>
            </a:endParaRPr>
          </a:p>
          <a:p>
            <a:pPr marL="0" indent="0" algn="ctr">
              <a:buNone/>
            </a:pPr>
            <a:endParaRPr lang="en-US" sz="3600" dirty="0">
              <a:solidFill>
                <a:srgbClr val="FF0000"/>
              </a:solidFill>
            </a:endParaRPr>
          </a:p>
          <a:p>
            <a:pPr marL="0" indent="0" algn="ctr">
              <a:buNone/>
            </a:pPr>
            <a:endParaRPr lang="en-US" sz="3600" dirty="0">
              <a:solidFill>
                <a:srgbClr val="FF0000"/>
              </a:solidFill>
            </a:endParaRPr>
          </a:p>
          <a:p>
            <a:pPr marL="0" indent="0" algn="ctr">
              <a:buNone/>
            </a:pPr>
            <a:endParaRPr lang="en-US" sz="4400" dirty="0">
              <a:solidFill>
                <a:srgbClr val="FF0000"/>
              </a:solidFill>
            </a:endParaRPr>
          </a:p>
          <a:p>
            <a:pPr marL="0" indent="0" algn="ctr">
              <a:buNone/>
            </a:pPr>
            <a:r>
              <a:rPr lang="en-US" sz="4400" dirty="0">
                <a:solidFill>
                  <a:srgbClr val="FF0000"/>
                </a:solidFill>
              </a:rPr>
              <a:t>MICROPROGRAM CONTROL</a:t>
            </a:r>
          </a:p>
        </p:txBody>
      </p:sp>
      <p:pic>
        <p:nvPicPr>
          <p:cNvPr id="4" name="Picture 3"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69330" y="4297023"/>
            <a:ext cx="7554380" cy="819264"/>
          </a:xfrm>
          <a:prstGeom prst="rect">
            <a:avLst/>
          </a:prstGeom>
        </p:spPr>
      </p:pic>
    </p:spTree>
    <p:extLst>
      <p:ext uri="{BB962C8B-B14F-4D97-AF65-F5344CB8AC3E}">
        <p14:creationId xmlns:p14="http://schemas.microsoft.com/office/powerpoint/2010/main" val="10671115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4763" y="187890"/>
            <a:ext cx="10697725" cy="5837129"/>
          </a:xfrm>
        </p:spPr>
      </p:pic>
    </p:spTree>
    <p:extLst>
      <p:ext uri="{BB962C8B-B14F-4D97-AF65-F5344CB8AC3E}">
        <p14:creationId xmlns:p14="http://schemas.microsoft.com/office/powerpoint/2010/main" val="20606990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47662" y="733425"/>
            <a:ext cx="11496675" cy="5391150"/>
          </a:xfrm>
          <a:prstGeom prst="rect">
            <a:avLst/>
          </a:prstGeom>
        </p:spPr>
      </p:pic>
    </p:spTree>
    <p:extLst>
      <p:ext uri="{BB962C8B-B14F-4D97-AF65-F5344CB8AC3E}">
        <p14:creationId xmlns:p14="http://schemas.microsoft.com/office/powerpoint/2010/main" val="13250078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2909" y="51930"/>
            <a:ext cx="10515600" cy="5575714"/>
          </a:xfrm>
        </p:spPr>
        <p:txBody>
          <a:bodyPr/>
          <a:lstStyle/>
          <a:p>
            <a:pPr marL="0" indent="0">
              <a:buNone/>
            </a:pPr>
            <a:r>
              <a:rPr lang="en-US" dirty="0"/>
              <a:t>HARDWARE ORGANIZATION OF A MICRO-PROGRAM CONTROL UNIT </a:t>
            </a:r>
          </a:p>
          <a:p>
            <a:pPr marL="0" indent="0">
              <a:buNone/>
            </a:pP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2504" y="433633"/>
            <a:ext cx="9938893" cy="6475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123914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834DB9-732C-4362-3A90-2BBFE49E4979}"/>
              </a:ext>
            </a:extLst>
          </p:cNvPr>
          <p:cNvSpPr>
            <a:spLocks noGrp="1"/>
          </p:cNvSpPr>
          <p:nvPr>
            <p:ph idx="1"/>
          </p:nvPr>
        </p:nvSpPr>
        <p:spPr>
          <a:xfrm>
            <a:off x="348792" y="1133524"/>
            <a:ext cx="11005008" cy="5733903"/>
          </a:xfrm>
        </p:spPr>
        <p:txBody>
          <a:bodyPr>
            <a:normAutofit/>
          </a:bodyPr>
          <a:lstStyle/>
          <a:p>
            <a:pPr marL="0" indent="0">
              <a:buNone/>
            </a:pPr>
            <a:r>
              <a:rPr lang="en-US" sz="3200" b="1" dirty="0"/>
              <a:t>Hardware configuration</a:t>
            </a:r>
          </a:p>
          <a:p>
            <a:r>
              <a:rPr lang="en-US" sz="3200" dirty="0"/>
              <a:t>A state in control memory is represented by the address of a micro instruction. </a:t>
            </a:r>
          </a:p>
          <a:p>
            <a:r>
              <a:rPr lang="en-US" sz="3200" dirty="0"/>
              <a:t>An address for control memory specifies a control word within a microinstruction, just as a state in a sequential circuit specifies a microoperation. </a:t>
            </a:r>
          </a:p>
          <a:p>
            <a:r>
              <a:rPr lang="en-US" sz="3200" dirty="0"/>
              <a:t>Since there are 8 states in the control, we choose a control memory with 8 words having addresses 0 through 7. </a:t>
            </a:r>
          </a:p>
          <a:p>
            <a:r>
              <a:rPr lang="en-US" sz="3200" dirty="0"/>
              <a:t>The address of the control memory corresponds to subscript number under the T’s in the state diagram</a:t>
            </a:r>
          </a:p>
        </p:txBody>
      </p:sp>
    </p:spTree>
    <p:extLst>
      <p:ext uri="{BB962C8B-B14F-4D97-AF65-F5344CB8AC3E}">
        <p14:creationId xmlns:p14="http://schemas.microsoft.com/office/powerpoint/2010/main" val="22381830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9849" y="11426"/>
            <a:ext cx="11158730" cy="7049249"/>
          </a:xfrm>
        </p:spPr>
      </p:pic>
      <p:sp>
        <p:nvSpPr>
          <p:cNvPr id="5" name="Rectangle 4"/>
          <p:cNvSpPr/>
          <p:nvPr/>
        </p:nvSpPr>
        <p:spPr>
          <a:xfrm>
            <a:off x="1511688" y="5776036"/>
            <a:ext cx="8588679" cy="830997"/>
          </a:xfrm>
          <a:prstGeom prst="rect">
            <a:avLst/>
          </a:prstGeom>
        </p:spPr>
        <p:txBody>
          <a:bodyPr wrap="square">
            <a:spAutoFit/>
          </a:bodyPr>
          <a:lstStyle/>
          <a:p>
            <a:pPr marL="285750" indent="-285750">
              <a:buFont typeface="Arial" pitchFamily="34" charset="0"/>
              <a:buChar char="•"/>
            </a:pPr>
            <a:r>
              <a:rPr lang="en-US" sz="2400" dirty="0"/>
              <a:t>Bit 1 provides the initial state condition denoted by variable x and also enables an external address when </a:t>
            </a:r>
            <a:r>
              <a:rPr lang="en-US" sz="2400" dirty="0" err="1"/>
              <a:t>qs</a:t>
            </a:r>
            <a:r>
              <a:rPr lang="en-US" sz="2400" dirty="0"/>
              <a:t> and </a:t>
            </a:r>
            <a:r>
              <a:rPr lang="en-US" sz="2400" dirty="0" err="1"/>
              <a:t>qa</a:t>
            </a:r>
            <a:r>
              <a:rPr lang="en-US" sz="2400" dirty="0"/>
              <a:t> are equal to 1. </a:t>
            </a:r>
          </a:p>
        </p:txBody>
      </p:sp>
    </p:spTree>
    <p:extLst>
      <p:ext uri="{BB962C8B-B14F-4D97-AF65-F5344CB8AC3E}">
        <p14:creationId xmlns:p14="http://schemas.microsoft.com/office/powerpoint/2010/main" val="28457147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01458"/>
            <a:ext cx="10515600" cy="5475505"/>
          </a:xfrm>
        </p:spPr>
        <p:txBody>
          <a:bodyPr/>
          <a:lstStyle/>
          <a:p>
            <a:r>
              <a:rPr lang="en-US" dirty="0"/>
              <a:t>When x = 1, the address field of the micro instruction must be 000. </a:t>
            </a:r>
          </a:p>
          <a:p>
            <a:r>
              <a:rPr lang="en-US" dirty="0"/>
              <a:t>Then if </a:t>
            </a:r>
            <a:r>
              <a:rPr lang="en-US" dirty="0" err="1"/>
              <a:t>qs</a:t>
            </a:r>
            <a:r>
              <a:rPr lang="en-US" dirty="0"/>
              <a:t> =1, address 001 is available at the input of CAR</a:t>
            </a:r>
          </a:p>
          <a:p>
            <a:r>
              <a:rPr lang="en-US" dirty="0"/>
              <a:t>but if </a:t>
            </a:r>
            <a:r>
              <a:rPr lang="en-US" dirty="0" err="1"/>
              <a:t>qa</a:t>
            </a:r>
            <a:r>
              <a:rPr lang="en-US" dirty="0"/>
              <a:t>=1, address 010 is applied to CAR.</a:t>
            </a:r>
          </a:p>
          <a:p>
            <a:r>
              <a:rPr lang="en-US" dirty="0"/>
              <a:t>If both </a:t>
            </a:r>
            <a:r>
              <a:rPr lang="en-US" dirty="0" err="1"/>
              <a:t>qs</a:t>
            </a:r>
            <a:r>
              <a:rPr lang="en-US" dirty="0"/>
              <a:t> and </a:t>
            </a:r>
            <a:r>
              <a:rPr lang="en-US" dirty="0" err="1"/>
              <a:t>qa</a:t>
            </a:r>
            <a:r>
              <a:rPr lang="en-US" dirty="0"/>
              <a:t> are 0, the zero address from bits 10 11 and 12 are applied to the input of CAR.</a:t>
            </a:r>
          </a:p>
          <a:p>
            <a:r>
              <a:rPr lang="en-US" dirty="0"/>
              <a:t>In this way control memory stays at address 0 until an external variable is enabled. </a:t>
            </a:r>
          </a:p>
        </p:txBody>
      </p:sp>
    </p:spTree>
    <p:extLst>
      <p:ext uri="{BB962C8B-B14F-4D97-AF65-F5344CB8AC3E}">
        <p14:creationId xmlns:p14="http://schemas.microsoft.com/office/powerpoint/2010/main" val="32928019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3951" y="113122"/>
            <a:ext cx="11510127" cy="6063841"/>
          </a:xfrm>
        </p:spPr>
        <p:txBody>
          <a:bodyPr>
            <a:noAutofit/>
          </a:bodyPr>
          <a:lstStyle/>
          <a:p>
            <a:pPr marL="0" indent="0" algn="just">
              <a:buNone/>
            </a:pPr>
            <a:r>
              <a:rPr lang="en-US" dirty="0"/>
              <a:t>The multiplexer has 4 inputs that are selected with 13 and 14 of the micro instruction. The functions of the multiplexer select bits are. </a:t>
            </a:r>
          </a:p>
          <a:p>
            <a:pPr algn="just"/>
            <a:r>
              <a:rPr lang="en-US" dirty="0"/>
              <a:t>If bits 13 and 14 are 00, a multiplexer input that is equal to 0 is selected. The output of the multiplexer is 0 and increment input to CAR is enabled. This configuration increments CAR to choose the next address in the sequence. </a:t>
            </a:r>
          </a:p>
          <a:p>
            <a:pPr algn="just"/>
            <a:r>
              <a:rPr lang="en-US" dirty="0"/>
              <a:t>An input of 1 is selected by the multiplexer when bits 13 and 14 are equal to 01. The output of the multiplexer is 1 and external input is loaded onto the CAR. </a:t>
            </a:r>
          </a:p>
          <a:p>
            <a:pPr algn="just"/>
            <a:r>
              <a:rPr lang="en-US" dirty="0"/>
              <a:t> Status variable S is selected when bits 13 and 14 or equal to 10. If S=1, the output of the multiplexer is 1 and address bits of the micro instructions are loaded into CAR ( provided x=0). If S=0, the output of a multiplexer is 0 and CAR is incremented. </a:t>
            </a:r>
          </a:p>
          <a:p>
            <a:pPr algn="just"/>
            <a:r>
              <a:rPr lang="en-US" dirty="0"/>
              <a:t>With bits 13 and 14 equal to 11, status variable E is selected and the address field is loaded into CAR. If E=1, but CAR is incremented if equal to 0. </a:t>
            </a:r>
          </a:p>
          <a:p>
            <a:pPr algn="just"/>
            <a:r>
              <a:rPr lang="en-US" dirty="0"/>
              <a:t> Thus, the multiplexer allows the control to choose between two addresses depending on the value of the status </a:t>
            </a:r>
          </a:p>
          <a:p>
            <a:pPr marL="0" indent="0" algn="just">
              <a:buNone/>
            </a:pPr>
            <a:endParaRPr lang="en-US" dirty="0"/>
          </a:p>
        </p:txBody>
      </p:sp>
    </p:spTree>
    <p:extLst>
      <p:ext uri="{BB962C8B-B14F-4D97-AF65-F5344CB8AC3E}">
        <p14:creationId xmlns:p14="http://schemas.microsoft.com/office/powerpoint/2010/main" val="15562977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432" y="252458"/>
            <a:ext cx="11501488" cy="6336878"/>
          </a:xfrm>
        </p:spPr>
        <p:txBody>
          <a:bodyPr>
            <a:normAutofit/>
          </a:bodyPr>
          <a:lstStyle/>
          <a:p>
            <a:pPr marL="0" indent="0" algn="ctr">
              <a:buNone/>
            </a:pPr>
            <a:r>
              <a:rPr lang="en-US" sz="3200" b="1" u="sng" dirty="0" err="1">
                <a:solidFill>
                  <a:srgbClr val="FF0000"/>
                </a:solidFill>
              </a:rPr>
              <a:t>Microprogram</a:t>
            </a:r>
            <a:r>
              <a:rPr lang="en-US" sz="3200" b="1" u="sng" dirty="0">
                <a:solidFill>
                  <a:srgbClr val="FF0000"/>
                </a:solidFill>
              </a:rPr>
              <a:t> </a:t>
            </a:r>
          </a:p>
          <a:p>
            <a:r>
              <a:rPr lang="en-US" sz="3200" dirty="0"/>
              <a:t>Once the configuration of a micro program control unit is established, the designer’s task is to generate the microcode for the control memory. </a:t>
            </a:r>
          </a:p>
          <a:p>
            <a:r>
              <a:rPr lang="en-US" sz="3200" dirty="0"/>
              <a:t>This code generation is called </a:t>
            </a:r>
            <a:r>
              <a:rPr lang="en-US" sz="3200" b="1" dirty="0"/>
              <a:t>microprogramming </a:t>
            </a:r>
            <a:r>
              <a:rPr lang="en-US" sz="3200" dirty="0"/>
              <a:t>and is a process that determines the bit configuration for each and all words in control memory. </a:t>
            </a:r>
          </a:p>
          <a:p>
            <a:r>
              <a:rPr lang="en-US" sz="3200" dirty="0"/>
              <a:t>The control memory has 8 word and each word contain 14 bits. To </a:t>
            </a:r>
            <a:r>
              <a:rPr lang="en-US" sz="3200" dirty="0" err="1"/>
              <a:t>microprogram</a:t>
            </a:r>
            <a:r>
              <a:rPr lang="en-US" sz="3200" dirty="0"/>
              <a:t> the control memory, we must determine the bit values of each of the eight words</a:t>
            </a:r>
          </a:p>
          <a:p>
            <a:r>
              <a:rPr lang="en-US" sz="3200" dirty="0"/>
              <a:t>The micro-operation sequence can be specified with the register transfer statements. </a:t>
            </a:r>
          </a:p>
        </p:txBody>
      </p:sp>
    </p:spTree>
    <p:extLst>
      <p:ext uri="{BB962C8B-B14F-4D97-AF65-F5344CB8AC3E}">
        <p14:creationId xmlns:p14="http://schemas.microsoft.com/office/powerpoint/2010/main" val="194214562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01249"/>
            <a:ext cx="10515600" cy="5575714"/>
          </a:xfrm>
        </p:spPr>
        <p:txBody>
          <a:bodyPr/>
          <a:lstStyle/>
          <a:p>
            <a:pPr algn="just"/>
            <a:r>
              <a:rPr lang="en-US" dirty="0"/>
              <a:t>The address associated with each symbolic statement corresponds to the address where the micro instruction is to be stored in memory.</a:t>
            </a:r>
          </a:p>
          <a:p>
            <a:pPr algn="just"/>
            <a:r>
              <a:rPr lang="en-US" dirty="0"/>
              <a:t> The sequencing from one address to the next can be indicated by means of conditional control statements.</a:t>
            </a:r>
          </a:p>
          <a:p>
            <a:pPr algn="just"/>
            <a:r>
              <a:rPr lang="en-US" dirty="0"/>
              <a:t> This type of statement can specify the address to which control goes depending on status conditions. </a:t>
            </a:r>
          </a:p>
          <a:p>
            <a:pPr algn="just"/>
            <a:r>
              <a:rPr lang="en-US" dirty="0"/>
              <a:t>Once the symbolic micro program is established, it is possible to translate the register transfer statements to their equivalent binary form </a:t>
            </a:r>
          </a:p>
        </p:txBody>
      </p:sp>
    </p:spTree>
    <p:extLst>
      <p:ext uri="{BB962C8B-B14F-4D97-AF65-F5344CB8AC3E}">
        <p14:creationId xmlns:p14="http://schemas.microsoft.com/office/powerpoint/2010/main" val="30177459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75989"/>
            <a:ext cx="10515600" cy="5700974"/>
          </a:xfrm>
        </p:spPr>
        <p:txBody>
          <a:bodyPr/>
          <a:lstStyle/>
          <a:p>
            <a:pPr marL="0" indent="0">
              <a:buNone/>
            </a:pP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1100" y="388307"/>
            <a:ext cx="9829800" cy="5436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554985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42887" y="271462"/>
            <a:ext cx="11706225" cy="6315075"/>
          </a:xfrm>
          <a:prstGeom prst="rect">
            <a:avLst/>
          </a:prstGeom>
        </p:spPr>
      </p:pic>
    </p:spTree>
    <p:extLst>
      <p:ext uri="{BB962C8B-B14F-4D97-AF65-F5344CB8AC3E}">
        <p14:creationId xmlns:p14="http://schemas.microsoft.com/office/powerpoint/2010/main" val="400615521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01249"/>
            <a:ext cx="10515600" cy="5575714"/>
          </a:xfrm>
        </p:spPr>
        <p:txBody>
          <a:bodyPr/>
          <a:lstStyle/>
          <a:p>
            <a:pPr algn="just"/>
            <a:r>
              <a:rPr lang="en-US" dirty="0"/>
              <a:t>The </a:t>
            </a:r>
            <a:r>
              <a:rPr lang="en-US" dirty="0">
                <a:solidFill>
                  <a:srgbClr val="FF0000"/>
                </a:solidFill>
              </a:rPr>
              <a:t>symbolic microprogram must be translated to binary </a:t>
            </a:r>
            <a:r>
              <a:rPr lang="en-US" dirty="0"/>
              <a:t>which in this form that goes into memory. </a:t>
            </a:r>
          </a:p>
          <a:p>
            <a:pPr algn="just"/>
            <a:r>
              <a:rPr lang="en-US" dirty="0"/>
              <a:t>The </a:t>
            </a:r>
            <a:r>
              <a:rPr lang="en-US" dirty="0">
                <a:solidFill>
                  <a:srgbClr val="FF0000"/>
                </a:solidFill>
              </a:rPr>
              <a:t>translation is done by dividing the bits of each microinstruction into their functional parts called</a:t>
            </a:r>
            <a:r>
              <a:rPr lang="en-US" b="1" dirty="0">
                <a:solidFill>
                  <a:srgbClr val="FF0000"/>
                </a:solidFill>
              </a:rPr>
              <a:t> field</a:t>
            </a:r>
            <a:r>
              <a:rPr lang="en-US" dirty="0">
                <a:solidFill>
                  <a:srgbClr val="FF0000"/>
                </a:solidFill>
              </a:rPr>
              <a:t>s</a:t>
            </a:r>
            <a:r>
              <a:rPr lang="en-US" dirty="0"/>
              <a:t>.</a:t>
            </a:r>
          </a:p>
          <a:p>
            <a:pPr algn="just"/>
            <a:r>
              <a:rPr lang="en-US" dirty="0"/>
              <a:t> Here we have three functional parts. </a:t>
            </a:r>
          </a:p>
          <a:p>
            <a:pPr algn="just"/>
            <a:r>
              <a:rPr lang="en-US" dirty="0"/>
              <a:t>Bits 1 through 9 specify the control word for initiating the micro operations. </a:t>
            </a:r>
          </a:p>
          <a:p>
            <a:pPr algn="just"/>
            <a:r>
              <a:rPr lang="en-US" dirty="0"/>
              <a:t>Bits 10 through 12 specify address field </a:t>
            </a:r>
          </a:p>
          <a:p>
            <a:pPr algn="just"/>
            <a:r>
              <a:rPr lang="en-US" dirty="0"/>
              <a:t>Bits 13 and 14 select multiplexer input. </a:t>
            </a:r>
          </a:p>
          <a:p>
            <a:pPr algn="just"/>
            <a:r>
              <a:rPr lang="en-US" dirty="0"/>
              <a:t> For each microinstruction listed in symbolic form we must choose the appropriate bits in the corresponding microinstruction fields. </a:t>
            </a:r>
          </a:p>
        </p:txBody>
      </p:sp>
    </p:spTree>
    <p:extLst>
      <p:ext uri="{BB962C8B-B14F-4D97-AF65-F5344CB8AC3E}">
        <p14:creationId xmlns:p14="http://schemas.microsoft.com/office/powerpoint/2010/main" val="354692869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04825" y="623887"/>
            <a:ext cx="11182350" cy="5610225"/>
          </a:xfrm>
          <a:prstGeom prst="rect">
            <a:avLst/>
          </a:prstGeom>
        </p:spPr>
      </p:pic>
    </p:spTree>
    <p:extLst>
      <p:ext uri="{BB962C8B-B14F-4D97-AF65-F5344CB8AC3E}">
        <p14:creationId xmlns:p14="http://schemas.microsoft.com/office/powerpoint/2010/main" val="360563002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9537" y="195262"/>
            <a:ext cx="11972925" cy="6467475"/>
          </a:xfrm>
          <a:prstGeom prst="rect">
            <a:avLst/>
          </a:prstGeom>
        </p:spPr>
      </p:pic>
    </p:spTree>
    <p:extLst>
      <p:ext uri="{BB962C8B-B14F-4D97-AF65-F5344CB8AC3E}">
        <p14:creationId xmlns:p14="http://schemas.microsoft.com/office/powerpoint/2010/main" val="420777694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0511" y="320512"/>
            <a:ext cx="11755225" cy="6221690"/>
          </a:xfrm>
        </p:spPr>
        <p:txBody>
          <a:bodyPr>
            <a:normAutofit fontScale="92500" lnSpcReduction="20000"/>
          </a:bodyPr>
          <a:lstStyle/>
          <a:p>
            <a:endParaRPr lang="en-US" dirty="0"/>
          </a:p>
          <a:p>
            <a:pPr algn="just"/>
            <a:r>
              <a:rPr lang="en-US" dirty="0"/>
              <a:t>At address 000, we have 0 one for the select field. This allows an external address to be loaded into CAR if </a:t>
            </a:r>
            <a:r>
              <a:rPr lang="en-US" dirty="0" err="1"/>
              <a:t>qs</a:t>
            </a:r>
            <a:r>
              <a:rPr lang="en-US" dirty="0"/>
              <a:t> or </a:t>
            </a:r>
            <a:r>
              <a:rPr lang="en-US" dirty="0" err="1"/>
              <a:t>qa</a:t>
            </a:r>
            <a:r>
              <a:rPr lang="en-US" dirty="0"/>
              <a:t> is equal to 1. Otherwise address 000 is transferred to CAR. </a:t>
            </a:r>
          </a:p>
          <a:p>
            <a:pPr algn="just"/>
            <a:r>
              <a:rPr lang="en-US" dirty="0"/>
              <a:t>In address 001, the microinstruction select field is 01 and address field is 010. From table in figure 10.10, we find that the clock pulse that indicates the </a:t>
            </a:r>
            <a:r>
              <a:rPr lang="en-US" dirty="0" err="1"/>
              <a:t>microoperation</a:t>
            </a:r>
            <a:r>
              <a:rPr lang="en-US" dirty="0"/>
              <a:t> </a:t>
            </a:r>
            <a:r>
              <a:rPr lang="en-US" dirty="0" err="1">
                <a:solidFill>
                  <a:srgbClr val="FF0000"/>
                </a:solidFill>
              </a:rPr>
              <a:t>Bs</a:t>
            </a:r>
            <a:r>
              <a:rPr lang="en-US" dirty="0">
                <a:solidFill>
                  <a:srgbClr val="FF0000"/>
                </a:solidFill>
              </a:rPr>
              <a:t> &lt;- </a:t>
            </a:r>
            <a:r>
              <a:rPr lang="en-US" dirty="0" err="1">
                <a:solidFill>
                  <a:srgbClr val="FF0000"/>
                </a:solidFill>
              </a:rPr>
              <a:t>Bs</a:t>
            </a:r>
            <a:r>
              <a:rPr lang="en-US" dirty="0">
                <a:solidFill>
                  <a:srgbClr val="FF0000"/>
                </a:solidFill>
              </a:rPr>
              <a:t> ‘ </a:t>
            </a:r>
            <a:r>
              <a:rPr lang="en-US" dirty="0"/>
              <a:t>also transfer the address field into CAR. </a:t>
            </a:r>
          </a:p>
          <a:p>
            <a:pPr algn="just"/>
            <a:r>
              <a:rPr lang="en-US" dirty="0"/>
              <a:t>The next microinstruction out of ROM will be the one stored in address 010. The select field at address 001 could have been chosen to be 00. This would have caused CAR to increment and go to address 010. </a:t>
            </a:r>
          </a:p>
          <a:p>
            <a:pPr algn="just"/>
            <a:r>
              <a:rPr lang="en-US" dirty="0"/>
              <a:t>Inspection of the select field in which 13 and 14 shows that when these two bits are equal to 01, the address field is next address. </a:t>
            </a:r>
          </a:p>
          <a:p>
            <a:pPr algn="just"/>
            <a:r>
              <a:rPr lang="en-US" dirty="0"/>
              <a:t> When these two bits are 10, status variable S is selected and when they are 11, status variable E is selected. </a:t>
            </a:r>
          </a:p>
          <a:p>
            <a:r>
              <a:rPr lang="en-US" dirty="0"/>
              <a:t>In the last two cases the next address is the one specified in the address field if the selected status bit=1. If the selected status bit=0, the next address is one next in sequence because CAR is incremented. </a:t>
            </a:r>
          </a:p>
          <a:p>
            <a:pPr algn="just"/>
            <a:endParaRPr lang="en-US" dirty="0"/>
          </a:p>
        </p:txBody>
      </p:sp>
    </p:spTree>
    <p:extLst>
      <p:ext uri="{BB962C8B-B14F-4D97-AF65-F5344CB8AC3E}">
        <p14:creationId xmlns:p14="http://schemas.microsoft.com/office/powerpoint/2010/main" val="296475931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3377" y="329938"/>
            <a:ext cx="11491275" cy="6212264"/>
          </a:xfrm>
        </p:spPr>
        <p:txBody>
          <a:bodyPr>
            <a:normAutofit/>
          </a:bodyPr>
          <a:lstStyle/>
          <a:p>
            <a:pPr marL="0" indent="0">
              <a:buNone/>
            </a:pPr>
            <a:r>
              <a:rPr lang="en-US" sz="3200" b="1" i="1" u="sng" dirty="0">
                <a:solidFill>
                  <a:srgbClr val="FF0000"/>
                </a:solidFill>
              </a:rPr>
              <a:t>Advantages of Micro programmed contro</a:t>
            </a:r>
            <a:r>
              <a:rPr lang="en-US" sz="3200" b="1" i="1" dirty="0"/>
              <a:t>l </a:t>
            </a:r>
            <a:endParaRPr lang="en-US" sz="3200" dirty="0"/>
          </a:p>
          <a:p>
            <a:r>
              <a:rPr lang="en-US" sz="3200" dirty="0"/>
              <a:t> It simplifies the design of control unit. Thus it is both, cheaper and less error prone to implement. </a:t>
            </a:r>
          </a:p>
          <a:p>
            <a:r>
              <a:rPr lang="en-US" sz="3200" dirty="0"/>
              <a:t>Control functions are implemented in software rather than hardware. </a:t>
            </a:r>
          </a:p>
          <a:p>
            <a:r>
              <a:rPr lang="en-US" sz="3200" dirty="0"/>
              <a:t>The design process is orderly and systematic </a:t>
            </a:r>
          </a:p>
          <a:p>
            <a:r>
              <a:rPr lang="en-US" sz="3200" dirty="0"/>
              <a:t>More flexible, can be changed to accommodate new system specifications or to correct the design errors quickly and cheaply. </a:t>
            </a:r>
          </a:p>
          <a:p>
            <a:r>
              <a:rPr lang="en-US" sz="3200" dirty="0"/>
              <a:t>Complex function such as floating point arithmetic can be realized efficiently. </a:t>
            </a:r>
          </a:p>
          <a:p>
            <a:endParaRPr lang="en-US" sz="3200" dirty="0"/>
          </a:p>
        </p:txBody>
      </p:sp>
    </p:spTree>
    <p:extLst>
      <p:ext uri="{BB962C8B-B14F-4D97-AF65-F5344CB8AC3E}">
        <p14:creationId xmlns:p14="http://schemas.microsoft.com/office/powerpoint/2010/main" val="246449726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01249"/>
            <a:ext cx="10515600" cy="5575714"/>
          </a:xfrm>
        </p:spPr>
        <p:txBody>
          <a:bodyPr>
            <a:normAutofit/>
          </a:bodyPr>
          <a:lstStyle/>
          <a:p>
            <a:pPr marL="0" indent="0">
              <a:buNone/>
            </a:pPr>
            <a:r>
              <a:rPr lang="en-US" sz="3200" b="1" i="1" dirty="0"/>
              <a:t>Disadvantages </a:t>
            </a:r>
            <a:endParaRPr lang="en-US" sz="3200" dirty="0"/>
          </a:p>
          <a:p>
            <a:r>
              <a:rPr lang="en-US" sz="3200" dirty="0"/>
              <a:t>A micro programmed control unit is somewhat slower than the hardwired control unit, because time is required to access the microinstructions from CM </a:t>
            </a:r>
          </a:p>
          <a:p>
            <a:r>
              <a:rPr lang="en-US" sz="3200" dirty="0"/>
              <a:t> The flexibility is achieved at some extra hardware cost due to the control memory and its access circuitry. </a:t>
            </a:r>
          </a:p>
        </p:txBody>
      </p:sp>
    </p:spTree>
    <p:extLst>
      <p:ext uri="{BB962C8B-B14F-4D97-AF65-F5344CB8AC3E}">
        <p14:creationId xmlns:p14="http://schemas.microsoft.com/office/powerpoint/2010/main" val="308597266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C9AD5B-62BB-5A4F-C4D9-DC030496D6A1}"/>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ABC2A466-C9B0-7D54-D3CB-5987917BEF63}"/>
              </a:ext>
            </a:extLst>
          </p:cNvPr>
          <p:cNvPicPr>
            <a:picLocks noChangeAspect="1"/>
          </p:cNvPicPr>
          <p:nvPr/>
        </p:nvPicPr>
        <p:blipFill>
          <a:blip r:embed="rId2"/>
          <a:stretch>
            <a:fillRect/>
          </a:stretch>
        </p:blipFill>
        <p:spPr>
          <a:xfrm>
            <a:off x="240606" y="518473"/>
            <a:ext cx="11530621" cy="5731497"/>
          </a:xfrm>
          <a:prstGeom prst="rect">
            <a:avLst/>
          </a:prstGeom>
        </p:spPr>
      </p:pic>
    </p:spTree>
    <p:extLst>
      <p:ext uri="{BB962C8B-B14F-4D97-AF65-F5344CB8AC3E}">
        <p14:creationId xmlns:p14="http://schemas.microsoft.com/office/powerpoint/2010/main" val="209088998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454C7-C5FE-01AA-36E7-EEBB43B3E1D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7686759-63FF-5037-B93A-75F19B69DEEF}"/>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CCE38E4C-90C2-251E-ECCA-F073C28D22E4}"/>
              </a:ext>
            </a:extLst>
          </p:cNvPr>
          <p:cNvPicPr>
            <a:picLocks noChangeAspect="1"/>
          </p:cNvPicPr>
          <p:nvPr/>
        </p:nvPicPr>
        <p:blipFill>
          <a:blip r:embed="rId2"/>
          <a:stretch>
            <a:fillRect/>
          </a:stretch>
        </p:blipFill>
        <p:spPr>
          <a:xfrm>
            <a:off x="216816" y="117030"/>
            <a:ext cx="12192018" cy="6868232"/>
          </a:xfrm>
          <a:prstGeom prst="rect">
            <a:avLst/>
          </a:prstGeom>
        </p:spPr>
      </p:pic>
    </p:spTree>
    <p:extLst>
      <p:ext uri="{BB962C8B-B14F-4D97-AF65-F5344CB8AC3E}">
        <p14:creationId xmlns:p14="http://schemas.microsoft.com/office/powerpoint/2010/main" val="97047294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AC57B-DA5A-F5A0-7CF7-7D3F0FFB1B92}"/>
              </a:ext>
            </a:extLst>
          </p:cNvPr>
          <p:cNvSpPr>
            <a:spLocks noGrp="1"/>
          </p:cNvSpPr>
          <p:nvPr>
            <p:ph type="title"/>
          </p:nvPr>
        </p:nvSpPr>
        <p:spPr/>
        <p:txBody>
          <a:bodyPr/>
          <a:lstStyle/>
          <a:p>
            <a:endParaRPr lang="en-US"/>
          </a:p>
        </p:txBody>
      </p:sp>
      <p:pic>
        <p:nvPicPr>
          <p:cNvPr id="7" name="Content Placeholder 6">
            <a:extLst>
              <a:ext uri="{FF2B5EF4-FFF2-40B4-BE49-F238E27FC236}">
                <a16:creationId xmlns:a16="http://schemas.microsoft.com/office/drawing/2014/main" id="{129CE11A-0463-1D1D-91EC-BBC1CE0040D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3782" y="355950"/>
            <a:ext cx="10785218" cy="6197251"/>
          </a:xfrm>
        </p:spPr>
      </p:pic>
      <p:sp>
        <p:nvSpPr>
          <p:cNvPr id="4" name="Footer Placeholder 3">
            <a:extLst>
              <a:ext uri="{FF2B5EF4-FFF2-40B4-BE49-F238E27FC236}">
                <a16:creationId xmlns:a16="http://schemas.microsoft.com/office/drawing/2014/main" id="{8082EC63-BBE9-EFB0-DA12-A1FD6A4FE7A9}"/>
              </a:ext>
            </a:extLst>
          </p:cNvPr>
          <p:cNvSpPr>
            <a:spLocks noGrp="1"/>
          </p:cNvSpPr>
          <p:nvPr>
            <p:ph type="ftr" sz="quarter" idx="11"/>
          </p:nvPr>
        </p:nvSpPr>
        <p:spPr/>
        <p:txBody>
          <a:bodyPr/>
          <a:lstStyle/>
          <a:p>
            <a:pPr algn="ctr"/>
            <a:r>
              <a:rPr lang="en-US">
                <a:solidFill>
                  <a:prstClr val="white">
                    <a:lumMod val="95000"/>
                    <a:lumOff val="5000"/>
                    <a:alpha val="60000"/>
                  </a:prstClr>
                </a:solidFill>
              </a:rPr>
              <a:t>RBK Classes</a:t>
            </a:r>
            <a:endParaRPr lang="en-US" dirty="0">
              <a:solidFill>
                <a:prstClr val="white">
                  <a:lumMod val="95000"/>
                  <a:lumOff val="5000"/>
                  <a:alpha val="60000"/>
                </a:prstClr>
              </a:solidFill>
            </a:endParaRPr>
          </a:p>
        </p:txBody>
      </p:sp>
      <p:sp>
        <p:nvSpPr>
          <p:cNvPr id="5" name="Slide Number Placeholder 4">
            <a:extLst>
              <a:ext uri="{FF2B5EF4-FFF2-40B4-BE49-F238E27FC236}">
                <a16:creationId xmlns:a16="http://schemas.microsoft.com/office/drawing/2014/main" id="{759AB8D1-8897-59F9-462A-C48D12D09637}"/>
              </a:ext>
            </a:extLst>
          </p:cNvPr>
          <p:cNvSpPr>
            <a:spLocks noGrp="1"/>
          </p:cNvSpPr>
          <p:nvPr>
            <p:ph type="sldNum" sz="quarter" idx="12"/>
          </p:nvPr>
        </p:nvSpPr>
        <p:spPr/>
        <p:txBody>
          <a:bodyPr/>
          <a:lstStyle/>
          <a:p>
            <a:fld id="{D57F1E4F-1CFF-5643-939E-02111984F565}" type="slidenum">
              <a:rPr lang="en-US" smtClean="0">
                <a:solidFill>
                  <a:prstClr val="white">
                    <a:tint val="75000"/>
                  </a:prstClr>
                </a:solidFill>
              </a:rPr>
              <a:pPr/>
              <a:t>56</a:t>
            </a:fld>
            <a:endParaRPr lang="en-US" dirty="0">
              <a:solidFill>
                <a:prstClr val="white">
                  <a:tint val="75000"/>
                </a:prstClr>
              </a:solidFill>
            </a:endParaRPr>
          </a:p>
        </p:txBody>
      </p:sp>
    </p:spTree>
    <p:extLst>
      <p:ext uri="{BB962C8B-B14F-4D97-AF65-F5344CB8AC3E}">
        <p14:creationId xmlns:p14="http://schemas.microsoft.com/office/powerpoint/2010/main" val="2556953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MICROPROGRAM SEQUENCER </a:t>
            </a:r>
            <a:br>
              <a:rPr lang="en-US" dirty="0"/>
            </a:b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62780867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3571" y="1036948"/>
            <a:ext cx="10850252" cy="5089216"/>
          </a:xfrm>
        </p:spPr>
        <p:txBody>
          <a:bodyPr>
            <a:normAutofit/>
          </a:bodyPr>
          <a:lstStyle/>
          <a:p>
            <a:r>
              <a:rPr lang="en-US" sz="3200" dirty="0"/>
              <a:t>Micro program sequencer is a control unit which does the tasks of Micro-program sequencing. </a:t>
            </a:r>
          </a:p>
          <a:p>
            <a:r>
              <a:rPr lang="en-US" sz="3200" dirty="0"/>
              <a:t>There are two important factors that must be considered while designing the micro program sequencer.</a:t>
            </a:r>
          </a:p>
          <a:p>
            <a:pPr marL="457200" indent="-457200">
              <a:buFont typeface="+mj-lt"/>
              <a:buAutoNum type="arabicPeriod"/>
            </a:pPr>
            <a:r>
              <a:rPr lang="en-US" sz="3200" dirty="0"/>
              <a:t> The size of the microinstruction</a:t>
            </a:r>
          </a:p>
          <a:p>
            <a:pPr marL="457200" indent="-457200">
              <a:buFont typeface="+mj-lt"/>
              <a:buAutoNum type="arabicPeriod"/>
            </a:pPr>
            <a:r>
              <a:rPr lang="en-US" sz="3200" dirty="0"/>
              <a:t> The address generation time.</a:t>
            </a:r>
          </a:p>
          <a:p>
            <a:r>
              <a:rPr lang="en-US" sz="3200" dirty="0"/>
              <a:t>Micro-program sequencer is attached to the control memory.</a:t>
            </a:r>
          </a:p>
          <a:p>
            <a:r>
              <a:rPr lang="en-US" sz="3200" dirty="0"/>
              <a:t>It inspects certain bits in the microinstruction to determine the next address for control memory.</a:t>
            </a:r>
          </a:p>
          <a:p>
            <a:pPr marL="0" indent="0">
              <a:buNone/>
            </a:pPr>
            <a:endParaRPr lang="en-US" sz="3200" dirty="0"/>
          </a:p>
        </p:txBody>
      </p:sp>
    </p:spTree>
    <p:extLst>
      <p:ext uri="{BB962C8B-B14F-4D97-AF65-F5344CB8AC3E}">
        <p14:creationId xmlns:p14="http://schemas.microsoft.com/office/powerpoint/2010/main" val="380201534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29938" y="282803"/>
            <a:ext cx="11576116" cy="6315959"/>
          </a:xfrm>
        </p:spPr>
        <p:txBody>
          <a:bodyPr>
            <a:noAutofit/>
          </a:bodyPr>
          <a:lstStyle/>
          <a:p>
            <a:pPr marL="0" indent="0" algn="just">
              <a:buNone/>
            </a:pPr>
            <a:r>
              <a:rPr lang="en-US" b="1" dirty="0"/>
              <a:t>Typical sequencer provides the following address-sequencing capabilities :</a:t>
            </a:r>
          </a:p>
          <a:p>
            <a:pPr marL="0" indent="0" algn="just">
              <a:buNone/>
            </a:pPr>
            <a:r>
              <a:rPr lang="en-US" b="1" dirty="0">
                <a:solidFill>
                  <a:srgbClr val="FF0000"/>
                </a:solidFill>
              </a:rPr>
              <a:t>1.Increments the present address for control memory .</a:t>
            </a:r>
          </a:p>
          <a:p>
            <a:pPr marL="0" indent="0" algn="just">
              <a:buNone/>
            </a:pPr>
            <a:r>
              <a:rPr lang="en-US" b="1" dirty="0"/>
              <a:t>  Sequential access: The content of address register of the control memory (CAR) is    incremented after execution of each micro-instruction .</a:t>
            </a:r>
          </a:p>
          <a:p>
            <a:pPr marL="0" indent="0" algn="just">
              <a:buNone/>
            </a:pPr>
            <a:r>
              <a:rPr lang="en-US" b="1" dirty="0"/>
              <a:t>2. </a:t>
            </a:r>
            <a:r>
              <a:rPr lang="en-US" b="1" dirty="0">
                <a:solidFill>
                  <a:srgbClr val="FF0000"/>
                </a:solidFill>
              </a:rPr>
              <a:t>Branches to an address as specified by the address field of the microinstruction </a:t>
            </a:r>
          </a:p>
          <a:p>
            <a:pPr marL="0" indent="0" algn="just">
              <a:buNone/>
            </a:pPr>
            <a:r>
              <a:rPr lang="en-US" b="1" dirty="0">
                <a:solidFill>
                  <a:srgbClr val="FF0000"/>
                </a:solidFill>
              </a:rPr>
              <a:t>3 . Branches to a given address if a specified status bit equal to 1.</a:t>
            </a:r>
          </a:p>
          <a:p>
            <a:pPr marL="0" indent="0" algn="just">
              <a:buNone/>
            </a:pPr>
            <a:r>
              <a:rPr lang="en-US" b="1" dirty="0">
                <a:solidFill>
                  <a:srgbClr val="FF0000"/>
                </a:solidFill>
              </a:rPr>
              <a:t>4.Transfer control to a new address as specified by an external source .</a:t>
            </a:r>
          </a:p>
          <a:p>
            <a:pPr marL="0" indent="0" algn="just">
              <a:buNone/>
            </a:pPr>
            <a:r>
              <a:rPr lang="en-US" b="1" dirty="0"/>
              <a:t> The external address transfers control to the first microinstruction in a </a:t>
            </a:r>
            <a:r>
              <a:rPr lang="en-US" b="1" dirty="0" err="1"/>
              <a:t>microprogram</a:t>
            </a:r>
            <a:endParaRPr lang="en-US" b="1" dirty="0"/>
          </a:p>
          <a:p>
            <a:pPr marL="0" indent="0" algn="just">
              <a:buNone/>
            </a:pPr>
            <a:r>
              <a:rPr lang="en-US" b="1" dirty="0"/>
              <a:t>5 .</a:t>
            </a:r>
            <a:r>
              <a:rPr lang="en-US" b="1" dirty="0">
                <a:solidFill>
                  <a:srgbClr val="FF0000"/>
                </a:solidFill>
              </a:rPr>
              <a:t>Support subroutine call and returns.</a:t>
            </a:r>
          </a:p>
          <a:p>
            <a:pPr marL="0" indent="0" algn="just">
              <a:buNone/>
            </a:pPr>
            <a:r>
              <a:rPr lang="en-US" b="1" dirty="0"/>
              <a:t>Placing return address into a stack and then branching to the beginning of the subroutine .After the execution of a subroutine the return address can be loaded to CAR from stack top and return the control to main program .</a:t>
            </a:r>
          </a:p>
          <a:p>
            <a:pPr marL="0" indent="0">
              <a:buNone/>
            </a:pPr>
            <a:endParaRPr lang="en-US" dirty="0"/>
          </a:p>
        </p:txBody>
      </p:sp>
    </p:spTree>
    <p:extLst>
      <p:ext uri="{BB962C8B-B14F-4D97-AF65-F5344CB8AC3E}">
        <p14:creationId xmlns:p14="http://schemas.microsoft.com/office/powerpoint/2010/main" val="10524161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381001"/>
            <a:ext cx="8229600" cy="5745163"/>
          </a:xfrm>
        </p:spPr>
        <p:txBody>
          <a:bodyPr>
            <a:normAutofit/>
          </a:bodyPr>
          <a:lstStyle/>
          <a:p>
            <a:pPr algn="just"/>
            <a:r>
              <a:rPr lang="en-US" sz="2400" dirty="0"/>
              <a:t>The address generation part is sometimes called a </a:t>
            </a:r>
            <a:r>
              <a:rPr lang="en-US" sz="2400" b="1" dirty="0" err="1"/>
              <a:t>microprogram</a:t>
            </a:r>
            <a:r>
              <a:rPr lang="en-US" sz="2400" b="1" dirty="0"/>
              <a:t> sequencer</a:t>
            </a:r>
            <a:endParaRPr lang="en-US" sz="2400" dirty="0"/>
          </a:p>
          <a:p>
            <a:pPr algn="just"/>
            <a:r>
              <a:rPr lang="en-US" sz="2400" dirty="0"/>
              <a:t> since it sequences the micro instructions in control memory. Subroutines are programs used by other routines to accomplish a particular task.</a:t>
            </a:r>
          </a:p>
          <a:p>
            <a:pPr algn="just"/>
            <a:r>
              <a:rPr lang="en-US" sz="2400" dirty="0"/>
              <a:t> Subroutine can be called from any point within the main body of the </a:t>
            </a:r>
            <a:r>
              <a:rPr lang="en-US" sz="2400" dirty="0" err="1"/>
              <a:t>microprogram</a:t>
            </a:r>
            <a:r>
              <a:rPr lang="en-US" sz="2400" dirty="0"/>
              <a:t>. </a:t>
            </a:r>
          </a:p>
        </p:txBody>
      </p:sp>
    </p:spTree>
    <p:extLst>
      <p:ext uri="{BB962C8B-B14F-4D97-AF65-F5344CB8AC3E}">
        <p14:creationId xmlns:p14="http://schemas.microsoft.com/office/powerpoint/2010/main" val="319403943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381001"/>
            <a:ext cx="8229600" cy="5745163"/>
          </a:xfrm>
        </p:spPr>
        <p:txBody>
          <a:bodyPr/>
          <a:lstStyle/>
          <a:p>
            <a:pPr marL="0" indent="0">
              <a:buNone/>
            </a:pPr>
            <a:endParaRPr lang="en-US" dirty="0"/>
          </a:p>
        </p:txBody>
      </p:sp>
      <p:pic>
        <p:nvPicPr>
          <p:cNvPr id="4" name="Picture 3"/>
          <p:cNvPicPr>
            <a:picLocks noChangeAspect="1"/>
          </p:cNvPicPr>
          <p:nvPr/>
        </p:nvPicPr>
        <p:blipFill>
          <a:blip r:embed="rId2"/>
          <a:stretch>
            <a:fillRect/>
          </a:stretch>
        </p:blipFill>
        <p:spPr>
          <a:xfrm>
            <a:off x="2209800" y="762000"/>
            <a:ext cx="7696200" cy="5029200"/>
          </a:xfrm>
          <a:prstGeom prst="rect">
            <a:avLst/>
          </a:prstGeom>
        </p:spPr>
      </p:pic>
    </p:spTree>
    <p:extLst>
      <p:ext uri="{BB962C8B-B14F-4D97-AF65-F5344CB8AC3E}">
        <p14:creationId xmlns:p14="http://schemas.microsoft.com/office/powerpoint/2010/main" val="209071902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05266" y="0"/>
            <a:ext cx="6934200" cy="400110"/>
          </a:xfrm>
          <a:prstGeom prst="rect">
            <a:avLst/>
          </a:prstGeom>
          <a:noFill/>
        </p:spPr>
        <p:txBody>
          <a:bodyPr wrap="square" rtlCol="0">
            <a:spAutoFit/>
          </a:bodyPr>
          <a:lstStyle/>
          <a:p>
            <a:r>
              <a:rPr lang="en-US" sz="2000" b="1" dirty="0">
                <a:solidFill>
                  <a:srgbClr val="FF0000"/>
                </a:solidFill>
              </a:rPr>
              <a:t>Block diagram of Micro-program Sequencer</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7584" y="570950"/>
            <a:ext cx="10297736" cy="6178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373048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1402" y="273377"/>
            <a:ext cx="11887200" cy="6495068"/>
          </a:xfrm>
        </p:spPr>
        <p:txBody>
          <a:bodyPr>
            <a:normAutofit/>
          </a:bodyPr>
          <a:lstStyle/>
          <a:p>
            <a:pPr algn="just"/>
            <a:r>
              <a:rPr lang="en-US" sz="3200" dirty="0"/>
              <a:t>It consists of a multiplexer that selects an address from </a:t>
            </a:r>
            <a:r>
              <a:rPr lang="en-US" sz="3200" b="1" dirty="0"/>
              <a:t>four sources </a:t>
            </a:r>
            <a:r>
              <a:rPr lang="en-US" sz="3200" dirty="0"/>
              <a:t>and routes it into a Control Address Register (CAR). </a:t>
            </a:r>
          </a:p>
          <a:p>
            <a:pPr marL="0" indent="0" algn="just">
              <a:buNone/>
            </a:pPr>
            <a:endParaRPr lang="en-US" sz="3200" dirty="0"/>
          </a:p>
          <a:p>
            <a:pPr marL="0" indent="0" algn="just">
              <a:buNone/>
            </a:pPr>
            <a:r>
              <a:rPr lang="en-US" sz="3200" dirty="0"/>
              <a:t>1. Transfers control to a new address specified by an external source (EXA). </a:t>
            </a:r>
          </a:p>
          <a:p>
            <a:pPr marL="0" indent="0" algn="just">
              <a:buNone/>
            </a:pPr>
            <a:r>
              <a:rPr lang="en-US" sz="3200" dirty="0"/>
              <a:t>2. Transfers control to a new address for subroutines call (SR) and returns. </a:t>
            </a:r>
          </a:p>
          <a:p>
            <a:pPr marL="0" indent="0" algn="just">
              <a:buNone/>
            </a:pPr>
            <a:r>
              <a:rPr lang="en-US" sz="3200" dirty="0"/>
              <a:t>3. Increments the present address of control memory (</a:t>
            </a:r>
            <a:r>
              <a:rPr lang="en-US" sz="3200" dirty="0" err="1"/>
              <a:t>Incrementer</a:t>
            </a:r>
            <a:r>
              <a:rPr lang="en-US" sz="3200" dirty="0"/>
              <a:t>) </a:t>
            </a:r>
          </a:p>
          <a:p>
            <a:pPr marL="0" indent="0" algn="just">
              <a:buNone/>
            </a:pPr>
            <a:r>
              <a:rPr lang="en-US" sz="3200" dirty="0"/>
              <a:t>4. Branches to an address which will be specified in the bits of microinstruction (BRA). </a:t>
            </a:r>
          </a:p>
          <a:p>
            <a:pPr marL="0" indent="0">
              <a:buNone/>
            </a:pPr>
            <a:endParaRPr lang="en-US" sz="3200" dirty="0"/>
          </a:p>
        </p:txBody>
      </p:sp>
    </p:spTree>
    <p:extLst>
      <p:ext uri="{BB962C8B-B14F-4D97-AF65-F5344CB8AC3E}">
        <p14:creationId xmlns:p14="http://schemas.microsoft.com/office/powerpoint/2010/main" val="139086977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7389" y="160256"/>
            <a:ext cx="11689237" cy="6429079"/>
          </a:xfrm>
        </p:spPr>
        <p:txBody>
          <a:bodyPr>
            <a:noAutofit/>
          </a:bodyPr>
          <a:lstStyle/>
          <a:p>
            <a:pPr algn="just"/>
            <a:r>
              <a:rPr lang="en-US" sz="3200" b="1" dirty="0"/>
              <a:t>Multiplexer</a:t>
            </a:r>
            <a:r>
              <a:rPr lang="en-US" sz="3200" dirty="0"/>
              <a:t>: Selects an address from four sources and routes it into CAR. </a:t>
            </a:r>
          </a:p>
          <a:p>
            <a:pPr algn="just"/>
            <a:r>
              <a:rPr lang="en-US" sz="3200" dirty="0"/>
              <a:t> </a:t>
            </a:r>
            <a:r>
              <a:rPr lang="en-US" sz="3200" b="1" dirty="0"/>
              <a:t>The output from CAR provides the address for control memory to read a microinstruction. </a:t>
            </a:r>
          </a:p>
          <a:p>
            <a:pPr algn="just"/>
            <a:r>
              <a:rPr lang="en-US" sz="3200" b="1" dirty="0"/>
              <a:t>The contents of CAR are incremented and applied to the multiplexer and to the stack register file (SR). </a:t>
            </a:r>
          </a:p>
          <a:p>
            <a:pPr algn="just"/>
            <a:r>
              <a:rPr lang="en-US" sz="3200" b="1" dirty="0"/>
              <a:t>The register selected in the stack is determined by stack pointer (SP). </a:t>
            </a:r>
          </a:p>
          <a:p>
            <a:pPr algn="just"/>
            <a:r>
              <a:rPr lang="en-US" sz="3200" b="1" dirty="0"/>
              <a:t>Inputs (I0-I2) specify the operation for the sequencer and input. </a:t>
            </a:r>
          </a:p>
          <a:p>
            <a:pPr algn="just"/>
            <a:r>
              <a:rPr lang="en-US" sz="3200" b="1" dirty="0"/>
              <a:t>T is the test point for a status bit. </a:t>
            </a:r>
          </a:p>
          <a:p>
            <a:pPr algn="just"/>
            <a:r>
              <a:rPr lang="en-US" sz="3200" dirty="0"/>
              <a:t>Initially the address register is cleared to zero and clock pulse synchronizes the loading into registers. </a:t>
            </a:r>
            <a:endParaRPr lang="en-US" sz="3200" b="1" dirty="0"/>
          </a:p>
          <a:p>
            <a:pPr algn="just"/>
            <a:endParaRPr lang="en-US" sz="3200" b="1" dirty="0"/>
          </a:p>
          <a:p>
            <a:pPr marL="0" indent="0" algn="just">
              <a:buNone/>
            </a:pPr>
            <a:endParaRPr lang="en-US" sz="3200" b="1" dirty="0"/>
          </a:p>
        </p:txBody>
      </p:sp>
    </p:spTree>
    <p:extLst>
      <p:ext uri="{BB962C8B-B14F-4D97-AF65-F5344CB8AC3E}">
        <p14:creationId xmlns:p14="http://schemas.microsoft.com/office/powerpoint/2010/main" val="52094004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381001"/>
            <a:ext cx="8229600" cy="5745163"/>
          </a:xfrm>
        </p:spPr>
        <p:txBody>
          <a:bodyPr>
            <a:normAutofit/>
          </a:bodyPr>
          <a:lstStyle/>
          <a:p>
            <a:pPr marL="0" indent="0" algn="just">
              <a:buNone/>
            </a:pPr>
            <a:endParaRPr lang="en-US" sz="2400" b="1" dirty="0"/>
          </a:p>
          <a:p>
            <a:pPr algn="just"/>
            <a:endParaRPr lang="en-US" sz="2400" b="1" dirty="0"/>
          </a:p>
          <a:p>
            <a:pPr marL="0" indent="0" algn="just">
              <a:buNone/>
            </a:pPr>
            <a:endParaRPr lang="en-US" b="1" dirty="0"/>
          </a:p>
        </p:txBody>
      </p:sp>
      <p:pic>
        <p:nvPicPr>
          <p:cNvPr id="4" name="Picture 3"/>
          <p:cNvPicPr>
            <a:picLocks noChangeAspect="1"/>
          </p:cNvPicPr>
          <p:nvPr/>
        </p:nvPicPr>
        <p:blipFill>
          <a:blip r:embed="rId2"/>
          <a:stretch>
            <a:fillRect/>
          </a:stretch>
        </p:blipFill>
        <p:spPr>
          <a:xfrm>
            <a:off x="1750031" y="382624"/>
            <a:ext cx="8065214" cy="4875177"/>
          </a:xfrm>
          <a:prstGeom prst="rect">
            <a:avLst/>
          </a:prstGeom>
        </p:spPr>
      </p:pic>
    </p:spTree>
    <p:extLst>
      <p:ext uri="{BB962C8B-B14F-4D97-AF65-F5344CB8AC3E}">
        <p14:creationId xmlns:p14="http://schemas.microsoft.com/office/powerpoint/2010/main" val="410943659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381001"/>
            <a:ext cx="8229600" cy="5745163"/>
          </a:xfrm>
        </p:spPr>
        <p:txBody>
          <a:bodyPr>
            <a:normAutofit/>
          </a:bodyPr>
          <a:lstStyle/>
          <a:p>
            <a:pPr marL="0" indent="0" algn="just">
              <a:buNone/>
            </a:pPr>
            <a:endParaRPr lang="en-US" sz="2400" b="1" dirty="0"/>
          </a:p>
          <a:p>
            <a:pPr algn="just"/>
            <a:endParaRPr lang="en-US" sz="2400" b="1" dirty="0"/>
          </a:p>
          <a:p>
            <a:pPr marL="0" indent="0" algn="just">
              <a:buNone/>
            </a:pPr>
            <a:endParaRPr lang="en-US" b="1" dirty="0"/>
          </a:p>
        </p:txBody>
      </p:sp>
      <p:pic>
        <p:nvPicPr>
          <p:cNvPr id="2" name="Picture 1"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6181" y="200448"/>
            <a:ext cx="10152667" cy="6684847"/>
          </a:xfrm>
          <a:prstGeom prst="rect">
            <a:avLst/>
          </a:prstGeom>
        </p:spPr>
      </p:pic>
    </p:spTree>
    <p:extLst>
      <p:ext uri="{BB962C8B-B14F-4D97-AF65-F5344CB8AC3E}">
        <p14:creationId xmlns:p14="http://schemas.microsoft.com/office/powerpoint/2010/main" val="310460148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381001"/>
            <a:ext cx="8229600" cy="5745163"/>
          </a:xfrm>
        </p:spPr>
        <p:txBody>
          <a:bodyPr>
            <a:normAutofit/>
          </a:bodyPr>
          <a:lstStyle/>
          <a:p>
            <a:pPr marL="0" indent="0" algn="just">
              <a:buNone/>
            </a:pPr>
            <a:endParaRPr lang="en-US" sz="2400" b="1" dirty="0"/>
          </a:p>
          <a:p>
            <a:pPr algn="just"/>
            <a:endParaRPr lang="en-US" sz="2400" b="1" dirty="0"/>
          </a:p>
          <a:p>
            <a:pPr marL="0" indent="0" algn="just">
              <a:buNone/>
            </a:pPr>
            <a:endParaRPr lang="en-US" b="1" dirty="0"/>
          </a:p>
        </p:txBody>
      </p:sp>
      <p:pic>
        <p:nvPicPr>
          <p:cNvPr id="2" name="Picture 1"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7777" y="116497"/>
            <a:ext cx="9370244" cy="6723412"/>
          </a:xfrm>
          <a:prstGeom prst="rect">
            <a:avLst/>
          </a:prstGeom>
        </p:spPr>
      </p:pic>
    </p:spTree>
    <p:extLst>
      <p:ext uri="{BB962C8B-B14F-4D97-AF65-F5344CB8AC3E}">
        <p14:creationId xmlns:p14="http://schemas.microsoft.com/office/powerpoint/2010/main" val="428306939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381001"/>
            <a:ext cx="8229600" cy="5745163"/>
          </a:xfrm>
        </p:spPr>
        <p:txBody>
          <a:bodyPr>
            <a:normAutofit/>
          </a:bodyPr>
          <a:lstStyle/>
          <a:p>
            <a:pPr marL="0" indent="0" algn="just">
              <a:buNone/>
            </a:pPr>
            <a:endParaRPr lang="en-US" sz="2400" b="1" dirty="0"/>
          </a:p>
          <a:p>
            <a:pPr algn="just"/>
            <a:endParaRPr lang="en-US" sz="2400" b="1" dirty="0"/>
          </a:p>
          <a:p>
            <a:pPr marL="0" indent="0" algn="just">
              <a:buNone/>
            </a:pPr>
            <a:endParaRPr lang="en-US" b="1" dirty="0"/>
          </a:p>
        </p:txBody>
      </p:sp>
      <p:pic>
        <p:nvPicPr>
          <p:cNvPr id="2" name="Picture 1"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7401" y="228600"/>
            <a:ext cx="7853895" cy="5867400"/>
          </a:xfrm>
          <a:prstGeom prst="rect">
            <a:avLst/>
          </a:prstGeom>
        </p:spPr>
      </p:pic>
    </p:spTree>
    <p:extLst>
      <p:ext uri="{BB962C8B-B14F-4D97-AF65-F5344CB8AC3E}">
        <p14:creationId xmlns:p14="http://schemas.microsoft.com/office/powerpoint/2010/main" val="27446367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381001"/>
            <a:ext cx="8229600" cy="5745163"/>
          </a:xfrm>
        </p:spPr>
        <p:txBody>
          <a:bodyPr>
            <a:normAutofit/>
          </a:bodyPr>
          <a:lstStyle/>
          <a:p>
            <a:pPr marL="0" indent="0" algn="just">
              <a:buNone/>
            </a:pPr>
            <a:endParaRPr lang="en-US" sz="2400" b="1" dirty="0"/>
          </a:p>
          <a:p>
            <a:pPr algn="just"/>
            <a:endParaRPr lang="en-US" sz="2400" b="1" dirty="0"/>
          </a:p>
          <a:p>
            <a:pPr marL="0" indent="0" algn="just">
              <a:buNone/>
            </a:pPr>
            <a:endParaRPr lang="en-US" b="1" dirty="0"/>
          </a:p>
        </p:txBody>
      </p:sp>
      <p:pic>
        <p:nvPicPr>
          <p:cNvPr id="2" name="Picture 1"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2601" y="609601"/>
            <a:ext cx="8101537" cy="5105399"/>
          </a:xfrm>
          <a:prstGeom prst="rect">
            <a:avLst/>
          </a:prstGeom>
        </p:spPr>
      </p:pic>
    </p:spTree>
    <p:extLst>
      <p:ext uri="{BB962C8B-B14F-4D97-AF65-F5344CB8AC3E}">
        <p14:creationId xmlns:p14="http://schemas.microsoft.com/office/powerpoint/2010/main" val="318267288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381001"/>
            <a:ext cx="8229600" cy="5745163"/>
          </a:xfrm>
        </p:spPr>
        <p:txBody>
          <a:bodyPr>
            <a:normAutofit/>
          </a:bodyPr>
          <a:lstStyle/>
          <a:p>
            <a:pPr marL="0" indent="0" algn="just">
              <a:buNone/>
            </a:pPr>
            <a:endParaRPr lang="en-US" sz="2400" b="1" dirty="0"/>
          </a:p>
          <a:p>
            <a:pPr algn="just"/>
            <a:endParaRPr lang="en-US" sz="2400" b="1" dirty="0"/>
          </a:p>
          <a:p>
            <a:pPr marL="0" indent="0" algn="just">
              <a:buNone/>
            </a:pPr>
            <a:endParaRPr lang="en-US" b="1" dirty="0"/>
          </a:p>
        </p:txBody>
      </p:sp>
      <p:pic>
        <p:nvPicPr>
          <p:cNvPr id="2" name="Picture 1"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1201" y="381000"/>
            <a:ext cx="7887227" cy="5562600"/>
          </a:xfrm>
          <a:prstGeom prst="rect">
            <a:avLst/>
          </a:prstGeom>
        </p:spPr>
      </p:pic>
    </p:spTree>
    <p:extLst>
      <p:ext uri="{BB962C8B-B14F-4D97-AF65-F5344CB8AC3E}">
        <p14:creationId xmlns:p14="http://schemas.microsoft.com/office/powerpoint/2010/main" val="311239454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381001"/>
            <a:ext cx="8229600" cy="5745163"/>
          </a:xfrm>
        </p:spPr>
        <p:txBody>
          <a:bodyPr>
            <a:normAutofit/>
          </a:bodyPr>
          <a:lstStyle/>
          <a:p>
            <a:pPr marL="0" indent="0" algn="just">
              <a:buNone/>
            </a:pPr>
            <a:endParaRPr lang="en-US" sz="2400" b="1" dirty="0"/>
          </a:p>
          <a:p>
            <a:pPr algn="just"/>
            <a:endParaRPr lang="en-US" sz="2400" b="1" dirty="0"/>
          </a:p>
          <a:p>
            <a:pPr marL="0" indent="0" algn="just">
              <a:buNone/>
            </a:pPr>
            <a:endParaRPr lang="en-US" b="1" dirty="0"/>
          </a:p>
        </p:txBody>
      </p:sp>
      <p:pic>
        <p:nvPicPr>
          <p:cNvPr id="2" name="Picture 1"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2600" y="685800"/>
            <a:ext cx="8153932" cy="5105400"/>
          </a:xfrm>
          <a:prstGeom prst="rect">
            <a:avLst/>
          </a:prstGeom>
        </p:spPr>
      </p:pic>
    </p:spTree>
    <p:extLst>
      <p:ext uri="{BB962C8B-B14F-4D97-AF65-F5344CB8AC3E}">
        <p14:creationId xmlns:p14="http://schemas.microsoft.com/office/powerpoint/2010/main" val="374937420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381001"/>
            <a:ext cx="8229600" cy="5745163"/>
          </a:xfrm>
        </p:spPr>
        <p:txBody>
          <a:bodyPr>
            <a:normAutofit/>
          </a:bodyPr>
          <a:lstStyle/>
          <a:p>
            <a:pPr marL="0" indent="0" algn="just">
              <a:buNone/>
            </a:pPr>
            <a:endParaRPr lang="en-US" sz="2400" b="1" dirty="0"/>
          </a:p>
          <a:p>
            <a:pPr algn="just"/>
            <a:endParaRPr lang="en-US" sz="2400" b="1" dirty="0"/>
          </a:p>
          <a:p>
            <a:pPr marL="0" indent="0" algn="just">
              <a:buNone/>
            </a:pPr>
            <a:endParaRPr lang="en-US" b="1" dirty="0"/>
          </a:p>
        </p:txBody>
      </p:sp>
      <p:pic>
        <p:nvPicPr>
          <p:cNvPr id="2" name="Picture 1"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7401" y="685800"/>
            <a:ext cx="7844369" cy="5334000"/>
          </a:xfrm>
          <a:prstGeom prst="rect">
            <a:avLst/>
          </a:prstGeom>
        </p:spPr>
      </p:pic>
    </p:spTree>
    <p:extLst>
      <p:ext uri="{BB962C8B-B14F-4D97-AF65-F5344CB8AC3E}">
        <p14:creationId xmlns:p14="http://schemas.microsoft.com/office/powerpoint/2010/main" val="259475039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52600" y="990601"/>
            <a:ext cx="8686800" cy="4190999"/>
          </a:xfrm>
        </p:spPr>
        <p:txBody>
          <a:bodyPr>
            <a:normAutofit/>
          </a:bodyPr>
          <a:lstStyle/>
          <a:p>
            <a:r>
              <a:rPr lang="fr-FR" sz="3600" dirty="0">
                <a:solidFill>
                  <a:srgbClr val="FF0000"/>
                </a:solidFill>
              </a:rPr>
              <a:t>MICROPROGRAMMED CPU ORGANISATION </a:t>
            </a:r>
            <a:br>
              <a:rPr lang="fr-FR" sz="3600" dirty="0">
                <a:solidFill>
                  <a:srgbClr val="FF0000"/>
                </a:solidFill>
              </a:rPr>
            </a:br>
            <a:r>
              <a:rPr lang="fr-FR" sz="3600" dirty="0">
                <a:solidFill>
                  <a:srgbClr val="FF0000"/>
                </a:solidFill>
              </a:rPr>
              <a:t>OR</a:t>
            </a:r>
            <a:br>
              <a:rPr lang="fr-FR" sz="3600" dirty="0">
                <a:solidFill>
                  <a:srgbClr val="FF0000"/>
                </a:solidFill>
              </a:rPr>
            </a:br>
            <a:r>
              <a:rPr lang="fr-FR" sz="3600" dirty="0">
                <a:solidFill>
                  <a:srgbClr val="FF0000"/>
                </a:solidFill>
              </a:rPr>
              <a:t>MICROPROGRAMMED COMPUTER ORGANISATION </a:t>
            </a:r>
            <a:br>
              <a:rPr lang="fr-FR" sz="3600" dirty="0">
                <a:solidFill>
                  <a:srgbClr val="FF0000"/>
                </a:solidFill>
              </a:rPr>
            </a:br>
            <a:endParaRPr lang="en-US" sz="3600" dirty="0">
              <a:solidFill>
                <a:srgbClr val="FF0000"/>
              </a:solidFill>
            </a:endParaRPr>
          </a:p>
        </p:txBody>
      </p:sp>
    </p:spTree>
    <p:extLst>
      <p:ext uri="{BB962C8B-B14F-4D97-AF65-F5344CB8AC3E}">
        <p14:creationId xmlns:p14="http://schemas.microsoft.com/office/powerpoint/2010/main" val="6870553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52600" y="381001"/>
            <a:ext cx="8458200" cy="5745163"/>
          </a:xfrm>
        </p:spPr>
        <p:txBody>
          <a:bodyPr>
            <a:normAutofit/>
          </a:bodyPr>
          <a:lstStyle/>
          <a:p>
            <a:pPr algn="just"/>
            <a:r>
              <a:rPr lang="en-US" sz="2400" dirty="0"/>
              <a:t>Digital computer consists of: Central Processing Unit(CPU), Memory unit and Input-output devices. </a:t>
            </a:r>
          </a:p>
          <a:p>
            <a:pPr algn="just"/>
            <a:r>
              <a:rPr lang="en-US" sz="2400" dirty="0"/>
              <a:t>CPU can be divides into 2 distinct and interactive sections namely</a:t>
            </a:r>
          </a:p>
          <a:p>
            <a:pPr marL="457200" indent="-457200" algn="just">
              <a:buFont typeface="+mj-lt"/>
              <a:buAutoNum type="arabicPeriod"/>
            </a:pPr>
            <a:r>
              <a:rPr lang="en-US" sz="2400" dirty="0"/>
              <a:t> Processing section: useful device for constructing the processor section of a CPU and</a:t>
            </a:r>
          </a:p>
          <a:p>
            <a:pPr marL="457200" indent="-457200" algn="just">
              <a:buFont typeface="+mj-lt"/>
              <a:buAutoNum type="arabicPeriod"/>
            </a:pPr>
            <a:r>
              <a:rPr lang="en-US" sz="2400" dirty="0"/>
              <a:t>Control section: controlling the entire units of computer</a:t>
            </a:r>
          </a:p>
          <a:p>
            <a:pPr algn="just"/>
            <a:r>
              <a:rPr lang="en-US" sz="2400" dirty="0"/>
              <a:t>Micro-program sequencer: constructing a micro-program control of CPU</a:t>
            </a:r>
          </a:p>
        </p:txBody>
      </p:sp>
    </p:spTree>
    <p:extLst>
      <p:ext uri="{BB962C8B-B14F-4D97-AF65-F5344CB8AC3E}">
        <p14:creationId xmlns:p14="http://schemas.microsoft.com/office/powerpoint/2010/main" val="345440725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6755" y="381001"/>
            <a:ext cx="11236750" cy="6029226"/>
          </a:xfrm>
        </p:spPr>
        <p:txBody>
          <a:bodyPr>
            <a:noAutofit/>
          </a:bodyPr>
          <a:lstStyle/>
          <a:p>
            <a:pPr marL="0" indent="0" algn="just">
              <a:buNone/>
            </a:pPr>
            <a:r>
              <a:rPr lang="en-US" dirty="0"/>
              <a:t>Micro-programmed computer CPU uses the micro-program sequencer. Micro-programmed computer consists of</a:t>
            </a:r>
          </a:p>
          <a:p>
            <a:pPr marL="0" indent="0" algn="just">
              <a:buNone/>
            </a:pPr>
            <a:r>
              <a:rPr lang="en-US" dirty="0"/>
              <a:t>1. Memory unit: Stores instructions and data supplied by the user through an input device</a:t>
            </a:r>
          </a:p>
          <a:p>
            <a:pPr marL="0" indent="0" algn="just">
              <a:buNone/>
            </a:pPr>
            <a:r>
              <a:rPr lang="en-US" dirty="0"/>
              <a:t>2. Two processor unit:</a:t>
            </a:r>
          </a:p>
          <a:p>
            <a:pPr marL="0" indent="0" algn="just">
              <a:buNone/>
            </a:pPr>
            <a:endParaRPr lang="en-US" dirty="0"/>
          </a:p>
          <a:p>
            <a:pPr algn="just">
              <a:buFont typeface="Wingdings" pitchFamily="2" charset="2"/>
              <a:buChar char="Ø"/>
            </a:pPr>
            <a:r>
              <a:rPr lang="en-US" dirty="0"/>
              <a:t>Data processor: Manipulates data </a:t>
            </a:r>
          </a:p>
          <a:p>
            <a:pPr algn="just">
              <a:buFont typeface="Wingdings" pitchFamily="2" charset="2"/>
              <a:buChar char="Ø"/>
            </a:pPr>
            <a:r>
              <a:rPr lang="en-US" dirty="0"/>
              <a:t>Address processor: Manipulates the address information received from memory</a:t>
            </a:r>
          </a:p>
          <a:p>
            <a:pPr marL="0" indent="0" algn="just">
              <a:buNone/>
            </a:pPr>
            <a:r>
              <a:rPr lang="en-US" dirty="0"/>
              <a:t>3. A Micro-program sequencer</a:t>
            </a:r>
          </a:p>
          <a:p>
            <a:pPr marL="0" indent="0" algn="just">
              <a:buNone/>
            </a:pPr>
            <a:r>
              <a:rPr lang="en-US" dirty="0"/>
              <a:t>4. A control memory</a:t>
            </a:r>
          </a:p>
          <a:p>
            <a:pPr marL="0" indent="0" algn="just">
              <a:buNone/>
            </a:pPr>
            <a:r>
              <a:rPr lang="en-US" dirty="0"/>
              <a:t>5. Other digital functions</a:t>
            </a:r>
          </a:p>
          <a:p>
            <a:pPr marL="0" indent="0" algn="just">
              <a:buNone/>
            </a:pPr>
            <a:r>
              <a:rPr lang="en-US" dirty="0"/>
              <a:t> </a:t>
            </a:r>
          </a:p>
        </p:txBody>
      </p:sp>
    </p:spTree>
    <p:extLst>
      <p:ext uri="{BB962C8B-B14F-4D97-AF65-F5344CB8AC3E}">
        <p14:creationId xmlns:p14="http://schemas.microsoft.com/office/powerpoint/2010/main" val="330025380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0767" y="381001"/>
            <a:ext cx="11199043" cy="6274323"/>
          </a:xfrm>
        </p:spPr>
        <p:txBody>
          <a:bodyPr>
            <a:normAutofit/>
          </a:bodyPr>
          <a:lstStyle/>
          <a:p>
            <a:pPr algn="just"/>
            <a:r>
              <a:rPr lang="en-US" dirty="0"/>
              <a:t>An instruction extracted from memory unit during fetch cycle goes into instruction register and is decoded.</a:t>
            </a:r>
          </a:p>
          <a:p>
            <a:pPr algn="just"/>
            <a:r>
              <a:rPr lang="en-US" dirty="0"/>
              <a:t>The instruction-code bits in the instruction register specify a </a:t>
            </a:r>
            <a:r>
              <a:rPr lang="en-US" dirty="0" err="1"/>
              <a:t>macrooperation</a:t>
            </a:r>
            <a:r>
              <a:rPr lang="en-US" dirty="0"/>
              <a:t> for control memory .</a:t>
            </a:r>
          </a:p>
          <a:p>
            <a:pPr algn="just"/>
            <a:r>
              <a:rPr lang="en-US" dirty="0"/>
              <a:t> Corresponding to each </a:t>
            </a:r>
            <a:r>
              <a:rPr lang="en-US" dirty="0" err="1"/>
              <a:t>opcode</a:t>
            </a:r>
            <a:r>
              <a:rPr lang="en-US" dirty="0"/>
              <a:t> (Add, sub), there will be a micro routine in the control memory.</a:t>
            </a:r>
          </a:p>
          <a:p>
            <a:r>
              <a:rPr lang="en-US" dirty="0"/>
              <a:t>Code transformation constitutes a mapping function that is needed to convert the op code bits of an instruction into a starting address for the control memory. </a:t>
            </a:r>
          </a:p>
          <a:p>
            <a:r>
              <a:rPr lang="en-US" dirty="0"/>
              <a:t>It is implemented with ROM or PLA. </a:t>
            </a:r>
          </a:p>
          <a:p>
            <a:r>
              <a:rPr lang="en-US" dirty="0"/>
              <a:t>Mapping concept provides flexibility for adding instructions or micro-operations for control memory as need arises. </a:t>
            </a:r>
          </a:p>
          <a:p>
            <a:r>
              <a:rPr lang="en-US" dirty="0"/>
              <a:t>The address generated in code transformation mapping function is applied to the external address (EXA) input of the sequencer </a:t>
            </a:r>
          </a:p>
          <a:p>
            <a:pPr marL="0" indent="0">
              <a:buNone/>
            </a:pPr>
            <a:endParaRPr lang="en-US" dirty="0"/>
          </a:p>
        </p:txBody>
      </p:sp>
    </p:spTree>
    <p:extLst>
      <p:ext uri="{BB962C8B-B14F-4D97-AF65-F5344CB8AC3E}">
        <p14:creationId xmlns:p14="http://schemas.microsoft.com/office/powerpoint/2010/main" val="14567882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Screen Clippi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05001" y="304801"/>
            <a:ext cx="8839199" cy="5821363"/>
          </a:xfrm>
        </p:spPr>
      </p:pic>
    </p:spTree>
    <p:extLst>
      <p:ext uri="{BB962C8B-B14F-4D97-AF65-F5344CB8AC3E}">
        <p14:creationId xmlns:p14="http://schemas.microsoft.com/office/powerpoint/2010/main" val="297145277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7071" y="381000"/>
            <a:ext cx="11272003" cy="6191249"/>
          </a:xfrm>
        </p:spPr>
        <p:txBody>
          <a:bodyPr>
            <a:normAutofit/>
          </a:bodyPr>
          <a:lstStyle/>
          <a:p>
            <a:pPr marL="0" indent="0">
              <a:buNone/>
            </a:pPr>
            <a:r>
              <a:rPr lang="en-US" dirty="0">
                <a:solidFill>
                  <a:srgbClr val="FF0000"/>
                </a:solidFill>
              </a:rPr>
              <a:t>Micro-program control unit consists of </a:t>
            </a:r>
          </a:p>
          <a:p>
            <a:pPr marL="0" indent="0">
              <a:buNone/>
            </a:pPr>
            <a:r>
              <a:rPr lang="en-US" dirty="0"/>
              <a:t>1. </a:t>
            </a:r>
            <a:r>
              <a:rPr lang="en-US" i="1" dirty="0"/>
              <a:t>The sequencer</a:t>
            </a:r>
            <a:r>
              <a:rPr lang="en-US" dirty="0"/>
              <a:t>: Generates next address </a:t>
            </a:r>
          </a:p>
          <a:p>
            <a:pPr marL="0" indent="0">
              <a:buNone/>
            </a:pPr>
            <a:r>
              <a:rPr lang="en-US" dirty="0"/>
              <a:t>2. </a:t>
            </a:r>
            <a:r>
              <a:rPr lang="en-US" i="1" dirty="0"/>
              <a:t>A control memory: </a:t>
            </a:r>
            <a:r>
              <a:rPr lang="en-US" dirty="0"/>
              <a:t>Reads the next microinstruction while present microinstruction are being executed in the other units of the CPU and for storing microinstructions </a:t>
            </a:r>
          </a:p>
          <a:p>
            <a:pPr marL="0" indent="0">
              <a:buNone/>
            </a:pPr>
            <a:r>
              <a:rPr lang="en-US" dirty="0"/>
              <a:t>3. </a:t>
            </a:r>
            <a:r>
              <a:rPr lang="en-US" i="1" dirty="0"/>
              <a:t>A multiplexer: </a:t>
            </a:r>
            <a:r>
              <a:rPr lang="en-US" dirty="0"/>
              <a:t>Selects one of the many status bits and applies to the T(test) input of the sequencer. One of the input of the multiplexer is always I to provide an unconditional branch operation </a:t>
            </a:r>
          </a:p>
        </p:txBody>
      </p:sp>
    </p:spTree>
    <p:extLst>
      <p:ext uri="{BB962C8B-B14F-4D97-AF65-F5344CB8AC3E}">
        <p14:creationId xmlns:p14="http://schemas.microsoft.com/office/powerpoint/2010/main" val="351062969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95350" y="381001"/>
            <a:ext cx="9315450" cy="6010274"/>
          </a:xfrm>
        </p:spPr>
        <p:txBody>
          <a:bodyPr>
            <a:normAutofit/>
          </a:bodyPr>
          <a:lstStyle/>
          <a:p>
            <a:pPr marL="0" indent="0">
              <a:buNone/>
            </a:pPr>
            <a:r>
              <a:rPr lang="en-US" sz="3200" b="1" dirty="0"/>
              <a:t>pipeline register</a:t>
            </a:r>
            <a:r>
              <a:rPr lang="en-US" sz="3200" dirty="0"/>
              <a:t>: </a:t>
            </a:r>
          </a:p>
          <a:p>
            <a:pPr algn="just"/>
            <a:r>
              <a:rPr lang="en-US" sz="3200" dirty="0"/>
              <a:t>Speed up the control operation, allows next address to be generated and the output of control memory to change while the current control word in pipeline register initiates the micro-operations given by present microinstruction.</a:t>
            </a:r>
          </a:p>
          <a:p>
            <a:pPr algn="just"/>
            <a:r>
              <a:rPr lang="en-US" sz="3200" dirty="0"/>
              <a:t> It’s not always necessary because the output of control memory can go directly to the control inputs of the various units in the CPU </a:t>
            </a:r>
          </a:p>
          <a:p>
            <a:pPr algn="just"/>
            <a:endParaRPr lang="en-US" sz="3200" dirty="0"/>
          </a:p>
        </p:txBody>
      </p:sp>
    </p:spTree>
    <p:extLst>
      <p:ext uri="{BB962C8B-B14F-4D97-AF65-F5344CB8AC3E}">
        <p14:creationId xmlns:p14="http://schemas.microsoft.com/office/powerpoint/2010/main" val="352263256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descr="Screen Clippi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52600" y="533401"/>
            <a:ext cx="8458200" cy="5562599"/>
          </a:xfrm>
        </p:spPr>
      </p:pic>
    </p:spTree>
    <p:extLst>
      <p:ext uri="{BB962C8B-B14F-4D97-AF65-F5344CB8AC3E}">
        <p14:creationId xmlns:p14="http://schemas.microsoft.com/office/powerpoint/2010/main" val="311914058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61975" y="381001"/>
            <a:ext cx="11229975" cy="5953124"/>
          </a:xfrm>
        </p:spPr>
        <p:txBody>
          <a:bodyPr>
            <a:noAutofit/>
          </a:bodyPr>
          <a:lstStyle/>
          <a:p>
            <a:pPr marL="0" indent="0">
              <a:buNone/>
            </a:pPr>
            <a:r>
              <a:rPr lang="en-US" sz="3200" dirty="0"/>
              <a:t>Microinstruction format contains six fields: </a:t>
            </a:r>
          </a:p>
          <a:p>
            <a:r>
              <a:rPr lang="en-US" sz="3200" dirty="0"/>
              <a:t>First 3 fields (I,SL, BRA) provide information to the sequencer to determine the next address for control memory. </a:t>
            </a:r>
          </a:p>
          <a:p>
            <a:r>
              <a:rPr lang="en-US" sz="3200" b="1" dirty="0"/>
              <a:t>I field (3 bits): </a:t>
            </a:r>
            <a:r>
              <a:rPr lang="en-US" sz="3200" dirty="0"/>
              <a:t>Supplies input information for the sequencer </a:t>
            </a:r>
          </a:p>
          <a:p>
            <a:r>
              <a:rPr lang="en-US" sz="3200" b="1" dirty="0"/>
              <a:t>SL field: </a:t>
            </a:r>
            <a:r>
              <a:rPr lang="en-US" sz="3200" dirty="0"/>
              <a:t>Selects a status bit for the multiplexer </a:t>
            </a:r>
          </a:p>
          <a:p>
            <a:r>
              <a:rPr lang="en-US" sz="3200" b="1" dirty="0"/>
              <a:t>BRA field: </a:t>
            </a:r>
            <a:r>
              <a:rPr lang="en-US" sz="3200" dirty="0"/>
              <a:t>Address field of microinstruction and supplies a branch address (BRA) to the sequencer. </a:t>
            </a:r>
          </a:p>
          <a:p>
            <a:r>
              <a:rPr lang="en-US" sz="3200" dirty="0"/>
              <a:t>The next 3 fields (MC, PS, DF) are for controlling micro-operations in the processor and the memory units </a:t>
            </a:r>
          </a:p>
          <a:p>
            <a:r>
              <a:rPr lang="en-US" sz="3200" b="1" dirty="0"/>
              <a:t>Memory control (MC) field</a:t>
            </a:r>
            <a:r>
              <a:rPr lang="en-US" sz="3200" dirty="0"/>
              <a:t>: Controls the address processor and the read and write operations in the memory unit.</a:t>
            </a:r>
          </a:p>
        </p:txBody>
      </p:sp>
    </p:spTree>
    <p:extLst>
      <p:ext uri="{BB962C8B-B14F-4D97-AF65-F5344CB8AC3E}">
        <p14:creationId xmlns:p14="http://schemas.microsoft.com/office/powerpoint/2010/main" val="57698055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0050" y="381001"/>
            <a:ext cx="11430000" cy="6248399"/>
          </a:xfrm>
        </p:spPr>
        <p:txBody>
          <a:bodyPr>
            <a:normAutofit/>
          </a:bodyPr>
          <a:lstStyle/>
          <a:p>
            <a:r>
              <a:rPr lang="en-US" sz="3200" b="1" dirty="0"/>
              <a:t>The processor select(PS) field</a:t>
            </a:r>
            <a:r>
              <a:rPr lang="en-US" sz="3200" dirty="0"/>
              <a:t>: Controls the operations in the data processor unit. </a:t>
            </a:r>
          </a:p>
          <a:p>
            <a:r>
              <a:rPr lang="en-US" sz="3200" b="1" dirty="0"/>
              <a:t>The data field(DF): </a:t>
            </a:r>
            <a:r>
              <a:rPr lang="en-US" sz="3200" dirty="0"/>
              <a:t>Used to introduce constants into the processor. Output from data field may be used to set up control registers and introduce data in processor registers. </a:t>
            </a:r>
          </a:p>
          <a:p>
            <a:r>
              <a:rPr lang="en-US" sz="3200" dirty="0"/>
              <a:t> this field value is used to set up control registers and introduce data in processor registers . </a:t>
            </a:r>
          </a:p>
          <a:p>
            <a:endParaRPr lang="en-US" sz="3200" dirty="0"/>
          </a:p>
          <a:p>
            <a:r>
              <a:rPr lang="en-US" sz="3200" dirty="0"/>
              <a:t>  data field value is used to sequence counter ,which is used to count the number of  times a </a:t>
            </a:r>
            <a:r>
              <a:rPr lang="en-US" sz="3200" dirty="0" err="1"/>
              <a:t>microprogram</a:t>
            </a:r>
            <a:r>
              <a:rPr lang="en-US" sz="3200" dirty="0"/>
              <a:t> loop is traversed </a:t>
            </a:r>
          </a:p>
        </p:txBody>
      </p:sp>
    </p:spTree>
    <p:extLst>
      <p:ext uri="{BB962C8B-B14F-4D97-AF65-F5344CB8AC3E}">
        <p14:creationId xmlns:p14="http://schemas.microsoft.com/office/powerpoint/2010/main" val="408155382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1499" y="381000"/>
            <a:ext cx="11268075" cy="5905499"/>
          </a:xfrm>
        </p:spPr>
        <p:txBody>
          <a:bodyPr>
            <a:normAutofit/>
          </a:bodyPr>
          <a:lstStyle/>
          <a:p>
            <a:pPr algn="just"/>
            <a:r>
              <a:rPr lang="en-US" sz="3200" dirty="0"/>
              <a:t>Once the hardware configuration of a </a:t>
            </a:r>
            <a:r>
              <a:rPr lang="en-US" sz="3200" dirty="0" err="1"/>
              <a:t>microprogrammed</a:t>
            </a:r>
            <a:r>
              <a:rPr lang="en-US" sz="3200" dirty="0"/>
              <a:t> CPU is established the designer can use it to construct any possible computer configuration .</a:t>
            </a:r>
          </a:p>
          <a:p>
            <a:pPr algn="just"/>
            <a:endParaRPr lang="en-US" sz="3200" dirty="0"/>
          </a:p>
          <a:p>
            <a:pPr algn="just"/>
            <a:r>
              <a:rPr lang="en-US" sz="3200" dirty="0"/>
              <a:t>If a different computer with a different set of instructions is desired ,for that no hardware changes are required ,need to change the </a:t>
            </a:r>
            <a:r>
              <a:rPr lang="en-US" sz="3200" dirty="0" err="1"/>
              <a:t>microprogram</a:t>
            </a:r>
            <a:r>
              <a:rPr lang="en-US" sz="3200" dirty="0"/>
              <a:t> in control memory .</a:t>
            </a:r>
          </a:p>
          <a:p>
            <a:pPr algn="just"/>
            <a:endParaRPr lang="en-US" sz="3200" dirty="0"/>
          </a:p>
          <a:p>
            <a:pPr algn="just"/>
            <a:r>
              <a:rPr lang="en-US" sz="3200" dirty="0"/>
              <a:t>This involves removing  present Control ROM memory and replacing another unit with different </a:t>
            </a:r>
            <a:r>
              <a:rPr lang="en-US" sz="3200" dirty="0" err="1"/>
              <a:t>microprogram</a:t>
            </a:r>
            <a:r>
              <a:rPr lang="en-US" sz="3200" dirty="0"/>
              <a:t> .</a:t>
            </a:r>
          </a:p>
          <a:p>
            <a:pPr marL="0" indent="0">
              <a:buNone/>
            </a:pPr>
            <a:endParaRPr lang="en-US" sz="3200" dirty="0"/>
          </a:p>
        </p:txBody>
      </p:sp>
    </p:spTree>
    <p:extLst>
      <p:ext uri="{BB962C8B-B14F-4D97-AF65-F5344CB8AC3E}">
        <p14:creationId xmlns:p14="http://schemas.microsoft.com/office/powerpoint/2010/main" val="16394078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617</TotalTime>
  <Words>3235</Words>
  <Application>Microsoft Office PowerPoint</Application>
  <PresentationFormat>Widescreen</PresentationFormat>
  <Paragraphs>233</Paragraphs>
  <Slides>83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83</vt:i4>
      </vt:variant>
    </vt:vector>
  </HeadingPairs>
  <TitlesOfParts>
    <vt:vector size="89" baseType="lpstr">
      <vt:lpstr>Arial</vt:lpstr>
      <vt:lpstr>Calibri</vt:lpstr>
      <vt:lpstr>Calibri Light</vt:lpstr>
      <vt:lpstr>Times New Roman</vt:lpstr>
      <vt:lpstr>Wingdings</vt:lpstr>
      <vt:lpstr>Office Theme</vt:lpstr>
      <vt:lpstr>Module 4</vt:lpstr>
      <vt:lpstr>CONTROL LOGIC DESIGN</vt:lpstr>
      <vt:lpstr>CONTROL LOGIC DESIGN</vt:lpstr>
      <vt:lpstr>PowerPoint Presentation</vt:lpstr>
      <vt:lpstr>One flip-flop per state methods</vt:lpstr>
      <vt:lpstr>One flip-flop per state method</vt:lpstr>
      <vt:lpstr>Sequence Register and Decoder Method</vt:lpstr>
      <vt:lpstr>Sequence Register and Decoder Method</vt:lpstr>
      <vt:lpstr>PLA control</vt:lpstr>
      <vt:lpstr>PLA control</vt:lpstr>
      <vt:lpstr>Micro-program Control</vt:lpstr>
      <vt:lpstr>PowerPoint Presentation</vt:lpstr>
      <vt:lpstr>HARDWIRED CONTROL</vt:lpstr>
      <vt:lpstr>PowerPoint Presentation</vt:lpstr>
      <vt:lpstr>HARDWIRED CONTROL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MICROPROGRAM SEQUENCER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MICROPROGRAMMED CPU ORGANISATION  OR MICROPROGRAMMED COMPUTER ORGANISATION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Ms. Manju Thomas T       </cp:lastModifiedBy>
  <cp:revision>35</cp:revision>
  <dcterms:created xsi:type="dcterms:W3CDTF">2021-09-19T19:36:19Z</dcterms:created>
  <dcterms:modified xsi:type="dcterms:W3CDTF">2024-04-09T05:53:26Z</dcterms:modified>
</cp:coreProperties>
</file>