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4"/>
  </p:notesMasterIdLst>
  <p:sldIdLst>
    <p:sldId id="256" r:id="rId2"/>
    <p:sldId id="317" r:id="rId3"/>
    <p:sldId id="318" r:id="rId4"/>
    <p:sldId id="319" r:id="rId5"/>
    <p:sldId id="320" r:id="rId6"/>
    <p:sldId id="321" r:id="rId7"/>
    <p:sldId id="322" r:id="rId8"/>
    <p:sldId id="323" r:id="rId9"/>
    <p:sldId id="324" r:id="rId10"/>
    <p:sldId id="325" r:id="rId11"/>
    <p:sldId id="326" r:id="rId12"/>
    <p:sldId id="327" r:id="rId13"/>
    <p:sldId id="328" r:id="rId14"/>
    <p:sldId id="268" r:id="rId15"/>
    <p:sldId id="329"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9" autoAdjust="0"/>
    <p:restoredTop sz="94660"/>
  </p:normalViewPr>
  <p:slideViewPr>
    <p:cSldViewPr snapToGrid="0">
      <p:cViewPr varScale="1">
        <p:scale>
          <a:sx n="68" d="100"/>
          <a:sy n="68" d="100"/>
        </p:scale>
        <p:origin x="933" y="45"/>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617729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4027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65328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168791"/>
            <a:ext cx="8520600" cy="2052600"/>
          </a:xfrm>
          <a:prstGeom prst="rect">
            <a:avLst/>
          </a:prstGeom>
          <a:solidFill>
            <a:schemeClr val="bg1"/>
          </a:solidFill>
          <a:ln>
            <a:solidFill>
              <a:schemeClr val="bg1"/>
            </a:solidFill>
          </a:ln>
        </p:spPr>
        <p:txBody>
          <a:bodyPr spcFirstLastPara="1" wrap="square" lIns="91425" tIns="91425" rIns="91425" bIns="91425" anchor="b" anchorCtr="0">
            <a:normAutofit/>
          </a:bodyPr>
          <a:lstStyle/>
          <a:p>
            <a:pPr marL="0" lvl="0" indent="0" algn="ctr" rtl="0">
              <a:spcBef>
                <a:spcPts val="0"/>
              </a:spcBef>
              <a:spcAft>
                <a:spcPts val="0"/>
              </a:spcAft>
              <a:buNone/>
            </a:pPr>
            <a:r>
              <a:rPr lang="en" dirty="0">
                <a:highlight>
                  <a:srgbClr val="FF0000"/>
                </a:highlight>
              </a:rPr>
              <a:t>Module 4</a:t>
            </a:r>
            <a:endParaRPr dirty="0">
              <a:solidFill>
                <a:schemeClr val="accent4"/>
              </a:solidFill>
              <a:highlight>
                <a:srgbClr val="FF0000"/>
              </a:highlight>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9773" y="0"/>
            <a:ext cx="8984456" cy="5143500"/>
          </a:xfrm>
          <a:prstGeom prst="rect">
            <a:avLst/>
          </a:prstGeom>
          <a:noFill/>
          <a:ln>
            <a:noFill/>
          </a:ln>
        </p:spPr>
      </p:pic>
    </p:spTree>
    <p:extLst>
      <p:ext uri="{BB962C8B-B14F-4D97-AF65-F5344CB8AC3E}">
        <p14:creationId xmlns:p14="http://schemas.microsoft.com/office/powerpoint/2010/main" val="32168161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241" y="0"/>
            <a:ext cx="9103519" cy="5143500"/>
          </a:xfrm>
          <a:prstGeom prst="rect">
            <a:avLst/>
          </a:prstGeom>
          <a:noFill/>
          <a:ln>
            <a:noFill/>
          </a:ln>
        </p:spPr>
      </p:pic>
    </p:spTree>
    <p:extLst>
      <p:ext uri="{BB962C8B-B14F-4D97-AF65-F5344CB8AC3E}">
        <p14:creationId xmlns:p14="http://schemas.microsoft.com/office/powerpoint/2010/main" val="740405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0006" y="0"/>
            <a:ext cx="9043988" cy="5143500"/>
          </a:xfrm>
          <a:prstGeom prst="rect">
            <a:avLst/>
          </a:prstGeom>
          <a:noFill/>
          <a:ln>
            <a:noFill/>
          </a:ln>
        </p:spPr>
      </p:pic>
    </p:spTree>
    <p:extLst>
      <p:ext uri="{BB962C8B-B14F-4D97-AF65-F5344CB8AC3E}">
        <p14:creationId xmlns:p14="http://schemas.microsoft.com/office/powerpoint/2010/main" val="25173367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9532" y="0"/>
            <a:ext cx="9023747" cy="5143500"/>
          </a:xfrm>
          <a:prstGeom prst="rect">
            <a:avLst/>
          </a:prstGeom>
          <a:noFill/>
          <a:ln>
            <a:noFill/>
          </a:ln>
        </p:spPr>
      </p:pic>
    </p:spTree>
    <p:extLst>
      <p:ext uri="{BB962C8B-B14F-4D97-AF65-F5344CB8AC3E}">
        <p14:creationId xmlns:p14="http://schemas.microsoft.com/office/powerpoint/2010/main" val="1222823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241" y="0"/>
            <a:ext cx="9103519" cy="5143500"/>
          </a:xfrm>
          <a:prstGeom prst="rect">
            <a:avLst/>
          </a:prstGeom>
          <a:noFill/>
          <a:ln>
            <a:noFill/>
          </a:ln>
        </p:spPr>
      </p:pic>
    </p:spTree>
    <p:extLst>
      <p:ext uri="{BB962C8B-B14F-4D97-AF65-F5344CB8AC3E}">
        <p14:creationId xmlns:p14="http://schemas.microsoft.com/office/powerpoint/2010/main" val="9377703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0248" y="0"/>
            <a:ext cx="9003506" cy="5143500"/>
          </a:xfrm>
          <a:prstGeom prst="rect">
            <a:avLst/>
          </a:prstGeom>
          <a:noFill/>
          <a:ln>
            <a:noFill/>
          </a:ln>
        </p:spPr>
      </p:pic>
    </p:spTree>
    <p:extLst>
      <p:ext uri="{BB962C8B-B14F-4D97-AF65-F5344CB8AC3E}">
        <p14:creationId xmlns:p14="http://schemas.microsoft.com/office/powerpoint/2010/main" val="37778877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9766" y="0"/>
            <a:ext cx="9083278" cy="5143500"/>
          </a:xfrm>
          <a:prstGeom prst="rect">
            <a:avLst/>
          </a:prstGeom>
          <a:noFill/>
          <a:ln>
            <a:noFill/>
          </a:ln>
        </p:spPr>
      </p:pic>
    </p:spTree>
    <p:extLst>
      <p:ext uri="{BB962C8B-B14F-4D97-AF65-F5344CB8AC3E}">
        <p14:creationId xmlns:p14="http://schemas.microsoft.com/office/powerpoint/2010/main" val="1148197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2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9532" y="0"/>
            <a:ext cx="9023747" cy="5143500"/>
          </a:xfrm>
          <a:prstGeom prst="rect">
            <a:avLst/>
          </a:prstGeom>
          <a:noFill/>
          <a:ln>
            <a:noFill/>
          </a:ln>
        </p:spPr>
      </p:pic>
    </p:spTree>
    <p:extLst>
      <p:ext uri="{BB962C8B-B14F-4D97-AF65-F5344CB8AC3E}">
        <p14:creationId xmlns:p14="http://schemas.microsoft.com/office/powerpoint/2010/main" val="2971698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1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0481" y="0"/>
            <a:ext cx="9063038" cy="5143500"/>
          </a:xfrm>
          <a:prstGeom prst="rect">
            <a:avLst/>
          </a:prstGeom>
          <a:noFill/>
          <a:ln>
            <a:noFill/>
          </a:ln>
        </p:spPr>
      </p:pic>
      <p:sp>
        <p:nvSpPr>
          <p:cNvPr id="3" name="TextBox 2"/>
          <p:cNvSpPr txBox="1"/>
          <p:nvPr/>
        </p:nvSpPr>
        <p:spPr>
          <a:xfrm flipH="1">
            <a:off x="5836399" y="4106825"/>
            <a:ext cx="3267120" cy="253916"/>
          </a:xfrm>
          <a:prstGeom prst="rect">
            <a:avLst/>
          </a:prstGeom>
          <a:noFill/>
        </p:spPr>
        <p:txBody>
          <a:bodyPr wrap="square" rtlCol="0">
            <a:spAutoFit/>
          </a:bodyPr>
          <a:lstStyle/>
          <a:p>
            <a:r>
              <a:rPr lang="en-IN" sz="1050" dirty="0">
                <a:solidFill>
                  <a:sysClr val="windowText" lastClr="000000"/>
                </a:solidFill>
              </a:rPr>
              <a:t>Programmable Logic Array- PLA</a:t>
            </a:r>
          </a:p>
        </p:txBody>
      </p:sp>
    </p:spTree>
    <p:extLst>
      <p:ext uri="{BB962C8B-B14F-4D97-AF65-F5344CB8AC3E}">
        <p14:creationId xmlns:p14="http://schemas.microsoft.com/office/powerpoint/2010/main" val="3122717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1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0248" y="0"/>
            <a:ext cx="9003506" cy="5143500"/>
          </a:xfrm>
          <a:prstGeom prst="rect">
            <a:avLst/>
          </a:prstGeom>
          <a:noFill/>
          <a:ln>
            <a:noFill/>
          </a:ln>
        </p:spPr>
      </p:pic>
    </p:spTree>
    <p:extLst>
      <p:ext uri="{BB962C8B-B14F-4D97-AF65-F5344CB8AC3E}">
        <p14:creationId xmlns:p14="http://schemas.microsoft.com/office/powerpoint/2010/main" val="24428360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1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9766" y="0"/>
            <a:ext cx="9083278" cy="5143500"/>
          </a:xfrm>
          <a:prstGeom prst="rect">
            <a:avLst/>
          </a:prstGeom>
          <a:noFill/>
          <a:ln>
            <a:noFill/>
          </a:ln>
        </p:spPr>
      </p:pic>
    </p:spTree>
    <p:extLst>
      <p:ext uri="{BB962C8B-B14F-4D97-AF65-F5344CB8AC3E}">
        <p14:creationId xmlns:p14="http://schemas.microsoft.com/office/powerpoint/2010/main" val="3076053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20240409-WA001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66688" y="0"/>
            <a:ext cx="8810625" cy="5143500"/>
          </a:xfrm>
          <a:prstGeom prst="rect">
            <a:avLst/>
          </a:prstGeom>
          <a:noFill/>
          <a:ln>
            <a:noFill/>
          </a:ln>
        </p:spPr>
      </p:pic>
    </p:spTree>
    <p:extLst>
      <p:ext uri="{BB962C8B-B14F-4D97-AF65-F5344CB8AC3E}">
        <p14:creationId xmlns:p14="http://schemas.microsoft.com/office/powerpoint/2010/main" val="1598880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3F254A-1E46-4942-A80D-08D7FD324071}"/>
              </a:ext>
            </a:extLst>
          </p:cNvPr>
          <p:cNvSpPr>
            <a:spLocks noGrp="1"/>
          </p:cNvSpPr>
          <p:nvPr>
            <p:ph type="title"/>
          </p:nvPr>
        </p:nvSpPr>
        <p:spPr>
          <a:xfrm>
            <a:off x="398956" y="73222"/>
            <a:ext cx="8520600" cy="605126"/>
          </a:xfrm>
        </p:spPr>
        <p:txBody>
          <a:bodyPr>
            <a:normAutofit fontScale="90000"/>
          </a:bodyPr>
          <a:lstStyle/>
          <a:p>
            <a:r>
              <a:rPr lang="en-IN" b="1" dirty="0"/>
              <a:t>	</a:t>
            </a:r>
            <a:r>
              <a:rPr lang="en-IN" b="1" dirty="0" smtClean="0"/>
              <a:t>HARD WIRED </a:t>
            </a:r>
            <a:r>
              <a:rPr lang="en-IN" b="1" dirty="0"/>
              <a:t>CONTROL </a:t>
            </a:r>
            <a:endParaRPr lang="en-IN" dirty="0"/>
          </a:p>
        </p:txBody>
      </p:sp>
      <p:sp>
        <p:nvSpPr>
          <p:cNvPr id="3" name="Text Placeholder 2">
            <a:extLst>
              <a:ext uri="{FF2B5EF4-FFF2-40B4-BE49-F238E27FC236}">
                <a16:creationId xmlns:a16="http://schemas.microsoft.com/office/drawing/2014/main" xmlns="" id="{8E8B3021-3F66-4BE3-976D-2B2E23DE7C61}"/>
              </a:ext>
            </a:extLst>
          </p:cNvPr>
          <p:cNvSpPr>
            <a:spLocks noGrp="1"/>
          </p:cNvSpPr>
          <p:nvPr>
            <p:ph type="body" idx="1"/>
          </p:nvPr>
        </p:nvSpPr>
        <p:spPr>
          <a:xfrm>
            <a:off x="311700" y="540326"/>
            <a:ext cx="8607856" cy="4397433"/>
          </a:xfrm>
        </p:spPr>
        <p:txBody>
          <a:bodyPr>
            <a:noAutofit/>
          </a:bodyPr>
          <a:lstStyle/>
          <a:p>
            <a:r>
              <a:rPr lang="en-IN" sz="2400" dirty="0">
                <a:solidFill>
                  <a:schemeClr val="tx1"/>
                </a:solidFill>
                <a:latin typeface="Times New Roman" panose="02020603050405020304" pitchFamily="18" charset="0"/>
                <a:cs typeface="Times New Roman" panose="02020603050405020304" pitchFamily="18" charset="0"/>
              </a:rPr>
              <a:t>The control hardware can be viewed as a state machine that changes from one state to another in every clock cycle, depending on the contents of the instruction register, the condition codes and the external inputs. </a:t>
            </a:r>
            <a:endParaRPr lang="en-IN" sz="2400" dirty="0" smtClean="0">
              <a:solidFill>
                <a:schemeClr val="tx1"/>
              </a:solidFill>
              <a:latin typeface="Times New Roman" panose="02020603050405020304" pitchFamily="18" charset="0"/>
              <a:cs typeface="Times New Roman" panose="02020603050405020304" pitchFamily="18" charset="0"/>
            </a:endParaRPr>
          </a:p>
          <a:p>
            <a:pPr marL="114300" indent="0">
              <a:buNone/>
            </a:pPr>
            <a:endParaRPr lang="en-IN" sz="2400" dirty="0">
              <a:solidFill>
                <a:schemeClr val="tx1"/>
              </a:solidFill>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The outputs of the state machine are the control signals. The sequence of the operation carried out by this machine is determined by the wiring of the logic elements and hence named as “hardwired”. </a:t>
            </a: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800" dirty="0"/>
          </a:p>
        </p:txBody>
      </p:sp>
    </p:spTree>
    <p:extLst>
      <p:ext uri="{BB962C8B-B14F-4D97-AF65-F5344CB8AC3E}">
        <p14:creationId xmlns:p14="http://schemas.microsoft.com/office/powerpoint/2010/main" val="8050386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N"/>
          </a:p>
        </p:txBody>
      </p:sp>
      <p:sp>
        <p:nvSpPr>
          <p:cNvPr id="3" name="Text Placeholder 2"/>
          <p:cNvSpPr>
            <a:spLocks noGrp="1"/>
          </p:cNvSpPr>
          <p:nvPr>
            <p:ph type="body" idx="1"/>
          </p:nvPr>
        </p:nvSpPr>
        <p:spPr/>
        <p:txBody>
          <a:bodyPr>
            <a:normAutofit/>
          </a:bodyPr>
          <a:lstStyle/>
          <a:p>
            <a:r>
              <a:rPr lang="en-IN" sz="2000" dirty="0">
                <a:solidFill>
                  <a:schemeClr val="tx1"/>
                </a:solidFill>
                <a:latin typeface="Times New Roman" panose="02020603050405020304" pitchFamily="18" charset="0"/>
                <a:cs typeface="Times New Roman" panose="02020603050405020304" pitchFamily="18" charset="0"/>
              </a:rPr>
              <a:t>Control logic derived in this section is a hardwired control of the one flip-flop per state method. The design of hardwired control is carried out in 5 consecutive steps </a:t>
            </a:r>
          </a:p>
          <a:p>
            <a:pPr marL="114300" indent="0">
              <a:buNone/>
            </a:pPr>
            <a:endParaRPr lang="en-IN" sz="2000" dirty="0">
              <a:solidFill>
                <a:schemeClr val="tx1"/>
              </a:solidFill>
              <a:latin typeface="Times New Roman" panose="02020603050405020304" pitchFamily="18" charset="0"/>
              <a:cs typeface="Times New Roman" panose="02020603050405020304" pitchFamily="18" charset="0"/>
            </a:endParaRP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1. The problem is stated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2. An initial equipment configuration is assumed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3. An algorithm is formulated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4. The data processor part is specified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5. The control logic is designed </a:t>
            </a:r>
          </a:p>
        </p:txBody>
      </p:sp>
    </p:spTree>
    <p:extLst>
      <p:ext uri="{BB962C8B-B14F-4D97-AF65-F5344CB8AC3E}">
        <p14:creationId xmlns:p14="http://schemas.microsoft.com/office/powerpoint/2010/main" val="31261509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B70A9C-1ADB-4B73-8403-E1FA280FF2BF}"/>
              </a:ext>
            </a:extLst>
          </p:cNvPr>
          <p:cNvSpPr>
            <a:spLocks noGrp="1"/>
          </p:cNvSpPr>
          <p:nvPr>
            <p:ph type="title"/>
          </p:nvPr>
        </p:nvSpPr>
        <p:spPr>
          <a:xfrm>
            <a:off x="374018" y="592301"/>
            <a:ext cx="8520600" cy="486001"/>
          </a:xfrm>
        </p:spPr>
        <p:txBody>
          <a:bodyPr>
            <a:noAutofit/>
          </a:bodyPr>
          <a:lstStyle/>
          <a:p>
            <a:r>
              <a:rPr lang="en-IN" sz="2000" b="1" dirty="0">
                <a:latin typeface="Times New Roman" panose="02020603050405020304" pitchFamily="18" charset="0"/>
                <a:cs typeface="Times New Roman" panose="02020603050405020304" pitchFamily="18" charset="0"/>
              </a:rPr>
              <a:t>		Statement of the problem </a:t>
            </a:r>
            <a:endParaRPr lang="en-IN"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AE5814B8-9091-47DF-9170-D8726FB217A9}"/>
              </a:ext>
            </a:extLst>
          </p:cNvPr>
          <p:cNvSpPr>
            <a:spLocks noGrp="1"/>
          </p:cNvSpPr>
          <p:nvPr>
            <p:ph type="body" idx="1"/>
          </p:nvPr>
        </p:nvSpPr>
        <p:spPr>
          <a:xfrm>
            <a:off x="249382" y="1078302"/>
            <a:ext cx="8582918" cy="3834519"/>
          </a:xfrm>
        </p:spPr>
        <p:txBody>
          <a:bodyPr>
            <a:normAutofit/>
          </a:bodyPr>
          <a:lstStyle/>
          <a:p>
            <a:pPr algn="just"/>
            <a:r>
              <a:rPr lang="en-IN" sz="2000" dirty="0">
                <a:solidFill>
                  <a:schemeClr val="tx1"/>
                </a:solidFill>
                <a:latin typeface="Times New Roman" panose="02020603050405020304" pitchFamily="18" charset="0"/>
                <a:cs typeface="Times New Roman" panose="02020603050405020304" pitchFamily="18" charset="0"/>
              </a:rPr>
              <a:t>The problem here is to implement with hardware the addition and subtraction of two fixed-point binary numbers represented in sign-magnitude form. Complement arithmetic may be used, provided the final result is in sign-magnitude form.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The addition of two numbers stored in registers of finite length may result in a sum that exceeds the storage capacity of the register by one bit. The extra bit is said to cause an overflow. The circuit must provide a flip-flop for storing a possible overflow bit. </a:t>
            </a:r>
          </a:p>
        </p:txBody>
      </p:sp>
    </p:spTree>
    <p:extLst>
      <p:ext uri="{BB962C8B-B14F-4D97-AF65-F5344CB8AC3E}">
        <p14:creationId xmlns:p14="http://schemas.microsoft.com/office/powerpoint/2010/main" val="9253696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A29436-CCFD-4B13-A3C1-164994235C12}"/>
              </a:ext>
            </a:extLst>
          </p:cNvPr>
          <p:cNvSpPr>
            <a:spLocks noGrp="1"/>
          </p:cNvSpPr>
          <p:nvPr>
            <p:ph type="title"/>
          </p:nvPr>
        </p:nvSpPr>
        <p:spPr>
          <a:xfrm flipV="1">
            <a:off x="311700" y="95596"/>
            <a:ext cx="8520600" cy="45719"/>
          </a:xfrm>
        </p:spPr>
        <p:txBody>
          <a:bodyPr>
            <a:normAutofit fontScale="90000"/>
          </a:bodyPr>
          <a:lstStyle/>
          <a:p>
            <a:endParaRPr lang="en-IN"/>
          </a:p>
        </p:txBody>
      </p:sp>
      <p:sp>
        <p:nvSpPr>
          <p:cNvPr id="3" name="Text Placeholder 2">
            <a:extLst>
              <a:ext uri="{FF2B5EF4-FFF2-40B4-BE49-F238E27FC236}">
                <a16:creationId xmlns:a16="http://schemas.microsoft.com/office/drawing/2014/main" xmlns="" id="{63ED3BF2-7360-48F0-9B15-FAC0D380D9B1}"/>
              </a:ext>
            </a:extLst>
          </p:cNvPr>
          <p:cNvSpPr>
            <a:spLocks noGrp="1"/>
          </p:cNvSpPr>
          <p:nvPr>
            <p:ph type="body" idx="1"/>
          </p:nvPr>
        </p:nvSpPr>
        <p:spPr>
          <a:xfrm>
            <a:off x="199505" y="311728"/>
            <a:ext cx="8811491" cy="4601094"/>
          </a:xfrm>
        </p:spPr>
        <p:txBody>
          <a:bodyPr/>
          <a:lstStyle/>
          <a:p>
            <a:pPr marL="114300" indent="0" algn="just">
              <a:buNone/>
            </a:pPr>
            <a:r>
              <a:rPr lang="en-IN" b="1" dirty="0">
                <a:solidFill>
                  <a:schemeClr val="tx1"/>
                </a:solidFill>
                <a:latin typeface="Times New Roman" panose="02020603050405020304" pitchFamily="18" charset="0"/>
                <a:cs typeface="Times New Roman" panose="02020603050405020304" pitchFamily="18" charset="0"/>
              </a:rPr>
              <a:t>		Equipment Configuration </a:t>
            </a:r>
            <a:endParaRPr lang="en-IN"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The two signed binary numbers to be added or subtracted contain n bits. The 	magnitudes of the numbers contain k = n - 1 bits and are stored in registers A and 	B. The sign bits are stored in flip-flops As and Bs. </a:t>
            </a:r>
          </a:p>
        </p:txBody>
      </p:sp>
      <p:pic>
        <p:nvPicPr>
          <p:cNvPr id="4" name="Picture 3">
            <a:extLst>
              <a:ext uri="{FF2B5EF4-FFF2-40B4-BE49-F238E27FC236}">
                <a16:creationId xmlns:a16="http://schemas.microsoft.com/office/drawing/2014/main" xmlns="" id="{A568816D-CAEA-4E63-930E-C3D7F749B23B}"/>
              </a:ext>
            </a:extLst>
          </p:cNvPr>
          <p:cNvPicPr>
            <a:picLocks noChangeAspect="1"/>
          </p:cNvPicPr>
          <p:nvPr/>
        </p:nvPicPr>
        <p:blipFill>
          <a:blip r:embed="rId2"/>
          <a:stretch>
            <a:fillRect/>
          </a:stretch>
        </p:blipFill>
        <p:spPr>
          <a:xfrm>
            <a:off x="909126" y="1812175"/>
            <a:ext cx="7325747" cy="2890751"/>
          </a:xfrm>
          <a:prstGeom prst="rect">
            <a:avLst/>
          </a:prstGeom>
        </p:spPr>
      </p:pic>
    </p:spTree>
    <p:extLst>
      <p:ext uri="{BB962C8B-B14F-4D97-AF65-F5344CB8AC3E}">
        <p14:creationId xmlns:p14="http://schemas.microsoft.com/office/powerpoint/2010/main" val="42870675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A74E72-A852-47F2-8437-2A706A158688}"/>
              </a:ext>
            </a:extLst>
          </p:cNvPr>
          <p:cNvSpPr>
            <a:spLocks noGrp="1"/>
          </p:cNvSpPr>
          <p:nvPr>
            <p:ph type="title"/>
          </p:nvPr>
        </p:nvSpPr>
        <p:spPr>
          <a:xfrm>
            <a:off x="311700" y="174567"/>
            <a:ext cx="8520600" cy="66502"/>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DA9FC34A-DABC-4A9A-B286-1D43B31038BB}"/>
              </a:ext>
            </a:extLst>
          </p:cNvPr>
          <p:cNvSpPr>
            <a:spLocks noGrp="1"/>
          </p:cNvSpPr>
          <p:nvPr>
            <p:ph type="body" idx="1"/>
          </p:nvPr>
        </p:nvSpPr>
        <p:spPr>
          <a:xfrm>
            <a:off x="241069" y="556953"/>
            <a:ext cx="8753302" cy="4411980"/>
          </a:xfrm>
        </p:spPr>
        <p:txBody>
          <a:bodyPr>
            <a:normAutofit fontScale="92500" lnSpcReduction="20000"/>
          </a:bodyPr>
          <a:lstStyle/>
          <a:p>
            <a:pPr algn="just"/>
            <a:r>
              <a:rPr lang="en-IN" sz="2000" dirty="0">
                <a:solidFill>
                  <a:schemeClr val="tx1"/>
                </a:solidFill>
                <a:latin typeface="Times New Roman" panose="02020603050405020304" pitchFamily="18" charset="0"/>
                <a:cs typeface="Times New Roman" panose="02020603050405020304" pitchFamily="18" charset="0"/>
              </a:rPr>
              <a:t>Figure shows the registers and associated equipment. The ALU performs the arithmetic operations and the 1-bit register E serves as the overflow flip-flop. The output carry from the ALU is transferred to E.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It is assumed that the two numbers and their signs have been transferred to their respective registers and that the result of the operation is to be available in registers A and As. Two input signals in the control specify the add (</a:t>
            </a:r>
            <a:r>
              <a:rPr lang="en-IN" sz="2000" dirty="0" err="1">
                <a:solidFill>
                  <a:schemeClr val="tx1"/>
                </a:solidFill>
                <a:latin typeface="Times New Roman" panose="02020603050405020304" pitchFamily="18" charset="0"/>
                <a:cs typeface="Times New Roman" panose="02020603050405020304" pitchFamily="18" charset="0"/>
              </a:rPr>
              <a:t>qa</a:t>
            </a:r>
            <a:r>
              <a:rPr lang="en-IN" sz="2000" dirty="0">
                <a:solidFill>
                  <a:schemeClr val="tx1"/>
                </a:solidFill>
                <a:latin typeface="Times New Roman" panose="02020603050405020304" pitchFamily="18" charset="0"/>
                <a:cs typeface="Times New Roman" panose="02020603050405020304" pitchFamily="18" charset="0"/>
              </a:rPr>
              <a:t>) and subtract (</a:t>
            </a:r>
            <a:r>
              <a:rPr lang="en-IN" sz="2000" dirty="0" err="1">
                <a:solidFill>
                  <a:schemeClr val="tx1"/>
                </a:solidFill>
                <a:latin typeface="Times New Roman" panose="02020603050405020304" pitchFamily="18" charset="0"/>
                <a:cs typeface="Times New Roman" panose="02020603050405020304" pitchFamily="18" charset="0"/>
              </a:rPr>
              <a:t>qs</a:t>
            </a:r>
            <a:r>
              <a:rPr lang="en-IN" sz="2000" dirty="0">
                <a:solidFill>
                  <a:schemeClr val="tx1"/>
                </a:solidFill>
                <a:latin typeface="Times New Roman" panose="02020603050405020304" pitchFamily="18" charset="0"/>
                <a:cs typeface="Times New Roman" panose="02020603050405020304" pitchFamily="18" charset="0"/>
              </a:rPr>
              <a:t>) operations. Output variable x indicates the end of the operation.</a:t>
            </a:r>
          </a:p>
          <a:p>
            <a:pPr algn="just"/>
            <a:endParaRPr lang="en-US" sz="2000" dirty="0">
              <a:solidFill>
                <a:schemeClr val="tx1"/>
              </a:solidFill>
              <a:latin typeface="Times New Roman" panose="02020603050405020304" pitchFamily="18" charset="0"/>
              <a:cs typeface="Times New Roman" panose="02020603050405020304" pitchFamily="18" charset="0"/>
            </a:endParaRPr>
          </a:p>
          <a:p>
            <a:pPr algn="just"/>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The control logic communicates with the outside environment through the input and output variables. Control recognizes input signal </a:t>
            </a:r>
            <a:r>
              <a:rPr lang="en-IN" sz="2000" dirty="0" err="1">
                <a:solidFill>
                  <a:schemeClr val="tx1"/>
                </a:solidFill>
                <a:latin typeface="Times New Roman" panose="02020603050405020304" pitchFamily="18" charset="0"/>
                <a:cs typeface="Times New Roman" panose="02020603050405020304" pitchFamily="18" charset="0"/>
              </a:rPr>
              <a:t>qa</a:t>
            </a:r>
            <a:r>
              <a:rPr lang="en-IN" sz="2000" dirty="0">
                <a:solidFill>
                  <a:schemeClr val="tx1"/>
                </a:solidFill>
                <a:latin typeface="Times New Roman" panose="02020603050405020304" pitchFamily="18" charset="0"/>
                <a:cs typeface="Times New Roman" panose="02020603050405020304" pitchFamily="18" charset="0"/>
              </a:rPr>
              <a:t> or </a:t>
            </a:r>
            <a:r>
              <a:rPr lang="en-IN" sz="2000" dirty="0" err="1">
                <a:solidFill>
                  <a:schemeClr val="tx1"/>
                </a:solidFill>
                <a:latin typeface="Times New Roman" panose="02020603050405020304" pitchFamily="18" charset="0"/>
                <a:cs typeface="Times New Roman" panose="02020603050405020304" pitchFamily="18" charset="0"/>
              </a:rPr>
              <a:t>qs</a:t>
            </a:r>
            <a:r>
              <a:rPr lang="en-IN" sz="2000" dirty="0">
                <a:solidFill>
                  <a:schemeClr val="tx1"/>
                </a:solidFill>
                <a:latin typeface="Times New Roman" panose="02020603050405020304" pitchFamily="18" charset="0"/>
                <a:cs typeface="Times New Roman" panose="02020603050405020304" pitchFamily="18" charset="0"/>
              </a:rPr>
              <a:t> and provides the required operation. Upon completion of the operation, control informs the external environment with output x that the sum or difference is in registers A and A, and that the overflow bit is in E. </a:t>
            </a:r>
          </a:p>
        </p:txBody>
      </p:sp>
    </p:spTree>
    <p:extLst>
      <p:ext uri="{BB962C8B-B14F-4D97-AF65-F5344CB8AC3E}">
        <p14:creationId xmlns:p14="http://schemas.microsoft.com/office/powerpoint/2010/main" val="30385721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AE0519-FB1B-4C7C-A070-236BFA6AA4DD}"/>
              </a:ext>
            </a:extLst>
          </p:cNvPr>
          <p:cNvSpPr>
            <a:spLocks noGrp="1"/>
          </p:cNvSpPr>
          <p:nvPr>
            <p:ph type="title"/>
          </p:nvPr>
        </p:nvSpPr>
        <p:spPr>
          <a:xfrm>
            <a:off x="195322" y="55517"/>
            <a:ext cx="8520600" cy="393369"/>
          </a:xfrm>
        </p:spPr>
        <p:txBody>
          <a:bodyPr>
            <a:normAutofit fontScale="90000"/>
          </a:bodyPr>
          <a:lstStyle/>
          <a:p>
            <a:r>
              <a:rPr lang="en-IN" sz="2000" b="1" dirty="0">
                <a:latin typeface="Times New Roman" panose="02020603050405020304" pitchFamily="18" charset="0"/>
                <a:cs typeface="Times New Roman" panose="02020603050405020304" pitchFamily="18" charset="0"/>
              </a:rPr>
              <a:t>	Derivation of the Algorithm </a:t>
            </a:r>
            <a:endParaRPr lang="en-IN"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7E58AEE1-74F5-46EC-8671-6C9D18305A86}"/>
              </a:ext>
            </a:extLst>
          </p:cNvPr>
          <p:cNvSpPr>
            <a:spLocks noGrp="1"/>
          </p:cNvSpPr>
          <p:nvPr>
            <p:ph type="body" idx="1"/>
          </p:nvPr>
        </p:nvSpPr>
        <p:spPr>
          <a:xfrm>
            <a:off x="195322" y="648393"/>
            <a:ext cx="8715922" cy="4281054"/>
          </a:xfrm>
        </p:spPr>
        <p:txBody>
          <a:bodyPr>
            <a:normAutofit/>
          </a:bodyPr>
          <a:lstStyle/>
          <a:p>
            <a:pPr lvl="1" algn="just"/>
            <a:r>
              <a:rPr lang="en-IN" sz="2000" dirty="0">
                <a:solidFill>
                  <a:schemeClr val="tx1"/>
                </a:solidFill>
                <a:latin typeface="Times New Roman" panose="02020603050405020304" pitchFamily="18" charset="0"/>
                <a:cs typeface="Times New Roman" panose="02020603050405020304" pitchFamily="18" charset="0"/>
              </a:rPr>
              <a:t>Designate the magnitude of the two numbers by A and B. </a:t>
            </a:r>
          </a:p>
          <a:p>
            <a:pPr algn="just"/>
            <a:endParaRPr lang="en-IN" sz="2000" dirty="0">
              <a:solidFill>
                <a:schemeClr val="tx1"/>
              </a:solidFill>
              <a:latin typeface="Times New Roman" panose="02020603050405020304" pitchFamily="18" charset="0"/>
              <a:cs typeface="Times New Roman" panose="02020603050405020304" pitchFamily="18" charset="0"/>
            </a:endParaRPr>
          </a:p>
          <a:p>
            <a:pPr lvl="1" algn="just"/>
            <a:r>
              <a:rPr lang="en-IN" sz="2000" dirty="0">
                <a:solidFill>
                  <a:schemeClr val="tx1"/>
                </a:solidFill>
                <a:latin typeface="Times New Roman" panose="02020603050405020304" pitchFamily="18" charset="0"/>
                <a:cs typeface="Times New Roman" panose="02020603050405020304" pitchFamily="18" charset="0"/>
              </a:rPr>
              <a:t>When the numbers are added or subtracted algebraically, there are eight different conditions to consider, depending on the sign of the numbers and the operation performed. The eight conditions may be expressed in a compact form as follows: </a:t>
            </a:r>
          </a:p>
          <a:p>
            <a:pPr marL="114300" indent="0" algn="just">
              <a:buNone/>
            </a:pPr>
            <a:r>
              <a:rPr lang="en-IN" sz="2000" dirty="0">
                <a:solidFill>
                  <a:schemeClr val="tx1"/>
                </a:solidFill>
                <a:latin typeface="Times New Roman" panose="02020603050405020304" pitchFamily="18" charset="0"/>
                <a:cs typeface="Times New Roman" panose="02020603050405020304" pitchFamily="18" charset="0"/>
              </a:rPr>
              <a:t>	</a:t>
            </a:r>
          </a:p>
          <a:p>
            <a:pPr marL="114300" indent="0" algn="just">
              <a:buNone/>
            </a:pPr>
            <a:r>
              <a:rPr lang="en-IN" sz="2000" dirty="0">
                <a:solidFill>
                  <a:schemeClr val="tx1"/>
                </a:solidFill>
                <a:latin typeface="Times New Roman" panose="02020603050405020304" pitchFamily="18" charset="0"/>
                <a:cs typeface="Times New Roman" panose="02020603050405020304" pitchFamily="18" charset="0"/>
              </a:rPr>
              <a:t>			(±𝐴) ± (±𝐵) </a:t>
            </a:r>
          </a:p>
        </p:txBody>
      </p:sp>
    </p:spTree>
    <p:extLst>
      <p:ext uri="{BB962C8B-B14F-4D97-AF65-F5344CB8AC3E}">
        <p14:creationId xmlns:p14="http://schemas.microsoft.com/office/powerpoint/2010/main" val="34546397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235891-59D5-4F4B-A8D9-9FA3E3F1C5B9}"/>
              </a:ext>
            </a:extLst>
          </p:cNvPr>
          <p:cNvSpPr>
            <a:spLocks noGrp="1"/>
          </p:cNvSpPr>
          <p:nvPr>
            <p:ph type="title"/>
          </p:nvPr>
        </p:nvSpPr>
        <p:spPr>
          <a:xfrm>
            <a:off x="311700" y="0"/>
            <a:ext cx="8520600" cy="4571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7EFC6DD5-69FA-4686-BFA3-97E52BD7D076}"/>
              </a:ext>
            </a:extLst>
          </p:cNvPr>
          <p:cNvSpPr>
            <a:spLocks noGrp="1"/>
          </p:cNvSpPr>
          <p:nvPr>
            <p:ph type="body" idx="1"/>
          </p:nvPr>
        </p:nvSpPr>
        <p:spPr>
          <a:xfrm>
            <a:off x="311700" y="365760"/>
            <a:ext cx="8624482" cy="4563687"/>
          </a:xfrm>
        </p:spPr>
        <p:txBody>
          <a:bodyPr>
            <a:normAutofit/>
          </a:bodyPr>
          <a:lstStyle/>
          <a:p>
            <a:r>
              <a:rPr lang="en-IN" sz="2000" dirty="0">
                <a:solidFill>
                  <a:schemeClr val="tx1"/>
                </a:solidFill>
                <a:latin typeface="Times New Roman" panose="02020603050405020304" pitchFamily="18" charset="0"/>
                <a:cs typeface="Times New Roman" panose="02020603050405020304" pitchFamily="18" charset="0"/>
              </a:rPr>
              <a:t>If the arithmetic operation specified is subtraction, we change the sign of B and add. This is evident from the relations: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(±𝐴) − (+𝐵) = (±𝐴) + (−𝐵)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 𝐴) − (−𝐵) = (±𝐴) + (+𝐵) </a:t>
            </a:r>
          </a:p>
          <a:p>
            <a:r>
              <a:rPr lang="en-IN" sz="2000" dirty="0">
                <a:solidFill>
                  <a:schemeClr val="tx1"/>
                </a:solidFill>
                <a:latin typeface="Times New Roman" panose="02020603050405020304" pitchFamily="18" charset="0"/>
                <a:cs typeface="Times New Roman" panose="02020603050405020304" pitchFamily="18" charset="0"/>
              </a:rPr>
              <a:t>This reduces the number of possible conditions to four, namely: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(±𝐴) + (±𝐵) </a:t>
            </a:r>
          </a:p>
          <a:p>
            <a:r>
              <a:rPr lang="en-IN" sz="2000" dirty="0">
                <a:solidFill>
                  <a:schemeClr val="tx1"/>
                </a:solidFill>
                <a:latin typeface="Times New Roman" panose="02020603050405020304" pitchFamily="18" charset="0"/>
                <a:cs typeface="Times New Roman" panose="02020603050405020304" pitchFamily="18" charset="0"/>
              </a:rPr>
              <a:t>The four possible combination are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When the signs of A and B are the same: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(+𝐴) + (+ 𝐵) = +(𝐴 + 𝐵)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(−𝐴) + (− 𝐵) = −(𝐴 + 𝐵) </a:t>
            </a:r>
          </a:p>
        </p:txBody>
      </p:sp>
    </p:spTree>
    <p:extLst>
      <p:ext uri="{BB962C8B-B14F-4D97-AF65-F5344CB8AC3E}">
        <p14:creationId xmlns:p14="http://schemas.microsoft.com/office/powerpoint/2010/main" val="32983124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20512-5825-4D14-86AC-6D9D3416327D}"/>
              </a:ext>
            </a:extLst>
          </p:cNvPr>
          <p:cNvSpPr>
            <a:spLocks noGrp="1"/>
          </p:cNvSpPr>
          <p:nvPr>
            <p:ph type="title"/>
          </p:nvPr>
        </p:nvSpPr>
        <p:spPr>
          <a:xfrm>
            <a:off x="311700" y="162392"/>
            <a:ext cx="8520600" cy="5373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019A2A89-766A-4FFA-A8B7-8D1C145D9B19}"/>
              </a:ext>
            </a:extLst>
          </p:cNvPr>
          <p:cNvSpPr>
            <a:spLocks noGrp="1"/>
          </p:cNvSpPr>
          <p:nvPr>
            <p:ph type="body" idx="1"/>
          </p:nvPr>
        </p:nvSpPr>
        <p:spPr>
          <a:xfrm>
            <a:off x="241069" y="573578"/>
            <a:ext cx="8761615" cy="4353791"/>
          </a:xfrm>
        </p:spPr>
        <p:txBody>
          <a:bodyPr>
            <a:normAutofit/>
          </a:bodyPr>
          <a:lstStyle/>
          <a:p>
            <a:r>
              <a:rPr lang="en-IN" sz="2000" dirty="0">
                <a:solidFill>
                  <a:schemeClr val="tx1"/>
                </a:solidFill>
                <a:latin typeface="Times New Roman" panose="02020603050405020304" pitchFamily="18" charset="0"/>
                <a:cs typeface="Times New Roman" panose="02020603050405020304" pitchFamily="18" charset="0"/>
              </a:rPr>
              <a:t>When the signs of A and B are not the same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 𝐴) + (− 𝐵) = +(𝐴−𝐵)	 [ if(A&gt;B) ]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−(𝐵−𝐴) 	 [ if(B&gt;A) ]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(−𝐴) + (+𝐵) = −(𝐴−𝐵)	 [ if(A&gt;B) ]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+(𝐵−𝐴)            [ if(B&gt;A) ] </a:t>
            </a:r>
          </a:p>
        </p:txBody>
      </p:sp>
    </p:spTree>
    <p:extLst>
      <p:ext uri="{BB962C8B-B14F-4D97-AF65-F5344CB8AC3E}">
        <p14:creationId xmlns:p14="http://schemas.microsoft.com/office/powerpoint/2010/main" val="5480298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4890EE-60DF-4DCC-B18C-16F0A214FEB0}"/>
              </a:ext>
            </a:extLst>
          </p:cNvPr>
          <p:cNvSpPr>
            <a:spLocks noGrp="1"/>
          </p:cNvSpPr>
          <p:nvPr>
            <p:ph type="title"/>
          </p:nvPr>
        </p:nvSpPr>
        <p:spPr>
          <a:xfrm flipV="1">
            <a:off x="311700" y="399306"/>
            <a:ext cx="8408351" cy="4571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641AE580-B34D-4E5F-B673-8EAE06BA6977}"/>
              </a:ext>
            </a:extLst>
          </p:cNvPr>
          <p:cNvPicPr>
            <a:picLocks noChangeAspect="1"/>
          </p:cNvPicPr>
          <p:nvPr/>
        </p:nvPicPr>
        <p:blipFill>
          <a:blip r:embed="rId2"/>
          <a:stretch>
            <a:fillRect/>
          </a:stretch>
        </p:blipFill>
        <p:spPr>
          <a:xfrm>
            <a:off x="2549426" y="0"/>
            <a:ext cx="4045148" cy="5143500"/>
          </a:xfrm>
          <a:prstGeom prst="rect">
            <a:avLst/>
          </a:prstGeom>
        </p:spPr>
      </p:pic>
      <p:sp>
        <p:nvSpPr>
          <p:cNvPr id="3" name="Text Placeholder 2">
            <a:extLst>
              <a:ext uri="{FF2B5EF4-FFF2-40B4-BE49-F238E27FC236}">
                <a16:creationId xmlns:a16="http://schemas.microsoft.com/office/drawing/2014/main" xmlns="" id="{846960CF-8B6F-40E7-BF66-EA13EFB0FD2B}"/>
              </a:ext>
            </a:extLst>
          </p:cNvPr>
          <p:cNvSpPr>
            <a:spLocks noGrp="1"/>
          </p:cNvSpPr>
          <p:nvPr>
            <p:ph type="body" idx="1"/>
          </p:nvPr>
        </p:nvSpPr>
        <p:spPr>
          <a:xfrm>
            <a:off x="311699" y="0"/>
            <a:ext cx="8732547" cy="5143500"/>
          </a:xfrm>
        </p:spPr>
        <p:txBody>
          <a:bodyPr/>
          <a:lstStyle/>
          <a:p>
            <a:endParaRPr lang="en-IN" dirty="0"/>
          </a:p>
        </p:txBody>
      </p:sp>
    </p:spTree>
    <p:extLst>
      <p:ext uri="{BB962C8B-B14F-4D97-AF65-F5344CB8AC3E}">
        <p14:creationId xmlns:p14="http://schemas.microsoft.com/office/powerpoint/2010/main" val="7768708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4B9550-DF59-4AC5-B2B0-03E92499A1E5}"/>
              </a:ext>
            </a:extLst>
          </p:cNvPr>
          <p:cNvSpPr>
            <a:spLocks noGrp="1"/>
          </p:cNvSpPr>
          <p:nvPr>
            <p:ph type="title"/>
          </p:nvPr>
        </p:nvSpPr>
        <p:spPr>
          <a:xfrm>
            <a:off x="311700" y="104203"/>
            <a:ext cx="8520600" cy="572700"/>
          </a:xfrm>
        </p:spPr>
        <p:txBody>
          <a:bodyPr>
            <a:normAutofit/>
          </a:bodyPr>
          <a:lstStyle/>
          <a:p>
            <a:r>
              <a:rPr lang="en-IN" sz="2000" b="1" dirty="0">
                <a:latin typeface="Times New Roman" panose="02020603050405020304" pitchFamily="18" charset="0"/>
                <a:cs typeface="Times New Roman" panose="02020603050405020304" pitchFamily="18" charset="0"/>
              </a:rPr>
              <a:t>	Data Processor Specification </a:t>
            </a:r>
            <a:endParaRPr lang="en-IN"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E84A4B6F-8D5B-4321-AA2F-B90CE7972BF8}"/>
              </a:ext>
            </a:extLst>
          </p:cNvPr>
          <p:cNvSpPr>
            <a:spLocks noGrp="1"/>
          </p:cNvSpPr>
          <p:nvPr>
            <p:ph type="body" idx="1"/>
          </p:nvPr>
        </p:nvSpPr>
        <p:spPr>
          <a:xfrm>
            <a:off x="311699" y="676903"/>
            <a:ext cx="8666045" cy="4294108"/>
          </a:xfrm>
        </p:spPr>
        <p:txBody>
          <a:bodyPr>
            <a:normAutofit/>
          </a:bodyPr>
          <a:lstStyle/>
          <a:p>
            <a:pPr algn="just"/>
            <a:r>
              <a:rPr lang="en-IN" sz="1600" dirty="0">
                <a:solidFill>
                  <a:schemeClr val="tx1"/>
                </a:solidFill>
                <a:latin typeface="Times New Roman" panose="02020603050405020304" pitchFamily="18" charset="0"/>
                <a:cs typeface="Times New Roman" panose="02020603050405020304" pitchFamily="18" charset="0"/>
              </a:rPr>
              <a:t>Figure (a) shows the data-processor with the required control variables. This ALU has four selection variables, as shown in the diagram. The variable Is loads the output of the ALU into register A and also the output carry into E. Variables y, z. and w complement B, and A, and clear E, respectively</a:t>
            </a:r>
            <a:r>
              <a:rPr lang="en-IN" sz="16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xmlns="" id="{935129DF-8AB8-4153-BA5F-18D7C6A6276C}"/>
              </a:ext>
            </a:extLst>
          </p:cNvPr>
          <p:cNvPicPr>
            <a:picLocks noChangeAspect="1"/>
          </p:cNvPicPr>
          <p:nvPr/>
        </p:nvPicPr>
        <p:blipFill>
          <a:blip r:embed="rId2"/>
          <a:stretch>
            <a:fillRect/>
          </a:stretch>
        </p:blipFill>
        <p:spPr>
          <a:xfrm>
            <a:off x="2156135" y="2053244"/>
            <a:ext cx="4648849" cy="2986053"/>
          </a:xfrm>
          <a:prstGeom prst="rect">
            <a:avLst/>
          </a:prstGeom>
        </p:spPr>
      </p:pic>
    </p:spTree>
    <p:extLst>
      <p:ext uri="{BB962C8B-B14F-4D97-AF65-F5344CB8AC3E}">
        <p14:creationId xmlns:p14="http://schemas.microsoft.com/office/powerpoint/2010/main" val="37595724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27D41D-58F1-4ECE-8481-B87F1A823B2F}"/>
              </a:ext>
            </a:extLst>
          </p:cNvPr>
          <p:cNvSpPr>
            <a:spLocks noGrp="1"/>
          </p:cNvSpPr>
          <p:nvPr>
            <p:ph type="title"/>
          </p:nvPr>
        </p:nvSpPr>
        <p:spPr>
          <a:xfrm>
            <a:off x="311700" y="6264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C7D155C8-DD03-4408-B292-519E7ECA513E}"/>
              </a:ext>
            </a:extLst>
          </p:cNvPr>
          <p:cNvSpPr>
            <a:spLocks noGrp="1"/>
          </p:cNvSpPr>
          <p:nvPr>
            <p:ph type="body" idx="1"/>
          </p:nvPr>
        </p:nvSpPr>
        <p:spPr>
          <a:xfrm>
            <a:off x="182880" y="349135"/>
            <a:ext cx="8803178" cy="4621876"/>
          </a:xfrm>
        </p:spPr>
        <p:txBody>
          <a:bodyPr/>
          <a:lstStyle/>
          <a:p>
            <a:r>
              <a:rPr lang="en-IN" dirty="0">
                <a:solidFill>
                  <a:schemeClr val="tx1"/>
                </a:solidFill>
                <a:latin typeface="Times New Roman" panose="02020603050405020304" pitchFamily="18" charset="0"/>
                <a:cs typeface="Times New Roman" panose="02020603050405020304" pitchFamily="18" charset="0"/>
              </a:rPr>
              <a:t>The block diagram of the control logic is shown in figure (b). The control receives five inputs: two from the external environment and three from the data-processor. To simplify the design, we define a new variable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S = As⊕ Bs </a:t>
            </a:r>
          </a:p>
          <a:p>
            <a:r>
              <a:rPr lang="en-IN" dirty="0">
                <a:solidFill>
                  <a:schemeClr val="tx1"/>
                </a:solidFill>
                <a:latin typeface="Times New Roman" panose="02020603050405020304" pitchFamily="18" charset="0"/>
                <a:cs typeface="Times New Roman" panose="02020603050405020304" pitchFamily="18" charset="0"/>
              </a:rPr>
              <a:t>This variable gives the result of the comparison between the two sign bits. The exclusive- OR operation is equal to 1 if the two signs are not the same, and it is equal to 0 if the signs are both positive or both negative. </a:t>
            </a:r>
          </a:p>
          <a:p>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The control provides an output x for the external circuit. It also selects the operations in the ALU through the four selection variables S2, S1, S0, and </a:t>
            </a:r>
            <a:r>
              <a:rPr lang="en-IN" dirty="0" err="1">
                <a:solidFill>
                  <a:schemeClr val="tx1"/>
                </a:solidFill>
                <a:latin typeface="Times New Roman" panose="02020603050405020304" pitchFamily="18" charset="0"/>
                <a:cs typeface="Times New Roman" panose="02020603050405020304" pitchFamily="18" charset="0"/>
              </a:rPr>
              <a:t>Cin</a:t>
            </a:r>
            <a:r>
              <a:rPr lang="en-IN" dirty="0">
                <a:solidFill>
                  <a:schemeClr val="tx1"/>
                </a:solidFill>
                <a:latin typeface="Times New Roman" panose="02020603050405020304" pitchFamily="18" charset="0"/>
                <a:cs typeface="Times New Roman" panose="02020603050405020304" pitchFamily="18" charset="0"/>
              </a:rPr>
              <a:t>. The other four outputs go to registers in the data-processor as specified in the diagram </a:t>
            </a:r>
          </a:p>
        </p:txBody>
      </p:sp>
    </p:spTree>
    <p:extLst>
      <p:ext uri="{BB962C8B-B14F-4D97-AF65-F5344CB8AC3E}">
        <p14:creationId xmlns:p14="http://schemas.microsoft.com/office/powerpoint/2010/main" val="4712580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302689-523D-4DD6-9173-C5429710C65A}"/>
              </a:ext>
            </a:extLst>
          </p:cNvPr>
          <p:cNvSpPr>
            <a:spLocks noGrp="1"/>
          </p:cNvSpPr>
          <p:nvPr>
            <p:ph type="title"/>
          </p:nvPr>
        </p:nvSpPr>
        <p:spPr>
          <a:xfrm>
            <a:off x="386515" y="70952"/>
            <a:ext cx="8520600" cy="129600"/>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FF8A4A10-A510-4F01-8330-674982275095}"/>
              </a:ext>
            </a:extLst>
          </p:cNvPr>
          <p:cNvPicPr>
            <a:picLocks noChangeAspect="1"/>
          </p:cNvPicPr>
          <p:nvPr/>
        </p:nvPicPr>
        <p:blipFill>
          <a:blip r:embed="rId2"/>
          <a:stretch>
            <a:fillRect/>
          </a:stretch>
        </p:blipFill>
        <p:spPr>
          <a:xfrm>
            <a:off x="1398336" y="615142"/>
            <a:ext cx="6242834" cy="3848793"/>
          </a:xfrm>
          <a:prstGeom prst="rect">
            <a:avLst/>
          </a:prstGeom>
        </p:spPr>
      </p:pic>
      <p:sp>
        <p:nvSpPr>
          <p:cNvPr id="3" name="Text Placeholder 2">
            <a:extLst>
              <a:ext uri="{FF2B5EF4-FFF2-40B4-BE49-F238E27FC236}">
                <a16:creationId xmlns:a16="http://schemas.microsoft.com/office/drawing/2014/main" xmlns="" id="{73B62655-1F45-49A5-A0EC-F512C2CF1BB3}"/>
              </a:ext>
            </a:extLst>
          </p:cNvPr>
          <p:cNvSpPr>
            <a:spLocks noGrp="1"/>
          </p:cNvSpPr>
          <p:nvPr>
            <p:ph type="body" idx="1"/>
          </p:nvPr>
        </p:nvSpPr>
        <p:spPr>
          <a:xfrm>
            <a:off x="311700" y="415637"/>
            <a:ext cx="8520600" cy="4530436"/>
          </a:xfrm>
        </p:spPr>
        <p:txBody>
          <a:bodyPr/>
          <a:lstStyle/>
          <a:p>
            <a:endParaRPr lang="en-IN" dirty="0"/>
          </a:p>
        </p:txBody>
      </p:sp>
    </p:spTree>
    <p:extLst>
      <p:ext uri="{BB962C8B-B14F-4D97-AF65-F5344CB8AC3E}">
        <p14:creationId xmlns:p14="http://schemas.microsoft.com/office/powerpoint/2010/main" val="8760265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57CE10-4A2F-46B5-A0CD-2750AAC0C24D}"/>
              </a:ext>
            </a:extLst>
          </p:cNvPr>
          <p:cNvSpPr>
            <a:spLocks noGrp="1"/>
          </p:cNvSpPr>
          <p:nvPr>
            <p:ph type="title"/>
          </p:nvPr>
        </p:nvSpPr>
        <p:spPr>
          <a:xfrm>
            <a:off x="1200221" y="151727"/>
            <a:ext cx="8520600" cy="422898"/>
          </a:xfrm>
        </p:spPr>
        <p:txBody>
          <a:bodyPr>
            <a:normAutofit fontScale="90000"/>
          </a:bodyPr>
          <a:lstStyle/>
          <a:p>
            <a:r>
              <a:rPr lang="en-IN" b="1" dirty="0"/>
              <a:t>Control State Diagram </a:t>
            </a:r>
            <a:endParaRPr lang="en-IN" dirty="0"/>
          </a:p>
        </p:txBody>
      </p:sp>
      <p:sp>
        <p:nvSpPr>
          <p:cNvPr id="3" name="Text Placeholder 2">
            <a:extLst>
              <a:ext uri="{FF2B5EF4-FFF2-40B4-BE49-F238E27FC236}">
                <a16:creationId xmlns:a16="http://schemas.microsoft.com/office/drawing/2014/main" xmlns="" id="{7D014292-AC12-412E-AACA-73F240D8EBA8}"/>
              </a:ext>
            </a:extLst>
          </p:cNvPr>
          <p:cNvSpPr>
            <a:spLocks noGrp="1"/>
          </p:cNvSpPr>
          <p:nvPr>
            <p:ph type="body" idx="1"/>
          </p:nvPr>
        </p:nvSpPr>
        <p:spPr>
          <a:xfrm>
            <a:off x="311699" y="690113"/>
            <a:ext cx="8642519" cy="4301660"/>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The design of a hard-wired control is a sequential-logic problem. As such, it may be convenient to formulate the state diagram of the sequential control. The function boxes in a flowchart may be considered as states of the sequential circuit, and the decision boxes as next-state conditions. </a:t>
            </a:r>
          </a:p>
          <a:p>
            <a:pPr marL="114300" indent="0" algn="just">
              <a:buNone/>
            </a:pP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The micro-operations that must be executed at a given state are specified within the function box. The conditions for the next state transition are specified inside the decision box or in the directed lines between two function boxes. </a:t>
            </a:r>
          </a:p>
          <a:p>
            <a:pPr marL="114300" indent="0" algn="just">
              <a:buNone/>
            </a:pP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Consequently, different designers may produce different state diagrams for the same flowchart, and each may be a correct representation of the system. The control state diagram and the corresponding register-transfer operations are derived in below figure</a:t>
            </a:r>
            <a:r>
              <a:rPr lang="en-IN" dirty="0"/>
              <a:t>. </a:t>
            </a:r>
          </a:p>
        </p:txBody>
      </p:sp>
    </p:spTree>
    <p:extLst>
      <p:ext uri="{BB962C8B-B14F-4D97-AF65-F5344CB8AC3E}">
        <p14:creationId xmlns:p14="http://schemas.microsoft.com/office/powerpoint/2010/main" val="9038820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1423EE-96D1-40E4-9705-17E7554110AF}"/>
              </a:ext>
            </a:extLst>
          </p:cNvPr>
          <p:cNvSpPr>
            <a:spLocks noGrp="1"/>
          </p:cNvSpPr>
          <p:nvPr>
            <p:ph type="title"/>
          </p:nvPr>
        </p:nvSpPr>
        <p:spPr>
          <a:xfrm>
            <a:off x="311700" y="0"/>
            <a:ext cx="8520600" cy="12959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2510A30B-CC31-4879-BC6B-5CEA106713B7}"/>
              </a:ext>
            </a:extLst>
          </p:cNvPr>
          <p:cNvPicPr>
            <a:picLocks noChangeAspect="1"/>
          </p:cNvPicPr>
          <p:nvPr/>
        </p:nvPicPr>
        <p:blipFill>
          <a:blip r:embed="rId2"/>
          <a:stretch>
            <a:fillRect/>
          </a:stretch>
        </p:blipFill>
        <p:spPr>
          <a:xfrm>
            <a:off x="2216029" y="930190"/>
            <a:ext cx="4711942" cy="3283119"/>
          </a:xfrm>
          <a:prstGeom prst="rect">
            <a:avLst/>
          </a:prstGeom>
        </p:spPr>
      </p:pic>
      <p:sp>
        <p:nvSpPr>
          <p:cNvPr id="3" name="Text Placeholder 2">
            <a:extLst>
              <a:ext uri="{FF2B5EF4-FFF2-40B4-BE49-F238E27FC236}">
                <a16:creationId xmlns:a16="http://schemas.microsoft.com/office/drawing/2014/main" xmlns="" id="{E159532B-30FF-4250-808F-D6AE22CEF280}"/>
              </a:ext>
            </a:extLst>
          </p:cNvPr>
          <p:cNvSpPr>
            <a:spLocks noGrp="1"/>
          </p:cNvSpPr>
          <p:nvPr>
            <p:ph type="body" idx="1"/>
          </p:nvPr>
        </p:nvSpPr>
        <p:spPr>
          <a:xfrm>
            <a:off x="311700" y="439946"/>
            <a:ext cx="8520600" cy="4468483"/>
          </a:xfrm>
        </p:spPr>
        <p:txBody>
          <a:bodyPr/>
          <a:lstStyle/>
          <a:p>
            <a:endParaRPr lang="en-IN" dirty="0"/>
          </a:p>
        </p:txBody>
      </p:sp>
    </p:spTree>
    <p:extLst>
      <p:ext uri="{BB962C8B-B14F-4D97-AF65-F5344CB8AC3E}">
        <p14:creationId xmlns:p14="http://schemas.microsoft.com/office/powerpoint/2010/main" val="7674693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442677-89D4-4D44-AC41-14AE64341903}"/>
              </a:ext>
            </a:extLst>
          </p:cNvPr>
          <p:cNvSpPr>
            <a:spLocks noGrp="1"/>
          </p:cNvSpPr>
          <p:nvPr>
            <p:ph type="title"/>
          </p:nvPr>
        </p:nvSpPr>
        <p:spPr>
          <a:xfrm>
            <a:off x="484228" y="65463"/>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96E768D1-7B33-4BCB-BC00-E9519D8932FE}"/>
              </a:ext>
            </a:extLst>
          </p:cNvPr>
          <p:cNvSpPr>
            <a:spLocks noGrp="1"/>
          </p:cNvSpPr>
          <p:nvPr>
            <p:ph type="body" idx="1"/>
          </p:nvPr>
        </p:nvSpPr>
        <p:spPr>
          <a:xfrm>
            <a:off x="215660" y="345057"/>
            <a:ext cx="8789168" cy="4623758"/>
          </a:xfrm>
        </p:spPr>
        <p:txBody>
          <a:bodyPr>
            <a:normAutofit/>
          </a:bodyPr>
          <a:lstStyle/>
          <a:p>
            <a:pPr lvl="1" algn="just"/>
            <a:r>
              <a:rPr lang="en-IN" sz="2000" dirty="0">
                <a:solidFill>
                  <a:schemeClr val="tx1"/>
                </a:solidFill>
                <a:latin typeface="Times New Roman" panose="02020603050405020304" pitchFamily="18" charset="0"/>
                <a:cs typeface="Times New Roman" panose="02020603050405020304" pitchFamily="18" charset="0"/>
              </a:rPr>
              <a:t>We start by assigning an initial state, To, to the sequential controller. We then determine the transition to other states T1, T2, T3, and so on. </a:t>
            </a:r>
          </a:p>
          <a:p>
            <a:pPr algn="just"/>
            <a:endParaRPr lang="en-IN" sz="2000" dirty="0">
              <a:solidFill>
                <a:schemeClr val="tx1"/>
              </a:solidFill>
              <a:latin typeface="Times New Roman" panose="02020603050405020304" pitchFamily="18" charset="0"/>
              <a:cs typeface="Times New Roman" panose="02020603050405020304" pitchFamily="18" charset="0"/>
            </a:endParaRPr>
          </a:p>
          <a:p>
            <a:pPr lvl="1" algn="just"/>
            <a:r>
              <a:rPr lang="en-IN" sz="2000" dirty="0">
                <a:solidFill>
                  <a:schemeClr val="tx1"/>
                </a:solidFill>
                <a:latin typeface="Times New Roman" panose="02020603050405020304" pitchFamily="18" charset="0"/>
                <a:cs typeface="Times New Roman" panose="02020603050405020304" pitchFamily="18" charset="0"/>
              </a:rPr>
              <a:t>For each state, we determine the micro-operations that must be initiated by the control circuit. The figure below shows the sequence of register transfers. </a:t>
            </a:r>
          </a:p>
        </p:txBody>
      </p:sp>
    </p:spTree>
    <p:extLst>
      <p:ext uri="{BB962C8B-B14F-4D97-AF65-F5344CB8AC3E}">
        <p14:creationId xmlns:p14="http://schemas.microsoft.com/office/powerpoint/2010/main" val="7041287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69688D-277B-4A94-B59D-E48D58D7C509}"/>
              </a:ext>
            </a:extLst>
          </p:cNvPr>
          <p:cNvSpPr>
            <a:spLocks noGrp="1"/>
          </p:cNvSpPr>
          <p:nvPr>
            <p:ph type="title"/>
          </p:nvPr>
        </p:nvSpPr>
        <p:spPr>
          <a:xfrm>
            <a:off x="311700" y="108594"/>
            <a:ext cx="8520600" cy="129600"/>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E43F15CF-2C6F-495D-AA8D-893BA6DDAC85}"/>
              </a:ext>
            </a:extLst>
          </p:cNvPr>
          <p:cNvPicPr>
            <a:picLocks noChangeAspect="1"/>
          </p:cNvPicPr>
          <p:nvPr/>
        </p:nvPicPr>
        <p:blipFill>
          <a:blip r:embed="rId2"/>
          <a:stretch>
            <a:fillRect/>
          </a:stretch>
        </p:blipFill>
        <p:spPr>
          <a:xfrm>
            <a:off x="603849" y="448574"/>
            <a:ext cx="7737894" cy="4060025"/>
          </a:xfrm>
          <a:prstGeom prst="rect">
            <a:avLst/>
          </a:prstGeom>
        </p:spPr>
      </p:pic>
      <p:sp>
        <p:nvSpPr>
          <p:cNvPr id="3" name="Text Placeholder 2">
            <a:extLst>
              <a:ext uri="{FF2B5EF4-FFF2-40B4-BE49-F238E27FC236}">
                <a16:creationId xmlns:a16="http://schemas.microsoft.com/office/drawing/2014/main" xmlns="" id="{0120CB0B-D947-4724-9B61-4350DB368B92}"/>
              </a:ext>
            </a:extLst>
          </p:cNvPr>
          <p:cNvSpPr>
            <a:spLocks noGrp="1"/>
          </p:cNvSpPr>
          <p:nvPr>
            <p:ph type="body" idx="1"/>
          </p:nvPr>
        </p:nvSpPr>
        <p:spPr>
          <a:xfrm>
            <a:off x="311700" y="448574"/>
            <a:ext cx="8582134" cy="4502988"/>
          </a:xfrm>
        </p:spPr>
        <p:txBody>
          <a:bodyPr/>
          <a:lstStyle/>
          <a:p>
            <a:endParaRPr lang="en-IN" dirty="0"/>
          </a:p>
        </p:txBody>
      </p:sp>
    </p:spTree>
    <p:extLst>
      <p:ext uri="{BB962C8B-B14F-4D97-AF65-F5344CB8AC3E}">
        <p14:creationId xmlns:p14="http://schemas.microsoft.com/office/powerpoint/2010/main" val="21055867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1C96B8-4E00-4C73-BA28-67EC70C5D24A}"/>
              </a:ext>
            </a:extLst>
          </p:cNvPr>
          <p:cNvSpPr>
            <a:spLocks noGrp="1"/>
          </p:cNvSpPr>
          <p:nvPr>
            <p:ph type="title"/>
          </p:nvPr>
        </p:nvSpPr>
        <p:spPr>
          <a:xfrm>
            <a:off x="1269232" y="1925"/>
            <a:ext cx="8520600" cy="572700"/>
          </a:xfrm>
        </p:spPr>
        <p:txBody>
          <a:bodyPr>
            <a:normAutofit fontScale="90000"/>
          </a:bodyPr>
          <a:lstStyle/>
          <a:p>
            <a:r>
              <a:rPr lang="en-IN" b="1" dirty="0"/>
              <a:t>Design of Hardwired Control </a:t>
            </a:r>
            <a:endParaRPr lang="en-IN" dirty="0"/>
          </a:p>
        </p:txBody>
      </p:sp>
      <p:sp>
        <p:nvSpPr>
          <p:cNvPr id="3" name="Text Placeholder 2">
            <a:extLst>
              <a:ext uri="{FF2B5EF4-FFF2-40B4-BE49-F238E27FC236}">
                <a16:creationId xmlns:a16="http://schemas.microsoft.com/office/drawing/2014/main" xmlns="" id="{0D2368C0-0E58-4A3B-9BC1-655008C672DD}"/>
              </a:ext>
            </a:extLst>
          </p:cNvPr>
          <p:cNvSpPr>
            <a:spLocks noGrp="1"/>
          </p:cNvSpPr>
          <p:nvPr>
            <p:ph type="body" idx="1"/>
          </p:nvPr>
        </p:nvSpPr>
        <p:spPr>
          <a:xfrm>
            <a:off x="241539" y="574624"/>
            <a:ext cx="8669547" cy="4290673"/>
          </a:xfrm>
        </p:spPr>
        <p:txBody>
          <a:bodyPr>
            <a:normAutofit/>
          </a:bodyPr>
          <a:lstStyle/>
          <a:p>
            <a:pPr algn="just"/>
            <a:r>
              <a:rPr lang="en-IN" sz="2000" dirty="0">
                <a:solidFill>
                  <a:schemeClr val="tx1"/>
                </a:solidFill>
                <a:latin typeface="Times New Roman" panose="02020603050405020304" pitchFamily="18" charset="0"/>
                <a:cs typeface="Times New Roman" panose="02020603050405020304" pitchFamily="18" charset="0"/>
              </a:rPr>
              <a:t>The control can be designed using the classical sequential-logic procedure. This procedure requires a state table with eight states, four inputs, and nine outputs. The sequential circuit to be derived from such a state table will not be easy to obtain because of the large number of variables.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The circuit obtained by using this method may have a minimum number of gates, but it will have an irregular pattern and will be difficult to </a:t>
            </a:r>
            <a:r>
              <a:rPr lang="en-IN" sz="2000" dirty="0" err="1">
                <a:solidFill>
                  <a:schemeClr val="tx1"/>
                </a:solidFill>
                <a:latin typeface="Times New Roman" panose="02020603050405020304" pitchFamily="18" charset="0"/>
                <a:cs typeface="Times New Roman" panose="02020603050405020304" pitchFamily="18" charset="0"/>
              </a:rPr>
              <a:t>analyze</a:t>
            </a:r>
            <a:r>
              <a:rPr lang="en-IN" sz="2000" dirty="0">
                <a:solidFill>
                  <a:schemeClr val="tx1"/>
                </a:solidFill>
                <a:latin typeface="Times New Roman" panose="02020603050405020304" pitchFamily="18" charset="0"/>
                <a:cs typeface="Times New Roman" panose="02020603050405020304" pitchFamily="18" charset="0"/>
              </a:rPr>
              <a:t> if a malfunction occurs. These difficulties are removed if the control is designed by the one flip-flop per state method. </a:t>
            </a:r>
          </a:p>
        </p:txBody>
      </p:sp>
    </p:spTree>
    <p:extLst>
      <p:ext uri="{BB962C8B-B14F-4D97-AF65-F5344CB8AC3E}">
        <p14:creationId xmlns:p14="http://schemas.microsoft.com/office/powerpoint/2010/main" val="30905535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87D1C2-FBD9-4C4A-A310-4122573264B6}"/>
              </a:ext>
            </a:extLst>
          </p:cNvPr>
          <p:cNvSpPr>
            <a:spLocks noGrp="1"/>
          </p:cNvSpPr>
          <p:nvPr>
            <p:ph type="title"/>
          </p:nvPr>
        </p:nvSpPr>
        <p:spPr>
          <a:xfrm>
            <a:off x="311700" y="255244"/>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ADD72642-1B8B-402D-BDD3-2A1E19179854}"/>
              </a:ext>
            </a:extLst>
          </p:cNvPr>
          <p:cNvSpPr>
            <a:spLocks noGrp="1"/>
          </p:cNvSpPr>
          <p:nvPr>
            <p:ph type="body" idx="1"/>
          </p:nvPr>
        </p:nvSpPr>
        <p:spPr>
          <a:xfrm>
            <a:off x="311700" y="733245"/>
            <a:ext cx="8520600" cy="3835630"/>
          </a:xfrm>
        </p:spPr>
        <p:txBody>
          <a:bodyPr/>
          <a:lstStyle/>
          <a:p>
            <a:pPr algn="just"/>
            <a:r>
              <a:rPr lang="en-IN" sz="2000" dirty="0">
                <a:solidFill>
                  <a:schemeClr val="tx1"/>
                </a:solidFill>
                <a:latin typeface="Times New Roman" panose="02020603050405020304" pitchFamily="18" charset="0"/>
                <a:cs typeface="Times New Roman" panose="02020603050405020304" pitchFamily="18" charset="0"/>
              </a:rPr>
              <a:t>A control organization that uses one flip-flop per state has the convenient characteristic that the circuit can be derived directly from the state diagram by inspection. No state or excitation tables are needed if D flip-flops are employed.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Remember that the next state of a D flip-flop is a function of the D input and is independent of the present state. Since the method requires one flip-flop for each state, we choose eight D flip-flops and label their outputs T0, T1, T2, . . , T7. The condition for setting a given flip-flop is specified in the state diagram. </a:t>
            </a:r>
          </a:p>
          <a:p>
            <a:endParaRPr lang="en-IN" dirty="0"/>
          </a:p>
        </p:txBody>
      </p:sp>
    </p:spTree>
    <p:extLst>
      <p:ext uri="{BB962C8B-B14F-4D97-AF65-F5344CB8AC3E}">
        <p14:creationId xmlns:p14="http://schemas.microsoft.com/office/powerpoint/2010/main" val="38278847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A0CFAF-7C19-426A-87A8-23574413948E}"/>
              </a:ext>
            </a:extLst>
          </p:cNvPr>
          <p:cNvSpPr>
            <a:spLocks noGrp="1"/>
          </p:cNvSpPr>
          <p:nvPr>
            <p:ph type="title"/>
          </p:nvPr>
        </p:nvSpPr>
        <p:spPr>
          <a:xfrm>
            <a:off x="311700" y="7409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64603299-F598-461E-A76E-39825DAC3A18}"/>
              </a:ext>
            </a:extLst>
          </p:cNvPr>
          <p:cNvSpPr>
            <a:spLocks noGrp="1"/>
          </p:cNvSpPr>
          <p:nvPr>
            <p:ph type="body" idx="1"/>
          </p:nvPr>
        </p:nvSpPr>
        <p:spPr>
          <a:xfrm>
            <a:off x="311700" y="474452"/>
            <a:ext cx="8625266" cy="4425351"/>
          </a:xfrm>
        </p:spPr>
        <p:txBody>
          <a:bodyPr>
            <a:normAutofit/>
          </a:bodyPr>
          <a:lstStyle/>
          <a:p>
            <a:pPr>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For example, flip-flop T2 is set with the next clock pulse if T1= I or if T0 = 1 and </a:t>
            </a:r>
            <a:r>
              <a:rPr lang="en-IN" sz="2000" dirty="0" err="1">
                <a:solidFill>
                  <a:schemeClr val="tx1"/>
                </a:solidFill>
                <a:latin typeface="Times New Roman" panose="02020603050405020304" pitchFamily="18" charset="0"/>
                <a:cs typeface="Times New Roman" panose="02020603050405020304" pitchFamily="18" charset="0"/>
              </a:rPr>
              <a:t>qa</a:t>
            </a:r>
            <a:r>
              <a:rPr lang="en-IN" sz="2000" dirty="0">
                <a:solidFill>
                  <a:schemeClr val="tx1"/>
                </a:solidFill>
                <a:latin typeface="Times New Roman" panose="02020603050405020304" pitchFamily="18" charset="0"/>
                <a:cs typeface="Times New Roman" panose="02020603050405020304" pitchFamily="18" charset="0"/>
              </a:rPr>
              <a:t> = 1. This condition can be defined with the Boolean function: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DT2 = qaT0 + T1 </a:t>
            </a:r>
          </a:p>
          <a:p>
            <a:pPr marL="114300" indent="0">
              <a:buNone/>
            </a:pPr>
            <a:endParaRPr lang="en-US" sz="2000"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sz="2000" dirty="0">
                <a:solidFill>
                  <a:schemeClr val="tx1"/>
                </a:solidFill>
                <a:latin typeface="Times New Roman" panose="02020603050405020304" pitchFamily="18" charset="0"/>
                <a:cs typeface="Times New Roman" panose="02020603050405020304" pitchFamily="18" charset="0"/>
              </a:rPr>
              <a:t>where DT2 designates the D input of flip-flop T2.If there is more than one directed line going into a state, all conditions must be </a:t>
            </a:r>
            <a:r>
              <a:rPr lang="en-IN" sz="2000" dirty="0" err="1">
                <a:solidFill>
                  <a:schemeClr val="tx1"/>
                </a:solidFill>
                <a:latin typeface="Times New Roman" panose="02020603050405020304" pitchFamily="18" charset="0"/>
                <a:cs typeface="Times New Roman" panose="02020603050405020304" pitchFamily="18" charset="0"/>
              </a:rPr>
              <a:t>ORed</a:t>
            </a:r>
            <a:r>
              <a:rPr lang="en-IN" sz="2000" dirty="0">
                <a:solidFill>
                  <a:schemeClr val="tx1"/>
                </a:solidFill>
                <a:latin typeface="Times New Roman" panose="02020603050405020304" pitchFamily="18" charset="0"/>
                <a:cs typeface="Times New Roman" panose="02020603050405020304" pitchFamily="18" charset="0"/>
              </a:rPr>
              <a:t>.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Using this procedure for the other flip-flops, we obtain the input functions given in table below. </a:t>
            </a:r>
          </a:p>
        </p:txBody>
      </p:sp>
    </p:spTree>
    <p:extLst>
      <p:ext uri="{BB962C8B-B14F-4D97-AF65-F5344CB8AC3E}">
        <p14:creationId xmlns:p14="http://schemas.microsoft.com/office/powerpoint/2010/main" val="562378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CFA968-64A3-4378-9087-76D694A428D4}"/>
              </a:ext>
            </a:extLst>
          </p:cNvPr>
          <p:cNvSpPr>
            <a:spLocks noGrp="1"/>
          </p:cNvSpPr>
          <p:nvPr>
            <p:ph type="title"/>
          </p:nvPr>
        </p:nvSpPr>
        <p:spPr>
          <a:xfrm>
            <a:off x="311700" y="445025"/>
            <a:ext cx="8520600" cy="12959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E3551F78-1D8C-4321-901E-B0AC22E10557}"/>
              </a:ext>
            </a:extLst>
          </p:cNvPr>
          <p:cNvPicPr>
            <a:picLocks noChangeAspect="1"/>
          </p:cNvPicPr>
          <p:nvPr/>
        </p:nvPicPr>
        <p:blipFill>
          <a:blip r:embed="rId2"/>
          <a:stretch>
            <a:fillRect/>
          </a:stretch>
        </p:blipFill>
        <p:spPr>
          <a:xfrm>
            <a:off x="1311107" y="1219130"/>
            <a:ext cx="6521785" cy="2705239"/>
          </a:xfrm>
          <a:prstGeom prst="rect">
            <a:avLst/>
          </a:prstGeom>
        </p:spPr>
      </p:pic>
      <p:sp>
        <p:nvSpPr>
          <p:cNvPr id="3" name="Text Placeholder 2">
            <a:extLst>
              <a:ext uri="{FF2B5EF4-FFF2-40B4-BE49-F238E27FC236}">
                <a16:creationId xmlns:a16="http://schemas.microsoft.com/office/drawing/2014/main" xmlns="" id="{7611CB8D-97EC-4038-B390-DE84E5E76480}"/>
              </a:ext>
            </a:extLst>
          </p:cNvPr>
          <p:cNvSpPr>
            <a:spLocks noGrp="1"/>
          </p:cNvSpPr>
          <p:nvPr>
            <p:ph type="body" idx="1"/>
          </p:nvPr>
        </p:nvSpPr>
        <p:spPr>
          <a:xfrm>
            <a:off x="224287" y="940279"/>
            <a:ext cx="8678173" cy="3933646"/>
          </a:xfrm>
        </p:spPr>
        <p:txBody>
          <a:bodyPr/>
          <a:lstStyle/>
          <a:p>
            <a:endParaRPr lang="en-IN" dirty="0"/>
          </a:p>
        </p:txBody>
      </p:sp>
    </p:spTree>
    <p:extLst>
      <p:ext uri="{BB962C8B-B14F-4D97-AF65-F5344CB8AC3E}">
        <p14:creationId xmlns:p14="http://schemas.microsoft.com/office/powerpoint/2010/main" val="30265369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34C301-59C3-493B-884F-F0CFEC464468}"/>
              </a:ext>
            </a:extLst>
          </p:cNvPr>
          <p:cNvSpPr>
            <a:spLocks noGrp="1"/>
          </p:cNvSpPr>
          <p:nvPr>
            <p:ph type="title"/>
          </p:nvPr>
        </p:nvSpPr>
        <p:spPr>
          <a:xfrm>
            <a:off x="311700" y="99969"/>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EFE512D1-344B-41FB-84A7-A8E037FA0C88}"/>
              </a:ext>
            </a:extLst>
          </p:cNvPr>
          <p:cNvSpPr>
            <a:spLocks noGrp="1"/>
          </p:cNvSpPr>
          <p:nvPr>
            <p:ph type="body" idx="1"/>
          </p:nvPr>
        </p:nvSpPr>
        <p:spPr>
          <a:xfrm>
            <a:off x="241540" y="491706"/>
            <a:ext cx="8686800" cy="4382219"/>
          </a:xfrm>
        </p:spPr>
        <p:txBody>
          <a:bodyPr>
            <a:normAutofit/>
          </a:bodyPr>
          <a:lstStyle/>
          <a:p>
            <a:pPr algn="just"/>
            <a:r>
              <a:rPr lang="en-IN" sz="2000" dirty="0">
                <a:solidFill>
                  <a:schemeClr val="tx1"/>
                </a:solidFill>
                <a:latin typeface="Times New Roman" panose="02020603050405020304" pitchFamily="18" charset="0"/>
                <a:cs typeface="Times New Roman" panose="02020603050405020304" pitchFamily="18" charset="0"/>
              </a:rPr>
              <a:t>Initially, flip-flop T0 is set and all others are cleared. At any given time, only one D input is in the 1 state while all others are maintained at 0. The next clock pulse sets the flip-flop whose D input is 1 and clears all others.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The circuit for the control logic is not drawn but can be easily obtained from the Boolean functions in table. The circuit can be constructed with eight D flip-flops, seven AND gates, six OR gates, and four inverters. Note that five control outputs are taken directly from the flip-flop outputs </a:t>
            </a:r>
          </a:p>
        </p:txBody>
      </p:sp>
    </p:spTree>
    <p:extLst>
      <p:ext uri="{BB962C8B-B14F-4D97-AF65-F5344CB8AC3E}">
        <p14:creationId xmlns:p14="http://schemas.microsoft.com/office/powerpoint/2010/main" val="38892357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D10321-C97F-4D0D-9BC7-79A30949190E}"/>
              </a:ext>
            </a:extLst>
          </p:cNvPr>
          <p:cNvSpPr>
            <a:spLocks noGrp="1"/>
          </p:cNvSpPr>
          <p:nvPr>
            <p:ph type="title"/>
          </p:nvPr>
        </p:nvSpPr>
        <p:spPr>
          <a:xfrm>
            <a:off x="311700" y="191939"/>
            <a:ext cx="8520600" cy="572700"/>
          </a:xfrm>
        </p:spPr>
        <p:txBody>
          <a:bodyPr>
            <a:normAutofit fontScale="90000"/>
          </a:bodyPr>
          <a:lstStyle/>
          <a:p>
            <a:r>
              <a:rPr lang="en-IN" b="1" dirty="0"/>
              <a:t>             MICRO-PROGRAM CONTROL </a:t>
            </a:r>
            <a:endParaRPr lang="en-IN" dirty="0"/>
          </a:p>
        </p:txBody>
      </p:sp>
      <p:sp>
        <p:nvSpPr>
          <p:cNvPr id="3" name="Text Placeholder 2">
            <a:extLst>
              <a:ext uri="{FF2B5EF4-FFF2-40B4-BE49-F238E27FC236}">
                <a16:creationId xmlns:a16="http://schemas.microsoft.com/office/drawing/2014/main" xmlns="" id="{1A8A1983-36B1-46A9-B340-6C8024C7824C}"/>
              </a:ext>
            </a:extLst>
          </p:cNvPr>
          <p:cNvSpPr>
            <a:spLocks noGrp="1"/>
          </p:cNvSpPr>
          <p:nvPr>
            <p:ph type="body" idx="1"/>
          </p:nvPr>
        </p:nvSpPr>
        <p:spPr>
          <a:xfrm>
            <a:off x="311700" y="764640"/>
            <a:ext cx="8520600" cy="4186922"/>
          </a:xfrm>
        </p:spPr>
        <p:txBody>
          <a:bodyPr>
            <a:noAutofit/>
          </a:bodyPr>
          <a:lstStyle/>
          <a:p>
            <a:pPr algn="just"/>
            <a:r>
              <a:rPr lang="en-IN" sz="2000" dirty="0">
                <a:solidFill>
                  <a:schemeClr val="tx1"/>
                </a:solidFill>
                <a:latin typeface="Times New Roman" panose="02020603050405020304" pitchFamily="18" charset="0"/>
                <a:cs typeface="Times New Roman" panose="02020603050405020304" pitchFamily="18" charset="0"/>
              </a:rPr>
              <a:t>In a micro-program control, the control variables that initiate micro-operations are stored in memory. </a:t>
            </a:r>
          </a:p>
          <a:p>
            <a:pPr algn="just"/>
            <a:endParaRPr lang="en-IN" sz="20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The control memory is usually a ROM, since the control sequence is permanent and needs no alteration. The control variables stored in memory are read one at a time to initiate the sequence of micro-operations for the system. </a:t>
            </a:r>
          </a:p>
          <a:p>
            <a:pPr algn="just"/>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Each micro operation is associated with a specific set of control lines which, when activated, causes that micro operation to take place. </a:t>
            </a:r>
          </a:p>
          <a:p>
            <a:pPr algn="just"/>
            <a:endParaRPr lang="en-IN" sz="2000" dirty="0">
              <a:solidFill>
                <a:schemeClr val="tx1"/>
              </a:solidFill>
              <a:latin typeface="Times New Roman" panose="02020603050405020304" pitchFamily="18" charset="0"/>
              <a:cs typeface="Times New Roman" panose="02020603050405020304" pitchFamily="18" charset="0"/>
            </a:endParaRPr>
          </a:p>
          <a:p>
            <a:pPr algn="just"/>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9633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6DC33-D115-4F7D-809B-710A9A601304}"/>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xmlns="" id="{138B5D12-55B8-47BA-8742-113866B0FA11}"/>
              </a:ext>
            </a:extLst>
          </p:cNvPr>
          <p:cNvSpPr>
            <a:spLocks noGrp="1"/>
          </p:cNvSpPr>
          <p:nvPr>
            <p:ph type="body" idx="1"/>
          </p:nvPr>
        </p:nvSpPr>
        <p:spPr/>
        <p:txBody>
          <a:bodyPr/>
          <a:lstStyle/>
          <a:p>
            <a:pPr algn="just"/>
            <a:r>
              <a:rPr lang="en-IN" dirty="0">
                <a:solidFill>
                  <a:schemeClr val="tx1"/>
                </a:solidFill>
                <a:latin typeface="Times New Roman" panose="02020603050405020304" pitchFamily="18" charset="0"/>
                <a:cs typeface="Times New Roman" panose="02020603050405020304" pitchFamily="18" charset="0"/>
              </a:rPr>
              <a:t>Since the number of instructions and control lines is often in the hundreds, the complexity of hardwired control unit is very high. </a:t>
            </a:r>
          </a:p>
          <a:p>
            <a:pPr marL="114300" indent="0" algn="just">
              <a:buNone/>
            </a:pP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The hardwired control unit is relatively inflexible because it is difficult to change the design, if one wishes to correct design error or modify the instruction set </a:t>
            </a:r>
          </a:p>
          <a:p>
            <a:pPr marL="114300" indent="0" algn="just">
              <a:buNone/>
            </a:pP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The micro programmed control unit consists of following components.</a:t>
            </a:r>
            <a:endParaRPr lang="en-IN" dirty="0"/>
          </a:p>
        </p:txBody>
      </p:sp>
    </p:spTree>
    <p:extLst>
      <p:ext uri="{BB962C8B-B14F-4D97-AF65-F5344CB8AC3E}">
        <p14:creationId xmlns:p14="http://schemas.microsoft.com/office/powerpoint/2010/main" val="2834750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D289AF-2DAE-4BB9-A818-28CDAD95BA6C}"/>
              </a:ext>
            </a:extLst>
          </p:cNvPr>
          <p:cNvSpPr>
            <a:spLocks noGrp="1"/>
          </p:cNvSpPr>
          <p:nvPr>
            <p:ph type="title"/>
          </p:nvPr>
        </p:nvSpPr>
        <p:spPr>
          <a:xfrm>
            <a:off x="311700" y="143100"/>
            <a:ext cx="8520600" cy="129600"/>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124A9B78-9618-4D30-9813-A56DDAB2C450}"/>
              </a:ext>
            </a:extLst>
          </p:cNvPr>
          <p:cNvPicPr>
            <a:picLocks noChangeAspect="1"/>
          </p:cNvPicPr>
          <p:nvPr/>
        </p:nvPicPr>
        <p:blipFill>
          <a:blip r:embed="rId2"/>
          <a:stretch>
            <a:fillRect/>
          </a:stretch>
        </p:blipFill>
        <p:spPr>
          <a:xfrm>
            <a:off x="2835185" y="206253"/>
            <a:ext cx="3473629" cy="4730993"/>
          </a:xfrm>
          <a:prstGeom prst="rect">
            <a:avLst/>
          </a:prstGeom>
        </p:spPr>
      </p:pic>
      <p:sp>
        <p:nvSpPr>
          <p:cNvPr id="3" name="Text Placeholder 2">
            <a:extLst>
              <a:ext uri="{FF2B5EF4-FFF2-40B4-BE49-F238E27FC236}">
                <a16:creationId xmlns:a16="http://schemas.microsoft.com/office/drawing/2014/main" xmlns="" id="{639EDC9A-5C03-416E-9E86-F9EDCE00EA3A}"/>
              </a:ext>
            </a:extLst>
          </p:cNvPr>
          <p:cNvSpPr>
            <a:spLocks noGrp="1"/>
          </p:cNvSpPr>
          <p:nvPr>
            <p:ph type="body" idx="1"/>
          </p:nvPr>
        </p:nvSpPr>
        <p:spPr>
          <a:xfrm>
            <a:off x="224287" y="500332"/>
            <a:ext cx="8781690" cy="4408098"/>
          </a:xfrm>
        </p:spPr>
        <p:txBody>
          <a:bodyPr/>
          <a:lstStyle/>
          <a:p>
            <a:endParaRPr lang="en-IN" dirty="0"/>
          </a:p>
        </p:txBody>
      </p:sp>
    </p:spTree>
    <p:extLst>
      <p:ext uri="{BB962C8B-B14F-4D97-AF65-F5344CB8AC3E}">
        <p14:creationId xmlns:p14="http://schemas.microsoft.com/office/powerpoint/2010/main" val="26644744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F112CB-7BB4-40D5-93D6-8D857F767FEB}"/>
              </a:ext>
            </a:extLst>
          </p:cNvPr>
          <p:cNvSpPr>
            <a:spLocks noGrp="1"/>
          </p:cNvSpPr>
          <p:nvPr>
            <p:ph type="title"/>
          </p:nvPr>
        </p:nvSpPr>
        <p:spPr>
          <a:xfrm>
            <a:off x="466976" y="91342"/>
            <a:ext cx="8520600" cy="46681"/>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5EAC18FF-5B9A-486E-8404-EF717DA5F552}"/>
              </a:ext>
            </a:extLst>
          </p:cNvPr>
          <p:cNvSpPr>
            <a:spLocks noGrp="1"/>
          </p:cNvSpPr>
          <p:nvPr>
            <p:ph type="body" idx="1"/>
          </p:nvPr>
        </p:nvSpPr>
        <p:spPr>
          <a:xfrm>
            <a:off x="311700" y="138023"/>
            <a:ext cx="8590760" cy="5005477"/>
          </a:xfrm>
        </p:spPr>
        <p:txBody>
          <a:bodyPr>
            <a:noAutofit/>
          </a:bodyPr>
          <a:lstStyle/>
          <a:p>
            <a:pPr marL="114300" indent="0">
              <a:buNone/>
            </a:pPr>
            <a:r>
              <a:rPr lang="en-IN" sz="2000" i="1" dirty="0">
                <a:solidFill>
                  <a:srgbClr val="C00000"/>
                </a:solidFill>
                <a:latin typeface="Times New Roman" panose="02020603050405020304" pitchFamily="18" charset="0"/>
                <a:cs typeface="Times New Roman" panose="02020603050405020304" pitchFamily="18" charset="0"/>
              </a:rPr>
              <a:t>	</a:t>
            </a:r>
            <a:r>
              <a:rPr lang="en-IN" i="1" dirty="0">
                <a:solidFill>
                  <a:srgbClr val="C00000"/>
                </a:solidFill>
                <a:latin typeface="Times New Roman" panose="02020603050405020304" pitchFamily="18" charset="0"/>
                <a:cs typeface="Times New Roman" panose="02020603050405020304" pitchFamily="18" charset="0"/>
              </a:rPr>
              <a:t>Control memory: </a:t>
            </a:r>
            <a:endParaRPr lang="en-IN" dirty="0">
              <a:solidFill>
                <a:srgbClr val="C00000"/>
              </a:solidFill>
              <a:latin typeface="Times New Roman" panose="02020603050405020304" pitchFamily="18" charset="0"/>
              <a:cs typeface="Times New Roman" panose="02020603050405020304" pitchFamily="18" charset="0"/>
            </a:endParaRPr>
          </a:p>
          <a:p>
            <a:pPr lvl="1"/>
            <a:r>
              <a:rPr lang="en-IN" sz="1800" dirty="0">
                <a:solidFill>
                  <a:schemeClr val="tx1"/>
                </a:solidFill>
                <a:latin typeface="Times New Roman" panose="02020603050405020304" pitchFamily="18" charset="0"/>
                <a:cs typeface="Times New Roman" panose="02020603050405020304" pitchFamily="18" charset="0"/>
              </a:rPr>
              <a:t>In micro programmed control, the micro programs for all instructions are stored in the control memory (CM). </a:t>
            </a:r>
          </a:p>
          <a:p>
            <a:pPr lvl="1"/>
            <a:r>
              <a:rPr lang="en-IN" sz="1800" dirty="0">
                <a:solidFill>
                  <a:schemeClr val="tx1"/>
                </a:solidFill>
                <a:latin typeface="Times New Roman" panose="02020603050405020304" pitchFamily="18" charset="0"/>
                <a:cs typeface="Times New Roman" panose="02020603050405020304" pitchFamily="18" charset="0"/>
              </a:rPr>
              <a:t>The control signals to be activated at any time are specified by a microinstruction, which is fetched from Control memory (CM). </a:t>
            </a:r>
          </a:p>
          <a:p>
            <a:pPr marL="114300" indent="0">
              <a:buNone/>
            </a:pPr>
            <a:r>
              <a:rPr lang="en-IN" i="1" dirty="0">
                <a:solidFill>
                  <a:srgbClr val="C00000"/>
                </a:solidFill>
                <a:latin typeface="Times New Roman" panose="02020603050405020304" pitchFamily="18" charset="0"/>
                <a:cs typeface="Times New Roman" panose="02020603050405020304" pitchFamily="18" charset="0"/>
              </a:rPr>
              <a:t>	Control address register </a:t>
            </a:r>
          </a:p>
          <a:p>
            <a:pPr lvl="1">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The control address register holds the address of the next microinstruction to be read. When address is available in control address register, the sequencer issues READ command to the control memory. </a:t>
            </a:r>
          </a:p>
          <a:p>
            <a:pPr marL="114300" indent="0">
              <a:buNone/>
            </a:pPr>
            <a:r>
              <a:rPr lang="en-IN" i="1" dirty="0">
                <a:solidFill>
                  <a:srgbClr val="C00000"/>
                </a:solidFill>
                <a:latin typeface="Times New Roman" panose="02020603050405020304" pitchFamily="18" charset="0"/>
                <a:cs typeface="Times New Roman" panose="02020603050405020304" pitchFamily="18" charset="0"/>
              </a:rPr>
              <a:t>	Microinstruction register </a:t>
            </a:r>
            <a:endParaRPr lang="en-US" dirty="0">
              <a:solidFill>
                <a:srgbClr val="C00000"/>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After issue of READ command, the word from the addressed location is read into the microinstruction register.</a:t>
            </a:r>
          </a:p>
          <a:p>
            <a:pPr lvl="1">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Now the content of the micro instruction register generates control signals and next address information for the sequencer. </a:t>
            </a:r>
          </a:p>
        </p:txBody>
      </p:sp>
    </p:spTree>
    <p:extLst>
      <p:ext uri="{BB962C8B-B14F-4D97-AF65-F5344CB8AC3E}">
        <p14:creationId xmlns:p14="http://schemas.microsoft.com/office/powerpoint/2010/main" val="20965016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AB63F2-22A6-49F9-B66B-4D6D567C39BF}"/>
              </a:ext>
            </a:extLst>
          </p:cNvPr>
          <p:cNvSpPr>
            <a:spLocks noGrp="1"/>
          </p:cNvSpPr>
          <p:nvPr>
            <p:ph type="title"/>
          </p:nvPr>
        </p:nvSpPr>
        <p:spPr>
          <a:xfrm>
            <a:off x="311700" y="0"/>
            <a:ext cx="8520600" cy="63933"/>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866774D1-8491-4DCB-B286-01F4990C3A74}"/>
              </a:ext>
            </a:extLst>
          </p:cNvPr>
          <p:cNvSpPr>
            <a:spLocks noGrp="1"/>
          </p:cNvSpPr>
          <p:nvPr>
            <p:ph type="body" idx="1"/>
          </p:nvPr>
        </p:nvSpPr>
        <p:spPr>
          <a:xfrm>
            <a:off x="311700" y="198408"/>
            <a:ext cx="8590760" cy="4744528"/>
          </a:xfrm>
        </p:spPr>
        <p:txBody>
          <a:bodyPr>
            <a:normAutofit/>
          </a:bodyPr>
          <a:lstStyle/>
          <a:p>
            <a:pPr marL="114300" indent="0" algn="just">
              <a:buNone/>
            </a:pPr>
            <a:r>
              <a:rPr lang="en-IN" sz="2000" i="1" dirty="0">
                <a:solidFill>
                  <a:srgbClr val="C00000"/>
                </a:solidFill>
                <a:latin typeface="Times New Roman" panose="02020603050405020304" pitchFamily="18" charset="0"/>
                <a:cs typeface="Times New Roman" panose="02020603050405020304" pitchFamily="18" charset="0"/>
              </a:rPr>
              <a:t>	Micro-program sequencer </a:t>
            </a:r>
            <a:endParaRPr lang="en-IN" sz="2000" dirty="0">
              <a:solidFill>
                <a:srgbClr val="C00000"/>
              </a:solidFill>
              <a:latin typeface="Times New Roman" panose="02020603050405020304" pitchFamily="18" charset="0"/>
              <a:cs typeface="Times New Roman" panose="02020603050405020304" pitchFamily="18" charset="0"/>
            </a:endParaRPr>
          </a:p>
          <a:p>
            <a:pPr lvl="1" algn="just"/>
            <a:r>
              <a:rPr lang="en-IN" sz="2000" dirty="0">
                <a:solidFill>
                  <a:schemeClr val="tx1"/>
                </a:solidFill>
                <a:latin typeface="Times New Roman" panose="02020603050405020304" pitchFamily="18" charset="0"/>
                <a:cs typeface="Times New Roman" panose="02020603050405020304" pitchFamily="18" charset="0"/>
              </a:rPr>
              <a:t>A sequence of one or more micro operations designed to control specific operation, such as addition, multiplication is called a micro program.</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lvl="1" algn="just"/>
            <a:r>
              <a:rPr lang="en-IN" sz="2000" dirty="0">
                <a:solidFill>
                  <a:schemeClr val="tx1"/>
                </a:solidFill>
                <a:latin typeface="Times New Roman" panose="02020603050405020304" pitchFamily="18" charset="0"/>
                <a:cs typeface="Times New Roman" panose="02020603050405020304" pitchFamily="18" charset="0"/>
              </a:rPr>
              <a:t>The sequencer loads a new address into the control address register based on the next address information </a:t>
            </a:r>
          </a:p>
        </p:txBody>
      </p:sp>
    </p:spTree>
    <p:extLst>
      <p:ext uri="{BB962C8B-B14F-4D97-AF65-F5344CB8AC3E}">
        <p14:creationId xmlns:p14="http://schemas.microsoft.com/office/powerpoint/2010/main" val="1237638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0B9F0-85D0-4EED-AF67-6022042790D3}"/>
              </a:ext>
            </a:extLst>
          </p:cNvPr>
          <p:cNvSpPr>
            <a:spLocks noGrp="1"/>
          </p:cNvSpPr>
          <p:nvPr>
            <p:ph type="title"/>
          </p:nvPr>
        </p:nvSpPr>
        <p:spPr>
          <a:xfrm>
            <a:off x="406591" y="1925"/>
            <a:ext cx="8520600" cy="15335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3D88F0AD-E76A-42F8-8CF4-A1E82EC4EF79}"/>
              </a:ext>
            </a:extLst>
          </p:cNvPr>
          <p:cNvSpPr>
            <a:spLocks noGrp="1"/>
          </p:cNvSpPr>
          <p:nvPr>
            <p:ph type="body" idx="1"/>
          </p:nvPr>
        </p:nvSpPr>
        <p:spPr>
          <a:xfrm>
            <a:off x="311699" y="293298"/>
            <a:ext cx="8615491" cy="4572000"/>
          </a:xfrm>
        </p:spPr>
        <p:txBody>
          <a:bodyPr>
            <a:normAutofit/>
          </a:bodyPr>
          <a:lstStyle/>
          <a:p>
            <a:pPr marL="114300" indent="0">
              <a:buNone/>
            </a:pPr>
            <a:r>
              <a:rPr lang="en-IN" b="1" i="1" dirty="0">
                <a:solidFill>
                  <a:schemeClr val="tx1"/>
                </a:solidFill>
                <a:latin typeface="Times New Roman" panose="02020603050405020304" pitchFamily="18" charset="0"/>
                <a:cs typeface="Times New Roman" panose="02020603050405020304" pitchFamily="18" charset="0"/>
              </a:rPr>
              <a:t>Advantages of Micro programmed control </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It simplifies the design of control unit. Thus it is both, cheaper and less error prone implement. </a:t>
            </a:r>
          </a:p>
          <a:p>
            <a:r>
              <a:rPr lang="en-IN" dirty="0">
                <a:solidFill>
                  <a:schemeClr val="tx1"/>
                </a:solidFill>
                <a:latin typeface="Times New Roman" panose="02020603050405020304" pitchFamily="18" charset="0"/>
                <a:cs typeface="Times New Roman" panose="02020603050405020304" pitchFamily="18" charset="0"/>
              </a:rPr>
              <a:t>Control functions are implemented in software rather than hardware. </a:t>
            </a:r>
          </a:p>
          <a:p>
            <a:r>
              <a:rPr lang="en-IN" dirty="0">
                <a:solidFill>
                  <a:schemeClr val="tx1"/>
                </a:solidFill>
                <a:latin typeface="Times New Roman" panose="02020603050405020304" pitchFamily="18" charset="0"/>
                <a:cs typeface="Times New Roman" panose="02020603050405020304" pitchFamily="18" charset="0"/>
              </a:rPr>
              <a:t>The design process is orderly and systematic </a:t>
            </a:r>
          </a:p>
          <a:p>
            <a:r>
              <a:rPr lang="en-IN" dirty="0">
                <a:solidFill>
                  <a:schemeClr val="tx1"/>
                </a:solidFill>
                <a:latin typeface="Times New Roman" panose="02020603050405020304" pitchFamily="18" charset="0"/>
                <a:cs typeface="Times New Roman" panose="02020603050405020304" pitchFamily="18" charset="0"/>
              </a:rPr>
              <a:t>More flexible, can be changed to accommodate new system specifications or to correct the design errors quickly and cheaply. </a:t>
            </a:r>
          </a:p>
          <a:p>
            <a:pPr>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 Complex function such as floating point arithmetic can be realized efficiently. </a:t>
            </a:r>
          </a:p>
          <a:p>
            <a:pPr marL="114300" indent="0">
              <a:buNone/>
            </a:pPr>
            <a:r>
              <a:rPr lang="en-IN" b="1" i="1" dirty="0">
                <a:solidFill>
                  <a:schemeClr val="tx1"/>
                </a:solidFill>
                <a:latin typeface="Times New Roman" panose="02020603050405020304" pitchFamily="18" charset="0"/>
                <a:cs typeface="Times New Roman" panose="02020603050405020304" pitchFamily="18" charset="0"/>
              </a:rPr>
              <a:t>Disadvantages </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A micro programmed control unit is somewhat slower than the hardwired control unit, because time is required to access the microinstructions from CM </a:t>
            </a:r>
          </a:p>
          <a:p>
            <a:r>
              <a:rPr lang="en-IN" dirty="0">
                <a:solidFill>
                  <a:schemeClr val="tx1"/>
                </a:solidFill>
                <a:latin typeface="Times New Roman" panose="02020603050405020304" pitchFamily="18" charset="0"/>
                <a:cs typeface="Times New Roman" panose="02020603050405020304" pitchFamily="18" charset="0"/>
              </a:rPr>
              <a:t>The flexibility is achieved at some extra hardware cost due to the control memory and its access circuitry. </a:t>
            </a:r>
          </a:p>
          <a:p>
            <a:endParaRPr lang="en-IN" dirty="0"/>
          </a:p>
        </p:txBody>
      </p:sp>
    </p:spTree>
    <p:extLst>
      <p:ext uri="{BB962C8B-B14F-4D97-AF65-F5344CB8AC3E}">
        <p14:creationId xmlns:p14="http://schemas.microsoft.com/office/powerpoint/2010/main" val="42420134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B4EB44-D593-4A53-8490-D404417454E3}"/>
              </a:ext>
            </a:extLst>
          </p:cNvPr>
          <p:cNvSpPr>
            <a:spLocks noGrp="1"/>
          </p:cNvSpPr>
          <p:nvPr>
            <p:ph type="title"/>
          </p:nvPr>
        </p:nvSpPr>
        <p:spPr>
          <a:xfrm>
            <a:off x="311700" y="-12960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92107F4B-7582-49AC-A2C5-821CD87866C0}"/>
              </a:ext>
            </a:extLst>
          </p:cNvPr>
          <p:cNvSpPr>
            <a:spLocks noGrp="1"/>
          </p:cNvSpPr>
          <p:nvPr>
            <p:ph type="body" idx="1"/>
          </p:nvPr>
        </p:nvSpPr>
        <p:spPr>
          <a:xfrm>
            <a:off x="189781" y="181155"/>
            <a:ext cx="8816196" cy="4787660"/>
          </a:xfrm>
        </p:spPr>
        <p:txBody>
          <a:bodyPr>
            <a:noAutofit/>
          </a:bodyPr>
          <a:lstStyle/>
          <a:p>
            <a:pPr marL="114300" indent="0">
              <a:buNone/>
            </a:pPr>
            <a:r>
              <a:rPr lang="en-IN" sz="2000" b="1"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Microinstructions </a:t>
            </a:r>
            <a:endParaRPr lang="en-IN" dirty="0">
              <a:solidFill>
                <a:schemeClr val="tx1"/>
              </a:solidFill>
              <a:latin typeface="Times New Roman" panose="02020603050405020304" pitchFamily="18" charset="0"/>
              <a:cs typeface="Times New Roman" panose="02020603050405020304" pitchFamily="18" charset="0"/>
            </a:endParaRPr>
          </a:p>
          <a:p>
            <a:pPr lvl="1"/>
            <a:r>
              <a:rPr lang="en-IN" sz="1800" dirty="0">
                <a:solidFill>
                  <a:schemeClr val="tx1"/>
                </a:solidFill>
                <a:latin typeface="Times New Roman" panose="02020603050405020304" pitchFamily="18" charset="0"/>
                <a:cs typeface="Times New Roman" panose="02020603050405020304" pitchFamily="18" charset="0"/>
              </a:rPr>
              <a:t>The words stored in a control memory are microinstructions, and each microinstruction specifies one or more micro-operations for the components in the system. </a:t>
            </a:r>
          </a:p>
          <a:p>
            <a:pPr marL="114300" indent="0">
              <a:buNone/>
            </a:pPr>
            <a:r>
              <a:rPr lang="en-IN" b="1" i="1" dirty="0">
                <a:solidFill>
                  <a:schemeClr val="tx1"/>
                </a:solidFill>
                <a:latin typeface="Times New Roman" panose="02020603050405020304" pitchFamily="18" charset="0"/>
                <a:cs typeface="Times New Roman" panose="02020603050405020304" pitchFamily="18" charset="0"/>
              </a:rPr>
              <a:t>	Example: </a:t>
            </a:r>
            <a:r>
              <a:rPr lang="en-IN" dirty="0">
                <a:solidFill>
                  <a:schemeClr val="tx1"/>
                </a:solidFill>
                <a:latin typeface="Times New Roman" panose="02020603050405020304" pitchFamily="18" charset="0"/>
                <a:cs typeface="Times New Roman" panose="02020603050405020304" pitchFamily="18" charset="0"/>
              </a:rPr>
              <a:t>Control Sequence for instruction Add (R3), R1: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1. </a:t>
            </a:r>
            <a:r>
              <a:rPr lang="en-IN" dirty="0" err="1">
                <a:solidFill>
                  <a:schemeClr val="tx1"/>
                </a:solidFill>
                <a:latin typeface="Times New Roman" panose="02020603050405020304" pitchFamily="18" charset="0"/>
                <a:cs typeface="Times New Roman" panose="02020603050405020304" pitchFamily="18" charset="0"/>
              </a:rPr>
              <a:t>PCout</a:t>
            </a:r>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MARin</a:t>
            </a:r>
            <a:r>
              <a:rPr lang="en-IN" dirty="0">
                <a:solidFill>
                  <a:schemeClr val="tx1"/>
                </a:solidFill>
                <a:latin typeface="Times New Roman" panose="02020603050405020304" pitchFamily="18" charset="0"/>
                <a:cs typeface="Times New Roman" panose="02020603050405020304" pitchFamily="18" charset="0"/>
              </a:rPr>
              <a:t>, Read, Select4, Add, Zin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2. </a:t>
            </a:r>
            <a:r>
              <a:rPr lang="en-IN" dirty="0" err="1">
                <a:solidFill>
                  <a:schemeClr val="tx1"/>
                </a:solidFill>
                <a:latin typeface="Times New Roman" panose="02020603050405020304" pitchFamily="18" charset="0"/>
                <a:cs typeface="Times New Roman" panose="02020603050405020304" pitchFamily="18" charset="0"/>
              </a:rPr>
              <a:t>Zout</a:t>
            </a:r>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PCin</a:t>
            </a:r>
            <a:r>
              <a:rPr lang="en-IN" dirty="0">
                <a:solidFill>
                  <a:schemeClr val="tx1"/>
                </a:solidFill>
                <a:latin typeface="Times New Roman" panose="02020603050405020304" pitchFamily="18" charset="0"/>
                <a:cs typeface="Times New Roman" panose="02020603050405020304" pitchFamily="18" charset="0"/>
              </a:rPr>
              <a:t>, Yin, Wait for the MFC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3. </a:t>
            </a:r>
            <a:r>
              <a:rPr lang="en-IN" dirty="0" err="1">
                <a:solidFill>
                  <a:schemeClr val="tx1"/>
                </a:solidFill>
                <a:latin typeface="Times New Roman" panose="02020603050405020304" pitchFamily="18" charset="0"/>
                <a:cs typeface="Times New Roman" panose="02020603050405020304" pitchFamily="18" charset="0"/>
              </a:rPr>
              <a:t>MDRout</a:t>
            </a:r>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IRin</a:t>
            </a:r>
            <a:r>
              <a:rPr lang="en-IN" dirty="0">
                <a:solidFill>
                  <a:schemeClr val="tx1"/>
                </a:solidFill>
                <a:latin typeface="Times New Roman" panose="02020603050405020304" pitchFamily="18" charset="0"/>
                <a:cs typeface="Times New Roman" panose="02020603050405020304" pitchFamily="18" charset="0"/>
              </a:rPr>
              <a:t>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4. R3out, </a:t>
            </a:r>
            <a:r>
              <a:rPr lang="en-IN" dirty="0" err="1">
                <a:solidFill>
                  <a:schemeClr val="tx1"/>
                </a:solidFill>
                <a:latin typeface="Times New Roman" panose="02020603050405020304" pitchFamily="18" charset="0"/>
                <a:cs typeface="Times New Roman" panose="02020603050405020304" pitchFamily="18" charset="0"/>
              </a:rPr>
              <a:t>MARin</a:t>
            </a:r>
            <a:r>
              <a:rPr lang="en-IN" dirty="0">
                <a:solidFill>
                  <a:schemeClr val="tx1"/>
                </a:solidFill>
                <a:latin typeface="Times New Roman" panose="02020603050405020304" pitchFamily="18" charset="0"/>
                <a:cs typeface="Times New Roman" panose="02020603050405020304" pitchFamily="18" charset="0"/>
              </a:rPr>
              <a:t>, Read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5. R1out, Yin, Wait for MFC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6. </a:t>
            </a:r>
            <a:r>
              <a:rPr lang="en-IN" dirty="0" err="1">
                <a:solidFill>
                  <a:schemeClr val="tx1"/>
                </a:solidFill>
                <a:latin typeface="Times New Roman" panose="02020603050405020304" pitchFamily="18" charset="0"/>
                <a:cs typeface="Times New Roman" panose="02020603050405020304" pitchFamily="18" charset="0"/>
              </a:rPr>
              <a:t>MDRout</a:t>
            </a:r>
            <a:r>
              <a:rPr lang="en-IN" dirty="0">
                <a:solidFill>
                  <a:schemeClr val="tx1"/>
                </a:solidFill>
                <a:latin typeface="Times New Roman" panose="02020603050405020304" pitchFamily="18" charset="0"/>
                <a:cs typeface="Times New Roman" panose="02020603050405020304" pitchFamily="18" charset="0"/>
              </a:rPr>
              <a:t>, Select Y, Add, Zin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7. </a:t>
            </a:r>
            <a:r>
              <a:rPr lang="en-IN" dirty="0" err="1">
                <a:solidFill>
                  <a:schemeClr val="tx1"/>
                </a:solidFill>
                <a:latin typeface="Times New Roman" panose="02020603050405020304" pitchFamily="18" charset="0"/>
                <a:cs typeface="Times New Roman" panose="02020603050405020304" pitchFamily="18" charset="0"/>
              </a:rPr>
              <a:t>Zout</a:t>
            </a:r>
            <a:r>
              <a:rPr lang="en-IN" dirty="0">
                <a:solidFill>
                  <a:schemeClr val="tx1"/>
                </a:solidFill>
                <a:latin typeface="Times New Roman" panose="02020603050405020304" pitchFamily="18" charset="0"/>
                <a:cs typeface="Times New Roman" panose="02020603050405020304" pitchFamily="18" charset="0"/>
              </a:rPr>
              <a:t>, R1in, End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The microinstruction for the above control sequence can be expressed as follows </a:t>
            </a:r>
          </a:p>
        </p:txBody>
      </p:sp>
    </p:spTree>
    <p:extLst>
      <p:ext uri="{BB962C8B-B14F-4D97-AF65-F5344CB8AC3E}">
        <p14:creationId xmlns:p14="http://schemas.microsoft.com/office/powerpoint/2010/main" val="42475781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A2383F-14AD-47FA-A73C-2097DECEEE97}"/>
              </a:ext>
            </a:extLst>
          </p:cNvPr>
          <p:cNvSpPr>
            <a:spLocks noGrp="1"/>
          </p:cNvSpPr>
          <p:nvPr>
            <p:ph type="title"/>
          </p:nvPr>
        </p:nvSpPr>
        <p:spPr/>
        <p:txBody>
          <a:bodyPr>
            <a:normAutofit fontScale="90000"/>
          </a:bodyPr>
          <a:lstStyle/>
          <a:p>
            <a:endParaRPr lang="en-IN"/>
          </a:p>
        </p:txBody>
      </p:sp>
      <p:pic>
        <p:nvPicPr>
          <p:cNvPr id="4" name="Picture 3">
            <a:extLst>
              <a:ext uri="{FF2B5EF4-FFF2-40B4-BE49-F238E27FC236}">
                <a16:creationId xmlns:a16="http://schemas.microsoft.com/office/drawing/2014/main" xmlns="" id="{6F8C085C-42AB-4088-B36C-3E2B3DDA8996}"/>
              </a:ext>
            </a:extLst>
          </p:cNvPr>
          <p:cNvPicPr>
            <a:picLocks noChangeAspect="1"/>
          </p:cNvPicPr>
          <p:nvPr/>
        </p:nvPicPr>
        <p:blipFill>
          <a:blip r:embed="rId2"/>
          <a:stretch>
            <a:fillRect/>
          </a:stretch>
        </p:blipFill>
        <p:spPr>
          <a:xfrm>
            <a:off x="408762" y="1558872"/>
            <a:ext cx="8423538" cy="2642191"/>
          </a:xfrm>
          <a:prstGeom prst="rect">
            <a:avLst/>
          </a:prstGeom>
        </p:spPr>
      </p:pic>
      <p:sp>
        <p:nvSpPr>
          <p:cNvPr id="3" name="Text Placeholder 2">
            <a:extLst>
              <a:ext uri="{FF2B5EF4-FFF2-40B4-BE49-F238E27FC236}">
                <a16:creationId xmlns:a16="http://schemas.microsoft.com/office/drawing/2014/main" xmlns="" id="{3D0B431A-B8F1-45E5-9305-F238D326A32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9209745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C050CA-9E8D-4684-A6E3-A4EEB2F856D9}"/>
              </a:ext>
            </a:extLst>
          </p:cNvPr>
          <p:cNvSpPr>
            <a:spLocks noGrp="1"/>
          </p:cNvSpPr>
          <p:nvPr>
            <p:ph type="title"/>
          </p:nvPr>
        </p:nvSpPr>
        <p:spPr>
          <a:xfrm>
            <a:off x="311700" y="0"/>
            <a:ext cx="8520600" cy="4571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DFE2264D-ADED-4912-BF88-5BA07EAC6EC7}"/>
              </a:ext>
            </a:extLst>
          </p:cNvPr>
          <p:cNvSpPr>
            <a:spLocks noGrp="1"/>
          </p:cNvSpPr>
          <p:nvPr>
            <p:ph type="body" idx="1"/>
          </p:nvPr>
        </p:nvSpPr>
        <p:spPr>
          <a:xfrm>
            <a:off x="232913" y="235500"/>
            <a:ext cx="8678174" cy="4690183"/>
          </a:xfrm>
        </p:spPr>
        <p:txBody>
          <a:bodyPr/>
          <a:lstStyle/>
          <a:p>
            <a:pPr algn="just"/>
            <a:r>
              <a:rPr lang="en-IN" dirty="0">
                <a:solidFill>
                  <a:schemeClr val="tx1"/>
                </a:solidFill>
                <a:latin typeface="Times New Roman" panose="02020603050405020304" pitchFamily="18" charset="0"/>
                <a:cs typeface="Times New Roman" panose="02020603050405020304" pitchFamily="18" charset="0"/>
              </a:rPr>
              <a:t>Once these micro-operations are executed, the control unit must determine its next address.</a:t>
            </a:r>
          </a:p>
          <a:p>
            <a:pPr algn="just"/>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Therefore, a few bits of the microinstruction are used to control the generation of the address for the next microinstruction. Thus, a microinstruction contains bits for initiating micro-operations and bits that determine the next address for the control memory itself </a:t>
            </a:r>
          </a:p>
        </p:txBody>
      </p:sp>
    </p:spTree>
    <p:extLst>
      <p:ext uri="{BB962C8B-B14F-4D97-AF65-F5344CB8AC3E}">
        <p14:creationId xmlns:p14="http://schemas.microsoft.com/office/powerpoint/2010/main" val="30665598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FAE109-53EC-4B35-AD60-C0E58C263A88}"/>
              </a:ext>
            </a:extLst>
          </p:cNvPr>
          <p:cNvSpPr>
            <a:spLocks noGrp="1"/>
          </p:cNvSpPr>
          <p:nvPr>
            <p:ph type="title"/>
          </p:nvPr>
        </p:nvSpPr>
        <p:spPr>
          <a:xfrm>
            <a:off x="311700" y="-6480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14BA3EE3-C8F8-4BAB-B0D3-6328A2DD25CF}"/>
              </a:ext>
            </a:extLst>
          </p:cNvPr>
          <p:cNvSpPr>
            <a:spLocks noGrp="1"/>
          </p:cNvSpPr>
          <p:nvPr>
            <p:ph type="body" idx="1"/>
          </p:nvPr>
        </p:nvSpPr>
        <p:spPr>
          <a:xfrm>
            <a:off x="232913" y="310551"/>
            <a:ext cx="8738559" cy="4572000"/>
          </a:xfrm>
        </p:spPr>
        <p:txBody>
          <a:bodyPr>
            <a:normAutofit lnSpcReduction="10000"/>
          </a:bodyPr>
          <a:lstStyle/>
          <a:p>
            <a:pPr marL="114300" indent="0">
              <a:buNone/>
            </a:pPr>
            <a:endParaRPr lang="en-IN" dirty="0"/>
          </a:p>
          <a:p>
            <a:r>
              <a:rPr lang="en-IN" sz="2000" b="1" i="1" dirty="0">
                <a:solidFill>
                  <a:schemeClr val="tx1"/>
                </a:solidFill>
                <a:latin typeface="Times New Roman" panose="02020603050405020304" pitchFamily="18" charset="0"/>
                <a:cs typeface="Times New Roman" panose="02020603050405020304" pitchFamily="18" charset="0"/>
              </a:rPr>
              <a:t>Techniques of grouping of Control Signals </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rPr>
              <a:t>The grouping of control signal can be done either by using technique called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Vertical organization,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Horizontal organization. </a:t>
            </a:r>
          </a:p>
          <a:p>
            <a:pPr marL="114300" indent="0">
              <a:buNone/>
            </a:pPr>
            <a:r>
              <a:rPr lang="en-IN" sz="2000" b="1" i="1" dirty="0">
                <a:solidFill>
                  <a:schemeClr val="tx1"/>
                </a:solidFill>
                <a:latin typeface="Times New Roman" panose="02020603050405020304" pitchFamily="18" charset="0"/>
                <a:cs typeface="Times New Roman" panose="02020603050405020304" pitchFamily="18" charset="0"/>
              </a:rPr>
              <a:t>Horizontal Micro-Instructions </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rPr>
              <a:t>The scheme of micro-instruction by assigning one bit position to each control signal is called </a:t>
            </a:r>
            <a:r>
              <a:rPr lang="en-IN" sz="2000" b="1" dirty="0">
                <a:solidFill>
                  <a:schemeClr val="tx1"/>
                </a:solidFill>
                <a:latin typeface="Times New Roman" panose="02020603050405020304" pitchFamily="18" charset="0"/>
                <a:cs typeface="Times New Roman" panose="02020603050405020304" pitchFamily="18" charset="0"/>
              </a:rPr>
              <a:t>horizontal micro-instructions</a:t>
            </a:r>
            <a:r>
              <a:rPr lang="en-IN" sz="2000" dirty="0">
                <a:solidFill>
                  <a:schemeClr val="tx1"/>
                </a:solidFill>
                <a:latin typeface="Times New Roman" panose="02020603050405020304" pitchFamily="18" charset="0"/>
                <a:cs typeface="Times New Roman" panose="02020603050405020304" pitchFamily="18" charset="0"/>
              </a:rPr>
              <a:t>. </a:t>
            </a:r>
          </a:p>
          <a:p>
            <a:pPr marL="114300" indent="0">
              <a:buNone/>
            </a:pPr>
            <a:r>
              <a:rPr lang="en-IN" sz="2000" dirty="0">
                <a:solidFill>
                  <a:schemeClr val="tx1"/>
                </a:solidFill>
                <a:latin typeface="Times New Roman" panose="02020603050405020304" pitchFamily="18" charset="0"/>
                <a:cs typeface="Times New Roman" panose="02020603050405020304" pitchFamily="18" charset="0"/>
              </a:rPr>
              <a:t>		Example: 011101001101001110 </a:t>
            </a:r>
          </a:p>
          <a:p>
            <a:r>
              <a:rPr lang="en-IN" sz="2000" dirty="0">
                <a:solidFill>
                  <a:schemeClr val="tx1"/>
                </a:solidFill>
                <a:latin typeface="Times New Roman" panose="02020603050405020304" pitchFamily="18" charset="0"/>
                <a:cs typeface="Times New Roman" panose="02020603050405020304" pitchFamily="18" charset="0"/>
              </a:rPr>
              <a:t>In a horizontal microinstruction every bit in the control field attaches to a controller. Horizontal microinstructions represent several micro-operations that are executed at the same time. However, in extreme cases, each horizontal microinstruction controls all the hardware resources of the system. </a:t>
            </a:r>
          </a:p>
          <a:p>
            <a:pPr marL="114300" indent="0">
              <a:buNone/>
            </a:pPr>
            <a:endParaRPr lang="en-IN" dirty="0"/>
          </a:p>
          <a:p>
            <a:endParaRPr lang="en-IN" dirty="0"/>
          </a:p>
        </p:txBody>
      </p:sp>
    </p:spTree>
    <p:extLst>
      <p:ext uri="{BB962C8B-B14F-4D97-AF65-F5344CB8AC3E}">
        <p14:creationId xmlns:p14="http://schemas.microsoft.com/office/powerpoint/2010/main" val="38619349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0F6CE0-E658-4231-8D48-A52F2DC08FA3}"/>
              </a:ext>
            </a:extLst>
          </p:cNvPr>
          <p:cNvSpPr>
            <a:spLocks noGrp="1"/>
          </p:cNvSpPr>
          <p:nvPr>
            <p:ph type="title"/>
          </p:nvPr>
        </p:nvSpPr>
        <p:spPr>
          <a:xfrm>
            <a:off x="311700" y="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2BB58D23-B0DE-4829-92C2-E331E20BCD06}"/>
              </a:ext>
            </a:extLst>
          </p:cNvPr>
          <p:cNvSpPr>
            <a:spLocks noGrp="1"/>
          </p:cNvSpPr>
          <p:nvPr>
            <p:ph type="body" idx="1"/>
          </p:nvPr>
        </p:nvSpPr>
        <p:spPr>
          <a:xfrm>
            <a:off x="232913" y="457200"/>
            <a:ext cx="8704053" cy="4442604"/>
          </a:xfrm>
        </p:spPr>
        <p:txBody>
          <a:bodyPr>
            <a:normAutofit/>
          </a:bodyPr>
          <a:lstStyle/>
          <a:p>
            <a:pPr marL="114300" indent="0">
              <a:buNone/>
            </a:pPr>
            <a:r>
              <a:rPr lang="en-IN" sz="2000" b="1" i="1" dirty="0">
                <a:solidFill>
                  <a:schemeClr val="tx1"/>
                </a:solidFill>
                <a:latin typeface="Times New Roman" panose="02020603050405020304" pitchFamily="18" charset="0"/>
                <a:cs typeface="Times New Roman" panose="02020603050405020304" pitchFamily="18" charset="0"/>
              </a:rPr>
              <a:t>	Vertical Micro-Instructions </a:t>
            </a:r>
            <a:endParaRPr lang="en-IN" sz="2000" dirty="0">
              <a:solidFill>
                <a:schemeClr val="tx1"/>
              </a:solidFill>
              <a:latin typeface="Times New Roman" panose="02020603050405020304" pitchFamily="18" charset="0"/>
              <a:cs typeface="Times New Roman" panose="02020603050405020304" pitchFamily="18" charset="0"/>
            </a:endParaRPr>
          </a:p>
          <a:p>
            <a:pPr lvl="1"/>
            <a:r>
              <a:rPr lang="en-IN" sz="2000" dirty="0">
                <a:solidFill>
                  <a:schemeClr val="tx1"/>
                </a:solidFill>
                <a:latin typeface="Times New Roman" panose="02020603050405020304" pitchFamily="18" charset="0"/>
                <a:cs typeface="Times New Roman" panose="02020603050405020304" pitchFamily="18" charset="0"/>
              </a:rPr>
              <a:t>We can reduce the length of the horizontal micro-instruction so easily by implementing another method known as vertical micro-instructions. In this case, Most signals are not needed simultaneously and many others are mutually exclusive </a:t>
            </a:r>
          </a:p>
          <a:p>
            <a:pPr lvl="1"/>
            <a:r>
              <a:rPr lang="en-IN" sz="2000" dirty="0">
                <a:solidFill>
                  <a:schemeClr val="tx1"/>
                </a:solidFill>
                <a:latin typeface="Times New Roman" panose="02020603050405020304" pitchFamily="18" charset="0"/>
                <a:cs typeface="Times New Roman" panose="02020603050405020304" pitchFamily="18" charset="0"/>
              </a:rPr>
              <a:t>Example: </a:t>
            </a:r>
          </a:p>
        </p:txBody>
      </p:sp>
    </p:spTree>
    <p:extLst>
      <p:ext uri="{BB962C8B-B14F-4D97-AF65-F5344CB8AC3E}">
        <p14:creationId xmlns:p14="http://schemas.microsoft.com/office/powerpoint/2010/main" val="29182987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EEFEC5-0A62-4E09-A653-BC04238DBD3F}"/>
              </a:ext>
            </a:extLst>
          </p:cNvPr>
          <p:cNvSpPr>
            <a:spLocks noGrp="1"/>
          </p:cNvSpPr>
          <p:nvPr>
            <p:ph type="title"/>
          </p:nvPr>
        </p:nvSpPr>
        <p:spPr>
          <a:xfrm>
            <a:off x="311700" y="445025"/>
            <a:ext cx="8520600" cy="12959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048CEEB0-84C5-479D-84F7-ACDA1CC7F5E5}"/>
              </a:ext>
            </a:extLst>
          </p:cNvPr>
          <p:cNvPicPr>
            <a:picLocks noChangeAspect="1"/>
          </p:cNvPicPr>
          <p:nvPr/>
        </p:nvPicPr>
        <p:blipFill>
          <a:blip r:embed="rId2"/>
          <a:stretch>
            <a:fillRect/>
          </a:stretch>
        </p:blipFill>
        <p:spPr>
          <a:xfrm>
            <a:off x="691950" y="1028620"/>
            <a:ext cx="7760099" cy="3086259"/>
          </a:xfrm>
          <a:prstGeom prst="rect">
            <a:avLst/>
          </a:prstGeom>
        </p:spPr>
      </p:pic>
      <p:sp>
        <p:nvSpPr>
          <p:cNvPr id="3" name="Text Placeholder 2">
            <a:extLst>
              <a:ext uri="{FF2B5EF4-FFF2-40B4-BE49-F238E27FC236}">
                <a16:creationId xmlns:a16="http://schemas.microsoft.com/office/drawing/2014/main" xmlns="" id="{89B552B4-0FC4-4608-BFA3-513882229731}"/>
              </a:ext>
            </a:extLst>
          </p:cNvPr>
          <p:cNvSpPr>
            <a:spLocks noGrp="1"/>
          </p:cNvSpPr>
          <p:nvPr>
            <p:ph type="body" idx="1"/>
          </p:nvPr>
        </p:nvSpPr>
        <p:spPr>
          <a:xfrm>
            <a:off x="250166" y="802257"/>
            <a:ext cx="8582134" cy="3766618"/>
          </a:xfrm>
        </p:spPr>
        <p:txBody>
          <a:bodyPr/>
          <a:lstStyle/>
          <a:p>
            <a:endParaRPr lang="en-IN" dirty="0"/>
          </a:p>
        </p:txBody>
      </p:sp>
    </p:spTree>
    <p:extLst>
      <p:ext uri="{BB962C8B-B14F-4D97-AF65-F5344CB8AC3E}">
        <p14:creationId xmlns:p14="http://schemas.microsoft.com/office/powerpoint/2010/main" val="227597482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29D22-5B3D-4D86-9087-40A0D7F58B70}"/>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xmlns="" id="{1F441D6E-4C0D-41B0-BA41-BDD48BE9B7C2}"/>
              </a:ext>
            </a:extLst>
          </p:cNvPr>
          <p:cNvSpPr>
            <a:spLocks noGrp="1"/>
          </p:cNvSpPr>
          <p:nvPr>
            <p:ph type="body" idx="1"/>
          </p:nvPr>
        </p:nvSpPr>
        <p:spPr>
          <a:xfrm>
            <a:off x="311700" y="1152475"/>
            <a:ext cx="8520600" cy="3893978"/>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In a vertical microinstruction, a code is used for each action to be performed and the decoder translates this code into individual control signals. The vertical microinstruction resembles the conventional machine language format comprising one operation and a few operands. As opposed to horizontal microinstructions, the vertical microinstruction represents single micro-operations. </a:t>
            </a:r>
          </a:p>
          <a:p>
            <a:pPr algn="just"/>
            <a:r>
              <a:rPr lang="en-IN" b="1" i="1" dirty="0">
                <a:solidFill>
                  <a:schemeClr val="tx1"/>
                </a:solidFill>
                <a:latin typeface="Times New Roman" panose="02020603050405020304" pitchFamily="18" charset="0"/>
                <a:cs typeface="Times New Roman" panose="02020603050405020304" pitchFamily="18" charset="0"/>
              </a:rPr>
              <a:t>Advantage </a:t>
            </a:r>
            <a:endParaRPr lang="en-IN"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Fewer bits are required in the microinstruction. </a:t>
            </a:r>
          </a:p>
          <a:p>
            <a:pPr algn="just"/>
            <a:endParaRPr lang="en-IN" dirty="0">
              <a:solidFill>
                <a:schemeClr val="tx1"/>
              </a:solidFill>
              <a:latin typeface="Times New Roman" panose="02020603050405020304" pitchFamily="18" charset="0"/>
              <a:cs typeface="Times New Roman" panose="02020603050405020304" pitchFamily="18" charset="0"/>
            </a:endParaRPr>
          </a:p>
          <a:p>
            <a:pPr algn="just"/>
            <a:r>
              <a:rPr lang="en-IN" b="1" i="1" dirty="0">
                <a:solidFill>
                  <a:schemeClr val="tx1"/>
                </a:solidFill>
                <a:latin typeface="Times New Roman" panose="02020603050405020304" pitchFamily="18" charset="0"/>
                <a:cs typeface="Times New Roman" panose="02020603050405020304" pitchFamily="18" charset="0"/>
              </a:rPr>
              <a:t>Disadvantage </a:t>
            </a:r>
            <a:endParaRPr lang="en-IN"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Vertical approach results in slower operations speed. </a:t>
            </a:r>
          </a:p>
          <a:p>
            <a:endParaRPr lang="en-IN" dirty="0"/>
          </a:p>
        </p:txBody>
      </p:sp>
    </p:spTree>
    <p:extLst>
      <p:ext uri="{BB962C8B-B14F-4D97-AF65-F5344CB8AC3E}">
        <p14:creationId xmlns:p14="http://schemas.microsoft.com/office/powerpoint/2010/main" val="39108232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F7C5B8-ECD4-47B4-8E66-CA807FE3EEB4}"/>
              </a:ext>
            </a:extLst>
          </p:cNvPr>
          <p:cNvSpPr>
            <a:spLocks noGrp="1"/>
          </p:cNvSpPr>
          <p:nvPr>
            <p:ph type="title"/>
          </p:nvPr>
        </p:nvSpPr>
        <p:spPr/>
        <p:txBody>
          <a:bodyPr>
            <a:normAutofit fontScale="90000"/>
          </a:bodyPr>
          <a:lstStyle/>
          <a:p>
            <a:endParaRPr lang="en-IN"/>
          </a:p>
        </p:txBody>
      </p:sp>
      <p:pic>
        <p:nvPicPr>
          <p:cNvPr id="4" name="Picture 3">
            <a:extLst>
              <a:ext uri="{FF2B5EF4-FFF2-40B4-BE49-F238E27FC236}">
                <a16:creationId xmlns:a16="http://schemas.microsoft.com/office/drawing/2014/main" xmlns="" id="{703E3EBF-475B-4A95-AC14-D8992F82DB3E}"/>
              </a:ext>
            </a:extLst>
          </p:cNvPr>
          <p:cNvPicPr>
            <a:picLocks noChangeAspect="1"/>
          </p:cNvPicPr>
          <p:nvPr/>
        </p:nvPicPr>
        <p:blipFill>
          <a:blip r:embed="rId2"/>
          <a:stretch>
            <a:fillRect/>
          </a:stretch>
        </p:blipFill>
        <p:spPr>
          <a:xfrm>
            <a:off x="1114247" y="2022901"/>
            <a:ext cx="6915505" cy="2063856"/>
          </a:xfrm>
          <a:prstGeom prst="rect">
            <a:avLst/>
          </a:prstGeom>
        </p:spPr>
      </p:pic>
      <p:pic>
        <p:nvPicPr>
          <p:cNvPr id="5" name="Picture 4">
            <a:extLst>
              <a:ext uri="{FF2B5EF4-FFF2-40B4-BE49-F238E27FC236}">
                <a16:creationId xmlns:a16="http://schemas.microsoft.com/office/drawing/2014/main" xmlns="" id="{19A7E496-EDC2-4E25-82DA-CB53149ADE06}"/>
              </a:ext>
            </a:extLst>
          </p:cNvPr>
          <p:cNvPicPr>
            <a:picLocks noChangeAspect="1"/>
          </p:cNvPicPr>
          <p:nvPr/>
        </p:nvPicPr>
        <p:blipFill>
          <a:blip r:embed="rId3"/>
          <a:stretch>
            <a:fillRect/>
          </a:stretch>
        </p:blipFill>
        <p:spPr>
          <a:xfrm>
            <a:off x="163901" y="999870"/>
            <a:ext cx="8103016" cy="939848"/>
          </a:xfrm>
          <a:prstGeom prst="rect">
            <a:avLst/>
          </a:prstGeom>
        </p:spPr>
      </p:pic>
      <p:sp>
        <p:nvSpPr>
          <p:cNvPr id="3" name="Text Placeholder 2">
            <a:extLst>
              <a:ext uri="{FF2B5EF4-FFF2-40B4-BE49-F238E27FC236}">
                <a16:creationId xmlns:a16="http://schemas.microsoft.com/office/drawing/2014/main" xmlns="" id="{73664A4C-DD0A-4046-BD38-6361434735D3}"/>
              </a:ext>
            </a:extLst>
          </p:cNvPr>
          <p:cNvSpPr>
            <a:spLocks noGrp="1"/>
          </p:cNvSpPr>
          <p:nvPr>
            <p:ph type="body" idx="1"/>
          </p:nvPr>
        </p:nvSpPr>
        <p:spPr>
          <a:xfrm>
            <a:off x="311700" y="800100"/>
            <a:ext cx="8520600" cy="3768775"/>
          </a:xfrm>
        </p:spPr>
        <p:txBody>
          <a:bodyPr/>
          <a:lstStyle/>
          <a:p>
            <a:pPr lvl="2"/>
            <a:r>
              <a:rPr lang="en-US" dirty="0"/>
              <a:t>  </a:t>
            </a:r>
            <a:endParaRPr lang="en-IN" dirty="0"/>
          </a:p>
        </p:txBody>
      </p:sp>
    </p:spTree>
    <p:extLst>
      <p:ext uri="{BB962C8B-B14F-4D97-AF65-F5344CB8AC3E}">
        <p14:creationId xmlns:p14="http://schemas.microsoft.com/office/powerpoint/2010/main" val="7524469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91995-79FC-4884-ACFA-ECC94E1B6569}"/>
              </a:ext>
            </a:extLst>
          </p:cNvPr>
          <p:cNvSpPr>
            <a:spLocks noGrp="1"/>
          </p:cNvSpPr>
          <p:nvPr>
            <p:ph type="title"/>
          </p:nvPr>
        </p:nvSpPr>
        <p:spPr/>
        <p:txBody>
          <a:bodyPr>
            <a:normAutofit fontScale="90000"/>
          </a:bodyPr>
          <a:lstStyle/>
          <a:p>
            <a:r>
              <a:rPr lang="en-IN" b="1" dirty="0"/>
              <a:t>Micro-program Sequencer </a:t>
            </a:r>
            <a:endParaRPr lang="en-IN" dirty="0"/>
          </a:p>
        </p:txBody>
      </p:sp>
      <p:sp>
        <p:nvSpPr>
          <p:cNvPr id="3" name="Text Placeholder 2">
            <a:extLst>
              <a:ext uri="{FF2B5EF4-FFF2-40B4-BE49-F238E27FC236}">
                <a16:creationId xmlns:a16="http://schemas.microsoft.com/office/drawing/2014/main" xmlns="" id="{5799CBFB-9FA0-4B2C-AD6C-C0EA505B95E4}"/>
              </a:ext>
            </a:extLst>
          </p:cNvPr>
          <p:cNvSpPr>
            <a:spLocks noGrp="1"/>
          </p:cNvSpPr>
          <p:nvPr>
            <p:ph type="body" idx="1"/>
          </p:nvPr>
        </p:nvSpPr>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Micro program sequencer is a control unit which does the tasks of Micro-program sequencing.</a:t>
            </a:r>
          </a:p>
          <a:p>
            <a:r>
              <a:rPr lang="en-IN" dirty="0">
                <a:solidFill>
                  <a:schemeClr val="tx1"/>
                </a:solidFill>
                <a:latin typeface="Times New Roman" panose="02020603050405020304" pitchFamily="18" charset="0"/>
                <a:cs typeface="Times New Roman" panose="02020603050405020304" pitchFamily="18" charset="0"/>
              </a:rPr>
              <a:t>There are two important factors must be considered while designing the micro program sequencer.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o The size of the microinstruction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o The address generation time </a:t>
            </a:r>
          </a:p>
          <a:p>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Micro-program sequencer is attached to the control memory. It inspects certain bits in the microinstruction to determine the next address for control memory. A typical sequencer has the following address sequencing capabilities. </a:t>
            </a:r>
          </a:p>
        </p:txBody>
      </p:sp>
    </p:spTree>
    <p:extLst>
      <p:ext uri="{BB962C8B-B14F-4D97-AF65-F5344CB8AC3E}">
        <p14:creationId xmlns:p14="http://schemas.microsoft.com/office/powerpoint/2010/main" val="320147148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EB67A4-3A80-4C4F-8383-7BF5BEAB7A06}"/>
              </a:ext>
            </a:extLst>
          </p:cNvPr>
          <p:cNvSpPr>
            <a:spLocks noGrp="1"/>
          </p:cNvSpPr>
          <p:nvPr>
            <p:ph type="title"/>
          </p:nvPr>
        </p:nvSpPr>
        <p:spPr>
          <a:xfrm>
            <a:off x="502893" y="0"/>
            <a:ext cx="8520600" cy="12960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BCCC643D-17B2-4829-9343-C57930DC0AA3}"/>
              </a:ext>
            </a:extLst>
          </p:cNvPr>
          <p:cNvSpPr>
            <a:spLocks noGrp="1"/>
          </p:cNvSpPr>
          <p:nvPr>
            <p:ph type="body" idx="1"/>
          </p:nvPr>
        </p:nvSpPr>
        <p:spPr>
          <a:xfrm>
            <a:off x="565264" y="357446"/>
            <a:ext cx="8287791" cy="4530437"/>
          </a:xfrm>
        </p:spPr>
        <p:txBody>
          <a:bodyPr/>
          <a:lstStyle/>
          <a:p>
            <a:endParaRPr lang="en-IN" dirty="0"/>
          </a:p>
          <a:p>
            <a:pPr marL="114300" indent="0">
              <a:buNone/>
            </a:pPr>
            <a:r>
              <a:rPr lang="en-IN" dirty="0"/>
              <a:t>1</a:t>
            </a:r>
            <a:r>
              <a:rPr lang="en-IN" dirty="0">
                <a:solidFill>
                  <a:schemeClr val="tx1"/>
                </a:solidFill>
                <a:latin typeface="Times New Roman" panose="02020603050405020304" pitchFamily="18" charset="0"/>
                <a:cs typeface="Times New Roman" panose="02020603050405020304" pitchFamily="18" charset="0"/>
              </a:rPr>
              <a:t>. Increments the present address of control memory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2. Branches to an address which will be specified in the bits of microinstruction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3. Branches to a given address if a specified status bit is equal to 1.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4. Transfers control to a new address as specified by an external source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5. Has a facility for subroutines calls and returns.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The block diagram of Micro-program Sequencer is shown in the below figure. It consists of a multiplexer that selects an address from four sources and routes it into a control address register (CAR). </a:t>
            </a:r>
          </a:p>
        </p:txBody>
      </p:sp>
    </p:spTree>
    <p:extLst>
      <p:ext uri="{BB962C8B-B14F-4D97-AF65-F5344CB8AC3E}">
        <p14:creationId xmlns:p14="http://schemas.microsoft.com/office/powerpoint/2010/main" val="213675945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BD607B-1528-4765-9E24-DA4715FCEF5C}"/>
              </a:ext>
            </a:extLst>
          </p:cNvPr>
          <p:cNvSpPr>
            <a:spLocks noGrp="1"/>
          </p:cNvSpPr>
          <p:nvPr>
            <p:ph type="title"/>
          </p:nvPr>
        </p:nvSpPr>
        <p:spPr>
          <a:xfrm>
            <a:off x="386515" y="1925"/>
            <a:ext cx="8520600" cy="156017"/>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AE020CE7-F4FB-42E8-83B6-4D8183956AE1}"/>
              </a:ext>
            </a:extLst>
          </p:cNvPr>
          <p:cNvSpPr>
            <a:spLocks noGrp="1"/>
          </p:cNvSpPr>
          <p:nvPr>
            <p:ph type="body" idx="1"/>
          </p:nvPr>
        </p:nvSpPr>
        <p:spPr>
          <a:xfrm>
            <a:off x="311700" y="532015"/>
            <a:ext cx="8520600" cy="4036860"/>
          </a:xfrm>
        </p:spPr>
        <p:txBody>
          <a:bodyPr>
            <a:normAutofit/>
          </a:bodyPr>
          <a:lstStyle/>
          <a:p>
            <a:pPr algn="just"/>
            <a:r>
              <a:rPr lang="en-IN" sz="2000" dirty="0">
                <a:solidFill>
                  <a:schemeClr val="tx1"/>
                </a:solidFill>
                <a:latin typeface="Times New Roman" panose="02020603050405020304" pitchFamily="18" charset="0"/>
                <a:cs typeface="Times New Roman" panose="02020603050405020304" pitchFamily="18" charset="0"/>
              </a:rPr>
              <a:t>The output from CAR provides the address for control memory. The contents of CAR are incremented and applied to the multiplexer and to the stack register file. </a:t>
            </a:r>
          </a:p>
          <a:p>
            <a:pPr marL="114300" indent="0" algn="just">
              <a:buNone/>
            </a:pPr>
            <a:endParaRPr lang="en-IN" sz="2000" dirty="0">
              <a:solidFill>
                <a:schemeClr val="tx1"/>
              </a:solidFill>
              <a:latin typeface="Times New Roman" panose="02020603050405020304" pitchFamily="18" charset="0"/>
              <a:cs typeface="Times New Roman" panose="02020603050405020304" pitchFamily="18" charset="0"/>
            </a:endParaRPr>
          </a:p>
          <a:p>
            <a:pPr algn="just"/>
            <a:r>
              <a:rPr lang="en-IN" sz="2000" dirty="0">
                <a:solidFill>
                  <a:schemeClr val="tx1"/>
                </a:solidFill>
                <a:latin typeface="Times New Roman" panose="02020603050405020304" pitchFamily="18" charset="0"/>
                <a:cs typeface="Times New Roman" panose="02020603050405020304" pitchFamily="18" charset="0"/>
              </a:rPr>
              <a:t>The register selected in the stack is determined by stack pointer. Inputs (I0-I2) specify the operation for the sequencer and input T is the test point for a status bit. Initially the address register is cleared to zero and clock pulse synchronizes the loading into registers </a:t>
            </a:r>
          </a:p>
        </p:txBody>
      </p:sp>
    </p:spTree>
    <p:extLst>
      <p:ext uri="{BB962C8B-B14F-4D97-AF65-F5344CB8AC3E}">
        <p14:creationId xmlns:p14="http://schemas.microsoft.com/office/powerpoint/2010/main" val="30918349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44C237-7402-4EE2-8162-40366E73A4E0}"/>
              </a:ext>
            </a:extLst>
          </p:cNvPr>
          <p:cNvSpPr>
            <a:spLocks noGrp="1"/>
          </p:cNvSpPr>
          <p:nvPr>
            <p:ph type="title"/>
          </p:nvPr>
        </p:nvSpPr>
        <p:spPr>
          <a:xfrm flipV="1">
            <a:off x="311700" y="58484"/>
            <a:ext cx="8520600" cy="4571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BC80AE7A-759F-453E-BFB3-7E79A2062FA5}"/>
              </a:ext>
            </a:extLst>
          </p:cNvPr>
          <p:cNvPicPr>
            <a:picLocks noChangeAspect="1"/>
          </p:cNvPicPr>
          <p:nvPr/>
        </p:nvPicPr>
        <p:blipFill>
          <a:blip r:embed="rId2"/>
          <a:stretch>
            <a:fillRect/>
          </a:stretch>
        </p:blipFill>
        <p:spPr>
          <a:xfrm>
            <a:off x="1663550" y="549171"/>
            <a:ext cx="5816899" cy="4045158"/>
          </a:xfrm>
          <a:prstGeom prst="rect">
            <a:avLst/>
          </a:prstGeom>
        </p:spPr>
      </p:pic>
      <p:sp>
        <p:nvSpPr>
          <p:cNvPr id="3" name="Text Placeholder 2">
            <a:extLst>
              <a:ext uri="{FF2B5EF4-FFF2-40B4-BE49-F238E27FC236}">
                <a16:creationId xmlns:a16="http://schemas.microsoft.com/office/drawing/2014/main" xmlns="" id="{B82481F5-03B1-402E-8F82-02474314E77C}"/>
              </a:ext>
            </a:extLst>
          </p:cNvPr>
          <p:cNvSpPr>
            <a:spLocks noGrp="1"/>
          </p:cNvSpPr>
          <p:nvPr>
            <p:ph type="body" idx="1"/>
          </p:nvPr>
        </p:nvSpPr>
        <p:spPr>
          <a:xfrm>
            <a:off x="311700" y="295100"/>
            <a:ext cx="8699296" cy="4588627"/>
          </a:xfrm>
        </p:spPr>
        <p:txBody>
          <a:bodyPr/>
          <a:lstStyle/>
          <a:p>
            <a:endParaRPr lang="en-IN" dirty="0"/>
          </a:p>
        </p:txBody>
      </p:sp>
    </p:spTree>
    <p:extLst>
      <p:ext uri="{BB962C8B-B14F-4D97-AF65-F5344CB8AC3E}">
        <p14:creationId xmlns:p14="http://schemas.microsoft.com/office/powerpoint/2010/main" val="19965450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C7896C-5C5C-4933-9FCE-4CED5C1ECD5F}"/>
              </a:ext>
            </a:extLst>
          </p:cNvPr>
          <p:cNvSpPr>
            <a:spLocks noGrp="1"/>
          </p:cNvSpPr>
          <p:nvPr>
            <p:ph type="title"/>
          </p:nvPr>
        </p:nvSpPr>
        <p:spPr/>
        <p:txBody>
          <a:bodyPr>
            <a:normAutofit fontScale="90000"/>
          </a:bodyPr>
          <a:lstStyle/>
          <a:p>
            <a:endParaRPr lang="en-IN"/>
          </a:p>
        </p:txBody>
      </p:sp>
      <p:pic>
        <p:nvPicPr>
          <p:cNvPr id="4" name="Picture 3">
            <a:extLst>
              <a:ext uri="{FF2B5EF4-FFF2-40B4-BE49-F238E27FC236}">
                <a16:creationId xmlns:a16="http://schemas.microsoft.com/office/drawing/2014/main" xmlns="" id="{FE04CA41-8D03-4486-ADA7-6FAF20FABA94}"/>
              </a:ext>
            </a:extLst>
          </p:cNvPr>
          <p:cNvPicPr>
            <a:picLocks noChangeAspect="1"/>
          </p:cNvPicPr>
          <p:nvPr/>
        </p:nvPicPr>
        <p:blipFill>
          <a:blip r:embed="rId2"/>
          <a:stretch>
            <a:fillRect/>
          </a:stretch>
        </p:blipFill>
        <p:spPr>
          <a:xfrm>
            <a:off x="1371435" y="1438216"/>
            <a:ext cx="6401129" cy="2267067"/>
          </a:xfrm>
          <a:prstGeom prst="rect">
            <a:avLst/>
          </a:prstGeom>
        </p:spPr>
      </p:pic>
      <p:sp>
        <p:nvSpPr>
          <p:cNvPr id="3" name="Text Placeholder 2">
            <a:extLst>
              <a:ext uri="{FF2B5EF4-FFF2-40B4-BE49-F238E27FC236}">
                <a16:creationId xmlns:a16="http://schemas.microsoft.com/office/drawing/2014/main" xmlns="" id="{E7104E89-0BB1-47CF-A44C-219325B138B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672741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40D0FF-0846-497B-9F19-4FA2370EC51B}"/>
              </a:ext>
            </a:extLst>
          </p:cNvPr>
          <p:cNvSpPr>
            <a:spLocks noGrp="1"/>
          </p:cNvSpPr>
          <p:nvPr>
            <p:ph type="title"/>
          </p:nvPr>
        </p:nvSpPr>
        <p:spPr/>
        <p:txBody>
          <a:bodyPr>
            <a:normAutofit fontScale="90000"/>
          </a:bodyPr>
          <a:lstStyle/>
          <a:p>
            <a:r>
              <a:rPr lang="en-IN" b="1" dirty="0"/>
              <a:t>Micro-programmed CPU Organization </a:t>
            </a:r>
            <a:endParaRPr lang="en-IN" dirty="0"/>
          </a:p>
        </p:txBody>
      </p:sp>
      <p:sp>
        <p:nvSpPr>
          <p:cNvPr id="3" name="Text Placeholder 2">
            <a:extLst>
              <a:ext uri="{FF2B5EF4-FFF2-40B4-BE49-F238E27FC236}">
                <a16:creationId xmlns:a16="http://schemas.microsoft.com/office/drawing/2014/main" xmlns="" id="{196257CA-83C6-47FC-9D9E-4BAB6272CABC}"/>
              </a:ext>
            </a:extLst>
          </p:cNvPr>
          <p:cNvSpPr>
            <a:spLocks noGrp="1"/>
          </p:cNvSpPr>
          <p:nvPr>
            <p:ph type="body"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Digital computer consists of: Central Processing Unit(CPU), Memory unit and Input-output devices. </a:t>
            </a:r>
          </a:p>
          <a:p>
            <a:r>
              <a:rPr lang="en-IN" dirty="0">
                <a:solidFill>
                  <a:schemeClr val="tx1"/>
                </a:solidFill>
                <a:latin typeface="Times New Roman" panose="02020603050405020304" pitchFamily="18" charset="0"/>
                <a:cs typeface="Times New Roman" panose="02020603050405020304" pitchFamily="18" charset="0"/>
              </a:rPr>
              <a:t>CPU can be divides into 2 distinct and interactive sections namely </a:t>
            </a:r>
          </a:p>
          <a:p>
            <a:pPr marL="114300" indent="0">
              <a:buNone/>
            </a:pPr>
            <a:r>
              <a:rPr lang="en-IN" i="1" dirty="0">
                <a:solidFill>
                  <a:schemeClr val="tx1"/>
                </a:solidFill>
                <a:latin typeface="Times New Roman" panose="02020603050405020304" pitchFamily="18" charset="0"/>
                <a:cs typeface="Times New Roman" panose="02020603050405020304" pitchFamily="18" charset="0"/>
              </a:rPr>
              <a:t>	-processing section</a:t>
            </a:r>
            <a:r>
              <a:rPr lang="en-IN" dirty="0">
                <a:solidFill>
                  <a:schemeClr val="tx1"/>
                </a:solidFill>
                <a:latin typeface="Times New Roman" panose="02020603050405020304" pitchFamily="18" charset="0"/>
                <a:cs typeface="Times New Roman" panose="02020603050405020304" pitchFamily="18" charset="0"/>
              </a:rPr>
              <a:t>: useful device for constructing the processor section   	of a CPU and </a:t>
            </a:r>
          </a:p>
          <a:p>
            <a:pPr marL="114300" indent="0">
              <a:buNone/>
            </a:pPr>
            <a:r>
              <a:rPr lang="en-IN" i="1" dirty="0">
                <a:solidFill>
                  <a:schemeClr val="tx1"/>
                </a:solidFill>
                <a:latin typeface="Times New Roman" panose="02020603050405020304" pitchFamily="18" charset="0"/>
                <a:cs typeface="Times New Roman" panose="02020603050405020304" pitchFamily="18" charset="0"/>
              </a:rPr>
              <a:t>	-control section</a:t>
            </a:r>
            <a:r>
              <a:rPr lang="en-IN" dirty="0">
                <a:solidFill>
                  <a:schemeClr val="tx1"/>
                </a:solidFill>
                <a:latin typeface="Times New Roman" panose="02020603050405020304" pitchFamily="18" charset="0"/>
                <a:cs typeface="Times New Roman" panose="02020603050405020304" pitchFamily="18" charset="0"/>
              </a:rPr>
              <a:t>: controlling the entire units of computer,</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 </a:t>
            </a:r>
            <a:r>
              <a:rPr lang="en-IN" i="1" dirty="0">
                <a:solidFill>
                  <a:schemeClr val="tx1"/>
                </a:solidFill>
                <a:latin typeface="Times New Roman" panose="02020603050405020304" pitchFamily="18" charset="0"/>
                <a:cs typeface="Times New Roman" panose="02020603050405020304" pitchFamily="18" charset="0"/>
              </a:rPr>
              <a:t>micro-program sequencer</a:t>
            </a:r>
            <a:r>
              <a:rPr lang="en-IN" dirty="0">
                <a:solidFill>
                  <a:schemeClr val="tx1"/>
                </a:solidFill>
                <a:latin typeface="Times New Roman" panose="02020603050405020304" pitchFamily="18" charset="0"/>
                <a:cs typeface="Times New Roman" panose="02020603050405020304" pitchFamily="18" charset="0"/>
              </a:rPr>
              <a:t>: constructing a micro-program control of CPU </a:t>
            </a:r>
          </a:p>
        </p:txBody>
      </p:sp>
    </p:spTree>
    <p:extLst>
      <p:ext uri="{BB962C8B-B14F-4D97-AF65-F5344CB8AC3E}">
        <p14:creationId xmlns:p14="http://schemas.microsoft.com/office/powerpoint/2010/main" val="6353658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38A481-DDC7-4D22-9C4E-E13CA8701F2C}"/>
              </a:ext>
            </a:extLst>
          </p:cNvPr>
          <p:cNvSpPr>
            <a:spLocks noGrp="1"/>
          </p:cNvSpPr>
          <p:nvPr>
            <p:ph type="title"/>
          </p:nvPr>
        </p:nvSpPr>
        <p:spPr>
          <a:xfrm>
            <a:off x="461329" y="0"/>
            <a:ext cx="8520600" cy="166255"/>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01805E60-9A34-4A09-B8CC-8D516FF8EC7E}"/>
              </a:ext>
            </a:extLst>
          </p:cNvPr>
          <p:cNvSpPr>
            <a:spLocks noGrp="1"/>
          </p:cNvSpPr>
          <p:nvPr>
            <p:ph type="body" idx="1"/>
          </p:nvPr>
        </p:nvSpPr>
        <p:spPr>
          <a:xfrm>
            <a:off x="461328" y="440574"/>
            <a:ext cx="8258723" cy="4522123"/>
          </a:xfrm>
        </p:spPr>
        <p:txBody>
          <a:bodyPr>
            <a:normAutofit fontScale="92500" lnSpcReduction="20000"/>
          </a:bodyPr>
          <a:lstStyle/>
          <a:p>
            <a:pPr marL="114300" indent="0">
              <a:buNone/>
            </a:pPr>
            <a:r>
              <a:rPr lang="en-IN" b="1" dirty="0"/>
              <a:t>	</a:t>
            </a:r>
            <a:r>
              <a:rPr lang="en-IN" b="1" dirty="0">
                <a:solidFill>
                  <a:schemeClr val="tx1"/>
                </a:solidFill>
                <a:latin typeface="Times New Roman" panose="02020603050405020304" pitchFamily="18" charset="0"/>
                <a:cs typeface="Times New Roman" panose="02020603050405020304" pitchFamily="18" charset="0"/>
              </a:rPr>
              <a:t>Micro-programmed computer </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A computer CPU uses the micro-program sequencer. Micro-programmed computer consists of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1. Memory unit: Stores instructions and data supplied by the user through an 	input device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a:t>
            </a:r>
          </a:p>
          <a:p>
            <a:pPr marL="114300" indent="0">
              <a:buNone/>
            </a:pPr>
            <a:r>
              <a:rPr lang="en-IN" dirty="0">
                <a:solidFill>
                  <a:schemeClr val="tx1"/>
                </a:solidFill>
                <a:latin typeface="Times New Roman" panose="02020603050405020304" pitchFamily="18" charset="0"/>
                <a:cs typeface="Times New Roman" panose="02020603050405020304" pitchFamily="18" charset="0"/>
              </a:rPr>
              <a:t>	2. Two processor unit: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i="1" dirty="0">
                <a:solidFill>
                  <a:schemeClr val="tx1"/>
                </a:solidFill>
                <a:latin typeface="Times New Roman" panose="02020603050405020304" pitchFamily="18" charset="0"/>
                <a:cs typeface="Times New Roman" panose="02020603050405020304" pitchFamily="18" charset="0"/>
              </a:rPr>
              <a:t>	-Data processor</a:t>
            </a:r>
            <a:r>
              <a:rPr lang="en-IN" dirty="0">
                <a:solidFill>
                  <a:schemeClr val="tx1"/>
                </a:solidFill>
                <a:latin typeface="Times New Roman" panose="02020603050405020304" pitchFamily="18" charset="0"/>
                <a:cs typeface="Times New Roman" panose="02020603050405020304" pitchFamily="18" charset="0"/>
              </a:rPr>
              <a:t>: Manipulates data &amp; </a:t>
            </a:r>
          </a:p>
          <a:p>
            <a:pPr marL="114300" indent="0">
              <a:buNone/>
            </a:pPr>
            <a:r>
              <a:rPr lang="en-IN" i="1" dirty="0">
                <a:solidFill>
                  <a:schemeClr val="tx1"/>
                </a:solidFill>
                <a:latin typeface="Times New Roman" panose="02020603050405020304" pitchFamily="18" charset="0"/>
                <a:cs typeface="Times New Roman" panose="02020603050405020304" pitchFamily="18" charset="0"/>
              </a:rPr>
              <a:t>	-Address 	processor</a:t>
            </a:r>
            <a:r>
              <a:rPr lang="en-IN" dirty="0">
                <a:solidFill>
                  <a:schemeClr val="tx1"/>
                </a:solidFill>
                <a:latin typeface="Times New Roman" panose="02020603050405020304" pitchFamily="18" charset="0"/>
                <a:cs typeface="Times New Roman" panose="02020603050405020304" pitchFamily="18" charset="0"/>
              </a:rPr>
              <a:t>: Manipulates the address information received from memory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	3. A Micro-program sequencer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	4. A control memory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pPr marL="114300" indent="0">
              <a:buNone/>
            </a:pPr>
            <a:r>
              <a:rPr lang="en-IN" dirty="0">
                <a:solidFill>
                  <a:schemeClr val="tx1"/>
                </a:solidFill>
                <a:latin typeface="Times New Roman" panose="02020603050405020304" pitchFamily="18" charset="0"/>
                <a:cs typeface="Times New Roman" panose="02020603050405020304" pitchFamily="18" charset="0"/>
              </a:rPr>
              <a:t>	5. Other digital functions </a:t>
            </a:r>
          </a:p>
          <a:p>
            <a:endParaRPr lang="en-IN" dirty="0"/>
          </a:p>
        </p:txBody>
      </p:sp>
    </p:spTree>
    <p:extLst>
      <p:ext uri="{BB962C8B-B14F-4D97-AF65-F5344CB8AC3E}">
        <p14:creationId xmlns:p14="http://schemas.microsoft.com/office/powerpoint/2010/main" val="160922777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B12AFF-3161-4346-BC17-9E0E4AC5625D}"/>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xmlns="" id="{17E12A0E-9AD1-4B4D-A837-0964FA39F751}"/>
              </a:ext>
            </a:extLst>
          </p:cNvPr>
          <p:cNvSpPr>
            <a:spLocks noGrp="1"/>
          </p:cNvSpPr>
          <p:nvPr>
            <p:ph type="body"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An instruction extracted from memory unit during fetch cycle goes into instruction register.</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Code transformation constitutes a mapping function that is needed to convert the operation code bits of an instruction into a starting address for the control memory and is implemented with ROM or PLA. </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Mapping concept provides flexibility for adding instructions or micro-operations for control memory as need arises. The address generated in code transformation mapping function is applied to the external address (EXA) input of the sequencing. </a:t>
            </a:r>
          </a:p>
        </p:txBody>
      </p:sp>
    </p:spTree>
    <p:extLst>
      <p:ext uri="{BB962C8B-B14F-4D97-AF65-F5344CB8AC3E}">
        <p14:creationId xmlns:p14="http://schemas.microsoft.com/office/powerpoint/2010/main" val="29872427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6E8689-355D-4686-86AA-4C2E255CAF1A}"/>
              </a:ext>
            </a:extLst>
          </p:cNvPr>
          <p:cNvSpPr>
            <a:spLocks noGrp="1"/>
          </p:cNvSpPr>
          <p:nvPr>
            <p:ph type="title"/>
          </p:nvPr>
        </p:nvSpPr>
        <p:spPr>
          <a:xfrm>
            <a:off x="311700" y="253832"/>
            <a:ext cx="8520600" cy="62051"/>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0DDD0C30-0716-4FB4-A1D7-7967C47E5707}"/>
              </a:ext>
            </a:extLst>
          </p:cNvPr>
          <p:cNvSpPr>
            <a:spLocks noGrp="1"/>
          </p:cNvSpPr>
          <p:nvPr>
            <p:ph type="body" idx="1"/>
          </p:nvPr>
        </p:nvSpPr>
        <p:spPr>
          <a:xfrm>
            <a:off x="465512" y="419100"/>
            <a:ext cx="8366787" cy="4470568"/>
          </a:xfrm>
        </p:spPr>
        <p:txBody>
          <a:bodyPr>
            <a:normAutofit fontScale="92500" lnSpcReduction="20000"/>
          </a:bodyPr>
          <a:lstStyle/>
          <a:p>
            <a:pPr algn="just"/>
            <a:r>
              <a:rPr lang="en-IN" dirty="0">
                <a:solidFill>
                  <a:schemeClr val="tx1"/>
                </a:solidFill>
                <a:latin typeface="Times New Roman" panose="02020603050405020304" pitchFamily="18" charset="0"/>
                <a:cs typeface="Times New Roman" panose="02020603050405020304" pitchFamily="18" charset="0"/>
              </a:rPr>
              <a:t>Micro-program control unit consists of </a:t>
            </a: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1. </a:t>
            </a:r>
            <a:r>
              <a:rPr lang="en-IN" i="1" dirty="0">
                <a:solidFill>
                  <a:schemeClr val="tx1"/>
                </a:solidFill>
                <a:latin typeface="Times New Roman" panose="02020603050405020304" pitchFamily="18" charset="0"/>
                <a:cs typeface="Times New Roman" panose="02020603050405020304" pitchFamily="18" charset="0"/>
              </a:rPr>
              <a:t>The sequencer</a:t>
            </a:r>
            <a:r>
              <a:rPr lang="en-IN" dirty="0">
                <a:solidFill>
                  <a:schemeClr val="tx1"/>
                </a:solidFill>
                <a:latin typeface="Times New Roman" panose="02020603050405020304" pitchFamily="18" charset="0"/>
                <a:cs typeface="Times New Roman" panose="02020603050405020304" pitchFamily="18" charset="0"/>
              </a:rPr>
              <a:t>: Generates next address </a:t>
            </a: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2. </a:t>
            </a:r>
            <a:r>
              <a:rPr lang="en-IN" i="1" dirty="0">
                <a:solidFill>
                  <a:schemeClr val="tx1"/>
                </a:solidFill>
                <a:latin typeface="Times New Roman" panose="02020603050405020304" pitchFamily="18" charset="0"/>
                <a:cs typeface="Times New Roman" panose="02020603050405020304" pitchFamily="18" charset="0"/>
              </a:rPr>
              <a:t>A control memory: </a:t>
            </a:r>
            <a:r>
              <a:rPr lang="en-IN" dirty="0">
                <a:solidFill>
                  <a:schemeClr val="tx1"/>
                </a:solidFill>
                <a:latin typeface="Times New Roman" panose="02020603050405020304" pitchFamily="18" charset="0"/>
                <a:cs typeface="Times New Roman" panose="02020603050405020304" pitchFamily="18" charset="0"/>
              </a:rPr>
              <a:t>Reads the next microinstruction while present 	microinstruction are 	being executed in the other units of the CPU and for storing 	microinstructions </a:t>
            </a:r>
          </a:p>
          <a:p>
            <a:pPr marL="114300" indent="0" algn="just">
              <a:buNone/>
            </a:pPr>
            <a:r>
              <a:rPr lang="en-IN" dirty="0">
                <a:solidFill>
                  <a:schemeClr val="tx1"/>
                </a:solidFill>
                <a:latin typeface="Times New Roman" panose="02020603050405020304" pitchFamily="18" charset="0"/>
                <a:cs typeface="Times New Roman" panose="02020603050405020304" pitchFamily="18" charset="0"/>
              </a:rPr>
              <a:t>	3. </a:t>
            </a:r>
            <a:r>
              <a:rPr lang="en-IN" i="1" dirty="0">
                <a:solidFill>
                  <a:schemeClr val="tx1"/>
                </a:solidFill>
                <a:latin typeface="Times New Roman" panose="02020603050405020304" pitchFamily="18" charset="0"/>
                <a:cs typeface="Times New Roman" panose="02020603050405020304" pitchFamily="18" charset="0"/>
              </a:rPr>
              <a:t>A multiplexer: </a:t>
            </a:r>
            <a:r>
              <a:rPr lang="en-IN" dirty="0">
                <a:solidFill>
                  <a:schemeClr val="tx1"/>
                </a:solidFill>
                <a:latin typeface="Times New Roman" panose="02020603050405020304" pitchFamily="18" charset="0"/>
                <a:cs typeface="Times New Roman" panose="02020603050405020304" pitchFamily="18" charset="0"/>
              </a:rPr>
              <a:t>Selects one of the many status bits and applies to the T(test) input 	of the sequencer. One of the input of the multiplexer is always I to provide an 	unconditional branch operation </a:t>
            </a:r>
          </a:p>
          <a:p>
            <a:pPr algn="just"/>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A pipeline register: speed up the control operation, Allows next address to be generated and the output of control memory to change while the control word in pipeline register initiates the micro-operations given by present microinstruction, It’s not always necessary. </a:t>
            </a:r>
          </a:p>
          <a:p>
            <a:pPr algn="just"/>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The output of control memory can go directly to the control inputs of the various units in the CPU </a:t>
            </a:r>
          </a:p>
          <a:p>
            <a:pPr marL="114300" indent="0" algn="just">
              <a:buNone/>
            </a:pPr>
            <a:endParaRPr lang="en-IN" dirty="0"/>
          </a:p>
          <a:p>
            <a:endParaRPr lang="en-IN" dirty="0"/>
          </a:p>
        </p:txBody>
      </p:sp>
    </p:spTree>
    <p:extLst>
      <p:ext uri="{BB962C8B-B14F-4D97-AF65-F5344CB8AC3E}">
        <p14:creationId xmlns:p14="http://schemas.microsoft.com/office/powerpoint/2010/main" val="38432752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F2E996-8741-4985-ACCA-C4C3B7A8039E}"/>
              </a:ext>
            </a:extLst>
          </p:cNvPr>
          <p:cNvSpPr>
            <a:spLocks noGrp="1"/>
          </p:cNvSpPr>
          <p:nvPr>
            <p:ph type="title"/>
          </p:nvPr>
        </p:nvSpPr>
        <p:spPr>
          <a:xfrm>
            <a:off x="369889" y="104203"/>
            <a:ext cx="8520600" cy="129600"/>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809BDEC5-73FA-490A-98AE-8ADE4808DD11}"/>
              </a:ext>
            </a:extLst>
          </p:cNvPr>
          <p:cNvPicPr>
            <a:picLocks noChangeAspect="1"/>
          </p:cNvPicPr>
          <p:nvPr/>
        </p:nvPicPr>
        <p:blipFill>
          <a:blip r:embed="rId2"/>
          <a:stretch>
            <a:fillRect/>
          </a:stretch>
        </p:blipFill>
        <p:spPr>
          <a:xfrm>
            <a:off x="2079527" y="0"/>
            <a:ext cx="4984946" cy="5143500"/>
          </a:xfrm>
          <a:prstGeom prst="rect">
            <a:avLst/>
          </a:prstGeom>
        </p:spPr>
      </p:pic>
      <p:sp>
        <p:nvSpPr>
          <p:cNvPr id="3" name="Text Placeholder 2">
            <a:extLst>
              <a:ext uri="{FF2B5EF4-FFF2-40B4-BE49-F238E27FC236}">
                <a16:creationId xmlns:a16="http://schemas.microsoft.com/office/drawing/2014/main" xmlns="" id="{3368D3B2-1975-46A2-B892-CC8F8BC040C7}"/>
              </a:ext>
            </a:extLst>
          </p:cNvPr>
          <p:cNvSpPr>
            <a:spLocks noGrp="1"/>
          </p:cNvSpPr>
          <p:nvPr>
            <p:ph type="body" idx="1"/>
          </p:nvPr>
        </p:nvSpPr>
        <p:spPr>
          <a:xfrm>
            <a:off x="253511" y="205740"/>
            <a:ext cx="8578789" cy="4937759"/>
          </a:xfrm>
        </p:spPr>
        <p:txBody>
          <a:bodyPr/>
          <a:lstStyle/>
          <a:p>
            <a:endParaRPr lang="en-IN" dirty="0"/>
          </a:p>
        </p:txBody>
      </p:sp>
    </p:spTree>
    <p:extLst>
      <p:ext uri="{BB962C8B-B14F-4D97-AF65-F5344CB8AC3E}">
        <p14:creationId xmlns:p14="http://schemas.microsoft.com/office/powerpoint/2010/main" val="3053856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43B61E96-4831-49F2-82AA-2D7336733CE7}"/>
              </a:ext>
            </a:extLst>
          </p:cNvPr>
          <p:cNvPicPr>
            <a:picLocks noChangeAspect="1"/>
          </p:cNvPicPr>
          <p:nvPr/>
        </p:nvPicPr>
        <p:blipFill>
          <a:blip r:embed="rId2"/>
          <a:stretch>
            <a:fillRect/>
          </a:stretch>
        </p:blipFill>
        <p:spPr>
          <a:xfrm>
            <a:off x="2203994" y="887569"/>
            <a:ext cx="4366274" cy="2457210"/>
          </a:xfrm>
          <a:prstGeom prst="rect">
            <a:avLst/>
          </a:prstGeom>
        </p:spPr>
      </p:pic>
    </p:spTree>
    <p:extLst>
      <p:ext uri="{BB962C8B-B14F-4D97-AF65-F5344CB8AC3E}">
        <p14:creationId xmlns:p14="http://schemas.microsoft.com/office/powerpoint/2010/main" val="80096853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3E6D5E-546F-4E50-B6AC-A4638531E16E}"/>
              </a:ext>
            </a:extLst>
          </p:cNvPr>
          <p:cNvSpPr>
            <a:spLocks noGrp="1"/>
          </p:cNvSpPr>
          <p:nvPr>
            <p:ph type="title"/>
          </p:nvPr>
        </p:nvSpPr>
        <p:spPr>
          <a:xfrm>
            <a:off x="311700" y="445025"/>
            <a:ext cx="8520600" cy="69325"/>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xmlns="" id="{2D717735-C062-485F-A71B-6F91D8FB7BD4}"/>
              </a:ext>
            </a:extLst>
          </p:cNvPr>
          <p:cNvSpPr>
            <a:spLocks noGrp="1"/>
          </p:cNvSpPr>
          <p:nvPr>
            <p:ph type="body" idx="1"/>
          </p:nvPr>
        </p:nvSpPr>
        <p:spPr>
          <a:xfrm>
            <a:off x="311700" y="641350"/>
            <a:ext cx="8520600" cy="3927525"/>
          </a:xfrm>
        </p:spPr>
        <p:txBody>
          <a:bodyPr>
            <a:normAutofit fontScale="85000" lnSpcReduction="10000"/>
          </a:bodyPr>
          <a:lstStyle/>
          <a:p>
            <a:pPr algn="just"/>
            <a:r>
              <a:rPr lang="en-IN" dirty="0">
                <a:solidFill>
                  <a:schemeClr val="tx1"/>
                </a:solidFill>
                <a:latin typeface="Times New Roman" panose="02020603050405020304" pitchFamily="18" charset="0"/>
                <a:cs typeface="Times New Roman" panose="02020603050405020304" pitchFamily="18" charset="0"/>
              </a:rPr>
              <a:t>Microinstruction format contains six fields: First 3 fields(I,SL, BRA) provide information to the sequencer to determine the next address for control memory. </a:t>
            </a:r>
          </a:p>
          <a:p>
            <a:pPr algn="just"/>
            <a:endParaRPr lang="en-IN" dirty="0">
              <a:solidFill>
                <a:schemeClr val="tx1"/>
              </a:solidFill>
              <a:latin typeface="Times New Roman" panose="02020603050405020304" pitchFamily="18" charset="0"/>
              <a:cs typeface="Times New Roman" panose="02020603050405020304" pitchFamily="18" charset="0"/>
            </a:endParaRPr>
          </a:p>
          <a:p>
            <a:pPr lvl="1" algn="just"/>
            <a:r>
              <a:rPr lang="en-IN" sz="1700" dirty="0">
                <a:solidFill>
                  <a:schemeClr val="tx1"/>
                </a:solidFill>
                <a:latin typeface="Times New Roman" panose="02020603050405020304" pitchFamily="18" charset="0"/>
                <a:cs typeface="Times New Roman" panose="02020603050405020304" pitchFamily="18" charset="0"/>
              </a:rPr>
              <a:t>[I field (3 bits): Supplies input information for the sequencer, SL field: Selects a status bit for the multiplexer, BRA field: Address field of microinstruction and supplies a branch address (BRA) to the sequencer.] </a:t>
            </a:r>
          </a:p>
          <a:p>
            <a:pPr marL="114300" indent="0" algn="just">
              <a:buNone/>
            </a:pPr>
            <a:endParaRPr lang="en-IN" sz="1700" dirty="0">
              <a:solidFill>
                <a:schemeClr val="tx1"/>
              </a:solidFill>
              <a:latin typeface="Times New Roman" panose="02020603050405020304" pitchFamily="18" charset="0"/>
              <a:cs typeface="Times New Roman" panose="02020603050405020304" pitchFamily="18" charset="0"/>
            </a:endParaRPr>
          </a:p>
          <a:p>
            <a:pPr lvl="1" algn="just"/>
            <a:r>
              <a:rPr lang="en-IN" sz="1700" dirty="0">
                <a:solidFill>
                  <a:schemeClr val="tx1"/>
                </a:solidFill>
                <a:latin typeface="Times New Roman" panose="02020603050405020304" pitchFamily="18" charset="0"/>
                <a:cs typeface="Times New Roman" panose="02020603050405020304" pitchFamily="18" charset="0"/>
              </a:rPr>
              <a:t>The next 3 fields (MC, PS, DF) are for controlling micro-operations in the processor and the memory units</a:t>
            </a:r>
          </a:p>
          <a:p>
            <a:pPr algn="just"/>
            <a:endParaRPr lang="en-IN" sz="1700" dirty="0">
              <a:solidFill>
                <a:schemeClr val="tx1"/>
              </a:solidFill>
              <a:latin typeface="Times New Roman" panose="02020603050405020304" pitchFamily="18" charset="0"/>
              <a:cs typeface="Times New Roman" panose="02020603050405020304" pitchFamily="18" charset="0"/>
            </a:endParaRPr>
          </a:p>
          <a:p>
            <a:pPr lvl="1" algn="just"/>
            <a:r>
              <a:rPr lang="en-IN" sz="1700" dirty="0">
                <a:solidFill>
                  <a:schemeClr val="tx1"/>
                </a:solidFill>
                <a:latin typeface="Times New Roman" panose="02020603050405020304" pitchFamily="18" charset="0"/>
                <a:cs typeface="Times New Roman" panose="02020603050405020304" pitchFamily="18" charset="0"/>
              </a:rPr>
              <a:t>[Memory control (MC) field: Controls the address processor and the read and write operations in the memory unit. The processor select(PS) field: Controls the operations in the data processor unit. The data field(DF): Used to introduce constants into the processor] </a:t>
            </a:r>
          </a:p>
          <a:p>
            <a:pPr marL="114300" indent="0" algn="just">
              <a:buNone/>
            </a:pP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Output from data field may be used to set up control registers and introduce data in processor registers. </a:t>
            </a:r>
          </a:p>
        </p:txBody>
      </p:sp>
    </p:spTree>
    <p:extLst>
      <p:ext uri="{BB962C8B-B14F-4D97-AF65-F5344CB8AC3E}">
        <p14:creationId xmlns:p14="http://schemas.microsoft.com/office/powerpoint/2010/main" val="126012049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2A9C37-FEA5-494E-A388-44083D6DAF2D}"/>
              </a:ext>
            </a:extLst>
          </p:cNvPr>
          <p:cNvSpPr>
            <a:spLocks noGrp="1"/>
          </p:cNvSpPr>
          <p:nvPr>
            <p:ph type="title"/>
          </p:nvPr>
        </p:nvSpPr>
        <p:spPr>
          <a:xfrm>
            <a:off x="311700" y="79265"/>
            <a:ext cx="8520600" cy="572700"/>
          </a:xfrm>
        </p:spPr>
        <p:txBody>
          <a:bodyPr>
            <a:normAutofit/>
          </a:bodyPr>
          <a:lstStyle/>
          <a:p>
            <a:r>
              <a:rPr lang="en-US" sz="2000" dirty="0">
                <a:latin typeface="Times New Roman" panose="02020603050405020304" pitchFamily="18" charset="0"/>
                <a:cs typeface="Times New Roman" panose="02020603050405020304" pitchFamily="18" charset="0"/>
              </a:rPr>
              <a:t>Control of Processor Unit</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4AB022F0-06BF-4D36-A395-43DF8B946D24}"/>
              </a:ext>
            </a:extLst>
          </p:cNvPr>
          <p:cNvPicPr>
            <a:picLocks noChangeAspect="1"/>
          </p:cNvPicPr>
          <p:nvPr/>
        </p:nvPicPr>
        <p:blipFill>
          <a:blip r:embed="rId2"/>
          <a:stretch>
            <a:fillRect/>
          </a:stretch>
        </p:blipFill>
        <p:spPr>
          <a:xfrm>
            <a:off x="545432" y="580922"/>
            <a:ext cx="8125326" cy="3981655"/>
          </a:xfrm>
          <a:prstGeom prst="rect">
            <a:avLst/>
          </a:prstGeom>
        </p:spPr>
      </p:pic>
    </p:spTree>
    <p:extLst>
      <p:ext uri="{BB962C8B-B14F-4D97-AF65-F5344CB8AC3E}">
        <p14:creationId xmlns:p14="http://schemas.microsoft.com/office/powerpoint/2010/main" val="393981666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4A8C3E-572D-47E0-A233-E2E14D1C29E9}"/>
              </a:ext>
            </a:extLst>
          </p:cNvPr>
          <p:cNvSpPr>
            <a:spLocks noGrp="1"/>
          </p:cNvSpPr>
          <p:nvPr>
            <p:ph type="title"/>
          </p:nvPr>
        </p:nvSpPr>
        <p:spPr>
          <a:xfrm>
            <a:off x="311700" y="95891"/>
            <a:ext cx="8520600" cy="129599"/>
          </a:xfrm>
        </p:spPr>
        <p:txBody>
          <a:bodyPr>
            <a:normAutofit fontScale="90000"/>
          </a:bodyPr>
          <a:lstStyle/>
          <a:p>
            <a:endParaRPr lang="en-IN" dirty="0"/>
          </a:p>
        </p:txBody>
      </p:sp>
      <p:pic>
        <p:nvPicPr>
          <p:cNvPr id="4" name="Picture 3">
            <a:extLst>
              <a:ext uri="{FF2B5EF4-FFF2-40B4-BE49-F238E27FC236}">
                <a16:creationId xmlns:a16="http://schemas.microsoft.com/office/drawing/2014/main" xmlns="" id="{EC3A14CB-B82F-4328-AAAE-82872BCFC3D2}"/>
              </a:ext>
            </a:extLst>
          </p:cNvPr>
          <p:cNvPicPr>
            <a:picLocks noChangeAspect="1"/>
          </p:cNvPicPr>
          <p:nvPr/>
        </p:nvPicPr>
        <p:blipFill>
          <a:blip r:embed="rId2"/>
          <a:stretch>
            <a:fillRect/>
          </a:stretch>
        </p:blipFill>
        <p:spPr>
          <a:xfrm>
            <a:off x="1342663" y="1009167"/>
            <a:ext cx="6458673" cy="3125165"/>
          </a:xfrm>
          <a:prstGeom prst="rect">
            <a:avLst/>
          </a:prstGeom>
        </p:spPr>
      </p:pic>
      <p:sp>
        <p:nvSpPr>
          <p:cNvPr id="3" name="Text Placeholder 2">
            <a:extLst>
              <a:ext uri="{FF2B5EF4-FFF2-40B4-BE49-F238E27FC236}">
                <a16:creationId xmlns:a16="http://schemas.microsoft.com/office/drawing/2014/main" xmlns="" id="{22CC8409-97E1-470B-8451-A6649D4D6BB3}"/>
              </a:ext>
            </a:extLst>
          </p:cNvPr>
          <p:cNvSpPr>
            <a:spLocks noGrp="1"/>
          </p:cNvSpPr>
          <p:nvPr>
            <p:ph type="body" idx="1"/>
          </p:nvPr>
        </p:nvSpPr>
        <p:spPr>
          <a:xfrm>
            <a:off x="311699" y="507076"/>
            <a:ext cx="8591231" cy="4322619"/>
          </a:xfrm>
        </p:spPr>
        <p:txBody>
          <a:bodyPr/>
          <a:lstStyle/>
          <a:p>
            <a:endParaRPr lang="en-IN" dirty="0"/>
          </a:p>
        </p:txBody>
      </p:sp>
    </p:spTree>
    <p:extLst>
      <p:ext uri="{BB962C8B-B14F-4D97-AF65-F5344CB8AC3E}">
        <p14:creationId xmlns:p14="http://schemas.microsoft.com/office/powerpoint/2010/main" val="4259984600"/>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2281</TotalTime>
  <Words>2009</Words>
  <Application>Microsoft Office PowerPoint</Application>
  <PresentationFormat>On-screen Show (16:9)</PresentationFormat>
  <Paragraphs>203</Paragraphs>
  <Slides>62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Times New Roman</vt:lpstr>
      <vt:lpstr>Simple Light</vt:lpstr>
      <vt:lpstr>Module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HARD WIRED CONTROL </vt:lpstr>
      <vt:lpstr>PowerPoint Presentation</vt:lpstr>
      <vt:lpstr>  Statement of the problem </vt:lpstr>
      <vt:lpstr>PowerPoint Presentation</vt:lpstr>
      <vt:lpstr>PowerPoint Presentation</vt:lpstr>
      <vt:lpstr> Derivation of the Algorithm </vt:lpstr>
      <vt:lpstr>PowerPoint Presentation</vt:lpstr>
      <vt:lpstr>PowerPoint Presentation</vt:lpstr>
      <vt:lpstr>PowerPoint Presentation</vt:lpstr>
      <vt:lpstr> Data Processor Specification </vt:lpstr>
      <vt:lpstr>PowerPoint Presentation</vt:lpstr>
      <vt:lpstr>PowerPoint Presentation</vt:lpstr>
      <vt:lpstr>Control State Diagram </vt:lpstr>
      <vt:lpstr>PowerPoint Presentation</vt:lpstr>
      <vt:lpstr>PowerPoint Presentation</vt:lpstr>
      <vt:lpstr>PowerPoint Presentation</vt:lpstr>
      <vt:lpstr>Design of Hardwired Control </vt:lpstr>
      <vt:lpstr>PowerPoint Presentation</vt:lpstr>
      <vt:lpstr>PowerPoint Presentation</vt:lpstr>
      <vt:lpstr>PowerPoint Presentation</vt:lpstr>
      <vt:lpstr>PowerPoint Presentation</vt:lpstr>
      <vt:lpstr>             MICRO-PROGRAM CONTROL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Micro-program Sequencer </vt:lpstr>
      <vt:lpstr>PowerPoint Presentation</vt:lpstr>
      <vt:lpstr>PowerPoint Presentation</vt:lpstr>
      <vt:lpstr>PowerPoint Presentation</vt:lpstr>
      <vt:lpstr>PowerPoint Presentation</vt:lpstr>
      <vt:lpstr>Micro-programmed CPU Organization </vt:lpstr>
      <vt:lpstr>PowerPoint Presentation</vt:lpstr>
      <vt:lpstr>PowerPoint Presentation</vt:lpstr>
      <vt:lpstr>PowerPoint Presentation</vt:lpstr>
      <vt:lpstr>PowerPoint Presentation</vt:lpstr>
      <vt:lpstr>PowerPoint Presentation</vt:lpstr>
      <vt:lpstr>PowerPoint Presentation</vt:lpstr>
      <vt:lpstr>Control of Processor Unit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cp:lastModifiedBy>ASUS</cp:lastModifiedBy>
  <cp:revision>39</cp:revision>
  <dcterms:modified xsi:type="dcterms:W3CDTF">2024-04-29T06:56:06Z</dcterms:modified>
</cp:coreProperties>
</file>