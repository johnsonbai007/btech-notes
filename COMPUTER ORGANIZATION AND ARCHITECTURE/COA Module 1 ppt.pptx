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64"/>
  </p:notesMasterIdLst>
  <p:sldIdLst>
    <p:sldId id="256" r:id="rId2"/>
    <p:sldId id="257" r:id="rId3"/>
    <p:sldId id="258" r:id="rId4"/>
    <p:sldId id="259" r:id="rId5"/>
    <p:sldId id="260" r:id="rId6"/>
    <p:sldId id="261" r:id="rId7"/>
    <p:sldId id="262" r:id="rId8"/>
    <p:sldId id="263" r:id="rId9"/>
    <p:sldId id="264" r:id="rId10"/>
    <p:sldId id="265" r:id="rId11"/>
    <p:sldId id="266" r:id="rId12"/>
    <p:sldId id="268" r:id="rId13"/>
    <p:sldId id="267" r:id="rId14"/>
    <p:sldId id="269" r:id="rId15"/>
    <p:sldId id="344" r:id="rId16"/>
    <p:sldId id="346" r:id="rId17"/>
    <p:sldId id="347" r:id="rId18"/>
    <p:sldId id="348" r:id="rId19"/>
    <p:sldId id="349" r:id="rId20"/>
    <p:sldId id="352" r:id="rId21"/>
    <p:sldId id="354" r:id="rId22"/>
    <p:sldId id="357" r:id="rId23"/>
    <p:sldId id="359" r:id="rId24"/>
    <p:sldId id="360" r:id="rId25"/>
    <p:sldId id="270" r:id="rId26"/>
    <p:sldId id="271" r:id="rId27"/>
    <p:sldId id="364" r:id="rId28"/>
    <p:sldId id="365" r:id="rId29"/>
    <p:sldId id="293" r:id="rId30"/>
    <p:sldId id="272" r:id="rId31"/>
    <p:sldId id="273" r:id="rId32"/>
    <p:sldId id="274" r:id="rId33"/>
    <p:sldId id="275" r:id="rId34"/>
    <p:sldId id="276" r:id="rId35"/>
    <p:sldId id="277" r:id="rId36"/>
    <p:sldId id="278" r:id="rId37"/>
    <p:sldId id="367" r:id="rId38"/>
    <p:sldId id="279" r:id="rId39"/>
    <p:sldId id="280" r:id="rId40"/>
    <p:sldId id="369" r:id="rId41"/>
    <p:sldId id="281" r:id="rId42"/>
    <p:sldId id="282" r:id="rId43"/>
    <p:sldId id="283" r:id="rId44"/>
    <p:sldId id="284" r:id="rId45"/>
    <p:sldId id="285" r:id="rId46"/>
    <p:sldId id="286" r:id="rId47"/>
    <p:sldId id="287" r:id="rId48"/>
    <p:sldId id="409" r:id="rId49"/>
    <p:sldId id="289" r:id="rId50"/>
    <p:sldId id="290" r:id="rId51"/>
    <p:sldId id="410" r:id="rId52"/>
    <p:sldId id="291" r:id="rId53"/>
    <p:sldId id="411" r:id="rId54"/>
    <p:sldId id="393" r:id="rId55"/>
    <p:sldId id="414" r:id="rId56"/>
    <p:sldId id="416" r:id="rId57"/>
    <p:sldId id="417" r:id="rId58"/>
    <p:sldId id="418" r:id="rId59"/>
    <p:sldId id="419" r:id="rId60"/>
    <p:sldId id="412" r:id="rId61"/>
    <p:sldId id="420" r:id="rId62"/>
    <p:sldId id="421" r:id="rId63"/>
  </p:sldIdLst>
  <p:sldSz cx="12192000" cy="6858000"/>
  <p:notesSz cx="6858000" cy="9144000"/>
  <p:embeddedFontLst>
    <p:embeddedFont>
      <p:font typeface="Calibri" panose="020F0502020204030204" pitchFamily="34" charset="0"/>
      <p:regular r:id="rId65"/>
      <p:bold r:id="rId66"/>
      <p:italic r:id="rId67"/>
      <p:boldItalic r:id="rId68"/>
    </p:embeddedFont>
    <p:embeddedFont>
      <p:font typeface="Noto Sans Symbols" panose="020B0604020202020204" charset="0"/>
      <p:regular r:id="rId69"/>
      <p:bold r:id="rId7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1" roundtripDataSignature="AMtx7mjN7rNprpTelnQ4HEb1dq2twIc8U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2.fntdata"/><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font" Target="fonts/font5.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3.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6.fntdata"/><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1.fntdata"/><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 name="Google Shape;9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 name="Google Shape;98;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9" name="Google Shape;109;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4" name="Google Shape;114;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 name="Google Shape;121;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6" name="Google Shape;126;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1" name="Google Shape;13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0" name="Google Shape;140;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5" name="Google Shape;145;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1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0" name="Google Shape;160;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1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4" name="Google Shape;154;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 name="Google Shape;165;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1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0" name="Google Shape;170;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1" name="Google Shape;181;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7" name="Google Shape;187;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3" name="Google Shape;193;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2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99" name="Google Shape;199;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4" name="Google Shape;204;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2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0" name="Google Shape;210;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6" name="Google Shape;216;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2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6" name="Google Shape;216;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857053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2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1" name="Google Shape;221;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7" name="Google Shape;227;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p2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7" name="Google Shape;227;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332005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41</a:t>
            </a:fld>
            <a:endParaRPr sz="1200" b="0" i="0" u="none" strike="noStrike" cap="none">
              <a:solidFill>
                <a:schemeClr val="dk1"/>
              </a:solidFill>
              <a:latin typeface="Arial"/>
              <a:ea typeface="Arial"/>
              <a:cs typeface="Arial"/>
              <a:sym typeface="Arial"/>
            </a:endParaRPr>
          </a:p>
        </p:txBody>
      </p:sp>
      <p:sp>
        <p:nvSpPr>
          <p:cNvPr id="233" name="Google Shape;233;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4" name="Google Shape;234;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2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1" name="Google Shape;241;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7" name="Google Shape;247;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2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2" name="Google Shape;252;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3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9" name="Google Shape;259;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3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6" name="Google Shape;266;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3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3" name="Google Shape;273;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3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4" name="Google Shape;284;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p3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0" name="Google Shape;290;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a:extLst>
              <a:ext uri="{FF2B5EF4-FFF2-40B4-BE49-F238E27FC236}">
                <a16:creationId xmlns:a16="http://schemas.microsoft.com/office/drawing/2014/main" id="{3E05B590-82A6-1CCA-D61E-D21CE126AEA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C54FE50-29AB-4494-BAC5-EDE0ED62DC87}" type="slidenum">
              <a:rPr lang="en-US" altLang="en-US"/>
              <a:pPr eaLnBrk="1" hangingPunct="1"/>
              <a:t>51</a:t>
            </a:fld>
            <a:endParaRPr lang="en-US" altLang="en-US"/>
          </a:p>
        </p:txBody>
      </p:sp>
      <p:sp>
        <p:nvSpPr>
          <p:cNvPr id="154627" name="Rectangle 2">
            <a:extLst>
              <a:ext uri="{FF2B5EF4-FFF2-40B4-BE49-F238E27FC236}">
                <a16:creationId xmlns:a16="http://schemas.microsoft.com/office/drawing/2014/main" id="{97B15D4D-7435-FA80-C141-11AD80F97F7E}"/>
              </a:ext>
            </a:extLst>
          </p:cNvPr>
          <p:cNvSpPr>
            <a:spLocks noGrp="1" noRot="1" noChangeAspect="1" noChangeArrowheads="1" noTextEdit="1"/>
          </p:cNvSpPr>
          <p:nvPr>
            <p:ph type="sldImg"/>
          </p:nvPr>
        </p:nvSpPr>
        <p:spPr>
          <a:ln/>
        </p:spPr>
      </p:sp>
      <p:sp>
        <p:nvSpPr>
          <p:cNvPr id="154628" name="Rectangle 3">
            <a:extLst>
              <a:ext uri="{FF2B5EF4-FFF2-40B4-BE49-F238E27FC236}">
                <a16:creationId xmlns:a16="http://schemas.microsoft.com/office/drawing/2014/main" id="{D44249F9-A921-97B2-86C6-0CB74690A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3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7" name="Google Shape;297;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a:extLst>
              <a:ext uri="{FF2B5EF4-FFF2-40B4-BE49-F238E27FC236}">
                <a16:creationId xmlns:a16="http://schemas.microsoft.com/office/drawing/2014/main" id="{EBF41931-9C1D-64DF-2349-FDB93BD2AD2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C9DD65E-099B-4F0A-A537-FFC687431D6C}" type="slidenum">
              <a:rPr lang="en-US" altLang="en-US"/>
              <a:pPr eaLnBrk="1" hangingPunct="1"/>
              <a:t>53</a:t>
            </a:fld>
            <a:endParaRPr lang="en-US" altLang="en-US"/>
          </a:p>
        </p:txBody>
      </p:sp>
      <p:sp>
        <p:nvSpPr>
          <p:cNvPr id="156675" name="Rectangle 2">
            <a:extLst>
              <a:ext uri="{FF2B5EF4-FFF2-40B4-BE49-F238E27FC236}">
                <a16:creationId xmlns:a16="http://schemas.microsoft.com/office/drawing/2014/main" id="{C3467011-5A2B-301A-6EE6-D15449A70B94}"/>
              </a:ext>
            </a:extLst>
          </p:cNvPr>
          <p:cNvSpPr>
            <a:spLocks noGrp="1" noRot="1" noChangeAspect="1" noChangeArrowheads="1" noTextEdit="1"/>
          </p:cNvSpPr>
          <p:nvPr>
            <p:ph type="sldImg"/>
          </p:nvPr>
        </p:nvSpPr>
        <p:spPr>
          <a:ln/>
        </p:spPr>
      </p:sp>
      <p:sp>
        <p:nvSpPr>
          <p:cNvPr id="156676" name="Rectangle 3">
            <a:extLst>
              <a:ext uri="{FF2B5EF4-FFF2-40B4-BE49-F238E27FC236}">
                <a16:creationId xmlns:a16="http://schemas.microsoft.com/office/drawing/2014/main" id="{AEA4CABC-5822-FCC1-81F5-BD8C5411C9B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a:extLst>
              <a:ext uri="{FF2B5EF4-FFF2-40B4-BE49-F238E27FC236}">
                <a16:creationId xmlns:a16="http://schemas.microsoft.com/office/drawing/2014/main" id="{1F9922DB-BE3B-E13A-743F-A48306997DA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A29FB64-FB61-4CAE-9BD6-749B62D5859D}" type="slidenum">
              <a:rPr lang="en-US" altLang="en-US"/>
              <a:pPr eaLnBrk="1" hangingPunct="1"/>
              <a:t>54</a:t>
            </a:fld>
            <a:endParaRPr lang="en-US" altLang="en-US"/>
          </a:p>
        </p:txBody>
      </p:sp>
      <p:sp>
        <p:nvSpPr>
          <p:cNvPr id="157699" name="Rectangle 2">
            <a:extLst>
              <a:ext uri="{FF2B5EF4-FFF2-40B4-BE49-F238E27FC236}">
                <a16:creationId xmlns:a16="http://schemas.microsoft.com/office/drawing/2014/main" id="{2C13FD0F-DFD1-E054-EE85-02DFF9577F54}"/>
              </a:ext>
            </a:extLst>
          </p:cNvPr>
          <p:cNvSpPr>
            <a:spLocks noGrp="1" noRot="1" noChangeAspect="1" noChangeArrowheads="1" noTextEdit="1"/>
          </p:cNvSpPr>
          <p:nvPr>
            <p:ph type="sldImg"/>
          </p:nvPr>
        </p:nvSpPr>
        <p:spPr>
          <a:ln/>
        </p:spPr>
      </p:sp>
      <p:sp>
        <p:nvSpPr>
          <p:cNvPr id="157700" name="Rectangle 3">
            <a:extLst>
              <a:ext uri="{FF2B5EF4-FFF2-40B4-BE49-F238E27FC236}">
                <a16:creationId xmlns:a16="http://schemas.microsoft.com/office/drawing/2014/main" id="{0E145379-0B9F-4979-E416-F8E7F2EF2D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a:extLst>
              <a:ext uri="{FF2B5EF4-FFF2-40B4-BE49-F238E27FC236}">
                <a16:creationId xmlns:a16="http://schemas.microsoft.com/office/drawing/2014/main" id="{1F9922DB-BE3B-E13A-743F-A48306997DA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A29FB64-FB61-4CAE-9BD6-749B62D5859D}" type="slidenum">
              <a:rPr lang="en-US" altLang="en-US"/>
              <a:pPr eaLnBrk="1" hangingPunct="1"/>
              <a:t>55</a:t>
            </a:fld>
            <a:endParaRPr lang="en-US" altLang="en-US"/>
          </a:p>
        </p:txBody>
      </p:sp>
      <p:sp>
        <p:nvSpPr>
          <p:cNvPr id="157699" name="Rectangle 2">
            <a:extLst>
              <a:ext uri="{FF2B5EF4-FFF2-40B4-BE49-F238E27FC236}">
                <a16:creationId xmlns:a16="http://schemas.microsoft.com/office/drawing/2014/main" id="{2C13FD0F-DFD1-E054-EE85-02DFF9577F54}"/>
              </a:ext>
            </a:extLst>
          </p:cNvPr>
          <p:cNvSpPr>
            <a:spLocks noGrp="1" noRot="1" noChangeAspect="1" noChangeArrowheads="1" noTextEdit="1"/>
          </p:cNvSpPr>
          <p:nvPr>
            <p:ph type="sldImg"/>
          </p:nvPr>
        </p:nvSpPr>
        <p:spPr>
          <a:ln/>
        </p:spPr>
      </p:sp>
      <p:sp>
        <p:nvSpPr>
          <p:cNvPr id="157700" name="Rectangle 3">
            <a:extLst>
              <a:ext uri="{FF2B5EF4-FFF2-40B4-BE49-F238E27FC236}">
                <a16:creationId xmlns:a16="http://schemas.microsoft.com/office/drawing/2014/main" id="{0E145379-0B9F-4979-E416-F8E7F2EF2D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59264601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a:extLst>
              <a:ext uri="{FF2B5EF4-FFF2-40B4-BE49-F238E27FC236}">
                <a16:creationId xmlns:a16="http://schemas.microsoft.com/office/drawing/2014/main" id="{1F9922DB-BE3B-E13A-743F-A48306997DA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A29FB64-FB61-4CAE-9BD6-749B62D5859D}" type="slidenum">
              <a:rPr lang="en-US" altLang="en-US"/>
              <a:pPr eaLnBrk="1" hangingPunct="1"/>
              <a:t>56</a:t>
            </a:fld>
            <a:endParaRPr lang="en-US" altLang="en-US"/>
          </a:p>
        </p:txBody>
      </p:sp>
      <p:sp>
        <p:nvSpPr>
          <p:cNvPr id="157699" name="Rectangle 2">
            <a:extLst>
              <a:ext uri="{FF2B5EF4-FFF2-40B4-BE49-F238E27FC236}">
                <a16:creationId xmlns:a16="http://schemas.microsoft.com/office/drawing/2014/main" id="{2C13FD0F-DFD1-E054-EE85-02DFF9577F54}"/>
              </a:ext>
            </a:extLst>
          </p:cNvPr>
          <p:cNvSpPr>
            <a:spLocks noGrp="1" noRot="1" noChangeAspect="1" noChangeArrowheads="1" noTextEdit="1"/>
          </p:cNvSpPr>
          <p:nvPr>
            <p:ph type="sldImg"/>
          </p:nvPr>
        </p:nvSpPr>
        <p:spPr>
          <a:ln/>
        </p:spPr>
      </p:sp>
      <p:sp>
        <p:nvSpPr>
          <p:cNvPr id="157700" name="Rectangle 3">
            <a:extLst>
              <a:ext uri="{FF2B5EF4-FFF2-40B4-BE49-F238E27FC236}">
                <a16:creationId xmlns:a16="http://schemas.microsoft.com/office/drawing/2014/main" id="{0E145379-0B9F-4979-E416-F8E7F2EF2D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38761585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a:extLst>
              <a:ext uri="{FF2B5EF4-FFF2-40B4-BE49-F238E27FC236}">
                <a16:creationId xmlns:a16="http://schemas.microsoft.com/office/drawing/2014/main" id="{1F9922DB-BE3B-E13A-743F-A48306997DA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A29FB64-FB61-4CAE-9BD6-749B62D5859D}" type="slidenum">
              <a:rPr lang="en-US" altLang="en-US"/>
              <a:pPr eaLnBrk="1" hangingPunct="1"/>
              <a:t>57</a:t>
            </a:fld>
            <a:endParaRPr lang="en-US" altLang="en-US"/>
          </a:p>
        </p:txBody>
      </p:sp>
      <p:sp>
        <p:nvSpPr>
          <p:cNvPr id="157699" name="Rectangle 2">
            <a:extLst>
              <a:ext uri="{FF2B5EF4-FFF2-40B4-BE49-F238E27FC236}">
                <a16:creationId xmlns:a16="http://schemas.microsoft.com/office/drawing/2014/main" id="{2C13FD0F-DFD1-E054-EE85-02DFF9577F54}"/>
              </a:ext>
            </a:extLst>
          </p:cNvPr>
          <p:cNvSpPr>
            <a:spLocks noGrp="1" noRot="1" noChangeAspect="1" noChangeArrowheads="1" noTextEdit="1"/>
          </p:cNvSpPr>
          <p:nvPr>
            <p:ph type="sldImg"/>
          </p:nvPr>
        </p:nvSpPr>
        <p:spPr>
          <a:ln/>
        </p:spPr>
      </p:sp>
      <p:sp>
        <p:nvSpPr>
          <p:cNvPr id="157700" name="Rectangle 3">
            <a:extLst>
              <a:ext uri="{FF2B5EF4-FFF2-40B4-BE49-F238E27FC236}">
                <a16:creationId xmlns:a16="http://schemas.microsoft.com/office/drawing/2014/main" id="{0E145379-0B9F-4979-E416-F8E7F2EF2D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362377036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a:extLst>
              <a:ext uri="{FF2B5EF4-FFF2-40B4-BE49-F238E27FC236}">
                <a16:creationId xmlns:a16="http://schemas.microsoft.com/office/drawing/2014/main" id="{1F9922DB-BE3B-E13A-743F-A48306997DA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A29FB64-FB61-4CAE-9BD6-749B62D5859D}" type="slidenum">
              <a:rPr lang="en-US" altLang="en-US"/>
              <a:pPr eaLnBrk="1" hangingPunct="1"/>
              <a:t>58</a:t>
            </a:fld>
            <a:endParaRPr lang="en-US" altLang="en-US"/>
          </a:p>
        </p:txBody>
      </p:sp>
      <p:sp>
        <p:nvSpPr>
          <p:cNvPr id="157699" name="Rectangle 2">
            <a:extLst>
              <a:ext uri="{FF2B5EF4-FFF2-40B4-BE49-F238E27FC236}">
                <a16:creationId xmlns:a16="http://schemas.microsoft.com/office/drawing/2014/main" id="{2C13FD0F-DFD1-E054-EE85-02DFF9577F54}"/>
              </a:ext>
            </a:extLst>
          </p:cNvPr>
          <p:cNvSpPr>
            <a:spLocks noGrp="1" noRot="1" noChangeAspect="1" noChangeArrowheads="1" noTextEdit="1"/>
          </p:cNvSpPr>
          <p:nvPr>
            <p:ph type="sldImg"/>
          </p:nvPr>
        </p:nvSpPr>
        <p:spPr>
          <a:ln/>
        </p:spPr>
      </p:sp>
      <p:sp>
        <p:nvSpPr>
          <p:cNvPr id="157700" name="Rectangle 3">
            <a:extLst>
              <a:ext uri="{FF2B5EF4-FFF2-40B4-BE49-F238E27FC236}">
                <a16:creationId xmlns:a16="http://schemas.microsoft.com/office/drawing/2014/main" id="{0E145379-0B9F-4979-E416-F8E7F2EF2D5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41723005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7">
            <a:extLst>
              <a:ext uri="{FF2B5EF4-FFF2-40B4-BE49-F238E27FC236}">
                <a16:creationId xmlns:a16="http://schemas.microsoft.com/office/drawing/2014/main" id="{CCB84E85-8E83-E75A-96D8-FD3E718CE9E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C05CB64-B90F-437A-96A2-DC3FAFEAEC9A}" type="slidenum">
              <a:rPr lang="en-US" altLang="en-US"/>
              <a:pPr eaLnBrk="1" hangingPunct="1"/>
              <a:t>59</a:t>
            </a:fld>
            <a:endParaRPr lang="en-US" altLang="en-US"/>
          </a:p>
        </p:txBody>
      </p:sp>
      <p:sp>
        <p:nvSpPr>
          <p:cNvPr id="158723" name="Rectangle 2">
            <a:extLst>
              <a:ext uri="{FF2B5EF4-FFF2-40B4-BE49-F238E27FC236}">
                <a16:creationId xmlns:a16="http://schemas.microsoft.com/office/drawing/2014/main" id="{206FDA24-B2E1-0C21-E551-8D1048E31553}"/>
              </a:ext>
            </a:extLst>
          </p:cNvPr>
          <p:cNvSpPr>
            <a:spLocks noGrp="1" noRot="1" noChangeAspect="1" noChangeArrowheads="1" noTextEdit="1"/>
          </p:cNvSpPr>
          <p:nvPr>
            <p:ph type="sldImg"/>
          </p:nvPr>
        </p:nvSpPr>
        <p:spPr>
          <a:ln/>
        </p:spPr>
      </p:sp>
      <p:sp>
        <p:nvSpPr>
          <p:cNvPr id="158724" name="Rectangle 3">
            <a:extLst>
              <a:ext uri="{FF2B5EF4-FFF2-40B4-BE49-F238E27FC236}">
                <a16:creationId xmlns:a16="http://schemas.microsoft.com/office/drawing/2014/main" id="{DAACD8DC-34CD-A082-732A-8FF97CF751F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140478048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7">
            <a:extLst>
              <a:ext uri="{FF2B5EF4-FFF2-40B4-BE49-F238E27FC236}">
                <a16:creationId xmlns:a16="http://schemas.microsoft.com/office/drawing/2014/main" id="{CCB84E85-8E83-E75A-96D8-FD3E718CE9E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C05CB64-B90F-437A-96A2-DC3FAFEAEC9A}" type="slidenum">
              <a:rPr lang="en-US" altLang="en-US"/>
              <a:pPr eaLnBrk="1" hangingPunct="1"/>
              <a:t>60</a:t>
            </a:fld>
            <a:endParaRPr lang="en-US" altLang="en-US"/>
          </a:p>
        </p:txBody>
      </p:sp>
      <p:sp>
        <p:nvSpPr>
          <p:cNvPr id="158723" name="Rectangle 2">
            <a:extLst>
              <a:ext uri="{FF2B5EF4-FFF2-40B4-BE49-F238E27FC236}">
                <a16:creationId xmlns:a16="http://schemas.microsoft.com/office/drawing/2014/main" id="{206FDA24-B2E1-0C21-E551-8D1048E31553}"/>
              </a:ext>
            </a:extLst>
          </p:cNvPr>
          <p:cNvSpPr>
            <a:spLocks noGrp="1" noRot="1" noChangeAspect="1" noChangeArrowheads="1" noTextEdit="1"/>
          </p:cNvSpPr>
          <p:nvPr>
            <p:ph type="sldImg"/>
          </p:nvPr>
        </p:nvSpPr>
        <p:spPr>
          <a:ln/>
        </p:spPr>
      </p:sp>
      <p:sp>
        <p:nvSpPr>
          <p:cNvPr id="158724" name="Rectangle 3">
            <a:extLst>
              <a:ext uri="{FF2B5EF4-FFF2-40B4-BE49-F238E27FC236}">
                <a16:creationId xmlns:a16="http://schemas.microsoft.com/office/drawing/2014/main" id="{DAACD8DC-34CD-A082-732A-8FF97CF751F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7">
            <a:extLst>
              <a:ext uri="{FF2B5EF4-FFF2-40B4-BE49-F238E27FC236}">
                <a16:creationId xmlns:a16="http://schemas.microsoft.com/office/drawing/2014/main" id="{CCB84E85-8E83-E75A-96D8-FD3E718CE9E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C05CB64-B90F-437A-96A2-DC3FAFEAEC9A}" type="slidenum">
              <a:rPr lang="en-US" altLang="en-US"/>
              <a:pPr eaLnBrk="1" hangingPunct="1"/>
              <a:t>61</a:t>
            </a:fld>
            <a:endParaRPr lang="en-US" altLang="en-US"/>
          </a:p>
        </p:txBody>
      </p:sp>
      <p:sp>
        <p:nvSpPr>
          <p:cNvPr id="158723" name="Rectangle 2">
            <a:extLst>
              <a:ext uri="{FF2B5EF4-FFF2-40B4-BE49-F238E27FC236}">
                <a16:creationId xmlns:a16="http://schemas.microsoft.com/office/drawing/2014/main" id="{206FDA24-B2E1-0C21-E551-8D1048E31553}"/>
              </a:ext>
            </a:extLst>
          </p:cNvPr>
          <p:cNvSpPr>
            <a:spLocks noGrp="1" noRot="1" noChangeAspect="1" noChangeArrowheads="1" noTextEdit="1"/>
          </p:cNvSpPr>
          <p:nvPr>
            <p:ph type="sldImg"/>
          </p:nvPr>
        </p:nvSpPr>
        <p:spPr>
          <a:ln/>
        </p:spPr>
      </p:sp>
      <p:sp>
        <p:nvSpPr>
          <p:cNvPr id="158724" name="Rectangle 3">
            <a:extLst>
              <a:ext uri="{FF2B5EF4-FFF2-40B4-BE49-F238E27FC236}">
                <a16:creationId xmlns:a16="http://schemas.microsoft.com/office/drawing/2014/main" id="{DAACD8DC-34CD-A082-732A-8FF97CF751F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219841773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7">
            <a:extLst>
              <a:ext uri="{FF2B5EF4-FFF2-40B4-BE49-F238E27FC236}">
                <a16:creationId xmlns:a16="http://schemas.microsoft.com/office/drawing/2014/main" id="{CCB84E85-8E83-E75A-96D8-FD3E718CE9E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C05CB64-B90F-437A-96A2-DC3FAFEAEC9A}" type="slidenum">
              <a:rPr lang="en-US" altLang="en-US"/>
              <a:pPr eaLnBrk="1" hangingPunct="1"/>
              <a:t>62</a:t>
            </a:fld>
            <a:endParaRPr lang="en-US" altLang="en-US"/>
          </a:p>
        </p:txBody>
      </p:sp>
      <p:sp>
        <p:nvSpPr>
          <p:cNvPr id="158723" name="Rectangle 2">
            <a:extLst>
              <a:ext uri="{FF2B5EF4-FFF2-40B4-BE49-F238E27FC236}">
                <a16:creationId xmlns:a16="http://schemas.microsoft.com/office/drawing/2014/main" id="{206FDA24-B2E1-0C21-E551-8D1048E31553}"/>
              </a:ext>
            </a:extLst>
          </p:cNvPr>
          <p:cNvSpPr>
            <a:spLocks noGrp="1" noRot="1" noChangeAspect="1" noChangeArrowheads="1" noTextEdit="1"/>
          </p:cNvSpPr>
          <p:nvPr>
            <p:ph type="sldImg"/>
          </p:nvPr>
        </p:nvSpPr>
        <p:spPr>
          <a:ln/>
        </p:spPr>
      </p:sp>
      <p:sp>
        <p:nvSpPr>
          <p:cNvPr id="158724" name="Rectangle 3">
            <a:extLst>
              <a:ext uri="{FF2B5EF4-FFF2-40B4-BE49-F238E27FC236}">
                <a16:creationId xmlns:a16="http://schemas.microsoft.com/office/drawing/2014/main" id="{DAACD8DC-34CD-A082-732A-8FF97CF751F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p>
        </p:txBody>
      </p:sp>
    </p:spTree>
    <p:extLst>
      <p:ext uri="{BB962C8B-B14F-4D97-AF65-F5344CB8AC3E}">
        <p14:creationId xmlns:p14="http://schemas.microsoft.com/office/powerpoint/2010/main" val="8231888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4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7"/>
        <p:cNvGrpSpPr/>
        <p:nvPr/>
      </p:nvGrpSpPr>
      <p:grpSpPr>
        <a:xfrm>
          <a:off x="0" y="0"/>
          <a:ext cx="0" cy="0"/>
          <a:chOff x="0" y="0"/>
          <a:chExt cx="0" cy="0"/>
        </a:xfrm>
      </p:grpSpPr>
      <p:sp>
        <p:nvSpPr>
          <p:cNvPr id="28" name="Google Shape;28;p4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1"/>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30" name="Google Shape;30;p41"/>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31" name="Google Shape;31;p4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4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4"/>
        <p:cNvGrpSpPr/>
        <p:nvPr/>
      </p:nvGrpSpPr>
      <p:grpSpPr>
        <a:xfrm>
          <a:off x="0" y="0"/>
          <a:ext cx="0" cy="0"/>
          <a:chOff x="0" y="0"/>
          <a:chExt cx="0" cy="0"/>
        </a:xfrm>
      </p:grpSpPr>
      <p:sp>
        <p:nvSpPr>
          <p:cNvPr id="35" name="Google Shape;35;p4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42"/>
          <p:cNvSpPr>
            <a:spLocks noGrp="1"/>
          </p:cNvSpPr>
          <p:nvPr>
            <p:ph type="pic" idx="2"/>
          </p:nvPr>
        </p:nvSpPr>
        <p:spPr>
          <a:xfrm>
            <a:off x="5183188" y="987425"/>
            <a:ext cx="6172200" cy="4873625"/>
          </a:xfrm>
          <a:prstGeom prst="rect">
            <a:avLst/>
          </a:prstGeom>
          <a:noFill/>
          <a:ln>
            <a:noFill/>
          </a:ln>
        </p:spPr>
      </p:sp>
      <p:sp>
        <p:nvSpPr>
          <p:cNvPr id="37" name="Google Shape;37;p4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38" name="Google Shape;38;p4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4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1"/>
        <p:cNvGrpSpPr/>
        <p:nvPr/>
      </p:nvGrpSpPr>
      <p:grpSpPr>
        <a:xfrm>
          <a:off x="0" y="0"/>
          <a:ext cx="0" cy="0"/>
          <a:chOff x="0" y="0"/>
          <a:chExt cx="0" cy="0"/>
        </a:xfrm>
      </p:grpSpPr>
      <p:sp>
        <p:nvSpPr>
          <p:cNvPr id="42" name="Google Shape;42;p4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43"/>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4" name="Google Shape;44;p4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4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6" name="Google Shape;46;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4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4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4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4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4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4"/>
        <p:cNvGrpSpPr/>
        <p:nvPr/>
      </p:nvGrpSpPr>
      <p:grpSpPr>
        <a:xfrm>
          <a:off x="0" y="0"/>
          <a:ext cx="0" cy="0"/>
          <a:chOff x="0" y="0"/>
          <a:chExt cx="0" cy="0"/>
        </a:xfrm>
      </p:grpSpPr>
      <p:sp>
        <p:nvSpPr>
          <p:cNvPr id="55" name="Google Shape;55;p45"/>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45"/>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7" name="Google Shape;57;p45"/>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45"/>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9" name="Google Shape;59;p45"/>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4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3"/>
        <p:cNvGrpSpPr/>
        <p:nvPr/>
      </p:nvGrpSpPr>
      <p:grpSpPr>
        <a:xfrm>
          <a:off x="0" y="0"/>
          <a:ext cx="0" cy="0"/>
          <a:chOff x="0" y="0"/>
          <a:chExt cx="0" cy="0"/>
        </a:xfrm>
      </p:grpSpPr>
      <p:sp>
        <p:nvSpPr>
          <p:cNvPr id="64" name="Google Shape;64;p4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5" name="Google Shape;65;p4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4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8"/>
        <p:cNvGrpSpPr/>
        <p:nvPr/>
      </p:nvGrpSpPr>
      <p:grpSpPr>
        <a:xfrm>
          <a:off x="0" y="0"/>
          <a:ext cx="0" cy="0"/>
          <a:chOff x="0" y="0"/>
          <a:chExt cx="0" cy="0"/>
        </a:xfrm>
      </p:grpSpPr>
      <p:sp>
        <p:nvSpPr>
          <p:cNvPr id="69" name="Google Shape;69;p4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4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4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4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4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4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4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4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3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4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23.wmf"/></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60.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6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7.xml"/><Relationship Id="rId1" Type="http://schemas.openxmlformats.org/officeDocument/2006/relationships/slideLayout" Target="../slideLayouts/slideLayout2.xml"/><Relationship Id="rId4" Type="http://schemas.openxmlformats.org/officeDocument/2006/relationships/image" Target="../media/image24.wmf"/></Relationships>
</file>

<file path=ppt/slides/_rels/slide6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24.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1524000" y="2108717"/>
            <a:ext cx="9144000" cy="3125755"/>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90000"/>
              </a:lnSpc>
              <a:spcBef>
                <a:spcPts val="0"/>
              </a:spcBef>
              <a:spcAft>
                <a:spcPts val="0"/>
              </a:spcAft>
              <a:buClr>
                <a:schemeClr val="dk1"/>
              </a:buClr>
              <a:buSzPct val="100000"/>
              <a:buFont typeface="Calibri"/>
              <a:buNone/>
            </a:pPr>
            <a:br>
              <a:rPr lang="en-US" sz="6600"/>
            </a:br>
            <a:br>
              <a:rPr lang="en-US" sz="6600"/>
            </a:br>
            <a:br>
              <a:rPr lang="en-US" sz="6600"/>
            </a:br>
            <a:br>
              <a:rPr lang="en-US" sz="6600"/>
            </a:br>
            <a:br>
              <a:rPr lang="en-US" sz="6600"/>
            </a:br>
            <a:br>
              <a:rPr lang="en-US" sz="6600"/>
            </a:br>
            <a:br>
              <a:rPr lang="en-US" sz="6600"/>
            </a:br>
            <a:br>
              <a:rPr lang="en-US" sz="6600"/>
            </a:br>
            <a:br>
              <a:rPr lang="en-US" sz="6600"/>
            </a:br>
            <a:br>
              <a:rPr lang="en-US" sz="6600"/>
            </a:br>
            <a:br>
              <a:rPr lang="en-US" sz="6600"/>
            </a:br>
            <a:br>
              <a:rPr lang="en-US" sz="6600"/>
            </a:br>
            <a:br>
              <a:rPr lang="en-US" sz="6600"/>
            </a:br>
            <a:br>
              <a:rPr lang="en-US" sz="6600"/>
            </a:br>
            <a:br>
              <a:rPr lang="en-US" sz="6600"/>
            </a:br>
            <a:br>
              <a:rPr lang="en-US" sz="6600"/>
            </a:br>
            <a:br>
              <a:rPr lang="en-US" sz="6600"/>
            </a:br>
            <a:br>
              <a:rPr lang="en-US" sz="6600"/>
            </a:br>
            <a:br>
              <a:rPr lang="en-US" sz="6600"/>
            </a:br>
            <a:br>
              <a:rPr lang="en-US" sz="6600"/>
            </a:br>
            <a:br>
              <a:rPr lang="en-US" sz="6600"/>
            </a:br>
            <a:br>
              <a:rPr lang="en-US" sz="6600"/>
            </a:br>
            <a:br>
              <a:rPr lang="en-US" sz="6600"/>
            </a:br>
            <a:br>
              <a:rPr lang="en-US" sz="6600"/>
            </a:br>
            <a:br>
              <a:rPr lang="en-US" sz="6600"/>
            </a:br>
            <a:br>
              <a:rPr lang="en-US" sz="6600"/>
            </a:br>
            <a:br>
              <a:rPr lang="en-US" sz="6600"/>
            </a:br>
            <a:br>
              <a:rPr lang="en-US" sz="6600"/>
            </a:br>
            <a:br>
              <a:rPr lang="en-US" sz="6600"/>
            </a:br>
            <a:br>
              <a:rPr lang="en-US" sz="6600"/>
            </a:br>
            <a:br>
              <a:rPr lang="en-US" sz="6600"/>
            </a:br>
            <a:br>
              <a:rPr lang="en-US" sz="6600"/>
            </a:br>
            <a:br>
              <a:rPr lang="en-US" sz="6600"/>
            </a:br>
            <a:br>
              <a:rPr lang="en-US" sz="6600"/>
            </a:br>
            <a:br>
              <a:rPr lang="en-US" sz="6600"/>
            </a:br>
            <a:br>
              <a:rPr lang="en-US" sz="6600"/>
            </a:br>
            <a:r>
              <a:rPr lang="en-US" sz="6600"/>
              <a:t>Computer Organization </a:t>
            </a:r>
            <a:br>
              <a:rPr lang="en-US" sz="6600"/>
            </a:br>
            <a:r>
              <a:rPr lang="en-US" sz="6600"/>
              <a:t>&amp; </a:t>
            </a:r>
            <a:br>
              <a:rPr lang="en-US" sz="6600"/>
            </a:br>
            <a:r>
              <a:rPr lang="en-US" sz="6600"/>
              <a:t>Architecture</a:t>
            </a:r>
            <a:endParaRPr sz="66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2"/>
          <p:cNvSpPr txBox="1">
            <a:spLocks noGrp="1"/>
          </p:cNvSpPr>
          <p:nvPr>
            <p:ph type="title"/>
          </p:nvPr>
        </p:nvSpPr>
        <p:spPr>
          <a:xfrm>
            <a:off x="838200" y="365125"/>
            <a:ext cx="10515600" cy="67308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0000"/>
              </a:buClr>
              <a:buSzPts val="1800"/>
              <a:buFont typeface="Times New Roman"/>
              <a:buNone/>
            </a:pPr>
            <a:r>
              <a:rPr lang="en-US" sz="1800" b="1" i="0" u="none" strike="noStrike">
                <a:solidFill>
                  <a:srgbClr val="000000"/>
                </a:solidFill>
                <a:latin typeface="Times New Roman"/>
                <a:ea typeface="Times New Roman"/>
                <a:cs typeface="Times New Roman"/>
                <a:sym typeface="Times New Roman"/>
              </a:rPr>
              <a:t>FUNCTIONAL UNITS: </a:t>
            </a:r>
            <a:endParaRPr/>
          </a:p>
        </p:txBody>
      </p:sp>
      <p:sp>
        <p:nvSpPr>
          <p:cNvPr id="94" name="Google Shape;94;p2"/>
          <p:cNvSpPr txBox="1">
            <a:spLocks noGrp="1"/>
          </p:cNvSpPr>
          <p:nvPr>
            <p:ph type="body" idx="1"/>
          </p:nvPr>
        </p:nvSpPr>
        <p:spPr>
          <a:xfrm>
            <a:off x="838200" y="1175657"/>
            <a:ext cx="10515600" cy="544907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rgbClr val="000000"/>
              </a:buClr>
              <a:buSzPts val="1800"/>
              <a:buNone/>
            </a:pPr>
            <a:r>
              <a:rPr lang="en-US" sz="1800" b="0" i="0" u="none" strike="noStrike">
                <a:solidFill>
                  <a:srgbClr val="000000"/>
                </a:solidFill>
                <a:latin typeface="Times New Roman"/>
                <a:ea typeface="Times New Roman"/>
                <a:cs typeface="Times New Roman"/>
                <a:sym typeface="Times New Roman"/>
              </a:rPr>
              <a:t>The computer system is divided into five separate units for its operation. </a:t>
            </a:r>
            <a:endParaRPr/>
          </a:p>
          <a:p>
            <a:pPr marL="228600" lvl="0" indent="-228600" algn="l" rtl="0">
              <a:lnSpc>
                <a:spcPct val="90000"/>
              </a:lnSpc>
              <a:spcBef>
                <a:spcPts val="1000"/>
              </a:spcBef>
              <a:spcAft>
                <a:spcPts val="0"/>
              </a:spcAft>
              <a:buClr>
                <a:srgbClr val="000000"/>
              </a:buClr>
              <a:buSzPts val="1800"/>
              <a:buChar char="•"/>
            </a:pPr>
            <a:r>
              <a:rPr lang="en-US" sz="1800" b="0" i="0" u="none" strike="noStrike">
                <a:solidFill>
                  <a:srgbClr val="000000"/>
                </a:solidFill>
                <a:latin typeface="Times New Roman"/>
                <a:ea typeface="Times New Roman"/>
                <a:cs typeface="Times New Roman"/>
                <a:sym typeface="Times New Roman"/>
              </a:rPr>
              <a:t>Input Unit. </a:t>
            </a:r>
            <a:endParaRPr/>
          </a:p>
          <a:p>
            <a:pPr marL="228600" lvl="0" indent="-228600" algn="l" rtl="0">
              <a:lnSpc>
                <a:spcPct val="90000"/>
              </a:lnSpc>
              <a:spcBef>
                <a:spcPts val="1000"/>
              </a:spcBef>
              <a:spcAft>
                <a:spcPts val="0"/>
              </a:spcAft>
              <a:buClr>
                <a:srgbClr val="000000"/>
              </a:buClr>
              <a:buSzPts val="1800"/>
              <a:buChar char="•"/>
            </a:pPr>
            <a:r>
              <a:rPr lang="en-US" sz="1800" b="0" i="0" u="none" strike="noStrike">
                <a:solidFill>
                  <a:srgbClr val="000000"/>
                </a:solidFill>
                <a:latin typeface="Times New Roman"/>
                <a:ea typeface="Times New Roman"/>
                <a:cs typeface="Times New Roman"/>
                <a:sym typeface="Times New Roman"/>
              </a:rPr>
              <a:t>Memory Unit. </a:t>
            </a:r>
            <a:endParaRPr/>
          </a:p>
          <a:p>
            <a:pPr marL="228600" lvl="0" indent="-228600" algn="l" rtl="0">
              <a:lnSpc>
                <a:spcPct val="90000"/>
              </a:lnSpc>
              <a:spcBef>
                <a:spcPts val="1000"/>
              </a:spcBef>
              <a:spcAft>
                <a:spcPts val="0"/>
              </a:spcAft>
              <a:buClr>
                <a:srgbClr val="000000"/>
              </a:buClr>
              <a:buSzPts val="1800"/>
              <a:buChar char="•"/>
            </a:pPr>
            <a:r>
              <a:rPr lang="en-US" sz="1800" b="0" i="0" u="none" strike="noStrike">
                <a:solidFill>
                  <a:srgbClr val="000000"/>
                </a:solidFill>
                <a:latin typeface="Times New Roman"/>
                <a:ea typeface="Times New Roman"/>
                <a:cs typeface="Times New Roman"/>
                <a:sym typeface="Times New Roman"/>
              </a:rPr>
              <a:t>ALU. </a:t>
            </a:r>
            <a:endParaRPr/>
          </a:p>
          <a:p>
            <a:pPr marL="228600" lvl="0" indent="-228600" algn="l" rtl="0">
              <a:lnSpc>
                <a:spcPct val="90000"/>
              </a:lnSpc>
              <a:spcBef>
                <a:spcPts val="1000"/>
              </a:spcBef>
              <a:spcAft>
                <a:spcPts val="0"/>
              </a:spcAft>
              <a:buClr>
                <a:srgbClr val="000000"/>
              </a:buClr>
              <a:buSzPts val="1800"/>
              <a:buChar char="•"/>
            </a:pPr>
            <a:r>
              <a:rPr lang="en-US" sz="1800" b="0" i="0" u="none" strike="noStrike">
                <a:solidFill>
                  <a:srgbClr val="000000"/>
                </a:solidFill>
                <a:latin typeface="Times New Roman"/>
                <a:ea typeface="Times New Roman"/>
                <a:cs typeface="Times New Roman"/>
                <a:sym typeface="Times New Roman"/>
              </a:rPr>
              <a:t>Control Unit. </a:t>
            </a:r>
            <a:endParaRPr/>
          </a:p>
          <a:p>
            <a:pPr marL="228600" lvl="0" indent="-228600" algn="l" rtl="0">
              <a:lnSpc>
                <a:spcPct val="90000"/>
              </a:lnSpc>
              <a:spcBef>
                <a:spcPts val="1000"/>
              </a:spcBef>
              <a:spcAft>
                <a:spcPts val="0"/>
              </a:spcAft>
              <a:buClr>
                <a:srgbClr val="000000"/>
              </a:buClr>
              <a:buSzPts val="1800"/>
              <a:buChar char="•"/>
            </a:pPr>
            <a:r>
              <a:rPr lang="en-US" sz="1800" b="0" i="0" u="none" strike="noStrike">
                <a:solidFill>
                  <a:srgbClr val="000000"/>
                </a:solidFill>
                <a:latin typeface="Times New Roman"/>
                <a:ea typeface="Times New Roman"/>
                <a:cs typeface="Times New Roman"/>
                <a:sym typeface="Times New Roman"/>
              </a:rPr>
              <a:t>Output Unit. </a:t>
            </a:r>
            <a:endParaRPr/>
          </a:p>
          <a:p>
            <a:pPr marL="228600" lvl="0" indent="-114300" algn="l" rtl="0">
              <a:lnSpc>
                <a:spcPct val="90000"/>
              </a:lnSpc>
              <a:spcBef>
                <a:spcPts val="1000"/>
              </a:spcBef>
              <a:spcAft>
                <a:spcPts val="0"/>
              </a:spcAft>
              <a:buClr>
                <a:schemeClr val="dk1"/>
              </a:buClr>
              <a:buSzPts val="1800"/>
              <a:buNone/>
            </a:pPr>
            <a:endParaRPr sz="1800">
              <a:solidFill>
                <a:srgbClr val="000000"/>
              </a:solidFill>
              <a:latin typeface="Times New Roman"/>
              <a:ea typeface="Times New Roman"/>
              <a:cs typeface="Times New Roman"/>
              <a:sym typeface="Times New Roman"/>
            </a:endParaRPr>
          </a:p>
          <a:p>
            <a:pPr marL="228600" lvl="0" indent="-114300" algn="l" rtl="0">
              <a:lnSpc>
                <a:spcPct val="100000"/>
              </a:lnSpc>
              <a:spcBef>
                <a:spcPts val="1000"/>
              </a:spcBef>
              <a:spcAft>
                <a:spcPts val="0"/>
              </a:spcAft>
              <a:buClr>
                <a:schemeClr val="dk1"/>
              </a:buClr>
              <a:buSzPts val="1800"/>
              <a:buNone/>
            </a:pPr>
            <a:endParaRPr sz="1800" b="0" i="0" u="none" strike="noStrike">
              <a:solidFill>
                <a:srgbClr val="000000"/>
              </a:solidFill>
              <a:latin typeface="Times New Roman"/>
              <a:ea typeface="Times New Roman"/>
              <a:cs typeface="Times New Roman"/>
              <a:sym typeface="Times New Roman"/>
            </a:endParaRPr>
          </a:p>
          <a:p>
            <a:pPr marL="228600" lvl="0" indent="-114300" algn="just" rtl="0">
              <a:lnSpc>
                <a:spcPct val="100000"/>
              </a:lnSpc>
              <a:spcBef>
                <a:spcPts val="1000"/>
              </a:spcBef>
              <a:spcAft>
                <a:spcPts val="0"/>
              </a:spcAft>
              <a:buClr>
                <a:schemeClr val="dk1"/>
              </a:buClr>
              <a:buSzPts val="1800"/>
              <a:buNone/>
            </a:pPr>
            <a:endParaRPr sz="1800">
              <a:solidFill>
                <a:srgbClr val="000000"/>
              </a:solidFill>
              <a:latin typeface="Times New Roman"/>
              <a:ea typeface="Times New Roman"/>
              <a:cs typeface="Times New Roman"/>
              <a:sym typeface="Times New Roman"/>
            </a:endParaRPr>
          </a:p>
          <a:p>
            <a:pPr marL="228600" lvl="0" indent="-228600" algn="just" rtl="0">
              <a:lnSpc>
                <a:spcPct val="100000"/>
              </a:lnSpc>
              <a:spcBef>
                <a:spcPts val="1000"/>
              </a:spcBef>
              <a:spcAft>
                <a:spcPts val="0"/>
              </a:spcAft>
              <a:buClr>
                <a:srgbClr val="000000"/>
              </a:buClr>
              <a:buSzPts val="1800"/>
              <a:buChar char="•"/>
            </a:pPr>
            <a:r>
              <a:rPr lang="en-US" sz="1800" b="0" i="0" u="none" strike="noStrike">
                <a:solidFill>
                  <a:srgbClr val="000000"/>
                </a:solidFill>
                <a:latin typeface="Times New Roman"/>
                <a:ea typeface="Times New Roman"/>
                <a:cs typeface="Times New Roman"/>
                <a:sym typeface="Times New Roman"/>
              </a:rPr>
              <a:t>The input unit accepts the code information from the  users .</a:t>
            </a:r>
            <a:r>
              <a:rPr lang="en-US" sz="1800">
                <a:solidFill>
                  <a:srgbClr val="000000"/>
                </a:solidFill>
                <a:latin typeface="Times New Roman"/>
                <a:ea typeface="Times New Roman"/>
                <a:cs typeface="Times New Roman"/>
                <a:sym typeface="Times New Roman"/>
              </a:rPr>
              <a:t>The information received is either stored in the </a:t>
            </a:r>
            <a:r>
              <a:rPr lang="en-US" sz="1800" b="0" i="0" u="none" strike="noStrike">
                <a:solidFill>
                  <a:srgbClr val="000000"/>
                </a:solidFill>
                <a:latin typeface="Times New Roman"/>
                <a:ea typeface="Times New Roman"/>
                <a:cs typeface="Times New Roman"/>
                <a:sym typeface="Times New Roman"/>
              </a:rPr>
              <a:t>Memory or immediately used by the Arithmetic &amp; </a:t>
            </a:r>
            <a:r>
              <a:rPr lang="en-US" sz="1800">
                <a:solidFill>
                  <a:srgbClr val="000000"/>
                </a:solidFill>
                <a:latin typeface="Times New Roman"/>
                <a:ea typeface="Times New Roman"/>
                <a:cs typeface="Times New Roman"/>
                <a:sym typeface="Times New Roman"/>
              </a:rPr>
              <a:t>Logic circuitry to form the desired operations .</a:t>
            </a:r>
            <a:r>
              <a:rPr lang="en-US" sz="1800" b="0" i="0" u="none" strike="noStrike">
                <a:solidFill>
                  <a:srgbClr val="000000"/>
                </a:solidFill>
                <a:latin typeface="Times New Roman"/>
                <a:ea typeface="Times New Roman"/>
                <a:cs typeface="Times New Roman"/>
                <a:sym typeface="Times New Roman"/>
              </a:rPr>
              <a:t>The processing steps are determined by the program stored in the memory. Finally</a:t>
            </a:r>
            <a:r>
              <a:rPr lang="en-US" sz="1800">
                <a:solidFill>
                  <a:srgbClr val="000000"/>
                </a:solidFill>
                <a:latin typeface="Times New Roman"/>
                <a:ea typeface="Times New Roman"/>
                <a:cs typeface="Times New Roman"/>
                <a:sym typeface="Times New Roman"/>
              </a:rPr>
              <a:t> the results are sent back to the outside world through the output unit. All these actions are coordinated by the control unit</a:t>
            </a:r>
            <a:endParaRPr sz="1800" b="0" i="0" u="none" strike="noStrike">
              <a:solidFill>
                <a:srgbClr val="000000"/>
              </a:solidFill>
              <a:latin typeface="Times New Roman"/>
              <a:ea typeface="Times New Roman"/>
              <a:cs typeface="Times New Roman"/>
              <a:sym typeface="Times New Roman"/>
            </a:endParaRPr>
          </a:p>
          <a:p>
            <a:pPr marL="228600" lvl="0" indent="-50800" algn="l" rtl="0">
              <a:lnSpc>
                <a:spcPct val="90000"/>
              </a:lnSpc>
              <a:spcBef>
                <a:spcPts val="1000"/>
              </a:spcBef>
              <a:spcAft>
                <a:spcPts val="0"/>
              </a:spcAft>
              <a:buClr>
                <a:schemeClr val="dk1"/>
              </a:buClr>
              <a:buSzPts val="2800"/>
              <a:buNone/>
            </a:pPr>
            <a:endParaRPr/>
          </a:p>
        </p:txBody>
      </p:sp>
      <p:pic>
        <p:nvPicPr>
          <p:cNvPr id="95" name="Google Shape;95;p2"/>
          <p:cNvPicPr preferRelativeResize="0"/>
          <p:nvPr/>
        </p:nvPicPr>
        <p:blipFill rotWithShape="1">
          <a:blip r:embed="rId3">
            <a:alphaModFix/>
          </a:blip>
          <a:srcRect/>
          <a:stretch/>
        </p:blipFill>
        <p:spPr>
          <a:xfrm>
            <a:off x="5626360" y="1580423"/>
            <a:ext cx="4715989" cy="27944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3"/>
          <p:cNvSpPr txBox="1">
            <a:spLocks noGrp="1"/>
          </p:cNvSpPr>
          <p:nvPr>
            <p:ph type="body" idx="1"/>
          </p:nvPr>
        </p:nvSpPr>
        <p:spPr>
          <a:xfrm>
            <a:off x="838200" y="438539"/>
            <a:ext cx="10515600" cy="6251510"/>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rgbClr val="000000"/>
              </a:buClr>
              <a:buSzPts val="1800"/>
              <a:buChar char="•"/>
            </a:pPr>
            <a:r>
              <a:rPr lang="en-US" sz="1800" b="1" i="0" u="none" strike="noStrike">
                <a:solidFill>
                  <a:srgbClr val="000000"/>
                </a:solidFill>
                <a:latin typeface="Times New Roman"/>
                <a:ea typeface="Times New Roman"/>
                <a:cs typeface="Times New Roman"/>
                <a:sym typeface="Times New Roman"/>
              </a:rPr>
              <a:t>Input Unit. </a:t>
            </a:r>
            <a:endParaRPr sz="1800" b="1">
              <a:latin typeface="Times New Roman"/>
              <a:ea typeface="Times New Roman"/>
              <a:cs typeface="Times New Roman"/>
              <a:sym typeface="Times New Roman"/>
            </a:endParaRPr>
          </a:p>
          <a:p>
            <a:pPr marL="685800" lvl="1" indent="-228600" algn="just" rtl="0">
              <a:lnSpc>
                <a:spcPct val="90000"/>
              </a:lnSpc>
              <a:spcBef>
                <a:spcPts val="500"/>
              </a:spcBef>
              <a:spcAft>
                <a:spcPts val="0"/>
              </a:spcAft>
              <a:buClr>
                <a:srgbClr val="000000"/>
              </a:buClr>
              <a:buSzPts val="1800"/>
              <a:buChar char="•"/>
            </a:pPr>
            <a:r>
              <a:rPr lang="en-US" sz="1800" b="0" i="0" u="none" strike="noStrike">
                <a:solidFill>
                  <a:srgbClr val="000000"/>
                </a:solidFill>
                <a:latin typeface="Times New Roman"/>
                <a:ea typeface="Times New Roman"/>
                <a:cs typeface="Times New Roman"/>
                <a:sym typeface="Times New Roman"/>
              </a:rPr>
              <a:t>Input units are used by the computer to read the data. The most commonly used input devices are keyboards, mouse, joysticks, trackballs, microphones, etc.. </a:t>
            </a:r>
            <a:endParaRPr/>
          </a:p>
          <a:p>
            <a:pPr marL="685800" lvl="1" indent="-228600" algn="just" rtl="0">
              <a:lnSpc>
                <a:spcPct val="90000"/>
              </a:lnSpc>
              <a:spcBef>
                <a:spcPts val="500"/>
              </a:spcBef>
              <a:spcAft>
                <a:spcPts val="0"/>
              </a:spcAft>
              <a:buClr>
                <a:srgbClr val="000000"/>
              </a:buClr>
              <a:buSzPts val="1800"/>
              <a:buChar char="•"/>
            </a:pPr>
            <a:r>
              <a:rPr lang="en-US" sz="1800" b="0" i="0" u="none" strike="noStrike">
                <a:solidFill>
                  <a:srgbClr val="000000"/>
                </a:solidFill>
                <a:latin typeface="Times New Roman"/>
                <a:ea typeface="Times New Roman"/>
                <a:cs typeface="Times New Roman"/>
                <a:sym typeface="Times New Roman"/>
              </a:rPr>
              <a:t>Most well known input device is the keyboard</a:t>
            </a:r>
            <a:r>
              <a:rPr lang="en-US" sz="1800">
                <a:solidFill>
                  <a:srgbClr val="000000"/>
                </a:solidFill>
                <a:latin typeface="Times New Roman"/>
                <a:ea typeface="Times New Roman"/>
                <a:cs typeface="Times New Roman"/>
                <a:sym typeface="Times New Roman"/>
              </a:rPr>
              <a:t>. Whenever a key is pressed, the corresponding letter or digit is automatically translated in to its binary code and transmitted through a cable either to memory or the processor</a:t>
            </a:r>
            <a:endParaRPr/>
          </a:p>
          <a:p>
            <a:pPr marL="228600" lvl="0" indent="-228600" algn="just" rtl="0">
              <a:lnSpc>
                <a:spcPct val="90000"/>
              </a:lnSpc>
              <a:spcBef>
                <a:spcPts val="1000"/>
              </a:spcBef>
              <a:spcAft>
                <a:spcPts val="0"/>
              </a:spcAft>
              <a:buClr>
                <a:srgbClr val="000000"/>
              </a:buClr>
              <a:buSzPts val="1800"/>
              <a:buChar char="•"/>
            </a:pPr>
            <a:r>
              <a:rPr lang="en-US" sz="1800" b="1" i="0" u="none" strike="noStrike">
                <a:solidFill>
                  <a:srgbClr val="000000"/>
                </a:solidFill>
                <a:latin typeface="Times New Roman"/>
                <a:ea typeface="Times New Roman"/>
                <a:cs typeface="Times New Roman"/>
                <a:sym typeface="Times New Roman"/>
              </a:rPr>
              <a:t>Memory Unit. </a:t>
            </a:r>
            <a:endParaRPr/>
          </a:p>
          <a:p>
            <a:pPr marL="685800" lvl="1" indent="-228600" algn="just" rtl="0">
              <a:lnSpc>
                <a:spcPct val="90000"/>
              </a:lnSpc>
              <a:spcBef>
                <a:spcPts val="500"/>
              </a:spcBef>
              <a:spcAft>
                <a:spcPts val="0"/>
              </a:spcAft>
              <a:buClr>
                <a:schemeClr val="dk1"/>
              </a:buClr>
              <a:buSzPts val="1800"/>
              <a:buChar char="•"/>
            </a:pPr>
            <a:r>
              <a:rPr lang="en-US" sz="1800">
                <a:latin typeface="Times New Roman"/>
                <a:ea typeface="Times New Roman"/>
                <a:cs typeface="Times New Roman"/>
                <a:sym typeface="Times New Roman"/>
              </a:rPr>
              <a:t>The function of the memory unit is to store programs and data. </a:t>
            </a:r>
            <a:endParaRPr/>
          </a:p>
          <a:p>
            <a:pPr marL="685800" lvl="1" indent="-228600" algn="just" rtl="0">
              <a:lnSpc>
                <a:spcPct val="90000"/>
              </a:lnSpc>
              <a:spcBef>
                <a:spcPts val="500"/>
              </a:spcBef>
              <a:spcAft>
                <a:spcPts val="0"/>
              </a:spcAft>
              <a:buClr>
                <a:schemeClr val="dk1"/>
              </a:buClr>
              <a:buSzPts val="1800"/>
              <a:buChar char="•"/>
            </a:pPr>
            <a:r>
              <a:rPr lang="en-US" sz="1800">
                <a:latin typeface="Times New Roman"/>
                <a:ea typeface="Times New Roman"/>
                <a:cs typeface="Times New Roman"/>
                <a:sym typeface="Times New Roman"/>
              </a:rPr>
              <a:t>There are two classes of storage, called primary and secondary. </a:t>
            </a:r>
            <a:endParaRPr/>
          </a:p>
          <a:p>
            <a:pPr marL="685800" lvl="1" indent="-228600" algn="just" rtl="0">
              <a:lnSpc>
                <a:spcPct val="90000"/>
              </a:lnSpc>
              <a:spcBef>
                <a:spcPts val="500"/>
              </a:spcBef>
              <a:spcAft>
                <a:spcPts val="0"/>
              </a:spcAft>
              <a:buClr>
                <a:schemeClr val="dk1"/>
              </a:buClr>
              <a:buSzPts val="1800"/>
              <a:buChar char="•"/>
            </a:pPr>
            <a:r>
              <a:rPr lang="en-US" sz="1800">
                <a:latin typeface="Times New Roman"/>
                <a:ea typeface="Times New Roman"/>
                <a:cs typeface="Times New Roman"/>
                <a:sym typeface="Times New Roman"/>
              </a:rPr>
              <a:t>Programs must be stored in memory while they are being executed.</a:t>
            </a:r>
            <a:endParaRPr/>
          </a:p>
          <a:p>
            <a:pPr marL="685800" lvl="1" indent="-228600" algn="just" rtl="0">
              <a:lnSpc>
                <a:spcPct val="90000"/>
              </a:lnSpc>
              <a:spcBef>
                <a:spcPts val="500"/>
              </a:spcBef>
              <a:spcAft>
                <a:spcPts val="0"/>
              </a:spcAft>
              <a:buClr>
                <a:schemeClr val="dk1"/>
              </a:buClr>
              <a:buSzPts val="1800"/>
              <a:buChar char="•"/>
            </a:pPr>
            <a:r>
              <a:rPr lang="en-US" sz="1800">
                <a:latin typeface="Times New Roman"/>
                <a:ea typeface="Times New Roman"/>
                <a:cs typeface="Times New Roman"/>
                <a:sym typeface="Times New Roman"/>
              </a:rPr>
              <a:t>Memory contains a large number of semiconductor storage cells, each capable of storing one bit of information. </a:t>
            </a:r>
            <a:endParaRPr/>
          </a:p>
          <a:p>
            <a:pPr marL="685800" lvl="1" indent="-228600" algn="just" rtl="0">
              <a:lnSpc>
                <a:spcPct val="90000"/>
              </a:lnSpc>
              <a:spcBef>
                <a:spcPts val="500"/>
              </a:spcBef>
              <a:spcAft>
                <a:spcPts val="0"/>
              </a:spcAft>
              <a:buClr>
                <a:schemeClr val="dk1"/>
              </a:buClr>
              <a:buSzPts val="1800"/>
              <a:buChar char="•"/>
            </a:pPr>
            <a:r>
              <a:rPr lang="en-US" sz="1800">
                <a:latin typeface="Times New Roman"/>
                <a:ea typeface="Times New Roman"/>
                <a:cs typeface="Times New Roman"/>
                <a:sym typeface="Times New Roman"/>
              </a:rPr>
              <a:t>These cells are rarely read or written as individual cell but instead are processed in groups of fixed size called word. </a:t>
            </a:r>
            <a:endParaRPr/>
          </a:p>
          <a:p>
            <a:pPr marL="685800" lvl="1" indent="-228600" algn="just" rtl="0">
              <a:lnSpc>
                <a:spcPct val="90000"/>
              </a:lnSpc>
              <a:spcBef>
                <a:spcPts val="500"/>
              </a:spcBef>
              <a:spcAft>
                <a:spcPts val="0"/>
              </a:spcAft>
              <a:buClr>
                <a:schemeClr val="dk1"/>
              </a:buClr>
              <a:buSzPts val="1800"/>
              <a:buChar char="•"/>
            </a:pPr>
            <a:r>
              <a:rPr lang="en-US" sz="1800">
                <a:latin typeface="Times New Roman"/>
                <a:ea typeface="Times New Roman"/>
                <a:cs typeface="Times New Roman"/>
                <a:sym typeface="Times New Roman"/>
              </a:rPr>
              <a:t>The memory is organized so that the contents of one word containing n bits can be stored and retrieved in one basic operation</a:t>
            </a:r>
            <a:endParaRPr/>
          </a:p>
          <a:p>
            <a:pPr marL="685800" lvl="1" indent="-228600" algn="just" rtl="0">
              <a:lnSpc>
                <a:spcPct val="90000"/>
              </a:lnSpc>
              <a:spcBef>
                <a:spcPts val="500"/>
              </a:spcBef>
              <a:spcAft>
                <a:spcPts val="0"/>
              </a:spcAft>
              <a:buClr>
                <a:schemeClr val="dk1"/>
              </a:buClr>
              <a:buSzPts val="1800"/>
              <a:buChar char="•"/>
            </a:pPr>
            <a:r>
              <a:rPr lang="en-US" sz="1800">
                <a:latin typeface="Times New Roman"/>
                <a:ea typeface="Times New Roman"/>
                <a:cs typeface="Times New Roman"/>
                <a:sym typeface="Times New Roman"/>
              </a:rPr>
              <a:t>To provide easy access to any word in memory, a distinct address is associated with each word location. Address are numbers that identify successive locations. A given is accessed by its address and issuing a control command that starts the storage or retrieval process</a:t>
            </a:r>
            <a:endParaRPr/>
          </a:p>
        </p:txBody>
      </p:sp>
      <p:pic>
        <p:nvPicPr>
          <p:cNvPr id="101" name="Google Shape;101;p3"/>
          <p:cNvPicPr preferRelativeResize="0"/>
          <p:nvPr/>
        </p:nvPicPr>
        <p:blipFill rotWithShape="1">
          <a:blip r:embed="rId3">
            <a:alphaModFix/>
          </a:blip>
          <a:srcRect/>
          <a:stretch/>
        </p:blipFill>
        <p:spPr>
          <a:xfrm>
            <a:off x="8068938" y="1939252"/>
            <a:ext cx="2052980" cy="120516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4"/>
          <p:cNvSpPr txBox="1">
            <a:spLocks noGrp="1"/>
          </p:cNvSpPr>
          <p:nvPr>
            <p:ph type="body" idx="1"/>
          </p:nvPr>
        </p:nvSpPr>
        <p:spPr>
          <a:xfrm>
            <a:off x="838200" y="317241"/>
            <a:ext cx="10515600" cy="5859722"/>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1800"/>
              <a:buChar char="•"/>
            </a:pPr>
            <a:r>
              <a:rPr lang="en-US" sz="1800" b="1">
                <a:latin typeface="Times New Roman"/>
                <a:ea typeface="Times New Roman"/>
                <a:cs typeface="Times New Roman"/>
                <a:sym typeface="Times New Roman"/>
              </a:rPr>
              <a:t>Arithmetic and logic unit</a:t>
            </a:r>
            <a:endParaRPr/>
          </a:p>
          <a:p>
            <a:pPr marL="685800" lvl="1" indent="-228600" algn="just" rtl="0">
              <a:lnSpc>
                <a:spcPct val="90000"/>
              </a:lnSpc>
              <a:spcBef>
                <a:spcPts val="500"/>
              </a:spcBef>
              <a:spcAft>
                <a:spcPts val="0"/>
              </a:spcAft>
              <a:buClr>
                <a:schemeClr val="dk1"/>
              </a:buClr>
              <a:buSzPts val="1800"/>
              <a:buChar char="•"/>
            </a:pPr>
            <a:r>
              <a:rPr lang="en-US" sz="1800">
                <a:latin typeface="Times New Roman"/>
                <a:ea typeface="Times New Roman"/>
                <a:cs typeface="Times New Roman"/>
                <a:sym typeface="Times New Roman"/>
              </a:rPr>
              <a:t>Most of all the arithmetic and logical operations of a computer are executed in the ALU (Arithmetic and Logical Unit) of the processor. It performs arithmetic operations like addition, subtraction, multiplication, division and also the logical operations like AND, OR, NOT operations.</a:t>
            </a:r>
            <a:endParaRPr sz="1800">
              <a:solidFill>
                <a:srgbClr val="000000"/>
              </a:solidFill>
              <a:latin typeface="Times New Roman"/>
              <a:ea typeface="Times New Roman"/>
              <a:cs typeface="Times New Roman"/>
              <a:sym typeface="Times New Roman"/>
            </a:endParaRPr>
          </a:p>
          <a:p>
            <a:pPr marL="228600" lvl="0" indent="-228600" algn="just" rtl="0">
              <a:lnSpc>
                <a:spcPct val="90000"/>
              </a:lnSpc>
              <a:spcBef>
                <a:spcPts val="1000"/>
              </a:spcBef>
              <a:spcAft>
                <a:spcPts val="0"/>
              </a:spcAft>
              <a:buClr>
                <a:srgbClr val="000000"/>
              </a:buClr>
              <a:buSzPts val="1800"/>
              <a:buChar char="•"/>
            </a:pPr>
            <a:r>
              <a:rPr lang="en-US" sz="1800" b="1" i="0" u="none" strike="noStrike">
                <a:solidFill>
                  <a:srgbClr val="000000"/>
                </a:solidFill>
                <a:latin typeface="Times New Roman"/>
                <a:ea typeface="Times New Roman"/>
                <a:cs typeface="Times New Roman"/>
                <a:sym typeface="Times New Roman"/>
              </a:rPr>
              <a:t>Output Unit. </a:t>
            </a:r>
            <a:endParaRPr/>
          </a:p>
          <a:p>
            <a:pPr marL="685800" lvl="1" indent="-228600" algn="just" rtl="0">
              <a:lnSpc>
                <a:spcPct val="90000"/>
              </a:lnSpc>
              <a:spcBef>
                <a:spcPts val="500"/>
              </a:spcBef>
              <a:spcAft>
                <a:spcPts val="0"/>
              </a:spcAft>
              <a:buClr>
                <a:srgbClr val="000000"/>
              </a:buClr>
              <a:buSzPts val="1800"/>
              <a:buChar char="•"/>
            </a:pPr>
            <a:r>
              <a:rPr lang="en-US" sz="1800" b="0" i="0" u="none" strike="noStrike">
                <a:solidFill>
                  <a:srgbClr val="000000"/>
                </a:solidFill>
                <a:latin typeface="Times New Roman"/>
                <a:ea typeface="Times New Roman"/>
                <a:cs typeface="Times New Roman"/>
                <a:sym typeface="Times New Roman"/>
              </a:rPr>
              <a:t>The primary function of the output unit is to send the processed results to the user. Output devices display information in a way that the user can understand.</a:t>
            </a:r>
            <a:endParaRPr/>
          </a:p>
          <a:p>
            <a:pPr marL="685800" lvl="1" indent="-228600" algn="just" rtl="0">
              <a:lnSpc>
                <a:spcPct val="90000"/>
              </a:lnSpc>
              <a:spcBef>
                <a:spcPts val="500"/>
              </a:spcBef>
              <a:spcAft>
                <a:spcPts val="0"/>
              </a:spcAft>
              <a:buClr>
                <a:srgbClr val="000000"/>
              </a:buClr>
              <a:buSzPts val="1800"/>
              <a:buChar char="•"/>
            </a:pPr>
            <a:r>
              <a:rPr lang="en-US" sz="1800" b="0" i="0" u="none" strike="noStrike">
                <a:solidFill>
                  <a:srgbClr val="000000"/>
                </a:solidFill>
                <a:latin typeface="Times New Roman"/>
                <a:ea typeface="Times New Roman"/>
                <a:cs typeface="Times New Roman"/>
                <a:sym typeface="Times New Roman"/>
              </a:rPr>
              <a:t>Output devices are pieces of equipment that are used to generate information or any other response processed by the computer. These devices display information that has been held or generated within a computer.</a:t>
            </a:r>
            <a:endParaRPr/>
          </a:p>
          <a:p>
            <a:pPr marL="685800" lvl="1" indent="-228600" algn="just" rtl="0">
              <a:lnSpc>
                <a:spcPct val="90000"/>
              </a:lnSpc>
              <a:spcBef>
                <a:spcPts val="500"/>
              </a:spcBef>
              <a:spcAft>
                <a:spcPts val="0"/>
              </a:spcAft>
              <a:buClr>
                <a:srgbClr val="000000"/>
              </a:buClr>
              <a:buSzPts val="1800"/>
              <a:buChar char="•"/>
            </a:pPr>
            <a:r>
              <a:rPr lang="en-US" sz="1800" b="0" i="0" u="none" strike="noStrike">
                <a:solidFill>
                  <a:srgbClr val="000000"/>
                </a:solidFill>
                <a:latin typeface="Times New Roman"/>
                <a:ea typeface="Times New Roman"/>
                <a:cs typeface="Times New Roman"/>
                <a:sym typeface="Times New Roman"/>
              </a:rPr>
              <a:t>The most common example of an output device is a monitor.</a:t>
            </a:r>
            <a:endParaRPr/>
          </a:p>
          <a:p>
            <a:pPr marL="228600" lvl="0" indent="-228600" algn="just" rtl="0">
              <a:lnSpc>
                <a:spcPct val="90000"/>
              </a:lnSpc>
              <a:spcBef>
                <a:spcPts val="1000"/>
              </a:spcBef>
              <a:spcAft>
                <a:spcPts val="0"/>
              </a:spcAft>
              <a:buClr>
                <a:srgbClr val="000000"/>
              </a:buClr>
              <a:buSzPts val="1800"/>
              <a:buChar char="•"/>
            </a:pPr>
            <a:r>
              <a:rPr lang="en-US" sz="1800" b="1" i="0" u="none" strike="noStrike">
                <a:solidFill>
                  <a:srgbClr val="000000"/>
                </a:solidFill>
                <a:latin typeface="Times New Roman"/>
                <a:ea typeface="Times New Roman"/>
                <a:cs typeface="Times New Roman"/>
                <a:sym typeface="Times New Roman"/>
              </a:rPr>
              <a:t>Control Unit. </a:t>
            </a:r>
            <a:endParaRPr sz="1800" b="1">
              <a:latin typeface="Times New Roman"/>
              <a:ea typeface="Times New Roman"/>
              <a:cs typeface="Times New Roman"/>
              <a:sym typeface="Times New Roman"/>
            </a:endParaRPr>
          </a:p>
          <a:p>
            <a:pPr marL="685800" lvl="1" indent="-228600" algn="just" rtl="0">
              <a:lnSpc>
                <a:spcPct val="90000"/>
              </a:lnSpc>
              <a:spcBef>
                <a:spcPts val="500"/>
              </a:spcBef>
              <a:spcAft>
                <a:spcPts val="0"/>
              </a:spcAft>
              <a:buClr>
                <a:srgbClr val="000000"/>
              </a:buClr>
              <a:buSzPts val="1800"/>
              <a:buChar char="•"/>
            </a:pPr>
            <a:r>
              <a:rPr lang="en-US" sz="1800" b="0" i="0" u="none" strike="noStrike">
                <a:solidFill>
                  <a:srgbClr val="000000"/>
                </a:solidFill>
                <a:latin typeface="Times New Roman"/>
                <a:ea typeface="Times New Roman"/>
                <a:cs typeface="Times New Roman"/>
                <a:sym typeface="Times New Roman"/>
              </a:rPr>
              <a:t>Control unit controls and coordinates the entire operations of the computer system. </a:t>
            </a:r>
            <a:endParaRPr/>
          </a:p>
          <a:p>
            <a:pPr marL="685800" lvl="1" indent="-228600" algn="just" rtl="0">
              <a:lnSpc>
                <a:spcPct val="90000"/>
              </a:lnSpc>
              <a:spcBef>
                <a:spcPts val="500"/>
              </a:spcBef>
              <a:spcAft>
                <a:spcPts val="0"/>
              </a:spcAft>
              <a:buClr>
                <a:srgbClr val="000000"/>
              </a:buClr>
              <a:buSzPts val="1800"/>
              <a:buChar char="•"/>
            </a:pPr>
            <a:r>
              <a:rPr lang="en-US" sz="1800" b="0" i="0" u="none" strike="noStrike">
                <a:solidFill>
                  <a:srgbClr val="000000"/>
                </a:solidFill>
                <a:latin typeface="Times New Roman"/>
                <a:ea typeface="Times New Roman"/>
                <a:cs typeface="Times New Roman"/>
                <a:sym typeface="Times New Roman"/>
              </a:rPr>
              <a:t>The control unit determines the sequence in which computer programs and instructions are executed. </a:t>
            </a:r>
            <a:endParaRPr/>
          </a:p>
          <a:p>
            <a:pPr marL="685800" lvl="1" indent="-228600" algn="just" rtl="0">
              <a:lnSpc>
                <a:spcPct val="90000"/>
              </a:lnSpc>
              <a:spcBef>
                <a:spcPts val="500"/>
              </a:spcBef>
              <a:spcAft>
                <a:spcPts val="0"/>
              </a:spcAft>
              <a:buClr>
                <a:srgbClr val="000000"/>
              </a:buClr>
              <a:buSzPts val="1800"/>
              <a:buChar char="•"/>
            </a:pPr>
            <a:r>
              <a:rPr lang="en-US" sz="1800" b="0" i="0" u="none" strike="noStrike">
                <a:solidFill>
                  <a:srgbClr val="000000"/>
                </a:solidFill>
                <a:latin typeface="Times New Roman"/>
                <a:ea typeface="Times New Roman"/>
                <a:cs typeface="Times New Roman"/>
                <a:sym typeface="Times New Roman"/>
              </a:rPr>
              <a:t>Things like processing of programs stored in the main memory, interpretation of the instructions and issuing of signals for other units of the computer to execute them </a:t>
            </a:r>
            <a:endParaRPr sz="1800">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5"/>
          <p:cNvSpPr txBox="1">
            <a:spLocks noGrp="1"/>
          </p:cNvSpPr>
          <p:nvPr>
            <p:ph type="body" idx="1"/>
          </p:nvPr>
        </p:nvSpPr>
        <p:spPr>
          <a:xfrm>
            <a:off x="838200" y="307910"/>
            <a:ext cx="10515600" cy="5869053"/>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1800"/>
              <a:buChar char="•"/>
            </a:pPr>
            <a:r>
              <a:rPr lang="en-US" sz="1800">
                <a:latin typeface="Times New Roman"/>
                <a:ea typeface="Times New Roman"/>
                <a:cs typeface="Times New Roman"/>
                <a:sym typeface="Times New Roman"/>
              </a:rPr>
              <a:t>The operation of a computer can be summarized as follows</a:t>
            </a:r>
            <a:endParaRPr/>
          </a:p>
          <a:p>
            <a:pPr marL="685800" lvl="1" indent="-228600" algn="just" rtl="0">
              <a:lnSpc>
                <a:spcPct val="90000"/>
              </a:lnSpc>
              <a:spcBef>
                <a:spcPts val="500"/>
              </a:spcBef>
              <a:spcAft>
                <a:spcPts val="0"/>
              </a:spcAft>
              <a:buClr>
                <a:schemeClr val="dk1"/>
              </a:buClr>
              <a:buSzPts val="1800"/>
              <a:buChar char="•"/>
            </a:pPr>
            <a:r>
              <a:rPr lang="en-US" sz="1800">
                <a:latin typeface="Times New Roman"/>
                <a:ea typeface="Times New Roman"/>
                <a:cs typeface="Times New Roman"/>
                <a:sym typeface="Times New Roman"/>
              </a:rPr>
              <a:t>The computer accepts information in the form of programs and data through an input and stores it in the memory</a:t>
            </a:r>
            <a:endParaRPr/>
          </a:p>
          <a:p>
            <a:pPr marL="685800" lvl="1" indent="-228600" algn="just" rtl="0">
              <a:lnSpc>
                <a:spcPct val="90000"/>
              </a:lnSpc>
              <a:spcBef>
                <a:spcPts val="500"/>
              </a:spcBef>
              <a:spcAft>
                <a:spcPts val="0"/>
              </a:spcAft>
              <a:buClr>
                <a:schemeClr val="dk1"/>
              </a:buClr>
              <a:buSzPts val="1800"/>
              <a:buChar char="•"/>
            </a:pPr>
            <a:r>
              <a:rPr lang="en-US" sz="1800">
                <a:latin typeface="Times New Roman"/>
                <a:ea typeface="Times New Roman"/>
                <a:cs typeface="Times New Roman"/>
                <a:sym typeface="Times New Roman"/>
              </a:rPr>
              <a:t>Information stored in the memory is fetched to the processor where it is processed</a:t>
            </a:r>
            <a:endParaRPr/>
          </a:p>
          <a:p>
            <a:pPr marL="685800" lvl="1" indent="-228600" algn="just" rtl="0">
              <a:lnSpc>
                <a:spcPct val="90000"/>
              </a:lnSpc>
              <a:spcBef>
                <a:spcPts val="500"/>
              </a:spcBef>
              <a:spcAft>
                <a:spcPts val="0"/>
              </a:spcAft>
              <a:buClr>
                <a:schemeClr val="dk1"/>
              </a:buClr>
              <a:buSzPts val="1800"/>
              <a:buChar char="•"/>
            </a:pPr>
            <a:r>
              <a:rPr lang="en-US" sz="1800">
                <a:latin typeface="Times New Roman"/>
                <a:ea typeface="Times New Roman"/>
                <a:cs typeface="Times New Roman"/>
                <a:sym typeface="Times New Roman"/>
              </a:rPr>
              <a:t>Processed information leaves the computer through an output unit</a:t>
            </a:r>
            <a:endParaRPr/>
          </a:p>
          <a:p>
            <a:pPr marL="685800" lvl="1" indent="-228600" algn="just" rtl="0">
              <a:lnSpc>
                <a:spcPct val="90000"/>
              </a:lnSpc>
              <a:spcBef>
                <a:spcPts val="500"/>
              </a:spcBef>
              <a:spcAft>
                <a:spcPts val="0"/>
              </a:spcAft>
              <a:buClr>
                <a:schemeClr val="dk1"/>
              </a:buClr>
              <a:buSzPts val="1800"/>
              <a:buChar char="•"/>
            </a:pPr>
            <a:r>
              <a:rPr lang="en-US" sz="1800">
                <a:latin typeface="Times New Roman"/>
                <a:ea typeface="Times New Roman"/>
                <a:cs typeface="Times New Roman"/>
                <a:sym typeface="Times New Roman"/>
              </a:rPr>
              <a:t>All  activities inside the machine are directed by control unit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Calibri"/>
              <a:buNone/>
            </a:pPr>
            <a:r>
              <a:rPr lang="en-US" sz="3200"/>
              <a:t>BASIC OPERATIONAL CONCEPTS</a:t>
            </a:r>
            <a:endParaRPr/>
          </a:p>
        </p:txBody>
      </p:sp>
      <p:sp>
        <p:nvSpPr>
          <p:cNvPr id="117" name="Google Shape;117;p6"/>
          <p:cNvSpPr txBox="1">
            <a:spLocks noGrp="1"/>
          </p:cNvSpPr>
          <p:nvPr>
            <p:ph type="body" idx="1"/>
          </p:nvPr>
        </p:nvSpPr>
        <p:spPr>
          <a:xfrm>
            <a:off x="838200" y="1219317"/>
            <a:ext cx="11252719" cy="4926661"/>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1600"/>
              <a:buChar char="•"/>
            </a:pPr>
            <a:r>
              <a:rPr lang="en-US" sz="1600">
                <a:latin typeface="Times New Roman"/>
                <a:ea typeface="Times New Roman"/>
                <a:cs typeface="Times New Roman"/>
                <a:sym typeface="Times New Roman"/>
              </a:rPr>
              <a:t>To perform a given task, an appropriate program consisting of a list of instructions is stored in the memory</a:t>
            </a:r>
            <a:endParaRPr/>
          </a:p>
          <a:p>
            <a:pPr marL="228600" lvl="0" indent="-228600" algn="just" rtl="0">
              <a:lnSpc>
                <a:spcPct val="90000"/>
              </a:lnSpc>
              <a:spcBef>
                <a:spcPts val="1000"/>
              </a:spcBef>
              <a:spcAft>
                <a:spcPts val="0"/>
              </a:spcAft>
              <a:buClr>
                <a:schemeClr val="dk1"/>
              </a:buClr>
              <a:buSzPts val="1600"/>
              <a:buChar char="•"/>
            </a:pPr>
            <a:r>
              <a:rPr lang="en-US" sz="1600">
                <a:latin typeface="Times New Roman"/>
                <a:ea typeface="Times New Roman"/>
                <a:cs typeface="Times New Roman"/>
                <a:sym typeface="Times New Roman"/>
              </a:rPr>
              <a:t>Individual instructions are brought from memory into processor, which executes the specific operations</a:t>
            </a:r>
            <a:endParaRPr/>
          </a:p>
          <a:p>
            <a:pPr marL="228600" lvl="0" indent="-127000" algn="just" rtl="0">
              <a:lnSpc>
                <a:spcPct val="90000"/>
              </a:lnSpc>
              <a:spcBef>
                <a:spcPts val="1000"/>
              </a:spcBef>
              <a:spcAft>
                <a:spcPts val="0"/>
              </a:spcAft>
              <a:buClr>
                <a:schemeClr val="dk1"/>
              </a:buClr>
              <a:buSzPts val="1600"/>
              <a:buNone/>
            </a:pPr>
            <a:endParaRPr sz="1600">
              <a:latin typeface="Times New Roman"/>
              <a:ea typeface="Times New Roman"/>
              <a:cs typeface="Times New Roman"/>
              <a:sym typeface="Times New Roman"/>
            </a:endParaRPr>
          </a:p>
          <a:p>
            <a:pPr marL="228600" lvl="0" indent="-228600" algn="just" rtl="0">
              <a:lnSpc>
                <a:spcPct val="90000"/>
              </a:lnSpc>
              <a:spcBef>
                <a:spcPts val="1000"/>
              </a:spcBef>
              <a:spcAft>
                <a:spcPts val="0"/>
              </a:spcAft>
              <a:buClr>
                <a:schemeClr val="dk1"/>
              </a:buClr>
              <a:buSzPts val="1600"/>
              <a:buChar char="•"/>
            </a:pPr>
            <a:r>
              <a:rPr lang="en-US" sz="1600">
                <a:latin typeface="Times New Roman"/>
                <a:ea typeface="Times New Roman"/>
                <a:cs typeface="Times New Roman"/>
                <a:sym typeface="Times New Roman"/>
              </a:rPr>
              <a:t>Data to be used as operands are also stored in memory</a:t>
            </a:r>
            <a:endParaRPr/>
          </a:p>
          <a:p>
            <a:pPr marL="228600" lvl="0" indent="-127000" algn="just" rtl="0">
              <a:lnSpc>
                <a:spcPct val="90000"/>
              </a:lnSpc>
              <a:spcBef>
                <a:spcPts val="1000"/>
              </a:spcBef>
              <a:spcAft>
                <a:spcPts val="0"/>
              </a:spcAft>
              <a:buClr>
                <a:schemeClr val="dk1"/>
              </a:buClr>
              <a:buSzPts val="1600"/>
              <a:buNone/>
            </a:pPr>
            <a:endParaRPr sz="1600">
              <a:latin typeface="Times New Roman"/>
              <a:ea typeface="Times New Roman"/>
              <a:cs typeface="Times New Roman"/>
              <a:sym typeface="Times New Roman"/>
            </a:endParaRPr>
          </a:p>
          <a:p>
            <a:pPr marL="457200" lvl="1" indent="0" algn="l" rtl="0">
              <a:lnSpc>
                <a:spcPct val="90000"/>
              </a:lnSpc>
              <a:spcBef>
                <a:spcPts val="500"/>
              </a:spcBef>
              <a:spcAft>
                <a:spcPts val="0"/>
              </a:spcAft>
              <a:buClr>
                <a:srgbClr val="000000"/>
              </a:buClr>
              <a:buSzPts val="1400"/>
              <a:buNone/>
            </a:pPr>
            <a:r>
              <a:rPr lang="en-US" sz="1400" b="0" i="0" u="none" strike="noStrike">
                <a:solidFill>
                  <a:srgbClr val="000000"/>
                </a:solidFill>
                <a:latin typeface="Times New Roman"/>
                <a:ea typeface="Times New Roman"/>
                <a:cs typeface="Times New Roman"/>
                <a:sym typeface="Times New Roman"/>
              </a:rPr>
              <a:t>Load LOC,R2 :The operand at LOC is fetched from the memory into the register R2	</a:t>
            </a:r>
            <a:endParaRPr/>
          </a:p>
          <a:p>
            <a:pPr marL="457200" lvl="1" indent="0" algn="l" rtl="0">
              <a:lnSpc>
                <a:spcPct val="90000"/>
              </a:lnSpc>
              <a:spcBef>
                <a:spcPts val="500"/>
              </a:spcBef>
              <a:spcAft>
                <a:spcPts val="0"/>
              </a:spcAft>
              <a:buClr>
                <a:srgbClr val="000000"/>
              </a:buClr>
              <a:buSzPts val="1400"/>
              <a:buNone/>
            </a:pPr>
            <a:r>
              <a:rPr lang="en-US" sz="1400" b="0" i="0" u="none" strike="noStrike">
                <a:solidFill>
                  <a:srgbClr val="000000"/>
                </a:solidFill>
                <a:latin typeface="Times New Roman"/>
                <a:ea typeface="Times New Roman"/>
                <a:cs typeface="Times New Roman"/>
                <a:sym typeface="Times New Roman"/>
              </a:rPr>
              <a:t>Add R1, R2, R3 :Adds the contents of registers R1 and R2,  then places their sum into register R3. 	</a:t>
            </a:r>
            <a:endParaRPr/>
          </a:p>
          <a:p>
            <a:pPr marL="457200" lvl="1" indent="0" algn="l" rtl="0">
              <a:lnSpc>
                <a:spcPct val="90000"/>
              </a:lnSpc>
              <a:spcBef>
                <a:spcPts val="500"/>
              </a:spcBef>
              <a:spcAft>
                <a:spcPts val="0"/>
              </a:spcAft>
              <a:buClr>
                <a:srgbClr val="000000"/>
              </a:buClr>
              <a:buSzPts val="1400"/>
              <a:buNone/>
            </a:pPr>
            <a:r>
              <a:rPr lang="en-US" sz="1400" b="0" i="0" u="none" strike="noStrike">
                <a:solidFill>
                  <a:srgbClr val="000000"/>
                </a:solidFill>
                <a:latin typeface="Times New Roman"/>
                <a:ea typeface="Times New Roman"/>
                <a:cs typeface="Times New Roman"/>
                <a:sym typeface="Times New Roman"/>
              </a:rPr>
              <a:t>Store R4, LOC :This instruction copies the operand  in register R4 to memory location 	</a:t>
            </a:r>
            <a:endParaRPr/>
          </a:p>
          <a:p>
            <a:pPr marL="457200" lvl="1" indent="0" algn="l" rtl="0">
              <a:lnSpc>
                <a:spcPct val="90000"/>
              </a:lnSpc>
              <a:spcBef>
                <a:spcPts val="500"/>
              </a:spcBef>
              <a:spcAft>
                <a:spcPts val="0"/>
              </a:spcAft>
              <a:buClr>
                <a:srgbClr val="000000"/>
              </a:buClr>
              <a:buSzPts val="1400"/>
              <a:buNone/>
            </a:pPr>
            <a:r>
              <a:rPr lang="en-US" sz="1400" b="0" i="0" u="none" strike="noStrike">
                <a:solidFill>
                  <a:srgbClr val="000000"/>
                </a:solidFill>
                <a:latin typeface="Times New Roman"/>
                <a:ea typeface="Times New Roman"/>
                <a:cs typeface="Times New Roman"/>
                <a:sym typeface="Times New Roman"/>
              </a:rPr>
              <a:t>Add R1, R0 :Add contents of R1, R0 and place the sum to R0</a:t>
            </a:r>
            <a:r>
              <a:rPr lang="en-US" sz="1200" b="0" i="0" u="none" strike="noStrike">
                <a:solidFill>
                  <a:srgbClr val="000000"/>
                </a:solidFill>
                <a:latin typeface="Times New Roman"/>
                <a:ea typeface="Times New Roman"/>
                <a:cs typeface="Times New Roman"/>
                <a:sym typeface="Times New Roman"/>
              </a:rPr>
              <a:t>.</a:t>
            </a:r>
            <a:endParaRPr/>
          </a:p>
          <a:p>
            <a:pPr marL="457200" lvl="1" indent="0" algn="l" rtl="0">
              <a:lnSpc>
                <a:spcPct val="90000"/>
              </a:lnSpc>
              <a:spcBef>
                <a:spcPts val="500"/>
              </a:spcBef>
              <a:spcAft>
                <a:spcPts val="0"/>
              </a:spcAft>
              <a:buClr>
                <a:schemeClr val="dk1"/>
              </a:buClr>
              <a:buSzPts val="1200"/>
              <a:buNone/>
            </a:pPr>
            <a:endParaRPr sz="1200">
              <a:solidFill>
                <a:srgbClr val="000000"/>
              </a:solidFill>
              <a:latin typeface="Times New Roman"/>
              <a:ea typeface="Times New Roman"/>
              <a:cs typeface="Times New Roman"/>
              <a:sym typeface="Times New Roman"/>
            </a:endParaRPr>
          </a:p>
          <a:p>
            <a:pPr marL="457200" lvl="1" indent="0" algn="l" rtl="0">
              <a:lnSpc>
                <a:spcPct val="90000"/>
              </a:lnSpc>
              <a:spcBef>
                <a:spcPts val="500"/>
              </a:spcBef>
              <a:spcAft>
                <a:spcPts val="0"/>
              </a:spcAft>
              <a:buClr>
                <a:schemeClr val="dk1"/>
              </a:buClr>
              <a:buSzPts val="1200"/>
              <a:buNone/>
            </a:pPr>
            <a:endParaRPr sz="1200" b="0" i="0" u="none" strike="noStrike">
              <a:solidFill>
                <a:srgbClr val="000000"/>
              </a:solidFill>
              <a:latin typeface="Times New Roman"/>
              <a:ea typeface="Times New Roman"/>
              <a:cs typeface="Times New Roman"/>
              <a:sym typeface="Times New Roman"/>
            </a:endParaRPr>
          </a:p>
          <a:p>
            <a:pPr marL="457200" lvl="1" indent="0" algn="l" rtl="0">
              <a:lnSpc>
                <a:spcPct val="90000"/>
              </a:lnSpc>
              <a:spcBef>
                <a:spcPts val="500"/>
              </a:spcBef>
              <a:spcAft>
                <a:spcPts val="0"/>
              </a:spcAft>
              <a:buClr>
                <a:srgbClr val="000000"/>
              </a:buClr>
              <a:buSzPts val="1200"/>
              <a:buNone/>
            </a:pPr>
            <a:r>
              <a:rPr lang="en-US" sz="1200" b="0" i="0" u="none" strike="noStrike">
                <a:solidFill>
                  <a:srgbClr val="000000"/>
                </a:solidFill>
                <a:latin typeface="Times New Roman"/>
                <a:ea typeface="Times New Roman"/>
                <a:cs typeface="Times New Roman"/>
                <a:sym typeface="Times New Roman"/>
              </a:rPr>
              <a:t>	</a:t>
            </a:r>
            <a:endParaRPr/>
          </a:p>
          <a:p>
            <a:pPr marL="228600" lvl="0" indent="-127000" algn="just" rtl="0">
              <a:lnSpc>
                <a:spcPct val="90000"/>
              </a:lnSpc>
              <a:spcBef>
                <a:spcPts val="1000"/>
              </a:spcBef>
              <a:spcAft>
                <a:spcPts val="0"/>
              </a:spcAft>
              <a:buClr>
                <a:schemeClr val="dk1"/>
              </a:buClr>
              <a:buSzPts val="1600"/>
              <a:buNone/>
            </a:pPr>
            <a:endParaRPr sz="1600">
              <a:latin typeface="Times New Roman"/>
              <a:ea typeface="Times New Roman"/>
              <a:cs typeface="Times New Roman"/>
              <a:sym typeface="Times New Roman"/>
            </a:endParaRPr>
          </a:p>
        </p:txBody>
      </p:sp>
      <p:pic>
        <p:nvPicPr>
          <p:cNvPr id="118" name="Google Shape;118;p6"/>
          <p:cNvPicPr preferRelativeResize="0"/>
          <p:nvPr/>
        </p:nvPicPr>
        <p:blipFill rotWithShape="1">
          <a:blip r:embed="rId3">
            <a:alphaModFix/>
          </a:blip>
          <a:srcRect/>
          <a:stretch/>
        </p:blipFill>
        <p:spPr>
          <a:xfrm>
            <a:off x="7781595" y="2817845"/>
            <a:ext cx="3572205" cy="297945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7"/>
          <p:cNvSpPr txBox="1">
            <a:spLocks noGrp="1"/>
          </p:cNvSpPr>
          <p:nvPr>
            <p:ph type="body" idx="1"/>
          </p:nvPr>
        </p:nvSpPr>
        <p:spPr>
          <a:xfrm>
            <a:off x="838200" y="298580"/>
            <a:ext cx="10515600" cy="5878383"/>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rgbClr val="000000"/>
              </a:buClr>
              <a:buSzPts val="2000"/>
              <a:buChar char="•"/>
            </a:pPr>
            <a:r>
              <a:rPr lang="en-US" sz="2000" b="0" i="0" u="none" strike="noStrike">
                <a:solidFill>
                  <a:srgbClr val="000000"/>
                </a:solidFill>
                <a:latin typeface="Times New Roman"/>
                <a:ea typeface="Times New Roman"/>
                <a:cs typeface="Times New Roman"/>
                <a:sym typeface="Times New Roman"/>
              </a:rPr>
              <a:t>The figure 1.2 shows how the memory and the processor can be connected. In addition to the ALU and the control circuitry, the processor contains a number of registers used for several different purposes </a:t>
            </a:r>
            <a:endParaRPr/>
          </a:p>
          <a:p>
            <a:pPr marL="228600" lvl="0" indent="-228600" algn="just" rtl="0">
              <a:lnSpc>
                <a:spcPct val="90000"/>
              </a:lnSpc>
              <a:spcBef>
                <a:spcPts val="1000"/>
              </a:spcBef>
              <a:spcAft>
                <a:spcPts val="0"/>
              </a:spcAft>
              <a:buClr>
                <a:srgbClr val="000000"/>
              </a:buClr>
              <a:buSzPts val="2000"/>
              <a:buChar char="•"/>
            </a:pPr>
            <a:r>
              <a:rPr lang="en-US" sz="2000" b="0" i="0" u="none" strike="noStrike">
                <a:solidFill>
                  <a:srgbClr val="000000"/>
                </a:solidFill>
                <a:latin typeface="Times New Roman"/>
                <a:ea typeface="Times New Roman"/>
                <a:cs typeface="Times New Roman"/>
                <a:sym typeface="Times New Roman"/>
              </a:rPr>
              <a:t>The </a:t>
            </a:r>
            <a:r>
              <a:rPr lang="en-US" sz="2000" b="0" i="1" u="none" strike="noStrike">
                <a:solidFill>
                  <a:srgbClr val="000000"/>
                </a:solidFill>
                <a:latin typeface="Times New Roman"/>
                <a:ea typeface="Times New Roman"/>
                <a:cs typeface="Times New Roman"/>
                <a:sym typeface="Times New Roman"/>
              </a:rPr>
              <a:t>instruction register (IR) </a:t>
            </a:r>
            <a:r>
              <a:rPr lang="en-US" sz="2000" b="0" i="0" u="none" strike="noStrike">
                <a:solidFill>
                  <a:srgbClr val="000000"/>
                </a:solidFill>
                <a:latin typeface="Times New Roman"/>
                <a:ea typeface="Times New Roman"/>
                <a:cs typeface="Times New Roman"/>
                <a:sym typeface="Times New Roman"/>
              </a:rPr>
              <a:t>holds the instruction that is currently being executed. </a:t>
            </a:r>
            <a:endParaRPr/>
          </a:p>
          <a:p>
            <a:pPr marL="228600" lvl="0" indent="-228600" algn="just" rtl="0">
              <a:lnSpc>
                <a:spcPct val="90000"/>
              </a:lnSpc>
              <a:spcBef>
                <a:spcPts val="1000"/>
              </a:spcBef>
              <a:spcAft>
                <a:spcPts val="0"/>
              </a:spcAft>
              <a:buClr>
                <a:srgbClr val="000000"/>
              </a:buClr>
              <a:buSzPts val="2000"/>
              <a:buChar char="•"/>
            </a:pPr>
            <a:r>
              <a:rPr lang="en-US" sz="2000" b="0" i="0" u="none" strike="noStrike">
                <a:solidFill>
                  <a:srgbClr val="000000"/>
                </a:solidFill>
                <a:latin typeface="Times New Roman"/>
                <a:ea typeface="Times New Roman"/>
                <a:cs typeface="Times New Roman"/>
                <a:sym typeface="Times New Roman"/>
              </a:rPr>
              <a:t>The </a:t>
            </a:r>
            <a:r>
              <a:rPr lang="en-US" sz="2000" b="0" i="1" u="none" strike="noStrike">
                <a:solidFill>
                  <a:srgbClr val="000000"/>
                </a:solidFill>
                <a:latin typeface="Times New Roman"/>
                <a:ea typeface="Times New Roman"/>
                <a:cs typeface="Times New Roman"/>
                <a:sym typeface="Times New Roman"/>
              </a:rPr>
              <a:t>program counter (PC) </a:t>
            </a:r>
            <a:r>
              <a:rPr lang="en-US" sz="2000" b="0" i="0" u="none" strike="noStrike">
                <a:solidFill>
                  <a:srgbClr val="000000"/>
                </a:solidFill>
                <a:latin typeface="Times New Roman"/>
                <a:ea typeface="Times New Roman"/>
                <a:cs typeface="Times New Roman"/>
                <a:sym typeface="Times New Roman"/>
              </a:rPr>
              <a:t>contains the memory address of the next instruction to be fetched and executed. </a:t>
            </a:r>
            <a:endParaRPr/>
          </a:p>
          <a:p>
            <a:pPr marL="228600" lvl="0" indent="-228600" algn="just" rtl="0">
              <a:lnSpc>
                <a:spcPct val="90000"/>
              </a:lnSpc>
              <a:spcBef>
                <a:spcPts val="1000"/>
              </a:spcBef>
              <a:spcAft>
                <a:spcPts val="0"/>
              </a:spcAft>
              <a:buClr>
                <a:srgbClr val="000000"/>
              </a:buClr>
              <a:buSzPts val="2000"/>
              <a:buChar char="•"/>
            </a:pPr>
            <a:r>
              <a:rPr lang="en-US" sz="2000" b="0" i="0" u="none" strike="noStrike">
                <a:solidFill>
                  <a:srgbClr val="000000"/>
                </a:solidFill>
                <a:latin typeface="Times New Roman"/>
                <a:ea typeface="Times New Roman"/>
                <a:cs typeface="Times New Roman"/>
                <a:sym typeface="Times New Roman"/>
              </a:rPr>
              <a:t>In addition to the IR and PC, general-purpose registers R0 through Rn−1, often called </a:t>
            </a:r>
            <a:r>
              <a:rPr lang="en-US" sz="2000" b="0" i="1" u="none" strike="noStrike">
                <a:solidFill>
                  <a:srgbClr val="000000"/>
                </a:solidFill>
                <a:latin typeface="Times New Roman"/>
                <a:ea typeface="Times New Roman"/>
                <a:cs typeface="Times New Roman"/>
                <a:sym typeface="Times New Roman"/>
              </a:rPr>
              <a:t>processor registers</a:t>
            </a:r>
            <a:r>
              <a:rPr lang="en-US" sz="2000" b="0" i="0" u="none" strike="noStrike">
                <a:solidFill>
                  <a:srgbClr val="000000"/>
                </a:solidFill>
                <a:latin typeface="Times New Roman"/>
                <a:ea typeface="Times New Roman"/>
                <a:cs typeface="Times New Roman"/>
                <a:sym typeface="Times New Roman"/>
              </a:rPr>
              <a:t>. They serve a variety of functions, including holding operands that have been loaded from the memory for processing. </a:t>
            </a:r>
            <a:endParaRPr/>
          </a:p>
          <a:p>
            <a:pPr marL="228600" lvl="0" indent="-228600" algn="just" rtl="0">
              <a:lnSpc>
                <a:spcPct val="90000"/>
              </a:lnSpc>
              <a:spcBef>
                <a:spcPts val="1000"/>
              </a:spcBef>
              <a:spcAft>
                <a:spcPts val="0"/>
              </a:spcAft>
              <a:buClr>
                <a:srgbClr val="000000"/>
              </a:buClr>
              <a:buSzPts val="2000"/>
              <a:buChar char="•"/>
            </a:pPr>
            <a:r>
              <a:rPr lang="en-US" sz="2000">
                <a:solidFill>
                  <a:srgbClr val="000000"/>
                </a:solidFill>
                <a:latin typeface="Times New Roman"/>
                <a:ea typeface="Times New Roman"/>
                <a:cs typeface="Times New Roman"/>
                <a:sym typeface="Times New Roman"/>
              </a:rPr>
              <a:t>Finally, two registers facilitate communication with the memory. These are the Memory Address Register (MAR)and the Memory Data Register(MDR)</a:t>
            </a:r>
            <a:endParaRPr/>
          </a:p>
          <a:p>
            <a:pPr marL="228600" lvl="0" indent="-228600" algn="just" rtl="0">
              <a:lnSpc>
                <a:spcPct val="90000"/>
              </a:lnSpc>
              <a:spcBef>
                <a:spcPts val="1000"/>
              </a:spcBef>
              <a:spcAft>
                <a:spcPts val="0"/>
              </a:spcAft>
              <a:buClr>
                <a:srgbClr val="000000"/>
              </a:buClr>
              <a:buSzPts val="2000"/>
              <a:buChar char="•"/>
            </a:pPr>
            <a:r>
              <a:rPr lang="en-US" sz="2000" b="0" i="0" u="none" strike="noStrike">
                <a:solidFill>
                  <a:srgbClr val="000000"/>
                </a:solidFill>
                <a:latin typeface="Times New Roman"/>
                <a:ea typeface="Times New Roman"/>
                <a:cs typeface="Times New Roman"/>
                <a:sym typeface="Times New Roman"/>
              </a:rPr>
              <a:t>MAR h</a:t>
            </a:r>
            <a:r>
              <a:rPr lang="en-US" sz="2000">
                <a:solidFill>
                  <a:srgbClr val="000000"/>
                </a:solidFill>
                <a:latin typeface="Times New Roman"/>
                <a:ea typeface="Times New Roman"/>
                <a:cs typeface="Times New Roman"/>
                <a:sym typeface="Times New Roman"/>
              </a:rPr>
              <a:t>olds the address of the location to be accessed.</a:t>
            </a:r>
            <a:endParaRPr/>
          </a:p>
          <a:p>
            <a:pPr marL="228600" lvl="0" indent="-228600" algn="just" rtl="0">
              <a:lnSpc>
                <a:spcPct val="90000"/>
              </a:lnSpc>
              <a:spcBef>
                <a:spcPts val="1000"/>
              </a:spcBef>
              <a:spcAft>
                <a:spcPts val="0"/>
              </a:spcAft>
              <a:buClr>
                <a:srgbClr val="000000"/>
              </a:buClr>
              <a:buSzPts val="2000"/>
              <a:buChar char="•"/>
            </a:pPr>
            <a:r>
              <a:rPr lang="en-US" sz="2000" b="0" i="0" u="none" strike="noStrike">
                <a:solidFill>
                  <a:srgbClr val="000000"/>
                </a:solidFill>
                <a:latin typeface="Times New Roman"/>
                <a:ea typeface="Times New Roman"/>
                <a:cs typeface="Times New Roman"/>
                <a:sym typeface="Times New Roman"/>
              </a:rPr>
              <a:t>MDR contains the </a:t>
            </a:r>
            <a:r>
              <a:rPr lang="en-US" sz="2000">
                <a:solidFill>
                  <a:srgbClr val="000000"/>
                </a:solidFill>
                <a:latin typeface="Times New Roman"/>
                <a:ea typeface="Times New Roman"/>
                <a:cs typeface="Times New Roman"/>
                <a:sym typeface="Times New Roman"/>
              </a:rPr>
              <a:t>data to be written into or read out of the addressed location</a:t>
            </a:r>
            <a:endParaRPr sz="2000" b="0" i="0" u="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8"/>
          <p:cNvSpPr txBox="1">
            <a:spLocks noGrp="1"/>
          </p:cNvSpPr>
          <p:nvPr>
            <p:ph type="body" idx="1"/>
          </p:nvPr>
        </p:nvSpPr>
        <p:spPr>
          <a:xfrm>
            <a:off x="838200" y="261257"/>
            <a:ext cx="10515600" cy="594369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0000"/>
              </a:buClr>
              <a:buSzPts val="2800"/>
              <a:buChar char="•"/>
            </a:pPr>
            <a:r>
              <a:rPr lang="en-US" sz="2800" b="1" i="1" u="none" strike="noStrike">
                <a:solidFill>
                  <a:srgbClr val="000000"/>
                </a:solidFill>
                <a:latin typeface="Times New Roman"/>
                <a:ea typeface="Times New Roman"/>
                <a:cs typeface="Times New Roman"/>
                <a:sym typeface="Times New Roman"/>
              </a:rPr>
              <a:t>Operating Steps</a:t>
            </a:r>
            <a:endParaRPr/>
          </a:p>
          <a:p>
            <a:pPr marL="0" lvl="0" indent="0" algn="l" rtl="0">
              <a:lnSpc>
                <a:spcPct val="90000"/>
              </a:lnSpc>
              <a:spcBef>
                <a:spcPts val="1000"/>
              </a:spcBef>
              <a:spcAft>
                <a:spcPts val="0"/>
              </a:spcAft>
              <a:buClr>
                <a:schemeClr val="dk1"/>
              </a:buClr>
              <a:buSzPts val="1800"/>
              <a:buNone/>
            </a:pPr>
            <a:endParaRPr sz="1800" b="0" i="0" u="none" strike="noStrike">
              <a:solidFill>
                <a:srgbClr val="000000"/>
              </a:solidFill>
              <a:latin typeface="Times New Roman"/>
              <a:ea typeface="Times New Roman"/>
              <a:cs typeface="Times New Roman"/>
              <a:sym typeface="Times New Roman"/>
            </a:endParaRPr>
          </a:p>
          <a:p>
            <a:pPr marL="228600" lvl="0" indent="-228600" algn="l" rtl="0">
              <a:lnSpc>
                <a:spcPct val="90000"/>
              </a:lnSpc>
              <a:spcBef>
                <a:spcPts val="1000"/>
              </a:spcBef>
              <a:spcAft>
                <a:spcPts val="0"/>
              </a:spcAft>
              <a:buClr>
                <a:srgbClr val="000000"/>
              </a:buClr>
              <a:buSzPts val="1800"/>
              <a:buChar char="•"/>
            </a:pPr>
            <a:r>
              <a:rPr lang="en-US" sz="1800" b="0" i="0" u="none" strike="noStrike">
                <a:solidFill>
                  <a:srgbClr val="000000"/>
                </a:solidFill>
                <a:latin typeface="Times New Roman"/>
                <a:ea typeface="Times New Roman"/>
                <a:cs typeface="Times New Roman"/>
                <a:sym typeface="Times New Roman"/>
              </a:rPr>
              <a:t>The contents of PC are transferred to MAR. A read signal is sent to the memory. </a:t>
            </a:r>
            <a:endParaRPr/>
          </a:p>
          <a:p>
            <a:pPr marL="228600" lvl="0" indent="-228600" algn="l" rtl="0">
              <a:lnSpc>
                <a:spcPct val="90000"/>
              </a:lnSpc>
              <a:spcBef>
                <a:spcPts val="1000"/>
              </a:spcBef>
              <a:spcAft>
                <a:spcPts val="0"/>
              </a:spcAft>
              <a:buClr>
                <a:srgbClr val="000000"/>
              </a:buClr>
              <a:buSzPts val="1800"/>
              <a:buChar char="•"/>
            </a:pPr>
            <a:r>
              <a:rPr lang="en-US" sz="1800" b="0" i="0" u="none" strike="noStrike">
                <a:solidFill>
                  <a:srgbClr val="000000"/>
                </a:solidFill>
                <a:latin typeface="Times New Roman"/>
                <a:ea typeface="Times New Roman"/>
                <a:cs typeface="Times New Roman"/>
                <a:sym typeface="Times New Roman"/>
              </a:rPr>
              <a:t>The first instruction is read out and loaded into MDR. </a:t>
            </a:r>
            <a:endParaRPr/>
          </a:p>
          <a:p>
            <a:pPr marL="228600" lvl="0" indent="-228600" algn="l" rtl="0">
              <a:lnSpc>
                <a:spcPct val="90000"/>
              </a:lnSpc>
              <a:spcBef>
                <a:spcPts val="1000"/>
              </a:spcBef>
              <a:spcAft>
                <a:spcPts val="0"/>
              </a:spcAft>
              <a:buClr>
                <a:srgbClr val="000000"/>
              </a:buClr>
              <a:buSzPts val="1800"/>
              <a:buChar char="•"/>
            </a:pPr>
            <a:r>
              <a:rPr lang="en-US" sz="1800" b="0" i="0" u="none" strike="noStrike">
                <a:solidFill>
                  <a:srgbClr val="000000"/>
                </a:solidFill>
                <a:latin typeface="Times New Roman"/>
                <a:ea typeface="Times New Roman"/>
                <a:cs typeface="Times New Roman"/>
                <a:sym typeface="Times New Roman"/>
              </a:rPr>
              <a:t>The contents of MDR are transferred to IR. </a:t>
            </a:r>
            <a:endParaRPr/>
          </a:p>
          <a:p>
            <a:pPr marL="228600" lvl="0" indent="-228600" algn="l" rtl="0">
              <a:lnSpc>
                <a:spcPct val="90000"/>
              </a:lnSpc>
              <a:spcBef>
                <a:spcPts val="1000"/>
              </a:spcBef>
              <a:spcAft>
                <a:spcPts val="0"/>
              </a:spcAft>
              <a:buClr>
                <a:srgbClr val="000000"/>
              </a:buClr>
              <a:buSzPts val="1800"/>
              <a:buChar char="•"/>
            </a:pPr>
            <a:r>
              <a:rPr lang="en-US" sz="1800" b="0" i="0" u="none" strike="noStrike">
                <a:solidFill>
                  <a:srgbClr val="000000"/>
                </a:solidFill>
                <a:latin typeface="Times New Roman"/>
                <a:ea typeface="Times New Roman"/>
                <a:cs typeface="Times New Roman"/>
                <a:sym typeface="Times New Roman"/>
              </a:rPr>
              <a:t>Decode and execute the instruction</a:t>
            </a:r>
            <a:endParaRPr/>
          </a:p>
          <a:p>
            <a:pPr marL="228600" lvl="0" indent="-228600" algn="l" rtl="0">
              <a:lnSpc>
                <a:spcPct val="90000"/>
              </a:lnSpc>
              <a:spcBef>
                <a:spcPts val="1000"/>
              </a:spcBef>
              <a:spcAft>
                <a:spcPts val="0"/>
              </a:spcAft>
              <a:buClr>
                <a:srgbClr val="000000"/>
              </a:buClr>
              <a:buSzPts val="1800"/>
              <a:buChar char="•"/>
            </a:pPr>
            <a:r>
              <a:rPr lang="en-US" sz="1800" b="0" i="0" u="none" strike="noStrike">
                <a:solidFill>
                  <a:srgbClr val="000000"/>
                </a:solidFill>
                <a:latin typeface="Times New Roman"/>
                <a:ea typeface="Times New Roman"/>
                <a:cs typeface="Times New Roman"/>
                <a:sym typeface="Times New Roman"/>
              </a:rPr>
              <a:t>During the execution, PC is incremented to the next instruction. </a:t>
            </a:r>
            <a:endParaRPr/>
          </a:p>
          <a:p>
            <a:pPr marL="0" lvl="0" indent="0" algn="l" rtl="0">
              <a:lnSpc>
                <a:spcPct val="90000"/>
              </a:lnSpc>
              <a:spcBef>
                <a:spcPts val="1000"/>
              </a:spcBef>
              <a:spcAft>
                <a:spcPts val="0"/>
              </a:spcAft>
              <a:buClr>
                <a:schemeClr val="dk1"/>
              </a:buClr>
              <a:buSzPts val="4000"/>
              <a:buNone/>
            </a:pPr>
            <a:endParaRPr sz="4000"/>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9"/>
          <p:cNvSpPr txBox="1">
            <a:spLocks noGrp="1"/>
          </p:cNvSpPr>
          <p:nvPr>
            <p:ph type="title"/>
          </p:nvPr>
        </p:nvSpPr>
        <p:spPr>
          <a:xfrm>
            <a:off x="839788" y="447868"/>
            <a:ext cx="3932237" cy="2780523"/>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3200"/>
              <a:buFont typeface="Calibri"/>
              <a:buNone/>
            </a:pPr>
            <a:endParaRPr/>
          </a:p>
        </p:txBody>
      </p:sp>
      <p:sp>
        <p:nvSpPr>
          <p:cNvPr id="134" name="Google Shape;134;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rgbClr val="000000"/>
              </a:buClr>
              <a:buSzPts val="2000"/>
              <a:buChar char="•"/>
            </a:pPr>
            <a:r>
              <a:rPr lang="en-US" sz="2000" i="0" u="none" strike="noStrike">
                <a:solidFill>
                  <a:srgbClr val="000000"/>
                </a:solidFill>
                <a:latin typeface="Times New Roman"/>
                <a:ea typeface="Times New Roman"/>
                <a:cs typeface="Times New Roman"/>
                <a:sym typeface="Times New Roman"/>
              </a:rPr>
              <a:t>BUS STRUCTURES </a:t>
            </a:r>
            <a:endParaRPr/>
          </a:p>
          <a:p>
            <a:pPr marL="228600" lvl="0" indent="-228600" algn="just" rtl="0">
              <a:lnSpc>
                <a:spcPct val="90000"/>
              </a:lnSpc>
              <a:spcBef>
                <a:spcPts val="1000"/>
              </a:spcBef>
              <a:spcAft>
                <a:spcPts val="0"/>
              </a:spcAft>
              <a:buClr>
                <a:srgbClr val="000000"/>
              </a:buClr>
              <a:buSzPts val="2000"/>
              <a:buChar char="•"/>
            </a:pPr>
            <a:r>
              <a:rPr lang="en-US" sz="2000">
                <a:solidFill>
                  <a:srgbClr val="000000"/>
                </a:solidFill>
                <a:latin typeface="Times New Roman"/>
                <a:ea typeface="Times New Roman"/>
                <a:cs typeface="Times New Roman"/>
                <a:sym typeface="Times New Roman"/>
              </a:rPr>
              <a:t>A group of lines that serves as a connecting path for several devices is called a bus</a:t>
            </a:r>
            <a:endParaRPr/>
          </a:p>
          <a:p>
            <a:pPr marL="228600" lvl="0" indent="-228600" algn="just" rtl="0">
              <a:lnSpc>
                <a:spcPct val="90000"/>
              </a:lnSpc>
              <a:spcBef>
                <a:spcPts val="1000"/>
              </a:spcBef>
              <a:spcAft>
                <a:spcPts val="0"/>
              </a:spcAft>
              <a:buClr>
                <a:srgbClr val="000000"/>
              </a:buClr>
              <a:buSzPts val="2000"/>
              <a:buChar char="•"/>
            </a:pPr>
            <a:r>
              <a:rPr lang="en-US" sz="2000">
                <a:solidFill>
                  <a:srgbClr val="000000"/>
                </a:solidFill>
                <a:latin typeface="Times New Roman"/>
                <a:ea typeface="Times New Roman"/>
                <a:cs typeface="Times New Roman"/>
                <a:sym typeface="Times New Roman"/>
              </a:rPr>
              <a:t>The simplest way to interconnect functional units is to use a single bus (All the units are connected to this bus)</a:t>
            </a:r>
            <a:endParaRPr/>
          </a:p>
          <a:p>
            <a:pPr marL="228600" lvl="0" indent="-228600" algn="just" rtl="0">
              <a:lnSpc>
                <a:spcPct val="90000"/>
              </a:lnSpc>
              <a:spcBef>
                <a:spcPts val="1000"/>
              </a:spcBef>
              <a:spcAft>
                <a:spcPts val="0"/>
              </a:spcAft>
              <a:buClr>
                <a:srgbClr val="000000"/>
              </a:buClr>
              <a:buSzPts val="2000"/>
              <a:buChar char="•"/>
            </a:pPr>
            <a:r>
              <a:rPr lang="en-US" sz="2000">
                <a:solidFill>
                  <a:srgbClr val="000000"/>
                </a:solidFill>
                <a:latin typeface="Times New Roman"/>
                <a:ea typeface="Times New Roman"/>
                <a:cs typeface="Times New Roman"/>
                <a:sym typeface="Times New Roman"/>
              </a:rPr>
              <a:t>Only two units can actively use the bus at any given time</a:t>
            </a:r>
            <a:endParaRPr/>
          </a:p>
          <a:p>
            <a:pPr marL="228600" lvl="0" indent="-228600" algn="just" rtl="0">
              <a:lnSpc>
                <a:spcPct val="90000"/>
              </a:lnSpc>
              <a:spcBef>
                <a:spcPts val="1000"/>
              </a:spcBef>
              <a:spcAft>
                <a:spcPts val="0"/>
              </a:spcAft>
              <a:buClr>
                <a:srgbClr val="000000"/>
              </a:buClr>
              <a:buSzPts val="2000"/>
              <a:buChar char="•"/>
            </a:pPr>
            <a:r>
              <a:rPr lang="en-US" sz="2000">
                <a:solidFill>
                  <a:srgbClr val="000000"/>
                </a:solidFill>
                <a:latin typeface="Times New Roman"/>
                <a:ea typeface="Times New Roman"/>
                <a:cs typeface="Times New Roman"/>
                <a:sym typeface="Times New Roman"/>
              </a:rPr>
              <a:t>System that contain multiple bus allows two or more transfers to be carried out at the same time</a:t>
            </a:r>
            <a:endParaRPr/>
          </a:p>
          <a:p>
            <a:pPr marL="228600" lvl="0" indent="-228600" algn="just" rtl="0">
              <a:lnSpc>
                <a:spcPct val="90000"/>
              </a:lnSpc>
              <a:spcBef>
                <a:spcPts val="1000"/>
              </a:spcBef>
              <a:spcAft>
                <a:spcPts val="0"/>
              </a:spcAft>
              <a:buClr>
                <a:srgbClr val="000000"/>
              </a:buClr>
              <a:buSzPts val="2000"/>
              <a:buChar char="•"/>
            </a:pPr>
            <a:r>
              <a:rPr lang="en-US" sz="2000">
                <a:solidFill>
                  <a:srgbClr val="000000"/>
                </a:solidFill>
                <a:latin typeface="Times New Roman"/>
                <a:ea typeface="Times New Roman"/>
                <a:cs typeface="Times New Roman"/>
                <a:sym typeface="Times New Roman"/>
              </a:rPr>
              <a:t>When a word of data is transferred between units, all its bits are transferred in parallel ie the  bits are transferred simultaneously over many wires or lines, one bit per line</a:t>
            </a:r>
            <a:endParaRPr sz="3600"/>
          </a:p>
        </p:txBody>
      </p:sp>
      <p:sp>
        <p:nvSpPr>
          <p:cNvPr id="135" name="Google Shape;135;p9"/>
          <p:cNvSpPr txBox="1">
            <a:spLocks noGrp="1"/>
          </p:cNvSpPr>
          <p:nvPr>
            <p:ph type="body" idx="2"/>
          </p:nvPr>
        </p:nvSpPr>
        <p:spPr>
          <a:xfrm>
            <a:off x="839788" y="3228391"/>
            <a:ext cx="3932237" cy="264059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1600"/>
              <a:buNone/>
            </a:pPr>
            <a:endParaRPr/>
          </a:p>
        </p:txBody>
      </p:sp>
      <p:pic>
        <p:nvPicPr>
          <p:cNvPr id="136" name="Google Shape;136;p9"/>
          <p:cNvPicPr preferRelativeResize="0"/>
          <p:nvPr/>
        </p:nvPicPr>
        <p:blipFill rotWithShape="1">
          <a:blip r:embed="rId3">
            <a:alphaModFix/>
          </a:blip>
          <a:srcRect/>
          <a:stretch/>
        </p:blipFill>
        <p:spPr>
          <a:xfrm>
            <a:off x="554637" y="172418"/>
            <a:ext cx="4628552" cy="2900566"/>
          </a:xfrm>
          <a:prstGeom prst="rect">
            <a:avLst/>
          </a:prstGeom>
          <a:noFill/>
          <a:ln>
            <a:noFill/>
          </a:ln>
        </p:spPr>
      </p:pic>
      <p:pic>
        <p:nvPicPr>
          <p:cNvPr id="137" name="Google Shape;137;p9"/>
          <p:cNvPicPr preferRelativeResize="0"/>
          <p:nvPr/>
        </p:nvPicPr>
        <p:blipFill rotWithShape="1">
          <a:blip r:embed="rId4">
            <a:alphaModFix/>
          </a:blip>
          <a:srcRect/>
          <a:stretch/>
        </p:blipFill>
        <p:spPr>
          <a:xfrm>
            <a:off x="419725" y="3503840"/>
            <a:ext cx="4886793" cy="318174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10"/>
          <p:cNvSpPr txBox="1">
            <a:spLocks noGrp="1"/>
          </p:cNvSpPr>
          <p:nvPr>
            <p:ph type="body" idx="1"/>
          </p:nvPr>
        </p:nvSpPr>
        <p:spPr>
          <a:xfrm>
            <a:off x="358219" y="289249"/>
            <a:ext cx="11397006" cy="5887714"/>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rgbClr val="000000"/>
              </a:buClr>
              <a:buSzPts val="2000"/>
              <a:buNone/>
            </a:pPr>
            <a:r>
              <a:rPr lang="en-US" sz="2400" b="1" i="0" u="none" strike="noStrike" dirty="0">
                <a:solidFill>
                  <a:srgbClr val="000000"/>
                </a:solidFill>
                <a:latin typeface="Times New Roman"/>
                <a:ea typeface="Times New Roman"/>
                <a:cs typeface="Times New Roman"/>
                <a:sym typeface="Times New Roman"/>
              </a:rPr>
              <a:t>MEMORY LOCATIONS AND ADDRESSES </a:t>
            </a:r>
            <a:endParaRPr sz="2400" dirty="0"/>
          </a:p>
          <a:p>
            <a:pPr marL="228600" lvl="0" indent="-228600" algn="just" rtl="0">
              <a:lnSpc>
                <a:spcPct val="90000"/>
              </a:lnSpc>
              <a:spcBef>
                <a:spcPts val="1000"/>
              </a:spcBef>
              <a:spcAft>
                <a:spcPts val="0"/>
              </a:spcAft>
              <a:buClr>
                <a:srgbClr val="000000"/>
              </a:buClr>
              <a:buSzPts val="2000"/>
              <a:buChar char="•"/>
            </a:pPr>
            <a:r>
              <a:rPr lang="en-US" sz="2400" b="0" i="0" u="none" strike="noStrike" dirty="0">
                <a:solidFill>
                  <a:srgbClr val="000000"/>
                </a:solidFill>
                <a:latin typeface="Times New Roman"/>
                <a:ea typeface="Times New Roman"/>
                <a:cs typeface="Times New Roman"/>
                <a:sym typeface="Times New Roman"/>
              </a:rPr>
              <a:t>The memory consists of many millions of storage cells, each of which can store a bit of information having the value 0 or 1. </a:t>
            </a:r>
            <a:endParaRPr sz="2400" dirty="0"/>
          </a:p>
          <a:p>
            <a:pPr marL="228600" lvl="0" indent="-228600" algn="just" rtl="0">
              <a:lnSpc>
                <a:spcPct val="90000"/>
              </a:lnSpc>
              <a:spcBef>
                <a:spcPts val="1000"/>
              </a:spcBef>
              <a:spcAft>
                <a:spcPts val="0"/>
              </a:spcAft>
              <a:buClr>
                <a:srgbClr val="000000"/>
              </a:buClr>
              <a:buSzPts val="2000"/>
              <a:buChar char="•"/>
            </a:pPr>
            <a:r>
              <a:rPr lang="en-US" sz="2400" b="0" i="0" u="none" strike="noStrike" dirty="0">
                <a:solidFill>
                  <a:srgbClr val="000000"/>
                </a:solidFill>
                <a:latin typeface="Times New Roman"/>
                <a:ea typeface="Times New Roman"/>
                <a:cs typeface="Times New Roman"/>
                <a:sym typeface="Times New Roman"/>
              </a:rPr>
              <a:t>The memory is organized so that a group of n bits can be stored or retrieved in a single, basic operation. </a:t>
            </a:r>
            <a:endParaRPr sz="2400" dirty="0"/>
          </a:p>
          <a:p>
            <a:pPr marL="228600" lvl="0" indent="-228600" algn="just" rtl="0">
              <a:lnSpc>
                <a:spcPct val="90000"/>
              </a:lnSpc>
              <a:spcBef>
                <a:spcPts val="1000"/>
              </a:spcBef>
              <a:spcAft>
                <a:spcPts val="0"/>
              </a:spcAft>
              <a:buClr>
                <a:srgbClr val="000000"/>
              </a:buClr>
              <a:buSzPts val="2000"/>
              <a:buChar char="•"/>
            </a:pPr>
            <a:r>
              <a:rPr lang="en-US" sz="2400" b="0" i="0" u="none" strike="noStrike" dirty="0">
                <a:solidFill>
                  <a:srgbClr val="000000"/>
                </a:solidFill>
                <a:latin typeface="Times New Roman"/>
                <a:ea typeface="Times New Roman"/>
                <a:cs typeface="Times New Roman"/>
                <a:sym typeface="Times New Roman"/>
              </a:rPr>
              <a:t>Each group of n bits is referred to as a </a:t>
            </a:r>
            <a:r>
              <a:rPr lang="en-US" sz="2400" b="1" i="1" u="none" strike="noStrike" dirty="0">
                <a:solidFill>
                  <a:srgbClr val="000000"/>
                </a:solidFill>
                <a:latin typeface="Times New Roman"/>
                <a:ea typeface="Times New Roman"/>
                <a:cs typeface="Times New Roman"/>
                <a:sym typeface="Times New Roman"/>
              </a:rPr>
              <a:t>word </a:t>
            </a:r>
            <a:r>
              <a:rPr lang="en-US" sz="2400" b="0" i="0" u="none" strike="noStrike" dirty="0">
                <a:solidFill>
                  <a:srgbClr val="000000"/>
                </a:solidFill>
                <a:latin typeface="Times New Roman"/>
                <a:ea typeface="Times New Roman"/>
                <a:cs typeface="Times New Roman"/>
                <a:sym typeface="Times New Roman"/>
              </a:rPr>
              <a:t>of information, and n is called the </a:t>
            </a:r>
            <a:r>
              <a:rPr lang="en-US" sz="2400" b="1" i="1" u="none" strike="noStrike" dirty="0">
                <a:solidFill>
                  <a:srgbClr val="000000"/>
                </a:solidFill>
                <a:latin typeface="Times New Roman"/>
                <a:ea typeface="Times New Roman"/>
                <a:cs typeface="Times New Roman"/>
                <a:sym typeface="Times New Roman"/>
              </a:rPr>
              <a:t>word length </a:t>
            </a:r>
            <a:endParaRPr sz="2400" dirty="0"/>
          </a:p>
          <a:p>
            <a:pPr marL="228600" lvl="0" indent="-228600" algn="just" rtl="0">
              <a:lnSpc>
                <a:spcPct val="90000"/>
              </a:lnSpc>
              <a:spcBef>
                <a:spcPts val="1000"/>
              </a:spcBef>
              <a:spcAft>
                <a:spcPts val="0"/>
              </a:spcAft>
              <a:buClr>
                <a:srgbClr val="000000"/>
              </a:buClr>
              <a:buSzPts val="2000"/>
              <a:buChar char="•"/>
            </a:pPr>
            <a:r>
              <a:rPr lang="en-US" sz="2400" b="0" i="0" u="none" strike="noStrike" dirty="0">
                <a:solidFill>
                  <a:srgbClr val="000000"/>
                </a:solidFill>
                <a:latin typeface="Times New Roman"/>
                <a:ea typeface="Times New Roman"/>
                <a:cs typeface="Times New Roman"/>
                <a:sym typeface="Times New Roman"/>
              </a:rPr>
              <a:t>A unit of 8 bits is called a </a:t>
            </a:r>
            <a:r>
              <a:rPr lang="en-US" sz="2400" b="1" i="0" u="none" strike="noStrike" dirty="0">
                <a:solidFill>
                  <a:srgbClr val="000000"/>
                </a:solidFill>
                <a:latin typeface="Times New Roman"/>
                <a:ea typeface="Times New Roman"/>
                <a:cs typeface="Times New Roman"/>
                <a:sym typeface="Times New Roman"/>
              </a:rPr>
              <a:t>byte</a:t>
            </a:r>
            <a:r>
              <a:rPr lang="en-US" sz="2400" b="0" i="0" u="none" strike="noStrike" dirty="0">
                <a:solidFill>
                  <a:srgbClr val="000000"/>
                </a:solidFill>
                <a:latin typeface="Times New Roman"/>
                <a:ea typeface="Times New Roman"/>
                <a:cs typeface="Times New Roman"/>
                <a:sym typeface="Times New Roman"/>
              </a:rPr>
              <a:t>. </a:t>
            </a:r>
            <a:endParaRPr sz="2400" dirty="0"/>
          </a:p>
          <a:p>
            <a:pPr marL="228600" lvl="0" indent="-228600" algn="just" rtl="0">
              <a:lnSpc>
                <a:spcPct val="90000"/>
              </a:lnSpc>
              <a:spcBef>
                <a:spcPts val="1000"/>
              </a:spcBef>
              <a:spcAft>
                <a:spcPts val="0"/>
              </a:spcAft>
              <a:buClr>
                <a:srgbClr val="000000"/>
              </a:buClr>
              <a:buSzPts val="2000"/>
              <a:buChar char="•"/>
            </a:pPr>
            <a:r>
              <a:rPr lang="en-US" sz="2400" b="0" i="0" u="none" strike="noStrike" dirty="0">
                <a:solidFill>
                  <a:srgbClr val="000000"/>
                </a:solidFill>
                <a:latin typeface="Times New Roman"/>
                <a:ea typeface="Times New Roman"/>
                <a:cs typeface="Times New Roman"/>
                <a:sym typeface="Times New Roman"/>
              </a:rPr>
              <a:t>Machine instructions may require one or more words for their representation. </a:t>
            </a:r>
            <a:endParaRPr sz="2400" dirty="0"/>
          </a:p>
          <a:p>
            <a:pPr marL="228600" lvl="0" indent="-228600" algn="just" rtl="0">
              <a:lnSpc>
                <a:spcPct val="90000"/>
              </a:lnSpc>
              <a:spcBef>
                <a:spcPts val="1000"/>
              </a:spcBef>
              <a:spcAft>
                <a:spcPts val="0"/>
              </a:spcAft>
              <a:buClr>
                <a:srgbClr val="000000"/>
              </a:buClr>
              <a:buSzPts val="2000"/>
              <a:buChar char="•"/>
            </a:pPr>
            <a:r>
              <a:rPr lang="en-US" sz="2400" b="0" i="0" u="none" strike="noStrike" dirty="0">
                <a:solidFill>
                  <a:srgbClr val="000000"/>
                </a:solidFill>
                <a:latin typeface="Times New Roman"/>
                <a:ea typeface="Times New Roman"/>
                <a:cs typeface="Times New Roman"/>
                <a:sym typeface="Times New Roman"/>
              </a:rPr>
              <a:t>Accessing the memory to store or retrieve a single item of information, either a word or a byte, requires distinct names or addresses for each location. </a:t>
            </a:r>
            <a:endParaRPr sz="2400" dirty="0"/>
          </a:p>
          <a:p>
            <a:pPr marL="228600" lvl="0" indent="-228600" algn="just" rtl="0">
              <a:lnSpc>
                <a:spcPct val="90000"/>
              </a:lnSpc>
              <a:spcBef>
                <a:spcPts val="1000"/>
              </a:spcBef>
              <a:spcAft>
                <a:spcPts val="0"/>
              </a:spcAft>
              <a:buClr>
                <a:srgbClr val="000000"/>
              </a:buClr>
              <a:buSzPts val="2000"/>
              <a:buChar char="•"/>
            </a:pPr>
            <a:r>
              <a:rPr lang="en-US" sz="2400" b="0" i="0" u="none" strike="noStrike" dirty="0">
                <a:solidFill>
                  <a:srgbClr val="000000"/>
                </a:solidFill>
                <a:latin typeface="Times New Roman"/>
                <a:ea typeface="Times New Roman"/>
                <a:cs typeface="Times New Roman"/>
                <a:sym typeface="Times New Roman"/>
              </a:rPr>
              <a:t>The memory can have up to 2</a:t>
            </a:r>
            <a:r>
              <a:rPr lang="en-US" sz="2400" b="0" i="0" u="none" strike="noStrike" baseline="30000" dirty="0">
                <a:solidFill>
                  <a:srgbClr val="000000"/>
                </a:solidFill>
                <a:latin typeface="Times New Roman"/>
                <a:ea typeface="Times New Roman"/>
                <a:cs typeface="Times New Roman"/>
                <a:sym typeface="Times New Roman"/>
              </a:rPr>
              <a:t>k</a:t>
            </a:r>
            <a:r>
              <a:rPr lang="en-US" sz="2400" b="0" i="0" u="none" strike="noStrike" dirty="0">
                <a:solidFill>
                  <a:srgbClr val="000000"/>
                </a:solidFill>
                <a:latin typeface="Times New Roman"/>
                <a:ea typeface="Times New Roman"/>
                <a:cs typeface="Times New Roman"/>
                <a:sym typeface="Times New Roman"/>
              </a:rPr>
              <a:t> addressable locations. The 2</a:t>
            </a:r>
            <a:r>
              <a:rPr lang="en-US" sz="2400" b="0" i="0" u="none" strike="noStrike" baseline="30000" dirty="0">
                <a:solidFill>
                  <a:srgbClr val="000000"/>
                </a:solidFill>
                <a:latin typeface="Times New Roman"/>
                <a:ea typeface="Times New Roman"/>
                <a:cs typeface="Times New Roman"/>
                <a:sym typeface="Times New Roman"/>
              </a:rPr>
              <a:t>k</a:t>
            </a:r>
            <a:r>
              <a:rPr lang="en-US" sz="2400" b="0" i="0" u="none" strike="noStrike" dirty="0">
                <a:solidFill>
                  <a:srgbClr val="000000"/>
                </a:solidFill>
                <a:latin typeface="Times New Roman"/>
                <a:ea typeface="Times New Roman"/>
                <a:cs typeface="Times New Roman"/>
                <a:sym typeface="Times New Roman"/>
              </a:rPr>
              <a:t> addresses constitute the address space of the computer </a:t>
            </a:r>
            <a:endParaRPr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8" name="Google Shape;148;p11"/>
          <p:cNvSpPr txBox="1">
            <a:spLocks noGrp="1"/>
          </p:cNvSpPr>
          <p:nvPr>
            <p:ph type="body" idx="1"/>
          </p:nvPr>
        </p:nvSpPr>
        <p:spPr>
          <a:xfrm>
            <a:off x="5183188" y="273377"/>
            <a:ext cx="6172200" cy="6372520"/>
          </a:xfrm>
          <a:prstGeom prst="rect">
            <a:avLst/>
          </a:prstGeom>
          <a:noFill/>
          <a:ln>
            <a:noFill/>
          </a:ln>
        </p:spPr>
        <p:txBody>
          <a:bodyPr spcFirstLastPara="1" wrap="square" lIns="91425" tIns="45700" rIns="91425" bIns="45700" anchor="t" anchorCtr="0">
            <a:noAutofit/>
          </a:bodyPr>
          <a:lstStyle/>
          <a:p>
            <a:pPr marL="228600" lvl="0" indent="-228600" algn="just" rtl="0">
              <a:lnSpc>
                <a:spcPct val="90000"/>
              </a:lnSpc>
              <a:spcBef>
                <a:spcPts val="0"/>
              </a:spcBef>
              <a:spcAft>
                <a:spcPts val="0"/>
              </a:spcAft>
              <a:buClr>
                <a:srgbClr val="000000"/>
              </a:buClr>
              <a:buSzPts val="1800"/>
              <a:buChar char="•"/>
            </a:pPr>
            <a:r>
              <a:rPr lang="en-US" sz="2400" b="1" i="1" u="none" strike="noStrike" dirty="0">
                <a:solidFill>
                  <a:srgbClr val="000000"/>
                </a:solidFill>
                <a:latin typeface="Times New Roman"/>
                <a:ea typeface="Times New Roman"/>
                <a:cs typeface="Times New Roman"/>
                <a:sym typeface="Times New Roman"/>
              </a:rPr>
              <a:t>Byte Addressability </a:t>
            </a:r>
            <a:endParaRPr sz="2400" dirty="0"/>
          </a:p>
          <a:p>
            <a:pPr marL="228600" lvl="0" indent="-228600" algn="just" rtl="0">
              <a:lnSpc>
                <a:spcPct val="90000"/>
              </a:lnSpc>
              <a:spcBef>
                <a:spcPts val="1000"/>
              </a:spcBef>
              <a:spcAft>
                <a:spcPts val="0"/>
              </a:spcAft>
              <a:buClr>
                <a:srgbClr val="000000"/>
              </a:buClr>
              <a:buSzPts val="1800"/>
              <a:buChar char="•"/>
            </a:pPr>
            <a:r>
              <a:rPr lang="en-US" sz="2400" b="0" i="0" u="none" strike="noStrike" dirty="0">
                <a:solidFill>
                  <a:srgbClr val="000000"/>
                </a:solidFill>
                <a:latin typeface="Times New Roman"/>
                <a:ea typeface="Times New Roman"/>
                <a:cs typeface="Times New Roman"/>
                <a:sym typeface="Times New Roman"/>
              </a:rPr>
              <a:t>We now have three basic information quantities to deal with: </a:t>
            </a:r>
            <a:r>
              <a:rPr lang="en-US" sz="2400" b="1" i="0" u="none" strike="noStrike" dirty="0">
                <a:solidFill>
                  <a:srgbClr val="000000"/>
                </a:solidFill>
                <a:latin typeface="Times New Roman"/>
                <a:ea typeface="Times New Roman"/>
                <a:cs typeface="Times New Roman"/>
                <a:sym typeface="Times New Roman"/>
              </a:rPr>
              <a:t>bit, byte, and word</a:t>
            </a:r>
            <a:r>
              <a:rPr lang="en-US" sz="2400" b="0" i="0" u="none" strike="noStrike" dirty="0">
                <a:solidFill>
                  <a:srgbClr val="000000"/>
                </a:solidFill>
                <a:latin typeface="Times New Roman"/>
                <a:ea typeface="Times New Roman"/>
                <a:cs typeface="Times New Roman"/>
                <a:sym typeface="Times New Roman"/>
              </a:rPr>
              <a:t>. </a:t>
            </a:r>
            <a:endParaRPr sz="2400" dirty="0"/>
          </a:p>
          <a:p>
            <a:pPr marL="228600" lvl="0" indent="-228600" algn="just" rtl="0">
              <a:lnSpc>
                <a:spcPct val="90000"/>
              </a:lnSpc>
              <a:spcBef>
                <a:spcPts val="1000"/>
              </a:spcBef>
              <a:spcAft>
                <a:spcPts val="0"/>
              </a:spcAft>
              <a:buClr>
                <a:srgbClr val="000000"/>
              </a:buClr>
              <a:buSzPts val="1800"/>
              <a:buChar char="•"/>
            </a:pPr>
            <a:r>
              <a:rPr lang="en-US" sz="2400" b="0" i="0" u="none" strike="noStrike" dirty="0">
                <a:solidFill>
                  <a:srgbClr val="000000"/>
                </a:solidFill>
                <a:latin typeface="Times New Roman"/>
                <a:ea typeface="Times New Roman"/>
                <a:cs typeface="Times New Roman"/>
                <a:sym typeface="Times New Roman"/>
              </a:rPr>
              <a:t>A byte is always 8 bits, but the word length typically ranges from 16 to 64 bits. </a:t>
            </a:r>
            <a:endParaRPr sz="2400" dirty="0"/>
          </a:p>
          <a:p>
            <a:pPr marL="228600" lvl="0" indent="-228600" algn="just" rtl="0">
              <a:lnSpc>
                <a:spcPct val="90000"/>
              </a:lnSpc>
              <a:spcBef>
                <a:spcPts val="1000"/>
              </a:spcBef>
              <a:spcAft>
                <a:spcPts val="0"/>
              </a:spcAft>
              <a:buClr>
                <a:srgbClr val="000000"/>
              </a:buClr>
              <a:buSzPts val="1800"/>
              <a:buChar char="•"/>
            </a:pPr>
            <a:r>
              <a:rPr lang="en-US" sz="2400" b="0" i="0" u="none" strike="noStrike" dirty="0">
                <a:solidFill>
                  <a:srgbClr val="000000"/>
                </a:solidFill>
                <a:latin typeface="Times New Roman"/>
                <a:ea typeface="Times New Roman"/>
                <a:cs typeface="Times New Roman"/>
                <a:sym typeface="Times New Roman"/>
              </a:rPr>
              <a:t>It is impractical to assign distinct addresses to individual bit locations in the memory. The most practical assignment is to have successive addresses refer to successive byte locations in the memory. </a:t>
            </a:r>
            <a:endParaRPr sz="2400" dirty="0"/>
          </a:p>
          <a:p>
            <a:pPr marL="228600" lvl="0" indent="-228600" algn="just" rtl="0">
              <a:lnSpc>
                <a:spcPct val="90000"/>
              </a:lnSpc>
              <a:spcBef>
                <a:spcPts val="1000"/>
              </a:spcBef>
              <a:spcAft>
                <a:spcPts val="0"/>
              </a:spcAft>
              <a:buClr>
                <a:srgbClr val="000000"/>
              </a:buClr>
              <a:buSzPts val="1800"/>
              <a:buChar char="•"/>
            </a:pPr>
            <a:r>
              <a:rPr lang="en-US" sz="2400" b="0" i="0" u="none" strike="noStrike" dirty="0">
                <a:solidFill>
                  <a:srgbClr val="000000"/>
                </a:solidFill>
                <a:latin typeface="Times New Roman"/>
                <a:ea typeface="Times New Roman"/>
                <a:cs typeface="Times New Roman"/>
                <a:sym typeface="Times New Roman"/>
              </a:rPr>
              <a:t>The term byte-addressable memory is used for this assignment. Byte locations have addresses 0, 1, 2 . . . Thus, if the word length of the machine is 32 bits, successive words are located at addresses 0, 4, 8… with each word consisting of four bytes.</a:t>
            </a:r>
            <a:endParaRPr sz="2400" dirty="0"/>
          </a:p>
        </p:txBody>
      </p:sp>
      <p:pic>
        <p:nvPicPr>
          <p:cNvPr id="150" name="Google Shape;150;p11"/>
          <p:cNvPicPr preferRelativeResize="0"/>
          <p:nvPr/>
        </p:nvPicPr>
        <p:blipFill rotWithShape="1">
          <a:blip r:embed="rId3">
            <a:alphaModFix/>
          </a:blip>
          <a:srcRect/>
          <a:stretch/>
        </p:blipFill>
        <p:spPr>
          <a:xfrm>
            <a:off x="1798735" y="169682"/>
            <a:ext cx="2669569" cy="3259317"/>
          </a:xfrm>
          <a:prstGeom prst="rect">
            <a:avLst/>
          </a:prstGeom>
          <a:noFill/>
          <a:ln>
            <a:noFill/>
          </a:ln>
        </p:spPr>
      </p:pic>
      <p:pic>
        <p:nvPicPr>
          <p:cNvPr id="151" name="Google Shape;151;p11"/>
          <p:cNvPicPr preferRelativeResize="0"/>
          <p:nvPr/>
        </p:nvPicPr>
        <p:blipFill rotWithShape="1">
          <a:blip r:embed="rId4">
            <a:alphaModFix/>
          </a:blip>
          <a:srcRect/>
          <a:stretch/>
        </p:blipFill>
        <p:spPr>
          <a:xfrm>
            <a:off x="876051" y="3565687"/>
            <a:ext cx="3614614" cy="302718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3"/>
          <p:cNvSpPr txBox="1">
            <a:spLocks noGrp="1"/>
          </p:cNvSpPr>
          <p:nvPr>
            <p:ph type="body" idx="1"/>
          </p:nvPr>
        </p:nvSpPr>
        <p:spPr>
          <a:xfrm>
            <a:off x="291445" y="216817"/>
            <a:ext cx="11558047" cy="5997854"/>
          </a:xfrm>
          <a:prstGeom prst="rect">
            <a:avLst/>
          </a:prstGeom>
          <a:noFill/>
          <a:ln>
            <a:noFill/>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rgbClr val="000000"/>
              </a:buClr>
              <a:buSzPts val="1800"/>
              <a:buNone/>
            </a:pPr>
            <a:r>
              <a:rPr lang="en-US" sz="2400" b="1" i="1" u="none" strike="noStrike" dirty="0">
                <a:solidFill>
                  <a:srgbClr val="000000"/>
                </a:solidFill>
                <a:latin typeface="Times New Roman"/>
                <a:ea typeface="Times New Roman"/>
                <a:cs typeface="Times New Roman"/>
                <a:sym typeface="Times New Roman"/>
              </a:rPr>
              <a:t>Word Alignment </a:t>
            </a:r>
            <a:endParaRPr sz="2400" dirty="0"/>
          </a:p>
          <a:p>
            <a:pPr marL="228600" lvl="0" indent="-228600" algn="just" rtl="0">
              <a:lnSpc>
                <a:spcPct val="90000"/>
              </a:lnSpc>
              <a:spcBef>
                <a:spcPts val="1000"/>
              </a:spcBef>
              <a:spcAft>
                <a:spcPts val="0"/>
              </a:spcAft>
              <a:buClr>
                <a:srgbClr val="000000"/>
              </a:buClr>
              <a:buSzPts val="1800"/>
              <a:buChar char="•"/>
            </a:pPr>
            <a:r>
              <a:rPr lang="en-US" sz="2400" b="0" i="0" u="none" strike="noStrike" dirty="0">
                <a:solidFill>
                  <a:srgbClr val="000000"/>
                </a:solidFill>
                <a:latin typeface="Times New Roman"/>
                <a:ea typeface="Times New Roman"/>
                <a:cs typeface="Times New Roman"/>
                <a:sym typeface="Times New Roman"/>
              </a:rPr>
              <a:t>In the case of a 32-bit word length, natural word boundaries occur at addresses 0, 4, 8… </a:t>
            </a:r>
            <a:endParaRPr sz="2400" dirty="0"/>
          </a:p>
          <a:p>
            <a:pPr marL="228600" lvl="0" indent="-228600" algn="just" rtl="0">
              <a:lnSpc>
                <a:spcPct val="90000"/>
              </a:lnSpc>
              <a:spcBef>
                <a:spcPts val="1000"/>
              </a:spcBef>
              <a:spcAft>
                <a:spcPts val="0"/>
              </a:spcAft>
              <a:buClr>
                <a:srgbClr val="000000"/>
              </a:buClr>
              <a:buSzPts val="1800"/>
              <a:buChar char="•"/>
            </a:pPr>
            <a:r>
              <a:rPr lang="en-US" sz="2400" b="0" i="0" u="none" strike="noStrike" dirty="0">
                <a:solidFill>
                  <a:srgbClr val="000000"/>
                </a:solidFill>
                <a:latin typeface="Times New Roman"/>
                <a:ea typeface="Times New Roman"/>
                <a:cs typeface="Times New Roman"/>
                <a:sym typeface="Times New Roman"/>
              </a:rPr>
              <a:t>We say that the word locations have aligned addresses if they begin at a byte address that is a multiple of the number of bytes in a word. </a:t>
            </a:r>
            <a:endParaRPr sz="2400" dirty="0"/>
          </a:p>
          <a:p>
            <a:pPr marL="228600" lvl="0" indent="-228600" algn="just" rtl="0">
              <a:lnSpc>
                <a:spcPct val="90000"/>
              </a:lnSpc>
              <a:spcBef>
                <a:spcPts val="1000"/>
              </a:spcBef>
              <a:spcAft>
                <a:spcPts val="0"/>
              </a:spcAft>
              <a:buClr>
                <a:srgbClr val="000000"/>
              </a:buClr>
              <a:buSzPts val="1800"/>
              <a:buChar char="•"/>
            </a:pPr>
            <a:r>
              <a:rPr lang="en-US" sz="2400" b="0" i="0" u="none" strike="noStrike" dirty="0">
                <a:solidFill>
                  <a:srgbClr val="000000"/>
                </a:solidFill>
                <a:latin typeface="Times New Roman"/>
                <a:ea typeface="Times New Roman"/>
                <a:cs typeface="Times New Roman"/>
                <a:sym typeface="Times New Roman"/>
              </a:rPr>
              <a:t>For practical reasons associated with manipulating binary-coded addresses, the number of bytes in a word is a power of 2. </a:t>
            </a:r>
            <a:endParaRPr sz="2400" dirty="0"/>
          </a:p>
          <a:p>
            <a:pPr marL="228600" lvl="0" indent="-228600" algn="just" rtl="0">
              <a:lnSpc>
                <a:spcPct val="90000"/>
              </a:lnSpc>
              <a:spcBef>
                <a:spcPts val="1000"/>
              </a:spcBef>
              <a:spcAft>
                <a:spcPts val="0"/>
              </a:spcAft>
              <a:buClr>
                <a:srgbClr val="000000"/>
              </a:buClr>
              <a:buSzPts val="1800"/>
              <a:buChar char="•"/>
            </a:pPr>
            <a:r>
              <a:rPr lang="en-US" sz="2400" b="0" i="0" u="none" strike="noStrike" dirty="0">
                <a:solidFill>
                  <a:srgbClr val="000000"/>
                </a:solidFill>
                <a:latin typeface="Times New Roman"/>
                <a:ea typeface="Times New Roman"/>
                <a:cs typeface="Times New Roman"/>
                <a:sym typeface="Times New Roman"/>
              </a:rPr>
              <a:t>Hence, if the word length is 16 (2 bytes), aligned words begin at byte addresses 0, 2, 4... and for a word length of 64 (8 bytes), aligned words begin at byte addresses 0, 8, 16…</a:t>
            </a:r>
            <a:endParaRPr sz="2400" dirty="0"/>
          </a:p>
          <a:p>
            <a:pPr marL="228600" lvl="0" indent="-114300" algn="just" rtl="0">
              <a:lnSpc>
                <a:spcPct val="90000"/>
              </a:lnSpc>
              <a:spcBef>
                <a:spcPts val="1000"/>
              </a:spcBef>
              <a:spcAft>
                <a:spcPts val="0"/>
              </a:spcAft>
              <a:buClr>
                <a:schemeClr val="dk1"/>
              </a:buClr>
              <a:buSzPts val="1800"/>
              <a:buNone/>
            </a:pPr>
            <a:endParaRPr sz="2400" dirty="0">
              <a:solidFill>
                <a:srgbClr val="000000"/>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12"/>
          <p:cNvSpPr txBox="1">
            <a:spLocks noGrp="1"/>
          </p:cNvSpPr>
          <p:nvPr>
            <p:ph type="body" idx="1"/>
          </p:nvPr>
        </p:nvSpPr>
        <p:spPr>
          <a:xfrm>
            <a:off x="838200" y="466531"/>
            <a:ext cx="10515600" cy="5710432"/>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rgbClr val="000000"/>
              </a:buClr>
              <a:buSzPts val="1800"/>
              <a:buNone/>
            </a:pPr>
            <a:r>
              <a:rPr lang="en-US" sz="2400" b="1" i="1" u="none" strike="noStrike" dirty="0">
                <a:solidFill>
                  <a:srgbClr val="000000"/>
                </a:solidFill>
                <a:latin typeface="Times New Roman"/>
                <a:ea typeface="Times New Roman"/>
                <a:cs typeface="Times New Roman"/>
                <a:sym typeface="Times New Roman"/>
              </a:rPr>
              <a:t>Big-Endian and Little-Endian Assignments</a:t>
            </a:r>
            <a:endParaRPr sz="2400" dirty="0"/>
          </a:p>
          <a:p>
            <a:pPr marL="228600" lvl="0" indent="-228600" algn="just" rtl="0">
              <a:lnSpc>
                <a:spcPct val="90000"/>
              </a:lnSpc>
              <a:spcBef>
                <a:spcPts val="1000"/>
              </a:spcBef>
              <a:spcAft>
                <a:spcPts val="0"/>
              </a:spcAft>
              <a:buClr>
                <a:srgbClr val="000000"/>
              </a:buClr>
              <a:buSzPts val="1800"/>
              <a:buChar char="•"/>
            </a:pPr>
            <a:r>
              <a:rPr lang="en-US" sz="2400" b="0" i="0" u="none" strike="noStrike" dirty="0">
                <a:solidFill>
                  <a:srgbClr val="000000"/>
                </a:solidFill>
                <a:latin typeface="Times New Roman"/>
                <a:ea typeface="Times New Roman"/>
                <a:cs typeface="Times New Roman"/>
                <a:sym typeface="Times New Roman"/>
              </a:rPr>
              <a:t>There are two ways that byte addresses can be assigned across words. </a:t>
            </a:r>
            <a:endParaRPr sz="2400" dirty="0"/>
          </a:p>
          <a:p>
            <a:pPr marL="228600" lvl="0" indent="-228600" algn="just" rtl="0">
              <a:lnSpc>
                <a:spcPct val="90000"/>
              </a:lnSpc>
              <a:spcBef>
                <a:spcPts val="1000"/>
              </a:spcBef>
              <a:spcAft>
                <a:spcPts val="0"/>
              </a:spcAft>
              <a:buClr>
                <a:srgbClr val="000000"/>
              </a:buClr>
              <a:buSzPts val="1800"/>
              <a:buChar char="•"/>
            </a:pPr>
            <a:r>
              <a:rPr lang="en-US" sz="2400" b="0" i="0" u="none" strike="noStrike" dirty="0">
                <a:solidFill>
                  <a:srgbClr val="000000"/>
                </a:solidFill>
                <a:latin typeface="Times New Roman"/>
                <a:ea typeface="Times New Roman"/>
                <a:cs typeface="Times New Roman"/>
                <a:sym typeface="Times New Roman"/>
              </a:rPr>
              <a:t>The name </a:t>
            </a:r>
            <a:r>
              <a:rPr lang="en-US" sz="2400" b="1" i="0" u="none" strike="noStrike" dirty="0">
                <a:solidFill>
                  <a:srgbClr val="000000"/>
                </a:solidFill>
                <a:latin typeface="Times New Roman"/>
                <a:ea typeface="Times New Roman"/>
                <a:cs typeface="Times New Roman"/>
                <a:sym typeface="Times New Roman"/>
              </a:rPr>
              <a:t>big-endian </a:t>
            </a:r>
            <a:r>
              <a:rPr lang="en-US" sz="2400" b="0" i="0" u="none" strike="noStrike" dirty="0">
                <a:solidFill>
                  <a:srgbClr val="000000"/>
                </a:solidFill>
                <a:latin typeface="Times New Roman"/>
                <a:ea typeface="Times New Roman"/>
                <a:cs typeface="Times New Roman"/>
                <a:sym typeface="Times New Roman"/>
              </a:rPr>
              <a:t>is used when lower byte addresses are used for the more significant bytes (the leftmost bytes) of the word. </a:t>
            </a:r>
            <a:endParaRPr sz="2400" dirty="0"/>
          </a:p>
          <a:p>
            <a:pPr marL="228600" lvl="0" indent="-228600" algn="just" rtl="0">
              <a:lnSpc>
                <a:spcPct val="90000"/>
              </a:lnSpc>
              <a:spcBef>
                <a:spcPts val="1000"/>
              </a:spcBef>
              <a:spcAft>
                <a:spcPts val="0"/>
              </a:spcAft>
              <a:buClr>
                <a:srgbClr val="000000"/>
              </a:buClr>
              <a:buSzPts val="1800"/>
              <a:buChar char="•"/>
            </a:pPr>
            <a:r>
              <a:rPr lang="en-US" sz="2400" b="0" i="0" u="none" strike="noStrike" dirty="0">
                <a:solidFill>
                  <a:srgbClr val="000000"/>
                </a:solidFill>
                <a:latin typeface="Times New Roman"/>
                <a:ea typeface="Times New Roman"/>
                <a:cs typeface="Times New Roman"/>
                <a:sym typeface="Times New Roman"/>
              </a:rPr>
              <a:t>The name </a:t>
            </a:r>
            <a:r>
              <a:rPr lang="en-US" sz="2400" b="1" i="0" u="none" strike="noStrike" dirty="0">
                <a:solidFill>
                  <a:srgbClr val="000000"/>
                </a:solidFill>
                <a:latin typeface="Times New Roman"/>
                <a:ea typeface="Times New Roman"/>
                <a:cs typeface="Times New Roman"/>
                <a:sym typeface="Times New Roman"/>
              </a:rPr>
              <a:t>little-endian </a:t>
            </a:r>
            <a:r>
              <a:rPr lang="en-US" sz="2400" b="0" i="0" u="none" strike="noStrike" dirty="0">
                <a:solidFill>
                  <a:srgbClr val="000000"/>
                </a:solidFill>
                <a:latin typeface="Times New Roman"/>
                <a:ea typeface="Times New Roman"/>
                <a:cs typeface="Times New Roman"/>
                <a:sym typeface="Times New Roman"/>
              </a:rPr>
              <a:t>is used for the opposite ordering, where the lower byte addresses are used for the less significant bytes (the rightmost bytes) of the word.</a:t>
            </a:r>
            <a:endParaRPr sz="2400" dirty="0"/>
          </a:p>
        </p:txBody>
      </p:sp>
      <p:pic>
        <p:nvPicPr>
          <p:cNvPr id="157" name="Google Shape;157;p12"/>
          <p:cNvPicPr preferRelativeResize="0"/>
          <p:nvPr/>
        </p:nvPicPr>
        <p:blipFill rotWithShape="1">
          <a:blip r:embed="rId3">
            <a:alphaModFix/>
          </a:blip>
          <a:srcRect/>
          <a:stretch/>
        </p:blipFill>
        <p:spPr>
          <a:xfrm>
            <a:off x="2639008" y="3321747"/>
            <a:ext cx="6913984" cy="321197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14"/>
          <p:cNvSpPr txBox="1">
            <a:spLocks noGrp="1"/>
          </p:cNvSpPr>
          <p:nvPr>
            <p:ph type="body" idx="1"/>
          </p:nvPr>
        </p:nvSpPr>
        <p:spPr>
          <a:xfrm>
            <a:off x="292231" y="354563"/>
            <a:ext cx="11061569" cy="5822400"/>
          </a:xfrm>
          <a:prstGeom prst="rect">
            <a:avLst/>
          </a:prstGeom>
          <a:noFill/>
          <a:ln>
            <a:noFill/>
          </a:ln>
        </p:spPr>
        <p:txBody>
          <a:bodyPr spcFirstLastPara="1" wrap="square" lIns="91425" tIns="45700" rIns="91425" bIns="45700" anchor="t" anchorCtr="0">
            <a:normAutofit lnSpcReduction="10000"/>
          </a:bodyPr>
          <a:lstStyle/>
          <a:p>
            <a:pPr marL="0" lvl="0" indent="0" algn="just" rtl="0">
              <a:lnSpc>
                <a:spcPct val="90000"/>
              </a:lnSpc>
              <a:spcBef>
                <a:spcPts val="1000"/>
              </a:spcBef>
              <a:spcAft>
                <a:spcPts val="0"/>
              </a:spcAft>
              <a:buClr>
                <a:srgbClr val="000000"/>
              </a:buClr>
              <a:buSzPts val="1800"/>
              <a:buNone/>
            </a:pPr>
            <a:r>
              <a:rPr lang="en-US" sz="2400" b="1" i="0" u="none" strike="noStrike" dirty="0">
                <a:solidFill>
                  <a:srgbClr val="000000"/>
                </a:solidFill>
                <a:latin typeface="Times New Roman"/>
                <a:ea typeface="Times New Roman"/>
                <a:cs typeface="Times New Roman"/>
                <a:sym typeface="Times New Roman"/>
              </a:rPr>
              <a:t>MEMORY OPERATIONS</a:t>
            </a:r>
            <a:endParaRPr lang="en-US" sz="2400" dirty="0"/>
          </a:p>
          <a:p>
            <a:pPr marL="228600" lvl="0" indent="-228600" algn="just" rtl="0">
              <a:lnSpc>
                <a:spcPct val="90000"/>
              </a:lnSpc>
              <a:spcBef>
                <a:spcPts val="1000"/>
              </a:spcBef>
              <a:spcAft>
                <a:spcPts val="0"/>
              </a:spcAft>
              <a:buClr>
                <a:srgbClr val="000000"/>
              </a:buClr>
              <a:buSzPts val="1800"/>
              <a:buChar char="•"/>
            </a:pPr>
            <a:r>
              <a:rPr lang="en-US" sz="2400" b="0" i="0" u="none" strike="noStrike" dirty="0">
                <a:solidFill>
                  <a:srgbClr val="000000"/>
                </a:solidFill>
                <a:latin typeface="Times New Roman"/>
                <a:ea typeface="Times New Roman"/>
                <a:cs typeface="Times New Roman"/>
                <a:sym typeface="Times New Roman"/>
              </a:rPr>
              <a:t>Both program instructions and data operands are stored in the memory. </a:t>
            </a:r>
            <a:endParaRPr lang="en-US" sz="2400" dirty="0"/>
          </a:p>
          <a:p>
            <a:pPr marL="228600" lvl="0" indent="-228600" algn="just" rtl="0">
              <a:lnSpc>
                <a:spcPct val="90000"/>
              </a:lnSpc>
              <a:spcBef>
                <a:spcPts val="1000"/>
              </a:spcBef>
              <a:spcAft>
                <a:spcPts val="0"/>
              </a:spcAft>
              <a:buClr>
                <a:srgbClr val="000000"/>
              </a:buClr>
              <a:buSzPts val="1800"/>
              <a:buChar char="•"/>
            </a:pPr>
            <a:r>
              <a:rPr lang="en-US" sz="2400" b="0" i="0" u="none" strike="noStrike" dirty="0">
                <a:solidFill>
                  <a:srgbClr val="000000"/>
                </a:solidFill>
                <a:latin typeface="Times New Roman"/>
                <a:ea typeface="Times New Roman"/>
                <a:cs typeface="Times New Roman"/>
                <a:sym typeface="Times New Roman"/>
              </a:rPr>
              <a:t>Two basic operations involving the memory are needed, namely, </a:t>
            </a:r>
            <a:r>
              <a:rPr lang="en-IN" sz="2400" dirty="0">
                <a:solidFill>
                  <a:srgbClr val="FF0000"/>
                </a:solidFill>
                <a:latin typeface="Times New Roman"/>
                <a:cs typeface="Times New Roman"/>
              </a:rPr>
              <a:t>Load (or Fetch or Read) and Store (or Write). </a:t>
            </a:r>
          </a:p>
          <a:p>
            <a:pPr marL="228600" lvl="0" indent="-228600" algn="just" rtl="0">
              <a:lnSpc>
                <a:spcPct val="90000"/>
              </a:lnSpc>
              <a:spcBef>
                <a:spcPts val="1000"/>
              </a:spcBef>
              <a:spcAft>
                <a:spcPts val="0"/>
              </a:spcAft>
              <a:buClr>
                <a:srgbClr val="000000"/>
              </a:buClr>
              <a:buSzPts val="1800"/>
              <a:buChar char="•"/>
            </a:pPr>
            <a:r>
              <a:rPr lang="en-US" sz="2400" b="0" i="0" u="none" strike="noStrike" dirty="0">
                <a:solidFill>
                  <a:srgbClr val="000000"/>
                </a:solidFill>
                <a:latin typeface="Times New Roman"/>
                <a:ea typeface="Times New Roman"/>
                <a:cs typeface="Times New Roman"/>
                <a:sym typeface="Times New Roman"/>
              </a:rPr>
              <a:t>The Read operation transfers a copy of the contents of a specific memory location to the processor. The memory contents remain unchanged.</a:t>
            </a:r>
            <a:endParaRPr lang="en-US" sz="2400" dirty="0"/>
          </a:p>
          <a:p>
            <a:pPr marL="228600" lvl="0" indent="-228600" algn="just" rtl="0">
              <a:lnSpc>
                <a:spcPct val="90000"/>
              </a:lnSpc>
              <a:spcBef>
                <a:spcPts val="1000"/>
              </a:spcBef>
              <a:spcAft>
                <a:spcPts val="0"/>
              </a:spcAft>
              <a:buClr>
                <a:srgbClr val="000000"/>
              </a:buClr>
              <a:buSzPts val="1800"/>
              <a:buChar char="•"/>
            </a:pPr>
            <a:r>
              <a:rPr lang="en-US" sz="2400" b="0" i="0" u="none" strike="noStrike" dirty="0">
                <a:solidFill>
                  <a:srgbClr val="FF0000"/>
                </a:solidFill>
                <a:latin typeface="Times New Roman"/>
                <a:ea typeface="Times New Roman"/>
                <a:cs typeface="Times New Roman"/>
                <a:sym typeface="Times New Roman"/>
              </a:rPr>
              <a:t>To start a Read operation, the processor sends the address of the desired location to the memory and requests that its contents be read. </a:t>
            </a:r>
            <a:endParaRPr lang="en-US" sz="2400" dirty="0">
              <a:solidFill>
                <a:srgbClr val="FF0000"/>
              </a:solidFill>
            </a:endParaRPr>
          </a:p>
          <a:p>
            <a:pPr marL="228600" lvl="0" indent="-228600" algn="just" rtl="0">
              <a:lnSpc>
                <a:spcPct val="90000"/>
              </a:lnSpc>
              <a:spcBef>
                <a:spcPts val="1000"/>
              </a:spcBef>
              <a:spcAft>
                <a:spcPts val="0"/>
              </a:spcAft>
              <a:buClr>
                <a:srgbClr val="000000"/>
              </a:buClr>
              <a:buSzPts val="1800"/>
              <a:buChar char="•"/>
            </a:pPr>
            <a:r>
              <a:rPr lang="en-US" sz="2400" b="0" i="0" u="none" strike="noStrike" dirty="0">
                <a:solidFill>
                  <a:srgbClr val="000000"/>
                </a:solidFill>
                <a:latin typeface="Times New Roman"/>
                <a:ea typeface="Times New Roman"/>
                <a:cs typeface="Times New Roman"/>
                <a:sym typeface="Times New Roman"/>
              </a:rPr>
              <a:t>The memory reads the data stored at that address and sends them to the processor</a:t>
            </a:r>
            <a:endParaRPr lang="en-US" sz="2400" dirty="0"/>
          </a:p>
          <a:p>
            <a:pPr marL="228600" lvl="0" indent="-228600" algn="just" rtl="0">
              <a:lnSpc>
                <a:spcPct val="90000"/>
              </a:lnSpc>
              <a:spcBef>
                <a:spcPts val="0"/>
              </a:spcBef>
              <a:spcAft>
                <a:spcPts val="0"/>
              </a:spcAft>
              <a:buClr>
                <a:srgbClr val="000000"/>
              </a:buClr>
              <a:buSzPts val="1800"/>
              <a:buChar char="•"/>
            </a:pPr>
            <a:endParaRPr lang="en-US" sz="2400" b="0" i="0" u="none" strike="noStrike" dirty="0">
              <a:solidFill>
                <a:srgbClr val="000000"/>
              </a:solidFill>
              <a:latin typeface="Times New Roman"/>
              <a:ea typeface="Times New Roman"/>
              <a:cs typeface="Times New Roman"/>
              <a:sym typeface="Times New Roman"/>
            </a:endParaRPr>
          </a:p>
          <a:p>
            <a:pPr marL="228600" lvl="0" indent="-228600" algn="just" rtl="0">
              <a:lnSpc>
                <a:spcPct val="90000"/>
              </a:lnSpc>
              <a:spcBef>
                <a:spcPts val="0"/>
              </a:spcBef>
              <a:spcAft>
                <a:spcPts val="0"/>
              </a:spcAft>
              <a:buClr>
                <a:srgbClr val="000000"/>
              </a:buClr>
              <a:buSzPts val="1800"/>
              <a:buChar char="•"/>
            </a:pPr>
            <a:r>
              <a:rPr lang="en-US" sz="2400" b="0" i="0" u="none" strike="noStrike" dirty="0">
                <a:solidFill>
                  <a:srgbClr val="000000"/>
                </a:solidFill>
                <a:latin typeface="Times New Roman"/>
                <a:ea typeface="Times New Roman"/>
                <a:cs typeface="Times New Roman"/>
                <a:sym typeface="Times New Roman"/>
              </a:rPr>
              <a:t>The Write operation transfers an item of information from the processor to a specific memory location, overwriting the former contents of that location. </a:t>
            </a:r>
            <a:endParaRPr sz="2400" dirty="0"/>
          </a:p>
          <a:p>
            <a:pPr marL="228600" lvl="0" indent="-228600" algn="just" rtl="0">
              <a:lnSpc>
                <a:spcPct val="90000"/>
              </a:lnSpc>
              <a:spcBef>
                <a:spcPts val="1000"/>
              </a:spcBef>
              <a:spcAft>
                <a:spcPts val="0"/>
              </a:spcAft>
              <a:buClr>
                <a:srgbClr val="000000"/>
              </a:buClr>
              <a:buSzPts val="1800"/>
              <a:buChar char="•"/>
            </a:pPr>
            <a:r>
              <a:rPr lang="en-US" sz="2400" b="0" i="0" u="none" strike="noStrike" dirty="0">
                <a:solidFill>
                  <a:srgbClr val="FF0000"/>
                </a:solidFill>
                <a:latin typeface="Times New Roman"/>
                <a:ea typeface="Times New Roman"/>
                <a:cs typeface="Times New Roman"/>
                <a:sym typeface="Times New Roman"/>
              </a:rPr>
              <a:t>To initiate a Write operation, the processor sends the address of the desired location to the memory, together with the data to be written into that location.</a:t>
            </a:r>
            <a:r>
              <a:rPr lang="en-US" sz="2400" b="0" i="0" u="none" strike="noStrike" dirty="0">
                <a:solidFill>
                  <a:srgbClr val="000000"/>
                </a:solidFill>
                <a:latin typeface="Times New Roman"/>
                <a:ea typeface="Times New Roman"/>
                <a:cs typeface="Times New Roman"/>
                <a:sym typeface="Times New Roman"/>
              </a:rPr>
              <a:t> </a:t>
            </a:r>
            <a:endParaRPr sz="2400" dirty="0"/>
          </a:p>
          <a:p>
            <a:pPr marL="228600" lvl="0" indent="-228600" algn="just" rtl="0">
              <a:lnSpc>
                <a:spcPct val="90000"/>
              </a:lnSpc>
              <a:spcBef>
                <a:spcPts val="1000"/>
              </a:spcBef>
              <a:spcAft>
                <a:spcPts val="0"/>
              </a:spcAft>
              <a:buClr>
                <a:srgbClr val="000000"/>
              </a:buClr>
              <a:buSzPts val="1800"/>
              <a:buChar char="•"/>
            </a:pPr>
            <a:r>
              <a:rPr lang="en-US" sz="2400" b="0" i="0" u="none" strike="noStrike" dirty="0">
                <a:solidFill>
                  <a:srgbClr val="000000"/>
                </a:solidFill>
                <a:latin typeface="Times New Roman"/>
                <a:ea typeface="Times New Roman"/>
                <a:cs typeface="Times New Roman"/>
                <a:sym typeface="Times New Roman"/>
              </a:rPr>
              <a:t>The memory then uses the address and data to perform the write.</a:t>
            </a:r>
            <a:endParaRPr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a:extLst>
              <a:ext uri="{FF2B5EF4-FFF2-40B4-BE49-F238E27FC236}">
                <a16:creationId xmlns:a16="http://schemas.microsoft.com/office/drawing/2014/main" id="{6BBA3076-4C9B-5799-72E9-55A8AC241595}"/>
              </a:ext>
            </a:extLst>
          </p:cNvPr>
          <p:cNvSpPr>
            <a:spLocks noGrp="1"/>
          </p:cNvSpPr>
          <p:nvPr>
            <p:ph type="title"/>
          </p:nvPr>
        </p:nvSpPr>
        <p:spPr/>
        <p:txBody>
          <a:bodyPr>
            <a:normAutofit/>
          </a:bodyPr>
          <a:lstStyle/>
          <a:p>
            <a:r>
              <a:rPr lang="en-IN" altLang="en-US" sz="3200" b="1" dirty="0"/>
              <a:t>INSTRUCTIONS AND INSTRUCTION SEQUENCING</a:t>
            </a:r>
            <a:endParaRPr lang="en-IN" altLang="en-US" sz="3200" dirty="0"/>
          </a:p>
        </p:txBody>
      </p:sp>
      <p:sp>
        <p:nvSpPr>
          <p:cNvPr id="3" name="Content Placeholder 2">
            <a:extLst>
              <a:ext uri="{FF2B5EF4-FFF2-40B4-BE49-F238E27FC236}">
                <a16:creationId xmlns:a16="http://schemas.microsoft.com/office/drawing/2014/main" id="{8DAEC34E-1764-A132-59FC-96F3D02E11E3}"/>
              </a:ext>
            </a:extLst>
          </p:cNvPr>
          <p:cNvSpPr>
            <a:spLocks noGrp="1"/>
          </p:cNvSpPr>
          <p:nvPr>
            <p:ph idx="1"/>
          </p:nvPr>
        </p:nvSpPr>
        <p:spPr/>
        <p:txBody>
          <a:bodyPr>
            <a:normAutofit lnSpcReduction="10000"/>
          </a:bodyPr>
          <a:lstStyle/>
          <a:p>
            <a:pPr marL="114300" indent="0">
              <a:lnSpc>
                <a:spcPct val="150000"/>
              </a:lnSpc>
              <a:buNone/>
              <a:defRPr/>
            </a:pPr>
            <a:r>
              <a:rPr lang="en-IN" dirty="0">
                <a:latin typeface="Times New Roman" pitchFamily="18" charset="0"/>
                <a:cs typeface="Times New Roman" pitchFamily="18" charset="0"/>
              </a:rPr>
              <a:t>A computer must have instructions capable of performing </a:t>
            </a:r>
            <a:r>
              <a:rPr lang="en-IN" dirty="0">
                <a:solidFill>
                  <a:schemeClr val="accent2">
                    <a:lumMod val="75000"/>
                  </a:schemeClr>
                </a:solidFill>
                <a:latin typeface="Times New Roman" pitchFamily="18" charset="0"/>
                <a:cs typeface="Times New Roman" pitchFamily="18" charset="0"/>
              </a:rPr>
              <a:t>four types </a:t>
            </a:r>
            <a:r>
              <a:rPr lang="en-IN" dirty="0">
                <a:latin typeface="Times New Roman" pitchFamily="18" charset="0"/>
                <a:cs typeface="Times New Roman" pitchFamily="18" charset="0"/>
              </a:rPr>
              <a:t>of operations:</a:t>
            </a:r>
          </a:p>
          <a:p>
            <a:pPr>
              <a:lnSpc>
                <a:spcPct val="150000"/>
              </a:lnSpc>
              <a:buFont typeface="Wingdings" panose="05000000000000000000" pitchFamily="2" charset="2"/>
              <a:buNone/>
              <a:defRPr/>
            </a:pPr>
            <a:r>
              <a:rPr lang="en-IN" dirty="0">
                <a:latin typeface="Times New Roman" pitchFamily="18" charset="0"/>
                <a:cs typeface="Times New Roman" pitchFamily="18" charset="0"/>
              </a:rPr>
              <a:t>	1. Data transfers between the main memory and the CPU registers</a:t>
            </a:r>
          </a:p>
          <a:p>
            <a:pPr>
              <a:lnSpc>
                <a:spcPct val="150000"/>
              </a:lnSpc>
              <a:buFont typeface="Wingdings" panose="05000000000000000000" pitchFamily="2" charset="2"/>
              <a:buNone/>
              <a:defRPr/>
            </a:pPr>
            <a:r>
              <a:rPr lang="en-IN" dirty="0">
                <a:latin typeface="Times New Roman" pitchFamily="18" charset="0"/>
                <a:cs typeface="Times New Roman" pitchFamily="18" charset="0"/>
              </a:rPr>
              <a:t>	2. Arithmetic and logic operations on data</a:t>
            </a:r>
          </a:p>
          <a:p>
            <a:pPr>
              <a:lnSpc>
                <a:spcPct val="150000"/>
              </a:lnSpc>
              <a:buFont typeface="Wingdings" panose="05000000000000000000" pitchFamily="2" charset="2"/>
              <a:buNone/>
              <a:defRPr/>
            </a:pPr>
            <a:r>
              <a:rPr lang="en-IN" dirty="0">
                <a:latin typeface="Times New Roman" pitchFamily="18" charset="0"/>
                <a:cs typeface="Times New Roman" pitchFamily="18" charset="0"/>
              </a:rPr>
              <a:t>	3. Program sequencing and control</a:t>
            </a:r>
          </a:p>
          <a:p>
            <a:pPr>
              <a:lnSpc>
                <a:spcPct val="150000"/>
              </a:lnSpc>
              <a:buFont typeface="Wingdings" panose="05000000000000000000" pitchFamily="2" charset="2"/>
              <a:buNone/>
              <a:defRPr/>
            </a:pPr>
            <a:r>
              <a:rPr lang="en-IN" dirty="0">
                <a:latin typeface="Times New Roman" pitchFamily="18" charset="0"/>
                <a:cs typeface="Times New Roman" pitchFamily="18" charset="0"/>
              </a:rPr>
              <a:t>	4. I/O transfers</a:t>
            </a:r>
          </a:p>
        </p:txBody>
      </p:sp>
      <p:sp>
        <p:nvSpPr>
          <p:cNvPr id="75780" name="Slide Number Placeholder 3">
            <a:extLst>
              <a:ext uri="{FF2B5EF4-FFF2-40B4-BE49-F238E27FC236}">
                <a16:creationId xmlns:a16="http://schemas.microsoft.com/office/drawing/2014/main" id="{8AD9EB2C-9FF8-F681-EA85-E74EEAF2EF0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q"/>
              <a:defRPr sz="2000">
                <a:solidFill>
                  <a:schemeClr val="tx1"/>
                </a:solidFill>
                <a:latin typeface="Comic Sans MS" panose="030F0702030302020204" pitchFamily="66" charset="0"/>
              </a:defRPr>
            </a:lvl1pPr>
            <a:lvl2pPr marL="742950" indent="-285750">
              <a:spcBef>
                <a:spcPct val="20000"/>
              </a:spcBef>
              <a:buSzPct val="80000"/>
              <a:buFont typeface="Wingdings" panose="05000000000000000000" pitchFamily="2" charset="2"/>
              <a:buChar char="u"/>
              <a:defRPr sz="2000">
                <a:solidFill>
                  <a:schemeClr val="tx1"/>
                </a:solidFill>
                <a:latin typeface="Comic Sans MS" panose="030F0702030302020204" pitchFamily="66" charset="0"/>
              </a:defRPr>
            </a:lvl2pPr>
            <a:lvl3pPr marL="1143000" indent="-228600">
              <a:spcBef>
                <a:spcPct val="20000"/>
              </a:spcBef>
              <a:buSzPct val="140000"/>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0"/>
              </a:spcBef>
              <a:buSzTx/>
              <a:buFontTx/>
              <a:buNone/>
            </a:pPr>
            <a:fld id="{247C048F-2C69-403F-BC34-1A1C483006BF}" type="slidenum">
              <a:rPr lang="en-US" altLang="en-US" sz="1400">
                <a:latin typeface="Times New Roman" panose="02020603050405020304" pitchFamily="18" charset="0"/>
              </a:rPr>
              <a:pPr>
                <a:spcBef>
                  <a:spcPct val="0"/>
                </a:spcBef>
                <a:buSzTx/>
                <a:buFontTx/>
                <a:buNone/>
              </a:pPr>
              <a:t>15</a:t>
            </a:fld>
            <a:endParaRPr lang="en-US" altLang="en-US" sz="1400">
              <a:latin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itle 1">
            <a:extLst>
              <a:ext uri="{FF2B5EF4-FFF2-40B4-BE49-F238E27FC236}">
                <a16:creationId xmlns:a16="http://schemas.microsoft.com/office/drawing/2014/main" id="{9CECB39C-4BD4-BAC0-BA58-57E5867A8EFA}"/>
              </a:ext>
            </a:extLst>
          </p:cNvPr>
          <p:cNvSpPr>
            <a:spLocks noGrp="1"/>
          </p:cNvSpPr>
          <p:nvPr>
            <p:ph type="title"/>
          </p:nvPr>
        </p:nvSpPr>
        <p:spPr/>
        <p:txBody>
          <a:bodyPr>
            <a:normAutofit/>
          </a:bodyPr>
          <a:lstStyle/>
          <a:p>
            <a:r>
              <a:rPr lang="en-IN" altLang="en-US" sz="2800" b="1" dirty="0"/>
              <a:t>Notations used:-</a:t>
            </a:r>
            <a:endParaRPr lang="en-IN" altLang="en-US" sz="2800" dirty="0"/>
          </a:p>
        </p:txBody>
      </p:sp>
      <p:sp>
        <p:nvSpPr>
          <p:cNvPr id="3" name="Content Placeholder 2">
            <a:extLst>
              <a:ext uri="{FF2B5EF4-FFF2-40B4-BE49-F238E27FC236}">
                <a16:creationId xmlns:a16="http://schemas.microsoft.com/office/drawing/2014/main" id="{77F1B95A-3AEB-F005-D5E3-73545C98D205}"/>
              </a:ext>
            </a:extLst>
          </p:cNvPr>
          <p:cNvSpPr>
            <a:spLocks noGrp="1"/>
          </p:cNvSpPr>
          <p:nvPr>
            <p:ph idx="1"/>
          </p:nvPr>
        </p:nvSpPr>
        <p:spPr>
          <a:xfrm>
            <a:off x="838200" y="1357460"/>
            <a:ext cx="10515600" cy="4819503"/>
          </a:xfrm>
        </p:spPr>
        <p:txBody>
          <a:bodyPr>
            <a:normAutofit fontScale="92500"/>
          </a:bodyPr>
          <a:lstStyle/>
          <a:p>
            <a:pPr>
              <a:lnSpc>
                <a:spcPct val="150000"/>
              </a:lnSpc>
              <a:buFont typeface="Wingdings" panose="05000000000000000000" pitchFamily="2" charset="2"/>
              <a:buNone/>
              <a:defRPr/>
            </a:pPr>
            <a:r>
              <a:rPr lang="en-IN" b="1" dirty="0">
                <a:latin typeface="Times New Roman" pitchFamily="18" charset="0"/>
                <a:cs typeface="Times New Roman" pitchFamily="18" charset="0"/>
              </a:rPr>
              <a:t>a) </a:t>
            </a:r>
            <a:r>
              <a:rPr lang="en-IN" b="1" dirty="0">
                <a:solidFill>
                  <a:schemeClr val="accent2">
                    <a:lumMod val="75000"/>
                  </a:schemeClr>
                </a:solidFill>
                <a:latin typeface="Times New Roman" pitchFamily="18" charset="0"/>
                <a:cs typeface="Times New Roman" pitchFamily="18" charset="0"/>
              </a:rPr>
              <a:t>Register Transfer Notation (RTN):- </a:t>
            </a:r>
            <a:r>
              <a:rPr lang="en-IN" dirty="0">
                <a:latin typeface="Times New Roman" pitchFamily="18" charset="0"/>
                <a:cs typeface="Times New Roman" pitchFamily="18" charset="0"/>
              </a:rPr>
              <a:t>Possible locations involved in transfer of information are memory location, CPU registers or registers in the I/O subsystem. </a:t>
            </a:r>
          </a:p>
          <a:p>
            <a:pPr>
              <a:lnSpc>
                <a:spcPct val="150000"/>
              </a:lnSpc>
              <a:defRPr/>
            </a:pPr>
            <a:r>
              <a:rPr lang="en-IN" dirty="0">
                <a:latin typeface="Times New Roman" pitchFamily="18" charset="0"/>
                <a:cs typeface="Times New Roman" pitchFamily="18" charset="0"/>
              </a:rPr>
              <a:t>We identify the names for the addresses of memory location as LOC, PLACE, A, VAR2 etc and the names for CPU registers as R0, R5 etc. </a:t>
            </a:r>
          </a:p>
          <a:p>
            <a:pPr>
              <a:lnSpc>
                <a:spcPct val="150000"/>
              </a:lnSpc>
              <a:defRPr/>
            </a:pPr>
            <a:r>
              <a:rPr lang="en-IN" dirty="0">
                <a:latin typeface="Times New Roman" pitchFamily="18" charset="0"/>
                <a:cs typeface="Times New Roman" pitchFamily="18" charset="0"/>
              </a:rPr>
              <a:t>The contents of a location or a register are denoted by placing the corresponding name between square brackets.</a:t>
            </a:r>
          </a:p>
        </p:txBody>
      </p:sp>
      <p:sp>
        <p:nvSpPr>
          <p:cNvPr id="76804" name="Slide Number Placeholder 3">
            <a:extLst>
              <a:ext uri="{FF2B5EF4-FFF2-40B4-BE49-F238E27FC236}">
                <a16:creationId xmlns:a16="http://schemas.microsoft.com/office/drawing/2014/main" id="{CFCA2E61-565E-0E18-196C-D230831BB19D}"/>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q"/>
              <a:defRPr sz="2000">
                <a:solidFill>
                  <a:schemeClr val="tx1"/>
                </a:solidFill>
                <a:latin typeface="Comic Sans MS" panose="030F0702030302020204" pitchFamily="66" charset="0"/>
              </a:defRPr>
            </a:lvl1pPr>
            <a:lvl2pPr marL="742950" indent="-285750">
              <a:spcBef>
                <a:spcPct val="20000"/>
              </a:spcBef>
              <a:buSzPct val="80000"/>
              <a:buFont typeface="Wingdings" panose="05000000000000000000" pitchFamily="2" charset="2"/>
              <a:buChar char="u"/>
              <a:defRPr sz="2000">
                <a:solidFill>
                  <a:schemeClr val="tx1"/>
                </a:solidFill>
                <a:latin typeface="Comic Sans MS" panose="030F0702030302020204" pitchFamily="66" charset="0"/>
              </a:defRPr>
            </a:lvl2pPr>
            <a:lvl3pPr marL="1143000" indent="-228600">
              <a:spcBef>
                <a:spcPct val="20000"/>
              </a:spcBef>
              <a:buSzPct val="140000"/>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0"/>
              </a:spcBef>
              <a:buSzTx/>
              <a:buFontTx/>
              <a:buNone/>
            </a:pPr>
            <a:fld id="{7F135074-B85F-4E07-8A87-3F1613973B31}" type="slidenum">
              <a:rPr lang="en-US" altLang="en-US" sz="1400">
                <a:latin typeface="Times New Roman" panose="02020603050405020304" pitchFamily="18" charset="0"/>
              </a:rPr>
              <a:pPr>
                <a:spcBef>
                  <a:spcPct val="0"/>
                </a:spcBef>
                <a:buSzTx/>
                <a:buFontTx/>
                <a:buNone/>
              </a:pPr>
              <a:t>16</a:t>
            </a:fld>
            <a:endParaRPr lang="en-US" altLang="en-US" sz="1400">
              <a:latin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4BF3712-2592-23FC-C08F-D3C6E2531B2B}"/>
              </a:ext>
            </a:extLst>
          </p:cNvPr>
          <p:cNvSpPr>
            <a:spLocks noGrp="1"/>
          </p:cNvSpPr>
          <p:nvPr>
            <p:ph idx="1"/>
          </p:nvPr>
        </p:nvSpPr>
        <p:spPr>
          <a:xfrm>
            <a:off x="838200" y="744718"/>
            <a:ext cx="10515600" cy="5432245"/>
          </a:xfrm>
        </p:spPr>
        <p:txBody>
          <a:bodyPr>
            <a:normAutofit fontScale="92500" lnSpcReduction="10000"/>
          </a:bodyPr>
          <a:lstStyle/>
          <a:p>
            <a:pPr>
              <a:lnSpc>
                <a:spcPct val="150000"/>
              </a:lnSpc>
              <a:defRPr/>
            </a:pPr>
            <a:r>
              <a:rPr lang="en-IN" dirty="0">
                <a:latin typeface="Times New Roman" pitchFamily="18" charset="0"/>
                <a:cs typeface="Times New Roman" pitchFamily="18" charset="0"/>
              </a:rPr>
              <a:t>E.g. </a:t>
            </a:r>
            <a:r>
              <a:rPr lang="en-IN" dirty="0" err="1">
                <a:latin typeface="Times New Roman" pitchFamily="18" charset="0"/>
                <a:cs typeface="Times New Roman" pitchFamily="18" charset="0"/>
              </a:rPr>
              <a:t>i</a:t>
            </a:r>
            <a:r>
              <a:rPr lang="en-IN" dirty="0">
                <a:latin typeface="Times New Roman" pitchFamily="18" charset="0"/>
                <a:cs typeface="Times New Roman" pitchFamily="18" charset="0"/>
              </a:rPr>
              <a:t>) R1 </a:t>
            </a:r>
            <a:r>
              <a:rPr lang="en-IN" dirty="0">
                <a:latin typeface="Times New Roman" pitchFamily="18" charset="0"/>
                <a:cs typeface="Times New Roman" pitchFamily="18" charset="0"/>
                <a:sym typeface="Wingdings" pitchFamily="2" charset="2"/>
              </a:rPr>
              <a:t></a:t>
            </a:r>
            <a:r>
              <a:rPr lang="en-IN" dirty="0">
                <a:latin typeface="Times New Roman" pitchFamily="18" charset="0"/>
                <a:cs typeface="Times New Roman" pitchFamily="18" charset="0"/>
              </a:rPr>
              <a:t> [LOC] means that the contents of memory location LOC are transferred into register R1.</a:t>
            </a:r>
          </a:p>
          <a:p>
            <a:pPr>
              <a:lnSpc>
                <a:spcPct val="150000"/>
              </a:lnSpc>
              <a:buFont typeface="Wingdings" panose="05000000000000000000" pitchFamily="2" charset="2"/>
              <a:buNone/>
              <a:defRPr/>
            </a:pPr>
            <a:r>
              <a:rPr lang="en-IN" dirty="0">
                <a:latin typeface="Times New Roman" pitchFamily="18" charset="0"/>
                <a:cs typeface="Times New Roman" pitchFamily="18" charset="0"/>
              </a:rPr>
              <a:t>		ii) R3 </a:t>
            </a:r>
            <a:r>
              <a:rPr lang="en-IN" dirty="0">
                <a:latin typeface="Times New Roman" pitchFamily="18" charset="0"/>
                <a:cs typeface="Times New Roman" pitchFamily="18" charset="0"/>
                <a:sym typeface="Wingdings" pitchFamily="2" charset="2"/>
              </a:rPr>
              <a:t></a:t>
            </a:r>
            <a:r>
              <a:rPr lang="en-IN" dirty="0">
                <a:latin typeface="Times New Roman" pitchFamily="18" charset="0"/>
                <a:cs typeface="Times New Roman" pitchFamily="18" charset="0"/>
              </a:rPr>
              <a:t> [R1] + [R2] adds the contents of registers R1 and R2 and then places their sum into register R3</a:t>
            </a:r>
            <a:r>
              <a:rPr lang="en-IN" dirty="0"/>
              <a:t>.</a:t>
            </a:r>
          </a:p>
          <a:p>
            <a:pPr>
              <a:lnSpc>
                <a:spcPct val="150000"/>
              </a:lnSpc>
              <a:buFont typeface="Wingdings" panose="05000000000000000000" pitchFamily="2" charset="2"/>
              <a:buNone/>
              <a:defRPr/>
            </a:pPr>
            <a:r>
              <a:rPr lang="en-IN" b="1" dirty="0">
                <a:latin typeface="Times New Roman" pitchFamily="18" charset="0"/>
                <a:cs typeface="Times New Roman" pitchFamily="18" charset="0"/>
              </a:rPr>
              <a:t>b) </a:t>
            </a:r>
            <a:r>
              <a:rPr lang="en-IN" b="1" dirty="0">
                <a:solidFill>
                  <a:schemeClr val="accent2">
                    <a:lumMod val="75000"/>
                  </a:schemeClr>
                </a:solidFill>
                <a:latin typeface="Times New Roman" pitchFamily="18" charset="0"/>
                <a:cs typeface="Times New Roman" pitchFamily="18" charset="0"/>
              </a:rPr>
              <a:t>Assembly Language Notation:- </a:t>
            </a:r>
            <a:r>
              <a:rPr lang="en-IN" dirty="0">
                <a:latin typeface="Times New Roman" pitchFamily="18" charset="0"/>
                <a:cs typeface="Times New Roman" pitchFamily="18" charset="0"/>
              </a:rPr>
              <a:t>The same operations can be represented in assembly language format as shown below.</a:t>
            </a:r>
          </a:p>
          <a:p>
            <a:pPr>
              <a:lnSpc>
                <a:spcPct val="150000"/>
              </a:lnSpc>
              <a:defRPr/>
            </a:pPr>
            <a:r>
              <a:rPr lang="en-IN" dirty="0">
                <a:latin typeface="Times New Roman" pitchFamily="18" charset="0"/>
                <a:cs typeface="Times New Roman" pitchFamily="18" charset="0"/>
              </a:rPr>
              <a:t>E.g. </a:t>
            </a:r>
            <a:r>
              <a:rPr lang="en-IN" dirty="0" err="1">
                <a:latin typeface="Times New Roman" pitchFamily="18" charset="0"/>
                <a:cs typeface="Times New Roman" pitchFamily="18" charset="0"/>
              </a:rPr>
              <a:t>i</a:t>
            </a:r>
            <a:r>
              <a:rPr lang="en-IN" dirty="0">
                <a:latin typeface="Times New Roman" pitchFamily="18" charset="0"/>
                <a:cs typeface="Times New Roman" pitchFamily="18" charset="0"/>
              </a:rPr>
              <a:t>) Move  LOC, R1</a:t>
            </a:r>
          </a:p>
          <a:p>
            <a:pPr>
              <a:lnSpc>
                <a:spcPct val="150000"/>
              </a:lnSpc>
              <a:buFont typeface="Wingdings" panose="05000000000000000000" pitchFamily="2" charset="2"/>
              <a:buNone/>
              <a:defRPr/>
            </a:pPr>
            <a:r>
              <a:rPr lang="en-IN" dirty="0">
                <a:latin typeface="Times New Roman" pitchFamily="18" charset="0"/>
                <a:cs typeface="Times New Roman" pitchFamily="18" charset="0"/>
              </a:rPr>
              <a:t>		ii) Add  R1,R2,R3</a:t>
            </a:r>
          </a:p>
        </p:txBody>
      </p:sp>
      <p:sp>
        <p:nvSpPr>
          <p:cNvPr id="77828" name="Slide Number Placeholder 3">
            <a:extLst>
              <a:ext uri="{FF2B5EF4-FFF2-40B4-BE49-F238E27FC236}">
                <a16:creationId xmlns:a16="http://schemas.microsoft.com/office/drawing/2014/main" id="{015E8295-7DF1-CAE9-5FCE-17671F90BCE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q"/>
              <a:defRPr sz="2000">
                <a:solidFill>
                  <a:schemeClr val="tx1"/>
                </a:solidFill>
                <a:latin typeface="Comic Sans MS" panose="030F0702030302020204" pitchFamily="66" charset="0"/>
              </a:defRPr>
            </a:lvl1pPr>
            <a:lvl2pPr marL="742950" indent="-285750">
              <a:spcBef>
                <a:spcPct val="20000"/>
              </a:spcBef>
              <a:buSzPct val="80000"/>
              <a:buFont typeface="Wingdings" panose="05000000000000000000" pitchFamily="2" charset="2"/>
              <a:buChar char="u"/>
              <a:defRPr sz="2000">
                <a:solidFill>
                  <a:schemeClr val="tx1"/>
                </a:solidFill>
                <a:latin typeface="Comic Sans MS" panose="030F0702030302020204" pitchFamily="66" charset="0"/>
              </a:defRPr>
            </a:lvl2pPr>
            <a:lvl3pPr marL="1143000" indent="-228600">
              <a:spcBef>
                <a:spcPct val="20000"/>
              </a:spcBef>
              <a:buSzPct val="140000"/>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0"/>
              </a:spcBef>
              <a:buSzTx/>
              <a:buFontTx/>
              <a:buNone/>
            </a:pPr>
            <a:fld id="{8CC66653-2BF4-4626-ADC0-83407F7BAF36}" type="slidenum">
              <a:rPr lang="en-US" altLang="en-US" sz="1400">
                <a:latin typeface="Times New Roman" panose="02020603050405020304" pitchFamily="18" charset="0"/>
              </a:rPr>
              <a:pPr>
                <a:spcBef>
                  <a:spcPct val="0"/>
                </a:spcBef>
                <a:buSzTx/>
                <a:buFontTx/>
                <a:buNone/>
              </a:pPr>
              <a:t>17</a:t>
            </a:fld>
            <a:endParaRPr lang="en-US" altLang="en-US" sz="1400">
              <a:latin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itle 1">
            <a:extLst>
              <a:ext uri="{FF2B5EF4-FFF2-40B4-BE49-F238E27FC236}">
                <a16:creationId xmlns:a16="http://schemas.microsoft.com/office/drawing/2014/main" id="{65D77902-61EF-B09C-D800-C7B0B098DA2A}"/>
              </a:ext>
            </a:extLst>
          </p:cNvPr>
          <p:cNvSpPr>
            <a:spLocks noGrp="1"/>
          </p:cNvSpPr>
          <p:nvPr>
            <p:ph type="title"/>
          </p:nvPr>
        </p:nvSpPr>
        <p:spPr/>
        <p:txBody>
          <a:bodyPr>
            <a:normAutofit/>
          </a:bodyPr>
          <a:lstStyle/>
          <a:p>
            <a:r>
              <a:rPr lang="en-IN" altLang="en-US" sz="3200" b="1" dirty="0"/>
              <a:t>BASIC INSTRUCTION TYPES</a:t>
            </a:r>
            <a:endParaRPr lang="en-IN" altLang="en-US" sz="3200" dirty="0"/>
          </a:p>
        </p:txBody>
      </p:sp>
      <p:sp>
        <p:nvSpPr>
          <p:cNvPr id="78851" name="Content Placeholder 2">
            <a:extLst>
              <a:ext uri="{FF2B5EF4-FFF2-40B4-BE49-F238E27FC236}">
                <a16:creationId xmlns:a16="http://schemas.microsoft.com/office/drawing/2014/main" id="{4B56AF72-0E75-3BB2-E834-6BCC50353A51}"/>
              </a:ext>
            </a:extLst>
          </p:cNvPr>
          <p:cNvSpPr>
            <a:spLocks noGrp="1"/>
          </p:cNvSpPr>
          <p:nvPr>
            <p:ph idx="1"/>
          </p:nvPr>
        </p:nvSpPr>
        <p:spPr>
          <a:xfrm>
            <a:off x="838200" y="1517715"/>
            <a:ext cx="10515600" cy="4659248"/>
          </a:xfrm>
        </p:spPr>
        <p:txBody>
          <a:bodyPr>
            <a:normAutofit fontScale="92500" lnSpcReduction="20000"/>
          </a:bodyPr>
          <a:lstStyle/>
          <a:p>
            <a:pPr marL="114300" indent="0">
              <a:lnSpc>
                <a:spcPct val="150000"/>
              </a:lnSpc>
              <a:buNone/>
            </a:pPr>
            <a:r>
              <a:rPr lang="en-IN" altLang="en-US" dirty="0">
                <a:latin typeface="Times New Roman" panose="02020603050405020304" pitchFamily="18" charset="0"/>
                <a:cs typeface="Times New Roman" panose="02020603050405020304" pitchFamily="18" charset="0"/>
              </a:rPr>
              <a:t>There are five types of instruction formats in a computer that are commonly used, namely:</a:t>
            </a:r>
          </a:p>
          <a:p>
            <a:pPr>
              <a:lnSpc>
                <a:spcPct val="150000"/>
              </a:lnSpc>
              <a:buFont typeface="Wingdings" panose="05000000000000000000" pitchFamily="2" charset="2"/>
              <a:buNone/>
            </a:pPr>
            <a:r>
              <a:rPr lang="en-IN" altLang="en-US" dirty="0">
                <a:latin typeface="Times New Roman" panose="02020603050405020304" pitchFamily="18" charset="0"/>
                <a:cs typeface="Times New Roman" panose="02020603050405020304" pitchFamily="18" charset="0"/>
              </a:rPr>
              <a:t>		1. Three-address instruction format</a:t>
            </a:r>
          </a:p>
          <a:p>
            <a:pPr>
              <a:lnSpc>
                <a:spcPct val="150000"/>
              </a:lnSpc>
              <a:buFont typeface="Wingdings" panose="05000000000000000000" pitchFamily="2" charset="2"/>
              <a:buNone/>
            </a:pPr>
            <a:r>
              <a:rPr lang="en-IN" altLang="en-US" dirty="0">
                <a:latin typeface="Times New Roman" panose="02020603050405020304" pitchFamily="18" charset="0"/>
                <a:cs typeface="Times New Roman" panose="02020603050405020304" pitchFamily="18" charset="0"/>
              </a:rPr>
              <a:t>		2. Two-address instruction format</a:t>
            </a:r>
          </a:p>
          <a:p>
            <a:pPr>
              <a:lnSpc>
                <a:spcPct val="150000"/>
              </a:lnSpc>
              <a:buFont typeface="Wingdings" panose="05000000000000000000" pitchFamily="2" charset="2"/>
              <a:buNone/>
            </a:pPr>
            <a:r>
              <a:rPr lang="en-IN" altLang="en-US" dirty="0">
                <a:latin typeface="Times New Roman" panose="02020603050405020304" pitchFamily="18" charset="0"/>
                <a:cs typeface="Times New Roman" panose="02020603050405020304" pitchFamily="18" charset="0"/>
              </a:rPr>
              <a:t>		3. One-address instruction format</a:t>
            </a:r>
          </a:p>
          <a:p>
            <a:pPr>
              <a:lnSpc>
                <a:spcPct val="150000"/>
              </a:lnSpc>
              <a:buFont typeface="Wingdings" panose="05000000000000000000" pitchFamily="2" charset="2"/>
              <a:buNone/>
            </a:pPr>
            <a:r>
              <a:rPr lang="en-IN" altLang="en-US" dirty="0">
                <a:latin typeface="Times New Roman" panose="02020603050405020304" pitchFamily="18" charset="0"/>
                <a:cs typeface="Times New Roman" panose="02020603050405020304" pitchFamily="18" charset="0"/>
              </a:rPr>
              <a:t>		4. Zero-address instruction format</a:t>
            </a:r>
          </a:p>
          <a:p>
            <a:pPr>
              <a:lnSpc>
                <a:spcPct val="150000"/>
              </a:lnSpc>
              <a:buFont typeface="Wingdings" panose="05000000000000000000" pitchFamily="2" charset="2"/>
              <a:buNone/>
            </a:pPr>
            <a:r>
              <a:rPr lang="en-IN" altLang="en-US" dirty="0">
                <a:latin typeface="Times New Roman" panose="02020603050405020304" pitchFamily="18" charset="0"/>
                <a:cs typeface="Times New Roman" panose="02020603050405020304" pitchFamily="18" charset="0"/>
              </a:rPr>
              <a:t>		5. One-and-half address instruction format</a:t>
            </a:r>
          </a:p>
        </p:txBody>
      </p:sp>
      <p:sp>
        <p:nvSpPr>
          <p:cNvPr id="78852" name="Slide Number Placeholder 3">
            <a:extLst>
              <a:ext uri="{FF2B5EF4-FFF2-40B4-BE49-F238E27FC236}">
                <a16:creationId xmlns:a16="http://schemas.microsoft.com/office/drawing/2014/main" id="{0D0EFD7B-07A1-B89E-7EE6-562D012F665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q"/>
              <a:defRPr sz="2000">
                <a:solidFill>
                  <a:schemeClr val="tx1"/>
                </a:solidFill>
                <a:latin typeface="Comic Sans MS" panose="030F0702030302020204" pitchFamily="66" charset="0"/>
              </a:defRPr>
            </a:lvl1pPr>
            <a:lvl2pPr marL="742950" indent="-285750">
              <a:spcBef>
                <a:spcPct val="20000"/>
              </a:spcBef>
              <a:buSzPct val="80000"/>
              <a:buFont typeface="Wingdings" panose="05000000000000000000" pitchFamily="2" charset="2"/>
              <a:buChar char="u"/>
              <a:defRPr sz="2000">
                <a:solidFill>
                  <a:schemeClr val="tx1"/>
                </a:solidFill>
                <a:latin typeface="Comic Sans MS" panose="030F0702030302020204" pitchFamily="66" charset="0"/>
              </a:defRPr>
            </a:lvl2pPr>
            <a:lvl3pPr marL="1143000" indent="-228600">
              <a:spcBef>
                <a:spcPct val="20000"/>
              </a:spcBef>
              <a:buSzPct val="140000"/>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0"/>
              </a:spcBef>
              <a:buSzTx/>
              <a:buFontTx/>
              <a:buNone/>
            </a:pPr>
            <a:fld id="{98911EB2-D99A-420A-A75B-2ACF1BABE303}" type="slidenum">
              <a:rPr lang="en-US" altLang="en-US" sz="1400">
                <a:latin typeface="Times New Roman" panose="02020603050405020304" pitchFamily="18" charset="0"/>
              </a:rPr>
              <a:pPr>
                <a:spcBef>
                  <a:spcPct val="0"/>
                </a:spcBef>
                <a:buSzTx/>
                <a:buFontTx/>
                <a:buNone/>
              </a:pPr>
              <a:t>18</a:t>
            </a:fld>
            <a:endParaRPr lang="en-US" altLang="en-US" sz="1400">
              <a:latin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89FAFB-6765-D3F9-5183-AB74A00B4A9A}"/>
              </a:ext>
            </a:extLst>
          </p:cNvPr>
          <p:cNvSpPr>
            <a:spLocks noGrp="1"/>
          </p:cNvSpPr>
          <p:nvPr>
            <p:ph idx="1"/>
          </p:nvPr>
        </p:nvSpPr>
        <p:spPr>
          <a:xfrm>
            <a:off x="122548" y="0"/>
            <a:ext cx="11858920" cy="6711885"/>
          </a:xfrm>
        </p:spPr>
        <p:txBody>
          <a:bodyPr>
            <a:noAutofit/>
          </a:bodyPr>
          <a:lstStyle/>
          <a:p>
            <a:pPr>
              <a:lnSpc>
                <a:spcPct val="150000"/>
              </a:lnSpc>
              <a:buFont typeface="Wingdings" panose="05000000000000000000" pitchFamily="2" charset="2"/>
              <a:buNone/>
              <a:defRPr/>
            </a:pPr>
            <a:r>
              <a:rPr lang="en-IN" sz="2000" dirty="0">
                <a:solidFill>
                  <a:schemeClr val="accent2">
                    <a:lumMod val="75000"/>
                  </a:schemeClr>
                </a:solidFill>
                <a:latin typeface="Times New Roman" pitchFamily="18" charset="0"/>
                <a:cs typeface="Times New Roman" pitchFamily="18" charset="0"/>
              </a:rPr>
              <a:t>Three-address instruction</a:t>
            </a:r>
          </a:p>
          <a:p>
            <a:pPr>
              <a:lnSpc>
                <a:spcPct val="120000"/>
              </a:lnSpc>
              <a:defRPr/>
            </a:pPr>
            <a:r>
              <a:rPr lang="en-IN" sz="2000" dirty="0">
                <a:latin typeface="Times New Roman" pitchFamily="18" charset="0"/>
                <a:cs typeface="Times New Roman" pitchFamily="18" charset="0"/>
              </a:rPr>
              <a:t>C = A + B is a high level instruction to add the values of the two variables A and B and to assign the sum to a third variable C. </a:t>
            </a:r>
          </a:p>
          <a:p>
            <a:pPr>
              <a:lnSpc>
                <a:spcPct val="120000"/>
              </a:lnSpc>
              <a:defRPr/>
            </a:pPr>
            <a:r>
              <a:rPr lang="en-IN" sz="2000" dirty="0">
                <a:latin typeface="Times New Roman" pitchFamily="18" charset="0"/>
                <a:cs typeface="Times New Roman" pitchFamily="18" charset="0"/>
              </a:rPr>
              <a:t>When this statement is compiled, each of these variables is assigned to a location in the memory. </a:t>
            </a:r>
          </a:p>
          <a:p>
            <a:pPr>
              <a:lnSpc>
                <a:spcPct val="120000"/>
              </a:lnSpc>
              <a:defRPr/>
            </a:pPr>
            <a:r>
              <a:rPr lang="en-IN" sz="2000" dirty="0">
                <a:latin typeface="Times New Roman" pitchFamily="18" charset="0"/>
                <a:cs typeface="Times New Roman" pitchFamily="18" charset="0"/>
              </a:rPr>
              <a:t>The contents of these locations represent the values of the three variables. Hence the above instruction requires the</a:t>
            </a:r>
          </a:p>
          <a:p>
            <a:pPr>
              <a:lnSpc>
                <a:spcPct val="120000"/>
              </a:lnSpc>
              <a:defRPr/>
            </a:pPr>
            <a:r>
              <a:rPr lang="en-IN" sz="2000" dirty="0">
                <a:latin typeface="Times New Roman" pitchFamily="18" charset="0"/>
                <a:cs typeface="Times New Roman" pitchFamily="18" charset="0"/>
              </a:rPr>
              <a:t>Action: 	C</a:t>
            </a:r>
            <a:r>
              <a:rPr lang="en-IN" sz="2000" dirty="0">
                <a:latin typeface="+mj-lt"/>
                <a:cs typeface="Times New Roman" pitchFamily="18" charset="0"/>
              </a:rPr>
              <a:t> </a:t>
            </a:r>
            <a:r>
              <a:rPr lang="en-IN" sz="2000" dirty="0">
                <a:latin typeface="+mj-lt"/>
                <a:cs typeface="Times New Roman" pitchFamily="18" charset="0"/>
                <a:sym typeface="Wingdings" pitchFamily="2" charset="2"/>
              </a:rPr>
              <a:t></a:t>
            </a:r>
            <a:r>
              <a:rPr lang="en-IN" sz="2000" dirty="0">
                <a:latin typeface="+mj-lt"/>
                <a:cs typeface="Times New Roman" pitchFamily="18" charset="0"/>
              </a:rPr>
              <a:t> </a:t>
            </a:r>
            <a:r>
              <a:rPr lang="en-IN" sz="2000" dirty="0">
                <a:latin typeface="Times New Roman" pitchFamily="18" charset="0"/>
                <a:cs typeface="Times New Roman" pitchFamily="18" charset="0"/>
              </a:rPr>
              <a:t>[A] + [B]</a:t>
            </a:r>
          </a:p>
          <a:p>
            <a:pPr>
              <a:lnSpc>
                <a:spcPct val="120000"/>
              </a:lnSpc>
            </a:pPr>
            <a:r>
              <a:rPr lang="en-IN" altLang="en-US" sz="2000" dirty="0">
                <a:latin typeface="Times New Roman" panose="02020603050405020304" pitchFamily="18" charset="0"/>
                <a:cs typeface="Times New Roman" panose="02020603050405020304" pitchFamily="18" charset="0"/>
              </a:rPr>
              <a:t>To carry out this instruction, the contents of the memory locations A and B are fetched from the main memory and transferred into the processor – sum is computed – result is sent back to memory and stored in location C.</a:t>
            </a:r>
          </a:p>
          <a:p>
            <a:pPr>
              <a:lnSpc>
                <a:spcPct val="120000"/>
              </a:lnSpc>
            </a:pPr>
            <a:r>
              <a:rPr lang="en-IN" altLang="en-US" sz="2000" dirty="0">
                <a:latin typeface="Times New Roman" panose="02020603050405020304" pitchFamily="18" charset="0"/>
                <a:cs typeface="Times New Roman" panose="02020603050405020304" pitchFamily="18" charset="0"/>
              </a:rPr>
              <a:t> The same action is performed by a single machine instruction (three address instruction)</a:t>
            </a:r>
          </a:p>
          <a:p>
            <a:pPr>
              <a:lnSpc>
                <a:spcPct val="120000"/>
              </a:lnSpc>
              <a:buFont typeface="Wingdings" panose="05000000000000000000" pitchFamily="2" charset="2"/>
              <a:buNone/>
            </a:pPr>
            <a:r>
              <a:rPr lang="en-IN" altLang="en-US" sz="2000" dirty="0">
                <a:latin typeface="Times New Roman" panose="02020603050405020304" pitchFamily="18" charset="0"/>
                <a:cs typeface="Times New Roman" panose="02020603050405020304" pitchFamily="18" charset="0"/>
              </a:rPr>
              <a:t>				Add A,B,C</a:t>
            </a:r>
          </a:p>
          <a:p>
            <a:pPr>
              <a:lnSpc>
                <a:spcPct val="120000"/>
              </a:lnSpc>
            </a:pPr>
            <a:r>
              <a:rPr lang="en-IN" altLang="en-US" sz="2000" dirty="0">
                <a:latin typeface="Times New Roman" panose="02020603050405020304" pitchFamily="18" charset="0"/>
                <a:cs typeface="Times New Roman" panose="02020603050405020304" pitchFamily="18" charset="0"/>
              </a:rPr>
              <a:t>Operands A and B are called the </a:t>
            </a:r>
            <a:r>
              <a:rPr lang="en-IN" altLang="en-US" sz="2000" i="1" dirty="0">
                <a:latin typeface="Times New Roman" panose="02020603050405020304" pitchFamily="18" charset="0"/>
                <a:cs typeface="Times New Roman" panose="02020603050405020304" pitchFamily="18" charset="0"/>
              </a:rPr>
              <a:t>source operands, C is called the destination operand, </a:t>
            </a:r>
            <a:r>
              <a:rPr lang="en-IN" altLang="en-US" sz="2000" dirty="0">
                <a:latin typeface="Times New Roman" panose="02020603050405020304" pitchFamily="18" charset="0"/>
                <a:cs typeface="Times New Roman" panose="02020603050405020304" pitchFamily="18" charset="0"/>
              </a:rPr>
              <a:t>and Add is the operation to be performed on the operands. </a:t>
            </a:r>
          </a:p>
          <a:p>
            <a:pPr>
              <a:lnSpc>
                <a:spcPct val="120000"/>
              </a:lnSpc>
            </a:pPr>
            <a:r>
              <a:rPr lang="en-IN" altLang="en-US" sz="2000" dirty="0">
                <a:latin typeface="Times New Roman" panose="02020603050405020304" pitchFamily="18" charset="0"/>
                <a:cs typeface="Times New Roman" panose="02020603050405020304" pitchFamily="18" charset="0"/>
              </a:rPr>
              <a:t>The general format is                   Operation    Source1,Source2, Destination</a:t>
            </a:r>
            <a:endParaRPr lang="en-IN" sz="2000" dirty="0">
              <a:latin typeface="Times New Roman" pitchFamily="18" charset="0"/>
              <a:cs typeface="Times New Roman" pitchFamily="18" charset="0"/>
            </a:endParaRPr>
          </a:p>
          <a:p>
            <a:pPr>
              <a:buFont typeface="Wingdings" panose="05000000000000000000" pitchFamily="2" charset="2"/>
              <a:buNone/>
              <a:defRPr/>
            </a:pPr>
            <a:endParaRPr lang="en-IN"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B0DD77-2CE7-A9B5-613D-AE5FEEABEBED}"/>
              </a:ext>
            </a:extLst>
          </p:cNvPr>
          <p:cNvSpPr>
            <a:spLocks noGrp="1"/>
          </p:cNvSpPr>
          <p:nvPr>
            <p:ph idx="1"/>
          </p:nvPr>
        </p:nvSpPr>
        <p:spPr>
          <a:xfrm>
            <a:off x="122547" y="320510"/>
            <a:ext cx="11849493" cy="6334813"/>
          </a:xfrm>
        </p:spPr>
        <p:txBody>
          <a:bodyPr>
            <a:noAutofit/>
          </a:bodyPr>
          <a:lstStyle/>
          <a:p>
            <a:pPr marL="0">
              <a:lnSpc>
                <a:spcPct val="100000"/>
              </a:lnSpc>
              <a:spcBef>
                <a:spcPts val="0"/>
              </a:spcBef>
              <a:buFont typeface="Wingdings" panose="05000000000000000000" pitchFamily="2" charset="2"/>
              <a:buNone/>
              <a:defRPr/>
            </a:pPr>
            <a:r>
              <a:rPr lang="en-IN" sz="2400" b="1" dirty="0">
                <a:solidFill>
                  <a:schemeClr val="accent2">
                    <a:lumMod val="75000"/>
                  </a:schemeClr>
                </a:solidFill>
                <a:latin typeface="Times New Roman" pitchFamily="18" charset="0"/>
                <a:cs typeface="Times New Roman" pitchFamily="18" charset="0"/>
              </a:rPr>
              <a:t>Two-address instruction</a:t>
            </a:r>
          </a:p>
          <a:p>
            <a:pPr marL="0">
              <a:lnSpc>
                <a:spcPct val="100000"/>
              </a:lnSpc>
              <a:spcBef>
                <a:spcPts val="0"/>
              </a:spcBef>
              <a:buFont typeface="Wingdings" panose="05000000000000000000" pitchFamily="2" charset="2"/>
              <a:buNone/>
              <a:defRPr/>
            </a:pPr>
            <a:endParaRPr lang="en-IN" sz="2400" b="1" dirty="0">
              <a:solidFill>
                <a:schemeClr val="accent2">
                  <a:lumMod val="75000"/>
                </a:schemeClr>
              </a:solidFill>
              <a:latin typeface="Times New Roman" pitchFamily="18" charset="0"/>
              <a:cs typeface="Times New Roman" pitchFamily="18" charset="0"/>
            </a:endParaRPr>
          </a:p>
          <a:p>
            <a:pPr marL="0">
              <a:lnSpc>
                <a:spcPct val="100000"/>
              </a:lnSpc>
              <a:spcBef>
                <a:spcPts val="0"/>
              </a:spcBef>
              <a:defRPr/>
            </a:pPr>
            <a:r>
              <a:rPr lang="en-IN" sz="2400" dirty="0">
                <a:latin typeface="Times New Roman" pitchFamily="18" charset="0"/>
                <a:cs typeface="Times New Roman" pitchFamily="18" charset="0"/>
              </a:rPr>
              <a:t>An alternative method is to use two address instruction of the form</a:t>
            </a:r>
          </a:p>
          <a:p>
            <a:pPr marL="0">
              <a:lnSpc>
                <a:spcPct val="100000"/>
              </a:lnSpc>
              <a:spcBef>
                <a:spcPts val="0"/>
              </a:spcBef>
              <a:buFont typeface="Wingdings" panose="05000000000000000000" pitchFamily="2" charset="2"/>
              <a:buNone/>
              <a:defRPr/>
            </a:pPr>
            <a:r>
              <a:rPr lang="en-IN" sz="2400" dirty="0">
                <a:latin typeface="Times New Roman" pitchFamily="18" charset="0"/>
                <a:cs typeface="Times New Roman" pitchFamily="18" charset="0"/>
              </a:rPr>
              <a:t>		Operation   Source, Destination</a:t>
            </a:r>
          </a:p>
          <a:p>
            <a:pPr marL="0">
              <a:lnSpc>
                <a:spcPct val="100000"/>
              </a:lnSpc>
              <a:spcBef>
                <a:spcPts val="0"/>
              </a:spcBef>
              <a:buFont typeface="Wingdings" panose="05000000000000000000" pitchFamily="2" charset="2"/>
              <a:buNone/>
              <a:defRPr/>
            </a:pPr>
            <a:endParaRPr lang="en-IN" sz="2400" dirty="0">
              <a:latin typeface="Times New Roman" pitchFamily="18" charset="0"/>
              <a:cs typeface="Times New Roman" pitchFamily="18" charset="0"/>
            </a:endParaRPr>
          </a:p>
          <a:p>
            <a:pPr marL="0">
              <a:lnSpc>
                <a:spcPct val="100000"/>
              </a:lnSpc>
              <a:spcBef>
                <a:spcPts val="0"/>
              </a:spcBef>
              <a:defRPr/>
            </a:pPr>
            <a:r>
              <a:rPr lang="en-IN" sz="2400" dirty="0">
                <a:latin typeface="Times New Roman" pitchFamily="18" charset="0"/>
                <a:cs typeface="Times New Roman" pitchFamily="18" charset="0"/>
              </a:rPr>
              <a:t>E.g. Add A,B which perform the operation</a:t>
            </a:r>
          </a:p>
          <a:p>
            <a:pPr marL="0">
              <a:lnSpc>
                <a:spcPct val="100000"/>
              </a:lnSpc>
              <a:spcBef>
                <a:spcPts val="0"/>
              </a:spcBef>
              <a:buFont typeface="Wingdings" panose="05000000000000000000" pitchFamily="2" charset="2"/>
              <a:buNone/>
              <a:defRPr/>
            </a:pPr>
            <a:r>
              <a:rPr lang="en-IN" sz="2400" dirty="0">
                <a:latin typeface="Times New Roman" pitchFamily="18" charset="0"/>
                <a:cs typeface="Times New Roman" pitchFamily="18" charset="0"/>
              </a:rPr>
              <a:t>		B</a:t>
            </a:r>
            <a:r>
              <a:rPr lang="en-IN" sz="2400" dirty="0">
                <a:latin typeface="+mj-lt"/>
                <a:cs typeface="Times New Roman" pitchFamily="18" charset="0"/>
              </a:rPr>
              <a:t> </a:t>
            </a:r>
            <a:r>
              <a:rPr lang="en-IN" sz="2400" dirty="0">
                <a:latin typeface="+mj-lt"/>
                <a:cs typeface="Times New Roman" pitchFamily="18" charset="0"/>
                <a:sym typeface="Wingdings" pitchFamily="2" charset="2"/>
              </a:rPr>
              <a:t></a:t>
            </a:r>
            <a:r>
              <a:rPr lang="en-IN" sz="2400" dirty="0">
                <a:latin typeface="Times New Roman" pitchFamily="18" charset="0"/>
                <a:cs typeface="Times New Roman" pitchFamily="18" charset="0"/>
              </a:rPr>
              <a:t>[A] + [B] </a:t>
            </a:r>
          </a:p>
          <a:p>
            <a:pPr marL="0">
              <a:lnSpc>
                <a:spcPct val="100000"/>
              </a:lnSpc>
              <a:spcBef>
                <a:spcPts val="0"/>
              </a:spcBef>
              <a:buFont typeface="Wingdings" panose="05000000000000000000" pitchFamily="2" charset="2"/>
              <a:buNone/>
              <a:defRPr/>
            </a:pPr>
            <a:endParaRPr lang="en-IN" sz="2400" dirty="0">
              <a:latin typeface="Times New Roman" pitchFamily="18" charset="0"/>
              <a:cs typeface="Times New Roman" pitchFamily="18" charset="0"/>
            </a:endParaRPr>
          </a:p>
          <a:p>
            <a:pPr marL="0">
              <a:lnSpc>
                <a:spcPct val="100000"/>
              </a:lnSpc>
              <a:spcBef>
                <a:spcPts val="0"/>
              </a:spcBef>
              <a:defRPr/>
            </a:pPr>
            <a:r>
              <a:rPr lang="en-IN" sz="2400" dirty="0">
                <a:latin typeface="Times New Roman" pitchFamily="18" charset="0"/>
                <a:cs typeface="Times New Roman" pitchFamily="18" charset="0"/>
              </a:rPr>
              <a:t>Here the sum is calculated and the result is stored in location B replacing the original contents of this location. i.e. operand B acts as source as well as destination.</a:t>
            </a:r>
          </a:p>
          <a:p>
            <a:pPr marL="0">
              <a:lnSpc>
                <a:spcPct val="100000"/>
              </a:lnSpc>
              <a:spcBef>
                <a:spcPts val="0"/>
              </a:spcBef>
            </a:pPr>
            <a:r>
              <a:rPr lang="en-IN" altLang="en-US" sz="2400" dirty="0">
                <a:latin typeface="Times New Roman" panose="02020603050405020304" pitchFamily="18" charset="0"/>
                <a:cs typeface="Times New Roman" panose="02020603050405020304" pitchFamily="18" charset="0"/>
              </a:rPr>
              <a:t>In the former case (three address instruction) the contents of A and B were not destroyed.</a:t>
            </a:r>
          </a:p>
          <a:p>
            <a:pPr marL="0">
              <a:lnSpc>
                <a:spcPct val="100000"/>
              </a:lnSpc>
              <a:spcBef>
                <a:spcPts val="0"/>
              </a:spcBef>
            </a:pPr>
            <a:r>
              <a:rPr lang="en-IN" altLang="en-US" sz="2400" dirty="0">
                <a:latin typeface="Times New Roman" panose="02020603050405020304" pitchFamily="18" charset="0"/>
                <a:cs typeface="Times New Roman" panose="02020603050405020304" pitchFamily="18" charset="0"/>
              </a:rPr>
              <a:t>But here the contents of B are destroyed. This problem is solved by using another two-address instruction to copy the contents of one memory location into another location.</a:t>
            </a:r>
          </a:p>
          <a:p>
            <a:pPr marL="0">
              <a:lnSpc>
                <a:spcPct val="100000"/>
              </a:lnSpc>
              <a:spcBef>
                <a:spcPts val="0"/>
              </a:spcBef>
              <a:buFont typeface="Wingdings" panose="05000000000000000000" pitchFamily="2" charset="2"/>
              <a:buNone/>
            </a:pPr>
            <a:r>
              <a:rPr lang="en-IN" altLang="en-US" sz="2400" dirty="0">
                <a:latin typeface="Times New Roman" panose="02020603050405020304" pitchFamily="18" charset="0"/>
                <a:cs typeface="Times New Roman" panose="02020603050405020304" pitchFamily="18" charset="0"/>
              </a:rPr>
              <a:t>		 C </a:t>
            </a:r>
            <a:r>
              <a:rPr lang="en-IN" altLang="en-US" sz="2400" dirty="0">
                <a:latin typeface="Times New Roman" panose="02020603050405020304" pitchFamily="18" charset="0"/>
                <a:cs typeface="Times New Roman" panose="02020603050405020304" pitchFamily="18" charset="0"/>
                <a:sym typeface="Wingdings" panose="05000000000000000000" pitchFamily="2" charset="2"/>
              </a:rPr>
              <a:t></a:t>
            </a:r>
            <a:r>
              <a:rPr lang="en-IN" altLang="en-US" sz="2400" dirty="0">
                <a:latin typeface="Times New Roman" panose="02020603050405020304" pitchFamily="18" charset="0"/>
                <a:cs typeface="Times New Roman" panose="02020603050405020304" pitchFamily="18" charset="0"/>
              </a:rPr>
              <a:t>[A] + [B] is equivalent to</a:t>
            </a:r>
          </a:p>
          <a:p>
            <a:pPr marL="0">
              <a:lnSpc>
                <a:spcPct val="100000"/>
              </a:lnSpc>
              <a:spcBef>
                <a:spcPts val="0"/>
              </a:spcBef>
              <a:buFont typeface="Wingdings" panose="05000000000000000000" pitchFamily="2" charset="2"/>
              <a:buNone/>
            </a:pPr>
            <a:r>
              <a:rPr lang="en-IN" altLang="en-US" sz="2400" dirty="0">
                <a:latin typeface="Times New Roman" panose="02020603050405020304" pitchFamily="18" charset="0"/>
                <a:cs typeface="Times New Roman" panose="02020603050405020304" pitchFamily="18" charset="0"/>
              </a:rPr>
              <a:t>		Move B,C</a:t>
            </a:r>
          </a:p>
          <a:p>
            <a:pPr marL="0">
              <a:lnSpc>
                <a:spcPct val="100000"/>
              </a:lnSpc>
              <a:spcBef>
                <a:spcPts val="0"/>
              </a:spcBef>
              <a:buFont typeface="Wingdings" panose="05000000000000000000" pitchFamily="2" charset="2"/>
              <a:buNone/>
            </a:pPr>
            <a:r>
              <a:rPr lang="en-IN" altLang="en-US" sz="2400" dirty="0">
                <a:latin typeface="Times New Roman" panose="02020603050405020304" pitchFamily="18" charset="0"/>
                <a:cs typeface="Times New Roman" panose="02020603050405020304" pitchFamily="18" charset="0"/>
              </a:rPr>
              <a:t>		Add A,C</a:t>
            </a:r>
          </a:p>
        </p:txBody>
      </p:sp>
      <p:sp>
        <p:nvSpPr>
          <p:cNvPr id="82948" name="Slide Number Placeholder 3">
            <a:extLst>
              <a:ext uri="{FF2B5EF4-FFF2-40B4-BE49-F238E27FC236}">
                <a16:creationId xmlns:a16="http://schemas.microsoft.com/office/drawing/2014/main" id="{6CE45A13-143B-3D9C-D125-991D209B384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q"/>
              <a:defRPr sz="2000">
                <a:solidFill>
                  <a:schemeClr val="tx1"/>
                </a:solidFill>
                <a:latin typeface="Comic Sans MS" panose="030F0702030302020204" pitchFamily="66" charset="0"/>
              </a:defRPr>
            </a:lvl1pPr>
            <a:lvl2pPr marL="742950" indent="-285750">
              <a:spcBef>
                <a:spcPct val="20000"/>
              </a:spcBef>
              <a:buSzPct val="80000"/>
              <a:buFont typeface="Wingdings" panose="05000000000000000000" pitchFamily="2" charset="2"/>
              <a:buChar char="u"/>
              <a:defRPr sz="2000">
                <a:solidFill>
                  <a:schemeClr val="tx1"/>
                </a:solidFill>
                <a:latin typeface="Comic Sans MS" panose="030F0702030302020204" pitchFamily="66" charset="0"/>
              </a:defRPr>
            </a:lvl2pPr>
            <a:lvl3pPr marL="1143000" indent="-228600">
              <a:spcBef>
                <a:spcPct val="20000"/>
              </a:spcBef>
              <a:buSzPct val="140000"/>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0"/>
              </a:spcBef>
              <a:buSzTx/>
              <a:buFontTx/>
              <a:buNone/>
            </a:pPr>
            <a:fld id="{95F0D586-D2FA-455E-B954-28A66661278F}" type="slidenum">
              <a:rPr lang="en-US" altLang="en-US" sz="1400">
                <a:latin typeface="Times New Roman" panose="02020603050405020304" pitchFamily="18" charset="0"/>
              </a:rPr>
              <a:pPr>
                <a:spcBef>
                  <a:spcPct val="0"/>
                </a:spcBef>
                <a:buSzTx/>
                <a:buFontTx/>
                <a:buNone/>
              </a:pPr>
              <a:t>20</a:t>
            </a:fld>
            <a:endParaRPr lang="en-US" altLang="en-US" sz="1400">
              <a:latin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2181D3-4FB3-6424-97F5-A10015ADE4F3}"/>
              </a:ext>
            </a:extLst>
          </p:cNvPr>
          <p:cNvSpPr>
            <a:spLocks noGrp="1"/>
          </p:cNvSpPr>
          <p:nvPr>
            <p:ph idx="1"/>
          </p:nvPr>
        </p:nvSpPr>
        <p:spPr>
          <a:xfrm>
            <a:off x="311085" y="377072"/>
            <a:ext cx="11566688" cy="5799891"/>
          </a:xfrm>
        </p:spPr>
        <p:txBody>
          <a:bodyPr>
            <a:normAutofit fontScale="70000" lnSpcReduction="20000"/>
          </a:bodyPr>
          <a:lstStyle/>
          <a:p>
            <a:pPr>
              <a:lnSpc>
                <a:spcPct val="150000"/>
              </a:lnSpc>
              <a:buFont typeface="Wingdings" panose="05000000000000000000" pitchFamily="2" charset="2"/>
              <a:buNone/>
              <a:defRPr/>
            </a:pPr>
            <a:r>
              <a:rPr lang="en-IN" b="1" dirty="0">
                <a:solidFill>
                  <a:schemeClr val="accent2">
                    <a:lumMod val="75000"/>
                  </a:schemeClr>
                </a:solidFill>
                <a:latin typeface="Times New Roman" pitchFamily="18" charset="0"/>
                <a:cs typeface="Times New Roman" pitchFamily="18" charset="0"/>
              </a:rPr>
              <a:t>One-address instruction</a:t>
            </a:r>
          </a:p>
          <a:p>
            <a:pPr marL="182880">
              <a:lnSpc>
                <a:spcPct val="170000"/>
              </a:lnSpc>
              <a:spcBef>
                <a:spcPts val="0"/>
              </a:spcBef>
              <a:defRPr/>
            </a:pPr>
            <a:r>
              <a:rPr lang="en-IN" dirty="0">
                <a:latin typeface="Times New Roman" pitchFamily="18" charset="0"/>
                <a:cs typeface="Times New Roman" pitchFamily="18" charset="0"/>
              </a:rPr>
              <a:t>Instead of mentioning the second operand, it is understood to be in a unique location. </a:t>
            </a:r>
          </a:p>
          <a:p>
            <a:pPr marL="182880">
              <a:lnSpc>
                <a:spcPct val="170000"/>
              </a:lnSpc>
              <a:spcBef>
                <a:spcPts val="0"/>
              </a:spcBef>
              <a:defRPr/>
            </a:pPr>
            <a:r>
              <a:rPr lang="en-IN" dirty="0">
                <a:latin typeface="Times New Roman" pitchFamily="18" charset="0"/>
                <a:cs typeface="Times New Roman" pitchFamily="18" charset="0"/>
              </a:rPr>
              <a:t>A processor register usually called the </a:t>
            </a:r>
            <a:r>
              <a:rPr lang="en-IN" dirty="0">
                <a:solidFill>
                  <a:schemeClr val="accent2">
                    <a:lumMod val="75000"/>
                  </a:schemeClr>
                </a:solidFill>
                <a:latin typeface="Times New Roman" pitchFamily="18" charset="0"/>
                <a:cs typeface="Times New Roman" pitchFamily="18" charset="0"/>
              </a:rPr>
              <a:t>Accumulator </a:t>
            </a:r>
            <a:r>
              <a:rPr lang="en-IN" dirty="0">
                <a:latin typeface="Times New Roman" pitchFamily="18" charset="0"/>
                <a:cs typeface="Times New Roman" pitchFamily="18" charset="0"/>
              </a:rPr>
              <a:t>is used for this purpose.</a:t>
            </a:r>
          </a:p>
          <a:p>
            <a:pPr marL="182880">
              <a:lnSpc>
                <a:spcPct val="170000"/>
              </a:lnSpc>
              <a:spcBef>
                <a:spcPts val="0"/>
              </a:spcBef>
              <a:buFont typeface="Wingdings" panose="05000000000000000000" pitchFamily="2" charset="2"/>
              <a:buNone/>
              <a:defRPr/>
            </a:pPr>
            <a:r>
              <a:rPr lang="en-IN" dirty="0">
                <a:latin typeface="Times New Roman" pitchFamily="18" charset="0"/>
                <a:cs typeface="Times New Roman" pitchFamily="18" charset="0"/>
              </a:rPr>
              <a:t>	   E.g.  </a:t>
            </a:r>
            <a:r>
              <a:rPr lang="en-IN" dirty="0" err="1">
                <a:latin typeface="Times New Roman" pitchFamily="18" charset="0"/>
                <a:cs typeface="Times New Roman" pitchFamily="18" charset="0"/>
              </a:rPr>
              <a:t>i</a:t>
            </a:r>
            <a:r>
              <a:rPr lang="en-IN" dirty="0">
                <a:latin typeface="Times New Roman" pitchFamily="18" charset="0"/>
                <a:cs typeface="Times New Roman" pitchFamily="18" charset="0"/>
              </a:rPr>
              <a:t>) Add A means that the contents of the memory location A is added to the contents of accumulator and places the sum in the accumulator.</a:t>
            </a:r>
          </a:p>
          <a:p>
            <a:pPr marL="182880">
              <a:lnSpc>
                <a:spcPct val="170000"/>
              </a:lnSpc>
              <a:spcBef>
                <a:spcPts val="0"/>
              </a:spcBef>
              <a:buFont typeface="Wingdings" panose="05000000000000000000" pitchFamily="2" charset="2"/>
              <a:buNone/>
              <a:defRPr/>
            </a:pPr>
            <a:r>
              <a:rPr lang="en-IN" dirty="0">
                <a:latin typeface="Times New Roman" pitchFamily="18" charset="0"/>
                <a:cs typeface="Times New Roman" pitchFamily="18" charset="0"/>
              </a:rPr>
              <a:t>	           ii) Load A copies the contents of memory location A into accumulator</a:t>
            </a:r>
          </a:p>
          <a:p>
            <a:pPr marL="182880">
              <a:lnSpc>
                <a:spcPct val="170000"/>
              </a:lnSpc>
              <a:spcBef>
                <a:spcPts val="0"/>
              </a:spcBef>
              <a:buFont typeface="Wingdings" panose="05000000000000000000" pitchFamily="2" charset="2"/>
              <a:buNone/>
              <a:defRPr/>
            </a:pPr>
            <a:r>
              <a:rPr lang="en-IN" dirty="0">
                <a:latin typeface="Times New Roman" pitchFamily="18" charset="0"/>
                <a:cs typeface="Times New Roman" pitchFamily="18" charset="0"/>
              </a:rPr>
              <a:t>	           iii) Store A copies the contents of accumulator to the location A</a:t>
            </a:r>
          </a:p>
          <a:p>
            <a:pPr marL="182880">
              <a:lnSpc>
                <a:spcPct val="170000"/>
              </a:lnSpc>
              <a:spcBef>
                <a:spcPts val="0"/>
              </a:spcBef>
              <a:defRPr/>
            </a:pPr>
            <a:r>
              <a:rPr lang="en-IN" dirty="0">
                <a:latin typeface="Times New Roman" pitchFamily="18" charset="0"/>
                <a:cs typeface="Times New Roman" pitchFamily="18" charset="0"/>
              </a:rPr>
              <a:t>Depending on the instruction, the operand may be source or destination.</a:t>
            </a:r>
          </a:p>
          <a:p>
            <a:pPr marL="182880">
              <a:lnSpc>
                <a:spcPct val="170000"/>
              </a:lnSpc>
              <a:spcBef>
                <a:spcPts val="0"/>
              </a:spcBef>
              <a:defRPr/>
            </a:pPr>
            <a:r>
              <a:rPr lang="en-IN" dirty="0">
                <a:latin typeface="Times New Roman" pitchFamily="18" charset="0"/>
                <a:cs typeface="Times New Roman" pitchFamily="18" charset="0"/>
              </a:rPr>
              <a:t>Now the operation C </a:t>
            </a:r>
            <a:r>
              <a:rPr lang="en-IN" dirty="0">
                <a:latin typeface="+mj-lt"/>
                <a:cs typeface="Times New Roman" pitchFamily="18" charset="0"/>
                <a:sym typeface="Wingdings" pitchFamily="2" charset="2"/>
              </a:rPr>
              <a:t></a:t>
            </a:r>
            <a:r>
              <a:rPr lang="en-IN" dirty="0">
                <a:latin typeface="Times New Roman" pitchFamily="18" charset="0"/>
                <a:cs typeface="Times New Roman" pitchFamily="18" charset="0"/>
              </a:rPr>
              <a:t>[A] + [B] can be performed by executing the following instructions</a:t>
            </a:r>
          </a:p>
          <a:p>
            <a:pPr marL="182880">
              <a:lnSpc>
                <a:spcPct val="170000"/>
              </a:lnSpc>
              <a:spcBef>
                <a:spcPts val="0"/>
              </a:spcBef>
              <a:buFont typeface="Wingdings" panose="05000000000000000000" pitchFamily="2" charset="2"/>
              <a:buNone/>
              <a:defRPr/>
            </a:pPr>
            <a:r>
              <a:rPr lang="en-IN" dirty="0">
                <a:latin typeface="Times New Roman" pitchFamily="18" charset="0"/>
                <a:cs typeface="Times New Roman" pitchFamily="18" charset="0"/>
              </a:rPr>
              <a:t>		Load A</a:t>
            </a:r>
          </a:p>
          <a:p>
            <a:pPr marL="182880">
              <a:lnSpc>
                <a:spcPct val="170000"/>
              </a:lnSpc>
              <a:spcBef>
                <a:spcPts val="0"/>
              </a:spcBef>
              <a:buFont typeface="Wingdings" panose="05000000000000000000" pitchFamily="2" charset="2"/>
              <a:buNone/>
              <a:defRPr/>
            </a:pPr>
            <a:r>
              <a:rPr lang="en-IN" dirty="0">
                <a:latin typeface="Times New Roman" pitchFamily="18" charset="0"/>
                <a:cs typeface="Times New Roman" pitchFamily="18" charset="0"/>
              </a:rPr>
              <a:t>		Add B</a:t>
            </a:r>
          </a:p>
          <a:p>
            <a:pPr marL="182880">
              <a:lnSpc>
                <a:spcPct val="170000"/>
              </a:lnSpc>
              <a:spcBef>
                <a:spcPts val="0"/>
              </a:spcBef>
              <a:buFont typeface="Wingdings" panose="05000000000000000000" pitchFamily="2" charset="2"/>
              <a:buNone/>
              <a:defRPr/>
            </a:pPr>
            <a:r>
              <a:rPr lang="en-IN" dirty="0">
                <a:latin typeface="Times New Roman" pitchFamily="18" charset="0"/>
                <a:cs typeface="Times New Roman" pitchFamily="18" charset="0"/>
              </a:rPr>
              <a:t>		Store C</a:t>
            </a:r>
          </a:p>
          <a:p>
            <a:pPr>
              <a:defRPr/>
            </a:pPr>
            <a:endParaRPr lang="en-IN" dirty="0"/>
          </a:p>
          <a:p>
            <a:pPr>
              <a:lnSpc>
                <a:spcPct val="150000"/>
              </a:lnSpc>
              <a:buFont typeface="Wingdings" panose="05000000000000000000" pitchFamily="2" charset="2"/>
              <a:buNone/>
              <a:defRPr/>
            </a:pPr>
            <a:endParaRPr lang="en-IN" dirty="0">
              <a:latin typeface="Times New Roman" pitchFamily="18" charset="0"/>
              <a:cs typeface="Times New Roman" pitchFamily="18" charset="0"/>
            </a:endParaRPr>
          </a:p>
        </p:txBody>
      </p:sp>
      <p:sp>
        <p:nvSpPr>
          <p:cNvPr id="84996" name="Slide Number Placeholder 3">
            <a:extLst>
              <a:ext uri="{FF2B5EF4-FFF2-40B4-BE49-F238E27FC236}">
                <a16:creationId xmlns:a16="http://schemas.microsoft.com/office/drawing/2014/main" id="{3A72EA57-1B91-582D-436B-2AC73074CE2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q"/>
              <a:defRPr sz="2000">
                <a:solidFill>
                  <a:schemeClr val="tx1"/>
                </a:solidFill>
                <a:latin typeface="Comic Sans MS" panose="030F0702030302020204" pitchFamily="66" charset="0"/>
              </a:defRPr>
            </a:lvl1pPr>
            <a:lvl2pPr marL="742950" indent="-285750">
              <a:spcBef>
                <a:spcPct val="20000"/>
              </a:spcBef>
              <a:buSzPct val="80000"/>
              <a:buFont typeface="Wingdings" panose="05000000000000000000" pitchFamily="2" charset="2"/>
              <a:buChar char="u"/>
              <a:defRPr sz="2000">
                <a:solidFill>
                  <a:schemeClr val="tx1"/>
                </a:solidFill>
                <a:latin typeface="Comic Sans MS" panose="030F0702030302020204" pitchFamily="66" charset="0"/>
              </a:defRPr>
            </a:lvl2pPr>
            <a:lvl3pPr marL="1143000" indent="-228600">
              <a:spcBef>
                <a:spcPct val="20000"/>
              </a:spcBef>
              <a:buSzPct val="140000"/>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0"/>
              </a:spcBef>
              <a:buSzTx/>
              <a:buFontTx/>
              <a:buNone/>
            </a:pPr>
            <a:fld id="{A630E3D1-0939-4BA8-B2F2-7B9BB7548CC4}" type="slidenum">
              <a:rPr lang="en-US" altLang="en-US" sz="1400">
                <a:latin typeface="Times New Roman" panose="02020603050405020304" pitchFamily="18" charset="0"/>
              </a:rPr>
              <a:pPr>
                <a:spcBef>
                  <a:spcPct val="0"/>
                </a:spcBef>
                <a:buSzTx/>
                <a:buFontTx/>
                <a:buNone/>
              </a:pPr>
              <a:t>21</a:t>
            </a:fld>
            <a:endParaRPr lang="en-US" altLang="en-US" sz="1400">
              <a:latin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Content Placeholder 2">
            <a:extLst>
              <a:ext uri="{FF2B5EF4-FFF2-40B4-BE49-F238E27FC236}">
                <a16:creationId xmlns:a16="http://schemas.microsoft.com/office/drawing/2014/main" id="{26A0C2A3-F8B4-4FF3-C02A-3C48C440A442}"/>
              </a:ext>
            </a:extLst>
          </p:cNvPr>
          <p:cNvSpPr>
            <a:spLocks noGrp="1"/>
          </p:cNvSpPr>
          <p:nvPr>
            <p:ph idx="1"/>
          </p:nvPr>
        </p:nvSpPr>
        <p:spPr>
          <a:xfrm>
            <a:off x="-160257" y="320511"/>
            <a:ext cx="12217139" cy="6400964"/>
          </a:xfrm>
        </p:spPr>
        <p:txBody>
          <a:bodyPr>
            <a:normAutofit fontScale="70000" lnSpcReduction="20000"/>
          </a:bodyPr>
          <a:lstStyle/>
          <a:p>
            <a:pPr>
              <a:lnSpc>
                <a:spcPct val="150000"/>
              </a:lnSpc>
            </a:pPr>
            <a:r>
              <a:rPr lang="en-IN" altLang="en-US" dirty="0">
                <a:latin typeface="Times New Roman" panose="02020603050405020304" pitchFamily="18" charset="0"/>
                <a:cs typeface="Times New Roman" panose="02020603050405020304" pitchFamily="18" charset="0"/>
              </a:rPr>
              <a:t>When a processor has several general-purpose registers, then many instructions involve only operands that are in registers</a:t>
            </a:r>
          </a:p>
          <a:p>
            <a:pPr>
              <a:lnSpc>
                <a:spcPct val="150000"/>
              </a:lnSpc>
              <a:buFont typeface="Wingdings" panose="05000000000000000000" pitchFamily="2" charset="2"/>
              <a:buNone/>
            </a:pPr>
            <a:r>
              <a:rPr lang="en-IN" altLang="en-US" dirty="0"/>
              <a:t>	</a:t>
            </a:r>
            <a:r>
              <a:rPr lang="en-IN" altLang="en-US" dirty="0">
                <a:latin typeface="Times New Roman" panose="02020603050405020304" pitchFamily="18" charset="0"/>
                <a:cs typeface="Times New Roman" panose="02020603050405020304" pitchFamily="18" charset="0"/>
              </a:rPr>
              <a:t>E.g., Add R</a:t>
            </a:r>
            <a:r>
              <a:rPr lang="en-IN" altLang="en-US" i="1" dirty="0">
                <a:latin typeface="Times New Roman" panose="02020603050405020304" pitchFamily="18" charset="0"/>
                <a:cs typeface="Times New Roman" panose="02020603050405020304" pitchFamily="18" charset="0"/>
              </a:rPr>
              <a:t>i, </a:t>
            </a:r>
            <a:r>
              <a:rPr lang="en-IN" altLang="en-US" i="1" dirty="0" err="1">
                <a:latin typeface="Times New Roman" panose="02020603050405020304" pitchFamily="18" charset="0"/>
                <a:cs typeface="Times New Roman" panose="02020603050405020304" pitchFamily="18" charset="0"/>
              </a:rPr>
              <a:t>Rj</a:t>
            </a:r>
            <a:endParaRPr lang="en-IN" altLang="en-US" i="1" dirty="0">
              <a:latin typeface="Times New Roman" panose="02020603050405020304" pitchFamily="18" charset="0"/>
              <a:cs typeface="Times New Roman" panose="02020603050405020304" pitchFamily="18" charset="0"/>
            </a:endParaRPr>
          </a:p>
          <a:p>
            <a:pPr>
              <a:lnSpc>
                <a:spcPct val="150000"/>
              </a:lnSpc>
              <a:buFont typeface="Wingdings" panose="05000000000000000000" pitchFamily="2" charset="2"/>
              <a:buNone/>
            </a:pPr>
            <a:r>
              <a:rPr lang="en-IN" altLang="en-US" dirty="0">
                <a:latin typeface="Times New Roman" panose="02020603050405020304" pitchFamily="18" charset="0"/>
                <a:cs typeface="Times New Roman" panose="02020603050405020304" pitchFamily="18" charset="0"/>
              </a:rPr>
              <a:t>		Add R</a:t>
            </a:r>
            <a:r>
              <a:rPr lang="en-IN" altLang="en-US" i="1" dirty="0">
                <a:latin typeface="Times New Roman" panose="02020603050405020304" pitchFamily="18" charset="0"/>
                <a:cs typeface="Times New Roman" panose="02020603050405020304" pitchFamily="18" charset="0"/>
              </a:rPr>
              <a:t>i, </a:t>
            </a:r>
            <a:r>
              <a:rPr lang="en-IN" altLang="en-US" i="1" dirty="0" err="1">
                <a:latin typeface="Times New Roman" panose="02020603050405020304" pitchFamily="18" charset="0"/>
                <a:cs typeface="Times New Roman" panose="02020603050405020304" pitchFamily="18" charset="0"/>
              </a:rPr>
              <a:t>Rj</a:t>
            </a:r>
            <a:r>
              <a:rPr lang="en-IN" altLang="en-US" i="1" dirty="0">
                <a:latin typeface="Times New Roman" panose="02020603050405020304" pitchFamily="18" charset="0"/>
                <a:cs typeface="Times New Roman" panose="02020603050405020304" pitchFamily="18" charset="0"/>
              </a:rPr>
              <a:t>, </a:t>
            </a:r>
            <a:r>
              <a:rPr lang="en-IN" altLang="en-US" i="1" dirty="0" err="1">
                <a:latin typeface="Times New Roman" panose="02020603050405020304" pitchFamily="18" charset="0"/>
                <a:cs typeface="Times New Roman" panose="02020603050405020304" pitchFamily="18" charset="0"/>
              </a:rPr>
              <a:t>Rk</a:t>
            </a:r>
            <a:endParaRPr lang="en-IN" altLang="en-US" i="1" dirty="0">
              <a:latin typeface="Times New Roman" panose="02020603050405020304" pitchFamily="18" charset="0"/>
              <a:cs typeface="Times New Roman" panose="02020603050405020304" pitchFamily="18" charset="0"/>
            </a:endParaRPr>
          </a:p>
          <a:p>
            <a:pPr>
              <a:lnSpc>
                <a:spcPct val="150000"/>
              </a:lnSpc>
            </a:pPr>
            <a:r>
              <a:rPr lang="en-IN" altLang="en-US" dirty="0">
                <a:latin typeface="Times New Roman" panose="02020603050405020304" pitchFamily="18" charset="0"/>
                <a:cs typeface="Times New Roman" panose="02020603050405020304" pitchFamily="18" charset="0"/>
              </a:rPr>
              <a:t>In the first instruction, </a:t>
            </a:r>
            <a:r>
              <a:rPr lang="en-IN" altLang="en-US" dirty="0" err="1">
                <a:latin typeface="Times New Roman" panose="02020603050405020304" pitchFamily="18" charset="0"/>
                <a:cs typeface="Times New Roman" panose="02020603050405020304" pitchFamily="18" charset="0"/>
              </a:rPr>
              <a:t>R</a:t>
            </a:r>
            <a:r>
              <a:rPr lang="en-IN" altLang="en-US" i="1" dirty="0" err="1">
                <a:latin typeface="Times New Roman" panose="02020603050405020304" pitchFamily="18" charset="0"/>
                <a:cs typeface="Times New Roman" panose="02020603050405020304" pitchFamily="18" charset="0"/>
              </a:rPr>
              <a:t>j</a:t>
            </a:r>
            <a:r>
              <a:rPr lang="en-IN" altLang="en-US" i="1" dirty="0">
                <a:latin typeface="Times New Roman" panose="02020603050405020304" pitchFamily="18" charset="0"/>
                <a:cs typeface="Times New Roman" panose="02020603050405020304" pitchFamily="18" charset="0"/>
              </a:rPr>
              <a:t> acts as both source and destination. In the second instruction, </a:t>
            </a:r>
            <a:r>
              <a:rPr lang="en-IN" altLang="en-US" dirty="0">
                <a:latin typeface="Times New Roman" panose="02020603050405020304" pitchFamily="18" charset="0"/>
                <a:cs typeface="Times New Roman" panose="02020603050405020304" pitchFamily="18" charset="0"/>
              </a:rPr>
              <a:t>R</a:t>
            </a:r>
            <a:r>
              <a:rPr lang="en-IN" altLang="en-US" i="1" dirty="0">
                <a:latin typeface="Times New Roman" panose="02020603050405020304" pitchFamily="18" charset="0"/>
                <a:cs typeface="Times New Roman" panose="02020603050405020304" pitchFamily="18" charset="0"/>
              </a:rPr>
              <a:t>i </a:t>
            </a:r>
            <a:r>
              <a:rPr lang="en-IN" altLang="en-US" dirty="0">
                <a:latin typeface="Times New Roman" panose="02020603050405020304" pitchFamily="18" charset="0"/>
                <a:cs typeface="Times New Roman" panose="02020603050405020304" pitchFamily="18" charset="0"/>
              </a:rPr>
              <a:t>And </a:t>
            </a:r>
            <a:r>
              <a:rPr lang="en-IN" altLang="en-US" dirty="0" err="1">
                <a:latin typeface="Times New Roman" panose="02020603050405020304" pitchFamily="18" charset="0"/>
                <a:cs typeface="Times New Roman" panose="02020603050405020304" pitchFamily="18" charset="0"/>
              </a:rPr>
              <a:t>R</a:t>
            </a:r>
            <a:r>
              <a:rPr lang="en-IN" altLang="en-US" i="1" dirty="0" err="1">
                <a:latin typeface="Times New Roman" panose="02020603050405020304" pitchFamily="18" charset="0"/>
                <a:cs typeface="Times New Roman" panose="02020603050405020304" pitchFamily="18" charset="0"/>
              </a:rPr>
              <a:t>j</a:t>
            </a:r>
            <a:r>
              <a:rPr lang="en-IN" altLang="en-US" i="1" dirty="0">
                <a:latin typeface="Times New Roman" panose="02020603050405020304" pitchFamily="18" charset="0"/>
                <a:cs typeface="Times New Roman" panose="02020603050405020304" pitchFamily="18" charset="0"/>
              </a:rPr>
              <a:t> are source and </a:t>
            </a:r>
            <a:r>
              <a:rPr lang="en-IN" altLang="en-US" i="1" dirty="0" err="1">
                <a:latin typeface="Times New Roman" panose="02020603050405020304" pitchFamily="18" charset="0"/>
                <a:cs typeface="Times New Roman" panose="02020603050405020304" pitchFamily="18" charset="0"/>
              </a:rPr>
              <a:t>Rk</a:t>
            </a:r>
            <a:r>
              <a:rPr lang="en-IN" altLang="en-US" i="1" dirty="0">
                <a:latin typeface="Times New Roman" panose="02020603050405020304" pitchFamily="18" charset="0"/>
                <a:cs typeface="Times New Roman" panose="02020603050405020304" pitchFamily="18" charset="0"/>
              </a:rPr>
              <a:t> is the destination</a:t>
            </a:r>
          </a:p>
          <a:p>
            <a:pPr marL="114300" indent="0">
              <a:lnSpc>
                <a:spcPct val="150000"/>
              </a:lnSpc>
              <a:buNone/>
              <a:defRPr/>
            </a:pPr>
            <a:r>
              <a:rPr lang="en-IN" b="1" dirty="0">
                <a:solidFill>
                  <a:schemeClr val="accent2">
                    <a:lumMod val="75000"/>
                  </a:schemeClr>
                </a:solidFill>
                <a:latin typeface="Times New Roman" pitchFamily="18" charset="0"/>
                <a:cs typeface="Times New Roman" pitchFamily="18" charset="0"/>
              </a:rPr>
              <a:t>Advantages </a:t>
            </a:r>
            <a:r>
              <a:rPr lang="en-IN" b="1" dirty="0">
                <a:latin typeface="Times New Roman" pitchFamily="18" charset="0"/>
                <a:cs typeface="Times New Roman" pitchFamily="18" charset="0"/>
              </a:rPr>
              <a:t>of using CPU registers:</a:t>
            </a:r>
          </a:p>
          <a:p>
            <a:pPr>
              <a:lnSpc>
                <a:spcPct val="150000"/>
              </a:lnSpc>
              <a:buFont typeface="Wingdings" panose="05000000000000000000" pitchFamily="2" charset="2"/>
              <a:buNone/>
              <a:defRPr/>
            </a:pPr>
            <a:r>
              <a:rPr lang="en-IN" dirty="0">
                <a:latin typeface="Times New Roman" pitchFamily="18" charset="0"/>
                <a:cs typeface="Times New Roman" pitchFamily="18" charset="0"/>
              </a:rPr>
              <a:t>	</a:t>
            </a:r>
            <a:r>
              <a:rPr lang="en-IN" dirty="0" err="1">
                <a:latin typeface="Times New Roman" pitchFamily="18" charset="0"/>
                <a:cs typeface="Times New Roman" pitchFamily="18" charset="0"/>
              </a:rPr>
              <a:t>i</a:t>
            </a:r>
            <a:r>
              <a:rPr lang="en-IN" dirty="0">
                <a:latin typeface="Times New Roman" pitchFamily="18" charset="0"/>
                <a:cs typeface="Times New Roman" pitchFamily="18" charset="0"/>
              </a:rPr>
              <a:t>) Data access from these registers is faster than that of main memory locations; because these registers are inside the processor.</a:t>
            </a:r>
          </a:p>
          <a:p>
            <a:pPr>
              <a:lnSpc>
                <a:spcPct val="150000"/>
              </a:lnSpc>
              <a:buFont typeface="Wingdings" panose="05000000000000000000" pitchFamily="2" charset="2"/>
              <a:buNone/>
              <a:defRPr/>
            </a:pPr>
            <a:r>
              <a:rPr lang="en-IN" dirty="0">
                <a:latin typeface="Times New Roman" pitchFamily="18" charset="0"/>
                <a:cs typeface="Times New Roman" pitchFamily="18" charset="0"/>
              </a:rPr>
              <a:t>	ii) Only few bits are needed to specify the register; because the number of registers is very less.</a:t>
            </a:r>
          </a:p>
          <a:p>
            <a:pPr marL="114300" indent="0">
              <a:lnSpc>
                <a:spcPct val="150000"/>
              </a:lnSpc>
              <a:buNone/>
              <a:defRPr/>
            </a:pPr>
            <a:r>
              <a:rPr lang="en-IN" dirty="0">
                <a:latin typeface="Times New Roman" pitchFamily="18" charset="0"/>
                <a:cs typeface="Times New Roman" pitchFamily="18" charset="0"/>
              </a:rPr>
              <a:t>                  For example, only 5 bits are needed to specify 32 registers</a:t>
            </a:r>
            <a:r>
              <a:rPr lang="en-IN" dirty="0"/>
              <a:t>.</a:t>
            </a:r>
          </a:p>
          <a:p>
            <a:pPr>
              <a:lnSpc>
                <a:spcPct val="150000"/>
              </a:lnSpc>
              <a:buFont typeface="Wingdings" panose="05000000000000000000" pitchFamily="2" charset="2"/>
              <a:buNone/>
              <a:defRPr/>
            </a:pPr>
            <a:r>
              <a:rPr lang="en-IN" dirty="0"/>
              <a:t>	</a:t>
            </a:r>
            <a:r>
              <a:rPr lang="en-IN" dirty="0">
                <a:latin typeface="Times New Roman" pitchFamily="18" charset="0"/>
                <a:cs typeface="Times New Roman" pitchFamily="18" charset="0"/>
              </a:rPr>
              <a:t>iii) Instructions, where only register names are contained, will normally fit into one word of memory</a:t>
            </a:r>
          </a:p>
          <a:p>
            <a:pPr>
              <a:lnSpc>
                <a:spcPct val="150000"/>
              </a:lnSpc>
            </a:pPr>
            <a:endParaRPr lang="en-IN" altLang="en-US" dirty="0">
              <a:latin typeface="Times New Roman" panose="02020603050405020304" pitchFamily="18" charset="0"/>
              <a:cs typeface="Times New Roman" panose="02020603050405020304" pitchFamily="18" charset="0"/>
            </a:endParaRPr>
          </a:p>
          <a:p>
            <a:endParaRPr lang="en-IN" altLang="en-US" dirty="0"/>
          </a:p>
        </p:txBody>
      </p:sp>
      <p:sp>
        <p:nvSpPr>
          <p:cNvPr id="88068" name="Slide Number Placeholder 3">
            <a:extLst>
              <a:ext uri="{FF2B5EF4-FFF2-40B4-BE49-F238E27FC236}">
                <a16:creationId xmlns:a16="http://schemas.microsoft.com/office/drawing/2014/main" id="{212EBF79-8637-67A2-72F8-78B5D2F1078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q"/>
              <a:defRPr sz="2000">
                <a:solidFill>
                  <a:schemeClr val="tx1"/>
                </a:solidFill>
                <a:latin typeface="Comic Sans MS" panose="030F0702030302020204" pitchFamily="66" charset="0"/>
              </a:defRPr>
            </a:lvl1pPr>
            <a:lvl2pPr marL="742950" indent="-285750">
              <a:spcBef>
                <a:spcPct val="20000"/>
              </a:spcBef>
              <a:buSzPct val="80000"/>
              <a:buFont typeface="Wingdings" panose="05000000000000000000" pitchFamily="2" charset="2"/>
              <a:buChar char="u"/>
              <a:defRPr sz="2000">
                <a:solidFill>
                  <a:schemeClr val="tx1"/>
                </a:solidFill>
                <a:latin typeface="Comic Sans MS" panose="030F0702030302020204" pitchFamily="66" charset="0"/>
              </a:defRPr>
            </a:lvl2pPr>
            <a:lvl3pPr marL="1143000" indent="-228600">
              <a:spcBef>
                <a:spcPct val="20000"/>
              </a:spcBef>
              <a:buSzPct val="140000"/>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0"/>
              </a:spcBef>
              <a:buSzTx/>
              <a:buFontTx/>
              <a:buNone/>
            </a:pPr>
            <a:fld id="{7D8B8106-463B-4BFD-B4EB-31E2EF3DEF56}" type="slidenum">
              <a:rPr lang="en-US" altLang="en-US" sz="1400">
                <a:latin typeface="Times New Roman" panose="02020603050405020304" pitchFamily="18" charset="0"/>
              </a:rPr>
              <a:pPr>
                <a:spcBef>
                  <a:spcPct val="0"/>
                </a:spcBef>
                <a:buSzTx/>
                <a:buFontTx/>
                <a:buNone/>
              </a:pPr>
              <a:t>22</a:t>
            </a:fld>
            <a:endParaRPr lang="en-US" altLang="en-US" sz="1400">
              <a:latin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A79D88-C617-8A62-B8A7-CA9A1BB019A5}"/>
              </a:ext>
            </a:extLst>
          </p:cNvPr>
          <p:cNvSpPr>
            <a:spLocks noGrp="1"/>
          </p:cNvSpPr>
          <p:nvPr>
            <p:ph idx="1"/>
          </p:nvPr>
        </p:nvSpPr>
        <p:spPr>
          <a:xfrm>
            <a:off x="273377" y="414779"/>
            <a:ext cx="11080423" cy="5762184"/>
          </a:xfrm>
        </p:spPr>
        <p:txBody>
          <a:bodyPr>
            <a:normAutofit fontScale="85000" lnSpcReduction="20000"/>
          </a:bodyPr>
          <a:lstStyle/>
          <a:p>
            <a:pPr>
              <a:lnSpc>
                <a:spcPct val="150000"/>
              </a:lnSpc>
              <a:buFont typeface="Wingdings" panose="05000000000000000000" pitchFamily="2" charset="2"/>
              <a:buNone/>
              <a:defRPr/>
            </a:pPr>
            <a:r>
              <a:rPr lang="en-IN" b="1" dirty="0">
                <a:solidFill>
                  <a:schemeClr val="accent2">
                    <a:lumMod val="75000"/>
                  </a:schemeClr>
                </a:solidFill>
                <a:latin typeface="Times New Roman" pitchFamily="18" charset="0"/>
                <a:cs typeface="Times New Roman" pitchFamily="18" charset="0"/>
              </a:rPr>
              <a:t>Zero-address instruction</a:t>
            </a:r>
          </a:p>
          <a:p>
            <a:pPr>
              <a:lnSpc>
                <a:spcPct val="150000"/>
              </a:lnSpc>
              <a:defRPr/>
            </a:pPr>
            <a:r>
              <a:rPr lang="en-IN" dirty="0">
                <a:latin typeface="Times New Roman" pitchFamily="18" charset="0"/>
                <a:cs typeface="Times New Roman" pitchFamily="18" charset="0"/>
              </a:rPr>
              <a:t>Here locations of all operands are defined implicitly. Such instructions are found in machines that store operands in a structure called a </a:t>
            </a:r>
            <a:r>
              <a:rPr lang="en-IN" i="1" dirty="0">
                <a:latin typeface="Times New Roman" pitchFamily="18" charset="0"/>
                <a:cs typeface="Times New Roman" pitchFamily="18" charset="0"/>
              </a:rPr>
              <a:t>pushdown stack. </a:t>
            </a:r>
          </a:p>
          <a:p>
            <a:pPr>
              <a:lnSpc>
                <a:spcPct val="150000"/>
              </a:lnSpc>
              <a:defRPr/>
            </a:pPr>
            <a:r>
              <a:rPr lang="en-IN" i="1" dirty="0">
                <a:latin typeface="Times New Roman" pitchFamily="18" charset="0"/>
                <a:cs typeface="Times New Roman" pitchFamily="18" charset="0"/>
              </a:rPr>
              <a:t>A stack is a list of </a:t>
            </a:r>
            <a:r>
              <a:rPr lang="en-IN" dirty="0">
                <a:latin typeface="Times New Roman" pitchFamily="18" charset="0"/>
                <a:cs typeface="Times New Roman" pitchFamily="18" charset="0"/>
              </a:rPr>
              <a:t>data elements, usually words or bytes, in which these elements can be added or removed through the top of the stack by following the LIFO (last-in-first-out) storage mechanism.</a:t>
            </a:r>
          </a:p>
          <a:p>
            <a:pPr>
              <a:lnSpc>
                <a:spcPct val="150000"/>
              </a:lnSpc>
              <a:defRPr/>
            </a:pPr>
            <a:r>
              <a:rPr lang="en-IN" dirty="0">
                <a:latin typeface="Times New Roman" pitchFamily="18" charset="0"/>
                <a:cs typeface="Times New Roman" pitchFamily="18" charset="0"/>
              </a:rPr>
              <a:t>A processor register called </a:t>
            </a:r>
            <a:r>
              <a:rPr lang="en-IN" b="1" dirty="0">
                <a:solidFill>
                  <a:schemeClr val="accent2">
                    <a:lumMod val="75000"/>
                  </a:schemeClr>
                </a:solidFill>
                <a:latin typeface="Times New Roman" pitchFamily="18" charset="0"/>
                <a:cs typeface="Times New Roman" pitchFamily="18" charset="0"/>
              </a:rPr>
              <a:t>stack pointer</a:t>
            </a:r>
            <a:r>
              <a:rPr lang="en-IN" b="1" dirty="0">
                <a:latin typeface="Times New Roman" pitchFamily="18" charset="0"/>
                <a:cs typeface="Times New Roman" pitchFamily="18" charset="0"/>
              </a:rPr>
              <a:t>. </a:t>
            </a:r>
            <a:r>
              <a:rPr lang="en-IN" b="1" dirty="0">
                <a:solidFill>
                  <a:schemeClr val="accent2">
                    <a:lumMod val="75000"/>
                  </a:schemeClr>
                </a:solidFill>
                <a:latin typeface="Times New Roman" pitchFamily="18" charset="0"/>
                <a:cs typeface="Times New Roman" pitchFamily="18" charset="0"/>
              </a:rPr>
              <a:t>(SP) is used to keep track of the address of the</a:t>
            </a:r>
            <a:r>
              <a:rPr lang="en-IN" b="1" dirty="0">
                <a:latin typeface="Times New Roman" pitchFamily="18" charset="0"/>
                <a:cs typeface="Times New Roman" pitchFamily="18" charset="0"/>
              </a:rPr>
              <a:t> </a:t>
            </a:r>
            <a:r>
              <a:rPr lang="en-IN" dirty="0">
                <a:latin typeface="Times New Roman" pitchFamily="18" charset="0"/>
                <a:cs typeface="Times New Roman" pitchFamily="18" charset="0"/>
              </a:rPr>
              <a:t>element at the top of the stack at any given time. </a:t>
            </a:r>
          </a:p>
          <a:p>
            <a:pPr>
              <a:lnSpc>
                <a:spcPct val="150000"/>
              </a:lnSpc>
              <a:defRPr/>
            </a:pPr>
            <a:r>
              <a:rPr lang="en-IN" dirty="0">
                <a:latin typeface="Times New Roman" pitchFamily="18" charset="0"/>
                <a:cs typeface="Times New Roman" pitchFamily="18" charset="0"/>
              </a:rPr>
              <a:t>The terms </a:t>
            </a:r>
            <a:r>
              <a:rPr lang="en-IN" b="1" dirty="0">
                <a:solidFill>
                  <a:schemeClr val="accent2">
                    <a:lumMod val="75000"/>
                  </a:schemeClr>
                </a:solidFill>
                <a:latin typeface="Times New Roman" pitchFamily="18" charset="0"/>
                <a:cs typeface="Times New Roman" pitchFamily="18" charset="0"/>
              </a:rPr>
              <a:t>push and pop are used to </a:t>
            </a:r>
            <a:r>
              <a:rPr lang="en-IN" dirty="0">
                <a:latin typeface="Times New Roman" pitchFamily="18" charset="0"/>
                <a:cs typeface="Times New Roman" pitchFamily="18" charset="0"/>
              </a:rPr>
              <a:t>describe placing a new item on the stack and removing the top item from the stack respectively.</a:t>
            </a:r>
          </a:p>
        </p:txBody>
      </p:sp>
      <p:sp>
        <p:nvSpPr>
          <p:cNvPr id="90116" name="Slide Number Placeholder 3">
            <a:extLst>
              <a:ext uri="{FF2B5EF4-FFF2-40B4-BE49-F238E27FC236}">
                <a16:creationId xmlns:a16="http://schemas.microsoft.com/office/drawing/2014/main" id="{CB601352-2E86-B849-EE9A-13070B1D6B2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q"/>
              <a:defRPr sz="2000">
                <a:solidFill>
                  <a:schemeClr val="tx1"/>
                </a:solidFill>
                <a:latin typeface="Comic Sans MS" panose="030F0702030302020204" pitchFamily="66" charset="0"/>
              </a:defRPr>
            </a:lvl1pPr>
            <a:lvl2pPr marL="742950" indent="-285750">
              <a:spcBef>
                <a:spcPct val="20000"/>
              </a:spcBef>
              <a:buSzPct val="80000"/>
              <a:buFont typeface="Wingdings" panose="05000000000000000000" pitchFamily="2" charset="2"/>
              <a:buChar char="u"/>
              <a:defRPr sz="2000">
                <a:solidFill>
                  <a:schemeClr val="tx1"/>
                </a:solidFill>
                <a:latin typeface="Comic Sans MS" panose="030F0702030302020204" pitchFamily="66" charset="0"/>
              </a:defRPr>
            </a:lvl2pPr>
            <a:lvl3pPr marL="1143000" indent="-228600">
              <a:spcBef>
                <a:spcPct val="20000"/>
              </a:spcBef>
              <a:buSzPct val="140000"/>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0"/>
              </a:spcBef>
              <a:buSzTx/>
              <a:buFontTx/>
              <a:buNone/>
            </a:pPr>
            <a:fld id="{86AA5C51-9A4F-43D8-AE56-62AB54C81FEC}" type="slidenum">
              <a:rPr lang="en-US" altLang="en-US" sz="1400">
                <a:latin typeface="Times New Roman" panose="02020603050405020304" pitchFamily="18" charset="0"/>
              </a:rPr>
              <a:pPr>
                <a:spcBef>
                  <a:spcPct val="0"/>
                </a:spcBef>
                <a:buSzTx/>
                <a:buFontTx/>
                <a:buNone/>
              </a:pPr>
              <a:t>23</a:t>
            </a:fld>
            <a:endParaRPr lang="en-US" altLang="en-US" sz="1400">
              <a:latin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6EED0B-DAE3-0B32-E271-C500D046499C}"/>
              </a:ext>
            </a:extLst>
          </p:cNvPr>
          <p:cNvSpPr>
            <a:spLocks noGrp="1"/>
          </p:cNvSpPr>
          <p:nvPr>
            <p:ph idx="1"/>
          </p:nvPr>
        </p:nvSpPr>
        <p:spPr>
          <a:xfrm>
            <a:off x="339365" y="584462"/>
            <a:ext cx="11014435" cy="5592501"/>
          </a:xfrm>
        </p:spPr>
        <p:txBody>
          <a:bodyPr>
            <a:normAutofit/>
          </a:bodyPr>
          <a:lstStyle/>
          <a:p>
            <a:pPr>
              <a:lnSpc>
                <a:spcPct val="150000"/>
              </a:lnSpc>
              <a:buFont typeface="Wingdings" panose="05000000000000000000" pitchFamily="2" charset="2"/>
              <a:buNone/>
              <a:defRPr/>
            </a:pPr>
            <a:r>
              <a:rPr lang="en-IN" b="1" dirty="0">
                <a:solidFill>
                  <a:schemeClr val="accent2">
                    <a:lumMod val="75000"/>
                  </a:schemeClr>
                </a:solidFill>
                <a:latin typeface="Times New Roman" pitchFamily="18" charset="0"/>
                <a:cs typeface="Times New Roman" pitchFamily="18" charset="0"/>
              </a:rPr>
              <a:t>One and half-address instruction</a:t>
            </a:r>
          </a:p>
          <a:p>
            <a:pPr>
              <a:lnSpc>
                <a:spcPct val="150000"/>
              </a:lnSpc>
              <a:defRPr/>
            </a:pPr>
            <a:r>
              <a:rPr lang="en-IN" dirty="0">
                <a:latin typeface="Times New Roman" pitchFamily="18" charset="0"/>
                <a:cs typeface="Times New Roman" pitchFamily="18" charset="0"/>
              </a:rPr>
              <a:t>An instruction that specifies one operand in memory and one operand in a CPU register is referred to as one-and-half address instruction. </a:t>
            </a:r>
          </a:p>
          <a:p>
            <a:pPr>
              <a:lnSpc>
                <a:spcPct val="150000"/>
              </a:lnSpc>
              <a:defRPr/>
            </a:pPr>
            <a:r>
              <a:rPr lang="en-IN" dirty="0">
                <a:latin typeface="Times New Roman" pitchFamily="18" charset="0"/>
                <a:cs typeface="Times New Roman" pitchFamily="18" charset="0"/>
              </a:rPr>
              <a:t>Using registers it is possible to increase the speed of processing</a:t>
            </a:r>
          </a:p>
        </p:txBody>
      </p:sp>
      <p:sp>
        <p:nvSpPr>
          <p:cNvPr id="91140" name="Slide Number Placeholder 3">
            <a:extLst>
              <a:ext uri="{FF2B5EF4-FFF2-40B4-BE49-F238E27FC236}">
                <a16:creationId xmlns:a16="http://schemas.microsoft.com/office/drawing/2014/main" id="{9BA02144-B929-B436-0ECF-7E21C43365C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q"/>
              <a:defRPr sz="2000">
                <a:solidFill>
                  <a:schemeClr val="tx1"/>
                </a:solidFill>
                <a:latin typeface="Comic Sans MS" panose="030F0702030302020204" pitchFamily="66" charset="0"/>
              </a:defRPr>
            </a:lvl1pPr>
            <a:lvl2pPr marL="742950" indent="-285750">
              <a:spcBef>
                <a:spcPct val="20000"/>
              </a:spcBef>
              <a:buSzPct val="80000"/>
              <a:buFont typeface="Wingdings" panose="05000000000000000000" pitchFamily="2" charset="2"/>
              <a:buChar char="u"/>
              <a:defRPr sz="2000">
                <a:solidFill>
                  <a:schemeClr val="tx1"/>
                </a:solidFill>
                <a:latin typeface="Comic Sans MS" panose="030F0702030302020204" pitchFamily="66" charset="0"/>
              </a:defRPr>
            </a:lvl2pPr>
            <a:lvl3pPr marL="1143000" indent="-228600">
              <a:spcBef>
                <a:spcPct val="20000"/>
              </a:spcBef>
              <a:buSzPct val="140000"/>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0"/>
              </a:spcBef>
              <a:buSzTx/>
              <a:buFontTx/>
              <a:buNone/>
            </a:pPr>
            <a:fld id="{E933F377-364F-466B-8F72-C2DC7497CAD4}" type="slidenum">
              <a:rPr lang="en-US" altLang="en-US" sz="1400">
                <a:latin typeface="Times New Roman" panose="02020603050405020304" pitchFamily="18" charset="0"/>
              </a:rPr>
              <a:pPr>
                <a:spcBef>
                  <a:spcPct val="0"/>
                </a:spcBef>
                <a:buSzTx/>
                <a:buFontTx/>
                <a:buNone/>
              </a:pPr>
              <a:t>24</a:t>
            </a:fld>
            <a:endParaRPr lang="en-US" altLang="en-US" sz="1400">
              <a:latin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15"/>
          <p:cNvSpPr txBox="1">
            <a:spLocks noGrp="1"/>
          </p:cNvSpPr>
          <p:nvPr>
            <p:ph type="body" idx="1"/>
          </p:nvPr>
        </p:nvSpPr>
        <p:spPr>
          <a:xfrm>
            <a:off x="301658" y="737118"/>
            <a:ext cx="7368105" cy="5663682"/>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rgbClr val="000000"/>
              </a:buClr>
              <a:buSzPts val="1800"/>
              <a:buNone/>
            </a:pPr>
            <a:r>
              <a:rPr lang="en-US" sz="2400" b="1" i="1" u="none" strike="noStrike" dirty="0">
                <a:solidFill>
                  <a:srgbClr val="000000"/>
                </a:solidFill>
                <a:latin typeface="Times New Roman"/>
                <a:ea typeface="Times New Roman"/>
                <a:cs typeface="Times New Roman"/>
                <a:sym typeface="Times New Roman"/>
              </a:rPr>
              <a:t>Instruction Execution and Straight-Line Sequencing </a:t>
            </a:r>
            <a:endParaRPr sz="2400" dirty="0"/>
          </a:p>
          <a:p>
            <a:pPr marL="342900" lvl="0" indent="-342900" algn="just" rtl="0">
              <a:lnSpc>
                <a:spcPct val="90000"/>
              </a:lnSpc>
              <a:spcBef>
                <a:spcPts val="1000"/>
              </a:spcBef>
              <a:spcAft>
                <a:spcPts val="0"/>
              </a:spcAft>
              <a:buClr>
                <a:srgbClr val="000000"/>
              </a:buClr>
              <a:buSzPts val="1800"/>
              <a:buFont typeface="Arial" panose="020B0604020202020204" pitchFamily="34" charset="0"/>
              <a:buChar char="•"/>
            </a:pPr>
            <a:r>
              <a:rPr lang="en-US" sz="2400" b="0" i="0" u="none" strike="noStrike" dirty="0">
                <a:solidFill>
                  <a:srgbClr val="000000"/>
                </a:solidFill>
                <a:latin typeface="Times New Roman"/>
                <a:ea typeface="Times New Roman"/>
                <a:cs typeface="Times New Roman"/>
                <a:sym typeface="Times New Roman"/>
              </a:rPr>
              <a:t>Let’s consider task C = A + B, </a:t>
            </a:r>
            <a:r>
              <a:rPr lang="en-US" sz="2400" dirty="0">
                <a:solidFill>
                  <a:srgbClr val="000000"/>
                </a:solidFill>
                <a:latin typeface="Times New Roman"/>
                <a:ea typeface="Times New Roman"/>
                <a:cs typeface="Times New Roman"/>
                <a:sym typeface="Times New Roman"/>
              </a:rPr>
              <a:t> </a:t>
            </a:r>
            <a:r>
              <a:rPr lang="en-US" sz="2400" b="0" i="0" u="none" strike="noStrike" dirty="0">
                <a:solidFill>
                  <a:srgbClr val="000000"/>
                </a:solidFill>
                <a:latin typeface="Times New Roman"/>
                <a:ea typeface="Times New Roman"/>
                <a:cs typeface="Times New Roman"/>
                <a:sym typeface="Times New Roman"/>
              </a:rPr>
              <a:t>implemented as </a:t>
            </a:r>
          </a:p>
          <a:p>
            <a:pPr marL="0" lvl="0" indent="0" algn="just" rtl="0">
              <a:lnSpc>
                <a:spcPct val="90000"/>
              </a:lnSpc>
              <a:spcBef>
                <a:spcPts val="1000"/>
              </a:spcBef>
              <a:spcAft>
                <a:spcPts val="0"/>
              </a:spcAft>
              <a:buClr>
                <a:srgbClr val="000000"/>
              </a:buClr>
              <a:buSzPts val="1800"/>
            </a:pPr>
            <a:r>
              <a:rPr lang="en-US" sz="2400" dirty="0">
                <a:solidFill>
                  <a:srgbClr val="000000"/>
                </a:solidFill>
                <a:latin typeface="Times New Roman"/>
                <a:ea typeface="Times New Roman"/>
                <a:cs typeface="Times New Roman"/>
                <a:sym typeface="Times New Roman"/>
              </a:rPr>
              <a:t>	</a:t>
            </a:r>
            <a:r>
              <a:rPr lang="en-US" sz="2400" b="0" i="0" u="none" strike="noStrike" dirty="0">
                <a:solidFill>
                  <a:srgbClr val="000000"/>
                </a:solidFill>
                <a:latin typeface="Times New Roman"/>
                <a:ea typeface="Times New Roman"/>
                <a:cs typeface="Times New Roman"/>
                <a:sym typeface="Times New Roman"/>
              </a:rPr>
              <a:t>C←[A] + [B]. </a:t>
            </a:r>
            <a:endParaRPr sz="2400" dirty="0"/>
          </a:p>
          <a:p>
            <a:pPr marL="342900" lvl="0" indent="-342900" algn="just" rtl="0">
              <a:lnSpc>
                <a:spcPct val="90000"/>
              </a:lnSpc>
              <a:spcBef>
                <a:spcPts val="1000"/>
              </a:spcBef>
              <a:spcAft>
                <a:spcPts val="0"/>
              </a:spcAft>
              <a:buClr>
                <a:srgbClr val="000000"/>
              </a:buClr>
              <a:buSzPts val="1800"/>
              <a:buFont typeface="Arial" panose="020B0604020202020204" pitchFamily="34" charset="0"/>
              <a:buChar char="•"/>
            </a:pPr>
            <a:r>
              <a:rPr lang="en-US" sz="2400" b="0" i="0" u="none" strike="noStrike" dirty="0">
                <a:solidFill>
                  <a:srgbClr val="000000"/>
                </a:solidFill>
                <a:latin typeface="Times New Roman"/>
                <a:ea typeface="Times New Roman"/>
                <a:cs typeface="Times New Roman"/>
                <a:sym typeface="Times New Roman"/>
              </a:rPr>
              <a:t>Figure  shows a possible program segment for this task as it appears in the memory of a computer. </a:t>
            </a:r>
            <a:endParaRPr sz="2400" dirty="0"/>
          </a:p>
          <a:p>
            <a:pPr marL="342900" lvl="0" indent="-342900" algn="just" rtl="0">
              <a:lnSpc>
                <a:spcPct val="90000"/>
              </a:lnSpc>
              <a:spcBef>
                <a:spcPts val="1000"/>
              </a:spcBef>
              <a:spcAft>
                <a:spcPts val="0"/>
              </a:spcAft>
              <a:buClr>
                <a:srgbClr val="000000"/>
              </a:buClr>
              <a:buSzPts val="1800"/>
              <a:buFont typeface="Arial" panose="020B0604020202020204" pitchFamily="34" charset="0"/>
              <a:buChar char="•"/>
            </a:pPr>
            <a:r>
              <a:rPr lang="en-US" sz="2400" b="0" i="0" u="none" strike="noStrike" dirty="0">
                <a:solidFill>
                  <a:srgbClr val="000000"/>
                </a:solidFill>
                <a:latin typeface="Times New Roman"/>
                <a:ea typeface="Times New Roman"/>
                <a:cs typeface="Times New Roman"/>
                <a:sym typeface="Times New Roman"/>
              </a:rPr>
              <a:t>We assume that the word length is 32 bits and the memory is byte-addressable. </a:t>
            </a:r>
            <a:endParaRPr sz="2400" dirty="0"/>
          </a:p>
          <a:p>
            <a:pPr marL="342900" lvl="0" indent="-342900" algn="just" rtl="0">
              <a:lnSpc>
                <a:spcPct val="90000"/>
              </a:lnSpc>
              <a:spcBef>
                <a:spcPts val="1000"/>
              </a:spcBef>
              <a:spcAft>
                <a:spcPts val="0"/>
              </a:spcAft>
              <a:buClr>
                <a:srgbClr val="000000"/>
              </a:buClr>
              <a:buSzPts val="1800"/>
              <a:buFont typeface="Arial" panose="020B0604020202020204" pitchFamily="34" charset="0"/>
              <a:buChar char="•"/>
            </a:pPr>
            <a:r>
              <a:rPr lang="en-US" sz="2400" b="0" i="0" u="none" strike="noStrike" dirty="0">
                <a:solidFill>
                  <a:srgbClr val="000000"/>
                </a:solidFill>
                <a:latin typeface="Times New Roman"/>
                <a:ea typeface="Times New Roman"/>
                <a:cs typeface="Times New Roman"/>
                <a:sym typeface="Times New Roman"/>
              </a:rPr>
              <a:t>The three instructions of the program are in successive word locations, starting at location </a:t>
            </a:r>
            <a:r>
              <a:rPr lang="en-US" sz="2400" b="0" i="0" u="none" strike="noStrike" dirty="0" err="1">
                <a:solidFill>
                  <a:srgbClr val="000000"/>
                </a:solidFill>
                <a:latin typeface="Times New Roman"/>
                <a:ea typeface="Times New Roman"/>
                <a:cs typeface="Times New Roman"/>
                <a:sym typeface="Times New Roman"/>
              </a:rPr>
              <a:t>i</a:t>
            </a:r>
            <a:r>
              <a:rPr lang="en-US" sz="2400" b="0" i="0" u="none" strike="noStrike" dirty="0">
                <a:solidFill>
                  <a:srgbClr val="000000"/>
                </a:solidFill>
                <a:latin typeface="Times New Roman"/>
                <a:ea typeface="Times New Roman"/>
                <a:cs typeface="Times New Roman"/>
                <a:sym typeface="Times New Roman"/>
              </a:rPr>
              <a:t>. Since each instruction is 4 bytes long, the second and third instructions are at addresses </a:t>
            </a:r>
            <a:r>
              <a:rPr lang="en-US" sz="2400" b="0" i="0" u="none" strike="noStrike" dirty="0" err="1">
                <a:solidFill>
                  <a:srgbClr val="000000"/>
                </a:solidFill>
                <a:latin typeface="Times New Roman"/>
                <a:ea typeface="Times New Roman"/>
                <a:cs typeface="Times New Roman"/>
                <a:sym typeface="Times New Roman"/>
              </a:rPr>
              <a:t>i</a:t>
            </a:r>
            <a:r>
              <a:rPr lang="en-US" sz="2400" b="0" i="0" u="none" strike="noStrike" dirty="0">
                <a:solidFill>
                  <a:srgbClr val="000000"/>
                </a:solidFill>
                <a:latin typeface="Times New Roman"/>
                <a:ea typeface="Times New Roman"/>
                <a:cs typeface="Times New Roman"/>
                <a:sym typeface="Times New Roman"/>
              </a:rPr>
              <a:t> + 4 and </a:t>
            </a:r>
            <a:r>
              <a:rPr lang="en-US" sz="2400" b="0" i="0" u="none" strike="noStrike" dirty="0" err="1">
                <a:solidFill>
                  <a:srgbClr val="000000"/>
                </a:solidFill>
                <a:latin typeface="Times New Roman"/>
                <a:ea typeface="Times New Roman"/>
                <a:cs typeface="Times New Roman"/>
                <a:sym typeface="Times New Roman"/>
              </a:rPr>
              <a:t>i</a:t>
            </a:r>
            <a:r>
              <a:rPr lang="en-US" sz="2400" b="0" i="0" u="none" strike="noStrike" dirty="0">
                <a:solidFill>
                  <a:srgbClr val="000000"/>
                </a:solidFill>
                <a:latin typeface="Times New Roman"/>
                <a:ea typeface="Times New Roman"/>
                <a:cs typeface="Times New Roman"/>
                <a:sym typeface="Times New Roman"/>
              </a:rPr>
              <a:t> + 8. </a:t>
            </a:r>
            <a:endParaRPr sz="2400" dirty="0"/>
          </a:p>
        </p:txBody>
      </p:sp>
      <p:pic>
        <p:nvPicPr>
          <p:cNvPr id="173" name="Google Shape;173;p15"/>
          <p:cNvPicPr preferRelativeResize="0"/>
          <p:nvPr/>
        </p:nvPicPr>
        <p:blipFill rotWithShape="1">
          <a:blip r:embed="rId3">
            <a:alphaModFix/>
          </a:blip>
          <a:srcRect/>
          <a:stretch/>
        </p:blipFill>
        <p:spPr>
          <a:xfrm>
            <a:off x="7720553" y="1105427"/>
            <a:ext cx="4449098" cy="472976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16"/>
          <p:cNvSpPr txBox="1">
            <a:spLocks noGrp="1"/>
          </p:cNvSpPr>
          <p:nvPr>
            <p:ph type="body" idx="1"/>
          </p:nvPr>
        </p:nvSpPr>
        <p:spPr>
          <a:xfrm>
            <a:off x="443059" y="345233"/>
            <a:ext cx="11406433" cy="5831730"/>
          </a:xfrm>
          <a:prstGeom prst="rect">
            <a:avLst/>
          </a:prstGeom>
          <a:noFill/>
          <a:ln>
            <a:noFill/>
          </a:ln>
        </p:spPr>
        <p:txBody>
          <a:bodyPr spcFirstLastPara="1" wrap="square" lIns="91425" tIns="45700" rIns="91425" bIns="45700" anchor="t" anchorCtr="0">
            <a:noAutofit/>
          </a:bodyPr>
          <a:lstStyle/>
          <a:p>
            <a:pPr marL="0" lvl="0" indent="0" algn="just" rtl="0">
              <a:lnSpc>
                <a:spcPct val="90000"/>
              </a:lnSpc>
              <a:spcBef>
                <a:spcPts val="1000"/>
              </a:spcBef>
              <a:spcAft>
                <a:spcPts val="0"/>
              </a:spcAft>
              <a:buClr>
                <a:srgbClr val="000000"/>
              </a:buClr>
              <a:buSzPts val="1800"/>
              <a:buNone/>
            </a:pPr>
            <a:r>
              <a:rPr lang="en-US" sz="2400" b="0" i="0" u="none" strike="noStrike" dirty="0">
                <a:solidFill>
                  <a:srgbClr val="000000"/>
                </a:solidFill>
                <a:latin typeface="Times New Roman"/>
                <a:ea typeface="Times New Roman"/>
                <a:cs typeface="Times New Roman"/>
                <a:sym typeface="Times New Roman"/>
              </a:rPr>
              <a:t>Let us consider how this program is executed.</a:t>
            </a:r>
            <a:endParaRPr lang="en-US" sz="2400" dirty="0"/>
          </a:p>
          <a:p>
            <a:pPr marL="285750" indent="-285750" algn="just">
              <a:buClr>
                <a:srgbClr val="000000"/>
              </a:buClr>
            </a:pPr>
            <a:r>
              <a:rPr lang="en-US" sz="2400" b="0" i="0" u="none" strike="noStrike" dirty="0">
                <a:solidFill>
                  <a:srgbClr val="000000"/>
                </a:solidFill>
                <a:latin typeface="Times New Roman"/>
                <a:ea typeface="Times New Roman"/>
                <a:cs typeface="Times New Roman"/>
                <a:sym typeface="Times New Roman"/>
              </a:rPr>
              <a:t>To begin executing a program, the address of its first instruction (</a:t>
            </a:r>
            <a:r>
              <a:rPr lang="en-US" sz="2400" b="0" i="0" u="none" strike="noStrike" dirty="0" err="1">
                <a:solidFill>
                  <a:srgbClr val="000000"/>
                </a:solidFill>
                <a:latin typeface="Times New Roman"/>
                <a:ea typeface="Times New Roman"/>
                <a:cs typeface="Times New Roman"/>
                <a:sym typeface="Times New Roman"/>
              </a:rPr>
              <a:t>i</a:t>
            </a:r>
            <a:r>
              <a:rPr lang="en-US" sz="2400" b="0" i="0" u="none" strike="noStrike" dirty="0">
                <a:solidFill>
                  <a:srgbClr val="000000"/>
                </a:solidFill>
                <a:latin typeface="Times New Roman"/>
                <a:ea typeface="Times New Roman"/>
                <a:cs typeface="Times New Roman"/>
                <a:sym typeface="Times New Roman"/>
              </a:rPr>
              <a:t> in our example) must be placed into the PC. </a:t>
            </a:r>
            <a:endParaRPr lang="en-US" sz="2400" dirty="0"/>
          </a:p>
          <a:p>
            <a:pPr marL="285750" indent="-285750" algn="just">
              <a:buClr>
                <a:srgbClr val="000000"/>
              </a:buClr>
            </a:pPr>
            <a:r>
              <a:rPr lang="en-US" sz="2400" b="0" i="0" u="none" strike="noStrike" dirty="0">
                <a:solidFill>
                  <a:srgbClr val="000000"/>
                </a:solidFill>
                <a:latin typeface="Times New Roman"/>
                <a:ea typeface="Times New Roman"/>
                <a:cs typeface="Times New Roman"/>
                <a:sym typeface="Times New Roman"/>
              </a:rPr>
              <a:t>Then, the processor control circuits use the information in the PC to fetch and execute instructions, one at a time, in the order of increasing addresses. This is called </a:t>
            </a:r>
            <a:r>
              <a:rPr lang="en-US" sz="2400" b="1" i="0" u="none" strike="noStrike" dirty="0">
                <a:solidFill>
                  <a:srgbClr val="000000"/>
                </a:solidFill>
                <a:latin typeface="Times New Roman"/>
                <a:ea typeface="Times New Roman"/>
                <a:cs typeface="Times New Roman"/>
                <a:sym typeface="Times New Roman"/>
              </a:rPr>
              <a:t>straight-line sequencing. </a:t>
            </a:r>
            <a:endParaRPr lang="en-US" sz="2400" b="0" i="0" u="none" strike="noStrike" dirty="0">
              <a:solidFill>
                <a:srgbClr val="000000"/>
              </a:solidFill>
              <a:latin typeface="Times New Roman"/>
              <a:ea typeface="Times New Roman"/>
              <a:cs typeface="Times New Roman"/>
              <a:sym typeface="Times New Roman"/>
            </a:endParaRPr>
          </a:p>
          <a:p>
            <a:pPr marL="285750" indent="-285750" algn="just">
              <a:buClr>
                <a:srgbClr val="000000"/>
              </a:buClr>
            </a:pPr>
            <a:r>
              <a:rPr lang="en-US" sz="2400" b="0" i="0" u="none" strike="noStrike" dirty="0">
                <a:solidFill>
                  <a:srgbClr val="000000"/>
                </a:solidFill>
                <a:latin typeface="Times New Roman"/>
                <a:ea typeface="Times New Roman"/>
                <a:cs typeface="Times New Roman"/>
                <a:sym typeface="Times New Roman"/>
              </a:rPr>
              <a:t>During the execution of each instruction, the PC is incremented by 4 to point to the next instruction. Thus, after the Move instruction at location </a:t>
            </a:r>
            <a:r>
              <a:rPr lang="en-US" sz="2400" b="0" i="0" u="none" strike="noStrike" dirty="0" err="1">
                <a:solidFill>
                  <a:srgbClr val="000000"/>
                </a:solidFill>
                <a:latin typeface="Times New Roman"/>
                <a:ea typeface="Times New Roman"/>
                <a:cs typeface="Times New Roman"/>
                <a:sym typeface="Times New Roman"/>
              </a:rPr>
              <a:t>i</a:t>
            </a:r>
            <a:r>
              <a:rPr lang="en-US" sz="2400" b="0" i="0" u="none" strike="noStrike" dirty="0">
                <a:solidFill>
                  <a:srgbClr val="000000"/>
                </a:solidFill>
                <a:latin typeface="Times New Roman"/>
                <a:ea typeface="Times New Roman"/>
                <a:cs typeface="Times New Roman"/>
                <a:sym typeface="Times New Roman"/>
              </a:rPr>
              <a:t> + 8 is executed, the PC contains the value </a:t>
            </a:r>
            <a:r>
              <a:rPr lang="en-US" sz="2400" b="0" i="0" u="none" strike="noStrike" dirty="0" err="1">
                <a:solidFill>
                  <a:srgbClr val="000000"/>
                </a:solidFill>
                <a:latin typeface="Times New Roman"/>
                <a:ea typeface="Times New Roman"/>
                <a:cs typeface="Times New Roman"/>
                <a:sym typeface="Times New Roman"/>
              </a:rPr>
              <a:t>i</a:t>
            </a:r>
            <a:r>
              <a:rPr lang="en-US" sz="2400" b="0" i="0" u="none" strike="noStrike" dirty="0">
                <a:solidFill>
                  <a:srgbClr val="000000"/>
                </a:solidFill>
                <a:latin typeface="Times New Roman"/>
                <a:ea typeface="Times New Roman"/>
                <a:cs typeface="Times New Roman"/>
                <a:sym typeface="Times New Roman"/>
              </a:rPr>
              <a:t> + 12</a:t>
            </a:r>
            <a:endParaRPr lang="en-US" sz="2400" dirty="0"/>
          </a:p>
          <a:p>
            <a:pPr marL="228600" lvl="0" indent="-228600" algn="just" rtl="0">
              <a:lnSpc>
                <a:spcPct val="90000"/>
              </a:lnSpc>
              <a:spcBef>
                <a:spcPts val="0"/>
              </a:spcBef>
              <a:spcAft>
                <a:spcPts val="0"/>
              </a:spcAft>
              <a:buClr>
                <a:srgbClr val="000000"/>
              </a:buClr>
              <a:buSzPts val="1800"/>
              <a:buChar char="•"/>
            </a:pPr>
            <a:endParaRPr lang="en-US" sz="2400" b="0" i="0" u="none" strike="noStrike" dirty="0">
              <a:solidFill>
                <a:srgbClr val="000000"/>
              </a:solidFill>
              <a:latin typeface="Times New Roman"/>
              <a:ea typeface="Times New Roman"/>
              <a:cs typeface="Times New Roman"/>
              <a:sym typeface="Times New Roman"/>
            </a:endParaRPr>
          </a:p>
          <a:p>
            <a:pPr marL="228600" lvl="0" indent="-228600" algn="just" rtl="0">
              <a:lnSpc>
                <a:spcPct val="90000"/>
              </a:lnSpc>
              <a:spcBef>
                <a:spcPts val="0"/>
              </a:spcBef>
              <a:spcAft>
                <a:spcPts val="0"/>
              </a:spcAft>
              <a:buClr>
                <a:srgbClr val="000000"/>
              </a:buClr>
              <a:buSzPts val="1800"/>
              <a:buChar char="•"/>
            </a:pPr>
            <a:r>
              <a:rPr lang="en-US" sz="2400" b="0" i="0" u="none" strike="noStrike" dirty="0">
                <a:solidFill>
                  <a:srgbClr val="000000"/>
                </a:solidFill>
                <a:latin typeface="Times New Roman"/>
                <a:ea typeface="Times New Roman"/>
                <a:cs typeface="Times New Roman"/>
                <a:sym typeface="Times New Roman"/>
              </a:rPr>
              <a:t>Executing a given instruction is a two-phase procedure.</a:t>
            </a:r>
            <a:endParaRPr lang="en-US" sz="2400" dirty="0"/>
          </a:p>
          <a:p>
            <a:pPr marL="228600" lvl="0" indent="-228600" algn="just" rtl="0">
              <a:lnSpc>
                <a:spcPct val="90000"/>
              </a:lnSpc>
              <a:spcBef>
                <a:spcPts val="1000"/>
              </a:spcBef>
              <a:spcAft>
                <a:spcPts val="0"/>
              </a:spcAft>
              <a:buClr>
                <a:srgbClr val="000000"/>
              </a:buClr>
              <a:buSzPts val="1800"/>
              <a:buChar char="•"/>
            </a:pPr>
            <a:r>
              <a:rPr lang="en-US" sz="2400" b="0" i="0" u="none" strike="noStrike" dirty="0">
                <a:solidFill>
                  <a:srgbClr val="000000"/>
                </a:solidFill>
                <a:latin typeface="Times New Roman"/>
                <a:ea typeface="Times New Roman"/>
                <a:cs typeface="Times New Roman"/>
                <a:sym typeface="Times New Roman"/>
              </a:rPr>
              <a:t> In the </a:t>
            </a:r>
            <a:r>
              <a:rPr lang="en-US" sz="2400" b="1" i="0" u="none" strike="noStrike" dirty="0">
                <a:solidFill>
                  <a:srgbClr val="000000"/>
                </a:solidFill>
                <a:latin typeface="Times New Roman"/>
                <a:ea typeface="Times New Roman"/>
                <a:cs typeface="Times New Roman"/>
                <a:sym typeface="Times New Roman"/>
              </a:rPr>
              <a:t>first phase</a:t>
            </a:r>
            <a:r>
              <a:rPr lang="en-US" sz="2400" b="0" i="0" u="none" strike="noStrike" dirty="0">
                <a:solidFill>
                  <a:srgbClr val="000000"/>
                </a:solidFill>
                <a:latin typeface="Times New Roman"/>
                <a:ea typeface="Times New Roman"/>
                <a:cs typeface="Times New Roman"/>
                <a:sym typeface="Times New Roman"/>
              </a:rPr>
              <a:t>, called </a:t>
            </a:r>
            <a:r>
              <a:rPr lang="en-US" sz="2400" b="1" i="0" u="none" strike="noStrike" dirty="0">
                <a:solidFill>
                  <a:srgbClr val="000000"/>
                </a:solidFill>
                <a:latin typeface="Times New Roman"/>
                <a:ea typeface="Times New Roman"/>
                <a:cs typeface="Times New Roman"/>
                <a:sym typeface="Times New Roman"/>
              </a:rPr>
              <a:t>instruction fetch</a:t>
            </a:r>
            <a:r>
              <a:rPr lang="en-US" sz="2400" b="0" i="0" u="none" strike="noStrike" dirty="0">
                <a:solidFill>
                  <a:srgbClr val="000000"/>
                </a:solidFill>
                <a:latin typeface="Times New Roman"/>
                <a:ea typeface="Times New Roman"/>
                <a:cs typeface="Times New Roman"/>
                <a:sym typeface="Times New Roman"/>
              </a:rPr>
              <a:t>, the instruction is fetched from the memory location whose address is in the PC. This instruction is placed in the instruction register (IR) in the processor. </a:t>
            </a:r>
            <a:endParaRPr sz="2400" dirty="0"/>
          </a:p>
          <a:p>
            <a:pPr marL="228600" lvl="0" indent="-228600" algn="just" rtl="0">
              <a:lnSpc>
                <a:spcPct val="90000"/>
              </a:lnSpc>
              <a:spcBef>
                <a:spcPts val="1000"/>
              </a:spcBef>
              <a:spcAft>
                <a:spcPts val="0"/>
              </a:spcAft>
              <a:buClr>
                <a:srgbClr val="000000"/>
              </a:buClr>
              <a:buSzPts val="1800"/>
              <a:buChar char="•"/>
            </a:pPr>
            <a:r>
              <a:rPr lang="en-US" sz="2400" b="0" i="0" u="none" strike="noStrike" dirty="0">
                <a:solidFill>
                  <a:srgbClr val="000000"/>
                </a:solidFill>
                <a:latin typeface="Times New Roman"/>
                <a:ea typeface="Times New Roman"/>
                <a:cs typeface="Times New Roman"/>
                <a:sym typeface="Times New Roman"/>
              </a:rPr>
              <a:t>At the start of the </a:t>
            </a:r>
            <a:r>
              <a:rPr lang="en-US" sz="2400" b="1" i="0" u="none" strike="noStrike" dirty="0">
                <a:solidFill>
                  <a:srgbClr val="000000"/>
                </a:solidFill>
                <a:latin typeface="Times New Roman"/>
                <a:ea typeface="Times New Roman"/>
                <a:cs typeface="Times New Roman"/>
                <a:sym typeface="Times New Roman"/>
              </a:rPr>
              <a:t>second phase</a:t>
            </a:r>
            <a:r>
              <a:rPr lang="en-US" sz="2400" b="0" i="0" u="none" strike="noStrike" dirty="0">
                <a:solidFill>
                  <a:srgbClr val="000000"/>
                </a:solidFill>
                <a:latin typeface="Times New Roman"/>
                <a:ea typeface="Times New Roman"/>
                <a:cs typeface="Times New Roman"/>
                <a:sym typeface="Times New Roman"/>
              </a:rPr>
              <a:t>, called </a:t>
            </a:r>
            <a:r>
              <a:rPr lang="en-US" sz="2400" b="1" i="0" u="none" strike="noStrike" dirty="0">
                <a:solidFill>
                  <a:srgbClr val="000000"/>
                </a:solidFill>
                <a:latin typeface="Times New Roman"/>
                <a:ea typeface="Times New Roman"/>
                <a:cs typeface="Times New Roman"/>
                <a:sym typeface="Times New Roman"/>
              </a:rPr>
              <a:t>instruction decode &amp; execute</a:t>
            </a:r>
            <a:r>
              <a:rPr lang="en-US" sz="2400" b="0" i="0" u="none" strike="noStrike" dirty="0">
                <a:solidFill>
                  <a:srgbClr val="000000"/>
                </a:solidFill>
                <a:latin typeface="Times New Roman"/>
                <a:ea typeface="Times New Roman"/>
                <a:cs typeface="Times New Roman"/>
                <a:sym typeface="Times New Roman"/>
              </a:rPr>
              <a:t>, the instruction in IR is examined to determine which operation is to be performed. </a:t>
            </a:r>
            <a:endParaRPr sz="2400" dirty="0"/>
          </a:p>
          <a:p>
            <a:pPr marL="228600" lvl="0" indent="-228600" algn="just" rtl="0">
              <a:lnSpc>
                <a:spcPct val="90000"/>
              </a:lnSpc>
              <a:spcBef>
                <a:spcPts val="1000"/>
              </a:spcBef>
              <a:spcAft>
                <a:spcPts val="0"/>
              </a:spcAft>
              <a:buClr>
                <a:srgbClr val="000000"/>
              </a:buClr>
              <a:buSzPts val="1800"/>
              <a:buChar char="•"/>
            </a:pPr>
            <a:r>
              <a:rPr lang="en-US" sz="2400" b="0" i="0" u="none" strike="noStrike" dirty="0">
                <a:solidFill>
                  <a:srgbClr val="000000"/>
                </a:solidFill>
                <a:latin typeface="Times New Roman"/>
                <a:ea typeface="Times New Roman"/>
                <a:cs typeface="Times New Roman"/>
                <a:sym typeface="Times New Roman"/>
              </a:rPr>
              <a:t>The specified operation is then performed by the processor. </a:t>
            </a:r>
            <a:endParaRPr sz="2400" dirty="0"/>
          </a:p>
          <a:p>
            <a:pPr marL="228600" lvl="0" indent="-114300" algn="just" rtl="0">
              <a:lnSpc>
                <a:spcPct val="90000"/>
              </a:lnSpc>
              <a:spcBef>
                <a:spcPts val="1000"/>
              </a:spcBef>
              <a:spcAft>
                <a:spcPts val="0"/>
              </a:spcAft>
              <a:buClr>
                <a:schemeClr val="dk1"/>
              </a:buClr>
              <a:buSzPts val="1800"/>
              <a:buNone/>
            </a:pPr>
            <a:endParaRPr sz="2400" dirty="0">
              <a:solidFill>
                <a:srgbClr val="000000"/>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840B25-6B7C-B1F5-4EFE-08CF948F4BE4}"/>
              </a:ext>
            </a:extLst>
          </p:cNvPr>
          <p:cNvSpPr>
            <a:spLocks noGrp="1"/>
          </p:cNvSpPr>
          <p:nvPr>
            <p:ph idx="1"/>
          </p:nvPr>
        </p:nvSpPr>
        <p:spPr>
          <a:xfrm>
            <a:off x="226242" y="414779"/>
            <a:ext cx="11127557" cy="5762184"/>
          </a:xfrm>
        </p:spPr>
        <p:txBody>
          <a:bodyPr/>
          <a:lstStyle/>
          <a:p>
            <a:pPr>
              <a:lnSpc>
                <a:spcPct val="150000"/>
              </a:lnSpc>
              <a:defRPr/>
            </a:pPr>
            <a:r>
              <a:rPr lang="en-US" i="1" dirty="0">
                <a:latin typeface="Times New Roman" pitchFamily="18" charset="0"/>
                <a:cs typeface="Times New Roman" pitchFamily="18" charset="0"/>
              </a:rPr>
              <a:t>As each instruction is executed, the PC is incremented by 4 to point to the next instruction.</a:t>
            </a:r>
          </a:p>
          <a:p>
            <a:pPr>
              <a:lnSpc>
                <a:spcPct val="150000"/>
              </a:lnSpc>
              <a:defRPr/>
            </a:pPr>
            <a:r>
              <a:rPr lang="en-US" dirty="0">
                <a:latin typeface="Times New Roman" pitchFamily="18" charset="0"/>
                <a:cs typeface="Times New Roman" pitchFamily="18" charset="0"/>
              </a:rPr>
              <a:t>Executing a given instruction is a two-phase procedure</a:t>
            </a:r>
          </a:p>
          <a:p>
            <a:pPr>
              <a:lnSpc>
                <a:spcPct val="150000"/>
              </a:lnSpc>
              <a:defRPr/>
            </a:pPr>
            <a:r>
              <a:rPr lang="en-US" dirty="0">
                <a:solidFill>
                  <a:schemeClr val="accent2">
                    <a:lumMod val="75000"/>
                  </a:schemeClr>
                </a:solidFill>
                <a:latin typeface="Times New Roman" pitchFamily="18" charset="0"/>
                <a:cs typeface="Times New Roman" pitchFamily="18" charset="0"/>
              </a:rPr>
              <a:t>First Phase - Instruction Fetch</a:t>
            </a:r>
            <a:r>
              <a:rPr lang="en-US" dirty="0">
                <a:latin typeface="Times New Roman" pitchFamily="18" charset="0"/>
                <a:cs typeface="Times New Roman" pitchFamily="18" charset="0"/>
              </a:rPr>
              <a:t>: Instruction is fetched from the main memory location whose address is in the PC and is placed in the Instruction Register (IR)</a:t>
            </a:r>
          </a:p>
          <a:p>
            <a:pPr>
              <a:lnSpc>
                <a:spcPct val="150000"/>
              </a:lnSpc>
              <a:defRPr/>
            </a:pPr>
            <a:endParaRPr lang="en-US" dirty="0">
              <a:latin typeface="Times New Roman" pitchFamily="18" charset="0"/>
              <a:cs typeface="Times New Roman" pitchFamily="18" charset="0"/>
            </a:endParaRPr>
          </a:p>
        </p:txBody>
      </p:sp>
      <p:sp>
        <p:nvSpPr>
          <p:cNvPr id="95236" name="Slide Number Placeholder 3">
            <a:extLst>
              <a:ext uri="{FF2B5EF4-FFF2-40B4-BE49-F238E27FC236}">
                <a16:creationId xmlns:a16="http://schemas.microsoft.com/office/drawing/2014/main" id="{FE4CCAB2-53BC-BBDA-B513-09D0AF3B527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q"/>
              <a:defRPr sz="2000">
                <a:solidFill>
                  <a:schemeClr val="tx1"/>
                </a:solidFill>
                <a:latin typeface="Comic Sans MS" panose="030F0702030302020204" pitchFamily="66" charset="0"/>
              </a:defRPr>
            </a:lvl1pPr>
            <a:lvl2pPr marL="742950" indent="-285750">
              <a:spcBef>
                <a:spcPct val="20000"/>
              </a:spcBef>
              <a:buSzPct val="80000"/>
              <a:buFont typeface="Wingdings" panose="05000000000000000000" pitchFamily="2" charset="2"/>
              <a:buChar char="u"/>
              <a:defRPr sz="2000">
                <a:solidFill>
                  <a:schemeClr val="tx1"/>
                </a:solidFill>
                <a:latin typeface="Comic Sans MS" panose="030F0702030302020204" pitchFamily="66" charset="0"/>
              </a:defRPr>
            </a:lvl2pPr>
            <a:lvl3pPr marL="1143000" indent="-228600">
              <a:spcBef>
                <a:spcPct val="20000"/>
              </a:spcBef>
              <a:buSzPct val="140000"/>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0"/>
              </a:spcBef>
              <a:buSzTx/>
              <a:buFontTx/>
              <a:buNone/>
            </a:pPr>
            <a:fld id="{47D8024C-1FE1-4BCA-8563-8518887DBF92}" type="slidenum">
              <a:rPr lang="en-US" altLang="en-US" sz="1400">
                <a:latin typeface="Times New Roman" panose="02020603050405020304" pitchFamily="18" charset="0"/>
              </a:rPr>
              <a:pPr>
                <a:spcBef>
                  <a:spcPct val="0"/>
                </a:spcBef>
                <a:buSzTx/>
                <a:buFontTx/>
                <a:buNone/>
              </a:pPr>
              <a:t>27</a:t>
            </a:fld>
            <a:endParaRPr lang="en-US" altLang="en-US" sz="1400">
              <a:latin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0210AC-4D2B-6AD1-83EC-951878B1C614}"/>
              </a:ext>
            </a:extLst>
          </p:cNvPr>
          <p:cNvSpPr>
            <a:spLocks noGrp="1"/>
          </p:cNvSpPr>
          <p:nvPr>
            <p:ph idx="1"/>
          </p:nvPr>
        </p:nvSpPr>
        <p:spPr>
          <a:xfrm>
            <a:off x="838200" y="480767"/>
            <a:ext cx="10515600" cy="5696196"/>
          </a:xfrm>
        </p:spPr>
        <p:txBody>
          <a:bodyPr>
            <a:normAutofit fontScale="92500" lnSpcReduction="20000"/>
          </a:bodyPr>
          <a:lstStyle/>
          <a:p>
            <a:pPr marL="114300" indent="0">
              <a:lnSpc>
                <a:spcPct val="150000"/>
              </a:lnSpc>
              <a:buNone/>
              <a:defRPr/>
            </a:pPr>
            <a:r>
              <a:rPr lang="en-US" dirty="0">
                <a:solidFill>
                  <a:schemeClr val="accent2">
                    <a:lumMod val="75000"/>
                  </a:schemeClr>
                </a:solidFill>
                <a:latin typeface="Times New Roman" pitchFamily="18" charset="0"/>
                <a:cs typeface="Times New Roman" pitchFamily="18" charset="0"/>
              </a:rPr>
              <a:t>Second Phase – Instruction Execute: </a:t>
            </a:r>
            <a:r>
              <a:rPr lang="en-US" b="1" dirty="0">
                <a:latin typeface="Times New Roman" pitchFamily="18" charset="0"/>
                <a:cs typeface="Times New Roman" pitchFamily="18" charset="0"/>
              </a:rPr>
              <a:t>Instruction in the IR is examined to determine </a:t>
            </a:r>
            <a:r>
              <a:rPr lang="en-US" dirty="0">
                <a:latin typeface="Times New Roman" pitchFamily="18" charset="0"/>
                <a:cs typeface="Times New Roman" pitchFamily="18" charset="0"/>
              </a:rPr>
              <a:t>which operation is to be performed. </a:t>
            </a:r>
          </a:p>
          <a:p>
            <a:pPr>
              <a:lnSpc>
                <a:spcPct val="150000"/>
              </a:lnSpc>
              <a:defRPr/>
            </a:pPr>
            <a:r>
              <a:rPr lang="en-US" dirty="0">
                <a:latin typeface="Times New Roman" pitchFamily="18" charset="0"/>
                <a:cs typeface="Times New Roman" pitchFamily="18" charset="0"/>
              </a:rPr>
              <a:t>The specified operation is performed by the processor. </a:t>
            </a:r>
          </a:p>
          <a:p>
            <a:pPr>
              <a:lnSpc>
                <a:spcPct val="150000"/>
              </a:lnSpc>
              <a:defRPr/>
            </a:pPr>
            <a:r>
              <a:rPr lang="en-US" dirty="0">
                <a:latin typeface="Times New Roman" pitchFamily="18" charset="0"/>
                <a:cs typeface="Times New Roman" pitchFamily="18" charset="0"/>
              </a:rPr>
              <a:t>This may involve fetching operands from main memory (or processor</a:t>
            </a:r>
          </a:p>
          <a:p>
            <a:pPr>
              <a:lnSpc>
                <a:spcPct val="150000"/>
              </a:lnSpc>
              <a:buFont typeface="Wingdings" panose="05000000000000000000" pitchFamily="2" charset="2"/>
              <a:buNone/>
              <a:defRPr/>
            </a:pPr>
            <a:r>
              <a:rPr lang="en-US" dirty="0">
                <a:latin typeface="Times New Roman" pitchFamily="18" charset="0"/>
                <a:cs typeface="Times New Roman" pitchFamily="18" charset="0"/>
              </a:rPr>
              <a:t>	registers), performing an arithmetic or logic operation and storing the result in the destination location. </a:t>
            </a:r>
          </a:p>
          <a:p>
            <a:pPr>
              <a:lnSpc>
                <a:spcPct val="150000"/>
              </a:lnSpc>
              <a:defRPr/>
            </a:pPr>
            <a:r>
              <a:rPr lang="en-US" dirty="0">
                <a:latin typeface="Times New Roman" pitchFamily="18" charset="0"/>
                <a:cs typeface="Times New Roman" pitchFamily="18" charset="0"/>
              </a:rPr>
              <a:t>At some point during this two-phase procedure, the contents of the PC are advanced to point to the next instruction. </a:t>
            </a:r>
          </a:p>
          <a:p>
            <a:pPr>
              <a:lnSpc>
                <a:spcPct val="150000"/>
              </a:lnSpc>
              <a:defRPr/>
            </a:pPr>
            <a:r>
              <a:rPr lang="en-US" dirty="0">
                <a:latin typeface="Times New Roman" pitchFamily="18" charset="0"/>
                <a:cs typeface="Times New Roman" pitchFamily="18" charset="0"/>
              </a:rPr>
              <a:t>After the execution phase is over, new instruction fetch can begin.</a:t>
            </a:r>
          </a:p>
        </p:txBody>
      </p:sp>
      <p:sp>
        <p:nvSpPr>
          <p:cNvPr id="96260" name="Slide Number Placeholder 3">
            <a:extLst>
              <a:ext uri="{FF2B5EF4-FFF2-40B4-BE49-F238E27FC236}">
                <a16:creationId xmlns:a16="http://schemas.microsoft.com/office/drawing/2014/main" id="{8581F8C1-EFC2-52B2-2E23-8FB8F04552C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SzPct val="100000"/>
              <a:buFont typeface="Wingdings" panose="05000000000000000000" pitchFamily="2" charset="2"/>
              <a:buChar char="q"/>
              <a:defRPr sz="2000">
                <a:solidFill>
                  <a:schemeClr val="tx1"/>
                </a:solidFill>
                <a:latin typeface="Comic Sans MS" panose="030F0702030302020204" pitchFamily="66" charset="0"/>
              </a:defRPr>
            </a:lvl1pPr>
            <a:lvl2pPr marL="742950" indent="-285750">
              <a:spcBef>
                <a:spcPct val="20000"/>
              </a:spcBef>
              <a:buSzPct val="80000"/>
              <a:buFont typeface="Wingdings" panose="05000000000000000000" pitchFamily="2" charset="2"/>
              <a:buChar char="u"/>
              <a:defRPr sz="2000">
                <a:solidFill>
                  <a:schemeClr val="tx1"/>
                </a:solidFill>
                <a:latin typeface="Comic Sans MS" panose="030F0702030302020204" pitchFamily="66" charset="0"/>
              </a:defRPr>
            </a:lvl2pPr>
            <a:lvl3pPr marL="1143000" indent="-228600">
              <a:spcBef>
                <a:spcPct val="20000"/>
              </a:spcBef>
              <a:buSzPct val="140000"/>
              <a:buChar char="•"/>
              <a:defRPr sz="2000">
                <a:solidFill>
                  <a:schemeClr val="tx1"/>
                </a:solidFill>
                <a:latin typeface="Comic Sans MS" panose="030F0702030302020204" pitchFamily="66" charset="0"/>
              </a:defRPr>
            </a:lvl3pPr>
            <a:lvl4pPr marL="1600200" indent="-228600">
              <a:spcBef>
                <a:spcPct val="20000"/>
              </a:spcBef>
              <a:buChar char="–"/>
              <a:defRPr sz="2000">
                <a:solidFill>
                  <a:schemeClr val="tx1"/>
                </a:solidFill>
                <a:latin typeface="Comic Sans MS" panose="030F0702030302020204" pitchFamily="66" charset="0"/>
              </a:defRPr>
            </a:lvl4pPr>
            <a:lvl5pPr marL="2057400" indent="-228600">
              <a:spcBef>
                <a:spcPct val="20000"/>
              </a:spcBef>
              <a:buChar char="•"/>
              <a:defRPr sz="2000">
                <a:solidFill>
                  <a:schemeClr val="tx1"/>
                </a:solidFill>
                <a:latin typeface="Comic Sans MS" panose="030F0702030302020204" pitchFamily="66" charset="0"/>
              </a:defRPr>
            </a:lvl5pPr>
            <a:lvl6pPr marL="2514600"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marL="2971800"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marL="3429000"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marL="3886200"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spcBef>
                <a:spcPct val="0"/>
              </a:spcBef>
              <a:buSzTx/>
              <a:buFontTx/>
              <a:buNone/>
            </a:pPr>
            <a:fld id="{1AF41A47-A57A-4094-8862-43DB7A1AA04D}" type="slidenum">
              <a:rPr lang="en-US" altLang="en-US" sz="1400">
                <a:latin typeface="Times New Roman" panose="02020603050405020304" pitchFamily="18" charset="0"/>
              </a:rPr>
              <a:pPr>
                <a:spcBef>
                  <a:spcPct val="0"/>
                </a:spcBef>
                <a:buSzTx/>
                <a:buFontTx/>
                <a:buNone/>
              </a:pPr>
              <a:t>28</a:t>
            </a:fld>
            <a:endParaRPr lang="en-US" altLang="en-US" sz="1400">
              <a:latin typeface="Times New Roman" panose="02020603050405020304"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E69BB5E-B699-363B-D2E1-52282975A041}"/>
              </a:ext>
            </a:extLst>
          </p:cNvPr>
          <p:cNvSpPr>
            <a:spLocks noGrp="1"/>
          </p:cNvSpPr>
          <p:nvPr>
            <p:ph type="body" idx="1"/>
          </p:nvPr>
        </p:nvSpPr>
        <p:spPr>
          <a:xfrm>
            <a:off x="838200" y="603315"/>
            <a:ext cx="10515600" cy="5573648"/>
          </a:xfrm>
        </p:spPr>
        <p:txBody>
          <a:bodyPr>
            <a:normAutofit/>
          </a:bodyPr>
          <a:lstStyle/>
          <a:p>
            <a:pPr marL="0" lvl="0" indent="0" algn="just" rtl="0">
              <a:lnSpc>
                <a:spcPct val="90000"/>
              </a:lnSpc>
              <a:spcBef>
                <a:spcPts val="1000"/>
              </a:spcBef>
              <a:spcAft>
                <a:spcPts val="0"/>
              </a:spcAft>
              <a:buClr>
                <a:srgbClr val="000000"/>
              </a:buClr>
              <a:buSzPts val="1800"/>
              <a:buNone/>
            </a:pPr>
            <a:r>
              <a:rPr lang="en-US" sz="2800" b="1" i="1" u="none" strike="noStrike" dirty="0">
                <a:solidFill>
                  <a:srgbClr val="000000"/>
                </a:solidFill>
                <a:latin typeface="Times New Roman"/>
                <a:ea typeface="Times New Roman"/>
                <a:cs typeface="Times New Roman"/>
                <a:sym typeface="Times New Roman"/>
              </a:rPr>
              <a:t>Branching</a:t>
            </a:r>
          </a:p>
          <a:p>
            <a:pPr marL="228600" lvl="0" indent="-228600" algn="just" rtl="0">
              <a:lnSpc>
                <a:spcPct val="90000"/>
              </a:lnSpc>
              <a:spcBef>
                <a:spcPts val="1000"/>
              </a:spcBef>
              <a:spcAft>
                <a:spcPts val="0"/>
              </a:spcAft>
              <a:buClr>
                <a:srgbClr val="000000"/>
              </a:buClr>
              <a:buSzPts val="1800"/>
              <a:buChar char="•"/>
            </a:pPr>
            <a:r>
              <a:rPr lang="en-US" sz="2800" b="0" i="0" u="none" strike="noStrike" dirty="0">
                <a:solidFill>
                  <a:srgbClr val="000000"/>
                </a:solidFill>
                <a:latin typeface="Times New Roman"/>
                <a:ea typeface="Times New Roman"/>
                <a:cs typeface="Times New Roman"/>
                <a:sym typeface="Times New Roman"/>
              </a:rPr>
              <a:t>This type of instruction loads a new address into the program counter. </a:t>
            </a:r>
            <a:endParaRPr lang="en-US" dirty="0"/>
          </a:p>
          <a:p>
            <a:pPr marL="228600" lvl="0" indent="-228600" algn="just" rtl="0">
              <a:lnSpc>
                <a:spcPct val="90000"/>
              </a:lnSpc>
              <a:spcBef>
                <a:spcPts val="1000"/>
              </a:spcBef>
              <a:spcAft>
                <a:spcPts val="0"/>
              </a:spcAft>
              <a:buClr>
                <a:srgbClr val="000000"/>
              </a:buClr>
              <a:buSzPts val="1800"/>
              <a:buChar char="•"/>
            </a:pPr>
            <a:r>
              <a:rPr lang="en-US" sz="2800" b="0" i="0" u="none" strike="noStrike" dirty="0">
                <a:solidFill>
                  <a:srgbClr val="000000"/>
                </a:solidFill>
                <a:latin typeface="Times New Roman"/>
                <a:ea typeface="Times New Roman"/>
                <a:cs typeface="Times New Roman"/>
                <a:sym typeface="Times New Roman"/>
              </a:rPr>
              <a:t>As a result, the processor fetches and executes the instruction at this new address, called the </a:t>
            </a:r>
            <a:r>
              <a:rPr lang="en-US" sz="2800" b="1" i="0" u="none" strike="noStrike" dirty="0">
                <a:solidFill>
                  <a:srgbClr val="000000"/>
                </a:solidFill>
                <a:latin typeface="Times New Roman"/>
                <a:ea typeface="Times New Roman"/>
                <a:cs typeface="Times New Roman"/>
                <a:sym typeface="Times New Roman"/>
              </a:rPr>
              <a:t>branch target</a:t>
            </a:r>
            <a:r>
              <a:rPr lang="en-US" sz="2800" b="0" i="0" u="none" strike="noStrike" dirty="0">
                <a:solidFill>
                  <a:srgbClr val="000000"/>
                </a:solidFill>
                <a:latin typeface="Times New Roman"/>
                <a:ea typeface="Times New Roman"/>
                <a:cs typeface="Times New Roman"/>
                <a:sym typeface="Times New Roman"/>
              </a:rPr>
              <a:t>, instead of the instruction at the location that follows the branch instruction in sequential address order.</a:t>
            </a:r>
            <a:endParaRPr lang="en-US" dirty="0"/>
          </a:p>
          <a:p>
            <a:pPr marL="228600" lvl="0" indent="-228600" algn="just" rtl="0">
              <a:lnSpc>
                <a:spcPct val="90000"/>
              </a:lnSpc>
              <a:spcBef>
                <a:spcPts val="1000"/>
              </a:spcBef>
              <a:spcAft>
                <a:spcPts val="0"/>
              </a:spcAft>
              <a:buClr>
                <a:srgbClr val="000000"/>
              </a:buClr>
              <a:buSzPts val="1800"/>
              <a:buChar char="•"/>
            </a:pPr>
            <a:r>
              <a:rPr lang="en-US" sz="2800" b="0" i="0" u="none" strike="noStrike" dirty="0">
                <a:solidFill>
                  <a:srgbClr val="000000"/>
                </a:solidFill>
                <a:latin typeface="Times New Roman"/>
                <a:ea typeface="Times New Roman"/>
                <a:cs typeface="Times New Roman"/>
                <a:sym typeface="Times New Roman"/>
              </a:rPr>
              <a:t>A </a:t>
            </a:r>
            <a:r>
              <a:rPr lang="en-US" sz="2800" b="1" i="0" u="none" strike="noStrike" dirty="0">
                <a:solidFill>
                  <a:srgbClr val="000000"/>
                </a:solidFill>
                <a:latin typeface="Times New Roman"/>
                <a:ea typeface="Times New Roman"/>
                <a:cs typeface="Times New Roman"/>
                <a:sym typeface="Times New Roman"/>
              </a:rPr>
              <a:t>conditional branch </a:t>
            </a:r>
            <a:r>
              <a:rPr lang="en-US" sz="2800" b="0" i="0" u="none" strike="noStrike" dirty="0">
                <a:solidFill>
                  <a:srgbClr val="000000"/>
                </a:solidFill>
                <a:latin typeface="Times New Roman"/>
                <a:ea typeface="Times New Roman"/>
                <a:cs typeface="Times New Roman"/>
                <a:sym typeface="Times New Roman"/>
              </a:rPr>
              <a:t>instruction causes a branch only if a specified condition is satisfied. </a:t>
            </a:r>
            <a:endParaRPr lang="en-US" dirty="0"/>
          </a:p>
          <a:p>
            <a:pPr marL="228600" lvl="0" indent="-228600" algn="just" rtl="0">
              <a:lnSpc>
                <a:spcPct val="90000"/>
              </a:lnSpc>
              <a:spcBef>
                <a:spcPts val="1000"/>
              </a:spcBef>
              <a:spcAft>
                <a:spcPts val="0"/>
              </a:spcAft>
              <a:buClr>
                <a:srgbClr val="000000"/>
              </a:buClr>
              <a:buSzPts val="1800"/>
              <a:buChar char="•"/>
            </a:pPr>
            <a:r>
              <a:rPr lang="en-US" sz="2800" b="0" i="0" u="none" strike="noStrike" dirty="0">
                <a:solidFill>
                  <a:srgbClr val="000000"/>
                </a:solidFill>
                <a:latin typeface="Times New Roman"/>
                <a:ea typeface="Times New Roman"/>
                <a:cs typeface="Times New Roman"/>
                <a:sym typeface="Times New Roman"/>
              </a:rPr>
              <a:t>If the condition is not satisfied, the PC is incremented in the normal way, and the next instruction in sequential address order is fetched and executed.</a:t>
            </a:r>
            <a:endParaRPr lang="en-US" dirty="0"/>
          </a:p>
          <a:p>
            <a:endParaRPr lang="en-US" dirty="0"/>
          </a:p>
        </p:txBody>
      </p:sp>
    </p:spTree>
    <p:extLst>
      <p:ext uri="{BB962C8B-B14F-4D97-AF65-F5344CB8AC3E}">
        <p14:creationId xmlns:p14="http://schemas.microsoft.com/office/powerpoint/2010/main" val="2388793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pic>
        <p:nvPicPr>
          <p:cNvPr id="183" name="Google Shape;183;p17"/>
          <p:cNvPicPr preferRelativeResize="0">
            <a:picLocks noGrp="1"/>
          </p:cNvPicPr>
          <p:nvPr>
            <p:ph type="body" idx="1"/>
          </p:nvPr>
        </p:nvPicPr>
        <p:blipFill rotWithShape="1">
          <a:blip r:embed="rId3">
            <a:alphaModFix/>
          </a:blip>
          <a:srcRect/>
          <a:stretch/>
        </p:blipFill>
        <p:spPr>
          <a:xfrm>
            <a:off x="7679094" y="123537"/>
            <a:ext cx="3673118" cy="6719647"/>
          </a:xfrm>
          <a:prstGeom prst="rect">
            <a:avLst/>
          </a:prstGeom>
          <a:noFill/>
          <a:ln>
            <a:noFill/>
          </a:ln>
        </p:spPr>
      </p:pic>
      <p:sp>
        <p:nvSpPr>
          <p:cNvPr id="184" name="Google Shape;184;p17"/>
          <p:cNvSpPr txBox="1">
            <a:spLocks noGrp="1"/>
          </p:cNvSpPr>
          <p:nvPr>
            <p:ph type="body" idx="2"/>
          </p:nvPr>
        </p:nvSpPr>
        <p:spPr>
          <a:xfrm>
            <a:off x="226243" y="485192"/>
            <a:ext cx="7452851" cy="6151278"/>
          </a:xfrm>
          <a:prstGeom prst="rect">
            <a:avLst/>
          </a:prstGeom>
          <a:noFill/>
          <a:ln>
            <a:noFill/>
          </a:ln>
        </p:spPr>
        <p:txBody>
          <a:bodyPr spcFirstLastPara="1" wrap="square" lIns="91425" tIns="45700" rIns="91425" bIns="45700" anchor="t" anchorCtr="0">
            <a:normAutofit/>
          </a:bodyPr>
          <a:lstStyle/>
          <a:p>
            <a:pPr marL="285750" lvl="0" indent="-285750" algn="just" rtl="0">
              <a:lnSpc>
                <a:spcPct val="90000"/>
              </a:lnSpc>
              <a:spcBef>
                <a:spcPts val="0"/>
              </a:spcBef>
              <a:spcAft>
                <a:spcPts val="0"/>
              </a:spcAft>
              <a:buClr>
                <a:srgbClr val="000000"/>
              </a:buClr>
              <a:buSzPts val="1800"/>
              <a:buFont typeface="Arial" panose="020B0604020202020204" pitchFamily="34" charset="0"/>
              <a:buChar char="•"/>
            </a:pPr>
            <a:r>
              <a:rPr lang="en-US" sz="2400" b="0" i="0" u="none" strike="noStrike" dirty="0">
                <a:solidFill>
                  <a:srgbClr val="000000"/>
                </a:solidFill>
                <a:latin typeface="Times New Roman"/>
                <a:ea typeface="Times New Roman"/>
                <a:cs typeface="Times New Roman"/>
                <a:sym typeface="Times New Roman"/>
              </a:rPr>
              <a:t>Consider the task of adding a list of n numbers. </a:t>
            </a:r>
            <a:endParaRPr sz="2400" dirty="0"/>
          </a:p>
          <a:p>
            <a:pPr marL="285750" lvl="0" indent="-285750" algn="just" rtl="0">
              <a:lnSpc>
                <a:spcPct val="90000"/>
              </a:lnSpc>
              <a:spcBef>
                <a:spcPts val="1000"/>
              </a:spcBef>
              <a:spcAft>
                <a:spcPts val="0"/>
              </a:spcAft>
              <a:buClr>
                <a:srgbClr val="000000"/>
              </a:buClr>
              <a:buSzPts val="1800"/>
              <a:buFont typeface="Arial" panose="020B0604020202020204" pitchFamily="34" charset="0"/>
              <a:buChar char="•"/>
            </a:pPr>
            <a:r>
              <a:rPr lang="en-US" sz="2400" b="0" i="0" u="none" strike="noStrike" dirty="0">
                <a:solidFill>
                  <a:srgbClr val="000000"/>
                </a:solidFill>
                <a:latin typeface="Times New Roman"/>
                <a:ea typeface="Times New Roman"/>
                <a:cs typeface="Times New Roman"/>
                <a:sym typeface="Times New Roman"/>
              </a:rPr>
              <a:t>LOOP is a straight line sequence of instructions executed as many times as needed. </a:t>
            </a:r>
            <a:endParaRPr sz="2400" dirty="0"/>
          </a:p>
          <a:p>
            <a:pPr marL="285750" lvl="0" indent="-285750" algn="just" rtl="0">
              <a:lnSpc>
                <a:spcPct val="90000"/>
              </a:lnSpc>
              <a:spcBef>
                <a:spcPts val="1000"/>
              </a:spcBef>
              <a:spcAft>
                <a:spcPts val="0"/>
              </a:spcAft>
              <a:buClr>
                <a:srgbClr val="000000"/>
              </a:buClr>
              <a:buSzPts val="1800"/>
              <a:buFont typeface="Arial" panose="020B0604020202020204" pitchFamily="34" charset="0"/>
              <a:buChar char="•"/>
            </a:pPr>
            <a:r>
              <a:rPr lang="en-US" sz="2400" b="0" i="0" u="none" strike="noStrike" dirty="0">
                <a:solidFill>
                  <a:srgbClr val="000000"/>
                </a:solidFill>
                <a:latin typeface="Times New Roman"/>
                <a:ea typeface="Times New Roman"/>
                <a:cs typeface="Times New Roman"/>
                <a:sym typeface="Times New Roman"/>
              </a:rPr>
              <a:t>Assume that the number of entries in the list, n, is stored in memory location N. </a:t>
            </a:r>
            <a:endParaRPr sz="2400" dirty="0"/>
          </a:p>
          <a:p>
            <a:pPr marL="285750" lvl="0" indent="-285750" algn="just" rtl="0">
              <a:lnSpc>
                <a:spcPct val="90000"/>
              </a:lnSpc>
              <a:spcBef>
                <a:spcPts val="1000"/>
              </a:spcBef>
              <a:spcAft>
                <a:spcPts val="0"/>
              </a:spcAft>
              <a:buClr>
                <a:srgbClr val="000000"/>
              </a:buClr>
              <a:buSzPts val="1800"/>
              <a:buFont typeface="Arial" panose="020B0604020202020204" pitchFamily="34" charset="0"/>
              <a:buChar char="•"/>
            </a:pPr>
            <a:r>
              <a:rPr lang="en-US" sz="2400" b="0" i="0" u="none" strike="noStrike" dirty="0">
                <a:solidFill>
                  <a:srgbClr val="000000"/>
                </a:solidFill>
                <a:latin typeface="Times New Roman"/>
                <a:ea typeface="Times New Roman"/>
                <a:cs typeface="Times New Roman"/>
                <a:sym typeface="Times New Roman"/>
              </a:rPr>
              <a:t>Register R1 is used as a counter to determine the number of times the loop is executed. </a:t>
            </a:r>
            <a:endParaRPr sz="2400" dirty="0"/>
          </a:p>
          <a:p>
            <a:pPr marL="285750" lvl="0" indent="-285750" algn="just" rtl="0">
              <a:lnSpc>
                <a:spcPct val="90000"/>
              </a:lnSpc>
              <a:spcBef>
                <a:spcPts val="1000"/>
              </a:spcBef>
              <a:spcAft>
                <a:spcPts val="0"/>
              </a:spcAft>
              <a:buClr>
                <a:srgbClr val="000000"/>
              </a:buClr>
              <a:buSzPts val="1800"/>
              <a:buFont typeface="Arial" panose="020B0604020202020204" pitchFamily="34" charset="0"/>
              <a:buChar char="•"/>
            </a:pPr>
            <a:r>
              <a:rPr lang="en-US" sz="2400" b="0" i="0" u="none" strike="noStrike" dirty="0">
                <a:solidFill>
                  <a:srgbClr val="000000"/>
                </a:solidFill>
                <a:latin typeface="Times New Roman"/>
                <a:ea typeface="Times New Roman"/>
                <a:cs typeface="Times New Roman"/>
                <a:sym typeface="Times New Roman"/>
              </a:rPr>
              <a:t>Hence, the contents of location N are loaded into register R1 at the beginning of the program. </a:t>
            </a:r>
            <a:endParaRPr sz="2400" dirty="0"/>
          </a:p>
          <a:p>
            <a:pPr marL="285750" lvl="0" indent="-285750" algn="just" rtl="0">
              <a:lnSpc>
                <a:spcPct val="90000"/>
              </a:lnSpc>
              <a:spcBef>
                <a:spcPts val="1000"/>
              </a:spcBef>
              <a:spcAft>
                <a:spcPts val="0"/>
              </a:spcAft>
              <a:buClr>
                <a:srgbClr val="000000"/>
              </a:buClr>
              <a:buSzPts val="1800"/>
              <a:buFont typeface="Arial" panose="020B0604020202020204" pitchFamily="34" charset="0"/>
              <a:buChar char="•"/>
            </a:pPr>
            <a:r>
              <a:rPr lang="en-US" sz="2400" b="0" i="0" u="none" strike="noStrike" dirty="0">
                <a:solidFill>
                  <a:srgbClr val="000000"/>
                </a:solidFill>
                <a:latin typeface="Times New Roman"/>
                <a:ea typeface="Times New Roman"/>
                <a:cs typeface="Times New Roman"/>
                <a:sym typeface="Times New Roman"/>
              </a:rPr>
              <a:t>Then, within the body of the loop, the instruction </a:t>
            </a:r>
            <a:r>
              <a:rPr lang="en-US" sz="2400" b="1" i="0" u="none" strike="noStrike" dirty="0">
                <a:solidFill>
                  <a:srgbClr val="000000"/>
                </a:solidFill>
                <a:latin typeface="Times New Roman"/>
                <a:ea typeface="Times New Roman"/>
                <a:cs typeface="Times New Roman"/>
                <a:sym typeface="Times New Roman"/>
              </a:rPr>
              <a:t>Decrement R1 </a:t>
            </a:r>
            <a:r>
              <a:rPr lang="en-US" sz="2400" b="0" i="0" u="none" strike="noStrike" dirty="0">
                <a:solidFill>
                  <a:srgbClr val="000000"/>
                </a:solidFill>
                <a:latin typeface="Times New Roman"/>
                <a:ea typeface="Times New Roman"/>
                <a:cs typeface="Times New Roman"/>
                <a:sym typeface="Times New Roman"/>
              </a:rPr>
              <a:t>reduces the contents of R1 by 1 each time through the loop. </a:t>
            </a:r>
            <a:endParaRPr sz="2400" dirty="0"/>
          </a:p>
          <a:p>
            <a:pPr marL="285750" lvl="0" indent="-285750" algn="just" rtl="0">
              <a:lnSpc>
                <a:spcPct val="90000"/>
              </a:lnSpc>
              <a:spcBef>
                <a:spcPts val="1000"/>
              </a:spcBef>
              <a:spcAft>
                <a:spcPts val="0"/>
              </a:spcAft>
              <a:buClr>
                <a:srgbClr val="000000"/>
              </a:buClr>
              <a:buSzPts val="1800"/>
              <a:buFont typeface="Arial" panose="020B0604020202020204" pitchFamily="34" charset="0"/>
              <a:buChar char="•"/>
            </a:pPr>
            <a:r>
              <a:rPr lang="en-US" sz="2400" b="0" i="0" u="none" strike="noStrike" dirty="0">
                <a:solidFill>
                  <a:srgbClr val="000000"/>
                </a:solidFill>
                <a:latin typeface="Times New Roman"/>
                <a:ea typeface="Times New Roman"/>
                <a:cs typeface="Times New Roman"/>
                <a:sym typeface="Times New Roman"/>
              </a:rPr>
              <a:t>Execution of the loop is repeated as long as the content of R1 is greater than zero.</a:t>
            </a:r>
            <a:endParaRPr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pic>
        <p:nvPicPr>
          <p:cNvPr id="189" name="Google Shape;189;p18"/>
          <p:cNvPicPr preferRelativeResize="0">
            <a:picLocks noGrp="1"/>
          </p:cNvPicPr>
          <p:nvPr>
            <p:ph type="body" idx="1"/>
          </p:nvPr>
        </p:nvPicPr>
        <p:blipFill rotWithShape="1">
          <a:blip r:embed="rId3">
            <a:alphaModFix/>
          </a:blip>
          <a:srcRect/>
          <a:stretch/>
        </p:blipFill>
        <p:spPr>
          <a:xfrm>
            <a:off x="8089641" y="769758"/>
            <a:ext cx="2907209" cy="5318484"/>
          </a:xfrm>
          <a:prstGeom prst="rect">
            <a:avLst/>
          </a:prstGeom>
          <a:noFill/>
          <a:ln>
            <a:noFill/>
          </a:ln>
        </p:spPr>
      </p:pic>
      <p:sp>
        <p:nvSpPr>
          <p:cNvPr id="190" name="Google Shape;190;p18"/>
          <p:cNvSpPr txBox="1">
            <a:spLocks noGrp="1"/>
          </p:cNvSpPr>
          <p:nvPr>
            <p:ph type="body" idx="2"/>
          </p:nvPr>
        </p:nvSpPr>
        <p:spPr>
          <a:xfrm>
            <a:off x="461913" y="537328"/>
            <a:ext cx="7286920" cy="6162052"/>
          </a:xfrm>
          <a:prstGeom prst="rect">
            <a:avLst/>
          </a:prstGeom>
          <a:noFill/>
          <a:ln>
            <a:noFill/>
          </a:ln>
        </p:spPr>
        <p:txBody>
          <a:bodyPr spcFirstLastPara="1" wrap="square" lIns="91425" tIns="45700" rIns="91425" bIns="45700" anchor="t" anchorCtr="0">
            <a:normAutofit/>
          </a:bodyPr>
          <a:lstStyle/>
          <a:p>
            <a:pPr marL="342900" lvl="0" indent="-342900" algn="just" rtl="0">
              <a:lnSpc>
                <a:spcPct val="90000"/>
              </a:lnSpc>
              <a:spcBef>
                <a:spcPts val="0"/>
              </a:spcBef>
              <a:spcAft>
                <a:spcPts val="0"/>
              </a:spcAft>
              <a:buClr>
                <a:srgbClr val="000000"/>
              </a:buClr>
              <a:buSzPts val="1800"/>
              <a:buFont typeface="Arial" panose="020B0604020202020204" pitchFamily="34" charset="0"/>
              <a:buChar char="•"/>
            </a:pPr>
            <a:r>
              <a:rPr lang="en-US" sz="2400" b="0" i="0" u="none" strike="noStrike" dirty="0">
                <a:solidFill>
                  <a:srgbClr val="000000"/>
                </a:solidFill>
                <a:latin typeface="Times New Roman"/>
                <a:ea typeface="Times New Roman"/>
                <a:cs typeface="Times New Roman"/>
                <a:sym typeface="Times New Roman"/>
              </a:rPr>
              <a:t>Branch&gt;0 LOOP is same is a conditional branch instruction that causes a branch to location LOOP if the contents of register R1 are greater than zero. </a:t>
            </a:r>
            <a:endParaRPr sz="2400" dirty="0"/>
          </a:p>
          <a:p>
            <a:pPr marL="342900" lvl="0" indent="-342900" algn="just" rtl="0">
              <a:lnSpc>
                <a:spcPct val="90000"/>
              </a:lnSpc>
              <a:spcBef>
                <a:spcPts val="1000"/>
              </a:spcBef>
              <a:spcAft>
                <a:spcPts val="0"/>
              </a:spcAft>
              <a:buClr>
                <a:srgbClr val="000000"/>
              </a:buClr>
              <a:buSzPts val="1800"/>
              <a:buFont typeface="Arial" panose="020B0604020202020204" pitchFamily="34" charset="0"/>
              <a:buChar char="•"/>
            </a:pPr>
            <a:r>
              <a:rPr lang="en-US" sz="2400" b="0" i="0" u="none" strike="noStrike" dirty="0">
                <a:solidFill>
                  <a:srgbClr val="000000"/>
                </a:solidFill>
                <a:latin typeface="Times New Roman"/>
                <a:ea typeface="Times New Roman"/>
                <a:cs typeface="Times New Roman"/>
                <a:sym typeface="Times New Roman"/>
              </a:rPr>
              <a:t>This means that the loop is executed as long as there are entries in the list that are yet to be added to R0. </a:t>
            </a:r>
            <a:endParaRPr sz="2400" dirty="0"/>
          </a:p>
          <a:p>
            <a:pPr marL="342900" lvl="0" indent="-342900" algn="just" rtl="0">
              <a:lnSpc>
                <a:spcPct val="90000"/>
              </a:lnSpc>
              <a:spcBef>
                <a:spcPts val="1000"/>
              </a:spcBef>
              <a:spcAft>
                <a:spcPts val="0"/>
              </a:spcAft>
              <a:buClr>
                <a:srgbClr val="000000"/>
              </a:buClr>
              <a:buSzPts val="1800"/>
              <a:buFont typeface="Arial" panose="020B0604020202020204" pitchFamily="34" charset="0"/>
              <a:buChar char="•"/>
            </a:pPr>
            <a:r>
              <a:rPr lang="en-US" sz="2400" b="0" i="0" u="none" strike="noStrike" dirty="0">
                <a:solidFill>
                  <a:srgbClr val="000000"/>
                </a:solidFill>
                <a:latin typeface="Times New Roman"/>
                <a:ea typeface="Times New Roman"/>
                <a:cs typeface="Times New Roman"/>
                <a:sym typeface="Times New Roman"/>
              </a:rPr>
              <a:t>At the end of the nth pass through the loop, the Decrement instruction produces a zero and hence branching does not occur. </a:t>
            </a:r>
            <a:endParaRPr sz="2400" dirty="0"/>
          </a:p>
          <a:p>
            <a:pPr marL="342900" lvl="0" indent="-342900" algn="just" rtl="0">
              <a:lnSpc>
                <a:spcPct val="90000"/>
              </a:lnSpc>
              <a:spcBef>
                <a:spcPts val="1000"/>
              </a:spcBef>
              <a:spcAft>
                <a:spcPts val="0"/>
              </a:spcAft>
              <a:buClr>
                <a:srgbClr val="000000"/>
              </a:buClr>
              <a:buSzPts val="1800"/>
              <a:buFont typeface="Arial" panose="020B0604020202020204" pitchFamily="34" charset="0"/>
              <a:buChar char="•"/>
            </a:pPr>
            <a:r>
              <a:rPr lang="en-US" sz="2400" b="0" i="0" u="none" strike="noStrike" dirty="0">
                <a:solidFill>
                  <a:srgbClr val="000000"/>
                </a:solidFill>
                <a:latin typeface="Times New Roman"/>
                <a:ea typeface="Times New Roman"/>
                <a:cs typeface="Times New Roman"/>
                <a:sym typeface="Times New Roman"/>
              </a:rPr>
              <a:t>Move instruction is fetched and executed. It moves the final result from R0 into memory location SUM.</a:t>
            </a:r>
            <a:endParaRPr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pic>
        <p:nvPicPr>
          <p:cNvPr id="195" name="Google Shape;195;p19"/>
          <p:cNvPicPr preferRelativeResize="0">
            <a:picLocks noGrp="1"/>
          </p:cNvPicPr>
          <p:nvPr>
            <p:ph type="body" idx="1"/>
          </p:nvPr>
        </p:nvPicPr>
        <p:blipFill rotWithShape="1">
          <a:blip r:embed="rId3">
            <a:alphaModFix/>
          </a:blip>
          <a:srcRect/>
          <a:stretch/>
        </p:blipFill>
        <p:spPr>
          <a:xfrm>
            <a:off x="2658359" y="4214840"/>
            <a:ext cx="8041064" cy="2409895"/>
          </a:xfrm>
          <a:prstGeom prst="rect">
            <a:avLst/>
          </a:prstGeom>
          <a:noFill/>
          <a:ln>
            <a:noFill/>
          </a:ln>
        </p:spPr>
      </p:pic>
      <p:sp>
        <p:nvSpPr>
          <p:cNvPr id="196" name="Google Shape;196;p19"/>
          <p:cNvSpPr txBox="1">
            <a:spLocks noGrp="1"/>
          </p:cNvSpPr>
          <p:nvPr>
            <p:ph type="body" idx="2"/>
          </p:nvPr>
        </p:nvSpPr>
        <p:spPr>
          <a:xfrm>
            <a:off x="301657" y="233265"/>
            <a:ext cx="11312165" cy="5635723"/>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rgbClr val="000000"/>
              </a:buClr>
              <a:buSzPts val="1800"/>
              <a:buNone/>
            </a:pPr>
            <a:r>
              <a:rPr lang="en-US" sz="2400" b="1" i="1" u="none" strike="noStrike" dirty="0">
                <a:solidFill>
                  <a:srgbClr val="000000"/>
                </a:solidFill>
                <a:latin typeface="Times New Roman"/>
                <a:ea typeface="Times New Roman"/>
                <a:cs typeface="Times New Roman"/>
                <a:sym typeface="Times New Roman"/>
              </a:rPr>
              <a:t>Condition Codes </a:t>
            </a:r>
            <a:endParaRPr sz="2400" b="0" i="0" u="none" strike="noStrike" dirty="0">
              <a:solidFill>
                <a:srgbClr val="000000"/>
              </a:solidFill>
              <a:latin typeface="Times New Roman"/>
              <a:ea typeface="Times New Roman"/>
              <a:cs typeface="Times New Roman"/>
              <a:sym typeface="Times New Roman"/>
            </a:endParaRPr>
          </a:p>
          <a:p>
            <a:pPr marL="342900" lvl="0" indent="-342900" algn="just" rtl="0">
              <a:lnSpc>
                <a:spcPct val="90000"/>
              </a:lnSpc>
              <a:spcBef>
                <a:spcPts val="1000"/>
              </a:spcBef>
              <a:spcAft>
                <a:spcPts val="0"/>
              </a:spcAft>
              <a:buClr>
                <a:srgbClr val="000000"/>
              </a:buClr>
              <a:buSzPts val="1800"/>
              <a:buFont typeface="Arial" panose="020B0604020202020204" pitchFamily="34" charset="0"/>
              <a:buChar char="•"/>
            </a:pPr>
            <a:r>
              <a:rPr lang="en-US" sz="2400" b="0" i="0" u="none" strike="noStrike" dirty="0">
                <a:solidFill>
                  <a:srgbClr val="000000"/>
                </a:solidFill>
                <a:latin typeface="Times New Roman"/>
                <a:ea typeface="Times New Roman"/>
                <a:cs typeface="Times New Roman"/>
                <a:sym typeface="Times New Roman"/>
              </a:rPr>
              <a:t>The processor keeps track of instruction about the results of various operations for use by subsequent conditional branch instructions. </a:t>
            </a:r>
            <a:endParaRPr sz="2400" dirty="0"/>
          </a:p>
          <a:p>
            <a:pPr marL="342900" lvl="0" indent="-342900" algn="just" rtl="0">
              <a:lnSpc>
                <a:spcPct val="90000"/>
              </a:lnSpc>
              <a:spcBef>
                <a:spcPts val="1000"/>
              </a:spcBef>
              <a:spcAft>
                <a:spcPts val="0"/>
              </a:spcAft>
              <a:buClr>
                <a:srgbClr val="000000"/>
              </a:buClr>
              <a:buSzPts val="1800"/>
              <a:buFont typeface="Arial" panose="020B0604020202020204" pitchFamily="34" charset="0"/>
              <a:buChar char="•"/>
            </a:pPr>
            <a:r>
              <a:rPr lang="en-US" sz="2400" b="0" i="0" u="none" strike="noStrike" dirty="0">
                <a:solidFill>
                  <a:srgbClr val="000000"/>
                </a:solidFill>
                <a:latin typeface="Times New Roman"/>
                <a:ea typeface="Times New Roman"/>
                <a:cs typeface="Times New Roman"/>
                <a:sym typeface="Times New Roman"/>
              </a:rPr>
              <a:t>This is accomplished by recording the required information in individual bits often called as </a:t>
            </a:r>
            <a:r>
              <a:rPr lang="en-US" sz="2400" b="1" i="0" u="none" strike="noStrike" dirty="0">
                <a:solidFill>
                  <a:srgbClr val="000000"/>
                </a:solidFill>
                <a:latin typeface="Times New Roman"/>
                <a:ea typeface="Times New Roman"/>
                <a:cs typeface="Times New Roman"/>
                <a:sym typeface="Times New Roman"/>
              </a:rPr>
              <a:t>conditional code flags</a:t>
            </a:r>
            <a:r>
              <a:rPr lang="en-US" sz="2400" b="0" i="0" u="none" strike="noStrike" dirty="0">
                <a:solidFill>
                  <a:srgbClr val="000000"/>
                </a:solidFill>
                <a:latin typeface="Times New Roman"/>
                <a:ea typeface="Times New Roman"/>
                <a:cs typeface="Times New Roman"/>
                <a:sym typeface="Times New Roman"/>
              </a:rPr>
              <a:t>. </a:t>
            </a:r>
            <a:endParaRPr sz="2400" dirty="0"/>
          </a:p>
          <a:p>
            <a:pPr marL="342900" lvl="0" indent="-342900" algn="just" rtl="0">
              <a:lnSpc>
                <a:spcPct val="90000"/>
              </a:lnSpc>
              <a:spcBef>
                <a:spcPts val="1000"/>
              </a:spcBef>
              <a:spcAft>
                <a:spcPts val="0"/>
              </a:spcAft>
              <a:buClr>
                <a:srgbClr val="000000"/>
              </a:buClr>
              <a:buSzPts val="1800"/>
              <a:buFont typeface="Arial" panose="020B0604020202020204" pitchFamily="34" charset="0"/>
              <a:buChar char="•"/>
            </a:pPr>
            <a:r>
              <a:rPr lang="en-US" sz="2400" b="0" i="0" u="none" strike="noStrike" dirty="0">
                <a:solidFill>
                  <a:srgbClr val="000000"/>
                </a:solidFill>
                <a:latin typeface="Times New Roman"/>
                <a:ea typeface="Times New Roman"/>
                <a:cs typeface="Times New Roman"/>
                <a:sym typeface="Times New Roman"/>
              </a:rPr>
              <a:t>These flags are usually grouped together in a special processor register called the condition </a:t>
            </a:r>
            <a:r>
              <a:rPr lang="en-US" sz="2400" b="1" i="0" u="none" strike="noStrike" dirty="0">
                <a:solidFill>
                  <a:srgbClr val="000000"/>
                </a:solidFill>
                <a:latin typeface="Times New Roman"/>
                <a:ea typeface="Times New Roman"/>
                <a:cs typeface="Times New Roman"/>
                <a:sym typeface="Times New Roman"/>
              </a:rPr>
              <a:t>code register or status register</a:t>
            </a:r>
            <a:r>
              <a:rPr lang="en-US" sz="2400" b="0" i="0" u="none" strike="noStrike" dirty="0">
                <a:solidFill>
                  <a:srgbClr val="000000"/>
                </a:solidFill>
                <a:latin typeface="Times New Roman"/>
                <a:ea typeface="Times New Roman"/>
                <a:cs typeface="Times New Roman"/>
                <a:sym typeface="Times New Roman"/>
              </a:rPr>
              <a:t>.</a:t>
            </a:r>
            <a:endParaRPr sz="2400" dirty="0"/>
          </a:p>
          <a:p>
            <a:pPr marL="342900" lvl="0" indent="-342900" algn="just" rtl="0">
              <a:lnSpc>
                <a:spcPct val="90000"/>
              </a:lnSpc>
              <a:spcBef>
                <a:spcPts val="1000"/>
              </a:spcBef>
              <a:spcAft>
                <a:spcPts val="0"/>
              </a:spcAft>
              <a:buClr>
                <a:srgbClr val="000000"/>
              </a:buClr>
              <a:buSzPts val="1800"/>
              <a:buFont typeface="Arial" panose="020B0604020202020204" pitchFamily="34" charset="0"/>
              <a:buChar char="•"/>
            </a:pPr>
            <a:r>
              <a:rPr lang="en-US" sz="2400" b="0" i="0" u="none" strike="noStrike" dirty="0">
                <a:solidFill>
                  <a:srgbClr val="000000"/>
                </a:solidFill>
                <a:latin typeface="Times New Roman"/>
                <a:ea typeface="Times New Roman"/>
                <a:cs typeface="Times New Roman"/>
                <a:sym typeface="Times New Roman"/>
              </a:rPr>
              <a:t> Individual condition codes are set to 1 or cleared to 0, depending upon the outcome of the operation performed.</a:t>
            </a:r>
            <a:endParaRPr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20"/>
          <p:cNvSpPr txBox="1">
            <a:spLocks noGrp="1"/>
          </p:cNvSpPr>
          <p:nvPr>
            <p:ph type="body" idx="1"/>
          </p:nvPr>
        </p:nvSpPr>
        <p:spPr>
          <a:xfrm>
            <a:off x="263951" y="235670"/>
            <a:ext cx="11623249" cy="5941293"/>
          </a:xfrm>
          <a:prstGeom prst="rect">
            <a:avLst/>
          </a:prstGeom>
          <a:noFill/>
          <a:ln>
            <a:noFill/>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rgbClr val="000000"/>
              </a:buClr>
              <a:buSzPts val="1800"/>
              <a:buNone/>
            </a:pPr>
            <a:r>
              <a:rPr lang="en-US" sz="2400" b="1" i="0" u="none" strike="noStrike" dirty="0">
                <a:solidFill>
                  <a:srgbClr val="000000"/>
                </a:solidFill>
                <a:latin typeface="Times New Roman"/>
                <a:ea typeface="Times New Roman"/>
                <a:cs typeface="Times New Roman"/>
                <a:sym typeface="Times New Roman"/>
              </a:rPr>
              <a:t>ADDRESSING MODES</a:t>
            </a:r>
            <a:endParaRPr sz="2400" dirty="0"/>
          </a:p>
          <a:p>
            <a:pPr marL="228600" lvl="0" indent="-228600" algn="just" rtl="0">
              <a:lnSpc>
                <a:spcPct val="90000"/>
              </a:lnSpc>
              <a:spcBef>
                <a:spcPts val="1000"/>
              </a:spcBef>
              <a:spcAft>
                <a:spcPts val="0"/>
              </a:spcAft>
              <a:buClr>
                <a:srgbClr val="000000"/>
              </a:buClr>
              <a:buSzPts val="1800"/>
              <a:buChar char="•"/>
            </a:pPr>
            <a:r>
              <a:rPr lang="en-US" sz="2400" b="0" i="0" u="none" strike="noStrike" dirty="0">
                <a:solidFill>
                  <a:srgbClr val="000000"/>
                </a:solidFill>
                <a:latin typeface="Times New Roman"/>
                <a:ea typeface="Times New Roman"/>
                <a:cs typeface="Times New Roman"/>
                <a:sym typeface="Times New Roman"/>
              </a:rPr>
              <a:t>The different ways for specifying the locations of  operands are known as </a:t>
            </a:r>
            <a:r>
              <a:rPr lang="en-US" sz="2400" b="1" i="0" u="none" strike="noStrike" dirty="0">
                <a:solidFill>
                  <a:srgbClr val="000000"/>
                </a:solidFill>
                <a:latin typeface="Times New Roman"/>
                <a:ea typeface="Times New Roman"/>
                <a:cs typeface="Times New Roman"/>
                <a:sym typeface="Times New Roman"/>
              </a:rPr>
              <a:t>addressing modes.  </a:t>
            </a:r>
            <a:endParaRPr sz="2400" dirty="0"/>
          </a:p>
          <a:p>
            <a:pPr marL="0" lvl="0" indent="0" algn="just" rtl="0">
              <a:lnSpc>
                <a:spcPct val="90000"/>
              </a:lnSpc>
              <a:spcBef>
                <a:spcPts val="1000"/>
              </a:spcBef>
              <a:spcAft>
                <a:spcPts val="0"/>
              </a:spcAft>
              <a:buClr>
                <a:srgbClr val="000000"/>
              </a:buClr>
              <a:buSzPts val="1800"/>
              <a:buNone/>
            </a:pPr>
            <a:r>
              <a:rPr lang="en-US" sz="2400" b="1" i="0" u="none" strike="noStrike" dirty="0">
                <a:solidFill>
                  <a:srgbClr val="000000"/>
                </a:solidFill>
                <a:latin typeface="Times New Roman"/>
                <a:ea typeface="Times New Roman"/>
                <a:cs typeface="Times New Roman"/>
                <a:sym typeface="Times New Roman"/>
              </a:rPr>
              <a:t>Immediate mode</a:t>
            </a:r>
            <a:r>
              <a:rPr lang="en-US" sz="2400" b="0" i="0" u="none" strike="noStrike" dirty="0">
                <a:solidFill>
                  <a:srgbClr val="000000"/>
                </a:solidFill>
                <a:latin typeface="Times New Roman"/>
                <a:ea typeface="Times New Roman"/>
                <a:cs typeface="Times New Roman"/>
                <a:sym typeface="Times New Roman"/>
              </a:rPr>
              <a:t>: </a:t>
            </a:r>
            <a:endParaRPr sz="2400" dirty="0"/>
          </a:p>
          <a:p>
            <a:pPr marL="685800" lvl="1" indent="-228600" algn="just" rtl="0">
              <a:lnSpc>
                <a:spcPct val="90000"/>
              </a:lnSpc>
              <a:spcBef>
                <a:spcPts val="500"/>
              </a:spcBef>
              <a:spcAft>
                <a:spcPts val="0"/>
              </a:spcAft>
              <a:buClr>
                <a:srgbClr val="000000"/>
              </a:buClr>
              <a:buSzPts val="1800"/>
              <a:buChar char="•"/>
            </a:pPr>
            <a:r>
              <a:rPr lang="en-US" b="0" i="0" u="none" strike="noStrike" dirty="0">
                <a:solidFill>
                  <a:srgbClr val="000000"/>
                </a:solidFill>
                <a:latin typeface="Times New Roman"/>
                <a:ea typeface="Times New Roman"/>
                <a:cs typeface="Times New Roman"/>
                <a:sym typeface="Times New Roman"/>
              </a:rPr>
              <a:t>The operand is given explicitly in the instruction. </a:t>
            </a:r>
            <a:endParaRPr dirty="0"/>
          </a:p>
          <a:p>
            <a:pPr marL="685800" lvl="1" indent="-228600" algn="just" rtl="0">
              <a:lnSpc>
                <a:spcPct val="90000"/>
              </a:lnSpc>
              <a:spcBef>
                <a:spcPts val="500"/>
              </a:spcBef>
              <a:spcAft>
                <a:spcPts val="0"/>
              </a:spcAft>
              <a:buClr>
                <a:srgbClr val="000000"/>
              </a:buClr>
              <a:buSzPts val="1800"/>
              <a:buChar char="•"/>
            </a:pPr>
            <a:r>
              <a:rPr lang="en-US" b="0" i="0" u="none" strike="noStrike" dirty="0">
                <a:solidFill>
                  <a:srgbClr val="000000"/>
                </a:solidFill>
                <a:latin typeface="Times New Roman"/>
                <a:ea typeface="Times New Roman"/>
                <a:cs typeface="Times New Roman"/>
                <a:sym typeface="Times New Roman"/>
              </a:rPr>
              <a:t>Example: The instruction </a:t>
            </a:r>
            <a:r>
              <a:rPr lang="en-US" b="1" i="1" u="none" strike="noStrike" dirty="0">
                <a:solidFill>
                  <a:srgbClr val="000000"/>
                </a:solidFill>
                <a:latin typeface="Times New Roman"/>
                <a:ea typeface="Times New Roman"/>
                <a:cs typeface="Times New Roman"/>
                <a:sym typeface="Times New Roman"/>
              </a:rPr>
              <a:t>Add #200, R1, R2 </a:t>
            </a:r>
            <a:r>
              <a:rPr lang="en-US" b="0" i="0" u="none" strike="noStrike" dirty="0">
                <a:solidFill>
                  <a:srgbClr val="000000"/>
                </a:solidFill>
                <a:latin typeface="Times New Roman"/>
                <a:ea typeface="Times New Roman"/>
                <a:cs typeface="Times New Roman"/>
                <a:sym typeface="Times New Roman"/>
              </a:rPr>
              <a:t>adds the value 200 to the contents of register R1, and places the result into register R2. </a:t>
            </a:r>
          </a:p>
          <a:p>
            <a:pPr marL="685800" lvl="1" indent="-228600" algn="just" rtl="0">
              <a:lnSpc>
                <a:spcPct val="90000"/>
              </a:lnSpc>
              <a:spcBef>
                <a:spcPts val="500"/>
              </a:spcBef>
              <a:spcAft>
                <a:spcPts val="0"/>
              </a:spcAft>
              <a:buClr>
                <a:srgbClr val="000000"/>
              </a:buClr>
              <a:buSzPts val="1800"/>
              <a:buChar char="•"/>
            </a:pPr>
            <a:r>
              <a:rPr lang="en-US" b="0" i="0" u="none" strike="noStrike" dirty="0">
                <a:solidFill>
                  <a:srgbClr val="000000"/>
                </a:solidFill>
                <a:latin typeface="Times New Roman"/>
                <a:ea typeface="Times New Roman"/>
                <a:cs typeface="Times New Roman"/>
                <a:sym typeface="Times New Roman"/>
              </a:rPr>
              <a:t>A common convention is to use the </a:t>
            </a:r>
            <a:r>
              <a:rPr lang="en-US" b="1" i="0" u="none" strike="noStrike" dirty="0">
                <a:solidFill>
                  <a:srgbClr val="000000"/>
                </a:solidFill>
                <a:latin typeface="Times New Roman"/>
                <a:ea typeface="Times New Roman"/>
                <a:cs typeface="Times New Roman"/>
                <a:sym typeface="Times New Roman"/>
              </a:rPr>
              <a:t>number sign (#) </a:t>
            </a:r>
            <a:r>
              <a:rPr lang="en-US" b="0" i="0" u="none" strike="noStrike" dirty="0">
                <a:solidFill>
                  <a:srgbClr val="000000"/>
                </a:solidFill>
                <a:latin typeface="Times New Roman"/>
                <a:ea typeface="Times New Roman"/>
                <a:cs typeface="Times New Roman"/>
                <a:sym typeface="Times New Roman"/>
              </a:rPr>
              <a:t>in front of the value to indicate that this value is to be used as an </a:t>
            </a:r>
            <a:r>
              <a:rPr lang="en-US" b="1" i="0" u="none" strike="noStrike" dirty="0">
                <a:solidFill>
                  <a:srgbClr val="000000"/>
                </a:solidFill>
                <a:latin typeface="Times New Roman"/>
                <a:ea typeface="Times New Roman"/>
                <a:cs typeface="Times New Roman"/>
                <a:sym typeface="Times New Roman"/>
              </a:rPr>
              <a:t>immediate </a:t>
            </a:r>
            <a:r>
              <a:rPr lang="en-US" b="0" i="0" u="none" strike="noStrike" dirty="0">
                <a:solidFill>
                  <a:srgbClr val="000000"/>
                </a:solidFill>
                <a:latin typeface="Times New Roman"/>
                <a:ea typeface="Times New Roman"/>
                <a:cs typeface="Times New Roman"/>
                <a:sym typeface="Times New Roman"/>
              </a:rPr>
              <a:t>operand. </a:t>
            </a:r>
            <a:endParaRPr b="1" dirty="0">
              <a:solidFill>
                <a:srgbClr val="000000"/>
              </a:solidFill>
              <a:latin typeface="Times New Roman"/>
              <a:ea typeface="Times New Roman"/>
              <a:cs typeface="Times New Roman"/>
              <a:sym typeface="Times New Roman"/>
            </a:endParaRPr>
          </a:p>
          <a:p>
            <a:pPr marL="0" lvl="0" indent="0" algn="just" rtl="0">
              <a:lnSpc>
                <a:spcPct val="90000"/>
              </a:lnSpc>
              <a:spcBef>
                <a:spcPts val="1000"/>
              </a:spcBef>
              <a:spcAft>
                <a:spcPts val="0"/>
              </a:spcAft>
              <a:buClr>
                <a:srgbClr val="000000"/>
              </a:buClr>
              <a:buSzPts val="1800"/>
              <a:buNone/>
            </a:pPr>
            <a:r>
              <a:rPr lang="en-US" sz="2400" b="1" i="0" u="none" strike="noStrike" dirty="0">
                <a:solidFill>
                  <a:srgbClr val="000000"/>
                </a:solidFill>
                <a:latin typeface="Times New Roman"/>
                <a:ea typeface="Times New Roman"/>
                <a:cs typeface="Times New Roman"/>
                <a:sym typeface="Times New Roman"/>
              </a:rPr>
              <a:t>Register mode</a:t>
            </a:r>
            <a:r>
              <a:rPr lang="en-US" sz="2400" b="0" i="0" u="none" strike="noStrike" dirty="0">
                <a:solidFill>
                  <a:srgbClr val="000000"/>
                </a:solidFill>
                <a:latin typeface="Times New Roman"/>
                <a:ea typeface="Times New Roman"/>
                <a:cs typeface="Times New Roman"/>
                <a:sym typeface="Times New Roman"/>
              </a:rPr>
              <a:t>: </a:t>
            </a:r>
            <a:endParaRPr sz="2400" dirty="0"/>
          </a:p>
          <a:p>
            <a:pPr marL="685800" lvl="1" indent="-228600" algn="just" rtl="0">
              <a:lnSpc>
                <a:spcPct val="90000"/>
              </a:lnSpc>
              <a:spcBef>
                <a:spcPts val="500"/>
              </a:spcBef>
              <a:spcAft>
                <a:spcPts val="0"/>
              </a:spcAft>
              <a:buClr>
                <a:srgbClr val="000000"/>
              </a:buClr>
              <a:buSzPts val="1800"/>
              <a:buChar char="•"/>
            </a:pPr>
            <a:r>
              <a:rPr lang="en-US" b="0" i="0" u="none" strike="noStrike" dirty="0">
                <a:solidFill>
                  <a:srgbClr val="000000"/>
                </a:solidFill>
                <a:latin typeface="Times New Roman"/>
                <a:ea typeface="Times New Roman"/>
                <a:cs typeface="Times New Roman"/>
                <a:sym typeface="Times New Roman"/>
              </a:rPr>
              <a:t>The operand is the contents of a processor register; the name (address) of the register is given in the instruction. </a:t>
            </a:r>
          </a:p>
          <a:p>
            <a:pPr marL="685800" lvl="1" indent="-228600" algn="just" rtl="0">
              <a:lnSpc>
                <a:spcPct val="90000"/>
              </a:lnSpc>
              <a:spcBef>
                <a:spcPts val="500"/>
              </a:spcBef>
              <a:spcAft>
                <a:spcPts val="0"/>
              </a:spcAft>
              <a:buClr>
                <a:srgbClr val="000000"/>
              </a:buClr>
              <a:buSzPts val="1800"/>
              <a:buChar char="•"/>
            </a:pPr>
            <a:r>
              <a:rPr lang="en-US" b="0" i="0" u="none" strike="noStrike" dirty="0">
                <a:solidFill>
                  <a:srgbClr val="000000"/>
                </a:solidFill>
                <a:latin typeface="Times New Roman"/>
                <a:ea typeface="Times New Roman"/>
                <a:cs typeface="Times New Roman"/>
                <a:sym typeface="Times New Roman"/>
              </a:rPr>
              <a:t>Example: The instruction </a:t>
            </a:r>
            <a:r>
              <a:rPr lang="en-US" b="1" i="1" u="none" strike="noStrike" dirty="0">
                <a:solidFill>
                  <a:srgbClr val="000000"/>
                </a:solidFill>
                <a:latin typeface="Times New Roman"/>
                <a:ea typeface="Times New Roman"/>
                <a:cs typeface="Times New Roman"/>
                <a:sym typeface="Times New Roman"/>
              </a:rPr>
              <a:t>Add R1, R2, R3 </a:t>
            </a:r>
            <a:r>
              <a:rPr lang="en-US" b="0" i="0" u="none" strike="noStrike" dirty="0">
                <a:solidFill>
                  <a:srgbClr val="000000"/>
                </a:solidFill>
                <a:latin typeface="Times New Roman"/>
                <a:ea typeface="Times New Roman"/>
                <a:cs typeface="Times New Roman"/>
                <a:sym typeface="Times New Roman"/>
              </a:rPr>
              <a:t>uses the Register mode for all three operands. </a:t>
            </a:r>
          </a:p>
          <a:p>
            <a:pPr marL="685800" lvl="1" indent="-228600" algn="just" rtl="0">
              <a:lnSpc>
                <a:spcPct val="90000"/>
              </a:lnSpc>
              <a:spcBef>
                <a:spcPts val="500"/>
              </a:spcBef>
              <a:spcAft>
                <a:spcPts val="0"/>
              </a:spcAft>
              <a:buClr>
                <a:srgbClr val="000000"/>
              </a:buClr>
              <a:buSzPts val="1800"/>
              <a:buChar char="•"/>
            </a:pPr>
            <a:r>
              <a:rPr lang="en-US" b="0" i="0" u="none" strike="noStrike" dirty="0">
                <a:solidFill>
                  <a:srgbClr val="000000"/>
                </a:solidFill>
                <a:latin typeface="Times New Roman"/>
                <a:ea typeface="Times New Roman"/>
                <a:cs typeface="Times New Roman"/>
                <a:sym typeface="Times New Roman"/>
              </a:rPr>
              <a:t>Registers R1 and R2 hold the two source operands, while R3 is the destination. </a:t>
            </a:r>
            <a:endParaRPr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21"/>
          <p:cNvSpPr txBox="1">
            <a:spLocks noGrp="1"/>
          </p:cNvSpPr>
          <p:nvPr>
            <p:ph type="body" idx="1"/>
          </p:nvPr>
        </p:nvSpPr>
        <p:spPr>
          <a:xfrm>
            <a:off x="320511" y="298580"/>
            <a:ext cx="11481848" cy="5878383"/>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1000"/>
              </a:spcBef>
              <a:spcAft>
                <a:spcPts val="0"/>
              </a:spcAft>
              <a:buClr>
                <a:srgbClr val="000000"/>
              </a:buClr>
              <a:buSzPts val="1800"/>
              <a:buNone/>
            </a:pPr>
            <a:r>
              <a:rPr lang="en-US" sz="2400" b="1" i="0" u="none" strike="noStrike" dirty="0">
                <a:solidFill>
                  <a:srgbClr val="000000"/>
                </a:solidFill>
                <a:latin typeface="Times New Roman"/>
                <a:ea typeface="Times New Roman"/>
                <a:cs typeface="Times New Roman"/>
                <a:sym typeface="Times New Roman"/>
              </a:rPr>
              <a:t>Absolute/Direct mode: </a:t>
            </a:r>
            <a:endParaRPr lang="en-US" sz="2400" dirty="0"/>
          </a:p>
          <a:p>
            <a:pPr marL="685800" lvl="1" indent="-228600" algn="just" rtl="0">
              <a:lnSpc>
                <a:spcPct val="90000"/>
              </a:lnSpc>
              <a:spcBef>
                <a:spcPts val="500"/>
              </a:spcBef>
              <a:spcAft>
                <a:spcPts val="0"/>
              </a:spcAft>
              <a:buClr>
                <a:srgbClr val="000000"/>
              </a:buClr>
              <a:buSzPts val="1800"/>
              <a:buChar char="•"/>
            </a:pPr>
            <a:r>
              <a:rPr lang="en-US" b="0" i="0" u="none" strike="noStrike" dirty="0">
                <a:solidFill>
                  <a:srgbClr val="000000"/>
                </a:solidFill>
                <a:latin typeface="Times New Roman"/>
                <a:ea typeface="Times New Roman"/>
                <a:cs typeface="Times New Roman"/>
                <a:sym typeface="Times New Roman"/>
              </a:rPr>
              <a:t>The operand is in a memory location; the address of this location is given explicitly in the instruction. </a:t>
            </a:r>
            <a:endParaRPr lang="en-US" dirty="0"/>
          </a:p>
          <a:p>
            <a:pPr marL="685800" lvl="1" indent="-228600" algn="just" rtl="0">
              <a:lnSpc>
                <a:spcPct val="90000"/>
              </a:lnSpc>
              <a:spcBef>
                <a:spcPts val="500"/>
              </a:spcBef>
              <a:spcAft>
                <a:spcPts val="0"/>
              </a:spcAft>
              <a:buClr>
                <a:srgbClr val="000000"/>
              </a:buClr>
              <a:buSzPts val="1800"/>
              <a:buChar char="•"/>
            </a:pPr>
            <a:r>
              <a:rPr lang="en-US" b="0" i="0" u="none" strike="noStrike" dirty="0">
                <a:solidFill>
                  <a:srgbClr val="000000"/>
                </a:solidFill>
                <a:latin typeface="Times New Roman"/>
                <a:ea typeface="Times New Roman"/>
                <a:cs typeface="Times New Roman"/>
                <a:sym typeface="Times New Roman"/>
              </a:rPr>
              <a:t>Example: The Absolute mode is used in the instruction </a:t>
            </a:r>
            <a:r>
              <a:rPr lang="en-US" b="1" i="1" u="none" strike="noStrike" dirty="0">
                <a:solidFill>
                  <a:srgbClr val="000000"/>
                </a:solidFill>
                <a:latin typeface="Times New Roman"/>
                <a:ea typeface="Times New Roman"/>
                <a:cs typeface="Times New Roman"/>
                <a:sym typeface="Times New Roman"/>
              </a:rPr>
              <a:t>Move LOC, R1 </a:t>
            </a:r>
            <a:r>
              <a:rPr lang="en-US" b="0" i="0" u="none" strike="noStrike" dirty="0">
                <a:solidFill>
                  <a:srgbClr val="000000"/>
                </a:solidFill>
                <a:latin typeface="Times New Roman"/>
                <a:ea typeface="Times New Roman"/>
                <a:cs typeface="Times New Roman"/>
                <a:sym typeface="Times New Roman"/>
              </a:rPr>
              <a:t>which copies the value in the memory location LOC into register R1. </a:t>
            </a:r>
            <a:endParaRPr lang="en-US" dirty="0"/>
          </a:p>
          <a:p>
            <a:pPr marL="228600" lvl="0" indent="-228600" algn="just" rtl="0">
              <a:lnSpc>
                <a:spcPct val="90000"/>
              </a:lnSpc>
              <a:spcBef>
                <a:spcPts val="0"/>
              </a:spcBef>
              <a:spcAft>
                <a:spcPts val="0"/>
              </a:spcAft>
              <a:buClr>
                <a:srgbClr val="000000"/>
              </a:buClr>
              <a:buSzPts val="1800"/>
              <a:buChar char="•"/>
            </a:pPr>
            <a:endParaRPr lang="en-US" sz="1800" b="1" i="0" u="none" strike="noStrike" dirty="0">
              <a:solidFill>
                <a:srgbClr val="000000"/>
              </a:solidFill>
              <a:latin typeface="Times New Roman"/>
              <a:ea typeface="Times New Roman"/>
              <a:cs typeface="Times New Roman"/>
              <a:sym typeface="Times New Roman"/>
            </a:endParaRPr>
          </a:p>
          <a:p>
            <a:pPr marL="0" lvl="0" indent="0" algn="just" rtl="0">
              <a:lnSpc>
                <a:spcPct val="90000"/>
              </a:lnSpc>
              <a:spcBef>
                <a:spcPts val="0"/>
              </a:spcBef>
              <a:spcAft>
                <a:spcPts val="0"/>
              </a:spcAft>
              <a:buClr>
                <a:srgbClr val="000000"/>
              </a:buClr>
              <a:buSzPts val="1800"/>
              <a:buNone/>
            </a:pPr>
            <a:r>
              <a:rPr lang="en-US" sz="2400" b="1" i="0" u="none" strike="noStrike" dirty="0">
                <a:solidFill>
                  <a:srgbClr val="000000"/>
                </a:solidFill>
                <a:latin typeface="Times New Roman"/>
                <a:ea typeface="Times New Roman"/>
                <a:cs typeface="Times New Roman"/>
                <a:sym typeface="Times New Roman"/>
              </a:rPr>
              <a:t>Indirect mode: </a:t>
            </a:r>
            <a:endParaRPr sz="2400" dirty="0"/>
          </a:p>
          <a:p>
            <a:pPr marL="685800" lvl="1" indent="-228600" algn="just" rtl="0">
              <a:lnSpc>
                <a:spcPct val="90000"/>
              </a:lnSpc>
              <a:spcBef>
                <a:spcPts val="500"/>
              </a:spcBef>
              <a:spcAft>
                <a:spcPts val="0"/>
              </a:spcAft>
              <a:buClr>
                <a:srgbClr val="000000"/>
              </a:buClr>
              <a:buSzPts val="1800"/>
              <a:buChar char="•"/>
            </a:pPr>
            <a:r>
              <a:rPr lang="en-US" b="0" i="0" u="none" strike="noStrike" dirty="0">
                <a:solidFill>
                  <a:srgbClr val="000000"/>
                </a:solidFill>
                <a:latin typeface="Times New Roman"/>
                <a:ea typeface="Times New Roman"/>
                <a:cs typeface="Times New Roman"/>
                <a:sym typeface="Times New Roman"/>
              </a:rPr>
              <a:t>The effective address of the operand is the contents of a register or memory location whose address appears in the instruction. We denote indirection by placing the name of the register given in the instruction in </a:t>
            </a:r>
            <a:r>
              <a:rPr lang="en-US" b="1" i="0" u="none" strike="noStrike" dirty="0">
                <a:solidFill>
                  <a:srgbClr val="000000"/>
                </a:solidFill>
                <a:latin typeface="Times New Roman"/>
                <a:ea typeface="Times New Roman"/>
                <a:cs typeface="Times New Roman"/>
                <a:sym typeface="Times New Roman"/>
              </a:rPr>
              <a:t>parentheses ()</a:t>
            </a:r>
            <a:r>
              <a:rPr lang="en-US" b="0" i="0" u="none" strike="noStrike" dirty="0">
                <a:solidFill>
                  <a:srgbClr val="000000"/>
                </a:solidFill>
                <a:latin typeface="Times New Roman"/>
                <a:ea typeface="Times New Roman"/>
                <a:cs typeface="Times New Roman"/>
                <a:sym typeface="Times New Roman"/>
              </a:rPr>
              <a:t>. </a:t>
            </a:r>
            <a:endParaRPr dirty="0"/>
          </a:p>
        </p:txBody>
      </p:sp>
      <p:pic>
        <p:nvPicPr>
          <p:cNvPr id="207" name="Google Shape;207;p21"/>
          <p:cNvPicPr preferRelativeResize="0"/>
          <p:nvPr/>
        </p:nvPicPr>
        <p:blipFill rotWithShape="1">
          <a:blip r:embed="rId3">
            <a:alphaModFix/>
          </a:blip>
          <a:srcRect/>
          <a:stretch/>
        </p:blipFill>
        <p:spPr>
          <a:xfrm>
            <a:off x="5712643" y="3930977"/>
            <a:ext cx="4939645" cy="2837467"/>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22"/>
          <p:cNvSpPr txBox="1">
            <a:spLocks noGrp="1"/>
          </p:cNvSpPr>
          <p:nvPr>
            <p:ph type="body" idx="1"/>
          </p:nvPr>
        </p:nvSpPr>
        <p:spPr>
          <a:xfrm>
            <a:off x="245097" y="270588"/>
            <a:ext cx="11613823" cy="5906375"/>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0"/>
              </a:spcBef>
              <a:spcAft>
                <a:spcPts val="0"/>
              </a:spcAft>
              <a:buClr>
                <a:srgbClr val="000000"/>
              </a:buClr>
              <a:buSzPts val="1800"/>
              <a:buNone/>
            </a:pPr>
            <a:r>
              <a:rPr lang="en-US" sz="2400" b="1" i="0" u="none" strike="noStrike" dirty="0">
                <a:solidFill>
                  <a:srgbClr val="000000"/>
                </a:solidFill>
                <a:latin typeface="Times New Roman"/>
                <a:ea typeface="Times New Roman"/>
                <a:cs typeface="Times New Roman"/>
                <a:sym typeface="Times New Roman"/>
              </a:rPr>
              <a:t>Index mode: </a:t>
            </a:r>
            <a:endParaRPr sz="2400" dirty="0"/>
          </a:p>
          <a:p>
            <a:pPr marL="685800" lvl="1" indent="-228600" algn="just" rtl="0">
              <a:lnSpc>
                <a:spcPct val="90000"/>
              </a:lnSpc>
              <a:spcBef>
                <a:spcPts val="500"/>
              </a:spcBef>
              <a:spcAft>
                <a:spcPts val="0"/>
              </a:spcAft>
              <a:buClr>
                <a:srgbClr val="000000"/>
              </a:buClr>
              <a:buSzPts val="1800"/>
              <a:buChar char="•"/>
            </a:pPr>
            <a:r>
              <a:rPr lang="en-US" sz="2800" b="0" i="0" u="none" strike="noStrike" dirty="0">
                <a:solidFill>
                  <a:srgbClr val="000000"/>
                </a:solidFill>
                <a:latin typeface="Times New Roman"/>
                <a:ea typeface="Times New Roman"/>
                <a:cs typeface="Times New Roman"/>
                <a:sym typeface="Times New Roman"/>
              </a:rPr>
              <a:t>The effective address of the operand is generated by adding a constant value to the contents of a register. </a:t>
            </a:r>
            <a:endParaRPr sz="2800" dirty="0"/>
          </a:p>
          <a:p>
            <a:pPr marL="685800" lvl="1" indent="-228600" algn="just" rtl="0">
              <a:lnSpc>
                <a:spcPct val="90000"/>
              </a:lnSpc>
              <a:spcBef>
                <a:spcPts val="500"/>
              </a:spcBef>
              <a:spcAft>
                <a:spcPts val="0"/>
              </a:spcAft>
              <a:buClr>
                <a:srgbClr val="000000"/>
              </a:buClr>
              <a:buSzPts val="1800"/>
              <a:buChar char="•"/>
            </a:pPr>
            <a:r>
              <a:rPr lang="en-US" sz="2800" b="0" i="0" u="none" strike="noStrike" dirty="0">
                <a:solidFill>
                  <a:srgbClr val="000000"/>
                </a:solidFill>
                <a:latin typeface="Times New Roman"/>
                <a:ea typeface="Times New Roman"/>
                <a:cs typeface="Times New Roman"/>
                <a:sym typeface="Times New Roman"/>
              </a:rPr>
              <a:t>The register used in this mode is referred as the </a:t>
            </a:r>
            <a:r>
              <a:rPr lang="en-US" sz="2800" b="1" i="0" u="none" strike="noStrike" dirty="0">
                <a:solidFill>
                  <a:srgbClr val="000000"/>
                </a:solidFill>
                <a:latin typeface="Times New Roman"/>
                <a:ea typeface="Times New Roman"/>
                <a:cs typeface="Times New Roman"/>
                <a:sym typeface="Times New Roman"/>
              </a:rPr>
              <a:t>index register</a:t>
            </a:r>
            <a:r>
              <a:rPr lang="en-US" sz="2800" b="0" i="0" u="none" strike="noStrike" dirty="0">
                <a:solidFill>
                  <a:srgbClr val="000000"/>
                </a:solidFill>
                <a:latin typeface="Times New Roman"/>
                <a:ea typeface="Times New Roman"/>
                <a:cs typeface="Times New Roman"/>
                <a:sym typeface="Times New Roman"/>
              </a:rPr>
              <a:t>. </a:t>
            </a:r>
            <a:endParaRPr sz="2800" dirty="0"/>
          </a:p>
          <a:p>
            <a:pPr marL="685800" lvl="1" indent="-228600" algn="just" rtl="0">
              <a:lnSpc>
                <a:spcPct val="90000"/>
              </a:lnSpc>
              <a:spcBef>
                <a:spcPts val="500"/>
              </a:spcBef>
              <a:spcAft>
                <a:spcPts val="0"/>
              </a:spcAft>
              <a:buClr>
                <a:srgbClr val="000000"/>
              </a:buClr>
              <a:buSzPts val="1800"/>
              <a:buChar char="•"/>
            </a:pPr>
            <a:r>
              <a:rPr lang="en-US" sz="2800" b="0" i="0" u="none" strike="noStrike" dirty="0">
                <a:solidFill>
                  <a:srgbClr val="000000"/>
                </a:solidFill>
                <a:latin typeface="Times New Roman"/>
                <a:ea typeface="Times New Roman"/>
                <a:cs typeface="Times New Roman"/>
                <a:sym typeface="Times New Roman"/>
              </a:rPr>
              <a:t>We indicate the Index mode symbolically as </a:t>
            </a:r>
            <a:r>
              <a:rPr lang="en-US" sz="2800" b="1" i="0" u="none" strike="noStrike" dirty="0">
                <a:solidFill>
                  <a:srgbClr val="000000"/>
                </a:solidFill>
                <a:latin typeface="Times New Roman"/>
                <a:ea typeface="Times New Roman"/>
                <a:cs typeface="Times New Roman"/>
                <a:sym typeface="Times New Roman"/>
              </a:rPr>
              <a:t>X(Ri) </a:t>
            </a:r>
            <a:r>
              <a:rPr lang="en-US" sz="2800" b="0" i="0" u="none" strike="noStrike" dirty="0">
                <a:solidFill>
                  <a:srgbClr val="000000"/>
                </a:solidFill>
                <a:latin typeface="Times New Roman"/>
                <a:ea typeface="Times New Roman"/>
                <a:cs typeface="Times New Roman"/>
                <a:sym typeface="Times New Roman"/>
              </a:rPr>
              <a:t>where X denotes a constant signed integer value contained in the instruction and Ri is the name of the register involved. </a:t>
            </a:r>
            <a:endParaRPr sz="2800" dirty="0"/>
          </a:p>
          <a:p>
            <a:pPr marL="685800" lvl="1" indent="-228600" algn="just" rtl="0">
              <a:lnSpc>
                <a:spcPct val="90000"/>
              </a:lnSpc>
              <a:spcBef>
                <a:spcPts val="500"/>
              </a:spcBef>
              <a:spcAft>
                <a:spcPts val="0"/>
              </a:spcAft>
              <a:buClr>
                <a:srgbClr val="000000"/>
              </a:buClr>
              <a:buSzPts val="1800"/>
              <a:buChar char="•"/>
            </a:pPr>
            <a:r>
              <a:rPr lang="en-US" sz="2800" b="0" i="0" u="none" strike="noStrike" dirty="0">
                <a:solidFill>
                  <a:srgbClr val="000000"/>
                </a:solidFill>
                <a:latin typeface="Times New Roman"/>
                <a:ea typeface="Times New Roman"/>
                <a:cs typeface="Times New Roman"/>
                <a:sym typeface="Times New Roman"/>
              </a:rPr>
              <a:t>The effective address of the operand is given by </a:t>
            </a:r>
            <a:r>
              <a:rPr lang="en-US" sz="2800" b="1" i="0" u="none" strike="noStrike" dirty="0">
                <a:solidFill>
                  <a:srgbClr val="000000"/>
                </a:solidFill>
                <a:latin typeface="Times New Roman"/>
                <a:ea typeface="Times New Roman"/>
                <a:cs typeface="Times New Roman"/>
                <a:sym typeface="Times New Roman"/>
              </a:rPr>
              <a:t>EA = X + [Ri]. </a:t>
            </a:r>
          </a:p>
          <a:p>
            <a:pPr marL="685800" lvl="1" indent="-228600" algn="just" rtl="0">
              <a:lnSpc>
                <a:spcPct val="90000"/>
              </a:lnSpc>
              <a:spcBef>
                <a:spcPts val="500"/>
              </a:spcBef>
              <a:spcAft>
                <a:spcPts val="0"/>
              </a:spcAft>
              <a:buClr>
                <a:srgbClr val="000000"/>
              </a:buClr>
              <a:buSzPts val="1800"/>
              <a:buChar char="•"/>
            </a:pPr>
            <a:r>
              <a:rPr lang="en-US" sz="2800" b="0" i="0" u="none" strike="noStrike" dirty="0">
                <a:solidFill>
                  <a:srgbClr val="000000"/>
                </a:solidFill>
                <a:latin typeface="Times New Roman"/>
                <a:ea typeface="Times New Roman"/>
                <a:cs typeface="Times New Roman"/>
                <a:sym typeface="Times New Roman"/>
              </a:rPr>
              <a:t>The contents of index register are not</a:t>
            </a:r>
          </a:p>
          <a:p>
            <a:pPr marL="457200" lvl="1" indent="0" algn="just" rtl="0">
              <a:lnSpc>
                <a:spcPct val="90000"/>
              </a:lnSpc>
              <a:spcBef>
                <a:spcPts val="500"/>
              </a:spcBef>
              <a:spcAft>
                <a:spcPts val="0"/>
              </a:spcAft>
              <a:buClr>
                <a:srgbClr val="000000"/>
              </a:buClr>
              <a:buSzPts val="1800"/>
              <a:buNone/>
            </a:pPr>
            <a:r>
              <a:rPr lang="en-US" sz="2800" b="0" i="0" u="none" strike="noStrike" dirty="0">
                <a:solidFill>
                  <a:srgbClr val="000000"/>
                </a:solidFill>
                <a:latin typeface="Times New Roman"/>
                <a:ea typeface="Times New Roman"/>
                <a:cs typeface="Times New Roman"/>
                <a:sym typeface="Times New Roman"/>
              </a:rPr>
              <a:t> changed in the process of generating </a:t>
            </a:r>
          </a:p>
          <a:p>
            <a:pPr marL="457200" lvl="1" indent="0" algn="just" rtl="0">
              <a:lnSpc>
                <a:spcPct val="90000"/>
              </a:lnSpc>
              <a:spcBef>
                <a:spcPts val="500"/>
              </a:spcBef>
              <a:spcAft>
                <a:spcPts val="0"/>
              </a:spcAft>
              <a:buClr>
                <a:srgbClr val="000000"/>
              </a:buClr>
              <a:buSzPts val="1800"/>
              <a:buNone/>
            </a:pPr>
            <a:r>
              <a:rPr lang="en-US" sz="2800" dirty="0">
                <a:solidFill>
                  <a:srgbClr val="000000"/>
                </a:solidFill>
                <a:latin typeface="Times New Roman"/>
                <a:ea typeface="Times New Roman"/>
                <a:cs typeface="Times New Roman"/>
                <a:sym typeface="Times New Roman"/>
              </a:rPr>
              <a:t> </a:t>
            </a:r>
            <a:r>
              <a:rPr lang="en-US" sz="2800" b="0" i="0" u="none" strike="noStrike" dirty="0">
                <a:solidFill>
                  <a:srgbClr val="000000"/>
                </a:solidFill>
                <a:latin typeface="Times New Roman"/>
                <a:ea typeface="Times New Roman"/>
                <a:cs typeface="Times New Roman"/>
                <a:sym typeface="Times New Roman"/>
              </a:rPr>
              <a:t>the effective address. </a:t>
            </a:r>
            <a:endParaRPr sz="2800" dirty="0"/>
          </a:p>
        </p:txBody>
      </p:sp>
      <p:pic>
        <p:nvPicPr>
          <p:cNvPr id="213" name="Google Shape;213;p22"/>
          <p:cNvPicPr preferRelativeResize="0"/>
          <p:nvPr/>
        </p:nvPicPr>
        <p:blipFill rotWithShape="1">
          <a:blip r:embed="rId3">
            <a:alphaModFix/>
          </a:blip>
          <a:srcRect/>
          <a:stretch/>
        </p:blipFill>
        <p:spPr>
          <a:xfrm>
            <a:off x="6386406" y="3663545"/>
            <a:ext cx="5783596" cy="3203882"/>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23"/>
          <p:cNvSpPr txBox="1">
            <a:spLocks noGrp="1"/>
          </p:cNvSpPr>
          <p:nvPr>
            <p:ph type="body" idx="1"/>
          </p:nvPr>
        </p:nvSpPr>
        <p:spPr>
          <a:xfrm>
            <a:off x="122549" y="150829"/>
            <a:ext cx="11858920" cy="6627043"/>
          </a:xfrm>
          <a:prstGeom prst="rect">
            <a:avLst/>
          </a:prstGeom>
          <a:noFill/>
          <a:ln>
            <a:noFill/>
          </a:ln>
        </p:spPr>
        <p:txBody>
          <a:bodyPr spcFirstLastPara="1" wrap="square" lIns="91425" tIns="45700" rIns="91425" bIns="45700" anchor="t" anchorCtr="0">
            <a:noAutofit/>
          </a:bodyPr>
          <a:lstStyle/>
          <a:p>
            <a:pPr marL="0" lvl="0" indent="0" algn="just" rtl="0">
              <a:lnSpc>
                <a:spcPct val="90000"/>
              </a:lnSpc>
              <a:spcBef>
                <a:spcPts val="0"/>
              </a:spcBef>
              <a:spcAft>
                <a:spcPts val="0"/>
              </a:spcAft>
              <a:buClr>
                <a:srgbClr val="000000"/>
              </a:buClr>
              <a:buSzPts val="1800"/>
              <a:buNone/>
            </a:pPr>
            <a:r>
              <a:rPr lang="en-US" sz="2600" b="1" i="1" u="none" strike="noStrike" dirty="0">
                <a:solidFill>
                  <a:srgbClr val="000000"/>
                </a:solidFill>
                <a:latin typeface="Times New Roman"/>
                <a:ea typeface="Times New Roman"/>
                <a:cs typeface="Times New Roman"/>
                <a:sym typeface="Times New Roman"/>
              </a:rPr>
              <a:t>Base with index: </a:t>
            </a:r>
            <a:endParaRPr sz="2600" dirty="0"/>
          </a:p>
          <a:p>
            <a:pPr marL="685800" lvl="1" indent="-228600" algn="just" rtl="0">
              <a:lnSpc>
                <a:spcPct val="90000"/>
              </a:lnSpc>
              <a:spcBef>
                <a:spcPts val="500"/>
              </a:spcBef>
              <a:spcAft>
                <a:spcPts val="0"/>
              </a:spcAft>
              <a:buClr>
                <a:srgbClr val="000000"/>
              </a:buClr>
              <a:buSzPts val="1800"/>
              <a:buChar char="•"/>
            </a:pPr>
            <a:r>
              <a:rPr lang="en-US" sz="2600" b="0" i="0" u="none" strike="noStrike" dirty="0">
                <a:solidFill>
                  <a:srgbClr val="000000"/>
                </a:solidFill>
                <a:latin typeface="Times New Roman"/>
                <a:ea typeface="Times New Roman"/>
                <a:cs typeface="Times New Roman"/>
                <a:sym typeface="Times New Roman"/>
              </a:rPr>
              <a:t>A second register may be used to contain the offset X, in which case the index mode is written as, </a:t>
            </a:r>
            <a:r>
              <a:rPr lang="en-US" sz="2600" b="1" i="0" u="none" strike="noStrike" dirty="0">
                <a:solidFill>
                  <a:srgbClr val="000000"/>
                </a:solidFill>
                <a:latin typeface="Times New Roman"/>
                <a:ea typeface="Times New Roman"/>
                <a:cs typeface="Times New Roman"/>
                <a:sym typeface="Times New Roman"/>
              </a:rPr>
              <a:t>(</a:t>
            </a:r>
            <a:r>
              <a:rPr lang="en-US" sz="2600" b="1" i="0" u="none" strike="noStrike" dirty="0" err="1">
                <a:solidFill>
                  <a:srgbClr val="000000"/>
                </a:solidFill>
                <a:latin typeface="Times New Roman"/>
                <a:ea typeface="Times New Roman"/>
                <a:cs typeface="Times New Roman"/>
                <a:sym typeface="Times New Roman"/>
              </a:rPr>
              <a:t>Ri,Rj</a:t>
            </a:r>
            <a:r>
              <a:rPr lang="en-US" sz="2600" b="1" i="0" u="none" strike="noStrike" dirty="0">
                <a:solidFill>
                  <a:srgbClr val="000000"/>
                </a:solidFill>
                <a:latin typeface="Times New Roman"/>
                <a:ea typeface="Times New Roman"/>
                <a:cs typeface="Times New Roman"/>
                <a:sym typeface="Times New Roman"/>
              </a:rPr>
              <a:t>). </a:t>
            </a:r>
          </a:p>
          <a:p>
            <a:pPr marL="685800" lvl="1" indent="-228600" algn="just" rtl="0">
              <a:lnSpc>
                <a:spcPct val="90000"/>
              </a:lnSpc>
              <a:spcBef>
                <a:spcPts val="500"/>
              </a:spcBef>
              <a:spcAft>
                <a:spcPts val="0"/>
              </a:spcAft>
              <a:buClr>
                <a:srgbClr val="000000"/>
              </a:buClr>
              <a:buSzPts val="1800"/>
              <a:buChar char="•"/>
            </a:pPr>
            <a:r>
              <a:rPr lang="en-US" sz="2600" b="0" i="0" u="none" strike="noStrike" dirty="0">
                <a:solidFill>
                  <a:srgbClr val="000000"/>
                </a:solidFill>
                <a:latin typeface="Times New Roman"/>
                <a:ea typeface="Times New Roman"/>
                <a:cs typeface="Times New Roman"/>
                <a:sym typeface="Times New Roman"/>
              </a:rPr>
              <a:t>The effective address is the sum of the contents of register Ri and </a:t>
            </a:r>
            <a:r>
              <a:rPr lang="en-US" sz="2600" b="0" i="0" u="none" strike="noStrike" dirty="0" err="1">
                <a:solidFill>
                  <a:srgbClr val="000000"/>
                </a:solidFill>
                <a:latin typeface="Times New Roman"/>
                <a:ea typeface="Times New Roman"/>
                <a:cs typeface="Times New Roman"/>
                <a:sym typeface="Times New Roman"/>
              </a:rPr>
              <a:t>Rj</a:t>
            </a:r>
            <a:r>
              <a:rPr lang="en-US" sz="2600" b="0" i="0" u="none" strike="noStrike" dirty="0">
                <a:solidFill>
                  <a:srgbClr val="000000"/>
                </a:solidFill>
                <a:latin typeface="Times New Roman"/>
                <a:ea typeface="Times New Roman"/>
                <a:cs typeface="Times New Roman"/>
                <a:sym typeface="Times New Roman"/>
              </a:rPr>
              <a:t>.</a:t>
            </a:r>
            <a:endParaRPr sz="2600" dirty="0"/>
          </a:p>
          <a:p>
            <a:pPr marL="685800" lvl="1" indent="-228600" algn="just" rtl="0">
              <a:lnSpc>
                <a:spcPct val="90000"/>
              </a:lnSpc>
              <a:spcBef>
                <a:spcPts val="500"/>
              </a:spcBef>
              <a:spcAft>
                <a:spcPts val="0"/>
              </a:spcAft>
              <a:buClr>
                <a:srgbClr val="000000"/>
              </a:buClr>
              <a:buSzPts val="1800"/>
              <a:buChar char="•"/>
            </a:pPr>
            <a:r>
              <a:rPr lang="en-US" sz="2600" b="0" i="0" u="none" strike="noStrike" dirty="0">
                <a:solidFill>
                  <a:srgbClr val="000000"/>
                </a:solidFill>
                <a:latin typeface="Times New Roman"/>
                <a:ea typeface="Times New Roman"/>
                <a:cs typeface="Times New Roman"/>
                <a:sym typeface="Times New Roman"/>
              </a:rPr>
              <a:t>The second register is called as </a:t>
            </a:r>
            <a:r>
              <a:rPr lang="en-US" sz="2600" b="1" i="0" u="none" strike="noStrike" dirty="0">
                <a:solidFill>
                  <a:srgbClr val="000000"/>
                </a:solidFill>
                <a:latin typeface="Times New Roman"/>
                <a:ea typeface="Times New Roman"/>
                <a:cs typeface="Times New Roman"/>
                <a:sym typeface="Times New Roman"/>
              </a:rPr>
              <a:t>base register</a:t>
            </a:r>
            <a:r>
              <a:rPr lang="en-US" sz="2600" b="0" i="0" u="none" strike="noStrike" dirty="0">
                <a:solidFill>
                  <a:srgbClr val="000000"/>
                </a:solidFill>
                <a:latin typeface="Times New Roman"/>
                <a:ea typeface="Times New Roman"/>
                <a:cs typeface="Times New Roman"/>
                <a:sym typeface="Times New Roman"/>
              </a:rPr>
              <a:t>. </a:t>
            </a:r>
            <a:endParaRPr sz="2600" dirty="0"/>
          </a:p>
          <a:p>
            <a:pPr marL="0" lvl="0" indent="0" algn="just" rtl="0">
              <a:lnSpc>
                <a:spcPct val="90000"/>
              </a:lnSpc>
              <a:spcBef>
                <a:spcPts val="1000"/>
              </a:spcBef>
              <a:spcAft>
                <a:spcPts val="0"/>
              </a:spcAft>
              <a:buClr>
                <a:srgbClr val="000000"/>
              </a:buClr>
              <a:buSzPts val="1800"/>
              <a:buNone/>
            </a:pPr>
            <a:r>
              <a:rPr lang="en-US" sz="2600" b="1" i="1" u="none" strike="noStrike" dirty="0">
                <a:solidFill>
                  <a:srgbClr val="000000"/>
                </a:solidFill>
                <a:latin typeface="Times New Roman"/>
                <a:ea typeface="Times New Roman"/>
                <a:cs typeface="Times New Roman"/>
                <a:sym typeface="Times New Roman"/>
              </a:rPr>
              <a:t>Base with index and offset: </a:t>
            </a:r>
            <a:endParaRPr sz="2600" dirty="0"/>
          </a:p>
          <a:p>
            <a:pPr marL="685800" lvl="1" indent="-228600" algn="just" rtl="0">
              <a:lnSpc>
                <a:spcPct val="90000"/>
              </a:lnSpc>
              <a:spcBef>
                <a:spcPts val="500"/>
              </a:spcBef>
              <a:spcAft>
                <a:spcPts val="0"/>
              </a:spcAft>
              <a:buClr>
                <a:srgbClr val="000000"/>
              </a:buClr>
              <a:buSzPts val="1800"/>
              <a:buChar char="•"/>
            </a:pPr>
            <a:r>
              <a:rPr lang="en-US" sz="2600" b="0" i="0" u="none" strike="noStrike" dirty="0">
                <a:solidFill>
                  <a:srgbClr val="000000"/>
                </a:solidFill>
                <a:latin typeface="Times New Roman"/>
                <a:ea typeface="Times New Roman"/>
                <a:cs typeface="Times New Roman"/>
                <a:sym typeface="Times New Roman"/>
              </a:rPr>
              <a:t>Uses two registers plus a constant denoted as X(</a:t>
            </a:r>
            <a:r>
              <a:rPr lang="en-US" sz="2600" b="1" i="0" u="none" strike="noStrike" dirty="0" err="1">
                <a:solidFill>
                  <a:srgbClr val="000000"/>
                </a:solidFill>
                <a:latin typeface="Times New Roman"/>
                <a:ea typeface="Times New Roman"/>
                <a:cs typeface="Times New Roman"/>
                <a:sym typeface="Times New Roman"/>
              </a:rPr>
              <a:t>Ri,Rj</a:t>
            </a:r>
            <a:r>
              <a:rPr lang="en-US" sz="2600" b="1" i="0" u="none" strike="noStrike" dirty="0">
                <a:solidFill>
                  <a:srgbClr val="000000"/>
                </a:solidFill>
                <a:latin typeface="Times New Roman"/>
                <a:ea typeface="Times New Roman"/>
                <a:cs typeface="Times New Roman"/>
                <a:sym typeface="Times New Roman"/>
              </a:rPr>
              <a:t>). </a:t>
            </a:r>
          </a:p>
          <a:p>
            <a:pPr marL="685800" lvl="1" indent="-228600" algn="just" rtl="0">
              <a:lnSpc>
                <a:spcPct val="90000"/>
              </a:lnSpc>
              <a:spcBef>
                <a:spcPts val="500"/>
              </a:spcBef>
              <a:spcAft>
                <a:spcPts val="0"/>
              </a:spcAft>
              <a:buClr>
                <a:srgbClr val="000000"/>
              </a:buClr>
              <a:buSzPts val="1800"/>
              <a:buChar char="•"/>
            </a:pPr>
            <a:r>
              <a:rPr lang="en-US" sz="2600" b="0" i="0" u="none" strike="noStrike" dirty="0">
                <a:solidFill>
                  <a:srgbClr val="000000"/>
                </a:solidFill>
                <a:latin typeface="Times New Roman"/>
                <a:ea typeface="Times New Roman"/>
                <a:cs typeface="Times New Roman"/>
                <a:sym typeface="Times New Roman"/>
              </a:rPr>
              <a:t>The effective address is the sum of the constant X and the contents of register Ri and </a:t>
            </a:r>
            <a:r>
              <a:rPr lang="en-US" sz="2600" b="0" i="0" u="none" strike="noStrike" dirty="0" err="1">
                <a:solidFill>
                  <a:srgbClr val="000000"/>
                </a:solidFill>
                <a:latin typeface="Times New Roman"/>
                <a:ea typeface="Times New Roman"/>
                <a:cs typeface="Times New Roman"/>
                <a:sym typeface="Times New Roman"/>
              </a:rPr>
              <a:t>Rj</a:t>
            </a:r>
            <a:r>
              <a:rPr lang="en-US" sz="2600" b="0" i="0" u="none" strike="noStrike" dirty="0">
                <a:solidFill>
                  <a:srgbClr val="000000"/>
                </a:solidFill>
                <a:latin typeface="Times New Roman"/>
                <a:ea typeface="Times New Roman"/>
                <a:cs typeface="Times New Roman"/>
                <a:sym typeface="Times New Roman"/>
              </a:rPr>
              <a:t>. </a:t>
            </a:r>
            <a:endParaRPr sz="2600" dirty="0"/>
          </a:p>
          <a:p>
            <a:pPr marL="0" lvl="0" indent="0" algn="just" rtl="0">
              <a:lnSpc>
                <a:spcPct val="90000"/>
              </a:lnSpc>
              <a:spcBef>
                <a:spcPts val="1000"/>
              </a:spcBef>
              <a:spcAft>
                <a:spcPts val="0"/>
              </a:spcAft>
              <a:buClr>
                <a:srgbClr val="000000"/>
              </a:buClr>
              <a:buSzPts val="1800"/>
              <a:buNone/>
            </a:pPr>
            <a:r>
              <a:rPr lang="en-US" sz="2600" b="1" i="1" u="none" strike="noStrike" dirty="0">
                <a:solidFill>
                  <a:srgbClr val="000000"/>
                </a:solidFill>
                <a:latin typeface="Times New Roman"/>
                <a:ea typeface="Times New Roman"/>
                <a:cs typeface="Times New Roman"/>
                <a:sym typeface="Times New Roman"/>
              </a:rPr>
              <a:t>Relative Addressing </a:t>
            </a:r>
            <a:endParaRPr sz="2600" b="0" i="0" u="none" strike="noStrike" dirty="0">
              <a:solidFill>
                <a:srgbClr val="000000"/>
              </a:solidFill>
              <a:latin typeface="Times New Roman"/>
              <a:ea typeface="Times New Roman"/>
              <a:cs typeface="Times New Roman"/>
              <a:sym typeface="Times New Roman"/>
            </a:endParaRPr>
          </a:p>
          <a:p>
            <a:pPr marL="685800" lvl="1" indent="-228600" algn="just" rtl="0">
              <a:lnSpc>
                <a:spcPct val="90000"/>
              </a:lnSpc>
              <a:spcBef>
                <a:spcPts val="500"/>
              </a:spcBef>
              <a:spcAft>
                <a:spcPts val="0"/>
              </a:spcAft>
              <a:buClr>
                <a:srgbClr val="000000"/>
              </a:buClr>
              <a:buSzPts val="1800"/>
              <a:buChar char="•"/>
            </a:pPr>
            <a:r>
              <a:rPr lang="en-US" sz="2600" b="0" i="0" u="none" strike="noStrike" dirty="0">
                <a:solidFill>
                  <a:srgbClr val="000000"/>
                </a:solidFill>
                <a:latin typeface="Times New Roman"/>
                <a:ea typeface="Times New Roman"/>
                <a:cs typeface="Times New Roman"/>
                <a:sym typeface="Times New Roman"/>
              </a:rPr>
              <a:t>In index addressing, if the program counter PC, is used instead of a general-purpose register then X(PC) can be used to address a memory location that is X bytes away from the location presently pointed to by the program counter. </a:t>
            </a:r>
            <a:endParaRPr sz="2600" dirty="0"/>
          </a:p>
          <a:p>
            <a:pPr marL="685800" lvl="1" indent="-228600" algn="just" rtl="0">
              <a:lnSpc>
                <a:spcPct val="90000"/>
              </a:lnSpc>
              <a:spcBef>
                <a:spcPts val="500"/>
              </a:spcBef>
              <a:spcAft>
                <a:spcPts val="0"/>
              </a:spcAft>
              <a:buClr>
                <a:srgbClr val="000000"/>
              </a:buClr>
              <a:buSzPts val="1800"/>
              <a:buChar char="•"/>
            </a:pPr>
            <a:r>
              <a:rPr lang="en-US" sz="2600" b="0" i="0" u="none" strike="noStrike" dirty="0">
                <a:solidFill>
                  <a:srgbClr val="000000"/>
                </a:solidFill>
                <a:latin typeface="Times New Roman"/>
                <a:ea typeface="Times New Roman"/>
                <a:cs typeface="Times New Roman"/>
                <a:sym typeface="Times New Roman"/>
              </a:rPr>
              <a:t>Since the addressed location is identified "relative" to the program counter, which always identifies the current execution point in a program, the name Relative mode is associated with this type of addressing. </a:t>
            </a:r>
            <a:endParaRPr sz="2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23"/>
          <p:cNvSpPr txBox="1">
            <a:spLocks noGrp="1"/>
          </p:cNvSpPr>
          <p:nvPr>
            <p:ph type="body" idx="1"/>
          </p:nvPr>
        </p:nvSpPr>
        <p:spPr>
          <a:xfrm>
            <a:off x="226243" y="216816"/>
            <a:ext cx="11670384" cy="6641184"/>
          </a:xfrm>
          <a:prstGeom prst="rect">
            <a:avLst/>
          </a:prstGeom>
          <a:noFill/>
          <a:ln>
            <a:noFill/>
          </a:ln>
        </p:spPr>
        <p:txBody>
          <a:bodyPr spcFirstLastPara="1" wrap="square" lIns="91425" tIns="45700" rIns="91425" bIns="45700" anchor="t" anchorCtr="0">
            <a:normAutofit/>
          </a:bodyPr>
          <a:lstStyle/>
          <a:p>
            <a:pPr marL="0" lvl="0" indent="0" algn="just" rtl="0">
              <a:lnSpc>
                <a:spcPct val="90000"/>
              </a:lnSpc>
              <a:spcBef>
                <a:spcPts val="1000"/>
              </a:spcBef>
              <a:spcAft>
                <a:spcPts val="0"/>
              </a:spcAft>
              <a:buClr>
                <a:srgbClr val="000000"/>
              </a:buClr>
              <a:buSzPts val="1800"/>
              <a:buNone/>
            </a:pPr>
            <a:r>
              <a:rPr lang="en-US" b="1" i="0" u="none" strike="noStrike" dirty="0">
                <a:solidFill>
                  <a:srgbClr val="000000"/>
                </a:solidFill>
                <a:latin typeface="Times New Roman"/>
                <a:ea typeface="Times New Roman"/>
                <a:cs typeface="Times New Roman"/>
                <a:sym typeface="Times New Roman"/>
              </a:rPr>
              <a:t>Auto-increment mode:</a:t>
            </a:r>
            <a:endParaRPr dirty="0"/>
          </a:p>
          <a:p>
            <a:pPr marL="685800" lvl="1" indent="-228600" algn="just" rtl="0">
              <a:lnSpc>
                <a:spcPct val="90000"/>
              </a:lnSpc>
              <a:spcBef>
                <a:spcPts val="500"/>
              </a:spcBef>
              <a:spcAft>
                <a:spcPts val="0"/>
              </a:spcAft>
              <a:buClr>
                <a:srgbClr val="000000"/>
              </a:buClr>
              <a:buSzPts val="1800"/>
              <a:buChar char="•"/>
            </a:pPr>
            <a:r>
              <a:rPr lang="en-US" sz="2800" b="0" i="0" u="none" strike="noStrike" dirty="0">
                <a:solidFill>
                  <a:srgbClr val="000000"/>
                </a:solidFill>
                <a:latin typeface="Times New Roman"/>
                <a:ea typeface="Times New Roman"/>
                <a:cs typeface="Times New Roman"/>
                <a:sym typeface="Times New Roman"/>
              </a:rPr>
              <a:t>The effective address of the operand is the contents of a register specified in the instruction. </a:t>
            </a:r>
          </a:p>
          <a:p>
            <a:pPr marL="685800" lvl="1" indent="-228600" algn="just" rtl="0">
              <a:lnSpc>
                <a:spcPct val="90000"/>
              </a:lnSpc>
              <a:spcBef>
                <a:spcPts val="500"/>
              </a:spcBef>
              <a:spcAft>
                <a:spcPts val="0"/>
              </a:spcAft>
              <a:buClr>
                <a:srgbClr val="000000"/>
              </a:buClr>
              <a:buSzPts val="1800"/>
              <a:buChar char="•"/>
            </a:pPr>
            <a:r>
              <a:rPr lang="en-US" sz="2800" b="0" i="0" u="none" strike="noStrike" dirty="0">
                <a:solidFill>
                  <a:srgbClr val="FF0000"/>
                </a:solidFill>
                <a:latin typeface="Times New Roman"/>
                <a:ea typeface="Times New Roman"/>
                <a:cs typeface="Times New Roman"/>
                <a:sym typeface="Times New Roman"/>
              </a:rPr>
              <a:t>After accessing the operand, the contents of this register are automatically incremented to point to the next item in a list</a:t>
            </a:r>
            <a:r>
              <a:rPr lang="en-US" sz="2800" b="0" i="0" u="none" strike="noStrike" dirty="0">
                <a:solidFill>
                  <a:srgbClr val="000000"/>
                </a:solidFill>
                <a:latin typeface="Times New Roman"/>
                <a:ea typeface="Times New Roman"/>
                <a:cs typeface="Times New Roman"/>
                <a:sym typeface="Times New Roman"/>
              </a:rPr>
              <a:t>. </a:t>
            </a:r>
            <a:endParaRPr sz="2800" dirty="0"/>
          </a:p>
          <a:p>
            <a:pPr marL="685800" lvl="1" indent="-228600" algn="just" rtl="0">
              <a:lnSpc>
                <a:spcPct val="90000"/>
              </a:lnSpc>
              <a:spcBef>
                <a:spcPts val="500"/>
              </a:spcBef>
              <a:spcAft>
                <a:spcPts val="0"/>
              </a:spcAft>
              <a:buClr>
                <a:srgbClr val="000000"/>
              </a:buClr>
              <a:buSzPts val="1800"/>
              <a:buChar char="•"/>
            </a:pPr>
            <a:r>
              <a:rPr lang="en-US" sz="2800" b="0" i="0" u="none" strike="noStrike" dirty="0">
                <a:solidFill>
                  <a:srgbClr val="000000"/>
                </a:solidFill>
                <a:latin typeface="Times New Roman"/>
                <a:ea typeface="Times New Roman"/>
                <a:cs typeface="Times New Roman"/>
                <a:sym typeface="Times New Roman"/>
              </a:rPr>
              <a:t>We denote the Auto-increment mode by putting the specified register in parentheses, to show that the contents of the register are used as the effective address, followed by a plus sign to  indicate that these contents are to be incremented after the operand is accessed. </a:t>
            </a:r>
          </a:p>
          <a:p>
            <a:pPr marL="685800" lvl="1" indent="-228600" algn="just" rtl="0">
              <a:lnSpc>
                <a:spcPct val="90000"/>
              </a:lnSpc>
              <a:spcBef>
                <a:spcPts val="500"/>
              </a:spcBef>
              <a:spcAft>
                <a:spcPts val="0"/>
              </a:spcAft>
              <a:buClr>
                <a:srgbClr val="000000"/>
              </a:buClr>
              <a:buSzPts val="1800"/>
              <a:buChar char="•"/>
            </a:pPr>
            <a:r>
              <a:rPr lang="en-US" sz="2800" b="0" i="0" u="none" strike="noStrike" dirty="0">
                <a:solidFill>
                  <a:srgbClr val="000000"/>
                </a:solidFill>
                <a:latin typeface="Times New Roman"/>
                <a:ea typeface="Times New Roman"/>
                <a:cs typeface="Times New Roman"/>
                <a:sym typeface="Times New Roman"/>
              </a:rPr>
              <a:t>Thus, the Auto-increment mode is written as </a:t>
            </a:r>
            <a:r>
              <a:rPr lang="en-US" sz="2800" b="1" i="0" u="none" strike="noStrike" dirty="0">
                <a:solidFill>
                  <a:srgbClr val="000000"/>
                </a:solidFill>
                <a:latin typeface="Times New Roman"/>
                <a:ea typeface="Times New Roman"/>
                <a:cs typeface="Times New Roman"/>
                <a:sym typeface="Times New Roman"/>
              </a:rPr>
              <a:t>(Ri)+ </a:t>
            </a:r>
          </a:p>
          <a:p>
            <a:pPr marL="0" lvl="0" indent="0" algn="just" rtl="0">
              <a:lnSpc>
                <a:spcPct val="90000"/>
              </a:lnSpc>
              <a:spcBef>
                <a:spcPts val="0"/>
              </a:spcBef>
              <a:spcAft>
                <a:spcPts val="0"/>
              </a:spcAft>
              <a:buClr>
                <a:srgbClr val="000000"/>
              </a:buClr>
              <a:buSzPts val="1800"/>
              <a:buNone/>
            </a:pPr>
            <a:r>
              <a:rPr lang="en-US" b="1" i="0" u="none" strike="noStrike" dirty="0">
                <a:solidFill>
                  <a:srgbClr val="000000"/>
                </a:solidFill>
                <a:latin typeface="Times New Roman"/>
                <a:ea typeface="Times New Roman"/>
                <a:cs typeface="Times New Roman"/>
                <a:sym typeface="Times New Roman"/>
              </a:rPr>
              <a:t>Auto-decrement mode:</a:t>
            </a:r>
            <a:endParaRPr lang="en-US" dirty="0"/>
          </a:p>
          <a:p>
            <a:pPr marL="685800" lvl="1" indent="-228600" algn="just" rtl="0">
              <a:lnSpc>
                <a:spcPct val="90000"/>
              </a:lnSpc>
              <a:spcBef>
                <a:spcPts val="500"/>
              </a:spcBef>
              <a:spcAft>
                <a:spcPts val="0"/>
              </a:spcAft>
              <a:buClr>
                <a:srgbClr val="000000"/>
              </a:buClr>
              <a:buSzPts val="1800"/>
              <a:buChar char="•"/>
            </a:pPr>
            <a:r>
              <a:rPr lang="en-US" sz="2800" b="0" i="0" u="none" strike="noStrike" dirty="0">
                <a:solidFill>
                  <a:srgbClr val="FF0000"/>
                </a:solidFill>
                <a:latin typeface="Times New Roman"/>
                <a:ea typeface="Times New Roman"/>
                <a:cs typeface="Times New Roman"/>
                <a:sym typeface="Times New Roman"/>
              </a:rPr>
              <a:t>The contents of a register specified in the instruction are first automatically decremented and are then used as the effective address of the operand.</a:t>
            </a:r>
          </a:p>
          <a:p>
            <a:pPr marL="685800" lvl="1" indent="-228600" algn="just" rtl="0">
              <a:lnSpc>
                <a:spcPct val="90000"/>
              </a:lnSpc>
              <a:spcBef>
                <a:spcPts val="500"/>
              </a:spcBef>
              <a:spcAft>
                <a:spcPts val="0"/>
              </a:spcAft>
              <a:buClr>
                <a:srgbClr val="000000"/>
              </a:buClr>
              <a:buSzPts val="1800"/>
              <a:buChar char="•"/>
            </a:pPr>
            <a:r>
              <a:rPr lang="en-US" sz="2800" b="0" i="0" u="none" strike="noStrike" dirty="0">
                <a:solidFill>
                  <a:srgbClr val="000000"/>
                </a:solidFill>
                <a:latin typeface="Times New Roman"/>
                <a:ea typeface="Times New Roman"/>
                <a:cs typeface="Times New Roman"/>
                <a:sym typeface="Times New Roman"/>
              </a:rPr>
              <a:t>The Auto-increment mode is written as -</a:t>
            </a:r>
            <a:r>
              <a:rPr lang="en-US" sz="2800" b="1" i="0" u="none" strike="noStrike" dirty="0">
                <a:solidFill>
                  <a:srgbClr val="000000"/>
                </a:solidFill>
                <a:latin typeface="Times New Roman"/>
                <a:ea typeface="Times New Roman"/>
                <a:cs typeface="Times New Roman"/>
                <a:sym typeface="Times New Roman"/>
              </a:rPr>
              <a:t>(Ri) </a:t>
            </a:r>
            <a:endParaRPr lang="en-US" sz="2800" dirty="0"/>
          </a:p>
          <a:p>
            <a:pPr marL="457200" lvl="1" indent="0" algn="just" rtl="0">
              <a:lnSpc>
                <a:spcPct val="90000"/>
              </a:lnSpc>
              <a:spcBef>
                <a:spcPts val="500"/>
              </a:spcBef>
              <a:spcAft>
                <a:spcPts val="0"/>
              </a:spcAft>
              <a:buClr>
                <a:srgbClr val="000000"/>
              </a:buClr>
              <a:buSzPts val="1800"/>
              <a:buNone/>
            </a:pPr>
            <a:endParaRPr lang="en-US" sz="2800" b="1" i="0" u="none" strike="noStrik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9179931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24"/>
          <p:cNvSpPr txBox="1">
            <a:spLocks noGrp="1"/>
          </p:cNvSpPr>
          <p:nvPr>
            <p:ph type="body" idx="1"/>
          </p:nvPr>
        </p:nvSpPr>
        <p:spPr>
          <a:xfrm>
            <a:off x="838200" y="335902"/>
            <a:ext cx="10515600" cy="5841061"/>
          </a:xfrm>
          <a:prstGeom prst="rect">
            <a:avLst/>
          </a:prstGeom>
          <a:noFill/>
          <a:ln>
            <a:noFill/>
          </a:ln>
        </p:spPr>
        <p:txBody>
          <a:bodyPr spcFirstLastPara="1" wrap="square" lIns="91425" tIns="45700" rIns="91425" bIns="45700" anchor="t" anchorCtr="0">
            <a:normAutofit/>
          </a:bodyPr>
          <a:lstStyle/>
          <a:p>
            <a:pPr marL="685800" lvl="1" indent="-114300" algn="just" rtl="0">
              <a:lnSpc>
                <a:spcPct val="90000"/>
              </a:lnSpc>
              <a:spcBef>
                <a:spcPts val="500"/>
              </a:spcBef>
              <a:spcAft>
                <a:spcPts val="0"/>
              </a:spcAft>
              <a:buClr>
                <a:schemeClr val="dk1"/>
              </a:buClr>
              <a:buSzPts val="1800"/>
              <a:buNone/>
            </a:pPr>
            <a:endParaRPr sz="1800" dirty="0"/>
          </a:p>
        </p:txBody>
      </p:sp>
      <p:pic>
        <p:nvPicPr>
          <p:cNvPr id="1026" name="Picture 2" descr="Computer Architecture: Addressing and Addressing Modes">
            <a:extLst>
              <a:ext uri="{FF2B5EF4-FFF2-40B4-BE49-F238E27FC236}">
                <a16:creationId xmlns:a16="http://schemas.microsoft.com/office/drawing/2014/main" id="{76D2295E-5004-A11D-A054-1B975224E8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0123" y="335902"/>
            <a:ext cx="11179116" cy="618619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25"/>
          <p:cNvSpPr txBox="1">
            <a:spLocks noGrp="1"/>
          </p:cNvSpPr>
          <p:nvPr>
            <p:ph type="title"/>
          </p:nvPr>
        </p:nvSpPr>
        <p:spPr>
          <a:xfrm>
            <a:off x="838200" y="365126"/>
            <a:ext cx="10515600" cy="59592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Calibri"/>
              <a:buNone/>
            </a:pPr>
            <a:r>
              <a:rPr lang="en-US" sz="3200" b="1" dirty="0"/>
              <a:t>BASIC PROCESSING UNIT - SOME FUNDAMENTAL CONCEPT</a:t>
            </a:r>
            <a:endParaRPr sz="3200" b="1" dirty="0"/>
          </a:p>
        </p:txBody>
      </p:sp>
      <p:sp>
        <p:nvSpPr>
          <p:cNvPr id="230" name="Google Shape;230;p25"/>
          <p:cNvSpPr txBox="1">
            <a:spLocks noGrp="1"/>
          </p:cNvSpPr>
          <p:nvPr>
            <p:ph type="body" idx="1"/>
          </p:nvPr>
        </p:nvSpPr>
        <p:spPr>
          <a:xfrm>
            <a:off x="838200" y="1046374"/>
            <a:ext cx="10515600" cy="5634343"/>
          </a:xfrm>
          <a:prstGeom prst="rect">
            <a:avLst/>
          </a:prstGeom>
          <a:noFill/>
          <a:ln>
            <a:noFill/>
          </a:ln>
        </p:spPr>
        <p:txBody>
          <a:bodyPr spcFirstLastPara="1" wrap="square" lIns="91425" tIns="45700" rIns="91425" bIns="45700" anchor="t" anchorCtr="0">
            <a:noAutofit/>
          </a:bodyPr>
          <a:lstStyle/>
          <a:p>
            <a:pPr marL="228600" lvl="0" indent="-228600" algn="just" rtl="0">
              <a:lnSpc>
                <a:spcPct val="90000"/>
              </a:lnSpc>
              <a:spcBef>
                <a:spcPts val="0"/>
              </a:spcBef>
              <a:spcAft>
                <a:spcPts val="0"/>
              </a:spcAft>
              <a:buClr>
                <a:schemeClr val="dk1"/>
              </a:buClr>
              <a:buSzPts val="1800"/>
              <a:buChar char="•"/>
            </a:pPr>
            <a:r>
              <a:rPr lang="en-US" dirty="0"/>
              <a:t>To execute a program, the processor fetches one instruction at a time and performs the operations specified.</a:t>
            </a:r>
            <a:endParaRPr dirty="0"/>
          </a:p>
          <a:p>
            <a:pPr marL="228600" lvl="0" indent="-228600" algn="just" rtl="0">
              <a:lnSpc>
                <a:spcPct val="90000"/>
              </a:lnSpc>
              <a:spcBef>
                <a:spcPts val="1000"/>
              </a:spcBef>
              <a:spcAft>
                <a:spcPts val="0"/>
              </a:spcAft>
              <a:buClr>
                <a:schemeClr val="dk1"/>
              </a:buClr>
              <a:buSzPts val="1800"/>
              <a:buChar char="•"/>
            </a:pPr>
            <a:r>
              <a:rPr lang="en-US" dirty="0"/>
              <a:t> Instructions are fetched from successive memory locations until a branch or a jump instruction is encountered. </a:t>
            </a:r>
            <a:endParaRPr dirty="0"/>
          </a:p>
          <a:p>
            <a:pPr marL="228600" lvl="0" indent="-228600" algn="just" rtl="0">
              <a:lnSpc>
                <a:spcPct val="90000"/>
              </a:lnSpc>
              <a:spcBef>
                <a:spcPts val="1000"/>
              </a:spcBef>
              <a:spcAft>
                <a:spcPts val="0"/>
              </a:spcAft>
              <a:buClr>
                <a:schemeClr val="dk1"/>
              </a:buClr>
              <a:buSzPts val="1800"/>
              <a:buChar char="•"/>
            </a:pPr>
            <a:r>
              <a:rPr lang="en-US" dirty="0"/>
              <a:t>The processor keeps track of the address of the memory location containing the next instruction to be fetched using the program counter, PC. </a:t>
            </a:r>
            <a:endParaRPr dirty="0"/>
          </a:p>
          <a:p>
            <a:pPr marL="228600" lvl="0" indent="-228600" algn="just" rtl="0">
              <a:lnSpc>
                <a:spcPct val="90000"/>
              </a:lnSpc>
              <a:spcBef>
                <a:spcPts val="1000"/>
              </a:spcBef>
              <a:spcAft>
                <a:spcPts val="0"/>
              </a:spcAft>
              <a:buClr>
                <a:schemeClr val="dk1"/>
              </a:buClr>
              <a:buSzPts val="1800"/>
              <a:buChar char="•"/>
            </a:pPr>
            <a:r>
              <a:rPr lang="en-US" dirty="0"/>
              <a:t>After fetching an instruction, the contents of the PC are updated to point to the next instruction in the sequence. </a:t>
            </a:r>
            <a:endParaRPr dirty="0"/>
          </a:p>
          <a:p>
            <a:pPr marL="228600" lvl="0" indent="-228600" algn="just" rtl="0">
              <a:lnSpc>
                <a:spcPct val="90000"/>
              </a:lnSpc>
              <a:spcBef>
                <a:spcPts val="1000"/>
              </a:spcBef>
              <a:spcAft>
                <a:spcPts val="0"/>
              </a:spcAft>
              <a:buClr>
                <a:schemeClr val="dk1"/>
              </a:buClr>
              <a:buSzPts val="1800"/>
              <a:buChar char="•"/>
            </a:pPr>
            <a:r>
              <a:rPr lang="en-US" dirty="0"/>
              <a:t>A branch instruction may load a different value into the PC. Another key register in the processor is the instruction register, IR</a:t>
            </a:r>
            <a:endParaRPr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25"/>
          <p:cNvSpPr txBox="1">
            <a:spLocks noGrp="1"/>
          </p:cNvSpPr>
          <p:nvPr>
            <p:ph type="title"/>
          </p:nvPr>
        </p:nvSpPr>
        <p:spPr>
          <a:xfrm>
            <a:off x="838200" y="365126"/>
            <a:ext cx="10515600" cy="59592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3200"/>
              <a:buFont typeface="Calibri"/>
              <a:buNone/>
            </a:pPr>
            <a:r>
              <a:rPr lang="en-US" sz="3200" b="1" dirty="0"/>
              <a:t>BASIC PROCESSING UNIT - SOME FUNDAMENTAL CONCEPT</a:t>
            </a:r>
            <a:endParaRPr sz="3200" b="1" dirty="0"/>
          </a:p>
        </p:txBody>
      </p:sp>
      <p:sp>
        <p:nvSpPr>
          <p:cNvPr id="230" name="Google Shape;230;p25"/>
          <p:cNvSpPr txBox="1">
            <a:spLocks noGrp="1"/>
          </p:cNvSpPr>
          <p:nvPr>
            <p:ph type="body" idx="1"/>
          </p:nvPr>
        </p:nvSpPr>
        <p:spPr>
          <a:xfrm>
            <a:off x="339364" y="821094"/>
            <a:ext cx="11852635" cy="5859624"/>
          </a:xfrm>
          <a:prstGeom prst="rect">
            <a:avLst/>
          </a:prstGeom>
          <a:noFill/>
          <a:ln>
            <a:noFill/>
          </a:ln>
        </p:spPr>
        <p:txBody>
          <a:bodyPr spcFirstLastPara="1" wrap="square" lIns="91425" tIns="45700" rIns="91425" bIns="45700" anchor="t" anchorCtr="0">
            <a:noAutofit/>
          </a:bodyPr>
          <a:lstStyle/>
          <a:p>
            <a:pPr marL="228600" lvl="0" indent="-228600" algn="just" rtl="0">
              <a:lnSpc>
                <a:spcPct val="90000"/>
              </a:lnSpc>
              <a:spcBef>
                <a:spcPts val="1000"/>
              </a:spcBef>
              <a:spcAft>
                <a:spcPts val="0"/>
              </a:spcAft>
              <a:buClr>
                <a:schemeClr val="dk1"/>
              </a:buClr>
              <a:buSzPts val="1800"/>
              <a:buChar char="•"/>
            </a:pPr>
            <a:r>
              <a:rPr lang="en-US" dirty="0"/>
              <a:t>Suppose that each instruction comprises 4 bytes, and that it is stored in one memory word. To execute an instruction, the processor has to perform the following three steps:</a:t>
            </a:r>
            <a:endParaRPr dirty="0"/>
          </a:p>
          <a:p>
            <a:pPr marL="514350" lvl="0" indent="-514350" algn="just" rtl="0">
              <a:lnSpc>
                <a:spcPct val="90000"/>
              </a:lnSpc>
              <a:spcBef>
                <a:spcPts val="1000"/>
              </a:spcBef>
              <a:spcAft>
                <a:spcPts val="0"/>
              </a:spcAft>
              <a:buClr>
                <a:schemeClr val="dk1"/>
              </a:buClr>
              <a:buSzPts val="1800"/>
              <a:buFont typeface="+mj-lt"/>
              <a:buAutoNum type="arabicPeriod"/>
            </a:pPr>
            <a:r>
              <a:rPr lang="en-US" dirty="0"/>
              <a:t>Fetch the contents of the memory location pointed to by the PC. The contents of this location are the instruction to be executed; hence they are loaded into the IR. In register transfer notation, the required action is IR←[[PC]] </a:t>
            </a:r>
            <a:endParaRPr dirty="0"/>
          </a:p>
          <a:p>
            <a:pPr marL="514350" lvl="0" indent="-514350" algn="just" rtl="0">
              <a:lnSpc>
                <a:spcPct val="90000"/>
              </a:lnSpc>
              <a:spcBef>
                <a:spcPts val="1000"/>
              </a:spcBef>
              <a:spcAft>
                <a:spcPts val="0"/>
              </a:spcAft>
              <a:buClr>
                <a:schemeClr val="dk1"/>
              </a:buClr>
              <a:buSzPts val="1800"/>
              <a:buFont typeface="+mj-lt"/>
              <a:buAutoNum type="arabicPeriod"/>
            </a:pPr>
            <a:r>
              <a:rPr lang="en-US" dirty="0"/>
              <a:t>Increment the PC to point to the next instruction. Assuming that the memory is byte addressable, the PC is incremented by 4; that is PC←[PC] + 4</a:t>
            </a:r>
            <a:endParaRPr dirty="0"/>
          </a:p>
          <a:p>
            <a:pPr marL="514350" lvl="0" indent="-514350" algn="just" rtl="0">
              <a:lnSpc>
                <a:spcPct val="90000"/>
              </a:lnSpc>
              <a:spcBef>
                <a:spcPts val="1000"/>
              </a:spcBef>
              <a:spcAft>
                <a:spcPts val="0"/>
              </a:spcAft>
              <a:buClr>
                <a:schemeClr val="dk1"/>
              </a:buClr>
              <a:buSzPts val="1800"/>
              <a:buFont typeface="+mj-lt"/>
              <a:buAutoNum type="arabicPeriod"/>
            </a:pPr>
            <a:r>
              <a:rPr lang="en-US" dirty="0"/>
              <a:t>Carry out the operation specified by the instruction in the IR. </a:t>
            </a:r>
          </a:p>
          <a:p>
            <a:pPr marL="228600" lvl="0" indent="-228600" algn="just" rtl="0">
              <a:lnSpc>
                <a:spcPct val="90000"/>
              </a:lnSpc>
              <a:spcBef>
                <a:spcPts val="1000"/>
              </a:spcBef>
              <a:spcAft>
                <a:spcPts val="0"/>
              </a:spcAft>
              <a:buClr>
                <a:schemeClr val="dk1"/>
              </a:buClr>
              <a:buSzPts val="1800"/>
              <a:buChar char="•"/>
            </a:pPr>
            <a:r>
              <a:rPr lang="en-US" dirty="0"/>
              <a:t>Fetching an instruction and loading it into the IR is usually referred to as the instruction fetch phase. </a:t>
            </a:r>
          </a:p>
          <a:p>
            <a:pPr marL="228600" lvl="0" indent="-228600" algn="just" rtl="0">
              <a:lnSpc>
                <a:spcPct val="90000"/>
              </a:lnSpc>
              <a:spcBef>
                <a:spcPts val="1000"/>
              </a:spcBef>
              <a:spcAft>
                <a:spcPts val="0"/>
              </a:spcAft>
              <a:buClr>
                <a:schemeClr val="dk1"/>
              </a:buClr>
              <a:buSzPts val="1800"/>
              <a:buChar char="•"/>
            </a:pPr>
            <a:r>
              <a:rPr lang="en-US" dirty="0"/>
              <a:t>Performing the operation specified in the instruction constitutes the instruction execution phase. </a:t>
            </a:r>
            <a:endParaRPr dirty="0"/>
          </a:p>
        </p:txBody>
      </p:sp>
    </p:spTree>
    <p:extLst>
      <p:ext uri="{BB962C8B-B14F-4D97-AF65-F5344CB8AC3E}">
        <p14:creationId xmlns:p14="http://schemas.microsoft.com/office/powerpoint/2010/main" val="34628604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26"/>
          <p:cNvSpPr txBox="1">
            <a:spLocks noGrp="1"/>
          </p:cNvSpPr>
          <p:nvPr>
            <p:ph type="title"/>
          </p:nvPr>
        </p:nvSpPr>
        <p:spPr>
          <a:xfrm>
            <a:off x="1093509" y="1"/>
            <a:ext cx="11098491" cy="923826"/>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ct val="100000"/>
              <a:buFont typeface="Calibri"/>
              <a:buNone/>
            </a:pPr>
            <a:r>
              <a:rPr lang="en-US" sz="3600" b="1" dirty="0"/>
              <a:t>Internal organization of Processor - Single Bus organization </a:t>
            </a:r>
            <a:endParaRPr b="1" dirty="0"/>
          </a:p>
        </p:txBody>
      </p:sp>
      <p:sp>
        <p:nvSpPr>
          <p:cNvPr id="237" name="Google Shape;237;p26"/>
          <p:cNvSpPr txBox="1"/>
          <p:nvPr/>
        </p:nvSpPr>
        <p:spPr>
          <a:xfrm flipH="1">
            <a:off x="6858000" y="4191000"/>
            <a:ext cx="1143000" cy="3698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chemeClr val="dk1"/>
              </a:buClr>
              <a:buSzPts val="1800"/>
              <a:buFont typeface="Arial"/>
              <a:buNone/>
            </a:pPr>
            <a:r>
              <a:rPr lang="en-US" sz="1800" b="0" i="0" u="none" strike="noStrike" cap="none">
                <a:solidFill>
                  <a:schemeClr val="dk1"/>
                </a:solidFill>
                <a:latin typeface="Arial"/>
                <a:ea typeface="Arial"/>
                <a:cs typeface="Arial"/>
                <a:sym typeface="Arial"/>
              </a:rPr>
              <a:t>Datapath</a:t>
            </a:r>
            <a:endParaRPr/>
          </a:p>
        </p:txBody>
      </p:sp>
      <p:pic>
        <p:nvPicPr>
          <p:cNvPr id="238" name="Google Shape;238;p26"/>
          <p:cNvPicPr preferRelativeResize="0"/>
          <p:nvPr/>
        </p:nvPicPr>
        <p:blipFill rotWithShape="1">
          <a:blip r:embed="rId3">
            <a:alphaModFix/>
          </a:blip>
          <a:srcRect/>
          <a:stretch/>
        </p:blipFill>
        <p:spPr>
          <a:xfrm>
            <a:off x="1752600" y="656050"/>
            <a:ext cx="8382000" cy="623887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27"/>
          <p:cNvSpPr txBox="1">
            <a:spLocks noGrp="1"/>
          </p:cNvSpPr>
          <p:nvPr>
            <p:ph type="title"/>
          </p:nvPr>
        </p:nvSpPr>
        <p:spPr>
          <a:xfrm>
            <a:off x="838200" y="365126"/>
            <a:ext cx="10515600" cy="31591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sz="3200" b="1" dirty="0"/>
              <a:t>Single Bus organization of Processor</a:t>
            </a:r>
            <a:endParaRPr sz="3200" b="1" dirty="0"/>
          </a:p>
        </p:txBody>
      </p:sp>
      <p:sp>
        <p:nvSpPr>
          <p:cNvPr id="244" name="Google Shape;244;p27"/>
          <p:cNvSpPr txBox="1">
            <a:spLocks noGrp="1"/>
          </p:cNvSpPr>
          <p:nvPr>
            <p:ph type="body" idx="1"/>
          </p:nvPr>
        </p:nvSpPr>
        <p:spPr>
          <a:xfrm>
            <a:off x="320511" y="980387"/>
            <a:ext cx="11033289" cy="5196575"/>
          </a:xfrm>
          <a:prstGeom prst="rect">
            <a:avLst/>
          </a:prstGeom>
          <a:noFill/>
          <a:ln>
            <a:noFill/>
          </a:ln>
        </p:spPr>
        <p:txBody>
          <a:bodyPr spcFirstLastPara="1" wrap="square" lIns="91425" tIns="45700" rIns="91425" bIns="45700" anchor="t" anchorCtr="0">
            <a:noAutofit/>
          </a:bodyPr>
          <a:lstStyle/>
          <a:p>
            <a:pPr marL="228600" lvl="0" indent="-228600" algn="just" rtl="0">
              <a:lnSpc>
                <a:spcPct val="90000"/>
              </a:lnSpc>
              <a:spcBef>
                <a:spcPts val="0"/>
              </a:spcBef>
              <a:spcAft>
                <a:spcPts val="0"/>
              </a:spcAft>
              <a:buClr>
                <a:schemeClr val="dk1"/>
              </a:buClr>
              <a:buSzPts val="1800"/>
              <a:buChar char="•"/>
            </a:pPr>
            <a:r>
              <a:rPr lang="en-US" dirty="0">
                <a:solidFill>
                  <a:srgbClr val="FF0000"/>
                </a:solidFill>
              </a:rPr>
              <a:t>ALU and all the registers are interconnected via a single common bus</a:t>
            </a:r>
            <a:endParaRPr dirty="0">
              <a:solidFill>
                <a:srgbClr val="FF0000"/>
              </a:solidFill>
            </a:endParaRPr>
          </a:p>
          <a:p>
            <a:pPr marL="228600" lvl="0" indent="-228600" algn="just" rtl="0">
              <a:lnSpc>
                <a:spcPct val="90000"/>
              </a:lnSpc>
              <a:spcBef>
                <a:spcPts val="1000"/>
              </a:spcBef>
              <a:spcAft>
                <a:spcPts val="0"/>
              </a:spcAft>
              <a:buClr>
                <a:schemeClr val="dk1"/>
              </a:buClr>
              <a:buSzPts val="1800"/>
              <a:buChar char="•"/>
            </a:pPr>
            <a:r>
              <a:rPr lang="en-US" dirty="0"/>
              <a:t>The data and address lines of the external memory bus are connected to the internal processor bus via the memory data register, MDR, and the memory address register, MAR, respectively. </a:t>
            </a:r>
            <a:endParaRPr dirty="0"/>
          </a:p>
          <a:p>
            <a:pPr marL="228600" lvl="0" indent="-228600" algn="just" rtl="0">
              <a:lnSpc>
                <a:spcPct val="90000"/>
              </a:lnSpc>
              <a:spcBef>
                <a:spcPts val="1000"/>
              </a:spcBef>
              <a:spcAft>
                <a:spcPts val="0"/>
              </a:spcAft>
              <a:buClr>
                <a:schemeClr val="dk1"/>
              </a:buClr>
              <a:buSzPts val="1800"/>
              <a:buChar char="•"/>
            </a:pPr>
            <a:r>
              <a:rPr lang="en-US" dirty="0"/>
              <a:t>Register MDR has two inputs and two outputs. </a:t>
            </a:r>
          </a:p>
          <a:p>
            <a:pPr marL="228600" lvl="0" indent="-228600" algn="just" rtl="0">
              <a:lnSpc>
                <a:spcPct val="90000"/>
              </a:lnSpc>
              <a:spcBef>
                <a:spcPts val="1000"/>
              </a:spcBef>
              <a:spcAft>
                <a:spcPts val="0"/>
              </a:spcAft>
              <a:buClr>
                <a:schemeClr val="dk1"/>
              </a:buClr>
              <a:buSzPts val="1800"/>
              <a:buChar char="•"/>
            </a:pPr>
            <a:r>
              <a:rPr lang="en-US" dirty="0">
                <a:solidFill>
                  <a:srgbClr val="FF0000"/>
                </a:solidFill>
              </a:rPr>
              <a:t>Data may be loaded into MDR either from the memory bus or from the internal processor bus</a:t>
            </a:r>
            <a:endParaRPr dirty="0">
              <a:solidFill>
                <a:srgbClr val="FF0000"/>
              </a:solidFill>
            </a:endParaRPr>
          </a:p>
          <a:p>
            <a:pPr marL="228600" lvl="0" indent="-228600" algn="just" rtl="0">
              <a:lnSpc>
                <a:spcPct val="90000"/>
              </a:lnSpc>
              <a:spcBef>
                <a:spcPts val="1000"/>
              </a:spcBef>
              <a:spcAft>
                <a:spcPts val="0"/>
              </a:spcAft>
              <a:buClr>
                <a:schemeClr val="dk1"/>
              </a:buClr>
              <a:buSzPts val="1800"/>
              <a:buChar char="•"/>
            </a:pPr>
            <a:r>
              <a:rPr lang="en-US" dirty="0"/>
              <a:t>The data stored in MDR may be placed on either bus. </a:t>
            </a:r>
          </a:p>
          <a:p>
            <a:pPr marL="228600" lvl="0" indent="-228600" algn="just" rtl="0">
              <a:lnSpc>
                <a:spcPct val="90000"/>
              </a:lnSpc>
              <a:spcBef>
                <a:spcPts val="1000"/>
              </a:spcBef>
              <a:spcAft>
                <a:spcPts val="0"/>
              </a:spcAft>
              <a:buClr>
                <a:schemeClr val="dk1"/>
              </a:buClr>
              <a:buSzPts val="1800"/>
              <a:buChar char="•"/>
            </a:pPr>
            <a:r>
              <a:rPr lang="en-US" dirty="0"/>
              <a:t>The input of MAR is connected to the internal bus, and its output is connected to the external bus. </a:t>
            </a:r>
          </a:p>
          <a:p>
            <a:pPr marL="228600" lvl="0" indent="-228600" algn="just" rtl="0">
              <a:lnSpc>
                <a:spcPct val="90000"/>
              </a:lnSpc>
              <a:spcBef>
                <a:spcPts val="1000"/>
              </a:spcBef>
              <a:spcAft>
                <a:spcPts val="0"/>
              </a:spcAft>
              <a:buClr>
                <a:schemeClr val="dk1"/>
              </a:buClr>
              <a:buSzPts val="1800"/>
              <a:buChar char="•"/>
            </a:pPr>
            <a:r>
              <a:rPr lang="en-US" dirty="0"/>
              <a:t>The control lines of the memory bus are connected to the instruction decoder and control logic block.</a:t>
            </a:r>
            <a:endParaRPr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28"/>
          <p:cNvSpPr txBox="1">
            <a:spLocks noGrp="1"/>
          </p:cNvSpPr>
          <p:nvPr>
            <p:ph type="body" idx="1"/>
          </p:nvPr>
        </p:nvSpPr>
        <p:spPr>
          <a:xfrm>
            <a:off x="339365" y="961533"/>
            <a:ext cx="11566689" cy="5215429"/>
          </a:xfrm>
          <a:prstGeom prst="rect">
            <a:avLst/>
          </a:prstGeom>
          <a:noFill/>
          <a:ln>
            <a:noFill/>
          </a:ln>
        </p:spPr>
        <p:txBody>
          <a:bodyPr spcFirstLastPara="1" wrap="square" lIns="91425" tIns="45700" rIns="91425" bIns="45700" anchor="t" anchorCtr="0">
            <a:noAutofit/>
          </a:bodyPr>
          <a:lstStyle/>
          <a:p>
            <a:pPr marL="228600" lvl="0" indent="-228600" algn="just" rtl="0">
              <a:lnSpc>
                <a:spcPct val="90000"/>
              </a:lnSpc>
              <a:spcBef>
                <a:spcPts val="1000"/>
              </a:spcBef>
              <a:spcAft>
                <a:spcPts val="0"/>
              </a:spcAft>
              <a:buClr>
                <a:schemeClr val="dk1"/>
              </a:buClr>
              <a:buSzPts val="1800"/>
              <a:buChar char="•"/>
            </a:pPr>
            <a:r>
              <a:rPr lang="en-US" dirty="0"/>
              <a:t>Three registers Y, Z, and TEMP registers are used by the processor for temporary storage during execution of some instructions. </a:t>
            </a:r>
          </a:p>
          <a:p>
            <a:pPr marL="228600" lvl="0" indent="-228600" algn="just" rtl="0">
              <a:lnSpc>
                <a:spcPct val="90000"/>
              </a:lnSpc>
              <a:spcBef>
                <a:spcPts val="1000"/>
              </a:spcBef>
              <a:spcAft>
                <a:spcPts val="0"/>
              </a:spcAft>
              <a:buClr>
                <a:schemeClr val="dk1"/>
              </a:buClr>
              <a:buSzPts val="1800"/>
              <a:buChar char="•"/>
            </a:pPr>
            <a:r>
              <a:rPr lang="en-US" dirty="0"/>
              <a:t>The multiplexer MUX selects either the output of register Y or a constant value 4 to be provided as input A of the ALU. </a:t>
            </a:r>
          </a:p>
          <a:p>
            <a:pPr marL="228600" lvl="0" indent="-228600" algn="just" rtl="0">
              <a:lnSpc>
                <a:spcPct val="90000"/>
              </a:lnSpc>
              <a:spcBef>
                <a:spcPts val="1000"/>
              </a:spcBef>
              <a:spcAft>
                <a:spcPts val="0"/>
              </a:spcAft>
              <a:buClr>
                <a:schemeClr val="dk1"/>
              </a:buClr>
              <a:buSzPts val="1800"/>
              <a:buChar char="•"/>
            </a:pPr>
            <a:r>
              <a:rPr lang="en-US" dirty="0"/>
              <a:t>The constant 4 is used to increment the contents of the program counter</a:t>
            </a:r>
          </a:p>
          <a:p>
            <a:pPr marL="228600" lvl="0" indent="-228600" algn="just" rtl="0">
              <a:lnSpc>
                <a:spcPct val="90000"/>
              </a:lnSpc>
              <a:spcBef>
                <a:spcPts val="0"/>
              </a:spcBef>
              <a:spcAft>
                <a:spcPts val="0"/>
              </a:spcAft>
              <a:buClr>
                <a:schemeClr val="dk1"/>
              </a:buClr>
              <a:buSzPts val="1800"/>
              <a:buChar char="•"/>
            </a:pPr>
            <a:r>
              <a:rPr lang="en-US" dirty="0"/>
              <a:t>With few exceptions, an instruction can be executed by performing one or more of the following operations in some specified sequence: </a:t>
            </a:r>
            <a:endParaRPr dirty="0"/>
          </a:p>
          <a:p>
            <a:pPr marL="971550" lvl="1" indent="-514350" algn="just">
              <a:spcBef>
                <a:spcPts val="1000"/>
              </a:spcBef>
              <a:buFont typeface="+mj-lt"/>
              <a:buAutoNum type="arabicPeriod"/>
            </a:pPr>
            <a:r>
              <a:rPr lang="en-US" dirty="0"/>
              <a:t>Transfer a word of data from one processor register to another or to the ALU </a:t>
            </a:r>
            <a:endParaRPr dirty="0"/>
          </a:p>
          <a:p>
            <a:pPr marL="971550" lvl="1" indent="-514350" algn="just">
              <a:spcBef>
                <a:spcPts val="1000"/>
              </a:spcBef>
              <a:buFont typeface="+mj-lt"/>
              <a:buAutoNum type="arabicPeriod"/>
            </a:pPr>
            <a:r>
              <a:rPr lang="en-US" dirty="0"/>
              <a:t>Perform an arithmetic or a logic operation and store the result in a processor register </a:t>
            </a:r>
            <a:endParaRPr dirty="0"/>
          </a:p>
          <a:p>
            <a:pPr marL="971550" lvl="1" indent="-514350" algn="just">
              <a:spcBef>
                <a:spcPts val="1000"/>
              </a:spcBef>
              <a:buFont typeface="+mj-lt"/>
              <a:buAutoNum type="arabicPeriod"/>
            </a:pPr>
            <a:r>
              <a:rPr lang="en-US" dirty="0"/>
              <a:t>Fetch the contents of a given memory location and load them into a processor register </a:t>
            </a:r>
            <a:endParaRPr dirty="0"/>
          </a:p>
          <a:p>
            <a:pPr marL="971550" lvl="1" indent="-514350" algn="just">
              <a:spcBef>
                <a:spcPts val="1000"/>
              </a:spcBef>
              <a:buFont typeface="+mj-lt"/>
              <a:buAutoNum type="arabicPeriod"/>
            </a:pPr>
            <a:r>
              <a:rPr lang="en-US" dirty="0"/>
              <a:t>Store a word of data from a processor register into a given memory location </a:t>
            </a:r>
            <a:endParaRPr dirty="0"/>
          </a:p>
          <a:p>
            <a:pPr marL="228600" lvl="0" indent="-114300" algn="just" rtl="0">
              <a:lnSpc>
                <a:spcPct val="90000"/>
              </a:lnSpc>
              <a:spcBef>
                <a:spcPts val="1000"/>
              </a:spcBef>
              <a:spcAft>
                <a:spcPts val="0"/>
              </a:spcAft>
              <a:buClr>
                <a:schemeClr val="dk1"/>
              </a:buClr>
              <a:buSzPts val="1800"/>
              <a:buNone/>
            </a:pPr>
            <a:endParaRPr dirty="0"/>
          </a:p>
        </p:txBody>
      </p:sp>
      <p:sp>
        <p:nvSpPr>
          <p:cNvPr id="2" name="Google Shape;243;p27">
            <a:extLst>
              <a:ext uri="{FF2B5EF4-FFF2-40B4-BE49-F238E27FC236}">
                <a16:creationId xmlns:a16="http://schemas.microsoft.com/office/drawing/2014/main" id="{ADB95689-C849-6791-DFC9-456435714E23}"/>
              </a:ext>
            </a:extLst>
          </p:cNvPr>
          <p:cNvSpPr txBox="1">
            <a:spLocks noGrp="1"/>
          </p:cNvSpPr>
          <p:nvPr>
            <p:ph type="title"/>
          </p:nvPr>
        </p:nvSpPr>
        <p:spPr>
          <a:xfrm>
            <a:off x="838200" y="365126"/>
            <a:ext cx="10515600" cy="315912"/>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chemeClr val="dk1"/>
              </a:buClr>
              <a:buSzPts val="4400"/>
              <a:buFont typeface="Calibri"/>
              <a:buNone/>
            </a:pPr>
            <a:r>
              <a:rPr lang="en-US" sz="3200" b="1" dirty="0"/>
              <a:t>Single Bus organization of Processor</a:t>
            </a:r>
            <a:endParaRPr sz="3200" b="1"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29"/>
          <p:cNvSpPr txBox="1">
            <a:spLocks noGrp="1"/>
          </p:cNvSpPr>
          <p:nvPr>
            <p:ph type="title"/>
          </p:nvPr>
        </p:nvSpPr>
        <p:spPr>
          <a:xfrm>
            <a:off x="517688" y="138883"/>
            <a:ext cx="10515600" cy="47463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00000"/>
              </a:buClr>
              <a:buSzPts val="1800"/>
              <a:buFont typeface="Times New Roman"/>
              <a:buNone/>
            </a:pPr>
            <a:r>
              <a:rPr lang="en-US" sz="3200" b="1" i="1" u="none" strike="noStrike" dirty="0">
                <a:solidFill>
                  <a:srgbClr val="000000"/>
                </a:solidFill>
                <a:latin typeface="Times New Roman"/>
                <a:ea typeface="Times New Roman"/>
                <a:cs typeface="Times New Roman"/>
                <a:sym typeface="Times New Roman"/>
              </a:rPr>
              <a:t>Register Transfers </a:t>
            </a:r>
            <a:endParaRPr sz="3200" dirty="0"/>
          </a:p>
        </p:txBody>
      </p:sp>
      <p:sp>
        <p:nvSpPr>
          <p:cNvPr id="255" name="Google Shape;255;p29"/>
          <p:cNvSpPr txBox="1">
            <a:spLocks noGrp="1"/>
          </p:cNvSpPr>
          <p:nvPr>
            <p:ph type="body" idx="1"/>
          </p:nvPr>
        </p:nvSpPr>
        <p:spPr>
          <a:xfrm>
            <a:off x="207391" y="839756"/>
            <a:ext cx="6928700" cy="5337207"/>
          </a:xfrm>
          <a:prstGeom prst="rect">
            <a:avLst/>
          </a:prstGeom>
          <a:noFill/>
          <a:ln>
            <a:noFill/>
          </a:ln>
        </p:spPr>
        <p:txBody>
          <a:bodyPr spcFirstLastPara="1" wrap="square" lIns="91425" tIns="45700" rIns="91425" bIns="45700" anchor="t" anchorCtr="0">
            <a:noAutofit/>
          </a:bodyPr>
          <a:lstStyle/>
          <a:p>
            <a:pPr marL="228600" lvl="0" indent="-228600" algn="just" rtl="0">
              <a:lnSpc>
                <a:spcPct val="90000"/>
              </a:lnSpc>
              <a:spcBef>
                <a:spcPts val="0"/>
              </a:spcBef>
              <a:spcAft>
                <a:spcPts val="0"/>
              </a:spcAft>
              <a:buClr>
                <a:srgbClr val="000000"/>
              </a:buClr>
              <a:buSzPts val="1800"/>
              <a:buChar char="•"/>
            </a:pPr>
            <a:r>
              <a:rPr lang="en-US" b="0" i="0" u="none" strike="noStrike" dirty="0">
                <a:solidFill>
                  <a:srgbClr val="000000"/>
                </a:solidFill>
                <a:latin typeface="Times New Roman"/>
                <a:ea typeface="Times New Roman"/>
                <a:cs typeface="Times New Roman"/>
                <a:sym typeface="Times New Roman"/>
              </a:rPr>
              <a:t>Instruction execution involves a sequence of steps in which data are transferred from one register to another.</a:t>
            </a:r>
            <a:endParaRPr dirty="0"/>
          </a:p>
          <a:p>
            <a:pPr marL="228600" lvl="0" indent="-228600" algn="just" rtl="0">
              <a:lnSpc>
                <a:spcPct val="90000"/>
              </a:lnSpc>
              <a:spcBef>
                <a:spcPts val="1000"/>
              </a:spcBef>
              <a:spcAft>
                <a:spcPts val="0"/>
              </a:spcAft>
              <a:buClr>
                <a:srgbClr val="000000"/>
              </a:buClr>
              <a:buSzPts val="1800"/>
              <a:buChar char="•"/>
            </a:pPr>
            <a:r>
              <a:rPr lang="en-US" b="0" i="0" u="none" strike="noStrike" dirty="0">
                <a:solidFill>
                  <a:srgbClr val="000000"/>
                </a:solidFill>
                <a:latin typeface="Times New Roman"/>
                <a:ea typeface="Times New Roman"/>
                <a:cs typeface="Times New Roman"/>
                <a:sym typeface="Times New Roman"/>
              </a:rPr>
              <a:t>The input and output of register Ri are connected to the bus via switches controlled by the signals </a:t>
            </a:r>
            <a:r>
              <a:rPr lang="en-US" b="0" i="0" u="none" strike="noStrike" dirty="0" err="1">
                <a:solidFill>
                  <a:srgbClr val="000000"/>
                </a:solidFill>
                <a:latin typeface="Times New Roman"/>
                <a:ea typeface="Times New Roman"/>
                <a:cs typeface="Times New Roman"/>
                <a:sym typeface="Times New Roman"/>
              </a:rPr>
              <a:t>Ri</a:t>
            </a:r>
            <a:r>
              <a:rPr lang="en-US" b="0" i="0" u="none" strike="noStrike" baseline="-25000" dirty="0" err="1">
                <a:solidFill>
                  <a:srgbClr val="000000"/>
                </a:solidFill>
                <a:latin typeface="Times New Roman"/>
                <a:ea typeface="Times New Roman"/>
                <a:cs typeface="Times New Roman"/>
                <a:sym typeface="Times New Roman"/>
              </a:rPr>
              <a:t>in</a:t>
            </a:r>
            <a:r>
              <a:rPr lang="en-US" b="0" i="0" u="none" strike="noStrike" baseline="-25000" dirty="0">
                <a:solidFill>
                  <a:srgbClr val="000000"/>
                </a:solidFill>
                <a:latin typeface="Times New Roman"/>
                <a:ea typeface="Times New Roman"/>
                <a:cs typeface="Times New Roman"/>
                <a:sym typeface="Times New Roman"/>
              </a:rPr>
              <a:t> </a:t>
            </a:r>
            <a:r>
              <a:rPr lang="en-US" b="0" i="0" u="none" strike="noStrike" dirty="0">
                <a:solidFill>
                  <a:srgbClr val="000000"/>
                </a:solidFill>
                <a:latin typeface="Times New Roman"/>
                <a:ea typeface="Times New Roman"/>
                <a:cs typeface="Times New Roman"/>
                <a:sym typeface="Times New Roman"/>
              </a:rPr>
              <a:t>and Ri </a:t>
            </a:r>
            <a:r>
              <a:rPr lang="en-US" b="0" i="0" u="none" strike="noStrike" baseline="-25000" dirty="0">
                <a:solidFill>
                  <a:srgbClr val="000000"/>
                </a:solidFill>
                <a:latin typeface="Times New Roman"/>
                <a:ea typeface="Times New Roman"/>
                <a:cs typeface="Times New Roman"/>
                <a:sym typeface="Times New Roman"/>
              </a:rPr>
              <a:t>out</a:t>
            </a:r>
            <a:r>
              <a:rPr lang="en-US" b="0" i="0" u="none" strike="noStrike" dirty="0">
                <a:solidFill>
                  <a:srgbClr val="000000"/>
                </a:solidFill>
                <a:latin typeface="Times New Roman"/>
                <a:ea typeface="Times New Roman"/>
                <a:cs typeface="Times New Roman"/>
                <a:sym typeface="Times New Roman"/>
              </a:rPr>
              <a:t>, respectively. </a:t>
            </a:r>
            <a:endParaRPr dirty="0"/>
          </a:p>
          <a:p>
            <a:pPr marL="228600" lvl="0" indent="-228600" algn="just" rtl="0">
              <a:lnSpc>
                <a:spcPct val="90000"/>
              </a:lnSpc>
              <a:spcBef>
                <a:spcPts val="1000"/>
              </a:spcBef>
              <a:spcAft>
                <a:spcPts val="0"/>
              </a:spcAft>
              <a:buClr>
                <a:srgbClr val="000000"/>
              </a:buClr>
              <a:buSzPts val="1800"/>
              <a:buChar char="•"/>
            </a:pPr>
            <a:r>
              <a:rPr lang="en-US" b="0" i="0" u="none" strike="noStrike" dirty="0">
                <a:solidFill>
                  <a:srgbClr val="000000"/>
                </a:solidFill>
                <a:latin typeface="Times New Roman"/>
                <a:ea typeface="Times New Roman"/>
                <a:cs typeface="Times New Roman"/>
                <a:sym typeface="Times New Roman"/>
              </a:rPr>
              <a:t>When Ri </a:t>
            </a:r>
            <a:r>
              <a:rPr lang="en-US" b="0" i="0" u="none" strike="noStrike" baseline="-25000" dirty="0">
                <a:solidFill>
                  <a:srgbClr val="000000"/>
                </a:solidFill>
                <a:latin typeface="Times New Roman"/>
                <a:ea typeface="Times New Roman"/>
                <a:cs typeface="Times New Roman"/>
                <a:sym typeface="Times New Roman"/>
              </a:rPr>
              <a:t>in</a:t>
            </a:r>
            <a:r>
              <a:rPr lang="en-US" b="0" i="0" u="none" strike="noStrike" dirty="0">
                <a:solidFill>
                  <a:srgbClr val="000000"/>
                </a:solidFill>
                <a:latin typeface="Times New Roman"/>
                <a:ea typeface="Times New Roman"/>
                <a:cs typeface="Times New Roman"/>
                <a:sym typeface="Times New Roman"/>
              </a:rPr>
              <a:t> is set to 1, the data on the bus are loaded into Ri. Similarly, when Ri </a:t>
            </a:r>
            <a:r>
              <a:rPr lang="en-US" b="0" i="0" u="none" strike="noStrike" baseline="-25000" dirty="0">
                <a:solidFill>
                  <a:srgbClr val="000000"/>
                </a:solidFill>
                <a:latin typeface="Times New Roman"/>
                <a:ea typeface="Times New Roman"/>
                <a:cs typeface="Times New Roman"/>
                <a:sym typeface="Times New Roman"/>
              </a:rPr>
              <a:t>out</a:t>
            </a:r>
            <a:r>
              <a:rPr lang="en-US" b="0" i="0" u="none" strike="noStrike" dirty="0">
                <a:solidFill>
                  <a:srgbClr val="000000"/>
                </a:solidFill>
                <a:latin typeface="Times New Roman"/>
                <a:ea typeface="Times New Roman"/>
                <a:cs typeface="Times New Roman"/>
                <a:sym typeface="Times New Roman"/>
              </a:rPr>
              <a:t>, is set to 1, the contents of register Ri are placed on the bus. </a:t>
            </a:r>
            <a:endParaRPr dirty="0"/>
          </a:p>
          <a:p>
            <a:pPr marL="228600" lvl="0" indent="-228600" algn="just" rtl="0">
              <a:lnSpc>
                <a:spcPct val="90000"/>
              </a:lnSpc>
              <a:spcBef>
                <a:spcPts val="1000"/>
              </a:spcBef>
              <a:spcAft>
                <a:spcPts val="0"/>
              </a:spcAft>
              <a:buClr>
                <a:srgbClr val="000000"/>
              </a:buClr>
              <a:buSzPts val="1800"/>
              <a:buChar char="•"/>
            </a:pPr>
            <a:r>
              <a:rPr lang="en-US" b="0" i="0" u="none" strike="noStrike" dirty="0">
                <a:solidFill>
                  <a:srgbClr val="000000"/>
                </a:solidFill>
                <a:latin typeface="Times New Roman"/>
                <a:ea typeface="Times New Roman"/>
                <a:cs typeface="Times New Roman"/>
                <a:sym typeface="Times New Roman"/>
              </a:rPr>
              <a:t>While Ri </a:t>
            </a:r>
            <a:r>
              <a:rPr lang="en-US" b="0" i="0" u="none" strike="noStrike" baseline="-25000" dirty="0">
                <a:solidFill>
                  <a:srgbClr val="000000"/>
                </a:solidFill>
                <a:latin typeface="Times New Roman"/>
                <a:ea typeface="Times New Roman"/>
                <a:cs typeface="Times New Roman"/>
                <a:sym typeface="Times New Roman"/>
              </a:rPr>
              <a:t>out</a:t>
            </a:r>
            <a:r>
              <a:rPr lang="en-US" b="0" i="0" u="none" strike="noStrike" dirty="0">
                <a:solidFill>
                  <a:srgbClr val="000000"/>
                </a:solidFill>
                <a:latin typeface="Times New Roman"/>
                <a:ea typeface="Times New Roman"/>
                <a:cs typeface="Times New Roman"/>
                <a:sym typeface="Times New Roman"/>
              </a:rPr>
              <a:t> is equal to 0, the bus can be used for transferring data from other registers. </a:t>
            </a:r>
            <a:endParaRPr dirty="0"/>
          </a:p>
        </p:txBody>
      </p:sp>
      <p:pic>
        <p:nvPicPr>
          <p:cNvPr id="256" name="Google Shape;256;p29"/>
          <p:cNvPicPr preferRelativeResize="0"/>
          <p:nvPr/>
        </p:nvPicPr>
        <p:blipFill rotWithShape="1">
          <a:blip r:embed="rId3">
            <a:alphaModFix/>
          </a:blip>
          <a:srcRect/>
          <a:stretch/>
        </p:blipFill>
        <p:spPr>
          <a:xfrm>
            <a:off x="7739406" y="1084083"/>
            <a:ext cx="4452593" cy="3902697"/>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30"/>
          <p:cNvSpPr txBox="1">
            <a:spLocks noGrp="1"/>
          </p:cNvSpPr>
          <p:nvPr>
            <p:ph type="title"/>
          </p:nvPr>
        </p:nvSpPr>
        <p:spPr>
          <a:xfrm>
            <a:off x="292231" y="365125"/>
            <a:ext cx="11061569" cy="60525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0000"/>
              </a:buClr>
              <a:buSzPts val="1800"/>
              <a:buFont typeface="Times New Roman"/>
              <a:buNone/>
            </a:pPr>
            <a:r>
              <a:rPr lang="en-US" sz="2800" b="1" i="1" u="none" strike="noStrike" dirty="0">
                <a:solidFill>
                  <a:srgbClr val="000000"/>
                </a:solidFill>
                <a:latin typeface="Times New Roman"/>
                <a:ea typeface="Times New Roman"/>
                <a:cs typeface="Times New Roman"/>
                <a:sym typeface="Times New Roman"/>
              </a:rPr>
              <a:t>Performing an Arithmetic or Logic Operation </a:t>
            </a:r>
            <a:endParaRPr sz="2800" dirty="0"/>
          </a:p>
        </p:txBody>
      </p:sp>
      <p:sp>
        <p:nvSpPr>
          <p:cNvPr id="262" name="Google Shape;262;p30"/>
          <p:cNvSpPr txBox="1">
            <a:spLocks noGrp="1"/>
          </p:cNvSpPr>
          <p:nvPr>
            <p:ph type="body" idx="1"/>
          </p:nvPr>
        </p:nvSpPr>
        <p:spPr>
          <a:xfrm>
            <a:off x="292231" y="1216058"/>
            <a:ext cx="7494309" cy="4960905"/>
          </a:xfrm>
          <a:prstGeom prst="rect">
            <a:avLst/>
          </a:prstGeom>
          <a:noFill/>
          <a:ln>
            <a:noFill/>
          </a:ln>
        </p:spPr>
        <p:txBody>
          <a:bodyPr spcFirstLastPara="1" wrap="square" lIns="91425" tIns="45700" rIns="91425" bIns="45700" anchor="t" anchorCtr="0">
            <a:normAutofit fontScale="92500" lnSpcReduction="20000"/>
          </a:bodyPr>
          <a:lstStyle/>
          <a:p>
            <a:pPr marL="495300" indent="-495300" algn="just"/>
            <a:r>
              <a:rPr lang="en-US" altLang="en-US" sz="2800" dirty="0">
                <a:latin typeface="Times New Roman" panose="02020603050405020304" pitchFamily="18" charset="0"/>
                <a:cs typeface="Times New Roman" panose="02020603050405020304" pitchFamily="18" charset="0"/>
              </a:rPr>
              <a:t>The ALU is a combinational circuit that has no internal storage.</a:t>
            </a:r>
          </a:p>
          <a:p>
            <a:pPr marL="495300" indent="-495300" algn="just"/>
            <a:r>
              <a:rPr lang="en-US" altLang="en-US" sz="2800" dirty="0">
                <a:latin typeface="Times New Roman" panose="02020603050405020304" pitchFamily="18" charset="0"/>
                <a:cs typeface="Times New Roman" panose="02020603050405020304" pitchFamily="18" charset="0"/>
              </a:rPr>
              <a:t>It performs operation on the two operands applied to it on A and B </a:t>
            </a:r>
            <a:r>
              <a:rPr lang="en-US" altLang="en-US" sz="2800" dirty="0" err="1">
                <a:latin typeface="Times New Roman" panose="02020603050405020304" pitchFamily="18" charset="0"/>
                <a:cs typeface="Times New Roman" panose="02020603050405020304" pitchFamily="18" charset="0"/>
              </a:rPr>
              <a:t>i</a:t>
            </a:r>
            <a:r>
              <a:rPr lang="en-US" altLang="en-US" sz="2800" dirty="0">
                <a:latin typeface="Times New Roman" panose="02020603050405020304" pitchFamily="18" charset="0"/>
                <a:cs typeface="Times New Roman" panose="02020603050405020304" pitchFamily="18" charset="0"/>
              </a:rPr>
              <a:t>/ps.</a:t>
            </a:r>
          </a:p>
          <a:p>
            <a:pPr marL="495300" indent="-495300" algn="just"/>
            <a:r>
              <a:rPr lang="en-US" altLang="en-US" sz="2800" dirty="0">
                <a:latin typeface="Times New Roman" panose="02020603050405020304" pitchFamily="18" charset="0"/>
                <a:cs typeface="Times New Roman" panose="02020603050405020304" pitchFamily="18" charset="0"/>
              </a:rPr>
              <a:t>ALU gets the two operands from o/p of the MUX and directly from the bus. </a:t>
            </a:r>
          </a:p>
          <a:p>
            <a:pPr marL="495300" indent="-495300" algn="just"/>
            <a:r>
              <a:rPr lang="en-US" altLang="en-US" sz="2800" dirty="0">
                <a:latin typeface="Times New Roman" panose="02020603050405020304" pitchFamily="18" charset="0"/>
                <a:cs typeface="Times New Roman" panose="02020603050405020304" pitchFamily="18" charset="0"/>
              </a:rPr>
              <a:t>The result is temporarily stored in register Z</a:t>
            </a:r>
          </a:p>
          <a:p>
            <a:pPr marL="495300" indent="-495300" algn="just"/>
            <a:r>
              <a:rPr lang="en-US" b="0" i="0" u="none" strike="noStrike" dirty="0">
                <a:solidFill>
                  <a:srgbClr val="000000"/>
                </a:solidFill>
                <a:latin typeface="Times New Roman"/>
                <a:ea typeface="Times New Roman"/>
                <a:cs typeface="Times New Roman"/>
                <a:sym typeface="Times New Roman"/>
              </a:rPr>
              <a:t>The sequence of operations for the instruction   Add R1,R2,R3 </a:t>
            </a:r>
            <a:endParaRPr dirty="0"/>
          </a:p>
          <a:p>
            <a:pPr marL="228600" lvl="0" indent="-114300" algn="l" rtl="0">
              <a:lnSpc>
                <a:spcPct val="90000"/>
              </a:lnSpc>
              <a:spcBef>
                <a:spcPts val="1000"/>
              </a:spcBef>
              <a:spcAft>
                <a:spcPts val="0"/>
              </a:spcAft>
              <a:buClr>
                <a:schemeClr val="dk1"/>
              </a:buClr>
              <a:buSzPts val="1800"/>
              <a:buNone/>
            </a:pPr>
            <a:endParaRPr b="0" i="0" u="none" strike="noStrike" dirty="0">
              <a:solidFill>
                <a:srgbClr val="000000"/>
              </a:solidFill>
              <a:latin typeface="Times New Roman"/>
              <a:ea typeface="Times New Roman"/>
              <a:cs typeface="Times New Roman"/>
              <a:sym typeface="Times New Roman"/>
            </a:endParaRPr>
          </a:p>
          <a:p>
            <a:pPr marL="0" lvl="0" indent="0" algn="l" rtl="0">
              <a:lnSpc>
                <a:spcPct val="90000"/>
              </a:lnSpc>
              <a:spcBef>
                <a:spcPts val="1000"/>
              </a:spcBef>
              <a:spcAft>
                <a:spcPts val="0"/>
              </a:spcAft>
              <a:buClr>
                <a:srgbClr val="000000"/>
              </a:buClr>
              <a:buSzPts val="1800"/>
              <a:buNone/>
            </a:pPr>
            <a:r>
              <a:rPr lang="en-US" b="0" i="0" u="none" strike="noStrike" dirty="0">
                <a:solidFill>
                  <a:srgbClr val="000000"/>
                </a:solidFill>
                <a:latin typeface="Times New Roman"/>
                <a:ea typeface="Times New Roman"/>
                <a:cs typeface="Times New Roman"/>
                <a:sym typeface="Times New Roman"/>
              </a:rPr>
              <a:t>1. R1</a:t>
            </a:r>
            <a:r>
              <a:rPr lang="en-US" b="0" i="0" u="none" strike="noStrike" baseline="-25000" dirty="0">
                <a:solidFill>
                  <a:srgbClr val="000000"/>
                </a:solidFill>
                <a:latin typeface="Times New Roman"/>
                <a:ea typeface="Times New Roman"/>
                <a:cs typeface="Times New Roman"/>
                <a:sym typeface="Times New Roman"/>
              </a:rPr>
              <a:t>out</a:t>
            </a:r>
            <a:r>
              <a:rPr lang="en-US" b="0" i="0" u="none" strike="noStrike" dirty="0">
                <a:solidFill>
                  <a:srgbClr val="000000"/>
                </a:solidFill>
                <a:latin typeface="Times New Roman"/>
                <a:ea typeface="Times New Roman"/>
                <a:cs typeface="Times New Roman"/>
                <a:sym typeface="Times New Roman"/>
              </a:rPr>
              <a:t>, Y</a:t>
            </a:r>
            <a:r>
              <a:rPr lang="en-US" b="0" i="0" u="none" strike="noStrike" baseline="-25000" dirty="0">
                <a:solidFill>
                  <a:srgbClr val="000000"/>
                </a:solidFill>
                <a:latin typeface="Times New Roman"/>
                <a:ea typeface="Times New Roman"/>
                <a:cs typeface="Times New Roman"/>
                <a:sym typeface="Times New Roman"/>
              </a:rPr>
              <a:t>in</a:t>
            </a:r>
            <a:r>
              <a:rPr lang="en-US" b="0" i="0" u="none" strike="noStrike" dirty="0">
                <a:solidFill>
                  <a:srgbClr val="000000"/>
                </a:solidFill>
                <a:latin typeface="Times New Roman"/>
                <a:ea typeface="Times New Roman"/>
                <a:cs typeface="Times New Roman"/>
                <a:sym typeface="Times New Roman"/>
              </a:rPr>
              <a:t> </a:t>
            </a:r>
            <a:endParaRPr dirty="0"/>
          </a:p>
          <a:p>
            <a:pPr marL="0" lvl="0" indent="0" algn="l" rtl="0">
              <a:lnSpc>
                <a:spcPct val="90000"/>
              </a:lnSpc>
              <a:spcBef>
                <a:spcPts val="1000"/>
              </a:spcBef>
              <a:spcAft>
                <a:spcPts val="0"/>
              </a:spcAft>
              <a:buClr>
                <a:srgbClr val="000000"/>
              </a:buClr>
              <a:buSzPts val="1800"/>
              <a:buNone/>
            </a:pPr>
            <a:r>
              <a:rPr lang="en-US" b="0" i="0" u="none" strike="noStrike" dirty="0">
                <a:solidFill>
                  <a:srgbClr val="000000"/>
                </a:solidFill>
                <a:latin typeface="Times New Roman"/>
                <a:ea typeface="Times New Roman"/>
                <a:cs typeface="Times New Roman"/>
                <a:sym typeface="Times New Roman"/>
              </a:rPr>
              <a:t>2. R2</a:t>
            </a:r>
            <a:r>
              <a:rPr lang="en-US" b="0" i="0" u="none" strike="noStrike" baseline="-25000" dirty="0">
                <a:solidFill>
                  <a:srgbClr val="000000"/>
                </a:solidFill>
                <a:latin typeface="Times New Roman"/>
                <a:ea typeface="Times New Roman"/>
                <a:cs typeface="Times New Roman"/>
                <a:sym typeface="Times New Roman"/>
              </a:rPr>
              <a:t>out</a:t>
            </a:r>
            <a:r>
              <a:rPr lang="en-US" b="0" i="0" u="none" strike="noStrike" dirty="0">
                <a:solidFill>
                  <a:srgbClr val="000000"/>
                </a:solidFill>
                <a:latin typeface="Times New Roman"/>
                <a:ea typeface="Times New Roman"/>
                <a:cs typeface="Times New Roman"/>
                <a:sym typeface="Times New Roman"/>
              </a:rPr>
              <a:t>, Select Y, Add, Z</a:t>
            </a:r>
            <a:r>
              <a:rPr lang="en-US" b="0" i="0" u="none" strike="noStrike" baseline="-25000" dirty="0">
                <a:solidFill>
                  <a:srgbClr val="000000"/>
                </a:solidFill>
                <a:latin typeface="Times New Roman"/>
                <a:ea typeface="Times New Roman"/>
                <a:cs typeface="Times New Roman"/>
                <a:sym typeface="Times New Roman"/>
              </a:rPr>
              <a:t>in</a:t>
            </a:r>
            <a:r>
              <a:rPr lang="en-US" b="0" i="0" u="none" strike="noStrike" dirty="0">
                <a:solidFill>
                  <a:srgbClr val="000000"/>
                </a:solidFill>
                <a:latin typeface="Times New Roman"/>
                <a:ea typeface="Times New Roman"/>
                <a:cs typeface="Times New Roman"/>
                <a:sym typeface="Times New Roman"/>
              </a:rPr>
              <a:t> </a:t>
            </a:r>
            <a:endParaRPr dirty="0"/>
          </a:p>
          <a:p>
            <a:pPr marL="0" lvl="0" indent="0" algn="l" rtl="0">
              <a:lnSpc>
                <a:spcPct val="90000"/>
              </a:lnSpc>
              <a:spcBef>
                <a:spcPts val="1000"/>
              </a:spcBef>
              <a:spcAft>
                <a:spcPts val="0"/>
              </a:spcAft>
              <a:buClr>
                <a:srgbClr val="000000"/>
              </a:buClr>
              <a:buSzPts val="1800"/>
              <a:buNone/>
            </a:pPr>
            <a:r>
              <a:rPr lang="en-US" b="0" i="0" u="none" strike="noStrike" dirty="0">
                <a:solidFill>
                  <a:srgbClr val="000000"/>
                </a:solidFill>
                <a:latin typeface="Times New Roman"/>
                <a:ea typeface="Times New Roman"/>
                <a:cs typeface="Times New Roman"/>
                <a:sym typeface="Times New Roman"/>
              </a:rPr>
              <a:t>3. </a:t>
            </a:r>
            <a:r>
              <a:rPr lang="en-US" b="0" i="0" u="none" strike="noStrike" dirty="0" err="1">
                <a:solidFill>
                  <a:srgbClr val="000000"/>
                </a:solidFill>
                <a:latin typeface="Times New Roman"/>
                <a:ea typeface="Times New Roman"/>
                <a:cs typeface="Times New Roman"/>
                <a:sym typeface="Times New Roman"/>
              </a:rPr>
              <a:t>Z</a:t>
            </a:r>
            <a:r>
              <a:rPr lang="en-US" b="0" i="0" u="none" strike="noStrike" baseline="-25000" dirty="0" err="1">
                <a:solidFill>
                  <a:srgbClr val="000000"/>
                </a:solidFill>
                <a:latin typeface="Times New Roman"/>
                <a:ea typeface="Times New Roman"/>
                <a:cs typeface="Times New Roman"/>
                <a:sym typeface="Times New Roman"/>
              </a:rPr>
              <a:t>out</a:t>
            </a:r>
            <a:r>
              <a:rPr lang="en-US" b="0" i="0" u="none" strike="noStrike" dirty="0">
                <a:solidFill>
                  <a:srgbClr val="000000"/>
                </a:solidFill>
                <a:latin typeface="Times New Roman"/>
                <a:ea typeface="Times New Roman"/>
                <a:cs typeface="Times New Roman"/>
                <a:sym typeface="Times New Roman"/>
              </a:rPr>
              <a:t> R3</a:t>
            </a:r>
            <a:r>
              <a:rPr lang="en-US" b="0" i="0" u="none" strike="noStrike" baseline="-25000" dirty="0">
                <a:solidFill>
                  <a:srgbClr val="000000"/>
                </a:solidFill>
                <a:latin typeface="Times New Roman"/>
                <a:ea typeface="Times New Roman"/>
                <a:cs typeface="Times New Roman"/>
                <a:sym typeface="Times New Roman"/>
              </a:rPr>
              <a:t>in</a:t>
            </a:r>
            <a:r>
              <a:rPr lang="en-US" b="0" i="0" u="none" strike="noStrike" dirty="0">
                <a:solidFill>
                  <a:srgbClr val="000000"/>
                </a:solidFill>
                <a:latin typeface="Times New Roman"/>
                <a:ea typeface="Times New Roman"/>
                <a:cs typeface="Times New Roman"/>
                <a:sym typeface="Times New Roman"/>
              </a:rPr>
              <a:t> </a:t>
            </a:r>
            <a:endParaRPr dirty="0"/>
          </a:p>
          <a:p>
            <a:pPr marL="0" lvl="0" indent="0" algn="l" rtl="0">
              <a:lnSpc>
                <a:spcPct val="90000"/>
              </a:lnSpc>
              <a:spcBef>
                <a:spcPts val="1000"/>
              </a:spcBef>
              <a:spcAft>
                <a:spcPts val="0"/>
              </a:spcAft>
              <a:buClr>
                <a:schemeClr val="dk1"/>
              </a:buClr>
              <a:buSzPts val="1800"/>
              <a:buNone/>
            </a:pPr>
            <a:endParaRPr b="0" i="0" u="none" strike="noStrike" dirty="0">
              <a:solidFill>
                <a:srgbClr val="000000"/>
              </a:solidFill>
              <a:latin typeface="Times New Roman"/>
              <a:ea typeface="Times New Roman"/>
              <a:cs typeface="Times New Roman"/>
              <a:sym typeface="Times New Roman"/>
            </a:endParaRPr>
          </a:p>
          <a:p>
            <a:pPr marL="228600" lvl="0" indent="-50800" algn="l" rtl="0">
              <a:lnSpc>
                <a:spcPct val="90000"/>
              </a:lnSpc>
              <a:spcBef>
                <a:spcPts val="1000"/>
              </a:spcBef>
              <a:spcAft>
                <a:spcPts val="0"/>
              </a:spcAft>
              <a:buClr>
                <a:schemeClr val="dk1"/>
              </a:buClr>
              <a:buSzPts val="2800"/>
              <a:buNone/>
            </a:pPr>
            <a:endParaRPr dirty="0"/>
          </a:p>
        </p:txBody>
      </p:sp>
      <p:pic>
        <p:nvPicPr>
          <p:cNvPr id="263" name="Google Shape;263;p30"/>
          <p:cNvPicPr preferRelativeResize="0"/>
          <p:nvPr/>
        </p:nvPicPr>
        <p:blipFill rotWithShape="1">
          <a:blip r:embed="rId3">
            <a:alphaModFix/>
          </a:blip>
          <a:srcRect/>
          <a:stretch/>
        </p:blipFill>
        <p:spPr>
          <a:xfrm>
            <a:off x="8700939" y="320195"/>
            <a:ext cx="3223968" cy="5731814"/>
          </a:xfrm>
          <a:prstGeom prst="rect">
            <a:avLst/>
          </a:prstGeom>
          <a:noFill/>
          <a:ln>
            <a:noFill/>
          </a:ln>
        </p:spPr>
      </p:pic>
      <p:pic>
        <p:nvPicPr>
          <p:cNvPr id="2" name="Picture 1">
            <a:extLst>
              <a:ext uri="{FF2B5EF4-FFF2-40B4-BE49-F238E27FC236}">
                <a16:creationId xmlns:a16="http://schemas.microsoft.com/office/drawing/2014/main" id="{12805758-D23B-F307-2A1B-4AC596A0C6B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91893" y="220595"/>
            <a:ext cx="6376093" cy="66942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31"/>
          <p:cNvSpPr txBox="1">
            <a:spLocks noGrp="1"/>
          </p:cNvSpPr>
          <p:nvPr>
            <p:ph type="title"/>
          </p:nvPr>
        </p:nvSpPr>
        <p:spPr>
          <a:xfrm>
            <a:off x="311085" y="187746"/>
            <a:ext cx="11042715" cy="49329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0000"/>
              </a:buClr>
              <a:buSzPts val="1800"/>
              <a:buFont typeface="Times New Roman"/>
              <a:buNone/>
            </a:pPr>
            <a:r>
              <a:rPr lang="en-US" sz="2800" b="1" i="1" u="none" strike="noStrike" dirty="0">
                <a:solidFill>
                  <a:srgbClr val="000000"/>
                </a:solidFill>
                <a:latin typeface="Times New Roman"/>
                <a:ea typeface="Times New Roman"/>
                <a:cs typeface="Times New Roman"/>
                <a:sym typeface="Times New Roman"/>
              </a:rPr>
              <a:t>Fetching a Word from Memory </a:t>
            </a:r>
            <a:endParaRPr sz="2800" dirty="0"/>
          </a:p>
        </p:txBody>
      </p:sp>
      <p:sp>
        <p:nvSpPr>
          <p:cNvPr id="269" name="Google Shape;269;p31"/>
          <p:cNvSpPr txBox="1">
            <a:spLocks noGrp="1"/>
          </p:cNvSpPr>
          <p:nvPr>
            <p:ph type="body" idx="1"/>
          </p:nvPr>
        </p:nvSpPr>
        <p:spPr>
          <a:xfrm>
            <a:off x="311085" y="774441"/>
            <a:ext cx="11042715" cy="5402522"/>
          </a:xfrm>
          <a:prstGeom prst="rect">
            <a:avLst/>
          </a:prstGeom>
          <a:noFill/>
          <a:ln>
            <a:noFill/>
          </a:ln>
        </p:spPr>
        <p:txBody>
          <a:bodyPr spcFirstLastPara="1" wrap="square" lIns="91425" tIns="45700" rIns="91425" bIns="45700" anchor="t" anchorCtr="0">
            <a:normAutofit/>
          </a:bodyPr>
          <a:lstStyle/>
          <a:p>
            <a:pPr>
              <a:lnSpc>
                <a:spcPct val="90000"/>
              </a:lnSpc>
            </a:pPr>
            <a:r>
              <a:rPr lang="en-US" altLang="en-US" dirty="0">
                <a:latin typeface="Times New Roman" panose="02020603050405020304" pitchFamily="18" charset="0"/>
                <a:cs typeface="Times New Roman" panose="02020603050405020304" pitchFamily="18" charset="0"/>
              </a:rPr>
              <a:t>To fetch a word from memory, the processor has to specify the memory address and a read request is initiated</a:t>
            </a:r>
          </a:p>
          <a:p>
            <a:pPr>
              <a:lnSpc>
                <a:spcPct val="90000"/>
              </a:lnSpc>
            </a:pPr>
            <a:r>
              <a:rPr lang="en-US" altLang="en-US" dirty="0">
                <a:latin typeface="Times New Roman" panose="02020603050405020304" pitchFamily="18" charset="0"/>
                <a:cs typeface="Times New Roman" panose="02020603050405020304" pitchFamily="18" charset="0"/>
              </a:rPr>
              <a:t>Address into MAR; issue Read operation; data into MDR.</a:t>
            </a:r>
          </a:p>
          <a:p>
            <a:pPr>
              <a:lnSpc>
                <a:spcPct val="90000"/>
              </a:lnSpc>
            </a:pPr>
            <a:r>
              <a:rPr lang="en-US" altLang="en-US" dirty="0" err="1">
                <a:latin typeface="Times New Roman" panose="02020603050405020304" pitchFamily="18" charset="0"/>
                <a:cs typeface="Times New Roman" panose="02020603050405020304" pitchFamily="18" charset="0"/>
              </a:rPr>
              <a:t>MAR</a:t>
            </a:r>
            <a:r>
              <a:rPr lang="en-US" altLang="en-US" baseline="-25000" dirty="0" err="1">
                <a:latin typeface="Times New Roman" panose="02020603050405020304" pitchFamily="18" charset="0"/>
                <a:cs typeface="Times New Roman" panose="02020603050405020304" pitchFamily="18" charset="0"/>
              </a:rPr>
              <a:t>in</a:t>
            </a:r>
            <a:r>
              <a:rPr lang="en-US" altLang="en-US" dirty="0">
                <a:latin typeface="Times New Roman" panose="02020603050405020304" pitchFamily="18" charset="0"/>
                <a:cs typeface="Times New Roman" panose="02020603050405020304" pitchFamily="18" charset="0"/>
              </a:rPr>
              <a:t> and </a:t>
            </a:r>
            <a:r>
              <a:rPr lang="en-US" altLang="en-US" dirty="0" err="1">
                <a:latin typeface="Times New Roman" panose="02020603050405020304" pitchFamily="18" charset="0"/>
                <a:cs typeface="Times New Roman" panose="02020603050405020304" pitchFamily="18" charset="0"/>
              </a:rPr>
              <a:t>MAR</a:t>
            </a:r>
            <a:r>
              <a:rPr lang="en-US" altLang="en-US" baseline="-25000" dirty="0" err="1">
                <a:latin typeface="Times New Roman" panose="02020603050405020304" pitchFamily="18" charset="0"/>
                <a:cs typeface="Times New Roman" panose="02020603050405020304" pitchFamily="18" charset="0"/>
              </a:rPr>
              <a:t>out</a:t>
            </a:r>
            <a:r>
              <a:rPr lang="en-US" altLang="en-US" dirty="0">
                <a:latin typeface="Times New Roman" panose="02020603050405020304" pitchFamily="18" charset="0"/>
                <a:cs typeface="Times New Roman" panose="02020603050405020304" pitchFamily="18" charset="0"/>
              </a:rPr>
              <a:t> are the control connection to MAR register</a:t>
            </a:r>
          </a:p>
          <a:p>
            <a:pPr>
              <a:lnSpc>
                <a:spcPct val="90000"/>
              </a:lnSpc>
            </a:pPr>
            <a:r>
              <a:rPr lang="en-US" altLang="en-US" dirty="0" err="1">
                <a:latin typeface="Times New Roman" panose="02020603050405020304" pitchFamily="18" charset="0"/>
                <a:cs typeface="Times New Roman" panose="02020603050405020304" pitchFamily="18" charset="0"/>
              </a:rPr>
              <a:t>MDR</a:t>
            </a:r>
            <a:r>
              <a:rPr lang="en-US" altLang="en-US" baseline="-25000" dirty="0" err="1">
                <a:latin typeface="Times New Roman" panose="02020603050405020304" pitchFamily="18" charset="0"/>
                <a:cs typeface="Times New Roman" panose="02020603050405020304" pitchFamily="18" charset="0"/>
              </a:rPr>
              <a:t>in</a:t>
            </a:r>
            <a:r>
              <a:rPr lang="en-US" altLang="en-US" dirty="0">
                <a:latin typeface="Times New Roman" panose="02020603050405020304" pitchFamily="18" charset="0"/>
                <a:cs typeface="Times New Roman" panose="02020603050405020304" pitchFamily="18" charset="0"/>
              </a:rPr>
              <a:t> and </a:t>
            </a:r>
            <a:r>
              <a:rPr lang="en-US" altLang="en-US" dirty="0" err="1">
                <a:latin typeface="Times New Roman" panose="02020603050405020304" pitchFamily="18" charset="0"/>
                <a:cs typeface="Times New Roman" panose="02020603050405020304" pitchFamily="18" charset="0"/>
              </a:rPr>
              <a:t>MDR</a:t>
            </a:r>
            <a:r>
              <a:rPr lang="en-US" altLang="en-US" baseline="-25000" dirty="0" err="1">
                <a:latin typeface="Times New Roman" panose="02020603050405020304" pitchFamily="18" charset="0"/>
                <a:cs typeface="Times New Roman" panose="02020603050405020304" pitchFamily="18" charset="0"/>
              </a:rPr>
              <a:t>out</a:t>
            </a:r>
            <a:r>
              <a:rPr lang="en-US" altLang="en-US" dirty="0">
                <a:latin typeface="Times New Roman" panose="02020603050405020304" pitchFamily="18" charset="0"/>
                <a:cs typeface="Times New Roman" panose="02020603050405020304" pitchFamily="18" charset="0"/>
              </a:rPr>
              <a:t> are control connections to internal bus and </a:t>
            </a:r>
            <a:r>
              <a:rPr lang="en-US" altLang="en-US" dirty="0" err="1">
                <a:latin typeface="Times New Roman" panose="02020603050405020304" pitchFamily="18" charset="0"/>
                <a:cs typeface="Times New Roman" panose="02020603050405020304" pitchFamily="18" charset="0"/>
              </a:rPr>
              <a:t>MDR</a:t>
            </a:r>
            <a:r>
              <a:rPr lang="en-US" altLang="en-US" baseline="-25000" dirty="0" err="1">
                <a:latin typeface="Times New Roman" panose="02020603050405020304" pitchFamily="18" charset="0"/>
                <a:cs typeface="Times New Roman" panose="02020603050405020304" pitchFamily="18" charset="0"/>
              </a:rPr>
              <a:t>inE</a:t>
            </a:r>
            <a:r>
              <a:rPr lang="en-US" altLang="en-US" dirty="0">
                <a:latin typeface="Times New Roman" panose="02020603050405020304" pitchFamily="18" charset="0"/>
                <a:cs typeface="Times New Roman" panose="02020603050405020304" pitchFamily="18" charset="0"/>
              </a:rPr>
              <a:t> and </a:t>
            </a:r>
            <a:r>
              <a:rPr lang="en-US" altLang="en-US" dirty="0" err="1">
                <a:latin typeface="Times New Roman" panose="02020603050405020304" pitchFamily="18" charset="0"/>
                <a:cs typeface="Times New Roman" panose="02020603050405020304" pitchFamily="18" charset="0"/>
              </a:rPr>
              <a:t>MDR</a:t>
            </a:r>
            <a:r>
              <a:rPr lang="en-US" altLang="en-US" baseline="-25000" dirty="0" err="1">
                <a:latin typeface="Times New Roman" panose="02020603050405020304" pitchFamily="18" charset="0"/>
                <a:cs typeface="Times New Roman" panose="02020603050405020304" pitchFamily="18" charset="0"/>
              </a:rPr>
              <a:t>outE</a:t>
            </a:r>
            <a:r>
              <a:rPr lang="en-US" altLang="en-US" dirty="0">
                <a:latin typeface="Times New Roman" panose="02020603050405020304" pitchFamily="18" charset="0"/>
                <a:cs typeface="Times New Roman" panose="02020603050405020304" pitchFamily="18" charset="0"/>
              </a:rPr>
              <a:t> are control connection to external bus</a:t>
            </a:r>
          </a:p>
          <a:p>
            <a:pPr marL="228600" lvl="0" indent="-228600" algn="l" rtl="0">
              <a:lnSpc>
                <a:spcPct val="90000"/>
              </a:lnSpc>
              <a:spcBef>
                <a:spcPts val="1000"/>
              </a:spcBef>
              <a:spcAft>
                <a:spcPts val="0"/>
              </a:spcAft>
              <a:buClr>
                <a:srgbClr val="000000"/>
              </a:buClr>
              <a:buSzPts val="1800"/>
              <a:buChar char="•"/>
            </a:pPr>
            <a:endParaRPr dirty="0"/>
          </a:p>
        </p:txBody>
      </p:sp>
      <p:pic>
        <p:nvPicPr>
          <p:cNvPr id="270" name="Google Shape;270;p31"/>
          <p:cNvPicPr preferRelativeResize="0"/>
          <p:nvPr/>
        </p:nvPicPr>
        <p:blipFill rotWithShape="1">
          <a:blip r:embed="rId3">
            <a:alphaModFix/>
          </a:blip>
          <a:srcRect/>
          <a:stretch/>
        </p:blipFill>
        <p:spPr>
          <a:xfrm>
            <a:off x="5429839" y="3676453"/>
            <a:ext cx="6598764" cy="3195761"/>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6" name="Google Shape;276;p32"/>
          <p:cNvSpPr txBox="1">
            <a:spLocks noGrp="1"/>
          </p:cNvSpPr>
          <p:nvPr>
            <p:ph type="body" idx="1"/>
          </p:nvPr>
        </p:nvSpPr>
        <p:spPr>
          <a:xfrm>
            <a:off x="179109" y="612742"/>
            <a:ext cx="11811785" cy="6245257"/>
          </a:xfrm>
          <a:prstGeom prst="rect">
            <a:avLst/>
          </a:prstGeom>
          <a:noFill/>
          <a:ln>
            <a:noFill/>
          </a:ln>
        </p:spPr>
        <p:txBody>
          <a:bodyPr spcFirstLastPara="1" wrap="square" lIns="91425" tIns="45700" rIns="91425" bIns="45700" anchor="t" anchorCtr="0">
            <a:normAutofit/>
          </a:bodyPr>
          <a:lstStyle/>
          <a:p>
            <a:pPr algn="just" fontAlgn="auto">
              <a:lnSpc>
                <a:spcPct val="80000"/>
              </a:lnSpc>
              <a:spcAft>
                <a:spcPts val="0"/>
              </a:spcAft>
              <a:defRPr/>
            </a:pPr>
            <a:r>
              <a:rPr lang="en-US" dirty="0">
                <a:latin typeface="Times New Roman" pitchFamily="18" charset="0"/>
                <a:cs typeface="Times New Roman" pitchFamily="18" charset="0"/>
              </a:rPr>
              <a:t>The response time of each memory access varies because of cache miss, memory-mapped I/O etc.</a:t>
            </a:r>
          </a:p>
          <a:p>
            <a:pPr algn="just" fontAlgn="auto">
              <a:lnSpc>
                <a:spcPct val="80000"/>
              </a:lnSpc>
              <a:spcAft>
                <a:spcPts val="0"/>
              </a:spcAft>
              <a:defRPr/>
            </a:pPr>
            <a:r>
              <a:rPr lang="en-US" dirty="0">
                <a:latin typeface="Times New Roman" pitchFamily="18" charset="0"/>
                <a:cs typeface="Times New Roman" pitchFamily="18" charset="0"/>
              </a:rPr>
              <a:t>To accommodate this, the processor waits until it receives an indication that the requested operation has been completed (</a:t>
            </a:r>
            <a:r>
              <a:rPr lang="en-US" b="1" dirty="0">
                <a:latin typeface="Times New Roman" pitchFamily="18" charset="0"/>
                <a:cs typeface="Times New Roman" pitchFamily="18" charset="0"/>
              </a:rPr>
              <a:t>Memory-Function-Completed, MFC</a:t>
            </a:r>
            <a:r>
              <a:rPr lang="en-US" dirty="0">
                <a:latin typeface="Times New Roman" pitchFamily="18" charset="0"/>
                <a:cs typeface="Times New Roman" pitchFamily="18" charset="0"/>
              </a:rPr>
              <a:t>).</a:t>
            </a:r>
          </a:p>
          <a:p>
            <a:pPr algn="just" fontAlgn="auto">
              <a:lnSpc>
                <a:spcPct val="80000"/>
              </a:lnSpc>
              <a:spcAft>
                <a:spcPts val="0"/>
              </a:spcAft>
              <a:defRPr/>
            </a:pPr>
            <a:r>
              <a:rPr lang="en-US" dirty="0">
                <a:latin typeface="Times New Roman" pitchFamily="18" charset="0"/>
                <a:cs typeface="Times New Roman" pitchFamily="18" charset="0"/>
                <a:sym typeface="Times New Roman"/>
              </a:rPr>
              <a:t>As an example of a read operation, consider the instruction Move (R1),R2. The actions needed to execute this instruction are: </a:t>
            </a:r>
            <a:endParaRPr dirty="0">
              <a:latin typeface="Times New Roman" pitchFamily="18" charset="0"/>
              <a:cs typeface="Times New Roman" pitchFamily="18" charset="0"/>
            </a:endParaRPr>
          </a:p>
          <a:p>
            <a:pPr marL="0" lvl="0" indent="0" algn="l" rtl="0">
              <a:lnSpc>
                <a:spcPct val="90000"/>
              </a:lnSpc>
              <a:spcBef>
                <a:spcPts val="1000"/>
              </a:spcBef>
              <a:spcAft>
                <a:spcPts val="0"/>
              </a:spcAft>
              <a:buClr>
                <a:srgbClr val="000000"/>
              </a:buClr>
              <a:buSzPts val="1800"/>
              <a:buNone/>
            </a:pPr>
            <a:r>
              <a:rPr lang="en-US" b="0" i="0" u="none" strike="noStrike" dirty="0">
                <a:solidFill>
                  <a:srgbClr val="000000"/>
                </a:solidFill>
                <a:latin typeface="Times New Roman"/>
                <a:ea typeface="Times New Roman"/>
                <a:cs typeface="Times New Roman"/>
                <a:sym typeface="Times New Roman"/>
              </a:rPr>
              <a:t>1. MAR </a:t>
            </a:r>
            <a:r>
              <a:rPr lang="en-US" dirty="0">
                <a:latin typeface="Times New Roman" pitchFamily="18" charset="0"/>
                <a:cs typeface="Times New Roman" pitchFamily="18" charset="0"/>
              </a:rPr>
              <a:t>←</a:t>
            </a:r>
            <a:r>
              <a:rPr lang="en-US" b="0" i="0" u="none" strike="noStrike" dirty="0">
                <a:solidFill>
                  <a:srgbClr val="000000"/>
                </a:solidFill>
                <a:latin typeface="Noto Sans Symbols"/>
                <a:ea typeface="Noto Sans Symbols"/>
                <a:cs typeface="Noto Sans Symbols"/>
                <a:sym typeface="Noto Sans Symbols"/>
              </a:rPr>
              <a:t> </a:t>
            </a:r>
            <a:r>
              <a:rPr lang="en-US" b="0" i="0" u="none" strike="noStrike" dirty="0">
                <a:solidFill>
                  <a:srgbClr val="000000"/>
                </a:solidFill>
                <a:latin typeface="Times New Roman"/>
                <a:ea typeface="Times New Roman"/>
                <a:cs typeface="Times New Roman"/>
                <a:sym typeface="Times New Roman"/>
              </a:rPr>
              <a:t>[RI] </a:t>
            </a:r>
            <a:endParaRPr dirty="0"/>
          </a:p>
          <a:p>
            <a:pPr marL="0" lvl="0" indent="0" algn="l" rtl="0">
              <a:lnSpc>
                <a:spcPct val="90000"/>
              </a:lnSpc>
              <a:spcBef>
                <a:spcPts val="1000"/>
              </a:spcBef>
              <a:spcAft>
                <a:spcPts val="0"/>
              </a:spcAft>
              <a:buClr>
                <a:srgbClr val="000000"/>
              </a:buClr>
              <a:buSzPts val="1800"/>
              <a:buNone/>
            </a:pPr>
            <a:r>
              <a:rPr lang="en-US" b="0" i="0" u="none" strike="noStrike" dirty="0">
                <a:solidFill>
                  <a:srgbClr val="000000"/>
                </a:solidFill>
                <a:latin typeface="Times New Roman"/>
                <a:ea typeface="Times New Roman"/>
                <a:cs typeface="Times New Roman"/>
                <a:sym typeface="Times New Roman"/>
              </a:rPr>
              <a:t>2. Start a Read operation on the memory bus </a:t>
            </a:r>
            <a:endParaRPr dirty="0"/>
          </a:p>
          <a:p>
            <a:pPr marL="0" lvl="0" indent="0" algn="l" rtl="0">
              <a:lnSpc>
                <a:spcPct val="90000"/>
              </a:lnSpc>
              <a:spcBef>
                <a:spcPts val="1000"/>
              </a:spcBef>
              <a:spcAft>
                <a:spcPts val="0"/>
              </a:spcAft>
              <a:buClr>
                <a:srgbClr val="000000"/>
              </a:buClr>
              <a:buSzPts val="1800"/>
              <a:buNone/>
            </a:pPr>
            <a:r>
              <a:rPr lang="en-US" b="0" i="0" u="none" strike="noStrike" dirty="0">
                <a:solidFill>
                  <a:srgbClr val="000000"/>
                </a:solidFill>
                <a:latin typeface="Times New Roman"/>
                <a:ea typeface="Times New Roman"/>
                <a:cs typeface="Times New Roman"/>
                <a:sym typeface="Times New Roman"/>
              </a:rPr>
              <a:t>3. Wait for the MFC(Memory Function Completed) response from the memory </a:t>
            </a:r>
            <a:endParaRPr dirty="0"/>
          </a:p>
          <a:p>
            <a:pPr marL="0" lvl="0" indent="0" algn="l" rtl="0">
              <a:lnSpc>
                <a:spcPct val="90000"/>
              </a:lnSpc>
              <a:spcBef>
                <a:spcPts val="1000"/>
              </a:spcBef>
              <a:spcAft>
                <a:spcPts val="0"/>
              </a:spcAft>
              <a:buClr>
                <a:srgbClr val="000000"/>
              </a:buClr>
              <a:buSzPts val="1800"/>
              <a:buNone/>
            </a:pPr>
            <a:r>
              <a:rPr lang="en-US" b="0" i="0" u="none" strike="noStrike" dirty="0">
                <a:solidFill>
                  <a:srgbClr val="000000"/>
                </a:solidFill>
                <a:latin typeface="Times New Roman"/>
                <a:ea typeface="Times New Roman"/>
                <a:cs typeface="Times New Roman"/>
                <a:sym typeface="Times New Roman"/>
              </a:rPr>
              <a:t>4. Load MDR from the memory bus </a:t>
            </a:r>
            <a:endParaRPr dirty="0"/>
          </a:p>
          <a:p>
            <a:pPr marL="0" lvl="0" indent="0" algn="l" rtl="0">
              <a:lnSpc>
                <a:spcPct val="90000"/>
              </a:lnSpc>
              <a:spcBef>
                <a:spcPts val="1000"/>
              </a:spcBef>
              <a:spcAft>
                <a:spcPts val="0"/>
              </a:spcAft>
              <a:buClr>
                <a:srgbClr val="000000"/>
              </a:buClr>
              <a:buSzPts val="1800"/>
              <a:buNone/>
            </a:pPr>
            <a:r>
              <a:rPr lang="en-US" b="0" i="0" u="none" strike="noStrike" dirty="0">
                <a:solidFill>
                  <a:srgbClr val="000000"/>
                </a:solidFill>
                <a:latin typeface="Times New Roman"/>
                <a:ea typeface="Times New Roman"/>
                <a:cs typeface="Times New Roman"/>
                <a:sym typeface="Times New Roman"/>
              </a:rPr>
              <a:t>5. R2 </a:t>
            </a:r>
            <a:r>
              <a:rPr lang="en-US" dirty="0">
                <a:latin typeface="Times New Roman" pitchFamily="18" charset="0"/>
                <a:cs typeface="Times New Roman" pitchFamily="18" charset="0"/>
              </a:rPr>
              <a:t>←</a:t>
            </a:r>
            <a:r>
              <a:rPr lang="en-US" b="0" i="0" u="none" strike="noStrike" dirty="0">
                <a:solidFill>
                  <a:srgbClr val="000000"/>
                </a:solidFill>
                <a:latin typeface="Noto Sans Symbols"/>
                <a:ea typeface="Noto Sans Symbols"/>
                <a:cs typeface="Noto Sans Symbols"/>
                <a:sym typeface="Noto Sans Symbols"/>
              </a:rPr>
              <a:t> </a:t>
            </a:r>
            <a:r>
              <a:rPr lang="en-US" b="0" i="0" u="none" strike="noStrike" dirty="0">
                <a:solidFill>
                  <a:srgbClr val="000000"/>
                </a:solidFill>
                <a:latin typeface="Times New Roman"/>
                <a:ea typeface="Times New Roman"/>
                <a:cs typeface="Times New Roman"/>
                <a:sym typeface="Times New Roman"/>
              </a:rPr>
              <a:t>[MDR] </a:t>
            </a:r>
            <a:endParaRPr dirty="0"/>
          </a:p>
          <a:p>
            <a:pPr marL="0" lvl="0" indent="0" algn="l" rtl="0">
              <a:lnSpc>
                <a:spcPct val="90000"/>
              </a:lnSpc>
              <a:spcBef>
                <a:spcPts val="1000"/>
              </a:spcBef>
              <a:spcAft>
                <a:spcPts val="0"/>
              </a:spcAft>
              <a:buClr>
                <a:schemeClr val="dk1"/>
              </a:buClr>
              <a:buSzPts val="2800"/>
              <a:buNone/>
            </a:pPr>
            <a:endParaRPr dirty="0"/>
          </a:p>
        </p:txBody>
      </p:sp>
      <p:sp>
        <p:nvSpPr>
          <p:cNvPr id="2" name="Google Shape;268;p31">
            <a:extLst>
              <a:ext uri="{FF2B5EF4-FFF2-40B4-BE49-F238E27FC236}">
                <a16:creationId xmlns:a16="http://schemas.microsoft.com/office/drawing/2014/main" id="{F45CCFC5-0D8E-CEBC-5F83-82C8E5E15D7B}"/>
              </a:ext>
            </a:extLst>
          </p:cNvPr>
          <p:cNvSpPr txBox="1">
            <a:spLocks noGrp="1"/>
          </p:cNvSpPr>
          <p:nvPr>
            <p:ph type="title"/>
          </p:nvPr>
        </p:nvSpPr>
        <p:spPr>
          <a:xfrm>
            <a:off x="311085" y="187746"/>
            <a:ext cx="11042715" cy="493291"/>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0000"/>
              </a:buClr>
              <a:buSzPts val="1800"/>
              <a:buFont typeface="Times New Roman"/>
              <a:buNone/>
            </a:pPr>
            <a:r>
              <a:rPr lang="en-US" sz="2800" b="1" i="1" u="none" strike="noStrike" dirty="0">
                <a:solidFill>
                  <a:srgbClr val="000000"/>
                </a:solidFill>
                <a:latin typeface="Times New Roman"/>
                <a:ea typeface="Times New Roman"/>
                <a:cs typeface="Times New Roman"/>
                <a:sym typeface="Times New Roman"/>
              </a:rPr>
              <a:t>Fetching a Word from Memory </a:t>
            </a:r>
            <a:endParaRPr sz="2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EB077F0-5BCF-4443-ACAD-BA0F79EA2A1F}"/>
              </a:ext>
            </a:extLst>
          </p:cNvPr>
          <p:cNvSpPr>
            <a:spLocks noGrp="1"/>
          </p:cNvSpPr>
          <p:nvPr>
            <p:ph type="body" idx="1"/>
          </p:nvPr>
        </p:nvSpPr>
        <p:spPr>
          <a:xfrm>
            <a:off x="311085" y="970961"/>
            <a:ext cx="11042715" cy="5206002"/>
          </a:xfrm>
        </p:spPr>
        <p:txBody>
          <a:bodyPr>
            <a:normAutofit/>
          </a:bodyPr>
          <a:lstStyle/>
          <a:p>
            <a:pPr algn="just" fontAlgn="auto">
              <a:lnSpc>
                <a:spcPct val="80000"/>
              </a:lnSpc>
              <a:spcAft>
                <a:spcPts val="0"/>
              </a:spcAft>
              <a:buFont typeface="Arial" panose="020B0604020202020204" pitchFamily="34" charset="0"/>
              <a:buNone/>
              <a:defRPr/>
            </a:pPr>
            <a:r>
              <a:rPr lang="en-US" dirty="0">
                <a:latin typeface="Times New Roman" pitchFamily="18" charset="0"/>
                <a:cs typeface="Times New Roman" pitchFamily="18" charset="0"/>
                <a:sym typeface="Times New Roman"/>
              </a:rPr>
              <a:t>Move (R1),R2</a:t>
            </a:r>
            <a:endParaRPr lang="en-US" dirty="0">
              <a:latin typeface="Times New Roman" pitchFamily="18" charset="0"/>
              <a:cs typeface="Times New Roman" pitchFamily="18" charset="0"/>
            </a:endParaRPr>
          </a:p>
          <a:p>
            <a:pPr algn="just" fontAlgn="auto">
              <a:lnSpc>
                <a:spcPct val="80000"/>
              </a:lnSpc>
              <a:spcAft>
                <a:spcPts val="0"/>
              </a:spcAft>
              <a:buFont typeface="Arial" panose="020B0604020202020204" pitchFamily="34" charset="0"/>
              <a:buNone/>
              <a:defRPr/>
            </a:pPr>
            <a:r>
              <a:rPr lang="en-US" dirty="0">
                <a:latin typeface="Times New Roman" pitchFamily="18" charset="0"/>
                <a:cs typeface="Times New Roman" pitchFamily="18" charset="0"/>
              </a:rPr>
              <a:t>The control sequence for the operation</a:t>
            </a:r>
            <a:r>
              <a:rPr lang="en-US" dirty="0">
                <a:latin typeface="Times New Roman" pitchFamily="18" charset="0"/>
                <a:cs typeface="Times New Roman" pitchFamily="18" charset="0"/>
                <a:sym typeface="Times New Roman"/>
              </a:rPr>
              <a:t> </a:t>
            </a:r>
            <a:endParaRPr lang="en-US" dirty="0">
              <a:latin typeface="Times New Roman" pitchFamily="18" charset="0"/>
              <a:cs typeface="Times New Roman" pitchFamily="18" charset="0"/>
            </a:endParaRPr>
          </a:p>
          <a:p>
            <a:pPr marL="914400" lvl="1" indent="-457200" algn="just" fontAlgn="auto">
              <a:lnSpc>
                <a:spcPct val="80000"/>
              </a:lnSpc>
              <a:spcAft>
                <a:spcPts val="0"/>
              </a:spcAft>
              <a:buFont typeface="+mj-lt"/>
              <a:buAutoNum type="arabicPeriod"/>
              <a:defRPr/>
            </a:pPr>
            <a:r>
              <a:rPr lang="en-US" sz="2800" dirty="0">
                <a:latin typeface="Times New Roman" pitchFamily="18" charset="0"/>
                <a:cs typeface="Times New Roman" pitchFamily="18" charset="0"/>
              </a:rPr>
              <a:t>R1</a:t>
            </a:r>
            <a:r>
              <a:rPr lang="en-US" sz="2800" baseline="-25000" dirty="0">
                <a:latin typeface="Times New Roman" pitchFamily="18" charset="0"/>
                <a:cs typeface="Times New Roman" pitchFamily="18" charset="0"/>
              </a:rPr>
              <a:t>out</a:t>
            </a:r>
            <a:r>
              <a:rPr lang="en-US" sz="2800" dirty="0">
                <a:latin typeface="Times New Roman" pitchFamily="18" charset="0"/>
                <a:cs typeface="Times New Roman" pitchFamily="18" charset="0"/>
              </a:rPr>
              <a:t>, </a:t>
            </a:r>
            <a:r>
              <a:rPr lang="en-US" sz="2800" dirty="0" err="1">
                <a:latin typeface="Times New Roman" pitchFamily="18" charset="0"/>
                <a:cs typeface="Times New Roman" pitchFamily="18" charset="0"/>
              </a:rPr>
              <a:t>MAR</a:t>
            </a:r>
            <a:r>
              <a:rPr lang="en-US" sz="2800" baseline="-25000" dirty="0" err="1">
                <a:latin typeface="Times New Roman" pitchFamily="18" charset="0"/>
                <a:cs typeface="Times New Roman" pitchFamily="18" charset="0"/>
              </a:rPr>
              <a:t>in</a:t>
            </a:r>
            <a:r>
              <a:rPr lang="en-US" sz="2800" dirty="0">
                <a:latin typeface="Times New Roman" pitchFamily="18" charset="0"/>
                <a:cs typeface="Times New Roman" pitchFamily="18" charset="0"/>
              </a:rPr>
              <a:t>, Read</a:t>
            </a:r>
          </a:p>
          <a:p>
            <a:pPr marL="914400" lvl="1" indent="-457200" algn="just" fontAlgn="auto">
              <a:lnSpc>
                <a:spcPct val="80000"/>
              </a:lnSpc>
              <a:spcAft>
                <a:spcPts val="0"/>
              </a:spcAft>
              <a:buFont typeface="+mj-lt"/>
              <a:buAutoNum type="arabicPeriod"/>
              <a:defRPr/>
            </a:pPr>
            <a:r>
              <a:rPr lang="en-US" sz="2800" dirty="0" err="1">
                <a:latin typeface="Times New Roman" pitchFamily="18" charset="0"/>
                <a:cs typeface="Times New Roman" pitchFamily="18" charset="0"/>
              </a:rPr>
              <a:t>MDR</a:t>
            </a:r>
            <a:r>
              <a:rPr lang="en-US" sz="2800" baseline="-25000" dirty="0" err="1">
                <a:latin typeface="Times New Roman" pitchFamily="18" charset="0"/>
                <a:cs typeface="Times New Roman" pitchFamily="18" charset="0"/>
              </a:rPr>
              <a:t>inE</a:t>
            </a:r>
            <a:r>
              <a:rPr lang="en-US" sz="2800" dirty="0" err="1">
                <a:latin typeface="Times New Roman" pitchFamily="18" charset="0"/>
                <a:cs typeface="Times New Roman" pitchFamily="18" charset="0"/>
              </a:rPr>
              <a:t>,WMFC</a:t>
            </a:r>
            <a:endParaRPr lang="en-US" sz="2800" dirty="0">
              <a:latin typeface="Times New Roman" pitchFamily="18" charset="0"/>
              <a:cs typeface="Times New Roman" pitchFamily="18" charset="0"/>
            </a:endParaRPr>
          </a:p>
          <a:p>
            <a:pPr marL="914400" lvl="1" indent="-457200" algn="just" fontAlgn="auto">
              <a:lnSpc>
                <a:spcPct val="80000"/>
              </a:lnSpc>
              <a:spcAft>
                <a:spcPts val="0"/>
              </a:spcAft>
              <a:buFont typeface="+mj-lt"/>
              <a:buAutoNum type="arabicPeriod"/>
              <a:defRPr/>
            </a:pPr>
            <a:r>
              <a:rPr lang="en-US" sz="2800" dirty="0">
                <a:latin typeface="Times New Roman" pitchFamily="18" charset="0"/>
                <a:cs typeface="Times New Roman" pitchFamily="18" charset="0"/>
              </a:rPr>
              <a:t>MDR</a:t>
            </a:r>
            <a:r>
              <a:rPr lang="en-US" sz="2800" baseline="-25000" dirty="0">
                <a:latin typeface="Times New Roman" pitchFamily="18" charset="0"/>
                <a:cs typeface="Times New Roman" pitchFamily="18" charset="0"/>
              </a:rPr>
              <a:t>out</a:t>
            </a:r>
            <a:r>
              <a:rPr lang="en-US" sz="2800" dirty="0">
                <a:latin typeface="Times New Roman" pitchFamily="18" charset="0"/>
                <a:cs typeface="Times New Roman" pitchFamily="18" charset="0"/>
              </a:rPr>
              <a:t>,R2</a:t>
            </a:r>
            <a:r>
              <a:rPr lang="en-US" sz="2800" baseline="-25000" dirty="0">
                <a:latin typeface="Times New Roman" pitchFamily="18" charset="0"/>
                <a:cs typeface="Times New Roman" pitchFamily="18" charset="0"/>
              </a:rPr>
              <a:t>in</a:t>
            </a:r>
          </a:p>
          <a:p>
            <a:endParaRPr lang="en-US" baseline="-25000" dirty="0">
              <a:latin typeface="Times New Roman" pitchFamily="18" charset="0"/>
              <a:cs typeface="Times New Roman" pitchFamily="18" charset="0"/>
            </a:endParaRPr>
          </a:p>
        </p:txBody>
      </p:sp>
      <p:pic>
        <p:nvPicPr>
          <p:cNvPr id="4" name="Picture 7">
            <a:extLst>
              <a:ext uri="{FF2B5EF4-FFF2-40B4-BE49-F238E27FC236}">
                <a16:creationId xmlns:a16="http://schemas.microsoft.com/office/drawing/2014/main" id="{4BA0BA27-2C48-C164-1B97-1DA6D81CF6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78222" y="3121050"/>
            <a:ext cx="9144097" cy="3769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Google Shape;268;p31">
            <a:extLst>
              <a:ext uri="{FF2B5EF4-FFF2-40B4-BE49-F238E27FC236}">
                <a16:creationId xmlns:a16="http://schemas.microsoft.com/office/drawing/2014/main" id="{F42A4178-C897-C7B7-088A-EF835E0B7A43}"/>
              </a:ext>
            </a:extLst>
          </p:cNvPr>
          <p:cNvSpPr txBox="1">
            <a:spLocks/>
          </p:cNvSpPr>
          <p:nvPr/>
        </p:nvSpPr>
        <p:spPr>
          <a:xfrm>
            <a:off x="311085" y="187746"/>
            <a:ext cx="11042715" cy="493291"/>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srgbClr val="000000"/>
              </a:buClr>
              <a:buFont typeface="Times New Roman"/>
              <a:buNone/>
            </a:pPr>
            <a:r>
              <a:rPr lang="en-US" sz="2800" b="1" i="1">
                <a:solidFill>
                  <a:srgbClr val="000000"/>
                </a:solidFill>
                <a:latin typeface="Times New Roman"/>
                <a:ea typeface="Times New Roman"/>
                <a:cs typeface="Times New Roman"/>
                <a:sym typeface="Times New Roman"/>
              </a:rPr>
              <a:t>Fetching a Word from Memory </a:t>
            </a:r>
            <a:endParaRPr lang="en-US" sz="2800" dirty="0"/>
          </a:p>
        </p:txBody>
      </p:sp>
    </p:spTree>
    <p:extLst>
      <p:ext uri="{BB962C8B-B14F-4D97-AF65-F5344CB8AC3E}">
        <p14:creationId xmlns:p14="http://schemas.microsoft.com/office/powerpoint/2010/main" val="193296045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34"/>
          <p:cNvSpPr txBox="1">
            <a:spLocks noGrp="1"/>
          </p:cNvSpPr>
          <p:nvPr>
            <p:ph type="title"/>
          </p:nvPr>
        </p:nvSpPr>
        <p:spPr>
          <a:xfrm>
            <a:off x="838200" y="365126"/>
            <a:ext cx="10515600" cy="446638"/>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000000"/>
              </a:buClr>
              <a:buSzPts val="1800"/>
              <a:buFont typeface="Times New Roman"/>
              <a:buNone/>
            </a:pPr>
            <a:r>
              <a:rPr lang="en-US" sz="2800" b="1" i="1" u="none" strike="noStrike" dirty="0">
                <a:solidFill>
                  <a:srgbClr val="000000"/>
                </a:solidFill>
                <a:latin typeface="Times New Roman"/>
                <a:ea typeface="Times New Roman"/>
                <a:cs typeface="Times New Roman"/>
                <a:sym typeface="Times New Roman"/>
              </a:rPr>
              <a:t>Storing a word in Memory </a:t>
            </a:r>
            <a:endParaRPr sz="2800" dirty="0"/>
          </a:p>
        </p:txBody>
      </p:sp>
      <p:sp>
        <p:nvSpPr>
          <p:cNvPr id="287" name="Google Shape;287;p34"/>
          <p:cNvSpPr txBox="1">
            <a:spLocks noGrp="1"/>
          </p:cNvSpPr>
          <p:nvPr>
            <p:ph type="body" idx="1"/>
          </p:nvPr>
        </p:nvSpPr>
        <p:spPr>
          <a:xfrm>
            <a:off x="838200" y="811764"/>
            <a:ext cx="10515600" cy="5365199"/>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rgbClr val="000000"/>
              </a:buClr>
              <a:buSzPts val="1800"/>
              <a:buChar char="•"/>
            </a:pPr>
            <a:r>
              <a:rPr lang="en-US" b="0" i="0" u="none" strike="noStrike" dirty="0">
                <a:solidFill>
                  <a:srgbClr val="000000"/>
                </a:solidFill>
                <a:latin typeface="Times New Roman"/>
                <a:ea typeface="Times New Roman"/>
                <a:cs typeface="Times New Roman"/>
                <a:sym typeface="Times New Roman"/>
              </a:rPr>
              <a:t>Writing a word into a memory location follows a similar procedure. </a:t>
            </a:r>
            <a:endParaRPr dirty="0"/>
          </a:p>
          <a:p>
            <a:pPr marL="228600" lvl="0" indent="-228600" algn="just" rtl="0">
              <a:lnSpc>
                <a:spcPct val="90000"/>
              </a:lnSpc>
              <a:spcBef>
                <a:spcPts val="1000"/>
              </a:spcBef>
              <a:spcAft>
                <a:spcPts val="0"/>
              </a:spcAft>
              <a:buClr>
                <a:srgbClr val="000000"/>
              </a:buClr>
              <a:buSzPts val="1800"/>
              <a:buChar char="•"/>
            </a:pPr>
            <a:r>
              <a:rPr lang="en-US" b="0" i="0" u="none" strike="noStrike" dirty="0">
                <a:solidFill>
                  <a:srgbClr val="000000"/>
                </a:solidFill>
                <a:latin typeface="Times New Roman"/>
                <a:ea typeface="Times New Roman"/>
                <a:cs typeface="Times New Roman"/>
                <a:sym typeface="Times New Roman"/>
              </a:rPr>
              <a:t>The desired address is loaded into MAR. Then, the data to be written are loaded into MDR, and a Write command is issued. </a:t>
            </a:r>
          </a:p>
          <a:p>
            <a:pPr marL="228600" lvl="0" indent="-228600" algn="just" rtl="0">
              <a:lnSpc>
                <a:spcPct val="90000"/>
              </a:lnSpc>
              <a:spcBef>
                <a:spcPts val="1000"/>
              </a:spcBef>
              <a:spcAft>
                <a:spcPts val="0"/>
              </a:spcAft>
              <a:buClr>
                <a:srgbClr val="000000"/>
              </a:buClr>
              <a:buSzPts val="1800"/>
              <a:buChar char="•"/>
            </a:pPr>
            <a:r>
              <a:rPr lang="en-US" b="0" i="0" u="none" strike="noStrike" dirty="0">
                <a:solidFill>
                  <a:srgbClr val="000000"/>
                </a:solidFill>
                <a:latin typeface="Times New Roman"/>
                <a:ea typeface="Times New Roman"/>
                <a:cs typeface="Times New Roman"/>
                <a:sym typeface="Times New Roman"/>
              </a:rPr>
              <a:t>Hence, executing the instruction Move R2,(R1) requires the following sequence:</a:t>
            </a:r>
            <a:endParaRPr dirty="0"/>
          </a:p>
          <a:p>
            <a:pPr marL="0" lvl="0" indent="0" algn="just" rtl="0">
              <a:lnSpc>
                <a:spcPct val="90000"/>
              </a:lnSpc>
              <a:spcBef>
                <a:spcPts val="1000"/>
              </a:spcBef>
              <a:spcAft>
                <a:spcPts val="0"/>
              </a:spcAft>
              <a:buClr>
                <a:srgbClr val="000000"/>
              </a:buClr>
              <a:buSzPts val="1800"/>
              <a:buNone/>
            </a:pPr>
            <a:r>
              <a:rPr lang="en-US" b="0" i="0" u="none" strike="noStrike" dirty="0">
                <a:solidFill>
                  <a:srgbClr val="000000"/>
                </a:solidFill>
                <a:latin typeface="Times New Roman"/>
                <a:ea typeface="Times New Roman"/>
                <a:cs typeface="Times New Roman"/>
                <a:sym typeface="Times New Roman"/>
              </a:rPr>
              <a:t>1. R1out, </a:t>
            </a:r>
            <a:r>
              <a:rPr lang="en-US" b="0" i="0" u="none" strike="noStrike" dirty="0" err="1">
                <a:solidFill>
                  <a:srgbClr val="000000"/>
                </a:solidFill>
                <a:latin typeface="Times New Roman"/>
                <a:ea typeface="Times New Roman"/>
                <a:cs typeface="Times New Roman"/>
                <a:sym typeface="Times New Roman"/>
              </a:rPr>
              <a:t>MARin</a:t>
            </a:r>
            <a:r>
              <a:rPr lang="en-US" b="0" i="0" u="none" strike="noStrike" dirty="0">
                <a:solidFill>
                  <a:srgbClr val="000000"/>
                </a:solidFill>
                <a:latin typeface="Times New Roman"/>
                <a:ea typeface="Times New Roman"/>
                <a:cs typeface="Times New Roman"/>
                <a:sym typeface="Times New Roman"/>
              </a:rPr>
              <a:t> </a:t>
            </a:r>
            <a:endParaRPr dirty="0"/>
          </a:p>
          <a:p>
            <a:pPr marL="0" lvl="0" indent="0" algn="just" rtl="0">
              <a:lnSpc>
                <a:spcPct val="90000"/>
              </a:lnSpc>
              <a:spcBef>
                <a:spcPts val="1000"/>
              </a:spcBef>
              <a:spcAft>
                <a:spcPts val="0"/>
              </a:spcAft>
              <a:buClr>
                <a:srgbClr val="000000"/>
              </a:buClr>
              <a:buSzPts val="1800"/>
              <a:buNone/>
            </a:pPr>
            <a:r>
              <a:rPr lang="en-US" b="0" i="0" u="none" strike="noStrike" dirty="0">
                <a:solidFill>
                  <a:srgbClr val="000000"/>
                </a:solidFill>
                <a:latin typeface="Times New Roman"/>
                <a:ea typeface="Times New Roman"/>
                <a:cs typeface="Times New Roman"/>
                <a:sym typeface="Times New Roman"/>
              </a:rPr>
              <a:t>2. R2out, </a:t>
            </a:r>
            <a:r>
              <a:rPr lang="en-US" b="0" i="0" u="none" strike="noStrike" dirty="0" err="1">
                <a:solidFill>
                  <a:srgbClr val="000000"/>
                </a:solidFill>
                <a:latin typeface="Times New Roman"/>
                <a:ea typeface="Times New Roman"/>
                <a:cs typeface="Times New Roman"/>
                <a:sym typeface="Times New Roman"/>
              </a:rPr>
              <a:t>MDRin</a:t>
            </a:r>
            <a:r>
              <a:rPr lang="en-US" b="0" i="0" u="none" strike="noStrike" dirty="0">
                <a:solidFill>
                  <a:srgbClr val="000000"/>
                </a:solidFill>
                <a:latin typeface="Times New Roman"/>
                <a:ea typeface="Times New Roman"/>
                <a:cs typeface="Times New Roman"/>
                <a:sym typeface="Times New Roman"/>
              </a:rPr>
              <a:t>, Write </a:t>
            </a:r>
            <a:endParaRPr dirty="0"/>
          </a:p>
          <a:p>
            <a:pPr marL="0" lvl="0" indent="0" algn="just" rtl="0">
              <a:lnSpc>
                <a:spcPct val="90000"/>
              </a:lnSpc>
              <a:spcBef>
                <a:spcPts val="1000"/>
              </a:spcBef>
              <a:spcAft>
                <a:spcPts val="0"/>
              </a:spcAft>
              <a:buClr>
                <a:srgbClr val="000000"/>
              </a:buClr>
              <a:buSzPts val="1800"/>
              <a:buNone/>
            </a:pPr>
            <a:r>
              <a:rPr lang="en-US" b="0" i="0" u="none" strike="noStrike" dirty="0">
                <a:solidFill>
                  <a:srgbClr val="000000"/>
                </a:solidFill>
                <a:latin typeface="Times New Roman"/>
                <a:ea typeface="Times New Roman"/>
                <a:cs typeface="Times New Roman"/>
                <a:sym typeface="Times New Roman"/>
              </a:rPr>
              <a:t>3. </a:t>
            </a:r>
            <a:r>
              <a:rPr lang="en-US" b="0" i="0" u="none" strike="noStrike" dirty="0" err="1">
                <a:solidFill>
                  <a:srgbClr val="000000"/>
                </a:solidFill>
                <a:latin typeface="Times New Roman"/>
                <a:ea typeface="Times New Roman"/>
                <a:cs typeface="Times New Roman"/>
                <a:sym typeface="Times New Roman"/>
              </a:rPr>
              <a:t>MDRoutE</a:t>
            </a:r>
            <a:r>
              <a:rPr lang="en-US" b="0" i="0" u="none" strike="noStrike" dirty="0">
                <a:solidFill>
                  <a:srgbClr val="000000"/>
                </a:solidFill>
                <a:latin typeface="Times New Roman"/>
                <a:ea typeface="Times New Roman"/>
                <a:cs typeface="Times New Roman"/>
                <a:sym typeface="Times New Roman"/>
              </a:rPr>
              <a:t>, WMFC </a:t>
            </a:r>
            <a:endParaRPr dirty="0"/>
          </a:p>
          <a:p>
            <a:pPr marL="228600" lvl="0" indent="-50800" algn="just" rtl="0">
              <a:lnSpc>
                <a:spcPct val="90000"/>
              </a:lnSpc>
              <a:spcBef>
                <a:spcPts val="1000"/>
              </a:spcBef>
              <a:spcAft>
                <a:spcPts val="0"/>
              </a:spcAft>
              <a:buClr>
                <a:schemeClr val="dk1"/>
              </a:buClr>
              <a:buSzPts val="2800"/>
              <a:buNone/>
            </a:pPr>
            <a:endParaRPr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35"/>
          <p:cNvSpPr txBox="1">
            <a:spLocks noGrp="1"/>
          </p:cNvSpPr>
          <p:nvPr>
            <p:ph type="title"/>
          </p:nvPr>
        </p:nvSpPr>
        <p:spPr>
          <a:xfrm>
            <a:off x="367645" y="365126"/>
            <a:ext cx="10986155" cy="5399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000000"/>
              </a:buClr>
              <a:buSzPts val="1800"/>
              <a:buFont typeface="Times New Roman"/>
              <a:buNone/>
            </a:pPr>
            <a:r>
              <a:rPr lang="en-US" sz="2800" b="1" i="0" u="none" strike="noStrike" dirty="0">
                <a:solidFill>
                  <a:srgbClr val="000000"/>
                </a:solidFill>
                <a:latin typeface="Times New Roman"/>
                <a:ea typeface="Times New Roman"/>
                <a:cs typeface="Times New Roman"/>
                <a:sym typeface="Times New Roman"/>
              </a:rPr>
              <a:t>EXECUTION OF A COMPLETE INSTRUCTION </a:t>
            </a:r>
            <a:endParaRPr sz="2800" dirty="0"/>
          </a:p>
        </p:txBody>
      </p:sp>
      <p:sp>
        <p:nvSpPr>
          <p:cNvPr id="293" name="Google Shape;293;p35"/>
          <p:cNvSpPr txBox="1">
            <a:spLocks noGrp="1"/>
          </p:cNvSpPr>
          <p:nvPr>
            <p:ph type="body" idx="1"/>
          </p:nvPr>
        </p:nvSpPr>
        <p:spPr>
          <a:xfrm>
            <a:off x="367645" y="1018096"/>
            <a:ext cx="10986155" cy="515886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rgbClr val="000000"/>
              </a:buClr>
              <a:buSzPts val="1800"/>
              <a:buChar char="•"/>
            </a:pPr>
            <a:r>
              <a:rPr lang="en-US" b="0" i="0" u="none" strike="noStrike" dirty="0">
                <a:solidFill>
                  <a:srgbClr val="000000"/>
                </a:solidFill>
                <a:latin typeface="Times New Roman"/>
                <a:ea typeface="Times New Roman"/>
                <a:cs typeface="Times New Roman"/>
                <a:sym typeface="Times New Roman"/>
              </a:rPr>
              <a:t>Consider the instruction </a:t>
            </a:r>
            <a:r>
              <a:rPr lang="en-US" b="1" i="0" u="none" strike="noStrike" dirty="0">
                <a:solidFill>
                  <a:srgbClr val="000000"/>
                </a:solidFill>
                <a:latin typeface="Times New Roman"/>
                <a:ea typeface="Times New Roman"/>
                <a:cs typeface="Times New Roman"/>
                <a:sym typeface="Times New Roman"/>
              </a:rPr>
              <a:t>Add (R3),R1 </a:t>
            </a:r>
            <a:r>
              <a:rPr lang="en-US" b="0" i="0" u="none" strike="noStrike" dirty="0">
                <a:solidFill>
                  <a:srgbClr val="000000"/>
                </a:solidFill>
                <a:latin typeface="Times New Roman"/>
                <a:ea typeface="Times New Roman"/>
                <a:cs typeface="Times New Roman"/>
                <a:sym typeface="Times New Roman"/>
              </a:rPr>
              <a:t>which adds the contents of a memory location pointed to by R3 to register R 1. Executing this instruction requires the following actions: </a:t>
            </a:r>
            <a:endParaRPr dirty="0"/>
          </a:p>
          <a:p>
            <a:pPr marL="0" lvl="0" indent="0" algn="l" rtl="0">
              <a:lnSpc>
                <a:spcPct val="90000"/>
              </a:lnSpc>
              <a:spcBef>
                <a:spcPts val="1000"/>
              </a:spcBef>
              <a:spcAft>
                <a:spcPts val="0"/>
              </a:spcAft>
              <a:buClr>
                <a:srgbClr val="000000"/>
              </a:buClr>
              <a:buSzPts val="1800"/>
              <a:buNone/>
            </a:pPr>
            <a:r>
              <a:rPr lang="en-US" b="0" i="0" u="none" strike="noStrike" dirty="0">
                <a:solidFill>
                  <a:srgbClr val="000000"/>
                </a:solidFill>
                <a:latin typeface="Times New Roman"/>
                <a:ea typeface="Times New Roman"/>
                <a:cs typeface="Times New Roman"/>
                <a:sym typeface="Times New Roman"/>
              </a:rPr>
              <a:t>1. Fetch the instruction. </a:t>
            </a:r>
            <a:endParaRPr dirty="0"/>
          </a:p>
          <a:p>
            <a:pPr marL="0" lvl="0" indent="0" algn="l" rtl="0">
              <a:lnSpc>
                <a:spcPct val="90000"/>
              </a:lnSpc>
              <a:spcBef>
                <a:spcPts val="1000"/>
              </a:spcBef>
              <a:spcAft>
                <a:spcPts val="0"/>
              </a:spcAft>
              <a:buClr>
                <a:srgbClr val="000000"/>
              </a:buClr>
              <a:buSzPts val="1800"/>
              <a:buNone/>
            </a:pPr>
            <a:r>
              <a:rPr lang="en-US" b="0" i="0" u="none" strike="noStrike" dirty="0">
                <a:solidFill>
                  <a:srgbClr val="000000"/>
                </a:solidFill>
                <a:latin typeface="Times New Roman"/>
                <a:ea typeface="Times New Roman"/>
                <a:cs typeface="Times New Roman"/>
                <a:sym typeface="Times New Roman"/>
              </a:rPr>
              <a:t>2. Fetch the first operand (the contents of the memory location pointed to by R3). </a:t>
            </a:r>
            <a:endParaRPr dirty="0"/>
          </a:p>
          <a:p>
            <a:pPr marL="0" lvl="0" indent="0" algn="l" rtl="0">
              <a:lnSpc>
                <a:spcPct val="90000"/>
              </a:lnSpc>
              <a:spcBef>
                <a:spcPts val="1000"/>
              </a:spcBef>
              <a:spcAft>
                <a:spcPts val="0"/>
              </a:spcAft>
              <a:buClr>
                <a:srgbClr val="000000"/>
              </a:buClr>
              <a:buSzPts val="1800"/>
              <a:buNone/>
            </a:pPr>
            <a:r>
              <a:rPr lang="en-US" b="0" i="0" u="none" strike="noStrike" dirty="0">
                <a:solidFill>
                  <a:srgbClr val="000000"/>
                </a:solidFill>
                <a:latin typeface="Times New Roman"/>
                <a:ea typeface="Times New Roman"/>
                <a:cs typeface="Times New Roman"/>
                <a:sym typeface="Times New Roman"/>
              </a:rPr>
              <a:t>3. Perform the addition. </a:t>
            </a:r>
            <a:endParaRPr dirty="0"/>
          </a:p>
          <a:p>
            <a:pPr marL="0" lvl="0" indent="0" algn="l" rtl="0">
              <a:lnSpc>
                <a:spcPct val="90000"/>
              </a:lnSpc>
              <a:spcBef>
                <a:spcPts val="1000"/>
              </a:spcBef>
              <a:spcAft>
                <a:spcPts val="0"/>
              </a:spcAft>
              <a:buClr>
                <a:srgbClr val="000000"/>
              </a:buClr>
              <a:buSzPts val="1800"/>
              <a:buNone/>
            </a:pPr>
            <a:r>
              <a:rPr lang="en-US" b="0" i="0" u="none" strike="noStrike" dirty="0">
                <a:solidFill>
                  <a:srgbClr val="000000"/>
                </a:solidFill>
                <a:latin typeface="Times New Roman"/>
                <a:ea typeface="Times New Roman"/>
                <a:cs typeface="Times New Roman"/>
                <a:sym typeface="Times New Roman"/>
              </a:rPr>
              <a:t>4. Load the result into RI. </a:t>
            </a:r>
            <a:endParaRPr dirty="0"/>
          </a:p>
          <a:p>
            <a:pPr marL="228600" lvl="0" indent="-114300" algn="l" rtl="0">
              <a:lnSpc>
                <a:spcPct val="90000"/>
              </a:lnSpc>
              <a:spcBef>
                <a:spcPts val="1000"/>
              </a:spcBef>
              <a:spcAft>
                <a:spcPts val="0"/>
              </a:spcAft>
              <a:buClr>
                <a:schemeClr val="dk1"/>
              </a:buClr>
              <a:buSzPts val="1800"/>
              <a:buNone/>
            </a:pPr>
            <a:endParaRPr b="0" i="0" u="none" strike="noStrike" dirty="0">
              <a:solidFill>
                <a:srgbClr val="000000"/>
              </a:solidFill>
              <a:latin typeface="Times New Roman"/>
              <a:ea typeface="Times New Roman"/>
              <a:cs typeface="Times New Roman"/>
              <a:sym typeface="Times New Roman"/>
            </a:endParaRPr>
          </a:p>
        </p:txBody>
      </p:sp>
      <p:pic>
        <p:nvPicPr>
          <p:cNvPr id="294" name="Google Shape;294;p35"/>
          <p:cNvPicPr preferRelativeResize="0"/>
          <p:nvPr/>
        </p:nvPicPr>
        <p:blipFill rotWithShape="1">
          <a:blip r:embed="rId3">
            <a:alphaModFix/>
          </a:blip>
          <a:srcRect/>
          <a:stretch/>
        </p:blipFill>
        <p:spPr>
          <a:xfrm>
            <a:off x="5986020" y="3353364"/>
            <a:ext cx="4543719" cy="3349094"/>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34952053-D42A-9DF6-57CF-108FC157473A}"/>
              </a:ext>
            </a:extLst>
          </p:cNvPr>
          <p:cNvSpPr>
            <a:spLocks noGrp="1" noChangeArrowheads="1"/>
          </p:cNvSpPr>
          <p:nvPr>
            <p:ph type="title"/>
          </p:nvPr>
        </p:nvSpPr>
        <p:spPr>
          <a:xfrm>
            <a:off x="348792" y="365126"/>
            <a:ext cx="11005008" cy="417300"/>
          </a:xfrm>
        </p:spPr>
        <p:txBody>
          <a:bodyPr rtlCol="0">
            <a:noAutofit/>
          </a:bodyPr>
          <a:lstStyle/>
          <a:p>
            <a:pPr>
              <a:defRPr/>
            </a:pPr>
            <a:r>
              <a:rPr lang="en-US" sz="2800" b="1" dirty="0"/>
              <a:t>Execution of a Complete Instruction</a:t>
            </a:r>
          </a:p>
        </p:txBody>
      </p:sp>
      <p:pic>
        <p:nvPicPr>
          <p:cNvPr id="32771" name="Picture 4" descr="figure7">
            <a:extLst>
              <a:ext uri="{FF2B5EF4-FFF2-40B4-BE49-F238E27FC236}">
                <a16:creationId xmlns:a16="http://schemas.microsoft.com/office/drawing/2014/main" id="{9F962982-B689-241A-2780-8106D268DA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6662" y="1661391"/>
            <a:ext cx="6938346" cy="454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2772" name="Picture 5" descr="figure7">
            <a:extLst>
              <a:ext uri="{FF2B5EF4-FFF2-40B4-BE49-F238E27FC236}">
                <a16:creationId xmlns:a16="http://schemas.microsoft.com/office/drawing/2014/main" id="{CB02BDDC-ECBD-4C52-5E11-B1936EF7CB1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00799" y="0"/>
            <a:ext cx="5052768" cy="7381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3" name="Text Box 6">
            <a:extLst>
              <a:ext uri="{FF2B5EF4-FFF2-40B4-BE49-F238E27FC236}">
                <a16:creationId xmlns:a16="http://schemas.microsoft.com/office/drawing/2014/main" id="{B8D5A8AC-8309-C069-B730-2A613CA41C1B}"/>
              </a:ext>
            </a:extLst>
          </p:cNvPr>
          <p:cNvSpPr txBox="1">
            <a:spLocks noChangeArrowheads="1"/>
          </p:cNvSpPr>
          <p:nvPr/>
        </p:nvSpPr>
        <p:spPr bwMode="auto">
          <a:xfrm>
            <a:off x="490193" y="1147020"/>
            <a:ext cx="41045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sz="2400" dirty="0"/>
              <a:t>Add (R3), R1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7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36"/>
          <p:cNvSpPr txBox="1">
            <a:spLocks noGrp="1"/>
          </p:cNvSpPr>
          <p:nvPr>
            <p:ph type="title"/>
          </p:nvPr>
        </p:nvSpPr>
        <p:spPr>
          <a:xfrm>
            <a:off x="207390" y="365126"/>
            <a:ext cx="11146410" cy="53061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ct val="100000"/>
              <a:buFont typeface="Calibri"/>
              <a:buNone/>
            </a:pPr>
            <a:r>
              <a:rPr lang="en-US" sz="2800" b="1" dirty="0"/>
              <a:t>Branch Instruction </a:t>
            </a:r>
            <a:endParaRPr sz="2800" b="1" dirty="0"/>
          </a:p>
        </p:txBody>
      </p:sp>
      <p:sp>
        <p:nvSpPr>
          <p:cNvPr id="300" name="Google Shape;300;p36"/>
          <p:cNvSpPr txBox="1">
            <a:spLocks noGrp="1"/>
          </p:cNvSpPr>
          <p:nvPr>
            <p:ph type="body" idx="1"/>
          </p:nvPr>
        </p:nvSpPr>
        <p:spPr>
          <a:xfrm>
            <a:off x="282018" y="995519"/>
            <a:ext cx="11388365" cy="5085281"/>
          </a:xfrm>
          <a:prstGeom prst="rect">
            <a:avLst/>
          </a:prstGeom>
          <a:noFill/>
          <a:ln>
            <a:noFill/>
          </a:ln>
        </p:spPr>
        <p:txBody>
          <a:bodyPr spcFirstLastPara="1" wrap="square" lIns="91425" tIns="45700" rIns="91425" bIns="45700" anchor="t" anchorCtr="0">
            <a:normAutofit/>
          </a:bodyPr>
          <a:lstStyle/>
          <a:p>
            <a:pPr marL="228600" lvl="0" indent="-228600" algn="just" rtl="0">
              <a:lnSpc>
                <a:spcPct val="90000"/>
              </a:lnSpc>
              <a:spcBef>
                <a:spcPts val="0"/>
              </a:spcBef>
              <a:spcAft>
                <a:spcPts val="0"/>
              </a:spcAft>
              <a:buClr>
                <a:schemeClr val="dk1"/>
              </a:buClr>
              <a:buSzPts val="1800"/>
              <a:buChar char="•"/>
            </a:pPr>
            <a:r>
              <a:rPr lang="en-US" sz="2400" dirty="0"/>
              <a:t>A branch instruction replaces the contents of the PC with the branch target address. </a:t>
            </a:r>
            <a:endParaRPr sz="2400" dirty="0"/>
          </a:p>
          <a:p>
            <a:pPr marL="228600" lvl="0" indent="-228600" algn="just" rtl="0">
              <a:lnSpc>
                <a:spcPct val="90000"/>
              </a:lnSpc>
              <a:spcBef>
                <a:spcPts val="1000"/>
              </a:spcBef>
              <a:spcAft>
                <a:spcPts val="0"/>
              </a:spcAft>
              <a:buClr>
                <a:schemeClr val="dk1"/>
              </a:buClr>
              <a:buSzPts val="1800"/>
              <a:buChar char="•"/>
            </a:pPr>
            <a:r>
              <a:rPr lang="en-US" sz="2400" dirty="0"/>
              <a:t>This address is usually obtained by adding an offset X, which is given in the branch instruction, to the updated value of the PC. Figure gives a control sequence that implements an </a:t>
            </a:r>
            <a:r>
              <a:rPr lang="en-US" sz="2400" b="1" dirty="0">
                <a:solidFill>
                  <a:srgbClr val="FF0000"/>
                </a:solidFill>
              </a:rPr>
              <a:t>unconditional</a:t>
            </a:r>
            <a:r>
              <a:rPr lang="en-US" sz="2400" dirty="0"/>
              <a:t> branch instruction. </a:t>
            </a:r>
            <a:endParaRPr sz="2400" dirty="0"/>
          </a:p>
          <a:p>
            <a:pPr marL="228600" lvl="0" indent="-228600" algn="just" rtl="0">
              <a:lnSpc>
                <a:spcPct val="90000"/>
              </a:lnSpc>
              <a:spcBef>
                <a:spcPts val="1000"/>
              </a:spcBef>
              <a:spcAft>
                <a:spcPts val="0"/>
              </a:spcAft>
              <a:buClr>
                <a:schemeClr val="dk1"/>
              </a:buClr>
              <a:buSzPts val="1800"/>
              <a:buChar char="•"/>
            </a:pPr>
            <a:r>
              <a:rPr lang="en-US" sz="2400" dirty="0"/>
              <a:t>Processing starts, as usual, with the fetch phase. This phase ends when the instruction is loaded into the IR in step 3. </a:t>
            </a:r>
            <a:endParaRPr sz="2400" dirty="0"/>
          </a:p>
          <a:p>
            <a:pPr marL="228600" lvl="0" indent="-228600" algn="just" rtl="0">
              <a:lnSpc>
                <a:spcPct val="90000"/>
              </a:lnSpc>
              <a:spcBef>
                <a:spcPts val="1000"/>
              </a:spcBef>
              <a:spcAft>
                <a:spcPts val="0"/>
              </a:spcAft>
              <a:buClr>
                <a:schemeClr val="dk1"/>
              </a:buClr>
              <a:buSzPts val="1800"/>
              <a:buChar char="•"/>
            </a:pPr>
            <a:r>
              <a:rPr lang="en-US" sz="2400" dirty="0"/>
              <a:t>The offset value is extracted from the IR by the instruction decoding circuit, which will also perform sign extension if required. </a:t>
            </a:r>
            <a:endParaRPr sz="2400" dirty="0"/>
          </a:p>
          <a:p>
            <a:pPr marL="228600" lvl="0" indent="-228600" algn="just" rtl="0">
              <a:lnSpc>
                <a:spcPct val="90000"/>
              </a:lnSpc>
              <a:spcBef>
                <a:spcPts val="1000"/>
              </a:spcBef>
              <a:spcAft>
                <a:spcPts val="0"/>
              </a:spcAft>
              <a:buClr>
                <a:schemeClr val="dk1"/>
              </a:buClr>
              <a:buSzPts val="1800"/>
              <a:buChar char="•"/>
            </a:pPr>
            <a:r>
              <a:rPr lang="en-US" sz="2400" dirty="0"/>
              <a:t>Since the value of the updated PC is already available in register Y, the offset X is gated onto the bus in step 4, and an addition operation is performed. The result, which is the branch target address, is loaded into the PC in step 5.</a:t>
            </a:r>
            <a:endParaRPr sz="24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EAD43224-4A31-E977-56CD-97D46D763663}"/>
              </a:ext>
            </a:extLst>
          </p:cNvPr>
          <p:cNvSpPr>
            <a:spLocks noGrp="1" noChangeArrowheads="1"/>
          </p:cNvSpPr>
          <p:nvPr>
            <p:ph type="title"/>
          </p:nvPr>
        </p:nvSpPr>
        <p:spPr/>
        <p:txBody>
          <a:bodyPr/>
          <a:lstStyle/>
          <a:p>
            <a:r>
              <a:rPr lang="en-US" altLang="en-US"/>
              <a:t>Execution of Branch Instructions</a:t>
            </a:r>
          </a:p>
        </p:txBody>
      </p:sp>
      <p:sp>
        <p:nvSpPr>
          <p:cNvPr id="34819" name="Rectangle 4">
            <a:extLst>
              <a:ext uri="{FF2B5EF4-FFF2-40B4-BE49-F238E27FC236}">
                <a16:creationId xmlns:a16="http://schemas.microsoft.com/office/drawing/2014/main" id="{24C77F0E-D134-BA1F-1DBB-037E9892D2E4}"/>
              </a:ext>
            </a:extLst>
          </p:cNvPr>
          <p:cNvSpPr>
            <a:spLocks noChangeArrowheads="1"/>
          </p:cNvSpPr>
          <p:nvPr/>
        </p:nvSpPr>
        <p:spPr bwMode="auto">
          <a:xfrm>
            <a:off x="3463925" y="1812925"/>
            <a:ext cx="4954588" cy="1588"/>
          </a:xfrm>
          <a:prstGeom prst="rect">
            <a:avLst/>
          </a:prstGeom>
          <a:solidFill>
            <a:srgbClr val="0000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4820" name="Rectangle 5">
            <a:extLst>
              <a:ext uri="{FF2B5EF4-FFF2-40B4-BE49-F238E27FC236}">
                <a16:creationId xmlns:a16="http://schemas.microsoft.com/office/drawing/2014/main" id="{229B8DE6-7C6E-C7E6-1593-D86435BE277D}"/>
              </a:ext>
            </a:extLst>
          </p:cNvPr>
          <p:cNvSpPr>
            <a:spLocks noChangeArrowheads="1"/>
          </p:cNvSpPr>
          <p:nvPr/>
        </p:nvSpPr>
        <p:spPr bwMode="auto">
          <a:xfrm>
            <a:off x="3463926" y="2027238"/>
            <a:ext cx="455253"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b="1">
                <a:solidFill>
                  <a:srgbClr val="000000"/>
                </a:solidFill>
                <a:latin typeface="Computer Modern" charset="0"/>
              </a:rPr>
              <a:t>Step</a:t>
            </a:r>
            <a:endParaRPr lang="en-CA" altLang="en-US" sz="2400">
              <a:latin typeface="Times New Roman" panose="02020603050405020304" pitchFamily="18" charset="0"/>
            </a:endParaRPr>
          </a:p>
        </p:txBody>
      </p:sp>
      <p:sp>
        <p:nvSpPr>
          <p:cNvPr id="34821" name="Rectangle 6">
            <a:extLst>
              <a:ext uri="{FF2B5EF4-FFF2-40B4-BE49-F238E27FC236}">
                <a16:creationId xmlns:a16="http://schemas.microsoft.com/office/drawing/2014/main" id="{79340092-B634-1E17-26D5-4E53337370EF}"/>
              </a:ext>
            </a:extLst>
          </p:cNvPr>
          <p:cNvSpPr>
            <a:spLocks noChangeArrowheads="1"/>
          </p:cNvSpPr>
          <p:nvPr/>
        </p:nvSpPr>
        <p:spPr bwMode="auto">
          <a:xfrm>
            <a:off x="4041776" y="2027238"/>
            <a:ext cx="657231"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b="1">
                <a:solidFill>
                  <a:srgbClr val="000000"/>
                </a:solidFill>
                <a:latin typeface="Computer Modern" charset="0"/>
              </a:rPr>
              <a:t>Action</a:t>
            </a:r>
            <a:endParaRPr lang="en-CA" altLang="en-US" sz="2400">
              <a:latin typeface="Times New Roman" panose="02020603050405020304" pitchFamily="18" charset="0"/>
            </a:endParaRPr>
          </a:p>
        </p:txBody>
      </p:sp>
      <p:sp>
        <p:nvSpPr>
          <p:cNvPr id="34822" name="Rectangle 7">
            <a:extLst>
              <a:ext uri="{FF2B5EF4-FFF2-40B4-BE49-F238E27FC236}">
                <a16:creationId xmlns:a16="http://schemas.microsoft.com/office/drawing/2014/main" id="{392C1A76-4E69-A4F0-6822-25D1F5A4C147}"/>
              </a:ext>
            </a:extLst>
          </p:cNvPr>
          <p:cNvSpPr>
            <a:spLocks noChangeArrowheads="1"/>
          </p:cNvSpPr>
          <p:nvPr/>
        </p:nvSpPr>
        <p:spPr bwMode="auto">
          <a:xfrm>
            <a:off x="3463925" y="2571750"/>
            <a:ext cx="4954588" cy="1588"/>
          </a:xfrm>
          <a:prstGeom prst="rect">
            <a:avLst/>
          </a:prstGeom>
          <a:solidFill>
            <a:srgbClr val="0000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4823" name="Rectangle 8">
            <a:extLst>
              <a:ext uri="{FF2B5EF4-FFF2-40B4-BE49-F238E27FC236}">
                <a16:creationId xmlns:a16="http://schemas.microsoft.com/office/drawing/2014/main" id="{94F56557-890B-62D8-E163-0E18A0E2942E}"/>
              </a:ext>
            </a:extLst>
          </p:cNvPr>
          <p:cNvSpPr>
            <a:spLocks noChangeArrowheads="1"/>
          </p:cNvSpPr>
          <p:nvPr/>
        </p:nvSpPr>
        <p:spPr bwMode="auto">
          <a:xfrm>
            <a:off x="3463925" y="2667000"/>
            <a:ext cx="123432"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1</a:t>
            </a:r>
            <a:endParaRPr lang="en-CA" altLang="en-US" sz="2400">
              <a:latin typeface="Times New Roman" panose="02020603050405020304" pitchFamily="18" charset="0"/>
            </a:endParaRPr>
          </a:p>
        </p:txBody>
      </p:sp>
      <p:sp>
        <p:nvSpPr>
          <p:cNvPr id="34824" name="Rectangle 9">
            <a:extLst>
              <a:ext uri="{FF2B5EF4-FFF2-40B4-BE49-F238E27FC236}">
                <a16:creationId xmlns:a16="http://schemas.microsoft.com/office/drawing/2014/main" id="{A298600B-791E-46FB-8360-02B12FA766D2}"/>
              </a:ext>
            </a:extLst>
          </p:cNvPr>
          <p:cNvSpPr>
            <a:spLocks noChangeArrowheads="1"/>
          </p:cNvSpPr>
          <p:nvPr/>
        </p:nvSpPr>
        <p:spPr bwMode="auto">
          <a:xfrm>
            <a:off x="4270375" y="2667000"/>
            <a:ext cx="256480"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PC</a:t>
            </a:r>
            <a:endParaRPr lang="en-CA" altLang="en-US" sz="2400">
              <a:latin typeface="Times New Roman" panose="02020603050405020304" pitchFamily="18" charset="0"/>
            </a:endParaRPr>
          </a:p>
        </p:txBody>
      </p:sp>
      <p:sp>
        <p:nvSpPr>
          <p:cNvPr id="34825" name="Rectangle 10">
            <a:extLst>
              <a:ext uri="{FF2B5EF4-FFF2-40B4-BE49-F238E27FC236}">
                <a16:creationId xmlns:a16="http://schemas.microsoft.com/office/drawing/2014/main" id="{DB939FE9-E5A7-AC5F-5C43-1C66DB986C86}"/>
              </a:ext>
            </a:extLst>
          </p:cNvPr>
          <p:cNvSpPr>
            <a:spLocks noChangeArrowheads="1"/>
          </p:cNvSpPr>
          <p:nvPr/>
        </p:nvSpPr>
        <p:spPr bwMode="auto">
          <a:xfrm>
            <a:off x="4560888" y="2782889"/>
            <a:ext cx="232436"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out</a:t>
            </a:r>
            <a:endParaRPr lang="en-CA" altLang="en-US" sz="2400">
              <a:latin typeface="Times New Roman" panose="02020603050405020304" pitchFamily="18" charset="0"/>
            </a:endParaRPr>
          </a:p>
        </p:txBody>
      </p:sp>
      <p:sp>
        <p:nvSpPr>
          <p:cNvPr id="34826" name="Rectangle 11">
            <a:extLst>
              <a:ext uri="{FF2B5EF4-FFF2-40B4-BE49-F238E27FC236}">
                <a16:creationId xmlns:a16="http://schemas.microsoft.com/office/drawing/2014/main" id="{A148FC8F-3ACD-4BAA-5D43-8AF165B1C4ED}"/>
              </a:ext>
            </a:extLst>
          </p:cNvPr>
          <p:cNvSpPr>
            <a:spLocks noChangeArrowheads="1"/>
          </p:cNvSpPr>
          <p:nvPr/>
        </p:nvSpPr>
        <p:spPr bwMode="auto">
          <a:xfrm>
            <a:off x="4829175" y="2667000"/>
            <a:ext cx="609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34827" name="Rectangle 12">
            <a:extLst>
              <a:ext uri="{FF2B5EF4-FFF2-40B4-BE49-F238E27FC236}">
                <a16:creationId xmlns:a16="http://schemas.microsoft.com/office/drawing/2014/main" id="{230AA116-497C-58D3-55E3-633FC1EA213B}"/>
              </a:ext>
            </a:extLst>
          </p:cNvPr>
          <p:cNvSpPr>
            <a:spLocks noChangeArrowheads="1"/>
          </p:cNvSpPr>
          <p:nvPr/>
        </p:nvSpPr>
        <p:spPr bwMode="auto">
          <a:xfrm>
            <a:off x="5029200" y="2667000"/>
            <a:ext cx="48250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MAR</a:t>
            </a:r>
            <a:endParaRPr lang="en-CA" altLang="en-US" sz="2400">
              <a:latin typeface="Times New Roman" panose="02020603050405020304" pitchFamily="18" charset="0"/>
            </a:endParaRPr>
          </a:p>
        </p:txBody>
      </p:sp>
      <p:sp>
        <p:nvSpPr>
          <p:cNvPr id="34828" name="Rectangle 13">
            <a:extLst>
              <a:ext uri="{FF2B5EF4-FFF2-40B4-BE49-F238E27FC236}">
                <a16:creationId xmlns:a16="http://schemas.microsoft.com/office/drawing/2014/main" id="{590A6B4E-9B75-2EFA-A58F-D22EE698B890}"/>
              </a:ext>
            </a:extLst>
          </p:cNvPr>
          <p:cNvSpPr>
            <a:spLocks noChangeArrowheads="1"/>
          </p:cNvSpPr>
          <p:nvPr/>
        </p:nvSpPr>
        <p:spPr bwMode="auto">
          <a:xfrm>
            <a:off x="5616575" y="2774950"/>
            <a:ext cx="128588"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34829" name="Rectangle 14">
            <a:extLst>
              <a:ext uri="{FF2B5EF4-FFF2-40B4-BE49-F238E27FC236}">
                <a16:creationId xmlns:a16="http://schemas.microsoft.com/office/drawing/2014/main" id="{D4722A37-A73C-DAD1-C3C6-294F0E742253}"/>
              </a:ext>
            </a:extLst>
          </p:cNvPr>
          <p:cNvSpPr>
            <a:spLocks noChangeArrowheads="1"/>
          </p:cNvSpPr>
          <p:nvPr/>
        </p:nvSpPr>
        <p:spPr bwMode="auto">
          <a:xfrm>
            <a:off x="5786438" y="2667000"/>
            <a:ext cx="609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34830" name="Rectangle 15">
            <a:extLst>
              <a:ext uri="{FF2B5EF4-FFF2-40B4-BE49-F238E27FC236}">
                <a16:creationId xmlns:a16="http://schemas.microsoft.com/office/drawing/2014/main" id="{B95CBDF2-FEEB-3AC9-7F35-D5A7F8840FD8}"/>
              </a:ext>
            </a:extLst>
          </p:cNvPr>
          <p:cNvSpPr>
            <a:spLocks noChangeArrowheads="1"/>
          </p:cNvSpPr>
          <p:nvPr/>
        </p:nvSpPr>
        <p:spPr bwMode="auto">
          <a:xfrm>
            <a:off x="5929314" y="2667000"/>
            <a:ext cx="561051"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Read,</a:t>
            </a:r>
            <a:endParaRPr lang="en-CA" altLang="en-US" sz="2400">
              <a:latin typeface="Times New Roman" panose="02020603050405020304" pitchFamily="18" charset="0"/>
            </a:endParaRPr>
          </a:p>
        </p:txBody>
      </p:sp>
      <p:sp>
        <p:nvSpPr>
          <p:cNvPr id="34831" name="Rectangle 16">
            <a:extLst>
              <a:ext uri="{FF2B5EF4-FFF2-40B4-BE49-F238E27FC236}">
                <a16:creationId xmlns:a16="http://schemas.microsoft.com/office/drawing/2014/main" id="{D4065D81-B86B-515C-B635-B9097327246F}"/>
              </a:ext>
            </a:extLst>
          </p:cNvPr>
          <p:cNvSpPr>
            <a:spLocks noChangeArrowheads="1"/>
          </p:cNvSpPr>
          <p:nvPr/>
        </p:nvSpPr>
        <p:spPr bwMode="auto">
          <a:xfrm>
            <a:off x="6616701" y="2667000"/>
            <a:ext cx="780663"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Select4,</a:t>
            </a:r>
            <a:endParaRPr lang="en-CA" altLang="en-US" sz="2400">
              <a:latin typeface="Times New Roman" panose="02020603050405020304" pitchFamily="18" charset="0"/>
            </a:endParaRPr>
          </a:p>
        </p:txBody>
      </p:sp>
      <p:sp>
        <p:nvSpPr>
          <p:cNvPr id="34832" name="Rectangle 17">
            <a:extLst>
              <a:ext uri="{FF2B5EF4-FFF2-40B4-BE49-F238E27FC236}">
                <a16:creationId xmlns:a16="http://schemas.microsoft.com/office/drawing/2014/main" id="{1F575962-834A-5385-ACFF-843B11F3EC7E}"/>
              </a:ext>
            </a:extLst>
          </p:cNvPr>
          <p:cNvSpPr>
            <a:spLocks noChangeArrowheads="1"/>
          </p:cNvSpPr>
          <p:nvPr/>
        </p:nvSpPr>
        <p:spPr bwMode="auto">
          <a:xfrm>
            <a:off x="7470776" y="2667000"/>
            <a:ext cx="458459"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Add,</a:t>
            </a:r>
            <a:endParaRPr lang="en-CA" altLang="en-US" sz="2400">
              <a:latin typeface="Times New Roman" panose="02020603050405020304" pitchFamily="18" charset="0"/>
            </a:endParaRPr>
          </a:p>
        </p:txBody>
      </p:sp>
      <p:sp>
        <p:nvSpPr>
          <p:cNvPr id="34833" name="Rectangle 18">
            <a:extLst>
              <a:ext uri="{FF2B5EF4-FFF2-40B4-BE49-F238E27FC236}">
                <a16:creationId xmlns:a16="http://schemas.microsoft.com/office/drawing/2014/main" id="{62D36B52-F322-F1DE-FA4B-CB33BD338494}"/>
              </a:ext>
            </a:extLst>
          </p:cNvPr>
          <p:cNvSpPr>
            <a:spLocks noChangeArrowheads="1"/>
          </p:cNvSpPr>
          <p:nvPr/>
        </p:nvSpPr>
        <p:spPr bwMode="auto">
          <a:xfrm>
            <a:off x="8062913" y="2667000"/>
            <a:ext cx="1138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Z</a:t>
            </a:r>
            <a:endParaRPr lang="en-CA" altLang="en-US" sz="2400">
              <a:latin typeface="Times New Roman" panose="02020603050405020304" pitchFamily="18" charset="0"/>
            </a:endParaRPr>
          </a:p>
        </p:txBody>
      </p:sp>
      <p:sp>
        <p:nvSpPr>
          <p:cNvPr id="34834" name="Rectangle 19">
            <a:extLst>
              <a:ext uri="{FF2B5EF4-FFF2-40B4-BE49-F238E27FC236}">
                <a16:creationId xmlns:a16="http://schemas.microsoft.com/office/drawing/2014/main" id="{25762059-1484-81C6-D7C3-9126BF09A0FB}"/>
              </a:ext>
            </a:extLst>
          </p:cNvPr>
          <p:cNvSpPr>
            <a:spLocks noChangeArrowheads="1"/>
          </p:cNvSpPr>
          <p:nvPr/>
        </p:nvSpPr>
        <p:spPr bwMode="auto">
          <a:xfrm>
            <a:off x="8224839" y="2763839"/>
            <a:ext cx="1285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34835" name="Rectangle 20">
            <a:extLst>
              <a:ext uri="{FF2B5EF4-FFF2-40B4-BE49-F238E27FC236}">
                <a16:creationId xmlns:a16="http://schemas.microsoft.com/office/drawing/2014/main" id="{6C3A8E84-2DEE-8BCD-ADE7-B5BBE7740E16}"/>
              </a:ext>
            </a:extLst>
          </p:cNvPr>
          <p:cNvSpPr>
            <a:spLocks noChangeArrowheads="1"/>
          </p:cNvSpPr>
          <p:nvPr/>
        </p:nvSpPr>
        <p:spPr bwMode="auto">
          <a:xfrm>
            <a:off x="3463925" y="3094038"/>
            <a:ext cx="123432"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2</a:t>
            </a:r>
            <a:endParaRPr lang="en-CA" altLang="en-US" sz="2400">
              <a:latin typeface="Times New Roman" panose="02020603050405020304" pitchFamily="18" charset="0"/>
            </a:endParaRPr>
          </a:p>
        </p:txBody>
      </p:sp>
      <p:sp>
        <p:nvSpPr>
          <p:cNvPr id="34836" name="Rectangle 21">
            <a:extLst>
              <a:ext uri="{FF2B5EF4-FFF2-40B4-BE49-F238E27FC236}">
                <a16:creationId xmlns:a16="http://schemas.microsoft.com/office/drawing/2014/main" id="{BBB71FC5-EF6E-13DA-655D-929165FA980A}"/>
              </a:ext>
            </a:extLst>
          </p:cNvPr>
          <p:cNvSpPr>
            <a:spLocks noChangeArrowheads="1"/>
          </p:cNvSpPr>
          <p:nvPr/>
        </p:nvSpPr>
        <p:spPr bwMode="auto">
          <a:xfrm>
            <a:off x="4270375" y="3094038"/>
            <a:ext cx="1138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Z</a:t>
            </a:r>
            <a:endParaRPr lang="en-CA" altLang="en-US" sz="2400">
              <a:latin typeface="Times New Roman" panose="02020603050405020304" pitchFamily="18" charset="0"/>
            </a:endParaRPr>
          </a:p>
        </p:txBody>
      </p:sp>
      <p:sp>
        <p:nvSpPr>
          <p:cNvPr id="34837" name="Rectangle 22">
            <a:extLst>
              <a:ext uri="{FF2B5EF4-FFF2-40B4-BE49-F238E27FC236}">
                <a16:creationId xmlns:a16="http://schemas.microsoft.com/office/drawing/2014/main" id="{56B2F050-4FFB-89C6-1BF2-A05068D4A8D9}"/>
              </a:ext>
            </a:extLst>
          </p:cNvPr>
          <p:cNvSpPr>
            <a:spLocks noChangeArrowheads="1"/>
          </p:cNvSpPr>
          <p:nvPr/>
        </p:nvSpPr>
        <p:spPr bwMode="auto">
          <a:xfrm>
            <a:off x="4411663" y="3205164"/>
            <a:ext cx="232436"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out</a:t>
            </a:r>
            <a:endParaRPr lang="en-CA" altLang="en-US" sz="2400">
              <a:latin typeface="Times New Roman" panose="02020603050405020304" pitchFamily="18" charset="0"/>
            </a:endParaRPr>
          </a:p>
        </p:txBody>
      </p:sp>
      <p:sp>
        <p:nvSpPr>
          <p:cNvPr id="34838" name="Rectangle 23">
            <a:extLst>
              <a:ext uri="{FF2B5EF4-FFF2-40B4-BE49-F238E27FC236}">
                <a16:creationId xmlns:a16="http://schemas.microsoft.com/office/drawing/2014/main" id="{7B3B4763-A1A8-467C-0FB9-A6B727A2B0A4}"/>
              </a:ext>
            </a:extLst>
          </p:cNvPr>
          <p:cNvSpPr>
            <a:spLocks noChangeArrowheads="1"/>
          </p:cNvSpPr>
          <p:nvPr/>
        </p:nvSpPr>
        <p:spPr bwMode="auto">
          <a:xfrm>
            <a:off x="4652963" y="3094038"/>
            <a:ext cx="609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34839" name="Rectangle 24">
            <a:extLst>
              <a:ext uri="{FF2B5EF4-FFF2-40B4-BE49-F238E27FC236}">
                <a16:creationId xmlns:a16="http://schemas.microsoft.com/office/drawing/2014/main" id="{5CB4ED01-7743-53F7-D8A9-B8BB308A4F98}"/>
              </a:ext>
            </a:extLst>
          </p:cNvPr>
          <p:cNvSpPr>
            <a:spLocks noChangeArrowheads="1"/>
          </p:cNvSpPr>
          <p:nvPr/>
        </p:nvSpPr>
        <p:spPr bwMode="auto">
          <a:xfrm>
            <a:off x="4838700" y="3094038"/>
            <a:ext cx="256480"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PC</a:t>
            </a:r>
            <a:endParaRPr lang="en-CA" altLang="en-US" sz="2400">
              <a:latin typeface="Times New Roman" panose="02020603050405020304" pitchFamily="18" charset="0"/>
            </a:endParaRPr>
          </a:p>
        </p:txBody>
      </p:sp>
      <p:sp>
        <p:nvSpPr>
          <p:cNvPr id="34840" name="Rectangle 25">
            <a:extLst>
              <a:ext uri="{FF2B5EF4-FFF2-40B4-BE49-F238E27FC236}">
                <a16:creationId xmlns:a16="http://schemas.microsoft.com/office/drawing/2014/main" id="{A0CC66B5-75E8-DAAA-DB4C-CBF77D4B10C5}"/>
              </a:ext>
            </a:extLst>
          </p:cNvPr>
          <p:cNvSpPr>
            <a:spLocks noChangeArrowheads="1"/>
          </p:cNvSpPr>
          <p:nvPr/>
        </p:nvSpPr>
        <p:spPr bwMode="auto">
          <a:xfrm>
            <a:off x="5170489" y="3205164"/>
            <a:ext cx="1285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34841" name="Rectangle 26">
            <a:extLst>
              <a:ext uri="{FF2B5EF4-FFF2-40B4-BE49-F238E27FC236}">
                <a16:creationId xmlns:a16="http://schemas.microsoft.com/office/drawing/2014/main" id="{4FB094B1-32F7-E938-2503-3075E7DA51C0}"/>
              </a:ext>
            </a:extLst>
          </p:cNvPr>
          <p:cNvSpPr>
            <a:spLocks noChangeArrowheads="1"/>
          </p:cNvSpPr>
          <p:nvPr/>
        </p:nvSpPr>
        <p:spPr bwMode="auto">
          <a:xfrm>
            <a:off x="5341938" y="3094038"/>
            <a:ext cx="609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34842" name="Rectangle 27">
            <a:extLst>
              <a:ext uri="{FF2B5EF4-FFF2-40B4-BE49-F238E27FC236}">
                <a16:creationId xmlns:a16="http://schemas.microsoft.com/office/drawing/2014/main" id="{1733C5BB-23F7-180C-CDAB-561EE652E47F}"/>
              </a:ext>
            </a:extLst>
          </p:cNvPr>
          <p:cNvSpPr>
            <a:spLocks noChangeArrowheads="1"/>
          </p:cNvSpPr>
          <p:nvPr/>
        </p:nvSpPr>
        <p:spPr bwMode="auto">
          <a:xfrm>
            <a:off x="5526088" y="3094038"/>
            <a:ext cx="118622"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Y</a:t>
            </a:r>
            <a:endParaRPr lang="en-CA" altLang="en-US" sz="2400">
              <a:latin typeface="Times New Roman" panose="02020603050405020304" pitchFamily="18" charset="0"/>
            </a:endParaRPr>
          </a:p>
        </p:txBody>
      </p:sp>
      <p:sp>
        <p:nvSpPr>
          <p:cNvPr id="34843" name="Rectangle 28">
            <a:extLst>
              <a:ext uri="{FF2B5EF4-FFF2-40B4-BE49-F238E27FC236}">
                <a16:creationId xmlns:a16="http://schemas.microsoft.com/office/drawing/2014/main" id="{646F0EDC-EE25-5A0F-70DA-0214A1D6CC49}"/>
              </a:ext>
            </a:extLst>
          </p:cNvPr>
          <p:cNvSpPr>
            <a:spLocks noChangeArrowheads="1"/>
          </p:cNvSpPr>
          <p:nvPr/>
        </p:nvSpPr>
        <p:spPr bwMode="auto">
          <a:xfrm>
            <a:off x="5692775" y="3205164"/>
            <a:ext cx="128588"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34844" name="Rectangle 29">
            <a:extLst>
              <a:ext uri="{FF2B5EF4-FFF2-40B4-BE49-F238E27FC236}">
                <a16:creationId xmlns:a16="http://schemas.microsoft.com/office/drawing/2014/main" id="{099BCC09-E66D-3768-8C45-0B09C4DC7E92}"/>
              </a:ext>
            </a:extLst>
          </p:cNvPr>
          <p:cNvSpPr>
            <a:spLocks noChangeArrowheads="1"/>
          </p:cNvSpPr>
          <p:nvPr/>
        </p:nvSpPr>
        <p:spPr bwMode="auto">
          <a:xfrm>
            <a:off x="5838825" y="3094038"/>
            <a:ext cx="609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34845" name="Rectangle 30">
            <a:extLst>
              <a:ext uri="{FF2B5EF4-FFF2-40B4-BE49-F238E27FC236}">
                <a16:creationId xmlns:a16="http://schemas.microsoft.com/office/drawing/2014/main" id="{092F7353-E8BF-6B19-26DE-CA7056740872}"/>
              </a:ext>
            </a:extLst>
          </p:cNvPr>
          <p:cNvSpPr>
            <a:spLocks noChangeArrowheads="1"/>
          </p:cNvSpPr>
          <p:nvPr/>
        </p:nvSpPr>
        <p:spPr bwMode="auto">
          <a:xfrm>
            <a:off x="6024563" y="3094038"/>
            <a:ext cx="537006"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WMF</a:t>
            </a:r>
            <a:endParaRPr lang="en-CA" altLang="en-US" sz="2400">
              <a:latin typeface="Times New Roman" panose="02020603050405020304" pitchFamily="18" charset="0"/>
            </a:endParaRPr>
          </a:p>
        </p:txBody>
      </p:sp>
      <p:sp>
        <p:nvSpPr>
          <p:cNvPr id="34846" name="Rectangle 31">
            <a:extLst>
              <a:ext uri="{FF2B5EF4-FFF2-40B4-BE49-F238E27FC236}">
                <a16:creationId xmlns:a16="http://schemas.microsoft.com/office/drawing/2014/main" id="{32C670FD-21C1-D314-F216-739CF1A57917}"/>
              </a:ext>
            </a:extLst>
          </p:cNvPr>
          <p:cNvSpPr>
            <a:spLocks noChangeArrowheads="1"/>
          </p:cNvSpPr>
          <p:nvPr/>
        </p:nvSpPr>
        <p:spPr bwMode="auto">
          <a:xfrm>
            <a:off x="6640513" y="3094038"/>
            <a:ext cx="12984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C</a:t>
            </a:r>
            <a:endParaRPr lang="en-CA" altLang="en-US" sz="2400">
              <a:latin typeface="Times New Roman" panose="02020603050405020304" pitchFamily="18" charset="0"/>
            </a:endParaRPr>
          </a:p>
        </p:txBody>
      </p:sp>
      <p:sp>
        <p:nvSpPr>
          <p:cNvPr id="34847" name="Rectangle 32">
            <a:extLst>
              <a:ext uri="{FF2B5EF4-FFF2-40B4-BE49-F238E27FC236}">
                <a16:creationId xmlns:a16="http://schemas.microsoft.com/office/drawing/2014/main" id="{963A5A8A-75B3-29F6-D6D9-5E3BAA56E174}"/>
              </a:ext>
            </a:extLst>
          </p:cNvPr>
          <p:cNvSpPr>
            <a:spLocks noChangeArrowheads="1"/>
          </p:cNvSpPr>
          <p:nvPr/>
        </p:nvSpPr>
        <p:spPr bwMode="auto">
          <a:xfrm>
            <a:off x="3463925" y="3497263"/>
            <a:ext cx="123432"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3</a:t>
            </a:r>
            <a:endParaRPr lang="en-CA" altLang="en-US" sz="2400">
              <a:latin typeface="Times New Roman" panose="02020603050405020304" pitchFamily="18" charset="0"/>
            </a:endParaRPr>
          </a:p>
        </p:txBody>
      </p:sp>
      <p:sp>
        <p:nvSpPr>
          <p:cNvPr id="34848" name="Rectangle 33">
            <a:extLst>
              <a:ext uri="{FF2B5EF4-FFF2-40B4-BE49-F238E27FC236}">
                <a16:creationId xmlns:a16="http://schemas.microsoft.com/office/drawing/2014/main" id="{CA630368-ADF2-3990-8E2B-1E3F6EFDC65C}"/>
              </a:ext>
            </a:extLst>
          </p:cNvPr>
          <p:cNvSpPr>
            <a:spLocks noChangeArrowheads="1"/>
          </p:cNvSpPr>
          <p:nvPr/>
        </p:nvSpPr>
        <p:spPr bwMode="auto">
          <a:xfrm>
            <a:off x="4270375" y="3497263"/>
            <a:ext cx="492122"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MDR</a:t>
            </a:r>
            <a:endParaRPr lang="en-CA" altLang="en-US" sz="2400">
              <a:latin typeface="Times New Roman" panose="02020603050405020304" pitchFamily="18" charset="0"/>
            </a:endParaRPr>
          </a:p>
        </p:txBody>
      </p:sp>
      <p:sp>
        <p:nvSpPr>
          <p:cNvPr id="34849" name="Rectangle 34">
            <a:extLst>
              <a:ext uri="{FF2B5EF4-FFF2-40B4-BE49-F238E27FC236}">
                <a16:creationId xmlns:a16="http://schemas.microsoft.com/office/drawing/2014/main" id="{DC8DC321-E365-C2CE-7E8D-23291DABA397}"/>
              </a:ext>
            </a:extLst>
          </p:cNvPr>
          <p:cNvSpPr>
            <a:spLocks noChangeArrowheads="1"/>
          </p:cNvSpPr>
          <p:nvPr/>
        </p:nvSpPr>
        <p:spPr bwMode="auto">
          <a:xfrm>
            <a:off x="4838700" y="3624264"/>
            <a:ext cx="230188"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out</a:t>
            </a:r>
            <a:endParaRPr lang="en-CA" altLang="en-US" sz="2400">
              <a:latin typeface="Times New Roman" panose="02020603050405020304" pitchFamily="18" charset="0"/>
            </a:endParaRPr>
          </a:p>
        </p:txBody>
      </p:sp>
      <p:sp>
        <p:nvSpPr>
          <p:cNvPr id="34850" name="Rectangle 35">
            <a:extLst>
              <a:ext uri="{FF2B5EF4-FFF2-40B4-BE49-F238E27FC236}">
                <a16:creationId xmlns:a16="http://schemas.microsoft.com/office/drawing/2014/main" id="{1E4FFBEA-838F-1CE5-FFA2-A1425FFAFB19}"/>
              </a:ext>
            </a:extLst>
          </p:cNvPr>
          <p:cNvSpPr>
            <a:spLocks noChangeArrowheads="1"/>
          </p:cNvSpPr>
          <p:nvPr/>
        </p:nvSpPr>
        <p:spPr bwMode="auto">
          <a:xfrm>
            <a:off x="5122863" y="3497263"/>
            <a:ext cx="609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34851" name="Rectangle 36">
            <a:extLst>
              <a:ext uri="{FF2B5EF4-FFF2-40B4-BE49-F238E27FC236}">
                <a16:creationId xmlns:a16="http://schemas.microsoft.com/office/drawing/2014/main" id="{141DF77E-02B0-35EC-355C-33ACA9ACE86B}"/>
              </a:ext>
            </a:extLst>
          </p:cNvPr>
          <p:cNvSpPr>
            <a:spLocks noChangeArrowheads="1"/>
          </p:cNvSpPr>
          <p:nvPr/>
        </p:nvSpPr>
        <p:spPr bwMode="auto">
          <a:xfrm>
            <a:off x="5265738" y="3497263"/>
            <a:ext cx="19396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IR</a:t>
            </a:r>
            <a:endParaRPr lang="en-CA" altLang="en-US" sz="2400">
              <a:latin typeface="Times New Roman" panose="02020603050405020304" pitchFamily="18" charset="0"/>
            </a:endParaRPr>
          </a:p>
        </p:txBody>
      </p:sp>
      <p:sp>
        <p:nvSpPr>
          <p:cNvPr id="34852" name="Rectangle 37">
            <a:extLst>
              <a:ext uri="{FF2B5EF4-FFF2-40B4-BE49-F238E27FC236}">
                <a16:creationId xmlns:a16="http://schemas.microsoft.com/office/drawing/2014/main" id="{306C161C-5D67-FF19-8D1A-941C22256A61}"/>
              </a:ext>
            </a:extLst>
          </p:cNvPr>
          <p:cNvSpPr>
            <a:spLocks noChangeArrowheads="1"/>
          </p:cNvSpPr>
          <p:nvPr/>
        </p:nvSpPr>
        <p:spPr bwMode="auto">
          <a:xfrm>
            <a:off x="5526089" y="3624264"/>
            <a:ext cx="1285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34853" name="Rectangle 38">
            <a:extLst>
              <a:ext uri="{FF2B5EF4-FFF2-40B4-BE49-F238E27FC236}">
                <a16:creationId xmlns:a16="http://schemas.microsoft.com/office/drawing/2014/main" id="{9F80ADF2-2CD1-041B-5FEA-D066F6F2CCE5}"/>
              </a:ext>
            </a:extLst>
          </p:cNvPr>
          <p:cNvSpPr>
            <a:spLocks noChangeArrowheads="1"/>
          </p:cNvSpPr>
          <p:nvPr/>
        </p:nvSpPr>
        <p:spPr bwMode="auto">
          <a:xfrm>
            <a:off x="3463925" y="3924300"/>
            <a:ext cx="123432"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4</a:t>
            </a:r>
            <a:endParaRPr lang="en-CA" altLang="en-US" sz="2400">
              <a:latin typeface="Times New Roman" panose="02020603050405020304" pitchFamily="18" charset="0"/>
            </a:endParaRPr>
          </a:p>
        </p:txBody>
      </p:sp>
      <p:sp>
        <p:nvSpPr>
          <p:cNvPr id="34854" name="Rectangle 39">
            <a:extLst>
              <a:ext uri="{FF2B5EF4-FFF2-40B4-BE49-F238E27FC236}">
                <a16:creationId xmlns:a16="http://schemas.microsoft.com/office/drawing/2014/main" id="{F2EC1AFD-9172-104D-449E-77F5894AF5DA}"/>
              </a:ext>
            </a:extLst>
          </p:cNvPr>
          <p:cNvSpPr>
            <a:spLocks noChangeArrowheads="1"/>
          </p:cNvSpPr>
          <p:nvPr/>
        </p:nvSpPr>
        <p:spPr bwMode="auto">
          <a:xfrm>
            <a:off x="4270376" y="3924300"/>
            <a:ext cx="1665521"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Offset-field-of-IR</a:t>
            </a:r>
            <a:endParaRPr lang="en-CA" altLang="en-US" sz="2400">
              <a:latin typeface="Times New Roman" panose="02020603050405020304" pitchFamily="18" charset="0"/>
            </a:endParaRPr>
          </a:p>
        </p:txBody>
      </p:sp>
      <p:sp>
        <p:nvSpPr>
          <p:cNvPr id="34855" name="Rectangle 40">
            <a:extLst>
              <a:ext uri="{FF2B5EF4-FFF2-40B4-BE49-F238E27FC236}">
                <a16:creationId xmlns:a16="http://schemas.microsoft.com/office/drawing/2014/main" id="{68FF6EB3-1E93-800A-1B54-DEBF2699F0EB}"/>
              </a:ext>
            </a:extLst>
          </p:cNvPr>
          <p:cNvSpPr>
            <a:spLocks noChangeArrowheads="1"/>
          </p:cNvSpPr>
          <p:nvPr/>
        </p:nvSpPr>
        <p:spPr bwMode="auto">
          <a:xfrm>
            <a:off x="5981700" y="4025900"/>
            <a:ext cx="230188"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out</a:t>
            </a:r>
            <a:endParaRPr lang="en-CA" altLang="en-US" sz="2400">
              <a:latin typeface="Times New Roman" panose="02020603050405020304" pitchFamily="18" charset="0"/>
            </a:endParaRPr>
          </a:p>
        </p:txBody>
      </p:sp>
      <p:sp>
        <p:nvSpPr>
          <p:cNvPr id="34856" name="Rectangle 41">
            <a:extLst>
              <a:ext uri="{FF2B5EF4-FFF2-40B4-BE49-F238E27FC236}">
                <a16:creationId xmlns:a16="http://schemas.microsoft.com/office/drawing/2014/main" id="{7AA8EA11-14C2-0B1E-2C0A-BD6BCE50A07E}"/>
              </a:ext>
            </a:extLst>
          </p:cNvPr>
          <p:cNvSpPr>
            <a:spLocks noChangeArrowheads="1"/>
          </p:cNvSpPr>
          <p:nvPr/>
        </p:nvSpPr>
        <p:spPr bwMode="auto">
          <a:xfrm>
            <a:off x="6213475" y="3924300"/>
            <a:ext cx="609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34857" name="Rectangle 42">
            <a:extLst>
              <a:ext uri="{FF2B5EF4-FFF2-40B4-BE49-F238E27FC236}">
                <a16:creationId xmlns:a16="http://schemas.microsoft.com/office/drawing/2014/main" id="{171DEFE9-AE58-BCC8-B4F3-276FC93E0738}"/>
              </a:ext>
            </a:extLst>
          </p:cNvPr>
          <p:cNvSpPr>
            <a:spLocks noChangeArrowheads="1"/>
          </p:cNvSpPr>
          <p:nvPr/>
        </p:nvSpPr>
        <p:spPr bwMode="auto">
          <a:xfrm>
            <a:off x="6427789" y="3924300"/>
            <a:ext cx="458459"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solidFill>
                  <a:srgbClr val="000000"/>
                </a:solidFill>
                <a:latin typeface="Computer Modern" charset="0"/>
              </a:rPr>
              <a:t>Add,</a:t>
            </a:r>
            <a:endParaRPr lang="en-CA" altLang="en-US" sz="2400" dirty="0">
              <a:latin typeface="Times New Roman" panose="02020603050405020304" pitchFamily="18" charset="0"/>
            </a:endParaRPr>
          </a:p>
        </p:txBody>
      </p:sp>
      <p:sp>
        <p:nvSpPr>
          <p:cNvPr id="34858" name="Rectangle 43">
            <a:extLst>
              <a:ext uri="{FF2B5EF4-FFF2-40B4-BE49-F238E27FC236}">
                <a16:creationId xmlns:a16="http://schemas.microsoft.com/office/drawing/2014/main" id="{12341448-DAED-ED4F-93B9-DD453CF7F4CE}"/>
              </a:ext>
            </a:extLst>
          </p:cNvPr>
          <p:cNvSpPr>
            <a:spLocks noChangeArrowheads="1"/>
          </p:cNvSpPr>
          <p:nvPr/>
        </p:nvSpPr>
        <p:spPr bwMode="auto">
          <a:xfrm>
            <a:off x="7019925" y="3924300"/>
            <a:ext cx="1138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Z</a:t>
            </a:r>
            <a:endParaRPr lang="en-CA" altLang="en-US" sz="2400">
              <a:latin typeface="Times New Roman" panose="02020603050405020304" pitchFamily="18" charset="0"/>
            </a:endParaRPr>
          </a:p>
        </p:txBody>
      </p:sp>
      <p:sp>
        <p:nvSpPr>
          <p:cNvPr id="34859" name="Rectangle 44">
            <a:extLst>
              <a:ext uri="{FF2B5EF4-FFF2-40B4-BE49-F238E27FC236}">
                <a16:creationId xmlns:a16="http://schemas.microsoft.com/office/drawing/2014/main" id="{A91D5591-01CB-77E8-50AB-8E4E5993702A}"/>
              </a:ext>
            </a:extLst>
          </p:cNvPr>
          <p:cNvSpPr>
            <a:spLocks noChangeArrowheads="1"/>
          </p:cNvSpPr>
          <p:nvPr/>
        </p:nvSpPr>
        <p:spPr bwMode="auto">
          <a:xfrm>
            <a:off x="7181850" y="4025900"/>
            <a:ext cx="128588"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34860" name="Rectangle 45">
            <a:extLst>
              <a:ext uri="{FF2B5EF4-FFF2-40B4-BE49-F238E27FC236}">
                <a16:creationId xmlns:a16="http://schemas.microsoft.com/office/drawing/2014/main" id="{29C0CCDB-AF5F-A205-DCB3-9A10C2B6F324}"/>
              </a:ext>
            </a:extLst>
          </p:cNvPr>
          <p:cNvSpPr>
            <a:spLocks noChangeArrowheads="1"/>
          </p:cNvSpPr>
          <p:nvPr/>
        </p:nvSpPr>
        <p:spPr bwMode="auto">
          <a:xfrm>
            <a:off x="3463925" y="4349750"/>
            <a:ext cx="123432"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5</a:t>
            </a:r>
            <a:endParaRPr lang="en-CA" altLang="en-US" sz="2400">
              <a:latin typeface="Times New Roman" panose="02020603050405020304" pitchFamily="18" charset="0"/>
            </a:endParaRPr>
          </a:p>
        </p:txBody>
      </p:sp>
      <p:sp>
        <p:nvSpPr>
          <p:cNvPr id="34861" name="Rectangle 46">
            <a:extLst>
              <a:ext uri="{FF2B5EF4-FFF2-40B4-BE49-F238E27FC236}">
                <a16:creationId xmlns:a16="http://schemas.microsoft.com/office/drawing/2014/main" id="{87A86316-DB96-7955-50D5-A751B48E1BA8}"/>
              </a:ext>
            </a:extLst>
          </p:cNvPr>
          <p:cNvSpPr>
            <a:spLocks noChangeArrowheads="1"/>
          </p:cNvSpPr>
          <p:nvPr/>
        </p:nvSpPr>
        <p:spPr bwMode="auto">
          <a:xfrm>
            <a:off x="4270375" y="4349750"/>
            <a:ext cx="1138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Z</a:t>
            </a:r>
            <a:endParaRPr lang="en-CA" altLang="en-US" sz="2400">
              <a:latin typeface="Times New Roman" panose="02020603050405020304" pitchFamily="18" charset="0"/>
            </a:endParaRPr>
          </a:p>
        </p:txBody>
      </p:sp>
      <p:sp>
        <p:nvSpPr>
          <p:cNvPr id="34862" name="Rectangle 47">
            <a:extLst>
              <a:ext uri="{FF2B5EF4-FFF2-40B4-BE49-F238E27FC236}">
                <a16:creationId xmlns:a16="http://schemas.microsoft.com/office/drawing/2014/main" id="{F40D2E7E-499E-2D8D-6754-CAE263D490CF}"/>
              </a:ext>
            </a:extLst>
          </p:cNvPr>
          <p:cNvSpPr>
            <a:spLocks noChangeArrowheads="1"/>
          </p:cNvSpPr>
          <p:nvPr/>
        </p:nvSpPr>
        <p:spPr bwMode="auto">
          <a:xfrm>
            <a:off x="4430713" y="4471989"/>
            <a:ext cx="232436"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out</a:t>
            </a:r>
            <a:endParaRPr lang="en-CA" altLang="en-US" sz="2400">
              <a:latin typeface="Times New Roman" panose="02020603050405020304" pitchFamily="18" charset="0"/>
            </a:endParaRPr>
          </a:p>
        </p:txBody>
      </p:sp>
      <p:sp>
        <p:nvSpPr>
          <p:cNvPr id="34863" name="Rectangle 48">
            <a:extLst>
              <a:ext uri="{FF2B5EF4-FFF2-40B4-BE49-F238E27FC236}">
                <a16:creationId xmlns:a16="http://schemas.microsoft.com/office/drawing/2014/main" id="{F0BA9683-DF0D-8B74-00A6-88A71E97E254}"/>
              </a:ext>
            </a:extLst>
          </p:cNvPr>
          <p:cNvSpPr>
            <a:spLocks noChangeArrowheads="1"/>
          </p:cNvSpPr>
          <p:nvPr/>
        </p:nvSpPr>
        <p:spPr bwMode="auto">
          <a:xfrm>
            <a:off x="4667250" y="4349750"/>
            <a:ext cx="609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34864" name="Rectangle 49">
            <a:extLst>
              <a:ext uri="{FF2B5EF4-FFF2-40B4-BE49-F238E27FC236}">
                <a16:creationId xmlns:a16="http://schemas.microsoft.com/office/drawing/2014/main" id="{20A2371A-9833-68B0-8333-9B568DB2B9E6}"/>
              </a:ext>
            </a:extLst>
          </p:cNvPr>
          <p:cNvSpPr>
            <a:spLocks noChangeArrowheads="1"/>
          </p:cNvSpPr>
          <p:nvPr/>
        </p:nvSpPr>
        <p:spPr bwMode="auto">
          <a:xfrm>
            <a:off x="4838700" y="4349750"/>
            <a:ext cx="256480"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PC</a:t>
            </a:r>
            <a:endParaRPr lang="en-CA" altLang="en-US" sz="2400">
              <a:latin typeface="Times New Roman" panose="02020603050405020304" pitchFamily="18" charset="0"/>
            </a:endParaRPr>
          </a:p>
        </p:txBody>
      </p:sp>
      <p:sp>
        <p:nvSpPr>
          <p:cNvPr id="34865" name="Rectangle 50">
            <a:extLst>
              <a:ext uri="{FF2B5EF4-FFF2-40B4-BE49-F238E27FC236}">
                <a16:creationId xmlns:a16="http://schemas.microsoft.com/office/drawing/2014/main" id="{2170356F-FE9C-6B87-BF0D-CAE7CB1ABEE2}"/>
              </a:ext>
            </a:extLst>
          </p:cNvPr>
          <p:cNvSpPr>
            <a:spLocks noChangeArrowheads="1"/>
          </p:cNvSpPr>
          <p:nvPr/>
        </p:nvSpPr>
        <p:spPr bwMode="auto">
          <a:xfrm>
            <a:off x="5151439" y="4452939"/>
            <a:ext cx="1285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34866" name="Rectangle 51">
            <a:extLst>
              <a:ext uri="{FF2B5EF4-FFF2-40B4-BE49-F238E27FC236}">
                <a16:creationId xmlns:a16="http://schemas.microsoft.com/office/drawing/2014/main" id="{C18BEC51-1ADB-D311-6621-455351D3B265}"/>
              </a:ext>
            </a:extLst>
          </p:cNvPr>
          <p:cNvSpPr>
            <a:spLocks noChangeArrowheads="1"/>
          </p:cNvSpPr>
          <p:nvPr/>
        </p:nvSpPr>
        <p:spPr bwMode="auto">
          <a:xfrm>
            <a:off x="5313363" y="4349750"/>
            <a:ext cx="609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34867" name="Rectangle 52">
            <a:extLst>
              <a:ext uri="{FF2B5EF4-FFF2-40B4-BE49-F238E27FC236}">
                <a16:creationId xmlns:a16="http://schemas.microsoft.com/office/drawing/2014/main" id="{14705940-676E-C402-110F-45D213B93BC2}"/>
              </a:ext>
            </a:extLst>
          </p:cNvPr>
          <p:cNvSpPr>
            <a:spLocks noChangeArrowheads="1"/>
          </p:cNvSpPr>
          <p:nvPr/>
        </p:nvSpPr>
        <p:spPr bwMode="auto">
          <a:xfrm>
            <a:off x="5526089" y="4349750"/>
            <a:ext cx="375103"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End</a:t>
            </a:r>
            <a:endParaRPr lang="en-CA" altLang="en-US" sz="2400">
              <a:latin typeface="Times New Roman" panose="02020603050405020304" pitchFamily="18" charset="0"/>
            </a:endParaRPr>
          </a:p>
        </p:txBody>
      </p:sp>
      <p:sp>
        <p:nvSpPr>
          <p:cNvPr id="34868" name="Rectangle 53">
            <a:extLst>
              <a:ext uri="{FF2B5EF4-FFF2-40B4-BE49-F238E27FC236}">
                <a16:creationId xmlns:a16="http://schemas.microsoft.com/office/drawing/2014/main" id="{3D6E7DC6-93BE-5ECC-EC07-C3BD20EC2CD5}"/>
              </a:ext>
            </a:extLst>
          </p:cNvPr>
          <p:cNvSpPr>
            <a:spLocks noChangeArrowheads="1"/>
          </p:cNvSpPr>
          <p:nvPr/>
        </p:nvSpPr>
        <p:spPr bwMode="auto">
          <a:xfrm>
            <a:off x="3463925" y="4895850"/>
            <a:ext cx="4954588" cy="1588"/>
          </a:xfrm>
          <a:prstGeom prst="rect">
            <a:avLst/>
          </a:prstGeom>
          <a:solidFill>
            <a:srgbClr val="0000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4869" name="Rectangle 54">
            <a:extLst>
              <a:ext uri="{FF2B5EF4-FFF2-40B4-BE49-F238E27FC236}">
                <a16:creationId xmlns:a16="http://schemas.microsoft.com/office/drawing/2014/main" id="{60F8C721-53EE-ED9A-C735-E046408F8FB8}"/>
              </a:ext>
            </a:extLst>
          </p:cNvPr>
          <p:cNvSpPr>
            <a:spLocks noChangeArrowheads="1"/>
          </p:cNvSpPr>
          <p:nvPr/>
        </p:nvSpPr>
        <p:spPr bwMode="auto">
          <a:xfrm>
            <a:off x="2463801" y="5654675"/>
            <a:ext cx="6883295"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Figure</a:t>
            </a:r>
            <a:r>
              <a:rPr lang="en-US" altLang="en-US" sz="1900">
                <a:solidFill>
                  <a:srgbClr val="000000"/>
                </a:solidFill>
                <a:latin typeface="Computer Modern" charset="0"/>
              </a:rPr>
              <a:t> 7.7.  Control sequence for an unconditional branch instruction.</a:t>
            </a:r>
            <a:endParaRPr lang="en-CA" altLang="en-US" sz="2400">
              <a:latin typeface="Times New Roman" panose="02020603050405020304" pitchFamily="18"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A710E145-14EC-57A6-068D-C74D4F9600B1}"/>
              </a:ext>
            </a:extLst>
          </p:cNvPr>
          <p:cNvSpPr>
            <a:spLocks noGrp="1" noChangeArrowheads="1"/>
          </p:cNvSpPr>
          <p:nvPr>
            <p:ph type="title"/>
          </p:nvPr>
        </p:nvSpPr>
        <p:spPr/>
        <p:txBody>
          <a:bodyPr/>
          <a:lstStyle/>
          <a:p>
            <a:endParaRPr lang="en-US" altLang="en-US" sz="2800" dirty="0"/>
          </a:p>
        </p:txBody>
      </p:sp>
      <p:sp>
        <p:nvSpPr>
          <p:cNvPr id="2" name="Rectangle 4">
            <a:extLst>
              <a:ext uri="{FF2B5EF4-FFF2-40B4-BE49-F238E27FC236}">
                <a16:creationId xmlns:a16="http://schemas.microsoft.com/office/drawing/2014/main" id="{3FE5DC9C-7E73-A15F-258D-2315469F8E3E}"/>
              </a:ext>
            </a:extLst>
          </p:cNvPr>
          <p:cNvSpPr>
            <a:spLocks noChangeArrowheads="1"/>
          </p:cNvSpPr>
          <p:nvPr/>
        </p:nvSpPr>
        <p:spPr bwMode="auto">
          <a:xfrm>
            <a:off x="381360" y="1690688"/>
            <a:ext cx="4954588" cy="1588"/>
          </a:xfrm>
          <a:prstGeom prst="rect">
            <a:avLst/>
          </a:prstGeom>
          <a:solidFill>
            <a:srgbClr val="0000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 name="Rectangle 5">
            <a:extLst>
              <a:ext uri="{FF2B5EF4-FFF2-40B4-BE49-F238E27FC236}">
                <a16:creationId xmlns:a16="http://schemas.microsoft.com/office/drawing/2014/main" id="{357008E0-FBA9-C949-4CB2-EAB53619D351}"/>
              </a:ext>
            </a:extLst>
          </p:cNvPr>
          <p:cNvSpPr>
            <a:spLocks noChangeArrowheads="1"/>
          </p:cNvSpPr>
          <p:nvPr/>
        </p:nvSpPr>
        <p:spPr bwMode="auto">
          <a:xfrm>
            <a:off x="381361" y="1905001"/>
            <a:ext cx="455253"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b="1">
                <a:solidFill>
                  <a:srgbClr val="000000"/>
                </a:solidFill>
                <a:latin typeface="Computer Modern" charset="0"/>
              </a:rPr>
              <a:t>Step</a:t>
            </a:r>
            <a:endParaRPr lang="en-CA" altLang="en-US" sz="2400">
              <a:latin typeface="Times New Roman" panose="02020603050405020304" pitchFamily="18" charset="0"/>
            </a:endParaRPr>
          </a:p>
        </p:txBody>
      </p:sp>
      <p:sp>
        <p:nvSpPr>
          <p:cNvPr id="4" name="Rectangle 6">
            <a:extLst>
              <a:ext uri="{FF2B5EF4-FFF2-40B4-BE49-F238E27FC236}">
                <a16:creationId xmlns:a16="http://schemas.microsoft.com/office/drawing/2014/main" id="{3C502DA9-9879-04DC-0A93-22A7E14A5391}"/>
              </a:ext>
            </a:extLst>
          </p:cNvPr>
          <p:cNvSpPr>
            <a:spLocks noChangeArrowheads="1"/>
          </p:cNvSpPr>
          <p:nvPr/>
        </p:nvSpPr>
        <p:spPr bwMode="auto">
          <a:xfrm>
            <a:off x="959211" y="1905001"/>
            <a:ext cx="657231"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b="1">
                <a:solidFill>
                  <a:srgbClr val="000000"/>
                </a:solidFill>
                <a:latin typeface="Computer Modern" charset="0"/>
              </a:rPr>
              <a:t>Action</a:t>
            </a:r>
            <a:endParaRPr lang="en-CA" altLang="en-US" sz="2400">
              <a:latin typeface="Times New Roman" panose="02020603050405020304" pitchFamily="18" charset="0"/>
            </a:endParaRPr>
          </a:p>
        </p:txBody>
      </p:sp>
      <p:sp>
        <p:nvSpPr>
          <p:cNvPr id="5" name="Rectangle 7">
            <a:extLst>
              <a:ext uri="{FF2B5EF4-FFF2-40B4-BE49-F238E27FC236}">
                <a16:creationId xmlns:a16="http://schemas.microsoft.com/office/drawing/2014/main" id="{DA23B391-FE3F-7AD5-8221-B18CF791119B}"/>
              </a:ext>
            </a:extLst>
          </p:cNvPr>
          <p:cNvSpPr>
            <a:spLocks noChangeArrowheads="1"/>
          </p:cNvSpPr>
          <p:nvPr/>
        </p:nvSpPr>
        <p:spPr bwMode="auto">
          <a:xfrm>
            <a:off x="381360" y="2449513"/>
            <a:ext cx="4954588" cy="1588"/>
          </a:xfrm>
          <a:prstGeom prst="rect">
            <a:avLst/>
          </a:prstGeom>
          <a:solidFill>
            <a:srgbClr val="0000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6" name="Rectangle 8">
            <a:extLst>
              <a:ext uri="{FF2B5EF4-FFF2-40B4-BE49-F238E27FC236}">
                <a16:creationId xmlns:a16="http://schemas.microsoft.com/office/drawing/2014/main" id="{10207F01-E926-1A73-D3C9-F129A082C487}"/>
              </a:ext>
            </a:extLst>
          </p:cNvPr>
          <p:cNvSpPr>
            <a:spLocks noChangeArrowheads="1"/>
          </p:cNvSpPr>
          <p:nvPr/>
        </p:nvSpPr>
        <p:spPr bwMode="auto">
          <a:xfrm>
            <a:off x="381360" y="2544763"/>
            <a:ext cx="123432"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1</a:t>
            </a:r>
            <a:endParaRPr lang="en-CA" altLang="en-US" sz="2400">
              <a:latin typeface="Times New Roman" panose="02020603050405020304" pitchFamily="18" charset="0"/>
            </a:endParaRPr>
          </a:p>
        </p:txBody>
      </p:sp>
      <p:sp>
        <p:nvSpPr>
          <p:cNvPr id="7" name="Rectangle 9">
            <a:extLst>
              <a:ext uri="{FF2B5EF4-FFF2-40B4-BE49-F238E27FC236}">
                <a16:creationId xmlns:a16="http://schemas.microsoft.com/office/drawing/2014/main" id="{FC8E2BE8-452B-D07B-98BB-06B84F1AA6EC}"/>
              </a:ext>
            </a:extLst>
          </p:cNvPr>
          <p:cNvSpPr>
            <a:spLocks noChangeArrowheads="1"/>
          </p:cNvSpPr>
          <p:nvPr/>
        </p:nvSpPr>
        <p:spPr bwMode="auto">
          <a:xfrm>
            <a:off x="1187810" y="2544763"/>
            <a:ext cx="256480"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solidFill>
                  <a:srgbClr val="FF0000"/>
                </a:solidFill>
                <a:latin typeface="Computer Modern" charset="0"/>
              </a:rPr>
              <a:t>PC</a:t>
            </a:r>
            <a:endParaRPr lang="en-CA" altLang="en-US" sz="2400" dirty="0">
              <a:solidFill>
                <a:srgbClr val="FF0000"/>
              </a:solidFill>
              <a:latin typeface="Times New Roman" panose="02020603050405020304" pitchFamily="18" charset="0"/>
            </a:endParaRPr>
          </a:p>
        </p:txBody>
      </p:sp>
      <p:sp>
        <p:nvSpPr>
          <p:cNvPr id="8" name="Rectangle 10">
            <a:extLst>
              <a:ext uri="{FF2B5EF4-FFF2-40B4-BE49-F238E27FC236}">
                <a16:creationId xmlns:a16="http://schemas.microsoft.com/office/drawing/2014/main" id="{C1D860A8-9E69-D719-E103-7F22A43AC528}"/>
              </a:ext>
            </a:extLst>
          </p:cNvPr>
          <p:cNvSpPr>
            <a:spLocks noChangeArrowheads="1"/>
          </p:cNvSpPr>
          <p:nvPr/>
        </p:nvSpPr>
        <p:spPr bwMode="auto">
          <a:xfrm>
            <a:off x="1478323" y="2660652"/>
            <a:ext cx="232436"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out</a:t>
            </a:r>
            <a:endParaRPr lang="en-CA" altLang="en-US" sz="2400">
              <a:latin typeface="Times New Roman" panose="02020603050405020304" pitchFamily="18" charset="0"/>
            </a:endParaRPr>
          </a:p>
        </p:txBody>
      </p:sp>
      <p:sp>
        <p:nvSpPr>
          <p:cNvPr id="9" name="Rectangle 11">
            <a:extLst>
              <a:ext uri="{FF2B5EF4-FFF2-40B4-BE49-F238E27FC236}">
                <a16:creationId xmlns:a16="http://schemas.microsoft.com/office/drawing/2014/main" id="{FA31807C-ADBF-95C4-AF79-B947D2B45C5E}"/>
              </a:ext>
            </a:extLst>
          </p:cNvPr>
          <p:cNvSpPr>
            <a:spLocks noChangeArrowheads="1"/>
          </p:cNvSpPr>
          <p:nvPr/>
        </p:nvSpPr>
        <p:spPr bwMode="auto">
          <a:xfrm>
            <a:off x="1746610" y="2544763"/>
            <a:ext cx="609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10" name="Rectangle 12">
            <a:extLst>
              <a:ext uri="{FF2B5EF4-FFF2-40B4-BE49-F238E27FC236}">
                <a16:creationId xmlns:a16="http://schemas.microsoft.com/office/drawing/2014/main" id="{1F95E6A1-A7C8-5130-CCA7-96B6E4827AAB}"/>
              </a:ext>
            </a:extLst>
          </p:cNvPr>
          <p:cNvSpPr>
            <a:spLocks noChangeArrowheads="1"/>
          </p:cNvSpPr>
          <p:nvPr/>
        </p:nvSpPr>
        <p:spPr bwMode="auto">
          <a:xfrm>
            <a:off x="1946635" y="2544763"/>
            <a:ext cx="48250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solidFill>
                  <a:srgbClr val="FF0000"/>
                </a:solidFill>
                <a:latin typeface="Computer Modern" charset="0"/>
              </a:rPr>
              <a:t>MAR</a:t>
            </a:r>
            <a:endParaRPr lang="en-CA" altLang="en-US" sz="2400" dirty="0">
              <a:solidFill>
                <a:srgbClr val="FF0000"/>
              </a:solidFill>
              <a:latin typeface="Times New Roman" panose="02020603050405020304" pitchFamily="18" charset="0"/>
            </a:endParaRPr>
          </a:p>
        </p:txBody>
      </p:sp>
      <p:sp>
        <p:nvSpPr>
          <p:cNvPr id="11" name="Rectangle 13">
            <a:extLst>
              <a:ext uri="{FF2B5EF4-FFF2-40B4-BE49-F238E27FC236}">
                <a16:creationId xmlns:a16="http://schemas.microsoft.com/office/drawing/2014/main" id="{B3CBCCDD-A331-4B9B-B053-F96DE7BC546A}"/>
              </a:ext>
            </a:extLst>
          </p:cNvPr>
          <p:cNvSpPr>
            <a:spLocks noChangeArrowheads="1"/>
          </p:cNvSpPr>
          <p:nvPr/>
        </p:nvSpPr>
        <p:spPr bwMode="auto">
          <a:xfrm>
            <a:off x="2534010" y="2652713"/>
            <a:ext cx="128588"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12" name="Rectangle 14">
            <a:extLst>
              <a:ext uri="{FF2B5EF4-FFF2-40B4-BE49-F238E27FC236}">
                <a16:creationId xmlns:a16="http://schemas.microsoft.com/office/drawing/2014/main" id="{2AB41E34-9FAB-CC2C-EF37-4FF1AE286D62}"/>
              </a:ext>
            </a:extLst>
          </p:cNvPr>
          <p:cNvSpPr>
            <a:spLocks noChangeArrowheads="1"/>
          </p:cNvSpPr>
          <p:nvPr/>
        </p:nvSpPr>
        <p:spPr bwMode="auto">
          <a:xfrm>
            <a:off x="2703873" y="2544763"/>
            <a:ext cx="609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13" name="Rectangle 15">
            <a:extLst>
              <a:ext uri="{FF2B5EF4-FFF2-40B4-BE49-F238E27FC236}">
                <a16:creationId xmlns:a16="http://schemas.microsoft.com/office/drawing/2014/main" id="{F959CE10-7EF4-FB83-BBDE-38F859F520C3}"/>
              </a:ext>
            </a:extLst>
          </p:cNvPr>
          <p:cNvSpPr>
            <a:spLocks noChangeArrowheads="1"/>
          </p:cNvSpPr>
          <p:nvPr/>
        </p:nvSpPr>
        <p:spPr bwMode="auto">
          <a:xfrm>
            <a:off x="2846749" y="2544763"/>
            <a:ext cx="561051"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solidFill>
                  <a:srgbClr val="FF0000"/>
                </a:solidFill>
                <a:latin typeface="Computer Modern" charset="0"/>
              </a:rPr>
              <a:t>Read,</a:t>
            </a:r>
          </a:p>
        </p:txBody>
      </p:sp>
      <p:sp>
        <p:nvSpPr>
          <p:cNvPr id="14" name="Rectangle 16">
            <a:extLst>
              <a:ext uri="{FF2B5EF4-FFF2-40B4-BE49-F238E27FC236}">
                <a16:creationId xmlns:a16="http://schemas.microsoft.com/office/drawing/2014/main" id="{0E6B9D1B-3B6F-DFD1-EE0F-7D39C332A00F}"/>
              </a:ext>
            </a:extLst>
          </p:cNvPr>
          <p:cNvSpPr>
            <a:spLocks noChangeArrowheads="1"/>
          </p:cNvSpPr>
          <p:nvPr/>
        </p:nvSpPr>
        <p:spPr bwMode="auto">
          <a:xfrm>
            <a:off x="3534136" y="2544763"/>
            <a:ext cx="780663"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solidFill>
                  <a:srgbClr val="FF0000"/>
                </a:solidFill>
                <a:latin typeface="Computer Modern" charset="0"/>
              </a:rPr>
              <a:t>Select4,</a:t>
            </a:r>
          </a:p>
        </p:txBody>
      </p:sp>
      <p:sp>
        <p:nvSpPr>
          <p:cNvPr id="15" name="Rectangle 17">
            <a:extLst>
              <a:ext uri="{FF2B5EF4-FFF2-40B4-BE49-F238E27FC236}">
                <a16:creationId xmlns:a16="http://schemas.microsoft.com/office/drawing/2014/main" id="{DA5E21BC-C2DA-ABDD-FFAD-780280B3F009}"/>
              </a:ext>
            </a:extLst>
          </p:cNvPr>
          <p:cNvSpPr>
            <a:spLocks noChangeArrowheads="1"/>
          </p:cNvSpPr>
          <p:nvPr/>
        </p:nvSpPr>
        <p:spPr bwMode="auto">
          <a:xfrm>
            <a:off x="4388211" y="2544763"/>
            <a:ext cx="458459"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solidFill>
                  <a:srgbClr val="FF0000"/>
                </a:solidFill>
                <a:latin typeface="Computer Modern" charset="0"/>
              </a:rPr>
              <a:t>Add,</a:t>
            </a:r>
          </a:p>
        </p:txBody>
      </p:sp>
      <p:sp>
        <p:nvSpPr>
          <p:cNvPr id="16" name="Rectangle 18">
            <a:extLst>
              <a:ext uri="{FF2B5EF4-FFF2-40B4-BE49-F238E27FC236}">
                <a16:creationId xmlns:a16="http://schemas.microsoft.com/office/drawing/2014/main" id="{03FFC9B8-92EF-D187-382C-D0C7524250EC}"/>
              </a:ext>
            </a:extLst>
          </p:cNvPr>
          <p:cNvSpPr>
            <a:spLocks noChangeArrowheads="1"/>
          </p:cNvSpPr>
          <p:nvPr/>
        </p:nvSpPr>
        <p:spPr bwMode="auto">
          <a:xfrm>
            <a:off x="4980348" y="2544763"/>
            <a:ext cx="1138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solidFill>
                  <a:srgbClr val="FF0000"/>
                </a:solidFill>
                <a:latin typeface="Computer Modern" charset="0"/>
              </a:rPr>
              <a:t>Z</a:t>
            </a:r>
          </a:p>
        </p:txBody>
      </p:sp>
      <p:sp>
        <p:nvSpPr>
          <p:cNvPr id="17" name="Rectangle 19">
            <a:extLst>
              <a:ext uri="{FF2B5EF4-FFF2-40B4-BE49-F238E27FC236}">
                <a16:creationId xmlns:a16="http://schemas.microsoft.com/office/drawing/2014/main" id="{9A766D23-9E25-A4DC-9F81-53353E701809}"/>
              </a:ext>
            </a:extLst>
          </p:cNvPr>
          <p:cNvSpPr>
            <a:spLocks noChangeArrowheads="1"/>
          </p:cNvSpPr>
          <p:nvPr/>
        </p:nvSpPr>
        <p:spPr bwMode="auto">
          <a:xfrm>
            <a:off x="5142274" y="2641602"/>
            <a:ext cx="1285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18" name="Rectangle 20">
            <a:extLst>
              <a:ext uri="{FF2B5EF4-FFF2-40B4-BE49-F238E27FC236}">
                <a16:creationId xmlns:a16="http://schemas.microsoft.com/office/drawing/2014/main" id="{BB1FE4B9-2052-2A37-9C32-13F3747C49DA}"/>
              </a:ext>
            </a:extLst>
          </p:cNvPr>
          <p:cNvSpPr>
            <a:spLocks noChangeArrowheads="1"/>
          </p:cNvSpPr>
          <p:nvPr/>
        </p:nvSpPr>
        <p:spPr bwMode="auto">
          <a:xfrm>
            <a:off x="381360" y="2971801"/>
            <a:ext cx="123432"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2</a:t>
            </a:r>
            <a:endParaRPr lang="en-CA" altLang="en-US" sz="2400">
              <a:latin typeface="Times New Roman" panose="02020603050405020304" pitchFamily="18" charset="0"/>
            </a:endParaRPr>
          </a:p>
        </p:txBody>
      </p:sp>
      <p:sp>
        <p:nvSpPr>
          <p:cNvPr id="19" name="Rectangle 21">
            <a:extLst>
              <a:ext uri="{FF2B5EF4-FFF2-40B4-BE49-F238E27FC236}">
                <a16:creationId xmlns:a16="http://schemas.microsoft.com/office/drawing/2014/main" id="{278E46BA-E2CD-98FA-0FFD-C0FC4BFC077F}"/>
              </a:ext>
            </a:extLst>
          </p:cNvPr>
          <p:cNvSpPr>
            <a:spLocks noChangeArrowheads="1"/>
          </p:cNvSpPr>
          <p:nvPr/>
        </p:nvSpPr>
        <p:spPr bwMode="auto">
          <a:xfrm>
            <a:off x="1187810" y="2971801"/>
            <a:ext cx="1138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Z</a:t>
            </a:r>
            <a:endParaRPr lang="en-CA" altLang="en-US" sz="2400">
              <a:latin typeface="Times New Roman" panose="02020603050405020304" pitchFamily="18" charset="0"/>
            </a:endParaRPr>
          </a:p>
        </p:txBody>
      </p:sp>
      <p:sp>
        <p:nvSpPr>
          <p:cNvPr id="20" name="Rectangle 22">
            <a:extLst>
              <a:ext uri="{FF2B5EF4-FFF2-40B4-BE49-F238E27FC236}">
                <a16:creationId xmlns:a16="http://schemas.microsoft.com/office/drawing/2014/main" id="{948C104F-7413-2B81-E016-A62FDADC60C0}"/>
              </a:ext>
            </a:extLst>
          </p:cNvPr>
          <p:cNvSpPr>
            <a:spLocks noChangeArrowheads="1"/>
          </p:cNvSpPr>
          <p:nvPr/>
        </p:nvSpPr>
        <p:spPr bwMode="auto">
          <a:xfrm>
            <a:off x="1329098" y="3082927"/>
            <a:ext cx="232436"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out</a:t>
            </a:r>
            <a:endParaRPr lang="en-CA" altLang="en-US" sz="2400">
              <a:latin typeface="Times New Roman" panose="02020603050405020304" pitchFamily="18" charset="0"/>
            </a:endParaRPr>
          </a:p>
        </p:txBody>
      </p:sp>
      <p:sp>
        <p:nvSpPr>
          <p:cNvPr id="21" name="Rectangle 23">
            <a:extLst>
              <a:ext uri="{FF2B5EF4-FFF2-40B4-BE49-F238E27FC236}">
                <a16:creationId xmlns:a16="http://schemas.microsoft.com/office/drawing/2014/main" id="{B143C067-9121-A0BE-6156-74223A3E6768}"/>
              </a:ext>
            </a:extLst>
          </p:cNvPr>
          <p:cNvSpPr>
            <a:spLocks noChangeArrowheads="1"/>
          </p:cNvSpPr>
          <p:nvPr/>
        </p:nvSpPr>
        <p:spPr bwMode="auto">
          <a:xfrm>
            <a:off x="1570398" y="2971801"/>
            <a:ext cx="609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22" name="Rectangle 24">
            <a:extLst>
              <a:ext uri="{FF2B5EF4-FFF2-40B4-BE49-F238E27FC236}">
                <a16:creationId xmlns:a16="http://schemas.microsoft.com/office/drawing/2014/main" id="{707B659B-167D-BB90-81BA-9C65FF1722D9}"/>
              </a:ext>
            </a:extLst>
          </p:cNvPr>
          <p:cNvSpPr>
            <a:spLocks noChangeArrowheads="1"/>
          </p:cNvSpPr>
          <p:nvPr/>
        </p:nvSpPr>
        <p:spPr bwMode="auto">
          <a:xfrm>
            <a:off x="1756135" y="2971801"/>
            <a:ext cx="256480"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PC</a:t>
            </a:r>
            <a:endParaRPr lang="en-CA" altLang="en-US" sz="2400">
              <a:latin typeface="Times New Roman" panose="02020603050405020304" pitchFamily="18" charset="0"/>
            </a:endParaRPr>
          </a:p>
        </p:txBody>
      </p:sp>
      <p:sp>
        <p:nvSpPr>
          <p:cNvPr id="23" name="Rectangle 25">
            <a:extLst>
              <a:ext uri="{FF2B5EF4-FFF2-40B4-BE49-F238E27FC236}">
                <a16:creationId xmlns:a16="http://schemas.microsoft.com/office/drawing/2014/main" id="{3A518DA1-7558-5921-9E7B-0B76492AD0F6}"/>
              </a:ext>
            </a:extLst>
          </p:cNvPr>
          <p:cNvSpPr>
            <a:spLocks noChangeArrowheads="1"/>
          </p:cNvSpPr>
          <p:nvPr/>
        </p:nvSpPr>
        <p:spPr bwMode="auto">
          <a:xfrm>
            <a:off x="2087924" y="3082927"/>
            <a:ext cx="1285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24" name="Rectangle 26">
            <a:extLst>
              <a:ext uri="{FF2B5EF4-FFF2-40B4-BE49-F238E27FC236}">
                <a16:creationId xmlns:a16="http://schemas.microsoft.com/office/drawing/2014/main" id="{81E18182-5AD3-8CEC-FF21-9C3DA3C31620}"/>
              </a:ext>
            </a:extLst>
          </p:cNvPr>
          <p:cNvSpPr>
            <a:spLocks noChangeArrowheads="1"/>
          </p:cNvSpPr>
          <p:nvPr/>
        </p:nvSpPr>
        <p:spPr bwMode="auto">
          <a:xfrm>
            <a:off x="2259373" y="2971801"/>
            <a:ext cx="609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25" name="Rectangle 27">
            <a:extLst>
              <a:ext uri="{FF2B5EF4-FFF2-40B4-BE49-F238E27FC236}">
                <a16:creationId xmlns:a16="http://schemas.microsoft.com/office/drawing/2014/main" id="{CF828A8B-5718-8338-13B6-996B227EDCC0}"/>
              </a:ext>
            </a:extLst>
          </p:cNvPr>
          <p:cNvSpPr>
            <a:spLocks noChangeArrowheads="1"/>
          </p:cNvSpPr>
          <p:nvPr/>
        </p:nvSpPr>
        <p:spPr bwMode="auto">
          <a:xfrm>
            <a:off x="2443523" y="2971801"/>
            <a:ext cx="118622"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Y</a:t>
            </a:r>
            <a:endParaRPr lang="en-CA" altLang="en-US" sz="2400">
              <a:latin typeface="Times New Roman" panose="02020603050405020304" pitchFamily="18" charset="0"/>
            </a:endParaRPr>
          </a:p>
        </p:txBody>
      </p:sp>
      <p:sp>
        <p:nvSpPr>
          <p:cNvPr id="26" name="Rectangle 28">
            <a:extLst>
              <a:ext uri="{FF2B5EF4-FFF2-40B4-BE49-F238E27FC236}">
                <a16:creationId xmlns:a16="http://schemas.microsoft.com/office/drawing/2014/main" id="{1564E4E2-7142-35E6-489A-59D863E8E16D}"/>
              </a:ext>
            </a:extLst>
          </p:cNvPr>
          <p:cNvSpPr>
            <a:spLocks noChangeArrowheads="1"/>
          </p:cNvSpPr>
          <p:nvPr/>
        </p:nvSpPr>
        <p:spPr bwMode="auto">
          <a:xfrm>
            <a:off x="2610210" y="3082927"/>
            <a:ext cx="128588"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27" name="Rectangle 29">
            <a:extLst>
              <a:ext uri="{FF2B5EF4-FFF2-40B4-BE49-F238E27FC236}">
                <a16:creationId xmlns:a16="http://schemas.microsoft.com/office/drawing/2014/main" id="{9109DB58-D095-429F-41F0-7C01125B3EF9}"/>
              </a:ext>
            </a:extLst>
          </p:cNvPr>
          <p:cNvSpPr>
            <a:spLocks noChangeArrowheads="1"/>
          </p:cNvSpPr>
          <p:nvPr/>
        </p:nvSpPr>
        <p:spPr bwMode="auto">
          <a:xfrm>
            <a:off x="2756260" y="2971801"/>
            <a:ext cx="609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28" name="Rectangle 30">
            <a:extLst>
              <a:ext uri="{FF2B5EF4-FFF2-40B4-BE49-F238E27FC236}">
                <a16:creationId xmlns:a16="http://schemas.microsoft.com/office/drawing/2014/main" id="{6F87C550-3462-DB73-7E9E-9A887B4053E9}"/>
              </a:ext>
            </a:extLst>
          </p:cNvPr>
          <p:cNvSpPr>
            <a:spLocks noChangeArrowheads="1"/>
          </p:cNvSpPr>
          <p:nvPr/>
        </p:nvSpPr>
        <p:spPr bwMode="auto">
          <a:xfrm>
            <a:off x="2941998" y="2971801"/>
            <a:ext cx="537006"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WMF</a:t>
            </a:r>
            <a:endParaRPr lang="en-CA" altLang="en-US" sz="2400">
              <a:latin typeface="Times New Roman" panose="02020603050405020304" pitchFamily="18" charset="0"/>
            </a:endParaRPr>
          </a:p>
        </p:txBody>
      </p:sp>
      <p:sp>
        <p:nvSpPr>
          <p:cNvPr id="29" name="Rectangle 31">
            <a:extLst>
              <a:ext uri="{FF2B5EF4-FFF2-40B4-BE49-F238E27FC236}">
                <a16:creationId xmlns:a16="http://schemas.microsoft.com/office/drawing/2014/main" id="{890A2A66-1690-AF1E-6422-4D3A6A237BE6}"/>
              </a:ext>
            </a:extLst>
          </p:cNvPr>
          <p:cNvSpPr>
            <a:spLocks noChangeArrowheads="1"/>
          </p:cNvSpPr>
          <p:nvPr/>
        </p:nvSpPr>
        <p:spPr bwMode="auto">
          <a:xfrm>
            <a:off x="3557948" y="2971801"/>
            <a:ext cx="12984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C</a:t>
            </a:r>
            <a:endParaRPr lang="en-CA" altLang="en-US" sz="2400">
              <a:latin typeface="Times New Roman" panose="02020603050405020304" pitchFamily="18" charset="0"/>
            </a:endParaRPr>
          </a:p>
        </p:txBody>
      </p:sp>
      <p:sp>
        <p:nvSpPr>
          <p:cNvPr id="30" name="Rectangle 32">
            <a:extLst>
              <a:ext uri="{FF2B5EF4-FFF2-40B4-BE49-F238E27FC236}">
                <a16:creationId xmlns:a16="http://schemas.microsoft.com/office/drawing/2014/main" id="{1AA00DE5-9400-DC0D-CE83-8D290F869BBD}"/>
              </a:ext>
            </a:extLst>
          </p:cNvPr>
          <p:cNvSpPr>
            <a:spLocks noChangeArrowheads="1"/>
          </p:cNvSpPr>
          <p:nvPr/>
        </p:nvSpPr>
        <p:spPr bwMode="auto">
          <a:xfrm>
            <a:off x="381360" y="3375026"/>
            <a:ext cx="123432"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3</a:t>
            </a:r>
            <a:endParaRPr lang="en-CA" altLang="en-US" sz="2400">
              <a:latin typeface="Times New Roman" panose="02020603050405020304" pitchFamily="18" charset="0"/>
            </a:endParaRPr>
          </a:p>
        </p:txBody>
      </p:sp>
      <p:sp>
        <p:nvSpPr>
          <p:cNvPr id="31" name="Rectangle 33">
            <a:extLst>
              <a:ext uri="{FF2B5EF4-FFF2-40B4-BE49-F238E27FC236}">
                <a16:creationId xmlns:a16="http://schemas.microsoft.com/office/drawing/2014/main" id="{916CABDB-A4A0-8BBF-8D2C-41E83781EAF9}"/>
              </a:ext>
            </a:extLst>
          </p:cNvPr>
          <p:cNvSpPr>
            <a:spLocks noChangeArrowheads="1"/>
          </p:cNvSpPr>
          <p:nvPr/>
        </p:nvSpPr>
        <p:spPr bwMode="auto">
          <a:xfrm>
            <a:off x="1187810" y="3375026"/>
            <a:ext cx="492122"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MDR</a:t>
            </a:r>
            <a:endParaRPr lang="en-CA" altLang="en-US" sz="2400">
              <a:latin typeface="Times New Roman" panose="02020603050405020304" pitchFamily="18" charset="0"/>
            </a:endParaRPr>
          </a:p>
        </p:txBody>
      </p:sp>
      <p:sp>
        <p:nvSpPr>
          <p:cNvPr id="32" name="Rectangle 34">
            <a:extLst>
              <a:ext uri="{FF2B5EF4-FFF2-40B4-BE49-F238E27FC236}">
                <a16:creationId xmlns:a16="http://schemas.microsoft.com/office/drawing/2014/main" id="{97B7728B-671F-D983-B081-46FCAD1C665D}"/>
              </a:ext>
            </a:extLst>
          </p:cNvPr>
          <p:cNvSpPr>
            <a:spLocks noChangeArrowheads="1"/>
          </p:cNvSpPr>
          <p:nvPr/>
        </p:nvSpPr>
        <p:spPr bwMode="auto">
          <a:xfrm>
            <a:off x="1756135" y="3502027"/>
            <a:ext cx="230188"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out</a:t>
            </a:r>
            <a:endParaRPr lang="en-CA" altLang="en-US" sz="2400">
              <a:latin typeface="Times New Roman" panose="02020603050405020304" pitchFamily="18" charset="0"/>
            </a:endParaRPr>
          </a:p>
        </p:txBody>
      </p:sp>
      <p:sp>
        <p:nvSpPr>
          <p:cNvPr id="33" name="Rectangle 35">
            <a:extLst>
              <a:ext uri="{FF2B5EF4-FFF2-40B4-BE49-F238E27FC236}">
                <a16:creationId xmlns:a16="http://schemas.microsoft.com/office/drawing/2014/main" id="{4061B67E-194A-E04B-C64B-6B032FFE62C4}"/>
              </a:ext>
            </a:extLst>
          </p:cNvPr>
          <p:cNvSpPr>
            <a:spLocks noChangeArrowheads="1"/>
          </p:cNvSpPr>
          <p:nvPr/>
        </p:nvSpPr>
        <p:spPr bwMode="auto">
          <a:xfrm>
            <a:off x="2040298" y="3375026"/>
            <a:ext cx="609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34" name="Rectangle 36">
            <a:extLst>
              <a:ext uri="{FF2B5EF4-FFF2-40B4-BE49-F238E27FC236}">
                <a16:creationId xmlns:a16="http://schemas.microsoft.com/office/drawing/2014/main" id="{4638ABED-AF6D-902C-6A83-48C1CB9F8247}"/>
              </a:ext>
            </a:extLst>
          </p:cNvPr>
          <p:cNvSpPr>
            <a:spLocks noChangeArrowheads="1"/>
          </p:cNvSpPr>
          <p:nvPr/>
        </p:nvSpPr>
        <p:spPr bwMode="auto">
          <a:xfrm>
            <a:off x="2183173" y="3375026"/>
            <a:ext cx="19396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IR</a:t>
            </a:r>
            <a:endParaRPr lang="en-CA" altLang="en-US" sz="2400">
              <a:latin typeface="Times New Roman" panose="02020603050405020304" pitchFamily="18" charset="0"/>
            </a:endParaRPr>
          </a:p>
        </p:txBody>
      </p:sp>
      <p:sp>
        <p:nvSpPr>
          <p:cNvPr id="35" name="Rectangle 37">
            <a:extLst>
              <a:ext uri="{FF2B5EF4-FFF2-40B4-BE49-F238E27FC236}">
                <a16:creationId xmlns:a16="http://schemas.microsoft.com/office/drawing/2014/main" id="{FCC7D022-D42E-F6C8-EECA-F2A5535F6DC6}"/>
              </a:ext>
            </a:extLst>
          </p:cNvPr>
          <p:cNvSpPr>
            <a:spLocks noChangeArrowheads="1"/>
          </p:cNvSpPr>
          <p:nvPr/>
        </p:nvSpPr>
        <p:spPr bwMode="auto">
          <a:xfrm>
            <a:off x="2443524" y="3502027"/>
            <a:ext cx="1285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36" name="Rectangle 38">
            <a:extLst>
              <a:ext uri="{FF2B5EF4-FFF2-40B4-BE49-F238E27FC236}">
                <a16:creationId xmlns:a16="http://schemas.microsoft.com/office/drawing/2014/main" id="{794ABEDD-339C-599E-35FD-DFA1DB4C1B55}"/>
              </a:ext>
            </a:extLst>
          </p:cNvPr>
          <p:cNvSpPr>
            <a:spLocks noChangeArrowheads="1"/>
          </p:cNvSpPr>
          <p:nvPr/>
        </p:nvSpPr>
        <p:spPr bwMode="auto">
          <a:xfrm>
            <a:off x="381360" y="3802063"/>
            <a:ext cx="123432"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4</a:t>
            </a:r>
            <a:endParaRPr lang="en-CA" altLang="en-US" sz="2400">
              <a:latin typeface="Times New Roman" panose="02020603050405020304" pitchFamily="18" charset="0"/>
            </a:endParaRPr>
          </a:p>
        </p:txBody>
      </p:sp>
      <p:sp>
        <p:nvSpPr>
          <p:cNvPr id="37" name="Rectangle 39">
            <a:extLst>
              <a:ext uri="{FF2B5EF4-FFF2-40B4-BE49-F238E27FC236}">
                <a16:creationId xmlns:a16="http://schemas.microsoft.com/office/drawing/2014/main" id="{75D8DA5E-388E-76A5-024F-96C9CEE600CF}"/>
              </a:ext>
            </a:extLst>
          </p:cNvPr>
          <p:cNvSpPr>
            <a:spLocks noChangeArrowheads="1"/>
          </p:cNvSpPr>
          <p:nvPr/>
        </p:nvSpPr>
        <p:spPr bwMode="auto">
          <a:xfrm>
            <a:off x="1187811" y="3802063"/>
            <a:ext cx="1665521"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Offset-field-of-IR</a:t>
            </a:r>
            <a:endParaRPr lang="en-CA" altLang="en-US" sz="2400">
              <a:latin typeface="Times New Roman" panose="02020603050405020304" pitchFamily="18" charset="0"/>
            </a:endParaRPr>
          </a:p>
        </p:txBody>
      </p:sp>
      <p:sp>
        <p:nvSpPr>
          <p:cNvPr id="38" name="Rectangle 40">
            <a:extLst>
              <a:ext uri="{FF2B5EF4-FFF2-40B4-BE49-F238E27FC236}">
                <a16:creationId xmlns:a16="http://schemas.microsoft.com/office/drawing/2014/main" id="{A847018A-DFBF-DA38-47C3-6514FC636B8B}"/>
              </a:ext>
            </a:extLst>
          </p:cNvPr>
          <p:cNvSpPr>
            <a:spLocks noChangeArrowheads="1"/>
          </p:cNvSpPr>
          <p:nvPr/>
        </p:nvSpPr>
        <p:spPr bwMode="auto">
          <a:xfrm>
            <a:off x="2899135" y="3903663"/>
            <a:ext cx="230188"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out</a:t>
            </a:r>
            <a:endParaRPr lang="en-CA" altLang="en-US" sz="2400">
              <a:latin typeface="Times New Roman" panose="02020603050405020304" pitchFamily="18" charset="0"/>
            </a:endParaRPr>
          </a:p>
        </p:txBody>
      </p:sp>
      <p:sp>
        <p:nvSpPr>
          <p:cNvPr id="39" name="Rectangle 41">
            <a:extLst>
              <a:ext uri="{FF2B5EF4-FFF2-40B4-BE49-F238E27FC236}">
                <a16:creationId xmlns:a16="http://schemas.microsoft.com/office/drawing/2014/main" id="{C433DEAB-A699-57A1-CFB0-CDE49B51CA2D}"/>
              </a:ext>
            </a:extLst>
          </p:cNvPr>
          <p:cNvSpPr>
            <a:spLocks noChangeArrowheads="1"/>
          </p:cNvSpPr>
          <p:nvPr/>
        </p:nvSpPr>
        <p:spPr bwMode="auto">
          <a:xfrm>
            <a:off x="3130910" y="3802063"/>
            <a:ext cx="609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40" name="Rectangle 42">
            <a:extLst>
              <a:ext uri="{FF2B5EF4-FFF2-40B4-BE49-F238E27FC236}">
                <a16:creationId xmlns:a16="http://schemas.microsoft.com/office/drawing/2014/main" id="{B44D3EB9-C728-A6D1-80BA-9EA1132C6EC4}"/>
              </a:ext>
            </a:extLst>
          </p:cNvPr>
          <p:cNvSpPr>
            <a:spLocks noChangeArrowheads="1"/>
          </p:cNvSpPr>
          <p:nvPr/>
        </p:nvSpPr>
        <p:spPr bwMode="auto">
          <a:xfrm>
            <a:off x="3345224" y="3802063"/>
            <a:ext cx="458459"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solidFill>
                  <a:srgbClr val="000000"/>
                </a:solidFill>
                <a:latin typeface="Computer Modern" charset="0"/>
              </a:rPr>
              <a:t>Add,</a:t>
            </a:r>
            <a:endParaRPr lang="en-CA" altLang="en-US" sz="2400" dirty="0">
              <a:latin typeface="Times New Roman" panose="02020603050405020304" pitchFamily="18" charset="0"/>
            </a:endParaRPr>
          </a:p>
        </p:txBody>
      </p:sp>
      <p:sp>
        <p:nvSpPr>
          <p:cNvPr id="41" name="Rectangle 43">
            <a:extLst>
              <a:ext uri="{FF2B5EF4-FFF2-40B4-BE49-F238E27FC236}">
                <a16:creationId xmlns:a16="http://schemas.microsoft.com/office/drawing/2014/main" id="{5A32CD03-5A9D-4508-83DF-737748BF6688}"/>
              </a:ext>
            </a:extLst>
          </p:cNvPr>
          <p:cNvSpPr>
            <a:spLocks noChangeArrowheads="1"/>
          </p:cNvSpPr>
          <p:nvPr/>
        </p:nvSpPr>
        <p:spPr bwMode="auto">
          <a:xfrm>
            <a:off x="3937360" y="3802063"/>
            <a:ext cx="1138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Z</a:t>
            </a:r>
            <a:endParaRPr lang="en-CA" altLang="en-US" sz="2400">
              <a:latin typeface="Times New Roman" panose="02020603050405020304" pitchFamily="18" charset="0"/>
            </a:endParaRPr>
          </a:p>
        </p:txBody>
      </p:sp>
      <p:sp>
        <p:nvSpPr>
          <p:cNvPr id="42" name="Rectangle 44">
            <a:extLst>
              <a:ext uri="{FF2B5EF4-FFF2-40B4-BE49-F238E27FC236}">
                <a16:creationId xmlns:a16="http://schemas.microsoft.com/office/drawing/2014/main" id="{A65CB23E-1B83-3913-2DB2-49F429EEE841}"/>
              </a:ext>
            </a:extLst>
          </p:cNvPr>
          <p:cNvSpPr>
            <a:spLocks noChangeArrowheads="1"/>
          </p:cNvSpPr>
          <p:nvPr/>
        </p:nvSpPr>
        <p:spPr bwMode="auto">
          <a:xfrm>
            <a:off x="4099285" y="3903663"/>
            <a:ext cx="128588"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43" name="Rectangle 45">
            <a:extLst>
              <a:ext uri="{FF2B5EF4-FFF2-40B4-BE49-F238E27FC236}">
                <a16:creationId xmlns:a16="http://schemas.microsoft.com/office/drawing/2014/main" id="{DCED64E9-8078-C177-8EDF-0DB923D86224}"/>
              </a:ext>
            </a:extLst>
          </p:cNvPr>
          <p:cNvSpPr>
            <a:spLocks noChangeArrowheads="1"/>
          </p:cNvSpPr>
          <p:nvPr/>
        </p:nvSpPr>
        <p:spPr bwMode="auto">
          <a:xfrm>
            <a:off x="381360" y="4227513"/>
            <a:ext cx="123432"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5</a:t>
            </a:r>
            <a:endParaRPr lang="en-CA" altLang="en-US" sz="2400">
              <a:latin typeface="Times New Roman" panose="02020603050405020304" pitchFamily="18" charset="0"/>
            </a:endParaRPr>
          </a:p>
        </p:txBody>
      </p:sp>
      <p:sp>
        <p:nvSpPr>
          <p:cNvPr id="44" name="Rectangle 46">
            <a:extLst>
              <a:ext uri="{FF2B5EF4-FFF2-40B4-BE49-F238E27FC236}">
                <a16:creationId xmlns:a16="http://schemas.microsoft.com/office/drawing/2014/main" id="{07B37BB3-B350-7116-6A8F-B361BF4A744A}"/>
              </a:ext>
            </a:extLst>
          </p:cNvPr>
          <p:cNvSpPr>
            <a:spLocks noChangeArrowheads="1"/>
          </p:cNvSpPr>
          <p:nvPr/>
        </p:nvSpPr>
        <p:spPr bwMode="auto">
          <a:xfrm>
            <a:off x="1187810" y="4227513"/>
            <a:ext cx="1138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Z</a:t>
            </a:r>
            <a:endParaRPr lang="en-CA" altLang="en-US" sz="2400">
              <a:latin typeface="Times New Roman" panose="02020603050405020304" pitchFamily="18" charset="0"/>
            </a:endParaRPr>
          </a:p>
        </p:txBody>
      </p:sp>
      <p:sp>
        <p:nvSpPr>
          <p:cNvPr id="45" name="Rectangle 47">
            <a:extLst>
              <a:ext uri="{FF2B5EF4-FFF2-40B4-BE49-F238E27FC236}">
                <a16:creationId xmlns:a16="http://schemas.microsoft.com/office/drawing/2014/main" id="{4C440392-2619-C677-D207-7E235F2B817C}"/>
              </a:ext>
            </a:extLst>
          </p:cNvPr>
          <p:cNvSpPr>
            <a:spLocks noChangeArrowheads="1"/>
          </p:cNvSpPr>
          <p:nvPr/>
        </p:nvSpPr>
        <p:spPr bwMode="auto">
          <a:xfrm>
            <a:off x="1348148" y="4349752"/>
            <a:ext cx="232436"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out</a:t>
            </a:r>
            <a:endParaRPr lang="en-CA" altLang="en-US" sz="2400">
              <a:latin typeface="Times New Roman" panose="02020603050405020304" pitchFamily="18" charset="0"/>
            </a:endParaRPr>
          </a:p>
        </p:txBody>
      </p:sp>
      <p:sp>
        <p:nvSpPr>
          <p:cNvPr id="46" name="Rectangle 48">
            <a:extLst>
              <a:ext uri="{FF2B5EF4-FFF2-40B4-BE49-F238E27FC236}">
                <a16:creationId xmlns:a16="http://schemas.microsoft.com/office/drawing/2014/main" id="{99D6FAD5-221D-1BEA-E579-FA6AC5D619BF}"/>
              </a:ext>
            </a:extLst>
          </p:cNvPr>
          <p:cNvSpPr>
            <a:spLocks noChangeArrowheads="1"/>
          </p:cNvSpPr>
          <p:nvPr/>
        </p:nvSpPr>
        <p:spPr bwMode="auto">
          <a:xfrm>
            <a:off x="1584685" y="4227513"/>
            <a:ext cx="609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47" name="Rectangle 49">
            <a:extLst>
              <a:ext uri="{FF2B5EF4-FFF2-40B4-BE49-F238E27FC236}">
                <a16:creationId xmlns:a16="http://schemas.microsoft.com/office/drawing/2014/main" id="{D54A0488-E4AF-B0EB-B753-90E0EB2DF0A0}"/>
              </a:ext>
            </a:extLst>
          </p:cNvPr>
          <p:cNvSpPr>
            <a:spLocks noChangeArrowheads="1"/>
          </p:cNvSpPr>
          <p:nvPr/>
        </p:nvSpPr>
        <p:spPr bwMode="auto">
          <a:xfrm>
            <a:off x="1756135" y="4227513"/>
            <a:ext cx="256480"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PC</a:t>
            </a:r>
            <a:endParaRPr lang="en-CA" altLang="en-US" sz="2400">
              <a:latin typeface="Times New Roman" panose="02020603050405020304" pitchFamily="18" charset="0"/>
            </a:endParaRPr>
          </a:p>
        </p:txBody>
      </p:sp>
      <p:sp>
        <p:nvSpPr>
          <p:cNvPr id="48" name="Rectangle 50">
            <a:extLst>
              <a:ext uri="{FF2B5EF4-FFF2-40B4-BE49-F238E27FC236}">
                <a16:creationId xmlns:a16="http://schemas.microsoft.com/office/drawing/2014/main" id="{A01B8346-9FFB-3508-1478-7AC1E70CE041}"/>
              </a:ext>
            </a:extLst>
          </p:cNvPr>
          <p:cNvSpPr>
            <a:spLocks noChangeArrowheads="1"/>
          </p:cNvSpPr>
          <p:nvPr/>
        </p:nvSpPr>
        <p:spPr bwMode="auto">
          <a:xfrm>
            <a:off x="2068874" y="4330702"/>
            <a:ext cx="1285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49" name="Rectangle 51">
            <a:extLst>
              <a:ext uri="{FF2B5EF4-FFF2-40B4-BE49-F238E27FC236}">
                <a16:creationId xmlns:a16="http://schemas.microsoft.com/office/drawing/2014/main" id="{B39431D4-66D4-7D7A-9432-29EF3704C270}"/>
              </a:ext>
            </a:extLst>
          </p:cNvPr>
          <p:cNvSpPr>
            <a:spLocks noChangeArrowheads="1"/>
          </p:cNvSpPr>
          <p:nvPr/>
        </p:nvSpPr>
        <p:spPr bwMode="auto">
          <a:xfrm>
            <a:off x="2230798" y="4227513"/>
            <a:ext cx="609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50" name="Rectangle 52">
            <a:extLst>
              <a:ext uri="{FF2B5EF4-FFF2-40B4-BE49-F238E27FC236}">
                <a16:creationId xmlns:a16="http://schemas.microsoft.com/office/drawing/2014/main" id="{AA380096-4FC5-C104-C4BD-53D6B5580663}"/>
              </a:ext>
            </a:extLst>
          </p:cNvPr>
          <p:cNvSpPr>
            <a:spLocks noChangeArrowheads="1"/>
          </p:cNvSpPr>
          <p:nvPr/>
        </p:nvSpPr>
        <p:spPr bwMode="auto">
          <a:xfrm>
            <a:off x="2443524" y="4227513"/>
            <a:ext cx="375103"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End</a:t>
            </a:r>
            <a:endParaRPr lang="en-CA" altLang="en-US" sz="2400">
              <a:latin typeface="Times New Roman" panose="02020603050405020304" pitchFamily="18" charset="0"/>
            </a:endParaRPr>
          </a:p>
        </p:txBody>
      </p:sp>
      <p:sp>
        <p:nvSpPr>
          <p:cNvPr id="51" name="Rectangle 53">
            <a:extLst>
              <a:ext uri="{FF2B5EF4-FFF2-40B4-BE49-F238E27FC236}">
                <a16:creationId xmlns:a16="http://schemas.microsoft.com/office/drawing/2014/main" id="{A17013F6-B577-8EB8-833C-1B31DA9262CA}"/>
              </a:ext>
            </a:extLst>
          </p:cNvPr>
          <p:cNvSpPr>
            <a:spLocks noChangeArrowheads="1"/>
          </p:cNvSpPr>
          <p:nvPr/>
        </p:nvSpPr>
        <p:spPr bwMode="auto">
          <a:xfrm>
            <a:off x="381360" y="4773613"/>
            <a:ext cx="4954588" cy="1588"/>
          </a:xfrm>
          <a:prstGeom prst="rect">
            <a:avLst/>
          </a:prstGeom>
          <a:solidFill>
            <a:srgbClr val="0000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grpSp>
        <p:nvGrpSpPr>
          <p:cNvPr id="35846" name="Group 35845">
            <a:extLst>
              <a:ext uri="{FF2B5EF4-FFF2-40B4-BE49-F238E27FC236}">
                <a16:creationId xmlns:a16="http://schemas.microsoft.com/office/drawing/2014/main" id="{22539DA7-5DE3-F491-BC49-280A6252978C}"/>
              </a:ext>
            </a:extLst>
          </p:cNvPr>
          <p:cNvGrpSpPr/>
          <p:nvPr/>
        </p:nvGrpSpPr>
        <p:grpSpPr>
          <a:xfrm>
            <a:off x="5943600" y="207390"/>
            <a:ext cx="5562012" cy="7029765"/>
            <a:chOff x="5943600" y="207390"/>
            <a:chExt cx="5562012" cy="7029765"/>
          </a:xfrm>
        </p:grpSpPr>
        <p:pic>
          <p:nvPicPr>
            <p:cNvPr id="35844" name="Picture 4" descr="figure7">
              <a:extLst>
                <a:ext uri="{FF2B5EF4-FFF2-40B4-BE49-F238E27FC236}">
                  <a16:creationId xmlns:a16="http://schemas.microsoft.com/office/drawing/2014/main" id="{78E91BB7-2543-B620-70C9-1D8942E843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3600" y="207390"/>
              <a:ext cx="5562012" cy="7029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 name="Arrow: Down 51">
              <a:extLst>
                <a:ext uri="{FF2B5EF4-FFF2-40B4-BE49-F238E27FC236}">
                  <a16:creationId xmlns:a16="http://schemas.microsoft.com/office/drawing/2014/main" id="{C052947D-AB91-6E08-3702-25FFB1A7E2D3}"/>
                </a:ext>
              </a:extLst>
            </p:cNvPr>
            <p:cNvSpPr/>
            <p:nvPr/>
          </p:nvSpPr>
          <p:spPr>
            <a:xfrm>
              <a:off x="9303316" y="518476"/>
              <a:ext cx="200386" cy="5938885"/>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Arrow: Right 55">
              <a:extLst>
                <a:ext uri="{FF2B5EF4-FFF2-40B4-BE49-F238E27FC236}">
                  <a16:creationId xmlns:a16="http://schemas.microsoft.com/office/drawing/2014/main" id="{2B7B6548-7F9B-E00B-8813-685306E233A6}"/>
                </a:ext>
              </a:extLst>
            </p:cNvPr>
            <p:cNvSpPr/>
            <p:nvPr/>
          </p:nvSpPr>
          <p:spPr>
            <a:xfrm rot="10800000">
              <a:off x="8699614" y="1829573"/>
              <a:ext cx="668363" cy="102297"/>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Arrow Connector 58">
              <a:extLst>
                <a:ext uri="{FF2B5EF4-FFF2-40B4-BE49-F238E27FC236}">
                  <a16:creationId xmlns:a16="http://schemas.microsoft.com/office/drawing/2014/main" id="{32FAA7B3-D0BB-D970-DFF0-6BA2308A2B1E}"/>
                </a:ext>
              </a:extLst>
            </p:cNvPr>
            <p:cNvCxnSpPr/>
            <p:nvPr/>
          </p:nvCxnSpPr>
          <p:spPr>
            <a:xfrm>
              <a:off x="6543773" y="4133851"/>
              <a:ext cx="471340" cy="0"/>
            </a:xfrm>
            <a:prstGeom prst="straightConnector1">
              <a:avLst/>
            </a:prstGeom>
            <a:ln w="38100">
              <a:solidFill>
                <a:srgbClr val="FF0000"/>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1018033F-AE4F-01F0-4F22-73F3F46A0005}"/>
                </a:ext>
              </a:extLst>
            </p:cNvPr>
            <p:cNvCxnSpPr/>
            <p:nvPr/>
          </p:nvCxnSpPr>
          <p:spPr>
            <a:xfrm>
              <a:off x="6647468" y="4690166"/>
              <a:ext cx="471340" cy="0"/>
            </a:xfrm>
            <a:prstGeom prst="straightConnector1">
              <a:avLst/>
            </a:prstGeom>
            <a:ln w="38100">
              <a:solidFill>
                <a:srgbClr val="FF0000"/>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7FEF1870-6CEC-7FD3-75E2-FF7D7D2747BF}"/>
                </a:ext>
              </a:extLst>
            </p:cNvPr>
            <p:cNvCxnSpPr>
              <a:cxnSpLocks/>
            </p:cNvCxnSpPr>
            <p:nvPr/>
          </p:nvCxnSpPr>
          <p:spPr>
            <a:xfrm>
              <a:off x="7967218" y="5439265"/>
              <a:ext cx="0" cy="414780"/>
            </a:xfrm>
            <a:prstGeom prst="straightConnector1">
              <a:avLst/>
            </a:prstGeom>
            <a:ln w="38100">
              <a:solidFill>
                <a:srgbClr val="FF0000"/>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A710E145-14EC-57A6-068D-C74D4F9600B1}"/>
              </a:ext>
            </a:extLst>
          </p:cNvPr>
          <p:cNvSpPr>
            <a:spLocks noGrp="1" noChangeArrowheads="1"/>
          </p:cNvSpPr>
          <p:nvPr>
            <p:ph type="title"/>
          </p:nvPr>
        </p:nvSpPr>
        <p:spPr/>
        <p:txBody>
          <a:bodyPr/>
          <a:lstStyle/>
          <a:p>
            <a:endParaRPr lang="en-US" altLang="en-US" sz="2800" dirty="0"/>
          </a:p>
        </p:txBody>
      </p:sp>
      <p:sp>
        <p:nvSpPr>
          <p:cNvPr id="2" name="Rectangle 4">
            <a:extLst>
              <a:ext uri="{FF2B5EF4-FFF2-40B4-BE49-F238E27FC236}">
                <a16:creationId xmlns:a16="http://schemas.microsoft.com/office/drawing/2014/main" id="{3FE5DC9C-7E73-A15F-258D-2315469F8E3E}"/>
              </a:ext>
            </a:extLst>
          </p:cNvPr>
          <p:cNvSpPr>
            <a:spLocks noChangeArrowheads="1"/>
          </p:cNvSpPr>
          <p:nvPr/>
        </p:nvSpPr>
        <p:spPr bwMode="auto">
          <a:xfrm>
            <a:off x="381360" y="1690688"/>
            <a:ext cx="4954588" cy="1588"/>
          </a:xfrm>
          <a:prstGeom prst="rect">
            <a:avLst/>
          </a:prstGeom>
          <a:solidFill>
            <a:srgbClr val="0000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 name="Rectangle 5">
            <a:extLst>
              <a:ext uri="{FF2B5EF4-FFF2-40B4-BE49-F238E27FC236}">
                <a16:creationId xmlns:a16="http://schemas.microsoft.com/office/drawing/2014/main" id="{357008E0-FBA9-C949-4CB2-EAB53619D351}"/>
              </a:ext>
            </a:extLst>
          </p:cNvPr>
          <p:cNvSpPr>
            <a:spLocks noChangeArrowheads="1"/>
          </p:cNvSpPr>
          <p:nvPr/>
        </p:nvSpPr>
        <p:spPr bwMode="auto">
          <a:xfrm>
            <a:off x="381361" y="1905001"/>
            <a:ext cx="455253"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b="1">
                <a:solidFill>
                  <a:srgbClr val="000000"/>
                </a:solidFill>
                <a:latin typeface="Computer Modern" charset="0"/>
              </a:rPr>
              <a:t>Step</a:t>
            </a:r>
            <a:endParaRPr lang="en-CA" altLang="en-US" sz="2400">
              <a:latin typeface="Times New Roman" panose="02020603050405020304" pitchFamily="18" charset="0"/>
            </a:endParaRPr>
          </a:p>
        </p:txBody>
      </p:sp>
      <p:sp>
        <p:nvSpPr>
          <p:cNvPr id="4" name="Rectangle 6">
            <a:extLst>
              <a:ext uri="{FF2B5EF4-FFF2-40B4-BE49-F238E27FC236}">
                <a16:creationId xmlns:a16="http://schemas.microsoft.com/office/drawing/2014/main" id="{3C502DA9-9879-04DC-0A93-22A7E14A5391}"/>
              </a:ext>
            </a:extLst>
          </p:cNvPr>
          <p:cNvSpPr>
            <a:spLocks noChangeArrowheads="1"/>
          </p:cNvSpPr>
          <p:nvPr/>
        </p:nvSpPr>
        <p:spPr bwMode="auto">
          <a:xfrm>
            <a:off x="959211" y="1905001"/>
            <a:ext cx="657231"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b="1">
                <a:solidFill>
                  <a:srgbClr val="000000"/>
                </a:solidFill>
                <a:latin typeface="Computer Modern" charset="0"/>
              </a:rPr>
              <a:t>Action</a:t>
            </a:r>
            <a:endParaRPr lang="en-CA" altLang="en-US" sz="2400">
              <a:latin typeface="Times New Roman" panose="02020603050405020304" pitchFamily="18" charset="0"/>
            </a:endParaRPr>
          </a:p>
        </p:txBody>
      </p:sp>
      <p:sp>
        <p:nvSpPr>
          <p:cNvPr id="5" name="Rectangle 7">
            <a:extLst>
              <a:ext uri="{FF2B5EF4-FFF2-40B4-BE49-F238E27FC236}">
                <a16:creationId xmlns:a16="http://schemas.microsoft.com/office/drawing/2014/main" id="{DA23B391-FE3F-7AD5-8221-B18CF791119B}"/>
              </a:ext>
            </a:extLst>
          </p:cNvPr>
          <p:cNvSpPr>
            <a:spLocks noChangeArrowheads="1"/>
          </p:cNvSpPr>
          <p:nvPr/>
        </p:nvSpPr>
        <p:spPr bwMode="auto">
          <a:xfrm>
            <a:off x="381360" y="2449513"/>
            <a:ext cx="4954588" cy="1588"/>
          </a:xfrm>
          <a:prstGeom prst="rect">
            <a:avLst/>
          </a:prstGeom>
          <a:solidFill>
            <a:srgbClr val="0000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6" name="Rectangle 8">
            <a:extLst>
              <a:ext uri="{FF2B5EF4-FFF2-40B4-BE49-F238E27FC236}">
                <a16:creationId xmlns:a16="http://schemas.microsoft.com/office/drawing/2014/main" id="{10207F01-E926-1A73-D3C9-F129A082C487}"/>
              </a:ext>
            </a:extLst>
          </p:cNvPr>
          <p:cNvSpPr>
            <a:spLocks noChangeArrowheads="1"/>
          </p:cNvSpPr>
          <p:nvPr/>
        </p:nvSpPr>
        <p:spPr bwMode="auto">
          <a:xfrm>
            <a:off x="381360" y="2544763"/>
            <a:ext cx="123432"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1</a:t>
            </a:r>
            <a:endParaRPr lang="en-CA" altLang="en-US" sz="2400">
              <a:latin typeface="Times New Roman" panose="02020603050405020304" pitchFamily="18" charset="0"/>
            </a:endParaRPr>
          </a:p>
        </p:txBody>
      </p:sp>
      <p:sp>
        <p:nvSpPr>
          <p:cNvPr id="7" name="Rectangle 9">
            <a:extLst>
              <a:ext uri="{FF2B5EF4-FFF2-40B4-BE49-F238E27FC236}">
                <a16:creationId xmlns:a16="http://schemas.microsoft.com/office/drawing/2014/main" id="{FC8E2BE8-452B-D07B-98BB-06B84F1AA6EC}"/>
              </a:ext>
            </a:extLst>
          </p:cNvPr>
          <p:cNvSpPr>
            <a:spLocks noChangeArrowheads="1"/>
          </p:cNvSpPr>
          <p:nvPr/>
        </p:nvSpPr>
        <p:spPr bwMode="auto">
          <a:xfrm>
            <a:off x="1187810" y="2544763"/>
            <a:ext cx="256480"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latin typeface="Computer Modern" charset="0"/>
              </a:rPr>
              <a:t>PC</a:t>
            </a:r>
            <a:endParaRPr lang="en-CA" altLang="en-US" sz="2400" dirty="0">
              <a:latin typeface="Times New Roman" panose="02020603050405020304" pitchFamily="18" charset="0"/>
            </a:endParaRPr>
          </a:p>
        </p:txBody>
      </p:sp>
      <p:sp>
        <p:nvSpPr>
          <p:cNvPr id="8" name="Rectangle 10">
            <a:extLst>
              <a:ext uri="{FF2B5EF4-FFF2-40B4-BE49-F238E27FC236}">
                <a16:creationId xmlns:a16="http://schemas.microsoft.com/office/drawing/2014/main" id="{C1D860A8-9E69-D719-E103-7F22A43AC528}"/>
              </a:ext>
            </a:extLst>
          </p:cNvPr>
          <p:cNvSpPr>
            <a:spLocks noChangeArrowheads="1"/>
          </p:cNvSpPr>
          <p:nvPr/>
        </p:nvSpPr>
        <p:spPr bwMode="auto">
          <a:xfrm>
            <a:off x="1478323" y="2660652"/>
            <a:ext cx="232436"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out</a:t>
            </a:r>
            <a:endParaRPr lang="en-CA" altLang="en-US" sz="2400">
              <a:latin typeface="Times New Roman" panose="02020603050405020304" pitchFamily="18" charset="0"/>
            </a:endParaRPr>
          </a:p>
        </p:txBody>
      </p:sp>
      <p:sp>
        <p:nvSpPr>
          <p:cNvPr id="9" name="Rectangle 11">
            <a:extLst>
              <a:ext uri="{FF2B5EF4-FFF2-40B4-BE49-F238E27FC236}">
                <a16:creationId xmlns:a16="http://schemas.microsoft.com/office/drawing/2014/main" id="{FA31807C-ADBF-95C4-AF79-B947D2B45C5E}"/>
              </a:ext>
            </a:extLst>
          </p:cNvPr>
          <p:cNvSpPr>
            <a:spLocks noChangeArrowheads="1"/>
          </p:cNvSpPr>
          <p:nvPr/>
        </p:nvSpPr>
        <p:spPr bwMode="auto">
          <a:xfrm>
            <a:off x="1746610" y="2544763"/>
            <a:ext cx="609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10" name="Rectangle 12">
            <a:extLst>
              <a:ext uri="{FF2B5EF4-FFF2-40B4-BE49-F238E27FC236}">
                <a16:creationId xmlns:a16="http://schemas.microsoft.com/office/drawing/2014/main" id="{1F95E6A1-A7C8-5130-CCA7-96B6E4827AAB}"/>
              </a:ext>
            </a:extLst>
          </p:cNvPr>
          <p:cNvSpPr>
            <a:spLocks noChangeArrowheads="1"/>
          </p:cNvSpPr>
          <p:nvPr/>
        </p:nvSpPr>
        <p:spPr bwMode="auto">
          <a:xfrm>
            <a:off x="1946635" y="2544763"/>
            <a:ext cx="48250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latin typeface="Computer Modern" charset="0"/>
              </a:rPr>
              <a:t>MAR</a:t>
            </a:r>
            <a:endParaRPr lang="en-CA" altLang="en-US" sz="2400" dirty="0">
              <a:latin typeface="Times New Roman" panose="02020603050405020304" pitchFamily="18" charset="0"/>
            </a:endParaRPr>
          </a:p>
        </p:txBody>
      </p:sp>
      <p:sp>
        <p:nvSpPr>
          <p:cNvPr id="11" name="Rectangle 13">
            <a:extLst>
              <a:ext uri="{FF2B5EF4-FFF2-40B4-BE49-F238E27FC236}">
                <a16:creationId xmlns:a16="http://schemas.microsoft.com/office/drawing/2014/main" id="{B3CBCCDD-A331-4B9B-B053-F96DE7BC546A}"/>
              </a:ext>
            </a:extLst>
          </p:cNvPr>
          <p:cNvSpPr>
            <a:spLocks noChangeArrowheads="1"/>
          </p:cNvSpPr>
          <p:nvPr/>
        </p:nvSpPr>
        <p:spPr bwMode="auto">
          <a:xfrm>
            <a:off x="2534010" y="2652713"/>
            <a:ext cx="128588"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12" name="Rectangle 14">
            <a:extLst>
              <a:ext uri="{FF2B5EF4-FFF2-40B4-BE49-F238E27FC236}">
                <a16:creationId xmlns:a16="http://schemas.microsoft.com/office/drawing/2014/main" id="{2AB41E34-9FAB-CC2C-EF37-4FF1AE286D62}"/>
              </a:ext>
            </a:extLst>
          </p:cNvPr>
          <p:cNvSpPr>
            <a:spLocks noChangeArrowheads="1"/>
          </p:cNvSpPr>
          <p:nvPr/>
        </p:nvSpPr>
        <p:spPr bwMode="auto">
          <a:xfrm>
            <a:off x="2703873" y="2544763"/>
            <a:ext cx="609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13" name="Rectangle 15">
            <a:extLst>
              <a:ext uri="{FF2B5EF4-FFF2-40B4-BE49-F238E27FC236}">
                <a16:creationId xmlns:a16="http://schemas.microsoft.com/office/drawing/2014/main" id="{F959CE10-7EF4-FB83-BBDE-38F859F520C3}"/>
              </a:ext>
            </a:extLst>
          </p:cNvPr>
          <p:cNvSpPr>
            <a:spLocks noChangeArrowheads="1"/>
          </p:cNvSpPr>
          <p:nvPr/>
        </p:nvSpPr>
        <p:spPr bwMode="auto">
          <a:xfrm>
            <a:off x="2846749" y="2544763"/>
            <a:ext cx="561051"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latin typeface="Computer Modern" charset="0"/>
              </a:rPr>
              <a:t>Read,</a:t>
            </a:r>
          </a:p>
        </p:txBody>
      </p:sp>
      <p:sp>
        <p:nvSpPr>
          <p:cNvPr id="14" name="Rectangle 16">
            <a:extLst>
              <a:ext uri="{FF2B5EF4-FFF2-40B4-BE49-F238E27FC236}">
                <a16:creationId xmlns:a16="http://schemas.microsoft.com/office/drawing/2014/main" id="{0E6B9D1B-3B6F-DFD1-EE0F-7D39C332A00F}"/>
              </a:ext>
            </a:extLst>
          </p:cNvPr>
          <p:cNvSpPr>
            <a:spLocks noChangeArrowheads="1"/>
          </p:cNvSpPr>
          <p:nvPr/>
        </p:nvSpPr>
        <p:spPr bwMode="auto">
          <a:xfrm>
            <a:off x="3534136" y="2544763"/>
            <a:ext cx="780663"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latin typeface="Computer Modern" charset="0"/>
              </a:rPr>
              <a:t>Select4,</a:t>
            </a:r>
          </a:p>
        </p:txBody>
      </p:sp>
      <p:sp>
        <p:nvSpPr>
          <p:cNvPr id="15" name="Rectangle 17">
            <a:extLst>
              <a:ext uri="{FF2B5EF4-FFF2-40B4-BE49-F238E27FC236}">
                <a16:creationId xmlns:a16="http://schemas.microsoft.com/office/drawing/2014/main" id="{DA5E21BC-C2DA-ABDD-FFAD-780280B3F009}"/>
              </a:ext>
            </a:extLst>
          </p:cNvPr>
          <p:cNvSpPr>
            <a:spLocks noChangeArrowheads="1"/>
          </p:cNvSpPr>
          <p:nvPr/>
        </p:nvSpPr>
        <p:spPr bwMode="auto">
          <a:xfrm>
            <a:off x="4388211" y="2544763"/>
            <a:ext cx="458459"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latin typeface="Computer Modern" charset="0"/>
              </a:rPr>
              <a:t>Add,</a:t>
            </a:r>
          </a:p>
        </p:txBody>
      </p:sp>
      <p:sp>
        <p:nvSpPr>
          <p:cNvPr id="16" name="Rectangle 18">
            <a:extLst>
              <a:ext uri="{FF2B5EF4-FFF2-40B4-BE49-F238E27FC236}">
                <a16:creationId xmlns:a16="http://schemas.microsoft.com/office/drawing/2014/main" id="{03FFC9B8-92EF-D187-382C-D0C7524250EC}"/>
              </a:ext>
            </a:extLst>
          </p:cNvPr>
          <p:cNvSpPr>
            <a:spLocks noChangeArrowheads="1"/>
          </p:cNvSpPr>
          <p:nvPr/>
        </p:nvSpPr>
        <p:spPr bwMode="auto">
          <a:xfrm>
            <a:off x="4980348" y="2544763"/>
            <a:ext cx="1138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latin typeface="Computer Modern" charset="0"/>
              </a:rPr>
              <a:t>Z</a:t>
            </a:r>
          </a:p>
        </p:txBody>
      </p:sp>
      <p:sp>
        <p:nvSpPr>
          <p:cNvPr id="17" name="Rectangle 19">
            <a:extLst>
              <a:ext uri="{FF2B5EF4-FFF2-40B4-BE49-F238E27FC236}">
                <a16:creationId xmlns:a16="http://schemas.microsoft.com/office/drawing/2014/main" id="{9A766D23-9E25-A4DC-9F81-53353E701809}"/>
              </a:ext>
            </a:extLst>
          </p:cNvPr>
          <p:cNvSpPr>
            <a:spLocks noChangeArrowheads="1"/>
          </p:cNvSpPr>
          <p:nvPr/>
        </p:nvSpPr>
        <p:spPr bwMode="auto">
          <a:xfrm>
            <a:off x="5142274" y="2641602"/>
            <a:ext cx="1285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18" name="Rectangle 20">
            <a:extLst>
              <a:ext uri="{FF2B5EF4-FFF2-40B4-BE49-F238E27FC236}">
                <a16:creationId xmlns:a16="http://schemas.microsoft.com/office/drawing/2014/main" id="{BB1FE4B9-2052-2A37-9C32-13F3747C49DA}"/>
              </a:ext>
            </a:extLst>
          </p:cNvPr>
          <p:cNvSpPr>
            <a:spLocks noChangeArrowheads="1"/>
          </p:cNvSpPr>
          <p:nvPr/>
        </p:nvSpPr>
        <p:spPr bwMode="auto">
          <a:xfrm>
            <a:off x="381360" y="2971801"/>
            <a:ext cx="123432"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2</a:t>
            </a:r>
            <a:endParaRPr lang="en-CA" altLang="en-US" sz="2400">
              <a:latin typeface="Times New Roman" panose="02020603050405020304" pitchFamily="18" charset="0"/>
            </a:endParaRPr>
          </a:p>
        </p:txBody>
      </p:sp>
      <p:sp>
        <p:nvSpPr>
          <p:cNvPr id="19" name="Rectangle 21">
            <a:extLst>
              <a:ext uri="{FF2B5EF4-FFF2-40B4-BE49-F238E27FC236}">
                <a16:creationId xmlns:a16="http://schemas.microsoft.com/office/drawing/2014/main" id="{278E46BA-E2CD-98FA-0FFD-C0FC4BFC077F}"/>
              </a:ext>
            </a:extLst>
          </p:cNvPr>
          <p:cNvSpPr>
            <a:spLocks noChangeArrowheads="1"/>
          </p:cNvSpPr>
          <p:nvPr/>
        </p:nvSpPr>
        <p:spPr bwMode="auto">
          <a:xfrm>
            <a:off x="1187810" y="2971801"/>
            <a:ext cx="1138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solidFill>
                  <a:srgbClr val="FF0000"/>
                </a:solidFill>
                <a:latin typeface="Computer Modern" charset="0"/>
              </a:rPr>
              <a:t>Z</a:t>
            </a:r>
            <a:endParaRPr lang="en-CA" altLang="en-US" sz="2400" dirty="0">
              <a:solidFill>
                <a:srgbClr val="FF0000"/>
              </a:solidFill>
              <a:latin typeface="Times New Roman" panose="02020603050405020304" pitchFamily="18" charset="0"/>
            </a:endParaRPr>
          </a:p>
        </p:txBody>
      </p:sp>
      <p:sp>
        <p:nvSpPr>
          <p:cNvPr id="20" name="Rectangle 22">
            <a:extLst>
              <a:ext uri="{FF2B5EF4-FFF2-40B4-BE49-F238E27FC236}">
                <a16:creationId xmlns:a16="http://schemas.microsoft.com/office/drawing/2014/main" id="{948C104F-7413-2B81-E016-A62FDADC60C0}"/>
              </a:ext>
            </a:extLst>
          </p:cNvPr>
          <p:cNvSpPr>
            <a:spLocks noChangeArrowheads="1"/>
          </p:cNvSpPr>
          <p:nvPr/>
        </p:nvSpPr>
        <p:spPr bwMode="auto">
          <a:xfrm>
            <a:off x="1329098" y="3082927"/>
            <a:ext cx="232436"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dirty="0">
                <a:solidFill>
                  <a:srgbClr val="000000"/>
                </a:solidFill>
                <a:latin typeface="Computer Modern" charset="0"/>
              </a:rPr>
              <a:t>out</a:t>
            </a:r>
            <a:endParaRPr lang="en-CA" altLang="en-US" sz="2400" dirty="0">
              <a:latin typeface="Times New Roman" panose="02020603050405020304" pitchFamily="18" charset="0"/>
            </a:endParaRPr>
          </a:p>
        </p:txBody>
      </p:sp>
      <p:sp>
        <p:nvSpPr>
          <p:cNvPr id="21" name="Rectangle 23">
            <a:extLst>
              <a:ext uri="{FF2B5EF4-FFF2-40B4-BE49-F238E27FC236}">
                <a16:creationId xmlns:a16="http://schemas.microsoft.com/office/drawing/2014/main" id="{B143C067-9121-A0BE-6156-74223A3E6768}"/>
              </a:ext>
            </a:extLst>
          </p:cNvPr>
          <p:cNvSpPr>
            <a:spLocks noChangeArrowheads="1"/>
          </p:cNvSpPr>
          <p:nvPr/>
        </p:nvSpPr>
        <p:spPr bwMode="auto">
          <a:xfrm>
            <a:off x="1570398" y="2971801"/>
            <a:ext cx="609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22" name="Rectangle 24">
            <a:extLst>
              <a:ext uri="{FF2B5EF4-FFF2-40B4-BE49-F238E27FC236}">
                <a16:creationId xmlns:a16="http://schemas.microsoft.com/office/drawing/2014/main" id="{707B659B-167D-BB90-81BA-9C65FF1722D9}"/>
              </a:ext>
            </a:extLst>
          </p:cNvPr>
          <p:cNvSpPr>
            <a:spLocks noChangeArrowheads="1"/>
          </p:cNvSpPr>
          <p:nvPr/>
        </p:nvSpPr>
        <p:spPr bwMode="auto">
          <a:xfrm>
            <a:off x="1756135" y="2971801"/>
            <a:ext cx="256480"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solidFill>
                  <a:srgbClr val="FF0000"/>
                </a:solidFill>
                <a:latin typeface="Computer Modern" charset="0"/>
              </a:rPr>
              <a:t>PC</a:t>
            </a:r>
            <a:endParaRPr lang="en-CA" altLang="en-US" sz="2400" dirty="0">
              <a:solidFill>
                <a:srgbClr val="FF0000"/>
              </a:solidFill>
              <a:latin typeface="Times New Roman" panose="02020603050405020304" pitchFamily="18" charset="0"/>
            </a:endParaRPr>
          </a:p>
        </p:txBody>
      </p:sp>
      <p:sp>
        <p:nvSpPr>
          <p:cNvPr id="23" name="Rectangle 25">
            <a:extLst>
              <a:ext uri="{FF2B5EF4-FFF2-40B4-BE49-F238E27FC236}">
                <a16:creationId xmlns:a16="http://schemas.microsoft.com/office/drawing/2014/main" id="{3A518DA1-7558-5921-9E7B-0B76492AD0F6}"/>
              </a:ext>
            </a:extLst>
          </p:cNvPr>
          <p:cNvSpPr>
            <a:spLocks noChangeArrowheads="1"/>
          </p:cNvSpPr>
          <p:nvPr/>
        </p:nvSpPr>
        <p:spPr bwMode="auto">
          <a:xfrm>
            <a:off x="2087924" y="3082927"/>
            <a:ext cx="1285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24" name="Rectangle 26">
            <a:extLst>
              <a:ext uri="{FF2B5EF4-FFF2-40B4-BE49-F238E27FC236}">
                <a16:creationId xmlns:a16="http://schemas.microsoft.com/office/drawing/2014/main" id="{81E18182-5AD3-8CEC-FF21-9C3DA3C31620}"/>
              </a:ext>
            </a:extLst>
          </p:cNvPr>
          <p:cNvSpPr>
            <a:spLocks noChangeArrowheads="1"/>
          </p:cNvSpPr>
          <p:nvPr/>
        </p:nvSpPr>
        <p:spPr bwMode="auto">
          <a:xfrm>
            <a:off x="2259373" y="2971801"/>
            <a:ext cx="609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25" name="Rectangle 27">
            <a:extLst>
              <a:ext uri="{FF2B5EF4-FFF2-40B4-BE49-F238E27FC236}">
                <a16:creationId xmlns:a16="http://schemas.microsoft.com/office/drawing/2014/main" id="{CF828A8B-5718-8338-13B6-996B227EDCC0}"/>
              </a:ext>
            </a:extLst>
          </p:cNvPr>
          <p:cNvSpPr>
            <a:spLocks noChangeArrowheads="1"/>
          </p:cNvSpPr>
          <p:nvPr/>
        </p:nvSpPr>
        <p:spPr bwMode="auto">
          <a:xfrm>
            <a:off x="2443523" y="2971801"/>
            <a:ext cx="118622"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solidFill>
                  <a:srgbClr val="FF0000"/>
                </a:solidFill>
                <a:latin typeface="Computer Modern" charset="0"/>
              </a:rPr>
              <a:t>Y</a:t>
            </a:r>
            <a:endParaRPr lang="en-CA" altLang="en-US" sz="2400" dirty="0">
              <a:solidFill>
                <a:srgbClr val="FF0000"/>
              </a:solidFill>
              <a:latin typeface="Times New Roman" panose="02020603050405020304" pitchFamily="18" charset="0"/>
            </a:endParaRPr>
          </a:p>
        </p:txBody>
      </p:sp>
      <p:sp>
        <p:nvSpPr>
          <p:cNvPr id="26" name="Rectangle 28">
            <a:extLst>
              <a:ext uri="{FF2B5EF4-FFF2-40B4-BE49-F238E27FC236}">
                <a16:creationId xmlns:a16="http://schemas.microsoft.com/office/drawing/2014/main" id="{1564E4E2-7142-35E6-489A-59D863E8E16D}"/>
              </a:ext>
            </a:extLst>
          </p:cNvPr>
          <p:cNvSpPr>
            <a:spLocks noChangeArrowheads="1"/>
          </p:cNvSpPr>
          <p:nvPr/>
        </p:nvSpPr>
        <p:spPr bwMode="auto">
          <a:xfrm>
            <a:off x="2610210" y="3082927"/>
            <a:ext cx="128588"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27" name="Rectangle 29">
            <a:extLst>
              <a:ext uri="{FF2B5EF4-FFF2-40B4-BE49-F238E27FC236}">
                <a16:creationId xmlns:a16="http://schemas.microsoft.com/office/drawing/2014/main" id="{9109DB58-D095-429F-41F0-7C01125B3EF9}"/>
              </a:ext>
            </a:extLst>
          </p:cNvPr>
          <p:cNvSpPr>
            <a:spLocks noChangeArrowheads="1"/>
          </p:cNvSpPr>
          <p:nvPr/>
        </p:nvSpPr>
        <p:spPr bwMode="auto">
          <a:xfrm>
            <a:off x="2756260" y="2971801"/>
            <a:ext cx="609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28" name="Rectangle 30">
            <a:extLst>
              <a:ext uri="{FF2B5EF4-FFF2-40B4-BE49-F238E27FC236}">
                <a16:creationId xmlns:a16="http://schemas.microsoft.com/office/drawing/2014/main" id="{6F87C550-3462-DB73-7E9E-9A887B4053E9}"/>
              </a:ext>
            </a:extLst>
          </p:cNvPr>
          <p:cNvSpPr>
            <a:spLocks noChangeArrowheads="1"/>
          </p:cNvSpPr>
          <p:nvPr/>
        </p:nvSpPr>
        <p:spPr bwMode="auto">
          <a:xfrm>
            <a:off x="2941998" y="2971801"/>
            <a:ext cx="537006"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solidFill>
                  <a:srgbClr val="FF0000"/>
                </a:solidFill>
                <a:latin typeface="Computer Modern" charset="0"/>
              </a:rPr>
              <a:t>WMF</a:t>
            </a:r>
            <a:endParaRPr lang="en-CA" altLang="en-US" sz="2400" dirty="0">
              <a:solidFill>
                <a:srgbClr val="FF0000"/>
              </a:solidFill>
              <a:latin typeface="Times New Roman" panose="02020603050405020304" pitchFamily="18" charset="0"/>
            </a:endParaRPr>
          </a:p>
        </p:txBody>
      </p:sp>
      <p:sp>
        <p:nvSpPr>
          <p:cNvPr id="29" name="Rectangle 31">
            <a:extLst>
              <a:ext uri="{FF2B5EF4-FFF2-40B4-BE49-F238E27FC236}">
                <a16:creationId xmlns:a16="http://schemas.microsoft.com/office/drawing/2014/main" id="{890A2A66-1690-AF1E-6422-4D3A6A237BE6}"/>
              </a:ext>
            </a:extLst>
          </p:cNvPr>
          <p:cNvSpPr>
            <a:spLocks noChangeArrowheads="1"/>
          </p:cNvSpPr>
          <p:nvPr/>
        </p:nvSpPr>
        <p:spPr bwMode="auto">
          <a:xfrm>
            <a:off x="3557948" y="2971801"/>
            <a:ext cx="12984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FF0000"/>
                </a:solidFill>
                <a:latin typeface="Computer Modern" charset="0"/>
              </a:rPr>
              <a:t>C</a:t>
            </a:r>
            <a:endParaRPr lang="en-CA" altLang="en-US" sz="2400">
              <a:solidFill>
                <a:srgbClr val="FF0000"/>
              </a:solidFill>
              <a:latin typeface="Times New Roman" panose="02020603050405020304" pitchFamily="18" charset="0"/>
            </a:endParaRPr>
          </a:p>
        </p:txBody>
      </p:sp>
      <p:sp>
        <p:nvSpPr>
          <p:cNvPr id="30" name="Rectangle 32">
            <a:extLst>
              <a:ext uri="{FF2B5EF4-FFF2-40B4-BE49-F238E27FC236}">
                <a16:creationId xmlns:a16="http://schemas.microsoft.com/office/drawing/2014/main" id="{1AA00DE5-9400-DC0D-CE83-8D290F869BBD}"/>
              </a:ext>
            </a:extLst>
          </p:cNvPr>
          <p:cNvSpPr>
            <a:spLocks noChangeArrowheads="1"/>
          </p:cNvSpPr>
          <p:nvPr/>
        </p:nvSpPr>
        <p:spPr bwMode="auto">
          <a:xfrm>
            <a:off x="381360" y="3375026"/>
            <a:ext cx="123432"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3</a:t>
            </a:r>
            <a:endParaRPr lang="en-CA" altLang="en-US" sz="2400">
              <a:latin typeface="Times New Roman" panose="02020603050405020304" pitchFamily="18" charset="0"/>
            </a:endParaRPr>
          </a:p>
        </p:txBody>
      </p:sp>
      <p:sp>
        <p:nvSpPr>
          <p:cNvPr id="31" name="Rectangle 33">
            <a:extLst>
              <a:ext uri="{FF2B5EF4-FFF2-40B4-BE49-F238E27FC236}">
                <a16:creationId xmlns:a16="http://schemas.microsoft.com/office/drawing/2014/main" id="{916CABDB-A4A0-8BBF-8D2C-41E83781EAF9}"/>
              </a:ext>
            </a:extLst>
          </p:cNvPr>
          <p:cNvSpPr>
            <a:spLocks noChangeArrowheads="1"/>
          </p:cNvSpPr>
          <p:nvPr/>
        </p:nvSpPr>
        <p:spPr bwMode="auto">
          <a:xfrm>
            <a:off x="1187810" y="3375026"/>
            <a:ext cx="492122"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MDR</a:t>
            </a:r>
            <a:endParaRPr lang="en-CA" altLang="en-US" sz="2400">
              <a:latin typeface="Times New Roman" panose="02020603050405020304" pitchFamily="18" charset="0"/>
            </a:endParaRPr>
          </a:p>
        </p:txBody>
      </p:sp>
      <p:sp>
        <p:nvSpPr>
          <p:cNvPr id="32" name="Rectangle 34">
            <a:extLst>
              <a:ext uri="{FF2B5EF4-FFF2-40B4-BE49-F238E27FC236}">
                <a16:creationId xmlns:a16="http://schemas.microsoft.com/office/drawing/2014/main" id="{97B7728B-671F-D983-B081-46FCAD1C665D}"/>
              </a:ext>
            </a:extLst>
          </p:cNvPr>
          <p:cNvSpPr>
            <a:spLocks noChangeArrowheads="1"/>
          </p:cNvSpPr>
          <p:nvPr/>
        </p:nvSpPr>
        <p:spPr bwMode="auto">
          <a:xfrm>
            <a:off x="1756135" y="3502027"/>
            <a:ext cx="230188"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out</a:t>
            </a:r>
            <a:endParaRPr lang="en-CA" altLang="en-US" sz="2400">
              <a:latin typeface="Times New Roman" panose="02020603050405020304" pitchFamily="18" charset="0"/>
            </a:endParaRPr>
          </a:p>
        </p:txBody>
      </p:sp>
      <p:sp>
        <p:nvSpPr>
          <p:cNvPr id="33" name="Rectangle 35">
            <a:extLst>
              <a:ext uri="{FF2B5EF4-FFF2-40B4-BE49-F238E27FC236}">
                <a16:creationId xmlns:a16="http://schemas.microsoft.com/office/drawing/2014/main" id="{4061B67E-194A-E04B-C64B-6B032FFE62C4}"/>
              </a:ext>
            </a:extLst>
          </p:cNvPr>
          <p:cNvSpPr>
            <a:spLocks noChangeArrowheads="1"/>
          </p:cNvSpPr>
          <p:nvPr/>
        </p:nvSpPr>
        <p:spPr bwMode="auto">
          <a:xfrm>
            <a:off x="2040298" y="3375026"/>
            <a:ext cx="609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34" name="Rectangle 36">
            <a:extLst>
              <a:ext uri="{FF2B5EF4-FFF2-40B4-BE49-F238E27FC236}">
                <a16:creationId xmlns:a16="http://schemas.microsoft.com/office/drawing/2014/main" id="{4638ABED-AF6D-902C-6A83-48C1CB9F8247}"/>
              </a:ext>
            </a:extLst>
          </p:cNvPr>
          <p:cNvSpPr>
            <a:spLocks noChangeArrowheads="1"/>
          </p:cNvSpPr>
          <p:nvPr/>
        </p:nvSpPr>
        <p:spPr bwMode="auto">
          <a:xfrm>
            <a:off x="2183173" y="3375026"/>
            <a:ext cx="19396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IR</a:t>
            </a:r>
            <a:endParaRPr lang="en-CA" altLang="en-US" sz="2400">
              <a:latin typeface="Times New Roman" panose="02020603050405020304" pitchFamily="18" charset="0"/>
            </a:endParaRPr>
          </a:p>
        </p:txBody>
      </p:sp>
      <p:sp>
        <p:nvSpPr>
          <p:cNvPr id="35" name="Rectangle 37">
            <a:extLst>
              <a:ext uri="{FF2B5EF4-FFF2-40B4-BE49-F238E27FC236}">
                <a16:creationId xmlns:a16="http://schemas.microsoft.com/office/drawing/2014/main" id="{FCC7D022-D42E-F6C8-EECA-F2A5535F6DC6}"/>
              </a:ext>
            </a:extLst>
          </p:cNvPr>
          <p:cNvSpPr>
            <a:spLocks noChangeArrowheads="1"/>
          </p:cNvSpPr>
          <p:nvPr/>
        </p:nvSpPr>
        <p:spPr bwMode="auto">
          <a:xfrm>
            <a:off x="2443524" y="3502027"/>
            <a:ext cx="1285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36" name="Rectangle 38">
            <a:extLst>
              <a:ext uri="{FF2B5EF4-FFF2-40B4-BE49-F238E27FC236}">
                <a16:creationId xmlns:a16="http://schemas.microsoft.com/office/drawing/2014/main" id="{794ABEDD-339C-599E-35FD-DFA1DB4C1B55}"/>
              </a:ext>
            </a:extLst>
          </p:cNvPr>
          <p:cNvSpPr>
            <a:spLocks noChangeArrowheads="1"/>
          </p:cNvSpPr>
          <p:nvPr/>
        </p:nvSpPr>
        <p:spPr bwMode="auto">
          <a:xfrm>
            <a:off x="381360" y="3802063"/>
            <a:ext cx="123432"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4</a:t>
            </a:r>
            <a:endParaRPr lang="en-CA" altLang="en-US" sz="2400">
              <a:latin typeface="Times New Roman" panose="02020603050405020304" pitchFamily="18" charset="0"/>
            </a:endParaRPr>
          </a:p>
        </p:txBody>
      </p:sp>
      <p:sp>
        <p:nvSpPr>
          <p:cNvPr id="37" name="Rectangle 39">
            <a:extLst>
              <a:ext uri="{FF2B5EF4-FFF2-40B4-BE49-F238E27FC236}">
                <a16:creationId xmlns:a16="http://schemas.microsoft.com/office/drawing/2014/main" id="{75D8DA5E-388E-76A5-024F-96C9CEE600CF}"/>
              </a:ext>
            </a:extLst>
          </p:cNvPr>
          <p:cNvSpPr>
            <a:spLocks noChangeArrowheads="1"/>
          </p:cNvSpPr>
          <p:nvPr/>
        </p:nvSpPr>
        <p:spPr bwMode="auto">
          <a:xfrm>
            <a:off x="1187811" y="3802063"/>
            <a:ext cx="1665521"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Offset-field-of-IR</a:t>
            </a:r>
            <a:endParaRPr lang="en-CA" altLang="en-US" sz="2400">
              <a:latin typeface="Times New Roman" panose="02020603050405020304" pitchFamily="18" charset="0"/>
            </a:endParaRPr>
          </a:p>
        </p:txBody>
      </p:sp>
      <p:sp>
        <p:nvSpPr>
          <p:cNvPr id="38" name="Rectangle 40">
            <a:extLst>
              <a:ext uri="{FF2B5EF4-FFF2-40B4-BE49-F238E27FC236}">
                <a16:creationId xmlns:a16="http://schemas.microsoft.com/office/drawing/2014/main" id="{A847018A-DFBF-DA38-47C3-6514FC636B8B}"/>
              </a:ext>
            </a:extLst>
          </p:cNvPr>
          <p:cNvSpPr>
            <a:spLocks noChangeArrowheads="1"/>
          </p:cNvSpPr>
          <p:nvPr/>
        </p:nvSpPr>
        <p:spPr bwMode="auto">
          <a:xfrm>
            <a:off x="2899135" y="3903663"/>
            <a:ext cx="230188"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out</a:t>
            </a:r>
            <a:endParaRPr lang="en-CA" altLang="en-US" sz="2400">
              <a:latin typeface="Times New Roman" panose="02020603050405020304" pitchFamily="18" charset="0"/>
            </a:endParaRPr>
          </a:p>
        </p:txBody>
      </p:sp>
      <p:sp>
        <p:nvSpPr>
          <p:cNvPr id="39" name="Rectangle 41">
            <a:extLst>
              <a:ext uri="{FF2B5EF4-FFF2-40B4-BE49-F238E27FC236}">
                <a16:creationId xmlns:a16="http://schemas.microsoft.com/office/drawing/2014/main" id="{C433DEAB-A699-57A1-CFB0-CDE49B51CA2D}"/>
              </a:ext>
            </a:extLst>
          </p:cNvPr>
          <p:cNvSpPr>
            <a:spLocks noChangeArrowheads="1"/>
          </p:cNvSpPr>
          <p:nvPr/>
        </p:nvSpPr>
        <p:spPr bwMode="auto">
          <a:xfrm>
            <a:off x="3130910" y="3802063"/>
            <a:ext cx="609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40" name="Rectangle 42">
            <a:extLst>
              <a:ext uri="{FF2B5EF4-FFF2-40B4-BE49-F238E27FC236}">
                <a16:creationId xmlns:a16="http://schemas.microsoft.com/office/drawing/2014/main" id="{B44D3EB9-C728-A6D1-80BA-9EA1132C6EC4}"/>
              </a:ext>
            </a:extLst>
          </p:cNvPr>
          <p:cNvSpPr>
            <a:spLocks noChangeArrowheads="1"/>
          </p:cNvSpPr>
          <p:nvPr/>
        </p:nvSpPr>
        <p:spPr bwMode="auto">
          <a:xfrm>
            <a:off x="3345224" y="3802063"/>
            <a:ext cx="458459"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solidFill>
                  <a:srgbClr val="000000"/>
                </a:solidFill>
                <a:latin typeface="Computer Modern" charset="0"/>
              </a:rPr>
              <a:t>Add,</a:t>
            </a:r>
            <a:endParaRPr lang="en-CA" altLang="en-US" sz="2400" dirty="0">
              <a:latin typeface="Times New Roman" panose="02020603050405020304" pitchFamily="18" charset="0"/>
            </a:endParaRPr>
          </a:p>
        </p:txBody>
      </p:sp>
      <p:sp>
        <p:nvSpPr>
          <p:cNvPr id="41" name="Rectangle 43">
            <a:extLst>
              <a:ext uri="{FF2B5EF4-FFF2-40B4-BE49-F238E27FC236}">
                <a16:creationId xmlns:a16="http://schemas.microsoft.com/office/drawing/2014/main" id="{5A32CD03-5A9D-4508-83DF-737748BF6688}"/>
              </a:ext>
            </a:extLst>
          </p:cNvPr>
          <p:cNvSpPr>
            <a:spLocks noChangeArrowheads="1"/>
          </p:cNvSpPr>
          <p:nvPr/>
        </p:nvSpPr>
        <p:spPr bwMode="auto">
          <a:xfrm>
            <a:off x="3937360" y="3802063"/>
            <a:ext cx="1138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Z</a:t>
            </a:r>
            <a:endParaRPr lang="en-CA" altLang="en-US" sz="2400">
              <a:latin typeface="Times New Roman" panose="02020603050405020304" pitchFamily="18" charset="0"/>
            </a:endParaRPr>
          </a:p>
        </p:txBody>
      </p:sp>
      <p:sp>
        <p:nvSpPr>
          <p:cNvPr id="42" name="Rectangle 44">
            <a:extLst>
              <a:ext uri="{FF2B5EF4-FFF2-40B4-BE49-F238E27FC236}">
                <a16:creationId xmlns:a16="http://schemas.microsoft.com/office/drawing/2014/main" id="{A65CB23E-1B83-3913-2DB2-49F429EEE841}"/>
              </a:ext>
            </a:extLst>
          </p:cNvPr>
          <p:cNvSpPr>
            <a:spLocks noChangeArrowheads="1"/>
          </p:cNvSpPr>
          <p:nvPr/>
        </p:nvSpPr>
        <p:spPr bwMode="auto">
          <a:xfrm>
            <a:off x="4099285" y="3903663"/>
            <a:ext cx="128588"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43" name="Rectangle 45">
            <a:extLst>
              <a:ext uri="{FF2B5EF4-FFF2-40B4-BE49-F238E27FC236}">
                <a16:creationId xmlns:a16="http://schemas.microsoft.com/office/drawing/2014/main" id="{DCED64E9-8078-C177-8EDF-0DB923D86224}"/>
              </a:ext>
            </a:extLst>
          </p:cNvPr>
          <p:cNvSpPr>
            <a:spLocks noChangeArrowheads="1"/>
          </p:cNvSpPr>
          <p:nvPr/>
        </p:nvSpPr>
        <p:spPr bwMode="auto">
          <a:xfrm>
            <a:off x="381360" y="4227513"/>
            <a:ext cx="123432"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5</a:t>
            </a:r>
            <a:endParaRPr lang="en-CA" altLang="en-US" sz="2400">
              <a:latin typeface="Times New Roman" panose="02020603050405020304" pitchFamily="18" charset="0"/>
            </a:endParaRPr>
          </a:p>
        </p:txBody>
      </p:sp>
      <p:sp>
        <p:nvSpPr>
          <p:cNvPr id="44" name="Rectangle 46">
            <a:extLst>
              <a:ext uri="{FF2B5EF4-FFF2-40B4-BE49-F238E27FC236}">
                <a16:creationId xmlns:a16="http://schemas.microsoft.com/office/drawing/2014/main" id="{07B37BB3-B350-7116-6A8F-B361BF4A744A}"/>
              </a:ext>
            </a:extLst>
          </p:cNvPr>
          <p:cNvSpPr>
            <a:spLocks noChangeArrowheads="1"/>
          </p:cNvSpPr>
          <p:nvPr/>
        </p:nvSpPr>
        <p:spPr bwMode="auto">
          <a:xfrm>
            <a:off x="1187810" y="4227513"/>
            <a:ext cx="1138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Z</a:t>
            </a:r>
            <a:endParaRPr lang="en-CA" altLang="en-US" sz="2400">
              <a:latin typeface="Times New Roman" panose="02020603050405020304" pitchFamily="18" charset="0"/>
            </a:endParaRPr>
          </a:p>
        </p:txBody>
      </p:sp>
      <p:sp>
        <p:nvSpPr>
          <p:cNvPr id="45" name="Rectangle 47">
            <a:extLst>
              <a:ext uri="{FF2B5EF4-FFF2-40B4-BE49-F238E27FC236}">
                <a16:creationId xmlns:a16="http://schemas.microsoft.com/office/drawing/2014/main" id="{4C440392-2619-C677-D207-7E235F2B817C}"/>
              </a:ext>
            </a:extLst>
          </p:cNvPr>
          <p:cNvSpPr>
            <a:spLocks noChangeArrowheads="1"/>
          </p:cNvSpPr>
          <p:nvPr/>
        </p:nvSpPr>
        <p:spPr bwMode="auto">
          <a:xfrm>
            <a:off x="1348148" y="4349752"/>
            <a:ext cx="232436"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out</a:t>
            </a:r>
            <a:endParaRPr lang="en-CA" altLang="en-US" sz="2400">
              <a:latin typeface="Times New Roman" panose="02020603050405020304" pitchFamily="18" charset="0"/>
            </a:endParaRPr>
          </a:p>
        </p:txBody>
      </p:sp>
      <p:sp>
        <p:nvSpPr>
          <p:cNvPr id="46" name="Rectangle 48">
            <a:extLst>
              <a:ext uri="{FF2B5EF4-FFF2-40B4-BE49-F238E27FC236}">
                <a16:creationId xmlns:a16="http://schemas.microsoft.com/office/drawing/2014/main" id="{99D6FAD5-221D-1BEA-E579-FA6AC5D619BF}"/>
              </a:ext>
            </a:extLst>
          </p:cNvPr>
          <p:cNvSpPr>
            <a:spLocks noChangeArrowheads="1"/>
          </p:cNvSpPr>
          <p:nvPr/>
        </p:nvSpPr>
        <p:spPr bwMode="auto">
          <a:xfrm>
            <a:off x="1584685" y="4227513"/>
            <a:ext cx="609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47" name="Rectangle 49">
            <a:extLst>
              <a:ext uri="{FF2B5EF4-FFF2-40B4-BE49-F238E27FC236}">
                <a16:creationId xmlns:a16="http://schemas.microsoft.com/office/drawing/2014/main" id="{D54A0488-E4AF-B0EB-B753-90E0EB2DF0A0}"/>
              </a:ext>
            </a:extLst>
          </p:cNvPr>
          <p:cNvSpPr>
            <a:spLocks noChangeArrowheads="1"/>
          </p:cNvSpPr>
          <p:nvPr/>
        </p:nvSpPr>
        <p:spPr bwMode="auto">
          <a:xfrm>
            <a:off x="1756135" y="4227513"/>
            <a:ext cx="256480"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PC</a:t>
            </a:r>
            <a:endParaRPr lang="en-CA" altLang="en-US" sz="2400">
              <a:latin typeface="Times New Roman" panose="02020603050405020304" pitchFamily="18" charset="0"/>
            </a:endParaRPr>
          </a:p>
        </p:txBody>
      </p:sp>
      <p:sp>
        <p:nvSpPr>
          <p:cNvPr id="48" name="Rectangle 50">
            <a:extLst>
              <a:ext uri="{FF2B5EF4-FFF2-40B4-BE49-F238E27FC236}">
                <a16:creationId xmlns:a16="http://schemas.microsoft.com/office/drawing/2014/main" id="{A01B8346-9FFB-3508-1478-7AC1E70CE041}"/>
              </a:ext>
            </a:extLst>
          </p:cNvPr>
          <p:cNvSpPr>
            <a:spLocks noChangeArrowheads="1"/>
          </p:cNvSpPr>
          <p:nvPr/>
        </p:nvSpPr>
        <p:spPr bwMode="auto">
          <a:xfrm>
            <a:off x="2068874" y="4330702"/>
            <a:ext cx="1285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49" name="Rectangle 51">
            <a:extLst>
              <a:ext uri="{FF2B5EF4-FFF2-40B4-BE49-F238E27FC236}">
                <a16:creationId xmlns:a16="http://schemas.microsoft.com/office/drawing/2014/main" id="{B39431D4-66D4-7D7A-9432-29EF3704C270}"/>
              </a:ext>
            </a:extLst>
          </p:cNvPr>
          <p:cNvSpPr>
            <a:spLocks noChangeArrowheads="1"/>
          </p:cNvSpPr>
          <p:nvPr/>
        </p:nvSpPr>
        <p:spPr bwMode="auto">
          <a:xfrm>
            <a:off x="2230798" y="4227513"/>
            <a:ext cx="609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50" name="Rectangle 52">
            <a:extLst>
              <a:ext uri="{FF2B5EF4-FFF2-40B4-BE49-F238E27FC236}">
                <a16:creationId xmlns:a16="http://schemas.microsoft.com/office/drawing/2014/main" id="{AA380096-4FC5-C104-C4BD-53D6B5580663}"/>
              </a:ext>
            </a:extLst>
          </p:cNvPr>
          <p:cNvSpPr>
            <a:spLocks noChangeArrowheads="1"/>
          </p:cNvSpPr>
          <p:nvPr/>
        </p:nvSpPr>
        <p:spPr bwMode="auto">
          <a:xfrm>
            <a:off x="2443524" y="4227513"/>
            <a:ext cx="375103"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End</a:t>
            </a:r>
            <a:endParaRPr lang="en-CA" altLang="en-US" sz="2400">
              <a:latin typeface="Times New Roman" panose="02020603050405020304" pitchFamily="18" charset="0"/>
            </a:endParaRPr>
          </a:p>
        </p:txBody>
      </p:sp>
      <p:sp>
        <p:nvSpPr>
          <p:cNvPr id="51" name="Rectangle 53">
            <a:extLst>
              <a:ext uri="{FF2B5EF4-FFF2-40B4-BE49-F238E27FC236}">
                <a16:creationId xmlns:a16="http://schemas.microsoft.com/office/drawing/2014/main" id="{A17013F6-B577-8EB8-833C-1B31DA9262CA}"/>
              </a:ext>
            </a:extLst>
          </p:cNvPr>
          <p:cNvSpPr>
            <a:spLocks noChangeArrowheads="1"/>
          </p:cNvSpPr>
          <p:nvPr/>
        </p:nvSpPr>
        <p:spPr bwMode="auto">
          <a:xfrm>
            <a:off x="381360" y="4773613"/>
            <a:ext cx="4954588" cy="1588"/>
          </a:xfrm>
          <a:prstGeom prst="rect">
            <a:avLst/>
          </a:prstGeom>
          <a:solidFill>
            <a:srgbClr val="0000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52" name="Arrow: Down 51">
            <a:extLst>
              <a:ext uri="{FF2B5EF4-FFF2-40B4-BE49-F238E27FC236}">
                <a16:creationId xmlns:a16="http://schemas.microsoft.com/office/drawing/2014/main" id="{C052947D-AB91-6E08-3702-25FFB1A7E2D3}"/>
              </a:ext>
            </a:extLst>
          </p:cNvPr>
          <p:cNvSpPr/>
          <p:nvPr/>
        </p:nvSpPr>
        <p:spPr>
          <a:xfrm>
            <a:off x="9303316" y="782425"/>
            <a:ext cx="200386" cy="5938885"/>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5" name="Group 54">
            <a:extLst>
              <a:ext uri="{FF2B5EF4-FFF2-40B4-BE49-F238E27FC236}">
                <a16:creationId xmlns:a16="http://schemas.microsoft.com/office/drawing/2014/main" id="{DD2B47DE-DB61-2824-FB16-E8AD40B1FBA4}"/>
              </a:ext>
            </a:extLst>
          </p:cNvPr>
          <p:cNvGrpSpPr/>
          <p:nvPr/>
        </p:nvGrpSpPr>
        <p:grpSpPr>
          <a:xfrm>
            <a:off x="5943600" y="207390"/>
            <a:ext cx="5562012" cy="7029765"/>
            <a:chOff x="5943600" y="207390"/>
            <a:chExt cx="5562012" cy="7029765"/>
          </a:xfrm>
        </p:grpSpPr>
        <p:pic>
          <p:nvPicPr>
            <p:cNvPr id="35844" name="Picture 4" descr="figure7">
              <a:extLst>
                <a:ext uri="{FF2B5EF4-FFF2-40B4-BE49-F238E27FC236}">
                  <a16:creationId xmlns:a16="http://schemas.microsoft.com/office/drawing/2014/main" id="{78E91BB7-2543-B620-70C9-1D8942E843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3600" y="207390"/>
              <a:ext cx="5562012" cy="7029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 name="Arrow: Right 55">
              <a:extLst>
                <a:ext uri="{FF2B5EF4-FFF2-40B4-BE49-F238E27FC236}">
                  <a16:creationId xmlns:a16="http://schemas.microsoft.com/office/drawing/2014/main" id="{2B7B6548-7F9B-E00B-8813-685306E233A6}"/>
                </a:ext>
              </a:extLst>
            </p:cNvPr>
            <p:cNvSpPr/>
            <p:nvPr/>
          </p:nvSpPr>
          <p:spPr>
            <a:xfrm rot="10800000">
              <a:off x="8664798" y="1014708"/>
              <a:ext cx="668363" cy="154215"/>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Straight Arrow Connector 60">
              <a:extLst>
                <a:ext uri="{FF2B5EF4-FFF2-40B4-BE49-F238E27FC236}">
                  <a16:creationId xmlns:a16="http://schemas.microsoft.com/office/drawing/2014/main" id="{7FEF1870-6CEC-7FD3-75E2-FF7D7D2747BF}"/>
                </a:ext>
              </a:extLst>
            </p:cNvPr>
            <p:cNvCxnSpPr>
              <a:cxnSpLocks/>
            </p:cNvCxnSpPr>
            <p:nvPr/>
          </p:nvCxnSpPr>
          <p:spPr>
            <a:xfrm>
              <a:off x="8664799" y="5915649"/>
              <a:ext cx="659791" cy="0"/>
            </a:xfrm>
            <a:prstGeom prst="straightConnector1">
              <a:avLst/>
            </a:prstGeom>
            <a:ln w="38100">
              <a:solidFill>
                <a:srgbClr val="FF0000"/>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54" name="Arrow: Right 53">
              <a:extLst>
                <a:ext uri="{FF2B5EF4-FFF2-40B4-BE49-F238E27FC236}">
                  <a16:creationId xmlns:a16="http://schemas.microsoft.com/office/drawing/2014/main" id="{E2EC8098-C0AF-6CCA-5342-3600869125D6}"/>
                </a:ext>
              </a:extLst>
            </p:cNvPr>
            <p:cNvSpPr/>
            <p:nvPr/>
          </p:nvSpPr>
          <p:spPr>
            <a:xfrm rot="10800000">
              <a:off x="8656227" y="3326706"/>
              <a:ext cx="668363" cy="102297"/>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39369074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A710E145-14EC-57A6-068D-C74D4F9600B1}"/>
              </a:ext>
            </a:extLst>
          </p:cNvPr>
          <p:cNvSpPr>
            <a:spLocks noGrp="1" noChangeArrowheads="1"/>
          </p:cNvSpPr>
          <p:nvPr>
            <p:ph type="title"/>
          </p:nvPr>
        </p:nvSpPr>
        <p:spPr/>
        <p:txBody>
          <a:bodyPr/>
          <a:lstStyle/>
          <a:p>
            <a:endParaRPr lang="en-US" altLang="en-US" sz="2800" dirty="0"/>
          </a:p>
        </p:txBody>
      </p:sp>
      <p:sp>
        <p:nvSpPr>
          <p:cNvPr id="2" name="Rectangle 4">
            <a:extLst>
              <a:ext uri="{FF2B5EF4-FFF2-40B4-BE49-F238E27FC236}">
                <a16:creationId xmlns:a16="http://schemas.microsoft.com/office/drawing/2014/main" id="{3FE5DC9C-7E73-A15F-258D-2315469F8E3E}"/>
              </a:ext>
            </a:extLst>
          </p:cNvPr>
          <p:cNvSpPr>
            <a:spLocks noChangeArrowheads="1"/>
          </p:cNvSpPr>
          <p:nvPr/>
        </p:nvSpPr>
        <p:spPr bwMode="auto">
          <a:xfrm>
            <a:off x="381360" y="1690688"/>
            <a:ext cx="4954588" cy="1588"/>
          </a:xfrm>
          <a:prstGeom prst="rect">
            <a:avLst/>
          </a:prstGeom>
          <a:solidFill>
            <a:srgbClr val="0000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 name="Rectangle 5">
            <a:extLst>
              <a:ext uri="{FF2B5EF4-FFF2-40B4-BE49-F238E27FC236}">
                <a16:creationId xmlns:a16="http://schemas.microsoft.com/office/drawing/2014/main" id="{357008E0-FBA9-C949-4CB2-EAB53619D351}"/>
              </a:ext>
            </a:extLst>
          </p:cNvPr>
          <p:cNvSpPr>
            <a:spLocks noChangeArrowheads="1"/>
          </p:cNvSpPr>
          <p:nvPr/>
        </p:nvSpPr>
        <p:spPr bwMode="auto">
          <a:xfrm>
            <a:off x="381361" y="1905001"/>
            <a:ext cx="455253"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b="1">
                <a:solidFill>
                  <a:srgbClr val="000000"/>
                </a:solidFill>
                <a:latin typeface="Computer Modern" charset="0"/>
              </a:rPr>
              <a:t>Step</a:t>
            </a:r>
            <a:endParaRPr lang="en-CA" altLang="en-US" sz="2400">
              <a:latin typeface="Times New Roman" panose="02020603050405020304" pitchFamily="18" charset="0"/>
            </a:endParaRPr>
          </a:p>
        </p:txBody>
      </p:sp>
      <p:sp>
        <p:nvSpPr>
          <p:cNvPr id="4" name="Rectangle 6">
            <a:extLst>
              <a:ext uri="{FF2B5EF4-FFF2-40B4-BE49-F238E27FC236}">
                <a16:creationId xmlns:a16="http://schemas.microsoft.com/office/drawing/2014/main" id="{3C502DA9-9879-04DC-0A93-22A7E14A5391}"/>
              </a:ext>
            </a:extLst>
          </p:cNvPr>
          <p:cNvSpPr>
            <a:spLocks noChangeArrowheads="1"/>
          </p:cNvSpPr>
          <p:nvPr/>
        </p:nvSpPr>
        <p:spPr bwMode="auto">
          <a:xfrm>
            <a:off x="959211" y="1905001"/>
            <a:ext cx="657231"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b="1">
                <a:solidFill>
                  <a:srgbClr val="000000"/>
                </a:solidFill>
                <a:latin typeface="Computer Modern" charset="0"/>
              </a:rPr>
              <a:t>Action</a:t>
            </a:r>
            <a:endParaRPr lang="en-CA" altLang="en-US" sz="2400">
              <a:latin typeface="Times New Roman" panose="02020603050405020304" pitchFamily="18" charset="0"/>
            </a:endParaRPr>
          </a:p>
        </p:txBody>
      </p:sp>
      <p:sp>
        <p:nvSpPr>
          <p:cNvPr id="5" name="Rectangle 7">
            <a:extLst>
              <a:ext uri="{FF2B5EF4-FFF2-40B4-BE49-F238E27FC236}">
                <a16:creationId xmlns:a16="http://schemas.microsoft.com/office/drawing/2014/main" id="{DA23B391-FE3F-7AD5-8221-B18CF791119B}"/>
              </a:ext>
            </a:extLst>
          </p:cNvPr>
          <p:cNvSpPr>
            <a:spLocks noChangeArrowheads="1"/>
          </p:cNvSpPr>
          <p:nvPr/>
        </p:nvSpPr>
        <p:spPr bwMode="auto">
          <a:xfrm>
            <a:off x="381360" y="2449513"/>
            <a:ext cx="4954588" cy="1588"/>
          </a:xfrm>
          <a:prstGeom prst="rect">
            <a:avLst/>
          </a:prstGeom>
          <a:solidFill>
            <a:srgbClr val="0000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6" name="Rectangle 8">
            <a:extLst>
              <a:ext uri="{FF2B5EF4-FFF2-40B4-BE49-F238E27FC236}">
                <a16:creationId xmlns:a16="http://schemas.microsoft.com/office/drawing/2014/main" id="{10207F01-E926-1A73-D3C9-F129A082C487}"/>
              </a:ext>
            </a:extLst>
          </p:cNvPr>
          <p:cNvSpPr>
            <a:spLocks noChangeArrowheads="1"/>
          </p:cNvSpPr>
          <p:nvPr/>
        </p:nvSpPr>
        <p:spPr bwMode="auto">
          <a:xfrm>
            <a:off x="381360" y="2544763"/>
            <a:ext cx="123432"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1</a:t>
            </a:r>
            <a:endParaRPr lang="en-CA" altLang="en-US" sz="2400">
              <a:latin typeface="Times New Roman" panose="02020603050405020304" pitchFamily="18" charset="0"/>
            </a:endParaRPr>
          </a:p>
        </p:txBody>
      </p:sp>
      <p:sp>
        <p:nvSpPr>
          <p:cNvPr id="7" name="Rectangle 9">
            <a:extLst>
              <a:ext uri="{FF2B5EF4-FFF2-40B4-BE49-F238E27FC236}">
                <a16:creationId xmlns:a16="http://schemas.microsoft.com/office/drawing/2014/main" id="{FC8E2BE8-452B-D07B-98BB-06B84F1AA6EC}"/>
              </a:ext>
            </a:extLst>
          </p:cNvPr>
          <p:cNvSpPr>
            <a:spLocks noChangeArrowheads="1"/>
          </p:cNvSpPr>
          <p:nvPr/>
        </p:nvSpPr>
        <p:spPr bwMode="auto">
          <a:xfrm>
            <a:off x="1187810" y="2544763"/>
            <a:ext cx="256480"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latin typeface="Computer Modern" charset="0"/>
              </a:rPr>
              <a:t>PC</a:t>
            </a:r>
            <a:endParaRPr lang="en-CA" altLang="en-US" sz="2400" dirty="0">
              <a:latin typeface="Times New Roman" panose="02020603050405020304" pitchFamily="18" charset="0"/>
            </a:endParaRPr>
          </a:p>
        </p:txBody>
      </p:sp>
      <p:sp>
        <p:nvSpPr>
          <p:cNvPr id="8" name="Rectangle 10">
            <a:extLst>
              <a:ext uri="{FF2B5EF4-FFF2-40B4-BE49-F238E27FC236}">
                <a16:creationId xmlns:a16="http://schemas.microsoft.com/office/drawing/2014/main" id="{C1D860A8-9E69-D719-E103-7F22A43AC528}"/>
              </a:ext>
            </a:extLst>
          </p:cNvPr>
          <p:cNvSpPr>
            <a:spLocks noChangeArrowheads="1"/>
          </p:cNvSpPr>
          <p:nvPr/>
        </p:nvSpPr>
        <p:spPr bwMode="auto">
          <a:xfrm>
            <a:off x="1478323" y="2660652"/>
            <a:ext cx="232436"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out</a:t>
            </a:r>
            <a:endParaRPr lang="en-CA" altLang="en-US" sz="2400">
              <a:latin typeface="Times New Roman" panose="02020603050405020304" pitchFamily="18" charset="0"/>
            </a:endParaRPr>
          </a:p>
        </p:txBody>
      </p:sp>
      <p:sp>
        <p:nvSpPr>
          <p:cNvPr id="9" name="Rectangle 11">
            <a:extLst>
              <a:ext uri="{FF2B5EF4-FFF2-40B4-BE49-F238E27FC236}">
                <a16:creationId xmlns:a16="http://schemas.microsoft.com/office/drawing/2014/main" id="{FA31807C-ADBF-95C4-AF79-B947D2B45C5E}"/>
              </a:ext>
            </a:extLst>
          </p:cNvPr>
          <p:cNvSpPr>
            <a:spLocks noChangeArrowheads="1"/>
          </p:cNvSpPr>
          <p:nvPr/>
        </p:nvSpPr>
        <p:spPr bwMode="auto">
          <a:xfrm>
            <a:off x="1746610" y="2544763"/>
            <a:ext cx="609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10" name="Rectangle 12">
            <a:extLst>
              <a:ext uri="{FF2B5EF4-FFF2-40B4-BE49-F238E27FC236}">
                <a16:creationId xmlns:a16="http://schemas.microsoft.com/office/drawing/2014/main" id="{1F95E6A1-A7C8-5130-CCA7-96B6E4827AAB}"/>
              </a:ext>
            </a:extLst>
          </p:cNvPr>
          <p:cNvSpPr>
            <a:spLocks noChangeArrowheads="1"/>
          </p:cNvSpPr>
          <p:nvPr/>
        </p:nvSpPr>
        <p:spPr bwMode="auto">
          <a:xfrm>
            <a:off x="1946635" y="2544763"/>
            <a:ext cx="48250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latin typeface="Computer Modern" charset="0"/>
              </a:rPr>
              <a:t>MAR</a:t>
            </a:r>
            <a:endParaRPr lang="en-CA" altLang="en-US" sz="2400" dirty="0">
              <a:latin typeface="Times New Roman" panose="02020603050405020304" pitchFamily="18" charset="0"/>
            </a:endParaRPr>
          </a:p>
        </p:txBody>
      </p:sp>
      <p:sp>
        <p:nvSpPr>
          <p:cNvPr id="11" name="Rectangle 13">
            <a:extLst>
              <a:ext uri="{FF2B5EF4-FFF2-40B4-BE49-F238E27FC236}">
                <a16:creationId xmlns:a16="http://schemas.microsoft.com/office/drawing/2014/main" id="{B3CBCCDD-A331-4B9B-B053-F96DE7BC546A}"/>
              </a:ext>
            </a:extLst>
          </p:cNvPr>
          <p:cNvSpPr>
            <a:spLocks noChangeArrowheads="1"/>
          </p:cNvSpPr>
          <p:nvPr/>
        </p:nvSpPr>
        <p:spPr bwMode="auto">
          <a:xfrm>
            <a:off x="2534010" y="2652713"/>
            <a:ext cx="128588"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12" name="Rectangle 14">
            <a:extLst>
              <a:ext uri="{FF2B5EF4-FFF2-40B4-BE49-F238E27FC236}">
                <a16:creationId xmlns:a16="http://schemas.microsoft.com/office/drawing/2014/main" id="{2AB41E34-9FAB-CC2C-EF37-4FF1AE286D62}"/>
              </a:ext>
            </a:extLst>
          </p:cNvPr>
          <p:cNvSpPr>
            <a:spLocks noChangeArrowheads="1"/>
          </p:cNvSpPr>
          <p:nvPr/>
        </p:nvSpPr>
        <p:spPr bwMode="auto">
          <a:xfrm>
            <a:off x="2703873" y="2544763"/>
            <a:ext cx="609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13" name="Rectangle 15">
            <a:extLst>
              <a:ext uri="{FF2B5EF4-FFF2-40B4-BE49-F238E27FC236}">
                <a16:creationId xmlns:a16="http://schemas.microsoft.com/office/drawing/2014/main" id="{F959CE10-7EF4-FB83-BBDE-38F859F520C3}"/>
              </a:ext>
            </a:extLst>
          </p:cNvPr>
          <p:cNvSpPr>
            <a:spLocks noChangeArrowheads="1"/>
          </p:cNvSpPr>
          <p:nvPr/>
        </p:nvSpPr>
        <p:spPr bwMode="auto">
          <a:xfrm>
            <a:off x="2846749" y="2544763"/>
            <a:ext cx="561051"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latin typeface="Computer Modern" charset="0"/>
              </a:rPr>
              <a:t>Read,</a:t>
            </a:r>
          </a:p>
        </p:txBody>
      </p:sp>
      <p:sp>
        <p:nvSpPr>
          <p:cNvPr id="14" name="Rectangle 16">
            <a:extLst>
              <a:ext uri="{FF2B5EF4-FFF2-40B4-BE49-F238E27FC236}">
                <a16:creationId xmlns:a16="http://schemas.microsoft.com/office/drawing/2014/main" id="{0E6B9D1B-3B6F-DFD1-EE0F-7D39C332A00F}"/>
              </a:ext>
            </a:extLst>
          </p:cNvPr>
          <p:cNvSpPr>
            <a:spLocks noChangeArrowheads="1"/>
          </p:cNvSpPr>
          <p:nvPr/>
        </p:nvSpPr>
        <p:spPr bwMode="auto">
          <a:xfrm>
            <a:off x="3534136" y="2544763"/>
            <a:ext cx="780663"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latin typeface="Computer Modern" charset="0"/>
              </a:rPr>
              <a:t>Select4,</a:t>
            </a:r>
          </a:p>
        </p:txBody>
      </p:sp>
      <p:sp>
        <p:nvSpPr>
          <p:cNvPr id="15" name="Rectangle 17">
            <a:extLst>
              <a:ext uri="{FF2B5EF4-FFF2-40B4-BE49-F238E27FC236}">
                <a16:creationId xmlns:a16="http://schemas.microsoft.com/office/drawing/2014/main" id="{DA5E21BC-C2DA-ABDD-FFAD-780280B3F009}"/>
              </a:ext>
            </a:extLst>
          </p:cNvPr>
          <p:cNvSpPr>
            <a:spLocks noChangeArrowheads="1"/>
          </p:cNvSpPr>
          <p:nvPr/>
        </p:nvSpPr>
        <p:spPr bwMode="auto">
          <a:xfrm>
            <a:off x="4388211" y="2544763"/>
            <a:ext cx="458459"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latin typeface="Computer Modern" charset="0"/>
              </a:rPr>
              <a:t>Add,</a:t>
            </a:r>
          </a:p>
        </p:txBody>
      </p:sp>
      <p:sp>
        <p:nvSpPr>
          <p:cNvPr id="16" name="Rectangle 18">
            <a:extLst>
              <a:ext uri="{FF2B5EF4-FFF2-40B4-BE49-F238E27FC236}">
                <a16:creationId xmlns:a16="http://schemas.microsoft.com/office/drawing/2014/main" id="{03FFC9B8-92EF-D187-382C-D0C7524250EC}"/>
              </a:ext>
            </a:extLst>
          </p:cNvPr>
          <p:cNvSpPr>
            <a:spLocks noChangeArrowheads="1"/>
          </p:cNvSpPr>
          <p:nvPr/>
        </p:nvSpPr>
        <p:spPr bwMode="auto">
          <a:xfrm>
            <a:off x="4980348" y="2544763"/>
            <a:ext cx="1138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latin typeface="Computer Modern" charset="0"/>
              </a:rPr>
              <a:t>Z</a:t>
            </a:r>
          </a:p>
        </p:txBody>
      </p:sp>
      <p:sp>
        <p:nvSpPr>
          <p:cNvPr id="17" name="Rectangle 19">
            <a:extLst>
              <a:ext uri="{FF2B5EF4-FFF2-40B4-BE49-F238E27FC236}">
                <a16:creationId xmlns:a16="http://schemas.microsoft.com/office/drawing/2014/main" id="{9A766D23-9E25-A4DC-9F81-53353E701809}"/>
              </a:ext>
            </a:extLst>
          </p:cNvPr>
          <p:cNvSpPr>
            <a:spLocks noChangeArrowheads="1"/>
          </p:cNvSpPr>
          <p:nvPr/>
        </p:nvSpPr>
        <p:spPr bwMode="auto">
          <a:xfrm>
            <a:off x="5142274" y="2641602"/>
            <a:ext cx="1285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18" name="Rectangle 20">
            <a:extLst>
              <a:ext uri="{FF2B5EF4-FFF2-40B4-BE49-F238E27FC236}">
                <a16:creationId xmlns:a16="http://schemas.microsoft.com/office/drawing/2014/main" id="{BB1FE4B9-2052-2A37-9C32-13F3747C49DA}"/>
              </a:ext>
            </a:extLst>
          </p:cNvPr>
          <p:cNvSpPr>
            <a:spLocks noChangeArrowheads="1"/>
          </p:cNvSpPr>
          <p:nvPr/>
        </p:nvSpPr>
        <p:spPr bwMode="auto">
          <a:xfrm>
            <a:off x="381360" y="2971801"/>
            <a:ext cx="123432"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2</a:t>
            </a:r>
            <a:endParaRPr lang="en-CA" altLang="en-US" sz="2400">
              <a:latin typeface="Times New Roman" panose="02020603050405020304" pitchFamily="18" charset="0"/>
            </a:endParaRPr>
          </a:p>
        </p:txBody>
      </p:sp>
      <p:sp>
        <p:nvSpPr>
          <p:cNvPr id="19" name="Rectangle 21">
            <a:extLst>
              <a:ext uri="{FF2B5EF4-FFF2-40B4-BE49-F238E27FC236}">
                <a16:creationId xmlns:a16="http://schemas.microsoft.com/office/drawing/2014/main" id="{278E46BA-E2CD-98FA-0FFD-C0FC4BFC077F}"/>
              </a:ext>
            </a:extLst>
          </p:cNvPr>
          <p:cNvSpPr>
            <a:spLocks noChangeArrowheads="1"/>
          </p:cNvSpPr>
          <p:nvPr/>
        </p:nvSpPr>
        <p:spPr bwMode="auto">
          <a:xfrm>
            <a:off x="1187810" y="2971801"/>
            <a:ext cx="1138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latin typeface="Computer Modern" charset="0"/>
              </a:rPr>
              <a:t>Z</a:t>
            </a:r>
            <a:endParaRPr lang="en-CA" altLang="en-US" sz="2400" dirty="0">
              <a:latin typeface="Times New Roman" panose="02020603050405020304" pitchFamily="18" charset="0"/>
            </a:endParaRPr>
          </a:p>
        </p:txBody>
      </p:sp>
      <p:sp>
        <p:nvSpPr>
          <p:cNvPr id="20" name="Rectangle 22">
            <a:extLst>
              <a:ext uri="{FF2B5EF4-FFF2-40B4-BE49-F238E27FC236}">
                <a16:creationId xmlns:a16="http://schemas.microsoft.com/office/drawing/2014/main" id="{948C104F-7413-2B81-E016-A62FDADC60C0}"/>
              </a:ext>
            </a:extLst>
          </p:cNvPr>
          <p:cNvSpPr>
            <a:spLocks noChangeArrowheads="1"/>
          </p:cNvSpPr>
          <p:nvPr/>
        </p:nvSpPr>
        <p:spPr bwMode="auto">
          <a:xfrm>
            <a:off x="1329098" y="3082927"/>
            <a:ext cx="232436"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dirty="0">
                <a:solidFill>
                  <a:srgbClr val="000000"/>
                </a:solidFill>
                <a:latin typeface="Computer Modern" charset="0"/>
              </a:rPr>
              <a:t>out</a:t>
            </a:r>
            <a:endParaRPr lang="en-CA" altLang="en-US" sz="2400" dirty="0">
              <a:latin typeface="Times New Roman" panose="02020603050405020304" pitchFamily="18" charset="0"/>
            </a:endParaRPr>
          </a:p>
        </p:txBody>
      </p:sp>
      <p:sp>
        <p:nvSpPr>
          <p:cNvPr id="21" name="Rectangle 23">
            <a:extLst>
              <a:ext uri="{FF2B5EF4-FFF2-40B4-BE49-F238E27FC236}">
                <a16:creationId xmlns:a16="http://schemas.microsoft.com/office/drawing/2014/main" id="{B143C067-9121-A0BE-6156-74223A3E6768}"/>
              </a:ext>
            </a:extLst>
          </p:cNvPr>
          <p:cNvSpPr>
            <a:spLocks noChangeArrowheads="1"/>
          </p:cNvSpPr>
          <p:nvPr/>
        </p:nvSpPr>
        <p:spPr bwMode="auto">
          <a:xfrm>
            <a:off x="1570398" y="2971801"/>
            <a:ext cx="609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22" name="Rectangle 24">
            <a:extLst>
              <a:ext uri="{FF2B5EF4-FFF2-40B4-BE49-F238E27FC236}">
                <a16:creationId xmlns:a16="http://schemas.microsoft.com/office/drawing/2014/main" id="{707B659B-167D-BB90-81BA-9C65FF1722D9}"/>
              </a:ext>
            </a:extLst>
          </p:cNvPr>
          <p:cNvSpPr>
            <a:spLocks noChangeArrowheads="1"/>
          </p:cNvSpPr>
          <p:nvPr/>
        </p:nvSpPr>
        <p:spPr bwMode="auto">
          <a:xfrm>
            <a:off x="1756135" y="2971801"/>
            <a:ext cx="256480"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latin typeface="Computer Modern" charset="0"/>
              </a:rPr>
              <a:t>PC</a:t>
            </a:r>
            <a:endParaRPr lang="en-CA" altLang="en-US" sz="2400" dirty="0">
              <a:latin typeface="Times New Roman" panose="02020603050405020304" pitchFamily="18" charset="0"/>
            </a:endParaRPr>
          </a:p>
        </p:txBody>
      </p:sp>
      <p:sp>
        <p:nvSpPr>
          <p:cNvPr id="23" name="Rectangle 25">
            <a:extLst>
              <a:ext uri="{FF2B5EF4-FFF2-40B4-BE49-F238E27FC236}">
                <a16:creationId xmlns:a16="http://schemas.microsoft.com/office/drawing/2014/main" id="{3A518DA1-7558-5921-9E7B-0B76492AD0F6}"/>
              </a:ext>
            </a:extLst>
          </p:cNvPr>
          <p:cNvSpPr>
            <a:spLocks noChangeArrowheads="1"/>
          </p:cNvSpPr>
          <p:nvPr/>
        </p:nvSpPr>
        <p:spPr bwMode="auto">
          <a:xfrm>
            <a:off x="2087924" y="3082927"/>
            <a:ext cx="1285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24" name="Rectangle 26">
            <a:extLst>
              <a:ext uri="{FF2B5EF4-FFF2-40B4-BE49-F238E27FC236}">
                <a16:creationId xmlns:a16="http://schemas.microsoft.com/office/drawing/2014/main" id="{81E18182-5AD3-8CEC-FF21-9C3DA3C31620}"/>
              </a:ext>
            </a:extLst>
          </p:cNvPr>
          <p:cNvSpPr>
            <a:spLocks noChangeArrowheads="1"/>
          </p:cNvSpPr>
          <p:nvPr/>
        </p:nvSpPr>
        <p:spPr bwMode="auto">
          <a:xfrm>
            <a:off x="2259373" y="2971801"/>
            <a:ext cx="609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25" name="Rectangle 27">
            <a:extLst>
              <a:ext uri="{FF2B5EF4-FFF2-40B4-BE49-F238E27FC236}">
                <a16:creationId xmlns:a16="http://schemas.microsoft.com/office/drawing/2014/main" id="{CF828A8B-5718-8338-13B6-996B227EDCC0}"/>
              </a:ext>
            </a:extLst>
          </p:cNvPr>
          <p:cNvSpPr>
            <a:spLocks noChangeArrowheads="1"/>
          </p:cNvSpPr>
          <p:nvPr/>
        </p:nvSpPr>
        <p:spPr bwMode="auto">
          <a:xfrm>
            <a:off x="2443523" y="2971801"/>
            <a:ext cx="118622"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latin typeface="Computer Modern" charset="0"/>
              </a:rPr>
              <a:t>Y</a:t>
            </a:r>
            <a:endParaRPr lang="en-CA" altLang="en-US" sz="2400" dirty="0">
              <a:latin typeface="Times New Roman" panose="02020603050405020304" pitchFamily="18" charset="0"/>
            </a:endParaRPr>
          </a:p>
        </p:txBody>
      </p:sp>
      <p:sp>
        <p:nvSpPr>
          <p:cNvPr id="26" name="Rectangle 28">
            <a:extLst>
              <a:ext uri="{FF2B5EF4-FFF2-40B4-BE49-F238E27FC236}">
                <a16:creationId xmlns:a16="http://schemas.microsoft.com/office/drawing/2014/main" id="{1564E4E2-7142-35E6-489A-59D863E8E16D}"/>
              </a:ext>
            </a:extLst>
          </p:cNvPr>
          <p:cNvSpPr>
            <a:spLocks noChangeArrowheads="1"/>
          </p:cNvSpPr>
          <p:nvPr/>
        </p:nvSpPr>
        <p:spPr bwMode="auto">
          <a:xfrm>
            <a:off x="2610210" y="3082927"/>
            <a:ext cx="128588"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27" name="Rectangle 29">
            <a:extLst>
              <a:ext uri="{FF2B5EF4-FFF2-40B4-BE49-F238E27FC236}">
                <a16:creationId xmlns:a16="http://schemas.microsoft.com/office/drawing/2014/main" id="{9109DB58-D095-429F-41F0-7C01125B3EF9}"/>
              </a:ext>
            </a:extLst>
          </p:cNvPr>
          <p:cNvSpPr>
            <a:spLocks noChangeArrowheads="1"/>
          </p:cNvSpPr>
          <p:nvPr/>
        </p:nvSpPr>
        <p:spPr bwMode="auto">
          <a:xfrm>
            <a:off x="2756260" y="2971801"/>
            <a:ext cx="609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28" name="Rectangle 30">
            <a:extLst>
              <a:ext uri="{FF2B5EF4-FFF2-40B4-BE49-F238E27FC236}">
                <a16:creationId xmlns:a16="http://schemas.microsoft.com/office/drawing/2014/main" id="{6F87C550-3462-DB73-7E9E-9A887B4053E9}"/>
              </a:ext>
            </a:extLst>
          </p:cNvPr>
          <p:cNvSpPr>
            <a:spLocks noChangeArrowheads="1"/>
          </p:cNvSpPr>
          <p:nvPr/>
        </p:nvSpPr>
        <p:spPr bwMode="auto">
          <a:xfrm>
            <a:off x="2941998" y="2971801"/>
            <a:ext cx="537006"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latin typeface="Computer Modern" charset="0"/>
              </a:rPr>
              <a:t>WMF</a:t>
            </a:r>
            <a:endParaRPr lang="en-CA" altLang="en-US" sz="2400" dirty="0">
              <a:latin typeface="Times New Roman" panose="02020603050405020304" pitchFamily="18" charset="0"/>
            </a:endParaRPr>
          </a:p>
        </p:txBody>
      </p:sp>
      <p:sp>
        <p:nvSpPr>
          <p:cNvPr id="29" name="Rectangle 31">
            <a:extLst>
              <a:ext uri="{FF2B5EF4-FFF2-40B4-BE49-F238E27FC236}">
                <a16:creationId xmlns:a16="http://schemas.microsoft.com/office/drawing/2014/main" id="{890A2A66-1690-AF1E-6422-4D3A6A237BE6}"/>
              </a:ext>
            </a:extLst>
          </p:cNvPr>
          <p:cNvSpPr>
            <a:spLocks noChangeArrowheads="1"/>
          </p:cNvSpPr>
          <p:nvPr/>
        </p:nvSpPr>
        <p:spPr bwMode="auto">
          <a:xfrm>
            <a:off x="3557948" y="2971801"/>
            <a:ext cx="12984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latin typeface="Computer Modern" charset="0"/>
              </a:rPr>
              <a:t>C</a:t>
            </a:r>
            <a:endParaRPr lang="en-CA" altLang="en-US" sz="2400" dirty="0">
              <a:latin typeface="Times New Roman" panose="02020603050405020304" pitchFamily="18" charset="0"/>
            </a:endParaRPr>
          </a:p>
        </p:txBody>
      </p:sp>
      <p:sp>
        <p:nvSpPr>
          <p:cNvPr id="30" name="Rectangle 32">
            <a:extLst>
              <a:ext uri="{FF2B5EF4-FFF2-40B4-BE49-F238E27FC236}">
                <a16:creationId xmlns:a16="http://schemas.microsoft.com/office/drawing/2014/main" id="{1AA00DE5-9400-DC0D-CE83-8D290F869BBD}"/>
              </a:ext>
            </a:extLst>
          </p:cNvPr>
          <p:cNvSpPr>
            <a:spLocks noChangeArrowheads="1"/>
          </p:cNvSpPr>
          <p:nvPr/>
        </p:nvSpPr>
        <p:spPr bwMode="auto">
          <a:xfrm>
            <a:off x="381360" y="3375026"/>
            <a:ext cx="123432"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3</a:t>
            </a:r>
            <a:endParaRPr lang="en-CA" altLang="en-US" sz="2400">
              <a:latin typeface="Times New Roman" panose="02020603050405020304" pitchFamily="18" charset="0"/>
            </a:endParaRPr>
          </a:p>
        </p:txBody>
      </p:sp>
      <p:sp>
        <p:nvSpPr>
          <p:cNvPr id="31" name="Rectangle 33">
            <a:extLst>
              <a:ext uri="{FF2B5EF4-FFF2-40B4-BE49-F238E27FC236}">
                <a16:creationId xmlns:a16="http://schemas.microsoft.com/office/drawing/2014/main" id="{916CABDB-A4A0-8BBF-8D2C-41E83781EAF9}"/>
              </a:ext>
            </a:extLst>
          </p:cNvPr>
          <p:cNvSpPr>
            <a:spLocks noChangeArrowheads="1"/>
          </p:cNvSpPr>
          <p:nvPr/>
        </p:nvSpPr>
        <p:spPr bwMode="auto">
          <a:xfrm>
            <a:off x="1187810" y="3375026"/>
            <a:ext cx="492122"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solidFill>
                  <a:srgbClr val="FF0000"/>
                </a:solidFill>
                <a:latin typeface="Computer Modern" charset="0"/>
              </a:rPr>
              <a:t>MDR</a:t>
            </a:r>
            <a:endParaRPr lang="en-CA" altLang="en-US" sz="2400" dirty="0">
              <a:solidFill>
                <a:srgbClr val="FF0000"/>
              </a:solidFill>
              <a:latin typeface="Times New Roman" panose="02020603050405020304" pitchFamily="18" charset="0"/>
            </a:endParaRPr>
          </a:p>
        </p:txBody>
      </p:sp>
      <p:sp>
        <p:nvSpPr>
          <p:cNvPr id="32" name="Rectangle 34">
            <a:extLst>
              <a:ext uri="{FF2B5EF4-FFF2-40B4-BE49-F238E27FC236}">
                <a16:creationId xmlns:a16="http://schemas.microsoft.com/office/drawing/2014/main" id="{97B7728B-671F-D983-B081-46FCAD1C665D}"/>
              </a:ext>
            </a:extLst>
          </p:cNvPr>
          <p:cNvSpPr>
            <a:spLocks noChangeArrowheads="1"/>
          </p:cNvSpPr>
          <p:nvPr/>
        </p:nvSpPr>
        <p:spPr bwMode="auto">
          <a:xfrm>
            <a:off x="1756135" y="3502027"/>
            <a:ext cx="230188"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out</a:t>
            </a:r>
            <a:endParaRPr lang="en-CA" altLang="en-US" sz="2400">
              <a:latin typeface="Times New Roman" panose="02020603050405020304" pitchFamily="18" charset="0"/>
            </a:endParaRPr>
          </a:p>
        </p:txBody>
      </p:sp>
      <p:sp>
        <p:nvSpPr>
          <p:cNvPr id="33" name="Rectangle 35">
            <a:extLst>
              <a:ext uri="{FF2B5EF4-FFF2-40B4-BE49-F238E27FC236}">
                <a16:creationId xmlns:a16="http://schemas.microsoft.com/office/drawing/2014/main" id="{4061B67E-194A-E04B-C64B-6B032FFE62C4}"/>
              </a:ext>
            </a:extLst>
          </p:cNvPr>
          <p:cNvSpPr>
            <a:spLocks noChangeArrowheads="1"/>
          </p:cNvSpPr>
          <p:nvPr/>
        </p:nvSpPr>
        <p:spPr bwMode="auto">
          <a:xfrm>
            <a:off x="2040298" y="3375026"/>
            <a:ext cx="609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34" name="Rectangle 36">
            <a:extLst>
              <a:ext uri="{FF2B5EF4-FFF2-40B4-BE49-F238E27FC236}">
                <a16:creationId xmlns:a16="http://schemas.microsoft.com/office/drawing/2014/main" id="{4638ABED-AF6D-902C-6A83-48C1CB9F8247}"/>
              </a:ext>
            </a:extLst>
          </p:cNvPr>
          <p:cNvSpPr>
            <a:spLocks noChangeArrowheads="1"/>
          </p:cNvSpPr>
          <p:nvPr/>
        </p:nvSpPr>
        <p:spPr bwMode="auto">
          <a:xfrm>
            <a:off x="2183173" y="3375026"/>
            <a:ext cx="19396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solidFill>
                  <a:srgbClr val="FF0000"/>
                </a:solidFill>
                <a:latin typeface="Computer Modern" charset="0"/>
              </a:rPr>
              <a:t>IR</a:t>
            </a:r>
            <a:endParaRPr lang="en-CA" altLang="en-US" sz="2400" dirty="0">
              <a:solidFill>
                <a:srgbClr val="FF0000"/>
              </a:solidFill>
              <a:latin typeface="Times New Roman" panose="02020603050405020304" pitchFamily="18" charset="0"/>
            </a:endParaRPr>
          </a:p>
        </p:txBody>
      </p:sp>
      <p:sp>
        <p:nvSpPr>
          <p:cNvPr id="35" name="Rectangle 37">
            <a:extLst>
              <a:ext uri="{FF2B5EF4-FFF2-40B4-BE49-F238E27FC236}">
                <a16:creationId xmlns:a16="http://schemas.microsoft.com/office/drawing/2014/main" id="{FCC7D022-D42E-F6C8-EECA-F2A5535F6DC6}"/>
              </a:ext>
            </a:extLst>
          </p:cNvPr>
          <p:cNvSpPr>
            <a:spLocks noChangeArrowheads="1"/>
          </p:cNvSpPr>
          <p:nvPr/>
        </p:nvSpPr>
        <p:spPr bwMode="auto">
          <a:xfrm>
            <a:off x="2443524" y="3502027"/>
            <a:ext cx="1285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36" name="Rectangle 38">
            <a:extLst>
              <a:ext uri="{FF2B5EF4-FFF2-40B4-BE49-F238E27FC236}">
                <a16:creationId xmlns:a16="http://schemas.microsoft.com/office/drawing/2014/main" id="{794ABEDD-339C-599E-35FD-DFA1DB4C1B55}"/>
              </a:ext>
            </a:extLst>
          </p:cNvPr>
          <p:cNvSpPr>
            <a:spLocks noChangeArrowheads="1"/>
          </p:cNvSpPr>
          <p:nvPr/>
        </p:nvSpPr>
        <p:spPr bwMode="auto">
          <a:xfrm>
            <a:off x="381360" y="3802063"/>
            <a:ext cx="123432"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4</a:t>
            </a:r>
            <a:endParaRPr lang="en-CA" altLang="en-US" sz="2400">
              <a:latin typeface="Times New Roman" panose="02020603050405020304" pitchFamily="18" charset="0"/>
            </a:endParaRPr>
          </a:p>
        </p:txBody>
      </p:sp>
      <p:sp>
        <p:nvSpPr>
          <p:cNvPr id="37" name="Rectangle 39">
            <a:extLst>
              <a:ext uri="{FF2B5EF4-FFF2-40B4-BE49-F238E27FC236}">
                <a16:creationId xmlns:a16="http://schemas.microsoft.com/office/drawing/2014/main" id="{75D8DA5E-388E-76A5-024F-96C9CEE600CF}"/>
              </a:ext>
            </a:extLst>
          </p:cNvPr>
          <p:cNvSpPr>
            <a:spLocks noChangeArrowheads="1"/>
          </p:cNvSpPr>
          <p:nvPr/>
        </p:nvSpPr>
        <p:spPr bwMode="auto">
          <a:xfrm>
            <a:off x="1187811" y="3802063"/>
            <a:ext cx="1665521"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Offset-field-of-IR</a:t>
            </a:r>
            <a:endParaRPr lang="en-CA" altLang="en-US" sz="2400">
              <a:latin typeface="Times New Roman" panose="02020603050405020304" pitchFamily="18" charset="0"/>
            </a:endParaRPr>
          </a:p>
        </p:txBody>
      </p:sp>
      <p:sp>
        <p:nvSpPr>
          <p:cNvPr id="38" name="Rectangle 40">
            <a:extLst>
              <a:ext uri="{FF2B5EF4-FFF2-40B4-BE49-F238E27FC236}">
                <a16:creationId xmlns:a16="http://schemas.microsoft.com/office/drawing/2014/main" id="{A847018A-DFBF-DA38-47C3-6514FC636B8B}"/>
              </a:ext>
            </a:extLst>
          </p:cNvPr>
          <p:cNvSpPr>
            <a:spLocks noChangeArrowheads="1"/>
          </p:cNvSpPr>
          <p:nvPr/>
        </p:nvSpPr>
        <p:spPr bwMode="auto">
          <a:xfrm>
            <a:off x="2899135" y="3903663"/>
            <a:ext cx="230188"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out</a:t>
            </a:r>
            <a:endParaRPr lang="en-CA" altLang="en-US" sz="2400">
              <a:latin typeface="Times New Roman" panose="02020603050405020304" pitchFamily="18" charset="0"/>
            </a:endParaRPr>
          </a:p>
        </p:txBody>
      </p:sp>
      <p:sp>
        <p:nvSpPr>
          <p:cNvPr id="39" name="Rectangle 41">
            <a:extLst>
              <a:ext uri="{FF2B5EF4-FFF2-40B4-BE49-F238E27FC236}">
                <a16:creationId xmlns:a16="http://schemas.microsoft.com/office/drawing/2014/main" id="{C433DEAB-A699-57A1-CFB0-CDE49B51CA2D}"/>
              </a:ext>
            </a:extLst>
          </p:cNvPr>
          <p:cNvSpPr>
            <a:spLocks noChangeArrowheads="1"/>
          </p:cNvSpPr>
          <p:nvPr/>
        </p:nvSpPr>
        <p:spPr bwMode="auto">
          <a:xfrm>
            <a:off x="3130910" y="3802063"/>
            <a:ext cx="609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40" name="Rectangle 42">
            <a:extLst>
              <a:ext uri="{FF2B5EF4-FFF2-40B4-BE49-F238E27FC236}">
                <a16:creationId xmlns:a16="http://schemas.microsoft.com/office/drawing/2014/main" id="{B44D3EB9-C728-A6D1-80BA-9EA1132C6EC4}"/>
              </a:ext>
            </a:extLst>
          </p:cNvPr>
          <p:cNvSpPr>
            <a:spLocks noChangeArrowheads="1"/>
          </p:cNvSpPr>
          <p:nvPr/>
        </p:nvSpPr>
        <p:spPr bwMode="auto">
          <a:xfrm>
            <a:off x="3345224" y="3802063"/>
            <a:ext cx="458459"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solidFill>
                  <a:srgbClr val="000000"/>
                </a:solidFill>
                <a:latin typeface="Computer Modern" charset="0"/>
              </a:rPr>
              <a:t>Add,</a:t>
            </a:r>
            <a:endParaRPr lang="en-CA" altLang="en-US" sz="2400" dirty="0">
              <a:latin typeface="Times New Roman" panose="02020603050405020304" pitchFamily="18" charset="0"/>
            </a:endParaRPr>
          </a:p>
        </p:txBody>
      </p:sp>
      <p:sp>
        <p:nvSpPr>
          <p:cNvPr id="41" name="Rectangle 43">
            <a:extLst>
              <a:ext uri="{FF2B5EF4-FFF2-40B4-BE49-F238E27FC236}">
                <a16:creationId xmlns:a16="http://schemas.microsoft.com/office/drawing/2014/main" id="{5A32CD03-5A9D-4508-83DF-737748BF6688}"/>
              </a:ext>
            </a:extLst>
          </p:cNvPr>
          <p:cNvSpPr>
            <a:spLocks noChangeArrowheads="1"/>
          </p:cNvSpPr>
          <p:nvPr/>
        </p:nvSpPr>
        <p:spPr bwMode="auto">
          <a:xfrm>
            <a:off x="3937360" y="3802063"/>
            <a:ext cx="1138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Z</a:t>
            </a:r>
            <a:endParaRPr lang="en-CA" altLang="en-US" sz="2400">
              <a:latin typeface="Times New Roman" panose="02020603050405020304" pitchFamily="18" charset="0"/>
            </a:endParaRPr>
          </a:p>
        </p:txBody>
      </p:sp>
      <p:sp>
        <p:nvSpPr>
          <p:cNvPr id="42" name="Rectangle 44">
            <a:extLst>
              <a:ext uri="{FF2B5EF4-FFF2-40B4-BE49-F238E27FC236}">
                <a16:creationId xmlns:a16="http://schemas.microsoft.com/office/drawing/2014/main" id="{A65CB23E-1B83-3913-2DB2-49F429EEE841}"/>
              </a:ext>
            </a:extLst>
          </p:cNvPr>
          <p:cNvSpPr>
            <a:spLocks noChangeArrowheads="1"/>
          </p:cNvSpPr>
          <p:nvPr/>
        </p:nvSpPr>
        <p:spPr bwMode="auto">
          <a:xfrm>
            <a:off x="4099285" y="3903663"/>
            <a:ext cx="128588"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43" name="Rectangle 45">
            <a:extLst>
              <a:ext uri="{FF2B5EF4-FFF2-40B4-BE49-F238E27FC236}">
                <a16:creationId xmlns:a16="http://schemas.microsoft.com/office/drawing/2014/main" id="{DCED64E9-8078-C177-8EDF-0DB923D86224}"/>
              </a:ext>
            </a:extLst>
          </p:cNvPr>
          <p:cNvSpPr>
            <a:spLocks noChangeArrowheads="1"/>
          </p:cNvSpPr>
          <p:nvPr/>
        </p:nvSpPr>
        <p:spPr bwMode="auto">
          <a:xfrm>
            <a:off x="381360" y="4227513"/>
            <a:ext cx="123432"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5</a:t>
            </a:r>
            <a:endParaRPr lang="en-CA" altLang="en-US" sz="2400">
              <a:latin typeface="Times New Roman" panose="02020603050405020304" pitchFamily="18" charset="0"/>
            </a:endParaRPr>
          </a:p>
        </p:txBody>
      </p:sp>
      <p:sp>
        <p:nvSpPr>
          <p:cNvPr id="44" name="Rectangle 46">
            <a:extLst>
              <a:ext uri="{FF2B5EF4-FFF2-40B4-BE49-F238E27FC236}">
                <a16:creationId xmlns:a16="http://schemas.microsoft.com/office/drawing/2014/main" id="{07B37BB3-B350-7116-6A8F-B361BF4A744A}"/>
              </a:ext>
            </a:extLst>
          </p:cNvPr>
          <p:cNvSpPr>
            <a:spLocks noChangeArrowheads="1"/>
          </p:cNvSpPr>
          <p:nvPr/>
        </p:nvSpPr>
        <p:spPr bwMode="auto">
          <a:xfrm>
            <a:off x="1187810" y="4227513"/>
            <a:ext cx="1138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Z</a:t>
            </a:r>
            <a:endParaRPr lang="en-CA" altLang="en-US" sz="2400">
              <a:latin typeface="Times New Roman" panose="02020603050405020304" pitchFamily="18" charset="0"/>
            </a:endParaRPr>
          </a:p>
        </p:txBody>
      </p:sp>
      <p:sp>
        <p:nvSpPr>
          <p:cNvPr id="45" name="Rectangle 47">
            <a:extLst>
              <a:ext uri="{FF2B5EF4-FFF2-40B4-BE49-F238E27FC236}">
                <a16:creationId xmlns:a16="http://schemas.microsoft.com/office/drawing/2014/main" id="{4C440392-2619-C677-D207-7E235F2B817C}"/>
              </a:ext>
            </a:extLst>
          </p:cNvPr>
          <p:cNvSpPr>
            <a:spLocks noChangeArrowheads="1"/>
          </p:cNvSpPr>
          <p:nvPr/>
        </p:nvSpPr>
        <p:spPr bwMode="auto">
          <a:xfrm>
            <a:off x="1348148" y="4349752"/>
            <a:ext cx="232436"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out</a:t>
            </a:r>
            <a:endParaRPr lang="en-CA" altLang="en-US" sz="2400">
              <a:latin typeface="Times New Roman" panose="02020603050405020304" pitchFamily="18" charset="0"/>
            </a:endParaRPr>
          </a:p>
        </p:txBody>
      </p:sp>
      <p:sp>
        <p:nvSpPr>
          <p:cNvPr id="46" name="Rectangle 48">
            <a:extLst>
              <a:ext uri="{FF2B5EF4-FFF2-40B4-BE49-F238E27FC236}">
                <a16:creationId xmlns:a16="http://schemas.microsoft.com/office/drawing/2014/main" id="{99D6FAD5-221D-1BEA-E579-FA6AC5D619BF}"/>
              </a:ext>
            </a:extLst>
          </p:cNvPr>
          <p:cNvSpPr>
            <a:spLocks noChangeArrowheads="1"/>
          </p:cNvSpPr>
          <p:nvPr/>
        </p:nvSpPr>
        <p:spPr bwMode="auto">
          <a:xfrm>
            <a:off x="1584685" y="4227513"/>
            <a:ext cx="609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47" name="Rectangle 49">
            <a:extLst>
              <a:ext uri="{FF2B5EF4-FFF2-40B4-BE49-F238E27FC236}">
                <a16:creationId xmlns:a16="http://schemas.microsoft.com/office/drawing/2014/main" id="{D54A0488-E4AF-B0EB-B753-90E0EB2DF0A0}"/>
              </a:ext>
            </a:extLst>
          </p:cNvPr>
          <p:cNvSpPr>
            <a:spLocks noChangeArrowheads="1"/>
          </p:cNvSpPr>
          <p:nvPr/>
        </p:nvSpPr>
        <p:spPr bwMode="auto">
          <a:xfrm>
            <a:off x="1756135" y="4227513"/>
            <a:ext cx="256480"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PC</a:t>
            </a:r>
            <a:endParaRPr lang="en-CA" altLang="en-US" sz="2400">
              <a:latin typeface="Times New Roman" panose="02020603050405020304" pitchFamily="18" charset="0"/>
            </a:endParaRPr>
          </a:p>
        </p:txBody>
      </p:sp>
      <p:sp>
        <p:nvSpPr>
          <p:cNvPr id="48" name="Rectangle 50">
            <a:extLst>
              <a:ext uri="{FF2B5EF4-FFF2-40B4-BE49-F238E27FC236}">
                <a16:creationId xmlns:a16="http://schemas.microsoft.com/office/drawing/2014/main" id="{A01B8346-9FFB-3508-1478-7AC1E70CE041}"/>
              </a:ext>
            </a:extLst>
          </p:cNvPr>
          <p:cNvSpPr>
            <a:spLocks noChangeArrowheads="1"/>
          </p:cNvSpPr>
          <p:nvPr/>
        </p:nvSpPr>
        <p:spPr bwMode="auto">
          <a:xfrm>
            <a:off x="2068874" y="4330702"/>
            <a:ext cx="1285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49" name="Rectangle 51">
            <a:extLst>
              <a:ext uri="{FF2B5EF4-FFF2-40B4-BE49-F238E27FC236}">
                <a16:creationId xmlns:a16="http://schemas.microsoft.com/office/drawing/2014/main" id="{B39431D4-66D4-7D7A-9432-29EF3704C270}"/>
              </a:ext>
            </a:extLst>
          </p:cNvPr>
          <p:cNvSpPr>
            <a:spLocks noChangeArrowheads="1"/>
          </p:cNvSpPr>
          <p:nvPr/>
        </p:nvSpPr>
        <p:spPr bwMode="auto">
          <a:xfrm>
            <a:off x="2230798" y="4227513"/>
            <a:ext cx="609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50" name="Rectangle 52">
            <a:extLst>
              <a:ext uri="{FF2B5EF4-FFF2-40B4-BE49-F238E27FC236}">
                <a16:creationId xmlns:a16="http://schemas.microsoft.com/office/drawing/2014/main" id="{AA380096-4FC5-C104-C4BD-53D6B5580663}"/>
              </a:ext>
            </a:extLst>
          </p:cNvPr>
          <p:cNvSpPr>
            <a:spLocks noChangeArrowheads="1"/>
          </p:cNvSpPr>
          <p:nvPr/>
        </p:nvSpPr>
        <p:spPr bwMode="auto">
          <a:xfrm>
            <a:off x="2443524" y="4227513"/>
            <a:ext cx="375103"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End</a:t>
            </a:r>
            <a:endParaRPr lang="en-CA" altLang="en-US" sz="2400">
              <a:latin typeface="Times New Roman" panose="02020603050405020304" pitchFamily="18" charset="0"/>
            </a:endParaRPr>
          </a:p>
        </p:txBody>
      </p:sp>
      <p:sp>
        <p:nvSpPr>
          <p:cNvPr id="51" name="Rectangle 53">
            <a:extLst>
              <a:ext uri="{FF2B5EF4-FFF2-40B4-BE49-F238E27FC236}">
                <a16:creationId xmlns:a16="http://schemas.microsoft.com/office/drawing/2014/main" id="{A17013F6-B577-8EB8-833C-1B31DA9262CA}"/>
              </a:ext>
            </a:extLst>
          </p:cNvPr>
          <p:cNvSpPr>
            <a:spLocks noChangeArrowheads="1"/>
          </p:cNvSpPr>
          <p:nvPr/>
        </p:nvSpPr>
        <p:spPr bwMode="auto">
          <a:xfrm>
            <a:off x="381360" y="4773613"/>
            <a:ext cx="4954588" cy="1588"/>
          </a:xfrm>
          <a:prstGeom prst="rect">
            <a:avLst/>
          </a:prstGeom>
          <a:solidFill>
            <a:srgbClr val="0000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grpSp>
        <p:nvGrpSpPr>
          <p:cNvPr id="53" name="Group 52">
            <a:extLst>
              <a:ext uri="{FF2B5EF4-FFF2-40B4-BE49-F238E27FC236}">
                <a16:creationId xmlns:a16="http://schemas.microsoft.com/office/drawing/2014/main" id="{6746B5A4-304B-F2B8-0B4C-16984D05867F}"/>
              </a:ext>
            </a:extLst>
          </p:cNvPr>
          <p:cNvGrpSpPr/>
          <p:nvPr/>
        </p:nvGrpSpPr>
        <p:grpSpPr>
          <a:xfrm>
            <a:off x="5943600" y="207390"/>
            <a:ext cx="5562012" cy="7029765"/>
            <a:chOff x="5943600" y="207390"/>
            <a:chExt cx="5562012" cy="7029765"/>
          </a:xfrm>
        </p:grpSpPr>
        <p:pic>
          <p:nvPicPr>
            <p:cNvPr id="35844" name="Picture 4" descr="figure7">
              <a:extLst>
                <a:ext uri="{FF2B5EF4-FFF2-40B4-BE49-F238E27FC236}">
                  <a16:creationId xmlns:a16="http://schemas.microsoft.com/office/drawing/2014/main" id="{78E91BB7-2543-B620-70C9-1D8942E843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3600" y="207390"/>
              <a:ext cx="5562012" cy="7029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 name="Arrow: Down 51">
              <a:extLst>
                <a:ext uri="{FF2B5EF4-FFF2-40B4-BE49-F238E27FC236}">
                  <a16:creationId xmlns:a16="http://schemas.microsoft.com/office/drawing/2014/main" id="{C052947D-AB91-6E08-3702-25FFB1A7E2D3}"/>
                </a:ext>
              </a:extLst>
            </p:cNvPr>
            <p:cNvSpPr/>
            <p:nvPr/>
          </p:nvSpPr>
          <p:spPr>
            <a:xfrm>
              <a:off x="9303316" y="782425"/>
              <a:ext cx="200386" cy="5938885"/>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Arrow: Right 55">
              <a:extLst>
                <a:ext uri="{FF2B5EF4-FFF2-40B4-BE49-F238E27FC236}">
                  <a16:creationId xmlns:a16="http://schemas.microsoft.com/office/drawing/2014/main" id="{2B7B6548-7F9B-E00B-8813-685306E233A6}"/>
                </a:ext>
              </a:extLst>
            </p:cNvPr>
            <p:cNvSpPr/>
            <p:nvPr/>
          </p:nvSpPr>
          <p:spPr>
            <a:xfrm rot="10800000" flipH="1">
              <a:off x="8663768" y="2577906"/>
              <a:ext cx="668363" cy="192460"/>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Arrow: Right 53">
              <a:extLst>
                <a:ext uri="{FF2B5EF4-FFF2-40B4-BE49-F238E27FC236}">
                  <a16:creationId xmlns:a16="http://schemas.microsoft.com/office/drawing/2014/main" id="{E2EC8098-C0AF-6CCA-5342-3600869125D6}"/>
                </a:ext>
              </a:extLst>
            </p:cNvPr>
            <p:cNvSpPr/>
            <p:nvPr/>
          </p:nvSpPr>
          <p:spPr>
            <a:xfrm rot="10800000" flipH="1" flipV="1">
              <a:off x="9503702" y="2694953"/>
              <a:ext cx="564590" cy="204172"/>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53404089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A710E145-14EC-57A6-068D-C74D4F9600B1}"/>
              </a:ext>
            </a:extLst>
          </p:cNvPr>
          <p:cNvSpPr>
            <a:spLocks noGrp="1" noChangeArrowheads="1"/>
          </p:cNvSpPr>
          <p:nvPr>
            <p:ph type="title"/>
          </p:nvPr>
        </p:nvSpPr>
        <p:spPr/>
        <p:txBody>
          <a:bodyPr/>
          <a:lstStyle/>
          <a:p>
            <a:endParaRPr lang="en-US" altLang="en-US" sz="2800" dirty="0"/>
          </a:p>
        </p:txBody>
      </p:sp>
      <p:sp>
        <p:nvSpPr>
          <p:cNvPr id="2" name="Rectangle 4">
            <a:extLst>
              <a:ext uri="{FF2B5EF4-FFF2-40B4-BE49-F238E27FC236}">
                <a16:creationId xmlns:a16="http://schemas.microsoft.com/office/drawing/2014/main" id="{3FE5DC9C-7E73-A15F-258D-2315469F8E3E}"/>
              </a:ext>
            </a:extLst>
          </p:cNvPr>
          <p:cNvSpPr>
            <a:spLocks noChangeArrowheads="1"/>
          </p:cNvSpPr>
          <p:nvPr/>
        </p:nvSpPr>
        <p:spPr bwMode="auto">
          <a:xfrm>
            <a:off x="381360" y="1690688"/>
            <a:ext cx="4954588" cy="1588"/>
          </a:xfrm>
          <a:prstGeom prst="rect">
            <a:avLst/>
          </a:prstGeom>
          <a:solidFill>
            <a:srgbClr val="0000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 name="Rectangle 5">
            <a:extLst>
              <a:ext uri="{FF2B5EF4-FFF2-40B4-BE49-F238E27FC236}">
                <a16:creationId xmlns:a16="http://schemas.microsoft.com/office/drawing/2014/main" id="{357008E0-FBA9-C949-4CB2-EAB53619D351}"/>
              </a:ext>
            </a:extLst>
          </p:cNvPr>
          <p:cNvSpPr>
            <a:spLocks noChangeArrowheads="1"/>
          </p:cNvSpPr>
          <p:nvPr/>
        </p:nvSpPr>
        <p:spPr bwMode="auto">
          <a:xfrm>
            <a:off x="381361" y="1905001"/>
            <a:ext cx="455253"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b="1">
                <a:solidFill>
                  <a:srgbClr val="000000"/>
                </a:solidFill>
                <a:latin typeface="Computer Modern" charset="0"/>
              </a:rPr>
              <a:t>Step</a:t>
            </a:r>
            <a:endParaRPr lang="en-CA" altLang="en-US" sz="2400">
              <a:latin typeface="Times New Roman" panose="02020603050405020304" pitchFamily="18" charset="0"/>
            </a:endParaRPr>
          </a:p>
        </p:txBody>
      </p:sp>
      <p:sp>
        <p:nvSpPr>
          <p:cNvPr id="4" name="Rectangle 6">
            <a:extLst>
              <a:ext uri="{FF2B5EF4-FFF2-40B4-BE49-F238E27FC236}">
                <a16:creationId xmlns:a16="http://schemas.microsoft.com/office/drawing/2014/main" id="{3C502DA9-9879-04DC-0A93-22A7E14A5391}"/>
              </a:ext>
            </a:extLst>
          </p:cNvPr>
          <p:cNvSpPr>
            <a:spLocks noChangeArrowheads="1"/>
          </p:cNvSpPr>
          <p:nvPr/>
        </p:nvSpPr>
        <p:spPr bwMode="auto">
          <a:xfrm>
            <a:off x="959211" y="1905001"/>
            <a:ext cx="657231"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b="1">
                <a:solidFill>
                  <a:srgbClr val="000000"/>
                </a:solidFill>
                <a:latin typeface="Computer Modern" charset="0"/>
              </a:rPr>
              <a:t>Action</a:t>
            </a:r>
            <a:endParaRPr lang="en-CA" altLang="en-US" sz="2400">
              <a:latin typeface="Times New Roman" panose="02020603050405020304" pitchFamily="18" charset="0"/>
            </a:endParaRPr>
          </a:p>
        </p:txBody>
      </p:sp>
      <p:sp>
        <p:nvSpPr>
          <p:cNvPr id="5" name="Rectangle 7">
            <a:extLst>
              <a:ext uri="{FF2B5EF4-FFF2-40B4-BE49-F238E27FC236}">
                <a16:creationId xmlns:a16="http://schemas.microsoft.com/office/drawing/2014/main" id="{DA23B391-FE3F-7AD5-8221-B18CF791119B}"/>
              </a:ext>
            </a:extLst>
          </p:cNvPr>
          <p:cNvSpPr>
            <a:spLocks noChangeArrowheads="1"/>
          </p:cNvSpPr>
          <p:nvPr/>
        </p:nvSpPr>
        <p:spPr bwMode="auto">
          <a:xfrm>
            <a:off x="381360" y="2449513"/>
            <a:ext cx="4954588" cy="1588"/>
          </a:xfrm>
          <a:prstGeom prst="rect">
            <a:avLst/>
          </a:prstGeom>
          <a:solidFill>
            <a:srgbClr val="0000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6" name="Rectangle 8">
            <a:extLst>
              <a:ext uri="{FF2B5EF4-FFF2-40B4-BE49-F238E27FC236}">
                <a16:creationId xmlns:a16="http://schemas.microsoft.com/office/drawing/2014/main" id="{10207F01-E926-1A73-D3C9-F129A082C487}"/>
              </a:ext>
            </a:extLst>
          </p:cNvPr>
          <p:cNvSpPr>
            <a:spLocks noChangeArrowheads="1"/>
          </p:cNvSpPr>
          <p:nvPr/>
        </p:nvSpPr>
        <p:spPr bwMode="auto">
          <a:xfrm>
            <a:off x="381360" y="2544763"/>
            <a:ext cx="123432"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1</a:t>
            </a:r>
            <a:endParaRPr lang="en-CA" altLang="en-US" sz="2400">
              <a:latin typeface="Times New Roman" panose="02020603050405020304" pitchFamily="18" charset="0"/>
            </a:endParaRPr>
          </a:p>
        </p:txBody>
      </p:sp>
      <p:sp>
        <p:nvSpPr>
          <p:cNvPr id="7" name="Rectangle 9">
            <a:extLst>
              <a:ext uri="{FF2B5EF4-FFF2-40B4-BE49-F238E27FC236}">
                <a16:creationId xmlns:a16="http://schemas.microsoft.com/office/drawing/2014/main" id="{FC8E2BE8-452B-D07B-98BB-06B84F1AA6EC}"/>
              </a:ext>
            </a:extLst>
          </p:cNvPr>
          <p:cNvSpPr>
            <a:spLocks noChangeArrowheads="1"/>
          </p:cNvSpPr>
          <p:nvPr/>
        </p:nvSpPr>
        <p:spPr bwMode="auto">
          <a:xfrm>
            <a:off x="1187810" y="2544763"/>
            <a:ext cx="256480"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latin typeface="Computer Modern" charset="0"/>
              </a:rPr>
              <a:t>PC</a:t>
            </a:r>
            <a:endParaRPr lang="en-CA" altLang="en-US" sz="2400" dirty="0">
              <a:latin typeface="Times New Roman" panose="02020603050405020304" pitchFamily="18" charset="0"/>
            </a:endParaRPr>
          </a:p>
        </p:txBody>
      </p:sp>
      <p:sp>
        <p:nvSpPr>
          <p:cNvPr id="8" name="Rectangle 10">
            <a:extLst>
              <a:ext uri="{FF2B5EF4-FFF2-40B4-BE49-F238E27FC236}">
                <a16:creationId xmlns:a16="http://schemas.microsoft.com/office/drawing/2014/main" id="{C1D860A8-9E69-D719-E103-7F22A43AC528}"/>
              </a:ext>
            </a:extLst>
          </p:cNvPr>
          <p:cNvSpPr>
            <a:spLocks noChangeArrowheads="1"/>
          </p:cNvSpPr>
          <p:nvPr/>
        </p:nvSpPr>
        <p:spPr bwMode="auto">
          <a:xfrm>
            <a:off x="1478323" y="2660652"/>
            <a:ext cx="232436"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out</a:t>
            </a:r>
            <a:endParaRPr lang="en-CA" altLang="en-US" sz="2400">
              <a:latin typeface="Times New Roman" panose="02020603050405020304" pitchFamily="18" charset="0"/>
            </a:endParaRPr>
          </a:p>
        </p:txBody>
      </p:sp>
      <p:sp>
        <p:nvSpPr>
          <p:cNvPr id="9" name="Rectangle 11">
            <a:extLst>
              <a:ext uri="{FF2B5EF4-FFF2-40B4-BE49-F238E27FC236}">
                <a16:creationId xmlns:a16="http://schemas.microsoft.com/office/drawing/2014/main" id="{FA31807C-ADBF-95C4-AF79-B947D2B45C5E}"/>
              </a:ext>
            </a:extLst>
          </p:cNvPr>
          <p:cNvSpPr>
            <a:spLocks noChangeArrowheads="1"/>
          </p:cNvSpPr>
          <p:nvPr/>
        </p:nvSpPr>
        <p:spPr bwMode="auto">
          <a:xfrm>
            <a:off x="1746610" y="2544763"/>
            <a:ext cx="609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10" name="Rectangle 12">
            <a:extLst>
              <a:ext uri="{FF2B5EF4-FFF2-40B4-BE49-F238E27FC236}">
                <a16:creationId xmlns:a16="http://schemas.microsoft.com/office/drawing/2014/main" id="{1F95E6A1-A7C8-5130-CCA7-96B6E4827AAB}"/>
              </a:ext>
            </a:extLst>
          </p:cNvPr>
          <p:cNvSpPr>
            <a:spLocks noChangeArrowheads="1"/>
          </p:cNvSpPr>
          <p:nvPr/>
        </p:nvSpPr>
        <p:spPr bwMode="auto">
          <a:xfrm>
            <a:off x="1946635" y="2544763"/>
            <a:ext cx="48250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latin typeface="Computer Modern" charset="0"/>
              </a:rPr>
              <a:t>MAR</a:t>
            </a:r>
            <a:endParaRPr lang="en-CA" altLang="en-US" sz="2400" dirty="0">
              <a:latin typeface="Times New Roman" panose="02020603050405020304" pitchFamily="18" charset="0"/>
            </a:endParaRPr>
          </a:p>
        </p:txBody>
      </p:sp>
      <p:sp>
        <p:nvSpPr>
          <p:cNvPr id="11" name="Rectangle 13">
            <a:extLst>
              <a:ext uri="{FF2B5EF4-FFF2-40B4-BE49-F238E27FC236}">
                <a16:creationId xmlns:a16="http://schemas.microsoft.com/office/drawing/2014/main" id="{B3CBCCDD-A331-4B9B-B053-F96DE7BC546A}"/>
              </a:ext>
            </a:extLst>
          </p:cNvPr>
          <p:cNvSpPr>
            <a:spLocks noChangeArrowheads="1"/>
          </p:cNvSpPr>
          <p:nvPr/>
        </p:nvSpPr>
        <p:spPr bwMode="auto">
          <a:xfrm>
            <a:off x="2534010" y="2652713"/>
            <a:ext cx="128588"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12" name="Rectangle 14">
            <a:extLst>
              <a:ext uri="{FF2B5EF4-FFF2-40B4-BE49-F238E27FC236}">
                <a16:creationId xmlns:a16="http://schemas.microsoft.com/office/drawing/2014/main" id="{2AB41E34-9FAB-CC2C-EF37-4FF1AE286D62}"/>
              </a:ext>
            </a:extLst>
          </p:cNvPr>
          <p:cNvSpPr>
            <a:spLocks noChangeArrowheads="1"/>
          </p:cNvSpPr>
          <p:nvPr/>
        </p:nvSpPr>
        <p:spPr bwMode="auto">
          <a:xfrm>
            <a:off x="2703873" y="2544763"/>
            <a:ext cx="609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13" name="Rectangle 15">
            <a:extLst>
              <a:ext uri="{FF2B5EF4-FFF2-40B4-BE49-F238E27FC236}">
                <a16:creationId xmlns:a16="http://schemas.microsoft.com/office/drawing/2014/main" id="{F959CE10-7EF4-FB83-BBDE-38F859F520C3}"/>
              </a:ext>
            </a:extLst>
          </p:cNvPr>
          <p:cNvSpPr>
            <a:spLocks noChangeArrowheads="1"/>
          </p:cNvSpPr>
          <p:nvPr/>
        </p:nvSpPr>
        <p:spPr bwMode="auto">
          <a:xfrm>
            <a:off x="2846749" y="2544763"/>
            <a:ext cx="561051"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latin typeface="Computer Modern" charset="0"/>
              </a:rPr>
              <a:t>Read,</a:t>
            </a:r>
          </a:p>
        </p:txBody>
      </p:sp>
      <p:sp>
        <p:nvSpPr>
          <p:cNvPr id="14" name="Rectangle 16">
            <a:extLst>
              <a:ext uri="{FF2B5EF4-FFF2-40B4-BE49-F238E27FC236}">
                <a16:creationId xmlns:a16="http://schemas.microsoft.com/office/drawing/2014/main" id="{0E6B9D1B-3B6F-DFD1-EE0F-7D39C332A00F}"/>
              </a:ext>
            </a:extLst>
          </p:cNvPr>
          <p:cNvSpPr>
            <a:spLocks noChangeArrowheads="1"/>
          </p:cNvSpPr>
          <p:nvPr/>
        </p:nvSpPr>
        <p:spPr bwMode="auto">
          <a:xfrm>
            <a:off x="3534136" y="2544763"/>
            <a:ext cx="780663"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latin typeface="Computer Modern" charset="0"/>
              </a:rPr>
              <a:t>Select4,</a:t>
            </a:r>
          </a:p>
        </p:txBody>
      </p:sp>
      <p:sp>
        <p:nvSpPr>
          <p:cNvPr id="15" name="Rectangle 17">
            <a:extLst>
              <a:ext uri="{FF2B5EF4-FFF2-40B4-BE49-F238E27FC236}">
                <a16:creationId xmlns:a16="http://schemas.microsoft.com/office/drawing/2014/main" id="{DA5E21BC-C2DA-ABDD-FFAD-780280B3F009}"/>
              </a:ext>
            </a:extLst>
          </p:cNvPr>
          <p:cNvSpPr>
            <a:spLocks noChangeArrowheads="1"/>
          </p:cNvSpPr>
          <p:nvPr/>
        </p:nvSpPr>
        <p:spPr bwMode="auto">
          <a:xfrm>
            <a:off x="4388211" y="2544763"/>
            <a:ext cx="458459"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latin typeface="Computer Modern" charset="0"/>
              </a:rPr>
              <a:t>Add,</a:t>
            </a:r>
          </a:p>
        </p:txBody>
      </p:sp>
      <p:sp>
        <p:nvSpPr>
          <p:cNvPr id="16" name="Rectangle 18">
            <a:extLst>
              <a:ext uri="{FF2B5EF4-FFF2-40B4-BE49-F238E27FC236}">
                <a16:creationId xmlns:a16="http://schemas.microsoft.com/office/drawing/2014/main" id="{03FFC9B8-92EF-D187-382C-D0C7524250EC}"/>
              </a:ext>
            </a:extLst>
          </p:cNvPr>
          <p:cNvSpPr>
            <a:spLocks noChangeArrowheads="1"/>
          </p:cNvSpPr>
          <p:nvPr/>
        </p:nvSpPr>
        <p:spPr bwMode="auto">
          <a:xfrm>
            <a:off x="4980348" y="2544763"/>
            <a:ext cx="1138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latin typeface="Computer Modern" charset="0"/>
              </a:rPr>
              <a:t>Z</a:t>
            </a:r>
          </a:p>
        </p:txBody>
      </p:sp>
      <p:sp>
        <p:nvSpPr>
          <p:cNvPr id="17" name="Rectangle 19">
            <a:extLst>
              <a:ext uri="{FF2B5EF4-FFF2-40B4-BE49-F238E27FC236}">
                <a16:creationId xmlns:a16="http://schemas.microsoft.com/office/drawing/2014/main" id="{9A766D23-9E25-A4DC-9F81-53353E701809}"/>
              </a:ext>
            </a:extLst>
          </p:cNvPr>
          <p:cNvSpPr>
            <a:spLocks noChangeArrowheads="1"/>
          </p:cNvSpPr>
          <p:nvPr/>
        </p:nvSpPr>
        <p:spPr bwMode="auto">
          <a:xfrm>
            <a:off x="5142274" y="2641602"/>
            <a:ext cx="1285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18" name="Rectangle 20">
            <a:extLst>
              <a:ext uri="{FF2B5EF4-FFF2-40B4-BE49-F238E27FC236}">
                <a16:creationId xmlns:a16="http://schemas.microsoft.com/office/drawing/2014/main" id="{BB1FE4B9-2052-2A37-9C32-13F3747C49DA}"/>
              </a:ext>
            </a:extLst>
          </p:cNvPr>
          <p:cNvSpPr>
            <a:spLocks noChangeArrowheads="1"/>
          </p:cNvSpPr>
          <p:nvPr/>
        </p:nvSpPr>
        <p:spPr bwMode="auto">
          <a:xfrm>
            <a:off x="381360" y="2971801"/>
            <a:ext cx="123432"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2</a:t>
            </a:r>
            <a:endParaRPr lang="en-CA" altLang="en-US" sz="2400">
              <a:latin typeface="Times New Roman" panose="02020603050405020304" pitchFamily="18" charset="0"/>
            </a:endParaRPr>
          </a:p>
        </p:txBody>
      </p:sp>
      <p:sp>
        <p:nvSpPr>
          <p:cNvPr id="19" name="Rectangle 21">
            <a:extLst>
              <a:ext uri="{FF2B5EF4-FFF2-40B4-BE49-F238E27FC236}">
                <a16:creationId xmlns:a16="http://schemas.microsoft.com/office/drawing/2014/main" id="{278E46BA-E2CD-98FA-0FFD-C0FC4BFC077F}"/>
              </a:ext>
            </a:extLst>
          </p:cNvPr>
          <p:cNvSpPr>
            <a:spLocks noChangeArrowheads="1"/>
          </p:cNvSpPr>
          <p:nvPr/>
        </p:nvSpPr>
        <p:spPr bwMode="auto">
          <a:xfrm>
            <a:off x="1187810" y="2971801"/>
            <a:ext cx="1138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latin typeface="Computer Modern" charset="0"/>
              </a:rPr>
              <a:t>Z</a:t>
            </a:r>
            <a:endParaRPr lang="en-CA" altLang="en-US" sz="2400" dirty="0">
              <a:latin typeface="Times New Roman" panose="02020603050405020304" pitchFamily="18" charset="0"/>
            </a:endParaRPr>
          </a:p>
        </p:txBody>
      </p:sp>
      <p:sp>
        <p:nvSpPr>
          <p:cNvPr id="20" name="Rectangle 22">
            <a:extLst>
              <a:ext uri="{FF2B5EF4-FFF2-40B4-BE49-F238E27FC236}">
                <a16:creationId xmlns:a16="http://schemas.microsoft.com/office/drawing/2014/main" id="{948C104F-7413-2B81-E016-A62FDADC60C0}"/>
              </a:ext>
            </a:extLst>
          </p:cNvPr>
          <p:cNvSpPr>
            <a:spLocks noChangeArrowheads="1"/>
          </p:cNvSpPr>
          <p:nvPr/>
        </p:nvSpPr>
        <p:spPr bwMode="auto">
          <a:xfrm>
            <a:off x="1329098" y="3082927"/>
            <a:ext cx="232436"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dirty="0">
                <a:solidFill>
                  <a:srgbClr val="000000"/>
                </a:solidFill>
                <a:latin typeface="Computer Modern" charset="0"/>
              </a:rPr>
              <a:t>out</a:t>
            </a:r>
            <a:endParaRPr lang="en-CA" altLang="en-US" sz="2400" dirty="0">
              <a:latin typeface="Times New Roman" panose="02020603050405020304" pitchFamily="18" charset="0"/>
            </a:endParaRPr>
          </a:p>
        </p:txBody>
      </p:sp>
      <p:sp>
        <p:nvSpPr>
          <p:cNvPr id="21" name="Rectangle 23">
            <a:extLst>
              <a:ext uri="{FF2B5EF4-FFF2-40B4-BE49-F238E27FC236}">
                <a16:creationId xmlns:a16="http://schemas.microsoft.com/office/drawing/2014/main" id="{B143C067-9121-A0BE-6156-74223A3E6768}"/>
              </a:ext>
            </a:extLst>
          </p:cNvPr>
          <p:cNvSpPr>
            <a:spLocks noChangeArrowheads="1"/>
          </p:cNvSpPr>
          <p:nvPr/>
        </p:nvSpPr>
        <p:spPr bwMode="auto">
          <a:xfrm>
            <a:off x="1570398" y="2971801"/>
            <a:ext cx="609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22" name="Rectangle 24">
            <a:extLst>
              <a:ext uri="{FF2B5EF4-FFF2-40B4-BE49-F238E27FC236}">
                <a16:creationId xmlns:a16="http://schemas.microsoft.com/office/drawing/2014/main" id="{707B659B-167D-BB90-81BA-9C65FF1722D9}"/>
              </a:ext>
            </a:extLst>
          </p:cNvPr>
          <p:cNvSpPr>
            <a:spLocks noChangeArrowheads="1"/>
          </p:cNvSpPr>
          <p:nvPr/>
        </p:nvSpPr>
        <p:spPr bwMode="auto">
          <a:xfrm>
            <a:off x="1756135" y="2971801"/>
            <a:ext cx="256480"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latin typeface="Computer Modern" charset="0"/>
              </a:rPr>
              <a:t>PC</a:t>
            </a:r>
            <a:endParaRPr lang="en-CA" altLang="en-US" sz="2400" dirty="0">
              <a:latin typeface="Times New Roman" panose="02020603050405020304" pitchFamily="18" charset="0"/>
            </a:endParaRPr>
          </a:p>
        </p:txBody>
      </p:sp>
      <p:sp>
        <p:nvSpPr>
          <p:cNvPr id="23" name="Rectangle 25">
            <a:extLst>
              <a:ext uri="{FF2B5EF4-FFF2-40B4-BE49-F238E27FC236}">
                <a16:creationId xmlns:a16="http://schemas.microsoft.com/office/drawing/2014/main" id="{3A518DA1-7558-5921-9E7B-0B76492AD0F6}"/>
              </a:ext>
            </a:extLst>
          </p:cNvPr>
          <p:cNvSpPr>
            <a:spLocks noChangeArrowheads="1"/>
          </p:cNvSpPr>
          <p:nvPr/>
        </p:nvSpPr>
        <p:spPr bwMode="auto">
          <a:xfrm>
            <a:off x="2087924" y="3082927"/>
            <a:ext cx="1285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24" name="Rectangle 26">
            <a:extLst>
              <a:ext uri="{FF2B5EF4-FFF2-40B4-BE49-F238E27FC236}">
                <a16:creationId xmlns:a16="http://schemas.microsoft.com/office/drawing/2014/main" id="{81E18182-5AD3-8CEC-FF21-9C3DA3C31620}"/>
              </a:ext>
            </a:extLst>
          </p:cNvPr>
          <p:cNvSpPr>
            <a:spLocks noChangeArrowheads="1"/>
          </p:cNvSpPr>
          <p:nvPr/>
        </p:nvSpPr>
        <p:spPr bwMode="auto">
          <a:xfrm>
            <a:off x="2259373" y="2971801"/>
            <a:ext cx="609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25" name="Rectangle 27">
            <a:extLst>
              <a:ext uri="{FF2B5EF4-FFF2-40B4-BE49-F238E27FC236}">
                <a16:creationId xmlns:a16="http://schemas.microsoft.com/office/drawing/2014/main" id="{CF828A8B-5718-8338-13B6-996B227EDCC0}"/>
              </a:ext>
            </a:extLst>
          </p:cNvPr>
          <p:cNvSpPr>
            <a:spLocks noChangeArrowheads="1"/>
          </p:cNvSpPr>
          <p:nvPr/>
        </p:nvSpPr>
        <p:spPr bwMode="auto">
          <a:xfrm>
            <a:off x="2443523" y="2971801"/>
            <a:ext cx="118622"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latin typeface="Computer Modern" charset="0"/>
              </a:rPr>
              <a:t>Y</a:t>
            </a:r>
            <a:endParaRPr lang="en-CA" altLang="en-US" sz="2400" dirty="0">
              <a:latin typeface="Times New Roman" panose="02020603050405020304" pitchFamily="18" charset="0"/>
            </a:endParaRPr>
          </a:p>
        </p:txBody>
      </p:sp>
      <p:sp>
        <p:nvSpPr>
          <p:cNvPr id="26" name="Rectangle 28">
            <a:extLst>
              <a:ext uri="{FF2B5EF4-FFF2-40B4-BE49-F238E27FC236}">
                <a16:creationId xmlns:a16="http://schemas.microsoft.com/office/drawing/2014/main" id="{1564E4E2-7142-35E6-489A-59D863E8E16D}"/>
              </a:ext>
            </a:extLst>
          </p:cNvPr>
          <p:cNvSpPr>
            <a:spLocks noChangeArrowheads="1"/>
          </p:cNvSpPr>
          <p:nvPr/>
        </p:nvSpPr>
        <p:spPr bwMode="auto">
          <a:xfrm>
            <a:off x="2610210" y="3082927"/>
            <a:ext cx="128588"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27" name="Rectangle 29">
            <a:extLst>
              <a:ext uri="{FF2B5EF4-FFF2-40B4-BE49-F238E27FC236}">
                <a16:creationId xmlns:a16="http://schemas.microsoft.com/office/drawing/2014/main" id="{9109DB58-D095-429F-41F0-7C01125B3EF9}"/>
              </a:ext>
            </a:extLst>
          </p:cNvPr>
          <p:cNvSpPr>
            <a:spLocks noChangeArrowheads="1"/>
          </p:cNvSpPr>
          <p:nvPr/>
        </p:nvSpPr>
        <p:spPr bwMode="auto">
          <a:xfrm>
            <a:off x="2756260" y="2971801"/>
            <a:ext cx="609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28" name="Rectangle 30">
            <a:extLst>
              <a:ext uri="{FF2B5EF4-FFF2-40B4-BE49-F238E27FC236}">
                <a16:creationId xmlns:a16="http://schemas.microsoft.com/office/drawing/2014/main" id="{6F87C550-3462-DB73-7E9E-9A887B4053E9}"/>
              </a:ext>
            </a:extLst>
          </p:cNvPr>
          <p:cNvSpPr>
            <a:spLocks noChangeArrowheads="1"/>
          </p:cNvSpPr>
          <p:nvPr/>
        </p:nvSpPr>
        <p:spPr bwMode="auto">
          <a:xfrm>
            <a:off x="2941998" y="2971801"/>
            <a:ext cx="537006"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latin typeface="Computer Modern" charset="0"/>
              </a:rPr>
              <a:t>WMF</a:t>
            </a:r>
            <a:endParaRPr lang="en-CA" altLang="en-US" sz="2400" dirty="0">
              <a:latin typeface="Times New Roman" panose="02020603050405020304" pitchFamily="18" charset="0"/>
            </a:endParaRPr>
          </a:p>
        </p:txBody>
      </p:sp>
      <p:sp>
        <p:nvSpPr>
          <p:cNvPr id="29" name="Rectangle 31">
            <a:extLst>
              <a:ext uri="{FF2B5EF4-FFF2-40B4-BE49-F238E27FC236}">
                <a16:creationId xmlns:a16="http://schemas.microsoft.com/office/drawing/2014/main" id="{890A2A66-1690-AF1E-6422-4D3A6A237BE6}"/>
              </a:ext>
            </a:extLst>
          </p:cNvPr>
          <p:cNvSpPr>
            <a:spLocks noChangeArrowheads="1"/>
          </p:cNvSpPr>
          <p:nvPr/>
        </p:nvSpPr>
        <p:spPr bwMode="auto">
          <a:xfrm>
            <a:off x="3557948" y="2971801"/>
            <a:ext cx="12984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latin typeface="Computer Modern" charset="0"/>
              </a:rPr>
              <a:t>C</a:t>
            </a:r>
            <a:endParaRPr lang="en-CA" altLang="en-US" sz="2400" dirty="0">
              <a:latin typeface="Times New Roman" panose="02020603050405020304" pitchFamily="18" charset="0"/>
            </a:endParaRPr>
          </a:p>
        </p:txBody>
      </p:sp>
      <p:sp>
        <p:nvSpPr>
          <p:cNvPr id="30" name="Rectangle 32">
            <a:extLst>
              <a:ext uri="{FF2B5EF4-FFF2-40B4-BE49-F238E27FC236}">
                <a16:creationId xmlns:a16="http://schemas.microsoft.com/office/drawing/2014/main" id="{1AA00DE5-9400-DC0D-CE83-8D290F869BBD}"/>
              </a:ext>
            </a:extLst>
          </p:cNvPr>
          <p:cNvSpPr>
            <a:spLocks noChangeArrowheads="1"/>
          </p:cNvSpPr>
          <p:nvPr/>
        </p:nvSpPr>
        <p:spPr bwMode="auto">
          <a:xfrm>
            <a:off x="381360" y="3375026"/>
            <a:ext cx="123432"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3</a:t>
            </a:r>
            <a:endParaRPr lang="en-CA" altLang="en-US" sz="2400">
              <a:latin typeface="Times New Roman" panose="02020603050405020304" pitchFamily="18" charset="0"/>
            </a:endParaRPr>
          </a:p>
        </p:txBody>
      </p:sp>
      <p:sp>
        <p:nvSpPr>
          <p:cNvPr id="31" name="Rectangle 33">
            <a:extLst>
              <a:ext uri="{FF2B5EF4-FFF2-40B4-BE49-F238E27FC236}">
                <a16:creationId xmlns:a16="http://schemas.microsoft.com/office/drawing/2014/main" id="{916CABDB-A4A0-8BBF-8D2C-41E83781EAF9}"/>
              </a:ext>
            </a:extLst>
          </p:cNvPr>
          <p:cNvSpPr>
            <a:spLocks noChangeArrowheads="1"/>
          </p:cNvSpPr>
          <p:nvPr/>
        </p:nvSpPr>
        <p:spPr bwMode="auto">
          <a:xfrm>
            <a:off x="1187810" y="3375026"/>
            <a:ext cx="492122"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latin typeface="Computer Modern" charset="0"/>
              </a:rPr>
              <a:t>MDR</a:t>
            </a:r>
            <a:endParaRPr lang="en-CA" altLang="en-US" sz="2400" dirty="0">
              <a:latin typeface="Times New Roman" panose="02020603050405020304" pitchFamily="18" charset="0"/>
            </a:endParaRPr>
          </a:p>
        </p:txBody>
      </p:sp>
      <p:sp>
        <p:nvSpPr>
          <p:cNvPr id="32" name="Rectangle 34">
            <a:extLst>
              <a:ext uri="{FF2B5EF4-FFF2-40B4-BE49-F238E27FC236}">
                <a16:creationId xmlns:a16="http://schemas.microsoft.com/office/drawing/2014/main" id="{97B7728B-671F-D983-B081-46FCAD1C665D}"/>
              </a:ext>
            </a:extLst>
          </p:cNvPr>
          <p:cNvSpPr>
            <a:spLocks noChangeArrowheads="1"/>
          </p:cNvSpPr>
          <p:nvPr/>
        </p:nvSpPr>
        <p:spPr bwMode="auto">
          <a:xfrm>
            <a:off x="1756135" y="3502027"/>
            <a:ext cx="230188"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out</a:t>
            </a:r>
            <a:endParaRPr lang="en-CA" altLang="en-US" sz="2400">
              <a:latin typeface="Times New Roman" panose="02020603050405020304" pitchFamily="18" charset="0"/>
            </a:endParaRPr>
          </a:p>
        </p:txBody>
      </p:sp>
      <p:sp>
        <p:nvSpPr>
          <p:cNvPr id="33" name="Rectangle 35">
            <a:extLst>
              <a:ext uri="{FF2B5EF4-FFF2-40B4-BE49-F238E27FC236}">
                <a16:creationId xmlns:a16="http://schemas.microsoft.com/office/drawing/2014/main" id="{4061B67E-194A-E04B-C64B-6B032FFE62C4}"/>
              </a:ext>
            </a:extLst>
          </p:cNvPr>
          <p:cNvSpPr>
            <a:spLocks noChangeArrowheads="1"/>
          </p:cNvSpPr>
          <p:nvPr/>
        </p:nvSpPr>
        <p:spPr bwMode="auto">
          <a:xfrm>
            <a:off x="2040298" y="3375026"/>
            <a:ext cx="609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34" name="Rectangle 36">
            <a:extLst>
              <a:ext uri="{FF2B5EF4-FFF2-40B4-BE49-F238E27FC236}">
                <a16:creationId xmlns:a16="http://schemas.microsoft.com/office/drawing/2014/main" id="{4638ABED-AF6D-902C-6A83-48C1CB9F8247}"/>
              </a:ext>
            </a:extLst>
          </p:cNvPr>
          <p:cNvSpPr>
            <a:spLocks noChangeArrowheads="1"/>
          </p:cNvSpPr>
          <p:nvPr/>
        </p:nvSpPr>
        <p:spPr bwMode="auto">
          <a:xfrm>
            <a:off x="2183173" y="3375026"/>
            <a:ext cx="19396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latin typeface="Computer Modern" charset="0"/>
              </a:rPr>
              <a:t>IR</a:t>
            </a:r>
            <a:endParaRPr lang="en-CA" altLang="en-US" sz="2400" dirty="0">
              <a:latin typeface="Times New Roman" panose="02020603050405020304" pitchFamily="18" charset="0"/>
            </a:endParaRPr>
          </a:p>
        </p:txBody>
      </p:sp>
      <p:sp>
        <p:nvSpPr>
          <p:cNvPr id="35" name="Rectangle 37">
            <a:extLst>
              <a:ext uri="{FF2B5EF4-FFF2-40B4-BE49-F238E27FC236}">
                <a16:creationId xmlns:a16="http://schemas.microsoft.com/office/drawing/2014/main" id="{FCC7D022-D42E-F6C8-EECA-F2A5535F6DC6}"/>
              </a:ext>
            </a:extLst>
          </p:cNvPr>
          <p:cNvSpPr>
            <a:spLocks noChangeArrowheads="1"/>
          </p:cNvSpPr>
          <p:nvPr/>
        </p:nvSpPr>
        <p:spPr bwMode="auto">
          <a:xfrm>
            <a:off x="2443524" y="3502027"/>
            <a:ext cx="1285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36" name="Rectangle 38">
            <a:extLst>
              <a:ext uri="{FF2B5EF4-FFF2-40B4-BE49-F238E27FC236}">
                <a16:creationId xmlns:a16="http://schemas.microsoft.com/office/drawing/2014/main" id="{794ABEDD-339C-599E-35FD-DFA1DB4C1B55}"/>
              </a:ext>
            </a:extLst>
          </p:cNvPr>
          <p:cNvSpPr>
            <a:spLocks noChangeArrowheads="1"/>
          </p:cNvSpPr>
          <p:nvPr/>
        </p:nvSpPr>
        <p:spPr bwMode="auto">
          <a:xfrm>
            <a:off x="381360" y="3802063"/>
            <a:ext cx="123432"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4</a:t>
            </a:r>
            <a:endParaRPr lang="en-CA" altLang="en-US" sz="2400">
              <a:latin typeface="Times New Roman" panose="02020603050405020304" pitchFamily="18" charset="0"/>
            </a:endParaRPr>
          </a:p>
        </p:txBody>
      </p:sp>
      <p:sp>
        <p:nvSpPr>
          <p:cNvPr id="37" name="Rectangle 39">
            <a:extLst>
              <a:ext uri="{FF2B5EF4-FFF2-40B4-BE49-F238E27FC236}">
                <a16:creationId xmlns:a16="http://schemas.microsoft.com/office/drawing/2014/main" id="{75D8DA5E-388E-76A5-024F-96C9CEE600CF}"/>
              </a:ext>
            </a:extLst>
          </p:cNvPr>
          <p:cNvSpPr>
            <a:spLocks noChangeArrowheads="1"/>
          </p:cNvSpPr>
          <p:nvPr/>
        </p:nvSpPr>
        <p:spPr bwMode="auto">
          <a:xfrm>
            <a:off x="1187811" y="3802063"/>
            <a:ext cx="1665521"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solidFill>
                  <a:srgbClr val="FF0000"/>
                </a:solidFill>
                <a:latin typeface="Computer Modern" charset="0"/>
              </a:rPr>
              <a:t>Offset-field-of-IR</a:t>
            </a:r>
            <a:endParaRPr lang="en-CA" altLang="en-US" sz="2400" dirty="0">
              <a:solidFill>
                <a:srgbClr val="FF0000"/>
              </a:solidFill>
              <a:latin typeface="Times New Roman" panose="02020603050405020304" pitchFamily="18" charset="0"/>
            </a:endParaRPr>
          </a:p>
        </p:txBody>
      </p:sp>
      <p:sp>
        <p:nvSpPr>
          <p:cNvPr id="38" name="Rectangle 40">
            <a:extLst>
              <a:ext uri="{FF2B5EF4-FFF2-40B4-BE49-F238E27FC236}">
                <a16:creationId xmlns:a16="http://schemas.microsoft.com/office/drawing/2014/main" id="{A847018A-DFBF-DA38-47C3-6514FC636B8B}"/>
              </a:ext>
            </a:extLst>
          </p:cNvPr>
          <p:cNvSpPr>
            <a:spLocks noChangeArrowheads="1"/>
          </p:cNvSpPr>
          <p:nvPr/>
        </p:nvSpPr>
        <p:spPr bwMode="auto">
          <a:xfrm>
            <a:off x="2899135" y="3903663"/>
            <a:ext cx="230188"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out</a:t>
            </a:r>
            <a:endParaRPr lang="en-CA" altLang="en-US" sz="2400">
              <a:latin typeface="Times New Roman" panose="02020603050405020304" pitchFamily="18" charset="0"/>
            </a:endParaRPr>
          </a:p>
        </p:txBody>
      </p:sp>
      <p:sp>
        <p:nvSpPr>
          <p:cNvPr id="39" name="Rectangle 41">
            <a:extLst>
              <a:ext uri="{FF2B5EF4-FFF2-40B4-BE49-F238E27FC236}">
                <a16:creationId xmlns:a16="http://schemas.microsoft.com/office/drawing/2014/main" id="{C433DEAB-A699-57A1-CFB0-CDE49B51CA2D}"/>
              </a:ext>
            </a:extLst>
          </p:cNvPr>
          <p:cNvSpPr>
            <a:spLocks noChangeArrowheads="1"/>
          </p:cNvSpPr>
          <p:nvPr/>
        </p:nvSpPr>
        <p:spPr bwMode="auto">
          <a:xfrm>
            <a:off x="3130910" y="3802063"/>
            <a:ext cx="609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40" name="Rectangle 42">
            <a:extLst>
              <a:ext uri="{FF2B5EF4-FFF2-40B4-BE49-F238E27FC236}">
                <a16:creationId xmlns:a16="http://schemas.microsoft.com/office/drawing/2014/main" id="{B44D3EB9-C728-A6D1-80BA-9EA1132C6EC4}"/>
              </a:ext>
            </a:extLst>
          </p:cNvPr>
          <p:cNvSpPr>
            <a:spLocks noChangeArrowheads="1"/>
          </p:cNvSpPr>
          <p:nvPr/>
        </p:nvSpPr>
        <p:spPr bwMode="auto">
          <a:xfrm>
            <a:off x="3345224" y="3802063"/>
            <a:ext cx="458459"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solidFill>
                  <a:srgbClr val="FF0000"/>
                </a:solidFill>
                <a:latin typeface="Computer Modern" charset="0"/>
              </a:rPr>
              <a:t>Add,</a:t>
            </a:r>
            <a:endParaRPr lang="en-CA" altLang="en-US" sz="2400" dirty="0">
              <a:solidFill>
                <a:srgbClr val="FF0000"/>
              </a:solidFill>
              <a:latin typeface="Times New Roman" panose="02020603050405020304" pitchFamily="18" charset="0"/>
            </a:endParaRPr>
          </a:p>
        </p:txBody>
      </p:sp>
      <p:sp>
        <p:nvSpPr>
          <p:cNvPr id="41" name="Rectangle 43">
            <a:extLst>
              <a:ext uri="{FF2B5EF4-FFF2-40B4-BE49-F238E27FC236}">
                <a16:creationId xmlns:a16="http://schemas.microsoft.com/office/drawing/2014/main" id="{5A32CD03-5A9D-4508-83DF-737748BF6688}"/>
              </a:ext>
            </a:extLst>
          </p:cNvPr>
          <p:cNvSpPr>
            <a:spLocks noChangeArrowheads="1"/>
          </p:cNvSpPr>
          <p:nvPr/>
        </p:nvSpPr>
        <p:spPr bwMode="auto">
          <a:xfrm>
            <a:off x="3937360" y="3802063"/>
            <a:ext cx="1138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solidFill>
                  <a:srgbClr val="FF0000"/>
                </a:solidFill>
                <a:latin typeface="Computer Modern" charset="0"/>
              </a:rPr>
              <a:t>Z</a:t>
            </a:r>
            <a:endParaRPr lang="en-CA" altLang="en-US" sz="2400" dirty="0">
              <a:solidFill>
                <a:srgbClr val="FF0000"/>
              </a:solidFill>
              <a:latin typeface="Times New Roman" panose="02020603050405020304" pitchFamily="18" charset="0"/>
            </a:endParaRPr>
          </a:p>
        </p:txBody>
      </p:sp>
      <p:sp>
        <p:nvSpPr>
          <p:cNvPr id="42" name="Rectangle 44">
            <a:extLst>
              <a:ext uri="{FF2B5EF4-FFF2-40B4-BE49-F238E27FC236}">
                <a16:creationId xmlns:a16="http://schemas.microsoft.com/office/drawing/2014/main" id="{A65CB23E-1B83-3913-2DB2-49F429EEE841}"/>
              </a:ext>
            </a:extLst>
          </p:cNvPr>
          <p:cNvSpPr>
            <a:spLocks noChangeArrowheads="1"/>
          </p:cNvSpPr>
          <p:nvPr/>
        </p:nvSpPr>
        <p:spPr bwMode="auto">
          <a:xfrm>
            <a:off x="4099285" y="3903663"/>
            <a:ext cx="128588"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43" name="Rectangle 45">
            <a:extLst>
              <a:ext uri="{FF2B5EF4-FFF2-40B4-BE49-F238E27FC236}">
                <a16:creationId xmlns:a16="http://schemas.microsoft.com/office/drawing/2014/main" id="{DCED64E9-8078-C177-8EDF-0DB923D86224}"/>
              </a:ext>
            </a:extLst>
          </p:cNvPr>
          <p:cNvSpPr>
            <a:spLocks noChangeArrowheads="1"/>
          </p:cNvSpPr>
          <p:nvPr/>
        </p:nvSpPr>
        <p:spPr bwMode="auto">
          <a:xfrm>
            <a:off x="381360" y="4227513"/>
            <a:ext cx="123432"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5</a:t>
            </a:r>
            <a:endParaRPr lang="en-CA" altLang="en-US" sz="2400">
              <a:latin typeface="Times New Roman" panose="02020603050405020304" pitchFamily="18" charset="0"/>
            </a:endParaRPr>
          </a:p>
        </p:txBody>
      </p:sp>
      <p:sp>
        <p:nvSpPr>
          <p:cNvPr id="44" name="Rectangle 46">
            <a:extLst>
              <a:ext uri="{FF2B5EF4-FFF2-40B4-BE49-F238E27FC236}">
                <a16:creationId xmlns:a16="http://schemas.microsoft.com/office/drawing/2014/main" id="{07B37BB3-B350-7116-6A8F-B361BF4A744A}"/>
              </a:ext>
            </a:extLst>
          </p:cNvPr>
          <p:cNvSpPr>
            <a:spLocks noChangeArrowheads="1"/>
          </p:cNvSpPr>
          <p:nvPr/>
        </p:nvSpPr>
        <p:spPr bwMode="auto">
          <a:xfrm>
            <a:off x="1187810" y="4227513"/>
            <a:ext cx="1138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Z</a:t>
            </a:r>
            <a:endParaRPr lang="en-CA" altLang="en-US" sz="2400">
              <a:latin typeface="Times New Roman" panose="02020603050405020304" pitchFamily="18" charset="0"/>
            </a:endParaRPr>
          </a:p>
        </p:txBody>
      </p:sp>
      <p:sp>
        <p:nvSpPr>
          <p:cNvPr id="45" name="Rectangle 47">
            <a:extLst>
              <a:ext uri="{FF2B5EF4-FFF2-40B4-BE49-F238E27FC236}">
                <a16:creationId xmlns:a16="http://schemas.microsoft.com/office/drawing/2014/main" id="{4C440392-2619-C677-D207-7E235F2B817C}"/>
              </a:ext>
            </a:extLst>
          </p:cNvPr>
          <p:cNvSpPr>
            <a:spLocks noChangeArrowheads="1"/>
          </p:cNvSpPr>
          <p:nvPr/>
        </p:nvSpPr>
        <p:spPr bwMode="auto">
          <a:xfrm>
            <a:off x="1348148" y="4349752"/>
            <a:ext cx="232436"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out</a:t>
            </a:r>
            <a:endParaRPr lang="en-CA" altLang="en-US" sz="2400">
              <a:latin typeface="Times New Roman" panose="02020603050405020304" pitchFamily="18" charset="0"/>
            </a:endParaRPr>
          </a:p>
        </p:txBody>
      </p:sp>
      <p:sp>
        <p:nvSpPr>
          <p:cNvPr id="46" name="Rectangle 48">
            <a:extLst>
              <a:ext uri="{FF2B5EF4-FFF2-40B4-BE49-F238E27FC236}">
                <a16:creationId xmlns:a16="http://schemas.microsoft.com/office/drawing/2014/main" id="{99D6FAD5-221D-1BEA-E579-FA6AC5D619BF}"/>
              </a:ext>
            </a:extLst>
          </p:cNvPr>
          <p:cNvSpPr>
            <a:spLocks noChangeArrowheads="1"/>
          </p:cNvSpPr>
          <p:nvPr/>
        </p:nvSpPr>
        <p:spPr bwMode="auto">
          <a:xfrm>
            <a:off x="1584685" y="4227513"/>
            <a:ext cx="609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47" name="Rectangle 49">
            <a:extLst>
              <a:ext uri="{FF2B5EF4-FFF2-40B4-BE49-F238E27FC236}">
                <a16:creationId xmlns:a16="http://schemas.microsoft.com/office/drawing/2014/main" id="{D54A0488-E4AF-B0EB-B753-90E0EB2DF0A0}"/>
              </a:ext>
            </a:extLst>
          </p:cNvPr>
          <p:cNvSpPr>
            <a:spLocks noChangeArrowheads="1"/>
          </p:cNvSpPr>
          <p:nvPr/>
        </p:nvSpPr>
        <p:spPr bwMode="auto">
          <a:xfrm>
            <a:off x="1756135" y="4227513"/>
            <a:ext cx="256480"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PC</a:t>
            </a:r>
            <a:endParaRPr lang="en-CA" altLang="en-US" sz="2400">
              <a:latin typeface="Times New Roman" panose="02020603050405020304" pitchFamily="18" charset="0"/>
            </a:endParaRPr>
          </a:p>
        </p:txBody>
      </p:sp>
      <p:sp>
        <p:nvSpPr>
          <p:cNvPr id="48" name="Rectangle 50">
            <a:extLst>
              <a:ext uri="{FF2B5EF4-FFF2-40B4-BE49-F238E27FC236}">
                <a16:creationId xmlns:a16="http://schemas.microsoft.com/office/drawing/2014/main" id="{A01B8346-9FFB-3508-1478-7AC1E70CE041}"/>
              </a:ext>
            </a:extLst>
          </p:cNvPr>
          <p:cNvSpPr>
            <a:spLocks noChangeArrowheads="1"/>
          </p:cNvSpPr>
          <p:nvPr/>
        </p:nvSpPr>
        <p:spPr bwMode="auto">
          <a:xfrm>
            <a:off x="2068874" y="4330702"/>
            <a:ext cx="1285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49" name="Rectangle 51">
            <a:extLst>
              <a:ext uri="{FF2B5EF4-FFF2-40B4-BE49-F238E27FC236}">
                <a16:creationId xmlns:a16="http://schemas.microsoft.com/office/drawing/2014/main" id="{B39431D4-66D4-7D7A-9432-29EF3704C270}"/>
              </a:ext>
            </a:extLst>
          </p:cNvPr>
          <p:cNvSpPr>
            <a:spLocks noChangeArrowheads="1"/>
          </p:cNvSpPr>
          <p:nvPr/>
        </p:nvSpPr>
        <p:spPr bwMode="auto">
          <a:xfrm>
            <a:off x="2230798" y="4227513"/>
            <a:ext cx="609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50" name="Rectangle 52">
            <a:extLst>
              <a:ext uri="{FF2B5EF4-FFF2-40B4-BE49-F238E27FC236}">
                <a16:creationId xmlns:a16="http://schemas.microsoft.com/office/drawing/2014/main" id="{AA380096-4FC5-C104-C4BD-53D6B5580663}"/>
              </a:ext>
            </a:extLst>
          </p:cNvPr>
          <p:cNvSpPr>
            <a:spLocks noChangeArrowheads="1"/>
          </p:cNvSpPr>
          <p:nvPr/>
        </p:nvSpPr>
        <p:spPr bwMode="auto">
          <a:xfrm>
            <a:off x="2443524" y="4227513"/>
            <a:ext cx="375103"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End</a:t>
            </a:r>
            <a:endParaRPr lang="en-CA" altLang="en-US" sz="2400">
              <a:latin typeface="Times New Roman" panose="02020603050405020304" pitchFamily="18" charset="0"/>
            </a:endParaRPr>
          </a:p>
        </p:txBody>
      </p:sp>
      <p:sp>
        <p:nvSpPr>
          <p:cNvPr id="51" name="Rectangle 53">
            <a:extLst>
              <a:ext uri="{FF2B5EF4-FFF2-40B4-BE49-F238E27FC236}">
                <a16:creationId xmlns:a16="http://schemas.microsoft.com/office/drawing/2014/main" id="{A17013F6-B577-8EB8-833C-1B31DA9262CA}"/>
              </a:ext>
            </a:extLst>
          </p:cNvPr>
          <p:cNvSpPr>
            <a:spLocks noChangeArrowheads="1"/>
          </p:cNvSpPr>
          <p:nvPr/>
        </p:nvSpPr>
        <p:spPr bwMode="auto">
          <a:xfrm>
            <a:off x="381360" y="4773613"/>
            <a:ext cx="4954588" cy="1588"/>
          </a:xfrm>
          <a:prstGeom prst="rect">
            <a:avLst/>
          </a:prstGeom>
          <a:solidFill>
            <a:srgbClr val="0000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grpSp>
        <p:nvGrpSpPr>
          <p:cNvPr id="57" name="Group 56">
            <a:extLst>
              <a:ext uri="{FF2B5EF4-FFF2-40B4-BE49-F238E27FC236}">
                <a16:creationId xmlns:a16="http://schemas.microsoft.com/office/drawing/2014/main" id="{6E23603D-097F-A2A0-C0BD-FF324D6E9843}"/>
              </a:ext>
            </a:extLst>
          </p:cNvPr>
          <p:cNvGrpSpPr/>
          <p:nvPr/>
        </p:nvGrpSpPr>
        <p:grpSpPr>
          <a:xfrm>
            <a:off x="5943600" y="207390"/>
            <a:ext cx="5562012" cy="7029765"/>
            <a:chOff x="5943600" y="207390"/>
            <a:chExt cx="5562012" cy="7029765"/>
          </a:xfrm>
        </p:grpSpPr>
        <p:pic>
          <p:nvPicPr>
            <p:cNvPr id="35844" name="Picture 4" descr="figure7">
              <a:extLst>
                <a:ext uri="{FF2B5EF4-FFF2-40B4-BE49-F238E27FC236}">
                  <a16:creationId xmlns:a16="http://schemas.microsoft.com/office/drawing/2014/main" id="{78E91BB7-2543-B620-70C9-1D8942E843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3600" y="207390"/>
              <a:ext cx="5562012" cy="7029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 name="Arrow: Down 51">
              <a:extLst>
                <a:ext uri="{FF2B5EF4-FFF2-40B4-BE49-F238E27FC236}">
                  <a16:creationId xmlns:a16="http://schemas.microsoft.com/office/drawing/2014/main" id="{C052947D-AB91-6E08-3702-25FFB1A7E2D3}"/>
                </a:ext>
              </a:extLst>
            </p:cNvPr>
            <p:cNvSpPr/>
            <p:nvPr/>
          </p:nvSpPr>
          <p:spPr>
            <a:xfrm>
              <a:off x="9303316" y="782425"/>
              <a:ext cx="200386" cy="5938885"/>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Arrow: Right 55">
              <a:extLst>
                <a:ext uri="{FF2B5EF4-FFF2-40B4-BE49-F238E27FC236}">
                  <a16:creationId xmlns:a16="http://schemas.microsoft.com/office/drawing/2014/main" id="{2B7B6548-7F9B-E00B-8813-685306E233A6}"/>
                </a:ext>
              </a:extLst>
            </p:cNvPr>
            <p:cNvSpPr/>
            <p:nvPr/>
          </p:nvSpPr>
          <p:spPr>
            <a:xfrm rot="10800000">
              <a:off x="8512403" y="4185500"/>
              <a:ext cx="853856" cy="155291"/>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Arrow: Right 53">
              <a:extLst>
                <a:ext uri="{FF2B5EF4-FFF2-40B4-BE49-F238E27FC236}">
                  <a16:creationId xmlns:a16="http://schemas.microsoft.com/office/drawing/2014/main" id="{E2EC8098-C0AF-6CCA-5342-3600869125D6}"/>
                </a:ext>
              </a:extLst>
            </p:cNvPr>
            <p:cNvSpPr/>
            <p:nvPr/>
          </p:nvSpPr>
          <p:spPr>
            <a:xfrm rot="10800000" flipV="1">
              <a:off x="9487950" y="1605263"/>
              <a:ext cx="668363" cy="192460"/>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Arrow: Right 52">
              <a:extLst>
                <a:ext uri="{FF2B5EF4-FFF2-40B4-BE49-F238E27FC236}">
                  <a16:creationId xmlns:a16="http://schemas.microsoft.com/office/drawing/2014/main" id="{5BDB84E9-6EA0-F085-F3B5-213F8152D9FA}"/>
                </a:ext>
              </a:extLst>
            </p:cNvPr>
            <p:cNvSpPr/>
            <p:nvPr/>
          </p:nvSpPr>
          <p:spPr>
            <a:xfrm rot="16200000" flipH="1">
              <a:off x="7729394" y="5559318"/>
              <a:ext cx="445626" cy="200386"/>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Arrow Connector 54">
              <a:extLst>
                <a:ext uri="{FF2B5EF4-FFF2-40B4-BE49-F238E27FC236}">
                  <a16:creationId xmlns:a16="http://schemas.microsoft.com/office/drawing/2014/main" id="{741A25A3-0835-C999-7E3F-74175CF29749}"/>
                </a:ext>
              </a:extLst>
            </p:cNvPr>
            <p:cNvCxnSpPr/>
            <p:nvPr/>
          </p:nvCxnSpPr>
          <p:spPr>
            <a:xfrm>
              <a:off x="6617616" y="4698347"/>
              <a:ext cx="471340" cy="0"/>
            </a:xfrm>
            <a:prstGeom prst="straightConnector1">
              <a:avLst/>
            </a:prstGeom>
            <a:ln w="38100">
              <a:solidFill>
                <a:srgbClr val="FF0000"/>
              </a:solidFill>
              <a:tailEnd type="triangle"/>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700299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A710E145-14EC-57A6-068D-C74D4F9600B1}"/>
              </a:ext>
            </a:extLst>
          </p:cNvPr>
          <p:cNvSpPr>
            <a:spLocks noGrp="1" noChangeArrowheads="1"/>
          </p:cNvSpPr>
          <p:nvPr>
            <p:ph type="title"/>
          </p:nvPr>
        </p:nvSpPr>
        <p:spPr/>
        <p:txBody>
          <a:bodyPr/>
          <a:lstStyle/>
          <a:p>
            <a:endParaRPr lang="en-US" altLang="en-US" sz="2800" dirty="0"/>
          </a:p>
        </p:txBody>
      </p:sp>
      <p:sp>
        <p:nvSpPr>
          <p:cNvPr id="2" name="Rectangle 4">
            <a:extLst>
              <a:ext uri="{FF2B5EF4-FFF2-40B4-BE49-F238E27FC236}">
                <a16:creationId xmlns:a16="http://schemas.microsoft.com/office/drawing/2014/main" id="{3FE5DC9C-7E73-A15F-258D-2315469F8E3E}"/>
              </a:ext>
            </a:extLst>
          </p:cNvPr>
          <p:cNvSpPr>
            <a:spLocks noChangeArrowheads="1"/>
          </p:cNvSpPr>
          <p:nvPr/>
        </p:nvSpPr>
        <p:spPr bwMode="auto">
          <a:xfrm>
            <a:off x="381360" y="1690688"/>
            <a:ext cx="4954588" cy="1588"/>
          </a:xfrm>
          <a:prstGeom prst="rect">
            <a:avLst/>
          </a:prstGeom>
          <a:solidFill>
            <a:srgbClr val="0000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3" name="Rectangle 5">
            <a:extLst>
              <a:ext uri="{FF2B5EF4-FFF2-40B4-BE49-F238E27FC236}">
                <a16:creationId xmlns:a16="http://schemas.microsoft.com/office/drawing/2014/main" id="{357008E0-FBA9-C949-4CB2-EAB53619D351}"/>
              </a:ext>
            </a:extLst>
          </p:cNvPr>
          <p:cNvSpPr>
            <a:spLocks noChangeArrowheads="1"/>
          </p:cNvSpPr>
          <p:nvPr/>
        </p:nvSpPr>
        <p:spPr bwMode="auto">
          <a:xfrm>
            <a:off x="381361" y="1905001"/>
            <a:ext cx="455253"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b="1">
                <a:solidFill>
                  <a:srgbClr val="000000"/>
                </a:solidFill>
                <a:latin typeface="Computer Modern" charset="0"/>
              </a:rPr>
              <a:t>Step</a:t>
            </a:r>
            <a:endParaRPr lang="en-CA" altLang="en-US" sz="2400">
              <a:latin typeface="Times New Roman" panose="02020603050405020304" pitchFamily="18" charset="0"/>
            </a:endParaRPr>
          </a:p>
        </p:txBody>
      </p:sp>
      <p:sp>
        <p:nvSpPr>
          <p:cNvPr id="4" name="Rectangle 6">
            <a:extLst>
              <a:ext uri="{FF2B5EF4-FFF2-40B4-BE49-F238E27FC236}">
                <a16:creationId xmlns:a16="http://schemas.microsoft.com/office/drawing/2014/main" id="{3C502DA9-9879-04DC-0A93-22A7E14A5391}"/>
              </a:ext>
            </a:extLst>
          </p:cNvPr>
          <p:cNvSpPr>
            <a:spLocks noChangeArrowheads="1"/>
          </p:cNvSpPr>
          <p:nvPr/>
        </p:nvSpPr>
        <p:spPr bwMode="auto">
          <a:xfrm>
            <a:off x="959211" y="1905001"/>
            <a:ext cx="657231"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b="1">
                <a:solidFill>
                  <a:srgbClr val="000000"/>
                </a:solidFill>
                <a:latin typeface="Computer Modern" charset="0"/>
              </a:rPr>
              <a:t>Action</a:t>
            </a:r>
            <a:endParaRPr lang="en-CA" altLang="en-US" sz="2400">
              <a:latin typeface="Times New Roman" panose="02020603050405020304" pitchFamily="18" charset="0"/>
            </a:endParaRPr>
          </a:p>
        </p:txBody>
      </p:sp>
      <p:sp>
        <p:nvSpPr>
          <p:cNvPr id="5" name="Rectangle 7">
            <a:extLst>
              <a:ext uri="{FF2B5EF4-FFF2-40B4-BE49-F238E27FC236}">
                <a16:creationId xmlns:a16="http://schemas.microsoft.com/office/drawing/2014/main" id="{DA23B391-FE3F-7AD5-8221-B18CF791119B}"/>
              </a:ext>
            </a:extLst>
          </p:cNvPr>
          <p:cNvSpPr>
            <a:spLocks noChangeArrowheads="1"/>
          </p:cNvSpPr>
          <p:nvPr/>
        </p:nvSpPr>
        <p:spPr bwMode="auto">
          <a:xfrm>
            <a:off x="381360" y="2449513"/>
            <a:ext cx="4954588" cy="1588"/>
          </a:xfrm>
          <a:prstGeom prst="rect">
            <a:avLst/>
          </a:prstGeom>
          <a:solidFill>
            <a:srgbClr val="0000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6" name="Rectangle 8">
            <a:extLst>
              <a:ext uri="{FF2B5EF4-FFF2-40B4-BE49-F238E27FC236}">
                <a16:creationId xmlns:a16="http://schemas.microsoft.com/office/drawing/2014/main" id="{10207F01-E926-1A73-D3C9-F129A082C487}"/>
              </a:ext>
            </a:extLst>
          </p:cNvPr>
          <p:cNvSpPr>
            <a:spLocks noChangeArrowheads="1"/>
          </p:cNvSpPr>
          <p:nvPr/>
        </p:nvSpPr>
        <p:spPr bwMode="auto">
          <a:xfrm>
            <a:off x="381360" y="2544763"/>
            <a:ext cx="123432"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1</a:t>
            </a:r>
            <a:endParaRPr lang="en-CA" altLang="en-US" sz="2400">
              <a:latin typeface="Times New Roman" panose="02020603050405020304" pitchFamily="18" charset="0"/>
            </a:endParaRPr>
          </a:p>
        </p:txBody>
      </p:sp>
      <p:sp>
        <p:nvSpPr>
          <p:cNvPr id="7" name="Rectangle 9">
            <a:extLst>
              <a:ext uri="{FF2B5EF4-FFF2-40B4-BE49-F238E27FC236}">
                <a16:creationId xmlns:a16="http://schemas.microsoft.com/office/drawing/2014/main" id="{FC8E2BE8-452B-D07B-98BB-06B84F1AA6EC}"/>
              </a:ext>
            </a:extLst>
          </p:cNvPr>
          <p:cNvSpPr>
            <a:spLocks noChangeArrowheads="1"/>
          </p:cNvSpPr>
          <p:nvPr/>
        </p:nvSpPr>
        <p:spPr bwMode="auto">
          <a:xfrm>
            <a:off x="1187810" y="2544763"/>
            <a:ext cx="256480"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latin typeface="Computer Modern" charset="0"/>
              </a:rPr>
              <a:t>PC</a:t>
            </a:r>
            <a:endParaRPr lang="en-CA" altLang="en-US" sz="2400" dirty="0">
              <a:latin typeface="Times New Roman" panose="02020603050405020304" pitchFamily="18" charset="0"/>
            </a:endParaRPr>
          </a:p>
        </p:txBody>
      </p:sp>
      <p:sp>
        <p:nvSpPr>
          <p:cNvPr id="8" name="Rectangle 10">
            <a:extLst>
              <a:ext uri="{FF2B5EF4-FFF2-40B4-BE49-F238E27FC236}">
                <a16:creationId xmlns:a16="http://schemas.microsoft.com/office/drawing/2014/main" id="{C1D860A8-9E69-D719-E103-7F22A43AC528}"/>
              </a:ext>
            </a:extLst>
          </p:cNvPr>
          <p:cNvSpPr>
            <a:spLocks noChangeArrowheads="1"/>
          </p:cNvSpPr>
          <p:nvPr/>
        </p:nvSpPr>
        <p:spPr bwMode="auto">
          <a:xfrm>
            <a:off x="1478323" y="2660652"/>
            <a:ext cx="232436"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out</a:t>
            </a:r>
            <a:endParaRPr lang="en-CA" altLang="en-US" sz="2400">
              <a:latin typeface="Times New Roman" panose="02020603050405020304" pitchFamily="18" charset="0"/>
            </a:endParaRPr>
          </a:p>
        </p:txBody>
      </p:sp>
      <p:sp>
        <p:nvSpPr>
          <p:cNvPr id="9" name="Rectangle 11">
            <a:extLst>
              <a:ext uri="{FF2B5EF4-FFF2-40B4-BE49-F238E27FC236}">
                <a16:creationId xmlns:a16="http://schemas.microsoft.com/office/drawing/2014/main" id="{FA31807C-ADBF-95C4-AF79-B947D2B45C5E}"/>
              </a:ext>
            </a:extLst>
          </p:cNvPr>
          <p:cNvSpPr>
            <a:spLocks noChangeArrowheads="1"/>
          </p:cNvSpPr>
          <p:nvPr/>
        </p:nvSpPr>
        <p:spPr bwMode="auto">
          <a:xfrm>
            <a:off x="1746610" y="2544763"/>
            <a:ext cx="609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10" name="Rectangle 12">
            <a:extLst>
              <a:ext uri="{FF2B5EF4-FFF2-40B4-BE49-F238E27FC236}">
                <a16:creationId xmlns:a16="http://schemas.microsoft.com/office/drawing/2014/main" id="{1F95E6A1-A7C8-5130-CCA7-96B6E4827AAB}"/>
              </a:ext>
            </a:extLst>
          </p:cNvPr>
          <p:cNvSpPr>
            <a:spLocks noChangeArrowheads="1"/>
          </p:cNvSpPr>
          <p:nvPr/>
        </p:nvSpPr>
        <p:spPr bwMode="auto">
          <a:xfrm>
            <a:off x="1946635" y="2544763"/>
            <a:ext cx="48250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latin typeface="Computer Modern" charset="0"/>
              </a:rPr>
              <a:t>MAR</a:t>
            </a:r>
            <a:endParaRPr lang="en-CA" altLang="en-US" sz="2400" dirty="0">
              <a:latin typeface="Times New Roman" panose="02020603050405020304" pitchFamily="18" charset="0"/>
            </a:endParaRPr>
          </a:p>
        </p:txBody>
      </p:sp>
      <p:sp>
        <p:nvSpPr>
          <p:cNvPr id="11" name="Rectangle 13">
            <a:extLst>
              <a:ext uri="{FF2B5EF4-FFF2-40B4-BE49-F238E27FC236}">
                <a16:creationId xmlns:a16="http://schemas.microsoft.com/office/drawing/2014/main" id="{B3CBCCDD-A331-4B9B-B053-F96DE7BC546A}"/>
              </a:ext>
            </a:extLst>
          </p:cNvPr>
          <p:cNvSpPr>
            <a:spLocks noChangeArrowheads="1"/>
          </p:cNvSpPr>
          <p:nvPr/>
        </p:nvSpPr>
        <p:spPr bwMode="auto">
          <a:xfrm>
            <a:off x="2534010" y="2652713"/>
            <a:ext cx="128588"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12" name="Rectangle 14">
            <a:extLst>
              <a:ext uri="{FF2B5EF4-FFF2-40B4-BE49-F238E27FC236}">
                <a16:creationId xmlns:a16="http://schemas.microsoft.com/office/drawing/2014/main" id="{2AB41E34-9FAB-CC2C-EF37-4FF1AE286D62}"/>
              </a:ext>
            </a:extLst>
          </p:cNvPr>
          <p:cNvSpPr>
            <a:spLocks noChangeArrowheads="1"/>
          </p:cNvSpPr>
          <p:nvPr/>
        </p:nvSpPr>
        <p:spPr bwMode="auto">
          <a:xfrm>
            <a:off x="2703873" y="2544763"/>
            <a:ext cx="609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13" name="Rectangle 15">
            <a:extLst>
              <a:ext uri="{FF2B5EF4-FFF2-40B4-BE49-F238E27FC236}">
                <a16:creationId xmlns:a16="http://schemas.microsoft.com/office/drawing/2014/main" id="{F959CE10-7EF4-FB83-BBDE-38F859F520C3}"/>
              </a:ext>
            </a:extLst>
          </p:cNvPr>
          <p:cNvSpPr>
            <a:spLocks noChangeArrowheads="1"/>
          </p:cNvSpPr>
          <p:nvPr/>
        </p:nvSpPr>
        <p:spPr bwMode="auto">
          <a:xfrm>
            <a:off x="2846749" y="2544763"/>
            <a:ext cx="561051"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latin typeface="Computer Modern" charset="0"/>
              </a:rPr>
              <a:t>Read,</a:t>
            </a:r>
          </a:p>
        </p:txBody>
      </p:sp>
      <p:sp>
        <p:nvSpPr>
          <p:cNvPr id="14" name="Rectangle 16">
            <a:extLst>
              <a:ext uri="{FF2B5EF4-FFF2-40B4-BE49-F238E27FC236}">
                <a16:creationId xmlns:a16="http://schemas.microsoft.com/office/drawing/2014/main" id="{0E6B9D1B-3B6F-DFD1-EE0F-7D39C332A00F}"/>
              </a:ext>
            </a:extLst>
          </p:cNvPr>
          <p:cNvSpPr>
            <a:spLocks noChangeArrowheads="1"/>
          </p:cNvSpPr>
          <p:nvPr/>
        </p:nvSpPr>
        <p:spPr bwMode="auto">
          <a:xfrm>
            <a:off x="3534136" y="2544763"/>
            <a:ext cx="780663"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latin typeface="Computer Modern" charset="0"/>
              </a:rPr>
              <a:t>Select4,</a:t>
            </a:r>
          </a:p>
        </p:txBody>
      </p:sp>
      <p:sp>
        <p:nvSpPr>
          <p:cNvPr id="15" name="Rectangle 17">
            <a:extLst>
              <a:ext uri="{FF2B5EF4-FFF2-40B4-BE49-F238E27FC236}">
                <a16:creationId xmlns:a16="http://schemas.microsoft.com/office/drawing/2014/main" id="{DA5E21BC-C2DA-ABDD-FFAD-780280B3F009}"/>
              </a:ext>
            </a:extLst>
          </p:cNvPr>
          <p:cNvSpPr>
            <a:spLocks noChangeArrowheads="1"/>
          </p:cNvSpPr>
          <p:nvPr/>
        </p:nvSpPr>
        <p:spPr bwMode="auto">
          <a:xfrm>
            <a:off x="4388211" y="2544763"/>
            <a:ext cx="458459"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latin typeface="Computer Modern" charset="0"/>
              </a:rPr>
              <a:t>Add,</a:t>
            </a:r>
          </a:p>
        </p:txBody>
      </p:sp>
      <p:sp>
        <p:nvSpPr>
          <p:cNvPr id="16" name="Rectangle 18">
            <a:extLst>
              <a:ext uri="{FF2B5EF4-FFF2-40B4-BE49-F238E27FC236}">
                <a16:creationId xmlns:a16="http://schemas.microsoft.com/office/drawing/2014/main" id="{03FFC9B8-92EF-D187-382C-D0C7524250EC}"/>
              </a:ext>
            </a:extLst>
          </p:cNvPr>
          <p:cNvSpPr>
            <a:spLocks noChangeArrowheads="1"/>
          </p:cNvSpPr>
          <p:nvPr/>
        </p:nvSpPr>
        <p:spPr bwMode="auto">
          <a:xfrm>
            <a:off x="4980348" y="2544763"/>
            <a:ext cx="1138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latin typeface="Computer Modern" charset="0"/>
              </a:rPr>
              <a:t>Z</a:t>
            </a:r>
          </a:p>
        </p:txBody>
      </p:sp>
      <p:sp>
        <p:nvSpPr>
          <p:cNvPr id="17" name="Rectangle 19">
            <a:extLst>
              <a:ext uri="{FF2B5EF4-FFF2-40B4-BE49-F238E27FC236}">
                <a16:creationId xmlns:a16="http://schemas.microsoft.com/office/drawing/2014/main" id="{9A766D23-9E25-A4DC-9F81-53353E701809}"/>
              </a:ext>
            </a:extLst>
          </p:cNvPr>
          <p:cNvSpPr>
            <a:spLocks noChangeArrowheads="1"/>
          </p:cNvSpPr>
          <p:nvPr/>
        </p:nvSpPr>
        <p:spPr bwMode="auto">
          <a:xfrm>
            <a:off x="5142274" y="2641602"/>
            <a:ext cx="1285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18" name="Rectangle 20">
            <a:extLst>
              <a:ext uri="{FF2B5EF4-FFF2-40B4-BE49-F238E27FC236}">
                <a16:creationId xmlns:a16="http://schemas.microsoft.com/office/drawing/2014/main" id="{BB1FE4B9-2052-2A37-9C32-13F3747C49DA}"/>
              </a:ext>
            </a:extLst>
          </p:cNvPr>
          <p:cNvSpPr>
            <a:spLocks noChangeArrowheads="1"/>
          </p:cNvSpPr>
          <p:nvPr/>
        </p:nvSpPr>
        <p:spPr bwMode="auto">
          <a:xfrm>
            <a:off x="381360" y="2971801"/>
            <a:ext cx="123432"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2</a:t>
            </a:r>
            <a:endParaRPr lang="en-CA" altLang="en-US" sz="2400">
              <a:latin typeface="Times New Roman" panose="02020603050405020304" pitchFamily="18" charset="0"/>
            </a:endParaRPr>
          </a:p>
        </p:txBody>
      </p:sp>
      <p:sp>
        <p:nvSpPr>
          <p:cNvPr id="19" name="Rectangle 21">
            <a:extLst>
              <a:ext uri="{FF2B5EF4-FFF2-40B4-BE49-F238E27FC236}">
                <a16:creationId xmlns:a16="http://schemas.microsoft.com/office/drawing/2014/main" id="{278E46BA-E2CD-98FA-0FFD-C0FC4BFC077F}"/>
              </a:ext>
            </a:extLst>
          </p:cNvPr>
          <p:cNvSpPr>
            <a:spLocks noChangeArrowheads="1"/>
          </p:cNvSpPr>
          <p:nvPr/>
        </p:nvSpPr>
        <p:spPr bwMode="auto">
          <a:xfrm>
            <a:off x="1187810" y="2971801"/>
            <a:ext cx="1138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latin typeface="Computer Modern" charset="0"/>
              </a:rPr>
              <a:t>Z</a:t>
            </a:r>
            <a:endParaRPr lang="en-CA" altLang="en-US" sz="2400" dirty="0">
              <a:latin typeface="Times New Roman" panose="02020603050405020304" pitchFamily="18" charset="0"/>
            </a:endParaRPr>
          </a:p>
        </p:txBody>
      </p:sp>
      <p:sp>
        <p:nvSpPr>
          <p:cNvPr id="20" name="Rectangle 22">
            <a:extLst>
              <a:ext uri="{FF2B5EF4-FFF2-40B4-BE49-F238E27FC236}">
                <a16:creationId xmlns:a16="http://schemas.microsoft.com/office/drawing/2014/main" id="{948C104F-7413-2B81-E016-A62FDADC60C0}"/>
              </a:ext>
            </a:extLst>
          </p:cNvPr>
          <p:cNvSpPr>
            <a:spLocks noChangeArrowheads="1"/>
          </p:cNvSpPr>
          <p:nvPr/>
        </p:nvSpPr>
        <p:spPr bwMode="auto">
          <a:xfrm>
            <a:off x="1329098" y="3082927"/>
            <a:ext cx="232436"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dirty="0">
                <a:solidFill>
                  <a:srgbClr val="000000"/>
                </a:solidFill>
                <a:latin typeface="Computer Modern" charset="0"/>
              </a:rPr>
              <a:t>out</a:t>
            </a:r>
            <a:endParaRPr lang="en-CA" altLang="en-US" sz="2400" dirty="0">
              <a:latin typeface="Times New Roman" panose="02020603050405020304" pitchFamily="18" charset="0"/>
            </a:endParaRPr>
          </a:p>
        </p:txBody>
      </p:sp>
      <p:sp>
        <p:nvSpPr>
          <p:cNvPr id="21" name="Rectangle 23">
            <a:extLst>
              <a:ext uri="{FF2B5EF4-FFF2-40B4-BE49-F238E27FC236}">
                <a16:creationId xmlns:a16="http://schemas.microsoft.com/office/drawing/2014/main" id="{B143C067-9121-A0BE-6156-74223A3E6768}"/>
              </a:ext>
            </a:extLst>
          </p:cNvPr>
          <p:cNvSpPr>
            <a:spLocks noChangeArrowheads="1"/>
          </p:cNvSpPr>
          <p:nvPr/>
        </p:nvSpPr>
        <p:spPr bwMode="auto">
          <a:xfrm>
            <a:off x="1570398" y="2971801"/>
            <a:ext cx="609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22" name="Rectangle 24">
            <a:extLst>
              <a:ext uri="{FF2B5EF4-FFF2-40B4-BE49-F238E27FC236}">
                <a16:creationId xmlns:a16="http://schemas.microsoft.com/office/drawing/2014/main" id="{707B659B-167D-BB90-81BA-9C65FF1722D9}"/>
              </a:ext>
            </a:extLst>
          </p:cNvPr>
          <p:cNvSpPr>
            <a:spLocks noChangeArrowheads="1"/>
          </p:cNvSpPr>
          <p:nvPr/>
        </p:nvSpPr>
        <p:spPr bwMode="auto">
          <a:xfrm>
            <a:off x="1756135" y="2971801"/>
            <a:ext cx="256480"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latin typeface="Computer Modern" charset="0"/>
              </a:rPr>
              <a:t>PC</a:t>
            </a:r>
            <a:endParaRPr lang="en-CA" altLang="en-US" sz="2400" dirty="0">
              <a:latin typeface="Times New Roman" panose="02020603050405020304" pitchFamily="18" charset="0"/>
            </a:endParaRPr>
          </a:p>
        </p:txBody>
      </p:sp>
      <p:sp>
        <p:nvSpPr>
          <p:cNvPr id="23" name="Rectangle 25">
            <a:extLst>
              <a:ext uri="{FF2B5EF4-FFF2-40B4-BE49-F238E27FC236}">
                <a16:creationId xmlns:a16="http://schemas.microsoft.com/office/drawing/2014/main" id="{3A518DA1-7558-5921-9E7B-0B76492AD0F6}"/>
              </a:ext>
            </a:extLst>
          </p:cNvPr>
          <p:cNvSpPr>
            <a:spLocks noChangeArrowheads="1"/>
          </p:cNvSpPr>
          <p:nvPr/>
        </p:nvSpPr>
        <p:spPr bwMode="auto">
          <a:xfrm>
            <a:off x="2087924" y="3082927"/>
            <a:ext cx="1285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24" name="Rectangle 26">
            <a:extLst>
              <a:ext uri="{FF2B5EF4-FFF2-40B4-BE49-F238E27FC236}">
                <a16:creationId xmlns:a16="http://schemas.microsoft.com/office/drawing/2014/main" id="{81E18182-5AD3-8CEC-FF21-9C3DA3C31620}"/>
              </a:ext>
            </a:extLst>
          </p:cNvPr>
          <p:cNvSpPr>
            <a:spLocks noChangeArrowheads="1"/>
          </p:cNvSpPr>
          <p:nvPr/>
        </p:nvSpPr>
        <p:spPr bwMode="auto">
          <a:xfrm>
            <a:off x="2259373" y="2971801"/>
            <a:ext cx="609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25" name="Rectangle 27">
            <a:extLst>
              <a:ext uri="{FF2B5EF4-FFF2-40B4-BE49-F238E27FC236}">
                <a16:creationId xmlns:a16="http://schemas.microsoft.com/office/drawing/2014/main" id="{CF828A8B-5718-8338-13B6-996B227EDCC0}"/>
              </a:ext>
            </a:extLst>
          </p:cNvPr>
          <p:cNvSpPr>
            <a:spLocks noChangeArrowheads="1"/>
          </p:cNvSpPr>
          <p:nvPr/>
        </p:nvSpPr>
        <p:spPr bwMode="auto">
          <a:xfrm>
            <a:off x="2443523" y="2971801"/>
            <a:ext cx="118622"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latin typeface="Computer Modern" charset="0"/>
              </a:rPr>
              <a:t>Y</a:t>
            </a:r>
            <a:endParaRPr lang="en-CA" altLang="en-US" sz="2400" dirty="0">
              <a:latin typeface="Times New Roman" panose="02020603050405020304" pitchFamily="18" charset="0"/>
            </a:endParaRPr>
          </a:p>
        </p:txBody>
      </p:sp>
      <p:sp>
        <p:nvSpPr>
          <p:cNvPr id="26" name="Rectangle 28">
            <a:extLst>
              <a:ext uri="{FF2B5EF4-FFF2-40B4-BE49-F238E27FC236}">
                <a16:creationId xmlns:a16="http://schemas.microsoft.com/office/drawing/2014/main" id="{1564E4E2-7142-35E6-489A-59D863E8E16D}"/>
              </a:ext>
            </a:extLst>
          </p:cNvPr>
          <p:cNvSpPr>
            <a:spLocks noChangeArrowheads="1"/>
          </p:cNvSpPr>
          <p:nvPr/>
        </p:nvSpPr>
        <p:spPr bwMode="auto">
          <a:xfrm>
            <a:off x="2610210" y="3082927"/>
            <a:ext cx="128588"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27" name="Rectangle 29">
            <a:extLst>
              <a:ext uri="{FF2B5EF4-FFF2-40B4-BE49-F238E27FC236}">
                <a16:creationId xmlns:a16="http://schemas.microsoft.com/office/drawing/2014/main" id="{9109DB58-D095-429F-41F0-7C01125B3EF9}"/>
              </a:ext>
            </a:extLst>
          </p:cNvPr>
          <p:cNvSpPr>
            <a:spLocks noChangeArrowheads="1"/>
          </p:cNvSpPr>
          <p:nvPr/>
        </p:nvSpPr>
        <p:spPr bwMode="auto">
          <a:xfrm>
            <a:off x="2756260" y="2971801"/>
            <a:ext cx="609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28" name="Rectangle 30">
            <a:extLst>
              <a:ext uri="{FF2B5EF4-FFF2-40B4-BE49-F238E27FC236}">
                <a16:creationId xmlns:a16="http://schemas.microsoft.com/office/drawing/2014/main" id="{6F87C550-3462-DB73-7E9E-9A887B4053E9}"/>
              </a:ext>
            </a:extLst>
          </p:cNvPr>
          <p:cNvSpPr>
            <a:spLocks noChangeArrowheads="1"/>
          </p:cNvSpPr>
          <p:nvPr/>
        </p:nvSpPr>
        <p:spPr bwMode="auto">
          <a:xfrm>
            <a:off x="2941998" y="2971801"/>
            <a:ext cx="537006"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latin typeface="Computer Modern" charset="0"/>
              </a:rPr>
              <a:t>WMF</a:t>
            </a:r>
            <a:endParaRPr lang="en-CA" altLang="en-US" sz="2400" dirty="0">
              <a:latin typeface="Times New Roman" panose="02020603050405020304" pitchFamily="18" charset="0"/>
            </a:endParaRPr>
          </a:p>
        </p:txBody>
      </p:sp>
      <p:sp>
        <p:nvSpPr>
          <p:cNvPr id="29" name="Rectangle 31">
            <a:extLst>
              <a:ext uri="{FF2B5EF4-FFF2-40B4-BE49-F238E27FC236}">
                <a16:creationId xmlns:a16="http://schemas.microsoft.com/office/drawing/2014/main" id="{890A2A66-1690-AF1E-6422-4D3A6A237BE6}"/>
              </a:ext>
            </a:extLst>
          </p:cNvPr>
          <p:cNvSpPr>
            <a:spLocks noChangeArrowheads="1"/>
          </p:cNvSpPr>
          <p:nvPr/>
        </p:nvSpPr>
        <p:spPr bwMode="auto">
          <a:xfrm>
            <a:off x="3557948" y="2971801"/>
            <a:ext cx="12984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latin typeface="Computer Modern" charset="0"/>
              </a:rPr>
              <a:t>C</a:t>
            </a:r>
            <a:endParaRPr lang="en-CA" altLang="en-US" sz="2400" dirty="0">
              <a:latin typeface="Times New Roman" panose="02020603050405020304" pitchFamily="18" charset="0"/>
            </a:endParaRPr>
          </a:p>
        </p:txBody>
      </p:sp>
      <p:sp>
        <p:nvSpPr>
          <p:cNvPr id="30" name="Rectangle 32">
            <a:extLst>
              <a:ext uri="{FF2B5EF4-FFF2-40B4-BE49-F238E27FC236}">
                <a16:creationId xmlns:a16="http://schemas.microsoft.com/office/drawing/2014/main" id="{1AA00DE5-9400-DC0D-CE83-8D290F869BBD}"/>
              </a:ext>
            </a:extLst>
          </p:cNvPr>
          <p:cNvSpPr>
            <a:spLocks noChangeArrowheads="1"/>
          </p:cNvSpPr>
          <p:nvPr/>
        </p:nvSpPr>
        <p:spPr bwMode="auto">
          <a:xfrm>
            <a:off x="381360" y="3375026"/>
            <a:ext cx="123432"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3</a:t>
            </a:r>
            <a:endParaRPr lang="en-CA" altLang="en-US" sz="2400">
              <a:latin typeface="Times New Roman" panose="02020603050405020304" pitchFamily="18" charset="0"/>
            </a:endParaRPr>
          </a:p>
        </p:txBody>
      </p:sp>
      <p:sp>
        <p:nvSpPr>
          <p:cNvPr id="31" name="Rectangle 33">
            <a:extLst>
              <a:ext uri="{FF2B5EF4-FFF2-40B4-BE49-F238E27FC236}">
                <a16:creationId xmlns:a16="http://schemas.microsoft.com/office/drawing/2014/main" id="{916CABDB-A4A0-8BBF-8D2C-41E83781EAF9}"/>
              </a:ext>
            </a:extLst>
          </p:cNvPr>
          <p:cNvSpPr>
            <a:spLocks noChangeArrowheads="1"/>
          </p:cNvSpPr>
          <p:nvPr/>
        </p:nvSpPr>
        <p:spPr bwMode="auto">
          <a:xfrm>
            <a:off x="1187810" y="3375026"/>
            <a:ext cx="492122"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latin typeface="Computer Modern" charset="0"/>
              </a:rPr>
              <a:t>MDR</a:t>
            </a:r>
            <a:endParaRPr lang="en-CA" altLang="en-US" sz="2400" dirty="0">
              <a:latin typeface="Times New Roman" panose="02020603050405020304" pitchFamily="18" charset="0"/>
            </a:endParaRPr>
          </a:p>
        </p:txBody>
      </p:sp>
      <p:sp>
        <p:nvSpPr>
          <p:cNvPr id="32" name="Rectangle 34">
            <a:extLst>
              <a:ext uri="{FF2B5EF4-FFF2-40B4-BE49-F238E27FC236}">
                <a16:creationId xmlns:a16="http://schemas.microsoft.com/office/drawing/2014/main" id="{97B7728B-671F-D983-B081-46FCAD1C665D}"/>
              </a:ext>
            </a:extLst>
          </p:cNvPr>
          <p:cNvSpPr>
            <a:spLocks noChangeArrowheads="1"/>
          </p:cNvSpPr>
          <p:nvPr/>
        </p:nvSpPr>
        <p:spPr bwMode="auto">
          <a:xfrm>
            <a:off x="1756135" y="3502027"/>
            <a:ext cx="230188"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out</a:t>
            </a:r>
            <a:endParaRPr lang="en-CA" altLang="en-US" sz="2400">
              <a:latin typeface="Times New Roman" panose="02020603050405020304" pitchFamily="18" charset="0"/>
            </a:endParaRPr>
          </a:p>
        </p:txBody>
      </p:sp>
      <p:sp>
        <p:nvSpPr>
          <p:cNvPr id="33" name="Rectangle 35">
            <a:extLst>
              <a:ext uri="{FF2B5EF4-FFF2-40B4-BE49-F238E27FC236}">
                <a16:creationId xmlns:a16="http://schemas.microsoft.com/office/drawing/2014/main" id="{4061B67E-194A-E04B-C64B-6B032FFE62C4}"/>
              </a:ext>
            </a:extLst>
          </p:cNvPr>
          <p:cNvSpPr>
            <a:spLocks noChangeArrowheads="1"/>
          </p:cNvSpPr>
          <p:nvPr/>
        </p:nvSpPr>
        <p:spPr bwMode="auto">
          <a:xfrm>
            <a:off x="2040298" y="3375026"/>
            <a:ext cx="609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34" name="Rectangle 36">
            <a:extLst>
              <a:ext uri="{FF2B5EF4-FFF2-40B4-BE49-F238E27FC236}">
                <a16:creationId xmlns:a16="http://schemas.microsoft.com/office/drawing/2014/main" id="{4638ABED-AF6D-902C-6A83-48C1CB9F8247}"/>
              </a:ext>
            </a:extLst>
          </p:cNvPr>
          <p:cNvSpPr>
            <a:spLocks noChangeArrowheads="1"/>
          </p:cNvSpPr>
          <p:nvPr/>
        </p:nvSpPr>
        <p:spPr bwMode="auto">
          <a:xfrm>
            <a:off x="2183173" y="3375026"/>
            <a:ext cx="19396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latin typeface="Computer Modern" charset="0"/>
              </a:rPr>
              <a:t>IR</a:t>
            </a:r>
            <a:endParaRPr lang="en-CA" altLang="en-US" sz="2400" dirty="0">
              <a:latin typeface="Times New Roman" panose="02020603050405020304" pitchFamily="18" charset="0"/>
            </a:endParaRPr>
          </a:p>
        </p:txBody>
      </p:sp>
      <p:sp>
        <p:nvSpPr>
          <p:cNvPr id="35" name="Rectangle 37">
            <a:extLst>
              <a:ext uri="{FF2B5EF4-FFF2-40B4-BE49-F238E27FC236}">
                <a16:creationId xmlns:a16="http://schemas.microsoft.com/office/drawing/2014/main" id="{FCC7D022-D42E-F6C8-EECA-F2A5535F6DC6}"/>
              </a:ext>
            </a:extLst>
          </p:cNvPr>
          <p:cNvSpPr>
            <a:spLocks noChangeArrowheads="1"/>
          </p:cNvSpPr>
          <p:nvPr/>
        </p:nvSpPr>
        <p:spPr bwMode="auto">
          <a:xfrm>
            <a:off x="2443524" y="3502027"/>
            <a:ext cx="1285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36" name="Rectangle 38">
            <a:extLst>
              <a:ext uri="{FF2B5EF4-FFF2-40B4-BE49-F238E27FC236}">
                <a16:creationId xmlns:a16="http://schemas.microsoft.com/office/drawing/2014/main" id="{794ABEDD-339C-599E-35FD-DFA1DB4C1B55}"/>
              </a:ext>
            </a:extLst>
          </p:cNvPr>
          <p:cNvSpPr>
            <a:spLocks noChangeArrowheads="1"/>
          </p:cNvSpPr>
          <p:nvPr/>
        </p:nvSpPr>
        <p:spPr bwMode="auto">
          <a:xfrm>
            <a:off x="381360" y="3802063"/>
            <a:ext cx="123432"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4</a:t>
            </a:r>
            <a:endParaRPr lang="en-CA" altLang="en-US" sz="2400">
              <a:latin typeface="Times New Roman" panose="02020603050405020304" pitchFamily="18" charset="0"/>
            </a:endParaRPr>
          </a:p>
        </p:txBody>
      </p:sp>
      <p:sp>
        <p:nvSpPr>
          <p:cNvPr id="37" name="Rectangle 39">
            <a:extLst>
              <a:ext uri="{FF2B5EF4-FFF2-40B4-BE49-F238E27FC236}">
                <a16:creationId xmlns:a16="http://schemas.microsoft.com/office/drawing/2014/main" id="{75D8DA5E-388E-76A5-024F-96C9CEE600CF}"/>
              </a:ext>
            </a:extLst>
          </p:cNvPr>
          <p:cNvSpPr>
            <a:spLocks noChangeArrowheads="1"/>
          </p:cNvSpPr>
          <p:nvPr/>
        </p:nvSpPr>
        <p:spPr bwMode="auto">
          <a:xfrm>
            <a:off x="1187811" y="3802063"/>
            <a:ext cx="1665521"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latin typeface="Computer Modern" charset="0"/>
              </a:rPr>
              <a:t>Offset-field-of-IR</a:t>
            </a:r>
            <a:endParaRPr lang="en-CA" altLang="en-US" sz="2400" dirty="0">
              <a:latin typeface="Times New Roman" panose="02020603050405020304" pitchFamily="18" charset="0"/>
            </a:endParaRPr>
          </a:p>
        </p:txBody>
      </p:sp>
      <p:sp>
        <p:nvSpPr>
          <p:cNvPr id="38" name="Rectangle 40">
            <a:extLst>
              <a:ext uri="{FF2B5EF4-FFF2-40B4-BE49-F238E27FC236}">
                <a16:creationId xmlns:a16="http://schemas.microsoft.com/office/drawing/2014/main" id="{A847018A-DFBF-DA38-47C3-6514FC636B8B}"/>
              </a:ext>
            </a:extLst>
          </p:cNvPr>
          <p:cNvSpPr>
            <a:spLocks noChangeArrowheads="1"/>
          </p:cNvSpPr>
          <p:nvPr/>
        </p:nvSpPr>
        <p:spPr bwMode="auto">
          <a:xfrm>
            <a:off x="2899135" y="3903663"/>
            <a:ext cx="230188"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out</a:t>
            </a:r>
            <a:endParaRPr lang="en-CA" altLang="en-US" sz="2400">
              <a:latin typeface="Times New Roman" panose="02020603050405020304" pitchFamily="18" charset="0"/>
            </a:endParaRPr>
          </a:p>
        </p:txBody>
      </p:sp>
      <p:sp>
        <p:nvSpPr>
          <p:cNvPr id="39" name="Rectangle 41">
            <a:extLst>
              <a:ext uri="{FF2B5EF4-FFF2-40B4-BE49-F238E27FC236}">
                <a16:creationId xmlns:a16="http://schemas.microsoft.com/office/drawing/2014/main" id="{C433DEAB-A699-57A1-CFB0-CDE49B51CA2D}"/>
              </a:ext>
            </a:extLst>
          </p:cNvPr>
          <p:cNvSpPr>
            <a:spLocks noChangeArrowheads="1"/>
          </p:cNvSpPr>
          <p:nvPr/>
        </p:nvSpPr>
        <p:spPr bwMode="auto">
          <a:xfrm>
            <a:off x="3130910" y="3802063"/>
            <a:ext cx="609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40" name="Rectangle 42">
            <a:extLst>
              <a:ext uri="{FF2B5EF4-FFF2-40B4-BE49-F238E27FC236}">
                <a16:creationId xmlns:a16="http://schemas.microsoft.com/office/drawing/2014/main" id="{B44D3EB9-C728-A6D1-80BA-9EA1132C6EC4}"/>
              </a:ext>
            </a:extLst>
          </p:cNvPr>
          <p:cNvSpPr>
            <a:spLocks noChangeArrowheads="1"/>
          </p:cNvSpPr>
          <p:nvPr/>
        </p:nvSpPr>
        <p:spPr bwMode="auto">
          <a:xfrm>
            <a:off x="3345224" y="3802063"/>
            <a:ext cx="458459"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latin typeface="Computer Modern" charset="0"/>
              </a:rPr>
              <a:t>Add,</a:t>
            </a:r>
            <a:endParaRPr lang="en-CA" altLang="en-US" sz="2400" dirty="0">
              <a:latin typeface="Times New Roman" panose="02020603050405020304" pitchFamily="18" charset="0"/>
            </a:endParaRPr>
          </a:p>
        </p:txBody>
      </p:sp>
      <p:sp>
        <p:nvSpPr>
          <p:cNvPr id="41" name="Rectangle 43">
            <a:extLst>
              <a:ext uri="{FF2B5EF4-FFF2-40B4-BE49-F238E27FC236}">
                <a16:creationId xmlns:a16="http://schemas.microsoft.com/office/drawing/2014/main" id="{5A32CD03-5A9D-4508-83DF-737748BF6688}"/>
              </a:ext>
            </a:extLst>
          </p:cNvPr>
          <p:cNvSpPr>
            <a:spLocks noChangeArrowheads="1"/>
          </p:cNvSpPr>
          <p:nvPr/>
        </p:nvSpPr>
        <p:spPr bwMode="auto">
          <a:xfrm>
            <a:off x="3937360" y="3802063"/>
            <a:ext cx="1138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latin typeface="Computer Modern" charset="0"/>
              </a:rPr>
              <a:t>Z</a:t>
            </a:r>
            <a:endParaRPr lang="en-CA" altLang="en-US" sz="2400" dirty="0">
              <a:latin typeface="Times New Roman" panose="02020603050405020304" pitchFamily="18" charset="0"/>
            </a:endParaRPr>
          </a:p>
        </p:txBody>
      </p:sp>
      <p:sp>
        <p:nvSpPr>
          <p:cNvPr id="42" name="Rectangle 44">
            <a:extLst>
              <a:ext uri="{FF2B5EF4-FFF2-40B4-BE49-F238E27FC236}">
                <a16:creationId xmlns:a16="http://schemas.microsoft.com/office/drawing/2014/main" id="{A65CB23E-1B83-3913-2DB2-49F429EEE841}"/>
              </a:ext>
            </a:extLst>
          </p:cNvPr>
          <p:cNvSpPr>
            <a:spLocks noChangeArrowheads="1"/>
          </p:cNvSpPr>
          <p:nvPr/>
        </p:nvSpPr>
        <p:spPr bwMode="auto">
          <a:xfrm>
            <a:off x="4099285" y="3903663"/>
            <a:ext cx="128588" cy="198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43" name="Rectangle 45">
            <a:extLst>
              <a:ext uri="{FF2B5EF4-FFF2-40B4-BE49-F238E27FC236}">
                <a16:creationId xmlns:a16="http://schemas.microsoft.com/office/drawing/2014/main" id="{DCED64E9-8078-C177-8EDF-0DB923D86224}"/>
              </a:ext>
            </a:extLst>
          </p:cNvPr>
          <p:cNvSpPr>
            <a:spLocks noChangeArrowheads="1"/>
          </p:cNvSpPr>
          <p:nvPr/>
        </p:nvSpPr>
        <p:spPr bwMode="auto">
          <a:xfrm>
            <a:off x="381360" y="4227513"/>
            <a:ext cx="123432"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5</a:t>
            </a:r>
            <a:endParaRPr lang="en-CA" altLang="en-US" sz="2400">
              <a:latin typeface="Times New Roman" panose="02020603050405020304" pitchFamily="18" charset="0"/>
            </a:endParaRPr>
          </a:p>
        </p:txBody>
      </p:sp>
      <p:sp>
        <p:nvSpPr>
          <p:cNvPr id="44" name="Rectangle 46">
            <a:extLst>
              <a:ext uri="{FF2B5EF4-FFF2-40B4-BE49-F238E27FC236}">
                <a16:creationId xmlns:a16="http://schemas.microsoft.com/office/drawing/2014/main" id="{07B37BB3-B350-7116-6A8F-B361BF4A744A}"/>
              </a:ext>
            </a:extLst>
          </p:cNvPr>
          <p:cNvSpPr>
            <a:spLocks noChangeArrowheads="1"/>
          </p:cNvSpPr>
          <p:nvPr/>
        </p:nvSpPr>
        <p:spPr bwMode="auto">
          <a:xfrm>
            <a:off x="1187810" y="4227513"/>
            <a:ext cx="1138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solidFill>
                  <a:srgbClr val="FF0000"/>
                </a:solidFill>
                <a:latin typeface="Computer Modern" charset="0"/>
              </a:rPr>
              <a:t>Z</a:t>
            </a:r>
            <a:endParaRPr lang="en-CA" altLang="en-US" sz="2400" dirty="0">
              <a:solidFill>
                <a:srgbClr val="FF0000"/>
              </a:solidFill>
              <a:latin typeface="Times New Roman" panose="02020603050405020304" pitchFamily="18" charset="0"/>
            </a:endParaRPr>
          </a:p>
        </p:txBody>
      </p:sp>
      <p:sp>
        <p:nvSpPr>
          <p:cNvPr id="45" name="Rectangle 47">
            <a:extLst>
              <a:ext uri="{FF2B5EF4-FFF2-40B4-BE49-F238E27FC236}">
                <a16:creationId xmlns:a16="http://schemas.microsoft.com/office/drawing/2014/main" id="{4C440392-2619-C677-D207-7E235F2B817C}"/>
              </a:ext>
            </a:extLst>
          </p:cNvPr>
          <p:cNvSpPr>
            <a:spLocks noChangeArrowheads="1"/>
          </p:cNvSpPr>
          <p:nvPr/>
        </p:nvSpPr>
        <p:spPr bwMode="auto">
          <a:xfrm>
            <a:off x="1352249" y="4340792"/>
            <a:ext cx="232436"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out</a:t>
            </a:r>
            <a:endParaRPr lang="en-CA" altLang="en-US" sz="2400">
              <a:latin typeface="Times New Roman" panose="02020603050405020304" pitchFamily="18" charset="0"/>
            </a:endParaRPr>
          </a:p>
        </p:txBody>
      </p:sp>
      <p:sp>
        <p:nvSpPr>
          <p:cNvPr id="46" name="Rectangle 48">
            <a:extLst>
              <a:ext uri="{FF2B5EF4-FFF2-40B4-BE49-F238E27FC236}">
                <a16:creationId xmlns:a16="http://schemas.microsoft.com/office/drawing/2014/main" id="{99D6FAD5-221D-1BEA-E579-FA6AC5D619BF}"/>
              </a:ext>
            </a:extLst>
          </p:cNvPr>
          <p:cNvSpPr>
            <a:spLocks noChangeArrowheads="1"/>
          </p:cNvSpPr>
          <p:nvPr/>
        </p:nvSpPr>
        <p:spPr bwMode="auto">
          <a:xfrm>
            <a:off x="1584685" y="4227513"/>
            <a:ext cx="609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47" name="Rectangle 49">
            <a:extLst>
              <a:ext uri="{FF2B5EF4-FFF2-40B4-BE49-F238E27FC236}">
                <a16:creationId xmlns:a16="http://schemas.microsoft.com/office/drawing/2014/main" id="{D54A0488-E4AF-B0EB-B753-90E0EB2DF0A0}"/>
              </a:ext>
            </a:extLst>
          </p:cNvPr>
          <p:cNvSpPr>
            <a:spLocks noChangeArrowheads="1"/>
          </p:cNvSpPr>
          <p:nvPr/>
        </p:nvSpPr>
        <p:spPr bwMode="auto">
          <a:xfrm>
            <a:off x="1756135" y="4227513"/>
            <a:ext cx="256480"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solidFill>
                  <a:srgbClr val="FF0000"/>
                </a:solidFill>
                <a:latin typeface="Computer Modern" charset="0"/>
              </a:rPr>
              <a:t>PC</a:t>
            </a:r>
            <a:endParaRPr lang="en-CA" altLang="en-US" sz="2400" dirty="0">
              <a:solidFill>
                <a:srgbClr val="FF0000"/>
              </a:solidFill>
              <a:latin typeface="Times New Roman" panose="02020603050405020304" pitchFamily="18" charset="0"/>
            </a:endParaRPr>
          </a:p>
        </p:txBody>
      </p:sp>
      <p:sp>
        <p:nvSpPr>
          <p:cNvPr id="48" name="Rectangle 50">
            <a:extLst>
              <a:ext uri="{FF2B5EF4-FFF2-40B4-BE49-F238E27FC236}">
                <a16:creationId xmlns:a16="http://schemas.microsoft.com/office/drawing/2014/main" id="{A01B8346-9FFB-3508-1478-7AC1E70CE041}"/>
              </a:ext>
            </a:extLst>
          </p:cNvPr>
          <p:cNvSpPr>
            <a:spLocks noChangeArrowheads="1"/>
          </p:cNvSpPr>
          <p:nvPr/>
        </p:nvSpPr>
        <p:spPr bwMode="auto">
          <a:xfrm>
            <a:off x="2068874" y="4330702"/>
            <a:ext cx="128587"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300">
                <a:solidFill>
                  <a:srgbClr val="000000"/>
                </a:solidFill>
                <a:latin typeface="Computer Modern" charset="0"/>
              </a:rPr>
              <a:t>in</a:t>
            </a:r>
            <a:endParaRPr lang="en-CA" altLang="en-US" sz="2400">
              <a:latin typeface="Times New Roman" panose="02020603050405020304" pitchFamily="18" charset="0"/>
            </a:endParaRPr>
          </a:p>
        </p:txBody>
      </p:sp>
      <p:sp>
        <p:nvSpPr>
          <p:cNvPr id="49" name="Rectangle 51">
            <a:extLst>
              <a:ext uri="{FF2B5EF4-FFF2-40B4-BE49-F238E27FC236}">
                <a16:creationId xmlns:a16="http://schemas.microsoft.com/office/drawing/2014/main" id="{B39431D4-66D4-7D7A-9432-29EF3704C270}"/>
              </a:ext>
            </a:extLst>
          </p:cNvPr>
          <p:cNvSpPr>
            <a:spLocks noChangeArrowheads="1"/>
          </p:cNvSpPr>
          <p:nvPr/>
        </p:nvSpPr>
        <p:spPr bwMode="auto">
          <a:xfrm>
            <a:off x="2230798" y="4227513"/>
            <a:ext cx="60914"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a:solidFill>
                  <a:srgbClr val="000000"/>
                </a:solidFill>
                <a:latin typeface="Computer Modern" charset="0"/>
              </a:rPr>
              <a:t>,</a:t>
            </a:r>
            <a:endParaRPr lang="en-CA" altLang="en-US" sz="2400">
              <a:latin typeface="Times New Roman" panose="02020603050405020304" pitchFamily="18" charset="0"/>
            </a:endParaRPr>
          </a:p>
        </p:txBody>
      </p:sp>
      <p:sp>
        <p:nvSpPr>
          <p:cNvPr id="50" name="Rectangle 52">
            <a:extLst>
              <a:ext uri="{FF2B5EF4-FFF2-40B4-BE49-F238E27FC236}">
                <a16:creationId xmlns:a16="http://schemas.microsoft.com/office/drawing/2014/main" id="{AA380096-4FC5-C104-C4BD-53D6B5580663}"/>
              </a:ext>
            </a:extLst>
          </p:cNvPr>
          <p:cNvSpPr>
            <a:spLocks noChangeArrowheads="1"/>
          </p:cNvSpPr>
          <p:nvPr/>
        </p:nvSpPr>
        <p:spPr bwMode="auto">
          <a:xfrm>
            <a:off x="2443524" y="4227513"/>
            <a:ext cx="375103" cy="2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CA" altLang="en-US" sz="1900" dirty="0">
                <a:solidFill>
                  <a:srgbClr val="FF0000"/>
                </a:solidFill>
                <a:latin typeface="Computer Modern" charset="0"/>
              </a:rPr>
              <a:t>End</a:t>
            </a:r>
            <a:endParaRPr lang="en-CA" altLang="en-US" sz="2400" dirty="0">
              <a:solidFill>
                <a:srgbClr val="FF0000"/>
              </a:solidFill>
              <a:latin typeface="Times New Roman" panose="02020603050405020304" pitchFamily="18" charset="0"/>
            </a:endParaRPr>
          </a:p>
        </p:txBody>
      </p:sp>
      <p:sp>
        <p:nvSpPr>
          <p:cNvPr id="51" name="Rectangle 53">
            <a:extLst>
              <a:ext uri="{FF2B5EF4-FFF2-40B4-BE49-F238E27FC236}">
                <a16:creationId xmlns:a16="http://schemas.microsoft.com/office/drawing/2014/main" id="{A17013F6-B577-8EB8-833C-1B31DA9262CA}"/>
              </a:ext>
            </a:extLst>
          </p:cNvPr>
          <p:cNvSpPr>
            <a:spLocks noChangeArrowheads="1"/>
          </p:cNvSpPr>
          <p:nvPr/>
        </p:nvSpPr>
        <p:spPr bwMode="auto">
          <a:xfrm>
            <a:off x="381360" y="4773613"/>
            <a:ext cx="4954588" cy="1588"/>
          </a:xfrm>
          <a:prstGeom prst="rect">
            <a:avLst/>
          </a:prstGeom>
          <a:solidFill>
            <a:srgbClr val="000000"/>
          </a:solidFill>
          <a:ln w="0">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52" name="Arrow: Down 51">
            <a:extLst>
              <a:ext uri="{FF2B5EF4-FFF2-40B4-BE49-F238E27FC236}">
                <a16:creationId xmlns:a16="http://schemas.microsoft.com/office/drawing/2014/main" id="{C052947D-AB91-6E08-3702-25FFB1A7E2D3}"/>
              </a:ext>
            </a:extLst>
          </p:cNvPr>
          <p:cNvSpPr/>
          <p:nvPr/>
        </p:nvSpPr>
        <p:spPr>
          <a:xfrm>
            <a:off x="9303316" y="782425"/>
            <a:ext cx="200386" cy="5938885"/>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7" name="Group 56">
            <a:extLst>
              <a:ext uri="{FF2B5EF4-FFF2-40B4-BE49-F238E27FC236}">
                <a16:creationId xmlns:a16="http://schemas.microsoft.com/office/drawing/2014/main" id="{4BACC468-CE96-DA8F-4479-540768771655}"/>
              </a:ext>
            </a:extLst>
          </p:cNvPr>
          <p:cNvGrpSpPr/>
          <p:nvPr/>
        </p:nvGrpSpPr>
        <p:grpSpPr>
          <a:xfrm>
            <a:off x="5943600" y="207390"/>
            <a:ext cx="5562012" cy="7029765"/>
            <a:chOff x="5943600" y="207390"/>
            <a:chExt cx="5562012" cy="7029765"/>
          </a:xfrm>
        </p:grpSpPr>
        <p:pic>
          <p:nvPicPr>
            <p:cNvPr id="35844" name="Picture 4" descr="figure7">
              <a:extLst>
                <a:ext uri="{FF2B5EF4-FFF2-40B4-BE49-F238E27FC236}">
                  <a16:creationId xmlns:a16="http://schemas.microsoft.com/office/drawing/2014/main" id="{78E91BB7-2543-B620-70C9-1D8942E843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3600" y="207390"/>
              <a:ext cx="5562012" cy="70297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 name="Arrow: Right 53">
              <a:extLst>
                <a:ext uri="{FF2B5EF4-FFF2-40B4-BE49-F238E27FC236}">
                  <a16:creationId xmlns:a16="http://schemas.microsoft.com/office/drawing/2014/main" id="{E2EC8098-C0AF-6CCA-5342-3600869125D6}"/>
                </a:ext>
              </a:extLst>
            </p:cNvPr>
            <p:cNvSpPr/>
            <p:nvPr/>
          </p:nvSpPr>
          <p:spPr>
            <a:xfrm rot="10800000" flipV="1">
              <a:off x="8643940" y="974635"/>
              <a:ext cx="668363" cy="192460"/>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Arrow: Right 52">
              <a:extLst>
                <a:ext uri="{FF2B5EF4-FFF2-40B4-BE49-F238E27FC236}">
                  <a16:creationId xmlns:a16="http://schemas.microsoft.com/office/drawing/2014/main" id="{5BDB84E9-6EA0-F085-F3B5-213F8152D9FA}"/>
                </a:ext>
              </a:extLst>
            </p:cNvPr>
            <p:cNvSpPr/>
            <p:nvPr/>
          </p:nvSpPr>
          <p:spPr>
            <a:xfrm rot="10800000" flipH="1">
              <a:off x="8643940" y="5832695"/>
              <a:ext cx="659375" cy="155292"/>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33860708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200FAB62-E249-6F43-24C2-A4117F94FBFD}"/>
              </a:ext>
            </a:extLst>
          </p:cNvPr>
          <p:cNvSpPr>
            <a:spLocks noGrp="1" noChangeArrowheads="1"/>
          </p:cNvSpPr>
          <p:nvPr>
            <p:ph type="title"/>
          </p:nvPr>
        </p:nvSpPr>
        <p:spPr>
          <a:xfrm>
            <a:off x="320511" y="179110"/>
            <a:ext cx="11033289" cy="414780"/>
          </a:xfrm>
        </p:spPr>
        <p:txBody>
          <a:bodyPr>
            <a:normAutofit fontScale="90000"/>
          </a:bodyPr>
          <a:lstStyle/>
          <a:p>
            <a:r>
              <a:rPr lang="en-US" altLang="en-US" sz="2400" b="1" dirty="0"/>
              <a:t>Multiple-Bus Organization</a:t>
            </a:r>
          </a:p>
        </p:txBody>
      </p:sp>
      <p:pic>
        <p:nvPicPr>
          <p:cNvPr id="36867" name="Picture 4" descr="figure7">
            <a:extLst>
              <a:ext uri="{FF2B5EF4-FFF2-40B4-BE49-F238E27FC236}">
                <a16:creationId xmlns:a16="http://schemas.microsoft.com/office/drawing/2014/main" id="{124A67B4-116D-463F-0DAA-373D65B8E2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75352" y="179110"/>
            <a:ext cx="6352251" cy="7249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3">
            <a:extLst>
              <a:ext uri="{FF2B5EF4-FFF2-40B4-BE49-F238E27FC236}">
                <a16:creationId xmlns:a16="http://schemas.microsoft.com/office/drawing/2014/main" id="{5E028BB6-FA1C-52BC-9D06-C599DC334B48}"/>
              </a:ext>
            </a:extLst>
          </p:cNvPr>
          <p:cNvSpPr txBox="1">
            <a:spLocks noChangeArrowheads="1"/>
          </p:cNvSpPr>
          <p:nvPr/>
        </p:nvSpPr>
        <p:spPr>
          <a:xfrm>
            <a:off x="64397" y="1669775"/>
            <a:ext cx="9242457" cy="33813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lnSpc>
                <a:spcPct val="80000"/>
              </a:lnSpc>
              <a:buFont typeface="Arial"/>
              <a:buNone/>
            </a:pPr>
            <a:r>
              <a:rPr lang="en-US" altLang="en-US" sz="2400" dirty="0"/>
              <a:t>Add R4, R5, R6</a:t>
            </a:r>
          </a:p>
        </p:txBody>
      </p:sp>
      <p:pic>
        <p:nvPicPr>
          <p:cNvPr id="4" name="Picture 3">
            <a:extLst>
              <a:ext uri="{FF2B5EF4-FFF2-40B4-BE49-F238E27FC236}">
                <a16:creationId xmlns:a16="http://schemas.microsoft.com/office/drawing/2014/main" id="{FC07A006-7464-A9E5-9DDF-8E4CE0E3836C}"/>
              </a:ext>
            </a:extLst>
          </p:cNvPr>
          <p:cNvPicPr>
            <a:picLocks noChangeAspect="1"/>
          </p:cNvPicPr>
          <p:nvPr/>
        </p:nvPicPr>
        <p:blipFill>
          <a:blip r:embed="rId4"/>
          <a:stretch>
            <a:fillRect/>
          </a:stretch>
        </p:blipFill>
        <p:spPr>
          <a:xfrm>
            <a:off x="-1" y="2337846"/>
            <a:ext cx="5731381" cy="3129699"/>
          </a:xfrm>
          <a:prstGeom prst="rect">
            <a:avLst/>
          </a:prstGeom>
        </p:spPr>
      </p:pic>
    </p:spTree>
    <p:extLst>
      <p:ext uri="{BB962C8B-B14F-4D97-AF65-F5344CB8AC3E}">
        <p14:creationId xmlns:p14="http://schemas.microsoft.com/office/powerpoint/2010/main" val="290024505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200FAB62-E249-6F43-24C2-A4117F94FBFD}"/>
              </a:ext>
            </a:extLst>
          </p:cNvPr>
          <p:cNvSpPr>
            <a:spLocks noGrp="1" noChangeArrowheads="1"/>
          </p:cNvSpPr>
          <p:nvPr>
            <p:ph type="title"/>
          </p:nvPr>
        </p:nvSpPr>
        <p:spPr>
          <a:xfrm>
            <a:off x="320511" y="179110"/>
            <a:ext cx="11033289" cy="414780"/>
          </a:xfrm>
        </p:spPr>
        <p:txBody>
          <a:bodyPr>
            <a:normAutofit fontScale="90000"/>
          </a:bodyPr>
          <a:lstStyle/>
          <a:p>
            <a:r>
              <a:rPr lang="en-US" altLang="en-US" sz="2400" b="1" dirty="0"/>
              <a:t>Multiple-Bus Organization</a:t>
            </a:r>
          </a:p>
        </p:txBody>
      </p:sp>
      <p:pic>
        <p:nvPicPr>
          <p:cNvPr id="36867" name="Picture 4" descr="figure7">
            <a:extLst>
              <a:ext uri="{FF2B5EF4-FFF2-40B4-BE49-F238E27FC236}">
                <a16:creationId xmlns:a16="http://schemas.microsoft.com/office/drawing/2014/main" id="{124A67B4-116D-463F-0DAA-373D65B8E2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75352" y="179110"/>
            <a:ext cx="6352251" cy="7249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3">
            <a:extLst>
              <a:ext uri="{FF2B5EF4-FFF2-40B4-BE49-F238E27FC236}">
                <a16:creationId xmlns:a16="http://schemas.microsoft.com/office/drawing/2014/main" id="{5E028BB6-FA1C-52BC-9D06-C599DC334B48}"/>
              </a:ext>
            </a:extLst>
          </p:cNvPr>
          <p:cNvSpPr txBox="1">
            <a:spLocks noChangeArrowheads="1"/>
          </p:cNvSpPr>
          <p:nvPr/>
        </p:nvSpPr>
        <p:spPr>
          <a:xfrm>
            <a:off x="64397" y="1669775"/>
            <a:ext cx="9242457" cy="33813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lnSpc>
                <a:spcPct val="80000"/>
              </a:lnSpc>
              <a:buFont typeface="Arial"/>
              <a:buNone/>
            </a:pPr>
            <a:r>
              <a:rPr lang="en-US" altLang="en-US" sz="2400" dirty="0"/>
              <a:t>Add R4, R5, R6</a:t>
            </a:r>
          </a:p>
        </p:txBody>
      </p:sp>
      <p:pic>
        <p:nvPicPr>
          <p:cNvPr id="4" name="Picture 3">
            <a:extLst>
              <a:ext uri="{FF2B5EF4-FFF2-40B4-BE49-F238E27FC236}">
                <a16:creationId xmlns:a16="http://schemas.microsoft.com/office/drawing/2014/main" id="{FC07A006-7464-A9E5-9DDF-8E4CE0E3836C}"/>
              </a:ext>
            </a:extLst>
          </p:cNvPr>
          <p:cNvPicPr>
            <a:picLocks noChangeAspect="1"/>
          </p:cNvPicPr>
          <p:nvPr/>
        </p:nvPicPr>
        <p:blipFill>
          <a:blip r:embed="rId4"/>
          <a:stretch>
            <a:fillRect/>
          </a:stretch>
        </p:blipFill>
        <p:spPr>
          <a:xfrm>
            <a:off x="-1" y="2337846"/>
            <a:ext cx="5731381" cy="3129699"/>
          </a:xfrm>
          <a:prstGeom prst="rect">
            <a:avLst/>
          </a:prstGeom>
        </p:spPr>
      </p:pic>
      <p:cxnSp>
        <p:nvCxnSpPr>
          <p:cNvPr id="6" name="Straight Connector 5">
            <a:extLst>
              <a:ext uri="{FF2B5EF4-FFF2-40B4-BE49-F238E27FC236}">
                <a16:creationId xmlns:a16="http://schemas.microsoft.com/office/drawing/2014/main" id="{B3FD5353-38E3-1ED6-38B9-9E89B797F0C0}"/>
              </a:ext>
            </a:extLst>
          </p:cNvPr>
          <p:cNvCxnSpPr/>
          <p:nvPr/>
        </p:nvCxnSpPr>
        <p:spPr>
          <a:xfrm>
            <a:off x="1178351" y="3751868"/>
            <a:ext cx="357275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2A99E614-DA36-5538-26C9-2BCA17B0D94F}"/>
              </a:ext>
            </a:extLst>
          </p:cNvPr>
          <p:cNvGrpSpPr/>
          <p:nvPr/>
        </p:nvGrpSpPr>
        <p:grpSpPr>
          <a:xfrm>
            <a:off x="7097444" y="386500"/>
            <a:ext cx="4789104" cy="6221689"/>
            <a:chOff x="7097444" y="386500"/>
            <a:chExt cx="4789104" cy="6221689"/>
          </a:xfrm>
        </p:grpSpPr>
        <p:sp>
          <p:nvSpPr>
            <p:cNvPr id="7" name="Arrow: Down 6">
              <a:extLst>
                <a:ext uri="{FF2B5EF4-FFF2-40B4-BE49-F238E27FC236}">
                  <a16:creationId xmlns:a16="http://schemas.microsoft.com/office/drawing/2014/main" id="{740860D9-9081-AACE-2D21-9F7814C41531}"/>
                </a:ext>
              </a:extLst>
            </p:cNvPr>
            <p:cNvSpPr/>
            <p:nvPr/>
          </p:nvSpPr>
          <p:spPr>
            <a:xfrm>
              <a:off x="7097444" y="669304"/>
              <a:ext cx="200386" cy="5938885"/>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rrow: Right 7">
              <a:extLst>
                <a:ext uri="{FF2B5EF4-FFF2-40B4-BE49-F238E27FC236}">
                  <a16:creationId xmlns:a16="http://schemas.microsoft.com/office/drawing/2014/main" id="{5A3388A7-BDAD-6384-D527-92FB948AA3B2}"/>
                </a:ext>
              </a:extLst>
            </p:cNvPr>
            <p:cNvSpPr/>
            <p:nvPr/>
          </p:nvSpPr>
          <p:spPr>
            <a:xfrm rot="10800000">
              <a:off x="7297830" y="1093507"/>
              <a:ext cx="1723622" cy="131976"/>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Right 8">
              <a:extLst>
                <a:ext uri="{FF2B5EF4-FFF2-40B4-BE49-F238E27FC236}">
                  <a16:creationId xmlns:a16="http://schemas.microsoft.com/office/drawing/2014/main" id="{04A892B6-9A50-712A-7F45-E11926D96F72}"/>
                </a:ext>
              </a:extLst>
            </p:cNvPr>
            <p:cNvSpPr/>
            <p:nvPr/>
          </p:nvSpPr>
          <p:spPr>
            <a:xfrm rot="10800000" flipH="1">
              <a:off x="7297919" y="3593178"/>
              <a:ext cx="1874362" cy="102128"/>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Right 9">
              <a:extLst>
                <a:ext uri="{FF2B5EF4-FFF2-40B4-BE49-F238E27FC236}">
                  <a16:creationId xmlns:a16="http://schemas.microsoft.com/office/drawing/2014/main" id="{E6D26567-1BB3-746C-3E15-DCAE2152D57B}"/>
                </a:ext>
              </a:extLst>
            </p:cNvPr>
            <p:cNvSpPr/>
            <p:nvPr/>
          </p:nvSpPr>
          <p:spPr>
            <a:xfrm rot="10005644" flipH="1">
              <a:off x="9276381" y="3472587"/>
              <a:ext cx="1189476" cy="104916"/>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Right 10">
              <a:extLst>
                <a:ext uri="{FF2B5EF4-FFF2-40B4-BE49-F238E27FC236}">
                  <a16:creationId xmlns:a16="http://schemas.microsoft.com/office/drawing/2014/main" id="{BAD9D10A-7CC4-3D49-EA96-B960AD40DFEB}"/>
                </a:ext>
              </a:extLst>
            </p:cNvPr>
            <p:cNvSpPr/>
            <p:nvPr/>
          </p:nvSpPr>
          <p:spPr>
            <a:xfrm rot="10800000" flipH="1">
              <a:off x="10617092" y="3208833"/>
              <a:ext cx="1080939" cy="213781"/>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Down 11">
              <a:extLst>
                <a:ext uri="{FF2B5EF4-FFF2-40B4-BE49-F238E27FC236}">
                  <a16:creationId xmlns:a16="http://schemas.microsoft.com/office/drawing/2014/main" id="{1D7D3E06-CE8B-6CB8-6DAE-DFC67A823E76}"/>
                </a:ext>
              </a:extLst>
            </p:cNvPr>
            <p:cNvSpPr/>
            <p:nvPr/>
          </p:nvSpPr>
          <p:spPr>
            <a:xfrm rot="10800000">
              <a:off x="11686162" y="386500"/>
              <a:ext cx="200386" cy="5938885"/>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Right 12">
              <a:extLst>
                <a:ext uri="{FF2B5EF4-FFF2-40B4-BE49-F238E27FC236}">
                  <a16:creationId xmlns:a16="http://schemas.microsoft.com/office/drawing/2014/main" id="{DC003149-944A-6D72-CFFF-0EC0CE6CABA6}"/>
                </a:ext>
              </a:extLst>
            </p:cNvPr>
            <p:cNvSpPr/>
            <p:nvPr/>
          </p:nvSpPr>
          <p:spPr>
            <a:xfrm flipH="1">
              <a:off x="10746557" y="5978634"/>
              <a:ext cx="939605" cy="213782"/>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Arrow: Right 13">
              <a:extLst>
                <a:ext uri="{FF2B5EF4-FFF2-40B4-BE49-F238E27FC236}">
                  <a16:creationId xmlns:a16="http://schemas.microsoft.com/office/drawing/2014/main" id="{D682BD52-2E5D-E323-3341-148628C70311}"/>
                </a:ext>
              </a:extLst>
            </p:cNvPr>
            <p:cNvSpPr/>
            <p:nvPr/>
          </p:nvSpPr>
          <p:spPr>
            <a:xfrm rot="10800000" flipH="1">
              <a:off x="7431957" y="2770266"/>
              <a:ext cx="636481" cy="102127"/>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row: Right 14">
              <a:extLst>
                <a:ext uri="{FF2B5EF4-FFF2-40B4-BE49-F238E27FC236}">
                  <a16:creationId xmlns:a16="http://schemas.microsoft.com/office/drawing/2014/main" id="{D9C40567-D4EC-39FC-7EFC-C6F44811AC85}"/>
                </a:ext>
              </a:extLst>
            </p:cNvPr>
            <p:cNvSpPr/>
            <p:nvPr/>
          </p:nvSpPr>
          <p:spPr>
            <a:xfrm rot="10800000" flipH="1">
              <a:off x="8548450" y="2999313"/>
              <a:ext cx="636481" cy="102127"/>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200FAB62-E249-6F43-24C2-A4117F94FBFD}"/>
              </a:ext>
            </a:extLst>
          </p:cNvPr>
          <p:cNvSpPr>
            <a:spLocks noGrp="1" noChangeArrowheads="1"/>
          </p:cNvSpPr>
          <p:nvPr>
            <p:ph type="title"/>
          </p:nvPr>
        </p:nvSpPr>
        <p:spPr>
          <a:xfrm>
            <a:off x="320511" y="179110"/>
            <a:ext cx="11033289" cy="414780"/>
          </a:xfrm>
        </p:spPr>
        <p:txBody>
          <a:bodyPr>
            <a:normAutofit fontScale="90000"/>
          </a:bodyPr>
          <a:lstStyle/>
          <a:p>
            <a:r>
              <a:rPr lang="en-US" altLang="en-US" sz="2400" b="1" dirty="0"/>
              <a:t>Multiple-Bus Organization</a:t>
            </a:r>
          </a:p>
        </p:txBody>
      </p:sp>
      <p:pic>
        <p:nvPicPr>
          <p:cNvPr id="4" name="Picture 3">
            <a:extLst>
              <a:ext uri="{FF2B5EF4-FFF2-40B4-BE49-F238E27FC236}">
                <a16:creationId xmlns:a16="http://schemas.microsoft.com/office/drawing/2014/main" id="{FC07A006-7464-A9E5-9DDF-8E4CE0E3836C}"/>
              </a:ext>
            </a:extLst>
          </p:cNvPr>
          <p:cNvPicPr>
            <a:picLocks noChangeAspect="1"/>
          </p:cNvPicPr>
          <p:nvPr/>
        </p:nvPicPr>
        <p:blipFill>
          <a:blip r:embed="rId3"/>
          <a:stretch>
            <a:fillRect/>
          </a:stretch>
        </p:blipFill>
        <p:spPr>
          <a:xfrm>
            <a:off x="-1" y="2337846"/>
            <a:ext cx="5731381" cy="3129699"/>
          </a:xfrm>
          <a:prstGeom prst="rect">
            <a:avLst/>
          </a:prstGeom>
        </p:spPr>
      </p:pic>
      <p:cxnSp>
        <p:nvCxnSpPr>
          <p:cNvPr id="6" name="Straight Connector 5">
            <a:extLst>
              <a:ext uri="{FF2B5EF4-FFF2-40B4-BE49-F238E27FC236}">
                <a16:creationId xmlns:a16="http://schemas.microsoft.com/office/drawing/2014/main" id="{B3FD5353-38E3-1ED6-38B9-9E89B797F0C0}"/>
              </a:ext>
            </a:extLst>
          </p:cNvPr>
          <p:cNvCxnSpPr>
            <a:cxnSpLocks/>
          </p:cNvCxnSpPr>
          <p:nvPr/>
        </p:nvCxnSpPr>
        <p:spPr>
          <a:xfrm>
            <a:off x="1178351" y="4581424"/>
            <a:ext cx="206447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a16="http://schemas.microsoft.com/office/drawing/2014/main" id="{DC46EA8D-58BE-8CC2-3F92-CCE73CE06801}"/>
              </a:ext>
            </a:extLst>
          </p:cNvPr>
          <p:cNvGrpSpPr/>
          <p:nvPr/>
        </p:nvGrpSpPr>
        <p:grpSpPr>
          <a:xfrm>
            <a:off x="64397" y="179110"/>
            <a:ext cx="12063206" cy="7249212"/>
            <a:chOff x="64397" y="179110"/>
            <a:chExt cx="12063206" cy="7249212"/>
          </a:xfrm>
        </p:grpSpPr>
        <p:pic>
          <p:nvPicPr>
            <p:cNvPr id="36867" name="Picture 4" descr="figure7">
              <a:extLst>
                <a:ext uri="{FF2B5EF4-FFF2-40B4-BE49-F238E27FC236}">
                  <a16:creationId xmlns:a16="http://schemas.microsoft.com/office/drawing/2014/main" id="{124A67B4-116D-463F-0DAA-373D65B8E2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75352" y="179110"/>
              <a:ext cx="6352251" cy="7249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3">
              <a:extLst>
                <a:ext uri="{FF2B5EF4-FFF2-40B4-BE49-F238E27FC236}">
                  <a16:creationId xmlns:a16="http://schemas.microsoft.com/office/drawing/2014/main" id="{5E028BB6-FA1C-52BC-9D06-C599DC334B48}"/>
                </a:ext>
              </a:extLst>
            </p:cNvPr>
            <p:cNvSpPr txBox="1">
              <a:spLocks noChangeArrowheads="1"/>
            </p:cNvSpPr>
            <p:nvPr/>
          </p:nvSpPr>
          <p:spPr>
            <a:xfrm>
              <a:off x="64397" y="1669775"/>
              <a:ext cx="9242457" cy="33813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lnSpc>
                  <a:spcPct val="80000"/>
                </a:lnSpc>
                <a:buFont typeface="Arial"/>
                <a:buNone/>
              </a:pPr>
              <a:r>
                <a:rPr lang="en-US" altLang="en-US" sz="2400" dirty="0"/>
                <a:t>Add R4, R5, R6</a:t>
              </a:r>
            </a:p>
          </p:txBody>
        </p:sp>
        <p:sp>
          <p:nvSpPr>
            <p:cNvPr id="7" name="Arrow: Down 6">
              <a:extLst>
                <a:ext uri="{FF2B5EF4-FFF2-40B4-BE49-F238E27FC236}">
                  <a16:creationId xmlns:a16="http://schemas.microsoft.com/office/drawing/2014/main" id="{740860D9-9081-AACE-2D21-9F7814C41531}"/>
                </a:ext>
              </a:extLst>
            </p:cNvPr>
            <p:cNvSpPr/>
            <p:nvPr/>
          </p:nvSpPr>
          <p:spPr>
            <a:xfrm>
              <a:off x="7097444" y="669304"/>
              <a:ext cx="200386" cy="5938885"/>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Right 8">
              <a:extLst>
                <a:ext uri="{FF2B5EF4-FFF2-40B4-BE49-F238E27FC236}">
                  <a16:creationId xmlns:a16="http://schemas.microsoft.com/office/drawing/2014/main" id="{04A892B6-9A50-712A-7F45-E11926D96F72}"/>
                </a:ext>
              </a:extLst>
            </p:cNvPr>
            <p:cNvSpPr/>
            <p:nvPr/>
          </p:nvSpPr>
          <p:spPr>
            <a:xfrm rot="10800000" flipH="1">
              <a:off x="7297919" y="3527189"/>
              <a:ext cx="1874362" cy="102128"/>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Right 9">
              <a:extLst>
                <a:ext uri="{FF2B5EF4-FFF2-40B4-BE49-F238E27FC236}">
                  <a16:creationId xmlns:a16="http://schemas.microsoft.com/office/drawing/2014/main" id="{E6D26567-1BB3-746C-3E15-DCAE2152D57B}"/>
                </a:ext>
              </a:extLst>
            </p:cNvPr>
            <p:cNvSpPr/>
            <p:nvPr/>
          </p:nvSpPr>
          <p:spPr>
            <a:xfrm rot="10005644" flipH="1">
              <a:off x="9276381" y="3472587"/>
              <a:ext cx="1189476" cy="104916"/>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Right 10">
              <a:extLst>
                <a:ext uri="{FF2B5EF4-FFF2-40B4-BE49-F238E27FC236}">
                  <a16:creationId xmlns:a16="http://schemas.microsoft.com/office/drawing/2014/main" id="{BAD9D10A-7CC4-3D49-EA96-B960AD40DFEB}"/>
                </a:ext>
              </a:extLst>
            </p:cNvPr>
            <p:cNvSpPr/>
            <p:nvPr/>
          </p:nvSpPr>
          <p:spPr>
            <a:xfrm rot="10800000" flipH="1">
              <a:off x="10617092" y="3208833"/>
              <a:ext cx="1080939" cy="213781"/>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Down 11">
              <a:extLst>
                <a:ext uri="{FF2B5EF4-FFF2-40B4-BE49-F238E27FC236}">
                  <a16:creationId xmlns:a16="http://schemas.microsoft.com/office/drawing/2014/main" id="{1D7D3E06-CE8B-6CB8-6DAE-DFC67A823E76}"/>
                </a:ext>
              </a:extLst>
            </p:cNvPr>
            <p:cNvSpPr/>
            <p:nvPr/>
          </p:nvSpPr>
          <p:spPr>
            <a:xfrm rot="10800000">
              <a:off x="11686162" y="386500"/>
              <a:ext cx="200386" cy="5938885"/>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Right 12">
              <a:extLst>
                <a:ext uri="{FF2B5EF4-FFF2-40B4-BE49-F238E27FC236}">
                  <a16:creationId xmlns:a16="http://schemas.microsoft.com/office/drawing/2014/main" id="{DC003149-944A-6D72-CFFF-0EC0CE6CABA6}"/>
                </a:ext>
              </a:extLst>
            </p:cNvPr>
            <p:cNvSpPr/>
            <p:nvPr/>
          </p:nvSpPr>
          <p:spPr>
            <a:xfrm flipH="1">
              <a:off x="7341801" y="5153263"/>
              <a:ext cx="1666241" cy="191734"/>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Arrow: Right 4">
              <a:extLst>
                <a:ext uri="{FF2B5EF4-FFF2-40B4-BE49-F238E27FC236}">
                  <a16:creationId xmlns:a16="http://schemas.microsoft.com/office/drawing/2014/main" id="{CAD205A4-BB20-BFB7-8D98-C90767A1DC89}"/>
                </a:ext>
              </a:extLst>
            </p:cNvPr>
            <p:cNvSpPr/>
            <p:nvPr/>
          </p:nvSpPr>
          <p:spPr>
            <a:xfrm rot="10800000">
              <a:off x="10709790" y="4728114"/>
              <a:ext cx="990941" cy="213781"/>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98289045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200FAB62-E249-6F43-24C2-A4117F94FBFD}"/>
              </a:ext>
            </a:extLst>
          </p:cNvPr>
          <p:cNvSpPr>
            <a:spLocks noGrp="1" noChangeArrowheads="1"/>
          </p:cNvSpPr>
          <p:nvPr>
            <p:ph type="title"/>
          </p:nvPr>
        </p:nvSpPr>
        <p:spPr>
          <a:xfrm>
            <a:off x="320511" y="179110"/>
            <a:ext cx="11033289" cy="414780"/>
          </a:xfrm>
        </p:spPr>
        <p:txBody>
          <a:bodyPr>
            <a:normAutofit fontScale="90000"/>
          </a:bodyPr>
          <a:lstStyle/>
          <a:p>
            <a:r>
              <a:rPr lang="en-US" altLang="en-US" sz="2400" b="1" dirty="0"/>
              <a:t>Multiple-Bus Organization</a:t>
            </a:r>
          </a:p>
        </p:txBody>
      </p:sp>
      <p:sp>
        <p:nvSpPr>
          <p:cNvPr id="3" name="Rectangle 3">
            <a:extLst>
              <a:ext uri="{FF2B5EF4-FFF2-40B4-BE49-F238E27FC236}">
                <a16:creationId xmlns:a16="http://schemas.microsoft.com/office/drawing/2014/main" id="{5E028BB6-FA1C-52BC-9D06-C599DC334B48}"/>
              </a:ext>
            </a:extLst>
          </p:cNvPr>
          <p:cNvSpPr txBox="1">
            <a:spLocks noChangeArrowheads="1"/>
          </p:cNvSpPr>
          <p:nvPr/>
        </p:nvSpPr>
        <p:spPr>
          <a:xfrm>
            <a:off x="64397" y="1669775"/>
            <a:ext cx="9242457" cy="338137"/>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90000"/>
              </a:lnSpc>
              <a:spcBef>
                <a:spcPts val="1000"/>
              </a:spcBef>
              <a:spcAft>
                <a:spcPts val="0"/>
              </a:spcAft>
              <a:buClr>
                <a:schemeClr val="dk1"/>
              </a:buClr>
              <a:buSzPts val="1800"/>
              <a:buFont typeface="Arial"/>
              <a:buChar char="•"/>
              <a:defRPr sz="28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500"/>
              </a:spcBef>
              <a:spcAft>
                <a:spcPts val="0"/>
              </a:spcAft>
              <a:buClr>
                <a:schemeClr val="dk1"/>
              </a:buClr>
              <a:buSzPts val="1800"/>
              <a:buFont typeface="Arial"/>
              <a:buChar char="•"/>
              <a:defRPr sz="24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500"/>
              </a:spcBef>
              <a:spcAft>
                <a:spcPts val="0"/>
              </a:spcAft>
              <a:buClr>
                <a:schemeClr val="dk1"/>
              </a:buClr>
              <a:buSzPts val="18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114300" indent="0">
              <a:lnSpc>
                <a:spcPct val="80000"/>
              </a:lnSpc>
              <a:buFont typeface="Arial"/>
              <a:buNone/>
            </a:pPr>
            <a:r>
              <a:rPr lang="en-US" altLang="en-US" sz="2400" dirty="0"/>
              <a:t>Add R4, R5, R6</a:t>
            </a:r>
          </a:p>
        </p:txBody>
      </p:sp>
      <p:pic>
        <p:nvPicPr>
          <p:cNvPr id="4" name="Picture 3">
            <a:extLst>
              <a:ext uri="{FF2B5EF4-FFF2-40B4-BE49-F238E27FC236}">
                <a16:creationId xmlns:a16="http://schemas.microsoft.com/office/drawing/2014/main" id="{FC07A006-7464-A9E5-9DDF-8E4CE0E3836C}"/>
              </a:ext>
            </a:extLst>
          </p:cNvPr>
          <p:cNvPicPr>
            <a:picLocks noChangeAspect="1"/>
          </p:cNvPicPr>
          <p:nvPr/>
        </p:nvPicPr>
        <p:blipFill>
          <a:blip r:embed="rId3"/>
          <a:stretch>
            <a:fillRect/>
          </a:stretch>
        </p:blipFill>
        <p:spPr>
          <a:xfrm>
            <a:off x="-1" y="2337846"/>
            <a:ext cx="5731381" cy="3129699"/>
          </a:xfrm>
          <a:prstGeom prst="rect">
            <a:avLst/>
          </a:prstGeom>
        </p:spPr>
      </p:pic>
      <p:cxnSp>
        <p:nvCxnSpPr>
          <p:cNvPr id="6" name="Straight Connector 5">
            <a:extLst>
              <a:ext uri="{FF2B5EF4-FFF2-40B4-BE49-F238E27FC236}">
                <a16:creationId xmlns:a16="http://schemas.microsoft.com/office/drawing/2014/main" id="{B3FD5353-38E3-1ED6-38B9-9E89B797F0C0}"/>
              </a:ext>
            </a:extLst>
          </p:cNvPr>
          <p:cNvCxnSpPr>
            <a:cxnSpLocks/>
          </p:cNvCxnSpPr>
          <p:nvPr/>
        </p:nvCxnSpPr>
        <p:spPr>
          <a:xfrm>
            <a:off x="1178351" y="5052765"/>
            <a:ext cx="411951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2" name="Arrow: Down 11">
            <a:extLst>
              <a:ext uri="{FF2B5EF4-FFF2-40B4-BE49-F238E27FC236}">
                <a16:creationId xmlns:a16="http://schemas.microsoft.com/office/drawing/2014/main" id="{1D7D3E06-CE8B-6CB8-6DAE-DFC67A823E76}"/>
              </a:ext>
            </a:extLst>
          </p:cNvPr>
          <p:cNvSpPr/>
          <p:nvPr/>
        </p:nvSpPr>
        <p:spPr>
          <a:xfrm rot="10800000">
            <a:off x="11686162" y="386500"/>
            <a:ext cx="200386" cy="5938885"/>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B99B6B22-36CC-8C12-E56E-DBF5C84BE1A2}"/>
              </a:ext>
            </a:extLst>
          </p:cNvPr>
          <p:cNvGrpSpPr/>
          <p:nvPr/>
        </p:nvGrpSpPr>
        <p:grpSpPr>
          <a:xfrm>
            <a:off x="5775352" y="179110"/>
            <a:ext cx="6352251" cy="7249212"/>
            <a:chOff x="5775352" y="179110"/>
            <a:chExt cx="6352251" cy="7249212"/>
          </a:xfrm>
        </p:grpSpPr>
        <p:pic>
          <p:nvPicPr>
            <p:cNvPr id="36867" name="Picture 4" descr="figure7">
              <a:extLst>
                <a:ext uri="{FF2B5EF4-FFF2-40B4-BE49-F238E27FC236}">
                  <a16:creationId xmlns:a16="http://schemas.microsoft.com/office/drawing/2014/main" id="{124A67B4-116D-463F-0DAA-373D65B8E2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75352" y="179110"/>
              <a:ext cx="6352251" cy="7249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Arrow: Down 6">
              <a:extLst>
                <a:ext uri="{FF2B5EF4-FFF2-40B4-BE49-F238E27FC236}">
                  <a16:creationId xmlns:a16="http://schemas.microsoft.com/office/drawing/2014/main" id="{740860D9-9081-AACE-2D21-9F7814C41531}"/>
                </a:ext>
              </a:extLst>
            </p:cNvPr>
            <p:cNvSpPr/>
            <p:nvPr/>
          </p:nvSpPr>
          <p:spPr>
            <a:xfrm>
              <a:off x="7097444" y="669304"/>
              <a:ext cx="200386" cy="5938885"/>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Right 8">
              <a:extLst>
                <a:ext uri="{FF2B5EF4-FFF2-40B4-BE49-F238E27FC236}">
                  <a16:creationId xmlns:a16="http://schemas.microsoft.com/office/drawing/2014/main" id="{04A892B6-9A50-712A-7F45-E11926D96F72}"/>
                </a:ext>
              </a:extLst>
            </p:cNvPr>
            <p:cNvSpPr/>
            <p:nvPr/>
          </p:nvSpPr>
          <p:spPr>
            <a:xfrm rot="10800000" flipH="1">
              <a:off x="7297919" y="3621459"/>
              <a:ext cx="1874362" cy="102128"/>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Arrow: Right 10">
              <a:extLst>
                <a:ext uri="{FF2B5EF4-FFF2-40B4-BE49-F238E27FC236}">
                  <a16:creationId xmlns:a16="http://schemas.microsoft.com/office/drawing/2014/main" id="{BAD9D10A-7CC4-3D49-EA96-B960AD40DFEB}"/>
                </a:ext>
              </a:extLst>
            </p:cNvPr>
            <p:cNvSpPr/>
            <p:nvPr/>
          </p:nvSpPr>
          <p:spPr>
            <a:xfrm rot="10800000" flipH="1">
              <a:off x="10617092" y="3208833"/>
              <a:ext cx="1080939" cy="213781"/>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Right 12">
              <a:extLst>
                <a:ext uri="{FF2B5EF4-FFF2-40B4-BE49-F238E27FC236}">
                  <a16:creationId xmlns:a16="http://schemas.microsoft.com/office/drawing/2014/main" id="{DC003149-944A-6D72-CFFF-0EC0CE6CABA6}"/>
                </a:ext>
              </a:extLst>
            </p:cNvPr>
            <p:cNvSpPr/>
            <p:nvPr/>
          </p:nvSpPr>
          <p:spPr>
            <a:xfrm flipH="1">
              <a:off x="6196191" y="1678231"/>
              <a:ext cx="2811850" cy="150569"/>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Arrow: Right 4">
              <a:extLst>
                <a:ext uri="{FF2B5EF4-FFF2-40B4-BE49-F238E27FC236}">
                  <a16:creationId xmlns:a16="http://schemas.microsoft.com/office/drawing/2014/main" id="{CAD205A4-BB20-BFB7-8D98-C90767A1DC89}"/>
                </a:ext>
              </a:extLst>
            </p:cNvPr>
            <p:cNvSpPr/>
            <p:nvPr/>
          </p:nvSpPr>
          <p:spPr>
            <a:xfrm rot="10800000">
              <a:off x="7230358" y="1959097"/>
              <a:ext cx="1787039" cy="150568"/>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rrow: Down 7">
              <a:extLst>
                <a:ext uri="{FF2B5EF4-FFF2-40B4-BE49-F238E27FC236}">
                  <a16:creationId xmlns:a16="http://schemas.microsoft.com/office/drawing/2014/main" id="{782877BF-8A30-3570-8339-2F44E37A7AD6}"/>
                </a:ext>
              </a:extLst>
            </p:cNvPr>
            <p:cNvSpPr/>
            <p:nvPr/>
          </p:nvSpPr>
          <p:spPr>
            <a:xfrm>
              <a:off x="5995806" y="593890"/>
              <a:ext cx="200386" cy="5938885"/>
            </a:xfrm>
            <a:prstGeom prst="down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75A8F650-F952-08B1-4E10-983F65082EF4}"/>
                </a:ext>
              </a:extLst>
            </p:cNvPr>
            <p:cNvSpPr txBox="1"/>
            <p:nvPr/>
          </p:nvSpPr>
          <p:spPr>
            <a:xfrm>
              <a:off x="6268825" y="1310326"/>
              <a:ext cx="480767" cy="307777"/>
            </a:xfrm>
            <a:prstGeom prst="rect">
              <a:avLst/>
            </a:prstGeom>
            <a:noFill/>
          </p:spPr>
          <p:txBody>
            <a:bodyPr wrap="square" rtlCol="0">
              <a:spAutoFit/>
            </a:bodyPr>
            <a:lstStyle/>
            <a:p>
              <a:r>
                <a:rPr lang="en-US" dirty="0">
                  <a:solidFill>
                    <a:srgbClr val="FF0000"/>
                  </a:solidFill>
                </a:rPr>
                <a:t>R4</a:t>
              </a:r>
            </a:p>
          </p:txBody>
        </p:sp>
        <p:sp>
          <p:nvSpPr>
            <p:cNvPr id="16" name="TextBox 15">
              <a:extLst>
                <a:ext uri="{FF2B5EF4-FFF2-40B4-BE49-F238E27FC236}">
                  <a16:creationId xmlns:a16="http://schemas.microsoft.com/office/drawing/2014/main" id="{E1022E50-C93D-31BA-F1FF-4892EE7B32C1}"/>
                </a:ext>
              </a:extLst>
            </p:cNvPr>
            <p:cNvSpPr txBox="1"/>
            <p:nvPr/>
          </p:nvSpPr>
          <p:spPr>
            <a:xfrm>
              <a:off x="7420290" y="1740060"/>
              <a:ext cx="480767" cy="307777"/>
            </a:xfrm>
            <a:prstGeom prst="rect">
              <a:avLst/>
            </a:prstGeom>
            <a:noFill/>
          </p:spPr>
          <p:txBody>
            <a:bodyPr wrap="square" rtlCol="0">
              <a:spAutoFit/>
            </a:bodyPr>
            <a:lstStyle/>
            <a:p>
              <a:r>
                <a:rPr lang="en-US" dirty="0">
                  <a:solidFill>
                    <a:srgbClr val="FF0000"/>
                  </a:solidFill>
                </a:rPr>
                <a:t>R5</a:t>
              </a:r>
            </a:p>
          </p:txBody>
        </p:sp>
        <p:sp>
          <p:nvSpPr>
            <p:cNvPr id="17" name="Arrow: Right 16">
              <a:extLst>
                <a:ext uri="{FF2B5EF4-FFF2-40B4-BE49-F238E27FC236}">
                  <a16:creationId xmlns:a16="http://schemas.microsoft.com/office/drawing/2014/main" id="{DAC981D1-FC78-7BAC-E557-2FA15B2713EF}"/>
                </a:ext>
              </a:extLst>
            </p:cNvPr>
            <p:cNvSpPr/>
            <p:nvPr/>
          </p:nvSpPr>
          <p:spPr>
            <a:xfrm rot="10800000" flipH="1">
              <a:off x="6160263" y="3297021"/>
              <a:ext cx="1874362" cy="102128"/>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Right 17">
              <a:extLst>
                <a:ext uri="{FF2B5EF4-FFF2-40B4-BE49-F238E27FC236}">
                  <a16:creationId xmlns:a16="http://schemas.microsoft.com/office/drawing/2014/main" id="{AC9E9B1E-7C06-7AE8-13DB-373A92247A73}"/>
                </a:ext>
              </a:extLst>
            </p:cNvPr>
            <p:cNvSpPr/>
            <p:nvPr/>
          </p:nvSpPr>
          <p:spPr>
            <a:xfrm rot="10800000" flipH="1">
              <a:off x="8602927" y="3008383"/>
              <a:ext cx="569354" cy="102128"/>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DFEA0677-3B63-25C5-A11A-D808D305CD55}"/>
                </a:ext>
              </a:extLst>
            </p:cNvPr>
            <p:cNvSpPr txBox="1"/>
            <p:nvPr/>
          </p:nvSpPr>
          <p:spPr>
            <a:xfrm>
              <a:off x="9737889" y="2611225"/>
              <a:ext cx="678730" cy="307777"/>
            </a:xfrm>
            <a:prstGeom prst="rect">
              <a:avLst/>
            </a:prstGeom>
            <a:noFill/>
          </p:spPr>
          <p:txBody>
            <a:bodyPr wrap="square" rtlCol="0">
              <a:spAutoFit/>
            </a:bodyPr>
            <a:lstStyle/>
            <a:p>
              <a:r>
                <a:rPr lang="en-US" dirty="0">
                  <a:solidFill>
                    <a:srgbClr val="FF0000"/>
                  </a:solidFill>
                </a:rPr>
                <a:t>Add</a:t>
              </a:r>
            </a:p>
          </p:txBody>
        </p:sp>
        <p:sp>
          <p:nvSpPr>
            <p:cNvPr id="20" name="Arrow: Right 19">
              <a:extLst>
                <a:ext uri="{FF2B5EF4-FFF2-40B4-BE49-F238E27FC236}">
                  <a16:creationId xmlns:a16="http://schemas.microsoft.com/office/drawing/2014/main" id="{D7E887CC-8741-95F2-9E4C-7A9BE17B612C}"/>
                </a:ext>
              </a:extLst>
            </p:cNvPr>
            <p:cNvSpPr/>
            <p:nvPr/>
          </p:nvSpPr>
          <p:spPr>
            <a:xfrm flipH="1">
              <a:off x="10732004" y="1835645"/>
              <a:ext cx="1080939" cy="213781"/>
            </a:xfrm>
            <a:prstGeom prst="rightArrow">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5A35B485-A074-7DD3-B4C7-8098B455AE36}"/>
                </a:ext>
              </a:extLst>
            </p:cNvPr>
            <p:cNvSpPr txBox="1"/>
            <p:nvPr/>
          </p:nvSpPr>
          <p:spPr>
            <a:xfrm>
              <a:off x="10870674" y="1556996"/>
              <a:ext cx="480767" cy="307777"/>
            </a:xfrm>
            <a:prstGeom prst="rect">
              <a:avLst/>
            </a:prstGeom>
            <a:noFill/>
          </p:spPr>
          <p:txBody>
            <a:bodyPr wrap="square" rtlCol="0">
              <a:spAutoFit/>
            </a:bodyPr>
            <a:lstStyle/>
            <a:p>
              <a:r>
                <a:rPr lang="en-US" dirty="0">
                  <a:solidFill>
                    <a:srgbClr val="FF0000"/>
                  </a:solidFill>
                </a:rPr>
                <a:t>R6</a:t>
              </a:r>
            </a:p>
          </p:txBody>
        </p:sp>
      </p:grpSp>
    </p:spTree>
    <p:extLst>
      <p:ext uri="{BB962C8B-B14F-4D97-AF65-F5344CB8AC3E}">
        <p14:creationId xmlns:p14="http://schemas.microsoft.com/office/powerpoint/2010/main" val="2936327745"/>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17327</TotalTime>
  <Words>6002</Words>
  <Application>Microsoft Office PowerPoint</Application>
  <PresentationFormat>Widescreen</PresentationFormat>
  <Paragraphs>671</Paragraphs>
  <Slides>62</Slides>
  <Notes>48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62</vt:i4>
      </vt:variant>
    </vt:vector>
  </HeadingPairs>
  <TitlesOfParts>
    <vt:vector size="69" baseType="lpstr">
      <vt:lpstr>Computer Modern</vt:lpstr>
      <vt:lpstr>Times New Roman</vt:lpstr>
      <vt:lpstr>Calibri</vt:lpstr>
      <vt:lpstr>Arial</vt:lpstr>
      <vt:lpstr>Wingdings</vt:lpstr>
      <vt:lpstr>Noto Sans Symbols</vt:lpstr>
      <vt:lpstr>Office Theme</vt:lpstr>
      <vt:lpstr>                                    Computer Organization  &amp;  Architecture</vt:lpstr>
      <vt:lpstr>FUNCTIONAL UNITS: </vt:lpstr>
      <vt:lpstr>PowerPoint Presentation</vt:lpstr>
      <vt:lpstr>PowerPoint Presentation</vt:lpstr>
      <vt:lpstr>PowerPoint Presentation</vt:lpstr>
      <vt:lpstr>BASIC OPERATIONAL CONCEPTS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INSTRUCTIONS AND INSTRUCTION SEQUENCING</vt:lpstr>
      <vt:lpstr>Notations used:-</vt:lpstr>
      <vt:lpstr>PowerPoint Presentation</vt:lpstr>
      <vt:lpstr>BASIC INSTRUCTION TYPES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BASIC PROCESSING UNIT - SOME FUNDAMENTAL CONCEPT</vt:lpstr>
      <vt:lpstr>BASIC PROCESSING UNIT - SOME FUNDAMENTAL CONCEPT</vt:lpstr>
      <vt:lpstr>Internal organization of Processor - Single Bus organization </vt:lpstr>
      <vt:lpstr>Single Bus organization of Processor</vt:lpstr>
      <vt:lpstr>Single Bus organization of Processor</vt:lpstr>
      <vt:lpstr>Register Transfers </vt:lpstr>
      <vt:lpstr>Performing an Arithmetic or Logic Operation </vt:lpstr>
      <vt:lpstr>Fetching a Word from Memory </vt:lpstr>
      <vt:lpstr>Fetching a Word from Memory </vt:lpstr>
      <vt:lpstr>PowerPoint Presentation</vt:lpstr>
      <vt:lpstr>Storing a word in Memory </vt:lpstr>
      <vt:lpstr>EXECUTION OF A COMPLETE INSTRUCTION </vt:lpstr>
      <vt:lpstr>Execution of a Complete Instruction</vt:lpstr>
      <vt:lpstr>Branch Instruction </vt:lpstr>
      <vt:lpstr>Execution of Branch Instructions</vt:lpstr>
      <vt:lpstr>PowerPoint Presentation</vt:lpstr>
      <vt:lpstr>PowerPoint Presentation</vt:lpstr>
      <vt:lpstr>PowerPoint Presentation</vt:lpstr>
      <vt:lpstr>PowerPoint Presentation</vt:lpstr>
      <vt:lpstr>PowerPoint Presentation</vt:lpstr>
      <vt:lpstr>Multiple-Bus Organization</vt:lpstr>
      <vt:lpstr>Multiple-Bus Organization</vt:lpstr>
      <vt:lpstr>Multiple-Bus Organization</vt:lpstr>
      <vt:lpstr>Multiple-Bus Organization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Computer Organization  &amp;  Architecture</dc:title>
  <dc:creator>joe jacob</dc:creator>
  <cp:lastModifiedBy>Femy John</cp:lastModifiedBy>
  <cp:revision>18</cp:revision>
  <dcterms:created xsi:type="dcterms:W3CDTF">2022-04-27T05:22:59Z</dcterms:created>
  <dcterms:modified xsi:type="dcterms:W3CDTF">2023-02-28T13:08:48Z</dcterms:modified>
</cp:coreProperties>
</file>