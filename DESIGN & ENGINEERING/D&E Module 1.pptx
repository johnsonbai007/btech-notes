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90" r:id="rId6"/>
    <p:sldId id="260" r:id="rId7"/>
    <p:sldId id="291" r:id="rId8"/>
    <p:sldId id="292" r:id="rId9"/>
    <p:sldId id="293" r:id="rId10"/>
    <p:sldId id="294" r:id="rId11"/>
    <p:sldId id="263" r:id="rId12"/>
    <p:sldId id="295" r:id="rId13"/>
    <p:sldId id="264" r:id="rId14"/>
    <p:sldId id="296" r:id="rId15"/>
    <p:sldId id="261" r:id="rId16"/>
    <p:sldId id="265" r:id="rId17"/>
    <p:sldId id="266" r:id="rId18"/>
    <p:sldId id="267" r:id="rId19"/>
    <p:sldId id="268" r:id="rId20"/>
    <p:sldId id="269" r:id="rId21"/>
    <p:sldId id="270" r:id="rId22"/>
    <p:sldId id="297" r:id="rId23"/>
    <p:sldId id="271" r:id="rId24"/>
    <p:sldId id="272" r:id="rId25"/>
    <p:sldId id="273" r:id="rId26"/>
    <p:sldId id="274" r:id="rId27"/>
    <p:sldId id="276" r:id="rId28"/>
    <p:sldId id="298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97D5DC-D124-4427-B21C-69708E902230}" type="datetimeFigureOut">
              <a:rPr lang="en-IN" smtClean="0"/>
              <a:t>05-09-2023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350BC8-888C-4593-9DE9-F457FFEC94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2119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350BC8-888C-4593-9DE9-F457FFEC946D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48667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D0DB8-687E-4818-A974-52C5A69CF62C}" type="datetimeFigureOut">
              <a:rPr lang="en-IN" smtClean="0"/>
              <a:t>05-09-2023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DB1EA-DF4D-43BF-BA70-1D5BA5BB14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0196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D0DB8-687E-4818-A974-52C5A69CF62C}" type="datetimeFigureOut">
              <a:rPr lang="en-IN" smtClean="0"/>
              <a:t>05-09-2023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DB1EA-DF4D-43BF-BA70-1D5BA5BB14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6187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D0DB8-687E-4818-A974-52C5A69CF62C}" type="datetimeFigureOut">
              <a:rPr lang="en-IN" smtClean="0"/>
              <a:t>05-09-2023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DB1EA-DF4D-43BF-BA70-1D5BA5BB14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8146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D0DB8-687E-4818-A974-52C5A69CF62C}" type="datetimeFigureOut">
              <a:rPr lang="en-IN" smtClean="0"/>
              <a:t>05-09-2023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DB1EA-DF4D-43BF-BA70-1D5BA5BB14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0101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D0DB8-687E-4818-A974-52C5A69CF62C}" type="datetimeFigureOut">
              <a:rPr lang="en-IN" smtClean="0"/>
              <a:t>05-09-2023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DB1EA-DF4D-43BF-BA70-1D5BA5BB14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3799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D0DB8-687E-4818-A974-52C5A69CF62C}" type="datetimeFigureOut">
              <a:rPr lang="en-IN" smtClean="0"/>
              <a:t>05-09-2023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DB1EA-DF4D-43BF-BA70-1D5BA5BB14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622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D0DB8-687E-4818-A974-52C5A69CF62C}" type="datetimeFigureOut">
              <a:rPr lang="en-IN" smtClean="0"/>
              <a:t>05-09-2023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DB1EA-DF4D-43BF-BA70-1D5BA5BB14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1524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D0DB8-687E-4818-A974-52C5A69CF62C}" type="datetimeFigureOut">
              <a:rPr lang="en-IN" smtClean="0"/>
              <a:t>05-09-2023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DB1EA-DF4D-43BF-BA70-1D5BA5BB14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886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D0DB8-687E-4818-A974-52C5A69CF62C}" type="datetimeFigureOut">
              <a:rPr lang="en-IN" smtClean="0"/>
              <a:t>05-09-2023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DB1EA-DF4D-43BF-BA70-1D5BA5BB14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2769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D0DB8-687E-4818-A974-52C5A69CF62C}" type="datetimeFigureOut">
              <a:rPr lang="en-IN" smtClean="0"/>
              <a:t>05-09-2023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DB1EA-DF4D-43BF-BA70-1D5BA5BB14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9477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D0DB8-687E-4818-A974-52C5A69CF62C}" type="datetimeFigureOut">
              <a:rPr lang="en-IN" smtClean="0"/>
              <a:t>05-09-2023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DB1EA-DF4D-43BF-BA70-1D5BA5BB14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7443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3D0DB8-687E-4818-A974-52C5A69CF62C}" type="datetimeFigureOut">
              <a:rPr lang="en-IN" smtClean="0"/>
              <a:t>05-09-2023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EDB1EA-DF4D-43BF-BA70-1D5BA5BB14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2598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EST 200 DESIGN AND ENGINEERING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0523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itchFamily="18" charset="0"/>
                <a:cs typeface="Times New Roman" pitchFamily="18" charset="0"/>
              </a:rPr>
              <a:t>Purpose of this </a:t>
            </a:r>
            <a:r>
              <a:rPr lang="en-IN" sz="4000" b="1" dirty="0" smtClean="0">
                <a:latin typeface="Times New Roman" pitchFamily="18" charset="0"/>
                <a:cs typeface="Times New Roman" pitchFamily="18" charset="0"/>
              </a:rPr>
              <a:t>course</a:t>
            </a:r>
            <a:endParaRPr lang="en-IN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700808"/>
            <a:ext cx="8208912" cy="4824536"/>
          </a:xfrm>
        </p:spPr>
        <p:txBody>
          <a:bodyPr>
            <a:normAutofit/>
          </a:bodyPr>
          <a:lstStyle/>
          <a:p>
            <a:pPr marL="571500" indent="-571500">
              <a:buAutoNum type="romanLcParenR"/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introduce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the undergraduate engineering students the fundamental principles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of design engineering</a:t>
            </a:r>
          </a:p>
          <a:p>
            <a:pPr marL="571500" indent="-571500">
              <a:buAutoNum type="romanLcParenR"/>
            </a:pPr>
            <a:endParaRPr lang="en-IN" sz="2200" dirty="0">
              <a:latin typeface="Times New Roman" pitchFamily="18" charset="0"/>
              <a:cs typeface="Times New Roman" pitchFamily="18" charset="0"/>
            </a:endParaRPr>
          </a:p>
          <a:p>
            <a:pPr marL="571500" indent="-571500">
              <a:buAutoNum type="romanLcParenR"/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 make them understand the steps involved in the design process and</a:t>
            </a:r>
          </a:p>
          <a:p>
            <a:pPr marL="571500" indent="-571500">
              <a:buAutoNum type="romanLcParenR"/>
            </a:pPr>
            <a:endParaRPr lang="en-IN" sz="2200" dirty="0">
              <a:latin typeface="Times New Roman" pitchFamily="18" charset="0"/>
              <a:cs typeface="Times New Roman" pitchFamily="18" charset="0"/>
            </a:endParaRPr>
          </a:p>
          <a:p>
            <a:pPr marL="571500" indent="-571500">
              <a:buAutoNum type="romanLcParenR"/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familiarize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them with the basic tools used and approaches in design.</a:t>
            </a:r>
          </a:p>
          <a:p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9518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itchFamily="18" charset="0"/>
                <a:cs typeface="Times New Roman" pitchFamily="18" charset="0"/>
              </a:rPr>
              <a:t>Assessment Pattern</a:t>
            </a:r>
            <a:endParaRPr lang="en-IN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2200" b="1" dirty="0" err="1">
                <a:latin typeface="Times New Roman" pitchFamily="18" charset="0"/>
                <a:cs typeface="Times New Roman" pitchFamily="18" charset="0"/>
              </a:rPr>
              <a:t>Continuous</a:t>
            </a:r>
            <a:r>
              <a:rPr lang="fr-FR" sz="2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200" b="1" dirty="0" err="1">
                <a:latin typeface="Times New Roman" pitchFamily="18" charset="0"/>
                <a:cs typeface="Times New Roman" pitchFamily="18" charset="0"/>
              </a:rPr>
              <a:t>Internal</a:t>
            </a:r>
            <a:r>
              <a:rPr lang="fr-FR" sz="2200" b="1" dirty="0">
                <a:latin typeface="Times New Roman" pitchFamily="18" charset="0"/>
                <a:cs typeface="Times New Roman" pitchFamily="18" charset="0"/>
              </a:rPr>
              <a:t> Evaluation (CIE) Pattern:</a:t>
            </a:r>
          </a:p>
          <a:p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Attendance : 10 marks</a:t>
            </a:r>
          </a:p>
          <a:p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Continuous Assessment Test (2 numbers) : 25 marks</a:t>
            </a:r>
          </a:p>
          <a:p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Assignment/Quiz/Course project : 15 </a:t>
            </a:r>
            <a:r>
              <a:rPr lang="en-IN" sz="1600" dirty="0" smtClean="0">
                <a:latin typeface="Times New Roman" pitchFamily="18" charset="0"/>
                <a:cs typeface="Times New Roman" pitchFamily="18" charset="0"/>
              </a:rPr>
              <a:t>marks</a:t>
            </a:r>
          </a:p>
          <a:p>
            <a:endParaRPr lang="en-IN" sz="22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IN" sz="2200" b="1" dirty="0">
                <a:latin typeface="Times New Roman" pitchFamily="18" charset="0"/>
                <a:cs typeface="Times New Roman" pitchFamily="18" charset="0"/>
              </a:rPr>
              <a:t>End Semester Examination (ESE) Pattern: There will be two parts; Part A and Part B.</a:t>
            </a:r>
          </a:p>
          <a:p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Part A : 30 marks</a:t>
            </a:r>
          </a:p>
          <a:p>
            <a:r>
              <a:rPr lang="en-IN" sz="1600" dirty="0" smtClean="0">
                <a:latin typeface="Times New Roman" pitchFamily="18" charset="0"/>
                <a:cs typeface="Times New Roman" pitchFamily="18" charset="0"/>
              </a:rPr>
              <a:t>Part </a:t>
            </a: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B : 70 </a:t>
            </a:r>
            <a:r>
              <a:rPr lang="en-IN" sz="1600" dirty="0" smtClean="0">
                <a:latin typeface="Times New Roman" pitchFamily="18" charset="0"/>
                <a:cs typeface="Times New Roman" pitchFamily="18" charset="0"/>
              </a:rPr>
              <a:t>marks</a:t>
            </a:r>
          </a:p>
          <a:p>
            <a:endParaRPr lang="en-IN" sz="1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Part A contains 10 questions with 2 questions from each module, having 3 marks for each question.</a:t>
            </a:r>
          </a:p>
          <a:p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Students should answer all questions</a:t>
            </a:r>
            <a:r>
              <a:rPr lang="en-IN" sz="1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IN" sz="1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Part B contains 2 case study questions from each module of which student should answer any one.</a:t>
            </a:r>
          </a:p>
          <a:p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Each question carry 14 marks and can have maximum 2 sub questions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01927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600200"/>
            <a:ext cx="8784976" cy="4525963"/>
          </a:xfrm>
        </p:spPr>
        <p:txBody>
          <a:bodyPr>
            <a:normAutofit/>
          </a:bodyPr>
          <a:lstStyle/>
          <a:p>
            <a:pPr algn="just"/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Design Process:-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Introduction to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Design and Engineering Design, Defining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a Design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Process-:Detailing Customer Requirements, Setting Design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Objectives, Identifying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Constraints, Establishing Functions, Generating Design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Alternatives and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Choosing a Design</a:t>
            </a:r>
            <a:r>
              <a:rPr lang="en-IN" sz="2200" b="1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IN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9605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Introduction to Design and Engineering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  <a:p>
            <a:pPr lvl="1"/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is the plan for the construction of object/system/implementation of an activity.</a:t>
            </a:r>
          </a:p>
          <a:p>
            <a:pPr marL="457200" lvl="1" indent="0">
              <a:buNone/>
            </a:pP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 of design can be called as a prototype (early sample/release of a product build to test a concept)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do we design?</a:t>
            </a:r>
          </a:p>
          <a:p>
            <a:pPr marL="972000" lvl="4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meet a need.</a:t>
            </a:r>
          </a:p>
          <a:p>
            <a:pPr marL="972000" lvl="4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find a solution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4260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60648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b="1" dirty="0">
                <a:latin typeface="Times New Roman" pitchFamily="18" charset="0"/>
                <a:cs typeface="Times New Roman" pitchFamily="18" charset="0"/>
              </a:rPr>
            </a:b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46" y="980728"/>
            <a:ext cx="8686800" cy="49971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200" b="1" u="sng" dirty="0" smtClean="0">
                <a:latin typeface="Times New Roman" pitchFamily="18" charset="0"/>
                <a:cs typeface="Times New Roman" pitchFamily="18" charset="0"/>
              </a:rPr>
              <a:t>Engineering design</a:t>
            </a:r>
          </a:p>
          <a:p>
            <a:pPr lvl="1"/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/output can be</a:t>
            </a:r>
          </a:p>
          <a:p>
            <a:pPr lvl="2"/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</a:p>
          <a:p>
            <a:pPr lvl="2"/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</a:t>
            </a:r>
          </a:p>
          <a:p>
            <a:pPr lvl="2"/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</a:p>
          <a:p>
            <a:pPr lvl="2"/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</a:p>
          <a:p>
            <a:pPr lvl="2"/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 etc.. </a:t>
            </a:r>
          </a:p>
          <a:p>
            <a:pPr marL="914400" lvl="2" indent="0">
              <a:buNone/>
            </a:pP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:-Architectural blueprints ,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engg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drawing, circuit diagrams 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698" y="1753833"/>
            <a:ext cx="8639175" cy="1296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20683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Contd..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fundamental elements of the design process is the establishment of objectives and criteria, synthesis, analysis, construction, testing and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  <a:p>
            <a:pPr marL="457200" lvl="1" indent="0">
              <a:buNone/>
            </a:pP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200" dirty="0">
                <a:latin typeface="Bookman Old Style" panose="02050604050505020204" pitchFamily="18" charset="0"/>
              </a:rPr>
              <a:t>The general procedure for completing a good engineering design can be called the Engineering Method of Creative Problem Solving. </a:t>
            </a:r>
            <a:endParaRPr lang="en-US" sz="2200" dirty="0" smtClean="0">
              <a:latin typeface="Bookman Old Style" panose="02050604050505020204" pitchFamily="18" charset="0"/>
            </a:endParaRPr>
          </a:p>
          <a:p>
            <a:pPr marL="457200" lvl="1" indent="0">
              <a:buNone/>
            </a:pPr>
            <a:endParaRPr lang="en-US" sz="2200" dirty="0">
              <a:latin typeface="Bookman Old Style" panose="02050604050505020204" pitchFamily="18" charset="0"/>
            </a:endParaRPr>
          </a:p>
          <a:p>
            <a:pPr lvl="1"/>
            <a:r>
              <a:rPr lang="en-US" sz="2200" dirty="0">
                <a:latin typeface="Bookman Old Style" panose="02050604050505020204" pitchFamily="18" charset="0"/>
              </a:rPr>
              <a:t>Problem solving is the process of determining the best possible action to take in a given situation. </a:t>
            </a:r>
          </a:p>
          <a:p>
            <a:pPr lvl="1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673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Where/for whom do engineers design?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Need Analysis / Problem Statement By: Prof: Wilmer Arellano Fall ...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19572" y="1417638"/>
            <a:ext cx="7704856" cy="47371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45062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Persons related to a new design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 person or group or company that wants a design conceived</a:t>
            </a:r>
          </a:p>
          <a:p>
            <a:pPr marL="0" indent="0" algn="just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-whose job is to solve the client’s problem</a:t>
            </a:r>
          </a:p>
          <a:p>
            <a:pPr marL="0" indent="0" algn="just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 person who employ or operate whatever is being designed</a:t>
            </a:r>
          </a:p>
          <a:p>
            <a:pPr marL="0" indent="0" algn="just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designer has to understand what both the client and the users want and need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7313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 Process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What is STEM? - adstemacademy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403648" y="1977230"/>
            <a:ext cx="6264696" cy="418807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086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 levels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00808"/>
            <a:ext cx="8229600" cy="4425355"/>
          </a:xfrm>
        </p:spPr>
        <p:txBody>
          <a:bodyPr>
            <a:normAutofit/>
          </a:bodyPr>
          <a:lstStyle/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in any field of human activity, there are different degrees of difficulty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difficulty of the design process, it can be classified into three types: </a:t>
            </a:r>
          </a:p>
          <a:p>
            <a:pPr lvl="2"/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Adaptive design</a:t>
            </a:r>
          </a:p>
          <a:p>
            <a:pPr lvl="2"/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design</a:t>
            </a:r>
          </a:p>
          <a:p>
            <a:pPr lvl="2"/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New design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endParaRPr lang="en-IN" dirty="0" smtClean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5845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Design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usually the most easiest types of a design process. 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deals with creation of a design process based on an existing similar process. 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the resources are readily available, adaptive designs could be performed in a short period of time. That is, the existing design can be adopted for new design with some modifications. 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Design process for an elevator has been technically and conceptually the same for a long period of time. Hence, the problems related to its design could be solved by a designer with an ordinary technical training.</a:t>
            </a:r>
          </a:p>
          <a:p>
            <a:pPr lvl="1"/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2074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24744"/>
            <a:ext cx="9144000" cy="5733256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Development Design</a:t>
            </a:r>
          </a:p>
          <a:p>
            <a:pPr marL="0" indent="0">
              <a:buNone/>
            </a:pP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design is considerably complex in nature. 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designer may start from an existing design, but the final outcome may vary significantly from the initial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</a:p>
          <a:p>
            <a:pPr marL="457200" lvl="1" indent="0">
              <a:buNone/>
            </a:pP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Design of a continuous variable transmission system (CVT) is developed from a manual gear box transmission type. Hence, a development design process requires a considerable amount of scientific training as well as a better designing ability.</a:t>
            </a:r>
          </a:p>
          <a:p>
            <a:pPr lvl="1"/>
            <a:endParaRPr lang="en-IN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endParaRPr lang="en-I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6396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New design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new design often attributes to the creativity of the designer. 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not inherited from any of the existing designs. 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possibly the most difficult design process as generating a new concept involves mastering design and engineering knowledge, in addition to creativity and imagination. 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common new designs include the initial development of computers, cars, flights, engines etc. 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product which is the first of its kind may be regarded as an outcome of a new design process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71145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192" y="1526058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IN" sz="2400" b="1" u="sng" dirty="0">
                <a:latin typeface="Times New Roman" pitchFamily="18" charset="0"/>
                <a:cs typeface="Times New Roman" pitchFamily="18" charset="0"/>
              </a:rPr>
              <a:t>ASPECTS OF </a:t>
            </a:r>
            <a:r>
              <a:rPr lang="en-IN" sz="2400" b="1" u="sng" dirty="0" smtClean="0">
                <a:latin typeface="Times New Roman" pitchFamily="18" charset="0"/>
                <a:cs typeface="Times New Roman" pitchFamily="18" charset="0"/>
              </a:rPr>
              <a:t>DESIGN</a:t>
            </a:r>
          </a:p>
          <a:p>
            <a:pPr marL="0" indent="0">
              <a:buNone/>
            </a:pPr>
            <a:endParaRPr lang="en-IN" b="1" u="sng" dirty="0" smtClean="0"/>
          </a:p>
          <a:p>
            <a:pPr marL="514350" indent="-514350">
              <a:buAutoNum type="arabicPeriod"/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DESIGN OBJECTIVES</a:t>
            </a:r>
          </a:p>
          <a:p>
            <a:pPr marL="514350" indent="-514350">
              <a:buAutoNum type="arabicPeriod"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DESIGN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CONSTRAINTS</a:t>
            </a:r>
          </a:p>
          <a:p>
            <a:pPr marL="514350" indent="-514350">
              <a:buAutoNum type="arabicPeriod"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DESIGN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FUNCTIONS</a:t>
            </a:r>
          </a:p>
          <a:p>
            <a:pPr marL="514350" indent="-514350">
              <a:buAutoNum type="arabicPeriod"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DESIGN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MEANS</a:t>
            </a:r>
          </a:p>
          <a:p>
            <a:pPr marL="514350" indent="-514350">
              <a:buAutoNum type="arabicPeriod"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DESIGN FORM</a:t>
            </a: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sz="2200" dirty="0" smtClean="0"/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968" y="2420887"/>
            <a:ext cx="4186808" cy="273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167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200" b="1" dirty="0" smtClean="0">
                <a:latin typeface="Times New Roman" pitchFamily="18" charset="0"/>
                <a:cs typeface="Times New Roman" pitchFamily="18" charset="0"/>
              </a:rPr>
              <a:t>1. Design Objectives</a:t>
            </a:r>
          </a:p>
          <a:p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feature or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behaviour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that we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wish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the design to have or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exhibit.</a:t>
            </a:r>
            <a:endParaRPr lang="en-IN" sz="2200" dirty="0">
              <a:latin typeface="Times New Roman" pitchFamily="18" charset="0"/>
              <a:cs typeface="Times New Roman" pitchFamily="18" charset="0"/>
            </a:endParaRPr>
          </a:p>
          <a:p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Some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generic objectives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are</a:t>
            </a:r>
          </a:p>
          <a:p>
            <a:pPr lvl="1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identify the need of the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user</a:t>
            </a:r>
          </a:p>
          <a:p>
            <a:pPr lvl="1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reduce the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cost</a:t>
            </a:r>
          </a:p>
          <a:p>
            <a:pPr lvl="1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reduce the complexity </a:t>
            </a: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make eco-friendly material </a:t>
            </a:r>
          </a:p>
          <a:p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1417814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600200"/>
            <a:ext cx="8507288" cy="45259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EXAMPLE: OBJECTIVE OF A PORTABLE LADDER</a:t>
            </a:r>
          </a:p>
          <a:p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Ladder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should be compact and portable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should be stable on smooth surfaces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Should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stand safely without a support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Can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be used for house hold requirements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Should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be reasonably stiff and comfortable for users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Must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be safe and durable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Should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be relatively economical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Should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be reduce space requirements while packing by means of detachable parts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ladder should be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marketable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881" y="1607381"/>
            <a:ext cx="1782939" cy="203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775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417638"/>
            <a:ext cx="9036496" cy="544036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200" b="1" dirty="0" smtClean="0">
                <a:latin typeface="Times New Roman" pitchFamily="18" charset="0"/>
                <a:cs typeface="Times New Roman" pitchFamily="18" charset="0"/>
              </a:rPr>
              <a:t>2. Design Constraints</a:t>
            </a:r>
          </a:p>
          <a:p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limit or restriction on the features or </a:t>
            </a:r>
            <a:r>
              <a:rPr lang="en-IN" sz="2200" dirty="0" err="1" smtClean="0">
                <a:latin typeface="Times New Roman" pitchFamily="18" charset="0"/>
                <a:cs typeface="Times New Roman" pitchFamily="18" charset="0"/>
              </a:rPr>
              <a:t>behaviors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 of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the design. A proposed design is unacceptable if these limits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are violated.</a:t>
            </a:r>
          </a:p>
          <a:p>
            <a:endParaRPr lang="en-IN" sz="22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 marL="0" indent="0">
              <a:buNone/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             a) Functional Constraints</a:t>
            </a:r>
          </a:p>
          <a:p>
            <a:pPr marL="0" indent="0">
              <a:buNone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    - Overall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geometry</a:t>
            </a:r>
          </a:p>
          <a:p>
            <a:pPr marL="0" indent="0">
              <a:buNone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	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   - Energy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requirement </a:t>
            </a: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	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   - Materials used</a:t>
            </a:r>
          </a:p>
          <a:p>
            <a:pPr marL="0" indent="0">
              <a:buNone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    - Control systems</a:t>
            </a:r>
          </a:p>
          <a:p>
            <a:pPr marL="0" indent="0">
              <a:buNone/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	b) Safety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constraints</a:t>
            </a:r>
          </a:p>
          <a:p>
            <a:pPr marL="0" indent="0">
              <a:buNone/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	c) Quality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constraints</a:t>
            </a:r>
          </a:p>
          <a:p>
            <a:pPr marL="0" indent="0">
              <a:buNone/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	d) Time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constraints</a:t>
            </a:r>
          </a:p>
          <a:p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1314615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-171400"/>
            <a:ext cx="8229600" cy="11430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953344"/>
            <a:ext cx="9036496" cy="59046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Design Functions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the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expected from the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design.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should perform certain functions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given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input to the required output.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They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 what the design (or, more likely, an object within the design) will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accomplish, with an emphasis on input-output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transformations.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 of a function typically couples an action verb to a noun or object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lift a book, support a shelf, transmit a current, measure a temperature, or switch on a light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7232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Design Means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the way in which a design executes a desired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</a:t>
            </a: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a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bicycle brake is </a:t>
            </a: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stop the wheel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 applying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brake lever by </a:t>
            </a: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means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frictional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force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rim and brake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pad.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function of a speaker is to produce sound by means of electro magnetic induction</a:t>
            </a:r>
          </a:p>
          <a:p>
            <a:endParaRPr lang="en-IN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Design Form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shape and structure 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area or mass to define objects in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space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Two dimensional</a:t>
            </a:r>
          </a:p>
          <a:p>
            <a:pPr lvl="1"/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Three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dimensional 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94487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379" y="244341"/>
            <a:ext cx="9090488" cy="1143000"/>
          </a:xfrm>
        </p:spPr>
        <p:txBody>
          <a:bodyPr>
            <a:normAutofit/>
          </a:bodyPr>
          <a:lstStyle/>
          <a:p>
            <a:pPr algn="l"/>
            <a:r>
              <a:rPr lang="en-US" sz="28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Engineering Design is different from other kinds of design</a:t>
            </a:r>
            <a:endParaRPr lang="en-IN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0444" y="1417638"/>
            <a:ext cx="8229600" cy="4525963"/>
          </a:xfrm>
        </p:spPr>
        <p:txBody>
          <a:bodyPr>
            <a:noAutofit/>
          </a:bodyPr>
          <a:lstStyle/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Scientists study how nature works, Engineers create new things, such as products, websites, environments, and experiences. 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Scientists perform experiments using the scientific method; whereas, Engineers follow the creativity-based engineering design process. The kinds of design involve.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Design that applies to engineered structures, infrastructure, technology and machines in creating functional products and processes.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design is the creative process of identifying needs and then devising a solution to fill those needs. This solution may be a product, a technique, a structure, a project, a method, or many other things depending on the problem. It is a decision – making process (Often iterative), in which the basic sciences, mathematics and engineering sciences are applied to optimally convert resources to meet a stated objective. </a:t>
            </a:r>
          </a:p>
          <a:p>
            <a:pPr lvl="1"/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24093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233" y="1556792"/>
            <a:ext cx="7907533" cy="4536504"/>
          </a:xfrm>
        </p:spPr>
      </p:pic>
    </p:spTree>
    <p:extLst>
      <p:ext uri="{BB962C8B-B14F-4D97-AF65-F5344CB8AC3E}">
        <p14:creationId xmlns:p14="http://schemas.microsoft.com/office/powerpoint/2010/main" val="3829805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417638"/>
            <a:ext cx="8229600" cy="544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1551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6632"/>
            <a:ext cx="9144000" cy="674136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Where and When do Engineers Design?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designers work in many different kinds of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environments: small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large companies, start-up ventures, government,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not-for profit organizations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engineering services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firms.</a:t>
            </a: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engineer working for a large company that processes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distributes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various food products could be asked to design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container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 new juice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product.</a:t>
            </a: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 could work for a design-and-construction company, designing part of a highway bridge embedded in a larger transportation project.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an automobile company that is developing new instrumentation clusters for its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cars.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school system that wants to design specialized facilities to better serve students with orthopedic disabilities</a:t>
            </a:r>
          </a:p>
          <a:p>
            <a:endParaRPr lang="en-US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5001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8640"/>
            <a:ext cx="9144000" cy="66693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Roles played as the design unfolds: </a:t>
            </a: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person or group or company that wants a design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conceived.</a:t>
            </a:r>
          </a:p>
          <a:p>
            <a:pPr lvl="1"/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could be internal (e.g., a person at the food company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charge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new juice product) or external (e.g., the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agency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contracts for the new highway system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lvl="1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User: someone who will employ or operate whatever is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being designed.</a:t>
            </a:r>
          </a:p>
          <a:p>
            <a:pPr lvl="1"/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 the consumers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buy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drink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new juice drink, and drivers on a new interstate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highway.</a:t>
            </a:r>
          </a:p>
          <a:p>
            <a:pPr lvl="1"/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a stake in the design process because designs have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meet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needs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Designer: someone whose job is to solve the client’s problem in a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way that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meets the user’s needs.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20" y="0"/>
            <a:ext cx="1691680" cy="1556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5447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Vocabulary </a:t>
            </a:r>
            <a:r>
              <a:rPr lang="en-US" sz="22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</a:t>
            </a:r>
            <a:r>
              <a:rPr lang="en-US" sz="22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  <a:p>
            <a:r>
              <a:rPr lang="en-US" sz="2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:The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of being near to the true or desired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Breaking an object or process into smaller parts to examine or evaluate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systematically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Assessment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An evaluation of the cost, quality and/or ability of someone or something</a:t>
            </a:r>
          </a:p>
          <a:p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To share information orally, in written form and/or graphically through various forms of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media.</a:t>
            </a:r>
          </a:p>
          <a:p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limitation or condition that must be satisfied by a design, including materials, cost, size, labor, etc.</a:t>
            </a:r>
          </a:p>
          <a:p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Criteria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Attributes of a design that can be measured; a set of standards upon which a decision is based</a:t>
            </a:r>
          </a:p>
          <a:p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To generate or to propose a possible solution; to create, fashion, execute, or construct</a:t>
            </a:r>
          </a:p>
          <a:p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visual representation of data or information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0790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649491"/>
          </a:xfrm>
        </p:spPr>
        <p:txBody>
          <a:bodyPr>
            <a:noAutofit/>
          </a:bodyPr>
          <a:lstStyle/>
          <a:p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Effectiveness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determination of how well a solution meets the criteria</a:t>
            </a:r>
          </a:p>
          <a:p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measurable relationship between a solution and the amount of resources it requires</a:t>
            </a:r>
          </a:p>
          <a:p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Error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difference between a measured value and its true or accepted value; important</a:t>
            </a:r>
          </a:p>
          <a:p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Failure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inability of a device, process, or system to perform a required function</a:t>
            </a:r>
          </a:p>
          <a:p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specific task that a system or part of a system performs or is intended to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perform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minimum or maximum permissible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: A diagram, replica, mathematical representation, analogy, or computer simulation used to analyze a system for condition flaws, test a solution, visualize or refine a design, and/or communicate design features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80626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844" y="1556792"/>
            <a:ext cx="8402635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To become aware of an occurrence using the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senses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 (n.)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systematic approach to solving a problem</a:t>
            </a:r>
          </a:p>
          <a:p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situation to be changed; a question raised for inquiry, consideration, or solution</a:t>
            </a:r>
          </a:p>
          <a:p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series of steps that form a pathway to a solution</a:t>
            </a:r>
          </a:p>
          <a:p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model that tests design performance</a:t>
            </a: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41951097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6632"/>
            <a:ext cx="9144000" cy="674136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</a:t>
            </a: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learn and do Engineering </a:t>
            </a:r>
            <a:r>
              <a:rPr 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  <a:p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are ill structured (no structured / formulaic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solution) and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ended (many acceptable solutions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possible) which makes Engineering Design not easy.</a:t>
            </a:r>
          </a:p>
          <a:p>
            <a:pPr lvl="1"/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Their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 cannot normally be found by applying mathematical formulas or algorithms in a routine or structured way. </a:t>
            </a:r>
          </a:p>
          <a:p>
            <a:pPr lvl="1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Teaching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do engineering design is not easy. It is learned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 doing(studio aspect).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43954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0"/>
            <a:ext cx="8229600" cy="980728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Defining a Design Process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199" y="980728"/>
            <a:ext cx="8363273" cy="587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114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86" y="0"/>
            <a:ext cx="8970130" cy="321297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90" y="3208606"/>
            <a:ext cx="9036496" cy="364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044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45003" y="0"/>
            <a:ext cx="9189003" cy="6741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266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512" y="260648"/>
            <a:ext cx="8964488" cy="424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603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817" y="0"/>
            <a:ext cx="90341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433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09" y="188640"/>
            <a:ext cx="9141391" cy="6552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518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50" y="1772816"/>
            <a:ext cx="9036496" cy="453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432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 1: Wrist Watch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600200"/>
            <a:ext cx="8784976" cy="4525963"/>
          </a:xfrm>
        </p:spPr>
        <p:txBody>
          <a:bodyPr>
            <a:normAutofit/>
          </a:bodyPr>
          <a:lstStyle/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Problem: Show the designing of a wrist watch going through the various stages of the design process. Use hand sketches to illustrate the processes.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0467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519" y="260648"/>
            <a:ext cx="8784977" cy="6597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079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512" y="42012"/>
            <a:ext cx="8712968" cy="6815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520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5719" y="1916832"/>
            <a:ext cx="9052215" cy="24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096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7020" y="14988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 2: Carry Bag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512" y="1340768"/>
            <a:ext cx="8784976" cy="544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697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498</TotalTime>
  <Words>1896</Words>
  <Application>Microsoft Office PowerPoint</Application>
  <PresentationFormat>On-screen Show (4:3)</PresentationFormat>
  <Paragraphs>219</Paragraphs>
  <Slides>41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Arial</vt:lpstr>
      <vt:lpstr>Bookman Old Style</vt:lpstr>
      <vt:lpstr>Calibri</vt:lpstr>
      <vt:lpstr>Times New Roman</vt:lpstr>
      <vt:lpstr>Office Theme</vt:lpstr>
      <vt:lpstr>EST 200 DESIGN AND ENGINEERING</vt:lpstr>
      <vt:lpstr>Purpose of this course</vt:lpstr>
      <vt:lpstr>Assessment Pattern</vt:lpstr>
      <vt:lpstr>Module 1 </vt:lpstr>
      <vt:lpstr>Introduction to Design and Engineering</vt:lpstr>
      <vt:lpstr> </vt:lpstr>
      <vt:lpstr>Contd..</vt:lpstr>
      <vt:lpstr>Where/for whom do engineers design?</vt:lpstr>
      <vt:lpstr>Persons related to a new design</vt:lpstr>
      <vt:lpstr>Design Process</vt:lpstr>
      <vt:lpstr>Design levels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Engineering Design is different from other kinds of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Defining a Design Process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Case Study 1: Wrist Watch</vt:lpstr>
      <vt:lpstr>PowerPoint Presentation</vt:lpstr>
      <vt:lpstr>PowerPoint Presentation</vt:lpstr>
      <vt:lpstr>PowerPoint Presentation</vt:lpstr>
      <vt:lpstr>Case Study 2: Carry Bag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 200 DESIGN AND ENGINEERING</dc:title>
  <dc:creator>Ms. Cinita Mary Mathew</dc:creator>
  <cp:lastModifiedBy>Swathi Venugopal</cp:lastModifiedBy>
  <cp:revision>37</cp:revision>
  <dcterms:created xsi:type="dcterms:W3CDTF">2022-09-14T04:14:59Z</dcterms:created>
  <dcterms:modified xsi:type="dcterms:W3CDTF">2023-09-05T04:04:27Z</dcterms:modified>
</cp:coreProperties>
</file>