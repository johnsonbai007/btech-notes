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6" r:id="rId6"/>
    <p:sldId id="287" r:id="rId7"/>
    <p:sldId id="288" r:id="rId8"/>
    <p:sldId id="260" r:id="rId9"/>
    <p:sldId id="289" r:id="rId10"/>
    <p:sldId id="261" r:id="rId11"/>
    <p:sldId id="290" r:id="rId12"/>
    <p:sldId id="291" r:id="rId13"/>
    <p:sldId id="262" r:id="rId14"/>
    <p:sldId id="263" r:id="rId15"/>
    <p:sldId id="292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B5CF-B7D3-4386-AF71-A2ECF52B876D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42B5F-CD55-4FFE-83FA-018DAB990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1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B5CF-B7D3-4386-AF71-A2ECF52B876D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42B5F-CD55-4FFE-83FA-018DAB990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44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B5CF-B7D3-4386-AF71-A2ECF52B876D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42B5F-CD55-4FFE-83FA-018DAB990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3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B5CF-B7D3-4386-AF71-A2ECF52B876D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42B5F-CD55-4FFE-83FA-018DAB990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13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B5CF-B7D3-4386-AF71-A2ECF52B876D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42B5F-CD55-4FFE-83FA-018DAB990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33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B5CF-B7D3-4386-AF71-A2ECF52B876D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42B5F-CD55-4FFE-83FA-018DAB990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B5CF-B7D3-4386-AF71-A2ECF52B876D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42B5F-CD55-4FFE-83FA-018DAB990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8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B5CF-B7D3-4386-AF71-A2ECF52B876D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42B5F-CD55-4FFE-83FA-018DAB990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26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B5CF-B7D3-4386-AF71-A2ECF52B876D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42B5F-CD55-4FFE-83FA-018DAB990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1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B5CF-B7D3-4386-AF71-A2ECF52B876D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42B5F-CD55-4FFE-83FA-018DAB990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99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B5CF-B7D3-4386-AF71-A2ECF52B876D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42B5F-CD55-4FFE-83FA-018DAB990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6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AB5CF-B7D3-4386-AF71-A2ECF52B876D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42B5F-CD55-4FFE-83FA-018DAB990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57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80757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1645" y="2482311"/>
            <a:ext cx="11088709" cy="1983347"/>
          </a:xfrm>
        </p:spPr>
        <p:txBody>
          <a:bodyPr>
            <a:no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Thinking Approach:-Introduction to Design Thinking,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Design Thinking Process Stages: Empathize, Define, Ideate, Prototype and Test.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Thinking as Divergent-Convergent Questioning.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Thinking in a Team Environment.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813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427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Design Thinking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31" y="1146220"/>
            <a:ext cx="11250769" cy="5486399"/>
          </a:xfrm>
        </p:spPr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Thinking is simply a process of creative problem solving.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thinking is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non-linear, iterative process that teams use to understand users, challenge assumptions, redefine problems and create innovative solutions to prototype and test.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most useful to tackle problems that are ill-defined or unknown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phases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</a:p>
          <a:p>
            <a:pPr lvl="1"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Empathize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Define</a:t>
            </a:r>
          </a:p>
          <a:p>
            <a:pPr lvl="1"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Ideate</a:t>
            </a:r>
          </a:p>
          <a:p>
            <a:pPr lvl="1"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</a:t>
            </a:r>
          </a:p>
          <a:p>
            <a:pPr lvl="1"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25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048" y="0"/>
            <a:ext cx="10515600" cy="1017431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Design Thinking Process Stages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6481"/>
            <a:ext cx="12192000" cy="584056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five phases—Empathize, Define, Ideate, Prototype and Test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These stages are not always sequential, and teams often run them in parallel, out of order and repeat them in an iterative fashion.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909" y="1522280"/>
            <a:ext cx="7974800" cy="420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2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31" y="128788"/>
            <a:ext cx="12088969" cy="672921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6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Empathize   - Research your users needs</a:t>
            </a:r>
            <a:endParaRPr lang="en-US" sz="2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first step in design thinking because it is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skill that allows us to understand and share the same feelings that others feel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Through empathy, we are able to put ourselves in other people's shoes and connect with how they might be feeling about their problem, circumstance, or situation.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gain an empathetic understanding of the problem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they are trying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solve, typically through user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Empathy is crucial to a human centered design process such as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thinking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allows you to set aside your own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about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world and gain real insight into users and their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time constraints, a substantial amount of information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gathered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 to use during the next stage and to develop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understanding of the users, their needs, and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that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underlie the development of that particular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596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 </a:t>
            </a:r>
            <a:r>
              <a:rPr lang="en-US" dirty="0" smtClean="0"/>
              <a:t>steps</a:t>
            </a:r>
          </a:p>
          <a:p>
            <a:pPr marL="457200" lvl="1" indent="0">
              <a:buNone/>
            </a:pPr>
            <a:r>
              <a:rPr lang="en-US" dirty="0" smtClean="0"/>
              <a:t>1) Observe</a:t>
            </a:r>
          </a:p>
          <a:p>
            <a:pPr lvl="2"/>
            <a:r>
              <a:rPr lang="en-US" dirty="0" smtClean="0"/>
              <a:t>How </a:t>
            </a:r>
            <a:r>
              <a:rPr lang="en-US" dirty="0"/>
              <a:t>users interact with their environment.</a:t>
            </a:r>
          </a:p>
          <a:p>
            <a:pPr lvl="2"/>
            <a:r>
              <a:rPr lang="en-US" dirty="0" smtClean="0"/>
              <a:t>Capture </a:t>
            </a:r>
            <a:r>
              <a:rPr lang="en-US" dirty="0"/>
              <a:t>quotes, behaviors and other notes that reflect their experience.</a:t>
            </a:r>
          </a:p>
          <a:p>
            <a:pPr lvl="2"/>
            <a:r>
              <a:rPr lang="en-US" dirty="0" smtClean="0"/>
              <a:t>Notice </a:t>
            </a:r>
            <a:r>
              <a:rPr lang="en-US" dirty="0"/>
              <a:t>what they think, feel, need</a:t>
            </a:r>
          </a:p>
          <a:p>
            <a:pPr marL="457200" lvl="1" indent="0">
              <a:buNone/>
            </a:pPr>
            <a:r>
              <a:rPr lang="en-US" dirty="0" smtClean="0"/>
              <a:t>2) Engage</a:t>
            </a:r>
            <a:endParaRPr lang="en-US" dirty="0"/>
          </a:p>
          <a:p>
            <a:pPr lvl="2"/>
            <a:r>
              <a:rPr lang="en-US" dirty="0" smtClean="0"/>
              <a:t>Interviews </a:t>
            </a:r>
            <a:r>
              <a:rPr lang="en-US" dirty="0"/>
              <a:t>scheduled or ad-hoc</a:t>
            </a:r>
          </a:p>
          <a:p>
            <a:pPr lvl="2"/>
            <a:r>
              <a:rPr lang="en-US" dirty="0" smtClean="0"/>
              <a:t>Learn </a:t>
            </a:r>
            <a:r>
              <a:rPr lang="en-US" dirty="0"/>
              <a:t>how to ask the right questions</a:t>
            </a:r>
          </a:p>
          <a:p>
            <a:pPr marL="457200" lvl="1" indent="0">
              <a:buNone/>
            </a:pPr>
            <a:r>
              <a:rPr lang="en-US" dirty="0" smtClean="0"/>
              <a:t>3) Immerse</a:t>
            </a:r>
            <a:endParaRPr lang="en-US" dirty="0"/>
          </a:p>
          <a:p>
            <a:pPr lvl="2"/>
            <a:r>
              <a:rPr lang="en-US" dirty="0" smtClean="0"/>
              <a:t>Find </a:t>
            </a:r>
            <a:r>
              <a:rPr lang="en-US" dirty="0"/>
              <a:t>ways “to get into the user’s shoes”</a:t>
            </a:r>
          </a:p>
          <a:p>
            <a:pPr lvl="2"/>
            <a:r>
              <a:rPr lang="en-US" dirty="0" smtClean="0"/>
              <a:t>Best </a:t>
            </a:r>
            <a:r>
              <a:rPr lang="en-US" dirty="0"/>
              <a:t>way to understand the users’ needs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1647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Empathy Map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0" y="1502229"/>
            <a:ext cx="9170126" cy="4674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820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0" y="300446"/>
            <a:ext cx="8490858" cy="564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703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89" y="141668"/>
            <a:ext cx="11874321" cy="62977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Define – State your users needs and problems.</a:t>
            </a: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Define stage, you put together the information you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 created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gathered during the Empathize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stage.</a:t>
            </a: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analyze your observations and synthesize them to define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you and your team have identified up to this point. These definitions are called problem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statements.</a:t>
            </a: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concise descriptions of design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problems. It should be clear and unambiguous.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769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tools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of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articulate a POV by combining these three elements –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user, need, and insight.</a:t>
            </a:r>
          </a:p>
          <a:p>
            <a:pPr lvl="1"/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Might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questions that launch brainstorms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Why-How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find user needs and ways to possibly solve them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564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31" y="115910"/>
            <a:ext cx="11938715" cy="6619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Ideate – Challenge Assumptions and create ideas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background of knowledge from the first two phases means you can start to think outside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box, look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alternative ways to view the problem and identify innovative solutions to the problem statement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have created.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get as many ideas or problem solutions as possible at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beginning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Ideation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Brainstorming is particularly useful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here.</a:t>
            </a:r>
          </a:p>
          <a:p>
            <a:pPr lvl="1"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Brainstorming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method design teams use to generate ideas to solve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clearly defined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assumptions you have about the product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are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challenge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step if the empathy stage wasn’t well done and there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were many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things assumed about the users and their context</a:t>
            </a:r>
          </a:p>
        </p:txBody>
      </p:sp>
    </p:spTree>
    <p:extLst>
      <p:ext uri="{BB962C8B-B14F-4D97-AF65-F5344CB8AC3E}">
        <p14:creationId xmlns:p14="http://schemas.microsoft.com/office/powerpoint/2010/main" val="962535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ideate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Ideate=transition from identifying problems to exploring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Ideation is leveraged to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Harness the collective perspectives and strengths of your team.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beyond obvious solutions and drive innovation.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Uncover unexpected areas of exploration.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fluency (volume) and flexibility (variety) in your innovation options.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734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to ideate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939801" y="1690688"/>
            <a:ext cx="5157787" cy="368458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Brainstorm</a:t>
            </a:r>
          </a:p>
          <a:p>
            <a:r>
              <a:rPr lang="en-US" dirty="0" err="1"/>
              <a:t>Braindump</a:t>
            </a:r>
            <a:endParaRPr lang="en-US" dirty="0"/>
          </a:p>
          <a:p>
            <a:r>
              <a:rPr lang="en-US" dirty="0" err="1"/>
              <a:t>Brainwrite</a:t>
            </a:r>
            <a:endParaRPr lang="en-US" dirty="0"/>
          </a:p>
          <a:p>
            <a:r>
              <a:rPr lang="en-US" dirty="0" err="1"/>
              <a:t>Brainwalk</a:t>
            </a:r>
            <a:endParaRPr lang="en-US" dirty="0"/>
          </a:p>
          <a:p>
            <a:r>
              <a:rPr lang="en-US" dirty="0"/>
              <a:t>Challenge Assumptions</a:t>
            </a:r>
          </a:p>
          <a:p>
            <a:r>
              <a:rPr lang="en-US" dirty="0"/>
              <a:t>SCAMPER</a:t>
            </a:r>
          </a:p>
          <a:p>
            <a:r>
              <a:rPr lang="en-US" dirty="0" err="1"/>
              <a:t>Mindmap</a:t>
            </a:r>
            <a:endParaRPr lang="en-US" dirty="0"/>
          </a:p>
          <a:p>
            <a:r>
              <a:rPr lang="en-US" dirty="0"/>
              <a:t>Sketch or </a:t>
            </a:r>
            <a:r>
              <a:rPr lang="en-US" dirty="0" err="1"/>
              <a:t>Sketchstorm</a:t>
            </a:r>
            <a:endParaRPr lang="en-US" dirty="0"/>
          </a:p>
          <a:p>
            <a:r>
              <a:rPr lang="en-US" dirty="0"/>
              <a:t>Storyboard</a:t>
            </a:r>
          </a:p>
          <a:p>
            <a:r>
              <a:rPr lang="en-US" dirty="0"/>
              <a:t>Analogies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1" y="1690688"/>
            <a:ext cx="5183188" cy="368458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Provocation</a:t>
            </a:r>
          </a:p>
          <a:p>
            <a:r>
              <a:rPr lang="en-US" dirty="0"/>
              <a:t>Movement</a:t>
            </a:r>
          </a:p>
          <a:p>
            <a:r>
              <a:rPr lang="en-US" dirty="0" err="1"/>
              <a:t>Bodystorm</a:t>
            </a:r>
            <a:endParaRPr lang="en-US" dirty="0"/>
          </a:p>
          <a:p>
            <a:r>
              <a:rPr lang="en-US" dirty="0" err="1"/>
              <a:t>Gamestorming</a:t>
            </a:r>
            <a:endParaRPr lang="en-US" dirty="0"/>
          </a:p>
          <a:p>
            <a:r>
              <a:rPr lang="en-US" dirty="0" err="1"/>
              <a:t>Cheatstorm</a:t>
            </a:r>
            <a:endParaRPr lang="en-US" dirty="0"/>
          </a:p>
          <a:p>
            <a:r>
              <a:rPr lang="en-US" dirty="0" err="1"/>
              <a:t>Crowdstorm</a:t>
            </a:r>
            <a:endParaRPr lang="en-US" dirty="0"/>
          </a:p>
          <a:p>
            <a:r>
              <a:rPr lang="en-US" dirty="0"/>
              <a:t>Co-Creation Workshops</a:t>
            </a:r>
          </a:p>
          <a:p>
            <a:r>
              <a:rPr lang="en-US" dirty="0"/>
              <a:t>Power of Ten</a:t>
            </a:r>
          </a:p>
          <a:p>
            <a:r>
              <a:rPr lang="en-US" dirty="0"/>
              <a:t>Prototype</a:t>
            </a:r>
          </a:p>
          <a:p>
            <a:r>
              <a:rPr lang="en-US" dirty="0"/>
              <a:t>Creative Pause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7115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41668"/>
            <a:ext cx="12054625" cy="671633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Prototype – Start to create solutions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an experimental phase.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identify the best possible solution for each problem found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should produce some inexpensive, scaled down versions of the product (or specific features found within the product) to investigate the ideas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have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This could involve simulations, 3D models, animations etc.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solutions are implemented within the prototypes, and, one by one, they are investigated and either accepted, improved and re examined, or rejected on the basis of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Prototypes may be shared and tested within the team itself, in other departments, or on a small group of people outside the design team.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end of this stage, the design team will have a better idea of the constraints inherent to the product and the problems that are present, and have a clearer view of how real users would behave, think, and feel when interacting with the end product.</a:t>
            </a:r>
          </a:p>
        </p:txBody>
      </p:sp>
    </p:spTree>
    <p:extLst>
      <p:ext uri="{BB962C8B-B14F-4D97-AF65-F5344CB8AC3E}">
        <p14:creationId xmlns:p14="http://schemas.microsoft.com/office/powerpoint/2010/main" val="2346274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46" y="283334"/>
            <a:ext cx="11874322" cy="6574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Test – Try out your solutions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Evaluators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rigorously test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prototypes.</a:t>
            </a: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phase, alterations and refinements are made in order to rule out problem solutions and derive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deep understanding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product and its users as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much as possible.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this is the final phase, design thinking is iterative: Teams often use the results to redefine one or more further problems.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to previous stages to make further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alterations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refinements –to find or rule out alternative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and choose the best one.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043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with users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697" y="1407613"/>
            <a:ext cx="10515600" cy="4758056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you to learn about the solution you created but also about the users (builds empathy)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your user experience the prototype.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don’t tell. Put your prototype in the user’s hands (or your user in the prototype) and give only the basic context they need to understand what to do.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them talk through their experience.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prompts. “Tell me what you’re thinking as you do this.”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Actively observe.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immediately “correct” your user.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 how they use (and misuse) your prototype.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up with questions.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often the most valuable part.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327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931" y="1838504"/>
            <a:ext cx="10378869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Q) Illustrate a design thinking approach for designing a bag for college students within a limited budget. Describe each stage of the process and the iterative procedure involved. Use hand sketches to support your argument.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38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730" y="157918"/>
            <a:ext cx="11526591" cy="655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81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730" y="1027905"/>
            <a:ext cx="11368692" cy="550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04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60" y="390883"/>
            <a:ext cx="1208883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Thinking as Divergent-Convergent Questioning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223" y="1923618"/>
            <a:ext cx="11573554" cy="329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45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468" y="231819"/>
            <a:ext cx="11373927" cy="641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11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016" y="296213"/>
            <a:ext cx="10900608" cy="656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32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000" y="669701"/>
            <a:ext cx="11754000" cy="547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607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577" y="140948"/>
            <a:ext cx="11694017" cy="658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78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Thinking in a Team Environment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971" y="1690688"/>
            <a:ext cx="10519280" cy="418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09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062" y="167425"/>
            <a:ext cx="11147738" cy="6568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Characteristics of </a:t>
            </a: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u="sng" dirty="0" smtClean="0"/>
              <a:t> effective team are: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resolving Conflicts</a:t>
            </a:r>
          </a:p>
          <a:p>
            <a:pPr marL="514350" indent="-51435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resolution</a:t>
            </a:r>
          </a:p>
          <a:p>
            <a:pPr marL="514350" indent="-51435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situation</a:t>
            </a:r>
          </a:p>
          <a:p>
            <a:pPr marL="514350" indent="-51435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 Agreement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44" y="772731"/>
            <a:ext cx="10933386" cy="300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04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067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99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957" y="180304"/>
            <a:ext cx="11771273" cy="65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124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215" y="1176036"/>
            <a:ext cx="11622031" cy="256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77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820" y="90153"/>
            <a:ext cx="11850048" cy="654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22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– Drug Trolley in Hospitals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526" y="1825625"/>
            <a:ext cx="944444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Q) Construct a number of possible designs and then refine them to narrow down to the best design for a drug trolley used in hospitals. Show how the divergent-convergent thinking helps in the process. Provide your rationale for each step by using hand sketches only.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7650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661" y="231820"/>
            <a:ext cx="10897837" cy="638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69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608" y="181884"/>
            <a:ext cx="10637950" cy="667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02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836" y="171942"/>
            <a:ext cx="10724295" cy="668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72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425" y="149890"/>
            <a:ext cx="11462198" cy="67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53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88" y="365125"/>
            <a:ext cx="11225011" cy="531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6436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9546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KTU University Questions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2580"/>
            <a:ext cx="12192000" cy="616254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Discuss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manage the conflicts in a team executing the design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thinking process. [3 marks]</a:t>
            </a:r>
          </a:p>
          <a:p>
            <a:pPr marL="514350" indent="-514350"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the design thinking approach help engineers in creating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 and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designs? [3 marks]</a:t>
            </a:r>
          </a:p>
          <a:p>
            <a:pPr marL="514350" indent="-514350"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iterative process involved in design thinking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[3 marks]</a:t>
            </a:r>
          </a:p>
          <a:p>
            <a:pPr marL="514350" indent="-514350"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importance of empathize phase in design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thinking [3 marks]</a:t>
            </a:r>
          </a:p>
          <a:p>
            <a:pPr marL="514350" indent="-514350"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water bottle that can be opened with one hand. Illustrate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various stages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involved in design thinking. Sketch the final design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[14 marks]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Covid-19 pandemic, people have to wear a mask, but wearing a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 is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comfortable. Empathize about this design problem and arrive at a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using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thinking process, so that people can select the level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protection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by masks according to different situations. Illustrate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sketches.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 marks]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thinking approach for designing a wearable technology for a college student. Describe each stage of the process. [14 marks]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using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sketches. Some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vehicle drivers do not dim the headlights when facing another vehicle at night. Empathize about this design problem and arrive at a solution using the design thinking process. Illustrate the solution using sketches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 marks]</a:t>
            </a:r>
          </a:p>
          <a:p>
            <a:pPr marL="514350" indent="-514350">
              <a:buAutoNum type="arabicPeriod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18007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1337</Words>
  <Application>Microsoft Office PowerPoint</Application>
  <PresentationFormat>Widescreen</PresentationFormat>
  <Paragraphs>169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Times New Roman</vt:lpstr>
      <vt:lpstr>Wingdings</vt:lpstr>
      <vt:lpstr>Office Theme</vt:lpstr>
      <vt:lpstr>MODULE 2</vt:lpstr>
      <vt:lpstr>Introduction to Design Thinking</vt:lpstr>
      <vt:lpstr>Iterative Design Thinking Process Stages</vt:lpstr>
      <vt:lpstr>PowerPoint Presentation</vt:lpstr>
      <vt:lpstr>PowerPoint Presentation</vt:lpstr>
      <vt:lpstr>Empathy Map</vt:lpstr>
      <vt:lpstr>PowerPoint Presentation</vt:lpstr>
      <vt:lpstr>PowerPoint Presentation</vt:lpstr>
      <vt:lpstr>Define tools</vt:lpstr>
      <vt:lpstr>PowerPoint Presentation</vt:lpstr>
      <vt:lpstr>How to ideate</vt:lpstr>
      <vt:lpstr>Tools to ideate</vt:lpstr>
      <vt:lpstr>PowerPoint Presentation</vt:lpstr>
      <vt:lpstr>PowerPoint Presentation</vt:lpstr>
      <vt:lpstr>Testing with users</vt:lpstr>
      <vt:lpstr>Case Study</vt:lpstr>
      <vt:lpstr>PowerPoint Presentation</vt:lpstr>
      <vt:lpstr>PowerPoint Presentation</vt:lpstr>
      <vt:lpstr>Design Thinking as Divergent-Convergent Questioning</vt:lpstr>
      <vt:lpstr>PowerPoint Presentation</vt:lpstr>
      <vt:lpstr>PowerPoint Presentation</vt:lpstr>
      <vt:lpstr>PowerPoint Presentation</vt:lpstr>
      <vt:lpstr>PowerPoint Presentation</vt:lpstr>
      <vt:lpstr>Design Thinking in a Team Environment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Study – Drug Trolley in Hospitals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KTU University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</dc:title>
  <dc:creator>DELL</dc:creator>
  <cp:lastModifiedBy>Swathi Venugopal</cp:lastModifiedBy>
  <cp:revision>40</cp:revision>
  <dcterms:created xsi:type="dcterms:W3CDTF">2022-09-22T08:57:06Z</dcterms:created>
  <dcterms:modified xsi:type="dcterms:W3CDTF">2023-09-07T04:27:00Z</dcterms:modified>
</cp:coreProperties>
</file>