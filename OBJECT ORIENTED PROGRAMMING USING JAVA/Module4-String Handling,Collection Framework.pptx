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3" r:id="rId2"/>
    <p:sldId id="439" r:id="rId3"/>
    <p:sldId id="442" r:id="rId4"/>
    <p:sldId id="261" r:id="rId5"/>
    <p:sldId id="262" r:id="rId6"/>
    <p:sldId id="263" r:id="rId7"/>
    <p:sldId id="264" r:id="rId8"/>
    <p:sldId id="265" r:id="rId9"/>
    <p:sldId id="266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  <p:sldId id="379" r:id="rId56"/>
    <p:sldId id="436" r:id="rId57"/>
    <p:sldId id="380" r:id="rId58"/>
    <p:sldId id="381" r:id="rId59"/>
    <p:sldId id="382" r:id="rId60"/>
    <p:sldId id="383" r:id="rId61"/>
    <p:sldId id="384" r:id="rId62"/>
    <p:sldId id="385" r:id="rId63"/>
    <p:sldId id="386" r:id="rId64"/>
    <p:sldId id="387" r:id="rId65"/>
    <p:sldId id="388" r:id="rId66"/>
    <p:sldId id="389" r:id="rId67"/>
    <p:sldId id="390" r:id="rId68"/>
    <p:sldId id="391" r:id="rId69"/>
    <p:sldId id="392" r:id="rId70"/>
    <p:sldId id="393" r:id="rId71"/>
    <p:sldId id="394" r:id="rId72"/>
    <p:sldId id="395" r:id="rId73"/>
    <p:sldId id="396" r:id="rId74"/>
    <p:sldId id="397" r:id="rId75"/>
    <p:sldId id="398" r:id="rId76"/>
    <p:sldId id="399" r:id="rId77"/>
    <p:sldId id="400" r:id="rId78"/>
    <p:sldId id="401" r:id="rId79"/>
    <p:sldId id="402" r:id="rId80"/>
    <p:sldId id="403" r:id="rId81"/>
    <p:sldId id="404" r:id="rId82"/>
    <p:sldId id="405" r:id="rId83"/>
    <p:sldId id="406" r:id="rId84"/>
    <p:sldId id="407" r:id="rId85"/>
    <p:sldId id="408" r:id="rId86"/>
    <p:sldId id="443" r:id="rId87"/>
    <p:sldId id="318" r:id="rId88"/>
    <p:sldId id="319" r:id="rId89"/>
    <p:sldId id="446" r:id="rId90"/>
    <p:sldId id="320" r:id="rId91"/>
    <p:sldId id="321" r:id="rId92"/>
    <p:sldId id="322" r:id="rId93"/>
    <p:sldId id="323" r:id="rId94"/>
    <p:sldId id="324" r:id="rId95"/>
    <p:sldId id="325" r:id="rId96"/>
    <p:sldId id="326" r:id="rId97"/>
    <p:sldId id="327" r:id="rId98"/>
    <p:sldId id="328" r:id="rId99"/>
    <p:sldId id="444" r:id="rId100"/>
  </p:sldIdLst>
  <p:sldSz cx="7556500" cy="5359400"/>
  <p:notesSz cx="7556500" cy="5359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810" y="-2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1655508"/>
            <a:ext cx="6428422" cy="11214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2990596"/>
            <a:ext cx="5293995" cy="1335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1228280"/>
            <a:ext cx="3289839" cy="352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1228280"/>
            <a:ext cx="3289839" cy="352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0703" y="725613"/>
            <a:ext cx="5761442" cy="31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3117" y="1135252"/>
            <a:ext cx="5718175" cy="279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4966525"/>
            <a:ext cx="2420112" cy="267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4966525"/>
            <a:ext cx="1739455" cy="267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4966525"/>
            <a:ext cx="1739455" cy="267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084954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 </a:t>
            </a:r>
            <a:r>
              <a:rPr dirty="0"/>
              <a:t>Handling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1" y="1207027"/>
            <a:ext cx="5593715" cy="29000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3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5" dirty="0">
                <a:solidFill>
                  <a:srgbClr val="FF0000"/>
                </a:solidFill>
                <a:latin typeface="Arial MT"/>
                <a:cs typeface="Arial MT"/>
              </a:rPr>
              <a:t>class</a:t>
            </a:r>
            <a:r>
              <a:rPr sz="17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Java.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spc="20" dirty="0">
                <a:latin typeface="Arial MT"/>
                <a:cs typeface="Arial MT"/>
              </a:rPr>
              <a:t>J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60" dirty="0">
                <a:latin typeface="Arial MT"/>
                <a:cs typeface="Arial MT"/>
              </a:rPr>
              <a:t>v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im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15" dirty="0">
                <a:latin typeface="Arial MT"/>
                <a:cs typeface="Arial MT"/>
              </a:rPr>
              <a:t>l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-35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ts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ob</a:t>
            </a:r>
            <a:r>
              <a:rPr sz="1700" spc="20" dirty="0">
                <a:latin typeface="Arial MT"/>
                <a:cs typeface="Arial MT"/>
              </a:rPr>
              <a:t>j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ts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20" dirty="0">
                <a:latin typeface="Arial MT"/>
                <a:cs typeface="Arial MT"/>
              </a:rPr>
              <a:t>y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ng.</a:t>
            </a:r>
            <a:endParaRPr sz="1700">
              <a:latin typeface="Arial MT"/>
              <a:cs typeface="Arial MT"/>
            </a:endParaRPr>
          </a:p>
          <a:p>
            <a:pPr marL="255270">
              <a:lnSpc>
                <a:spcPct val="100000"/>
              </a:lnSpc>
              <a:spcBef>
                <a:spcPts val="405"/>
              </a:spcBef>
            </a:pPr>
            <a:r>
              <a:rPr sz="1450" spc="10" dirty="0">
                <a:latin typeface="Arial MT"/>
                <a:cs typeface="Arial MT"/>
              </a:rPr>
              <a:t>–</a:t>
            </a:r>
            <a:r>
              <a:rPr sz="1450" spc="-30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The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type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is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used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declare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string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variables</a:t>
            </a:r>
            <a:endParaRPr sz="1450">
              <a:latin typeface="Arial MT"/>
              <a:cs typeface="Arial MT"/>
            </a:endParaRPr>
          </a:p>
          <a:p>
            <a:pPr marL="194945" marR="5080" indent="-182880">
              <a:lnSpc>
                <a:spcPct val="100800"/>
              </a:lnSpc>
              <a:spcBef>
                <a:spcPts val="390"/>
              </a:spcBef>
              <a:buChar char="•"/>
              <a:tabLst>
                <a:tab pos="195580" algn="l"/>
              </a:tabLst>
            </a:pPr>
            <a:r>
              <a:rPr sz="1700" spc="25" dirty="0">
                <a:latin typeface="Arial MT"/>
                <a:cs typeface="Arial MT"/>
              </a:rPr>
              <a:t>Java </a:t>
            </a:r>
            <a:r>
              <a:rPr sz="1700" spc="5" dirty="0">
                <a:latin typeface="Arial MT"/>
                <a:cs typeface="Arial MT"/>
              </a:rPr>
              <a:t>has methods to compare </a:t>
            </a:r>
            <a:r>
              <a:rPr sz="1700" spc="-20" dirty="0">
                <a:latin typeface="Arial MT"/>
                <a:cs typeface="Arial MT"/>
              </a:rPr>
              <a:t>two </a:t>
            </a:r>
            <a:r>
              <a:rPr sz="1700" spc="5" dirty="0">
                <a:latin typeface="Arial MT"/>
                <a:cs typeface="Arial MT"/>
              </a:rPr>
              <a:t>strings, </a:t>
            </a:r>
            <a:r>
              <a:rPr sz="1700" spc="10" dirty="0">
                <a:latin typeface="Arial MT"/>
                <a:cs typeface="Arial MT"/>
              </a:rPr>
              <a:t>search </a:t>
            </a:r>
            <a:r>
              <a:rPr sz="1700" spc="15" dirty="0">
                <a:latin typeface="Arial MT"/>
                <a:cs typeface="Arial MT"/>
              </a:rPr>
              <a:t>for </a:t>
            </a:r>
            <a:r>
              <a:rPr sz="1700" spc="5" dirty="0">
                <a:latin typeface="Arial MT"/>
                <a:cs typeface="Arial MT"/>
              </a:rPr>
              <a:t>a 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substring,</a:t>
            </a:r>
            <a:r>
              <a:rPr sz="1700" spc="-1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concatenate</a:t>
            </a:r>
            <a:r>
              <a:rPr sz="1700" spc="-1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two</a:t>
            </a:r>
            <a:r>
              <a:rPr sz="1700" spc="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strings,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change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case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letters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within</a:t>
            </a:r>
            <a:r>
              <a:rPr sz="1700" spc="5" dirty="0">
                <a:latin typeface="Arial MT"/>
                <a:cs typeface="Arial MT"/>
              </a:rPr>
              <a:t> a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ts val="2039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10" dirty="0">
                <a:latin typeface="Arial MT"/>
                <a:cs typeface="Arial MT"/>
              </a:rPr>
              <a:t>A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quoted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constant(E.g.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“hello”)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can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assigned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endParaRPr sz="1700">
              <a:latin typeface="Arial MT"/>
              <a:cs typeface="Arial MT"/>
            </a:endParaRPr>
          </a:p>
          <a:p>
            <a:pPr marL="194945">
              <a:lnSpc>
                <a:spcPts val="2039"/>
              </a:lnSpc>
            </a:pP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variable.</a:t>
            </a:r>
            <a:endParaRPr sz="1700">
              <a:latin typeface="Arial MT"/>
              <a:cs typeface="Arial MT"/>
            </a:endParaRPr>
          </a:p>
          <a:p>
            <a:pPr marL="194945" marR="435609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spc="10" dirty="0">
                <a:latin typeface="Arial MT"/>
                <a:cs typeface="Arial MT"/>
              </a:rPr>
              <a:t>A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variable</a:t>
            </a:r>
            <a:r>
              <a:rPr sz="1700" spc="-1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can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assigned</a:t>
            </a:r>
            <a:r>
              <a:rPr sz="1700" spc="-1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another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variable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2D76-3A98-CBD8-C02F-6EFC0DDA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408" y="631736"/>
            <a:ext cx="4618442" cy="600164"/>
          </a:xfrm>
        </p:spPr>
        <p:txBody>
          <a:bodyPr/>
          <a:lstStyle/>
          <a:p>
            <a:r>
              <a:rPr lang="en-US" sz="2000" b="1" dirty="0">
                <a:cs typeface="Times New Roman"/>
              </a:rPr>
              <a:t>How</a:t>
            </a:r>
            <a:r>
              <a:rPr lang="en-US" sz="2000" b="1" spc="-43" dirty="0">
                <a:cs typeface="Times New Roman"/>
              </a:rPr>
              <a:t> </a:t>
            </a:r>
            <a:r>
              <a:rPr lang="en-US" sz="2000" b="1" spc="39" dirty="0">
                <a:cs typeface="Times New Roman"/>
              </a:rPr>
              <a:t>to</a:t>
            </a:r>
            <a:r>
              <a:rPr lang="en-US" sz="2000" b="1" spc="-4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create</a:t>
            </a:r>
            <a:r>
              <a:rPr lang="en-US" sz="2000" b="1" spc="-59" dirty="0">
                <a:cs typeface="Times New Roman"/>
              </a:rPr>
              <a:t> </a:t>
            </a:r>
            <a:r>
              <a:rPr lang="en-US" sz="2000" b="1" spc="-27" dirty="0">
                <a:cs typeface="Times New Roman"/>
              </a:rPr>
              <a:t>String</a:t>
            </a:r>
            <a:r>
              <a:rPr lang="en-US" sz="2000" b="1" spc="-59" dirty="0">
                <a:cs typeface="Times New Roman"/>
              </a:rPr>
              <a:t> </a:t>
            </a:r>
            <a:r>
              <a:rPr lang="en-US" sz="2000" b="1" spc="-8" dirty="0">
                <a:cs typeface="Times New Roman"/>
              </a:rPr>
              <a:t>object?</a:t>
            </a:r>
            <a:br>
              <a:rPr lang="en-US" sz="2000" dirty="0"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3E7C-C860-7672-3559-F7C35B516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542" y="1228280"/>
            <a:ext cx="6829108" cy="1838965"/>
          </a:xfrm>
        </p:spPr>
        <p:txBody>
          <a:bodyPr/>
          <a:lstStyle/>
          <a:p>
            <a:pPr marL="223810" indent="-213885">
              <a:lnSpc>
                <a:spcPct val="150000"/>
              </a:lnSpc>
              <a:spcBef>
                <a:spcPts val="469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23810" algn="l"/>
              </a:tabLst>
            </a:pPr>
            <a:r>
              <a:rPr lang="en-US" sz="2000" spc="-78" dirty="0">
                <a:solidFill>
                  <a:schemeClr val="tx1"/>
                </a:solidFill>
                <a:cs typeface="Times New Roman"/>
              </a:rPr>
              <a:t>There</a:t>
            </a:r>
            <a:r>
              <a:rPr lang="en-US" sz="20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78" dirty="0">
                <a:solidFill>
                  <a:schemeClr val="tx1"/>
                </a:solidFill>
                <a:cs typeface="Times New Roman"/>
              </a:rPr>
              <a:t>are</a:t>
            </a:r>
            <a:r>
              <a:rPr lang="en-US" sz="20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89" dirty="0">
                <a:solidFill>
                  <a:schemeClr val="tx1"/>
                </a:solidFill>
                <a:cs typeface="Times New Roman"/>
              </a:rPr>
              <a:t>two</a:t>
            </a:r>
            <a:r>
              <a:rPr lang="en-US" sz="20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159" dirty="0">
                <a:solidFill>
                  <a:schemeClr val="tx1"/>
                </a:solidFill>
                <a:cs typeface="Times New Roman"/>
              </a:rPr>
              <a:t>ways</a:t>
            </a:r>
            <a:r>
              <a:rPr lang="en-US" sz="2000" spc="-5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imes New Roman"/>
              </a:rPr>
              <a:t>to</a:t>
            </a:r>
            <a:r>
              <a:rPr lang="en-US" sz="20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74" dirty="0">
                <a:solidFill>
                  <a:schemeClr val="tx1"/>
                </a:solidFill>
                <a:cs typeface="Times New Roman"/>
              </a:rPr>
              <a:t>create</a:t>
            </a:r>
            <a:r>
              <a:rPr lang="en-US" sz="20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94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20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31" dirty="0">
                <a:solidFill>
                  <a:schemeClr val="tx1"/>
                </a:solidFill>
                <a:cs typeface="Times New Roman"/>
              </a:rPr>
              <a:t>object:</a:t>
            </a:r>
          </a:p>
          <a:p>
            <a:pPr marL="438191" indent="-178155">
              <a:lnSpc>
                <a:spcPct val="150000"/>
              </a:lnSpc>
              <a:spcBef>
                <a:spcPts val="378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438191" algn="l"/>
              </a:tabLst>
            </a:pPr>
            <a:r>
              <a:rPr lang="en-US" sz="2000" spc="-39" dirty="0">
                <a:solidFill>
                  <a:schemeClr val="tx1"/>
                </a:solidFill>
                <a:cs typeface="Times New Roman"/>
              </a:rPr>
              <a:t>By</a:t>
            </a:r>
            <a:r>
              <a:rPr lang="en-US" sz="2000" spc="-7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2000" spc="-10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8" dirty="0">
                <a:solidFill>
                  <a:schemeClr val="tx1"/>
                </a:solidFill>
                <a:cs typeface="Times New Roman"/>
              </a:rPr>
              <a:t>literal</a:t>
            </a:r>
          </a:p>
          <a:p>
            <a:pPr marL="438191" indent="-178155">
              <a:lnSpc>
                <a:spcPct val="150000"/>
              </a:lnSpc>
              <a:spcBef>
                <a:spcPts val="301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438191" algn="l"/>
              </a:tabLst>
            </a:pPr>
            <a:r>
              <a:rPr lang="en-US" sz="2000" spc="-39" dirty="0">
                <a:solidFill>
                  <a:schemeClr val="tx1"/>
                </a:solidFill>
                <a:cs typeface="Times New Roman"/>
              </a:rPr>
              <a:t>By</a:t>
            </a:r>
            <a:r>
              <a:rPr lang="en-US" sz="2000" spc="-3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imes New Roman"/>
              </a:rPr>
              <a:t>new</a:t>
            </a:r>
            <a:r>
              <a:rPr lang="en-US" sz="2000" spc="-2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2000" spc="-8" dirty="0">
                <a:solidFill>
                  <a:schemeClr val="tx1"/>
                </a:solidFill>
                <a:cs typeface="Times New Roman"/>
              </a:rPr>
              <a:t>keyword</a:t>
            </a:r>
            <a:endParaRPr lang="en-US" sz="2000" dirty="0">
              <a:solidFill>
                <a:schemeClr val="tx1"/>
              </a:solidFill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20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3E7C-C860-7672-3559-F7C35B516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650" y="1043113"/>
            <a:ext cx="7315200" cy="4227387"/>
          </a:xfrm>
        </p:spPr>
        <p:txBody>
          <a:bodyPr/>
          <a:lstStyle/>
          <a:p>
            <a:pPr marL="352825" indent="-342900">
              <a:spcBef>
                <a:spcPts val="469"/>
              </a:spcBef>
              <a:buAutoNum type="arabicPeriod"/>
            </a:pPr>
            <a:r>
              <a:rPr lang="en-US" sz="1800" b="1" spc="-39" dirty="0">
                <a:solidFill>
                  <a:schemeClr val="tx1"/>
                </a:solidFill>
                <a:cs typeface="Times New Roman"/>
              </a:rPr>
              <a:t>By</a:t>
            </a:r>
            <a:r>
              <a:rPr lang="en-US" sz="1800" b="1" spc="-7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b="1" spc="-23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b="1" spc="-7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b="1" spc="-8" dirty="0">
                <a:solidFill>
                  <a:schemeClr val="tx1"/>
                </a:solidFill>
                <a:cs typeface="Times New Roman"/>
              </a:rPr>
              <a:t>literal</a:t>
            </a:r>
          </a:p>
          <a:p>
            <a:pPr marL="188080" indent="-178155" algn="just">
              <a:spcBef>
                <a:spcPts val="78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188080" algn="l"/>
              </a:tabLst>
            </a:pPr>
            <a:r>
              <a:rPr lang="en-US" sz="1800" spc="-94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spc="-2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66" dirty="0">
                <a:solidFill>
                  <a:schemeClr val="tx1"/>
                </a:solidFill>
                <a:cs typeface="Times New Roman"/>
              </a:rPr>
              <a:t>literal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25" dirty="0">
                <a:solidFill>
                  <a:schemeClr val="tx1"/>
                </a:solidFill>
                <a:cs typeface="Times New Roman"/>
              </a:rPr>
              <a:t>is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created</a:t>
            </a:r>
            <a:r>
              <a:rPr lang="en-US" sz="1800" spc="-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56" dirty="0">
                <a:solidFill>
                  <a:schemeClr val="tx1"/>
                </a:solidFill>
                <a:cs typeface="Times New Roman"/>
              </a:rPr>
              <a:t>by</a:t>
            </a:r>
            <a:r>
              <a:rPr lang="en-US" sz="18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4" dirty="0">
                <a:solidFill>
                  <a:schemeClr val="tx1"/>
                </a:solidFill>
                <a:cs typeface="Times New Roman"/>
              </a:rPr>
              <a:t>double</a:t>
            </a:r>
            <a:r>
              <a:rPr lang="en-US" sz="1800" spc="-2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quote.</a:t>
            </a:r>
          </a:p>
          <a:p>
            <a:pPr marL="9925" algn="just">
              <a:spcBef>
                <a:spcPts val="78"/>
              </a:spcBef>
              <a:buClr>
                <a:srgbClr val="9B2C1F"/>
              </a:buClr>
              <a:buSzPct val="85416"/>
              <a:tabLst>
                <a:tab pos="188080" algn="l"/>
              </a:tabLst>
            </a:pPr>
            <a:r>
              <a:rPr lang="en-US" sz="1800" b="1" spc="-51" dirty="0" err="1">
                <a:solidFill>
                  <a:schemeClr val="tx1"/>
                </a:solidFill>
                <a:cs typeface="Times New Roman"/>
              </a:rPr>
              <a:t>Eg</a:t>
            </a:r>
            <a:r>
              <a:rPr lang="en-US" sz="1800" b="1" spc="-51" dirty="0">
                <a:solidFill>
                  <a:schemeClr val="tx1"/>
                </a:solidFill>
                <a:cs typeface="Times New Roman"/>
              </a:rPr>
              <a:t>:  </a:t>
            </a:r>
            <a:r>
              <a:rPr lang="en-US" sz="1800" b="1" spc="-23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b="1" spc="-7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s="Hello";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188576" marR="3970" indent="-178651" algn="just">
              <a:spcBef>
                <a:spcPts val="320"/>
              </a:spcBef>
              <a:buSzPct val="85416"/>
              <a:buFont typeface="Wingdings"/>
              <a:buChar char=""/>
              <a:tabLst>
                <a:tab pos="188576" algn="l"/>
                <a:tab pos="283360" algn="l"/>
              </a:tabLst>
            </a:pPr>
            <a:r>
              <a:rPr lang="en-US" sz="1800" dirty="0">
                <a:solidFill>
                  <a:schemeClr val="tx1"/>
                </a:solidFill>
                <a:cs typeface="Times New Roman"/>
              </a:rPr>
              <a:t>	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Each</a:t>
            </a:r>
            <a:r>
              <a:rPr lang="en-US" sz="18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time</a:t>
            </a:r>
            <a:r>
              <a:rPr lang="en-US" sz="1800" spc="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you</a:t>
            </a:r>
            <a:r>
              <a:rPr lang="en-US" sz="1800" spc="16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create</a:t>
            </a:r>
            <a:r>
              <a:rPr lang="en-US" sz="1800" spc="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2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spc="3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literal,</a:t>
            </a:r>
            <a:r>
              <a:rPr lang="en-US" sz="1800" spc="-2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2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11" dirty="0">
                <a:solidFill>
                  <a:schemeClr val="tx1"/>
                </a:solidFill>
                <a:cs typeface="Times New Roman"/>
              </a:rPr>
              <a:t>JVM</a:t>
            </a:r>
            <a:r>
              <a:rPr lang="en-US" sz="1800" spc="9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checks</a:t>
            </a:r>
            <a:r>
              <a:rPr lang="en-US" sz="1800" spc="2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2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7" dirty="0">
                <a:solidFill>
                  <a:schemeClr val="tx1"/>
                </a:solidFill>
                <a:cs typeface="Times New Roman"/>
              </a:rPr>
              <a:t>string </a:t>
            </a:r>
            <a:r>
              <a:rPr lang="en-US" sz="1800" spc="-70" dirty="0">
                <a:solidFill>
                  <a:schemeClr val="tx1"/>
                </a:solidFill>
                <a:cs typeface="Times New Roman"/>
              </a:rPr>
              <a:t>constant</a:t>
            </a:r>
            <a:r>
              <a:rPr lang="en-US" sz="1800" spc="-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pool</a:t>
            </a:r>
            <a:r>
              <a:rPr lang="en-US" sz="18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39" dirty="0">
                <a:solidFill>
                  <a:schemeClr val="tx1"/>
                </a:solidFill>
                <a:cs typeface="Times New Roman"/>
              </a:rPr>
              <a:t>first.</a:t>
            </a:r>
            <a:r>
              <a:rPr lang="en-US" sz="1800" spc="-7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b="1" spc="-8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b="1" spc="-16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b="1" dirty="0">
                <a:solidFill>
                  <a:schemeClr val="tx1"/>
                </a:solidFill>
                <a:cs typeface="Times New Roman"/>
              </a:rPr>
              <a:t>constant</a:t>
            </a:r>
            <a:r>
              <a:rPr lang="en-US" sz="1800" b="1" spc="-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b="1" spc="43" dirty="0">
                <a:solidFill>
                  <a:schemeClr val="tx1"/>
                </a:solidFill>
                <a:cs typeface="Times New Roman"/>
              </a:rPr>
              <a:t>pool</a:t>
            </a:r>
            <a:r>
              <a:rPr lang="en-US" sz="1800" b="1" spc="-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is</a:t>
            </a:r>
            <a:r>
              <a:rPr lang="en-US" sz="1800" spc="-2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9" dirty="0">
                <a:solidFill>
                  <a:schemeClr val="tx1"/>
                </a:solidFill>
                <a:cs typeface="Times New Roman"/>
              </a:rPr>
              <a:t>temporary</a:t>
            </a:r>
            <a:r>
              <a:rPr lang="en-US" sz="1800" spc="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39" dirty="0">
                <a:solidFill>
                  <a:schemeClr val="tx1"/>
                </a:solidFill>
                <a:cs typeface="Times New Roman"/>
              </a:rPr>
              <a:t>memory </a:t>
            </a:r>
            <a:r>
              <a:rPr lang="en-US" sz="1800" spc="-78" dirty="0">
                <a:solidFill>
                  <a:schemeClr val="tx1"/>
                </a:solidFill>
                <a:cs typeface="Times New Roman"/>
              </a:rPr>
              <a:t>which</a:t>
            </a:r>
            <a:r>
              <a:rPr lang="en-US" sz="1800" spc="-16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63" dirty="0">
                <a:solidFill>
                  <a:schemeClr val="tx1"/>
                </a:solidFill>
                <a:cs typeface="Times New Roman"/>
              </a:rPr>
              <a:t>never</a:t>
            </a:r>
            <a:r>
              <a:rPr lang="en-US" sz="1800" spc="-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stores</a:t>
            </a:r>
            <a:r>
              <a:rPr lang="en-US" sz="1800" spc="-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21" dirty="0">
                <a:solidFill>
                  <a:schemeClr val="tx1"/>
                </a:solidFill>
                <a:cs typeface="Times New Roman"/>
              </a:rPr>
              <a:t>any</a:t>
            </a:r>
            <a:r>
              <a:rPr lang="en-US" sz="1800" spc="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duplicate</a:t>
            </a:r>
            <a:r>
              <a:rPr lang="en-US" sz="1800" spc="-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9" dirty="0">
                <a:solidFill>
                  <a:schemeClr val="tx1"/>
                </a:solidFill>
                <a:cs typeface="Times New Roman"/>
              </a:rPr>
              <a:t>strings. </a:t>
            </a:r>
            <a:r>
              <a:rPr lang="en-US" sz="1800" b="1" dirty="0">
                <a:solidFill>
                  <a:schemeClr val="tx1"/>
                </a:solidFill>
                <a:cs typeface="Times New Roman"/>
              </a:rPr>
              <a:t>Heap</a:t>
            </a:r>
            <a:r>
              <a:rPr lang="en-US" sz="1800" b="1" spc="-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b="1" dirty="0">
                <a:solidFill>
                  <a:schemeClr val="tx1"/>
                </a:solidFill>
                <a:cs typeface="Times New Roman"/>
              </a:rPr>
              <a:t>memory</a:t>
            </a:r>
            <a:r>
              <a:rPr lang="en-US" sz="1800" b="1" spc="-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stores</a:t>
            </a:r>
            <a:r>
              <a:rPr lang="en-US" sz="1800" spc="-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0" dirty="0">
                <a:solidFill>
                  <a:schemeClr val="tx1"/>
                </a:solidFill>
                <a:cs typeface="Times New Roman"/>
              </a:rPr>
              <a:t>all </a:t>
            </a:r>
            <a:r>
              <a:rPr lang="en-US" sz="1800" spc="-164" dirty="0">
                <a:solidFill>
                  <a:schemeClr val="tx1"/>
                </a:solidFill>
                <a:cs typeface="Times New Roman"/>
              </a:rPr>
              <a:t>java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objects.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188576" marR="7444" indent="-178651" algn="just">
              <a:spcBef>
                <a:spcPts val="305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188576" algn="l"/>
              </a:tabLst>
            </a:pPr>
            <a:endParaRPr lang="en-US" sz="1800" spc="-141" dirty="0">
              <a:solidFill>
                <a:schemeClr val="tx1"/>
              </a:solidFill>
              <a:cs typeface="Times New Roman"/>
            </a:endParaRPr>
          </a:p>
          <a:p>
            <a:pPr marL="188576" marR="7444" indent="-178651" algn="just">
              <a:spcBef>
                <a:spcPts val="305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188576" algn="l"/>
              </a:tabLst>
            </a:pPr>
            <a:r>
              <a:rPr lang="en-US" sz="1800" spc="-141" dirty="0">
                <a:solidFill>
                  <a:schemeClr val="tx1"/>
                </a:solidFill>
                <a:cs typeface="Times New Roman"/>
              </a:rPr>
              <a:t>If</a:t>
            </a:r>
            <a:r>
              <a:rPr lang="en-US" sz="1800" spc="28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266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spc="27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6" dirty="0">
                <a:solidFill>
                  <a:schemeClr val="tx1"/>
                </a:solidFill>
                <a:cs typeface="Times New Roman"/>
              </a:rPr>
              <a:t>already</a:t>
            </a:r>
            <a:r>
              <a:rPr lang="en-US" sz="1800" spc="27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9" dirty="0">
                <a:solidFill>
                  <a:schemeClr val="tx1"/>
                </a:solidFill>
                <a:cs typeface="Times New Roman"/>
              </a:rPr>
              <a:t>exists</a:t>
            </a:r>
            <a:r>
              <a:rPr lang="en-US" sz="1800" spc="25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9" dirty="0">
                <a:solidFill>
                  <a:schemeClr val="tx1"/>
                </a:solidFill>
                <a:cs typeface="Times New Roman"/>
              </a:rPr>
              <a:t>in</a:t>
            </a:r>
            <a:r>
              <a:rPr lang="en-US" sz="1800" spc="26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266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pool,</a:t>
            </a:r>
            <a:r>
              <a:rPr lang="en-US" sz="1800" spc="18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52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27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reference</a:t>
            </a:r>
            <a:r>
              <a:rPr lang="en-US" sz="1800" spc="27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43" dirty="0">
                <a:solidFill>
                  <a:schemeClr val="tx1"/>
                </a:solidFill>
                <a:cs typeface="Times New Roman"/>
              </a:rPr>
              <a:t>to</a:t>
            </a:r>
            <a:r>
              <a:rPr lang="en-US" sz="1800" spc="28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27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6" dirty="0">
                <a:solidFill>
                  <a:schemeClr val="tx1"/>
                </a:solidFill>
                <a:cs typeface="Times New Roman"/>
              </a:rPr>
              <a:t>pooled</a:t>
            </a:r>
            <a:r>
              <a:rPr lang="en-US" sz="18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4" dirty="0">
                <a:solidFill>
                  <a:schemeClr val="tx1"/>
                </a:solidFill>
                <a:cs typeface="Times New Roman"/>
              </a:rPr>
              <a:t>instance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returns.</a:t>
            </a:r>
            <a:r>
              <a:rPr lang="en-US" sz="1800" spc="-9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45" dirty="0">
                <a:solidFill>
                  <a:schemeClr val="tx1"/>
                </a:solidFill>
                <a:cs typeface="Times New Roman"/>
              </a:rPr>
              <a:t>If</a:t>
            </a:r>
            <a:r>
              <a:rPr lang="en-US" sz="18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63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-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spc="-12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2" dirty="0">
                <a:solidFill>
                  <a:schemeClr val="tx1"/>
                </a:solidFill>
                <a:cs typeface="Times New Roman"/>
              </a:rPr>
              <a:t>does</a:t>
            </a:r>
            <a:r>
              <a:rPr lang="en-US" sz="1800" spc="-2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not</a:t>
            </a:r>
            <a:r>
              <a:rPr lang="en-US" sz="18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exist</a:t>
            </a:r>
            <a:r>
              <a:rPr lang="en-US" sz="18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9" dirty="0">
                <a:solidFill>
                  <a:schemeClr val="tx1"/>
                </a:solidFill>
                <a:cs typeface="Times New Roman"/>
              </a:rPr>
              <a:t>in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-3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pool,</a:t>
            </a:r>
            <a:r>
              <a:rPr lang="en-US" sz="1800" spc="-12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52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-3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8" dirty="0">
                <a:solidFill>
                  <a:schemeClr val="tx1"/>
                </a:solidFill>
                <a:cs typeface="Times New Roman"/>
              </a:rPr>
              <a:t>new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9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spc="-66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4" dirty="0">
                <a:solidFill>
                  <a:schemeClr val="tx1"/>
                </a:solidFill>
                <a:cs typeface="Times New Roman"/>
              </a:rPr>
              <a:t>object</a:t>
            </a:r>
            <a:r>
              <a:rPr lang="en-US" sz="1800" spc="-59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0" dirty="0">
                <a:solidFill>
                  <a:schemeClr val="tx1"/>
                </a:solidFill>
                <a:cs typeface="Times New Roman"/>
              </a:rPr>
              <a:t>instantiates,</a:t>
            </a:r>
            <a:r>
              <a:rPr lang="en-US" sz="1800" spc="-137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66" dirty="0">
                <a:solidFill>
                  <a:schemeClr val="tx1"/>
                </a:solidFill>
                <a:cs typeface="Times New Roman"/>
              </a:rPr>
              <a:t>then</a:t>
            </a:r>
            <a:r>
              <a:rPr lang="en-US" sz="1800" spc="-51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21" dirty="0">
                <a:solidFill>
                  <a:schemeClr val="tx1"/>
                </a:solidFill>
                <a:cs typeface="Times New Roman"/>
              </a:rPr>
              <a:t>is</a:t>
            </a:r>
            <a:r>
              <a:rPr lang="en-US" sz="1800" spc="-6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8" dirty="0">
                <a:solidFill>
                  <a:schemeClr val="tx1"/>
                </a:solidFill>
                <a:cs typeface="Times New Roman"/>
              </a:rPr>
              <a:t>placed</a:t>
            </a:r>
            <a:r>
              <a:rPr lang="en-US" sz="1800" spc="-59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9" dirty="0">
                <a:solidFill>
                  <a:schemeClr val="tx1"/>
                </a:solidFill>
                <a:cs typeface="Times New Roman"/>
              </a:rPr>
              <a:t>in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 the pool.</a:t>
            </a:r>
            <a:r>
              <a:rPr lang="en-US" sz="1800" spc="-137" dirty="0">
                <a:solidFill>
                  <a:schemeClr val="tx1"/>
                </a:solidFill>
                <a:cs typeface="Times New Roman"/>
              </a:rPr>
              <a:t> </a:t>
            </a:r>
          </a:p>
          <a:p>
            <a:pPr marL="188576" marR="7444" indent="-178651" algn="just">
              <a:spcBef>
                <a:spcPts val="305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188576" algn="l"/>
              </a:tabLst>
            </a:pPr>
            <a:r>
              <a:rPr lang="en-US" sz="1800" spc="-137" dirty="0" err="1">
                <a:solidFill>
                  <a:schemeClr val="tx1"/>
                </a:solidFill>
                <a:cs typeface="Times New Roman"/>
              </a:rPr>
              <a:t>Eg</a:t>
            </a:r>
            <a:r>
              <a:rPr lang="en-US" sz="1800" spc="-137" dirty="0">
                <a:solidFill>
                  <a:schemeClr val="tx1"/>
                </a:solidFill>
                <a:cs typeface="Times New Roman"/>
              </a:rPr>
              <a:t>: 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9925" algn="just">
              <a:spcBef>
                <a:spcPts val="320"/>
              </a:spcBef>
              <a:buClr>
                <a:srgbClr val="9B2C1F"/>
              </a:buClr>
              <a:buSzPct val="85416"/>
              <a:tabLst>
                <a:tab pos="188080" algn="l"/>
              </a:tabLst>
            </a:pPr>
            <a:r>
              <a:rPr lang="en-US" sz="1800" b="1" spc="-23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b="1" spc="-7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s1="Welcome";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9925" algn="just">
              <a:spcBef>
                <a:spcPts val="320"/>
              </a:spcBef>
              <a:buClr>
                <a:srgbClr val="9B2C1F"/>
              </a:buClr>
              <a:buSzPct val="85416"/>
              <a:tabLst>
                <a:tab pos="188080" algn="l"/>
              </a:tabLst>
            </a:pPr>
            <a:r>
              <a:rPr lang="en-US" sz="1800" b="1" spc="-23" dirty="0">
                <a:solidFill>
                  <a:schemeClr val="tx1"/>
                </a:solidFill>
                <a:cs typeface="Times New Roman"/>
              </a:rPr>
              <a:t>String</a:t>
            </a:r>
            <a:r>
              <a:rPr lang="en-US" sz="1800" b="1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4" dirty="0">
                <a:solidFill>
                  <a:schemeClr val="tx1"/>
                </a:solidFill>
                <a:cs typeface="Times New Roman"/>
              </a:rPr>
              <a:t>s2="Welcome”</a:t>
            </a:r>
            <a:r>
              <a:rPr lang="en-US" sz="1800" spc="-148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;</a:t>
            </a:r>
            <a:r>
              <a:rPr lang="en-US" sz="1800" spc="-12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418" dirty="0">
                <a:solidFill>
                  <a:schemeClr val="tx1"/>
                </a:solidFill>
                <a:cs typeface="Times New Roman"/>
              </a:rPr>
              <a:t>//</a:t>
            </a:r>
            <a:r>
              <a:rPr lang="en-US" sz="18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6" dirty="0">
                <a:solidFill>
                  <a:schemeClr val="tx1"/>
                </a:solidFill>
                <a:cs typeface="Times New Roman"/>
              </a:rPr>
              <a:t>no</a:t>
            </a:r>
            <a:r>
              <a:rPr lang="en-US" sz="18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6" dirty="0">
                <a:solidFill>
                  <a:schemeClr val="tx1"/>
                </a:solidFill>
                <a:cs typeface="Times New Roman"/>
              </a:rPr>
              <a:t>new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8" dirty="0">
                <a:solidFill>
                  <a:schemeClr val="tx1"/>
                </a:solidFill>
                <a:cs typeface="Times New Roman"/>
              </a:rPr>
              <a:t>object</a:t>
            </a:r>
            <a:r>
              <a:rPr lang="en-US" sz="18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4" dirty="0">
                <a:solidFill>
                  <a:schemeClr val="tx1"/>
                </a:solidFill>
                <a:cs typeface="Times New Roman"/>
              </a:rPr>
              <a:t>will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4" dirty="0">
                <a:solidFill>
                  <a:schemeClr val="tx1"/>
                </a:solidFill>
                <a:cs typeface="Times New Roman"/>
              </a:rPr>
              <a:t>be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" dirty="0">
                <a:solidFill>
                  <a:schemeClr val="tx1"/>
                </a:solidFill>
                <a:cs typeface="Times New Roman"/>
              </a:rPr>
              <a:t>created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F20CAE-FB2F-C1F8-D94C-6FE42DFC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605" y="1039227"/>
            <a:ext cx="5111045" cy="36216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19ABBD-51C7-9E7C-AB00-452E55B89532}"/>
              </a:ext>
            </a:extLst>
          </p:cNvPr>
          <p:cNvSpPr txBox="1"/>
          <p:nvPr/>
        </p:nvSpPr>
        <p:spPr>
          <a:xfrm>
            <a:off x="0" y="4584700"/>
            <a:ext cx="7435850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4306" marR="681355" indent="-214381">
              <a:spcBef>
                <a:spcPts val="481"/>
              </a:spcBef>
              <a:buClr>
                <a:srgbClr val="D24717"/>
              </a:buClr>
              <a:buSzPct val="84482"/>
              <a:buFont typeface="Wingdings"/>
              <a:buChar char=""/>
              <a:tabLst>
                <a:tab pos="224306" algn="l"/>
              </a:tabLst>
            </a:pPr>
            <a:r>
              <a:rPr lang="en-US" sz="1800" spc="-113" dirty="0">
                <a:latin typeface="Arial MT"/>
                <a:cs typeface="Times New Roman"/>
              </a:rPr>
              <a:t>String</a:t>
            </a:r>
            <a:r>
              <a:rPr lang="en-US" sz="1800" spc="-31" dirty="0">
                <a:latin typeface="Arial MT"/>
                <a:cs typeface="Times New Roman"/>
              </a:rPr>
              <a:t> </a:t>
            </a:r>
            <a:r>
              <a:rPr lang="en-US" sz="1800" spc="-106" dirty="0">
                <a:latin typeface="Arial MT"/>
                <a:cs typeface="Times New Roman"/>
              </a:rPr>
              <a:t>objects</a:t>
            </a:r>
            <a:r>
              <a:rPr lang="en-US" sz="1800" spc="-39" dirty="0">
                <a:latin typeface="Arial MT"/>
                <a:cs typeface="Times New Roman"/>
              </a:rPr>
              <a:t> </a:t>
            </a:r>
            <a:r>
              <a:rPr lang="en-US" sz="1800" spc="-98" dirty="0">
                <a:latin typeface="Arial MT"/>
                <a:cs typeface="Times New Roman"/>
              </a:rPr>
              <a:t>are</a:t>
            </a:r>
            <a:r>
              <a:rPr lang="en-US" sz="1800" spc="-27" dirty="0">
                <a:latin typeface="Arial MT"/>
                <a:cs typeface="Times New Roman"/>
              </a:rPr>
              <a:t> </a:t>
            </a:r>
            <a:r>
              <a:rPr lang="en-US" sz="1800" spc="-78" dirty="0">
                <a:latin typeface="Arial MT"/>
                <a:cs typeface="Times New Roman"/>
              </a:rPr>
              <a:t>stored</a:t>
            </a:r>
            <a:r>
              <a:rPr lang="en-US" sz="1800" spc="-39" dirty="0">
                <a:latin typeface="Arial MT"/>
                <a:cs typeface="Times New Roman"/>
              </a:rPr>
              <a:t> </a:t>
            </a:r>
            <a:r>
              <a:rPr lang="en-US" sz="1800" spc="-109" dirty="0">
                <a:latin typeface="Arial MT"/>
                <a:cs typeface="Times New Roman"/>
              </a:rPr>
              <a:t>in</a:t>
            </a:r>
            <a:r>
              <a:rPr lang="en-US" sz="1800" spc="-47" dirty="0">
                <a:latin typeface="Arial MT"/>
                <a:cs typeface="Times New Roman"/>
              </a:rPr>
              <a:t> </a:t>
            </a:r>
            <a:r>
              <a:rPr lang="en-US" sz="1800" spc="-188" dirty="0">
                <a:latin typeface="Arial MT"/>
                <a:cs typeface="Times New Roman"/>
              </a:rPr>
              <a:t>a</a:t>
            </a:r>
            <a:r>
              <a:rPr lang="en-US" sz="1800" spc="-20" dirty="0">
                <a:latin typeface="Arial MT"/>
                <a:cs typeface="Times New Roman"/>
              </a:rPr>
              <a:t> </a:t>
            </a:r>
            <a:r>
              <a:rPr lang="en-US" sz="1800" spc="-133" dirty="0">
                <a:latin typeface="Arial MT"/>
                <a:cs typeface="Times New Roman"/>
              </a:rPr>
              <a:t>special</a:t>
            </a:r>
            <a:r>
              <a:rPr lang="en-US" sz="1800" spc="-55" dirty="0">
                <a:latin typeface="Arial MT"/>
                <a:cs typeface="Times New Roman"/>
              </a:rPr>
              <a:t> </a:t>
            </a:r>
            <a:r>
              <a:rPr lang="en-US" sz="1800" spc="-109" dirty="0">
                <a:latin typeface="Arial MT"/>
                <a:cs typeface="Times New Roman"/>
              </a:rPr>
              <a:t>memory</a:t>
            </a:r>
            <a:r>
              <a:rPr lang="en-US" sz="1800" spc="-23" dirty="0">
                <a:latin typeface="Arial MT"/>
                <a:cs typeface="Times New Roman"/>
              </a:rPr>
              <a:t> </a:t>
            </a:r>
            <a:r>
              <a:rPr lang="en-US" sz="1800" spc="-51" dirty="0">
                <a:latin typeface="Arial MT"/>
                <a:cs typeface="Times New Roman"/>
              </a:rPr>
              <a:t>area </a:t>
            </a:r>
            <a:r>
              <a:rPr lang="en-US" sz="1800" spc="-141" dirty="0">
                <a:latin typeface="Arial MT"/>
                <a:cs typeface="Times New Roman"/>
              </a:rPr>
              <a:t>known</a:t>
            </a:r>
            <a:r>
              <a:rPr lang="en-US" sz="1800" spc="-31" dirty="0">
                <a:latin typeface="Arial MT"/>
                <a:cs typeface="Times New Roman"/>
              </a:rPr>
              <a:t> </a:t>
            </a:r>
            <a:r>
              <a:rPr lang="en-US" sz="1800" spc="-184" dirty="0">
                <a:latin typeface="Arial MT"/>
                <a:cs typeface="Times New Roman"/>
              </a:rPr>
              <a:t>as</a:t>
            </a:r>
            <a:r>
              <a:rPr lang="en-US" sz="1800" spc="-43" dirty="0">
                <a:latin typeface="Arial MT"/>
                <a:cs typeface="Times New Roman"/>
              </a:rPr>
              <a:t> </a:t>
            </a:r>
            <a:r>
              <a:rPr lang="en-US" sz="1800" spc="-86" dirty="0">
                <a:latin typeface="Arial MT"/>
                <a:cs typeface="Times New Roman"/>
              </a:rPr>
              <a:t>string</a:t>
            </a:r>
            <a:r>
              <a:rPr lang="en-US" spc="-86" dirty="0">
                <a:latin typeface="Arial MT"/>
                <a:cs typeface="Times New Roman"/>
              </a:rPr>
              <a:t>     </a:t>
            </a:r>
          </a:p>
          <a:p>
            <a:pPr marL="9925" marR="681355">
              <a:spcBef>
                <a:spcPts val="481"/>
              </a:spcBef>
              <a:buClr>
                <a:srgbClr val="D24717"/>
              </a:buClr>
              <a:buSzPct val="84482"/>
              <a:tabLst>
                <a:tab pos="224306" algn="l"/>
              </a:tabLst>
            </a:pPr>
            <a:r>
              <a:rPr lang="en-US" sz="1800" spc="-102" dirty="0">
                <a:latin typeface="Arial MT"/>
                <a:cs typeface="Times New Roman"/>
              </a:rPr>
              <a:t>constant</a:t>
            </a:r>
            <a:r>
              <a:rPr lang="en-US" sz="1800" spc="-31" dirty="0">
                <a:latin typeface="Arial MT"/>
                <a:cs typeface="Times New Roman"/>
              </a:rPr>
              <a:t> </a:t>
            </a:r>
            <a:r>
              <a:rPr lang="en-US" sz="1800" spc="-106" dirty="0">
                <a:latin typeface="Arial MT"/>
                <a:cs typeface="Times New Roman"/>
              </a:rPr>
              <a:t>pool</a:t>
            </a:r>
            <a:r>
              <a:rPr lang="en-US" sz="1800" spc="-31" dirty="0">
                <a:latin typeface="Arial MT"/>
                <a:cs typeface="Times New Roman"/>
              </a:rPr>
              <a:t> </a:t>
            </a:r>
            <a:r>
              <a:rPr lang="en-US" sz="1800" spc="-121" dirty="0">
                <a:latin typeface="Arial MT"/>
                <a:cs typeface="Times New Roman"/>
              </a:rPr>
              <a:t>inside</a:t>
            </a:r>
            <a:r>
              <a:rPr lang="en-US" sz="1800" spc="-51" dirty="0">
                <a:latin typeface="Arial MT"/>
                <a:cs typeface="Times New Roman"/>
              </a:rPr>
              <a:t> </a:t>
            </a:r>
            <a:r>
              <a:rPr lang="en-US" sz="1800" spc="-55" dirty="0">
                <a:latin typeface="Arial MT"/>
                <a:cs typeface="Times New Roman"/>
              </a:rPr>
              <a:t>the</a:t>
            </a:r>
            <a:r>
              <a:rPr lang="en-US" sz="1800" spc="-39" dirty="0">
                <a:latin typeface="Arial MT"/>
                <a:cs typeface="Times New Roman"/>
              </a:rPr>
              <a:t> </a:t>
            </a:r>
            <a:r>
              <a:rPr lang="en-US" sz="1800" spc="-137" dirty="0">
                <a:latin typeface="Arial MT"/>
                <a:cs typeface="Times New Roman"/>
              </a:rPr>
              <a:t>Heap</a:t>
            </a:r>
            <a:r>
              <a:rPr lang="en-US" sz="1800" spc="-47" dirty="0">
                <a:latin typeface="Arial MT"/>
                <a:cs typeface="Times New Roman"/>
              </a:rPr>
              <a:t> </a:t>
            </a:r>
            <a:r>
              <a:rPr lang="en-US" sz="1800" spc="-23" dirty="0">
                <a:latin typeface="Arial MT"/>
                <a:cs typeface="Times New Roman"/>
              </a:rPr>
              <a:t>memory.</a:t>
            </a:r>
            <a:endParaRPr lang="en-US" sz="1800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" y="1155700"/>
            <a:ext cx="7467600" cy="3761009"/>
          </a:xfrm>
          <a:prstGeom prst="rect">
            <a:avLst/>
          </a:prstGeom>
        </p:spPr>
        <p:txBody>
          <a:bodyPr vert="horz" wrap="square" lIns="0" tIns="9925" rIns="0" bIns="0" rtlCol="0">
            <a:spAutoFit/>
          </a:bodyPr>
          <a:lstStyle/>
          <a:p>
            <a:pPr marL="224306" marR="3970" indent="-214381">
              <a:lnSpc>
                <a:spcPct val="150000"/>
              </a:lnSpc>
              <a:spcBef>
                <a:spcPts val="78"/>
              </a:spcBef>
              <a:buClr>
                <a:srgbClr val="D24717"/>
              </a:buClr>
              <a:buSzPct val="84482"/>
              <a:buFont typeface="Wingdings"/>
              <a:buChar char=""/>
              <a:tabLst>
                <a:tab pos="224306" algn="l"/>
              </a:tabLst>
            </a:pPr>
            <a:r>
              <a:rPr sz="2000" spc="-145" dirty="0">
                <a:latin typeface="Arial MT"/>
                <a:cs typeface="Times New Roman"/>
              </a:rPr>
              <a:t>In</a:t>
            </a:r>
            <a:r>
              <a:rPr sz="2000" spc="-31" dirty="0">
                <a:latin typeface="Arial MT"/>
                <a:cs typeface="Times New Roman"/>
              </a:rPr>
              <a:t> </a:t>
            </a:r>
            <a:r>
              <a:rPr sz="2000" spc="-66" dirty="0">
                <a:latin typeface="Arial MT"/>
                <a:cs typeface="Times New Roman"/>
              </a:rPr>
              <a:t>the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172" dirty="0">
                <a:latin typeface="Arial MT"/>
                <a:cs typeface="Times New Roman"/>
              </a:rPr>
              <a:t>above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25" dirty="0">
                <a:latin typeface="Arial MT"/>
                <a:cs typeface="Times New Roman"/>
              </a:rPr>
              <a:t>example</a:t>
            </a:r>
            <a:r>
              <a:rPr sz="2000" spc="-23" dirty="0">
                <a:latin typeface="Arial MT"/>
                <a:cs typeface="Times New Roman"/>
              </a:rPr>
              <a:t> </a:t>
            </a:r>
            <a:r>
              <a:rPr sz="2000" spc="-141" dirty="0">
                <a:latin typeface="Arial MT"/>
                <a:cs typeface="Times New Roman"/>
              </a:rPr>
              <a:t>only</a:t>
            </a:r>
            <a:r>
              <a:rPr sz="2000" spc="-31" dirty="0">
                <a:latin typeface="Arial MT"/>
                <a:cs typeface="Times New Roman"/>
              </a:rPr>
              <a:t> </a:t>
            </a:r>
            <a:r>
              <a:rPr sz="2000" spc="-106" dirty="0">
                <a:latin typeface="Arial MT"/>
                <a:cs typeface="Times New Roman"/>
              </a:rPr>
              <a:t>one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94" dirty="0">
                <a:latin typeface="Arial MT"/>
                <a:cs typeface="Times New Roman"/>
              </a:rPr>
              <a:t>object</a:t>
            </a:r>
            <a:r>
              <a:rPr sz="2000" spc="-51" dirty="0">
                <a:latin typeface="Arial MT"/>
                <a:cs typeface="Times New Roman"/>
              </a:rPr>
              <a:t> </a:t>
            </a:r>
            <a:r>
              <a:rPr sz="2000" spc="-106" dirty="0">
                <a:latin typeface="Arial MT"/>
                <a:cs typeface="Times New Roman"/>
              </a:rPr>
              <a:t>will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21" dirty="0">
                <a:latin typeface="Arial MT"/>
                <a:cs typeface="Times New Roman"/>
              </a:rPr>
              <a:t>be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70" dirty="0">
                <a:latin typeface="Arial MT"/>
                <a:cs typeface="Times New Roman"/>
              </a:rPr>
              <a:t>created.</a:t>
            </a:r>
            <a:r>
              <a:rPr sz="2000" spc="-137" dirty="0">
                <a:latin typeface="Arial MT"/>
                <a:cs typeface="Times New Roman"/>
              </a:rPr>
              <a:t> </a:t>
            </a:r>
            <a:r>
              <a:rPr sz="2000" spc="-8" dirty="0">
                <a:latin typeface="Arial MT"/>
                <a:cs typeface="Times New Roman"/>
              </a:rPr>
              <a:t>First </a:t>
            </a:r>
            <a:r>
              <a:rPr sz="2000" spc="-70" dirty="0">
                <a:latin typeface="Arial MT"/>
                <a:cs typeface="Times New Roman"/>
              </a:rPr>
              <a:t>time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242" dirty="0">
                <a:latin typeface="Arial MT"/>
                <a:cs typeface="Times New Roman"/>
              </a:rPr>
              <a:t>JVM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113" dirty="0">
                <a:latin typeface="Arial MT"/>
                <a:cs typeface="Times New Roman"/>
              </a:rPr>
              <a:t>will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129" dirty="0">
                <a:latin typeface="Arial MT"/>
                <a:cs typeface="Times New Roman"/>
              </a:rPr>
              <a:t>find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17" dirty="0">
                <a:latin typeface="Arial MT"/>
                <a:cs typeface="Times New Roman"/>
              </a:rPr>
              <a:t>no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string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98" dirty="0">
                <a:latin typeface="Arial MT"/>
                <a:cs typeface="Times New Roman"/>
              </a:rPr>
              <a:t>object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89" dirty="0">
                <a:latin typeface="Arial MT"/>
                <a:cs typeface="Times New Roman"/>
              </a:rPr>
              <a:t>with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74" dirty="0">
                <a:latin typeface="Arial MT"/>
                <a:cs typeface="Times New Roman"/>
              </a:rPr>
              <a:t>the</a:t>
            </a:r>
            <a:r>
              <a:rPr sz="2000" spc="-51" dirty="0">
                <a:latin typeface="Arial MT"/>
                <a:cs typeface="Times New Roman"/>
              </a:rPr>
              <a:t> </a:t>
            </a:r>
            <a:r>
              <a:rPr sz="2000" spc="-137" dirty="0">
                <a:latin typeface="Arial MT"/>
                <a:cs typeface="Times New Roman"/>
              </a:rPr>
              <a:t>name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spc="-78" dirty="0">
                <a:latin typeface="Arial MT"/>
                <a:cs typeface="Times New Roman"/>
              </a:rPr>
              <a:t>"Welcome" </a:t>
            </a:r>
            <a:r>
              <a:rPr sz="2000" spc="-106" dirty="0">
                <a:latin typeface="Arial MT"/>
                <a:cs typeface="Times New Roman"/>
              </a:rPr>
              <a:t>in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string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106" dirty="0">
                <a:latin typeface="Arial MT"/>
                <a:cs typeface="Times New Roman"/>
              </a:rPr>
              <a:t>constant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70" dirty="0">
                <a:latin typeface="Arial MT"/>
                <a:cs typeface="Times New Roman"/>
              </a:rPr>
              <a:t>pool,</a:t>
            </a:r>
            <a:r>
              <a:rPr sz="2000" spc="-137" dirty="0">
                <a:latin typeface="Arial MT"/>
                <a:cs typeface="Times New Roman"/>
              </a:rPr>
              <a:t> so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it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113" dirty="0">
                <a:latin typeface="Arial MT"/>
                <a:cs typeface="Times New Roman"/>
              </a:rPr>
              <a:t>will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82" dirty="0">
                <a:latin typeface="Arial MT"/>
                <a:cs typeface="Times New Roman"/>
              </a:rPr>
              <a:t>create</a:t>
            </a:r>
            <a:r>
              <a:rPr sz="2000" spc="-74" dirty="0">
                <a:latin typeface="Arial MT"/>
                <a:cs typeface="Times New Roman"/>
              </a:rPr>
              <a:t> </a:t>
            </a:r>
            <a:r>
              <a:rPr sz="2000" spc="-188" dirty="0">
                <a:latin typeface="Arial MT"/>
                <a:cs typeface="Times New Roman"/>
              </a:rPr>
              <a:t>a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33" dirty="0">
                <a:latin typeface="Arial MT"/>
                <a:cs typeface="Times New Roman"/>
              </a:rPr>
              <a:t>new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70" dirty="0">
                <a:latin typeface="Arial MT"/>
                <a:cs typeface="Times New Roman"/>
              </a:rPr>
              <a:t>object.</a:t>
            </a:r>
            <a:r>
              <a:rPr sz="2000" spc="-137" dirty="0">
                <a:latin typeface="Arial MT"/>
                <a:cs typeface="Times New Roman"/>
              </a:rPr>
              <a:t> </a:t>
            </a:r>
            <a:r>
              <a:rPr sz="2000" spc="-8" dirty="0">
                <a:latin typeface="Arial MT"/>
                <a:cs typeface="Times New Roman"/>
              </a:rPr>
              <a:t>Second </a:t>
            </a:r>
            <a:r>
              <a:rPr sz="2000" spc="-74" dirty="0">
                <a:latin typeface="Arial MT"/>
                <a:cs typeface="Times New Roman"/>
              </a:rPr>
              <a:t>time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it</a:t>
            </a:r>
            <a:r>
              <a:rPr sz="2000" spc="-51" dirty="0">
                <a:latin typeface="Arial MT"/>
                <a:cs typeface="Times New Roman"/>
              </a:rPr>
              <a:t> </a:t>
            </a:r>
            <a:r>
              <a:rPr sz="2000" spc="-113" dirty="0">
                <a:latin typeface="Arial MT"/>
                <a:cs typeface="Times New Roman"/>
              </a:rPr>
              <a:t>will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129" dirty="0">
                <a:latin typeface="Arial MT"/>
                <a:cs typeface="Times New Roman"/>
              </a:rPr>
              <a:t>find</a:t>
            </a:r>
            <a:r>
              <a:rPr sz="2000" spc="-63" dirty="0">
                <a:latin typeface="Arial MT"/>
                <a:cs typeface="Times New Roman"/>
              </a:rPr>
              <a:t> </a:t>
            </a:r>
            <a:r>
              <a:rPr sz="2000" spc="-66" dirty="0">
                <a:latin typeface="Arial MT"/>
                <a:cs typeface="Times New Roman"/>
              </a:rPr>
              <a:t>the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string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89" dirty="0">
                <a:latin typeface="Arial MT"/>
                <a:cs typeface="Times New Roman"/>
              </a:rPr>
              <a:t>with</a:t>
            </a:r>
            <a:r>
              <a:rPr sz="2000" spc="-63" dirty="0">
                <a:latin typeface="Arial MT"/>
                <a:cs typeface="Times New Roman"/>
              </a:rPr>
              <a:t> </a:t>
            </a:r>
            <a:r>
              <a:rPr sz="2000" spc="-66" dirty="0">
                <a:latin typeface="Arial MT"/>
                <a:cs typeface="Times New Roman"/>
              </a:rPr>
              <a:t>the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37" dirty="0">
                <a:latin typeface="Arial MT"/>
                <a:cs typeface="Times New Roman"/>
              </a:rPr>
              <a:t>name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121" dirty="0">
                <a:latin typeface="Arial MT"/>
                <a:cs typeface="Times New Roman"/>
              </a:rPr>
              <a:t>"Welcome"</a:t>
            </a:r>
            <a:r>
              <a:rPr sz="2000" spc="-63" dirty="0">
                <a:latin typeface="Arial MT"/>
                <a:cs typeface="Times New Roman"/>
              </a:rPr>
              <a:t> </a:t>
            </a:r>
            <a:r>
              <a:rPr sz="2000" spc="-109" dirty="0">
                <a:latin typeface="Arial MT"/>
                <a:cs typeface="Times New Roman"/>
              </a:rPr>
              <a:t>in</a:t>
            </a:r>
            <a:r>
              <a:rPr sz="2000" spc="-59" dirty="0">
                <a:latin typeface="Arial MT"/>
                <a:cs typeface="Times New Roman"/>
              </a:rPr>
              <a:t> </a:t>
            </a:r>
            <a:r>
              <a:rPr sz="2000" spc="-8" dirty="0">
                <a:latin typeface="Arial MT"/>
                <a:cs typeface="Times New Roman"/>
              </a:rPr>
              <a:t>string </a:t>
            </a:r>
            <a:r>
              <a:rPr sz="2000" spc="-102" dirty="0">
                <a:latin typeface="Arial MT"/>
                <a:cs typeface="Times New Roman"/>
              </a:rPr>
              <a:t>constant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pool,so</a:t>
            </a:r>
            <a:r>
              <a:rPr sz="2000" spc="-23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it</a:t>
            </a:r>
            <a:r>
              <a:rPr sz="2000" spc="-59" dirty="0">
                <a:latin typeface="Arial MT"/>
                <a:cs typeface="Times New Roman"/>
              </a:rPr>
              <a:t> </a:t>
            </a:r>
            <a:r>
              <a:rPr sz="2000" spc="-106" dirty="0">
                <a:latin typeface="Arial MT"/>
                <a:cs typeface="Times New Roman"/>
              </a:rPr>
              <a:t>will</a:t>
            </a:r>
            <a:r>
              <a:rPr sz="2000" spc="-59" dirty="0">
                <a:latin typeface="Arial MT"/>
                <a:cs typeface="Times New Roman"/>
              </a:rPr>
              <a:t> </a:t>
            </a:r>
            <a:r>
              <a:rPr sz="2000" spc="-55" dirty="0">
                <a:latin typeface="Arial MT"/>
                <a:cs typeface="Times New Roman"/>
              </a:rPr>
              <a:t>not</a:t>
            </a:r>
            <a:r>
              <a:rPr sz="2000" spc="-59" dirty="0">
                <a:latin typeface="Arial MT"/>
                <a:cs typeface="Times New Roman"/>
              </a:rPr>
              <a:t> </a:t>
            </a:r>
            <a:r>
              <a:rPr sz="2000" spc="-82" dirty="0">
                <a:latin typeface="Arial MT"/>
                <a:cs typeface="Times New Roman"/>
              </a:rPr>
              <a:t>create</a:t>
            </a:r>
            <a:r>
              <a:rPr sz="2000" spc="-63" dirty="0">
                <a:latin typeface="Arial MT"/>
                <a:cs typeface="Times New Roman"/>
              </a:rPr>
              <a:t> </a:t>
            </a:r>
            <a:r>
              <a:rPr sz="2000" spc="-129" dirty="0">
                <a:latin typeface="Arial MT"/>
                <a:cs typeface="Times New Roman"/>
              </a:rPr>
              <a:t>new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object</a:t>
            </a:r>
            <a:r>
              <a:rPr sz="2000" spc="-63" dirty="0">
                <a:latin typeface="Arial MT"/>
                <a:cs typeface="Times New Roman"/>
              </a:rPr>
              <a:t> </a:t>
            </a:r>
            <a:r>
              <a:rPr sz="2000" spc="-82" dirty="0">
                <a:latin typeface="Arial MT"/>
                <a:cs typeface="Times New Roman"/>
              </a:rPr>
              <a:t>whether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6" dirty="0">
                <a:latin typeface="Arial MT"/>
                <a:cs typeface="Times New Roman"/>
              </a:rPr>
              <a:t>will </a:t>
            </a:r>
            <a:r>
              <a:rPr sz="2000" spc="-20" dirty="0">
                <a:latin typeface="Arial MT"/>
                <a:cs typeface="Times New Roman"/>
              </a:rPr>
              <a:t>return</a:t>
            </a:r>
            <a:r>
              <a:rPr sz="2000" spc="-129" dirty="0">
                <a:latin typeface="Arial MT"/>
                <a:cs typeface="Times New Roman"/>
              </a:rPr>
              <a:t> </a:t>
            </a:r>
            <a:r>
              <a:rPr sz="2000" spc="-74" dirty="0">
                <a:latin typeface="Arial MT"/>
                <a:cs typeface="Times New Roman"/>
              </a:rPr>
              <a:t>the</a:t>
            </a:r>
            <a:r>
              <a:rPr sz="2000" spc="-66" dirty="0">
                <a:latin typeface="Arial MT"/>
                <a:cs typeface="Times New Roman"/>
              </a:rPr>
              <a:t> </a:t>
            </a:r>
            <a:r>
              <a:rPr sz="2000" spc="-89" dirty="0">
                <a:latin typeface="Arial MT"/>
                <a:cs typeface="Times New Roman"/>
              </a:rPr>
              <a:t>reference</a:t>
            </a:r>
            <a:r>
              <a:rPr sz="2000" spc="-86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-74" dirty="0">
                <a:latin typeface="Arial MT"/>
                <a:cs typeface="Times New Roman"/>
              </a:rPr>
              <a:t> </a:t>
            </a:r>
            <a:r>
              <a:rPr sz="2000" spc="-66" dirty="0">
                <a:latin typeface="Arial MT"/>
                <a:cs typeface="Times New Roman"/>
              </a:rPr>
              <a:t>the</a:t>
            </a:r>
            <a:r>
              <a:rPr sz="2000" spc="-74" dirty="0">
                <a:latin typeface="Arial MT"/>
                <a:cs typeface="Times New Roman"/>
              </a:rPr>
              <a:t> </a:t>
            </a:r>
            <a:r>
              <a:rPr sz="2000" spc="-145" dirty="0">
                <a:latin typeface="Arial MT"/>
                <a:cs typeface="Times New Roman"/>
              </a:rPr>
              <a:t>same</a:t>
            </a:r>
            <a:r>
              <a:rPr sz="2000" spc="-51" dirty="0">
                <a:latin typeface="Arial MT"/>
                <a:cs typeface="Times New Roman"/>
              </a:rPr>
              <a:t> </a:t>
            </a:r>
            <a:r>
              <a:rPr sz="2000" spc="-8" dirty="0">
                <a:latin typeface="Arial MT"/>
                <a:cs typeface="Times New Roman"/>
              </a:rPr>
              <a:t>instance.</a:t>
            </a:r>
            <a:endParaRPr sz="2000" dirty="0">
              <a:latin typeface="Arial MT"/>
              <a:cs typeface="Times New Roman"/>
            </a:endParaRPr>
          </a:p>
          <a:p>
            <a:pPr marL="223810" indent="-213885" algn="just">
              <a:lnSpc>
                <a:spcPct val="150000"/>
              </a:lnSpc>
              <a:spcBef>
                <a:spcPts val="4"/>
              </a:spcBef>
              <a:buClr>
                <a:srgbClr val="D24717"/>
              </a:buClr>
              <a:buSzPct val="84482"/>
              <a:buFont typeface="Wingdings"/>
              <a:buChar char=""/>
              <a:tabLst>
                <a:tab pos="223810" algn="l"/>
              </a:tabLst>
            </a:pPr>
            <a:r>
              <a:rPr sz="2000" spc="-148" dirty="0">
                <a:latin typeface="Arial MT"/>
                <a:cs typeface="Times New Roman"/>
              </a:rPr>
              <a:t>Why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203" dirty="0">
                <a:latin typeface="Arial MT"/>
                <a:cs typeface="Times New Roman"/>
              </a:rPr>
              <a:t>java</a:t>
            </a:r>
            <a:r>
              <a:rPr sz="2000" spc="-8" dirty="0">
                <a:latin typeface="Arial MT"/>
                <a:cs typeface="Times New Roman"/>
              </a:rPr>
              <a:t> </a:t>
            </a:r>
            <a:r>
              <a:rPr sz="2000" spc="-145" dirty="0">
                <a:latin typeface="Arial MT"/>
                <a:cs typeface="Times New Roman"/>
              </a:rPr>
              <a:t>uses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spc="-98" dirty="0">
                <a:latin typeface="Arial MT"/>
                <a:cs typeface="Times New Roman"/>
              </a:rPr>
              <a:t>concept</a:t>
            </a:r>
            <a:r>
              <a:rPr sz="2000" spc="-51" dirty="0">
                <a:latin typeface="Arial MT"/>
                <a:cs typeface="Times New Roman"/>
              </a:rPr>
              <a:t> </a:t>
            </a:r>
            <a:r>
              <a:rPr sz="2000" spc="-145" dirty="0">
                <a:latin typeface="Arial MT"/>
                <a:cs typeface="Times New Roman"/>
              </a:rPr>
              <a:t>of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string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spc="-8" dirty="0">
                <a:latin typeface="Arial MT"/>
                <a:cs typeface="Times New Roman"/>
              </a:rPr>
              <a:t>literal?</a:t>
            </a:r>
            <a:endParaRPr sz="2000" dirty="0">
              <a:latin typeface="Arial MT"/>
              <a:cs typeface="Times New Roman"/>
            </a:endParaRPr>
          </a:p>
          <a:p>
            <a:pPr marL="438687" marR="613864" lvl="1" indent="-178651" algn="just">
              <a:lnSpc>
                <a:spcPct val="150000"/>
              </a:lnSpc>
              <a:spcBef>
                <a:spcPts val="301"/>
              </a:spcBef>
              <a:buClr>
                <a:srgbClr val="9B2C1F"/>
              </a:buClr>
              <a:buSzPct val="81034"/>
              <a:buFont typeface="Wingdings"/>
              <a:buChar char=""/>
              <a:tabLst>
                <a:tab pos="438687" algn="l"/>
                <a:tab pos="454567" algn="l"/>
              </a:tabLst>
            </a:pPr>
            <a:r>
              <a:rPr sz="2000" spc="-434" dirty="0">
                <a:latin typeface="Arial MT"/>
                <a:cs typeface="Times New Roman"/>
              </a:rPr>
              <a:t>	To</a:t>
            </a:r>
            <a:r>
              <a:rPr sz="2000" spc="289" dirty="0">
                <a:latin typeface="Arial MT"/>
                <a:cs typeface="Times New Roman"/>
              </a:rPr>
              <a:t> </a:t>
            </a:r>
            <a:r>
              <a:rPr sz="2000" spc="-172" dirty="0">
                <a:latin typeface="Arial MT"/>
                <a:cs typeface="Times New Roman"/>
              </a:rPr>
              <a:t>make</a:t>
            </a:r>
            <a:r>
              <a:rPr sz="2000" spc="31" dirty="0">
                <a:latin typeface="Arial MT"/>
                <a:cs typeface="Times New Roman"/>
              </a:rPr>
              <a:t> </a:t>
            </a:r>
            <a:r>
              <a:rPr sz="2000" spc="-262" dirty="0">
                <a:latin typeface="Arial MT"/>
                <a:cs typeface="Times New Roman"/>
              </a:rPr>
              <a:t>Java</a:t>
            </a:r>
            <a:r>
              <a:rPr sz="2000" spc="121" dirty="0">
                <a:latin typeface="Arial MT"/>
                <a:cs typeface="Times New Roman"/>
              </a:rPr>
              <a:t> </a:t>
            </a:r>
            <a:r>
              <a:rPr sz="2000" spc="-98" dirty="0">
                <a:latin typeface="Arial MT"/>
                <a:cs typeface="Times New Roman"/>
              </a:rPr>
              <a:t>more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113" dirty="0">
                <a:latin typeface="Arial MT"/>
                <a:cs typeface="Times New Roman"/>
              </a:rPr>
              <a:t>memory</a:t>
            </a:r>
            <a:r>
              <a:rPr sz="2000" spc="-31" dirty="0">
                <a:latin typeface="Arial MT"/>
                <a:cs typeface="Times New Roman"/>
              </a:rPr>
              <a:t> </a:t>
            </a:r>
            <a:r>
              <a:rPr sz="2000" spc="-113" dirty="0">
                <a:latin typeface="Arial MT"/>
                <a:cs typeface="Times New Roman"/>
              </a:rPr>
              <a:t>efficient</a:t>
            </a:r>
            <a:r>
              <a:rPr sz="2000" spc="-27" dirty="0">
                <a:latin typeface="Arial MT"/>
                <a:cs typeface="Times New Roman"/>
              </a:rPr>
              <a:t> </a:t>
            </a:r>
            <a:r>
              <a:rPr sz="2000" spc="-129" dirty="0">
                <a:latin typeface="Arial MT"/>
                <a:cs typeface="Times New Roman"/>
              </a:rPr>
              <a:t>(because</a:t>
            </a:r>
            <a:r>
              <a:rPr sz="2000" spc="39" dirty="0">
                <a:latin typeface="Arial MT"/>
                <a:cs typeface="Times New Roman"/>
              </a:rPr>
              <a:t> </a:t>
            </a:r>
            <a:r>
              <a:rPr sz="2000" spc="-141" dirty="0">
                <a:latin typeface="Arial MT"/>
                <a:cs typeface="Times New Roman"/>
              </a:rPr>
              <a:t>no</a:t>
            </a:r>
            <a:r>
              <a:rPr sz="2000" spc="43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new </a:t>
            </a:r>
            <a:r>
              <a:rPr sz="2000" spc="-106" dirty="0">
                <a:latin typeface="Arial MT"/>
                <a:cs typeface="Times New Roman"/>
              </a:rPr>
              <a:t>objects</a:t>
            </a:r>
            <a:r>
              <a:rPr sz="2000" spc="-39" dirty="0">
                <a:latin typeface="Arial MT"/>
                <a:cs typeface="Times New Roman"/>
              </a:rPr>
              <a:t> </a:t>
            </a:r>
            <a:r>
              <a:rPr sz="2000" spc="-98" dirty="0">
                <a:latin typeface="Arial MT"/>
                <a:cs typeface="Times New Roman"/>
              </a:rPr>
              <a:t>are</a:t>
            </a:r>
            <a:r>
              <a:rPr sz="2000" spc="-43" dirty="0">
                <a:latin typeface="Arial MT"/>
                <a:cs typeface="Times New Roman"/>
              </a:rPr>
              <a:t> </a:t>
            </a:r>
            <a:r>
              <a:rPr sz="2000" spc="-94" dirty="0">
                <a:latin typeface="Arial MT"/>
                <a:cs typeface="Times New Roman"/>
              </a:rPr>
              <a:t>created</a:t>
            </a:r>
            <a:r>
              <a:rPr sz="2000" spc="-47" dirty="0">
                <a:latin typeface="Arial MT"/>
                <a:cs typeface="Times New Roman"/>
              </a:rPr>
              <a:t> </a:t>
            </a:r>
            <a:r>
              <a:rPr sz="2000" spc="-203" dirty="0">
                <a:latin typeface="Arial MT"/>
                <a:cs typeface="Times New Roman"/>
              </a:rPr>
              <a:t>if</a:t>
            </a:r>
            <a:r>
              <a:rPr sz="2000" spc="63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it</a:t>
            </a:r>
            <a:r>
              <a:rPr sz="2000" spc="-89" dirty="0">
                <a:latin typeface="Arial MT"/>
                <a:cs typeface="Times New Roman"/>
              </a:rPr>
              <a:t> </a:t>
            </a:r>
            <a:r>
              <a:rPr sz="2000" spc="-109" dirty="0">
                <a:latin typeface="Arial MT"/>
                <a:cs typeface="Times New Roman"/>
              </a:rPr>
              <a:t>exists</a:t>
            </a:r>
            <a:r>
              <a:rPr sz="2000" spc="-4" dirty="0">
                <a:latin typeface="Arial MT"/>
                <a:cs typeface="Times New Roman"/>
              </a:rPr>
              <a:t> </a:t>
            </a:r>
            <a:r>
              <a:rPr sz="2000" spc="-137" dirty="0">
                <a:latin typeface="Arial MT"/>
                <a:cs typeface="Times New Roman"/>
              </a:rPr>
              <a:t>already</a:t>
            </a:r>
            <a:r>
              <a:rPr sz="2000" spc="-4" dirty="0">
                <a:latin typeface="Arial MT"/>
                <a:cs typeface="Times New Roman"/>
              </a:rPr>
              <a:t> </a:t>
            </a:r>
            <a:r>
              <a:rPr sz="2000" spc="-133" dirty="0">
                <a:latin typeface="Arial MT"/>
                <a:cs typeface="Times New Roman"/>
              </a:rPr>
              <a:t>in</a:t>
            </a:r>
            <a:r>
              <a:rPr sz="2000" spc="-12" dirty="0">
                <a:latin typeface="Arial MT"/>
                <a:cs typeface="Times New Roman"/>
              </a:rPr>
              <a:t> </a:t>
            </a:r>
            <a:r>
              <a:rPr sz="2000" spc="-86" dirty="0">
                <a:latin typeface="Arial MT"/>
                <a:cs typeface="Times New Roman"/>
              </a:rPr>
              <a:t>string</a:t>
            </a:r>
            <a:r>
              <a:rPr sz="2000" spc="-31" dirty="0">
                <a:latin typeface="Arial MT"/>
                <a:cs typeface="Times New Roman"/>
              </a:rPr>
              <a:t> </a:t>
            </a:r>
            <a:r>
              <a:rPr sz="2000" spc="-66" dirty="0">
                <a:latin typeface="Arial MT"/>
                <a:cs typeface="Times New Roman"/>
              </a:rPr>
              <a:t>constant </a:t>
            </a:r>
            <a:r>
              <a:rPr sz="2000" spc="-8" dirty="0">
                <a:latin typeface="Arial MT"/>
                <a:cs typeface="Times New Roman"/>
              </a:rPr>
              <a:t>pool).</a:t>
            </a:r>
            <a:endParaRPr sz="2000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199" y="567053"/>
            <a:ext cx="4502460" cy="488424"/>
          </a:xfrm>
          <a:prstGeom prst="rect">
            <a:avLst/>
          </a:prstGeom>
        </p:spPr>
        <p:txBody>
          <a:bodyPr vert="horz" wrap="square" lIns="0" tIns="194140" rIns="0" bIns="0" rtlCol="0">
            <a:spAutoFit/>
          </a:bodyPr>
          <a:lstStyle/>
          <a:p>
            <a:pPr marL="9925">
              <a:spcBef>
                <a:spcPts val="78"/>
              </a:spcBef>
            </a:pPr>
            <a:r>
              <a:rPr spc="-51" dirty="0"/>
              <a:t>2.</a:t>
            </a:r>
            <a:r>
              <a:rPr spc="-148" dirty="0"/>
              <a:t> </a:t>
            </a:r>
            <a:r>
              <a:rPr spc="-63" dirty="0"/>
              <a:t>By</a:t>
            </a:r>
            <a:r>
              <a:rPr spc="-66" dirty="0"/>
              <a:t> </a:t>
            </a:r>
            <a:r>
              <a:rPr spc="43" dirty="0"/>
              <a:t>new</a:t>
            </a:r>
            <a:r>
              <a:rPr spc="-55" dirty="0"/>
              <a:t> </a:t>
            </a:r>
            <a:r>
              <a:rPr spc="-8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250" y="1689100"/>
            <a:ext cx="7086600" cy="2480033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9429" marR="3970">
              <a:spcBef>
                <a:spcPts val="86"/>
              </a:spcBef>
              <a:buClr>
                <a:srgbClr val="D24717"/>
              </a:buClr>
              <a:buSzPct val="83928"/>
              <a:tabLst>
                <a:tab pos="224306" algn="l"/>
              </a:tabLst>
            </a:pPr>
            <a:r>
              <a:rPr lang="en-US" sz="2000" b="1" spc="-65" dirty="0">
                <a:latin typeface="Arial MT"/>
                <a:cs typeface="Arial" panose="020B0604020202020204" pitchFamily="34" charset="0"/>
              </a:rPr>
              <a:t>2.</a:t>
            </a:r>
            <a:r>
              <a:rPr lang="en-US" sz="2000" b="1" spc="-190" dirty="0">
                <a:latin typeface="Arial MT"/>
                <a:cs typeface="Arial" panose="020B0604020202020204" pitchFamily="34" charset="0"/>
              </a:rPr>
              <a:t> </a:t>
            </a:r>
            <a:r>
              <a:rPr lang="en-US" sz="2000" b="1" spc="-80" dirty="0">
                <a:latin typeface="Arial MT"/>
                <a:cs typeface="Arial" panose="020B0604020202020204" pitchFamily="34" charset="0"/>
              </a:rPr>
              <a:t>By</a:t>
            </a:r>
            <a:r>
              <a:rPr lang="en-US" sz="2000" b="1" spc="-85" dirty="0">
                <a:latin typeface="Arial MT"/>
                <a:cs typeface="Arial" panose="020B0604020202020204" pitchFamily="34" charset="0"/>
              </a:rPr>
              <a:t> </a:t>
            </a:r>
            <a:r>
              <a:rPr lang="en-US" sz="2000" b="1" spc="55" dirty="0">
                <a:latin typeface="Arial MT"/>
                <a:cs typeface="Arial" panose="020B0604020202020204" pitchFamily="34" charset="0"/>
              </a:rPr>
              <a:t>new</a:t>
            </a:r>
            <a:r>
              <a:rPr lang="en-US" sz="2000" b="1" spc="-70" dirty="0">
                <a:latin typeface="Arial MT"/>
                <a:cs typeface="Arial" panose="020B0604020202020204" pitchFamily="34" charset="0"/>
              </a:rPr>
              <a:t> </a:t>
            </a:r>
            <a:r>
              <a:rPr lang="en-US" sz="2000" b="1" spc="-10" dirty="0">
                <a:latin typeface="Arial MT"/>
                <a:cs typeface="Arial" panose="020B0604020202020204" pitchFamily="34" charset="0"/>
              </a:rPr>
              <a:t>keyword</a:t>
            </a:r>
            <a:endParaRPr lang="en-US" sz="1200" b="1" spc="-109" dirty="0">
              <a:latin typeface="Arial MT"/>
              <a:cs typeface="Arial" panose="020B0604020202020204" pitchFamily="34" charset="0"/>
            </a:endParaRPr>
          </a:p>
          <a:p>
            <a:pPr marL="224306" marR="3970" indent="-214877">
              <a:spcBef>
                <a:spcPts val="86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z="2188" spc="-109" dirty="0">
                <a:latin typeface="Arial MT"/>
                <a:cs typeface="Times New Roman"/>
              </a:rPr>
              <a:t>String</a:t>
            </a:r>
            <a:r>
              <a:rPr sz="2188" spc="-31" dirty="0">
                <a:latin typeface="Arial MT"/>
                <a:cs typeface="Times New Roman"/>
              </a:rPr>
              <a:t> </a:t>
            </a:r>
            <a:r>
              <a:rPr sz="2188" spc="-59" dirty="0">
                <a:latin typeface="Arial MT"/>
                <a:cs typeface="Times New Roman"/>
              </a:rPr>
              <a:t>s=new</a:t>
            </a:r>
            <a:r>
              <a:rPr sz="2188" spc="-20" dirty="0">
                <a:latin typeface="Arial MT"/>
                <a:cs typeface="Times New Roman"/>
              </a:rPr>
              <a:t> </a:t>
            </a:r>
            <a:r>
              <a:rPr sz="2188" spc="-55" dirty="0">
                <a:latin typeface="Arial MT"/>
                <a:cs typeface="Times New Roman"/>
              </a:rPr>
              <a:t>String("Welcome");//creates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98" dirty="0">
                <a:latin typeface="Arial MT"/>
                <a:cs typeface="Times New Roman"/>
              </a:rPr>
              <a:t>two</a:t>
            </a:r>
            <a:r>
              <a:rPr sz="2188" spc="-16" dirty="0">
                <a:latin typeface="Arial MT"/>
                <a:cs typeface="Times New Roman"/>
              </a:rPr>
              <a:t> </a:t>
            </a:r>
            <a:r>
              <a:rPr sz="2188" spc="-106" dirty="0">
                <a:latin typeface="Arial MT"/>
                <a:cs typeface="Times New Roman"/>
              </a:rPr>
              <a:t>objects</a:t>
            </a:r>
            <a:r>
              <a:rPr sz="2188" spc="-20" dirty="0">
                <a:latin typeface="Arial MT"/>
                <a:cs typeface="Times New Roman"/>
              </a:rPr>
              <a:t> and </a:t>
            </a:r>
            <a:r>
              <a:rPr sz="2188" spc="-94" dirty="0">
                <a:latin typeface="Arial MT"/>
                <a:cs typeface="Times New Roman"/>
              </a:rPr>
              <a:t>one</a:t>
            </a:r>
            <a:r>
              <a:rPr sz="2188" spc="-35" dirty="0">
                <a:latin typeface="Arial MT"/>
                <a:cs typeface="Times New Roman"/>
              </a:rPr>
              <a:t> </a:t>
            </a:r>
            <a:r>
              <a:rPr sz="2188" spc="-89" dirty="0">
                <a:latin typeface="Arial MT"/>
                <a:cs typeface="Times New Roman"/>
              </a:rPr>
              <a:t>reference</a:t>
            </a:r>
            <a:r>
              <a:rPr sz="2188" spc="-20" dirty="0">
                <a:latin typeface="Arial MT"/>
                <a:cs typeface="Times New Roman"/>
              </a:rPr>
              <a:t> </a:t>
            </a:r>
            <a:r>
              <a:rPr sz="2188" spc="-125" dirty="0">
                <a:latin typeface="Arial MT"/>
                <a:cs typeface="Times New Roman"/>
              </a:rPr>
              <a:t>variable</a:t>
            </a:r>
            <a:r>
              <a:rPr sz="2188" spc="-23" dirty="0">
                <a:latin typeface="Arial MT"/>
                <a:cs typeface="Times New Roman"/>
              </a:rPr>
              <a:t> </a:t>
            </a:r>
            <a:r>
              <a:rPr sz="2188" spc="51" dirty="0">
                <a:latin typeface="Arial MT"/>
                <a:cs typeface="Times New Roman"/>
              </a:rPr>
              <a:t>.</a:t>
            </a:r>
            <a:endParaRPr sz="2188" dirty="0">
              <a:latin typeface="Arial MT"/>
              <a:cs typeface="Times New Roman"/>
            </a:endParaRPr>
          </a:p>
          <a:p>
            <a:pPr marL="223314" marR="339437" indent="-213885">
              <a:spcBef>
                <a:spcPts val="469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z="2188" spc="-145" dirty="0">
                <a:latin typeface="Arial MT"/>
                <a:cs typeface="Times New Roman"/>
              </a:rPr>
              <a:t>In</a:t>
            </a:r>
            <a:r>
              <a:rPr sz="2188" spc="-31" dirty="0">
                <a:latin typeface="Arial MT"/>
                <a:cs typeface="Times New Roman"/>
              </a:rPr>
              <a:t> </a:t>
            </a:r>
            <a:r>
              <a:rPr sz="2188" spc="-129" dirty="0">
                <a:latin typeface="Arial MT"/>
                <a:cs typeface="Times New Roman"/>
              </a:rPr>
              <a:t>such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106" dirty="0">
                <a:latin typeface="Arial MT"/>
                <a:cs typeface="Times New Roman"/>
              </a:rPr>
              <a:t>case,</a:t>
            </a:r>
            <a:r>
              <a:rPr sz="2188" spc="-159" dirty="0">
                <a:latin typeface="Arial MT"/>
                <a:cs typeface="Times New Roman"/>
              </a:rPr>
              <a:t> </a:t>
            </a:r>
            <a:r>
              <a:rPr sz="2188" spc="-231" dirty="0">
                <a:latin typeface="Arial MT"/>
                <a:cs typeface="Times New Roman"/>
              </a:rPr>
              <a:t>JVM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will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82" dirty="0">
                <a:latin typeface="Arial MT"/>
                <a:cs typeface="Times New Roman"/>
              </a:rPr>
              <a:t>create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179" dirty="0">
                <a:latin typeface="Arial MT"/>
                <a:cs typeface="Times New Roman"/>
              </a:rPr>
              <a:t>a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new</a:t>
            </a:r>
            <a:r>
              <a:rPr sz="2188" spc="-16" dirty="0">
                <a:latin typeface="Arial MT"/>
                <a:cs typeface="Times New Roman"/>
              </a:rPr>
              <a:t> </a:t>
            </a:r>
            <a:r>
              <a:rPr sz="2188" spc="-109" dirty="0">
                <a:solidFill>
                  <a:srgbClr val="FF0000"/>
                </a:solidFill>
                <a:latin typeface="Arial MT"/>
                <a:cs typeface="Times New Roman"/>
              </a:rPr>
              <a:t>String</a:t>
            </a:r>
            <a:r>
              <a:rPr sz="2188" spc="-78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94" dirty="0">
                <a:solidFill>
                  <a:srgbClr val="FF0000"/>
                </a:solidFill>
                <a:latin typeface="Arial MT"/>
                <a:cs typeface="Times New Roman"/>
              </a:rPr>
              <a:t>object</a:t>
            </a:r>
            <a:r>
              <a:rPr sz="2188" spc="-47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in</a:t>
            </a:r>
            <a:r>
              <a:rPr sz="2188" spc="-31" dirty="0">
                <a:latin typeface="Arial MT"/>
                <a:cs typeface="Times New Roman"/>
              </a:rPr>
              <a:t> </a:t>
            </a:r>
            <a:r>
              <a:rPr sz="2188" spc="-43" dirty="0">
                <a:solidFill>
                  <a:srgbClr val="FF0000"/>
                </a:solidFill>
                <a:latin typeface="Arial MT"/>
                <a:cs typeface="Times New Roman"/>
              </a:rPr>
              <a:t>Heap </a:t>
            </a:r>
            <a:r>
              <a:rPr sz="2188" spc="-109" dirty="0">
                <a:solidFill>
                  <a:srgbClr val="FF0000"/>
                </a:solidFill>
                <a:latin typeface="Arial MT"/>
                <a:cs typeface="Times New Roman"/>
              </a:rPr>
              <a:t>memory</a:t>
            </a:r>
            <a:r>
              <a:rPr sz="2188" spc="-59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125" dirty="0">
                <a:latin typeface="Arial MT"/>
                <a:cs typeface="Times New Roman"/>
              </a:rPr>
              <a:t>and</a:t>
            </a:r>
            <a:r>
              <a:rPr sz="2188" spc="-31" dirty="0">
                <a:latin typeface="Arial MT"/>
                <a:cs typeface="Times New Roman"/>
              </a:rPr>
              <a:t> </a:t>
            </a:r>
            <a:r>
              <a:rPr sz="2188" spc="-70" dirty="0">
                <a:latin typeface="Arial MT"/>
                <a:cs typeface="Times New Roman"/>
              </a:rPr>
              <a:t>the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70" dirty="0">
                <a:solidFill>
                  <a:srgbClr val="FF0000"/>
                </a:solidFill>
                <a:latin typeface="Arial MT"/>
                <a:cs typeface="Times New Roman"/>
              </a:rPr>
              <a:t>literal</a:t>
            </a:r>
            <a:r>
              <a:rPr sz="2188" spc="-4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106" dirty="0">
                <a:solidFill>
                  <a:srgbClr val="FF0000"/>
                </a:solidFill>
                <a:latin typeface="Arial MT"/>
                <a:cs typeface="Times New Roman"/>
              </a:rPr>
              <a:t>"Welcome"</a:t>
            </a:r>
            <a:r>
              <a:rPr sz="2188" spc="-59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will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be</a:t>
            </a:r>
            <a:r>
              <a:rPr sz="2188" spc="-35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placed</a:t>
            </a:r>
            <a:r>
              <a:rPr sz="2188" spc="-63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in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20" dirty="0">
                <a:latin typeface="Arial MT"/>
                <a:cs typeface="Times New Roman"/>
              </a:rPr>
              <a:t>the 	</a:t>
            </a:r>
            <a:r>
              <a:rPr sz="2188" spc="-109" dirty="0">
                <a:solidFill>
                  <a:srgbClr val="FF0000"/>
                </a:solidFill>
                <a:latin typeface="Arial MT"/>
                <a:cs typeface="Times New Roman"/>
              </a:rPr>
              <a:t>String</a:t>
            </a:r>
            <a:r>
              <a:rPr sz="2188" spc="-7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86" dirty="0">
                <a:solidFill>
                  <a:srgbClr val="FF0000"/>
                </a:solidFill>
                <a:latin typeface="Arial MT"/>
                <a:cs typeface="Times New Roman"/>
              </a:rPr>
              <a:t>constant</a:t>
            </a:r>
            <a:r>
              <a:rPr sz="2188" spc="-82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8" dirty="0">
                <a:solidFill>
                  <a:srgbClr val="FF0000"/>
                </a:solidFill>
                <a:latin typeface="Arial MT"/>
                <a:cs typeface="Times New Roman"/>
              </a:rPr>
              <a:t>pool.</a:t>
            </a:r>
            <a:endParaRPr sz="2188" dirty="0">
              <a:latin typeface="Arial MT"/>
              <a:cs typeface="Times New Roman"/>
            </a:endParaRPr>
          </a:p>
          <a:p>
            <a:pPr marL="223810" indent="-213885">
              <a:spcBef>
                <a:spcPts val="473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3810" algn="l"/>
              </a:tabLst>
            </a:pPr>
            <a:r>
              <a:rPr sz="2188" spc="-113" dirty="0">
                <a:latin typeface="Arial MT"/>
                <a:cs typeface="Times New Roman"/>
              </a:rPr>
              <a:t>The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125" dirty="0">
                <a:solidFill>
                  <a:srgbClr val="FF0000"/>
                </a:solidFill>
                <a:latin typeface="Arial MT"/>
                <a:cs typeface="Times New Roman"/>
              </a:rPr>
              <a:t>variable</a:t>
            </a:r>
            <a:r>
              <a:rPr sz="2188" spc="-51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176" dirty="0">
                <a:solidFill>
                  <a:srgbClr val="FF0000"/>
                </a:solidFill>
                <a:latin typeface="Arial MT"/>
                <a:cs typeface="Times New Roman"/>
              </a:rPr>
              <a:t>s</a:t>
            </a:r>
            <a:r>
              <a:rPr sz="2188" spc="-59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will</a:t>
            </a:r>
            <a:r>
              <a:rPr sz="2188" spc="-70" dirty="0">
                <a:latin typeface="Arial MT"/>
                <a:cs typeface="Times New Roman"/>
              </a:rPr>
              <a:t> </a:t>
            </a:r>
            <a:r>
              <a:rPr sz="2188" spc="-66" dirty="0">
                <a:latin typeface="Arial MT"/>
                <a:cs typeface="Times New Roman"/>
              </a:rPr>
              <a:t>refer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dirty="0">
                <a:latin typeface="Arial MT"/>
                <a:cs typeface="Times New Roman"/>
              </a:rPr>
              <a:t>to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74" dirty="0">
                <a:latin typeface="Arial MT"/>
                <a:cs typeface="Times New Roman"/>
              </a:rPr>
              <a:t>the</a:t>
            </a:r>
            <a:r>
              <a:rPr sz="2188" spc="-63" dirty="0">
                <a:latin typeface="Arial MT"/>
                <a:cs typeface="Times New Roman"/>
              </a:rPr>
              <a:t> </a:t>
            </a:r>
            <a:r>
              <a:rPr sz="2188" spc="-94" dirty="0">
                <a:latin typeface="Arial MT"/>
                <a:cs typeface="Times New Roman"/>
              </a:rPr>
              <a:t>object</a:t>
            </a:r>
            <a:r>
              <a:rPr sz="2188" spc="-74" dirty="0">
                <a:latin typeface="Arial MT"/>
                <a:cs typeface="Times New Roman"/>
              </a:rPr>
              <a:t> </a:t>
            </a:r>
            <a:r>
              <a:rPr sz="2188" spc="-106" dirty="0">
                <a:latin typeface="Arial MT"/>
                <a:cs typeface="Times New Roman"/>
              </a:rPr>
              <a:t>in</a:t>
            </a:r>
            <a:r>
              <a:rPr sz="2188" spc="-27" dirty="0">
                <a:latin typeface="Arial MT"/>
                <a:cs typeface="Times New Roman"/>
              </a:rPr>
              <a:t> </a:t>
            </a:r>
            <a:r>
              <a:rPr sz="2188" spc="-129" dirty="0">
                <a:solidFill>
                  <a:srgbClr val="FF0000"/>
                </a:solidFill>
                <a:latin typeface="Arial MT"/>
                <a:cs typeface="Times New Roman"/>
              </a:rPr>
              <a:t>Heap</a:t>
            </a:r>
            <a:r>
              <a:rPr sz="2188" spc="-66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z="2188" spc="-8" dirty="0">
                <a:solidFill>
                  <a:srgbClr val="FF0000"/>
                </a:solidFill>
                <a:latin typeface="Arial MT"/>
                <a:cs typeface="Times New Roman"/>
              </a:rPr>
              <a:t>memory</a:t>
            </a:r>
            <a:r>
              <a:rPr sz="2188" spc="-8" dirty="0">
                <a:latin typeface="Arial MT"/>
                <a:cs typeface="Times New Roman"/>
              </a:rPr>
              <a:t>.</a:t>
            </a:r>
            <a:endParaRPr sz="2188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5046" y="378294"/>
            <a:ext cx="2937249" cy="684413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9925">
              <a:spcBef>
                <a:spcPts val="86"/>
              </a:spcBef>
            </a:pPr>
            <a:r>
              <a:rPr sz="2188" spc="-27" dirty="0"/>
              <a:t>Immutable</a:t>
            </a:r>
            <a:r>
              <a:rPr sz="2188" spc="-98" dirty="0"/>
              <a:t> </a:t>
            </a:r>
            <a:r>
              <a:rPr sz="2188" spc="-27" dirty="0"/>
              <a:t>String</a:t>
            </a:r>
            <a:r>
              <a:rPr sz="2188" spc="-70" dirty="0"/>
              <a:t> </a:t>
            </a:r>
            <a:r>
              <a:rPr sz="2188" dirty="0"/>
              <a:t>in</a:t>
            </a:r>
            <a:r>
              <a:rPr sz="2188" spc="-59" dirty="0"/>
              <a:t> </a:t>
            </a:r>
            <a:r>
              <a:rPr sz="2188" spc="-102" dirty="0"/>
              <a:t>Java</a:t>
            </a:r>
            <a:endParaRPr sz="2188"/>
          </a:p>
        </p:txBody>
      </p:sp>
      <p:sp>
        <p:nvSpPr>
          <p:cNvPr id="3" name="object 3"/>
          <p:cNvSpPr txBox="1"/>
          <p:nvPr/>
        </p:nvSpPr>
        <p:spPr>
          <a:xfrm>
            <a:off x="44450" y="546100"/>
            <a:ext cx="7543800" cy="4828517"/>
          </a:xfrm>
          <a:prstGeom prst="rect">
            <a:avLst/>
          </a:prstGeom>
        </p:spPr>
        <p:txBody>
          <a:bodyPr vert="horz" wrap="square" lIns="0" tIns="42180" rIns="0" bIns="0" rtlCol="0">
            <a:spAutoFit/>
          </a:bodyPr>
          <a:lstStyle/>
          <a:p>
            <a:pPr marL="224306" marR="589548" indent="-214877">
              <a:lnSpc>
                <a:spcPts val="2118"/>
              </a:lnSpc>
              <a:spcBef>
                <a:spcPts val="332"/>
              </a:spcBef>
              <a:buClr>
                <a:srgbClr val="D24717"/>
              </a:buClr>
              <a:buSzPct val="84000"/>
              <a:buFont typeface="Wingdings"/>
              <a:buChar char=""/>
              <a:tabLst>
                <a:tab pos="224306" algn="l"/>
              </a:tabLst>
            </a:pPr>
            <a:endParaRPr lang="en-US" sz="1600" spc="-129" dirty="0">
              <a:latin typeface="Arial MT"/>
              <a:cs typeface="Times New Roman"/>
            </a:endParaRPr>
          </a:p>
          <a:p>
            <a:pPr marL="9429" marR="589548">
              <a:lnSpc>
                <a:spcPts val="2118"/>
              </a:lnSpc>
              <a:spcBef>
                <a:spcPts val="332"/>
              </a:spcBef>
              <a:buClr>
                <a:srgbClr val="D24717"/>
              </a:buClr>
              <a:buSzPct val="84000"/>
              <a:tabLst>
                <a:tab pos="224306" algn="l"/>
              </a:tabLst>
            </a:pPr>
            <a:r>
              <a:rPr lang="en-US" sz="1600" b="1" spc="-35" dirty="0">
                <a:latin typeface="Arial MT"/>
              </a:rPr>
              <a:t>				</a:t>
            </a:r>
          </a:p>
          <a:p>
            <a:pPr marL="9429" marR="589548">
              <a:lnSpc>
                <a:spcPts val="2118"/>
              </a:lnSpc>
              <a:spcBef>
                <a:spcPts val="332"/>
              </a:spcBef>
              <a:buClr>
                <a:srgbClr val="D24717"/>
              </a:buClr>
              <a:buSzPct val="84000"/>
              <a:tabLst>
                <a:tab pos="224306" algn="l"/>
              </a:tabLst>
            </a:pPr>
            <a:r>
              <a:rPr lang="en-US" b="1" spc="-35" dirty="0">
                <a:solidFill>
                  <a:schemeClr val="bg1"/>
                </a:solidFill>
                <a:latin typeface="Arial MT"/>
              </a:rPr>
              <a:t>			     </a:t>
            </a:r>
            <a:r>
              <a:rPr lang="en-US" sz="2000" b="1" spc="-35" dirty="0">
                <a:solidFill>
                  <a:schemeClr val="bg1"/>
                </a:solidFill>
                <a:latin typeface="Arial MT"/>
              </a:rPr>
              <a:t>Immutable</a:t>
            </a:r>
            <a:r>
              <a:rPr lang="en-US" sz="2000" b="1" spc="-125" dirty="0">
                <a:solidFill>
                  <a:schemeClr val="bg1"/>
                </a:solidFill>
                <a:latin typeface="Arial MT"/>
              </a:rPr>
              <a:t> </a:t>
            </a:r>
            <a:r>
              <a:rPr lang="en-US" sz="2000" b="1" spc="-35" dirty="0">
                <a:solidFill>
                  <a:schemeClr val="bg1"/>
                </a:solidFill>
                <a:latin typeface="Arial MT"/>
              </a:rPr>
              <a:t>String</a:t>
            </a:r>
            <a:r>
              <a:rPr lang="en-US" sz="2000" b="1" spc="-90" dirty="0">
                <a:solidFill>
                  <a:schemeClr val="bg1"/>
                </a:solidFill>
                <a:latin typeface="Arial MT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 MT"/>
              </a:rPr>
              <a:t>in</a:t>
            </a:r>
            <a:r>
              <a:rPr lang="en-US" sz="2000" b="1" spc="-75" dirty="0">
                <a:solidFill>
                  <a:schemeClr val="bg1"/>
                </a:solidFill>
                <a:latin typeface="Arial MT"/>
              </a:rPr>
              <a:t> </a:t>
            </a:r>
            <a:r>
              <a:rPr lang="en-US" sz="2000" b="1" spc="-130" dirty="0">
                <a:solidFill>
                  <a:schemeClr val="bg1"/>
                </a:solidFill>
                <a:latin typeface="Arial MT"/>
              </a:rPr>
              <a:t>Java</a:t>
            </a:r>
            <a:endParaRPr lang="en-IN" sz="2000" b="1" spc="-129" dirty="0">
              <a:solidFill>
                <a:schemeClr val="bg1"/>
              </a:solidFill>
              <a:latin typeface="Arial MT"/>
              <a:cs typeface="Times New Roman"/>
            </a:endParaRPr>
          </a:p>
          <a:p>
            <a:pPr marL="224306" marR="589548" indent="-214877">
              <a:lnSpc>
                <a:spcPts val="2118"/>
              </a:lnSpc>
              <a:spcBef>
                <a:spcPts val="332"/>
              </a:spcBef>
              <a:buClr>
                <a:srgbClr val="D24717"/>
              </a:buClr>
              <a:buSzPct val="84000"/>
              <a:buFont typeface="Wingdings"/>
              <a:buChar char=""/>
              <a:tabLst>
                <a:tab pos="224306" algn="l"/>
              </a:tabLst>
            </a:pPr>
            <a:r>
              <a:rPr spc="-129" dirty="0">
                <a:latin typeface="Arial MT"/>
                <a:cs typeface="Times New Roman"/>
              </a:rPr>
              <a:t>In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java,</a:t>
            </a:r>
            <a:r>
              <a:rPr spc="-94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string</a:t>
            </a:r>
            <a:r>
              <a:rPr spc="-23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objects</a:t>
            </a:r>
            <a:r>
              <a:rPr spc="-8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are</a:t>
            </a:r>
            <a:r>
              <a:rPr spc="-12" dirty="0">
                <a:latin typeface="Arial MT"/>
                <a:cs typeface="Times New Roman"/>
              </a:rPr>
              <a:t> </a:t>
            </a:r>
            <a:r>
              <a:rPr b="1" spc="-23" dirty="0">
                <a:latin typeface="Arial MT"/>
                <a:cs typeface="Times New Roman"/>
              </a:rPr>
              <a:t>immutable</a:t>
            </a:r>
            <a:r>
              <a:rPr spc="-23" dirty="0">
                <a:latin typeface="Arial MT"/>
                <a:cs typeface="Times New Roman"/>
              </a:rPr>
              <a:t>.</a:t>
            </a:r>
            <a:r>
              <a:rPr spc="-82" dirty="0">
                <a:latin typeface="Arial MT"/>
                <a:cs typeface="Times New Roman"/>
              </a:rPr>
              <a:t> </a:t>
            </a:r>
            <a:r>
              <a:rPr spc="-113" dirty="0">
                <a:latin typeface="Arial MT"/>
                <a:cs typeface="Times New Roman"/>
              </a:rPr>
              <a:t>Immuta</a:t>
            </a:r>
            <a:r>
              <a:rPr lang="en-US" spc="-113" dirty="0">
                <a:latin typeface="Arial MT"/>
                <a:cs typeface="Times New Roman"/>
              </a:rPr>
              <a:t>b</a:t>
            </a:r>
            <a:r>
              <a:rPr spc="-113" dirty="0">
                <a:latin typeface="Arial MT"/>
                <a:cs typeface="Times New Roman"/>
              </a:rPr>
              <a:t>le</a:t>
            </a:r>
            <a:r>
              <a:rPr dirty="0">
                <a:latin typeface="Arial MT"/>
                <a:cs typeface="Times New Roman"/>
              </a:rPr>
              <a:t> </a:t>
            </a:r>
            <a:r>
              <a:rPr spc="-70" dirty="0">
                <a:latin typeface="Arial MT"/>
                <a:cs typeface="Times New Roman"/>
              </a:rPr>
              <a:t>means</a:t>
            </a:r>
            <a:r>
              <a:rPr lang="en-US" spc="-70" dirty="0">
                <a:latin typeface="Arial MT"/>
                <a:cs typeface="Times New Roman"/>
              </a:rPr>
              <a:t> </a:t>
            </a:r>
            <a:r>
              <a:rPr lang="en-US" spc="-106" dirty="0">
                <a:latin typeface="Arial MT"/>
                <a:cs typeface="Times New Roman"/>
              </a:rPr>
              <a:t>u</a:t>
            </a:r>
            <a:r>
              <a:rPr spc="-106" dirty="0">
                <a:latin typeface="Arial MT"/>
                <a:cs typeface="Times New Roman"/>
              </a:rPr>
              <a:t>nmodifiable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or</a:t>
            </a:r>
            <a:r>
              <a:rPr spc="-121" dirty="0">
                <a:latin typeface="Arial MT"/>
                <a:cs typeface="Times New Roman"/>
              </a:rPr>
              <a:t> </a:t>
            </a:r>
            <a:r>
              <a:rPr spc="-43" dirty="0">
                <a:latin typeface="Arial MT"/>
                <a:cs typeface="Times New Roman"/>
              </a:rPr>
              <a:t>unchangeable.</a:t>
            </a:r>
            <a:endParaRPr dirty="0">
              <a:latin typeface="Arial MT"/>
              <a:cs typeface="Times New Roman"/>
            </a:endParaRPr>
          </a:p>
          <a:p>
            <a:pPr marL="223314" marR="328519" indent="-213885">
              <a:lnSpc>
                <a:spcPts val="2126"/>
              </a:lnSpc>
              <a:spcBef>
                <a:spcPts val="449"/>
              </a:spcBef>
              <a:buClr>
                <a:srgbClr val="D24717"/>
              </a:buClr>
              <a:buSzPct val="84000"/>
              <a:buFont typeface="Wingdings"/>
              <a:buChar char=""/>
              <a:tabLst>
                <a:tab pos="224306" algn="l"/>
              </a:tabLst>
            </a:pPr>
            <a:r>
              <a:rPr spc="-74" dirty="0">
                <a:latin typeface="Arial MT"/>
                <a:cs typeface="Times New Roman"/>
              </a:rPr>
              <a:t>Once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string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object</a:t>
            </a:r>
            <a:r>
              <a:rPr spc="-43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is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82" dirty="0">
                <a:latin typeface="Arial MT"/>
                <a:cs typeface="Times New Roman"/>
              </a:rPr>
              <a:t>created</a:t>
            </a:r>
            <a:r>
              <a:rPr spc="-27" dirty="0">
                <a:latin typeface="Arial MT"/>
                <a:cs typeface="Times New Roman"/>
              </a:rPr>
              <a:t> </a:t>
            </a:r>
            <a:r>
              <a:rPr spc="-82" dirty="0">
                <a:latin typeface="Arial MT"/>
                <a:cs typeface="Times New Roman"/>
              </a:rPr>
              <a:t>its</a:t>
            </a:r>
            <a:r>
              <a:rPr spc="-27" dirty="0">
                <a:latin typeface="Arial MT"/>
                <a:cs typeface="Times New Roman"/>
              </a:rPr>
              <a:t> </a:t>
            </a:r>
            <a:r>
              <a:rPr spc="-102" dirty="0">
                <a:latin typeface="Arial MT"/>
                <a:cs typeface="Times New Roman"/>
              </a:rPr>
              <a:t>data</a:t>
            </a:r>
            <a:r>
              <a:rPr spc="-47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or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state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74" dirty="0">
                <a:latin typeface="Arial MT"/>
                <a:cs typeface="Times New Roman"/>
              </a:rPr>
              <a:t>can't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be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117" dirty="0">
                <a:latin typeface="Arial MT"/>
                <a:cs typeface="Times New Roman"/>
              </a:rPr>
              <a:t>changed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63" dirty="0">
                <a:latin typeface="Arial MT"/>
                <a:cs typeface="Times New Roman"/>
              </a:rPr>
              <a:t>but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39" dirty="0">
                <a:latin typeface="Arial MT"/>
                <a:cs typeface="Times New Roman"/>
              </a:rPr>
              <a:t>a </a:t>
            </a:r>
            <a:r>
              <a:rPr spc="-113" dirty="0">
                <a:latin typeface="Arial MT"/>
                <a:cs typeface="Times New Roman"/>
              </a:rPr>
              <a:t>new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string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82" dirty="0">
                <a:latin typeface="Arial MT"/>
                <a:cs typeface="Times New Roman"/>
              </a:rPr>
              <a:t>object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is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created.</a:t>
            </a:r>
            <a:endParaRPr dirty="0">
              <a:latin typeface="Arial MT"/>
              <a:cs typeface="Times New Roman"/>
            </a:endParaRPr>
          </a:p>
          <a:p>
            <a:pPr marL="223810" indent="-213885">
              <a:spcBef>
                <a:spcPts val="188"/>
              </a:spcBef>
              <a:buClr>
                <a:srgbClr val="D24717"/>
              </a:buClr>
              <a:buSzPct val="84000"/>
              <a:buFont typeface="Wingdings"/>
              <a:buChar char=""/>
              <a:tabLst>
                <a:tab pos="223810" algn="l"/>
              </a:tabLst>
            </a:pPr>
            <a:r>
              <a:rPr lang="en-US" b="1" spc="-8" dirty="0" err="1">
                <a:latin typeface="Arial MT"/>
                <a:cs typeface="Times New Roman"/>
              </a:rPr>
              <a:t>Eg</a:t>
            </a:r>
            <a:r>
              <a:rPr lang="en-US" b="1" spc="-8" dirty="0">
                <a:latin typeface="Arial MT"/>
                <a:cs typeface="Times New Roman"/>
              </a:rPr>
              <a:t>:</a:t>
            </a:r>
            <a:endParaRPr dirty="0">
              <a:latin typeface="Arial MT"/>
              <a:cs typeface="Times New Roman"/>
            </a:endParaRPr>
          </a:p>
          <a:p>
            <a:pPr marL="233735">
              <a:spcBef>
                <a:spcPts val="246"/>
              </a:spcBef>
            </a:pPr>
            <a:r>
              <a:rPr spc="-137" dirty="0">
                <a:latin typeface="Arial MT"/>
                <a:cs typeface="Times New Roman"/>
              </a:rPr>
              <a:t>class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Simple{</a:t>
            </a:r>
            <a:endParaRPr dirty="0">
              <a:latin typeface="Arial MT"/>
              <a:cs typeface="Times New Roman"/>
            </a:endParaRPr>
          </a:p>
          <a:p>
            <a:pPr marL="233735" marR="2962131" indent="-9925">
              <a:lnSpc>
                <a:spcPts val="2587"/>
              </a:lnSpc>
              <a:spcBef>
                <a:spcPts val="109"/>
              </a:spcBef>
            </a:pPr>
            <a:r>
              <a:rPr spc="-109" dirty="0">
                <a:latin typeface="Arial MT"/>
                <a:cs typeface="Times New Roman"/>
              </a:rPr>
              <a:t>public</a:t>
            </a:r>
            <a:r>
              <a:rPr spc="8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static</a:t>
            </a:r>
            <a:r>
              <a:rPr spc="-8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void</a:t>
            </a:r>
            <a:r>
              <a:rPr spc="16" dirty="0">
                <a:latin typeface="Arial MT"/>
                <a:cs typeface="Times New Roman"/>
              </a:rPr>
              <a:t> </a:t>
            </a:r>
            <a:r>
              <a:rPr spc="-106" dirty="0">
                <a:latin typeface="Arial MT"/>
                <a:cs typeface="Times New Roman"/>
              </a:rPr>
              <a:t>main(String</a:t>
            </a:r>
            <a:r>
              <a:rPr spc="-8" dirty="0">
                <a:latin typeface="Arial MT"/>
                <a:cs typeface="Times New Roman"/>
              </a:rPr>
              <a:t> </a:t>
            </a:r>
            <a:r>
              <a:rPr spc="-89" dirty="0" err="1">
                <a:latin typeface="Arial MT"/>
                <a:cs typeface="Times New Roman"/>
              </a:rPr>
              <a:t>args</a:t>
            </a:r>
            <a:r>
              <a:rPr spc="-89" dirty="0">
                <a:latin typeface="Arial MT"/>
                <a:cs typeface="Times New Roman"/>
              </a:rPr>
              <a:t>[]){</a:t>
            </a:r>
            <a:endParaRPr lang="en-US" spc="-89" dirty="0">
              <a:latin typeface="Arial MT"/>
              <a:cs typeface="Times New Roman"/>
            </a:endParaRPr>
          </a:p>
          <a:p>
            <a:pPr marL="233735" marR="2962131" indent="-9925">
              <a:lnSpc>
                <a:spcPts val="2587"/>
              </a:lnSpc>
              <a:spcBef>
                <a:spcPts val="109"/>
              </a:spcBef>
            </a:pPr>
            <a:r>
              <a:rPr lang="en-US" spc="-98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String</a:t>
            </a:r>
            <a:r>
              <a:rPr spc="-16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s="Sachin";</a:t>
            </a:r>
            <a:endParaRPr lang="en-US" dirty="0">
              <a:latin typeface="Arial MT"/>
              <a:cs typeface="Times New Roman"/>
            </a:endParaRPr>
          </a:p>
          <a:p>
            <a:pPr marL="278894">
              <a:spcBef>
                <a:spcPts val="102"/>
              </a:spcBef>
            </a:pPr>
            <a:r>
              <a:rPr lang="en-US" spc="-78" dirty="0" err="1">
                <a:latin typeface="Arial MT"/>
                <a:cs typeface="Times New Roman"/>
              </a:rPr>
              <a:t>s.concat</a:t>
            </a:r>
            <a:r>
              <a:rPr lang="en-US" spc="-78" dirty="0">
                <a:latin typeface="Arial MT"/>
                <a:cs typeface="Times New Roman"/>
              </a:rPr>
              <a:t>("</a:t>
            </a:r>
            <a:r>
              <a:rPr lang="en-US" spc="-242" dirty="0">
                <a:latin typeface="Arial MT"/>
                <a:cs typeface="Times New Roman"/>
              </a:rPr>
              <a:t> </a:t>
            </a:r>
            <a:r>
              <a:rPr lang="en-US" spc="-94" dirty="0">
                <a:latin typeface="Arial MT"/>
                <a:cs typeface="Times New Roman"/>
              </a:rPr>
              <a:t>Tendulkar");</a:t>
            </a:r>
            <a:r>
              <a:rPr lang="en-US" spc="-66" dirty="0">
                <a:latin typeface="Arial MT"/>
                <a:cs typeface="Times New Roman"/>
              </a:rPr>
              <a:t>  </a:t>
            </a:r>
            <a:r>
              <a:rPr lang="en-US" dirty="0">
                <a:solidFill>
                  <a:srgbClr val="FF0000"/>
                </a:solidFill>
                <a:latin typeface="Arial MT"/>
                <a:cs typeface="Times New Roman"/>
              </a:rPr>
              <a:t>//</a:t>
            </a:r>
            <a:r>
              <a:rPr lang="en-US" dirty="0" err="1">
                <a:solidFill>
                  <a:srgbClr val="FF0000"/>
                </a:solidFill>
                <a:latin typeface="Arial MT"/>
                <a:cs typeface="Times New Roman"/>
              </a:rPr>
              <a:t>concat</a:t>
            </a:r>
            <a:r>
              <a:rPr lang="en-US" dirty="0">
                <a:solidFill>
                  <a:srgbClr val="FF0000"/>
                </a:solidFill>
                <a:latin typeface="Arial MT"/>
                <a:cs typeface="Times New Roman"/>
              </a:rPr>
              <a:t>()</a:t>
            </a:r>
            <a:r>
              <a:rPr lang="en-US" spc="39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lang="en-US" spc="-86" dirty="0">
                <a:solidFill>
                  <a:srgbClr val="FF0000"/>
                </a:solidFill>
                <a:latin typeface="Arial MT"/>
                <a:cs typeface="Times New Roman"/>
              </a:rPr>
              <a:t>method</a:t>
            </a:r>
            <a:r>
              <a:rPr lang="en-US" spc="16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lang="en-US" spc="-109" dirty="0">
                <a:solidFill>
                  <a:srgbClr val="FF0000"/>
                </a:solidFill>
                <a:latin typeface="Arial MT"/>
                <a:cs typeface="Times New Roman"/>
              </a:rPr>
              <a:t>appends</a:t>
            </a:r>
            <a:r>
              <a:rPr lang="en-US" spc="27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lang="en-US" spc="-59" dirty="0">
                <a:solidFill>
                  <a:srgbClr val="FF0000"/>
                </a:solidFill>
                <a:latin typeface="Arial MT"/>
                <a:cs typeface="Times New Roman"/>
              </a:rPr>
              <a:t>the</a:t>
            </a:r>
            <a:r>
              <a:rPr lang="en-US" spc="27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lang="en-US" spc="-8" dirty="0">
                <a:solidFill>
                  <a:srgbClr val="FF0000"/>
                </a:solidFill>
                <a:latin typeface="Arial MT"/>
                <a:cs typeface="Times New Roman"/>
              </a:rPr>
              <a:t>string </a:t>
            </a:r>
            <a:r>
              <a:rPr spc="168" dirty="0">
                <a:solidFill>
                  <a:srgbClr val="FF0000"/>
                </a:solidFill>
                <a:latin typeface="Arial MT"/>
                <a:cs typeface="Times New Roman"/>
              </a:rPr>
              <a:t>//at</a:t>
            </a:r>
            <a:r>
              <a:rPr spc="-7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55" dirty="0">
                <a:solidFill>
                  <a:srgbClr val="FF0000"/>
                </a:solidFill>
                <a:latin typeface="Arial MT"/>
                <a:cs typeface="Times New Roman"/>
              </a:rPr>
              <a:t>the</a:t>
            </a:r>
            <a:r>
              <a:rPr spc="-51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20" dirty="0">
                <a:solidFill>
                  <a:srgbClr val="FF0000"/>
                </a:solidFill>
                <a:latin typeface="Arial MT"/>
                <a:cs typeface="Times New Roman"/>
              </a:rPr>
              <a:t>end </a:t>
            </a:r>
            <a:r>
              <a:rPr spc="-35" dirty="0">
                <a:latin typeface="Arial MT"/>
                <a:cs typeface="Times New Roman"/>
              </a:rPr>
              <a:t>System.out.println(s);</a:t>
            </a:r>
            <a:r>
              <a:rPr spc="-35" dirty="0">
                <a:solidFill>
                  <a:srgbClr val="FF0000"/>
                </a:solidFill>
                <a:latin typeface="Arial MT"/>
                <a:cs typeface="Times New Roman"/>
              </a:rPr>
              <a:t>//will</a:t>
            </a:r>
            <a:r>
              <a:rPr spc="27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39" dirty="0">
                <a:solidFill>
                  <a:srgbClr val="FF0000"/>
                </a:solidFill>
                <a:latin typeface="Arial MT"/>
                <a:cs typeface="Times New Roman"/>
              </a:rPr>
              <a:t>print</a:t>
            </a:r>
            <a:r>
              <a:rPr spc="-2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145" dirty="0">
                <a:solidFill>
                  <a:srgbClr val="FF0000"/>
                </a:solidFill>
                <a:latin typeface="Arial MT"/>
                <a:cs typeface="Times New Roman"/>
              </a:rPr>
              <a:t>Sachin</a:t>
            </a:r>
            <a:r>
              <a:rPr spc="12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117" dirty="0">
                <a:solidFill>
                  <a:srgbClr val="FF0000"/>
                </a:solidFill>
                <a:latin typeface="Arial MT"/>
                <a:cs typeface="Times New Roman"/>
              </a:rPr>
              <a:t>because</a:t>
            </a:r>
            <a:r>
              <a:rPr spc="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89" dirty="0">
                <a:solidFill>
                  <a:srgbClr val="FF0000"/>
                </a:solidFill>
                <a:latin typeface="Arial MT"/>
                <a:cs typeface="Times New Roman"/>
              </a:rPr>
              <a:t>strings</a:t>
            </a:r>
            <a:r>
              <a:rPr spc="-2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20" dirty="0">
                <a:solidFill>
                  <a:srgbClr val="FF0000"/>
                </a:solidFill>
                <a:latin typeface="Arial MT"/>
                <a:cs typeface="Times New Roman"/>
              </a:rPr>
              <a:t>are</a:t>
            </a:r>
            <a:r>
              <a:rPr lang="en-US" spc="-20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lang="en-US" spc="-106" dirty="0">
                <a:solidFill>
                  <a:srgbClr val="FF0000"/>
                </a:solidFill>
                <a:latin typeface="Arial MT"/>
                <a:cs typeface="Times New Roman"/>
              </a:rPr>
              <a:t>immutable</a:t>
            </a:r>
            <a:r>
              <a:rPr lang="en-US" spc="-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lang="en-US" spc="-78" dirty="0">
                <a:solidFill>
                  <a:srgbClr val="FF0000"/>
                </a:solidFill>
                <a:latin typeface="Arial MT"/>
                <a:cs typeface="Times New Roman"/>
              </a:rPr>
              <a:t>objects</a:t>
            </a:r>
          </a:p>
          <a:p>
            <a:pPr marL="278894">
              <a:spcBef>
                <a:spcPts val="102"/>
              </a:spcBef>
            </a:pPr>
            <a:r>
              <a:rPr lang="en-US" spc="-39" dirty="0">
                <a:latin typeface="Arial MT"/>
                <a:cs typeface="Times New Roman"/>
              </a:rPr>
              <a:t>}}</a:t>
            </a:r>
            <a:r>
              <a:rPr lang="en-US" dirty="0">
                <a:latin typeface="Arial MT"/>
                <a:cs typeface="Times New Roman"/>
              </a:rPr>
              <a:t>	</a:t>
            </a:r>
          </a:p>
          <a:p>
            <a:pPr marL="278894">
              <a:spcBef>
                <a:spcPts val="102"/>
              </a:spcBef>
            </a:pPr>
            <a:r>
              <a:rPr lang="en-US" b="1" spc="289" dirty="0">
                <a:solidFill>
                  <a:srgbClr val="00AF50"/>
                </a:solidFill>
                <a:latin typeface="Arial MT"/>
                <a:cs typeface="Times New Roman"/>
              </a:rPr>
              <a:t>//output </a:t>
            </a:r>
          </a:p>
          <a:p>
            <a:pPr marL="278894">
              <a:spcBef>
                <a:spcPts val="102"/>
              </a:spcBef>
            </a:pPr>
            <a:r>
              <a:rPr lang="en-US" b="1" spc="-8" dirty="0">
                <a:solidFill>
                  <a:srgbClr val="00AF50"/>
                </a:solidFill>
                <a:latin typeface="Arial MT"/>
                <a:cs typeface="Times New Roman"/>
              </a:rPr>
              <a:t>Sachin</a:t>
            </a:r>
            <a:r>
              <a:rPr lang="en-US" b="1" dirty="0">
                <a:solidFill>
                  <a:srgbClr val="00AF50"/>
                </a:solidFill>
                <a:latin typeface="Arial MT"/>
                <a:cs typeface="Times New Roman"/>
              </a:rPr>
              <a:t>	</a:t>
            </a:r>
            <a:endParaRPr lang="en-US" sz="1600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" y="1079500"/>
            <a:ext cx="7086600" cy="3239771"/>
          </a:xfrm>
          <a:prstGeom prst="rect">
            <a:avLst/>
          </a:prstGeom>
        </p:spPr>
        <p:txBody>
          <a:bodyPr vert="horz" wrap="square" lIns="0" tIns="73444" rIns="0" bIns="0" rtlCol="0">
            <a:spAutoFit/>
          </a:bodyPr>
          <a:lstStyle/>
          <a:p>
            <a:pPr marL="224306" marR="29775" indent="-214381">
              <a:lnSpc>
                <a:spcPts val="2024"/>
              </a:lnSpc>
              <a:spcBef>
                <a:spcPts val="578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24306" algn="l"/>
              </a:tabLst>
            </a:pPr>
            <a:r>
              <a:rPr spc="-133" dirty="0">
                <a:latin typeface="Arial MT"/>
                <a:cs typeface="Times New Roman"/>
              </a:rPr>
              <a:t>But</a:t>
            </a:r>
            <a:r>
              <a:rPr spc="-78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if</a:t>
            </a:r>
            <a:r>
              <a:rPr spc="-63" dirty="0">
                <a:latin typeface="Arial MT"/>
                <a:cs typeface="Times New Roman"/>
              </a:rPr>
              <a:t> </a:t>
            </a:r>
            <a:r>
              <a:rPr spc="-152" dirty="0">
                <a:latin typeface="Arial MT"/>
                <a:cs typeface="Times New Roman"/>
              </a:rPr>
              <a:t>we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102" dirty="0">
                <a:latin typeface="Arial MT"/>
                <a:cs typeface="Times New Roman"/>
              </a:rPr>
              <a:t>explicitly </a:t>
            </a:r>
            <a:r>
              <a:rPr spc="-156" dirty="0">
                <a:latin typeface="Arial MT"/>
                <a:cs typeface="Times New Roman"/>
              </a:rPr>
              <a:t>assign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23" dirty="0">
                <a:latin typeface="Arial MT"/>
                <a:cs typeface="Times New Roman"/>
              </a:rPr>
              <a:t>it</a:t>
            </a:r>
            <a:r>
              <a:rPr spc="-74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to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55" dirty="0">
                <a:latin typeface="Arial MT"/>
                <a:cs typeface="Times New Roman"/>
              </a:rPr>
              <a:t>the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reference</a:t>
            </a:r>
            <a:r>
              <a:rPr spc="-78" dirty="0">
                <a:latin typeface="Arial MT"/>
                <a:cs typeface="Times New Roman"/>
              </a:rPr>
              <a:t> </a:t>
            </a:r>
            <a:r>
              <a:rPr spc="-106" dirty="0">
                <a:latin typeface="Arial MT"/>
                <a:cs typeface="Times New Roman"/>
              </a:rPr>
              <a:t>variable,</a:t>
            </a:r>
            <a:r>
              <a:rPr spc="-152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it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16" dirty="0">
                <a:latin typeface="Arial MT"/>
                <a:cs typeface="Times New Roman"/>
              </a:rPr>
              <a:t>will </a:t>
            </a:r>
            <a:r>
              <a:rPr spc="-66" dirty="0">
                <a:latin typeface="Arial MT"/>
                <a:cs typeface="Times New Roman"/>
              </a:rPr>
              <a:t>refer</a:t>
            </a:r>
            <a:r>
              <a:rPr spc="-82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to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"Sachin</a:t>
            </a:r>
            <a:r>
              <a:rPr spc="-293" dirty="0">
                <a:latin typeface="Arial MT"/>
                <a:cs typeface="Times New Roman"/>
              </a:rPr>
              <a:t> </a:t>
            </a:r>
            <a:endParaRPr lang="en-US" spc="-293" dirty="0">
              <a:latin typeface="Arial MT"/>
              <a:cs typeface="Times New Roman"/>
            </a:endParaRPr>
          </a:p>
          <a:p>
            <a:pPr marL="9925" marR="29775">
              <a:lnSpc>
                <a:spcPts val="2024"/>
              </a:lnSpc>
              <a:spcBef>
                <a:spcPts val="578"/>
              </a:spcBef>
              <a:buClr>
                <a:srgbClr val="D24717"/>
              </a:buClr>
              <a:buSzPct val="85185"/>
              <a:tabLst>
                <a:tab pos="224306" algn="l"/>
              </a:tabLst>
            </a:pPr>
            <a:r>
              <a:rPr lang="en-IN" spc="-293" dirty="0">
                <a:latin typeface="Arial MT"/>
                <a:cs typeface="Times New Roman"/>
              </a:rPr>
              <a:t>    </a:t>
            </a:r>
            <a:r>
              <a:rPr spc="-109" dirty="0">
                <a:latin typeface="Arial MT"/>
                <a:cs typeface="Times New Roman"/>
              </a:rPr>
              <a:t>Tendulkar"</a:t>
            </a:r>
            <a:r>
              <a:rPr spc="-82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object.</a:t>
            </a:r>
            <a:endParaRPr dirty="0">
              <a:latin typeface="Arial MT"/>
              <a:cs typeface="Times New Roman"/>
            </a:endParaRPr>
          </a:p>
          <a:p>
            <a:pPr marL="9925">
              <a:lnSpc>
                <a:spcPts val="2497"/>
              </a:lnSpc>
            </a:pPr>
            <a:r>
              <a:rPr lang="en-US" b="1" spc="-94" dirty="0" err="1">
                <a:latin typeface="Arial MT"/>
                <a:cs typeface="Times New Roman"/>
              </a:rPr>
              <a:t>Eg</a:t>
            </a:r>
            <a:r>
              <a:rPr lang="en-US" b="1" spc="-94" dirty="0">
                <a:latin typeface="Arial MT"/>
                <a:cs typeface="Times New Roman"/>
              </a:rPr>
              <a:t>:</a:t>
            </a:r>
            <a:endParaRPr dirty="0">
              <a:latin typeface="Arial MT"/>
              <a:cs typeface="Times New Roman"/>
            </a:endParaRPr>
          </a:p>
          <a:p>
            <a:pPr marL="9925">
              <a:lnSpc>
                <a:spcPts val="2497"/>
              </a:lnSpc>
            </a:pPr>
            <a:r>
              <a:rPr spc="-152" dirty="0">
                <a:latin typeface="Arial MT"/>
                <a:cs typeface="Times New Roman"/>
              </a:rPr>
              <a:t>class</a:t>
            </a:r>
            <a:r>
              <a:rPr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Simple{</a:t>
            </a:r>
            <a:endParaRPr dirty="0">
              <a:latin typeface="Arial MT"/>
              <a:cs typeface="Times New Roman"/>
            </a:endParaRPr>
          </a:p>
          <a:p>
            <a:pPr marL="9925" marR="2243061" indent="61535">
              <a:lnSpc>
                <a:spcPts val="2493"/>
              </a:lnSpc>
              <a:spcBef>
                <a:spcPts val="98"/>
              </a:spcBef>
            </a:pPr>
            <a:r>
              <a:rPr spc="-109" dirty="0">
                <a:latin typeface="Arial MT"/>
                <a:cs typeface="Times New Roman"/>
              </a:rPr>
              <a:t>public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static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void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106" dirty="0">
                <a:latin typeface="Arial MT"/>
                <a:cs typeface="Times New Roman"/>
              </a:rPr>
              <a:t>main(String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133" dirty="0">
                <a:latin typeface="Arial MT"/>
                <a:cs typeface="Times New Roman"/>
              </a:rPr>
              <a:t>args[])</a:t>
            </a:r>
            <a:r>
              <a:rPr spc="4" dirty="0">
                <a:latin typeface="Arial MT"/>
                <a:cs typeface="Times New Roman"/>
              </a:rPr>
              <a:t> </a:t>
            </a:r>
            <a:r>
              <a:rPr lang="en-US" spc="4" dirty="0">
                <a:latin typeface="Arial MT"/>
                <a:cs typeface="Times New Roman"/>
              </a:rPr>
              <a:t>  </a:t>
            </a:r>
            <a:r>
              <a:rPr spc="-39" dirty="0">
                <a:latin typeface="Arial MT"/>
                <a:cs typeface="Times New Roman"/>
              </a:rPr>
              <a:t>{</a:t>
            </a:r>
            <a:endParaRPr lang="en-US" spc="-39" dirty="0">
              <a:latin typeface="Arial MT"/>
              <a:cs typeface="Times New Roman"/>
            </a:endParaRPr>
          </a:p>
          <a:p>
            <a:pPr marL="9925" marR="2243061" indent="61535">
              <a:lnSpc>
                <a:spcPts val="2493"/>
              </a:lnSpc>
              <a:spcBef>
                <a:spcPts val="98"/>
              </a:spcBef>
            </a:pPr>
            <a:r>
              <a:rPr spc="-106" dirty="0">
                <a:latin typeface="Arial MT"/>
                <a:cs typeface="Times New Roman"/>
              </a:rPr>
              <a:t>String</a:t>
            </a:r>
            <a:r>
              <a:rPr spc="-43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s="Sachin";</a:t>
            </a:r>
            <a:endParaRPr lang="en-US" dirty="0">
              <a:latin typeface="Arial MT"/>
              <a:cs typeface="Times New Roman"/>
            </a:endParaRPr>
          </a:p>
          <a:p>
            <a:pPr marL="9925" marR="2243061" indent="61535">
              <a:lnSpc>
                <a:spcPts val="2493"/>
              </a:lnSpc>
              <a:spcBef>
                <a:spcPts val="98"/>
              </a:spcBef>
            </a:pPr>
            <a:r>
              <a:rPr spc="-164" dirty="0">
                <a:solidFill>
                  <a:srgbClr val="FF0000"/>
                </a:solidFill>
                <a:latin typeface="Arial MT"/>
                <a:cs typeface="Times New Roman"/>
              </a:rPr>
              <a:t>s</a:t>
            </a:r>
            <a:r>
              <a:rPr spc="-20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211" dirty="0">
                <a:solidFill>
                  <a:srgbClr val="FF0000"/>
                </a:solidFill>
                <a:latin typeface="Arial MT"/>
                <a:cs typeface="Times New Roman"/>
              </a:rPr>
              <a:t>=</a:t>
            </a:r>
            <a:r>
              <a:rPr spc="-16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s.concat("</a:t>
            </a:r>
            <a:r>
              <a:rPr spc="-313" dirty="0">
                <a:latin typeface="Arial MT"/>
                <a:cs typeface="Times New Roman"/>
              </a:rPr>
              <a:t> </a:t>
            </a:r>
            <a:r>
              <a:rPr spc="-27" dirty="0">
                <a:latin typeface="Arial MT"/>
                <a:cs typeface="Times New Roman"/>
              </a:rPr>
              <a:t>Tendulkar");</a:t>
            </a:r>
            <a:endParaRPr dirty="0">
              <a:latin typeface="Arial MT"/>
              <a:cs typeface="Times New Roman"/>
            </a:endParaRPr>
          </a:p>
          <a:p>
            <a:pPr marL="9925">
              <a:lnSpc>
                <a:spcPts val="2513"/>
              </a:lnSpc>
              <a:tabLst>
                <a:tab pos="2411291" algn="l"/>
                <a:tab pos="2661401" algn="l"/>
                <a:tab pos="3033591" algn="l"/>
                <a:tab pos="4064804" algn="l"/>
              </a:tabLst>
            </a:pPr>
            <a:r>
              <a:rPr lang="en-US" spc="-8" dirty="0">
                <a:latin typeface="Arial MT"/>
                <a:cs typeface="Times New Roman"/>
              </a:rPr>
              <a:t> </a:t>
            </a:r>
            <a:r>
              <a:rPr spc="-8" dirty="0" err="1">
                <a:latin typeface="Arial MT"/>
                <a:cs typeface="Times New Roman"/>
              </a:rPr>
              <a:t>System.out.println</a:t>
            </a:r>
            <a:r>
              <a:rPr spc="-8" dirty="0">
                <a:latin typeface="Arial MT"/>
                <a:cs typeface="Times New Roman"/>
              </a:rPr>
              <a:t>(s);</a:t>
            </a:r>
            <a:r>
              <a:rPr dirty="0">
                <a:latin typeface="Arial MT"/>
                <a:cs typeface="Times New Roman"/>
              </a:rPr>
              <a:t>	</a:t>
            </a:r>
            <a:r>
              <a:rPr spc="-39" dirty="0">
                <a:latin typeface="Arial MT"/>
                <a:cs typeface="Times New Roman"/>
              </a:rPr>
              <a:t>}</a:t>
            </a:r>
            <a:r>
              <a:rPr dirty="0">
                <a:latin typeface="Arial MT"/>
                <a:cs typeface="Times New Roman"/>
              </a:rPr>
              <a:t>	</a:t>
            </a:r>
            <a:r>
              <a:rPr spc="-39" dirty="0">
                <a:latin typeface="Arial MT"/>
                <a:cs typeface="Times New Roman"/>
              </a:rPr>
              <a:t>}</a:t>
            </a:r>
            <a:r>
              <a:rPr dirty="0">
                <a:latin typeface="Arial MT"/>
                <a:cs typeface="Times New Roman"/>
              </a:rPr>
              <a:t>	</a:t>
            </a:r>
            <a:endParaRPr lang="en-US" dirty="0">
              <a:latin typeface="Arial MT"/>
              <a:cs typeface="Times New Roman"/>
            </a:endParaRPr>
          </a:p>
          <a:p>
            <a:pPr marL="9925">
              <a:lnSpc>
                <a:spcPts val="2513"/>
              </a:lnSpc>
              <a:tabLst>
                <a:tab pos="2411291" algn="l"/>
                <a:tab pos="2661401" algn="l"/>
                <a:tab pos="3033591" algn="l"/>
                <a:tab pos="4064804" algn="l"/>
              </a:tabLst>
            </a:pPr>
            <a:r>
              <a:rPr b="1" spc="531" dirty="0">
                <a:solidFill>
                  <a:srgbClr val="00AF50"/>
                </a:solidFill>
                <a:latin typeface="Arial MT"/>
                <a:cs typeface="Times New Roman"/>
              </a:rPr>
              <a:t>/</a:t>
            </a:r>
            <a:r>
              <a:rPr b="1" spc="-51" dirty="0">
                <a:solidFill>
                  <a:srgbClr val="00AF50"/>
                </a:solidFill>
                <a:latin typeface="Arial MT"/>
                <a:cs typeface="Times New Roman"/>
              </a:rPr>
              <a:t> </a:t>
            </a:r>
            <a:r>
              <a:rPr b="1" spc="531" dirty="0">
                <a:solidFill>
                  <a:srgbClr val="00AF50"/>
                </a:solidFill>
                <a:latin typeface="Arial MT"/>
                <a:cs typeface="Times New Roman"/>
              </a:rPr>
              <a:t>/</a:t>
            </a:r>
            <a:r>
              <a:rPr b="1" spc="-55" dirty="0">
                <a:solidFill>
                  <a:srgbClr val="00AF50"/>
                </a:solidFill>
                <a:latin typeface="Arial MT"/>
                <a:cs typeface="Times New Roman"/>
              </a:rPr>
              <a:t> </a:t>
            </a:r>
            <a:r>
              <a:rPr b="1" spc="195" dirty="0">
                <a:solidFill>
                  <a:srgbClr val="00AF50"/>
                </a:solidFill>
                <a:latin typeface="Arial MT"/>
                <a:cs typeface="Times New Roman"/>
              </a:rPr>
              <a:t>o</a:t>
            </a:r>
            <a:r>
              <a:rPr lang="en-US" b="1" spc="195" dirty="0">
                <a:solidFill>
                  <a:srgbClr val="00AF50"/>
                </a:solidFill>
                <a:latin typeface="Arial MT"/>
                <a:cs typeface="Times New Roman"/>
              </a:rPr>
              <a:t>utput</a:t>
            </a:r>
          </a:p>
          <a:p>
            <a:pPr marL="9925">
              <a:lnSpc>
                <a:spcPts val="2513"/>
              </a:lnSpc>
              <a:tabLst>
                <a:tab pos="2411291" algn="l"/>
                <a:tab pos="2661401" algn="l"/>
                <a:tab pos="3033591" algn="l"/>
                <a:tab pos="4064804" algn="l"/>
              </a:tabLst>
            </a:pPr>
            <a:r>
              <a:rPr b="1" spc="-35" dirty="0" err="1">
                <a:solidFill>
                  <a:srgbClr val="00AF50"/>
                </a:solidFill>
                <a:latin typeface="Arial MT"/>
                <a:cs typeface="Times New Roman"/>
              </a:rPr>
              <a:t>SachinTendulkar</a:t>
            </a:r>
            <a:endParaRPr dirty="0">
              <a:latin typeface="Arial MT"/>
              <a:cs typeface="Times New Roman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D9CA3A1-C274-25AC-357D-A7FCEA814A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3450" y="2957414"/>
            <a:ext cx="3908524" cy="2084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51" y="241300"/>
            <a:ext cx="7162800" cy="3387525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9925">
              <a:spcBef>
                <a:spcPts val="86"/>
              </a:spcBef>
            </a:pPr>
            <a:endParaRPr lang="en-US" sz="2188" b="1" spc="-82" dirty="0">
              <a:solidFill>
                <a:srgbClr val="FF0000"/>
              </a:solidFill>
              <a:latin typeface="Arial MT"/>
              <a:cs typeface="Times New Roman"/>
            </a:endParaRPr>
          </a:p>
          <a:p>
            <a:pPr marL="9925">
              <a:spcBef>
                <a:spcPts val="86"/>
              </a:spcBef>
            </a:pPr>
            <a:r>
              <a:rPr lang="en-IN" sz="2188" b="1" spc="-82" dirty="0">
                <a:solidFill>
                  <a:srgbClr val="FF0000"/>
                </a:solidFill>
                <a:latin typeface="Arial MT"/>
                <a:cs typeface="Times New Roman"/>
              </a:rPr>
              <a:t>	</a:t>
            </a:r>
            <a:r>
              <a:rPr sz="2188" b="1" spc="-82" dirty="0">
                <a:solidFill>
                  <a:schemeClr val="bg1"/>
                </a:solidFill>
                <a:latin typeface="Arial MT"/>
                <a:cs typeface="Times New Roman"/>
              </a:rPr>
              <a:t>Why</a:t>
            </a:r>
            <a:r>
              <a:rPr sz="2188" b="1" spc="-43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188" b="1" dirty="0">
                <a:solidFill>
                  <a:schemeClr val="bg1"/>
                </a:solidFill>
                <a:latin typeface="Arial MT"/>
                <a:cs typeface="Times New Roman"/>
              </a:rPr>
              <a:t>string</a:t>
            </a:r>
            <a:r>
              <a:rPr sz="2188" b="1" spc="-74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188" b="1" dirty="0">
                <a:solidFill>
                  <a:schemeClr val="bg1"/>
                </a:solidFill>
                <a:latin typeface="Arial MT"/>
                <a:cs typeface="Times New Roman"/>
              </a:rPr>
              <a:t>objects</a:t>
            </a:r>
            <a:r>
              <a:rPr sz="2188" b="1" spc="-78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188" b="1" spc="-27" dirty="0">
                <a:solidFill>
                  <a:schemeClr val="bg1"/>
                </a:solidFill>
                <a:latin typeface="Arial MT"/>
                <a:cs typeface="Times New Roman"/>
              </a:rPr>
              <a:t>are</a:t>
            </a:r>
            <a:r>
              <a:rPr sz="2188" b="1" spc="-51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188" b="1" spc="-23" dirty="0">
                <a:solidFill>
                  <a:schemeClr val="bg1"/>
                </a:solidFill>
                <a:latin typeface="Arial MT"/>
                <a:cs typeface="Times New Roman"/>
              </a:rPr>
              <a:t>immutable</a:t>
            </a:r>
            <a:r>
              <a:rPr sz="2188" b="1" spc="-98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188" b="1" dirty="0">
                <a:solidFill>
                  <a:schemeClr val="bg1"/>
                </a:solidFill>
                <a:latin typeface="Arial MT"/>
                <a:cs typeface="Times New Roman"/>
              </a:rPr>
              <a:t>in</a:t>
            </a:r>
            <a:r>
              <a:rPr sz="2188" b="1" spc="-78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188" b="1" spc="-16" dirty="0">
                <a:solidFill>
                  <a:schemeClr val="bg1"/>
                </a:solidFill>
                <a:latin typeface="Arial MT"/>
                <a:cs typeface="Times New Roman"/>
              </a:rPr>
              <a:t>java</a:t>
            </a:r>
            <a:r>
              <a:rPr lang="en-US" sz="2188" b="1" spc="-16" dirty="0">
                <a:solidFill>
                  <a:schemeClr val="bg1"/>
                </a:solidFill>
                <a:latin typeface="Arial MT"/>
                <a:cs typeface="Times New Roman"/>
              </a:rPr>
              <a:t>?</a:t>
            </a:r>
            <a:endParaRPr sz="2188" dirty="0">
              <a:solidFill>
                <a:schemeClr val="bg1"/>
              </a:solidFill>
              <a:latin typeface="Arial MT"/>
              <a:cs typeface="Times New Roman"/>
            </a:endParaRPr>
          </a:p>
          <a:p>
            <a:pPr>
              <a:spcBef>
                <a:spcPts val="1051"/>
              </a:spcBef>
            </a:pPr>
            <a:endParaRPr sz="2188" dirty="0">
              <a:latin typeface="Arial MT"/>
              <a:cs typeface="Times New Roman"/>
            </a:endParaRPr>
          </a:p>
          <a:p>
            <a:pPr marL="280879" indent="-270954">
              <a:buClr>
                <a:srgbClr val="D24717"/>
              </a:buClr>
              <a:buSzPct val="78571"/>
              <a:buFont typeface="Wingdings"/>
              <a:buChar char=""/>
              <a:tabLst>
                <a:tab pos="280879" algn="l"/>
              </a:tabLst>
            </a:pPr>
            <a:r>
              <a:rPr sz="2188" spc="-156" dirty="0">
                <a:latin typeface="Arial MT"/>
                <a:cs typeface="Times New Roman"/>
              </a:rPr>
              <a:t>Because</a:t>
            </a:r>
            <a:r>
              <a:rPr sz="2188" spc="-63" dirty="0">
                <a:latin typeface="Arial MT"/>
                <a:cs typeface="Times New Roman"/>
              </a:rPr>
              <a:t> </a:t>
            </a:r>
            <a:r>
              <a:rPr sz="2188" spc="-188" dirty="0">
                <a:latin typeface="Arial MT"/>
                <a:cs typeface="Times New Roman"/>
              </a:rPr>
              <a:t>java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uses</a:t>
            </a:r>
            <a:r>
              <a:rPr sz="2188" spc="-51" dirty="0">
                <a:latin typeface="Arial MT"/>
                <a:cs typeface="Times New Roman"/>
              </a:rPr>
              <a:t> </a:t>
            </a:r>
            <a:r>
              <a:rPr sz="2188" spc="-63" dirty="0">
                <a:latin typeface="Arial MT"/>
                <a:cs typeface="Times New Roman"/>
              </a:rPr>
              <a:t>the</a:t>
            </a:r>
            <a:r>
              <a:rPr sz="2188" spc="-35" dirty="0">
                <a:latin typeface="Arial MT"/>
                <a:cs typeface="Times New Roman"/>
              </a:rPr>
              <a:t> </a:t>
            </a:r>
            <a:r>
              <a:rPr sz="2188" spc="-94" dirty="0">
                <a:latin typeface="Arial MT"/>
                <a:cs typeface="Times New Roman"/>
              </a:rPr>
              <a:t>concept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of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86" dirty="0">
                <a:latin typeface="Arial MT"/>
                <a:cs typeface="Times New Roman"/>
              </a:rPr>
              <a:t>string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8" dirty="0">
                <a:latin typeface="Arial MT"/>
                <a:cs typeface="Times New Roman"/>
              </a:rPr>
              <a:t>literal.</a:t>
            </a:r>
            <a:endParaRPr sz="2188" dirty="0">
              <a:latin typeface="Arial MT"/>
              <a:cs typeface="Times New Roman"/>
            </a:endParaRPr>
          </a:p>
          <a:p>
            <a:pPr marL="224306" marR="34241" indent="-214381">
              <a:spcBef>
                <a:spcPts val="469"/>
              </a:spcBef>
              <a:buSzPct val="83928"/>
              <a:buFont typeface="Wingdings"/>
              <a:buChar char=""/>
              <a:tabLst>
                <a:tab pos="224306" algn="l"/>
                <a:tab pos="285841" algn="l"/>
              </a:tabLst>
            </a:pPr>
            <a:r>
              <a:rPr sz="2188" dirty="0">
                <a:solidFill>
                  <a:srgbClr val="D24717"/>
                </a:solidFill>
                <a:latin typeface="Arial MT"/>
                <a:cs typeface="Times New Roman"/>
              </a:rPr>
              <a:t>	</a:t>
            </a:r>
            <a:r>
              <a:rPr sz="2188" spc="-137" dirty="0">
                <a:latin typeface="Arial MT"/>
                <a:cs typeface="Times New Roman"/>
              </a:rPr>
              <a:t>Suppose</a:t>
            </a:r>
            <a:r>
              <a:rPr sz="2188" spc="-98" dirty="0">
                <a:latin typeface="Arial MT"/>
                <a:cs typeface="Times New Roman"/>
              </a:rPr>
              <a:t> </a:t>
            </a:r>
            <a:r>
              <a:rPr sz="2188" spc="-55" dirty="0">
                <a:latin typeface="Arial MT"/>
                <a:cs typeface="Times New Roman"/>
              </a:rPr>
              <a:t>there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86" dirty="0">
                <a:latin typeface="Arial MT"/>
                <a:cs typeface="Times New Roman"/>
              </a:rPr>
              <a:t>are</a:t>
            </a:r>
            <a:r>
              <a:rPr sz="2188" spc="-51" dirty="0">
                <a:latin typeface="Arial MT"/>
                <a:cs typeface="Times New Roman"/>
              </a:rPr>
              <a:t> </a:t>
            </a:r>
            <a:r>
              <a:rPr sz="2188" spc="-106" dirty="0">
                <a:latin typeface="Arial MT"/>
                <a:cs typeface="Times New Roman"/>
              </a:rPr>
              <a:t>5</a:t>
            </a:r>
            <a:r>
              <a:rPr sz="2188" spc="-70" dirty="0">
                <a:latin typeface="Arial MT"/>
                <a:cs typeface="Times New Roman"/>
              </a:rPr>
              <a:t> </a:t>
            </a:r>
            <a:r>
              <a:rPr sz="2188" spc="-89" dirty="0">
                <a:latin typeface="Arial MT"/>
                <a:cs typeface="Times New Roman"/>
              </a:rPr>
              <a:t>reference</a:t>
            </a:r>
            <a:r>
              <a:rPr sz="2188" spc="-31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variables,</a:t>
            </a:r>
            <a:r>
              <a:rPr sz="2188" spc="-168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all</a:t>
            </a:r>
            <a:r>
              <a:rPr sz="2188" spc="-12" dirty="0">
                <a:latin typeface="Arial MT"/>
                <a:cs typeface="Times New Roman"/>
              </a:rPr>
              <a:t> </a:t>
            </a:r>
            <a:r>
              <a:rPr sz="2188" spc="-89" dirty="0">
                <a:latin typeface="Arial MT"/>
                <a:cs typeface="Times New Roman"/>
              </a:rPr>
              <a:t>referes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dirty="0">
                <a:latin typeface="Arial MT"/>
                <a:cs typeface="Times New Roman"/>
              </a:rPr>
              <a:t>to</a:t>
            </a:r>
            <a:r>
              <a:rPr sz="2188" spc="-35" dirty="0">
                <a:latin typeface="Arial MT"/>
                <a:cs typeface="Times New Roman"/>
              </a:rPr>
              <a:t> </a:t>
            </a:r>
            <a:r>
              <a:rPr sz="2188" spc="-20" dirty="0">
                <a:latin typeface="Arial MT"/>
                <a:cs typeface="Times New Roman"/>
              </a:rPr>
              <a:t>one </a:t>
            </a:r>
            <a:r>
              <a:rPr sz="2188" spc="-94" dirty="0">
                <a:latin typeface="Arial MT"/>
                <a:cs typeface="Times New Roman"/>
              </a:rPr>
              <a:t>object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8" dirty="0">
                <a:latin typeface="Arial MT"/>
                <a:cs typeface="Times New Roman"/>
              </a:rPr>
              <a:t>"sachin".</a:t>
            </a:r>
            <a:endParaRPr sz="2188" dirty="0">
              <a:latin typeface="Arial MT"/>
              <a:cs typeface="Times New Roman"/>
            </a:endParaRPr>
          </a:p>
          <a:p>
            <a:pPr marL="224306" marR="3970" indent="-214381">
              <a:spcBef>
                <a:spcPts val="473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z="2188" spc="-179" dirty="0">
                <a:latin typeface="Arial MT"/>
                <a:cs typeface="Times New Roman"/>
              </a:rPr>
              <a:t>If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94" dirty="0">
                <a:latin typeface="Arial MT"/>
                <a:cs typeface="Times New Roman"/>
              </a:rPr>
              <a:t>one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89" dirty="0">
                <a:latin typeface="Arial MT"/>
                <a:cs typeface="Times New Roman"/>
              </a:rPr>
              <a:t>reference</a:t>
            </a:r>
            <a:r>
              <a:rPr sz="2188" spc="-31" dirty="0">
                <a:latin typeface="Arial MT"/>
                <a:cs typeface="Times New Roman"/>
              </a:rPr>
              <a:t> </a:t>
            </a:r>
            <a:r>
              <a:rPr sz="2188" spc="-125" dirty="0">
                <a:latin typeface="Arial MT"/>
                <a:cs typeface="Times New Roman"/>
              </a:rPr>
              <a:t>variable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141" dirty="0">
                <a:latin typeface="Arial MT"/>
                <a:cs typeface="Times New Roman"/>
              </a:rPr>
              <a:t>changes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59" dirty="0">
                <a:latin typeface="Arial MT"/>
                <a:cs typeface="Times New Roman"/>
              </a:rPr>
              <a:t>the</a:t>
            </a:r>
            <a:r>
              <a:rPr sz="2188" spc="-27" dirty="0">
                <a:latin typeface="Arial MT"/>
                <a:cs typeface="Times New Roman"/>
              </a:rPr>
              <a:t> </a:t>
            </a:r>
            <a:r>
              <a:rPr sz="2188" spc="-133" dirty="0">
                <a:latin typeface="Arial MT"/>
                <a:cs typeface="Times New Roman"/>
              </a:rPr>
              <a:t>value</a:t>
            </a:r>
            <a:r>
              <a:rPr sz="2188" spc="-63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of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74" dirty="0">
                <a:latin typeface="Arial MT"/>
                <a:cs typeface="Times New Roman"/>
              </a:rPr>
              <a:t>the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66" dirty="0">
                <a:latin typeface="Arial MT"/>
                <a:cs typeface="Times New Roman"/>
              </a:rPr>
              <a:t>object,</a:t>
            </a:r>
            <a:r>
              <a:rPr sz="2188" spc="-141" dirty="0">
                <a:latin typeface="Arial MT"/>
                <a:cs typeface="Times New Roman"/>
              </a:rPr>
              <a:t> </a:t>
            </a:r>
            <a:r>
              <a:rPr sz="2188" spc="-20" dirty="0">
                <a:latin typeface="Arial MT"/>
                <a:cs typeface="Times New Roman"/>
              </a:rPr>
              <a:t>it </a:t>
            </a:r>
            <a:r>
              <a:rPr sz="2188" spc="-109" dirty="0">
                <a:latin typeface="Arial MT"/>
                <a:cs typeface="Times New Roman"/>
              </a:rPr>
              <a:t>will</a:t>
            </a:r>
            <a:r>
              <a:rPr sz="2188" spc="-74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be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affected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dirty="0">
                <a:latin typeface="Arial MT"/>
                <a:cs typeface="Times New Roman"/>
              </a:rPr>
              <a:t>to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all</a:t>
            </a:r>
            <a:r>
              <a:rPr sz="2188" spc="-63" dirty="0">
                <a:latin typeface="Arial MT"/>
                <a:cs typeface="Times New Roman"/>
              </a:rPr>
              <a:t> the</a:t>
            </a:r>
            <a:r>
              <a:rPr sz="2188" spc="-59" dirty="0">
                <a:latin typeface="Arial MT"/>
                <a:cs typeface="Times New Roman"/>
              </a:rPr>
              <a:t> </a:t>
            </a:r>
            <a:r>
              <a:rPr sz="2188" spc="-89" dirty="0">
                <a:latin typeface="Arial MT"/>
                <a:cs typeface="Times New Roman"/>
              </a:rPr>
              <a:t>reference</a:t>
            </a:r>
            <a:r>
              <a:rPr sz="2188" spc="-51" dirty="0">
                <a:latin typeface="Arial MT"/>
                <a:cs typeface="Times New Roman"/>
              </a:rPr>
              <a:t> </a:t>
            </a:r>
            <a:r>
              <a:rPr sz="2188" spc="-20" dirty="0">
                <a:latin typeface="Arial MT"/>
                <a:cs typeface="Times New Roman"/>
              </a:rPr>
              <a:t>variables.</a:t>
            </a:r>
            <a:endParaRPr sz="2188" dirty="0">
              <a:latin typeface="Arial MT"/>
              <a:cs typeface="Times New Roman"/>
            </a:endParaRPr>
          </a:p>
          <a:p>
            <a:pPr marL="223810" indent="-213885">
              <a:spcBef>
                <a:spcPts val="469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3810" algn="l"/>
              </a:tabLst>
            </a:pPr>
            <a:r>
              <a:rPr sz="2188" spc="-106" dirty="0">
                <a:latin typeface="Arial MT"/>
                <a:cs typeface="Times New Roman"/>
              </a:rPr>
              <a:t>That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145" dirty="0">
                <a:latin typeface="Arial MT"/>
                <a:cs typeface="Times New Roman"/>
              </a:rPr>
              <a:t>is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172" dirty="0">
                <a:latin typeface="Arial MT"/>
                <a:cs typeface="Times New Roman"/>
              </a:rPr>
              <a:t>why</a:t>
            </a:r>
            <a:r>
              <a:rPr sz="2188" spc="-59" dirty="0">
                <a:latin typeface="Arial MT"/>
                <a:cs typeface="Times New Roman"/>
              </a:rPr>
              <a:t> </a:t>
            </a:r>
            <a:r>
              <a:rPr sz="2188" spc="-78" dirty="0">
                <a:latin typeface="Arial MT"/>
                <a:cs typeface="Times New Roman"/>
              </a:rPr>
              <a:t>string </a:t>
            </a:r>
            <a:r>
              <a:rPr sz="2188" spc="-106" dirty="0">
                <a:latin typeface="Arial MT"/>
                <a:cs typeface="Times New Roman"/>
              </a:rPr>
              <a:t>objects</a:t>
            </a:r>
            <a:r>
              <a:rPr sz="2188" spc="-59" dirty="0">
                <a:latin typeface="Arial MT"/>
                <a:cs typeface="Times New Roman"/>
              </a:rPr>
              <a:t> </a:t>
            </a:r>
            <a:r>
              <a:rPr sz="2188" spc="-86" dirty="0">
                <a:latin typeface="Arial MT"/>
                <a:cs typeface="Times New Roman"/>
              </a:rPr>
              <a:t>are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immutable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in</a:t>
            </a:r>
            <a:r>
              <a:rPr sz="2188" spc="-59" dirty="0">
                <a:latin typeface="Arial MT"/>
                <a:cs typeface="Times New Roman"/>
              </a:rPr>
              <a:t> </a:t>
            </a:r>
            <a:r>
              <a:rPr sz="2188" spc="-8" dirty="0">
                <a:latin typeface="Arial MT"/>
                <a:cs typeface="Times New Roman"/>
              </a:rPr>
              <a:t>java.</a:t>
            </a:r>
            <a:endParaRPr sz="2188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3033" y="1168073"/>
            <a:ext cx="211010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</a:t>
            </a:r>
            <a:r>
              <a:rPr spc="-15" dirty="0"/>
              <a:t> </a:t>
            </a:r>
            <a:r>
              <a:rPr spc="5" dirty="0"/>
              <a:t>Constructors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649487"/>
            <a:ext cx="5426710" cy="18243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3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class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supports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several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constructors.</a:t>
            </a:r>
            <a:endParaRPr sz="1700" dirty="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To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create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empty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String,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call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default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constructor.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700" spc="-50" dirty="0">
                <a:latin typeface="Times New Roman"/>
                <a:cs typeface="Times New Roman"/>
              </a:rPr>
              <a:t>String()</a:t>
            </a:r>
            <a:endParaRPr sz="1700" dirty="0">
              <a:latin typeface="Times New Roman"/>
              <a:cs typeface="Times New Roman"/>
            </a:endParaRPr>
          </a:p>
          <a:p>
            <a:pPr marL="407670" lvl="1" indent="-153035">
              <a:lnSpc>
                <a:spcPct val="100000"/>
              </a:lnSpc>
              <a:spcBef>
                <a:spcPts val="484"/>
              </a:spcBef>
              <a:buChar char="–"/>
              <a:tabLst>
                <a:tab pos="408305" algn="l"/>
              </a:tabLst>
            </a:pPr>
            <a:r>
              <a:rPr sz="1450" spc="20" dirty="0">
                <a:latin typeface="Arial MT"/>
                <a:cs typeface="Arial MT"/>
              </a:rPr>
              <a:t>For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example,</a:t>
            </a:r>
            <a:endParaRPr sz="14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700" spc="-7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700" spc="-4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700" spc="-1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700" spc="-3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spc="2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700" spc="-145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17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spc="-1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7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spc="2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700" spc="-17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spc="-7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700" spc="-4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700" spc="-1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700" spc="-3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700" spc="2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700" spc="-140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1700" spc="-55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1700" spc="-6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700" dirty="0">
              <a:latin typeface="Times New Roman"/>
              <a:cs typeface="Times New Roman"/>
            </a:endParaRPr>
          </a:p>
          <a:p>
            <a:pPr marL="407670" lvl="1" indent="-153035">
              <a:lnSpc>
                <a:spcPct val="100000"/>
              </a:lnSpc>
              <a:spcBef>
                <a:spcPts val="484"/>
              </a:spcBef>
              <a:buChar char="–"/>
              <a:tabLst>
                <a:tab pos="408305" algn="l"/>
              </a:tabLst>
            </a:pPr>
            <a:r>
              <a:rPr sz="1450" spc="5" dirty="0">
                <a:latin typeface="Arial MT"/>
                <a:cs typeface="Arial MT"/>
              </a:rPr>
              <a:t>This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will</a:t>
            </a:r>
            <a:r>
              <a:rPr sz="1450" spc="10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create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an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instance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with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no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characters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in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it.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5597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79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0" y="177387"/>
            <a:ext cx="2188210" cy="659765"/>
          </a:xfrm>
          <a:custGeom>
            <a:avLst/>
            <a:gdLst/>
            <a:ahLst/>
            <a:cxnLst/>
            <a:rect l="l" t="t" r="r" b="b"/>
            <a:pathLst>
              <a:path w="2188210" h="659765">
                <a:moveTo>
                  <a:pt x="2187729" y="0"/>
                </a:moveTo>
                <a:lnTo>
                  <a:pt x="0" y="0"/>
                </a:lnTo>
                <a:lnTo>
                  <a:pt x="0" y="659416"/>
                </a:lnTo>
                <a:lnTo>
                  <a:pt x="2187729" y="659416"/>
                </a:lnTo>
                <a:lnTo>
                  <a:pt x="21877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689" y="2480841"/>
            <a:ext cx="2581910" cy="628015"/>
            <a:chOff x="838689" y="2480841"/>
            <a:chExt cx="2581910" cy="628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689" y="2480841"/>
              <a:ext cx="2581894" cy="6277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250" y="2489277"/>
              <a:ext cx="2544779" cy="58725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858940" y="1812578"/>
            <a:ext cx="1873250" cy="384810"/>
            <a:chOff x="858940" y="1812578"/>
            <a:chExt cx="1873250" cy="3848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8940" y="1812578"/>
              <a:ext cx="1873138" cy="3847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500" y="1821019"/>
              <a:ext cx="1836024" cy="3442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00238" y="1259677"/>
            <a:ext cx="5383530" cy="5511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08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create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initialized</a:t>
            </a:r>
            <a:r>
              <a:rPr sz="1700" spc="-1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by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array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characters,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use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constructor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500" y="1821019"/>
            <a:ext cx="1836420" cy="344805"/>
          </a:xfrm>
          <a:prstGeom prst="rect">
            <a:avLst/>
          </a:prstGeom>
          <a:ln w="5067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</a:pPr>
            <a:r>
              <a:rPr sz="1700" spc="-75" dirty="0">
                <a:latin typeface="Times New Roman"/>
                <a:cs typeface="Times New Roman"/>
              </a:rPr>
              <a:t>S</a:t>
            </a:r>
            <a:r>
              <a:rPr sz="1700" spc="-40" dirty="0">
                <a:latin typeface="Times New Roman"/>
                <a:cs typeface="Times New Roman"/>
              </a:rPr>
              <a:t>t</a:t>
            </a:r>
            <a:r>
              <a:rPr sz="1700" spc="-15" dirty="0">
                <a:latin typeface="Times New Roman"/>
                <a:cs typeface="Times New Roman"/>
              </a:rPr>
              <a:t>r</a:t>
            </a:r>
            <a:r>
              <a:rPr sz="1700" spc="-35" dirty="0">
                <a:latin typeface="Times New Roman"/>
                <a:cs typeface="Times New Roman"/>
              </a:rPr>
              <a:t>i</a:t>
            </a:r>
            <a:r>
              <a:rPr sz="1700" spc="20" dirty="0">
                <a:latin typeface="Times New Roman"/>
                <a:cs typeface="Times New Roman"/>
              </a:rPr>
              <a:t>n</a:t>
            </a:r>
            <a:r>
              <a:rPr sz="1700" spc="-140" dirty="0">
                <a:latin typeface="Times New Roman"/>
                <a:cs typeface="Times New Roman"/>
              </a:rPr>
              <a:t>g</a:t>
            </a:r>
            <a:r>
              <a:rPr sz="1700" spc="-55" dirty="0">
                <a:latin typeface="Times New Roman"/>
                <a:cs typeface="Times New Roman"/>
              </a:rPr>
              <a:t>(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15" dirty="0">
                <a:latin typeface="Times New Roman"/>
                <a:cs typeface="Times New Roman"/>
              </a:rPr>
              <a:t>h</a:t>
            </a:r>
            <a:r>
              <a:rPr sz="1700" spc="-45" dirty="0">
                <a:latin typeface="Times New Roman"/>
                <a:cs typeface="Times New Roman"/>
              </a:rPr>
              <a:t>a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15" dirty="0">
                <a:latin typeface="Times New Roman"/>
                <a:cs typeface="Times New Roman"/>
              </a:rPr>
              <a:t>h</a:t>
            </a:r>
            <a:r>
              <a:rPr sz="1700" spc="-45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r</a:t>
            </a:r>
            <a:r>
              <a:rPr sz="1700" spc="-25" dirty="0">
                <a:latin typeface="Times New Roman"/>
                <a:cs typeface="Times New Roman"/>
              </a:rPr>
              <a:t>s</a:t>
            </a:r>
            <a:r>
              <a:rPr sz="1700" spc="-65" dirty="0">
                <a:latin typeface="Times New Roman"/>
                <a:cs typeface="Times New Roman"/>
              </a:rPr>
              <a:t>[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]</a:t>
            </a:r>
            <a:r>
              <a:rPr sz="1700" spc="-65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0238" y="2146837"/>
            <a:ext cx="112331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114"/>
              </a:spcBef>
              <a:buChar char="•"/>
              <a:tabLst>
                <a:tab pos="195580" algn="l"/>
              </a:tabLst>
            </a:pPr>
            <a:r>
              <a:rPr sz="1700" spc="15" dirty="0">
                <a:latin typeface="Arial MT"/>
                <a:cs typeface="Arial MT"/>
              </a:rPr>
              <a:t>E</a:t>
            </a:r>
            <a:r>
              <a:rPr sz="1700" spc="20" dirty="0">
                <a:latin typeface="Arial MT"/>
                <a:cs typeface="Arial MT"/>
              </a:rPr>
              <a:t>x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15" dirty="0">
                <a:latin typeface="Arial MT"/>
                <a:cs typeface="Arial MT"/>
              </a:rPr>
              <a:t>l</a:t>
            </a:r>
            <a:r>
              <a:rPr sz="1700" dirty="0">
                <a:latin typeface="Arial MT"/>
                <a:cs typeface="Arial MT"/>
              </a:rPr>
              <a:t>e: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7250" y="2489277"/>
            <a:ext cx="2545080" cy="587375"/>
          </a:xfrm>
          <a:prstGeom prst="rect">
            <a:avLst/>
          </a:prstGeom>
          <a:ln w="506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244">
              <a:lnSpc>
                <a:spcPts val="1814"/>
              </a:lnSpc>
            </a:pP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15" dirty="0">
                <a:latin typeface="Times New Roman"/>
                <a:cs typeface="Times New Roman"/>
              </a:rPr>
              <a:t>h</a:t>
            </a:r>
            <a:r>
              <a:rPr sz="1700" spc="-45" dirty="0">
                <a:latin typeface="Times New Roman"/>
                <a:cs typeface="Times New Roman"/>
              </a:rPr>
              <a:t>a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8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40" dirty="0">
                <a:latin typeface="Times New Roman"/>
                <a:cs typeface="Times New Roman"/>
              </a:rPr>
              <a:t>tt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5" dirty="0">
                <a:latin typeface="Times New Roman"/>
                <a:cs typeface="Times New Roman"/>
              </a:rPr>
              <a:t>r</a:t>
            </a:r>
            <a:r>
              <a:rPr sz="1700" spc="-25" dirty="0">
                <a:latin typeface="Times New Roman"/>
                <a:cs typeface="Times New Roman"/>
              </a:rPr>
              <a:t>s</a:t>
            </a:r>
            <a:r>
              <a:rPr sz="1700" spc="-55" dirty="0">
                <a:latin typeface="Times New Roman"/>
                <a:cs typeface="Times New Roman"/>
              </a:rPr>
              <a:t>[</a:t>
            </a:r>
            <a:r>
              <a:rPr sz="1700" spc="-65" dirty="0">
                <a:latin typeface="Times New Roman"/>
                <a:cs typeface="Times New Roman"/>
              </a:rPr>
              <a:t>]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14" dirty="0">
                <a:latin typeface="Times New Roman"/>
                <a:cs typeface="Times New Roman"/>
              </a:rPr>
              <a:t>=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5" dirty="0">
                <a:latin typeface="Times New Roman"/>
                <a:cs typeface="Times New Roman"/>
              </a:rPr>
              <a:t>{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'</a:t>
            </a:r>
            <a:r>
              <a:rPr sz="1700" spc="-80" dirty="0">
                <a:latin typeface="Times New Roman"/>
                <a:cs typeface="Times New Roman"/>
              </a:rPr>
              <a:t>a</a:t>
            </a:r>
            <a:r>
              <a:rPr sz="1700" spc="-45" dirty="0">
                <a:latin typeface="Times New Roman"/>
                <a:cs typeface="Times New Roman"/>
              </a:rPr>
              <a:t>',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'b',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'c'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305" dirty="0">
                <a:latin typeface="Times New Roman"/>
                <a:cs typeface="Times New Roman"/>
              </a:rPr>
              <a:t>}</a:t>
            </a:r>
            <a:r>
              <a:rPr sz="1700" spc="-65" dirty="0">
                <a:latin typeface="Times New Roman"/>
                <a:cs typeface="Times New Roman"/>
              </a:rPr>
              <a:t>;</a:t>
            </a:r>
            <a:endParaRPr sz="17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  <a:spcBef>
                <a:spcPts val="434"/>
              </a:spcBef>
            </a:pPr>
            <a:r>
              <a:rPr sz="1700" spc="-75" dirty="0">
                <a:latin typeface="Times New Roman"/>
                <a:cs typeface="Times New Roman"/>
              </a:rPr>
              <a:t>S</a:t>
            </a:r>
            <a:r>
              <a:rPr sz="1700" spc="-40" dirty="0">
                <a:latin typeface="Times New Roman"/>
                <a:cs typeface="Times New Roman"/>
              </a:rPr>
              <a:t>t</a:t>
            </a:r>
            <a:r>
              <a:rPr sz="1700" spc="-15" dirty="0">
                <a:latin typeface="Times New Roman"/>
                <a:cs typeface="Times New Roman"/>
              </a:rPr>
              <a:t>r</a:t>
            </a:r>
            <a:r>
              <a:rPr sz="1700" spc="-35" dirty="0">
                <a:latin typeface="Times New Roman"/>
                <a:cs typeface="Times New Roman"/>
              </a:rPr>
              <a:t>i</a:t>
            </a:r>
            <a:r>
              <a:rPr sz="1700" spc="20" dirty="0">
                <a:latin typeface="Times New Roman"/>
                <a:cs typeface="Times New Roman"/>
              </a:rPr>
              <a:t>n</a:t>
            </a:r>
            <a:r>
              <a:rPr sz="1700" spc="-145" dirty="0">
                <a:latin typeface="Times New Roman"/>
                <a:cs typeface="Times New Roman"/>
              </a:rPr>
              <a:t>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14" dirty="0">
                <a:latin typeface="Times New Roman"/>
                <a:cs typeface="Times New Roman"/>
              </a:rPr>
              <a:t>=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75" dirty="0">
                <a:latin typeface="Times New Roman"/>
                <a:cs typeface="Times New Roman"/>
              </a:rPr>
              <a:t>w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5" dirty="0">
                <a:latin typeface="Times New Roman"/>
                <a:cs typeface="Times New Roman"/>
              </a:rPr>
              <a:t>S</a:t>
            </a:r>
            <a:r>
              <a:rPr sz="1700" spc="-40" dirty="0">
                <a:latin typeface="Times New Roman"/>
                <a:cs typeface="Times New Roman"/>
              </a:rPr>
              <a:t>t</a:t>
            </a:r>
            <a:r>
              <a:rPr sz="1700" spc="-15" dirty="0">
                <a:latin typeface="Times New Roman"/>
                <a:cs typeface="Times New Roman"/>
              </a:rPr>
              <a:t>r</a:t>
            </a:r>
            <a:r>
              <a:rPr sz="1700" spc="-35" dirty="0">
                <a:latin typeface="Times New Roman"/>
                <a:cs typeface="Times New Roman"/>
              </a:rPr>
              <a:t>i</a:t>
            </a:r>
            <a:r>
              <a:rPr sz="1700" spc="20" dirty="0">
                <a:latin typeface="Times New Roman"/>
                <a:cs typeface="Times New Roman"/>
              </a:rPr>
              <a:t>n</a:t>
            </a:r>
            <a:r>
              <a:rPr sz="1700" spc="-140" dirty="0">
                <a:latin typeface="Times New Roman"/>
                <a:cs typeface="Times New Roman"/>
              </a:rPr>
              <a:t>g</a:t>
            </a:r>
            <a:r>
              <a:rPr sz="1700" spc="-55" dirty="0">
                <a:latin typeface="Times New Roman"/>
                <a:cs typeface="Times New Roman"/>
              </a:rPr>
              <a:t>(</a:t>
            </a:r>
            <a:r>
              <a:rPr sz="1700" spc="-8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40" dirty="0">
                <a:latin typeface="Times New Roman"/>
                <a:cs typeface="Times New Roman"/>
              </a:rPr>
              <a:t>tt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5" dirty="0">
                <a:latin typeface="Times New Roman"/>
                <a:cs typeface="Times New Roman"/>
              </a:rPr>
              <a:t>r</a:t>
            </a:r>
            <a:r>
              <a:rPr sz="1700" spc="-25" dirty="0">
                <a:latin typeface="Times New Roman"/>
                <a:cs typeface="Times New Roman"/>
              </a:rPr>
              <a:t>s</a:t>
            </a:r>
            <a:r>
              <a:rPr sz="1700" spc="-55" dirty="0">
                <a:latin typeface="Times New Roman"/>
                <a:cs typeface="Times New Roman"/>
              </a:rPr>
              <a:t>)</a:t>
            </a:r>
            <a:r>
              <a:rPr sz="1700" spc="-65" dirty="0">
                <a:latin typeface="Times New Roman"/>
                <a:cs typeface="Times New Roman"/>
              </a:rPr>
              <a:t>;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0238" y="3079862"/>
            <a:ext cx="484505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114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This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constructor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initializes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5" dirty="0">
                <a:latin typeface="Arial MT"/>
                <a:cs typeface="Arial MT"/>
              </a:rPr>
              <a:t>with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“abc”.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8300" y="3985271"/>
            <a:ext cx="11176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750" spc="15" dirty="0">
                <a:latin typeface="Arial MT"/>
                <a:cs typeface="Arial MT"/>
              </a:rPr>
              <a:t>80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sp>
          <p:nvSpPr>
            <p:cNvPr id="15" name="object 1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64300" y="3974318"/>
              <a:ext cx="245110" cy="109220"/>
            </a:xfrm>
            <a:custGeom>
              <a:avLst/>
              <a:gdLst/>
              <a:ahLst/>
              <a:cxnLst/>
              <a:rect l="l" t="t" r="r" b="b"/>
              <a:pathLst>
                <a:path w="245109" h="109220">
                  <a:moveTo>
                    <a:pt x="245073" y="0"/>
                  </a:moveTo>
                  <a:lnTo>
                    <a:pt x="0" y="0"/>
                  </a:lnTo>
                  <a:lnTo>
                    <a:pt x="0" y="109223"/>
                  </a:lnTo>
                  <a:lnTo>
                    <a:pt x="245073" y="109223"/>
                  </a:lnTo>
                  <a:lnTo>
                    <a:pt x="245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88064" y="2199350"/>
            <a:ext cx="4328795" cy="319405"/>
            <a:chOff x="788064" y="2199350"/>
            <a:chExt cx="4328795" cy="3194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064" y="2199350"/>
              <a:ext cx="4328477" cy="3189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004" y="2209480"/>
              <a:ext cx="4286276" cy="2767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00238" y="1707200"/>
            <a:ext cx="4418330" cy="4794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5080" indent="-182880">
              <a:lnSpc>
                <a:spcPct val="103299"/>
              </a:lnSpc>
              <a:spcBef>
                <a:spcPts val="70"/>
              </a:spcBef>
              <a:buChar char="•"/>
              <a:tabLst>
                <a:tab pos="195580" algn="l"/>
              </a:tabLst>
            </a:pPr>
            <a:r>
              <a:rPr sz="1450" spc="20" dirty="0">
                <a:latin typeface="Arial MT"/>
                <a:cs typeface="Arial MT"/>
              </a:rPr>
              <a:t>To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initialize</a:t>
            </a:r>
            <a:r>
              <a:rPr sz="1450" spc="16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a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with</a:t>
            </a:r>
            <a:r>
              <a:rPr sz="1450" spc="8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a</a:t>
            </a:r>
            <a:r>
              <a:rPr sz="1450" spc="30" dirty="0"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FF0000"/>
                </a:solidFill>
                <a:latin typeface="Arial MT"/>
                <a:cs typeface="Arial MT"/>
              </a:rPr>
              <a:t>subrange</a:t>
            </a:r>
            <a:r>
              <a:rPr sz="145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4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45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Arial MT"/>
                <a:cs typeface="Arial MT"/>
              </a:rPr>
              <a:t>character </a:t>
            </a:r>
            <a:r>
              <a:rPr sz="1450" spc="-3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array(substring)</a:t>
            </a:r>
            <a:r>
              <a:rPr sz="1450" spc="18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following</a:t>
            </a:r>
            <a:r>
              <a:rPr sz="1450" spc="17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constructor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used: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004" y="2209480"/>
            <a:ext cx="4286885" cy="276860"/>
          </a:xfrm>
          <a:prstGeom prst="rect">
            <a:avLst/>
          </a:prstGeom>
          <a:ln w="5067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5"/>
              </a:spcBef>
            </a:pPr>
            <a:r>
              <a:rPr sz="1450" spc="5" dirty="0">
                <a:latin typeface="Arial MT"/>
                <a:cs typeface="Arial MT"/>
              </a:rPr>
              <a:t>String(char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chars[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],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int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startIndex,</a:t>
            </a:r>
            <a:r>
              <a:rPr sz="1450" spc="17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int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numChars)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231" y="2472825"/>
            <a:ext cx="5449570" cy="173608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407670" marR="5080" indent="-152400">
              <a:lnSpc>
                <a:spcPct val="103699"/>
              </a:lnSpc>
              <a:spcBef>
                <a:spcPts val="70"/>
              </a:spcBef>
              <a:buChar char="–"/>
              <a:tabLst>
                <a:tab pos="408305" algn="l"/>
              </a:tabLst>
            </a:pPr>
            <a:r>
              <a:rPr sz="1250" spc="-5" dirty="0">
                <a:latin typeface="Arial MT"/>
                <a:cs typeface="Arial MT"/>
              </a:rPr>
              <a:t>Here,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startIndex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specifies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spc="15" dirty="0">
                <a:latin typeface="Arial MT"/>
                <a:cs typeface="Arial MT"/>
              </a:rPr>
              <a:t>the</a:t>
            </a:r>
            <a:r>
              <a:rPr sz="1250" spc="-1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startindex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at</a:t>
            </a:r>
            <a:r>
              <a:rPr sz="1250" spc="1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which</a:t>
            </a:r>
            <a:r>
              <a:rPr sz="1250" spc="20" dirty="0">
                <a:latin typeface="Arial MT"/>
                <a:cs typeface="Arial MT"/>
              </a:rPr>
              <a:t> </a:t>
            </a:r>
            <a:r>
              <a:rPr sz="1250" spc="15" dirty="0">
                <a:latin typeface="Arial MT"/>
                <a:cs typeface="Arial MT"/>
              </a:rPr>
              <a:t>the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subrange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spc="-5" dirty="0">
                <a:latin typeface="Arial MT"/>
                <a:cs typeface="Arial MT"/>
              </a:rPr>
              <a:t>begins, </a:t>
            </a:r>
            <a:r>
              <a:rPr sz="1250" spc="-330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and</a:t>
            </a:r>
            <a:endParaRPr sz="1250">
              <a:latin typeface="Arial MT"/>
              <a:cs typeface="Arial MT"/>
            </a:endParaRPr>
          </a:p>
          <a:p>
            <a:pPr marL="407670" indent="-153035">
              <a:lnSpc>
                <a:spcPct val="100000"/>
              </a:lnSpc>
              <a:spcBef>
                <a:spcPts val="335"/>
              </a:spcBef>
              <a:buChar char="–"/>
              <a:tabLst>
                <a:tab pos="408305" algn="l"/>
              </a:tabLst>
            </a:pPr>
            <a:r>
              <a:rPr sz="1250" spc="10" dirty="0">
                <a:latin typeface="Arial MT"/>
                <a:cs typeface="Arial MT"/>
              </a:rPr>
              <a:t>numChars</a:t>
            </a:r>
            <a:r>
              <a:rPr sz="1250" spc="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specifies</a:t>
            </a:r>
            <a:r>
              <a:rPr sz="1250" spc="45" dirty="0">
                <a:latin typeface="Arial MT"/>
                <a:cs typeface="Arial MT"/>
              </a:rPr>
              <a:t> </a:t>
            </a:r>
            <a:r>
              <a:rPr sz="1250" spc="15" dirty="0">
                <a:latin typeface="Arial MT"/>
                <a:cs typeface="Arial MT"/>
              </a:rPr>
              <a:t>the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number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of</a:t>
            </a:r>
            <a:r>
              <a:rPr sz="1250" spc="10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characters</a:t>
            </a:r>
            <a:r>
              <a:rPr sz="1250" spc="8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to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use.</a:t>
            </a:r>
            <a:endParaRPr sz="125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75"/>
              </a:spcBef>
              <a:buChar char="•"/>
              <a:tabLst>
                <a:tab pos="195580" algn="l"/>
              </a:tabLst>
            </a:pPr>
            <a:r>
              <a:rPr sz="1450" spc="10" dirty="0">
                <a:latin typeface="Arial MT"/>
                <a:cs typeface="Arial MT"/>
              </a:rPr>
              <a:t>E.g.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50" spc="10" dirty="0">
                <a:latin typeface="Arial MT"/>
                <a:cs typeface="Arial MT"/>
              </a:rPr>
              <a:t>char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chars[]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=</a:t>
            </a:r>
            <a:r>
              <a:rPr sz="1450" spc="5" dirty="0">
                <a:latin typeface="Arial MT"/>
                <a:cs typeface="Arial MT"/>
              </a:rPr>
              <a:t> {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'a',</a:t>
            </a:r>
            <a:r>
              <a:rPr sz="1450" spc="10" dirty="0">
                <a:latin typeface="Arial MT"/>
                <a:cs typeface="Arial MT"/>
              </a:rPr>
              <a:t> 'b', 'c', 'd', </a:t>
            </a:r>
            <a:r>
              <a:rPr sz="1450" dirty="0">
                <a:latin typeface="Arial MT"/>
                <a:cs typeface="Arial MT"/>
              </a:rPr>
              <a:t>'e',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'f'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};</a:t>
            </a:r>
            <a:endParaRPr sz="1450">
              <a:latin typeface="Arial MT"/>
              <a:cs typeface="Arial MT"/>
            </a:endParaRPr>
          </a:p>
          <a:p>
            <a:pPr marR="2602230" algn="r">
              <a:lnSpc>
                <a:spcPct val="100000"/>
              </a:lnSpc>
              <a:spcBef>
                <a:spcPts val="414"/>
              </a:spcBef>
              <a:tabLst>
                <a:tab pos="257810" algn="l"/>
                <a:tab pos="575945" algn="l"/>
                <a:tab pos="833755" algn="l"/>
                <a:tab pos="1096645" algn="l"/>
                <a:tab pos="1359535" algn="l"/>
              </a:tabLst>
            </a:pPr>
            <a:r>
              <a:rPr sz="1450" spc="10" dirty="0">
                <a:latin typeface="Arial MT"/>
                <a:cs typeface="Arial MT"/>
              </a:rPr>
              <a:t>0</a:t>
            </a:r>
            <a:r>
              <a:rPr sz="1450" spc="10" dirty="0">
                <a:latin typeface="Times New Roman"/>
                <a:cs typeface="Times New Roman"/>
              </a:rPr>
              <a:t>	</a:t>
            </a:r>
            <a:r>
              <a:rPr sz="1450" spc="10" dirty="0">
                <a:latin typeface="Arial MT"/>
                <a:cs typeface="Arial MT"/>
              </a:rPr>
              <a:t>1</a:t>
            </a:r>
            <a:r>
              <a:rPr sz="1450" spc="10" dirty="0">
                <a:latin typeface="Times New Roman"/>
                <a:cs typeface="Times New Roman"/>
              </a:rPr>
              <a:t>	</a:t>
            </a:r>
            <a:r>
              <a:rPr sz="1450" spc="10" dirty="0">
                <a:latin typeface="Arial MT"/>
                <a:cs typeface="Arial MT"/>
              </a:rPr>
              <a:t>2</a:t>
            </a:r>
            <a:r>
              <a:rPr sz="1450" spc="10" dirty="0">
                <a:latin typeface="Times New Roman"/>
                <a:cs typeface="Times New Roman"/>
              </a:rPr>
              <a:t>	</a:t>
            </a:r>
            <a:r>
              <a:rPr sz="1450" spc="10" dirty="0">
                <a:latin typeface="Arial MT"/>
                <a:cs typeface="Arial MT"/>
              </a:rPr>
              <a:t>3</a:t>
            </a:r>
            <a:r>
              <a:rPr sz="1450" spc="10" dirty="0">
                <a:latin typeface="Times New Roman"/>
                <a:cs typeface="Times New Roman"/>
              </a:rPr>
              <a:t>	</a:t>
            </a:r>
            <a:r>
              <a:rPr sz="1450" spc="10" dirty="0">
                <a:latin typeface="Arial MT"/>
                <a:cs typeface="Arial MT"/>
              </a:rPr>
              <a:t>4</a:t>
            </a:r>
            <a:r>
              <a:rPr sz="1450" spc="10" dirty="0">
                <a:latin typeface="Times New Roman"/>
                <a:cs typeface="Times New Roman"/>
              </a:rPr>
              <a:t>	</a:t>
            </a:r>
            <a:r>
              <a:rPr sz="1450" spc="10" dirty="0">
                <a:latin typeface="Arial MT"/>
                <a:cs typeface="Arial MT"/>
              </a:rPr>
              <a:t>5</a:t>
            </a:r>
            <a:endParaRPr sz="1450">
              <a:latin typeface="Arial MT"/>
              <a:cs typeface="Arial MT"/>
            </a:endParaRPr>
          </a:p>
          <a:p>
            <a:pPr marR="2618740" algn="r">
              <a:lnSpc>
                <a:spcPct val="100000"/>
              </a:lnSpc>
              <a:spcBef>
                <a:spcPts val="375"/>
              </a:spcBef>
            </a:pP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s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=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new</a:t>
            </a:r>
            <a:r>
              <a:rPr sz="1450" spc="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String(chars,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2, </a:t>
            </a:r>
            <a:r>
              <a:rPr sz="1450" spc="5" dirty="0">
                <a:latin typeface="Arial MT"/>
                <a:cs typeface="Arial MT"/>
              </a:rPr>
              <a:t>3);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0231" y="4231756"/>
            <a:ext cx="5302250" cy="4787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5080" indent="-182880">
              <a:lnSpc>
                <a:spcPct val="103200"/>
              </a:lnSpc>
              <a:spcBef>
                <a:spcPts val="70"/>
              </a:spcBef>
              <a:buChar char="•"/>
              <a:tabLst>
                <a:tab pos="195580" algn="l"/>
              </a:tabLst>
            </a:pPr>
            <a:r>
              <a:rPr sz="1450" spc="5" dirty="0">
                <a:latin typeface="Arial MT"/>
                <a:cs typeface="Arial MT"/>
              </a:rPr>
              <a:t>This </a:t>
            </a:r>
            <a:r>
              <a:rPr sz="1450" spc="-5" dirty="0">
                <a:latin typeface="Arial MT"/>
                <a:cs typeface="Arial MT"/>
              </a:rPr>
              <a:t>initializes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s </a:t>
            </a:r>
            <a:r>
              <a:rPr sz="1450" spc="-5" dirty="0">
                <a:latin typeface="Arial MT"/>
                <a:cs typeface="Arial MT"/>
              </a:rPr>
              <a:t>with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dirty="0">
                <a:latin typeface="Arial MT"/>
                <a:cs typeface="Arial MT"/>
              </a:rPr>
              <a:t>characters </a:t>
            </a:r>
            <a:r>
              <a:rPr sz="1450" spc="-10" dirty="0">
                <a:latin typeface="Arial MT"/>
                <a:cs typeface="Arial MT"/>
              </a:rPr>
              <a:t>starting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from </a:t>
            </a:r>
            <a:r>
              <a:rPr sz="1450" dirty="0">
                <a:latin typeface="Arial MT"/>
                <a:cs typeface="Arial MT"/>
              </a:rPr>
              <a:t>index </a:t>
            </a:r>
            <a:r>
              <a:rPr sz="1450" spc="15" dirty="0">
                <a:latin typeface="Arial MT"/>
                <a:cs typeface="Arial MT"/>
              </a:rPr>
              <a:t>2 </a:t>
            </a:r>
            <a:r>
              <a:rPr sz="1450" spc="10" dirty="0">
                <a:latin typeface="Arial MT"/>
                <a:cs typeface="Arial MT"/>
              </a:rPr>
              <a:t>and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number of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letters</a:t>
            </a:r>
            <a:r>
              <a:rPr sz="1450" spc="17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=3.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i.e.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s </a:t>
            </a:r>
            <a:r>
              <a:rPr sz="1450" spc="-15" dirty="0">
                <a:latin typeface="Arial MT"/>
                <a:cs typeface="Arial MT"/>
              </a:rPr>
              <a:t>will</a:t>
            </a:r>
            <a:r>
              <a:rPr sz="1450" spc="1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contain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cde.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5595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81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2200" y="143711"/>
            <a:ext cx="2548255" cy="591820"/>
          </a:xfrm>
          <a:custGeom>
            <a:avLst/>
            <a:gdLst/>
            <a:ahLst/>
            <a:cxnLst/>
            <a:rect l="l" t="t" r="r" b="b"/>
            <a:pathLst>
              <a:path w="2548254" h="591820">
                <a:moveTo>
                  <a:pt x="2547732" y="0"/>
                </a:moveTo>
                <a:lnTo>
                  <a:pt x="0" y="0"/>
                </a:lnTo>
                <a:lnTo>
                  <a:pt x="0" y="591491"/>
                </a:lnTo>
                <a:lnTo>
                  <a:pt x="2547732" y="591491"/>
                </a:lnTo>
                <a:lnTo>
                  <a:pt x="25477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071" y="1183773"/>
            <a:ext cx="5718175" cy="752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5715" indent="-182880">
              <a:lnSpc>
                <a:spcPct val="103200"/>
              </a:lnSpc>
              <a:spcBef>
                <a:spcPts val="70"/>
              </a:spcBef>
              <a:buChar char="•"/>
              <a:tabLst>
                <a:tab pos="195580" algn="l"/>
              </a:tabLst>
            </a:pPr>
            <a:r>
              <a:rPr sz="1450" spc="75" dirty="0">
                <a:latin typeface="Arial MT"/>
                <a:cs typeface="Arial MT"/>
              </a:rPr>
              <a:t>We</a:t>
            </a:r>
            <a:r>
              <a:rPr sz="1450" spc="-11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can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construct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a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object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that</a:t>
            </a:r>
            <a:r>
              <a:rPr sz="1450" spc="7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contains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same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character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sequence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as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another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object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this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constructor: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450" dirty="0">
                <a:latin typeface="Arial MT"/>
                <a:cs typeface="Arial MT"/>
              </a:rPr>
              <a:t>String(String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strObj)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25604" y="3963442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444" y="2104977"/>
              <a:ext cx="4298549" cy="21658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0238" y="1702138"/>
            <a:ext cx="5452745" cy="5511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08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class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provides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constructors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that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initialize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dirty="0">
                <a:latin typeface="Arial MT"/>
                <a:cs typeface="Arial MT"/>
              </a:rPr>
              <a:t>he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g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60" dirty="0">
                <a:latin typeface="Arial MT"/>
                <a:cs typeface="Arial MT"/>
              </a:rPr>
              <a:t>v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b</a:t>
            </a:r>
            <a:r>
              <a:rPr sz="1700" spc="-20" dirty="0">
                <a:latin typeface="Arial MT"/>
                <a:cs typeface="Arial MT"/>
              </a:rPr>
              <a:t>y</a:t>
            </a:r>
            <a:r>
              <a:rPr sz="1700" spc="5" dirty="0">
                <a:latin typeface="Arial MT"/>
                <a:cs typeface="Arial MT"/>
              </a:rPr>
              <a:t>te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5" dirty="0">
                <a:latin typeface="Arial MT"/>
                <a:cs typeface="Arial MT"/>
              </a:rPr>
              <a:t>y</a:t>
            </a:r>
            <a:r>
              <a:rPr sz="1700" dirty="0">
                <a:latin typeface="Arial MT"/>
                <a:cs typeface="Arial MT"/>
              </a:rPr>
              <a:t>.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20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ho</a:t>
            </a:r>
            <a:r>
              <a:rPr sz="1700" spc="-70" dirty="0">
                <a:latin typeface="Arial MT"/>
                <a:cs typeface="Arial MT"/>
              </a:rPr>
              <a:t>w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e: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238" y="3152432"/>
            <a:ext cx="5680710" cy="8432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5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He</a:t>
            </a:r>
            <a:r>
              <a:rPr sz="1700" spc="-15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scii</a:t>
            </a:r>
            <a:r>
              <a:rPr sz="1700" spc="5" dirty="0">
                <a:latin typeface="Arial MT"/>
                <a:cs typeface="Arial MT"/>
              </a:rPr>
              <a:t>Cha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pe</a:t>
            </a:r>
            <a:r>
              <a:rPr sz="1700" spc="25" dirty="0">
                <a:latin typeface="Arial MT"/>
                <a:cs typeface="Arial MT"/>
              </a:rPr>
              <a:t>c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f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-35" dirty="0">
                <a:latin typeface="Arial MT"/>
                <a:cs typeface="Arial MT"/>
              </a:rPr>
              <a:t>e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5" dirty="0">
                <a:latin typeface="Arial MT"/>
                <a:cs typeface="Arial MT"/>
              </a:rPr>
              <a:t>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b</a:t>
            </a:r>
            <a:r>
              <a:rPr sz="1700" spc="-15" dirty="0">
                <a:latin typeface="Arial MT"/>
                <a:cs typeface="Arial MT"/>
              </a:rPr>
              <a:t>y</a:t>
            </a:r>
            <a:r>
              <a:rPr sz="1700" spc="5" dirty="0">
                <a:latin typeface="Arial MT"/>
                <a:cs typeface="Arial MT"/>
              </a:rPr>
              <a:t>te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  <a:p>
            <a:pPr marL="407670" marR="5080" indent="-152400">
              <a:lnSpc>
                <a:spcPct val="103200"/>
              </a:lnSpc>
              <a:spcBef>
                <a:spcPts val="350"/>
              </a:spcBef>
            </a:pPr>
            <a:r>
              <a:rPr sz="1450" spc="10" dirty="0">
                <a:latin typeface="Arial MT"/>
                <a:cs typeface="Arial MT"/>
              </a:rPr>
              <a:t>–</a:t>
            </a:r>
            <a:r>
              <a:rPr sz="1450" spc="-2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each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these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constructors,</a:t>
            </a:r>
            <a:r>
              <a:rPr sz="1450" spc="10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byte-to-character</a:t>
            </a:r>
            <a:r>
              <a:rPr sz="1450" spc="19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conversion 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is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done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by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-5" dirty="0">
                <a:latin typeface="Arial MT"/>
                <a:cs typeface="Arial MT"/>
              </a:rPr>
              <a:t>default</a:t>
            </a:r>
            <a:r>
              <a:rPr sz="1450" spc="1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character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encoding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dirty="0">
                <a:latin typeface="Arial MT"/>
                <a:cs typeface="Arial MT"/>
              </a:rPr>
              <a:t>platform.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5608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8112" y="2394547"/>
              <a:ext cx="3217508" cy="7322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03500" y="188604"/>
            <a:ext cx="2364740" cy="584835"/>
          </a:xfrm>
          <a:custGeom>
            <a:avLst/>
            <a:gdLst/>
            <a:ahLst/>
            <a:cxnLst/>
            <a:rect l="l" t="t" r="r" b="b"/>
            <a:pathLst>
              <a:path w="2364740" h="584835">
                <a:moveTo>
                  <a:pt x="2364334" y="0"/>
                </a:moveTo>
                <a:lnTo>
                  <a:pt x="0" y="0"/>
                </a:lnTo>
                <a:lnTo>
                  <a:pt x="0" y="584698"/>
                </a:lnTo>
                <a:lnTo>
                  <a:pt x="2364334" y="584698"/>
                </a:lnTo>
                <a:lnTo>
                  <a:pt x="23643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5601" y="396344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190" y="1157826"/>
              <a:ext cx="5128358" cy="28721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5601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85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503" y="1516799"/>
              <a:ext cx="4833921" cy="32037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28900" y="162319"/>
            <a:ext cx="2609215" cy="598805"/>
          </a:xfrm>
          <a:custGeom>
            <a:avLst/>
            <a:gdLst/>
            <a:ahLst/>
            <a:cxnLst/>
            <a:rect l="l" t="t" r="r" b="b"/>
            <a:pathLst>
              <a:path w="2609215" h="598805">
                <a:moveTo>
                  <a:pt x="2608864" y="0"/>
                </a:moveTo>
                <a:lnTo>
                  <a:pt x="0" y="0"/>
                </a:lnTo>
                <a:lnTo>
                  <a:pt x="0" y="598283"/>
                </a:lnTo>
                <a:lnTo>
                  <a:pt x="2608864" y="598283"/>
                </a:lnTo>
                <a:lnTo>
                  <a:pt x="26088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298315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</a:t>
            </a:r>
            <a:r>
              <a:rPr spc="-10" dirty="0"/>
              <a:t> </a:t>
            </a:r>
            <a:r>
              <a:rPr spc="5" dirty="0"/>
              <a:t>Length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59677"/>
            <a:ext cx="5494655" cy="174243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08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length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number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characters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E.g.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length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5" dirty="0">
                <a:latin typeface="Arial MT"/>
                <a:cs typeface="Arial MT"/>
              </a:rPr>
              <a:t> 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“hello”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 marL="194945" marR="35369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method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length()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used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find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length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spc="5" dirty="0">
                <a:latin typeface="Arial MT"/>
                <a:cs typeface="Arial MT"/>
              </a:rPr>
              <a:t>int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length(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5600" y="3963448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0401" y="2424343"/>
              <a:ext cx="4190906" cy="17524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4305" y="1168073"/>
            <a:ext cx="277749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Special</a:t>
            </a:r>
            <a:r>
              <a:rPr spc="-15" dirty="0"/>
              <a:t> </a:t>
            </a:r>
            <a:r>
              <a:rPr spc="-5" dirty="0"/>
              <a:t>String</a:t>
            </a:r>
            <a:r>
              <a:rPr spc="-15" dirty="0"/>
              <a:t> </a:t>
            </a:r>
            <a:r>
              <a:rPr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646847"/>
            <a:ext cx="5448300" cy="16192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5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These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operations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include</a:t>
            </a:r>
            <a:endParaRPr sz="1700">
              <a:latin typeface="Arial MT"/>
              <a:cs typeface="Arial MT"/>
            </a:endParaRPr>
          </a:p>
          <a:p>
            <a:pPr marL="407670" marR="99695" lvl="1" indent="-152400">
              <a:lnSpc>
                <a:spcPct val="103200"/>
              </a:lnSpc>
              <a:spcBef>
                <a:spcPts val="350"/>
              </a:spcBef>
              <a:buChar char="–"/>
              <a:tabLst>
                <a:tab pos="408305" algn="l"/>
              </a:tabLst>
            </a:pP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FF0000"/>
                </a:solidFill>
                <a:latin typeface="Arial MT"/>
                <a:cs typeface="Arial MT"/>
              </a:rPr>
              <a:t>automatic</a:t>
            </a:r>
            <a:r>
              <a:rPr sz="1450" spc="1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-5" dirty="0">
                <a:solidFill>
                  <a:srgbClr val="FF0000"/>
                </a:solidFill>
                <a:latin typeface="Arial MT"/>
                <a:cs typeface="Arial MT"/>
              </a:rPr>
              <a:t>creation</a:t>
            </a:r>
            <a:r>
              <a:rPr sz="1450" spc="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45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145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sz="1450" spc="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Arial MT"/>
                <a:cs typeface="Arial MT"/>
              </a:rPr>
              <a:t>instances</a:t>
            </a:r>
            <a:r>
              <a:rPr sz="1450" spc="5" dirty="0">
                <a:latin typeface="Arial MT"/>
                <a:cs typeface="Arial MT"/>
              </a:rPr>
              <a:t>(object)</a:t>
            </a:r>
            <a:r>
              <a:rPr sz="1450" spc="18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from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string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literals</a:t>
            </a:r>
            <a:endParaRPr sz="1450">
              <a:latin typeface="Arial MT"/>
              <a:cs typeface="Arial MT"/>
            </a:endParaRPr>
          </a:p>
          <a:p>
            <a:pPr marL="407670" marR="445134" lvl="1" indent="-152400">
              <a:lnSpc>
                <a:spcPct val="103299"/>
              </a:lnSpc>
              <a:spcBef>
                <a:spcPts val="359"/>
              </a:spcBef>
              <a:buChar char="–"/>
              <a:tabLst>
                <a:tab pos="408305" algn="l"/>
              </a:tabLst>
            </a:pPr>
            <a:r>
              <a:rPr sz="1450" spc="5" dirty="0">
                <a:latin typeface="Arial MT"/>
                <a:cs typeface="Arial MT"/>
              </a:rPr>
              <a:t>concatenation </a:t>
            </a:r>
            <a:r>
              <a:rPr sz="1450" spc="15" dirty="0">
                <a:latin typeface="Arial MT"/>
                <a:cs typeface="Arial MT"/>
              </a:rPr>
              <a:t>of </a:t>
            </a:r>
            <a:r>
              <a:rPr sz="1450" spc="-10" dirty="0">
                <a:latin typeface="Arial MT"/>
                <a:cs typeface="Arial MT"/>
              </a:rPr>
              <a:t>multiple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 </a:t>
            </a:r>
            <a:r>
              <a:rPr sz="1450" spc="15" dirty="0">
                <a:latin typeface="Arial MT"/>
                <a:cs typeface="Arial MT"/>
              </a:rPr>
              <a:t>objects by </a:t>
            </a:r>
            <a:r>
              <a:rPr sz="1450" spc="5" dirty="0">
                <a:latin typeface="Arial MT"/>
                <a:cs typeface="Arial MT"/>
              </a:rPr>
              <a:t>use </a:t>
            </a:r>
            <a:r>
              <a:rPr sz="1450" spc="15" dirty="0">
                <a:latin typeface="Arial MT"/>
                <a:cs typeface="Arial MT"/>
              </a:rPr>
              <a:t>of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15" dirty="0">
                <a:latin typeface="Arial MT"/>
                <a:cs typeface="Arial MT"/>
              </a:rPr>
              <a:t>+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operator,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and</a:t>
            </a:r>
            <a:endParaRPr sz="1450">
              <a:latin typeface="Arial MT"/>
              <a:cs typeface="Arial MT"/>
            </a:endParaRPr>
          </a:p>
          <a:p>
            <a:pPr marL="407670" lvl="1" indent="-153035">
              <a:lnSpc>
                <a:spcPct val="100000"/>
              </a:lnSpc>
              <a:spcBef>
                <a:spcPts val="414"/>
              </a:spcBef>
              <a:buChar char="–"/>
              <a:tabLst>
                <a:tab pos="408305" algn="l"/>
              </a:tabLst>
            </a:pP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conversion</a:t>
            </a:r>
            <a:r>
              <a:rPr sz="1450" spc="21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other</a:t>
            </a:r>
            <a:r>
              <a:rPr sz="1450" spc="6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data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types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a </a:t>
            </a:r>
            <a:r>
              <a:rPr sz="1450" spc="-5" dirty="0">
                <a:latin typeface="Arial MT"/>
                <a:cs typeface="Arial MT"/>
              </a:rPr>
              <a:t>string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representation.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5601" y="4405908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87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7800" y="155217"/>
            <a:ext cx="2262505" cy="415290"/>
          </a:xfrm>
          <a:custGeom>
            <a:avLst/>
            <a:gdLst/>
            <a:ahLst/>
            <a:cxnLst/>
            <a:rect l="l" t="t" r="r" b="b"/>
            <a:pathLst>
              <a:path w="2262504" h="415290">
                <a:moveTo>
                  <a:pt x="2262446" y="0"/>
                </a:moveTo>
                <a:lnTo>
                  <a:pt x="0" y="0"/>
                </a:lnTo>
                <a:lnTo>
                  <a:pt x="0" y="414886"/>
                </a:lnTo>
                <a:lnTo>
                  <a:pt x="2262446" y="414886"/>
                </a:lnTo>
                <a:lnTo>
                  <a:pt x="2262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55948" y="725613"/>
            <a:ext cx="150812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 Literals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64740"/>
            <a:ext cx="5679440" cy="7118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5080" indent="-182880">
              <a:lnSpc>
                <a:spcPct val="103299"/>
              </a:lnSpc>
              <a:spcBef>
                <a:spcPts val="70"/>
              </a:spcBef>
              <a:buChar char="•"/>
              <a:tabLst>
                <a:tab pos="195580" algn="l"/>
              </a:tabLst>
            </a:pPr>
            <a:r>
              <a:rPr sz="1450" spc="-5" dirty="0">
                <a:latin typeface="Arial MT"/>
                <a:cs typeface="Arial MT"/>
              </a:rPr>
              <a:t>Java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automatically</a:t>
            </a:r>
            <a:r>
              <a:rPr sz="1450" spc="17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constructs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a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object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for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each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literal </a:t>
            </a:r>
            <a:r>
              <a:rPr sz="1450" spc="-38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in</a:t>
            </a:r>
            <a:r>
              <a:rPr sz="1450" spc="4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our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program,.</a:t>
            </a:r>
            <a:endParaRPr sz="1450">
              <a:latin typeface="Arial MT"/>
              <a:cs typeface="Arial MT"/>
            </a:endParaRPr>
          </a:p>
          <a:p>
            <a:pPr marL="255270">
              <a:lnSpc>
                <a:spcPct val="100000"/>
              </a:lnSpc>
              <a:spcBef>
                <a:spcPts val="334"/>
              </a:spcBef>
            </a:pPr>
            <a:r>
              <a:rPr sz="1250" spc="15" dirty="0">
                <a:latin typeface="Arial MT"/>
                <a:cs typeface="Arial MT"/>
              </a:rPr>
              <a:t>–</a:t>
            </a:r>
            <a:r>
              <a:rPr sz="1250" spc="135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So</a:t>
            </a:r>
            <a:r>
              <a:rPr sz="1250" spc="1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we</a:t>
            </a:r>
            <a:r>
              <a:rPr sz="1250" spc="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can</a:t>
            </a:r>
            <a:r>
              <a:rPr sz="1250" spc="10" dirty="0">
                <a:latin typeface="Arial MT"/>
                <a:cs typeface="Arial MT"/>
              </a:rPr>
              <a:t> </a:t>
            </a:r>
            <a:r>
              <a:rPr sz="1250" spc="15" dirty="0">
                <a:latin typeface="Arial MT"/>
                <a:cs typeface="Arial MT"/>
              </a:rPr>
              <a:t>use a</a:t>
            </a:r>
            <a:r>
              <a:rPr sz="1250" spc="-20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string</a:t>
            </a:r>
            <a:r>
              <a:rPr sz="1250" spc="15" dirty="0">
                <a:latin typeface="Arial MT"/>
                <a:cs typeface="Arial MT"/>
              </a:rPr>
              <a:t> </a:t>
            </a:r>
            <a:r>
              <a:rPr sz="1250" spc="-5" dirty="0">
                <a:latin typeface="Arial MT"/>
                <a:cs typeface="Arial MT"/>
              </a:rPr>
              <a:t>literal</a:t>
            </a:r>
            <a:r>
              <a:rPr sz="1250" spc="4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to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initialize</a:t>
            </a:r>
            <a:r>
              <a:rPr sz="1250" spc="95" dirty="0">
                <a:latin typeface="Arial MT"/>
                <a:cs typeface="Arial MT"/>
              </a:rPr>
              <a:t> </a:t>
            </a:r>
            <a:r>
              <a:rPr sz="1250" spc="15" dirty="0">
                <a:latin typeface="Arial MT"/>
                <a:cs typeface="Arial MT"/>
              </a:rPr>
              <a:t>a</a:t>
            </a:r>
            <a:r>
              <a:rPr sz="1250" spc="-25" dirty="0">
                <a:latin typeface="Arial MT"/>
                <a:cs typeface="Arial MT"/>
              </a:rPr>
              <a:t> </a:t>
            </a:r>
            <a:r>
              <a:rPr sz="1250" spc="10" dirty="0">
                <a:latin typeface="Arial MT"/>
                <a:cs typeface="Arial MT"/>
              </a:rPr>
              <a:t>String</a:t>
            </a:r>
            <a:r>
              <a:rPr sz="1250" spc="2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object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234" y="2932544"/>
            <a:ext cx="5373370" cy="1295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5080" indent="-182880">
              <a:lnSpc>
                <a:spcPct val="103200"/>
              </a:lnSpc>
              <a:spcBef>
                <a:spcPts val="70"/>
              </a:spcBef>
              <a:buChar char="•"/>
              <a:tabLst>
                <a:tab pos="195580" algn="l"/>
              </a:tabLst>
            </a:pPr>
            <a:r>
              <a:rPr sz="1450" spc="75" dirty="0">
                <a:latin typeface="Arial MT"/>
                <a:cs typeface="Arial MT"/>
              </a:rPr>
              <a:t>We</a:t>
            </a:r>
            <a:r>
              <a:rPr sz="1450" spc="-11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can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use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a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literal</a:t>
            </a:r>
            <a:r>
              <a:rPr sz="1450" spc="14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at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any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place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where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we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use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a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object.</a:t>
            </a:r>
            <a:endParaRPr sz="1450">
              <a:latin typeface="Arial MT"/>
              <a:cs typeface="Arial MT"/>
            </a:endParaRPr>
          </a:p>
          <a:p>
            <a:pPr marL="12700" marR="553720">
              <a:lnSpc>
                <a:spcPct val="123900"/>
              </a:lnSpc>
              <a:buChar char="•"/>
              <a:tabLst>
                <a:tab pos="195580" algn="l"/>
              </a:tabLst>
            </a:pP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literals</a:t>
            </a:r>
            <a:r>
              <a:rPr sz="1450" spc="16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can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call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FF0000"/>
                </a:solidFill>
                <a:latin typeface="Arial MT"/>
                <a:cs typeface="Arial MT"/>
              </a:rPr>
              <a:t>length(</a:t>
            </a:r>
            <a:r>
              <a:rPr sz="1450" spc="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145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method</a:t>
            </a:r>
            <a:r>
              <a:rPr sz="1450" spc="40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on</a:t>
            </a:r>
            <a:r>
              <a:rPr sz="1450" spc="10" dirty="0">
                <a:latin typeface="Arial MT"/>
                <a:cs typeface="Arial MT"/>
              </a:rPr>
              <a:t> the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E.g.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450" spc="5" dirty="0">
                <a:latin typeface="Arial MT"/>
                <a:cs typeface="Arial MT"/>
              </a:rPr>
              <a:t>System.out.println("abc".length());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5595" y="396344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88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4523" y="2021313"/>
              <a:ext cx="1529660" cy="8394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0521" y="1168073"/>
            <a:ext cx="229997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</a:t>
            </a:r>
            <a:r>
              <a:rPr spc="-15" dirty="0"/>
              <a:t> </a:t>
            </a:r>
            <a:r>
              <a:rPr spc="5" dirty="0"/>
              <a:t>Concatenation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658599"/>
            <a:ext cx="5747385" cy="26619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09"/>
              </a:spcBef>
              <a:buChar char="•"/>
              <a:tabLst>
                <a:tab pos="195580" algn="l"/>
              </a:tabLst>
            </a:pP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concatenation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is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used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75" dirty="0"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Arial MT"/>
                <a:cs typeface="Arial MT"/>
              </a:rPr>
              <a:t>join</a:t>
            </a:r>
            <a:r>
              <a:rPr sz="1450" spc="10" dirty="0">
                <a:solidFill>
                  <a:srgbClr val="FF0000"/>
                </a:solidFill>
                <a:latin typeface="Arial MT"/>
                <a:cs typeface="Arial MT"/>
              </a:rPr>
              <a:t> two</a:t>
            </a:r>
            <a:r>
              <a:rPr sz="14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-5" dirty="0">
                <a:solidFill>
                  <a:srgbClr val="FF0000"/>
                </a:solidFill>
                <a:latin typeface="Arial MT"/>
                <a:cs typeface="Arial MT"/>
              </a:rPr>
              <a:t>strings</a:t>
            </a:r>
            <a:endParaRPr sz="1450">
              <a:latin typeface="Arial MT"/>
              <a:cs typeface="Arial MT"/>
            </a:endParaRPr>
          </a:p>
          <a:p>
            <a:pPr marL="194945" marR="17145" indent="-182880">
              <a:lnSpc>
                <a:spcPct val="103200"/>
              </a:lnSpc>
              <a:spcBef>
                <a:spcPts val="360"/>
              </a:spcBef>
              <a:buChar char="•"/>
              <a:tabLst>
                <a:tab pos="195580" algn="l"/>
              </a:tabLst>
            </a:pPr>
            <a:r>
              <a:rPr sz="1450" spc="10" dirty="0">
                <a:latin typeface="Arial MT"/>
                <a:cs typeface="Arial MT"/>
              </a:rPr>
              <a:t>Method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FF0000"/>
                </a:solidFill>
                <a:latin typeface="Arial MT"/>
                <a:cs typeface="Arial MT"/>
              </a:rPr>
              <a:t>1:The +</a:t>
            </a:r>
            <a:r>
              <a:rPr sz="1450" spc="5" dirty="0">
                <a:solidFill>
                  <a:srgbClr val="FF0000"/>
                </a:solidFill>
                <a:latin typeface="Arial MT"/>
                <a:cs typeface="Arial MT"/>
              </a:rPr>
              <a:t> operator</a:t>
            </a:r>
            <a:r>
              <a:rPr sz="145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1450" spc="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be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used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between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strings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combine </a:t>
            </a:r>
            <a:r>
              <a:rPr sz="1450" spc="-38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them.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called</a:t>
            </a:r>
            <a:r>
              <a:rPr sz="1450" spc="16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concatenation.</a:t>
            </a:r>
            <a:endParaRPr sz="145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15"/>
              </a:spcBef>
              <a:buChar char="•"/>
              <a:tabLst>
                <a:tab pos="195580" algn="l"/>
              </a:tabLst>
            </a:pPr>
            <a:r>
              <a:rPr sz="1450" spc="5" dirty="0">
                <a:latin typeface="Arial MT"/>
                <a:cs typeface="Arial MT"/>
              </a:rPr>
              <a:t>Operator</a:t>
            </a:r>
            <a:r>
              <a:rPr sz="1450" spc="10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+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can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be</a:t>
            </a:r>
            <a:r>
              <a:rPr sz="1450" spc="30" dirty="0"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007F00"/>
                </a:solidFill>
                <a:latin typeface="Arial MT"/>
                <a:cs typeface="Arial MT"/>
              </a:rPr>
              <a:t>chained</a:t>
            </a:r>
            <a:r>
              <a:rPr sz="1450" spc="100" dirty="0">
                <a:solidFill>
                  <a:srgbClr val="007F00"/>
                </a:solidFill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concatenate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many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strings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50" spc="-55" dirty="0">
                <a:latin typeface="Times New Roman"/>
                <a:cs typeface="Times New Roman"/>
              </a:rPr>
              <a:t>S</a:t>
            </a:r>
            <a:r>
              <a:rPr sz="1450" spc="-10" dirty="0">
                <a:latin typeface="Times New Roman"/>
                <a:cs typeface="Times New Roman"/>
              </a:rPr>
              <a:t>tri</a:t>
            </a:r>
            <a:r>
              <a:rPr sz="1450" spc="25" dirty="0">
                <a:latin typeface="Times New Roman"/>
                <a:cs typeface="Times New Roman"/>
              </a:rPr>
              <a:t>n</a:t>
            </a:r>
            <a:r>
              <a:rPr sz="1450" spc="-120" dirty="0">
                <a:latin typeface="Times New Roman"/>
                <a:cs typeface="Times New Roman"/>
              </a:rPr>
              <a:t>g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a</a:t>
            </a:r>
            <a:r>
              <a:rPr sz="1450" spc="-130" dirty="0">
                <a:latin typeface="Times New Roman"/>
                <a:cs typeface="Times New Roman"/>
              </a:rPr>
              <a:t>g</a:t>
            </a:r>
            <a:r>
              <a:rPr sz="1450" spc="20" dirty="0">
                <a:latin typeface="Times New Roman"/>
                <a:cs typeface="Times New Roman"/>
              </a:rPr>
              <a:t>e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spc="-95" dirty="0">
                <a:latin typeface="Times New Roman"/>
                <a:cs typeface="Times New Roman"/>
              </a:rPr>
              <a:t>=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spc="-105" dirty="0">
                <a:latin typeface="Times New Roman"/>
                <a:cs typeface="Times New Roman"/>
              </a:rPr>
              <a:t>"</a:t>
            </a:r>
            <a:r>
              <a:rPr sz="1450" spc="-145" dirty="0">
                <a:latin typeface="Times New Roman"/>
                <a:cs typeface="Times New Roman"/>
              </a:rPr>
              <a:t>9";</a:t>
            </a:r>
            <a:endParaRPr sz="1450">
              <a:latin typeface="Times New Roman"/>
              <a:cs typeface="Times New Roman"/>
            </a:endParaRPr>
          </a:p>
          <a:p>
            <a:pPr marL="12700" marR="2945130">
              <a:lnSpc>
                <a:spcPts val="2160"/>
              </a:lnSpc>
              <a:spcBef>
                <a:spcPts val="95"/>
              </a:spcBef>
            </a:pPr>
            <a:r>
              <a:rPr sz="1450" spc="-55" dirty="0">
                <a:latin typeface="Times New Roman"/>
                <a:cs typeface="Times New Roman"/>
              </a:rPr>
              <a:t>S</a:t>
            </a:r>
            <a:r>
              <a:rPr sz="1450" spc="-15" dirty="0">
                <a:latin typeface="Times New Roman"/>
                <a:cs typeface="Times New Roman"/>
              </a:rPr>
              <a:t>t</a:t>
            </a:r>
            <a:r>
              <a:rPr sz="1450" spc="30" dirty="0">
                <a:latin typeface="Times New Roman"/>
                <a:cs typeface="Times New Roman"/>
              </a:rPr>
              <a:t>r</a:t>
            </a:r>
            <a:r>
              <a:rPr sz="1450" spc="-10" dirty="0">
                <a:latin typeface="Times New Roman"/>
                <a:cs typeface="Times New Roman"/>
              </a:rPr>
              <a:t>i</a:t>
            </a:r>
            <a:r>
              <a:rPr sz="1450" spc="-20" dirty="0">
                <a:latin typeface="Times New Roman"/>
                <a:cs typeface="Times New Roman"/>
              </a:rPr>
              <a:t>n</a:t>
            </a:r>
            <a:r>
              <a:rPr sz="1450" spc="-120" dirty="0">
                <a:latin typeface="Times New Roman"/>
                <a:cs typeface="Times New Roman"/>
              </a:rPr>
              <a:t>g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s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spc="-95" dirty="0">
                <a:latin typeface="Times New Roman"/>
                <a:cs typeface="Times New Roman"/>
              </a:rPr>
              <a:t>=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spc="-30" dirty="0">
                <a:latin typeface="Times New Roman"/>
                <a:cs typeface="Times New Roman"/>
              </a:rPr>
              <a:t>"</a:t>
            </a:r>
            <a:r>
              <a:rPr sz="1450" spc="-65" dirty="0">
                <a:latin typeface="Times New Roman"/>
                <a:cs typeface="Times New Roman"/>
              </a:rPr>
              <a:t>H</a:t>
            </a:r>
            <a:r>
              <a:rPr sz="1450" spc="20" dirty="0">
                <a:latin typeface="Times New Roman"/>
                <a:cs typeface="Times New Roman"/>
              </a:rPr>
              <a:t>e</a:t>
            </a:r>
            <a:r>
              <a:rPr sz="1450" spc="45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i</a:t>
            </a:r>
            <a:r>
              <a:rPr sz="1450" spc="-55" dirty="0">
                <a:latin typeface="Times New Roman"/>
                <a:cs typeface="Times New Roman"/>
              </a:rPr>
              <a:t>s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spc="-235" dirty="0">
                <a:latin typeface="Times New Roman"/>
                <a:cs typeface="Times New Roman"/>
              </a:rPr>
              <a:t>"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spc="-95" dirty="0">
                <a:latin typeface="Times New Roman"/>
                <a:cs typeface="Times New Roman"/>
              </a:rPr>
              <a:t>+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a</a:t>
            </a:r>
            <a:r>
              <a:rPr sz="1450" spc="-130" dirty="0">
                <a:latin typeface="Times New Roman"/>
                <a:cs typeface="Times New Roman"/>
              </a:rPr>
              <a:t>g</a:t>
            </a:r>
            <a:r>
              <a:rPr sz="1450" spc="20" dirty="0">
                <a:latin typeface="Times New Roman"/>
                <a:cs typeface="Times New Roman"/>
              </a:rPr>
              <a:t>e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-95" dirty="0">
                <a:latin typeface="Times New Roman"/>
                <a:cs typeface="Times New Roman"/>
              </a:rPr>
              <a:t>+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1450" spc="-235" dirty="0">
                <a:latin typeface="Times New Roman"/>
                <a:cs typeface="Times New Roman"/>
              </a:rPr>
              <a:t>"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-130" dirty="0">
                <a:latin typeface="Times New Roman"/>
                <a:cs typeface="Times New Roman"/>
              </a:rPr>
              <a:t>y</a:t>
            </a:r>
            <a:r>
              <a:rPr sz="1450" spc="30" dirty="0">
                <a:latin typeface="Times New Roman"/>
                <a:cs typeface="Times New Roman"/>
              </a:rPr>
              <a:t>e</a:t>
            </a:r>
            <a:r>
              <a:rPr sz="1450" spc="-10" dirty="0">
                <a:latin typeface="Times New Roman"/>
                <a:cs typeface="Times New Roman"/>
              </a:rPr>
              <a:t>a</a:t>
            </a:r>
            <a:r>
              <a:rPr sz="1450" spc="30" dirty="0">
                <a:latin typeface="Times New Roman"/>
                <a:cs typeface="Times New Roman"/>
              </a:rPr>
              <a:t>r</a:t>
            </a:r>
            <a:r>
              <a:rPr sz="1450" spc="-45" dirty="0">
                <a:latin typeface="Times New Roman"/>
                <a:cs typeface="Times New Roman"/>
              </a:rPr>
              <a:t>s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o</a:t>
            </a:r>
            <a:r>
              <a:rPr sz="1450" spc="-5" dirty="0">
                <a:latin typeface="Times New Roman"/>
                <a:cs typeface="Times New Roman"/>
              </a:rPr>
              <a:t>l</a:t>
            </a:r>
            <a:r>
              <a:rPr sz="1450" spc="-15" dirty="0">
                <a:latin typeface="Times New Roman"/>
                <a:cs typeface="Times New Roman"/>
              </a:rPr>
              <a:t>d</a:t>
            </a:r>
            <a:r>
              <a:rPr sz="1450" spc="-95" dirty="0">
                <a:latin typeface="Times New Roman"/>
                <a:cs typeface="Times New Roman"/>
              </a:rPr>
              <a:t>.";  </a:t>
            </a:r>
            <a:r>
              <a:rPr sz="1450" spc="-15" dirty="0">
                <a:latin typeface="Times New Roman"/>
                <a:cs typeface="Times New Roman"/>
              </a:rPr>
              <a:t>System.out.println(s);</a:t>
            </a:r>
            <a:endParaRPr sz="1450">
              <a:latin typeface="Times New Roman"/>
              <a:cs typeface="Times New Roman"/>
            </a:endParaRPr>
          </a:p>
          <a:p>
            <a:pPr marL="194945" indent="-182880">
              <a:lnSpc>
                <a:spcPct val="100000"/>
              </a:lnSpc>
              <a:spcBef>
                <a:spcPts val="350"/>
              </a:spcBef>
              <a:buChar char="•"/>
              <a:tabLst>
                <a:tab pos="195580" algn="l"/>
              </a:tabLst>
            </a:pPr>
            <a:r>
              <a:rPr sz="1450" dirty="0">
                <a:latin typeface="Arial MT"/>
                <a:cs typeface="Arial MT"/>
              </a:rPr>
              <a:t>This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fragment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displays</a:t>
            </a:r>
            <a:r>
              <a:rPr sz="1450" spc="17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string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He </a:t>
            </a:r>
            <a:r>
              <a:rPr sz="1450" spc="-20" dirty="0">
                <a:latin typeface="Arial MT"/>
                <a:cs typeface="Arial MT"/>
              </a:rPr>
              <a:t>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9 </a:t>
            </a:r>
            <a:r>
              <a:rPr sz="1450" spc="-15" dirty="0">
                <a:latin typeface="Arial MT"/>
                <a:cs typeface="Arial MT"/>
              </a:rPr>
              <a:t>years</a:t>
            </a:r>
            <a:r>
              <a:rPr sz="1450" spc="17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old.</a:t>
            </a:r>
            <a:endParaRPr sz="1450">
              <a:latin typeface="Arial MT"/>
              <a:cs typeface="Arial MT"/>
            </a:endParaRPr>
          </a:p>
          <a:p>
            <a:pPr marL="194945" marR="5080" indent="-182880">
              <a:lnSpc>
                <a:spcPct val="103200"/>
              </a:lnSpc>
              <a:spcBef>
                <a:spcPts val="320"/>
              </a:spcBef>
              <a:buChar char="•"/>
              <a:tabLst>
                <a:tab pos="195580" algn="l"/>
              </a:tabLst>
            </a:pPr>
            <a:r>
              <a:rPr sz="1450" spc="-10" dirty="0">
                <a:latin typeface="Arial MT"/>
                <a:cs typeface="Arial MT"/>
              </a:rPr>
              <a:t>Instead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 </a:t>
            </a:r>
            <a:r>
              <a:rPr sz="1450" spc="-15" dirty="0">
                <a:latin typeface="Arial MT"/>
                <a:cs typeface="Arial MT"/>
              </a:rPr>
              <a:t>letting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long </a:t>
            </a:r>
            <a:r>
              <a:rPr sz="1450" spc="-5" dirty="0">
                <a:latin typeface="Arial MT"/>
                <a:cs typeface="Arial MT"/>
              </a:rPr>
              <a:t>strings </a:t>
            </a:r>
            <a:r>
              <a:rPr sz="1450" spc="5" dirty="0">
                <a:latin typeface="Arial MT"/>
                <a:cs typeface="Arial MT"/>
              </a:rPr>
              <a:t>wrap </a:t>
            </a:r>
            <a:r>
              <a:rPr sz="1450" spc="10" dirty="0">
                <a:latin typeface="Arial MT"/>
                <a:cs typeface="Arial MT"/>
              </a:rPr>
              <a:t>around </a:t>
            </a:r>
            <a:r>
              <a:rPr sz="1450" spc="-5" dirty="0">
                <a:latin typeface="Arial MT"/>
                <a:cs typeface="Arial MT"/>
              </a:rPr>
              <a:t>within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our </a:t>
            </a:r>
            <a:r>
              <a:rPr sz="1450" spc="10" dirty="0">
                <a:latin typeface="Arial MT"/>
                <a:cs typeface="Arial MT"/>
              </a:rPr>
              <a:t>source </a:t>
            </a:r>
            <a:r>
              <a:rPr sz="1450" spc="15" dirty="0">
                <a:latin typeface="Arial MT"/>
                <a:cs typeface="Arial MT"/>
              </a:rPr>
              <a:t>code,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we</a:t>
            </a:r>
            <a:r>
              <a:rPr sz="1450" spc="10" dirty="0">
                <a:latin typeface="Arial MT"/>
                <a:cs typeface="Arial MT"/>
              </a:rPr>
              <a:t> can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break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them</a:t>
            </a:r>
            <a:r>
              <a:rPr sz="1450" spc="4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into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smaller</a:t>
            </a:r>
            <a:r>
              <a:rPr sz="1450" spc="18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pieces,</a:t>
            </a:r>
            <a:r>
              <a:rPr sz="1450" spc="1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using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15" dirty="0">
                <a:latin typeface="Arial MT"/>
                <a:cs typeface="Arial MT"/>
              </a:rPr>
              <a:t> +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concatenate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2665" y="4297734"/>
            <a:ext cx="44005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latin typeface="Arial MT"/>
                <a:cs typeface="Arial MT"/>
              </a:rPr>
              <a:t>t</a:t>
            </a:r>
            <a:r>
              <a:rPr sz="1450" spc="25" dirty="0">
                <a:latin typeface="Arial MT"/>
                <a:cs typeface="Arial MT"/>
              </a:rPr>
              <a:t>h</a:t>
            </a:r>
            <a:r>
              <a:rPr sz="1450" spc="-10" dirty="0">
                <a:latin typeface="Arial MT"/>
                <a:cs typeface="Arial MT"/>
              </a:rPr>
              <a:t>e</a:t>
            </a:r>
            <a:r>
              <a:rPr sz="1450" spc="20" dirty="0">
                <a:latin typeface="Arial MT"/>
                <a:cs typeface="Arial MT"/>
              </a:rPr>
              <a:t>m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5606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89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35200" y="92934"/>
            <a:ext cx="3077845" cy="883919"/>
          </a:xfrm>
          <a:custGeom>
            <a:avLst/>
            <a:gdLst/>
            <a:ahLst/>
            <a:cxnLst/>
            <a:rect l="l" t="t" r="r" b="b"/>
            <a:pathLst>
              <a:path w="3077845" h="883919">
                <a:moveTo>
                  <a:pt x="3077547" y="0"/>
                </a:moveTo>
                <a:lnTo>
                  <a:pt x="0" y="0"/>
                </a:lnTo>
                <a:lnTo>
                  <a:pt x="0" y="883568"/>
                </a:lnTo>
                <a:lnTo>
                  <a:pt x="3077547" y="883568"/>
                </a:lnTo>
                <a:lnTo>
                  <a:pt x="30775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93173" y="725613"/>
            <a:ext cx="476504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</a:t>
            </a:r>
            <a:r>
              <a:rPr spc="30" dirty="0"/>
              <a:t> </a:t>
            </a:r>
            <a:r>
              <a:rPr spc="5" dirty="0"/>
              <a:t>Concatenation</a:t>
            </a:r>
            <a:r>
              <a:rPr spc="-85" dirty="0"/>
              <a:t> </a:t>
            </a:r>
            <a:r>
              <a:rPr spc="-25" dirty="0"/>
              <a:t>with</a:t>
            </a:r>
            <a:r>
              <a:rPr spc="114" dirty="0"/>
              <a:t> </a:t>
            </a:r>
            <a:r>
              <a:rPr dirty="0"/>
              <a:t>Other</a:t>
            </a:r>
            <a:r>
              <a:rPr spc="-15" dirty="0"/>
              <a:t> </a:t>
            </a:r>
            <a:r>
              <a:rPr spc="5" dirty="0"/>
              <a:t>Data</a:t>
            </a:r>
            <a:r>
              <a:rPr spc="-5" dirty="0"/>
              <a:t> </a:t>
            </a:r>
            <a:r>
              <a:rPr spc="-10" dirty="0"/>
              <a:t>Types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16139"/>
            <a:ext cx="5057775" cy="8013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09"/>
              </a:spcBef>
              <a:buChar char="•"/>
              <a:tabLst>
                <a:tab pos="195580" algn="l"/>
              </a:tabLst>
            </a:pPr>
            <a:r>
              <a:rPr sz="1450" spc="75" dirty="0">
                <a:latin typeface="Arial MT"/>
                <a:cs typeface="Arial MT"/>
              </a:rPr>
              <a:t>We</a:t>
            </a:r>
            <a:r>
              <a:rPr sz="1450" spc="-11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can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concatenate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strings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with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other</a:t>
            </a:r>
            <a:r>
              <a:rPr sz="1450" spc="7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types</a:t>
            </a:r>
            <a:r>
              <a:rPr sz="1450" spc="13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data.</a:t>
            </a:r>
            <a:endParaRPr sz="1450">
              <a:latin typeface="Arial MT"/>
              <a:cs typeface="Arial MT"/>
            </a:endParaRPr>
          </a:p>
          <a:p>
            <a:pPr marL="194945" marR="5080" indent="-182880">
              <a:lnSpc>
                <a:spcPct val="103200"/>
              </a:lnSpc>
              <a:spcBef>
                <a:spcPts val="360"/>
              </a:spcBef>
              <a:buChar char="•"/>
              <a:tabLst>
                <a:tab pos="195580" algn="l"/>
              </a:tabLst>
            </a:pPr>
            <a:r>
              <a:rPr sz="1450" spc="-20" dirty="0">
                <a:latin typeface="Arial MT"/>
                <a:cs typeface="Arial MT"/>
              </a:rPr>
              <a:t>If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one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operand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+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is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an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instance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then 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compiler</a:t>
            </a:r>
            <a:r>
              <a:rPr sz="1450" spc="14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will</a:t>
            </a:r>
            <a:r>
              <a:rPr sz="1450" spc="1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convert</a:t>
            </a:r>
            <a:r>
              <a:rPr sz="1450" spc="10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other</a:t>
            </a:r>
            <a:r>
              <a:rPr sz="1450" spc="6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operand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its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equivalent.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240" y="3130487"/>
            <a:ext cx="5577205" cy="4737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1000"/>
              </a:lnSpc>
              <a:spcBef>
                <a:spcPts val="105"/>
              </a:spcBef>
              <a:buChar char="•"/>
              <a:tabLst>
                <a:tab pos="195580" algn="l"/>
              </a:tabLst>
            </a:pPr>
            <a:r>
              <a:rPr sz="1450" dirty="0">
                <a:latin typeface="Arial MT"/>
                <a:cs typeface="Arial MT"/>
              </a:rPr>
              <a:t>Parentheses</a:t>
            </a:r>
            <a:r>
              <a:rPr sz="1450" spc="17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can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be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used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for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grouping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integers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and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+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perform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addition.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5604" y="396344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633" y="2034528"/>
              <a:ext cx="3394394" cy="11415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1822" y="3458789"/>
              <a:ext cx="5031352" cy="81925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9071" y="1168073"/>
            <a:ext cx="3561079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</a:t>
            </a:r>
            <a:r>
              <a:rPr spc="20" dirty="0"/>
              <a:t> </a:t>
            </a:r>
            <a:r>
              <a:rPr spc="10" dirty="0"/>
              <a:t>Conversion</a:t>
            </a:r>
            <a:r>
              <a:rPr spc="-95" dirty="0"/>
              <a:t> </a:t>
            </a:r>
            <a:r>
              <a:rPr spc="10" dirty="0"/>
              <a:t>and</a:t>
            </a:r>
            <a:r>
              <a:rPr spc="-50" dirty="0"/>
              <a:t> </a:t>
            </a:r>
            <a:r>
              <a:rPr dirty="0"/>
              <a:t>toString(</a:t>
            </a:r>
            <a:r>
              <a:rPr spc="15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2138"/>
            <a:ext cx="5489575" cy="2867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123189" indent="-182880">
              <a:lnSpc>
                <a:spcPct val="100400"/>
              </a:lnSpc>
              <a:spcBef>
                <a:spcPts val="105"/>
              </a:spcBef>
              <a:buChar char="•"/>
              <a:tabLst>
                <a:tab pos="195580" algn="l"/>
              </a:tabLst>
            </a:pPr>
            <a:r>
              <a:rPr sz="1700" spc="20" dirty="0">
                <a:latin typeface="Arial MT"/>
                <a:cs typeface="Arial MT"/>
              </a:rPr>
              <a:t>When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25" dirty="0">
                <a:latin typeface="Arial MT"/>
                <a:cs typeface="Arial MT"/>
              </a:rPr>
              <a:t>Java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converts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data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into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its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representation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during </a:t>
            </a:r>
            <a:r>
              <a:rPr sz="1700" dirty="0">
                <a:latin typeface="Arial MT"/>
                <a:cs typeface="Arial MT"/>
              </a:rPr>
              <a:t>concatenation, </a:t>
            </a:r>
            <a:r>
              <a:rPr sz="1700" spc="10" dirty="0">
                <a:latin typeface="Arial MT"/>
                <a:cs typeface="Arial MT"/>
              </a:rPr>
              <a:t>it calls </a:t>
            </a:r>
            <a:r>
              <a:rPr sz="1700" spc="5" dirty="0">
                <a:latin typeface="Arial MT"/>
                <a:cs typeface="Arial MT"/>
              </a:rPr>
              <a:t>one </a:t>
            </a:r>
            <a:r>
              <a:rPr sz="1700" dirty="0">
                <a:latin typeface="Arial MT"/>
                <a:cs typeface="Arial MT"/>
              </a:rPr>
              <a:t>of </a:t>
            </a:r>
            <a:r>
              <a:rPr sz="1700" spc="5" dirty="0">
                <a:latin typeface="Arial MT"/>
                <a:cs typeface="Arial MT"/>
              </a:rPr>
              <a:t>the overloaded </a:t>
            </a:r>
            <a:r>
              <a:rPr sz="1700" spc="10" dirty="0">
                <a:latin typeface="Arial MT"/>
                <a:cs typeface="Arial MT"/>
              </a:rPr>
              <a:t> versions</a:t>
            </a:r>
            <a:r>
              <a:rPr sz="1700" spc="-1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5" dirty="0">
                <a:latin typeface="Arial MT"/>
                <a:cs typeface="Arial MT"/>
              </a:rPr>
              <a:t> 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conversion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method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valueOf(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class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  <a:p>
            <a:pPr marL="194945" marR="60960" indent="-182880">
              <a:lnSpc>
                <a:spcPct val="100000"/>
              </a:lnSpc>
              <a:spcBef>
                <a:spcPts val="439"/>
              </a:spcBef>
              <a:buChar char="•"/>
              <a:tabLst>
                <a:tab pos="195580" algn="l"/>
              </a:tabLst>
            </a:pPr>
            <a:r>
              <a:rPr sz="1700" spc="10" dirty="0">
                <a:latin typeface="Arial MT"/>
                <a:cs typeface="Arial MT"/>
              </a:rPr>
              <a:t>valueOf(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overloaded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for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all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simple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Object</a:t>
            </a:r>
            <a:endParaRPr sz="1700">
              <a:latin typeface="Arial MT"/>
              <a:cs typeface="Arial MT"/>
            </a:endParaRPr>
          </a:p>
          <a:p>
            <a:pPr marL="407670" marR="5080" lvl="1" indent="-152400">
              <a:lnSpc>
                <a:spcPct val="102099"/>
              </a:lnSpc>
              <a:spcBef>
                <a:spcPts val="360"/>
              </a:spcBef>
              <a:buChar char="–"/>
              <a:tabLst>
                <a:tab pos="408305" algn="l"/>
              </a:tabLst>
            </a:pPr>
            <a:r>
              <a:rPr sz="1450" spc="20" dirty="0">
                <a:latin typeface="Arial MT"/>
                <a:cs typeface="Arial MT"/>
              </a:rPr>
              <a:t>For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-10" dirty="0">
                <a:latin typeface="Arial MT"/>
                <a:cs typeface="Arial MT"/>
              </a:rPr>
              <a:t>simple types,</a:t>
            </a:r>
            <a:r>
              <a:rPr sz="1450" spc="-5" dirty="0">
                <a:latin typeface="Arial MT"/>
                <a:cs typeface="Arial MT"/>
              </a:rPr>
              <a:t> valueOf(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) returns </a:t>
            </a:r>
            <a:r>
              <a:rPr sz="1450" spc="15" dirty="0">
                <a:latin typeface="Arial MT"/>
                <a:cs typeface="Arial MT"/>
              </a:rPr>
              <a:t>a </a:t>
            </a:r>
            <a:r>
              <a:rPr sz="1450" spc="-5" dirty="0">
                <a:latin typeface="Arial MT"/>
                <a:cs typeface="Arial MT"/>
              </a:rPr>
              <a:t>string </a:t>
            </a:r>
            <a:r>
              <a:rPr sz="1450" dirty="0">
                <a:latin typeface="Arial MT"/>
                <a:cs typeface="Arial MT"/>
              </a:rPr>
              <a:t>that </a:t>
            </a:r>
            <a:r>
              <a:rPr sz="1450" spc="5" dirty="0">
                <a:latin typeface="Arial MT"/>
                <a:cs typeface="Arial MT"/>
              </a:rPr>
              <a:t>contains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5" dirty="0">
                <a:latin typeface="Arial MT"/>
                <a:cs typeface="Arial MT"/>
              </a:rPr>
              <a:t>human-readable </a:t>
            </a:r>
            <a:r>
              <a:rPr sz="1450" spc="-5" dirty="0">
                <a:latin typeface="Arial MT"/>
                <a:cs typeface="Arial MT"/>
              </a:rPr>
              <a:t>equivalent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-15" dirty="0">
                <a:latin typeface="Arial MT"/>
                <a:cs typeface="Arial MT"/>
              </a:rPr>
              <a:t>value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with </a:t>
            </a:r>
            <a:r>
              <a:rPr sz="1450" spc="10" dirty="0">
                <a:latin typeface="Arial MT"/>
                <a:cs typeface="Arial MT"/>
              </a:rPr>
              <a:t>which </a:t>
            </a:r>
            <a:r>
              <a:rPr sz="1450" spc="-20" dirty="0">
                <a:latin typeface="Arial MT"/>
                <a:cs typeface="Arial MT"/>
              </a:rPr>
              <a:t>it </a:t>
            </a:r>
            <a:r>
              <a:rPr sz="1450" spc="-15" dirty="0">
                <a:latin typeface="Arial MT"/>
                <a:cs typeface="Arial MT"/>
              </a:rPr>
              <a:t>is </a:t>
            </a:r>
            <a:r>
              <a:rPr sz="1450" spc="-10" dirty="0">
                <a:latin typeface="Arial MT"/>
                <a:cs typeface="Arial MT"/>
              </a:rPr>
              <a:t> called.</a:t>
            </a:r>
            <a:endParaRPr sz="1450">
              <a:latin typeface="Arial MT"/>
              <a:cs typeface="Arial MT"/>
            </a:endParaRPr>
          </a:p>
          <a:p>
            <a:pPr marL="407670" marR="313690" lvl="1" indent="-152400">
              <a:lnSpc>
                <a:spcPct val="103200"/>
              </a:lnSpc>
              <a:spcBef>
                <a:spcPts val="360"/>
              </a:spcBef>
              <a:buChar char="–"/>
              <a:tabLst>
                <a:tab pos="408305" algn="l"/>
              </a:tabLst>
            </a:pPr>
            <a:r>
              <a:rPr sz="1450" spc="20" dirty="0">
                <a:latin typeface="Arial MT"/>
                <a:cs typeface="Arial MT"/>
              </a:rPr>
              <a:t>For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objects,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valueOf(</a:t>
            </a:r>
            <a:r>
              <a:rPr sz="1450" spc="18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)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calls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toString(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)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method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on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Object.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5604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91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7800" y="120967"/>
            <a:ext cx="2541270" cy="551180"/>
          </a:xfrm>
          <a:custGeom>
            <a:avLst/>
            <a:gdLst/>
            <a:ahLst/>
            <a:cxnLst/>
            <a:rect l="l" t="t" r="r" b="b"/>
            <a:pathLst>
              <a:path w="2541270" h="551180">
                <a:moveTo>
                  <a:pt x="2540939" y="0"/>
                </a:moveTo>
                <a:lnTo>
                  <a:pt x="0" y="0"/>
                </a:lnTo>
                <a:lnTo>
                  <a:pt x="0" y="550736"/>
                </a:lnTo>
                <a:lnTo>
                  <a:pt x="2540939" y="550736"/>
                </a:lnTo>
                <a:lnTo>
                  <a:pt x="25409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9071" y="725613"/>
            <a:ext cx="3561079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</a:t>
            </a:r>
            <a:r>
              <a:rPr spc="20" dirty="0"/>
              <a:t> </a:t>
            </a:r>
            <a:r>
              <a:rPr spc="10" dirty="0"/>
              <a:t>Conversion</a:t>
            </a:r>
            <a:r>
              <a:rPr spc="-95" dirty="0"/>
              <a:t> </a:t>
            </a:r>
            <a:r>
              <a:rPr spc="10" dirty="0"/>
              <a:t>and</a:t>
            </a:r>
            <a:r>
              <a:rPr spc="-50" dirty="0"/>
              <a:t> </a:t>
            </a:r>
            <a:r>
              <a:rPr dirty="0"/>
              <a:t>toString(</a:t>
            </a:r>
            <a:r>
              <a:rPr spc="15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5601" y="396344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252" y="1167149"/>
              <a:ext cx="5119918" cy="31108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5601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00" y="1535331"/>
              <a:ext cx="5278533" cy="31438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7800" y="190949"/>
            <a:ext cx="2554605" cy="354330"/>
          </a:xfrm>
          <a:custGeom>
            <a:avLst/>
            <a:gdLst/>
            <a:ahLst/>
            <a:cxnLst/>
            <a:rect l="l" t="t" r="r" b="b"/>
            <a:pathLst>
              <a:path w="2554604" h="354330">
                <a:moveTo>
                  <a:pt x="2554524" y="0"/>
                </a:moveTo>
                <a:lnTo>
                  <a:pt x="0" y="0"/>
                </a:lnTo>
                <a:lnTo>
                  <a:pt x="0" y="353753"/>
                </a:lnTo>
                <a:lnTo>
                  <a:pt x="2554524" y="353753"/>
                </a:lnTo>
                <a:lnTo>
                  <a:pt x="25545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2129" y="725613"/>
            <a:ext cx="255968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5" dirty="0"/>
              <a:t>Without</a:t>
            </a:r>
            <a:r>
              <a:rPr spc="-130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dirty="0"/>
              <a:t>toString()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5601" y="396344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8257" y="1112238"/>
              <a:ext cx="4286276" cy="31658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5601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95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000" y="1191907"/>
              <a:ext cx="5103037" cy="35285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79700" y="193604"/>
            <a:ext cx="2398395" cy="313055"/>
          </a:xfrm>
          <a:custGeom>
            <a:avLst/>
            <a:gdLst/>
            <a:ahLst/>
            <a:cxnLst/>
            <a:rect l="l" t="t" r="r" b="b"/>
            <a:pathLst>
              <a:path w="2398395" h="313055">
                <a:moveTo>
                  <a:pt x="2398297" y="0"/>
                </a:moveTo>
                <a:lnTo>
                  <a:pt x="0" y="0"/>
                </a:lnTo>
                <a:lnTo>
                  <a:pt x="0" y="312998"/>
                </a:lnTo>
                <a:lnTo>
                  <a:pt x="2398297" y="312998"/>
                </a:lnTo>
                <a:lnTo>
                  <a:pt x="2398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26469" y="725613"/>
            <a:ext cx="223583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Character</a:t>
            </a:r>
            <a:r>
              <a:rPr spc="-100" dirty="0"/>
              <a:t> </a:t>
            </a:r>
            <a:r>
              <a:rPr dirty="0"/>
              <a:t>Extraction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59677"/>
            <a:ext cx="5570220" cy="179323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08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cl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60" dirty="0">
                <a:latin typeface="Arial MT"/>
                <a:cs typeface="Arial MT"/>
              </a:rPr>
              <a:t>v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5" dirty="0">
                <a:latin typeface="Arial MT"/>
                <a:cs typeface="Arial MT"/>
              </a:rPr>
              <a:t>ll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od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ou</a:t>
            </a:r>
            <a:r>
              <a:rPr sz="1700" spc="5" dirty="0">
                <a:latin typeface="Arial MT"/>
                <a:cs typeface="Arial MT"/>
              </a:rPr>
              <a:t>gh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Arial MT"/>
                <a:cs typeface="Arial MT"/>
              </a:rPr>
              <a:t>which</a:t>
            </a:r>
            <a:r>
              <a:rPr sz="1700" spc="5" dirty="0">
                <a:latin typeface="Arial MT"/>
                <a:cs typeface="Arial MT"/>
              </a:rPr>
              <a:t> characters</a:t>
            </a:r>
            <a:r>
              <a:rPr sz="1700" spc="-1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can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extracted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from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 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object.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ha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A</a:t>
            </a:r>
            <a:r>
              <a:rPr sz="1700" spc="5" dirty="0">
                <a:latin typeface="Arial MT"/>
                <a:cs typeface="Arial MT"/>
              </a:rPr>
              <a:t>t(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get</a:t>
            </a:r>
            <a:r>
              <a:rPr sz="1700" spc="5" dirty="0">
                <a:latin typeface="Arial MT"/>
                <a:cs typeface="Arial MT"/>
              </a:rPr>
              <a:t>Cha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(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get</a:t>
            </a:r>
            <a:r>
              <a:rPr sz="1700" spc="15" dirty="0">
                <a:latin typeface="Arial MT"/>
                <a:cs typeface="Arial MT"/>
              </a:rPr>
              <a:t>B</a:t>
            </a:r>
            <a:r>
              <a:rPr sz="1700" spc="-20" dirty="0">
                <a:latin typeface="Arial MT"/>
                <a:cs typeface="Arial MT"/>
              </a:rPr>
              <a:t>y</a:t>
            </a:r>
            <a:r>
              <a:rPr sz="1700" spc="5" dirty="0">
                <a:latin typeface="Arial MT"/>
                <a:cs typeface="Arial MT"/>
              </a:rPr>
              <a:t>te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(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toCharArray(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5601" y="3963448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96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305" y="1168073"/>
            <a:ext cx="956944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charAt(</a:t>
            </a:r>
            <a:r>
              <a:rPr spc="-90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649487"/>
            <a:ext cx="5611495" cy="30422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3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Used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extract</a:t>
            </a:r>
            <a:r>
              <a:rPr sz="1700" b="1" spc="-8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a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single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character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from </a:t>
            </a:r>
            <a:r>
              <a:rPr sz="1700" b="1" spc="5" dirty="0">
                <a:latin typeface="Arial"/>
                <a:cs typeface="Arial"/>
              </a:rPr>
              <a:t>a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String</a:t>
            </a:r>
            <a:endParaRPr sz="1700">
              <a:latin typeface="Arial"/>
              <a:cs typeface="Arial"/>
            </a:endParaRPr>
          </a:p>
          <a:p>
            <a:pPr marL="194945" marR="32448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spc="-35" dirty="0">
                <a:latin typeface="Arial MT"/>
                <a:cs typeface="Arial MT"/>
              </a:rPr>
              <a:t>we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can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refer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directly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individual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30" dirty="0">
                <a:latin typeface="Arial MT"/>
                <a:cs typeface="Arial MT"/>
              </a:rPr>
              <a:t>via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charAt(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method.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General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form: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00" spc="5" dirty="0">
                <a:latin typeface="Arial MT"/>
                <a:cs typeface="Arial MT"/>
              </a:rPr>
              <a:t>char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charAt(int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where)</a:t>
            </a:r>
            <a:endParaRPr sz="1700">
              <a:latin typeface="Arial"/>
              <a:cs typeface="Arial"/>
            </a:endParaRPr>
          </a:p>
          <a:p>
            <a:pPr marL="194945" marR="5080" indent="-182880">
              <a:lnSpc>
                <a:spcPct val="101699"/>
              </a:lnSpc>
              <a:spcBef>
                <a:spcPts val="36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Here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i="1" spc="10" dirty="0">
                <a:latin typeface="Arial"/>
                <a:cs typeface="Arial"/>
              </a:rPr>
              <a:t>where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is</a:t>
            </a:r>
            <a:r>
              <a:rPr sz="1700" i="1" spc="-20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the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index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of</a:t>
            </a:r>
            <a:r>
              <a:rPr sz="1700" i="1" spc="5" dirty="0">
                <a:latin typeface="Arial"/>
                <a:cs typeface="Arial"/>
              </a:rPr>
              <a:t> the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character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that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you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want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to </a:t>
            </a:r>
            <a:r>
              <a:rPr sz="1700" i="1" spc="-455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obtain.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e.g.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00" spc="10" dirty="0">
                <a:latin typeface="Arial MT"/>
                <a:cs typeface="Arial MT"/>
              </a:rPr>
              <a:t>char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ch;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700" spc="15" dirty="0">
                <a:latin typeface="Arial MT"/>
                <a:cs typeface="Arial MT"/>
              </a:rPr>
              <a:t>ch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=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"abc".charAt(1);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-10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spc="20" dirty="0">
                <a:latin typeface="Arial MT"/>
                <a:cs typeface="Arial MT"/>
              </a:rPr>
              <a:t>si</a:t>
            </a:r>
            <a:r>
              <a:rPr sz="1700" dirty="0">
                <a:latin typeface="Arial MT"/>
                <a:cs typeface="Arial MT"/>
              </a:rPr>
              <a:t>g</a:t>
            </a:r>
            <a:r>
              <a:rPr sz="1700" spc="5" dirty="0">
                <a:latin typeface="Arial MT"/>
                <a:cs typeface="Arial MT"/>
              </a:rPr>
              <a:t>ns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60" dirty="0">
                <a:latin typeface="Arial MT"/>
                <a:cs typeface="Arial MT"/>
              </a:rPr>
              <a:t>v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15" dirty="0">
                <a:latin typeface="Arial MT"/>
                <a:cs typeface="Arial MT"/>
              </a:rPr>
              <a:t>l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-150" dirty="0">
                <a:latin typeface="Arial MT"/>
                <a:cs typeface="Arial MT"/>
              </a:rPr>
              <a:t> </a:t>
            </a:r>
            <a:r>
              <a:rPr sz="1700" spc="25" dirty="0">
                <a:latin typeface="Arial MT"/>
                <a:cs typeface="Arial MT"/>
              </a:rPr>
              <a:t>“</a:t>
            </a:r>
            <a:r>
              <a:rPr sz="1700" b="1" spc="-10" dirty="0">
                <a:latin typeface="Arial"/>
                <a:cs typeface="Arial"/>
              </a:rPr>
              <a:t>b</a:t>
            </a:r>
            <a:r>
              <a:rPr sz="1700" b="1" spc="5" dirty="0">
                <a:latin typeface="Arial"/>
                <a:cs typeface="Arial"/>
              </a:rPr>
              <a:t>”</a:t>
            </a:r>
            <a:r>
              <a:rPr sz="1700" b="1" spc="2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t</a:t>
            </a:r>
            <a:r>
              <a:rPr sz="1700" b="1" spc="5" dirty="0">
                <a:latin typeface="Arial"/>
                <a:cs typeface="Arial"/>
              </a:rPr>
              <a:t>o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v</a:t>
            </a:r>
            <a:r>
              <a:rPr sz="1700" b="1" dirty="0">
                <a:latin typeface="Arial"/>
                <a:cs typeface="Arial"/>
              </a:rPr>
              <a:t>a</a:t>
            </a:r>
            <a:r>
              <a:rPr sz="1700" b="1" spc="15" dirty="0">
                <a:latin typeface="Arial"/>
                <a:cs typeface="Arial"/>
              </a:rPr>
              <a:t>r</a:t>
            </a:r>
            <a:r>
              <a:rPr sz="1700" b="1" spc="5" dirty="0">
                <a:latin typeface="Arial"/>
                <a:cs typeface="Arial"/>
              </a:rPr>
              <a:t>ia</a:t>
            </a:r>
            <a:r>
              <a:rPr sz="1700" b="1" spc="-5" dirty="0">
                <a:latin typeface="Arial"/>
                <a:cs typeface="Arial"/>
              </a:rPr>
              <a:t>b</a:t>
            </a:r>
            <a:r>
              <a:rPr sz="1700" b="1" spc="5" dirty="0">
                <a:latin typeface="Arial"/>
                <a:cs typeface="Arial"/>
              </a:rPr>
              <a:t>le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</a:t>
            </a:r>
            <a:r>
              <a:rPr sz="1700" b="1" spc="-5" dirty="0">
                <a:latin typeface="Arial"/>
                <a:cs typeface="Arial"/>
              </a:rPr>
              <a:t>h</a:t>
            </a:r>
            <a:r>
              <a:rPr sz="1700" b="1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5607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97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3038" y="3938603"/>
              <a:ext cx="862191" cy="3466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17800" y="180904"/>
            <a:ext cx="2982595" cy="313055"/>
          </a:xfrm>
          <a:custGeom>
            <a:avLst/>
            <a:gdLst/>
            <a:ahLst/>
            <a:cxnLst/>
            <a:rect l="l" t="t" r="r" b="b"/>
            <a:pathLst>
              <a:path w="2982595" h="313055">
                <a:moveTo>
                  <a:pt x="2982452" y="0"/>
                </a:moveTo>
                <a:lnTo>
                  <a:pt x="0" y="0"/>
                </a:lnTo>
                <a:lnTo>
                  <a:pt x="0" y="312998"/>
                </a:lnTo>
                <a:lnTo>
                  <a:pt x="2982452" y="312998"/>
                </a:lnTo>
                <a:lnTo>
                  <a:pt x="29824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4606" y="627681"/>
          <a:ext cx="6479540" cy="36450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6945">
                <a:tc gridSpan="2">
                  <a:txBody>
                    <a:bodyPr/>
                    <a:lstStyle/>
                    <a:p>
                      <a:pPr marL="489712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9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getChars(</a:t>
                      </a:r>
                      <a:r>
                        <a:rPr sz="1900" spc="-8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1900">
                        <a:latin typeface="Arial MT"/>
                        <a:cs typeface="Arial MT"/>
                      </a:endParaRPr>
                    </a:p>
                    <a:p>
                      <a:pPr marL="325120" indent="-182880">
                        <a:lnSpc>
                          <a:spcPct val="100000"/>
                        </a:lnSpc>
                        <a:spcBef>
                          <a:spcPts val="805"/>
                        </a:spcBef>
                        <a:buChar char="•"/>
                        <a:tabLst>
                          <a:tab pos="325755" algn="l"/>
                        </a:tabLst>
                      </a:pPr>
                      <a:r>
                        <a:rPr sz="1700" spc="5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17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to extract</a:t>
                      </a:r>
                      <a:r>
                        <a:rPr sz="17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than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700" spc="-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700" spc="10" dirty="0">
                          <a:latin typeface="Arial MT"/>
                          <a:cs typeface="Arial MT"/>
                        </a:rPr>
                        <a:t>time.</a:t>
                      </a:r>
                      <a:endParaRPr sz="1700">
                        <a:latin typeface="Arial MT"/>
                        <a:cs typeface="Arial MT"/>
                      </a:endParaRPr>
                    </a:p>
                    <a:p>
                      <a:pPr marL="325120" indent="-182880">
                        <a:lnSpc>
                          <a:spcPct val="100000"/>
                        </a:lnSpc>
                        <a:spcBef>
                          <a:spcPts val="434"/>
                        </a:spcBef>
                        <a:buChar char="•"/>
                        <a:tabLst>
                          <a:tab pos="325755" algn="l"/>
                        </a:tabLst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General</a:t>
                      </a:r>
                      <a:r>
                        <a:rPr sz="17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10" dirty="0">
                          <a:latin typeface="Arial MT"/>
                          <a:cs typeface="Arial MT"/>
                        </a:rPr>
                        <a:t>form: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073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getChars(int</a:t>
                      </a:r>
                      <a:r>
                        <a:rPr sz="1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sourceStart,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sourceEnd,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char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45" dirty="0">
                          <a:latin typeface="Times New Roman"/>
                          <a:cs typeface="Times New Roman"/>
                        </a:rPr>
                        <a:t>target[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],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 int</a:t>
                      </a:r>
                      <a:r>
                        <a:rPr sz="1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40" dirty="0">
                          <a:latin typeface="Times New Roman"/>
                          <a:cs typeface="Times New Roman"/>
                        </a:rPr>
                        <a:t>targetStart)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74">
                <a:tc gridSpan="2">
                  <a:txBody>
                    <a:bodyPr/>
                    <a:lstStyle/>
                    <a:p>
                      <a:pPr marL="325120" indent="-182880">
                        <a:lnSpc>
                          <a:spcPts val="1664"/>
                        </a:lnSpc>
                        <a:buChar char="•"/>
                        <a:tabLst>
                          <a:tab pos="325755" algn="l"/>
                        </a:tabLst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Here,</a:t>
                      </a:r>
                      <a:r>
                        <a:rPr sz="1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sourceStart</a:t>
                      </a:r>
                      <a:r>
                        <a:rPr sz="17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specifies</a:t>
                      </a:r>
                      <a:r>
                        <a:rPr sz="1700" spc="-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index</a:t>
                      </a:r>
                      <a:r>
                        <a:rPr sz="1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beginning</a:t>
                      </a:r>
                      <a:r>
                        <a:rPr sz="17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the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  <a:p>
                      <a:pPr marL="325120" marR="779780">
                        <a:lnSpc>
                          <a:spcPts val="2039"/>
                        </a:lnSpc>
                        <a:spcBef>
                          <a:spcPts val="65"/>
                        </a:spcBef>
                      </a:pPr>
                      <a:r>
                        <a:rPr sz="1700" spc="5" dirty="0">
                          <a:latin typeface="Arial MT"/>
                          <a:cs typeface="Arial MT"/>
                        </a:rPr>
                        <a:t>substring,</a:t>
                      </a:r>
                      <a:r>
                        <a:rPr sz="1700" spc="-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10" dirty="0">
                          <a:latin typeface="Arial MT"/>
                          <a:cs typeface="Arial MT"/>
                        </a:rPr>
                        <a:t>sourceEnd</a:t>
                      </a:r>
                      <a:r>
                        <a:rPr sz="17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specifies</a:t>
                      </a:r>
                      <a:r>
                        <a:rPr sz="1700" spc="-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index</a:t>
                      </a:r>
                      <a:r>
                        <a:rPr sz="17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which </a:t>
                      </a:r>
                      <a:r>
                        <a:rPr sz="1700" spc="-45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1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ha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700" spc="1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ter</a:t>
                      </a:r>
                      <a:r>
                        <a:rPr sz="17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ne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ed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700" spc="1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700" spc="-1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700" spc="1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ted.</a:t>
                      </a:r>
                    </a:p>
                    <a:p>
                      <a:pPr marL="537845" marR="516255" indent="-152400">
                        <a:lnSpc>
                          <a:spcPct val="103200"/>
                        </a:lnSpc>
                        <a:spcBef>
                          <a:spcPts val="280"/>
                        </a:spcBef>
                      </a:pPr>
                      <a:r>
                        <a:rPr sz="1450" spc="1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4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5" dirty="0">
                          <a:latin typeface="Arial MT"/>
                          <a:cs typeface="Arial MT"/>
                        </a:rPr>
                        <a:t>(the</a:t>
                      </a:r>
                      <a:r>
                        <a:rPr sz="14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10" dirty="0">
                          <a:latin typeface="Arial MT"/>
                          <a:cs typeface="Arial MT"/>
                        </a:rPr>
                        <a:t>extracted</a:t>
                      </a:r>
                      <a:r>
                        <a:rPr sz="1450" spc="2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dirty="0">
                          <a:latin typeface="Arial MT"/>
                          <a:cs typeface="Arial MT"/>
                        </a:rPr>
                        <a:t>substring</a:t>
                      </a:r>
                      <a:r>
                        <a:rPr sz="145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5" dirty="0">
                          <a:latin typeface="Arial MT"/>
                          <a:cs typeface="Arial MT"/>
                        </a:rPr>
                        <a:t>contains</a:t>
                      </a:r>
                      <a:r>
                        <a:rPr sz="1450" spc="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1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5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45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4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5" dirty="0">
                          <a:latin typeface="Arial MT"/>
                          <a:cs typeface="Arial MT"/>
                        </a:rPr>
                        <a:t>sourceStart </a:t>
                      </a:r>
                      <a:r>
                        <a:rPr sz="1450" spc="-3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10" dirty="0"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14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15" dirty="0">
                          <a:latin typeface="Arial MT"/>
                          <a:cs typeface="Arial MT"/>
                        </a:rPr>
                        <a:t>sourceEnd–1.)</a:t>
                      </a:r>
                      <a:endParaRPr sz="1450" dirty="0">
                        <a:latin typeface="Arial MT"/>
                        <a:cs typeface="Arial MT"/>
                      </a:endParaRPr>
                    </a:p>
                    <a:p>
                      <a:pPr marL="325120" marR="526415" indent="-182880">
                        <a:lnSpc>
                          <a:spcPct val="100000"/>
                        </a:lnSpc>
                        <a:spcBef>
                          <a:spcPts val="400"/>
                        </a:spcBef>
                        <a:buChar char="•"/>
                        <a:tabLst>
                          <a:tab pos="325755" algn="l"/>
                        </a:tabLst>
                      </a:pPr>
                      <a:r>
                        <a:rPr sz="1700" spc="5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extracted</a:t>
                      </a:r>
                      <a:r>
                        <a:rPr sz="17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substring</a:t>
                      </a:r>
                      <a:r>
                        <a:rPr sz="17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1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stored</a:t>
                      </a:r>
                      <a:r>
                        <a:rPr sz="17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target</a:t>
                      </a:r>
                      <a:r>
                        <a:rPr sz="1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5" dirty="0">
                          <a:latin typeface="Arial MT"/>
                          <a:cs typeface="Arial MT"/>
                        </a:rPr>
                        <a:t>array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location </a:t>
                      </a:r>
                      <a:r>
                        <a:rPr sz="1700" spc="-4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5" dirty="0">
                          <a:latin typeface="Arial MT"/>
                          <a:cs typeface="Arial MT"/>
                        </a:rPr>
                        <a:t>targetStart.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  <a:p>
                      <a:pPr marR="3619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750" spc="15" dirty="0">
                          <a:latin typeface="Arial MT"/>
                          <a:cs typeface="Arial MT"/>
                        </a:rPr>
                        <a:t>98</a:t>
                      </a:r>
                      <a:endParaRPr sz="75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621000" y="1731586"/>
            <a:ext cx="6399530" cy="415290"/>
            <a:chOff x="621000" y="1731586"/>
            <a:chExt cx="6399530" cy="415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00" y="1731586"/>
              <a:ext cx="6399047" cy="4151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250" y="1740024"/>
              <a:ext cx="6378797" cy="37800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82D65CE-ADB6-88FF-80D7-41E64D56FF4A}"/>
              </a:ext>
            </a:extLst>
          </p:cNvPr>
          <p:cNvSpPr txBox="1"/>
          <p:nvPr/>
        </p:nvSpPr>
        <p:spPr>
          <a:xfrm>
            <a:off x="425450" y="1765300"/>
            <a:ext cx="7204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getChars</a:t>
            </a:r>
            <a:r>
              <a:rPr lang="en-US" dirty="0"/>
              <a:t>(int </a:t>
            </a:r>
            <a:r>
              <a:rPr lang="en-US" dirty="0" err="1"/>
              <a:t>sourceStart</a:t>
            </a:r>
            <a:r>
              <a:rPr lang="en-US" dirty="0"/>
              <a:t>, int </a:t>
            </a:r>
            <a:r>
              <a:rPr lang="en-US" dirty="0" err="1"/>
              <a:t>sourceEnd</a:t>
            </a:r>
            <a:r>
              <a:rPr lang="en-US" dirty="0"/>
              <a:t>, char target[ ], int </a:t>
            </a:r>
            <a:r>
              <a:rPr lang="en-US" dirty="0" err="1"/>
              <a:t>targetStart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7395" y="1168073"/>
            <a:ext cx="3307079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Example</a:t>
            </a:r>
            <a:r>
              <a:rPr spc="-15" dirty="0"/>
              <a:t> </a:t>
            </a:r>
            <a:r>
              <a:rPr spc="10" dirty="0"/>
              <a:t>program-</a:t>
            </a:r>
            <a:r>
              <a:rPr spc="-65" dirty="0"/>
              <a:t> </a:t>
            </a:r>
            <a:r>
              <a:rPr spc="5" dirty="0"/>
              <a:t>getChars(</a:t>
            </a:r>
            <a:r>
              <a:rPr spc="-65" dirty="0"/>
              <a:t> </a:t>
            </a:r>
            <a:r>
              <a:rPr spc="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5601" y="4405906"/>
            <a:ext cx="13716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99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002" y="1557254"/>
              <a:ext cx="4839785" cy="30442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92400" y="169997"/>
            <a:ext cx="2201545" cy="578485"/>
          </a:xfrm>
          <a:custGeom>
            <a:avLst/>
            <a:gdLst/>
            <a:ahLst/>
            <a:cxnLst/>
            <a:rect l="l" t="t" r="r" b="b"/>
            <a:pathLst>
              <a:path w="2201545" h="578485">
                <a:moveTo>
                  <a:pt x="2201314" y="0"/>
                </a:moveTo>
                <a:lnTo>
                  <a:pt x="0" y="0"/>
                </a:lnTo>
                <a:lnTo>
                  <a:pt x="0" y="577906"/>
                </a:lnTo>
                <a:lnTo>
                  <a:pt x="2201314" y="577906"/>
                </a:lnTo>
                <a:lnTo>
                  <a:pt x="22013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4965" y="725613"/>
            <a:ext cx="119888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getBytes(</a:t>
            </a:r>
            <a:r>
              <a:rPr spc="-55" dirty="0"/>
              <a:t> </a:t>
            </a:r>
            <a:r>
              <a:rPr spc="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07027"/>
            <a:ext cx="5349875" cy="19011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3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Used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extract</a:t>
            </a:r>
            <a:r>
              <a:rPr sz="1700" b="1" spc="-85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the</a:t>
            </a:r>
            <a:r>
              <a:rPr sz="1700" b="1" spc="5" dirty="0">
                <a:latin typeface="Arial"/>
                <a:cs typeface="Arial"/>
              </a:rPr>
              <a:t> characters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in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an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array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of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bytes.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40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au</a:t>
            </a:r>
            <a:r>
              <a:rPr sz="1700" spc="20" dirty="0">
                <a:latin typeface="Arial MT"/>
                <a:cs typeface="Arial MT"/>
              </a:rPr>
              <a:t>l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ha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te</a:t>
            </a:r>
            <a:r>
              <a:rPr sz="1700" spc="25" dirty="0">
                <a:latin typeface="Arial MT"/>
                <a:cs typeface="Arial MT"/>
              </a:rPr>
              <a:t>r</a:t>
            </a:r>
            <a:r>
              <a:rPr sz="1700" spc="-10" dirty="0">
                <a:latin typeface="Arial MT"/>
                <a:cs typeface="Arial MT"/>
              </a:rPr>
              <a:t>-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-10" dirty="0">
                <a:latin typeface="Arial MT"/>
                <a:cs typeface="Arial MT"/>
              </a:rPr>
              <a:t>-</a:t>
            </a:r>
            <a:r>
              <a:rPr sz="1700" dirty="0">
                <a:latin typeface="Arial MT"/>
                <a:cs typeface="Arial MT"/>
              </a:rPr>
              <a:t>b</a:t>
            </a:r>
            <a:r>
              <a:rPr sz="1700" spc="-15" dirty="0">
                <a:latin typeface="Arial MT"/>
                <a:cs typeface="Arial MT"/>
              </a:rPr>
              <a:t>y</a:t>
            </a:r>
            <a:r>
              <a:rPr sz="1700" spc="5" dirty="0">
                <a:latin typeface="Arial MT"/>
                <a:cs typeface="Arial MT"/>
              </a:rPr>
              <a:t>te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on</a:t>
            </a:r>
            <a:r>
              <a:rPr sz="1700" spc="65" dirty="0">
                <a:latin typeface="Arial MT"/>
                <a:cs typeface="Arial MT"/>
              </a:rPr>
              <a:t>v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-20" dirty="0">
                <a:latin typeface="Arial MT"/>
                <a:cs typeface="Arial MT"/>
              </a:rPr>
              <a:t>s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35" dirty="0">
                <a:latin typeface="Arial MT"/>
                <a:cs typeface="Arial MT"/>
              </a:rPr>
              <a:t>n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General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form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700" spc="-60" dirty="0">
                <a:latin typeface="Times New Roman"/>
                <a:cs typeface="Times New Roman"/>
              </a:rPr>
              <a:t>by</a:t>
            </a:r>
            <a:r>
              <a:rPr sz="1700" spc="-4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65" dirty="0">
                <a:latin typeface="Times New Roman"/>
                <a:cs typeface="Times New Roman"/>
              </a:rPr>
              <a:t>[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]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b="1" spc="-55" dirty="0">
                <a:latin typeface="Calibri"/>
                <a:cs typeface="Calibri"/>
              </a:rPr>
              <a:t>g</a:t>
            </a:r>
            <a:r>
              <a:rPr sz="1700" b="1" spc="-65" dirty="0">
                <a:latin typeface="Calibri"/>
                <a:cs typeface="Calibri"/>
              </a:rPr>
              <a:t>e</a:t>
            </a:r>
            <a:r>
              <a:rPr sz="1700" b="1" spc="-114" dirty="0">
                <a:latin typeface="Calibri"/>
                <a:cs typeface="Calibri"/>
              </a:rPr>
              <a:t>t</a:t>
            </a:r>
            <a:r>
              <a:rPr sz="1700" b="1" spc="-15" dirty="0">
                <a:latin typeface="Calibri"/>
                <a:cs typeface="Calibri"/>
              </a:rPr>
              <a:t>By</a:t>
            </a:r>
            <a:r>
              <a:rPr sz="1700" b="1" spc="-20" dirty="0">
                <a:latin typeface="Calibri"/>
                <a:cs typeface="Calibri"/>
              </a:rPr>
              <a:t>t</a:t>
            </a:r>
            <a:r>
              <a:rPr sz="1700" b="1" spc="-105" dirty="0">
                <a:latin typeface="Calibri"/>
                <a:cs typeface="Calibri"/>
              </a:rPr>
              <a:t>e</a:t>
            </a:r>
            <a:r>
              <a:rPr sz="1700" b="1" spc="-85" dirty="0">
                <a:latin typeface="Calibri"/>
                <a:cs typeface="Calibri"/>
              </a:rPr>
              <a:t>s</a:t>
            </a:r>
            <a:r>
              <a:rPr sz="1700" b="1" spc="-30" dirty="0">
                <a:latin typeface="Calibri"/>
                <a:cs typeface="Calibri"/>
              </a:rPr>
              <a:t>(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b="1" spc="-30" dirty="0">
                <a:latin typeface="Calibri"/>
                <a:cs typeface="Calibri"/>
              </a:rPr>
              <a:t>)</a:t>
            </a:r>
            <a:endParaRPr sz="1700">
              <a:latin typeface="Calibri"/>
              <a:cs typeface="Calibri"/>
            </a:endParaRPr>
          </a:p>
          <a:p>
            <a:pPr marL="194945" indent="-182880">
              <a:lnSpc>
                <a:spcPct val="100000"/>
              </a:lnSpc>
              <a:spcBef>
                <a:spcPts val="47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Most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Internet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protocols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text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20" dirty="0">
                <a:latin typeface="Arial MT"/>
                <a:cs typeface="Arial MT"/>
              </a:rPr>
              <a:t>file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formats</a:t>
            </a:r>
            <a:r>
              <a:rPr sz="1700" spc="-1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use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8-bit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ASCII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for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all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text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interchange.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9915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3811" y="1168073"/>
            <a:ext cx="1669414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b="1" dirty="0">
                <a:latin typeface="Arial"/>
                <a:cs typeface="Arial"/>
              </a:rPr>
              <a:t>toCharArray(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2138"/>
            <a:ext cx="5672455" cy="14738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08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Used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 </a:t>
            </a:r>
            <a:r>
              <a:rPr sz="1700" spc="10" dirty="0">
                <a:latin typeface="Arial MT"/>
                <a:cs typeface="Arial MT"/>
              </a:rPr>
              <a:t>convert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all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characters</a:t>
            </a:r>
            <a:r>
              <a:rPr sz="1700" spc="-1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object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ha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ter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5" dirty="0">
                <a:latin typeface="Arial MT"/>
                <a:cs typeface="Arial MT"/>
              </a:rPr>
              <a:t>y</a:t>
            </a:r>
            <a:r>
              <a:rPr sz="1700" dirty="0"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It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returns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array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for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entire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General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form: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700" spc="-10" dirty="0">
                <a:latin typeface="Times New Roman"/>
                <a:cs typeface="Times New Roman"/>
              </a:rPr>
              <a:t>char[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]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toCharArray(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9912" y="4405904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101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68600" y="177077"/>
            <a:ext cx="2106295" cy="469265"/>
          </a:xfrm>
          <a:custGeom>
            <a:avLst/>
            <a:gdLst/>
            <a:ahLst/>
            <a:cxnLst/>
            <a:rect l="l" t="t" r="r" b="b"/>
            <a:pathLst>
              <a:path w="2106295" h="469265">
                <a:moveTo>
                  <a:pt x="2106219" y="0"/>
                </a:moveTo>
                <a:lnTo>
                  <a:pt x="0" y="0"/>
                </a:lnTo>
                <a:lnTo>
                  <a:pt x="0" y="469226"/>
                </a:lnTo>
                <a:lnTo>
                  <a:pt x="2106219" y="469226"/>
                </a:lnTo>
                <a:lnTo>
                  <a:pt x="21062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503" y="1133399"/>
              <a:ext cx="5312294" cy="30501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8981" y="1168073"/>
            <a:ext cx="204279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String </a:t>
            </a:r>
            <a:r>
              <a:rPr spc="5" dirty="0"/>
              <a:t>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2138"/>
            <a:ext cx="5574665" cy="27311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08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class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includes</a:t>
            </a:r>
            <a:r>
              <a:rPr sz="1700" spc="-1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several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methods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that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compare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ub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th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dirty="0">
                <a:latin typeface="Arial"/>
                <a:cs typeface="Arial"/>
              </a:rPr>
              <a:t>equals(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5" dirty="0">
                <a:latin typeface="Arial"/>
                <a:cs typeface="Arial"/>
              </a:rPr>
              <a:t>qu</a:t>
            </a:r>
            <a:r>
              <a:rPr sz="1700" b="1" dirty="0">
                <a:latin typeface="Arial"/>
                <a:cs typeface="Arial"/>
              </a:rPr>
              <a:t>al</a:t>
            </a:r>
            <a:r>
              <a:rPr sz="1700" b="1" spc="5" dirty="0">
                <a:latin typeface="Arial"/>
                <a:cs typeface="Arial"/>
              </a:rPr>
              <a:t>sI</a:t>
            </a:r>
            <a:r>
              <a:rPr sz="1700" b="1" spc="-5" dirty="0">
                <a:latin typeface="Arial"/>
                <a:cs typeface="Arial"/>
              </a:rPr>
              <a:t>gno</a:t>
            </a:r>
            <a:r>
              <a:rPr sz="1700" b="1" spc="10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eCase</a:t>
            </a:r>
            <a:r>
              <a:rPr sz="1700" b="1" spc="5" dirty="0">
                <a:latin typeface="Arial"/>
                <a:cs typeface="Arial"/>
              </a:rPr>
              <a:t>(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spc="10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5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i</a:t>
            </a:r>
            <a:r>
              <a:rPr sz="1700" b="1" spc="-5" dirty="0">
                <a:latin typeface="Arial"/>
                <a:cs typeface="Arial"/>
              </a:rPr>
              <a:t>on</a:t>
            </a:r>
            <a:r>
              <a:rPr sz="1700" b="1" spc="50" dirty="0">
                <a:latin typeface="Arial"/>
                <a:cs typeface="Arial"/>
              </a:rPr>
              <a:t>M</a:t>
            </a:r>
            <a:r>
              <a:rPr sz="1700" b="1" dirty="0">
                <a:latin typeface="Arial"/>
                <a:cs typeface="Arial"/>
              </a:rPr>
              <a:t>a</a:t>
            </a:r>
            <a:r>
              <a:rPr sz="1700" b="1" spc="-10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c</a:t>
            </a:r>
            <a:r>
              <a:rPr sz="1700" b="1" spc="-5" dirty="0">
                <a:latin typeface="Arial"/>
                <a:cs typeface="Arial"/>
              </a:rPr>
              <a:t>h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35" dirty="0">
                <a:latin typeface="Arial"/>
                <a:cs typeface="Arial"/>
              </a:rPr>
              <a:t>s</a:t>
            </a:r>
            <a:r>
              <a:rPr sz="1700" b="1" spc="5" dirty="0">
                <a:latin typeface="Arial"/>
                <a:cs typeface="Arial"/>
              </a:rPr>
              <a:t>(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spc="-5" dirty="0">
                <a:latin typeface="Arial"/>
                <a:cs typeface="Arial"/>
              </a:rPr>
              <a:t>startsWith(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spc="-10" dirty="0">
                <a:latin typeface="Arial"/>
                <a:cs typeface="Arial"/>
              </a:rPr>
              <a:t>endsWith(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dirty="0">
                <a:latin typeface="Arial"/>
                <a:cs typeface="Arial"/>
              </a:rPr>
              <a:t>equals(</a:t>
            </a:r>
            <a:r>
              <a:rPr sz="1700" b="1" spc="-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Versus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==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dirty="0">
                <a:latin typeface="Arial"/>
                <a:cs typeface="Arial"/>
              </a:rPr>
              <a:t>com</a:t>
            </a:r>
            <a:r>
              <a:rPr sz="1700" b="1" spc="-10" dirty="0">
                <a:latin typeface="Arial"/>
                <a:cs typeface="Arial"/>
              </a:rPr>
              <a:t>p</a:t>
            </a:r>
            <a:r>
              <a:rPr sz="1700" b="1" dirty="0">
                <a:latin typeface="Arial"/>
                <a:cs typeface="Arial"/>
              </a:rPr>
              <a:t>a</a:t>
            </a:r>
            <a:r>
              <a:rPr sz="1700" b="1" spc="1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30" dirty="0">
                <a:latin typeface="Arial"/>
                <a:cs typeface="Arial"/>
              </a:rPr>
              <a:t>T</a:t>
            </a:r>
            <a:r>
              <a:rPr sz="1700" b="1" spc="-10" dirty="0">
                <a:latin typeface="Arial"/>
                <a:cs typeface="Arial"/>
              </a:rPr>
              <a:t>o</a:t>
            </a:r>
            <a:r>
              <a:rPr sz="1700" b="1" spc="5" dirty="0">
                <a:latin typeface="Arial"/>
                <a:cs typeface="Arial"/>
              </a:rPr>
              <a:t>(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103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28900" y="229337"/>
            <a:ext cx="2405380" cy="252095"/>
          </a:xfrm>
          <a:custGeom>
            <a:avLst/>
            <a:gdLst/>
            <a:ahLst/>
            <a:cxnLst/>
            <a:rect l="l" t="t" r="r" b="b"/>
            <a:pathLst>
              <a:path w="2405379" h="252095">
                <a:moveTo>
                  <a:pt x="2405089" y="0"/>
                </a:moveTo>
                <a:lnTo>
                  <a:pt x="0" y="0"/>
                </a:lnTo>
                <a:lnTo>
                  <a:pt x="0" y="251866"/>
                </a:lnTo>
                <a:lnTo>
                  <a:pt x="2405089" y="251866"/>
                </a:lnTo>
                <a:lnTo>
                  <a:pt x="2405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93117" y="725613"/>
            <a:ext cx="97155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equals(</a:t>
            </a:r>
            <a:r>
              <a:rPr spc="-90" dirty="0"/>
              <a:t> </a:t>
            </a:r>
            <a:r>
              <a:rPr spc="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07027"/>
            <a:ext cx="5706745" cy="24187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30"/>
              </a:spcBef>
              <a:buChar char="•"/>
              <a:tabLst>
                <a:tab pos="195580" algn="l"/>
              </a:tabLst>
            </a:pP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spc="5" dirty="0">
                <a:latin typeface="Arial MT"/>
                <a:cs typeface="Arial MT"/>
              </a:rPr>
              <a:t>o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pa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spc="5" dirty="0">
                <a:latin typeface="Arial MT"/>
                <a:cs typeface="Arial MT"/>
              </a:rPr>
              <a:t>o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eq</a:t>
            </a:r>
            <a:r>
              <a:rPr sz="1700" spc="5" dirty="0">
                <a:latin typeface="Arial MT"/>
                <a:cs typeface="Arial MT"/>
              </a:rPr>
              <a:t>u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15" dirty="0">
                <a:latin typeface="Arial MT"/>
                <a:cs typeface="Arial MT"/>
              </a:rPr>
              <a:t>li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20" dirty="0">
                <a:latin typeface="Arial MT"/>
                <a:cs typeface="Arial MT"/>
              </a:rPr>
              <a:t>y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eq</a:t>
            </a:r>
            <a:r>
              <a:rPr sz="1700" spc="5" dirty="0">
                <a:latin typeface="Arial MT"/>
                <a:cs typeface="Arial MT"/>
              </a:rPr>
              <a:t>u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ls</a:t>
            </a:r>
            <a:r>
              <a:rPr sz="1700" spc="5" dirty="0">
                <a:latin typeface="Arial MT"/>
                <a:cs typeface="Arial MT"/>
              </a:rPr>
              <a:t>(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General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form: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700" spc="-5" dirty="0">
                <a:latin typeface="Times New Roman"/>
                <a:cs typeface="Times New Roman"/>
              </a:rPr>
              <a:t>boolean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equals(Object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str)</a:t>
            </a:r>
            <a:endParaRPr sz="1700">
              <a:latin typeface="Times New Roman"/>
              <a:cs typeface="Times New Roman"/>
            </a:endParaRPr>
          </a:p>
          <a:p>
            <a:pPr marL="194945" marR="515620" indent="-182880">
              <a:lnSpc>
                <a:spcPct val="100000"/>
              </a:lnSpc>
              <a:spcBef>
                <a:spcPts val="51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Here,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object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str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compared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15" dirty="0">
                <a:latin typeface="Arial MT"/>
                <a:cs typeface="Arial MT"/>
              </a:rPr>
              <a:t>with</a:t>
            </a:r>
            <a:r>
              <a:rPr sz="1700" spc="5" dirty="0">
                <a:latin typeface="Arial MT"/>
                <a:cs typeface="Arial MT"/>
              </a:rPr>
              <a:t> 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invoking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object.</a:t>
            </a:r>
            <a:endParaRPr sz="1700">
              <a:latin typeface="Arial MT"/>
              <a:cs typeface="Arial MT"/>
            </a:endParaRPr>
          </a:p>
          <a:p>
            <a:pPr marL="194945" marR="5080" indent="-182880">
              <a:lnSpc>
                <a:spcPct val="101699"/>
              </a:lnSpc>
              <a:spcBef>
                <a:spcPts val="35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It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returns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true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contain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same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characters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same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order,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false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otherwise.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-10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20" dirty="0">
                <a:latin typeface="Arial MT"/>
                <a:cs typeface="Arial MT"/>
              </a:rPr>
              <a:t>is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spc="40" dirty="0">
                <a:latin typeface="Arial MT"/>
                <a:cs typeface="Arial MT"/>
              </a:rPr>
              <a:t>e</a:t>
            </a:r>
            <a:r>
              <a:rPr sz="1700" spc="-10" dirty="0">
                <a:latin typeface="Arial MT"/>
                <a:cs typeface="Arial MT"/>
              </a:rPr>
              <a:t>-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-20" dirty="0">
                <a:latin typeface="Arial MT"/>
                <a:cs typeface="Arial MT"/>
              </a:rPr>
              <a:t>si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25" dirty="0">
                <a:latin typeface="Arial MT"/>
                <a:cs typeface="Arial MT"/>
              </a:rPr>
              <a:t>i</a:t>
            </a:r>
            <a:r>
              <a:rPr sz="1700" spc="20" dirty="0">
                <a:latin typeface="Arial MT"/>
                <a:cs typeface="Arial MT"/>
              </a:rPr>
              <a:t>v</a:t>
            </a:r>
            <a:r>
              <a:rPr sz="1700" dirty="0">
                <a:latin typeface="Arial MT"/>
                <a:cs typeface="Arial MT"/>
              </a:rPr>
              <a:t>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104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6594" y="1168073"/>
            <a:ext cx="222631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equalsIgnoreCase(</a:t>
            </a:r>
            <a:r>
              <a:rPr spc="-120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4" y="1702138"/>
            <a:ext cx="5561965" cy="174243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98806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pe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0" dirty="0">
                <a:latin typeface="Arial MT"/>
                <a:cs typeface="Arial MT"/>
              </a:rPr>
              <a:t>m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pa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20" dirty="0">
                <a:latin typeface="Arial MT"/>
                <a:cs typeface="Arial MT"/>
              </a:rPr>
              <a:t>is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that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i</a:t>
            </a:r>
            <a:r>
              <a:rPr sz="1700" b="1" spc="-5" dirty="0">
                <a:latin typeface="Arial"/>
                <a:cs typeface="Arial"/>
              </a:rPr>
              <a:t>gno</a:t>
            </a:r>
            <a:r>
              <a:rPr sz="1700" b="1" spc="10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ca</a:t>
            </a:r>
            <a:r>
              <a:rPr sz="1700" b="1" spc="5" dirty="0">
                <a:latin typeface="Arial"/>
                <a:cs typeface="Arial"/>
              </a:rPr>
              <a:t>se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differences(not</a:t>
            </a:r>
            <a:r>
              <a:rPr sz="1700" b="1" spc="-80" dirty="0">
                <a:latin typeface="Arial"/>
                <a:cs typeface="Arial"/>
              </a:rPr>
              <a:t> </a:t>
            </a:r>
            <a:r>
              <a:rPr sz="1700" spc="15" dirty="0">
                <a:latin typeface="Arial MT"/>
                <a:cs typeface="Arial MT"/>
              </a:rPr>
              <a:t>case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sensitive)</a:t>
            </a:r>
            <a:endParaRPr sz="170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20" dirty="0">
                <a:latin typeface="Arial MT"/>
                <a:cs typeface="Arial MT"/>
              </a:rPr>
              <a:t>When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two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strings,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it</a:t>
            </a:r>
            <a:r>
              <a:rPr sz="1700" spc="5" dirty="0">
                <a:latin typeface="Arial MT"/>
                <a:cs typeface="Arial MT"/>
              </a:rPr>
              <a:t> considers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20" dirty="0">
                <a:latin typeface="Arial MT"/>
                <a:cs typeface="Arial MT"/>
              </a:rPr>
              <a:t>A-Z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 be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same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a-z.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43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General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form: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00" spc="5" dirty="0">
                <a:latin typeface="Arial MT"/>
                <a:cs typeface="Arial MT"/>
              </a:rPr>
              <a:t>boolean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equalsIgnoreCase(String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b="1" i="1" spc="-10" dirty="0">
                <a:latin typeface="Arial"/>
                <a:cs typeface="Arial"/>
              </a:rPr>
              <a:t>str)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9909" y="4405908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105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0800" y="218429"/>
            <a:ext cx="2826385" cy="516890"/>
          </a:xfrm>
          <a:custGeom>
            <a:avLst/>
            <a:gdLst/>
            <a:ahLst/>
            <a:cxnLst/>
            <a:rect l="l" t="t" r="r" b="b"/>
            <a:pathLst>
              <a:path w="2826385" h="516890">
                <a:moveTo>
                  <a:pt x="2826224" y="0"/>
                </a:moveTo>
                <a:lnTo>
                  <a:pt x="0" y="0"/>
                </a:lnTo>
                <a:lnTo>
                  <a:pt x="0" y="516773"/>
                </a:lnTo>
                <a:lnTo>
                  <a:pt x="2826224" y="516773"/>
                </a:lnTo>
                <a:lnTo>
                  <a:pt x="28262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000" y="633015"/>
              <a:ext cx="6010033" cy="35505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6623" y="1168073"/>
            <a:ext cx="1847214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regionMatches(</a:t>
            </a:r>
            <a:r>
              <a:rPr spc="-50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2138"/>
            <a:ext cx="5330190" cy="111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800"/>
              </a:lnSpc>
              <a:spcBef>
                <a:spcPts val="10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regionMatches(</a:t>
            </a:r>
            <a:r>
              <a:rPr sz="1700" b="1" spc="-114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method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compares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a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specific </a:t>
            </a:r>
            <a:r>
              <a:rPr sz="1700" b="1" spc="-4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region </a:t>
            </a:r>
            <a:r>
              <a:rPr sz="1700" spc="10" dirty="0">
                <a:latin typeface="Arial MT"/>
                <a:cs typeface="Arial MT"/>
              </a:rPr>
              <a:t>inside </a:t>
            </a:r>
            <a:r>
              <a:rPr sz="1700" spc="5" dirty="0">
                <a:latin typeface="Arial MT"/>
                <a:cs typeface="Arial MT"/>
              </a:rPr>
              <a:t>a string </a:t>
            </a:r>
            <a:r>
              <a:rPr sz="1700" spc="-15" dirty="0">
                <a:latin typeface="Arial MT"/>
                <a:cs typeface="Arial MT"/>
              </a:rPr>
              <a:t>with </a:t>
            </a:r>
            <a:r>
              <a:rPr sz="1700" spc="5" dirty="0">
                <a:latin typeface="Arial MT"/>
                <a:cs typeface="Arial MT"/>
              </a:rPr>
              <a:t>another </a:t>
            </a:r>
            <a:r>
              <a:rPr sz="1700" spc="10" dirty="0">
                <a:latin typeface="Arial MT"/>
                <a:cs typeface="Arial MT"/>
              </a:rPr>
              <a:t>specific </a:t>
            </a:r>
            <a:r>
              <a:rPr sz="1700" spc="5" dirty="0">
                <a:latin typeface="Arial MT"/>
                <a:cs typeface="Arial MT"/>
              </a:rPr>
              <a:t>region </a:t>
            </a:r>
            <a:r>
              <a:rPr sz="1700" spc="10" dirty="0">
                <a:latin typeface="Arial MT"/>
                <a:cs typeface="Arial MT"/>
              </a:rPr>
              <a:t>in 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another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  <a:p>
            <a:pPr marL="1949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General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forms: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107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7639" y="2887466"/>
              <a:ext cx="4248500" cy="94371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16200" y="155217"/>
            <a:ext cx="2752090" cy="415290"/>
          </a:xfrm>
          <a:custGeom>
            <a:avLst/>
            <a:gdLst/>
            <a:ahLst/>
            <a:cxnLst/>
            <a:rect l="l" t="t" r="r" b="b"/>
            <a:pathLst>
              <a:path w="2752090" h="415290">
                <a:moveTo>
                  <a:pt x="2751507" y="0"/>
                </a:moveTo>
                <a:lnTo>
                  <a:pt x="0" y="0"/>
                </a:lnTo>
                <a:lnTo>
                  <a:pt x="0" y="414886"/>
                </a:lnTo>
                <a:lnTo>
                  <a:pt x="2751507" y="414886"/>
                </a:lnTo>
                <a:lnTo>
                  <a:pt x="27515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238" y="1259677"/>
            <a:ext cx="5626735" cy="220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73660" indent="-182880">
              <a:lnSpc>
                <a:spcPct val="100800"/>
              </a:lnSpc>
              <a:spcBef>
                <a:spcPts val="10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startIndex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specifies</a:t>
            </a:r>
            <a:r>
              <a:rPr sz="1700" spc="-1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index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which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region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begins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within </a:t>
            </a:r>
            <a:r>
              <a:rPr sz="1700" spc="5" dirty="0">
                <a:latin typeface="Arial MT"/>
                <a:cs typeface="Arial MT"/>
              </a:rPr>
              <a:t>the invoking String. </a:t>
            </a:r>
            <a:r>
              <a:rPr sz="1700" dirty="0">
                <a:latin typeface="Arial MT"/>
                <a:cs typeface="Arial MT"/>
              </a:rPr>
              <a:t>The </a:t>
            </a:r>
            <a:r>
              <a:rPr sz="1700" spc="5" dirty="0">
                <a:latin typeface="Arial MT"/>
                <a:cs typeface="Arial MT"/>
              </a:rPr>
              <a:t>String to be compared </a:t>
            </a:r>
            <a:r>
              <a:rPr sz="1700" spc="10" dirty="0">
                <a:latin typeface="Arial MT"/>
                <a:cs typeface="Arial MT"/>
              </a:rPr>
              <a:t>is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specified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by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str2.</a:t>
            </a:r>
            <a:endParaRPr sz="1700">
              <a:latin typeface="Arial MT"/>
              <a:cs typeface="Arial MT"/>
            </a:endParaRPr>
          </a:p>
          <a:p>
            <a:pPr marL="194945" marR="5080" indent="-182880">
              <a:lnSpc>
                <a:spcPct val="100800"/>
              </a:lnSpc>
              <a:spcBef>
                <a:spcPts val="38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index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which</a:t>
            </a:r>
            <a:r>
              <a:rPr sz="1700" spc="5" dirty="0">
                <a:latin typeface="Arial MT"/>
                <a:cs typeface="Arial MT"/>
              </a:rPr>
              <a:t> 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comparison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will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start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within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str2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specified by str2StartIndex. </a:t>
            </a:r>
            <a:r>
              <a:rPr sz="1700" dirty="0">
                <a:latin typeface="Arial MT"/>
                <a:cs typeface="Arial MT"/>
              </a:rPr>
              <a:t>The </a:t>
            </a:r>
            <a:r>
              <a:rPr sz="1700" spc="5" dirty="0">
                <a:latin typeface="Arial MT"/>
                <a:cs typeface="Arial MT"/>
              </a:rPr>
              <a:t>length </a:t>
            </a:r>
            <a:r>
              <a:rPr sz="1700" dirty="0">
                <a:latin typeface="Arial MT"/>
                <a:cs typeface="Arial MT"/>
              </a:rPr>
              <a:t>of </a:t>
            </a:r>
            <a:r>
              <a:rPr sz="1700" spc="5" dirty="0">
                <a:latin typeface="Arial MT"/>
                <a:cs typeface="Arial MT"/>
              </a:rPr>
              <a:t>the substring 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being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compared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passed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numChars.</a:t>
            </a:r>
            <a:endParaRPr sz="1700">
              <a:latin typeface="Arial MT"/>
              <a:cs typeface="Arial MT"/>
            </a:endParaRPr>
          </a:p>
          <a:p>
            <a:pPr marL="194945" marR="87630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In the </a:t>
            </a:r>
            <a:r>
              <a:rPr sz="1700" spc="10" dirty="0">
                <a:latin typeface="Arial MT"/>
                <a:cs typeface="Arial MT"/>
              </a:rPr>
              <a:t>second version, if </a:t>
            </a:r>
            <a:r>
              <a:rPr sz="1700" spc="5" dirty="0">
                <a:latin typeface="Arial MT"/>
                <a:cs typeface="Arial MT"/>
              </a:rPr>
              <a:t>ignoreCase </a:t>
            </a:r>
            <a:r>
              <a:rPr sz="1700" spc="10" dirty="0">
                <a:latin typeface="Arial MT"/>
                <a:cs typeface="Arial MT"/>
              </a:rPr>
              <a:t>is </a:t>
            </a:r>
            <a:r>
              <a:rPr sz="1700" dirty="0">
                <a:latin typeface="Arial MT"/>
                <a:cs typeface="Arial MT"/>
              </a:rPr>
              <a:t>true,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15" dirty="0">
                <a:latin typeface="Arial MT"/>
                <a:cs typeface="Arial MT"/>
              </a:rPr>
              <a:t>case </a:t>
            </a:r>
            <a:r>
              <a:rPr sz="1700" dirty="0">
                <a:latin typeface="Arial MT"/>
                <a:cs typeface="Arial MT"/>
              </a:rPr>
              <a:t>of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ignored.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Otherwise,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case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significant.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108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4912" y="1168073"/>
            <a:ext cx="311721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startsWith(</a:t>
            </a:r>
            <a:r>
              <a:rPr spc="-65" dirty="0"/>
              <a:t> </a:t>
            </a:r>
            <a:r>
              <a:rPr spc="5" dirty="0"/>
              <a:t>)</a:t>
            </a:r>
            <a:r>
              <a:rPr spc="-20" dirty="0"/>
              <a:t> </a:t>
            </a:r>
            <a:r>
              <a:rPr spc="10" dirty="0"/>
              <a:t>and</a:t>
            </a:r>
            <a:r>
              <a:rPr spc="-50" dirty="0"/>
              <a:t> </a:t>
            </a:r>
            <a:r>
              <a:rPr spc="15" dirty="0"/>
              <a:t>endsWith(</a:t>
            </a:r>
            <a:r>
              <a:rPr spc="-100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2138"/>
            <a:ext cx="5677535" cy="11188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379095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ta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65" dirty="0">
                <a:latin typeface="Arial MT"/>
                <a:cs typeface="Arial MT"/>
              </a:rPr>
              <a:t>W</a:t>
            </a:r>
            <a:r>
              <a:rPr sz="1700" spc="-2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th(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dete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mi</a:t>
            </a:r>
            <a:r>
              <a:rPr sz="1700" dirty="0">
                <a:latin typeface="Arial MT"/>
                <a:cs typeface="Arial MT"/>
              </a:rPr>
              <a:t>ne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dirty="0">
                <a:latin typeface="Arial MT"/>
                <a:cs typeface="Arial MT"/>
              </a:rPr>
              <a:t>hethe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g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60" dirty="0">
                <a:latin typeface="Arial MT"/>
                <a:cs typeface="Arial MT"/>
              </a:rPr>
              <a:t>v</a:t>
            </a:r>
            <a:r>
              <a:rPr sz="1700" dirty="0">
                <a:latin typeface="Arial MT"/>
                <a:cs typeface="Arial MT"/>
              </a:rPr>
              <a:t>en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begins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5" dirty="0">
                <a:latin typeface="Arial MT"/>
                <a:cs typeface="Arial MT"/>
              </a:rPr>
              <a:t>with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 specified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Conversely,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endsWith(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determines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whether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question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ends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5" dirty="0">
                <a:latin typeface="Arial MT"/>
                <a:cs typeface="Arial MT"/>
              </a:rPr>
              <a:t>with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specified</a:t>
            </a:r>
            <a:r>
              <a:rPr sz="1700" spc="-1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109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1785" y="2794201"/>
              <a:ext cx="3966469" cy="17988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41600" y="237037"/>
            <a:ext cx="2453005" cy="523875"/>
          </a:xfrm>
          <a:custGeom>
            <a:avLst/>
            <a:gdLst/>
            <a:ahLst/>
            <a:cxnLst/>
            <a:rect l="l" t="t" r="r" b="b"/>
            <a:pathLst>
              <a:path w="2453004" h="523875">
                <a:moveTo>
                  <a:pt x="2452637" y="0"/>
                </a:moveTo>
                <a:lnTo>
                  <a:pt x="0" y="0"/>
                </a:lnTo>
                <a:lnTo>
                  <a:pt x="0" y="523566"/>
                </a:lnTo>
                <a:lnTo>
                  <a:pt x="2452637" y="523566"/>
                </a:lnTo>
                <a:lnTo>
                  <a:pt x="2452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4976" y="396344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752" y="1239705"/>
              <a:ext cx="5009417" cy="2700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7595" y="1168073"/>
            <a:ext cx="214630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equals(</a:t>
            </a:r>
            <a:r>
              <a:rPr spc="-40" dirty="0"/>
              <a:t> </a:t>
            </a:r>
            <a:r>
              <a:rPr spc="5" dirty="0"/>
              <a:t>)</a:t>
            </a:r>
            <a:r>
              <a:rPr spc="-40" dirty="0"/>
              <a:t> </a:t>
            </a:r>
            <a:r>
              <a:rPr spc="10" dirty="0"/>
              <a:t>Versus</a:t>
            </a:r>
            <a:r>
              <a:rPr spc="-40" dirty="0"/>
              <a:t> </a:t>
            </a:r>
            <a:r>
              <a:rPr spc="5" dirty="0"/>
              <a:t>==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2138"/>
            <a:ext cx="5520055" cy="169163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55626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eq</a:t>
            </a:r>
            <a:r>
              <a:rPr sz="1700" spc="5" dirty="0">
                <a:latin typeface="Arial MT"/>
                <a:cs typeface="Arial MT"/>
              </a:rPr>
              <a:t>u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ls</a:t>
            </a:r>
            <a:r>
              <a:rPr sz="1700" spc="5" dirty="0">
                <a:latin typeface="Arial MT"/>
                <a:cs typeface="Arial MT"/>
              </a:rPr>
              <a:t>(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Arial MT"/>
                <a:cs typeface="Arial MT"/>
              </a:rPr>
              <a:t>=</a:t>
            </a:r>
            <a:r>
              <a:rPr sz="1700" spc="5" dirty="0">
                <a:latin typeface="Arial MT"/>
                <a:cs typeface="Arial MT"/>
              </a:rPr>
              <a:t>=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p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5" dirty="0">
                <a:latin typeface="Arial MT"/>
                <a:cs typeface="Arial MT"/>
              </a:rPr>
              <a:t>or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pe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0" dirty="0">
                <a:latin typeface="Arial MT"/>
                <a:cs typeface="Arial MT"/>
              </a:rPr>
              <a:t>m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spc="5" dirty="0">
                <a:latin typeface="Arial MT"/>
                <a:cs typeface="Arial MT"/>
              </a:rPr>
              <a:t>o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different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operations.</a:t>
            </a:r>
            <a:endParaRPr sz="1700">
              <a:latin typeface="Arial MT"/>
              <a:cs typeface="Arial MT"/>
            </a:endParaRPr>
          </a:p>
          <a:p>
            <a:pPr marL="194945" marR="10604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equals(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method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inside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object.</a:t>
            </a:r>
            <a:endParaRPr sz="170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430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== operator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compares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two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object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references</a:t>
            </a:r>
            <a:r>
              <a:rPr sz="1700" spc="-1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see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whether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they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refer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same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instance.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038" y="4405908"/>
            <a:ext cx="17780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111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7800" y="220199"/>
            <a:ext cx="2350770" cy="490220"/>
          </a:xfrm>
          <a:custGeom>
            <a:avLst/>
            <a:gdLst/>
            <a:ahLst/>
            <a:cxnLst/>
            <a:rect l="l" t="t" r="r" b="b"/>
            <a:pathLst>
              <a:path w="2350770" h="490220">
                <a:moveTo>
                  <a:pt x="2350749" y="0"/>
                </a:moveTo>
                <a:lnTo>
                  <a:pt x="0" y="0"/>
                </a:lnTo>
                <a:lnTo>
                  <a:pt x="0" y="489603"/>
                </a:lnTo>
                <a:lnTo>
                  <a:pt x="2350749" y="489603"/>
                </a:lnTo>
                <a:lnTo>
                  <a:pt x="2350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4976" y="396344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52" y="1215204"/>
              <a:ext cx="4812780" cy="2792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1260" y="1168073"/>
            <a:ext cx="148336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compareTo(</a:t>
            </a:r>
            <a:r>
              <a:rPr spc="-90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707200"/>
            <a:ext cx="5624195" cy="19437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600075" indent="-182880">
              <a:lnSpc>
                <a:spcPct val="103299"/>
              </a:lnSpc>
              <a:spcBef>
                <a:spcPts val="70"/>
              </a:spcBef>
              <a:buChar char="•"/>
              <a:tabLst>
                <a:tab pos="195580" algn="l"/>
              </a:tabLst>
            </a:pPr>
            <a:r>
              <a:rPr sz="1450" spc="15" dirty="0">
                <a:latin typeface="Arial MT"/>
                <a:cs typeface="Arial MT"/>
              </a:rPr>
              <a:t>A </a:t>
            </a:r>
            <a:r>
              <a:rPr sz="1450" spc="-5" dirty="0">
                <a:latin typeface="Arial MT"/>
                <a:cs typeface="Arial MT"/>
              </a:rPr>
              <a:t>string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is less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than another </a:t>
            </a:r>
            <a:r>
              <a:rPr sz="1450" spc="-20" dirty="0">
                <a:latin typeface="Arial MT"/>
                <a:cs typeface="Arial MT"/>
              </a:rPr>
              <a:t>if it </a:t>
            </a:r>
            <a:r>
              <a:rPr sz="1450" spc="15" dirty="0">
                <a:latin typeface="Arial MT"/>
                <a:cs typeface="Arial MT"/>
              </a:rPr>
              <a:t>comes </a:t>
            </a:r>
            <a:r>
              <a:rPr sz="1450" spc="5" dirty="0">
                <a:latin typeface="Arial MT"/>
                <a:cs typeface="Arial MT"/>
              </a:rPr>
              <a:t>before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5" dirty="0">
                <a:latin typeface="Arial MT"/>
                <a:cs typeface="Arial MT"/>
              </a:rPr>
              <a:t>other </a:t>
            </a:r>
            <a:r>
              <a:rPr sz="1450" spc="-15" dirty="0">
                <a:latin typeface="Arial MT"/>
                <a:cs typeface="Arial MT"/>
              </a:rPr>
              <a:t>in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dictionary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order.</a:t>
            </a:r>
            <a:endParaRPr sz="1450">
              <a:latin typeface="Arial MT"/>
              <a:cs typeface="Arial MT"/>
            </a:endParaRPr>
          </a:p>
          <a:p>
            <a:pPr marL="407670" lvl="1" indent="-153035">
              <a:lnSpc>
                <a:spcPct val="100000"/>
              </a:lnSpc>
              <a:spcBef>
                <a:spcPts val="334"/>
              </a:spcBef>
              <a:buChar char="–"/>
              <a:tabLst>
                <a:tab pos="408305" algn="l"/>
              </a:tabLst>
            </a:pPr>
            <a:r>
              <a:rPr sz="1250" dirty="0">
                <a:latin typeface="Arial MT"/>
                <a:cs typeface="Arial MT"/>
              </a:rPr>
              <a:t>E.g.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“ant”&lt;“bat”</a:t>
            </a:r>
            <a:r>
              <a:rPr sz="1250" spc="25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(ant</a:t>
            </a:r>
            <a:r>
              <a:rPr sz="1250" spc="1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comes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before</a:t>
            </a:r>
            <a:r>
              <a:rPr sz="1250" spc="60" dirty="0">
                <a:latin typeface="Arial MT"/>
                <a:cs typeface="Arial MT"/>
              </a:rPr>
              <a:t> </a:t>
            </a:r>
            <a:r>
              <a:rPr sz="1250" spc="-15" dirty="0">
                <a:latin typeface="Arial MT"/>
                <a:cs typeface="Arial MT"/>
              </a:rPr>
              <a:t>bat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in</a:t>
            </a:r>
            <a:r>
              <a:rPr sz="1250" spc="10" dirty="0">
                <a:latin typeface="Arial MT"/>
                <a:cs typeface="Arial MT"/>
              </a:rPr>
              <a:t> </a:t>
            </a:r>
            <a:r>
              <a:rPr sz="1250" spc="-5" dirty="0">
                <a:latin typeface="Arial MT"/>
                <a:cs typeface="Arial MT"/>
              </a:rPr>
              <a:t>dictionary)</a:t>
            </a:r>
            <a:endParaRPr sz="1250">
              <a:latin typeface="Arial MT"/>
              <a:cs typeface="Arial MT"/>
            </a:endParaRPr>
          </a:p>
          <a:p>
            <a:pPr marL="194945" marR="502284" indent="-182880">
              <a:lnSpc>
                <a:spcPct val="103299"/>
              </a:lnSpc>
              <a:spcBef>
                <a:spcPts val="355"/>
              </a:spcBef>
              <a:buChar char="•"/>
              <a:tabLst>
                <a:tab pos="195580" algn="l"/>
              </a:tabLst>
            </a:pPr>
            <a:r>
              <a:rPr sz="1450" spc="15" dirty="0">
                <a:latin typeface="Arial MT"/>
                <a:cs typeface="Arial MT"/>
              </a:rPr>
              <a:t>A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string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is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greater</a:t>
            </a:r>
            <a:r>
              <a:rPr sz="1450" spc="14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than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another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if</a:t>
            </a:r>
            <a:r>
              <a:rPr sz="1450" spc="6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it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comes </a:t>
            </a:r>
            <a:r>
              <a:rPr sz="1450" spc="-10" dirty="0">
                <a:latin typeface="Arial MT"/>
                <a:cs typeface="Arial MT"/>
              </a:rPr>
              <a:t>after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other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in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dictionary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order.</a:t>
            </a:r>
            <a:endParaRPr sz="1450">
              <a:latin typeface="Arial MT"/>
              <a:cs typeface="Arial MT"/>
            </a:endParaRPr>
          </a:p>
          <a:p>
            <a:pPr marL="407670" lvl="1" indent="-153035">
              <a:lnSpc>
                <a:spcPct val="100000"/>
              </a:lnSpc>
              <a:spcBef>
                <a:spcPts val="335"/>
              </a:spcBef>
              <a:buChar char="–"/>
              <a:tabLst>
                <a:tab pos="408305" algn="l"/>
              </a:tabLst>
            </a:pPr>
            <a:r>
              <a:rPr sz="1250" dirty="0">
                <a:latin typeface="Arial MT"/>
                <a:cs typeface="Arial MT"/>
              </a:rPr>
              <a:t>E.g.</a:t>
            </a:r>
            <a:r>
              <a:rPr sz="1250" spc="50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“bat”&gt;“ant”</a:t>
            </a:r>
            <a:r>
              <a:rPr sz="1250" spc="20" dirty="0">
                <a:latin typeface="Arial MT"/>
                <a:cs typeface="Arial MT"/>
              </a:rPr>
              <a:t> </a:t>
            </a:r>
            <a:r>
              <a:rPr sz="1250" spc="-5" dirty="0">
                <a:latin typeface="Arial MT"/>
                <a:cs typeface="Arial MT"/>
              </a:rPr>
              <a:t>(bat</a:t>
            </a:r>
            <a:r>
              <a:rPr sz="1250" spc="5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comes</a:t>
            </a:r>
            <a:r>
              <a:rPr sz="1250" spc="45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after</a:t>
            </a:r>
            <a:r>
              <a:rPr sz="1250" spc="2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ant</a:t>
            </a:r>
            <a:r>
              <a:rPr sz="1250" spc="10" dirty="0">
                <a:latin typeface="Arial MT"/>
                <a:cs typeface="Arial MT"/>
              </a:rPr>
              <a:t> </a:t>
            </a:r>
            <a:r>
              <a:rPr sz="1250" spc="5" dirty="0">
                <a:latin typeface="Arial MT"/>
                <a:cs typeface="Arial MT"/>
              </a:rPr>
              <a:t>in</a:t>
            </a:r>
            <a:r>
              <a:rPr sz="1250" spc="10" dirty="0">
                <a:latin typeface="Arial MT"/>
                <a:cs typeface="Arial MT"/>
              </a:rPr>
              <a:t> </a:t>
            </a:r>
            <a:r>
              <a:rPr sz="1250" spc="-5" dirty="0">
                <a:latin typeface="Arial MT"/>
                <a:cs typeface="Arial MT"/>
              </a:rPr>
              <a:t>dictionary)</a:t>
            </a:r>
            <a:endParaRPr sz="1250">
              <a:latin typeface="Arial MT"/>
              <a:cs typeface="Arial MT"/>
            </a:endParaRPr>
          </a:p>
          <a:p>
            <a:pPr marL="194945" marR="5080" indent="-182880">
              <a:lnSpc>
                <a:spcPct val="100899"/>
              </a:lnSpc>
              <a:spcBef>
                <a:spcPts val="405"/>
              </a:spcBef>
              <a:buChar char="•"/>
              <a:tabLst>
                <a:tab pos="195580" algn="l"/>
              </a:tabLst>
            </a:pPr>
            <a:r>
              <a:rPr sz="1450" spc="10" dirty="0">
                <a:latin typeface="Arial MT"/>
                <a:cs typeface="Arial MT"/>
              </a:rPr>
              <a:t>compareTo(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)</a:t>
            </a:r>
            <a:r>
              <a:rPr sz="1450" spc="2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method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in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used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for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comparing</a:t>
            </a:r>
            <a:r>
              <a:rPr sz="1450" spc="13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two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strings. </a:t>
            </a:r>
            <a:r>
              <a:rPr sz="1450" spc="-3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General</a:t>
            </a:r>
            <a:r>
              <a:rPr sz="1450" spc="10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form: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4980" y="440590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5883" y="3508867"/>
              <a:ext cx="3048502" cy="11794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3200" y="260667"/>
            <a:ext cx="2581910" cy="551180"/>
          </a:xfrm>
          <a:custGeom>
            <a:avLst/>
            <a:gdLst/>
            <a:ahLst/>
            <a:cxnLst/>
            <a:rect l="l" t="t" r="r" b="b"/>
            <a:pathLst>
              <a:path w="2581910" h="551180">
                <a:moveTo>
                  <a:pt x="2581694" y="0"/>
                </a:moveTo>
                <a:lnTo>
                  <a:pt x="0" y="0"/>
                </a:lnTo>
                <a:lnTo>
                  <a:pt x="0" y="550736"/>
                </a:lnTo>
                <a:lnTo>
                  <a:pt x="2581694" y="550736"/>
                </a:lnTo>
                <a:lnTo>
                  <a:pt x="25816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4976" y="396344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000" y="1051513"/>
              <a:ext cx="5224538" cy="32265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74976" y="440590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5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000" y="1176726"/>
              <a:ext cx="4207851" cy="35437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200" y="155814"/>
            <a:ext cx="2799080" cy="503555"/>
          </a:xfrm>
          <a:custGeom>
            <a:avLst/>
            <a:gdLst/>
            <a:ahLst/>
            <a:cxnLst/>
            <a:rect l="l" t="t" r="r" b="b"/>
            <a:pathLst>
              <a:path w="2799079" h="503555">
                <a:moveTo>
                  <a:pt x="2799054" y="0"/>
                </a:moveTo>
                <a:lnTo>
                  <a:pt x="0" y="0"/>
                </a:lnTo>
                <a:lnTo>
                  <a:pt x="0" y="503188"/>
                </a:lnTo>
                <a:lnTo>
                  <a:pt x="2799054" y="503188"/>
                </a:lnTo>
                <a:lnTo>
                  <a:pt x="2799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4805" y="725613"/>
            <a:ext cx="273748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compareToIgnoreCase(</a:t>
            </a:r>
            <a:r>
              <a:rPr spc="-114" dirty="0"/>
              <a:t> </a:t>
            </a:r>
            <a:r>
              <a:rPr spc="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07027"/>
            <a:ext cx="5464175" cy="1227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160">
              <a:lnSpc>
                <a:spcPct val="121300"/>
              </a:lnSpc>
              <a:spcBef>
                <a:spcPts val="95"/>
              </a:spcBef>
              <a:buChar char="•"/>
              <a:tabLst>
                <a:tab pos="195580" algn="l"/>
              </a:tabLst>
            </a:pP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pa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oI</a:t>
            </a:r>
            <a:r>
              <a:rPr sz="1700" spc="5" dirty="0">
                <a:latin typeface="Arial MT"/>
                <a:cs typeface="Arial MT"/>
              </a:rPr>
              <a:t>g</a:t>
            </a:r>
            <a:r>
              <a:rPr sz="1700" spc="-35" dirty="0">
                <a:latin typeface="Arial MT"/>
                <a:cs typeface="Arial MT"/>
              </a:rPr>
              <a:t>n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eC</a:t>
            </a:r>
            <a:r>
              <a:rPr sz="1700" spc="-35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-35" dirty="0">
                <a:latin typeface="Arial MT"/>
                <a:cs typeface="Arial MT"/>
              </a:rPr>
              <a:t>e</a:t>
            </a:r>
            <a:r>
              <a:rPr sz="1700" spc="5" dirty="0">
                <a:latin typeface="Arial MT"/>
                <a:cs typeface="Arial MT"/>
              </a:rPr>
              <a:t>(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en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25" dirty="0">
                <a:latin typeface="Arial MT"/>
                <a:cs typeface="Arial MT"/>
              </a:rPr>
              <a:t>i</a:t>
            </a:r>
            <a:r>
              <a:rPr sz="1700" spc="20" dirty="0">
                <a:latin typeface="Arial MT"/>
                <a:cs typeface="Arial MT"/>
              </a:rPr>
              <a:t>v</a:t>
            </a:r>
            <a:r>
              <a:rPr sz="1700" dirty="0">
                <a:latin typeface="Arial MT"/>
                <a:cs typeface="Arial MT"/>
              </a:rPr>
              <a:t>e.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int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compareToIgnoreCase(String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str)</a:t>
            </a:r>
            <a:endParaRPr sz="17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1699"/>
              </a:lnSpc>
              <a:spcBef>
                <a:spcPts val="360"/>
              </a:spcBef>
              <a:buChar char="•"/>
              <a:tabLst>
                <a:tab pos="195580" algn="l"/>
              </a:tabLst>
            </a:pP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u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15" dirty="0">
                <a:latin typeface="Arial MT"/>
                <a:cs typeface="Arial MT"/>
              </a:rPr>
              <a:t>l</a:t>
            </a:r>
            <a:r>
              <a:rPr sz="1700" spc="5" dirty="0">
                <a:latin typeface="Arial MT"/>
                <a:cs typeface="Arial MT"/>
              </a:rPr>
              <a:t>ts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pa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(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rial MT"/>
                <a:cs typeface="Arial MT"/>
              </a:rPr>
              <a:t>)</a:t>
            </a:r>
            <a:r>
              <a:rPr sz="1700" dirty="0">
                <a:latin typeface="Arial MT"/>
                <a:cs typeface="Arial MT"/>
              </a:rPr>
              <a:t>,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20" dirty="0">
                <a:latin typeface="Arial MT"/>
                <a:cs typeface="Arial MT"/>
              </a:rPr>
              <a:t>xc</a:t>
            </a:r>
            <a:r>
              <a:rPr sz="1700" dirty="0">
                <a:latin typeface="Arial MT"/>
                <a:cs typeface="Arial MT"/>
              </a:rPr>
              <a:t>ept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that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d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spc="35" dirty="0">
                <a:latin typeface="Arial MT"/>
                <a:cs typeface="Arial MT"/>
              </a:rPr>
              <a:t>ff</a:t>
            </a:r>
            <a:r>
              <a:rPr sz="1700" spc="-35" dirty="0">
                <a:latin typeface="Arial MT"/>
                <a:cs typeface="Arial MT"/>
              </a:rPr>
              <a:t>e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en</a:t>
            </a:r>
            <a:r>
              <a:rPr sz="1700" spc="-15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e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gn</a:t>
            </a:r>
            <a:r>
              <a:rPr sz="1700" spc="5" dirty="0">
                <a:latin typeface="Arial MT"/>
                <a:cs typeface="Arial MT"/>
              </a:rPr>
              <a:t>o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4976" y="396344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6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74976" y="440590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7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000" y="1075475"/>
              <a:ext cx="5204288" cy="36450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6200" y="186812"/>
            <a:ext cx="3002915" cy="320040"/>
          </a:xfrm>
          <a:custGeom>
            <a:avLst/>
            <a:gdLst/>
            <a:ahLst/>
            <a:cxnLst/>
            <a:rect l="l" t="t" r="r" b="b"/>
            <a:pathLst>
              <a:path w="3002915" h="320040">
                <a:moveTo>
                  <a:pt x="3002829" y="0"/>
                </a:moveTo>
                <a:lnTo>
                  <a:pt x="0" y="0"/>
                </a:lnTo>
                <a:lnTo>
                  <a:pt x="0" y="319791"/>
                </a:lnTo>
                <a:lnTo>
                  <a:pt x="3002829" y="319791"/>
                </a:lnTo>
                <a:lnTo>
                  <a:pt x="3002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63301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5294" y="725613"/>
            <a:ext cx="193802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Searching</a:t>
            </a:r>
            <a:r>
              <a:rPr spc="-100" dirty="0"/>
              <a:t> </a:t>
            </a:r>
            <a:r>
              <a:rPr dirty="0"/>
              <a:t>Strings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238" y="1259677"/>
            <a:ext cx="5760720" cy="28448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134620" indent="-182880">
              <a:lnSpc>
                <a:spcPct val="101800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-5" dirty="0">
                <a:latin typeface="Arial MT"/>
                <a:cs typeface="Arial MT"/>
              </a:rPr>
              <a:t>T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cl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60" dirty="0">
                <a:latin typeface="Arial MT"/>
                <a:cs typeface="Arial MT"/>
              </a:rPr>
              <a:t>v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spc="5" dirty="0">
                <a:latin typeface="Arial MT"/>
                <a:cs typeface="Arial MT"/>
              </a:rPr>
              <a:t>o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et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dirty="0">
                <a:latin typeface="Arial MT"/>
                <a:cs typeface="Arial MT"/>
              </a:rPr>
              <a:t>od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ea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h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for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 specified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substring:</a:t>
            </a:r>
            <a:endParaRPr sz="1700">
              <a:latin typeface="Arial MT"/>
              <a:cs typeface="Arial MT"/>
            </a:endParaRPr>
          </a:p>
          <a:p>
            <a:pPr marL="194945" marR="46990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10" dirty="0">
                <a:latin typeface="Arial MT"/>
                <a:cs typeface="Arial MT"/>
              </a:rPr>
              <a:t>indexOf(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Searches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for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first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occurrence</a:t>
            </a:r>
            <a:r>
              <a:rPr sz="1700" spc="-1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 character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substring.</a:t>
            </a:r>
            <a:endParaRPr sz="1700">
              <a:latin typeface="Arial MT"/>
              <a:cs typeface="Arial MT"/>
            </a:endParaRPr>
          </a:p>
          <a:p>
            <a:pPr marL="194945" marR="680720" indent="-182880">
              <a:lnSpc>
                <a:spcPct val="100000"/>
              </a:lnSpc>
              <a:spcBef>
                <a:spcPts val="43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lastIndexOf(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)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Searches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for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last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occurrence</a:t>
            </a:r>
            <a:r>
              <a:rPr sz="1700" spc="-1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5" dirty="0">
                <a:latin typeface="Arial MT"/>
                <a:cs typeface="Arial MT"/>
              </a:rPr>
              <a:t> a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h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5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ter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5" dirty="0">
                <a:latin typeface="Arial MT"/>
                <a:cs typeface="Arial MT"/>
              </a:rPr>
              <a:t>b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g.</a:t>
            </a:r>
            <a:endParaRPr sz="1700">
              <a:latin typeface="Arial MT"/>
              <a:cs typeface="Arial MT"/>
            </a:endParaRPr>
          </a:p>
          <a:p>
            <a:pPr marL="407670" lvl="1" indent="-153035">
              <a:lnSpc>
                <a:spcPct val="100000"/>
              </a:lnSpc>
              <a:spcBef>
                <a:spcPts val="400"/>
              </a:spcBef>
              <a:buChar char="–"/>
              <a:tabLst>
                <a:tab pos="408305" algn="l"/>
              </a:tabLst>
            </a:pPr>
            <a:r>
              <a:rPr sz="1450" spc="5" dirty="0">
                <a:latin typeface="Arial MT"/>
                <a:cs typeface="Arial MT"/>
              </a:rPr>
              <a:t>These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two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methods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are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overloaded</a:t>
            </a:r>
            <a:r>
              <a:rPr sz="1450" spc="210" dirty="0">
                <a:latin typeface="Arial MT"/>
                <a:cs typeface="Arial MT"/>
              </a:rPr>
              <a:t> </a:t>
            </a:r>
            <a:r>
              <a:rPr sz="1450" spc="-15" dirty="0">
                <a:latin typeface="Arial MT"/>
                <a:cs typeface="Arial MT"/>
              </a:rPr>
              <a:t>in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several</a:t>
            </a:r>
            <a:r>
              <a:rPr sz="1450" spc="14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different</a:t>
            </a:r>
            <a:r>
              <a:rPr sz="1450" spc="18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ways.</a:t>
            </a:r>
            <a:endParaRPr sz="1450">
              <a:latin typeface="Arial MT"/>
              <a:cs typeface="Arial MT"/>
            </a:endParaRPr>
          </a:p>
          <a:p>
            <a:pPr marL="407670" marR="204470" lvl="1" indent="-152400">
              <a:lnSpc>
                <a:spcPct val="102099"/>
              </a:lnSpc>
              <a:spcBef>
                <a:spcPts val="380"/>
              </a:spcBef>
              <a:buChar char="–"/>
              <a:tabLst>
                <a:tab pos="408305" algn="l"/>
              </a:tabLst>
            </a:pPr>
            <a:r>
              <a:rPr sz="1450" spc="-20" dirty="0">
                <a:latin typeface="Arial MT"/>
                <a:cs typeface="Arial MT"/>
              </a:rPr>
              <a:t>In all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cases,</a:t>
            </a:r>
            <a:r>
              <a:rPr sz="145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 methods </a:t>
            </a:r>
            <a:r>
              <a:rPr sz="1450" dirty="0">
                <a:latin typeface="Arial MT"/>
                <a:cs typeface="Arial MT"/>
              </a:rPr>
              <a:t>return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dirty="0">
                <a:latin typeface="Arial MT"/>
                <a:cs typeface="Arial MT"/>
              </a:rPr>
              <a:t>index </a:t>
            </a:r>
            <a:r>
              <a:rPr sz="1450" spc="-5" dirty="0">
                <a:latin typeface="Arial MT"/>
                <a:cs typeface="Arial MT"/>
              </a:rPr>
              <a:t>at </a:t>
            </a:r>
            <a:r>
              <a:rPr sz="1450" spc="5" dirty="0">
                <a:latin typeface="Arial MT"/>
                <a:cs typeface="Arial MT"/>
              </a:rPr>
              <a:t>which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1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character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or </a:t>
            </a:r>
            <a:r>
              <a:rPr sz="1450" dirty="0">
                <a:latin typeface="Arial MT"/>
                <a:cs typeface="Arial MT"/>
              </a:rPr>
              <a:t>substring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was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found.</a:t>
            </a:r>
            <a:r>
              <a:rPr sz="1450" spc="-2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If</a:t>
            </a:r>
            <a:r>
              <a:rPr sz="1450" spc="5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</a:t>
            </a:r>
            <a:r>
              <a:rPr sz="1450" spc="5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character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or </a:t>
            </a:r>
            <a:r>
              <a:rPr sz="1450" dirty="0">
                <a:latin typeface="Arial MT"/>
                <a:cs typeface="Arial MT"/>
              </a:rPr>
              <a:t>substring </a:t>
            </a:r>
            <a:r>
              <a:rPr sz="1450" spc="-38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is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not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found</a:t>
            </a:r>
            <a:r>
              <a:rPr sz="1450" spc="10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then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these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method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returns</a:t>
            </a:r>
            <a:r>
              <a:rPr sz="1450" spc="15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-1.</a:t>
            </a:r>
            <a:endParaRPr sz="14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330"/>
              </a:spcBef>
            </a:pPr>
            <a:r>
              <a:rPr sz="750" dirty="0">
                <a:latin typeface="Arial MT"/>
                <a:cs typeface="Arial MT"/>
              </a:rPr>
              <a:t>118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633079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74976" y="4405906"/>
            <a:ext cx="18605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 MT"/>
                <a:cs typeface="Arial MT"/>
              </a:rPr>
              <a:t>1</a:t>
            </a:r>
            <a:r>
              <a:rPr sz="750" spc="15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9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500" y="1547984"/>
              <a:ext cx="4951161" cy="317251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4300" y="307617"/>
            <a:ext cx="2153920" cy="415290"/>
          </a:xfrm>
          <a:custGeom>
            <a:avLst/>
            <a:gdLst/>
            <a:ahLst/>
            <a:cxnLst/>
            <a:rect l="l" t="t" r="r" b="b"/>
            <a:pathLst>
              <a:path w="2153920" h="415290">
                <a:moveTo>
                  <a:pt x="2153766" y="0"/>
                </a:moveTo>
                <a:lnTo>
                  <a:pt x="0" y="0"/>
                </a:lnTo>
                <a:lnTo>
                  <a:pt x="0" y="414886"/>
                </a:lnTo>
                <a:lnTo>
                  <a:pt x="2153766" y="414886"/>
                </a:lnTo>
                <a:lnTo>
                  <a:pt x="21537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846" y="1260767"/>
              <a:ext cx="4946901" cy="28738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121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000" y="1603638"/>
              <a:ext cx="4502288" cy="31168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7800" y="196569"/>
            <a:ext cx="2282825" cy="462915"/>
          </a:xfrm>
          <a:custGeom>
            <a:avLst/>
            <a:gdLst/>
            <a:ahLst/>
            <a:cxnLst/>
            <a:rect l="l" t="t" r="r" b="b"/>
            <a:pathLst>
              <a:path w="2282825" h="462915">
                <a:moveTo>
                  <a:pt x="2282824" y="0"/>
                </a:moveTo>
                <a:lnTo>
                  <a:pt x="0" y="0"/>
                </a:lnTo>
                <a:lnTo>
                  <a:pt x="0" y="462433"/>
                </a:lnTo>
                <a:lnTo>
                  <a:pt x="2282824" y="462433"/>
                </a:lnTo>
                <a:lnTo>
                  <a:pt x="22828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000" y="1080203"/>
              <a:ext cx="5144412" cy="31978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4919" y="1168073"/>
            <a:ext cx="196723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Modifying</a:t>
            </a:r>
            <a:r>
              <a:rPr spc="85" dirty="0"/>
              <a:t> </a:t>
            </a:r>
            <a:r>
              <a:rPr spc="5" dirty="0"/>
              <a:t>a</a:t>
            </a:r>
            <a:r>
              <a:rPr spc="-25" dirty="0"/>
              <a:t> </a:t>
            </a:r>
            <a:r>
              <a:rPr spc="-5" dirty="0"/>
              <a:t>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649487"/>
            <a:ext cx="5737225" cy="24441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195580" algn="l"/>
              </a:tabLst>
            </a:pPr>
            <a:r>
              <a:rPr sz="1700" b="1" dirty="0">
                <a:latin typeface="Arial"/>
                <a:cs typeface="Arial"/>
              </a:rPr>
              <a:t>String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objects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are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immutable(cannot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change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a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string.)</a:t>
            </a:r>
            <a:endParaRPr sz="1700">
              <a:latin typeface="Arial"/>
              <a:cs typeface="Arial"/>
            </a:endParaRPr>
          </a:p>
          <a:p>
            <a:pPr marL="194945" indent="-182880">
              <a:lnSpc>
                <a:spcPct val="100000"/>
              </a:lnSpc>
              <a:spcBef>
                <a:spcPts val="434"/>
              </a:spcBef>
              <a:buChar char="•"/>
              <a:tabLst>
                <a:tab pos="195580" algn="l"/>
              </a:tabLst>
            </a:pPr>
            <a:r>
              <a:rPr sz="1700" dirty="0">
                <a:latin typeface="Arial MT"/>
                <a:cs typeface="Arial MT"/>
              </a:rPr>
              <a:t>To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modify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String,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35" dirty="0">
                <a:latin typeface="Arial MT"/>
                <a:cs typeface="Arial MT"/>
              </a:rPr>
              <a:t>we</a:t>
            </a:r>
            <a:r>
              <a:rPr sz="1700" spc="7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must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either</a:t>
            </a:r>
            <a:endParaRPr sz="1700">
              <a:latin typeface="Arial MT"/>
              <a:cs typeface="Arial MT"/>
            </a:endParaRPr>
          </a:p>
          <a:p>
            <a:pPr marL="407670" lvl="1" indent="-153035">
              <a:lnSpc>
                <a:spcPct val="100000"/>
              </a:lnSpc>
              <a:spcBef>
                <a:spcPts val="405"/>
              </a:spcBef>
              <a:buChar char="–"/>
              <a:tabLst>
                <a:tab pos="408305" algn="l"/>
              </a:tabLst>
            </a:pPr>
            <a:r>
              <a:rPr sz="1450" spc="20" dirty="0">
                <a:latin typeface="Arial MT"/>
                <a:cs typeface="Arial MT"/>
              </a:rPr>
              <a:t>copy</a:t>
            </a:r>
            <a:r>
              <a:rPr sz="1450" spc="-3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it</a:t>
            </a:r>
            <a:r>
              <a:rPr sz="1450" spc="60" dirty="0">
                <a:latin typeface="Arial MT"/>
                <a:cs typeface="Arial MT"/>
              </a:rPr>
              <a:t> </a:t>
            </a:r>
            <a:r>
              <a:rPr sz="1450" spc="-5" dirty="0">
                <a:latin typeface="Arial MT"/>
                <a:cs typeface="Arial MT"/>
              </a:rPr>
              <a:t>into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a </a:t>
            </a:r>
            <a:r>
              <a:rPr sz="1450" dirty="0">
                <a:latin typeface="Arial MT"/>
                <a:cs typeface="Arial MT"/>
              </a:rPr>
              <a:t>StringBuffer</a:t>
            </a:r>
            <a:r>
              <a:rPr sz="1450" spc="14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or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StringBuilder,</a:t>
            </a:r>
            <a:r>
              <a:rPr sz="1450" spc="18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or</a:t>
            </a:r>
            <a:endParaRPr sz="1450">
              <a:latin typeface="Arial MT"/>
              <a:cs typeface="Arial MT"/>
            </a:endParaRPr>
          </a:p>
          <a:p>
            <a:pPr marL="407670" lvl="1" indent="-153035">
              <a:lnSpc>
                <a:spcPct val="100000"/>
              </a:lnSpc>
              <a:spcBef>
                <a:spcPts val="415"/>
              </a:spcBef>
              <a:buChar char="–"/>
              <a:tabLst>
                <a:tab pos="408305" algn="l"/>
              </a:tabLst>
            </a:pPr>
            <a:r>
              <a:rPr sz="1450" spc="5" dirty="0">
                <a:latin typeface="Arial MT"/>
                <a:cs typeface="Arial MT"/>
              </a:rPr>
              <a:t>use</a:t>
            </a:r>
            <a:r>
              <a:rPr sz="1450" spc="45" dirty="0">
                <a:latin typeface="Arial MT"/>
                <a:cs typeface="Arial MT"/>
              </a:rPr>
              <a:t> </a:t>
            </a:r>
            <a:r>
              <a:rPr sz="1450" spc="20" dirty="0">
                <a:latin typeface="Arial MT"/>
                <a:cs typeface="Arial MT"/>
              </a:rPr>
              <a:t>one</a:t>
            </a:r>
            <a:r>
              <a:rPr sz="1450" spc="-3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of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0" dirty="0">
                <a:latin typeface="Arial MT"/>
                <a:cs typeface="Arial MT"/>
              </a:rPr>
              <a:t>the </a:t>
            </a:r>
            <a:r>
              <a:rPr sz="1450" spc="-5" dirty="0">
                <a:latin typeface="Arial MT"/>
                <a:cs typeface="Arial MT"/>
              </a:rPr>
              <a:t>following</a:t>
            </a:r>
            <a:r>
              <a:rPr sz="1450" spc="16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String</a:t>
            </a:r>
            <a:r>
              <a:rPr sz="1450" spc="85" dirty="0">
                <a:latin typeface="Arial MT"/>
                <a:cs typeface="Arial MT"/>
              </a:rPr>
              <a:t> </a:t>
            </a:r>
            <a:r>
              <a:rPr sz="1450" spc="5" dirty="0">
                <a:latin typeface="Arial MT"/>
                <a:cs typeface="Arial MT"/>
              </a:rPr>
              <a:t>methods:</a:t>
            </a:r>
            <a:endParaRPr sz="1450">
              <a:latin typeface="Arial MT"/>
              <a:cs typeface="Arial MT"/>
            </a:endParaRPr>
          </a:p>
          <a:p>
            <a:pPr marL="12700" marR="4530090">
              <a:lnSpc>
                <a:spcPct val="119400"/>
              </a:lnSpc>
              <a:spcBef>
                <a:spcPts val="10"/>
              </a:spcBef>
            </a:pPr>
            <a:r>
              <a:rPr sz="1700" b="1" dirty="0">
                <a:latin typeface="Arial"/>
                <a:cs typeface="Arial"/>
              </a:rPr>
              <a:t>s</a:t>
            </a:r>
            <a:r>
              <a:rPr sz="1700" b="1" spc="-5" dirty="0">
                <a:latin typeface="Arial"/>
                <a:cs typeface="Arial"/>
              </a:rPr>
              <a:t>ub</a:t>
            </a:r>
            <a:r>
              <a:rPr sz="1700" b="1" dirty="0">
                <a:latin typeface="Arial"/>
                <a:cs typeface="Arial"/>
              </a:rPr>
              <a:t>s</a:t>
            </a:r>
            <a:r>
              <a:rPr sz="1700" b="1" spc="-10" dirty="0">
                <a:latin typeface="Arial"/>
                <a:cs typeface="Arial"/>
              </a:rPr>
              <a:t>t</a:t>
            </a:r>
            <a:r>
              <a:rPr sz="1700" b="1" spc="10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i</a:t>
            </a:r>
            <a:r>
              <a:rPr sz="1700" b="1" spc="-5" dirty="0">
                <a:latin typeface="Arial"/>
                <a:cs typeface="Arial"/>
              </a:rPr>
              <a:t>ng</a:t>
            </a:r>
            <a:r>
              <a:rPr sz="1700" b="1" spc="5" dirty="0">
                <a:latin typeface="Arial"/>
                <a:cs typeface="Arial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Arial"/>
                <a:cs typeface="Arial"/>
              </a:rPr>
              <a:t>)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concat(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700" marR="4808855">
              <a:lnSpc>
                <a:spcPct val="119400"/>
              </a:lnSpc>
              <a:spcBef>
                <a:spcPts val="35"/>
              </a:spcBef>
            </a:pPr>
            <a:r>
              <a:rPr sz="1700" b="1" spc="10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5" dirty="0">
                <a:latin typeface="Arial"/>
                <a:cs typeface="Arial"/>
              </a:rPr>
              <a:t>p</a:t>
            </a:r>
            <a:r>
              <a:rPr sz="1700" b="1" spc="5" dirty="0">
                <a:latin typeface="Arial"/>
                <a:cs typeface="Arial"/>
              </a:rPr>
              <a:t>lac</a:t>
            </a:r>
            <a:r>
              <a:rPr sz="1700" b="1" dirty="0">
                <a:latin typeface="Arial"/>
                <a:cs typeface="Arial"/>
              </a:rPr>
              <a:t>e</a:t>
            </a:r>
            <a:r>
              <a:rPr sz="1700" b="1" spc="-10" dirty="0">
                <a:latin typeface="Arial"/>
                <a:cs typeface="Arial"/>
              </a:rPr>
              <a:t>(</a:t>
            </a:r>
            <a:r>
              <a:rPr sz="1700" b="1" spc="5" dirty="0">
                <a:latin typeface="Arial"/>
                <a:cs typeface="Arial"/>
              </a:rPr>
              <a:t>)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trim(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9915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123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03500" y="224624"/>
            <a:ext cx="2541270" cy="422275"/>
          </a:xfrm>
          <a:custGeom>
            <a:avLst/>
            <a:gdLst/>
            <a:ahLst/>
            <a:cxnLst/>
            <a:rect l="l" t="t" r="r" b="b"/>
            <a:pathLst>
              <a:path w="2541270" h="422275">
                <a:moveTo>
                  <a:pt x="2540939" y="0"/>
                </a:moveTo>
                <a:lnTo>
                  <a:pt x="0" y="0"/>
                </a:lnTo>
                <a:lnTo>
                  <a:pt x="0" y="421678"/>
                </a:lnTo>
                <a:lnTo>
                  <a:pt x="2540939" y="421678"/>
                </a:lnTo>
                <a:lnTo>
                  <a:pt x="25409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4465" y="725613"/>
            <a:ext cx="124015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substring(</a:t>
            </a:r>
            <a:r>
              <a:rPr spc="-65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000" y="1100454"/>
              <a:ext cx="4688719" cy="31775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4FBC22-14DA-2FF3-A1B2-CF4D8DBFB770}"/>
              </a:ext>
            </a:extLst>
          </p:cNvPr>
          <p:cNvSpPr txBox="1"/>
          <p:nvPr/>
        </p:nvSpPr>
        <p:spPr>
          <a:xfrm>
            <a:off x="425450" y="927100"/>
            <a:ext cx="6477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class HelloWorld {</a:t>
            </a:r>
          </a:p>
          <a:p>
            <a:r>
              <a:rPr lang="en-US" sz="2400" dirty="0"/>
              <a:t>    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{</a:t>
            </a:r>
          </a:p>
          <a:p>
            <a:r>
              <a:rPr lang="en-US" sz="2400" dirty="0"/>
              <a:t>        String S="Welcome Java";</a:t>
            </a:r>
          </a:p>
          <a:p>
            <a:r>
              <a:rPr lang="en-US" sz="2400" dirty="0"/>
              <a:t>        String S1=</a:t>
            </a:r>
            <a:r>
              <a:rPr lang="en-US" sz="2400" dirty="0" err="1"/>
              <a:t>S.substring</a:t>
            </a:r>
            <a:r>
              <a:rPr lang="en-US" sz="2400" dirty="0"/>
              <a:t>(1);</a:t>
            </a:r>
          </a:p>
          <a:p>
            <a:r>
              <a:rPr lang="en-US" sz="2400" dirty="0"/>
              <a:t>        String S2=</a:t>
            </a:r>
            <a:r>
              <a:rPr lang="en-US" sz="2400" dirty="0" err="1"/>
              <a:t>S.substring</a:t>
            </a:r>
            <a:r>
              <a:rPr lang="en-US" sz="2400" dirty="0"/>
              <a:t>(1,5);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("S1="+S1);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("S2="+S2);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/>
              <a:t>Output</a:t>
            </a:r>
          </a:p>
          <a:p>
            <a:r>
              <a:rPr lang="pt-BR" sz="2400" dirty="0"/>
              <a:t>S1=elcome Java</a:t>
            </a:r>
          </a:p>
          <a:p>
            <a:r>
              <a:rPr lang="pt-BR" sz="2400" dirty="0"/>
              <a:t>S2=elco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55854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125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000" y="1075475"/>
              <a:ext cx="4729220" cy="36450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05100" y="197167"/>
            <a:ext cx="2398395" cy="551180"/>
          </a:xfrm>
          <a:custGeom>
            <a:avLst/>
            <a:gdLst/>
            <a:ahLst/>
            <a:cxnLst/>
            <a:rect l="l" t="t" r="r" b="b"/>
            <a:pathLst>
              <a:path w="2398395" h="551180">
                <a:moveTo>
                  <a:pt x="2398297" y="0"/>
                </a:moveTo>
                <a:lnTo>
                  <a:pt x="0" y="0"/>
                </a:lnTo>
                <a:lnTo>
                  <a:pt x="0" y="550736"/>
                </a:lnTo>
                <a:lnTo>
                  <a:pt x="2398297" y="550736"/>
                </a:lnTo>
                <a:lnTo>
                  <a:pt x="2398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117" y="725613"/>
            <a:ext cx="97155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concat(</a:t>
            </a:r>
            <a:r>
              <a:rPr spc="-85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001" y="1265020"/>
              <a:ext cx="5064222" cy="28645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11981" y="1168073"/>
            <a:ext cx="105283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replace(</a:t>
            </a:r>
            <a:r>
              <a:rPr spc="-90" dirty="0"/>
              <a:t> </a:t>
            </a:r>
            <a:r>
              <a:rPr spc="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127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628" y="1704082"/>
              <a:ext cx="4532663" cy="27691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68600" y="279849"/>
            <a:ext cx="2371725" cy="354330"/>
          </a:xfrm>
          <a:custGeom>
            <a:avLst/>
            <a:gdLst/>
            <a:ahLst/>
            <a:cxnLst/>
            <a:rect l="l" t="t" r="r" b="b"/>
            <a:pathLst>
              <a:path w="2371725" h="354330">
                <a:moveTo>
                  <a:pt x="2371126" y="0"/>
                </a:moveTo>
                <a:lnTo>
                  <a:pt x="0" y="0"/>
                </a:lnTo>
                <a:lnTo>
                  <a:pt x="0" y="353753"/>
                </a:lnTo>
                <a:lnTo>
                  <a:pt x="2371126" y="353753"/>
                </a:lnTo>
                <a:lnTo>
                  <a:pt x="23711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7197" y="725613"/>
            <a:ext cx="65849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trim(</a:t>
            </a:r>
            <a:r>
              <a:rPr spc="-50" dirty="0"/>
              <a:t> </a:t>
            </a:r>
            <a:r>
              <a:rPr spc="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128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783" y="1311390"/>
              <a:ext cx="4899661" cy="20823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129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753" y="1689730"/>
              <a:ext cx="5427040" cy="19735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68600" y="207787"/>
            <a:ext cx="2513965" cy="387985"/>
          </a:xfrm>
          <a:custGeom>
            <a:avLst/>
            <a:gdLst/>
            <a:ahLst/>
            <a:cxnLst/>
            <a:rect l="l" t="t" r="r" b="b"/>
            <a:pathLst>
              <a:path w="2513965" h="387984">
                <a:moveTo>
                  <a:pt x="2513769" y="0"/>
                </a:moveTo>
                <a:lnTo>
                  <a:pt x="0" y="0"/>
                </a:lnTo>
                <a:lnTo>
                  <a:pt x="0" y="387716"/>
                </a:lnTo>
                <a:lnTo>
                  <a:pt x="2513769" y="387716"/>
                </a:lnTo>
                <a:lnTo>
                  <a:pt x="25137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33" y="1226215"/>
              <a:ext cx="5545981" cy="29202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7810" y="1168073"/>
            <a:ext cx="365188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Data</a:t>
            </a:r>
            <a:r>
              <a:rPr spc="-15" dirty="0"/>
              <a:t> </a:t>
            </a:r>
            <a:r>
              <a:rPr spc="10" dirty="0"/>
              <a:t>Conversion</a:t>
            </a:r>
            <a:r>
              <a:rPr spc="-95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spc="5" dirty="0"/>
              <a:t>valueOf(</a:t>
            </a:r>
            <a:r>
              <a:rPr spc="-65" dirty="0"/>
              <a:t> </a:t>
            </a:r>
            <a:r>
              <a:rPr spc="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131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846" y="1591015"/>
              <a:ext cx="4629654" cy="28586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98" y="1223611"/>
              <a:ext cx="4352907" cy="29557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627" y="1726858"/>
              <a:ext cx="4492163" cy="22587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200" y="267171"/>
            <a:ext cx="2296795" cy="646430"/>
          </a:xfrm>
          <a:custGeom>
            <a:avLst/>
            <a:gdLst/>
            <a:ahLst/>
            <a:cxnLst/>
            <a:rect l="l" t="t" r="r" b="b"/>
            <a:pathLst>
              <a:path w="2296795" h="646430">
                <a:moveTo>
                  <a:pt x="2296409" y="0"/>
                </a:moveTo>
                <a:lnTo>
                  <a:pt x="0" y="0"/>
                </a:lnTo>
                <a:lnTo>
                  <a:pt x="0" y="645831"/>
                </a:lnTo>
                <a:lnTo>
                  <a:pt x="2296409" y="645831"/>
                </a:lnTo>
                <a:lnTo>
                  <a:pt x="22964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625" y="930012"/>
              <a:ext cx="5248968" cy="33480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9900" y="1168073"/>
            <a:ext cx="426085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" dirty="0"/>
              <a:t>Comparison</a:t>
            </a:r>
            <a:r>
              <a:rPr spc="-45" dirty="0"/>
              <a:t> </a:t>
            </a:r>
            <a:r>
              <a:rPr spc="5" dirty="0"/>
              <a:t>of</a:t>
            </a:r>
            <a:r>
              <a:rPr spc="-25" dirty="0"/>
              <a:t> </a:t>
            </a:r>
            <a:r>
              <a:rPr spc="-5" dirty="0"/>
              <a:t>String</a:t>
            </a:r>
            <a:r>
              <a:rPr spc="30" dirty="0"/>
              <a:t> </a:t>
            </a:r>
            <a:r>
              <a:rPr dirty="0"/>
              <a:t>Buffer</a:t>
            </a:r>
            <a:r>
              <a:rPr spc="-10" dirty="0"/>
              <a:t> </a:t>
            </a:r>
            <a:r>
              <a:rPr spc="10" dirty="0"/>
              <a:t>and</a:t>
            </a:r>
            <a:r>
              <a:rPr spc="-5" dirty="0"/>
              <a:t> </a:t>
            </a:r>
            <a:r>
              <a:rPr dirty="0"/>
              <a:t>String.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238" y="1600752"/>
            <a:ext cx="5757545" cy="28321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4945" marR="227965" indent="-182880">
              <a:lnSpc>
                <a:spcPct val="101699"/>
              </a:lnSpc>
              <a:spcBef>
                <a:spcPts val="8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StringBuffer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peer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15" dirty="0">
                <a:latin typeface="Arial MT"/>
                <a:cs typeface="Arial MT"/>
              </a:rPr>
              <a:t>class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that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provides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much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5" dirty="0">
                <a:latin typeface="Arial MT"/>
                <a:cs typeface="Arial MT"/>
              </a:rPr>
              <a:t>n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30" dirty="0">
                <a:latin typeface="Arial MT"/>
                <a:cs typeface="Arial MT"/>
              </a:rPr>
              <a:t>n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15" dirty="0">
                <a:latin typeface="Arial MT"/>
                <a:cs typeface="Arial MT"/>
              </a:rPr>
              <a:t>l</a:t>
            </a:r>
            <a:r>
              <a:rPr sz="1700" spc="-25" dirty="0">
                <a:latin typeface="Arial MT"/>
                <a:cs typeface="Arial MT"/>
              </a:rPr>
              <a:t>i</a:t>
            </a:r>
            <a:r>
              <a:rPr sz="1700" spc="5" dirty="0">
                <a:latin typeface="Arial MT"/>
                <a:cs typeface="Arial MT"/>
              </a:rPr>
              <a:t>ty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</a:t>
            </a:r>
            <a:r>
              <a:rPr sz="1700" spc="5" dirty="0">
                <a:latin typeface="Arial MT"/>
                <a:cs typeface="Arial MT"/>
              </a:rPr>
              <a:t>g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.</a:t>
            </a:r>
          </a:p>
          <a:p>
            <a:pPr marL="194945" marR="653415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String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represents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fixed-length,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immutable</a:t>
            </a:r>
            <a:r>
              <a:rPr sz="1700" spc="-14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sequences.</a:t>
            </a:r>
            <a:endParaRPr sz="1700" dirty="0">
              <a:latin typeface="Arial MT"/>
              <a:cs typeface="Arial MT"/>
            </a:endParaRPr>
          </a:p>
          <a:p>
            <a:pPr marL="194945" marR="88265" indent="-182880">
              <a:lnSpc>
                <a:spcPct val="100000"/>
              </a:lnSpc>
              <a:spcBef>
                <a:spcPts val="430"/>
              </a:spcBef>
              <a:buChar char="•"/>
              <a:tabLst>
                <a:tab pos="195580" algn="l"/>
              </a:tabLst>
            </a:pPr>
            <a:r>
              <a:rPr sz="1700" spc="5" dirty="0">
                <a:latin typeface="Arial MT"/>
                <a:cs typeface="Arial MT"/>
              </a:rPr>
              <a:t>StringBuffer</a:t>
            </a:r>
            <a:r>
              <a:rPr sz="1700" spc="-1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represents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growable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writeable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character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sequences.</a:t>
            </a:r>
            <a:endParaRPr sz="1700" dirty="0">
              <a:latin typeface="Arial MT"/>
              <a:cs typeface="Arial MT"/>
            </a:endParaRPr>
          </a:p>
          <a:p>
            <a:pPr marL="194945" marR="55244" indent="-182880">
              <a:lnSpc>
                <a:spcPct val="101699"/>
              </a:lnSpc>
              <a:spcBef>
                <a:spcPts val="359"/>
              </a:spcBef>
              <a:buChar char="•"/>
              <a:tabLst>
                <a:tab pos="195580" algn="l"/>
              </a:tabLst>
            </a:pP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StringBuffer</a:t>
            </a:r>
            <a:r>
              <a:rPr sz="17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10" dirty="0">
                <a:solidFill>
                  <a:srgbClr val="FF0000"/>
                </a:solidFill>
                <a:latin typeface="Arial MT"/>
                <a:cs typeface="Arial MT"/>
              </a:rPr>
              <a:t>may</a:t>
            </a:r>
            <a:r>
              <a:rPr sz="17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20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17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characters</a:t>
            </a:r>
            <a:r>
              <a:rPr sz="17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substrings</a:t>
            </a:r>
            <a:r>
              <a:rPr sz="17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inserted </a:t>
            </a:r>
            <a:r>
              <a:rPr sz="1700" spc="-4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1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7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7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10" dirty="0">
                <a:solidFill>
                  <a:srgbClr val="FF0000"/>
                </a:solidFill>
                <a:latin typeface="Arial MT"/>
                <a:cs typeface="Arial MT"/>
              </a:rPr>
              <a:t>middle</a:t>
            </a:r>
            <a:r>
              <a:rPr sz="17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17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appended</a:t>
            </a:r>
            <a:r>
              <a:rPr sz="17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7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end.</a:t>
            </a:r>
            <a:endParaRPr sz="17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395"/>
              </a:spcBef>
              <a:buChar char="•"/>
              <a:tabLst>
                <a:tab pos="195580" algn="l"/>
              </a:tabLst>
            </a:pPr>
            <a:r>
              <a:rPr sz="1700" spc="15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ng</a:t>
            </a:r>
            <a:r>
              <a:rPr sz="1700" spc="20" dirty="0">
                <a:latin typeface="Arial MT"/>
                <a:cs typeface="Arial MT"/>
              </a:rPr>
              <a:t>B</a:t>
            </a:r>
            <a:r>
              <a:rPr sz="1700" dirty="0">
                <a:latin typeface="Arial MT"/>
                <a:cs typeface="Arial MT"/>
              </a:rPr>
              <a:t>uff</a:t>
            </a:r>
            <a:r>
              <a:rPr sz="1700" spc="5" dirty="0">
                <a:latin typeface="Arial MT"/>
                <a:cs typeface="Arial MT"/>
              </a:rPr>
              <a:t>er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75" dirty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r>
              <a:rPr sz="1700" spc="15" dirty="0">
                <a:solidFill>
                  <a:srgbClr val="FF0000"/>
                </a:solidFill>
                <a:latin typeface="Arial MT"/>
                <a:cs typeface="Arial MT"/>
              </a:rPr>
              <a:t>il</a:t>
            </a:r>
            <a:r>
              <a:rPr sz="1700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17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uto</a:t>
            </a:r>
            <a:r>
              <a:rPr sz="1700" spc="15" dirty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1700" spc="20" dirty="0">
                <a:solidFill>
                  <a:srgbClr val="FF0000"/>
                </a:solidFill>
                <a:latin typeface="Arial MT"/>
                <a:cs typeface="Arial MT"/>
              </a:rPr>
              <a:t>ic</a:t>
            </a:r>
            <a:r>
              <a:rPr sz="1700" spc="-3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1700" spc="15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1700" spc="-25" dirty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y</a:t>
            </a:r>
            <a:r>
              <a:rPr sz="17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0000"/>
                </a:solidFill>
                <a:latin typeface="Arial MT"/>
                <a:cs typeface="Arial MT"/>
              </a:rPr>
              <a:t>g</a:t>
            </a:r>
            <a:r>
              <a:rPr sz="1700" spc="-10" dirty="0">
                <a:solidFill>
                  <a:srgbClr val="FF0000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1700" spc="10" dirty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r>
              <a:rPr sz="17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k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oo</a:t>
            </a:r>
            <a:r>
              <a:rPr sz="1700" spc="10" dirty="0">
                <a:latin typeface="Arial MT"/>
                <a:cs typeface="Arial MT"/>
              </a:rPr>
              <a:t>m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s</a:t>
            </a:r>
            <a:r>
              <a:rPr sz="1700" dirty="0">
                <a:latin typeface="Arial MT"/>
                <a:cs typeface="Arial MT"/>
              </a:rPr>
              <a:t>u</a:t>
            </a:r>
            <a:r>
              <a:rPr sz="1700" spc="-15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h 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ad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t</a:t>
            </a:r>
            <a:r>
              <a:rPr sz="1700" spc="15" dirty="0">
                <a:latin typeface="Arial MT"/>
                <a:cs typeface="Arial MT"/>
              </a:rPr>
              <a:t>i</a:t>
            </a:r>
            <a:r>
              <a:rPr sz="1700" dirty="0">
                <a:latin typeface="Arial MT"/>
                <a:cs typeface="Arial MT"/>
              </a:rPr>
              <a:t>on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5" dirty="0">
                <a:latin typeface="Arial MT"/>
                <a:cs typeface="Arial MT"/>
              </a:rPr>
              <a:t>d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40" dirty="0">
                <a:latin typeface="Arial MT"/>
                <a:cs typeface="Arial MT"/>
              </a:rPr>
              <a:t>f</a:t>
            </a:r>
            <a:r>
              <a:rPr sz="1700" spc="5" dirty="0">
                <a:latin typeface="Arial MT"/>
                <a:cs typeface="Arial MT"/>
              </a:rPr>
              <a:t>ten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ha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Arial MT"/>
                <a:cs typeface="Arial MT"/>
              </a:rPr>
              <a:t>m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dirty="0">
                <a:latin typeface="Arial MT"/>
                <a:cs typeface="Arial MT"/>
              </a:rPr>
              <a:t>ha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te</a:t>
            </a:r>
            <a:r>
              <a:rPr sz="1700" spc="-5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p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ea</a:t>
            </a:r>
            <a:r>
              <a:rPr sz="1700" spc="20" dirty="0">
                <a:latin typeface="Arial MT"/>
                <a:cs typeface="Arial MT"/>
              </a:rPr>
              <a:t>l</a:t>
            </a:r>
            <a:r>
              <a:rPr sz="1700" spc="15" dirty="0">
                <a:latin typeface="Arial MT"/>
                <a:cs typeface="Arial MT"/>
              </a:rPr>
              <a:t>l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-35" dirty="0">
                <a:latin typeface="Arial MT"/>
                <a:cs typeface="Arial MT"/>
              </a:rPr>
              <a:t>a</a:t>
            </a:r>
            <a:r>
              <a:rPr sz="1700" spc="5" dirty="0">
                <a:latin typeface="Arial MT"/>
                <a:cs typeface="Arial MT"/>
              </a:rPr>
              <a:t>ted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2660" y="4404216"/>
            <a:ext cx="486283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5" dirty="0">
                <a:latin typeface="Arial MT"/>
                <a:cs typeface="Arial MT"/>
              </a:rPr>
              <a:t>than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20" dirty="0">
                <a:latin typeface="Arial MT"/>
                <a:cs typeface="Arial MT"/>
              </a:rPr>
              <a:t>c</a:t>
            </a:r>
            <a:r>
              <a:rPr sz="1700" spc="5" dirty="0">
                <a:latin typeface="Arial MT"/>
                <a:cs typeface="Arial MT"/>
              </a:rPr>
              <a:t>tua</a:t>
            </a:r>
            <a:r>
              <a:rPr sz="1700" spc="15" dirty="0">
                <a:latin typeface="Arial MT"/>
                <a:cs typeface="Arial MT"/>
              </a:rPr>
              <a:t>ll</a:t>
            </a:r>
            <a:r>
              <a:rPr sz="1700" spc="5" dirty="0">
                <a:latin typeface="Arial MT"/>
                <a:cs typeface="Arial MT"/>
              </a:rPr>
              <a:t>y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ne</a:t>
            </a:r>
            <a:r>
              <a:rPr sz="1700" spc="5" dirty="0">
                <a:latin typeface="Arial MT"/>
                <a:cs typeface="Arial MT"/>
              </a:rPr>
              <a:t>e</a:t>
            </a:r>
            <a:r>
              <a:rPr sz="1700" dirty="0">
                <a:latin typeface="Arial MT"/>
                <a:cs typeface="Arial MT"/>
              </a:rPr>
              <a:t>de</a:t>
            </a:r>
            <a:r>
              <a:rPr sz="1700" spc="5" dirty="0">
                <a:latin typeface="Arial MT"/>
                <a:cs typeface="Arial MT"/>
              </a:rPr>
              <a:t>d,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15" dirty="0">
                <a:latin typeface="Arial MT"/>
                <a:cs typeface="Arial MT"/>
              </a:rPr>
              <a:t>ll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10" dirty="0">
                <a:latin typeface="Arial MT"/>
                <a:cs typeface="Arial MT"/>
              </a:rPr>
              <a:t>w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oo</a:t>
            </a:r>
            <a:r>
              <a:rPr sz="1700" spc="10" dirty="0">
                <a:latin typeface="Arial MT"/>
                <a:cs typeface="Arial MT"/>
              </a:rPr>
              <a:t>m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Arial MT"/>
                <a:cs typeface="Arial MT"/>
              </a:rPr>
              <a:t>f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5" dirty="0">
                <a:latin typeface="Arial MT"/>
                <a:cs typeface="Arial MT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 MT"/>
                <a:cs typeface="Arial MT"/>
              </a:rPr>
              <a:t>g</a:t>
            </a:r>
            <a:r>
              <a:rPr sz="1700" spc="-10" dirty="0">
                <a:latin typeface="Arial MT"/>
                <a:cs typeface="Arial MT"/>
              </a:rPr>
              <a:t>r</a:t>
            </a:r>
            <a:r>
              <a:rPr sz="1700" dirty="0">
                <a:latin typeface="Arial MT"/>
                <a:cs typeface="Arial MT"/>
              </a:rPr>
              <a:t>o</a:t>
            </a:r>
            <a:r>
              <a:rPr sz="1700" spc="-75" dirty="0">
                <a:latin typeface="Arial MT"/>
                <a:cs typeface="Arial MT"/>
              </a:rPr>
              <a:t>w</a:t>
            </a:r>
            <a:r>
              <a:rPr sz="1700" spc="5" dirty="0">
                <a:latin typeface="Arial MT"/>
                <a:cs typeface="Arial MT"/>
              </a:rPr>
              <a:t>th.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9913" y="4405904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135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04" y="1075563"/>
            <a:ext cx="6480175" cy="3645535"/>
          </a:xfrm>
          <a:custGeom>
            <a:avLst/>
            <a:gdLst/>
            <a:ahLst/>
            <a:cxnLst/>
            <a:rect l="l" t="t" r="r" b="b"/>
            <a:pathLst>
              <a:path w="6480175" h="3645535">
                <a:moveTo>
                  <a:pt x="0" y="0"/>
                </a:moveTo>
                <a:lnTo>
                  <a:pt x="6480048" y="0"/>
                </a:lnTo>
                <a:lnTo>
                  <a:pt x="6480048" y="3645027"/>
                </a:lnTo>
                <a:lnTo>
                  <a:pt x="0" y="3645027"/>
                </a:lnTo>
                <a:lnTo>
                  <a:pt x="0" y="0"/>
                </a:lnTo>
                <a:close/>
              </a:path>
            </a:pathLst>
          </a:custGeom>
          <a:ln w="10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55900" y="227854"/>
            <a:ext cx="2724785" cy="177165"/>
          </a:xfrm>
          <a:custGeom>
            <a:avLst/>
            <a:gdLst/>
            <a:ahLst/>
            <a:cxnLst/>
            <a:rect l="l" t="t" r="r" b="b"/>
            <a:pathLst>
              <a:path w="2724785" h="177165">
                <a:moveTo>
                  <a:pt x="2724337" y="0"/>
                </a:moveTo>
                <a:lnTo>
                  <a:pt x="0" y="0"/>
                </a:lnTo>
                <a:lnTo>
                  <a:pt x="0" y="177148"/>
                </a:lnTo>
                <a:lnTo>
                  <a:pt x="2724337" y="177148"/>
                </a:lnTo>
                <a:lnTo>
                  <a:pt x="2724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440" y="1218588"/>
              <a:ext cx="5317349" cy="26966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137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3502" y="1688003"/>
              <a:ext cx="5103037" cy="25372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28900" y="147849"/>
            <a:ext cx="2493645" cy="625475"/>
          </a:xfrm>
          <a:custGeom>
            <a:avLst/>
            <a:gdLst/>
            <a:ahLst/>
            <a:cxnLst/>
            <a:rect l="l" t="t" r="r" b="b"/>
            <a:pathLst>
              <a:path w="2493645" h="625475">
                <a:moveTo>
                  <a:pt x="2493392" y="0"/>
                </a:moveTo>
                <a:lnTo>
                  <a:pt x="0" y="0"/>
                </a:lnTo>
                <a:lnTo>
                  <a:pt x="0" y="625453"/>
                </a:lnTo>
                <a:lnTo>
                  <a:pt x="2493392" y="625453"/>
                </a:lnTo>
                <a:lnTo>
                  <a:pt x="24933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4555" y="725613"/>
            <a:ext cx="2757170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StringBuffer</a:t>
            </a:r>
            <a:r>
              <a:rPr spc="-20" dirty="0"/>
              <a:t> </a:t>
            </a:r>
            <a:r>
              <a:rPr spc="5" dirty="0"/>
              <a:t>Constructors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138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659" y="1298780"/>
              <a:ext cx="4624599" cy="18486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139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3502" y="1621414"/>
              <a:ext cx="4799285" cy="30045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3500" y="143424"/>
            <a:ext cx="2317115" cy="693420"/>
          </a:xfrm>
          <a:custGeom>
            <a:avLst/>
            <a:gdLst/>
            <a:ahLst/>
            <a:cxnLst/>
            <a:rect l="l" t="t" r="r" b="b"/>
            <a:pathLst>
              <a:path w="2317115" h="693419">
                <a:moveTo>
                  <a:pt x="2316786" y="0"/>
                </a:moveTo>
                <a:lnTo>
                  <a:pt x="0" y="0"/>
                </a:lnTo>
                <a:lnTo>
                  <a:pt x="0" y="693378"/>
                </a:lnTo>
                <a:lnTo>
                  <a:pt x="2316786" y="693378"/>
                </a:lnTo>
                <a:lnTo>
                  <a:pt x="2316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721" y="1265836"/>
              <a:ext cx="5227033" cy="250257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141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845" y="1581698"/>
              <a:ext cx="4460897" cy="28865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7800" y="169687"/>
            <a:ext cx="2364740" cy="387985"/>
          </a:xfrm>
          <a:custGeom>
            <a:avLst/>
            <a:gdLst/>
            <a:ahLst/>
            <a:cxnLst/>
            <a:rect l="l" t="t" r="r" b="b"/>
            <a:pathLst>
              <a:path w="2364740" h="387984">
                <a:moveTo>
                  <a:pt x="2364334" y="0"/>
                </a:moveTo>
                <a:lnTo>
                  <a:pt x="0" y="0"/>
                </a:lnTo>
                <a:lnTo>
                  <a:pt x="0" y="387716"/>
                </a:lnTo>
                <a:lnTo>
                  <a:pt x="2364334" y="387716"/>
                </a:lnTo>
                <a:lnTo>
                  <a:pt x="23643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815" y="1308858"/>
              <a:ext cx="5556981" cy="2730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534" y="1698175"/>
              <a:ext cx="4753730" cy="27185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41600" y="79326"/>
            <a:ext cx="2752090" cy="605155"/>
          </a:xfrm>
          <a:custGeom>
            <a:avLst/>
            <a:gdLst/>
            <a:ahLst/>
            <a:cxnLst/>
            <a:rect l="l" t="t" r="r" b="b"/>
            <a:pathLst>
              <a:path w="2752090" h="605155">
                <a:moveTo>
                  <a:pt x="2751507" y="0"/>
                </a:moveTo>
                <a:lnTo>
                  <a:pt x="0" y="0"/>
                </a:lnTo>
                <a:lnTo>
                  <a:pt x="0" y="605076"/>
                </a:lnTo>
                <a:lnTo>
                  <a:pt x="2751507" y="605076"/>
                </a:lnTo>
                <a:lnTo>
                  <a:pt x="27515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110" y="1624463"/>
              <a:ext cx="4969013" cy="12322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145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158" y="1695664"/>
              <a:ext cx="4843155" cy="29033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7800" y="93797"/>
            <a:ext cx="2099945" cy="578485"/>
          </a:xfrm>
          <a:custGeom>
            <a:avLst/>
            <a:gdLst/>
            <a:ahLst/>
            <a:cxnLst/>
            <a:rect l="l" t="t" r="r" b="b"/>
            <a:pathLst>
              <a:path w="2099945" h="578485">
                <a:moveTo>
                  <a:pt x="2099426" y="0"/>
                </a:moveTo>
                <a:lnTo>
                  <a:pt x="0" y="0"/>
                </a:lnTo>
                <a:lnTo>
                  <a:pt x="0" y="577906"/>
                </a:lnTo>
                <a:lnTo>
                  <a:pt x="2099426" y="577906"/>
                </a:lnTo>
                <a:lnTo>
                  <a:pt x="20994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565" y="1257389"/>
              <a:ext cx="4278727" cy="25076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147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158" y="1734480"/>
              <a:ext cx="5076032" cy="26215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148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782" y="1213519"/>
              <a:ext cx="4789970" cy="28147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149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531" y="1563166"/>
              <a:ext cx="5046466" cy="30678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92400" y="171767"/>
            <a:ext cx="2568575" cy="551180"/>
          </a:xfrm>
          <a:custGeom>
            <a:avLst/>
            <a:gdLst/>
            <a:ahLst/>
            <a:cxnLst/>
            <a:rect l="l" t="t" r="r" b="b"/>
            <a:pathLst>
              <a:path w="2568575" h="551180">
                <a:moveTo>
                  <a:pt x="2568109" y="0"/>
                </a:moveTo>
                <a:lnTo>
                  <a:pt x="0" y="0"/>
                </a:lnTo>
                <a:lnTo>
                  <a:pt x="0" y="550736"/>
                </a:lnTo>
                <a:lnTo>
                  <a:pt x="2568109" y="550736"/>
                </a:lnTo>
                <a:lnTo>
                  <a:pt x="25681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150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66" y="1348523"/>
              <a:ext cx="4535986" cy="2614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151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158" y="1744577"/>
              <a:ext cx="3618831" cy="28265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17800" y="192144"/>
            <a:ext cx="2303780" cy="530860"/>
          </a:xfrm>
          <a:custGeom>
            <a:avLst/>
            <a:gdLst/>
            <a:ahLst/>
            <a:cxnLst/>
            <a:rect l="l" t="t" r="r" b="b"/>
            <a:pathLst>
              <a:path w="2303779" h="530860">
                <a:moveTo>
                  <a:pt x="2303202" y="0"/>
                </a:moveTo>
                <a:lnTo>
                  <a:pt x="0" y="0"/>
                </a:lnTo>
                <a:lnTo>
                  <a:pt x="0" y="530358"/>
                </a:lnTo>
                <a:lnTo>
                  <a:pt x="2303202" y="530358"/>
                </a:lnTo>
                <a:lnTo>
                  <a:pt x="23032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152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814" y="1114839"/>
              <a:ext cx="4590028" cy="30619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00" y="1075475"/>
            <a:ext cx="6480047" cy="6834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69913" y="440590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153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1070165"/>
            <a:ext cx="6490970" cy="3656329"/>
            <a:chOff x="534606" y="1070165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22" y="1742886"/>
              <a:ext cx="4866791" cy="24502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1075563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20161" y="283175"/>
            <a:ext cx="19202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Prepared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Sharika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SNGCE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7000" y="250024"/>
            <a:ext cx="2344420" cy="422275"/>
          </a:xfrm>
          <a:custGeom>
            <a:avLst/>
            <a:gdLst/>
            <a:ahLst/>
            <a:cxnLst/>
            <a:rect l="l" t="t" r="r" b="b"/>
            <a:pathLst>
              <a:path w="2344420" h="422275">
                <a:moveTo>
                  <a:pt x="2343956" y="0"/>
                </a:moveTo>
                <a:lnTo>
                  <a:pt x="0" y="0"/>
                </a:lnTo>
                <a:lnTo>
                  <a:pt x="0" y="421678"/>
                </a:lnTo>
                <a:lnTo>
                  <a:pt x="2343956" y="421678"/>
                </a:lnTo>
                <a:lnTo>
                  <a:pt x="2343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1DBF8-E2AA-B80F-7782-F17E7BE44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850" y="1135252"/>
            <a:ext cx="7238999" cy="3367589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800" b="1" spc="-280" dirty="0">
                <a:solidFill>
                  <a:schemeClr val="bg1"/>
                </a:solidFill>
                <a:cs typeface="Times New Roman"/>
              </a:rPr>
              <a:t>		              </a:t>
            </a:r>
            <a:endParaRPr lang="en-US" sz="1800" dirty="0">
              <a:solidFill>
                <a:schemeClr val="bg1"/>
              </a:solidFill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287020" marR="19685" indent="-274320" algn="just">
              <a:lnSpc>
                <a:spcPct val="100000"/>
              </a:lnSpc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lang="en-US" sz="1800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17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Collection</a:t>
            </a:r>
            <a:r>
              <a:rPr lang="en-US" sz="1800" spc="20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in</a:t>
            </a:r>
            <a:r>
              <a:rPr lang="en-US" sz="1800" spc="1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70" dirty="0">
                <a:solidFill>
                  <a:schemeClr val="tx1"/>
                </a:solidFill>
                <a:cs typeface="Times New Roman"/>
              </a:rPr>
              <a:t>Java</a:t>
            </a:r>
            <a:r>
              <a:rPr lang="en-US" sz="1800" spc="17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is</a:t>
            </a:r>
            <a:r>
              <a:rPr lang="en-US" sz="1800" spc="1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1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65" dirty="0">
                <a:solidFill>
                  <a:schemeClr val="tx1"/>
                </a:solidFill>
                <a:cs typeface="Times New Roman"/>
              </a:rPr>
              <a:t>framework</a:t>
            </a:r>
            <a:r>
              <a:rPr lang="en-US" sz="1800" spc="18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that</a:t>
            </a:r>
            <a:r>
              <a:rPr lang="en-US" sz="1800" spc="19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provides</a:t>
            </a:r>
            <a:r>
              <a:rPr lang="en-US" sz="1800" spc="204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5" dirty="0">
                <a:solidFill>
                  <a:schemeClr val="tx1"/>
                </a:solidFill>
                <a:cs typeface="Times New Roman"/>
              </a:rPr>
              <a:t>an </a:t>
            </a:r>
            <a:r>
              <a:rPr lang="en-US" sz="1800" spc="-90" dirty="0">
                <a:solidFill>
                  <a:schemeClr val="tx1"/>
                </a:solidFill>
                <a:cs typeface="Times New Roman"/>
              </a:rPr>
              <a:t>architecture</a:t>
            </a:r>
            <a:r>
              <a:rPr lang="en-US" sz="1800" spc="-10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to</a:t>
            </a:r>
            <a:r>
              <a:rPr lang="en-US" sz="1800" spc="-6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0" dirty="0">
                <a:solidFill>
                  <a:schemeClr val="tx1"/>
                </a:solidFill>
                <a:cs typeface="Times New Roman"/>
              </a:rPr>
              <a:t>store</a:t>
            </a:r>
            <a:r>
              <a:rPr lang="en-US" sz="1800" spc="-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60" dirty="0">
                <a:solidFill>
                  <a:schemeClr val="tx1"/>
                </a:solidFill>
                <a:cs typeface="Times New Roman"/>
              </a:rPr>
              <a:t>and</a:t>
            </a:r>
            <a:r>
              <a:rPr lang="en-US" sz="1800" spc="-8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30" dirty="0">
                <a:solidFill>
                  <a:schemeClr val="tx1"/>
                </a:solidFill>
                <a:cs typeface="Times New Roman"/>
              </a:rPr>
              <a:t>manipulate </a:t>
            </a:r>
            <a:r>
              <a:rPr lang="en-US" sz="1800" spc="-70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-6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20" dirty="0">
                <a:solidFill>
                  <a:schemeClr val="tx1"/>
                </a:solidFill>
                <a:cs typeface="Times New Roman"/>
              </a:rPr>
              <a:t>group</a:t>
            </a:r>
            <a:r>
              <a:rPr lang="en-US" sz="1800" spc="-8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65" dirty="0">
                <a:solidFill>
                  <a:schemeClr val="tx1"/>
                </a:solidFill>
                <a:cs typeface="Times New Roman"/>
              </a:rPr>
              <a:t>of</a:t>
            </a:r>
            <a:r>
              <a:rPr lang="en-US" sz="1800" spc="-10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" dirty="0">
                <a:solidFill>
                  <a:schemeClr val="tx1"/>
                </a:solidFill>
                <a:cs typeface="Times New Roman"/>
              </a:rPr>
              <a:t>objects.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lang="en-US" sz="1800" spc="-265" dirty="0">
                <a:solidFill>
                  <a:schemeClr val="tx1"/>
                </a:solidFill>
                <a:cs typeface="Times New Roman"/>
              </a:rPr>
              <a:t>Java</a:t>
            </a:r>
            <a:r>
              <a:rPr lang="en-US" sz="1800" spc="18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Collections</a:t>
            </a:r>
            <a:r>
              <a:rPr lang="en-US" sz="1800" spc="18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can</a:t>
            </a:r>
            <a:r>
              <a:rPr lang="en-US" sz="1800" spc="18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5" dirty="0">
                <a:solidFill>
                  <a:schemeClr val="tx1"/>
                </a:solidFill>
                <a:cs typeface="Times New Roman"/>
              </a:rPr>
              <a:t>achieve</a:t>
            </a:r>
            <a:r>
              <a:rPr lang="en-US" sz="1800" spc="17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all</a:t>
            </a:r>
            <a:r>
              <a:rPr lang="en-US" sz="1800" spc="17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800" spc="17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40" dirty="0">
                <a:solidFill>
                  <a:schemeClr val="tx1"/>
                </a:solidFill>
                <a:cs typeface="Times New Roman"/>
              </a:rPr>
              <a:t>operations</a:t>
            </a:r>
            <a:r>
              <a:rPr lang="en-US" sz="1800" spc="18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that</a:t>
            </a:r>
            <a:r>
              <a:rPr lang="en-US" sz="1800" spc="16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5" dirty="0">
                <a:solidFill>
                  <a:schemeClr val="tx1"/>
                </a:solidFill>
                <a:cs typeface="Times New Roman"/>
              </a:rPr>
              <a:t>you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perform</a:t>
            </a:r>
            <a:r>
              <a:rPr lang="en-US" sz="1800" spc="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on</a:t>
            </a:r>
            <a:r>
              <a:rPr lang="en-US" sz="1800" spc="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data</a:t>
            </a:r>
            <a:r>
              <a:rPr lang="en-US" sz="1800" spc="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such</a:t>
            </a:r>
            <a:r>
              <a:rPr lang="en-US" sz="1800" spc="8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as</a:t>
            </a:r>
            <a:r>
              <a:rPr lang="en-US" sz="1800" spc="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70" dirty="0">
                <a:solidFill>
                  <a:schemeClr val="tx1"/>
                </a:solidFill>
                <a:cs typeface="Times New Roman"/>
              </a:rPr>
              <a:t>searching,</a:t>
            </a:r>
            <a:r>
              <a:rPr lang="en-US" sz="1800" spc="1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sorting,</a:t>
            </a:r>
            <a:r>
              <a:rPr lang="en-US" sz="1800" spc="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40" dirty="0">
                <a:solidFill>
                  <a:schemeClr val="tx1"/>
                </a:solidFill>
                <a:cs typeface="Times New Roman"/>
              </a:rPr>
              <a:t>insertion, </a:t>
            </a:r>
            <a:r>
              <a:rPr lang="en-US" sz="1800" spc="-114" dirty="0">
                <a:solidFill>
                  <a:schemeClr val="tx1"/>
                </a:solidFill>
                <a:cs typeface="Times New Roman"/>
              </a:rPr>
              <a:t>manipulation,</a:t>
            </a:r>
            <a:r>
              <a:rPr lang="en-US" sz="1800" spc="-19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60" dirty="0">
                <a:solidFill>
                  <a:schemeClr val="tx1"/>
                </a:solidFill>
                <a:cs typeface="Times New Roman"/>
              </a:rPr>
              <a:t>and</a:t>
            </a:r>
            <a:r>
              <a:rPr lang="en-US" sz="1800" spc="-3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" dirty="0">
                <a:solidFill>
                  <a:schemeClr val="tx1"/>
                </a:solidFill>
                <a:cs typeface="Times New Roman"/>
              </a:rPr>
              <a:t>deletion.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pPr marL="287020" marR="635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lang="en-US" sz="1800" spc="-265" dirty="0">
                <a:solidFill>
                  <a:schemeClr val="tx1"/>
                </a:solidFill>
                <a:cs typeface="Times New Roman"/>
              </a:rPr>
              <a:t>Java</a:t>
            </a:r>
            <a:r>
              <a:rPr lang="en-US" sz="1800" spc="61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Collection</a:t>
            </a:r>
            <a:r>
              <a:rPr lang="en-US" sz="1800" spc="62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means</a:t>
            </a:r>
            <a:r>
              <a:rPr lang="en-US" sz="1800" spc="6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</a:t>
            </a:r>
            <a:r>
              <a:rPr lang="en-US" sz="1800" spc="6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single</a:t>
            </a:r>
            <a:r>
              <a:rPr lang="en-US" sz="1800" spc="60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unit</a:t>
            </a:r>
            <a:r>
              <a:rPr lang="en-US" sz="1800" spc="61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of</a:t>
            </a:r>
            <a:r>
              <a:rPr lang="en-US" sz="1800" spc="61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objects.</a:t>
            </a:r>
            <a:r>
              <a:rPr lang="en-US" sz="1800" spc="53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290" dirty="0">
                <a:solidFill>
                  <a:schemeClr val="tx1"/>
                </a:solidFill>
                <a:cs typeface="Times New Roman"/>
              </a:rPr>
              <a:t>Java </a:t>
            </a:r>
            <a:r>
              <a:rPr lang="en-US" sz="1800" spc="-65" dirty="0">
                <a:solidFill>
                  <a:schemeClr val="tx1"/>
                </a:solidFill>
                <a:cs typeface="Times New Roman"/>
              </a:rPr>
              <a:t>Collection</a:t>
            </a:r>
            <a:r>
              <a:rPr lang="en-US" sz="1800" spc="-3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5" dirty="0">
                <a:solidFill>
                  <a:schemeClr val="tx1"/>
                </a:solidFill>
                <a:cs typeface="Times New Roman"/>
              </a:rPr>
              <a:t>framework</a:t>
            </a:r>
            <a:r>
              <a:rPr lang="en-US" sz="1800" spc="-5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0" dirty="0">
                <a:solidFill>
                  <a:schemeClr val="tx1"/>
                </a:solidFill>
                <a:cs typeface="Times New Roman"/>
              </a:rPr>
              <a:t>provides</a:t>
            </a:r>
            <a:r>
              <a:rPr lang="en-US" sz="1800" spc="-4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14" dirty="0">
                <a:solidFill>
                  <a:schemeClr val="tx1"/>
                </a:solidFill>
                <a:cs typeface="Times New Roman"/>
              </a:rPr>
              <a:t>many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95" dirty="0">
                <a:solidFill>
                  <a:schemeClr val="tx1"/>
                </a:solidFill>
                <a:cs typeface="Times New Roman"/>
              </a:rPr>
              <a:t>interfaces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0" dirty="0">
                <a:solidFill>
                  <a:schemeClr val="tx1"/>
                </a:solidFill>
                <a:cs typeface="Times New Roman"/>
              </a:rPr>
              <a:t>(Set,</a:t>
            </a:r>
            <a:r>
              <a:rPr lang="en-US" sz="1800" spc="-1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0" dirty="0">
                <a:solidFill>
                  <a:schemeClr val="tx1"/>
                </a:solidFill>
                <a:cs typeface="Times New Roman"/>
              </a:rPr>
              <a:t>List, </a:t>
            </a:r>
            <a:r>
              <a:rPr lang="en-US" sz="1800" spc="-10" dirty="0">
                <a:solidFill>
                  <a:schemeClr val="tx1"/>
                </a:solidFill>
                <a:cs typeface="Times New Roman"/>
              </a:rPr>
              <a:t>Queue,</a:t>
            </a:r>
            <a:r>
              <a:rPr lang="en-US" sz="1800" spc="-16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55" dirty="0">
                <a:solidFill>
                  <a:schemeClr val="tx1"/>
                </a:solidFill>
                <a:cs typeface="Times New Roman"/>
              </a:rPr>
              <a:t>Deque)</a:t>
            </a:r>
            <a:r>
              <a:rPr lang="en-US" sz="1800" spc="-12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dirty="0">
                <a:solidFill>
                  <a:schemeClr val="tx1"/>
                </a:solidFill>
                <a:cs typeface="Times New Roman"/>
              </a:rPr>
              <a:t>and</a:t>
            </a:r>
            <a:r>
              <a:rPr lang="en-US" sz="1800" spc="-5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45" dirty="0">
                <a:solidFill>
                  <a:schemeClr val="tx1"/>
                </a:solidFill>
                <a:cs typeface="Times New Roman"/>
              </a:rPr>
              <a:t>classes</a:t>
            </a:r>
            <a:r>
              <a:rPr lang="en-US" sz="1800" spc="-3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14" dirty="0">
                <a:solidFill>
                  <a:schemeClr val="tx1"/>
                </a:solidFill>
                <a:cs typeface="Times New Roman"/>
              </a:rPr>
              <a:t>(ArrayList,</a:t>
            </a:r>
            <a:r>
              <a:rPr lang="en-US" sz="1800" spc="-6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40" dirty="0">
                <a:solidFill>
                  <a:schemeClr val="tx1"/>
                </a:solidFill>
                <a:cs typeface="Times New Roman"/>
              </a:rPr>
              <a:t>Vector,</a:t>
            </a:r>
            <a:r>
              <a:rPr lang="en-US" sz="18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20" dirty="0">
                <a:solidFill>
                  <a:schemeClr val="tx1"/>
                </a:solidFill>
                <a:cs typeface="Times New Roman"/>
              </a:rPr>
              <a:t>LinkedList, </a:t>
            </a:r>
            <a:r>
              <a:rPr lang="en-US" sz="1800" spc="-80" dirty="0" err="1">
                <a:solidFill>
                  <a:schemeClr val="tx1"/>
                </a:solidFill>
                <a:cs typeface="Times New Roman"/>
              </a:rPr>
              <a:t>PriorityQueue</a:t>
            </a:r>
            <a:r>
              <a:rPr lang="en-US" sz="1800" spc="-80" dirty="0">
                <a:solidFill>
                  <a:schemeClr val="tx1"/>
                </a:solidFill>
                <a:cs typeface="Times New Roman"/>
              </a:rPr>
              <a:t>,</a:t>
            </a:r>
            <a:r>
              <a:rPr lang="en-US" sz="1800" spc="-180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150" dirty="0">
                <a:solidFill>
                  <a:schemeClr val="tx1"/>
                </a:solidFill>
                <a:cs typeface="Times New Roman"/>
              </a:rPr>
              <a:t>HashSet,</a:t>
            </a:r>
            <a:r>
              <a:rPr lang="en-US" sz="1800" spc="-155" dirty="0">
                <a:solidFill>
                  <a:schemeClr val="tx1"/>
                </a:solidFill>
                <a:cs typeface="Times New Roman"/>
              </a:rPr>
              <a:t> </a:t>
            </a:r>
            <a:r>
              <a:rPr lang="en-US" sz="1800" spc="-85" dirty="0" err="1">
                <a:solidFill>
                  <a:schemeClr val="tx1"/>
                </a:solidFill>
                <a:cs typeface="Times New Roman"/>
              </a:rPr>
              <a:t>LinkedHashSet,TreeSet</a:t>
            </a:r>
            <a:r>
              <a:rPr lang="en-US" sz="1800" spc="-85" dirty="0">
                <a:solidFill>
                  <a:schemeClr val="tx1"/>
                </a:solidFill>
                <a:cs typeface="Times New Roman"/>
              </a:rPr>
              <a:t>).</a:t>
            </a:r>
            <a:endParaRPr lang="en-US" sz="1800" dirty="0">
              <a:solidFill>
                <a:schemeClr val="tx1"/>
              </a:solidFill>
              <a:cs typeface="Times New Roman"/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8754385-C0D3-8FD7-1AF1-9FAF6AFFF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7251" y="1168073"/>
            <a:ext cx="3265792" cy="3071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5" dirty="0"/>
              <a:t>Collections</a:t>
            </a:r>
            <a:r>
              <a:rPr spc="-10" dirty="0"/>
              <a:t> </a:t>
            </a:r>
            <a:r>
              <a:rPr lang="en-US" spc="-10" dirty="0"/>
              <a:t>in Java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61663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3050" y="1612901"/>
            <a:ext cx="7162799" cy="2970316"/>
          </a:xfrm>
          <a:prstGeom prst="rect">
            <a:avLst/>
          </a:prstGeom>
        </p:spPr>
        <p:txBody>
          <a:bodyPr vert="horz" wrap="square" lIns="0" tIns="68977" rIns="0" bIns="0" rtlCol="0">
            <a:spAutoFit/>
          </a:bodyPr>
          <a:lstStyle/>
          <a:p>
            <a:pPr marL="224306" marR="3970" indent="-214381">
              <a:lnSpc>
                <a:spcPct val="101000"/>
              </a:lnSpc>
              <a:spcBef>
                <a:spcPts val="59"/>
              </a:spcBef>
            </a:pPr>
            <a:r>
              <a:rPr lang="en-US" sz="1600" dirty="0">
                <a:latin typeface="Arial MT"/>
              </a:rPr>
              <a:t>Collection</a:t>
            </a:r>
            <a:r>
              <a:rPr lang="en-US" sz="1600" spc="-55" dirty="0">
                <a:latin typeface="Arial MT"/>
              </a:rPr>
              <a:t> </a:t>
            </a:r>
            <a:r>
              <a:rPr lang="en-US" sz="1600" dirty="0">
                <a:latin typeface="Arial MT"/>
              </a:rPr>
              <a:t>in</a:t>
            </a:r>
            <a:r>
              <a:rPr lang="en-US" sz="1600" spc="-55" dirty="0">
                <a:latin typeface="Arial MT"/>
              </a:rPr>
              <a:t> </a:t>
            </a:r>
            <a:r>
              <a:rPr lang="en-US" sz="1600" spc="-148" dirty="0">
                <a:latin typeface="Arial MT"/>
              </a:rPr>
              <a:t>Java</a:t>
            </a:r>
            <a:r>
              <a:rPr lang="en-US" sz="1600" spc="-43" dirty="0">
                <a:latin typeface="Arial MT"/>
              </a:rPr>
              <a:t> </a:t>
            </a:r>
            <a:r>
              <a:rPr lang="en-US" sz="1600" dirty="0">
                <a:latin typeface="Arial MT"/>
                <a:cs typeface="Times New Roman"/>
              </a:rPr>
              <a:t>-</a:t>
            </a:r>
            <a:r>
              <a:rPr lang="en-US" sz="1600" spc="-31" dirty="0">
                <a:latin typeface="Arial MT"/>
                <a:cs typeface="Times New Roman"/>
              </a:rPr>
              <a:t> </a:t>
            </a:r>
            <a:r>
              <a:rPr lang="en-US" sz="1600" spc="-94" dirty="0">
                <a:latin typeface="Arial MT"/>
                <a:cs typeface="Times New Roman"/>
              </a:rPr>
              <a:t>Represents</a:t>
            </a:r>
            <a:r>
              <a:rPr lang="en-US" sz="1600" spc="-12" dirty="0">
                <a:latin typeface="Arial MT"/>
                <a:cs typeface="Times New Roman"/>
              </a:rPr>
              <a:t> </a:t>
            </a:r>
            <a:r>
              <a:rPr lang="en-US" sz="1600" spc="-168" dirty="0">
                <a:latin typeface="Arial MT"/>
                <a:cs typeface="Times New Roman"/>
              </a:rPr>
              <a:t>a</a:t>
            </a:r>
            <a:r>
              <a:rPr lang="en-US" sz="1600" spc="-4" dirty="0">
                <a:latin typeface="Arial MT"/>
                <a:cs typeface="Times New Roman"/>
              </a:rPr>
              <a:t> </a:t>
            </a:r>
            <a:r>
              <a:rPr lang="en-US" sz="1600" spc="-125" dirty="0">
                <a:latin typeface="Arial MT"/>
                <a:cs typeface="Times New Roman"/>
              </a:rPr>
              <a:t>single</a:t>
            </a:r>
            <a:r>
              <a:rPr lang="en-US" sz="1600" spc="-31" dirty="0">
                <a:latin typeface="Arial MT"/>
                <a:cs typeface="Times New Roman"/>
              </a:rPr>
              <a:t> </a:t>
            </a:r>
            <a:r>
              <a:rPr lang="en-US" sz="1600" spc="-59" dirty="0">
                <a:latin typeface="Arial MT"/>
                <a:cs typeface="Times New Roman"/>
              </a:rPr>
              <a:t>unit</a:t>
            </a:r>
            <a:r>
              <a:rPr lang="en-US" sz="1600" spc="16" dirty="0">
                <a:latin typeface="Arial MT"/>
                <a:cs typeface="Times New Roman"/>
              </a:rPr>
              <a:t> </a:t>
            </a:r>
            <a:r>
              <a:rPr lang="en-US" sz="1600" spc="-133" dirty="0">
                <a:latin typeface="Arial MT"/>
                <a:cs typeface="Times New Roman"/>
              </a:rPr>
              <a:t>of</a:t>
            </a:r>
            <a:r>
              <a:rPr lang="en-US" sz="1600" spc="-20" dirty="0">
                <a:latin typeface="Arial MT"/>
                <a:cs typeface="Times New Roman"/>
              </a:rPr>
              <a:t> </a:t>
            </a:r>
            <a:r>
              <a:rPr lang="en-US" sz="1600" spc="-78" dirty="0">
                <a:latin typeface="Arial MT"/>
                <a:cs typeface="Times New Roman"/>
              </a:rPr>
              <a:t>objects,</a:t>
            </a:r>
            <a:r>
              <a:rPr lang="en-US" sz="1600" spc="-98" dirty="0">
                <a:latin typeface="Arial MT"/>
                <a:cs typeface="Times New Roman"/>
              </a:rPr>
              <a:t> </a:t>
            </a:r>
            <a:r>
              <a:rPr lang="en-US" sz="1600" dirty="0">
                <a:latin typeface="Arial MT"/>
                <a:cs typeface="Times New Roman"/>
              </a:rPr>
              <a:t>i.e.,</a:t>
            </a:r>
            <a:r>
              <a:rPr lang="en-US" sz="1600" spc="-125" dirty="0">
                <a:latin typeface="Arial MT"/>
                <a:cs typeface="Times New Roman"/>
              </a:rPr>
              <a:t> </a:t>
            </a:r>
            <a:r>
              <a:rPr lang="en-US" sz="1600" spc="-39" dirty="0">
                <a:latin typeface="Arial MT"/>
                <a:cs typeface="Times New Roman"/>
              </a:rPr>
              <a:t>a </a:t>
            </a:r>
            <a:r>
              <a:rPr lang="en-US" sz="1600" spc="-8" dirty="0">
                <a:latin typeface="Arial MT"/>
                <a:cs typeface="Times New Roman"/>
              </a:rPr>
              <a:t>group.</a:t>
            </a:r>
            <a:endParaRPr lang="en-US" sz="1600" dirty="0">
              <a:latin typeface="Arial MT"/>
              <a:cs typeface="Times New Roman"/>
            </a:endParaRPr>
          </a:p>
          <a:p>
            <a:pPr marL="9925">
              <a:spcBef>
                <a:spcPts val="445"/>
              </a:spcBef>
            </a:pPr>
            <a:r>
              <a:rPr lang="en-US" sz="1600" b="1" spc="-31" dirty="0">
                <a:latin typeface="Arial MT"/>
              </a:rPr>
              <a:t>Framework</a:t>
            </a:r>
            <a:r>
              <a:rPr lang="en-US" sz="1600" b="1" spc="-70" dirty="0">
                <a:latin typeface="Arial MT"/>
              </a:rPr>
              <a:t> </a:t>
            </a:r>
            <a:r>
              <a:rPr lang="en-US" sz="1600" b="1" dirty="0">
                <a:latin typeface="Arial MT"/>
              </a:rPr>
              <a:t>in</a:t>
            </a:r>
            <a:r>
              <a:rPr lang="en-US" sz="1600" b="1" spc="-47" dirty="0">
                <a:latin typeface="Arial MT"/>
              </a:rPr>
              <a:t> </a:t>
            </a:r>
            <a:r>
              <a:rPr lang="en-US" sz="1600" b="1" spc="-16" dirty="0">
                <a:latin typeface="Arial MT"/>
              </a:rPr>
              <a:t>Java</a:t>
            </a:r>
            <a:endParaRPr lang="en-US" sz="1600" b="1" spc="-39" dirty="0">
              <a:latin typeface="Arial MT"/>
              <a:cs typeface="Times New Roman"/>
            </a:endParaRPr>
          </a:p>
          <a:p>
            <a:pPr marL="280879" indent="-270954">
              <a:spcBef>
                <a:spcPts val="543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0879" algn="l"/>
              </a:tabLst>
            </a:pPr>
            <a:r>
              <a:rPr sz="1600" spc="-39" dirty="0">
                <a:latin typeface="Arial MT"/>
                <a:cs typeface="Times New Roman"/>
              </a:rPr>
              <a:t>It</a:t>
            </a:r>
            <a:r>
              <a:rPr sz="1600" spc="-35" dirty="0">
                <a:latin typeface="Arial MT"/>
                <a:cs typeface="Times New Roman"/>
              </a:rPr>
              <a:t> </a:t>
            </a:r>
            <a:r>
              <a:rPr sz="1600" spc="-113" dirty="0">
                <a:latin typeface="Arial MT"/>
                <a:cs typeface="Times New Roman"/>
              </a:rPr>
              <a:t>provides</a:t>
            </a:r>
            <a:r>
              <a:rPr sz="1600" spc="-20" dirty="0">
                <a:latin typeface="Arial MT"/>
                <a:cs typeface="Times New Roman"/>
              </a:rPr>
              <a:t> </a:t>
            </a:r>
            <a:r>
              <a:rPr sz="1600" spc="-121" dirty="0">
                <a:latin typeface="Arial MT"/>
                <a:cs typeface="Times New Roman"/>
              </a:rPr>
              <a:t>readymade</a:t>
            </a:r>
            <a:r>
              <a:rPr sz="1600" dirty="0">
                <a:latin typeface="Arial MT"/>
                <a:cs typeface="Times New Roman"/>
              </a:rPr>
              <a:t> </a:t>
            </a:r>
            <a:r>
              <a:rPr sz="1600" spc="-8" dirty="0">
                <a:latin typeface="Arial MT"/>
                <a:cs typeface="Times New Roman"/>
              </a:rPr>
              <a:t>architecture.</a:t>
            </a:r>
            <a:endParaRPr sz="1600" dirty="0">
              <a:latin typeface="Arial MT"/>
              <a:cs typeface="Times New Roman"/>
            </a:endParaRPr>
          </a:p>
          <a:p>
            <a:pPr marL="281375" indent="-271450">
              <a:spcBef>
                <a:spcPts val="469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1375" algn="l"/>
              </a:tabLst>
            </a:pPr>
            <a:r>
              <a:rPr sz="1600" spc="-39" dirty="0">
                <a:latin typeface="Arial MT"/>
                <a:cs typeface="Times New Roman"/>
              </a:rPr>
              <a:t>It</a:t>
            </a:r>
            <a:r>
              <a:rPr sz="1600" spc="-27" dirty="0">
                <a:latin typeface="Arial MT"/>
                <a:cs typeface="Times New Roman"/>
              </a:rPr>
              <a:t> </a:t>
            </a:r>
            <a:r>
              <a:rPr sz="1600" spc="-78" dirty="0">
                <a:latin typeface="Arial MT"/>
                <a:cs typeface="Times New Roman"/>
              </a:rPr>
              <a:t>represents</a:t>
            </a:r>
            <a:r>
              <a:rPr sz="1600" spc="-23" dirty="0">
                <a:latin typeface="Arial MT"/>
                <a:cs typeface="Times New Roman"/>
              </a:rPr>
              <a:t> </a:t>
            </a:r>
            <a:r>
              <a:rPr sz="1600" spc="-168" dirty="0">
                <a:latin typeface="Arial MT"/>
                <a:cs typeface="Times New Roman"/>
              </a:rPr>
              <a:t>a</a:t>
            </a:r>
            <a:r>
              <a:rPr sz="1600" spc="-35" dirty="0">
                <a:latin typeface="Arial MT"/>
                <a:cs typeface="Times New Roman"/>
              </a:rPr>
              <a:t> </a:t>
            </a:r>
            <a:r>
              <a:rPr sz="1600" spc="-78" dirty="0">
                <a:latin typeface="Arial MT"/>
                <a:cs typeface="Times New Roman"/>
              </a:rPr>
              <a:t>set</a:t>
            </a:r>
            <a:r>
              <a:rPr sz="1600" spc="-31" dirty="0">
                <a:latin typeface="Arial MT"/>
                <a:cs typeface="Times New Roman"/>
              </a:rPr>
              <a:t> </a:t>
            </a:r>
            <a:r>
              <a:rPr sz="1600" spc="-137" dirty="0">
                <a:latin typeface="Arial MT"/>
                <a:cs typeface="Times New Roman"/>
              </a:rPr>
              <a:t>of</a:t>
            </a:r>
            <a:r>
              <a:rPr sz="1600" spc="-31" dirty="0">
                <a:latin typeface="Arial MT"/>
                <a:cs typeface="Times New Roman"/>
              </a:rPr>
              <a:t> </a:t>
            </a:r>
            <a:r>
              <a:rPr sz="1600" spc="-141" dirty="0">
                <a:latin typeface="Arial MT"/>
                <a:cs typeface="Times New Roman"/>
              </a:rPr>
              <a:t>classes</a:t>
            </a:r>
            <a:r>
              <a:rPr sz="1600" spc="-43" dirty="0">
                <a:latin typeface="Arial MT"/>
                <a:cs typeface="Times New Roman"/>
              </a:rPr>
              <a:t> </a:t>
            </a:r>
            <a:r>
              <a:rPr sz="1600" spc="-129" dirty="0">
                <a:latin typeface="Arial MT"/>
                <a:cs typeface="Times New Roman"/>
              </a:rPr>
              <a:t>and</a:t>
            </a:r>
            <a:r>
              <a:rPr sz="1600" spc="-20" dirty="0">
                <a:latin typeface="Arial MT"/>
                <a:cs typeface="Times New Roman"/>
              </a:rPr>
              <a:t> </a:t>
            </a:r>
            <a:r>
              <a:rPr sz="1600" spc="-8" dirty="0">
                <a:latin typeface="Arial MT"/>
                <a:cs typeface="Times New Roman"/>
              </a:rPr>
              <a:t>interfaces.</a:t>
            </a:r>
            <a:endParaRPr sz="1600" dirty="0">
              <a:latin typeface="Arial MT"/>
              <a:cs typeface="Times New Roman"/>
            </a:endParaRPr>
          </a:p>
          <a:p>
            <a:pPr marL="280879" indent="-270954">
              <a:spcBef>
                <a:spcPts val="473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0879" algn="l"/>
              </a:tabLst>
            </a:pPr>
            <a:r>
              <a:rPr sz="1600" spc="-39" dirty="0">
                <a:latin typeface="Arial MT"/>
                <a:cs typeface="Times New Roman"/>
              </a:rPr>
              <a:t>It</a:t>
            </a:r>
            <a:r>
              <a:rPr sz="1600" spc="-78" dirty="0">
                <a:latin typeface="Arial MT"/>
                <a:cs typeface="Times New Roman"/>
              </a:rPr>
              <a:t> </a:t>
            </a:r>
            <a:r>
              <a:rPr sz="1600" spc="-141" dirty="0">
                <a:latin typeface="Arial MT"/>
                <a:cs typeface="Times New Roman"/>
              </a:rPr>
              <a:t>is</a:t>
            </a:r>
            <a:r>
              <a:rPr sz="1600" spc="-47" dirty="0">
                <a:latin typeface="Arial MT"/>
                <a:cs typeface="Times New Roman"/>
              </a:rPr>
              <a:t> </a:t>
            </a:r>
            <a:r>
              <a:rPr sz="1600" spc="-8" dirty="0">
                <a:latin typeface="Arial MT"/>
                <a:cs typeface="Times New Roman"/>
              </a:rPr>
              <a:t>optional.</a:t>
            </a:r>
            <a:endParaRPr sz="1600" dirty="0">
              <a:latin typeface="Arial MT"/>
              <a:cs typeface="Times New Roman"/>
            </a:endParaRPr>
          </a:p>
          <a:p>
            <a:pPr marL="9925">
              <a:spcBef>
                <a:spcPts val="445"/>
              </a:spcBef>
            </a:pPr>
            <a:r>
              <a:rPr sz="1600" b="1" dirty="0">
                <a:latin typeface="Arial MT"/>
                <a:cs typeface="Times New Roman"/>
              </a:rPr>
              <a:t>Collection</a:t>
            </a:r>
            <a:r>
              <a:rPr sz="1600" b="1" spc="51" dirty="0">
                <a:latin typeface="Arial MT"/>
                <a:cs typeface="Times New Roman"/>
              </a:rPr>
              <a:t> </a:t>
            </a:r>
            <a:r>
              <a:rPr sz="1600" b="1" spc="-8" dirty="0">
                <a:latin typeface="Arial MT"/>
                <a:cs typeface="Times New Roman"/>
              </a:rPr>
              <a:t>framework</a:t>
            </a:r>
            <a:endParaRPr sz="1600" dirty="0">
              <a:latin typeface="Arial MT"/>
              <a:cs typeface="Times New Roman"/>
            </a:endParaRPr>
          </a:p>
          <a:p>
            <a:pPr marL="224306" marR="3970" indent="-214381">
              <a:spcBef>
                <a:spcPts val="492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4306" algn="l"/>
              </a:tabLst>
            </a:pPr>
            <a:r>
              <a:rPr sz="1600" spc="-109" dirty="0">
                <a:latin typeface="Arial MT"/>
                <a:cs typeface="Times New Roman"/>
              </a:rPr>
              <a:t>The</a:t>
            </a:r>
            <a:r>
              <a:rPr sz="1600" spc="-23" dirty="0">
                <a:latin typeface="Arial MT"/>
                <a:cs typeface="Times New Roman"/>
              </a:rPr>
              <a:t> </a:t>
            </a:r>
            <a:r>
              <a:rPr sz="1600" spc="-94" dirty="0">
                <a:latin typeface="Arial MT"/>
                <a:cs typeface="Times New Roman"/>
              </a:rPr>
              <a:t>Collection</a:t>
            </a:r>
            <a:r>
              <a:rPr sz="1600" spc="-31" dirty="0">
                <a:latin typeface="Arial MT"/>
                <a:cs typeface="Times New Roman"/>
              </a:rPr>
              <a:t> </a:t>
            </a:r>
            <a:r>
              <a:rPr sz="1600" spc="-113" dirty="0">
                <a:latin typeface="Arial MT"/>
                <a:cs typeface="Times New Roman"/>
              </a:rPr>
              <a:t>framework</a:t>
            </a:r>
            <a:r>
              <a:rPr sz="1600" spc="31" dirty="0">
                <a:latin typeface="Arial MT"/>
                <a:cs typeface="Times New Roman"/>
              </a:rPr>
              <a:t> </a:t>
            </a:r>
            <a:r>
              <a:rPr sz="1600" spc="-78" dirty="0">
                <a:latin typeface="Arial MT"/>
                <a:cs typeface="Times New Roman"/>
              </a:rPr>
              <a:t>represents</a:t>
            </a:r>
            <a:r>
              <a:rPr sz="1600" spc="-12" dirty="0">
                <a:latin typeface="Arial MT"/>
                <a:cs typeface="Times New Roman"/>
              </a:rPr>
              <a:t> </a:t>
            </a:r>
            <a:r>
              <a:rPr sz="1600" spc="-168" dirty="0">
                <a:latin typeface="Arial MT"/>
                <a:cs typeface="Times New Roman"/>
              </a:rPr>
              <a:t>a</a:t>
            </a:r>
            <a:r>
              <a:rPr sz="1600" spc="-27" dirty="0">
                <a:latin typeface="Arial MT"/>
                <a:cs typeface="Times New Roman"/>
              </a:rPr>
              <a:t> </a:t>
            </a:r>
            <a:r>
              <a:rPr sz="1600" spc="-109" dirty="0">
                <a:latin typeface="Arial MT"/>
                <a:cs typeface="Times New Roman"/>
              </a:rPr>
              <a:t>unified</a:t>
            </a:r>
            <a:r>
              <a:rPr sz="1600" spc="-4" dirty="0">
                <a:latin typeface="Arial MT"/>
                <a:cs typeface="Times New Roman"/>
              </a:rPr>
              <a:t> </a:t>
            </a:r>
            <a:r>
              <a:rPr sz="1600" spc="-66" dirty="0">
                <a:latin typeface="Arial MT"/>
                <a:cs typeface="Times New Roman"/>
              </a:rPr>
              <a:t>architecture</a:t>
            </a:r>
            <a:r>
              <a:rPr sz="1600" spc="8" dirty="0">
                <a:latin typeface="Arial MT"/>
                <a:cs typeface="Times New Roman"/>
              </a:rPr>
              <a:t> </a:t>
            </a:r>
            <a:r>
              <a:rPr sz="1600" spc="-20" dirty="0">
                <a:latin typeface="Arial MT"/>
                <a:cs typeface="Times New Roman"/>
              </a:rPr>
              <a:t>for </a:t>
            </a:r>
            <a:r>
              <a:rPr sz="1600" spc="-78" dirty="0">
                <a:latin typeface="Arial MT"/>
                <a:cs typeface="Times New Roman"/>
              </a:rPr>
              <a:t>storing</a:t>
            </a:r>
            <a:r>
              <a:rPr sz="1600" spc="-20" dirty="0">
                <a:latin typeface="Arial MT"/>
                <a:cs typeface="Times New Roman"/>
              </a:rPr>
              <a:t> </a:t>
            </a:r>
            <a:r>
              <a:rPr sz="1600" spc="-129" dirty="0">
                <a:latin typeface="Arial MT"/>
                <a:cs typeface="Times New Roman"/>
              </a:rPr>
              <a:t>and</a:t>
            </a:r>
            <a:r>
              <a:rPr sz="1600" spc="-23" dirty="0">
                <a:latin typeface="Arial MT"/>
                <a:cs typeface="Times New Roman"/>
              </a:rPr>
              <a:t> </a:t>
            </a:r>
            <a:r>
              <a:rPr sz="1600" spc="-113" dirty="0">
                <a:latin typeface="Arial MT"/>
                <a:cs typeface="Times New Roman"/>
              </a:rPr>
              <a:t>manipulating</a:t>
            </a:r>
            <a:r>
              <a:rPr sz="1600" spc="20" dirty="0">
                <a:latin typeface="Arial MT"/>
                <a:cs typeface="Times New Roman"/>
              </a:rPr>
              <a:t> </a:t>
            </a:r>
            <a:r>
              <a:rPr sz="1600" spc="-168" dirty="0">
                <a:latin typeface="Arial MT"/>
                <a:cs typeface="Times New Roman"/>
              </a:rPr>
              <a:t>a</a:t>
            </a:r>
            <a:r>
              <a:rPr sz="1600" spc="-39" dirty="0">
                <a:latin typeface="Arial MT"/>
                <a:cs typeface="Times New Roman"/>
              </a:rPr>
              <a:t> </a:t>
            </a:r>
            <a:r>
              <a:rPr sz="1600" spc="-86" dirty="0">
                <a:latin typeface="Arial MT"/>
                <a:cs typeface="Times New Roman"/>
              </a:rPr>
              <a:t>group</a:t>
            </a:r>
            <a:r>
              <a:rPr sz="1600" spc="-4" dirty="0">
                <a:latin typeface="Arial MT"/>
                <a:cs typeface="Times New Roman"/>
              </a:rPr>
              <a:t> </a:t>
            </a:r>
            <a:r>
              <a:rPr sz="1600" spc="-133" dirty="0">
                <a:latin typeface="Arial MT"/>
                <a:cs typeface="Times New Roman"/>
              </a:rPr>
              <a:t>of</a:t>
            </a:r>
            <a:r>
              <a:rPr sz="1600" spc="-35" dirty="0">
                <a:latin typeface="Arial MT"/>
                <a:cs typeface="Times New Roman"/>
              </a:rPr>
              <a:t> </a:t>
            </a:r>
            <a:r>
              <a:rPr sz="1600" spc="-82" dirty="0">
                <a:latin typeface="Arial MT"/>
                <a:cs typeface="Times New Roman"/>
              </a:rPr>
              <a:t>objects.</a:t>
            </a:r>
            <a:r>
              <a:rPr sz="1600" spc="-109" dirty="0">
                <a:latin typeface="Arial MT"/>
                <a:cs typeface="Times New Roman"/>
              </a:rPr>
              <a:t> </a:t>
            </a:r>
            <a:r>
              <a:rPr sz="1600" spc="-59" dirty="0">
                <a:latin typeface="Arial MT"/>
                <a:cs typeface="Times New Roman"/>
              </a:rPr>
              <a:t>It</a:t>
            </a:r>
            <a:r>
              <a:rPr sz="1600" spc="-35" dirty="0">
                <a:latin typeface="Arial MT"/>
                <a:cs typeface="Times New Roman"/>
              </a:rPr>
              <a:t> </a:t>
            </a:r>
            <a:r>
              <a:rPr sz="1600" spc="-16" dirty="0">
                <a:latin typeface="Arial MT"/>
                <a:cs typeface="Times New Roman"/>
              </a:rPr>
              <a:t>has:</a:t>
            </a:r>
            <a:endParaRPr sz="1600" dirty="0">
              <a:latin typeface="Arial MT"/>
              <a:cs typeface="Times New Roman"/>
            </a:endParaRPr>
          </a:p>
          <a:p>
            <a:pPr marL="490297" lvl="1" indent="-230261">
              <a:spcBef>
                <a:spcPts val="348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490297" algn="l"/>
              </a:tabLst>
            </a:pPr>
            <a:r>
              <a:rPr sz="1600" dirty="0">
                <a:latin typeface="Arial MT"/>
                <a:cs typeface="Times New Roman"/>
              </a:rPr>
              <a:t>•</a:t>
            </a:r>
            <a:r>
              <a:rPr sz="1600" spc="-20" dirty="0">
                <a:latin typeface="Arial MT"/>
                <a:cs typeface="Times New Roman"/>
              </a:rPr>
              <a:t> </a:t>
            </a:r>
            <a:r>
              <a:rPr sz="1600" spc="-89" dirty="0">
                <a:latin typeface="Arial MT"/>
                <a:cs typeface="Times New Roman"/>
              </a:rPr>
              <a:t>Interfaces</a:t>
            </a:r>
            <a:r>
              <a:rPr sz="1600" spc="-35" dirty="0">
                <a:latin typeface="Arial MT"/>
                <a:cs typeface="Times New Roman"/>
              </a:rPr>
              <a:t> </a:t>
            </a:r>
            <a:r>
              <a:rPr sz="1600" spc="-109" dirty="0">
                <a:latin typeface="Arial MT"/>
                <a:cs typeface="Times New Roman"/>
              </a:rPr>
              <a:t>and</a:t>
            </a:r>
            <a:r>
              <a:rPr sz="1600" spc="-43" dirty="0">
                <a:latin typeface="Arial MT"/>
                <a:cs typeface="Times New Roman"/>
              </a:rPr>
              <a:t> </a:t>
            </a:r>
            <a:r>
              <a:rPr sz="1600" spc="-78" dirty="0">
                <a:latin typeface="Arial MT"/>
                <a:cs typeface="Times New Roman"/>
              </a:rPr>
              <a:t>its</a:t>
            </a:r>
            <a:r>
              <a:rPr sz="1600" spc="-20" dirty="0">
                <a:latin typeface="Arial MT"/>
                <a:cs typeface="Times New Roman"/>
              </a:rPr>
              <a:t> </a:t>
            </a:r>
            <a:r>
              <a:rPr sz="1600" spc="-74" dirty="0">
                <a:latin typeface="Arial MT"/>
                <a:cs typeface="Times New Roman"/>
              </a:rPr>
              <a:t>implementations,</a:t>
            </a:r>
            <a:r>
              <a:rPr sz="1600" spc="-141" dirty="0">
                <a:latin typeface="Arial MT"/>
                <a:cs typeface="Times New Roman"/>
              </a:rPr>
              <a:t> </a:t>
            </a:r>
            <a:r>
              <a:rPr sz="1600" dirty="0">
                <a:latin typeface="Arial MT"/>
                <a:cs typeface="Times New Roman"/>
              </a:rPr>
              <a:t>i.e.,</a:t>
            </a:r>
            <a:r>
              <a:rPr sz="1600" spc="-121" dirty="0">
                <a:latin typeface="Arial MT"/>
                <a:cs typeface="Times New Roman"/>
              </a:rPr>
              <a:t> </a:t>
            </a:r>
            <a:r>
              <a:rPr sz="1600" spc="-8" dirty="0">
                <a:latin typeface="Arial MT"/>
                <a:cs typeface="Times New Roman"/>
              </a:rPr>
              <a:t>classes</a:t>
            </a:r>
            <a:endParaRPr sz="1600" dirty="0">
              <a:latin typeface="Arial MT"/>
              <a:cs typeface="Times New Roman"/>
            </a:endParaRPr>
          </a:p>
          <a:p>
            <a:pPr marL="438191" lvl="1" indent="-178155">
              <a:spcBef>
                <a:spcPts val="301"/>
              </a:spcBef>
              <a:buClr>
                <a:srgbClr val="9B2C1F"/>
              </a:buClr>
              <a:buSzPct val="85416"/>
              <a:buFont typeface="Wingdings"/>
              <a:buChar char=""/>
              <a:tabLst>
                <a:tab pos="438191" algn="l"/>
              </a:tabLst>
            </a:pPr>
            <a:r>
              <a:rPr sz="1600" dirty="0">
                <a:latin typeface="Arial MT"/>
                <a:cs typeface="Times New Roman"/>
              </a:rPr>
              <a:t>•</a:t>
            </a:r>
            <a:r>
              <a:rPr sz="1600" spc="-188" dirty="0">
                <a:latin typeface="Arial MT"/>
                <a:cs typeface="Times New Roman"/>
              </a:rPr>
              <a:t> </a:t>
            </a:r>
            <a:r>
              <a:rPr sz="1600" spc="-8" dirty="0">
                <a:latin typeface="Arial MT"/>
                <a:cs typeface="Times New Roman"/>
              </a:rPr>
              <a:t>Algorithm</a:t>
            </a:r>
            <a:endParaRPr sz="1600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1790" y="567053"/>
            <a:ext cx="4502460" cy="488424"/>
          </a:xfrm>
          <a:prstGeom prst="rect">
            <a:avLst/>
          </a:prstGeom>
        </p:spPr>
        <p:txBody>
          <a:bodyPr vert="horz" wrap="square" lIns="0" tIns="194140" rIns="0" bIns="0" rtlCol="0">
            <a:spAutoFit/>
          </a:bodyPr>
          <a:lstStyle/>
          <a:p>
            <a:pPr marL="129026">
              <a:spcBef>
                <a:spcPts val="78"/>
              </a:spcBef>
            </a:pPr>
            <a:r>
              <a:rPr spc="-27" dirty="0"/>
              <a:t>Hierarchy </a:t>
            </a:r>
            <a:r>
              <a:rPr dirty="0"/>
              <a:t>of</a:t>
            </a:r>
            <a:r>
              <a:rPr spc="-31" dirty="0"/>
              <a:t> </a:t>
            </a:r>
            <a:r>
              <a:rPr dirty="0"/>
              <a:t>Collection</a:t>
            </a:r>
            <a:r>
              <a:rPr spc="-23" dirty="0"/>
              <a:t> </a:t>
            </a:r>
            <a:r>
              <a:rPr spc="-39" dirty="0"/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610" y="1237827"/>
            <a:ext cx="6644640" cy="410887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5356" y="725613"/>
            <a:ext cx="3833495" cy="317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The</a:t>
            </a:r>
            <a:r>
              <a:rPr spc="30" dirty="0"/>
              <a:t> </a:t>
            </a:r>
            <a:r>
              <a:rPr spc="5" dirty="0"/>
              <a:t>standard</a:t>
            </a:r>
            <a:r>
              <a:rPr spc="-45" dirty="0"/>
              <a:t> </a:t>
            </a:r>
            <a:r>
              <a:rPr spc="-5" dirty="0"/>
              <a:t>collection</a:t>
            </a:r>
            <a:r>
              <a:rPr spc="35" dirty="0"/>
              <a:t> </a:t>
            </a:r>
            <a:r>
              <a:rPr dirty="0"/>
              <a:t>classes</a:t>
            </a:r>
            <a:r>
              <a:rPr spc="25" dirty="0"/>
              <a:t> </a:t>
            </a:r>
            <a:r>
              <a:rPr spc="5" dirty="0"/>
              <a:t>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9913" y="3963446"/>
            <a:ext cx="19304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15" dirty="0">
                <a:latin typeface="Arial MT"/>
                <a:cs typeface="Arial MT"/>
              </a:rPr>
              <a:t>166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606" y="627681"/>
            <a:ext cx="6490970" cy="3656329"/>
            <a:chOff x="534606" y="627681"/>
            <a:chExt cx="6490970" cy="36563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878" y="1200023"/>
              <a:ext cx="4606909" cy="25734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0004" y="633079"/>
              <a:ext cx="6480175" cy="3645535"/>
            </a:xfrm>
            <a:custGeom>
              <a:avLst/>
              <a:gdLst/>
              <a:ahLst/>
              <a:cxnLst/>
              <a:rect l="l" t="t" r="r" b="b"/>
              <a:pathLst>
                <a:path w="6480175" h="3645535">
                  <a:moveTo>
                    <a:pt x="0" y="0"/>
                  </a:moveTo>
                  <a:lnTo>
                    <a:pt x="6480048" y="0"/>
                  </a:lnTo>
                  <a:lnTo>
                    <a:pt x="6480048" y="3645027"/>
                  </a:lnTo>
                  <a:lnTo>
                    <a:pt x="0" y="3645027"/>
                  </a:lnTo>
                  <a:lnTo>
                    <a:pt x="0" y="0"/>
                  </a:lnTo>
                  <a:close/>
                </a:path>
              </a:pathLst>
            </a:custGeom>
            <a:ln w="107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066823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" y="1079500"/>
            <a:ext cx="7315200" cy="3470945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223314" marR="246637" indent="-213885" algn="just">
              <a:spcBef>
                <a:spcPts val="86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z="1900" spc="-141" dirty="0">
                <a:latin typeface="Times New Roman"/>
                <a:cs typeface="Times New Roman"/>
              </a:rPr>
              <a:t>The</a:t>
            </a:r>
            <a:r>
              <a:rPr sz="1900" spc="4" dirty="0">
                <a:latin typeface="Times New Roman"/>
                <a:cs typeface="Times New Roman"/>
              </a:rPr>
              <a:t> </a:t>
            </a:r>
            <a:r>
              <a:rPr sz="1900" b="1" spc="-35" dirty="0">
                <a:latin typeface="Times New Roman"/>
                <a:cs typeface="Times New Roman"/>
              </a:rPr>
              <a:t>java.util</a:t>
            </a:r>
            <a:r>
              <a:rPr sz="1900" b="1" spc="-86" dirty="0">
                <a:latin typeface="Times New Roman"/>
                <a:cs typeface="Times New Roman"/>
              </a:rPr>
              <a:t> </a:t>
            </a:r>
            <a:r>
              <a:rPr sz="1900" spc="-145" dirty="0">
                <a:latin typeface="Times New Roman"/>
                <a:cs typeface="Times New Roman"/>
              </a:rPr>
              <a:t>package</a:t>
            </a:r>
            <a:r>
              <a:rPr sz="1900" spc="23" dirty="0">
                <a:latin typeface="Times New Roman"/>
                <a:cs typeface="Times New Roman"/>
              </a:rPr>
              <a:t> </a:t>
            </a:r>
            <a:r>
              <a:rPr sz="1900" spc="-117" dirty="0">
                <a:latin typeface="Times New Roman"/>
                <a:cs typeface="Times New Roman"/>
              </a:rPr>
              <a:t>contains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33" dirty="0">
                <a:latin typeface="Times New Roman"/>
                <a:cs typeface="Times New Roman"/>
              </a:rPr>
              <a:t>all</a:t>
            </a:r>
            <a:r>
              <a:rPr sz="1900" spc="31" dirty="0">
                <a:latin typeface="Times New Roman"/>
                <a:cs typeface="Times New Roman"/>
              </a:rPr>
              <a:t> </a:t>
            </a:r>
            <a:r>
              <a:rPr sz="1900" spc="-78" dirty="0">
                <a:latin typeface="Times New Roman"/>
                <a:cs typeface="Times New Roman"/>
              </a:rPr>
              <a:t>the</a:t>
            </a:r>
            <a:r>
              <a:rPr sz="1900" spc="12" dirty="0">
                <a:latin typeface="Times New Roman"/>
                <a:cs typeface="Times New Roman"/>
              </a:rPr>
              <a:t> </a:t>
            </a:r>
            <a:r>
              <a:rPr sz="1900" spc="-156" dirty="0">
                <a:latin typeface="Times New Roman"/>
                <a:cs typeface="Times New Roman"/>
              </a:rPr>
              <a:t>classes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56" dirty="0">
                <a:latin typeface="Times New Roman"/>
                <a:cs typeface="Times New Roman"/>
              </a:rPr>
              <a:t>and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interfaces 	</a:t>
            </a:r>
            <a:r>
              <a:rPr sz="1900" spc="-86" dirty="0">
                <a:latin typeface="Times New Roman"/>
                <a:cs typeface="Times New Roman"/>
              </a:rPr>
              <a:t>for</a:t>
            </a:r>
            <a:r>
              <a:rPr sz="1900" spc="-47" dirty="0">
                <a:latin typeface="Times New Roman"/>
                <a:cs typeface="Times New Roman"/>
              </a:rPr>
              <a:t> </a:t>
            </a:r>
            <a:r>
              <a:rPr sz="1900" spc="-63" dirty="0">
                <a:latin typeface="Times New Roman"/>
                <a:cs typeface="Times New Roman"/>
              </a:rPr>
              <a:t>the</a:t>
            </a:r>
            <a:r>
              <a:rPr sz="1900" spc="-39" dirty="0">
                <a:latin typeface="Times New Roman"/>
                <a:cs typeface="Times New Roman"/>
              </a:rPr>
              <a:t> </a:t>
            </a:r>
            <a:r>
              <a:rPr sz="1900" spc="-94" dirty="0">
                <a:latin typeface="Times New Roman"/>
                <a:cs typeface="Times New Roman"/>
              </a:rPr>
              <a:t>Collection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8" dirty="0">
                <a:latin typeface="Times New Roman"/>
                <a:cs typeface="Times New Roman"/>
              </a:rPr>
              <a:t>framework.</a:t>
            </a:r>
            <a:endParaRPr sz="1900" dirty="0">
              <a:latin typeface="Times New Roman"/>
              <a:cs typeface="Times New Roman"/>
            </a:endParaRPr>
          </a:p>
          <a:p>
            <a:pPr marL="9925" algn="just">
              <a:spcBef>
                <a:spcPts val="445"/>
              </a:spcBef>
            </a:pP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Collection</a:t>
            </a:r>
            <a:r>
              <a:rPr sz="1900" b="1" spc="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-8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endParaRPr sz="1900" dirty="0">
              <a:latin typeface="Times New Roman"/>
              <a:cs typeface="Times New Roman"/>
            </a:endParaRPr>
          </a:p>
          <a:p>
            <a:pPr marL="224306" marR="13895" indent="-214877" algn="just">
              <a:spcBef>
                <a:spcPts val="496"/>
              </a:spcBef>
              <a:buSzPct val="78571"/>
              <a:buFont typeface="Wingdings"/>
              <a:buChar char=""/>
              <a:tabLst>
                <a:tab pos="224306" algn="l"/>
                <a:tab pos="280879" algn="l"/>
              </a:tabLst>
            </a:pPr>
            <a:r>
              <a:rPr sz="19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37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Collection</a:t>
            </a:r>
            <a:r>
              <a:rPr sz="1900" spc="14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interface</a:t>
            </a:r>
            <a:r>
              <a:rPr sz="1900" spc="14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148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37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interface</a:t>
            </a:r>
            <a:r>
              <a:rPr sz="1900" spc="141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which</a:t>
            </a:r>
            <a:r>
              <a:rPr sz="1900" spc="137" dirty="0">
                <a:latin typeface="Times New Roman"/>
                <a:cs typeface="Times New Roman"/>
              </a:rPr>
              <a:t>  </a:t>
            </a:r>
            <a:r>
              <a:rPr sz="1900" spc="-20" dirty="0">
                <a:latin typeface="Times New Roman"/>
                <a:cs typeface="Times New Roman"/>
              </a:rPr>
              <a:t>is </a:t>
            </a:r>
            <a:r>
              <a:rPr sz="1900" spc="-98" dirty="0">
                <a:latin typeface="Times New Roman"/>
                <a:cs typeface="Times New Roman"/>
              </a:rPr>
              <a:t>implemented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84" dirty="0">
                <a:latin typeface="Times New Roman"/>
                <a:cs typeface="Times New Roman"/>
              </a:rPr>
              <a:t>by</a:t>
            </a:r>
            <a:r>
              <a:rPr sz="1900" spc="-27" dirty="0">
                <a:latin typeface="Times New Roman"/>
                <a:cs typeface="Times New Roman"/>
              </a:rPr>
              <a:t> </a:t>
            </a:r>
            <a:r>
              <a:rPr sz="1900" spc="-117" dirty="0">
                <a:latin typeface="Times New Roman"/>
                <a:cs typeface="Times New Roman"/>
              </a:rPr>
              <a:t>all</a:t>
            </a:r>
            <a:r>
              <a:rPr sz="1900" spc="-27" dirty="0">
                <a:latin typeface="Times New Roman"/>
                <a:cs typeface="Times New Roman"/>
              </a:rPr>
              <a:t> </a:t>
            </a:r>
            <a:r>
              <a:rPr sz="1900" spc="-66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45" dirty="0">
                <a:latin typeface="Times New Roman"/>
                <a:cs typeface="Times New Roman"/>
              </a:rPr>
              <a:t>classes</a:t>
            </a:r>
            <a:r>
              <a:rPr sz="1900" spc="-66" dirty="0">
                <a:latin typeface="Times New Roman"/>
                <a:cs typeface="Times New Roman"/>
              </a:rPr>
              <a:t> </a:t>
            </a:r>
            <a:r>
              <a:rPr sz="1900" spc="-109" dirty="0">
                <a:latin typeface="Times New Roman"/>
                <a:cs typeface="Times New Roman"/>
              </a:rPr>
              <a:t>in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66" dirty="0">
                <a:latin typeface="Times New Roman"/>
                <a:cs typeface="Times New Roman"/>
              </a:rPr>
              <a:t>the</a:t>
            </a:r>
            <a:r>
              <a:rPr sz="1900" spc="-39" dirty="0">
                <a:latin typeface="Times New Roman"/>
                <a:cs typeface="Times New Roman"/>
              </a:rPr>
              <a:t> </a:t>
            </a:r>
            <a:r>
              <a:rPr sz="1900" spc="-94" dirty="0">
                <a:latin typeface="Times New Roman"/>
                <a:cs typeface="Times New Roman"/>
              </a:rPr>
              <a:t>collection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8" dirty="0">
                <a:latin typeface="Times New Roman"/>
                <a:cs typeface="Times New Roman"/>
              </a:rPr>
              <a:t>framework.</a:t>
            </a:r>
            <a:endParaRPr sz="1900" dirty="0">
              <a:latin typeface="Times New Roman"/>
              <a:cs typeface="Times New Roman"/>
            </a:endParaRPr>
          </a:p>
          <a:p>
            <a:pPr marL="224306" marR="17369" indent="-214877" algn="just">
              <a:spcBef>
                <a:spcPts val="473"/>
              </a:spcBef>
              <a:buSzPct val="83928"/>
              <a:buFont typeface="Wingdings"/>
              <a:buChar char=""/>
              <a:tabLst>
                <a:tab pos="224306" algn="l"/>
                <a:tab pos="285345" algn="l"/>
              </a:tabLst>
            </a:pPr>
            <a:r>
              <a:rPr sz="19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-8" dirty="0">
                <a:latin typeface="Times New Roman"/>
                <a:cs typeface="Times New Roman"/>
              </a:rPr>
              <a:t> </a:t>
            </a:r>
            <a:r>
              <a:rPr sz="1900" spc="-59" dirty="0">
                <a:latin typeface="Times New Roman"/>
                <a:cs typeface="Times New Roman"/>
              </a:rPr>
              <a:t>declares</a:t>
            </a:r>
            <a:r>
              <a:rPr sz="1900" spc="1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6" dirty="0">
                <a:latin typeface="Times New Roman"/>
                <a:cs typeface="Times New Roman"/>
              </a:rPr>
              <a:t> </a:t>
            </a:r>
            <a:r>
              <a:rPr sz="1900" spc="-47" dirty="0">
                <a:latin typeface="Times New Roman"/>
                <a:cs typeface="Times New Roman"/>
              </a:rPr>
              <a:t>methods</a:t>
            </a:r>
            <a:r>
              <a:rPr sz="1900" spc="8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4" dirty="0">
                <a:latin typeface="Times New Roman"/>
                <a:cs typeface="Times New Roman"/>
              </a:rPr>
              <a:t> </a:t>
            </a:r>
            <a:r>
              <a:rPr sz="1900" spc="-39" dirty="0">
                <a:latin typeface="Times New Roman"/>
                <a:cs typeface="Times New Roman"/>
              </a:rPr>
              <a:t>every</a:t>
            </a:r>
            <a:r>
              <a:rPr sz="1900" spc="4" dirty="0">
                <a:latin typeface="Times New Roman"/>
                <a:cs typeface="Times New Roman"/>
              </a:rPr>
              <a:t> </a:t>
            </a:r>
            <a:r>
              <a:rPr sz="1900" spc="-47" dirty="0">
                <a:latin typeface="Times New Roman"/>
                <a:cs typeface="Times New Roman"/>
              </a:rPr>
              <a:t>collection</a:t>
            </a:r>
            <a:r>
              <a:rPr sz="1900" spc="1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will</a:t>
            </a:r>
            <a:r>
              <a:rPr sz="1900" spc="4" dirty="0">
                <a:latin typeface="Times New Roman"/>
                <a:cs typeface="Times New Roman"/>
              </a:rPr>
              <a:t> </a:t>
            </a:r>
            <a:r>
              <a:rPr sz="1900" spc="-74" dirty="0">
                <a:latin typeface="Times New Roman"/>
                <a:cs typeface="Times New Roman"/>
              </a:rPr>
              <a:t>have.</a:t>
            </a:r>
            <a:r>
              <a:rPr sz="1900" spc="-63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In </a:t>
            </a:r>
            <a:r>
              <a:rPr sz="1900" dirty="0">
                <a:latin typeface="Times New Roman"/>
                <a:cs typeface="Times New Roman"/>
              </a:rPr>
              <a:t>other</a:t>
            </a:r>
            <a:r>
              <a:rPr sz="1900" spc="-113" dirty="0">
                <a:latin typeface="Times New Roman"/>
                <a:cs typeface="Times New Roman"/>
              </a:rPr>
              <a:t> </a:t>
            </a:r>
            <a:r>
              <a:rPr sz="1900" spc="-51" dirty="0">
                <a:latin typeface="Times New Roman"/>
                <a:cs typeface="Times New Roman"/>
              </a:rPr>
              <a:t>words,</a:t>
            </a:r>
            <a:r>
              <a:rPr sz="1900" spc="-86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</a:t>
            </a:r>
            <a:r>
              <a:rPr sz="1900" spc="-27" dirty="0">
                <a:latin typeface="Times New Roman"/>
                <a:cs typeface="Times New Roman"/>
              </a:rPr>
              <a:t> </a:t>
            </a:r>
            <a:r>
              <a:rPr sz="1900" spc="-47" dirty="0">
                <a:latin typeface="Times New Roman"/>
                <a:cs typeface="Times New Roman"/>
              </a:rPr>
              <a:t>can</a:t>
            </a:r>
            <a:r>
              <a:rPr sz="1900" spc="-31" dirty="0">
                <a:latin typeface="Times New Roman"/>
                <a:cs typeface="Times New Roman"/>
              </a:rPr>
              <a:t> </a:t>
            </a:r>
            <a:r>
              <a:rPr sz="1900" spc="-207" dirty="0">
                <a:latin typeface="Times New Roman"/>
                <a:cs typeface="Times New Roman"/>
              </a:rPr>
              <a:t>say</a:t>
            </a:r>
            <a:r>
              <a:rPr sz="1900" spc="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23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7" dirty="0">
                <a:latin typeface="Times New Roman"/>
                <a:cs typeface="Times New Roman"/>
              </a:rPr>
              <a:t> </a:t>
            </a:r>
            <a:r>
              <a:rPr sz="1900" spc="-66" dirty="0">
                <a:latin typeface="Times New Roman"/>
                <a:cs typeface="Times New Roman"/>
              </a:rPr>
              <a:t>Collection</a:t>
            </a:r>
            <a:r>
              <a:rPr sz="1900" spc="-12" dirty="0">
                <a:latin typeface="Times New Roman"/>
                <a:cs typeface="Times New Roman"/>
              </a:rPr>
              <a:t> </a:t>
            </a:r>
            <a:r>
              <a:rPr sz="1900" spc="-74" dirty="0">
                <a:latin typeface="Times New Roman"/>
                <a:cs typeface="Times New Roman"/>
              </a:rPr>
              <a:t>interface</a:t>
            </a:r>
            <a:r>
              <a:rPr sz="1900" spc="-27" dirty="0">
                <a:latin typeface="Times New Roman"/>
                <a:cs typeface="Times New Roman"/>
              </a:rPr>
              <a:t> </a:t>
            </a:r>
            <a:r>
              <a:rPr sz="1900" spc="-74" dirty="0">
                <a:latin typeface="Times New Roman"/>
                <a:cs typeface="Times New Roman"/>
              </a:rPr>
              <a:t>builds </a:t>
            </a:r>
            <a:r>
              <a:rPr sz="1900" spc="-66" dirty="0">
                <a:latin typeface="Times New Roman"/>
                <a:cs typeface="Times New Roman"/>
              </a:rPr>
              <a:t>the</a:t>
            </a:r>
            <a:r>
              <a:rPr sz="1900" spc="-51" dirty="0">
                <a:latin typeface="Times New Roman"/>
                <a:cs typeface="Times New Roman"/>
              </a:rPr>
              <a:t> </a:t>
            </a:r>
            <a:r>
              <a:rPr sz="1900" spc="-102" dirty="0">
                <a:latin typeface="Times New Roman"/>
                <a:cs typeface="Times New Roman"/>
              </a:rPr>
              <a:t>foundation</a:t>
            </a:r>
            <a:r>
              <a:rPr sz="1900" spc="-89" dirty="0">
                <a:latin typeface="Times New Roman"/>
                <a:cs typeface="Times New Roman"/>
              </a:rPr>
              <a:t> </a:t>
            </a:r>
            <a:r>
              <a:rPr sz="1900" spc="-102" dirty="0">
                <a:latin typeface="Times New Roman"/>
                <a:cs typeface="Times New Roman"/>
              </a:rPr>
              <a:t>on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29" dirty="0">
                <a:latin typeface="Times New Roman"/>
                <a:cs typeface="Times New Roman"/>
              </a:rPr>
              <a:t>which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63" dirty="0">
                <a:latin typeface="Times New Roman"/>
                <a:cs typeface="Times New Roman"/>
              </a:rPr>
              <a:t>the</a:t>
            </a:r>
            <a:r>
              <a:rPr sz="1900" spc="-43" dirty="0">
                <a:latin typeface="Times New Roman"/>
                <a:cs typeface="Times New Roman"/>
              </a:rPr>
              <a:t> </a:t>
            </a:r>
            <a:r>
              <a:rPr sz="1900" spc="-89" dirty="0">
                <a:latin typeface="Times New Roman"/>
                <a:cs typeface="Times New Roman"/>
              </a:rPr>
              <a:t>collection</a:t>
            </a:r>
            <a:r>
              <a:rPr sz="1900" spc="-66" dirty="0">
                <a:latin typeface="Times New Roman"/>
                <a:cs typeface="Times New Roman"/>
              </a:rPr>
              <a:t> </a:t>
            </a:r>
            <a:r>
              <a:rPr sz="1900" spc="-117" dirty="0">
                <a:latin typeface="Times New Roman"/>
                <a:cs typeface="Times New Roman"/>
              </a:rPr>
              <a:t>framework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8" dirty="0">
                <a:latin typeface="Times New Roman"/>
                <a:cs typeface="Times New Roman"/>
              </a:rPr>
              <a:t>depends.</a:t>
            </a:r>
            <a:endParaRPr sz="1900" dirty="0">
              <a:latin typeface="Times New Roman"/>
              <a:cs typeface="Times New Roman"/>
            </a:endParaRPr>
          </a:p>
          <a:p>
            <a:pPr marL="224306" marR="3970" indent="-214877" algn="just">
              <a:spcBef>
                <a:spcPts val="473"/>
              </a:spcBef>
              <a:buSzPct val="83928"/>
              <a:buFont typeface="Wingdings"/>
              <a:buChar char=""/>
              <a:tabLst>
                <a:tab pos="224306" algn="l"/>
                <a:tab pos="285345" algn="l"/>
              </a:tabLst>
            </a:pPr>
            <a:r>
              <a:rPr sz="1900" dirty="0">
                <a:solidFill>
                  <a:srgbClr val="D24717"/>
                </a:solidFill>
                <a:latin typeface="Times New Roman"/>
                <a:cs typeface="Times New Roman"/>
              </a:rPr>
              <a:t>	</a:t>
            </a:r>
            <a:r>
              <a:rPr sz="1900" spc="-176" dirty="0">
                <a:latin typeface="Times New Roman"/>
                <a:cs typeface="Times New Roman"/>
              </a:rPr>
              <a:t>Some</a:t>
            </a:r>
            <a:r>
              <a:rPr sz="1900" spc="39" dirty="0">
                <a:latin typeface="Times New Roman"/>
                <a:cs typeface="Times New Roman"/>
              </a:rPr>
              <a:t> </a:t>
            </a:r>
            <a:r>
              <a:rPr sz="1900" spc="-145" dirty="0">
                <a:latin typeface="Times New Roman"/>
                <a:cs typeface="Times New Roman"/>
              </a:rPr>
              <a:t>of</a:t>
            </a:r>
            <a:r>
              <a:rPr sz="1900" spc="8" dirty="0">
                <a:latin typeface="Times New Roman"/>
                <a:cs typeface="Times New Roman"/>
              </a:rPr>
              <a:t> </a:t>
            </a:r>
            <a:r>
              <a:rPr sz="1900" spc="-43" dirty="0">
                <a:latin typeface="Times New Roman"/>
                <a:cs typeface="Times New Roman"/>
              </a:rPr>
              <a:t>the</a:t>
            </a:r>
            <a:r>
              <a:rPr sz="1900" spc="-94" dirty="0">
                <a:latin typeface="Times New Roman"/>
                <a:cs typeface="Times New Roman"/>
              </a:rPr>
              <a:t> </a:t>
            </a:r>
            <a:r>
              <a:rPr sz="1900" spc="-98" dirty="0">
                <a:latin typeface="Times New Roman"/>
                <a:cs typeface="Times New Roman"/>
              </a:rPr>
              <a:t>methods</a:t>
            </a:r>
            <a:r>
              <a:rPr sz="1900" spc="-16" dirty="0">
                <a:latin typeface="Times New Roman"/>
                <a:cs typeface="Times New Roman"/>
              </a:rPr>
              <a:t> </a:t>
            </a:r>
            <a:r>
              <a:rPr sz="1900" spc="-164" dirty="0">
                <a:latin typeface="Times New Roman"/>
                <a:cs typeface="Times New Roman"/>
              </a:rPr>
              <a:t>of</a:t>
            </a:r>
            <a:r>
              <a:rPr sz="1900" spc="27" dirty="0">
                <a:latin typeface="Times New Roman"/>
                <a:cs typeface="Times New Roman"/>
              </a:rPr>
              <a:t> </a:t>
            </a:r>
            <a:r>
              <a:rPr sz="1900" spc="-86" dirty="0">
                <a:latin typeface="Times New Roman"/>
                <a:cs typeface="Times New Roman"/>
              </a:rPr>
              <a:t>Collection</a:t>
            </a:r>
            <a:r>
              <a:rPr sz="1900" spc="-8" dirty="0">
                <a:latin typeface="Times New Roman"/>
                <a:cs typeface="Times New Roman"/>
              </a:rPr>
              <a:t> </a:t>
            </a:r>
            <a:r>
              <a:rPr sz="1900" spc="-94" dirty="0">
                <a:latin typeface="Times New Roman"/>
                <a:cs typeface="Times New Roman"/>
              </a:rPr>
              <a:t>interface</a:t>
            </a:r>
            <a:r>
              <a:rPr sz="1900" spc="-4" dirty="0">
                <a:latin typeface="Times New Roman"/>
                <a:cs typeface="Times New Roman"/>
              </a:rPr>
              <a:t> </a:t>
            </a:r>
            <a:r>
              <a:rPr sz="1900" spc="-78" dirty="0">
                <a:latin typeface="Times New Roman"/>
                <a:cs typeface="Times New Roman"/>
              </a:rPr>
              <a:t>are</a:t>
            </a:r>
            <a:r>
              <a:rPr sz="1900" spc="-12" dirty="0">
                <a:latin typeface="Times New Roman"/>
                <a:cs typeface="Times New Roman"/>
              </a:rPr>
              <a:t> </a:t>
            </a:r>
            <a:r>
              <a:rPr sz="1900" spc="-141" dirty="0">
                <a:latin typeface="Times New Roman"/>
                <a:cs typeface="Times New Roman"/>
              </a:rPr>
              <a:t>Boolean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add 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27" dirty="0">
                <a:latin typeface="Times New Roman"/>
                <a:cs typeface="Times New Roman"/>
              </a:rPr>
              <a:t> </a:t>
            </a:r>
            <a:r>
              <a:rPr sz="1900" spc="-8" dirty="0">
                <a:latin typeface="Times New Roman"/>
                <a:cs typeface="Times New Roman"/>
              </a:rPr>
              <a:t>Object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8" dirty="0">
                <a:latin typeface="Times New Roman"/>
                <a:cs typeface="Times New Roman"/>
              </a:rPr>
              <a:t>obj),</a:t>
            </a:r>
            <a:r>
              <a:rPr sz="1900" spc="-43" dirty="0">
                <a:latin typeface="Times New Roman"/>
                <a:cs typeface="Times New Roman"/>
              </a:rPr>
              <a:t> </a:t>
            </a:r>
            <a:r>
              <a:rPr sz="1900" spc="-102" dirty="0">
                <a:latin typeface="Times New Roman"/>
                <a:cs typeface="Times New Roman"/>
              </a:rPr>
              <a:t>Boolean</a:t>
            </a:r>
            <a:r>
              <a:rPr sz="1900" spc="23" dirty="0">
                <a:latin typeface="Times New Roman"/>
                <a:cs typeface="Times New Roman"/>
              </a:rPr>
              <a:t> </a:t>
            </a:r>
            <a:r>
              <a:rPr sz="1900" spc="-86" dirty="0">
                <a:latin typeface="Times New Roman"/>
                <a:cs typeface="Times New Roman"/>
              </a:rPr>
              <a:t>addAll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31" dirty="0">
                <a:latin typeface="Times New Roman"/>
                <a:cs typeface="Times New Roman"/>
              </a:rPr>
              <a:t> </a:t>
            </a:r>
            <a:r>
              <a:rPr sz="1900" spc="-59" dirty="0">
                <a:latin typeface="Times New Roman"/>
                <a:cs typeface="Times New Roman"/>
              </a:rPr>
              <a:t>Collection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c),</a:t>
            </a:r>
            <a:r>
              <a:rPr sz="1900" spc="-47" dirty="0">
                <a:latin typeface="Times New Roman"/>
                <a:cs typeface="Times New Roman"/>
              </a:rPr>
              <a:t> void</a:t>
            </a:r>
            <a:r>
              <a:rPr sz="1900" spc="31" dirty="0">
                <a:latin typeface="Times New Roman"/>
                <a:cs typeface="Times New Roman"/>
              </a:rPr>
              <a:t> </a:t>
            </a:r>
            <a:r>
              <a:rPr sz="1900" spc="-23" dirty="0">
                <a:latin typeface="Times New Roman"/>
                <a:cs typeface="Times New Roman"/>
              </a:rPr>
              <a:t>clear(), </a:t>
            </a:r>
            <a:r>
              <a:rPr sz="1900" dirty="0">
                <a:latin typeface="Times New Roman"/>
                <a:cs typeface="Times New Roman"/>
              </a:rPr>
              <a:t>etc.</a:t>
            </a:r>
            <a:r>
              <a:rPr sz="1900" spc="45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which</a:t>
            </a:r>
            <a:r>
              <a:rPr sz="1900" spc="52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5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implemented</a:t>
            </a:r>
            <a:r>
              <a:rPr sz="1900" spc="5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531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all</a:t>
            </a:r>
            <a:r>
              <a:rPr sz="1900" spc="52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531" dirty="0">
                <a:latin typeface="Times New Roman"/>
                <a:cs typeface="Times New Roman"/>
              </a:rPr>
              <a:t> </a:t>
            </a:r>
            <a:r>
              <a:rPr sz="1900" spc="-23" dirty="0">
                <a:latin typeface="Times New Roman"/>
                <a:cs typeface="Times New Roman"/>
              </a:rPr>
              <a:t>subclasses</a:t>
            </a:r>
            <a:r>
              <a:rPr sz="1900" spc="531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of </a:t>
            </a:r>
            <a:r>
              <a:rPr sz="1900" spc="-89" dirty="0">
                <a:latin typeface="Times New Roman"/>
                <a:cs typeface="Times New Roman"/>
              </a:rPr>
              <a:t>Collection</a:t>
            </a:r>
            <a:r>
              <a:rPr sz="1900" spc="-16" dirty="0">
                <a:latin typeface="Times New Roman"/>
                <a:cs typeface="Times New Roman"/>
              </a:rPr>
              <a:t> </a:t>
            </a:r>
            <a:r>
              <a:rPr sz="1900" spc="-8" dirty="0">
                <a:latin typeface="Times New Roman"/>
                <a:cs typeface="Times New Roman"/>
              </a:rPr>
              <a:t>interface.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1" y="340183"/>
            <a:ext cx="7512050" cy="3964951"/>
          </a:xfrm>
          <a:prstGeom prst="rect">
            <a:avLst/>
          </a:prstGeom>
        </p:spPr>
        <p:txBody>
          <a:bodyPr vert="horz" wrap="square" lIns="0" tIns="9925" rIns="0" bIns="0" rtlCol="0">
            <a:spAutoFit/>
          </a:bodyPr>
          <a:lstStyle/>
          <a:p>
            <a:pPr marL="9925">
              <a:spcBef>
                <a:spcPts val="78"/>
              </a:spcBef>
            </a:pPr>
            <a:endParaRPr lang="en-US" sz="2345" b="1" spc="-231" dirty="0">
              <a:solidFill>
                <a:srgbClr val="FF0000"/>
              </a:solidFill>
              <a:latin typeface="Arial MT"/>
              <a:cs typeface="Times New Roman"/>
            </a:endParaRPr>
          </a:p>
          <a:p>
            <a:pPr marL="9925">
              <a:spcBef>
                <a:spcPts val="78"/>
              </a:spcBef>
            </a:pPr>
            <a:r>
              <a:rPr lang="en-IN" sz="2345" b="1" spc="-231" dirty="0">
                <a:solidFill>
                  <a:schemeClr val="bg1"/>
                </a:solidFill>
                <a:latin typeface="Arial MT"/>
                <a:cs typeface="Times New Roman"/>
              </a:rPr>
              <a:t>		</a:t>
            </a:r>
            <a:r>
              <a:rPr sz="2345" b="1" spc="-231" dirty="0">
                <a:solidFill>
                  <a:schemeClr val="bg1"/>
                </a:solidFill>
                <a:latin typeface="Arial MT"/>
                <a:cs typeface="Times New Roman"/>
              </a:rPr>
              <a:t>LIST</a:t>
            </a:r>
            <a:r>
              <a:rPr sz="2345" b="1" spc="-63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sz="2345" b="1" spc="-266" dirty="0">
                <a:solidFill>
                  <a:schemeClr val="bg1"/>
                </a:solidFill>
                <a:latin typeface="Arial MT"/>
                <a:cs typeface="Times New Roman"/>
              </a:rPr>
              <a:t>INTERFACE</a:t>
            </a:r>
            <a:endParaRPr sz="2345" dirty="0">
              <a:solidFill>
                <a:schemeClr val="bg1"/>
              </a:solidFill>
              <a:latin typeface="Arial MT"/>
              <a:cs typeface="Times New Roman"/>
            </a:endParaRPr>
          </a:p>
          <a:p>
            <a:pPr>
              <a:spcBef>
                <a:spcPts val="1059"/>
              </a:spcBef>
            </a:pPr>
            <a:endParaRPr sz="2345" dirty="0">
              <a:latin typeface="Arial MT"/>
              <a:cs typeface="Times New Roman"/>
            </a:endParaRPr>
          </a:p>
          <a:p>
            <a:pPr marL="224306" marR="909135" indent="-214381">
              <a:buSzPct val="73333"/>
              <a:buFont typeface="Wingdings"/>
              <a:buChar char=""/>
              <a:tabLst>
                <a:tab pos="224306" algn="l"/>
                <a:tab pos="280879" algn="l"/>
              </a:tabLst>
            </a:pPr>
            <a:r>
              <a:rPr sz="2345" dirty="0">
                <a:solidFill>
                  <a:srgbClr val="D24717"/>
                </a:solidFill>
                <a:latin typeface="Arial MT"/>
                <a:cs typeface="Times New Roman"/>
              </a:rPr>
              <a:t>	</a:t>
            </a:r>
            <a:r>
              <a:rPr sz="2345" spc="-141" dirty="0">
                <a:latin typeface="Arial MT"/>
                <a:cs typeface="Times New Roman"/>
              </a:rPr>
              <a:t>List</a:t>
            </a:r>
            <a:r>
              <a:rPr sz="2345" spc="-55" dirty="0">
                <a:latin typeface="Arial MT"/>
                <a:cs typeface="Times New Roman"/>
              </a:rPr>
              <a:t> </a:t>
            </a:r>
            <a:r>
              <a:rPr sz="2345" spc="-109" dirty="0">
                <a:latin typeface="Arial MT"/>
                <a:cs typeface="Times New Roman"/>
              </a:rPr>
              <a:t>interface</a:t>
            </a:r>
            <a:r>
              <a:rPr sz="2345" spc="-16" dirty="0">
                <a:latin typeface="Arial MT"/>
                <a:cs typeface="Times New Roman"/>
              </a:rPr>
              <a:t> </a:t>
            </a:r>
            <a:r>
              <a:rPr sz="2345" spc="-152" dirty="0">
                <a:latin typeface="Arial MT"/>
                <a:cs typeface="Times New Roman"/>
              </a:rPr>
              <a:t>is</a:t>
            </a:r>
            <a:r>
              <a:rPr sz="2345" spc="-66" dirty="0">
                <a:latin typeface="Arial MT"/>
                <a:cs typeface="Times New Roman"/>
              </a:rPr>
              <a:t> </a:t>
            </a:r>
            <a:r>
              <a:rPr sz="2345" spc="-74" dirty="0">
                <a:latin typeface="Arial MT"/>
                <a:cs typeface="Times New Roman"/>
              </a:rPr>
              <a:t>the</a:t>
            </a:r>
            <a:r>
              <a:rPr sz="2345" spc="-35" dirty="0">
                <a:latin typeface="Arial MT"/>
                <a:cs typeface="Times New Roman"/>
              </a:rPr>
              <a:t> </a:t>
            </a:r>
            <a:r>
              <a:rPr sz="2345" spc="-113" dirty="0">
                <a:latin typeface="Arial MT"/>
                <a:cs typeface="Times New Roman"/>
              </a:rPr>
              <a:t>child</a:t>
            </a:r>
            <a:r>
              <a:rPr sz="2345" spc="-47" dirty="0">
                <a:latin typeface="Arial MT"/>
                <a:cs typeface="Times New Roman"/>
              </a:rPr>
              <a:t> </a:t>
            </a:r>
            <a:r>
              <a:rPr sz="2345" spc="-109" dirty="0">
                <a:latin typeface="Arial MT"/>
                <a:cs typeface="Times New Roman"/>
              </a:rPr>
              <a:t>interface</a:t>
            </a:r>
            <a:r>
              <a:rPr sz="2345" spc="-35" dirty="0">
                <a:latin typeface="Arial MT"/>
                <a:cs typeface="Times New Roman"/>
              </a:rPr>
              <a:t> </a:t>
            </a:r>
            <a:r>
              <a:rPr sz="2345" spc="-137" dirty="0">
                <a:latin typeface="Arial MT"/>
                <a:cs typeface="Times New Roman"/>
              </a:rPr>
              <a:t>of</a:t>
            </a:r>
            <a:r>
              <a:rPr sz="2345" spc="-59" dirty="0">
                <a:latin typeface="Arial MT"/>
                <a:cs typeface="Times New Roman"/>
              </a:rPr>
              <a:t> </a:t>
            </a:r>
            <a:r>
              <a:rPr sz="2345" spc="-82" dirty="0">
                <a:latin typeface="Arial MT"/>
                <a:cs typeface="Times New Roman"/>
              </a:rPr>
              <a:t>Collection </a:t>
            </a:r>
            <a:r>
              <a:rPr sz="2345" spc="-16" dirty="0">
                <a:latin typeface="Arial MT"/>
                <a:cs typeface="Times New Roman"/>
              </a:rPr>
              <a:t>interface.</a:t>
            </a:r>
            <a:endParaRPr sz="2345" dirty="0">
              <a:latin typeface="Arial MT"/>
              <a:cs typeface="Times New Roman"/>
            </a:endParaRPr>
          </a:p>
          <a:p>
            <a:pPr marL="224306" marR="3970" indent="-214381">
              <a:spcBef>
                <a:spcPts val="473"/>
              </a:spcBef>
              <a:buClr>
                <a:srgbClr val="D24717"/>
              </a:buClr>
              <a:buSzPct val="85000"/>
              <a:buFont typeface="Wingdings"/>
              <a:buChar char=""/>
              <a:tabLst>
                <a:tab pos="224306" algn="l"/>
              </a:tabLst>
            </a:pPr>
            <a:r>
              <a:rPr sz="2345" spc="-74" dirty="0">
                <a:latin typeface="Arial MT"/>
                <a:cs typeface="Times New Roman"/>
              </a:rPr>
              <a:t>It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121" dirty="0">
                <a:latin typeface="Arial MT"/>
                <a:cs typeface="Times New Roman"/>
              </a:rPr>
              <a:t>inhibits</a:t>
            </a:r>
            <a:r>
              <a:rPr sz="2345" spc="-74" dirty="0">
                <a:latin typeface="Arial MT"/>
                <a:cs typeface="Times New Roman"/>
              </a:rPr>
              <a:t> </a:t>
            </a:r>
            <a:r>
              <a:rPr sz="2345" spc="-199" dirty="0">
                <a:latin typeface="Arial MT"/>
                <a:cs typeface="Times New Roman"/>
              </a:rPr>
              <a:t>a</a:t>
            </a:r>
            <a:r>
              <a:rPr sz="2345" spc="-47" dirty="0">
                <a:latin typeface="Arial MT"/>
                <a:cs typeface="Times New Roman"/>
              </a:rPr>
              <a:t> </a:t>
            </a:r>
            <a:r>
              <a:rPr sz="2345" spc="-98" dirty="0">
                <a:latin typeface="Arial MT"/>
                <a:cs typeface="Times New Roman"/>
              </a:rPr>
              <a:t>list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102" dirty="0">
                <a:latin typeface="Arial MT"/>
                <a:cs typeface="Times New Roman"/>
              </a:rPr>
              <a:t>type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129" dirty="0">
                <a:latin typeface="Arial MT"/>
                <a:cs typeface="Times New Roman"/>
              </a:rPr>
              <a:t>data</a:t>
            </a:r>
            <a:r>
              <a:rPr sz="2345" spc="-47" dirty="0">
                <a:latin typeface="Arial MT"/>
                <a:cs typeface="Times New Roman"/>
              </a:rPr>
              <a:t> </a:t>
            </a:r>
            <a:r>
              <a:rPr sz="2345" spc="-59" dirty="0">
                <a:latin typeface="Arial MT"/>
                <a:cs typeface="Times New Roman"/>
              </a:rPr>
              <a:t>structure</a:t>
            </a:r>
            <a:r>
              <a:rPr sz="2345" spc="-8" dirty="0">
                <a:latin typeface="Arial MT"/>
                <a:cs typeface="Times New Roman"/>
              </a:rPr>
              <a:t> </a:t>
            </a:r>
            <a:r>
              <a:rPr sz="2345" spc="-117" dirty="0">
                <a:latin typeface="Arial MT"/>
                <a:cs typeface="Times New Roman"/>
              </a:rPr>
              <a:t>in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141" dirty="0">
                <a:latin typeface="Arial MT"/>
                <a:cs typeface="Times New Roman"/>
              </a:rPr>
              <a:t>which</a:t>
            </a:r>
            <a:r>
              <a:rPr sz="2345" spc="-63" dirty="0">
                <a:latin typeface="Arial MT"/>
                <a:cs typeface="Times New Roman"/>
              </a:rPr>
              <a:t> </a:t>
            </a:r>
            <a:r>
              <a:rPr sz="2345" spc="-164" dirty="0">
                <a:latin typeface="Arial MT"/>
                <a:cs typeface="Times New Roman"/>
              </a:rPr>
              <a:t>we</a:t>
            </a:r>
            <a:r>
              <a:rPr sz="2345" spc="-59" dirty="0">
                <a:latin typeface="Arial MT"/>
                <a:cs typeface="Times New Roman"/>
              </a:rPr>
              <a:t> </a:t>
            </a:r>
            <a:r>
              <a:rPr sz="2345" spc="-156" dirty="0">
                <a:latin typeface="Arial MT"/>
                <a:cs typeface="Times New Roman"/>
              </a:rPr>
              <a:t>can</a:t>
            </a:r>
            <a:r>
              <a:rPr sz="2345" spc="-31" dirty="0">
                <a:latin typeface="Arial MT"/>
                <a:cs typeface="Times New Roman"/>
              </a:rPr>
              <a:t> </a:t>
            </a:r>
            <a:r>
              <a:rPr sz="2345" spc="-20" dirty="0">
                <a:latin typeface="Arial MT"/>
                <a:cs typeface="Times New Roman"/>
              </a:rPr>
              <a:t>store </a:t>
            </a:r>
            <a:r>
              <a:rPr sz="2345" spc="-74" dirty="0">
                <a:latin typeface="Arial MT"/>
                <a:cs typeface="Times New Roman"/>
              </a:rPr>
              <a:t>the</a:t>
            </a:r>
            <a:r>
              <a:rPr sz="2345" spc="-39" dirty="0">
                <a:latin typeface="Arial MT"/>
                <a:cs typeface="Times New Roman"/>
              </a:rPr>
              <a:t> </a:t>
            </a:r>
            <a:r>
              <a:rPr sz="2345" spc="-74" dirty="0">
                <a:latin typeface="Arial MT"/>
                <a:cs typeface="Times New Roman"/>
              </a:rPr>
              <a:t>ordered</a:t>
            </a:r>
            <a:r>
              <a:rPr sz="2345" spc="-39" dirty="0">
                <a:latin typeface="Arial MT"/>
                <a:cs typeface="Times New Roman"/>
              </a:rPr>
              <a:t> </a:t>
            </a:r>
            <a:r>
              <a:rPr sz="2345" spc="-109" dirty="0">
                <a:latin typeface="Arial MT"/>
                <a:cs typeface="Times New Roman"/>
              </a:rPr>
              <a:t>collection</a:t>
            </a:r>
            <a:r>
              <a:rPr sz="2345" spc="-31" dirty="0">
                <a:latin typeface="Arial MT"/>
                <a:cs typeface="Times New Roman"/>
              </a:rPr>
              <a:t> </a:t>
            </a:r>
            <a:r>
              <a:rPr sz="2345" spc="-137" dirty="0">
                <a:latin typeface="Arial MT"/>
                <a:cs typeface="Times New Roman"/>
              </a:rPr>
              <a:t>of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8" dirty="0">
                <a:latin typeface="Arial MT"/>
                <a:cs typeface="Times New Roman"/>
              </a:rPr>
              <a:t>objects.</a:t>
            </a:r>
            <a:endParaRPr sz="2345" dirty="0">
              <a:latin typeface="Arial MT"/>
              <a:cs typeface="Times New Roman"/>
            </a:endParaRPr>
          </a:p>
          <a:p>
            <a:pPr marL="223810" indent="-213885">
              <a:spcBef>
                <a:spcPts val="473"/>
              </a:spcBef>
              <a:buClr>
                <a:srgbClr val="D24717"/>
              </a:buClr>
              <a:buSzPct val="85000"/>
              <a:buFont typeface="Wingdings"/>
              <a:buChar char=""/>
              <a:tabLst>
                <a:tab pos="223810" algn="l"/>
              </a:tabLst>
            </a:pPr>
            <a:r>
              <a:rPr sz="2345" spc="-74" dirty="0">
                <a:latin typeface="Arial MT"/>
                <a:cs typeface="Times New Roman"/>
              </a:rPr>
              <a:t>It</a:t>
            </a:r>
            <a:r>
              <a:rPr sz="2345" spc="-39" dirty="0">
                <a:latin typeface="Arial MT"/>
                <a:cs typeface="Times New Roman"/>
              </a:rPr>
              <a:t> </a:t>
            </a:r>
            <a:r>
              <a:rPr sz="2345" spc="-156" dirty="0">
                <a:latin typeface="Arial MT"/>
                <a:cs typeface="Times New Roman"/>
              </a:rPr>
              <a:t>can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199" dirty="0">
                <a:latin typeface="Arial MT"/>
                <a:cs typeface="Times New Roman"/>
              </a:rPr>
              <a:t>have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113" dirty="0">
                <a:latin typeface="Arial MT"/>
                <a:cs typeface="Times New Roman"/>
              </a:rPr>
              <a:t>duplicate</a:t>
            </a:r>
            <a:r>
              <a:rPr sz="2345" spc="-43" dirty="0">
                <a:latin typeface="Arial MT"/>
                <a:cs typeface="Times New Roman"/>
              </a:rPr>
              <a:t> </a:t>
            </a:r>
            <a:r>
              <a:rPr sz="2345" spc="-8" dirty="0">
                <a:latin typeface="Arial MT"/>
                <a:cs typeface="Times New Roman"/>
              </a:rPr>
              <a:t>values.</a:t>
            </a:r>
            <a:endParaRPr sz="2345" dirty="0">
              <a:latin typeface="Arial MT"/>
              <a:cs typeface="Times New Roman"/>
            </a:endParaRPr>
          </a:p>
          <a:p>
            <a:pPr marL="224306" marR="251600" indent="-214381">
              <a:spcBef>
                <a:spcPts val="469"/>
              </a:spcBef>
              <a:buSzPct val="85000"/>
              <a:buFont typeface="Wingdings"/>
              <a:buChar char=""/>
              <a:tabLst>
                <a:tab pos="224306" algn="l"/>
                <a:tab pos="290308" algn="l"/>
              </a:tabLst>
            </a:pPr>
            <a:r>
              <a:rPr sz="2345" dirty="0">
                <a:solidFill>
                  <a:srgbClr val="D24717"/>
                </a:solidFill>
                <a:latin typeface="Arial MT"/>
                <a:cs typeface="Times New Roman"/>
              </a:rPr>
              <a:t>	</a:t>
            </a:r>
            <a:r>
              <a:rPr sz="2345" spc="-141" dirty="0">
                <a:latin typeface="Arial MT"/>
                <a:cs typeface="Times New Roman"/>
              </a:rPr>
              <a:t>List</a:t>
            </a:r>
            <a:r>
              <a:rPr sz="2345" spc="-39" dirty="0">
                <a:latin typeface="Arial MT"/>
                <a:cs typeface="Times New Roman"/>
              </a:rPr>
              <a:t> </a:t>
            </a:r>
            <a:r>
              <a:rPr sz="2345" spc="-109" dirty="0">
                <a:latin typeface="Arial MT"/>
                <a:cs typeface="Times New Roman"/>
              </a:rPr>
              <a:t>interface</a:t>
            </a:r>
            <a:r>
              <a:rPr sz="2345" spc="-16" dirty="0">
                <a:latin typeface="Arial MT"/>
                <a:cs typeface="Times New Roman"/>
              </a:rPr>
              <a:t> </a:t>
            </a:r>
            <a:r>
              <a:rPr sz="2345" spc="-148" dirty="0">
                <a:latin typeface="Arial MT"/>
                <a:cs typeface="Times New Roman"/>
              </a:rPr>
              <a:t>is</a:t>
            </a:r>
            <a:r>
              <a:rPr sz="2345" spc="-23" dirty="0">
                <a:latin typeface="Arial MT"/>
                <a:cs typeface="Times New Roman"/>
              </a:rPr>
              <a:t> </a:t>
            </a:r>
            <a:r>
              <a:rPr sz="2345" spc="-106" dirty="0">
                <a:latin typeface="Arial MT"/>
                <a:cs typeface="Times New Roman"/>
              </a:rPr>
              <a:t>implemented</a:t>
            </a:r>
            <a:r>
              <a:rPr sz="2345" spc="-23" dirty="0">
                <a:latin typeface="Arial MT"/>
                <a:cs typeface="Times New Roman"/>
              </a:rPr>
              <a:t> </a:t>
            </a:r>
            <a:r>
              <a:rPr sz="2345" spc="-199" dirty="0">
                <a:latin typeface="Arial MT"/>
                <a:cs typeface="Times New Roman"/>
              </a:rPr>
              <a:t>by</a:t>
            </a:r>
            <a:r>
              <a:rPr sz="2345" spc="-12" dirty="0">
                <a:latin typeface="Arial MT"/>
                <a:cs typeface="Times New Roman"/>
              </a:rPr>
              <a:t> </a:t>
            </a:r>
            <a:r>
              <a:rPr sz="2345" spc="-82" dirty="0">
                <a:latin typeface="Arial MT"/>
                <a:cs typeface="Times New Roman"/>
              </a:rPr>
              <a:t>the</a:t>
            </a:r>
            <a:r>
              <a:rPr sz="2345" spc="-39" dirty="0">
                <a:latin typeface="Arial MT"/>
                <a:cs typeface="Times New Roman"/>
              </a:rPr>
              <a:t> </a:t>
            </a:r>
            <a:r>
              <a:rPr sz="2345" spc="-156" dirty="0">
                <a:latin typeface="Arial MT"/>
                <a:cs typeface="Times New Roman"/>
              </a:rPr>
              <a:t>classes</a:t>
            </a:r>
            <a:r>
              <a:rPr sz="2345" spc="-207" dirty="0">
                <a:latin typeface="Arial MT"/>
                <a:cs typeface="Times New Roman"/>
              </a:rPr>
              <a:t> </a:t>
            </a:r>
            <a:r>
              <a:rPr sz="2345" spc="-102" dirty="0">
                <a:latin typeface="Arial MT"/>
                <a:cs typeface="Times New Roman"/>
              </a:rPr>
              <a:t>ArrayList, </a:t>
            </a:r>
            <a:r>
              <a:rPr sz="2345" spc="-98" dirty="0">
                <a:latin typeface="Arial MT"/>
                <a:cs typeface="Times New Roman"/>
              </a:rPr>
              <a:t>L</a:t>
            </a:r>
            <a:r>
              <a:rPr sz="2345" spc="-102" dirty="0">
                <a:latin typeface="Arial MT"/>
                <a:cs typeface="Times New Roman"/>
              </a:rPr>
              <a:t>in</a:t>
            </a:r>
            <a:r>
              <a:rPr sz="2345" spc="-145" dirty="0">
                <a:latin typeface="Arial MT"/>
                <a:cs typeface="Times New Roman"/>
              </a:rPr>
              <a:t>k</a:t>
            </a:r>
            <a:r>
              <a:rPr sz="2345" spc="-102" dirty="0">
                <a:latin typeface="Arial MT"/>
                <a:cs typeface="Times New Roman"/>
              </a:rPr>
              <a:t>edL</a:t>
            </a:r>
            <a:r>
              <a:rPr sz="2345" spc="-89" dirty="0">
                <a:latin typeface="Arial MT"/>
                <a:cs typeface="Times New Roman"/>
              </a:rPr>
              <a:t>i</a:t>
            </a:r>
            <a:r>
              <a:rPr sz="2345" spc="-102" dirty="0">
                <a:latin typeface="Arial MT"/>
                <a:cs typeface="Times New Roman"/>
              </a:rPr>
              <a:t>s</a:t>
            </a:r>
            <a:r>
              <a:rPr sz="2345" spc="-117" dirty="0">
                <a:latin typeface="Arial MT"/>
                <a:cs typeface="Times New Roman"/>
              </a:rPr>
              <a:t>t</a:t>
            </a:r>
            <a:r>
              <a:rPr sz="2345" spc="20" dirty="0">
                <a:latin typeface="Arial MT"/>
                <a:cs typeface="Times New Roman"/>
              </a:rPr>
              <a:t>,</a:t>
            </a:r>
            <a:r>
              <a:rPr sz="2345" spc="-434" dirty="0">
                <a:latin typeface="Arial MT"/>
                <a:cs typeface="Times New Roman"/>
              </a:rPr>
              <a:t>V</a:t>
            </a:r>
            <a:r>
              <a:rPr sz="2345" spc="-102" dirty="0">
                <a:latin typeface="Arial MT"/>
                <a:cs typeface="Times New Roman"/>
              </a:rPr>
              <a:t>ec</a:t>
            </a:r>
            <a:r>
              <a:rPr sz="2345" spc="-117" dirty="0">
                <a:latin typeface="Arial MT"/>
                <a:cs typeface="Times New Roman"/>
              </a:rPr>
              <a:t>t</a:t>
            </a:r>
            <a:r>
              <a:rPr sz="2345" spc="-109" dirty="0">
                <a:latin typeface="Arial MT"/>
                <a:cs typeface="Times New Roman"/>
              </a:rPr>
              <a:t>o</a:t>
            </a:r>
            <a:r>
              <a:rPr sz="2345" spc="-313" dirty="0">
                <a:latin typeface="Arial MT"/>
                <a:cs typeface="Times New Roman"/>
              </a:rPr>
              <a:t>r</a:t>
            </a:r>
            <a:r>
              <a:rPr sz="2345" spc="-102" dirty="0">
                <a:latin typeface="Arial MT"/>
                <a:cs typeface="Times New Roman"/>
              </a:rPr>
              <a:t>, </a:t>
            </a:r>
            <a:r>
              <a:rPr sz="2345" spc="-141" dirty="0">
                <a:latin typeface="Arial MT"/>
                <a:cs typeface="Times New Roman"/>
              </a:rPr>
              <a:t>and</a:t>
            </a:r>
            <a:r>
              <a:rPr sz="2345" spc="12" dirty="0">
                <a:latin typeface="Arial MT"/>
                <a:cs typeface="Times New Roman"/>
              </a:rPr>
              <a:t> </a:t>
            </a:r>
            <a:r>
              <a:rPr sz="2345" spc="-8" dirty="0">
                <a:latin typeface="Arial MT"/>
                <a:cs typeface="Times New Roman"/>
              </a:rPr>
              <a:t>Stack.</a:t>
            </a:r>
            <a:endParaRPr sz="2345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250" y="1100765"/>
            <a:ext cx="7086600" cy="3864935"/>
          </a:xfrm>
          <a:prstGeom prst="rect">
            <a:avLst/>
          </a:prstGeom>
        </p:spPr>
        <p:txBody>
          <a:bodyPr vert="horz" wrap="square" lIns="0" tIns="9429" rIns="0" bIns="0" rtlCol="0">
            <a:spAutoFit/>
          </a:bodyPr>
          <a:lstStyle/>
          <a:p>
            <a:pPr marL="249615" indent="-239690" algn="just">
              <a:spcBef>
                <a:spcPts val="74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49615" algn="l"/>
              </a:tabLst>
            </a:pPr>
            <a:r>
              <a:rPr sz="1900" spc="-227" dirty="0">
                <a:latin typeface="Arial MT"/>
                <a:cs typeface="Times New Roman"/>
              </a:rPr>
              <a:t>To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spc="-86" dirty="0">
                <a:latin typeface="Arial MT"/>
                <a:cs typeface="Times New Roman"/>
              </a:rPr>
              <a:t>instantiate</a:t>
            </a:r>
            <a:r>
              <a:rPr sz="1900" dirty="0">
                <a:latin typeface="Arial MT"/>
                <a:cs typeface="Times New Roman"/>
              </a:rPr>
              <a:t> </a:t>
            </a:r>
            <a:r>
              <a:rPr sz="1900" spc="-66" dirty="0">
                <a:latin typeface="Arial MT"/>
                <a:cs typeface="Times New Roman"/>
              </a:rPr>
              <a:t>the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125" dirty="0">
                <a:latin typeface="Arial MT"/>
                <a:cs typeface="Times New Roman"/>
              </a:rPr>
              <a:t>List</a:t>
            </a:r>
            <a:r>
              <a:rPr sz="1900" spc="-27" dirty="0">
                <a:latin typeface="Arial MT"/>
                <a:cs typeface="Times New Roman"/>
              </a:rPr>
              <a:t> </a:t>
            </a:r>
            <a:r>
              <a:rPr sz="1900" spc="-78" dirty="0">
                <a:latin typeface="Arial MT"/>
                <a:cs typeface="Times New Roman"/>
              </a:rPr>
              <a:t>interface,</a:t>
            </a:r>
            <a:r>
              <a:rPr sz="1900" spc="-94" dirty="0">
                <a:latin typeface="Arial MT"/>
                <a:cs typeface="Times New Roman"/>
              </a:rPr>
              <a:t> </a:t>
            </a:r>
            <a:r>
              <a:rPr sz="1900" spc="-145" dirty="0">
                <a:latin typeface="Arial MT"/>
                <a:cs typeface="Times New Roman"/>
              </a:rPr>
              <a:t>we</a:t>
            </a:r>
            <a:r>
              <a:rPr sz="1900" spc="-23" dirty="0">
                <a:latin typeface="Arial MT"/>
                <a:cs typeface="Times New Roman"/>
              </a:rPr>
              <a:t> </a:t>
            </a:r>
            <a:r>
              <a:rPr sz="1900" spc="-98" dirty="0">
                <a:latin typeface="Arial MT"/>
                <a:cs typeface="Times New Roman"/>
              </a:rPr>
              <a:t>must</a:t>
            </a:r>
            <a:r>
              <a:rPr sz="1900" spc="-20" dirty="0">
                <a:latin typeface="Arial MT"/>
                <a:cs typeface="Times New Roman"/>
              </a:rPr>
              <a:t> </a:t>
            </a:r>
            <a:r>
              <a:rPr sz="1900" spc="-117" dirty="0">
                <a:latin typeface="Arial MT"/>
                <a:cs typeface="Times New Roman"/>
              </a:rPr>
              <a:t>use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39" dirty="0">
                <a:latin typeface="Arial MT"/>
                <a:cs typeface="Times New Roman"/>
              </a:rPr>
              <a:t>:</a:t>
            </a:r>
            <a:endParaRPr sz="1900" dirty="0">
              <a:latin typeface="Arial MT"/>
              <a:cs typeface="Times New Roman"/>
            </a:endParaRPr>
          </a:p>
          <a:p>
            <a:pPr marL="9925" marR="3556642">
              <a:lnSpc>
                <a:spcPct val="109300"/>
              </a:lnSpc>
            </a:pPr>
            <a:r>
              <a:rPr sz="1900" spc="-121" dirty="0">
                <a:latin typeface="Arial MT"/>
                <a:cs typeface="Times New Roman"/>
              </a:rPr>
              <a:t>List</a:t>
            </a:r>
            <a:r>
              <a:rPr sz="1900" spc="-47" dirty="0">
                <a:latin typeface="Arial MT"/>
                <a:cs typeface="Times New Roman"/>
              </a:rPr>
              <a:t> </a:t>
            </a:r>
            <a:r>
              <a:rPr sz="1900" spc="-27" dirty="0">
                <a:latin typeface="Arial MT"/>
                <a:cs typeface="Times New Roman"/>
              </a:rPr>
              <a:t>list1=</a:t>
            </a:r>
            <a:r>
              <a:rPr sz="1900" spc="-66" dirty="0">
                <a:latin typeface="Arial MT"/>
                <a:cs typeface="Times New Roman"/>
              </a:rPr>
              <a:t> </a:t>
            </a:r>
            <a:r>
              <a:rPr sz="1900" spc="-117" dirty="0">
                <a:latin typeface="Arial MT"/>
                <a:cs typeface="Times New Roman"/>
              </a:rPr>
              <a:t>new</a:t>
            </a:r>
            <a:r>
              <a:rPr sz="1900" spc="-172" dirty="0">
                <a:latin typeface="Arial MT"/>
                <a:cs typeface="Times New Roman"/>
              </a:rPr>
              <a:t> </a:t>
            </a:r>
            <a:r>
              <a:rPr sz="1900" spc="-31" dirty="0">
                <a:latin typeface="Arial MT"/>
                <a:cs typeface="Times New Roman"/>
              </a:rPr>
              <a:t>ArrayList(); </a:t>
            </a:r>
            <a:endParaRPr lang="en-US" sz="1900" spc="-31" dirty="0">
              <a:latin typeface="Arial MT"/>
              <a:cs typeface="Times New Roman"/>
            </a:endParaRPr>
          </a:p>
          <a:p>
            <a:pPr marL="9925" marR="3556642">
              <a:lnSpc>
                <a:spcPct val="109300"/>
              </a:lnSpc>
            </a:pPr>
            <a:r>
              <a:rPr sz="1900" spc="-121" dirty="0">
                <a:latin typeface="Arial MT"/>
                <a:cs typeface="Times New Roman"/>
              </a:rPr>
              <a:t>List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86" dirty="0">
                <a:latin typeface="Arial MT"/>
                <a:cs typeface="Times New Roman"/>
              </a:rPr>
              <a:t>list2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spc="203" dirty="0">
                <a:latin typeface="Arial MT"/>
                <a:cs typeface="Times New Roman"/>
              </a:rPr>
              <a:t>=</a:t>
            </a:r>
            <a:r>
              <a:rPr sz="1900" spc="-31" dirty="0">
                <a:latin typeface="Arial MT"/>
                <a:cs typeface="Times New Roman"/>
              </a:rPr>
              <a:t> </a:t>
            </a:r>
            <a:r>
              <a:rPr sz="1900" spc="-117" dirty="0">
                <a:latin typeface="Arial MT"/>
                <a:cs typeface="Times New Roman"/>
              </a:rPr>
              <a:t>new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102" dirty="0">
                <a:latin typeface="Arial MT"/>
                <a:cs typeface="Times New Roman"/>
              </a:rPr>
              <a:t>LinkedList();</a:t>
            </a:r>
            <a:endParaRPr lang="en-US" sz="1900" spc="-102" dirty="0">
              <a:latin typeface="Arial MT"/>
              <a:cs typeface="Times New Roman"/>
            </a:endParaRPr>
          </a:p>
          <a:p>
            <a:pPr marL="9925" marR="3556642">
              <a:lnSpc>
                <a:spcPct val="109300"/>
              </a:lnSpc>
            </a:pPr>
            <a:r>
              <a:rPr sz="1900" spc="-102" dirty="0">
                <a:latin typeface="Arial MT"/>
                <a:cs typeface="Times New Roman"/>
              </a:rPr>
              <a:t> </a:t>
            </a:r>
            <a:r>
              <a:rPr sz="1900" spc="-121" dirty="0">
                <a:latin typeface="Arial MT"/>
                <a:cs typeface="Times New Roman"/>
              </a:rPr>
              <a:t>List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82" dirty="0">
                <a:latin typeface="Arial MT"/>
                <a:cs typeface="Times New Roman"/>
              </a:rPr>
              <a:t>list3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spc="203" dirty="0">
                <a:latin typeface="Arial MT"/>
                <a:cs typeface="Times New Roman"/>
              </a:rPr>
              <a:t>=</a:t>
            </a:r>
            <a:r>
              <a:rPr sz="1900" spc="-31" dirty="0">
                <a:latin typeface="Arial MT"/>
                <a:cs typeface="Times New Roman"/>
              </a:rPr>
              <a:t> </a:t>
            </a:r>
            <a:r>
              <a:rPr sz="1900" spc="-117" dirty="0">
                <a:latin typeface="Arial MT"/>
                <a:cs typeface="Times New Roman"/>
              </a:rPr>
              <a:t>new</a:t>
            </a:r>
            <a:r>
              <a:rPr sz="1900" spc="-281" dirty="0">
                <a:latin typeface="Arial MT"/>
                <a:cs typeface="Times New Roman"/>
              </a:rPr>
              <a:t> </a:t>
            </a:r>
            <a:r>
              <a:rPr sz="1900" spc="-8" dirty="0">
                <a:latin typeface="Arial MT"/>
                <a:cs typeface="Times New Roman"/>
              </a:rPr>
              <a:t>Vector(); </a:t>
            </a:r>
            <a:endParaRPr lang="en-US" sz="1900" spc="-8" dirty="0">
              <a:latin typeface="Arial MT"/>
              <a:cs typeface="Times New Roman"/>
            </a:endParaRPr>
          </a:p>
          <a:p>
            <a:pPr marL="9925" marR="3556642">
              <a:lnSpc>
                <a:spcPct val="109300"/>
              </a:lnSpc>
            </a:pPr>
            <a:r>
              <a:rPr sz="1900" spc="-121" dirty="0">
                <a:latin typeface="Arial MT"/>
                <a:cs typeface="Times New Roman"/>
              </a:rPr>
              <a:t>List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86" dirty="0">
                <a:latin typeface="Arial MT"/>
                <a:cs typeface="Times New Roman"/>
              </a:rPr>
              <a:t>list4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spc="203" dirty="0">
                <a:latin typeface="Arial MT"/>
                <a:cs typeface="Times New Roman"/>
              </a:rPr>
              <a:t>=</a:t>
            </a:r>
            <a:r>
              <a:rPr sz="1900" spc="-31" dirty="0">
                <a:latin typeface="Arial MT"/>
                <a:cs typeface="Times New Roman"/>
              </a:rPr>
              <a:t> </a:t>
            </a:r>
            <a:r>
              <a:rPr sz="1900" spc="-117" dirty="0">
                <a:latin typeface="Arial MT"/>
                <a:cs typeface="Times New Roman"/>
              </a:rPr>
              <a:t>new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8" dirty="0">
                <a:latin typeface="Arial MT"/>
                <a:cs typeface="Times New Roman"/>
              </a:rPr>
              <a:t>Stack();</a:t>
            </a:r>
            <a:endParaRPr sz="1900" dirty="0">
              <a:latin typeface="Arial MT"/>
              <a:cs typeface="Times New Roman"/>
            </a:endParaRPr>
          </a:p>
          <a:p>
            <a:pPr marL="224306" marR="10918" indent="-214381" algn="just">
              <a:lnSpc>
                <a:spcPct val="90000"/>
              </a:lnSpc>
              <a:spcBef>
                <a:spcPts val="473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4306" algn="l"/>
              </a:tabLst>
            </a:pPr>
            <a:r>
              <a:rPr sz="1900" spc="-55" dirty="0">
                <a:latin typeface="Arial MT"/>
                <a:cs typeface="Times New Roman"/>
              </a:rPr>
              <a:t>There</a:t>
            </a:r>
            <a:r>
              <a:rPr sz="1900" spc="-74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are</a:t>
            </a:r>
            <a:r>
              <a:rPr sz="1900" spc="-63" dirty="0">
                <a:latin typeface="Arial MT"/>
                <a:cs typeface="Times New Roman"/>
              </a:rPr>
              <a:t> </a:t>
            </a:r>
            <a:r>
              <a:rPr sz="1900" spc="-94" dirty="0">
                <a:latin typeface="Arial MT"/>
                <a:cs typeface="Times New Roman"/>
              </a:rPr>
              <a:t>various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74" dirty="0">
                <a:latin typeface="Arial MT"/>
                <a:cs typeface="Times New Roman"/>
              </a:rPr>
              <a:t>methods</a:t>
            </a:r>
            <a:r>
              <a:rPr sz="1900" spc="-51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in</a:t>
            </a:r>
            <a:r>
              <a:rPr sz="1900" spc="-55" dirty="0">
                <a:latin typeface="Arial MT"/>
                <a:cs typeface="Times New Roman"/>
              </a:rPr>
              <a:t> </a:t>
            </a:r>
            <a:r>
              <a:rPr sz="1900" spc="-82" dirty="0">
                <a:latin typeface="Arial MT"/>
                <a:cs typeface="Times New Roman"/>
              </a:rPr>
              <a:t>List</a:t>
            </a:r>
            <a:r>
              <a:rPr sz="1900" spc="-43" dirty="0">
                <a:latin typeface="Arial MT"/>
                <a:cs typeface="Times New Roman"/>
              </a:rPr>
              <a:t> </a:t>
            </a:r>
            <a:r>
              <a:rPr sz="1900" spc="-70" dirty="0">
                <a:latin typeface="Arial MT"/>
                <a:cs typeface="Times New Roman"/>
              </a:rPr>
              <a:t>interface</a:t>
            </a:r>
            <a:r>
              <a:rPr sz="1900" spc="-55" dirty="0">
                <a:latin typeface="Arial MT"/>
                <a:cs typeface="Times New Roman"/>
              </a:rPr>
              <a:t> </a:t>
            </a:r>
            <a:r>
              <a:rPr sz="1900" spc="-74" dirty="0">
                <a:latin typeface="Arial MT"/>
                <a:cs typeface="Times New Roman"/>
              </a:rPr>
              <a:t>like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b="1" spc="-31" dirty="0">
                <a:latin typeface="Arial MT"/>
                <a:cs typeface="Times New Roman"/>
              </a:rPr>
              <a:t>add</a:t>
            </a:r>
            <a:r>
              <a:rPr sz="1900" spc="-31" dirty="0">
                <a:latin typeface="Arial MT"/>
                <a:cs typeface="Times New Roman"/>
              </a:rPr>
              <a:t>(Object</a:t>
            </a:r>
            <a:r>
              <a:rPr sz="1900" spc="-47" dirty="0">
                <a:latin typeface="Arial MT"/>
                <a:cs typeface="Times New Roman"/>
              </a:rPr>
              <a:t> </a:t>
            </a:r>
            <a:r>
              <a:rPr sz="1900" spc="-20" dirty="0">
                <a:latin typeface="Arial MT"/>
                <a:cs typeface="Times New Roman"/>
              </a:rPr>
              <a:t>o), </a:t>
            </a:r>
            <a:r>
              <a:rPr sz="1900" b="1" spc="-23" dirty="0">
                <a:latin typeface="Arial MT"/>
                <a:cs typeface="Times New Roman"/>
              </a:rPr>
              <a:t>remove</a:t>
            </a:r>
            <a:r>
              <a:rPr sz="1900" spc="-23" dirty="0">
                <a:latin typeface="Arial MT"/>
                <a:cs typeface="Times New Roman"/>
              </a:rPr>
              <a:t>(int</a:t>
            </a:r>
            <a:r>
              <a:rPr sz="1900" spc="-106" dirty="0">
                <a:latin typeface="Arial MT"/>
                <a:cs typeface="Times New Roman"/>
              </a:rPr>
              <a:t> </a:t>
            </a:r>
            <a:r>
              <a:rPr sz="1900" spc="-63" dirty="0">
                <a:latin typeface="Arial MT"/>
                <a:cs typeface="Times New Roman"/>
              </a:rPr>
              <a:t>index), </a:t>
            </a:r>
            <a:r>
              <a:rPr sz="1900" b="1" spc="-8" dirty="0">
                <a:latin typeface="Arial MT"/>
                <a:cs typeface="Times New Roman"/>
              </a:rPr>
              <a:t>get</a:t>
            </a:r>
            <a:r>
              <a:rPr sz="1900" spc="-8" dirty="0">
                <a:latin typeface="Arial MT"/>
                <a:cs typeface="Times New Roman"/>
              </a:rPr>
              <a:t>(int</a:t>
            </a:r>
            <a:r>
              <a:rPr sz="1900" spc="-94" dirty="0">
                <a:latin typeface="Arial MT"/>
                <a:cs typeface="Times New Roman"/>
              </a:rPr>
              <a:t> </a:t>
            </a:r>
            <a:r>
              <a:rPr sz="1900" spc="-86" dirty="0">
                <a:latin typeface="Arial MT"/>
                <a:cs typeface="Times New Roman"/>
              </a:rPr>
              <a:t>index)</a:t>
            </a:r>
            <a:r>
              <a:rPr sz="1900" spc="-43" dirty="0">
                <a:latin typeface="Arial MT"/>
                <a:cs typeface="Times New Roman"/>
              </a:rPr>
              <a:t> </a:t>
            </a:r>
            <a:r>
              <a:rPr sz="1900" spc="-47" dirty="0">
                <a:latin typeface="Arial MT"/>
                <a:cs typeface="Times New Roman"/>
              </a:rPr>
              <a:t>etc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spc="-66" dirty="0">
                <a:latin typeface="Arial MT"/>
                <a:cs typeface="Times New Roman"/>
              </a:rPr>
              <a:t>that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145" dirty="0">
                <a:latin typeface="Arial MT"/>
                <a:cs typeface="Times New Roman"/>
              </a:rPr>
              <a:t>can</a:t>
            </a:r>
            <a:r>
              <a:rPr sz="1900" spc="16" dirty="0">
                <a:latin typeface="Arial MT"/>
                <a:cs typeface="Times New Roman"/>
              </a:rPr>
              <a:t> </a:t>
            </a:r>
            <a:r>
              <a:rPr sz="1900" spc="-117" dirty="0">
                <a:latin typeface="Arial MT"/>
                <a:cs typeface="Times New Roman"/>
              </a:rPr>
              <a:t>be</a:t>
            </a:r>
            <a:r>
              <a:rPr sz="1900" spc="-8" dirty="0">
                <a:latin typeface="Arial MT"/>
                <a:cs typeface="Times New Roman"/>
              </a:rPr>
              <a:t> </a:t>
            </a:r>
            <a:r>
              <a:rPr sz="1900" spc="-113" dirty="0">
                <a:latin typeface="Arial MT"/>
                <a:cs typeface="Times New Roman"/>
              </a:rPr>
              <a:t>used</a:t>
            </a:r>
            <a:r>
              <a:rPr sz="1900" spc="-16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to</a:t>
            </a:r>
            <a:r>
              <a:rPr sz="1900" spc="-59" dirty="0">
                <a:latin typeface="Arial MT"/>
                <a:cs typeface="Times New Roman"/>
              </a:rPr>
              <a:t> </a:t>
            </a:r>
            <a:r>
              <a:rPr sz="1900" spc="-8" dirty="0">
                <a:latin typeface="Arial MT"/>
                <a:cs typeface="Times New Roman"/>
              </a:rPr>
              <a:t>insert, </a:t>
            </a:r>
            <a:r>
              <a:rPr sz="1900" spc="-59" dirty="0">
                <a:latin typeface="Arial MT"/>
                <a:cs typeface="Times New Roman"/>
              </a:rPr>
              <a:t>delete,</a:t>
            </a:r>
            <a:r>
              <a:rPr sz="1900" spc="-129" dirty="0">
                <a:latin typeface="Arial MT"/>
                <a:cs typeface="Times New Roman"/>
              </a:rPr>
              <a:t> </a:t>
            </a:r>
            <a:r>
              <a:rPr sz="1900" spc="-125" dirty="0">
                <a:latin typeface="Arial MT"/>
                <a:cs typeface="Times New Roman"/>
              </a:rPr>
              <a:t>and</a:t>
            </a:r>
            <a:r>
              <a:rPr sz="1900" spc="-16" dirty="0">
                <a:latin typeface="Arial MT"/>
                <a:cs typeface="Times New Roman"/>
              </a:rPr>
              <a:t> </a:t>
            </a:r>
            <a:r>
              <a:rPr sz="1900" spc="-141" dirty="0">
                <a:latin typeface="Arial MT"/>
                <a:cs typeface="Times New Roman"/>
              </a:rPr>
              <a:t>access</a:t>
            </a:r>
            <a:r>
              <a:rPr sz="1900" spc="-35" dirty="0">
                <a:latin typeface="Arial MT"/>
                <a:cs typeface="Times New Roman"/>
              </a:rPr>
              <a:t> </a:t>
            </a:r>
            <a:r>
              <a:rPr sz="1900" spc="-55" dirty="0">
                <a:latin typeface="Arial MT"/>
                <a:cs typeface="Times New Roman"/>
              </a:rPr>
              <a:t>the</a:t>
            </a:r>
            <a:r>
              <a:rPr sz="1900" spc="-27" dirty="0">
                <a:latin typeface="Arial MT"/>
                <a:cs typeface="Times New Roman"/>
              </a:rPr>
              <a:t> </a:t>
            </a:r>
            <a:r>
              <a:rPr sz="1900" spc="-94" dirty="0">
                <a:latin typeface="Arial MT"/>
                <a:cs typeface="Times New Roman"/>
              </a:rPr>
              <a:t>elements</a:t>
            </a:r>
            <a:r>
              <a:rPr sz="1900" spc="-31" dirty="0">
                <a:latin typeface="Arial MT"/>
                <a:cs typeface="Times New Roman"/>
              </a:rPr>
              <a:t> </a:t>
            </a:r>
            <a:r>
              <a:rPr sz="1900" spc="-106" dirty="0">
                <a:latin typeface="Arial MT"/>
                <a:cs typeface="Times New Roman"/>
              </a:rPr>
              <a:t>from</a:t>
            </a:r>
            <a:r>
              <a:rPr sz="1900" spc="-12" dirty="0">
                <a:latin typeface="Arial MT"/>
                <a:cs typeface="Times New Roman"/>
              </a:rPr>
              <a:t> </a:t>
            </a:r>
            <a:r>
              <a:rPr sz="1900" spc="-59" dirty="0">
                <a:latin typeface="Arial MT"/>
                <a:cs typeface="Times New Roman"/>
              </a:rPr>
              <a:t>the</a:t>
            </a:r>
            <a:r>
              <a:rPr sz="1900" spc="-20" dirty="0">
                <a:latin typeface="Arial MT"/>
                <a:cs typeface="Times New Roman"/>
              </a:rPr>
              <a:t> </a:t>
            </a:r>
            <a:r>
              <a:rPr sz="1900" spc="-8" dirty="0">
                <a:latin typeface="Arial MT"/>
                <a:cs typeface="Times New Roman"/>
              </a:rPr>
              <a:t>list.</a:t>
            </a:r>
            <a:endParaRPr sz="1900" dirty="0">
              <a:latin typeface="Arial MT"/>
              <a:cs typeface="Times New Roman"/>
            </a:endParaRPr>
          </a:p>
          <a:p>
            <a:pPr marL="9925">
              <a:spcBef>
                <a:spcPts val="199"/>
              </a:spcBef>
            </a:pPr>
            <a:r>
              <a:rPr sz="1900" b="1" spc="-8" dirty="0">
                <a:solidFill>
                  <a:srgbClr val="FF0000"/>
                </a:solidFill>
                <a:latin typeface="Arial MT"/>
                <a:cs typeface="Times New Roman"/>
              </a:rPr>
              <a:t>ArrayList</a:t>
            </a:r>
            <a:endParaRPr sz="1900" dirty="0">
              <a:latin typeface="Arial MT"/>
              <a:cs typeface="Times New Roman"/>
            </a:endParaRPr>
          </a:p>
          <a:p>
            <a:pPr marL="224306" marR="3970" indent="-214381" algn="just">
              <a:lnSpc>
                <a:spcPct val="90200"/>
              </a:lnSpc>
              <a:spcBef>
                <a:spcPts val="461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24306" algn="l"/>
              </a:tabLst>
            </a:pPr>
            <a:r>
              <a:rPr sz="1900" dirty="0">
                <a:latin typeface="Arial MT"/>
                <a:cs typeface="Times New Roman"/>
              </a:rPr>
              <a:t>The</a:t>
            </a:r>
            <a:r>
              <a:rPr sz="1900" spc="234" dirty="0">
                <a:latin typeface="Arial MT"/>
                <a:cs typeface="Times New Roman"/>
              </a:rPr>
              <a:t>  </a:t>
            </a:r>
            <a:r>
              <a:rPr sz="1900" dirty="0">
                <a:latin typeface="Arial MT"/>
                <a:cs typeface="Times New Roman"/>
              </a:rPr>
              <a:t>ArrayList</a:t>
            </a:r>
            <a:r>
              <a:rPr sz="1900" spc="234" dirty="0">
                <a:latin typeface="Arial MT"/>
                <a:cs typeface="Times New Roman"/>
              </a:rPr>
              <a:t>  </a:t>
            </a:r>
            <a:r>
              <a:rPr sz="1900" dirty="0">
                <a:latin typeface="Arial MT"/>
                <a:cs typeface="Times New Roman"/>
              </a:rPr>
              <a:t>class</a:t>
            </a:r>
            <a:r>
              <a:rPr sz="1900" spc="242" dirty="0">
                <a:latin typeface="Arial MT"/>
                <a:cs typeface="Times New Roman"/>
              </a:rPr>
              <a:t>  </a:t>
            </a:r>
            <a:r>
              <a:rPr sz="1900" dirty="0">
                <a:latin typeface="Arial MT"/>
                <a:cs typeface="Times New Roman"/>
              </a:rPr>
              <a:t>implements</a:t>
            </a:r>
            <a:r>
              <a:rPr sz="1900" spc="238" dirty="0">
                <a:latin typeface="Arial MT"/>
                <a:cs typeface="Times New Roman"/>
              </a:rPr>
              <a:t>  </a:t>
            </a:r>
            <a:r>
              <a:rPr sz="1900" dirty="0">
                <a:latin typeface="Arial MT"/>
                <a:cs typeface="Times New Roman"/>
              </a:rPr>
              <a:t>the</a:t>
            </a:r>
            <a:r>
              <a:rPr sz="1900" spc="234" dirty="0">
                <a:latin typeface="Arial MT"/>
                <a:cs typeface="Times New Roman"/>
              </a:rPr>
              <a:t>  </a:t>
            </a:r>
            <a:r>
              <a:rPr sz="1900" dirty="0">
                <a:latin typeface="Arial MT"/>
                <a:cs typeface="Times New Roman"/>
              </a:rPr>
              <a:t>List</a:t>
            </a:r>
            <a:r>
              <a:rPr sz="1900" spc="234" dirty="0">
                <a:latin typeface="Arial MT"/>
                <a:cs typeface="Times New Roman"/>
              </a:rPr>
              <a:t>  </a:t>
            </a:r>
            <a:r>
              <a:rPr sz="1900" spc="-55" dirty="0">
                <a:latin typeface="Arial MT"/>
                <a:cs typeface="Times New Roman"/>
              </a:rPr>
              <a:t>interface. </a:t>
            </a:r>
            <a:r>
              <a:rPr sz="1900" spc="-199" dirty="0">
                <a:latin typeface="Arial MT"/>
                <a:cs typeface="Times New Roman"/>
              </a:rPr>
              <a:t>Java</a:t>
            </a:r>
            <a:r>
              <a:rPr sz="1900" spc="152" dirty="0">
                <a:latin typeface="Arial MT"/>
                <a:cs typeface="Times New Roman"/>
              </a:rPr>
              <a:t> </a:t>
            </a:r>
            <a:r>
              <a:rPr sz="1900" spc="-55" dirty="0">
                <a:latin typeface="Arial MT"/>
                <a:cs typeface="Times New Roman"/>
              </a:rPr>
              <a:t>ArrayList</a:t>
            </a:r>
            <a:r>
              <a:rPr sz="1900" spc="156" dirty="0">
                <a:latin typeface="Arial MT"/>
                <a:cs typeface="Times New Roman"/>
              </a:rPr>
              <a:t> </a:t>
            </a:r>
            <a:r>
              <a:rPr sz="1900" spc="-8" dirty="0">
                <a:latin typeface="Arial MT"/>
                <a:cs typeface="Times New Roman"/>
              </a:rPr>
              <a:t>class</a:t>
            </a:r>
            <a:r>
              <a:rPr sz="1900" spc="148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uses</a:t>
            </a:r>
            <a:r>
              <a:rPr sz="1900" spc="152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a</a:t>
            </a:r>
            <a:r>
              <a:rPr sz="1900" spc="152" dirty="0">
                <a:latin typeface="Arial MT"/>
                <a:cs typeface="Times New Roman"/>
              </a:rPr>
              <a:t> </a:t>
            </a:r>
            <a:r>
              <a:rPr sz="1900" spc="-35" dirty="0">
                <a:latin typeface="Arial MT"/>
                <a:cs typeface="Times New Roman"/>
              </a:rPr>
              <a:t>dynamic</a:t>
            </a:r>
            <a:r>
              <a:rPr sz="1900" spc="152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array</a:t>
            </a:r>
            <a:r>
              <a:rPr sz="1900" spc="156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for</a:t>
            </a:r>
            <a:r>
              <a:rPr sz="1900" spc="156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storing</a:t>
            </a:r>
            <a:r>
              <a:rPr sz="1900" spc="156" dirty="0">
                <a:latin typeface="Arial MT"/>
                <a:cs typeface="Times New Roman"/>
              </a:rPr>
              <a:t> </a:t>
            </a:r>
            <a:r>
              <a:rPr sz="1900" spc="-20" dirty="0">
                <a:latin typeface="Arial MT"/>
                <a:cs typeface="Times New Roman"/>
              </a:rPr>
              <a:t>the </a:t>
            </a:r>
            <a:r>
              <a:rPr sz="1900" spc="-70" dirty="0">
                <a:latin typeface="Arial MT"/>
                <a:cs typeface="Times New Roman"/>
              </a:rPr>
              <a:t>elements.</a:t>
            </a:r>
            <a:r>
              <a:rPr sz="1900" spc="-63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It</a:t>
            </a:r>
            <a:r>
              <a:rPr sz="1900" spc="-133" dirty="0">
                <a:latin typeface="Arial MT"/>
                <a:cs typeface="Times New Roman"/>
              </a:rPr>
              <a:t> </a:t>
            </a:r>
            <a:r>
              <a:rPr sz="1900" spc="-74" dirty="0">
                <a:latin typeface="Arial MT"/>
                <a:cs typeface="Times New Roman"/>
              </a:rPr>
              <a:t>is</a:t>
            </a:r>
            <a:r>
              <a:rPr sz="1900" spc="-59" dirty="0">
                <a:latin typeface="Arial MT"/>
                <a:cs typeface="Times New Roman"/>
              </a:rPr>
              <a:t> </a:t>
            </a:r>
            <a:r>
              <a:rPr sz="1900" spc="-82" dirty="0">
                <a:latin typeface="Arial MT"/>
                <a:cs typeface="Times New Roman"/>
              </a:rPr>
              <a:t>like</a:t>
            </a:r>
            <a:r>
              <a:rPr sz="1900" spc="-47" dirty="0">
                <a:latin typeface="Arial MT"/>
                <a:cs typeface="Times New Roman"/>
              </a:rPr>
              <a:t> </a:t>
            </a:r>
            <a:r>
              <a:rPr sz="1900" spc="-43" dirty="0">
                <a:latin typeface="Arial MT"/>
                <a:cs typeface="Times New Roman"/>
              </a:rPr>
              <a:t>an</a:t>
            </a:r>
            <a:r>
              <a:rPr sz="1900" spc="-89" dirty="0">
                <a:latin typeface="Arial MT"/>
                <a:cs typeface="Times New Roman"/>
              </a:rPr>
              <a:t> </a:t>
            </a:r>
            <a:r>
              <a:rPr sz="1900" spc="-109" dirty="0">
                <a:latin typeface="Arial MT"/>
                <a:cs typeface="Times New Roman"/>
              </a:rPr>
              <a:t>array,</a:t>
            </a:r>
            <a:r>
              <a:rPr sz="1900" spc="-23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but</a:t>
            </a:r>
            <a:r>
              <a:rPr sz="1900" spc="-82" dirty="0">
                <a:latin typeface="Arial MT"/>
                <a:cs typeface="Times New Roman"/>
              </a:rPr>
              <a:t> </a:t>
            </a:r>
            <a:r>
              <a:rPr sz="1900" spc="-20" dirty="0">
                <a:latin typeface="Arial MT"/>
                <a:cs typeface="Times New Roman"/>
              </a:rPr>
              <a:t>there</a:t>
            </a:r>
            <a:r>
              <a:rPr sz="1900" spc="-31" dirty="0">
                <a:latin typeface="Arial MT"/>
                <a:cs typeface="Times New Roman"/>
              </a:rPr>
              <a:t> </a:t>
            </a:r>
            <a:r>
              <a:rPr sz="1900" spc="-70" dirty="0">
                <a:latin typeface="Arial MT"/>
                <a:cs typeface="Times New Roman"/>
              </a:rPr>
              <a:t>is</a:t>
            </a:r>
            <a:r>
              <a:rPr sz="1900" spc="-39" dirty="0">
                <a:latin typeface="Arial MT"/>
                <a:cs typeface="Times New Roman"/>
              </a:rPr>
              <a:t> </a:t>
            </a:r>
            <a:r>
              <a:rPr sz="1900" dirty="0">
                <a:latin typeface="Arial MT"/>
                <a:cs typeface="Times New Roman"/>
              </a:rPr>
              <a:t>no</a:t>
            </a:r>
            <a:r>
              <a:rPr sz="1900" spc="-27" dirty="0">
                <a:latin typeface="Arial MT"/>
                <a:cs typeface="Times New Roman"/>
              </a:rPr>
              <a:t> </a:t>
            </a:r>
            <a:r>
              <a:rPr sz="1900" spc="-113" dirty="0">
                <a:latin typeface="Arial MT"/>
                <a:cs typeface="Times New Roman"/>
              </a:rPr>
              <a:t>size</a:t>
            </a:r>
            <a:r>
              <a:rPr sz="1900" spc="-20" dirty="0">
                <a:latin typeface="Arial MT"/>
                <a:cs typeface="Times New Roman"/>
              </a:rPr>
              <a:t> </a:t>
            </a:r>
            <a:r>
              <a:rPr sz="1900" spc="-47" dirty="0">
                <a:latin typeface="Arial MT"/>
                <a:cs typeface="Times New Roman"/>
              </a:rPr>
              <a:t>limit.</a:t>
            </a:r>
            <a:r>
              <a:rPr sz="1900" spc="-86" dirty="0">
                <a:latin typeface="Arial MT"/>
                <a:cs typeface="Times New Roman"/>
              </a:rPr>
              <a:t> </a:t>
            </a:r>
            <a:r>
              <a:rPr sz="1900" spc="-168" dirty="0">
                <a:latin typeface="Arial MT"/>
                <a:cs typeface="Times New Roman"/>
              </a:rPr>
              <a:t>We</a:t>
            </a:r>
            <a:r>
              <a:rPr sz="1900" spc="35" dirty="0">
                <a:latin typeface="Arial MT"/>
                <a:cs typeface="Times New Roman"/>
              </a:rPr>
              <a:t> </a:t>
            </a:r>
            <a:r>
              <a:rPr sz="1900" spc="-20" dirty="0">
                <a:latin typeface="Arial MT"/>
                <a:cs typeface="Times New Roman"/>
              </a:rPr>
              <a:t>can </a:t>
            </a:r>
            <a:r>
              <a:rPr sz="1900" spc="-117" dirty="0">
                <a:latin typeface="Arial MT"/>
                <a:cs typeface="Times New Roman"/>
              </a:rPr>
              <a:t>add</a:t>
            </a:r>
            <a:r>
              <a:rPr sz="1900" spc="-43" dirty="0">
                <a:latin typeface="Arial MT"/>
                <a:cs typeface="Times New Roman"/>
              </a:rPr>
              <a:t> </a:t>
            </a:r>
            <a:r>
              <a:rPr sz="1900" spc="-16" dirty="0">
                <a:latin typeface="Arial MT"/>
                <a:cs typeface="Times New Roman"/>
              </a:rPr>
              <a:t>or</a:t>
            </a:r>
            <a:r>
              <a:rPr sz="1900" spc="-63" dirty="0">
                <a:latin typeface="Arial MT"/>
                <a:cs typeface="Times New Roman"/>
              </a:rPr>
              <a:t> </a:t>
            </a:r>
            <a:r>
              <a:rPr sz="1900" spc="-113" dirty="0">
                <a:latin typeface="Arial MT"/>
                <a:cs typeface="Times New Roman"/>
              </a:rPr>
              <a:t>remove</a:t>
            </a:r>
            <a:r>
              <a:rPr sz="1900" spc="-63" dirty="0">
                <a:latin typeface="Arial MT"/>
                <a:cs typeface="Times New Roman"/>
              </a:rPr>
              <a:t> </a:t>
            </a:r>
            <a:r>
              <a:rPr sz="1900" spc="-89" dirty="0">
                <a:latin typeface="Arial MT"/>
                <a:cs typeface="Times New Roman"/>
              </a:rPr>
              <a:t>elements</a:t>
            </a:r>
            <a:r>
              <a:rPr sz="1900" spc="-66" dirty="0">
                <a:latin typeface="Arial MT"/>
                <a:cs typeface="Times New Roman"/>
              </a:rPr>
              <a:t> </a:t>
            </a:r>
            <a:r>
              <a:rPr sz="1900" spc="-8" dirty="0">
                <a:latin typeface="Arial MT"/>
                <a:cs typeface="Times New Roman"/>
              </a:rPr>
              <a:t>anytime.</a:t>
            </a:r>
            <a:endParaRPr sz="1900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675" y="538381"/>
            <a:ext cx="2885144" cy="492053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9925">
              <a:spcBef>
                <a:spcPts val="86"/>
              </a:spcBef>
            </a:pPr>
            <a:r>
              <a:rPr sz="3126" spc="-66" dirty="0">
                <a:solidFill>
                  <a:srgbClr val="696363"/>
                </a:solidFill>
                <a:latin typeface="Franklin Gothic Medium"/>
                <a:cs typeface="Franklin Gothic Medium"/>
              </a:rPr>
              <a:t>Array</a:t>
            </a:r>
            <a:r>
              <a:rPr sz="3126" spc="-59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3126" dirty="0">
                <a:solidFill>
                  <a:srgbClr val="696363"/>
                </a:solidFill>
                <a:latin typeface="Franklin Gothic Medium"/>
                <a:cs typeface="Franklin Gothic Medium"/>
              </a:rPr>
              <a:t>Vs</a:t>
            </a:r>
            <a:r>
              <a:rPr sz="3126" spc="-74" dirty="0">
                <a:solidFill>
                  <a:srgbClr val="696363"/>
                </a:solidFill>
                <a:latin typeface="Franklin Gothic Medium"/>
                <a:cs typeface="Franklin Gothic Medium"/>
              </a:rPr>
              <a:t> </a:t>
            </a:r>
            <a:r>
              <a:rPr sz="3126" spc="-51" dirty="0">
                <a:solidFill>
                  <a:srgbClr val="696363"/>
                </a:solidFill>
                <a:latin typeface="Franklin Gothic Medium"/>
                <a:cs typeface="Franklin Gothic Medium"/>
              </a:rPr>
              <a:t>ArrayList</a:t>
            </a:r>
            <a:endParaRPr sz="3126" dirty="0">
              <a:latin typeface="Franklin Gothic Medium"/>
              <a:cs typeface="Franklin Gothic Medium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512" y="1012331"/>
            <a:ext cx="6669476" cy="3036993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199" y="567053"/>
            <a:ext cx="4502460" cy="389810"/>
          </a:xfrm>
          <a:prstGeom prst="rect">
            <a:avLst/>
          </a:prstGeom>
        </p:spPr>
        <p:txBody>
          <a:bodyPr vert="horz" wrap="square" lIns="0" tIns="96480" rIns="0" bIns="0" rtlCol="0">
            <a:spAutoFit/>
          </a:bodyPr>
          <a:lstStyle/>
          <a:p>
            <a:pPr marL="188576">
              <a:spcBef>
                <a:spcPts val="78"/>
              </a:spcBef>
            </a:pPr>
            <a:r>
              <a:rPr spc="-8" dirty="0"/>
              <a:t>Constructor</a:t>
            </a:r>
            <a:r>
              <a:rPr spc="4" dirty="0"/>
              <a:t> </a:t>
            </a:r>
            <a:r>
              <a:rPr spc="-156" dirty="0"/>
              <a:t>&amp;</a:t>
            </a:r>
            <a:r>
              <a:rPr dirty="0"/>
              <a:t> Description</a:t>
            </a:r>
            <a:r>
              <a:rPr spc="-27" dirty="0"/>
              <a:t> </a:t>
            </a:r>
            <a:r>
              <a:rPr dirty="0"/>
              <a:t>of</a:t>
            </a:r>
            <a:r>
              <a:rPr spc="-94" dirty="0"/>
              <a:t> </a:t>
            </a:r>
            <a:r>
              <a:rPr spc="-74" dirty="0"/>
              <a:t>ArrayList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96850" y="1571469"/>
            <a:ext cx="7359650" cy="3175662"/>
          </a:xfrm>
          <a:prstGeom prst="rect">
            <a:avLst/>
          </a:prstGeom>
        </p:spPr>
        <p:txBody>
          <a:bodyPr vert="horz" wrap="square" lIns="0" tIns="46150" rIns="0" bIns="0" rtlCol="0">
            <a:spAutoFit/>
          </a:bodyPr>
          <a:lstStyle/>
          <a:p>
            <a:pPr marL="29775" algn="l">
              <a:spcBef>
                <a:spcPts val="363"/>
              </a:spcBef>
            </a:pPr>
            <a:r>
              <a:rPr sz="1900" spc="-82" dirty="0">
                <a:solidFill>
                  <a:schemeClr val="tx1"/>
                </a:solidFill>
                <a:cs typeface="Times New Roman"/>
              </a:rPr>
              <a:t>1</a:t>
            </a:r>
            <a:r>
              <a:rPr sz="1900" spc="-82" dirty="0">
                <a:solidFill>
                  <a:schemeClr val="tx1"/>
                </a:solidFill>
              </a:rPr>
              <a:t>ArrayList(</a:t>
            </a:r>
            <a:r>
              <a:rPr sz="1900" spc="-66" dirty="0">
                <a:solidFill>
                  <a:schemeClr val="tx1"/>
                </a:solidFill>
              </a:rPr>
              <a:t> </a:t>
            </a:r>
            <a:r>
              <a:rPr sz="1900" spc="31" dirty="0">
                <a:solidFill>
                  <a:schemeClr val="tx1"/>
                </a:solidFill>
              </a:rPr>
              <a:t>)</a:t>
            </a:r>
          </a:p>
          <a:p>
            <a:pPr marL="243164" indent="-213389" algn="l">
              <a:spcBef>
                <a:spcPts val="274"/>
              </a:spcBef>
              <a:buClr>
                <a:srgbClr val="D24717"/>
              </a:buClr>
              <a:buSzPct val="85185"/>
              <a:buFont typeface="Segoe UI Symbol"/>
              <a:buChar char="⚫"/>
              <a:tabLst>
                <a:tab pos="243164" algn="l"/>
              </a:tabLst>
            </a:pPr>
            <a:r>
              <a:rPr sz="1900" spc="-129" dirty="0">
                <a:solidFill>
                  <a:schemeClr val="tx1"/>
                </a:solidFill>
                <a:cs typeface="Times New Roman"/>
              </a:rPr>
              <a:t>This</a:t>
            </a:r>
            <a:r>
              <a:rPr sz="19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constructor</a:t>
            </a:r>
            <a:r>
              <a:rPr sz="1900" spc="-51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builds</a:t>
            </a:r>
            <a:r>
              <a:rPr sz="1900" spc="-6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37" dirty="0">
                <a:solidFill>
                  <a:schemeClr val="tx1"/>
                </a:solidFill>
                <a:cs typeface="Times New Roman"/>
              </a:rPr>
              <a:t>an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9" dirty="0">
                <a:solidFill>
                  <a:schemeClr val="tx1"/>
                </a:solidFill>
                <a:cs typeface="Times New Roman"/>
              </a:rPr>
              <a:t>empty</a:t>
            </a:r>
            <a:r>
              <a:rPr sz="1900" spc="-5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array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" dirty="0">
                <a:solidFill>
                  <a:schemeClr val="tx1"/>
                </a:solidFill>
                <a:cs typeface="Times New Roman"/>
              </a:rPr>
              <a:t>list.</a:t>
            </a:r>
            <a:endParaRPr sz="1900" dirty="0">
              <a:solidFill>
                <a:schemeClr val="tx1"/>
              </a:solidFill>
              <a:cs typeface="Times New Roman"/>
            </a:endParaRPr>
          </a:p>
          <a:p>
            <a:pPr marL="29775" algn="l">
              <a:spcBef>
                <a:spcPts val="125"/>
              </a:spcBef>
            </a:pPr>
            <a:r>
              <a:rPr sz="1900" spc="-39" dirty="0">
                <a:solidFill>
                  <a:schemeClr val="tx1"/>
                </a:solidFill>
              </a:rPr>
              <a:t>2ArrayList(Collection</a:t>
            </a:r>
            <a:r>
              <a:rPr sz="1900" spc="-8" dirty="0">
                <a:solidFill>
                  <a:schemeClr val="tx1"/>
                </a:solidFill>
              </a:rPr>
              <a:t> </a:t>
            </a:r>
            <a:r>
              <a:rPr sz="1900" spc="39" dirty="0">
                <a:solidFill>
                  <a:schemeClr val="tx1"/>
                </a:solidFill>
              </a:rPr>
              <a:t>c)</a:t>
            </a:r>
          </a:p>
          <a:p>
            <a:pPr marL="243164" marR="26798" indent="-213389" algn="l">
              <a:spcBef>
                <a:spcPts val="551"/>
              </a:spcBef>
              <a:buClr>
                <a:srgbClr val="D24717"/>
              </a:buClr>
              <a:buSzPct val="85185"/>
              <a:buFont typeface="Segoe UI Symbol"/>
              <a:buChar char="⚫"/>
              <a:tabLst>
                <a:tab pos="244156" algn="l"/>
              </a:tabLst>
            </a:pPr>
            <a:r>
              <a:rPr sz="1900" spc="-133" dirty="0">
                <a:solidFill>
                  <a:schemeClr val="tx1"/>
                </a:solidFill>
                <a:cs typeface="Times New Roman"/>
              </a:rPr>
              <a:t>This</a:t>
            </a:r>
            <a:r>
              <a:rPr sz="19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constructor</a:t>
            </a:r>
            <a:r>
              <a:rPr sz="1900" spc="-51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builds</a:t>
            </a:r>
            <a:r>
              <a:rPr sz="1900" spc="-6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37" dirty="0">
                <a:solidFill>
                  <a:schemeClr val="tx1"/>
                </a:solidFill>
                <a:cs typeface="Times New Roman"/>
              </a:rPr>
              <a:t>an</a:t>
            </a:r>
            <a:r>
              <a:rPr sz="19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array</a:t>
            </a:r>
            <a:r>
              <a:rPr sz="19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2" dirty="0">
                <a:solidFill>
                  <a:schemeClr val="tx1"/>
                </a:solidFill>
                <a:cs typeface="Times New Roman"/>
              </a:rPr>
              <a:t>list</a:t>
            </a:r>
            <a:r>
              <a:rPr sz="19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that</a:t>
            </a:r>
            <a:r>
              <a:rPr sz="1900" spc="-1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41" dirty="0">
                <a:solidFill>
                  <a:schemeClr val="tx1"/>
                </a:solidFill>
                <a:cs typeface="Times New Roman"/>
              </a:rPr>
              <a:t>is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02" dirty="0">
                <a:solidFill>
                  <a:schemeClr val="tx1"/>
                </a:solidFill>
                <a:cs typeface="Times New Roman"/>
              </a:rPr>
              <a:t>initialized</a:t>
            </a:r>
            <a:r>
              <a:rPr sz="1900" spc="-70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9" dirty="0">
                <a:solidFill>
                  <a:schemeClr val="tx1"/>
                </a:solidFill>
                <a:cs typeface="Times New Roman"/>
              </a:rPr>
              <a:t>with</a:t>
            </a:r>
            <a:r>
              <a:rPr sz="1900" spc="-2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20" dirty="0">
                <a:solidFill>
                  <a:schemeClr val="tx1"/>
                </a:solidFill>
                <a:cs typeface="Times New Roman"/>
              </a:rPr>
              <a:t>the</a:t>
            </a:r>
            <a:r>
              <a:rPr lang="en-US" sz="19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9" dirty="0">
                <a:solidFill>
                  <a:schemeClr val="tx1"/>
                </a:solidFill>
                <a:cs typeface="Times New Roman"/>
              </a:rPr>
              <a:t>elements</a:t>
            </a:r>
            <a:r>
              <a:rPr sz="1900" spc="-6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29" dirty="0">
                <a:solidFill>
                  <a:schemeClr val="tx1"/>
                </a:solidFill>
                <a:cs typeface="Times New Roman"/>
              </a:rPr>
              <a:t>of</a:t>
            </a:r>
            <a:r>
              <a:rPr sz="1900" spc="-5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the</a:t>
            </a:r>
            <a:r>
              <a:rPr sz="1900" spc="-27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6" dirty="0">
                <a:solidFill>
                  <a:schemeClr val="tx1"/>
                </a:solidFill>
                <a:cs typeface="Times New Roman"/>
              </a:rPr>
              <a:t>collection</a:t>
            </a:r>
            <a:r>
              <a:rPr sz="1900" spc="-5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51" dirty="0">
                <a:solidFill>
                  <a:schemeClr val="tx1"/>
                </a:solidFill>
              </a:rPr>
              <a:t>c</a:t>
            </a:r>
            <a:r>
              <a:rPr sz="1900" spc="51" dirty="0">
                <a:solidFill>
                  <a:schemeClr val="tx1"/>
                </a:solidFill>
                <a:cs typeface="Times New Roman"/>
              </a:rPr>
              <a:t>.</a:t>
            </a:r>
            <a:endParaRPr sz="1900" dirty="0">
              <a:solidFill>
                <a:schemeClr val="tx1"/>
              </a:solidFill>
              <a:cs typeface="Times New Roman"/>
            </a:endParaRPr>
          </a:p>
          <a:p>
            <a:pPr marL="29775" algn="l">
              <a:spcBef>
                <a:spcPts val="86"/>
              </a:spcBef>
            </a:pPr>
            <a:r>
              <a:rPr sz="1900" spc="-59" dirty="0">
                <a:solidFill>
                  <a:schemeClr val="tx1"/>
                </a:solidFill>
              </a:rPr>
              <a:t>3ArrayList(int</a:t>
            </a:r>
            <a:r>
              <a:rPr sz="1900" spc="-74" dirty="0">
                <a:solidFill>
                  <a:schemeClr val="tx1"/>
                </a:solidFill>
              </a:rPr>
              <a:t> </a:t>
            </a:r>
            <a:r>
              <a:rPr sz="1900" spc="-8" dirty="0">
                <a:solidFill>
                  <a:schemeClr val="tx1"/>
                </a:solidFill>
              </a:rPr>
              <a:t>capacity)</a:t>
            </a:r>
          </a:p>
          <a:p>
            <a:pPr marL="243164" marR="23820" indent="-213389" algn="l">
              <a:spcBef>
                <a:spcPts val="524"/>
              </a:spcBef>
              <a:buClr>
                <a:srgbClr val="D24717"/>
              </a:buClr>
              <a:buSzPct val="85185"/>
              <a:buFont typeface="Segoe UI Symbol"/>
              <a:buChar char="⚫"/>
              <a:tabLst>
                <a:tab pos="244156" algn="l"/>
              </a:tabLst>
            </a:pPr>
            <a:r>
              <a:rPr sz="1900" spc="-133" dirty="0">
                <a:solidFill>
                  <a:schemeClr val="tx1"/>
                </a:solidFill>
                <a:cs typeface="Times New Roman"/>
              </a:rPr>
              <a:t>This</a:t>
            </a:r>
            <a:r>
              <a:rPr sz="19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constructor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builds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37" dirty="0">
                <a:solidFill>
                  <a:schemeClr val="tx1"/>
                </a:solidFill>
                <a:cs typeface="Times New Roman"/>
              </a:rPr>
              <a:t>an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array</a:t>
            </a:r>
            <a:r>
              <a:rPr sz="19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2" dirty="0">
                <a:solidFill>
                  <a:schemeClr val="tx1"/>
                </a:solidFill>
                <a:cs typeface="Times New Roman"/>
              </a:rPr>
              <a:t>list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that</a:t>
            </a:r>
            <a:r>
              <a:rPr sz="19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68" dirty="0">
                <a:solidFill>
                  <a:schemeClr val="tx1"/>
                </a:solidFill>
                <a:cs typeface="Times New Roman"/>
              </a:rPr>
              <a:t>has</a:t>
            </a:r>
            <a:r>
              <a:rPr sz="1900" spc="-1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3" dirty="0">
                <a:solidFill>
                  <a:schemeClr val="tx1"/>
                </a:solidFill>
                <a:cs typeface="Times New Roman"/>
              </a:rPr>
              <a:t>the</a:t>
            </a:r>
            <a:r>
              <a:rPr sz="1900" spc="-27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" dirty="0">
                <a:solidFill>
                  <a:schemeClr val="tx1"/>
                </a:solidFill>
                <a:cs typeface="Times New Roman"/>
              </a:rPr>
              <a:t>specified</a:t>
            </a:r>
            <a:r>
              <a:rPr lang="en-US" sz="1900" spc="-8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9" dirty="0">
                <a:solidFill>
                  <a:schemeClr val="tx1"/>
                </a:solidFill>
                <a:cs typeface="Times New Roman"/>
              </a:rPr>
              <a:t>initial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capacity.The</a:t>
            </a:r>
            <a:r>
              <a:rPr sz="1900" spc="-20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25" dirty="0">
                <a:solidFill>
                  <a:schemeClr val="tx1"/>
                </a:solidFill>
                <a:cs typeface="Times New Roman"/>
              </a:rPr>
              <a:t>capacity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41" dirty="0">
                <a:solidFill>
                  <a:schemeClr val="tx1"/>
                </a:solidFill>
                <a:cs typeface="Times New Roman"/>
              </a:rPr>
              <a:t>is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the</a:t>
            </a:r>
            <a:r>
              <a:rPr sz="1900" spc="-1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37" dirty="0">
                <a:solidFill>
                  <a:schemeClr val="tx1"/>
                </a:solidFill>
                <a:cs typeface="Times New Roman"/>
              </a:rPr>
              <a:t>size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29" dirty="0">
                <a:solidFill>
                  <a:schemeClr val="tx1"/>
                </a:solidFill>
                <a:cs typeface="Times New Roman"/>
              </a:rPr>
              <a:t>of</a:t>
            </a:r>
            <a:r>
              <a:rPr sz="19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the</a:t>
            </a:r>
            <a:r>
              <a:rPr sz="1900" spc="-1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02" dirty="0">
                <a:solidFill>
                  <a:schemeClr val="tx1"/>
                </a:solidFill>
                <a:cs typeface="Times New Roman"/>
              </a:rPr>
              <a:t>underlying</a:t>
            </a:r>
            <a:r>
              <a:rPr sz="1900" spc="-94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array </a:t>
            </a:r>
            <a:r>
              <a:rPr lang="en-US" sz="1900" spc="-66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that</a:t>
            </a:r>
            <a:r>
              <a:rPr sz="19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41" dirty="0">
                <a:solidFill>
                  <a:schemeClr val="tx1"/>
                </a:solidFill>
                <a:cs typeface="Times New Roman"/>
              </a:rPr>
              <a:t>is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used</a:t>
            </a:r>
            <a:r>
              <a:rPr sz="19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dirty="0">
                <a:solidFill>
                  <a:schemeClr val="tx1"/>
                </a:solidFill>
                <a:cs typeface="Times New Roman"/>
              </a:rPr>
              <a:t>to</a:t>
            </a:r>
            <a:r>
              <a:rPr sz="1900" spc="-51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3" dirty="0">
                <a:solidFill>
                  <a:schemeClr val="tx1"/>
                </a:solidFill>
                <a:cs typeface="Times New Roman"/>
              </a:rPr>
              <a:t>store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66" dirty="0">
                <a:solidFill>
                  <a:schemeClr val="tx1"/>
                </a:solidFill>
                <a:cs typeface="Times New Roman"/>
              </a:rPr>
              <a:t>the</a:t>
            </a:r>
            <a:r>
              <a:rPr sz="19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78" dirty="0">
                <a:solidFill>
                  <a:schemeClr val="tx1"/>
                </a:solidFill>
                <a:cs typeface="Times New Roman"/>
              </a:rPr>
              <a:t>elements.The</a:t>
            </a:r>
            <a:r>
              <a:rPr sz="1900" spc="-3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25" dirty="0">
                <a:solidFill>
                  <a:schemeClr val="tx1"/>
                </a:solidFill>
                <a:cs typeface="Times New Roman"/>
              </a:rPr>
              <a:t>capacity</a:t>
            </a:r>
            <a:r>
              <a:rPr sz="1900" spc="-55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" dirty="0">
                <a:solidFill>
                  <a:schemeClr val="tx1"/>
                </a:solidFill>
                <a:cs typeface="Times New Roman"/>
              </a:rPr>
              <a:t>grows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automatically</a:t>
            </a:r>
            <a:r>
              <a:rPr sz="1900" spc="-74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72" dirty="0">
                <a:solidFill>
                  <a:schemeClr val="tx1"/>
                </a:solidFill>
                <a:cs typeface="Times New Roman"/>
              </a:rPr>
              <a:t>as</a:t>
            </a:r>
            <a:r>
              <a:rPr sz="1900" spc="-4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9" dirty="0">
                <a:solidFill>
                  <a:schemeClr val="tx1"/>
                </a:solidFill>
                <a:cs typeface="Times New Roman"/>
              </a:rPr>
              <a:t>elements</a:t>
            </a:r>
            <a:r>
              <a:rPr sz="1900" spc="-5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89" dirty="0">
                <a:solidFill>
                  <a:schemeClr val="tx1"/>
                </a:solidFill>
                <a:cs typeface="Times New Roman"/>
              </a:rPr>
              <a:t>are</a:t>
            </a:r>
            <a:r>
              <a:rPr sz="1900" spc="-47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06" dirty="0">
                <a:solidFill>
                  <a:schemeClr val="tx1"/>
                </a:solidFill>
                <a:cs typeface="Times New Roman"/>
              </a:rPr>
              <a:t>added</a:t>
            </a:r>
            <a:r>
              <a:rPr sz="1900" spc="-63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dirty="0">
                <a:solidFill>
                  <a:schemeClr val="tx1"/>
                </a:solidFill>
                <a:cs typeface="Times New Roman"/>
              </a:rPr>
              <a:t>to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37" dirty="0">
                <a:solidFill>
                  <a:schemeClr val="tx1"/>
                </a:solidFill>
                <a:cs typeface="Times New Roman"/>
              </a:rPr>
              <a:t>an</a:t>
            </a:r>
            <a:r>
              <a:rPr sz="1900" spc="-39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13" dirty="0">
                <a:solidFill>
                  <a:schemeClr val="tx1"/>
                </a:solidFill>
                <a:cs typeface="Times New Roman"/>
              </a:rPr>
              <a:t>array</a:t>
            </a:r>
            <a:r>
              <a:rPr sz="1900" spc="-51" dirty="0">
                <a:solidFill>
                  <a:schemeClr val="tx1"/>
                </a:solidFill>
                <a:cs typeface="Times New Roman"/>
              </a:rPr>
              <a:t> </a:t>
            </a:r>
            <a:r>
              <a:rPr sz="1900" spc="-16" dirty="0">
                <a:solidFill>
                  <a:schemeClr val="tx1"/>
                </a:solidFill>
                <a:cs typeface="Times New Roman"/>
              </a:rPr>
              <a:t>list.</a:t>
            </a:r>
            <a:endParaRPr sz="1900" dirty="0">
              <a:solidFill>
                <a:schemeClr val="tx1"/>
              </a:solidFill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9A104-0B66-890B-506F-980C6F5A84C8}"/>
              </a:ext>
            </a:extLst>
          </p:cNvPr>
          <p:cNvSpPr txBox="1"/>
          <p:nvPr/>
        </p:nvSpPr>
        <p:spPr>
          <a:xfrm>
            <a:off x="1644650" y="1079500"/>
            <a:ext cx="487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spc="-10" dirty="0">
                <a:solidFill>
                  <a:schemeClr val="bg1"/>
                </a:solidFill>
              </a:rPr>
              <a:t>Constructor</a:t>
            </a:r>
            <a:r>
              <a:rPr lang="en-US" sz="2000" spc="5" dirty="0">
                <a:solidFill>
                  <a:schemeClr val="bg1"/>
                </a:solidFill>
              </a:rPr>
              <a:t> </a:t>
            </a:r>
            <a:r>
              <a:rPr lang="en-US" sz="2000" spc="-200" dirty="0">
                <a:solidFill>
                  <a:schemeClr val="bg1"/>
                </a:solidFill>
              </a:rPr>
              <a:t>&amp;</a:t>
            </a:r>
            <a:r>
              <a:rPr lang="en-US" sz="2000" dirty="0">
                <a:solidFill>
                  <a:schemeClr val="bg1"/>
                </a:solidFill>
              </a:rPr>
              <a:t> Description</a:t>
            </a:r>
            <a:r>
              <a:rPr lang="en-US" sz="2000" spc="-35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of</a:t>
            </a:r>
            <a:r>
              <a:rPr lang="en-US" sz="2000" spc="-120" dirty="0">
                <a:solidFill>
                  <a:schemeClr val="bg1"/>
                </a:solidFill>
              </a:rPr>
              <a:t> </a:t>
            </a:r>
            <a:r>
              <a:rPr lang="en-US" sz="2000" spc="-95" dirty="0">
                <a:solidFill>
                  <a:schemeClr val="bg1"/>
                </a:solidFill>
              </a:rPr>
              <a:t>ArrayList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50" y="1003300"/>
            <a:ext cx="7359649" cy="4192442"/>
          </a:xfrm>
          <a:prstGeom prst="rect">
            <a:avLst/>
          </a:prstGeom>
        </p:spPr>
        <p:txBody>
          <a:bodyPr vert="horz" wrap="square" lIns="0" tIns="66496" rIns="0" bIns="0" rtlCol="0">
            <a:spAutoFit/>
          </a:bodyPr>
          <a:lstStyle/>
          <a:p>
            <a:pPr marL="224306" marR="3970" indent="-214381">
              <a:lnSpc>
                <a:spcPct val="80100"/>
              </a:lnSpc>
              <a:spcBef>
                <a:spcPts val="524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24306" algn="l"/>
              </a:tabLst>
            </a:pPr>
            <a:r>
              <a:rPr spc="-70" dirty="0">
                <a:latin typeface="Arial MT"/>
                <a:cs typeface="Times New Roman"/>
              </a:rPr>
              <a:t>ArrayList</a:t>
            </a:r>
            <a:r>
              <a:rPr spc="82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is</a:t>
            </a:r>
            <a:r>
              <a:rPr spc="86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a</a:t>
            </a:r>
            <a:r>
              <a:rPr spc="82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generic</a:t>
            </a:r>
            <a:r>
              <a:rPr spc="89" dirty="0">
                <a:latin typeface="Arial MT"/>
                <a:cs typeface="Times New Roman"/>
              </a:rPr>
              <a:t> </a:t>
            </a:r>
            <a:r>
              <a:rPr spc="-39" dirty="0">
                <a:latin typeface="Arial MT"/>
                <a:cs typeface="Times New Roman"/>
              </a:rPr>
              <a:t>class</a:t>
            </a:r>
            <a:r>
              <a:rPr spc="86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that</a:t>
            </a:r>
            <a:r>
              <a:rPr spc="74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has</a:t>
            </a:r>
            <a:r>
              <a:rPr spc="89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the</a:t>
            </a:r>
            <a:r>
              <a:rPr spc="82" dirty="0">
                <a:latin typeface="Arial MT"/>
                <a:cs typeface="Times New Roman"/>
              </a:rPr>
              <a:t>  </a:t>
            </a:r>
            <a:r>
              <a:rPr spc="-70" dirty="0">
                <a:latin typeface="Arial MT"/>
                <a:cs typeface="Times New Roman"/>
              </a:rPr>
              <a:t>following</a:t>
            </a:r>
            <a:r>
              <a:rPr spc="66" dirty="0">
                <a:latin typeface="Arial MT"/>
                <a:cs typeface="Times New Roman"/>
              </a:rPr>
              <a:t> </a:t>
            </a:r>
            <a:r>
              <a:rPr spc="-43" dirty="0">
                <a:latin typeface="Arial MT"/>
                <a:cs typeface="Times New Roman"/>
              </a:rPr>
              <a:t>declaration</a:t>
            </a:r>
            <a:r>
              <a:rPr lang="en-US" spc="-43" dirty="0">
                <a:latin typeface="Arial MT"/>
                <a:cs typeface="Times New Roman"/>
              </a:rPr>
              <a:t>.</a:t>
            </a:r>
          </a:p>
          <a:p>
            <a:pPr marL="9925" marR="3970">
              <a:lnSpc>
                <a:spcPct val="80100"/>
              </a:lnSpc>
              <a:spcBef>
                <a:spcPts val="524"/>
              </a:spcBef>
              <a:buClr>
                <a:srgbClr val="D24717"/>
              </a:buClr>
              <a:buSzPct val="85416"/>
              <a:tabLst>
                <a:tab pos="224306" algn="l"/>
              </a:tabLst>
            </a:pPr>
            <a:r>
              <a:rPr lang="en-US" b="1" spc="-43" dirty="0">
                <a:latin typeface="Arial MT"/>
                <a:cs typeface="Times New Roman"/>
              </a:rPr>
              <a:t>  </a:t>
            </a:r>
            <a:r>
              <a:rPr b="1" spc="27" dirty="0">
                <a:latin typeface="Arial MT"/>
                <a:cs typeface="Times New Roman"/>
              </a:rPr>
              <a:t> </a:t>
            </a:r>
            <a:r>
              <a:rPr b="1" spc="-8" dirty="0">
                <a:latin typeface="Arial MT"/>
                <a:cs typeface="Times New Roman"/>
              </a:rPr>
              <a:t>class </a:t>
            </a:r>
            <a:r>
              <a:rPr b="1" spc="-31" dirty="0">
                <a:latin typeface="Arial MT"/>
                <a:cs typeface="Times New Roman"/>
              </a:rPr>
              <a:t>ArrayList&lt;E&gt;</a:t>
            </a:r>
            <a:r>
              <a:rPr lang="en-US" b="1" spc="-31" dirty="0">
                <a:latin typeface="Arial MT"/>
                <a:cs typeface="Times New Roman"/>
              </a:rPr>
              <a:t>  </a:t>
            </a:r>
          </a:p>
          <a:p>
            <a:pPr marL="9925" marR="3970">
              <a:lnSpc>
                <a:spcPct val="80100"/>
              </a:lnSpc>
              <a:spcBef>
                <a:spcPts val="524"/>
              </a:spcBef>
              <a:buClr>
                <a:srgbClr val="D24717"/>
              </a:buClr>
              <a:buSzPct val="85416"/>
              <a:tabLst>
                <a:tab pos="224306" algn="l"/>
              </a:tabLst>
            </a:pPr>
            <a:r>
              <a:rPr spc="-31" dirty="0">
                <a:latin typeface="Arial MT"/>
                <a:cs typeface="Times New Roman"/>
              </a:rPr>
              <a:t>Here,</a:t>
            </a:r>
            <a:r>
              <a:rPr spc="47" dirty="0">
                <a:latin typeface="Arial MT"/>
                <a:cs typeface="Times New Roman"/>
              </a:rPr>
              <a:t> </a:t>
            </a:r>
            <a:r>
              <a:rPr spc="-301" dirty="0">
                <a:latin typeface="Arial MT"/>
                <a:cs typeface="Times New Roman"/>
              </a:rPr>
              <a:t>E</a:t>
            </a:r>
            <a:r>
              <a:rPr spc="184" dirty="0">
                <a:latin typeface="Arial MT"/>
                <a:cs typeface="Times New Roman"/>
              </a:rPr>
              <a:t> </a:t>
            </a:r>
            <a:r>
              <a:rPr spc="-82" dirty="0">
                <a:latin typeface="Arial MT"/>
                <a:cs typeface="Times New Roman"/>
              </a:rPr>
              <a:t>specifies</a:t>
            </a:r>
            <a:r>
              <a:rPr spc="152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the</a:t>
            </a:r>
            <a:r>
              <a:rPr spc="145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type</a:t>
            </a:r>
            <a:r>
              <a:rPr spc="141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of</a:t>
            </a:r>
            <a:r>
              <a:rPr spc="152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objects</a:t>
            </a:r>
            <a:r>
              <a:rPr spc="164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that</a:t>
            </a:r>
            <a:r>
              <a:rPr spc="156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the</a:t>
            </a:r>
            <a:r>
              <a:rPr spc="148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list</a:t>
            </a:r>
            <a:r>
              <a:rPr spc="145" dirty="0">
                <a:latin typeface="Arial MT"/>
                <a:cs typeface="Times New Roman"/>
              </a:rPr>
              <a:t> </a:t>
            </a:r>
            <a:r>
              <a:rPr lang="en-US" spc="145" dirty="0">
                <a:latin typeface="Arial MT"/>
                <a:cs typeface="Times New Roman"/>
              </a:rPr>
              <a:t>w</a:t>
            </a:r>
            <a:r>
              <a:rPr spc="-20" dirty="0">
                <a:latin typeface="Arial MT"/>
                <a:cs typeface="Times New Roman"/>
              </a:rPr>
              <a:t>ill </a:t>
            </a:r>
            <a:r>
              <a:rPr spc="-63" dirty="0">
                <a:latin typeface="Arial MT"/>
                <a:cs typeface="Times New Roman"/>
              </a:rPr>
              <a:t>hold.</a:t>
            </a:r>
            <a:r>
              <a:rPr spc="-109" dirty="0">
                <a:latin typeface="Arial MT"/>
                <a:cs typeface="Times New Roman"/>
              </a:rPr>
              <a:t> </a:t>
            </a:r>
            <a:endParaRPr lang="en-US" spc="-109" dirty="0">
              <a:latin typeface="Arial MT"/>
              <a:cs typeface="Times New Roman"/>
            </a:endParaRPr>
          </a:p>
          <a:p>
            <a:pPr marL="9925">
              <a:spcBef>
                <a:spcPts val="20"/>
              </a:spcBef>
            </a:pPr>
            <a:r>
              <a:rPr lang="en-US" dirty="0">
                <a:latin typeface="Arial MT"/>
                <a:cs typeface="Times New Roman"/>
              </a:rPr>
              <a:t>  </a:t>
            </a:r>
            <a:r>
              <a:rPr dirty="0">
                <a:latin typeface="Arial MT"/>
                <a:cs typeface="Times New Roman"/>
              </a:rPr>
              <a:t>import</a:t>
            </a:r>
            <a:r>
              <a:rPr spc="12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java.util.*;</a:t>
            </a:r>
            <a:endParaRPr dirty="0">
              <a:latin typeface="Arial MT"/>
              <a:cs typeface="Times New Roman"/>
            </a:endParaRPr>
          </a:p>
          <a:p>
            <a:pPr marL="62032">
              <a:spcBef>
                <a:spcPts val="23"/>
              </a:spcBef>
            </a:pPr>
            <a:r>
              <a:rPr lang="en-US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public</a:t>
            </a:r>
            <a:r>
              <a:rPr spc="27" dirty="0">
                <a:latin typeface="Arial MT"/>
                <a:cs typeface="Times New Roman"/>
              </a:rPr>
              <a:t> </a:t>
            </a:r>
            <a:r>
              <a:rPr spc="-27" dirty="0">
                <a:latin typeface="Arial MT"/>
                <a:cs typeface="Times New Roman"/>
              </a:rPr>
              <a:t>class</a:t>
            </a:r>
            <a:r>
              <a:rPr spc="-172" dirty="0">
                <a:latin typeface="Arial MT"/>
                <a:cs typeface="Times New Roman"/>
              </a:rPr>
              <a:t> </a:t>
            </a:r>
            <a:r>
              <a:rPr spc="-59" dirty="0">
                <a:latin typeface="Arial MT"/>
                <a:cs typeface="Times New Roman"/>
              </a:rPr>
              <a:t>ArrayListExample1{</a:t>
            </a:r>
            <a:endParaRPr dirty="0">
              <a:latin typeface="Arial MT"/>
              <a:cs typeface="Times New Roman"/>
            </a:endParaRPr>
          </a:p>
          <a:p>
            <a:pPr marL="62032">
              <a:spcBef>
                <a:spcPts val="20"/>
              </a:spcBef>
            </a:pPr>
            <a:r>
              <a:rPr lang="en-US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public static</a:t>
            </a:r>
            <a:r>
              <a:rPr spc="-23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void</a:t>
            </a:r>
            <a:r>
              <a:rPr spc="-23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main(String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args[]){</a:t>
            </a:r>
            <a:endParaRPr dirty="0">
              <a:latin typeface="Arial MT"/>
              <a:cs typeface="Times New Roman"/>
            </a:endParaRPr>
          </a:p>
          <a:p>
            <a:pPr marL="97762">
              <a:spcBef>
                <a:spcPts val="20"/>
              </a:spcBef>
            </a:pPr>
            <a:r>
              <a:rPr lang="en-US" spc="-70" dirty="0">
                <a:latin typeface="Arial MT"/>
                <a:cs typeface="Times New Roman"/>
              </a:rPr>
              <a:t> </a:t>
            </a:r>
            <a:r>
              <a:rPr spc="-70" dirty="0">
                <a:latin typeface="Arial MT"/>
                <a:cs typeface="Times New Roman"/>
              </a:rPr>
              <a:t>ArrayList&lt;String&gt;</a:t>
            </a:r>
            <a:r>
              <a:rPr spc="27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list=new</a:t>
            </a:r>
            <a:r>
              <a:rPr spc="-152" dirty="0">
                <a:latin typeface="Arial MT"/>
                <a:cs typeface="Times New Roman"/>
              </a:rPr>
              <a:t> </a:t>
            </a:r>
            <a:r>
              <a:rPr spc="-23" dirty="0">
                <a:latin typeface="Arial MT"/>
                <a:cs typeface="Times New Roman"/>
              </a:rPr>
              <a:t>ArrayList&lt;String&gt;();</a:t>
            </a:r>
            <a:r>
              <a:rPr spc="-23" dirty="0">
                <a:solidFill>
                  <a:srgbClr val="FF0000"/>
                </a:solidFill>
                <a:latin typeface="Arial MT"/>
                <a:cs typeface="Times New Roman"/>
              </a:rPr>
              <a:t>/*Creating</a:t>
            </a:r>
            <a:r>
              <a:rPr lang="en-US" spc="-2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8" dirty="0" err="1">
                <a:solidFill>
                  <a:srgbClr val="FF0000"/>
                </a:solidFill>
                <a:latin typeface="Arial MT"/>
                <a:cs typeface="Times New Roman"/>
              </a:rPr>
              <a:t>arraylist</a:t>
            </a:r>
            <a:r>
              <a:rPr spc="-8" dirty="0">
                <a:solidFill>
                  <a:srgbClr val="FF0000"/>
                </a:solidFill>
                <a:latin typeface="Arial MT"/>
                <a:cs typeface="Times New Roman"/>
              </a:rPr>
              <a:t>*/</a:t>
            </a:r>
            <a:endParaRPr dirty="0">
              <a:latin typeface="Arial MT"/>
              <a:cs typeface="Times New Roman"/>
            </a:endParaRPr>
          </a:p>
          <a:p>
            <a:pPr marL="331497" marR="2240580">
              <a:lnSpc>
                <a:spcPct val="100800"/>
              </a:lnSpc>
            </a:pPr>
            <a:r>
              <a:rPr spc="-51" dirty="0">
                <a:latin typeface="Arial MT"/>
                <a:cs typeface="Times New Roman"/>
              </a:rPr>
              <a:t>list.add("Mango");</a:t>
            </a:r>
            <a:r>
              <a:rPr spc="-51" dirty="0">
                <a:solidFill>
                  <a:srgbClr val="FF0000"/>
                </a:solidFill>
                <a:latin typeface="Arial MT"/>
                <a:cs typeface="Times New Roman"/>
              </a:rPr>
              <a:t>//Adding</a:t>
            </a:r>
            <a:r>
              <a:rPr spc="-47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78" dirty="0">
                <a:solidFill>
                  <a:srgbClr val="FF0000"/>
                </a:solidFill>
                <a:latin typeface="Arial MT"/>
                <a:cs typeface="Times New Roman"/>
              </a:rPr>
              <a:t>object</a:t>
            </a:r>
            <a:r>
              <a:rPr spc="-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89" dirty="0">
                <a:solidFill>
                  <a:srgbClr val="FF0000"/>
                </a:solidFill>
                <a:latin typeface="Arial MT"/>
                <a:cs typeface="Times New Roman"/>
              </a:rPr>
              <a:t>in</a:t>
            </a:r>
            <a:r>
              <a:rPr spc="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66" dirty="0" err="1">
                <a:solidFill>
                  <a:srgbClr val="FF0000"/>
                </a:solidFill>
                <a:latin typeface="Arial MT"/>
                <a:cs typeface="Times New Roman"/>
              </a:rPr>
              <a:t>arraylist</a:t>
            </a:r>
            <a:r>
              <a:rPr spc="-66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23" dirty="0">
                <a:latin typeface="Arial MT"/>
                <a:cs typeface="Times New Roman"/>
              </a:rPr>
              <a:t>list.add("Apple");</a:t>
            </a:r>
            <a:endParaRPr dirty="0">
              <a:latin typeface="Arial MT"/>
              <a:cs typeface="Times New Roman"/>
            </a:endParaRPr>
          </a:p>
          <a:p>
            <a:pPr marL="331497">
              <a:spcBef>
                <a:spcPts val="23"/>
              </a:spcBef>
            </a:pPr>
            <a:r>
              <a:rPr spc="-43" dirty="0">
                <a:latin typeface="Arial MT"/>
                <a:cs typeface="Times New Roman"/>
              </a:rPr>
              <a:t>list.add("Banana");</a:t>
            </a:r>
            <a:endParaRPr dirty="0">
              <a:latin typeface="Arial MT"/>
              <a:cs typeface="Times New Roman"/>
            </a:endParaRPr>
          </a:p>
          <a:p>
            <a:pPr marL="331497">
              <a:spcBef>
                <a:spcPts val="16"/>
              </a:spcBef>
            </a:pPr>
            <a:r>
              <a:rPr spc="-23" dirty="0">
                <a:latin typeface="Arial MT"/>
                <a:cs typeface="Times New Roman"/>
              </a:rPr>
              <a:t>list.add("Grapes");</a:t>
            </a:r>
            <a:endParaRPr dirty="0">
              <a:latin typeface="Arial MT"/>
              <a:cs typeface="Times New Roman"/>
            </a:endParaRPr>
          </a:p>
          <a:p>
            <a:pPr marL="331497" marR="3685171">
              <a:lnSpc>
                <a:spcPct val="100899"/>
              </a:lnSpc>
            </a:pPr>
            <a:r>
              <a:rPr spc="-27" dirty="0" err="1">
                <a:latin typeface="Arial MT"/>
                <a:cs typeface="Times New Roman"/>
              </a:rPr>
              <a:t>System.out.println</a:t>
            </a:r>
            <a:r>
              <a:rPr spc="-27" dirty="0">
                <a:latin typeface="Arial MT"/>
                <a:cs typeface="Times New Roman"/>
              </a:rPr>
              <a:t>(list);</a:t>
            </a:r>
            <a:r>
              <a:rPr lang="en-US" spc="-27" dirty="0">
                <a:latin typeface="Arial MT"/>
                <a:cs typeface="Times New Roman"/>
              </a:rPr>
              <a:t> </a:t>
            </a:r>
            <a:endParaRPr dirty="0">
              <a:latin typeface="Arial MT"/>
              <a:cs typeface="Times New Roman"/>
            </a:endParaRPr>
          </a:p>
          <a:p>
            <a:pPr marL="62032">
              <a:spcBef>
                <a:spcPts val="20"/>
              </a:spcBef>
              <a:tabLst>
                <a:tab pos="390551" algn="l"/>
                <a:tab pos="1601903" algn="l"/>
              </a:tabLst>
            </a:pPr>
            <a:r>
              <a:rPr spc="-39" dirty="0">
                <a:latin typeface="Arial MT"/>
                <a:cs typeface="Times New Roman"/>
              </a:rPr>
              <a:t>}</a:t>
            </a:r>
            <a:r>
              <a:rPr lang="en-US" spc="-39" dirty="0">
                <a:latin typeface="Arial MT"/>
                <a:cs typeface="Times New Roman"/>
              </a:rPr>
              <a:t>}</a:t>
            </a:r>
          </a:p>
          <a:p>
            <a:pPr marL="62032">
              <a:spcBef>
                <a:spcPts val="20"/>
              </a:spcBef>
              <a:tabLst>
                <a:tab pos="390551" algn="l"/>
                <a:tab pos="1601903" algn="l"/>
              </a:tabLst>
            </a:pPr>
            <a:r>
              <a:rPr dirty="0">
                <a:latin typeface="Arial MT"/>
                <a:cs typeface="Times New Roman"/>
              </a:rPr>
              <a:t>	</a:t>
            </a:r>
            <a:r>
              <a:rPr spc="-8" dirty="0">
                <a:solidFill>
                  <a:srgbClr val="00AF50"/>
                </a:solidFill>
                <a:latin typeface="Arial MT"/>
                <a:cs typeface="Times New Roman"/>
              </a:rPr>
              <a:t>Output</a:t>
            </a:r>
            <a:endParaRPr dirty="0">
              <a:latin typeface="Arial MT"/>
              <a:cs typeface="Times New Roman"/>
            </a:endParaRPr>
          </a:p>
          <a:p>
            <a:pPr marL="9925">
              <a:spcBef>
                <a:spcPts val="20"/>
              </a:spcBef>
              <a:tabLst>
                <a:tab pos="371693" algn="l"/>
                <a:tab pos="944865" algn="l"/>
              </a:tabLst>
            </a:pPr>
            <a:r>
              <a:rPr dirty="0">
                <a:latin typeface="Arial MT"/>
                <a:cs typeface="Times New Roman"/>
              </a:rPr>
              <a:t>	</a:t>
            </a:r>
            <a:r>
              <a:rPr spc="-8" dirty="0">
                <a:solidFill>
                  <a:srgbClr val="00AF50"/>
                </a:solidFill>
                <a:latin typeface="Arial MT"/>
                <a:cs typeface="Times New Roman"/>
              </a:rPr>
              <a:t>[Mango,</a:t>
            </a:r>
            <a:r>
              <a:rPr spc="-211" dirty="0">
                <a:solidFill>
                  <a:srgbClr val="00AF50"/>
                </a:solidFill>
                <a:latin typeface="Arial MT"/>
                <a:cs typeface="Times New Roman"/>
              </a:rPr>
              <a:t> </a:t>
            </a:r>
            <a:r>
              <a:rPr dirty="0">
                <a:solidFill>
                  <a:srgbClr val="00AF50"/>
                </a:solidFill>
                <a:latin typeface="Arial MT"/>
                <a:cs typeface="Times New Roman"/>
              </a:rPr>
              <a:t>Apple,</a:t>
            </a:r>
            <a:r>
              <a:rPr spc="-89" dirty="0">
                <a:solidFill>
                  <a:srgbClr val="00AF50"/>
                </a:solidFill>
                <a:latin typeface="Arial MT"/>
                <a:cs typeface="Times New Roman"/>
              </a:rPr>
              <a:t> </a:t>
            </a:r>
            <a:r>
              <a:rPr spc="-51" dirty="0">
                <a:solidFill>
                  <a:srgbClr val="00AF50"/>
                </a:solidFill>
                <a:latin typeface="Arial MT"/>
                <a:cs typeface="Times New Roman"/>
              </a:rPr>
              <a:t>Banana,</a:t>
            </a:r>
            <a:r>
              <a:rPr spc="-109" dirty="0">
                <a:solidFill>
                  <a:srgbClr val="00AF50"/>
                </a:solidFill>
                <a:latin typeface="Arial MT"/>
                <a:cs typeface="Times New Roman"/>
              </a:rPr>
              <a:t> </a:t>
            </a:r>
            <a:r>
              <a:rPr spc="-8" dirty="0">
                <a:solidFill>
                  <a:srgbClr val="00AF50"/>
                </a:solidFill>
                <a:latin typeface="Arial MT"/>
                <a:cs typeface="Times New Roman"/>
              </a:rPr>
              <a:t>Grapes]</a:t>
            </a:r>
            <a:endParaRPr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050" y="1079500"/>
            <a:ext cx="7162800" cy="4019813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224306" marR="520569" indent="-214381">
              <a:lnSpc>
                <a:spcPct val="150000"/>
              </a:lnSpc>
              <a:spcBef>
                <a:spcPts val="86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pc="-203" dirty="0">
                <a:latin typeface="Arial MT"/>
                <a:cs typeface="Times New Roman"/>
              </a:rPr>
              <a:t>Java</a:t>
            </a:r>
            <a:r>
              <a:rPr spc="-254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ArrayList</a:t>
            </a:r>
            <a:r>
              <a:rPr spc="-98" dirty="0">
                <a:latin typeface="Arial MT"/>
                <a:cs typeface="Times New Roman"/>
              </a:rPr>
              <a:t> </a:t>
            </a:r>
            <a:r>
              <a:rPr spc="-148" dirty="0">
                <a:latin typeface="Arial MT"/>
                <a:cs typeface="Times New Roman"/>
              </a:rPr>
              <a:t>class</a:t>
            </a:r>
            <a:r>
              <a:rPr spc="-47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uses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179" dirty="0">
                <a:latin typeface="Arial MT"/>
                <a:cs typeface="Times New Roman"/>
              </a:rPr>
              <a:t>a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145" dirty="0">
                <a:latin typeface="Arial MT"/>
                <a:cs typeface="Times New Roman"/>
              </a:rPr>
              <a:t>dynamic</a:t>
            </a:r>
            <a:r>
              <a:rPr spc="-70" dirty="0">
                <a:latin typeface="Arial MT"/>
                <a:cs typeface="Times New Roman"/>
              </a:rPr>
              <a:t> </a:t>
            </a:r>
            <a:r>
              <a:rPr spc="-113" dirty="0">
                <a:latin typeface="Arial MT"/>
                <a:cs typeface="Times New Roman"/>
              </a:rPr>
              <a:t>array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for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storing</a:t>
            </a:r>
            <a:r>
              <a:rPr spc="-70" dirty="0">
                <a:latin typeface="Arial MT"/>
                <a:cs typeface="Times New Roman"/>
              </a:rPr>
              <a:t> </a:t>
            </a:r>
            <a:r>
              <a:rPr spc="-20" dirty="0">
                <a:latin typeface="Arial MT"/>
                <a:cs typeface="Times New Roman"/>
              </a:rPr>
              <a:t>the </a:t>
            </a:r>
            <a:r>
              <a:rPr spc="-8" dirty="0">
                <a:latin typeface="Arial MT"/>
                <a:cs typeface="Times New Roman"/>
              </a:rPr>
              <a:t>elements.</a:t>
            </a:r>
            <a:endParaRPr dirty="0">
              <a:latin typeface="Arial MT"/>
              <a:cs typeface="Times New Roman"/>
            </a:endParaRPr>
          </a:p>
          <a:p>
            <a:pPr marL="224306" marR="317105" indent="-214381">
              <a:lnSpc>
                <a:spcPct val="150000"/>
              </a:lnSpc>
              <a:spcBef>
                <a:spcPts val="473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pc="-78" dirty="0">
                <a:latin typeface="Arial MT"/>
                <a:cs typeface="Times New Roman"/>
              </a:rPr>
              <a:t>It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145" dirty="0">
                <a:latin typeface="Arial MT"/>
                <a:cs typeface="Times New Roman"/>
              </a:rPr>
              <a:t>is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117" dirty="0">
                <a:latin typeface="Arial MT"/>
                <a:cs typeface="Times New Roman"/>
              </a:rPr>
              <a:t>like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141" dirty="0">
                <a:latin typeface="Arial MT"/>
                <a:cs typeface="Times New Roman"/>
              </a:rPr>
              <a:t>an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117" dirty="0">
                <a:latin typeface="Arial MT"/>
                <a:cs typeface="Times New Roman"/>
              </a:rPr>
              <a:t>array,</a:t>
            </a:r>
            <a:r>
              <a:rPr spc="-141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but</a:t>
            </a:r>
            <a:r>
              <a:rPr spc="-66" dirty="0">
                <a:latin typeface="Arial MT"/>
                <a:cs typeface="Times New Roman"/>
              </a:rPr>
              <a:t> </a:t>
            </a:r>
            <a:r>
              <a:rPr spc="-55" dirty="0">
                <a:latin typeface="Arial MT"/>
                <a:cs typeface="Times New Roman"/>
              </a:rPr>
              <a:t>there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145" dirty="0">
                <a:latin typeface="Arial MT"/>
                <a:cs typeface="Times New Roman"/>
              </a:rPr>
              <a:t>is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102" dirty="0">
                <a:latin typeface="Arial MT"/>
                <a:cs typeface="Times New Roman"/>
              </a:rPr>
              <a:t>no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size</a:t>
            </a:r>
            <a:r>
              <a:rPr spc="-47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limit.We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can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125" dirty="0">
                <a:latin typeface="Arial MT"/>
                <a:cs typeface="Times New Roman"/>
              </a:rPr>
              <a:t>add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20" dirty="0">
                <a:latin typeface="Arial MT"/>
                <a:cs typeface="Times New Roman"/>
              </a:rPr>
              <a:t>or </a:t>
            </a:r>
            <a:r>
              <a:rPr spc="-117" dirty="0">
                <a:latin typeface="Arial MT"/>
                <a:cs typeface="Times New Roman"/>
              </a:rPr>
              <a:t>remove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elements</a:t>
            </a:r>
            <a:r>
              <a:rPr spc="-23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anytime.</a:t>
            </a:r>
            <a:endParaRPr dirty="0">
              <a:latin typeface="Arial MT"/>
              <a:cs typeface="Times New Roman"/>
            </a:endParaRPr>
          </a:p>
          <a:p>
            <a:pPr marL="224306" marR="172695" indent="-214381">
              <a:lnSpc>
                <a:spcPct val="150000"/>
              </a:lnSpc>
              <a:spcBef>
                <a:spcPts val="469"/>
              </a:spcBef>
              <a:buSzPct val="83928"/>
              <a:buFont typeface="Wingdings"/>
              <a:buChar char=""/>
              <a:tabLst>
                <a:tab pos="224306" algn="l"/>
                <a:tab pos="285345" algn="l"/>
              </a:tabLst>
            </a:pPr>
            <a:r>
              <a:rPr dirty="0">
                <a:solidFill>
                  <a:srgbClr val="D24717"/>
                </a:solidFill>
                <a:latin typeface="Arial MT"/>
                <a:cs typeface="Times New Roman"/>
              </a:rPr>
              <a:t>	</a:t>
            </a:r>
            <a:r>
              <a:rPr spc="-113" dirty="0">
                <a:latin typeface="Arial MT"/>
                <a:cs typeface="Times New Roman"/>
              </a:rPr>
              <a:t>So,</a:t>
            </a:r>
            <a:r>
              <a:rPr spc="-168" dirty="0">
                <a:latin typeface="Arial MT"/>
                <a:cs typeface="Times New Roman"/>
              </a:rPr>
              <a:t> </a:t>
            </a:r>
            <a:r>
              <a:rPr spc="-23" dirty="0">
                <a:latin typeface="Arial MT"/>
                <a:cs typeface="Times New Roman"/>
              </a:rPr>
              <a:t>it</a:t>
            </a:r>
            <a:r>
              <a:rPr spc="-66" dirty="0">
                <a:latin typeface="Arial MT"/>
                <a:cs typeface="Times New Roman"/>
              </a:rPr>
              <a:t> </a:t>
            </a:r>
            <a:r>
              <a:rPr spc="-145" dirty="0">
                <a:latin typeface="Arial MT"/>
                <a:cs typeface="Times New Roman"/>
              </a:rPr>
              <a:t>is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much</a:t>
            </a:r>
            <a:r>
              <a:rPr spc="-70" dirty="0">
                <a:latin typeface="Arial MT"/>
                <a:cs typeface="Times New Roman"/>
              </a:rPr>
              <a:t> </a:t>
            </a:r>
            <a:r>
              <a:rPr spc="-82" dirty="0">
                <a:latin typeface="Arial MT"/>
                <a:cs typeface="Times New Roman"/>
              </a:rPr>
              <a:t>more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113" dirty="0">
                <a:latin typeface="Arial MT"/>
                <a:cs typeface="Times New Roman"/>
              </a:rPr>
              <a:t>flexible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102" dirty="0">
                <a:latin typeface="Arial MT"/>
                <a:cs typeface="Times New Roman"/>
              </a:rPr>
              <a:t>than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66" dirty="0">
                <a:latin typeface="Arial MT"/>
                <a:cs typeface="Times New Roman"/>
              </a:rPr>
              <a:t>the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traditional</a:t>
            </a:r>
            <a:r>
              <a:rPr spc="-82" dirty="0">
                <a:latin typeface="Arial MT"/>
                <a:cs typeface="Times New Roman"/>
              </a:rPr>
              <a:t> </a:t>
            </a:r>
            <a:r>
              <a:rPr spc="-117" dirty="0">
                <a:latin typeface="Arial MT"/>
                <a:cs typeface="Times New Roman"/>
              </a:rPr>
              <a:t>array.</a:t>
            </a:r>
            <a:r>
              <a:rPr spc="-141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It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20" dirty="0">
                <a:latin typeface="Arial MT"/>
                <a:cs typeface="Times New Roman"/>
              </a:rPr>
              <a:t>is </a:t>
            </a:r>
            <a:r>
              <a:rPr spc="-117" dirty="0">
                <a:latin typeface="Arial MT"/>
                <a:cs typeface="Times New Roman"/>
              </a:rPr>
              <a:t>found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spc="-109" dirty="0">
                <a:latin typeface="Arial MT"/>
                <a:cs typeface="Times New Roman"/>
              </a:rPr>
              <a:t>in</a:t>
            </a:r>
            <a:r>
              <a:rPr spc="-51" dirty="0">
                <a:latin typeface="Arial MT"/>
                <a:cs typeface="Times New Roman"/>
              </a:rPr>
              <a:t> </a:t>
            </a:r>
            <a:r>
              <a:rPr spc="-63" dirty="0">
                <a:latin typeface="Arial MT"/>
                <a:cs typeface="Times New Roman"/>
              </a:rPr>
              <a:t>the</a:t>
            </a:r>
            <a:r>
              <a:rPr spc="-43" dirty="0">
                <a:latin typeface="Arial MT"/>
                <a:cs typeface="Times New Roman"/>
              </a:rPr>
              <a:t> </a:t>
            </a:r>
            <a:r>
              <a:rPr spc="-102" dirty="0">
                <a:latin typeface="Arial MT"/>
                <a:cs typeface="Times New Roman"/>
              </a:rPr>
              <a:t>java.util</a:t>
            </a:r>
            <a:r>
              <a:rPr spc="-78" dirty="0">
                <a:latin typeface="Arial MT"/>
                <a:cs typeface="Times New Roman"/>
              </a:rPr>
              <a:t> </a:t>
            </a:r>
            <a:r>
              <a:rPr spc="-113" dirty="0">
                <a:latin typeface="Arial MT"/>
                <a:cs typeface="Times New Roman"/>
              </a:rPr>
              <a:t>package.</a:t>
            </a:r>
            <a:r>
              <a:rPr spc="-164" dirty="0">
                <a:latin typeface="Arial MT"/>
                <a:cs typeface="Times New Roman"/>
              </a:rPr>
              <a:t> </a:t>
            </a:r>
            <a:endParaRPr dirty="0">
              <a:latin typeface="Arial MT"/>
              <a:cs typeface="Times New Roman"/>
            </a:endParaRPr>
          </a:p>
          <a:p>
            <a:pPr marL="224306" marR="3970" indent="-214381" algn="just">
              <a:lnSpc>
                <a:spcPct val="150000"/>
              </a:lnSpc>
              <a:spcBef>
                <a:spcPts val="473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pc="-227" dirty="0">
                <a:latin typeface="Arial MT"/>
                <a:cs typeface="Times New Roman"/>
              </a:rPr>
              <a:t>The</a:t>
            </a:r>
            <a:r>
              <a:rPr spc="89" dirty="0">
                <a:latin typeface="Arial MT"/>
                <a:cs typeface="Times New Roman"/>
              </a:rPr>
              <a:t> </a:t>
            </a:r>
            <a:r>
              <a:rPr spc="-145" dirty="0">
                <a:latin typeface="Arial MT"/>
                <a:cs typeface="Times New Roman"/>
              </a:rPr>
              <a:t>ArrayList</a:t>
            </a:r>
            <a:r>
              <a:rPr spc="8" dirty="0">
                <a:latin typeface="Arial MT"/>
                <a:cs typeface="Times New Roman"/>
              </a:rPr>
              <a:t> </a:t>
            </a:r>
            <a:r>
              <a:rPr spc="-121" dirty="0">
                <a:latin typeface="Arial MT"/>
                <a:cs typeface="Times New Roman"/>
              </a:rPr>
              <a:t>in</a:t>
            </a:r>
            <a:r>
              <a:rPr spc="-16" dirty="0">
                <a:latin typeface="Arial MT"/>
                <a:cs typeface="Times New Roman"/>
              </a:rPr>
              <a:t> </a:t>
            </a:r>
            <a:r>
              <a:rPr spc="-258" dirty="0">
                <a:latin typeface="Arial MT"/>
                <a:cs typeface="Times New Roman"/>
              </a:rPr>
              <a:t>Java</a:t>
            </a:r>
            <a:r>
              <a:rPr spc="121" dirty="0">
                <a:latin typeface="Arial MT"/>
                <a:cs typeface="Times New Roman"/>
              </a:rPr>
              <a:t> </a:t>
            </a:r>
            <a:r>
              <a:rPr spc="-168" dirty="0">
                <a:latin typeface="Arial MT"/>
                <a:cs typeface="Times New Roman"/>
              </a:rPr>
              <a:t>can</a:t>
            </a:r>
            <a:r>
              <a:rPr spc="31" dirty="0">
                <a:latin typeface="Arial MT"/>
                <a:cs typeface="Times New Roman"/>
              </a:rPr>
              <a:t> </a:t>
            </a:r>
            <a:r>
              <a:rPr spc="-207" dirty="0">
                <a:latin typeface="Arial MT"/>
                <a:cs typeface="Times New Roman"/>
              </a:rPr>
              <a:t>have</a:t>
            </a:r>
            <a:r>
              <a:rPr spc="70" dirty="0">
                <a:latin typeface="Arial MT"/>
                <a:cs typeface="Times New Roman"/>
              </a:rPr>
              <a:t> </a:t>
            </a:r>
            <a:r>
              <a:rPr spc="-63" dirty="0">
                <a:latin typeface="Arial MT"/>
                <a:cs typeface="Times New Roman"/>
              </a:rPr>
              <a:t>the</a:t>
            </a:r>
            <a:r>
              <a:rPr spc="-74" dirty="0">
                <a:latin typeface="Arial MT"/>
                <a:cs typeface="Times New Roman"/>
              </a:rPr>
              <a:t> </a:t>
            </a:r>
            <a:r>
              <a:rPr spc="-106" dirty="0">
                <a:latin typeface="Arial MT"/>
                <a:cs typeface="Times New Roman"/>
              </a:rPr>
              <a:t>duplicate</a:t>
            </a:r>
            <a:r>
              <a:rPr spc="-4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elements</a:t>
            </a:r>
            <a:r>
              <a:rPr spc="98" dirty="0">
                <a:latin typeface="Arial MT"/>
                <a:cs typeface="Times New Roman"/>
              </a:rPr>
              <a:t> </a:t>
            </a:r>
            <a:r>
              <a:rPr spc="-141" dirty="0">
                <a:latin typeface="Arial MT"/>
                <a:cs typeface="Times New Roman"/>
              </a:rPr>
              <a:t>also.</a:t>
            </a:r>
            <a:r>
              <a:rPr spc="4" dirty="0">
                <a:latin typeface="Arial MT"/>
                <a:cs typeface="Times New Roman"/>
              </a:rPr>
              <a:t> </a:t>
            </a:r>
            <a:r>
              <a:rPr spc="-20" dirty="0">
                <a:latin typeface="Arial MT"/>
                <a:cs typeface="Times New Roman"/>
              </a:rPr>
              <a:t>It </a:t>
            </a:r>
            <a:r>
              <a:rPr spc="-106" dirty="0">
                <a:latin typeface="Arial MT"/>
                <a:cs typeface="Times New Roman"/>
              </a:rPr>
              <a:t>implements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66" dirty="0">
                <a:latin typeface="Arial MT"/>
                <a:cs typeface="Times New Roman"/>
              </a:rPr>
              <a:t>the</a:t>
            </a:r>
            <a:r>
              <a:rPr spc="-70" dirty="0">
                <a:latin typeface="Arial MT"/>
                <a:cs typeface="Times New Roman"/>
              </a:rPr>
              <a:t> </a:t>
            </a:r>
            <a:r>
              <a:rPr spc="-156" dirty="0">
                <a:latin typeface="Arial MT"/>
                <a:cs typeface="Times New Roman"/>
              </a:rPr>
              <a:t>List</a:t>
            </a:r>
            <a:r>
              <a:rPr spc="20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interface</a:t>
            </a:r>
            <a:r>
              <a:rPr spc="-12" dirty="0">
                <a:latin typeface="Arial MT"/>
                <a:cs typeface="Times New Roman"/>
              </a:rPr>
              <a:t> </a:t>
            </a:r>
            <a:r>
              <a:rPr spc="-188" dirty="0">
                <a:latin typeface="Arial MT"/>
                <a:cs typeface="Times New Roman"/>
              </a:rPr>
              <a:t>so</a:t>
            </a:r>
            <a:r>
              <a:rPr spc="51" dirty="0">
                <a:latin typeface="Arial MT"/>
                <a:cs typeface="Times New Roman"/>
              </a:rPr>
              <a:t> </a:t>
            </a:r>
            <a:r>
              <a:rPr spc="-219" dirty="0">
                <a:latin typeface="Arial MT"/>
                <a:cs typeface="Times New Roman"/>
              </a:rPr>
              <a:t>we</a:t>
            </a:r>
            <a:r>
              <a:rPr spc="82" dirty="0">
                <a:latin typeface="Arial MT"/>
                <a:cs typeface="Times New Roman"/>
              </a:rPr>
              <a:t> </a:t>
            </a:r>
            <a:r>
              <a:rPr spc="-176" dirty="0">
                <a:latin typeface="Arial MT"/>
                <a:cs typeface="Times New Roman"/>
              </a:rPr>
              <a:t>can</a:t>
            </a:r>
            <a:r>
              <a:rPr spc="39" dirty="0">
                <a:latin typeface="Arial MT"/>
                <a:cs typeface="Times New Roman"/>
              </a:rPr>
              <a:t> </a:t>
            </a:r>
            <a:r>
              <a:rPr spc="-148" dirty="0">
                <a:latin typeface="Arial MT"/>
                <a:cs typeface="Times New Roman"/>
              </a:rPr>
              <a:t>use</a:t>
            </a:r>
            <a:r>
              <a:rPr spc="12" dirty="0">
                <a:latin typeface="Arial MT"/>
                <a:cs typeface="Times New Roman"/>
              </a:rPr>
              <a:t> </a:t>
            </a:r>
            <a:r>
              <a:rPr spc="-133" dirty="0">
                <a:latin typeface="Arial MT"/>
                <a:cs typeface="Times New Roman"/>
              </a:rPr>
              <a:t>all</a:t>
            </a:r>
            <a:r>
              <a:rPr spc="31" dirty="0">
                <a:latin typeface="Arial MT"/>
                <a:cs typeface="Times New Roman"/>
              </a:rPr>
              <a:t> </a:t>
            </a:r>
            <a:r>
              <a:rPr spc="-70" dirty="0">
                <a:latin typeface="Arial MT"/>
                <a:cs typeface="Times New Roman"/>
              </a:rPr>
              <a:t>the</a:t>
            </a:r>
            <a:r>
              <a:rPr spc="31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methods </a:t>
            </a:r>
            <a:r>
              <a:rPr spc="-137" dirty="0">
                <a:latin typeface="Arial MT"/>
                <a:cs typeface="Times New Roman"/>
              </a:rPr>
              <a:t>of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125" dirty="0">
                <a:latin typeface="Arial MT"/>
                <a:cs typeface="Times New Roman"/>
              </a:rPr>
              <a:t>List</a:t>
            </a:r>
            <a:r>
              <a:rPr spc="-74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interface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16" dirty="0">
                <a:latin typeface="Arial MT"/>
                <a:cs typeface="Times New Roman"/>
              </a:rPr>
              <a:t>here.</a:t>
            </a:r>
            <a:endParaRPr dirty="0">
              <a:latin typeface="Arial MT"/>
              <a:cs typeface="Times New Roman"/>
            </a:endParaRPr>
          </a:p>
          <a:p>
            <a:pPr marL="223810" indent="-213885" algn="just">
              <a:lnSpc>
                <a:spcPct val="150000"/>
              </a:lnSpc>
              <a:spcBef>
                <a:spcPts val="473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3810" algn="l"/>
              </a:tabLst>
            </a:pPr>
            <a:r>
              <a:rPr spc="-113" dirty="0">
                <a:latin typeface="Arial MT"/>
                <a:cs typeface="Times New Roman"/>
              </a:rPr>
              <a:t>The</a:t>
            </a:r>
            <a:r>
              <a:rPr spc="-234" dirty="0">
                <a:latin typeface="Arial MT"/>
                <a:cs typeface="Times New Roman"/>
              </a:rPr>
              <a:t> </a:t>
            </a:r>
            <a:r>
              <a:rPr spc="-129" dirty="0">
                <a:latin typeface="Arial MT"/>
                <a:cs typeface="Times New Roman"/>
              </a:rPr>
              <a:t>ArrayList</a:t>
            </a:r>
            <a:r>
              <a:rPr spc="-109" dirty="0">
                <a:latin typeface="Arial MT"/>
                <a:cs typeface="Times New Roman"/>
              </a:rPr>
              <a:t> </a:t>
            </a:r>
            <a:r>
              <a:rPr spc="-113" dirty="0">
                <a:latin typeface="Arial MT"/>
                <a:cs typeface="Times New Roman"/>
              </a:rPr>
              <a:t>maintains</a:t>
            </a:r>
            <a:r>
              <a:rPr spc="-102" dirty="0">
                <a:latin typeface="Arial MT"/>
                <a:cs typeface="Times New Roman"/>
              </a:rPr>
              <a:t> </a:t>
            </a:r>
            <a:r>
              <a:rPr spc="-59" dirty="0">
                <a:latin typeface="Arial MT"/>
                <a:cs typeface="Times New Roman"/>
              </a:rPr>
              <a:t>the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70" dirty="0">
                <a:latin typeface="Arial MT"/>
                <a:cs typeface="Times New Roman"/>
              </a:rPr>
              <a:t>insertion</a:t>
            </a:r>
            <a:r>
              <a:rPr spc="-78" dirty="0">
                <a:latin typeface="Arial MT"/>
                <a:cs typeface="Times New Roman"/>
              </a:rPr>
              <a:t> </a:t>
            </a:r>
            <a:r>
              <a:rPr spc="-51" dirty="0">
                <a:latin typeface="Arial MT"/>
                <a:cs typeface="Times New Roman"/>
              </a:rPr>
              <a:t>order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internally.</a:t>
            </a:r>
            <a:endParaRPr dirty="0">
              <a:latin typeface="Arial MT"/>
              <a:cs typeface="Times New Roman"/>
            </a:endParaRPr>
          </a:p>
          <a:p>
            <a:pPr marL="224306" marR="11910" indent="-214381" algn="just">
              <a:lnSpc>
                <a:spcPct val="150000"/>
              </a:lnSpc>
              <a:spcBef>
                <a:spcPts val="469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24306" algn="l"/>
              </a:tabLst>
            </a:pPr>
            <a:r>
              <a:rPr spc="-145" dirty="0">
                <a:latin typeface="Arial MT"/>
                <a:cs typeface="Times New Roman"/>
              </a:rPr>
              <a:t>ArrayList</a:t>
            </a:r>
            <a:r>
              <a:rPr spc="8" dirty="0">
                <a:latin typeface="Arial MT"/>
                <a:cs typeface="Times New Roman"/>
              </a:rPr>
              <a:t> </a:t>
            </a:r>
            <a:r>
              <a:rPr spc="-86" dirty="0">
                <a:latin typeface="Arial MT"/>
                <a:cs typeface="Times New Roman"/>
              </a:rPr>
              <a:t>inherits</a:t>
            </a:r>
            <a:r>
              <a:rPr spc="-47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the</a:t>
            </a:r>
            <a:r>
              <a:rPr dirty="0">
                <a:latin typeface="Arial MT"/>
                <a:cs typeface="Times New Roman"/>
              </a:rPr>
              <a:t> </a:t>
            </a:r>
            <a:r>
              <a:rPr spc="-121" dirty="0">
                <a:latin typeface="Arial MT"/>
                <a:cs typeface="Times New Roman"/>
              </a:rPr>
              <a:t>AbstractList</a:t>
            </a:r>
            <a:r>
              <a:rPr spc="20" dirty="0">
                <a:latin typeface="Arial MT"/>
                <a:cs typeface="Times New Roman"/>
              </a:rPr>
              <a:t> </a:t>
            </a:r>
            <a:r>
              <a:rPr spc="-168" dirty="0">
                <a:latin typeface="Arial MT"/>
                <a:cs typeface="Times New Roman"/>
              </a:rPr>
              <a:t>class</a:t>
            </a:r>
            <a:r>
              <a:rPr spc="66" dirty="0">
                <a:latin typeface="Arial MT"/>
                <a:cs typeface="Times New Roman"/>
              </a:rPr>
              <a:t> </a:t>
            </a:r>
            <a:r>
              <a:rPr spc="-156" dirty="0">
                <a:latin typeface="Arial MT"/>
                <a:cs typeface="Times New Roman"/>
              </a:rPr>
              <a:t>and</a:t>
            </a:r>
            <a:r>
              <a:rPr spc="66" dirty="0">
                <a:latin typeface="Arial MT"/>
                <a:cs typeface="Times New Roman"/>
              </a:rPr>
              <a:t> </a:t>
            </a:r>
            <a:r>
              <a:rPr spc="-106" dirty="0">
                <a:latin typeface="Arial MT"/>
                <a:cs typeface="Times New Roman"/>
              </a:rPr>
              <a:t>implements</a:t>
            </a:r>
            <a:r>
              <a:rPr spc="63" dirty="0">
                <a:latin typeface="Arial MT"/>
                <a:cs typeface="Times New Roman"/>
              </a:rPr>
              <a:t> </a:t>
            </a:r>
            <a:r>
              <a:rPr spc="-39" dirty="0">
                <a:latin typeface="Arial MT"/>
                <a:cs typeface="Times New Roman"/>
              </a:rPr>
              <a:t>List </a:t>
            </a:r>
            <a:r>
              <a:rPr spc="-8" dirty="0">
                <a:latin typeface="Arial MT"/>
                <a:cs typeface="Times New Roman"/>
              </a:rPr>
              <a:t>interface.</a:t>
            </a:r>
            <a:endParaRPr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050" y="1089825"/>
            <a:ext cx="7162799" cy="3297757"/>
          </a:xfrm>
          <a:prstGeom prst="rect">
            <a:avLst/>
          </a:prstGeom>
        </p:spPr>
        <p:txBody>
          <a:bodyPr vert="horz" wrap="square" lIns="0" tIns="10917" rIns="0" bIns="0" rtlCol="0">
            <a:spAutoFit/>
          </a:bodyPr>
          <a:lstStyle/>
          <a:p>
            <a:pPr marL="9925">
              <a:spcBef>
                <a:spcPts val="86"/>
              </a:spcBef>
            </a:pPr>
            <a:r>
              <a:rPr lang="en-US" sz="2188" b="1" spc="-55" dirty="0">
                <a:latin typeface="Arial MT"/>
                <a:cs typeface="Times New Roman"/>
              </a:rPr>
              <a:t>I</a:t>
            </a:r>
            <a:r>
              <a:rPr sz="2188" b="1" dirty="0">
                <a:latin typeface="Arial MT"/>
                <a:cs typeface="Times New Roman"/>
              </a:rPr>
              <a:t>mportant</a:t>
            </a:r>
            <a:r>
              <a:rPr sz="2188" b="1" spc="-63" dirty="0">
                <a:latin typeface="Arial MT"/>
                <a:cs typeface="Times New Roman"/>
              </a:rPr>
              <a:t> </a:t>
            </a:r>
            <a:r>
              <a:rPr sz="2188" b="1" dirty="0">
                <a:latin typeface="Arial MT"/>
                <a:cs typeface="Times New Roman"/>
              </a:rPr>
              <a:t>points</a:t>
            </a:r>
            <a:r>
              <a:rPr sz="2188" b="1" spc="-55" dirty="0">
                <a:latin typeface="Arial MT"/>
                <a:cs typeface="Times New Roman"/>
              </a:rPr>
              <a:t> </a:t>
            </a:r>
            <a:r>
              <a:rPr sz="2188" b="1" dirty="0">
                <a:latin typeface="Arial MT"/>
                <a:cs typeface="Times New Roman"/>
              </a:rPr>
              <a:t>about</a:t>
            </a:r>
            <a:r>
              <a:rPr sz="2188" b="1" spc="-51" dirty="0">
                <a:latin typeface="Arial MT"/>
                <a:cs typeface="Times New Roman"/>
              </a:rPr>
              <a:t> </a:t>
            </a:r>
            <a:r>
              <a:rPr sz="2188" b="1" spc="-148" dirty="0">
                <a:latin typeface="Arial MT"/>
                <a:cs typeface="Times New Roman"/>
              </a:rPr>
              <a:t>Java</a:t>
            </a:r>
            <a:r>
              <a:rPr sz="2188" b="1" spc="-152" dirty="0">
                <a:latin typeface="Arial MT"/>
                <a:cs typeface="Times New Roman"/>
              </a:rPr>
              <a:t> </a:t>
            </a:r>
            <a:r>
              <a:rPr sz="2188" b="1" spc="-89" dirty="0">
                <a:latin typeface="Arial MT"/>
                <a:cs typeface="Times New Roman"/>
              </a:rPr>
              <a:t>ArrayList</a:t>
            </a:r>
            <a:r>
              <a:rPr sz="2188" b="1" spc="-59" dirty="0">
                <a:latin typeface="Arial MT"/>
                <a:cs typeface="Times New Roman"/>
              </a:rPr>
              <a:t> </a:t>
            </a:r>
            <a:r>
              <a:rPr sz="2188" b="1" spc="-23" dirty="0">
                <a:latin typeface="Arial MT"/>
                <a:cs typeface="Times New Roman"/>
              </a:rPr>
              <a:t>class</a:t>
            </a:r>
            <a:r>
              <a:rPr sz="2188" b="1" spc="-78" dirty="0">
                <a:latin typeface="Arial MT"/>
                <a:cs typeface="Times New Roman"/>
              </a:rPr>
              <a:t> </a:t>
            </a:r>
            <a:r>
              <a:rPr sz="2188" b="1" spc="-16" dirty="0">
                <a:latin typeface="Arial MT"/>
                <a:cs typeface="Times New Roman"/>
              </a:rPr>
              <a:t>are:</a:t>
            </a:r>
            <a:endParaRPr sz="2188" dirty="0">
              <a:latin typeface="Arial MT"/>
              <a:cs typeface="Times New Roman"/>
            </a:endParaRPr>
          </a:p>
          <a:p>
            <a:pPr marL="280879" indent="-270954">
              <a:buClr>
                <a:srgbClr val="D24717"/>
              </a:buClr>
              <a:buSzPct val="78571"/>
              <a:buFont typeface="Wingdings"/>
              <a:buChar char=""/>
              <a:tabLst>
                <a:tab pos="280879" algn="l"/>
              </a:tabLst>
            </a:pPr>
            <a:r>
              <a:rPr sz="2188" spc="-203" dirty="0">
                <a:latin typeface="Arial MT"/>
                <a:cs typeface="Times New Roman"/>
              </a:rPr>
              <a:t>Java</a:t>
            </a:r>
            <a:r>
              <a:rPr sz="2188" spc="-227" dirty="0">
                <a:latin typeface="Arial MT"/>
                <a:cs typeface="Times New Roman"/>
              </a:rPr>
              <a:t> </a:t>
            </a:r>
            <a:r>
              <a:rPr sz="2188" spc="-129" dirty="0">
                <a:latin typeface="Arial MT"/>
                <a:cs typeface="Times New Roman"/>
              </a:rPr>
              <a:t>ArrayList</a:t>
            </a:r>
            <a:r>
              <a:rPr sz="2188" spc="-86" dirty="0">
                <a:latin typeface="Arial MT"/>
                <a:cs typeface="Times New Roman"/>
              </a:rPr>
              <a:t> </a:t>
            </a:r>
            <a:r>
              <a:rPr sz="2188" spc="-148" dirty="0">
                <a:latin typeface="Arial MT"/>
                <a:cs typeface="Times New Roman"/>
              </a:rPr>
              <a:t>class</a:t>
            </a:r>
            <a:r>
              <a:rPr sz="2188" spc="-63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can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98" dirty="0">
                <a:latin typeface="Arial MT"/>
                <a:cs typeface="Times New Roman"/>
              </a:rPr>
              <a:t>contain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94" dirty="0">
                <a:latin typeface="Arial MT"/>
                <a:cs typeface="Times New Roman"/>
              </a:rPr>
              <a:t>duplicate</a:t>
            </a:r>
            <a:r>
              <a:rPr sz="2188" spc="-59" dirty="0">
                <a:latin typeface="Arial MT"/>
                <a:cs typeface="Times New Roman"/>
              </a:rPr>
              <a:t> </a:t>
            </a:r>
            <a:r>
              <a:rPr sz="2188" spc="-8" dirty="0">
                <a:latin typeface="Arial MT"/>
                <a:cs typeface="Times New Roman"/>
              </a:rPr>
              <a:t>elements.</a:t>
            </a:r>
            <a:endParaRPr sz="2188" dirty="0">
              <a:latin typeface="Arial MT"/>
              <a:cs typeface="Times New Roman"/>
            </a:endParaRPr>
          </a:p>
          <a:p>
            <a:pPr marL="285841" indent="-275916">
              <a:spcBef>
                <a:spcPts val="469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5841" algn="l"/>
              </a:tabLst>
            </a:pPr>
            <a:r>
              <a:rPr sz="2188" spc="-203" dirty="0">
                <a:latin typeface="Arial MT"/>
                <a:cs typeface="Times New Roman"/>
              </a:rPr>
              <a:t>Java</a:t>
            </a:r>
            <a:r>
              <a:rPr sz="2188" spc="-250" dirty="0">
                <a:latin typeface="Arial MT"/>
                <a:cs typeface="Times New Roman"/>
              </a:rPr>
              <a:t> </a:t>
            </a:r>
            <a:r>
              <a:rPr sz="2188" spc="-129" dirty="0">
                <a:latin typeface="Arial MT"/>
                <a:cs typeface="Times New Roman"/>
              </a:rPr>
              <a:t>ArrayList</a:t>
            </a:r>
            <a:r>
              <a:rPr sz="2188" spc="-86" dirty="0">
                <a:latin typeface="Arial MT"/>
                <a:cs typeface="Times New Roman"/>
              </a:rPr>
              <a:t> </a:t>
            </a:r>
            <a:r>
              <a:rPr sz="2188" spc="-148" dirty="0">
                <a:latin typeface="Arial MT"/>
                <a:cs typeface="Times New Roman"/>
              </a:rPr>
              <a:t>class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maintains</a:t>
            </a:r>
            <a:r>
              <a:rPr sz="2188" spc="-78" dirty="0">
                <a:latin typeface="Arial MT"/>
                <a:cs typeface="Times New Roman"/>
              </a:rPr>
              <a:t> </a:t>
            </a:r>
            <a:r>
              <a:rPr sz="2188" spc="-70" dirty="0">
                <a:latin typeface="Arial MT"/>
                <a:cs typeface="Times New Roman"/>
              </a:rPr>
              <a:t>insertion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8" dirty="0">
                <a:latin typeface="Arial MT"/>
                <a:cs typeface="Times New Roman"/>
              </a:rPr>
              <a:t>order.</a:t>
            </a:r>
            <a:endParaRPr sz="2188" dirty="0">
              <a:latin typeface="Arial MT"/>
              <a:cs typeface="Times New Roman"/>
            </a:endParaRPr>
          </a:p>
          <a:p>
            <a:pPr marL="285345" indent="-275420">
              <a:spcBef>
                <a:spcPts val="469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5345" algn="l"/>
              </a:tabLst>
            </a:pPr>
            <a:r>
              <a:rPr sz="2188" spc="-203" dirty="0">
                <a:latin typeface="Arial MT"/>
                <a:cs typeface="Times New Roman"/>
              </a:rPr>
              <a:t>Java</a:t>
            </a:r>
            <a:r>
              <a:rPr sz="2188" spc="-250" dirty="0">
                <a:latin typeface="Arial MT"/>
                <a:cs typeface="Times New Roman"/>
              </a:rPr>
              <a:t> </a:t>
            </a:r>
            <a:r>
              <a:rPr sz="2188" spc="-129" dirty="0">
                <a:latin typeface="Arial MT"/>
                <a:cs typeface="Times New Roman"/>
              </a:rPr>
              <a:t>ArrayList</a:t>
            </a:r>
            <a:r>
              <a:rPr sz="2188" spc="-94" dirty="0">
                <a:latin typeface="Arial MT"/>
                <a:cs typeface="Times New Roman"/>
              </a:rPr>
              <a:t> </a:t>
            </a:r>
            <a:r>
              <a:rPr sz="2188" spc="-148" dirty="0">
                <a:latin typeface="Arial MT"/>
                <a:cs typeface="Times New Roman"/>
              </a:rPr>
              <a:t>class</a:t>
            </a:r>
            <a:r>
              <a:rPr sz="2188" spc="-51" dirty="0">
                <a:latin typeface="Arial MT"/>
                <a:cs typeface="Times New Roman"/>
              </a:rPr>
              <a:t> </a:t>
            </a:r>
            <a:r>
              <a:rPr sz="2188" spc="-145" dirty="0">
                <a:latin typeface="Arial MT"/>
                <a:cs typeface="Times New Roman"/>
              </a:rPr>
              <a:t>is</a:t>
            </a:r>
            <a:r>
              <a:rPr sz="2188" spc="-55" dirty="0">
                <a:latin typeface="Arial MT"/>
                <a:cs typeface="Times New Roman"/>
              </a:rPr>
              <a:t> </a:t>
            </a:r>
            <a:r>
              <a:rPr sz="2188" spc="-102" dirty="0">
                <a:latin typeface="Arial MT"/>
                <a:cs typeface="Times New Roman"/>
              </a:rPr>
              <a:t>non</a:t>
            </a:r>
            <a:r>
              <a:rPr sz="2188" spc="-47" dirty="0">
                <a:latin typeface="Arial MT"/>
                <a:cs typeface="Times New Roman"/>
              </a:rPr>
              <a:t> </a:t>
            </a:r>
            <a:r>
              <a:rPr sz="2188" spc="-27" dirty="0">
                <a:latin typeface="Arial MT"/>
                <a:cs typeface="Times New Roman"/>
              </a:rPr>
              <a:t>synchronized.</a:t>
            </a:r>
            <a:endParaRPr sz="2188" dirty="0">
              <a:latin typeface="Arial MT"/>
              <a:cs typeface="Times New Roman"/>
            </a:endParaRPr>
          </a:p>
          <a:p>
            <a:pPr marL="224306" marR="8436" indent="-214381" algn="just">
              <a:spcBef>
                <a:spcPts val="473"/>
              </a:spcBef>
              <a:buSzPct val="83928"/>
              <a:buFont typeface="Wingdings"/>
              <a:buChar char=""/>
              <a:tabLst>
                <a:tab pos="224306" algn="l"/>
                <a:tab pos="285345" algn="l"/>
              </a:tabLst>
            </a:pPr>
            <a:r>
              <a:rPr sz="2188" dirty="0">
                <a:solidFill>
                  <a:srgbClr val="D24717"/>
                </a:solidFill>
                <a:latin typeface="Arial MT"/>
                <a:cs typeface="Times New Roman"/>
              </a:rPr>
              <a:t>	</a:t>
            </a:r>
            <a:r>
              <a:rPr sz="2188" spc="-242" dirty="0">
                <a:latin typeface="Arial MT"/>
                <a:cs typeface="Times New Roman"/>
              </a:rPr>
              <a:t>Java</a:t>
            </a:r>
            <a:r>
              <a:rPr sz="2188" spc="106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ArrayList</a:t>
            </a:r>
            <a:r>
              <a:rPr sz="2188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allows</a:t>
            </a:r>
            <a:r>
              <a:rPr sz="2188" dirty="0">
                <a:latin typeface="Arial MT"/>
                <a:cs typeface="Times New Roman"/>
              </a:rPr>
              <a:t> </a:t>
            </a:r>
            <a:r>
              <a:rPr sz="2188" spc="-98" dirty="0">
                <a:latin typeface="Arial MT"/>
                <a:cs typeface="Times New Roman"/>
              </a:rPr>
              <a:t>random</a:t>
            </a:r>
            <a:r>
              <a:rPr sz="2188" spc="-39" dirty="0">
                <a:latin typeface="Arial MT"/>
                <a:cs typeface="Times New Roman"/>
              </a:rPr>
              <a:t> </a:t>
            </a:r>
            <a:r>
              <a:rPr sz="2188" spc="-148" dirty="0">
                <a:latin typeface="Arial MT"/>
                <a:cs typeface="Times New Roman"/>
              </a:rPr>
              <a:t>access</a:t>
            </a:r>
            <a:r>
              <a:rPr sz="2188" spc="20" dirty="0">
                <a:latin typeface="Arial MT"/>
                <a:cs typeface="Times New Roman"/>
              </a:rPr>
              <a:t> </a:t>
            </a:r>
            <a:r>
              <a:rPr sz="2188" spc="-125" dirty="0">
                <a:latin typeface="Arial MT"/>
                <a:cs typeface="Times New Roman"/>
              </a:rPr>
              <a:t>because</a:t>
            </a:r>
            <a:r>
              <a:rPr sz="2188" spc="16" dirty="0">
                <a:latin typeface="Arial MT"/>
                <a:cs typeface="Times New Roman"/>
              </a:rPr>
              <a:t> </a:t>
            </a:r>
            <a:r>
              <a:rPr sz="2188" spc="-113" dirty="0">
                <a:latin typeface="Arial MT"/>
                <a:cs typeface="Times New Roman"/>
              </a:rPr>
              <a:t>array</a:t>
            </a:r>
            <a:r>
              <a:rPr sz="2188" spc="16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works</a:t>
            </a:r>
            <a:r>
              <a:rPr sz="2188" spc="20" dirty="0">
                <a:latin typeface="Arial MT"/>
                <a:cs typeface="Times New Roman"/>
              </a:rPr>
              <a:t> </a:t>
            </a:r>
            <a:r>
              <a:rPr sz="2188" spc="-20" dirty="0">
                <a:latin typeface="Arial MT"/>
                <a:cs typeface="Times New Roman"/>
              </a:rPr>
              <a:t>at </a:t>
            </a:r>
            <a:r>
              <a:rPr sz="2188" spc="-66" dirty="0">
                <a:latin typeface="Arial MT"/>
                <a:cs typeface="Times New Roman"/>
              </a:rPr>
              <a:t>the</a:t>
            </a:r>
            <a:r>
              <a:rPr sz="2188" spc="-51" dirty="0">
                <a:latin typeface="Arial MT"/>
                <a:cs typeface="Times New Roman"/>
              </a:rPr>
              <a:t> </a:t>
            </a:r>
            <a:r>
              <a:rPr sz="2188" spc="-102" dirty="0">
                <a:latin typeface="Arial MT"/>
                <a:cs typeface="Times New Roman"/>
              </a:rPr>
              <a:t>index</a:t>
            </a:r>
            <a:r>
              <a:rPr sz="2188" spc="-51" dirty="0">
                <a:latin typeface="Arial MT"/>
                <a:cs typeface="Times New Roman"/>
              </a:rPr>
              <a:t> </a:t>
            </a:r>
            <a:r>
              <a:rPr sz="2188" spc="-8" dirty="0">
                <a:latin typeface="Arial MT"/>
                <a:cs typeface="Times New Roman"/>
              </a:rPr>
              <a:t>basis.</a:t>
            </a:r>
            <a:endParaRPr sz="2188" dirty="0">
              <a:latin typeface="Arial MT"/>
              <a:cs typeface="Times New Roman"/>
            </a:endParaRPr>
          </a:p>
          <a:p>
            <a:pPr marL="224306" marR="3970" indent="-214381" algn="just">
              <a:spcBef>
                <a:spcPts val="473"/>
              </a:spcBef>
              <a:buSzPct val="83928"/>
              <a:buFont typeface="Wingdings"/>
              <a:buChar char=""/>
              <a:tabLst>
                <a:tab pos="224306" algn="l"/>
                <a:tab pos="285841" algn="l"/>
              </a:tabLst>
            </a:pPr>
            <a:r>
              <a:rPr sz="2188" dirty="0">
                <a:solidFill>
                  <a:srgbClr val="D24717"/>
                </a:solidFill>
                <a:latin typeface="Arial MT"/>
                <a:cs typeface="Times New Roman"/>
              </a:rPr>
              <a:t>	</a:t>
            </a:r>
            <a:r>
              <a:rPr sz="2188" spc="-137" dirty="0">
                <a:latin typeface="Arial MT"/>
                <a:cs typeface="Times New Roman"/>
              </a:rPr>
              <a:t>In</a:t>
            </a:r>
            <a:r>
              <a:rPr sz="2188" spc="586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ArrayList,</a:t>
            </a:r>
            <a:r>
              <a:rPr sz="2188" spc="469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manipulation</a:t>
            </a:r>
            <a:r>
              <a:rPr sz="2188" spc="586" dirty="0">
                <a:latin typeface="Arial MT"/>
                <a:cs typeface="Times New Roman"/>
              </a:rPr>
              <a:t> </a:t>
            </a:r>
            <a:r>
              <a:rPr sz="2188" spc="-148" dirty="0">
                <a:latin typeface="Arial MT"/>
                <a:cs typeface="Times New Roman"/>
              </a:rPr>
              <a:t>is</a:t>
            </a:r>
            <a:r>
              <a:rPr sz="2188" spc="586" dirty="0">
                <a:latin typeface="Arial MT"/>
                <a:cs typeface="Times New Roman"/>
              </a:rPr>
              <a:t> </a:t>
            </a:r>
            <a:r>
              <a:rPr sz="2188" spc="-55" dirty="0">
                <a:latin typeface="Arial MT"/>
                <a:cs typeface="Times New Roman"/>
              </a:rPr>
              <a:t>little</a:t>
            </a:r>
            <a:r>
              <a:rPr sz="2188" spc="563" dirty="0">
                <a:latin typeface="Arial MT"/>
                <a:cs typeface="Times New Roman"/>
              </a:rPr>
              <a:t> </a:t>
            </a:r>
            <a:r>
              <a:rPr sz="2188" spc="-70" dirty="0">
                <a:latin typeface="Arial MT"/>
                <a:cs typeface="Times New Roman"/>
              </a:rPr>
              <a:t>bit</a:t>
            </a:r>
            <a:r>
              <a:rPr sz="2188" spc="559" dirty="0">
                <a:latin typeface="Arial MT"/>
                <a:cs typeface="Times New Roman"/>
              </a:rPr>
              <a:t> </a:t>
            </a:r>
            <a:r>
              <a:rPr sz="2188" spc="-117" dirty="0">
                <a:latin typeface="Arial MT"/>
                <a:cs typeface="Times New Roman"/>
              </a:rPr>
              <a:t>slower</a:t>
            </a:r>
            <a:r>
              <a:rPr sz="2188" spc="567" dirty="0">
                <a:latin typeface="Arial MT"/>
                <a:cs typeface="Times New Roman"/>
              </a:rPr>
              <a:t> </a:t>
            </a:r>
            <a:r>
              <a:rPr sz="2188" spc="-98" dirty="0">
                <a:latin typeface="Arial MT"/>
                <a:cs typeface="Times New Roman"/>
              </a:rPr>
              <a:t>than</a:t>
            </a:r>
            <a:r>
              <a:rPr sz="2188" spc="582" dirty="0">
                <a:latin typeface="Arial MT"/>
                <a:cs typeface="Times New Roman"/>
              </a:rPr>
              <a:t> </a:t>
            </a:r>
            <a:r>
              <a:rPr sz="2188" spc="-66" dirty="0">
                <a:latin typeface="Arial MT"/>
                <a:cs typeface="Times New Roman"/>
              </a:rPr>
              <a:t>the</a:t>
            </a:r>
            <a:r>
              <a:rPr sz="2188" spc="-43" dirty="0">
                <a:latin typeface="Arial MT"/>
                <a:cs typeface="Times New Roman"/>
              </a:rPr>
              <a:t> </a:t>
            </a:r>
            <a:r>
              <a:rPr sz="2188" spc="-133" dirty="0">
                <a:latin typeface="Arial MT"/>
                <a:cs typeface="Times New Roman"/>
              </a:rPr>
              <a:t>LinkedList</a:t>
            </a:r>
            <a:r>
              <a:rPr sz="2188" spc="47" dirty="0">
                <a:latin typeface="Arial MT"/>
                <a:cs typeface="Times New Roman"/>
              </a:rPr>
              <a:t> </a:t>
            </a:r>
            <a:r>
              <a:rPr sz="2188" spc="-113" dirty="0">
                <a:latin typeface="Arial MT"/>
                <a:cs typeface="Times New Roman"/>
              </a:rPr>
              <a:t>in</a:t>
            </a:r>
            <a:r>
              <a:rPr sz="2188" spc="39" dirty="0">
                <a:latin typeface="Arial MT"/>
                <a:cs typeface="Times New Roman"/>
              </a:rPr>
              <a:t> </a:t>
            </a:r>
            <a:r>
              <a:rPr sz="2188" spc="-211" dirty="0">
                <a:latin typeface="Arial MT"/>
                <a:cs typeface="Times New Roman"/>
              </a:rPr>
              <a:t>Java</a:t>
            </a:r>
            <a:r>
              <a:rPr sz="2188" spc="39" dirty="0">
                <a:latin typeface="Arial MT"/>
                <a:cs typeface="Times New Roman"/>
              </a:rPr>
              <a:t> </a:t>
            </a:r>
            <a:r>
              <a:rPr sz="2188" spc="-129" dirty="0">
                <a:latin typeface="Arial MT"/>
                <a:cs typeface="Times New Roman"/>
              </a:rPr>
              <a:t>because</a:t>
            </a:r>
            <a:r>
              <a:rPr sz="2188" spc="31" dirty="0">
                <a:latin typeface="Arial MT"/>
                <a:cs typeface="Times New Roman"/>
              </a:rPr>
              <a:t> </a:t>
            </a:r>
            <a:r>
              <a:rPr sz="2188" spc="-176" dirty="0">
                <a:latin typeface="Arial MT"/>
                <a:cs typeface="Times New Roman"/>
              </a:rPr>
              <a:t>a</a:t>
            </a:r>
            <a:r>
              <a:rPr sz="2188" spc="35" dirty="0">
                <a:latin typeface="Arial MT"/>
                <a:cs typeface="Times New Roman"/>
              </a:rPr>
              <a:t> </a:t>
            </a:r>
            <a:r>
              <a:rPr sz="2188" spc="-47" dirty="0">
                <a:latin typeface="Arial MT"/>
                <a:cs typeface="Times New Roman"/>
              </a:rPr>
              <a:t>lot</a:t>
            </a:r>
            <a:r>
              <a:rPr sz="2188" spc="35" dirty="0">
                <a:latin typeface="Arial MT"/>
                <a:cs typeface="Times New Roman"/>
              </a:rPr>
              <a:t> </a:t>
            </a:r>
            <a:r>
              <a:rPr sz="2188" spc="-129" dirty="0">
                <a:latin typeface="Arial MT"/>
                <a:cs typeface="Times New Roman"/>
              </a:rPr>
              <a:t>of</a:t>
            </a:r>
            <a:r>
              <a:rPr sz="2188" spc="23" dirty="0">
                <a:latin typeface="Arial MT"/>
                <a:cs typeface="Times New Roman"/>
              </a:rPr>
              <a:t> </a:t>
            </a:r>
            <a:r>
              <a:rPr sz="2188" spc="-121" dirty="0">
                <a:latin typeface="Arial MT"/>
                <a:cs typeface="Times New Roman"/>
              </a:rPr>
              <a:t>shifting</a:t>
            </a:r>
            <a:r>
              <a:rPr sz="2188" spc="39" dirty="0">
                <a:latin typeface="Arial MT"/>
                <a:cs typeface="Times New Roman"/>
              </a:rPr>
              <a:t> </a:t>
            </a:r>
            <a:r>
              <a:rPr sz="2188" spc="-113" dirty="0">
                <a:latin typeface="Arial MT"/>
                <a:cs typeface="Times New Roman"/>
              </a:rPr>
              <a:t>needs</a:t>
            </a:r>
            <a:r>
              <a:rPr sz="2188" spc="43" dirty="0">
                <a:latin typeface="Arial MT"/>
                <a:cs typeface="Times New Roman"/>
              </a:rPr>
              <a:t> </a:t>
            </a:r>
            <a:r>
              <a:rPr sz="2188" spc="-39" dirty="0">
                <a:latin typeface="Arial MT"/>
                <a:cs typeface="Times New Roman"/>
              </a:rPr>
              <a:t>to</a:t>
            </a:r>
            <a:r>
              <a:rPr sz="2188" spc="43" dirty="0">
                <a:latin typeface="Arial MT"/>
                <a:cs typeface="Times New Roman"/>
              </a:rPr>
              <a:t> </a:t>
            </a:r>
            <a:r>
              <a:rPr sz="2188" spc="-89" dirty="0">
                <a:latin typeface="Arial MT"/>
                <a:cs typeface="Times New Roman"/>
              </a:rPr>
              <a:t>occur</a:t>
            </a:r>
            <a:r>
              <a:rPr sz="2188" spc="35" dirty="0">
                <a:latin typeface="Arial MT"/>
                <a:cs typeface="Times New Roman"/>
              </a:rPr>
              <a:t> </a:t>
            </a:r>
            <a:r>
              <a:rPr sz="2188" spc="-133" dirty="0">
                <a:latin typeface="Arial MT"/>
                <a:cs typeface="Times New Roman"/>
              </a:rPr>
              <a:t>if</a:t>
            </a:r>
            <a:r>
              <a:rPr sz="2188" spc="-106" dirty="0">
                <a:latin typeface="Arial MT"/>
                <a:cs typeface="Times New Roman"/>
              </a:rPr>
              <a:t> </a:t>
            </a:r>
            <a:r>
              <a:rPr sz="2188" spc="-164" dirty="0">
                <a:latin typeface="Arial MT"/>
                <a:cs typeface="Times New Roman"/>
              </a:rPr>
              <a:t>any</a:t>
            </a:r>
            <a:r>
              <a:rPr sz="2188" spc="-74" dirty="0">
                <a:latin typeface="Arial MT"/>
                <a:cs typeface="Times New Roman"/>
              </a:rPr>
              <a:t> </a:t>
            </a:r>
            <a:r>
              <a:rPr sz="2188" spc="-82" dirty="0">
                <a:latin typeface="Arial MT"/>
                <a:cs typeface="Times New Roman"/>
              </a:rPr>
              <a:t>element</a:t>
            </a:r>
            <a:r>
              <a:rPr sz="2188" spc="-66" dirty="0">
                <a:latin typeface="Arial MT"/>
                <a:cs typeface="Times New Roman"/>
              </a:rPr>
              <a:t> </a:t>
            </a:r>
            <a:r>
              <a:rPr sz="2188" spc="-137" dirty="0">
                <a:latin typeface="Arial MT"/>
                <a:cs typeface="Times New Roman"/>
              </a:rPr>
              <a:t>is</a:t>
            </a:r>
            <a:r>
              <a:rPr sz="2188" spc="-74" dirty="0">
                <a:latin typeface="Arial MT"/>
                <a:cs typeface="Times New Roman"/>
              </a:rPr>
              <a:t> </a:t>
            </a:r>
            <a:r>
              <a:rPr sz="2188" spc="-113" dirty="0">
                <a:latin typeface="Arial MT"/>
                <a:cs typeface="Times New Roman"/>
              </a:rPr>
              <a:t>removed</a:t>
            </a:r>
            <a:r>
              <a:rPr sz="2188" spc="-74" dirty="0">
                <a:latin typeface="Arial MT"/>
                <a:cs typeface="Times New Roman"/>
              </a:rPr>
              <a:t> </a:t>
            </a:r>
            <a:r>
              <a:rPr sz="2188" spc="-106" dirty="0">
                <a:latin typeface="Arial MT"/>
                <a:cs typeface="Times New Roman"/>
              </a:rPr>
              <a:t>from</a:t>
            </a:r>
            <a:r>
              <a:rPr sz="2188" spc="-63" dirty="0">
                <a:latin typeface="Arial MT"/>
                <a:cs typeface="Times New Roman"/>
              </a:rPr>
              <a:t> </a:t>
            </a:r>
            <a:r>
              <a:rPr sz="2188" spc="-66" dirty="0">
                <a:latin typeface="Arial MT"/>
                <a:cs typeface="Times New Roman"/>
              </a:rPr>
              <a:t>the</a:t>
            </a:r>
            <a:r>
              <a:rPr sz="2188" spc="-70" dirty="0">
                <a:latin typeface="Arial MT"/>
                <a:cs typeface="Times New Roman"/>
              </a:rPr>
              <a:t> </a:t>
            </a:r>
            <a:r>
              <a:rPr sz="2188" spc="-109" dirty="0">
                <a:latin typeface="Arial MT"/>
                <a:cs typeface="Times New Roman"/>
              </a:rPr>
              <a:t>array</a:t>
            </a:r>
            <a:r>
              <a:rPr sz="2188" spc="-70" dirty="0">
                <a:latin typeface="Arial MT"/>
                <a:cs typeface="Times New Roman"/>
              </a:rPr>
              <a:t> </a:t>
            </a:r>
            <a:r>
              <a:rPr sz="2188" spc="-47" dirty="0">
                <a:latin typeface="Arial MT"/>
                <a:cs typeface="Times New Roman"/>
              </a:rPr>
              <a:t>list.</a:t>
            </a:r>
            <a:endParaRPr sz="2188"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382" y="145101"/>
            <a:ext cx="3614121" cy="321734"/>
          </a:xfrm>
          <a:prstGeom prst="rect">
            <a:avLst/>
          </a:prstGeom>
        </p:spPr>
        <p:txBody>
          <a:bodyPr vert="horz" wrap="square" lIns="0" tIns="8932" rIns="0" bIns="0" rtlCol="0">
            <a:spAutoFit/>
          </a:bodyPr>
          <a:lstStyle/>
          <a:p>
            <a:pPr marL="9925">
              <a:spcBef>
                <a:spcPts val="70"/>
              </a:spcBef>
            </a:pPr>
            <a:r>
              <a:rPr sz="2032" spc="-20" dirty="0"/>
              <a:t>Iterating</a:t>
            </a:r>
            <a:r>
              <a:rPr sz="2032" spc="-86" dirty="0"/>
              <a:t> </a:t>
            </a:r>
            <a:r>
              <a:rPr sz="2032" spc="-89" dirty="0"/>
              <a:t>ArrayList</a:t>
            </a:r>
            <a:r>
              <a:rPr sz="2032" spc="-4" dirty="0"/>
              <a:t> </a:t>
            </a:r>
            <a:r>
              <a:rPr sz="2032" dirty="0"/>
              <a:t>using</a:t>
            </a:r>
            <a:r>
              <a:rPr sz="2032" spc="-27" dirty="0"/>
              <a:t> </a:t>
            </a:r>
            <a:r>
              <a:rPr sz="2032" spc="-8" dirty="0"/>
              <a:t>Iterator</a:t>
            </a:r>
            <a:endParaRPr sz="2032" dirty="0"/>
          </a:p>
        </p:txBody>
      </p:sp>
      <p:sp>
        <p:nvSpPr>
          <p:cNvPr id="3" name="object 3"/>
          <p:cNvSpPr txBox="1"/>
          <p:nvPr/>
        </p:nvSpPr>
        <p:spPr>
          <a:xfrm>
            <a:off x="349250" y="546100"/>
            <a:ext cx="6934200" cy="4899390"/>
          </a:xfrm>
          <a:prstGeom prst="rect">
            <a:avLst/>
          </a:prstGeom>
        </p:spPr>
        <p:txBody>
          <a:bodyPr vert="horz" wrap="square" lIns="0" tIns="38707" rIns="0" bIns="0" rtlCol="0">
            <a:spAutoFit/>
          </a:bodyPr>
          <a:lstStyle/>
          <a:p>
            <a:pPr marL="223810" indent="-213885">
              <a:spcBef>
                <a:spcPts val="30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3810" algn="l"/>
              </a:tabLst>
            </a:pPr>
            <a:endParaRPr lang="en-US" spc="-191" dirty="0">
              <a:latin typeface="Arial MT"/>
              <a:cs typeface="Times New Roman"/>
            </a:endParaRPr>
          </a:p>
          <a:p>
            <a:pPr marL="223810" indent="-213885">
              <a:spcBef>
                <a:spcPts val="30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3810" algn="l"/>
              </a:tabLst>
            </a:pPr>
            <a:endParaRPr lang="en-IN" spc="-191" dirty="0">
              <a:latin typeface="Arial MT"/>
              <a:cs typeface="Times New Roman"/>
            </a:endParaRPr>
          </a:p>
          <a:p>
            <a:pPr marL="9925">
              <a:spcBef>
                <a:spcPts val="305"/>
              </a:spcBef>
              <a:buClr>
                <a:srgbClr val="D24717"/>
              </a:buClr>
              <a:buSzPct val="84615"/>
              <a:tabLst>
                <a:tab pos="223810" algn="l"/>
              </a:tabLst>
            </a:pPr>
            <a:r>
              <a:rPr lang="en-US" spc="-25" dirty="0">
                <a:solidFill>
                  <a:schemeClr val="bg1"/>
                </a:solidFill>
                <a:latin typeface="Arial MT"/>
              </a:rPr>
              <a:t>		          Iterating</a:t>
            </a:r>
            <a:r>
              <a:rPr lang="en-US" spc="-110" dirty="0">
                <a:solidFill>
                  <a:schemeClr val="bg1"/>
                </a:solidFill>
                <a:latin typeface="Arial MT"/>
              </a:rPr>
              <a:t> </a:t>
            </a:r>
            <a:r>
              <a:rPr lang="en-US" spc="-114" dirty="0">
                <a:solidFill>
                  <a:schemeClr val="bg1"/>
                </a:solidFill>
                <a:latin typeface="Arial MT"/>
              </a:rPr>
              <a:t>ArrayList</a:t>
            </a:r>
            <a:r>
              <a:rPr lang="en-US" spc="-5" dirty="0">
                <a:solidFill>
                  <a:schemeClr val="bg1"/>
                </a:solidFill>
                <a:latin typeface="Arial MT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 MT"/>
              </a:rPr>
              <a:t>using</a:t>
            </a:r>
            <a:r>
              <a:rPr lang="en-US" spc="-35" dirty="0">
                <a:solidFill>
                  <a:schemeClr val="bg1"/>
                </a:solidFill>
                <a:latin typeface="Arial MT"/>
              </a:rPr>
              <a:t> </a:t>
            </a:r>
            <a:r>
              <a:rPr lang="en-US" spc="-10" dirty="0">
                <a:solidFill>
                  <a:schemeClr val="bg1"/>
                </a:solidFill>
                <a:latin typeface="Arial MT"/>
              </a:rPr>
              <a:t>Iterator</a:t>
            </a:r>
            <a:endParaRPr lang="en-IN" spc="-191" dirty="0">
              <a:solidFill>
                <a:schemeClr val="bg1"/>
              </a:solidFill>
              <a:latin typeface="Arial MT"/>
              <a:cs typeface="Times New Roman"/>
            </a:endParaRPr>
          </a:p>
          <a:p>
            <a:pPr marL="223810" indent="-213885">
              <a:spcBef>
                <a:spcPts val="30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3810" algn="l"/>
              </a:tabLst>
            </a:pPr>
            <a:r>
              <a:rPr spc="-191" dirty="0">
                <a:latin typeface="Arial MT"/>
                <a:cs typeface="Times New Roman"/>
              </a:rPr>
              <a:t>An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43" dirty="0">
                <a:latin typeface="Arial MT"/>
                <a:cs typeface="Times New Roman"/>
              </a:rPr>
              <a:t>iterator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141" dirty="0">
                <a:latin typeface="Arial MT"/>
                <a:cs typeface="Times New Roman"/>
              </a:rPr>
              <a:t>is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137" dirty="0">
                <a:latin typeface="Arial MT"/>
                <a:cs typeface="Times New Roman"/>
              </a:rPr>
              <a:t>an</a:t>
            </a:r>
            <a:r>
              <a:rPr spc="-55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interface.</a:t>
            </a:r>
            <a:endParaRPr dirty="0">
              <a:latin typeface="Arial MT"/>
              <a:cs typeface="Times New Roman"/>
            </a:endParaRPr>
          </a:p>
          <a:p>
            <a:pPr marL="224306" marR="3970" indent="-214381">
              <a:lnSpc>
                <a:spcPts val="2196"/>
              </a:lnSpc>
              <a:spcBef>
                <a:spcPts val="504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4306" algn="l"/>
              </a:tabLst>
            </a:pPr>
            <a:r>
              <a:rPr dirty="0">
                <a:latin typeface="Arial MT"/>
                <a:cs typeface="Times New Roman"/>
              </a:rPr>
              <a:t>It</a:t>
            </a:r>
            <a:r>
              <a:rPr spc="348" dirty="0">
                <a:latin typeface="Arial MT"/>
                <a:cs typeface="Times New Roman"/>
              </a:rPr>
              <a:t>   </a:t>
            </a:r>
            <a:r>
              <a:rPr dirty="0">
                <a:latin typeface="Arial MT"/>
                <a:cs typeface="Times New Roman"/>
              </a:rPr>
              <a:t>can</a:t>
            </a:r>
            <a:r>
              <a:rPr spc="356" dirty="0">
                <a:latin typeface="Arial MT"/>
                <a:cs typeface="Times New Roman"/>
              </a:rPr>
              <a:t>   </a:t>
            </a:r>
            <a:r>
              <a:rPr dirty="0">
                <a:latin typeface="Arial MT"/>
                <a:cs typeface="Times New Roman"/>
              </a:rPr>
              <a:t>be</a:t>
            </a:r>
            <a:r>
              <a:rPr spc="363" dirty="0">
                <a:latin typeface="Arial MT"/>
                <a:cs typeface="Times New Roman"/>
              </a:rPr>
              <a:t>   </a:t>
            </a:r>
            <a:r>
              <a:rPr dirty="0">
                <a:latin typeface="Arial MT"/>
                <a:cs typeface="Times New Roman"/>
              </a:rPr>
              <a:t>used</a:t>
            </a:r>
            <a:r>
              <a:rPr spc="356" dirty="0">
                <a:latin typeface="Arial MT"/>
                <a:cs typeface="Times New Roman"/>
              </a:rPr>
              <a:t>   </a:t>
            </a:r>
            <a:r>
              <a:rPr dirty="0">
                <a:latin typeface="Arial MT"/>
                <a:cs typeface="Times New Roman"/>
              </a:rPr>
              <a:t>to</a:t>
            </a:r>
            <a:r>
              <a:rPr spc="352" dirty="0">
                <a:latin typeface="Arial MT"/>
                <a:cs typeface="Times New Roman"/>
              </a:rPr>
              <a:t>   </a:t>
            </a:r>
            <a:r>
              <a:rPr dirty="0">
                <a:latin typeface="Arial MT"/>
                <a:cs typeface="Times New Roman"/>
              </a:rPr>
              <a:t>loop</a:t>
            </a:r>
            <a:r>
              <a:rPr spc="352" dirty="0">
                <a:latin typeface="Arial MT"/>
                <a:cs typeface="Times New Roman"/>
              </a:rPr>
              <a:t>   </a:t>
            </a:r>
            <a:r>
              <a:rPr dirty="0">
                <a:latin typeface="Arial MT"/>
                <a:cs typeface="Times New Roman"/>
              </a:rPr>
              <a:t>through</a:t>
            </a:r>
            <a:r>
              <a:rPr spc="356" dirty="0">
                <a:latin typeface="Arial MT"/>
                <a:cs typeface="Times New Roman"/>
              </a:rPr>
              <a:t>   </a:t>
            </a:r>
            <a:r>
              <a:rPr spc="-66" dirty="0">
                <a:latin typeface="Arial MT"/>
                <a:cs typeface="Times New Roman"/>
              </a:rPr>
              <a:t>collections, </a:t>
            </a:r>
            <a:r>
              <a:rPr dirty="0">
                <a:latin typeface="Arial MT"/>
                <a:cs typeface="Times New Roman"/>
              </a:rPr>
              <a:t>like</a:t>
            </a:r>
            <a:r>
              <a:rPr spc="59" dirty="0">
                <a:latin typeface="Arial MT"/>
                <a:cs typeface="Times New Roman"/>
              </a:rPr>
              <a:t> </a:t>
            </a:r>
            <a:r>
              <a:rPr spc="-70" dirty="0">
                <a:latin typeface="Arial MT"/>
                <a:cs typeface="Times New Roman"/>
              </a:rPr>
              <a:t>ArrayList</a:t>
            </a:r>
            <a:r>
              <a:rPr spc="66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and</a:t>
            </a:r>
            <a:r>
              <a:rPr spc="66" dirty="0">
                <a:latin typeface="Arial MT"/>
                <a:cs typeface="Times New Roman"/>
              </a:rPr>
              <a:t> </a:t>
            </a:r>
            <a:r>
              <a:rPr spc="-55" dirty="0">
                <a:latin typeface="Arial MT"/>
                <a:cs typeface="Times New Roman"/>
              </a:rPr>
              <a:t>HashSet.</a:t>
            </a:r>
            <a:r>
              <a:rPr spc="16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It</a:t>
            </a:r>
            <a:r>
              <a:rPr spc="63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is</a:t>
            </a:r>
            <a:r>
              <a:rPr spc="63" dirty="0">
                <a:latin typeface="Arial MT"/>
                <a:cs typeface="Times New Roman"/>
              </a:rPr>
              <a:t> </a:t>
            </a:r>
            <a:r>
              <a:rPr spc="-20" dirty="0">
                <a:latin typeface="Arial MT"/>
                <a:cs typeface="Times New Roman"/>
              </a:rPr>
              <a:t>called</a:t>
            </a:r>
            <a:r>
              <a:rPr spc="55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an</a:t>
            </a:r>
            <a:r>
              <a:rPr spc="63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"iterator"</a:t>
            </a:r>
            <a:r>
              <a:rPr spc="59" dirty="0">
                <a:latin typeface="Arial MT"/>
                <a:cs typeface="Times New Roman"/>
              </a:rPr>
              <a:t> </a:t>
            </a:r>
            <a:r>
              <a:rPr spc="-74" dirty="0">
                <a:latin typeface="Arial MT"/>
                <a:cs typeface="Times New Roman"/>
              </a:rPr>
              <a:t>because </a:t>
            </a:r>
            <a:r>
              <a:rPr spc="-66" dirty="0">
                <a:latin typeface="Arial MT"/>
                <a:cs typeface="Times New Roman"/>
              </a:rPr>
              <a:t>"iterating"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141" dirty="0">
                <a:latin typeface="Arial MT"/>
                <a:cs typeface="Times New Roman"/>
              </a:rPr>
              <a:t>is</a:t>
            </a:r>
            <a:r>
              <a:rPr spc="-59" dirty="0">
                <a:latin typeface="Arial MT"/>
                <a:cs typeface="Times New Roman"/>
              </a:rPr>
              <a:t> the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technical</a:t>
            </a:r>
            <a:r>
              <a:rPr spc="-31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term</a:t>
            </a:r>
            <a:r>
              <a:rPr spc="-39" dirty="0">
                <a:latin typeface="Arial MT"/>
                <a:cs typeface="Times New Roman"/>
              </a:rPr>
              <a:t> </a:t>
            </a:r>
            <a:r>
              <a:rPr spc="-78" dirty="0">
                <a:latin typeface="Arial MT"/>
                <a:cs typeface="Times New Roman"/>
              </a:rPr>
              <a:t>for</a:t>
            </a:r>
            <a:r>
              <a:rPr spc="-47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looping.</a:t>
            </a:r>
            <a:endParaRPr dirty="0">
              <a:latin typeface="Arial MT"/>
              <a:cs typeface="Times New Roman"/>
            </a:endParaRPr>
          </a:p>
          <a:p>
            <a:pPr marL="224306" marR="13399" indent="-214381">
              <a:lnSpc>
                <a:spcPts val="2196"/>
              </a:lnSpc>
              <a:spcBef>
                <a:spcPts val="469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4306" algn="l"/>
              </a:tabLst>
            </a:pPr>
            <a:r>
              <a:rPr dirty="0">
                <a:latin typeface="Arial MT"/>
                <a:cs typeface="Times New Roman"/>
              </a:rPr>
              <a:t>Iterator</a:t>
            </a:r>
            <a:r>
              <a:rPr spc="137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object</a:t>
            </a:r>
            <a:r>
              <a:rPr spc="137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can</a:t>
            </a:r>
            <a:r>
              <a:rPr spc="137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be</a:t>
            </a:r>
            <a:r>
              <a:rPr spc="125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created</a:t>
            </a:r>
            <a:r>
              <a:rPr spc="129" dirty="0">
                <a:latin typeface="Arial MT"/>
                <a:cs typeface="Times New Roman"/>
              </a:rPr>
              <a:t> </a:t>
            </a:r>
            <a:r>
              <a:rPr dirty="0">
                <a:latin typeface="Arial MT"/>
                <a:cs typeface="Times New Roman"/>
              </a:rPr>
              <a:t>by</a:t>
            </a:r>
            <a:r>
              <a:rPr spc="129" dirty="0">
                <a:latin typeface="Arial MT"/>
                <a:cs typeface="Times New Roman"/>
              </a:rPr>
              <a:t> </a:t>
            </a:r>
            <a:r>
              <a:rPr spc="-35" dirty="0">
                <a:latin typeface="Arial MT"/>
                <a:cs typeface="Times New Roman"/>
              </a:rPr>
              <a:t>calling</a:t>
            </a:r>
            <a:r>
              <a:rPr spc="125" dirty="0">
                <a:latin typeface="Arial MT"/>
                <a:cs typeface="Times New Roman"/>
              </a:rPr>
              <a:t> </a:t>
            </a:r>
            <a:r>
              <a:rPr b="1" dirty="0">
                <a:latin typeface="Arial MT"/>
                <a:cs typeface="Times New Roman"/>
              </a:rPr>
              <a:t>iterator()</a:t>
            </a:r>
            <a:r>
              <a:rPr b="1" spc="121" dirty="0">
                <a:latin typeface="Arial MT"/>
                <a:cs typeface="Times New Roman"/>
              </a:rPr>
              <a:t> </a:t>
            </a:r>
            <a:r>
              <a:rPr spc="-47" dirty="0">
                <a:latin typeface="Arial MT"/>
                <a:cs typeface="Times New Roman"/>
              </a:rPr>
              <a:t>method </a:t>
            </a:r>
            <a:r>
              <a:rPr spc="-70" dirty="0">
                <a:latin typeface="Arial MT"/>
                <a:cs typeface="Times New Roman"/>
              </a:rPr>
              <a:t>present</a:t>
            </a:r>
            <a:r>
              <a:rPr spc="-16" dirty="0">
                <a:latin typeface="Arial MT"/>
                <a:cs typeface="Times New Roman"/>
              </a:rPr>
              <a:t> </a:t>
            </a:r>
            <a:r>
              <a:rPr spc="-98" dirty="0">
                <a:latin typeface="Arial MT"/>
                <a:cs typeface="Times New Roman"/>
              </a:rPr>
              <a:t>in</a:t>
            </a:r>
            <a:r>
              <a:rPr spc="-35" dirty="0">
                <a:latin typeface="Arial MT"/>
                <a:cs typeface="Times New Roman"/>
              </a:rPr>
              <a:t> </a:t>
            </a:r>
            <a:r>
              <a:rPr spc="-89" dirty="0">
                <a:latin typeface="Arial MT"/>
                <a:cs typeface="Times New Roman"/>
              </a:rPr>
              <a:t>Collection</a:t>
            </a:r>
            <a:r>
              <a:rPr spc="-23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interface.</a:t>
            </a:r>
            <a:endParaRPr dirty="0">
              <a:latin typeface="Arial MT"/>
              <a:cs typeface="Times New Roman"/>
            </a:endParaRPr>
          </a:p>
          <a:p>
            <a:pPr marL="223810" indent="-213885">
              <a:spcBef>
                <a:spcPts val="191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23810" algn="l"/>
              </a:tabLst>
            </a:pPr>
            <a:r>
              <a:rPr spc="-55" dirty="0">
                <a:latin typeface="Arial MT"/>
                <a:cs typeface="Times New Roman"/>
              </a:rPr>
              <a:t>Iterator</a:t>
            </a:r>
            <a:r>
              <a:rPr spc="12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interface</a:t>
            </a:r>
            <a:r>
              <a:rPr spc="-12" dirty="0">
                <a:latin typeface="Arial MT"/>
                <a:cs typeface="Times New Roman"/>
              </a:rPr>
              <a:t> </a:t>
            </a:r>
            <a:r>
              <a:rPr spc="-117" dirty="0">
                <a:latin typeface="Arial MT"/>
                <a:cs typeface="Times New Roman"/>
              </a:rPr>
              <a:t>defines</a:t>
            </a:r>
            <a:r>
              <a:rPr spc="-4" dirty="0">
                <a:latin typeface="Arial MT"/>
                <a:cs typeface="Times New Roman"/>
              </a:rPr>
              <a:t> </a:t>
            </a:r>
            <a:r>
              <a:rPr b="1" dirty="0">
                <a:latin typeface="Arial MT"/>
                <a:cs typeface="Times New Roman"/>
              </a:rPr>
              <a:t>three</a:t>
            </a:r>
            <a:r>
              <a:rPr b="1" spc="-4" dirty="0">
                <a:latin typeface="Arial MT"/>
                <a:cs typeface="Times New Roman"/>
              </a:rPr>
              <a:t> </a:t>
            </a:r>
            <a:r>
              <a:rPr spc="-8" dirty="0">
                <a:latin typeface="Arial MT"/>
                <a:cs typeface="Times New Roman"/>
              </a:rPr>
              <a:t>methods:</a:t>
            </a:r>
            <a:endParaRPr dirty="0">
              <a:latin typeface="Arial MT"/>
              <a:cs typeface="Times New Roman"/>
            </a:endParaRPr>
          </a:p>
          <a:p>
            <a:pPr marL="411890" indent="-401965">
              <a:lnSpc>
                <a:spcPts val="2137"/>
              </a:lnSpc>
              <a:spcBef>
                <a:spcPts val="270"/>
              </a:spcBef>
              <a:buClr>
                <a:srgbClr val="D24717"/>
              </a:buClr>
              <a:buSzPct val="85416"/>
              <a:buAutoNum type="arabicPeriod"/>
              <a:tabLst>
                <a:tab pos="411890" algn="l"/>
              </a:tabLst>
            </a:pPr>
            <a:r>
              <a:rPr spc="-102" dirty="0">
                <a:latin typeface="Arial MT"/>
                <a:cs typeface="Times New Roman"/>
              </a:rPr>
              <a:t>public</a:t>
            </a:r>
            <a:r>
              <a:rPr spc="-43" dirty="0">
                <a:latin typeface="Arial MT"/>
                <a:cs typeface="Times New Roman"/>
              </a:rPr>
              <a:t> </a:t>
            </a:r>
            <a:r>
              <a:rPr spc="-94" dirty="0">
                <a:latin typeface="Arial MT"/>
                <a:cs typeface="Times New Roman"/>
              </a:rPr>
              <a:t>boolean</a:t>
            </a:r>
            <a:r>
              <a:rPr spc="-82" dirty="0">
                <a:latin typeface="Arial MT"/>
                <a:cs typeface="Times New Roman"/>
              </a:rPr>
              <a:t> </a:t>
            </a:r>
            <a:r>
              <a:rPr b="1" spc="-8" dirty="0" err="1">
                <a:latin typeface="Arial MT"/>
                <a:cs typeface="Times New Roman"/>
              </a:rPr>
              <a:t>hasNext</a:t>
            </a:r>
            <a:r>
              <a:rPr b="1" spc="-8" dirty="0">
                <a:latin typeface="Arial MT"/>
                <a:cs typeface="Times New Roman"/>
              </a:rPr>
              <a:t>()</a:t>
            </a:r>
            <a:endParaRPr lang="en-US" b="1" spc="-8" dirty="0">
              <a:latin typeface="Arial MT"/>
              <a:cs typeface="Times New Roman"/>
            </a:endParaRPr>
          </a:p>
          <a:p>
            <a:pPr marL="467125" lvl="1">
              <a:lnSpc>
                <a:spcPts val="2137"/>
              </a:lnSpc>
              <a:spcBef>
                <a:spcPts val="270"/>
              </a:spcBef>
              <a:buClr>
                <a:srgbClr val="D24717"/>
              </a:buClr>
              <a:buSzPct val="85416"/>
              <a:tabLst>
                <a:tab pos="411890" algn="l"/>
              </a:tabLst>
            </a:pPr>
            <a:r>
              <a:rPr spc="-4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70" dirty="0">
                <a:solidFill>
                  <a:srgbClr val="FF0000"/>
                </a:solidFill>
                <a:latin typeface="Arial MT"/>
                <a:cs typeface="Times New Roman"/>
              </a:rPr>
              <a:t>Returns</a:t>
            </a:r>
            <a:r>
              <a:rPr spc="-39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16" dirty="0">
                <a:solidFill>
                  <a:srgbClr val="FF0000"/>
                </a:solidFill>
                <a:latin typeface="Arial MT"/>
                <a:cs typeface="Times New Roman"/>
              </a:rPr>
              <a:t>true</a:t>
            </a:r>
            <a:r>
              <a:rPr spc="-66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117" dirty="0">
                <a:solidFill>
                  <a:srgbClr val="FF0000"/>
                </a:solidFill>
                <a:latin typeface="Arial MT"/>
                <a:cs typeface="Times New Roman"/>
              </a:rPr>
              <a:t>if</a:t>
            </a:r>
            <a:r>
              <a:rPr spc="-35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47" dirty="0">
                <a:solidFill>
                  <a:srgbClr val="FF0000"/>
                </a:solidFill>
                <a:latin typeface="Arial MT"/>
                <a:cs typeface="Times New Roman"/>
              </a:rPr>
              <a:t>the </a:t>
            </a:r>
            <a:r>
              <a:rPr spc="-8" dirty="0">
                <a:solidFill>
                  <a:srgbClr val="FF0000"/>
                </a:solidFill>
                <a:latin typeface="Arial MT"/>
                <a:cs typeface="Times New Roman"/>
              </a:rPr>
              <a:t>iteration</a:t>
            </a:r>
            <a:r>
              <a:rPr lang="en-US" spc="-8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141" dirty="0">
                <a:solidFill>
                  <a:srgbClr val="FF0000"/>
                </a:solidFill>
                <a:latin typeface="Arial MT"/>
                <a:cs typeface="Times New Roman"/>
              </a:rPr>
              <a:t>has</a:t>
            </a:r>
            <a:r>
              <a:rPr spc="-55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74" dirty="0">
                <a:solidFill>
                  <a:srgbClr val="FF0000"/>
                </a:solidFill>
                <a:latin typeface="Arial MT"/>
                <a:cs typeface="Times New Roman"/>
              </a:rPr>
              <a:t>more</a:t>
            </a:r>
            <a:r>
              <a:rPr spc="-39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8" dirty="0">
                <a:solidFill>
                  <a:srgbClr val="FF0000"/>
                </a:solidFill>
                <a:latin typeface="Arial MT"/>
                <a:cs typeface="Times New Roman"/>
              </a:rPr>
              <a:t>elements</a:t>
            </a:r>
            <a:endParaRPr dirty="0">
              <a:latin typeface="Arial MT"/>
              <a:cs typeface="Times New Roman"/>
            </a:endParaRPr>
          </a:p>
          <a:p>
            <a:pPr marL="402460" marR="889284" indent="-402460">
              <a:lnSpc>
                <a:spcPts val="2137"/>
              </a:lnSpc>
              <a:spcBef>
                <a:spcPts val="246"/>
              </a:spcBef>
              <a:buClr>
                <a:srgbClr val="D24717"/>
              </a:buClr>
              <a:buSzPct val="85416"/>
              <a:buAutoNum type="arabicPeriod" startAt="2"/>
              <a:tabLst>
                <a:tab pos="402460" algn="l"/>
              </a:tabLst>
            </a:pPr>
            <a:r>
              <a:rPr spc="-102" dirty="0">
                <a:latin typeface="Arial MT"/>
                <a:cs typeface="Times New Roman"/>
              </a:rPr>
              <a:t>public</a:t>
            </a:r>
            <a:r>
              <a:rPr spc="-20" dirty="0">
                <a:latin typeface="Arial MT"/>
                <a:cs typeface="Times New Roman"/>
              </a:rPr>
              <a:t> </a:t>
            </a:r>
            <a:r>
              <a:rPr spc="-63" dirty="0">
                <a:latin typeface="Arial MT"/>
                <a:cs typeface="Times New Roman"/>
              </a:rPr>
              <a:t>Object</a:t>
            </a:r>
            <a:r>
              <a:rPr spc="-23" dirty="0">
                <a:latin typeface="Arial MT"/>
                <a:cs typeface="Times New Roman"/>
              </a:rPr>
              <a:t> </a:t>
            </a:r>
            <a:r>
              <a:rPr b="1" dirty="0">
                <a:latin typeface="Arial MT"/>
                <a:cs typeface="Times New Roman"/>
              </a:rPr>
              <a:t>next()</a:t>
            </a:r>
            <a:endParaRPr lang="en-US" b="1" dirty="0">
              <a:latin typeface="Arial MT"/>
              <a:cs typeface="Times New Roman"/>
            </a:endParaRPr>
          </a:p>
          <a:p>
            <a:pPr marR="889284" lvl="1">
              <a:lnSpc>
                <a:spcPts val="2137"/>
              </a:lnSpc>
              <a:spcBef>
                <a:spcPts val="246"/>
              </a:spcBef>
              <a:buClr>
                <a:srgbClr val="D24717"/>
              </a:buClr>
              <a:buSzPct val="85416"/>
              <a:tabLst>
                <a:tab pos="402460" algn="l"/>
              </a:tabLst>
            </a:pPr>
            <a:r>
              <a:rPr b="1" spc="-8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70" dirty="0">
                <a:solidFill>
                  <a:srgbClr val="FF0000"/>
                </a:solidFill>
                <a:latin typeface="Arial MT"/>
                <a:cs typeface="Times New Roman"/>
              </a:rPr>
              <a:t>Returns</a:t>
            </a:r>
            <a:r>
              <a:rPr spc="-12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47" dirty="0">
                <a:solidFill>
                  <a:srgbClr val="FF0000"/>
                </a:solidFill>
                <a:latin typeface="Arial MT"/>
                <a:cs typeface="Times New Roman"/>
              </a:rPr>
              <a:t>the</a:t>
            </a:r>
            <a:r>
              <a:rPr spc="-2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59" dirty="0">
                <a:solidFill>
                  <a:srgbClr val="FF0000"/>
                </a:solidFill>
                <a:latin typeface="Arial MT"/>
                <a:cs typeface="Times New Roman"/>
              </a:rPr>
              <a:t>next</a:t>
            </a:r>
            <a:r>
              <a:rPr spc="-51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70" dirty="0">
                <a:solidFill>
                  <a:srgbClr val="FF0000"/>
                </a:solidFill>
                <a:latin typeface="Arial MT"/>
                <a:cs typeface="Times New Roman"/>
              </a:rPr>
              <a:t>element</a:t>
            </a:r>
            <a:r>
              <a:rPr spc="-47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94" dirty="0">
                <a:solidFill>
                  <a:srgbClr val="FF0000"/>
                </a:solidFill>
                <a:latin typeface="Arial MT"/>
                <a:cs typeface="Times New Roman"/>
              </a:rPr>
              <a:t>in</a:t>
            </a:r>
            <a:r>
              <a:rPr spc="-8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20" dirty="0" err="1">
                <a:solidFill>
                  <a:srgbClr val="FF0000"/>
                </a:solidFill>
                <a:latin typeface="Arial MT"/>
                <a:cs typeface="Times New Roman"/>
              </a:rPr>
              <a:t>the</a:t>
            </a:r>
            <a:r>
              <a:rPr lang="en-US" spc="-8" dirty="0" err="1">
                <a:solidFill>
                  <a:srgbClr val="FF0000"/>
                </a:solidFill>
                <a:latin typeface="Arial MT"/>
                <a:cs typeface="Times New Roman"/>
              </a:rPr>
              <a:t>i</a:t>
            </a:r>
            <a:r>
              <a:rPr spc="-8" dirty="0" err="1">
                <a:solidFill>
                  <a:srgbClr val="FF0000"/>
                </a:solidFill>
                <a:latin typeface="Arial MT"/>
                <a:cs typeface="Times New Roman"/>
              </a:rPr>
              <a:t>teration</a:t>
            </a:r>
            <a:endParaRPr dirty="0">
              <a:latin typeface="Arial MT"/>
              <a:cs typeface="Times New Roman"/>
            </a:endParaRPr>
          </a:p>
          <a:p>
            <a:pPr marL="412386" indent="-402460">
              <a:lnSpc>
                <a:spcPts val="2137"/>
              </a:lnSpc>
              <a:spcBef>
                <a:spcPts val="246"/>
              </a:spcBef>
              <a:buClr>
                <a:srgbClr val="D24717"/>
              </a:buClr>
              <a:buSzPct val="85416"/>
              <a:buAutoNum type="arabicPeriod" startAt="3"/>
              <a:tabLst>
                <a:tab pos="412386" algn="l"/>
              </a:tabLst>
            </a:pPr>
            <a:r>
              <a:rPr spc="-102" dirty="0">
                <a:latin typeface="Arial MT"/>
                <a:cs typeface="Times New Roman"/>
              </a:rPr>
              <a:t>public</a:t>
            </a:r>
            <a:r>
              <a:rPr spc="-43" dirty="0">
                <a:latin typeface="Arial MT"/>
                <a:cs typeface="Times New Roman"/>
              </a:rPr>
              <a:t> </a:t>
            </a:r>
            <a:r>
              <a:rPr spc="-121" dirty="0">
                <a:latin typeface="Arial MT"/>
                <a:cs typeface="Times New Roman"/>
              </a:rPr>
              <a:t>void</a:t>
            </a:r>
            <a:r>
              <a:rPr spc="-59" dirty="0">
                <a:latin typeface="Arial MT"/>
                <a:cs typeface="Times New Roman"/>
              </a:rPr>
              <a:t> </a:t>
            </a:r>
            <a:r>
              <a:rPr b="1" dirty="0">
                <a:latin typeface="Arial MT"/>
                <a:cs typeface="Times New Roman"/>
              </a:rPr>
              <a:t>remove()</a:t>
            </a:r>
            <a:endParaRPr lang="en-US" b="1" dirty="0">
              <a:latin typeface="Arial MT"/>
              <a:cs typeface="Times New Roman"/>
            </a:endParaRPr>
          </a:p>
          <a:p>
            <a:pPr marL="9926">
              <a:lnSpc>
                <a:spcPts val="2137"/>
              </a:lnSpc>
              <a:spcBef>
                <a:spcPts val="246"/>
              </a:spcBef>
              <a:buClr>
                <a:srgbClr val="D24717"/>
              </a:buClr>
              <a:buSzPct val="85416"/>
              <a:tabLst>
                <a:tab pos="412386" algn="l"/>
              </a:tabLst>
            </a:pPr>
            <a:r>
              <a:rPr lang="en-IN" b="1" spc="-74" dirty="0">
                <a:solidFill>
                  <a:srgbClr val="FF0000"/>
                </a:solidFill>
                <a:latin typeface="Arial MT"/>
                <a:cs typeface="Times New Roman"/>
              </a:rPr>
              <a:t>	</a:t>
            </a:r>
            <a:r>
              <a:rPr b="1" spc="-7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129" dirty="0">
                <a:solidFill>
                  <a:srgbClr val="FF0000"/>
                </a:solidFill>
                <a:latin typeface="Arial MT"/>
                <a:cs typeface="Times New Roman"/>
              </a:rPr>
              <a:t>Remove</a:t>
            </a:r>
            <a:r>
              <a:rPr spc="-47" dirty="0">
                <a:solidFill>
                  <a:srgbClr val="FF0000"/>
                </a:solidFill>
                <a:latin typeface="Arial MT"/>
                <a:cs typeface="Times New Roman"/>
              </a:rPr>
              <a:t> the</a:t>
            </a:r>
            <a:r>
              <a:rPr spc="-4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51" dirty="0">
                <a:solidFill>
                  <a:srgbClr val="FF0000"/>
                </a:solidFill>
                <a:latin typeface="Arial MT"/>
                <a:cs typeface="Times New Roman"/>
              </a:rPr>
              <a:t>next</a:t>
            </a:r>
            <a:r>
              <a:rPr spc="-55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70" dirty="0">
                <a:solidFill>
                  <a:srgbClr val="FF0000"/>
                </a:solidFill>
                <a:latin typeface="Arial MT"/>
                <a:cs typeface="Times New Roman"/>
              </a:rPr>
              <a:t>element</a:t>
            </a:r>
            <a:r>
              <a:rPr spc="-74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94" dirty="0">
                <a:solidFill>
                  <a:srgbClr val="FF0000"/>
                </a:solidFill>
                <a:latin typeface="Arial MT"/>
                <a:cs typeface="Times New Roman"/>
              </a:rPr>
              <a:t>in</a:t>
            </a:r>
            <a:r>
              <a:rPr spc="-43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20" dirty="0">
                <a:solidFill>
                  <a:srgbClr val="FF0000"/>
                </a:solidFill>
                <a:latin typeface="Arial MT"/>
                <a:cs typeface="Times New Roman"/>
              </a:rPr>
              <a:t>the</a:t>
            </a:r>
            <a:r>
              <a:rPr lang="en-US" spc="-20" dirty="0">
                <a:solidFill>
                  <a:srgbClr val="FF0000"/>
                </a:solidFill>
                <a:latin typeface="Arial MT"/>
                <a:cs typeface="Times New Roman"/>
              </a:rPr>
              <a:t> </a:t>
            </a:r>
            <a:r>
              <a:rPr spc="-8" dirty="0">
                <a:solidFill>
                  <a:srgbClr val="FF0000"/>
                </a:solidFill>
                <a:latin typeface="Arial MT"/>
                <a:cs typeface="Times New Roman"/>
              </a:rPr>
              <a:t>iteration</a:t>
            </a:r>
            <a:endParaRPr dirty="0">
              <a:latin typeface="Arial MT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B7C54-F6A5-F491-7418-E92D85831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117" y="1135252"/>
            <a:ext cx="5718175" cy="246221"/>
          </a:xfrm>
        </p:spPr>
        <p:txBody>
          <a:bodyPr/>
          <a:lstStyle/>
          <a:p>
            <a:r>
              <a:rPr lang="en-US" sz="1600" spc="-25" dirty="0">
                <a:solidFill>
                  <a:schemeClr val="bg1"/>
                </a:solidFill>
              </a:rPr>
              <a:t>		Iterating</a:t>
            </a:r>
            <a:r>
              <a:rPr lang="en-US" sz="1600" spc="-145" dirty="0">
                <a:solidFill>
                  <a:schemeClr val="bg1"/>
                </a:solidFill>
              </a:rPr>
              <a:t> </a:t>
            </a:r>
            <a:r>
              <a:rPr lang="en-US" sz="1600" spc="-110" dirty="0">
                <a:solidFill>
                  <a:schemeClr val="bg1"/>
                </a:solidFill>
              </a:rPr>
              <a:t>ArrayList</a:t>
            </a:r>
            <a:r>
              <a:rPr lang="en-US" sz="1600" spc="2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using</a:t>
            </a:r>
            <a:r>
              <a:rPr lang="en-US" sz="1600" spc="-10" dirty="0">
                <a:solidFill>
                  <a:schemeClr val="bg1"/>
                </a:solidFill>
              </a:rPr>
              <a:t> Iterator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B2B77-D643-B94C-B89B-DF0554EA9E92}"/>
              </a:ext>
            </a:extLst>
          </p:cNvPr>
          <p:cNvSpPr txBox="1"/>
          <p:nvPr/>
        </p:nvSpPr>
        <p:spPr>
          <a:xfrm>
            <a:off x="501650" y="1399524"/>
            <a:ext cx="7086600" cy="4481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25">
              <a:spcBef>
                <a:spcPts val="543"/>
              </a:spcBef>
            </a:pPr>
            <a:r>
              <a:rPr lang="en-US" sz="1800" b="1" dirty="0">
                <a:latin typeface="Times New Roman"/>
                <a:cs typeface="Times New Roman"/>
              </a:rPr>
              <a:t>import</a:t>
            </a:r>
            <a:r>
              <a:rPr lang="en-US" sz="1800" b="1" spc="39" dirty="0">
                <a:latin typeface="Times New Roman"/>
                <a:cs typeface="Times New Roman"/>
              </a:rPr>
              <a:t> </a:t>
            </a:r>
            <a:r>
              <a:rPr lang="en-US" sz="1800" spc="-8" dirty="0" err="1">
                <a:latin typeface="Times New Roman"/>
                <a:cs typeface="Times New Roman"/>
              </a:rPr>
              <a:t>java.util</a:t>
            </a:r>
            <a:r>
              <a:rPr lang="en-US" sz="1800" spc="-8" dirty="0">
                <a:latin typeface="Times New Roman"/>
                <a:cs typeface="Times New Roman"/>
              </a:rPr>
              <a:t>.*;</a:t>
            </a:r>
            <a:endParaRPr lang="en-US" sz="1800" dirty="0">
              <a:latin typeface="Times New Roman"/>
              <a:cs typeface="Times New Roman"/>
            </a:endParaRPr>
          </a:p>
          <a:p>
            <a:pPr marL="9925">
              <a:spcBef>
                <a:spcPts val="469"/>
              </a:spcBef>
            </a:pPr>
            <a:r>
              <a:rPr lang="en-US" sz="1800" b="1" dirty="0">
                <a:latin typeface="Times New Roman"/>
                <a:cs typeface="Times New Roman"/>
              </a:rPr>
              <a:t>public</a:t>
            </a:r>
            <a:r>
              <a:rPr lang="en-US" sz="1800" b="1" spc="12" dirty="0">
                <a:latin typeface="Times New Roman"/>
                <a:cs typeface="Times New Roman"/>
              </a:rPr>
              <a:t> </a:t>
            </a:r>
            <a:r>
              <a:rPr lang="en-US" sz="1800" b="1" spc="-31" dirty="0">
                <a:latin typeface="Times New Roman"/>
                <a:cs typeface="Times New Roman"/>
              </a:rPr>
              <a:t>class</a:t>
            </a:r>
            <a:r>
              <a:rPr lang="en-US" sz="1800" b="1" spc="-145" dirty="0">
                <a:latin typeface="Times New Roman"/>
                <a:cs typeface="Times New Roman"/>
              </a:rPr>
              <a:t> </a:t>
            </a:r>
            <a:r>
              <a:rPr lang="en-US" sz="1800" spc="-55" dirty="0">
                <a:latin typeface="Times New Roman"/>
                <a:cs typeface="Times New Roman"/>
              </a:rPr>
              <a:t>ArrayListExample2{</a:t>
            </a:r>
            <a:endParaRPr lang="en-US" sz="1800" dirty="0">
              <a:latin typeface="Times New Roman"/>
              <a:cs typeface="Times New Roman"/>
            </a:endParaRPr>
          </a:p>
          <a:p>
            <a:pPr marL="59550">
              <a:spcBef>
                <a:spcPts val="469"/>
              </a:spcBef>
            </a:pPr>
            <a:r>
              <a:rPr lang="en-US" sz="1800" b="1" dirty="0">
                <a:latin typeface="Times New Roman"/>
                <a:cs typeface="Times New Roman"/>
              </a:rPr>
              <a:t>public</a:t>
            </a:r>
            <a:r>
              <a:rPr lang="en-US" sz="1800" b="1" spc="-23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static</a:t>
            </a:r>
            <a:r>
              <a:rPr lang="en-US" sz="1800" b="1" spc="-23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void</a:t>
            </a:r>
            <a:r>
              <a:rPr lang="en-US" sz="1800" b="1" spc="-20" dirty="0">
                <a:latin typeface="Times New Roman"/>
                <a:cs typeface="Times New Roman"/>
              </a:rPr>
              <a:t> </a:t>
            </a:r>
            <a:r>
              <a:rPr lang="en-US" sz="1800" spc="-94" dirty="0">
                <a:latin typeface="Times New Roman"/>
                <a:cs typeface="Times New Roman"/>
              </a:rPr>
              <a:t>main(String</a:t>
            </a:r>
            <a:r>
              <a:rPr lang="en-US" sz="1800" spc="-8" dirty="0">
                <a:latin typeface="Times New Roman"/>
                <a:cs typeface="Times New Roman"/>
              </a:rPr>
              <a:t> </a:t>
            </a:r>
            <a:r>
              <a:rPr lang="en-US" sz="1800" spc="-8" dirty="0" err="1">
                <a:latin typeface="Times New Roman"/>
                <a:cs typeface="Times New Roman"/>
              </a:rPr>
              <a:t>args</a:t>
            </a:r>
            <a:r>
              <a:rPr lang="en-US" sz="1800" spc="-8" dirty="0">
                <a:latin typeface="Times New Roman"/>
                <a:cs typeface="Times New Roman"/>
              </a:rPr>
              <a:t>[]){</a:t>
            </a:r>
            <a:endParaRPr lang="en-US" sz="1800" dirty="0">
              <a:latin typeface="Times New Roman"/>
              <a:cs typeface="Times New Roman"/>
            </a:endParaRPr>
          </a:p>
          <a:p>
            <a:pPr marL="95777">
              <a:spcBef>
                <a:spcPts val="473"/>
              </a:spcBef>
            </a:pPr>
            <a:r>
              <a:rPr lang="en-US" sz="1800" spc="-66" dirty="0">
                <a:latin typeface="Times New Roman"/>
                <a:cs typeface="Times New Roman"/>
              </a:rPr>
              <a:t>ArrayList&lt;String&gt;</a:t>
            </a:r>
            <a:r>
              <a:rPr lang="en-US" sz="1800" spc="47" dirty="0">
                <a:latin typeface="Times New Roman"/>
                <a:cs typeface="Times New Roman"/>
              </a:rPr>
              <a:t> </a:t>
            </a:r>
            <a:r>
              <a:rPr lang="en-US" sz="1800" spc="-8" dirty="0">
                <a:latin typeface="Times New Roman"/>
                <a:cs typeface="Times New Roman"/>
              </a:rPr>
              <a:t>list=</a:t>
            </a:r>
            <a:r>
              <a:rPr lang="en-US" sz="1800" b="1" spc="-8" dirty="0">
                <a:latin typeface="Times New Roman"/>
                <a:cs typeface="Times New Roman"/>
              </a:rPr>
              <a:t>new</a:t>
            </a:r>
            <a:r>
              <a:rPr lang="en-US" sz="1800" b="1" spc="-102" dirty="0">
                <a:latin typeface="Times New Roman"/>
                <a:cs typeface="Times New Roman"/>
              </a:rPr>
              <a:t> </a:t>
            </a:r>
            <a:r>
              <a:rPr lang="en-US" sz="1800" spc="-39" dirty="0">
                <a:latin typeface="Times New Roman"/>
                <a:cs typeface="Times New Roman"/>
              </a:rPr>
              <a:t>ArrayList&lt;String&gt;();</a:t>
            </a:r>
            <a:r>
              <a:rPr lang="en-US" sz="1800" spc="-39" dirty="0">
                <a:solidFill>
                  <a:srgbClr val="FF0000"/>
                </a:solidFill>
                <a:latin typeface="Times New Roman"/>
                <a:cs typeface="Times New Roman"/>
              </a:rPr>
              <a:t>//Creating</a:t>
            </a:r>
            <a:r>
              <a:rPr lang="en-US" sz="1800" spc="-12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66" dirty="0">
                <a:solidFill>
                  <a:srgbClr val="FF0000"/>
                </a:solidFill>
                <a:latin typeface="Times New Roman"/>
                <a:cs typeface="Times New Roman"/>
              </a:rPr>
              <a:t>ArrayList</a:t>
            </a:r>
            <a:endParaRPr lang="en-US" sz="1800" dirty="0">
              <a:latin typeface="Times New Roman"/>
              <a:cs typeface="Times New Roman"/>
            </a:endParaRPr>
          </a:p>
          <a:p>
            <a:pPr marL="112153">
              <a:spcBef>
                <a:spcPts val="469"/>
              </a:spcBef>
            </a:pPr>
            <a:r>
              <a:rPr lang="en-US" sz="1800" spc="-51" dirty="0" err="1">
                <a:latin typeface="Times New Roman"/>
                <a:cs typeface="Times New Roman"/>
              </a:rPr>
              <a:t>list.add</a:t>
            </a:r>
            <a:r>
              <a:rPr lang="en-US" sz="1800" spc="-51" dirty="0">
                <a:latin typeface="Times New Roman"/>
                <a:cs typeface="Times New Roman"/>
              </a:rPr>
              <a:t>("Mango");</a:t>
            </a:r>
            <a:r>
              <a:rPr lang="en-US" sz="1800" spc="-51" dirty="0">
                <a:solidFill>
                  <a:srgbClr val="FF0000"/>
                </a:solidFill>
                <a:latin typeface="Times New Roman"/>
                <a:cs typeface="Times New Roman"/>
              </a:rPr>
              <a:t>//Adding</a:t>
            </a:r>
            <a:r>
              <a:rPr lang="en-US"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82" dirty="0">
                <a:solidFill>
                  <a:srgbClr val="FF0000"/>
                </a:solidFill>
                <a:latin typeface="Times New Roman"/>
                <a:cs typeface="Times New Roman"/>
              </a:rPr>
              <a:t>object</a:t>
            </a:r>
            <a:r>
              <a:rPr lang="en-US" sz="1800" spc="-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89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lang="en-US" sz="1800" spc="-17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8" dirty="0">
                <a:solidFill>
                  <a:srgbClr val="FF0000"/>
                </a:solidFill>
                <a:latin typeface="Times New Roman"/>
                <a:cs typeface="Times New Roman"/>
              </a:rPr>
              <a:t>ArrayList</a:t>
            </a:r>
          </a:p>
          <a:p>
            <a:pPr marL="9925">
              <a:spcBef>
                <a:spcPts val="543"/>
              </a:spcBef>
            </a:pPr>
            <a:r>
              <a:rPr lang="en-US" sz="1800" spc="-23" dirty="0" err="1">
                <a:latin typeface="Times New Roman"/>
                <a:cs typeface="Times New Roman"/>
              </a:rPr>
              <a:t>list.add</a:t>
            </a:r>
            <a:r>
              <a:rPr lang="en-US" sz="1800" spc="-23" dirty="0">
                <a:latin typeface="Times New Roman"/>
                <a:cs typeface="Times New Roman"/>
              </a:rPr>
              <a:t>("Apple");</a:t>
            </a:r>
            <a:endParaRPr lang="en-US" sz="1800" dirty="0">
              <a:latin typeface="Times New Roman"/>
              <a:cs typeface="Times New Roman"/>
            </a:endParaRPr>
          </a:p>
          <a:p>
            <a:pPr marL="9925">
              <a:spcBef>
                <a:spcPts val="469"/>
              </a:spcBef>
            </a:pPr>
            <a:r>
              <a:rPr lang="en-US" sz="1800" spc="-39" dirty="0" err="1">
                <a:latin typeface="Times New Roman"/>
                <a:cs typeface="Times New Roman"/>
              </a:rPr>
              <a:t>list.add</a:t>
            </a:r>
            <a:r>
              <a:rPr lang="en-US" sz="1800" spc="-39" dirty="0">
                <a:latin typeface="Times New Roman"/>
                <a:cs typeface="Times New Roman"/>
              </a:rPr>
              <a:t>("Banana");</a:t>
            </a:r>
            <a:endParaRPr lang="en-US" sz="1800" dirty="0">
              <a:latin typeface="Times New Roman"/>
              <a:cs typeface="Times New Roman"/>
            </a:endParaRPr>
          </a:p>
          <a:p>
            <a:pPr marL="9925">
              <a:spcBef>
                <a:spcPts val="469"/>
              </a:spcBef>
            </a:pPr>
            <a:r>
              <a:rPr lang="en-US" sz="1800" spc="-23" dirty="0" err="1">
                <a:latin typeface="Times New Roman"/>
                <a:cs typeface="Times New Roman"/>
              </a:rPr>
              <a:t>list.add</a:t>
            </a:r>
            <a:r>
              <a:rPr lang="en-US" sz="1800" spc="-23" dirty="0">
                <a:latin typeface="Times New Roman"/>
                <a:cs typeface="Times New Roman"/>
              </a:rPr>
              <a:t>("Grapes");</a:t>
            </a:r>
            <a:endParaRPr lang="en-US" sz="1800" dirty="0">
              <a:latin typeface="Times New Roman"/>
              <a:cs typeface="Times New Roman"/>
            </a:endParaRPr>
          </a:p>
          <a:p>
            <a:pPr marL="9925">
              <a:spcBef>
                <a:spcPts val="469"/>
              </a:spcBef>
            </a:pPr>
            <a:r>
              <a:rPr lang="en-US" sz="1800" spc="-47" dirty="0">
                <a:latin typeface="Times New Roman"/>
                <a:cs typeface="Times New Roman"/>
              </a:rPr>
              <a:t>Iterator </a:t>
            </a:r>
            <a:r>
              <a:rPr lang="en-US" sz="1800" spc="-8" dirty="0" err="1">
                <a:latin typeface="Times New Roman"/>
                <a:cs typeface="Times New Roman"/>
              </a:rPr>
              <a:t>itr</a:t>
            </a:r>
            <a:r>
              <a:rPr lang="en-US" sz="1800" spc="-8" dirty="0">
                <a:latin typeface="Times New Roman"/>
                <a:cs typeface="Times New Roman"/>
              </a:rPr>
              <a:t>=</a:t>
            </a:r>
            <a:r>
              <a:rPr lang="en-US" sz="1800" spc="-8" dirty="0" err="1">
                <a:latin typeface="Times New Roman"/>
                <a:cs typeface="Times New Roman"/>
              </a:rPr>
              <a:t>list.iterator</a:t>
            </a:r>
            <a:r>
              <a:rPr lang="en-US" sz="1800" spc="-8" dirty="0">
                <a:latin typeface="Times New Roman"/>
                <a:cs typeface="Times New Roman"/>
              </a:rPr>
              <a:t>();</a:t>
            </a:r>
            <a:r>
              <a:rPr lang="en-US" sz="1800" spc="-8" dirty="0">
                <a:solidFill>
                  <a:srgbClr val="FF0000"/>
                </a:solidFill>
                <a:latin typeface="Times New Roman"/>
                <a:cs typeface="Times New Roman"/>
              </a:rPr>
              <a:t>//getting</a:t>
            </a:r>
            <a:r>
              <a:rPr lang="en-US" sz="1800" spc="-4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5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6" dirty="0">
                <a:solidFill>
                  <a:srgbClr val="FF0000"/>
                </a:solidFill>
                <a:latin typeface="Times New Roman"/>
                <a:cs typeface="Times New Roman"/>
              </a:rPr>
              <a:t>Iterator</a:t>
            </a:r>
            <a:endParaRPr lang="en-US" sz="1800" dirty="0">
              <a:latin typeface="Times New Roman"/>
              <a:cs typeface="Times New Roman"/>
            </a:endParaRPr>
          </a:p>
          <a:p>
            <a:pPr marL="76200" marR="5080" indent="-64135">
              <a:lnSpc>
                <a:spcPct val="121800"/>
              </a:lnSpc>
              <a:spcBef>
                <a:spcPts val="100"/>
              </a:spcBef>
            </a:pPr>
            <a:r>
              <a:rPr lang="en-US" sz="1800" b="1" spc="-25" dirty="0">
                <a:latin typeface="Times New Roman"/>
                <a:cs typeface="Times New Roman"/>
              </a:rPr>
              <a:t>while</a:t>
            </a:r>
            <a:r>
              <a:rPr lang="en-US" sz="1800" spc="-25" dirty="0">
                <a:latin typeface="Times New Roman"/>
                <a:cs typeface="Times New Roman"/>
              </a:rPr>
              <a:t>(</a:t>
            </a:r>
            <a:r>
              <a:rPr lang="en-US" sz="1800" spc="-25" dirty="0" err="1">
                <a:latin typeface="Times New Roman"/>
                <a:cs typeface="Times New Roman"/>
              </a:rPr>
              <a:t>itr.hasNext</a:t>
            </a:r>
            <a:r>
              <a:rPr lang="en-US" sz="1800" spc="-25" dirty="0">
                <a:latin typeface="Times New Roman"/>
                <a:cs typeface="Times New Roman"/>
              </a:rPr>
              <a:t>()){</a:t>
            </a:r>
            <a:r>
              <a:rPr lang="en-US"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//check </a:t>
            </a:r>
            <a:r>
              <a:rPr lang="en-US" sz="1800" spc="-140" dirty="0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lang="en-US"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iterator</a:t>
            </a:r>
            <a:r>
              <a:rPr lang="en-US"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85" dirty="0">
                <a:solidFill>
                  <a:srgbClr val="FF0000"/>
                </a:solidFill>
                <a:latin typeface="Times New Roman"/>
                <a:cs typeface="Times New Roman"/>
              </a:rPr>
              <a:t>has</a:t>
            </a:r>
            <a:r>
              <a:rPr lang="en-US"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6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US"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elements </a:t>
            </a:r>
            <a:r>
              <a:rPr lang="en-US" sz="1800" spc="-45" dirty="0" err="1">
                <a:latin typeface="Times New Roman"/>
                <a:cs typeface="Times New Roman"/>
              </a:rPr>
              <a:t>System.out.println</a:t>
            </a:r>
            <a:r>
              <a:rPr lang="en-US" sz="1800" spc="-45" dirty="0">
                <a:latin typeface="Times New Roman"/>
                <a:cs typeface="Times New Roman"/>
              </a:rPr>
              <a:t>(</a:t>
            </a:r>
            <a:r>
              <a:rPr lang="en-US" sz="1800" spc="-45" dirty="0" err="1">
                <a:latin typeface="Times New Roman"/>
                <a:cs typeface="Times New Roman"/>
              </a:rPr>
              <a:t>itr.next</a:t>
            </a:r>
            <a:r>
              <a:rPr lang="en-US" sz="1800" spc="-45" dirty="0">
                <a:latin typeface="Times New Roman"/>
                <a:cs typeface="Times New Roman"/>
              </a:rPr>
              <a:t>());</a:t>
            </a:r>
            <a:r>
              <a:rPr lang="en-US"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//printing</a:t>
            </a:r>
            <a:r>
              <a:rPr lang="en-US"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6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lang="en-US" sz="18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90" dirty="0">
                <a:solidFill>
                  <a:srgbClr val="FF0000"/>
                </a:solidFill>
                <a:latin typeface="Times New Roman"/>
                <a:cs typeface="Times New Roman"/>
              </a:rPr>
              <a:t>element</a:t>
            </a:r>
            <a:r>
              <a:rPr lang="en-US"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4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lang="en-US"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70" dirty="0">
                <a:solidFill>
                  <a:srgbClr val="FF0000"/>
                </a:solidFill>
                <a:latin typeface="Times New Roman"/>
                <a:cs typeface="Times New Roman"/>
              </a:rPr>
              <a:t>move</a:t>
            </a:r>
            <a:r>
              <a:rPr lang="en-US"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lang="en-US"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next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414655" algn="l"/>
                <a:tab pos="746760" algn="l"/>
              </a:tabLst>
            </a:pPr>
            <a:r>
              <a:rPr lang="en-US" sz="1800" spc="-50" dirty="0">
                <a:latin typeface="Times New Roman"/>
                <a:cs typeface="Times New Roman"/>
              </a:rPr>
              <a:t>}}}</a:t>
            </a:r>
            <a:endParaRPr lang="en-US" sz="1800" dirty="0">
              <a:latin typeface="Times New Roman"/>
              <a:cs typeface="Times New Roman"/>
            </a:endParaRPr>
          </a:p>
          <a:p>
            <a:pPr marL="112153">
              <a:spcBef>
                <a:spcPts val="469"/>
              </a:spcBef>
            </a:pP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764CB61-7D3D-8D48-9EE1-45620B40DA19}"/>
              </a:ext>
            </a:extLst>
          </p:cNvPr>
          <p:cNvSpPr txBox="1"/>
          <p:nvPr/>
        </p:nvSpPr>
        <p:spPr>
          <a:xfrm>
            <a:off x="5869277" y="2994707"/>
            <a:ext cx="1033173" cy="1666193"/>
          </a:xfrm>
          <a:prstGeom prst="rect">
            <a:avLst/>
          </a:prstGeom>
        </p:spPr>
        <p:txBody>
          <a:bodyPr vert="horz" wrap="square" lIns="0" tIns="9429" rIns="0" bIns="0" rtlCol="0">
            <a:spAutoFit/>
          </a:bodyPr>
          <a:lstStyle/>
          <a:p>
            <a:pPr marL="186095" marR="3970" indent="-176666">
              <a:lnSpc>
                <a:spcPct val="121800"/>
              </a:lnSpc>
              <a:spcBef>
                <a:spcPts val="74"/>
              </a:spcBef>
            </a:pPr>
            <a:r>
              <a:rPr sz="1797" b="1" spc="70" dirty="0">
                <a:solidFill>
                  <a:srgbClr val="00AF50"/>
                </a:solidFill>
                <a:latin typeface="Times New Roman"/>
                <a:cs typeface="Times New Roman"/>
              </a:rPr>
              <a:t>//Output: </a:t>
            </a:r>
            <a:r>
              <a:rPr sz="1797" b="1" spc="-8" dirty="0">
                <a:solidFill>
                  <a:srgbClr val="00AF50"/>
                </a:solidFill>
                <a:latin typeface="Times New Roman"/>
                <a:cs typeface="Times New Roman"/>
              </a:rPr>
              <a:t>Mango Apple Banana Grapes</a:t>
            </a:r>
            <a:endParaRPr sz="1797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41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3835</Words>
  <Application>Microsoft Office PowerPoint</Application>
  <PresentationFormat>Custom</PresentationFormat>
  <Paragraphs>454</Paragraphs>
  <Slides>99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7" baseType="lpstr">
      <vt:lpstr>Arial</vt:lpstr>
      <vt:lpstr>Arial MT</vt:lpstr>
      <vt:lpstr>Calibri</vt:lpstr>
      <vt:lpstr>Franklin Gothic Medium</vt:lpstr>
      <vt:lpstr>Segoe UI Symbol</vt:lpstr>
      <vt:lpstr>Times New Roman</vt:lpstr>
      <vt:lpstr>Wingdings</vt:lpstr>
      <vt:lpstr>Office Theme</vt:lpstr>
      <vt:lpstr>String Handling</vt:lpstr>
      <vt:lpstr>How to create String object? </vt:lpstr>
      <vt:lpstr>PowerPoint Presentation</vt:lpstr>
      <vt:lpstr>PowerPoint Presentation</vt:lpstr>
      <vt:lpstr>PowerPoint Presentation</vt:lpstr>
      <vt:lpstr>2. By new keyword</vt:lpstr>
      <vt:lpstr>Immutable String in Java</vt:lpstr>
      <vt:lpstr>PowerPoint Presentation</vt:lpstr>
      <vt:lpstr>PowerPoint Presentation</vt:lpstr>
      <vt:lpstr>String Constructors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 Length</vt:lpstr>
      <vt:lpstr>Special String Operations</vt:lpstr>
      <vt:lpstr>String Literals</vt:lpstr>
      <vt:lpstr>String Concatenation</vt:lpstr>
      <vt:lpstr>String Concatenation with Other Data Types</vt:lpstr>
      <vt:lpstr>String Conversion and toString( )</vt:lpstr>
      <vt:lpstr>String Conversion and toString( )</vt:lpstr>
      <vt:lpstr>PowerPoint Presentation</vt:lpstr>
      <vt:lpstr>Without using toString()</vt:lpstr>
      <vt:lpstr>PowerPoint Presentation</vt:lpstr>
      <vt:lpstr>Character Extraction</vt:lpstr>
      <vt:lpstr>charAt( )</vt:lpstr>
      <vt:lpstr>PowerPoint Presentation</vt:lpstr>
      <vt:lpstr>Example program- getChars( )</vt:lpstr>
      <vt:lpstr>getBytes( )</vt:lpstr>
      <vt:lpstr>toCharArray( )</vt:lpstr>
      <vt:lpstr>PowerPoint Presentation</vt:lpstr>
      <vt:lpstr>String Comparison</vt:lpstr>
      <vt:lpstr>equals( )</vt:lpstr>
      <vt:lpstr>equalsIgnoreCase( )</vt:lpstr>
      <vt:lpstr>PowerPoint Presentation</vt:lpstr>
      <vt:lpstr>regionMatches( )</vt:lpstr>
      <vt:lpstr>PowerPoint Presentation</vt:lpstr>
      <vt:lpstr>startsWith( ) and endsWith( )</vt:lpstr>
      <vt:lpstr>PowerPoint Presentation</vt:lpstr>
      <vt:lpstr>equals( ) Versus ==</vt:lpstr>
      <vt:lpstr>PowerPoint Presentation</vt:lpstr>
      <vt:lpstr>compareTo( )</vt:lpstr>
      <vt:lpstr>PowerPoint Presentation</vt:lpstr>
      <vt:lpstr>PowerPoint Presentation</vt:lpstr>
      <vt:lpstr>compareToIgnoreCase( )</vt:lpstr>
      <vt:lpstr>PowerPoint Presentation</vt:lpstr>
      <vt:lpstr>Searching Strings</vt:lpstr>
      <vt:lpstr>PowerPoint Presentation</vt:lpstr>
      <vt:lpstr>PowerPoint Presentation</vt:lpstr>
      <vt:lpstr>PowerPoint Presentation</vt:lpstr>
      <vt:lpstr>PowerPoint Presentation</vt:lpstr>
      <vt:lpstr>Modifying a String</vt:lpstr>
      <vt:lpstr>substring( )</vt:lpstr>
      <vt:lpstr>PowerPoint Presentation</vt:lpstr>
      <vt:lpstr>PowerPoint Presentation</vt:lpstr>
      <vt:lpstr>concat( )</vt:lpstr>
      <vt:lpstr>replace( )</vt:lpstr>
      <vt:lpstr>trim( )</vt:lpstr>
      <vt:lpstr>PowerPoint Presentation</vt:lpstr>
      <vt:lpstr>PowerPoint Presentation</vt:lpstr>
      <vt:lpstr>Data Conversion Using valueOf( )</vt:lpstr>
      <vt:lpstr>PowerPoint Presentation</vt:lpstr>
      <vt:lpstr>PowerPoint Presentation</vt:lpstr>
      <vt:lpstr>PowerPoint Presentation</vt:lpstr>
      <vt:lpstr>Comparison of String Buffer and String.</vt:lpstr>
      <vt:lpstr>PowerPoint Presentation</vt:lpstr>
      <vt:lpstr>PowerPoint Presentation</vt:lpstr>
      <vt:lpstr>StringBuffer Constructors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Collections in Java </vt:lpstr>
      <vt:lpstr>PowerPoint Presentation</vt:lpstr>
      <vt:lpstr>Hierarchy of Collection Framework</vt:lpstr>
      <vt:lpstr>The standard collection classes are</vt:lpstr>
      <vt:lpstr>PowerPoint Presentation</vt:lpstr>
      <vt:lpstr>PowerPoint Presentation</vt:lpstr>
      <vt:lpstr>PowerPoint Presentation</vt:lpstr>
      <vt:lpstr>Array Vs ArrayList</vt:lpstr>
      <vt:lpstr>Constructor &amp; Description of ArrayList</vt:lpstr>
      <vt:lpstr>PowerPoint Presentation</vt:lpstr>
      <vt:lpstr>PowerPoint Presentation</vt:lpstr>
      <vt:lpstr>PowerPoint Presentation</vt:lpstr>
      <vt:lpstr>Iterating ArrayList using Iterator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Handling</dc:title>
  <cp:lastModifiedBy>libsy baby</cp:lastModifiedBy>
  <cp:revision>73</cp:revision>
  <dcterms:created xsi:type="dcterms:W3CDTF">2023-11-27T17:16:17Z</dcterms:created>
  <dcterms:modified xsi:type="dcterms:W3CDTF">2023-12-02T05:55:45Z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2023-11-27T00:00:00Z</vt:filetime>
  </property>
  <property fmtid="{D5CDD505-2E9C-101B-9397-08002B2CF9AE}" pid="3" name="LastSaved">
    <vt:filetime>2023-11-27T00:00:00Z</vt:filetime>
  </property>
</Properties>
</file>