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3"/>
  </p:notesMasterIdLst>
  <p:handoutMasterIdLst>
    <p:handoutMasterId r:id="rId24"/>
  </p:handoutMasterIdLst>
  <p:sldIdLst>
    <p:sldId id="286" r:id="rId2"/>
    <p:sldId id="287" r:id="rId3"/>
    <p:sldId id="288" r:id="rId4"/>
    <p:sldId id="289" r:id="rId5"/>
    <p:sldId id="290" r:id="rId6"/>
    <p:sldId id="291" r:id="rId7"/>
    <p:sldId id="303" r:id="rId8"/>
    <p:sldId id="302" r:id="rId9"/>
    <p:sldId id="305" r:id="rId10"/>
    <p:sldId id="306" r:id="rId11"/>
    <p:sldId id="292" r:id="rId12"/>
    <p:sldId id="293" r:id="rId13"/>
    <p:sldId id="294" r:id="rId14"/>
    <p:sldId id="309" r:id="rId15"/>
    <p:sldId id="295" r:id="rId16"/>
    <p:sldId id="296" r:id="rId17"/>
    <p:sldId id="297" r:id="rId18"/>
    <p:sldId id="298" r:id="rId19"/>
    <p:sldId id="299" r:id="rId20"/>
    <p:sldId id="300" r:id="rId21"/>
    <p:sldId id="301" r:id="rId22"/>
  </p:sldIdLst>
  <p:sldSz cx="7772400" cy="3670300"/>
  <p:notesSz cx="7772400" cy="36703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6" d="100"/>
          <a:sy n="116" d="100"/>
        </p:scale>
        <p:origin x="898" y="8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817112" cy="7391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95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989570" y="0"/>
            <a:ext cx="3817112" cy="7391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95"/>
            </a:lvl1pPr>
          </a:lstStyle>
          <a:p>
            <a:fld id="{696C064A-D61B-4B21-B757-51A9B82445B8}" type="datetimeFigureOut">
              <a:rPr lang="en-US" smtClean="0"/>
              <a:t>12/18/2023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1399301"/>
            <a:ext cx="3817112" cy="7391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95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989570" y="1399301"/>
            <a:ext cx="3817112" cy="7391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95"/>
            </a:lvl1pPr>
          </a:lstStyle>
          <a:p>
            <a:fld id="{50305E07-67EA-4042-A3F6-853A8AD8D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817112" cy="7391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989570" y="0"/>
            <a:ext cx="3817112" cy="7391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12/18/2023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962395" y="184152"/>
            <a:ext cx="883931" cy="497211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880872" y="708986"/>
            <a:ext cx="7046976" cy="58007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399301"/>
            <a:ext cx="3817112" cy="7391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989570" y="1399301"/>
            <a:ext cx="3817112" cy="7391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925068" y="778763"/>
            <a:ext cx="5864860" cy="2891790"/>
          </a:xfrm>
          <a:custGeom>
            <a:avLst/>
            <a:gdLst/>
            <a:ahLst/>
            <a:cxnLst/>
            <a:rect l="l" t="t" r="r" b="b"/>
            <a:pathLst>
              <a:path w="5864859" h="2891790">
                <a:moveTo>
                  <a:pt x="0" y="0"/>
                </a:moveTo>
                <a:lnTo>
                  <a:pt x="5864352" y="0"/>
                </a:lnTo>
                <a:lnTo>
                  <a:pt x="5864352" y="2891536"/>
                </a:lnTo>
                <a:lnTo>
                  <a:pt x="0" y="2891536"/>
                </a:lnTo>
                <a:lnTo>
                  <a:pt x="0" y="0"/>
                </a:lnTo>
                <a:close/>
              </a:path>
            </a:pathLst>
          </a:custGeom>
          <a:solidFill>
            <a:srgbClr val="FFE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922020" y="776223"/>
            <a:ext cx="5870575" cy="2894330"/>
          </a:xfrm>
          <a:custGeom>
            <a:avLst/>
            <a:gdLst/>
            <a:ahLst/>
            <a:cxnLst/>
            <a:rect l="l" t="t" r="r" b="b"/>
            <a:pathLst>
              <a:path w="5870575" h="2894329">
                <a:moveTo>
                  <a:pt x="5870448" y="1270"/>
                </a:moveTo>
                <a:lnTo>
                  <a:pt x="5870067" y="1270"/>
                </a:lnTo>
                <a:lnTo>
                  <a:pt x="5870067" y="0"/>
                </a:lnTo>
                <a:lnTo>
                  <a:pt x="5867146" y="0"/>
                </a:lnTo>
                <a:lnTo>
                  <a:pt x="5867146" y="3810"/>
                </a:lnTo>
                <a:lnTo>
                  <a:pt x="5866511" y="3810"/>
                </a:lnTo>
                <a:lnTo>
                  <a:pt x="5866511" y="3175"/>
                </a:lnTo>
                <a:lnTo>
                  <a:pt x="5867146" y="3810"/>
                </a:lnTo>
                <a:lnTo>
                  <a:pt x="5867146" y="0"/>
                </a:lnTo>
                <a:lnTo>
                  <a:pt x="4572" y="0"/>
                </a:lnTo>
                <a:lnTo>
                  <a:pt x="4572" y="2540"/>
                </a:lnTo>
                <a:lnTo>
                  <a:pt x="3924" y="3187"/>
                </a:lnTo>
                <a:lnTo>
                  <a:pt x="3924" y="2540"/>
                </a:lnTo>
                <a:lnTo>
                  <a:pt x="4572" y="2540"/>
                </a:lnTo>
                <a:lnTo>
                  <a:pt x="4572" y="0"/>
                </a:lnTo>
                <a:lnTo>
                  <a:pt x="368" y="0"/>
                </a:lnTo>
                <a:lnTo>
                  <a:pt x="368" y="1270"/>
                </a:lnTo>
                <a:lnTo>
                  <a:pt x="0" y="1270"/>
                </a:lnTo>
                <a:lnTo>
                  <a:pt x="0" y="2540"/>
                </a:lnTo>
                <a:lnTo>
                  <a:pt x="0" y="3810"/>
                </a:lnTo>
                <a:lnTo>
                  <a:pt x="0" y="2894330"/>
                </a:lnTo>
                <a:lnTo>
                  <a:pt x="4572" y="2894330"/>
                </a:lnTo>
                <a:lnTo>
                  <a:pt x="4572" y="4064"/>
                </a:lnTo>
                <a:lnTo>
                  <a:pt x="5865876" y="4064"/>
                </a:lnTo>
                <a:lnTo>
                  <a:pt x="5865876" y="2894330"/>
                </a:lnTo>
                <a:lnTo>
                  <a:pt x="5870448" y="2894330"/>
                </a:lnTo>
                <a:lnTo>
                  <a:pt x="5870448" y="4064"/>
                </a:lnTo>
                <a:lnTo>
                  <a:pt x="5870448" y="3810"/>
                </a:lnTo>
                <a:lnTo>
                  <a:pt x="5870448" y="2540"/>
                </a:lnTo>
                <a:lnTo>
                  <a:pt x="5870448" y="1270"/>
                </a:lnTo>
                <a:close/>
              </a:path>
            </a:pathLst>
          </a:custGeom>
          <a:solidFill>
            <a:srgbClr val="5B9A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56615" y="744757"/>
            <a:ext cx="5719445" cy="2997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65860" y="2055368"/>
            <a:ext cx="5440680" cy="9175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12/18/2023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12/18/2023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88620" y="844169"/>
            <a:ext cx="3380994" cy="24223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002786" y="844169"/>
            <a:ext cx="3380994" cy="24223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12/18/2023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12/18/2023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12/18/2023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701807" y="124466"/>
            <a:ext cx="4368784" cy="360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59177" y="1200418"/>
            <a:ext cx="4805045" cy="19024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642616" y="3413379"/>
            <a:ext cx="2487168" cy="1835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88620" y="3413379"/>
            <a:ext cx="1787652" cy="1835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12/18/2023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596128" y="3413379"/>
            <a:ext cx="1787652" cy="1835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mailto:bill.gates@microsoft.com" TargetMode="Externa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mailto:bill.gates@microsoft.com" TargetMode="Externa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hyperlink" Target="mailto:bill.gates@microsoft.com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121663" y="883919"/>
            <a:ext cx="5491480" cy="805180"/>
            <a:chOff x="1121663" y="883919"/>
            <a:chExt cx="5491480" cy="805180"/>
          </a:xfrm>
        </p:grpSpPr>
        <p:sp>
          <p:nvSpPr>
            <p:cNvPr id="3" name="object 3"/>
            <p:cNvSpPr/>
            <p:nvPr/>
          </p:nvSpPr>
          <p:spPr>
            <a:xfrm>
              <a:off x="1123187" y="886967"/>
              <a:ext cx="5486400" cy="798830"/>
            </a:xfrm>
            <a:custGeom>
              <a:avLst/>
              <a:gdLst/>
              <a:ahLst/>
              <a:cxnLst/>
              <a:rect l="l" t="t" r="r" b="b"/>
              <a:pathLst>
                <a:path w="5486400" h="798830">
                  <a:moveTo>
                    <a:pt x="5486399" y="798576"/>
                  </a:moveTo>
                  <a:lnTo>
                    <a:pt x="0" y="798576"/>
                  </a:lnTo>
                  <a:lnTo>
                    <a:pt x="0" y="0"/>
                  </a:lnTo>
                  <a:lnTo>
                    <a:pt x="5486399" y="0"/>
                  </a:lnTo>
                  <a:lnTo>
                    <a:pt x="5486399" y="798576"/>
                  </a:lnTo>
                  <a:close/>
                </a:path>
              </a:pathLst>
            </a:custGeom>
            <a:solidFill>
              <a:srgbClr val="ED7C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121663" y="883919"/>
              <a:ext cx="5491480" cy="805180"/>
            </a:xfrm>
            <a:custGeom>
              <a:avLst/>
              <a:gdLst/>
              <a:ahLst/>
              <a:cxnLst/>
              <a:rect l="l" t="t" r="r" b="b"/>
              <a:pathLst>
                <a:path w="5491480" h="805180">
                  <a:moveTo>
                    <a:pt x="5489448" y="804672"/>
                  </a:moveTo>
                  <a:lnTo>
                    <a:pt x="1524" y="804672"/>
                  </a:lnTo>
                  <a:lnTo>
                    <a:pt x="0" y="803148"/>
                  </a:lnTo>
                  <a:lnTo>
                    <a:pt x="0" y="1524"/>
                  </a:lnTo>
                  <a:lnTo>
                    <a:pt x="1524" y="0"/>
                  </a:lnTo>
                  <a:lnTo>
                    <a:pt x="5489448" y="0"/>
                  </a:lnTo>
                  <a:lnTo>
                    <a:pt x="5490971" y="1524"/>
                  </a:lnTo>
                  <a:lnTo>
                    <a:pt x="5490971" y="3048"/>
                  </a:lnTo>
                  <a:lnTo>
                    <a:pt x="4572" y="3048"/>
                  </a:lnTo>
                  <a:lnTo>
                    <a:pt x="1524" y="4572"/>
                  </a:lnTo>
                  <a:lnTo>
                    <a:pt x="4572" y="4572"/>
                  </a:lnTo>
                  <a:lnTo>
                    <a:pt x="4572" y="800100"/>
                  </a:lnTo>
                  <a:lnTo>
                    <a:pt x="1524" y="800100"/>
                  </a:lnTo>
                  <a:lnTo>
                    <a:pt x="4572" y="801623"/>
                  </a:lnTo>
                  <a:lnTo>
                    <a:pt x="5490971" y="801623"/>
                  </a:lnTo>
                  <a:lnTo>
                    <a:pt x="5490971" y="803148"/>
                  </a:lnTo>
                  <a:lnTo>
                    <a:pt x="5489448" y="804672"/>
                  </a:lnTo>
                  <a:close/>
                </a:path>
                <a:path w="5491480" h="805180">
                  <a:moveTo>
                    <a:pt x="4572" y="4572"/>
                  </a:moveTo>
                  <a:lnTo>
                    <a:pt x="1524" y="4572"/>
                  </a:lnTo>
                  <a:lnTo>
                    <a:pt x="4572" y="3048"/>
                  </a:lnTo>
                  <a:lnTo>
                    <a:pt x="4572" y="4572"/>
                  </a:lnTo>
                  <a:close/>
                </a:path>
                <a:path w="5491480" h="805180">
                  <a:moveTo>
                    <a:pt x="5486400" y="4572"/>
                  </a:moveTo>
                  <a:lnTo>
                    <a:pt x="4572" y="4572"/>
                  </a:lnTo>
                  <a:lnTo>
                    <a:pt x="4572" y="3048"/>
                  </a:lnTo>
                  <a:lnTo>
                    <a:pt x="5486400" y="3048"/>
                  </a:lnTo>
                  <a:lnTo>
                    <a:pt x="5486400" y="4572"/>
                  </a:lnTo>
                  <a:close/>
                </a:path>
                <a:path w="5491480" h="805180">
                  <a:moveTo>
                    <a:pt x="5486400" y="801623"/>
                  </a:moveTo>
                  <a:lnTo>
                    <a:pt x="5486400" y="3048"/>
                  </a:lnTo>
                  <a:lnTo>
                    <a:pt x="5487923" y="4572"/>
                  </a:lnTo>
                  <a:lnTo>
                    <a:pt x="5490971" y="4572"/>
                  </a:lnTo>
                  <a:lnTo>
                    <a:pt x="5490971" y="800100"/>
                  </a:lnTo>
                  <a:lnTo>
                    <a:pt x="5487923" y="800100"/>
                  </a:lnTo>
                  <a:lnTo>
                    <a:pt x="5486400" y="801623"/>
                  </a:lnTo>
                  <a:close/>
                </a:path>
                <a:path w="5491480" h="805180">
                  <a:moveTo>
                    <a:pt x="5490971" y="4572"/>
                  </a:moveTo>
                  <a:lnTo>
                    <a:pt x="5487923" y="4572"/>
                  </a:lnTo>
                  <a:lnTo>
                    <a:pt x="5486400" y="3048"/>
                  </a:lnTo>
                  <a:lnTo>
                    <a:pt x="5490971" y="3048"/>
                  </a:lnTo>
                  <a:lnTo>
                    <a:pt x="5490971" y="4572"/>
                  </a:lnTo>
                  <a:close/>
                </a:path>
                <a:path w="5491480" h="805180">
                  <a:moveTo>
                    <a:pt x="4572" y="801623"/>
                  </a:moveTo>
                  <a:lnTo>
                    <a:pt x="1524" y="800100"/>
                  </a:lnTo>
                  <a:lnTo>
                    <a:pt x="4572" y="800100"/>
                  </a:lnTo>
                  <a:lnTo>
                    <a:pt x="4572" y="801623"/>
                  </a:lnTo>
                  <a:close/>
                </a:path>
                <a:path w="5491480" h="805180">
                  <a:moveTo>
                    <a:pt x="5486400" y="801623"/>
                  </a:moveTo>
                  <a:lnTo>
                    <a:pt x="4572" y="801623"/>
                  </a:lnTo>
                  <a:lnTo>
                    <a:pt x="4572" y="800100"/>
                  </a:lnTo>
                  <a:lnTo>
                    <a:pt x="5486400" y="800100"/>
                  </a:lnTo>
                  <a:lnTo>
                    <a:pt x="5486400" y="801623"/>
                  </a:lnTo>
                  <a:close/>
                </a:path>
                <a:path w="5491480" h="805180">
                  <a:moveTo>
                    <a:pt x="5490971" y="801623"/>
                  </a:moveTo>
                  <a:lnTo>
                    <a:pt x="5486400" y="801623"/>
                  </a:lnTo>
                  <a:lnTo>
                    <a:pt x="5487923" y="800100"/>
                  </a:lnTo>
                  <a:lnTo>
                    <a:pt x="5490971" y="800100"/>
                  </a:lnTo>
                  <a:lnTo>
                    <a:pt x="5490971" y="801623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953009" y="922960"/>
            <a:ext cx="182562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dirty="0"/>
              <a:t>MODULE</a:t>
            </a:r>
            <a:r>
              <a:rPr sz="2700" spc="-85" dirty="0"/>
              <a:t> </a:t>
            </a:r>
            <a:r>
              <a:rPr sz="2700" spc="-50" dirty="0"/>
              <a:t>5</a:t>
            </a:r>
            <a:endParaRPr sz="2700"/>
          </a:p>
        </p:txBody>
      </p:sp>
      <p:grpSp>
        <p:nvGrpSpPr>
          <p:cNvPr id="6" name="object 6"/>
          <p:cNvGrpSpPr/>
          <p:nvPr/>
        </p:nvGrpSpPr>
        <p:grpSpPr>
          <a:xfrm>
            <a:off x="1121663" y="1780032"/>
            <a:ext cx="5491480" cy="791210"/>
            <a:chOff x="1121663" y="1780032"/>
            <a:chExt cx="5491480" cy="791210"/>
          </a:xfrm>
        </p:grpSpPr>
        <p:sp>
          <p:nvSpPr>
            <p:cNvPr id="7" name="object 7"/>
            <p:cNvSpPr/>
            <p:nvPr/>
          </p:nvSpPr>
          <p:spPr>
            <a:xfrm>
              <a:off x="1123187" y="1783080"/>
              <a:ext cx="5486400" cy="784860"/>
            </a:xfrm>
            <a:custGeom>
              <a:avLst/>
              <a:gdLst/>
              <a:ahLst/>
              <a:cxnLst/>
              <a:rect l="l" t="t" r="r" b="b"/>
              <a:pathLst>
                <a:path w="5486400" h="784860">
                  <a:moveTo>
                    <a:pt x="5486399" y="784860"/>
                  </a:moveTo>
                  <a:lnTo>
                    <a:pt x="0" y="784860"/>
                  </a:lnTo>
                  <a:lnTo>
                    <a:pt x="0" y="0"/>
                  </a:lnTo>
                  <a:lnTo>
                    <a:pt x="5486399" y="0"/>
                  </a:lnTo>
                  <a:lnTo>
                    <a:pt x="5486399" y="784860"/>
                  </a:lnTo>
                  <a:close/>
                </a:path>
              </a:pathLst>
            </a:custGeom>
            <a:solidFill>
              <a:srgbClr val="91CF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121663" y="1780032"/>
              <a:ext cx="5491480" cy="791210"/>
            </a:xfrm>
            <a:custGeom>
              <a:avLst/>
              <a:gdLst/>
              <a:ahLst/>
              <a:cxnLst/>
              <a:rect l="l" t="t" r="r" b="b"/>
              <a:pathLst>
                <a:path w="5491480" h="791210">
                  <a:moveTo>
                    <a:pt x="5489448" y="790956"/>
                  </a:moveTo>
                  <a:lnTo>
                    <a:pt x="1524" y="790956"/>
                  </a:lnTo>
                  <a:lnTo>
                    <a:pt x="0" y="789432"/>
                  </a:lnTo>
                  <a:lnTo>
                    <a:pt x="0" y="1524"/>
                  </a:lnTo>
                  <a:lnTo>
                    <a:pt x="1524" y="0"/>
                  </a:lnTo>
                  <a:lnTo>
                    <a:pt x="5489448" y="0"/>
                  </a:lnTo>
                  <a:lnTo>
                    <a:pt x="5490971" y="1524"/>
                  </a:lnTo>
                  <a:lnTo>
                    <a:pt x="5490971" y="3048"/>
                  </a:lnTo>
                  <a:lnTo>
                    <a:pt x="4572" y="3048"/>
                  </a:lnTo>
                  <a:lnTo>
                    <a:pt x="1524" y="4572"/>
                  </a:lnTo>
                  <a:lnTo>
                    <a:pt x="4572" y="4572"/>
                  </a:lnTo>
                  <a:lnTo>
                    <a:pt x="4572" y="786384"/>
                  </a:lnTo>
                  <a:lnTo>
                    <a:pt x="1524" y="786384"/>
                  </a:lnTo>
                  <a:lnTo>
                    <a:pt x="4572" y="787908"/>
                  </a:lnTo>
                  <a:lnTo>
                    <a:pt x="5490971" y="787908"/>
                  </a:lnTo>
                  <a:lnTo>
                    <a:pt x="5490971" y="789432"/>
                  </a:lnTo>
                  <a:lnTo>
                    <a:pt x="5489448" y="790956"/>
                  </a:lnTo>
                  <a:close/>
                </a:path>
                <a:path w="5491480" h="791210">
                  <a:moveTo>
                    <a:pt x="4572" y="4572"/>
                  </a:moveTo>
                  <a:lnTo>
                    <a:pt x="1524" y="4572"/>
                  </a:lnTo>
                  <a:lnTo>
                    <a:pt x="4572" y="3048"/>
                  </a:lnTo>
                  <a:lnTo>
                    <a:pt x="4572" y="4572"/>
                  </a:lnTo>
                  <a:close/>
                </a:path>
                <a:path w="5491480" h="791210">
                  <a:moveTo>
                    <a:pt x="5486400" y="4572"/>
                  </a:moveTo>
                  <a:lnTo>
                    <a:pt x="4572" y="4572"/>
                  </a:lnTo>
                  <a:lnTo>
                    <a:pt x="4572" y="3048"/>
                  </a:lnTo>
                  <a:lnTo>
                    <a:pt x="5486400" y="3048"/>
                  </a:lnTo>
                  <a:lnTo>
                    <a:pt x="5486400" y="4572"/>
                  </a:lnTo>
                  <a:close/>
                </a:path>
                <a:path w="5491480" h="791210">
                  <a:moveTo>
                    <a:pt x="5486400" y="787908"/>
                  </a:moveTo>
                  <a:lnTo>
                    <a:pt x="5486400" y="3048"/>
                  </a:lnTo>
                  <a:lnTo>
                    <a:pt x="5487923" y="4572"/>
                  </a:lnTo>
                  <a:lnTo>
                    <a:pt x="5490971" y="4572"/>
                  </a:lnTo>
                  <a:lnTo>
                    <a:pt x="5490971" y="786384"/>
                  </a:lnTo>
                  <a:lnTo>
                    <a:pt x="5487923" y="786384"/>
                  </a:lnTo>
                  <a:lnTo>
                    <a:pt x="5486400" y="787908"/>
                  </a:lnTo>
                  <a:close/>
                </a:path>
                <a:path w="5491480" h="791210">
                  <a:moveTo>
                    <a:pt x="5490971" y="4572"/>
                  </a:moveTo>
                  <a:lnTo>
                    <a:pt x="5487923" y="4572"/>
                  </a:lnTo>
                  <a:lnTo>
                    <a:pt x="5486400" y="3048"/>
                  </a:lnTo>
                  <a:lnTo>
                    <a:pt x="5490971" y="3048"/>
                  </a:lnTo>
                  <a:lnTo>
                    <a:pt x="5490971" y="4572"/>
                  </a:lnTo>
                  <a:close/>
                </a:path>
                <a:path w="5491480" h="791210">
                  <a:moveTo>
                    <a:pt x="4572" y="787908"/>
                  </a:moveTo>
                  <a:lnTo>
                    <a:pt x="1524" y="786384"/>
                  </a:lnTo>
                  <a:lnTo>
                    <a:pt x="4572" y="786384"/>
                  </a:lnTo>
                  <a:lnTo>
                    <a:pt x="4572" y="787908"/>
                  </a:lnTo>
                  <a:close/>
                </a:path>
                <a:path w="5491480" h="791210">
                  <a:moveTo>
                    <a:pt x="5486400" y="787908"/>
                  </a:moveTo>
                  <a:lnTo>
                    <a:pt x="4572" y="787908"/>
                  </a:lnTo>
                  <a:lnTo>
                    <a:pt x="4572" y="786384"/>
                  </a:lnTo>
                  <a:lnTo>
                    <a:pt x="5486400" y="786384"/>
                  </a:lnTo>
                  <a:lnTo>
                    <a:pt x="5486400" y="787908"/>
                  </a:lnTo>
                  <a:close/>
                </a:path>
                <a:path w="5491480" h="791210">
                  <a:moveTo>
                    <a:pt x="5490971" y="787908"/>
                  </a:moveTo>
                  <a:lnTo>
                    <a:pt x="5486400" y="787908"/>
                  </a:lnTo>
                  <a:lnTo>
                    <a:pt x="5487923" y="786384"/>
                  </a:lnTo>
                  <a:lnTo>
                    <a:pt x="5490971" y="786384"/>
                  </a:lnTo>
                  <a:lnTo>
                    <a:pt x="5490971" y="787908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2885869" y="1715512"/>
            <a:ext cx="1959610" cy="894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32130" marR="5080" indent="-520065">
              <a:lnSpc>
                <a:spcPct val="106000"/>
              </a:lnSpc>
              <a:spcBef>
                <a:spcPts val="100"/>
              </a:spcBef>
            </a:pPr>
            <a:r>
              <a:rPr sz="2700" b="1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CHAPTER</a:t>
            </a:r>
            <a:r>
              <a:rPr sz="2700" b="1" spc="-10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700" b="1" spc="-5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2 </a:t>
            </a:r>
            <a:r>
              <a:rPr sz="2700" b="1" spc="-20" dirty="0">
                <a:latin typeface="Times New Roman" panose="02020603050405020304"/>
                <a:cs typeface="Times New Roman" panose="02020603050405020304"/>
              </a:rPr>
              <a:t>JDBC</a:t>
            </a:r>
            <a:endParaRPr sz="270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533088" y="3189240"/>
            <a:ext cx="591185" cy="1657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endParaRPr sz="1000" b="1" spc="-10" dirty="0">
              <a:solidFill>
                <a:srgbClr val="FF0000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011936" y="86868"/>
            <a:ext cx="5781040" cy="487680"/>
            <a:chOff x="1011936" y="86868"/>
            <a:chExt cx="5781040" cy="487680"/>
          </a:xfrm>
        </p:grpSpPr>
        <p:sp>
          <p:nvSpPr>
            <p:cNvPr id="4" name="object 4"/>
            <p:cNvSpPr/>
            <p:nvPr/>
          </p:nvSpPr>
          <p:spPr>
            <a:xfrm>
              <a:off x="1014984" y="88392"/>
              <a:ext cx="5774690" cy="485140"/>
            </a:xfrm>
            <a:custGeom>
              <a:avLst/>
              <a:gdLst/>
              <a:ahLst/>
              <a:cxnLst/>
              <a:rect l="l" t="t" r="r" b="b"/>
              <a:pathLst>
                <a:path w="5774690" h="485140">
                  <a:moveTo>
                    <a:pt x="5774435" y="484631"/>
                  </a:moveTo>
                  <a:lnTo>
                    <a:pt x="0" y="484631"/>
                  </a:lnTo>
                  <a:lnTo>
                    <a:pt x="0" y="0"/>
                  </a:lnTo>
                  <a:lnTo>
                    <a:pt x="5774435" y="0"/>
                  </a:lnTo>
                  <a:lnTo>
                    <a:pt x="5774435" y="484631"/>
                  </a:lnTo>
                  <a:close/>
                </a:path>
              </a:pathLst>
            </a:custGeom>
            <a:solidFill>
              <a:srgbClr val="91CF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011936" y="86868"/>
              <a:ext cx="5781040" cy="487680"/>
            </a:xfrm>
            <a:custGeom>
              <a:avLst/>
              <a:gdLst/>
              <a:ahLst/>
              <a:cxnLst/>
              <a:rect l="l" t="t" r="r" b="b"/>
              <a:pathLst>
                <a:path w="5781040" h="487680">
                  <a:moveTo>
                    <a:pt x="5780532" y="487680"/>
                  </a:moveTo>
                  <a:lnTo>
                    <a:pt x="0" y="487680"/>
                  </a:lnTo>
                  <a:lnTo>
                    <a:pt x="0" y="0"/>
                  </a:lnTo>
                  <a:lnTo>
                    <a:pt x="5780532" y="0"/>
                  </a:lnTo>
                  <a:lnTo>
                    <a:pt x="5780532" y="1524"/>
                  </a:lnTo>
                  <a:lnTo>
                    <a:pt x="4572" y="1524"/>
                  </a:lnTo>
                  <a:lnTo>
                    <a:pt x="3048" y="4572"/>
                  </a:lnTo>
                  <a:lnTo>
                    <a:pt x="4572" y="4572"/>
                  </a:lnTo>
                  <a:lnTo>
                    <a:pt x="4572" y="483108"/>
                  </a:lnTo>
                  <a:lnTo>
                    <a:pt x="3048" y="483108"/>
                  </a:lnTo>
                  <a:lnTo>
                    <a:pt x="4572" y="486156"/>
                  </a:lnTo>
                  <a:lnTo>
                    <a:pt x="5780532" y="486156"/>
                  </a:lnTo>
                  <a:lnTo>
                    <a:pt x="5780532" y="487680"/>
                  </a:lnTo>
                  <a:close/>
                </a:path>
                <a:path w="5781040" h="487680">
                  <a:moveTo>
                    <a:pt x="4572" y="4572"/>
                  </a:moveTo>
                  <a:lnTo>
                    <a:pt x="3048" y="4572"/>
                  </a:lnTo>
                  <a:lnTo>
                    <a:pt x="4572" y="1524"/>
                  </a:lnTo>
                  <a:lnTo>
                    <a:pt x="4572" y="4572"/>
                  </a:lnTo>
                  <a:close/>
                </a:path>
                <a:path w="5781040" h="487680">
                  <a:moveTo>
                    <a:pt x="5775960" y="4572"/>
                  </a:moveTo>
                  <a:lnTo>
                    <a:pt x="4572" y="4572"/>
                  </a:lnTo>
                  <a:lnTo>
                    <a:pt x="4572" y="1524"/>
                  </a:lnTo>
                  <a:lnTo>
                    <a:pt x="5775960" y="1524"/>
                  </a:lnTo>
                  <a:lnTo>
                    <a:pt x="5775960" y="4572"/>
                  </a:lnTo>
                  <a:close/>
                </a:path>
                <a:path w="5781040" h="487680">
                  <a:moveTo>
                    <a:pt x="5775960" y="486156"/>
                  </a:moveTo>
                  <a:lnTo>
                    <a:pt x="5775960" y="1524"/>
                  </a:lnTo>
                  <a:lnTo>
                    <a:pt x="5777484" y="4572"/>
                  </a:lnTo>
                  <a:lnTo>
                    <a:pt x="5780532" y="4572"/>
                  </a:lnTo>
                  <a:lnTo>
                    <a:pt x="5780532" y="483108"/>
                  </a:lnTo>
                  <a:lnTo>
                    <a:pt x="5777484" y="483108"/>
                  </a:lnTo>
                  <a:lnTo>
                    <a:pt x="5775960" y="486156"/>
                  </a:lnTo>
                  <a:close/>
                </a:path>
                <a:path w="5781040" h="487680">
                  <a:moveTo>
                    <a:pt x="5780532" y="4572"/>
                  </a:moveTo>
                  <a:lnTo>
                    <a:pt x="5777484" y="4572"/>
                  </a:lnTo>
                  <a:lnTo>
                    <a:pt x="5775960" y="1524"/>
                  </a:lnTo>
                  <a:lnTo>
                    <a:pt x="5780532" y="1524"/>
                  </a:lnTo>
                  <a:lnTo>
                    <a:pt x="5780532" y="4572"/>
                  </a:lnTo>
                  <a:close/>
                </a:path>
                <a:path w="5781040" h="487680">
                  <a:moveTo>
                    <a:pt x="4572" y="486156"/>
                  </a:moveTo>
                  <a:lnTo>
                    <a:pt x="3048" y="483108"/>
                  </a:lnTo>
                  <a:lnTo>
                    <a:pt x="4572" y="483108"/>
                  </a:lnTo>
                  <a:lnTo>
                    <a:pt x="4572" y="486156"/>
                  </a:lnTo>
                  <a:close/>
                </a:path>
                <a:path w="5781040" h="487680">
                  <a:moveTo>
                    <a:pt x="5775960" y="486156"/>
                  </a:moveTo>
                  <a:lnTo>
                    <a:pt x="4572" y="486156"/>
                  </a:lnTo>
                  <a:lnTo>
                    <a:pt x="4572" y="483108"/>
                  </a:lnTo>
                  <a:lnTo>
                    <a:pt x="5775960" y="483108"/>
                  </a:lnTo>
                  <a:lnTo>
                    <a:pt x="5775960" y="486156"/>
                  </a:lnTo>
                  <a:close/>
                </a:path>
                <a:path w="5781040" h="487680">
                  <a:moveTo>
                    <a:pt x="5780532" y="486156"/>
                  </a:moveTo>
                  <a:lnTo>
                    <a:pt x="5775960" y="486156"/>
                  </a:lnTo>
                  <a:lnTo>
                    <a:pt x="5777484" y="483108"/>
                  </a:lnTo>
                  <a:lnTo>
                    <a:pt x="5780532" y="483108"/>
                  </a:lnTo>
                  <a:lnTo>
                    <a:pt x="5780532" y="486156"/>
                  </a:lnTo>
                  <a:close/>
                </a:path>
              </a:pathLst>
            </a:custGeom>
            <a:solidFill>
              <a:srgbClr val="5B9A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0480">
              <a:lnSpc>
                <a:spcPct val="100000"/>
              </a:lnSpc>
              <a:spcBef>
                <a:spcPts val="95"/>
              </a:spcBef>
            </a:pPr>
            <a:r>
              <a:rPr dirty="0"/>
              <a:t>Java</a:t>
            </a:r>
            <a:r>
              <a:rPr spc="-85" dirty="0"/>
              <a:t> </a:t>
            </a:r>
            <a:r>
              <a:rPr dirty="0"/>
              <a:t>DataBase</a:t>
            </a:r>
            <a:r>
              <a:rPr spc="-75" dirty="0"/>
              <a:t> </a:t>
            </a:r>
            <a:r>
              <a:rPr dirty="0"/>
              <a:t>Connectivity</a:t>
            </a:r>
            <a:r>
              <a:rPr spc="-80" dirty="0"/>
              <a:t> </a:t>
            </a:r>
            <a:r>
              <a:rPr spc="-10" dirty="0"/>
              <a:t>(JDBC)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1011936" y="569975"/>
            <a:ext cx="5781040" cy="2542540"/>
            <a:chOff x="1011936" y="569975"/>
            <a:chExt cx="5781040" cy="2542540"/>
          </a:xfrm>
        </p:grpSpPr>
        <p:sp>
          <p:nvSpPr>
            <p:cNvPr id="8" name="object 8"/>
            <p:cNvSpPr/>
            <p:nvPr/>
          </p:nvSpPr>
          <p:spPr>
            <a:xfrm>
              <a:off x="1014984" y="573023"/>
              <a:ext cx="5774690" cy="2537460"/>
            </a:xfrm>
            <a:custGeom>
              <a:avLst/>
              <a:gdLst/>
              <a:ahLst/>
              <a:cxnLst/>
              <a:rect l="l" t="t" r="r" b="b"/>
              <a:pathLst>
                <a:path w="5774690" h="2537460">
                  <a:moveTo>
                    <a:pt x="5774435" y="2537460"/>
                  </a:moveTo>
                  <a:lnTo>
                    <a:pt x="0" y="2537460"/>
                  </a:lnTo>
                  <a:lnTo>
                    <a:pt x="0" y="0"/>
                  </a:lnTo>
                  <a:lnTo>
                    <a:pt x="5774435" y="0"/>
                  </a:lnTo>
                  <a:lnTo>
                    <a:pt x="5774435" y="2537460"/>
                  </a:lnTo>
                  <a:close/>
                </a:path>
              </a:pathLst>
            </a:custGeom>
            <a:solidFill>
              <a:srgbClr val="FFE6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011936" y="569975"/>
              <a:ext cx="5781040" cy="2542540"/>
            </a:xfrm>
            <a:custGeom>
              <a:avLst/>
              <a:gdLst/>
              <a:ahLst/>
              <a:cxnLst/>
              <a:rect l="l" t="t" r="r" b="b"/>
              <a:pathLst>
                <a:path w="5781040" h="2542540">
                  <a:moveTo>
                    <a:pt x="5780532" y="2542032"/>
                  </a:moveTo>
                  <a:lnTo>
                    <a:pt x="0" y="2542032"/>
                  </a:lnTo>
                  <a:lnTo>
                    <a:pt x="0" y="1524"/>
                  </a:lnTo>
                  <a:lnTo>
                    <a:pt x="1524" y="0"/>
                  </a:lnTo>
                  <a:lnTo>
                    <a:pt x="5779007" y="0"/>
                  </a:lnTo>
                  <a:lnTo>
                    <a:pt x="5780532" y="1524"/>
                  </a:lnTo>
                  <a:lnTo>
                    <a:pt x="5780532" y="3048"/>
                  </a:lnTo>
                  <a:lnTo>
                    <a:pt x="4572" y="3048"/>
                  </a:lnTo>
                  <a:lnTo>
                    <a:pt x="3048" y="4572"/>
                  </a:lnTo>
                  <a:lnTo>
                    <a:pt x="4572" y="4572"/>
                  </a:lnTo>
                  <a:lnTo>
                    <a:pt x="4572" y="2537459"/>
                  </a:lnTo>
                  <a:lnTo>
                    <a:pt x="3048" y="2537459"/>
                  </a:lnTo>
                  <a:lnTo>
                    <a:pt x="4572" y="2540508"/>
                  </a:lnTo>
                  <a:lnTo>
                    <a:pt x="5780532" y="2540508"/>
                  </a:lnTo>
                  <a:lnTo>
                    <a:pt x="5780532" y="2542032"/>
                  </a:lnTo>
                  <a:close/>
                </a:path>
                <a:path w="5781040" h="2542540">
                  <a:moveTo>
                    <a:pt x="4572" y="4572"/>
                  </a:moveTo>
                  <a:lnTo>
                    <a:pt x="3048" y="4572"/>
                  </a:lnTo>
                  <a:lnTo>
                    <a:pt x="4572" y="3048"/>
                  </a:lnTo>
                  <a:lnTo>
                    <a:pt x="4572" y="4572"/>
                  </a:lnTo>
                  <a:close/>
                </a:path>
                <a:path w="5781040" h="2542540">
                  <a:moveTo>
                    <a:pt x="5775960" y="4572"/>
                  </a:moveTo>
                  <a:lnTo>
                    <a:pt x="4572" y="4572"/>
                  </a:lnTo>
                  <a:lnTo>
                    <a:pt x="4572" y="3048"/>
                  </a:lnTo>
                  <a:lnTo>
                    <a:pt x="5775960" y="3048"/>
                  </a:lnTo>
                  <a:lnTo>
                    <a:pt x="5775960" y="4572"/>
                  </a:lnTo>
                  <a:close/>
                </a:path>
                <a:path w="5781040" h="2542540">
                  <a:moveTo>
                    <a:pt x="5775960" y="2540508"/>
                  </a:moveTo>
                  <a:lnTo>
                    <a:pt x="5775960" y="3048"/>
                  </a:lnTo>
                  <a:lnTo>
                    <a:pt x="5777484" y="4572"/>
                  </a:lnTo>
                  <a:lnTo>
                    <a:pt x="5780532" y="4572"/>
                  </a:lnTo>
                  <a:lnTo>
                    <a:pt x="5780532" y="2537459"/>
                  </a:lnTo>
                  <a:lnTo>
                    <a:pt x="5777484" y="2537459"/>
                  </a:lnTo>
                  <a:lnTo>
                    <a:pt x="5775960" y="2540508"/>
                  </a:lnTo>
                  <a:close/>
                </a:path>
                <a:path w="5781040" h="2542540">
                  <a:moveTo>
                    <a:pt x="5780532" y="4572"/>
                  </a:moveTo>
                  <a:lnTo>
                    <a:pt x="5777484" y="4572"/>
                  </a:lnTo>
                  <a:lnTo>
                    <a:pt x="5775960" y="3048"/>
                  </a:lnTo>
                  <a:lnTo>
                    <a:pt x="5780532" y="3048"/>
                  </a:lnTo>
                  <a:lnTo>
                    <a:pt x="5780532" y="4572"/>
                  </a:lnTo>
                  <a:close/>
                </a:path>
                <a:path w="5781040" h="2542540">
                  <a:moveTo>
                    <a:pt x="4572" y="2540508"/>
                  </a:moveTo>
                  <a:lnTo>
                    <a:pt x="3048" y="2537459"/>
                  </a:lnTo>
                  <a:lnTo>
                    <a:pt x="4572" y="2537459"/>
                  </a:lnTo>
                  <a:lnTo>
                    <a:pt x="4572" y="2540508"/>
                  </a:lnTo>
                  <a:close/>
                </a:path>
                <a:path w="5781040" h="2542540">
                  <a:moveTo>
                    <a:pt x="5775960" y="2540508"/>
                  </a:moveTo>
                  <a:lnTo>
                    <a:pt x="4572" y="2540508"/>
                  </a:lnTo>
                  <a:lnTo>
                    <a:pt x="4572" y="2537459"/>
                  </a:lnTo>
                  <a:lnTo>
                    <a:pt x="5775960" y="2537459"/>
                  </a:lnTo>
                  <a:lnTo>
                    <a:pt x="5775960" y="2540508"/>
                  </a:lnTo>
                  <a:close/>
                </a:path>
                <a:path w="5781040" h="2542540">
                  <a:moveTo>
                    <a:pt x="5780532" y="2540508"/>
                  </a:moveTo>
                  <a:lnTo>
                    <a:pt x="5775960" y="2540508"/>
                  </a:lnTo>
                  <a:lnTo>
                    <a:pt x="5777484" y="2537459"/>
                  </a:lnTo>
                  <a:lnTo>
                    <a:pt x="5780532" y="2537459"/>
                  </a:lnTo>
                  <a:lnTo>
                    <a:pt x="5780532" y="2540508"/>
                  </a:lnTo>
                  <a:close/>
                </a:path>
              </a:pathLst>
            </a:custGeom>
            <a:solidFill>
              <a:srgbClr val="5B9A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046477" y="545015"/>
            <a:ext cx="5709285" cy="2341245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127000" marR="5080" indent="-114935" algn="just">
              <a:lnSpc>
                <a:spcPts val="1730"/>
              </a:lnSpc>
              <a:spcBef>
                <a:spcPts val="310"/>
              </a:spcBef>
            </a:pP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</a:t>
            </a:r>
            <a:r>
              <a:rPr sz="1600" spc="-10" dirty="0">
                <a:latin typeface="Calibri" panose="020F0502020204030204"/>
                <a:cs typeface="Calibri" panose="020F0502020204030204"/>
              </a:rPr>
              <a:t>JDBC</a:t>
            </a:r>
            <a:r>
              <a:rPr sz="1600" spc="18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stands</a:t>
            </a:r>
            <a:r>
              <a:rPr sz="1600" spc="19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for</a:t>
            </a:r>
            <a:r>
              <a:rPr sz="1600" spc="18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Java</a:t>
            </a:r>
            <a:r>
              <a:rPr sz="1600" spc="18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Database</a:t>
            </a:r>
            <a:r>
              <a:rPr sz="1600" spc="18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Connectivity,</a:t>
            </a:r>
            <a:r>
              <a:rPr sz="1600" spc="19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which</a:t>
            </a:r>
            <a:r>
              <a:rPr sz="1600" spc="18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is</a:t>
            </a:r>
            <a:r>
              <a:rPr sz="1600" spc="19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a</a:t>
            </a:r>
            <a:r>
              <a:rPr sz="1600" spc="18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spc="-10" dirty="0">
                <a:latin typeface="Calibri" panose="020F0502020204030204"/>
                <a:cs typeface="Calibri" panose="020F0502020204030204"/>
              </a:rPr>
              <a:t>standard </a:t>
            </a:r>
            <a:r>
              <a:rPr sz="160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Java</a:t>
            </a:r>
            <a:r>
              <a:rPr sz="1600" spc="14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API</a:t>
            </a:r>
            <a:r>
              <a:rPr sz="1600" spc="15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for</a:t>
            </a:r>
            <a:r>
              <a:rPr sz="1600" spc="15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spc="-10" dirty="0">
                <a:latin typeface="Calibri" panose="020F0502020204030204"/>
                <a:cs typeface="Calibri" panose="020F0502020204030204"/>
              </a:rPr>
              <a:t>database-</a:t>
            </a:r>
            <a:r>
              <a:rPr sz="1600" dirty="0">
                <a:latin typeface="Calibri" panose="020F0502020204030204"/>
                <a:cs typeface="Calibri" panose="020F0502020204030204"/>
              </a:rPr>
              <a:t>independent</a:t>
            </a:r>
            <a:r>
              <a:rPr sz="1600" spc="13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connectivity</a:t>
            </a:r>
            <a:r>
              <a:rPr sz="1600" spc="15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between</a:t>
            </a:r>
            <a:r>
              <a:rPr sz="1600" spc="14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the</a:t>
            </a:r>
            <a:r>
              <a:rPr sz="1600" spc="16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spc="-20" dirty="0">
                <a:latin typeface="Calibri" panose="020F0502020204030204"/>
                <a:cs typeface="Calibri" panose="020F0502020204030204"/>
              </a:rPr>
              <a:t>Java </a:t>
            </a:r>
            <a:r>
              <a:rPr sz="1600" spc="-10" dirty="0">
                <a:latin typeface="Calibri" panose="020F0502020204030204"/>
                <a:cs typeface="Calibri" panose="020F0502020204030204"/>
              </a:rPr>
              <a:t>programming</a:t>
            </a:r>
            <a:r>
              <a:rPr sz="160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language</a:t>
            </a:r>
            <a:r>
              <a:rPr sz="16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and</a:t>
            </a:r>
            <a:r>
              <a:rPr sz="16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a</a:t>
            </a:r>
            <a:r>
              <a:rPr sz="16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wide</a:t>
            </a:r>
            <a:r>
              <a:rPr sz="16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range</a:t>
            </a:r>
            <a:r>
              <a:rPr sz="16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of</a:t>
            </a:r>
            <a:r>
              <a:rPr sz="16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spc="-10" dirty="0">
                <a:latin typeface="Calibri" panose="020F0502020204030204"/>
                <a:cs typeface="Calibri" panose="020F0502020204030204"/>
              </a:rPr>
              <a:t>databases.</a:t>
            </a:r>
            <a:endParaRPr sz="1600">
              <a:latin typeface="Calibri" panose="020F0502020204030204"/>
              <a:cs typeface="Calibri" panose="020F0502020204030204"/>
            </a:endParaRPr>
          </a:p>
          <a:p>
            <a:pPr marL="127000" marR="6350" indent="-114935" algn="just">
              <a:lnSpc>
                <a:spcPts val="1730"/>
              </a:lnSpc>
              <a:spcBef>
                <a:spcPts val="485"/>
              </a:spcBef>
            </a:pPr>
            <a:r>
              <a:rPr sz="1600" dirty="0">
                <a:latin typeface="Times New Roman" panose="02020603050405020304"/>
                <a:cs typeface="Times New Roman" panose="02020603050405020304"/>
              </a:rPr>
              <a:t></a:t>
            </a:r>
            <a:r>
              <a:rPr sz="1600" dirty="0">
                <a:latin typeface="Calibri" panose="020F0502020204030204"/>
                <a:cs typeface="Calibri" panose="020F0502020204030204"/>
              </a:rPr>
              <a:t>The</a:t>
            </a:r>
            <a:r>
              <a:rPr sz="1600" spc="229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JDBC</a:t>
            </a:r>
            <a:r>
              <a:rPr sz="1600" spc="25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library</a:t>
            </a:r>
            <a:r>
              <a:rPr sz="1600" spc="24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includes</a:t>
            </a:r>
            <a:r>
              <a:rPr sz="1600" spc="24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APIs</a:t>
            </a:r>
            <a:r>
              <a:rPr sz="1600" spc="254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for</a:t>
            </a:r>
            <a:r>
              <a:rPr sz="1600" spc="24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each</a:t>
            </a:r>
            <a:r>
              <a:rPr sz="1600" spc="25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of</a:t>
            </a:r>
            <a:r>
              <a:rPr sz="1600" spc="25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the</a:t>
            </a:r>
            <a:r>
              <a:rPr sz="1600" spc="24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tasks</a:t>
            </a:r>
            <a:r>
              <a:rPr sz="1600" spc="24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spc="-10" dirty="0">
                <a:latin typeface="Calibri" panose="020F0502020204030204"/>
                <a:cs typeface="Calibri" panose="020F0502020204030204"/>
              </a:rPr>
              <a:t>mentioned </a:t>
            </a:r>
            <a:r>
              <a:rPr sz="1600" dirty="0">
                <a:latin typeface="Calibri" panose="020F0502020204030204"/>
                <a:cs typeface="Calibri" panose="020F0502020204030204"/>
              </a:rPr>
              <a:t>below</a:t>
            </a:r>
            <a:r>
              <a:rPr sz="16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that</a:t>
            </a:r>
            <a:r>
              <a:rPr sz="16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are</a:t>
            </a:r>
            <a:r>
              <a:rPr sz="16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commonly</a:t>
            </a:r>
            <a:r>
              <a:rPr sz="16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associated</a:t>
            </a:r>
            <a:r>
              <a:rPr sz="16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with</a:t>
            </a:r>
            <a:r>
              <a:rPr sz="16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database</a:t>
            </a:r>
            <a:r>
              <a:rPr sz="16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spc="-10" dirty="0">
                <a:latin typeface="Calibri" panose="020F0502020204030204"/>
                <a:cs typeface="Calibri" panose="020F0502020204030204"/>
              </a:rPr>
              <a:t>usage.</a:t>
            </a:r>
            <a:endParaRPr sz="1600">
              <a:latin typeface="Calibri" panose="020F0502020204030204"/>
              <a:cs typeface="Calibri" panose="020F0502020204030204"/>
            </a:endParaRPr>
          </a:p>
          <a:p>
            <a:pPr marL="127000" indent="-114300">
              <a:lnSpc>
                <a:spcPct val="100000"/>
              </a:lnSpc>
              <a:spcBef>
                <a:spcPts val="285"/>
              </a:spcBef>
              <a:buFont typeface="Arial MT"/>
              <a:buChar char="•"/>
              <a:tabLst>
                <a:tab pos="127000" algn="l"/>
              </a:tabLst>
            </a:pPr>
            <a:r>
              <a:rPr sz="1600" dirty="0">
                <a:solidFill>
                  <a:srgbClr val="702FA0"/>
                </a:solidFill>
                <a:latin typeface="Calibri" panose="020F0502020204030204"/>
                <a:cs typeface="Calibri" panose="020F0502020204030204"/>
              </a:rPr>
              <a:t>Making a</a:t>
            </a:r>
            <a:r>
              <a:rPr sz="1600" spc="-25" dirty="0">
                <a:solidFill>
                  <a:srgbClr val="702FA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solidFill>
                  <a:srgbClr val="702FA0"/>
                </a:solidFill>
                <a:latin typeface="Calibri" panose="020F0502020204030204"/>
                <a:cs typeface="Calibri" panose="020F0502020204030204"/>
              </a:rPr>
              <a:t>connection</a:t>
            </a:r>
            <a:r>
              <a:rPr sz="1600" spc="5" dirty="0">
                <a:solidFill>
                  <a:srgbClr val="702FA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solidFill>
                  <a:srgbClr val="702FA0"/>
                </a:solidFill>
                <a:latin typeface="Calibri" panose="020F0502020204030204"/>
                <a:cs typeface="Calibri" panose="020F0502020204030204"/>
              </a:rPr>
              <a:t>to</a:t>
            </a:r>
            <a:r>
              <a:rPr sz="1600" spc="-25" dirty="0">
                <a:solidFill>
                  <a:srgbClr val="702FA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solidFill>
                  <a:srgbClr val="702FA0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1600" spc="-15" dirty="0">
                <a:solidFill>
                  <a:srgbClr val="702FA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600" spc="-10" dirty="0">
                <a:solidFill>
                  <a:srgbClr val="702FA0"/>
                </a:solidFill>
                <a:latin typeface="Calibri" panose="020F0502020204030204"/>
                <a:cs typeface="Calibri" panose="020F0502020204030204"/>
              </a:rPr>
              <a:t>database</a:t>
            </a:r>
            <a:endParaRPr sz="1600">
              <a:latin typeface="Calibri" panose="020F0502020204030204"/>
              <a:cs typeface="Calibri" panose="020F0502020204030204"/>
            </a:endParaRPr>
          </a:p>
          <a:p>
            <a:pPr marL="127000" indent="-114300">
              <a:lnSpc>
                <a:spcPct val="100000"/>
              </a:lnSpc>
              <a:spcBef>
                <a:spcPts val="315"/>
              </a:spcBef>
              <a:buFont typeface="Arial MT"/>
              <a:buChar char="•"/>
              <a:tabLst>
                <a:tab pos="127000" algn="l"/>
              </a:tabLst>
            </a:pPr>
            <a:r>
              <a:rPr sz="1600" dirty="0">
                <a:solidFill>
                  <a:srgbClr val="702FA0"/>
                </a:solidFill>
                <a:latin typeface="Calibri" panose="020F0502020204030204"/>
                <a:cs typeface="Calibri" panose="020F0502020204030204"/>
              </a:rPr>
              <a:t>Creating</a:t>
            </a:r>
            <a:r>
              <a:rPr sz="1600" spc="-30" dirty="0">
                <a:solidFill>
                  <a:srgbClr val="702FA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solidFill>
                  <a:srgbClr val="702FA0"/>
                </a:solidFill>
                <a:latin typeface="Calibri" panose="020F0502020204030204"/>
                <a:cs typeface="Calibri" panose="020F0502020204030204"/>
              </a:rPr>
              <a:t>SQL</a:t>
            </a:r>
            <a:r>
              <a:rPr sz="1600" spc="-25" dirty="0">
                <a:solidFill>
                  <a:srgbClr val="702FA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solidFill>
                  <a:srgbClr val="702FA0"/>
                </a:solidFill>
                <a:latin typeface="Calibri" panose="020F0502020204030204"/>
                <a:cs typeface="Calibri" panose="020F0502020204030204"/>
              </a:rPr>
              <a:t>or</a:t>
            </a:r>
            <a:r>
              <a:rPr sz="1600" spc="-40" dirty="0">
                <a:solidFill>
                  <a:srgbClr val="702FA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solidFill>
                  <a:srgbClr val="702FA0"/>
                </a:solidFill>
                <a:latin typeface="Calibri" panose="020F0502020204030204"/>
                <a:cs typeface="Calibri" panose="020F0502020204030204"/>
              </a:rPr>
              <a:t>MySQL</a:t>
            </a:r>
            <a:r>
              <a:rPr sz="1600" spc="-25" dirty="0">
                <a:solidFill>
                  <a:srgbClr val="702FA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600" spc="-10" dirty="0">
                <a:solidFill>
                  <a:srgbClr val="702FA0"/>
                </a:solidFill>
                <a:latin typeface="Calibri" panose="020F0502020204030204"/>
                <a:cs typeface="Calibri" panose="020F0502020204030204"/>
              </a:rPr>
              <a:t>statements</a:t>
            </a:r>
            <a:endParaRPr sz="1600">
              <a:latin typeface="Calibri" panose="020F0502020204030204"/>
              <a:cs typeface="Calibri" panose="020F0502020204030204"/>
            </a:endParaRPr>
          </a:p>
          <a:p>
            <a:pPr marL="127000" indent="-114300">
              <a:lnSpc>
                <a:spcPct val="100000"/>
              </a:lnSpc>
              <a:spcBef>
                <a:spcPts val="300"/>
              </a:spcBef>
              <a:buFont typeface="Arial MT"/>
              <a:buChar char="•"/>
              <a:tabLst>
                <a:tab pos="127000" algn="l"/>
              </a:tabLst>
            </a:pPr>
            <a:r>
              <a:rPr sz="1600" dirty="0">
                <a:solidFill>
                  <a:srgbClr val="702FA0"/>
                </a:solidFill>
                <a:latin typeface="Calibri" panose="020F0502020204030204"/>
                <a:cs typeface="Calibri" panose="020F0502020204030204"/>
              </a:rPr>
              <a:t>Executing</a:t>
            </a:r>
            <a:r>
              <a:rPr sz="1600" spc="-35" dirty="0">
                <a:solidFill>
                  <a:srgbClr val="702FA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solidFill>
                  <a:srgbClr val="702FA0"/>
                </a:solidFill>
                <a:latin typeface="Calibri" panose="020F0502020204030204"/>
                <a:cs typeface="Calibri" panose="020F0502020204030204"/>
              </a:rPr>
              <a:t>SQL</a:t>
            </a:r>
            <a:r>
              <a:rPr sz="1600" spc="-15" dirty="0">
                <a:solidFill>
                  <a:srgbClr val="702FA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solidFill>
                  <a:srgbClr val="702FA0"/>
                </a:solidFill>
                <a:latin typeface="Calibri" panose="020F0502020204030204"/>
                <a:cs typeface="Calibri" panose="020F0502020204030204"/>
              </a:rPr>
              <a:t>or</a:t>
            </a:r>
            <a:r>
              <a:rPr sz="1600" spc="-30" dirty="0">
                <a:solidFill>
                  <a:srgbClr val="702FA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solidFill>
                  <a:srgbClr val="702FA0"/>
                </a:solidFill>
                <a:latin typeface="Calibri" panose="020F0502020204030204"/>
                <a:cs typeface="Calibri" panose="020F0502020204030204"/>
              </a:rPr>
              <a:t>MySQL queries</a:t>
            </a:r>
            <a:r>
              <a:rPr sz="1600" spc="-30" dirty="0">
                <a:solidFill>
                  <a:srgbClr val="702FA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solidFill>
                  <a:srgbClr val="702FA0"/>
                </a:solidFill>
                <a:latin typeface="Calibri" panose="020F0502020204030204"/>
                <a:cs typeface="Calibri" panose="020F0502020204030204"/>
              </a:rPr>
              <a:t>in</a:t>
            </a:r>
            <a:r>
              <a:rPr sz="1600" spc="-40" dirty="0">
                <a:solidFill>
                  <a:srgbClr val="702FA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solidFill>
                  <a:srgbClr val="702FA0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1600" spc="-25" dirty="0">
                <a:solidFill>
                  <a:srgbClr val="702FA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600" spc="-10" dirty="0">
                <a:solidFill>
                  <a:srgbClr val="702FA0"/>
                </a:solidFill>
                <a:latin typeface="Calibri" panose="020F0502020204030204"/>
                <a:cs typeface="Calibri" panose="020F0502020204030204"/>
              </a:rPr>
              <a:t>database</a:t>
            </a:r>
            <a:endParaRPr sz="1600">
              <a:latin typeface="Calibri" panose="020F0502020204030204"/>
              <a:cs typeface="Calibri" panose="020F0502020204030204"/>
            </a:endParaRPr>
          </a:p>
          <a:p>
            <a:pPr marL="127000" indent="-114300">
              <a:lnSpc>
                <a:spcPct val="100000"/>
              </a:lnSpc>
              <a:spcBef>
                <a:spcPts val="310"/>
              </a:spcBef>
              <a:buFont typeface="Arial MT"/>
              <a:buChar char="•"/>
              <a:tabLst>
                <a:tab pos="127000" algn="l"/>
              </a:tabLst>
            </a:pPr>
            <a:r>
              <a:rPr sz="1600" dirty="0">
                <a:solidFill>
                  <a:srgbClr val="702FA0"/>
                </a:solidFill>
                <a:latin typeface="Calibri" panose="020F0502020204030204"/>
                <a:cs typeface="Calibri" panose="020F0502020204030204"/>
              </a:rPr>
              <a:t>Viewing</a:t>
            </a:r>
            <a:r>
              <a:rPr sz="1600" spc="-5" dirty="0">
                <a:solidFill>
                  <a:srgbClr val="702FA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solidFill>
                  <a:srgbClr val="702FA0"/>
                </a:solidFill>
                <a:latin typeface="Calibri" panose="020F0502020204030204"/>
                <a:cs typeface="Calibri" panose="020F0502020204030204"/>
              </a:rPr>
              <a:t>&amp;</a:t>
            </a:r>
            <a:r>
              <a:rPr sz="1600" spc="-20" dirty="0">
                <a:solidFill>
                  <a:srgbClr val="702FA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solidFill>
                  <a:srgbClr val="702FA0"/>
                </a:solidFill>
                <a:latin typeface="Calibri" panose="020F0502020204030204"/>
                <a:cs typeface="Calibri" panose="020F0502020204030204"/>
              </a:rPr>
              <a:t>Modifying</a:t>
            </a:r>
            <a:r>
              <a:rPr sz="1600" spc="-20" dirty="0">
                <a:solidFill>
                  <a:srgbClr val="702FA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solidFill>
                  <a:srgbClr val="702FA0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1600" spc="-15" dirty="0">
                <a:solidFill>
                  <a:srgbClr val="702FA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solidFill>
                  <a:srgbClr val="702FA0"/>
                </a:solidFill>
                <a:latin typeface="Calibri" panose="020F0502020204030204"/>
                <a:cs typeface="Calibri" panose="020F0502020204030204"/>
              </a:rPr>
              <a:t>resulting</a:t>
            </a:r>
            <a:r>
              <a:rPr sz="1600" spc="-20" dirty="0">
                <a:solidFill>
                  <a:srgbClr val="702FA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600" spc="-10" dirty="0">
                <a:solidFill>
                  <a:srgbClr val="702FA0"/>
                </a:solidFill>
                <a:latin typeface="Calibri" panose="020F0502020204030204"/>
                <a:cs typeface="Calibri" panose="020F0502020204030204"/>
              </a:rPr>
              <a:t>records</a:t>
            </a:r>
            <a:endParaRPr sz="16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151111" y="3203000"/>
            <a:ext cx="1468120" cy="1358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endParaRPr sz="800" spc="-10" dirty="0">
              <a:solidFill>
                <a:srgbClr val="702FA0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418565" y="3221210"/>
            <a:ext cx="64135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spc="-50" dirty="0">
                <a:solidFill>
                  <a:srgbClr val="898989"/>
                </a:solidFill>
                <a:latin typeface="Calibri" panose="020F0502020204030204"/>
                <a:cs typeface="Calibri" panose="020F0502020204030204"/>
              </a:rPr>
              <a:t>2</a:t>
            </a:r>
            <a:endParaRPr sz="6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838200" y="0"/>
            <a:ext cx="6094730" cy="3442970"/>
            <a:chOff x="838200" y="0"/>
            <a:chExt cx="6094730" cy="3442970"/>
          </a:xfrm>
        </p:grpSpPr>
        <p:sp>
          <p:nvSpPr>
            <p:cNvPr id="14" name="object 14"/>
            <p:cNvSpPr/>
            <p:nvPr/>
          </p:nvSpPr>
          <p:spPr>
            <a:xfrm>
              <a:off x="844295" y="21335"/>
              <a:ext cx="6082665" cy="3415665"/>
            </a:xfrm>
            <a:custGeom>
              <a:avLst/>
              <a:gdLst/>
              <a:ahLst/>
              <a:cxnLst/>
              <a:rect l="l" t="t" r="r" b="b"/>
              <a:pathLst>
                <a:path w="6082665" h="3415665">
                  <a:moveTo>
                    <a:pt x="6082284" y="0"/>
                  </a:moveTo>
                  <a:lnTo>
                    <a:pt x="0" y="0"/>
                  </a:lnTo>
                  <a:lnTo>
                    <a:pt x="0" y="3415283"/>
                  </a:lnTo>
                  <a:lnTo>
                    <a:pt x="6082284" y="3415283"/>
                  </a:lnTo>
                  <a:lnTo>
                    <a:pt x="6082284" y="0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11300" y="0"/>
              <a:ext cx="4762500" cy="19177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11936" y="830579"/>
            <a:ext cx="5763895" cy="2839720"/>
          </a:xfrm>
          <a:custGeom>
            <a:avLst/>
            <a:gdLst/>
            <a:ahLst/>
            <a:cxnLst/>
            <a:rect l="l" t="t" r="r" b="b"/>
            <a:pathLst>
              <a:path w="5763895" h="2839720">
                <a:moveTo>
                  <a:pt x="0" y="0"/>
                </a:moveTo>
                <a:lnTo>
                  <a:pt x="5763768" y="0"/>
                </a:lnTo>
                <a:lnTo>
                  <a:pt x="5763768" y="2839720"/>
                </a:lnTo>
                <a:lnTo>
                  <a:pt x="0" y="2839720"/>
                </a:lnTo>
                <a:lnTo>
                  <a:pt x="0" y="0"/>
                </a:lnTo>
                <a:close/>
              </a:path>
            </a:pathLst>
          </a:custGeom>
          <a:solidFill>
            <a:srgbClr val="FFE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008888" y="828039"/>
            <a:ext cx="5770245" cy="2842260"/>
          </a:xfrm>
          <a:custGeom>
            <a:avLst/>
            <a:gdLst/>
            <a:ahLst/>
            <a:cxnLst/>
            <a:rect l="l" t="t" r="r" b="b"/>
            <a:pathLst>
              <a:path w="5770245" h="2842260">
                <a:moveTo>
                  <a:pt x="5769864" y="1270"/>
                </a:moveTo>
                <a:lnTo>
                  <a:pt x="5769483" y="1270"/>
                </a:lnTo>
                <a:lnTo>
                  <a:pt x="5769483" y="0"/>
                </a:lnTo>
                <a:lnTo>
                  <a:pt x="5765292" y="0"/>
                </a:lnTo>
                <a:lnTo>
                  <a:pt x="5765292" y="2540"/>
                </a:lnTo>
                <a:lnTo>
                  <a:pt x="4572" y="2552"/>
                </a:lnTo>
                <a:lnTo>
                  <a:pt x="3937" y="3187"/>
                </a:lnTo>
                <a:lnTo>
                  <a:pt x="3937" y="2540"/>
                </a:lnTo>
                <a:lnTo>
                  <a:pt x="5765292" y="2540"/>
                </a:lnTo>
                <a:lnTo>
                  <a:pt x="5765292" y="0"/>
                </a:lnTo>
                <a:lnTo>
                  <a:pt x="381" y="0"/>
                </a:lnTo>
                <a:lnTo>
                  <a:pt x="381" y="1270"/>
                </a:lnTo>
                <a:lnTo>
                  <a:pt x="0" y="1270"/>
                </a:lnTo>
                <a:lnTo>
                  <a:pt x="0" y="2540"/>
                </a:lnTo>
                <a:lnTo>
                  <a:pt x="0" y="3810"/>
                </a:lnTo>
                <a:lnTo>
                  <a:pt x="0" y="2842260"/>
                </a:lnTo>
                <a:lnTo>
                  <a:pt x="4572" y="2842260"/>
                </a:lnTo>
                <a:lnTo>
                  <a:pt x="4572" y="4076"/>
                </a:lnTo>
                <a:lnTo>
                  <a:pt x="5765292" y="4076"/>
                </a:lnTo>
                <a:lnTo>
                  <a:pt x="5765292" y="2842260"/>
                </a:lnTo>
                <a:lnTo>
                  <a:pt x="5769864" y="2842260"/>
                </a:lnTo>
                <a:lnTo>
                  <a:pt x="5769864" y="4076"/>
                </a:lnTo>
                <a:lnTo>
                  <a:pt x="5769864" y="3810"/>
                </a:lnTo>
                <a:lnTo>
                  <a:pt x="5769864" y="2552"/>
                </a:lnTo>
                <a:lnTo>
                  <a:pt x="5766549" y="2552"/>
                </a:lnTo>
                <a:lnTo>
                  <a:pt x="5766549" y="3810"/>
                </a:lnTo>
                <a:lnTo>
                  <a:pt x="5765927" y="3810"/>
                </a:lnTo>
                <a:lnTo>
                  <a:pt x="5765927" y="3187"/>
                </a:lnTo>
                <a:lnTo>
                  <a:pt x="5766549" y="3810"/>
                </a:lnTo>
                <a:lnTo>
                  <a:pt x="5766549" y="2552"/>
                </a:lnTo>
                <a:lnTo>
                  <a:pt x="5765927" y="2552"/>
                </a:lnTo>
                <a:lnTo>
                  <a:pt x="5769864" y="2540"/>
                </a:lnTo>
                <a:lnTo>
                  <a:pt x="5769864" y="1270"/>
                </a:lnTo>
                <a:close/>
              </a:path>
            </a:pathLst>
          </a:custGeom>
          <a:solidFill>
            <a:srgbClr val="5B9A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043456" y="796549"/>
            <a:ext cx="19246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0" spc="-45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</a:t>
            </a:r>
            <a:r>
              <a:rPr sz="1800" spc="-4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JDBC</a:t>
            </a:r>
            <a:r>
              <a:rPr sz="1800" spc="-3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Architecture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43409" y="1071816"/>
            <a:ext cx="5699125" cy="2319020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10"/>
              </a:spcBef>
            </a:pPr>
            <a:r>
              <a:rPr sz="1600" spc="-70" dirty="0">
                <a:latin typeface="Times New Roman" panose="02020603050405020304"/>
                <a:cs typeface="Times New Roman" panose="02020603050405020304"/>
              </a:rPr>
              <a:t></a:t>
            </a:r>
            <a:r>
              <a:rPr sz="1600" spc="-70" dirty="0">
                <a:latin typeface="Calibri" panose="020F0502020204030204"/>
                <a:cs typeface="Calibri" panose="020F0502020204030204"/>
              </a:rPr>
              <a:t>JDBC</a:t>
            </a:r>
            <a:r>
              <a:rPr sz="16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spc="-10" dirty="0">
                <a:latin typeface="Calibri" panose="020F0502020204030204"/>
                <a:cs typeface="Calibri" panose="020F0502020204030204"/>
              </a:rPr>
              <a:t>Architecture</a:t>
            </a:r>
            <a:r>
              <a:rPr sz="16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consists</a:t>
            </a:r>
            <a:r>
              <a:rPr sz="16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of</a:t>
            </a:r>
            <a:r>
              <a:rPr sz="16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solidFill>
                  <a:srgbClr val="702FA0"/>
                </a:solidFill>
                <a:latin typeface="Calibri" panose="020F0502020204030204"/>
                <a:cs typeface="Calibri" panose="020F0502020204030204"/>
              </a:rPr>
              <a:t>two</a:t>
            </a:r>
            <a:r>
              <a:rPr sz="1600" spc="-40" dirty="0">
                <a:solidFill>
                  <a:srgbClr val="702FA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600" spc="-10" dirty="0">
                <a:solidFill>
                  <a:srgbClr val="702FA0"/>
                </a:solidFill>
                <a:latin typeface="Calibri" panose="020F0502020204030204"/>
                <a:cs typeface="Calibri" panose="020F0502020204030204"/>
              </a:rPr>
              <a:t>layers</a:t>
            </a:r>
            <a:endParaRPr sz="1600">
              <a:latin typeface="Calibri" panose="020F0502020204030204"/>
              <a:cs typeface="Calibri" panose="020F0502020204030204"/>
            </a:endParaRPr>
          </a:p>
          <a:p>
            <a:pPr marL="127000" marR="5080" indent="-114935">
              <a:lnSpc>
                <a:spcPts val="1730"/>
              </a:lnSpc>
              <a:spcBef>
                <a:spcPts val="530"/>
              </a:spcBef>
              <a:buFont typeface="Arial MT"/>
              <a:buChar char="•"/>
              <a:tabLst>
                <a:tab pos="127000" algn="l"/>
                <a:tab pos="728345" algn="l"/>
                <a:tab pos="1257300" algn="l"/>
                <a:tab pos="1776095" algn="l"/>
                <a:tab pos="2670175" algn="l"/>
                <a:tab pos="3134360" algn="l"/>
                <a:tab pos="4942205" algn="l"/>
              </a:tabLst>
            </a:pPr>
            <a:r>
              <a:rPr sz="1600" b="1" spc="-20" dirty="0">
                <a:solidFill>
                  <a:srgbClr val="702FA0"/>
                </a:solidFill>
                <a:latin typeface="Calibri" panose="020F0502020204030204"/>
                <a:cs typeface="Calibri" panose="020F0502020204030204"/>
              </a:rPr>
              <a:t>JDBC</a:t>
            </a:r>
            <a:r>
              <a:rPr sz="1600" b="1" dirty="0">
                <a:solidFill>
                  <a:srgbClr val="702FA0"/>
                </a:solidFill>
                <a:latin typeface="Calibri" panose="020F0502020204030204"/>
                <a:cs typeface="Calibri" panose="020F0502020204030204"/>
              </a:rPr>
              <a:t>	</a:t>
            </a:r>
            <a:r>
              <a:rPr sz="1600" b="1" spc="-20" dirty="0">
                <a:solidFill>
                  <a:srgbClr val="702FA0"/>
                </a:solidFill>
                <a:latin typeface="Calibri" panose="020F0502020204030204"/>
                <a:cs typeface="Calibri" panose="020F0502020204030204"/>
              </a:rPr>
              <a:t>API:</a:t>
            </a:r>
            <a:r>
              <a:rPr sz="1600" b="1" dirty="0">
                <a:solidFill>
                  <a:srgbClr val="702FA0"/>
                </a:solidFill>
                <a:latin typeface="Calibri" panose="020F0502020204030204"/>
                <a:cs typeface="Calibri" panose="020F0502020204030204"/>
              </a:rPr>
              <a:t>	</a:t>
            </a:r>
            <a:r>
              <a:rPr sz="1600" spc="-20" dirty="0">
                <a:latin typeface="Calibri" panose="020F0502020204030204"/>
                <a:cs typeface="Calibri" panose="020F0502020204030204"/>
              </a:rPr>
              <a:t>This</a:t>
            </a:r>
            <a:r>
              <a:rPr sz="1600" dirty="0">
                <a:latin typeface="Calibri" panose="020F0502020204030204"/>
                <a:cs typeface="Calibri" panose="020F0502020204030204"/>
              </a:rPr>
              <a:t>	</a:t>
            </a:r>
            <a:r>
              <a:rPr sz="1600" spc="-10" dirty="0">
                <a:latin typeface="Calibri" panose="020F0502020204030204"/>
                <a:cs typeface="Calibri" panose="020F0502020204030204"/>
              </a:rPr>
              <a:t>provides</a:t>
            </a:r>
            <a:r>
              <a:rPr sz="1600" dirty="0">
                <a:latin typeface="Calibri" panose="020F0502020204030204"/>
                <a:cs typeface="Calibri" panose="020F0502020204030204"/>
              </a:rPr>
              <a:t>	</a:t>
            </a:r>
            <a:r>
              <a:rPr sz="1600" spc="-25" dirty="0">
                <a:latin typeface="Calibri" panose="020F0502020204030204"/>
                <a:cs typeface="Calibri" panose="020F0502020204030204"/>
              </a:rPr>
              <a:t>the</a:t>
            </a:r>
            <a:r>
              <a:rPr sz="1600" dirty="0">
                <a:latin typeface="Calibri" panose="020F0502020204030204"/>
                <a:cs typeface="Calibri" panose="020F0502020204030204"/>
              </a:rPr>
              <a:t>	</a:t>
            </a:r>
            <a:r>
              <a:rPr sz="1600" spc="-10" dirty="0">
                <a:latin typeface="Calibri" panose="020F0502020204030204"/>
                <a:cs typeface="Calibri" panose="020F0502020204030204"/>
              </a:rPr>
              <a:t>application-to-</a:t>
            </a:r>
            <a:r>
              <a:rPr sz="1600" spc="-20" dirty="0">
                <a:latin typeface="Calibri" panose="020F0502020204030204"/>
                <a:cs typeface="Calibri" panose="020F0502020204030204"/>
              </a:rPr>
              <a:t>JDBC</a:t>
            </a:r>
            <a:r>
              <a:rPr sz="1600" dirty="0">
                <a:latin typeface="Calibri" panose="020F0502020204030204"/>
                <a:cs typeface="Calibri" panose="020F0502020204030204"/>
              </a:rPr>
              <a:t>	</a:t>
            </a:r>
            <a:r>
              <a:rPr sz="1600" spc="-10" dirty="0">
                <a:latin typeface="Calibri" panose="020F0502020204030204"/>
                <a:cs typeface="Calibri" panose="020F0502020204030204"/>
              </a:rPr>
              <a:t>Manager connection.</a:t>
            </a:r>
            <a:endParaRPr sz="1600">
              <a:latin typeface="Calibri" panose="020F0502020204030204"/>
              <a:cs typeface="Calibri" panose="020F0502020204030204"/>
            </a:endParaRPr>
          </a:p>
          <a:p>
            <a:pPr marL="127000" marR="5080" indent="-114935">
              <a:lnSpc>
                <a:spcPts val="1730"/>
              </a:lnSpc>
              <a:spcBef>
                <a:spcPts val="500"/>
              </a:spcBef>
              <a:buFont typeface="Arial MT"/>
              <a:buChar char="•"/>
              <a:tabLst>
                <a:tab pos="127000" algn="l"/>
                <a:tab pos="683895" algn="l"/>
                <a:tab pos="1346835" algn="l"/>
                <a:tab pos="1828800" algn="l"/>
                <a:tab pos="2303145" algn="l"/>
                <a:tab pos="3170555" algn="l"/>
                <a:tab pos="3588385" algn="l"/>
                <a:tab pos="4139565" algn="l"/>
              </a:tabLst>
            </a:pPr>
            <a:r>
              <a:rPr sz="1600" b="1" spc="-20" dirty="0">
                <a:solidFill>
                  <a:srgbClr val="702FA0"/>
                </a:solidFill>
                <a:latin typeface="Calibri" panose="020F0502020204030204"/>
                <a:cs typeface="Calibri" panose="020F0502020204030204"/>
              </a:rPr>
              <a:t>JDBC</a:t>
            </a:r>
            <a:r>
              <a:rPr sz="1600" b="1" dirty="0">
                <a:solidFill>
                  <a:srgbClr val="702FA0"/>
                </a:solidFill>
                <a:latin typeface="Calibri" panose="020F0502020204030204"/>
                <a:cs typeface="Calibri" panose="020F0502020204030204"/>
              </a:rPr>
              <a:t>	</a:t>
            </a:r>
            <a:r>
              <a:rPr sz="1600" b="1" spc="-10" dirty="0">
                <a:solidFill>
                  <a:srgbClr val="702FA0"/>
                </a:solidFill>
                <a:latin typeface="Calibri" panose="020F0502020204030204"/>
                <a:cs typeface="Calibri" panose="020F0502020204030204"/>
              </a:rPr>
              <a:t>Driver</a:t>
            </a:r>
            <a:r>
              <a:rPr sz="1600" b="1" dirty="0">
                <a:solidFill>
                  <a:srgbClr val="702FA0"/>
                </a:solidFill>
                <a:latin typeface="Calibri" panose="020F0502020204030204"/>
                <a:cs typeface="Calibri" panose="020F0502020204030204"/>
              </a:rPr>
              <a:t>	</a:t>
            </a:r>
            <a:r>
              <a:rPr sz="1600" b="1" spc="-20" dirty="0">
                <a:solidFill>
                  <a:srgbClr val="702FA0"/>
                </a:solidFill>
                <a:latin typeface="Calibri" panose="020F0502020204030204"/>
                <a:cs typeface="Calibri" panose="020F0502020204030204"/>
              </a:rPr>
              <a:t>API:</a:t>
            </a:r>
            <a:r>
              <a:rPr sz="1600" b="1" dirty="0">
                <a:solidFill>
                  <a:srgbClr val="702FA0"/>
                </a:solidFill>
                <a:latin typeface="Calibri" panose="020F0502020204030204"/>
                <a:cs typeface="Calibri" panose="020F0502020204030204"/>
              </a:rPr>
              <a:t>	</a:t>
            </a:r>
            <a:r>
              <a:rPr sz="1600" spc="-20" dirty="0">
                <a:latin typeface="Calibri" panose="020F0502020204030204"/>
                <a:cs typeface="Calibri" panose="020F0502020204030204"/>
              </a:rPr>
              <a:t>This</a:t>
            </a:r>
            <a:r>
              <a:rPr sz="1600" dirty="0">
                <a:latin typeface="Calibri" panose="020F0502020204030204"/>
                <a:cs typeface="Calibri" panose="020F0502020204030204"/>
              </a:rPr>
              <a:t>	</a:t>
            </a:r>
            <a:r>
              <a:rPr sz="1600" spc="-10" dirty="0">
                <a:latin typeface="Calibri" panose="020F0502020204030204"/>
                <a:cs typeface="Calibri" panose="020F0502020204030204"/>
              </a:rPr>
              <a:t>supports</a:t>
            </a:r>
            <a:r>
              <a:rPr sz="1600" dirty="0">
                <a:latin typeface="Calibri" panose="020F0502020204030204"/>
                <a:cs typeface="Calibri" panose="020F0502020204030204"/>
              </a:rPr>
              <a:t>	</a:t>
            </a:r>
            <a:r>
              <a:rPr sz="1600" spc="-25" dirty="0">
                <a:latin typeface="Calibri" panose="020F0502020204030204"/>
                <a:cs typeface="Calibri" panose="020F0502020204030204"/>
              </a:rPr>
              <a:t>the</a:t>
            </a:r>
            <a:r>
              <a:rPr sz="1600" dirty="0">
                <a:latin typeface="Calibri" panose="020F0502020204030204"/>
                <a:cs typeface="Calibri" panose="020F0502020204030204"/>
              </a:rPr>
              <a:t>	</a:t>
            </a:r>
            <a:r>
              <a:rPr sz="1600" spc="-20" dirty="0">
                <a:latin typeface="Calibri" panose="020F0502020204030204"/>
                <a:cs typeface="Calibri" panose="020F0502020204030204"/>
              </a:rPr>
              <a:t>JDBC</a:t>
            </a:r>
            <a:r>
              <a:rPr sz="1600" dirty="0">
                <a:latin typeface="Calibri" panose="020F0502020204030204"/>
                <a:cs typeface="Calibri" panose="020F0502020204030204"/>
              </a:rPr>
              <a:t>	</a:t>
            </a:r>
            <a:r>
              <a:rPr sz="1600" spc="-10" dirty="0">
                <a:latin typeface="Calibri" panose="020F0502020204030204"/>
                <a:cs typeface="Calibri" panose="020F0502020204030204"/>
              </a:rPr>
              <a:t>Manager-</a:t>
            </a:r>
            <a:r>
              <a:rPr sz="1600" spc="-20" dirty="0">
                <a:latin typeface="Calibri" panose="020F0502020204030204"/>
                <a:cs typeface="Calibri" panose="020F0502020204030204"/>
              </a:rPr>
              <a:t>to-</a:t>
            </a:r>
            <a:r>
              <a:rPr sz="1600" spc="-10" dirty="0">
                <a:latin typeface="Calibri" panose="020F0502020204030204"/>
                <a:cs typeface="Calibri" panose="020F0502020204030204"/>
              </a:rPr>
              <a:t>Driver Connection.</a:t>
            </a:r>
            <a:endParaRPr sz="1600">
              <a:latin typeface="Calibri" panose="020F0502020204030204"/>
              <a:cs typeface="Calibri" panose="020F0502020204030204"/>
            </a:endParaRPr>
          </a:p>
          <a:p>
            <a:pPr marL="127000" marR="6350" indent="-114935">
              <a:lnSpc>
                <a:spcPts val="1730"/>
              </a:lnSpc>
              <a:spcBef>
                <a:spcPts val="485"/>
              </a:spcBef>
            </a:pPr>
            <a:r>
              <a:rPr sz="1600" spc="-50" dirty="0">
                <a:latin typeface="Times New Roman" panose="02020603050405020304"/>
                <a:cs typeface="Times New Roman" panose="02020603050405020304"/>
              </a:rPr>
              <a:t></a:t>
            </a:r>
            <a:r>
              <a:rPr sz="1600" spc="-50" dirty="0">
                <a:latin typeface="Calibri" panose="020F0502020204030204"/>
                <a:cs typeface="Calibri" panose="020F0502020204030204"/>
              </a:rPr>
              <a:t>The</a:t>
            </a:r>
            <a:r>
              <a:rPr sz="1600" spc="7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JDBC</a:t>
            </a:r>
            <a:r>
              <a:rPr sz="1600" spc="8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API</a:t>
            </a:r>
            <a:r>
              <a:rPr sz="1600" spc="8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uses</a:t>
            </a:r>
            <a:r>
              <a:rPr sz="1600" spc="8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a</a:t>
            </a:r>
            <a:r>
              <a:rPr sz="1600" spc="8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solidFill>
                  <a:srgbClr val="702FA0"/>
                </a:solidFill>
                <a:latin typeface="Calibri" panose="020F0502020204030204"/>
                <a:cs typeface="Calibri" panose="020F0502020204030204"/>
              </a:rPr>
              <a:t>driver</a:t>
            </a:r>
            <a:r>
              <a:rPr sz="1600" spc="85" dirty="0">
                <a:solidFill>
                  <a:srgbClr val="702FA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solidFill>
                  <a:srgbClr val="702FA0"/>
                </a:solidFill>
                <a:latin typeface="Calibri" panose="020F0502020204030204"/>
                <a:cs typeface="Calibri" panose="020F0502020204030204"/>
              </a:rPr>
              <a:t>manager</a:t>
            </a:r>
            <a:r>
              <a:rPr sz="1600" spc="90" dirty="0">
                <a:solidFill>
                  <a:srgbClr val="702FA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and</a:t>
            </a:r>
            <a:r>
              <a:rPr sz="1600" spc="7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spc="-10" dirty="0">
                <a:solidFill>
                  <a:srgbClr val="702FA0"/>
                </a:solidFill>
                <a:latin typeface="Calibri" panose="020F0502020204030204"/>
                <a:cs typeface="Calibri" panose="020F0502020204030204"/>
              </a:rPr>
              <a:t>database-</a:t>
            </a:r>
            <a:r>
              <a:rPr sz="1600" dirty="0">
                <a:solidFill>
                  <a:srgbClr val="702FA0"/>
                </a:solidFill>
                <a:latin typeface="Calibri" panose="020F0502020204030204"/>
                <a:cs typeface="Calibri" panose="020F0502020204030204"/>
              </a:rPr>
              <a:t>specific</a:t>
            </a:r>
            <a:r>
              <a:rPr sz="1600" spc="80" dirty="0">
                <a:solidFill>
                  <a:srgbClr val="702FA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600" spc="-10" dirty="0">
                <a:solidFill>
                  <a:srgbClr val="702FA0"/>
                </a:solidFill>
                <a:latin typeface="Calibri" panose="020F0502020204030204"/>
                <a:cs typeface="Calibri" panose="020F0502020204030204"/>
              </a:rPr>
              <a:t>drivers </a:t>
            </a:r>
            <a:r>
              <a:rPr sz="1600" dirty="0">
                <a:latin typeface="Calibri" panose="020F0502020204030204"/>
                <a:cs typeface="Calibri" panose="020F0502020204030204"/>
              </a:rPr>
              <a:t>to</a:t>
            </a:r>
            <a:r>
              <a:rPr sz="16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provide</a:t>
            </a:r>
            <a:r>
              <a:rPr sz="16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spc="-10" dirty="0">
                <a:latin typeface="Calibri" panose="020F0502020204030204"/>
                <a:cs typeface="Calibri" panose="020F0502020204030204"/>
              </a:rPr>
              <a:t>transparent</a:t>
            </a:r>
            <a:r>
              <a:rPr sz="16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connectivity</a:t>
            </a:r>
            <a:r>
              <a:rPr sz="16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to</a:t>
            </a:r>
            <a:r>
              <a:rPr sz="16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spc="-10" dirty="0">
                <a:latin typeface="Calibri" panose="020F0502020204030204"/>
                <a:cs typeface="Calibri" panose="020F0502020204030204"/>
              </a:rPr>
              <a:t>heterogeneous</a:t>
            </a:r>
            <a:r>
              <a:rPr sz="16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spc="-10" dirty="0">
                <a:latin typeface="Calibri" panose="020F0502020204030204"/>
                <a:cs typeface="Calibri" panose="020F0502020204030204"/>
              </a:rPr>
              <a:t>databases.</a:t>
            </a:r>
            <a:endParaRPr sz="1600">
              <a:latin typeface="Calibri" panose="020F0502020204030204"/>
              <a:cs typeface="Calibri" panose="020F0502020204030204"/>
            </a:endParaRPr>
          </a:p>
          <a:p>
            <a:pPr marL="127000" marR="8255" indent="-114935">
              <a:lnSpc>
                <a:spcPts val="1730"/>
              </a:lnSpc>
              <a:spcBef>
                <a:spcPts val="500"/>
              </a:spcBef>
            </a:pPr>
            <a:r>
              <a:rPr sz="1600" spc="-75" dirty="0">
                <a:latin typeface="Times New Roman" panose="02020603050405020304"/>
                <a:cs typeface="Times New Roman" panose="02020603050405020304"/>
              </a:rPr>
              <a:t></a:t>
            </a:r>
            <a:r>
              <a:rPr sz="1600" spc="-75" dirty="0">
                <a:latin typeface="Calibri" panose="020F0502020204030204"/>
                <a:cs typeface="Calibri" panose="020F0502020204030204"/>
              </a:rPr>
              <a:t>The</a:t>
            </a:r>
            <a:r>
              <a:rPr sz="16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JDBC</a:t>
            </a:r>
            <a:r>
              <a:rPr sz="16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driver</a:t>
            </a:r>
            <a:r>
              <a:rPr sz="16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manager</a:t>
            </a:r>
            <a:r>
              <a:rPr sz="16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ensures</a:t>
            </a:r>
            <a:r>
              <a:rPr sz="16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that</a:t>
            </a:r>
            <a:r>
              <a:rPr sz="16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the correct</a:t>
            </a:r>
            <a:r>
              <a:rPr sz="16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driver</a:t>
            </a:r>
            <a:r>
              <a:rPr sz="16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is</a:t>
            </a:r>
            <a:r>
              <a:rPr sz="16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used</a:t>
            </a:r>
            <a:r>
              <a:rPr sz="16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spc="-25" dirty="0">
                <a:latin typeface="Calibri" panose="020F0502020204030204"/>
                <a:cs typeface="Calibri" panose="020F0502020204030204"/>
              </a:rPr>
              <a:t>to </a:t>
            </a:r>
            <a:r>
              <a:rPr sz="1600" dirty="0">
                <a:latin typeface="Calibri" panose="020F0502020204030204"/>
                <a:cs typeface="Calibri" panose="020F0502020204030204"/>
              </a:rPr>
              <a:t>access</a:t>
            </a:r>
            <a:r>
              <a:rPr sz="16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each</a:t>
            </a:r>
            <a:r>
              <a:rPr sz="16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data</a:t>
            </a:r>
            <a:r>
              <a:rPr sz="16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spc="-10" dirty="0">
                <a:latin typeface="Calibri" panose="020F0502020204030204"/>
                <a:cs typeface="Calibri" panose="020F0502020204030204"/>
              </a:rPr>
              <a:t>source.</a:t>
            </a:r>
            <a:endParaRPr sz="16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838200" y="670559"/>
            <a:ext cx="6094730" cy="3006090"/>
            <a:chOff x="838200" y="670559"/>
            <a:chExt cx="6094730" cy="3006090"/>
          </a:xfrm>
        </p:grpSpPr>
        <p:sp>
          <p:nvSpPr>
            <p:cNvPr id="7" name="object 7"/>
            <p:cNvSpPr/>
            <p:nvPr/>
          </p:nvSpPr>
          <p:spPr>
            <a:xfrm>
              <a:off x="844295" y="676655"/>
              <a:ext cx="6082665" cy="2994025"/>
            </a:xfrm>
            <a:custGeom>
              <a:avLst/>
              <a:gdLst/>
              <a:ahLst/>
              <a:cxnLst/>
              <a:rect l="l" t="t" r="r" b="b"/>
              <a:pathLst>
                <a:path w="6082665" h="2994025">
                  <a:moveTo>
                    <a:pt x="6082284" y="0"/>
                  </a:moveTo>
                  <a:lnTo>
                    <a:pt x="0" y="0"/>
                  </a:lnTo>
                  <a:lnTo>
                    <a:pt x="0" y="2993644"/>
                  </a:lnTo>
                </a:path>
                <a:path w="6082665" h="2994025">
                  <a:moveTo>
                    <a:pt x="6082284" y="2993644"/>
                  </a:moveTo>
                  <a:lnTo>
                    <a:pt x="6082284" y="0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11300" y="2184399"/>
              <a:ext cx="4762500" cy="14859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533088" y="3189240"/>
            <a:ext cx="591185" cy="1657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endParaRPr sz="1000" b="1" spc="-10" dirty="0">
              <a:solidFill>
                <a:srgbClr val="FF0000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008887" y="172212"/>
            <a:ext cx="5770245" cy="3023870"/>
            <a:chOff x="1008887" y="172212"/>
            <a:chExt cx="5770245" cy="3023870"/>
          </a:xfrm>
        </p:grpSpPr>
        <p:sp>
          <p:nvSpPr>
            <p:cNvPr id="4" name="object 4"/>
            <p:cNvSpPr/>
            <p:nvPr/>
          </p:nvSpPr>
          <p:spPr>
            <a:xfrm>
              <a:off x="1011935" y="175260"/>
              <a:ext cx="5763895" cy="3019425"/>
            </a:xfrm>
            <a:custGeom>
              <a:avLst/>
              <a:gdLst/>
              <a:ahLst/>
              <a:cxnLst/>
              <a:rect l="l" t="t" r="r" b="b"/>
              <a:pathLst>
                <a:path w="5763895" h="3019425">
                  <a:moveTo>
                    <a:pt x="5763767" y="3019043"/>
                  </a:moveTo>
                  <a:lnTo>
                    <a:pt x="0" y="3019043"/>
                  </a:lnTo>
                  <a:lnTo>
                    <a:pt x="0" y="0"/>
                  </a:lnTo>
                  <a:lnTo>
                    <a:pt x="5763767" y="0"/>
                  </a:lnTo>
                  <a:lnTo>
                    <a:pt x="5763767" y="3019043"/>
                  </a:lnTo>
                  <a:close/>
                </a:path>
              </a:pathLst>
            </a:custGeom>
            <a:solidFill>
              <a:srgbClr val="FFE6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008887" y="172212"/>
              <a:ext cx="5770245" cy="3023870"/>
            </a:xfrm>
            <a:custGeom>
              <a:avLst/>
              <a:gdLst/>
              <a:ahLst/>
              <a:cxnLst/>
              <a:rect l="l" t="t" r="r" b="b"/>
              <a:pathLst>
                <a:path w="5770245" h="3023870">
                  <a:moveTo>
                    <a:pt x="5769864" y="3023616"/>
                  </a:moveTo>
                  <a:lnTo>
                    <a:pt x="0" y="3023616"/>
                  </a:lnTo>
                  <a:lnTo>
                    <a:pt x="0" y="1524"/>
                  </a:lnTo>
                  <a:lnTo>
                    <a:pt x="1524" y="0"/>
                  </a:lnTo>
                  <a:lnTo>
                    <a:pt x="5768339" y="0"/>
                  </a:lnTo>
                  <a:lnTo>
                    <a:pt x="5769864" y="1524"/>
                  </a:lnTo>
                  <a:lnTo>
                    <a:pt x="5769864" y="3048"/>
                  </a:lnTo>
                  <a:lnTo>
                    <a:pt x="4572" y="3048"/>
                  </a:lnTo>
                  <a:lnTo>
                    <a:pt x="3048" y="4572"/>
                  </a:lnTo>
                  <a:lnTo>
                    <a:pt x="4572" y="4572"/>
                  </a:lnTo>
                  <a:lnTo>
                    <a:pt x="4572" y="3019044"/>
                  </a:lnTo>
                  <a:lnTo>
                    <a:pt x="3048" y="3019044"/>
                  </a:lnTo>
                  <a:lnTo>
                    <a:pt x="4572" y="3022092"/>
                  </a:lnTo>
                  <a:lnTo>
                    <a:pt x="5769864" y="3022092"/>
                  </a:lnTo>
                  <a:lnTo>
                    <a:pt x="5769864" y="3023616"/>
                  </a:lnTo>
                  <a:close/>
                </a:path>
                <a:path w="5770245" h="3023870">
                  <a:moveTo>
                    <a:pt x="4572" y="4572"/>
                  </a:moveTo>
                  <a:lnTo>
                    <a:pt x="3048" y="4572"/>
                  </a:lnTo>
                  <a:lnTo>
                    <a:pt x="4572" y="3048"/>
                  </a:lnTo>
                  <a:lnTo>
                    <a:pt x="4572" y="4572"/>
                  </a:lnTo>
                  <a:close/>
                </a:path>
                <a:path w="5770245" h="3023870">
                  <a:moveTo>
                    <a:pt x="5765292" y="4572"/>
                  </a:moveTo>
                  <a:lnTo>
                    <a:pt x="4572" y="4572"/>
                  </a:lnTo>
                  <a:lnTo>
                    <a:pt x="4572" y="3048"/>
                  </a:lnTo>
                  <a:lnTo>
                    <a:pt x="5765292" y="3048"/>
                  </a:lnTo>
                  <a:lnTo>
                    <a:pt x="5765292" y="4572"/>
                  </a:lnTo>
                  <a:close/>
                </a:path>
                <a:path w="5770245" h="3023870">
                  <a:moveTo>
                    <a:pt x="5765292" y="3022092"/>
                  </a:moveTo>
                  <a:lnTo>
                    <a:pt x="5765292" y="3048"/>
                  </a:lnTo>
                  <a:lnTo>
                    <a:pt x="5766816" y="4572"/>
                  </a:lnTo>
                  <a:lnTo>
                    <a:pt x="5769864" y="4572"/>
                  </a:lnTo>
                  <a:lnTo>
                    <a:pt x="5769864" y="3019044"/>
                  </a:lnTo>
                  <a:lnTo>
                    <a:pt x="5766816" y="3019044"/>
                  </a:lnTo>
                  <a:lnTo>
                    <a:pt x="5765292" y="3022092"/>
                  </a:lnTo>
                  <a:close/>
                </a:path>
                <a:path w="5770245" h="3023870">
                  <a:moveTo>
                    <a:pt x="5769864" y="4572"/>
                  </a:moveTo>
                  <a:lnTo>
                    <a:pt x="5766816" y="4572"/>
                  </a:lnTo>
                  <a:lnTo>
                    <a:pt x="5765292" y="3048"/>
                  </a:lnTo>
                  <a:lnTo>
                    <a:pt x="5769864" y="3048"/>
                  </a:lnTo>
                  <a:lnTo>
                    <a:pt x="5769864" y="4572"/>
                  </a:lnTo>
                  <a:close/>
                </a:path>
                <a:path w="5770245" h="3023870">
                  <a:moveTo>
                    <a:pt x="4572" y="3022092"/>
                  </a:moveTo>
                  <a:lnTo>
                    <a:pt x="3048" y="3019044"/>
                  </a:lnTo>
                  <a:lnTo>
                    <a:pt x="4572" y="3019044"/>
                  </a:lnTo>
                  <a:lnTo>
                    <a:pt x="4572" y="3022092"/>
                  </a:lnTo>
                  <a:close/>
                </a:path>
                <a:path w="5770245" h="3023870">
                  <a:moveTo>
                    <a:pt x="5765292" y="3022092"/>
                  </a:moveTo>
                  <a:lnTo>
                    <a:pt x="4572" y="3022092"/>
                  </a:lnTo>
                  <a:lnTo>
                    <a:pt x="4572" y="3019044"/>
                  </a:lnTo>
                  <a:lnTo>
                    <a:pt x="5765292" y="3019044"/>
                  </a:lnTo>
                  <a:lnTo>
                    <a:pt x="5765292" y="3022092"/>
                  </a:lnTo>
                  <a:close/>
                </a:path>
                <a:path w="5770245" h="3023870">
                  <a:moveTo>
                    <a:pt x="5769864" y="3022092"/>
                  </a:moveTo>
                  <a:lnTo>
                    <a:pt x="5765292" y="3022092"/>
                  </a:lnTo>
                  <a:lnTo>
                    <a:pt x="5766816" y="3019044"/>
                  </a:lnTo>
                  <a:lnTo>
                    <a:pt x="5769864" y="3019044"/>
                  </a:lnTo>
                  <a:lnTo>
                    <a:pt x="5769864" y="3022092"/>
                  </a:lnTo>
                  <a:close/>
                </a:path>
              </a:pathLst>
            </a:custGeom>
            <a:solidFill>
              <a:srgbClr val="5B9A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043409" y="147242"/>
            <a:ext cx="5697855" cy="708025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127000" marR="5080" indent="-114935" algn="just">
              <a:lnSpc>
                <a:spcPts val="1730"/>
              </a:lnSpc>
              <a:spcBef>
                <a:spcPts val="310"/>
              </a:spcBef>
              <a:buFont typeface="Arial MT"/>
              <a:buChar char="•"/>
              <a:tabLst>
                <a:tab pos="127000" algn="l"/>
              </a:tabLst>
            </a:pPr>
            <a:r>
              <a:rPr sz="1600" dirty="0">
                <a:latin typeface="Calibri" panose="020F0502020204030204"/>
                <a:cs typeface="Calibri" panose="020F0502020204030204"/>
              </a:rPr>
              <a:t>Following</a:t>
            </a:r>
            <a:r>
              <a:rPr sz="16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is</a:t>
            </a:r>
            <a:r>
              <a:rPr sz="160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the</a:t>
            </a:r>
            <a:r>
              <a:rPr sz="1600" spc="2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solidFill>
                  <a:srgbClr val="702FA0"/>
                </a:solidFill>
                <a:latin typeface="Calibri" panose="020F0502020204030204"/>
                <a:cs typeface="Calibri" panose="020F0502020204030204"/>
              </a:rPr>
              <a:t>architectural</a:t>
            </a:r>
            <a:r>
              <a:rPr sz="1600" spc="25" dirty="0">
                <a:solidFill>
                  <a:srgbClr val="702FA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solidFill>
                  <a:srgbClr val="702FA0"/>
                </a:solidFill>
                <a:latin typeface="Calibri" panose="020F0502020204030204"/>
                <a:cs typeface="Calibri" panose="020F0502020204030204"/>
              </a:rPr>
              <a:t>diagram</a:t>
            </a:r>
            <a:r>
              <a:rPr sz="1600" dirty="0">
                <a:latin typeface="Calibri" panose="020F0502020204030204"/>
                <a:cs typeface="Calibri" panose="020F0502020204030204"/>
              </a:rPr>
              <a:t>,</a:t>
            </a:r>
            <a:r>
              <a:rPr sz="160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which</a:t>
            </a:r>
            <a:r>
              <a:rPr sz="1600" spc="2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shows</a:t>
            </a:r>
            <a:r>
              <a:rPr sz="1600" spc="2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the</a:t>
            </a:r>
            <a:r>
              <a:rPr sz="160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location</a:t>
            </a:r>
            <a:r>
              <a:rPr sz="160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spc="-25" dirty="0">
                <a:latin typeface="Calibri" panose="020F0502020204030204"/>
                <a:cs typeface="Calibri" panose="020F0502020204030204"/>
              </a:rPr>
              <a:t>of </a:t>
            </a:r>
            <a:r>
              <a:rPr sz="1600" dirty="0">
                <a:latin typeface="Calibri" panose="020F0502020204030204"/>
                <a:cs typeface="Calibri" panose="020F0502020204030204"/>
              </a:rPr>
              <a:t>the</a:t>
            </a:r>
            <a:r>
              <a:rPr sz="1600" spc="12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driver</a:t>
            </a:r>
            <a:r>
              <a:rPr sz="1600" spc="12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manager</a:t>
            </a:r>
            <a:r>
              <a:rPr sz="1600" spc="12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with</a:t>
            </a:r>
            <a:r>
              <a:rPr sz="1600" spc="14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respect</a:t>
            </a:r>
            <a:r>
              <a:rPr sz="1600" spc="14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to</a:t>
            </a:r>
            <a:r>
              <a:rPr sz="1600" spc="12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the</a:t>
            </a:r>
            <a:r>
              <a:rPr sz="1600" spc="14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JDBC</a:t>
            </a:r>
            <a:r>
              <a:rPr sz="1600" spc="13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drivers</a:t>
            </a:r>
            <a:r>
              <a:rPr sz="1600" spc="13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and</a:t>
            </a:r>
            <a:r>
              <a:rPr sz="1600" spc="12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the</a:t>
            </a:r>
            <a:r>
              <a:rPr sz="1600" spc="12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spc="-20" dirty="0">
                <a:latin typeface="Calibri" panose="020F0502020204030204"/>
                <a:cs typeface="Calibri" panose="020F0502020204030204"/>
              </a:rPr>
              <a:t>Java </a:t>
            </a:r>
            <a:r>
              <a:rPr sz="1600" spc="-10" dirty="0">
                <a:latin typeface="Calibri" panose="020F0502020204030204"/>
                <a:cs typeface="Calibri" panose="020F0502020204030204"/>
              </a:rPr>
              <a:t>application</a:t>
            </a:r>
            <a:endParaRPr sz="16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151111" y="3203000"/>
            <a:ext cx="1468120" cy="1358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endParaRPr sz="800" spc="-10" dirty="0">
              <a:solidFill>
                <a:srgbClr val="702FA0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418565" y="3221210"/>
            <a:ext cx="64135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spc="-50" dirty="0">
                <a:solidFill>
                  <a:srgbClr val="898989"/>
                </a:solidFill>
                <a:latin typeface="Calibri" panose="020F0502020204030204"/>
                <a:cs typeface="Calibri" panose="020F0502020204030204"/>
              </a:rPr>
              <a:t>4</a:t>
            </a:r>
            <a:endParaRPr sz="6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838200" y="0"/>
            <a:ext cx="6094730" cy="3442970"/>
            <a:chOff x="838200" y="0"/>
            <a:chExt cx="6094730" cy="3442970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08859" y="667512"/>
              <a:ext cx="3118103" cy="2526791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2304288" y="662940"/>
              <a:ext cx="3127375" cy="2536190"/>
            </a:xfrm>
            <a:custGeom>
              <a:avLst/>
              <a:gdLst/>
              <a:ahLst/>
              <a:cxnLst/>
              <a:rect l="l" t="t" r="r" b="b"/>
              <a:pathLst>
                <a:path w="3127375" h="2536190">
                  <a:moveTo>
                    <a:pt x="3125724" y="2535935"/>
                  </a:moveTo>
                  <a:lnTo>
                    <a:pt x="0" y="2535935"/>
                  </a:lnTo>
                  <a:lnTo>
                    <a:pt x="0" y="0"/>
                  </a:lnTo>
                  <a:lnTo>
                    <a:pt x="3127248" y="0"/>
                  </a:lnTo>
                  <a:lnTo>
                    <a:pt x="3127248" y="1524"/>
                  </a:lnTo>
                  <a:lnTo>
                    <a:pt x="4572" y="1524"/>
                  </a:lnTo>
                  <a:lnTo>
                    <a:pt x="1524" y="4572"/>
                  </a:lnTo>
                  <a:lnTo>
                    <a:pt x="4572" y="4572"/>
                  </a:lnTo>
                  <a:lnTo>
                    <a:pt x="4572" y="2531364"/>
                  </a:lnTo>
                  <a:lnTo>
                    <a:pt x="1524" y="2531364"/>
                  </a:lnTo>
                  <a:lnTo>
                    <a:pt x="4572" y="2532888"/>
                  </a:lnTo>
                  <a:lnTo>
                    <a:pt x="3127248" y="2532888"/>
                  </a:lnTo>
                  <a:lnTo>
                    <a:pt x="3127248" y="2534412"/>
                  </a:lnTo>
                  <a:lnTo>
                    <a:pt x="3125724" y="2535935"/>
                  </a:lnTo>
                  <a:close/>
                </a:path>
                <a:path w="3127375" h="2536190">
                  <a:moveTo>
                    <a:pt x="4572" y="4572"/>
                  </a:moveTo>
                  <a:lnTo>
                    <a:pt x="1524" y="4572"/>
                  </a:lnTo>
                  <a:lnTo>
                    <a:pt x="4572" y="1524"/>
                  </a:lnTo>
                  <a:lnTo>
                    <a:pt x="4572" y="4572"/>
                  </a:lnTo>
                  <a:close/>
                </a:path>
                <a:path w="3127375" h="2536190">
                  <a:moveTo>
                    <a:pt x="3122676" y="4572"/>
                  </a:moveTo>
                  <a:lnTo>
                    <a:pt x="4572" y="4572"/>
                  </a:lnTo>
                  <a:lnTo>
                    <a:pt x="4572" y="1524"/>
                  </a:lnTo>
                  <a:lnTo>
                    <a:pt x="3122676" y="1524"/>
                  </a:lnTo>
                  <a:lnTo>
                    <a:pt x="3122676" y="4572"/>
                  </a:lnTo>
                  <a:close/>
                </a:path>
                <a:path w="3127375" h="2536190">
                  <a:moveTo>
                    <a:pt x="3122676" y="2532888"/>
                  </a:moveTo>
                  <a:lnTo>
                    <a:pt x="3122676" y="1524"/>
                  </a:lnTo>
                  <a:lnTo>
                    <a:pt x="3125724" y="4572"/>
                  </a:lnTo>
                  <a:lnTo>
                    <a:pt x="3127248" y="4572"/>
                  </a:lnTo>
                  <a:lnTo>
                    <a:pt x="3127248" y="2531364"/>
                  </a:lnTo>
                  <a:lnTo>
                    <a:pt x="3125724" y="2531364"/>
                  </a:lnTo>
                  <a:lnTo>
                    <a:pt x="3122676" y="2532888"/>
                  </a:lnTo>
                  <a:close/>
                </a:path>
                <a:path w="3127375" h="2536190">
                  <a:moveTo>
                    <a:pt x="3127248" y="4572"/>
                  </a:moveTo>
                  <a:lnTo>
                    <a:pt x="3125724" y="4572"/>
                  </a:lnTo>
                  <a:lnTo>
                    <a:pt x="3122676" y="1524"/>
                  </a:lnTo>
                  <a:lnTo>
                    <a:pt x="3127248" y="1524"/>
                  </a:lnTo>
                  <a:lnTo>
                    <a:pt x="3127248" y="4572"/>
                  </a:lnTo>
                  <a:close/>
                </a:path>
                <a:path w="3127375" h="2536190">
                  <a:moveTo>
                    <a:pt x="4572" y="2532888"/>
                  </a:moveTo>
                  <a:lnTo>
                    <a:pt x="1524" y="2531364"/>
                  </a:lnTo>
                  <a:lnTo>
                    <a:pt x="4572" y="2531364"/>
                  </a:lnTo>
                  <a:lnTo>
                    <a:pt x="4572" y="2532888"/>
                  </a:lnTo>
                  <a:close/>
                </a:path>
                <a:path w="3127375" h="2536190">
                  <a:moveTo>
                    <a:pt x="3122676" y="2532888"/>
                  </a:moveTo>
                  <a:lnTo>
                    <a:pt x="4572" y="2532888"/>
                  </a:lnTo>
                  <a:lnTo>
                    <a:pt x="4572" y="2531364"/>
                  </a:lnTo>
                  <a:lnTo>
                    <a:pt x="3122676" y="2531364"/>
                  </a:lnTo>
                  <a:lnTo>
                    <a:pt x="3122676" y="2532888"/>
                  </a:lnTo>
                  <a:close/>
                </a:path>
                <a:path w="3127375" h="2536190">
                  <a:moveTo>
                    <a:pt x="3127248" y="2532888"/>
                  </a:moveTo>
                  <a:lnTo>
                    <a:pt x="3122676" y="2532888"/>
                  </a:lnTo>
                  <a:lnTo>
                    <a:pt x="3125724" y="2531364"/>
                  </a:lnTo>
                  <a:lnTo>
                    <a:pt x="3127248" y="2531364"/>
                  </a:lnTo>
                  <a:lnTo>
                    <a:pt x="3127248" y="2532888"/>
                  </a:lnTo>
                  <a:close/>
                </a:path>
              </a:pathLst>
            </a:custGeom>
            <a:solidFill>
              <a:srgbClr val="702FA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44295" y="21335"/>
              <a:ext cx="6082665" cy="3415665"/>
            </a:xfrm>
            <a:custGeom>
              <a:avLst/>
              <a:gdLst/>
              <a:ahLst/>
              <a:cxnLst/>
              <a:rect l="l" t="t" r="r" b="b"/>
              <a:pathLst>
                <a:path w="6082665" h="3415665">
                  <a:moveTo>
                    <a:pt x="6082284" y="0"/>
                  </a:moveTo>
                  <a:lnTo>
                    <a:pt x="0" y="0"/>
                  </a:lnTo>
                  <a:lnTo>
                    <a:pt x="0" y="3415283"/>
                  </a:lnTo>
                  <a:lnTo>
                    <a:pt x="6082284" y="3415283"/>
                  </a:lnTo>
                  <a:lnTo>
                    <a:pt x="6082284" y="0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11300" y="0"/>
              <a:ext cx="4762500" cy="19177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011936" y="742188"/>
            <a:ext cx="5781040" cy="487680"/>
            <a:chOff x="1011936" y="742188"/>
            <a:chExt cx="5781040" cy="487680"/>
          </a:xfrm>
        </p:grpSpPr>
        <p:sp>
          <p:nvSpPr>
            <p:cNvPr id="3" name="object 3"/>
            <p:cNvSpPr/>
            <p:nvPr/>
          </p:nvSpPr>
          <p:spPr>
            <a:xfrm>
              <a:off x="1014984" y="743712"/>
              <a:ext cx="5774690" cy="485140"/>
            </a:xfrm>
            <a:custGeom>
              <a:avLst/>
              <a:gdLst/>
              <a:ahLst/>
              <a:cxnLst/>
              <a:rect l="l" t="t" r="r" b="b"/>
              <a:pathLst>
                <a:path w="5774690" h="485140">
                  <a:moveTo>
                    <a:pt x="5774435" y="484632"/>
                  </a:moveTo>
                  <a:lnTo>
                    <a:pt x="0" y="484632"/>
                  </a:lnTo>
                  <a:lnTo>
                    <a:pt x="0" y="0"/>
                  </a:lnTo>
                  <a:lnTo>
                    <a:pt x="5774435" y="0"/>
                  </a:lnTo>
                  <a:lnTo>
                    <a:pt x="5774435" y="484632"/>
                  </a:lnTo>
                  <a:close/>
                </a:path>
              </a:pathLst>
            </a:custGeom>
            <a:solidFill>
              <a:srgbClr val="ED7C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011936" y="742188"/>
              <a:ext cx="5781040" cy="487680"/>
            </a:xfrm>
            <a:custGeom>
              <a:avLst/>
              <a:gdLst/>
              <a:ahLst/>
              <a:cxnLst/>
              <a:rect l="l" t="t" r="r" b="b"/>
              <a:pathLst>
                <a:path w="5781040" h="487680">
                  <a:moveTo>
                    <a:pt x="5780532" y="487680"/>
                  </a:moveTo>
                  <a:lnTo>
                    <a:pt x="0" y="487680"/>
                  </a:lnTo>
                  <a:lnTo>
                    <a:pt x="0" y="0"/>
                  </a:lnTo>
                  <a:lnTo>
                    <a:pt x="5780532" y="0"/>
                  </a:lnTo>
                  <a:lnTo>
                    <a:pt x="5780532" y="1524"/>
                  </a:lnTo>
                  <a:lnTo>
                    <a:pt x="4572" y="1524"/>
                  </a:lnTo>
                  <a:lnTo>
                    <a:pt x="3048" y="4572"/>
                  </a:lnTo>
                  <a:lnTo>
                    <a:pt x="4572" y="4572"/>
                  </a:lnTo>
                  <a:lnTo>
                    <a:pt x="4572" y="483108"/>
                  </a:lnTo>
                  <a:lnTo>
                    <a:pt x="3048" y="483108"/>
                  </a:lnTo>
                  <a:lnTo>
                    <a:pt x="4572" y="486156"/>
                  </a:lnTo>
                  <a:lnTo>
                    <a:pt x="5780532" y="486156"/>
                  </a:lnTo>
                  <a:lnTo>
                    <a:pt x="5780532" y="487680"/>
                  </a:lnTo>
                  <a:close/>
                </a:path>
                <a:path w="5781040" h="487680">
                  <a:moveTo>
                    <a:pt x="4572" y="4572"/>
                  </a:moveTo>
                  <a:lnTo>
                    <a:pt x="3048" y="4572"/>
                  </a:lnTo>
                  <a:lnTo>
                    <a:pt x="4572" y="1524"/>
                  </a:lnTo>
                  <a:lnTo>
                    <a:pt x="4572" y="4572"/>
                  </a:lnTo>
                  <a:close/>
                </a:path>
                <a:path w="5781040" h="487680">
                  <a:moveTo>
                    <a:pt x="5775960" y="4572"/>
                  </a:moveTo>
                  <a:lnTo>
                    <a:pt x="4572" y="4572"/>
                  </a:lnTo>
                  <a:lnTo>
                    <a:pt x="4572" y="1524"/>
                  </a:lnTo>
                  <a:lnTo>
                    <a:pt x="5775960" y="1524"/>
                  </a:lnTo>
                  <a:lnTo>
                    <a:pt x="5775960" y="4572"/>
                  </a:lnTo>
                  <a:close/>
                </a:path>
                <a:path w="5781040" h="487680">
                  <a:moveTo>
                    <a:pt x="5775960" y="486156"/>
                  </a:moveTo>
                  <a:lnTo>
                    <a:pt x="5775960" y="1524"/>
                  </a:lnTo>
                  <a:lnTo>
                    <a:pt x="5777484" y="4572"/>
                  </a:lnTo>
                  <a:lnTo>
                    <a:pt x="5780532" y="4572"/>
                  </a:lnTo>
                  <a:lnTo>
                    <a:pt x="5780532" y="483108"/>
                  </a:lnTo>
                  <a:lnTo>
                    <a:pt x="5777484" y="483108"/>
                  </a:lnTo>
                  <a:lnTo>
                    <a:pt x="5775960" y="486156"/>
                  </a:lnTo>
                  <a:close/>
                </a:path>
                <a:path w="5781040" h="487680">
                  <a:moveTo>
                    <a:pt x="5780532" y="4572"/>
                  </a:moveTo>
                  <a:lnTo>
                    <a:pt x="5777484" y="4572"/>
                  </a:lnTo>
                  <a:lnTo>
                    <a:pt x="5775960" y="1524"/>
                  </a:lnTo>
                  <a:lnTo>
                    <a:pt x="5780532" y="1524"/>
                  </a:lnTo>
                  <a:lnTo>
                    <a:pt x="5780532" y="4572"/>
                  </a:lnTo>
                  <a:close/>
                </a:path>
                <a:path w="5781040" h="487680">
                  <a:moveTo>
                    <a:pt x="4572" y="486156"/>
                  </a:moveTo>
                  <a:lnTo>
                    <a:pt x="3048" y="483108"/>
                  </a:lnTo>
                  <a:lnTo>
                    <a:pt x="4572" y="483108"/>
                  </a:lnTo>
                  <a:lnTo>
                    <a:pt x="4572" y="486156"/>
                  </a:lnTo>
                  <a:close/>
                </a:path>
                <a:path w="5781040" h="487680">
                  <a:moveTo>
                    <a:pt x="5775960" y="486156"/>
                  </a:moveTo>
                  <a:lnTo>
                    <a:pt x="4572" y="486156"/>
                  </a:lnTo>
                  <a:lnTo>
                    <a:pt x="4572" y="483108"/>
                  </a:lnTo>
                  <a:lnTo>
                    <a:pt x="5775960" y="483108"/>
                  </a:lnTo>
                  <a:lnTo>
                    <a:pt x="5775960" y="486156"/>
                  </a:lnTo>
                  <a:close/>
                </a:path>
                <a:path w="5781040" h="487680">
                  <a:moveTo>
                    <a:pt x="5780532" y="486156"/>
                  </a:moveTo>
                  <a:lnTo>
                    <a:pt x="5775960" y="486156"/>
                  </a:lnTo>
                  <a:lnTo>
                    <a:pt x="5777484" y="483108"/>
                  </a:lnTo>
                  <a:lnTo>
                    <a:pt x="5780532" y="483108"/>
                  </a:lnTo>
                  <a:lnTo>
                    <a:pt x="5780532" y="486156"/>
                  </a:lnTo>
                  <a:close/>
                </a:path>
              </a:pathLst>
            </a:custGeom>
            <a:solidFill>
              <a:srgbClr val="5B9A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470131" y="779796"/>
            <a:ext cx="486156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Java</a:t>
            </a:r>
            <a:r>
              <a:rPr spc="-65" dirty="0"/>
              <a:t> </a:t>
            </a:r>
            <a:r>
              <a:rPr dirty="0"/>
              <a:t>Database</a:t>
            </a:r>
            <a:r>
              <a:rPr spc="-90" dirty="0"/>
              <a:t> </a:t>
            </a:r>
            <a:r>
              <a:rPr dirty="0"/>
              <a:t>Connectivity</a:t>
            </a:r>
            <a:r>
              <a:rPr spc="-45" dirty="0"/>
              <a:t> </a:t>
            </a:r>
            <a:r>
              <a:rPr dirty="0"/>
              <a:t>with</a:t>
            </a:r>
            <a:r>
              <a:rPr spc="-55" dirty="0"/>
              <a:t> </a:t>
            </a:r>
            <a:r>
              <a:rPr dirty="0"/>
              <a:t>5</a:t>
            </a:r>
            <a:r>
              <a:rPr spc="-60" dirty="0"/>
              <a:t> </a:t>
            </a:r>
            <a:r>
              <a:rPr spc="-10" dirty="0"/>
              <a:t>Steps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1011936" y="1225804"/>
            <a:ext cx="5781040" cy="2444750"/>
            <a:chOff x="1011936" y="1225804"/>
            <a:chExt cx="5781040" cy="2444750"/>
          </a:xfrm>
        </p:grpSpPr>
        <p:sp>
          <p:nvSpPr>
            <p:cNvPr id="7" name="object 7"/>
            <p:cNvSpPr/>
            <p:nvPr/>
          </p:nvSpPr>
          <p:spPr>
            <a:xfrm>
              <a:off x="1014984" y="1228344"/>
              <a:ext cx="5774690" cy="2442210"/>
            </a:xfrm>
            <a:custGeom>
              <a:avLst/>
              <a:gdLst/>
              <a:ahLst/>
              <a:cxnLst/>
              <a:rect l="l" t="t" r="r" b="b"/>
              <a:pathLst>
                <a:path w="5774690" h="2442210">
                  <a:moveTo>
                    <a:pt x="0" y="0"/>
                  </a:moveTo>
                  <a:lnTo>
                    <a:pt x="5774436" y="0"/>
                  </a:lnTo>
                  <a:lnTo>
                    <a:pt x="5774436" y="2441956"/>
                  </a:lnTo>
                  <a:lnTo>
                    <a:pt x="0" y="244195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DEB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11923" y="1225816"/>
              <a:ext cx="5781040" cy="2444750"/>
            </a:xfrm>
            <a:custGeom>
              <a:avLst/>
              <a:gdLst/>
              <a:ahLst/>
              <a:cxnLst/>
              <a:rect l="l" t="t" r="r" b="b"/>
              <a:pathLst>
                <a:path w="5781040" h="2444750">
                  <a:moveTo>
                    <a:pt x="5780544" y="1270"/>
                  </a:moveTo>
                  <a:lnTo>
                    <a:pt x="5780163" y="1270"/>
                  </a:lnTo>
                  <a:lnTo>
                    <a:pt x="5780163" y="0"/>
                  </a:lnTo>
                  <a:lnTo>
                    <a:pt x="5777255" y="0"/>
                  </a:lnTo>
                  <a:lnTo>
                    <a:pt x="5777255" y="3810"/>
                  </a:lnTo>
                  <a:lnTo>
                    <a:pt x="5776607" y="3810"/>
                  </a:lnTo>
                  <a:lnTo>
                    <a:pt x="5776607" y="3162"/>
                  </a:lnTo>
                  <a:lnTo>
                    <a:pt x="5777255" y="3810"/>
                  </a:lnTo>
                  <a:lnTo>
                    <a:pt x="5777255" y="0"/>
                  </a:lnTo>
                  <a:lnTo>
                    <a:pt x="4559" y="0"/>
                  </a:lnTo>
                  <a:lnTo>
                    <a:pt x="4559" y="2540"/>
                  </a:lnTo>
                  <a:lnTo>
                    <a:pt x="3937" y="3162"/>
                  </a:lnTo>
                  <a:lnTo>
                    <a:pt x="3937" y="2540"/>
                  </a:lnTo>
                  <a:lnTo>
                    <a:pt x="4559" y="2540"/>
                  </a:lnTo>
                  <a:lnTo>
                    <a:pt x="4559" y="0"/>
                  </a:lnTo>
                  <a:lnTo>
                    <a:pt x="381" y="0"/>
                  </a:lnTo>
                  <a:lnTo>
                    <a:pt x="381" y="1270"/>
                  </a:lnTo>
                  <a:lnTo>
                    <a:pt x="0" y="1270"/>
                  </a:lnTo>
                  <a:lnTo>
                    <a:pt x="0" y="2540"/>
                  </a:lnTo>
                  <a:lnTo>
                    <a:pt x="0" y="3810"/>
                  </a:lnTo>
                  <a:lnTo>
                    <a:pt x="0" y="2444750"/>
                  </a:lnTo>
                  <a:lnTo>
                    <a:pt x="4572" y="2444750"/>
                  </a:lnTo>
                  <a:lnTo>
                    <a:pt x="4572" y="4051"/>
                  </a:lnTo>
                  <a:lnTo>
                    <a:pt x="5775972" y="4051"/>
                  </a:lnTo>
                  <a:lnTo>
                    <a:pt x="5775972" y="2444750"/>
                  </a:lnTo>
                  <a:lnTo>
                    <a:pt x="5780544" y="2444750"/>
                  </a:lnTo>
                  <a:lnTo>
                    <a:pt x="5780544" y="4051"/>
                  </a:lnTo>
                  <a:lnTo>
                    <a:pt x="5780544" y="3810"/>
                  </a:lnTo>
                  <a:lnTo>
                    <a:pt x="5780544" y="2540"/>
                  </a:lnTo>
                  <a:lnTo>
                    <a:pt x="5780544" y="1270"/>
                  </a:lnTo>
                  <a:close/>
                </a:path>
              </a:pathLst>
            </a:custGeom>
            <a:solidFill>
              <a:srgbClr val="5B9A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975821" y="1200418"/>
            <a:ext cx="77851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Calibri" panose="020F0502020204030204"/>
                <a:cs typeface="Calibri" panose="020F0502020204030204"/>
              </a:rPr>
              <a:t>with</a:t>
            </a:r>
            <a:r>
              <a:rPr sz="1600" spc="114" dirty="0">
                <a:latin typeface="Calibri" panose="020F0502020204030204"/>
                <a:cs typeface="Calibri" panose="020F0502020204030204"/>
              </a:rPr>
              <a:t>  </a:t>
            </a:r>
            <a:r>
              <a:rPr sz="1600" spc="-25" dirty="0">
                <a:latin typeface="Calibri" panose="020F0502020204030204"/>
                <a:cs typeface="Calibri" panose="020F0502020204030204"/>
              </a:rPr>
              <a:t>the</a:t>
            </a:r>
            <a:endParaRPr sz="16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114300" marR="5080" indent="-114935">
              <a:lnSpc>
                <a:spcPts val="1730"/>
              </a:lnSpc>
              <a:spcBef>
                <a:spcPts val="310"/>
              </a:spcBef>
            </a:pPr>
            <a:r>
              <a:rPr spc="-20" dirty="0">
                <a:latin typeface="Times New Roman" panose="02020603050405020304"/>
                <a:cs typeface="Times New Roman" panose="02020603050405020304"/>
              </a:rPr>
              <a:t></a:t>
            </a:r>
            <a:r>
              <a:rPr spc="-20" dirty="0"/>
              <a:t>There</a:t>
            </a:r>
            <a:r>
              <a:rPr spc="90" dirty="0"/>
              <a:t>  </a:t>
            </a:r>
            <a:r>
              <a:rPr dirty="0"/>
              <a:t>are</a:t>
            </a:r>
            <a:r>
              <a:rPr spc="90" dirty="0"/>
              <a:t>  </a:t>
            </a:r>
            <a:r>
              <a:rPr dirty="0"/>
              <a:t>5</a:t>
            </a:r>
            <a:r>
              <a:rPr spc="85" dirty="0"/>
              <a:t>  </a:t>
            </a:r>
            <a:r>
              <a:rPr dirty="0"/>
              <a:t>steps</a:t>
            </a:r>
            <a:r>
              <a:rPr spc="90" dirty="0"/>
              <a:t>  </a:t>
            </a:r>
            <a:r>
              <a:rPr dirty="0"/>
              <a:t>to</a:t>
            </a:r>
            <a:r>
              <a:rPr spc="90" dirty="0"/>
              <a:t>  </a:t>
            </a:r>
            <a:r>
              <a:rPr dirty="0"/>
              <a:t>connect</a:t>
            </a:r>
            <a:r>
              <a:rPr spc="85" dirty="0"/>
              <a:t>  </a:t>
            </a:r>
            <a:r>
              <a:rPr dirty="0"/>
              <a:t>any</a:t>
            </a:r>
            <a:r>
              <a:rPr spc="85" dirty="0"/>
              <a:t>  </a:t>
            </a:r>
            <a:r>
              <a:rPr dirty="0"/>
              <a:t>java</a:t>
            </a:r>
            <a:r>
              <a:rPr spc="95" dirty="0"/>
              <a:t>  </a:t>
            </a:r>
            <a:r>
              <a:rPr spc="-10" dirty="0"/>
              <a:t>application </a:t>
            </a:r>
            <a:r>
              <a:rPr dirty="0"/>
              <a:t>database</a:t>
            </a:r>
            <a:r>
              <a:rPr spc="-35" dirty="0"/>
              <a:t> </a:t>
            </a:r>
            <a:r>
              <a:rPr dirty="0"/>
              <a:t>using</a:t>
            </a:r>
            <a:r>
              <a:rPr spc="-25" dirty="0"/>
              <a:t> </a:t>
            </a:r>
            <a:r>
              <a:rPr dirty="0"/>
              <a:t>JDBC.</a:t>
            </a:r>
            <a:r>
              <a:rPr spc="-10" dirty="0"/>
              <a:t> </a:t>
            </a:r>
            <a:r>
              <a:rPr dirty="0"/>
              <a:t>These</a:t>
            </a:r>
            <a:r>
              <a:rPr spc="-35" dirty="0"/>
              <a:t> </a:t>
            </a:r>
            <a:r>
              <a:rPr dirty="0"/>
              <a:t>steps</a:t>
            </a:r>
            <a:r>
              <a:rPr spc="-25" dirty="0"/>
              <a:t> </a:t>
            </a:r>
            <a:r>
              <a:rPr dirty="0"/>
              <a:t>are</a:t>
            </a:r>
            <a:r>
              <a:rPr spc="-35" dirty="0"/>
              <a:t> </a:t>
            </a:r>
            <a:r>
              <a:rPr dirty="0"/>
              <a:t>as</a:t>
            </a:r>
            <a:r>
              <a:rPr spc="-35" dirty="0"/>
              <a:t> </a:t>
            </a:r>
            <a:r>
              <a:rPr spc="-10" dirty="0"/>
              <a:t>follows:</a:t>
            </a:r>
          </a:p>
          <a:p>
            <a:pPr marL="256540" indent="-256540">
              <a:lnSpc>
                <a:spcPct val="100000"/>
              </a:lnSpc>
              <a:spcBef>
                <a:spcPts val="270"/>
              </a:spcBef>
              <a:buAutoNum type="arabicPeriod"/>
              <a:tabLst>
                <a:tab pos="256540" algn="l"/>
              </a:tabLst>
            </a:pPr>
            <a:r>
              <a:rPr spc="-10" dirty="0">
                <a:solidFill>
                  <a:srgbClr val="702FA0"/>
                </a:solidFill>
              </a:rPr>
              <a:t>Register</a:t>
            </a:r>
            <a:r>
              <a:rPr spc="-35" dirty="0">
                <a:solidFill>
                  <a:srgbClr val="702FA0"/>
                </a:solidFill>
              </a:rPr>
              <a:t> </a:t>
            </a:r>
            <a:r>
              <a:rPr dirty="0">
                <a:solidFill>
                  <a:srgbClr val="702FA0"/>
                </a:solidFill>
              </a:rPr>
              <a:t>the</a:t>
            </a:r>
            <a:r>
              <a:rPr spc="-50" dirty="0">
                <a:solidFill>
                  <a:srgbClr val="702FA0"/>
                </a:solidFill>
              </a:rPr>
              <a:t> </a:t>
            </a:r>
            <a:r>
              <a:rPr dirty="0">
                <a:solidFill>
                  <a:srgbClr val="702FA0"/>
                </a:solidFill>
              </a:rPr>
              <a:t>Driver</a:t>
            </a:r>
            <a:r>
              <a:rPr spc="-35" dirty="0">
                <a:solidFill>
                  <a:srgbClr val="702FA0"/>
                </a:solidFill>
              </a:rPr>
              <a:t> </a:t>
            </a:r>
            <a:r>
              <a:rPr spc="-10" dirty="0">
                <a:solidFill>
                  <a:srgbClr val="702FA0"/>
                </a:solidFill>
              </a:rPr>
              <a:t>class</a:t>
            </a:r>
          </a:p>
          <a:p>
            <a:pPr marL="256540" indent="-256540">
              <a:lnSpc>
                <a:spcPct val="100000"/>
              </a:lnSpc>
              <a:spcBef>
                <a:spcPts val="315"/>
              </a:spcBef>
              <a:buAutoNum type="arabicPeriod"/>
              <a:tabLst>
                <a:tab pos="256540" algn="l"/>
              </a:tabLst>
            </a:pPr>
            <a:r>
              <a:rPr dirty="0">
                <a:solidFill>
                  <a:srgbClr val="702FA0"/>
                </a:solidFill>
              </a:rPr>
              <a:t>Create</a:t>
            </a:r>
            <a:r>
              <a:rPr spc="-80" dirty="0">
                <a:solidFill>
                  <a:srgbClr val="702FA0"/>
                </a:solidFill>
              </a:rPr>
              <a:t> </a:t>
            </a:r>
            <a:r>
              <a:rPr spc="-10" dirty="0">
                <a:solidFill>
                  <a:srgbClr val="702FA0"/>
                </a:solidFill>
              </a:rPr>
              <a:t>connection</a:t>
            </a:r>
          </a:p>
          <a:p>
            <a:pPr marL="256540" indent="-256540">
              <a:lnSpc>
                <a:spcPct val="100000"/>
              </a:lnSpc>
              <a:spcBef>
                <a:spcPts val="310"/>
              </a:spcBef>
              <a:buAutoNum type="arabicPeriod"/>
              <a:tabLst>
                <a:tab pos="256540" algn="l"/>
              </a:tabLst>
            </a:pPr>
            <a:r>
              <a:rPr dirty="0">
                <a:solidFill>
                  <a:srgbClr val="702FA0"/>
                </a:solidFill>
              </a:rPr>
              <a:t>Create</a:t>
            </a:r>
            <a:r>
              <a:rPr spc="-80" dirty="0">
                <a:solidFill>
                  <a:srgbClr val="702FA0"/>
                </a:solidFill>
              </a:rPr>
              <a:t> </a:t>
            </a:r>
            <a:r>
              <a:rPr spc="-10" dirty="0">
                <a:solidFill>
                  <a:srgbClr val="702FA0"/>
                </a:solidFill>
              </a:rPr>
              <a:t>statement</a:t>
            </a:r>
          </a:p>
          <a:p>
            <a:pPr marL="256540" indent="-256540">
              <a:lnSpc>
                <a:spcPct val="100000"/>
              </a:lnSpc>
              <a:spcBef>
                <a:spcPts val="300"/>
              </a:spcBef>
              <a:buAutoNum type="arabicPeriod"/>
              <a:tabLst>
                <a:tab pos="256540" algn="l"/>
              </a:tabLst>
            </a:pPr>
            <a:r>
              <a:rPr spc="-10" dirty="0">
                <a:solidFill>
                  <a:srgbClr val="702FA0"/>
                </a:solidFill>
              </a:rPr>
              <a:t>Execute</a:t>
            </a:r>
            <a:r>
              <a:rPr spc="-35" dirty="0">
                <a:solidFill>
                  <a:srgbClr val="702FA0"/>
                </a:solidFill>
              </a:rPr>
              <a:t> </a:t>
            </a:r>
            <a:r>
              <a:rPr spc="-10" dirty="0">
                <a:solidFill>
                  <a:srgbClr val="702FA0"/>
                </a:solidFill>
              </a:rPr>
              <a:t>queries</a:t>
            </a:r>
          </a:p>
          <a:p>
            <a:pPr marL="256540" indent="-256540">
              <a:lnSpc>
                <a:spcPct val="100000"/>
              </a:lnSpc>
              <a:spcBef>
                <a:spcPts val="315"/>
              </a:spcBef>
              <a:buAutoNum type="arabicPeriod"/>
              <a:tabLst>
                <a:tab pos="256540" algn="l"/>
              </a:tabLst>
            </a:pPr>
            <a:r>
              <a:rPr dirty="0">
                <a:solidFill>
                  <a:srgbClr val="702FA0"/>
                </a:solidFill>
              </a:rPr>
              <a:t>Close</a:t>
            </a:r>
            <a:r>
              <a:rPr spc="-30" dirty="0">
                <a:solidFill>
                  <a:srgbClr val="702FA0"/>
                </a:solidFill>
              </a:rPr>
              <a:t> </a:t>
            </a:r>
            <a:r>
              <a:rPr spc="-10" dirty="0">
                <a:solidFill>
                  <a:srgbClr val="702FA0"/>
                </a:solidFill>
              </a:rPr>
              <a:t>connection</a:t>
            </a:r>
          </a:p>
        </p:txBody>
      </p:sp>
      <p:grpSp>
        <p:nvGrpSpPr>
          <p:cNvPr id="11" name="object 11"/>
          <p:cNvGrpSpPr/>
          <p:nvPr/>
        </p:nvGrpSpPr>
        <p:grpSpPr>
          <a:xfrm>
            <a:off x="838200" y="670559"/>
            <a:ext cx="6094730" cy="3006090"/>
            <a:chOff x="838200" y="670559"/>
            <a:chExt cx="6094730" cy="3006090"/>
          </a:xfrm>
        </p:grpSpPr>
        <p:sp>
          <p:nvSpPr>
            <p:cNvPr id="12" name="object 12"/>
            <p:cNvSpPr/>
            <p:nvPr/>
          </p:nvSpPr>
          <p:spPr>
            <a:xfrm>
              <a:off x="844295" y="676655"/>
              <a:ext cx="6082665" cy="2994025"/>
            </a:xfrm>
            <a:custGeom>
              <a:avLst/>
              <a:gdLst/>
              <a:ahLst/>
              <a:cxnLst/>
              <a:rect l="l" t="t" r="r" b="b"/>
              <a:pathLst>
                <a:path w="6082665" h="2994025">
                  <a:moveTo>
                    <a:pt x="6082284" y="0"/>
                  </a:moveTo>
                  <a:lnTo>
                    <a:pt x="0" y="0"/>
                  </a:lnTo>
                  <a:lnTo>
                    <a:pt x="0" y="2993644"/>
                  </a:lnTo>
                </a:path>
                <a:path w="6082665" h="2994025">
                  <a:moveTo>
                    <a:pt x="6082284" y="2993644"/>
                  </a:moveTo>
                  <a:lnTo>
                    <a:pt x="6082284" y="0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11300" y="2184399"/>
              <a:ext cx="4762500" cy="14859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533088" y="3189240"/>
            <a:ext cx="591185" cy="1657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endParaRPr sz="1000" b="1" spc="-10" dirty="0">
              <a:solidFill>
                <a:srgbClr val="FF0000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011936" y="128015"/>
            <a:ext cx="5781040" cy="3068320"/>
            <a:chOff x="1011936" y="128015"/>
            <a:chExt cx="5781040" cy="3068320"/>
          </a:xfrm>
        </p:grpSpPr>
        <p:sp>
          <p:nvSpPr>
            <p:cNvPr id="4" name="object 4"/>
            <p:cNvSpPr/>
            <p:nvPr/>
          </p:nvSpPr>
          <p:spPr>
            <a:xfrm>
              <a:off x="1014984" y="129539"/>
              <a:ext cx="5774690" cy="3065145"/>
            </a:xfrm>
            <a:custGeom>
              <a:avLst/>
              <a:gdLst/>
              <a:ahLst/>
              <a:cxnLst/>
              <a:rect l="l" t="t" r="r" b="b"/>
              <a:pathLst>
                <a:path w="5774690" h="3065145">
                  <a:moveTo>
                    <a:pt x="5774435" y="3064764"/>
                  </a:moveTo>
                  <a:lnTo>
                    <a:pt x="0" y="3064764"/>
                  </a:lnTo>
                  <a:lnTo>
                    <a:pt x="0" y="0"/>
                  </a:lnTo>
                  <a:lnTo>
                    <a:pt x="5774435" y="0"/>
                  </a:lnTo>
                  <a:lnTo>
                    <a:pt x="5774435" y="3064764"/>
                  </a:lnTo>
                  <a:close/>
                </a:path>
              </a:pathLst>
            </a:custGeom>
            <a:solidFill>
              <a:srgbClr val="DDEB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011936" y="128015"/>
              <a:ext cx="5781040" cy="3068320"/>
            </a:xfrm>
            <a:custGeom>
              <a:avLst/>
              <a:gdLst/>
              <a:ahLst/>
              <a:cxnLst/>
              <a:rect l="l" t="t" r="r" b="b"/>
              <a:pathLst>
                <a:path w="5781040" h="3068320">
                  <a:moveTo>
                    <a:pt x="5780532" y="3067812"/>
                  </a:moveTo>
                  <a:lnTo>
                    <a:pt x="0" y="3067812"/>
                  </a:lnTo>
                  <a:lnTo>
                    <a:pt x="0" y="1524"/>
                  </a:lnTo>
                  <a:lnTo>
                    <a:pt x="1524" y="0"/>
                  </a:lnTo>
                  <a:lnTo>
                    <a:pt x="5779007" y="0"/>
                  </a:lnTo>
                  <a:lnTo>
                    <a:pt x="5780532" y="1524"/>
                  </a:lnTo>
                  <a:lnTo>
                    <a:pt x="4572" y="1524"/>
                  </a:lnTo>
                  <a:lnTo>
                    <a:pt x="3048" y="4572"/>
                  </a:lnTo>
                  <a:lnTo>
                    <a:pt x="4572" y="4572"/>
                  </a:lnTo>
                  <a:lnTo>
                    <a:pt x="4572" y="3063240"/>
                  </a:lnTo>
                  <a:lnTo>
                    <a:pt x="3048" y="3063240"/>
                  </a:lnTo>
                  <a:lnTo>
                    <a:pt x="4572" y="3066288"/>
                  </a:lnTo>
                  <a:lnTo>
                    <a:pt x="5780532" y="3066288"/>
                  </a:lnTo>
                  <a:lnTo>
                    <a:pt x="5780532" y="3067812"/>
                  </a:lnTo>
                  <a:close/>
                </a:path>
                <a:path w="5781040" h="3068320">
                  <a:moveTo>
                    <a:pt x="4572" y="4572"/>
                  </a:moveTo>
                  <a:lnTo>
                    <a:pt x="3048" y="4572"/>
                  </a:lnTo>
                  <a:lnTo>
                    <a:pt x="4572" y="1524"/>
                  </a:lnTo>
                  <a:lnTo>
                    <a:pt x="4572" y="4572"/>
                  </a:lnTo>
                  <a:close/>
                </a:path>
                <a:path w="5781040" h="3068320">
                  <a:moveTo>
                    <a:pt x="5775960" y="4572"/>
                  </a:moveTo>
                  <a:lnTo>
                    <a:pt x="4572" y="4572"/>
                  </a:lnTo>
                  <a:lnTo>
                    <a:pt x="4572" y="1524"/>
                  </a:lnTo>
                  <a:lnTo>
                    <a:pt x="5775960" y="1524"/>
                  </a:lnTo>
                  <a:lnTo>
                    <a:pt x="5775960" y="4572"/>
                  </a:lnTo>
                  <a:close/>
                </a:path>
                <a:path w="5781040" h="3068320">
                  <a:moveTo>
                    <a:pt x="5775960" y="3066288"/>
                  </a:moveTo>
                  <a:lnTo>
                    <a:pt x="5775960" y="1524"/>
                  </a:lnTo>
                  <a:lnTo>
                    <a:pt x="5777484" y="4572"/>
                  </a:lnTo>
                  <a:lnTo>
                    <a:pt x="5780532" y="4572"/>
                  </a:lnTo>
                  <a:lnTo>
                    <a:pt x="5780532" y="3063240"/>
                  </a:lnTo>
                  <a:lnTo>
                    <a:pt x="5777484" y="3063240"/>
                  </a:lnTo>
                  <a:lnTo>
                    <a:pt x="5775960" y="3066288"/>
                  </a:lnTo>
                  <a:close/>
                </a:path>
                <a:path w="5781040" h="3068320">
                  <a:moveTo>
                    <a:pt x="5780532" y="4572"/>
                  </a:moveTo>
                  <a:lnTo>
                    <a:pt x="5777484" y="4572"/>
                  </a:lnTo>
                  <a:lnTo>
                    <a:pt x="5775960" y="1524"/>
                  </a:lnTo>
                  <a:lnTo>
                    <a:pt x="5780532" y="1524"/>
                  </a:lnTo>
                  <a:lnTo>
                    <a:pt x="5780532" y="4572"/>
                  </a:lnTo>
                  <a:close/>
                </a:path>
                <a:path w="5781040" h="3068320">
                  <a:moveTo>
                    <a:pt x="4572" y="3066288"/>
                  </a:moveTo>
                  <a:lnTo>
                    <a:pt x="3048" y="3063240"/>
                  </a:lnTo>
                  <a:lnTo>
                    <a:pt x="4572" y="3063240"/>
                  </a:lnTo>
                  <a:lnTo>
                    <a:pt x="4572" y="3066288"/>
                  </a:lnTo>
                  <a:close/>
                </a:path>
                <a:path w="5781040" h="3068320">
                  <a:moveTo>
                    <a:pt x="5775960" y="3066288"/>
                  </a:moveTo>
                  <a:lnTo>
                    <a:pt x="4572" y="3066288"/>
                  </a:lnTo>
                  <a:lnTo>
                    <a:pt x="4572" y="3063240"/>
                  </a:lnTo>
                  <a:lnTo>
                    <a:pt x="5775960" y="3063240"/>
                  </a:lnTo>
                  <a:lnTo>
                    <a:pt x="5775960" y="3066288"/>
                  </a:lnTo>
                  <a:close/>
                </a:path>
                <a:path w="5781040" h="3068320">
                  <a:moveTo>
                    <a:pt x="5780532" y="3066288"/>
                  </a:moveTo>
                  <a:lnTo>
                    <a:pt x="5775960" y="3066288"/>
                  </a:lnTo>
                  <a:lnTo>
                    <a:pt x="5777484" y="3063240"/>
                  </a:lnTo>
                  <a:lnTo>
                    <a:pt x="5780532" y="3063240"/>
                  </a:lnTo>
                  <a:lnTo>
                    <a:pt x="5780532" y="3066288"/>
                  </a:lnTo>
                  <a:close/>
                </a:path>
              </a:pathLst>
            </a:custGeom>
            <a:solidFill>
              <a:srgbClr val="5B9A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046477" y="103101"/>
            <a:ext cx="493522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0" spc="-85" dirty="0">
                <a:latin typeface="Times New Roman" panose="02020603050405020304"/>
                <a:cs typeface="Times New Roman" panose="02020603050405020304"/>
              </a:rPr>
              <a:t></a:t>
            </a:r>
            <a:r>
              <a:rPr sz="1600" b="0" spc="-85" dirty="0">
                <a:latin typeface="Calibri" panose="020F0502020204030204"/>
                <a:cs typeface="Calibri" panose="020F0502020204030204"/>
              </a:rPr>
              <a:t>The</a:t>
            </a:r>
            <a:r>
              <a:rPr sz="1600" b="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b="0" spc="-10" dirty="0">
                <a:solidFill>
                  <a:srgbClr val="702FA0"/>
                </a:solidFill>
                <a:latin typeface="Calibri" panose="020F0502020204030204"/>
                <a:cs typeface="Calibri" panose="020F0502020204030204"/>
              </a:rPr>
              <a:t>forName()</a:t>
            </a:r>
            <a:r>
              <a:rPr sz="1600" b="0" spc="-15" dirty="0">
                <a:solidFill>
                  <a:srgbClr val="702FA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600" b="0" dirty="0">
                <a:latin typeface="Calibri" panose="020F0502020204030204"/>
                <a:cs typeface="Calibri" panose="020F0502020204030204"/>
              </a:rPr>
              <a:t>method</a:t>
            </a:r>
            <a:r>
              <a:rPr sz="1600" b="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b="0" dirty="0">
                <a:latin typeface="Calibri" panose="020F0502020204030204"/>
                <a:cs typeface="Calibri" panose="020F0502020204030204"/>
              </a:rPr>
              <a:t>is</a:t>
            </a:r>
            <a:r>
              <a:rPr sz="1600" b="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b="0" dirty="0">
                <a:latin typeface="Calibri" panose="020F0502020204030204"/>
                <a:cs typeface="Calibri" panose="020F0502020204030204"/>
              </a:rPr>
              <a:t>used</a:t>
            </a:r>
            <a:r>
              <a:rPr sz="1600" b="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b="0" dirty="0">
                <a:latin typeface="Calibri" panose="020F0502020204030204"/>
                <a:cs typeface="Calibri" panose="020F0502020204030204"/>
              </a:rPr>
              <a:t>to</a:t>
            </a:r>
            <a:r>
              <a:rPr sz="1600" b="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b="0" spc="-10" dirty="0">
                <a:solidFill>
                  <a:srgbClr val="702FA0"/>
                </a:solidFill>
                <a:latin typeface="Calibri" panose="020F0502020204030204"/>
                <a:cs typeface="Calibri" panose="020F0502020204030204"/>
              </a:rPr>
              <a:t>register</a:t>
            </a:r>
            <a:r>
              <a:rPr sz="1600" b="0" spc="-20" dirty="0">
                <a:solidFill>
                  <a:srgbClr val="702FA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600" b="0" dirty="0">
                <a:solidFill>
                  <a:srgbClr val="702FA0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1600" b="0" spc="-30" dirty="0">
                <a:solidFill>
                  <a:srgbClr val="702FA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600" b="0" dirty="0">
                <a:solidFill>
                  <a:srgbClr val="702FA0"/>
                </a:solidFill>
                <a:latin typeface="Calibri" panose="020F0502020204030204"/>
                <a:cs typeface="Calibri" panose="020F0502020204030204"/>
              </a:rPr>
              <a:t>driver</a:t>
            </a:r>
            <a:r>
              <a:rPr sz="1600" b="0" spc="-20" dirty="0">
                <a:solidFill>
                  <a:srgbClr val="702FA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600" b="0" spc="-10" dirty="0">
                <a:solidFill>
                  <a:srgbClr val="702FA0"/>
                </a:solidFill>
                <a:latin typeface="Calibri" panose="020F0502020204030204"/>
                <a:cs typeface="Calibri" panose="020F0502020204030204"/>
              </a:rPr>
              <a:t>class</a:t>
            </a:r>
            <a:r>
              <a:rPr sz="1600" b="0" spc="-10" dirty="0">
                <a:latin typeface="Calibri" panose="020F0502020204030204"/>
                <a:cs typeface="Calibri" panose="020F0502020204030204"/>
              </a:rPr>
              <a:t>.</a:t>
            </a:r>
            <a:endParaRPr sz="16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46477" y="385067"/>
            <a:ext cx="5709285" cy="2653665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127000" marR="6985" indent="-114935" algn="just">
              <a:lnSpc>
                <a:spcPts val="1730"/>
              </a:lnSpc>
              <a:spcBef>
                <a:spcPts val="310"/>
              </a:spcBef>
            </a:pPr>
            <a:r>
              <a:rPr sz="1600" dirty="0">
                <a:latin typeface="Times New Roman" panose="02020603050405020304"/>
                <a:cs typeface="Times New Roman" panose="02020603050405020304"/>
              </a:rPr>
              <a:t></a:t>
            </a:r>
            <a:r>
              <a:rPr sz="1600" dirty="0">
                <a:latin typeface="Calibri" panose="020F0502020204030204"/>
                <a:cs typeface="Calibri" panose="020F0502020204030204"/>
              </a:rPr>
              <a:t>The</a:t>
            </a:r>
            <a:r>
              <a:rPr sz="1600" spc="27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solidFill>
                  <a:srgbClr val="702FA0"/>
                </a:solidFill>
                <a:latin typeface="Calibri" panose="020F0502020204030204"/>
                <a:cs typeface="Calibri" panose="020F0502020204030204"/>
              </a:rPr>
              <a:t>getConnection()</a:t>
            </a:r>
            <a:r>
              <a:rPr sz="1600" spc="280" dirty="0">
                <a:solidFill>
                  <a:srgbClr val="702FA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method</a:t>
            </a:r>
            <a:r>
              <a:rPr sz="1600" spc="28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of</a:t>
            </a:r>
            <a:r>
              <a:rPr sz="1600" spc="29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DriverManager</a:t>
            </a:r>
            <a:r>
              <a:rPr sz="1600" spc="29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class</a:t>
            </a:r>
            <a:r>
              <a:rPr sz="1600" spc="28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is</a:t>
            </a:r>
            <a:r>
              <a:rPr sz="1600" spc="27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used</a:t>
            </a:r>
            <a:r>
              <a:rPr sz="1600" spc="29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spc="-25" dirty="0">
                <a:latin typeface="Calibri" panose="020F0502020204030204"/>
                <a:cs typeface="Calibri" panose="020F0502020204030204"/>
              </a:rPr>
              <a:t>to </a:t>
            </a:r>
            <a:r>
              <a:rPr sz="1600" dirty="0">
                <a:solidFill>
                  <a:srgbClr val="702FA0"/>
                </a:solidFill>
                <a:latin typeface="Calibri" panose="020F0502020204030204"/>
                <a:cs typeface="Calibri" panose="020F0502020204030204"/>
              </a:rPr>
              <a:t>establish</a:t>
            </a:r>
            <a:r>
              <a:rPr sz="1600" spc="-30" dirty="0">
                <a:solidFill>
                  <a:srgbClr val="702FA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solidFill>
                  <a:srgbClr val="702FA0"/>
                </a:solidFill>
                <a:latin typeface="Calibri" panose="020F0502020204030204"/>
                <a:cs typeface="Calibri" panose="020F0502020204030204"/>
              </a:rPr>
              <a:t>connection</a:t>
            </a:r>
            <a:r>
              <a:rPr sz="1600" spc="-25" dirty="0">
                <a:solidFill>
                  <a:srgbClr val="702FA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with</a:t>
            </a:r>
            <a:r>
              <a:rPr sz="16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the</a:t>
            </a:r>
            <a:r>
              <a:rPr sz="16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spc="-10" dirty="0">
                <a:latin typeface="Calibri" panose="020F0502020204030204"/>
                <a:cs typeface="Calibri" panose="020F0502020204030204"/>
              </a:rPr>
              <a:t>database</a:t>
            </a:r>
            <a:endParaRPr sz="1600">
              <a:latin typeface="Calibri" panose="020F0502020204030204"/>
              <a:cs typeface="Calibri" panose="020F0502020204030204"/>
            </a:endParaRPr>
          </a:p>
          <a:p>
            <a:pPr marL="127000" marR="5080" indent="-114935" algn="just">
              <a:lnSpc>
                <a:spcPts val="1730"/>
              </a:lnSpc>
              <a:spcBef>
                <a:spcPts val="500"/>
              </a:spcBef>
            </a:pPr>
            <a:r>
              <a:rPr sz="1600" spc="-45" dirty="0">
                <a:latin typeface="Times New Roman" panose="02020603050405020304"/>
                <a:cs typeface="Times New Roman" panose="02020603050405020304"/>
              </a:rPr>
              <a:t></a:t>
            </a:r>
            <a:r>
              <a:rPr sz="1600" spc="-45" dirty="0">
                <a:latin typeface="Calibri" panose="020F0502020204030204"/>
                <a:cs typeface="Calibri" panose="020F0502020204030204"/>
              </a:rPr>
              <a:t>The</a:t>
            </a:r>
            <a:r>
              <a:rPr sz="1600" spc="6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solidFill>
                  <a:srgbClr val="702FA0"/>
                </a:solidFill>
                <a:latin typeface="Calibri" panose="020F0502020204030204"/>
                <a:cs typeface="Calibri" panose="020F0502020204030204"/>
              </a:rPr>
              <a:t>createStatement()</a:t>
            </a:r>
            <a:r>
              <a:rPr sz="1600" spc="90" dirty="0">
                <a:solidFill>
                  <a:srgbClr val="702FA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method</a:t>
            </a:r>
            <a:r>
              <a:rPr sz="1600" spc="8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of</a:t>
            </a:r>
            <a:r>
              <a:rPr sz="1600" spc="8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Connection</a:t>
            </a:r>
            <a:r>
              <a:rPr sz="1600" spc="8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interface</a:t>
            </a:r>
            <a:r>
              <a:rPr sz="1600" spc="8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is</a:t>
            </a:r>
            <a:r>
              <a:rPr sz="1600" spc="7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used</a:t>
            </a:r>
            <a:r>
              <a:rPr sz="1600" spc="8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spc="-25" dirty="0">
                <a:latin typeface="Calibri" panose="020F0502020204030204"/>
                <a:cs typeface="Calibri" panose="020F0502020204030204"/>
              </a:rPr>
              <a:t>to </a:t>
            </a:r>
            <a:r>
              <a:rPr sz="1600" spc="-10" dirty="0">
                <a:latin typeface="Calibri" panose="020F0502020204030204"/>
                <a:cs typeface="Calibri" panose="020F0502020204030204"/>
              </a:rPr>
              <a:t>create</a:t>
            </a:r>
            <a:r>
              <a:rPr sz="16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spc="-10" dirty="0">
                <a:latin typeface="Calibri" panose="020F0502020204030204"/>
                <a:cs typeface="Calibri" panose="020F0502020204030204"/>
              </a:rPr>
              <a:t>statement.</a:t>
            </a:r>
            <a:r>
              <a:rPr sz="1600" dirty="0">
                <a:latin typeface="Calibri" panose="020F0502020204030204"/>
                <a:cs typeface="Calibri" panose="020F0502020204030204"/>
              </a:rPr>
              <a:t> The</a:t>
            </a:r>
            <a:r>
              <a:rPr sz="16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object</a:t>
            </a:r>
            <a:r>
              <a:rPr sz="16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of</a:t>
            </a:r>
            <a:r>
              <a:rPr sz="16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spc="-10" dirty="0">
                <a:latin typeface="Calibri" panose="020F0502020204030204"/>
                <a:cs typeface="Calibri" panose="020F0502020204030204"/>
              </a:rPr>
              <a:t>statement</a:t>
            </a:r>
            <a:r>
              <a:rPr sz="16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is</a:t>
            </a:r>
            <a:r>
              <a:rPr sz="16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responsible</a:t>
            </a:r>
            <a:r>
              <a:rPr sz="16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to</a:t>
            </a:r>
            <a:r>
              <a:rPr sz="16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spc="-10" dirty="0">
                <a:latin typeface="Calibri" panose="020F0502020204030204"/>
                <a:cs typeface="Calibri" panose="020F0502020204030204"/>
              </a:rPr>
              <a:t>execute </a:t>
            </a:r>
            <a:r>
              <a:rPr sz="1600" dirty="0">
                <a:latin typeface="Calibri" panose="020F0502020204030204"/>
                <a:cs typeface="Calibri" panose="020F0502020204030204"/>
              </a:rPr>
              <a:t>queries</a:t>
            </a:r>
            <a:r>
              <a:rPr sz="16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with</a:t>
            </a:r>
            <a:r>
              <a:rPr sz="16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the</a:t>
            </a:r>
            <a:r>
              <a:rPr sz="16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spc="-10" dirty="0">
                <a:latin typeface="Calibri" panose="020F0502020204030204"/>
                <a:cs typeface="Calibri" panose="020F0502020204030204"/>
              </a:rPr>
              <a:t>database.</a:t>
            </a:r>
            <a:endParaRPr sz="1600">
              <a:latin typeface="Calibri" panose="020F0502020204030204"/>
              <a:cs typeface="Calibri" panose="020F0502020204030204"/>
            </a:endParaRPr>
          </a:p>
          <a:p>
            <a:pPr marL="127000" marR="5080" indent="-114935" algn="just">
              <a:lnSpc>
                <a:spcPts val="1730"/>
              </a:lnSpc>
              <a:spcBef>
                <a:spcPts val="500"/>
              </a:spcBef>
            </a:pPr>
            <a:r>
              <a:rPr sz="1600" dirty="0">
                <a:latin typeface="Times New Roman" panose="02020603050405020304"/>
                <a:cs typeface="Times New Roman" panose="02020603050405020304"/>
              </a:rPr>
              <a:t></a:t>
            </a:r>
            <a:r>
              <a:rPr sz="1600" dirty="0">
                <a:latin typeface="Calibri" panose="020F0502020204030204"/>
                <a:cs typeface="Calibri" panose="020F0502020204030204"/>
              </a:rPr>
              <a:t>The</a:t>
            </a:r>
            <a:r>
              <a:rPr sz="1600" spc="34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solidFill>
                  <a:srgbClr val="702FA0"/>
                </a:solidFill>
                <a:latin typeface="Calibri" panose="020F0502020204030204"/>
                <a:cs typeface="Calibri" panose="020F0502020204030204"/>
              </a:rPr>
              <a:t>executeQuery()</a:t>
            </a:r>
            <a:r>
              <a:rPr sz="1600" spc="355" dirty="0">
                <a:solidFill>
                  <a:srgbClr val="702FA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method</a:t>
            </a:r>
            <a:r>
              <a:rPr sz="1600" spc="37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of</a:t>
            </a:r>
            <a:r>
              <a:rPr sz="1600" spc="36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Statement</a:t>
            </a:r>
            <a:r>
              <a:rPr sz="1600" spc="36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interface</a:t>
            </a:r>
            <a:r>
              <a:rPr sz="1600" spc="35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is</a:t>
            </a:r>
            <a:r>
              <a:rPr sz="1600" spc="35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used</a:t>
            </a:r>
            <a:r>
              <a:rPr sz="1600" spc="36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spc="-25" dirty="0">
                <a:latin typeface="Calibri" panose="020F0502020204030204"/>
                <a:cs typeface="Calibri" panose="020F0502020204030204"/>
              </a:rPr>
              <a:t>to </a:t>
            </a:r>
            <a:r>
              <a:rPr sz="1600" spc="-10" dirty="0">
                <a:solidFill>
                  <a:srgbClr val="702FA0"/>
                </a:solidFill>
                <a:latin typeface="Calibri" panose="020F0502020204030204"/>
                <a:cs typeface="Calibri" panose="020F0502020204030204"/>
              </a:rPr>
              <a:t>execute</a:t>
            </a:r>
            <a:r>
              <a:rPr sz="1600" spc="5" dirty="0">
                <a:solidFill>
                  <a:srgbClr val="702FA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solidFill>
                  <a:srgbClr val="702FA0"/>
                </a:solidFill>
                <a:latin typeface="Calibri" panose="020F0502020204030204"/>
                <a:cs typeface="Calibri" panose="020F0502020204030204"/>
              </a:rPr>
              <a:t>queries</a:t>
            </a:r>
            <a:r>
              <a:rPr sz="1600" spc="20" dirty="0">
                <a:solidFill>
                  <a:srgbClr val="702FA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to</a:t>
            </a:r>
            <a:r>
              <a:rPr sz="16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the</a:t>
            </a:r>
            <a:r>
              <a:rPr sz="160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database.</a:t>
            </a:r>
            <a:r>
              <a:rPr sz="160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This</a:t>
            </a:r>
            <a:r>
              <a:rPr sz="16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method</a:t>
            </a:r>
            <a:r>
              <a:rPr sz="16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returns</a:t>
            </a:r>
            <a:r>
              <a:rPr sz="1600" spc="2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the</a:t>
            </a:r>
            <a:r>
              <a:rPr sz="16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object</a:t>
            </a:r>
            <a:r>
              <a:rPr sz="1600" spc="3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spc="-25" dirty="0">
                <a:latin typeface="Calibri" panose="020F0502020204030204"/>
                <a:cs typeface="Calibri" panose="020F0502020204030204"/>
              </a:rPr>
              <a:t>of </a:t>
            </a:r>
            <a:r>
              <a:rPr sz="1600" dirty="0">
                <a:latin typeface="Calibri" panose="020F0502020204030204"/>
                <a:cs typeface="Calibri" panose="020F0502020204030204"/>
              </a:rPr>
              <a:t>ResultSet</a:t>
            </a:r>
            <a:r>
              <a:rPr sz="16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that</a:t>
            </a:r>
            <a:r>
              <a:rPr sz="16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can</a:t>
            </a:r>
            <a:r>
              <a:rPr sz="16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be</a:t>
            </a:r>
            <a:r>
              <a:rPr sz="16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used</a:t>
            </a:r>
            <a:r>
              <a:rPr sz="16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to</a:t>
            </a:r>
            <a:r>
              <a:rPr sz="16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get</a:t>
            </a:r>
            <a:r>
              <a:rPr sz="16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all</a:t>
            </a:r>
            <a:r>
              <a:rPr sz="16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the</a:t>
            </a:r>
            <a:r>
              <a:rPr sz="16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spc="-10" dirty="0">
                <a:latin typeface="Calibri" panose="020F0502020204030204"/>
                <a:cs typeface="Calibri" panose="020F0502020204030204"/>
              </a:rPr>
              <a:t>records </a:t>
            </a:r>
            <a:r>
              <a:rPr sz="1600" dirty="0">
                <a:latin typeface="Calibri" panose="020F0502020204030204"/>
                <a:cs typeface="Calibri" panose="020F0502020204030204"/>
              </a:rPr>
              <a:t>of</a:t>
            </a:r>
            <a:r>
              <a:rPr sz="16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a</a:t>
            </a:r>
            <a:r>
              <a:rPr sz="16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spc="-10" dirty="0">
                <a:latin typeface="Calibri" panose="020F0502020204030204"/>
                <a:cs typeface="Calibri" panose="020F0502020204030204"/>
              </a:rPr>
              <a:t>table.</a:t>
            </a:r>
            <a:endParaRPr sz="1600">
              <a:latin typeface="Calibri" panose="020F0502020204030204"/>
              <a:cs typeface="Calibri" panose="020F0502020204030204"/>
            </a:endParaRPr>
          </a:p>
          <a:p>
            <a:pPr marL="127000" marR="5715" indent="-114935" algn="just">
              <a:lnSpc>
                <a:spcPts val="1730"/>
              </a:lnSpc>
              <a:spcBef>
                <a:spcPts val="485"/>
              </a:spcBef>
            </a:pPr>
            <a:r>
              <a:rPr sz="1600" dirty="0">
                <a:latin typeface="Times New Roman" panose="02020603050405020304"/>
                <a:cs typeface="Times New Roman" panose="02020603050405020304"/>
              </a:rPr>
              <a:t></a:t>
            </a:r>
            <a:r>
              <a:rPr sz="1600" dirty="0">
                <a:latin typeface="Calibri" panose="020F0502020204030204"/>
                <a:cs typeface="Calibri" panose="020F0502020204030204"/>
              </a:rPr>
              <a:t>By</a:t>
            </a:r>
            <a:r>
              <a:rPr sz="1600" spc="43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solidFill>
                  <a:srgbClr val="702FA0"/>
                </a:solidFill>
                <a:latin typeface="Calibri" panose="020F0502020204030204"/>
                <a:cs typeface="Calibri" panose="020F0502020204030204"/>
              </a:rPr>
              <a:t>closing</a:t>
            </a:r>
            <a:r>
              <a:rPr sz="1600" spc="445" dirty="0">
                <a:solidFill>
                  <a:srgbClr val="702FA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solidFill>
                  <a:srgbClr val="702FA0"/>
                </a:solidFill>
                <a:latin typeface="Calibri" panose="020F0502020204030204"/>
                <a:cs typeface="Calibri" panose="020F0502020204030204"/>
              </a:rPr>
              <a:t>connection</a:t>
            </a:r>
            <a:r>
              <a:rPr sz="1600" spc="434" dirty="0">
                <a:solidFill>
                  <a:srgbClr val="702FA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object</a:t>
            </a:r>
            <a:r>
              <a:rPr sz="1600" spc="42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statement</a:t>
            </a:r>
            <a:r>
              <a:rPr sz="1600" spc="434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and</a:t>
            </a:r>
            <a:r>
              <a:rPr sz="1600" spc="42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ResultSet</a:t>
            </a:r>
            <a:r>
              <a:rPr sz="1600" spc="42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will</a:t>
            </a:r>
            <a:r>
              <a:rPr sz="1600" spc="44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spc="-25" dirty="0">
                <a:latin typeface="Calibri" panose="020F0502020204030204"/>
                <a:cs typeface="Calibri" panose="020F0502020204030204"/>
              </a:rPr>
              <a:t>be </a:t>
            </a:r>
            <a:r>
              <a:rPr sz="1600" dirty="0">
                <a:latin typeface="Calibri" panose="020F0502020204030204"/>
                <a:cs typeface="Calibri" panose="020F0502020204030204"/>
              </a:rPr>
              <a:t>closed</a:t>
            </a:r>
            <a:r>
              <a:rPr sz="1600" spc="-10" dirty="0">
                <a:latin typeface="Calibri" panose="020F0502020204030204"/>
                <a:cs typeface="Calibri" panose="020F0502020204030204"/>
              </a:rPr>
              <a:t> automatically.</a:t>
            </a:r>
            <a:r>
              <a:rPr sz="16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The </a:t>
            </a:r>
            <a:r>
              <a:rPr sz="1600" dirty="0">
                <a:solidFill>
                  <a:srgbClr val="702FA0"/>
                </a:solidFill>
                <a:latin typeface="Calibri" panose="020F0502020204030204"/>
                <a:cs typeface="Calibri" panose="020F0502020204030204"/>
              </a:rPr>
              <a:t>close()</a:t>
            </a:r>
            <a:r>
              <a:rPr sz="1600" spc="10" dirty="0">
                <a:solidFill>
                  <a:srgbClr val="702FA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method</a:t>
            </a:r>
            <a:r>
              <a:rPr sz="1600" spc="2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of</a:t>
            </a:r>
            <a:r>
              <a:rPr sz="16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Connection</a:t>
            </a:r>
            <a:r>
              <a:rPr sz="16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interface</a:t>
            </a:r>
            <a:r>
              <a:rPr sz="16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spc="-25" dirty="0">
                <a:latin typeface="Calibri" panose="020F0502020204030204"/>
                <a:cs typeface="Calibri" panose="020F0502020204030204"/>
              </a:rPr>
              <a:t>is </a:t>
            </a:r>
            <a:r>
              <a:rPr sz="1600" dirty="0">
                <a:latin typeface="Calibri" panose="020F0502020204030204"/>
                <a:cs typeface="Calibri" panose="020F0502020204030204"/>
              </a:rPr>
              <a:t>used</a:t>
            </a:r>
            <a:r>
              <a:rPr sz="16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to</a:t>
            </a:r>
            <a:r>
              <a:rPr sz="16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close</a:t>
            </a:r>
            <a:r>
              <a:rPr sz="16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the</a:t>
            </a:r>
            <a:r>
              <a:rPr sz="16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spc="-10" dirty="0">
                <a:latin typeface="Calibri" panose="020F0502020204030204"/>
                <a:cs typeface="Calibri" panose="020F0502020204030204"/>
              </a:rPr>
              <a:t>connection.</a:t>
            </a:r>
            <a:endParaRPr sz="16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151111" y="3203000"/>
            <a:ext cx="1468120" cy="1358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endParaRPr sz="800" spc="-10" dirty="0">
              <a:solidFill>
                <a:srgbClr val="702FA0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418565" y="3221210"/>
            <a:ext cx="64135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spc="-50" dirty="0">
                <a:solidFill>
                  <a:srgbClr val="898989"/>
                </a:solidFill>
                <a:latin typeface="Calibri" panose="020F0502020204030204"/>
                <a:cs typeface="Calibri" panose="020F0502020204030204"/>
              </a:rPr>
              <a:t>6</a:t>
            </a:r>
            <a:endParaRPr sz="6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838200" y="0"/>
            <a:ext cx="6094730" cy="3442970"/>
            <a:chOff x="838200" y="0"/>
            <a:chExt cx="6094730" cy="3442970"/>
          </a:xfrm>
        </p:grpSpPr>
        <p:sp>
          <p:nvSpPr>
            <p:cNvPr id="11" name="object 11"/>
            <p:cNvSpPr/>
            <p:nvPr/>
          </p:nvSpPr>
          <p:spPr>
            <a:xfrm>
              <a:off x="844295" y="21335"/>
              <a:ext cx="6082665" cy="3415665"/>
            </a:xfrm>
            <a:custGeom>
              <a:avLst/>
              <a:gdLst/>
              <a:ahLst/>
              <a:cxnLst/>
              <a:rect l="l" t="t" r="r" b="b"/>
              <a:pathLst>
                <a:path w="6082665" h="3415665">
                  <a:moveTo>
                    <a:pt x="6082284" y="0"/>
                  </a:moveTo>
                  <a:lnTo>
                    <a:pt x="0" y="0"/>
                  </a:lnTo>
                  <a:lnTo>
                    <a:pt x="0" y="3415283"/>
                  </a:lnTo>
                  <a:lnTo>
                    <a:pt x="6082284" y="3415283"/>
                  </a:lnTo>
                  <a:lnTo>
                    <a:pt x="6082284" y="0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11300" y="0"/>
              <a:ext cx="4762500" cy="19177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2000" y="158750"/>
            <a:ext cx="5791200" cy="310491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03817" y="-69850"/>
            <a:ext cx="3379055" cy="303419"/>
          </a:xfrm>
          <a:prstGeom prst="rect">
            <a:avLst/>
          </a:prstGeom>
        </p:spPr>
        <p:txBody>
          <a:bodyPr vert="horz" wrap="square" lIns="0" tIns="6797" rIns="0" bIns="0" rtlCol="0">
            <a:spAutoFit/>
          </a:bodyPr>
          <a:lstStyle/>
          <a:p>
            <a:pPr marL="6797">
              <a:spcBef>
                <a:spcPts val="54"/>
              </a:spcBef>
            </a:pPr>
            <a:r>
              <a:rPr sz="1927" spc="-5" dirty="0">
                <a:solidFill>
                  <a:srgbClr val="000000"/>
                </a:solidFill>
              </a:rPr>
              <a:t>Creating</a:t>
            </a:r>
            <a:r>
              <a:rPr sz="1927" spc="-19" dirty="0">
                <a:solidFill>
                  <a:srgbClr val="000000"/>
                </a:solidFill>
              </a:rPr>
              <a:t> </a:t>
            </a:r>
            <a:r>
              <a:rPr sz="1927" dirty="0">
                <a:solidFill>
                  <a:srgbClr val="000000"/>
                </a:solidFill>
              </a:rPr>
              <a:t>and Executing</a:t>
            </a:r>
            <a:r>
              <a:rPr sz="1927" spc="-16" dirty="0">
                <a:solidFill>
                  <a:srgbClr val="000000"/>
                </a:solidFill>
              </a:rPr>
              <a:t> </a:t>
            </a:r>
            <a:r>
              <a:rPr sz="1927" spc="3" dirty="0">
                <a:solidFill>
                  <a:srgbClr val="000000"/>
                </a:solidFill>
              </a:rPr>
              <a:t>Queries</a:t>
            </a:r>
            <a:endParaRPr sz="1927" dirty="0"/>
          </a:p>
        </p:txBody>
      </p:sp>
      <p:sp>
        <p:nvSpPr>
          <p:cNvPr id="3" name="object 3"/>
          <p:cNvSpPr txBox="1"/>
          <p:nvPr/>
        </p:nvSpPr>
        <p:spPr>
          <a:xfrm>
            <a:off x="152400" y="233569"/>
            <a:ext cx="7543800" cy="330596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wrap="square" lIns="0" tIns="6797" rIns="0" bIns="0" rtlCol="0">
            <a:spAutoFit/>
          </a:bodyPr>
          <a:lstStyle/>
          <a:p>
            <a:pPr marL="153613" marR="47579" indent="-147156" algn="l">
              <a:spcBef>
                <a:spcPts val="54"/>
              </a:spcBef>
              <a:buClr>
                <a:srgbClr val="D24717"/>
              </a:buClr>
              <a:buSzPct val="85416"/>
              <a:buFont typeface="Segoe UI Symbol"/>
              <a:buChar char="⚫"/>
              <a:tabLst>
                <a:tab pos="153613" algn="l"/>
                <a:tab pos="153953" algn="l"/>
              </a:tabLst>
            </a:pPr>
            <a:r>
              <a:rPr sz="1284" b="1" spc="-3" dirty="0">
                <a:latin typeface="Times New Roman"/>
                <a:cs typeface="Times New Roman"/>
              </a:rPr>
              <a:t>S</a:t>
            </a:r>
            <a:r>
              <a:rPr sz="1284" spc="-3" dirty="0">
                <a:latin typeface="Times New Roman"/>
                <a:cs typeface="Times New Roman"/>
              </a:rPr>
              <a:t>tructured</a:t>
            </a:r>
            <a:r>
              <a:rPr sz="1284" spc="3" dirty="0">
                <a:latin typeface="Times New Roman"/>
                <a:cs typeface="Times New Roman"/>
              </a:rPr>
              <a:t> </a:t>
            </a:r>
            <a:r>
              <a:rPr sz="1284" b="1" spc="-3" dirty="0">
                <a:latin typeface="Times New Roman"/>
                <a:cs typeface="Times New Roman"/>
              </a:rPr>
              <a:t>Q</a:t>
            </a:r>
            <a:r>
              <a:rPr sz="1284" spc="-3" dirty="0">
                <a:latin typeface="Times New Roman"/>
                <a:cs typeface="Times New Roman"/>
              </a:rPr>
              <a:t>uery</a:t>
            </a:r>
            <a:r>
              <a:rPr sz="1284" dirty="0">
                <a:latin typeface="Times New Roman"/>
                <a:cs typeface="Times New Roman"/>
              </a:rPr>
              <a:t> </a:t>
            </a:r>
            <a:r>
              <a:rPr sz="1284" b="1" spc="-5" dirty="0">
                <a:latin typeface="Times New Roman"/>
                <a:cs typeface="Times New Roman"/>
              </a:rPr>
              <a:t>L</a:t>
            </a:r>
            <a:r>
              <a:rPr sz="1284" spc="-5" dirty="0">
                <a:latin typeface="Times New Roman"/>
                <a:cs typeface="Times New Roman"/>
              </a:rPr>
              <a:t>anguage</a:t>
            </a:r>
            <a:r>
              <a:rPr sz="1284" spc="43" dirty="0">
                <a:latin typeface="Times New Roman"/>
                <a:cs typeface="Times New Roman"/>
              </a:rPr>
              <a:t> </a:t>
            </a:r>
            <a:r>
              <a:rPr sz="1284" spc="-5" dirty="0">
                <a:latin typeface="Times New Roman"/>
                <a:cs typeface="Times New Roman"/>
              </a:rPr>
              <a:t>(SQL)</a:t>
            </a:r>
            <a:r>
              <a:rPr sz="1284" spc="40" dirty="0">
                <a:latin typeface="Times New Roman"/>
                <a:cs typeface="Times New Roman"/>
              </a:rPr>
              <a:t> </a:t>
            </a:r>
            <a:r>
              <a:rPr sz="1284" dirty="0">
                <a:latin typeface="Times New Roman"/>
                <a:cs typeface="Times New Roman"/>
              </a:rPr>
              <a:t>is</a:t>
            </a:r>
            <a:r>
              <a:rPr sz="1284" spc="-5" dirty="0">
                <a:latin typeface="Times New Roman"/>
                <a:cs typeface="Times New Roman"/>
              </a:rPr>
              <a:t> </a:t>
            </a:r>
            <a:r>
              <a:rPr sz="1284" dirty="0">
                <a:latin typeface="Times New Roman"/>
                <a:cs typeface="Times New Roman"/>
              </a:rPr>
              <a:t>a</a:t>
            </a:r>
            <a:r>
              <a:rPr sz="1284" spc="13" dirty="0">
                <a:latin typeface="Times New Roman"/>
                <a:cs typeface="Times New Roman"/>
              </a:rPr>
              <a:t> </a:t>
            </a:r>
            <a:r>
              <a:rPr sz="1284" spc="-3" dirty="0">
                <a:latin typeface="Times New Roman"/>
                <a:cs typeface="Times New Roman"/>
              </a:rPr>
              <a:t>standardized</a:t>
            </a:r>
            <a:r>
              <a:rPr sz="1284" spc="-11" dirty="0">
                <a:latin typeface="Times New Roman"/>
                <a:cs typeface="Times New Roman"/>
              </a:rPr>
              <a:t> </a:t>
            </a:r>
            <a:r>
              <a:rPr sz="1284" spc="-5" dirty="0">
                <a:latin typeface="Times New Roman"/>
                <a:cs typeface="Times New Roman"/>
              </a:rPr>
              <a:t>language</a:t>
            </a:r>
            <a:r>
              <a:rPr sz="1284" spc="43" dirty="0">
                <a:latin typeface="Times New Roman"/>
                <a:cs typeface="Times New Roman"/>
              </a:rPr>
              <a:t> </a:t>
            </a:r>
            <a:r>
              <a:rPr sz="1284" spc="-3" dirty="0">
                <a:latin typeface="Times New Roman"/>
                <a:cs typeface="Times New Roman"/>
              </a:rPr>
              <a:t>that </a:t>
            </a:r>
            <a:r>
              <a:rPr sz="1284" spc="-313" dirty="0">
                <a:latin typeface="Times New Roman"/>
                <a:cs typeface="Times New Roman"/>
              </a:rPr>
              <a:t> </a:t>
            </a:r>
            <a:r>
              <a:rPr sz="1284" spc="-3" dirty="0">
                <a:latin typeface="Times New Roman"/>
                <a:cs typeface="Times New Roman"/>
              </a:rPr>
              <a:t>allows </a:t>
            </a:r>
            <a:r>
              <a:rPr sz="1284" spc="-13" dirty="0">
                <a:latin typeface="Times New Roman"/>
                <a:cs typeface="Times New Roman"/>
              </a:rPr>
              <a:t>you</a:t>
            </a:r>
            <a:r>
              <a:rPr sz="1284" spc="35" dirty="0">
                <a:latin typeface="Times New Roman"/>
                <a:cs typeface="Times New Roman"/>
              </a:rPr>
              <a:t> </a:t>
            </a:r>
            <a:r>
              <a:rPr sz="1284" dirty="0">
                <a:latin typeface="Times New Roman"/>
                <a:cs typeface="Times New Roman"/>
              </a:rPr>
              <a:t>to </a:t>
            </a:r>
            <a:r>
              <a:rPr sz="1284" spc="-3" dirty="0">
                <a:latin typeface="Times New Roman"/>
                <a:cs typeface="Times New Roman"/>
              </a:rPr>
              <a:t>perform</a:t>
            </a:r>
            <a:r>
              <a:rPr sz="1284" dirty="0">
                <a:latin typeface="Times New Roman"/>
                <a:cs typeface="Times New Roman"/>
              </a:rPr>
              <a:t> </a:t>
            </a:r>
            <a:r>
              <a:rPr sz="1284" spc="-3" dirty="0">
                <a:latin typeface="Times New Roman"/>
                <a:cs typeface="Times New Roman"/>
              </a:rPr>
              <a:t>operations</a:t>
            </a:r>
            <a:r>
              <a:rPr sz="1284" spc="11" dirty="0">
                <a:latin typeface="Times New Roman"/>
                <a:cs typeface="Times New Roman"/>
              </a:rPr>
              <a:t> </a:t>
            </a:r>
            <a:r>
              <a:rPr sz="1284" dirty="0">
                <a:latin typeface="Times New Roman"/>
                <a:cs typeface="Times New Roman"/>
              </a:rPr>
              <a:t>on a</a:t>
            </a:r>
            <a:r>
              <a:rPr sz="1284" spc="-5" dirty="0">
                <a:latin typeface="Times New Roman"/>
                <a:cs typeface="Times New Roman"/>
              </a:rPr>
              <a:t> </a:t>
            </a:r>
            <a:r>
              <a:rPr sz="1284" spc="-3" dirty="0">
                <a:latin typeface="Times New Roman"/>
                <a:cs typeface="Times New Roman"/>
              </a:rPr>
              <a:t>database,</a:t>
            </a:r>
            <a:r>
              <a:rPr sz="1284" spc="11" dirty="0">
                <a:latin typeface="Times New Roman"/>
                <a:cs typeface="Times New Roman"/>
              </a:rPr>
              <a:t> </a:t>
            </a:r>
            <a:r>
              <a:rPr sz="1284" spc="-3" dirty="0">
                <a:latin typeface="Times New Roman"/>
                <a:cs typeface="Times New Roman"/>
              </a:rPr>
              <a:t>such</a:t>
            </a:r>
            <a:r>
              <a:rPr sz="1284" dirty="0">
                <a:latin typeface="Times New Roman"/>
                <a:cs typeface="Times New Roman"/>
              </a:rPr>
              <a:t> </a:t>
            </a:r>
            <a:r>
              <a:rPr sz="1284" spc="-5" dirty="0">
                <a:latin typeface="Times New Roman"/>
                <a:cs typeface="Times New Roman"/>
              </a:rPr>
              <a:t>as</a:t>
            </a:r>
            <a:r>
              <a:rPr sz="1284" spc="-3" dirty="0">
                <a:latin typeface="Times New Roman"/>
                <a:cs typeface="Times New Roman"/>
              </a:rPr>
              <a:t> creating </a:t>
            </a:r>
            <a:r>
              <a:rPr sz="1284" dirty="0">
                <a:latin typeface="Times New Roman"/>
                <a:cs typeface="Times New Roman"/>
              </a:rPr>
              <a:t> </a:t>
            </a:r>
            <a:r>
              <a:rPr sz="1284" spc="-3" dirty="0">
                <a:latin typeface="Times New Roman"/>
                <a:cs typeface="Times New Roman"/>
              </a:rPr>
              <a:t>entries,</a:t>
            </a:r>
            <a:r>
              <a:rPr sz="1284" spc="3" dirty="0">
                <a:latin typeface="Times New Roman"/>
                <a:cs typeface="Times New Roman"/>
              </a:rPr>
              <a:t> </a:t>
            </a:r>
            <a:r>
              <a:rPr sz="1284" spc="-3" dirty="0">
                <a:latin typeface="Times New Roman"/>
                <a:cs typeface="Times New Roman"/>
              </a:rPr>
              <a:t>reading</a:t>
            </a:r>
            <a:r>
              <a:rPr sz="1284" spc="13" dirty="0">
                <a:latin typeface="Times New Roman"/>
                <a:cs typeface="Times New Roman"/>
              </a:rPr>
              <a:t> </a:t>
            </a:r>
            <a:r>
              <a:rPr sz="1284" spc="-3" dirty="0">
                <a:latin typeface="Times New Roman"/>
                <a:cs typeface="Times New Roman"/>
              </a:rPr>
              <a:t>content,</a:t>
            </a:r>
            <a:r>
              <a:rPr sz="1284" spc="-11" dirty="0">
                <a:latin typeface="Times New Roman"/>
                <a:cs typeface="Times New Roman"/>
              </a:rPr>
              <a:t> </a:t>
            </a:r>
            <a:r>
              <a:rPr sz="1284" spc="-3" dirty="0">
                <a:latin typeface="Times New Roman"/>
                <a:cs typeface="Times New Roman"/>
              </a:rPr>
              <a:t>updating</a:t>
            </a:r>
            <a:r>
              <a:rPr sz="1284" spc="3" dirty="0">
                <a:latin typeface="Times New Roman"/>
                <a:cs typeface="Times New Roman"/>
              </a:rPr>
              <a:t> </a:t>
            </a:r>
            <a:r>
              <a:rPr sz="1284" spc="-3" dirty="0">
                <a:latin typeface="Times New Roman"/>
                <a:cs typeface="Times New Roman"/>
              </a:rPr>
              <a:t>content,</a:t>
            </a:r>
            <a:r>
              <a:rPr sz="1284" spc="3" dirty="0">
                <a:latin typeface="Times New Roman"/>
                <a:cs typeface="Times New Roman"/>
              </a:rPr>
              <a:t> </a:t>
            </a:r>
            <a:r>
              <a:rPr sz="1284" spc="-3" dirty="0">
                <a:latin typeface="Times New Roman"/>
                <a:cs typeface="Times New Roman"/>
              </a:rPr>
              <a:t>and</a:t>
            </a:r>
            <a:r>
              <a:rPr sz="1284" spc="3" dirty="0">
                <a:latin typeface="Times New Roman"/>
                <a:cs typeface="Times New Roman"/>
              </a:rPr>
              <a:t> </a:t>
            </a:r>
            <a:r>
              <a:rPr sz="1284" spc="-3" dirty="0">
                <a:latin typeface="Times New Roman"/>
                <a:cs typeface="Times New Roman"/>
              </a:rPr>
              <a:t>deleting</a:t>
            </a:r>
            <a:r>
              <a:rPr sz="1284" spc="-8" dirty="0">
                <a:latin typeface="Times New Roman"/>
                <a:cs typeface="Times New Roman"/>
              </a:rPr>
              <a:t> </a:t>
            </a:r>
            <a:r>
              <a:rPr sz="1284" spc="-3" dirty="0">
                <a:latin typeface="Times New Roman"/>
                <a:cs typeface="Times New Roman"/>
              </a:rPr>
              <a:t>entries.</a:t>
            </a:r>
            <a:endParaRPr sz="1284" dirty="0">
              <a:latin typeface="Times New Roman"/>
              <a:cs typeface="Times New Roman"/>
            </a:endParaRPr>
          </a:p>
          <a:p>
            <a:pPr marL="153613" marR="2719" indent="-147156" algn="l">
              <a:spcBef>
                <a:spcPts val="324"/>
              </a:spcBef>
              <a:buClr>
                <a:srgbClr val="D24717"/>
              </a:buClr>
              <a:buSzPct val="85416"/>
              <a:buFont typeface="Segoe UI Symbol"/>
              <a:buChar char="⚫"/>
              <a:tabLst>
                <a:tab pos="153613" algn="l"/>
                <a:tab pos="153953" algn="l"/>
              </a:tabLst>
            </a:pPr>
            <a:r>
              <a:rPr sz="1284" dirty="0">
                <a:latin typeface="Times New Roman"/>
                <a:cs typeface="Times New Roman"/>
              </a:rPr>
              <a:t>SQL</a:t>
            </a:r>
            <a:r>
              <a:rPr sz="1284" spc="-59" dirty="0">
                <a:latin typeface="Times New Roman"/>
                <a:cs typeface="Times New Roman"/>
              </a:rPr>
              <a:t> </a:t>
            </a:r>
            <a:r>
              <a:rPr sz="1284" spc="-3" dirty="0">
                <a:latin typeface="Times New Roman"/>
                <a:cs typeface="Times New Roman"/>
              </a:rPr>
              <a:t>is</a:t>
            </a:r>
            <a:r>
              <a:rPr sz="1284" spc="3" dirty="0">
                <a:latin typeface="Times New Roman"/>
                <a:cs typeface="Times New Roman"/>
              </a:rPr>
              <a:t> </a:t>
            </a:r>
            <a:r>
              <a:rPr sz="1284" spc="-3" dirty="0">
                <a:latin typeface="Times New Roman"/>
                <a:cs typeface="Times New Roman"/>
              </a:rPr>
              <a:t>supported</a:t>
            </a:r>
            <a:r>
              <a:rPr sz="1284" spc="3" dirty="0">
                <a:latin typeface="Times New Roman"/>
                <a:cs typeface="Times New Roman"/>
              </a:rPr>
              <a:t> </a:t>
            </a:r>
            <a:r>
              <a:rPr sz="1284" dirty="0">
                <a:latin typeface="Times New Roman"/>
                <a:cs typeface="Times New Roman"/>
              </a:rPr>
              <a:t>by</a:t>
            </a:r>
            <a:r>
              <a:rPr sz="1284" spc="-3" dirty="0">
                <a:latin typeface="Times New Roman"/>
                <a:cs typeface="Times New Roman"/>
              </a:rPr>
              <a:t> almost</a:t>
            </a:r>
            <a:r>
              <a:rPr sz="1284" spc="-8" dirty="0">
                <a:latin typeface="Times New Roman"/>
                <a:cs typeface="Times New Roman"/>
              </a:rPr>
              <a:t> </a:t>
            </a:r>
            <a:r>
              <a:rPr sz="1284" spc="-3" dirty="0">
                <a:latin typeface="Times New Roman"/>
                <a:cs typeface="Times New Roman"/>
              </a:rPr>
              <a:t>any</a:t>
            </a:r>
            <a:r>
              <a:rPr sz="1284" spc="13" dirty="0">
                <a:latin typeface="Times New Roman"/>
                <a:cs typeface="Times New Roman"/>
              </a:rPr>
              <a:t> </a:t>
            </a:r>
            <a:r>
              <a:rPr sz="1284" spc="-3" dirty="0">
                <a:latin typeface="Times New Roman"/>
                <a:cs typeface="Times New Roman"/>
              </a:rPr>
              <a:t>database</a:t>
            </a:r>
            <a:r>
              <a:rPr sz="1284" spc="-5" dirty="0">
                <a:latin typeface="Times New Roman"/>
                <a:cs typeface="Times New Roman"/>
              </a:rPr>
              <a:t> </a:t>
            </a:r>
            <a:r>
              <a:rPr sz="1284" dirty="0">
                <a:latin typeface="Times New Roman"/>
                <a:cs typeface="Times New Roman"/>
              </a:rPr>
              <a:t>that</a:t>
            </a:r>
            <a:r>
              <a:rPr sz="1284" spc="3" dirty="0">
                <a:latin typeface="Times New Roman"/>
                <a:cs typeface="Times New Roman"/>
              </a:rPr>
              <a:t> </a:t>
            </a:r>
            <a:r>
              <a:rPr sz="1284" spc="-3" dirty="0">
                <a:latin typeface="Times New Roman"/>
                <a:cs typeface="Times New Roman"/>
              </a:rPr>
              <a:t>is</a:t>
            </a:r>
            <a:r>
              <a:rPr sz="1284" spc="5" dirty="0">
                <a:latin typeface="Times New Roman"/>
                <a:cs typeface="Times New Roman"/>
              </a:rPr>
              <a:t> </a:t>
            </a:r>
            <a:r>
              <a:rPr sz="1284" spc="-3" dirty="0">
                <a:latin typeface="Times New Roman"/>
                <a:cs typeface="Times New Roman"/>
              </a:rPr>
              <a:t>used,</a:t>
            </a:r>
            <a:r>
              <a:rPr sz="1284" spc="3" dirty="0">
                <a:latin typeface="Times New Roman"/>
                <a:cs typeface="Times New Roman"/>
              </a:rPr>
              <a:t> </a:t>
            </a:r>
            <a:r>
              <a:rPr sz="1284" spc="-3" dirty="0">
                <a:latin typeface="Times New Roman"/>
                <a:cs typeface="Times New Roman"/>
              </a:rPr>
              <a:t>and</a:t>
            </a:r>
            <a:r>
              <a:rPr sz="1284" spc="3" dirty="0">
                <a:latin typeface="Times New Roman"/>
                <a:cs typeface="Times New Roman"/>
              </a:rPr>
              <a:t> </a:t>
            </a:r>
            <a:r>
              <a:rPr sz="1284" dirty="0">
                <a:latin typeface="Times New Roman"/>
                <a:cs typeface="Times New Roman"/>
              </a:rPr>
              <a:t>it</a:t>
            </a:r>
            <a:r>
              <a:rPr sz="1284" spc="-8" dirty="0">
                <a:latin typeface="Times New Roman"/>
                <a:cs typeface="Times New Roman"/>
              </a:rPr>
              <a:t> </a:t>
            </a:r>
            <a:r>
              <a:rPr sz="1284" spc="-3" dirty="0">
                <a:latin typeface="Times New Roman"/>
                <a:cs typeface="Times New Roman"/>
              </a:rPr>
              <a:t>allows </a:t>
            </a:r>
            <a:r>
              <a:rPr sz="1284" spc="-313" dirty="0">
                <a:latin typeface="Times New Roman"/>
                <a:cs typeface="Times New Roman"/>
              </a:rPr>
              <a:t> </a:t>
            </a:r>
            <a:r>
              <a:rPr sz="1284" dirty="0">
                <a:latin typeface="Times New Roman"/>
                <a:cs typeface="Times New Roman"/>
              </a:rPr>
              <a:t>to </a:t>
            </a:r>
            <a:r>
              <a:rPr sz="1284" spc="-3" dirty="0">
                <a:latin typeface="Times New Roman"/>
                <a:cs typeface="Times New Roman"/>
              </a:rPr>
              <a:t>write</a:t>
            </a:r>
            <a:r>
              <a:rPr sz="1284" spc="-5" dirty="0">
                <a:latin typeface="Times New Roman"/>
                <a:cs typeface="Times New Roman"/>
              </a:rPr>
              <a:t> </a:t>
            </a:r>
            <a:r>
              <a:rPr sz="1284" spc="-3" dirty="0">
                <a:latin typeface="Times New Roman"/>
                <a:cs typeface="Times New Roman"/>
              </a:rPr>
              <a:t>database</a:t>
            </a:r>
            <a:r>
              <a:rPr sz="1284" spc="5" dirty="0">
                <a:latin typeface="Times New Roman"/>
                <a:cs typeface="Times New Roman"/>
              </a:rPr>
              <a:t> </a:t>
            </a:r>
            <a:r>
              <a:rPr sz="1284" spc="-3" dirty="0">
                <a:latin typeface="Times New Roman"/>
                <a:cs typeface="Times New Roman"/>
              </a:rPr>
              <a:t>code</a:t>
            </a:r>
            <a:r>
              <a:rPr sz="1284" spc="-5" dirty="0">
                <a:latin typeface="Times New Roman"/>
                <a:cs typeface="Times New Roman"/>
              </a:rPr>
              <a:t> </a:t>
            </a:r>
            <a:r>
              <a:rPr sz="1284" spc="-3" dirty="0">
                <a:latin typeface="Times New Roman"/>
                <a:cs typeface="Times New Roman"/>
              </a:rPr>
              <a:t>independently</a:t>
            </a:r>
            <a:r>
              <a:rPr sz="1284" dirty="0">
                <a:latin typeface="Times New Roman"/>
                <a:cs typeface="Times New Roman"/>
              </a:rPr>
              <a:t> of</a:t>
            </a:r>
            <a:r>
              <a:rPr sz="1284" spc="-5" dirty="0">
                <a:latin typeface="Times New Roman"/>
                <a:cs typeface="Times New Roman"/>
              </a:rPr>
              <a:t> </a:t>
            </a:r>
            <a:r>
              <a:rPr sz="1284" dirty="0">
                <a:latin typeface="Times New Roman"/>
                <a:cs typeface="Times New Roman"/>
              </a:rPr>
              <a:t>the</a:t>
            </a:r>
            <a:r>
              <a:rPr sz="1284" spc="-5" dirty="0">
                <a:latin typeface="Times New Roman"/>
                <a:cs typeface="Times New Roman"/>
              </a:rPr>
              <a:t> underlying</a:t>
            </a:r>
            <a:r>
              <a:rPr sz="1284" spc="40" dirty="0">
                <a:latin typeface="Times New Roman"/>
                <a:cs typeface="Times New Roman"/>
              </a:rPr>
              <a:t> </a:t>
            </a:r>
            <a:r>
              <a:rPr sz="1284" spc="-3" dirty="0">
                <a:latin typeface="Times New Roman"/>
                <a:cs typeface="Times New Roman"/>
              </a:rPr>
              <a:t>database.</a:t>
            </a:r>
            <a:endParaRPr sz="1284" dirty="0">
              <a:latin typeface="Times New Roman"/>
              <a:cs typeface="Times New Roman"/>
            </a:endParaRPr>
          </a:p>
          <a:p>
            <a:pPr marL="153613" indent="-147156" algn="l">
              <a:spcBef>
                <a:spcPts val="324"/>
              </a:spcBef>
              <a:buClr>
                <a:srgbClr val="D24717"/>
              </a:buClr>
              <a:buSzPct val="85416"/>
              <a:buFont typeface="Segoe UI Symbol"/>
              <a:buChar char="⚫"/>
              <a:tabLst>
                <a:tab pos="153613" algn="l"/>
                <a:tab pos="153953" algn="l"/>
              </a:tabLst>
            </a:pPr>
            <a:r>
              <a:rPr sz="1284" b="1" spc="-8" dirty="0">
                <a:latin typeface="Times New Roman"/>
                <a:cs typeface="Times New Roman"/>
              </a:rPr>
              <a:t>Create</a:t>
            </a:r>
            <a:r>
              <a:rPr sz="1284" b="1" spc="3" dirty="0">
                <a:latin typeface="Times New Roman"/>
                <a:cs typeface="Times New Roman"/>
              </a:rPr>
              <a:t> </a:t>
            </a:r>
            <a:r>
              <a:rPr sz="1284" b="1" spc="-3" dirty="0">
                <a:latin typeface="Times New Roman"/>
                <a:cs typeface="Times New Roman"/>
              </a:rPr>
              <a:t>Database</a:t>
            </a:r>
            <a:endParaRPr sz="1284" dirty="0">
              <a:latin typeface="Times New Roman"/>
              <a:cs typeface="Times New Roman"/>
            </a:endParaRPr>
          </a:p>
          <a:p>
            <a:pPr marL="153613" algn="l">
              <a:spcBef>
                <a:spcPts val="321"/>
              </a:spcBef>
            </a:pPr>
            <a:r>
              <a:rPr sz="1284" b="1" dirty="0">
                <a:solidFill>
                  <a:schemeClr val="tx1"/>
                </a:solidFill>
                <a:latin typeface="Times New Roman"/>
                <a:cs typeface="Times New Roman"/>
              </a:rPr>
              <a:t>Syntax</a:t>
            </a:r>
            <a:endParaRPr lang="en-US" sz="1284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R="2212097" algn="l">
              <a:spcBef>
                <a:spcPts val="219"/>
              </a:spcBef>
            </a:pPr>
            <a:r>
              <a:rPr lang="en-US" sz="1284" b="1" spc="-136" dirty="0">
                <a:solidFill>
                  <a:srgbClr val="FF0000"/>
                </a:solidFill>
                <a:latin typeface="Times New Roman"/>
                <a:cs typeface="Times New Roman"/>
              </a:rPr>
              <a:t>C</a:t>
            </a:r>
            <a:r>
              <a:rPr lang="en-US" sz="1284" b="1" spc="-83" dirty="0">
                <a:solidFill>
                  <a:srgbClr val="FF0000"/>
                </a:solidFill>
                <a:latin typeface="Times New Roman"/>
                <a:cs typeface="Times New Roman"/>
              </a:rPr>
              <a:t>R</a:t>
            </a:r>
            <a:r>
              <a:rPr lang="en-US" sz="1284" b="1" spc="-203" dirty="0">
                <a:solidFill>
                  <a:srgbClr val="FF0000"/>
                </a:solidFill>
                <a:latin typeface="Times New Roman"/>
                <a:cs typeface="Times New Roman"/>
              </a:rPr>
              <a:t>E</a:t>
            </a:r>
            <a:r>
              <a:rPr lang="en-US" sz="1284" b="1" spc="-174" dirty="0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lang="en-US" sz="1284" b="1" spc="-139" dirty="0">
                <a:solidFill>
                  <a:srgbClr val="FF0000"/>
                </a:solidFill>
                <a:latin typeface="Times New Roman"/>
                <a:cs typeface="Times New Roman"/>
              </a:rPr>
              <a:t>T</a:t>
            </a:r>
            <a:r>
              <a:rPr lang="en-US" sz="1284" b="1" spc="-203" dirty="0">
                <a:solidFill>
                  <a:srgbClr val="FF0000"/>
                </a:solidFill>
                <a:latin typeface="Times New Roman"/>
                <a:cs typeface="Times New Roman"/>
              </a:rPr>
              <a:t>E</a:t>
            </a:r>
            <a:r>
              <a:rPr lang="en-US" sz="1284" b="1" spc="-48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lang="en-US" sz="1284" b="1" spc="-96" dirty="0">
                <a:solidFill>
                  <a:srgbClr val="FF0000"/>
                </a:solidFill>
                <a:latin typeface="Times New Roman"/>
                <a:cs typeface="Times New Roman"/>
              </a:rPr>
              <a:t>D</a:t>
            </a:r>
            <a:r>
              <a:rPr lang="en-US" sz="1284" b="1" spc="-174" dirty="0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lang="en-US" sz="1284" b="1" spc="-241" dirty="0">
                <a:solidFill>
                  <a:srgbClr val="FF0000"/>
                </a:solidFill>
                <a:latin typeface="Times New Roman"/>
                <a:cs typeface="Times New Roman"/>
              </a:rPr>
              <a:t>T</a:t>
            </a:r>
            <a:r>
              <a:rPr lang="en-US" sz="1284" b="1" spc="-72" dirty="0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lang="en-US" sz="1284" b="1" spc="-61" dirty="0">
                <a:solidFill>
                  <a:srgbClr val="FF0000"/>
                </a:solidFill>
                <a:latin typeface="Times New Roman"/>
                <a:cs typeface="Times New Roman"/>
              </a:rPr>
              <a:t>B</a:t>
            </a:r>
            <a:r>
              <a:rPr lang="en-US" sz="1284" b="1" spc="-112" dirty="0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lang="en-US" sz="1284" b="1" spc="-83" dirty="0">
                <a:solidFill>
                  <a:srgbClr val="FF0000"/>
                </a:solidFill>
                <a:latin typeface="Times New Roman"/>
                <a:cs typeface="Times New Roman"/>
              </a:rPr>
              <a:t>S</a:t>
            </a:r>
            <a:r>
              <a:rPr lang="en-US" sz="1284" b="1" spc="-203" dirty="0">
                <a:solidFill>
                  <a:srgbClr val="FF0000"/>
                </a:solidFill>
                <a:latin typeface="Times New Roman"/>
                <a:cs typeface="Times New Roman"/>
              </a:rPr>
              <a:t>E</a:t>
            </a:r>
            <a:r>
              <a:rPr lang="en-US" sz="1284" b="1" spc="-48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lang="en-US" sz="1284" i="1" spc="-131" dirty="0" err="1">
                <a:latin typeface="Times New Roman"/>
                <a:cs typeface="Times New Roman"/>
              </a:rPr>
              <a:t>d</a:t>
            </a:r>
            <a:r>
              <a:rPr lang="en-US" sz="1284" i="1" spc="-142" dirty="0" err="1">
                <a:latin typeface="Times New Roman"/>
                <a:cs typeface="Times New Roman"/>
              </a:rPr>
              <a:t>a</a:t>
            </a:r>
            <a:r>
              <a:rPr lang="en-US" sz="1284" i="1" spc="-56" dirty="0" err="1">
                <a:latin typeface="Times New Roman"/>
                <a:cs typeface="Times New Roman"/>
              </a:rPr>
              <a:t>t</a:t>
            </a:r>
            <a:r>
              <a:rPr lang="en-US" sz="1284" i="1" spc="-99" dirty="0" err="1">
                <a:latin typeface="Times New Roman"/>
                <a:cs typeface="Times New Roman"/>
              </a:rPr>
              <a:t>a</a:t>
            </a:r>
            <a:r>
              <a:rPr lang="en-US" sz="1284" i="1" spc="-171" dirty="0" err="1">
                <a:latin typeface="Times New Roman"/>
                <a:cs typeface="Times New Roman"/>
              </a:rPr>
              <a:t>b</a:t>
            </a:r>
            <a:r>
              <a:rPr lang="en-US" sz="1284" i="1" spc="-131" dirty="0" err="1">
                <a:latin typeface="Times New Roman"/>
                <a:cs typeface="Times New Roman"/>
              </a:rPr>
              <a:t>a</a:t>
            </a:r>
            <a:r>
              <a:rPr lang="en-US" sz="1284" i="1" spc="-163" dirty="0" err="1">
                <a:latin typeface="Times New Roman"/>
                <a:cs typeface="Times New Roman"/>
              </a:rPr>
              <a:t>s</a:t>
            </a:r>
            <a:r>
              <a:rPr lang="en-US" sz="1284" i="1" spc="-190" dirty="0" err="1">
                <a:latin typeface="Times New Roman"/>
                <a:cs typeface="Times New Roman"/>
              </a:rPr>
              <a:t>e</a:t>
            </a:r>
            <a:r>
              <a:rPr lang="en-US" sz="1284" i="1" spc="-120" dirty="0" err="1">
                <a:latin typeface="Times New Roman"/>
                <a:cs typeface="Times New Roman"/>
              </a:rPr>
              <a:t>n</a:t>
            </a:r>
            <a:r>
              <a:rPr lang="en-US" sz="1284" i="1" spc="-115" dirty="0" err="1">
                <a:latin typeface="Times New Roman"/>
                <a:cs typeface="Times New Roman"/>
              </a:rPr>
              <a:t>a</a:t>
            </a:r>
            <a:r>
              <a:rPr lang="en-US" sz="1284" i="1" spc="-201" dirty="0" err="1">
                <a:latin typeface="Times New Roman"/>
                <a:cs typeface="Times New Roman"/>
              </a:rPr>
              <a:t>m</a:t>
            </a:r>
            <a:r>
              <a:rPr lang="en-US" sz="1284" i="1" spc="-166" dirty="0" err="1">
                <a:latin typeface="Times New Roman"/>
                <a:cs typeface="Times New Roman"/>
              </a:rPr>
              <a:t>e</a:t>
            </a:r>
            <a:r>
              <a:rPr lang="en-US" sz="1284" spc="16" dirty="0">
                <a:latin typeface="Times New Roman"/>
                <a:cs typeface="Times New Roman"/>
              </a:rPr>
              <a:t>;</a:t>
            </a:r>
            <a:endParaRPr lang="en-US" sz="1284" dirty="0">
              <a:latin typeface="Times New Roman"/>
              <a:cs typeface="Times New Roman"/>
            </a:endParaRPr>
          </a:p>
          <a:p>
            <a:pPr marR="2175053" algn="l">
              <a:spcBef>
                <a:spcPts val="425"/>
              </a:spcBef>
            </a:pPr>
            <a:r>
              <a:rPr lang="en-US" sz="1284" spc="-24" dirty="0" err="1">
                <a:latin typeface="Times New Roman"/>
                <a:cs typeface="Times New Roman"/>
              </a:rPr>
              <a:t>Eg</a:t>
            </a:r>
            <a:r>
              <a:rPr lang="en-US" sz="1284" spc="-24" dirty="0">
                <a:latin typeface="Times New Roman"/>
                <a:cs typeface="Times New Roman"/>
              </a:rPr>
              <a:t>:</a:t>
            </a:r>
          </a:p>
          <a:p>
            <a:pPr marR="2175053" algn="l">
              <a:spcBef>
                <a:spcPts val="425"/>
              </a:spcBef>
            </a:pPr>
            <a:r>
              <a:rPr lang="en-US" sz="1284" spc="-24" dirty="0">
                <a:latin typeface="Times New Roman"/>
                <a:cs typeface="Times New Roman"/>
              </a:rPr>
              <a:t>     </a:t>
            </a:r>
            <a:r>
              <a:rPr sz="1284" spc="-24" dirty="0">
                <a:latin typeface="Times New Roman"/>
                <a:cs typeface="Times New Roman"/>
              </a:rPr>
              <a:t>CREATE</a:t>
            </a:r>
            <a:r>
              <a:rPr sz="1284" spc="-29" dirty="0">
                <a:latin typeface="Times New Roman"/>
                <a:cs typeface="Times New Roman"/>
              </a:rPr>
              <a:t> </a:t>
            </a:r>
            <a:r>
              <a:rPr sz="1284" spc="-32" dirty="0">
                <a:latin typeface="Times New Roman"/>
                <a:cs typeface="Times New Roman"/>
              </a:rPr>
              <a:t>DATABASE</a:t>
            </a:r>
            <a:r>
              <a:rPr sz="1284" spc="3" dirty="0">
                <a:latin typeface="Times New Roman"/>
                <a:cs typeface="Times New Roman"/>
              </a:rPr>
              <a:t> </a:t>
            </a:r>
            <a:r>
              <a:rPr sz="1284" spc="-3" dirty="0">
                <a:latin typeface="Times New Roman"/>
                <a:cs typeface="Times New Roman"/>
              </a:rPr>
              <a:t>emp;</a:t>
            </a:r>
            <a:endParaRPr sz="1284" dirty="0">
              <a:latin typeface="Times New Roman"/>
              <a:cs typeface="Times New Roman"/>
            </a:endParaRPr>
          </a:p>
          <a:p>
            <a:pPr marL="153613" marR="3336667" indent="-147156" algn="l">
              <a:lnSpc>
                <a:spcPct val="120800"/>
              </a:lnSpc>
              <a:buClr>
                <a:srgbClr val="D24717"/>
              </a:buClr>
              <a:buSzPct val="85416"/>
              <a:buFont typeface="Segoe UI Symbol"/>
              <a:buChar char="⚫"/>
              <a:tabLst>
                <a:tab pos="153613" algn="l"/>
                <a:tab pos="153953" algn="l"/>
              </a:tabLst>
            </a:pPr>
            <a:r>
              <a:rPr sz="1284" b="1" spc="-11" dirty="0">
                <a:latin typeface="Times New Roman"/>
                <a:cs typeface="Times New Roman"/>
              </a:rPr>
              <a:t>Drop </a:t>
            </a:r>
            <a:r>
              <a:rPr sz="1284" b="1" spc="-3" dirty="0">
                <a:latin typeface="Times New Roman"/>
                <a:cs typeface="Times New Roman"/>
              </a:rPr>
              <a:t>Database </a:t>
            </a:r>
            <a:endParaRPr lang="en-US" sz="1284" b="1" spc="-3" dirty="0">
              <a:latin typeface="Times New Roman"/>
              <a:cs typeface="Times New Roman"/>
            </a:endParaRPr>
          </a:p>
          <a:p>
            <a:pPr marL="6457" marR="3336667" algn="l">
              <a:lnSpc>
                <a:spcPct val="120800"/>
              </a:lnSpc>
              <a:buClr>
                <a:srgbClr val="D24717"/>
              </a:buClr>
              <a:buSzPct val="85416"/>
              <a:tabLst>
                <a:tab pos="153613" algn="l"/>
                <a:tab pos="153953" algn="l"/>
              </a:tabLst>
            </a:pPr>
            <a:r>
              <a:rPr sz="1284" b="1" spc="-313" dirty="0">
                <a:latin typeface="Times New Roman"/>
                <a:cs typeface="Times New Roman"/>
              </a:rPr>
              <a:t> </a:t>
            </a:r>
            <a:r>
              <a:rPr sz="1284" b="1" dirty="0">
                <a:solidFill>
                  <a:schemeClr val="tx1"/>
                </a:solidFill>
                <a:latin typeface="Times New Roman"/>
                <a:cs typeface="Times New Roman"/>
              </a:rPr>
              <a:t>Syntax</a:t>
            </a:r>
            <a:endParaRPr sz="1284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R="2349057" algn="l">
              <a:spcBef>
                <a:spcPts val="219"/>
              </a:spcBef>
            </a:pPr>
            <a:r>
              <a:rPr sz="1284" b="1" spc="-48" dirty="0">
                <a:solidFill>
                  <a:srgbClr val="FF0000"/>
                </a:solidFill>
                <a:latin typeface="Times New Roman"/>
                <a:cs typeface="Times New Roman"/>
              </a:rPr>
              <a:t>D</a:t>
            </a:r>
            <a:r>
              <a:rPr sz="1284" b="1" spc="-94" dirty="0">
                <a:solidFill>
                  <a:srgbClr val="FF0000"/>
                </a:solidFill>
                <a:latin typeface="Times New Roman"/>
                <a:cs typeface="Times New Roman"/>
              </a:rPr>
              <a:t>RO</a:t>
            </a:r>
            <a:r>
              <a:rPr sz="1284" b="1" spc="-72" dirty="0">
                <a:solidFill>
                  <a:srgbClr val="FF0000"/>
                </a:solidFill>
                <a:latin typeface="Times New Roman"/>
                <a:cs typeface="Times New Roman"/>
              </a:rPr>
              <a:t>P</a:t>
            </a:r>
            <a:r>
              <a:rPr sz="1284" b="1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284" b="1" spc="-96" dirty="0">
                <a:solidFill>
                  <a:srgbClr val="FF0000"/>
                </a:solidFill>
                <a:latin typeface="Times New Roman"/>
                <a:cs typeface="Times New Roman"/>
              </a:rPr>
              <a:t>D</a:t>
            </a:r>
            <a:r>
              <a:rPr sz="1284" b="1" spc="-174" dirty="0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sz="1284" b="1" spc="-241" dirty="0">
                <a:solidFill>
                  <a:srgbClr val="FF0000"/>
                </a:solidFill>
                <a:latin typeface="Times New Roman"/>
                <a:cs typeface="Times New Roman"/>
              </a:rPr>
              <a:t>T</a:t>
            </a:r>
            <a:r>
              <a:rPr sz="1284" b="1" spc="-72" dirty="0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sz="1284" b="1" spc="-61" dirty="0">
                <a:solidFill>
                  <a:srgbClr val="FF0000"/>
                </a:solidFill>
                <a:latin typeface="Times New Roman"/>
                <a:cs typeface="Times New Roman"/>
              </a:rPr>
              <a:t>B</a:t>
            </a:r>
            <a:r>
              <a:rPr sz="1284" b="1" spc="-112" dirty="0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sz="1284" b="1" spc="-83" dirty="0">
                <a:solidFill>
                  <a:srgbClr val="FF0000"/>
                </a:solidFill>
                <a:latin typeface="Times New Roman"/>
                <a:cs typeface="Times New Roman"/>
              </a:rPr>
              <a:t>S</a:t>
            </a:r>
            <a:r>
              <a:rPr sz="1284" b="1" spc="-203" dirty="0">
                <a:solidFill>
                  <a:srgbClr val="FF0000"/>
                </a:solidFill>
                <a:latin typeface="Times New Roman"/>
                <a:cs typeface="Times New Roman"/>
              </a:rPr>
              <a:t>E</a:t>
            </a:r>
            <a:r>
              <a:rPr sz="1284" b="1" spc="-51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284" i="1" spc="-131" dirty="0">
                <a:latin typeface="Times New Roman"/>
                <a:cs typeface="Times New Roman"/>
              </a:rPr>
              <a:t>d</a:t>
            </a:r>
            <a:r>
              <a:rPr sz="1284" i="1" spc="-142" dirty="0">
                <a:latin typeface="Times New Roman"/>
                <a:cs typeface="Times New Roman"/>
              </a:rPr>
              <a:t>a</a:t>
            </a:r>
            <a:r>
              <a:rPr sz="1284" i="1" spc="-56" dirty="0">
                <a:latin typeface="Times New Roman"/>
                <a:cs typeface="Times New Roman"/>
              </a:rPr>
              <a:t>t</a:t>
            </a:r>
            <a:r>
              <a:rPr sz="1284" i="1" spc="-99" dirty="0">
                <a:latin typeface="Times New Roman"/>
                <a:cs typeface="Times New Roman"/>
              </a:rPr>
              <a:t>a</a:t>
            </a:r>
            <a:r>
              <a:rPr sz="1284" i="1" spc="-171" dirty="0">
                <a:latin typeface="Times New Roman"/>
                <a:cs typeface="Times New Roman"/>
              </a:rPr>
              <a:t>b</a:t>
            </a:r>
            <a:r>
              <a:rPr sz="1284" i="1" spc="-131" dirty="0">
                <a:latin typeface="Times New Roman"/>
                <a:cs typeface="Times New Roman"/>
              </a:rPr>
              <a:t>a</a:t>
            </a:r>
            <a:r>
              <a:rPr sz="1284" i="1" spc="-163" dirty="0">
                <a:latin typeface="Times New Roman"/>
                <a:cs typeface="Times New Roman"/>
              </a:rPr>
              <a:t>s</a:t>
            </a:r>
            <a:r>
              <a:rPr sz="1284" i="1" spc="-190" dirty="0">
                <a:latin typeface="Times New Roman"/>
                <a:cs typeface="Times New Roman"/>
              </a:rPr>
              <a:t>e</a:t>
            </a:r>
            <a:r>
              <a:rPr sz="1284" i="1" spc="-120" dirty="0">
                <a:latin typeface="Times New Roman"/>
                <a:cs typeface="Times New Roman"/>
              </a:rPr>
              <a:t>n</a:t>
            </a:r>
            <a:r>
              <a:rPr sz="1284" i="1" spc="-115" dirty="0">
                <a:latin typeface="Times New Roman"/>
                <a:cs typeface="Times New Roman"/>
              </a:rPr>
              <a:t>a</a:t>
            </a:r>
            <a:r>
              <a:rPr sz="1284" i="1" spc="-182" dirty="0">
                <a:latin typeface="Times New Roman"/>
                <a:cs typeface="Times New Roman"/>
              </a:rPr>
              <a:t>me</a:t>
            </a:r>
            <a:r>
              <a:rPr sz="1284" spc="16" dirty="0">
                <a:latin typeface="Times New Roman"/>
                <a:cs typeface="Times New Roman"/>
              </a:rPr>
              <a:t>;</a:t>
            </a:r>
            <a:endParaRPr sz="1284" dirty="0">
              <a:latin typeface="Times New Roman"/>
              <a:cs typeface="Times New Roman"/>
            </a:endParaRPr>
          </a:p>
          <a:p>
            <a:pPr marR="2361292" algn="l">
              <a:spcBef>
                <a:spcPts val="425"/>
              </a:spcBef>
            </a:pPr>
            <a:r>
              <a:rPr lang="en-US" sz="1284" spc="-3" dirty="0" err="1">
                <a:latin typeface="Times New Roman"/>
                <a:cs typeface="Times New Roman"/>
              </a:rPr>
              <a:t>Eg</a:t>
            </a:r>
            <a:r>
              <a:rPr lang="en-US" sz="1284" spc="-3" dirty="0">
                <a:latin typeface="Times New Roman"/>
                <a:cs typeface="Times New Roman"/>
              </a:rPr>
              <a:t>:</a:t>
            </a:r>
          </a:p>
          <a:p>
            <a:pPr marR="2361292" algn="l">
              <a:spcBef>
                <a:spcPts val="425"/>
              </a:spcBef>
            </a:pPr>
            <a:r>
              <a:rPr sz="1284" spc="-3" dirty="0">
                <a:latin typeface="Times New Roman"/>
                <a:cs typeface="Times New Roman"/>
              </a:rPr>
              <a:t>DROP</a:t>
            </a:r>
            <a:r>
              <a:rPr sz="1284" spc="-59" dirty="0">
                <a:latin typeface="Times New Roman"/>
                <a:cs typeface="Times New Roman"/>
              </a:rPr>
              <a:t> </a:t>
            </a:r>
            <a:r>
              <a:rPr sz="1284" spc="-35" dirty="0">
                <a:latin typeface="Times New Roman"/>
                <a:cs typeface="Times New Roman"/>
              </a:rPr>
              <a:t>DATABASE</a:t>
            </a:r>
            <a:r>
              <a:rPr sz="1284" spc="11" dirty="0">
                <a:latin typeface="Times New Roman"/>
                <a:cs typeface="Times New Roman"/>
              </a:rPr>
              <a:t> </a:t>
            </a:r>
            <a:r>
              <a:rPr sz="1284" spc="-3" dirty="0">
                <a:latin typeface="Times New Roman"/>
                <a:cs typeface="Times New Roman"/>
              </a:rPr>
              <a:t>emp;</a:t>
            </a:r>
            <a:endParaRPr sz="1284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4800" y="-13999"/>
            <a:ext cx="7467600" cy="375414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wrap="square" lIns="0" tIns="6457" rIns="0" bIns="0" rtlCol="0">
            <a:spAutoFit/>
          </a:bodyPr>
          <a:lstStyle/>
          <a:p>
            <a:pPr marL="153613" marR="3557911" indent="-153613" algn="l">
              <a:lnSpc>
                <a:spcPct val="120800"/>
              </a:lnSpc>
              <a:spcBef>
                <a:spcPts val="51"/>
              </a:spcBef>
              <a:buClr>
                <a:srgbClr val="D24717"/>
              </a:buClr>
              <a:buSzPct val="85416"/>
              <a:buFont typeface="Segoe UI Symbol"/>
              <a:buChar char="⚫"/>
              <a:tabLst>
                <a:tab pos="153613" algn="l"/>
                <a:tab pos="153953" algn="l"/>
              </a:tabLst>
            </a:pPr>
            <a:r>
              <a:rPr sz="1400" b="1" spc="-8" dirty="0">
                <a:latin typeface="Times New Roman"/>
                <a:cs typeface="Times New Roman"/>
              </a:rPr>
              <a:t>Create</a:t>
            </a:r>
            <a:r>
              <a:rPr sz="1400" b="1" spc="-45" dirty="0">
                <a:latin typeface="Times New Roman"/>
                <a:cs typeface="Times New Roman"/>
              </a:rPr>
              <a:t> </a:t>
            </a:r>
            <a:r>
              <a:rPr sz="1400" b="1" spc="-24" dirty="0">
                <a:latin typeface="Times New Roman"/>
                <a:cs typeface="Times New Roman"/>
              </a:rPr>
              <a:t>Table </a:t>
            </a:r>
            <a:r>
              <a:rPr sz="1400" b="1" spc="-313" dirty="0">
                <a:latin typeface="Times New Roman"/>
                <a:cs typeface="Times New Roman"/>
              </a:rPr>
              <a:t> </a:t>
            </a:r>
            <a:endParaRPr lang="en-US" sz="1400" b="1" spc="-313" dirty="0">
              <a:latin typeface="Times New Roman"/>
              <a:cs typeface="Times New Roman"/>
            </a:endParaRPr>
          </a:p>
          <a:p>
            <a:pPr marR="3557911" algn="l">
              <a:lnSpc>
                <a:spcPct val="120800"/>
              </a:lnSpc>
              <a:spcBef>
                <a:spcPts val="51"/>
              </a:spcBef>
              <a:buClr>
                <a:srgbClr val="D24717"/>
              </a:buClr>
              <a:buSzPct val="85416"/>
              <a:tabLst>
                <a:tab pos="153613" algn="l"/>
                <a:tab pos="153953" algn="l"/>
              </a:tabLst>
            </a:pPr>
            <a:r>
              <a:rPr sz="1400" b="1" dirty="0">
                <a:solidFill>
                  <a:schemeClr val="tx1"/>
                </a:solidFill>
                <a:latin typeface="Times New Roman"/>
                <a:cs typeface="Times New Roman"/>
              </a:rPr>
              <a:t>Syntax</a:t>
            </a:r>
            <a:endParaRPr sz="1400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153613" marR="894151" algn="l">
              <a:lnSpc>
                <a:spcPct val="102600"/>
              </a:lnSpc>
              <a:spcBef>
                <a:spcPts val="142"/>
              </a:spcBef>
            </a:pPr>
            <a:r>
              <a:rPr sz="1400" b="1" spc="-136" dirty="0">
                <a:solidFill>
                  <a:srgbClr val="FF0000"/>
                </a:solidFill>
                <a:latin typeface="Times New Roman"/>
                <a:cs typeface="Times New Roman"/>
              </a:rPr>
              <a:t>C</a:t>
            </a:r>
            <a:r>
              <a:rPr sz="1400" b="1" spc="-83" dirty="0">
                <a:solidFill>
                  <a:srgbClr val="FF0000"/>
                </a:solidFill>
                <a:latin typeface="Times New Roman"/>
                <a:cs typeface="Times New Roman"/>
              </a:rPr>
              <a:t>R</a:t>
            </a:r>
            <a:r>
              <a:rPr sz="1400" b="1" spc="-203" dirty="0">
                <a:solidFill>
                  <a:srgbClr val="FF0000"/>
                </a:solidFill>
                <a:latin typeface="Times New Roman"/>
                <a:cs typeface="Times New Roman"/>
              </a:rPr>
              <a:t>E</a:t>
            </a:r>
            <a:r>
              <a:rPr sz="1400" b="1" spc="-171" dirty="0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sz="1400" b="1" spc="-139" dirty="0">
                <a:solidFill>
                  <a:srgbClr val="FF0000"/>
                </a:solidFill>
                <a:latin typeface="Times New Roman"/>
                <a:cs typeface="Times New Roman"/>
              </a:rPr>
              <a:t>T</a:t>
            </a:r>
            <a:r>
              <a:rPr sz="1400" b="1" spc="-203" dirty="0">
                <a:solidFill>
                  <a:srgbClr val="FF0000"/>
                </a:solidFill>
                <a:latin typeface="Times New Roman"/>
                <a:cs typeface="Times New Roman"/>
              </a:rPr>
              <a:t>E</a:t>
            </a:r>
            <a:r>
              <a:rPr sz="1400" b="1" spc="94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00" b="1" spc="-241">
                <a:solidFill>
                  <a:srgbClr val="FF0000"/>
                </a:solidFill>
                <a:latin typeface="Times New Roman"/>
                <a:cs typeface="Times New Roman"/>
              </a:rPr>
              <a:t>T</a:t>
            </a:r>
            <a:r>
              <a:rPr sz="1400" b="1" spc="-72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sz="1400" b="1" spc="-64">
                <a:solidFill>
                  <a:srgbClr val="FF0000"/>
                </a:solidFill>
                <a:latin typeface="Times New Roman"/>
                <a:cs typeface="Times New Roman"/>
              </a:rPr>
              <a:t>B</a:t>
            </a:r>
            <a:r>
              <a:rPr sz="1400" b="1" spc="-203">
                <a:solidFill>
                  <a:srgbClr val="FF0000"/>
                </a:solidFill>
                <a:latin typeface="Times New Roman"/>
                <a:cs typeface="Times New Roman"/>
              </a:rPr>
              <a:t>LE</a:t>
            </a:r>
            <a:r>
              <a:rPr sz="1400" b="1" spc="-48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lang="en-US" sz="1400" b="1" spc="-48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00" i="1" spc="-56">
                <a:latin typeface="Times New Roman"/>
                <a:cs typeface="Times New Roman"/>
              </a:rPr>
              <a:t>t</a:t>
            </a:r>
            <a:r>
              <a:rPr sz="1400" i="1" spc="-99">
                <a:latin typeface="Times New Roman"/>
                <a:cs typeface="Times New Roman"/>
              </a:rPr>
              <a:t>a</a:t>
            </a:r>
            <a:r>
              <a:rPr sz="1400" i="1" spc="-195">
                <a:latin typeface="Times New Roman"/>
                <a:cs typeface="Times New Roman"/>
              </a:rPr>
              <a:t>b</a:t>
            </a:r>
            <a:r>
              <a:rPr sz="1400" i="1" spc="-67">
                <a:latin typeface="Times New Roman"/>
                <a:cs typeface="Times New Roman"/>
              </a:rPr>
              <a:t>le</a:t>
            </a:r>
            <a:r>
              <a:rPr sz="1400" i="1" spc="-96" dirty="0">
                <a:latin typeface="Times New Roman"/>
                <a:cs typeface="Times New Roman"/>
              </a:rPr>
              <a:t>_</a:t>
            </a:r>
            <a:r>
              <a:rPr sz="1400" i="1" spc="-120" dirty="0">
                <a:latin typeface="Times New Roman"/>
                <a:cs typeface="Times New Roman"/>
              </a:rPr>
              <a:t>n</a:t>
            </a:r>
            <a:r>
              <a:rPr sz="1400" i="1" spc="-115" dirty="0">
                <a:latin typeface="Times New Roman"/>
                <a:cs typeface="Times New Roman"/>
              </a:rPr>
              <a:t>a</a:t>
            </a:r>
            <a:r>
              <a:rPr sz="1400" i="1" spc="-198" dirty="0">
                <a:latin typeface="Times New Roman"/>
                <a:cs typeface="Times New Roman"/>
              </a:rPr>
              <a:t>m</a:t>
            </a:r>
            <a:r>
              <a:rPr sz="1400" i="1" spc="-169" dirty="0">
                <a:latin typeface="Times New Roman"/>
                <a:cs typeface="Times New Roman"/>
              </a:rPr>
              <a:t>e</a:t>
            </a:r>
            <a:r>
              <a:rPr sz="1400" i="1" spc="-40" dirty="0">
                <a:latin typeface="Times New Roman"/>
                <a:cs typeface="Times New Roman"/>
              </a:rPr>
              <a:t> </a:t>
            </a:r>
            <a:r>
              <a:rPr sz="1400" spc="-32" dirty="0">
                <a:latin typeface="Times New Roman"/>
                <a:cs typeface="Times New Roman"/>
              </a:rPr>
              <a:t>(</a:t>
            </a:r>
            <a:r>
              <a:rPr sz="1400" i="1" spc="-169" dirty="0">
                <a:latin typeface="Times New Roman"/>
                <a:cs typeface="Times New Roman"/>
              </a:rPr>
              <a:t>c</a:t>
            </a:r>
            <a:r>
              <a:rPr sz="1400" i="1" spc="-187" dirty="0">
                <a:latin typeface="Times New Roman"/>
                <a:cs typeface="Times New Roman"/>
              </a:rPr>
              <a:t>o</a:t>
            </a:r>
            <a:r>
              <a:rPr sz="1400" i="1" spc="-104" dirty="0">
                <a:latin typeface="Times New Roman"/>
                <a:cs typeface="Times New Roman"/>
              </a:rPr>
              <a:t>lumn</a:t>
            </a:r>
            <a:r>
              <a:rPr sz="1400" i="1" spc="-102" dirty="0">
                <a:latin typeface="Times New Roman"/>
                <a:cs typeface="Times New Roman"/>
              </a:rPr>
              <a:t>1</a:t>
            </a:r>
            <a:r>
              <a:rPr sz="1400" i="1" spc="-32" dirty="0">
                <a:latin typeface="Times New Roman"/>
                <a:cs typeface="Times New Roman"/>
              </a:rPr>
              <a:t> </a:t>
            </a:r>
            <a:r>
              <a:rPr sz="1400" i="1" spc="-131" dirty="0">
                <a:latin typeface="Times New Roman"/>
                <a:cs typeface="Times New Roman"/>
              </a:rPr>
              <a:t>d</a:t>
            </a:r>
            <a:r>
              <a:rPr sz="1400" i="1" spc="-142" dirty="0">
                <a:latin typeface="Times New Roman"/>
                <a:cs typeface="Times New Roman"/>
              </a:rPr>
              <a:t>a</a:t>
            </a:r>
            <a:r>
              <a:rPr sz="1400" i="1" spc="-56" dirty="0">
                <a:latin typeface="Times New Roman"/>
                <a:cs typeface="Times New Roman"/>
              </a:rPr>
              <a:t>t</a:t>
            </a:r>
            <a:r>
              <a:rPr sz="1400" i="1" spc="-109" dirty="0">
                <a:latin typeface="Times New Roman"/>
                <a:cs typeface="Times New Roman"/>
              </a:rPr>
              <a:t>a</a:t>
            </a:r>
            <a:r>
              <a:rPr sz="1400" i="1" spc="-48" dirty="0">
                <a:latin typeface="Times New Roman"/>
                <a:cs typeface="Times New Roman"/>
              </a:rPr>
              <a:t>t</a:t>
            </a:r>
            <a:r>
              <a:rPr sz="1400" i="1" spc="-72" dirty="0">
                <a:latin typeface="Times New Roman"/>
                <a:cs typeface="Times New Roman"/>
              </a:rPr>
              <a:t>y</a:t>
            </a:r>
            <a:r>
              <a:rPr sz="1400" i="1" spc="-131" dirty="0">
                <a:latin typeface="Times New Roman"/>
                <a:cs typeface="Times New Roman"/>
              </a:rPr>
              <a:t>p</a:t>
            </a:r>
            <a:r>
              <a:rPr sz="1400" i="1" spc="-169" dirty="0">
                <a:latin typeface="Times New Roman"/>
                <a:cs typeface="Times New Roman"/>
              </a:rPr>
              <a:t>e</a:t>
            </a:r>
            <a:r>
              <a:rPr sz="1400" i="1" spc="-86" dirty="0">
                <a:latin typeface="Times New Roman"/>
                <a:cs typeface="Times New Roman"/>
              </a:rPr>
              <a:t>(si</a:t>
            </a:r>
            <a:r>
              <a:rPr sz="1400" i="1" spc="-120" dirty="0">
                <a:latin typeface="Times New Roman"/>
                <a:cs typeface="Times New Roman"/>
              </a:rPr>
              <a:t>z</a:t>
            </a:r>
            <a:r>
              <a:rPr sz="1400" i="1" spc="-150" dirty="0">
                <a:latin typeface="Times New Roman"/>
                <a:cs typeface="Times New Roman"/>
              </a:rPr>
              <a:t>e</a:t>
            </a:r>
            <a:r>
              <a:rPr sz="1400" i="1" spc="-118" dirty="0">
                <a:latin typeface="Times New Roman"/>
                <a:cs typeface="Times New Roman"/>
              </a:rPr>
              <a:t>)</a:t>
            </a:r>
            <a:r>
              <a:rPr sz="1400" spc="54" dirty="0">
                <a:latin typeface="Times New Roman"/>
                <a:cs typeface="Times New Roman"/>
              </a:rPr>
              <a:t>,</a:t>
            </a:r>
            <a:r>
              <a:rPr sz="1400" spc="-56" dirty="0">
                <a:latin typeface="Times New Roman"/>
                <a:cs typeface="Times New Roman"/>
              </a:rPr>
              <a:t> </a:t>
            </a:r>
            <a:r>
              <a:rPr sz="1400" i="1" spc="-169" dirty="0">
                <a:latin typeface="Times New Roman"/>
                <a:cs typeface="Times New Roman"/>
              </a:rPr>
              <a:t>c</a:t>
            </a:r>
            <a:r>
              <a:rPr sz="1400" i="1" spc="-187" dirty="0">
                <a:latin typeface="Times New Roman"/>
                <a:cs typeface="Times New Roman"/>
              </a:rPr>
              <a:t>o</a:t>
            </a:r>
            <a:r>
              <a:rPr sz="1400" i="1" spc="-91" dirty="0">
                <a:latin typeface="Times New Roman"/>
                <a:cs typeface="Times New Roman"/>
              </a:rPr>
              <a:t>lumn2</a:t>
            </a:r>
            <a:r>
              <a:rPr lang="en-US" sz="1400" i="1" spc="-91" dirty="0">
                <a:latin typeface="Times New Roman"/>
                <a:cs typeface="Times New Roman"/>
              </a:rPr>
              <a:t> </a:t>
            </a:r>
            <a:r>
              <a:rPr lang="en-US" sz="1400" i="1" spc="-67" dirty="0">
                <a:latin typeface="Times New Roman"/>
                <a:cs typeface="Times New Roman"/>
              </a:rPr>
              <a:t>d</a:t>
            </a:r>
            <a:r>
              <a:rPr sz="1400" i="1" spc="-67" dirty="0">
                <a:latin typeface="Times New Roman"/>
                <a:cs typeface="Times New Roman"/>
              </a:rPr>
              <a:t>atatype(size),…..</a:t>
            </a:r>
            <a:r>
              <a:rPr sz="1400" spc="-67" dirty="0">
                <a:latin typeface="Times New Roman"/>
                <a:cs typeface="Times New Roman"/>
              </a:rPr>
              <a:t>);</a:t>
            </a:r>
            <a:endParaRPr sz="1400" dirty="0">
              <a:latin typeface="Times New Roman"/>
              <a:cs typeface="Times New Roman"/>
            </a:endParaRPr>
          </a:p>
          <a:p>
            <a:pPr marL="496184" algn="l">
              <a:spcBef>
                <a:spcPts val="425"/>
              </a:spcBef>
              <a:tabLst>
                <a:tab pos="1189822" algn="l"/>
                <a:tab pos="1777086" algn="l"/>
                <a:tab pos="2578457" algn="l"/>
                <a:tab pos="2708960" algn="l"/>
                <a:tab pos="2913211" algn="l"/>
                <a:tab pos="3162663" algn="l"/>
                <a:tab pos="3572184" algn="l"/>
                <a:tab pos="4125463" algn="l"/>
                <a:tab pos="4427252" algn="l"/>
              </a:tabLst>
            </a:pPr>
            <a:r>
              <a:rPr lang="en-US" sz="1400" dirty="0" err="1">
                <a:latin typeface="Times New Roman"/>
                <a:cs typeface="Times New Roman"/>
              </a:rPr>
              <a:t>Eg</a:t>
            </a:r>
            <a:r>
              <a:rPr lang="en-US" sz="1400" dirty="0">
                <a:latin typeface="Times New Roman"/>
                <a:cs typeface="Times New Roman"/>
              </a:rPr>
              <a:t>: </a:t>
            </a:r>
            <a:r>
              <a:rPr sz="1400" dirty="0">
                <a:latin typeface="Times New Roman"/>
                <a:cs typeface="Times New Roman"/>
              </a:rPr>
              <a:t>CRE</a:t>
            </a:r>
            <a:r>
              <a:rPr sz="1400" spc="-145" dirty="0">
                <a:latin typeface="Times New Roman"/>
                <a:cs typeface="Times New Roman"/>
              </a:rPr>
              <a:t>A</a:t>
            </a:r>
            <a:r>
              <a:rPr sz="1400" dirty="0">
                <a:latin typeface="Times New Roman"/>
                <a:cs typeface="Times New Roman"/>
              </a:rPr>
              <a:t>TE</a:t>
            </a:r>
            <a:r>
              <a:rPr lang="en-US" sz="1400" dirty="0">
                <a:latin typeface="Times New Roman"/>
                <a:cs typeface="Times New Roman"/>
              </a:rPr>
              <a:t> </a:t>
            </a:r>
            <a:r>
              <a:rPr sz="1400" spc="-107" dirty="0">
                <a:latin typeface="Times New Roman"/>
                <a:cs typeface="Times New Roman"/>
              </a:rPr>
              <a:t>T</a:t>
            </a:r>
            <a:r>
              <a:rPr sz="1400" dirty="0">
                <a:latin typeface="Times New Roman"/>
                <a:cs typeface="Times New Roman"/>
              </a:rPr>
              <a:t>AB</a:t>
            </a:r>
            <a:r>
              <a:rPr sz="1400" spc="-29" dirty="0">
                <a:latin typeface="Times New Roman"/>
                <a:cs typeface="Times New Roman"/>
              </a:rPr>
              <a:t>L</a:t>
            </a:r>
            <a:r>
              <a:rPr sz="1400" dirty="0">
                <a:latin typeface="Times New Roman"/>
                <a:cs typeface="Times New Roman"/>
              </a:rPr>
              <a:t>E</a:t>
            </a:r>
            <a:r>
              <a:rPr lang="en-US" sz="140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Empl</a:t>
            </a:r>
            <a:r>
              <a:rPr sz="1400" spc="11" dirty="0">
                <a:latin typeface="Times New Roman"/>
                <a:cs typeface="Times New Roman"/>
              </a:rPr>
              <a:t>o</a:t>
            </a:r>
            <a:r>
              <a:rPr sz="1400" spc="-27" dirty="0">
                <a:latin typeface="Times New Roman"/>
                <a:cs typeface="Times New Roman"/>
              </a:rPr>
              <a:t>y</a:t>
            </a:r>
            <a:r>
              <a:rPr sz="1400" spc="5" dirty="0">
                <a:latin typeface="Times New Roman"/>
                <a:cs typeface="Times New Roman"/>
              </a:rPr>
              <a:t>e</a:t>
            </a:r>
            <a:r>
              <a:rPr sz="1400" spc="-5" dirty="0">
                <a:latin typeface="Times New Roman"/>
                <a:cs typeface="Times New Roman"/>
              </a:rPr>
              <a:t>e</a:t>
            </a:r>
            <a:r>
              <a:rPr sz="1400" dirty="0">
                <a:latin typeface="Times New Roman"/>
                <a:cs typeface="Times New Roman"/>
              </a:rPr>
              <a:t>s	(id	int	</a:t>
            </a:r>
            <a:r>
              <a:rPr sz="1400" spc="-5" dirty="0">
                <a:latin typeface="Times New Roman"/>
                <a:cs typeface="Times New Roman"/>
              </a:rPr>
              <a:t>NO</a:t>
            </a:r>
            <a:r>
              <a:rPr sz="1400" dirty="0">
                <a:latin typeface="Times New Roman"/>
                <a:cs typeface="Times New Roman"/>
              </a:rPr>
              <a:t>T	</a:t>
            </a:r>
            <a:r>
              <a:rPr sz="1400" spc="5" dirty="0">
                <a:latin typeface="Times New Roman"/>
                <a:cs typeface="Times New Roman"/>
              </a:rPr>
              <a:t>NU</a:t>
            </a:r>
            <a:r>
              <a:rPr sz="1400" spc="-16" dirty="0">
                <a:latin typeface="Times New Roman"/>
                <a:cs typeface="Times New Roman"/>
              </a:rPr>
              <a:t>LL</a:t>
            </a:r>
            <a:r>
              <a:rPr sz="1400" dirty="0">
                <a:latin typeface="Times New Roman"/>
                <a:cs typeface="Times New Roman"/>
              </a:rPr>
              <a:t>,	</a:t>
            </a:r>
            <a:r>
              <a:rPr sz="1400" spc="5" dirty="0">
                <a:latin typeface="Times New Roman"/>
                <a:cs typeface="Times New Roman"/>
              </a:rPr>
              <a:t>a</a:t>
            </a:r>
            <a:r>
              <a:rPr sz="1400" spc="-13" dirty="0">
                <a:latin typeface="Times New Roman"/>
                <a:cs typeface="Times New Roman"/>
              </a:rPr>
              <a:t>g</a:t>
            </a:r>
            <a:r>
              <a:rPr sz="1400" dirty="0">
                <a:latin typeface="Times New Roman"/>
                <a:cs typeface="Times New Roman"/>
              </a:rPr>
              <a:t>e	int</a:t>
            </a:r>
            <a:r>
              <a:rPr lang="en-US" sz="1400" dirty="0">
                <a:latin typeface="Times New Roman"/>
                <a:cs typeface="Times New Roman"/>
              </a:rPr>
              <a:t> </a:t>
            </a:r>
            <a:r>
              <a:rPr sz="1400" spc="-3" dirty="0">
                <a:latin typeface="Times New Roman"/>
                <a:cs typeface="Times New Roman"/>
              </a:rPr>
              <a:t>NOT</a:t>
            </a:r>
            <a:r>
              <a:rPr lang="en-US" sz="1400" spc="-3" dirty="0">
                <a:latin typeface="Times New Roman"/>
                <a:cs typeface="Times New Roman"/>
              </a:rPr>
              <a:t> </a:t>
            </a:r>
            <a:r>
              <a:rPr sz="1400" spc="-3" dirty="0" err="1">
                <a:latin typeface="Times New Roman"/>
                <a:cs typeface="Times New Roman"/>
              </a:rPr>
              <a:t>NULL,first</a:t>
            </a:r>
            <a:r>
              <a:rPr sz="1400" spc="-3" dirty="0">
                <a:latin typeface="Times New Roman"/>
                <a:cs typeface="Times New Roman"/>
              </a:rPr>
              <a:t>	</a:t>
            </a:r>
            <a:r>
              <a:rPr sz="1400" spc="-16" dirty="0">
                <a:latin typeface="Times New Roman"/>
                <a:cs typeface="Times New Roman"/>
              </a:rPr>
              <a:t>VARCHAR(10),	</a:t>
            </a:r>
            <a:r>
              <a:rPr sz="1400" spc="-3" dirty="0">
                <a:latin typeface="Times New Roman"/>
                <a:cs typeface="Times New Roman"/>
              </a:rPr>
              <a:t>last	</a:t>
            </a:r>
            <a:r>
              <a:rPr sz="1400" spc="-16" dirty="0">
                <a:latin typeface="Times New Roman"/>
                <a:cs typeface="Times New Roman"/>
              </a:rPr>
              <a:t>VARCHAR(10),</a:t>
            </a:r>
            <a:r>
              <a:rPr lang="en-US" sz="1400" spc="-16" dirty="0">
                <a:latin typeface="Times New Roman"/>
                <a:cs typeface="Times New Roman"/>
              </a:rPr>
              <a:t>   </a:t>
            </a:r>
            <a:r>
              <a:rPr sz="1400" spc="-16" dirty="0">
                <a:latin typeface="Times New Roman"/>
                <a:cs typeface="Times New Roman"/>
              </a:rPr>
              <a:t>PRIMARY</a:t>
            </a:r>
            <a:r>
              <a:rPr sz="1400" spc="-19" dirty="0">
                <a:latin typeface="Times New Roman"/>
                <a:cs typeface="Times New Roman"/>
              </a:rPr>
              <a:t> </a:t>
            </a:r>
            <a:r>
              <a:rPr sz="1400" spc="-3" dirty="0">
                <a:latin typeface="Times New Roman"/>
                <a:cs typeface="Times New Roman"/>
              </a:rPr>
              <a:t>KEY</a:t>
            </a:r>
            <a:r>
              <a:rPr sz="1400" spc="-43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(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id</a:t>
            </a:r>
            <a:r>
              <a:rPr sz="1400" spc="-3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)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spc="-3" dirty="0">
                <a:latin typeface="Times New Roman"/>
                <a:cs typeface="Times New Roman"/>
              </a:rPr>
              <a:t>);</a:t>
            </a:r>
            <a:r>
              <a:rPr sz="1400" spc="-24" dirty="0">
                <a:latin typeface="Times New Roman"/>
                <a:cs typeface="Times New Roman"/>
              </a:rPr>
              <a:t> </a:t>
            </a:r>
            <a:r>
              <a:rPr sz="1400" spc="8" dirty="0">
                <a:solidFill>
                  <a:srgbClr val="FF0000"/>
                </a:solidFill>
                <a:latin typeface="Times New Roman"/>
                <a:cs typeface="Times New Roman"/>
              </a:rPr>
              <a:t>/*The</a:t>
            </a:r>
            <a:r>
              <a:rPr sz="14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00" spc="-59" dirty="0">
                <a:solidFill>
                  <a:srgbClr val="FF0000"/>
                </a:solidFill>
                <a:latin typeface="Times New Roman"/>
                <a:cs typeface="Times New Roman"/>
              </a:rPr>
              <a:t>NOT</a:t>
            </a:r>
            <a:r>
              <a:rPr sz="1400" spc="-43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00" spc="-107" dirty="0">
                <a:solidFill>
                  <a:srgbClr val="FF0000"/>
                </a:solidFill>
                <a:latin typeface="Times New Roman"/>
                <a:cs typeface="Times New Roman"/>
              </a:rPr>
              <a:t>NULL</a:t>
            </a:r>
            <a:r>
              <a:rPr sz="1400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00" spc="-45" dirty="0">
                <a:solidFill>
                  <a:srgbClr val="FF0000"/>
                </a:solidFill>
                <a:latin typeface="Times New Roman"/>
                <a:cs typeface="Times New Roman"/>
              </a:rPr>
              <a:t>constraint</a:t>
            </a:r>
            <a:r>
              <a:rPr sz="1400" spc="-32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00" spc="-59" dirty="0">
                <a:solidFill>
                  <a:srgbClr val="FF0000"/>
                </a:solidFill>
                <a:latin typeface="Times New Roman"/>
                <a:cs typeface="Times New Roman"/>
              </a:rPr>
              <a:t>enforces</a:t>
            </a:r>
            <a:r>
              <a:rPr sz="1400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00" spc="-102" dirty="0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lang="en-US" sz="1400" spc="-102" dirty="0">
                <a:solidFill>
                  <a:srgbClr val="FF0000"/>
                </a:solidFill>
                <a:latin typeface="Times New Roman"/>
                <a:cs typeface="Times New Roman"/>
              </a:rPr>
              <a:t>  </a:t>
            </a:r>
            <a:r>
              <a:rPr lang="en-US" sz="1400" spc="-86" dirty="0">
                <a:solidFill>
                  <a:srgbClr val="FF0000"/>
                </a:solidFill>
                <a:latin typeface="Times New Roman"/>
                <a:cs typeface="Times New Roman"/>
              </a:rPr>
              <a:t>c</a:t>
            </a:r>
            <a:r>
              <a:rPr lang="en-US" sz="1400" spc="-48" dirty="0">
                <a:solidFill>
                  <a:srgbClr val="FF0000"/>
                </a:solidFill>
                <a:latin typeface="Times New Roman"/>
                <a:cs typeface="Times New Roman"/>
              </a:rPr>
              <a:t>ol</a:t>
            </a:r>
            <a:r>
              <a:rPr lang="en-US" sz="1400" spc="-59" dirty="0">
                <a:solidFill>
                  <a:srgbClr val="FF0000"/>
                </a:solidFill>
                <a:latin typeface="Times New Roman"/>
                <a:cs typeface="Times New Roman"/>
              </a:rPr>
              <a:t>u</a:t>
            </a:r>
            <a:r>
              <a:rPr lang="en-US" sz="1400" spc="-83" dirty="0">
                <a:solidFill>
                  <a:srgbClr val="FF0000"/>
                </a:solidFill>
                <a:latin typeface="Times New Roman"/>
                <a:cs typeface="Times New Roman"/>
              </a:rPr>
              <a:t>m</a:t>
            </a:r>
            <a:r>
              <a:rPr lang="en-US" sz="1400" spc="-51" dirty="0">
                <a:solidFill>
                  <a:srgbClr val="FF0000"/>
                </a:solidFill>
                <a:latin typeface="Times New Roman"/>
                <a:cs typeface="Times New Roman"/>
              </a:rPr>
              <a:t>n</a:t>
            </a:r>
            <a:r>
              <a:rPr lang="en-US" sz="1400" spc="-48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lang="en-US" sz="1400" spc="-19" dirty="0">
                <a:solidFill>
                  <a:srgbClr val="FF0000"/>
                </a:solidFill>
                <a:latin typeface="Times New Roman"/>
                <a:cs typeface="Times New Roman"/>
              </a:rPr>
              <a:t>to</a:t>
            </a:r>
            <a:r>
              <a:rPr lang="en-US" sz="1400" spc="-29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lang="en-US" sz="1400" spc="-72" dirty="0">
                <a:solidFill>
                  <a:srgbClr val="FF0000"/>
                </a:solidFill>
                <a:latin typeface="Times New Roman"/>
                <a:cs typeface="Times New Roman"/>
              </a:rPr>
              <a:t>N</a:t>
            </a:r>
            <a:r>
              <a:rPr lang="en-US" sz="1400" spc="-43" dirty="0">
                <a:solidFill>
                  <a:srgbClr val="FF0000"/>
                </a:solidFill>
                <a:latin typeface="Times New Roman"/>
                <a:cs typeface="Times New Roman"/>
              </a:rPr>
              <a:t>O</a:t>
            </a:r>
            <a:r>
              <a:rPr lang="en-US" sz="1400" spc="-61" dirty="0">
                <a:solidFill>
                  <a:srgbClr val="FF0000"/>
                </a:solidFill>
                <a:latin typeface="Times New Roman"/>
                <a:cs typeface="Times New Roman"/>
              </a:rPr>
              <a:t>T</a:t>
            </a:r>
            <a:r>
              <a:rPr lang="en-US" sz="1400" spc="-43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lang="en-US" sz="1400" spc="-99" dirty="0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lang="en-US" sz="1400" spc="-86" dirty="0">
                <a:solidFill>
                  <a:srgbClr val="FF0000"/>
                </a:solidFill>
                <a:latin typeface="Times New Roman"/>
                <a:cs typeface="Times New Roman"/>
              </a:rPr>
              <a:t>cc</a:t>
            </a:r>
            <a:r>
              <a:rPr lang="en-US" sz="1400" spc="-48" dirty="0">
                <a:solidFill>
                  <a:srgbClr val="FF0000"/>
                </a:solidFill>
                <a:latin typeface="Times New Roman"/>
                <a:cs typeface="Times New Roman"/>
              </a:rPr>
              <a:t>e</a:t>
            </a:r>
            <a:r>
              <a:rPr lang="en-US" sz="1400" spc="-19" dirty="0">
                <a:solidFill>
                  <a:srgbClr val="FF0000"/>
                </a:solidFill>
                <a:latin typeface="Times New Roman"/>
                <a:cs typeface="Times New Roman"/>
              </a:rPr>
              <a:t>pt</a:t>
            </a:r>
            <a:r>
              <a:rPr lang="en-US" sz="1400" spc="-29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lang="en-US" sz="1400" spc="-72" dirty="0">
                <a:solidFill>
                  <a:srgbClr val="FF0000"/>
                </a:solidFill>
                <a:latin typeface="Times New Roman"/>
                <a:cs typeface="Times New Roman"/>
              </a:rPr>
              <a:t>NU</a:t>
            </a:r>
            <a:r>
              <a:rPr lang="en-US" sz="1400" spc="-145" dirty="0">
                <a:solidFill>
                  <a:srgbClr val="FF0000"/>
                </a:solidFill>
                <a:latin typeface="Times New Roman"/>
                <a:cs typeface="Times New Roman"/>
              </a:rPr>
              <a:t>LL</a:t>
            </a:r>
            <a:r>
              <a:rPr lang="en-US" sz="1400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lang="en-US" sz="1400" spc="-131" dirty="0">
                <a:solidFill>
                  <a:srgbClr val="FF0000"/>
                </a:solidFill>
                <a:latin typeface="Times New Roman"/>
                <a:cs typeface="Times New Roman"/>
              </a:rPr>
              <a:t>v</a:t>
            </a:r>
            <a:r>
              <a:rPr lang="en-US" sz="1400" spc="-99" dirty="0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lang="en-US" sz="1400" spc="-51" dirty="0">
                <a:solidFill>
                  <a:srgbClr val="FF0000"/>
                </a:solidFill>
                <a:latin typeface="Times New Roman"/>
                <a:cs typeface="Times New Roman"/>
              </a:rPr>
              <a:t>lue</a:t>
            </a:r>
            <a:r>
              <a:rPr lang="en-US" sz="1400" spc="-131" dirty="0">
                <a:solidFill>
                  <a:srgbClr val="FF0000"/>
                </a:solidFill>
                <a:latin typeface="Times New Roman"/>
                <a:cs typeface="Times New Roman"/>
              </a:rPr>
              <a:t>s</a:t>
            </a:r>
            <a:r>
              <a:rPr lang="en-US" sz="1400" spc="94" dirty="0">
                <a:solidFill>
                  <a:srgbClr val="FF0000"/>
                </a:solidFill>
                <a:latin typeface="Times New Roman"/>
                <a:cs typeface="Times New Roman"/>
              </a:rPr>
              <a:t>.*/</a:t>
            </a:r>
            <a:endParaRPr lang="en-US" sz="1400" dirty="0">
              <a:latin typeface="Times New Roman"/>
              <a:cs typeface="Times New Roman"/>
            </a:endParaRPr>
          </a:p>
          <a:p>
            <a:pPr marL="153613" marR="812586" indent="-153613">
              <a:lnSpc>
                <a:spcPct val="127600"/>
              </a:lnSpc>
              <a:spcBef>
                <a:spcPts val="54"/>
              </a:spcBef>
              <a:buClr>
                <a:srgbClr val="D24717"/>
              </a:buClr>
              <a:buSzPct val="85416"/>
              <a:buFont typeface="Segoe UI Symbol"/>
              <a:buChar char="⚫"/>
              <a:tabLst>
                <a:tab pos="153613" algn="l"/>
                <a:tab pos="153953" algn="l"/>
              </a:tabLst>
            </a:pPr>
            <a:r>
              <a:rPr lang="en-US" sz="1400" b="1" spc="-11" dirty="0">
                <a:latin typeface="Times New Roman"/>
                <a:cs typeface="Times New Roman"/>
              </a:rPr>
              <a:t>Drop</a:t>
            </a:r>
            <a:r>
              <a:rPr lang="en-US" sz="1400" b="1" spc="-45" dirty="0">
                <a:latin typeface="Times New Roman"/>
                <a:cs typeface="Times New Roman"/>
              </a:rPr>
              <a:t> </a:t>
            </a:r>
            <a:r>
              <a:rPr lang="en-US" sz="1400" b="1" spc="-24" dirty="0">
                <a:latin typeface="Times New Roman"/>
                <a:cs typeface="Times New Roman"/>
              </a:rPr>
              <a:t>Table</a:t>
            </a:r>
          </a:p>
          <a:p>
            <a:pPr marR="812586">
              <a:lnSpc>
                <a:spcPct val="127600"/>
              </a:lnSpc>
              <a:spcBef>
                <a:spcPts val="54"/>
              </a:spcBef>
              <a:buClr>
                <a:srgbClr val="D24717"/>
              </a:buClr>
              <a:buSzPct val="85416"/>
              <a:tabLst>
                <a:tab pos="153613" algn="l"/>
                <a:tab pos="153953" algn="l"/>
              </a:tabLst>
            </a:pPr>
            <a:r>
              <a:rPr lang="en-US" sz="1400" b="1" spc="-24" dirty="0">
                <a:latin typeface="Times New Roman"/>
                <a:cs typeface="Times New Roman"/>
              </a:rPr>
              <a:t> </a:t>
            </a:r>
            <a:r>
              <a:rPr lang="en-US" sz="1400" b="1" spc="-313" dirty="0">
                <a:latin typeface="Times New Roman"/>
                <a:cs typeface="Times New Roman"/>
              </a:rPr>
              <a:t> </a:t>
            </a:r>
            <a:r>
              <a:rPr lang="en-US" sz="1400" b="1" dirty="0">
                <a:solidFill>
                  <a:schemeClr val="tx1"/>
                </a:solidFill>
                <a:latin typeface="Times New Roman"/>
                <a:cs typeface="Times New Roman"/>
              </a:rPr>
              <a:t>Syntax</a:t>
            </a:r>
            <a:endParaRPr lang="en-US" sz="1400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153613">
              <a:spcBef>
                <a:spcPts val="217"/>
              </a:spcBef>
            </a:pPr>
            <a:r>
              <a:rPr lang="en-US" sz="1400" b="1" spc="-48" dirty="0">
                <a:solidFill>
                  <a:srgbClr val="FF0000"/>
                </a:solidFill>
                <a:latin typeface="Times New Roman"/>
                <a:cs typeface="Times New Roman"/>
              </a:rPr>
              <a:t>D</a:t>
            </a:r>
            <a:r>
              <a:rPr lang="en-US" sz="1400" b="1" spc="-94" dirty="0">
                <a:solidFill>
                  <a:srgbClr val="FF0000"/>
                </a:solidFill>
                <a:latin typeface="Times New Roman"/>
                <a:cs typeface="Times New Roman"/>
              </a:rPr>
              <a:t>RO</a:t>
            </a:r>
            <a:r>
              <a:rPr lang="en-US" sz="1400" b="1" spc="-72" dirty="0">
                <a:solidFill>
                  <a:srgbClr val="FF0000"/>
                </a:solidFill>
                <a:latin typeface="Times New Roman"/>
                <a:cs typeface="Times New Roman"/>
              </a:rPr>
              <a:t>P</a:t>
            </a:r>
            <a:r>
              <a:rPr lang="en-US" sz="1400" b="1" spc="-19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lang="en-US" sz="1400" b="1" spc="-241" dirty="0">
                <a:solidFill>
                  <a:srgbClr val="FF0000"/>
                </a:solidFill>
                <a:latin typeface="Times New Roman"/>
                <a:cs typeface="Times New Roman"/>
              </a:rPr>
              <a:t>T</a:t>
            </a:r>
            <a:r>
              <a:rPr lang="en-US" sz="1400" b="1" spc="-72" dirty="0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lang="en-US" sz="1400" b="1" spc="-61" dirty="0">
                <a:solidFill>
                  <a:srgbClr val="FF0000"/>
                </a:solidFill>
                <a:latin typeface="Times New Roman"/>
                <a:cs typeface="Times New Roman"/>
              </a:rPr>
              <a:t>B</a:t>
            </a:r>
            <a:r>
              <a:rPr lang="en-US" sz="1400" b="1" spc="-203" dirty="0">
                <a:solidFill>
                  <a:srgbClr val="FF0000"/>
                </a:solidFill>
                <a:latin typeface="Times New Roman"/>
                <a:cs typeface="Times New Roman"/>
              </a:rPr>
              <a:t>LE  </a:t>
            </a:r>
            <a:r>
              <a:rPr lang="en-US" sz="1400" b="1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lang="en-US" sz="1400" i="1" spc="-56" dirty="0" err="1">
                <a:latin typeface="Times New Roman"/>
                <a:cs typeface="Times New Roman"/>
              </a:rPr>
              <a:t>t</a:t>
            </a:r>
            <a:r>
              <a:rPr lang="en-US" sz="1400" i="1" spc="-99" dirty="0" err="1">
                <a:latin typeface="Times New Roman"/>
                <a:cs typeface="Times New Roman"/>
              </a:rPr>
              <a:t>a</a:t>
            </a:r>
            <a:r>
              <a:rPr lang="en-US" sz="1400" i="1" spc="-195" dirty="0" err="1">
                <a:latin typeface="Times New Roman"/>
                <a:cs typeface="Times New Roman"/>
              </a:rPr>
              <a:t>b</a:t>
            </a:r>
            <a:r>
              <a:rPr lang="en-US" sz="1400" i="1" spc="-88" dirty="0" err="1">
                <a:latin typeface="Times New Roman"/>
                <a:cs typeface="Times New Roman"/>
              </a:rPr>
              <a:t>l</a:t>
            </a:r>
            <a:r>
              <a:rPr lang="en-US" sz="1400" i="1" spc="-142" dirty="0" err="1">
                <a:latin typeface="Times New Roman"/>
                <a:cs typeface="Times New Roman"/>
              </a:rPr>
              <a:t>e</a:t>
            </a:r>
            <a:r>
              <a:rPr lang="en-US" sz="1400" i="1" spc="-80" dirty="0" err="1">
                <a:latin typeface="Times New Roman"/>
                <a:cs typeface="Times New Roman"/>
              </a:rPr>
              <a:t>_n</a:t>
            </a:r>
            <a:r>
              <a:rPr lang="en-US" sz="1400" i="1" spc="-75" dirty="0" err="1">
                <a:latin typeface="Times New Roman"/>
                <a:cs typeface="Times New Roman"/>
              </a:rPr>
              <a:t>a</a:t>
            </a:r>
            <a:r>
              <a:rPr lang="en-US" sz="1400" i="1" spc="-201" dirty="0" err="1">
                <a:latin typeface="Times New Roman"/>
                <a:cs typeface="Times New Roman"/>
              </a:rPr>
              <a:t>m</a:t>
            </a:r>
            <a:r>
              <a:rPr lang="en-US" sz="1400" i="1" spc="-169" dirty="0" err="1">
                <a:latin typeface="Times New Roman"/>
                <a:cs typeface="Times New Roman"/>
              </a:rPr>
              <a:t>e</a:t>
            </a:r>
            <a:r>
              <a:rPr lang="en-US" sz="1400" spc="16" dirty="0">
                <a:latin typeface="Times New Roman"/>
                <a:cs typeface="Times New Roman"/>
              </a:rPr>
              <a:t>;</a:t>
            </a:r>
          </a:p>
          <a:p>
            <a:pPr marL="153613">
              <a:spcBef>
                <a:spcPts val="217"/>
              </a:spcBef>
            </a:pPr>
            <a:r>
              <a:rPr lang="en-US" sz="1400" spc="16" dirty="0">
                <a:latin typeface="Times New Roman"/>
                <a:cs typeface="Times New Roman"/>
              </a:rPr>
              <a:t>	</a:t>
            </a:r>
            <a:r>
              <a:rPr lang="en-US" sz="1400" spc="16" dirty="0" err="1">
                <a:latin typeface="Times New Roman"/>
                <a:cs typeface="Times New Roman"/>
              </a:rPr>
              <a:t>Eg</a:t>
            </a:r>
            <a:r>
              <a:rPr lang="en-US" sz="1400" spc="16" dirty="0">
                <a:latin typeface="Times New Roman"/>
                <a:cs typeface="Times New Roman"/>
              </a:rPr>
              <a:t>: </a:t>
            </a:r>
            <a:r>
              <a:rPr lang="en-US" sz="1400" dirty="0">
                <a:latin typeface="Times New Roman"/>
                <a:cs typeface="Times New Roman"/>
              </a:rPr>
              <a:t>DROP</a:t>
            </a:r>
            <a:r>
              <a:rPr lang="en-US" sz="1400" spc="-67" dirty="0">
                <a:latin typeface="Times New Roman"/>
                <a:cs typeface="Times New Roman"/>
              </a:rPr>
              <a:t> </a:t>
            </a:r>
            <a:r>
              <a:rPr lang="en-US" sz="1400" spc="-29" dirty="0">
                <a:latin typeface="Times New Roman"/>
                <a:cs typeface="Times New Roman"/>
              </a:rPr>
              <a:t>TABLE</a:t>
            </a:r>
            <a:r>
              <a:rPr lang="en-US" sz="1400" spc="27" dirty="0">
                <a:latin typeface="Times New Roman"/>
                <a:cs typeface="Times New Roman"/>
              </a:rPr>
              <a:t> </a:t>
            </a:r>
            <a:r>
              <a:rPr lang="en-US" sz="1400" spc="-5" dirty="0">
                <a:latin typeface="Times New Roman"/>
                <a:cs typeface="Times New Roman"/>
              </a:rPr>
              <a:t>Employees;</a:t>
            </a:r>
            <a:endParaRPr lang="en-US" sz="1400" dirty="0">
              <a:latin typeface="Times New Roman"/>
              <a:cs typeface="Times New Roman"/>
            </a:endParaRPr>
          </a:p>
          <a:p>
            <a:pPr marL="153613" marR="2906754" indent="-147156">
              <a:lnSpc>
                <a:spcPct val="120800"/>
              </a:lnSpc>
              <a:buClr>
                <a:srgbClr val="D24717"/>
              </a:buClr>
              <a:buSzPct val="85416"/>
              <a:buFont typeface="Segoe UI Symbol"/>
              <a:buChar char="⚫"/>
              <a:tabLst>
                <a:tab pos="153613" algn="l"/>
                <a:tab pos="153953" algn="l"/>
              </a:tabLst>
            </a:pPr>
            <a:r>
              <a:rPr lang="en-US" sz="1400" b="1" spc="-11" dirty="0">
                <a:latin typeface="Times New Roman"/>
                <a:cs typeface="Times New Roman"/>
              </a:rPr>
              <a:t>INSERT</a:t>
            </a:r>
            <a:r>
              <a:rPr lang="en-US" sz="1400" b="1" spc="-48" dirty="0">
                <a:latin typeface="Times New Roman"/>
                <a:cs typeface="Times New Roman"/>
              </a:rPr>
              <a:t> </a:t>
            </a:r>
            <a:r>
              <a:rPr lang="en-US" sz="1400" b="1" spc="-3" dirty="0">
                <a:latin typeface="Times New Roman"/>
                <a:cs typeface="Times New Roman"/>
              </a:rPr>
              <a:t>Data</a:t>
            </a:r>
          </a:p>
          <a:p>
            <a:pPr marL="6457" marR="2906754">
              <a:lnSpc>
                <a:spcPct val="120800"/>
              </a:lnSpc>
              <a:buClr>
                <a:srgbClr val="D24717"/>
              </a:buClr>
              <a:buSzPct val="85416"/>
              <a:tabLst>
                <a:tab pos="153613" algn="l"/>
                <a:tab pos="153953" algn="l"/>
              </a:tabLst>
            </a:pPr>
            <a:r>
              <a:rPr lang="en-US" sz="1400" b="1" spc="-3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lang="en-US" sz="1400" b="1" spc="-313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lang="en-US" sz="1400" b="1" dirty="0">
                <a:solidFill>
                  <a:schemeClr val="tx1"/>
                </a:solidFill>
                <a:latin typeface="Times New Roman"/>
                <a:cs typeface="Times New Roman"/>
              </a:rPr>
              <a:t>Syntax</a:t>
            </a:r>
            <a:endParaRPr lang="en-US" sz="1400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153613">
              <a:spcBef>
                <a:spcPts val="182"/>
              </a:spcBef>
              <a:tabLst>
                <a:tab pos="1804954" algn="l"/>
              </a:tabLst>
            </a:pPr>
            <a:r>
              <a:rPr lang="en-US" sz="1400" b="1" spc="-29" dirty="0">
                <a:solidFill>
                  <a:srgbClr val="FF0000"/>
                </a:solidFill>
                <a:latin typeface="Times New Roman"/>
                <a:cs typeface="Times New Roman"/>
              </a:rPr>
              <a:t>I</a:t>
            </a:r>
            <a:r>
              <a:rPr lang="en-US" sz="1400" b="1" spc="-72" dirty="0">
                <a:solidFill>
                  <a:srgbClr val="FF0000"/>
                </a:solidFill>
                <a:latin typeface="Times New Roman"/>
                <a:cs typeface="Times New Roman"/>
              </a:rPr>
              <a:t>N</a:t>
            </a:r>
            <a:r>
              <a:rPr lang="en-US" sz="1400" b="1" spc="-166" dirty="0">
                <a:solidFill>
                  <a:srgbClr val="FF0000"/>
                </a:solidFill>
                <a:latin typeface="Times New Roman"/>
                <a:cs typeface="Times New Roman"/>
              </a:rPr>
              <a:t>SE</a:t>
            </a:r>
            <a:r>
              <a:rPr lang="en-US" sz="1400" b="1" spc="-145" dirty="0">
                <a:solidFill>
                  <a:srgbClr val="FF0000"/>
                </a:solidFill>
                <a:latin typeface="Times New Roman"/>
                <a:cs typeface="Times New Roman"/>
              </a:rPr>
              <a:t>R</a:t>
            </a:r>
            <a:r>
              <a:rPr lang="en-US" sz="1400" b="1" spc="-134" dirty="0">
                <a:solidFill>
                  <a:srgbClr val="FF0000"/>
                </a:solidFill>
                <a:latin typeface="Times New Roman"/>
                <a:cs typeface="Times New Roman"/>
              </a:rPr>
              <a:t>T</a:t>
            </a:r>
            <a:r>
              <a:rPr lang="en-US" sz="1400" b="1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lang="en-US" sz="1400" b="1" spc="-29" dirty="0">
                <a:solidFill>
                  <a:srgbClr val="FF0000"/>
                </a:solidFill>
                <a:latin typeface="Times New Roman"/>
                <a:cs typeface="Times New Roman"/>
              </a:rPr>
              <a:t>I</a:t>
            </a:r>
            <a:r>
              <a:rPr lang="en-US" sz="1400" b="1" spc="-72" dirty="0">
                <a:solidFill>
                  <a:srgbClr val="FF0000"/>
                </a:solidFill>
                <a:latin typeface="Times New Roman"/>
                <a:cs typeface="Times New Roman"/>
              </a:rPr>
              <a:t>N</a:t>
            </a:r>
            <a:r>
              <a:rPr lang="en-US" sz="1400" b="1" spc="-166" dirty="0">
                <a:solidFill>
                  <a:srgbClr val="FF0000"/>
                </a:solidFill>
                <a:latin typeface="Times New Roman"/>
                <a:cs typeface="Times New Roman"/>
              </a:rPr>
              <a:t>T</a:t>
            </a:r>
            <a:r>
              <a:rPr lang="en-US" sz="1400" b="1" spc="-78" dirty="0">
                <a:solidFill>
                  <a:srgbClr val="FF0000"/>
                </a:solidFill>
                <a:latin typeface="Times New Roman"/>
                <a:cs typeface="Times New Roman"/>
              </a:rPr>
              <a:t>O</a:t>
            </a:r>
            <a:r>
              <a:rPr lang="en-US" sz="1400" b="1" spc="-48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lang="en-US" sz="1400" i="1" spc="-56" dirty="0" err="1">
                <a:latin typeface="Times New Roman"/>
                <a:cs typeface="Times New Roman"/>
              </a:rPr>
              <a:t>t</a:t>
            </a:r>
            <a:r>
              <a:rPr lang="en-US" sz="1400" i="1" spc="-99" dirty="0" err="1">
                <a:latin typeface="Times New Roman"/>
                <a:cs typeface="Times New Roman"/>
              </a:rPr>
              <a:t>a</a:t>
            </a:r>
            <a:r>
              <a:rPr lang="en-US" sz="1400" i="1" spc="-195" dirty="0" err="1">
                <a:latin typeface="Times New Roman"/>
                <a:cs typeface="Times New Roman"/>
              </a:rPr>
              <a:t>b</a:t>
            </a:r>
            <a:r>
              <a:rPr lang="en-US" sz="1400" i="1" spc="-67" dirty="0" err="1">
                <a:latin typeface="Times New Roman"/>
                <a:cs typeface="Times New Roman"/>
              </a:rPr>
              <a:t>le</a:t>
            </a:r>
            <a:r>
              <a:rPr lang="en-US" sz="1400" i="1" spc="-96" dirty="0" err="1">
                <a:latin typeface="Times New Roman"/>
                <a:cs typeface="Times New Roman"/>
              </a:rPr>
              <a:t>_</a:t>
            </a:r>
            <a:r>
              <a:rPr lang="en-US" sz="1400" i="1" spc="-120" dirty="0" err="1">
                <a:latin typeface="Times New Roman"/>
                <a:cs typeface="Times New Roman"/>
              </a:rPr>
              <a:t>n</a:t>
            </a:r>
            <a:r>
              <a:rPr lang="en-US" sz="1400" i="1" spc="-115" dirty="0" err="1">
                <a:latin typeface="Times New Roman"/>
                <a:cs typeface="Times New Roman"/>
              </a:rPr>
              <a:t>a</a:t>
            </a:r>
            <a:r>
              <a:rPr lang="en-US" sz="1400" i="1" spc="-198" dirty="0" err="1">
                <a:latin typeface="Times New Roman"/>
                <a:cs typeface="Times New Roman"/>
              </a:rPr>
              <a:t>m</a:t>
            </a:r>
            <a:r>
              <a:rPr lang="en-US" sz="1400" i="1" spc="-169" dirty="0" err="1">
                <a:latin typeface="Times New Roman"/>
                <a:cs typeface="Times New Roman"/>
              </a:rPr>
              <a:t>e</a:t>
            </a:r>
            <a:r>
              <a:rPr lang="en-US" sz="1400" i="1" spc="-169" dirty="0">
                <a:latin typeface="Times New Roman"/>
                <a:cs typeface="Times New Roman"/>
              </a:rPr>
              <a:t> </a:t>
            </a:r>
            <a:r>
              <a:rPr lang="en-US" sz="1400" b="1" spc="-302" dirty="0">
                <a:solidFill>
                  <a:srgbClr val="FF0000"/>
                </a:solidFill>
                <a:latin typeface="Times New Roman"/>
                <a:cs typeface="Times New Roman"/>
              </a:rPr>
              <a:t>V</a:t>
            </a:r>
            <a:r>
              <a:rPr lang="en-US" sz="1400" b="1" spc="-72" dirty="0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lang="en-US" sz="1400" b="1" spc="-134" dirty="0">
                <a:solidFill>
                  <a:srgbClr val="FF0000"/>
                </a:solidFill>
                <a:latin typeface="Times New Roman"/>
                <a:cs typeface="Times New Roman"/>
              </a:rPr>
              <a:t>LUES</a:t>
            </a:r>
            <a:r>
              <a:rPr lang="en-US" sz="1400" b="1" spc="-48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lang="en-US" sz="1400" spc="-32" dirty="0">
                <a:latin typeface="Times New Roman"/>
                <a:cs typeface="Times New Roman"/>
              </a:rPr>
              <a:t>(</a:t>
            </a:r>
            <a:r>
              <a:rPr lang="en-US" sz="1400" i="1" spc="-174" dirty="0">
                <a:latin typeface="Times New Roman"/>
                <a:cs typeface="Times New Roman"/>
              </a:rPr>
              <a:t>v</a:t>
            </a:r>
            <a:r>
              <a:rPr lang="en-US" sz="1400" i="1" spc="-131" dirty="0">
                <a:latin typeface="Times New Roman"/>
                <a:cs typeface="Times New Roman"/>
              </a:rPr>
              <a:t>a</a:t>
            </a:r>
            <a:r>
              <a:rPr lang="en-US" sz="1400" i="1" spc="-94" dirty="0">
                <a:latin typeface="Times New Roman"/>
                <a:cs typeface="Times New Roman"/>
              </a:rPr>
              <a:t>lue</a:t>
            </a:r>
            <a:r>
              <a:rPr lang="en-US" sz="1400" i="1" spc="-107" dirty="0">
                <a:latin typeface="Times New Roman"/>
                <a:cs typeface="Times New Roman"/>
              </a:rPr>
              <a:t>1</a:t>
            </a:r>
            <a:r>
              <a:rPr lang="en-US" sz="1400" spc="54" dirty="0">
                <a:latin typeface="Times New Roman"/>
                <a:cs typeface="Times New Roman"/>
              </a:rPr>
              <a:t>,</a:t>
            </a:r>
            <a:r>
              <a:rPr lang="en-US" sz="1400" spc="-29" dirty="0">
                <a:latin typeface="Times New Roman"/>
                <a:cs typeface="Times New Roman"/>
              </a:rPr>
              <a:t> </a:t>
            </a:r>
            <a:r>
              <a:rPr lang="en-US" sz="1400" i="1" spc="-171" dirty="0">
                <a:latin typeface="Times New Roman"/>
                <a:cs typeface="Times New Roman"/>
              </a:rPr>
              <a:t>v</a:t>
            </a:r>
            <a:r>
              <a:rPr lang="en-US" sz="1400" i="1" spc="-131" dirty="0">
                <a:latin typeface="Times New Roman"/>
                <a:cs typeface="Times New Roman"/>
              </a:rPr>
              <a:t>a</a:t>
            </a:r>
            <a:r>
              <a:rPr lang="en-US" sz="1400" i="1" spc="-59" dirty="0">
                <a:latin typeface="Times New Roman"/>
                <a:cs typeface="Times New Roman"/>
              </a:rPr>
              <a:t>l</a:t>
            </a:r>
            <a:r>
              <a:rPr lang="en-US" sz="1400" i="1" spc="-99" dirty="0">
                <a:latin typeface="Times New Roman"/>
                <a:cs typeface="Times New Roman"/>
              </a:rPr>
              <a:t>u</a:t>
            </a:r>
            <a:r>
              <a:rPr lang="en-US" sz="1400" i="1" spc="-107" dirty="0">
                <a:latin typeface="Times New Roman"/>
                <a:cs typeface="Times New Roman"/>
              </a:rPr>
              <a:t>e</a:t>
            </a:r>
            <a:r>
              <a:rPr lang="en-US" sz="1400" i="1" spc="-120" dirty="0">
                <a:latin typeface="Times New Roman"/>
                <a:cs typeface="Times New Roman"/>
              </a:rPr>
              <a:t>2</a:t>
            </a:r>
            <a:r>
              <a:rPr lang="en-US" sz="1400" spc="54" dirty="0">
                <a:latin typeface="Times New Roman"/>
                <a:cs typeface="Times New Roman"/>
              </a:rPr>
              <a:t>,</a:t>
            </a:r>
            <a:r>
              <a:rPr lang="en-US" sz="1400" spc="-43" dirty="0">
                <a:latin typeface="Times New Roman"/>
                <a:cs typeface="Times New Roman"/>
              </a:rPr>
              <a:t> </a:t>
            </a:r>
            <a:r>
              <a:rPr lang="en-US" sz="1400" i="1" spc="-174" dirty="0">
                <a:latin typeface="Times New Roman"/>
                <a:cs typeface="Times New Roman"/>
              </a:rPr>
              <a:t>v</a:t>
            </a:r>
            <a:r>
              <a:rPr lang="en-US" sz="1400" i="1" spc="-131" dirty="0">
                <a:latin typeface="Times New Roman"/>
                <a:cs typeface="Times New Roman"/>
              </a:rPr>
              <a:t>a</a:t>
            </a:r>
            <a:r>
              <a:rPr lang="en-US" sz="1400" i="1" spc="-94" dirty="0">
                <a:latin typeface="Times New Roman"/>
                <a:cs typeface="Times New Roman"/>
              </a:rPr>
              <a:t>lue</a:t>
            </a:r>
            <a:r>
              <a:rPr lang="en-US" sz="1400" i="1" spc="-104" dirty="0">
                <a:latin typeface="Times New Roman"/>
                <a:cs typeface="Times New Roman"/>
              </a:rPr>
              <a:t>3</a:t>
            </a:r>
            <a:r>
              <a:rPr lang="en-US" sz="1400" spc="54" dirty="0">
                <a:latin typeface="Times New Roman"/>
                <a:cs typeface="Times New Roman"/>
              </a:rPr>
              <a:t>,</a:t>
            </a:r>
            <a:r>
              <a:rPr lang="en-US" sz="1400" spc="-94" dirty="0">
                <a:latin typeface="Times New Roman"/>
                <a:cs typeface="Times New Roman"/>
              </a:rPr>
              <a:t> </a:t>
            </a:r>
            <a:r>
              <a:rPr lang="en-US" sz="1400" spc="54" dirty="0">
                <a:latin typeface="Times New Roman"/>
                <a:cs typeface="Times New Roman"/>
              </a:rPr>
              <a:t>.</a:t>
            </a:r>
            <a:r>
              <a:rPr lang="en-US" sz="1400" spc="48" dirty="0">
                <a:latin typeface="Times New Roman"/>
                <a:cs typeface="Times New Roman"/>
              </a:rPr>
              <a:t>.</a:t>
            </a:r>
            <a:r>
              <a:rPr lang="en-US" sz="1400" spc="11" dirty="0">
                <a:latin typeface="Times New Roman"/>
                <a:cs typeface="Times New Roman"/>
              </a:rPr>
              <a:t>.</a:t>
            </a:r>
            <a:r>
              <a:rPr lang="en-US" sz="1400" spc="8" dirty="0">
                <a:latin typeface="Times New Roman"/>
                <a:cs typeface="Times New Roman"/>
              </a:rPr>
              <a:t>)</a:t>
            </a:r>
            <a:r>
              <a:rPr lang="en-US" sz="1400" spc="16" dirty="0">
                <a:latin typeface="Times New Roman"/>
                <a:cs typeface="Times New Roman"/>
              </a:rPr>
              <a:t>;</a:t>
            </a:r>
            <a:endParaRPr lang="en-US" sz="1400" dirty="0">
              <a:latin typeface="Times New Roman"/>
              <a:cs typeface="Times New Roman"/>
            </a:endParaRPr>
          </a:p>
          <a:p>
            <a:pPr marL="153613">
              <a:spcBef>
                <a:spcPts val="361"/>
              </a:spcBef>
            </a:pPr>
            <a:r>
              <a:rPr lang="en-US" sz="1400" spc="-19" dirty="0" err="1">
                <a:latin typeface="Times New Roman"/>
                <a:cs typeface="Times New Roman"/>
              </a:rPr>
              <a:t>Eg</a:t>
            </a:r>
            <a:r>
              <a:rPr lang="en-US" sz="1400" spc="-19" dirty="0">
                <a:latin typeface="Times New Roman"/>
                <a:cs typeface="Times New Roman"/>
              </a:rPr>
              <a:t>: INSERT</a:t>
            </a:r>
            <a:r>
              <a:rPr lang="en-US" sz="1400" spc="-3" dirty="0">
                <a:latin typeface="Times New Roman"/>
                <a:cs typeface="Times New Roman"/>
              </a:rPr>
              <a:t> </a:t>
            </a:r>
            <a:r>
              <a:rPr lang="en-US" sz="1400" spc="-19" dirty="0">
                <a:latin typeface="Times New Roman"/>
                <a:cs typeface="Times New Roman"/>
              </a:rPr>
              <a:t>INTO</a:t>
            </a:r>
            <a:r>
              <a:rPr lang="en-US" sz="1400" spc="32" dirty="0">
                <a:latin typeface="Times New Roman"/>
                <a:cs typeface="Times New Roman"/>
              </a:rPr>
              <a:t> </a:t>
            </a:r>
            <a:r>
              <a:rPr lang="en-US" sz="1400" spc="-5" dirty="0">
                <a:latin typeface="Times New Roman"/>
                <a:cs typeface="Times New Roman"/>
              </a:rPr>
              <a:t>Employees</a:t>
            </a:r>
            <a:r>
              <a:rPr lang="en-US" sz="1400" spc="13" dirty="0">
                <a:latin typeface="Times New Roman"/>
                <a:cs typeface="Times New Roman"/>
              </a:rPr>
              <a:t> </a:t>
            </a:r>
            <a:r>
              <a:rPr lang="en-US" sz="1400" spc="-37" dirty="0">
                <a:latin typeface="Times New Roman"/>
                <a:cs typeface="Times New Roman"/>
              </a:rPr>
              <a:t>VALUES</a:t>
            </a:r>
            <a:r>
              <a:rPr lang="en-US" sz="1400" spc="4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(100,</a:t>
            </a:r>
            <a:r>
              <a:rPr lang="en-US" sz="1400" spc="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Times New Roman"/>
                <a:cs typeface="Times New Roman"/>
              </a:rPr>
              <a:t>18,</a:t>
            </a:r>
            <a:r>
              <a:rPr lang="en-US" sz="1400" spc="3" dirty="0">
                <a:latin typeface="Times New Roman"/>
                <a:cs typeface="Times New Roman"/>
              </a:rPr>
              <a:t> </a:t>
            </a:r>
            <a:r>
              <a:rPr lang="en-US" sz="1400" spc="-11" dirty="0">
                <a:latin typeface="Times New Roman"/>
                <a:cs typeface="Times New Roman"/>
              </a:rPr>
              <a:t>'Zara',</a:t>
            </a:r>
            <a:r>
              <a:rPr lang="en-US" sz="1400" spc="48" dirty="0">
                <a:latin typeface="Times New Roman"/>
                <a:cs typeface="Times New Roman"/>
              </a:rPr>
              <a:t> </a:t>
            </a:r>
            <a:r>
              <a:rPr lang="en-US" sz="1400" spc="-5" dirty="0">
                <a:latin typeface="Times New Roman"/>
                <a:cs typeface="Times New Roman"/>
              </a:rPr>
              <a:t>'Ali');</a:t>
            </a:r>
            <a:endParaRPr lang="en-US" sz="1400" dirty="0">
              <a:latin typeface="Times New Roman"/>
              <a:cs typeface="Times New Roman"/>
            </a:endParaRPr>
          </a:p>
          <a:p>
            <a:pPr marL="496184" algn="l">
              <a:lnSpc>
                <a:spcPts val="1491"/>
              </a:lnSpc>
            </a:pPr>
            <a:endParaRPr sz="14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8600" y="94272"/>
            <a:ext cx="7162800" cy="3601694"/>
          </a:xfrm>
          <a:prstGeom prst="rect">
            <a:avLst/>
          </a:prstGeom>
        </p:spPr>
        <p:txBody>
          <a:bodyPr vert="horz" wrap="square" lIns="0" tIns="6797" rIns="0" bIns="0" rtlCol="0">
            <a:spAutoFit/>
          </a:bodyPr>
          <a:lstStyle/>
          <a:p>
            <a:pPr marL="153273" marR="2986280" indent="-153273" algn="l">
              <a:lnSpc>
                <a:spcPct val="120900"/>
              </a:lnSpc>
              <a:spcBef>
                <a:spcPts val="54"/>
              </a:spcBef>
              <a:buClr>
                <a:srgbClr val="D24717"/>
              </a:buClr>
              <a:buSzPct val="85416"/>
              <a:buFont typeface="Segoe UI Symbol"/>
              <a:buChar char="⚫"/>
              <a:tabLst>
                <a:tab pos="153273" algn="l"/>
                <a:tab pos="153613" algn="l"/>
              </a:tabLst>
            </a:pPr>
            <a:r>
              <a:rPr sz="1400" b="1" dirty="0">
                <a:latin typeface="Times New Roman"/>
                <a:cs typeface="Times New Roman"/>
              </a:rPr>
              <a:t>SELE</a:t>
            </a:r>
            <a:r>
              <a:rPr sz="1400" b="1" spc="-3" dirty="0">
                <a:latin typeface="Times New Roman"/>
                <a:cs typeface="Times New Roman"/>
              </a:rPr>
              <a:t>CT</a:t>
            </a:r>
            <a:r>
              <a:rPr sz="1400" b="1" spc="-37" dirty="0">
                <a:latin typeface="Times New Roman"/>
                <a:cs typeface="Times New Roman"/>
              </a:rPr>
              <a:t> </a:t>
            </a:r>
            <a:r>
              <a:rPr sz="1400" b="1" spc="-3" dirty="0">
                <a:latin typeface="Times New Roman"/>
                <a:cs typeface="Times New Roman"/>
              </a:rPr>
              <a:t>Da</a:t>
            </a:r>
            <a:r>
              <a:rPr sz="1400" b="1" spc="-11" dirty="0">
                <a:latin typeface="Times New Roman"/>
                <a:cs typeface="Times New Roman"/>
              </a:rPr>
              <a:t>t</a:t>
            </a:r>
            <a:r>
              <a:rPr sz="1400" b="1" dirty="0">
                <a:latin typeface="Times New Roman"/>
                <a:cs typeface="Times New Roman"/>
              </a:rPr>
              <a:t>a  </a:t>
            </a:r>
            <a:endParaRPr lang="en-US" sz="1400" b="1" dirty="0">
              <a:latin typeface="Times New Roman"/>
              <a:cs typeface="Times New Roman"/>
            </a:endParaRPr>
          </a:p>
          <a:p>
            <a:pPr marR="2986280" algn="l">
              <a:lnSpc>
                <a:spcPct val="120900"/>
              </a:lnSpc>
              <a:spcBef>
                <a:spcPts val="54"/>
              </a:spcBef>
              <a:buClr>
                <a:srgbClr val="D24717"/>
              </a:buClr>
              <a:buSzPct val="85416"/>
              <a:tabLst>
                <a:tab pos="153273" algn="l"/>
                <a:tab pos="153613" algn="l"/>
              </a:tabLst>
            </a:pPr>
            <a:r>
              <a:rPr sz="1400" b="1" dirty="0">
                <a:solidFill>
                  <a:schemeClr val="tx1"/>
                </a:solidFill>
                <a:latin typeface="Times New Roman"/>
                <a:cs typeface="Times New Roman"/>
              </a:rPr>
              <a:t>Syntax</a:t>
            </a:r>
            <a:endParaRPr sz="1400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153613" algn="l">
              <a:spcBef>
                <a:spcPts val="219"/>
              </a:spcBef>
            </a:pPr>
            <a:r>
              <a:rPr sz="1400" b="1" spc="-169" dirty="0">
                <a:solidFill>
                  <a:srgbClr val="FF0000"/>
                </a:solidFill>
                <a:latin typeface="Times New Roman"/>
                <a:cs typeface="Times New Roman"/>
              </a:rPr>
              <a:t>SELECT</a:t>
            </a:r>
            <a:r>
              <a:rPr sz="1400" b="1" spc="-37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00" i="1" spc="-102" dirty="0">
                <a:latin typeface="Times New Roman"/>
                <a:cs typeface="Times New Roman"/>
              </a:rPr>
              <a:t>column1</a:t>
            </a:r>
            <a:r>
              <a:rPr sz="1400" spc="-102" dirty="0">
                <a:latin typeface="Times New Roman"/>
                <a:cs typeface="Times New Roman"/>
              </a:rPr>
              <a:t>,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i="1" spc="-107" dirty="0">
                <a:latin typeface="Times New Roman"/>
                <a:cs typeface="Times New Roman"/>
              </a:rPr>
              <a:t>column2,</a:t>
            </a:r>
            <a:r>
              <a:rPr sz="1400" i="1" spc="-182" dirty="0">
                <a:latin typeface="Times New Roman"/>
                <a:cs typeface="Times New Roman"/>
              </a:rPr>
              <a:t> </a:t>
            </a:r>
            <a:r>
              <a:rPr sz="1400" i="1" spc="-56" dirty="0">
                <a:latin typeface="Times New Roman"/>
                <a:cs typeface="Times New Roman"/>
              </a:rPr>
              <a:t>...</a:t>
            </a:r>
            <a:r>
              <a:rPr sz="1400" b="1" spc="-56" dirty="0">
                <a:solidFill>
                  <a:srgbClr val="FF0000"/>
                </a:solidFill>
                <a:latin typeface="Times New Roman"/>
                <a:cs typeface="Times New Roman"/>
              </a:rPr>
              <a:t>FROM</a:t>
            </a:r>
            <a:r>
              <a:rPr sz="1400" b="1" spc="-29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00" i="1" spc="-107" dirty="0">
                <a:latin typeface="Times New Roman"/>
                <a:cs typeface="Times New Roman"/>
              </a:rPr>
              <a:t>table_name</a:t>
            </a:r>
            <a:r>
              <a:rPr sz="1400" spc="-107" dirty="0">
                <a:latin typeface="Times New Roman"/>
                <a:cs typeface="Times New Roman"/>
              </a:rPr>
              <a:t>;</a:t>
            </a:r>
            <a:endParaRPr sz="1400" dirty="0">
              <a:latin typeface="Times New Roman"/>
              <a:cs typeface="Times New Roman"/>
            </a:endParaRPr>
          </a:p>
          <a:p>
            <a:pPr marL="153613" algn="l">
              <a:spcBef>
                <a:spcPts val="423"/>
              </a:spcBef>
            </a:pPr>
            <a:r>
              <a:rPr sz="1400" spc="-3" dirty="0">
                <a:solidFill>
                  <a:srgbClr val="FF0000"/>
                </a:solidFill>
                <a:latin typeface="Times New Roman"/>
                <a:cs typeface="Times New Roman"/>
              </a:rPr>
              <a:t>OR</a:t>
            </a:r>
            <a:endParaRPr sz="1400" dirty="0">
              <a:latin typeface="Times New Roman"/>
              <a:cs typeface="Times New Roman"/>
            </a:endParaRPr>
          </a:p>
          <a:p>
            <a:pPr marL="153613" algn="l">
              <a:spcBef>
                <a:spcPts val="222"/>
              </a:spcBef>
              <a:tabLst>
                <a:tab pos="2093828" algn="l"/>
              </a:tabLst>
            </a:pPr>
            <a:r>
              <a:rPr sz="1400" b="1" spc="-171" dirty="0">
                <a:solidFill>
                  <a:srgbClr val="FF0000"/>
                </a:solidFill>
                <a:latin typeface="Times New Roman"/>
                <a:cs typeface="Times New Roman"/>
              </a:rPr>
              <a:t>SELE</a:t>
            </a:r>
            <a:r>
              <a:rPr sz="1400" b="1" spc="-187" dirty="0">
                <a:solidFill>
                  <a:srgbClr val="FF0000"/>
                </a:solidFill>
                <a:latin typeface="Times New Roman"/>
                <a:cs typeface="Times New Roman"/>
              </a:rPr>
              <a:t>C</a:t>
            </a:r>
            <a:r>
              <a:rPr sz="1400" b="1" spc="-134" dirty="0">
                <a:solidFill>
                  <a:srgbClr val="FF0000"/>
                </a:solidFill>
                <a:latin typeface="Times New Roman"/>
                <a:cs typeface="Times New Roman"/>
              </a:rPr>
              <a:t>T</a:t>
            </a:r>
            <a:r>
              <a:rPr sz="1400" b="1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00" b="1" spc="11" dirty="0">
                <a:latin typeface="Times New Roman"/>
                <a:cs typeface="Times New Roman"/>
              </a:rPr>
              <a:t>*</a:t>
            </a:r>
            <a:r>
              <a:rPr sz="1400" b="1" spc="-27" dirty="0">
                <a:latin typeface="Times New Roman"/>
                <a:cs typeface="Times New Roman"/>
              </a:rPr>
              <a:t> </a:t>
            </a:r>
            <a:r>
              <a:rPr sz="1400" b="1" spc="-118" dirty="0">
                <a:solidFill>
                  <a:srgbClr val="FF0000"/>
                </a:solidFill>
                <a:latin typeface="Times New Roman"/>
                <a:cs typeface="Times New Roman"/>
              </a:rPr>
              <a:t>F</a:t>
            </a:r>
            <a:r>
              <a:rPr sz="1400" b="1" spc="-185" dirty="0">
                <a:solidFill>
                  <a:srgbClr val="FF0000"/>
                </a:solidFill>
                <a:latin typeface="Times New Roman"/>
                <a:cs typeface="Times New Roman"/>
              </a:rPr>
              <a:t>R</a:t>
            </a:r>
            <a:r>
              <a:rPr sz="1400" b="1" spc="-59" dirty="0">
                <a:solidFill>
                  <a:srgbClr val="FF0000"/>
                </a:solidFill>
                <a:latin typeface="Times New Roman"/>
                <a:cs typeface="Times New Roman"/>
              </a:rPr>
              <a:t>O</a:t>
            </a:r>
            <a:r>
              <a:rPr sz="1400" b="1" spc="-70" dirty="0">
                <a:solidFill>
                  <a:srgbClr val="FF0000"/>
                </a:solidFill>
                <a:latin typeface="Times New Roman"/>
                <a:cs typeface="Times New Roman"/>
              </a:rPr>
              <a:t>M</a:t>
            </a:r>
            <a:r>
              <a:rPr sz="1400" b="1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00" i="1" spc="-56" dirty="0">
                <a:latin typeface="Times New Roman"/>
                <a:cs typeface="Times New Roman"/>
              </a:rPr>
              <a:t>t</a:t>
            </a:r>
            <a:r>
              <a:rPr sz="1400" i="1" spc="-99" dirty="0">
                <a:latin typeface="Times New Roman"/>
                <a:cs typeface="Times New Roman"/>
              </a:rPr>
              <a:t>a</a:t>
            </a:r>
            <a:r>
              <a:rPr sz="1400" i="1" spc="-195" dirty="0">
                <a:latin typeface="Times New Roman"/>
                <a:cs typeface="Times New Roman"/>
              </a:rPr>
              <a:t>b</a:t>
            </a:r>
            <a:r>
              <a:rPr sz="1400" i="1" spc="-94" dirty="0">
                <a:latin typeface="Times New Roman"/>
                <a:cs typeface="Times New Roman"/>
              </a:rPr>
              <a:t>le_n</a:t>
            </a:r>
            <a:r>
              <a:rPr sz="1400" i="1" spc="-102" dirty="0">
                <a:latin typeface="Times New Roman"/>
                <a:cs typeface="Times New Roman"/>
              </a:rPr>
              <a:t>a</a:t>
            </a:r>
            <a:r>
              <a:rPr sz="1400" i="1" spc="-227" dirty="0">
                <a:latin typeface="Times New Roman"/>
                <a:cs typeface="Times New Roman"/>
              </a:rPr>
              <a:t>m</a:t>
            </a:r>
            <a:r>
              <a:rPr sz="1400" i="1" spc="-145" dirty="0">
                <a:latin typeface="Times New Roman"/>
                <a:cs typeface="Times New Roman"/>
              </a:rPr>
              <a:t>e</a:t>
            </a:r>
            <a:r>
              <a:rPr sz="1400" i="1" spc="-96" dirty="0">
                <a:latin typeface="Times New Roman"/>
                <a:cs typeface="Times New Roman"/>
              </a:rPr>
              <a:t>;</a:t>
            </a:r>
            <a:r>
              <a:rPr sz="1400" i="1" dirty="0">
                <a:latin typeface="Times New Roman"/>
                <a:cs typeface="Times New Roman"/>
              </a:rPr>
              <a:t>	</a:t>
            </a:r>
            <a:r>
              <a:rPr sz="1400" i="1" spc="284" dirty="0">
                <a:solidFill>
                  <a:srgbClr val="FF0000"/>
                </a:solidFill>
                <a:latin typeface="Times New Roman"/>
                <a:cs typeface="Times New Roman"/>
              </a:rPr>
              <a:t>//</a:t>
            </a:r>
            <a:r>
              <a:rPr sz="1400" i="1" spc="-193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00" i="1" spc="-241" dirty="0">
                <a:solidFill>
                  <a:srgbClr val="FF0000"/>
                </a:solidFill>
                <a:latin typeface="Times New Roman"/>
                <a:cs typeface="Times New Roman"/>
              </a:rPr>
              <a:t>T</a:t>
            </a:r>
            <a:r>
              <a:rPr sz="1400" i="1" spc="-174" dirty="0">
                <a:solidFill>
                  <a:srgbClr val="FF0000"/>
                </a:solidFill>
                <a:latin typeface="Times New Roman"/>
                <a:cs typeface="Times New Roman"/>
              </a:rPr>
              <a:t>o</a:t>
            </a:r>
            <a:r>
              <a:rPr sz="1400" i="1" spc="-48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00" i="1" spc="-136" dirty="0">
                <a:solidFill>
                  <a:srgbClr val="FF0000"/>
                </a:solidFill>
                <a:latin typeface="Times New Roman"/>
                <a:cs typeface="Times New Roman"/>
              </a:rPr>
              <a:t>sel</a:t>
            </a:r>
            <a:r>
              <a:rPr sz="1400" i="1" spc="-171" dirty="0">
                <a:solidFill>
                  <a:srgbClr val="FF0000"/>
                </a:solidFill>
                <a:latin typeface="Times New Roman"/>
                <a:cs typeface="Times New Roman"/>
              </a:rPr>
              <a:t>e</a:t>
            </a:r>
            <a:r>
              <a:rPr sz="1400" i="1" spc="-104" dirty="0">
                <a:solidFill>
                  <a:srgbClr val="FF0000"/>
                </a:solidFill>
                <a:latin typeface="Times New Roman"/>
                <a:cs typeface="Times New Roman"/>
              </a:rPr>
              <a:t>ct</a:t>
            </a:r>
            <a:r>
              <a:rPr sz="1400" i="1" spc="-29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00" i="1" spc="-102" dirty="0">
                <a:solidFill>
                  <a:srgbClr val="FF0000"/>
                </a:solidFill>
                <a:latin typeface="Times New Roman"/>
                <a:cs typeface="Times New Roman"/>
              </a:rPr>
              <a:t>the</a:t>
            </a:r>
            <a:r>
              <a:rPr sz="1400" i="1" spc="-27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00" i="1" spc="-230" dirty="0">
                <a:solidFill>
                  <a:srgbClr val="FF0000"/>
                </a:solidFill>
                <a:latin typeface="Times New Roman"/>
                <a:cs typeface="Times New Roman"/>
              </a:rPr>
              <a:t>w</a:t>
            </a:r>
            <a:r>
              <a:rPr sz="1400" i="1" spc="-142" dirty="0">
                <a:solidFill>
                  <a:srgbClr val="FF0000"/>
                </a:solidFill>
                <a:latin typeface="Times New Roman"/>
                <a:cs typeface="Times New Roman"/>
              </a:rPr>
              <a:t>h</a:t>
            </a:r>
            <a:r>
              <a:rPr sz="1400" i="1" spc="-134" dirty="0">
                <a:solidFill>
                  <a:srgbClr val="FF0000"/>
                </a:solidFill>
                <a:latin typeface="Times New Roman"/>
                <a:cs typeface="Times New Roman"/>
              </a:rPr>
              <a:t>o</a:t>
            </a:r>
            <a:r>
              <a:rPr sz="1400" i="1" spc="-88" dirty="0">
                <a:solidFill>
                  <a:srgbClr val="FF0000"/>
                </a:solidFill>
                <a:latin typeface="Times New Roman"/>
                <a:cs typeface="Times New Roman"/>
              </a:rPr>
              <a:t>l</a:t>
            </a:r>
            <a:r>
              <a:rPr sz="1400" i="1" spc="-134" dirty="0">
                <a:solidFill>
                  <a:srgbClr val="FF0000"/>
                </a:solidFill>
                <a:latin typeface="Times New Roman"/>
                <a:cs typeface="Times New Roman"/>
              </a:rPr>
              <a:t>e</a:t>
            </a:r>
            <a:r>
              <a:rPr sz="1400" i="1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00" i="1" spc="-56" dirty="0">
                <a:solidFill>
                  <a:srgbClr val="FF0000"/>
                </a:solidFill>
                <a:latin typeface="Times New Roman"/>
                <a:cs typeface="Times New Roman"/>
              </a:rPr>
              <a:t>t</a:t>
            </a:r>
            <a:r>
              <a:rPr sz="1400" i="1" spc="-99" dirty="0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sz="1400" i="1" spc="-195" dirty="0">
                <a:solidFill>
                  <a:srgbClr val="FF0000"/>
                </a:solidFill>
                <a:latin typeface="Times New Roman"/>
                <a:cs typeface="Times New Roman"/>
              </a:rPr>
              <a:t>b</a:t>
            </a:r>
            <a:r>
              <a:rPr sz="1400" i="1" spc="-112" dirty="0">
                <a:solidFill>
                  <a:srgbClr val="FF0000"/>
                </a:solidFill>
                <a:latin typeface="Times New Roman"/>
                <a:cs typeface="Times New Roman"/>
              </a:rPr>
              <a:t>le</a:t>
            </a:r>
            <a:endParaRPr sz="1400" dirty="0">
              <a:latin typeface="Times New Roman"/>
              <a:cs typeface="Times New Roman"/>
            </a:endParaRPr>
          </a:p>
          <a:p>
            <a:pPr marL="88362" algn="l">
              <a:spcBef>
                <a:spcPts val="423"/>
              </a:spcBef>
              <a:tabLst>
                <a:tab pos="1681928" algn="l"/>
                <a:tab pos="2987979" algn="l"/>
              </a:tabLst>
            </a:pPr>
            <a:r>
              <a:rPr lang="en-US" sz="1400" spc="-5" dirty="0" err="1">
                <a:latin typeface="Times New Roman"/>
                <a:cs typeface="Times New Roman"/>
              </a:rPr>
              <a:t>Eg</a:t>
            </a:r>
            <a:r>
              <a:rPr lang="en-US" sz="1400" spc="-5" dirty="0">
                <a:latin typeface="Times New Roman"/>
                <a:cs typeface="Times New Roman"/>
              </a:rPr>
              <a:t>: </a:t>
            </a:r>
            <a:r>
              <a:rPr sz="1400" spc="-5" dirty="0">
                <a:latin typeface="Times New Roman"/>
                <a:cs typeface="Times New Roman"/>
              </a:rPr>
              <a:t>SELECT</a:t>
            </a:r>
            <a:r>
              <a:rPr sz="1400" spc="-13" dirty="0">
                <a:latin typeface="Times New Roman"/>
                <a:cs typeface="Times New Roman"/>
              </a:rPr>
              <a:t> </a:t>
            </a:r>
            <a:r>
              <a:rPr sz="1400" spc="-3" dirty="0">
                <a:latin typeface="Times New Roman"/>
                <a:cs typeface="Times New Roman"/>
              </a:rPr>
              <a:t>first,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last,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spc="-8" dirty="0">
                <a:latin typeface="Times New Roman"/>
                <a:cs typeface="Times New Roman"/>
              </a:rPr>
              <a:t>age</a:t>
            </a:r>
            <a:r>
              <a:rPr lang="en-US" sz="1400" spc="-8" dirty="0">
                <a:latin typeface="Times New Roman"/>
                <a:cs typeface="Times New Roman"/>
              </a:rPr>
              <a:t> </a:t>
            </a:r>
            <a:r>
              <a:rPr sz="1400" spc="-3" dirty="0">
                <a:latin typeface="Times New Roman"/>
                <a:cs typeface="Times New Roman"/>
              </a:rPr>
              <a:t>FROM</a:t>
            </a:r>
            <a:r>
              <a:rPr sz="1400" spc="11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Employees</a:t>
            </a:r>
            <a:r>
              <a:rPr lang="en-US"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WHERE</a:t>
            </a:r>
            <a:r>
              <a:rPr sz="1400" spc="-29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id</a:t>
            </a:r>
            <a:r>
              <a:rPr sz="1400" spc="-16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=</a:t>
            </a:r>
            <a:r>
              <a:rPr sz="1400" spc="-19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100</a:t>
            </a:r>
          </a:p>
          <a:p>
            <a:pPr marL="153613" marR="2968267" indent="-146816" algn="l">
              <a:lnSpc>
                <a:spcPct val="120900"/>
              </a:lnSpc>
              <a:buClr>
                <a:srgbClr val="D24717"/>
              </a:buClr>
              <a:buSzPct val="85416"/>
              <a:buFont typeface="Segoe UI Symbol"/>
              <a:buChar char="⚫"/>
              <a:tabLst>
                <a:tab pos="153273" algn="l"/>
                <a:tab pos="153613" algn="l"/>
              </a:tabLst>
            </a:pPr>
            <a:r>
              <a:rPr sz="1400" b="1" spc="-21" dirty="0">
                <a:latin typeface="Times New Roman"/>
                <a:cs typeface="Times New Roman"/>
              </a:rPr>
              <a:t>UPDATE </a:t>
            </a:r>
            <a:r>
              <a:rPr sz="1400" b="1" spc="-3" dirty="0">
                <a:latin typeface="Times New Roman"/>
                <a:cs typeface="Times New Roman"/>
              </a:rPr>
              <a:t>Data </a:t>
            </a:r>
            <a:endParaRPr lang="en-US" sz="1400" b="1" spc="-3" dirty="0">
              <a:latin typeface="Times New Roman"/>
              <a:cs typeface="Times New Roman"/>
            </a:endParaRPr>
          </a:p>
          <a:p>
            <a:pPr marL="6797" marR="2968267" algn="l">
              <a:lnSpc>
                <a:spcPct val="120900"/>
              </a:lnSpc>
              <a:buClr>
                <a:srgbClr val="D24717"/>
              </a:buClr>
              <a:buSzPct val="85416"/>
              <a:tabLst>
                <a:tab pos="153273" algn="l"/>
                <a:tab pos="153613" algn="l"/>
              </a:tabLst>
            </a:pPr>
            <a:r>
              <a:rPr sz="1400" b="1" spc="-313" dirty="0"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chemeClr val="tx1"/>
                </a:solidFill>
                <a:latin typeface="Times New Roman"/>
                <a:cs typeface="Times New Roman"/>
              </a:rPr>
              <a:t>Syntax</a:t>
            </a:r>
            <a:endParaRPr sz="1400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153613" algn="l">
              <a:spcBef>
                <a:spcPts val="179"/>
              </a:spcBef>
            </a:pPr>
            <a:r>
              <a:rPr sz="1400" b="1" spc="-48" dirty="0">
                <a:solidFill>
                  <a:srgbClr val="FF0000"/>
                </a:solidFill>
                <a:latin typeface="Times New Roman"/>
                <a:cs typeface="Times New Roman"/>
              </a:rPr>
              <a:t>UP</a:t>
            </a:r>
            <a:r>
              <a:rPr sz="1400" b="1" spc="-99" dirty="0">
                <a:solidFill>
                  <a:srgbClr val="FF0000"/>
                </a:solidFill>
                <a:latin typeface="Times New Roman"/>
                <a:cs typeface="Times New Roman"/>
              </a:rPr>
              <a:t>D</a:t>
            </a:r>
            <a:r>
              <a:rPr sz="1400" b="1" spc="-174" dirty="0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sz="1400" b="1" spc="-139" dirty="0">
                <a:solidFill>
                  <a:srgbClr val="FF0000"/>
                </a:solidFill>
                <a:latin typeface="Times New Roman"/>
                <a:cs typeface="Times New Roman"/>
              </a:rPr>
              <a:t>T</a:t>
            </a:r>
            <a:r>
              <a:rPr sz="1400" b="1" spc="-203" dirty="0">
                <a:solidFill>
                  <a:srgbClr val="FF0000"/>
                </a:solidFill>
                <a:latin typeface="Times New Roman"/>
                <a:cs typeface="Times New Roman"/>
              </a:rPr>
              <a:t>E</a:t>
            </a:r>
            <a:r>
              <a:rPr sz="1400" b="1" spc="-37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00" i="1" spc="-56" dirty="0">
                <a:latin typeface="Times New Roman"/>
                <a:cs typeface="Times New Roman"/>
              </a:rPr>
              <a:t>t</a:t>
            </a:r>
            <a:r>
              <a:rPr sz="1400" i="1" spc="-99" dirty="0">
                <a:latin typeface="Times New Roman"/>
                <a:cs typeface="Times New Roman"/>
              </a:rPr>
              <a:t>a</a:t>
            </a:r>
            <a:r>
              <a:rPr sz="1400" i="1" spc="-195" dirty="0">
                <a:latin typeface="Times New Roman"/>
                <a:cs typeface="Times New Roman"/>
              </a:rPr>
              <a:t>b</a:t>
            </a:r>
            <a:r>
              <a:rPr sz="1400" i="1" spc="-88" dirty="0">
                <a:latin typeface="Times New Roman"/>
                <a:cs typeface="Times New Roman"/>
              </a:rPr>
              <a:t>l</a:t>
            </a:r>
            <a:r>
              <a:rPr sz="1400" i="1" spc="-142" dirty="0">
                <a:latin typeface="Times New Roman"/>
                <a:cs typeface="Times New Roman"/>
              </a:rPr>
              <a:t>e</a:t>
            </a:r>
            <a:r>
              <a:rPr sz="1400" i="1" spc="-80" dirty="0">
                <a:latin typeface="Times New Roman"/>
                <a:cs typeface="Times New Roman"/>
              </a:rPr>
              <a:t>_n</a:t>
            </a:r>
            <a:r>
              <a:rPr sz="1400" i="1" spc="-75" dirty="0">
                <a:latin typeface="Times New Roman"/>
                <a:cs typeface="Times New Roman"/>
              </a:rPr>
              <a:t>a</a:t>
            </a:r>
            <a:r>
              <a:rPr sz="1400" i="1" spc="-201" dirty="0">
                <a:latin typeface="Times New Roman"/>
                <a:cs typeface="Times New Roman"/>
              </a:rPr>
              <a:t>m</a:t>
            </a:r>
            <a:r>
              <a:rPr sz="1400" i="1" spc="-169" dirty="0">
                <a:latin typeface="Times New Roman"/>
                <a:cs typeface="Times New Roman"/>
              </a:rPr>
              <a:t>e</a:t>
            </a:r>
            <a:r>
              <a:rPr sz="1400" i="1" spc="-37" dirty="0">
                <a:latin typeface="Times New Roman"/>
                <a:cs typeface="Times New Roman"/>
              </a:rPr>
              <a:t> </a:t>
            </a:r>
            <a:r>
              <a:rPr sz="1400" b="1" spc="-155" dirty="0">
                <a:solidFill>
                  <a:srgbClr val="FF0000"/>
                </a:solidFill>
                <a:latin typeface="Times New Roman"/>
                <a:cs typeface="Times New Roman"/>
              </a:rPr>
              <a:t>SET</a:t>
            </a:r>
            <a:r>
              <a:rPr sz="1400" b="1" spc="-29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00" i="1" spc="-120" dirty="0">
                <a:latin typeface="Times New Roman"/>
                <a:cs typeface="Times New Roman"/>
              </a:rPr>
              <a:t>col</a:t>
            </a:r>
            <a:r>
              <a:rPr sz="1400" i="1" spc="-145" dirty="0">
                <a:latin typeface="Times New Roman"/>
                <a:cs typeface="Times New Roman"/>
              </a:rPr>
              <a:t>u</a:t>
            </a:r>
            <a:r>
              <a:rPr sz="1400" i="1" spc="-201" dirty="0">
                <a:latin typeface="Times New Roman"/>
                <a:cs typeface="Times New Roman"/>
              </a:rPr>
              <a:t>m</a:t>
            </a:r>
            <a:r>
              <a:rPr sz="1400" i="1" spc="-80" dirty="0">
                <a:latin typeface="Times New Roman"/>
                <a:cs typeface="Times New Roman"/>
              </a:rPr>
              <a:t>n1</a:t>
            </a:r>
            <a:r>
              <a:rPr sz="1400" i="1" spc="-45" dirty="0">
                <a:latin typeface="Times New Roman"/>
                <a:cs typeface="Times New Roman"/>
              </a:rPr>
              <a:t> </a:t>
            </a:r>
            <a:r>
              <a:rPr sz="1400" spc="131" dirty="0">
                <a:latin typeface="Times New Roman"/>
                <a:cs typeface="Times New Roman"/>
              </a:rPr>
              <a:t>=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i="1" spc="-174" dirty="0">
                <a:latin typeface="Times New Roman"/>
                <a:cs typeface="Times New Roman"/>
              </a:rPr>
              <a:t>v</a:t>
            </a:r>
            <a:r>
              <a:rPr sz="1400" i="1" spc="-131" dirty="0">
                <a:latin typeface="Times New Roman"/>
                <a:cs typeface="Times New Roman"/>
              </a:rPr>
              <a:t>a</a:t>
            </a:r>
            <a:r>
              <a:rPr sz="1400" i="1" spc="-94" dirty="0">
                <a:latin typeface="Times New Roman"/>
                <a:cs typeface="Times New Roman"/>
              </a:rPr>
              <a:t>lue</a:t>
            </a:r>
            <a:r>
              <a:rPr sz="1400" i="1" spc="-109" dirty="0">
                <a:latin typeface="Times New Roman"/>
                <a:cs typeface="Times New Roman"/>
              </a:rPr>
              <a:t>1</a:t>
            </a:r>
            <a:r>
              <a:rPr sz="1400" spc="54" dirty="0">
                <a:latin typeface="Times New Roman"/>
                <a:cs typeface="Times New Roman"/>
              </a:rPr>
              <a:t>,</a:t>
            </a:r>
            <a:r>
              <a:rPr sz="1400" spc="-29" dirty="0">
                <a:latin typeface="Times New Roman"/>
                <a:cs typeface="Times New Roman"/>
              </a:rPr>
              <a:t> </a:t>
            </a:r>
            <a:r>
              <a:rPr sz="1400" i="1" spc="-169" dirty="0">
                <a:latin typeface="Times New Roman"/>
                <a:cs typeface="Times New Roman"/>
              </a:rPr>
              <a:t>c</a:t>
            </a:r>
            <a:r>
              <a:rPr sz="1400" i="1" spc="-187" dirty="0">
                <a:latin typeface="Times New Roman"/>
                <a:cs typeface="Times New Roman"/>
              </a:rPr>
              <a:t>o</a:t>
            </a:r>
            <a:r>
              <a:rPr sz="1400" i="1" spc="-59" dirty="0">
                <a:latin typeface="Times New Roman"/>
                <a:cs typeface="Times New Roman"/>
              </a:rPr>
              <a:t>l</a:t>
            </a:r>
            <a:r>
              <a:rPr sz="1400" i="1" spc="-102" dirty="0">
                <a:latin typeface="Times New Roman"/>
                <a:cs typeface="Times New Roman"/>
              </a:rPr>
              <a:t>u</a:t>
            </a:r>
            <a:r>
              <a:rPr sz="1400" i="1" spc="-128" dirty="0">
                <a:latin typeface="Times New Roman"/>
                <a:cs typeface="Times New Roman"/>
              </a:rPr>
              <a:t>mn</a:t>
            </a:r>
            <a:r>
              <a:rPr sz="1400" i="1" spc="-102" dirty="0">
                <a:latin typeface="Times New Roman"/>
                <a:cs typeface="Times New Roman"/>
              </a:rPr>
              <a:t>2</a:t>
            </a:r>
            <a:r>
              <a:rPr sz="1400" i="1" spc="-51" dirty="0">
                <a:latin typeface="Times New Roman"/>
                <a:cs typeface="Times New Roman"/>
              </a:rPr>
              <a:t> </a:t>
            </a:r>
            <a:r>
              <a:rPr sz="1400" spc="131" dirty="0">
                <a:latin typeface="Times New Roman"/>
                <a:cs typeface="Times New Roman"/>
              </a:rPr>
              <a:t>=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i="1" spc="-174" dirty="0">
                <a:latin typeface="Times New Roman"/>
                <a:cs typeface="Times New Roman"/>
              </a:rPr>
              <a:t>v</a:t>
            </a:r>
            <a:r>
              <a:rPr sz="1400" i="1" spc="-131" dirty="0">
                <a:latin typeface="Times New Roman"/>
                <a:cs typeface="Times New Roman"/>
              </a:rPr>
              <a:t>a</a:t>
            </a:r>
            <a:r>
              <a:rPr sz="1400" i="1" spc="-94" dirty="0">
                <a:latin typeface="Times New Roman"/>
                <a:cs typeface="Times New Roman"/>
              </a:rPr>
              <a:t>lue</a:t>
            </a:r>
            <a:r>
              <a:rPr sz="1400" i="1" spc="-107" dirty="0">
                <a:latin typeface="Times New Roman"/>
                <a:cs typeface="Times New Roman"/>
              </a:rPr>
              <a:t>2</a:t>
            </a:r>
            <a:r>
              <a:rPr sz="1400" spc="54" dirty="0">
                <a:latin typeface="Times New Roman"/>
                <a:cs typeface="Times New Roman"/>
              </a:rPr>
              <a:t>,</a:t>
            </a:r>
            <a:r>
              <a:rPr sz="1400" spc="-94" dirty="0">
                <a:latin typeface="Times New Roman"/>
                <a:cs typeface="Times New Roman"/>
              </a:rPr>
              <a:t> </a:t>
            </a:r>
            <a:r>
              <a:rPr sz="1400" spc="54" dirty="0">
                <a:latin typeface="Times New Roman"/>
                <a:cs typeface="Times New Roman"/>
              </a:rPr>
              <a:t>.</a:t>
            </a:r>
            <a:r>
              <a:rPr sz="1400" spc="45" dirty="0">
                <a:latin typeface="Times New Roman"/>
                <a:cs typeface="Times New Roman"/>
              </a:rPr>
              <a:t>.</a:t>
            </a:r>
            <a:r>
              <a:rPr sz="1400" spc="54" dirty="0">
                <a:latin typeface="Times New Roman"/>
                <a:cs typeface="Times New Roman"/>
              </a:rPr>
              <a:t>.</a:t>
            </a:r>
            <a:r>
              <a:rPr lang="en-US" sz="1400" spc="54" dirty="0">
                <a:latin typeface="Times New Roman"/>
                <a:cs typeface="Times New Roman"/>
              </a:rPr>
              <a:t> </a:t>
            </a:r>
            <a:r>
              <a:rPr sz="1400" b="1" spc="-94" dirty="0">
                <a:solidFill>
                  <a:srgbClr val="FF0000"/>
                </a:solidFill>
                <a:latin typeface="Times New Roman"/>
                <a:cs typeface="Times New Roman"/>
              </a:rPr>
              <a:t>W</a:t>
            </a:r>
            <a:r>
              <a:rPr sz="1400" b="1" spc="-99" dirty="0">
                <a:solidFill>
                  <a:srgbClr val="FF0000"/>
                </a:solidFill>
                <a:latin typeface="Times New Roman"/>
                <a:cs typeface="Times New Roman"/>
              </a:rPr>
              <a:t>HER</a:t>
            </a:r>
            <a:r>
              <a:rPr sz="1400" b="1" spc="-203" dirty="0">
                <a:solidFill>
                  <a:srgbClr val="FF0000"/>
                </a:solidFill>
                <a:latin typeface="Times New Roman"/>
                <a:cs typeface="Times New Roman"/>
              </a:rPr>
              <a:t>E</a:t>
            </a:r>
            <a:r>
              <a:rPr sz="1400" b="1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00" i="1" spc="-169" dirty="0">
                <a:latin typeface="Times New Roman"/>
                <a:cs typeface="Times New Roman"/>
              </a:rPr>
              <a:t>c</a:t>
            </a:r>
            <a:r>
              <a:rPr sz="1400" i="1" spc="-187" dirty="0">
                <a:latin typeface="Times New Roman"/>
                <a:cs typeface="Times New Roman"/>
              </a:rPr>
              <a:t>o</a:t>
            </a:r>
            <a:r>
              <a:rPr sz="1400" i="1" spc="-120" dirty="0">
                <a:latin typeface="Times New Roman"/>
                <a:cs typeface="Times New Roman"/>
              </a:rPr>
              <a:t>n</a:t>
            </a:r>
            <a:r>
              <a:rPr sz="1400" i="1" spc="-115" dirty="0">
                <a:latin typeface="Times New Roman"/>
                <a:cs typeface="Times New Roman"/>
              </a:rPr>
              <a:t>d</a:t>
            </a:r>
            <a:r>
              <a:rPr sz="1400" i="1" spc="-64" dirty="0">
                <a:latin typeface="Times New Roman"/>
                <a:cs typeface="Times New Roman"/>
              </a:rPr>
              <a:t>iti</a:t>
            </a:r>
            <a:r>
              <a:rPr sz="1400" i="1" spc="-109" dirty="0">
                <a:latin typeface="Times New Roman"/>
                <a:cs typeface="Times New Roman"/>
              </a:rPr>
              <a:t>o</a:t>
            </a:r>
            <a:r>
              <a:rPr sz="1400" i="1" spc="-99" dirty="0">
                <a:latin typeface="Times New Roman"/>
                <a:cs typeface="Times New Roman"/>
              </a:rPr>
              <a:t>n</a:t>
            </a:r>
            <a:r>
              <a:rPr sz="1400" spc="16" dirty="0">
                <a:latin typeface="Times New Roman"/>
                <a:cs typeface="Times New Roman"/>
              </a:rPr>
              <a:t>;</a:t>
            </a:r>
            <a:endParaRPr sz="1400" dirty="0">
              <a:latin typeface="Times New Roman"/>
              <a:cs typeface="Times New Roman"/>
            </a:endParaRPr>
          </a:p>
          <a:p>
            <a:pPr marL="210708" algn="l">
              <a:spcBef>
                <a:spcPts val="425"/>
              </a:spcBef>
            </a:pPr>
            <a:r>
              <a:rPr lang="en-US" sz="1400" spc="-27" dirty="0" err="1">
                <a:latin typeface="Times New Roman"/>
                <a:cs typeface="Times New Roman"/>
              </a:rPr>
              <a:t>Eg</a:t>
            </a:r>
            <a:r>
              <a:rPr lang="en-US" sz="1400" spc="-27" dirty="0">
                <a:latin typeface="Times New Roman"/>
                <a:cs typeface="Times New Roman"/>
              </a:rPr>
              <a:t>: </a:t>
            </a:r>
            <a:r>
              <a:rPr sz="1400" spc="-27" dirty="0">
                <a:latin typeface="Times New Roman"/>
                <a:cs typeface="Times New Roman"/>
              </a:rPr>
              <a:t>UPDATE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Employees</a:t>
            </a:r>
            <a:r>
              <a:rPr sz="1400" spc="21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SET</a:t>
            </a:r>
            <a:r>
              <a:rPr sz="1400" spc="-32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age=20</a:t>
            </a:r>
            <a:r>
              <a:rPr sz="1400" spc="-3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WHERE</a:t>
            </a:r>
            <a:r>
              <a:rPr sz="1400" spc="-13" dirty="0">
                <a:latin typeface="Times New Roman"/>
                <a:cs typeface="Times New Roman"/>
              </a:rPr>
              <a:t> </a:t>
            </a:r>
            <a:r>
              <a:rPr sz="1400" spc="-3" dirty="0">
                <a:latin typeface="Times New Roman"/>
                <a:cs typeface="Times New Roman"/>
              </a:rPr>
              <a:t>id=100;</a:t>
            </a:r>
            <a:endParaRPr sz="1400" dirty="0">
              <a:latin typeface="Times New Roman"/>
              <a:cs typeface="Times New Roman"/>
            </a:endParaRPr>
          </a:p>
          <a:p>
            <a:pPr marL="153613" indent="-146816" algn="l">
              <a:spcBef>
                <a:spcPts val="321"/>
              </a:spcBef>
              <a:buClr>
                <a:srgbClr val="D24717"/>
              </a:buClr>
              <a:buSzPct val="85416"/>
              <a:buFont typeface="Segoe UI Symbol"/>
              <a:buChar char="⚫"/>
              <a:tabLst>
                <a:tab pos="153273" algn="l"/>
                <a:tab pos="153613" algn="l"/>
              </a:tabLst>
            </a:pPr>
            <a:r>
              <a:rPr sz="1400" b="1" dirty="0">
                <a:latin typeface="Times New Roman"/>
                <a:cs typeface="Times New Roman"/>
              </a:rPr>
              <a:t>DELETE</a:t>
            </a:r>
            <a:r>
              <a:rPr sz="1400" b="1" spc="-27" dirty="0">
                <a:latin typeface="Times New Roman"/>
                <a:cs typeface="Times New Roman"/>
              </a:rPr>
              <a:t> </a:t>
            </a:r>
            <a:r>
              <a:rPr sz="1400" b="1" spc="-3" dirty="0">
                <a:latin typeface="Times New Roman"/>
                <a:cs typeface="Times New Roman"/>
              </a:rPr>
              <a:t>Data</a:t>
            </a:r>
            <a:endParaRPr sz="1400" dirty="0">
              <a:latin typeface="Times New Roman"/>
              <a:cs typeface="Times New Roman"/>
            </a:endParaRPr>
          </a:p>
          <a:p>
            <a:pPr marL="169926" algn="l">
              <a:spcBef>
                <a:spcPts val="321"/>
              </a:spcBef>
            </a:pPr>
            <a:r>
              <a:rPr sz="1400" b="1" dirty="0">
                <a:solidFill>
                  <a:schemeClr val="tx1"/>
                </a:solidFill>
                <a:latin typeface="Times New Roman"/>
                <a:cs typeface="Times New Roman"/>
              </a:rPr>
              <a:t>Syntax</a:t>
            </a:r>
            <a:endParaRPr sz="1400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153613" algn="l">
              <a:spcBef>
                <a:spcPts val="219"/>
              </a:spcBef>
            </a:pPr>
            <a:r>
              <a:rPr sz="1400" b="1" spc="-153" dirty="0">
                <a:solidFill>
                  <a:srgbClr val="FF0000"/>
                </a:solidFill>
                <a:latin typeface="Times New Roman"/>
                <a:cs typeface="Times New Roman"/>
              </a:rPr>
              <a:t>DELE</a:t>
            </a:r>
            <a:r>
              <a:rPr sz="1400" b="1" spc="-155" dirty="0">
                <a:solidFill>
                  <a:srgbClr val="FF0000"/>
                </a:solidFill>
                <a:latin typeface="Times New Roman"/>
                <a:cs typeface="Times New Roman"/>
              </a:rPr>
              <a:t>T</a:t>
            </a:r>
            <a:r>
              <a:rPr sz="1400" b="1" spc="-203" dirty="0">
                <a:solidFill>
                  <a:srgbClr val="FF0000"/>
                </a:solidFill>
                <a:latin typeface="Times New Roman"/>
                <a:cs typeface="Times New Roman"/>
              </a:rPr>
              <a:t>E</a:t>
            </a:r>
            <a:r>
              <a:rPr sz="1400" b="1" spc="-37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00" b="1" spc="-118" dirty="0">
                <a:solidFill>
                  <a:srgbClr val="FF0000"/>
                </a:solidFill>
                <a:latin typeface="Times New Roman"/>
                <a:cs typeface="Times New Roman"/>
              </a:rPr>
              <a:t>F</a:t>
            </a:r>
            <a:r>
              <a:rPr sz="1400" b="1" spc="-187" dirty="0">
                <a:solidFill>
                  <a:srgbClr val="FF0000"/>
                </a:solidFill>
                <a:latin typeface="Times New Roman"/>
                <a:cs typeface="Times New Roman"/>
              </a:rPr>
              <a:t>R</a:t>
            </a:r>
            <a:r>
              <a:rPr sz="1400" b="1" spc="-59" dirty="0">
                <a:solidFill>
                  <a:srgbClr val="FF0000"/>
                </a:solidFill>
                <a:latin typeface="Times New Roman"/>
                <a:cs typeface="Times New Roman"/>
              </a:rPr>
              <a:t>O</a:t>
            </a:r>
            <a:r>
              <a:rPr sz="1400" b="1" spc="-70" dirty="0">
                <a:solidFill>
                  <a:srgbClr val="FF0000"/>
                </a:solidFill>
                <a:latin typeface="Times New Roman"/>
                <a:cs typeface="Times New Roman"/>
              </a:rPr>
              <a:t>M</a:t>
            </a:r>
            <a:r>
              <a:rPr sz="1400" b="1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00" i="1" spc="-56" dirty="0">
                <a:latin typeface="Times New Roman"/>
                <a:cs typeface="Times New Roman"/>
              </a:rPr>
              <a:t>t</a:t>
            </a:r>
            <a:r>
              <a:rPr sz="1400" i="1" spc="-99" dirty="0">
                <a:latin typeface="Times New Roman"/>
                <a:cs typeface="Times New Roman"/>
              </a:rPr>
              <a:t>a</a:t>
            </a:r>
            <a:r>
              <a:rPr sz="1400" i="1" spc="-195" dirty="0">
                <a:latin typeface="Times New Roman"/>
                <a:cs typeface="Times New Roman"/>
              </a:rPr>
              <a:t>b</a:t>
            </a:r>
            <a:r>
              <a:rPr sz="1400" i="1" spc="-88" dirty="0">
                <a:latin typeface="Times New Roman"/>
                <a:cs typeface="Times New Roman"/>
              </a:rPr>
              <a:t>l</a:t>
            </a:r>
            <a:r>
              <a:rPr sz="1400" i="1" spc="-142" dirty="0">
                <a:latin typeface="Times New Roman"/>
                <a:cs typeface="Times New Roman"/>
              </a:rPr>
              <a:t>e</a:t>
            </a:r>
            <a:r>
              <a:rPr sz="1400" i="1" spc="-80" dirty="0">
                <a:latin typeface="Times New Roman"/>
                <a:cs typeface="Times New Roman"/>
              </a:rPr>
              <a:t>_n</a:t>
            </a:r>
            <a:r>
              <a:rPr sz="1400" i="1" spc="-75" dirty="0">
                <a:latin typeface="Times New Roman"/>
                <a:cs typeface="Times New Roman"/>
              </a:rPr>
              <a:t>a</a:t>
            </a:r>
            <a:r>
              <a:rPr sz="1400" i="1" spc="-201" dirty="0">
                <a:latin typeface="Times New Roman"/>
                <a:cs typeface="Times New Roman"/>
              </a:rPr>
              <a:t>m</a:t>
            </a:r>
            <a:r>
              <a:rPr sz="1400" i="1" spc="-169" dirty="0">
                <a:latin typeface="Times New Roman"/>
                <a:cs typeface="Times New Roman"/>
              </a:rPr>
              <a:t>e</a:t>
            </a:r>
            <a:r>
              <a:rPr sz="1400" i="1" spc="-40" dirty="0">
                <a:latin typeface="Times New Roman"/>
                <a:cs typeface="Times New Roman"/>
              </a:rPr>
              <a:t> </a:t>
            </a:r>
            <a:r>
              <a:rPr sz="1400" b="1" spc="-91" dirty="0">
                <a:solidFill>
                  <a:srgbClr val="FF0000"/>
                </a:solidFill>
                <a:latin typeface="Times New Roman"/>
                <a:cs typeface="Times New Roman"/>
              </a:rPr>
              <a:t>W</a:t>
            </a:r>
            <a:r>
              <a:rPr sz="1400" b="1" spc="-99" dirty="0">
                <a:solidFill>
                  <a:srgbClr val="FF0000"/>
                </a:solidFill>
                <a:latin typeface="Times New Roman"/>
                <a:cs typeface="Times New Roman"/>
              </a:rPr>
              <a:t>HE</a:t>
            </a:r>
            <a:r>
              <a:rPr sz="1400" b="1" spc="-96" dirty="0">
                <a:solidFill>
                  <a:srgbClr val="FF0000"/>
                </a:solidFill>
                <a:latin typeface="Times New Roman"/>
                <a:cs typeface="Times New Roman"/>
              </a:rPr>
              <a:t>R</a:t>
            </a:r>
            <a:r>
              <a:rPr sz="1400" b="1" spc="-203" dirty="0">
                <a:solidFill>
                  <a:srgbClr val="FF0000"/>
                </a:solidFill>
                <a:latin typeface="Times New Roman"/>
                <a:cs typeface="Times New Roman"/>
              </a:rPr>
              <a:t>E</a:t>
            </a:r>
            <a:r>
              <a:rPr sz="1400" b="1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00" i="1" spc="-153" dirty="0">
                <a:latin typeface="Times New Roman"/>
                <a:cs typeface="Times New Roman"/>
              </a:rPr>
              <a:t>co</a:t>
            </a:r>
            <a:r>
              <a:rPr sz="1400" i="1" spc="-155" dirty="0">
                <a:latin typeface="Times New Roman"/>
                <a:cs typeface="Times New Roman"/>
              </a:rPr>
              <a:t>n</a:t>
            </a:r>
            <a:r>
              <a:rPr sz="1400" i="1" spc="-131" dirty="0">
                <a:latin typeface="Times New Roman"/>
                <a:cs typeface="Times New Roman"/>
              </a:rPr>
              <a:t>d</a:t>
            </a:r>
            <a:r>
              <a:rPr sz="1400" i="1" spc="-64" dirty="0">
                <a:latin typeface="Times New Roman"/>
                <a:cs typeface="Times New Roman"/>
              </a:rPr>
              <a:t>iti</a:t>
            </a:r>
            <a:r>
              <a:rPr sz="1400" i="1" spc="-107" dirty="0">
                <a:latin typeface="Times New Roman"/>
                <a:cs typeface="Times New Roman"/>
              </a:rPr>
              <a:t>o</a:t>
            </a:r>
            <a:r>
              <a:rPr sz="1400" i="1" spc="-102" dirty="0">
                <a:latin typeface="Times New Roman"/>
                <a:cs typeface="Times New Roman"/>
              </a:rPr>
              <a:t>n</a:t>
            </a:r>
            <a:r>
              <a:rPr sz="1400" spc="16" dirty="0">
                <a:latin typeface="Times New Roman"/>
                <a:cs typeface="Times New Roman"/>
              </a:rPr>
              <a:t>;</a:t>
            </a:r>
            <a:endParaRPr sz="1400" dirty="0">
              <a:latin typeface="Times New Roman"/>
              <a:cs typeface="Times New Roman"/>
            </a:endParaRPr>
          </a:p>
          <a:p>
            <a:pPr marL="169926" algn="l">
              <a:spcBef>
                <a:spcPts val="425"/>
              </a:spcBef>
            </a:pPr>
            <a:r>
              <a:rPr lang="en-US" sz="1400" spc="-8" dirty="0" err="1">
                <a:latin typeface="Times New Roman"/>
                <a:cs typeface="Times New Roman"/>
              </a:rPr>
              <a:t>Eg</a:t>
            </a:r>
            <a:r>
              <a:rPr lang="en-US" sz="1400" spc="-8" dirty="0">
                <a:latin typeface="Times New Roman"/>
                <a:cs typeface="Times New Roman"/>
              </a:rPr>
              <a:t>: </a:t>
            </a:r>
            <a:r>
              <a:rPr sz="1400" spc="-8" dirty="0">
                <a:latin typeface="Times New Roman"/>
                <a:cs typeface="Times New Roman"/>
              </a:rPr>
              <a:t>DELETE</a:t>
            </a:r>
            <a:r>
              <a:rPr sz="1400" spc="16" dirty="0">
                <a:latin typeface="Times New Roman"/>
                <a:cs typeface="Times New Roman"/>
              </a:rPr>
              <a:t> </a:t>
            </a:r>
            <a:r>
              <a:rPr sz="1400" spc="-3" dirty="0">
                <a:latin typeface="Times New Roman"/>
                <a:cs typeface="Times New Roman"/>
              </a:rPr>
              <a:t>FROM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Employee</a:t>
            </a:r>
            <a:r>
              <a:rPr sz="1400" spc="3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WHERE</a:t>
            </a:r>
            <a:r>
              <a:rPr sz="1400" spc="-16" dirty="0">
                <a:latin typeface="Times New Roman"/>
                <a:cs typeface="Times New Roman"/>
              </a:rPr>
              <a:t> </a:t>
            </a:r>
            <a:r>
              <a:rPr sz="1400" spc="-3" dirty="0">
                <a:latin typeface="Times New Roman"/>
                <a:cs typeface="Times New Roman"/>
              </a:rPr>
              <a:t>id=100;</a:t>
            </a:r>
            <a:endParaRPr sz="14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011936" y="742188"/>
            <a:ext cx="5781040" cy="304800"/>
            <a:chOff x="1011936" y="742188"/>
            <a:chExt cx="5781040" cy="304800"/>
          </a:xfrm>
        </p:grpSpPr>
        <p:sp>
          <p:nvSpPr>
            <p:cNvPr id="3" name="object 3"/>
            <p:cNvSpPr/>
            <p:nvPr/>
          </p:nvSpPr>
          <p:spPr>
            <a:xfrm>
              <a:off x="1014984" y="743712"/>
              <a:ext cx="5774690" cy="302260"/>
            </a:xfrm>
            <a:custGeom>
              <a:avLst/>
              <a:gdLst/>
              <a:ahLst/>
              <a:cxnLst/>
              <a:rect l="l" t="t" r="r" b="b"/>
              <a:pathLst>
                <a:path w="5774690" h="302259">
                  <a:moveTo>
                    <a:pt x="5774435" y="301751"/>
                  </a:moveTo>
                  <a:lnTo>
                    <a:pt x="0" y="301751"/>
                  </a:lnTo>
                  <a:lnTo>
                    <a:pt x="0" y="0"/>
                  </a:lnTo>
                  <a:lnTo>
                    <a:pt x="5774435" y="0"/>
                  </a:lnTo>
                  <a:lnTo>
                    <a:pt x="5774435" y="301751"/>
                  </a:lnTo>
                  <a:close/>
                </a:path>
              </a:pathLst>
            </a:custGeom>
            <a:solidFill>
              <a:srgbClr val="91CF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011936" y="742188"/>
              <a:ext cx="5781040" cy="304800"/>
            </a:xfrm>
            <a:custGeom>
              <a:avLst/>
              <a:gdLst/>
              <a:ahLst/>
              <a:cxnLst/>
              <a:rect l="l" t="t" r="r" b="b"/>
              <a:pathLst>
                <a:path w="5781040" h="304800">
                  <a:moveTo>
                    <a:pt x="5780532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5780532" y="0"/>
                  </a:lnTo>
                  <a:lnTo>
                    <a:pt x="5780532" y="1524"/>
                  </a:lnTo>
                  <a:lnTo>
                    <a:pt x="4572" y="1524"/>
                  </a:lnTo>
                  <a:lnTo>
                    <a:pt x="3048" y="4572"/>
                  </a:lnTo>
                  <a:lnTo>
                    <a:pt x="4572" y="4572"/>
                  </a:lnTo>
                  <a:lnTo>
                    <a:pt x="4572" y="300228"/>
                  </a:lnTo>
                  <a:lnTo>
                    <a:pt x="3048" y="300228"/>
                  </a:lnTo>
                  <a:lnTo>
                    <a:pt x="4572" y="303276"/>
                  </a:lnTo>
                  <a:lnTo>
                    <a:pt x="5780532" y="303276"/>
                  </a:lnTo>
                  <a:lnTo>
                    <a:pt x="5780532" y="304800"/>
                  </a:lnTo>
                  <a:close/>
                </a:path>
                <a:path w="5781040" h="304800">
                  <a:moveTo>
                    <a:pt x="4572" y="4572"/>
                  </a:moveTo>
                  <a:lnTo>
                    <a:pt x="3048" y="4572"/>
                  </a:lnTo>
                  <a:lnTo>
                    <a:pt x="4572" y="1524"/>
                  </a:lnTo>
                  <a:lnTo>
                    <a:pt x="4572" y="4572"/>
                  </a:lnTo>
                  <a:close/>
                </a:path>
                <a:path w="5781040" h="304800">
                  <a:moveTo>
                    <a:pt x="5775960" y="4572"/>
                  </a:moveTo>
                  <a:lnTo>
                    <a:pt x="4572" y="4572"/>
                  </a:lnTo>
                  <a:lnTo>
                    <a:pt x="4572" y="1524"/>
                  </a:lnTo>
                  <a:lnTo>
                    <a:pt x="5775960" y="1524"/>
                  </a:lnTo>
                  <a:lnTo>
                    <a:pt x="5775960" y="4572"/>
                  </a:lnTo>
                  <a:close/>
                </a:path>
                <a:path w="5781040" h="304800">
                  <a:moveTo>
                    <a:pt x="5775960" y="303276"/>
                  </a:moveTo>
                  <a:lnTo>
                    <a:pt x="5775960" y="1524"/>
                  </a:lnTo>
                  <a:lnTo>
                    <a:pt x="5777484" y="4572"/>
                  </a:lnTo>
                  <a:lnTo>
                    <a:pt x="5780532" y="4572"/>
                  </a:lnTo>
                  <a:lnTo>
                    <a:pt x="5780532" y="300228"/>
                  </a:lnTo>
                  <a:lnTo>
                    <a:pt x="5777484" y="300228"/>
                  </a:lnTo>
                  <a:lnTo>
                    <a:pt x="5775960" y="303276"/>
                  </a:lnTo>
                  <a:close/>
                </a:path>
                <a:path w="5781040" h="304800">
                  <a:moveTo>
                    <a:pt x="5780532" y="4572"/>
                  </a:moveTo>
                  <a:lnTo>
                    <a:pt x="5777484" y="4572"/>
                  </a:lnTo>
                  <a:lnTo>
                    <a:pt x="5775960" y="1524"/>
                  </a:lnTo>
                  <a:lnTo>
                    <a:pt x="5780532" y="1524"/>
                  </a:lnTo>
                  <a:lnTo>
                    <a:pt x="5780532" y="4572"/>
                  </a:lnTo>
                  <a:close/>
                </a:path>
                <a:path w="5781040" h="304800">
                  <a:moveTo>
                    <a:pt x="4572" y="303276"/>
                  </a:moveTo>
                  <a:lnTo>
                    <a:pt x="3048" y="300228"/>
                  </a:lnTo>
                  <a:lnTo>
                    <a:pt x="4572" y="300228"/>
                  </a:lnTo>
                  <a:lnTo>
                    <a:pt x="4572" y="303276"/>
                  </a:lnTo>
                  <a:close/>
                </a:path>
                <a:path w="5781040" h="304800">
                  <a:moveTo>
                    <a:pt x="5775960" y="303276"/>
                  </a:moveTo>
                  <a:lnTo>
                    <a:pt x="4572" y="303276"/>
                  </a:lnTo>
                  <a:lnTo>
                    <a:pt x="4572" y="300228"/>
                  </a:lnTo>
                  <a:lnTo>
                    <a:pt x="5775960" y="300228"/>
                  </a:lnTo>
                  <a:lnTo>
                    <a:pt x="5775960" y="303276"/>
                  </a:lnTo>
                  <a:close/>
                </a:path>
                <a:path w="5781040" h="304800">
                  <a:moveTo>
                    <a:pt x="5780532" y="303276"/>
                  </a:moveTo>
                  <a:lnTo>
                    <a:pt x="5775960" y="303276"/>
                  </a:lnTo>
                  <a:lnTo>
                    <a:pt x="5777484" y="300228"/>
                  </a:lnTo>
                  <a:lnTo>
                    <a:pt x="5780532" y="300228"/>
                  </a:lnTo>
                  <a:lnTo>
                    <a:pt x="5780532" y="303276"/>
                  </a:lnTo>
                  <a:close/>
                </a:path>
              </a:pathLst>
            </a:custGeom>
            <a:solidFill>
              <a:srgbClr val="5B9A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634767" y="705087"/>
            <a:ext cx="453199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/>
              <a:t>Java</a:t>
            </a:r>
            <a:r>
              <a:rPr sz="2000" spc="-30" dirty="0"/>
              <a:t> </a:t>
            </a:r>
            <a:r>
              <a:rPr sz="2000" dirty="0"/>
              <a:t>Database</a:t>
            </a:r>
            <a:r>
              <a:rPr sz="2000" spc="-55" dirty="0"/>
              <a:t> </a:t>
            </a:r>
            <a:r>
              <a:rPr sz="2000" dirty="0"/>
              <a:t>Connectivity</a:t>
            </a:r>
            <a:r>
              <a:rPr sz="2000" spc="-25" dirty="0"/>
              <a:t> </a:t>
            </a:r>
            <a:r>
              <a:rPr sz="2000" dirty="0"/>
              <a:t>with</a:t>
            </a:r>
            <a:r>
              <a:rPr sz="2000" spc="-5" dirty="0"/>
              <a:t> </a:t>
            </a:r>
            <a:r>
              <a:rPr sz="2000" spc="-10" dirty="0"/>
              <a:t>MySQL</a:t>
            </a:r>
            <a:endParaRPr sz="2000"/>
          </a:p>
        </p:txBody>
      </p:sp>
      <p:grpSp>
        <p:nvGrpSpPr>
          <p:cNvPr id="6" name="object 6"/>
          <p:cNvGrpSpPr/>
          <p:nvPr/>
        </p:nvGrpSpPr>
        <p:grpSpPr>
          <a:xfrm>
            <a:off x="1011936" y="1042923"/>
            <a:ext cx="5781040" cy="2627630"/>
            <a:chOff x="1011936" y="1042923"/>
            <a:chExt cx="5781040" cy="2627630"/>
          </a:xfrm>
        </p:grpSpPr>
        <p:sp>
          <p:nvSpPr>
            <p:cNvPr id="7" name="object 7"/>
            <p:cNvSpPr/>
            <p:nvPr/>
          </p:nvSpPr>
          <p:spPr>
            <a:xfrm>
              <a:off x="1014984" y="1045463"/>
              <a:ext cx="5774690" cy="2625090"/>
            </a:xfrm>
            <a:custGeom>
              <a:avLst/>
              <a:gdLst/>
              <a:ahLst/>
              <a:cxnLst/>
              <a:rect l="l" t="t" r="r" b="b"/>
              <a:pathLst>
                <a:path w="5774690" h="2625090">
                  <a:moveTo>
                    <a:pt x="0" y="0"/>
                  </a:moveTo>
                  <a:lnTo>
                    <a:pt x="5774436" y="0"/>
                  </a:lnTo>
                  <a:lnTo>
                    <a:pt x="5774436" y="2624836"/>
                  </a:lnTo>
                  <a:lnTo>
                    <a:pt x="0" y="26248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E6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11923" y="1042923"/>
              <a:ext cx="5781040" cy="2627630"/>
            </a:xfrm>
            <a:custGeom>
              <a:avLst/>
              <a:gdLst/>
              <a:ahLst/>
              <a:cxnLst/>
              <a:rect l="l" t="t" r="r" b="b"/>
              <a:pathLst>
                <a:path w="5781040" h="2627629">
                  <a:moveTo>
                    <a:pt x="5780544" y="1270"/>
                  </a:moveTo>
                  <a:lnTo>
                    <a:pt x="5780163" y="1270"/>
                  </a:lnTo>
                  <a:lnTo>
                    <a:pt x="5780163" y="0"/>
                  </a:lnTo>
                  <a:lnTo>
                    <a:pt x="5777242" y="0"/>
                  </a:lnTo>
                  <a:lnTo>
                    <a:pt x="5777242" y="3810"/>
                  </a:lnTo>
                  <a:lnTo>
                    <a:pt x="5776607" y="3810"/>
                  </a:lnTo>
                  <a:lnTo>
                    <a:pt x="5776607" y="3175"/>
                  </a:lnTo>
                  <a:lnTo>
                    <a:pt x="5777242" y="3810"/>
                  </a:lnTo>
                  <a:lnTo>
                    <a:pt x="5777242" y="0"/>
                  </a:lnTo>
                  <a:lnTo>
                    <a:pt x="4572" y="0"/>
                  </a:lnTo>
                  <a:lnTo>
                    <a:pt x="4572" y="2540"/>
                  </a:lnTo>
                  <a:lnTo>
                    <a:pt x="3937" y="3175"/>
                  </a:lnTo>
                  <a:lnTo>
                    <a:pt x="3937" y="2540"/>
                  </a:lnTo>
                  <a:lnTo>
                    <a:pt x="4572" y="2540"/>
                  </a:lnTo>
                  <a:lnTo>
                    <a:pt x="4572" y="0"/>
                  </a:lnTo>
                  <a:lnTo>
                    <a:pt x="381" y="0"/>
                  </a:lnTo>
                  <a:lnTo>
                    <a:pt x="381" y="1270"/>
                  </a:lnTo>
                  <a:lnTo>
                    <a:pt x="0" y="1270"/>
                  </a:lnTo>
                  <a:lnTo>
                    <a:pt x="0" y="2540"/>
                  </a:lnTo>
                  <a:lnTo>
                    <a:pt x="0" y="3810"/>
                  </a:lnTo>
                  <a:lnTo>
                    <a:pt x="0" y="2627630"/>
                  </a:lnTo>
                  <a:lnTo>
                    <a:pt x="4572" y="2627630"/>
                  </a:lnTo>
                  <a:lnTo>
                    <a:pt x="4572" y="4064"/>
                  </a:lnTo>
                  <a:lnTo>
                    <a:pt x="5775972" y="4064"/>
                  </a:lnTo>
                  <a:lnTo>
                    <a:pt x="5775972" y="2627630"/>
                  </a:lnTo>
                  <a:lnTo>
                    <a:pt x="5780544" y="2627630"/>
                  </a:lnTo>
                  <a:lnTo>
                    <a:pt x="5780544" y="4064"/>
                  </a:lnTo>
                  <a:lnTo>
                    <a:pt x="5780544" y="3810"/>
                  </a:lnTo>
                  <a:lnTo>
                    <a:pt x="5780544" y="2540"/>
                  </a:lnTo>
                  <a:lnTo>
                    <a:pt x="5780544" y="1270"/>
                  </a:lnTo>
                  <a:close/>
                </a:path>
              </a:pathLst>
            </a:custGeom>
            <a:solidFill>
              <a:srgbClr val="5B9A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046477" y="997727"/>
            <a:ext cx="5709285" cy="260540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27000" marR="7620" indent="-114935" algn="just">
              <a:lnSpc>
                <a:spcPct val="80000"/>
              </a:lnSpc>
              <a:spcBef>
                <a:spcPts val="480"/>
              </a:spcBef>
              <a:buFont typeface="Arial MT"/>
              <a:buChar char="•"/>
              <a:tabLst>
                <a:tab pos="127000" algn="l"/>
              </a:tabLst>
            </a:pPr>
            <a:r>
              <a:rPr sz="1600" dirty="0">
                <a:latin typeface="Calibri" panose="020F0502020204030204"/>
                <a:cs typeface="Calibri" panose="020F0502020204030204"/>
              </a:rPr>
              <a:t>To</a:t>
            </a:r>
            <a:r>
              <a:rPr sz="1600" spc="6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connect</a:t>
            </a:r>
            <a:r>
              <a:rPr sz="1600" spc="6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Java</a:t>
            </a:r>
            <a:r>
              <a:rPr sz="1600" spc="7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application</a:t>
            </a:r>
            <a:r>
              <a:rPr sz="1600" spc="6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with</a:t>
            </a:r>
            <a:r>
              <a:rPr sz="1600" spc="6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the</a:t>
            </a:r>
            <a:r>
              <a:rPr sz="1600" spc="6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solidFill>
                  <a:srgbClr val="702FA0"/>
                </a:solidFill>
                <a:latin typeface="Calibri" panose="020F0502020204030204"/>
                <a:cs typeface="Calibri" panose="020F0502020204030204"/>
              </a:rPr>
              <a:t>MySQL</a:t>
            </a:r>
            <a:r>
              <a:rPr sz="1600" spc="85" dirty="0">
                <a:solidFill>
                  <a:srgbClr val="702FA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solidFill>
                  <a:srgbClr val="702FA0"/>
                </a:solidFill>
                <a:latin typeface="Calibri" panose="020F0502020204030204"/>
                <a:cs typeface="Calibri" panose="020F0502020204030204"/>
              </a:rPr>
              <a:t>database</a:t>
            </a:r>
            <a:r>
              <a:rPr sz="1600" dirty="0">
                <a:latin typeface="Calibri" panose="020F0502020204030204"/>
                <a:cs typeface="Calibri" panose="020F0502020204030204"/>
              </a:rPr>
              <a:t>,</a:t>
            </a:r>
            <a:r>
              <a:rPr sz="1600" spc="6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we</a:t>
            </a:r>
            <a:r>
              <a:rPr sz="1600" spc="6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need</a:t>
            </a:r>
            <a:r>
              <a:rPr sz="1600" spc="6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spc="-25" dirty="0">
                <a:latin typeface="Calibri" panose="020F0502020204030204"/>
                <a:cs typeface="Calibri" panose="020F0502020204030204"/>
              </a:rPr>
              <a:t>to </a:t>
            </a:r>
            <a:r>
              <a:rPr sz="1600" dirty="0">
                <a:latin typeface="Calibri" panose="020F0502020204030204"/>
                <a:cs typeface="Calibri" panose="020F0502020204030204"/>
              </a:rPr>
              <a:t>follow</a:t>
            </a:r>
            <a:r>
              <a:rPr sz="16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5</a:t>
            </a:r>
            <a:r>
              <a:rPr sz="16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following</a:t>
            </a:r>
            <a:r>
              <a:rPr sz="16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spc="-10" dirty="0">
                <a:latin typeface="Calibri" panose="020F0502020204030204"/>
                <a:cs typeface="Calibri" panose="020F0502020204030204"/>
              </a:rPr>
              <a:t>steps.</a:t>
            </a:r>
            <a:endParaRPr sz="1600" dirty="0">
              <a:latin typeface="Calibri" panose="020F0502020204030204"/>
              <a:cs typeface="Calibri" panose="020F0502020204030204"/>
            </a:endParaRPr>
          </a:p>
          <a:p>
            <a:pPr marL="127000" marR="5080" indent="-114935" algn="just">
              <a:lnSpc>
                <a:spcPct val="80000"/>
              </a:lnSpc>
              <a:spcBef>
                <a:spcPts val="505"/>
              </a:spcBef>
              <a:buFont typeface="Arial MT"/>
              <a:buChar char="•"/>
              <a:tabLst>
                <a:tab pos="127000" algn="l"/>
              </a:tabLst>
            </a:pPr>
            <a:r>
              <a:rPr sz="1600" dirty="0">
                <a:latin typeface="Calibri" panose="020F0502020204030204"/>
                <a:cs typeface="Calibri" panose="020F0502020204030204"/>
              </a:rPr>
              <a:t>In this</a:t>
            </a:r>
            <a:r>
              <a:rPr sz="160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example</a:t>
            </a:r>
            <a:r>
              <a:rPr sz="160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we</a:t>
            </a:r>
            <a:r>
              <a:rPr sz="1600" spc="2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are</a:t>
            </a:r>
            <a:r>
              <a:rPr sz="1600" spc="2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using</a:t>
            </a:r>
            <a:r>
              <a:rPr sz="160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MySql</a:t>
            </a:r>
            <a:r>
              <a:rPr sz="1600" spc="3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as</a:t>
            </a:r>
            <a:r>
              <a:rPr sz="160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the</a:t>
            </a:r>
            <a:r>
              <a:rPr sz="1600" spc="2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database.</a:t>
            </a:r>
            <a:r>
              <a:rPr sz="1600" spc="2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So</a:t>
            </a:r>
            <a:r>
              <a:rPr sz="160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we</a:t>
            </a:r>
            <a:r>
              <a:rPr sz="1600" spc="2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need</a:t>
            </a:r>
            <a:r>
              <a:rPr sz="160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spc="-25" dirty="0">
                <a:latin typeface="Calibri" panose="020F0502020204030204"/>
                <a:cs typeface="Calibri" panose="020F0502020204030204"/>
              </a:rPr>
              <a:t>to </a:t>
            </a:r>
            <a:r>
              <a:rPr sz="1600" dirty="0">
                <a:latin typeface="Calibri" panose="020F0502020204030204"/>
                <a:cs typeface="Calibri" panose="020F0502020204030204"/>
              </a:rPr>
              <a:t>know</a:t>
            </a:r>
            <a:r>
              <a:rPr sz="16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following</a:t>
            </a:r>
            <a:r>
              <a:rPr sz="16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spc="-10" dirty="0">
                <a:latin typeface="Calibri" panose="020F0502020204030204"/>
                <a:cs typeface="Calibri" panose="020F0502020204030204"/>
              </a:rPr>
              <a:t>informations</a:t>
            </a:r>
            <a:r>
              <a:rPr sz="16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for</a:t>
            </a:r>
            <a:r>
              <a:rPr sz="16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the</a:t>
            </a:r>
            <a:r>
              <a:rPr sz="16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mysql</a:t>
            </a:r>
            <a:r>
              <a:rPr sz="16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spc="-10" dirty="0">
                <a:latin typeface="Calibri" panose="020F0502020204030204"/>
                <a:cs typeface="Calibri" panose="020F0502020204030204"/>
              </a:rPr>
              <a:t>database:</a:t>
            </a:r>
            <a:endParaRPr sz="1600" dirty="0">
              <a:latin typeface="Calibri" panose="020F0502020204030204"/>
              <a:cs typeface="Calibri" panose="020F0502020204030204"/>
            </a:endParaRPr>
          </a:p>
          <a:p>
            <a:pPr marL="268605" marR="6350" indent="-256540" algn="just">
              <a:lnSpc>
                <a:spcPct val="80000"/>
              </a:lnSpc>
              <a:spcBef>
                <a:spcPts val="490"/>
              </a:spcBef>
              <a:buAutoNum type="arabicPeriod"/>
              <a:tabLst>
                <a:tab pos="269875" algn="l"/>
              </a:tabLst>
            </a:pPr>
            <a:r>
              <a:rPr sz="1600" b="1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Driver</a:t>
            </a:r>
            <a:r>
              <a:rPr sz="1600" b="1" spc="229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 </a:t>
            </a:r>
            <a:r>
              <a:rPr sz="1600" b="1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class:</a:t>
            </a:r>
            <a:r>
              <a:rPr sz="1600" b="1" spc="229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 </a:t>
            </a:r>
            <a:r>
              <a:rPr sz="1600" dirty="0">
                <a:latin typeface="Calibri" panose="020F0502020204030204"/>
                <a:cs typeface="Calibri" panose="020F0502020204030204"/>
              </a:rPr>
              <a:t>The</a:t>
            </a:r>
            <a:r>
              <a:rPr sz="1600" spc="229" dirty="0">
                <a:latin typeface="Calibri" panose="020F0502020204030204"/>
                <a:cs typeface="Calibri" panose="020F0502020204030204"/>
              </a:rPr>
              <a:t>  </a:t>
            </a:r>
            <a:r>
              <a:rPr sz="1600" dirty="0">
                <a:latin typeface="Calibri" panose="020F0502020204030204"/>
                <a:cs typeface="Calibri" panose="020F0502020204030204"/>
              </a:rPr>
              <a:t>driver</a:t>
            </a:r>
            <a:r>
              <a:rPr sz="1600" spc="235" dirty="0">
                <a:latin typeface="Calibri" panose="020F0502020204030204"/>
                <a:cs typeface="Calibri" panose="020F0502020204030204"/>
              </a:rPr>
              <a:t>  </a:t>
            </a:r>
            <a:r>
              <a:rPr sz="1600" dirty="0">
                <a:latin typeface="Calibri" panose="020F0502020204030204"/>
                <a:cs typeface="Calibri" panose="020F0502020204030204"/>
              </a:rPr>
              <a:t>class</a:t>
            </a:r>
            <a:r>
              <a:rPr sz="1600" spc="235" dirty="0">
                <a:latin typeface="Calibri" panose="020F0502020204030204"/>
                <a:cs typeface="Calibri" panose="020F0502020204030204"/>
              </a:rPr>
              <a:t>  </a:t>
            </a:r>
            <a:r>
              <a:rPr sz="1600" dirty="0">
                <a:latin typeface="Calibri" panose="020F0502020204030204"/>
                <a:cs typeface="Calibri" panose="020F0502020204030204"/>
              </a:rPr>
              <a:t>for</a:t>
            </a:r>
            <a:r>
              <a:rPr sz="1600" spc="229" dirty="0">
                <a:latin typeface="Calibri" panose="020F0502020204030204"/>
                <a:cs typeface="Calibri" panose="020F0502020204030204"/>
              </a:rPr>
              <a:t>  </a:t>
            </a:r>
            <a:r>
              <a:rPr sz="1600" dirty="0">
                <a:latin typeface="Calibri" panose="020F0502020204030204"/>
                <a:cs typeface="Calibri" panose="020F0502020204030204"/>
              </a:rPr>
              <a:t>the</a:t>
            </a:r>
            <a:r>
              <a:rPr sz="1600" spc="229" dirty="0">
                <a:latin typeface="Calibri" panose="020F0502020204030204"/>
                <a:cs typeface="Calibri" panose="020F0502020204030204"/>
              </a:rPr>
              <a:t>  </a:t>
            </a:r>
            <a:r>
              <a:rPr sz="1600" dirty="0">
                <a:latin typeface="Calibri" panose="020F0502020204030204"/>
                <a:cs typeface="Calibri" panose="020F0502020204030204"/>
              </a:rPr>
              <a:t>mysql</a:t>
            </a:r>
            <a:r>
              <a:rPr sz="1600" spc="229" dirty="0">
                <a:latin typeface="Calibri" panose="020F0502020204030204"/>
                <a:cs typeface="Calibri" panose="020F0502020204030204"/>
              </a:rPr>
              <a:t>  </a:t>
            </a:r>
            <a:r>
              <a:rPr sz="1600" dirty="0">
                <a:latin typeface="Calibri" panose="020F0502020204030204"/>
                <a:cs typeface="Calibri" panose="020F0502020204030204"/>
              </a:rPr>
              <a:t>database</a:t>
            </a:r>
            <a:r>
              <a:rPr sz="1600" spc="229" dirty="0">
                <a:latin typeface="Calibri" panose="020F0502020204030204"/>
                <a:cs typeface="Calibri" panose="020F0502020204030204"/>
              </a:rPr>
              <a:t>  </a:t>
            </a:r>
            <a:r>
              <a:rPr sz="1600" spc="-25" dirty="0">
                <a:latin typeface="Calibri" panose="020F0502020204030204"/>
                <a:cs typeface="Calibri" panose="020F0502020204030204"/>
              </a:rPr>
              <a:t>is 	</a:t>
            </a:r>
            <a:r>
              <a:rPr sz="1600" spc="-10" dirty="0">
                <a:solidFill>
                  <a:srgbClr val="702FA0"/>
                </a:solidFill>
                <a:latin typeface="Calibri" panose="020F0502020204030204"/>
                <a:cs typeface="Calibri" panose="020F0502020204030204"/>
              </a:rPr>
              <a:t>com.mysql.jdbc.Driver.</a:t>
            </a:r>
            <a:endParaRPr sz="1600" dirty="0">
              <a:latin typeface="Calibri" panose="020F0502020204030204"/>
              <a:cs typeface="Calibri" panose="020F0502020204030204"/>
            </a:endParaRPr>
          </a:p>
          <a:p>
            <a:pPr marL="268605" marR="5080" indent="-256540" algn="just">
              <a:lnSpc>
                <a:spcPct val="80000"/>
              </a:lnSpc>
              <a:spcBef>
                <a:spcPts val="505"/>
              </a:spcBef>
              <a:buAutoNum type="arabicPeriod"/>
              <a:tabLst>
                <a:tab pos="269875" algn="l"/>
              </a:tabLst>
            </a:pPr>
            <a:r>
              <a:rPr sz="1600" b="1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Connection</a:t>
            </a:r>
            <a:r>
              <a:rPr sz="1600" b="1" spc="16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600" b="1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URL:</a:t>
            </a:r>
            <a:r>
              <a:rPr sz="1600" b="1" spc="18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The</a:t>
            </a:r>
            <a:r>
              <a:rPr sz="1600" spc="14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connection</a:t>
            </a:r>
            <a:r>
              <a:rPr sz="1600" spc="16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URL</a:t>
            </a:r>
            <a:r>
              <a:rPr sz="1600" spc="15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for</a:t>
            </a:r>
            <a:r>
              <a:rPr sz="1600" spc="17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the</a:t>
            </a:r>
            <a:r>
              <a:rPr sz="1600" spc="17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mysql</a:t>
            </a:r>
            <a:r>
              <a:rPr sz="1600" spc="18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database</a:t>
            </a:r>
            <a:r>
              <a:rPr sz="1600" spc="16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spc="-25" dirty="0">
                <a:latin typeface="Calibri" panose="020F0502020204030204"/>
                <a:cs typeface="Calibri" panose="020F0502020204030204"/>
              </a:rPr>
              <a:t>is 	</a:t>
            </a:r>
            <a:r>
              <a:rPr sz="1600" spc="-10" dirty="0">
                <a:solidFill>
                  <a:srgbClr val="702FA0"/>
                </a:solidFill>
                <a:latin typeface="Calibri" panose="020F0502020204030204"/>
                <a:cs typeface="Calibri" panose="020F0502020204030204"/>
              </a:rPr>
              <a:t>jdbc:mysql://localhost:3306/sonoo</a:t>
            </a:r>
            <a:r>
              <a:rPr sz="1600" spc="5" dirty="0">
                <a:solidFill>
                  <a:srgbClr val="702FA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where</a:t>
            </a:r>
            <a:r>
              <a:rPr sz="16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jdbc</a:t>
            </a:r>
            <a:r>
              <a:rPr sz="16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is</a:t>
            </a:r>
            <a:r>
              <a:rPr sz="16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the</a:t>
            </a:r>
            <a:r>
              <a:rPr sz="160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API,</a:t>
            </a:r>
            <a:r>
              <a:rPr sz="16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mysql</a:t>
            </a:r>
            <a:r>
              <a:rPr sz="16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spc="-25" dirty="0">
                <a:latin typeface="Calibri" panose="020F0502020204030204"/>
                <a:cs typeface="Calibri" panose="020F0502020204030204"/>
              </a:rPr>
              <a:t>is 	</a:t>
            </a:r>
            <a:r>
              <a:rPr sz="1600" dirty="0">
                <a:latin typeface="Calibri" panose="020F0502020204030204"/>
                <a:cs typeface="Calibri" panose="020F0502020204030204"/>
              </a:rPr>
              <a:t>the</a:t>
            </a:r>
            <a:r>
              <a:rPr sz="1600" spc="31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database,</a:t>
            </a:r>
            <a:r>
              <a:rPr sz="1600" spc="31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localhost</a:t>
            </a:r>
            <a:r>
              <a:rPr sz="1600" spc="34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is</a:t>
            </a:r>
            <a:r>
              <a:rPr sz="1600" spc="31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the</a:t>
            </a:r>
            <a:r>
              <a:rPr sz="1600" spc="32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server</a:t>
            </a:r>
            <a:r>
              <a:rPr sz="1600" spc="31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name</a:t>
            </a:r>
            <a:r>
              <a:rPr sz="1600" spc="33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on</a:t>
            </a:r>
            <a:r>
              <a:rPr sz="1600" spc="32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which</a:t>
            </a:r>
            <a:r>
              <a:rPr sz="1600" spc="32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mysql</a:t>
            </a:r>
            <a:r>
              <a:rPr sz="1600" spc="31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spc="-25" dirty="0">
                <a:latin typeface="Calibri" panose="020F0502020204030204"/>
                <a:cs typeface="Calibri" panose="020F0502020204030204"/>
              </a:rPr>
              <a:t>is 	</a:t>
            </a:r>
            <a:r>
              <a:rPr sz="1600" dirty="0">
                <a:latin typeface="Calibri" panose="020F0502020204030204"/>
                <a:cs typeface="Calibri" panose="020F0502020204030204"/>
              </a:rPr>
              <a:t>running,</a:t>
            </a:r>
            <a:r>
              <a:rPr sz="1600" spc="22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we</a:t>
            </a:r>
            <a:r>
              <a:rPr sz="1600" spc="24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may</a:t>
            </a:r>
            <a:r>
              <a:rPr sz="1600" spc="23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also</a:t>
            </a:r>
            <a:r>
              <a:rPr sz="1600" spc="21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use</a:t>
            </a:r>
            <a:r>
              <a:rPr sz="1600" spc="22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IP</a:t>
            </a:r>
            <a:r>
              <a:rPr sz="1600" spc="21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address,</a:t>
            </a:r>
            <a:r>
              <a:rPr sz="1600" spc="22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3306</a:t>
            </a:r>
            <a:r>
              <a:rPr sz="1600" spc="229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is</a:t>
            </a:r>
            <a:r>
              <a:rPr sz="1600" spc="21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the</a:t>
            </a:r>
            <a:r>
              <a:rPr sz="1600" spc="22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port</a:t>
            </a:r>
            <a:r>
              <a:rPr sz="1600" spc="22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spc="-10" dirty="0">
                <a:latin typeface="Calibri" panose="020F0502020204030204"/>
                <a:cs typeface="Calibri" panose="020F0502020204030204"/>
              </a:rPr>
              <a:t>number 	</a:t>
            </a:r>
            <a:r>
              <a:rPr sz="1600" dirty="0">
                <a:latin typeface="Calibri" panose="020F0502020204030204"/>
                <a:cs typeface="Calibri" panose="020F0502020204030204"/>
              </a:rPr>
              <a:t>and</a:t>
            </a:r>
            <a:r>
              <a:rPr sz="1600" spc="15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sonoo</a:t>
            </a:r>
            <a:r>
              <a:rPr sz="1600" spc="15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is</a:t>
            </a:r>
            <a:r>
              <a:rPr sz="1600" spc="16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the</a:t>
            </a:r>
            <a:r>
              <a:rPr sz="1600" spc="18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database</a:t>
            </a:r>
            <a:r>
              <a:rPr sz="1600" spc="16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name.</a:t>
            </a:r>
            <a:r>
              <a:rPr sz="1600" spc="17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We</a:t>
            </a:r>
            <a:r>
              <a:rPr sz="1600" spc="16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may</a:t>
            </a:r>
            <a:r>
              <a:rPr sz="1600" spc="14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use</a:t>
            </a:r>
            <a:r>
              <a:rPr sz="1600" spc="15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any</a:t>
            </a:r>
            <a:r>
              <a:rPr sz="1600" spc="17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database,</a:t>
            </a:r>
            <a:r>
              <a:rPr sz="1600" spc="15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spc="-25" dirty="0">
                <a:latin typeface="Calibri" panose="020F0502020204030204"/>
                <a:cs typeface="Calibri" panose="020F0502020204030204"/>
              </a:rPr>
              <a:t>in 	</a:t>
            </a:r>
            <a:r>
              <a:rPr sz="1600" dirty="0">
                <a:latin typeface="Calibri" panose="020F0502020204030204"/>
                <a:cs typeface="Calibri" panose="020F0502020204030204"/>
              </a:rPr>
              <a:t>such</a:t>
            </a:r>
            <a:r>
              <a:rPr sz="1600" spc="39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case,</a:t>
            </a:r>
            <a:r>
              <a:rPr sz="1600" spc="409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we</a:t>
            </a:r>
            <a:r>
              <a:rPr sz="1600" spc="39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need</a:t>
            </a:r>
            <a:r>
              <a:rPr sz="1600" spc="40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to</a:t>
            </a:r>
            <a:r>
              <a:rPr sz="1600" spc="409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replace</a:t>
            </a:r>
            <a:r>
              <a:rPr sz="1600" spc="39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the</a:t>
            </a:r>
            <a:r>
              <a:rPr sz="1600" spc="39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sonoo</a:t>
            </a:r>
            <a:r>
              <a:rPr sz="1600" spc="409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with</a:t>
            </a:r>
            <a:r>
              <a:rPr sz="1600" spc="40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our</a:t>
            </a:r>
            <a:r>
              <a:rPr sz="1600" spc="39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spc="-10" dirty="0">
                <a:latin typeface="Calibri" panose="020F0502020204030204"/>
                <a:cs typeface="Calibri" panose="020F0502020204030204"/>
              </a:rPr>
              <a:t>database</a:t>
            </a:r>
            <a:endParaRPr sz="1600" dirty="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838200" y="670559"/>
            <a:ext cx="6094730" cy="3006090"/>
            <a:chOff x="838200" y="670559"/>
            <a:chExt cx="6094730" cy="3006090"/>
          </a:xfrm>
        </p:grpSpPr>
        <p:sp>
          <p:nvSpPr>
            <p:cNvPr id="11" name="object 11"/>
            <p:cNvSpPr/>
            <p:nvPr/>
          </p:nvSpPr>
          <p:spPr>
            <a:xfrm>
              <a:off x="844295" y="676655"/>
              <a:ext cx="6082665" cy="2994025"/>
            </a:xfrm>
            <a:custGeom>
              <a:avLst/>
              <a:gdLst/>
              <a:ahLst/>
              <a:cxnLst/>
              <a:rect l="l" t="t" r="r" b="b"/>
              <a:pathLst>
                <a:path w="6082665" h="2994025">
                  <a:moveTo>
                    <a:pt x="6082284" y="0"/>
                  </a:moveTo>
                  <a:lnTo>
                    <a:pt x="0" y="0"/>
                  </a:lnTo>
                  <a:lnTo>
                    <a:pt x="0" y="2993644"/>
                  </a:lnTo>
                </a:path>
                <a:path w="6082665" h="2994025">
                  <a:moveTo>
                    <a:pt x="6082284" y="2993644"/>
                  </a:moveTo>
                  <a:lnTo>
                    <a:pt x="6082284" y="0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11300" y="2184399"/>
              <a:ext cx="4762500" cy="14859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533088" y="3189240"/>
            <a:ext cx="591185" cy="1657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endParaRPr sz="1000" b="1" spc="-10" dirty="0">
              <a:solidFill>
                <a:srgbClr val="FF0000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922019" y="120396"/>
            <a:ext cx="5870575" cy="3075940"/>
            <a:chOff x="922019" y="120396"/>
            <a:chExt cx="5870575" cy="3075940"/>
          </a:xfrm>
        </p:grpSpPr>
        <p:sp>
          <p:nvSpPr>
            <p:cNvPr id="4" name="object 4"/>
            <p:cNvSpPr/>
            <p:nvPr/>
          </p:nvSpPr>
          <p:spPr>
            <a:xfrm>
              <a:off x="925067" y="123444"/>
              <a:ext cx="5864860" cy="3070860"/>
            </a:xfrm>
            <a:custGeom>
              <a:avLst/>
              <a:gdLst/>
              <a:ahLst/>
              <a:cxnLst/>
              <a:rect l="l" t="t" r="r" b="b"/>
              <a:pathLst>
                <a:path w="5864859" h="3070860">
                  <a:moveTo>
                    <a:pt x="5864351" y="3070859"/>
                  </a:moveTo>
                  <a:lnTo>
                    <a:pt x="0" y="3070859"/>
                  </a:lnTo>
                  <a:lnTo>
                    <a:pt x="0" y="0"/>
                  </a:lnTo>
                  <a:lnTo>
                    <a:pt x="5864351" y="0"/>
                  </a:lnTo>
                  <a:lnTo>
                    <a:pt x="5864351" y="3070859"/>
                  </a:lnTo>
                  <a:close/>
                </a:path>
              </a:pathLst>
            </a:custGeom>
            <a:solidFill>
              <a:srgbClr val="FFE6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22019" y="120396"/>
              <a:ext cx="5870575" cy="3075940"/>
            </a:xfrm>
            <a:custGeom>
              <a:avLst/>
              <a:gdLst/>
              <a:ahLst/>
              <a:cxnLst/>
              <a:rect l="l" t="t" r="r" b="b"/>
              <a:pathLst>
                <a:path w="5870575" h="3075940">
                  <a:moveTo>
                    <a:pt x="5870448" y="3075432"/>
                  </a:moveTo>
                  <a:lnTo>
                    <a:pt x="0" y="3075432"/>
                  </a:lnTo>
                  <a:lnTo>
                    <a:pt x="0" y="1524"/>
                  </a:lnTo>
                  <a:lnTo>
                    <a:pt x="1524" y="0"/>
                  </a:lnTo>
                  <a:lnTo>
                    <a:pt x="5868923" y="0"/>
                  </a:lnTo>
                  <a:lnTo>
                    <a:pt x="5870448" y="1524"/>
                  </a:lnTo>
                  <a:lnTo>
                    <a:pt x="5870448" y="3048"/>
                  </a:lnTo>
                  <a:lnTo>
                    <a:pt x="4572" y="3048"/>
                  </a:lnTo>
                  <a:lnTo>
                    <a:pt x="3048" y="4572"/>
                  </a:lnTo>
                  <a:lnTo>
                    <a:pt x="4572" y="4572"/>
                  </a:lnTo>
                  <a:lnTo>
                    <a:pt x="4572" y="3070859"/>
                  </a:lnTo>
                  <a:lnTo>
                    <a:pt x="3048" y="3070859"/>
                  </a:lnTo>
                  <a:lnTo>
                    <a:pt x="4572" y="3073908"/>
                  </a:lnTo>
                  <a:lnTo>
                    <a:pt x="5870448" y="3073908"/>
                  </a:lnTo>
                  <a:lnTo>
                    <a:pt x="5870448" y="3075432"/>
                  </a:lnTo>
                  <a:close/>
                </a:path>
                <a:path w="5870575" h="3075940">
                  <a:moveTo>
                    <a:pt x="4572" y="4572"/>
                  </a:moveTo>
                  <a:lnTo>
                    <a:pt x="3048" y="4572"/>
                  </a:lnTo>
                  <a:lnTo>
                    <a:pt x="4572" y="3048"/>
                  </a:lnTo>
                  <a:lnTo>
                    <a:pt x="4572" y="4572"/>
                  </a:lnTo>
                  <a:close/>
                </a:path>
                <a:path w="5870575" h="3075940">
                  <a:moveTo>
                    <a:pt x="5865876" y="4572"/>
                  </a:moveTo>
                  <a:lnTo>
                    <a:pt x="4572" y="4572"/>
                  </a:lnTo>
                  <a:lnTo>
                    <a:pt x="4572" y="3048"/>
                  </a:lnTo>
                  <a:lnTo>
                    <a:pt x="5865876" y="3048"/>
                  </a:lnTo>
                  <a:lnTo>
                    <a:pt x="5865876" y="4572"/>
                  </a:lnTo>
                  <a:close/>
                </a:path>
                <a:path w="5870575" h="3075940">
                  <a:moveTo>
                    <a:pt x="5865876" y="3073908"/>
                  </a:moveTo>
                  <a:lnTo>
                    <a:pt x="5865876" y="3048"/>
                  </a:lnTo>
                  <a:lnTo>
                    <a:pt x="5867400" y="4572"/>
                  </a:lnTo>
                  <a:lnTo>
                    <a:pt x="5870448" y="4572"/>
                  </a:lnTo>
                  <a:lnTo>
                    <a:pt x="5870448" y="3070859"/>
                  </a:lnTo>
                  <a:lnTo>
                    <a:pt x="5867400" y="3070859"/>
                  </a:lnTo>
                  <a:lnTo>
                    <a:pt x="5865876" y="3073908"/>
                  </a:lnTo>
                  <a:close/>
                </a:path>
                <a:path w="5870575" h="3075940">
                  <a:moveTo>
                    <a:pt x="5870448" y="4572"/>
                  </a:moveTo>
                  <a:lnTo>
                    <a:pt x="5867400" y="4572"/>
                  </a:lnTo>
                  <a:lnTo>
                    <a:pt x="5865876" y="3048"/>
                  </a:lnTo>
                  <a:lnTo>
                    <a:pt x="5870448" y="3048"/>
                  </a:lnTo>
                  <a:lnTo>
                    <a:pt x="5870448" y="4572"/>
                  </a:lnTo>
                  <a:close/>
                </a:path>
                <a:path w="5870575" h="3075940">
                  <a:moveTo>
                    <a:pt x="4572" y="3073908"/>
                  </a:moveTo>
                  <a:lnTo>
                    <a:pt x="3048" y="3070859"/>
                  </a:lnTo>
                  <a:lnTo>
                    <a:pt x="4572" y="3070859"/>
                  </a:lnTo>
                  <a:lnTo>
                    <a:pt x="4572" y="3073908"/>
                  </a:lnTo>
                  <a:close/>
                </a:path>
                <a:path w="5870575" h="3075940">
                  <a:moveTo>
                    <a:pt x="5865876" y="3073908"/>
                  </a:moveTo>
                  <a:lnTo>
                    <a:pt x="4572" y="3073908"/>
                  </a:lnTo>
                  <a:lnTo>
                    <a:pt x="4572" y="3070859"/>
                  </a:lnTo>
                  <a:lnTo>
                    <a:pt x="5865876" y="3070859"/>
                  </a:lnTo>
                  <a:lnTo>
                    <a:pt x="5865876" y="3073908"/>
                  </a:lnTo>
                  <a:close/>
                </a:path>
                <a:path w="5870575" h="3075940">
                  <a:moveTo>
                    <a:pt x="5870448" y="3073908"/>
                  </a:moveTo>
                  <a:lnTo>
                    <a:pt x="5865876" y="3073908"/>
                  </a:lnTo>
                  <a:lnTo>
                    <a:pt x="5867400" y="3070859"/>
                  </a:lnTo>
                  <a:lnTo>
                    <a:pt x="5870448" y="3070859"/>
                  </a:lnTo>
                  <a:lnTo>
                    <a:pt x="5870448" y="3073908"/>
                  </a:lnTo>
                  <a:close/>
                </a:path>
              </a:pathLst>
            </a:custGeom>
            <a:solidFill>
              <a:srgbClr val="5B9A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956513" y="95480"/>
            <a:ext cx="555244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3.</a:t>
            </a:r>
            <a:r>
              <a:rPr sz="1600" spc="-3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Username:</a:t>
            </a:r>
            <a:r>
              <a:rPr sz="1600" spc="-2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600" b="0" dirty="0">
                <a:latin typeface="Calibri" panose="020F0502020204030204"/>
                <a:cs typeface="Calibri" panose="020F0502020204030204"/>
              </a:rPr>
              <a:t>The</a:t>
            </a:r>
            <a:r>
              <a:rPr sz="1600" b="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b="0" dirty="0">
                <a:latin typeface="Calibri" panose="020F0502020204030204"/>
                <a:cs typeface="Calibri" panose="020F0502020204030204"/>
              </a:rPr>
              <a:t>default</a:t>
            </a:r>
            <a:r>
              <a:rPr sz="1600" b="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b="0" dirty="0">
                <a:latin typeface="Calibri" panose="020F0502020204030204"/>
                <a:cs typeface="Calibri" panose="020F0502020204030204"/>
              </a:rPr>
              <a:t>username</a:t>
            </a:r>
            <a:r>
              <a:rPr sz="1600" b="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b="0" dirty="0">
                <a:latin typeface="Calibri" panose="020F0502020204030204"/>
                <a:cs typeface="Calibri" panose="020F0502020204030204"/>
              </a:rPr>
              <a:t>for</a:t>
            </a:r>
            <a:r>
              <a:rPr sz="1600" b="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b="0" dirty="0">
                <a:latin typeface="Calibri" panose="020F0502020204030204"/>
                <a:cs typeface="Calibri" panose="020F0502020204030204"/>
              </a:rPr>
              <a:t>the</a:t>
            </a:r>
            <a:r>
              <a:rPr sz="1600" b="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b="0" dirty="0">
                <a:latin typeface="Calibri" panose="020F0502020204030204"/>
                <a:cs typeface="Calibri" panose="020F0502020204030204"/>
              </a:rPr>
              <a:t>mysql</a:t>
            </a:r>
            <a:r>
              <a:rPr sz="1600" b="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b="0" dirty="0">
                <a:latin typeface="Calibri" panose="020F0502020204030204"/>
                <a:cs typeface="Calibri" panose="020F0502020204030204"/>
              </a:rPr>
              <a:t>database</a:t>
            </a:r>
            <a:r>
              <a:rPr sz="1600" b="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b="0" dirty="0">
                <a:latin typeface="Calibri" panose="020F0502020204030204"/>
                <a:cs typeface="Calibri" panose="020F0502020204030204"/>
              </a:rPr>
              <a:t>is</a:t>
            </a:r>
            <a:r>
              <a:rPr sz="1600" b="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b="0" spc="-10" dirty="0">
                <a:solidFill>
                  <a:srgbClr val="702FA0"/>
                </a:solidFill>
                <a:latin typeface="Calibri" panose="020F0502020204030204"/>
                <a:cs typeface="Calibri" panose="020F0502020204030204"/>
              </a:rPr>
              <a:t>root.</a:t>
            </a:r>
            <a:endParaRPr sz="16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56513" y="377446"/>
            <a:ext cx="5795645" cy="2059305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12700" marR="337185">
              <a:lnSpc>
                <a:spcPts val="1730"/>
              </a:lnSpc>
              <a:spcBef>
                <a:spcPts val="310"/>
              </a:spcBef>
            </a:pPr>
            <a:r>
              <a:rPr sz="1600" b="1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4.</a:t>
            </a:r>
            <a:r>
              <a:rPr sz="1600" b="1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600" b="1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Password:</a:t>
            </a:r>
            <a:r>
              <a:rPr sz="1600" b="1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It</a:t>
            </a:r>
            <a:r>
              <a:rPr sz="16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is</a:t>
            </a:r>
            <a:r>
              <a:rPr sz="16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the</a:t>
            </a:r>
            <a:r>
              <a:rPr sz="16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password given</a:t>
            </a:r>
            <a:r>
              <a:rPr sz="16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by</a:t>
            </a:r>
            <a:r>
              <a:rPr sz="16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the</a:t>
            </a:r>
            <a:r>
              <a:rPr sz="16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user</a:t>
            </a:r>
            <a:r>
              <a:rPr sz="16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at</a:t>
            </a:r>
            <a:r>
              <a:rPr sz="16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the</a:t>
            </a:r>
            <a:r>
              <a:rPr sz="16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time</a:t>
            </a:r>
            <a:r>
              <a:rPr sz="16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spc="-25" dirty="0">
                <a:latin typeface="Calibri" panose="020F0502020204030204"/>
                <a:cs typeface="Calibri" panose="020F0502020204030204"/>
              </a:rPr>
              <a:t>of </a:t>
            </a:r>
            <a:r>
              <a:rPr sz="1600" dirty="0">
                <a:latin typeface="Calibri" panose="020F0502020204030204"/>
                <a:cs typeface="Calibri" panose="020F0502020204030204"/>
              </a:rPr>
              <a:t>installing</a:t>
            </a:r>
            <a:r>
              <a:rPr sz="16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the</a:t>
            </a:r>
            <a:r>
              <a:rPr sz="16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mysql</a:t>
            </a:r>
            <a:r>
              <a:rPr sz="16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database.</a:t>
            </a:r>
            <a:r>
              <a:rPr sz="16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In</a:t>
            </a:r>
            <a:r>
              <a:rPr sz="16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this</a:t>
            </a:r>
            <a:r>
              <a:rPr sz="16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example,</a:t>
            </a:r>
            <a:r>
              <a:rPr sz="16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we</a:t>
            </a:r>
            <a:r>
              <a:rPr sz="16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are</a:t>
            </a:r>
            <a:r>
              <a:rPr sz="16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going</a:t>
            </a:r>
            <a:r>
              <a:rPr sz="16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to</a:t>
            </a:r>
            <a:r>
              <a:rPr sz="16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spc="-25" dirty="0">
                <a:latin typeface="Calibri" panose="020F0502020204030204"/>
                <a:cs typeface="Calibri" panose="020F0502020204030204"/>
              </a:rPr>
              <a:t>use </a:t>
            </a:r>
            <a:r>
              <a:rPr sz="1600" dirty="0">
                <a:solidFill>
                  <a:srgbClr val="702FA0"/>
                </a:solidFill>
                <a:latin typeface="Calibri" panose="020F0502020204030204"/>
                <a:cs typeface="Calibri" panose="020F0502020204030204"/>
              </a:rPr>
              <a:t>root</a:t>
            </a:r>
            <a:r>
              <a:rPr sz="1600" spc="-20" dirty="0">
                <a:solidFill>
                  <a:srgbClr val="702FA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as</a:t>
            </a:r>
            <a:r>
              <a:rPr sz="16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the</a:t>
            </a:r>
            <a:r>
              <a:rPr sz="16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spc="-10" dirty="0">
                <a:latin typeface="Calibri" panose="020F0502020204030204"/>
                <a:cs typeface="Calibri" panose="020F0502020204030204"/>
              </a:rPr>
              <a:t>password.</a:t>
            </a:r>
            <a:endParaRPr sz="1600">
              <a:latin typeface="Calibri" panose="020F0502020204030204"/>
              <a:cs typeface="Calibri" panose="020F0502020204030204"/>
            </a:endParaRPr>
          </a:p>
          <a:p>
            <a:pPr marL="127000" marR="5080" indent="-114935">
              <a:lnSpc>
                <a:spcPts val="1730"/>
              </a:lnSpc>
              <a:spcBef>
                <a:spcPts val="500"/>
              </a:spcBef>
            </a:pPr>
            <a:r>
              <a:rPr sz="1600" spc="-45" dirty="0">
                <a:latin typeface="Times New Roman" panose="02020603050405020304"/>
                <a:cs typeface="Times New Roman" panose="02020603050405020304"/>
              </a:rPr>
              <a:t></a:t>
            </a:r>
            <a:r>
              <a:rPr sz="1600" spc="-45" dirty="0">
                <a:latin typeface="Calibri" panose="020F0502020204030204"/>
                <a:cs typeface="Calibri" panose="020F0502020204030204"/>
              </a:rPr>
              <a:t>Let's</a:t>
            </a:r>
            <a:r>
              <a:rPr sz="1600" spc="6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first</a:t>
            </a:r>
            <a:r>
              <a:rPr sz="1600" spc="7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create</a:t>
            </a:r>
            <a:r>
              <a:rPr sz="1600" spc="7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a</a:t>
            </a:r>
            <a:r>
              <a:rPr sz="1600" spc="8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table</a:t>
            </a:r>
            <a:r>
              <a:rPr sz="1600" spc="5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in</a:t>
            </a:r>
            <a:r>
              <a:rPr sz="1600" spc="6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the</a:t>
            </a:r>
            <a:r>
              <a:rPr sz="1600" spc="7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mysql</a:t>
            </a:r>
            <a:r>
              <a:rPr sz="1600" spc="9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database,</a:t>
            </a:r>
            <a:r>
              <a:rPr sz="1600" spc="6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but</a:t>
            </a:r>
            <a:r>
              <a:rPr sz="1600" spc="9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before</a:t>
            </a:r>
            <a:r>
              <a:rPr sz="1600" spc="7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spc="-10" dirty="0">
                <a:latin typeface="Calibri" panose="020F0502020204030204"/>
                <a:cs typeface="Calibri" panose="020F0502020204030204"/>
              </a:rPr>
              <a:t>creating </a:t>
            </a:r>
            <a:r>
              <a:rPr sz="1600" dirty="0">
                <a:latin typeface="Calibri" panose="020F0502020204030204"/>
                <a:cs typeface="Calibri" panose="020F0502020204030204"/>
              </a:rPr>
              <a:t>table,</a:t>
            </a:r>
            <a:r>
              <a:rPr sz="16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we</a:t>
            </a:r>
            <a:r>
              <a:rPr sz="16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need</a:t>
            </a:r>
            <a:r>
              <a:rPr sz="16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to</a:t>
            </a:r>
            <a:r>
              <a:rPr sz="16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spc="-10" dirty="0">
                <a:latin typeface="Calibri" panose="020F0502020204030204"/>
                <a:cs typeface="Calibri" panose="020F0502020204030204"/>
              </a:rPr>
              <a:t>create</a:t>
            </a:r>
            <a:r>
              <a:rPr sz="16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database</a:t>
            </a:r>
            <a:r>
              <a:rPr sz="16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spc="-10" dirty="0">
                <a:latin typeface="Calibri" panose="020F0502020204030204"/>
                <a:cs typeface="Calibri" panose="020F0502020204030204"/>
              </a:rPr>
              <a:t>first.</a:t>
            </a:r>
            <a:endParaRPr sz="1600">
              <a:latin typeface="Calibri" panose="020F0502020204030204"/>
              <a:cs typeface="Calibri" panose="020F0502020204030204"/>
            </a:endParaRPr>
          </a:p>
          <a:p>
            <a:pPr marL="196850" marR="3669665">
              <a:lnSpc>
                <a:spcPts val="2220"/>
              </a:lnSpc>
              <a:spcBef>
                <a:spcPts val="105"/>
              </a:spcBef>
            </a:pPr>
            <a:r>
              <a:rPr sz="1600" spc="-10" dirty="0">
                <a:solidFill>
                  <a:srgbClr val="702FA0"/>
                </a:solidFill>
                <a:latin typeface="Calibri" panose="020F0502020204030204"/>
                <a:cs typeface="Calibri" panose="020F0502020204030204"/>
              </a:rPr>
              <a:t>create</a:t>
            </a:r>
            <a:r>
              <a:rPr sz="1600" spc="-50" dirty="0">
                <a:solidFill>
                  <a:srgbClr val="702FA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solidFill>
                  <a:srgbClr val="702FA0"/>
                </a:solidFill>
                <a:latin typeface="Calibri" panose="020F0502020204030204"/>
                <a:cs typeface="Calibri" panose="020F0502020204030204"/>
              </a:rPr>
              <a:t>database</a:t>
            </a:r>
            <a:r>
              <a:rPr sz="1600" spc="-35" dirty="0">
                <a:solidFill>
                  <a:srgbClr val="702FA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600" spc="-10" dirty="0">
                <a:solidFill>
                  <a:srgbClr val="702FA0"/>
                </a:solidFill>
                <a:latin typeface="Calibri" panose="020F0502020204030204"/>
                <a:cs typeface="Calibri" panose="020F0502020204030204"/>
              </a:rPr>
              <a:t>sonoo; </a:t>
            </a:r>
            <a:r>
              <a:rPr sz="1600" dirty="0">
                <a:solidFill>
                  <a:srgbClr val="702FA0"/>
                </a:solidFill>
                <a:latin typeface="Calibri" panose="020F0502020204030204"/>
                <a:cs typeface="Calibri" panose="020F0502020204030204"/>
              </a:rPr>
              <a:t>use</a:t>
            </a:r>
            <a:r>
              <a:rPr sz="1600" spc="-10" dirty="0">
                <a:solidFill>
                  <a:srgbClr val="702FA0"/>
                </a:solidFill>
                <a:latin typeface="Calibri" panose="020F0502020204030204"/>
                <a:cs typeface="Calibri" panose="020F0502020204030204"/>
              </a:rPr>
              <a:t> sonoo;</a:t>
            </a:r>
            <a:endParaRPr sz="1600">
              <a:latin typeface="Calibri" panose="020F0502020204030204"/>
              <a:cs typeface="Calibri" panose="020F0502020204030204"/>
            </a:endParaRPr>
          </a:p>
          <a:p>
            <a:pPr marL="196850">
              <a:lnSpc>
                <a:spcPct val="100000"/>
              </a:lnSpc>
              <a:spcBef>
                <a:spcPts val="190"/>
              </a:spcBef>
            </a:pPr>
            <a:r>
              <a:rPr sz="1600" spc="-10" dirty="0">
                <a:solidFill>
                  <a:srgbClr val="702FA0"/>
                </a:solidFill>
                <a:latin typeface="Calibri" panose="020F0502020204030204"/>
                <a:cs typeface="Calibri" panose="020F0502020204030204"/>
              </a:rPr>
              <a:t>create</a:t>
            </a:r>
            <a:r>
              <a:rPr sz="1600" spc="-50" dirty="0">
                <a:solidFill>
                  <a:srgbClr val="702FA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solidFill>
                  <a:srgbClr val="702FA0"/>
                </a:solidFill>
                <a:latin typeface="Calibri" panose="020F0502020204030204"/>
                <a:cs typeface="Calibri" panose="020F0502020204030204"/>
              </a:rPr>
              <a:t>table</a:t>
            </a:r>
            <a:r>
              <a:rPr sz="1600" spc="-40" dirty="0">
                <a:solidFill>
                  <a:srgbClr val="702FA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solidFill>
                  <a:srgbClr val="702FA0"/>
                </a:solidFill>
                <a:latin typeface="Calibri" panose="020F0502020204030204"/>
                <a:cs typeface="Calibri" panose="020F0502020204030204"/>
              </a:rPr>
              <a:t>emp(id</a:t>
            </a:r>
            <a:r>
              <a:rPr sz="1600" spc="-20" dirty="0">
                <a:solidFill>
                  <a:srgbClr val="702FA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solidFill>
                  <a:srgbClr val="702FA0"/>
                </a:solidFill>
                <a:latin typeface="Calibri" panose="020F0502020204030204"/>
                <a:cs typeface="Calibri" panose="020F0502020204030204"/>
              </a:rPr>
              <a:t>int(10),name</a:t>
            </a:r>
            <a:r>
              <a:rPr sz="1600" spc="-5" dirty="0">
                <a:solidFill>
                  <a:srgbClr val="702FA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600" spc="-10" dirty="0">
                <a:solidFill>
                  <a:srgbClr val="702FA0"/>
                </a:solidFill>
                <a:latin typeface="Calibri" panose="020F0502020204030204"/>
                <a:cs typeface="Calibri" panose="020F0502020204030204"/>
              </a:rPr>
              <a:t>varchar(40),age</a:t>
            </a:r>
            <a:r>
              <a:rPr sz="1600" spc="10" dirty="0">
                <a:solidFill>
                  <a:srgbClr val="702FA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600" spc="-10" dirty="0">
                <a:solidFill>
                  <a:srgbClr val="702FA0"/>
                </a:solidFill>
                <a:latin typeface="Calibri" panose="020F0502020204030204"/>
                <a:cs typeface="Calibri" panose="020F0502020204030204"/>
              </a:rPr>
              <a:t>int(3));</a:t>
            </a:r>
            <a:endParaRPr sz="16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151111" y="3203000"/>
            <a:ext cx="1468120" cy="1358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endParaRPr sz="800" spc="-10" dirty="0">
              <a:solidFill>
                <a:srgbClr val="702FA0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418565" y="3221210"/>
            <a:ext cx="64135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spc="-50" dirty="0">
                <a:solidFill>
                  <a:srgbClr val="898989"/>
                </a:solidFill>
                <a:latin typeface="Calibri" panose="020F0502020204030204"/>
                <a:cs typeface="Calibri" panose="020F0502020204030204"/>
              </a:rPr>
              <a:t>8</a:t>
            </a:r>
            <a:endParaRPr sz="6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838200" y="0"/>
            <a:ext cx="6094730" cy="3442970"/>
            <a:chOff x="838200" y="0"/>
            <a:chExt cx="6094730" cy="3442970"/>
          </a:xfrm>
        </p:grpSpPr>
        <p:sp>
          <p:nvSpPr>
            <p:cNvPr id="11" name="object 11"/>
            <p:cNvSpPr/>
            <p:nvPr/>
          </p:nvSpPr>
          <p:spPr>
            <a:xfrm>
              <a:off x="844295" y="21335"/>
              <a:ext cx="6082665" cy="3415665"/>
            </a:xfrm>
            <a:custGeom>
              <a:avLst/>
              <a:gdLst/>
              <a:ahLst/>
              <a:cxnLst/>
              <a:rect l="l" t="t" r="r" b="b"/>
              <a:pathLst>
                <a:path w="6082665" h="3415665">
                  <a:moveTo>
                    <a:pt x="6082284" y="0"/>
                  </a:moveTo>
                  <a:lnTo>
                    <a:pt x="0" y="0"/>
                  </a:lnTo>
                  <a:lnTo>
                    <a:pt x="0" y="3415283"/>
                  </a:lnTo>
                  <a:lnTo>
                    <a:pt x="6082284" y="3415283"/>
                  </a:lnTo>
                  <a:lnTo>
                    <a:pt x="6082284" y="0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11300" y="0"/>
              <a:ext cx="4762500" cy="19177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0" spc="-25" dirty="0">
                <a:solidFill>
                  <a:srgbClr val="702FA0"/>
                </a:solidFill>
                <a:latin typeface="Times New Roman" panose="02020603050405020304"/>
                <a:cs typeface="Times New Roman" panose="02020603050405020304"/>
              </a:rPr>
              <a:t></a:t>
            </a:r>
            <a:r>
              <a:rPr sz="1800" spc="-25" dirty="0">
                <a:solidFill>
                  <a:srgbClr val="702FA0"/>
                </a:solidFill>
                <a:latin typeface="Calibri" panose="020F0502020204030204"/>
                <a:cs typeface="Calibri" panose="020F0502020204030204"/>
              </a:rPr>
              <a:t>Example</a:t>
            </a:r>
            <a:r>
              <a:rPr sz="1800" spc="-45" dirty="0">
                <a:solidFill>
                  <a:srgbClr val="702FA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solidFill>
                  <a:srgbClr val="702FA0"/>
                </a:solidFill>
                <a:latin typeface="Calibri" panose="020F0502020204030204"/>
                <a:cs typeface="Calibri" panose="020F0502020204030204"/>
              </a:rPr>
              <a:t>to</a:t>
            </a:r>
            <a:r>
              <a:rPr sz="1800" spc="-35" dirty="0">
                <a:solidFill>
                  <a:srgbClr val="702FA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solidFill>
                  <a:srgbClr val="702FA0"/>
                </a:solidFill>
                <a:latin typeface="Calibri" panose="020F0502020204030204"/>
                <a:cs typeface="Calibri" panose="020F0502020204030204"/>
              </a:rPr>
              <a:t>Connect</a:t>
            </a:r>
            <a:r>
              <a:rPr sz="1800" spc="-25" dirty="0">
                <a:solidFill>
                  <a:srgbClr val="702FA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solidFill>
                  <a:srgbClr val="702FA0"/>
                </a:solidFill>
                <a:latin typeface="Calibri" panose="020F0502020204030204"/>
                <a:cs typeface="Calibri" panose="020F0502020204030204"/>
              </a:rPr>
              <a:t>Java</a:t>
            </a:r>
            <a:r>
              <a:rPr sz="1800" spc="-45" dirty="0">
                <a:solidFill>
                  <a:srgbClr val="702FA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solidFill>
                  <a:srgbClr val="702FA0"/>
                </a:solidFill>
                <a:latin typeface="Calibri" panose="020F0502020204030204"/>
                <a:cs typeface="Calibri" panose="020F0502020204030204"/>
              </a:rPr>
              <a:t>Application</a:t>
            </a:r>
            <a:r>
              <a:rPr sz="1800" spc="-30" dirty="0">
                <a:solidFill>
                  <a:srgbClr val="702FA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solidFill>
                  <a:srgbClr val="702FA0"/>
                </a:solidFill>
                <a:latin typeface="Calibri" panose="020F0502020204030204"/>
                <a:cs typeface="Calibri" panose="020F0502020204030204"/>
              </a:rPr>
              <a:t>with</a:t>
            </a:r>
            <a:r>
              <a:rPr sz="1800" spc="-25" dirty="0">
                <a:solidFill>
                  <a:srgbClr val="702FA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solidFill>
                  <a:srgbClr val="702FA0"/>
                </a:solidFill>
                <a:latin typeface="Calibri" panose="020F0502020204030204"/>
                <a:cs typeface="Calibri" panose="020F0502020204030204"/>
              </a:rPr>
              <a:t>mysql</a:t>
            </a:r>
            <a:r>
              <a:rPr sz="1800" spc="-30" dirty="0">
                <a:solidFill>
                  <a:srgbClr val="702FA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solidFill>
                  <a:srgbClr val="702FA0"/>
                </a:solidFill>
                <a:latin typeface="Calibri" panose="020F0502020204030204"/>
                <a:cs typeface="Calibri" panose="020F0502020204030204"/>
              </a:rPr>
              <a:t>database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824462" y="1371042"/>
            <a:ext cx="1898014" cy="708025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32385" marR="5080" indent="-20320">
              <a:lnSpc>
                <a:spcPts val="1730"/>
              </a:lnSpc>
              <a:spcBef>
                <a:spcPts val="310"/>
              </a:spcBef>
            </a:pPr>
            <a:r>
              <a:rPr sz="1600" dirty="0">
                <a:latin typeface="Calibri" panose="020F0502020204030204"/>
                <a:cs typeface="Calibri" panose="020F0502020204030204"/>
              </a:rPr>
              <a:t>This</a:t>
            </a:r>
            <a:r>
              <a:rPr sz="1600" spc="30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example</a:t>
            </a:r>
            <a:r>
              <a:rPr sz="1600" spc="-20" dirty="0">
                <a:latin typeface="Calibri" panose="020F0502020204030204"/>
                <a:cs typeface="Calibri" panose="020F0502020204030204"/>
              </a:rPr>
              <a:t> will </a:t>
            </a:r>
            <a:r>
              <a:rPr sz="1600" dirty="0">
                <a:latin typeface="Calibri" panose="020F0502020204030204"/>
                <a:cs typeface="Calibri" panose="020F0502020204030204"/>
              </a:rPr>
              <a:t>fetch</a:t>
            </a:r>
            <a:r>
              <a:rPr sz="16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all</a:t>
            </a:r>
            <a:r>
              <a:rPr sz="16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the</a:t>
            </a:r>
            <a:r>
              <a:rPr sz="16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spc="-10" dirty="0">
                <a:latin typeface="Calibri" panose="020F0502020204030204"/>
                <a:cs typeface="Calibri" panose="020F0502020204030204"/>
              </a:rPr>
              <a:t>records</a:t>
            </a:r>
            <a:r>
              <a:rPr sz="1600" spc="-25" dirty="0">
                <a:latin typeface="Calibri" panose="020F0502020204030204"/>
                <a:cs typeface="Calibri" panose="020F0502020204030204"/>
              </a:rPr>
              <a:t> of </a:t>
            </a:r>
            <a:r>
              <a:rPr sz="1600" dirty="0">
                <a:latin typeface="Calibri" panose="020F0502020204030204"/>
                <a:cs typeface="Calibri" panose="020F0502020204030204"/>
              </a:rPr>
              <a:t>emp</a:t>
            </a:r>
            <a:r>
              <a:rPr sz="16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spc="-10" dirty="0">
                <a:latin typeface="Calibri" panose="020F0502020204030204"/>
                <a:cs typeface="Calibri" panose="020F0502020204030204"/>
              </a:rPr>
              <a:t>table.</a:t>
            </a:r>
            <a:endParaRPr sz="16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838200" y="670559"/>
            <a:ext cx="6094730" cy="3006090"/>
            <a:chOff x="838200" y="670559"/>
            <a:chExt cx="6094730" cy="300609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07364" y="1103375"/>
              <a:ext cx="3473195" cy="256692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001267" y="1098803"/>
              <a:ext cx="3484245" cy="2571750"/>
            </a:xfrm>
            <a:custGeom>
              <a:avLst/>
              <a:gdLst/>
              <a:ahLst/>
              <a:cxnLst/>
              <a:rect l="l" t="t" r="r" b="b"/>
              <a:pathLst>
                <a:path w="3484245" h="2571750">
                  <a:moveTo>
                    <a:pt x="6096" y="2571496"/>
                  </a:moveTo>
                  <a:lnTo>
                    <a:pt x="0" y="2571496"/>
                  </a:lnTo>
                  <a:lnTo>
                    <a:pt x="0" y="1524"/>
                  </a:lnTo>
                  <a:lnTo>
                    <a:pt x="1524" y="0"/>
                  </a:lnTo>
                  <a:lnTo>
                    <a:pt x="3483864" y="0"/>
                  </a:lnTo>
                  <a:lnTo>
                    <a:pt x="3483864" y="3048"/>
                  </a:lnTo>
                  <a:lnTo>
                    <a:pt x="6096" y="3048"/>
                  </a:lnTo>
                  <a:lnTo>
                    <a:pt x="3048" y="4572"/>
                  </a:lnTo>
                  <a:lnTo>
                    <a:pt x="6096" y="4572"/>
                  </a:lnTo>
                  <a:lnTo>
                    <a:pt x="6096" y="2571496"/>
                  </a:lnTo>
                  <a:close/>
                </a:path>
                <a:path w="3484245" h="2571750">
                  <a:moveTo>
                    <a:pt x="6096" y="4572"/>
                  </a:moveTo>
                  <a:lnTo>
                    <a:pt x="3048" y="4572"/>
                  </a:lnTo>
                  <a:lnTo>
                    <a:pt x="6096" y="3048"/>
                  </a:lnTo>
                  <a:lnTo>
                    <a:pt x="6096" y="4572"/>
                  </a:lnTo>
                  <a:close/>
                </a:path>
                <a:path w="3484245" h="2571750">
                  <a:moveTo>
                    <a:pt x="3479292" y="4572"/>
                  </a:moveTo>
                  <a:lnTo>
                    <a:pt x="6096" y="4572"/>
                  </a:lnTo>
                  <a:lnTo>
                    <a:pt x="6096" y="3048"/>
                  </a:lnTo>
                  <a:lnTo>
                    <a:pt x="3479292" y="3048"/>
                  </a:lnTo>
                  <a:lnTo>
                    <a:pt x="3479292" y="4572"/>
                  </a:lnTo>
                  <a:close/>
                </a:path>
                <a:path w="3484245" h="2571750">
                  <a:moveTo>
                    <a:pt x="3483864" y="2571496"/>
                  </a:moveTo>
                  <a:lnTo>
                    <a:pt x="3479292" y="2571496"/>
                  </a:lnTo>
                  <a:lnTo>
                    <a:pt x="3479292" y="3048"/>
                  </a:lnTo>
                  <a:lnTo>
                    <a:pt x="3482340" y="4572"/>
                  </a:lnTo>
                  <a:lnTo>
                    <a:pt x="3483864" y="4572"/>
                  </a:lnTo>
                  <a:lnTo>
                    <a:pt x="3483864" y="2571496"/>
                  </a:lnTo>
                  <a:close/>
                </a:path>
                <a:path w="3484245" h="2571750">
                  <a:moveTo>
                    <a:pt x="3483864" y="4572"/>
                  </a:moveTo>
                  <a:lnTo>
                    <a:pt x="3482340" y="4572"/>
                  </a:lnTo>
                  <a:lnTo>
                    <a:pt x="3479292" y="3048"/>
                  </a:lnTo>
                  <a:lnTo>
                    <a:pt x="3483864" y="3048"/>
                  </a:lnTo>
                  <a:lnTo>
                    <a:pt x="3483864" y="4572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44295" y="676655"/>
              <a:ext cx="6082665" cy="2994025"/>
            </a:xfrm>
            <a:custGeom>
              <a:avLst/>
              <a:gdLst/>
              <a:ahLst/>
              <a:cxnLst/>
              <a:rect l="l" t="t" r="r" b="b"/>
              <a:pathLst>
                <a:path w="6082665" h="2994025">
                  <a:moveTo>
                    <a:pt x="6082284" y="0"/>
                  </a:moveTo>
                  <a:lnTo>
                    <a:pt x="0" y="0"/>
                  </a:lnTo>
                  <a:lnTo>
                    <a:pt x="0" y="2993644"/>
                  </a:lnTo>
                </a:path>
                <a:path w="6082665" h="2994025">
                  <a:moveTo>
                    <a:pt x="6082284" y="2993644"/>
                  </a:moveTo>
                  <a:lnTo>
                    <a:pt x="6082284" y="0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11300" y="2184399"/>
              <a:ext cx="4762500" cy="14859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76200" y="6350"/>
            <a:ext cx="7620000" cy="3549995"/>
          </a:xfrm>
          <a:prstGeom prst="rect">
            <a:avLst/>
          </a:prstGeom>
        </p:spPr>
        <p:txBody>
          <a:bodyPr vert="horz" wrap="square" lIns="0" tIns="7477" rIns="0" bIns="0" rtlCol="0">
            <a:spAutoFit/>
          </a:bodyPr>
          <a:lstStyle/>
          <a:p>
            <a:pPr marL="6797">
              <a:spcBef>
                <a:spcPts val="59"/>
              </a:spcBef>
              <a:buClr>
                <a:srgbClr val="D24717"/>
              </a:buClr>
              <a:buSzPct val="83333"/>
              <a:tabLst>
                <a:tab pos="153273" algn="l"/>
                <a:tab pos="153613" algn="l"/>
              </a:tabLst>
            </a:pPr>
            <a:r>
              <a:rPr lang="en-US" sz="1200" spc="5" dirty="0">
                <a:latin typeface="Arial" panose="020B0604020202020204" pitchFamily="34" charset="0"/>
                <a:cs typeface="Arial" panose="020B0604020202020204" pitchFamily="34" charset="0"/>
              </a:rPr>
              <a:t>				</a:t>
            </a:r>
            <a:r>
              <a:rPr lang="en-US" sz="1200" b="1" spc="5" dirty="0">
                <a:latin typeface="Arial" panose="020B0604020202020204" pitchFamily="34" charset="0"/>
                <a:cs typeface="Arial" panose="020B0604020202020204" pitchFamily="34" charset="0"/>
              </a:rPr>
              <a:t>Difference</a:t>
            </a:r>
            <a:r>
              <a:rPr lang="en-US" sz="1200" b="1" spc="-8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b="1" spc="21" dirty="0">
                <a:latin typeface="Arial" panose="020B0604020202020204" pitchFamily="34" charset="0"/>
                <a:cs typeface="Arial" panose="020B0604020202020204" pitchFamily="34" charset="0"/>
              </a:rPr>
              <a:t>between</a:t>
            </a:r>
            <a:r>
              <a:rPr lang="en-US" sz="1200" b="1" spc="-6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b="1" spc="-16" dirty="0">
                <a:latin typeface="Arial" panose="020B0604020202020204" pitchFamily="34" charset="0"/>
                <a:cs typeface="Arial" panose="020B0604020202020204" pitchFamily="34" charset="0"/>
              </a:rPr>
              <a:t>Statement</a:t>
            </a:r>
            <a:r>
              <a:rPr lang="en-US" sz="1200" b="1" spc="-67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b="1" spc="-8" dirty="0"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lang="en-US" sz="1200" b="1" spc="-5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b="1" spc="-19" dirty="0">
                <a:latin typeface="Arial" panose="020B0604020202020204" pitchFamily="34" charset="0"/>
                <a:cs typeface="Arial" panose="020B0604020202020204" pitchFamily="34" charset="0"/>
              </a:rPr>
              <a:t>PreparedStatement</a:t>
            </a:r>
            <a:endParaRPr lang="en-US" sz="1200" b="1" spc="-13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53613" indent="-146816">
              <a:spcBef>
                <a:spcPts val="59"/>
              </a:spcBef>
              <a:buClr>
                <a:srgbClr val="D24717"/>
              </a:buClr>
              <a:buSzPct val="83333"/>
              <a:buFont typeface="Segoe UI Symbol"/>
              <a:buChar char="⚫"/>
              <a:tabLst>
                <a:tab pos="153273" algn="l"/>
                <a:tab pos="153613" algn="l"/>
              </a:tabLst>
            </a:pPr>
            <a:r>
              <a:rPr sz="1200" b="1" spc="-13" dirty="0">
                <a:latin typeface="Arial" panose="020B0604020202020204" pitchFamily="34" charset="0"/>
                <a:cs typeface="Arial" panose="020B0604020202020204" pitchFamily="34" charset="0"/>
              </a:rPr>
              <a:t>1.Statement</a:t>
            </a:r>
            <a:r>
              <a:rPr sz="1200" b="1" spc="-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b="1" spc="-83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53613" marR="73408"/>
            <a:r>
              <a:rPr sz="1200" spc="-32" dirty="0">
                <a:latin typeface="Arial" panose="020B0604020202020204" pitchFamily="34" charset="0"/>
                <a:cs typeface="Arial" panose="020B0604020202020204" pitchFamily="34" charset="0"/>
              </a:rPr>
              <a:t>It</a:t>
            </a:r>
            <a:r>
              <a:rPr sz="1200" spc="-27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spc="-70" dirty="0">
                <a:latin typeface="Arial" panose="020B0604020202020204" pitchFamily="34" charset="0"/>
                <a:cs typeface="Arial" panose="020B0604020202020204" pitchFamily="34" charset="0"/>
              </a:rPr>
              <a:t>is</a:t>
            </a:r>
            <a:r>
              <a:rPr sz="1200" spc="-29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spc="-54" dirty="0">
                <a:latin typeface="Arial" panose="020B0604020202020204" pitchFamily="34" charset="0"/>
                <a:cs typeface="Arial" panose="020B0604020202020204" pitchFamily="34" charset="0"/>
              </a:rPr>
              <a:t>used</a:t>
            </a:r>
            <a:r>
              <a:rPr sz="1200" spc="-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spc="-37" dirty="0"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sz="1200" spc="-2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spc="-67" dirty="0">
                <a:latin typeface="Arial" panose="020B0604020202020204" pitchFamily="34" charset="0"/>
                <a:cs typeface="Arial" panose="020B0604020202020204" pitchFamily="34" charset="0"/>
              </a:rPr>
              <a:t>accessing</a:t>
            </a:r>
            <a:r>
              <a:rPr sz="1200" spc="-48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spc="-45" dirty="0">
                <a:latin typeface="Arial" panose="020B0604020202020204" pitchFamily="34" charset="0"/>
                <a:cs typeface="Arial" panose="020B0604020202020204" pitchFamily="34" charset="0"/>
              </a:rPr>
              <a:t>your</a:t>
            </a:r>
            <a:r>
              <a:rPr sz="1200" spc="-37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spc="-51" dirty="0">
                <a:latin typeface="Arial" panose="020B0604020202020204" pitchFamily="34" charset="0"/>
                <a:cs typeface="Arial" panose="020B0604020202020204" pitchFamily="34" charset="0"/>
              </a:rPr>
              <a:t>database.</a:t>
            </a:r>
            <a:r>
              <a:rPr sz="1200" spc="-9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spc="-45" dirty="0">
                <a:latin typeface="Arial" panose="020B0604020202020204" pitchFamily="34" charset="0"/>
                <a:cs typeface="Arial" panose="020B0604020202020204" pitchFamily="34" charset="0"/>
              </a:rPr>
              <a:t>Statement</a:t>
            </a:r>
            <a:r>
              <a:rPr sz="1200" spc="-56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spc="-43" dirty="0">
                <a:latin typeface="Arial" panose="020B0604020202020204" pitchFamily="34" charset="0"/>
                <a:cs typeface="Arial" panose="020B0604020202020204" pitchFamily="34" charset="0"/>
              </a:rPr>
              <a:t>interface</a:t>
            </a:r>
            <a:r>
              <a:rPr sz="1200" spc="-5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spc="-45" dirty="0">
                <a:latin typeface="Arial" panose="020B0604020202020204" pitchFamily="34" charset="0"/>
                <a:cs typeface="Arial" panose="020B0604020202020204" pitchFamily="34" charset="0"/>
              </a:rPr>
              <a:t>cannot</a:t>
            </a:r>
            <a:r>
              <a:rPr sz="1200" spc="-19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spc="-48" dirty="0">
                <a:latin typeface="Arial" panose="020B0604020202020204" pitchFamily="34" charset="0"/>
                <a:cs typeface="Arial" panose="020B0604020202020204" pitchFamily="34" charset="0"/>
              </a:rPr>
              <a:t>accept</a:t>
            </a:r>
            <a:r>
              <a:rPr sz="1200" spc="-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spc="-40" dirty="0">
                <a:latin typeface="Arial" panose="020B0604020202020204" pitchFamily="34" charset="0"/>
                <a:cs typeface="Arial" panose="020B0604020202020204" pitchFamily="34" charset="0"/>
              </a:rPr>
              <a:t>parameters </a:t>
            </a:r>
            <a:r>
              <a:rPr sz="1200" spc="-272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spc="-61" dirty="0"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sz="1200" spc="-32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spc="-56" dirty="0">
                <a:latin typeface="Arial" panose="020B0604020202020204" pitchFamily="34" charset="0"/>
                <a:cs typeface="Arial" panose="020B0604020202020204" pitchFamily="34" charset="0"/>
              </a:rPr>
              <a:t>useful</a:t>
            </a:r>
            <a:r>
              <a:rPr sz="1200" spc="-37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spc="-51" dirty="0">
                <a:latin typeface="Arial" panose="020B0604020202020204" pitchFamily="34" charset="0"/>
                <a:cs typeface="Arial" panose="020B0604020202020204" pitchFamily="34" charset="0"/>
              </a:rPr>
              <a:t>when </a:t>
            </a:r>
            <a:r>
              <a:rPr sz="1200" spc="-64" dirty="0">
                <a:latin typeface="Arial" panose="020B0604020202020204" pitchFamily="34" charset="0"/>
                <a:cs typeface="Arial" panose="020B0604020202020204" pitchFamily="34" charset="0"/>
              </a:rPr>
              <a:t>you</a:t>
            </a:r>
            <a:r>
              <a:rPr sz="1200" spc="-43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spc="-45" dirty="0">
                <a:latin typeface="Arial" panose="020B0604020202020204" pitchFamily="34" charset="0"/>
                <a:cs typeface="Arial" panose="020B0604020202020204" pitchFamily="34" charset="0"/>
              </a:rPr>
              <a:t>are</a:t>
            </a:r>
            <a:r>
              <a:rPr sz="1200" spc="-32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spc="-64" dirty="0">
                <a:latin typeface="Arial" panose="020B0604020202020204" pitchFamily="34" charset="0"/>
                <a:cs typeface="Arial" panose="020B0604020202020204" pitchFamily="34" charset="0"/>
              </a:rPr>
              <a:t>using</a:t>
            </a:r>
            <a:r>
              <a:rPr sz="1200" spc="-32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spc="-43" dirty="0">
                <a:latin typeface="Arial" panose="020B0604020202020204" pitchFamily="34" charset="0"/>
                <a:cs typeface="Arial" panose="020B0604020202020204" pitchFamily="34" charset="0"/>
              </a:rPr>
              <a:t>static</a:t>
            </a:r>
            <a:r>
              <a:rPr sz="1200" spc="-48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spc="-94" dirty="0">
                <a:latin typeface="Arial" panose="020B0604020202020204" pitchFamily="34" charset="0"/>
                <a:cs typeface="Arial" panose="020B0604020202020204" pitchFamily="34" charset="0"/>
              </a:rPr>
              <a:t>SQL</a:t>
            </a:r>
            <a:r>
              <a:rPr sz="1200" spc="-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spc="-40" dirty="0">
                <a:latin typeface="Arial" panose="020B0604020202020204" pitchFamily="34" charset="0"/>
                <a:cs typeface="Arial" panose="020B0604020202020204" pitchFamily="34" charset="0"/>
              </a:rPr>
              <a:t>statements</a:t>
            </a:r>
            <a:r>
              <a:rPr sz="1200" spc="-56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spc="-43" dirty="0">
                <a:latin typeface="Arial" panose="020B0604020202020204" pitchFamily="34" charset="0"/>
                <a:cs typeface="Arial" panose="020B0604020202020204" pitchFamily="34" charset="0"/>
              </a:rPr>
              <a:t>at</a:t>
            </a:r>
            <a:r>
              <a:rPr sz="1200" spc="-32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spc="-21" dirty="0">
                <a:latin typeface="Arial" panose="020B0604020202020204" pitchFamily="34" charset="0"/>
                <a:cs typeface="Arial" panose="020B0604020202020204" pitchFamily="34" charset="0"/>
              </a:rPr>
              <a:t>runtime.</a:t>
            </a:r>
            <a:r>
              <a:rPr sz="1200" spc="-8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spc="-83" dirty="0">
                <a:latin typeface="Arial" panose="020B0604020202020204" pitchFamily="34" charset="0"/>
                <a:cs typeface="Arial" panose="020B0604020202020204" pitchFamily="34" charset="0"/>
              </a:rPr>
              <a:t>If</a:t>
            </a:r>
            <a:r>
              <a:rPr sz="1200" spc="-2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spc="-64" dirty="0">
                <a:latin typeface="Arial" panose="020B0604020202020204" pitchFamily="34" charset="0"/>
                <a:cs typeface="Arial" panose="020B0604020202020204" pitchFamily="34" charset="0"/>
              </a:rPr>
              <a:t>you</a:t>
            </a:r>
            <a:r>
              <a:rPr sz="1200" spc="-43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spc="-48" dirty="0">
                <a:latin typeface="Arial" panose="020B0604020202020204" pitchFamily="34" charset="0"/>
                <a:cs typeface="Arial" panose="020B0604020202020204" pitchFamily="34" charset="0"/>
              </a:rPr>
              <a:t>want</a:t>
            </a:r>
            <a:r>
              <a:rPr sz="1200" spc="-32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spc="-13" dirty="0"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lang="en-US" sz="1200" spc="-13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spc="-19" dirty="0">
                <a:latin typeface="Arial" panose="020B0604020202020204" pitchFamily="34" charset="0"/>
                <a:cs typeface="Arial" panose="020B0604020202020204" pitchFamily="34" charset="0"/>
              </a:rPr>
              <a:t>run</a:t>
            </a:r>
            <a:r>
              <a:rPr sz="1200" spc="-32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spc="-94" dirty="0">
                <a:latin typeface="Arial" panose="020B0604020202020204" pitchFamily="34" charset="0"/>
                <a:cs typeface="Arial" panose="020B0604020202020204" pitchFamily="34" charset="0"/>
              </a:rPr>
              <a:t>SQL</a:t>
            </a:r>
            <a:r>
              <a:rPr sz="1200" spc="-37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spc="-43" dirty="0">
                <a:latin typeface="Arial" panose="020B0604020202020204" pitchFamily="34" charset="0"/>
                <a:cs typeface="Arial" panose="020B0604020202020204" pitchFamily="34" charset="0"/>
              </a:rPr>
              <a:t>query</a:t>
            </a:r>
            <a:r>
              <a:rPr sz="1200" spc="-29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spc="-64" dirty="0">
                <a:latin typeface="Arial" panose="020B0604020202020204" pitchFamily="34" charset="0"/>
                <a:cs typeface="Arial" panose="020B0604020202020204" pitchFamily="34" charset="0"/>
              </a:rPr>
              <a:t>only</a:t>
            </a:r>
            <a:r>
              <a:rPr sz="1200" spc="-2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spc="-51" dirty="0">
                <a:latin typeface="Arial" panose="020B0604020202020204" pitchFamily="34" charset="0"/>
                <a:cs typeface="Arial" panose="020B0604020202020204" pitchFamily="34" charset="0"/>
              </a:rPr>
              <a:t>once</a:t>
            </a:r>
            <a:r>
              <a:rPr sz="1200" spc="-27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spc="-45" dirty="0">
                <a:latin typeface="Arial" panose="020B0604020202020204" pitchFamily="34" charset="0"/>
                <a:cs typeface="Arial" panose="020B0604020202020204" pitchFamily="34" charset="0"/>
              </a:rPr>
              <a:t>than</a:t>
            </a:r>
            <a:r>
              <a:rPr sz="1200" spc="-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spc="-45" dirty="0">
                <a:latin typeface="Arial" panose="020B0604020202020204" pitchFamily="34" charset="0"/>
                <a:cs typeface="Arial" panose="020B0604020202020204" pitchFamily="34" charset="0"/>
              </a:rPr>
              <a:t>this</a:t>
            </a:r>
            <a:r>
              <a:rPr sz="1200" spc="-43" dirty="0">
                <a:latin typeface="Arial" panose="020B0604020202020204" pitchFamily="34" charset="0"/>
                <a:cs typeface="Arial" panose="020B0604020202020204" pitchFamily="34" charset="0"/>
              </a:rPr>
              <a:t> interface</a:t>
            </a:r>
            <a:r>
              <a:rPr sz="1200" spc="-5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spc="-70" dirty="0">
                <a:latin typeface="Arial" panose="020B0604020202020204" pitchFamily="34" charset="0"/>
                <a:cs typeface="Arial" panose="020B0604020202020204" pitchFamily="34" charset="0"/>
              </a:rPr>
              <a:t>is</a:t>
            </a:r>
            <a:r>
              <a:rPr sz="1200" spc="-19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spc="-29" dirty="0">
                <a:latin typeface="Arial" panose="020B0604020202020204" pitchFamily="34" charset="0"/>
                <a:cs typeface="Arial" panose="020B0604020202020204" pitchFamily="34" charset="0"/>
              </a:rPr>
              <a:t>preferred</a:t>
            </a:r>
            <a:r>
              <a:rPr sz="1200" spc="-5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spc="-56" dirty="0">
                <a:latin typeface="Arial" panose="020B0604020202020204" pitchFamily="34" charset="0"/>
                <a:cs typeface="Arial" panose="020B0604020202020204" pitchFamily="34" charset="0"/>
              </a:rPr>
              <a:t>over</a:t>
            </a:r>
            <a:r>
              <a:rPr sz="1200" spc="-29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spc="-37" dirty="0">
                <a:latin typeface="Arial" panose="020B0604020202020204" pitchFamily="34" charset="0"/>
                <a:cs typeface="Arial" panose="020B0604020202020204" pitchFamily="34" charset="0"/>
              </a:rPr>
              <a:t>PreparedStatement.</a:t>
            </a:r>
            <a:endParaRPr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35601">
              <a:spcBef>
                <a:spcPts val="324"/>
              </a:spcBef>
            </a:pPr>
            <a:r>
              <a:rPr sz="1200" b="1" spc="-91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1200" b="1" spc="-67" dirty="0"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  <a:r>
              <a:rPr sz="1200" b="1" spc="37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sz="1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b="1" spc="-6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spc="12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//C</a:t>
            </a:r>
            <a:r>
              <a:rPr sz="1200" spc="8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sz="1200" spc="-43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1200" spc="-104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1200" spc="16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sz="1200" spc="-37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sz="1200" spc="-72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sz="1200" spc="-9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  <a:r>
              <a:rPr sz="1200" spc="-19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spc="-48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sz="1200" spc="-64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sz="1200" spc="-43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1200" spc="-48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spc="-155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sz="1200" spc="16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sz="1200" spc="-104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1200" spc="16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sz="1200" spc="-43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1200" spc="-67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sz="1200" spc="-43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1200" spc="-5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sz="1200" spc="16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sz="1200" spc="-6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spc="-27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</a:t>
            </a:r>
            <a:r>
              <a:rPr sz="1200" spc="-37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ject</a:t>
            </a:r>
            <a:r>
              <a:rPr sz="1200" spc="-45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spc="-64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1200" spc="-78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sz="1200" spc="-45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sz="1200" spc="-32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spc="2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sz="1200" spc="-64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sz="1200" spc="-43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1200" spc="-45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sz="1200" spc="-54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spc="-43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1200" spc="-64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sz="1200" spc="-43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1200" spc="-35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cute</a:t>
            </a:r>
            <a:endParaRPr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96184">
              <a:spcBef>
                <a:spcPts val="321"/>
              </a:spcBef>
            </a:pPr>
            <a:r>
              <a:rPr sz="1200" spc="-43" dirty="0">
                <a:latin typeface="Arial" panose="020B0604020202020204" pitchFamily="34" charset="0"/>
                <a:cs typeface="Arial" panose="020B0604020202020204" pitchFamily="34" charset="0"/>
              </a:rPr>
              <a:t>Statement</a:t>
            </a:r>
            <a:r>
              <a:rPr sz="1200" spc="-6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spc="-32" dirty="0">
                <a:latin typeface="Arial" panose="020B0604020202020204" pitchFamily="34" charset="0"/>
                <a:cs typeface="Arial" panose="020B0604020202020204" pitchFamily="34" charset="0"/>
              </a:rPr>
              <a:t>st </a:t>
            </a:r>
            <a:r>
              <a:rPr sz="1200" spc="120" dirty="0"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  <a:r>
              <a:rPr sz="1200" spc="-32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spc="-37" dirty="0">
                <a:latin typeface="Arial" panose="020B0604020202020204" pitchFamily="34" charset="0"/>
                <a:cs typeface="Arial" panose="020B0604020202020204" pitchFamily="34" charset="0"/>
              </a:rPr>
              <a:t>con.createStatement();</a:t>
            </a:r>
            <a:endParaRPr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797">
              <a:spcBef>
                <a:spcPts val="321"/>
              </a:spcBef>
            </a:pPr>
            <a:r>
              <a:rPr lang="en-US" sz="1200" spc="-54" dirty="0">
                <a:latin typeface="Arial" panose="020B0604020202020204" pitchFamily="34" charset="0"/>
                <a:cs typeface="Arial" panose="020B0604020202020204" pitchFamily="34" charset="0"/>
              </a:rPr>
              <a:t>              </a:t>
            </a:r>
            <a:r>
              <a:rPr sz="1200" spc="-54" dirty="0" err="1">
                <a:latin typeface="Arial" panose="020B0604020202020204" pitchFamily="34" charset="0"/>
                <a:cs typeface="Arial" panose="020B0604020202020204" pitchFamily="34" charset="0"/>
              </a:rPr>
              <a:t>st.executeUpdate</a:t>
            </a:r>
            <a:r>
              <a:rPr sz="1200" spc="-54" dirty="0">
                <a:latin typeface="Arial" panose="020B0604020202020204" pitchFamily="34" charset="0"/>
                <a:cs typeface="Arial" panose="020B0604020202020204" pitchFamily="34" charset="0"/>
              </a:rPr>
              <a:t>("CREATE</a:t>
            </a:r>
            <a:r>
              <a:rPr sz="1200" spc="-203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spc="-139" dirty="0">
                <a:latin typeface="Arial" panose="020B0604020202020204" pitchFamily="34" charset="0"/>
                <a:cs typeface="Arial" panose="020B0604020202020204" pitchFamily="34" charset="0"/>
              </a:rPr>
              <a:t>TABLE</a:t>
            </a:r>
            <a:r>
              <a:rPr sz="1200" spc="-32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spc="-72" dirty="0">
                <a:latin typeface="Arial" panose="020B0604020202020204" pitchFamily="34" charset="0"/>
                <a:cs typeface="Arial" panose="020B0604020202020204" pitchFamily="34" charset="0"/>
              </a:rPr>
              <a:t>STUDENT(ID</a:t>
            </a:r>
            <a:r>
              <a:rPr sz="1200" spc="-7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spc="-80" dirty="0">
                <a:latin typeface="Arial" panose="020B0604020202020204" pitchFamily="34" charset="0"/>
                <a:cs typeface="Arial" panose="020B0604020202020204" pitchFamily="34" charset="0"/>
              </a:rPr>
              <a:t>NUMBER,</a:t>
            </a:r>
            <a:r>
              <a:rPr sz="1200" spc="-96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spc="-112" dirty="0">
                <a:latin typeface="Arial" panose="020B0604020202020204" pitchFamily="34" charset="0"/>
                <a:cs typeface="Arial" panose="020B0604020202020204" pitchFamily="34" charset="0"/>
              </a:rPr>
              <a:t>NAME</a:t>
            </a:r>
            <a:r>
              <a:rPr sz="1200" spc="-187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spc="-78" dirty="0">
                <a:latin typeface="Arial" panose="020B0604020202020204" pitchFamily="34" charset="0"/>
                <a:cs typeface="Arial" panose="020B0604020202020204" pitchFamily="34" charset="0"/>
              </a:rPr>
              <a:t>VARCHAR)");</a:t>
            </a:r>
            <a:endParaRPr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53613">
              <a:spcBef>
                <a:spcPts val="324"/>
              </a:spcBef>
            </a:pPr>
            <a:r>
              <a:rPr sz="1200" b="1" spc="-16" dirty="0">
                <a:latin typeface="Arial" panose="020B0604020202020204" pitchFamily="34" charset="0"/>
                <a:cs typeface="Arial" panose="020B0604020202020204" pitchFamily="34" charset="0"/>
              </a:rPr>
              <a:t>2.</a:t>
            </a:r>
            <a:r>
              <a:rPr sz="1200" b="1" spc="-78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b="1" spc="-72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sz="1200" b="1" spc="-37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sz="1200" b="1" spc="21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1200" b="1" spc="19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sz="1200" b="1" spc="-8" dirty="0">
                <a:latin typeface="Arial" panose="020B0604020202020204" pitchFamily="34" charset="0"/>
                <a:cs typeface="Arial" panose="020B0604020202020204" pitchFamily="34" charset="0"/>
              </a:rPr>
              <a:t>are</a:t>
            </a:r>
            <a:r>
              <a:rPr sz="1200" b="1" spc="-16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sz="1200" b="1" spc="-59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sz="1200" b="1" spc="-43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sz="1200" b="1" spc="-6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1200" b="1" spc="16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sz="1200" b="1" spc="19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1200" b="1" spc="-27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sz="1200" b="1" spc="16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1200" b="1" spc="24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sz="1200" b="1" spc="13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sz="1200" b="1" spc="-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b="1" spc="-83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53613"/>
            <a:r>
              <a:rPr sz="1200" spc="-32" dirty="0">
                <a:latin typeface="Arial" panose="020B0604020202020204" pitchFamily="34" charset="0"/>
                <a:cs typeface="Arial" panose="020B0604020202020204" pitchFamily="34" charset="0"/>
              </a:rPr>
              <a:t>It</a:t>
            </a:r>
            <a:r>
              <a:rPr sz="1200" spc="-27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spc="-70" dirty="0">
                <a:latin typeface="Arial" panose="020B0604020202020204" pitchFamily="34" charset="0"/>
                <a:cs typeface="Arial" panose="020B0604020202020204" pitchFamily="34" charset="0"/>
              </a:rPr>
              <a:t>is</a:t>
            </a:r>
            <a:r>
              <a:rPr sz="1200" spc="-29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spc="-54" dirty="0">
                <a:latin typeface="Arial" panose="020B0604020202020204" pitchFamily="34" charset="0"/>
                <a:cs typeface="Arial" panose="020B0604020202020204" pitchFamily="34" charset="0"/>
              </a:rPr>
              <a:t>used</a:t>
            </a:r>
            <a:r>
              <a:rPr sz="1200" spc="-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spc="-51" dirty="0">
                <a:latin typeface="Arial" panose="020B0604020202020204" pitchFamily="34" charset="0"/>
                <a:cs typeface="Arial" panose="020B0604020202020204" pitchFamily="34" charset="0"/>
              </a:rPr>
              <a:t>when</a:t>
            </a:r>
            <a:r>
              <a:rPr sz="1200" spc="-37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spc="-64" dirty="0">
                <a:latin typeface="Arial" panose="020B0604020202020204" pitchFamily="34" charset="0"/>
                <a:cs typeface="Arial" panose="020B0604020202020204" pitchFamily="34" charset="0"/>
              </a:rPr>
              <a:t>you</a:t>
            </a:r>
            <a:r>
              <a:rPr sz="1200" spc="-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spc="-48" dirty="0">
                <a:latin typeface="Arial" panose="020B0604020202020204" pitchFamily="34" charset="0"/>
                <a:cs typeface="Arial" panose="020B0604020202020204" pitchFamily="34" charset="0"/>
              </a:rPr>
              <a:t>want</a:t>
            </a:r>
            <a:r>
              <a:rPr sz="1200" spc="-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spc="-13" dirty="0"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sz="1200" spc="-2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spc="-56" dirty="0">
                <a:latin typeface="Arial" panose="020B0604020202020204" pitchFamily="34" charset="0"/>
                <a:cs typeface="Arial" panose="020B0604020202020204" pitchFamily="34" charset="0"/>
              </a:rPr>
              <a:t>use</a:t>
            </a:r>
            <a:r>
              <a:rPr sz="1200" spc="-29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spc="-94" dirty="0">
                <a:latin typeface="Arial" panose="020B0604020202020204" pitchFamily="34" charset="0"/>
                <a:cs typeface="Arial" panose="020B0604020202020204" pitchFamily="34" charset="0"/>
              </a:rPr>
              <a:t>SQL</a:t>
            </a:r>
            <a:r>
              <a:rPr sz="1200" spc="-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spc="-40" dirty="0">
                <a:latin typeface="Arial" panose="020B0604020202020204" pitchFamily="34" charset="0"/>
                <a:cs typeface="Arial" panose="020B0604020202020204" pitchFamily="34" charset="0"/>
              </a:rPr>
              <a:t>statements</a:t>
            </a:r>
            <a:r>
              <a:rPr sz="1200" spc="-67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spc="-80" dirty="0">
                <a:latin typeface="Arial" panose="020B0604020202020204" pitchFamily="34" charset="0"/>
                <a:cs typeface="Arial" panose="020B0604020202020204" pitchFamily="34" charset="0"/>
              </a:rPr>
              <a:t>many</a:t>
            </a:r>
            <a:r>
              <a:rPr sz="1200" spc="-19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spc="-32" dirty="0">
                <a:latin typeface="Arial" panose="020B0604020202020204" pitchFamily="34" charset="0"/>
                <a:cs typeface="Arial" panose="020B0604020202020204" pitchFamily="34" charset="0"/>
              </a:rPr>
              <a:t>times. The</a:t>
            </a:r>
            <a:r>
              <a:rPr sz="1200" spc="-43" dirty="0">
                <a:latin typeface="Arial" panose="020B0604020202020204" pitchFamily="34" charset="0"/>
                <a:cs typeface="Arial" panose="020B0604020202020204" pitchFamily="34" charset="0"/>
              </a:rPr>
              <a:t> PreparedStatement</a:t>
            </a:r>
            <a:r>
              <a:rPr lang="en-US" sz="1200" spc="-43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spc="-35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sz="1200" spc="-70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sz="1200" spc="19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sz="1200" spc="-37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1200" spc="-54" dirty="0">
                <a:latin typeface="Arial" panose="020B0604020202020204" pitchFamily="34" charset="0"/>
                <a:cs typeface="Arial" panose="020B0604020202020204" pitchFamily="34" charset="0"/>
              </a:rPr>
              <a:t>rfac</a:t>
            </a:r>
            <a:r>
              <a:rPr sz="1200" spc="-59" dirty="0">
                <a:latin typeface="Arial" panose="020B0604020202020204" pitchFamily="34" charset="0"/>
                <a:cs typeface="Arial" panose="020B0604020202020204" pitchFamily="34" charset="0"/>
              </a:rPr>
              <a:t>e </a:t>
            </a:r>
            <a:r>
              <a:rPr sz="1200" spc="-75" dirty="0">
                <a:latin typeface="Arial" panose="020B0604020202020204" pitchFamily="34" charset="0"/>
                <a:cs typeface="Arial" panose="020B0604020202020204" pitchFamily="34" charset="0"/>
              </a:rPr>
              <a:t>ac</a:t>
            </a:r>
            <a:r>
              <a:rPr sz="1200" spc="-72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sz="1200" spc="-37" dirty="0">
                <a:latin typeface="Arial" panose="020B0604020202020204" pitchFamily="34" charset="0"/>
                <a:cs typeface="Arial" panose="020B0604020202020204" pitchFamily="34" charset="0"/>
              </a:rPr>
              <a:t>epts</a:t>
            </a:r>
            <a:r>
              <a:rPr sz="1200" spc="-43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spc="-35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sz="1200" spc="-70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sz="1200" spc="-45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sz="1200" spc="-54" dirty="0">
                <a:latin typeface="Arial" panose="020B0604020202020204" pitchFamily="34" charset="0"/>
                <a:cs typeface="Arial" panose="020B0604020202020204" pitchFamily="34" charset="0"/>
              </a:rPr>
              <a:t>u</a:t>
            </a:r>
            <a:r>
              <a:rPr sz="1200" spc="16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sz="1200" spc="-2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spc="-70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sz="1200" spc="-67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1200" spc="-37" dirty="0">
                <a:latin typeface="Arial" panose="020B0604020202020204" pitchFamily="34" charset="0"/>
                <a:cs typeface="Arial" panose="020B0604020202020204" pitchFamily="34" charset="0"/>
              </a:rPr>
              <a:t>ra</a:t>
            </a:r>
            <a:r>
              <a:rPr sz="1200" spc="-75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sz="1200" spc="-37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1200" spc="19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sz="1200" spc="-37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1200" spc="32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sz="1200" spc="-86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sz="1200" spc="-56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spc="-102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1200" spc="16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sz="1200" spc="-2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spc="32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sz="1200" spc="-45" dirty="0">
                <a:latin typeface="Arial" panose="020B0604020202020204" pitchFamily="34" charset="0"/>
                <a:cs typeface="Arial" panose="020B0604020202020204" pitchFamily="34" charset="0"/>
              </a:rPr>
              <a:t>u</a:t>
            </a:r>
            <a:r>
              <a:rPr sz="1200" spc="-54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sz="1200" spc="19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sz="1200" spc="-32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sz="1200" spc="-91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sz="1200" spc="-61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1200" spc="48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53613">
              <a:spcBef>
                <a:spcPts val="321"/>
              </a:spcBef>
            </a:pPr>
            <a:r>
              <a:rPr sz="1200" b="1" spc="-40" dirty="0">
                <a:latin typeface="Arial" panose="020B0604020202020204" pitchFamily="34" charset="0"/>
                <a:cs typeface="Arial" panose="020B0604020202020204" pitchFamily="34" charset="0"/>
              </a:rPr>
              <a:t>Eg) </a:t>
            </a:r>
            <a:r>
              <a:rPr sz="1200" spc="11" dirty="0">
                <a:latin typeface="Arial" panose="020B0604020202020204" pitchFamily="34" charset="0"/>
                <a:cs typeface="Arial" panose="020B0604020202020204" pitchFamily="34" charset="0"/>
              </a:rPr>
              <a:t>//</a:t>
            </a:r>
            <a:r>
              <a:rPr sz="1200" spc="1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Creating</a:t>
            </a:r>
            <a:r>
              <a:rPr sz="1200" spc="-45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spc="-29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sz="1200" spc="-45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PreparedStatement</a:t>
            </a:r>
            <a:r>
              <a:rPr sz="1200" spc="-6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spc="-43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object</a:t>
            </a:r>
            <a:endParaRPr sz="12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96184" marR="284796" indent="32626">
              <a:spcBef>
                <a:spcPts val="324"/>
              </a:spcBef>
            </a:pPr>
            <a:r>
              <a:rPr sz="1200" spc="-45" dirty="0">
                <a:latin typeface="Arial" panose="020B0604020202020204" pitchFamily="34" charset="0"/>
                <a:cs typeface="Arial" panose="020B0604020202020204" pitchFamily="34" charset="0"/>
              </a:rPr>
              <a:t>PreparedStatement</a:t>
            </a:r>
            <a:r>
              <a:rPr sz="1200" spc="-59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spc="-40" dirty="0">
                <a:latin typeface="Arial" panose="020B0604020202020204" pitchFamily="34" charset="0"/>
                <a:cs typeface="Arial" panose="020B0604020202020204" pitchFamily="34" charset="0"/>
              </a:rPr>
              <a:t>pst</a:t>
            </a:r>
            <a:r>
              <a:rPr sz="1200" spc="-29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spc="118" dirty="0"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  <a:r>
              <a:rPr sz="1200" spc="-29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spc="-40" dirty="0">
                <a:latin typeface="Arial" panose="020B0604020202020204" pitchFamily="34" charset="0"/>
                <a:cs typeface="Arial" panose="020B0604020202020204" pitchFamily="34" charset="0"/>
              </a:rPr>
              <a:t>con.prepareStatement("update</a:t>
            </a:r>
            <a:r>
              <a:rPr sz="1200" spc="-72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spc="-78" dirty="0">
                <a:latin typeface="Arial" panose="020B0604020202020204" pitchFamily="34" charset="0"/>
                <a:cs typeface="Arial" panose="020B0604020202020204" pitchFamily="34" charset="0"/>
              </a:rPr>
              <a:t>STUDENT</a:t>
            </a:r>
            <a:r>
              <a:rPr sz="1200" spc="-67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spc="-35" dirty="0">
                <a:latin typeface="Arial" panose="020B0604020202020204" pitchFamily="34" charset="0"/>
                <a:cs typeface="Arial" panose="020B0604020202020204" pitchFamily="34" charset="0"/>
              </a:rPr>
              <a:t>set </a:t>
            </a:r>
            <a:r>
              <a:rPr sz="1200" spc="-272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spc="-59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sz="1200" spc="-147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1200" spc="-120" dirty="0">
                <a:latin typeface="Arial" panose="020B0604020202020204" pitchFamily="34" charset="0"/>
                <a:cs typeface="Arial" panose="020B0604020202020204" pitchFamily="34" charset="0"/>
              </a:rPr>
              <a:t>ME</a:t>
            </a:r>
            <a:r>
              <a:rPr sz="1200" spc="-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spc="118" dirty="0"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  <a:r>
              <a:rPr sz="1200" spc="-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spc="-147" dirty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  <a:r>
              <a:rPr sz="1200" spc="-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spc="-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spc="-59" dirty="0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r>
              <a:rPr sz="1200" spc="-64" dirty="0"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sz="1200" spc="-43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1200" spc="-5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sz="1200" spc="-43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1200" spc="-48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spc="-70" dirty="0">
                <a:latin typeface="Arial" panose="020B0604020202020204" pitchFamily="34" charset="0"/>
                <a:cs typeface="Arial" panose="020B0604020202020204" pitchFamily="34" charset="0"/>
              </a:rPr>
              <a:t>ID</a:t>
            </a:r>
            <a:r>
              <a:rPr sz="1200" spc="-32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spc="118" dirty="0"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  <a:r>
              <a:rPr sz="1200" spc="-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spc="-145" dirty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  <a:r>
              <a:rPr sz="1200" spc="-13" dirty="0">
                <a:latin typeface="Arial" panose="020B0604020202020204" pitchFamily="34" charset="0"/>
                <a:cs typeface="Arial" panose="020B0604020202020204" pitchFamily="34" charset="0"/>
              </a:rPr>
              <a:t>"</a:t>
            </a:r>
            <a:r>
              <a:rPr sz="1200" spc="-3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sz="1200" spc="16" dirty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  <a:r>
              <a:rPr sz="1200" spc="-67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spc="115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//S</a:t>
            </a:r>
            <a:r>
              <a:rPr sz="1200" spc="-43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n-US" sz="1200" spc="-43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sz="1200" spc="-6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spc="-6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//</a:t>
            </a:r>
            <a:r>
              <a:rPr sz="1200" spc="-102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sz="1200" spc="-54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</a:t>
            </a:r>
            <a:r>
              <a:rPr sz="1200" spc="-8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</a:t>
            </a:r>
            <a:r>
              <a:rPr sz="1200" spc="-43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1200" spc="-86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sz="1200" spc="-59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spc="16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sz="1200" spc="-45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sz="1200" spc="-32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spc="-56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</a:t>
            </a:r>
            <a:r>
              <a:rPr sz="1200" spc="-7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1200" spc="-54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</a:t>
            </a:r>
            <a:r>
              <a:rPr sz="1200" spc="-35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spc="-64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sz="1200" spc="-5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sz="1200" spc="-35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sz="1200" spc="-64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sz="1200" spc="-43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1200" spc="32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sz="1200" spc="-86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endParaRPr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96184" marR="785398">
              <a:lnSpc>
                <a:spcPct val="125800"/>
              </a:lnSpc>
              <a:spcBef>
                <a:spcPts val="115"/>
              </a:spcBef>
            </a:pPr>
            <a:r>
              <a:rPr sz="1200" spc="-32" dirty="0">
                <a:latin typeface="Arial" panose="020B0604020202020204" pitchFamily="34" charset="0"/>
                <a:cs typeface="Arial" panose="020B0604020202020204" pitchFamily="34" charset="0"/>
              </a:rPr>
              <a:t>pst.setString(1,</a:t>
            </a:r>
            <a:r>
              <a:rPr sz="1200" spc="-112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spc="-51" dirty="0">
                <a:latin typeface="Arial" panose="020B0604020202020204" pitchFamily="34" charset="0"/>
                <a:cs typeface="Arial" panose="020B0604020202020204" pitchFamily="34" charset="0"/>
              </a:rPr>
              <a:t>"RAM");</a:t>
            </a:r>
            <a:r>
              <a:rPr sz="1200" spc="-29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spc="-13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//Assigns</a:t>
            </a:r>
            <a:r>
              <a:rPr sz="1200" spc="-24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spc="-75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"RAM"</a:t>
            </a:r>
            <a:r>
              <a:rPr sz="1200" spc="-2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spc="-19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sz="1200" spc="-29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spc="-32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first</a:t>
            </a:r>
            <a:r>
              <a:rPr sz="1200" spc="-27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spc="-59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place</a:t>
            </a:r>
            <a:r>
              <a:rPr sz="1200" spc="-2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spc="-4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holder </a:t>
            </a:r>
            <a:endParaRPr lang="en-US" sz="1200" spc="-4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96184" marR="785398">
              <a:lnSpc>
                <a:spcPct val="125800"/>
              </a:lnSpc>
              <a:spcBef>
                <a:spcPts val="115"/>
              </a:spcBef>
            </a:pPr>
            <a:r>
              <a:rPr sz="1200" spc="-259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spc="-24" dirty="0">
                <a:latin typeface="Arial" panose="020B0604020202020204" pitchFamily="34" charset="0"/>
                <a:cs typeface="Arial" panose="020B0604020202020204" pitchFamily="34" charset="0"/>
              </a:rPr>
              <a:t>pst.setInt(2, </a:t>
            </a:r>
            <a:r>
              <a:rPr sz="1200" spc="-29" dirty="0">
                <a:latin typeface="Arial" panose="020B0604020202020204" pitchFamily="34" charset="0"/>
                <a:cs typeface="Arial" panose="020B0604020202020204" pitchFamily="34" charset="0"/>
              </a:rPr>
              <a:t>512); </a:t>
            </a:r>
            <a:r>
              <a:rPr sz="1200" spc="-13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//Assigns </a:t>
            </a:r>
            <a:r>
              <a:rPr sz="1200" spc="-29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"512" </a:t>
            </a:r>
            <a:r>
              <a:rPr sz="1200" spc="-19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</a:t>
            </a:r>
            <a:r>
              <a:rPr sz="1200" spc="-56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second place </a:t>
            </a:r>
            <a:r>
              <a:rPr sz="1200" spc="-4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holder </a:t>
            </a:r>
            <a:endParaRPr lang="en-US" sz="1200" spc="-4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96184" marR="785398">
              <a:lnSpc>
                <a:spcPct val="125800"/>
              </a:lnSpc>
              <a:spcBef>
                <a:spcPts val="115"/>
              </a:spcBef>
            </a:pPr>
            <a:r>
              <a:rPr sz="1200" spc="-37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spc="-35" dirty="0">
                <a:latin typeface="Arial" panose="020B0604020202020204" pitchFamily="34" charset="0"/>
                <a:cs typeface="Arial" panose="020B0604020202020204" pitchFamily="34" charset="0"/>
              </a:rPr>
              <a:t>pst.executeUpdate();</a:t>
            </a:r>
            <a:r>
              <a:rPr sz="1200" spc="-96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//Executing</a:t>
            </a:r>
            <a:r>
              <a:rPr sz="1200" spc="-6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spc="-45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PreparedStatement</a:t>
            </a:r>
            <a:endParaRPr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533088" y="3189240"/>
            <a:ext cx="591185" cy="1657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endParaRPr sz="1000" b="1" spc="-10" dirty="0">
              <a:solidFill>
                <a:srgbClr val="FF0000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011936" y="86868"/>
            <a:ext cx="5781040" cy="487680"/>
            <a:chOff x="1011936" y="86868"/>
            <a:chExt cx="5781040" cy="487680"/>
          </a:xfrm>
        </p:grpSpPr>
        <p:sp>
          <p:nvSpPr>
            <p:cNvPr id="4" name="object 4"/>
            <p:cNvSpPr/>
            <p:nvPr/>
          </p:nvSpPr>
          <p:spPr>
            <a:xfrm>
              <a:off x="1014984" y="88392"/>
              <a:ext cx="5774690" cy="485140"/>
            </a:xfrm>
            <a:custGeom>
              <a:avLst/>
              <a:gdLst/>
              <a:ahLst/>
              <a:cxnLst/>
              <a:rect l="l" t="t" r="r" b="b"/>
              <a:pathLst>
                <a:path w="5774690" h="485140">
                  <a:moveTo>
                    <a:pt x="5774435" y="484631"/>
                  </a:moveTo>
                  <a:lnTo>
                    <a:pt x="0" y="484631"/>
                  </a:lnTo>
                  <a:lnTo>
                    <a:pt x="0" y="0"/>
                  </a:lnTo>
                  <a:lnTo>
                    <a:pt x="5774435" y="0"/>
                  </a:lnTo>
                  <a:lnTo>
                    <a:pt x="5774435" y="484631"/>
                  </a:lnTo>
                  <a:close/>
                </a:path>
              </a:pathLst>
            </a:custGeom>
            <a:solidFill>
              <a:srgbClr val="ED7C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011936" y="86868"/>
              <a:ext cx="5781040" cy="487680"/>
            </a:xfrm>
            <a:custGeom>
              <a:avLst/>
              <a:gdLst/>
              <a:ahLst/>
              <a:cxnLst/>
              <a:rect l="l" t="t" r="r" b="b"/>
              <a:pathLst>
                <a:path w="5781040" h="487680">
                  <a:moveTo>
                    <a:pt x="5780532" y="487680"/>
                  </a:moveTo>
                  <a:lnTo>
                    <a:pt x="0" y="487680"/>
                  </a:lnTo>
                  <a:lnTo>
                    <a:pt x="0" y="0"/>
                  </a:lnTo>
                  <a:lnTo>
                    <a:pt x="5780532" y="0"/>
                  </a:lnTo>
                  <a:lnTo>
                    <a:pt x="5780532" y="1524"/>
                  </a:lnTo>
                  <a:lnTo>
                    <a:pt x="4572" y="1524"/>
                  </a:lnTo>
                  <a:lnTo>
                    <a:pt x="3048" y="4572"/>
                  </a:lnTo>
                  <a:lnTo>
                    <a:pt x="4572" y="4572"/>
                  </a:lnTo>
                  <a:lnTo>
                    <a:pt x="4572" y="483108"/>
                  </a:lnTo>
                  <a:lnTo>
                    <a:pt x="3048" y="483108"/>
                  </a:lnTo>
                  <a:lnTo>
                    <a:pt x="4572" y="486156"/>
                  </a:lnTo>
                  <a:lnTo>
                    <a:pt x="5780532" y="486156"/>
                  </a:lnTo>
                  <a:lnTo>
                    <a:pt x="5780532" y="487680"/>
                  </a:lnTo>
                  <a:close/>
                </a:path>
                <a:path w="5781040" h="487680">
                  <a:moveTo>
                    <a:pt x="4572" y="4572"/>
                  </a:moveTo>
                  <a:lnTo>
                    <a:pt x="3048" y="4572"/>
                  </a:lnTo>
                  <a:lnTo>
                    <a:pt x="4572" y="1524"/>
                  </a:lnTo>
                  <a:lnTo>
                    <a:pt x="4572" y="4572"/>
                  </a:lnTo>
                  <a:close/>
                </a:path>
                <a:path w="5781040" h="487680">
                  <a:moveTo>
                    <a:pt x="5775960" y="4572"/>
                  </a:moveTo>
                  <a:lnTo>
                    <a:pt x="4572" y="4572"/>
                  </a:lnTo>
                  <a:lnTo>
                    <a:pt x="4572" y="1524"/>
                  </a:lnTo>
                  <a:lnTo>
                    <a:pt x="5775960" y="1524"/>
                  </a:lnTo>
                  <a:lnTo>
                    <a:pt x="5775960" y="4572"/>
                  </a:lnTo>
                  <a:close/>
                </a:path>
                <a:path w="5781040" h="487680">
                  <a:moveTo>
                    <a:pt x="5775960" y="486156"/>
                  </a:moveTo>
                  <a:lnTo>
                    <a:pt x="5775960" y="1524"/>
                  </a:lnTo>
                  <a:lnTo>
                    <a:pt x="5777484" y="4572"/>
                  </a:lnTo>
                  <a:lnTo>
                    <a:pt x="5780532" y="4572"/>
                  </a:lnTo>
                  <a:lnTo>
                    <a:pt x="5780532" y="483108"/>
                  </a:lnTo>
                  <a:lnTo>
                    <a:pt x="5777484" y="483108"/>
                  </a:lnTo>
                  <a:lnTo>
                    <a:pt x="5775960" y="486156"/>
                  </a:lnTo>
                  <a:close/>
                </a:path>
                <a:path w="5781040" h="487680">
                  <a:moveTo>
                    <a:pt x="5780532" y="4572"/>
                  </a:moveTo>
                  <a:lnTo>
                    <a:pt x="5777484" y="4572"/>
                  </a:lnTo>
                  <a:lnTo>
                    <a:pt x="5775960" y="1524"/>
                  </a:lnTo>
                  <a:lnTo>
                    <a:pt x="5780532" y="1524"/>
                  </a:lnTo>
                  <a:lnTo>
                    <a:pt x="5780532" y="4572"/>
                  </a:lnTo>
                  <a:close/>
                </a:path>
                <a:path w="5781040" h="487680">
                  <a:moveTo>
                    <a:pt x="4572" y="486156"/>
                  </a:moveTo>
                  <a:lnTo>
                    <a:pt x="3048" y="483108"/>
                  </a:lnTo>
                  <a:lnTo>
                    <a:pt x="4572" y="483108"/>
                  </a:lnTo>
                  <a:lnTo>
                    <a:pt x="4572" y="486156"/>
                  </a:lnTo>
                  <a:close/>
                </a:path>
                <a:path w="5781040" h="487680">
                  <a:moveTo>
                    <a:pt x="5775960" y="486156"/>
                  </a:moveTo>
                  <a:lnTo>
                    <a:pt x="4572" y="486156"/>
                  </a:lnTo>
                  <a:lnTo>
                    <a:pt x="4572" y="483108"/>
                  </a:lnTo>
                  <a:lnTo>
                    <a:pt x="5775960" y="483108"/>
                  </a:lnTo>
                  <a:lnTo>
                    <a:pt x="5775960" y="486156"/>
                  </a:lnTo>
                  <a:close/>
                </a:path>
                <a:path w="5781040" h="487680">
                  <a:moveTo>
                    <a:pt x="5780532" y="486156"/>
                  </a:moveTo>
                  <a:lnTo>
                    <a:pt x="5775960" y="486156"/>
                  </a:lnTo>
                  <a:lnTo>
                    <a:pt x="5777484" y="483108"/>
                  </a:lnTo>
                  <a:lnTo>
                    <a:pt x="5780532" y="483108"/>
                  </a:lnTo>
                  <a:lnTo>
                    <a:pt x="5780532" y="486156"/>
                  </a:lnTo>
                  <a:close/>
                </a:path>
              </a:pathLst>
            </a:custGeom>
            <a:solidFill>
              <a:srgbClr val="5B9A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2545">
              <a:lnSpc>
                <a:spcPct val="100000"/>
              </a:lnSpc>
              <a:spcBef>
                <a:spcPts val="95"/>
              </a:spcBef>
            </a:pPr>
            <a:r>
              <a:rPr dirty="0"/>
              <a:t>Creating</a:t>
            </a:r>
            <a:r>
              <a:rPr spc="-80" dirty="0"/>
              <a:t> </a:t>
            </a:r>
            <a:r>
              <a:rPr dirty="0"/>
              <a:t>a</a:t>
            </a:r>
            <a:r>
              <a:rPr spc="-65" dirty="0"/>
              <a:t> </a:t>
            </a:r>
            <a:r>
              <a:rPr dirty="0"/>
              <a:t>sample</a:t>
            </a:r>
            <a:r>
              <a:rPr spc="-60" dirty="0"/>
              <a:t> </a:t>
            </a:r>
            <a:r>
              <a:rPr spc="-10" dirty="0"/>
              <a:t>MySQL</a:t>
            </a:r>
            <a:r>
              <a:rPr spc="-125" dirty="0"/>
              <a:t> </a:t>
            </a:r>
            <a:r>
              <a:rPr spc="-10" dirty="0"/>
              <a:t>database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1011936" y="569975"/>
            <a:ext cx="5781040" cy="2626360"/>
            <a:chOff x="1011936" y="569975"/>
            <a:chExt cx="5781040" cy="2626360"/>
          </a:xfrm>
        </p:grpSpPr>
        <p:sp>
          <p:nvSpPr>
            <p:cNvPr id="8" name="object 8"/>
            <p:cNvSpPr/>
            <p:nvPr/>
          </p:nvSpPr>
          <p:spPr>
            <a:xfrm>
              <a:off x="1014984" y="573023"/>
              <a:ext cx="5774690" cy="2621280"/>
            </a:xfrm>
            <a:custGeom>
              <a:avLst/>
              <a:gdLst/>
              <a:ahLst/>
              <a:cxnLst/>
              <a:rect l="l" t="t" r="r" b="b"/>
              <a:pathLst>
                <a:path w="5774690" h="2621280">
                  <a:moveTo>
                    <a:pt x="5774435" y="2621280"/>
                  </a:moveTo>
                  <a:lnTo>
                    <a:pt x="0" y="2621280"/>
                  </a:lnTo>
                  <a:lnTo>
                    <a:pt x="0" y="0"/>
                  </a:lnTo>
                  <a:lnTo>
                    <a:pt x="5774435" y="0"/>
                  </a:lnTo>
                  <a:lnTo>
                    <a:pt x="5774435" y="2621280"/>
                  </a:lnTo>
                  <a:close/>
                </a:path>
              </a:pathLst>
            </a:custGeom>
            <a:solidFill>
              <a:srgbClr val="FBE4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011936" y="569975"/>
              <a:ext cx="5781040" cy="2626360"/>
            </a:xfrm>
            <a:custGeom>
              <a:avLst/>
              <a:gdLst/>
              <a:ahLst/>
              <a:cxnLst/>
              <a:rect l="l" t="t" r="r" b="b"/>
              <a:pathLst>
                <a:path w="5781040" h="2626360">
                  <a:moveTo>
                    <a:pt x="5780532" y="2625851"/>
                  </a:moveTo>
                  <a:lnTo>
                    <a:pt x="0" y="2625851"/>
                  </a:lnTo>
                  <a:lnTo>
                    <a:pt x="0" y="1524"/>
                  </a:lnTo>
                  <a:lnTo>
                    <a:pt x="1524" y="0"/>
                  </a:lnTo>
                  <a:lnTo>
                    <a:pt x="5779007" y="0"/>
                  </a:lnTo>
                  <a:lnTo>
                    <a:pt x="5780532" y="1524"/>
                  </a:lnTo>
                  <a:lnTo>
                    <a:pt x="5780532" y="3048"/>
                  </a:lnTo>
                  <a:lnTo>
                    <a:pt x="4572" y="3048"/>
                  </a:lnTo>
                  <a:lnTo>
                    <a:pt x="3048" y="4572"/>
                  </a:lnTo>
                  <a:lnTo>
                    <a:pt x="4572" y="4572"/>
                  </a:lnTo>
                  <a:lnTo>
                    <a:pt x="4572" y="2621280"/>
                  </a:lnTo>
                  <a:lnTo>
                    <a:pt x="3048" y="2621280"/>
                  </a:lnTo>
                  <a:lnTo>
                    <a:pt x="4572" y="2624328"/>
                  </a:lnTo>
                  <a:lnTo>
                    <a:pt x="5780532" y="2624328"/>
                  </a:lnTo>
                  <a:lnTo>
                    <a:pt x="5780532" y="2625851"/>
                  </a:lnTo>
                  <a:close/>
                </a:path>
                <a:path w="5781040" h="2626360">
                  <a:moveTo>
                    <a:pt x="4572" y="4572"/>
                  </a:moveTo>
                  <a:lnTo>
                    <a:pt x="3048" y="4572"/>
                  </a:lnTo>
                  <a:lnTo>
                    <a:pt x="4572" y="3048"/>
                  </a:lnTo>
                  <a:lnTo>
                    <a:pt x="4572" y="4572"/>
                  </a:lnTo>
                  <a:close/>
                </a:path>
                <a:path w="5781040" h="2626360">
                  <a:moveTo>
                    <a:pt x="5775960" y="4572"/>
                  </a:moveTo>
                  <a:lnTo>
                    <a:pt x="4572" y="4572"/>
                  </a:lnTo>
                  <a:lnTo>
                    <a:pt x="4572" y="3048"/>
                  </a:lnTo>
                  <a:lnTo>
                    <a:pt x="5775960" y="3048"/>
                  </a:lnTo>
                  <a:lnTo>
                    <a:pt x="5775960" y="4572"/>
                  </a:lnTo>
                  <a:close/>
                </a:path>
                <a:path w="5781040" h="2626360">
                  <a:moveTo>
                    <a:pt x="5775960" y="2624328"/>
                  </a:moveTo>
                  <a:lnTo>
                    <a:pt x="5775960" y="3048"/>
                  </a:lnTo>
                  <a:lnTo>
                    <a:pt x="5777484" y="4572"/>
                  </a:lnTo>
                  <a:lnTo>
                    <a:pt x="5780532" y="4572"/>
                  </a:lnTo>
                  <a:lnTo>
                    <a:pt x="5780532" y="2621280"/>
                  </a:lnTo>
                  <a:lnTo>
                    <a:pt x="5777484" y="2621280"/>
                  </a:lnTo>
                  <a:lnTo>
                    <a:pt x="5775960" y="2624328"/>
                  </a:lnTo>
                  <a:close/>
                </a:path>
                <a:path w="5781040" h="2626360">
                  <a:moveTo>
                    <a:pt x="5780532" y="4572"/>
                  </a:moveTo>
                  <a:lnTo>
                    <a:pt x="5777484" y="4572"/>
                  </a:lnTo>
                  <a:lnTo>
                    <a:pt x="5775960" y="3048"/>
                  </a:lnTo>
                  <a:lnTo>
                    <a:pt x="5780532" y="3048"/>
                  </a:lnTo>
                  <a:lnTo>
                    <a:pt x="5780532" y="4572"/>
                  </a:lnTo>
                  <a:close/>
                </a:path>
                <a:path w="5781040" h="2626360">
                  <a:moveTo>
                    <a:pt x="4572" y="2624328"/>
                  </a:moveTo>
                  <a:lnTo>
                    <a:pt x="3048" y="2621280"/>
                  </a:lnTo>
                  <a:lnTo>
                    <a:pt x="4572" y="2621280"/>
                  </a:lnTo>
                  <a:lnTo>
                    <a:pt x="4572" y="2624328"/>
                  </a:lnTo>
                  <a:close/>
                </a:path>
                <a:path w="5781040" h="2626360">
                  <a:moveTo>
                    <a:pt x="5775960" y="2624328"/>
                  </a:moveTo>
                  <a:lnTo>
                    <a:pt x="4572" y="2624328"/>
                  </a:lnTo>
                  <a:lnTo>
                    <a:pt x="4572" y="2621280"/>
                  </a:lnTo>
                  <a:lnTo>
                    <a:pt x="5775960" y="2621280"/>
                  </a:lnTo>
                  <a:lnTo>
                    <a:pt x="5775960" y="2624328"/>
                  </a:lnTo>
                  <a:close/>
                </a:path>
                <a:path w="5781040" h="2626360">
                  <a:moveTo>
                    <a:pt x="5780532" y="2624328"/>
                  </a:moveTo>
                  <a:lnTo>
                    <a:pt x="5775960" y="2624328"/>
                  </a:lnTo>
                  <a:lnTo>
                    <a:pt x="5777484" y="2621280"/>
                  </a:lnTo>
                  <a:lnTo>
                    <a:pt x="5780532" y="2621280"/>
                  </a:lnTo>
                  <a:lnTo>
                    <a:pt x="5780532" y="2624328"/>
                  </a:lnTo>
                  <a:close/>
                </a:path>
              </a:pathLst>
            </a:custGeom>
            <a:solidFill>
              <a:srgbClr val="5B9A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046488" y="510015"/>
            <a:ext cx="3818890" cy="2489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5245" marR="1684020" indent="-43180">
              <a:lnSpc>
                <a:spcPct val="108000"/>
              </a:lnSpc>
              <a:spcBef>
                <a:spcPts val="100"/>
              </a:spcBef>
            </a:pPr>
            <a:r>
              <a:rPr sz="1500" spc="-10" dirty="0">
                <a:latin typeface="Calibri" panose="020F0502020204030204"/>
                <a:cs typeface="Calibri" panose="020F0502020204030204"/>
              </a:rPr>
              <a:t>create</a:t>
            </a:r>
            <a:r>
              <a:rPr sz="15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1500" dirty="0">
                <a:latin typeface="Calibri" panose="020F0502020204030204"/>
                <a:cs typeface="Calibri" panose="020F0502020204030204"/>
              </a:rPr>
              <a:t>database</a:t>
            </a:r>
            <a:r>
              <a:rPr sz="15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1500" spc="-10" dirty="0">
                <a:latin typeface="Calibri" panose="020F0502020204030204"/>
                <a:cs typeface="Calibri" panose="020F0502020204030204"/>
              </a:rPr>
              <a:t>SampleDB; </a:t>
            </a:r>
            <a:r>
              <a:rPr sz="1500" dirty="0">
                <a:latin typeface="Calibri" panose="020F0502020204030204"/>
                <a:cs typeface="Calibri" panose="020F0502020204030204"/>
              </a:rPr>
              <a:t>use</a:t>
            </a:r>
            <a:r>
              <a:rPr sz="15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1500" spc="-10" dirty="0">
                <a:latin typeface="Calibri" panose="020F0502020204030204"/>
                <a:cs typeface="Calibri" panose="020F0502020204030204"/>
              </a:rPr>
              <a:t>SampleDB;</a:t>
            </a:r>
            <a:endParaRPr sz="1500" dirty="0">
              <a:latin typeface="Calibri" panose="020F0502020204030204"/>
              <a:cs typeface="Calibri" panose="020F0502020204030204"/>
            </a:endParaRPr>
          </a:p>
          <a:p>
            <a:pPr marL="55245">
              <a:lnSpc>
                <a:spcPct val="100000"/>
              </a:lnSpc>
              <a:spcBef>
                <a:spcPts val="130"/>
              </a:spcBef>
            </a:pPr>
            <a:r>
              <a:rPr sz="1500" spc="-20" dirty="0">
                <a:latin typeface="Calibri" panose="020F0502020204030204"/>
                <a:cs typeface="Calibri" panose="020F0502020204030204"/>
              </a:rPr>
              <a:t>CREATE</a:t>
            </a:r>
            <a:r>
              <a:rPr sz="15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500" spc="-20" dirty="0">
                <a:latin typeface="Calibri" panose="020F0502020204030204"/>
                <a:cs typeface="Calibri" panose="020F0502020204030204"/>
              </a:rPr>
              <a:t>TABLE</a:t>
            </a:r>
            <a:r>
              <a:rPr sz="15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1500" spc="-10" dirty="0">
                <a:latin typeface="Calibri" panose="020F0502020204030204"/>
                <a:cs typeface="Calibri" panose="020F0502020204030204"/>
              </a:rPr>
              <a:t>users</a:t>
            </a:r>
            <a:r>
              <a:rPr sz="15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1500" spc="-50" dirty="0">
                <a:latin typeface="Calibri" panose="020F0502020204030204"/>
                <a:cs typeface="Calibri" panose="020F0502020204030204"/>
              </a:rPr>
              <a:t>(</a:t>
            </a:r>
            <a:endParaRPr sz="1500" dirty="0">
              <a:latin typeface="Calibri" panose="020F0502020204030204"/>
              <a:cs typeface="Calibri" panose="020F0502020204030204"/>
            </a:endParaRPr>
          </a:p>
          <a:p>
            <a:pPr marL="184785">
              <a:lnSpc>
                <a:spcPct val="100000"/>
              </a:lnSpc>
              <a:spcBef>
                <a:spcPts val="145"/>
              </a:spcBef>
            </a:pPr>
            <a:r>
              <a:rPr sz="1500" dirty="0" err="1">
                <a:latin typeface="Calibri" panose="020F0502020204030204"/>
                <a:cs typeface="Calibri" panose="020F0502020204030204"/>
              </a:rPr>
              <a:t>user_id</a:t>
            </a:r>
            <a:r>
              <a:rPr sz="15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1500" dirty="0">
                <a:latin typeface="Calibri" panose="020F0502020204030204"/>
                <a:cs typeface="Calibri" panose="020F0502020204030204"/>
              </a:rPr>
              <a:t>int(11)</a:t>
            </a:r>
            <a:r>
              <a:rPr sz="15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500" dirty="0">
                <a:latin typeface="Calibri" panose="020F0502020204030204"/>
                <a:cs typeface="Calibri" panose="020F0502020204030204"/>
              </a:rPr>
              <a:t>NOT</a:t>
            </a:r>
            <a:r>
              <a:rPr sz="15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1500" dirty="0">
                <a:latin typeface="Calibri" panose="020F0502020204030204"/>
                <a:cs typeface="Calibri" panose="020F0502020204030204"/>
              </a:rPr>
              <a:t>NULL</a:t>
            </a:r>
            <a:r>
              <a:rPr sz="15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1500" spc="-10" dirty="0">
                <a:latin typeface="Calibri" panose="020F0502020204030204"/>
                <a:cs typeface="Calibri" panose="020F0502020204030204"/>
              </a:rPr>
              <a:t>AUTO_INCREMENT,</a:t>
            </a:r>
            <a:endParaRPr sz="1500" dirty="0">
              <a:latin typeface="Calibri" panose="020F0502020204030204"/>
              <a:cs typeface="Calibri" panose="020F0502020204030204"/>
            </a:endParaRPr>
          </a:p>
          <a:p>
            <a:pPr marL="184785">
              <a:lnSpc>
                <a:spcPct val="100000"/>
              </a:lnSpc>
              <a:spcBef>
                <a:spcPts val="145"/>
              </a:spcBef>
            </a:pPr>
            <a:r>
              <a:rPr sz="1500" spc="-10" dirty="0">
                <a:latin typeface="Calibri" panose="020F0502020204030204"/>
                <a:cs typeface="Calibri" panose="020F0502020204030204"/>
              </a:rPr>
              <a:t>username</a:t>
            </a:r>
            <a:r>
              <a:rPr lang="en-US" sz="15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15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1500" dirty="0">
                <a:latin typeface="Calibri" panose="020F0502020204030204"/>
                <a:cs typeface="Calibri" panose="020F0502020204030204"/>
              </a:rPr>
              <a:t>varchar(45)</a:t>
            </a:r>
            <a:r>
              <a:rPr sz="15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1500" dirty="0">
                <a:latin typeface="Calibri" panose="020F0502020204030204"/>
                <a:cs typeface="Calibri" panose="020F0502020204030204"/>
              </a:rPr>
              <a:t>NOT</a:t>
            </a:r>
            <a:r>
              <a:rPr sz="15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500" spc="-20" dirty="0">
                <a:latin typeface="Calibri" panose="020F0502020204030204"/>
                <a:cs typeface="Calibri" panose="020F0502020204030204"/>
              </a:rPr>
              <a:t>NULL,</a:t>
            </a:r>
            <a:endParaRPr sz="1500" dirty="0">
              <a:latin typeface="Calibri" panose="020F0502020204030204"/>
              <a:cs typeface="Calibri" panose="020F0502020204030204"/>
            </a:endParaRPr>
          </a:p>
          <a:p>
            <a:pPr marL="184785">
              <a:lnSpc>
                <a:spcPct val="100000"/>
              </a:lnSpc>
              <a:spcBef>
                <a:spcPts val="130"/>
              </a:spcBef>
            </a:pPr>
            <a:r>
              <a:rPr sz="1500" spc="-10" dirty="0">
                <a:latin typeface="Calibri" panose="020F0502020204030204"/>
                <a:cs typeface="Calibri" panose="020F0502020204030204"/>
              </a:rPr>
              <a:t>password</a:t>
            </a:r>
            <a:r>
              <a:rPr sz="15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1500" spc="-10" dirty="0">
                <a:latin typeface="Calibri" panose="020F0502020204030204"/>
                <a:cs typeface="Calibri" panose="020F0502020204030204"/>
              </a:rPr>
              <a:t>varchar(45)</a:t>
            </a:r>
            <a:r>
              <a:rPr sz="15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1500" dirty="0">
                <a:latin typeface="Calibri" panose="020F0502020204030204"/>
                <a:cs typeface="Calibri" panose="020F0502020204030204"/>
              </a:rPr>
              <a:t>NOT</a:t>
            </a:r>
            <a:r>
              <a:rPr sz="15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1500" spc="-20" dirty="0">
                <a:latin typeface="Calibri" panose="020F0502020204030204"/>
                <a:cs typeface="Calibri" panose="020F0502020204030204"/>
              </a:rPr>
              <a:t>NULL,</a:t>
            </a:r>
            <a:endParaRPr sz="1500" dirty="0">
              <a:latin typeface="Calibri" panose="020F0502020204030204"/>
              <a:cs typeface="Calibri" panose="020F0502020204030204"/>
            </a:endParaRPr>
          </a:p>
          <a:p>
            <a:pPr marL="184785">
              <a:lnSpc>
                <a:spcPct val="100000"/>
              </a:lnSpc>
              <a:spcBef>
                <a:spcPts val="145"/>
              </a:spcBef>
            </a:pPr>
            <a:r>
              <a:rPr sz="1500" spc="-10" dirty="0" err="1">
                <a:latin typeface="Calibri" panose="020F0502020204030204"/>
                <a:cs typeface="Calibri" panose="020F0502020204030204"/>
              </a:rPr>
              <a:t>fullname</a:t>
            </a:r>
            <a:r>
              <a:rPr sz="15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1500" spc="-10" dirty="0">
                <a:latin typeface="Calibri" panose="020F0502020204030204"/>
                <a:cs typeface="Calibri" panose="020F0502020204030204"/>
              </a:rPr>
              <a:t>varchar(45)</a:t>
            </a:r>
            <a:r>
              <a:rPr sz="1500" dirty="0">
                <a:latin typeface="Calibri" panose="020F0502020204030204"/>
                <a:cs typeface="Calibri" panose="020F0502020204030204"/>
              </a:rPr>
              <a:t> NOT</a:t>
            </a:r>
            <a:r>
              <a:rPr sz="150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1500" spc="-20" dirty="0">
                <a:latin typeface="Calibri" panose="020F0502020204030204"/>
                <a:cs typeface="Calibri" panose="020F0502020204030204"/>
              </a:rPr>
              <a:t>NULL,</a:t>
            </a:r>
            <a:endParaRPr sz="1500" dirty="0">
              <a:latin typeface="Calibri" panose="020F0502020204030204"/>
              <a:cs typeface="Calibri" panose="020F0502020204030204"/>
            </a:endParaRPr>
          </a:p>
          <a:p>
            <a:pPr marL="184785" marR="1283970">
              <a:lnSpc>
                <a:spcPct val="107000"/>
              </a:lnSpc>
              <a:spcBef>
                <a:spcPts val="10"/>
              </a:spcBef>
            </a:pPr>
            <a:r>
              <a:rPr sz="1500" dirty="0">
                <a:latin typeface="Calibri" panose="020F0502020204030204"/>
                <a:cs typeface="Calibri" panose="020F0502020204030204"/>
              </a:rPr>
              <a:t>email</a:t>
            </a:r>
            <a:r>
              <a:rPr sz="15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500" spc="-10" dirty="0">
                <a:latin typeface="Calibri" panose="020F0502020204030204"/>
                <a:cs typeface="Calibri" panose="020F0502020204030204"/>
              </a:rPr>
              <a:t>varchar(45)</a:t>
            </a:r>
            <a:r>
              <a:rPr sz="15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1500" dirty="0">
                <a:latin typeface="Calibri" panose="020F0502020204030204"/>
                <a:cs typeface="Calibri" panose="020F0502020204030204"/>
              </a:rPr>
              <a:t>NOT</a:t>
            </a:r>
            <a:r>
              <a:rPr sz="15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1500" spc="-20" dirty="0">
                <a:latin typeface="Calibri" panose="020F0502020204030204"/>
                <a:cs typeface="Calibri" panose="020F0502020204030204"/>
              </a:rPr>
              <a:t>NULL, </a:t>
            </a:r>
            <a:r>
              <a:rPr sz="1500" dirty="0">
                <a:latin typeface="Calibri" panose="020F0502020204030204"/>
                <a:cs typeface="Calibri" panose="020F0502020204030204"/>
              </a:rPr>
              <a:t>PRIMARY</a:t>
            </a:r>
            <a:r>
              <a:rPr sz="15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1500" dirty="0">
                <a:latin typeface="Calibri" panose="020F0502020204030204"/>
                <a:cs typeface="Calibri" panose="020F0502020204030204"/>
              </a:rPr>
              <a:t>KEY</a:t>
            </a:r>
            <a:r>
              <a:rPr sz="15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1500" spc="-10" dirty="0">
                <a:latin typeface="Calibri" panose="020F0502020204030204"/>
                <a:cs typeface="Calibri" panose="020F0502020204030204"/>
              </a:rPr>
              <a:t>(</a:t>
            </a:r>
            <a:r>
              <a:rPr sz="1500" spc="-10" dirty="0" err="1">
                <a:latin typeface="Calibri" panose="020F0502020204030204"/>
                <a:cs typeface="Calibri" panose="020F0502020204030204"/>
              </a:rPr>
              <a:t>user_id</a:t>
            </a:r>
            <a:r>
              <a:rPr sz="1500" spc="-10" dirty="0">
                <a:latin typeface="Calibri" panose="020F0502020204030204"/>
                <a:cs typeface="Calibri" panose="020F0502020204030204"/>
              </a:rPr>
              <a:t>)</a:t>
            </a:r>
            <a:endParaRPr sz="1500" dirty="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sz="1500" spc="-25" dirty="0">
                <a:latin typeface="Calibri" panose="020F0502020204030204"/>
                <a:cs typeface="Calibri" panose="020F0502020204030204"/>
              </a:rPr>
              <a:t>);</a:t>
            </a:r>
            <a:endParaRPr sz="1500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151111" y="3203000"/>
            <a:ext cx="1468120" cy="1358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endParaRPr sz="800" spc="-10" dirty="0">
              <a:solidFill>
                <a:srgbClr val="702FA0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380451" y="3221210"/>
            <a:ext cx="102235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spc="-25" dirty="0">
                <a:solidFill>
                  <a:srgbClr val="898989"/>
                </a:solidFill>
                <a:latin typeface="Calibri" panose="020F0502020204030204"/>
                <a:cs typeface="Calibri" panose="020F0502020204030204"/>
              </a:rPr>
              <a:t>10</a:t>
            </a:r>
            <a:endParaRPr sz="6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44295" y="21335"/>
            <a:ext cx="6082665" cy="3415665"/>
          </a:xfrm>
          <a:custGeom>
            <a:avLst/>
            <a:gdLst/>
            <a:ahLst/>
            <a:cxnLst/>
            <a:rect l="l" t="t" r="r" b="b"/>
            <a:pathLst>
              <a:path w="6082665" h="3415665">
                <a:moveTo>
                  <a:pt x="6082284" y="0"/>
                </a:moveTo>
                <a:lnTo>
                  <a:pt x="0" y="0"/>
                </a:lnTo>
                <a:lnTo>
                  <a:pt x="0" y="3415283"/>
                </a:lnTo>
                <a:lnTo>
                  <a:pt x="6082284" y="3415283"/>
                </a:lnTo>
                <a:lnTo>
                  <a:pt x="6082284" y="0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058926" y="311150"/>
            <a:ext cx="5781040" cy="487680"/>
            <a:chOff x="1011936" y="742188"/>
            <a:chExt cx="5781040" cy="487680"/>
          </a:xfrm>
        </p:grpSpPr>
        <p:sp>
          <p:nvSpPr>
            <p:cNvPr id="3" name="object 3"/>
            <p:cNvSpPr/>
            <p:nvPr/>
          </p:nvSpPr>
          <p:spPr>
            <a:xfrm>
              <a:off x="1014984" y="743712"/>
              <a:ext cx="5774690" cy="485140"/>
            </a:xfrm>
            <a:custGeom>
              <a:avLst/>
              <a:gdLst/>
              <a:ahLst/>
              <a:cxnLst/>
              <a:rect l="l" t="t" r="r" b="b"/>
              <a:pathLst>
                <a:path w="5774690" h="485140">
                  <a:moveTo>
                    <a:pt x="5774435" y="484632"/>
                  </a:moveTo>
                  <a:lnTo>
                    <a:pt x="0" y="484632"/>
                  </a:lnTo>
                  <a:lnTo>
                    <a:pt x="0" y="0"/>
                  </a:lnTo>
                  <a:lnTo>
                    <a:pt x="5774435" y="0"/>
                  </a:lnTo>
                  <a:lnTo>
                    <a:pt x="5774435" y="484632"/>
                  </a:lnTo>
                  <a:close/>
                </a:path>
              </a:pathLst>
            </a:custGeom>
            <a:solidFill>
              <a:srgbClr val="ED7C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011936" y="742188"/>
              <a:ext cx="5781040" cy="487680"/>
            </a:xfrm>
            <a:custGeom>
              <a:avLst/>
              <a:gdLst/>
              <a:ahLst/>
              <a:cxnLst/>
              <a:rect l="l" t="t" r="r" b="b"/>
              <a:pathLst>
                <a:path w="5781040" h="487680">
                  <a:moveTo>
                    <a:pt x="5780532" y="487680"/>
                  </a:moveTo>
                  <a:lnTo>
                    <a:pt x="0" y="487680"/>
                  </a:lnTo>
                  <a:lnTo>
                    <a:pt x="0" y="0"/>
                  </a:lnTo>
                  <a:lnTo>
                    <a:pt x="5780532" y="0"/>
                  </a:lnTo>
                  <a:lnTo>
                    <a:pt x="5780532" y="1524"/>
                  </a:lnTo>
                  <a:lnTo>
                    <a:pt x="4572" y="1524"/>
                  </a:lnTo>
                  <a:lnTo>
                    <a:pt x="3048" y="4572"/>
                  </a:lnTo>
                  <a:lnTo>
                    <a:pt x="4572" y="4572"/>
                  </a:lnTo>
                  <a:lnTo>
                    <a:pt x="4572" y="483108"/>
                  </a:lnTo>
                  <a:lnTo>
                    <a:pt x="3048" y="483108"/>
                  </a:lnTo>
                  <a:lnTo>
                    <a:pt x="4572" y="486156"/>
                  </a:lnTo>
                  <a:lnTo>
                    <a:pt x="5780532" y="486156"/>
                  </a:lnTo>
                  <a:lnTo>
                    <a:pt x="5780532" y="487680"/>
                  </a:lnTo>
                  <a:close/>
                </a:path>
                <a:path w="5781040" h="487680">
                  <a:moveTo>
                    <a:pt x="4572" y="4572"/>
                  </a:moveTo>
                  <a:lnTo>
                    <a:pt x="3048" y="4572"/>
                  </a:lnTo>
                  <a:lnTo>
                    <a:pt x="4572" y="1524"/>
                  </a:lnTo>
                  <a:lnTo>
                    <a:pt x="4572" y="4572"/>
                  </a:lnTo>
                  <a:close/>
                </a:path>
                <a:path w="5781040" h="487680">
                  <a:moveTo>
                    <a:pt x="5775960" y="4572"/>
                  </a:moveTo>
                  <a:lnTo>
                    <a:pt x="4572" y="4572"/>
                  </a:lnTo>
                  <a:lnTo>
                    <a:pt x="4572" y="1524"/>
                  </a:lnTo>
                  <a:lnTo>
                    <a:pt x="5775960" y="1524"/>
                  </a:lnTo>
                  <a:lnTo>
                    <a:pt x="5775960" y="4572"/>
                  </a:lnTo>
                  <a:close/>
                </a:path>
                <a:path w="5781040" h="487680">
                  <a:moveTo>
                    <a:pt x="5775960" y="486156"/>
                  </a:moveTo>
                  <a:lnTo>
                    <a:pt x="5775960" y="1524"/>
                  </a:lnTo>
                  <a:lnTo>
                    <a:pt x="5777484" y="4572"/>
                  </a:lnTo>
                  <a:lnTo>
                    <a:pt x="5780532" y="4572"/>
                  </a:lnTo>
                  <a:lnTo>
                    <a:pt x="5780532" y="483108"/>
                  </a:lnTo>
                  <a:lnTo>
                    <a:pt x="5777484" y="483108"/>
                  </a:lnTo>
                  <a:lnTo>
                    <a:pt x="5775960" y="486156"/>
                  </a:lnTo>
                  <a:close/>
                </a:path>
                <a:path w="5781040" h="487680">
                  <a:moveTo>
                    <a:pt x="5780532" y="4572"/>
                  </a:moveTo>
                  <a:lnTo>
                    <a:pt x="5777484" y="4572"/>
                  </a:lnTo>
                  <a:lnTo>
                    <a:pt x="5775960" y="1524"/>
                  </a:lnTo>
                  <a:lnTo>
                    <a:pt x="5780532" y="1524"/>
                  </a:lnTo>
                  <a:lnTo>
                    <a:pt x="5780532" y="4572"/>
                  </a:lnTo>
                  <a:close/>
                </a:path>
                <a:path w="5781040" h="487680">
                  <a:moveTo>
                    <a:pt x="4572" y="486156"/>
                  </a:moveTo>
                  <a:lnTo>
                    <a:pt x="3048" y="483108"/>
                  </a:lnTo>
                  <a:lnTo>
                    <a:pt x="4572" y="483108"/>
                  </a:lnTo>
                  <a:lnTo>
                    <a:pt x="4572" y="486156"/>
                  </a:lnTo>
                  <a:close/>
                </a:path>
                <a:path w="5781040" h="487680">
                  <a:moveTo>
                    <a:pt x="5775960" y="486156"/>
                  </a:moveTo>
                  <a:lnTo>
                    <a:pt x="4572" y="486156"/>
                  </a:lnTo>
                  <a:lnTo>
                    <a:pt x="4572" y="483108"/>
                  </a:lnTo>
                  <a:lnTo>
                    <a:pt x="5775960" y="483108"/>
                  </a:lnTo>
                  <a:lnTo>
                    <a:pt x="5775960" y="486156"/>
                  </a:lnTo>
                  <a:close/>
                </a:path>
                <a:path w="5781040" h="487680">
                  <a:moveTo>
                    <a:pt x="5780532" y="486156"/>
                  </a:moveTo>
                  <a:lnTo>
                    <a:pt x="5775960" y="486156"/>
                  </a:lnTo>
                  <a:lnTo>
                    <a:pt x="5777484" y="483108"/>
                  </a:lnTo>
                  <a:lnTo>
                    <a:pt x="5780532" y="483108"/>
                  </a:lnTo>
                  <a:lnTo>
                    <a:pt x="5780532" y="486156"/>
                  </a:lnTo>
                  <a:close/>
                </a:path>
              </a:pathLst>
            </a:custGeom>
            <a:solidFill>
              <a:srgbClr val="5B9A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362018" y="311150"/>
            <a:ext cx="326199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Connecting</a:t>
            </a:r>
            <a:r>
              <a:rPr spc="-45" dirty="0"/>
              <a:t> </a:t>
            </a:r>
            <a:r>
              <a:rPr dirty="0"/>
              <a:t>to</a:t>
            </a:r>
            <a:r>
              <a:rPr spc="-45" dirty="0"/>
              <a:t> </a:t>
            </a:r>
            <a:r>
              <a:rPr dirty="0"/>
              <a:t>the</a:t>
            </a:r>
            <a:r>
              <a:rPr spc="-70" dirty="0"/>
              <a:t> </a:t>
            </a:r>
            <a:r>
              <a:rPr spc="-10" dirty="0"/>
              <a:t>database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1058926" y="951484"/>
            <a:ext cx="5781040" cy="2444750"/>
            <a:chOff x="1011936" y="1225804"/>
            <a:chExt cx="5781040" cy="2444750"/>
          </a:xfrm>
        </p:grpSpPr>
        <p:sp>
          <p:nvSpPr>
            <p:cNvPr id="7" name="object 7"/>
            <p:cNvSpPr/>
            <p:nvPr/>
          </p:nvSpPr>
          <p:spPr>
            <a:xfrm>
              <a:off x="1014984" y="1228344"/>
              <a:ext cx="5774690" cy="2442210"/>
            </a:xfrm>
            <a:custGeom>
              <a:avLst/>
              <a:gdLst/>
              <a:ahLst/>
              <a:cxnLst/>
              <a:rect l="l" t="t" r="r" b="b"/>
              <a:pathLst>
                <a:path w="5774690" h="2442210">
                  <a:moveTo>
                    <a:pt x="0" y="0"/>
                  </a:moveTo>
                  <a:lnTo>
                    <a:pt x="5774436" y="0"/>
                  </a:lnTo>
                  <a:lnTo>
                    <a:pt x="5774436" y="2441956"/>
                  </a:lnTo>
                  <a:lnTo>
                    <a:pt x="0" y="244195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BE4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11923" y="1225816"/>
              <a:ext cx="5781040" cy="2444750"/>
            </a:xfrm>
            <a:custGeom>
              <a:avLst/>
              <a:gdLst/>
              <a:ahLst/>
              <a:cxnLst/>
              <a:rect l="l" t="t" r="r" b="b"/>
              <a:pathLst>
                <a:path w="5781040" h="2444750">
                  <a:moveTo>
                    <a:pt x="5780544" y="1270"/>
                  </a:moveTo>
                  <a:lnTo>
                    <a:pt x="5780163" y="1270"/>
                  </a:lnTo>
                  <a:lnTo>
                    <a:pt x="5780163" y="0"/>
                  </a:lnTo>
                  <a:lnTo>
                    <a:pt x="5777255" y="0"/>
                  </a:lnTo>
                  <a:lnTo>
                    <a:pt x="5777255" y="3810"/>
                  </a:lnTo>
                  <a:lnTo>
                    <a:pt x="5776607" y="3810"/>
                  </a:lnTo>
                  <a:lnTo>
                    <a:pt x="5776607" y="3162"/>
                  </a:lnTo>
                  <a:lnTo>
                    <a:pt x="5777255" y="3810"/>
                  </a:lnTo>
                  <a:lnTo>
                    <a:pt x="5777255" y="0"/>
                  </a:lnTo>
                  <a:lnTo>
                    <a:pt x="4559" y="0"/>
                  </a:lnTo>
                  <a:lnTo>
                    <a:pt x="4559" y="2540"/>
                  </a:lnTo>
                  <a:lnTo>
                    <a:pt x="3937" y="3162"/>
                  </a:lnTo>
                  <a:lnTo>
                    <a:pt x="3937" y="2540"/>
                  </a:lnTo>
                  <a:lnTo>
                    <a:pt x="4559" y="2540"/>
                  </a:lnTo>
                  <a:lnTo>
                    <a:pt x="4559" y="0"/>
                  </a:lnTo>
                  <a:lnTo>
                    <a:pt x="381" y="0"/>
                  </a:lnTo>
                  <a:lnTo>
                    <a:pt x="381" y="1270"/>
                  </a:lnTo>
                  <a:lnTo>
                    <a:pt x="0" y="1270"/>
                  </a:lnTo>
                  <a:lnTo>
                    <a:pt x="0" y="2540"/>
                  </a:lnTo>
                  <a:lnTo>
                    <a:pt x="0" y="3810"/>
                  </a:lnTo>
                  <a:lnTo>
                    <a:pt x="0" y="2444750"/>
                  </a:lnTo>
                  <a:lnTo>
                    <a:pt x="4572" y="2444750"/>
                  </a:lnTo>
                  <a:lnTo>
                    <a:pt x="4572" y="4051"/>
                  </a:lnTo>
                  <a:lnTo>
                    <a:pt x="5775972" y="4051"/>
                  </a:lnTo>
                  <a:lnTo>
                    <a:pt x="5775972" y="2444750"/>
                  </a:lnTo>
                  <a:lnTo>
                    <a:pt x="5780544" y="2444750"/>
                  </a:lnTo>
                  <a:lnTo>
                    <a:pt x="5780544" y="4051"/>
                  </a:lnTo>
                  <a:lnTo>
                    <a:pt x="5780544" y="3810"/>
                  </a:lnTo>
                  <a:lnTo>
                    <a:pt x="5780544" y="2540"/>
                  </a:lnTo>
                  <a:lnTo>
                    <a:pt x="5780544" y="1270"/>
                  </a:lnTo>
                  <a:close/>
                </a:path>
              </a:pathLst>
            </a:custGeom>
            <a:solidFill>
              <a:srgbClr val="5B9A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066800" y="947420"/>
            <a:ext cx="6203315" cy="2716530"/>
          </a:xfrm>
          <a:prstGeom prst="rect">
            <a:avLst/>
          </a:prstGeom>
        </p:spPr>
        <p:txBody>
          <a:bodyPr vert="horz" wrap="square" lIns="0" tIns="12065" rIns="0" bIns="0" rtlCol="0">
            <a:noAutofit/>
          </a:bodyPr>
          <a:lstStyle/>
          <a:p>
            <a:pPr marR="1757045">
              <a:lnSpc>
                <a:spcPct val="101000"/>
              </a:lnSpc>
              <a:spcBef>
                <a:spcPts val="95"/>
              </a:spcBef>
            </a:pPr>
            <a:r>
              <a:rPr sz="135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String</a:t>
            </a:r>
            <a:r>
              <a:rPr sz="1350" spc="-3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5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dbURL</a:t>
            </a:r>
            <a:r>
              <a:rPr sz="1350" spc="-3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50" dirty="0">
                <a:solidFill>
                  <a:srgbClr val="702FA0"/>
                </a:solidFill>
                <a:latin typeface="Calibri" panose="020F0502020204030204"/>
                <a:cs typeface="Calibri" panose="020F0502020204030204"/>
              </a:rPr>
              <a:t>=</a:t>
            </a:r>
            <a:r>
              <a:rPr sz="1350" spc="-25" dirty="0">
                <a:solidFill>
                  <a:srgbClr val="702FA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50" spc="-10" dirty="0">
                <a:solidFill>
                  <a:srgbClr val="702FA0"/>
                </a:solidFill>
                <a:latin typeface="Calibri" panose="020F0502020204030204"/>
                <a:cs typeface="Calibri" panose="020F0502020204030204"/>
              </a:rPr>
              <a:t>"jdbc:mysql://localhost:3306/</a:t>
            </a:r>
            <a:r>
              <a:rPr sz="1350" spc="-10" dirty="0" err="1">
                <a:solidFill>
                  <a:srgbClr val="702FA0"/>
                </a:solidFill>
                <a:latin typeface="Calibri" panose="020F0502020204030204"/>
                <a:cs typeface="Calibri" panose="020F0502020204030204"/>
              </a:rPr>
              <a:t>sampledb</a:t>
            </a:r>
            <a:r>
              <a:rPr sz="1350" spc="-10" dirty="0">
                <a:solidFill>
                  <a:srgbClr val="702FA0"/>
                </a:solidFill>
                <a:latin typeface="Calibri" panose="020F0502020204030204"/>
                <a:cs typeface="Calibri" panose="020F0502020204030204"/>
              </a:rPr>
              <a:t>";</a:t>
            </a:r>
            <a:endParaRPr lang="en-US" sz="1350" spc="-10" dirty="0">
              <a:solidFill>
                <a:srgbClr val="702FA0"/>
              </a:solidFill>
              <a:latin typeface="Calibri" panose="020F0502020204030204"/>
              <a:cs typeface="Calibri" panose="020F0502020204030204"/>
            </a:endParaRPr>
          </a:p>
          <a:p>
            <a:pPr marR="1757045">
              <a:lnSpc>
                <a:spcPct val="101000"/>
              </a:lnSpc>
              <a:spcBef>
                <a:spcPts val="95"/>
              </a:spcBef>
            </a:pPr>
            <a:r>
              <a:rPr sz="135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String</a:t>
            </a:r>
            <a:r>
              <a:rPr sz="135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5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username</a:t>
            </a:r>
            <a:r>
              <a:rPr sz="1350" spc="-3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50" dirty="0">
                <a:solidFill>
                  <a:srgbClr val="702FA0"/>
                </a:solidFill>
                <a:latin typeface="Calibri" panose="020F0502020204030204"/>
                <a:cs typeface="Calibri" panose="020F0502020204030204"/>
              </a:rPr>
              <a:t>=</a:t>
            </a:r>
            <a:r>
              <a:rPr sz="1350" spc="-5" dirty="0">
                <a:solidFill>
                  <a:srgbClr val="702FA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50" spc="-10" dirty="0">
                <a:solidFill>
                  <a:srgbClr val="702FA0"/>
                </a:solidFill>
                <a:latin typeface="Calibri" panose="020F0502020204030204"/>
                <a:cs typeface="Calibri" panose="020F0502020204030204"/>
              </a:rPr>
              <a:t>"root";</a:t>
            </a:r>
            <a:endParaRPr sz="1350" dirty="0">
              <a:latin typeface="Calibri" panose="020F0502020204030204"/>
              <a:cs typeface="Calibri" panose="020F0502020204030204"/>
            </a:endParaRPr>
          </a:p>
          <a:p>
            <a:pPr marR="3813175">
              <a:lnSpc>
                <a:spcPct val="101000"/>
              </a:lnSpc>
            </a:pPr>
            <a:r>
              <a:rPr sz="135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String</a:t>
            </a:r>
            <a:r>
              <a:rPr sz="1350" spc="-2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5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password</a:t>
            </a:r>
            <a:r>
              <a:rPr sz="1350" spc="-4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50" dirty="0">
                <a:solidFill>
                  <a:srgbClr val="702FA0"/>
                </a:solidFill>
                <a:latin typeface="Calibri" panose="020F0502020204030204"/>
                <a:cs typeface="Calibri" panose="020F0502020204030204"/>
              </a:rPr>
              <a:t>=</a:t>
            </a:r>
            <a:r>
              <a:rPr sz="1350" spc="-20" dirty="0">
                <a:solidFill>
                  <a:srgbClr val="702FA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50" spc="-10" dirty="0">
                <a:solidFill>
                  <a:srgbClr val="702FA0"/>
                </a:solidFill>
                <a:latin typeface="Calibri" panose="020F0502020204030204"/>
                <a:cs typeface="Calibri" panose="020F0502020204030204"/>
              </a:rPr>
              <a:t>"secret"; </a:t>
            </a:r>
            <a:endParaRPr lang="en-US" sz="1350" spc="-10" dirty="0">
              <a:solidFill>
                <a:srgbClr val="702FA0"/>
              </a:solidFill>
              <a:latin typeface="Calibri" panose="020F0502020204030204"/>
              <a:cs typeface="Calibri" panose="020F0502020204030204"/>
            </a:endParaRPr>
          </a:p>
          <a:p>
            <a:pPr marR="3813175">
              <a:lnSpc>
                <a:spcPct val="101000"/>
              </a:lnSpc>
            </a:pPr>
            <a:r>
              <a:rPr sz="1350" dirty="0">
                <a:latin typeface="Calibri" panose="020F0502020204030204"/>
                <a:cs typeface="Calibri" panose="020F0502020204030204"/>
              </a:rPr>
              <a:t>try</a:t>
            </a:r>
            <a:r>
              <a:rPr sz="135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1350" spc="-50" dirty="0">
                <a:latin typeface="Calibri" panose="020F0502020204030204"/>
                <a:cs typeface="Calibri" panose="020F0502020204030204"/>
              </a:rPr>
              <a:t>{</a:t>
            </a:r>
            <a:endParaRPr sz="1350" dirty="0">
              <a:latin typeface="Calibri" panose="020F0502020204030204"/>
              <a:cs typeface="Calibri" panose="020F0502020204030204"/>
            </a:endParaRPr>
          </a:p>
          <a:p>
            <a:pPr marR="5080" indent="429260">
              <a:lnSpc>
                <a:spcPct val="70000"/>
              </a:lnSpc>
              <a:spcBef>
                <a:spcPts val="515"/>
              </a:spcBef>
              <a:tabLst>
                <a:tab pos="1386840" algn="l"/>
                <a:tab pos="1889760" algn="l"/>
                <a:tab pos="2138045" algn="l"/>
                <a:tab pos="4946650" algn="l"/>
              </a:tabLst>
            </a:pPr>
            <a:r>
              <a:rPr sz="1350" spc="-10" dirty="0">
                <a:latin typeface="Calibri" panose="020F0502020204030204"/>
                <a:cs typeface="Calibri" panose="020F0502020204030204"/>
              </a:rPr>
              <a:t>Connection</a:t>
            </a:r>
            <a:r>
              <a:rPr sz="1350" dirty="0">
                <a:latin typeface="Calibri" panose="020F0502020204030204"/>
                <a:cs typeface="Calibri" panose="020F0502020204030204"/>
              </a:rPr>
              <a:t>	</a:t>
            </a:r>
            <a:r>
              <a:rPr sz="1350" spc="-20" dirty="0">
                <a:latin typeface="Calibri" panose="020F0502020204030204"/>
                <a:cs typeface="Calibri" panose="020F0502020204030204"/>
              </a:rPr>
              <a:t>conn</a:t>
            </a:r>
            <a:r>
              <a:rPr sz="1350" dirty="0">
                <a:latin typeface="Calibri" panose="020F0502020204030204"/>
                <a:cs typeface="Calibri" panose="020F0502020204030204"/>
              </a:rPr>
              <a:t>	</a:t>
            </a:r>
            <a:r>
              <a:rPr sz="1350" spc="-50" dirty="0">
                <a:latin typeface="Calibri" panose="020F0502020204030204"/>
                <a:cs typeface="Calibri" panose="020F0502020204030204"/>
              </a:rPr>
              <a:t>=</a:t>
            </a:r>
            <a:r>
              <a:rPr sz="1350" dirty="0">
                <a:latin typeface="Calibri" panose="020F0502020204030204"/>
                <a:cs typeface="Calibri" panose="020F0502020204030204"/>
              </a:rPr>
              <a:t>	</a:t>
            </a:r>
            <a:r>
              <a:rPr sz="1350" spc="-10" dirty="0">
                <a:latin typeface="Calibri" panose="020F0502020204030204"/>
                <a:cs typeface="Calibri" panose="020F0502020204030204"/>
              </a:rPr>
              <a:t>DriverManager.getConnection(dbURL,</a:t>
            </a:r>
            <a:r>
              <a:rPr sz="1350" dirty="0">
                <a:latin typeface="Calibri" panose="020F0502020204030204"/>
                <a:cs typeface="Calibri" panose="020F0502020204030204"/>
              </a:rPr>
              <a:t>	</a:t>
            </a:r>
            <a:r>
              <a:rPr sz="1350" spc="-10" dirty="0">
                <a:latin typeface="Calibri" panose="020F0502020204030204"/>
                <a:cs typeface="Calibri" panose="020F0502020204030204"/>
              </a:rPr>
              <a:t>username, password);</a:t>
            </a:r>
            <a:endParaRPr sz="1350" dirty="0">
              <a:latin typeface="Calibri" panose="020F0502020204030204"/>
              <a:cs typeface="Calibri" panose="020F0502020204030204"/>
            </a:endParaRPr>
          </a:p>
          <a:p>
            <a:pPr marL="310515" marR="3056890">
              <a:lnSpc>
                <a:spcPct val="101000"/>
              </a:lnSpc>
            </a:pPr>
            <a:r>
              <a:rPr sz="1350" dirty="0">
                <a:latin typeface="Calibri" panose="020F0502020204030204"/>
                <a:cs typeface="Calibri" panose="020F0502020204030204"/>
              </a:rPr>
              <a:t>if</a:t>
            </a:r>
            <a:r>
              <a:rPr sz="135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350" dirty="0">
                <a:latin typeface="Calibri" panose="020F0502020204030204"/>
                <a:cs typeface="Calibri" panose="020F0502020204030204"/>
              </a:rPr>
              <a:t>(conn</a:t>
            </a:r>
            <a:r>
              <a:rPr sz="135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1350" dirty="0">
                <a:latin typeface="Calibri" panose="020F0502020204030204"/>
                <a:cs typeface="Calibri" panose="020F0502020204030204"/>
              </a:rPr>
              <a:t>!=</a:t>
            </a:r>
            <a:r>
              <a:rPr sz="135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1350" dirty="0">
                <a:latin typeface="Calibri" panose="020F0502020204030204"/>
                <a:cs typeface="Calibri" panose="020F0502020204030204"/>
              </a:rPr>
              <a:t>null)</a:t>
            </a:r>
            <a:r>
              <a:rPr sz="135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1350" spc="-50" dirty="0">
                <a:latin typeface="Calibri" panose="020F0502020204030204"/>
                <a:cs typeface="Calibri" panose="020F0502020204030204"/>
              </a:rPr>
              <a:t>{ </a:t>
            </a:r>
            <a:r>
              <a:rPr sz="1350" spc="-10" dirty="0">
                <a:latin typeface="Calibri" panose="020F0502020204030204"/>
                <a:cs typeface="Calibri" panose="020F0502020204030204"/>
              </a:rPr>
              <a:t>System.out.println("Connected");</a:t>
            </a:r>
            <a:endParaRPr sz="1350" dirty="0">
              <a:latin typeface="Calibri" panose="020F0502020204030204"/>
              <a:cs typeface="Calibri" panose="020F0502020204030204"/>
            </a:endParaRPr>
          </a:p>
          <a:p>
            <a:pPr marL="154940">
              <a:lnSpc>
                <a:spcPct val="100000"/>
              </a:lnSpc>
              <a:spcBef>
                <a:spcPts val="25"/>
              </a:spcBef>
            </a:pPr>
            <a:r>
              <a:rPr sz="1350" spc="-50" dirty="0">
                <a:latin typeface="Calibri" panose="020F0502020204030204"/>
                <a:cs typeface="Calibri" panose="020F0502020204030204"/>
              </a:rPr>
              <a:t>}</a:t>
            </a:r>
            <a:endParaRPr sz="1350" dirty="0">
              <a:latin typeface="Calibri" panose="020F0502020204030204"/>
              <a:cs typeface="Calibri" panose="020F0502020204030204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r>
              <a:rPr sz="1350" dirty="0">
                <a:latin typeface="Calibri" panose="020F0502020204030204"/>
                <a:cs typeface="Calibri" panose="020F0502020204030204"/>
              </a:rPr>
              <a:t>}</a:t>
            </a:r>
            <a:r>
              <a:rPr sz="135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1350" spc="-10" dirty="0">
                <a:latin typeface="Calibri" panose="020F0502020204030204"/>
                <a:cs typeface="Calibri" panose="020F0502020204030204"/>
              </a:rPr>
              <a:t>catch</a:t>
            </a:r>
            <a:r>
              <a:rPr sz="135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1350" spc="-10" dirty="0">
                <a:latin typeface="Calibri" panose="020F0502020204030204"/>
                <a:cs typeface="Calibri" panose="020F0502020204030204"/>
              </a:rPr>
              <a:t>(SQLException</a:t>
            </a:r>
            <a:r>
              <a:rPr sz="135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1350" spc="-25" dirty="0">
                <a:latin typeface="Calibri" panose="020F0502020204030204"/>
                <a:cs typeface="Calibri" panose="020F0502020204030204"/>
              </a:rPr>
              <a:t>ex)</a:t>
            </a:r>
            <a:endParaRPr sz="1350" dirty="0">
              <a:latin typeface="Calibri" panose="020F0502020204030204"/>
              <a:cs typeface="Calibri" panose="020F0502020204030204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r>
              <a:rPr sz="1350" spc="-50" dirty="0">
                <a:latin typeface="Calibri" panose="020F0502020204030204"/>
                <a:cs typeface="Calibri" panose="020F0502020204030204"/>
              </a:rPr>
              <a:t>{</a:t>
            </a:r>
            <a:endParaRPr sz="1350" dirty="0">
              <a:latin typeface="Calibri" panose="020F0502020204030204"/>
              <a:cs typeface="Calibri" panose="020F0502020204030204"/>
            </a:endParaRPr>
          </a:p>
          <a:p>
            <a:pPr marL="154940">
              <a:lnSpc>
                <a:spcPct val="100000"/>
              </a:lnSpc>
              <a:spcBef>
                <a:spcPts val="10"/>
              </a:spcBef>
            </a:pPr>
            <a:r>
              <a:rPr sz="1350" spc="-10" dirty="0" err="1">
                <a:latin typeface="Calibri" panose="020F0502020204030204"/>
                <a:cs typeface="Calibri" panose="020F0502020204030204"/>
              </a:rPr>
              <a:t>ex.printStackTrace</a:t>
            </a:r>
            <a:r>
              <a:rPr sz="1350" spc="-10" dirty="0">
                <a:latin typeface="Calibri" panose="020F0502020204030204"/>
                <a:cs typeface="Calibri" panose="020F0502020204030204"/>
              </a:rPr>
              <a:t>();</a:t>
            </a:r>
            <a:endParaRPr lang="en-US" sz="1350" spc="-10" dirty="0">
              <a:latin typeface="Calibri" panose="020F0502020204030204"/>
              <a:cs typeface="Calibri" panose="020F0502020204030204"/>
            </a:endParaRPr>
          </a:p>
          <a:p>
            <a:pPr marL="154940">
              <a:lnSpc>
                <a:spcPct val="100000"/>
              </a:lnSpc>
              <a:spcBef>
                <a:spcPts val="10"/>
              </a:spcBef>
            </a:pPr>
            <a:r>
              <a:rPr lang="en-IN" sz="1350" spc="-10" dirty="0">
                <a:latin typeface="Calibri" panose="020F0502020204030204"/>
                <a:cs typeface="Calibri" panose="020F0502020204030204"/>
              </a:rPr>
              <a:t>}</a:t>
            </a:r>
            <a:endParaRPr sz="1350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914145" y="310895"/>
            <a:ext cx="6082665" cy="3276855"/>
          </a:xfrm>
          <a:custGeom>
            <a:avLst/>
            <a:gdLst/>
            <a:ahLst/>
            <a:cxnLst/>
            <a:rect l="l" t="t" r="r" b="b"/>
            <a:pathLst>
              <a:path w="6082665" h="2994025">
                <a:moveTo>
                  <a:pt x="6082284" y="0"/>
                </a:moveTo>
                <a:lnTo>
                  <a:pt x="0" y="0"/>
                </a:lnTo>
                <a:lnTo>
                  <a:pt x="0" y="2993644"/>
                </a:lnTo>
              </a:path>
              <a:path w="6082665" h="2994025">
                <a:moveTo>
                  <a:pt x="6082284" y="2993644"/>
                </a:moveTo>
                <a:lnTo>
                  <a:pt x="6082284" y="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533088" y="3189240"/>
            <a:ext cx="591185" cy="1657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endParaRPr sz="1000" b="1" spc="-10" dirty="0">
              <a:solidFill>
                <a:srgbClr val="FF0000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011936" y="163068"/>
            <a:ext cx="5781040" cy="3032760"/>
            <a:chOff x="1011936" y="163068"/>
            <a:chExt cx="5781040" cy="3032760"/>
          </a:xfrm>
        </p:grpSpPr>
        <p:sp>
          <p:nvSpPr>
            <p:cNvPr id="4" name="object 4"/>
            <p:cNvSpPr/>
            <p:nvPr/>
          </p:nvSpPr>
          <p:spPr>
            <a:xfrm>
              <a:off x="1014984" y="166116"/>
              <a:ext cx="5774690" cy="3028315"/>
            </a:xfrm>
            <a:custGeom>
              <a:avLst/>
              <a:gdLst/>
              <a:ahLst/>
              <a:cxnLst/>
              <a:rect l="l" t="t" r="r" b="b"/>
              <a:pathLst>
                <a:path w="5774690" h="3028315">
                  <a:moveTo>
                    <a:pt x="5774435" y="3028187"/>
                  </a:moveTo>
                  <a:lnTo>
                    <a:pt x="0" y="3028187"/>
                  </a:lnTo>
                  <a:lnTo>
                    <a:pt x="0" y="0"/>
                  </a:lnTo>
                  <a:lnTo>
                    <a:pt x="5774435" y="0"/>
                  </a:lnTo>
                  <a:lnTo>
                    <a:pt x="5774435" y="3028187"/>
                  </a:lnTo>
                  <a:close/>
                </a:path>
              </a:pathLst>
            </a:custGeom>
            <a:solidFill>
              <a:srgbClr val="FBE4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011936" y="163068"/>
              <a:ext cx="5781040" cy="3032760"/>
            </a:xfrm>
            <a:custGeom>
              <a:avLst/>
              <a:gdLst/>
              <a:ahLst/>
              <a:cxnLst/>
              <a:rect l="l" t="t" r="r" b="b"/>
              <a:pathLst>
                <a:path w="5781040" h="3032760">
                  <a:moveTo>
                    <a:pt x="5780532" y="3032759"/>
                  </a:moveTo>
                  <a:lnTo>
                    <a:pt x="0" y="3032759"/>
                  </a:lnTo>
                  <a:lnTo>
                    <a:pt x="0" y="1524"/>
                  </a:lnTo>
                  <a:lnTo>
                    <a:pt x="1524" y="0"/>
                  </a:lnTo>
                  <a:lnTo>
                    <a:pt x="5779007" y="0"/>
                  </a:lnTo>
                  <a:lnTo>
                    <a:pt x="5780532" y="1524"/>
                  </a:lnTo>
                  <a:lnTo>
                    <a:pt x="5780532" y="3048"/>
                  </a:lnTo>
                  <a:lnTo>
                    <a:pt x="4572" y="3048"/>
                  </a:lnTo>
                  <a:lnTo>
                    <a:pt x="3048" y="4572"/>
                  </a:lnTo>
                  <a:lnTo>
                    <a:pt x="4572" y="4572"/>
                  </a:lnTo>
                  <a:lnTo>
                    <a:pt x="4572" y="3028188"/>
                  </a:lnTo>
                  <a:lnTo>
                    <a:pt x="3048" y="3028188"/>
                  </a:lnTo>
                  <a:lnTo>
                    <a:pt x="4572" y="3031236"/>
                  </a:lnTo>
                  <a:lnTo>
                    <a:pt x="5780532" y="3031236"/>
                  </a:lnTo>
                  <a:lnTo>
                    <a:pt x="5780532" y="3032759"/>
                  </a:lnTo>
                  <a:close/>
                </a:path>
                <a:path w="5781040" h="3032760">
                  <a:moveTo>
                    <a:pt x="4572" y="4572"/>
                  </a:moveTo>
                  <a:lnTo>
                    <a:pt x="3048" y="4572"/>
                  </a:lnTo>
                  <a:lnTo>
                    <a:pt x="4572" y="3048"/>
                  </a:lnTo>
                  <a:lnTo>
                    <a:pt x="4572" y="4572"/>
                  </a:lnTo>
                  <a:close/>
                </a:path>
                <a:path w="5781040" h="3032760">
                  <a:moveTo>
                    <a:pt x="5775960" y="4572"/>
                  </a:moveTo>
                  <a:lnTo>
                    <a:pt x="4572" y="4572"/>
                  </a:lnTo>
                  <a:lnTo>
                    <a:pt x="4572" y="3048"/>
                  </a:lnTo>
                  <a:lnTo>
                    <a:pt x="5775960" y="3048"/>
                  </a:lnTo>
                  <a:lnTo>
                    <a:pt x="5775960" y="4572"/>
                  </a:lnTo>
                  <a:close/>
                </a:path>
                <a:path w="5781040" h="3032760">
                  <a:moveTo>
                    <a:pt x="5775960" y="3031236"/>
                  </a:moveTo>
                  <a:lnTo>
                    <a:pt x="5775960" y="3048"/>
                  </a:lnTo>
                  <a:lnTo>
                    <a:pt x="5777484" y="4572"/>
                  </a:lnTo>
                  <a:lnTo>
                    <a:pt x="5780532" y="4572"/>
                  </a:lnTo>
                  <a:lnTo>
                    <a:pt x="5780532" y="3028188"/>
                  </a:lnTo>
                  <a:lnTo>
                    <a:pt x="5777484" y="3028188"/>
                  </a:lnTo>
                  <a:lnTo>
                    <a:pt x="5775960" y="3031236"/>
                  </a:lnTo>
                  <a:close/>
                </a:path>
                <a:path w="5781040" h="3032760">
                  <a:moveTo>
                    <a:pt x="5780532" y="4572"/>
                  </a:moveTo>
                  <a:lnTo>
                    <a:pt x="5777484" y="4572"/>
                  </a:lnTo>
                  <a:lnTo>
                    <a:pt x="5775960" y="3048"/>
                  </a:lnTo>
                  <a:lnTo>
                    <a:pt x="5780532" y="3048"/>
                  </a:lnTo>
                  <a:lnTo>
                    <a:pt x="5780532" y="4572"/>
                  </a:lnTo>
                  <a:close/>
                </a:path>
                <a:path w="5781040" h="3032760">
                  <a:moveTo>
                    <a:pt x="4572" y="3031236"/>
                  </a:moveTo>
                  <a:lnTo>
                    <a:pt x="3048" y="3028188"/>
                  </a:lnTo>
                  <a:lnTo>
                    <a:pt x="4572" y="3028188"/>
                  </a:lnTo>
                  <a:lnTo>
                    <a:pt x="4572" y="3031236"/>
                  </a:lnTo>
                  <a:close/>
                </a:path>
                <a:path w="5781040" h="3032760">
                  <a:moveTo>
                    <a:pt x="5775960" y="3031236"/>
                  </a:moveTo>
                  <a:lnTo>
                    <a:pt x="4572" y="3031236"/>
                  </a:lnTo>
                  <a:lnTo>
                    <a:pt x="4572" y="3028188"/>
                  </a:lnTo>
                  <a:lnTo>
                    <a:pt x="5775960" y="3028188"/>
                  </a:lnTo>
                  <a:lnTo>
                    <a:pt x="5775960" y="3031236"/>
                  </a:lnTo>
                  <a:close/>
                </a:path>
                <a:path w="5781040" h="3032760">
                  <a:moveTo>
                    <a:pt x="5780532" y="3031236"/>
                  </a:moveTo>
                  <a:lnTo>
                    <a:pt x="5775960" y="3031236"/>
                  </a:lnTo>
                  <a:lnTo>
                    <a:pt x="5777484" y="3028188"/>
                  </a:lnTo>
                  <a:lnTo>
                    <a:pt x="5780532" y="3028188"/>
                  </a:lnTo>
                  <a:lnTo>
                    <a:pt x="5780532" y="3031236"/>
                  </a:lnTo>
                  <a:close/>
                </a:path>
              </a:pathLst>
            </a:custGeom>
            <a:solidFill>
              <a:srgbClr val="5B9A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046462" y="121379"/>
            <a:ext cx="5709920" cy="2864485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5095" marR="5080" indent="-113030">
              <a:lnSpc>
                <a:spcPts val="1440"/>
              </a:lnSpc>
              <a:spcBef>
                <a:spcPts val="445"/>
              </a:spcBef>
              <a:buFont typeface="Arial MT"/>
              <a:buChar char="•"/>
              <a:tabLst>
                <a:tab pos="127000" algn="l"/>
              </a:tabLst>
            </a:pPr>
            <a:r>
              <a:rPr sz="1500" dirty="0">
                <a:latin typeface="Calibri" panose="020F0502020204030204"/>
                <a:cs typeface="Calibri" panose="020F0502020204030204"/>
              </a:rPr>
              <a:t>Once</a:t>
            </a:r>
            <a:r>
              <a:rPr sz="1500" spc="275" dirty="0">
                <a:latin typeface="Calibri" panose="020F0502020204030204"/>
                <a:cs typeface="Calibri" panose="020F0502020204030204"/>
              </a:rPr>
              <a:t> </a:t>
            </a:r>
            <a:r>
              <a:rPr sz="1500" dirty="0">
                <a:latin typeface="Calibri" panose="020F0502020204030204"/>
                <a:cs typeface="Calibri" panose="020F0502020204030204"/>
              </a:rPr>
              <a:t>the</a:t>
            </a:r>
            <a:r>
              <a:rPr sz="1500" spc="280" dirty="0">
                <a:latin typeface="Calibri" panose="020F0502020204030204"/>
                <a:cs typeface="Calibri" panose="020F0502020204030204"/>
              </a:rPr>
              <a:t> </a:t>
            </a:r>
            <a:r>
              <a:rPr sz="1500" dirty="0">
                <a:latin typeface="Calibri" panose="020F0502020204030204"/>
                <a:cs typeface="Calibri" panose="020F0502020204030204"/>
              </a:rPr>
              <a:t>connection</a:t>
            </a:r>
            <a:r>
              <a:rPr sz="1500" spc="290" dirty="0">
                <a:latin typeface="Calibri" panose="020F0502020204030204"/>
                <a:cs typeface="Calibri" panose="020F0502020204030204"/>
              </a:rPr>
              <a:t> </a:t>
            </a:r>
            <a:r>
              <a:rPr sz="1500" dirty="0">
                <a:latin typeface="Calibri" panose="020F0502020204030204"/>
                <a:cs typeface="Calibri" panose="020F0502020204030204"/>
              </a:rPr>
              <a:t>was</a:t>
            </a:r>
            <a:r>
              <a:rPr sz="1500" spc="290" dirty="0">
                <a:latin typeface="Calibri" panose="020F0502020204030204"/>
                <a:cs typeface="Calibri" panose="020F0502020204030204"/>
              </a:rPr>
              <a:t> </a:t>
            </a:r>
            <a:r>
              <a:rPr sz="1500" dirty="0">
                <a:latin typeface="Calibri" panose="020F0502020204030204"/>
                <a:cs typeface="Calibri" panose="020F0502020204030204"/>
              </a:rPr>
              <a:t>established,</a:t>
            </a:r>
            <a:r>
              <a:rPr sz="1500" spc="285" dirty="0">
                <a:latin typeface="Calibri" panose="020F0502020204030204"/>
                <a:cs typeface="Calibri" panose="020F0502020204030204"/>
              </a:rPr>
              <a:t> </a:t>
            </a:r>
            <a:r>
              <a:rPr sz="1500" dirty="0">
                <a:latin typeface="Calibri" panose="020F0502020204030204"/>
                <a:cs typeface="Calibri" panose="020F0502020204030204"/>
              </a:rPr>
              <a:t>we</a:t>
            </a:r>
            <a:r>
              <a:rPr sz="1500" spc="295" dirty="0">
                <a:latin typeface="Calibri" panose="020F0502020204030204"/>
                <a:cs typeface="Calibri" panose="020F0502020204030204"/>
              </a:rPr>
              <a:t> </a:t>
            </a:r>
            <a:r>
              <a:rPr sz="1500" dirty="0">
                <a:latin typeface="Calibri" panose="020F0502020204030204"/>
                <a:cs typeface="Calibri" panose="020F0502020204030204"/>
              </a:rPr>
              <a:t>have</a:t>
            </a:r>
            <a:r>
              <a:rPr sz="1500" spc="280" dirty="0">
                <a:latin typeface="Calibri" panose="020F0502020204030204"/>
                <a:cs typeface="Calibri" panose="020F0502020204030204"/>
              </a:rPr>
              <a:t> </a:t>
            </a:r>
            <a:r>
              <a:rPr sz="1500" dirty="0">
                <a:latin typeface="Calibri" panose="020F0502020204030204"/>
                <a:cs typeface="Calibri" panose="020F0502020204030204"/>
              </a:rPr>
              <a:t>a</a:t>
            </a:r>
            <a:r>
              <a:rPr sz="1500" spc="285" dirty="0">
                <a:latin typeface="Calibri" panose="020F0502020204030204"/>
                <a:cs typeface="Calibri" panose="020F0502020204030204"/>
              </a:rPr>
              <a:t> </a:t>
            </a:r>
            <a:r>
              <a:rPr sz="150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Connection</a:t>
            </a:r>
            <a:r>
              <a:rPr sz="1500" spc="28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500" spc="-10" dirty="0">
                <a:latin typeface="Calibri" panose="020F0502020204030204"/>
                <a:cs typeface="Calibri" panose="020F0502020204030204"/>
              </a:rPr>
              <a:t>object 	</a:t>
            </a:r>
            <a:r>
              <a:rPr sz="1500" dirty="0">
                <a:latin typeface="Calibri" panose="020F0502020204030204"/>
                <a:cs typeface="Calibri" panose="020F0502020204030204"/>
              </a:rPr>
              <a:t>which</a:t>
            </a:r>
            <a:r>
              <a:rPr sz="15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1500" dirty="0">
                <a:latin typeface="Calibri" panose="020F0502020204030204"/>
                <a:cs typeface="Calibri" panose="020F0502020204030204"/>
              </a:rPr>
              <a:t>can</a:t>
            </a:r>
            <a:r>
              <a:rPr sz="15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500" dirty="0">
                <a:latin typeface="Calibri" panose="020F0502020204030204"/>
                <a:cs typeface="Calibri" panose="020F0502020204030204"/>
              </a:rPr>
              <a:t>be</a:t>
            </a:r>
            <a:r>
              <a:rPr sz="15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1500" dirty="0">
                <a:latin typeface="Calibri" panose="020F0502020204030204"/>
                <a:cs typeface="Calibri" panose="020F0502020204030204"/>
              </a:rPr>
              <a:t>used</a:t>
            </a:r>
            <a:r>
              <a:rPr sz="15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1500" dirty="0">
                <a:latin typeface="Calibri" panose="020F0502020204030204"/>
                <a:cs typeface="Calibri" panose="020F0502020204030204"/>
              </a:rPr>
              <a:t>to</a:t>
            </a:r>
            <a:r>
              <a:rPr sz="15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1500" spc="-10" dirty="0">
                <a:latin typeface="Calibri" panose="020F0502020204030204"/>
                <a:cs typeface="Calibri" panose="020F0502020204030204"/>
              </a:rPr>
              <a:t>create</a:t>
            </a:r>
            <a:r>
              <a:rPr sz="15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500" spc="-10" dirty="0">
                <a:latin typeface="Calibri" panose="020F0502020204030204"/>
                <a:cs typeface="Calibri" panose="020F0502020204030204"/>
              </a:rPr>
              <a:t>statements</a:t>
            </a:r>
            <a:r>
              <a:rPr sz="15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1500" dirty="0">
                <a:latin typeface="Calibri" panose="020F0502020204030204"/>
                <a:cs typeface="Calibri" panose="020F0502020204030204"/>
              </a:rPr>
              <a:t>in</a:t>
            </a:r>
            <a:r>
              <a:rPr sz="15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500" dirty="0">
                <a:latin typeface="Calibri" panose="020F0502020204030204"/>
                <a:cs typeface="Calibri" panose="020F0502020204030204"/>
              </a:rPr>
              <a:t>order</a:t>
            </a:r>
            <a:r>
              <a:rPr sz="15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1500" dirty="0">
                <a:latin typeface="Calibri" panose="020F0502020204030204"/>
                <a:cs typeface="Calibri" panose="020F0502020204030204"/>
              </a:rPr>
              <a:t>to</a:t>
            </a:r>
            <a:r>
              <a:rPr sz="15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1500" spc="-20" dirty="0">
                <a:latin typeface="Calibri" panose="020F0502020204030204"/>
                <a:cs typeface="Calibri" panose="020F0502020204030204"/>
              </a:rPr>
              <a:t>execute</a:t>
            </a:r>
            <a:r>
              <a:rPr sz="15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1500" dirty="0">
                <a:latin typeface="Calibri" panose="020F0502020204030204"/>
                <a:cs typeface="Calibri" panose="020F0502020204030204"/>
              </a:rPr>
              <a:t>SQL</a:t>
            </a:r>
            <a:r>
              <a:rPr sz="15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1500" spc="-10" dirty="0">
                <a:latin typeface="Calibri" panose="020F0502020204030204"/>
                <a:cs typeface="Calibri" panose="020F0502020204030204"/>
              </a:rPr>
              <a:t>queries.</a:t>
            </a:r>
            <a:endParaRPr sz="1500">
              <a:latin typeface="Calibri" panose="020F0502020204030204"/>
              <a:cs typeface="Calibri" panose="020F0502020204030204"/>
            </a:endParaRPr>
          </a:p>
          <a:p>
            <a:pPr marL="125095" marR="5080" indent="-113030">
              <a:lnSpc>
                <a:spcPts val="1440"/>
              </a:lnSpc>
              <a:spcBef>
                <a:spcPts val="505"/>
              </a:spcBef>
              <a:buFont typeface="Arial MT"/>
              <a:buChar char="•"/>
              <a:tabLst>
                <a:tab pos="127000" algn="l"/>
              </a:tabLst>
            </a:pPr>
            <a:r>
              <a:rPr sz="1500" dirty="0">
                <a:latin typeface="Calibri" panose="020F0502020204030204"/>
                <a:cs typeface="Calibri" panose="020F0502020204030204"/>
              </a:rPr>
              <a:t>In</a:t>
            </a:r>
            <a:r>
              <a:rPr sz="15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500" dirty="0">
                <a:latin typeface="Calibri" panose="020F0502020204030204"/>
                <a:cs typeface="Calibri" panose="020F0502020204030204"/>
              </a:rPr>
              <a:t>the</a:t>
            </a:r>
            <a:r>
              <a:rPr sz="15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500" dirty="0">
                <a:latin typeface="Calibri" panose="020F0502020204030204"/>
                <a:cs typeface="Calibri" panose="020F0502020204030204"/>
              </a:rPr>
              <a:t>above</a:t>
            </a:r>
            <a:r>
              <a:rPr sz="15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1500" dirty="0">
                <a:latin typeface="Calibri" panose="020F0502020204030204"/>
                <a:cs typeface="Calibri" panose="020F0502020204030204"/>
              </a:rPr>
              <a:t>code,</a:t>
            </a:r>
            <a:r>
              <a:rPr sz="15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500" dirty="0">
                <a:latin typeface="Calibri" panose="020F0502020204030204"/>
                <a:cs typeface="Calibri" panose="020F0502020204030204"/>
              </a:rPr>
              <a:t>we</a:t>
            </a:r>
            <a:r>
              <a:rPr sz="15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1500" dirty="0">
                <a:latin typeface="Calibri" panose="020F0502020204030204"/>
                <a:cs typeface="Calibri" panose="020F0502020204030204"/>
              </a:rPr>
              <a:t>have</a:t>
            </a:r>
            <a:r>
              <a:rPr sz="15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500" dirty="0">
                <a:latin typeface="Calibri" panose="020F0502020204030204"/>
                <a:cs typeface="Calibri" panose="020F0502020204030204"/>
              </a:rPr>
              <a:t>to</a:t>
            </a:r>
            <a:r>
              <a:rPr sz="15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500" dirty="0">
                <a:latin typeface="Calibri" panose="020F0502020204030204"/>
                <a:cs typeface="Calibri" panose="020F0502020204030204"/>
              </a:rPr>
              <a:t>close</a:t>
            </a:r>
            <a:r>
              <a:rPr sz="15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1500" dirty="0">
                <a:latin typeface="Calibri" panose="020F0502020204030204"/>
                <a:cs typeface="Calibri" panose="020F0502020204030204"/>
              </a:rPr>
              <a:t>the</a:t>
            </a:r>
            <a:r>
              <a:rPr sz="15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500" dirty="0">
                <a:latin typeface="Calibri" panose="020F0502020204030204"/>
                <a:cs typeface="Calibri" panose="020F0502020204030204"/>
              </a:rPr>
              <a:t>connection</a:t>
            </a:r>
            <a:r>
              <a:rPr sz="15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500" dirty="0">
                <a:latin typeface="Calibri" panose="020F0502020204030204"/>
                <a:cs typeface="Calibri" panose="020F0502020204030204"/>
              </a:rPr>
              <a:t>explicitly</a:t>
            </a:r>
            <a:r>
              <a:rPr sz="15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1500" dirty="0">
                <a:latin typeface="Calibri" panose="020F0502020204030204"/>
                <a:cs typeface="Calibri" panose="020F0502020204030204"/>
              </a:rPr>
              <a:t>after</a:t>
            </a:r>
            <a:r>
              <a:rPr sz="15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1500" spc="-10" dirty="0">
                <a:latin typeface="Calibri" panose="020F0502020204030204"/>
                <a:cs typeface="Calibri" panose="020F0502020204030204"/>
              </a:rPr>
              <a:t>finish 	</a:t>
            </a:r>
            <a:r>
              <a:rPr sz="1500" dirty="0">
                <a:latin typeface="Calibri" panose="020F0502020204030204"/>
                <a:cs typeface="Calibri" panose="020F0502020204030204"/>
              </a:rPr>
              <a:t>working</a:t>
            </a:r>
            <a:r>
              <a:rPr sz="15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1500" dirty="0">
                <a:latin typeface="Calibri" panose="020F0502020204030204"/>
                <a:cs typeface="Calibri" panose="020F0502020204030204"/>
              </a:rPr>
              <a:t>with</a:t>
            </a:r>
            <a:r>
              <a:rPr sz="15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500" dirty="0">
                <a:latin typeface="Calibri" panose="020F0502020204030204"/>
                <a:cs typeface="Calibri" panose="020F0502020204030204"/>
              </a:rPr>
              <a:t>the</a:t>
            </a:r>
            <a:r>
              <a:rPr sz="15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1500" spc="-10" dirty="0">
                <a:latin typeface="Calibri" panose="020F0502020204030204"/>
                <a:cs typeface="Calibri" panose="020F0502020204030204"/>
              </a:rPr>
              <a:t>database:</a:t>
            </a:r>
            <a:endParaRPr sz="1500">
              <a:latin typeface="Calibri" panose="020F0502020204030204"/>
              <a:cs typeface="Calibri" panose="020F0502020204030204"/>
            </a:endParaRPr>
          </a:p>
          <a:p>
            <a:pPr marL="955675">
              <a:lnSpc>
                <a:spcPct val="100000"/>
              </a:lnSpc>
              <a:spcBef>
                <a:spcPts val="145"/>
              </a:spcBef>
            </a:pPr>
            <a:r>
              <a:rPr sz="1500" b="1" spc="-10" dirty="0">
                <a:solidFill>
                  <a:srgbClr val="702FA0"/>
                </a:solidFill>
                <a:latin typeface="Calibri" panose="020F0502020204030204"/>
                <a:cs typeface="Calibri" panose="020F0502020204030204"/>
              </a:rPr>
              <a:t>conn.close();</a:t>
            </a:r>
            <a:endParaRPr sz="15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spc="-3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</a:t>
            </a:r>
            <a:r>
              <a:rPr sz="1650" b="1" spc="-3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INSERT</a:t>
            </a:r>
            <a:r>
              <a:rPr sz="1650" b="1" spc="-3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650" b="1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Statement</a:t>
            </a:r>
            <a:r>
              <a:rPr sz="1650" b="1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650" b="1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Example</a:t>
            </a:r>
            <a:endParaRPr sz="1650">
              <a:latin typeface="Calibri" panose="020F0502020204030204"/>
              <a:cs typeface="Calibri" panose="020F0502020204030204"/>
            </a:endParaRPr>
          </a:p>
          <a:p>
            <a:pPr marL="12700" marR="5715">
              <a:lnSpc>
                <a:spcPts val="1540"/>
              </a:lnSpc>
              <a:spcBef>
                <a:spcPts val="490"/>
              </a:spcBef>
            </a:pPr>
            <a:r>
              <a:rPr sz="1600" dirty="0">
                <a:latin typeface="Calibri" panose="020F0502020204030204"/>
                <a:cs typeface="Calibri" panose="020F0502020204030204"/>
              </a:rPr>
              <a:t>Let’s</a:t>
            </a:r>
            <a:r>
              <a:rPr sz="1600" spc="24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write</a:t>
            </a:r>
            <a:r>
              <a:rPr sz="1600" spc="24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code</a:t>
            </a:r>
            <a:r>
              <a:rPr sz="1600" spc="23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solidFill>
                  <a:srgbClr val="702FA0"/>
                </a:solidFill>
                <a:latin typeface="Calibri" panose="020F0502020204030204"/>
                <a:cs typeface="Calibri" panose="020F0502020204030204"/>
              </a:rPr>
              <a:t>to</a:t>
            </a:r>
            <a:r>
              <a:rPr sz="1600" spc="240" dirty="0">
                <a:solidFill>
                  <a:srgbClr val="702FA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solidFill>
                  <a:srgbClr val="702FA0"/>
                </a:solidFill>
                <a:latin typeface="Calibri" panose="020F0502020204030204"/>
                <a:cs typeface="Calibri" panose="020F0502020204030204"/>
              </a:rPr>
              <a:t>insert</a:t>
            </a:r>
            <a:r>
              <a:rPr sz="1600" spc="245" dirty="0">
                <a:solidFill>
                  <a:srgbClr val="702FA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solidFill>
                  <a:srgbClr val="702FA0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1600" spc="265" dirty="0">
                <a:solidFill>
                  <a:srgbClr val="702FA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solidFill>
                  <a:srgbClr val="702FA0"/>
                </a:solidFill>
                <a:latin typeface="Calibri" panose="020F0502020204030204"/>
                <a:cs typeface="Calibri" panose="020F0502020204030204"/>
              </a:rPr>
              <a:t>new</a:t>
            </a:r>
            <a:r>
              <a:rPr sz="1600" spc="254" dirty="0">
                <a:solidFill>
                  <a:srgbClr val="702FA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solidFill>
                  <a:srgbClr val="702FA0"/>
                </a:solidFill>
                <a:latin typeface="Calibri" panose="020F0502020204030204"/>
                <a:cs typeface="Calibri" panose="020F0502020204030204"/>
              </a:rPr>
              <a:t>record</a:t>
            </a:r>
            <a:r>
              <a:rPr sz="1600" spc="245" dirty="0">
                <a:solidFill>
                  <a:srgbClr val="702FA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solidFill>
                  <a:srgbClr val="702FA0"/>
                </a:solidFill>
                <a:latin typeface="Calibri" panose="020F0502020204030204"/>
                <a:cs typeface="Calibri" panose="020F0502020204030204"/>
              </a:rPr>
              <a:t>into</a:t>
            </a:r>
            <a:r>
              <a:rPr sz="1600" spc="240" dirty="0">
                <a:solidFill>
                  <a:srgbClr val="702FA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solidFill>
                  <a:srgbClr val="702FA0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1600" spc="250" dirty="0">
                <a:solidFill>
                  <a:srgbClr val="702FA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solidFill>
                  <a:srgbClr val="702FA0"/>
                </a:solidFill>
                <a:latin typeface="Calibri" panose="020F0502020204030204"/>
                <a:cs typeface="Calibri" panose="020F0502020204030204"/>
              </a:rPr>
              <a:t>table</a:t>
            </a:r>
            <a:r>
              <a:rPr sz="1600" spc="260" dirty="0">
                <a:solidFill>
                  <a:srgbClr val="702FA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Users</a:t>
            </a:r>
            <a:r>
              <a:rPr sz="1600" spc="25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spc="-20" dirty="0">
                <a:latin typeface="Calibri" panose="020F0502020204030204"/>
                <a:cs typeface="Calibri" panose="020F0502020204030204"/>
              </a:rPr>
              <a:t>with </a:t>
            </a:r>
            <a:r>
              <a:rPr sz="1600" dirty="0">
                <a:latin typeface="Calibri" panose="020F0502020204030204"/>
                <a:cs typeface="Calibri" panose="020F0502020204030204"/>
              </a:rPr>
              <a:t>following</a:t>
            </a:r>
            <a:r>
              <a:rPr sz="16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spc="-10" dirty="0">
                <a:latin typeface="Calibri" panose="020F0502020204030204"/>
                <a:cs typeface="Calibri" panose="020F0502020204030204"/>
              </a:rPr>
              <a:t>details:</a:t>
            </a:r>
            <a:endParaRPr sz="1600">
              <a:latin typeface="Calibri" panose="020F0502020204030204"/>
              <a:cs typeface="Calibri" panose="020F0502020204030204"/>
            </a:endParaRPr>
          </a:p>
          <a:p>
            <a:pPr marL="565785" marR="3384550">
              <a:lnSpc>
                <a:spcPts val="2040"/>
              </a:lnSpc>
              <a:spcBef>
                <a:spcPts val="85"/>
              </a:spcBef>
            </a:pPr>
            <a:r>
              <a:rPr sz="1600" dirty="0">
                <a:latin typeface="Calibri" panose="020F0502020204030204"/>
                <a:cs typeface="Calibri" panose="020F0502020204030204"/>
              </a:rPr>
              <a:t>username:</a:t>
            </a:r>
            <a:r>
              <a:rPr sz="16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spc="-20" dirty="0">
                <a:latin typeface="Calibri" panose="020F0502020204030204"/>
                <a:cs typeface="Calibri" panose="020F0502020204030204"/>
              </a:rPr>
              <a:t>bill </a:t>
            </a:r>
            <a:r>
              <a:rPr sz="1600" dirty="0">
                <a:latin typeface="Calibri" panose="020F0502020204030204"/>
                <a:cs typeface="Calibri" panose="020F0502020204030204"/>
              </a:rPr>
              <a:t>password:</a:t>
            </a:r>
            <a:r>
              <a:rPr sz="1600" spc="-9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spc="-10" dirty="0">
                <a:latin typeface="Calibri" panose="020F0502020204030204"/>
                <a:cs typeface="Calibri" panose="020F0502020204030204"/>
              </a:rPr>
              <a:t>secretpass </a:t>
            </a:r>
            <a:r>
              <a:rPr sz="1600" dirty="0">
                <a:latin typeface="Calibri" panose="020F0502020204030204"/>
                <a:cs typeface="Calibri" panose="020F0502020204030204"/>
              </a:rPr>
              <a:t>fullname:</a:t>
            </a:r>
            <a:r>
              <a:rPr sz="16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Bill</a:t>
            </a:r>
            <a:r>
              <a:rPr sz="16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spc="-20" dirty="0">
                <a:latin typeface="Calibri" panose="020F0502020204030204"/>
                <a:cs typeface="Calibri" panose="020F0502020204030204"/>
              </a:rPr>
              <a:t>Gates</a:t>
            </a:r>
            <a:endParaRPr sz="1600">
              <a:latin typeface="Calibri" panose="020F0502020204030204"/>
              <a:cs typeface="Calibri" panose="020F0502020204030204"/>
            </a:endParaRPr>
          </a:p>
          <a:p>
            <a:pPr marL="565785">
              <a:lnSpc>
                <a:spcPct val="100000"/>
              </a:lnSpc>
              <a:spcBef>
                <a:spcPts val="20"/>
              </a:spcBef>
            </a:pPr>
            <a:r>
              <a:rPr sz="1600" dirty="0">
                <a:latin typeface="Calibri" panose="020F0502020204030204"/>
                <a:cs typeface="Calibri" panose="020F0502020204030204"/>
              </a:rPr>
              <a:t>email:</a:t>
            </a:r>
            <a:r>
              <a:rPr sz="16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spc="-10" dirty="0">
                <a:latin typeface="Calibri" panose="020F0502020204030204"/>
                <a:cs typeface="Calibri" panose="020F0502020204030204"/>
                <a:hlinkClick r:id="rId2"/>
              </a:rPr>
              <a:t>bill.gates@microsoft.com</a:t>
            </a:r>
            <a:endParaRPr sz="16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151111" y="3203000"/>
            <a:ext cx="1468120" cy="1358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endParaRPr sz="800" spc="-10" dirty="0">
              <a:solidFill>
                <a:srgbClr val="702FA0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380451" y="3221210"/>
            <a:ext cx="102235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spc="-25" dirty="0">
                <a:solidFill>
                  <a:srgbClr val="898989"/>
                </a:solidFill>
                <a:latin typeface="Calibri" panose="020F0502020204030204"/>
                <a:cs typeface="Calibri" panose="020F0502020204030204"/>
              </a:rPr>
              <a:t>12</a:t>
            </a:r>
            <a:endParaRPr sz="6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838200" y="0"/>
            <a:ext cx="6094730" cy="3442970"/>
            <a:chOff x="838200" y="0"/>
            <a:chExt cx="6094730" cy="3442970"/>
          </a:xfrm>
        </p:grpSpPr>
        <p:sp>
          <p:nvSpPr>
            <p:cNvPr id="10" name="object 10"/>
            <p:cNvSpPr/>
            <p:nvPr/>
          </p:nvSpPr>
          <p:spPr>
            <a:xfrm>
              <a:off x="844295" y="21335"/>
              <a:ext cx="6082665" cy="3415665"/>
            </a:xfrm>
            <a:custGeom>
              <a:avLst/>
              <a:gdLst/>
              <a:ahLst/>
              <a:cxnLst/>
              <a:rect l="l" t="t" r="r" b="b"/>
              <a:pathLst>
                <a:path w="6082665" h="3415665">
                  <a:moveTo>
                    <a:pt x="6082284" y="0"/>
                  </a:moveTo>
                  <a:lnTo>
                    <a:pt x="0" y="0"/>
                  </a:lnTo>
                  <a:lnTo>
                    <a:pt x="0" y="3415283"/>
                  </a:lnTo>
                  <a:lnTo>
                    <a:pt x="6082284" y="3415283"/>
                  </a:lnTo>
                  <a:lnTo>
                    <a:pt x="6082284" y="0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11300" y="0"/>
              <a:ext cx="4762500" cy="19177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14984" y="778763"/>
            <a:ext cx="5774690" cy="2891790"/>
          </a:xfrm>
          <a:custGeom>
            <a:avLst/>
            <a:gdLst/>
            <a:ahLst/>
            <a:cxnLst/>
            <a:rect l="l" t="t" r="r" b="b"/>
            <a:pathLst>
              <a:path w="5774690" h="2891790">
                <a:moveTo>
                  <a:pt x="0" y="0"/>
                </a:moveTo>
                <a:lnTo>
                  <a:pt x="5774436" y="0"/>
                </a:lnTo>
                <a:lnTo>
                  <a:pt x="5774436" y="2891536"/>
                </a:lnTo>
                <a:lnTo>
                  <a:pt x="0" y="2891536"/>
                </a:lnTo>
                <a:lnTo>
                  <a:pt x="0" y="0"/>
                </a:lnTo>
                <a:close/>
              </a:path>
            </a:pathLst>
          </a:custGeom>
          <a:solidFill>
            <a:srgbClr val="FBE4D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011923" y="776223"/>
            <a:ext cx="5781040" cy="2894330"/>
          </a:xfrm>
          <a:custGeom>
            <a:avLst/>
            <a:gdLst/>
            <a:ahLst/>
            <a:cxnLst/>
            <a:rect l="l" t="t" r="r" b="b"/>
            <a:pathLst>
              <a:path w="5781040" h="2894329">
                <a:moveTo>
                  <a:pt x="5780544" y="1270"/>
                </a:moveTo>
                <a:lnTo>
                  <a:pt x="5780163" y="1270"/>
                </a:lnTo>
                <a:lnTo>
                  <a:pt x="5780163" y="0"/>
                </a:lnTo>
                <a:lnTo>
                  <a:pt x="5777242" y="0"/>
                </a:lnTo>
                <a:lnTo>
                  <a:pt x="5777242" y="3810"/>
                </a:lnTo>
                <a:lnTo>
                  <a:pt x="5776607" y="3810"/>
                </a:lnTo>
                <a:lnTo>
                  <a:pt x="5776607" y="3175"/>
                </a:lnTo>
                <a:lnTo>
                  <a:pt x="5777242" y="3810"/>
                </a:lnTo>
                <a:lnTo>
                  <a:pt x="5777242" y="0"/>
                </a:lnTo>
                <a:lnTo>
                  <a:pt x="4572" y="0"/>
                </a:lnTo>
                <a:lnTo>
                  <a:pt x="4572" y="2540"/>
                </a:lnTo>
                <a:lnTo>
                  <a:pt x="3937" y="3175"/>
                </a:lnTo>
                <a:lnTo>
                  <a:pt x="3937" y="2540"/>
                </a:lnTo>
                <a:lnTo>
                  <a:pt x="4572" y="2540"/>
                </a:lnTo>
                <a:lnTo>
                  <a:pt x="4572" y="0"/>
                </a:lnTo>
                <a:lnTo>
                  <a:pt x="381" y="0"/>
                </a:lnTo>
                <a:lnTo>
                  <a:pt x="381" y="1270"/>
                </a:lnTo>
                <a:lnTo>
                  <a:pt x="0" y="1270"/>
                </a:lnTo>
                <a:lnTo>
                  <a:pt x="0" y="2540"/>
                </a:lnTo>
                <a:lnTo>
                  <a:pt x="0" y="3810"/>
                </a:lnTo>
                <a:lnTo>
                  <a:pt x="0" y="2894330"/>
                </a:lnTo>
                <a:lnTo>
                  <a:pt x="4572" y="2894330"/>
                </a:lnTo>
                <a:lnTo>
                  <a:pt x="4572" y="4064"/>
                </a:lnTo>
                <a:lnTo>
                  <a:pt x="5775972" y="4064"/>
                </a:lnTo>
                <a:lnTo>
                  <a:pt x="5775972" y="2894330"/>
                </a:lnTo>
                <a:lnTo>
                  <a:pt x="5780544" y="2894330"/>
                </a:lnTo>
                <a:lnTo>
                  <a:pt x="5780544" y="4064"/>
                </a:lnTo>
                <a:lnTo>
                  <a:pt x="5780544" y="3810"/>
                </a:lnTo>
                <a:lnTo>
                  <a:pt x="5780544" y="2540"/>
                </a:lnTo>
                <a:lnTo>
                  <a:pt x="5780544" y="1270"/>
                </a:lnTo>
                <a:close/>
              </a:path>
            </a:pathLst>
          </a:custGeom>
          <a:solidFill>
            <a:srgbClr val="5B9A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046477" y="750797"/>
            <a:ext cx="5708650" cy="3022622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12700" marR="5080">
              <a:lnSpc>
                <a:spcPts val="1730"/>
              </a:lnSpc>
              <a:spcBef>
                <a:spcPts val="310"/>
              </a:spcBef>
            </a:pPr>
            <a:r>
              <a:rPr sz="1600" dirty="0">
                <a:latin typeface="Calibri" panose="020F0502020204030204"/>
                <a:cs typeface="Calibri" panose="020F0502020204030204"/>
              </a:rPr>
              <a:t>String</a:t>
            </a:r>
            <a:r>
              <a:rPr sz="1600" spc="35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sql</a:t>
            </a:r>
            <a:r>
              <a:rPr sz="1600" spc="35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=</a:t>
            </a:r>
            <a:r>
              <a:rPr sz="1600" spc="35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solidFill>
                  <a:srgbClr val="702FA0"/>
                </a:solidFill>
                <a:latin typeface="Calibri" panose="020F0502020204030204"/>
                <a:cs typeface="Calibri" panose="020F0502020204030204"/>
              </a:rPr>
              <a:t>"INSERT</a:t>
            </a:r>
            <a:r>
              <a:rPr sz="1600" spc="345" dirty="0">
                <a:solidFill>
                  <a:srgbClr val="702FA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solidFill>
                  <a:srgbClr val="702FA0"/>
                </a:solidFill>
                <a:latin typeface="Calibri" panose="020F0502020204030204"/>
                <a:cs typeface="Calibri" panose="020F0502020204030204"/>
              </a:rPr>
              <a:t>INTO</a:t>
            </a:r>
            <a:r>
              <a:rPr sz="1600" spc="350" dirty="0">
                <a:solidFill>
                  <a:srgbClr val="702FA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solidFill>
                  <a:srgbClr val="702FA0"/>
                </a:solidFill>
                <a:latin typeface="Calibri" panose="020F0502020204030204"/>
                <a:cs typeface="Calibri" panose="020F0502020204030204"/>
              </a:rPr>
              <a:t>Users</a:t>
            </a:r>
            <a:r>
              <a:rPr sz="1600" spc="355" dirty="0">
                <a:solidFill>
                  <a:srgbClr val="702FA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solidFill>
                  <a:srgbClr val="702FA0"/>
                </a:solidFill>
                <a:latin typeface="Calibri" panose="020F0502020204030204"/>
                <a:cs typeface="Calibri" panose="020F0502020204030204"/>
              </a:rPr>
              <a:t>(username,</a:t>
            </a:r>
            <a:r>
              <a:rPr sz="1600" spc="355" dirty="0">
                <a:solidFill>
                  <a:srgbClr val="702FA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solidFill>
                  <a:srgbClr val="702FA0"/>
                </a:solidFill>
                <a:latin typeface="Calibri" panose="020F0502020204030204"/>
                <a:cs typeface="Calibri" panose="020F0502020204030204"/>
              </a:rPr>
              <a:t>password,</a:t>
            </a:r>
            <a:r>
              <a:rPr sz="1600" spc="355" dirty="0">
                <a:solidFill>
                  <a:srgbClr val="702FA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600" spc="-10" dirty="0">
                <a:solidFill>
                  <a:srgbClr val="702FA0"/>
                </a:solidFill>
                <a:latin typeface="Calibri" panose="020F0502020204030204"/>
                <a:cs typeface="Calibri" panose="020F0502020204030204"/>
              </a:rPr>
              <a:t>fullname, </a:t>
            </a:r>
            <a:r>
              <a:rPr sz="1600" dirty="0">
                <a:solidFill>
                  <a:srgbClr val="702FA0"/>
                </a:solidFill>
                <a:latin typeface="Calibri" panose="020F0502020204030204"/>
                <a:cs typeface="Calibri" panose="020F0502020204030204"/>
              </a:rPr>
              <a:t>email)</a:t>
            </a:r>
            <a:r>
              <a:rPr sz="1600" spc="-30" dirty="0">
                <a:solidFill>
                  <a:srgbClr val="702FA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600" spc="-20" dirty="0">
                <a:solidFill>
                  <a:srgbClr val="702FA0"/>
                </a:solidFill>
                <a:latin typeface="Calibri" panose="020F0502020204030204"/>
                <a:cs typeface="Calibri" panose="020F0502020204030204"/>
              </a:rPr>
              <a:t>VALUES</a:t>
            </a:r>
            <a:r>
              <a:rPr sz="1600" spc="-5" dirty="0">
                <a:solidFill>
                  <a:srgbClr val="702FA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solidFill>
                  <a:srgbClr val="702FA0"/>
                </a:solidFill>
                <a:latin typeface="Calibri" panose="020F0502020204030204"/>
                <a:cs typeface="Calibri" panose="020F0502020204030204"/>
              </a:rPr>
              <a:t>(?,</a:t>
            </a:r>
            <a:r>
              <a:rPr sz="1600" spc="-20" dirty="0">
                <a:solidFill>
                  <a:srgbClr val="702FA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solidFill>
                  <a:srgbClr val="702FA0"/>
                </a:solidFill>
                <a:latin typeface="Calibri" panose="020F0502020204030204"/>
                <a:cs typeface="Calibri" panose="020F0502020204030204"/>
              </a:rPr>
              <a:t>?,</a:t>
            </a:r>
            <a:r>
              <a:rPr sz="1600" spc="-5" dirty="0">
                <a:solidFill>
                  <a:srgbClr val="702FA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solidFill>
                  <a:srgbClr val="702FA0"/>
                </a:solidFill>
                <a:latin typeface="Calibri" panose="020F0502020204030204"/>
                <a:cs typeface="Calibri" panose="020F0502020204030204"/>
              </a:rPr>
              <a:t>?,</a:t>
            </a:r>
            <a:r>
              <a:rPr sz="1600" spc="-20" dirty="0">
                <a:solidFill>
                  <a:srgbClr val="702FA0"/>
                </a:solidFill>
                <a:latin typeface="Calibri" panose="020F0502020204030204"/>
                <a:cs typeface="Calibri" panose="020F0502020204030204"/>
              </a:rPr>
              <a:t> ?)";</a:t>
            </a:r>
            <a:endParaRPr sz="1600" dirty="0">
              <a:latin typeface="Calibri" panose="020F0502020204030204"/>
              <a:cs typeface="Calibri" panose="020F0502020204030204"/>
            </a:endParaRPr>
          </a:p>
          <a:p>
            <a:pPr marL="104140" marR="529590">
              <a:lnSpc>
                <a:spcPts val="2230"/>
              </a:lnSpc>
              <a:spcBef>
                <a:spcPts val="90"/>
              </a:spcBef>
            </a:pPr>
            <a:r>
              <a:rPr sz="1600" spc="-10" dirty="0">
                <a:latin typeface="Calibri" panose="020F0502020204030204"/>
                <a:cs typeface="Calibri" panose="020F0502020204030204"/>
              </a:rPr>
              <a:t>PreparedStatement</a:t>
            </a:r>
            <a:r>
              <a:rPr sz="16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spc="-10" dirty="0">
                <a:latin typeface="Calibri" panose="020F0502020204030204"/>
                <a:cs typeface="Calibri" panose="020F0502020204030204"/>
              </a:rPr>
              <a:t>statement</a:t>
            </a:r>
            <a:r>
              <a:rPr sz="16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=</a:t>
            </a:r>
            <a:r>
              <a:rPr sz="16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spc="-10" dirty="0">
                <a:latin typeface="Calibri" panose="020F0502020204030204"/>
                <a:cs typeface="Calibri" panose="020F0502020204030204"/>
              </a:rPr>
              <a:t>conn.prepareStatement(sql); statement.setString(1,</a:t>
            </a:r>
            <a:r>
              <a:rPr sz="1600" spc="3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spc="-10" dirty="0">
                <a:solidFill>
                  <a:srgbClr val="702FA0"/>
                </a:solidFill>
                <a:latin typeface="Calibri" panose="020F0502020204030204"/>
                <a:cs typeface="Calibri" panose="020F0502020204030204"/>
              </a:rPr>
              <a:t>"bill");</a:t>
            </a:r>
            <a:endParaRPr sz="1600" dirty="0">
              <a:latin typeface="Calibri" panose="020F0502020204030204"/>
              <a:cs typeface="Calibri" panose="020F0502020204030204"/>
            </a:endParaRPr>
          </a:p>
          <a:p>
            <a:pPr marL="104140" marR="2571115">
              <a:lnSpc>
                <a:spcPts val="2220"/>
              </a:lnSpc>
              <a:spcBef>
                <a:spcPts val="10"/>
              </a:spcBef>
            </a:pPr>
            <a:r>
              <a:rPr sz="1600" spc="-10" dirty="0">
                <a:latin typeface="Calibri" panose="020F0502020204030204"/>
                <a:cs typeface="Calibri" panose="020F0502020204030204"/>
              </a:rPr>
              <a:t>statement.setString(2,</a:t>
            </a:r>
            <a:r>
              <a:rPr sz="1600" spc="3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spc="-10" dirty="0">
                <a:solidFill>
                  <a:srgbClr val="702FA0"/>
                </a:solidFill>
                <a:latin typeface="Calibri" panose="020F0502020204030204"/>
                <a:cs typeface="Calibri" panose="020F0502020204030204"/>
              </a:rPr>
              <a:t>"secretpass"); </a:t>
            </a:r>
            <a:r>
              <a:rPr sz="1600" spc="-10" dirty="0">
                <a:latin typeface="Calibri" panose="020F0502020204030204"/>
                <a:cs typeface="Calibri" panose="020F0502020204030204"/>
              </a:rPr>
              <a:t>statement.setString(3,</a:t>
            </a:r>
            <a:r>
              <a:rPr sz="1600" spc="4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solidFill>
                  <a:srgbClr val="702FA0"/>
                </a:solidFill>
                <a:latin typeface="Calibri" panose="020F0502020204030204"/>
                <a:cs typeface="Calibri" panose="020F0502020204030204"/>
              </a:rPr>
              <a:t>"Bill</a:t>
            </a:r>
            <a:r>
              <a:rPr sz="1600" spc="-20" dirty="0">
                <a:solidFill>
                  <a:srgbClr val="702FA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600" spc="-10" dirty="0">
                <a:solidFill>
                  <a:srgbClr val="702FA0"/>
                </a:solidFill>
                <a:latin typeface="Calibri" panose="020F0502020204030204"/>
                <a:cs typeface="Calibri" panose="020F0502020204030204"/>
              </a:rPr>
              <a:t>Gates");</a:t>
            </a:r>
            <a:endParaRPr sz="1600" dirty="0">
              <a:latin typeface="Calibri" panose="020F0502020204030204"/>
              <a:cs typeface="Calibri" panose="020F0502020204030204"/>
            </a:endParaRPr>
          </a:p>
          <a:p>
            <a:pPr marL="104140" marR="1325245">
              <a:lnSpc>
                <a:spcPts val="2230"/>
              </a:lnSpc>
              <a:spcBef>
                <a:spcPts val="5"/>
              </a:spcBef>
            </a:pPr>
            <a:r>
              <a:rPr sz="1600" spc="-10" dirty="0">
                <a:latin typeface="Calibri" panose="020F0502020204030204"/>
                <a:cs typeface="Calibri" panose="020F0502020204030204"/>
              </a:rPr>
              <a:t>statement.setString(4,</a:t>
            </a:r>
            <a:r>
              <a:rPr sz="1600" spc="3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spc="-10" dirty="0">
                <a:solidFill>
                  <a:srgbClr val="702FA0"/>
                </a:solidFill>
                <a:latin typeface="Calibri" panose="020F0502020204030204"/>
                <a:cs typeface="Calibri" panose="020F0502020204030204"/>
              </a:rPr>
              <a:t>"</a:t>
            </a:r>
            <a:r>
              <a:rPr sz="1600" spc="-10" dirty="0">
                <a:solidFill>
                  <a:srgbClr val="702FA0"/>
                </a:solidFill>
                <a:latin typeface="Calibri" panose="020F0502020204030204"/>
                <a:cs typeface="Calibri" panose="020F0502020204030204"/>
                <a:hlinkClick r:id="rId2"/>
              </a:rPr>
              <a:t>bill.gates@microsoft.com</a:t>
            </a:r>
            <a:r>
              <a:rPr sz="1600" spc="-10" dirty="0">
                <a:solidFill>
                  <a:srgbClr val="702FA0"/>
                </a:solidFill>
                <a:latin typeface="Calibri" panose="020F0502020204030204"/>
                <a:cs typeface="Calibri" panose="020F0502020204030204"/>
              </a:rPr>
              <a:t>"</a:t>
            </a:r>
            <a:r>
              <a:rPr sz="1600" spc="-10" dirty="0">
                <a:latin typeface="Calibri" panose="020F0502020204030204"/>
                <a:cs typeface="Calibri" panose="020F0502020204030204"/>
              </a:rPr>
              <a:t>); </a:t>
            </a:r>
            <a:r>
              <a:rPr sz="1600" dirty="0">
                <a:latin typeface="Calibri" panose="020F0502020204030204"/>
                <a:cs typeface="Calibri" panose="020F0502020204030204"/>
              </a:rPr>
              <a:t>int</a:t>
            </a:r>
            <a:r>
              <a:rPr sz="16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spc="-10" dirty="0">
                <a:latin typeface="Calibri" panose="020F0502020204030204"/>
                <a:cs typeface="Calibri" panose="020F0502020204030204"/>
              </a:rPr>
              <a:t>rowsInserted</a:t>
            </a:r>
            <a:r>
              <a:rPr sz="1600" dirty="0">
                <a:latin typeface="Calibri" panose="020F0502020204030204"/>
                <a:cs typeface="Calibri" panose="020F0502020204030204"/>
              </a:rPr>
              <a:t> =</a:t>
            </a:r>
            <a:r>
              <a:rPr sz="16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spc="-10" dirty="0">
                <a:latin typeface="Calibri" panose="020F0502020204030204"/>
                <a:cs typeface="Calibri" panose="020F0502020204030204"/>
              </a:rPr>
              <a:t>statement.executeUpdate();</a:t>
            </a:r>
            <a:endParaRPr sz="1600" dirty="0">
              <a:latin typeface="Calibri" panose="020F0502020204030204"/>
              <a:cs typeface="Calibri" panose="020F0502020204030204"/>
            </a:endParaRPr>
          </a:p>
          <a:p>
            <a:pPr marL="104140">
              <a:lnSpc>
                <a:spcPct val="100000"/>
              </a:lnSpc>
              <a:spcBef>
                <a:spcPts val="175"/>
              </a:spcBef>
            </a:pPr>
            <a:r>
              <a:rPr sz="1600" dirty="0">
                <a:latin typeface="Calibri" panose="020F0502020204030204"/>
                <a:cs typeface="Calibri" panose="020F0502020204030204"/>
              </a:rPr>
              <a:t>if</a:t>
            </a:r>
            <a:r>
              <a:rPr sz="1600" spc="-10" dirty="0">
                <a:latin typeface="Calibri" panose="020F0502020204030204"/>
                <a:cs typeface="Calibri" panose="020F0502020204030204"/>
              </a:rPr>
              <a:t> (rowsInserted</a:t>
            </a:r>
            <a:r>
              <a:rPr sz="160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&gt;</a:t>
            </a:r>
            <a:r>
              <a:rPr sz="16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0) </a:t>
            </a:r>
            <a:r>
              <a:rPr sz="1600" spc="-50" dirty="0">
                <a:latin typeface="Calibri" panose="020F0502020204030204"/>
                <a:cs typeface="Calibri" panose="020F0502020204030204"/>
              </a:rPr>
              <a:t>{</a:t>
            </a:r>
            <a:endParaRPr sz="1600" dirty="0">
              <a:latin typeface="Calibri" panose="020F0502020204030204"/>
              <a:cs typeface="Calibri" panose="020F0502020204030204"/>
            </a:endParaRPr>
          </a:p>
          <a:p>
            <a:pPr marL="334010">
              <a:lnSpc>
                <a:spcPct val="100000"/>
              </a:lnSpc>
              <a:spcBef>
                <a:spcPts val="310"/>
              </a:spcBef>
            </a:pPr>
            <a:r>
              <a:rPr sz="1600" spc="-10" dirty="0">
                <a:latin typeface="Calibri" panose="020F0502020204030204"/>
                <a:cs typeface="Calibri" panose="020F0502020204030204"/>
              </a:rPr>
              <a:t>System.out.println(</a:t>
            </a:r>
            <a:r>
              <a:rPr sz="1600" spc="-10" dirty="0">
                <a:solidFill>
                  <a:srgbClr val="702FA0"/>
                </a:solidFill>
                <a:latin typeface="Calibri" panose="020F0502020204030204"/>
                <a:cs typeface="Calibri" panose="020F0502020204030204"/>
              </a:rPr>
              <a:t>"A</a:t>
            </a:r>
            <a:r>
              <a:rPr sz="1600" spc="5" dirty="0">
                <a:solidFill>
                  <a:srgbClr val="702FA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solidFill>
                  <a:srgbClr val="702FA0"/>
                </a:solidFill>
                <a:latin typeface="Calibri" panose="020F0502020204030204"/>
                <a:cs typeface="Calibri" panose="020F0502020204030204"/>
              </a:rPr>
              <a:t>new</a:t>
            </a:r>
            <a:r>
              <a:rPr sz="1600" spc="-20" dirty="0">
                <a:solidFill>
                  <a:srgbClr val="702FA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solidFill>
                  <a:srgbClr val="702FA0"/>
                </a:solidFill>
                <a:latin typeface="Calibri" panose="020F0502020204030204"/>
                <a:cs typeface="Calibri" panose="020F0502020204030204"/>
              </a:rPr>
              <a:t>user</a:t>
            </a:r>
            <a:r>
              <a:rPr sz="1600" spc="-20" dirty="0">
                <a:solidFill>
                  <a:srgbClr val="702FA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solidFill>
                  <a:srgbClr val="702FA0"/>
                </a:solidFill>
                <a:latin typeface="Calibri" panose="020F0502020204030204"/>
                <a:cs typeface="Calibri" panose="020F0502020204030204"/>
              </a:rPr>
              <a:t>was</a:t>
            </a:r>
            <a:r>
              <a:rPr sz="1600" spc="-25" dirty="0">
                <a:solidFill>
                  <a:srgbClr val="702FA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solidFill>
                  <a:srgbClr val="702FA0"/>
                </a:solidFill>
                <a:latin typeface="Calibri" panose="020F0502020204030204"/>
                <a:cs typeface="Calibri" panose="020F0502020204030204"/>
              </a:rPr>
              <a:t>inserted</a:t>
            </a:r>
            <a:r>
              <a:rPr sz="1600" spc="-20" dirty="0">
                <a:solidFill>
                  <a:srgbClr val="702FA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600" spc="-10" dirty="0">
                <a:solidFill>
                  <a:srgbClr val="702FA0"/>
                </a:solidFill>
                <a:latin typeface="Calibri" panose="020F0502020204030204"/>
                <a:cs typeface="Calibri" panose="020F0502020204030204"/>
              </a:rPr>
              <a:t>successfully!"</a:t>
            </a:r>
            <a:r>
              <a:rPr sz="1600" spc="-10" dirty="0">
                <a:latin typeface="Calibri" panose="020F0502020204030204"/>
                <a:cs typeface="Calibri" panose="020F0502020204030204"/>
              </a:rPr>
              <a:t>);</a:t>
            </a:r>
            <a:endParaRPr lang="en-US" sz="1600" spc="-10" dirty="0">
              <a:latin typeface="Calibri" panose="020F0502020204030204"/>
              <a:cs typeface="Calibri" panose="020F0502020204030204"/>
            </a:endParaRPr>
          </a:p>
          <a:p>
            <a:pPr marL="334010">
              <a:lnSpc>
                <a:spcPct val="100000"/>
              </a:lnSpc>
              <a:spcBef>
                <a:spcPts val="310"/>
              </a:spcBef>
            </a:pPr>
            <a:r>
              <a:rPr lang="en-IN" sz="1600" spc="-10" dirty="0">
                <a:latin typeface="Calibri" panose="020F0502020204030204"/>
                <a:cs typeface="Calibri" panose="020F0502020204030204"/>
              </a:rPr>
              <a:t>}</a:t>
            </a:r>
            <a:endParaRPr sz="1600" dirty="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838200" y="670559"/>
            <a:ext cx="6094730" cy="3006090"/>
            <a:chOff x="838200" y="670559"/>
            <a:chExt cx="6094730" cy="3006090"/>
          </a:xfrm>
        </p:grpSpPr>
        <p:sp>
          <p:nvSpPr>
            <p:cNvPr id="6" name="object 6"/>
            <p:cNvSpPr/>
            <p:nvPr/>
          </p:nvSpPr>
          <p:spPr>
            <a:xfrm>
              <a:off x="844295" y="676655"/>
              <a:ext cx="6082665" cy="2994025"/>
            </a:xfrm>
            <a:custGeom>
              <a:avLst/>
              <a:gdLst/>
              <a:ahLst/>
              <a:cxnLst/>
              <a:rect l="l" t="t" r="r" b="b"/>
              <a:pathLst>
                <a:path w="6082665" h="2994025">
                  <a:moveTo>
                    <a:pt x="6082284" y="0"/>
                  </a:moveTo>
                  <a:lnTo>
                    <a:pt x="0" y="0"/>
                  </a:lnTo>
                  <a:lnTo>
                    <a:pt x="0" y="2993644"/>
                  </a:lnTo>
                </a:path>
                <a:path w="6082665" h="2994025">
                  <a:moveTo>
                    <a:pt x="6082284" y="2993644"/>
                  </a:moveTo>
                  <a:lnTo>
                    <a:pt x="6082284" y="0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11300" y="2184399"/>
              <a:ext cx="4762500" cy="14859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533088" y="3189240"/>
            <a:ext cx="591185" cy="1657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endParaRPr sz="1000" b="1" spc="-10" dirty="0">
              <a:solidFill>
                <a:srgbClr val="FF0000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011936" y="120396"/>
            <a:ext cx="5781040" cy="3075940"/>
            <a:chOff x="1011936" y="120396"/>
            <a:chExt cx="5781040" cy="3075940"/>
          </a:xfrm>
        </p:grpSpPr>
        <p:sp>
          <p:nvSpPr>
            <p:cNvPr id="4" name="object 4"/>
            <p:cNvSpPr/>
            <p:nvPr/>
          </p:nvSpPr>
          <p:spPr>
            <a:xfrm>
              <a:off x="1014984" y="123444"/>
              <a:ext cx="5774690" cy="3070860"/>
            </a:xfrm>
            <a:custGeom>
              <a:avLst/>
              <a:gdLst/>
              <a:ahLst/>
              <a:cxnLst/>
              <a:rect l="l" t="t" r="r" b="b"/>
              <a:pathLst>
                <a:path w="5774690" h="3070860">
                  <a:moveTo>
                    <a:pt x="5774435" y="3070859"/>
                  </a:moveTo>
                  <a:lnTo>
                    <a:pt x="0" y="3070859"/>
                  </a:lnTo>
                  <a:lnTo>
                    <a:pt x="0" y="0"/>
                  </a:lnTo>
                  <a:lnTo>
                    <a:pt x="5774435" y="0"/>
                  </a:lnTo>
                  <a:lnTo>
                    <a:pt x="5774435" y="3070859"/>
                  </a:lnTo>
                  <a:close/>
                </a:path>
              </a:pathLst>
            </a:custGeom>
            <a:solidFill>
              <a:srgbClr val="FBE4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011936" y="120396"/>
              <a:ext cx="5781040" cy="3075940"/>
            </a:xfrm>
            <a:custGeom>
              <a:avLst/>
              <a:gdLst/>
              <a:ahLst/>
              <a:cxnLst/>
              <a:rect l="l" t="t" r="r" b="b"/>
              <a:pathLst>
                <a:path w="5781040" h="3075940">
                  <a:moveTo>
                    <a:pt x="5780532" y="3075432"/>
                  </a:moveTo>
                  <a:lnTo>
                    <a:pt x="0" y="3075432"/>
                  </a:lnTo>
                  <a:lnTo>
                    <a:pt x="0" y="1524"/>
                  </a:lnTo>
                  <a:lnTo>
                    <a:pt x="1524" y="0"/>
                  </a:lnTo>
                  <a:lnTo>
                    <a:pt x="5779007" y="0"/>
                  </a:lnTo>
                  <a:lnTo>
                    <a:pt x="5780532" y="1524"/>
                  </a:lnTo>
                  <a:lnTo>
                    <a:pt x="5780532" y="3048"/>
                  </a:lnTo>
                  <a:lnTo>
                    <a:pt x="4572" y="3048"/>
                  </a:lnTo>
                  <a:lnTo>
                    <a:pt x="3048" y="4572"/>
                  </a:lnTo>
                  <a:lnTo>
                    <a:pt x="4572" y="4572"/>
                  </a:lnTo>
                  <a:lnTo>
                    <a:pt x="4572" y="3070859"/>
                  </a:lnTo>
                  <a:lnTo>
                    <a:pt x="3048" y="3070859"/>
                  </a:lnTo>
                  <a:lnTo>
                    <a:pt x="4572" y="3073908"/>
                  </a:lnTo>
                  <a:lnTo>
                    <a:pt x="5780532" y="3073908"/>
                  </a:lnTo>
                  <a:lnTo>
                    <a:pt x="5780532" y="3075432"/>
                  </a:lnTo>
                  <a:close/>
                </a:path>
                <a:path w="5781040" h="3075940">
                  <a:moveTo>
                    <a:pt x="4572" y="4572"/>
                  </a:moveTo>
                  <a:lnTo>
                    <a:pt x="3048" y="4572"/>
                  </a:lnTo>
                  <a:lnTo>
                    <a:pt x="4572" y="3048"/>
                  </a:lnTo>
                  <a:lnTo>
                    <a:pt x="4572" y="4572"/>
                  </a:lnTo>
                  <a:close/>
                </a:path>
                <a:path w="5781040" h="3075940">
                  <a:moveTo>
                    <a:pt x="5775960" y="4572"/>
                  </a:moveTo>
                  <a:lnTo>
                    <a:pt x="4572" y="4572"/>
                  </a:lnTo>
                  <a:lnTo>
                    <a:pt x="4572" y="3048"/>
                  </a:lnTo>
                  <a:lnTo>
                    <a:pt x="5775960" y="3048"/>
                  </a:lnTo>
                  <a:lnTo>
                    <a:pt x="5775960" y="4572"/>
                  </a:lnTo>
                  <a:close/>
                </a:path>
                <a:path w="5781040" h="3075940">
                  <a:moveTo>
                    <a:pt x="5775960" y="3073908"/>
                  </a:moveTo>
                  <a:lnTo>
                    <a:pt x="5775960" y="3048"/>
                  </a:lnTo>
                  <a:lnTo>
                    <a:pt x="5777484" y="4572"/>
                  </a:lnTo>
                  <a:lnTo>
                    <a:pt x="5780532" y="4572"/>
                  </a:lnTo>
                  <a:lnTo>
                    <a:pt x="5780532" y="3070859"/>
                  </a:lnTo>
                  <a:lnTo>
                    <a:pt x="5777484" y="3070859"/>
                  </a:lnTo>
                  <a:lnTo>
                    <a:pt x="5775960" y="3073908"/>
                  </a:lnTo>
                  <a:close/>
                </a:path>
                <a:path w="5781040" h="3075940">
                  <a:moveTo>
                    <a:pt x="5780532" y="4572"/>
                  </a:moveTo>
                  <a:lnTo>
                    <a:pt x="5777484" y="4572"/>
                  </a:lnTo>
                  <a:lnTo>
                    <a:pt x="5775960" y="3048"/>
                  </a:lnTo>
                  <a:lnTo>
                    <a:pt x="5780532" y="3048"/>
                  </a:lnTo>
                  <a:lnTo>
                    <a:pt x="5780532" y="4572"/>
                  </a:lnTo>
                  <a:close/>
                </a:path>
                <a:path w="5781040" h="3075940">
                  <a:moveTo>
                    <a:pt x="4572" y="3073908"/>
                  </a:moveTo>
                  <a:lnTo>
                    <a:pt x="3048" y="3070859"/>
                  </a:lnTo>
                  <a:lnTo>
                    <a:pt x="4572" y="3070859"/>
                  </a:lnTo>
                  <a:lnTo>
                    <a:pt x="4572" y="3073908"/>
                  </a:lnTo>
                  <a:close/>
                </a:path>
                <a:path w="5781040" h="3075940">
                  <a:moveTo>
                    <a:pt x="5775960" y="3073908"/>
                  </a:moveTo>
                  <a:lnTo>
                    <a:pt x="4572" y="3073908"/>
                  </a:lnTo>
                  <a:lnTo>
                    <a:pt x="4572" y="3070859"/>
                  </a:lnTo>
                  <a:lnTo>
                    <a:pt x="5775960" y="3070859"/>
                  </a:lnTo>
                  <a:lnTo>
                    <a:pt x="5775960" y="3073908"/>
                  </a:lnTo>
                  <a:close/>
                </a:path>
                <a:path w="5781040" h="3075940">
                  <a:moveTo>
                    <a:pt x="5780532" y="3073908"/>
                  </a:moveTo>
                  <a:lnTo>
                    <a:pt x="5775960" y="3073908"/>
                  </a:lnTo>
                  <a:lnTo>
                    <a:pt x="5777484" y="3070859"/>
                  </a:lnTo>
                  <a:lnTo>
                    <a:pt x="5780532" y="3070859"/>
                  </a:lnTo>
                  <a:lnTo>
                    <a:pt x="5780532" y="3073908"/>
                  </a:lnTo>
                  <a:close/>
                </a:path>
              </a:pathLst>
            </a:custGeom>
            <a:solidFill>
              <a:srgbClr val="5B9A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046469" y="89419"/>
            <a:ext cx="27889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0" spc="-3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</a:t>
            </a:r>
            <a:r>
              <a:rPr sz="1800" spc="-3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SELECT</a:t>
            </a:r>
            <a:r>
              <a:rPr sz="180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Statement</a:t>
            </a:r>
            <a:r>
              <a:rPr sz="1800" spc="-3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Example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46477" y="2537849"/>
            <a:ext cx="5438140" cy="592455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10"/>
              </a:spcBef>
            </a:pPr>
            <a:r>
              <a:rPr sz="1600" b="1" spc="-10" dirty="0">
                <a:solidFill>
                  <a:srgbClr val="702FA0"/>
                </a:solidFill>
                <a:latin typeface="Calibri" panose="020F0502020204030204"/>
                <a:cs typeface="Calibri" panose="020F0502020204030204"/>
              </a:rPr>
              <a:t>Output</a:t>
            </a:r>
            <a:endParaRPr sz="1600">
              <a:latin typeface="Calibri" panose="020F0502020204030204"/>
              <a:cs typeface="Calibri" panose="020F0502020204030204"/>
            </a:endParaRPr>
          </a:p>
          <a:p>
            <a:pPr marL="242570">
              <a:lnSpc>
                <a:spcPct val="100000"/>
              </a:lnSpc>
              <a:spcBef>
                <a:spcPts val="315"/>
              </a:spcBef>
            </a:pPr>
            <a:r>
              <a:rPr sz="1600" dirty="0">
                <a:latin typeface="Calibri" panose="020F0502020204030204"/>
                <a:cs typeface="Calibri" panose="020F0502020204030204"/>
              </a:rPr>
              <a:t>User</a:t>
            </a:r>
            <a:r>
              <a:rPr sz="16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#1:</a:t>
            </a:r>
            <a:r>
              <a:rPr sz="160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bill</a:t>
            </a:r>
            <a:r>
              <a:rPr sz="16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-</a:t>
            </a:r>
            <a:r>
              <a:rPr sz="16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spc="-10" dirty="0">
                <a:latin typeface="Calibri" panose="020F0502020204030204"/>
                <a:cs typeface="Calibri" panose="020F0502020204030204"/>
              </a:rPr>
              <a:t>secretpass</a:t>
            </a:r>
            <a:r>
              <a:rPr sz="1600" dirty="0">
                <a:latin typeface="Calibri" panose="020F0502020204030204"/>
                <a:cs typeface="Calibri" panose="020F0502020204030204"/>
              </a:rPr>
              <a:t> -</a:t>
            </a:r>
            <a:r>
              <a:rPr sz="16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Bill</a:t>
            </a:r>
            <a:r>
              <a:rPr sz="16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Gates</a:t>
            </a:r>
            <a:r>
              <a:rPr sz="16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-</a:t>
            </a:r>
            <a:r>
              <a:rPr sz="16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spc="-10" dirty="0">
                <a:latin typeface="Calibri" panose="020F0502020204030204"/>
                <a:cs typeface="Calibri" panose="020F0502020204030204"/>
                <a:hlinkClick r:id="rId2"/>
              </a:rPr>
              <a:t>bill.gates@microsoft.com</a:t>
            </a:r>
            <a:endParaRPr sz="16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151111" y="3203000"/>
            <a:ext cx="1468120" cy="1358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endParaRPr sz="800" spc="-10" dirty="0">
              <a:solidFill>
                <a:srgbClr val="702FA0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380451" y="3221210"/>
            <a:ext cx="102235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spc="-25" dirty="0">
                <a:solidFill>
                  <a:srgbClr val="898989"/>
                </a:solidFill>
                <a:latin typeface="Calibri" panose="020F0502020204030204"/>
                <a:cs typeface="Calibri" panose="020F0502020204030204"/>
              </a:rPr>
              <a:t>14</a:t>
            </a:r>
            <a:endParaRPr sz="6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838200" y="0"/>
            <a:ext cx="6094730" cy="3442970"/>
            <a:chOff x="838200" y="0"/>
            <a:chExt cx="6094730" cy="3442970"/>
          </a:xfrm>
        </p:grpSpPr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11579" y="445008"/>
              <a:ext cx="5303519" cy="2020824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207008" y="440436"/>
              <a:ext cx="5314315" cy="2030095"/>
            </a:xfrm>
            <a:custGeom>
              <a:avLst/>
              <a:gdLst/>
              <a:ahLst/>
              <a:cxnLst/>
              <a:rect l="l" t="t" r="r" b="b"/>
              <a:pathLst>
                <a:path w="5314315" h="2030095">
                  <a:moveTo>
                    <a:pt x="5314187" y="2029968"/>
                  </a:moveTo>
                  <a:lnTo>
                    <a:pt x="0" y="2029968"/>
                  </a:lnTo>
                  <a:lnTo>
                    <a:pt x="0" y="0"/>
                  </a:lnTo>
                  <a:lnTo>
                    <a:pt x="5314187" y="0"/>
                  </a:lnTo>
                  <a:lnTo>
                    <a:pt x="5314187" y="1524"/>
                  </a:lnTo>
                  <a:lnTo>
                    <a:pt x="4572" y="1524"/>
                  </a:lnTo>
                  <a:lnTo>
                    <a:pt x="3048" y="4572"/>
                  </a:lnTo>
                  <a:lnTo>
                    <a:pt x="4572" y="4572"/>
                  </a:lnTo>
                  <a:lnTo>
                    <a:pt x="4572" y="2025396"/>
                  </a:lnTo>
                  <a:lnTo>
                    <a:pt x="3048" y="2025396"/>
                  </a:lnTo>
                  <a:lnTo>
                    <a:pt x="4572" y="2028444"/>
                  </a:lnTo>
                  <a:lnTo>
                    <a:pt x="5314187" y="2028444"/>
                  </a:lnTo>
                  <a:lnTo>
                    <a:pt x="5314187" y="2029968"/>
                  </a:lnTo>
                  <a:close/>
                </a:path>
                <a:path w="5314315" h="2030095">
                  <a:moveTo>
                    <a:pt x="4572" y="4572"/>
                  </a:moveTo>
                  <a:lnTo>
                    <a:pt x="3048" y="4572"/>
                  </a:lnTo>
                  <a:lnTo>
                    <a:pt x="4572" y="1524"/>
                  </a:lnTo>
                  <a:lnTo>
                    <a:pt x="4572" y="4572"/>
                  </a:lnTo>
                  <a:close/>
                </a:path>
                <a:path w="5314315" h="2030095">
                  <a:moveTo>
                    <a:pt x="5308092" y="4572"/>
                  </a:moveTo>
                  <a:lnTo>
                    <a:pt x="4572" y="4572"/>
                  </a:lnTo>
                  <a:lnTo>
                    <a:pt x="4572" y="1524"/>
                  </a:lnTo>
                  <a:lnTo>
                    <a:pt x="5308092" y="1524"/>
                  </a:lnTo>
                  <a:lnTo>
                    <a:pt x="5308092" y="4572"/>
                  </a:lnTo>
                  <a:close/>
                </a:path>
                <a:path w="5314315" h="2030095">
                  <a:moveTo>
                    <a:pt x="5308092" y="2028444"/>
                  </a:moveTo>
                  <a:lnTo>
                    <a:pt x="5308092" y="1524"/>
                  </a:lnTo>
                  <a:lnTo>
                    <a:pt x="5311139" y="4572"/>
                  </a:lnTo>
                  <a:lnTo>
                    <a:pt x="5314187" y="4572"/>
                  </a:lnTo>
                  <a:lnTo>
                    <a:pt x="5314187" y="2025396"/>
                  </a:lnTo>
                  <a:lnTo>
                    <a:pt x="5311139" y="2025396"/>
                  </a:lnTo>
                  <a:lnTo>
                    <a:pt x="5308092" y="2028444"/>
                  </a:lnTo>
                  <a:close/>
                </a:path>
                <a:path w="5314315" h="2030095">
                  <a:moveTo>
                    <a:pt x="5314187" y="4572"/>
                  </a:moveTo>
                  <a:lnTo>
                    <a:pt x="5311139" y="4572"/>
                  </a:lnTo>
                  <a:lnTo>
                    <a:pt x="5308092" y="1524"/>
                  </a:lnTo>
                  <a:lnTo>
                    <a:pt x="5314187" y="1524"/>
                  </a:lnTo>
                  <a:lnTo>
                    <a:pt x="5314187" y="4572"/>
                  </a:lnTo>
                  <a:close/>
                </a:path>
                <a:path w="5314315" h="2030095">
                  <a:moveTo>
                    <a:pt x="4572" y="2028444"/>
                  </a:moveTo>
                  <a:lnTo>
                    <a:pt x="3048" y="2025396"/>
                  </a:lnTo>
                  <a:lnTo>
                    <a:pt x="4572" y="2025396"/>
                  </a:lnTo>
                  <a:lnTo>
                    <a:pt x="4572" y="2028444"/>
                  </a:lnTo>
                  <a:close/>
                </a:path>
                <a:path w="5314315" h="2030095">
                  <a:moveTo>
                    <a:pt x="5308092" y="2028444"/>
                  </a:moveTo>
                  <a:lnTo>
                    <a:pt x="4572" y="2028444"/>
                  </a:lnTo>
                  <a:lnTo>
                    <a:pt x="4572" y="2025396"/>
                  </a:lnTo>
                  <a:lnTo>
                    <a:pt x="5308092" y="2025396"/>
                  </a:lnTo>
                  <a:lnTo>
                    <a:pt x="5308092" y="2028444"/>
                  </a:lnTo>
                  <a:close/>
                </a:path>
                <a:path w="5314315" h="2030095">
                  <a:moveTo>
                    <a:pt x="5314187" y="2028444"/>
                  </a:moveTo>
                  <a:lnTo>
                    <a:pt x="5308092" y="2028444"/>
                  </a:lnTo>
                  <a:lnTo>
                    <a:pt x="5311139" y="2025396"/>
                  </a:lnTo>
                  <a:lnTo>
                    <a:pt x="5314187" y="2025396"/>
                  </a:lnTo>
                  <a:lnTo>
                    <a:pt x="5314187" y="2028444"/>
                  </a:lnTo>
                  <a:close/>
                </a:path>
              </a:pathLst>
            </a:custGeom>
            <a:solidFill>
              <a:srgbClr val="B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44295" y="21335"/>
              <a:ext cx="6082665" cy="3415665"/>
            </a:xfrm>
            <a:custGeom>
              <a:avLst/>
              <a:gdLst/>
              <a:ahLst/>
              <a:cxnLst/>
              <a:rect l="l" t="t" r="r" b="b"/>
              <a:pathLst>
                <a:path w="6082665" h="3415665">
                  <a:moveTo>
                    <a:pt x="6082284" y="0"/>
                  </a:moveTo>
                  <a:lnTo>
                    <a:pt x="0" y="0"/>
                  </a:lnTo>
                  <a:lnTo>
                    <a:pt x="0" y="3415283"/>
                  </a:lnTo>
                  <a:lnTo>
                    <a:pt x="6082284" y="3415283"/>
                  </a:lnTo>
                  <a:lnTo>
                    <a:pt x="6082284" y="0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11300" y="0"/>
              <a:ext cx="4762500" cy="19177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14984" y="778763"/>
            <a:ext cx="5774690" cy="2891790"/>
          </a:xfrm>
          <a:custGeom>
            <a:avLst/>
            <a:gdLst/>
            <a:ahLst/>
            <a:cxnLst/>
            <a:rect l="l" t="t" r="r" b="b"/>
            <a:pathLst>
              <a:path w="5774690" h="2891790">
                <a:moveTo>
                  <a:pt x="0" y="0"/>
                </a:moveTo>
                <a:lnTo>
                  <a:pt x="5774436" y="0"/>
                </a:lnTo>
                <a:lnTo>
                  <a:pt x="5774436" y="2891536"/>
                </a:lnTo>
                <a:lnTo>
                  <a:pt x="0" y="2891536"/>
                </a:lnTo>
                <a:lnTo>
                  <a:pt x="0" y="0"/>
                </a:lnTo>
                <a:close/>
              </a:path>
            </a:pathLst>
          </a:custGeom>
          <a:solidFill>
            <a:srgbClr val="FBE4D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011923" y="776223"/>
            <a:ext cx="5781040" cy="2894330"/>
          </a:xfrm>
          <a:custGeom>
            <a:avLst/>
            <a:gdLst/>
            <a:ahLst/>
            <a:cxnLst/>
            <a:rect l="l" t="t" r="r" b="b"/>
            <a:pathLst>
              <a:path w="5781040" h="2894329">
                <a:moveTo>
                  <a:pt x="5780544" y="1270"/>
                </a:moveTo>
                <a:lnTo>
                  <a:pt x="5780163" y="1270"/>
                </a:lnTo>
                <a:lnTo>
                  <a:pt x="5780163" y="0"/>
                </a:lnTo>
                <a:lnTo>
                  <a:pt x="5777242" y="0"/>
                </a:lnTo>
                <a:lnTo>
                  <a:pt x="5777242" y="3810"/>
                </a:lnTo>
                <a:lnTo>
                  <a:pt x="5776607" y="3810"/>
                </a:lnTo>
                <a:lnTo>
                  <a:pt x="5776607" y="3175"/>
                </a:lnTo>
                <a:lnTo>
                  <a:pt x="5777242" y="3810"/>
                </a:lnTo>
                <a:lnTo>
                  <a:pt x="5777242" y="0"/>
                </a:lnTo>
                <a:lnTo>
                  <a:pt x="4572" y="0"/>
                </a:lnTo>
                <a:lnTo>
                  <a:pt x="4572" y="2540"/>
                </a:lnTo>
                <a:lnTo>
                  <a:pt x="3937" y="3175"/>
                </a:lnTo>
                <a:lnTo>
                  <a:pt x="3937" y="2540"/>
                </a:lnTo>
                <a:lnTo>
                  <a:pt x="4572" y="2540"/>
                </a:lnTo>
                <a:lnTo>
                  <a:pt x="4572" y="0"/>
                </a:lnTo>
                <a:lnTo>
                  <a:pt x="381" y="0"/>
                </a:lnTo>
                <a:lnTo>
                  <a:pt x="381" y="1270"/>
                </a:lnTo>
                <a:lnTo>
                  <a:pt x="0" y="1270"/>
                </a:lnTo>
                <a:lnTo>
                  <a:pt x="0" y="2540"/>
                </a:lnTo>
                <a:lnTo>
                  <a:pt x="0" y="3810"/>
                </a:lnTo>
                <a:lnTo>
                  <a:pt x="0" y="2894330"/>
                </a:lnTo>
                <a:lnTo>
                  <a:pt x="4572" y="2894330"/>
                </a:lnTo>
                <a:lnTo>
                  <a:pt x="4572" y="4064"/>
                </a:lnTo>
                <a:lnTo>
                  <a:pt x="5775972" y="4064"/>
                </a:lnTo>
                <a:lnTo>
                  <a:pt x="5775972" y="2894330"/>
                </a:lnTo>
                <a:lnTo>
                  <a:pt x="5780544" y="2894330"/>
                </a:lnTo>
                <a:lnTo>
                  <a:pt x="5780544" y="4064"/>
                </a:lnTo>
                <a:lnTo>
                  <a:pt x="5780544" y="3810"/>
                </a:lnTo>
                <a:lnTo>
                  <a:pt x="5780544" y="2540"/>
                </a:lnTo>
                <a:lnTo>
                  <a:pt x="5780544" y="1270"/>
                </a:lnTo>
                <a:close/>
              </a:path>
            </a:pathLst>
          </a:custGeom>
          <a:solidFill>
            <a:srgbClr val="5B9A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046469" y="744757"/>
            <a:ext cx="28848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6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</a:t>
            </a:r>
            <a:r>
              <a:rPr sz="1800" b="1" spc="-6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UPDATE</a:t>
            </a:r>
            <a:r>
              <a:rPr sz="1800" b="1" spc="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b="1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Statement</a:t>
            </a:r>
            <a:r>
              <a:rPr sz="1800" b="1" spc="-3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b="1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Example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838200" y="670559"/>
            <a:ext cx="6094730" cy="3006090"/>
            <a:chOff x="838200" y="670559"/>
            <a:chExt cx="6094730" cy="300609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71955" y="1231392"/>
              <a:ext cx="5391911" cy="1618487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167383" y="1226820"/>
              <a:ext cx="5401310" cy="1628139"/>
            </a:xfrm>
            <a:custGeom>
              <a:avLst/>
              <a:gdLst/>
              <a:ahLst/>
              <a:cxnLst/>
              <a:rect l="l" t="t" r="r" b="b"/>
              <a:pathLst>
                <a:path w="5401309" h="1628139">
                  <a:moveTo>
                    <a:pt x="5401055" y="1627632"/>
                  </a:moveTo>
                  <a:lnTo>
                    <a:pt x="0" y="1627632"/>
                  </a:lnTo>
                  <a:lnTo>
                    <a:pt x="0" y="0"/>
                  </a:lnTo>
                  <a:lnTo>
                    <a:pt x="5401055" y="0"/>
                  </a:lnTo>
                  <a:lnTo>
                    <a:pt x="5401055" y="1524"/>
                  </a:lnTo>
                  <a:lnTo>
                    <a:pt x="4572" y="1524"/>
                  </a:lnTo>
                  <a:lnTo>
                    <a:pt x="3048" y="4572"/>
                  </a:lnTo>
                  <a:lnTo>
                    <a:pt x="4572" y="4572"/>
                  </a:lnTo>
                  <a:lnTo>
                    <a:pt x="4572" y="1623060"/>
                  </a:lnTo>
                  <a:lnTo>
                    <a:pt x="3048" y="1623060"/>
                  </a:lnTo>
                  <a:lnTo>
                    <a:pt x="4572" y="1626108"/>
                  </a:lnTo>
                  <a:lnTo>
                    <a:pt x="5401055" y="1626108"/>
                  </a:lnTo>
                  <a:lnTo>
                    <a:pt x="5401055" y="1627632"/>
                  </a:lnTo>
                  <a:close/>
                </a:path>
                <a:path w="5401309" h="1628139">
                  <a:moveTo>
                    <a:pt x="4572" y="4572"/>
                  </a:moveTo>
                  <a:lnTo>
                    <a:pt x="3048" y="4572"/>
                  </a:lnTo>
                  <a:lnTo>
                    <a:pt x="4572" y="1524"/>
                  </a:lnTo>
                  <a:lnTo>
                    <a:pt x="4572" y="4572"/>
                  </a:lnTo>
                  <a:close/>
                </a:path>
                <a:path w="5401309" h="1628139">
                  <a:moveTo>
                    <a:pt x="5396484" y="4572"/>
                  </a:moveTo>
                  <a:lnTo>
                    <a:pt x="4572" y="4572"/>
                  </a:lnTo>
                  <a:lnTo>
                    <a:pt x="4572" y="1524"/>
                  </a:lnTo>
                  <a:lnTo>
                    <a:pt x="5396484" y="1524"/>
                  </a:lnTo>
                  <a:lnTo>
                    <a:pt x="5396484" y="4572"/>
                  </a:lnTo>
                  <a:close/>
                </a:path>
                <a:path w="5401309" h="1628139">
                  <a:moveTo>
                    <a:pt x="5396484" y="1626108"/>
                  </a:moveTo>
                  <a:lnTo>
                    <a:pt x="5396484" y="1524"/>
                  </a:lnTo>
                  <a:lnTo>
                    <a:pt x="5398007" y="4572"/>
                  </a:lnTo>
                  <a:lnTo>
                    <a:pt x="5401055" y="4572"/>
                  </a:lnTo>
                  <a:lnTo>
                    <a:pt x="5401055" y="1623060"/>
                  </a:lnTo>
                  <a:lnTo>
                    <a:pt x="5398007" y="1623060"/>
                  </a:lnTo>
                  <a:lnTo>
                    <a:pt x="5396484" y="1626108"/>
                  </a:lnTo>
                  <a:close/>
                </a:path>
                <a:path w="5401309" h="1628139">
                  <a:moveTo>
                    <a:pt x="5401055" y="4572"/>
                  </a:moveTo>
                  <a:lnTo>
                    <a:pt x="5398007" y="4572"/>
                  </a:lnTo>
                  <a:lnTo>
                    <a:pt x="5396484" y="1524"/>
                  </a:lnTo>
                  <a:lnTo>
                    <a:pt x="5401055" y="1524"/>
                  </a:lnTo>
                  <a:lnTo>
                    <a:pt x="5401055" y="4572"/>
                  </a:lnTo>
                  <a:close/>
                </a:path>
                <a:path w="5401309" h="1628139">
                  <a:moveTo>
                    <a:pt x="4572" y="1626108"/>
                  </a:moveTo>
                  <a:lnTo>
                    <a:pt x="3048" y="1623060"/>
                  </a:lnTo>
                  <a:lnTo>
                    <a:pt x="4572" y="1623060"/>
                  </a:lnTo>
                  <a:lnTo>
                    <a:pt x="4572" y="1626108"/>
                  </a:lnTo>
                  <a:close/>
                </a:path>
                <a:path w="5401309" h="1628139">
                  <a:moveTo>
                    <a:pt x="5396484" y="1626108"/>
                  </a:moveTo>
                  <a:lnTo>
                    <a:pt x="4572" y="1626108"/>
                  </a:lnTo>
                  <a:lnTo>
                    <a:pt x="4572" y="1623060"/>
                  </a:lnTo>
                  <a:lnTo>
                    <a:pt x="5396484" y="1623060"/>
                  </a:lnTo>
                  <a:lnTo>
                    <a:pt x="5396484" y="1626108"/>
                  </a:lnTo>
                  <a:close/>
                </a:path>
                <a:path w="5401309" h="1628139">
                  <a:moveTo>
                    <a:pt x="5401055" y="1626108"/>
                  </a:moveTo>
                  <a:lnTo>
                    <a:pt x="5396484" y="1626108"/>
                  </a:lnTo>
                  <a:lnTo>
                    <a:pt x="5398007" y="1623060"/>
                  </a:lnTo>
                  <a:lnTo>
                    <a:pt x="5401055" y="1623060"/>
                  </a:lnTo>
                  <a:lnTo>
                    <a:pt x="5401055" y="1626108"/>
                  </a:lnTo>
                  <a:close/>
                </a:path>
              </a:pathLst>
            </a:custGeom>
            <a:solidFill>
              <a:srgbClr val="B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44295" y="676655"/>
              <a:ext cx="6082665" cy="2994025"/>
            </a:xfrm>
            <a:custGeom>
              <a:avLst/>
              <a:gdLst/>
              <a:ahLst/>
              <a:cxnLst/>
              <a:rect l="l" t="t" r="r" b="b"/>
              <a:pathLst>
                <a:path w="6082665" h="2994025">
                  <a:moveTo>
                    <a:pt x="6082284" y="0"/>
                  </a:moveTo>
                  <a:lnTo>
                    <a:pt x="0" y="0"/>
                  </a:lnTo>
                  <a:lnTo>
                    <a:pt x="0" y="2993644"/>
                  </a:lnTo>
                </a:path>
                <a:path w="6082665" h="2994025">
                  <a:moveTo>
                    <a:pt x="6082284" y="2993644"/>
                  </a:moveTo>
                  <a:lnTo>
                    <a:pt x="6082284" y="0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11300" y="2184399"/>
              <a:ext cx="4762500" cy="14859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533088" y="3189240"/>
            <a:ext cx="591185" cy="1657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endParaRPr sz="1000" b="1" spc="-10" dirty="0">
              <a:solidFill>
                <a:srgbClr val="FF0000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011936" y="120396"/>
            <a:ext cx="5781040" cy="3075940"/>
            <a:chOff x="1011936" y="120396"/>
            <a:chExt cx="5781040" cy="3075940"/>
          </a:xfrm>
        </p:grpSpPr>
        <p:sp>
          <p:nvSpPr>
            <p:cNvPr id="4" name="object 4"/>
            <p:cNvSpPr/>
            <p:nvPr/>
          </p:nvSpPr>
          <p:spPr>
            <a:xfrm>
              <a:off x="1014984" y="123444"/>
              <a:ext cx="5774690" cy="3070860"/>
            </a:xfrm>
            <a:custGeom>
              <a:avLst/>
              <a:gdLst/>
              <a:ahLst/>
              <a:cxnLst/>
              <a:rect l="l" t="t" r="r" b="b"/>
              <a:pathLst>
                <a:path w="5774690" h="3070860">
                  <a:moveTo>
                    <a:pt x="5774435" y="3070859"/>
                  </a:moveTo>
                  <a:lnTo>
                    <a:pt x="0" y="3070859"/>
                  </a:lnTo>
                  <a:lnTo>
                    <a:pt x="0" y="0"/>
                  </a:lnTo>
                  <a:lnTo>
                    <a:pt x="5774435" y="0"/>
                  </a:lnTo>
                  <a:lnTo>
                    <a:pt x="5774435" y="3070859"/>
                  </a:lnTo>
                  <a:close/>
                </a:path>
              </a:pathLst>
            </a:custGeom>
            <a:solidFill>
              <a:srgbClr val="FBE4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011936" y="120396"/>
              <a:ext cx="5781040" cy="3075940"/>
            </a:xfrm>
            <a:custGeom>
              <a:avLst/>
              <a:gdLst/>
              <a:ahLst/>
              <a:cxnLst/>
              <a:rect l="l" t="t" r="r" b="b"/>
              <a:pathLst>
                <a:path w="5781040" h="3075940">
                  <a:moveTo>
                    <a:pt x="5780532" y="3075432"/>
                  </a:moveTo>
                  <a:lnTo>
                    <a:pt x="0" y="3075432"/>
                  </a:lnTo>
                  <a:lnTo>
                    <a:pt x="0" y="1524"/>
                  </a:lnTo>
                  <a:lnTo>
                    <a:pt x="1524" y="0"/>
                  </a:lnTo>
                  <a:lnTo>
                    <a:pt x="5779007" y="0"/>
                  </a:lnTo>
                  <a:lnTo>
                    <a:pt x="5780532" y="1524"/>
                  </a:lnTo>
                  <a:lnTo>
                    <a:pt x="5780532" y="3048"/>
                  </a:lnTo>
                  <a:lnTo>
                    <a:pt x="4572" y="3048"/>
                  </a:lnTo>
                  <a:lnTo>
                    <a:pt x="3048" y="4572"/>
                  </a:lnTo>
                  <a:lnTo>
                    <a:pt x="4572" y="4572"/>
                  </a:lnTo>
                  <a:lnTo>
                    <a:pt x="4572" y="3070859"/>
                  </a:lnTo>
                  <a:lnTo>
                    <a:pt x="3048" y="3070859"/>
                  </a:lnTo>
                  <a:lnTo>
                    <a:pt x="4572" y="3073908"/>
                  </a:lnTo>
                  <a:lnTo>
                    <a:pt x="5780532" y="3073908"/>
                  </a:lnTo>
                  <a:lnTo>
                    <a:pt x="5780532" y="3075432"/>
                  </a:lnTo>
                  <a:close/>
                </a:path>
                <a:path w="5781040" h="3075940">
                  <a:moveTo>
                    <a:pt x="4572" y="4572"/>
                  </a:moveTo>
                  <a:lnTo>
                    <a:pt x="3048" y="4572"/>
                  </a:lnTo>
                  <a:lnTo>
                    <a:pt x="4572" y="3048"/>
                  </a:lnTo>
                  <a:lnTo>
                    <a:pt x="4572" y="4572"/>
                  </a:lnTo>
                  <a:close/>
                </a:path>
                <a:path w="5781040" h="3075940">
                  <a:moveTo>
                    <a:pt x="5775960" y="4572"/>
                  </a:moveTo>
                  <a:lnTo>
                    <a:pt x="4572" y="4572"/>
                  </a:lnTo>
                  <a:lnTo>
                    <a:pt x="4572" y="3048"/>
                  </a:lnTo>
                  <a:lnTo>
                    <a:pt x="5775960" y="3048"/>
                  </a:lnTo>
                  <a:lnTo>
                    <a:pt x="5775960" y="4572"/>
                  </a:lnTo>
                  <a:close/>
                </a:path>
                <a:path w="5781040" h="3075940">
                  <a:moveTo>
                    <a:pt x="5775960" y="3073908"/>
                  </a:moveTo>
                  <a:lnTo>
                    <a:pt x="5775960" y="3048"/>
                  </a:lnTo>
                  <a:lnTo>
                    <a:pt x="5777484" y="4572"/>
                  </a:lnTo>
                  <a:lnTo>
                    <a:pt x="5780532" y="4572"/>
                  </a:lnTo>
                  <a:lnTo>
                    <a:pt x="5780532" y="3070859"/>
                  </a:lnTo>
                  <a:lnTo>
                    <a:pt x="5777484" y="3070859"/>
                  </a:lnTo>
                  <a:lnTo>
                    <a:pt x="5775960" y="3073908"/>
                  </a:lnTo>
                  <a:close/>
                </a:path>
                <a:path w="5781040" h="3075940">
                  <a:moveTo>
                    <a:pt x="5780532" y="4572"/>
                  </a:moveTo>
                  <a:lnTo>
                    <a:pt x="5777484" y="4572"/>
                  </a:lnTo>
                  <a:lnTo>
                    <a:pt x="5775960" y="3048"/>
                  </a:lnTo>
                  <a:lnTo>
                    <a:pt x="5780532" y="3048"/>
                  </a:lnTo>
                  <a:lnTo>
                    <a:pt x="5780532" y="4572"/>
                  </a:lnTo>
                  <a:close/>
                </a:path>
                <a:path w="5781040" h="3075940">
                  <a:moveTo>
                    <a:pt x="4572" y="3073908"/>
                  </a:moveTo>
                  <a:lnTo>
                    <a:pt x="3048" y="3070859"/>
                  </a:lnTo>
                  <a:lnTo>
                    <a:pt x="4572" y="3070859"/>
                  </a:lnTo>
                  <a:lnTo>
                    <a:pt x="4572" y="3073908"/>
                  </a:lnTo>
                  <a:close/>
                </a:path>
                <a:path w="5781040" h="3075940">
                  <a:moveTo>
                    <a:pt x="5775960" y="3073908"/>
                  </a:moveTo>
                  <a:lnTo>
                    <a:pt x="4572" y="3073908"/>
                  </a:lnTo>
                  <a:lnTo>
                    <a:pt x="4572" y="3070859"/>
                  </a:lnTo>
                  <a:lnTo>
                    <a:pt x="5775960" y="3070859"/>
                  </a:lnTo>
                  <a:lnTo>
                    <a:pt x="5775960" y="3073908"/>
                  </a:lnTo>
                  <a:close/>
                </a:path>
                <a:path w="5781040" h="3075940">
                  <a:moveTo>
                    <a:pt x="5780532" y="3073908"/>
                  </a:moveTo>
                  <a:lnTo>
                    <a:pt x="5775960" y="3073908"/>
                  </a:lnTo>
                  <a:lnTo>
                    <a:pt x="5777484" y="3070859"/>
                  </a:lnTo>
                  <a:lnTo>
                    <a:pt x="5780532" y="3070859"/>
                  </a:lnTo>
                  <a:lnTo>
                    <a:pt x="5780532" y="3073908"/>
                  </a:lnTo>
                  <a:close/>
                </a:path>
              </a:pathLst>
            </a:custGeom>
            <a:solidFill>
              <a:srgbClr val="5B9A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046469" y="89419"/>
            <a:ext cx="28162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0" spc="-3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</a:t>
            </a:r>
            <a:r>
              <a:rPr sz="1800" spc="-3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DELETE</a:t>
            </a:r>
            <a:r>
              <a:rPr sz="1800" spc="-6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Statement</a:t>
            </a:r>
            <a:r>
              <a:rPr sz="1800" spc="-7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Example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46477" y="404861"/>
            <a:ext cx="5440045" cy="488315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127000" marR="5080" indent="-114935">
              <a:lnSpc>
                <a:spcPts val="1730"/>
              </a:lnSpc>
              <a:spcBef>
                <a:spcPts val="310"/>
              </a:spcBef>
              <a:buFont typeface="Arial MT"/>
              <a:buChar char="•"/>
              <a:tabLst>
                <a:tab pos="127000" algn="l"/>
              </a:tabLst>
            </a:pPr>
            <a:r>
              <a:rPr sz="1600" dirty="0">
                <a:latin typeface="Calibri" panose="020F0502020204030204"/>
                <a:cs typeface="Calibri" panose="020F0502020204030204"/>
              </a:rPr>
              <a:t>The</a:t>
            </a:r>
            <a:r>
              <a:rPr sz="16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following</a:t>
            </a:r>
            <a:r>
              <a:rPr sz="16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code</a:t>
            </a:r>
            <a:r>
              <a:rPr sz="16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snippet</a:t>
            </a:r>
            <a:r>
              <a:rPr sz="16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will</a:t>
            </a:r>
            <a:r>
              <a:rPr sz="16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delete</a:t>
            </a:r>
            <a:r>
              <a:rPr sz="16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a</a:t>
            </a:r>
            <a:r>
              <a:rPr sz="16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spc="-10" dirty="0">
                <a:latin typeface="Calibri" panose="020F0502020204030204"/>
                <a:cs typeface="Calibri" panose="020F0502020204030204"/>
              </a:rPr>
              <a:t>record</a:t>
            </a:r>
            <a:r>
              <a:rPr sz="1600" dirty="0">
                <a:latin typeface="Calibri" panose="020F0502020204030204"/>
                <a:cs typeface="Calibri" panose="020F0502020204030204"/>
              </a:rPr>
              <a:t> whose</a:t>
            </a:r>
            <a:r>
              <a:rPr sz="16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spc="-10" dirty="0">
                <a:latin typeface="Calibri" panose="020F0502020204030204"/>
                <a:cs typeface="Calibri" panose="020F0502020204030204"/>
              </a:rPr>
              <a:t>username </a:t>
            </a:r>
            <a:r>
              <a:rPr sz="1600" dirty="0">
                <a:latin typeface="Calibri" panose="020F0502020204030204"/>
                <a:cs typeface="Calibri" panose="020F0502020204030204"/>
              </a:rPr>
              <a:t>field</a:t>
            </a:r>
            <a:r>
              <a:rPr sz="16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contains</a:t>
            </a:r>
            <a:r>
              <a:rPr sz="16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spc="-10" dirty="0">
                <a:latin typeface="Calibri" panose="020F0502020204030204"/>
                <a:cs typeface="Calibri" panose="020F0502020204030204"/>
              </a:rPr>
              <a:t>“bill”</a:t>
            </a:r>
            <a:endParaRPr sz="16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151111" y="3203000"/>
            <a:ext cx="1468120" cy="1358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endParaRPr sz="800" spc="-10" dirty="0">
              <a:solidFill>
                <a:srgbClr val="702FA0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380451" y="3221210"/>
            <a:ext cx="102235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spc="-25" dirty="0">
                <a:solidFill>
                  <a:srgbClr val="898989"/>
                </a:solidFill>
                <a:latin typeface="Calibri" panose="020F0502020204030204"/>
                <a:cs typeface="Calibri" panose="020F0502020204030204"/>
              </a:rPr>
              <a:t>16</a:t>
            </a:r>
            <a:endParaRPr sz="6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838200" y="0"/>
            <a:ext cx="6094730" cy="3442970"/>
            <a:chOff x="838200" y="0"/>
            <a:chExt cx="6094730" cy="3442970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89304" y="1001268"/>
              <a:ext cx="5157215" cy="156819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284732" y="996696"/>
              <a:ext cx="5166360" cy="1577340"/>
            </a:xfrm>
            <a:custGeom>
              <a:avLst/>
              <a:gdLst/>
              <a:ahLst/>
              <a:cxnLst/>
              <a:rect l="l" t="t" r="r" b="b"/>
              <a:pathLst>
                <a:path w="5166360" h="1577339">
                  <a:moveTo>
                    <a:pt x="5166360" y="1577340"/>
                  </a:moveTo>
                  <a:lnTo>
                    <a:pt x="0" y="1577340"/>
                  </a:lnTo>
                  <a:lnTo>
                    <a:pt x="0" y="1524"/>
                  </a:lnTo>
                  <a:lnTo>
                    <a:pt x="1524" y="0"/>
                  </a:lnTo>
                  <a:lnTo>
                    <a:pt x="5164836" y="0"/>
                  </a:lnTo>
                  <a:lnTo>
                    <a:pt x="5166360" y="1524"/>
                  </a:lnTo>
                  <a:lnTo>
                    <a:pt x="5166360" y="3048"/>
                  </a:lnTo>
                  <a:lnTo>
                    <a:pt x="4572" y="3048"/>
                  </a:lnTo>
                  <a:lnTo>
                    <a:pt x="3048" y="4572"/>
                  </a:lnTo>
                  <a:lnTo>
                    <a:pt x="4572" y="4572"/>
                  </a:lnTo>
                  <a:lnTo>
                    <a:pt x="4572" y="1572768"/>
                  </a:lnTo>
                  <a:lnTo>
                    <a:pt x="3048" y="1572768"/>
                  </a:lnTo>
                  <a:lnTo>
                    <a:pt x="4572" y="1575815"/>
                  </a:lnTo>
                  <a:lnTo>
                    <a:pt x="5166360" y="1575815"/>
                  </a:lnTo>
                  <a:lnTo>
                    <a:pt x="5166360" y="1577340"/>
                  </a:lnTo>
                  <a:close/>
                </a:path>
                <a:path w="5166360" h="1577339">
                  <a:moveTo>
                    <a:pt x="4572" y="4572"/>
                  </a:moveTo>
                  <a:lnTo>
                    <a:pt x="3048" y="4572"/>
                  </a:lnTo>
                  <a:lnTo>
                    <a:pt x="4572" y="3048"/>
                  </a:lnTo>
                  <a:lnTo>
                    <a:pt x="4572" y="4572"/>
                  </a:lnTo>
                  <a:close/>
                </a:path>
                <a:path w="5166360" h="1577339">
                  <a:moveTo>
                    <a:pt x="5161787" y="4572"/>
                  </a:moveTo>
                  <a:lnTo>
                    <a:pt x="4572" y="4572"/>
                  </a:lnTo>
                  <a:lnTo>
                    <a:pt x="4572" y="3048"/>
                  </a:lnTo>
                  <a:lnTo>
                    <a:pt x="5161787" y="3048"/>
                  </a:lnTo>
                  <a:lnTo>
                    <a:pt x="5161787" y="4572"/>
                  </a:lnTo>
                  <a:close/>
                </a:path>
                <a:path w="5166360" h="1577339">
                  <a:moveTo>
                    <a:pt x="5161787" y="1575815"/>
                  </a:moveTo>
                  <a:lnTo>
                    <a:pt x="5161787" y="3048"/>
                  </a:lnTo>
                  <a:lnTo>
                    <a:pt x="5163312" y="4572"/>
                  </a:lnTo>
                  <a:lnTo>
                    <a:pt x="5166360" y="4572"/>
                  </a:lnTo>
                  <a:lnTo>
                    <a:pt x="5166360" y="1572768"/>
                  </a:lnTo>
                  <a:lnTo>
                    <a:pt x="5163312" y="1572768"/>
                  </a:lnTo>
                  <a:lnTo>
                    <a:pt x="5161787" y="1575815"/>
                  </a:lnTo>
                  <a:close/>
                </a:path>
                <a:path w="5166360" h="1577339">
                  <a:moveTo>
                    <a:pt x="5166360" y="4572"/>
                  </a:moveTo>
                  <a:lnTo>
                    <a:pt x="5163312" y="4572"/>
                  </a:lnTo>
                  <a:lnTo>
                    <a:pt x="5161787" y="3048"/>
                  </a:lnTo>
                  <a:lnTo>
                    <a:pt x="5166360" y="3048"/>
                  </a:lnTo>
                  <a:lnTo>
                    <a:pt x="5166360" y="4572"/>
                  </a:lnTo>
                  <a:close/>
                </a:path>
                <a:path w="5166360" h="1577339">
                  <a:moveTo>
                    <a:pt x="4572" y="1575815"/>
                  </a:moveTo>
                  <a:lnTo>
                    <a:pt x="3048" y="1572768"/>
                  </a:lnTo>
                  <a:lnTo>
                    <a:pt x="4572" y="1572768"/>
                  </a:lnTo>
                  <a:lnTo>
                    <a:pt x="4572" y="1575815"/>
                  </a:lnTo>
                  <a:close/>
                </a:path>
                <a:path w="5166360" h="1577339">
                  <a:moveTo>
                    <a:pt x="5161787" y="1575815"/>
                  </a:moveTo>
                  <a:lnTo>
                    <a:pt x="4572" y="1575815"/>
                  </a:lnTo>
                  <a:lnTo>
                    <a:pt x="4572" y="1572768"/>
                  </a:lnTo>
                  <a:lnTo>
                    <a:pt x="5161787" y="1572768"/>
                  </a:lnTo>
                  <a:lnTo>
                    <a:pt x="5161787" y="1575815"/>
                  </a:lnTo>
                  <a:close/>
                </a:path>
                <a:path w="5166360" h="1577339">
                  <a:moveTo>
                    <a:pt x="5166360" y="1575815"/>
                  </a:moveTo>
                  <a:lnTo>
                    <a:pt x="5161787" y="1575815"/>
                  </a:lnTo>
                  <a:lnTo>
                    <a:pt x="5163312" y="1572768"/>
                  </a:lnTo>
                  <a:lnTo>
                    <a:pt x="5166360" y="1572768"/>
                  </a:lnTo>
                  <a:lnTo>
                    <a:pt x="5166360" y="1575815"/>
                  </a:lnTo>
                  <a:close/>
                </a:path>
              </a:pathLst>
            </a:custGeom>
            <a:solidFill>
              <a:srgbClr val="B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44295" y="21335"/>
              <a:ext cx="6082665" cy="3415665"/>
            </a:xfrm>
            <a:custGeom>
              <a:avLst/>
              <a:gdLst/>
              <a:ahLst/>
              <a:cxnLst/>
              <a:rect l="l" t="t" r="r" b="b"/>
              <a:pathLst>
                <a:path w="6082665" h="3415665">
                  <a:moveTo>
                    <a:pt x="6082284" y="0"/>
                  </a:moveTo>
                  <a:lnTo>
                    <a:pt x="0" y="0"/>
                  </a:lnTo>
                  <a:lnTo>
                    <a:pt x="0" y="3415283"/>
                  </a:lnTo>
                  <a:lnTo>
                    <a:pt x="6082284" y="3415283"/>
                  </a:lnTo>
                  <a:lnTo>
                    <a:pt x="6082284" y="0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11300" y="0"/>
              <a:ext cx="4762500" cy="19177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1512</Words>
  <Application>Microsoft Office PowerPoint</Application>
  <PresentationFormat>Custom</PresentationFormat>
  <Paragraphs>142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Arial MT</vt:lpstr>
      <vt:lpstr>Calibri</vt:lpstr>
      <vt:lpstr>Segoe UI Symbol</vt:lpstr>
      <vt:lpstr>Times New Roman</vt:lpstr>
      <vt:lpstr>Office Theme</vt:lpstr>
      <vt:lpstr>MODULE 5</vt:lpstr>
      <vt:lpstr>Java DataBase Connectivity (JDBC)</vt:lpstr>
      <vt:lpstr>JDBC Architecture</vt:lpstr>
      <vt:lpstr>PowerPoint Presentation</vt:lpstr>
      <vt:lpstr>Java Database Connectivity with 5 Steps</vt:lpstr>
      <vt:lpstr>The forName() method is used to register the driver class.</vt:lpstr>
      <vt:lpstr>PowerPoint Presentation</vt:lpstr>
      <vt:lpstr>Creating and Executing Queries</vt:lpstr>
      <vt:lpstr>PowerPoint Presentation</vt:lpstr>
      <vt:lpstr>PowerPoint Presentation</vt:lpstr>
      <vt:lpstr>Java Database Connectivity with MySQL</vt:lpstr>
      <vt:lpstr>3. Username: The default username for the mysql database is root.</vt:lpstr>
      <vt:lpstr>Example to Connect Java Application with mysql database</vt:lpstr>
      <vt:lpstr>PowerPoint Presentation</vt:lpstr>
      <vt:lpstr>Creating a sample MySQL database</vt:lpstr>
      <vt:lpstr>Connecting to the database</vt:lpstr>
      <vt:lpstr>PowerPoint Presentation</vt:lpstr>
      <vt:lpstr>PowerPoint Presentation</vt:lpstr>
      <vt:lpstr>SELECT Statement Example</vt:lpstr>
      <vt:lpstr>PowerPoint Presentation</vt:lpstr>
      <vt:lpstr>DELETE Statement Example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5</dc:title>
  <dc:creator/>
  <cp:lastModifiedBy>libsy baby</cp:lastModifiedBy>
  <cp:revision>29</cp:revision>
  <dcterms:created xsi:type="dcterms:W3CDTF">2023-12-14T17:39:51Z</dcterms:created>
  <dcterms:modified xsi:type="dcterms:W3CDTF">2023-12-18T15:48:29Z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LastSaved">
    <vt:filetime>2023-12-14T05:30:00Z</vt:filetime>
  </property>
  <property fmtid="{D5CDD505-2E9C-101B-9397-08002B2CF9AE}" pid="3" name="Producer">
    <vt:lpwstr>3.0.6 (5.0.11) </vt:lpwstr>
  </property>
  <property fmtid="{D5CDD505-2E9C-101B-9397-08002B2CF9AE}" pid="4" name="ICV">
    <vt:lpwstr>F081C13A1AF34CD2823CF3473EE8FB44_13</vt:lpwstr>
  </property>
  <property fmtid="{D5CDD505-2E9C-101B-9397-08002B2CF9AE}" pid="5" name="KSOProductBuildVer">
    <vt:lpwstr>1033-12.2.0.13306</vt:lpwstr>
  </property>
</Properties>
</file>