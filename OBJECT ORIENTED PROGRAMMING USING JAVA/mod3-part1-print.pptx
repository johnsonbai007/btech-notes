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300" r:id="rId3"/>
    <p:sldId id="257" r:id="rId4"/>
    <p:sldId id="258" r:id="rId5"/>
    <p:sldId id="259" r:id="rId6"/>
    <p:sldId id="321" r:id="rId7"/>
    <p:sldId id="260" r:id="rId8"/>
    <p:sldId id="261" r:id="rId9"/>
    <p:sldId id="262" r:id="rId10"/>
    <p:sldId id="303" r:id="rId11"/>
    <p:sldId id="30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08" r:id="rId20"/>
    <p:sldId id="273" r:id="rId21"/>
    <p:sldId id="274" r:id="rId22"/>
    <p:sldId id="315" r:id="rId23"/>
    <p:sldId id="309" r:id="rId24"/>
    <p:sldId id="311" r:id="rId25"/>
    <p:sldId id="275" r:id="rId26"/>
    <p:sldId id="276" r:id="rId27"/>
    <p:sldId id="277" r:id="rId28"/>
    <p:sldId id="278" r:id="rId29"/>
    <p:sldId id="317" r:id="rId30"/>
    <p:sldId id="319" r:id="rId31"/>
    <p:sldId id="316" r:id="rId32"/>
    <p:sldId id="318" r:id="rId33"/>
    <p:sldId id="280" r:id="rId34"/>
    <p:sldId id="281" r:id="rId35"/>
    <p:sldId id="282" r:id="rId36"/>
    <p:sldId id="283" r:id="rId37"/>
    <p:sldId id="312" r:id="rId38"/>
    <p:sldId id="285" r:id="rId39"/>
    <p:sldId id="286" r:id="rId40"/>
    <p:sldId id="287" r:id="rId41"/>
    <p:sldId id="313" r:id="rId42"/>
    <p:sldId id="289" r:id="rId43"/>
    <p:sldId id="314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x="7772400" cy="5041900"/>
  <p:notesSz cx="7772400" cy="5041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63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368675" cy="252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40" y="1"/>
            <a:ext cx="3368675" cy="252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9AEBE-AD4A-4CDB-B575-2DA3A9F06579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630238"/>
            <a:ext cx="2622550" cy="170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2425701"/>
            <a:ext cx="6216650" cy="1985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4789488"/>
            <a:ext cx="3368675" cy="252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40" y="4789488"/>
            <a:ext cx="3368675" cy="252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7D143-E99E-413E-97DA-8595CBAD1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1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7D143-E99E-413E-97DA-8595CBAD15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28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7D143-E99E-413E-97DA-8595CBAD15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6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7D143-E99E-413E-97DA-8595CBAD15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7D143-E99E-413E-97DA-8595CBAD15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8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 Package date in Java is : Wed Mar 17 11:56:06 UTC 2021 SQL Package date in Java : 2021-03-17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7D143-E99E-413E-97DA-8595CBAD15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4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557083"/>
            <a:ext cx="6606540" cy="1054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812796"/>
            <a:ext cx="5440680" cy="1255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1155255"/>
            <a:ext cx="3380994" cy="3315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1155255"/>
            <a:ext cx="3380994" cy="3315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9075" y="1203960"/>
            <a:ext cx="5750559" cy="3103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272" y="1290827"/>
            <a:ext cx="5699759" cy="3031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4671250"/>
            <a:ext cx="2487168" cy="251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4671250"/>
            <a:ext cx="1787652" cy="251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4671250"/>
            <a:ext cx="1787652" cy="251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c/EDULINEFORC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c/EDULINEFORC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3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98675" y="1687067"/>
            <a:ext cx="4577080" cy="771525"/>
            <a:chOff x="1598675" y="1687067"/>
            <a:chExt cx="4577080" cy="771525"/>
          </a:xfrm>
        </p:grpSpPr>
        <p:sp>
          <p:nvSpPr>
            <p:cNvPr id="5" name="object 5"/>
            <p:cNvSpPr/>
            <p:nvPr/>
          </p:nvSpPr>
          <p:spPr>
            <a:xfrm>
              <a:off x="1600200" y="1690115"/>
              <a:ext cx="4572000" cy="767080"/>
            </a:xfrm>
            <a:custGeom>
              <a:avLst/>
              <a:gdLst/>
              <a:ahLst/>
              <a:cxnLst/>
              <a:rect l="l" t="t" r="r" b="b"/>
              <a:pathLst>
                <a:path w="4572000" h="767080">
                  <a:moveTo>
                    <a:pt x="4572000" y="766572"/>
                  </a:moveTo>
                  <a:lnTo>
                    <a:pt x="0" y="766572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766572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8675" y="1687067"/>
              <a:ext cx="4577080" cy="771525"/>
            </a:xfrm>
            <a:custGeom>
              <a:avLst/>
              <a:gdLst/>
              <a:ahLst/>
              <a:cxnLst/>
              <a:rect l="l" t="t" r="r" b="b"/>
              <a:pathLst>
                <a:path w="4577080" h="771525">
                  <a:moveTo>
                    <a:pt x="4576572" y="771144"/>
                  </a:moveTo>
                  <a:lnTo>
                    <a:pt x="0" y="771144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4575048" y="0"/>
                  </a:lnTo>
                  <a:lnTo>
                    <a:pt x="4576572" y="1524"/>
                  </a:lnTo>
                  <a:lnTo>
                    <a:pt x="4576572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766572"/>
                  </a:lnTo>
                  <a:lnTo>
                    <a:pt x="1524" y="766572"/>
                  </a:lnTo>
                  <a:lnTo>
                    <a:pt x="4572" y="769620"/>
                  </a:lnTo>
                  <a:lnTo>
                    <a:pt x="4576572" y="769620"/>
                  </a:lnTo>
                  <a:lnTo>
                    <a:pt x="4576572" y="771144"/>
                  </a:lnTo>
                  <a:close/>
                </a:path>
                <a:path w="4577080" h="771525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4577080" h="771525">
                  <a:moveTo>
                    <a:pt x="457200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4572000" y="3048"/>
                  </a:lnTo>
                  <a:lnTo>
                    <a:pt x="4572000" y="4572"/>
                  </a:lnTo>
                  <a:close/>
                </a:path>
                <a:path w="4577080" h="771525">
                  <a:moveTo>
                    <a:pt x="4572000" y="769620"/>
                  </a:moveTo>
                  <a:lnTo>
                    <a:pt x="4572000" y="3048"/>
                  </a:lnTo>
                  <a:lnTo>
                    <a:pt x="4573524" y="4572"/>
                  </a:lnTo>
                  <a:lnTo>
                    <a:pt x="4576572" y="4572"/>
                  </a:lnTo>
                  <a:lnTo>
                    <a:pt x="4576572" y="766572"/>
                  </a:lnTo>
                  <a:lnTo>
                    <a:pt x="4573524" y="766572"/>
                  </a:lnTo>
                  <a:lnTo>
                    <a:pt x="4572000" y="769620"/>
                  </a:lnTo>
                  <a:close/>
                </a:path>
                <a:path w="4577080" h="771525">
                  <a:moveTo>
                    <a:pt x="4576572" y="4572"/>
                  </a:moveTo>
                  <a:lnTo>
                    <a:pt x="4573524" y="4572"/>
                  </a:lnTo>
                  <a:lnTo>
                    <a:pt x="4572000" y="3048"/>
                  </a:lnTo>
                  <a:lnTo>
                    <a:pt x="4576572" y="3048"/>
                  </a:lnTo>
                  <a:lnTo>
                    <a:pt x="4576572" y="4572"/>
                  </a:lnTo>
                  <a:close/>
                </a:path>
                <a:path w="4577080" h="771525">
                  <a:moveTo>
                    <a:pt x="4572" y="769620"/>
                  </a:moveTo>
                  <a:lnTo>
                    <a:pt x="1524" y="766572"/>
                  </a:lnTo>
                  <a:lnTo>
                    <a:pt x="4572" y="766572"/>
                  </a:lnTo>
                  <a:lnTo>
                    <a:pt x="4572" y="769620"/>
                  </a:lnTo>
                  <a:close/>
                </a:path>
                <a:path w="4577080" h="771525">
                  <a:moveTo>
                    <a:pt x="4572000" y="769620"/>
                  </a:moveTo>
                  <a:lnTo>
                    <a:pt x="4572" y="769620"/>
                  </a:lnTo>
                  <a:lnTo>
                    <a:pt x="4572" y="766572"/>
                  </a:lnTo>
                  <a:lnTo>
                    <a:pt x="4572000" y="766572"/>
                  </a:lnTo>
                  <a:lnTo>
                    <a:pt x="4572000" y="769620"/>
                  </a:lnTo>
                  <a:close/>
                </a:path>
                <a:path w="4577080" h="771525">
                  <a:moveTo>
                    <a:pt x="4576572" y="769620"/>
                  </a:moveTo>
                  <a:lnTo>
                    <a:pt x="4572000" y="769620"/>
                  </a:lnTo>
                  <a:lnTo>
                    <a:pt x="4573524" y="766572"/>
                  </a:lnTo>
                  <a:lnTo>
                    <a:pt x="4576572" y="766572"/>
                  </a:lnTo>
                  <a:lnTo>
                    <a:pt x="4576572" y="7696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300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2135"/>
              </a:spcBef>
            </a:pPr>
            <a:r>
              <a:rPr sz="3000" dirty="0">
                <a:solidFill>
                  <a:srgbClr val="000000"/>
                </a:solidFill>
                <a:latin typeface="Times New Roman"/>
                <a:cs typeface="Times New Roman"/>
              </a:rPr>
              <a:t>MODULE</a:t>
            </a:r>
            <a:r>
              <a:rPr sz="30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98675" y="2927603"/>
            <a:ext cx="4577080" cy="1196340"/>
            <a:chOff x="1598675" y="2927603"/>
            <a:chExt cx="4577080" cy="1196340"/>
          </a:xfrm>
        </p:grpSpPr>
        <p:sp>
          <p:nvSpPr>
            <p:cNvPr id="9" name="object 9"/>
            <p:cNvSpPr/>
            <p:nvPr/>
          </p:nvSpPr>
          <p:spPr>
            <a:xfrm>
              <a:off x="1600200" y="2929127"/>
              <a:ext cx="4572000" cy="1193800"/>
            </a:xfrm>
            <a:custGeom>
              <a:avLst/>
              <a:gdLst/>
              <a:ahLst/>
              <a:cxnLst/>
              <a:rect l="l" t="t" r="r" b="b"/>
              <a:pathLst>
                <a:path w="4572000" h="1193800">
                  <a:moveTo>
                    <a:pt x="4572000" y="1193291"/>
                  </a:moveTo>
                  <a:lnTo>
                    <a:pt x="0" y="1193291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1193291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8675" y="2927603"/>
              <a:ext cx="4577080" cy="1196340"/>
            </a:xfrm>
            <a:custGeom>
              <a:avLst/>
              <a:gdLst/>
              <a:ahLst/>
              <a:cxnLst/>
              <a:rect l="l" t="t" r="r" b="b"/>
              <a:pathLst>
                <a:path w="4577080" h="1196339">
                  <a:moveTo>
                    <a:pt x="4576572" y="1196340"/>
                  </a:moveTo>
                  <a:lnTo>
                    <a:pt x="0" y="1196340"/>
                  </a:lnTo>
                  <a:lnTo>
                    <a:pt x="0" y="0"/>
                  </a:lnTo>
                  <a:lnTo>
                    <a:pt x="4576572" y="0"/>
                  </a:lnTo>
                  <a:lnTo>
                    <a:pt x="4576572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1191768"/>
                  </a:lnTo>
                  <a:lnTo>
                    <a:pt x="1524" y="1191768"/>
                  </a:lnTo>
                  <a:lnTo>
                    <a:pt x="4572" y="1194816"/>
                  </a:lnTo>
                  <a:lnTo>
                    <a:pt x="4576572" y="1194816"/>
                  </a:lnTo>
                  <a:lnTo>
                    <a:pt x="4576572" y="1196340"/>
                  </a:lnTo>
                  <a:close/>
                </a:path>
                <a:path w="4577080" h="1196339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4577080" h="1196339">
                  <a:moveTo>
                    <a:pt x="457200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4572000" y="1524"/>
                  </a:lnTo>
                  <a:lnTo>
                    <a:pt x="4572000" y="4572"/>
                  </a:lnTo>
                  <a:close/>
                </a:path>
                <a:path w="4577080" h="1196339">
                  <a:moveTo>
                    <a:pt x="4572000" y="1194816"/>
                  </a:moveTo>
                  <a:lnTo>
                    <a:pt x="4572000" y="1524"/>
                  </a:lnTo>
                  <a:lnTo>
                    <a:pt x="4573524" y="4572"/>
                  </a:lnTo>
                  <a:lnTo>
                    <a:pt x="4576572" y="4572"/>
                  </a:lnTo>
                  <a:lnTo>
                    <a:pt x="4576572" y="1191768"/>
                  </a:lnTo>
                  <a:lnTo>
                    <a:pt x="4573524" y="1191768"/>
                  </a:lnTo>
                  <a:lnTo>
                    <a:pt x="4572000" y="1194816"/>
                  </a:lnTo>
                  <a:close/>
                </a:path>
                <a:path w="4577080" h="1196339">
                  <a:moveTo>
                    <a:pt x="4576572" y="4572"/>
                  </a:moveTo>
                  <a:lnTo>
                    <a:pt x="4573524" y="4572"/>
                  </a:lnTo>
                  <a:lnTo>
                    <a:pt x="4572000" y="1524"/>
                  </a:lnTo>
                  <a:lnTo>
                    <a:pt x="4576572" y="1524"/>
                  </a:lnTo>
                  <a:lnTo>
                    <a:pt x="4576572" y="4572"/>
                  </a:lnTo>
                  <a:close/>
                </a:path>
                <a:path w="4577080" h="1196339">
                  <a:moveTo>
                    <a:pt x="4572" y="1194816"/>
                  </a:moveTo>
                  <a:lnTo>
                    <a:pt x="1524" y="1191768"/>
                  </a:lnTo>
                  <a:lnTo>
                    <a:pt x="4572" y="1191768"/>
                  </a:lnTo>
                  <a:lnTo>
                    <a:pt x="4572" y="1194816"/>
                  </a:lnTo>
                  <a:close/>
                </a:path>
                <a:path w="4577080" h="1196339">
                  <a:moveTo>
                    <a:pt x="4572000" y="1194816"/>
                  </a:moveTo>
                  <a:lnTo>
                    <a:pt x="4572" y="1194816"/>
                  </a:lnTo>
                  <a:lnTo>
                    <a:pt x="4572" y="1191768"/>
                  </a:lnTo>
                  <a:lnTo>
                    <a:pt x="4572000" y="1191768"/>
                  </a:lnTo>
                  <a:lnTo>
                    <a:pt x="4572000" y="1194816"/>
                  </a:lnTo>
                  <a:close/>
                </a:path>
                <a:path w="4577080" h="1196339">
                  <a:moveTo>
                    <a:pt x="4576572" y="1194816"/>
                  </a:moveTo>
                  <a:lnTo>
                    <a:pt x="4572000" y="1194816"/>
                  </a:lnTo>
                  <a:lnTo>
                    <a:pt x="4573524" y="1191768"/>
                  </a:lnTo>
                  <a:lnTo>
                    <a:pt x="4576572" y="1191768"/>
                  </a:lnTo>
                  <a:lnTo>
                    <a:pt x="4576572" y="11948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0200" y="2929127"/>
            <a:ext cx="4572000" cy="119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8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CHAPTER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408305" marR="400685" algn="ctr">
              <a:lnSpc>
                <a:spcPts val="2380"/>
              </a:lnSpc>
              <a:spcBef>
                <a:spcPts val="535"/>
              </a:spcBef>
              <a:tabLst>
                <a:tab pos="2078355" algn="l"/>
              </a:tabLst>
            </a:pPr>
            <a:r>
              <a:rPr sz="2200" b="1" spc="-30" dirty="0">
                <a:solidFill>
                  <a:srgbClr val="702FA0"/>
                </a:solidFill>
                <a:latin typeface="Times New Roman"/>
                <a:cs typeface="Times New Roman"/>
              </a:rPr>
              <a:t>PACKAGES	</a:t>
            </a:r>
            <a:r>
              <a:rPr sz="2200" b="1" spc="-25" dirty="0">
                <a:solidFill>
                  <a:srgbClr val="702FA0"/>
                </a:solidFill>
                <a:latin typeface="Times New Roman"/>
                <a:cs typeface="Times New Roman"/>
              </a:rPr>
              <a:t>INTERFACES</a:t>
            </a:r>
            <a:r>
              <a:rPr sz="2200" b="1" spc="-15" dirty="0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702FA0"/>
                </a:solidFill>
                <a:latin typeface="Times New Roman"/>
                <a:cs typeface="Times New Roman"/>
              </a:rPr>
              <a:t>&amp; </a:t>
            </a:r>
            <a:r>
              <a:rPr sz="2200" b="1" spc="-535" dirty="0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702FA0"/>
                </a:solidFill>
                <a:latin typeface="Times New Roman"/>
                <a:cs typeface="Times New Roman"/>
              </a:rPr>
              <a:t>EXCEPTION</a:t>
            </a:r>
            <a:r>
              <a:rPr sz="2200" b="1" spc="20" dirty="0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702FA0"/>
                </a:solidFill>
                <a:latin typeface="Times New Roman"/>
                <a:cs typeface="Times New Roman"/>
              </a:rPr>
              <a:t>HANDLING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37531" y="4365499"/>
            <a:ext cx="1097915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0"/>
              </a:lnSpc>
            </a:pPr>
            <a:r>
              <a:rPr sz="600" spc="-10" dirty="0">
                <a:solidFill>
                  <a:srgbClr val="898989"/>
                </a:solidFill>
                <a:latin typeface="Calibri"/>
                <a:cs typeface="Calibri"/>
              </a:rPr>
              <a:t>Prepared</a:t>
            </a:r>
            <a:r>
              <a:rPr sz="600" spc="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5" dirty="0">
                <a:solidFill>
                  <a:srgbClr val="898989"/>
                </a:solidFill>
                <a:latin typeface="Calibri"/>
                <a:cs typeface="Calibri"/>
              </a:rPr>
              <a:t>By</a:t>
            </a:r>
            <a:r>
              <a:rPr sz="600" spc="13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15" dirty="0">
                <a:solidFill>
                  <a:srgbClr val="898989"/>
                </a:solidFill>
                <a:latin typeface="Calibri"/>
                <a:cs typeface="Calibri"/>
              </a:rPr>
              <a:t>Mr.EBIN</a:t>
            </a:r>
            <a:r>
              <a:rPr sz="6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898989"/>
                </a:solidFill>
                <a:latin typeface="Calibri"/>
                <a:cs typeface="Calibri"/>
              </a:rPr>
              <a:t>PM,</a:t>
            </a:r>
            <a:r>
              <a:rPr sz="6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25" dirty="0">
                <a:solidFill>
                  <a:srgbClr val="898989"/>
                </a:solidFill>
                <a:latin typeface="Calibri"/>
                <a:cs typeface="Calibri"/>
              </a:rPr>
              <a:t>AP,</a:t>
            </a:r>
            <a:r>
              <a:rPr sz="600" spc="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5" dirty="0">
                <a:solidFill>
                  <a:srgbClr val="898989"/>
                </a:solidFill>
                <a:latin typeface="Calibri"/>
                <a:cs typeface="Calibri"/>
              </a:rPr>
              <a:t>IESCE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4295" y="1133855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r>
              <a:rPr sz="60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9600" y="64424"/>
            <a:ext cx="3355340" cy="685165"/>
          </a:xfrm>
          <a:custGeom>
            <a:avLst/>
            <a:gdLst/>
            <a:ahLst/>
            <a:cxnLst/>
            <a:rect l="l" t="t" r="r" b="b"/>
            <a:pathLst>
              <a:path w="3355340" h="685165">
                <a:moveTo>
                  <a:pt x="3355264" y="0"/>
                </a:moveTo>
                <a:lnTo>
                  <a:pt x="0" y="0"/>
                </a:lnTo>
                <a:lnTo>
                  <a:pt x="0" y="684875"/>
                </a:lnTo>
                <a:lnTo>
                  <a:pt x="3355264" y="684875"/>
                </a:lnTo>
                <a:lnTo>
                  <a:pt x="33552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13100" y="4225752"/>
            <a:ext cx="1609090" cy="283210"/>
          </a:xfrm>
          <a:custGeom>
            <a:avLst/>
            <a:gdLst/>
            <a:ahLst/>
            <a:cxnLst/>
            <a:rect l="l" t="t" r="r" b="b"/>
            <a:pathLst>
              <a:path w="1609089" h="283210">
                <a:moveTo>
                  <a:pt x="1608516" y="0"/>
                </a:moveTo>
                <a:lnTo>
                  <a:pt x="0" y="0"/>
                </a:lnTo>
                <a:lnTo>
                  <a:pt x="0" y="282746"/>
                </a:lnTo>
                <a:lnTo>
                  <a:pt x="1608516" y="282746"/>
                </a:lnTo>
                <a:lnTo>
                  <a:pt x="16085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91469-7172-024C-6785-FFD574092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63550"/>
            <a:ext cx="6781800" cy="304698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dirty="0"/>
              <a:t>More features of Java:</a:t>
            </a:r>
          </a:p>
          <a:p>
            <a:pPr algn="just"/>
            <a:r>
              <a:rPr lang="en-US" sz="1800" dirty="0"/>
              <a:t>Packages and Interfaces - Defining Package, CLASSPATH, Access Protection, Importing Packages, Interfaces.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 Exception Handling - Checked Exceptions, Unchecked Exceptions, try Block and catch Clause, Multiple catch Clauses, Nested try Statements, throw, throws and finally.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 Input/Output - I/O Basics, Reading Console Input, Writing Console Output, </a:t>
            </a:r>
            <a:r>
              <a:rPr lang="en-US" sz="1800" dirty="0" err="1"/>
              <a:t>PrintWriter</a:t>
            </a:r>
            <a:r>
              <a:rPr lang="en-US" sz="1800" dirty="0"/>
              <a:t> Class, Object Streams and Serialization, Working with Files</a:t>
            </a:r>
          </a:p>
        </p:txBody>
      </p:sp>
    </p:spTree>
    <p:extLst>
      <p:ext uri="{BB962C8B-B14F-4D97-AF65-F5344CB8AC3E}">
        <p14:creationId xmlns:p14="http://schemas.microsoft.com/office/powerpoint/2010/main" val="424935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05345" y="648069"/>
            <a:ext cx="155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>
                <a:solidFill>
                  <a:srgbClr val="000000"/>
                </a:solidFill>
                <a:latin typeface="Times New Roman"/>
                <a:cs typeface="Times New Roman"/>
              </a:rPr>
              <a:t>PACKAGES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787" y="996950"/>
            <a:ext cx="5635625" cy="26638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0" indent="-114935" algn="just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package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related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classes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interfaces</a:t>
            </a:r>
            <a:endParaRPr sz="1600" dirty="0">
              <a:latin typeface="Calibri"/>
              <a:cs typeface="Calibri"/>
            </a:endParaRPr>
          </a:p>
          <a:p>
            <a:pPr marL="127000" indent="-114935" algn="just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Think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folder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directory.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2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40" dirty="0">
                <a:latin typeface="Calibri"/>
                <a:cs typeface="Calibri"/>
              </a:rPr>
              <a:t>We </a:t>
            </a:r>
            <a:r>
              <a:rPr sz="1600" spc="-5" dirty="0">
                <a:latin typeface="Calibri"/>
                <a:cs typeface="Calibri"/>
              </a:rPr>
              <a:t>use </a:t>
            </a:r>
            <a:r>
              <a:rPr sz="1600" spc="-10" dirty="0">
                <a:latin typeface="Calibri"/>
                <a:cs typeface="Calibri"/>
              </a:rPr>
              <a:t>packages to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avoid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name conflicts</a:t>
            </a:r>
            <a:r>
              <a:rPr sz="1600" spc="-5" dirty="0">
                <a:latin typeface="Calibri"/>
                <a:cs typeface="Calibri"/>
              </a:rPr>
              <a:t>, and </a:t>
            </a:r>
            <a:r>
              <a:rPr sz="1600" spc="-10" dirty="0">
                <a:latin typeface="Calibri"/>
                <a:cs typeface="Calibri"/>
              </a:rPr>
              <a:t>to write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better </a:t>
            </a:r>
            <a:r>
              <a:rPr sz="1600" spc="-5" dirty="0">
                <a:latin typeface="Calibri"/>
                <a:cs typeface="Calibri"/>
              </a:rPr>
              <a:t> maintainable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</a:t>
            </a:r>
            <a:endParaRPr sz="1600" dirty="0">
              <a:latin typeface="Calibri"/>
              <a:cs typeface="Calibri"/>
            </a:endParaRPr>
          </a:p>
          <a:p>
            <a:pPr marL="127000" marR="6985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5" dirty="0">
                <a:latin typeface="Calibri"/>
                <a:cs typeface="Calibri"/>
              </a:rPr>
              <a:t>Packages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5" dirty="0">
                <a:latin typeface="Calibri"/>
                <a:cs typeface="Calibri"/>
              </a:rPr>
              <a:t>Java </a:t>
            </a:r>
            <a:r>
              <a:rPr sz="1600" spc="-5" dirty="0">
                <a:latin typeface="Calibri"/>
                <a:cs typeface="Calibri"/>
              </a:rPr>
              <a:t>is a mechanism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encapsulate </a:t>
            </a:r>
            <a:r>
              <a:rPr sz="1600" spc="-5" dirty="0">
                <a:latin typeface="Calibri"/>
                <a:cs typeface="Calibri"/>
              </a:rPr>
              <a:t>a group of classes,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</a:t>
            </a:r>
            <a:r>
              <a:rPr sz="1600" spc="-5" dirty="0">
                <a:latin typeface="Calibri"/>
                <a:cs typeface="Calibri"/>
              </a:rPr>
              <a:t> and</a:t>
            </a:r>
            <a:r>
              <a:rPr sz="1600" dirty="0">
                <a:latin typeface="Calibri"/>
                <a:cs typeface="Calibri"/>
              </a:rPr>
              <a:t> sub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packages</a:t>
            </a:r>
            <a:r>
              <a:rPr sz="1600" spc="-5" dirty="0">
                <a:latin typeface="Calibri"/>
                <a:cs typeface="Calibri"/>
              </a:rPr>
              <a:t> which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providing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access </a:t>
            </a:r>
            <a:r>
              <a:rPr sz="1600" spc="-3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protection</a:t>
            </a:r>
            <a:endParaRPr sz="1600" dirty="0">
              <a:latin typeface="Calibri"/>
              <a:cs typeface="Calibri"/>
            </a:endParaRPr>
          </a:p>
          <a:p>
            <a:pPr marL="127000" indent="-114935" algn="just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5" dirty="0">
                <a:latin typeface="Calibri"/>
                <a:cs typeface="Calibri"/>
              </a:rPr>
              <a:t>Package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Java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categorized</a:t>
            </a:r>
            <a:r>
              <a:rPr sz="1600" spc="-5" dirty="0">
                <a:latin typeface="Calibri"/>
                <a:cs typeface="Calibri"/>
              </a:rPr>
              <a:t> in two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form,</a:t>
            </a:r>
            <a:endParaRPr sz="1600" dirty="0">
              <a:latin typeface="Calibri"/>
              <a:cs typeface="Calibri"/>
            </a:endParaRPr>
          </a:p>
          <a:p>
            <a:pPr marL="518159" algn="just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built-in</a:t>
            </a:r>
            <a:r>
              <a:rPr sz="1600" b="1"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package</a:t>
            </a:r>
            <a:endParaRPr sz="1600" dirty="0">
              <a:latin typeface="Calibri"/>
              <a:cs typeface="Calibri"/>
            </a:endParaRPr>
          </a:p>
          <a:p>
            <a:pPr marL="518159" algn="just">
              <a:lnSpc>
                <a:spcPct val="10000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user-defined</a:t>
            </a:r>
            <a:r>
              <a:rPr sz="1600" b="1" spc="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package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8200" y="464821"/>
            <a:ext cx="6094730" cy="3427729"/>
            <a:chOff x="838200" y="482466"/>
            <a:chExt cx="6094730" cy="3427729"/>
          </a:xfrm>
        </p:grpSpPr>
        <p:sp>
          <p:nvSpPr>
            <p:cNvPr id="15" name="object 15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49600" y="3707461"/>
              <a:ext cx="3229610" cy="163830"/>
            </a:xfrm>
            <a:custGeom>
              <a:avLst/>
              <a:gdLst/>
              <a:ahLst/>
              <a:cxnLst/>
              <a:rect l="l" t="t" r="r" b="b"/>
              <a:pathLst>
                <a:path w="3229610" h="163829">
                  <a:moveTo>
                    <a:pt x="3229598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229598" y="163364"/>
                  </a:lnTo>
                  <a:lnTo>
                    <a:pt x="3229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25400" y="4446730"/>
            <a:ext cx="3167380" cy="415290"/>
          </a:xfrm>
          <a:custGeom>
            <a:avLst/>
            <a:gdLst/>
            <a:ahLst/>
            <a:cxnLst/>
            <a:rect l="l" t="t" r="r" b="b"/>
            <a:pathLst>
              <a:path w="3167380" h="415289">
                <a:moveTo>
                  <a:pt x="3166765" y="0"/>
                </a:moveTo>
                <a:lnTo>
                  <a:pt x="0" y="0"/>
                </a:lnTo>
                <a:lnTo>
                  <a:pt x="0" y="414695"/>
                </a:lnTo>
                <a:lnTo>
                  <a:pt x="3166765" y="414695"/>
                </a:lnTo>
                <a:lnTo>
                  <a:pt x="3166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41275" indent="-114935">
              <a:lnSpc>
                <a:spcPts val="1730"/>
              </a:lnSpc>
              <a:spcBef>
                <a:spcPts val="100"/>
              </a:spcBef>
              <a:buSzPct val="93750"/>
              <a:buFont typeface="Wingdings"/>
              <a:buChar char=""/>
              <a:tabLst>
                <a:tab pos="206375" algn="l"/>
              </a:tabLst>
            </a:pPr>
            <a:r>
              <a:rPr b="1" spc="-5" dirty="0">
                <a:solidFill>
                  <a:srgbClr val="702FA0"/>
                </a:solidFill>
                <a:latin typeface="Calibri"/>
                <a:cs typeface="Calibri"/>
              </a:rPr>
              <a:t>Built-in</a:t>
            </a:r>
            <a:r>
              <a:rPr b="1" spc="7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Package:-</a:t>
            </a:r>
            <a:r>
              <a:rPr spc="-10" dirty="0"/>
              <a:t>Existing</a:t>
            </a:r>
            <a:r>
              <a:rPr spc="105" dirty="0"/>
              <a:t> </a:t>
            </a:r>
            <a:r>
              <a:rPr spc="-15" dirty="0"/>
              <a:t>Java</a:t>
            </a:r>
            <a:r>
              <a:rPr spc="100" dirty="0"/>
              <a:t> </a:t>
            </a:r>
            <a:r>
              <a:rPr spc="-5" dirty="0"/>
              <a:t>package.</a:t>
            </a:r>
            <a:r>
              <a:rPr spc="100" dirty="0"/>
              <a:t> </a:t>
            </a:r>
            <a:r>
              <a:rPr spc="-20" dirty="0"/>
              <a:t>for</a:t>
            </a:r>
            <a:r>
              <a:rPr spc="105" dirty="0"/>
              <a:t> </a:t>
            </a:r>
            <a:r>
              <a:rPr spc="-10" dirty="0"/>
              <a:t>example,</a:t>
            </a:r>
            <a:r>
              <a:rPr spc="110" dirty="0"/>
              <a:t> </a:t>
            </a:r>
            <a:r>
              <a:rPr spc="-10" dirty="0"/>
              <a:t>java.io.*, </a:t>
            </a:r>
            <a:r>
              <a:rPr spc="-350" dirty="0"/>
              <a:t> </a:t>
            </a:r>
            <a:r>
              <a:rPr spc="-10" dirty="0"/>
              <a:t>java.lang</a:t>
            </a:r>
            <a:r>
              <a:rPr spc="-5" dirty="0"/>
              <a:t> ,</a:t>
            </a:r>
            <a:r>
              <a:rPr spc="5" dirty="0"/>
              <a:t> </a:t>
            </a:r>
            <a:r>
              <a:rPr spc="-5" dirty="0"/>
              <a:t>java.util</a:t>
            </a:r>
            <a:r>
              <a:rPr spc="5" dirty="0"/>
              <a:t> </a:t>
            </a:r>
            <a:r>
              <a:rPr spc="-15" dirty="0"/>
              <a:t>etc.</a:t>
            </a:r>
          </a:p>
          <a:p>
            <a:pPr marL="158115" marR="39370" indent="-114935">
              <a:lnSpc>
                <a:spcPts val="1730"/>
              </a:lnSpc>
              <a:spcBef>
                <a:spcPts val="490"/>
              </a:spcBef>
              <a:buSzPct val="93750"/>
              <a:buFont typeface="Wingdings"/>
              <a:buChar char=""/>
              <a:tabLst>
                <a:tab pos="206375" algn="l"/>
                <a:tab pos="2352675" algn="l"/>
                <a:tab pos="2883535" algn="l"/>
                <a:tab pos="3740785" algn="l"/>
                <a:tab pos="4549775" algn="l"/>
                <a:tab pos="4937125" algn="l"/>
                <a:tab pos="5478145" algn="l"/>
              </a:tabLst>
            </a:pP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U</a:t>
            </a:r>
            <a:r>
              <a:rPr b="1" spc="-5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b="1" spc="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b="1" spc="-1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-</a:t>
            </a:r>
            <a:r>
              <a:rPr b="1" spc="-20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b="1" spc="-20" dirty="0">
                <a:solidFill>
                  <a:srgbClr val="702FA0"/>
                </a:solidFill>
                <a:latin typeface="Calibri"/>
                <a:cs typeface="Calibri"/>
              </a:rPr>
              <a:t>f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in</a:t>
            </a:r>
            <a:r>
              <a:rPr b="1" spc="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b="1" spc="-20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-</a:t>
            </a:r>
            <a:r>
              <a:rPr b="1" spc="-2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b="1" spc="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b="1" spc="-5" dirty="0">
                <a:solidFill>
                  <a:srgbClr val="702FA0"/>
                </a:solidFill>
                <a:latin typeface="Calibri"/>
                <a:cs typeface="Calibri"/>
              </a:rPr>
              <a:t>c</a:t>
            </a:r>
            <a:r>
              <a:rPr b="1" spc="-25" dirty="0">
                <a:solidFill>
                  <a:srgbClr val="702FA0"/>
                </a:solidFill>
                <a:latin typeface="Calibri"/>
                <a:cs typeface="Calibri"/>
              </a:rPr>
              <a:t>k</a:t>
            </a:r>
            <a:r>
              <a:rPr b="1" spc="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b="1" spc="-15" dirty="0">
                <a:solidFill>
                  <a:srgbClr val="702FA0"/>
                </a:solidFill>
                <a:latin typeface="Calibri"/>
                <a:cs typeface="Calibri"/>
              </a:rPr>
              <a:t>ge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:</a:t>
            </a:r>
            <a:r>
              <a:rPr b="1" spc="-5" dirty="0">
                <a:solidFill>
                  <a:srgbClr val="702FA0"/>
                </a:solidFill>
                <a:latin typeface="Calibri"/>
                <a:cs typeface="Calibri"/>
              </a:rPr>
              <a:t>-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pc="-5" dirty="0"/>
              <a:t>J</a:t>
            </a:r>
            <a:r>
              <a:rPr spc="-40" dirty="0"/>
              <a:t>a</a:t>
            </a:r>
            <a:r>
              <a:rPr spc="-25" dirty="0"/>
              <a:t>v</a:t>
            </a:r>
            <a:r>
              <a:rPr spc="-5" dirty="0"/>
              <a:t>a</a:t>
            </a:r>
            <a:r>
              <a:rPr dirty="0"/>
              <a:t>	</a:t>
            </a:r>
            <a:r>
              <a:rPr spc="-15" dirty="0"/>
              <a:t>p</a:t>
            </a:r>
            <a:r>
              <a:rPr spc="-5" dirty="0"/>
              <a:t>a</a:t>
            </a:r>
            <a:r>
              <a:rPr spc="5" dirty="0"/>
              <a:t>c</a:t>
            </a:r>
            <a:r>
              <a:rPr spc="-30" dirty="0"/>
              <a:t>k</a:t>
            </a:r>
            <a:r>
              <a:rPr spc="-5" dirty="0"/>
              <a:t>a</a:t>
            </a:r>
            <a:r>
              <a:rPr spc="-10" dirty="0"/>
              <a:t>g</a:t>
            </a:r>
            <a:r>
              <a:rPr spc="-5" dirty="0"/>
              <a:t>e</a:t>
            </a:r>
            <a:r>
              <a:rPr dirty="0"/>
              <a:t>	</a:t>
            </a:r>
            <a:r>
              <a:rPr spc="-10" dirty="0">
                <a:solidFill>
                  <a:srgbClr val="702FA0"/>
                </a:solidFill>
              </a:rPr>
              <a:t>c</a:t>
            </a:r>
            <a:r>
              <a:rPr spc="-35" dirty="0">
                <a:solidFill>
                  <a:srgbClr val="702FA0"/>
                </a:solidFill>
              </a:rPr>
              <a:t>r</a:t>
            </a:r>
            <a:r>
              <a:rPr spc="-5" dirty="0">
                <a:solidFill>
                  <a:srgbClr val="702FA0"/>
                </a:solidFill>
              </a:rPr>
              <a:t>e</a:t>
            </a:r>
            <a:r>
              <a:rPr spc="-20" dirty="0">
                <a:solidFill>
                  <a:srgbClr val="702FA0"/>
                </a:solidFill>
              </a:rPr>
              <a:t>a</a:t>
            </a:r>
            <a:r>
              <a:rPr spc="-15" dirty="0">
                <a:solidFill>
                  <a:srgbClr val="702FA0"/>
                </a:solidFill>
              </a:rPr>
              <a:t>t</a:t>
            </a:r>
            <a:r>
              <a:rPr spc="-5" dirty="0">
                <a:solidFill>
                  <a:srgbClr val="702FA0"/>
                </a:solidFill>
              </a:rPr>
              <a:t>ed</a:t>
            </a:r>
            <a:r>
              <a:rPr dirty="0">
                <a:solidFill>
                  <a:srgbClr val="702FA0"/>
                </a:solidFill>
              </a:rPr>
              <a:t>	b</a:t>
            </a:r>
            <a:r>
              <a:rPr spc="-5" dirty="0">
                <a:solidFill>
                  <a:srgbClr val="702FA0"/>
                </a:solidFill>
              </a:rPr>
              <a:t>y</a:t>
            </a:r>
            <a:r>
              <a:rPr dirty="0">
                <a:solidFill>
                  <a:srgbClr val="702FA0"/>
                </a:solidFill>
              </a:rPr>
              <a:t>	</a:t>
            </a:r>
            <a:r>
              <a:rPr spc="-15" dirty="0">
                <a:solidFill>
                  <a:srgbClr val="702FA0"/>
                </a:solidFill>
              </a:rPr>
              <a:t>u</a:t>
            </a:r>
            <a:r>
              <a:rPr spc="-10" dirty="0">
                <a:solidFill>
                  <a:srgbClr val="702FA0"/>
                </a:solidFill>
              </a:rPr>
              <a:t>s</a:t>
            </a:r>
            <a:r>
              <a:rPr spc="-5" dirty="0">
                <a:solidFill>
                  <a:srgbClr val="702FA0"/>
                </a:solidFill>
              </a:rPr>
              <a:t>er</a:t>
            </a:r>
            <a:r>
              <a:rPr dirty="0">
                <a:solidFill>
                  <a:srgbClr val="702FA0"/>
                </a:solidFill>
              </a:rPr>
              <a:t>	</a:t>
            </a:r>
            <a:r>
              <a:rPr spc="-15" dirty="0"/>
              <a:t>t</a:t>
            </a:r>
            <a:r>
              <a:rPr spc="-5" dirty="0"/>
              <a:t>o  </a:t>
            </a:r>
            <a:r>
              <a:rPr spc="-15" dirty="0"/>
              <a:t>categorized</a:t>
            </a:r>
            <a:r>
              <a:rPr spc="-10" dirty="0"/>
              <a:t> </a:t>
            </a:r>
            <a:r>
              <a:rPr spc="-5" dirty="0"/>
              <a:t>classes</a:t>
            </a:r>
            <a:r>
              <a:rPr spc="15" dirty="0"/>
              <a:t> </a:t>
            </a:r>
            <a:r>
              <a:rPr spc="-10" dirty="0"/>
              <a:t>and</a:t>
            </a:r>
            <a:r>
              <a:rPr spc="10" dirty="0"/>
              <a:t> </a:t>
            </a:r>
            <a:r>
              <a:rPr spc="-10" dirty="0"/>
              <a:t>interface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4295" y="1086485"/>
            <a:ext cx="6082665" cy="3323987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27860" y="2313432"/>
            <a:ext cx="3918585" cy="1915795"/>
            <a:chOff x="1927860" y="2313432"/>
            <a:chExt cx="3918585" cy="19157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2432" y="2318004"/>
              <a:ext cx="3909059" cy="190652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27860" y="2313432"/>
              <a:ext cx="3918585" cy="1915795"/>
            </a:xfrm>
            <a:custGeom>
              <a:avLst/>
              <a:gdLst/>
              <a:ahLst/>
              <a:cxnLst/>
              <a:rect l="l" t="t" r="r" b="b"/>
              <a:pathLst>
                <a:path w="3918585" h="1915795">
                  <a:moveTo>
                    <a:pt x="3916680" y="1915668"/>
                  </a:moveTo>
                  <a:lnTo>
                    <a:pt x="1524" y="1915668"/>
                  </a:lnTo>
                  <a:lnTo>
                    <a:pt x="0" y="1914144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916680" y="0"/>
                  </a:lnTo>
                  <a:lnTo>
                    <a:pt x="3918203" y="1524"/>
                  </a:lnTo>
                  <a:lnTo>
                    <a:pt x="3918203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911096"/>
                  </a:lnTo>
                  <a:lnTo>
                    <a:pt x="3048" y="1911096"/>
                  </a:lnTo>
                  <a:lnTo>
                    <a:pt x="4572" y="1912620"/>
                  </a:lnTo>
                  <a:lnTo>
                    <a:pt x="3918203" y="1912620"/>
                  </a:lnTo>
                  <a:lnTo>
                    <a:pt x="3918203" y="1914144"/>
                  </a:lnTo>
                  <a:lnTo>
                    <a:pt x="3916680" y="1915668"/>
                  </a:lnTo>
                  <a:close/>
                </a:path>
                <a:path w="3918585" h="1915795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3918585" h="1915795">
                  <a:moveTo>
                    <a:pt x="3913632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3913632" y="3048"/>
                  </a:lnTo>
                  <a:lnTo>
                    <a:pt x="3913632" y="4572"/>
                  </a:lnTo>
                  <a:close/>
                </a:path>
                <a:path w="3918585" h="1915795">
                  <a:moveTo>
                    <a:pt x="3913632" y="1912620"/>
                  </a:moveTo>
                  <a:lnTo>
                    <a:pt x="3913632" y="3048"/>
                  </a:lnTo>
                  <a:lnTo>
                    <a:pt x="3915156" y="4572"/>
                  </a:lnTo>
                  <a:lnTo>
                    <a:pt x="3918203" y="4572"/>
                  </a:lnTo>
                  <a:lnTo>
                    <a:pt x="3918203" y="1911096"/>
                  </a:lnTo>
                  <a:lnTo>
                    <a:pt x="3915156" y="1911096"/>
                  </a:lnTo>
                  <a:lnTo>
                    <a:pt x="3913632" y="1912620"/>
                  </a:lnTo>
                  <a:close/>
                </a:path>
                <a:path w="3918585" h="1915795">
                  <a:moveTo>
                    <a:pt x="3918203" y="4572"/>
                  </a:moveTo>
                  <a:lnTo>
                    <a:pt x="3915156" y="4572"/>
                  </a:lnTo>
                  <a:lnTo>
                    <a:pt x="3913632" y="3048"/>
                  </a:lnTo>
                  <a:lnTo>
                    <a:pt x="3918203" y="3048"/>
                  </a:lnTo>
                  <a:lnTo>
                    <a:pt x="3918203" y="4572"/>
                  </a:lnTo>
                  <a:close/>
                </a:path>
                <a:path w="3918585" h="1915795">
                  <a:moveTo>
                    <a:pt x="4572" y="1912620"/>
                  </a:moveTo>
                  <a:lnTo>
                    <a:pt x="3048" y="1911096"/>
                  </a:lnTo>
                  <a:lnTo>
                    <a:pt x="4572" y="1911096"/>
                  </a:lnTo>
                  <a:lnTo>
                    <a:pt x="4572" y="1912620"/>
                  </a:lnTo>
                  <a:close/>
                </a:path>
                <a:path w="3918585" h="1915795">
                  <a:moveTo>
                    <a:pt x="3913632" y="1912620"/>
                  </a:moveTo>
                  <a:lnTo>
                    <a:pt x="4572" y="1912620"/>
                  </a:lnTo>
                  <a:lnTo>
                    <a:pt x="4572" y="1911096"/>
                  </a:lnTo>
                  <a:lnTo>
                    <a:pt x="3913632" y="1911096"/>
                  </a:lnTo>
                  <a:lnTo>
                    <a:pt x="3913632" y="1912620"/>
                  </a:lnTo>
                  <a:close/>
                </a:path>
                <a:path w="3918585" h="1915795">
                  <a:moveTo>
                    <a:pt x="3918203" y="1912620"/>
                  </a:moveTo>
                  <a:lnTo>
                    <a:pt x="3913632" y="1912620"/>
                  </a:lnTo>
                  <a:lnTo>
                    <a:pt x="3915156" y="1911096"/>
                  </a:lnTo>
                  <a:lnTo>
                    <a:pt x="3918203" y="1911096"/>
                  </a:lnTo>
                  <a:lnTo>
                    <a:pt x="3918203" y="1912620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457700" y="61354"/>
            <a:ext cx="3280410" cy="396240"/>
          </a:xfrm>
          <a:custGeom>
            <a:avLst/>
            <a:gdLst/>
            <a:ahLst/>
            <a:cxnLst/>
            <a:rect l="l" t="t" r="r" b="b"/>
            <a:pathLst>
              <a:path w="3280409" h="396240">
                <a:moveTo>
                  <a:pt x="3279864" y="0"/>
                </a:moveTo>
                <a:lnTo>
                  <a:pt x="0" y="0"/>
                </a:lnTo>
                <a:lnTo>
                  <a:pt x="0" y="395845"/>
                </a:lnTo>
                <a:lnTo>
                  <a:pt x="3279864" y="395845"/>
                </a:lnTo>
                <a:lnTo>
                  <a:pt x="32798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4ABB7-CDD0-4429-3640-016677E89413}"/>
              </a:ext>
            </a:extLst>
          </p:cNvPr>
          <p:cNvSpPr/>
          <p:nvPr/>
        </p:nvSpPr>
        <p:spPr>
          <a:xfrm>
            <a:off x="2057400" y="2063750"/>
            <a:ext cx="76200" cy="1219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83352"/>
            <a:ext cx="5943600" cy="305929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93675" indent="-181610" algn="just">
              <a:lnSpc>
                <a:spcPct val="100000"/>
              </a:lnSpc>
              <a:spcBef>
                <a:spcPts val="220"/>
              </a:spcBef>
              <a:buSzPct val="93750"/>
              <a:buFont typeface="Wingdings"/>
              <a:buChar char=""/>
              <a:tabLst>
                <a:tab pos="194310" algn="l"/>
              </a:tabLst>
            </a:pPr>
            <a:r>
              <a:rPr b="1" spc="-15" dirty="0">
                <a:solidFill>
                  <a:srgbClr val="FF0000"/>
                </a:solidFill>
                <a:latin typeface="Calibri"/>
                <a:cs typeface="Calibri"/>
              </a:rPr>
              <a:t>Advantage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FF0000"/>
                </a:solidFill>
                <a:latin typeface="Calibri"/>
                <a:cs typeface="Calibri"/>
              </a:rPr>
              <a:t>Package</a:t>
            </a:r>
            <a:endParaRPr dirty="0">
              <a:latin typeface="Calibri"/>
              <a:cs typeface="Calibri"/>
            </a:endParaRPr>
          </a:p>
          <a:p>
            <a:pPr marL="12700" marR="5715" algn="just">
              <a:lnSpc>
                <a:spcPct val="80000"/>
              </a:lnSpc>
              <a:spcBef>
                <a:spcPts val="505"/>
              </a:spcBef>
              <a:buAutoNum type="arabicParenR"/>
              <a:tabLst>
                <a:tab pos="243840" algn="l"/>
              </a:tabLst>
            </a:pPr>
            <a:r>
              <a:rPr spc="-20" dirty="0">
                <a:latin typeface="Calibri"/>
                <a:cs typeface="Calibri"/>
              </a:rPr>
              <a:t>Java </a:t>
            </a:r>
            <a:r>
              <a:rPr spc="-10" dirty="0">
                <a:latin typeface="Calibri"/>
                <a:cs typeface="Calibri"/>
              </a:rPr>
              <a:t>package </a:t>
            </a:r>
            <a:r>
              <a:rPr spc="-5" dirty="0">
                <a:latin typeface="Calibri"/>
                <a:cs typeface="Calibri"/>
              </a:rPr>
              <a:t>is used </a:t>
            </a:r>
            <a:r>
              <a:rPr dirty="0">
                <a:latin typeface="Calibri"/>
                <a:cs typeface="Calibri"/>
              </a:rPr>
              <a:t>to </a:t>
            </a:r>
            <a:r>
              <a:rPr spc="-15" dirty="0">
                <a:solidFill>
                  <a:srgbClr val="702FA0"/>
                </a:solidFill>
                <a:latin typeface="Calibri"/>
                <a:cs typeface="Calibri"/>
              </a:rPr>
              <a:t>categorize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the </a:t>
            </a:r>
            <a:r>
              <a:rPr spc="-5" dirty="0">
                <a:solidFill>
                  <a:srgbClr val="702FA0"/>
                </a:solidFill>
                <a:latin typeface="Calibri"/>
                <a:cs typeface="Calibri"/>
              </a:rPr>
              <a:t>classes and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interfaces </a:t>
            </a:r>
            <a:r>
              <a:rPr spc="-5" dirty="0">
                <a:latin typeface="Calibri"/>
                <a:cs typeface="Calibri"/>
              </a:rPr>
              <a:t>so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that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they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can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easily </a:t>
            </a:r>
            <a:r>
              <a:rPr spc="-5" dirty="0">
                <a:latin typeface="Calibri"/>
                <a:cs typeface="Calibri"/>
              </a:rPr>
              <a:t>maintained.</a:t>
            </a:r>
            <a:endParaRPr dirty="0">
              <a:latin typeface="Calibri"/>
              <a:cs typeface="Calibri"/>
            </a:endParaRPr>
          </a:p>
          <a:p>
            <a:pPr marL="222885" indent="-210820" algn="just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223520" algn="l"/>
              </a:tabLst>
            </a:pPr>
            <a:r>
              <a:rPr spc="-15" dirty="0">
                <a:latin typeface="Calibri"/>
                <a:cs typeface="Calibri"/>
              </a:rPr>
              <a:t>Java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package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provides</a:t>
            </a:r>
            <a:r>
              <a:rPr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702FA0"/>
                </a:solidFill>
                <a:latin typeface="Calibri"/>
                <a:cs typeface="Calibri"/>
              </a:rPr>
              <a:t>access</a:t>
            </a:r>
            <a:r>
              <a:rPr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protection</a:t>
            </a:r>
            <a:r>
              <a:rPr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12700" marR="5080" algn="just">
              <a:lnSpc>
                <a:spcPts val="1540"/>
              </a:lnSpc>
              <a:spcBef>
                <a:spcPts val="490"/>
              </a:spcBef>
              <a:buAutoNum type="arabicParenR"/>
              <a:tabLst>
                <a:tab pos="231775" algn="l"/>
              </a:tabLst>
            </a:pPr>
            <a:r>
              <a:rPr dirty="0">
                <a:latin typeface="Calibri"/>
                <a:cs typeface="Calibri"/>
              </a:rPr>
              <a:t>In </a:t>
            </a:r>
            <a:r>
              <a:rPr spc="-10" dirty="0">
                <a:latin typeface="Calibri"/>
                <a:cs typeface="Calibri"/>
              </a:rPr>
              <a:t>real life </a:t>
            </a:r>
            <a:r>
              <a:rPr spc="-5" dirty="0">
                <a:latin typeface="Calibri"/>
                <a:cs typeface="Calibri"/>
              </a:rPr>
              <a:t>situation </a:t>
            </a:r>
            <a:r>
              <a:rPr spc="-10" dirty="0">
                <a:latin typeface="Calibri"/>
                <a:cs typeface="Calibri"/>
              </a:rPr>
              <a:t>there </a:t>
            </a:r>
            <a:r>
              <a:rPr spc="-15" dirty="0">
                <a:latin typeface="Calibri"/>
                <a:cs typeface="Calibri"/>
              </a:rPr>
              <a:t>may </a:t>
            </a:r>
            <a:r>
              <a:rPr dirty="0">
                <a:latin typeface="Calibri"/>
                <a:cs typeface="Calibri"/>
              </a:rPr>
              <a:t>arise </a:t>
            </a:r>
            <a:r>
              <a:rPr spc="-5" dirty="0">
                <a:latin typeface="Calibri"/>
                <a:cs typeface="Calibri"/>
              </a:rPr>
              <a:t>scenarios </a:t>
            </a:r>
            <a:r>
              <a:rPr spc="-10" dirty="0">
                <a:latin typeface="Calibri"/>
                <a:cs typeface="Calibri"/>
              </a:rPr>
              <a:t>where </a:t>
            </a:r>
            <a:r>
              <a:rPr spc="-15" dirty="0">
                <a:latin typeface="Calibri"/>
                <a:cs typeface="Calibri"/>
              </a:rPr>
              <a:t>we </a:t>
            </a:r>
            <a:r>
              <a:rPr spc="-5" dirty="0">
                <a:latin typeface="Calibri"/>
                <a:cs typeface="Calibri"/>
              </a:rPr>
              <a:t>need </a:t>
            </a:r>
            <a:r>
              <a:rPr spc="-10" dirty="0">
                <a:latin typeface="Calibri"/>
                <a:cs typeface="Calibri"/>
              </a:rPr>
              <a:t>to </a:t>
            </a:r>
            <a:r>
              <a:rPr spc="-5" dirty="0">
                <a:latin typeface="Calibri"/>
                <a:cs typeface="Calibri"/>
              </a:rPr>
              <a:t> define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files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name.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This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may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lead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name-space 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collisions.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Java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package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702FA0"/>
                </a:solidFill>
                <a:latin typeface="Calibri"/>
                <a:cs typeface="Calibri"/>
              </a:rPr>
              <a:t>removes</a:t>
            </a:r>
            <a:r>
              <a:rPr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702FA0"/>
                </a:solidFill>
                <a:latin typeface="Calibri"/>
                <a:cs typeface="Calibri"/>
              </a:rPr>
              <a:t>naming</a:t>
            </a:r>
            <a:r>
              <a:rPr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702FA0"/>
                </a:solidFill>
                <a:latin typeface="Calibri"/>
                <a:cs typeface="Calibri"/>
              </a:rPr>
              <a:t>collision</a:t>
            </a:r>
            <a:r>
              <a:rPr spc="-5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12700" marR="5080" algn="just">
              <a:lnSpc>
                <a:spcPts val="1540"/>
              </a:lnSpc>
              <a:spcBef>
                <a:spcPts val="490"/>
              </a:spcBef>
              <a:buClr>
                <a:srgbClr val="000000"/>
              </a:buClr>
              <a:buAutoNum type="arabicParenR"/>
              <a:tabLst>
                <a:tab pos="266065" algn="l"/>
              </a:tabLst>
            </a:pP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Reusability: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Reusability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code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is </a:t>
            </a:r>
            <a:r>
              <a:rPr spc="-5" dirty="0">
                <a:latin typeface="Calibri"/>
                <a:cs typeface="Calibri"/>
              </a:rPr>
              <a:t>one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most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important 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requirements </a:t>
            </a:r>
            <a:r>
              <a:rPr spc="-5" dirty="0">
                <a:latin typeface="Calibri"/>
                <a:cs typeface="Calibri"/>
              </a:rPr>
              <a:t>in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software </a:t>
            </a:r>
            <a:r>
              <a:rPr spc="-15" dirty="0">
                <a:latin typeface="Calibri"/>
                <a:cs typeface="Calibri"/>
              </a:rPr>
              <a:t>industry. </a:t>
            </a:r>
            <a:r>
              <a:rPr spc="-5" dirty="0">
                <a:latin typeface="Calibri"/>
                <a:cs typeface="Calibri"/>
              </a:rPr>
              <a:t>Reusability </a:t>
            </a:r>
            <a:r>
              <a:rPr spc="-10" dirty="0">
                <a:latin typeface="Calibri"/>
                <a:cs typeface="Calibri"/>
              </a:rPr>
              <a:t>saves </a:t>
            </a:r>
            <a:r>
              <a:rPr spc="-5" dirty="0">
                <a:latin typeface="Calibri"/>
                <a:cs typeface="Calibri"/>
              </a:rPr>
              <a:t>time, </a:t>
            </a:r>
            <a:r>
              <a:rPr spc="-20" dirty="0">
                <a:latin typeface="Calibri"/>
                <a:cs typeface="Calibri"/>
              </a:rPr>
              <a:t>effort 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also </a:t>
            </a:r>
            <a:r>
              <a:rPr spc="-5" dirty="0">
                <a:latin typeface="Calibri"/>
                <a:cs typeface="Calibri"/>
              </a:rPr>
              <a:t>ensures </a:t>
            </a:r>
            <a:r>
              <a:rPr spc="-15" dirty="0">
                <a:latin typeface="Calibri"/>
                <a:cs typeface="Calibri"/>
              </a:rPr>
              <a:t>consistency. </a:t>
            </a:r>
            <a:r>
              <a:rPr spc="-5" dirty="0">
                <a:latin typeface="Calibri"/>
                <a:cs typeface="Calibri"/>
              </a:rPr>
              <a:t>A class once developed can </a:t>
            </a:r>
            <a:r>
              <a:rPr dirty="0">
                <a:latin typeface="Calibri"/>
                <a:cs typeface="Calibri"/>
              </a:rPr>
              <a:t>be </a:t>
            </a:r>
            <a:r>
              <a:rPr spc="-10" dirty="0">
                <a:latin typeface="Calibri"/>
                <a:cs typeface="Calibri"/>
              </a:rPr>
              <a:t>reused 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by any </a:t>
            </a:r>
            <a:r>
              <a:rPr spc="-5" dirty="0">
                <a:latin typeface="Calibri"/>
                <a:cs typeface="Calibri"/>
              </a:rPr>
              <a:t>number of </a:t>
            </a:r>
            <a:r>
              <a:rPr spc="-10" dirty="0">
                <a:latin typeface="Calibri"/>
                <a:cs typeface="Calibri"/>
              </a:rPr>
              <a:t>programs </a:t>
            </a:r>
            <a:r>
              <a:rPr spc="-5" dirty="0">
                <a:latin typeface="Calibri"/>
                <a:cs typeface="Calibri"/>
              </a:rPr>
              <a:t>wishing </a:t>
            </a:r>
            <a:r>
              <a:rPr dirty="0">
                <a:latin typeface="Calibri"/>
                <a:cs typeface="Calibri"/>
              </a:rPr>
              <a:t>to </a:t>
            </a:r>
            <a:r>
              <a:rPr spc="-10" dirty="0">
                <a:latin typeface="Calibri"/>
                <a:cs typeface="Calibri"/>
              </a:rPr>
              <a:t>incorporate </a:t>
            </a:r>
            <a:r>
              <a:rPr spc="-5" dirty="0">
                <a:latin typeface="Calibri"/>
                <a:cs typeface="Calibri"/>
              </a:rPr>
              <a:t>the class in that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particular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program.</a:t>
            </a:r>
            <a:endParaRPr dirty="0">
              <a:latin typeface="Calibri"/>
              <a:cs typeface="Calibri"/>
            </a:endParaRPr>
          </a:p>
          <a:p>
            <a:pPr marL="222885" indent="-210820" algn="just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223520" algn="l"/>
              </a:tabLst>
            </a:pPr>
            <a:r>
              <a:rPr spc="-15" dirty="0">
                <a:latin typeface="Calibri"/>
                <a:cs typeface="Calibri"/>
              </a:rPr>
              <a:t>Easy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locate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files.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482466"/>
            <a:ext cx="6094730" cy="3427729"/>
            <a:chOff x="838200" y="482466"/>
            <a:chExt cx="6094730" cy="3427729"/>
          </a:xfrm>
        </p:grpSpPr>
        <p:sp>
          <p:nvSpPr>
            <p:cNvPr id="11" name="object 11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500" y="3725910"/>
              <a:ext cx="3167380" cy="107314"/>
            </a:xfrm>
            <a:custGeom>
              <a:avLst/>
              <a:gdLst/>
              <a:ahLst/>
              <a:cxnLst/>
              <a:rect l="l" t="t" r="r" b="b"/>
              <a:pathLst>
                <a:path w="3167379" h="107314">
                  <a:moveTo>
                    <a:pt x="3166765" y="0"/>
                  </a:moveTo>
                  <a:lnTo>
                    <a:pt x="0" y="0"/>
                  </a:lnTo>
                  <a:lnTo>
                    <a:pt x="0" y="106815"/>
                  </a:lnTo>
                  <a:lnTo>
                    <a:pt x="3166765" y="106815"/>
                  </a:lnTo>
                  <a:lnTo>
                    <a:pt x="3166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76200" y="4482828"/>
            <a:ext cx="2978785" cy="226695"/>
          </a:xfrm>
          <a:custGeom>
            <a:avLst/>
            <a:gdLst/>
            <a:ahLst/>
            <a:cxnLst/>
            <a:rect l="l" t="t" r="r" b="b"/>
            <a:pathLst>
              <a:path w="2978785" h="226695">
                <a:moveTo>
                  <a:pt x="2978267" y="0"/>
                </a:moveTo>
                <a:lnTo>
                  <a:pt x="0" y="0"/>
                </a:lnTo>
                <a:lnTo>
                  <a:pt x="0" y="226197"/>
                </a:lnTo>
                <a:lnTo>
                  <a:pt x="2978267" y="226197"/>
                </a:lnTo>
                <a:lnTo>
                  <a:pt x="29782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E501E-B035-87D2-4ABD-0025FF715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1" y="0"/>
            <a:ext cx="7189658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7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295" y="1073150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r>
              <a:rPr sz="60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91055" y="1530350"/>
            <a:ext cx="4592320" cy="2543810"/>
            <a:chOff x="1591055" y="1527047"/>
            <a:chExt cx="4592320" cy="25438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5627" y="1531620"/>
              <a:ext cx="4582667" cy="25344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91055" y="1527047"/>
              <a:ext cx="4592320" cy="2543810"/>
            </a:xfrm>
            <a:custGeom>
              <a:avLst/>
              <a:gdLst/>
              <a:ahLst/>
              <a:cxnLst/>
              <a:rect l="l" t="t" r="r" b="b"/>
              <a:pathLst>
                <a:path w="4592320" h="2543810">
                  <a:moveTo>
                    <a:pt x="4591812" y="2543556"/>
                  </a:moveTo>
                  <a:lnTo>
                    <a:pt x="0" y="2543556"/>
                  </a:lnTo>
                  <a:lnTo>
                    <a:pt x="0" y="0"/>
                  </a:lnTo>
                  <a:lnTo>
                    <a:pt x="4591812" y="0"/>
                  </a:lnTo>
                  <a:lnTo>
                    <a:pt x="4591812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2538984"/>
                  </a:lnTo>
                  <a:lnTo>
                    <a:pt x="1524" y="2538984"/>
                  </a:lnTo>
                  <a:lnTo>
                    <a:pt x="4572" y="2542032"/>
                  </a:lnTo>
                  <a:lnTo>
                    <a:pt x="4591812" y="2542032"/>
                  </a:lnTo>
                  <a:lnTo>
                    <a:pt x="4591812" y="2543556"/>
                  </a:lnTo>
                  <a:close/>
                </a:path>
                <a:path w="4592320" h="2543810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4592320" h="2543810">
                  <a:moveTo>
                    <a:pt x="458724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4587240" y="1524"/>
                  </a:lnTo>
                  <a:lnTo>
                    <a:pt x="4587240" y="4572"/>
                  </a:lnTo>
                  <a:close/>
                </a:path>
                <a:path w="4592320" h="2543810">
                  <a:moveTo>
                    <a:pt x="4587240" y="2542032"/>
                  </a:moveTo>
                  <a:lnTo>
                    <a:pt x="4587240" y="1524"/>
                  </a:lnTo>
                  <a:lnTo>
                    <a:pt x="4590288" y="4572"/>
                  </a:lnTo>
                  <a:lnTo>
                    <a:pt x="4591812" y="4572"/>
                  </a:lnTo>
                  <a:lnTo>
                    <a:pt x="4591812" y="2538984"/>
                  </a:lnTo>
                  <a:lnTo>
                    <a:pt x="4590288" y="2538984"/>
                  </a:lnTo>
                  <a:lnTo>
                    <a:pt x="4587240" y="2542032"/>
                  </a:lnTo>
                  <a:close/>
                </a:path>
                <a:path w="4592320" h="2543810">
                  <a:moveTo>
                    <a:pt x="4591812" y="4572"/>
                  </a:moveTo>
                  <a:lnTo>
                    <a:pt x="4590288" y="4572"/>
                  </a:lnTo>
                  <a:lnTo>
                    <a:pt x="4587240" y="1524"/>
                  </a:lnTo>
                  <a:lnTo>
                    <a:pt x="4591812" y="1524"/>
                  </a:lnTo>
                  <a:lnTo>
                    <a:pt x="4591812" y="4572"/>
                  </a:lnTo>
                  <a:close/>
                </a:path>
                <a:path w="4592320" h="2543810">
                  <a:moveTo>
                    <a:pt x="4572" y="2542032"/>
                  </a:moveTo>
                  <a:lnTo>
                    <a:pt x="1524" y="2538984"/>
                  </a:lnTo>
                  <a:lnTo>
                    <a:pt x="4572" y="2538984"/>
                  </a:lnTo>
                  <a:lnTo>
                    <a:pt x="4572" y="2542032"/>
                  </a:lnTo>
                  <a:close/>
                </a:path>
                <a:path w="4592320" h="2543810">
                  <a:moveTo>
                    <a:pt x="4587240" y="2542032"/>
                  </a:moveTo>
                  <a:lnTo>
                    <a:pt x="4572" y="2542032"/>
                  </a:lnTo>
                  <a:lnTo>
                    <a:pt x="4572" y="2538984"/>
                  </a:lnTo>
                  <a:lnTo>
                    <a:pt x="4587240" y="2538984"/>
                  </a:lnTo>
                  <a:lnTo>
                    <a:pt x="4587240" y="2542032"/>
                  </a:lnTo>
                  <a:close/>
                </a:path>
                <a:path w="4592320" h="2543810">
                  <a:moveTo>
                    <a:pt x="4591812" y="2542032"/>
                  </a:moveTo>
                  <a:lnTo>
                    <a:pt x="4587240" y="2542032"/>
                  </a:lnTo>
                  <a:lnTo>
                    <a:pt x="4590288" y="2538984"/>
                  </a:lnTo>
                  <a:lnTo>
                    <a:pt x="4591812" y="2538984"/>
                  </a:lnTo>
                  <a:lnTo>
                    <a:pt x="4591812" y="2542032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470400" y="105470"/>
            <a:ext cx="3267710" cy="364490"/>
          </a:xfrm>
          <a:custGeom>
            <a:avLst/>
            <a:gdLst/>
            <a:ahLst/>
            <a:cxnLst/>
            <a:rect l="l" t="t" r="r" b="b"/>
            <a:pathLst>
              <a:path w="3267709" h="364490">
                <a:moveTo>
                  <a:pt x="3267298" y="0"/>
                </a:moveTo>
                <a:lnTo>
                  <a:pt x="0" y="0"/>
                </a:lnTo>
                <a:lnTo>
                  <a:pt x="0" y="364429"/>
                </a:lnTo>
                <a:lnTo>
                  <a:pt x="3267298" y="364429"/>
                </a:lnTo>
                <a:lnTo>
                  <a:pt x="32672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272" y="645533"/>
            <a:ext cx="5699760" cy="303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40" indent="-162560">
              <a:lnSpc>
                <a:spcPts val="1710"/>
              </a:lnSpc>
              <a:buSzPct val="93750"/>
              <a:buFont typeface="Wingdings"/>
              <a:buChar char=""/>
              <a:tabLst>
                <a:tab pos="206375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from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library,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we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need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158115">
              <a:lnSpc>
                <a:spcPts val="1825"/>
              </a:lnSpc>
            </a:pP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import</a:t>
            </a:r>
            <a:r>
              <a:rPr sz="1600" b="1"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keyword:</a:t>
            </a:r>
            <a:endParaRPr sz="16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300"/>
              </a:spcBef>
            </a:pP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Syntax: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 marL="89535" marR="3088640" indent="-45720">
              <a:lnSpc>
                <a:spcPct val="115700"/>
              </a:lnSpc>
              <a:spcBef>
                <a:spcPts val="1110"/>
              </a:spcBef>
              <a:buSzPct val="93750"/>
              <a:buFont typeface="Wingdings"/>
              <a:buChar char=""/>
              <a:tabLst>
                <a:tab pos="206375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package </a:t>
            </a:r>
            <a:r>
              <a:rPr sz="1600" spc="-20" dirty="0">
                <a:latin typeface="Calibri"/>
                <a:cs typeface="Calibri"/>
              </a:rPr>
              <a:t>keyword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used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000" y="488309"/>
            <a:ext cx="6164961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41195" y="1073150"/>
            <a:ext cx="4840605" cy="2766060"/>
            <a:chOff x="1716024" y="1117974"/>
            <a:chExt cx="4840605" cy="27660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0596" y="1122546"/>
              <a:ext cx="4597907" cy="7452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16024" y="1117974"/>
              <a:ext cx="4607560" cy="754380"/>
            </a:xfrm>
            <a:custGeom>
              <a:avLst/>
              <a:gdLst/>
              <a:ahLst/>
              <a:cxnLst/>
              <a:rect l="l" t="t" r="r" b="b"/>
              <a:pathLst>
                <a:path w="4607560" h="754380">
                  <a:moveTo>
                    <a:pt x="4607052" y="754379"/>
                  </a:moveTo>
                  <a:lnTo>
                    <a:pt x="1524" y="754379"/>
                  </a:lnTo>
                  <a:lnTo>
                    <a:pt x="0" y="75285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4607052" y="0"/>
                  </a:lnTo>
                  <a:lnTo>
                    <a:pt x="460705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749808"/>
                  </a:lnTo>
                  <a:lnTo>
                    <a:pt x="3048" y="749808"/>
                  </a:lnTo>
                  <a:lnTo>
                    <a:pt x="4572" y="751332"/>
                  </a:lnTo>
                  <a:lnTo>
                    <a:pt x="4607052" y="751332"/>
                  </a:lnTo>
                  <a:lnTo>
                    <a:pt x="4607052" y="754379"/>
                  </a:lnTo>
                  <a:close/>
                </a:path>
                <a:path w="4607560" h="75438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4607560" h="754380">
                  <a:moveTo>
                    <a:pt x="460248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4602480" y="3048"/>
                  </a:lnTo>
                  <a:lnTo>
                    <a:pt x="4602480" y="4572"/>
                  </a:lnTo>
                  <a:close/>
                </a:path>
                <a:path w="4607560" h="754380">
                  <a:moveTo>
                    <a:pt x="4602480" y="751332"/>
                  </a:moveTo>
                  <a:lnTo>
                    <a:pt x="4602480" y="3048"/>
                  </a:lnTo>
                  <a:lnTo>
                    <a:pt x="4605528" y="4572"/>
                  </a:lnTo>
                  <a:lnTo>
                    <a:pt x="4607052" y="4572"/>
                  </a:lnTo>
                  <a:lnTo>
                    <a:pt x="4607052" y="749808"/>
                  </a:lnTo>
                  <a:lnTo>
                    <a:pt x="4605528" y="749808"/>
                  </a:lnTo>
                  <a:lnTo>
                    <a:pt x="4602480" y="751332"/>
                  </a:lnTo>
                  <a:close/>
                </a:path>
                <a:path w="4607560" h="754380">
                  <a:moveTo>
                    <a:pt x="4607052" y="4572"/>
                  </a:moveTo>
                  <a:lnTo>
                    <a:pt x="4605528" y="4572"/>
                  </a:lnTo>
                  <a:lnTo>
                    <a:pt x="4602480" y="3048"/>
                  </a:lnTo>
                  <a:lnTo>
                    <a:pt x="4607052" y="3048"/>
                  </a:lnTo>
                  <a:lnTo>
                    <a:pt x="4607052" y="4572"/>
                  </a:lnTo>
                  <a:close/>
                </a:path>
                <a:path w="4607560" h="754380">
                  <a:moveTo>
                    <a:pt x="4572" y="751332"/>
                  </a:moveTo>
                  <a:lnTo>
                    <a:pt x="3048" y="749808"/>
                  </a:lnTo>
                  <a:lnTo>
                    <a:pt x="4572" y="749808"/>
                  </a:lnTo>
                  <a:lnTo>
                    <a:pt x="4572" y="751332"/>
                  </a:lnTo>
                  <a:close/>
                </a:path>
                <a:path w="4607560" h="754380">
                  <a:moveTo>
                    <a:pt x="4602480" y="751332"/>
                  </a:moveTo>
                  <a:lnTo>
                    <a:pt x="4572" y="751332"/>
                  </a:lnTo>
                  <a:lnTo>
                    <a:pt x="4572" y="749808"/>
                  </a:lnTo>
                  <a:lnTo>
                    <a:pt x="4602480" y="749808"/>
                  </a:lnTo>
                  <a:lnTo>
                    <a:pt x="4602480" y="751332"/>
                  </a:lnTo>
                  <a:close/>
                </a:path>
                <a:path w="4607560" h="754380">
                  <a:moveTo>
                    <a:pt x="4607052" y="751332"/>
                  </a:moveTo>
                  <a:lnTo>
                    <a:pt x="4602480" y="751332"/>
                  </a:lnTo>
                  <a:lnTo>
                    <a:pt x="4605528" y="749808"/>
                  </a:lnTo>
                  <a:lnTo>
                    <a:pt x="4607052" y="749808"/>
                  </a:lnTo>
                  <a:lnTo>
                    <a:pt x="4607052" y="751332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6848" y="2030849"/>
              <a:ext cx="2814827" cy="156514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32276" y="2024754"/>
              <a:ext cx="2824480" cy="1576070"/>
            </a:xfrm>
            <a:custGeom>
              <a:avLst/>
              <a:gdLst/>
              <a:ahLst/>
              <a:cxnLst/>
              <a:rect l="l" t="t" r="r" b="b"/>
              <a:pathLst>
                <a:path w="2824479" h="1576070">
                  <a:moveTo>
                    <a:pt x="2822448" y="1575815"/>
                  </a:moveTo>
                  <a:lnTo>
                    <a:pt x="1524" y="1575815"/>
                  </a:lnTo>
                  <a:lnTo>
                    <a:pt x="0" y="157429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822448" y="0"/>
                  </a:lnTo>
                  <a:lnTo>
                    <a:pt x="2823972" y="1524"/>
                  </a:lnTo>
                  <a:lnTo>
                    <a:pt x="2823972" y="3048"/>
                  </a:lnTo>
                  <a:lnTo>
                    <a:pt x="4572" y="3048"/>
                  </a:lnTo>
                  <a:lnTo>
                    <a:pt x="1524" y="6096"/>
                  </a:lnTo>
                  <a:lnTo>
                    <a:pt x="4572" y="6096"/>
                  </a:lnTo>
                  <a:lnTo>
                    <a:pt x="4572" y="1571244"/>
                  </a:lnTo>
                  <a:lnTo>
                    <a:pt x="1524" y="1571244"/>
                  </a:lnTo>
                  <a:lnTo>
                    <a:pt x="4572" y="1572768"/>
                  </a:lnTo>
                  <a:lnTo>
                    <a:pt x="2823972" y="1572768"/>
                  </a:lnTo>
                  <a:lnTo>
                    <a:pt x="2823972" y="1574292"/>
                  </a:lnTo>
                  <a:lnTo>
                    <a:pt x="2822448" y="1575815"/>
                  </a:lnTo>
                  <a:close/>
                </a:path>
                <a:path w="2824479" h="1576070">
                  <a:moveTo>
                    <a:pt x="4572" y="6096"/>
                  </a:moveTo>
                  <a:lnTo>
                    <a:pt x="1524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2824479" h="1576070">
                  <a:moveTo>
                    <a:pt x="2819400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2819400" y="3048"/>
                  </a:lnTo>
                  <a:lnTo>
                    <a:pt x="2819400" y="6096"/>
                  </a:lnTo>
                  <a:close/>
                </a:path>
                <a:path w="2824479" h="1576070">
                  <a:moveTo>
                    <a:pt x="2819400" y="1572768"/>
                  </a:moveTo>
                  <a:lnTo>
                    <a:pt x="2819400" y="3048"/>
                  </a:lnTo>
                  <a:lnTo>
                    <a:pt x="2820924" y="6096"/>
                  </a:lnTo>
                  <a:lnTo>
                    <a:pt x="2823972" y="6096"/>
                  </a:lnTo>
                  <a:lnTo>
                    <a:pt x="2823972" y="1571244"/>
                  </a:lnTo>
                  <a:lnTo>
                    <a:pt x="2820924" y="1571244"/>
                  </a:lnTo>
                  <a:lnTo>
                    <a:pt x="2819400" y="1572768"/>
                  </a:lnTo>
                  <a:close/>
                </a:path>
                <a:path w="2824479" h="1576070">
                  <a:moveTo>
                    <a:pt x="2823972" y="6096"/>
                  </a:moveTo>
                  <a:lnTo>
                    <a:pt x="2820924" y="6096"/>
                  </a:lnTo>
                  <a:lnTo>
                    <a:pt x="2819400" y="3048"/>
                  </a:lnTo>
                  <a:lnTo>
                    <a:pt x="2823972" y="3048"/>
                  </a:lnTo>
                  <a:lnTo>
                    <a:pt x="2823972" y="6096"/>
                  </a:lnTo>
                  <a:close/>
                </a:path>
                <a:path w="2824479" h="1576070">
                  <a:moveTo>
                    <a:pt x="4572" y="1572768"/>
                  </a:moveTo>
                  <a:lnTo>
                    <a:pt x="1524" y="1571244"/>
                  </a:lnTo>
                  <a:lnTo>
                    <a:pt x="4572" y="1571244"/>
                  </a:lnTo>
                  <a:lnTo>
                    <a:pt x="4572" y="1572768"/>
                  </a:lnTo>
                  <a:close/>
                </a:path>
                <a:path w="2824479" h="1576070">
                  <a:moveTo>
                    <a:pt x="2819400" y="1572768"/>
                  </a:moveTo>
                  <a:lnTo>
                    <a:pt x="4572" y="1572768"/>
                  </a:lnTo>
                  <a:lnTo>
                    <a:pt x="4572" y="1571244"/>
                  </a:lnTo>
                  <a:lnTo>
                    <a:pt x="2819400" y="1571244"/>
                  </a:lnTo>
                  <a:lnTo>
                    <a:pt x="2819400" y="1572768"/>
                  </a:lnTo>
                  <a:close/>
                </a:path>
                <a:path w="2824479" h="1576070">
                  <a:moveTo>
                    <a:pt x="2823972" y="1572768"/>
                  </a:moveTo>
                  <a:lnTo>
                    <a:pt x="2819400" y="1572768"/>
                  </a:lnTo>
                  <a:lnTo>
                    <a:pt x="2820924" y="1571244"/>
                  </a:lnTo>
                  <a:lnTo>
                    <a:pt x="2823972" y="1571244"/>
                  </a:lnTo>
                  <a:lnTo>
                    <a:pt x="2823972" y="1572768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11500" y="3720161"/>
              <a:ext cx="3179445" cy="163830"/>
            </a:xfrm>
            <a:custGeom>
              <a:avLst/>
              <a:gdLst/>
              <a:ahLst/>
              <a:cxnLst/>
              <a:rect l="l" t="t" r="r" b="b"/>
              <a:pathLst>
                <a:path w="3179445" h="163829">
                  <a:moveTo>
                    <a:pt x="3179332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179332" y="163364"/>
                  </a:lnTo>
                  <a:lnTo>
                    <a:pt x="317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76200" y="4464646"/>
            <a:ext cx="2966085" cy="307975"/>
          </a:xfrm>
          <a:custGeom>
            <a:avLst/>
            <a:gdLst/>
            <a:ahLst/>
            <a:cxnLst/>
            <a:rect l="l" t="t" r="r" b="b"/>
            <a:pathLst>
              <a:path w="2966085" h="307975">
                <a:moveTo>
                  <a:pt x="2965701" y="0"/>
                </a:moveTo>
                <a:lnTo>
                  <a:pt x="0" y="0"/>
                </a:lnTo>
                <a:lnTo>
                  <a:pt x="0" y="307880"/>
                </a:lnTo>
                <a:lnTo>
                  <a:pt x="2965701" y="307880"/>
                </a:lnTo>
                <a:lnTo>
                  <a:pt x="29657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27951" y="1258326"/>
            <a:ext cx="3707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02FA0"/>
                </a:solidFill>
              </a:rPr>
              <a:t>Access</a:t>
            </a:r>
            <a:r>
              <a:rPr sz="1800" spc="-10" dirty="0">
                <a:solidFill>
                  <a:srgbClr val="702FA0"/>
                </a:solidFill>
              </a:rPr>
              <a:t> </a:t>
            </a:r>
            <a:r>
              <a:rPr sz="1800" spc="-15" dirty="0">
                <a:solidFill>
                  <a:srgbClr val="702FA0"/>
                </a:solidFill>
              </a:rPr>
              <a:t>Packages</a:t>
            </a:r>
            <a:r>
              <a:rPr sz="1800" spc="-10" dirty="0">
                <a:solidFill>
                  <a:srgbClr val="702FA0"/>
                </a:solidFill>
              </a:rPr>
              <a:t> from</a:t>
            </a:r>
            <a:r>
              <a:rPr sz="1800" spc="5" dirty="0">
                <a:solidFill>
                  <a:srgbClr val="702FA0"/>
                </a:solidFill>
              </a:rPr>
              <a:t> </a:t>
            </a:r>
            <a:r>
              <a:rPr sz="1800" spc="-5" dirty="0">
                <a:solidFill>
                  <a:srgbClr val="702FA0"/>
                </a:solidFill>
              </a:rPr>
              <a:t>another </a:t>
            </a:r>
            <a:r>
              <a:rPr sz="1800" spc="-10" dirty="0">
                <a:solidFill>
                  <a:srgbClr val="702FA0"/>
                </a:solidFill>
              </a:rPr>
              <a:t>package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1064787" y="1573790"/>
            <a:ext cx="5633720" cy="26250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ways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access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from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outside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the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package.</a:t>
            </a:r>
            <a:endParaRPr sz="16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285"/>
              </a:spcBef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import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package.*;</a:t>
            </a:r>
            <a:endParaRPr sz="1600" dirty="0">
              <a:latin typeface="Calibri"/>
              <a:cs typeface="Calibri"/>
            </a:endParaRPr>
          </a:p>
          <a:p>
            <a:pPr marL="518159" marR="2865755">
              <a:lnSpc>
                <a:spcPct val="115599"/>
              </a:lnSpc>
              <a:spcBef>
                <a:spcPts val="10"/>
              </a:spcBef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import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package.classname; </a:t>
            </a:r>
            <a:r>
              <a:rPr sz="1600" spc="-3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fully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qualified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1.</a:t>
            </a:r>
            <a:r>
              <a:rPr sz="1600" b="1" spc="7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Using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packagename.*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>
              <a:lnSpc>
                <a:spcPts val="1730"/>
              </a:lnSpc>
              <a:spcBef>
                <a:spcPts val="525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packagename.*</a:t>
            </a:r>
            <a:r>
              <a:rPr sz="1600" b="1" spc="2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all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classes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will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accessible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not</a:t>
            </a:r>
            <a:r>
              <a:rPr sz="1600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subpackages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27000" marR="5715" indent="-114935">
              <a:lnSpc>
                <a:spcPts val="1730"/>
              </a:lnSpc>
              <a:spcBef>
                <a:spcPts val="49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“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import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”</a:t>
            </a:r>
            <a:r>
              <a:rPr sz="1600" b="1" spc="1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used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make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classes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another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accessible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current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1127760"/>
            <a:ext cx="6094730" cy="3427729"/>
            <a:chOff x="838200" y="1127760"/>
            <a:chExt cx="6094730" cy="3427729"/>
          </a:xfrm>
        </p:grpSpPr>
        <p:sp>
          <p:nvSpPr>
            <p:cNvPr id="12" name="object 12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49600" y="4376684"/>
              <a:ext cx="3116580" cy="144780"/>
            </a:xfrm>
            <a:custGeom>
              <a:avLst/>
              <a:gdLst/>
              <a:ahLst/>
              <a:cxnLst/>
              <a:rect l="l" t="t" r="r" b="b"/>
              <a:pathLst>
                <a:path w="3116579" h="144779">
                  <a:moveTo>
                    <a:pt x="3116499" y="0"/>
                  </a:moveTo>
                  <a:lnTo>
                    <a:pt x="0" y="0"/>
                  </a:lnTo>
                  <a:lnTo>
                    <a:pt x="0" y="144515"/>
                  </a:lnTo>
                  <a:lnTo>
                    <a:pt x="3116499" y="144515"/>
                  </a:lnTo>
                  <a:lnTo>
                    <a:pt x="31164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457700" y="67904"/>
            <a:ext cx="3223895" cy="415290"/>
          </a:xfrm>
          <a:custGeom>
            <a:avLst/>
            <a:gdLst/>
            <a:ahLst/>
            <a:cxnLst/>
            <a:rect l="l" t="t" r="r" b="b"/>
            <a:pathLst>
              <a:path w="3223895" h="415290">
                <a:moveTo>
                  <a:pt x="3223315" y="0"/>
                </a:moveTo>
                <a:lnTo>
                  <a:pt x="0" y="0"/>
                </a:lnTo>
                <a:lnTo>
                  <a:pt x="0" y="414695"/>
                </a:lnTo>
                <a:lnTo>
                  <a:pt x="3223315" y="414695"/>
                </a:lnTo>
                <a:lnTo>
                  <a:pt x="32233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0E7F01-D9AE-AB9E-5B26-9F61E1D2427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3962400" y="615950"/>
            <a:ext cx="3733800" cy="4308872"/>
          </a:xfrm>
          <a:ln>
            <a:solidFill>
              <a:srgbClr val="C00000"/>
            </a:solidFill>
          </a:ln>
        </p:spPr>
        <p:txBody>
          <a:bodyPr/>
          <a:lstStyle/>
          <a:p>
            <a:r>
              <a:rPr lang="en-US" sz="2800" b="1" dirty="0"/>
              <a:t>//save as B.java</a:t>
            </a:r>
          </a:p>
          <a:p>
            <a:endParaRPr lang="en-US" sz="2800" b="1" dirty="0"/>
          </a:p>
          <a:p>
            <a:r>
              <a:rPr lang="en-US" sz="2800" b="1" dirty="0"/>
              <a:t>package </a:t>
            </a:r>
            <a:r>
              <a:rPr lang="en-US" sz="2800" b="1" dirty="0" err="1"/>
              <a:t>mypack</a:t>
            </a:r>
            <a:r>
              <a:rPr lang="en-US" sz="2800" b="1" dirty="0"/>
              <a:t>;</a:t>
            </a:r>
          </a:p>
          <a:p>
            <a:r>
              <a:rPr lang="en-US" sz="2800" b="1" dirty="0"/>
              <a:t>import pack.*;</a:t>
            </a:r>
          </a:p>
          <a:p>
            <a:r>
              <a:rPr lang="en-US" sz="2800" b="1" dirty="0"/>
              <a:t>class B{</a:t>
            </a:r>
          </a:p>
          <a:p>
            <a:r>
              <a:rPr lang="en-US" sz="2800" b="1" dirty="0"/>
              <a:t>public static void main(String </a:t>
            </a:r>
            <a:r>
              <a:rPr lang="en-US" sz="2800" b="1" dirty="0" err="1"/>
              <a:t>args</a:t>
            </a:r>
            <a:r>
              <a:rPr lang="en-US" sz="2800" b="1" dirty="0"/>
              <a:t>[]){</a:t>
            </a:r>
          </a:p>
          <a:p>
            <a:r>
              <a:rPr lang="en-US" sz="2800" b="1" dirty="0"/>
              <a:t>A obj = new A();</a:t>
            </a:r>
          </a:p>
          <a:p>
            <a:r>
              <a:rPr lang="en-US" sz="2800" b="1" dirty="0"/>
              <a:t>obj.msg();</a:t>
            </a:r>
          </a:p>
          <a:p>
            <a:r>
              <a:rPr lang="en-US" sz="2800" b="1" dirty="0"/>
              <a:t>} }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07C7FC-8D32-4744-F081-2C6D3A7E1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615950"/>
            <a:ext cx="3886200" cy="4739759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sz="2800" b="1" dirty="0"/>
              <a:t>//save as A.java</a:t>
            </a:r>
          </a:p>
          <a:p>
            <a:endParaRPr lang="en-US" sz="2800" b="1" dirty="0"/>
          </a:p>
          <a:p>
            <a:r>
              <a:rPr lang="en-US" sz="2800" b="1" dirty="0"/>
              <a:t>package pack;</a:t>
            </a:r>
          </a:p>
          <a:p>
            <a:r>
              <a:rPr lang="en-US" sz="2800" b="1" dirty="0"/>
              <a:t>public class A{</a:t>
            </a:r>
          </a:p>
          <a:p>
            <a:r>
              <a:rPr lang="en-US" sz="2800" b="1" dirty="0"/>
              <a:t>public void msg()</a:t>
            </a:r>
          </a:p>
          <a:p>
            <a:r>
              <a:rPr lang="en-US" sz="2800" b="1" dirty="0"/>
              <a:t>{</a:t>
            </a:r>
          </a:p>
          <a:p>
            <a:r>
              <a:rPr lang="en-US" sz="2800" b="1" dirty="0"/>
              <a:t>  </a:t>
            </a:r>
            <a:r>
              <a:rPr lang="en-US" sz="2800" b="1" dirty="0" err="1"/>
              <a:t>System.out.println</a:t>
            </a:r>
            <a:r>
              <a:rPr lang="en-US" sz="2800" b="1" dirty="0"/>
              <a:t>("Hai");</a:t>
            </a:r>
          </a:p>
          <a:p>
            <a:r>
              <a:rPr lang="en-US" sz="2800" b="1" dirty="0"/>
              <a:t> } }</a:t>
            </a:r>
          </a:p>
          <a:p>
            <a:endParaRPr lang="en-US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666F6-53E5-DFED-C0F9-FF01280DD963}"/>
              </a:ext>
            </a:extLst>
          </p:cNvPr>
          <p:cNvSpPr txBox="1"/>
          <p:nvPr/>
        </p:nvSpPr>
        <p:spPr>
          <a:xfrm>
            <a:off x="228600" y="82550"/>
            <a:ext cx="559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of package that import the packagename.*</a:t>
            </a:r>
          </a:p>
        </p:txBody>
      </p:sp>
    </p:spTree>
    <p:extLst>
      <p:ext uri="{BB962C8B-B14F-4D97-AF65-F5344CB8AC3E}">
        <p14:creationId xmlns:p14="http://schemas.microsoft.com/office/powerpoint/2010/main" val="400429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0E7F01-D9AE-AB9E-5B26-9F61E1D2427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3581400" y="1301750"/>
            <a:ext cx="4114800" cy="3693319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sz="2400" b="1" dirty="0"/>
              <a:t>//save as B.java</a:t>
            </a:r>
          </a:p>
          <a:p>
            <a:endParaRPr lang="en-US" sz="2400" b="1" dirty="0"/>
          </a:p>
          <a:p>
            <a:r>
              <a:rPr lang="en-US" sz="2400" b="1" dirty="0"/>
              <a:t>package </a:t>
            </a:r>
            <a:r>
              <a:rPr lang="en-US" sz="2400" b="1" dirty="0" err="1"/>
              <a:t>mypack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import </a:t>
            </a:r>
            <a:r>
              <a:rPr lang="en-US" sz="2400" b="1" dirty="0" err="1">
                <a:solidFill>
                  <a:srgbClr val="FF0000"/>
                </a:solidFill>
              </a:rPr>
              <a:t>pack.A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class B{</a:t>
            </a:r>
          </a:p>
          <a:p>
            <a:r>
              <a:rPr lang="en-US" sz="2400" b="1" dirty="0"/>
              <a:t>public static void main</a:t>
            </a:r>
          </a:p>
          <a:p>
            <a:r>
              <a:rPr lang="en-US" sz="2400" b="1" dirty="0"/>
              <a:t>		(String </a:t>
            </a:r>
            <a:r>
              <a:rPr lang="en-US" sz="2400" b="1" dirty="0" err="1"/>
              <a:t>args</a:t>
            </a:r>
            <a:r>
              <a:rPr lang="en-US" sz="2400" b="1" dirty="0"/>
              <a:t>[]){</a:t>
            </a:r>
          </a:p>
          <a:p>
            <a:r>
              <a:rPr lang="en-US" sz="2400" b="1" dirty="0"/>
              <a:t>A obj = new A();</a:t>
            </a:r>
          </a:p>
          <a:p>
            <a:r>
              <a:rPr lang="en-US" sz="2400" b="1" dirty="0"/>
              <a:t>obj.msg();</a:t>
            </a:r>
          </a:p>
          <a:p>
            <a:r>
              <a:rPr lang="en-US" sz="2400" b="1" dirty="0"/>
              <a:t>} }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07C7FC-8D32-4744-F081-2C6D3A7E1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1342231"/>
            <a:ext cx="3581401" cy="3693319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sz="2400" b="1" dirty="0"/>
              <a:t>//save as A.java</a:t>
            </a:r>
          </a:p>
          <a:p>
            <a:endParaRPr lang="en-US" sz="2400" b="1" dirty="0"/>
          </a:p>
          <a:p>
            <a:r>
              <a:rPr lang="en-US" sz="2400" b="1" dirty="0"/>
              <a:t>package pack;</a:t>
            </a:r>
          </a:p>
          <a:p>
            <a:r>
              <a:rPr lang="en-US" sz="2400" b="1" dirty="0"/>
              <a:t>public class A{</a:t>
            </a:r>
          </a:p>
          <a:p>
            <a:r>
              <a:rPr lang="en-US" sz="2400" b="1" dirty="0"/>
              <a:t>public void msg()</a:t>
            </a:r>
          </a:p>
          <a:p>
            <a:r>
              <a:rPr lang="en-US" sz="2400" b="1" dirty="0"/>
              <a:t>{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</a:t>
            </a:r>
            <a:r>
              <a:rPr lang="en-US" sz="2400" b="1" dirty="0" err="1"/>
              <a:t>HeIlo</a:t>
            </a:r>
            <a:r>
              <a:rPr lang="en-US" sz="2400" b="1" dirty="0"/>
              <a:t>");</a:t>
            </a:r>
          </a:p>
          <a:p>
            <a:r>
              <a:rPr lang="en-US" sz="2400" b="1" dirty="0"/>
              <a:t> } }</a:t>
            </a:r>
          </a:p>
          <a:p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666F6-53E5-DFED-C0F9-FF01280DD963}"/>
              </a:ext>
            </a:extLst>
          </p:cNvPr>
          <p:cNvSpPr txBox="1"/>
          <p:nvPr/>
        </p:nvSpPr>
        <p:spPr>
          <a:xfrm>
            <a:off x="0" y="82550"/>
            <a:ext cx="7696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2.Using </a:t>
            </a:r>
            <a:r>
              <a:rPr lang="en-US" sz="2400" b="1" dirty="0" err="1">
                <a:solidFill>
                  <a:srgbClr val="FF0000"/>
                </a:solidFill>
              </a:rPr>
              <a:t>packagename.classname</a:t>
            </a:r>
            <a:br>
              <a:rPr lang="en-US" sz="2400" b="1" dirty="0"/>
            </a:br>
            <a:r>
              <a:rPr lang="en-US" sz="2400" b="1" dirty="0"/>
              <a:t> If you import </a:t>
            </a:r>
            <a:r>
              <a:rPr lang="en-US" sz="2400" b="1" dirty="0" err="1"/>
              <a:t>package.classname</a:t>
            </a:r>
            <a:r>
              <a:rPr lang="en-US" sz="2400" b="1" dirty="0"/>
              <a:t> then only declared class of this package will be accessible</a:t>
            </a:r>
          </a:p>
        </p:txBody>
      </p:sp>
    </p:spTree>
    <p:extLst>
      <p:ext uri="{BB962C8B-B14F-4D97-AF65-F5344CB8AC3E}">
        <p14:creationId xmlns:p14="http://schemas.microsoft.com/office/powerpoint/2010/main" val="221593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363" y="3680550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re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y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</a:t>
            </a:r>
            <a:r>
              <a:rPr sz="700" b="1" spc="-6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.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I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N</a:t>
            </a:r>
            <a:r>
              <a:rPr sz="7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M, A</a:t>
            </a:r>
            <a:r>
              <a:rPr sz="700" b="1" spc="-8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,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112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500" b="1" spc="-89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500" b="1" spc="-10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500" b="1" spc="-12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500" b="1" spc="39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500" b="1" spc="-3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500" b="1" spc="-120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1500" baseline="-555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295" y="692150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33045" algn="just">
              <a:lnSpc>
                <a:spcPct val="100000"/>
              </a:lnSpc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3.</a:t>
            </a:r>
            <a:r>
              <a:rPr sz="16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Using</a:t>
            </a: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fully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qualified</a:t>
            </a:r>
            <a:r>
              <a:rPr sz="1600" b="1" spc="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name</a:t>
            </a:r>
            <a:endParaRPr sz="1600" dirty="0">
              <a:latin typeface="Calibri"/>
              <a:cs typeface="Calibri"/>
            </a:endParaRPr>
          </a:p>
          <a:p>
            <a:pPr marL="347345" marR="233679" indent="-114935" algn="just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347980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dirty="0">
                <a:latin typeface="Calibri"/>
                <a:cs typeface="Calibri"/>
              </a:rPr>
              <a:t> fully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qualified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name</a:t>
            </a:r>
            <a:r>
              <a:rPr sz="1600" dirty="0">
                <a:latin typeface="Calibri"/>
                <a:cs typeface="Calibri"/>
              </a:rPr>
              <a:t> then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only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declared</a:t>
            </a:r>
            <a:r>
              <a:rPr sz="1600" spc="-5" dirty="0">
                <a:latin typeface="Calibri"/>
                <a:cs typeface="Calibri"/>
              </a:rPr>
              <a:t> class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this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will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accessible.</a:t>
            </a:r>
            <a:endParaRPr sz="1600" dirty="0">
              <a:latin typeface="Calibri"/>
              <a:cs typeface="Calibri"/>
            </a:endParaRPr>
          </a:p>
          <a:p>
            <a:pPr marL="347345" marR="233679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393700" algn="l"/>
              </a:tabLst>
            </a:pPr>
            <a:r>
              <a:rPr dirty="0"/>
              <a:t>	</a:t>
            </a:r>
            <a:r>
              <a:rPr sz="1600" spc="-10" dirty="0">
                <a:latin typeface="Calibri"/>
                <a:cs typeface="Calibri"/>
              </a:rPr>
              <a:t>Now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-5" dirty="0">
                <a:latin typeface="Calibri"/>
                <a:cs typeface="Calibri"/>
              </a:rPr>
              <a:t> 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import</a:t>
            </a:r>
            <a:r>
              <a:rPr sz="1600" spc="-5" dirty="0">
                <a:latin typeface="Calibri"/>
                <a:cs typeface="Calibri"/>
              </a:rPr>
              <a:t>.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But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need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use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fully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qualified </a:t>
            </a:r>
            <a:r>
              <a:rPr sz="1600" spc="-5" dirty="0">
                <a:latin typeface="Calibri"/>
                <a:cs typeface="Calibri"/>
              </a:rPr>
              <a:t>name </a:t>
            </a:r>
            <a:r>
              <a:rPr sz="1600" spc="-10" dirty="0">
                <a:latin typeface="Calibri"/>
                <a:cs typeface="Calibri"/>
              </a:rPr>
              <a:t>every </a:t>
            </a:r>
            <a:r>
              <a:rPr sz="1600" spc="-5" dirty="0">
                <a:latin typeface="Calibri"/>
                <a:cs typeface="Calibri"/>
              </a:rPr>
              <a:t>time when </a:t>
            </a:r>
            <a:r>
              <a:rPr sz="1600" spc="-15" dirty="0">
                <a:latin typeface="Calibri"/>
                <a:cs typeface="Calibri"/>
              </a:rPr>
              <a:t>you are </a:t>
            </a:r>
            <a:r>
              <a:rPr sz="1600" spc="-5" dirty="0">
                <a:latin typeface="Calibri"/>
                <a:cs typeface="Calibri"/>
              </a:rPr>
              <a:t>accessing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class or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interface.</a:t>
            </a:r>
            <a:endParaRPr sz="1600" dirty="0">
              <a:latin typeface="Calibri"/>
              <a:cs typeface="Calibri"/>
            </a:endParaRPr>
          </a:p>
          <a:p>
            <a:pPr marL="347345" indent="-114935" algn="just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34798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" dirty="0">
                <a:latin typeface="Calibri"/>
                <a:cs typeface="Calibri"/>
              </a:rPr>
              <a:t> 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generally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when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packages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have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endParaRPr sz="1600" dirty="0">
              <a:latin typeface="Calibri"/>
              <a:cs typeface="Calibri"/>
            </a:endParaRPr>
          </a:p>
          <a:p>
            <a:pPr marL="462915" algn="just">
              <a:lnSpc>
                <a:spcPct val="100000"/>
              </a:lnSpc>
              <a:spcBef>
                <a:spcPts val="300"/>
              </a:spcBef>
            </a:pPr>
            <a:r>
              <a:rPr sz="1600" spc="-5" dirty="0">
                <a:latin typeface="Calibri"/>
                <a:cs typeface="Calibri"/>
              </a:rPr>
              <a:t>e.g.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java.util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java.sql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contain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Date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class</a:t>
            </a:r>
            <a:r>
              <a:rPr sz="1600" spc="-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  <a:spcBef>
                <a:spcPts val="1415"/>
              </a:spcBef>
            </a:pPr>
            <a:endParaRPr sz="6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86100" y="3613078"/>
            <a:ext cx="3217545" cy="245110"/>
          </a:xfrm>
          <a:custGeom>
            <a:avLst/>
            <a:gdLst/>
            <a:ahLst/>
            <a:cxnLst/>
            <a:rect l="l" t="t" r="r" b="b"/>
            <a:pathLst>
              <a:path w="3217545" h="245110">
                <a:moveTo>
                  <a:pt x="3217032" y="0"/>
                </a:moveTo>
                <a:lnTo>
                  <a:pt x="0" y="0"/>
                </a:lnTo>
                <a:lnTo>
                  <a:pt x="0" y="245047"/>
                </a:lnTo>
                <a:lnTo>
                  <a:pt x="3217032" y="245047"/>
                </a:lnTo>
                <a:lnTo>
                  <a:pt x="32170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3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272" y="1290827"/>
            <a:ext cx="569976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385" indent="-114935">
              <a:lnSpc>
                <a:spcPts val="1810"/>
              </a:lnSpc>
              <a:buFont typeface="Arial MT"/>
              <a:buChar char="•"/>
              <a:tabLst>
                <a:tab pos="160020" algn="l"/>
              </a:tabLst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Example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import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fully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qualified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107315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7040" algn="r">
              <a:lnSpc>
                <a:spcPct val="100000"/>
              </a:lnSpc>
              <a:spcBef>
                <a:spcPts val="470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6172" y="1525523"/>
            <a:ext cx="5282565" cy="2733040"/>
            <a:chOff x="1376172" y="1525523"/>
            <a:chExt cx="5282565" cy="27330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744" y="1530095"/>
              <a:ext cx="3035807" cy="27233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6172" y="1525523"/>
              <a:ext cx="3045460" cy="2733040"/>
            </a:xfrm>
            <a:custGeom>
              <a:avLst/>
              <a:gdLst/>
              <a:ahLst/>
              <a:cxnLst/>
              <a:rect l="l" t="t" r="r" b="b"/>
              <a:pathLst>
                <a:path w="3045460" h="2733040">
                  <a:moveTo>
                    <a:pt x="3043427" y="2732532"/>
                  </a:moveTo>
                  <a:lnTo>
                    <a:pt x="1524" y="2732532"/>
                  </a:lnTo>
                  <a:lnTo>
                    <a:pt x="0" y="2731008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043427" y="0"/>
                  </a:lnTo>
                  <a:lnTo>
                    <a:pt x="3044952" y="1524"/>
                  </a:lnTo>
                  <a:lnTo>
                    <a:pt x="304495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2727959"/>
                  </a:lnTo>
                  <a:lnTo>
                    <a:pt x="3048" y="2727959"/>
                  </a:lnTo>
                  <a:lnTo>
                    <a:pt x="4572" y="2729483"/>
                  </a:lnTo>
                  <a:lnTo>
                    <a:pt x="3044952" y="2729483"/>
                  </a:lnTo>
                  <a:lnTo>
                    <a:pt x="3044952" y="2731008"/>
                  </a:lnTo>
                  <a:lnTo>
                    <a:pt x="3043427" y="2732532"/>
                  </a:lnTo>
                  <a:close/>
                </a:path>
                <a:path w="3045460" h="273304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3045460" h="2733040">
                  <a:moveTo>
                    <a:pt x="304038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3040380" y="3048"/>
                  </a:lnTo>
                  <a:lnTo>
                    <a:pt x="3040380" y="4572"/>
                  </a:lnTo>
                  <a:close/>
                </a:path>
                <a:path w="3045460" h="2733040">
                  <a:moveTo>
                    <a:pt x="3040380" y="2729483"/>
                  </a:moveTo>
                  <a:lnTo>
                    <a:pt x="3040380" y="3048"/>
                  </a:lnTo>
                  <a:lnTo>
                    <a:pt x="3041903" y="4572"/>
                  </a:lnTo>
                  <a:lnTo>
                    <a:pt x="3044952" y="4572"/>
                  </a:lnTo>
                  <a:lnTo>
                    <a:pt x="3044952" y="2727959"/>
                  </a:lnTo>
                  <a:lnTo>
                    <a:pt x="3041903" y="2727959"/>
                  </a:lnTo>
                  <a:lnTo>
                    <a:pt x="3040380" y="2729483"/>
                  </a:lnTo>
                  <a:close/>
                </a:path>
                <a:path w="3045460" h="2733040">
                  <a:moveTo>
                    <a:pt x="3044952" y="4572"/>
                  </a:moveTo>
                  <a:lnTo>
                    <a:pt x="3041903" y="4572"/>
                  </a:lnTo>
                  <a:lnTo>
                    <a:pt x="3040380" y="3048"/>
                  </a:lnTo>
                  <a:lnTo>
                    <a:pt x="3044952" y="3048"/>
                  </a:lnTo>
                  <a:lnTo>
                    <a:pt x="3044952" y="4572"/>
                  </a:lnTo>
                  <a:close/>
                </a:path>
                <a:path w="3045460" h="2733040">
                  <a:moveTo>
                    <a:pt x="4572" y="2729483"/>
                  </a:moveTo>
                  <a:lnTo>
                    <a:pt x="3048" y="2727959"/>
                  </a:lnTo>
                  <a:lnTo>
                    <a:pt x="4572" y="2727959"/>
                  </a:lnTo>
                  <a:lnTo>
                    <a:pt x="4572" y="2729483"/>
                  </a:lnTo>
                  <a:close/>
                </a:path>
                <a:path w="3045460" h="2733040">
                  <a:moveTo>
                    <a:pt x="3040380" y="2729483"/>
                  </a:moveTo>
                  <a:lnTo>
                    <a:pt x="4572" y="2729483"/>
                  </a:lnTo>
                  <a:lnTo>
                    <a:pt x="4572" y="2727959"/>
                  </a:lnTo>
                  <a:lnTo>
                    <a:pt x="3040380" y="2727959"/>
                  </a:lnTo>
                  <a:lnTo>
                    <a:pt x="3040380" y="2729483"/>
                  </a:lnTo>
                  <a:close/>
                </a:path>
                <a:path w="3045460" h="2733040">
                  <a:moveTo>
                    <a:pt x="3044952" y="2729483"/>
                  </a:moveTo>
                  <a:lnTo>
                    <a:pt x="3040380" y="2729483"/>
                  </a:lnTo>
                  <a:lnTo>
                    <a:pt x="3041903" y="2727959"/>
                  </a:lnTo>
                  <a:lnTo>
                    <a:pt x="3044952" y="2727959"/>
                  </a:lnTo>
                  <a:lnTo>
                    <a:pt x="3044952" y="2729483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0476" y="2374391"/>
              <a:ext cx="2087879" cy="6080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2000" y="2375916"/>
              <a:ext cx="2086610" cy="605155"/>
            </a:xfrm>
            <a:custGeom>
              <a:avLst/>
              <a:gdLst/>
              <a:ahLst/>
              <a:cxnLst/>
              <a:rect l="l" t="t" r="r" b="b"/>
              <a:pathLst>
                <a:path w="2086609" h="605155">
                  <a:moveTo>
                    <a:pt x="2084832" y="605028"/>
                  </a:moveTo>
                  <a:lnTo>
                    <a:pt x="0" y="605028"/>
                  </a:lnTo>
                  <a:lnTo>
                    <a:pt x="0" y="0"/>
                  </a:lnTo>
                  <a:lnTo>
                    <a:pt x="2084832" y="0"/>
                  </a:lnTo>
                  <a:lnTo>
                    <a:pt x="2086355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600456"/>
                  </a:lnTo>
                  <a:lnTo>
                    <a:pt x="1524" y="600456"/>
                  </a:lnTo>
                  <a:lnTo>
                    <a:pt x="4572" y="601980"/>
                  </a:lnTo>
                  <a:lnTo>
                    <a:pt x="2086355" y="601980"/>
                  </a:lnTo>
                  <a:lnTo>
                    <a:pt x="2086355" y="603504"/>
                  </a:lnTo>
                  <a:lnTo>
                    <a:pt x="2084832" y="605028"/>
                  </a:lnTo>
                  <a:close/>
                </a:path>
                <a:path w="2086609" h="605155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2086609" h="605155">
                  <a:moveTo>
                    <a:pt x="2081784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2081784" y="1524"/>
                  </a:lnTo>
                  <a:lnTo>
                    <a:pt x="2081784" y="4572"/>
                  </a:lnTo>
                  <a:close/>
                </a:path>
                <a:path w="2086609" h="605155">
                  <a:moveTo>
                    <a:pt x="2081784" y="601980"/>
                  </a:moveTo>
                  <a:lnTo>
                    <a:pt x="2081784" y="1524"/>
                  </a:lnTo>
                  <a:lnTo>
                    <a:pt x="2083308" y="4572"/>
                  </a:lnTo>
                  <a:lnTo>
                    <a:pt x="2086355" y="4572"/>
                  </a:lnTo>
                  <a:lnTo>
                    <a:pt x="2086355" y="600456"/>
                  </a:lnTo>
                  <a:lnTo>
                    <a:pt x="2083308" y="600456"/>
                  </a:lnTo>
                  <a:lnTo>
                    <a:pt x="2081784" y="601980"/>
                  </a:lnTo>
                  <a:close/>
                </a:path>
                <a:path w="2086609" h="605155">
                  <a:moveTo>
                    <a:pt x="2086355" y="4572"/>
                  </a:moveTo>
                  <a:lnTo>
                    <a:pt x="2083308" y="4572"/>
                  </a:lnTo>
                  <a:lnTo>
                    <a:pt x="2081784" y="1524"/>
                  </a:lnTo>
                  <a:lnTo>
                    <a:pt x="2086355" y="1524"/>
                  </a:lnTo>
                  <a:lnTo>
                    <a:pt x="2086355" y="4572"/>
                  </a:lnTo>
                  <a:close/>
                </a:path>
                <a:path w="2086609" h="605155">
                  <a:moveTo>
                    <a:pt x="4572" y="601980"/>
                  </a:moveTo>
                  <a:lnTo>
                    <a:pt x="1524" y="600456"/>
                  </a:lnTo>
                  <a:lnTo>
                    <a:pt x="4572" y="600456"/>
                  </a:lnTo>
                  <a:lnTo>
                    <a:pt x="4572" y="601980"/>
                  </a:lnTo>
                  <a:close/>
                </a:path>
                <a:path w="2086609" h="605155">
                  <a:moveTo>
                    <a:pt x="2081784" y="601980"/>
                  </a:moveTo>
                  <a:lnTo>
                    <a:pt x="4572" y="601980"/>
                  </a:lnTo>
                  <a:lnTo>
                    <a:pt x="4572" y="600456"/>
                  </a:lnTo>
                  <a:lnTo>
                    <a:pt x="2081784" y="600456"/>
                  </a:lnTo>
                  <a:lnTo>
                    <a:pt x="2081784" y="601980"/>
                  </a:lnTo>
                  <a:close/>
                </a:path>
                <a:path w="2086609" h="605155">
                  <a:moveTo>
                    <a:pt x="2086355" y="601980"/>
                  </a:moveTo>
                  <a:lnTo>
                    <a:pt x="2081784" y="601980"/>
                  </a:lnTo>
                  <a:lnTo>
                    <a:pt x="2083308" y="600456"/>
                  </a:lnTo>
                  <a:lnTo>
                    <a:pt x="2086355" y="600456"/>
                  </a:lnTo>
                  <a:lnTo>
                    <a:pt x="2086355" y="60198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470400" y="49321"/>
            <a:ext cx="3204845" cy="459105"/>
          </a:xfrm>
          <a:custGeom>
            <a:avLst/>
            <a:gdLst/>
            <a:ahLst/>
            <a:cxnLst/>
            <a:rect l="l" t="t" r="r" b="b"/>
            <a:pathLst>
              <a:path w="3204845" h="459105">
                <a:moveTo>
                  <a:pt x="3204465" y="0"/>
                </a:moveTo>
                <a:lnTo>
                  <a:pt x="0" y="0"/>
                </a:lnTo>
                <a:lnTo>
                  <a:pt x="0" y="458678"/>
                </a:lnTo>
                <a:lnTo>
                  <a:pt x="3204465" y="458678"/>
                </a:lnTo>
                <a:lnTo>
                  <a:pt x="32044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272" y="861060"/>
            <a:ext cx="5699760" cy="303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460" indent="-207645" algn="just">
              <a:lnSpc>
                <a:spcPts val="1810"/>
              </a:lnSpc>
              <a:buClr>
                <a:srgbClr val="000000"/>
              </a:buClr>
              <a:buFont typeface="Wingdings"/>
              <a:buChar char=""/>
              <a:tabLst>
                <a:tab pos="251460" algn="l"/>
              </a:tabLs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If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import</a:t>
            </a:r>
            <a:r>
              <a:rPr sz="1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package,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subpackages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will not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imported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58115" marR="40640" indent="-114935" algn="just">
              <a:lnSpc>
                <a:spcPts val="1730"/>
              </a:lnSpc>
              <a:spcBef>
                <a:spcPts val="515"/>
              </a:spcBef>
              <a:buFont typeface="Wingdings"/>
              <a:buChar char=""/>
              <a:tabLst>
                <a:tab pos="206375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</a:t>
            </a:r>
            <a:r>
              <a:rPr sz="1600" spc="-5" dirty="0">
                <a:latin typeface="Calibri"/>
                <a:cs typeface="Calibri"/>
              </a:rPr>
              <a:t> import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package,</a:t>
            </a:r>
            <a:r>
              <a:rPr sz="1600" spc="-5" dirty="0">
                <a:latin typeface="Calibri"/>
                <a:cs typeface="Calibri"/>
              </a:rPr>
              <a:t> all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package </a:t>
            </a:r>
            <a:r>
              <a:rPr sz="1600" spc="-5" dirty="0">
                <a:latin typeface="Calibri"/>
                <a:cs typeface="Calibri"/>
              </a:rPr>
              <a:t>will </a:t>
            </a:r>
            <a:r>
              <a:rPr sz="1600" spc="-10" dirty="0">
                <a:latin typeface="Calibri"/>
                <a:cs typeface="Calibri"/>
              </a:rPr>
              <a:t>be </a:t>
            </a:r>
            <a:r>
              <a:rPr sz="1600" spc="-5" dirty="0">
                <a:latin typeface="Calibri"/>
                <a:cs typeface="Calibri"/>
              </a:rPr>
              <a:t>imported </a:t>
            </a:r>
            <a:r>
              <a:rPr sz="1600" spc="-10" dirty="0">
                <a:latin typeface="Calibri"/>
                <a:cs typeface="Calibri"/>
              </a:rPr>
              <a:t>excluding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classes and </a:t>
            </a:r>
            <a:r>
              <a:rPr sz="1600" spc="-10" dirty="0">
                <a:latin typeface="Calibri"/>
                <a:cs typeface="Calibri"/>
              </a:rPr>
              <a:t>interfaces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subpackages.</a:t>
            </a:r>
            <a:endParaRPr sz="1600" dirty="0">
              <a:latin typeface="Calibri"/>
              <a:cs typeface="Calibri"/>
            </a:endParaRPr>
          </a:p>
          <a:p>
            <a:pPr marL="158115" marR="40640" indent="-114935" algn="just">
              <a:lnSpc>
                <a:spcPts val="1730"/>
              </a:lnSpc>
              <a:spcBef>
                <a:spcPts val="495"/>
              </a:spcBef>
              <a:buFont typeface="Wingdings"/>
              <a:buChar char=""/>
              <a:tabLst>
                <a:tab pos="251460" algn="l"/>
              </a:tabLst>
            </a:pPr>
            <a:r>
              <a:rPr sz="1600" spc="-5" dirty="0">
                <a:latin typeface="Calibri"/>
                <a:cs typeface="Calibri"/>
              </a:rPr>
              <a:t>Hence,</a:t>
            </a:r>
            <a:r>
              <a:rPr sz="1600" spc="7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6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need</a:t>
            </a:r>
            <a:r>
              <a:rPr sz="1600" spc="7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6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import</a:t>
            </a:r>
            <a:r>
              <a:rPr sz="1600" spc="7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    </a:t>
            </a:r>
            <a:r>
              <a:rPr sz="1600" spc="-10" dirty="0">
                <a:latin typeface="Calibri"/>
                <a:cs typeface="Calibri"/>
              </a:rPr>
              <a:t>subpackage</a:t>
            </a:r>
            <a:r>
              <a:rPr sz="1600" spc="340" dirty="0">
                <a:latin typeface="Calibri"/>
                <a:cs typeface="Calibri"/>
              </a:rPr>
              <a:t> 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350" dirty="0">
                <a:latin typeface="Calibri"/>
                <a:cs typeface="Calibri"/>
              </a:rPr>
              <a:t>  </a:t>
            </a:r>
            <a:r>
              <a:rPr sz="1600" spc="-5" dirty="0">
                <a:latin typeface="Calibri"/>
                <a:cs typeface="Calibri"/>
              </a:rPr>
              <a:t>well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Note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-5" dirty="0">
                <a:latin typeface="Calibri"/>
                <a:cs typeface="Calibri"/>
              </a:rPr>
              <a:t> Sequence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program</a:t>
            </a:r>
            <a:r>
              <a:rPr sz="1600" spc="-10" dirty="0">
                <a:latin typeface="Calibri"/>
                <a:cs typeface="Calibri"/>
              </a:rPr>
              <a:t> must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package</a:t>
            </a:r>
            <a:r>
              <a:rPr sz="1600" spc="3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then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import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1600" spc="-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61595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9120" y="2155190"/>
            <a:ext cx="3129280" cy="1737360"/>
            <a:chOff x="3124200" y="2108574"/>
            <a:chExt cx="3129280" cy="17373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2591" y="2113145"/>
              <a:ext cx="1158239" cy="14980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08019" y="2108574"/>
              <a:ext cx="1167765" cy="1507490"/>
            </a:xfrm>
            <a:custGeom>
              <a:avLst/>
              <a:gdLst/>
              <a:ahLst/>
              <a:cxnLst/>
              <a:rect l="l" t="t" r="r" b="b"/>
              <a:pathLst>
                <a:path w="1167764" h="1507489">
                  <a:moveTo>
                    <a:pt x="1167384" y="1507236"/>
                  </a:moveTo>
                  <a:lnTo>
                    <a:pt x="1524" y="1507236"/>
                  </a:lnTo>
                  <a:lnTo>
                    <a:pt x="0" y="1505711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167384" y="0"/>
                  </a:lnTo>
                  <a:lnTo>
                    <a:pt x="1167384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502664"/>
                  </a:lnTo>
                  <a:lnTo>
                    <a:pt x="3048" y="1502664"/>
                  </a:lnTo>
                  <a:lnTo>
                    <a:pt x="4572" y="1504188"/>
                  </a:lnTo>
                  <a:lnTo>
                    <a:pt x="1167384" y="1504188"/>
                  </a:lnTo>
                  <a:lnTo>
                    <a:pt x="1167384" y="1507236"/>
                  </a:lnTo>
                  <a:close/>
                </a:path>
                <a:path w="1167764" h="1507489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1167764" h="1507489">
                  <a:moveTo>
                    <a:pt x="1162812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1162812" y="3048"/>
                  </a:lnTo>
                  <a:lnTo>
                    <a:pt x="1162812" y="4572"/>
                  </a:lnTo>
                  <a:close/>
                </a:path>
                <a:path w="1167764" h="1507489">
                  <a:moveTo>
                    <a:pt x="1162812" y="1504188"/>
                  </a:moveTo>
                  <a:lnTo>
                    <a:pt x="1162812" y="3048"/>
                  </a:lnTo>
                  <a:lnTo>
                    <a:pt x="1165860" y="4572"/>
                  </a:lnTo>
                  <a:lnTo>
                    <a:pt x="1167384" y="4572"/>
                  </a:lnTo>
                  <a:lnTo>
                    <a:pt x="1167384" y="1502664"/>
                  </a:lnTo>
                  <a:lnTo>
                    <a:pt x="1165860" y="1502664"/>
                  </a:lnTo>
                  <a:lnTo>
                    <a:pt x="1162812" y="1504188"/>
                  </a:lnTo>
                  <a:close/>
                </a:path>
                <a:path w="1167764" h="1507489">
                  <a:moveTo>
                    <a:pt x="1167384" y="4572"/>
                  </a:moveTo>
                  <a:lnTo>
                    <a:pt x="1165860" y="4572"/>
                  </a:lnTo>
                  <a:lnTo>
                    <a:pt x="1162812" y="3048"/>
                  </a:lnTo>
                  <a:lnTo>
                    <a:pt x="1167384" y="3048"/>
                  </a:lnTo>
                  <a:lnTo>
                    <a:pt x="1167384" y="4572"/>
                  </a:lnTo>
                  <a:close/>
                </a:path>
                <a:path w="1167764" h="1507489">
                  <a:moveTo>
                    <a:pt x="4572" y="1504188"/>
                  </a:moveTo>
                  <a:lnTo>
                    <a:pt x="3048" y="1502664"/>
                  </a:lnTo>
                  <a:lnTo>
                    <a:pt x="4572" y="1502664"/>
                  </a:lnTo>
                  <a:lnTo>
                    <a:pt x="4572" y="1504188"/>
                  </a:lnTo>
                  <a:close/>
                </a:path>
                <a:path w="1167764" h="1507489">
                  <a:moveTo>
                    <a:pt x="1162812" y="1504188"/>
                  </a:moveTo>
                  <a:lnTo>
                    <a:pt x="4572" y="1504188"/>
                  </a:lnTo>
                  <a:lnTo>
                    <a:pt x="4572" y="1502664"/>
                  </a:lnTo>
                  <a:lnTo>
                    <a:pt x="1162812" y="1502664"/>
                  </a:lnTo>
                  <a:lnTo>
                    <a:pt x="1162812" y="1504188"/>
                  </a:lnTo>
                  <a:close/>
                </a:path>
                <a:path w="1167764" h="1507489">
                  <a:moveTo>
                    <a:pt x="1167384" y="1504188"/>
                  </a:moveTo>
                  <a:lnTo>
                    <a:pt x="1162812" y="1504188"/>
                  </a:lnTo>
                  <a:lnTo>
                    <a:pt x="1165860" y="1502664"/>
                  </a:lnTo>
                  <a:lnTo>
                    <a:pt x="1167384" y="1502664"/>
                  </a:lnTo>
                  <a:lnTo>
                    <a:pt x="1167384" y="150418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4200" y="3719760"/>
              <a:ext cx="3129280" cy="125730"/>
            </a:xfrm>
            <a:custGeom>
              <a:avLst/>
              <a:gdLst/>
              <a:ahLst/>
              <a:cxnLst/>
              <a:rect l="l" t="t" r="r" b="b"/>
              <a:pathLst>
                <a:path w="3129279" h="125729">
                  <a:moveTo>
                    <a:pt x="3129066" y="0"/>
                  </a:moveTo>
                  <a:lnTo>
                    <a:pt x="0" y="0"/>
                  </a:lnTo>
                  <a:lnTo>
                    <a:pt x="0" y="125665"/>
                  </a:lnTo>
                  <a:lnTo>
                    <a:pt x="3129066" y="125665"/>
                  </a:lnTo>
                  <a:lnTo>
                    <a:pt x="31290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88900" y="4396731"/>
            <a:ext cx="3091815" cy="490220"/>
          </a:xfrm>
          <a:custGeom>
            <a:avLst/>
            <a:gdLst/>
            <a:ahLst/>
            <a:cxnLst/>
            <a:rect l="l" t="t" r="r" b="b"/>
            <a:pathLst>
              <a:path w="3091815" h="490220">
                <a:moveTo>
                  <a:pt x="3091366" y="0"/>
                </a:moveTo>
                <a:lnTo>
                  <a:pt x="0" y="0"/>
                </a:lnTo>
                <a:lnTo>
                  <a:pt x="0" y="490094"/>
                </a:lnTo>
                <a:lnTo>
                  <a:pt x="3091366" y="490094"/>
                </a:lnTo>
                <a:lnTo>
                  <a:pt x="30913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58091" y="1293373"/>
            <a:ext cx="16452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702FA0"/>
                </a:solidFill>
                <a:latin typeface="Times New Roman"/>
                <a:cs typeface="Times New Roman"/>
              </a:rPr>
              <a:t>I</a:t>
            </a:r>
            <a:r>
              <a:rPr sz="2200" spc="-10" dirty="0">
                <a:solidFill>
                  <a:srgbClr val="702FA0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702FA0"/>
                </a:solidFill>
                <a:latin typeface="Times New Roman"/>
                <a:cs typeface="Times New Roman"/>
              </a:rPr>
              <a:t>T</a:t>
            </a:r>
            <a:r>
              <a:rPr sz="2200" spc="-25" dirty="0">
                <a:solidFill>
                  <a:srgbClr val="702FA0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702FA0"/>
                </a:solidFill>
                <a:latin typeface="Times New Roman"/>
                <a:cs typeface="Times New Roman"/>
              </a:rPr>
              <a:t>R</a:t>
            </a:r>
            <a:r>
              <a:rPr sz="2200" spc="-165" dirty="0">
                <a:solidFill>
                  <a:srgbClr val="702FA0"/>
                </a:solidFill>
                <a:latin typeface="Times New Roman"/>
                <a:cs typeface="Times New Roman"/>
              </a:rPr>
              <a:t>F</a:t>
            </a:r>
            <a:r>
              <a:rPr sz="2200" spc="-10" dirty="0">
                <a:solidFill>
                  <a:srgbClr val="702FA0"/>
                </a:solidFill>
                <a:latin typeface="Times New Roman"/>
                <a:cs typeface="Times New Roman"/>
              </a:rPr>
              <a:t>AC</a:t>
            </a:r>
            <a:r>
              <a:rPr sz="2200" spc="-5" dirty="0">
                <a:solidFill>
                  <a:srgbClr val="702FA0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787" y="1704826"/>
            <a:ext cx="5633085" cy="19316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 algn="just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An </a:t>
            </a:r>
            <a:r>
              <a:rPr sz="1600" spc="-10" dirty="0">
                <a:latin typeface="Calibri"/>
                <a:cs typeface="Calibri"/>
              </a:rPr>
              <a:t>interface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5" dirty="0">
                <a:latin typeface="Calibri"/>
                <a:cs typeface="Calibri"/>
              </a:rPr>
              <a:t>Java </a:t>
            </a:r>
            <a:r>
              <a:rPr sz="1600" spc="5" dirty="0">
                <a:latin typeface="Calibri"/>
                <a:cs typeface="Calibri"/>
              </a:rPr>
              <a:t>is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blueprint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 class</a:t>
            </a:r>
            <a:r>
              <a:rPr sz="1600" spc="-5" dirty="0">
                <a:latin typeface="Calibri"/>
                <a:cs typeface="Calibri"/>
              </a:rPr>
              <a:t>. It has </a:t>
            </a:r>
            <a:r>
              <a:rPr sz="1600" spc="-15" dirty="0">
                <a:latin typeface="Calibri"/>
                <a:cs typeface="Calibri"/>
              </a:rPr>
              <a:t>static </a:t>
            </a:r>
            <a:r>
              <a:rPr sz="1600" spc="-10" dirty="0">
                <a:latin typeface="Calibri"/>
                <a:cs typeface="Calibri"/>
              </a:rPr>
              <a:t>constants </a:t>
            </a:r>
            <a:r>
              <a:rPr sz="1600" spc="-5" dirty="0">
                <a:latin typeface="Calibri"/>
                <a:cs typeface="Calibri"/>
              </a:rPr>
              <a:t> 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abstract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methods.</a:t>
            </a:r>
            <a:endParaRPr sz="160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489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latin typeface="Calibri"/>
                <a:cs typeface="Calibri"/>
              </a:rPr>
              <a:t>The interface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5" dirty="0">
                <a:latin typeface="Calibri"/>
                <a:cs typeface="Calibri"/>
              </a:rPr>
              <a:t>Java </a:t>
            </a:r>
            <a:r>
              <a:rPr sz="1600" spc="-5" dirty="0">
                <a:latin typeface="Calibri"/>
                <a:cs typeface="Calibri"/>
              </a:rPr>
              <a:t>is a mechanism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achieve abstraction</a:t>
            </a:r>
            <a:r>
              <a:rPr sz="1600" spc="-5" dirty="0">
                <a:latin typeface="Calibri"/>
                <a:cs typeface="Calibri"/>
              </a:rPr>
              <a:t>. </a:t>
            </a:r>
            <a:r>
              <a:rPr sz="1600" spc="-10" dirty="0">
                <a:latin typeface="Calibri"/>
                <a:cs typeface="Calibri"/>
              </a:rPr>
              <a:t>There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can </a:t>
            </a:r>
            <a:r>
              <a:rPr sz="1600" dirty="0">
                <a:latin typeface="Calibri"/>
                <a:cs typeface="Calibri"/>
              </a:rPr>
              <a:t>be </a:t>
            </a:r>
            <a:r>
              <a:rPr sz="1600" spc="-5" dirty="0">
                <a:latin typeface="Calibri"/>
                <a:cs typeface="Calibri"/>
              </a:rPr>
              <a:t>only </a:t>
            </a:r>
            <a:r>
              <a:rPr sz="1600" spc="-10" dirty="0">
                <a:latin typeface="Calibri"/>
                <a:cs typeface="Calibri"/>
              </a:rPr>
              <a:t>abstract </a:t>
            </a:r>
            <a:r>
              <a:rPr sz="1600" spc="-5" dirty="0">
                <a:latin typeface="Calibri"/>
                <a:cs typeface="Calibri"/>
              </a:rPr>
              <a:t>methods in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Java </a:t>
            </a:r>
            <a:r>
              <a:rPr sz="1600" spc="-10" dirty="0">
                <a:latin typeface="Calibri"/>
                <a:cs typeface="Calibri"/>
              </a:rPr>
              <a:t>interface, not </a:t>
            </a:r>
            <a:r>
              <a:rPr sz="1600" spc="-5" dirty="0">
                <a:latin typeface="Calibri"/>
                <a:cs typeface="Calibri"/>
              </a:rPr>
              <a:t>method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body. </a:t>
            </a:r>
            <a:r>
              <a:rPr sz="1600" dirty="0">
                <a:latin typeface="Calibri"/>
                <a:cs typeface="Calibri"/>
              </a:rPr>
              <a:t>It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used to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achieve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abstraction and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multiple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inheritance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Java.</a:t>
            </a:r>
            <a:endParaRPr sz="1600">
              <a:latin typeface="Calibri"/>
              <a:cs typeface="Calibri"/>
            </a:endParaRPr>
          </a:p>
          <a:p>
            <a:pPr marL="127000" marR="5715" indent="-114935" algn="just">
              <a:lnSpc>
                <a:spcPts val="1730"/>
              </a:lnSpc>
              <a:spcBef>
                <a:spcPts val="49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other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words,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-10" dirty="0">
                <a:latin typeface="Calibri"/>
                <a:cs typeface="Calibri"/>
              </a:rPr>
              <a:t> can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say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-10" dirty="0">
                <a:latin typeface="Calibri"/>
                <a:cs typeface="Calibri"/>
              </a:rPr>
              <a:t> abstract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variables.</a:t>
            </a:r>
            <a:r>
              <a:rPr sz="1600" dirty="0">
                <a:latin typeface="Calibri"/>
                <a:cs typeface="Calibri"/>
              </a:rPr>
              <a:t> It</a:t>
            </a:r>
            <a:r>
              <a:rPr sz="1600" spc="-5" dirty="0">
                <a:latin typeface="Calibri"/>
                <a:cs typeface="Calibri"/>
              </a:rPr>
              <a:t> cannot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body.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8200" y="844550"/>
            <a:ext cx="6094730" cy="3427729"/>
            <a:chOff x="838200" y="1127760"/>
            <a:chExt cx="6094730" cy="3427729"/>
          </a:xfrm>
        </p:grpSpPr>
        <p:sp>
          <p:nvSpPr>
            <p:cNvPr id="15" name="object 15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3400" y="4370401"/>
              <a:ext cx="3217545" cy="151130"/>
            </a:xfrm>
            <a:custGeom>
              <a:avLst/>
              <a:gdLst/>
              <a:ahLst/>
              <a:cxnLst/>
              <a:rect l="l" t="t" r="r" b="b"/>
              <a:pathLst>
                <a:path w="3217545" h="151129">
                  <a:moveTo>
                    <a:pt x="3217032" y="0"/>
                  </a:moveTo>
                  <a:lnTo>
                    <a:pt x="0" y="0"/>
                  </a:lnTo>
                  <a:lnTo>
                    <a:pt x="0" y="150798"/>
                  </a:lnTo>
                  <a:lnTo>
                    <a:pt x="3217032" y="150798"/>
                  </a:lnTo>
                  <a:lnTo>
                    <a:pt x="32170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457700" y="62955"/>
            <a:ext cx="3286760" cy="546735"/>
          </a:xfrm>
          <a:custGeom>
            <a:avLst/>
            <a:gdLst/>
            <a:ahLst/>
            <a:cxnLst/>
            <a:rect l="l" t="t" r="r" b="b"/>
            <a:pathLst>
              <a:path w="3286759" h="546735">
                <a:moveTo>
                  <a:pt x="3286148" y="0"/>
                </a:moveTo>
                <a:lnTo>
                  <a:pt x="0" y="0"/>
                </a:lnTo>
                <a:lnTo>
                  <a:pt x="0" y="546644"/>
                </a:lnTo>
                <a:lnTo>
                  <a:pt x="3286148" y="546644"/>
                </a:lnTo>
                <a:lnTo>
                  <a:pt x="32861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87" y="667191"/>
            <a:ext cx="5633720" cy="23799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0" indent="-11493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5" dirty="0">
                <a:latin typeface="Calibri"/>
                <a:cs typeface="Calibri"/>
              </a:rPr>
              <a:t>Like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abstract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classes, </a:t>
            </a:r>
            <a:r>
              <a:rPr sz="1600" spc="-10" dirty="0">
                <a:latin typeface="Calibri"/>
                <a:cs typeface="Calibri"/>
              </a:rPr>
              <a:t>interfaces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cannot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create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objects</a:t>
            </a:r>
            <a:endParaRPr sz="1600">
              <a:latin typeface="Calibri"/>
              <a:cs typeface="Calibri"/>
            </a:endParaRPr>
          </a:p>
          <a:p>
            <a:pPr marL="127000" marR="5080" indent="-114935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methods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body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-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body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provided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implement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127000" marR="5080" indent="-114935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spc="2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implementation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interface,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override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2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2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its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methods</a:t>
            </a:r>
            <a:endParaRPr sz="1600">
              <a:latin typeface="Calibri"/>
              <a:cs typeface="Calibri"/>
            </a:endParaRPr>
          </a:p>
          <a:p>
            <a:pPr marL="127000" indent="-1149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Interface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methods</a:t>
            </a:r>
            <a:r>
              <a:rPr sz="1600" spc="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default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abstract</a:t>
            </a:r>
            <a:r>
              <a:rPr sz="1600" spc="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and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public</a:t>
            </a:r>
            <a:endParaRPr sz="1600">
              <a:latin typeface="Calibri"/>
              <a:cs typeface="Calibri"/>
            </a:endParaRPr>
          </a:p>
          <a:p>
            <a:pPr marL="127000" indent="-11493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Interface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attributes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default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public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static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final</a:t>
            </a:r>
            <a:endParaRPr sz="1600">
              <a:latin typeface="Calibri"/>
              <a:cs typeface="Calibri"/>
            </a:endParaRPr>
          </a:p>
          <a:p>
            <a:pPr marL="127000" marR="5715" indent="-114935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cannot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contain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constructor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(as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it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cannot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create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objects)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2363" y="3680550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re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y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</a:t>
            </a:r>
            <a:r>
              <a:rPr sz="700" b="1" spc="-6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.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I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N</a:t>
            </a:r>
            <a:r>
              <a:rPr sz="7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M, A</a:t>
            </a:r>
            <a:r>
              <a:rPr sz="700" b="1" spc="-8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,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112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500" b="1" spc="-89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500" b="1" spc="-10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500" b="1" spc="-12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500" b="1" spc="39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500" b="1" spc="-3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500" b="1" spc="-120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1500" baseline="-5555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482466"/>
            <a:ext cx="6094730" cy="3427729"/>
            <a:chOff x="838200" y="482466"/>
            <a:chExt cx="6094730" cy="3427729"/>
          </a:xfrm>
        </p:grpSpPr>
        <p:sp>
          <p:nvSpPr>
            <p:cNvPr id="11" name="object 11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36900" y="3657195"/>
              <a:ext cx="3154680" cy="213995"/>
            </a:xfrm>
            <a:custGeom>
              <a:avLst/>
              <a:gdLst/>
              <a:ahLst/>
              <a:cxnLst/>
              <a:rect l="l" t="t" r="r" b="b"/>
              <a:pathLst>
                <a:path w="3154679" h="213995">
                  <a:moveTo>
                    <a:pt x="3154199" y="0"/>
                  </a:moveTo>
                  <a:lnTo>
                    <a:pt x="0" y="0"/>
                  </a:lnTo>
                  <a:lnTo>
                    <a:pt x="0" y="213631"/>
                  </a:lnTo>
                  <a:lnTo>
                    <a:pt x="3154199" y="213631"/>
                  </a:lnTo>
                  <a:lnTo>
                    <a:pt x="3154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01600" y="4421864"/>
            <a:ext cx="2764790" cy="465455"/>
          </a:xfrm>
          <a:custGeom>
            <a:avLst/>
            <a:gdLst/>
            <a:ahLst/>
            <a:cxnLst/>
            <a:rect l="l" t="t" r="r" b="b"/>
            <a:pathLst>
              <a:path w="2764790" h="465454">
                <a:moveTo>
                  <a:pt x="2764637" y="0"/>
                </a:moveTo>
                <a:lnTo>
                  <a:pt x="0" y="0"/>
                </a:lnTo>
                <a:lnTo>
                  <a:pt x="0" y="464961"/>
                </a:lnTo>
                <a:lnTo>
                  <a:pt x="2764637" y="464961"/>
                </a:lnTo>
                <a:lnTo>
                  <a:pt x="2764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844295" y="1086485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437515" indent="-205104" algn="just">
              <a:lnSpc>
                <a:spcPct val="100000"/>
              </a:lnSpc>
              <a:spcBef>
                <a:spcPts val="1125"/>
              </a:spcBef>
              <a:buSzPct val="94444"/>
              <a:buFont typeface="Wingdings"/>
              <a:buChar char=""/>
              <a:tabLst>
                <a:tab pos="438150" algn="l"/>
              </a:tabLst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Declare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endParaRPr sz="1800" dirty="0">
              <a:latin typeface="Calibri"/>
              <a:cs typeface="Calibri"/>
            </a:endParaRPr>
          </a:p>
          <a:p>
            <a:pPr marL="394335" indent="-161925" algn="just">
              <a:lnSpc>
                <a:spcPct val="100000"/>
              </a:lnSpc>
              <a:spcBef>
                <a:spcPts val="320"/>
              </a:spcBef>
              <a:buSzPct val="93750"/>
              <a:buFont typeface="Wingdings"/>
              <a:buChar char=""/>
              <a:tabLst>
                <a:tab pos="394970" algn="l"/>
              </a:tabLst>
            </a:pP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declared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using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interface</a:t>
            </a:r>
            <a:r>
              <a:rPr sz="16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keyword.</a:t>
            </a:r>
            <a:endParaRPr sz="1600" dirty="0">
              <a:latin typeface="Calibri"/>
              <a:cs typeface="Calibri"/>
            </a:endParaRPr>
          </a:p>
          <a:p>
            <a:pPr marL="347345" marR="232410" indent="-114935" algn="just">
              <a:lnSpc>
                <a:spcPts val="1730"/>
              </a:lnSpc>
              <a:spcBef>
                <a:spcPts val="530"/>
              </a:spcBef>
              <a:buSzPct val="93750"/>
              <a:buFont typeface="Wingdings"/>
              <a:buChar char=""/>
              <a:tabLst>
                <a:tab pos="39497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abstraction;</a:t>
            </a:r>
            <a:r>
              <a:rPr sz="1600" spc="-5" dirty="0">
                <a:latin typeface="Calibri"/>
                <a:cs typeface="Calibri"/>
              </a:rPr>
              <a:t> means</a:t>
            </a:r>
            <a:r>
              <a:rPr sz="1600" dirty="0">
                <a:latin typeface="Calibri"/>
                <a:cs typeface="Calibri"/>
              </a:rPr>
              <a:t> all</a:t>
            </a:r>
            <a:r>
              <a:rPr sz="1600" spc="5" dirty="0">
                <a:latin typeface="Calibri"/>
                <a:cs typeface="Calibri"/>
              </a:rPr>
              <a:t>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methods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an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 </a:t>
            </a:r>
            <a:r>
              <a:rPr sz="1600" spc="-15" dirty="0">
                <a:latin typeface="Calibri"/>
                <a:cs typeface="Calibri"/>
              </a:rPr>
              <a:t>are </a:t>
            </a:r>
            <a:r>
              <a:rPr sz="1600" spc="-10" dirty="0">
                <a:latin typeface="Calibri"/>
                <a:cs typeface="Calibri"/>
              </a:rPr>
              <a:t>declared </a:t>
            </a:r>
            <a:r>
              <a:rPr sz="1600" spc="-5" dirty="0">
                <a:latin typeface="Calibri"/>
                <a:cs typeface="Calibri"/>
              </a:rPr>
              <a:t>with </a:t>
            </a:r>
            <a:r>
              <a:rPr sz="1600" dirty="0">
                <a:latin typeface="Calibri"/>
                <a:cs typeface="Calibri"/>
              </a:rPr>
              <a:t>the empty </a:t>
            </a:r>
            <a:r>
              <a:rPr sz="1600" spc="-25" dirty="0">
                <a:latin typeface="Calibri"/>
                <a:cs typeface="Calibri"/>
              </a:rPr>
              <a:t>body, </a:t>
            </a:r>
            <a:r>
              <a:rPr sz="1600" spc="-10" dirty="0">
                <a:latin typeface="Calibri"/>
                <a:cs typeface="Calibri"/>
              </a:rPr>
              <a:t>and </a:t>
            </a:r>
            <a:r>
              <a:rPr sz="1600" spc="-5" dirty="0">
                <a:latin typeface="Calibri"/>
                <a:cs typeface="Calibri"/>
              </a:rPr>
              <a:t>all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fields </a:t>
            </a:r>
            <a:r>
              <a:rPr sz="1600" spc="-15" dirty="0">
                <a:latin typeface="Calibri"/>
                <a:cs typeface="Calibri"/>
              </a:rPr>
              <a:t>are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public,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static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</a:t>
            </a:r>
            <a:r>
              <a:rPr sz="1600" spc="-10" dirty="0">
                <a:latin typeface="Calibri"/>
                <a:cs typeface="Calibri"/>
              </a:rPr>
              <a:t> by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default.</a:t>
            </a:r>
            <a:endParaRPr sz="1600" dirty="0">
              <a:latin typeface="Calibri"/>
              <a:cs typeface="Calibri"/>
            </a:endParaRPr>
          </a:p>
          <a:p>
            <a:pPr marL="347345" marR="233679" indent="-114935" algn="just">
              <a:lnSpc>
                <a:spcPts val="1730"/>
              </a:lnSpc>
              <a:spcBef>
                <a:spcPts val="495"/>
              </a:spcBef>
              <a:buSzPct val="93750"/>
              <a:buFont typeface="Wingdings"/>
              <a:buChar char=""/>
              <a:tabLst>
                <a:tab pos="394970" algn="l"/>
              </a:tabLst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r>
              <a:rPr sz="1600" dirty="0">
                <a:latin typeface="Calibri"/>
                <a:cs typeface="Calibri"/>
              </a:rPr>
              <a:t> that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implements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</a:t>
            </a:r>
            <a:r>
              <a:rPr sz="1600" spc="-5" dirty="0">
                <a:latin typeface="Calibri"/>
                <a:cs typeface="Calibri"/>
              </a:rPr>
              <a:t> implement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all</a:t>
            </a:r>
            <a:r>
              <a:rPr sz="1600" dirty="0">
                <a:latin typeface="Calibri"/>
                <a:cs typeface="Calibri"/>
              </a:rPr>
              <a:t> the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declared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21536" y="3151632"/>
            <a:ext cx="4669155" cy="1344295"/>
            <a:chOff x="1621536" y="3151632"/>
            <a:chExt cx="4669155" cy="13442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107" y="3156203"/>
              <a:ext cx="4521708" cy="9845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21536" y="3151632"/>
              <a:ext cx="4531360" cy="993775"/>
            </a:xfrm>
            <a:custGeom>
              <a:avLst/>
              <a:gdLst/>
              <a:ahLst/>
              <a:cxnLst/>
              <a:rect l="l" t="t" r="r" b="b"/>
              <a:pathLst>
                <a:path w="4531360" h="993775">
                  <a:moveTo>
                    <a:pt x="4529328" y="993648"/>
                  </a:moveTo>
                  <a:lnTo>
                    <a:pt x="1524" y="993648"/>
                  </a:lnTo>
                  <a:lnTo>
                    <a:pt x="0" y="992123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4529328" y="0"/>
                  </a:lnTo>
                  <a:lnTo>
                    <a:pt x="4530852" y="1524"/>
                  </a:lnTo>
                  <a:lnTo>
                    <a:pt x="453085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989076"/>
                  </a:lnTo>
                  <a:lnTo>
                    <a:pt x="3048" y="989076"/>
                  </a:lnTo>
                  <a:lnTo>
                    <a:pt x="4572" y="990600"/>
                  </a:lnTo>
                  <a:lnTo>
                    <a:pt x="4530852" y="990600"/>
                  </a:lnTo>
                  <a:lnTo>
                    <a:pt x="4530852" y="992123"/>
                  </a:lnTo>
                  <a:lnTo>
                    <a:pt x="4529328" y="993648"/>
                  </a:lnTo>
                  <a:close/>
                </a:path>
                <a:path w="4531360" h="993775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4531360" h="993775">
                  <a:moveTo>
                    <a:pt x="452628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4526280" y="3048"/>
                  </a:lnTo>
                  <a:lnTo>
                    <a:pt x="4526280" y="4572"/>
                  </a:lnTo>
                  <a:close/>
                </a:path>
                <a:path w="4531360" h="993775">
                  <a:moveTo>
                    <a:pt x="4526280" y="990600"/>
                  </a:moveTo>
                  <a:lnTo>
                    <a:pt x="4526280" y="3048"/>
                  </a:lnTo>
                  <a:lnTo>
                    <a:pt x="4527803" y="4572"/>
                  </a:lnTo>
                  <a:lnTo>
                    <a:pt x="4530852" y="4572"/>
                  </a:lnTo>
                  <a:lnTo>
                    <a:pt x="4530852" y="989076"/>
                  </a:lnTo>
                  <a:lnTo>
                    <a:pt x="4527803" y="989076"/>
                  </a:lnTo>
                  <a:lnTo>
                    <a:pt x="4526280" y="990600"/>
                  </a:lnTo>
                  <a:close/>
                </a:path>
                <a:path w="4531360" h="993775">
                  <a:moveTo>
                    <a:pt x="4530852" y="4572"/>
                  </a:moveTo>
                  <a:lnTo>
                    <a:pt x="4527803" y="4572"/>
                  </a:lnTo>
                  <a:lnTo>
                    <a:pt x="4526280" y="3048"/>
                  </a:lnTo>
                  <a:lnTo>
                    <a:pt x="4530852" y="3048"/>
                  </a:lnTo>
                  <a:lnTo>
                    <a:pt x="4530852" y="4572"/>
                  </a:lnTo>
                  <a:close/>
                </a:path>
                <a:path w="4531360" h="993775">
                  <a:moveTo>
                    <a:pt x="4572" y="990600"/>
                  </a:moveTo>
                  <a:lnTo>
                    <a:pt x="3048" y="989076"/>
                  </a:lnTo>
                  <a:lnTo>
                    <a:pt x="4572" y="989076"/>
                  </a:lnTo>
                  <a:lnTo>
                    <a:pt x="4572" y="990600"/>
                  </a:lnTo>
                  <a:close/>
                </a:path>
                <a:path w="4531360" h="993775">
                  <a:moveTo>
                    <a:pt x="4526280" y="990600"/>
                  </a:moveTo>
                  <a:lnTo>
                    <a:pt x="4572" y="990600"/>
                  </a:lnTo>
                  <a:lnTo>
                    <a:pt x="4572" y="989076"/>
                  </a:lnTo>
                  <a:lnTo>
                    <a:pt x="4526280" y="989076"/>
                  </a:lnTo>
                  <a:lnTo>
                    <a:pt x="4526280" y="990600"/>
                  </a:lnTo>
                  <a:close/>
                </a:path>
                <a:path w="4531360" h="993775">
                  <a:moveTo>
                    <a:pt x="4530852" y="990600"/>
                  </a:moveTo>
                  <a:lnTo>
                    <a:pt x="4526280" y="990600"/>
                  </a:lnTo>
                  <a:lnTo>
                    <a:pt x="4527803" y="989076"/>
                  </a:lnTo>
                  <a:lnTo>
                    <a:pt x="4530852" y="989076"/>
                  </a:lnTo>
                  <a:lnTo>
                    <a:pt x="4530852" y="9906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86100" y="4363851"/>
              <a:ext cx="3204845" cy="132080"/>
            </a:xfrm>
            <a:custGeom>
              <a:avLst/>
              <a:gdLst/>
              <a:ahLst/>
              <a:cxnLst/>
              <a:rect l="l" t="t" r="r" b="b"/>
              <a:pathLst>
                <a:path w="3204845" h="132079">
                  <a:moveTo>
                    <a:pt x="3204465" y="0"/>
                  </a:moveTo>
                  <a:lnTo>
                    <a:pt x="0" y="0"/>
                  </a:lnTo>
                  <a:lnTo>
                    <a:pt x="0" y="131948"/>
                  </a:lnTo>
                  <a:lnTo>
                    <a:pt x="3204465" y="131948"/>
                  </a:lnTo>
                  <a:lnTo>
                    <a:pt x="3204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87" y="625157"/>
            <a:ext cx="5633720" cy="149288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715" indent="-114935" algn="just">
              <a:lnSpc>
                <a:spcPts val="1730"/>
              </a:lnSpc>
              <a:spcBef>
                <a:spcPts val="31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access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methods,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be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"implemented“</a:t>
            </a:r>
            <a:r>
              <a:rPr sz="1600" dirty="0">
                <a:latin typeface="Calibri"/>
                <a:cs typeface="Calibri"/>
              </a:rPr>
              <a:t> by </a:t>
            </a:r>
            <a:r>
              <a:rPr sz="1600" spc="-5" dirty="0">
                <a:latin typeface="Calibri"/>
                <a:cs typeface="Calibri"/>
              </a:rPr>
              <a:t>another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r>
              <a:rPr sz="1600" dirty="0">
                <a:latin typeface="Calibri"/>
                <a:cs typeface="Calibri"/>
              </a:rPr>
              <a:t> with the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implements </a:t>
            </a:r>
            <a:r>
              <a:rPr sz="1600" spc="-15" dirty="0">
                <a:latin typeface="Calibri"/>
                <a:cs typeface="Calibri"/>
              </a:rPr>
              <a:t>keyword </a:t>
            </a:r>
            <a:r>
              <a:rPr sz="1600" spc="-10" dirty="0">
                <a:latin typeface="Calibri"/>
                <a:cs typeface="Calibri"/>
              </a:rPr>
              <a:t> (instead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extends).</a:t>
            </a:r>
            <a:endParaRPr sz="160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484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body </a:t>
            </a:r>
            <a:r>
              <a:rPr sz="1600" spc="-10" dirty="0">
                <a:latin typeface="Calibri"/>
                <a:cs typeface="Calibri"/>
              </a:rPr>
              <a:t>of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interface method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provided </a:t>
            </a:r>
            <a:r>
              <a:rPr sz="1600" dirty="0">
                <a:latin typeface="Calibri"/>
                <a:cs typeface="Calibri"/>
              </a:rPr>
              <a:t>by the </a:t>
            </a:r>
            <a:r>
              <a:rPr sz="1600" spc="-5" dirty="0">
                <a:latin typeface="Calibri"/>
                <a:cs typeface="Calibri"/>
              </a:rPr>
              <a:t>"implement"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193675" indent="-181610" algn="just">
              <a:lnSpc>
                <a:spcPct val="100000"/>
              </a:lnSpc>
              <a:spcBef>
                <a:spcPts val="285"/>
              </a:spcBef>
              <a:buSzPct val="93750"/>
              <a:buFont typeface="Wingdings"/>
              <a:buChar char=""/>
              <a:tabLst>
                <a:tab pos="194310" algn="l"/>
              </a:tabLst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16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classes</a:t>
            </a:r>
            <a:r>
              <a:rPr sz="16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interfaces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4787" y="2981251"/>
            <a:ext cx="563372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 algn="just">
              <a:lnSpc>
                <a:spcPts val="1730"/>
              </a:lnSpc>
              <a:spcBef>
                <a:spcPts val="31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As </a:t>
            </a:r>
            <a:r>
              <a:rPr sz="1600" spc="-10" dirty="0">
                <a:latin typeface="Calibri"/>
                <a:cs typeface="Calibri"/>
              </a:rPr>
              <a:t>shown </a:t>
            </a:r>
            <a:r>
              <a:rPr sz="1600" spc="-5" dirty="0">
                <a:latin typeface="Calibri"/>
                <a:cs typeface="Calibri"/>
              </a:rPr>
              <a:t>in the </a:t>
            </a:r>
            <a:r>
              <a:rPr sz="1600" spc="-10" dirty="0">
                <a:latin typeface="Calibri"/>
                <a:cs typeface="Calibri"/>
              </a:rPr>
              <a:t>figure </a:t>
            </a:r>
            <a:r>
              <a:rPr sz="1600" spc="-5" dirty="0">
                <a:latin typeface="Calibri"/>
                <a:cs typeface="Calibri"/>
              </a:rPr>
              <a:t>given above, a class </a:t>
            </a:r>
            <a:r>
              <a:rPr sz="1600" spc="-10" dirty="0">
                <a:latin typeface="Calibri"/>
                <a:cs typeface="Calibri"/>
              </a:rPr>
              <a:t>extends </a:t>
            </a:r>
            <a:r>
              <a:rPr sz="1600" spc="-5" dirty="0">
                <a:latin typeface="Calibri"/>
                <a:cs typeface="Calibri"/>
              </a:rPr>
              <a:t>another class,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 </a:t>
            </a:r>
            <a:r>
              <a:rPr sz="1600" spc="-10" dirty="0">
                <a:latin typeface="Calibri"/>
                <a:cs typeface="Calibri"/>
              </a:rPr>
              <a:t>interface extends </a:t>
            </a:r>
            <a:r>
              <a:rPr sz="1600" dirty="0">
                <a:latin typeface="Calibri"/>
                <a:cs typeface="Calibri"/>
              </a:rPr>
              <a:t>another </a:t>
            </a:r>
            <a:r>
              <a:rPr sz="1600" spc="-10" dirty="0">
                <a:latin typeface="Calibri"/>
                <a:cs typeface="Calibri"/>
              </a:rPr>
              <a:t>interface, </a:t>
            </a:r>
            <a:r>
              <a:rPr sz="1600" spc="-5" dirty="0">
                <a:latin typeface="Calibri"/>
                <a:cs typeface="Calibri"/>
              </a:rPr>
              <a:t>but a class implements </a:t>
            </a:r>
            <a:r>
              <a:rPr sz="1600" spc="5" dirty="0">
                <a:latin typeface="Calibri"/>
                <a:cs typeface="Calibri"/>
              </a:rPr>
              <a:t>an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482466"/>
            <a:ext cx="6094730" cy="3427729"/>
            <a:chOff x="838200" y="482466"/>
            <a:chExt cx="6094730" cy="3427729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5456" y="2102478"/>
              <a:ext cx="2763011" cy="9083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00883" y="2097906"/>
              <a:ext cx="2772410" cy="917575"/>
            </a:xfrm>
            <a:custGeom>
              <a:avLst/>
              <a:gdLst/>
              <a:ahLst/>
              <a:cxnLst/>
              <a:rect l="l" t="t" r="r" b="b"/>
              <a:pathLst>
                <a:path w="2772410" h="917575">
                  <a:moveTo>
                    <a:pt x="2772156" y="917448"/>
                  </a:moveTo>
                  <a:lnTo>
                    <a:pt x="0" y="917448"/>
                  </a:lnTo>
                  <a:lnTo>
                    <a:pt x="0" y="0"/>
                  </a:lnTo>
                  <a:lnTo>
                    <a:pt x="2772156" y="0"/>
                  </a:lnTo>
                  <a:lnTo>
                    <a:pt x="2772156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912876"/>
                  </a:lnTo>
                  <a:lnTo>
                    <a:pt x="1524" y="912876"/>
                  </a:lnTo>
                  <a:lnTo>
                    <a:pt x="4572" y="915924"/>
                  </a:lnTo>
                  <a:lnTo>
                    <a:pt x="2772156" y="915924"/>
                  </a:lnTo>
                  <a:lnTo>
                    <a:pt x="2772156" y="917448"/>
                  </a:lnTo>
                  <a:close/>
                </a:path>
                <a:path w="2772410" h="917575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2772410" h="917575">
                  <a:moveTo>
                    <a:pt x="2767584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2767584" y="1524"/>
                  </a:lnTo>
                  <a:lnTo>
                    <a:pt x="2767584" y="4572"/>
                  </a:lnTo>
                  <a:close/>
                </a:path>
                <a:path w="2772410" h="917575">
                  <a:moveTo>
                    <a:pt x="2767584" y="915924"/>
                  </a:moveTo>
                  <a:lnTo>
                    <a:pt x="2767584" y="1524"/>
                  </a:lnTo>
                  <a:lnTo>
                    <a:pt x="2770632" y="4572"/>
                  </a:lnTo>
                  <a:lnTo>
                    <a:pt x="2772156" y="4572"/>
                  </a:lnTo>
                  <a:lnTo>
                    <a:pt x="2772156" y="912876"/>
                  </a:lnTo>
                  <a:lnTo>
                    <a:pt x="2770632" y="912876"/>
                  </a:lnTo>
                  <a:lnTo>
                    <a:pt x="2767584" y="915924"/>
                  </a:lnTo>
                  <a:close/>
                </a:path>
                <a:path w="2772410" h="917575">
                  <a:moveTo>
                    <a:pt x="2772156" y="4572"/>
                  </a:moveTo>
                  <a:lnTo>
                    <a:pt x="2770632" y="4572"/>
                  </a:lnTo>
                  <a:lnTo>
                    <a:pt x="2767584" y="1524"/>
                  </a:lnTo>
                  <a:lnTo>
                    <a:pt x="2772156" y="1524"/>
                  </a:lnTo>
                  <a:lnTo>
                    <a:pt x="2772156" y="4572"/>
                  </a:lnTo>
                  <a:close/>
                </a:path>
                <a:path w="2772410" h="917575">
                  <a:moveTo>
                    <a:pt x="4572" y="915924"/>
                  </a:moveTo>
                  <a:lnTo>
                    <a:pt x="1524" y="912876"/>
                  </a:lnTo>
                  <a:lnTo>
                    <a:pt x="4572" y="912876"/>
                  </a:lnTo>
                  <a:lnTo>
                    <a:pt x="4572" y="915924"/>
                  </a:lnTo>
                  <a:close/>
                </a:path>
                <a:path w="2772410" h="917575">
                  <a:moveTo>
                    <a:pt x="2767584" y="915924"/>
                  </a:moveTo>
                  <a:lnTo>
                    <a:pt x="4572" y="915924"/>
                  </a:lnTo>
                  <a:lnTo>
                    <a:pt x="4572" y="912876"/>
                  </a:lnTo>
                  <a:lnTo>
                    <a:pt x="2767584" y="912876"/>
                  </a:lnTo>
                  <a:lnTo>
                    <a:pt x="2767584" y="915924"/>
                  </a:lnTo>
                  <a:close/>
                </a:path>
                <a:path w="2772410" h="917575">
                  <a:moveTo>
                    <a:pt x="2772156" y="915924"/>
                  </a:moveTo>
                  <a:lnTo>
                    <a:pt x="2767584" y="915924"/>
                  </a:lnTo>
                  <a:lnTo>
                    <a:pt x="2770632" y="912876"/>
                  </a:lnTo>
                  <a:lnTo>
                    <a:pt x="2772156" y="912876"/>
                  </a:lnTo>
                  <a:lnTo>
                    <a:pt x="2772156" y="91592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0700" y="3713344"/>
              <a:ext cx="3185795" cy="119380"/>
            </a:xfrm>
            <a:custGeom>
              <a:avLst/>
              <a:gdLst/>
              <a:ahLst/>
              <a:cxnLst/>
              <a:rect l="l" t="t" r="r" b="b"/>
              <a:pathLst>
                <a:path w="3185795" h="119379">
                  <a:moveTo>
                    <a:pt x="3185615" y="0"/>
                  </a:moveTo>
                  <a:lnTo>
                    <a:pt x="0" y="0"/>
                  </a:lnTo>
                  <a:lnTo>
                    <a:pt x="0" y="119382"/>
                  </a:lnTo>
                  <a:lnTo>
                    <a:pt x="3185615" y="119382"/>
                  </a:lnTo>
                  <a:lnTo>
                    <a:pt x="31856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0800" y="4371064"/>
            <a:ext cx="2903220" cy="465455"/>
          </a:xfrm>
          <a:custGeom>
            <a:avLst/>
            <a:gdLst/>
            <a:ahLst/>
            <a:cxnLst/>
            <a:rect l="l" t="t" r="r" b="b"/>
            <a:pathLst>
              <a:path w="2903220" h="465454">
                <a:moveTo>
                  <a:pt x="2902868" y="0"/>
                </a:moveTo>
                <a:lnTo>
                  <a:pt x="0" y="0"/>
                </a:lnTo>
                <a:lnTo>
                  <a:pt x="0" y="464961"/>
                </a:lnTo>
                <a:lnTo>
                  <a:pt x="2902868" y="464961"/>
                </a:lnTo>
                <a:lnTo>
                  <a:pt x="29028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34E74-2FD8-70F9-1A50-71ADAC758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82550"/>
            <a:ext cx="4038600" cy="3877985"/>
          </a:xfrm>
          <a:ln>
            <a:solidFill>
              <a:srgbClr val="FF0000"/>
            </a:solidFill>
          </a:ln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interface Animal {</a:t>
            </a:r>
          </a:p>
          <a:p>
            <a:r>
              <a:rPr lang="en-US" sz="1800" b="1" dirty="0"/>
              <a:t>public void </a:t>
            </a:r>
            <a:r>
              <a:rPr lang="en-US" sz="1800" b="1" dirty="0" err="1"/>
              <a:t>animalSound</a:t>
            </a:r>
            <a:r>
              <a:rPr lang="en-US" sz="1800" b="1" dirty="0"/>
              <a:t>(); // no body </a:t>
            </a:r>
          </a:p>
          <a:p>
            <a:r>
              <a:rPr lang="en-US" sz="1800" b="1" dirty="0"/>
              <a:t>public void sleep(); // no  body</a:t>
            </a:r>
          </a:p>
          <a:p>
            <a:r>
              <a:rPr lang="en-US" sz="1800" b="1" dirty="0"/>
              <a:t>}</a:t>
            </a:r>
          </a:p>
          <a:p>
            <a:r>
              <a:rPr lang="en-US" sz="1800" b="1" dirty="0"/>
              <a:t>// A1 "implements" the Animal interface</a:t>
            </a:r>
          </a:p>
          <a:p>
            <a:r>
              <a:rPr lang="en-US" sz="1800" b="1" dirty="0"/>
              <a:t>class A1 implements Animal {</a:t>
            </a:r>
          </a:p>
          <a:p>
            <a:r>
              <a:rPr lang="en-US" sz="1800" b="1" dirty="0"/>
              <a:t>public void </a:t>
            </a:r>
            <a:r>
              <a:rPr lang="en-US" sz="1800" b="1" dirty="0" err="1"/>
              <a:t>animalSound</a:t>
            </a:r>
            <a:r>
              <a:rPr lang="en-US" sz="1800" b="1" dirty="0"/>
              <a:t>() { // body </a:t>
            </a:r>
          </a:p>
          <a:p>
            <a:r>
              <a:rPr lang="en-US" sz="1800" b="1" dirty="0" err="1"/>
              <a:t>System.out.println</a:t>
            </a:r>
            <a:r>
              <a:rPr lang="en-US" sz="1800" b="1" dirty="0"/>
              <a:t>("A1 says: wee wee");</a:t>
            </a:r>
          </a:p>
          <a:p>
            <a:r>
              <a:rPr lang="en-US" sz="1800" b="1" dirty="0"/>
              <a:t>}</a:t>
            </a:r>
          </a:p>
          <a:p>
            <a:r>
              <a:rPr lang="en-US" sz="1800" b="1" dirty="0"/>
              <a:t>public void sleep() {  //body</a:t>
            </a:r>
          </a:p>
          <a:p>
            <a:r>
              <a:rPr lang="en-US" sz="1800" b="1" dirty="0"/>
              <a:t>System. out. </a:t>
            </a:r>
            <a:r>
              <a:rPr lang="en-US" sz="1800" b="1" dirty="0" err="1"/>
              <a:t>println</a:t>
            </a:r>
            <a:r>
              <a:rPr lang="en-US" sz="1800" b="1" dirty="0"/>
              <a:t>( "Zzz " ) ;</a:t>
            </a:r>
          </a:p>
          <a:p>
            <a:r>
              <a:rPr lang="en-US" sz="1800" b="1" dirty="0"/>
              <a:t>} }</a:t>
            </a:r>
          </a:p>
          <a:p>
            <a:endParaRPr lang="en-US" sz="1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37B7F-4E99-B445-DD3A-B6E845DE93B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114800" y="82550"/>
            <a:ext cx="3657600" cy="3877985"/>
          </a:xfrm>
          <a:ln>
            <a:solidFill>
              <a:srgbClr val="FF0000"/>
            </a:solidFill>
          </a:ln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class Inter{</a:t>
            </a:r>
          </a:p>
          <a:p>
            <a:r>
              <a:rPr lang="en-US" sz="1800" b="1" dirty="0"/>
              <a:t>public static void main (String[] </a:t>
            </a:r>
            <a:r>
              <a:rPr lang="en-US" sz="1800" b="1" dirty="0" err="1"/>
              <a:t>args</a:t>
            </a:r>
            <a:r>
              <a:rPr lang="en-US" sz="1800" b="1" dirty="0"/>
              <a:t>) {</a:t>
            </a:r>
          </a:p>
          <a:p>
            <a:r>
              <a:rPr lang="en-US" sz="1800" b="1" dirty="0"/>
              <a:t>A1 a1=new A1();</a:t>
            </a:r>
          </a:p>
          <a:p>
            <a:r>
              <a:rPr lang="en-US" sz="1800" b="1" dirty="0"/>
              <a:t>// Create  A1 object</a:t>
            </a:r>
          </a:p>
          <a:p>
            <a:r>
              <a:rPr lang="en-US" sz="1800" b="1" dirty="0"/>
              <a:t>a1.animalSound( ) ;</a:t>
            </a:r>
          </a:p>
          <a:p>
            <a:r>
              <a:rPr lang="en-US" sz="1800" b="1" dirty="0"/>
              <a:t>a1.sleep() ;</a:t>
            </a:r>
          </a:p>
          <a:p>
            <a:r>
              <a:rPr lang="en-US" sz="1800" b="1" dirty="0"/>
              <a:t>}</a:t>
            </a:r>
          </a:p>
          <a:p>
            <a:r>
              <a:rPr lang="en-US" sz="1800" b="1" dirty="0"/>
              <a:t>}</a:t>
            </a:r>
          </a:p>
          <a:p>
            <a:r>
              <a:rPr lang="en-US" sz="2000" b="1" u="sng" dirty="0"/>
              <a:t>Output</a:t>
            </a:r>
          </a:p>
          <a:p>
            <a:r>
              <a:rPr lang="en-US" sz="2000" b="1" dirty="0"/>
              <a:t>A1 says: wee </a:t>
            </a:r>
            <a:r>
              <a:rPr lang="en-US" sz="2000" b="1" dirty="0" err="1"/>
              <a:t>wee</a:t>
            </a:r>
            <a:endParaRPr lang="en-US" sz="2000" b="1" dirty="0"/>
          </a:p>
          <a:p>
            <a:r>
              <a:rPr lang="en-US" sz="2000" b="1" dirty="0"/>
              <a:t>Zzz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2710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295" y="692150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57505" indent="-181610" algn="just">
              <a:lnSpc>
                <a:spcPct val="100000"/>
              </a:lnSpc>
              <a:spcBef>
                <a:spcPts val="425"/>
              </a:spcBef>
              <a:buSzPct val="93750"/>
              <a:buFont typeface="Wingdings"/>
              <a:buChar char=""/>
              <a:tabLst>
                <a:tab pos="358140" algn="l"/>
              </a:tabLst>
            </a:pP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Why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And</a:t>
            </a:r>
            <a:r>
              <a:rPr sz="16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7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Use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Interfaces</a:t>
            </a:r>
            <a:endParaRPr sz="1600" dirty="0">
              <a:latin typeface="Calibri"/>
              <a:cs typeface="Calibri"/>
            </a:endParaRPr>
          </a:p>
          <a:p>
            <a:pPr marL="176530" marR="234315" algn="just">
              <a:lnSpc>
                <a:spcPts val="1730"/>
              </a:lnSpc>
              <a:spcBef>
                <a:spcPts val="515"/>
              </a:spcBef>
              <a:buClr>
                <a:srgbClr val="000000"/>
              </a:buClr>
              <a:buFont typeface="Calibri"/>
              <a:buAutoNum type="arabicParenR"/>
              <a:tabLst>
                <a:tab pos="439420" algn="l"/>
              </a:tabLst>
            </a:pPr>
            <a:r>
              <a:rPr sz="1600" b="1" spc="-75" dirty="0">
                <a:solidFill>
                  <a:srgbClr val="702FA0"/>
                </a:solidFill>
                <a:latin typeface="Calibri"/>
                <a:cs typeface="Calibri"/>
              </a:rPr>
              <a:t>To</a:t>
            </a:r>
            <a:r>
              <a:rPr sz="1600" b="1" spc="-7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achieve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 security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-</a:t>
            </a:r>
            <a:r>
              <a:rPr sz="1600" dirty="0">
                <a:latin typeface="Calibri"/>
                <a:cs typeface="Calibri"/>
              </a:rPr>
              <a:t> hide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certain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details</a:t>
            </a:r>
            <a:r>
              <a:rPr sz="1600" dirty="0">
                <a:latin typeface="Calibri"/>
                <a:cs typeface="Calibri"/>
              </a:rPr>
              <a:t> 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show</a:t>
            </a:r>
            <a:r>
              <a:rPr sz="1600" spc="-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details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an object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(interface).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libri"/>
              <a:buAutoNum type="arabicParenR"/>
            </a:pPr>
            <a:endParaRPr sz="2200" dirty="0">
              <a:latin typeface="Calibri"/>
              <a:cs typeface="Calibri"/>
            </a:endParaRPr>
          </a:p>
          <a:p>
            <a:pPr marL="176530" marR="234950" algn="just">
              <a:lnSpc>
                <a:spcPts val="1730"/>
              </a:lnSpc>
              <a:buAutoNum type="arabicParenR"/>
              <a:tabLst>
                <a:tab pos="401955" algn="l"/>
              </a:tabLst>
            </a:pPr>
            <a:r>
              <a:rPr sz="1600" spc="-20" dirty="0">
                <a:latin typeface="Calibri"/>
                <a:cs typeface="Calibri"/>
              </a:rPr>
              <a:t>Java </a:t>
            </a:r>
            <a:r>
              <a:rPr sz="1600" spc="-5" dirty="0">
                <a:latin typeface="Calibri"/>
                <a:cs typeface="Calibri"/>
              </a:rPr>
              <a:t>does </a:t>
            </a:r>
            <a:r>
              <a:rPr sz="1600" spc="-10" dirty="0">
                <a:latin typeface="Calibri"/>
                <a:cs typeface="Calibri"/>
              </a:rPr>
              <a:t>not </a:t>
            </a:r>
            <a:r>
              <a:rPr sz="1600" spc="-5" dirty="0">
                <a:latin typeface="Calibri"/>
                <a:cs typeface="Calibri"/>
              </a:rPr>
              <a:t>support "multiple inheritance". </a:t>
            </a:r>
            <a:r>
              <a:rPr sz="1600" spc="-25" dirty="0">
                <a:latin typeface="Calibri"/>
                <a:cs typeface="Calibri"/>
              </a:rPr>
              <a:t>However, </a:t>
            </a:r>
            <a:r>
              <a:rPr sz="1600" spc="-5" dirty="0">
                <a:latin typeface="Calibri"/>
                <a:cs typeface="Calibri"/>
              </a:rPr>
              <a:t>it </a:t>
            </a:r>
            <a:r>
              <a:rPr sz="1600" spc="-15" dirty="0">
                <a:latin typeface="Calibri"/>
                <a:cs typeface="Calibri"/>
              </a:rPr>
              <a:t>can </a:t>
            </a:r>
            <a:r>
              <a:rPr sz="1600" dirty="0">
                <a:latin typeface="Calibri"/>
                <a:cs typeface="Calibri"/>
              </a:rPr>
              <a:t>be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achieved </a:t>
            </a:r>
            <a:r>
              <a:rPr sz="1600" spc="-5" dirty="0">
                <a:latin typeface="Calibri"/>
                <a:cs typeface="Calibri"/>
              </a:rPr>
              <a:t>with </a:t>
            </a:r>
            <a:r>
              <a:rPr sz="1600" spc="-10" dirty="0">
                <a:latin typeface="Calibri"/>
                <a:cs typeface="Calibri"/>
              </a:rPr>
              <a:t>interfaces, </a:t>
            </a:r>
            <a:r>
              <a:rPr sz="1600" spc="-5" dirty="0">
                <a:latin typeface="Calibri"/>
                <a:cs typeface="Calibri"/>
              </a:rPr>
              <a:t>because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class can implement multiple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 dirty="0">
              <a:latin typeface="Calibri"/>
              <a:cs typeface="Calibri"/>
            </a:endParaRPr>
          </a:p>
          <a:p>
            <a:pPr marL="290830" marR="234950" indent="-114935">
              <a:lnSpc>
                <a:spcPts val="1730"/>
              </a:lnSpc>
              <a:buSzPct val="93750"/>
              <a:buFont typeface="Wingdings"/>
              <a:buChar char=""/>
              <a:tabLst>
                <a:tab pos="338455" algn="l"/>
              </a:tabLst>
            </a:pP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Note:</a:t>
            </a:r>
            <a:r>
              <a:rPr sz="1600" spc="6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implement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interfaces,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separate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comma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(see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example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below).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800" y="4391249"/>
            <a:ext cx="3192145" cy="572135"/>
          </a:xfrm>
          <a:custGeom>
            <a:avLst/>
            <a:gdLst/>
            <a:ahLst/>
            <a:cxnLst/>
            <a:rect l="l" t="t" r="r" b="b"/>
            <a:pathLst>
              <a:path w="3192145" h="572135">
                <a:moveTo>
                  <a:pt x="3191899" y="0"/>
                </a:moveTo>
                <a:lnTo>
                  <a:pt x="0" y="0"/>
                </a:lnTo>
                <a:lnTo>
                  <a:pt x="0" y="571777"/>
                </a:lnTo>
                <a:lnTo>
                  <a:pt x="3191899" y="571777"/>
                </a:lnTo>
                <a:lnTo>
                  <a:pt x="31918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6883" y="1203960"/>
            <a:ext cx="5756275" cy="3118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1189355" algn="r">
              <a:lnSpc>
                <a:spcPct val="100000"/>
              </a:lnSpc>
              <a:spcBef>
                <a:spcPts val="1420"/>
              </a:spcBef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122555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36319" y="1496060"/>
            <a:ext cx="5223510" cy="3234690"/>
            <a:chOff x="1036319" y="1274063"/>
            <a:chExt cx="5223510" cy="32346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415" y="1278636"/>
              <a:ext cx="2843783" cy="30129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36319" y="1274063"/>
              <a:ext cx="2856230" cy="3022600"/>
            </a:xfrm>
            <a:custGeom>
              <a:avLst/>
              <a:gdLst/>
              <a:ahLst/>
              <a:cxnLst/>
              <a:rect l="l" t="t" r="r" b="b"/>
              <a:pathLst>
                <a:path w="2856229" h="3022600">
                  <a:moveTo>
                    <a:pt x="2854452" y="3022092"/>
                  </a:moveTo>
                  <a:lnTo>
                    <a:pt x="1524" y="3022092"/>
                  </a:lnTo>
                  <a:lnTo>
                    <a:pt x="0" y="3020567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854452" y="0"/>
                  </a:lnTo>
                  <a:lnTo>
                    <a:pt x="2855976" y="1524"/>
                  </a:lnTo>
                  <a:lnTo>
                    <a:pt x="2855976" y="3048"/>
                  </a:lnTo>
                  <a:lnTo>
                    <a:pt x="6096" y="3048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6096" y="3017520"/>
                  </a:lnTo>
                  <a:lnTo>
                    <a:pt x="3048" y="3017520"/>
                  </a:lnTo>
                  <a:lnTo>
                    <a:pt x="6096" y="3019044"/>
                  </a:lnTo>
                  <a:lnTo>
                    <a:pt x="2855976" y="3019044"/>
                  </a:lnTo>
                  <a:lnTo>
                    <a:pt x="2855976" y="3020567"/>
                  </a:lnTo>
                  <a:lnTo>
                    <a:pt x="2854452" y="3022092"/>
                  </a:lnTo>
                  <a:close/>
                </a:path>
                <a:path w="2856229" h="3022600">
                  <a:moveTo>
                    <a:pt x="6096" y="4572"/>
                  </a:moveTo>
                  <a:lnTo>
                    <a:pt x="3048" y="4572"/>
                  </a:lnTo>
                  <a:lnTo>
                    <a:pt x="6096" y="3048"/>
                  </a:lnTo>
                  <a:lnTo>
                    <a:pt x="6096" y="4572"/>
                  </a:lnTo>
                  <a:close/>
                </a:path>
                <a:path w="2856229" h="3022600">
                  <a:moveTo>
                    <a:pt x="2849880" y="4572"/>
                  </a:moveTo>
                  <a:lnTo>
                    <a:pt x="6096" y="4572"/>
                  </a:lnTo>
                  <a:lnTo>
                    <a:pt x="6096" y="3048"/>
                  </a:lnTo>
                  <a:lnTo>
                    <a:pt x="2849880" y="3048"/>
                  </a:lnTo>
                  <a:lnTo>
                    <a:pt x="2849880" y="4572"/>
                  </a:lnTo>
                  <a:close/>
                </a:path>
                <a:path w="2856229" h="3022600">
                  <a:moveTo>
                    <a:pt x="2849880" y="3019044"/>
                  </a:moveTo>
                  <a:lnTo>
                    <a:pt x="2849880" y="3048"/>
                  </a:lnTo>
                  <a:lnTo>
                    <a:pt x="2852927" y="4572"/>
                  </a:lnTo>
                  <a:lnTo>
                    <a:pt x="2855976" y="4572"/>
                  </a:lnTo>
                  <a:lnTo>
                    <a:pt x="2855976" y="3017520"/>
                  </a:lnTo>
                  <a:lnTo>
                    <a:pt x="2852927" y="3017520"/>
                  </a:lnTo>
                  <a:lnTo>
                    <a:pt x="2849880" y="3019044"/>
                  </a:lnTo>
                  <a:close/>
                </a:path>
                <a:path w="2856229" h="3022600">
                  <a:moveTo>
                    <a:pt x="2855976" y="4572"/>
                  </a:moveTo>
                  <a:lnTo>
                    <a:pt x="2852927" y="4572"/>
                  </a:lnTo>
                  <a:lnTo>
                    <a:pt x="2849880" y="3048"/>
                  </a:lnTo>
                  <a:lnTo>
                    <a:pt x="2855976" y="3048"/>
                  </a:lnTo>
                  <a:lnTo>
                    <a:pt x="2855976" y="4572"/>
                  </a:lnTo>
                  <a:close/>
                </a:path>
                <a:path w="2856229" h="3022600">
                  <a:moveTo>
                    <a:pt x="6096" y="3019044"/>
                  </a:moveTo>
                  <a:lnTo>
                    <a:pt x="3048" y="3017520"/>
                  </a:lnTo>
                  <a:lnTo>
                    <a:pt x="6096" y="3017520"/>
                  </a:lnTo>
                  <a:lnTo>
                    <a:pt x="6096" y="3019044"/>
                  </a:lnTo>
                  <a:close/>
                </a:path>
                <a:path w="2856229" h="3022600">
                  <a:moveTo>
                    <a:pt x="2849880" y="3019044"/>
                  </a:moveTo>
                  <a:lnTo>
                    <a:pt x="6096" y="3019044"/>
                  </a:lnTo>
                  <a:lnTo>
                    <a:pt x="6096" y="3017520"/>
                  </a:lnTo>
                  <a:lnTo>
                    <a:pt x="2849880" y="3017520"/>
                  </a:lnTo>
                  <a:lnTo>
                    <a:pt x="2849880" y="3019044"/>
                  </a:lnTo>
                  <a:close/>
                </a:path>
                <a:path w="2856229" h="3022600">
                  <a:moveTo>
                    <a:pt x="2855976" y="3019044"/>
                  </a:moveTo>
                  <a:lnTo>
                    <a:pt x="2849880" y="3019044"/>
                  </a:lnTo>
                  <a:lnTo>
                    <a:pt x="2852927" y="3017520"/>
                  </a:lnTo>
                  <a:lnTo>
                    <a:pt x="2855976" y="3017520"/>
                  </a:lnTo>
                  <a:lnTo>
                    <a:pt x="2855976" y="301904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3127" y="2616708"/>
              <a:ext cx="1712975" cy="6035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48555" y="2612135"/>
              <a:ext cx="1722120" cy="612775"/>
            </a:xfrm>
            <a:custGeom>
              <a:avLst/>
              <a:gdLst/>
              <a:ahLst/>
              <a:cxnLst/>
              <a:rect l="l" t="t" r="r" b="b"/>
              <a:pathLst>
                <a:path w="1722120" h="612775">
                  <a:moveTo>
                    <a:pt x="1720596" y="612648"/>
                  </a:moveTo>
                  <a:lnTo>
                    <a:pt x="1524" y="612648"/>
                  </a:lnTo>
                  <a:lnTo>
                    <a:pt x="0" y="611124"/>
                  </a:lnTo>
                  <a:lnTo>
                    <a:pt x="0" y="0"/>
                  </a:lnTo>
                  <a:lnTo>
                    <a:pt x="1722120" y="0"/>
                  </a:lnTo>
                  <a:lnTo>
                    <a:pt x="1722120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608076"/>
                  </a:lnTo>
                  <a:lnTo>
                    <a:pt x="1524" y="608076"/>
                  </a:lnTo>
                  <a:lnTo>
                    <a:pt x="4572" y="611124"/>
                  </a:lnTo>
                  <a:lnTo>
                    <a:pt x="1722120" y="611124"/>
                  </a:lnTo>
                  <a:lnTo>
                    <a:pt x="1720596" y="612648"/>
                  </a:lnTo>
                  <a:close/>
                </a:path>
                <a:path w="1722120" h="612775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1722120" h="612775">
                  <a:moveTo>
                    <a:pt x="1717548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1717548" y="1524"/>
                  </a:lnTo>
                  <a:lnTo>
                    <a:pt x="1717548" y="4572"/>
                  </a:lnTo>
                  <a:close/>
                </a:path>
                <a:path w="1722120" h="612775">
                  <a:moveTo>
                    <a:pt x="1717548" y="611124"/>
                  </a:moveTo>
                  <a:lnTo>
                    <a:pt x="1717548" y="1524"/>
                  </a:lnTo>
                  <a:lnTo>
                    <a:pt x="1720596" y="4572"/>
                  </a:lnTo>
                  <a:lnTo>
                    <a:pt x="1722120" y="4572"/>
                  </a:lnTo>
                  <a:lnTo>
                    <a:pt x="1722120" y="608076"/>
                  </a:lnTo>
                  <a:lnTo>
                    <a:pt x="1720596" y="608076"/>
                  </a:lnTo>
                  <a:lnTo>
                    <a:pt x="1717548" y="611124"/>
                  </a:lnTo>
                  <a:close/>
                </a:path>
                <a:path w="1722120" h="612775">
                  <a:moveTo>
                    <a:pt x="1722120" y="4572"/>
                  </a:moveTo>
                  <a:lnTo>
                    <a:pt x="1720596" y="4572"/>
                  </a:lnTo>
                  <a:lnTo>
                    <a:pt x="1717548" y="1524"/>
                  </a:lnTo>
                  <a:lnTo>
                    <a:pt x="1722120" y="1524"/>
                  </a:lnTo>
                  <a:lnTo>
                    <a:pt x="1722120" y="4572"/>
                  </a:lnTo>
                  <a:close/>
                </a:path>
                <a:path w="1722120" h="612775">
                  <a:moveTo>
                    <a:pt x="4572" y="611124"/>
                  </a:moveTo>
                  <a:lnTo>
                    <a:pt x="1524" y="608076"/>
                  </a:lnTo>
                  <a:lnTo>
                    <a:pt x="4572" y="608076"/>
                  </a:lnTo>
                  <a:lnTo>
                    <a:pt x="4572" y="611124"/>
                  </a:lnTo>
                  <a:close/>
                </a:path>
                <a:path w="1722120" h="612775">
                  <a:moveTo>
                    <a:pt x="1717548" y="611124"/>
                  </a:moveTo>
                  <a:lnTo>
                    <a:pt x="4572" y="611124"/>
                  </a:lnTo>
                  <a:lnTo>
                    <a:pt x="4572" y="608076"/>
                  </a:lnTo>
                  <a:lnTo>
                    <a:pt x="1717548" y="608076"/>
                  </a:lnTo>
                  <a:lnTo>
                    <a:pt x="1717548" y="611124"/>
                  </a:lnTo>
                  <a:close/>
                </a:path>
                <a:path w="1722120" h="612775">
                  <a:moveTo>
                    <a:pt x="1722120" y="611124"/>
                  </a:moveTo>
                  <a:lnTo>
                    <a:pt x="1717548" y="611124"/>
                  </a:lnTo>
                  <a:lnTo>
                    <a:pt x="1720596" y="608076"/>
                  </a:lnTo>
                  <a:lnTo>
                    <a:pt x="1722120" y="608076"/>
                  </a:lnTo>
                  <a:lnTo>
                    <a:pt x="1722120" y="6111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6899" y="4345135"/>
              <a:ext cx="3122930" cy="163830"/>
            </a:xfrm>
            <a:custGeom>
              <a:avLst/>
              <a:gdLst/>
              <a:ahLst/>
              <a:cxnLst/>
              <a:rect l="l" t="t" r="r" b="b"/>
              <a:pathLst>
                <a:path w="3122929" h="163829">
                  <a:moveTo>
                    <a:pt x="3122783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122783" y="163364"/>
                  </a:lnTo>
                  <a:lnTo>
                    <a:pt x="3122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356100" y="99187"/>
            <a:ext cx="3368040" cy="370840"/>
          </a:xfrm>
          <a:custGeom>
            <a:avLst/>
            <a:gdLst/>
            <a:ahLst/>
            <a:cxnLst/>
            <a:rect l="l" t="t" r="r" b="b"/>
            <a:pathLst>
              <a:path w="3368040" h="370840">
                <a:moveTo>
                  <a:pt x="3367830" y="0"/>
                </a:moveTo>
                <a:lnTo>
                  <a:pt x="0" y="0"/>
                </a:lnTo>
                <a:lnTo>
                  <a:pt x="0" y="370712"/>
                </a:lnTo>
                <a:lnTo>
                  <a:pt x="3367830" y="370712"/>
                </a:lnTo>
                <a:lnTo>
                  <a:pt x="33678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324A-D4C9-F494-E107-A04BC987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63550"/>
            <a:ext cx="6019800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Java program that reads a line of integers, and then displays each integer, and the sum of all the integers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/>
              <a:t>input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2 3 4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/>
              <a:t>output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2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3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4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sum of integers=9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733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324A-D4C9-F494-E107-A04BC987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63550"/>
            <a:ext cx="6629400" cy="3505200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 Java program that reads a line of integers, and then displays each integer, and the sum of all the integers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Algorithm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1.Start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2: Create object of </a:t>
            </a:r>
            <a:r>
              <a:rPr lang="en-US" dirty="0" err="1">
                <a:solidFill>
                  <a:schemeClr val="tx1"/>
                </a:solidFill>
              </a:rPr>
              <a:t>stringTokenizer</a:t>
            </a:r>
            <a:r>
              <a:rPr lang="en-US" dirty="0">
                <a:solidFill>
                  <a:schemeClr val="tx1"/>
                </a:solidFill>
              </a:rPr>
              <a:t> class using constructor with delimiter argument as space for separating tokens.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3:Enter numbers separated by space.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4: Using appropriate methods, separate tokens (integers)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5.Display the tokens and find the sum of all integers.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6.Stop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571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D0C4-F925-871D-1EC3-C7C0E964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550"/>
            <a:ext cx="7238999" cy="443198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import </a:t>
            </a:r>
            <a:r>
              <a:rPr lang="en-US" sz="1800" dirty="0" err="1">
                <a:solidFill>
                  <a:schemeClr val="tx1"/>
                </a:solidFill>
              </a:rPr>
              <a:t>java.util.Scanner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import </a:t>
            </a:r>
            <a:r>
              <a:rPr lang="en-US" sz="1800" dirty="0" err="1">
                <a:solidFill>
                  <a:schemeClr val="tx1"/>
                </a:solidFill>
              </a:rPr>
              <a:t>java.util.StringTokenizer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class </a:t>
            </a:r>
            <a:r>
              <a:rPr lang="en-US" sz="1800" dirty="0" err="1">
                <a:solidFill>
                  <a:schemeClr val="tx1"/>
                </a:solidFill>
              </a:rPr>
              <a:t>StringTokenizerDemo</a:t>
            </a:r>
            <a:r>
              <a:rPr lang="en-US" sz="1800" dirty="0">
                <a:solidFill>
                  <a:schemeClr val="tx1"/>
                </a:solidFill>
              </a:rPr>
              <a:t> {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public static void main(String </a:t>
            </a:r>
            <a:r>
              <a:rPr lang="en-US" sz="1800" dirty="0" err="1">
                <a:solidFill>
                  <a:schemeClr val="tx1"/>
                </a:solidFill>
              </a:rPr>
              <a:t>args</a:t>
            </a:r>
            <a:r>
              <a:rPr lang="en-US" sz="1800" dirty="0">
                <a:solidFill>
                  <a:schemeClr val="tx1"/>
                </a:solidFill>
              </a:rPr>
              <a:t>[]) {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int </a:t>
            </a:r>
            <a:r>
              <a:rPr lang="en-US" sz="1800" dirty="0" err="1">
                <a:solidFill>
                  <a:schemeClr val="tx1"/>
                </a:solidFill>
              </a:rPr>
              <a:t>n,sum</a:t>
            </a:r>
            <a:r>
              <a:rPr lang="en-US" sz="1800" dirty="0">
                <a:solidFill>
                  <a:schemeClr val="tx1"/>
                </a:solidFill>
              </a:rPr>
              <a:t> = 0;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Scanner </a:t>
            </a:r>
            <a:r>
              <a:rPr lang="en-US" sz="1800" dirty="0" err="1">
                <a:solidFill>
                  <a:schemeClr val="tx1"/>
                </a:solidFill>
              </a:rPr>
              <a:t>sc</a:t>
            </a:r>
            <a:r>
              <a:rPr lang="en-US" sz="1800" dirty="0">
                <a:solidFill>
                  <a:schemeClr val="tx1"/>
                </a:solidFill>
              </a:rPr>
              <a:t> = new Scanner(System.in);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System.out.println</a:t>
            </a:r>
            <a:r>
              <a:rPr lang="en-US" sz="1800" dirty="0">
                <a:solidFill>
                  <a:schemeClr val="tx1"/>
                </a:solidFill>
              </a:rPr>
              <a:t>("Enter integers with one space gap:");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String s = </a:t>
            </a:r>
            <a:r>
              <a:rPr lang="en-US" sz="1800" dirty="0" err="1">
                <a:solidFill>
                  <a:schemeClr val="tx1"/>
                </a:solidFill>
              </a:rPr>
              <a:t>sc.nextLine</a:t>
            </a:r>
            <a:r>
              <a:rPr lang="en-US" sz="1800" dirty="0">
                <a:solidFill>
                  <a:schemeClr val="tx1"/>
                </a:solidFill>
              </a:rPr>
              <a:t>();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/>
              <a:t>StringTokenizer</a:t>
            </a:r>
            <a:r>
              <a:rPr lang="en-US" sz="1800" dirty="0"/>
              <a:t> </a:t>
            </a:r>
            <a:r>
              <a:rPr lang="en-US" sz="1800" dirty="0" err="1"/>
              <a:t>st</a:t>
            </a:r>
            <a:r>
              <a:rPr lang="en-US" sz="1800" dirty="0"/>
              <a:t> = new </a:t>
            </a:r>
            <a:r>
              <a:rPr lang="en-US" sz="1800" dirty="0" err="1"/>
              <a:t>StringTokenizer</a:t>
            </a:r>
            <a:r>
              <a:rPr lang="en-US" sz="1800" dirty="0"/>
              <a:t>(s, “ ");</a:t>
            </a:r>
            <a:br>
              <a:rPr lang="en-US" sz="1800" dirty="0"/>
            </a:br>
            <a:r>
              <a:rPr lang="en-US" sz="1800" dirty="0"/>
              <a:t> while (</a:t>
            </a:r>
            <a:r>
              <a:rPr lang="en-US" sz="1800" dirty="0" err="1"/>
              <a:t>st.hasMoreTokens</a:t>
            </a:r>
            <a:r>
              <a:rPr lang="en-US" sz="1800" dirty="0"/>
              <a:t>()) {</a:t>
            </a:r>
            <a:br>
              <a:rPr lang="en-US" sz="1800" dirty="0"/>
            </a:br>
            <a:r>
              <a:rPr lang="en-US" sz="1800" dirty="0"/>
              <a:t> String temp = </a:t>
            </a:r>
            <a:r>
              <a:rPr lang="en-US" sz="1800" dirty="0" err="1"/>
              <a:t>st.nextToken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800" dirty="0"/>
              <a:t> n = </a:t>
            </a:r>
            <a:r>
              <a:rPr lang="en-US" sz="1800" dirty="0" err="1"/>
              <a:t>Integer.parseInt</a:t>
            </a:r>
            <a:r>
              <a:rPr lang="en-US" sz="1800" dirty="0"/>
              <a:t>(temp);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System.out.println</a:t>
            </a:r>
            <a:r>
              <a:rPr lang="en-US" sz="1800" dirty="0">
                <a:solidFill>
                  <a:schemeClr val="tx1"/>
                </a:solidFill>
              </a:rPr>
              <a:t>(n);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sum = sum + n;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}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System.out.println</a:t>
            </a:r>
            <a:r>
              <a:rPr lang="en-US" sz="1800" dirty="0">
                <a:solidFill>
                  <a:schemeClr val="tx1"/>
                </a:solidFill>
              </a:rPr>
              <a:t>("sum of the integers is: " + sum); } }</a:t>
            </a:r>
          </a:p>
        </p:txBody>
      </p:sp>
    </p:spTree>
    <p:extLst>
      <p:ext uri="{BB962C8B-B14F-4D97-AF65-F5344CB8AC3E}">
        <p14:creationId xmlns:p14="http://schemas.microsoft.com/office/powerpoint/2010/main" val="1735063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36672" y="648069"/>
            <a:ext cx="328802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0000"/>
                </a:solidFill>
                <a:latin typeface="Times New Roman"/>
                <a:cs typeface="Times New Roman"/>
              </a:rPr>
              <a:t>EXCEPTION</a:t>
            </a:r>
            <a:r>
              <a:rPr sz="2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Times New Roman"/>
                <a:cs typeface="Times New Roman"/>
              </a:rPr>
              <a:t>HANDLING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001" y="1280795"/>
            <a:ext cx="6858000" cy="23069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27000" indent="-114935" algn="just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latin typeface="Calibri"/>
                <a:cs typeface="Calibri"/>
              </a:rPr>
              <a:t>Exception</a:t>
            </a:r>
            <a:r>
              <a:rPr sz="1600" spc="-5" dirty="0">
                <a:latin typeface="Calibri"/>
                <a:cs typeface="Calibri"/>
              </a:rPr>
              <a:t> 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an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abnormal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condition</a:t>
            </a:r>
            <a:r>
              <a:rPr sz="1600" spc="-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Java, </a:t>
            </a:r>
            <a:r>
              <a:rPr sz="1600" spc="-5" dirty="0">
                <a:latin typeface="Calibri"/>
                <a:cs typeface="Calibri"/>
              </a:rPr>
              <a:t>an </a:t>
            </a:r>
            <a:r>
              <a:rPr sz="1600" spc="-10" dirty="0">
                <a:latin typeface="Calibri"/>
                <a:cs typeface="Calibri"/>
              </a:rPr>
              <a:t>exception </a:t>
            </a:r>
            <a:r>
              <a:rPr sz="1600" spc="-5" dirty="0">
                <a:latin typeface="Calibri"/>
                <a:cs typeface="Calibri"/>
              </a:rPr>
              <a:t>is an </a:t>
            </a:r>
            <a:r>
              <a:rPr sz="1600" spc="-15" dirty="0">
                <a:latin typeface="Calibri"/>
                <a:cs typeface="Calibri"/>
              </a:rPr>
              <a:t>event </a:t>
            </a:r>
            <a:r>
              <a:rPr sz="1600" dirty="0">
                <a:latin typeface="Calibri"/>
                <a:cs typeface="Calibri"/>
              </a:rPr>
              <a:t>that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disrupts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the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normal flow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program.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It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is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an object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thrown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runtime.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latin typeface="Calibri"/>
                <a:cs typeface="Calibri"/>
              </a:rPr>
              <a:t>Exception </a:t>
            </a:r>
            <a:r>
              <a:rPr sz="1600" dirty="0">
                <a:latin typeface="Calibri"/>
                <a:cs typeface="Calibri"/>
              </a:rPr>
              <a:t>Handling </a:t>
            </a:r>
            <a:r>
              <a:rPr sz="1600" spc="-5" dirty="0">
                <a:latin typeface="Calibri"/>
                <a:cs typeface="Calibri"/>
              </a:rPr>
              <a:t>is a mechanism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handle runtime 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errors </a:t>
            </a:r>
            <a:r>
              <a:rPr sz="1600" dirty="0">
                <a:latin typeface="Calibri"/>
                <a:cs typeface="Calibri"/>
              </a:rPr>
              <a:t>such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ClassNotFoundException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IOException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SQLException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RemoteException</a:t>
            </a:r>
            <a:r>
              <a:rPr sz="1600" spc="-10" dirty="0">
                <a:latin typeface="Calibri"/>
                <a:cs typeface="Calibri"/>
              </a:rPr>
              <a:t>,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etc.</a:t>
            </a:r>
            <a:endParaRPr sz="1600" dirty="0">
              <a:latin typeface="Calibri"/>
              <a:cs typeface="Calibri"/>
            </a:endParaRPr>
          </a:p>
          <a:p>
            <a:pPr marL="127000" marR="6985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core</a:t>
            </a:r>
            <a:r>
              <a:rPr sz="1600" spc="-10" dirty="0">
                <a:latin typeface="Calibri"/>
                <a:cs typeface="Calibri"/>
              </a:rPr>
              <a:t> advantage</a:t>
            </a:r>
            <a:r>
              <a:rPr sz="1600" spc="-5" dirty="0">
                <a:latin typeface="Calibri"/>
                <a:cs typeface="Calibri"/>
              </a:rPr>
              <a:t> of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handling</a:t>
            </a:r>
            <a:r>
              <a:rPr sz="1600" spc="5" dirty="0">
                <a:latin typeface="Calibri"/>
                <a:cs typeface="Calibri"/>
              </a:rPr>
              <a:t> is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maintain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normal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flow of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application.</a:t>
            </a:r>
            <a:endParaRPr sz="1600" dirty="0">
              <a:latin typeface="Calibri"/>
              <a:cs typeface="Calibri"/>
            </a:endParaRPr>
          </a:p>
          <a:p>
            <a:pPr marL="127000" marR="6350" indent="-114935" algn="just">
              <a:lnSpc>
                <a:spcPts val="1730"/>
              </a:lnSpc>
              <a:spcBef>
                <a:spcPts val="484"/>
              </a:spcBef>
              <a:buFont typeface="Arial MT"/>
              <a:buChar char="•"/>
              <a:tabLst>
                <a:tab pos="173355" algn="l"/>
              </a:tabLst>
            </a:pPr>
            <a:r>
              <a:rPr dirty="0"/>
              <a:t>	</a:t>
            </a:r>
            <a:r>
              <a:rPr sz="1600" spc="-5" dirty="0">
                <a:latin typeface="Calibri"/>
                <a:cs typeface="Calibri"/>
              </a:rPr>
              <a:t>An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dirty="0">
                <a:latin typeface="Calibri"/>
                <a:cs typeface="Calibri"/>
              </a:rPr>
              <a:t>normally </a:t>
            </a:r>
            <a:r>
              <a:rPr sz="1600" spc="-5" dirty="0">
                <a:latin typeface="Calibri"/>
                <a:cs typeface="Calibri"/>
              </a:rPr>
              <a:t>disrupts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normal flow of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5" dirty="0">
                <a:latin typeface="Calibri"/>
                <a:cs typeface="Calibri"/>
              </a:rPr>
              <a:t>application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handling.</a:t>
            </a:r>
          </a:p>
        </p:txBody>
      </p:sp>
      <p:sp>
        <p:nvSpPr>
          <p:cNvPr id="17" name="object 17"/>
          <p:cNvSpPr/>
          <p:nvPr/>
        </p:nvSpPr>
        <p:spPr>
          <a:xfrm>
            <a:off x="101600" y="4446864"/>
            <a:ext cx="2752090" cy="427355"/>
          </a:xfrm>
          <a:custGeom>
            <a:avLst/>
            <a:gdLst/>
            <a:ahLst/>
            <a:cxnLst/>
            <a:rect l="l" t="t" r="r" b="b"/>
            <a:pathLst>
              <a:path w="2752090" h="427354">
                <a:moveTo>
                  <a:pt x="2752070" y="0"/>
                </a:moveTo>
                <a:lnTo>
                  <a:pt x="0" y="0"/>
                </a:lnTo>
                <a:lnTo>
                  <a:pt x="0" y="427262"/>
                </a:lnTo>
                <a:lnTo>
                  <a:pt x="2752070" y="427262"/>
                </a:lnTo>
                <a:lnTo>
                  <a:pt x="27520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28600" y="996950"/>
            <a:ext cx="7448882" cy="14935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 algn="just">
              <a:lnSpc>
                <a:spcPts val="1810"/>
              </a:lnSpc>
            </a:pPr>
            <a:r>
              <a:rPr sz="1800" spc="-10" dirty="0"/>
              <a:t>Let's</a:t>
            </a:r>
            <a:r>
              <a:rPr sz="1800" spc="-15" dirty="0"/>
              <a:t> </a:t>
            </a:r>
            <a:r>
              <a:rPr sz="1800" spc="-20" dirty="0"/>
              <a:t>take </a:t>
            </a:r>
            <a:r>
              <a:rPr sz="1800" spc="-5" dirty="0"/>
              <a:t>a</a:t>
            </a:r>
            <a:r>
              <a:rPr sz="1800" spc="-10" dirty="0"/>
              <a:t> </a:t>
            </a:r>
            <a:r>
              <a:rPr sz="1800" spc="-5" dirty="0"/>
              <a:t>scenario:</a:t>
            </a:r>
          </a:p>
          <a:p>
            <a:pPr marL="158115" marR="40640" indent="-114935" algn="just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158750" algn="l"/>
              </a:tabLst>
            </a:pPr>
            <a:r>
              <a:rPr sz="1800" spc="-5" dirty="0"/>
              <a:t>Suppose</a:t>
            </a:r>
            <a:r>
              <a:rPr sz="1800" dirty="0"/>
              <a:t> </a:t>
            </a:r>
            <a:r>
              <a:rPr sz="1800" spc="-10" dirty="0"/>
              <a:t>there</a:t>
            </a:r>
            <a:r>
              <a:rPr sz="1800" spc="-5" dirty="0"/>
              <a:t> </a:t>
            </a:r>
            <a:r>
              <a:rPr sz="1800" spc="-10" dirty="0"/>
              <a:t>are</a:t>
            </a:r>
            <a:r>
              <a:rPr sz="1800" spc="-5" dirty="0"/>
              <a:t> </a:t>
            </a:r>
            <a:r>
              <a:rPr sz="1800" dirty="0"/>
              <a:t>10</a:t>
            </a:r>
            <a:r>
              <a:rPr sz="1800" spc="5" dirty="0"/>
              <a:t> </a:t>
            </a:r>
            <a:r>
              <a:rPr sz="1800" spc="-10" dirty="0"/>
              <a:t>statements</a:t>
            </a:r>
            <a:r>
              <a:rPr sz="1800" spc="-5" dirty="0"/>
              <a:t> in</a:t>
            </a:r>
            <a:r>
              <a:rPr sz="1800" dirty="0"/>
              <a:t> </a:t>
            </a:r>
            <a:r>
              <a:rPr sz="1800" spc="-10" dirty="0"/>
              <a:t>your</a:t>
            </a:r>
            <a:r>
              <a:rPr sz="1800" spc="-5" dirty="0"/>
              <a:t> </a:t>
            </a:r>
            <a:r>
              <a:rPr sz="1800" spc="-10" dirty="0"/>
              <a:t>program</a:t>
            </a:r>
            <a:r>
              <a:rPr sz="1800" spc="340" dirty="0"/>
              <a:t> </a:t>
            </a:r>
            <a:r>
              <a:rPr sz="1800" spc="-5" dirty="0"/>
              <a:t>and</a:t>
            </a:r>
            <a:r>
              <a:rPr sz="1800" spc="350" dirty="0"/>
              <a:t> </a:t>
            </a:r>
            <a:r>
              <a:rPr sz="1800" spc="-10" dirty="0"/>
              <a:t>there </a:t>
            </a:r>
            <a:r>
              <a:rPr sz="1800" spc="-5" dirty="0"/>
              <a:t> </a:t>
            </a:r>
            <a:r>
              <a:rPr sz="1800" spc="-10" dirty="0"/>
              <a:t>occurs</a:t>
            </a:r>
            <a:r>
              <a:rPr sz="1800" spc="160" dirty="0"/>
              <a:t> </a:t>
            </a:r>
            <a:r>
              <a:rPr sz="1800" spc="-5" dirty="0"/>
              <a:t>an</a:t>
            </a:r>
            <a:r>
              <a:rPr sz="1800" spc="160" dirty="0"/>
              <a:t> </a:t>
            </a:r>
            <a:r>
              <a:rPr sz="1800" spc="-10" dirty="0"/>
              <a:t>exception</a:t>
            </a:r>
            <a:r>
              <a:rPr sz="1800" spc="160" dirty="0"/>
              <a:t> </a:t>
            </a:r>
            <a:r>
              <a:rPr sz="1800" spc="-10" dirty="0"/>
              <a:t>at</a:t>
            </a:r>
            <a:r>
              <a:rPr sz="1800" spc="170" dirty="0"/>
              <a:t> </a:t>
            </a:r>
            <a:r>
              <a:rPr sz="1800" spc="-15" dirty="0"/>
              <a:t>statement</a:t>
            </a:r>
            <a:r>
              <a:rPr sz="1800" spc="160" dirty="0"/>
              <a:t> </a:t>
            </a:r>
            <a:r>
              <a:rPr sz="1800" dirty="0"/>
              <a:t>5,</a:t>
            </a:r>
            <a:r>
              <a:rPr sz="1800" spc="150" dirty="0"/>
              <a:t> </a:t>
            </a:r>
            <a:r>
              <a:rPr sz="1800" dirty="0"/>
              <a:t>the</a:t>
            </a:r>
            <a:r>
              <a:rPr sz="1800" spc="150" dirty="0"/>
              <a:t> </a:t>
            </a:r>
            <a:r>
              <a:rPr sz="1800" spc="-15" dirty="0"/>
              <a:t>rest</a:t>
            </a:r>
            <a:r>
              <a:rPr sz="1800" spc="160" dirty="0"/>
              <a:t> </a:t>
            </a:r>
            <a:r>
              <a:rPr sz="1800" spc="-5" dirty="0"/>
              <a:t>of</a:t>
            </a:r>
            <a:r>
              <a:rPr sz="1800" spc="160" dirty="0"/>
              <a:t> </a:t>
            </a:r>
            <a:r>
              <a:rPr sz="1800" dirty="0"/>
              <a:t>the</a:t>
            </a:r>
            <a:r>
              <a:rPr sz="1800" spc="150" dirty="0"/>
              <a:t> </a:t>
            </a:r>
            <a:r>
              <a:rPr sz="1800" spc="-10" dirty="0"/>
              <a:t>code</a:t>
            </a:r>
            <a:r>
              <a:rPr sz="1800" spc="155" dirty="0"/>
              <a:t> </a:t>
            </a:r>
            <a:r>
              <a:rPr sz="1800" spc="-5" dirty="0"/>
              <a:t>will</a:t>
            </a:r>
            <a:r>
              <a:rPr sz="1800" spc="170" dirty="0"/>
              <a:t> </a:t>
            </a:r>
            <a:r>
              <a:rPr sz="1800" spc="-10" dirty="0"/>
              <a:t>not </a:t>
            </a:r>
            <a:r>
              <a:rPr sz="1800" spc="-350" dirty="0"/>
              <a:t> </a:t>
            </a:r>
            <a:r>
              <a:rPr sz="1800" dirty="0"/>
              <a:t>be</a:t>
            </a:r>
            <a:r>
              <a:rPr sz="1800" spc="5" dirty="0"/>
              <a:t> </a:t>
            </a:r>
            <a:r>
              <a:rPr sz="1800" spc="-20" dirty="0"/>
              <a:t>executed</a:t>
            </a:r>
            <a:r>
              <a:rPr sz="1800" spc="10" dirty="0"/>
              <a:t> </a:t>
            </a:r>
            <a:r>
              <a:rPr sz="1800" dirty="0"/>
              <a:t>i.e. </a:t>
            </a:r>
            <a:r>
              <a:rPr sz="1800" spc="-15" dirty="0"/>
              <a:t>statement</a:t>
            </a:r>
            <a:r>
              <a:rPr sz="1800" spc="15" dirty="0"/>
              <a:t> </a:t>
            </a:r>
            <a:r>
              <a:rPr sz="1800" spc="-5" dirty="0"/>
              <a:t>6</a:t>
            </a:r>
            <a:r>
              <a:rPr sz="1800" spc="10" dirty="0"/>
              <a:t> </a:t>
            </a:r>
            <a:r>
              <a:rPr sz="1800" spc="-10" dirty="0"/>
              <a:t>to </a:t>
            </a:r>
            <a:r>
              <a:rPr sz="1800" dirty="0"/>
              <a:t>10</a:t>
            </a:r>
            <a:r>
              <a:rPr sz="1800" spc="-5" dirty="0"/>
              <a:t> will</a:t>
            </a:r>
            <a:r>
              <a:rPr sz="1800" spc="5" dirty="0"/>
              <a:t> </a:t>
            </a:r>
            <a:r>
              <a:rPr sz="1800" spc="-10" dirty="0"/>
              <a:t>not</a:t>
            </a:r>
            <a:r>
              <a:rPr sz="1800" spc="25" dirty="0"/>
              <a:t> </a:t>
            </a:r>
            <a:r>
              <a:rPr sz="1800" spc="-10" dirty="0"/>
              <a:t>be </a:t>
            </a:r>
            <a:r>
              <a:rPr sz="1800" spc="-15" dirty="0"/>
              <a:t>executed.</a:t>
            </a:r>
          </a:p>
          <a:p>
            <a:pPr marL="158115" marR="40640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58750" algn="l"/>
              </a:tabLst>
            </a:pPr>
            <a:r>
              <a:rPr sz="1800" dirty="0"/>
              <a:t>If </a:t>
            </a:r>
            <a:r>
              <a:rPr sz="1800" spc="-10" dirty="0"/>
              <a:t>we perform exception </a:t>
            </a:r>
            <a:r>
              <a:rPr sz="1800" dirty="0"/>
              <a:t>handling, the </a:t>
            </a:r>
            <a:r>
              <a:rPr sz="1800" spc="-15" dirty="0"/>
              <a:t>rest </a:t>
            </a:r>
            <a:r>
              <a:rPr sz="1800" spc="-5" dirty="0"/>
              <a:t>of </a:t>
            </a:r>
            <a:r>
              <a:rPr sz="1800" spc="5" dirty="0"/>
              <a:t>the </a:t>
            </a:r>
            <a:r>
              <a:rPr sz="1800" spc="-15" dirty="0"/>
              <a:t>statement </a:t>
            </a:r>
            <a:r>
              <a:rPr sz="1800" spc="-5" dirty="0"/>
              <a:t>will </a:t>
            </a:r>
            <a:r>
              <a:rPr sz="1800" spc="-10" dirty="0"/>
              <a:t>be </a:t>
            </a:r>
            <a:r>
              <a:rPr sz="1800" spc="-350" dirty="0"/>
              <a:t> </a:t>
            </a:r>
            <a:r>
              <a:rPr sz="1800" spc="-15" dirty="0"/>
              <a:t>executed.</a:t>
            </a:r>
            <a:r>
              <a:rPr sz="1800" spc="15" dirty="0"/>
              <a:t> </a:t>
            </a:r>
            <a:r>
              <a:rPr sz="1800" spc="-5" dirty="0"/>
              <a:t>That</a:t>
            </a:r>
            <a:r>
              <a:rPr sz="1800" spc="10" dirty="0"/>
              <a:t> </a:t>
            </a:r>
            <a:r>
              <a:rPr sz="1800" spc="-5" dirty="0"/>
              <a:t>is</a:t>
            </a:r>
            <a:r>
              <a:rPr sz="1800" dirty="0"/>
              <a:t> </a:t>
            </a:r>
            <a:r>
              <a:rPr sz="1800" spc="-15" dirty="0"/>
              <a:t>why</a:t>
            </a:r>
            <a:r>
              <a:rPr sz="1800" dirty="0"/>
              <a:t> </a:t>
            </a:r>
            <a:r>
              <a:rPr sz="1800" spc="-10" dirty="0"/>
              <a:t>we</a:t>
            </a:r>
            <a:r>
              <a:rPr sz="1800" spc="5" dirty="0"/>
              <a:t> </a:t>
            </a:r>
            <a:r>
              <a:rPr sz="1800" spc="-5" dirty="0"/>
              <a:t>use </a:t>
            </a:r>
            <a:r>
              <a:rPr sz="1800" spc="-15" dirty="0"/>
              <a:t>exception</a:t>
            </a:r>
            <a:r>
              <a:rPr sz="1800" spc="25" dirty="0"/>
              <a:t> </a:t>
            </a:r>
            <a:r>
              <a:rPr sz="1800" spc="-5" dirty="0"/>
              <a:t>handling</a:t>
            </a:r>
            <a:r>
              <a:rPr sz="1800" dirty="0"/>
              <a:t> </a:t>
            </a:r>
            <a:r>
              <a:rPr sz="1800" spc="5" dirty="0"/>
              <a:t>in</a:t>
            </a:r>
            <a:r>
              <a:rPr sz="1800" spc="-5" dirty="0"/>
              <a:t> </a:t>
            </a:r>
            <a:r>
              <a:rPr sz="1800" spc="-15" dirty="0"/>
              <a:t>Java.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719705" y="2663190"/>
            <a:ext cx="3223895" cy="1762760"/>
            <a:chOff x="3073400" y="2758440"/>
            <a:chExt cx="3223895" cy="17627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4783" y="2763011"/>
              <a:ext cx="1324355" cy="14843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20211" y="2758440"/>
              <a:ext cx="1333500" cy="1493520"/>
            </a:xfrm>
            <a:custGeom>
              <a:avLst/>
              <a:gdLst/>
              <a:ahLst/>
              <a:cxnLst/>
              <a:rect l="l" t="t" r="r" b="b"/>
              <a:pathLst>
                <a:path w="1333500" h="1493520">
                  <a:moveTo>
                    <a:pt x="1331976" y="1493520"/>
                  </a:moveTo>
                  <a:lnTo>
                    <a:pt x="1524" y="1493520"/>
                  </a:lnTo>
                  <a:lnTo>
                    <a:pt x="0" y="149199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331976" y="0"/>
                  </a:lnTo>
                  <a:lnTo>
                    <a:pt x="1333500" y="1524"/>
                  </a:lnTo>
                  <a:lnTo>
                    <a:pt x="1333500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488948"/>
                  </a:lnTo>
                  <a:lnTo>
                    <a:pt x="3048" y="1488948"/>
                  </a:lnTo>
                  <a:lnTo>
                    <a:pt x="4572" y="1490472"/>
                  </a:lnTo>
                  <a:lnTo>
                    <a:pt x="1333500" y="1490472"/>
                  </a:lnTo>
                  <a:lnTo>
                    <a:pt x="1333500" y="1491996"/>
                  </a:lnTo>
                  <a:lnTo>
                    <a:pt x="1331976" y="1493520"/>
                  </a:lnTo>
                  <a:close/>
                </a:path>
                <a:path w="1333500" h="149352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1333500" h="1493520">
                  <a:moveTo>
                    <a:pt x="1328928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1328928" y="3048"/>
                  </a:lnTo>
                  <a:lnTo>
                    <a:pt x="1328928" y="4572"/>
                  </a:lnTo>
                  <a:close/>
                </a:path>
                <a:path w="1333500" h="1493520">
                  <a:moveTo>
                    <a:pt x="1328928" y="1490472"/>
                  </a:moveTo>
                  <a:lnTo>
                    <a:pt x="1328928" y="3048"/>
                  </a:lnTo>
                  <a:lnTo>
                    <a:pt x="1330451" y="4572"/>
                  </a:lnTo>
                  <a:lnTo>
                    <a:pt x="1333500" y="4572"/>
                  </a:lnTo>
                  <a:lnTo>
                    <a:pt x="1333500" y="1488948"/>
                  </a:lnTo>
                  <a:lnTo>
                    <a:pt x="1330451" y="1488948"/>
                  </a:lnTo>
                  <a:lnTo>
                    <a:pt x="1328928" y="1490472"/>
                  </a:lnTo>
                  <a:close/>
                </a:path>
                <a:path w="1333500" h="1493520">
                  <a:moveTo>
                    <a:pt x="1333500" y="4572"/>
                  </a:moveTo>
                  <a:lnTo>
                    <a:pt x="1330451" y="4572"/>
                  </a:lnTo>
                  <a:lnTo>
                    <a:pt x="1328928" y="3048"/>
                  </a:lnTo>
                  <a:lnTo>
                    <a:pt x="1333500" y="3048"/>
                  </a:lnTo>
                  <a:lnTo>
                    <a:pt x="1333500" y="4572"/>
                  </a:lnTo>
                  <a:close/>
                </a:path>
                <a:path w="1333500" h="1493520">
                  <a:moveTo>
                    <a:pt x="4572" y="1490472"/>
                  </a:moveTo>
                  <a:lnTo>
                    <a:pt x="3048" y="1488948"/>
                  </a:lnTo>
                  <a:lnTo>
                    <a:pt x="4572" y="1488948"/>
                  </a:lnTo>
                  <a:lnTo>
                    <a:pt x="4572" y="1490472"/>
                  </a:lnTo>
                  <a:close/>
                </a:path>
                <a:path w="1333500" h="1493520">
                  <a:moveTo>
                    <a:pt x="1328928" y="1490472"/>
                  </a:moveTo>
                  <a:lnTo>
                    <a:pt x="4572" y="1490472"/>
                  </a:lnTo>
                  <a:lnTo>
                    <a:pt x="4572" y="1488948"/>
                  </a:lnTo>
                  <a:lnTo>
                    <a:pt x="1328928" y="1488948"/>
                  </a:lnTo>
                  <a:lnTo>
                    <a:pt x="1328928" y="1490472"/>
                  </a:lnTo>
                  <a:close/>
                </a:path>
                <a:path w="1333500" h="1493520">
                  <a:moveTo>
                    <a:pt x="1333500" y="1490472"/>
                  </a:moveTo>
                  <a:lnTo>
                    <a:pt x="1328928" y="1490472"/>
                  </a:lnTo>
                  <a:lnTo>
                    <a:pt x="1330451" y="1488948"/>
                  </a:lnTo>
                  <a:lnTo>
                    <a:pt x="1333500" y="1488948"/>
                  </a:lnTo>
                  <a:lnTo>
                    <a:pt x="1333500" y="14904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3400" y="4357835"/>
              <a:ext cx="3223895" cy="163830"/>
            </a:xfrm>
            <a:custGeom>
              <a:avLst/>
              <a:gdLst/>
              <a:ahLst/>
              <a:cxnLst/>
              <a:rect l="l" t="t" r="r" b="b"/>
              <a:pathLst>
                <a:path w="3223895" h="163829">
                  <a:moveTo>
                    <a:pt x="3223315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223315" y="163364"/>
                  </a:lnTo>
                  <a:lnTo>
                    <a:pt x="3223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279900" y="93437"/>
            <a:ext cx="3493770" cy="427355"/>
          </a:xfrm>
          <a:custGeom>
            <a:avLst/>
            <a:gdLst/>
            <a:ahLst/>
            <a:cxnLst/>
            <a:rect l="l" t="t" r="r" b="b"/>
            <a:pathLst>
              <a:path w="3493770" h="427355">
                <a:moveTo>
                  <a:pt x="3493496" y="0"/>
                </a:moveTo>
                <a:lnTo>
                  <a:pt x="0" y="0"/>
                </a:lnTo>
                <a:lnTo>
                  <a:pt x="0" y="427262"/>
                </a:lnTo>
                <a:lnTo>
                  <a:pt x="3493496" y="427262"/>
                </a:lnTo>
                <a:lnTo>
                  <a:pt x="34934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272" y="645533"/>
            <a:ext cx="5699760" cy="303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285" indent="-205104">
              <a:lnSpc>
                <a:spcPts val="2005"/>
              </a:lnSpc>
              <a:buSzPct val="94444"/>
              <a:buFont typeface="Wingdings"/>
              <a:buChar char=""/>
              <a:tabLst>
                <a:tab pos="248920" algn="l"/>
              </a:tabLst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Types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Exceptions</a:t>
            </a:r>
            <a:endParaRPr sz="1800">
              <a:latin typeface="Calibri"/>
              <a:cs typeface="Calibri"/>
            </a:endParaRPr>
          </a:p>
          <a:p>
            <a:pPr marL="158115" marR="39370" indent="-114935">
              <a:lnSpc>
                <a:spcPts val="1730"/>
              </a:lnSpc>
              <a:spcBef>
                <a:spcPts val="535"/>
              </a:spcBef>
              <a:buFont typeface="Arial MT"/>
              <a:buChar char="•"/>
              <a:tabLst>
                <a:tab pos="158750" algn="l"/>
                <a:tab pos="800735" algn="l"/>
                <a:tab pos="1236345" algn="l"/>
                <a:tab pos="1955800" algn="l"/>
                <a:tab pos="2442210" algn="l"/>
                <a:tab pos="3056890" algn="l"/>
                <a:tab pos="3395345" algn="l"/>
                <a:tab pos="4497705" algn="l"/>
                <a:tab pos="5339080" algn="l"/>
              </a:tabLst>
            </a:pPr>
            <a:r>
              <a:rPr sz="1600" spc="-5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20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	t</a:t>
            </a:r>
            <a:r>
              <a:rPr sz="1600" spc="-15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	t</a:t>
            </a:r>
            <a:r>
              <a:rPr sz="1600" spc="-10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5" dirty="0">
                <a:latin typeface="Calibri"/>
                <a:cs typeface="Calibri"/>
              </a:rPr>
              <a:t>e</a:t>
            </a:r>
            <a:r>
              <a:rPr sz="1600" spc="-45" dirty="0">
                <a:latin typeface="Calibri"/>
                <a:cs typeface="Calibri"/>
              </a:rPr>
              <a:t>x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io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spc="5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15" dirty="0">
                <a:latin typeface="Calibri"/>
                <a:cs typeface="Calibri"/>
              </a:rPr>
              <a:t>h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5" dirty="0">
                <a:latin typeface="Calibri"/>
                <a:cs typeface="Calibri"/>
              </a:rPr>
              <a:t>ed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5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d  </a:t>
            </a:r>
            <a:r>
              <a:rPr sz="1600" spc="-10" dirty="0">
                <a:latin typeface="Calibri"/>
                <a:cs typeface="Calibri"/>
              </a:rPr>
              <a:t>unchecked.</a:t>
            </a:r>
            <a:endParaRPr sz="1600">
              <a:latin typeface="Calibri"/>
              <a:cs typeface="Calibri"/>
            </a:endParaRPr>
          </a:p>
          <a:p>
            <a:pPr marL="158115" indent="-114935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Here,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considered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unchecked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exception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03835" indent="-16065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04470" algn="l"/>
              </a:tabLst>
            </a:pPr>
            <a:r>
              <a:rPr sz="1600" spc="-10" dirty="0">
                <a:latin typeface="Calibri"/>
                <a:cs typeface="Calibri"/>
              </a:rPr>
              <a:t>According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Oracle,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types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exceptions: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Calibri"/>
              <a:cs typeface="Calibri"/>
            </a:endParaRPr>
          </a:p>
          <a:p>
            <a:pPr marL="549910" marR="3348354">
              <a:lnSpc>
                <a:spcPct val="115900"/>
              </a:lnSpc>
            </a:pP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Checked</a:t>
            </a:r>
            <a:r>
              <a:rPr sz="16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Exception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Unchecked</a:t>
            </a:r>
            <a:r>
              <a:rPr sz="1600" b="1" spc="-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Exception </a:t>
            </a:r>
            <a:r>
              <a:rPr sz="1600" b="1" spc="-35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Error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18351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3070" y="2021706"/>
            <a:ext cx="3122930" cy="1836420"/>
            <a:chOff x="3111500" y="2021706"/>
            <a:chExt cx="3122930" cy="18364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5324" y="2026277"/>
              <a:ext cx="1716024" cy="15742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30751" y="2021706"/>
              <a:ext cx="1725295" cy="1584960"/>
            </a:xfrm>
            <a:custGeom>
              <a:avLst/>
              <a:gdLst/>
              <a:ahLst/>
              <a:cxnLst/>
              <a:rect l="l" t="t" r="r" b="b"/>
              <a:pathLst>
                <a:path w="1725295" h="1584960">
                  <a:moveTo>
                    <a:pt x="1723644" y="1584960"/>
                  </a:moveTo>
                  <a:lnTo>
                    <a:pt x="0" y="1584960"/>
                  </a:lnTo>
                  <a:lnTo>
                    <a:pt x="0" y="0"/>
                  </a:lnTo>
                  <a:lnTo>
                    <a:pt x="1723644" y="0"/>
                  </a:lnTo>
                  <a:lnTo>
                    <a:pt x="1725168" y="1524"/>
                  </a:lnTo>
                  <a:lnTo>
                    <a:pt x="1725168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1578864"/>
                  </a:lnTo>
                  <a:lnTo>
                    <a:pt x="1524" y="1578864"/>
                  </a:lnTo>
                  <a:lnTo>
                    <a:pt x="4572" y="1581911"/>
                  </a:lnTo>
                  <a:lnTo>
                    <a:pt x="1725168" y="1581911"/>
                  </a:lnTo>
                  <a:lnTo>
                    <a:pt x="1725168" y="1583436"/>
                  </a:lnTo>
                  <a:lnTo>
                    <a:pt x="1723644" y="1584960"/>
                  </a:lnTo>
                  <a:close/>
                </a:path>
                <a:path w="1725295" h="1584960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1725295" h="1584960">
                  <a:moveTo>
                    <a:pt x="1720596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1720596" y="3048"/>
                  </a:lnTo>
                  <a:lnTo>
                    <a:pt x="1720596" y="4572"/>
                  </a:lnTo>
                  <a:close/>
                </a:path>
                <a:path w="1725295" h="1584960">
                  <a:moveTo>
                    <a:pt x="1720596" y="1581911"/>
                  </a:moveTo>
                  <a:lnTo>
                    <a:pt x="1720596" y="3048"/>
                  </a:lnTo>
                  <a:lnTo>
                    <a:pt x="1722120" y="4572"/>
                  </a:lnTo>
                  <a:lnTo>
                    <a:pt x="1725168" y="4572"/>
                  </a:lnTo>
                  <a:lnTo>
                    <a:pt x="1725168" y="1578864"/>
                  </a:lnTo>
                  <a:lnTo>
                    <a:pt x="1722120" y="1578864"/>
                  </a:lnTo>
                  <a:lnTo>
                    <a:pt x="1720596" y="1581911"/>
                  </a:lnTo>
                  <a:close/>
                </a:path>
                <a:path w="1725295" h="1584960">
                  <a:moveTo>
                    <a:pt x="1725168" y="4572"/>
                  </a:moveTo>
                  <a:lnTo>
                    <a:pt x="1722120" y="4572"/>
                  </a:lnTo>
                  <a:lnTo>
                    <a:pt x="1720596" y="3048"/>
                  </a:lnTo>
                  <a:lnTo>
                    <a:pt x="1725168" y="3048"/>
                  </a:lnTo>
                  <a:lnTo>
                    <a:pt x="1725168" y="4572"/>
                  </a:lnTo>
                  <a:close/>
                </a:path>
                <a:path w="1725295" h="1584960">
                  <a:moveTo>
                    <a:pt x="4572" y="1581911"/>
                  </a:moveTo>
                  <a:lnTo>
                    <a:pt x="1524" y="1578864"/>
                  </a:lnTo>
                  <a:lnTo>
                    <a:pt x="4572" y="1578864"/>
                  </a:lnTo>
                  <a:lnTo>
                    <a:pt x="4572" y="1581911"/>
                  </a:lnTo>
                  <a:close/>
                </a:path>
                <a:path w="1725295" h="1584960">
                  <a:moveTo>
                    <a:pt x="1720596" y="1581911"/>
                  </a:moveTo>
                  <a:lnTo>
                    <a:pt x="4572" y="1581911"/>
                  </a:lnTo>
                  <a:lnTo>
                    <a:pt x="4572" y="1578864"/>
                  </a:lnTo>
                  <a:lnTo>
                    <a:pt x="1720596" y="1578864"/>
                  </a:lnTo>
                  <a:lnTo>
                    <a:pt x="1720596" y="1581911"/>
                  </a:lnTo>
                  <a:close/>
                </a:path>
                <a:path w="1725295" h="1584960">
                  <a:moveTo>
                    <a:pt x="1725168" y="1581911"/>
                  </a:moveTo>
                  <a:lnTo>
                    <a:pt x="1720596" y="1581911"/>
                  </a:lnTo>
                  <a:lnTo>
                    <a:pt x="1722120" y="1578864"/>
                  </a:lnTo>
                  <a:lnTo>
                    <a:pt x="1725168" y="1578864"/>
                  </a:lnTo>
                  <a:lnTo>
                    <a:pt x="1725168" y="15819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1500" y="3713610"/>
              <a:ext cx="3122930" cy="144780"/>
            </a:xfrm>
            <a:custGeom>
              <a:avLst/>
              <a:gdLst/>
              <a:ahLst/>
              <a:cxnLst/>
              <a:rect l="l" t="t" r="r" b="b"/>
              <a:pathLst>
                <a:path w="3122929" h="144779">
                  <a:moveTo>
                    <a:pt x="3122783" y="0"/>
                  </a:moveTo>
                  <a:lnTo>
                    <a:pt x="0" y="0"/>
                  </a:lnTo>
                  <a:lnTo>
                    <a:pt x="0" y="144515"/>
                  </a:lnTo>
                  <a:lnTo>
                    <a:pt x="3122783" y="144515"/>
                  </a:lnTo>
                  <a:lnTo>
                    <a:pt x="3122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0" y="4390714"/>
            <a:ext cx="2985135" cy="521970"/>
          </a:xfrm>
          <a:custGeom>
            <a:avLst/>
            <a:gdLst/>
            <a:ahLst/>
            <a:cxnLst/>
            <a:rect l="l" t="t" r="r" b="b"/>
            <a:pathLst>
              <a:path w="2985135" h="521970">
                <a:moveTo>
                  <a:pt x="2984551" y="0"/>
                </a:moveTo>
                <a:lnTo>
                  <a:pt x="0" y="0"/>
                </a:lnTo>
                <a:lnTo>
                  <a:pt x="0" y="521511"/>
                </a:lnTo>
                <a:lnTo>
                  <a:pt x="2984551" y="521511"/>
                </a:lnTo>
                <a:lnTo>
                  <a:pt x="2984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86" y="1149350"/>
            <a:ext cx="5717013" cy="294576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73990" indent="-161925">
              <a:lnSpc>
                <a:spcPct val="100000"/>
              </a:lnSpc>
              <a:spcBef>
                <a:spcPts val="40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Checked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Exception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127635" algn="l"/>
                <a:tab pos="596900" algn="l"/>
                <a:tab pos="1332865" algn="l"/>
                <a:tab pos="1989455" algn="l"/>
                <a:tab pos="2769870" algn="l"/>
                <a:tab pos="3482975" algn="l"/>
                <a:tab pos="4523105" algn="l"/>
                <a:tab pos="5078095" algn="l"/>
              </a:tabLst>
            </a:pPr>
            <a:r>
              <a:rPr sz="1600" spc="-5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ss</a:t>
            </a:r>
            <a:r>
              <a:rPr sz="1600" spc="-5" dirty="0">
                <a:latin typeface="Calibri"/>
                <a:cs typeface="Calibri"/>
              </a:rPr>
              <a:t>es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w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re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ly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nh</a:t>
            </a:r>
            <a:r>
              <a:rPr sz="1600" spc="-5" dirty="0">
                <a:latin typeface="Calibri"/>
                <a:cs typeface="Calibri"/>
              </a:rPr>
              <a:t>erit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20" dirty="0">
                <a:latin typeface="Calibri"/>
                <a:cs typeface="Calibri"/>
              </a:rPr>
              <a:t>ro</a:t>
            </a:r>
            <a:r>
              <a:rPr sz="1600" spc="-30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5" dirty="0">
                <a:latin typeface="Calibri"/>
                <a:cs typeface="Calibri"/>
              </a:rPr>
              <a:t>le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5" dirty="0">
                <a:latin typeface="Calibri"/>
                <a:cs typeface="Calibri"/>
              </a:rPr>
              <a:t>e</a:t>
            </a:r>
            <a:r>
              <a:rPr sz="1600" spc="-45" dirty="0">
                <a:latin typeface="Calibri"/>
                <a:cs typeface="Calibri"/>
              </a:rPr>
              <a:t>x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1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5" dirty="0">
                <a:latin typeface="Calibri"/>
                <a:cs typeface="Calibri"/>
              </a:rPr>
              <a:t>t  </a:t>
            </a:r>
            <a:r>
              <a:rPr sz="1600" spc="-10" dirty="0">
                <a:latin typeface="Calibri"/>
                <a:cs typeface="Calibri"/>
              </a:rPr>
              <a:t>RuntimeException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known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exceptions</a:t>
            </a:r>
            <a:endParaRPr sz="1600" dirty="0">
              <a:latin typeface="Calibri"/>
              <a:cs typeface="Calibri"/>
            </a:endParaRPr>
          </a:p>
          <a:p>
            <a:pPr marL="127000" indent="-1149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e.g.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IOException,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SQLException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etc.</a:t>
            </a:r>
            <a:endParaRPr sz="1600" dirty="0">
              <a:latin typeface="Calibri"/>
              <a:cs typeface="Calibri"/>
            </a:endParaRPr>
          </a:p>
          <a:p>
            <a:pPr marL="127000" indent="-1149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exceptions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checked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compile-time.</a:t>
            </a:r>
            <a:endParaRPr sz="1600" dirty="0">
              <a:latin typeface="Calibri"/>
              <a:cs typeface="Calibri"/>
            </a:endParaRPr>
          </a:p>
          <a:p>
            <a:pPr marL="173990" indent="-161925">
              <a:lnSpc>
                <a:spcPct val="100000"/>
              </a:lnSpc>
              <a:spcBef>
                <a:spcPts val="30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Unchecked Exception</a:t>
            </a:r>
            <a:endParaRPr sz="1600" dirty="0">
              <a:latin typeface="Calibri"/>
              <a:cs typeface="Calibri"/>
            </a:endParaRPr>
          </a:p>
          <a:p>
            <a:pPr marL="127000" marR="5715" indent="-114935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635" algn="l"/>
                <a:tab pos="584835" algn="l"/>
                <a:tab pos="1308100" algn="l"/>
                <a:tab pos="1952625" algn="l"/>
                <a:tab pos="2654300" algn="l"/>
                <a:tab pos="4312285" algn="l"/>
                <a:tab pos="4732020" algn="l"/>
                <a:tab pos="5443220" algn="l"/>
              </a:tabLst>
            </a:pPr>
            <a:r>
              <a:rPr sz="1600" spc="-5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ss</a:t>
            </a:r>
            <a:r>
              <a:rPr sz="1600" spc="-5" dirty="0">
                <a:latin typeface="Calibri"/>
                <a:cs typeface="Calibri"/>
              </a:rPr>
              <a:t>es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w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10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un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m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30" dirty="0">
                <a:latin typeface="Calibri"/>
                <a:cs typeface="Calibri"/>
              </a:rPr>
              <a:t>x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ion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1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k</a:t>
            </a:r>
            <a:r>
              <a:rPr sz="1600" spc="15" dirty="0">
                <a:latin typeface="Calibri"/>
                <a:cs typeface="Calibri"/>
              </a:rPr>
              <a:t>n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spc="-15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as  </a:t>
            </a:r>
            <a:r>
              <a:rPr sz="1600" spc="-15" dirty="0">
                <a:latin typeface="Calibri"/>
                <a:cs typeface="Calibri"/>
              </a:rPr>
              <a:t>unchecked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exceptions</a:t>
            </a:r>
            <a:endParaRPr sz="1600" dirty="0">
              <a:latin typeface="Calibri"/>
              <a:cs typeface="Calibri"/>
            </a:endParaRPr>
          </a:p>
          <a:p>
            <a:pPr marL="127000" indent="-1149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e.g.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ArithmeticException,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NullPointerException,</a:t>
            </a:r>
            <a:endParaRPr sz="1600" dirty="0">
              <a:latin typeface="Calibri"/>
              <a:cs typeface="Calibri"/>
            </a:endParaRPr>
          </a:p>
          <a:p>
            <a:pPr marL="127000" marR="154940" indent="-114935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15" dirty="0">
                <a:latin typeface="Calibri"/>
                <a:cs typeface="Calibri"/>
              </a:rPr>
              <a:t>Unchecked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compile-time,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but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they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checked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runtime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920750"/>
            <a:ext cx="6094730" cy="3427729"/>
            <a:chOff x="838200" y="1127760"/>
            <a:chExt cx="6094730" cy="3427729"/>
          </a:xfrm>
        </p:grpSpPr>
        <p:sp>
          <p:nvSpPr>
            <p:cNvPr id="11" name="object 11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500" y="4382834"/>
              <a:ext cx="3179445" cy="125730"/>
            </a:xfrm>
            <a:custGeom>
              <a:avLst/>
              <a:gdLst/>
              <a:ahLst/>
              <a:cxnLst/>
              <a:rect l="l" t="t" r="r" b="b"/>
              <a:pathLst>
                <a:path w="3179445" h="125729">
                  <a:moveTo>
                    <a:pt x="3179332" y="0"/>
                  </a:moveTo>
                  <a:lnTo>
                    <a:pt x="0" y="0"/>
                  </a:lnTo>
                  <a:lnTo>
                    <a:pt x="0" y="125665"/>
                  </a:lnTo>
                  <a:lnTo>
                    <a:pt x="3179332" y="125665"/>
                  </a:lnTo>
                  <a:lnTo>
                    <a:pt x="317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432300" y="49455"/>
            <a:ext cx="3311525" cy="471805"/>
          </a:xfrm>
          <a:custGeom>
            <a:avLst/>
            <a:gdLst/>
            <a:ahLst/>
            <a:cxnLst/>
            <a:rect l="l" t="t" r="r" b="b"/>
            <a:pathLst>
              <a:path w="3311525" h="471805">
                <a:moveTo>
                  <a:pt x="3311281" y="0"/>
                </a:moveTo>
                <a:lnTo>
                  <a:pt x="0" y="0"/>
                </a:lnTo>
                <a:lnTo>
                  <a:pt x="0" y="471244"/>
                </a:lnTo>
                <a:lnTo>
                  <a:pt x="3311281" y="471244"/>
                </a:lnTo>
                <a:lnTo>
                  <a:pt x="3311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A35A3-A0E8-7058-6317-102392E7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1225550"/>
            <a:ext cx="6105525" cy="251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69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8DB3B-7880-7072-5A51-D28D031BF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568325"/>
            <a:ext cx="68103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63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B017B-97BA-EBBE-9942-9B076BAF9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24"/>
            <a:ext cx="7772400" cy="447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42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E77118-52F7-90EB-618C-FCF3A7B1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02" y="0"/>
            <a:ext cx="6716595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29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593" y="1117348"/>
            <a:ext cx="5913120" cy="283146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16535" indent="-204470">
              <a:lnSpc>
                <a:spcPct val="100000"/>
              </a:lnSpc>
              <a:spcBef>
                <a:spcPts val="465"/>
              </a:spcBef>
              <a:buSzPct val="94444"/>
              <a:buFont typeface="Wingdings"/>
              <a:buChar char=""/>
              <a:tabLst>
                <a:tab pos="217170" algn="l"/>
              </a:tabLst>
            </a:pPr>
            <a:r>
              <a:rPr sz="1800" b="1" spc="-5" dirty="0">
                <a:solidFill>
                  <a:srgbClr val="702FA0"/>
                </a:solidFill>
                <a:latin typeface="Calibri"/>
                <a:cs typeface="Calibri"/>
              </a:rPr>
              <a:t>Common</a:t>
            </a:r>
            <a:r>
              <a:rPr sz="1800" b="1"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02FA0"/>
                </a:solidFill>
                <a:latin typeface="Calibri"/>
                <a:cs typeface="Calibri"/>
              </a:rPr>
              <a:t>Scenarios</a:t>
            </a:r>
            <a:r>
              <a:rPr sz="1800" b="1"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02FA0"/>
                </a:solidFill>
                <a:latin typeface="Calibri"/>
                <a:cs typeface="Calibri"/>
              </a:rPr>
              <a:t>of</a:t>
            </a:r>
            <a:r>
              <a:rPr sz="1800" b="1" spc="-15" dirty="0">
                <a:solidFill>
                  <a:srgbClr val="702FA0"/>
                </a:solidFill>
                <a:latin typeface="Calibri"/>
                <a:cs typeface="Calibri"/>
              </a:rPr>
              <a:t> Java</a:t>
            </a:r>
            <a:r>
              <a:rPr sz="1800" b="1"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02FA0"/>
                </a:solidFill>
                <a:latin typeface="Calibri"/>
                <a:cs typeface="Calibri"/>
              </a:rPr>
              <a:t>Exceptions</a:t>
            </a:r>
            <a:endParaRPr sz="1800">
              <a:latin typeface="Calibri"/>
              <a:cs typeface="Calibri"/>
            </a:endParaRPr>
          </a:p>
          <a:p>
            <a:pPr marL="219710" indent="-207645">
              <a:lnSpc>
                <a:spcPct val="100000"/>
              </a:lnSpc>
              <a:spcBef>
                <a:spcPts val="320"/>
              </a:spcBef>
              <a:buClr>
                <a:srgbClr val="702FA0"/>
              </a:buClr>
              <a:buFont typeface="Wingdings"/>
              <a:buChar char=""/>
              <a:tabLst>
                <a:tab pos="220345" algn="l"/>
              </a:tabLst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scenario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1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ArithmeticException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  <a:p>
            <a:pPr marL="127635" marR="5080" indent="-127635">
              <a:lnSpc>
                <a:spcPct val="116199"/>
              </a:lnSpc>
              <a:buFont typeface="Arial MT"/>
              <a:buChar char="•"/>
              <a:tabLst>
                <a:tab pos="127635" algn="l"/>
                <a:tab pos="1244600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 </a:t>
            </a:r>
            <a:r>
              <a:rPr sz="1600" spc="-5" dirty="0">
                <a:latin typeface="Calibri"/>
                <a:cs typeface="Calibri"/>
              </a:rPr>
              <a:t>divide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any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number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zero,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ArithmeticException.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int</a:t>
            </a:r>
            <a:r>
              <a:rPr sz="1600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a=50/0;	//ArithmeticException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Calibri"/>
              <a:cs typeface="Calibri"/>
            </a:endParaRPr>
          </a:p>
          <a:p>
            <a:pPr marL="173990" indent="-161925">
              <a:lnSpc>
                <a:spcPct val="100000"/>
              </a:lnSpc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scenario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NullPointerException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  <a:p>
            <a:pPr marL="127000" marR="233045" indent="-114935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null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value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variable,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performing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any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variable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throws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NullPointerException.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70"/>
              </a:spcBef>
            </a:pP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String s=null;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310"/>
              </a:spcBef>
              <a:tabLst>
                <a:tab pos="2863215" algn="l"/>
              </a:tabLst>
            </a:pP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System.out.println(s.length());	//NullPointerException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1226821"/>
            <a:ext cx="6094730" cy="3427729"/>
            <a:chOff x="838200" y="1127760"/>
            <a:chExt cx="6094730" cy="3427729"/>
          </a:xfrm>
        </p:grpSpPr>
        <p:sp>
          <p:nvSpPr>
            <p:cNvPr id="11" name="object 11"/>
            <p:cNvSpPr/>
            <p:nvPr/>
          </p:nvSpPr>
          <p:spPr>
            <a:xfrm>
              <a:off x="844295" y="1133856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6082284" y="3415284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86100" y="4364251"/>
              <a:ext cx="3223895" cy="170180"/>
            </a:xfrm>
            <a:custGeom>
              <a:avLst/>
              <a:gdLst/>
              <a:ahLst/>
              <a:cxnLst/>
              <a:rect l="l" t="t" r="r" b="b"/>
              <a:pathLst>
                <a:path w="3223895" h="170179">
                  <a:moveTo>
                    <a:pt x="3223315" y="0"/>
                  </a:moveTo>
                  <a:lnTo>
                    <a:pt x="0" y="0"/>
                  </a:lnTo>
                  <a:lnTo>
                    <a:pt x="0" y="169648"/>
                  </a:lnTo>
                  <a:lnTo>
                    <a:pt x="3223315" y="169648"/>
                  </a:lnTo>
                  <a:lnTo>
                    <a:pt x="3223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368800" y="68571"/>
            <a:ext cx="3311525" cy="478155"/>
          </a:xfrm>
          <a:custGeom>
            <a:avLst/>
            <a:gdLst/>
            <a:ahLst/>
            <a:cxnLst/>
            <a:rect l="l" t="t" r="r" b="b"/>
            <a:pathLst>
              <a:path w="3311525" h="478155">
                <a:moveTo>
                  <a:pt x="3311281" y="0"/>
                </a:moveTo>
                <a:lnTo>
                  <a:pt x="0" y="0"/>
                </a:lnTo>
                <a:lnTo>
                  <a:pt x="0" y="477528"/>
                </a:lnTo>
                <a:lnTo>
                  <a:pt x="3311281" y="477528"/>
                </a:lnTo>
                <a:lnTo>
                  <a:pt x="3311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0341" y="524603"/>
            <a:ext cx="4316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indent="-161925">
              <a:lnSpc>
                <a:spcPct val="100000"/>
              </a:lnSpc>
              <a:spcBef>
                <a:spcPts val="95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scenario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NumberFormatException</a:t>
            </a:r>
            <a:r>
              <a:rPr sz="1600" spc="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0341" y="806569"/>
            <a:ext cx="4286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indent="-1149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27635" algn="l"/>
                <a:tab pos="741045" algn="l"/>
                <a:tab pos="1569720" algn="l"/>
                <a:tab pos="2755265" algn="l"/>
                <a:tab pos="3232150" algn="l"/>
                <a:tab pos="3834129" algn="l"/>
              </a:tabLst>
            </a:pP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w</a:t>
            </a:r>
            <a:r>
              <a:rPr sz="1600" spc="-20" dirty="0">
                <a:latin typeface="Calibri"/>
                <a:cs typeface="Calibri"/>
              </a:rPr>
              <a:t>ro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40" dirty="0">
                <a:latin typeface="Calibri"/>
                <a:cs typeface="Calibri"/>
              </a:rPr>
              <a:t>v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1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9794" y="806569"/>
            <a:ext cx="1137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750" algn="l"/>
              </a:tabLst>
            </a:pPr>
            <a:r>
              <a:rPr sz="1600" spc="-20" dirty="0">
                <a:latin typeface="Calibri"/>
                <a:cs typeface="Calibri"/>
              </a:rPr>
              <a:t>ma</a:t>
            </a:r>
            <a:r>
              <a:rPr sz="1600" spc="-5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0341" y="1025973"/>
            <a:ext cx="5708015" cy="26250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algn="just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latin typeface="Calibri"/>
                <a:cs typeface="Calibri"/>
              </a:rPr>
              <a:t>NumberFormatException. </a:t>
            </a:r>
            <a:r>
              <a:rPr sz="1600" spc="-5" dirty="0">
                <a:latin typeface="Calibri"/>
                <a:cs typeface="Calibri"/>
              </a:rPr>
              <a:t>Suppose I </a:t>
            </a:r>
            <a:r>
              <a:rPr sz="1600" spc="-15" dirty="0">
                <a:latin typeface="Calibri"/>
                <a:cs typeface="Calibri"/>
              </a:rPr>
              <a:t>have </a:t>
            </a:r>
            <a:r>
              <a:rPr sz="1600" spc="-5" dirty="0">
                <a:latin typeface="Calibri"/>
                <a:cs typeface="Calibri"/>
              </a:rPr>
              <a:t>a string variable that has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characters,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converting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variable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into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digit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will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occur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NumberFormatException.</a:t>
            </a:r>
            <a:endParaRPr sz="1600">
              <a:latin typeface="Calibri"/>
              <a:cs typeface="Calibri"/>
            </a:endParaRPr>
          </a:p>
          <a:p>
            <a:pPr marL="381000" algn="just">
              <a:lnSpc>
                <a:spcPct val="100000"/>
              </a:lnSpc>
              <a:spcBef>
                <a:spcPts val="284"/>
              </a:spcBef>
            </a:pP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String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s="abc";</a:t>
            </a:r>
            <a:endParaRPr sz="1600">
              <a:latin typeface="Calibri"/>
              <a:cs typeface="Calibri"/>
            </a:endParaRPr>
          </a:p>
          <a:p>
            <a:pPr marL="381000" algn="just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int</a:t>
            </a:r>
            <a:r>
              <a:rPr sz="1600" spc="-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i=Integer.parseInt(s);//NumberFormatException</a:t>
            </a:r>
            <a:endParaRPr sz="1600">
              <a:latin typeface="Calibri"/>
              <a:cs typeface="Calibri"/>
            </a:endParaRPr>
          </a:p>
          <a:p>
            <a:pPr marL="219710" indent="-207645" algn="just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20345" algn="l"/>
              </a:tabLst>
            </a:pP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scenario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ArrayIndexOutOfBoundsException</a:t>
            </a:r>
            <a:r>
              <a:rPr sz="1600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  <a:p>
            <a:pPr marL="127000" marR="5715" indent="-114935" algn="just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dirty="0">
                <a:latin typeface="Calibri"/>
                <a:cs typeface="Calibri"/>
              </a:rPr>
              <a:t>If </a:t>
            </a:r>
            <a:r>
              <a:rPr sz="1600" spc="-15" dirty="0">
                <a:latin typeface="Calibri"/>
                <a:cs typeface="Calibri"/>
              </a:rPr>
              <a:t>you </a:t>
            </a:r>
            <a:r>
              <a:rPr sz="1600" spc="-10" dirty="0">
                <a:latin typeface="Calibri"/>
                <a:cs typeface="Calibri"/>
              </a:rPr>
              <a:t>are </a:t>
            </a:r>
            <a:r>
              <a:rPr sz="1600" spc="-5" dirty="0">
                <a:latin typeface="Calibri"/>
                <a:cs typeface="Calibri"/>
              </a:rPr>
              <a:t>inserting </a:t>
            </a:r>
            <a:r>
              <a:rPr sz="1600" spc="-15" dirty="0">
                <a:latin typeface="Calibri"/>
                <a:cs typeface="Calibri"/>
              </a:rPr>
              <a:t>any </a:t>
            </a:r>
            <a:r>
              <a:rPr sz="1600" spc="-5" dirty="0">
                <a:latin typeface="Calibri"/>
                <a:cs typeface="Calibri"/>
              </a:rPr>
              <a:t>value in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wrong </a:t>
            </a:r>
            <a:r>
              <a:rPr sz="1600" spc="-10" dirty="0">
                <a:latin typeface="Calibri"/>
                <a:cs typeface="Calibri"/>
              </a:rPr>
              <a:t>index, </a:t>
            </a:r>
            <a:r>
              <a:rPr sz="1600" spc="-5" dirty="0">
                <a:latin typeface="Calibri"/>
                <a:cs typeface="Calibri"/>
              </a:rPr>
              <a:t>it would </a:t>
            </a:r>
            <a:r>
              <a:rPr sz="1600" spc="-10" dirty="0">
                <a:latin typeface="Calibri"/>
                <a:cs typeface="Calibri"/>
              </a:rPr>
              <a:t>result </a:t>
            </a:r>
            <a:r>
              <a:rPr sz="1600" spc="5" dirty="0">
                <a:latin typeface="Calibri"/>
                <a:cs typeface="Calibri"/>
              </a:rPr>
              <a:t>in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ArrayIndexOutOfBoundsException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shown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below:</a:t>
            </a:r>
            <a:endParaRPr sz="1600">
              <a:latin typeface="Calibri"/>
              <a:cs typeface="Calibri"/>
            </a:endParaRPr>
          </a:p>
          <a:p>
            <a:pPr marL="381000" algn="just">
              <a:lnSpc>
                <a:spcPct val="100000"/>
              </a:lnSpc>
              <a:spcBef>
                <a:spcPts val="280"/>
              </a:spcBef>
            </a:pP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int</a:t>
            </a:r>
            <a:r>
              <a:rPr sz="1600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a[]=new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int[5];</a:t>
            </a:r>
            <a:endParaRPr sz="1600">
              <a:latin typeface="Calibri"/>
              <a:cs typeface="Calibri"/>
            </a:endParaRPr>
          </a:p>
          <a:p>
            <a:pPr marL="381000" algn="just">
              <a:lnSpc>
                <a:spcPct val="100000"/>
              </a:lnSpc>
              <a:spcBef>
                <a:spcPts val="300"/>
              </a:spcBef>
            </a:pP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a[10]=50;</a:t>
            </a:r>
            <a:r>
              <a:rPr sz="1600" spc="40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//ArrayIndexOutOfBoundsException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000" y="387351"/>
            <a:ext cx="6170930" cy="3657600"/>
            <a:chOff x="838200" y="482466"/>
            <a:chExt cx="6094730" cy="3427729"/>
          </a:xfrm>
        </p:grpSpPr>
        <p:sp>
          <p:nvSpPr>
            <p:cNvPr id="14" name="object 14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9600" y="3732460"/>
              <a:ext cx="3110230" cy="125730"/>
            </a:xfrm>
            <a:custGeom>
              <a:avLst/>
              <a:gdLst/>
              <a:ahLst/>
              <a:cxnLst/>
              <a:rect l="l" t="t" r="r" b="b"/>
              <a:pathLst>
                <a:path w="3110229" h="125729">
                  <a:moveTo>
                    <a:pt x="3110216" y="0"/>
                  </a:moveTo>
                  <a:lnTo>
                    <a:pt x="0" y="0"/>
                  </a:lnTo>
                  <a:lnTo>
                    <a:pt x="0" y="125665"/>
                  </a:lnTo>
                  <a:lnTo>
                    <a:pt x="3110216" y="125665"/>
                  </a:lnTo>
                  <a:lnTo>
                    <a:pt x="31102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363" y="4325773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re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y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</a:t>
            </a:r>
            <a:r>
              <a:rPr sz="700" b="1" spc="-6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.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I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N</a:t>
            </a:r>
            <a:r>
              <a:rPr sz="7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M, A</a:t>
            </a:r>
            <a:r>
              <a:rPr sz="700" b="1" spc="-8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,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112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500" b="1" spc="-89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500" b="1" spc="-10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500" b="1" spc="-12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500" b="1" spc="39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500" b="1" spc="-3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500" b="1" spc="-120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1500" baseline="-555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295" y="920750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34290" algn="ctr">
              <a:lnSpc>
                <a:spcPts val="2175"/>
              </a:lnSpc>
            </a:pPr>
            <a:r>
              <a:rPr sz="2000" b="1" spc="-15" dirty="0">
                <a:latin typeface="Times New Roman"/>
                <a:cs typeface="Times New Roman"/>
              </a:rPr>
              <a:t>T</a:t>
            </a:r>
            <a:r>
              <a:rPr sz="2000" b="1" spc="-65" dirty="0">
                <a:latin typeface="Times New Roman"/>
                <a:cs typeface="Times New Roman"/>
              </a:rPr>
              <a:t>R</a:t>
            </a:r>
            <a:r>
              <a:rPr sz="2000" b="1" dirty="0">
                <a:latin typeface="Times New Roman"/>
                <a:cs typeface="Times New Roman"/>
              </a:rPr>
              <a:t>Y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C</a:t>
            </a:r>
            <a:r>
              <a:rPr sz="2000" b="1" spc="-145" dirty="0">
                <a:latin typeface="Times New Roman"/>
                <a:cs typeface="Times New Roman"/>
              </a:rPr>
              <a:t>A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spc="-5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H</a:t>
            </a:r>
            <a:endParaRPr sz="2000" dirty="0">
              <a:latin typeface="Times New Roman"/>
              <a:cs typeface="Times New Roman"/>
            </a:endParaRPr>
          </a:p>
          <a:p>
            <a:pPr marL="426720" indent="-162560">
              <a:lnSpc>
                <a:spcPts val="1600"/>
              </a:lnSpc>
              <a:buSzPct val="93750"/>
              <a:buFont typeface="Wingdings"/>
              <a:buChar char=""/>
              <a:tabLst>
                <a:tab pos="42735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try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statement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allows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define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3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code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</a:p>
          <a:p>
            <a:pPr marL="379095">
              <a:lnSpc>
                <a:spcPts val="1825"/>
              </a:lnSpc>
            </a:pPr>
            <a:r>
              <a:rPr sz="1600" spc="-15" dirty="0">
                <a:latin typeface="Calibri"/>
                <a:cs typeface="Calibri"/>
              </a:rPr>
              <a:t>tested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being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executed.</a:t>
            </a:r>
            <a:endParaRPr sz="1600" dirty="0">
              <a:latin typeface="Calibri"/>
              <a:cs typeface="Calibri"/>
            </a:endParaRPr>
          </a:p>
          <a:p>
            <a:pPr marL="379095" marR="222250" indent="-114935">
              <a:lnSpc>
                <a:spcPts val="1730"/>
              </a:lnSpc>
              <a:spcBef>
                <a:spcPts val="520"/>
              </a:spcBef>
              <a:buSzPct val="93750"/>
              <a:buFont typeface="Wingdings"/>
              <a:buChar char=""/>
              <a:tabLst>
                <a:tab pos="42735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catch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statement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allows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code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executed,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if 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block.</a:t>
            </a:r>
            <a:endParaRPr sz="1600" dirty="0">
              <a:latin typeface="Calibri"/>
              <a:cs typeface="Calibri"/>
            </a:endParaRPr>
          </a:p>
          <a:p>
            <a:pPr marL="426720" indent="-162560">
              <a:lnSpc>
                <a:spcPct val="100000"/>
              </a:lnSpc>
              <a:spcBef>
                <a:spcPts val="280"/>
              </a:spcBef>
              <a:buSzPct val="93750"/>
              <a:buFont typeface="Wingdings"/>
              <a:buChar char=""/>
              <a:tabLst>
                <a:tab pos="42735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try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catch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pairs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Calibri"/>
              <a:cs typeface="Calibri"/>
            </a:endParaRPr>
          </a:p>
          <a:p>
            <a:pPr marL="540385">
              <a:lnSpc>
                <a:spcPct val="100000"/>
              </a:lnSpc>
            </a:pP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Syntax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90572" y="2927603"/>
            <a:ext cx="3183890" cy="1231900"/>
            <a:chOff x="2290572" y="2927603"/>
            <a:chExt cx="3183890" cy="12319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6667" y="2932175"/>
              <a:ext cx="3172967" cy="1220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90572" y="2927603"/>
              <a:ext cx="3183890" cy="1231900"/>
            </a:xfrm>
            <a:custGeom>
              <a:avLst/>
              <a:gdLst/>
              <a:ahLst/>
              <a:cxnLst/>
              <a:rect l="l" t="t" r="r" b="b"/>
              <a:pathLst>
                <a:path w="3183890" h="1231900">
                  <a:moveTo>
                    <a:pt x="3182111" y="1231391"/>
                  </a:moveTo>
                  <a:lnTo>
                    <a:pt x="1524" y="1231391"/>
                  </a:lnTo>
                  <a:lnTo>
                    <a:pt x="0" y="1229868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182111" y="0"/>
                  </a:lnTo>
                  <a:lnTo>
                    <a:pt x="3183635" y="1524"/>
                  </a:lnTo>
                  <a:lnTo>
                    <a:pt x="6096" y="1524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6096" y="1225295"/>
                  </a:lnTo>
                  <a:lnTo>
                    <a:pt x="3048" y="1225295"/>
                  </a:lnTo>
                  <a:lnTo>
                    <a:pt x="6096" y="1228344"/>
                  </a:lnTo>
                  <a:lnTo>
                    <a:pt x="3183635" y="1228344"/>
                  </a:lnTo>
                  <a:lnTo>
                    <a:pt x="3183635" y="1229868"/>
                  </a:lnTo>
                  <a:lnTo>
                    <a:pt x="3182111" y="1231391"/>
                  </a:lnTo>
                  <a:close/>
                </a:path>
                <a:path w="3183890" h="1231900">
                  <a:moveTo>
                    <a:pt x="6096" y="4572"/>
                  </a:moveTo>
                  <a:lnTo>
                    <a:pt x="3048" y="4572"/>
                  </a:lnTo>
                  <a:lnTo>
                    <a:pt x="6096" y="1524"/>
                  </a:lnTo>
                  <a:lnTo>
                    <a:pt x="6096" y="4572"/>
                  </a:lnTo>
                  <a:close/>
                </a:path>
                <a:path w="3183890" h="1231900">
                  <a:moveTo>
                    <a:pt x="3179064" y="4572"/>
                  </a:moveTo>
                  <a:lnTo>
                    <a:pt x="6096" y="4572"/>
                  </a:lnTo>
                  <a:lnTo>
                    <a:pt x="6096" y="1524"/>
                  </a:lnTo>
                  <a:lnTo>
                    <a:pt x="3179064" y="1524"/>
                  </a:lnTo>
                  <a:lnTo>
                    <a:pt x="3179064" y="4572"/>
                  </a:lnTo>
                  <a:close/>
                </a:path>
                <a:path w="3183890" h="1231900">
                  <a:moveTo>
                    <a:pt x="3179064" y="1228344"/>
                  </a:moveTo>
                  <a:lnTo>
                    <a:pt x="3179064" y="1524"/>
                  </a:lnTo>
                  <a:lnTo>
                    <a:pt x="3180588" y="4572"/>
                  </a:lnTo>
                  <a:lnTo>
                    <a:pt x="3183635" y="4572"/>
                  </a:lnTo>
                  <a:lnTo>
                    <a:pt x="3183635" y="1225295"/>
                  </a:lnTo>
                  <a:lnTo>
                    <a:pt x="3180588" y="1225295"/>
                  </a:lnTo>
                  <a:lnTo>
                    <a:pt x="3179064" y="1228344"/>
                  </a:lnTo>
                  <a:close/>
                </a:path>
                <a:path w="3183890" h="1231900">
                  <a:moveTo>
                    <a:pt x="3183635" y="4572"/>
                  </a:moveTo>
                  <a:lnTo>
                    <a:pt x="3180588" y="4572"/>
                  </a:lnTo>
                  <a:lnTo>
                    <a:pt x="3179064" y="1524"/>
                  </a:lnTo>
                  <a:lnTo>
                    <a:pt x="3183635" y="1524"/>
                  </a:lnTo>
                  <a:lnTo>
                    <a:pt x="3183635" y="4572"/>
                  </a:lnTo>
                  <a:close/>
                </a:path>
                <a:path w="3183890" h="1231900">
                  <a:moveTo>
                    <a:pt x="6096" y="1228344"/>
                  </a:moveTo>
                  <a:lnTo>
                    <a:pt x="3048" y="1225295"/>
                  </a:lnTo>
                  <a:lnTo>
                    <a:pt x="6096" y="1225295"/>
                  </a:lnTo>
                  <a:lnTo>
                    <a:pt x="6096" y="1228344"/>
                  </a:lnTo>
                  <a:close/>
                </a:path>
                <a:path w="3183890" h="1231900">
                  <a:moveTo>
                    <a:pt x="3179064" y="1228344"/>
                  </a:moveTo>
                  <a:lnTo>
                    <a:pt x="6096" y="1228344"/>
                  </a:lnTo>
                  <a:lnTo>
                    <a:pt x="6096" y="1225295"/>
                  </a:lnTo>
                  <a:lnTo>
                    <a:pt x="3179064" y="1225295"/>
                  </a:lnTo>
                  <a:lnTo>
                    <a:pt x="3179064" y="1228344"/>
                  </a:lnTo>
                  <a:close/>
                </a:path>
                <a:path w="3183890" h="1231900">
                  <a:moveTo>
                    <a:pt x="3183635" y="1228344"/>
                  </a:moveTo>
                  <a:lnTo>
                    <a:pt x="3179064" y="1228344"/>
                  </a:lnTo>
                  <a:lnTo>
                    <a:pt x="3180588" y="1225295"/>
                  </a:lnTo>
                  <a:lnTo>
                    <a:pt x="3183635" y="1225295"/>
                  </a:lnTo>
                  <a:lnTo>
                    <a:pt x="3183635" y="122834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419600" y="81138"/>
            <a:ext cx="3352800" cy="465455"/>
          </a:xfrm>
          <a:custGeom>
            <a:avLst/>
            <a:gdLst/>
            <a:ahLst/>
            <a:cxnLst/>
            <a:rect l="l" t="t" r="r" b="b"/>
            <a:pathLst>
              <a:path w="3352800" h="465455">
                <a:moveTo>
                  <a:pt x="0" y="464961"/>
                </a:moveTo>
                <a:lnTo>
                  <a:pt x="3352800" y="464961"/>
                </a:lnTo>
                <a:lnTo>
                  <a:pt x="3352800" y="0"/>
                </a:lnTo>
                <a:lnTo>
                  <a:pt x="0" y="0"/>
                </a:lnTo>
                <a:lnTo>
                  <a:pt x="0" y="4649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73400" y="4319735"/>
            <a:ext cx="3154680" cy="163830"/>
          </a:xfrm>
          <a:custGeom>
            <a:avLst/>
            <a:gdLst/>
            <a:ahLst/>
            <a:cxnLst/>
            <a:rect l="l" t="t" r="r" b="b"/>
            <a:pathLst>
              <a:path w="3154679" h="163829">
                <a:moveTo>
                  <a:pt x="3154199" y="0"/>
                </a:moveTo>
                <a:lnTo>
                  <a:pt x="0" y="0"/>
                </a:lnTo>
                <a:lnTo>
                  <a:pt x="0" y="163364"/>
                </a:lnTo>
                <a:lnTo>
                  <a:pt x="3154199" y="163364"/>
                </a:lnTo>
                <a:lnTo>
                  <a:pt x="3154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0224" y="549522"/>
            <a:ext cx="5704840" cy="3130550"/>
            <a:chOff x="1030224" y="549522"/>
            <a:chExt cx="5704840" cy="3130550"/>
          </a:xfrm>
        </p:grpSpPr>
        <p:sp>
          <p:nvSpPr>
            <p:cNvPr id="5" name="object 5"/>
            <p:cNvSpPr/>
            <p:nvPr/>
          </p:nvSpPr>
          <p:spPr>
            <a:xfrm>
              <a:off x="1033272" y="552570"/>
              <a:ext cx="5699760" cy="3124200"/>
            </a:xfrm>
            <a:custGeom>
              <a:avLst/>
              <a:gdLst/>
              <a:ahLst/>
              <a:cxnLst/>
              <a:rect l="l" t="t" r="r" b="b"/>
              <a:pathLst>
                <a:path w="5699759" h="3124200">
                  <a:moveTo>
                    <a:pt x="5699760" y="3124199"/>
                  </a:moveTo>
                  <a:lnTo>
                    <a:pt x="0" y="3124199"/>
                  </a:lnTo>
                  <a:lnTo>
                    <a:pt x="0" y="0"/>
                  </a:lnTo>
                  <a:lnTo>
                    <a:pt x="5699760" y="0"/>
                  </a:lnTo>
                  <a:lnTo>
                    <a:pt x="5699760" y="3124199"/>
                  </a:lnTo>
                  <a:close/>
                </a:path>
              </a:pathLst>
            </a:custGeom>
            <a:solidFill>
              <a:srgbClr val="C4DF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0224" y="549522"/>
              <a:ext cx="5704840" cy="3130550"/>
            </a:xfrm>
            <a:custGeom>
              <a:avLst/>
              <a:gdLst/>
              <a:ahLst/>
              <a:cxnLst/>
              <a:rect l="l" t="t" r="r" b="b"/>
              <a:pathLst>
                <a:path w="5704840" h="3130550">
                  <a:moveTo>
                    <a:pt x="5702807" y="3130296"/>
                  </a:moveTo>
                  <a:lnTo>
                    <a:pt x="1524" y="3130296"/>
                  </a:lnTo>
                  <a:lnTo>
                    <a:pt x="0" y="312877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02807" y="0"/>
                  </a:lnTo>
                  <a:lnTo>
                    <a:pt x="5704332" y="1524"/>
                  </a:lnTo>
                  <a:lnTo>
                    <a:pt x="57043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125724"/>
                  </a:lnTo>
                  <a:lnTo>
                    <a:pt x="3048" y="3125724"/>
                  </a:lnTo>
                  <a:lnTo>
                    <a:pt x="4572" y="3127248"/>
                  </a:lnTo>
                  <a:lnTo>
                    <a:pt x="5704332" y="3127248"/>
                  </a:lnTo>
                  <a:lnTo>
                    <a:pt x="5704332" y="3128772"/>
                  </a:lnTo>
                  <a:lnTo>
                    <a:pt x="5702807" y="3130296"/>
                  </a:lnTo>
                  <a:close/>
                </a:path>
                <a:path w="5704840" h="313055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04840" h="3130550">
                  <a:moveTo>
                    <a:pt x="56997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699760" y="3048"/>
                  </a:lnTo>
                  <a:lnTo>
                    <a:pt x="5699760" y="4572"/>
                  </a:lnTo>
                  <a:close/>
                </a:path>
                <a:path w="5704840" h="3130550">
                  <a:moveTo>
                    <a:pt x="5699760" y="3127248"/>
                  </a:moveTo>
                  <a:lnTo>
                    <a:pt x="5699760" y="3048"/>
                  </a:lnTo>
                  <a:lnTo>
                    <a:pt x="5702807" y="4572"/>
                  </a:lnTo>
                  <a:lnTo>
                    <a:pt x="5704332" y="4572"/>
                  </a:lnTo>
                  <a:lnTo>
                    <a:pt x="5704332" y="3125724"/>
                  </a:lnTo>
                  <a:lnTo>
                    <a:pt x="5702807" y="3125724"/>
                  </a:lnTo>
                  <a:lnTo>
                    <a:pt x="5699760" y="3127248"/>
                  </a:lnTo>
                  <a:close/>
                </a:path>
                <a:path w="5704840" h="3130550">
                  <a:moveTo>
                    <a:pt x="5704332" y="4572"/>
                  </a:moveTo>
                  <a:lnTo>
                    <a:pt x="5702807" y="4572"/>
                  </a:lnTo>
                  <a:lnTo>
                    <a:pt x="5699760" y="3048"/>
                  </a:lnTo>
                  <a:lnTo>
                    <a:pt x="5704332" y="3048"/>
                  </a:lnTo>
                  <a:lnTo>
                    <a:pt x="5704332" y="4572"/>
                  </a:lnTo>
                  <a:close/>
                </a:path>
                <a:path w="5704840" h="3130550">
                  <a:moveTo>
                    <a:pt x="4572" y="3127248"/>
                  </a:moveTo>
                  <a:lnTo>
                    <a:pt x="3048" y="3125724"/>
                  </a:lnTo>
                  <a:lnTo>
                    <a:pt x="4572" y="3125724"/>
                  </a:lnTo>
                  <a:lnTo>
                    <a:pt x="4572" y="3127248"/>
                  </a:lnTo>
                  <a:close/>
                </a:path>
                <a:path w="5704840" h="3130550">
                  <a:moveTo>
                    <a:pt x="5699760" y="3127248"/>
                  </a:moveTo>
                  <a:lnTo>
                    <a:pt x="4572" y="3127248"/>
                  </a:lnTo>
                  <a:lnTo>
                    <a:pt x="4572" y="3125724"/>
                  </a:lnTo>
                  <a:lnTo>
                    <a:pt x="5699760" y="3125724"/>
                  </a:lnTo>
                  <a:lnTo>
                    <a:pt x="5699760" y="3127248"/>
                  </a:lnTo>
                  <a:close/>
                </a:path>
                <a:path w="5704840" h="3130550">
                  <a:moveTo>
                    <a:pt x="5704332" y="3127248"/>
                  </a:moveTo>
                  <a:lnTo>
                    <a:pt x="5699760" y="3127248"/>
                  </a:lnTo>
                  <a:lnTo>
                    <a:pt x="5702807" y="3125724"/>
                  </a:lnTo>
                  <a:lnTo>
                    <a:pt x="5704332" y="3125724"/>
                  </a:lnTo>
                  <a:lnTo>
                    <a:pt x="5704332" y="3127248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3272" y="552570"/>
            <a:ext cx="5699760" cy="312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1795"/>
              </a:lnSpc>
            </a:pPr>
            <a:r>
              <a:rPr sz="1600" spc="-5" dirty="0">
                <a:latin typeface="Calibri"/>
                <a:cs typeface="Calibri"/>
              </a:rPr>
              <a:t>Consider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following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example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 dirty="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This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will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generate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error,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because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myNumbers[10]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does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exist.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158115" marR="40005" indent="-114935">
              <a:lnSpc>
                <a:spcPts val="1730"/>
              </a:lnSpc>
              <a:spcBef>
                <a:spcPts val="1070"/>
              </a:spcBef>
              <a:buSzPct val="93750"/>
              <a:buFont typeface="Wingdings"/>
              <a:buChar char=""/>
              <a:tabLst>
                <a:tab pos="206375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an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occurs,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we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can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try...catch</a:t>
            </a:r>
            <a:r>
              <a:rPr sz="1600" spc="2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catch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execute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some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handle</a:t>
            </a:r>
            <a:r>
              <a:rPr sz="1600" spc="5" dirty="0">
                <a:latin typeface="Calibri"/>
                <a:cs typeface="Calibri"/>
              </a:rPr>
              <a:t> it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2363" y="3680550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re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y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</a:t>
            </a:r>
            <a:r>
              <a:rPr sz="700" b="1" spc="-6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.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I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N</a:t>
            </a:r>
            <a:r>
              <a:rPr sz="7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M, A</a:t>
            </a:r>
            <a:r>
              <a:rPr sz="700" b="1" spc="-8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,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112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500" b="1" spc="-89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500" b="1" spc="-10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500" b="1" spc="-12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500" b="1" spc="39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500" b="1" spc="-3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500" b="1" spc="-120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1500" baseline="-5555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488562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lang="en-US"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7695" y="855846"/>
            <a:ext cx="5019040" cy="3014980"/>
            <a:chOff x="1377695" y="855846"/>
            <a:chExt cx="5019040" cy="30149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3683" y="861942"/>
              <a:ext cx="3686555" cy="133502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39111" y="855846"/>
              <a:ext cx="3695700" cy="1347470"/>
            </a:xfrm>
            <a:custGeom>
              <a:avLst/>
              <a:gdLst/>
              <a:ahLst/>
              <a:cxnLst/>
              <a:rect l="l" t="t" r="r" b="b"/>
              <a:pathLst>
                <a:path w="3695700" h="1347470">
                  <a:moveTo>
                    <a:pt x="3694176" y="1347215"/>
                  </a:moveTo>
                  <a:lnTo>
                    <a:pt x="1524" y="1347215"/>
                  </a:lnTo>
                  <a:lnTo>
                    <a:pt x="0" y="134569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694176" y="0"/>
                  </a:lnTo>
                  <a:lnTo>
                    <a:pt x="3695700" y="1524"/>
                  </a:lnTo>
                  <a:lnTo>
                    <a:pt x="3695700" y="3048"/>
                  </a:lnTo>
                  <a:lnTo>
                    <a:pt x="4572" y="3048"/>
                  </a:lnTo>
                  <a:lnTo>
                    <a:pt x="1524" y="6096"/>
                  </a:lnTo>
                  <a:lnTo>
                    <a:pt x="4572" y="6096"/>
                  </a:lnTo>
                  <a:lnTo>
                    <a:pt x="4572" y="1341120"/>
                  </a:lnTo>
                  <a:lnTo>
                    <a:pt x="1524" y="1341120"/>
                  </a:lnTo>
                  <a:lnTo>
                    <a:pt x="4572" y="1344168"/>
                  </a:lnTo>
                  <a:lnTo>
                    <a:pt x="3695700" y="1344168"/>
                  </a:lnTo>
                  <a:lnTo>
                    <a:pt x="3695700" y="1345692"/>
                  </a:lnTo>
                  <a:lnTo>
                    <a:pt x="3694176" y="1347215"/>
                  </a:lnTo>
                  <a:close/>
                </a:path>
                <a:path w="3695700" h="1347470">
                  <a:moveTo>
                    <a:pt x="4572" y="6096"/>
                  </a:moveTo>
                  <a:lnTo>
                    <a:pt x="1524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3695700" h="1347470">
                  <a:moveTo>
                    <a:pt x="3691128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3691128" y="3048"/>
                  </a:lnTo>
                  <a:lnTo>
                    <a:pt x="3691128" y="6096"/>
                  </a:lnTo>
                  <a:close/>
                </a:path>
                <a:path w="3695700" h="1347470">
                  <a:moveTo>
                    <a:pt x="3691128" y="1344168"/>
                  </a:moveTo>
                  <a:lnTo>
                    <a:pt x="3691128" y="3048"/>
                  </a:lnTo>
                  <a:lnTo>
                    <a:pt x="3692652" y="6096"/>
                  </a:lnTo>
                  <a:lnTo>
                    <a:pt x="3695700" y="6096"/>
                  </a:lnTo>
                  <a:lnTo>
                    <a:pt x="3695700" y="1341120"/>
                  </a:lnTo>
                  <a:lnTo>
                    <a:pt x="3692652" y="1341120"/>
                  </a:lnTo>
                  <a:lnTo>
                    <a:pt x="3691128" y="1344168"/>
                  </a:lnTo>
                  <a:close/>
                </a:path>
                <a:path w="3695700" h="1347470">
                  <a:moveTo>
                    <a:pt x="3695700" y="6096"/>
                  </a:moveTo>
                  <a:lnTo>
                    <a:pt x="3692652" y="6096"/>
                  </a:lnTo>
                  <a:lnTo>
                    <a:pt x="3691128" y="3048"/>
                  </a:lnTo>
                  <a:lnTo>
                    <a:pt x="3695700" y="3048"/>
                  </a:lnTo>
                  <a:lnTo>
                    <a:pt x="3695700" y="6096"/>
                  </a:lnTo>
                  <a:close/>
                </a:path>
                <a:path w="3695700" h="1347470">
                  <a:moveTo>
                    <a:pt x="4572" y="1344168"/>
                  </a:moveTo>
                  <a:lnTo>
                    <a:pt x="1524" y="1341120"/>
                  </a:lnTo>
                  <a:lnTo>
                    <a:pt x="4572" y="1341120"/>
                  </a:lnTo>
                  <a:lnTo>
                    <a:pt x="4572" y="1344168"/>
                  </a:lnTo>
                  <a:close/>
                </a:path>
                <a:path w="3695700" h="1347470">
                  <a:moveTo>
                    <a:pt x="3691128" y="1344168"/>
                  </a:moveTo>
                  <a:lnTo>
                    <a:pt x="4572" y="1344168"/>
                  </a:lnTo>
                  <a:lnTo>
                    <a:pt x="4572" y="1341120"/>
                  </a:lnTo>
                  <a:lnTo>
                    <a:pt x="3691128" y="1341120"/>
                  </a:lnTo>
                  <a:lnTo>
                    <a:pt x="3691128" y="1344168"/>
                  </a:lnTo>
                  <a:close/>
                </a:path>
                <a:path w="3695700" h="1347470">
                  <a:moveTo>
                    <a:pt x="3695700" y="1344168"/>
                  </a:moveTo>
                  <a:lnTo>
                    <a:pt x="3691128" y="1344168"/>
                  </a:lnTo>
                  <a:lnTo>
                    <a:pt x="3692652" y="1341120"/>
                  </a:lnTo>
                  <a:lnTo>
                    <a:pt x="3695700" y="1341120"/>
                  </a:lnTo>
                  <a:lnTo>
                    <a:pt x="3695700" y="1344168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2267" y="2605398"/>
              <a:ext cx="5009387" cy="4892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7695" y="2599301"/>
              <a:ext cx="5019040" cy="500380"/>
            </a:xfrm>
            <a:custGeom>
              <a:avLst/>
              <a:gdLst/>
              <a:ahLst/>
              <a:cxnLst/>
              <a:rect l="l" t="t" r="r" b="b"/>
              <a:pathLst>
                <a:path w="5019040" h="500380">
                  <a:moveTo>
                    <a:pt x="5018532" y="499872"/>
                  </a:moveTo>
                  <a:lnTo>
                    <a:pt x="0" y="49987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017007" y="0"/>
                  </a:lnTo>
                  <a:lnTo>
                    <a:pt x="5018532" y="1524"/>
                  </a:lnTo>
                  <a:lnTo>
                    <a:pt x="5018532" y="3048"/>
                  </a:lnTo>
                  <a:lnTo>
                    <a:pt x="4572" y="3048"/>
                  </a:lnTo>
                  <a:lnTo>
                    <a:pt x="3048" y="6096"/>
                  </a:lnTo>
                  <a:lnTo>
                    <a:pt x="4572" y="6096"/>
                  </a:lnTo>
                  <a:lnTo>
                    <a:pt x="4572" y="495300"/>
                  </a:lnTo>
                  <a:lnTo>
                    <a:pt x="3048" y="495300"/>
                  </a:lnTo>
                  <a:lnTo>
                    <a:pt x="4572" y="498348"/>
                  </a:lnTo>
                  <a:lnTo>
                    <a:pt x="5018532" y="498348"/>
                  </a:lnTo>
                  <a:lnTo>
                    <a:pt x="5018532" y="499872"/>
                  </a:lnTo>
                  <a:close/>
                </a:path>
                <a:path w="5019040" h="500380">
                  <a:moveTo>
                    <a:pt x="4572" y="6096"/>
                  </a:moveTo>
                  <a:lnTo>
                    <a:pt x="3048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5019040" h="500380">
                  <a:moveTo>
                    <a:pt x="5013960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5013960" y="3048"/>
                  </a:lnTo>
                  <a:lnTo>
                    <a:pt x="5013960" y="6096"/>
                  </a:lnTo>
                  <a:close/>
                </a:path>
                <a:path w="5019040" h="500380">
                  <a:moveTo>
                    <a:pt x="5013960" y="498348"/>
                  </a:moveTo>
                  <a:lnTo>
                    <a:pt x="5013960" y="3048"/>
                  </a:lnTo>
                  <a:lnTo>
                    <a:pt x="5015484" y="6096"/>
                  </a:lnTo>
                  <a:lnTo>
                    <a:pt x="5018532" y="6096"/>
                  </a:lnTo>
                  <a:lnTo>
                    <a:pt x="5018532" y="495300"/>
                  </a:lnTo>
                  <a:lnTo>
                    <a:pt x="5015484" y="495300"/>
                  </a:lnTo>
                  <a:lnTo>
                    <a:pt x="5013960" y="498348"/>
                  </a:lnTo>
                  <a:close/>
                </a:path>
                <a:path w="5019040" h="500380">
                  <a:moveTo>
                    <a:pt x="5018532" y="6096"/>
                  </a:moveTo>
                  <a:lnTo>
                    <a:pt x="5015484" y="6096"/>
                  </a:lnTo>
                  <a:lnTo>
                    <a:pt x="5013960" y="3048"/>
                  </a:lnTo>
                  <a:lnTo>
                    <a:pt x="5018532" y="3048"/>
                  </a:lnTo>
                  <a:lnTo>
                    <a:pt x="5018532" y="6096"/>
                  </a:lnTo>
                  <a:close/>
                </a:path>
                <a:path w="5019040" h="500380">
                  <a:moveTo>
                    <a:pt x="4572" y="498348"/>
                  </a:moveTo>
                  <a:lnTo>
                    <a:pt x="3048" y="495300"/>
                  </a:lnTo>
                  <a:lnTo>
                    <a:pt x="4572" y="495300"/>
                  </a:lnTo>
                  <a:lnTo>
                    <a:pt x="4572" y="498348"/>
                  </a:lnTo>
                  <a:close/>
                </a:path>
                <a:path w="5019040" h="500380">
                  <a:moveTo>
                    <a:pt x="5013960" y="498348"/>
                  </a:moveTo>
                  <a:lnTo>
                    <a:pt x="4572" y="498348"/>
                  </a:lnTo>
                  <a:lnTo>
                    <a:pt x="4572" y="495300"/>
                  </a:lnTo>
                  <a:lnTo>
                    <a:pt x="5013960" y="495300"/>
                  </a:lnTo>
                  <a:lnTo>
                    <a:pt x="5013960" y="498348"/>
                  </a:lnTo>
                  <a:close/>
                </a:path>
                <a:path w="5019040" h="500380">
                  <a:moveTo>
                    <a:pt x="5018532" y="498348"/>
                  </a:moveTo>
                  <a:lnTo>
                    <a:pt x="5013960" y="498348"/>
                  </a:lnTo>
                  <a:lnTo>
                    <a:pt x="5015484" y="495300"/>
                  </a:lnTo>
                  <a:lnTo>
                    <a:pt x="5018532" y="495300"/>
                  </a:lnTo>
                  <a:lnTo>
                    <a:pt x="5018532" y="498348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8000" y="3720027"/>
              <a:ext cx="3223895" cy="151130"/>
            </a:xfrm>
            <a:custGeom>
              <a:avLst/>
              <a:gdLst/>
              <a:ahLst/>
              <a:cxnLst/>
              <a:rect l="l" t="t" r="r" b="b"/>
              <a:pathLst>
                <a:path w="3223895" h="151129">
                  <a:moveTo>
                    <a:pt x="3223315" y="0"/>
                  </a:moveTo>
                  <a:lnTo>
                    <a:pt x="0" y="0"/>
                  </a:lnTo>
                  <a:lnTo>
                    <a:pt x="0" y="150798"/>
                  </a:lnTo>
                  <a:lnTo>
                    <a:pt x="3223315" y="150798"/>
                  </a:lnTo>
                  <a:lnTo>
                    <a:pt x="3223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0800" y="4452479"/>
            <a:ext cx="2733675" cy="358140"/>
          </a:xfrm>
          <a:custGeom>
            <a:avLst/>
            <a:gdLst/>
            <a:ahLst/>
            <a:cxnLst/>
            <a:rect l="l" t="t" r="r" b="b"/>
            <a:pathLst>
              <a:path w="2733675" h="358139">
                <a:moveTo>
                  <a:pt x="2733220" y="0"/>
                </a:moveTo>
                <a:lnTo>
                  <a:pt x="0" y="0"/>
                </a:lnTo>
                <a:lnTo>
                  <a:pt x="0" y="358146"/>
                </a:lnTo>
                <a:lnTo>
                  <a:pt x="2733220" y="358146"/>
                </a:lnTo>
                <a:lnTo>
                  <a:pt x="27332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F4AD5-3FE3-26B5-1C7A-7C677B781A11}"/>
              </a:ext>
            </a:extLst>
          </p:cNvPr>
          <p:cNvSpPr txBox="1"/>
          <p:nvPr/>
        </p:nvSpPr>
        <p:spPr>
          <a:xfrm>
            <a:off x="609600" y="82550"/>
            <a:ext cx="6858000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myClass</a:t>
            </a:r>
            <a:r>
              <a:rPr lang="en-US" sz="2000" dirty="0"/>
              <a:t> 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try {</a:t>
            </a:r>
          </a:p>
          <a:p>
            <a:r>
              <a:rPr lang="en-US" sz="2000" dirty="0"/>
              <a:t>      int[] </a:t>
            </a:r>
            <a:r>
              <a:rPr lang="en-US" sz="2000" dirty="0" err="1"/>
              <a:t>myNumbers</a:t>
            </a:r>
            <a:r>
              <a:rPr lang="en-US" sz="2000" dirty="0"/>
              <a:t> ={1,2,3};</a:t>
            </a:r>
          </a:p>
          <a:p>
            <a:r>
              <a:rPr lang="en-US" sz="2000" dirty="0"/>
              <a:t>      System. out. </a:t>
            </a:r>
            <a:r>
              <a:rPr lang="en-US" sz="2000" dirty="0" err="1"/>
              <a:t>println</a:t>
            </a:r>
            <a:r>
              <a:rPr lang="en-US" sz="2000" dirty="0"/>
              <a:t> ( </a:t>
            </a:r>
            <a:r>
              <a:rPr lang="en-US" sz="2000" dirty="0" err="1">
                <a:solidFill>
                  <a:srgbClr val="FF0000"/>
                </a:solidFill>
              </a:rPr>
              <a:t>myNumbers</a:t>
            </a:r>
            <a:r>
              <a:rPr lang="en-US" sz="2000" dirty="0">
                <a:solidFill>
                  <a:srgbClr val="FF0000"/>
                </a:solidFill>
              </a:rPr>
              <a:t> [10]</a:t>
            </a:r>
            <a:r>
              <a:rPr lang="en-US" sz="2000" dirty="0"/>
              <a:t> ) ;</a:t>
            </a:r>
          </a:p>
          <a:p>
            <a:r>
              <a:rPr lang="en-US" sz="2000" dirty="0"/>
              <a:t>     </a:t>
            </a:r>
            <a:r>
              <a:rPr lang="en-US" sz="2000" dirty="0">
                <a:solidFill>
                  <a:srgbClr val="FF0000"/>
                </a:solidFill>
              </a:rPr>
              <a:t>}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catch (Exception e) 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System.out.println</a:t>
            </a:r>
            <a:r>
              <a:rPr lang="en-US" sz="2000" dirty="0"/>
              <a:t>( "Something went wrong.");</a:t>
            </a:r>
          </a:p>
          <a:p>
            <a:r>
              <a:rPr lang="en-US" sz="2000" dirty="0"/>
              <a:t>   </a:t>
            </a:r>
            <a:r>
              <a:rPr lang="en-US" sz="2000" dirty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/>
              <a:t> }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00030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7844" y="842645"/>
            <a:ext cx="5698490" cy="3126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425" indent="-182245">
              <a:lnSpc>
                <a:spcPts val="1810"/>
              </a:lnSpc>
              <a:buSzPct val="93750"/>
              <a:buFont typeface="Wingdings"/>
              <a:buChar char=""/>
              <a:tabLst>
                <a:tab pos="226060" algn="l"/>
              </a:tabLst>
            </a:pP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Internal</a:t>
            </a:r>
            <a:r>
              <a:rPr sz="1600" b="1" spc="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working</a:t>
            </a:r>
            <a:r>
              <a:rPr sz="16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of </a:t>
            </a: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java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try-catch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block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86931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61388" y="1149350"/>
            <a:ext cx="3851275" cy="2833370"/>
            <a:chOff x="1961388" y="781170"/>
            <a:chExt cx="3851275" cy="28333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5959" y="785742"/>
              <a:ext cx="3842003" cy="28239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61388" y="781170"/>
              <a:ext cx="3851275" cy="2833370"/>
            </a:xfrm>
            <a:custGeom>
              <a:avLst/>
              <a:gdLst/>
              <a:ahLst/>
              <a:cxnLst/>
              <a:rect l="l" t="t" r="r" b="b"/>
              <a:pathLst>
                <a:path w="3851275" h="2833370">
                  <a:moveTo>
                    <a:pt x="3851148" y="2833116"/>
                  </a:moveTo>
                  <a:lnTo>
                    <a:pt x="0" y="2833116"/>
                  </a:lnTo>
                  <a:lnTo>
                    <a:pt x="0" y="0"/>
                  </a:lnTo>
                  <a:lnTo>
                    <a:pt x="3851148" y="0"/>
                  </a:lnTo>
                  <a:lnTo>
                    <a:pt x="3851148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2828544"/>
                  </a:lnTo>
                  <a:lnTo>
                    <a:pt x="1524" y="2828544"/>
                  </a:lnTo>
                  <a:lnTo>
                    <a:pt x="4572" y="2830067"/>
                  </a:lnTo>
                  <a:lnTo>
                    <a:pt x="3851148" y="2830067"/>
                  </a:lnTo>
                  <a:lnTo>
                    <a:pt x="3851148" y="2833116"/>
                  </a:lnTo>
                  <a:close/>
                </a:path>
                <a:path w="3851275" h="2833370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3851275" h="2833370">
                  <a:moveTo>
                    <a:pt x="3846576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3846576" y="3048"/>
                  </a:lnTo>
                  <a:lnTo>
                    <a:pt x="3846576" y="4572"/>
                  </a:lnTo>
                  <a:close/>
                </a:path>
                <a:path w="3851275" h="2833370">
                  <a:moveTo>
                    <a:pt x="3846576" y="2830067"/>
                  </a:moveTo>
                  <a:lnTo>
                    <a:pt x="3846576" y="3048"/>
                  </a:lnTo>
                  <a:lnTo>
                    <a:pt x="3849624" y="4572"/>
                  </a:lnTo>
                  <a:lnTo>
                    <a:pt x="3851148" y="4572"/>
                  </a:lnTo>
                  <a:lnTo>
                    <a:pt x="3851148" y="2828544"/>
                  </a:lnTo>
                  <a:lnTo>
                    <a:pt x="3849624" y="2828544"/>
                  </a:lnTo>
                  <a:lnTo>
                    <a:pt x="3846576" y="2830067"/>
                  </a:lnTo>
                  <a:close/>
                </a:path>
                <a:path w="3851275" h="2833370">
                  <a:moveTo>
                    <a:pt x="3851148" y="4572"/>
                  </a:moveTo>
                  <a:lnTo>
                    <a:pt x="3849624" y="4572"/>
                  </a:lnTo>
                  <a:lnTo>
                    <a:pt x="3846576" y="3048"/>
                  </a:lnTo>
                  <a:lnTo>
                    <a:pt x="3851148" y="3048"/>
                  </a:lnTo>
                  <a:lnTo>
                    <a:pt x="3851148" y="4572"/>
                  </a:lnTo>
                  <a:close/>
                </a:path>
                <a:path w="3851275" h="2833370">
                  <a:moveTo>
                    <a:pt x="4572" y="2830067"/>
                  </a:moveTo>
                  <a:lnTo>
                    <a:pt x="1524" y="2828544"/>
                  </a:lnTo>
                  <a:lnTo>
                    <a:pt x="4572" y="2828544"/>
                  </a:lnTo>
                  <a:lnTo>
                    <a:pt x="4572" y="2830067"/>
                  </a:lnTo>
                  <a:close/>
                </a:path>
                <a:path w="3851275" h="2833370">
                  <a:moveTo>
                    <a:pt x="3846576" y="2830067"/>
                  </a:moveTo>
                  <a:lnTo>
                    <a:pt x="4572" y="2830067"/>
                  </a:lnTo>
                  <a:lnTo>
                    <a:pt x="4572" y="2828544"/>
                  </a:lnTo>
                  <a:lnTo>
                    <a:pt x="3846576" y="2828544"/>
                  </a:lnTo>
                  <a:lnTo>
                    <a:pt x="3846576" y="2830067"/>
                  </a:lnTo>
                  <a:close/>
                </a:path>
                <a:path w="3851275" h="2833370">
                  <a:moveTo>
                    <a:pt x="3851148" y="2830067"/>
                  </a:moveTo>
                  <a:lnTo>
                    <a:pt x="3846576" y="2830067"/>
                  </a:lnTo>
                  <a:lnTo>
                    <a:pt x="3849624" y="2828544"/>
                  </a:lnTo>
                  <a:lnTo>
                    <a:pt x="3851148" y="2828544"/>
                  </a:lnTo>
                  <a:lnTo>
                    <a:pt x="3851148" y="2830067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88900" y="4476945"/>
            <a:ext cx="2821305" cy="270510"/>
          </a:xfrm>
          <a:custGeom>
            <a:avLst/>
            <a:gdLst/>
            <a:ahLst/>
            <a:cxnLst/>
            <a:rect l="l" t="t" r="r" b="b"/>
            <a:pathLst>
              <a:path w="2821305" h="270510">
                <a:moveTo>
                  <a:pt x="2821186" y="0"/>
                </a:moveTo>
                <a:lnTo>
                  <a:pt x="0" y="0"/>
                </a:lnTo>
                <a:lnTo>
                  <a:pt x="0" y="270180"/>
                </a:lnTo>
                <a:lnTo>
                  <a:pt x="2821186" y="270180"/>
                </a:lnTo>
                <a:lnTo>
                  <a:pt x="28211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339" y="1154652"/>
            <a:ext cx="5633720" cy="24968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715" indent="-114935" algn="just">
              <a:lnSpc>
                <a:spcPts val="1730"/>
              </a:lnSpc>
              <a:spcBef>
                <a:spcPts val="31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JVM firstly </a:t>
            </a:r>
            <a:r>
              <a:rPr sz="1600" spc="-5" dirty="0">
                <a:latin typeface="Calibri"/>
                <a:cs typeface="Calibri"/>
              </a:rPr>
              <a:t>checks whether the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spc="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handled </a:t>
            </a:r>
            <a:r>
              <a:rPr sz="1600" spc="-5" dirty="0">
                <a:latin typeface="Calibri"/>
                <a:cs typeface="Calibri"/>
              </a:rPr>
              <a:t>or not. If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</a:t>
            </a:r>
            <a:r>
              <a:rPr sz="1600" spc="-5" dirty="0">
                <a:latin typeface="Calibri"/>
                <a:cs typeface="Calibri"/>
              </a:rPr>
              <a:t> handled,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JVM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-5" dirty="0">
                <a:latin typeface="Calibri"/>
                <a:cs typeface="Calibri"/>
              </a:rPr>
              <a:t> a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default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handler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 </a:t>
            </a:r>
            <a:r>
              <a:rPr sz="1600" spc="-15" dirty="0">
                <a:latin typeface="Calibri"/>
                <a:cs typeface="Calibri"/>
              </a:rPr>
              <a:t>performs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following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tasks:</a:t>
            </a:r>
            <a:endParaRPr sz="1600">
              <a:latin typeface="Calibri"/>
              <a:cs typeface="Calibri"/>
            </a:endParaRPr>
          </a:p>
          <a:p>
            <a:pPr marL="127000" indent="-114935" algn="just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Prints</a:t>
            </a:r>
            <a:r>
              <a:rPr sz="1600" spc="-10" dirty="0">
                <a:latin typeface="Calibri"/>
                <a:cs typeface="Calibri"/>
              </a:rPr>
              <a:t> out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description.</a:t>
            </a:r>
            <a:endParaRPr sz="1600">
              <a:latin typeface="Calibri"/>
              <a:cs typeface="Calibri"/>
            </a:endParaRPr>
          </a:p>
          <a:p>
            <a:pPr marL="127000" marR="6350" indent="-114935" algn="just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Prints the </a:t>
            </a:r>
            <a:r>
              <a:rPr sz="1600" spc="-10" dirty="0">
                <a:latin typeface="Calibri"/>
                <a:cs typeface="Calibri"/>
              </a:rPr>
              <a:t>stack </a:t>
            </a:r>
            <a:r>
              <a:rPr sz="1600" spc="-5" dirty="0">
                <a:latin typeface="Calibri"/>
                <a:cs typeface="Calibri"/>
              </a:rPr>
              <a:t>trace </a:t>
            </a:r>
            <a:r>
              <a:rPr sz="1600" spc="-10" dirty="0">
                <a:latin typeface="Calibri"/>
                <a:cs typeface="Calibri"/>
              </a:rPr>
              <a:t>(Hierarchy </a:t>
            </a:r>
            <a:r>
              <a:rPr sz="1600" spc="-5" dirty="0">
                <a:latin typeface="Calibri"/>
                <a:cs typeface="Calibri"/>
              </a:rPr>
              <a:t>of methods </a:t>
            </a:r>
            <a:r>
              <a:rPr sz="1600" spc="-10" dirty="0">
                <a:latin typeface="Calibri"/>
                <a:cs typeface="Calibri"/>
              </a:rPr>
              <a:t>where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spc="-10" dirty="0">
                <a:latin typeface="Calibri"/>
                <a:cs typeface="Calibri"/>
              </a:rPr>
              <a:t> occurred).</a:t>
            </a:r>
            <a:endParaRPr sz="1600">
              <a:latin typeface="Calibri"/>
              <a:cs typeface="Calibri"/>
            </a:endParaRPr>
          </a:p>
          <a:p>
            <a:pPr marL="127000" indent="-114935" algn="just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27635" algn="l"/>
              </a:tabLst>
            </a:pPr>
            <a:r>
              <a:rPr sz="1600" spc="-5" dirty="0">
                <a:latin typeface="Calibri"/>
                <a:cs typeface="Calibri"/>
              </a:rPr>
              <a:t>Causes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program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terminate.</a:t>
            </a:r>
            <a:endParaRPr sz="160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2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But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handled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application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programmer,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normal flow of the application is maintained </a:t>
            </a:r>
            <a:r>
              <a:rPr sz="1600" dirty="0">
                <a:latin typeface="Calibri"/>
                <a:cs typeface="Calibri"/>
              </a:rPr>
              <a:t>i.e. </a:t>
            </a:r>
            <a:r>
              <a:rPr sz="1600" spc="-15" dirty="0">
                <a:latin typeface="Calibri"/>
                <a:cs typeface="Calibri"/>
              </a:rPr>
              <a:t>rest </a:t>
            </a:r>
            <a:r>
              <a:rPr sz="1600" spc="-5" dirty="0">
                <a:latin typeface="Calibri"/>
                <a:cs typeface="Calibri"/>
              </a:rPr>
              <a:t>of the </a:t>
            </a:r>
            <a:r>
              <a:rPr sz="1600" spc="-15" dirty="0">
                <a:latin typeface="Calibri"/>
                <a:cs typeface="Calibri"/>
              </a:rPr>
              <a:t>code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executed.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4295" y="108648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4"/>
                </a:lnTo>
                <a:lnTo>
                  <a:pt x="6082284" y="3415284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81500" y="42904"/>
            <a:ext cx="3317875" cy="452755"/>
          </a:xfrm>
          <a:custGeom>
            <a:avLst/>
            <a:gdLst/>
            <a:ahLst/>
            <a:cxnLst/>
            <a:rect l="l" t="t" r="r" b="b"/>
            <a:pathLst>
              <a:path w="3317875" h="452755">
                <a:moveTo>
                  <a:pt x="3317564" y="0"/>
                </a:moveTo>
                <a:lnTo>
                  <a:pt x="0" y="0"/>
                </a:lnTo>
                <a:lnTo>
                  <a:pt x="0" y="452395"/>
                </a:lnTo>
                <a:lnTo>
                  <a:pt x="3317564" y="452395"/>
                </a:lnTo>
                <a:lnTo>
                  <a:pt x="3317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76205" y="690692"/>
            <a:ext cx="2144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0000"/>
                </a:solidFill>
                <a:latin typeface="Times New Roman"/>
                <a:cs typeface="Times New Roman"/>
              </a:rPr>
              <a:t>Multi-catch</a:t>
            </a:r>
            <a:r>
              <a:rPr sz="22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00"/>
                </a:solidFill>
                <a:latin typeface="Times New Roman"/>
                <a:cs typeface="Times New Roman"/>
              </a:rPr>
              <a:t>block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131" y="1100696"/>
            <a:ext cx="5650865" cy="215074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6364" marR="5080" indent="-114300" algn="just">
              <a:lnSpc>
                <a:spcPts val="1730"/>
              </a:lnSpc>
              <a:spcBef>
                <a:spcPts val="31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try </a:t>
            </a:r>
            <a:r>
              <a:rPr sz="1600" spc="-5" dirty="0">
                <a:latin typeface="Calibri"/>
                <a:cs typeface="Calibri"/>
              </a:rPr>
              <a:t>block can </a:t>
            </a:r>
            <a:r>
              <a:rPr sz="1600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followed </a:t>
            </a:r>
            <a:r>
              <a:rPr sz="1600" spc="-15" dirty="0">
                <a:latin typeface="Calibri"/>
                <a:cs typeface="Calibri"/>
              </a:rPr>
              <a:t>by </a:t>
            </a:r>
            <a:r>
              <a:rPr sz="1600" spc="-5" dirty="0">
                <a:latin typeface="Calibri"/>
                <a:cs typeface="Calibri"/>
              </a:rPr>
              <a:t>one </a:t>
            </a:r>
            <a:r>
              <a:rPr sz="1600" spc="-10" dirty="0">
                <a:latin typeface="Calibri"/>
                <a:cs typeface="Calibri"/>
              </a:rPr>
              <a:t>or more catch </a:t>
            </a:r>
            <a:r>
              <a:rPr sz="1600" spc="-5" dirty="0">
                <a:latin typeface="Calibri"/>
                <a:cs typeface="Calibri"/>
              </a:rPr>
              <a:t>blocks. Each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catch </a:t>
            </a:r>
            <a:r>
              <a:rPr sz="1600" dirty="0">
                <a:latin typeface="Calibri"/>
                <a:cs typeface="Calibri"/>
              </a:rPr>
              <a:t>block </a:t>
            </a:r>
            <a:r>
              <a:rPr sz="1600" spc="-10" dirty="0">
                <a:latin typeface="Calibri"/>
                <a:cs typeface="Calibri"/>
              </a:rPr>
              <a:t>must contain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5" dirty="0">
                <a:latin typeface="Calibri"/>
                <a:cs typeface="Calibri"/>
              </a:rPr>
              <a:t>different </a:t>
            </a:r>
            <a:r>
              <a:rPr sz="1600" spc="-10" dirty="0">
                <a:latin typeface="Calibri"/>
                <a:cs typeface="Calibri"/>
              </a:rPr>
              <a:t>exception </a:t>
            </a:r>
            <a:r>
              <a:rPr sz="1600" spc="-20" dirty="0">
                <a:latin typeface="Calibri"/>
                <a:cs typeface="Calibri"/>
              </a:rPr>
              <a:t>handler. </a:t>
            </a:r>
            <a:r>
              <a:rPr sz="1600" spc="-15" dirty="0">
                <a:latin typeface="Calibri"/>
                <a:cs typeface="Calibri"/>
              </a:rPr>
              <a:t>So, </a:t>
            </a:r>
            <a:r>
              <a:rPr sz="1600" spc="-5" dirty="0">
                <a:latin typeface="Calibri"/>
                <a:cs typeface="Calibri"/>
              </a:rPr>
              <a:t>if </a:t>
            </a:r>
            <a:r>
              <a:rPr sz="1600" spc="-15" dirty="0">
                <a:latin typeface="Calibri"/>
                <a:cs typeface="Calibri"/>
              </a:rPr>
              <a:t>you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-10" dirty="0">
                <a:latin typeface="Calibri"/>
                <a:cs typeface="Calibri"/>
              </a:rPr>
              <a:t> to</a:t>
            </a:r>
            <a:r>
              <a:rPr sz="1600" spc="-5" dirty="0">
                <a:latin typeface="Calibri"/>
                <a:cs typeface="Calibri"/>
              </a:rPr>
              <a:t> perform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different</a:t>
            </a:r>
            <a:r>
              <a:rPr sz="1600" spc="-10" dirty="0">
                <a:latin typeface="Calibri"/>
                <a:cs typeface="Calibri"/>
              </a:rPr>
              <a:t> tasks</a:t>
            </a:r>
            <a:r>
              <a:rPr sz="1600" spc="-5" dirty="0">
                <a:latin typeface="Calibri"/>
                <a:cs typeface="Calibri"/>
              </a:rPr>
              <a:t> at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occurrence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different </a:t>
            </a:r>
            <a:r>
              <a:rPr sz="1600" spc="-10" dirty="0">
                <a:latin typeface="Calibri"/>
                <a:cs typeface="Calibri"/>
              </a:rPr>
              <a:t> exceptions,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multi-catch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block.</a:t>
            </a:r>
            <a:endParaRPr sz="1600">
              <a:latin typeface="Calibri"/>
              <a:cs typeface="Calibri"/>
            </a:endParaRPr>
          </a:p>
          <a:p>
            <a:pPr marL="126364" marR="5080" indent="-114300" algn="just">
              <a:lnSpc>
                <a:spcPts val="1730"/>
              </a:lnSpc>
              <a:spcBef>
                <a:spcPts val="484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20" dirty="0">
                <a:solidFill>
                  <a:srgbClr val="702FA0"/>
                </a:solidFill>
                <a:latin typeface="Calibri"/>
                <a:cs typeface="Calibri"/>
              </a:rPr>
              <a:t>At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 time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only </a:t>
            </a:r>
            <a:r>
              <a:rPr sz="1600" spc="5" dirty="0">
                <a:solidFill>
                  <a:srgbClr val="702FA0"/>
                </a:solidFill>
                <a:latin typeface="Calibri"/>
                <a:cs typeface="Calibri"/>
              </a:rPr>
              <a:t>one 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exception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occurs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and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at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a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time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only one 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catch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block</a:t>
            </a:r>
            <a:r>
              <a:rPr sz="1600"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is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executed.</a:t>
            </a:r>
            <a:endParaRPr sz="1600">
              <a:latin typeface="Calibri"/>
              <a:cs typeface="Calibri"/>
            </a:endParaRPr>
          </a:p>
          <a:p>
            <a:pPr marL="126364" marR="5080" indent="-114300" algn="just">
              <a:lnSpc>
                <a:spcPts val="1730"/>
              </a:lnSpc>
              <a:spcBef>
                <a:spcPts val="50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All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catch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blocks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from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general, </a:t>
            </a:r>
            <a:r>
              <a:rPr sz="1600" spc="-5" dirty="0">
                <a:latin typeface="Calibri"/>
                <a:cs typeface="Calibri"/>
              </a:rPr>
              <a:t>i.e. </a:t>
            </a:r>
            <a:r>
              <a:rPr sz="1600" spc="-15" dirty="0">
                <a:latin typeface="Calibri"/>
                <a:cs typeface="Calibri"/>
              </a:rPr>
              <a:t>catch </a:t>
            </a:r>
            <a:r>
              <a:rPr sz="1600" spc="-10" dirty="0">
                <a:latin typeface="Calibri"/>
                <a:cs typeface="Calibri"/>
              </a:rPr>
              <a:t>for </a:t>
            </a:r>
            <a:r>
              <a:rPr sz="1600" spc="-5" dirty="0">
                <a:latin typeface="Calibri"/>
                <a:cs typeface="Calibri"/>
              </a:rPr>
              <a:t>ArithmeticException </a:t>
            </a:r>
            <a:r>
              <a:rPr sz="1600" spc="-10" dirty="0">
                <a:latin typeface="Calibri"/>
                <a:cs typeface="Calibri"/>
              </a:rPr>
              <a:t>must </a:t>
            </a:r>
            <a:r>
              <a:rPr sz="1600" spc="-5" dirty="0">
                <a:latin typeface="Calibri"/>
                <a:cs typeface="Calibri"/>
              </a:rPr>
              <a:t>come </a:t>
            </a:r>
            <a:r>
              <a:rPr sz="1600" spc="-20" dirty="0">
                <a:latin typeface="Calibri"/>
                <a:cs typeface="Calibri"/>
              </a:rPr>
              <a:t>before </a:t>
            </a:r>
            <a:r>
              <a:rPr sz="1600" spc="-15" dirty="0">
                <a:latin typeface="Calibri"/>
                <a:cs typeface="Calibri"/>
              </a:rPr>
              <a:t>catch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8200" y="541021"/>
            <a:ext cx="6094730" cy="3427729"/>
            <a:chOff x="838200" y="482466"/>
            <a:chExt cx="6094730" cy="3427729"/>
          </a:xfrm>
        </p:grpSpPr>
        <p:sp>
          <p:nvSpPr>
            <p:cNvPr id="15" name="object 15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11500" y="3720027"/>
              <a:ext cx="3185795" cy="151130"/>
            </a:xfrm>
            <a:custGeom>
              <a:avLst/>
              <a:gdLst/>
              <a:ahLst/>
              <a:cxnLst/>
              <a:rect l="l" t="t" r="r" b="b"/>
              <a:pathLst>
                <a:path w="3185795" h="151129">
                  <a:moveTo>
                    <a:pt x="3185615" y="0"/>
                  </a:moveTo>
                  <a:lnTo>
                    <a:pt x="0" y="0"/>
                  </a:lnTo>
                  <a:lnTo>
                    <a:pt x="0" y="150798"/>
                  </a:lnTo>
                  <a:lnTo>
                    <a:pt x="3185615" y="150798"/>
                  </a:lnTo>
                  <a:lnTo>
                    <a:pt x="31856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0800" y="4353282"/>
            <a:ext cx="2689860" cy="584835"/>
          </a:xfrm>
          <a:custGeom>
            <a:avLst/>
            <a:gdLst/>
            <a:ahLst/>
            <a:cxnLst/>
            <a:rect l="l" t="t" r="r" b="b"/>
            <a:pathLst>
              <a:path w="2689860" h="584835">
                <a:moveTo>
                  <a:pt x="2689237" y="0"/>
                </a:moveTo>
                <a:lnTo>
                  <a:pt x="0" y="0"/>
                </a:lnTo>
                <a:lnTo>
                  <a:pt x="0" y="584343"/>
                </a:lnTo>
                <a:lnTo>
                  <a:pt x="2689237" y="584343"/>
                </a:lnTo>
                <a:lnTo>
                  <a:pt x="26892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C5B40-B55A-E49A-3B6E-B38E85C3B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6350"/>
            <a:ext cx="7620000" cy="495520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b="1" dirty="0"/>
              <a:t>public class </a:t>
            </a:r>
            <a:r>
              <a:rPr lang="en-US" sz="1800" b="1" dirty="0" err="1"/>
              <a:t>MultipleCatch</a:t>
            </a:r>
            <a:r>
              <a:rPr lang="en-US" sz="1800" b="1" dirty="0"/>
              <a:t>{</a:t>
            </a:r>
          </a:p>
          <a:p>
            <a:r>
              <a:rPr lang="en-US" sz="1800" b="1" dirty="0"/>
              <a:t>public static void main(String[] </a:t>
            </a:r>
            <a:r>
              <a:rPr lang="en-US" sz="1800" b="1" dirty="0" err="1"/>
              <a:t>args</a:t>
            </a:r>
            <a:r>
              <a:rPr lang="en-US" sz="1800" b="1" dirty="0"/>
              <a:t>){</a:t>
            </a:r>
          </a:p>
          <a:p>
            <a:r>
              <a:rPr lang="en-US" sz="1800" b="1" dirty="0"/>
              <a:t>    try</a:t>
            </a:r>
          </a:p>
          <a:p>
            <a:r>
              <a:rPr lang="en-US" sz="1800" b="1" dirty="0"/>
              <a:t>    {</a:t>
            </a:r>
          </a:p>
          <a:p>
            <a:r>
              <a:rPr lang="en-US" sz="1800" b="1" dirty="0"/>
              <a:t>        int a[]=new int[5];</a:t>
            </a:r>
          </a:p>
          <a:p>
            <a:r>
              <a:rPr lang="en-US" sz="1800" b="1" dirty="0"/>
              <a:t>        a[5]=30/0;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    catch(</a:t>
            </a:r>
            <a:r>
              <a:rPr lang="en-US" sz="1800" b="1" dirty="0" err="1"/>
              <a:t>ArithmeticException</a:t>
            </a:r>
            <a:r>
              <a:rPr lang="en-US" sz="1800" b="1" dirty="0"/>
              <a:t> e)    {</a:t>
            </a:r>
          </a:p>
          <a:p>
            <a:r>
              <a:rPr lang="en-US" sz="1800" b="1" dirty="0"/>
              <a:t>    </a:t>
            </a:r>
            <a:r>
              <a:rPr lang="en-US" sz="1800" b="1" dirty="0" err="1"/>
              <a:t>System.out.println</a:t>
            </a:r>
            <a:r>
              <a:rPr lang="en-US" sz="1800" b="1" dirty="0"/>
              <a:t>("Arithmetic Exception occurs");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    catch(</a:t>
            </a:r>
            <a:r>
              <a:rPr lang="en-US" sz="1800" b="1" dirty="0" err="1"/>
              <a:t>ArrayIndexOutOfBoundsException</a:t>
            </a:r>
            <a:r>
              <a:rPr lang="en-US" sz="1800" b="1" dirty="0"/>
              <a:t> e)    {</a:t>
            </a:r>
          </a:p>
          <a:p>
            <a:r>
              <a:rPr lang="en-US" sz="1800" b="1" dirty="0"/>
              <a:t>     </a:t>
            </a:r>
            <a:r>
              <a:rPr lang="en-US" sz="1800" b="1" dirty="0" err="1"/>
              <a:t>System.out.println</a:t>
            </a:r>
            <a:r>
              <a:rPr lang="en-US" sz="1800" b="1" dirty="0"/>
              <a:t>("</a:t>
            </a:r>
            <a:r>
              <a:rPr lang="en-US" sz="1800" b="1" dirty="0" err="1"/>
              <a:t>ArrayIndexOutOfBoundsException</a:t>
            </a:r>
            <a:r>
              <a:rPr lang="en-US" sz="1800" b="1" dirty="0"/>
              <a:t> occurs");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    catch(Exception e)    {</a:t>
            </a:r>
          </a:p>
          <a:p>
            <a:r>
              <a:rPr lang="en-US" sz="1800" b="1" dirty="0"/>
              <a:t>    </a:t>
            </a:r>
            <a:r>
              <a:rPr lang="en-US" sz="1800" b="1" dirty="0" err="1"/>
              <a:t>System.out.println</a:t>
            </a:r>
            <a:r>
              <a:rPr lang="en-US" sz="1800" b="1" dirty="0"/>
              <a:t>("Parent Exception occurs");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}               </a:t>
            </a:r>
          </a:p>
          <a:p>
            <a:r>
              <a:rPr lang="en-US" sz="1800" b="1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91687-EEA9-C50A-41B5-DEA602FF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4121150"/>
            <a:ext cx="305752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74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295" y="705485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R="45085" algn="ctr">
              <a:lnSpc>
                <a:spcPct val="100000"/>
              </a:lnSpc>
              <a:spcBef>
                <a:spcPts val="819"/>
              </a:spcBef>
            </a:pPr>
            <a:r>
              <a:rPr sz="2200" b="1" spc="-5" dirty="0">
                <a:latin typeface="Times New Roman"/>
                <a:cs typeface="Times New Roman"/>
              </a:rPr>
              <a:t>Nested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try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block</a:t>
            </a:r>
            <a:endParaRPr sz="2200" dirty="0">
              <a:latin typeface="Times New Roman"/>
              <a:cs typeface="Times New Roman"/>
            </a:endParaRPr>
          </a:p>
          <a:p>
            <a:pPr marL="386715" marR="2166620" indent="-184785">
              <a:lnSpc>
                <a:spcPct val="115700"/>
              </a:lnSpc>
              <a:spcBef>
                <a:spcPts val="275"/>
              </a:spcBef>
              <a:buSzPct val="93750"/>
              <a:buFont typeface="Wingdings"/>
              <a:buChar char=""/>
              <a:tabLst>
                <a:tab pos="364490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5" dirty="0">
                <a:latin typeface="Calibri"/>
                <a:cs typeface="Calibri"/>
              </a:rPr>
              <a:t>try </a:t>
            </a:r>
            <a:r>
              <a:rPr sz="1600" spc="-5" dirty="0">
                <a:latin typeface="Calibri"/>
                <a:cs typeface="Calibri"/>
              </a:rPr>
              <a:t>block </a:t>
            </a:r>
            <a:r>
              <a:rPr sz="1600" dirty="0">
                <a:latin typeface="Calibri"/>
                <a:cs typeface="Calibri"/>
              </a:rPr>
              <a:t>within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try </a:t>
            </a:r>
            <a:r>
              <a:rPr sz="1600" spc="-5" dirty="0">
                <a:latin typeface="Calibri"/>
                <a:cs typeface="Calibri"/>
              </a:rPr>
              <a:t>block </a:t>
            </a:r>
            <a:r>
              <a:rPr sz="1600" spc="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known </a:t>
            </a:r>
            <a:r>
              <a:rPr sz="1600" spc="-5" dirty="0">
                <a:latin typeface="Calibri"/>
                <a:cs typeface="Calibri"/>
              </a:rPr>
              <a:t>as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nested </a:t>
            </a:r>
            <a:r>
              <a:rPr sz="1600" spc="5" dirty="0">
                <a:latin typeface="Calibri"/>
                <a:cs typeface="Calibri"/>
              </a:rPr>
              <a:t>try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java.</a:t>
            </a:r>
            <a:endParaRPr sz="1600" dirty="0">
              <a:latin typeface="Calibri"/>
              <a:cs typeface="Calibri"/>
            </a:endParaRPr>
          </a:p>
          <a:p>
            <a:pPr marL="340995" marR="1934845" indent="-139065">
              <a:lnSpc>
                <a:spcPct val="116199"/>
              </a:lnSpc>
              <a:buSzPct val="93750"/>
              <a:buFont typeface="Wingdings"/>
              <a:buChar char=""/>
              <a:tabLst>
                <a:tab pos="364490" algn="l"/>
              </a:tabLst>
            </a:pPr>
            <a:r>
              <a:rPr sz="1600" spc="-5" dirty="0">
                <a:latin typeface="Calibri"/>
                <a:cs typeface="Calibri"/>
              </a:rPr>
              <a:t>Sometimes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situation </a:t>
            </a:r>
            <a:r>
              <a:rPr sz="1600" spc="-10" dirty="0">
                <a:latin typeface="Calibri"/>
                <a:cs typeface="Calibri"/>
              </a:rPr>
              <a:t>may</a:t>
            </a:r>
            <a:r>
              <a:rPr sz="1600" spc="-5" dirty="0">
                <a:latin typeface="Calibri"/>
                <a:cs typeface="Calibri"/>
              </a:rPr>
              <a:t> arise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part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may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cause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error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entire</a:t>
            </a:r>
            <a:endParaRPr sz="1600" dirty="0">
              <a:latin typeface="Calibri"/>
              <a:cs typeface="Calibri"/>
            </a:endParaRPr>
          </a:p>
          <a:p>
            <a:pPr marL="340995" marR="1569720">
              <a:lnSpc>
                <a:spcPts val="2230"/>
              </a:lnSpc>
              <a:spcBef>
                <a:spcPts val="120"/>
              </a:spcBef>
            </a:pPr>
            <a:r>
              <a:rPr sz="1600" spc="-5" dirty="0">
                <a:latin typeface="Calibri"/>
                <a:cs typeface="Calibri"/>
              </a:rPr>
              <a:t>block itself </a:t>
            </a:r>
            <a:r>
              <a:rPr sz="1600" spc="-15" dirty="0">
                <a:latin typeface="Calibri"/>
                <a:cs typeface="Calibri"/>
              </a:rPr>
              <a:t>may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cause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another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error.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such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handlers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nested.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  <a:spcBef>
                <a:spcPts val="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93435" y="1073150"/>
            <a:ext cx="1330960" cy="2630805"/>
            <a:chOff x="5393435" y="1011294"/>
            <a:chExt cx="1330960" cy="26308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8007" y="1015865"/>
              <a:ext cx="1321308" cy="26212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93435" y="1011294"/>
              <a:ext cx="1330960" cy="2630805"/>
            </a:xfrm>
            <a:custGeom>
              <a:avLst/>
              <a:gdLst/>
              <a:ahLst/>
              <a:cxnLst/>
              <a:rect l="l" t="t" r="r" b="b"/>
              <a:pathLst>
                <a:path w="1330959" h="2630804">
                  <a:moveTo>
                    <a:pt x="1330451" y="2630424"/>
                  </a:moveTo>
                  <a:lnTo>
                    <a:pt x="0" y="2630424"/>
                  </a:lnTo>
                  <a:lnTo>
                    <a:pt x="0" y="0"/>
                  </a:lnTo>
                  <a:lnTo>
                    <a:pt x="1330451" y="0"/>
                  </a:lnTo>
                  <a:lnTo>
                    <a:pt x="1330451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2625851"/>
                  </a:lnTo>
                  <a:lnTo>
                    <a:pt x="1524" y="2625851"/>
                  </a:lnTo>
                  <a:lnTo>
                    <a:pt x="4572" y="2628900"/>
                  </a:lnTo>
                  <a:lnTo>
                    <a:pt x="1330451" y="2628900"/>
                  </a:lnTo>
                  <a:lnTo>
                    <a:pt x="1330451" y="2630424"/>
                  </a:lnTo>
                  <a:close/>
                </a:path>
                <a:path w="1330959" h="2630804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1330959" h="2630804">
                  <a:moveTo>
                    <a:pt x="132588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1325880" y="1524"/>
                  </a:lnTo>
                  <a:lnTo>
                    <a:pt x="1325880" y="4572"/>
                  </a:lnTo>
                  <a:close/>
                </a:path>
                <a:path w="1330959" h="2630804">
                  <a:moveTo>
                    <a:pt x="1325880" y="2628900"/>
                  </a:moveTo>
                  <a:lnTo>
                    <a:pt x="1325880" y="1524"/>
                  </a:lnTo>
                  <a:lnTo>
                    <a:pt x="1328928" y="4572"/>
                  </a:lnTo>
                  <a:lnTo>
                    <a:pt x="1330451" y="4572"/>
                  </a:lnTo>
                  <a:lnTo>
                    <a:pt x="1330451" y="2625851"/>
                  </a:lnTo>
                  <a:lnTo>
                    <a:pt x="1328928" y="2625851"/>
                  </a:lnTo>
                  <a:lnTo>
                    <a:pt x="1325880" y="2628900"/>
                  </a:lnTo>
                  <a:close/>
                </a:path>
                <a:path w="1330959" h="2630804">
                  <a:moveTo>
                    <a:pt x="1330451" y="4572"/>
                  </a:moveTo>
                  <a:lnTo>
                    <a:pt x="1328928" y="4572"/>
                  </a:lnTo>
                  <a:lnTo>
                    <a:pt x="1325880" y="1524"/>
                  </a:lnTo>
                  <a:lnTo>
                    <a:pt x="1330451" y="1524"/>
                  </a:lnTo>
                  <a:lnTo>
                    <a:pt x="1330451" y="4572"/>
                  </a:lnTo>
                  <a:close/>
                </a:path>
                <a:path w="1330959" h="2630804">
                  <a:moveTo>
                    <a:pt x="4572" y="2628900"/>
                  </a:moveTo>
                  <a:lnTo>
                    <a:pt x="1524" y="2625851"/>
                  </a:lnTo>
                  <a:lnTo>
                    <a:pt x="4572" y="2625851"/>
                  </a:lnTo>
                  <a:lnTo>
                    <a:pt x="4572" y="2628900"/>
                  </a:lnTo>
                  <a:close/>
                </a:path>
                <a:path w="1330959" h="2630804">
                  <a:moveTo>
                    <a:pt x="1325880" y="2628900"/>
                  </a:moveTo>
                  <a:lnTo>
                    <a:pt x="4572" y="2628900"/>
                  </a:lnTo>
                  <a:lnTo>
                    <a:pt x="4572" y="2625851"/>
                  </a:lnTo>
                  <a:lnTo>
                    <a:pt x="1325880" y="2625851"/>
                  </a:lnTo>
                  <a:lnTo>
                    <a:pt x="1325880" y="2628900"/>
                  </a:lnTo>
                  <a:close/>
                </a:path>
                <a:path w="1330959" h="2630804">
                  <a:moveTo>
                    <a:pt x="1330451" y="2628900"/>
                  </a:moveTo>
                  <a:lnTo>
                    <a:pt x="1325880" y="2628900"/>
                  </a:lnTo>
                  <a:lnTo>
                    <a:pt x="1328928" y="2625851"/>
                  </a:lnTo>
                  <a:lnTo>
                    <a:pt x="1330451" y="2625851"/>
                  </a:lnTo>
                  <a:lnTo>
                    <a:pt x="1330451" y="2628900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38100" y="4465179"/>
            <a:ext cx="2658110" cy="358140"/>
          </a:xfrm>
          <a:custGeom>
            <a:avLst/>
            <a:gdLst/>
            <a:ahLst/>
            <a:cxnLst/>
            <a:rect l="l" t="t" r="r" b="b"/>
            <a:pathLst>
              <a:path w="2658110" h="358139">
                <a:moveTo>
                  <a:pt x="2657821" y="0"/>
                </a:moveTo>
                <a:lnTo>
                  <a:pt x="0" y="0"/>
                </a:lnTo>
                <a:lnTo>
                  <a:pt x="0" y="358146"/>
                </a:lnTo>
                <a:lnTo>
                  <a:pt x="2657821" y="358146"/>
                </a:lnTo>
                <a:lnTo>
                  <a:pt x="26578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89F36-8EE5-AA78-45C5-A57832213D60}"/>
              </a:ext>
            </a:extLst>
          </p:cNvPr>
          <p:cNvSpPr txBox="1"/>
          <p:nvPr/>
        </p:nvSpPr>
        <p:spPr>
          <a:xfrm>
            <a:off x="533400" y="82550"/>
            <a:ext cx="6934200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class Excep6{</a:t>
            </a:r>
          </a:p>
          <a:p>
            <a:r>
              <a:rPr lang="en-US" sz="1400" b="1" dirty="0"/>
              <a:t>public static void main(String </a:t>
            </a:r>
            <a:r>
              <a:rPr lang="en-US" sz="1400" b="1" dirty="0" err="1"/>
              <a:t>args</a:t>
            </a:r>
            <a:r>
              <a:rPr lang="en-US" sz="1400" b="1" dirty="0"/>
              <a:t>[]){</a:t>
            </a:r>
          </a:p>
          <a:p>
            <a:r>
              <a:rPr lang="en-US" sz="1400" b="1" dirty="0"/>
              <a:t>try{</a:t>
            </a:r>
          </a:p>
          <a:p>
            <a:pPr lvl="1"/>
            <a:r>
              <a:rPr lang="en-US" sz="1400" b="1" dirty="0"/>
              <a:t>try{</a:t>
            </a:r>
          </a:p>
          <a:p>
            <a:pPr lvl="1"/>
            <a:r>
              <a:rPr lang="en-US" sz="1400" b="1" dirty="0" err="1"/>
              <a:t>System.out.println</a:t>
            </a:r>
            <a:r>
              <a:rPr lang="en-US" sz="1400" b="1" dirty="0"/>
              <a:t>("going to divide");</a:t>
            </a:r>
          </a:p>
          <a:p>
            <a:pPr lvl="1"/>
            <a:r>
              <a:rPr lang="en-US" sz="1400" b="1" dirty="0"/>
              <a:t>int b =39/0;</a:t>
            </a:r>
          </a:p>
          <a:p>
            <a:pPr lvl="1"/>
            <a:r>
              <a:rPr lang="en-US" sz="1400" b="1" dirty="0"/>
              <a:t>}</a:t>
            </a:r>
          </a:p>
          <a:p>
            <a:pPr lvl="1"/>
            <a:r>
              <a:rPr lang="en-US" sz="1400" b="1" dirty="0"/>
              <a:t>catch(</a:t>
            </a:r>
            <a:r>
              <a:rPr lang="en-US" sz="1400" b="1" dirty="0" err="1"/>
              <a:t>ArithmeticException</a:t>
            </a:r>
            <a:r>
              <a:rPr lang="en-US" sz="1400" b="1" dirty="0"/>
              <a:t> e)</a:t>
            </a:r>
          </a:p>
          <a:p>
            <a:pPr lvl="1"/>
            <a:r>
              <a:rPr lang="en-US" sz="1400" b="1" dirty="0"/>
              <a:t>{</a:t>
            </a:r>
            <a:r>
              <a:rPr lang="en-US" sz="1400" b="1" dirty="0" err="1"/>
              <a:t>System.out.println</a:t>
            </a:r>
            <a:r>
              <a:rPr lang="en-US" sz="1400" b="1" dirty="0"/>
              <a:t>(e);}</a:t>
            </a:r>
          </a:p>
          <a:p>
            <a:pPr lvl="1"/>
            <a:r>
              <a:rPr lang="en-US" sz="1400" b="1" dirty="0"/>
              <a:t>try{</a:t>
            </a:r>
          </a:p>
          <a:p>
            <a:pPr lvl="1"/>
            <a:r>
              <a:rPr lang="en-US" sz="1400" b="1" dirty="0"/>
              <a:t>int a[]=new int[5];</a:t>
            </a:r>
          </a:p>
          <a:p>
            <a:pPr lvl="1"/>
            <a:r>
              <a:rPr lang="en-US" sz="1400" b="1" dirty="0"/>
              <a:t>}catch(</a:t>
            </a:r>
            <a:r>
              <a:rPr lang="en-US" sz="1400" b="1" dirty="0" err="1"/>
              <a:t>ArrayIndexOutOfBoundsException</a:t>
            </a:r>
            <a:r>
              <a:rPr lang="en-US" sz="1400" b="1" dirty="0"/>
              <a:t> e)</a:t>
            </a:r>
          </a:p>
          <a:p>
            <a:r>
              <a:rPr lang="en-US" sz="1400" b="1" dirty="0"/>
              <a:t>            {</a:t>
            </a:r>
            <a:r>
              <a:rPr lang="en-US" sz="1400" b="1" dirty="0" err="1"/>
              <a:t>System.out.println</a:t>
            </a:r>
            <a:r>
              <a:rPr lang="en-US" sz="1400" b="1" dirty="0"/>
              <a:t>(e);</a:t>
            </a:r>
          </a:p>
          <a:p>
            <a:r>
              <a:rPr lang="en-US" sz="1400" b="1" dirty="0"/>
              <a:t>            }</a:t>
            </a:r>
          </a:p>
          <a:p>
            <a:r>
              <a:rPr lang="en-US" sz="1400" b="1" dirty="0"/>
              <a:t>  </a:t>
            </a:r>
            <a:r>
              <a:rPr lang="en-US" sz="1400" b="1" dirty="0" err="1"/>
              <a:t>System.out.println</a:t>
            </a:r>
            <a:r>
              <a:rPr lang="en-US" sz="1400" b="1" dirty="0"/>
              <a:t>("other statement");</a:t>
            </a:r>
          </a:p>
          <a:p>
            <a:r>
              <a:rPr lang="en-US" sz="1400" b="1" dirty="0"/>
              <a:t>}catch(Exception e)</a:t>
            </a:r>
          </a:p>
          <a:p>
            <a:r>
              <a:rPr lang="en-US" sz="1400" b="1" dirty="0"/>
              <a:t>{</a:t>
            </a:r>
          </a:p>
          <a:p>
            <a:r>
              <a:rPr lang="en-US" sz="1400" b="1" dirty="0" err="1"/>
              <a:t>System.out.println</a:t>
            </a:r>
            <a:r>
              <a:rPr lang="en-US" sz="1400" b="1" dirty="0"/>
              <a:t>("Parent exception");</a:t>
            </a:r>
          </a:p>
          <a:p>
            <a:r>
              <a:rPr lang="en-US" sz="1400" b="1" dirty="0"/>
              <a:t>}</a:t>
            </a:r>
          </a:p>
          <a:p>
            <a:r>
              <a:rPr lang="en-US" sz="1400" b="1" dirty="0" err="1"/>
              <a:t>System.out.println</a:t>
            </a:r>
            <a:r>
              <a:rPr lang="en-US" sz="1400" b="1" dirty="0"/>
              <a:t>("normal flow..");</a:t>
            </a:r>
          </a:p>
          <a:p>
            <a:r>
              <a:rPr lang="en-US" sz="1400" b="1" dirty="0"/>
              <a:t>}}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57F1A-FD96-B7CD-0BA1-7FDBE3353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901950"/>
            <a:ext cx="3418703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34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295" y="692150"/>
            <a:ext cx="6082665" cy="3048912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975"/>
              </a:spcBef>
            </a:pPr>
            <a:r>
              <a:rPr sz="2200" b="1" spc="-5" dirty="0">
                <a:latin typeface="Times New Roman"/>
                <a:cs typeface="Times New Roman"/>
              </a:rPr>
              <a:t>finally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block</a:t>
            </a:r>
            <a:endParaRPr sz="2200" dirty="0">
              <a:latin typeface="Times New Roman"/>
              <a:cs typeface="Times New Roman"/>
            </a:endParaRPr>
          </a:p>
          <a:p>
            <a:pPr marL="304165" marR="226060" indent="-114300">
              <a:lnSpc>
                <a:spcPts val="1730"/>
              </a:lnSpc>
              <a:spcBef>
                <a:spcPts val="1850"/>
              </a:spcBef>
              <a:buSzPct val="93750"/>
              <a:buFont typeface="Wingdings"/>
              <a:buChar char=""/>
              <a:tabLst>
                <a:tab pos="352425" algn="l"/>
              </a:tabLst>
            </a:pPr>
            <a:r>
              <a:rPr sz="1600" spc="-20" dirty="0">
                <a:latin typeface="Calibri"/>
                <a:cs typeface="Calibri"/>
              </a:rPr>
              <a:t>Java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finally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block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used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code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such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closing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connection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stream</a:t>
            </a:r>
            <a:r>
              <a:rPr sz="1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etc.</a:t>
            </a:r>
            <a:endParaRPr sz="1600" dirty="0">
              <a:latin typeface="Calibri"/>
              <a:cs typeface="Calibri"/>
            </a:endParaRPr>
          </a:p>
          <a:p>
            <a:pPr marL="304165" marR="226060" indent="-114300">
              <a:lnSpc>
                <a:spcPts val="1730"/>
              </a:lnSpc>
              <a:spcBef>
                <a:spcPts val="484"/>
              </a:spcBef>
              <a:buSzPct val="93750"/>
              <a:buFont typeface="Wingdings"/>
              <a:buChar char=""/>
              <a:tabLst>
                <a:tab pos="352425" algn="l"/>
              </a:tabLst>
            </a:pPr>
            <a:r>
              <a:rPr sz="1600" spc="-20" dirty="0">
                <a:latin typeface="Calibri"/>
                <a:cs typeface="Calibri"/>
              </a:rPr>
              <a:t>Java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finally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always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executed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whether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handled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not.</a:t>
            </a:r>
            <a:endParaRPr sz="1600" dirty="0">
              <a:latin typeface="Calibri"/>
              <a:cs typeface="Calibri"/>
            </a:endParaRPr>
          </a:p>
          <a:p>
            <a:pPr marL="351790" indent="-161925">
              <a:lnSpc>
                <a:spcPct val="100000"/>
              </a:lnSpc>
              <a:spcBef>
                <a:spcPts val="285"/>
              </a:spcBef>
              <a:buSzPct val="93750"/>
              <a:buFont typeface="Wingdings"/>
              <a:buChar char=""/>
              <a:tabLst>
                <a:tab pos="352425" algn="l"/>
              </a:tabLst>
            </a:pPr>
            <a:r>
              <a:rPr sz="1600" spc="-20" dirty="0">
                <a:latin typeface="Calibri"/>
                <a:cs typeface="Calibri"/>
              </a:rPr>
              <a:t>Java</a:t>
            </a:r>
            <a:r>
              <a:rPr sz="1600" dirty="0">
                <a:latin typeface="Calibri"/>
                <a:cs typeface="Calibri"/>
              </a:rPr>
              <a:t> finally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follows</a:t>
            </a:r>
            <a:r>
              <a:rPr sz="1600" dirty="0">
                <a:latin typeface="Calibri"/>
                <a:cs typeface="Calibri"/>
              </a:rPr>
              <a:t> try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catch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block.</a:t>
            </a:r>
            <a:endParaRPr sz="1600" dirty="0">
              <a:latin typeface="Calibri"/>
              <a:cs typeface="Calibri"/>
            </a:endParaRPr>
          </a:p>
          <a:p>
            <a:pPr marL="190500" marR="227965">
              <a:lnSpc>
                <a:spcPts val="1730"/>
              </a:lnSpc>
              <a:spcBef>
                <a:spcPts val="530"/>
              </a:spcBef>
              <a:tabLst>
                <a:tab pos="799465" algn="l"/>
                <a:tab pos="1055370" algn="l"/>
                <a:tab pos="1501140" algn="l"/>
                <a:tab pos="2076450" algn="l"/>
                <a:tab pos="2783840" algn="l"/>
                <a:tab pos="3779520" algn="l"/>
                <a:tab pos="4460240" algn="l"/>
                <a:tab pos="5568950" algn="l"/>
              </a:tabLst>
            </a:pP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No</a:t>
            </a:r>
            <a:r>
              <a:rPr sz="1600" b="1" spc="-35" dirty="0">
                <a:solidFill>
                  <a:srgbClr val="702FA0"/>
                </a:solidFill>
                <a:latin typeface="Calibri"/>
                <a:cs typeface="Calibri"/>
              </a:rPr>
              <a:t>t</a:t>
            </a:r>
            <a:r>
              <a:rPr sz="1600" b="1" spc="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: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spc="5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y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15" dirty="0">
                <a:latin typeface="Calibri"/>
                <a:cs typeface="Calibri"/>
              </a:rPr>
              <a:t>o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'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	h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le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5" dirty="0">
                <a:latin typeface="Calibri"/>
                <a:cs typeface="Calibri"/>
              </a:rPr>
              <a:t>e</a:t>
            </a:r>
            <a:r>
              <a:rPr sz="1600" spc="-45" dirty="0">
                <a:latin typeface="Calibri"/>
                <a:cs typeface="Calibri"/>
              </a:rPr>
              <a:t>x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15" dirty="0">
                <a:latin typeface="Calibri"/>
                <a:cs typeface="Calibri"/>
              </a:rPr>
              <a:t>t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	b</a:t>
            </a:r>
            <a:r>
              <a:rPr sz="1600" spc="-35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f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ermi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20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	th</a:t>
            </a:r>
            <a:r>
              <a:rPr sz="1600" spc="-5" dirty="0">
                <a:latin typeface="Calibri"/>
                <a:cs typeface="Calibri"/>
              </a:rPr>
              <a:t>e  </a:t>
            </a:r>
            <a:r>
              <a:rPr sz="1600" spc="-15" dirty="0">
                <a:latin typeface="Calibri"/>
                <a:cs typeface="Calibri"/>
              </a:rPr>
              <a:t>program,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JVM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executes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finally </a:t>
            </a:r>
            <a:r>
              <a:rPr sz="1600" spc="-5" dirty="0">
                <a:latin typeface="Calibri"/>
                <a:cs typeface="Calibri"/>
              </a:rPr>
              <a:t>block(if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any).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00" y="4470929"/>
            <a:ext cx="2890520" cy="301625"/>
          </a:xfrm>
          <a:custGeom>
            <a:avLst/>
            <a:gdLst/>
            <a:ahLst/>
            <a:cxnLst/>
            <a:rect l="l" t="t" r="r" b="b"/>
            <a:pathLst>
              <a:path w="2890520" h="301625">
                <a:moveTo>
                  <a:pt x="2890302" y="0"/>
                </a:moveTo>
                <a:lnTo>
                  <a:pt x="0" y="0"/>
                </a:lnTo>
                <a:lnTo>
                  <a:pt x="0" y="301596"/>
                </a:lnTo>
                <a:lnTo>
                  <a:pt x="2890302" y="301596"/>
                </a:lnTo>
                <a:lnTo>
                  <a:pt x="28903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29" y="25814"/>
            <a:ext cx="38290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40" dirty="0">
                <a:latin typeface="Calibri"/>
                <a:cs typeface="Calibri"/>
              </a:rPr>
              <a:t>O</a:t>
            </a:r>
            <a:r>
              <a:rPr sz="1250" spc="65" dirty="0">
                <a:latin typeface="Calibri"/>
                <a:cs typeface="Calibri"/>
              </a:rPr>
              <a:t>O</a:t>
            </a:r>
            <a:r>
              <a:rPr sz="1250" spc="-30" dirty="0">
                <a:latin typeface="Calibri"/>
                <a:cs typeface="Calibri"/>
              </a:rPr>
              <a:t>P</a:t>
            </a:r>
            <a:r>
              <a:rPr sz="1250" spc="20" dirty="0">
                <a:latin typeface="Calibri"/>
                <a:cs typeface="Calibri"/>
              </a:rPr>
              <a:t>J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295" y="79311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4035" y="996950"/>
            <a:ext cx="2626360" cy="2952115"/>
            <a:chOff x="2574035" y="1277112"/>
            <a:chExt cx="2626360" cy="29521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8608" y="1281683"/>
              <a:ext cx="2616708" cy="29428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74035" y="1277112"/>
              <a:ext cx="2626360" cy="2952115"/>
            </a:xfrm>
            <a:custGeom>
              <a:avLst/>
              <a:gdLst/>
              <a:ahLst/>
              <a:cxnLst/>
              <a:rect l="l" t="t" r="r" b="b"/>
              <a:pathLst>
                <a:path w="2626360" h="2952115">
                  <a:moveTo>
                    <a:pt x="2624327" y="2951988"/>
                  </a:moveTo>
                  <a:lnTo>
                    <a:pt x="1524" y="2951988"/>
                  </a:lnTo>
                  <a:lnTo>
                    <a:pt x="0" y="2950464"/>
                  </a:lnTo>
                  <a:lnTo>
                    <a:pt x="0" y="0"/>
                  </a:lnTo>
                  <a:lnTo>
                    <a:pt x="2625852" y="0"/>
                  </a:lnTo>
                  <a:lnTo>
                    <a:pt x="262585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2947416"/>
                  </a:lnTo>
                  <a:lnTo>
                    <a:pt x="3048" y="2947416"/>
                  </a:lnTo>
                  <a:lnTo>
                    <a:pt x="4572" y="2950464"/>
                  </a:lnTo>
                  <a:lnTo>
                    <a:pt x="2625852" y="2950464"/>
                  </a:lnTo>
                  <a:lnTo>
                    <a:pt x="2624327" y="2951988"/>
                  </a:lnTo>
                  <a:close/>
                </a:path>
                <a:path w="2626360" h="2952115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2626360" h="2952115">
                  <a:moveTo>
                    <a:pt x="262128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2621280" y="1524"/>
                  </a:lnTo>
                  <a:lnTo>
                    <a:pt x="2621280" y="4572"/>
                  </a:lnTo>
                  <a:close/>
                </a:path>
                <a:path w="2626360" h="2952115">
                  <a:moveTo>
                    <a:pt x="2621280" y="2950464"/>
                  </a:moveTo>
                  <a:lnTo>
                    <a:pt x="2621280" y="1524"/>
                  </a:lnTo>
                  <a:lnTo>
                    <a:pt x="2622803" y="4572"/>
                  </a:lnTo>
                  <a:lnTo>
                    <a:pt x="2625852" y="4572"/>
                  </a:lnTo>
                  <a:lnTo>
                    <a:pt x="2625852" y="2947416"/>
                  </a:lnTo>
                  <a:lnTo>
                    <a:pt x="2622803" y="2947416"/>
                  </a:lnTo>
                  <a:lnTo>
                    <a:pt x="2621280" y="2950464"/>
                  </a:lnTo>
                  <a:close/>
                </a:path>
                <a:path w="2626360" h="2952115">
                  <a:moveTo>
                    <a:pt x="2625852" y="4572"/>
                  </a:moveTo>
                  <a:lnTo>
                    <a:pt x="2622803" y="4572"/>
                  </a:lnTo>
                  <a:lnTo>
                    <a:pt x="2621280" y="1524"/>
                  </a:lnTo>
                  <a:lnTo>
                    <a:pt x="2625852" y="1524"/>
                  </a:lnTo>
                  <a:lnTo>
                    <a:pt x="2625852" y="4572"/>
                  </a:lnTo>
                  <a:close/>
                </a:path>
                <a:path w="2626360" h="2952115">
                  <a:moveTo>
                    <a:pt x="4572" y="2950464"/>
                  </a:moveTo>
                  <a:lnTo>
                    <a:pt x="3048" y="2947416"/>
                  </a:lnTo>
                  <a:lnTo>
                    <a:pt x="4572" y="2947416"/>
                  </a:lnTo>
                  <a:lnTo>
                    <a:pt x="4572" y="2950464"/>
                  </a:lnTo>
                  <a:close/>
                </a:path>
                <a:path w="2626360" h="2952115">
                  <a:moveTo>
                    <a:pt x="2621280" y="2950464"/>
                  </a:moveTo>
                  <a:lnTo>
                    <a:pt x="4572" y="2950464"/>
                  </a:lnTo>
                  <a:lnTo>
                    <a:pt x="4572" y="2947416"/>
                  </a:lnTo>
                  <a:lnTo>
                    <a:pt x="2621280" y="2947416"/>
                  </a:lnTo>
                  <a:lnTo>
                    <a:pt x="2621280" y="2950464"/>
                  </a:lnTo>
                  <a:close/>
                </a:path>
                <a:path w="2626360" h="2952115">
                  <a:moveTo>
                    <a:pt x="2625852" y="2950464"/>
                  </a:moveTo>
                  <a:lnTo>
                    <a:pt x="2621280" y="2950464"/>
                  </a:lnTo>
                  <a:lnTo>
                    <a:pt x="2622803" y="2947416"/>
                  </a:lnTo>
                  <a:lnTo>
                    <a:pt x="2625852" y="2947416"/>
                  </a:lnTo>
                  <a:lnTo>
                    <a:pt x="2625852" y="295046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318000" y="112020"/>
            <a:ext cx="3374390" cy="383540"/>
          </a:xfrm>
          <a:custGeom>
            <a:avLst/>
            <a:gdLst/>
            <a:ahLst/>
            <a:cxnLst/>
            <a:rect l="l" t="t" r="r" b="b"/>
            <a:pathLst>
              <a:path w="3374390" h="383540">
                <a:moveTo>
                  <a:pt x="3374113" y="0"/>
                </a:moveTo>
                <a:lnTo>
                  <a:pt x="0" y="0"/>
                </a:lnTo>
                <a:lnTo>
                  <a:pt x="0" y="383279"/>
                </a:lnTo>
                <a:lnTo>
                  <a:pt x="3374113" y="383279"/>
                </a:lnTo>
                <a:lnTo>
                  <a:pt x="3374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075" y="558665"/>
            <a:ext cx="5750560" cy="310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9554" indent="-204470">
              <a:lnSpc>
                <a:spcPts val="1989"/>
              </a:lnSpc>
              <a:buSzPct val="94444"/>
              <a:buFont typeface="Wingdings"/>
              <a:buChar char=""/>
              <a:tabLst>
                <a:tab pos="250190" algn="l"/>
              </a:tabLst>
            </a:pPr>
            <a:r>
              <a:rPr sz="1800" b="1" spc="-10" dirty="0">
                <a:solidFill>
                  <a:srgbClr val="702FA0"/>
                </a:solidFill>
                <a:latin typeface="Calibri"/>
                <a:cs typeface="Calibri"/>
              </a:rPr>
              <a:t>Usage</a:t>
            </a:r>
            <a:r>
              <a:rPr sz="1800" b="1"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02FA0"/>
                </a:solidFill>
                <a:latin typeface="Calibri"/>
                <a:cs typeface="Calibri"/>
              </a:rPr>
              <a:t>of</a:t>
            </a:r>
            <a:r>
              <a:rPr sz="1800" b="1"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702FA0"/>
                </a:solidFill>
                <a:latin typeface="Calibri"/>
                <a:cs typeface="Calibri"/>
              </a:rPr>
              <a:t>Java </a:t>
            </a:r>
            <a:r>
              <a:rPr sz="1800" b="1" spc="-5" dirty="0">
                <a:solidFill>
                  <a:srgbClr val="702FA0"/>
                </a:solidFill>
                <a:latin typeface="Calibri"/>
                <a:cs typeface="Calibri"/>
              </a:rPr>
              <a:t>finally</a:t>
            </a:r>
            <a:endParaRPr sz="1800">
              <a:latin typeface="Calibri"/>
              <a:cs typeface="Calibri"/>
            </a:endParaRPr>
          </a:p>
          <a:p>
            <a:pPr marL="159385" marR="86360" indent="-114300">
              <a:lnSpc>
                <a:spcPts val="1730"/>
              </a:lnSpc>
              <a:spcBef>
                <a:spcPts val="535"/>
              </a:spcBef>
              <a:buFont typeface="Arial MT"/>
              <a:buChar char="•"/>
              <a:tabLst>
                <a:tab pos="160020" algn="l"/>
              </a:tabLst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Case</a:t>
            </a:r>
            <a:r>
              <a:rPr sz="16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6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Let's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see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example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where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exception</a:t>
            </a:r>
            <a:r>
              <a:rPr sz="16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doesn't </a:t>
            </a:r>
            <a:r>
              <a:rPr sz="1600" b="1" spc="-3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occur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2363" y="3680550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a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re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d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y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</a:t>
            </a:r>
            <a:r>
              <a:rPr sz="700" b="1" spc="-65" dirty="0">
                <a:solidFill>
                  <a:srgbClr val="702FA0"/>
                </a:solidFill>
                <a:latin typeface="Calibri"/>
                <a:cs typeface="Calibri"/>
              </a:rPr>
              <a:t>r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.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I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N</a:t>
            </a:r>
            <a:r>
              <a:rPr sz="700" b="1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M, A</a:t>
            </a:r>
            <a:r>
              <a:rPr sz="700" b="1" spc="-80" dirty="0">
                <a:solidFill>
                  <a:srgbClr val="702FA0"/>
                </a:solidFill>
                <a:latin typeface="Calibri"/>
                <a:cs typeface="Calibri"/>
              </a:rPr>
              <a:t>P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,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S</a:t>
            </a:r>
            <a:r>
              <a:rPr sz="700" b="1" spc="-5" dirty="0">
                <a:solidFill>
                  <a:srgbClr val="702FA0"/>
                </a:solidFill>
                <a:latin typeface="Calibri"/>
                <a:cs typeface="Calibri"/>
              </a:rPr>
              <a:t>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112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500" b="1" spc="-89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500" b="1" spc="-10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500" b="1" spc="-12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500" b="1" spc="39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500" b="1" spc="-37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500" b="1" spc="-120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1500" baseline="-555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53975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82039" y="1358765"/>
            <a:ext cx="5605780" cy="2524760"/>
            <a:chOff x="1082039" y="1358765"/>
            <a:chExt cx="5605780" cy="25247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611" y="1364862"/>
              <a:ext cx="3543299" cy="22448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82039" y="1358765"/>
              <a:ext cx="3552825" cy="2255520"/>
            </a:xfrm>
            <a:custGeom>
              <a:avLst/>
              <a:gdLst/>
              <a:ahLst/>
              <a:cxnLst/>
              <a:rect l="l" t="t" r="r" b="b"/>
              <a:pathLst>
                <a:path w="3552825" h="2255520">
                  <a:moveTo>
                    <a:pt x="3552444" y="2255520"/>
                  </a:moveTo>
                  <a:lnTo>
                    <a:pt x="0" y="2255520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550919" y="0"/>
                  </a:lnTo>
                  <a:lnTo>
                    <a:pt x="3552444" y="1524"/>
                  </a:lnTo>
                  <a:lnTo>
                    <a:pt x="3552444" y="3048"/>
                  </a:lnTo>
                  <a:lnTo>
                    <a:pt x="4572" y="3048"/>
                  </a:lnTo>
                  <a:lnTo>
                    <a:pt x="1524" y="6096"/>
                  </a:lnTo>
                  <a:lnTo>
                    <a:pt x="4572" y="6096"/>
                  </a:lnTo>
                  <a:lnTo>
                    <a:pt x="4572" y="2250948"/>
                  </a:lnTo>
                  <a:lnTo>
                    <a:pt x="1524" y="2250948"/>
                  </a:lnTo>
                  <a:lnTo>
                    <a:pt x="4572" y="2253996"/>
                  </a:lnTo>
                  <a:lnTo>
                    <a:pt x="3552444" y="2253996"/>
                  </a:lnTo>
                  <a:lnTo>
                    <a:pt x="3552444" y="2255520"/>
                  </a:lnTo>
                  <a:close/>
                </a:path>
                <a:path w="3552825" h="2255520">
                  <a:moveTo>
                    <a:pt x="4572" y="6096"/>
                  </a:moveTo>
                  <a:lnTo>
                    <a:pt x="1524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3552825" h="2255520">
                  <a:moveTo>
                    <a:pt x="3547872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3547872" y="3048"/>
                  </a:lnTo>
                  <a:lnTo>
                    <a:pt x="3547872" y="6096"/>
                  </a:lnTo>
                  <a:close/>
                </a:path>
                <a:path w="3552825" h="2255520">
                  <a:moveTo>
                    <a:pt x="3547872" y="2253996"/>
                  </a:moveTo>
                  <a:lnTo>
                    <a:pt x="3547872" y="3048"/>
                  </a:lnTo>
                  <a:lnTo>
                    <a:pt x="3549396" y="6096"/>
                  </a:lnTo>
                  <a:lnTo>
                    <a:pt x="3552444" y="6096"/>
                  </a:lnTo>
                  <a:lnTo>
                    <a:pt x="3552444" y="2250948"/>
                  </a:lnTo>
                  <a:lnTo>
                    <a:pt x="3549396" y="2250948"/>
                  </a:lnTo>
                  <a:lnTo>
                    <a:pt x="3547872" y="2253996"/>
                  </a:lnTo>
                  <a:close/>
                </a:path>
                <a:path w="3552825" h="2255520">
                  <a:moveTo>
                    <a:pt x="3552444" y="6096"/>
                  </a:moveTo>
                  <a:lnTo>
                    <a:pt x="3549396" y="6096"/>
                  </a:lnTo>
                  <a:lnTo>
                    <a:pt x="3547872" y="3048"/>
                  </a:lnTo>
                  <a:lnTo>
                    <a:pt x="3552444" y="3048"/>
                  </a:lnTo>
                  <a:lnTo>
                    <a:pt x="3552444" y="6096"/>
                  </a:lnTo>
                  <a:close/>
                </a:path>
                <a:path w="3552825" h="2255520">
                  <a:moveTo>
                    <a:pt x="4572" y="2253996"/>
                  </a:moveTo>
                  <a:lnTo>
                    <a:pt x="1524" y="2250948"/>
                  </a:lnTo>
                  <a:lnTo>
                    <a:pt x="4572" y="2250948"/>
                  </a:lnTo>
                  <a:lnTo>
                    <a:pt x="4572" y="2253996"/>
                  </a:lnTo>
                  <a:close/>
                </a:path>
                <a:path w="3552825" h="2255520">
                  <a:moveTo>
                    <a:pt x="3547872" y="2253996"/>
                  </a:moveTo>
                  <a:lnTo>
                    <a:pt x="4572" y="2253996"/>
                  </a:lnTo>
                  <a:lnTo>
                    <a:pt x="4572" y="2250948"/>
                  </a:lnTo>
                  <a:lnTo>
                    <a:pt x="3547872" y="2250948"/>
                  </a:lnTo>
                  <a:lnTo>
                    <a:pt x="3547872" y="2253996"/>
                  </a:lnTo>
                  <a:close/>
                </a:path>
                <a:path w="3552825" h="2255520">
                  <a:moveTo>
                    <a:pt x="3552444" y="2253996"/>
                  </a:moveTo>
                  <a:lnTo>
                    <a:pt x="3547872" y="2253996"/>
                  </a:lnTo>
                  <a:lnTo>
                    <a:pt x="3549396" y="2250948"/>
                  </a:lnTo>
                  <a:lnTo>
                    <a:pt x="3552444" y="2250948"/>
                  </a:lnTo>
                  <a:lnTo>
                    <a:pt x="3552444" y="2253996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7448" y="1982082"/>
              <a:ext cx="1955291" cy="5044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22875" y="1975985"/>
              <a:ext cx="1964689" cy="516890"/>
            </a:xfrm>
            <a:custGeom>
              <a:avLst/>
              <a:gdLst/>
              <a:ahLst/>
              <a:cxnLst/>
              <a:rect l="l" t="t" r="r" b="b"/>
              <a:pathLst>
                <a:path w="1964690" h="516889">
                  <a:moveTo>
                    <a:pt x="1964436" y="516635"/>
                  </a:moveTo>
                  <a:lnTo>
                    <a:pt x="0" y="516635"/>
                  </a:lnTo>
                  <a:lnTo>
                    <a:pt x="0" y="0"/>
                  </a:lnTo>
                  <a:lnTo>
                    <a:pt x="1964436" y="0"/>
                  </a:lnTo>
                  <a:lnTo>
                    <a:pt x="1964436" y="3048"/>
                  </a:lnTo>
                  <a:lnTo>
                    <a:pt x="4572" y="3048"/>
                  </a:lnTo>
                  <a:lnTo>
                    <a:pt x="1524" y="6096"/>
                  </a:lnTo>
                  <a:lnTo>
                    <a:pt x="4572" y="6096"/>
                  </a:lnTo>
                  <a:lnTo>
                    <a:pt x="4572" y="510540"/>
                  </a:lnTo>
                  <a:lnTo>
                    <a:pt x="1524" y="510540"/>
                  </a:lnTo>
                  <a:lnTo>
                    <a:pt x="4572" y="513587"/>
                  </a:lnTo>
                  <a:lnTo>
                    <a:pt x="1964436" y="513587"/>
                  </a:lnTo>
                  <a:lnTo>
                    <a:pt x="1964436" y="516635"/>
                  </a:lnTo>
                  <a:close/>
                </a:path>
                <a:path w="1964690" h="516889">
                  <a:moveTo>
                    <a:pt x="4572" y="6096"/>
                  </a:moveTo>
                  <a:lnTo>
                    <a:pt x="1524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1964690" h="516889">
                  <a:moveTo>
                    <a:pt x="1959864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1959864" y="3048"/>
                  </a:lnTo>
                  <a:lnTo>
                    <a:pt x="1959864" y="6096"/>
                  </a:lnTo>
                  <a:close/>
                </a:path>
                <a:path w="1964690" h="516889">
                  <a:moveTo>
                    <a:pt x="1959864" y="513587"/>
                  </a:moveTo>
                  <a:lnTo>
                    <a:pt x="1959864" y="3048"/>
                  </a:lnTo>
                  <a:lnTo>
                    <a:pt x="1962912" y="6096"/>
                  </a:lnTo>
                  <a:lnTo>
                    <a:pt x="1964436" y="6096"/>
                  </a:lnTo>
                  <a:lnTo>
                    <a:pt x="1964436" y="510540"/>
                  </a:lnTo>
                  <a:lnTo>
                    <a:pt x="1962912" y="510540"/>
                  </a:lnTo>
                  <a:lnTo>
                    <a:pt x="1959864" y="513587"/>
                  </a:lnTo>
                  <a:close/>
                </a:path>
                <a:path w="1964690" h="516889">
                  <a:moveTo>
                    <a:pt x="1964436" y="6096"/>
                  </a:moveTo>
                  <a:lnTo>
                    <a:pt x="1962912" y="6096"/>
                  </a:lnTo>
                  <a:lnTo>
                    <a:pt x="1959864" y="3048"/>
                  </a:lnTo>
                  <a:lnTo>
                    <a:pt x="1964436" y="3048"/>
                  </a:lnTo>
                  <a:lnTo>
                    <a:pt x="1964436" y="6096"/>
                  </a:lnTo>
                  <a:close/>
                </a:path>
                <a:path w="1964690" h="516889">
                  <a:moveTo>
                    <a:pt x="4572" y="513587"/>
                  </a:moveTo>
                  <a:lnTo>
                    <a:pt x="1524" y="510540"/>
                  </a:lnTo>
                  <a:lnTo>
                    <a:pt x="4572" y="510540"/>
                  </a:lnTo>
                  <a:lnTo>
                    <a:pt x="4572" y="513587"/>
                  </a:lnTo>
                  <a:close/>
                </a:path>
                <a:path w="1964690" h="516889">
                  <a:moveTo>
                    <a:pt x="1959864" y="513587"/>
                  </a:moveTo>
                  <a:lnTo>
                    <a:pt x="4572" y="513587"/>
                  </a:lnTo>
                  <a:lnTo>
                    <a:pt x="4572" y="510540"/>
                  </a:lnTo>
                  <a:lnTo>
                    <a:pt x="1959864" y="510540"/>
                  </a:lnTo>
                  <a:lnTo>
                    <a:pt x="1959864" y="513587"/>
                  </a:lnTo>
                  <a:close/>
                </a:path>
                <a:path w="1964690" h="516889">
                  <a:moveTo>
                    <a:pt x="1964436" y="513587"/>
                  </a:moveTo>
                  <a:lnTo>
                    <a:pt x="1959864" y="513587"/>
                  </a:lnTo>
                  <a:lnTo>
                    <a:pt x="1962912" y="510540"/>
                  </a:lnTo>
                  <a:lnTo>
                    <a:pt x="1964436" y="510540"/>
                  </a:lnTo>
                  <a:lnTo>
                    <a:pt x="1964436" y="513587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8000" y="3682461"/>
              <a:ext cx="3185795" cy="201295"/>
            </a:xfrm>
            <a:custGeom>
              <a:avLst/>
              <a:gdLst/>
              <a:ahLst/>
              <a:cxnLst/>
              <a:rect l="l" t="t" r="r" b="b"/>
              <a:pathLst>
                <a:path w="3185795" h="201295">
                  <a:moveTo>
                    <a:pt x="3185615" y="0"/>
                  </a:moveTo>
                  <a:lnTo>
                    <a:pt x="0" y="0"/>
                  </a:lnTo>
                  <a:lnTo>
                    <a:pt x="0" y="201064"/>
                  </a:lnTo>
                  <a:lnTo>
                    <a:pt x="3185615" y="201064"/>
                  </a:lnTo>
                  <a:lnTo>
                    <a:pt x="31856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0800" y="4433897"/>
            <a:ext cx="2733675" cy="402590"/>
          </a:xfrm>
          <a:custGeom>
            <a:avLst/>
            <a:gdLst/>
            <a:ahLst/>
            <a:cxnLst/>
            <a:rect l="l" t="t" r="r" b="b"/>
            <a:pathLst>
              <a:path w="2733675" h="402589">
                <a:moveTo>
                  <a:pt x="2733220" y="0"/>
                </a:moveTo>
                <a:lnTo>
                  <a:pt x="0" y="0"/>
                </a:lnTo>
                <a:lnTo>
                  <a:pt x="0" y="402128"/>
                </a:lnTo>
                <a:lnTo>
                  <a:pt x="2733220" y="402128"/>
                </a:lnTo>
                <a:lnTo>
                  <a:pt x="27332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29" y="25814"/>
            <a:ext cx="38290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40" dirty="0">
                <a:latin typeface="Calibri"/>
                <a:cs typeface="Calibri"/>
              </a:rPr>
              <a:t>O</a:t>
            </a:r>
            <a:r>
              <a:rPr sz="1250" spc="65" dirty="0">
                <a:latin typeface="Calibri"/>
                <a:cs typeface="Calibri"/>
              </a:rPr>
              <a:t>O</a:t>
            </a:r>
            <a:r>
              <a:rPr sz="1250" spc="-30" dirty="0">
                <a:latin typeface="Calibri"/>
                <a:cs typeface="Calibri"/>
              </a:rPr>
              <a:t>P</a:t>
            </a:r>
            <a:r>
              <a:rPr sz="1250" spc="20" dirty="0">
                <a:latin typeface="Calibri"/>
                <a:cs typeface="Calibri"/>
              </a:rPr>
              <a:t>J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9075" y="1398905"/>
            <a:ext cx="5750559" cy="310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 marR="289560">
              <a:lnSpc>
                <a:spcPts val="1730"/>
              </a:lnSpc>
              <a:spcBef>
                <a:spcPts val="90"/>
              </a:spcBef>
            </a:pPr>
            <a:r>
              <a:rPr spc="-5" dirty="0"/>
              <a:t>Case</a:t>
            </a:r>
            <a:r>
              <a:rPr spc="15" dirty="0"/>
              <a:t> </a:t>
            </a:r>
            <a:r>
              <a:rPr spc="-5" dirty="0"/>
              <a:t>2</a:t>
            </a:r>
            <a:r>
              <a:rPr spc="-10" dirty="0"/>
              <a:t> </a:t>
            </a:r>
            <a:r>
              <a:rPr spc="-5" dirty="0"/>
              <a:t>-</a:t>
            </a:r>
            <a:r>
              <a:rPr spc="5" dirty="0"/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Let's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java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finally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example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where</a:t>
            </a:r>
            <a:r>
              <a:rPr b="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/>
              <a:t>exception</a:t>
            </a:r>
            <a:r>
              <a:rPr spc="25" dirty="0"/>
              <a:t> </a:t>
            </a:r>
            <a:r>
              <a:rPr spc="-10" dirty="0"/>
              <a:t>occurs </a:t>
            </a:r>
            <a:r>
              <a:rPr spc="-345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10" dirty="0"/>
              <a:t>not </a:t>
            </a:r>
            <a:r>
              <a:rPr spc="-5" dirty="0"/>
              <a:t>handled.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4295" y="109791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07236" y="1682750"/>
            <a:ext cx="4759960" cy="2819400"/>
            <a:chOff x="1507236" y="1481327"/>
            <a:chExt cx="4759960" cy="30276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2908" y="1487424"/>
              <a:ext cx="3307079" cy="20680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88335" y="1481327"/>
              <a:ext cx="3316604" cy="2078989"/>
            </a:xfrm>
            <a:custGeom>
              <a:avLst/>
              <a:gdLst/>
              <a:ahLst/>
              <a:cxnLst/>
              <a:rect l="l" t="t" r="r" b="b"/>
              <a:pathLst>
                <a:path w="3316604" h="2078989">
                  <a:moveTo>
                    <a:pt x="3314700" y="2078736"/>
                  </a:moveTo>
                  <a:lnTo>
                    <a:pt x="1524" y="2078736"/>
                  </a:lnTo>
                  <a:lnTo>
                    <a:pt x="0" y="207721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314700" y="0"/>
                  </a:lnTo>
                  <a:lnTo>
                    <a:pt x="3316224" y="1524"/>
                  </a:lnTo>
                  <a:lnTo>
                    <a:pt x="3316224" y="3048"/>
                  </a:lnTo>
                  <a:lnTo>
                    <a:pt x="4572" y="3048"/>
                  </a:lnTo>
                  <a:lnTo>
                    <a:pt x="3048" y="6096"/>
                  </a:lnTo>
                  <a:lnTo>
                    <a:pt x="4572" y="6096"/>
                  </a:lnTo>
                  <a:lnTo>
                    <a:pt x="4572" y="2074164"/>
                  </a:lnTo>
                  <a:lnTo>
                    <a:pt x="3048" y="2074164"/>
                  </a:lnTo>
                  <a:lnTo>
                    <a:pt x="4572" y="2077212"/>
                  </a:lnTo>
                  <a:lnTo>
                    <a:pt x="3316224" y="2077212"/>
                  </a:lnTo>
                  <a:lnTo>
                    <a:pt x="3314700" y="2078736"/>
                  </a:lnTo>
                  <a:close/>
                </a:path>
                <a:path w="3316604" h="2078989">
                  <a:moveTo>
                    <a:pt x="4572" y="6096"/>
                  </a:moveTo>
                  <a:lnTo>
                    <a:pt x="3048" y="6096"/>
                  </a:lnTo>
                  <a:lnTo>
                    <a:pt x="4572" y="3048"/>
                  </a:lnTo>
                  <a:lnTo>
                    <a:pt x="4572" y="6096"/>
                  </a:lnTo>
                  <a:close/>
                </a:path>
                <a:path w="3316604" h="2078989">
                  <a:moveTo>
                    <a:pt x="3311652" y="6096"/>
                  </a:moveTo>
                  <a:lnTo>
                    <a:pt x="4572" y="6096"/>
                  </a:lnTo>
                  <a:lnTo>
                    <a:pt x="4572" y="3048"/>
                  </a:lnTo>
                  <a:lnTo>
                    <a:pt x="3311652" y="3048"/>
                  </a:lnTo>
                  <a:lnTo>
                    <a:pt x="3311652" y="6096"/>
                  </a:lnTo>
                  <a:close/>
                </a:path>
                <a:path w="3316604" h="2078989">
                  <a:moveTo>
                    <a:pt x="3311652" y="2077212"/>
                  </a:moveTo>
                  <a:lnTo>
                    <a:pt x="3311652" y="3048"/>
                  </a:lnTo>
                  <a:lnTo>
                    <a:pt x="3313176" y="6096"/>
                  </a:lnTo>
                  <a:lnTo>
                    <a:pt x="3316224" y="6096"/>
                  </a:lnTo>
                  <a:lnTo>
                    <a:pt x="3316224" y="2074164"/>
                  </a:lnTo>
                  <a:lnTo>
                    <a:pt x="3313176" y="2074164"/>
                  </a:lnTo>
                  <a:lnTo>
                    <a:pt x="3311652" y="2077212"/>
                  </a:lnTo>
                  <a:close/>
                </a:path>
                <a:path w="3316604" h="2078989">
                  <a:moveTo>
                    <a:pt x="3316224" y="6096"/>
                  </a:moveTo>
                  <a:lnTo>
                    <a:pt x="3313176" y="6096"/>
                  </a:lnTo>
                  <a:lnTo>
                    <a:pt x="3311652" y="3048"/>
                  </a:lnTo>
                  <a:lnTo>
                    <a:pt x="3316224" y="3048"/>
                  </a:lnTo>
                  <a:lnTo>
                    <a:pt x="3316224" y="6096"/>
                  </a:lnTo>
                  <a:close/>
                </a:path>
                <a:path w="3316604" h="2078989">
                  <a:moveTo>
                    <a:pt x="4572" y="2077212"/>
                  </a:moveTo>
                  <a:lnTo>
                    <a:pt x="3048" y="2074164"/>
                  </a:lnTo>
                  <a:lnTo>
                    <a:pt x="4572" y="2074164"/>
                  </a:lnTo>
                  <a:lnTo>
                    <a:pt x="4572" y="2077212"/>
                  </a:lnTo>
                  <a:close/>
                </a:path>
                <a:path w="3316604" h="2078989">
                  <a:moveTo>
                    <a:pt x="3311652" y="2077212"/>
                  </a:moveTo>
                  <a:lnTo>
                    <a:pt x="4572" y="2077212"/>
                  </a:lnTo>
                  <a:lnTo>
                    <a:pt x="4572" y="2074164"/>
                  </a:lnTo>
                  <a:lnTo>
                    <a:pt x="3311652" y="2074164"/>
                  </a:lnTo>
                  <a:lnTo>
                    <a:pt x="3311652" y="2077212"/>
                  </a:lnTo>
                  <a:close/>
                </a:path>
                <a:path w="3316604" h="2078989">
                  <a:moveTo>
                    <a:pt x="3316224" y="2077212"/>
                  </a:moveTo>
                  <a:lnTo>
                    <a:pt x="3311652" y="2077212"/>
                  </a:lnTo>
                  <a:lnTo>
                    <a:pt x="3313176" y="2074164"/>
                  </a:lnTo>
                  <a:lnTo>
                    <a:pt x="3316224" y="2074164"/>
                  </a:lnTo>
                  <a:lnTo>
                    <a:pt x="3316224" y="2077212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1807" y="3643884"/>
              <a:ext cx="4750308" cy="57454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07236" y="3639311"/>
              <a:ext cx="4759960" cy="584200"/>
            </a:xfrm>
            <a:custGeom>
              <a:avLst/>
              <a:gdLst/>
              <a:ahLst/>
              <a:cxnLst/>
              <a:rect l="l" t="t" r="r" b="b"/>
              <a:pathLst>
                <a:path w="4759960" h="584200">
                  <a:moveTo>
                    <a:pt x="4759452" y="583692"/>
                  </a:moveTo>
                  <a:lnTo>
                    <a:pt x="0" y="583692"/>
                  </a:lnTo>
                  <a:lnTo>
                    <a:pt x="0" y="0"/>
                  </a:lnTo>
                  <a:lnTo>
                    <a:pt x="4759452" y="0"/>
                  </a:lnTo>
                  <a:lnTo>
                    <a:pt x="4759452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579120"/>
                  </a:lnTo>
                  <a:lnTo>
                    <a:pt x="1524" y="579120"/>
                  </a:lnTo>
                  <a:lnTo>
                    <a:pt x="4572" y="580644"/>
                  </a:lnTo>
                  <a:lnTo>
                    <a:pt x="4759452" y="580644"/>
                  </a:lnTo>
                  <a:lnTo>
                    <a:pt x="4759452" y="583692"/>
                  </a:lnTo>
                  <a:close/>
                </a:path>
                <a:path w="4759960" h="584200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4759960" h="584200">
                  <a:moveTo>
                    <a:pt x="475488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4754880" y="3048"/>
                  </a:lnTo>
                  <a:lnTo>
                    <a:pt x="4754880" y="4572"/>
                  </a:lnTo>
                  <a:close/>
                </a:path>
                <a:path w="4759960" h="584200">
                  <a:moveTo>
                    <a:pt x="4754880" y="580644"/>
                  </a:moveTo>
                  <a:lnTo>
                    <a:pt x="4754880" y="3048"/>
                  </a:lnTo>
                  <a:lnTo>
                    <a:pt x="4757928" y="4572"/>
                  </a:lnTo>
                  <a:lnTo>
                    <a:pt x="4759452" y="4572"/>
                  </a:lnTo>
                  <a:lnTo>
                    <a:pt x="4759452" y="579120"/>
                  </a:lnTo>
                  <a:lnTo>
                    <a:pt x="4757928" y="579120"/>
                  </a:lnTo>
                  <a:lnTo>
                    <a:pt x="4754880" y="580644"/>
                  </a:lnTo>
                  <a:close/>
                </a:path>
                <a:path w="4759960" h="584200">
                  <a:moveTo>
                    <a:pt x="4759452" y="4572"/>
                  </a:moveTo>
                  <a:lnTo>
                    <a:pt x="4757928" y="4572"/>
                  </a:lnTo>
                  <a:lnTo>
                    <a:pt x="4754880" y="3048"/>
                  </a:lnTo>
                  <a:lnTo>
                    <a:pt x="4759452" y="3048"/>
                  </a:lnTo>
                  <a:lnTo>
                    <a:pt x="4759452" y="4572"/>
                  </a:lnTo>
                  <a:close/>
                </a:path>
                <a:path w="4759960" h="584200">
                  <a:moveTo>
                    <a:pt x="4572" y="580644"/>
                  </a:moveTo>
                  <a:lnTo>
                    <a:pt x="1524" y="579120"/>
                  </a:lnTo>
                  <a:lnTo>
                    <a:pt x="4572" y="579120"/>
                  </a:lnTo>
                  <a:lnTo>
                    <a:pt x="4572" y="580644"/>
                  </a:lnTo>
                  <a:close/>
                </a:path>
                <a:path w="4759960" h="584200">
                  <a:moveTo>
                    <a:pt x="4754880" y="580644"/>
                  </a:moveTo>
                  <a:lnTo>
                    <a:pt x="4572" y="580644"/>
                  </a:lnTo>
                  <a:lnTo>
                    <a:pt x="4572" y="579120"/>
                  </a:lnTo>
                  <a:lnTo>
                    <a:pt x="4754880" y="579120"/>
                  </a:lnTo>
                  <a:lnTo>
                    <a:pt x="4754880" y="580644"/>
                  </a:lnTo>
                  <a:close/>
                </a:path>
                <a:path w="4759960" h="584200">
                  <a:moveTo>
                    <a:pt x="4759452" y="580644"/>
                  </a:moveTo>
                  <a:lnTo>
                    <a:pt x="4754880" y="580644"/>
                  </a:lnTo>
                  <a:lnTo>
                    <a:pt x="4757928" y="579120"/>
                  </a:lnTo>
                  <a:lnTo>
                    <a:pt x="4759452" y="579120"/>
                  </a:lnTo>
                  <a:lnTo>
                    <a:pt x="4759452" y="58064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62299" y="4345135"/>
              <a:ext cx="3072765" cy="163830"/>
            </a:xfrm>
            <a:custGeom>
              <a:avLst/>
              <a:gdLst/>
              <a:ahLst/>
              <a:cxnLst/>
              <a:rect l="l" t="t" r="r" b="b"/>
              <a:pathLst>
                <a:path w="3072765" h="163829">
                  <a:moveTo>
                    <a:pt x="3072517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072517" y="163364"/>
                  </a:lnTo>
                  <a:lnTo>
                    <a:pt x="30725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330700" y="86887"/>
            <a:ext cx="3380740" cy="408940"/>
          </a:xfrm>
          <a:custGeom>
            <a:avLst/>
            <a:gdLst/>
            <a:ahLst/>
            <a:cxnLst/>
            <a:rect l="l" t="t" r="r" b="b"/>
            <a:pathLst>
              <a:path w="3380740" h="408940">
                <a:moveTo>
                  <a:pt x="3380397" y="0"/>
                </a:moveTo>
                <a:lnTo>
                  <a:pt x="0" y="0"/>
                </a:lnTo>
                <a:lnTo>
                  <a:pt x="0" y="408412"/>
                </a:lnTo>
                <a:lnTo>
                  <a:pt x="3380397" y="408412"/>
                </a:lnTo>
                <a:lnTo>
                  <a:pt x="33803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9075" y="558665"/>
            <a:ext cx="5750560" cy="310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 marR="289560">
              <a:lnSpc>
                <a:spcPts val="1730"/>
              </a:lnSpc>
              <a:spcBef>
                <a:spcPts val="90"/>
              </a:spcBef>
            </a:pPr>
            <a:r>
              <a:rPr spc="-5" dirty="0"/>
              <a:t>Case</a:t>
            </a:r>
            <a:r>
              <a:rPr spc="15" dirty="0"/>
              <a:t> </a:t>
            </a:r>
            <a:r>
              <a:rPr spc="-5" dirty="0"/>
              <a:t>3</a:t>
            </a:r>
            <a:r>
              <a:rPr spc="-10" dirty="0"/>
              <a:t> </a:t>
            </a:r>
            <a:r>
              <a:rPr spc="-5" dirty="0"/>
              <a:t>-</a:t>
            </a:r>
            <a:r>
              <a:rPr spc="5" dirty="0"/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Let's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java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finally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example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where</a:t>
            </a:r>
            <a:r>
              <a:rPr b="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/>
              <a:t>exception</a:t>
            </a:r>
            <a:r>
              <a:rPr spc="25" dirty="0"/>
              <a:t> </a:t>
            </a:r>
            <a:r>
              <a:rPr spc="-10" dirty="0"/>
              <a:t>occurs </a:t>
            </a:r>
            <a:r>
              <a:rPr spc="-345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5" dirty="0"/>
              <a:t>handled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4295" y="488562"/>
            <a:ext cx="6082665" cy="3323987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04390" y="932815"/>
            <a:ext cx="3991610" cy="2807335"/>
            <a:chOff x="1949195" y="822317"/>
            <a:chExt cx="3991610" cy="28073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5" y="826890"/>
              <a:ext cx="3433572" cy="21366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64079" y="822317"/>
              <a:ext cx="3444240" cy="2146300"/>
            </a:xfrm>
            <a:custGeom>
              <a:avLst/>
              <a:gdLst/>
              <a:ahLst/>
              <a:cxnLst/>
              <a:rect l="l" t="t" r="r" b="b"/>
              <a:pathLst>
                <a:path w="3444240" h="2146300">
                  <a:moveTo>
                    <a:pt x="3444240" y="2145792"/>
                  </a:moveTo>
                  <a:lnTo>
                    <a:pt x="1524" y="2145792"/>
                  </a:lnTo>
                  <a:lnTo>
                    <a:pt x="0" y="2144268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444240" y="0"/>
                  </a:lnTo>
                  <a:lnTo>
                    <a:pt x="3444240" y="3048"/>
                  </a:lnTo>
                  <a:lnTo>
                    <a:pt x="6096" y="3048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6096" y="2141220"/>
                  </a:lnTo>
                  <a:lnTo>
                    <a:pt x="3048" y="2141220"/>
                  </a:lnTo>
                  <a:lnTo>
                    <a:pt x="6096" y="2142744"/>
                  </a:lnTo>
                  <a:lnTo>
                    <a:pt x="3444240" y="2142744"/>
                  </a:lnTo>
                  <a:lnTo>
                    <a:pt x="3444240" y="2145792"/>
                  </a:lnTo>
                  <a:close/>
                </a:path>
                <a:path w="3444240" h="2146300">
                  <a:moveTo>
                    <a:pt x="6096" y="4572"/>
                  </a:moveTo>
                  <a:lnTo>
                    <a:pt x="3048" y="4572"/>
                  </a:lnTo>
                  <a:lnTo>
                    <a:pt x="6096" y="3048"/>
                  </a:lnTo>
                  <a:lnTo>
                    <a:pt x="6096" y="4572"/>
                  </a:lnTo>
                  <a:close/>
                </a:path>
                <a:path w="3444240" h="2146300">
                  <a:moveTo>
                    <a:pt x="3439668" y="4572"/>
                  </a:moveTo>
                  <a:lnTo>
                    <a:pt x="6096" y="4572"/>
                  </a:lnTo>
                  <a:lnTo>
                    <a:pt x="6096" y="3048"/>
                  </a:lnTo>
                  <a:lnTo>
                    <a:pt x="3439668" y="3048"/>
                  </a:lnTo>
                  <a:lnTo>
                    <a:pt x="3439668" y="4572"/>
                  </a:lnTo>
                  <a:close/>
                </a:path>
                <a:path w="3444240" h="2146300">
                  <a:moveTo>
                    <a:pt x="3439668" y="2142744"/>
                  </a:moveTo>
                  <a:lnTo>
                    <a:pt x="3439668" y="3048"/>
                  </a:lnTo>
                  <a:lnTo>
                    <a:pt x="3442716" y="4572"/>
                  </a:lnTo>
                  <a:lnTo>
                    <a:pt x="3444240" y="4572"/>
                  </a:lnTo>
                  <a:lnTo>
                    <a:pt x="3444240" y="2141220"/>
                  </a:lnTo>
                  <a:lnTo>
                    <a:pt x="3442716" y="2141220"/>
                  </a:lnTo>
                  <a:lnTo>
                    <a:pt x="3439668" y="2142744"/>
                  </a:lnTo>
                  <a:close/>
                </a:path>
                <a:path w="3444240" h="2146300">
                  <a:moveTo>
                    <a:pt x="3444240" y="4572"/>
                  </a:moveTo>
                  <a:lnTo>
                    <a:pt x="3442716" y="4572"/>
                  </a:lnTo>
                  <a:lnTo>
                    <a:pt x="3439668" y="3048"/>
                  </a:lnTo>
                  <a:lnTo>
                    <a:pt x="3444240" y="3048"/>
                  </a:lnTo>
                  <a:lnTo>
                    <a:pt x="3444240" y="4572"/>
                  </a:lnTo>
                  <a:close/>
                </a:path>
                <a:path w="3444240" h="2146300">
                  <a:moveTo>
                    <a:pt x="6096" y="2142744"/>
                  </a:moveTo>
                  <a:lnTo>
                    <a:pt x="3048" y="2141220"/>
                  </a:lnTo>
                  <a:lnTo>
                    <a:pt x="6096" y="2141220"/>
                  </a:lnTo>
                  <a:lnTo>
                    <a:pt x="6096" y="2142744"/>
                  </a:lnTo>
                  <a:close/>
                </a:path>
                <a:path w="3444240" h="2146300">
                  <a:moveTo>
                    <a:pt x="3439668" y="2142744"/>
                  </a:moveTo>
                  <a:lnTo>
                    <a:pt x="6096" y="2142744"/>
                  </a:lnTo>
                  <a:lnTo>
                    <a:pt x="6096" y="2141220"/>
                  </a:lnTo>
                  <a:lnTo>
                    <a:pt x="3439668" y="2141220"/>
                  </a:lnTo>
                  <a:lnTo>
                    <a:pt x="3439668" y="2142744"/>
                  </a:lnTo>
                  <a:close/>
                </a:path>
                <a:path w="3444240" h="2146300">
                  <a:moveTo>
                    <a:pt x="3444240" y="2142744"/>
                  </a:moveTo>
                  <a:lnTo>
                    <a:pt x="3439668" y="2142744"/>
                  </a:lnTo>
                  <a:lnTo>
                    <a:pt x="3442716" y="2141220"/>
                  </a:lnTo>
                  <a:lnTo>
                    <a:pt x="3444240" y="2141220"/>
                  </a:lnTo>
                  <a:lnTo>
                    <a:pt x="3444240" y="214274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3767" y="3068694"/>
              <a:ext cx="3982211" cy="5562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949195" y="3064121"/>
              <a:ext cx="3991610" cy="565785"/>
            </a:xfrm>
            <a:custGeom>
              <a:avLst/>
              <a:gdLst/>
              <a:ahLst/>
              <a:cxnLst/>
              <a:rect l="l" t="t" r="r" b="b"/>
              <a:pathLst>
                <a:path w="3991610" h="565785">
                  <a:moveTo>
                    <a:pt x="3991356" y="565404"/>
                  </a:moveTo>
                  <a:lnTo>
                    <a:pt x="0" y="565404"/>
                  </a:lnTo>
                  <a:lnTo>
                    <a:pt x="0" y="0"/>
                  </a:lnTo>
                  <a:lnTo>
                    <a:pt x="3991356" y="0"/>
                  </a:lnTo>
                  <a:lnTo>
                    <a:pt x="3991356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560832"/>
                  </a:lnTo>
                  <a:lnTo>
                    <a:pt x="3048" y="560832"/>
                  </a:lnTo>
                  <a:lnTo>
                    <a:pt x="4572" y="563880"/>
                  </a:lnTo>
                  <a:lnTo>
                    <a:pt x="3991356" y="563880"/>
                  </a:lnTo>
                  <a:lnTo>
                    <a:pt x="3991356" y="565404"/>
                  </a:lnTo>
                  <a:close/>
                </a:path>
                <a:path w="3991610" h="565785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3991610" h="565785">
                  <a:moveTo>
                    <a:pt x="3986784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3986784" y="1524"/>
                  </a:lnTo>
                  <a:lnTo>
                    <a:pt x="3986784" y="4572"/>
                  </a:lnTo>
                  <a:close/>
                </a:path>
                <a:path w="3991610" h="565785">
                  <a:moveTo>
                    <a:pt x="3986784" y="563880"/>
                  </a:moveTo>
                  <a:lnTo>
                    <a:pt x="3986784" y="1524"/>
                  </a:lnTo>
                  <a:lnTo>
                    <a:pt x="3989832" y="4572"/>
                  </a:lnTo>
                  <a:lnTo>
                    <a:pt x="3991356" y="4572"/>
                  </a:lnTo>
                  <a:lnTo>
                    <a:pt x="3991356" y="560832"/>
                  </a:lnTo>
                  <a:lnTo>
                    <a:pt x="3989832" y="560832"/>
                  </a:lnTo>
                  <a:lnTo>
                    <a:pt x="3986784" y="563880"/>
                  </a:lnTo>
                  <a:close/>
                </a:path>
                <a:path w="3991610" h="565785">
                  <a:moveTo>
                    <a:pt x="3991356" y="4572"/>
                  </a:moveTo>
                  <a:lnTo>
                    <a:pt x="3989832" y="4572"/>
                  </a:lnTo>
                  <a:lnTo>
                    <a:pt x="3986784" y="1524"/>
                  </a:lnTo>
                  <a:lnTo>
                    <a:pt x="3991356" y="1524"/>
                  </a:lnTo>
                  <a:lnTo>
                    <a:pt x="3991356" y="4572"/>
                  </a:lnTo>
                  <a:close/>
                </a:path>
                <a:path w="3991610" h="565785">
                  <a:moveTo>
                    <a:pt x="4572" y="563880"/>
                  </a:moveTo>
                  <a:lnTo>
                    <a:pt x="3048" y="560832"/>
                  </a:lnTo>
                  <a:lnTo>
                    <a:pt x="4572" y="560832"/>
                  </a:lnTo>
                  <a:lnTo>
                    <a:pt x="4572" y="563880"/>
                  </a:lnTo>
                  <a:close/>
                </a:path>
                <a:path w="3991610" h="565785">
                  <a:moveTo>
                    <a:pt x="3986784" y="563880"/>
                  </a:moveTo>
                  <a:lnTo>
                    <a:pt x="4572" y="563880"/>
                  </a:lnTo>
                  <a:lnTo>
                    <a:pt x="4572" y="560832"/>
                  </a:lnTo>
                  <a:lnTo>
                    <a:pt x="3986784" y="560832"/>
                  </a:lnTo>
                  <a:lnTo>
                    <a:pt x="3986784" y="563880"/>
                  </a:lnTo>
                  <a:close/>
                </a:path>
                <a:path w="3991610" h="565785">
                  <a:moveTo>
                    <a:pt x="3991356" y="563880"/>
                  </a:moveTo>
                  <a:lnTo>
                    <a:pt x="3986784" y="563880"/>
                  </a:lnTo>
                  <a:lnTo>
                    <a:pt x="3989832" y="560832"/>
                  </a:lnTo>
                  <a:lnTo>
                    <a:pt x="3991356" y="560832"/>
                  </a:lnTo>
                  <a:lnTo>
                    <a:pt x="3991356" y="563880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39700" y="4465580"/>
            <a:ext cx="2840355" cy="396240"/>
          </a:xfrm>
          <a:custGeom>
            <a:avLst/>
            <a:gdLst/>
            <a:ahLst/>
            <a:cxnLst/>
            <a:rect l="l" t="t" r="r" b="b"/>
            <a:pathLst>
              <a:path w="2840355" h="396239">
                <a:moveTo>
                  <a:pt x="2840036" y="0"/>
                </a:moveTo>
                <a:lnTo>
                  <a:pt x="0" y="0"/>
                </a:lnTo>
                <a:lnTo>
                  <a:pt x="0" y="395845"/>
                </a:lnTo>
                <a:lnTo>
                  <a:pt x="2840036" y="395845"/>
                </a:lnTo>
                <a:lnTo>
                  <a:pt x="28400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295" y="920750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585"/>
              </a:spcBef>
            </a:pPr>
            <a:r>
              <a:rPr sz="2200" b="1" spc="-10" dirty="0">
                <a:latin typeface="Times New Roman"/>
                <a:cs typeface="Times New Roman"/>
              </a:rPr>
              <a:t>throw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keyword</a:t>
            </a:r>
            <a:endParaRPr sz="2200" dirty="0">
              <a:latin typeface="Times New Roman"/>
              <a:cs typeface="Times New Roman"/>
            </a:endParaRPr>
          </a:p>
          <a:p>
            <a:pPr marL="276860" indent="-161925">
              <a:lnSpc>
                <a:spcPct val="100000"/>
              </a:lnSpc>
              <a:spcBef>
                <a:spcPts val="515"/>
              </a:spcBef>
              <a:buSzPct val="93750"/>
              <a:buFont typeface="Wingdings"/>
              <a:buChar char=""/>
              <a:tabLst>
                <a:tab pos="27749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throw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explicitly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throw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exception.</a:t>
            </a:r>
            <a:endParaRPr sz="1600" dirty="0">
              <a:latin typeface="Calibri"/>
              <a:cs typeface="Calibri"/>
            </a:endParaRPr>
          </a:p>
          <a:p>
            <a:pPr marL="229870" marR="119380" indent="-114935">
              <a:lnSpc>
                <a:spcPts val="1730"/>
              </a:lnSpc>
              <a:spcBef>
                <a:spcPts val="515"/>
              </a:spcBef>
              <a:buSzPct val="93750"/>
              <a:buFont typeface="Wingdings"/>
              <a:buChar char=""/>
              <a:tabLst>
                <a:tab pos="277495" algn="l"/>
              </a:tabLst>
            </a:pPr>
            <a:r>
              <a:rPr sz="1600" spc="-40" dirty="0">
                <a:latin typeface="Calibri"/>
                <a:cs typeface="Calibri"/>
              </a:rPr>
              <a:t>We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throw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either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or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uncheked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throw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 dirty="0">
              <a:latin typeface="Calibri"/>
              <a:cs typeface="Calibri"/>
            </a:endParaRPr>
          </a:p>
          <a:p>
            <a:pPr marL="1635125">
              <a:lnSpc>
                <a:spcPct val="100000"/>
              </a:lnSpc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Output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R="447040" algn="r">
              <a:lnSpc>
                <a:spcPct val="100000"/>
              </a:lnSpc>
              <a:spcBef>
                <a:spcPts val="120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07363" y="2159507"/>
            <a:ext cx="5636260" cy="2097405"/>
            <a:chOff x="1007363" y="2159507"/>
            <a:chExt cx="5636260" cy="20974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6635" y="2164080"/>
              <a:ext cx="2311908" cy="2087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20540" y="2159507"/>
              <a:ext cx="2322830" cy="2097405"/>
            </a:xfrm>
            <a:custGeom>
              <a:avLst/>
              <a:gdLst/>
              <a:ahLst/>
              <a:cxnLst/>
              <a:rect l="l" t="t" r="r" b="b"/>
              <a:pathLst>
                <a:path w="2322829" h="2097404">
                  <a:moveTo>
                    <a:pt x="2321052" y="2097024"/>
                  </a:moveTo>
                  <a:lnTo>
                    <a:pt x="1524" y="2097024"/>
                  </a:lnTo>
                  <a:lnTo>
                    <a:pt x="0" y="2095499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321052" y="0"/>
                  </a:lnTo>
                  <a:lnTo>
                    <a:pt x="2322576" y="1524"/>
                  </a:lnTo>
                  <a:lnTo>
                    <a:pt x="2322576" y="3048"/>
                  </a:lnTo>
                  <a:lnTo>
                    <a:pt x="6096" y="3048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6096" y="2092452"/>
                  </a:lnTo>
                  <a:lnTo>
                    <a:pt x="3048" y="2092452"/>
                  </a:lnTo>
                  <a:lnTo>
                    <a:pt x="6096" y="2093976"/>
                  </a:lnTo>
                  <a:lnTo>
                    <a:pt x="2322576" y="2093976"/>
                  </a:lnTo>
                  <a:lnTo>
                    <a:pt x="2322576" y="2095499"/>
                  </a:lnTo>
                  <a:lnTo>
                    <a:pt x="2321052" y="2097024"/>
                  </a:lnTo>
                  <a:close/>
                </a:path>
                <a:path w="2322829" h="2097404">
                  <a:moveTo>
                    <a:pt x="6096" y="4572"/>
                  </a:moveTo>
                  <a:lnTo>
                    <a:pt x="3048" y="4572"/>
                  </a:lnTo>
                  <a:lnTo>
                    <a:pt x="6096" y="3048"/>
                  </a:lnTo>
                  <a:lnTo>
                    <a:pt x="6096" y="4572"/>
                  </a:lnTo>
                  <a:close/>
                </a:path>
                <a:path w="2322829" h="2097404">
                  <a:moveTo>
                    <a:pt x="2318004" y="4572"/>
                  </a:moveTo>
                  <a:lnTo>
                    <a:pt x="6096" y="4572"/>
                  </a:lnTo>
                  <a:lnTo>
                    <a:pt x="6096" y="3048"/>
                  </a:lnTo>
                  <a:lnTo>
                    <a:pt x="2318004" y="3048"/>
                  </a:lnTo>
                  <a:lnTo>
                    <a:pt x="2318004" y="4572"/>
                  </a:lnTo>
                  <a:close/>
                </a:path>
                <a:path w="2322829" h="2097404">
                  <a:moveTo>
                    <a:pt x="2318004" y="2093976"/>
                  </a:moveTo>
                  <a:lnTo>
                    <a:pt x="2318004" y="3048"/>
                  </a:lnTo>
                  <a:lnTo>
                    <a:pt x="2321052" y="4572"/>
                  </a:lnTo>
                  <a:lnTo>
                    <a:pt x="2322576" y="4572"/>
                  </a:lnTo>
                  <a:lnTo>
                    <a:pt x="2322576" y="2092452"/>
                  </a:lnTo>
                  <a:lnTo>
                    <a:pt x="2321052" y="2092452"/>
                  </a:lnTo>
                  <a:lnTo>
                    <a:pt x="2318004" y="2093976"/>
                  </a:lnTo>
                  <a:close/>
                </a:path>
                <a:path w="2322829" h="2097404">
                  <a:moveTo>
                    <a:pt x="2322576" y="4572"/>
                  </a:moveTo>
                  <a:lnTo>
                    <a:pt x="2321052" y="4572"/>
                  </a:lnTo>
                  <a:lnTo>
                    <a:pt x="2318004" y="3048"/>
                  </a:lnTo>
                  <a:lnTo>
                    <a:pt x="2322576" y="3048"/>
                  </a:lnTo>
                  <a:lnTo>
                    <a:pt x="2322576" y="4572"/>
                  </a:lnTo>
                  <a:close/>
                </a:path>
                <a:path w="2322829" h="2097404">
                  <a:moveTo>
                    <a:pt x="6096" y="2093976"/>
                  </a:moveTo>
                  <a:lnTo>
                    <a:pt x="3048" y="2092452"/>
                  </a:lnTo>
                  <a:lnTo>
                    <a:pt x="6096" y="2092452"/>
                  </a:lnTo>
                  <a:lnTo>
                    <a:pt x="6096" y="2093976"/>
                  </a:lnTo>
                  <a:close/>
                </a:path>
                <a:path w="2322829" h="2097404">
                  <a:moveTo>
                    <a:pt x="2318004" y="2093976"/>
                  </a:moveTo>
                  <a:lnTo>
                    <a:pt x="6096" y="2093976"/>
                  </a:lnTo>
                  <a:lnTo>
                    <a:pt x="6096" y="2092452"/>
                  </a:lnTo>
                  <a:lnTo>
                    <a:pt x="2318004" y="2092452"/>
                  </a:lnTo>
                  <a:lnTo>
                    <a:pt x="2318004" y="2093976"/>
                  </a:lnTo>
                  <a:close/>
                </a:path>
                <a:path w="2322829" h="2097404">
                  <a:moveTo>
                    <a:pt x="2322576" y="2093976"/>
                  </a:moveTo>
                  <a:lnTo>
                    <a:pt x="2318004" y="2093976"/>
                  </a:lnTo>
                  <a:lnTo>
                    <a:pt x="2321052" y="2092452"/>
                  </a:lnTo>
                  <a:lnTo>
                    <a:pt x="2322576" y="2092452"/>
                  </a:lnTo>
                  <a:lnTo>
                    <a:pt x="2322576" y="2093976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7363" y="3300983"/>
              <a:ext cx="3223259" cy="2179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7363" y="3302508"/>
              <a:ext cx="3226435" cy="216535"/>
            </a:xfrm>
            <a:custGeom>
              <a:avLst/>
              <a:gdLst/>
              <a:ahLst/>
              <a:cxnLst/>
              <a:rect l="l" t="t" r="r" b="b"/>
              <a:pathLst>
                <a:path w="3226435" h="216535">
                  <a:moveTo>
                    <a:pt x="3226308" y="216408"/>
                  </a:moveTo>
                  <a:lnTo>
                    <a:pt x="0" y="216408"/>
                  </a:lnTo>
                  <a:lnTo>
                    <a:pt x="0" y="0"/>
                  </a:lnTo>
                  <a:lnTo>
                    <a:pt x="3224784" y="0"/>
                  </a:lnTo>
                  <a:lnTo>
                    <a:pt x="3226308" y="1524"/>
                  </a:lnTo>
                  <a:lnTo>
                    <a:pt x="3226308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211836"/>
                  </a:lnTo>
                  <a:lnTo>
                    <a:pt x="1524" y="211836"/>
                  </a:lnTo>
                  <a:lnTo>
                    <a:pt x="4572" y="214884"/>
                  </a:lnTo>
                  <a:lnTo>
                    <a:pt x="3226308" y="214884"/>
                  </a:lnTo>
                  <a:lnTo>
                    <a:pt x="3226308" y="216408"/>
                  </a:lnTo>
                  <a:close/>
                </a:path>
                <a:path w="3226435" h="216535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3226435" h="216535">
                  <a:moveTo>
                    <a:pt x="3220211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3220211" y="3048"/>
                  </a:lnTo>
                  <a:lnTo>
                    <a:pt x="3220211" y="4572"/>
                  </a:lnTo>
                  <a:close/>
                </a:path>
                <a:path w="3226435" h="216535">
                  <a:moveTo>
                    <a:pt x="3220211" y="214884"/>
                  </a:moveTo>
                  <a:lnTo>
                    <a:pt x="3220211" y="3048"/>
                  </a:lnTo>
                  <a:lnTo>
                    <a:pt x="3223260" y="4572"/>
                  </a:lnTo>
                  <a:lnTo>
                    <a:pt x="3226308" y="4572"/>
                  </a:lnTo>
                  <a:lnTo>
                    <a:pt x="3226308" y="211836"/>
                  </a:lnTo>
                  <a:lnTo>
                    <a:pt x="3223260" y="211836"/>
                  </a:lnTo>
                  <a:lnTo>
                    <a:pt x="3220211" y="214884"/>
                  </a:lnTo>
                  <a:close/>
                </a:path>
                <a:path w="3226435" h="216535">
                  <a:moveTo>
                    <a:pt x="3226308" y="4572"/>
                  </a:moveTo>
                  <a:lnTo>
                    <a:pt x="3223260" y="4572"/>
                  </a:lnTo>
                  <a:lnTo>
                    <a:pt x="3220211" y="3048"/>
                  </a:lnTo>
                  <a:lnTo>
                    <a:pt x="3226308" y="3048"/>
                  </a:lnTo>
                  <a:lnTo>
                    <a:pt x="3226308" y="4572"/>
                  </a:lnTo>
                  <a:close/>
                </a:path>
                <a:path w="3226435" h="216535">
                  <a:moveTo>
                    <a:pt x="4572" y="214884"/>
                  </a:moveTo>
                  <a:lnTo>
                    <a:pt x="1524" y="211836"/>
                  </a:lnTo>
                  <a:lnTo>
                    <a:pt x="4572" y="211836"/>
                  </a:lnTo>
                  <a:lnTo>
                    <a:pt x="4572" y="214884"/>
                  </a:lnTo>
                  <a:close/>
                </a:path>
                <a:path w="3226435" h="216535">
                  <a:moveTo>
                    <a:pt x="3220211" y="214884"/>
                  </a:moveTo>
                  <a:lnTo>
                    <a:pt x="4572" y="214884"/>
                  </a:lnTo>
                  <a:lnTo>
                    <a:pt x="4572" y="211836"/>
                  </a:lnTo>
                  <a:lnTo>
                    <a:pt x="3220211" y="211836"/>
                  </a:lnTo>
                  <a:lnTo>
                    <a:pt x="3220211" y="214884"/>
                  </a:lnTo>
                  <a:close/>
                </a:path>
                <a:path w="3226435" h="216535">
                  <a:moveTo>
                    <a:pt x="3226308" y="214884"/>
                  </a:moveTo>
                  <a:lnTo>
                    <a:pt x="3220211" y="214884"/>
                  </a:lnTo>
                  <a:lnTo>
                    <a:pt x="3223260" y="211836"/>
                  </a:lnTo>
                  <a:lnTo>
                    <a:pt x="3226308" y="211836"/>
                  </a:lnTo>
                  <a:lnTo>
                    <a:pt x="3226308" y="214884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330700" y="23521"/>
            <a:ext cx="3355340" cy="421005"/>
          </a:xfrm>
          <a:custGeom>
            <a:avLst/>
            <a:gdLst/>
            <a:ahLst/>
            <a:cxnLst/>
            <a:rect l="l" t="t" r="r" b="b"/>
            <a:pathLst>
              <a:path w="3355340" h="421005">
                <a:moveTo>
                  <a:pt x="3355264" y="0"/>
                </a:moveTo>
                <a:lnTo>
                  <a:pt x="0" y="0"/>
                </a:lnTo>
                <a:lnTo>
                  <a:pt x="0" y="420978"/>
                </a:lnTo>
                <a:lnTo>
                  <a:pt x="3355264" y="420978"/>
                </a:lnTo>
                <a:lnTo>
                  <a:pt x="33552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02713" y="637311"/>
            <a:ext cx="19519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000000"/>
                </a:solidFill>
                <a:latin typeface="Times New Roman"/>
                <a:cs typeface="Times New Roman"/>
              </a:rPr>
              <a:t>throws</a:t>
            </a:r>
            <a:r>
              <a:rPr sz="22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00"/>
                </a:solidFill>
                <a:latin typeface="Times New Roman"/>
                <a:cs typeface="Times New Roman"/>
              </a:rPr>
              <a:t>keyword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5924" y="1156437"/>
            <a:ext cx="5864860" cy="13119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73990" indent="-161925" algn="just">
              <a:lnSpc>
                <a:spcPct val="100000"/>
              </a:lnSpc>
              <a:spcBef>
                <a:spcPts val="40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throws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keyword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declare</a:t>
            </a:r>
            <a:r>
              <a:rPr sz="1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exception</a:t>
            </a:r>
            <a:r>
              <a:rPr sz="1600" spc="-1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15"/>
              </a:spcBef>
              <a:buSzPct val="93750"/>
              <a:buFont typeface="Wingdings"/>
              <a:buChar char=""/>
              <a:tabLst>
                <a:tab pos="220345" algn="l"/>
              </a:tabLst>
            </a:pPr>
            <a:r>
              <a:rPr sz="1600" dirty="0">
                <a:latin typeface="Calibri"/>
                <a:cs typeface="Calibri"/>
              </a:rPr>
              <a:t>It </a:t>
            </a:r>
            <a:r>
              <a:rPr sz="1600" spc="-5" dirty="0">
                <a:latin typeface="Calibri"/>
                <a:cs typeface="Calibri"/>
              </a:rPr>
              <a:t>gives an </a:t>
            </a:r>
            <a:r>
              <a:rPr sz="1600" spc="-10" dirty="0">
                <a:latin typeface="Calibri"/>
                <a:cs typeface="Calibri"/>
              </a:rPr>
              <a:t>information to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programmer </a:t>
            </a:r>
            <a:r>
              <a:rPr sz="1600" spc="-5" dirty="0">
                <a:latin typeface="Calibri"/>
                <a:cs typeface="Calibri"/>
              </a:rPr>
              <a:t>that </a:t>
            </a:r>
            <a:r>
              <a:rPr sz="1600" spc="-10" dirty="0">
                <a:latin typeface="Calibri"/>
                <a:cs typeface="Calibri"/>
              </a:rPr>
              <a:t>there </a:t>
            </a:r>
            <a:r>
              <a:rPr sz="1600" spc="-15" dirty="0">
                <a:latin typeface="Calibri"/>
                <a:cs typeface="Calibri"/>
              </a:rPr>
              <a:t>may </a:t>
            </a:r>
            <a:r>
              <a:rPr sz="1600" spc="-5" dirty="0">
                <a:latin typeface="Calibri"/>
                <a:cs typeface="Calibri"/>
              </a:rPr>
              <a:t>occur </a:t>
            </a:r>
            <a:r>
              <a:rPr sz="1600" spc="5" dirty="0">
                <a:latin typeface="Calibri"/>
                <a:cs typeface="Calibri"/>
              </a:rPr>
              <a:t>an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dirty="0">
                <a:latin typeface="Calibri"/>
                <a:cs typeface="Calibri"/>
              </a:rPr>
              <a:t>so </a:t>
            </a:r>
            <a:r>
              <a:rPr sz="1600" spc="-5" dirty="0">
                <a:latin typeface="Calibri"/>
                <a:cs typeface="Calibri"/>
              </a:rPr>
              <a:t>it is </a:t>
            </a:r>
            <a:r>
              <a:rPr sz="1600" spc="-15" dirty="0">
                <a:latin typeface="Calibri"/>
                <a:cs typeface="Calibri"/>
              </a:rPr>
              <a:t>better </a:t>
            </a:r>
            <a:r>
              <a:rPr sz="1600" spc="-20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programmer to provide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handling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normal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flow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maintained</a:t>
            </a:r>
            <a:endParaRPr sz="1600" dirty="0">
              <a:latin typeface="Calibri"/>
              <a:cs typeface="Calibri"/>
            </a:endParaRPr>
          </a:p>
          <a:p>
            <a:pPr marL="173990" indent="-161925" algn="just">
              <a:lnSpc>
                <a:spcPct val="100000"/>
              </a:lnSpc>
              <a:spcBef>
                <a:spcPts val="280"/>
              </a:spcBef>
              <a:buSzPct val="93750"/>
              <a:buFont typeface="Wingdings"/>
              <a:buChar char=""/>
              <a:tabLst>
                <a:tab pos="174625" algn="l"/>
              </a:tabLst>
            </a:pPr>
            <a:r>
              <a:rPr sz="1600" spc="-10" dirty="0">
                <a:latin typeface="Calibri"/>
                <a:cs typeface="Calibri"/>
              </a:rPr>
              <a:t>Exception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Handling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-5" dirty="0">
                <a:latin typeface="Calibri"/>
                <a:cs typeface="Calibri"/>
              </a:rPr>
              <a:t> mainly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handle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exceptions.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5924" y="2482937"/>
            <a:ext cx="2473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710" indent="-20764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20345" algn="l"/>
                <a:tab pos="619125" algn="l"/>
                <a:tab pos="1348740" algn="l"/>
                <a:tab pos="2167255" algn="l"/>
              </a:tabLst>
            </a:pPr>
            <a:r>
              <a:rPr sz="1600" spc="5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dirty="0">
                <a:latin typeface="Calibri"/>
                <a:cs typeface="Calibri"/>
              </a:rPr>
              <a:t>	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u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234" y="2702341"/>
            <a:ext cx="2362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1989" algn="l"/>
                <a:tab pos="2223770" algn="l"/>
              </a:tabLst>
            </a:pPr>
            <a:r>
              <a:rPr sz="1600" dirty="0">
                <a:latin typeface="Calibri"/>
                <a:cs typeface="Calibri"/>
              </a:rPr>
              <a:t>N</a:t>
            </a:r>
            <a:r>
              <a:rPr sz="1600" spc="-15" dirty="0">
                <a:latin typeface="Calibri"/>
                <a:cs typeface="Calibri"/>
              </a:rPr>
              <a:t>u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spc="-35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nt</a:t>
            </a:r>
            <a:r>
              <a:rPr sz="1600" spc="-5" dirty="0">
                <a:latin typeface="Calibri"/>
                <a:cs typeface="Calibri"/>
              </a:rPr>
              <a:t>erE</a:t>
            </a:r>
            <a:r>
              <a:rPr sz="1600" spc="-45" dirty="0">
                <a:latin typeface="Calibri"/>
                <a:cs typeface="Calibri"/>
              </a:rPr>
              <a:t>x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30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it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3330" y="2482937"/>
            <a:ext cx="217297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27000">
              <a:lnSpc>
                <a:spcPts val="1730"/>
              </a:lnSpc>
              <a:spcBef>
                <a:spcPts val="310"/>
              </a:spcBef>
              <a:tabLst>
                <a:tab pos="1283335" algn="l"/>
                <a:tab pos="1313180" algn="l"/>
                <a:tab pos="1818005" algn="l"/>
              </a:tabLst>
            </a:pPr>
            <a:r>
              <a:rPr sz="1600" spc="-10" dirty="0">
                <a:latin typeface="Calibri"/>
                <a:cs typeface="Calibri"/>
              </a:rPr>
              <a:t>unchecked		</a:t>
            </a:r>
            <a:r>
              <a:rPr sz="1600" spc="-15" dirty="0">
                <a:latin typeface="Calibri"/>
                <a:cs typeface="Calibri"/>
              </a:rPr>
              <a:t>exception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ro</a:t>
            </a:r>
            <a:r>
              <a:rPr sz="1600" spc="5" dirty="0">
                <a:latin typeface="Calibri"/>
                <a:cs typeface="Calibri"/>
              </a:rPr>
              <a:t>g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0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m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0" dirty="0">
                <a:latin typeface="Calibri"/>
                <a:cs typeface="Calibri"/>
              </a:rPr>
              <a:t>f</a:t>
            </a:r>
            <a:r>
              <a:rPr sz="1600" spc="1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lt</a:t>
            </a:r>
            <a:r>
              <a:rPr sz="1600" dirty="0">
                <a:latin typeface="Calibri"/>
                <a:cs typeface="Calibri"/>
              </a:rPr>
              <a:t>	th</a:t>
            </a:r>
            <a:r>
              <a:rPr sz="1600" spc="-5" dirty="0">
                <a:latin typeface="Calibri"/>
                <a:cs typeface="Calibri"/>
              </a:rPr>
              <a:t>at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5897" y="2482937"/>
            <a:ext cx="953769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84455">
              <a:lnSpc>
                <a:spcPts val="1730"/>
              </a:lnSpc>
              <a:spcBef>
                <a:spcPts val="310"/>
              </a:spcBef>
              <a:tabLst>
                <a:tab pos="375285" algn="l"/>
                <a:tab pos="659130" algn="l"/>
                <a:tab pos="763905" algn="l"/>
              </a:tabLst>
            </a:pPr>
            <a:r>
              <a:rPr sz="1600" spc="5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u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		</a:t>
            </a:r>
            <a:r>
              <a:rPr sz="1600" spc="-5" dirty="0">
                <a:latin typeface="Calibri"/>
                <a:cs typeface="Calibri"/>
              </a:rPr>
              <a:t>as  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	n</a:t>
            </a:r>
            <a:r>
              <a:rPr sz="1600" spc="-20" dirty="0">
                <a:latin typeface="Calibri"/>
                <a:cs typeface="Calibri"/>
              </a:rPr>
              <a:t>o</a:t>
            </a:r>
            <a:r>
              <a:rPr sz="1600" spc="-5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0234" y="2921869"/>
            <a:ext cx="4077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performing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check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before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being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used.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8200" y="1150621"/>
            <a:ext cx="6094730" cy="3427729"/>
            <a:chOff x="838200" y="482466"/>
            <a:chExt cx="6094730" cy="3427729"/>
          </a:xfrm>
        </p:grpSpPr>
        <p:sp>
          <p:nvSpPr>
            <p:cNvPr id="20" name="object 20"/>
            <p:cNvSpPr/>
            <p:nvPr/>
          </p:nvSpPr>
          <p:spPr>
            <a:xfrm>
              <a:off x="844295" y="488562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8800" y="3732460"/>
              <a:ext cx="3141980" cy="125730"/>
            </a:xfrm>
            <a:custGeom>
              <a:avLst/>
              <a:gdLst/>
              <a:ahLst/>
              <a:cxnLst/>
              <a:rect l="l" t="t" r="r" b="b"/>
              <a:pathLst>
                <a:path w="3141979" h="125729">
                  <a:moveTo>
                    <a:pt x="3141633" y="0"/>
                  </a:moveTo>
                  <a:lnTo>
                    <a:pt x="0" y="0"/>
                  </a:lnTo>
                  <a:lnTo>
                    <a:pt x="0" y="125665"/>
                  </a:lnTo>
                  <a:lnTo>
                    <a:pt x="3141633" y="125665"/>
                  </a:lnTo>
                  <a:lnTo>
                    <a:pt x="3141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4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5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0787" y="1073150"/>
            <a:ext cx="5798820" cy="305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1795"/>
              </a:lnSpc>
            </a:pP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Syntax</a:t>
            </a:r>
            <a:r>
              <a:rPr sz="1600" b="1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of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java</a:t>
            </a:r>
            <a:r>
              <a:rPr sz="1600" b="1"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throws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1125"/>
              </a:spcBef>
            </a:pP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Which</a:t>
            </a:r>
            <a:r>
              <a:rPr sz="1600" b="1"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702FA0"/>
                </a:solidFill>
                <a:latin typeface="Calibri"/>
                <a:cs typeface="Calibri"/>
              </a:rPr>
              <a:t>exception</a:t>
            </a:r>
            <a:r>
              <a:rPr sz="1600" b="1" spc="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should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be</a:t>
            </a:r>
            <a:r>
              <a:rPr sz="1600" b="1" spc="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declared</a:t>
            </a:r>
            <a:endParaRPr sz="1600">
              <a:latin typeface="Calibri"/>
              <a:cs typeface="Calibri"/>
            </a:endParaRPr>
          </a:p>
          <a:p>
            <a:pPr marL="203835" indent="-16065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04470" algn="l"/>
              </a:tabLst>
            </a:pPr>
            <a:r>
              <a:rPr sz="1600" spc="-15" dirty="0">
                <a:latin typeface="Calibri"/>
                <a:cs typeface="Calibri"/>
              </a:rPr>
              <a:t>checked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exception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only,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because:</a:t>
            </a:r>
            <a:endParaRPr sz="1600">
              <a:latin typeface="Calibri"/>
              <a:cs typeface="Calibri"/>
            </a:endParaRPr>
          </a:p>
          <a:p>
            <a:pPr marL="158115" indent="-1149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158750" algn="l"/>
              </a:tabLst>
            </a:pPr>
            <a:r>
              <a:rPr sz="1600" spc="-15" dirty="0">
                <a:latin typeface="Calibri"/>
                <a:cs typeface="Calibri"/>
              </a:rPr>
              <a:t>unchecked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Exception: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under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correct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code.</a:t>
            </a:r>
            <a:endParaRPr sz="1600">
              <a:latin typeface="Calibri"/>
              <a:cs typeface="Calibri"/>
            </a:endParaRPr>
          </a:p>
          <a:p>
            <a:pPr marL="158115" marR="39370" indent="-114935">
              <a:lnSpc>
                <a:spcPts val="1730"/>
              </a:lnSpc>
              <a:spcBef>
                <a:spcPts val="520"/>
              </a:spcBef>
              <a:buFont typeface="Arial MT"/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error:</a:t>
            </a:r>
            <a:r>
              <a:rPr sz="1600" spc="2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beyond</a:t>
            </a:r>
            <a:r>
              <a:rPr sz="1600" spc="2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your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e.g.</a:t>
            </a:r>
            <a:r>
              <a:rPr sz="1600" spc="29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you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unable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anything</a:t>
            </a:r>
            <a:r>
              <a:rPr sz="1600" spc="2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if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VirtualMachineError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StackOverflowError.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79311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10640" y="1498091"/>
            <a:ext cx="4057015" cy="693420"/>
            <a:chOff x="1310640" y="1498091"/>
            <a:chExt cx="4057015" cy="69342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1502663"/>
              <a:ext cx="4046220" cy="6842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10640" y="1498091"/>
              <a:ext cx="4057015" cy="693420"/>
            </a:xfrm>
            <a:custGeom>
              <a:avLst/>
              <a:gdLst/>
              <a:ahLst/>
              <a:cxnLst/>
              <a:rect l="l" t="t" r="r" b="b"/>
              <a:pathLst>
                <a:path w="4057015" h="693419">
                  <a:moveTo>
                    <a:pt x="4055364" y="693420"/>
                  </a:moveTo>
                  <a:lnTo>
                    <a:pt x="0" y="693420"/>
                  </a:lnTo>
                  <a:lnTo>
                    <a:pt x="0" y="0"/>
                  </a:lnTo>
                  <a:lnTo>
                    <a:pt x="4055364" y="0"/>
                  </a:lnTo>
                  <a:lnTo>
                    <a:pt x="4056888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688848"/>
                  </a:lnTo>
                  <a:lnTo>
                    <a:pt x="1524" y="688848"/>
                  </a:lnTo>
                  <a:lnTo>
                    <a:pt x="4572" y="691896"/>
                  </a:lnTo>
                  <a:lnTo>
                    <a:pt x="4056888" y="691896"/>
                  </a:lnTo>
                  <a:lnTo>
                    <a:pt x="4055364" y="693420"/>
                  </a:lnTo>
                  <a:close/>
                </a:path>
                <a:path w="4057015" h="693419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4057015" h="693419">
                  <a:moveTo>
                    <a:pt x="4050792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4050792" y="1524"/>
                  </a:lnTo>
                  <a:lnTo>
                    <a:pt x="4050792" y="4572"/>
                  </a:lnTo>
                  <a:close/>
                </a:path>
                <a:path w="4057015" h="693419">
                  <a:moveTo>
                    <a:pt x="4050792" y="691896"/>
                  </a:moveTo>
                  <a:lnTo>
                    <a:pt x="4050792" y="1524"/>
                  </a:lnTo>
                  <a:lnTo>
                    <a:pt x="4053840" y="4572"/>
                  </a:lnTo>
                  <a:lnTo>
                    <a:pt x="4056888" y="4572"/>
                  </a:lnTo>
                  <a:lnTo>
                    <a:pt x="4056888" y="688848"/>
                  </a:lnTo>
                  <a:lnTo>
                    <a:pt x="4053840" y="688848"/>
                  </a:lnTo>
                  <a:lnTo>
                    <a:pt x="4050792" y="691896"/>
                  </a:lnTo>
                  <a:close/>
                </a:path>
                <a:path w="4057015" h="693419">
                  <a:moveTo>
                    <a:pt x="4056888" y="4572"/>
                  </a:moveTo>
                  <a:lnTo>
                    <a:pt x="4053840" y="4572"/>
                  </a:lnTo>
                  <a:lnTo>
                    <a:pt x="4050792" y="1524"/>
                  </a:lnTo>
                  <a:lnTo>
                    <a:pt x="4056888" y="1524"/>
                  </a:lnTo>
                  <a:lnTo>
                    <a:pt x="4056888" y="4572"/>
                  </a:lnTo>
                  <a:close/>
                </a:path>
                <a:path w="4057015" h="693419">
                  <a:moveTo>
                    <a:pt x="4572" y="691896"/>
                  </a:moveTo>
                  <a:lnTo>
                    <a:pt x="1524" y="688848"/>
                  </a:lnTo>
                  <a:lnTo>
                    <a:pt x="4572" y="688848"/>
                  </a:lnTo>
                  <a:lnTo>
                    <a:pt x="4572" y="691896"/>
                  </a:lnTo>
                  <a:close/>
                </a:path>
                <a:path w="4057015" h="693419">
                  <a:moveTo>
                    <a:pt x="4050792" y="691896"/>
                  </a:moveTo>
                  <a:lnTo>
                    <a:pt x="4572" y="691896"/>
                  </a:lnTo>
                  <a:lnTo>
                    <a:pt x="4572" y="688848"/>
                  </a:lnTo>
                  <a:lnTo>
                    <a:pt x="4050792" y="688848"/>
                  </a:lnTo>
                  <a:lnTo>
                    <a:pt x="4050792" y="691896"/>
                  </a:lnTo>
                  <a:close/>
                </a:path>
                <a:path w="4057015" h="693419">
                  <a:moveTo>
                    <a:pt x="4056888" y="691896"/>
                  </a:moveTo>
                  <a:lnTo>
                    <a:pt x="4050792" y="691896"/>
                  </a:lnTo>
                  <a:lnTo>
                    <a:pt x="4053840" y="688848"/>
                  </a:lnTo>
                  <a:lnTo>
                    <a:pt x="4056888" y="688848"/>
                  </a:lnTo>
                  <a:lnTo>
                    <a:pt x="4056888" y="69189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495800" y="57339"/>
            <a:ext cx="3242310" cy="615950"/>
          </a:xfrm>
          <a:custGeom>
            <a:avLst/>
            <a:gdLst/>
            <a:ahLst/>
            <a:cxnLst/>
            <a:rect l="l" t="t" r="r" b="b"/>
            <a:pathLst>
              <a:path w="3242309" h="615950">
                <a:moveTo>
                  <a:pt x="3242165" y="0"/>
                </a:moveTo>
                <a:lnTo>
                  <a:pt x="0" y="0"/>
                </a:lnTo>
                <a:lnTo>
                  <a:pt x="0" y="615760"/>
                </a:lnTo>
                <a:lnTo>
                  <a:pt x="3242165" y="615760"/>
                </a:lnTo>
                <a:lnTo>
                  <a:pt x="3242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37769"/>
            <a:ext cx="250444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spc="35" dirty="0">
                <a:latin typeface="Calibri"/>
                <a:cs typeface="Calibri"/>
              </a:rPr>
              <a:t>Prepared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25" dirty="0">
                <a:latin typeface="Calibri"/>
                <a:cs typeface="Calibri"/>
              </a:rPr>
              <a:t>By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20" dirty="0">
                <a:latin typeface="Calibri"/>
                <a:cs typeface="Calibri"/>
              </a:rPr>
              <a:t>Mr.EBIN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PM,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spc="35" dirty="0">
                <a:latin typeface="Calibri"/>
                <a:cs typeface="Calibri"/>
              </a:rPr>
              <a:t>AP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15" dirty="0">
                <a:latin typeface="Calibri"/>
                <a:cs typeface="Calibri"/>
              </a:rPr>
              <a:t>,</a:t>
            </a:r>
            <a:r>
              <a:rPr sz="1250" spc="30" dirty="0">
                <a:latin typeface="Calibri"/>
                <a:cs typeface="Calibri"/>
              </a:rPr>
              <a:t> 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0787" y="532758"/>
            <a:ext cx="5798820" cy="312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1810"/>
              </a:lnSpc>
            </a:pPr>
            <a:r>
              <a:rPr sz="1600" b="1" spc="-5" dirty="0">
                <a:solidFill>
                  <a:srgbClr val="702FA0"/>
                </a:solidFill>
                <a:latin typeface="Calibri"/>
                <a:cs typeface="Calibri"/>
              </a:rPr>
              <a:t>Eg: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 marR="1094740" algn="r">
              <a:lnSpc>
                <a:spcPct val="100000"/>
              </a:lnSpc>
            </a:pP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295" y="6350"/>
            <a:ext cx="6082665" cy="3480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  <a:spcBef>
                <a:spcPts val="455"/>
              </a:spcBef>
            </a:pPr>
            <a:endParaRPr sz="6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1600" y="158750"/>
            <a:ext cx="5401310" cy="3208020"/>
            <a:chOff x="1304544" y="599814"/>
            <a:chExt cx="5401310" cy="32080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604386"/>
              <a:ext cx="3432048" cy="30083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04544" y="599814"/>
              <a:ext cx="3441700" cy="3017520"/>
            </a:xfrm>
            <a:custGeom>
              <a:avLst/>
              <a:gdLst/>
              <a:ahLst/>
              <a:cxnLst/>
              <a:rect l="l" t="t" r="r" b="b"/>
              <a:pathLst>
                <a:path w="3441700" h="3017520">
                  <a:moveTo>
                    <a:pt x="3441192" y="3017520"/>
                  </a:moveTo>
                  <a:lnTo>
                    <a:pt x="0" y="3017520"/>
                  </a:lnTo>
                  <a:lnTo>
                    <a:pt x="0" y="0"/>
                  </a:lnTo>
                  <a:lnTo>
                    <a:pt x="3441192" y="0"/>
                  </a:lnTo>
                  <a:lnTo>
                    <a:pt x="344119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12948"/>
                  </a:lnTo>
                  <a:lnTo>
                    <a:pt x="3048" y="3012948"/>
                  </a:lnTo>
                  <a:lnTo>
                    <a:pt x="4572" y="3015996"/>
                  </a:lnTo>
                  <a:lnTo>
                    <a:pt x="3441192" y="3015996"/>
                  </a:lnTo>
                  <a:lnTo>
                    <a:pt x="3441192" y="3017520"/>
                  </a:lnTo>
                  <a:close/>
                </a:path>
                <a:path w="3441700" h="301752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3441700" h="3017520">
                  <a:moveTo>
                    <a:pt x="3436619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3436619" y="1524"/>
                  </a:lnTo>
                  <a:lnTo>
                    <a:pt x="3436619" y="4572"/>
                  </a:lnTo>
                  <a:close/>
                </a:path>
                <a:path w="3441700" h="3017520">
                  <a:moveTo>
                    <a:pt x="3436619" y="3015996"/>
                  </a:moveTo>
                  <a:lnTo>
                    <a:pt x="3436619" y="1524"/>
                  </a:lnTo>
                  <a:lnTo>
                    <a:pt x="3438144" y="4572"/>
                  </a:lnTo>
                  <a:lnTo>
                    <a:pt x="3441192" y="4572"/>
                  </a:lnTo>
                  <a:lnTo>
                    <a:pt x="3441192" y="3012948"/>
                  </a:lnTo>
                  <a:lnTo>
                    <a:pt x="3438144" y="3012948"/>
                  </a:lnTo>
                  <a:lnTo>
                    <a:pt x="3436619" y="3015996"/>
                  </a:lnTo>
                  <a:close/>
                </a:path>
                <a:path w="3441700" h="3017520">
                  <a:moveTo>
                    <a:pt x="3441192" y="4572"/>
                  </a:moveTo>
                  <a:lnTo>
                    <a:pt x="3438144" y="4572"/>
                  </a:lnTo>
                  <a:lnTo>
                    <a:pt x="3436619" y="1524"/>
                  </a:lnTo>
                  <a:lnTo>
                    <a:pt x="3441192" y="1524"/>
                  </a:lnTo>
                  <a:lnTo>
                    <a:pt x="3441192" y="4572"/>
                  </a:lnTo>
                  <a:close/>
                </a:path>
                <a:path w="3441700" h="3017520">
                  <a:moveTo>
                    <a:pt x="4572" y="3015996"/>
                  </a:moveTo>
                  <a:lnTo>
                    <a:pt x="3048" y="3012948"/>
                  </a:lnTo>
                  <a:lnTo>
                    <a:pt x="4572" y="3012948"/>
                  </a:lnTo>
                  <a:lnTo>
                    <a:pt x="4572" y="3015996"/>
                  </a:lnTo>
                  <a:close/>
                </a:path>
                <a:path w="3441700" h="3017520">
                  <a:moveTo>
                    <a:pt x="3436619" y="3015996"/>
                  </a:moveTo>
                  <a:lnTo>
                    <a:pt x="4572" y="3015996"/>
                  </a:lnTo>
                  <a:lnTo>
                    <a:pt x="4572" y="3012948"/>
                  </a:lnTo>
                  <a:lnTo>
                    <a:pt x="3436619" y="3012948"/>
                  </a:lnTo>
                  <a:lnTo>
                    <a:pt x="3436619" y="3015996"/>
                  </a:lnTo>
                  <a:close/>
                </a:path>
                <a:path w="3441700" h="3017520">
                  <a:moveTo>
                    <a:pt x="3441192" y="3015996"/>
                  </a:moveTo>
                  <a:lnTo>
                    <a:pt x="3436619" y="3015996"/>
                  </a:lnTo>
                  <a:lnTo>
                    <a:pt x="3438144" y="3012948"/>
                  </a:lnTo>
                  <a:lnTo>
                    <a:pt x="3441192" y="3012948"/>
                  </a:lnTo>
                  <a:lnTo>
                    <a:pt x="3441192" y="301599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6508" y="1695570"/>
              <a:ext cx="1874520" cy="50139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21936" y="1690997"/>
              <a:ext cx="1884045" cy="512445"/>
            </a:xfrm>
            <a:custGeom>
              <a:avLst/>
              <a:gdLst/>
              <a:ahLst/>
              <a:cxnLst/>
              <a:rect l="l" t="t" r="r" b="b"/>
              <a:pathLst>
                <a:path w="1884045" h="512444">
                  <a:moveTo>
                    <a:pt x="1882140" y="512064"/>
                  </a:moveTo>
                  <a:lnTo>
                    <a:pt x="1524" y="512064"/>
                  </a:lnTo>
                  <a:lnTo>
                    <a:pt x="0" y="510540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882140" y="0"/>
                  </a:lnTo>
                  <a:lnTo>
                    <a:pt x="1883664" y="1524"/>
                  </a:lnTo>
                  <a:lnTo>
                    <a:pt x="1883664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505968"/>
                  </a:lnTo>
                  <a:lnTo>
                    <a:pt x="3048" y="505968"/>
                  </a:lnTo>
                  <a:lnTo>
                    <a:pt x="4572" y="509016"/>
                  </a:lnTo>
                  <a:lnTo>
                    <a:pt x="1883664" y="509016"/>
                  </a:lnTo>
                  <a:lnTo>
                    <a:pt x="1883664" y="510540"/>
                  </a:lnTo>
                  <a:lnTo>
                    <a:pt x="1882140" y="512064"/>
                  </a:lnTo>
                  <a:close/>
                </a:path>
                <a:path w="1884045" h="512444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1884045" h="512444">
                  <a:moveTo>
                    <a:pt x="1879092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1879092" y="3048"/>
                  </a:lnTo>
                  <a:lnTo>
                    <a:pt x="1879092" y="4572"/>
                  </a:lnTo>
                  <a:close/>
                </a:path>
                <a:path w="1884045" h="512444">
                  <a:moveTo>
                    <a:pt x="1879092" y="509016"/>
                  </a:moveTo>
                  <a:lnTo>
                    <a:pt x="1879092" y="3048"/>
                  </a:lnTo>
                  <a:lnTo>
                    <a:pt x="1882140" y="4572"/>
                  </a:lnTo>
                  <a:lnTo>
                    <a:pt x="1883664" y="4572"/>
                  </a:lnTo>
                  <a:lnTo>
                    <a:pt x="1883664" y="505968"/>
                  </a:lnTo>
                  <a:lnTo>
                    <a:pt x="1882140" y="505968"/>
                  </a:lnTo>
                  <a:lnTo>
                    <a:pt x="1879092" y="509016"/>
                  </a:lnTo>
                  <a:close/>
                </a:path>
                <a:path w="1884045" h="512444">
                  <a:moveTo>
                    <a:pt x="1883664" y="4572"/>
                  </a:moveTo>
                  <a:lnTo>
                    <a:pt x="1882140" y="4572"/>
                  </a:lnTo>
                  <a:lnTo>
                    <a:pt x="1879092" y="3048"/>
                  </a:lnTo>
                  <a:lnTo>
                    <a:pt x="1883664" y="3048"/>
                  </a:lnTo>
                  <a:lnTo>
                    <a:pt x="1883664" y="4572"/>
                  </a:lnTo>
                  <a:close/>
                </a:path>
                <a:path w="1884045" h="512444">
                  <a:moveTo>
                    <a:pt x="4572" y="509016"/>
                  </a:moveTo>
                  <a:lnTo>
                    <a:pt x="3048" y="505968"/>
                  </a:lnTo>
                  <a:lnTo>
                    <a:pt x="4572" y="505968"/>
                  </a:lnTo>
                  <a:lnTo>
                    <a:pt x="4572" y="509016"/>
                  </a:lnTo>
                  <a:close/>
                </a:path>
                <a:path w="1884045" h="512444">
                  <a:moveTo>
                    <a:pt x="1879092" y="509016"/>
                  </a:moveTo>
                  <a:lnTo>
                    <a:pt x="4572" y="509016"/>
                  </a:lnTo>
                  <a:lnTo>
                    <a:pt x="4572" y="505968"/>
                  </a:lnTo>
                  <a:lnTo>
                    <a:pt x="1879092" y="505968"/>
                  </a:lnTo>
                  <a:lnTo>
                    <a:pt x="1879092" y="509016"/>
                  </a:lnTo>
                  <a:close/>
                </a:path>
                <a:path w="1884045" h="512444">
                  <a:moveTo>
                    <a:pt x="1883664" y="509016"/>
                  </a:moveTo>
                  <a:lnTo>
                    <a:pt x="1879092" y="509016"/>
                  </a:lnTo>
                  <a:lnTo>
                    <a:pt x="1882140" y="505968"/>
                  </a:lnTo>
                  <a:lnTo>
                    <a:pt x="1883664" y="505968"/>
                  </a:lnTo>
                  <a:lnTo>
                    <a:pt x="1883664" y="50901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2600" y="3694227"/>
              <a:ext cx="3242310" cy="113664"/>
            </a:xfrm>
            <a:custGeom>
              <a:avLst/>
              <a:gdLst/>
              <a:ahLst/>
              <a:cxnLst/>
              <a:rect l="l" t="t" r="r" b="b"/>
              <a:pathLst>
                <a:path w="3242310" h="113664">
                  <a:moveTo>
                    <a:pt x="3242165" y="0"/>
                  </a:moveTo>
                  <a:lnTo>
                    <a:pt x="0" y="0"/>
                  </a:lnTo>
                  <a:lnTo>
                    <a:pt x="0" y="113098"/>
                  </a:lnTo>
                  <a:lnTo>
                    <a:pt x="3242165" y="113098"/>
                  </a:lnTo>
                  <a:lnTo>
                    <a:pt x="3242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01600" y="4333498"/>
            <a:ext cx="2664460" cy="515620"/>
          </a:xfrm>
          <a:custGeom>
            <a:avLst/>
            <a:gdLst/>
            <a:ahLst/>
            <a:cxnLst/>
            <a:rect l="l" t="t" r="r" b="b"/>
            <a:pathLst>
              <a:path w="2664460" h="515620">
                <a:moveTo>
                  <a:pt x="2664104" y="0"/>
                </a:moveTo>
                <a:lnTo>
                  <a:pt x="0" y="0"/>
                </a:lnTo>
                <a:lnTo>
                  <a:pt x="0" y="515227"/>
                </a:lnTo>
                <a:lnTo>
                  <a:pt x="2664104" y="515227"/>
                </a:lnTo>
                <a:lnTo>
                  <a:pt x="2664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3350</Words>
  <Application>Microsoft Office PowerPoint</Application>
  <PresentationFormat>Custom</PresentationFormat>
  <Paragraphs>946</Paragraphs>
  <Slides>52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 MT</vt:lpstr>
      <vt:lpstr>Calibri</vt:lpstr>
      <vt:lpstr>Times New Roman</vt:lpstr>
      <vt:lpstr>Wingdings</vt:lpstr>
      <vt:lpstr>Office Theme</vt:lpstr>
      <vt:lpstr>MODULE 3</vt:lpstr>
      <vt:lpstr>PowerPoint Presentation</vt:lpstr>
      <vt:lpstr>PACKAGES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Packages from another 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Java program that reads a line of integers, and then displays each integer, and the sum of all the integers  input 2 3 4 output 2 3 4 sum of integers=9          </vt:lpstr>
      <vt:lpstr> Java program that reads a line of integers, and then displays each integer, and the sum of all the integers  Algorithm 1.Start 2: Create object of stringTokenizer class using constructor with delimiter argument as space for separating tokens. 3:Enter numbers separated by space. 4: Using appropriate methods, separate tokens (integers) 5.Display the tokens and find the sum of all integers. 6.Stop           </vt:lpstr>
      <vt:lpstr>import java.util.Scanner; import java.util.StringTokenizer;  class StringTokenizerDemo {  public static void main(String args[]) {  int n,sum = 0;  Scanner sc = new Scanner(System.in);  System.out.println("Enter integers with one space gap:");  String s = sc.nextLine();  StringTokenizer st = new StringTokenizer(s, “ ");  while (st.hasMoreTokens()) {  String temp = st.nextToken();  n = Integer.parseInt(temp);  System.out.println(n);  sum = sum + n;  }  System.out.println("sum of the integers is: " + sum); } }</vt:lpstr>
      <vt:lpstr>EXCEPTION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Multi-catch block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2 - Let's see the java finally example where exception occurs  and not handled.</vt:lpstr>
      <vt:lpstr>Case 3 - Let's see the java finally example where exception occurs  and handled</vt:lpstr>
      <vt:lpstr>PowerPoint Presentation</vt:lpstr>
      <vt:lpstr>throws keyword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cp:lastModifiedBy>libsy baby</cp:lastModifiedBy>
  <cp:revision>148</cp:revision>
  <dcterms:created xsi:type="dcterms:W3CDTF">2023-11-06T18:03:20Z</dcterms:created>
  <dcterms:modified xsi:type="dcterms:W3CDTF">2023-11-25T17:15:54Z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2023-11-06T00:00:00Z</vt:filetime>
  </property>
  <property fmtid="{D5CDD505-2E9C-101B-9397-08002B2CF9AE}" pid="3" name="LastSaved">
    <vt:filetime>2023-11-06T00:00:00Z</vt:filetime>
  </property>
</Properties>
</file>