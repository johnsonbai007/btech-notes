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256" r:id="rId2"/>
    <p:sldId id="292" r:id="rId3"/>
    <p:sldId id="296" r:id="rId4"/>
    <p:sldId id="297" r:id="rId5"/>
    <p:sldId id="343" r:id="rId6"/>
    <p:sldId id="298" r:id="rId7"/>
    <p:sldId id="299" r:id="rId8"/>
    <p:sldId id="302" r:id="rId9"/>
    <p:sldId id="303" r:id="rId10"/>
    <p:sldId id="265" r:id="rId11"/>
    <p:sldId id="312" r:id="rId12"/>
    <p:sldId id="311" r:id="rId13"/>
    <p:sldId id="267" r:id="rId14"/>
    <p:sldId id="268" r:id="rId15"/>
    <p:sldId id="269" r:id="rId16"/>
    <p:sldId id="270" r:id="rId17"/>
    <p:sldId id="271" r:id="rId18"/>
    <p:sldId id="319" r:id="rId19"/>
    <p:sldId id="320" r:id="rId20"/>
    <p:sldId id="323" r:id="rId21"/>
    <p:sldId id="324" r:id="rId22"/>
    <p:sldId id="325" r:id="rId23"/>
    <p:sldId id="326" r:id="rId24"/>
    <p:sldId id="329" r:id="rId25"/>
    <p:sldId id="331" r:id="rId26"/>
    <p:sldId id="332" r:id="rId27"/>
    <p:sldId id="335" r:id="rId28"/>
    <p:sldId id="338" r:id="rId29"/>
    <p:sldId id="370" r:id="rId30"/>
    <p:sldId id="373" r:id="rId31"/>
    <p:sldId id="374" r:id="rId32"/>
    <p:sldId id="365" r:id="rId33"/>
    <p:sldId id="363" r:id="rId34"/>
    <p:sldId id="361" r:id="rId35"/>
    <p:sldId id="341" r:id="rId36"/>
    <p:sldId id="344" r:id="rId37"/>
    <p:sldId id="346" r:id="rId38"/>
    <p:sldId id="347" r:id="rId39"/>
    <p:sldId id="348" r:id="rId40"/>
    <p:sldId id="349" r:id="rId41"/>
    <p:sldId id="355" r:id="rId42"/>
    <p:sldId id="375" r:id="rId43"/>
    <p:sldId id="352" r:id="rId44"/>
    <p:sldId id="353" r:id="rId45"/>
    <p:sldId id="376" r:id="rId46"/>
    <p:sldId id="357" r:id="rId47"/>
    <p:sldId id="377" r:id="rId48"/>
    <p:sldId id="379" r:id="rId49"/>
    <p:sldId id="369" r:id="rId50"/>
    <p:sldId id="313" r:id="rId51"/>
    <p:sldId id="315" r:id="rId52"/>
    <p:sldId id="378" r:id="rId53"/>
    <p:sldId id="367" r:id="rId54"/>
    <p:sldId id="316" r:id="rId55"/>
  </p:sldIdLst>
  <p:sldSz cx="7772400" cy="5035550"/>
  <p:notesSz cx="7772400" cy="5035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63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252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252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B12A0-0FD5-42EA-A95A-2B42226E54BE}" type="datetimeFigureOut">
              <a:rPr lang="en-US" smtClean="0"/>
              <a:t>11/25/2023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630238"/>
            <a:ext cx="2622550" cy="1698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2424113"/>
            <a:ext cx="6216650" cy="1982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783138"/>
            <a:ext cx="3368675" cy="252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4783138"/>
            <a:ext cx="3368675" cy="252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1F56C-C5AE-4488-B42D-5CB5AB7E7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8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1F56C-C5AE-4488-B42D-5CB5AB7E79F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9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US" b="1" i="0" dirty="0" err="1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InputStreamReader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is a bridge from byte streams to character streams: It reads bytes and decodes them into characters using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a specified charset 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1F56C-C5AE-4488-B42D-5CB5AB7E79F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85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1F56C-C5AE-4488-B42D-5CB5AB7E79F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53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Console class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provides methods to access the character-based console device, if any, associated with the current Java virtual machine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The Console class was added to java.io by JDK 6. </a:t>
            </a:r>
            <a:r>
              <a:rPr lang="en-US" b="0" i="0">
                <a:solidFill>
                  <a:srgbClr val="202124"/>
                </a:solidFill>
                <a:effectLst/>
                <a:latin typeface="Google Sans"/>
              </a:rPr>
              <a:t>Important Points: It is used to read from and write to the console, if one exists.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1F56C-C5AE-4488-B42D-5CB5AB7E79F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19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  <a:latin typeface="+mn-lt"/>
              </a:rPr>
              <a:t>In Java, all files are byte-oriented.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1F56C-C5AE-4488-B42D-5CB5AB7E79F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66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040C28"/>
                </a:solidFill>
                <a:effectLst/>
                <a:latin typeface="Google Sans"/>
              </a:rPr>
              <a:t>FileInputStream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is Byte Based, it can be used to read bytes.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 </a:t>
            </a:r>
            <a:r>
              <a:rPr lang="en-US" b="0" i="0" dirty="0" err="1">
                <a:solidFill>
                  <a:srgbClr val="040C28"/>
                </a:solidFill>
                <a:effectLst/>
                <a:latin typeface="Google Sans"/>
              </a:rPr>
              <a:t>FileReader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is Character Based, it can be used to read characters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FileInputStream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is used for reading binary files.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FileReader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 is used for reading text files in platform default encoding.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91F56C-C5AE-4488-B42D-5CB5AB7E79F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4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1559052"/>
            <a:ext cx="6606540" cy="1056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2816352"/>
            <a:ext cx="5440680" cy="125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02F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02F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1156716"/>
            <a:ext cx="3380994" cy="3319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1156716"/>
            <a:ext cx="3380994" cy="3319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29" y="25814"/>
            <a:ext cx="382905" cy="220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1336" y="1153112"/>
            <a:ext cx="3723640" cy="3090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02F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4677156"/>
            <a:ext cx="2487168" cy="251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4677156"/>
            <a:ext cx="1787652" cy="251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4677156"/>
            <a:ext cx="1787652" cy="251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c/EDULINEFORCS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c/EDULINEFORCS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c/EDULINEFORCS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-10" dirty="0">
                <a:latin typeface="Calibri"/>
                <a:cs typeface="Calibri"/>
                <a:hlinkClick r:id="rId2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-1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00" y="1690116"/>
            <a:ext cx="4572000" cy="690880"/>
          </a:xfrm>
          <a:prstGeom prst="rect">
            <a:avLst/>
          </a:prstGeom>
          <a:solidFill>
            <a:srgbClr val="ED7C31"/>
          </a:solidFill>
        </p:spPr>
        <p:txBody>
          <a:bodyPr vert="horz" wrap="square" lIns="0" tIns="194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35"/>
              </a:spcBef>
            </a:pPr>
            <a:r>
              <a:rPr sz="3000" b="1" dirty="0">
                <a:latin typeface="Times New Roman"/>
                <a:cs typeface="Times New Roman"/>
              </a:rPr>
              <a:t>MODULE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spc="-50" dirty="0">
                <a:latin typeface="Times New Roman"/>
                <a:cs typeface="Times New Roman"/>
              </a:rPr>
              <a:t>3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0200" y="2929127"/>
            <a:ext cx="4572000" cy="1199515"/>
          </a:xfrm>
          <a:prstGeom prst="rect">
            <a:avLst/>
          </a:prstGeom>
          <a:solidFill>
            <a:srgbClr val="70AC46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930"/>
              </a:lnSpc>
            </a:pPr>
            <a:r>
              <a:rPr sz="2700" b="1" dirty="0">
                <a:latin typeface="Calibri"/>
                <a:cs typeface="Calibri"/>
              </a:rPr>
              <a:t>CHAPTER</a:t>
            </a:r>
            <a:r>
              <a:rPr sz="2700" b="1" spc="-80" dirty="0">
                <a:latin typeface="Calibri"/>
                <a:cs typeface="Calibri"/>
              </a:rPr>
              <a:t> </a:t>
            </a:r>
            <a:r>
              <a:rPr sz="2700" b="1" spc="-50" dirty="0">
                <a:latin typeface="Calibri"/>
                <a:cs typeface="Calibri"/>
              </a:rPr>
              <a:t>2</a:t>
            </a:r>
            <a:endParaRPr sz="2700">
              <a:latin typeface="Calibri"/>
              <a:cs typeface="Calibri"/>
            </a:endParaRPr>
          </a:p>
          <a:p>
            <a:pPr marL="274320" marR="269240" algn="ctr">
              <a:lnSpc>
                <a:spcPts val="2920"/>
              </a:lnSpc>
              <a:spcBef>
                <a:spcPts val="530"/>
              </a:spcBef>
            </a:pPr>
            <a:r>
              <a:rPr sz="2700" b="1" spc="-80" dirty="0">
                <a:latin typeface="Calibri"/>
                <a:cs typeface="Calibri"/>
              </a:rPr>
              <a:t>JAVA</a:t>
            </a:r>
            <a:r>
              <a:rPr sz="2700" b="1" spc="-4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INPUT</a:t>
            </a:r>
            <a:r>
              <a:rPr sz="2700" b="1" spc="-6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OUTPUT</a:t>
            </a:r>
            <a:r>
              <a:rPr sz="2700" b="1" spc="-6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(I/O)</a:t>
            </a:r>
            <a:r>
              <a:rPr sz="2700" b="1" spc="-55" dirty="0">
                <a:latin typeface="Calibri"/>
                <a:cs typeface="Calibri"/>
              </a:rPr>
              <a:t> </a:t>
            </a:r>
            <a:r>
              <a:rPr sz="2700" b="1" spc="-50" dirty="0">
                <a:latin typeface="Calibri"/>
                <a:cs typeface="Calibri"/>
              </a:rPr>
              <a:t>&amp; </a:t>
            </a:r>
            <a:r>
              <a:rPr sz="2700" b="1" spc="-10" dirty="0">
                <a:latin typeface="Calibri"/>
                <a:cs typeface="Calibri"/>
              </a:rPr>
              <a:t>FILES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7531" y="4365499"/>
            <a:ext cx="1097915" cy="76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0"/>
              </a:lnSpc>
            </a:pPr>
            <a:r>
              <a:rPr sz="600" spc="-10" dirty="0">
                <a:solidFill>
                  <a:srgbClr val="898989"/>
                </a:solidFill>
                <a:latin typeface="Calibri"/>
                <a:cs typeface="Calibri"/>
              </a:rPr>
              <a:t>Prepared</a:t>
            </a:r>
            <a:r>
              <a:rPr sz="600" spc="2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898989"/>
                </a:solidFill>
                <a:latin typeface="Calibri"/>
                <a:cs typeface="Calibri"/>
              </a:rPr>
              <a:t>By</a:t>
            </a:r>
            <a:r>
              <a:rPr sz="600" spc="15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898989"/>
                </a:solidFill>
                <a:latin typeface="Calibri"/>
                <a:cs typeface="Calibri"/>
              </a:rPr>
              <a:t>Mr.EBIN</a:t>
            </a:r>
            <a:r>
              <a:rPr sz="600" dirty="0">
                <a:solidFill>
                  <a:srgbClr val="898989"/>
                </a:solidFill>
                <a:latin typeface="Calibri"/>
                <a:cs typeface="Calibri"/>
              </a:rPr>
              <a:t> PM, </a:t>
            </a:r>
            <a:r>
              <a:rPr sz="600" spc="-30" dirty="0">
                <a:solidFill>
                  <a:srgbClr val="898989"/>
                </a:solidFill>
                <a:latin typeface="Calibri"/>
                <a:cs typeface="Calibri"/>
              </a:rPr>
              <a:t>AP,</a:t>
            </a:r>
            <a:r>
              <a:rPr sz="600" spc="15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600" spc="-20" dirty="0">
                <a:solidFill>
                  <a:srgbClr val="898989"/>
                </a:solidFill>
                <a:latin typeface="Calibri"/>
                <a:cs typeface="Calibri"/>
              </a:rPr>
              <a:t>IESCE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4295" y="1133855"/>
            <a:ext cx="6082665" cy="3415665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600">
              <a:latin typeface="Times New Roman"/>
              <a:cs typeface="Times New Roman"/>
            </a:endParaRPr>
          </a:p>
          <a:p>
            <a:pPr marR="448945" algn="r">
              <a:lnSpc>
                <a:spcPct val="100000"/>
              </a:lnSpc>
            </a:pPr>
            <a:r>
              <a:rPr sz="600" spc="-50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45000" y="62688"/>
            <a:ext cx="3274060" cy="521970"/>
          </a:xfrm>
          <a:custGeom>
            <a:avLst/>
            <a:gdLst/>
            <a:ahLst/>
            <a:cxnLst/>
            <a:rect l="l" t="t" r="r" b="b"/>
            <a:pathLst>
              <a:path w="3274059" h="521970">
                <a:moveTo>
                  <a:pt x="3273581" y="0"/>
                </a:moveTo>
                <a:lnTo>
                  <a:pt x="0" y="0"/>
                </a:lnTo>
                <a:lnTo>
                  <a:pt x="0" y="521511"/>
                </a:lnTo>
                <a:lnTo>
                  <a:pt x="3273581" y="521511"/>
                </a:lnTo>
                <a:lnTo>
                  <a:pt x="32735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76600" y="4276152"/>
            <a:ext cx="1451610" cy="245110"/>
          </a:xfrm>
          <a:custGeom>
            <a:avLst/>
            <a:gdLst/>
            <a:ahLst/>
            <a:cxnLst/>
            <a:rect l="l" t="t" r="r" b="b"/>
            <a:pathLst>
              <a:path w="1451610" h="245110">
                <a:moveTo>
                  <a:pt x="1451434" y="0"/>
                </a:moveTo>
                <a:lnTo>
                  <a:pt x="0" y="0"/>
                </a:lnTo>
                <a:lnTo>
                  <a:pt x="0" y="245047"/>
                </a:lnTo>
                <a:lnTo>
                  <a:pt x="1451434" y="245047"/>
                </a:lnTo>
                <a:lnTo>
                  <a:pt x="14514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2DEC-6DA0-BF2B-ECDB-5F992A32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29" y="102014"/>
            <a:ext cx="7148071" cy="492443"/>
          </a:xfrm>
        </p:spPr>
        <p:txBody>
          <a:bodyPr/>
          <a:lstStyle/>
          <a:p>
            <a:pPr algn="ctr"/>
            <a:r>
              <a:rPr lang="en-US" sz="3200" b="1" dirty="0"/>
              <a:t>Streams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1833D-487F-26F4-2830-B020CC9B5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" y="536574"/>
            <a:ext cx="7590542" cy="4062651"/>
          </a:xfrm>
          <a:ln>
            <a:solidFill>
              <a:schemeClr val="tx1"/>
            </a:solidFill>
          </a:ln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Java programs perform I/O through streams.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• A stream is an abstraction that either produces or consumes information.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• A stream is a sequence of objects that supports various methods.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• A stream is linked to a physical device by the Java I/O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system.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Input stream may refer to different kinds of input: from a disk file, a keyboard, or a network socket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Output stream may refer to the console, a disk file, or a network</a:t>
            </a:r>
          </a:p>
        </p:txBody>
      </p:sp>
    </p:spTree>
    <p:extLst>
      <p:ext uri="{BB962C8B-B14F-4D97-AF65-F5344CB8AC3E}">
        <p14:creationId xmlns:p14="http://schemas.microsoft.com/office/powerpoint/2010/main" val="1025922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2DEC-6DA0-BF2B-ECDB-5F992A32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29" y="102014"/>
            <a:ext cx="7148071" cy="492443"/>
          </a:xfrm>
        </p:spPr>
        <p:txBody>
          <a:bodyPr/>
          <a:lstStyle/>
          <a:p>
            <a:pPr algn="ctr"/>
            <a:r>
              <a:rPr lang="en-US" sz="3200" b="1" dirty="0"/>
              <a:t>Working of I/O Stream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1833D-487F-26F4-2830-B020CC9B5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" y="536574"/>
            <a:ext cx="7590542" cy="36933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Stream is like a flow of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0199F-BC53-5704-CC5D-027881139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4" y="1465262"/>
            <a:ext cx="6696075" cy="30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7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A16CA5-4AF4-5533-F7F4-41110BFD561F}"/>
              </a:ext>
            </a:extLst>
          </p:cNvPr>
          <p:cNvSpPr txBox="1"/>
          <p:nvPr/>
        </p:nvSpPr>
        <p:spPr>
          <a:xfrm>
            <a:off x="304800" y="206157"/>
            <a:ext cx="7391400" cy="47500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			</a:t>
            </a:r>
            <a:r>
              <a:rPr lang="en-US" sz="2400" b="1" dirty="0"/>
              <a:t>Streams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• The </a:t>
            </a:r>
            <a:r>
              <a:rPr lang="en-US" b="1" dirty="0">
                <a:solidFill>
                  <a:srgbClr val="FF0000"/>
                </a:solidFill>
              </a:rPr>
              <a:t>java.io package </a:t>
            </a:r>
            <a:r>
              <a:rPr lang="en-US" b="1" dirty="0"/>
              <a:t>contains all the classes required for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input and output operations.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• Java defines two types of streams: </a:t>
            </a:r>
            <a:r>
              <a:rPr lang="en-US" b="1" dirty="0">
                <a:solidFill>
                  <a:srgbClr val="FF0000"/>
                </a:solidFill>
              </a:rPr>
              <a:t>byte</a:t>
            </a:r>
            <a:r>
              <a:rPr lang="en-US" b="1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character</a:t>
            </a:r>
            <a:r>
              <a:rPr lang="en-US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• Byte streams provides a means for handling input and output of bytes.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— Byte streams are used when reading or writing binary data.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• Character streams provide a means for handling input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and output of characters.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— they use Unicode.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— in some cases, character streams are more efficient than byte</a:t>
            </a:r>
          </a:p>
        </p:txBody>
      </p:sp>
    </p:spTree>
    <p:extLst>
      <p:ext uri="{BB962C8B-B14F-4D97-AF65-F5344CB8AC3E}">
        <p14:creationId xmlns:p14="http://schemas.microsoft.com/office/powerpoint/2010/main" val="371808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F8C4ED-B61F-743B-1A9E-830EBC1ED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43799" cy="503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A16CA5-4AF4-5533-F7F4-41110BFD561F}"/>
              </a:ext>
            </a:extLst>
          </p:cNvPr>
          <p:cNvSpPr txBox="1"/>
          <p:nvPr/>
        </p:nvSpPr>
        <p:spPr>
          <a:xfrm>
            <a:off x="304800" y="365989"/>
            <a:ext cx="7391400" cy="2989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		</a:t>
            </a:r>
            <a:r>
              <a:rPr lang="en-US" sz="2800" b="1" dirty="0" err="1"/>
              <a:t>ByteStream</a:t>
            </a:r>
            <a:r>
              <a:rPr lang="en-US" sz="2800" b="1" dirty="0"/>
              <a:t> Classes</a:t>
            </a: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•</a:t>
            </a:r>
            <a:r>
              <a:rPr lang="en-US" sz="2000" dirty="0"/>
              <a:t> Byte streams are defined by using two class hierarchies.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At the top are two abstract classes: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– </a:t>
            </a:r>
            <a:r>
              <a:rPr lang="en-US" sz="2000" dirty="0" err="1"/>
              <a:t>InputStream</a:t>
            </a:r>
            <a:r>
              <a:rPr lang="en-US" sz="2000" dirty="0"/>
              <a:t> and </a:t>
            </a:r>
            <a:r>
              <a:rPr lang="en-US" sz="2000" dirty="0" err="1"/>
              <a:t>OutputStream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Two  important methods are read( ) and write( 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6403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A16CA5-4AF4-5533-F7F4-41110BFD561F}"/>
              </a:ext>
            </a:extLst>
          </p:cNvPr>
          <p:cNvSpPr txBox="1"/>
          <p:nvPr/>
        </p:nvSpPr>
        <p:spPr>
          <a:xfrm>
            <a:off x="304800" y="213589"/>
            <a:ext cx="7391400" cy="2989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		</a:t>
            </a:r>
            <a:r>
              <a:rPr lang="en-US" sz="2800" b="1" dirty="0" err="1"/>
              <a:t>CharacterStream</a:t>
            </a:r>
            <a:r>
              <a:rPr lang="en-US" sz="2800" b="1" dirty="0"/>
              <a:t> Class</a:t>
            </a: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•</a:t>
            </a:r>
            <a:r>
              <a:rPr lang="en-US" sz="2000" dirty="0"/>
              <a:t> Character streams are defined by using two class hierarchies.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At the top are two abstract classes: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– Reader and Writer.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Two  important methods are read( ) and write( 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30464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A16CA5-4AF4-5533-F7F4-41110BFD561F}"/>
              </a:ext>
            </a:extLst>
          </p:cNvPr>
          <p:cNvSpPr txBox="1"/>
          <p:nvPr/>
        </p:nvSpPr>
        <p:spPr>
          <a:xfrm>
            <a:off x="304800" y="351353"/>
            <a:ext cx="7391400" cy="4374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	    </a:t>
            </a:r>
            <a:r>
              <a:rPr lang="en-US" sz="2800" b="1" dirty="0"/>
              <a:t>The Predefined Streams</a:t>
            </a: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•All Java programs automatically import the </a:t>
            </a:r>
            <a:r>
              <a:rPr lang="en-US" sz="2000" b="1" dirty="0" err="1">
                <a:solidFill>
                  <a:srgbClr val="FF0000"/>
                </a:solidFill>
              </a:rPr>
              <a:t>java.lang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/>
              <a:t>package.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This package defines a class called </a:t>
            </a:r>
            <a:r>
              <a:rPr lang="en-US" sz="2000" b="1" dirty="0">
                <a:solidFill>
                  <a:srgbClr val="FF0000"/>
                </a:solidFill>
              </a:rPr>
              <a:t>System</a:t>
            </a:r>
            <a:r>
              <a:rPr lang="en-US" sz="20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• System contains three predefined stream variables: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– </a:t>
            </a:r>
            <a:r>
              <a:rPr lang="en-US" sz="2000" b="1" dirty="0">
                <a:solidFill>
                  <a:srgbClr val="FF0000"/>
                </a:solidFill>
              </a:rPr>
              <a:t>in, out, err.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– These fields are declared as public, static, and final within System.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3066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A16CA5-4AF4-5533-F7F4-41110BFD561F}"/>
              </a:ext>
            </a:extLst>
          </p:cNvPr>
          <p:cNvSpPr txBox="1"/>
          <p:nvPr/>
        </p:nvSpPr>
        <p:spPr>
          <a:xfrm>
            <a:off x="76200" y="156261"/>
            <a:ext cx="7620000" cy="3728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• </a:t>
            </a:r>
            <a:r>
              <a:rPr lang="en-US" sz="2000" b="1" dirty="0" err="1"/>
              <a:t>System.out</a:t>
            </a:r>
            <a:r>
              <a:rPr lang="en-US" sz="2000" b="1" dirty="0"/>
              <a:t> refers to the standard output stream.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• System.in refers to standard input, which is the keyboard by default.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• </a:t>
            </a:r>
            <a:r>
              <a:rPr lang="en-US" sz="2000" b="1" dirty="0" err="1"/>
              <a:t>System.err</a:t>
            </a:r>
            <a:r>
              <a:rPr lang="en-US" sz="2000" b="1" dirty="0"/>
              <a:t> refers to the standard error stream, which is the console by default.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• System.in is an object of type </a:t>
            </a:r>
            <a:r>
              <a:rPr lang="en-US" sz="2000" b="1" dirty="0" err="1"/>
              <a:t>InputStream</a:t>
            </a: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 </a:t>
            </a:r>
            <a:r>
              <a:rPr lang="en-US" sz="2000" b="1" dirty="0" err="1"/>
              <a:t>System.out</a:t>
            </a:r>
            <a:r>
              <a:rPr lang="en-US" sz="2000" b="1" dirty="0"/>
              <a:t> and </a:t>
            </a:r>
            <a:r>
              <a:rPr lang="en-US" sz="2000" b="1" dirty="0" err="1"/>
              <a:t>System.err</a:t>
            </a:r>
            <a:r>
              <a:rPr lang="en-US" sz="2000" b="1" dirty="0"/>
              <a:t> are objects of type </a:t>
            </a:r>
            <a:r>
              <a:rPr lang="en-US" sz="2000" b="1" dirty="0" err="1"/>
              <a:t>PrintStream</a:t>
            </a:r>
            <a:r>
              <a:rPr lang="en-US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6529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28746"/>
            <a:ext cx="248285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dirty="0">
                <a:latin typeface="Calibri"/>
                <a:cs typeface="Calibri"/>
              </a:rPr>
              <a:t>Prepared</a:t>
            </a:r>
            <a:r>
              <a:rPr sz="1250" spc="1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By</a:t>
            </a:r>
            <a:r>
              <a:rPr sz="1250" spc="1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Mr.</a:t>
            </a:r>
            <a:r>
              <a:rPr sz="1250" spc="1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EBIN</a:t>
            </a:r>
            <a:r>
              <a:rPr sz="1250" spc="1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PM,</a:t>
            </a:r>
            <a:r>
              <a:rPr sz="1250" spc="1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AP,</a:t>
            </a:r>
            <a:r>
              <a:rPr sz="1250" spc="140" dirty="0">
                <a:latin typeface="Calibri"/>
                <a:cs typeface="Calibri"/>
              </a:rPr>
              <a:t> </a:t>
            </a:r>
            <a:r>
              <a:rPr sz="1250" spc="-20" dirty="0">
                <a:latin typeface="Calibri"/>
                <a:cs typeface="Calibri"/>
              </a:rPr>
              <a:t>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018788" y="633095"/>
            <a:ext cx="3717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READING</a:t>
            </a:r>
            <a:r>
              <a:rPr sz="2200" b="1" spc="-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CONSOLE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INPUT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800" y="1186816"/>
            <a:ext cx="6629400" cy="262635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0" marR="6985" indent="-117475">
              <a:lnSpc>
                <a:spcPts val="1540"/>
              </a:lnSpc>
              <a:spcBef>
                <a:spcPts val="459"/>
              </a:spcBef>
              <a:buSzPct val="93750"/>
              <a:buFont typeface="Wingdings"/>
              <a:buChar char=""/>
              <a:tabLst>
                <a:tab pos="127000" algn="l"/>
                <a:tab pos="17272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Java,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there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three</a:t>
            </a:r>
            <a:r>
              <a:rPr spc="6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different</a:t>
            </a:r>
            <a:r>
              <a:rPr spc="4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ways</a:t>
            </a:r>
            <a:r>
              <a:rPr spc="4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reading</a:t>
            </a:r>
            <a:r>
              <a:rPr spc="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 </a:t>
            </a:r>
            <a:r>
              <a:rPr dirty="0">
                <a:latin typeface="Calibri"/>
                <a:cs typeface="Calibri"/>
              </a:rPr>
              <a:t>user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command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line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environment(console).</a:t>
            </a:r>
            <a:endParaRPr dirty="0">
              <a:latin typeface="Calibri"/>
              <a:cs typeface="Calibri"/>
            </a:endParaRPr>
          </a:p>
          <a:p>
            <a:pPr marL="116205">
              <a:lnSpc>
                <a:spcPct val="100000"/>
              </a:lnSpc>
              <a:spcBef>
                <a:spcPts val="75"/>
              </a:spcBef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1.Using</a:t>
            </a:r>
            <a:r>
              <a:rPr sz="2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Buffered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Reader</a:t>
            </a:r>
            <a:r>
              <a:rPr sz="20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endParaRPr sz="2000" dirty="0">
              <a:latin typeface="Calibri"/>
              <a:cs typeface="Calibri"/>
            </a:endParaRPr>
          </a:p>
          <a:p>
            <a:pPr marL="127000" marR="6985" indent="-114935">
              <a:lnSpc>
                <a:spcPts val="1540"/>
              </a:lnSpc>
              <a:spcBef>
                <a:spcPts val="484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This</a:t>
            </a:r>
            <a:r>
              <a:rPr spc="4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4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40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Java</a:t>
            </a:r>
            <a:r>
              <a:rPr spc="4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classical</a:t>
            </a:r>
            <a:r>
              <a:rPr spc="4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</a:t>
            </a:r>
            <a:r>
              <a:rPr spc="4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40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take</a:t>
            </a:r>
            <a:r>
              <a:rPr spc="40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input,</a:t>
            </a:r>
            <a:r>
              <a:rPr spc="40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Introduced</a:t>
            </a:r>
            <a:r>
              <a:rPr spc="409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in </a:t>
            </a:r>
            <a:r>
              <a:rPr spc="-10" dirty="0">
                <a:latin typeface="Calibri"/>
                <a:cs typeface="Calibri"/>
              </a:rPr>
              <a:t>JDK1.0.</a:t>
            </a:r>
            <a:endParaRPr dirty="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540"/>
              </a:lnSpc>
              <a:spcBef>
                <a:spcPts val="495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This</a:t>
            </a:r>
            <a:r>
              <a:rPr spc="2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2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2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2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wrapping</a:t>
            </a:r>
            <a:r>
              <a:rPr spc="2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System.in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(standard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input </a:t>
            </a:r>
            <a:r>
              <a:rPr dirty="0">
                <a:latin typeface="Calibri"/>
                <a:cs typeface="Calibri"/>
              </a:rPr>
              <a:t>stream)</a:t>
            </a:r>
            <a:r>
              <a:rPr spc="24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25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25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InputStreamReader</a:t>
            </a:r>
            <a:r>
              <a:rPr spc="254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26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24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wrapped</a:t>
            </a:r>
            <a:r>
              <a:rPr spc="254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254" dirty="0">
                <a:latin typeface="Calibri"/>
                <a:cs typeface="Calibri"/>
              </a:rPr>
              <a:t>  </a:t>
            </a:r>
            <a:r>
              <a:rPr spc="-50" dirty="0">
                <a:latin typeface="Calibri"/>
                <a:cs typeface="Calibri"/>
              </a:rPr>
              <a:t>a </a:t>
            </a:r>
            <a:r>
              <a:rPr spc="-20" dirty="0">
                <a:latin typeface="Calibri"/>
                <a:cs typeface="Calibri"/>
              </a:rPr>
              <a:t>BufferedReader,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read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user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command line.</a:t>
            </a:r>
            <a:endParaRPr dirty="0">
              <a:latin typeface="Calibri"/>
              <a:cs typeface="Calibri"/>
            </a:endParaRPr>
          </a:p>
          <a:p>
            <a:pPr marL="127000" indent="-114300" algn="just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127000" algn="l"/>
              </a:tabLst>
            </a:pPr>
            <a:r>
              <a:rPr b="1" spc="-10" dirty="0">
                <a:solidFill>
                  <a:srgbClr val="702FA0"/>
                </a:solidFill>
                <a:latin typeface="Calibri"/>
                <a:cs typeface="Calibri"/>
              </a:rPr>
              <a:t>Advantage</a:t>
            </a:r>
            <a:r>
              <a:rPr b="1" spc="-2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buffered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efficient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reading</a:t>
            </a:r>
            <a:endParaRPr dirty="0">
              <a:latin typeface="Calibri"/>
              <a:cs typeface="Calibri"/>
            </a:endParaRPr>
          </a:p>
          <a:p>
            <a:pPr marL="127000" indent="-1143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27000" algn="l"/>
              </a:tabLst>
            </a:pPr>
            <a:r>
              <a:rPr b="1" spc="-10" dirty="0">
                <a:solidFill>
                  <a:srgbClr val="702FA0"/>
                </a:solidFill>
                <a:latin typeface="Calibri"/>
                <a:cs typeface="Calibri"/>
              </a:rPr>
              <a:t>Drawback</a:t>
            </a:r>
            <a:r>
              <a:rPr b="1"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wrapping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code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hard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remember.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3400" y="460375"/>
            <a:ext cx="6858000" cy="3961129"/>
            <a:chOff x="838200" y="473442"/>
            <a:chExt cx="6094730" cy="3427729"/>
          </a:xfrm>
        </p:grpSpPr>
        <p:sp>
          <p:nvSpPr>
            <p:cNvPr id="15" name="object 15"/>
            <p:cNvSpPr/>
            <p:nvPr/>
          </p:nvSpPr>
          <p:spPr>
            <a:xfrm>
              <a:off x="844295" y="479538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24200" y="3704320"/>
              <a:ext cx="3135630" cy="119380"/>
            </a:xfrm>
            <a:custGeom>
              <a:avLst/>
              <a:gdLst/>
              <a:ahLst/>
              <a:cxnLst/>
              <a:rect l="l" t="t" r="r" b="b"/>
              <a:pathLst>
                <a:path w="3135629" h="119379">
                  <a:moveTo>
                    <a:pt x="3135349" y="0"/>
                  </a:moveTo>
                  <a:lnTo>
                    <a:pt x="0" y="0"/>
                  </a:lnTo>
                  <a:lnTo>
                    <a:pt x="0" y="119382"/>
                  </a:lnTo>
                  <a:lnTo>
                    <a:pt x="3135349" y="119382"/>
                  </a:lnTo>
                  <a:lnTo>
                    <a:pt x="3135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3500" y="4474072"/>
            <a:ext cx="2733675" cy="251460"/>
          </a:xfrm>
          <a:custGeom>
            <a:avLst/>
            <a:gdLst/>
            <a:ahLst/>
            <a:cxnLst/>
            <a:rect l="l" t="t" r="r" b="b"/>
            <a:pathLst>
              <a:path w="2733675" h="251460">
                <a:moveTo>
                  <a:pt x="2733220" y="0"/>
                </a:moveTo>
                <a:lnTo>
                  <a:pt x="0" y="0"/>
                </a:lnTo>
                <a:lnTo>
                  <a:pt x="0" y="251330"/>
                </a:lnTo>
                <a:lnTo>
                  <a:pt x="2733220" y="251330"/>
                </a:lnTo>
                <a:lnTo>
                  <a:pt x="27332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0B0E96-A0C2-A88B-D6EB-4FDB43F3C225}"/>
              </a:ext>
            </a:extLst>
          </p:cNvPr>
          <p:cNvSpPr txBox="1"/>
          <p:nvPr/>
        </p:nvSpPr>
        <p:spPr>
          <a:xfrm>
            <a:off x="152400" y="173970"/>
            <a:ext cx="7543800" cy="4401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// Java program to demonstrate </a:t>
            </a:r>
            <a:r>
              <a:rPr lang="en-US" sz="2000" dirty="0" err="1">
                <a:latin typeface="+mn-lt"/>
              </a:rPr>
              <a:t>BufferedReader</a:t>
            </a:r>
            <a:r>
              <a:rPr lang="en-US" sz="2000" dirty="0">
                <a:latin typeface="+mn-lt"/>
              </a:rPr>
              <a:t>  to read a letter</a:t>
            </a:r>
          </a:p>
          <a:p>
            <a:r>
              <a:rPr lang="en-US" sz="2000" dirty="0">
                <a:latin typeface="+mn-lt"/>
              </a:rPr>
              <a:t>import java.io.*; </a:t>
            </a:r>
          </a:p>
          <a:p>
            <a:r>
              <a:rPr lang="en-US" sz="2000" dirty="0">
                <a:latin typeface="+mn-lt"/>
              </a:rPr>
              <a:t>public class </a:t>
            </a:r>
            <a:r>
              <a:rPr lang="en-US" sz="2000" dirty="0" err="1">
                <a:latin typeface="+mn-lt"/>
              </a:rPr>
              <a:t>Testch</a:t>
            </a:r>
            <a:r>
              <a:rPr lang="en-US" sz="2000" dirty="0">
                <a:latin typeface="+mn-lt"/>
              </a:rPr>
              <a:t>{</a:t>
            </a:r>
          </a:p>
          <a:p>
            <a:r>
              <a:rPr lang="en-US" sz="2000" dirty="0">
                <a:latin typeface="+mn-lt"/>
              </a:rPr>
              <a:t>public static void main(String[] </a:t>
            </a:r>
            <a:r>
              <a:rPr lang="en-US" sz="2000" dirty="0" err="1">
                <a:latin typeface="+mn-lt"/>
              </a:rPr>
              <a:t>args</a:t>
            </a:r>
            <a:r>
              <a:rPr lang="en-US" sz="2000" dirty="0">
                <a:latin typeface="+mn-lt"/>
              </a:rPr>
              <a:t>) throws </a:t>
            </a:r>
            <a:r>
              <a:rPr lang="en-US" sz="2000" dirty="0" err="1">
                <a:latin typeface="+mn-lt"/>
              </a:rPr>
              <a:t>IOException</a:t>
            </a:r>
            <a:r>
              <a:rPr lang="en-US" sz="2000" dirty="0">
                <a:latin typeface="+mn-lt"/>
              </a:rPr>
              <a:t>{</a:t>
            </a:r>
          </a:p>
          <a:p>
            <a:r>
              <a:rPr lang="en-US" sz="2000" dirty="0">
                <a:latin typeface="+mn-lt"/>
              </a:rPr>
              <a:t>char </a:t>
            </a:r>
            <a:r>
              <a:rPr lang="en-US" sz="2000" dirty="0" err="1">
                <a:latin typeface="+mn-lt"/>
              </a:rPr>
              <a:t>ch</a:t>
            </a:r>
            <a:r>
              <a:rPr lang="en-US" sz="2000" dirty="0">
                <a:latin typeface="+mn-lt"/>
              </a:rPr>
              <a:t>;</a:t>
            </a:r>
          </a:p>
          <a:p>
            <a:r>
              <a:rPr lang="en-US" sz="2000" dirty="0">
                <a:latin typeface="+mn-lt"/>
              </a:rPr>
              <a:t>//Enter data using </a:t>
            </a:r>
            <a:r>
              <a:rPr lang="en-US" sz="2000" dirty="0" err="1">
                <a:latin typeface="+mn-lt"/>
              </a:rPr>
              <a:t>BufferReader</a:t>
            </a:r>
            <a:endParaRPr lang="en-US" sz="2000" dirty="0">
              <a:latin typeface="+mn-lt"/>
            </a:endParaRPr>
          </a:p>
          <a:p>
            <a:r>
              <a:rPr lang="en-US" sz="2000" dirty="0" err="1">
                <a:latin typeface="+mn-lt"/>
              </a:rPr>
              <a:t>BufferedReader</a:t>
            </a:r>
            <a:r>
              <a:rPr lang="en-US" sz="2000" dirty="0">
                <a:latin typeface="+mn-lt"/>
              </a:rPr>
              <a:t> reader = </a:t>
            </a:r>
          </a:p>
          <a:p>
            <a:r>
              <a:rPr lang="en-US" sz="2000" dirty="0">
                <a:latin typeface="+mn-lt"/>
              </a:rPr>
              <a:t>	 new </a:t>
            </a:r>
            <a:r>
              <a:rPr lang="en-US" sz="2000" dirty="0" err="1">
                <a:latin typeface="+mn-lt"/>
              </a:rPr>
              <a:t>BufferedReader</a:t>
            </a:r>
            <a:r>
              <a:rPr lang="en-US" sz="2000" dirty="0">
                <a:latin typeface="+mn-lt"/>
              </a:rPr>
              <a:t>(new </a:t>
            </a:r>
            <a:r>
              <a:rPr lang="en-US" sz="2000" dirty="0" err="1">
                <a:latin typeface="+mn-lt"/>
              </a:rPr>
              <a:t>InputStreamReader</a:t>
            </a:r>
            <a:r>
              <a:rPr lang="en-US" sz="2000" dirty="0">
                <a:latin typeface="+mn-lt"/>
              </a:rPr>
              <a:t>(System.in));</a:t>
            </a:r>
          </a:p>
          <a:p>
            <a:r>
              <a:rPr lang="en-US" sz="2000" dirty="0" err="1">
                <a:latin typeface="+mn-lt"/>
              </a:rPr>
              <a:t>System.out.println</a:t>
            </a:r>
            <a:r>
              <a:rPr lang="en-US" sz="2000" dirty="0">
                <a:latin typeface="+mn-lt"/>
              </a:rPr>
              <a:t>("Enter letter");</a:t>
            </a:r>
          </a:p>
          <a:p>
            <a:r>
              <a:rPr lang="en-US" sz="2000" dirty="0" err="1">
                <a:latin typeface="+mn-lt"/>
              </a:rPr>
              <a:t>ch</a:t>
            </a:r>
            <a:r>
              <a:rPr lang="en-US" sz="2000" dirty="0">
                <a:latin typeface="+mn-lt"/>
              </a:rPr>
              <a:t>=(char)</a:t>
            </a:r>
            <a:r>
              <a:rPr lang="en-US" sz="2000" dirty="0" err="1">
                <a:latin typeface="+mn-lt"/>
              </a:rPr>
              <a:t>reader.read</a:t>
            </a:r>
            <a:r>
              <a:rPr lang="en-US" sz="2000" dirty="0">
                <a:latin typeface="+mn-lt"/>
              </a:rPr>
              <a:t>();</a:t>
            </a:r>
          </a:p>
          <a:p>
            <a:r>
              <a:rPr lang="en-US" sz="2000" dirty="0" err="1">
                <a:latin typeface="+mn-lt"/>
              </a:rPr>
              <a:t>System.out.println</a:t>
            </a:r>
            <a:r>
              <a:rPr lang="en-US" sz="2000" dirty="0">
                <a:latin typeface="+mn-lt"/>
              </a:rPr>
              <a:t>("Letter="+</a:t>
            </a:r>
            <a:r>
              <a:rPr lang="en-US" sz="2000" dirty="0" err="1">
                <a:latin typeface="+mn-lt"/>
              </a:rPr>
              <a:t>ch</a:t>
            </a:r>
            <a:r>
              <a:rPr lang="en-US" sz="2000" dirty="0">
                <a:latin typeface="+mn-lt"/>
              </a:rPr>
              <a:t>);</a:t>
            </a:r>
          </a:p>
          <a:p>
            <a:r>
              <a:rPr lang="en-US" sz="2000" dirty="0">
                <a:latin typeface="+mn-lt"/>
              </a:rPr>
              <a:t>} }</a:t>
            </a:r>
          </a:p>
          <a:p>
            <a:endParaRPr lang="en-US" sz="2000" dirty="0">
              <a:latin typeface="+mn-lt"/>
            </a:endParaRPr>
          </a:p>
          <a:p>
            <a:endParaRPr lang="en-US" sz="20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163085-F334-D71E-ABCF-BF653B07B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3660775"/>
            <a:ext cx="108585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3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C87A5-C8E6-6F34-5857-C16B996B5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79375"/>
            <a:ext cx="7162800" cy="4878208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// Java program to demonstrate </a:t>
            </a:r>
            <a:r>
              <a:rPr lang="en-US" sz="2000" dirty="0" err="1">
                <a:solidFill>
                  <a:schemeClr val="tx1"/>
                </a:solidFill>
              </a:rPr>
              <a:t>BufferedReader</a:t>
            </a:r>
            <a:r>
              <a:rPr lang="en-US" sz="2000" dirty="0">
                <a:solidFill>
                  <a:schemeClr val="tx1"/>
                </a:solidFill>
              </a:rPr>
              <a:t>  to read a string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import java.io.*;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public class Test{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public static void main(String[] </a:t>
            </a:r>
            <a:r>
              <a:rPr lang="en-US" sz="2000" dirty="0" err="1">
                <a:solidFill>
                  <a:schemeClr val="tx1"/>
                </a:solidFill>
              </a:rPr>
              <a:t>args</a:t>
            </a:r>
            <a:r>
              <a:rPr lang="en-US" sz="2000" dirty="0">
                <a:solidFill>
                  <a:schemeClr val="tx1"/>
                </a:solidFill>
              </a:rPr>
              <a:t>) throws </a:t>
            </a:r>
            <a:r>
              <a:rPr lang="en-US" sz="2000" dirty="0" err="1">
                <a:solidFill>
                  <a:schemeClr val="tx1"/>
                </a:solidFill>
              </a:rPr>
              <a:t>IOException</a:t>
            </a:r>
            <a:r>
              <a:rPr lang="en-US" sz="2000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//Enter data using </a:t>
            </a:r>
            <a:r>
              <a:rPr lang="en-US" sz="2000" dirty="0" err="1">
                <a:solidFill>
                  <a:srgbClr val="FF0000"/>
                </a:solidFill>
              </a:rPr>
              <a:t>BufferReader</a:t>
            </a:r>
            <a:endParaRPr lang="en-US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BufferedReader</a:t>
            </a:r>
            <a:r>
              <a:rPr lang="en-US" sz="2000" dirty="0">
                <a:solidFill>
                  <a:schemeClr val="tx1"/>
                </a:solidFill>
              </a:rPr>
              <a:t> reader =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	 new </a:t>
            </a:r>
            <a:r>
              <a:rPr lang="en-US" sz="2000" dirty="0" err="1">
                <a:solidFill>
                  <a:schemeClr val="tx1"/>
                </a:solidFill>
              </a:rPr>
              <a:t>BufferedReader</a:t>
            </a:r>
            <a:r>
              <a:rPr lang="en-US" sz="2000" dirty="0">
                <a:solidFill>
                  <a:schemeClr val="tx1"/>
                </a:solidFill>
              </a:rPr>
              <a:t>(new </a:t>
            </a:r>
            <a:r>
              <a:rPr lang="en-US" sz="2000" dirty="0" err="1">
                <a:solidFill>
                  <a:schemeClr val="tx1"/>
                </a:solidFill>
              </a:rPr>
              <a:t>InputStreamReader</a:t>
            </a:r>
            <a:r>
              <a:rPr lang="en-US" sz="2000" dirty="0">
                <a:solidFill>
                  <a:schemeClr val="tx1"/>
                </a:solidFill>
              </a:rPr>
              <a:t>(System.in));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String name = </a:t>
            </a:r>
            <a:r>
              <a:rPr lang="en-US" sz="2000" dirty="0" err="1">
                <a:solidFill>
                  <a:schemeClr val="tx1"/>
                </a:solidFill>
              </a:rPr>
              <a:t>reader.readLine</a:t>
            </a:r>
            <a:r>
              <a:rPr lang="en-US" sz="2000" dirty="0">
                <a:solidFill>
                  <a:schemeClr val="tx1"/>
                </a:solidFill>
              </a:rPr>
              <a:t>(); </a:t>
            </a:r>
            <a:r>
              <a:rPr lang="en-US" sz="2000" dirty="0">
                <a:solidFill>
                  <a:srgbClr val="FF0000"/>
                </a:solidFill>
              </a:rPr>
              <a:t>// Reading string using </a:t>
            </a:r>
            <a:r>
              <a:rPr lang="en-US" sz="2000" dirty="0" err="1">
                <a:solidFill>
                  <a:srgbClr val="FF0000"/>
                </a:solidFill>
              </a:rPr>
              <a:t>readLine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System.out.println</a:t>
            </a:r>
            <a:r>
              <a:rPr lang="en-US" sz="2000" dirty="0">
                <a:solidFill>
                  <a:schemeClr val="tx1"/>
                </a:solidFill>
              </a:rPr>
              <a:t>(name);</a:t>
            </a:r>
            <a:r>
              <a:rPr lang="en-US" sz="2000" dirty="0">
                <a:solidFill>
                  <a:srgbClr val="FF0000"/>
                </a:solidFill>
              </a:rPr>
              <a:t> // Printing the string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} }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05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28746"/>
            <a:ext cx="248285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dirty="0">
                <a:latin typeface="Calibri"/>
                <a:cs typeface="Calibri"/>
              </a:rPr>
              <a:t>Prepared</a:t>
            </a:r>
            <a:r>
              <a:rPr sz="1250" spc="1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By</a:t>
            </a:r>
            <a:r>
              <a:rPr sz="1250" spc="1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Mr.</a:t>
            </a:r>
            <a:r>
              <a:rPr sz="1250" spc="1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EBIN</a:t>
            </a:r>
            <a:r>
              <a:rPr sz="1250" spc="1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PM,</a:t>
            </a:r>
            <a:r>
              <a:rPr sz="1250" spc="1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AP,</a:t>
            </a:r>
            <a:r>
              <a:rPr sz="1250" spc="140" dirty="0">
                <a:latin typeface="Calibri"/>
                <a:cs typeface="Calibri"/>
              </a:rPr>
              <a:t> </a:t>
            </a:r>
            <a:r>
              <a:rPr sz="1250" spc="-20" dirty="0">
                <a:latin typeface="Calibri"/>
                <a:cs typeface="Calibri"/>
              </a:rPr>
              <a:t>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58636" y="521725"/>
            <a:ext cx="2117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Using Scanner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Class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8636" y="796937"/>
            <a:ext cx="6408963" cy="2821412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0" indent="-114300" algn="just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This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probably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most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preferred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take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input.</a:t>
            </a:r>
            <a:endParaRPr dirty="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main</a:t>
            </a:r>
            <a:r>
              <a:rPr spc="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purpose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Scanner</a:t>
            </a:r>
            <a:r>
              <a:rPr spc="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</a:t>
            </a:r>
            <a:r>
              <a:rPr spc="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parse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primitive</a:t>
            </a:r>
            <a:r>
              <a:rPr spc="7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types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2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strings</a:t>
            </a:r>
            <a:r>
              <a:rPr spc="2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using</a:t>
            </a:r>
            <a:r>
              <a:rPr spc="2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regular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expressions,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however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2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2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also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26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be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command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line.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Advantages:</a:t>
            </a:r>
            <a:endParaRPr dirty="0">
              <a:latin typeface="Calibri"/>
              <a:cs typeface="Calibri"/>
            </a:endParaRPr>
          </a:p>
          <a:p>
            <a:pPr marL="127000" indent="-114300">
              <a:lnSpc>
                <a:spcPts val="1825"/>
              </a:lnSpc>
              <a:spcBef>
                <a:spcPts val="300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Convenient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methods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parsing</a:t>
            </a:r>
            <a:r>
              <a:rPr spc="1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primitives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(nextInt(),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nextFloat(),</a:t>
            </a:r>
            <a:endParaRPr dirty="0">
              <a:latin typeface="Calibri"/>
              <a:cs typeface="Calibri"/>
            </a:endParaRPr>
          </a:p>
          <a:p>
            <a:pPr marL="127000">
              <a:lnSpc>
                <a:spcPts val="1825"/>
              </a:lnSpc>
            </a:pPr>
            <a:r>
              <a:rPr dirty="0">
                <a:latin typeface="Calibri"/>
                <a:cs typeface="Calibri"/>
              </a:rPr>
              <a:t>…)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tokenized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input.</a:t>
            </a:r>
            <a:endParaRPr dirty="0">
              <a:latin typeface="Calibri"/>
              <a:cs typeface="Calibri"/>
            </a:endParaRPr>
          </a:p>
          <a:p>
            <a:pPr marL="12700" marR="1605280" indent="114300">
              <a:lnSpc>
                <a:spcPct val="116199"/>
              </a:lnSpc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Regular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expressions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find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tokens.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Drawback:</a:t>
            </a:r>
            <a:endParaRPr dirty="0">
              <a:latin typeface="Calibri"/>
              <a:cs typeface="Calibri"/>
            </a:endParaRPr>
          </a:p>
          <a:p>
            <a:pPr marL="127000" indent="-1143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reading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synchronized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8200" y="460375"/>
            <a:ext cx="6781800" cy="3886200"/>
            <a:chOff x="838200" y="473442"/>
            <a:chExt cx="6094730" cy="3427729"/>
          </a:xfrm>
        </p:grpSpPr>
        <p:sp>
          <p:nvSpPr>
            <p:cNvPr id="12" name="object 12"/>
            <p:cNvSpPr/>
            <p:nvPr/>
          </p:nvSpPr>
          <p:spPr>
            <a:xfrm>
              <a:off x="844295" y="479538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87700" y="3704587"/>
              <a:ext cx="3104515" cy="144780"/>
            </a:xfrm>
            <a:custGeom>
              <a:avLst/>
              <a:gdLst/>
              <a:ahLst/>
              <a:cxnLst/>
              <a:rect l="l" t="t" r="r" b="b"/>
              <a:pathLst>
                <a:path w="3104515" h="144779">
                  <a:moveTo>
                    <a:pt x="3103933" y="0"/>
                  </a:moveTo>
                  <a:lnTo>
                    <a:pt x="0" y="0"/>
                  </a:lnTo>
                  <a:lnTo>
                    <a:pt x="0" y="144515"/>
                  </a:lnTo>
                  <a:lnTo>
                    <a:pt x="3103933" y="144515"/>
                  </a:lnTo>
                  <a:lnTo>
                    <a:pt x="31039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6200" y="4505621"/>
            <a:ext cx="2614295" cy="233045"/>
          </a:xfrm>
          <a:custGeom>
            <a:avLst/>
            <a:gdLst/>
            <a:ahLst/>
            <a:cxnLst/>
            <a:rect l="l" t="t" r="r" b="b"/>
            <a:pathLst>
              <a:path w="2614295" h="233045">
                <a:moveTo>
                  <a:pt x="2613838" y="0"/>
                </a:moveTo>
                <a:lnTo>
                  <a:pt x="0" y="0"/>
                </a:lnTo>
                <a:lnTo>
                  <a:pt x="0" y="232480"/>
                </a:lnTo>
                <a:lnTo>
                  <a:pt x="2613838" y="232480"/>
                </a:lnTo>
                <a:lnTo>
                  <a:pt x="26138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-10" dirty="0">
                <a:latin typeface="Calibri"/>
                <a:cs typeface="Calibri"/>
                <a:hlinkClick r:id="rId3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-1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30818" y="3175"/>
            <a:ext cx="7446664" cy="53783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R="88265">
              <a:lnSpc>
                <a:spcPct val="105000"/>
              </a:lnSpc>
              <a:spcBef>
                <a:spcPts val="100"/>
              </a:spcBef>
            </a:pPr>
            <a:r>
              <a:rPr sz="2000" spc="-20" dirty="0"/>
              <a:t> </a:t>
            </a:r>
            <a:r>
              <a:rPr sz="2000" dirty="0">
                <a:solidFill>
                  <a:srgbClr val="000000"/>
                </a:solidFill>
              </a:rPr>
              <a:t>import</a:t>
            </a:r>
            <a:r>
              <a:rPr sz="2000" spc="-40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java.util.Scanner;</a:t>
            </a: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2000" dirty="0">
                <a:solidFill>
                  <a:srgbClr val="000000"/>
                </a:solidFill>
              </a:rPr>
              <a:t>class</a:t>
            </a:r>
            <a:r>
              <a:rPr sz="2000" spc="-40" dirty="0">
                <a:solidFill>
                  <a:srgbClr val="000000"/>
                </a:solidFill>
              </a:rPr>
              <a:t> </a:t>
            </a:r>
            <a:r>
              <a:rPr sz="2000" spc="-10" dirty="0" err="1">
                <a:solidFill>
                  <a:srgbClr val="000000"/>
                </a:solidFill>
              </a:rPr>
              <a:t>GetInputFromUser</a:t>
            </a:r>
            <a:r>
              <a:rPr sz="2000" spc="-50" dirty="0">
                <a:solidFill>
                  <a:srgbClr val="000000"/>
                </a:solidFill>
              </a:rPr>
              <a:t>{</a:t>
            </a:r>
          </a:p>
          <a:p>
            <a:pPr marL="456565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solidFill>
                  <a:srgbClr val="000000"/>
                </a:solidFill>
              </a:rPr>
              <a:t>public</a:t>
            </a:r>
            <a:r>
              <a:rPr sz="2000" spc="-30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static</a:t>
            </a:r>
            <a:r>
              <a:rPr sz="2000" spc="-2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void</a:t>
            </a:r>
            <a:r>
              <a:rPr sz="2000" spc="-1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main(String</a:t>
            </a:r>
            <a:r>
              <a:rPr sz="2000" spc="-35" dirty="0">
                <a:solidFill>
                  <a:srgbClr val="000000"/>
                </a:solidFill>
              </a:rPr>
              <a:t> </a:t>
            </a:r>
            <a:r>
              <a:rPr sz="2000" spc="-10" dirty="0" err="1">
                <a:solidFill>
                  <a:srgbClr val="000000"/>
                </a:solidFill>
              </a:rPr>
              <a:t>args</a:t>
            </a:r>
            <a:r>
              <a:rPr sz="2000" spc="-10" dirty="0">
                <a:solidFill>
                  <a:srgbClr val="000000"/>
                </a:solidFill>
              </a:rPr>
              <a:t>[])</a:t>
            </a:r>
            <a:r>
              <a:rPr sz="2000" spc="-50" dirty="0">
                <a:solidFill>
                  <a:srgbClr val="000000"/>
                </a:solidFill>
              </a:rPr>
              <a:t>{</a:t>
            </a:r>
            <a:r>
              <a:rPr sz="2000" spc="-20" dirty="0">
                <a:solidFill>
                  <a:srgbClr val="00AF50"/>
                </a:solidFill>
              </a:rPr>
              <a:t> </a:t>
            </a:r>
            <a:endParaRPr lang="en-US" sz="2000" spc="-20" dirty="0">
              <a:solidFill>
                <a:srgbClr val="00AF50"/>
              </a:solidFill>
            </a:endParaRPr>
          </a:p>
          <a:p>
            <a:pPr marL="456565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solidFill>
                  <a:srgbClr val="000000"/>
                </a:solidFill>
              </a:rPr>
              <a:t>Scanner</a:t>
            </a:r>
            <a:r>
              <a:rPr sz="2000" spc="-2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in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=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new</a:t>
            </a:r>
            <a:r>
              <a:rPr sz="2000" spc="-25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Scanner(System.in);</a:t>
            </a:r>
            <a:endParaRPr lang="en-US" sz="2000" spc="-10" dirty="0">
              <a:solidFill>
                <a:srgbClr val="000000"/>
              </a:solidFill>
            </a:endParaRPr>
          </a:p>
          <a:p>
            <a:pPr marL="456565">
              <a:lnSpc>
                <a:spcPct val="100000"/>
              </a:lnSpc>
              <a:spcBef>
                <a:spcPts val="75"/>
              </a:spcBef>
            </a:pPr>
            <a:r>
              <a:rPr lang="en-US" sz="2000" dirty="0">
                <a:solidFill>
                  <a:srgbClr val="000000"/>
                </a:solidFill>
              </a:rPr>
              <a:t>S</a:t>
            </a:r>
            <a:r>
              <a:rPr sz="2000" dirty="0">
                <a:solidFill>
                  <a:srgbClr val="000000"/>
                </a:solidFill>
              </a:rPr>
              <a:t>tring</a:t>
            </a:r>
            <a:r>
              <a:rPr sz="2000" spc="-3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s</a:t>
            </a:r>
            <a:r>
              <a:rPr sz="2000" spc="-1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=</a:t>
            </a:r>
            <a:r>
              <a:rPr sz="2000" spc="-5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in.nextLine(); </a:t>
            </a:r>
            <a:endParaRPr lang="en-US" sz="2000" spc="-10" dirty="0">
              <a:solidFill>
                <a:srgbClr val="000000"/>
              </a:solidFill>
            </a:endParaRPr>
          </a:p>
          <a:p>
            <a:pPr marL="456565">
              <a:lnSpc>
                <a:spcPct val="100000"/>
              </a:lnSpc>
              <a:spcBef>
                <a:spcPts val="75"/>
              </a:spcBef>
            </a:pPr>
            <a:r>
              <a:rPr sz="2000" spc="-10" dirty="0" err="1">
                <a:solidFill>
                  <a:srgbClr val="000000"/>
                </a:solidFill>
              </a:rPr>
              <a:t>System.out.println</a:t>
            </a:r>
            <a:r>
              <a:rPr sz="2000" spc="-10" dirty="0">
                <a:solidFill>
                  <a:srgbClr val="000000"/>
                </a:solidFill>
              </a:rPr>
              <a:t>("You</a:t>
            </a:r>
            <a:r>
              <a:rPr sz="2000" spc="-30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entered</a:t>
            </a:r>
            <a:r>
              <a:rPr sz="2000" spc="-2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string</a:t>
            </a:r>
            <a:r>
              <a:rPr sz="2000" spc="-10" dirty="0">
                <a:solidFill>
                  <a:srgbClr val="000000"/>
                </a:solidFill>
              </a:rPr>
              <a:t> </a:t>
            </a:r>
            <a:r>
              <a:rPr sz="2000" spc="-20" dirty="0">
                <a:solidFill>
                  <a:srgbClr val="000000"/>
                </a:solidFill>
              </a:rPr>
              <a:t>"+s);</a:t>
            </a:r>
            <a:endParaRPr lang="en-US" sz="2000" spc="-20" dirty="0">
              <a:solidFill>
                <a:srgbClr val="000000"/>
              </a:solidFill>
            </a:endParaRPr>
          </a:p>
          <a:p>
            <a:pPr marL="456565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solidFill>
                  <a:srgbClr val="000000"/>
                </a:solidFill>
              </a:rPr>
              <a:t>int</a:t>
            </a:r>
            <a:r>
              <a:rPr sz="2000" spc="-2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a =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spc="-10" dirty="0" err="1">
                <a:solidFill>
                  <a:srgbClr val="000000"/>
                </a:solidFill>
              </a:rPr>
              <a:t>in.nextInt</a:t>
            </a:r>
            <a:r>
              <a:rPr sz="2000" spc="-10" dirty="0">
                <a:solidFill>
                  <a:srgbClr val="000000"/>
                </a:solidFill>
              </a:rPr>
              <a:t>();</a:t>
            </a:r>
            <a:endParaRPr lang="en-US" sz="2000" spc="-10" dirty="0">
              <a:solidFill>
                <a:srgbClr val="000000"/>
              </a:solidFill>
            </a:endParaRPr>
          </a:p>
          <a:p>
            <a:pPr marL="456565">
              <a:lnSpc>
                <a:spcPct val="100000"/>
              </a:lnSpc>
              <a:spcBef>
                <a:spcPts val="75"/>
              </a:spcBef>
            </a:pPr>
            <a:r>
              <a:rPr sz="2000" spc="-10" dirty="0" err="1">
                <a:solidFill>
                  <a:srgbClr val="000000"/>
                </a:solidFill>
              </a:rPr>
              <a:t>System.out.println</a:t>
            </a:r>
            <a:r>
              <a:rPr sz="2000" spc="-10" dirty="0">
                <a:solidFill>
                  <a:srgbClr val="000000"/>
                </a:solidFill>
              </a:rPr>
              <a:t>("You</a:t>
            </a:r>
            <a:r>
              <a:rPr sz="2000" spc="-40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entered</a:t>
            </a:r>
            <a:r>
              <a:rPr sz="2000" spc="-3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integer</a:t>
            </a:r>
            <a:r>
              <a:rPr sz="2000" spc="-20" dirty="0">
                <a:solidFill>
                  <a:srgbClr val="000000"/>
                </a:solidFill>
              </a:rPr>
              <a:t> "+a);</a:t>
            </a:r>
            <a:endParaRPr lang="en-US" sz="2000" spc="-20" dirty="0">
              <a:solidFill>
                <a:srgbClr val="000000"/>
              </a:solidFill>
            </a:endParaRPr>
          </a:p>
          <a:p>
            <a:pPr marL="456565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solidFill>
                  <a:srgbClr val="000000"/>
                </a:solidFill>
              </a:rPr>
              <a:t>float</a:t>
            </a:r>
            <a:r>
              <a:rPr sz="2000" spc="-2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b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=</a:t>
            </a:r>
            <a:r>
              <a:rPr sz="2000" spc="-10" dirty="0">
                <a:solidFill>
                  <a:srgbClr val="000000"/>
                </a:solidFill>
              </a:rPr>
              <a:t> in.nextFloat(); </a:t>
            </a:r>
            <a:endParaRPr lang="en-US" sz="2000" spc="-10" dirty="0">
              <a:solidFill>
                <a:srgbClr val="000000"/>
              </a:solidFill>
            </a:endParaRPr>
          </a:p>
          <a:p>
            <a:pPr marL="456565">
              <a:lnSpc>
                <a:spcPct val="100000"/>
              </a:lnSpc>
              <a:spcBef>
                <a:spcPts val="75"/>
              </a:spcBef>
            </a:pPr>
            <a:r>
              <a:rPr sz="2000" spc="-10" dirty="0" err="1">
                <a:solidFill>
                  <a:srgbClr val="000000"/>
                </a:solidFill>
              </a:rPr>
              <a:t>System.out.println</a:t>
            </a:r>
            <a:r>
              <a:rPr sz="2000" spc="-10" dirty="0">
                <a:solidFill>
                  <a:srgbClr val="000000"/>
                </a:solidFill>
              </a:rPr>
              <a:t>("You</a:t>
            </a:r>
            <a:r>
              <a:rPr sz="2000" spc="-35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entered</a:t>
            </a:r>
            <a:r>
              <a:rPr sz="2000" spc="-2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float</a:t>
            </a:r>
            <a:r>
              <a:rPr sz="2000" spc="-5" dirty="0">
                <a:solidFill>
                  <a:srgbClr val="000000"/>
                </a:solidFill>
              </a:rPr>
              <a:t> </a:t>
            </a:r>
            <a:r>
              <a:rPr sz="2000" spc="-20" dirty="0">
                <a:solidFill>
                  <a:srgbClr val="000000"/>
                </a:solidFill>
              </a:rPr>
              <a:t>"+b);</a:t>
            </a:r>
          </a:p>
          <a:p>
            <a:pPr marL="456565">
              <a:lnSpc>
                <a:spcPct val="100000"/>
              </a:lnSpc>
              <a:spcBef>
                <a:spcPts val="60"/>
              </a:spcBef>
            </a:pPr>
            <a:r>
              <a:rPr sz="2000" spc="-50" dirty="0">
                <a:solidFill>
                  <a:srgbClr val="000000"/>
                </a:solidFill>
              </a:rPr>
              <a:t>}}</a:t>
            </a:r>
            <a:endParaRPr lang="en-US" sz="2000" spc="-50" dirty="0">
              <a:solidFill>
                <a:srgbClr val="000000"/>
              </a:solidFill>
            </a:endParaRPr>
          </a:p>
          <a:p>
            <a:pPr marR="540385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</a:p>
          <a:p>
            <a:pPr marR="540385">
              <a:lnSpc>
                <a:spcPct val="100000"/>
              </a:lnSpc>
              <a:spcBef>
                <a:spcPts val="100"/>
              </a:spcBef>
            </a:pPr>
            <a:r>
              <a:rPr lang="en-US" spc="-10" dirty="0" err="1">
                <a:latin typeface="Calibri"/>
                <a:cs typeface="Calibri"/>
              </a:rPr>
              <a:t>HelloStudents</a:t>
            </a:r>
            <a:r>
              <a:rPr lang="en-US" spc="-10" dirty="0">
                <a:latin typeface="Calibri"/>
                <a:cs typeface="Calibri"/>
              </a:rPr>
              <a:t> </a:t>
            </a:r>
          </a:p>
          <a:p>
            <a:pPr marR="540385">
              <a:lnSpc>
                <a:spcPct val="100000"/>
              </a:lnSpc>
              <a:spcBef>
                <a:spcPts val="100"/>
              </a:spcBef>
            </a:pPr>
            <a:r>
              <a:rPr lang="en-US" spc="-25" dirty="0">
                <a:latin typeface="Calibri"/>
                <a:cs typeface="Calibri"/>
              </a:rPr>
              <a:t>12</a:t>
            </a:r>
            <a:endParaRPr lang="en-US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pc="-25" dirty="0">
                <a:latin typeface="Calibri"/>
                <a:cs typeface="Calibri"/>
              </a:rPr>
              <a:t>3.4</a:t>
            </a:r>
            <a:endParaRPr lang="en-US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pc="-10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</a:p>
          <a:p>
            <a:pPr>
              <a:lnSpc>
                <a:spcPct val="100000"/>
              </a:lnSpc>
            </a:pPr>
            <a:r>
              <a:rPr lang="en-US" spc="-30" dirty="0">
                <a:latin typeface="Calibri"/>
                <a:cs typeface="Calibri"/>
              </a:rPr>
              <a:t>You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entered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string  </a:t>
            </a:r>
            <a:r>
              <a:rPr lang="en-US" spc="-10" dirty="0" err="1">
                <a:latin typeface="Calibri"/>
                <a:cs typeface="Calibri"/>
              </a:rPr>
              <a:t>HelloStudents</a:t>
            </a:r>
            <a:endParaRPr lang="en-US" dirty="0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lang="en-US" spc="-30" dirty="0">
                <a:latin typeface="Calibri"/>
                <a:cs typeface="Calibri"/>
              </a:rPr>
              <a:t>You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entered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integer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12 </a:t>
            </a:r>
          </a:p>
          <a:p>
            <a:pPr marR="5080">
              <a:lnSpc>
                <a:spcPct val="100000"/>
              </a:lnSpc>
            </a:pPr>
            <a:r>
              <a:rPr lang="en-US" spc="-30" dirty="0">
                <a:latin typeface="Calibri"/>
                <a:cs typeface="Calibri"/>
              </a:rPr>
              <a:t>You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entered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float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3.4</a:t>
            </a:r>
            <a:endParaRPr lang="en-US" dirty="0">
              <a:latin typeface="Calibri"/>
              <a:cs typeface="Calibri"/>
            </a:endParaRPr>
          </a:p>
          <a:p>
            <a:pPr marL="456565">
              <a:lnSpc>
                <a:spcPct val="100000"/>
              </a:lnSpc>
              <a:spcBef>
                <a:spcPts val="60"/>
              </a:spcBef>
            </a:pPr>
            <a:endParaRPr sz="2000" spc="-50" dirty="0">
              <a:solidFill>
                <a:srgbClr val="000000"/>
              </a:solidFill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381500" y="80204"/>
            <a:ext cx="3298825" cy="377190"/>
          </a:xfrm>
          <a:custGeom>
            <a:avLst/>
            <a:gdLst/>
            <a:ahLst/>
            <a:cxnLst/>
            <a:rect l="l" t="t" r="r" b="b"/>
            <a:pathLst>
              <a:path w="3298825" h="377190">
                <a:moveTo>
                  <a:pt x="3298714" y="0"/>
                </a:moveTo>
                <a:lnTo>
                  <a:pt x="0" y="0"/>
                </a:lnTo>
                <a:lnTo>
                  <a:pt x="0" y="376995"/>
                </a:lnTo>
                <a:lnTo>
                  <a:pt x="3298714" y="376995"/>
                </a:lnTo>
                <a:lnTo>
                  <a:pt x="32987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28746"/>
            <a:ext cx="248285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dirty="0">
                <a:latin typeface="Calibri"/>
                <a:cs typeface="Calibri"/>
              </a:rPr>
              <a:t>Prepared</a:t>
            </a:r>
            <a:r>
              <a:rPr sz="1250" spc="1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By</a:t>
            </a:r>
            <a:r>
              <a:rPr sz="1250" spc="1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Mr.</a:t>
            </a:r>
            <a:r>
              <a:rPr sz="1250" spc="1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EBIN</a:t>
            </a:r>
            <a:r>
              <a:rPr sz="1250" spc="1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PM,</a:t>
            </a:r>
            <a:r>
              <a:rPr sz="1250" spc="1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AP,</a:t>
            </a:r>
            <a:r>
              <a:rPr sz="1250" spc="140" dirty="0">
                <a:latin typeface="Calibri"/>
                <a:cs typeface="Calibri"/>
              </a:rPr>
              <a:t> </a:t>
            </a:r>
            <a:r>
              <a:rPr sz="1250" spc="-20" dirty="0">
                <a:latin typeface="Calibri"/>
                <a:cs typeface="Calibri"/>
              </a:rPr>
              <a:t>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58636" y="998855"/>
            <a:ext cx="2110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Using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Console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4982" y="1298575"/>
            <a:ext cx="6698817" cy="285462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5730" marR="5715" indent="-113664" algn="just">
              <a:lnSpc>
                <a:spcPct val="80000"/>
              </a:lnSpc>
              <a:spcBef>
                <a:spcPts val="480"/>
              </a:spcBef>
              <a:buFont typeface="Wingdings"/>
              <a:buChar char="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It</a:t>
            </a:r>
            <a:r>
              <a:rPr spc="2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2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been</a:t>
            </a:r>
            <a:r>
              <a:rPr spc="2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becoming</a:t>
            </a:r>
            <a:r>
              <a:rPr spc="2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2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preferred</a:t>
            </a:r>
            <a:r>
              <a:rPr spc="2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way</a:t>
            </a:r>
            <a:r>
              <a:rPr spc="2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2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reading</a:t>
            </a:r>
            <a:r>
              <a:rPr spc="2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user’s</a:t>
            </a:r>
            <a:r>
              <a:rPr spc="2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input 	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command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line.</a:t>
            </a:r>
            <a:endParaRPr dirty="0">
              <a:latin typeface="Calibri"/>
              <a:cs typeface="Calibri"/>
            </a:endParaRPr>
          </a:p>
          <a:p>
            <a:pPr marL="125730" marR="5715" indent="-113664" algn="just">
              <a:lnSpc>
                <a:spcPct val="80000"/>
              </a:lnSpc>
              <a:spcBef>
                <a:spcPts val="490"/>
              </a:spcBef>
              <a:buFont typeface="Wingdings"/>
              <a:buChar char="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addition,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reading</a:t>
            </a:r>
            <a:r>
              <a:rPr spc="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password-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without 	</a:t>
            </a:r>
            <a:r>
              <a:rPr dirty="0">
                <a:latin typeface="Calibri"/>
                <a:cs typeface="Calibri"/>
              </a:rPr>
              <a:t>echoing</a:t>
            </a:r>
            <a:r>
              <a:rPr spc="3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characters</a:t>
            </a:r>
            <a:r>
              <a:rPr spc="3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entered</a:t>
            </a:r>
            <a:r>
              <a:rPr spc="3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3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user;</a:t>
            </a:r>
            <a:r>
              <a:rPr spc="3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format</a:t>
            </a:r>
            <a:r>
              <a:rPr spc="3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string 	syntax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also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(like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System.out.printf()).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b="1" spc="-10" dirty="0">
                <a:solidFill>
                  <a:srgbClr val="702FA0"/>
                </a:solidFill>
                <a:latin typeface="Calibri"/>
                <a:cs typeface="Calibri"/>
              </a:rPr>
              <a:t>Advantages:</a:t>
            </a:r>
            <a:endParaRPr dirty="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2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>
                <a:latin typeface="Calibri"/>
                <a:cs typeface="Calibri"/>
              </a:rPr>
              <a:t>Reading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password </a:t>
            </a:r>
            <a:r>
              <a:rPr dirty="0">
                <a:latin typeface="Calibri"/>
                <a:cs typeface="Calibri"/>
              </a:rPr>
              <a:t>without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echoing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entered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characters.</a:t>
            </a:r>
            <a:endParaRPr dirty="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1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>
                <a:latin typeface="Calibri"/>
                <a:cs typeface="Calibri"/>
              </a:rPr>
              <a:t>Reading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synchronized.</a:t>
            </a:r>
            <a:endParaRPr dirty="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120"/>
              </a:spcBef>
              <a:buFont typeface="Wingdings"/>
              <a:buChar char=""/>
              <a:tabLst>
                <a:tab pos="126364" algn="l"/>
              </a:tabLst>
            </a:pPr>
            <a:r>
              <a:rPr dirty="0">
                <a:latin typeface="Calibri"/>
                <a:cs typeface="Calibri"/>
              </a:rPr>
              <a:t>Format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string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syntax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used.</a:t>
            </a:r>
            <a:endParaRPr dirty="0">
              <a:latin typeface="Calibri"/>
              <a:cs typeface="Calibri"/>
            </a:endParaRPr>
          </a:p>
          <a:p>
            <a:pPr marL="12700" marR="5080">
              <a:lnSpc>
                <a:spcPts val="1540"/>
              </a:lnSpc>
              <a:spcBef>
                <a:spcPts val="484"/>
              </a:spcBef>
            </a:pPr>
            <a:r>
              <a:rPr b="1" dirty="0">
                <a:solidFill>
                  <a:srgbClr val="702FA0"/>
                </a:solidFill>
                <a:latin typeface="Calibri"/>
                <a:cs typeface="Calibri"/>
              </a:rPr>
              <a:t>Drawback:</a:t>
            </a:r>
            <a:r>
              <a:rPr b="1" spc="8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Does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work</a:t>
            </a:r>
            <a:r>
              <a:rPr spc="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non-</a:t>
            </a:r>
            <a:r>
              <a:rPr dirty="0">
                <a:latin typeface="Calibri"/>
                <a:cs typeface="Calibri"/>
              </a:rPr>
              <a:t>interactive</a:t>
            </a:r>
            <a:r>
              <a:rPr spc="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environment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(such</a:t>
            </a:r>
            <a:r>
              <a:rPr spc="10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as </a:t>
            </a:r>
            <a:r>
              <a:rPr dirty="0">
                <a:latin typeface="Calibri"/>
                <a:cs typeface="Calibri"/>
              </a:rPr>
              <a:t>in an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IDE).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8200" y="842646"/>
            <a:ext cx="6781800" cy="3427729"/>
            <a:chOff x="838200" y="473442"/>
            <a:chExt cx="6094730" cy="3427729"/>
          </a:xfrm>
        </p:grpSpPr>
        <p:sp>
          <p:nvSpPr>
            <p:cNvPr id="12" name="object 12"/>
            <p:cNvSpPr/>
            <p:nvPr/>
          </p:nvSpPr>
          <p:spPr>
            <a:xfrm>
              <a:off x="844295" y="479538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11500" y="3691887"/>
              <a:ext cx="3204845" cy="144780"/>
            </a:xfrm>
            <a:custGeom>
              <a:avLst/>
              <a:gdLst/>
              <a:ahLst/>
              <a:cxnLst/>
              <a:rect l="l" t="t" r="r" b="b"/>
              <a:pathLst>
                <a:path w="3204845" h="144779">
                  <a:moveTo>
                    <a:pt x="3204465" y="0"/>
                  </a:moveTo>
                  <a:lnTo>
                    <a:pt x="0" y="0"/>
                  </a:lnTo>
                  <a:lnTo>
                    <a:pt x="0" y="144515"/>
                  </a:lnTo>
                  <a:lnTo>
                    <a:pt x="3204465" y="144515"/>
                  </a:lnTo>
                  <a:lnTo>
                    <a:pt x="3204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88900" y="4493322"/>
            <a:ext cx="2651760" cy="270510"/>
          </a:xfrm>
          <a:custGeom>
            <a:avLst/>
            <a:gdLst/>
            <a:ahLst/>
            <a:cxnLst/>
            <a:rect l="l" t="t" r="r" b="b"/>
            <a:pathLst>
              <a:path w="2651760" h="270510">
                <a:moveTo>
                  <a:pt x="2651538" y="0"/>
                </a:moveTo>
                <a:lnTo>
                  <a:pt x="0" y="0"/>
                </a:lnTo>
                <a:lnTo>
                  <a:pt x="0" y="270180"/>
                </a:lnTo>
                <a:lnTo>
                  <a:pt x="2651538" y="270180"/>
                </a:lnTo>
                <a:lnTo>
                  <a:pt x="26515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25977" y="79172"/>
            <a:ext cx="3151505" cy="358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0"/>
              </a:lnSpc>
            </a:pPr>
            <a:r>
              <a:rPr sz="1250" spc="-10" dirty="0">
                <a:latin typeface="Calibri"/>
                <a:cs typeface="Calibri"/>
                <a:hlinkClick r:id="rId3"/>
              </a:rPr>
              <a:t>http://www.youtube.com/c/EDULINEFORCSE</a:t>
            </a:r>
            <a:endParaRPr sz="125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r>
              <a:rPr sz="1250" spc="-10" dirty="0">
                <a:latin typeface="Calibri"/>
                <a:cs typeface="Calibri"/>
              </a:rPr>
              <a:t>STUDENTS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2363" y="4325773"/>
            <a:ext cx="299529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  <a:tabLst>
                <a:tab pos="2428875" algn="l"/>
              </a:tabLst>
            </a:pP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Prepared</a:t>
            </a:r>
            <a:r>
              <a:rPr sz="700" b="1" spc="-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By</a:t>
            </a:r>
            <a:r>
              <a:rPr sz="700" b="1" spc="14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10" dirty="0">
                <a:solidFill>
                  <a:srgbClr val="702FA0"/>
                </a:solidFill>
                <a:latin typeface="Calibri"/>
                <a:cs typeface="Calibri"/>
              </a:rPr>
              <a:t>Mr.EBIN</a:t>
            </a:r>
            <a:r>
              <a:rPr sz="700" b="1" spc="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PM,</a:t>
            </a:r>
            <a:r>
              <a:rPr sz="700" b="1" spc="-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20" dirty="0">
                <a:solidFill>
                  <a:srgbClr val="702FA0"/>
                </a:solidFill>
                <a:latin typeface="Calibri"/>
                <a:cs typeface="Calibri"/>
              </a:rPr>
              <a:t>AP,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z="700" b="1" spc="-20" dirty="0">
                <a:solidFill>
                  <a:srgbClr val="702FA0"/>
                </a:solidFill>
                <a:latin typeface="Calibri"/>
                <a:cs typeface="Calibri"/>
              </a:rPr>
              <a:t>IESCE</a:t>
            </a:r>
            <a:r>
              <a:rPr sz="700" b="1" dirty="0">
                <a:solidFill>
                  <a:srgbClr val="702FA0"/>
                </a:solidFill>
                <a:latin typeface="Calibri"/>
                <a:cs typeface="Calibri"/>
              </a:rPr>
              <a:t>	</a:t>
            </a:r>
            <a:r>
              <a:rPr sz="1500" b="1" spc="-44" baseline="-5555" dirty="0">
                <a:solidFill>
                  <a:srgbClr val="FF0000"/>
                </a:solidFill>
                <a:latin typeface="Times New Roman"/>
                <a:cs typeface="Times New Roman"/>
              </a:rPr>
              <a:t>EDULINE</a:t>
            </a:r>
            <a:endParaRPr sz="1500" baseline="-555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1" y="496368"/>
            <a:ext cx="6469760" cy="3697807"/>
          </a:xfrm>
          <a:prstGeom prst="rect">
            <a:avLst/>
          </a:prstGeom>
          <a:ln w="12192">
            <a:solidFill>
              <a:srgbClr val="000000"/>
            </a:solidFill>
          </a:ln>
        </p:spPr>
        <p:txBody>
          <a:bodyPr vert="horz" wrap="square" lIns="0" tIns="27305" rIns="0" bIns="0" rtlCol="0">
            <a:spAutoFit/>
          </a:bodyPr>
          <a:lstStyle/>
          <a:p>
            <a:pPr marL="226695">
              <a:lnSpc>
                <a:spcPts val="1775"/>
              </a:lnSpc>
              <a:spcBef>
                <a:spcPts val="215"/>
              </a:spcBef>
            </a:pP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//</a:t>
            </a:r>
            <a:r>
              <a:rPr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Java</a:t>
            </a:r>
            <a:r>
              <a:rPr spc="-4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program</a:t>
            </a:r>
            <a:r>
              <a:rPr spc="-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to</a:t>
            </a:r>
            <a:r>
              <a:rPr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demonstrate</a:t>
            </a:r>
            <a:r>
              <a:rPr spc="-6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working</a:t>
            </a:r>
            <a:r>
              <a:rPr spc="-5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of</a:t>
            </a:r>
            <a:r>
              <a:rPr spc="-4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System.console()</a:t>
            </a:r>
            <a:endParaRPr dirty="0">
              <a:latin typeface="Calibri"/>
              <a:cs typeface="Calibri"/>
            </a:endParaRPr>
          </a:p>
          <a:p>
            <a:pPr marL="226695">
              <a:lnSpc>
                <a:spcPts val="1760"/>
              </a:lnSpc>
            </a:pP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//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Note</a:t>
            </a:r>
            <a:r>
              <a:rPr spc="-2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that</a:t>
            </a:r>
            <a:r>
              <a:rPr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this</a:t>
            </a:r>
            <a:r>
              <a:rPr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program</a:t>
            </a:r>
            <a:r>
              <a:rPr spc="-2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does</a:t>
            </a:r>
            <a:r>
              <a:rPr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not</a:t>
            </a:r>
            <a:r>
              <a:rPr spc="-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work</a:t>
            </a:r>
            <a:r>
              <a:rPr spc="-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on</a:t>
            </a:r>
            <a:r>
              <a:rPr spc="-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IDEs</a:t>
            </a:r>
            <a:r>
              <a:rPr spc="-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25" dirty="0">
                <a:solidFill>
                  <a:srgbClr val="702FA0"/>
                </a:solidFill>
                <a:latin typeface="Calibri"/>
                <a:cs typeface="Calibri"/>
              </a:rPr>
              <a:t>as</a:t>
            </a:r>
            <a:endParaRPr dirty="0">
              <a:latin typeface="Calibri"/>
              <a:cs typeface="Calibri"/>
            </a:endParaRPr>
          </a:p>
          <a:p>
            <a:pPr marL="226695" marR="2738755">
              <a:lnSpc>
                <a:spcPts val="1760"/>
              </a:lnSpc>
              <a:spcBef>
                <a:spcPts val="75"/>
              </a:spcBef>
            </a:pP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//</a:t>
            </a:r>
            <a:r>
              <a:rPr spc="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System.console()</a:t>
            </a:r>
            <a:r>
              <a:rPr spc="-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may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require</a:t>
            </a:r>
            <a:r>
              <a:rPr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console </a:t>
            </a:r>
            <a:r>
              <a:rPr dirty="0">
                <a:latin typeface="Calibri"/>
                <a:cs typeface="Calibri"/>
              </a:rPr>
              <a:t>public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Sample</a:t>
            </a:r>
            <a:endParaRPr dirty="0">
              <a:latin typeface="Calibri"/>
              <a:cs typeface="Calibri"/>
            </a:endParaRPr>
          </a:p>
          <a:p>
            <a:pPr marL="226695">
              <a:lnSpc>
                <a:spcPts val="1685"/>
              </a:lnSpc>
            </a:pPr>
            <a:r>
              <a:rPr spc="-50" dirty="0"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683895">
              <a:lnSpc>
                <a:spcPts val="1764"/>
              </a:lnSpc>
            </a:pPr>
            <a:r>
              <a:rPr dirty="0">
                <a:latin typeface="Calibri"/>
                <a:cs typeface="Calibri"/>
              </a:rPr>
              <a:t>public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static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void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main(String[]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args)</a:t>
            </a:r>
            <a:endParaRPr dirty="0">
              <a:latin typeface="Calibri"/>
              <a:cs typeface="Calibri"/>
            </a:endParaRPr>
          </a:p>
          <a:p>
            <a:pPr marL="683895">
              <a:lnSpc>
                <a:spcPts val="1760"/>
              </a:lnSpc>
            </a:pPr>
            <a:r>
              <a:rPr spc="-50" dirty="0"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1141095" marR="1624330">
              <a:lnSpc>
                <a:spcPts val="1760"/>
              </a:lnSpc>
              <a:spcBef>
                <a:spcPts val="65"/>
              </a:spcBef>
            </a:pPr>
            <a:r>
              <a:rPr dirty="0">
                <a:latin typeface="Calibri"/>
                <a:cs typeface="Calibri"/>
              </a:rPr>
              <a:t>//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Using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Console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user </a:t>
            </a:r>
            <a:r>
              <a:rPr dirty="0">
                <a:latin typeface="Calibri"/>
                <a:cs typeface="Calibri"/>
              </a:rPr>
              <a:t>String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name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System.console().readLine();</a:t>
            </a:r>
            <a:endParaRPr dirty="0">
              <a:latin typeface="Calibri"/>
              <a:cs typeface="Calibri"/>
            </a:endParaRPr>
          </a:p>
          <a:p>
            <a:pPr marL="1141095">
              <a:lnSpc>
                <a:spcPts val="1780"/>
              </a:lnSpc>
              <a:spcBef>
                <a:spcPts val="1670"/>
              </a:spcBef>
            </a:pPr>
            <a:r>
              <a:rPr spc="-10" dirty="0">
                <a:latin typeface="Calibri"/>
                <a:cs typeface="Calibri"/>
              </a:rPr>
              <a:t>System.out.println(name);</a:t>
            </a:r>
            <a:endParaRPr dirty="0">
              <a:latin typeface="Calibri"/>
              <a:cs typeface="Calibri"/>
            </a:endParaRPr>
          </a:p>
          <a:p>
            <a:pPr marL="683895">
              <a:lnSpc>
                <a:spcPts val="1764"/>
              </a:lnSpc>
            </a:pPr>
            <a:r>
              <a:rPr spc="-50" dirty="0"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  <a:p>
            <a:pPr marL="226695">
              <a:lnSpc>
                <a:spcPts val="1780"/>
              </a:lnSpc>
            </a:pPr>
            <a:r>
              <a:rPr spc="-50" dirty="0"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dirty="0">
              <a:latin typeface="Calibri"/>
              <a:cs typeface="Calibri"/>
            </a:endParaRPr>
          </a:p>
          <a:p>
            <a:pPr marR="448945" algn="r">
              <a:lnSpc>
                <a:spcPct val="100000"/>
              </a:lnSpc>
            </a:pPr>
            <a:endParaRPr sz="8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83100" y="74454"/>
            <a:ext cx="3242310" cy="433705"/>
          </a:xfrm>
          <a:custGeom>
            <a:avLst/>
            <a:gdLst/>
            <a:ahLst/>
            <a:cxnLst/>
            <a:rect l="l" t="t" r="r" b="b"/>
            <a:pathLst>
              <a:path w="3242309" h="433705">
                <a:moveTo>
                  <a:pt x="3242165" y="0"/>
                </a:moveTo>
                <a:lnTo>
                  <a:pt x="0" y="0"/>
                </a:lnTo>
                <a:lnTo>
                  <a:pt x="0" y="433545"/>
                </a:lnTo>
                <a:lnTo>
                  <a:pt x="3242165" y="433545"/>
                </a:lnTo>
                <a:lnTo>
                  <a:pt x="32421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75000" y="4326018"/>
            <a:ext cx="3141980" cy="157480"/>
          </a:xfrm>
          <a:custGeom>
            <a:avLst/>
            <a:gdLst/>
            <a:ahLst/>
            <a:cxnLst/>
            <a:rect l="l" t="t" r="r" b="b"/>
            <a:pathLst>
              <a:path w="3141979" h="157479">
                <a:moveTo>
                  <a:pt x="3141633" y="0"/>
                </a:moveTo>
                <a:lnTo>
                  <a:pt x="0" y="0"/>
                </a:lnTo>
                <a:lnTo>
                  <a:pt x="0" y="157081"/>
                </a:lnTo>
                <a:lnTo>
                  <a:pt x="3141633" y="157081"/>
                </a:lnTo>
                <a:lnTo>
                  <a:pt x="31416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629" y="4528746"/>
            <a:ext cx="248285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10"/>
              </a:lnSpc>
            </a:pPr>
            <a:r>
              <a:rPr sz="1250" dirty="0">
                <a:latin typeface="Calibri"/>
                <a:cs typeface="Calibri"/>
              </a:rPr>
              <a:t>Prepared</a:t>
            </a:r>
            <a:r>
              <a:rPr sz="1250" spc="1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By</a:t>
            </a:r>
            <a:r>
              <a:rPr sz="1250" spc="1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Mr.</a:t>
            </a:r>
            <a:r>
              <a:rPr sz="1250" spc="15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EBIN</a:t>
            </a:r>
            <a:r>
              <a:rPr sz="1250" spc="1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PM,</a:t>
            </a:r>
            <a:r>
              <a:rPr sz="1250" spc="1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AP,</a:t>
            </a:r>
            <a:r>
              <a:rPr sz="1250" spc="140" dirty="0">
                <a:latin typeface="Calibri"/>
                <a:cs typeface="Calibri"/>
              </a:rPr>
              <a:t> </a:t>
            </a:r>
            <a:r>
              <a:rPr sz="1250" spc="-20" dirty="0">
                <a:latin typeface="Calibri"/>
                <a:cs typeface="Calibri"/>
              </a:rPr>
              <a:t>IESCE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78526" y="581170"/>
            <a:ext cx="399605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WRITING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CONSOLE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OUTPUT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8651" y="960537"/>
            <a:ext cx="5634990" cy="27276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0" marR="5080" indent="-114935" algn="just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Console</a:t>
            </a:r>
            <a:r>
              <a:rPr spc="8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output</a:t>
            </a:r>
            <a:r>
              <a:rPr spc="8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8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most</a:t>
            </a:r>
            <a:r>
              <a:rPr spc="9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easily</a:t>
            </a:r>
            <a:r>
              <a:rPr spc="9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accomplished</a:t>
            </a:r>
            <a:r>
              <a:rPr spc="9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85" dirty="0">
                <a:latin typeface="Calibri"/>
                <a:cs typeface="Calibri"/>
              </a:rPr>
              <a:t> 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print()</a:t>
            </a:r>
            <a:r>
              <a:rPr spc="80" dirty="0">
                <a:solidFill>
                  <a:srgbClr val="702FA0"/>
                </a:solidFill>
                <a:latin typeface="Calibri"/>
                <a:cs typeface="Calibri"/>
              </a:rPr>
              <a:t>  </a:t>
            </a:r>
            <a:r>
              <a:rPr spc="-25" dirty="0">
                <a:latin typeface="Calibri"/>
                <a:cs typeface="Calibri"/>
              </a:rPr>
              <a:t>and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println()</a:t>
            </a:r>
            <a:r>
              <a:rPr spc="-2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methods.</a:t>
            </a:r>
            <a:endParaRPr dirty="0">
              <a:latin typeface="Calibri"/>
              <a:cs typeface="Calibri"/>
            </a:endParaRPr>
          </a:p>
          <a:p>
            <a:pPr marL="127000" marR="5715" indent="-114935" algn="just">
              <a:lnSpc>
                <a:spcPts val="1730"/>
              </a:lnSpc>
              <a:spcBef>
                <a:spcPts val="490"/>
              </a:spcBef>
              <a:buFont typeface="Arial MT"/>
              <a:buChar char="•"/>
              <a:tabLst>
                <a:tab pos="127000" algn="l"/>
                <a:tab pos="172720" algn="l"/>
              </a:tabLst>
            </a:pPr>
            <a:r>
              <a:rPr dirty="0">
                <a:latin typeface="Calibri"/>
                <a:cs typeface="Calibri"/>
              </a:rPr>
              <a:t>	These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methods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defined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class</a:t>
            </a:r>
            <a:r>
              <a:rPr spc="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PrintStream</a:t>
            </a:r>
            <a:r>
              <a:rPr spc="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 </a:t>
            </a:r>
            <a:r>
              <a:rPr dirty="0">
                <a:latin typeface="Calibri"/>
                <a:cs typeface="Calibri"/>
              </a:rPr>
              <a:t>type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object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referenced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System.in.</a:t>
            </a:r>
            <a:endParaRPr dirty="0">
              <a:latin typeface="Calibri"/>
              <a:cs typeface="Calibri"/>
            </a:endParaRPr>
          </a:p>
          <a:p>
            <a:pPr marL="127000" marR="5080" indent="-114935" algn="just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Because</a:t>
            </a:r>
            <a:r>
              <a:rPr spc="2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2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PrintStream</a:t>
            </a:r>
            <a:r>
              <a:rPr spc="2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2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2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output</a:t>
            </a:r>
            <a:r>
              <a:rPr spc="2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stream</a:t>
            </a:r>
            <a:r>
              <a:rPr spc="2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derived</a:t>
            </a:r>
            <a:r>
              <a:rPr spc="2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27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 </a:t>
            </a:r>
            <a:r>
              <a:rPr dirty="0">
                <a:latin typeface="Calibri"/>
                <a:cs typeface="Calibri"/>
              </a:rPr>
              <a:t>OutputStream,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also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implements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low-</a:t>
            </a:r>
            <a:r>
              <a:rPr dirty="0">
                <a:latin typeface="Calibri"/>
                <a:cs typeface="Calibri"/>
              </a:rPr>
              <a:t>level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702FA0"/>
                </a:solidFill>
                <a:latin typeface="Calibri"/>
                <a:cs typeface="Calibri"/>
              </a:rPr>
              <a:t>write().</a:t>
            </a:r>
            <a:endParaRPr dirty="0">
              <a:latin typeface="Calibri"/>
              <a:cs typeface="Calibri"/>
            </a:endParaRPr>
          </a:p>
          <a:p>
            <a:pPr marL="127000" marR="6985" indent="-114935" algn="just">
              <a:lnSpc>
                <a:spcPts val="1730"/>
              </a:lnSpc>
              <a:spcBef>
                <a:spcPts val="500"/>
              </a:spcBef>
              <a:buFont typeface="Arial MT"/>
              <a:buChar char="•"/>
              <a:tabLst>
                <a:tab pos="127000" algn="l"/>
              </a:tabLst>
            </a:pPr>
            <a:r>
              <a:rPr dirty="0">
                <a:latin typeface="Calibri"/>
                <a:cs typeface="Calibri"/>
              </a:rPr>
              <a:t>Thus,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write()</a:t>
            </a:r>
            <a:r>
              <a:rPr spc="2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can</a:t>
            </a:r>
            <a:r>
              <a:rPr spc="2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be</a:t>
            </a:r>
            <a:r>
              <a:rPr spc="21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used</a:t>
            </a:r>
            <a:r>
              <a:rPr spc="24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to</a:t>
            </a:r>
            <a:r>
              <a:rPr spc="229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write</a:t>
            </a:r>
            <a:r>
              <a:rPr spc="229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to</a:t>
            </a:r>
            <a:r>
              <a:rPr spc="229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the</a:t>
            </a:r>
            <a:r>
              <a:rPr spc="235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702FA0"/>
                </a:solidFill>
                <a:latin typeface="Calibri"/>
                <a:cs typeface="Calibri"/>
              </a:rPr>
              <a:t>console</a:t>
            </a:r>
            <a:r>
              <a:rPr dirty="0">
                <a:latin typeface="Calibri"/>
                <a:cs typeface="Calibri"/>
              </a:rPr>
              <a:t>.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simplest </a:t>
            </a:r>
            <a:r>
              <a:rPr dirty="0">
                <a:latin typeface="Calibri"/>
                <a:cs typeface="Calibri"/>
              </a:rPr>
              <a:t>form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write()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defined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PrintStream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shown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below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</a:t>
            </a:r>
            <a:endParaRPr dirty="0">
              <a:latin typeface="Calibri"/>
              <a:cs typeface="Calibri"/>
            </a:endParaRPr>
          </a:p>
          <a:p>
            <a:pPr marL="978535" algn="just">
              <a:lnSpc>
                <a:spcPct val="100000"/>
              </a:lnSpc>
              <a:spcBef>
                <a:spcPts val="270"/>
              </a:spcBef>
            </a:pPr>
            <a:r>
              <a:rPr b="1" dirty="0">
                <a:solidFill>
                  <a:srgbClr val="702FA0"/>
                </a:solidFill>
                <a:latin typeface="Calibri"/>
                <a:cs typeface="Calibri"/>
              </a:rPr>
              <a:t>void</a:t>
            </a:r>
            <a:r>
              <a:rPr b="1" spc="-6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702FA0"/>
                </a:solidFill>
                <a:latin typeface="Calibri"/>
                <a:cs typeface="Calibri"/>
              </a:rPr>
              <a:t>write(int</a:t>
            </a:r>
            <a:r>
              <a:rPr b="1" spc="-30" dirty="0">
                <a:solidFill>
                  <a:srgbClr val="702FA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702FA0"/>
                </a:solidFill>
                <a:latin typeface="Calibri"/>
                <a:cs typeface="Calibri"/>
              </a:rPr>
              <a:t>byteval)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38200" y="473442"/>
            <a:ext cx="6094730" cy="3427729"/>
            <a:chOff x="838200" y="473442"/>
            <a:chExt cx="6094730" cy="3427729"/>
          </a:xfrm>
        </p:grpSpPr>
        <p:sp>
          <p:nvSpPr>
            <p:cNvPr id="15" name="object 15"/>
            <p:cNvSpPr/>
            <p:nvPr/>
          </p:nvSpPr>
          <p:spPr>
            <a:xfrm>
              <a:off x="844295" y="479538"/>
              <a:ext cx="6082665" cy="3415665"/>
            </a:xfrm>
            <a:custGeom>
              <a:avLst/>
              <a:gdLst/>
              <a:ahLst/>
              <a:cxnLst/>
              <a:rect l="l" t="t" r="r" b="b"/>
              <a:pathLst>
                <a:path w="6082665" h="3415665">
                  <a:moveTo>
                    <a:pt x="6082284" y="0"/>
                  </a:moveTo>
                  <a:lnTo>
                    <a:pt x="0" y="0"/>
                  </a:lnTo>
                  <a:lnTo>
                    <a:pt x="0" y="3415283"/>
                  </a:lnTo>
                  <a:lnTo>
                    <a:pt x="6082284" y="3415283"/>
                  </a:lnTo>
                  <a:lnTo>
                    <a:pt x="608228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11500" y="3711137"/>
              <a:ext cx="3192145" cy="163830"/>
            </a:xfrm>
            <a:custGeom>
              <a:avLst/>
              <a:gdLst/>
              <a:ahLst/>
              <a:cxnLst/>
              <a:rect l="l" t="t" r="r" b="b"/>
              <a:pathLst>
                <a:path w="3192145" h="163829">
                  <a:moveTo>
                    <a:pt x="3191899" y="0"/>
                  </a:moveTo>
                  <a:lnTo>
                    <a:pt x="0" y="0"/>
                  </a:lnTo>
                  <a:lnTo>
                    <a:pt x="0" y="163364"/>
                  </a:lnTo>
                  <a:lnTo>
                    <a:pt x="3191899" y="163364"/>
                  </a:lnTo>
                  <a:lnTo>
                    <a:pt x="3191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50800" y="4448938"/>
            <a:ext cx="2746375" cy="276860"/>
          </a:xfrm>
          <a:custGeom>
            <a:avLst/>
            <a:gdLst/>
            <a:ahLst/>
            <a:cxnLst/>
            <a:rect l="l" t="t" r="r" b="b"/>
            <a:pathLst>
              <a:path w="2746375" h="276860">
                <a:moveTo>
                  <a:pt x="2745787" y="0"/>
                </a:moveTo>
                <a:lnTo>
                  <a:pt x="0" y="0"/>
                </a:lnTo>
                <a:lnTo>
                  <a:pt x="0" y="276463"/>
                </a:lnTo>
                <a:lnTo>
                  <a:pt x="2745787" y="276463"/>
                </a:lnTo>
                <a:lnTo>
                  <a:pt x="2745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CB0275-6AC2-11E7-B97E-68EF8021733D}"/>
              </a:ext>
            </a:extLst>
          </p:cNvPr>
          <p:cNvSpPr txBox="1"/>
          <p:nvPr/>
        </p:nvSpPr>
        <p:spPr>
          <a:xfrm>
            <a:off x="381000" y="155575"/>
            <a:ext cx="6781800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//</a:t>
            </a:r>
            <a:r>
              <a:rPr lang="en-US" sz="1800" dirty="0">
                <a:latin typeface="Calibri"/>
                <a:cs typeface="Calibri"/>
              </a:rPr>
              <a:t> Example</a:t>
            </a:r>
            <a:r>
              <a:rPr lang="en-US" sz="1800" spc="409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that</a:t>
            </a:r>
            <a:r>
              <a:rPr lang="en-US" sz="1800" spc="4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uses</a:t>
            </a:r>
            <a:r>
              <a:rPr lang="en-US" sz="1800" spc="4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write()</a:t>
            </a:r>
            <a:r>
              <a:rPr lang="en-US" sz="1800" spc="4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to</a:t>
            </a:r>
            <a:r>
              <a:rPr lang="en-US" sz="1800" spc="4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output</a:t>
            </a:r>
            <a:r>
              <a:rPr lang="en-US" sz="1800" spc="409" dirty="0">
                <a:latin typeface="Calibri"/>
                <a:cs typeface="Calibri"/>
              </a:rPr>
              <a:t> </a:t>
            </a:r>
            <a:r>
              <a:rPr lang="en-US" sz="1800" spc="-25" dirty="0">
                <a:latin typeface="Calibri"/>
                <a:cs typeface="Calibri"/>
              </a:rPr>
              <a:t>the </a:t>
            </a:r>
            <a:r>
              <a:rPr lang="en-US" sz="1800" spc="-10" dirty="0">
                <a:latin typeface="Calibri"/>
                <a:cs typeface="Calibri"/>
              </a:rPr>
              <a:t>character</a:t>
            </a:r>
            <a:r>
              <a:rPr lang="en-US" sz="1800" dirty="0">
                <a:latin typeface="Calibri"/>
                <a:cs typeface="Calibri"/>
              </a:rPr>
              <a:t> 'X' </a:t>
            </a:r>
            <a:r>
              <a:rPr lang="en-US" sz="1800" spc="-10" dirty="0">
                <a:latin typeface="Calibri"/>
                <a:cs typeface="Calibri"/>
              </a:rPr>
              <a:t>followed </a:t>
            </a:r>
            <a:r>
              <a:rPr lang="en-US" sz="1800" dirty="0">
                <a:latin typeface="Calibri"/>
                <a:cs typeface="Calibri"/>
              </a:rPr>
              <a:t>by</a:t>
            </a:r>
            <a:r>
              <a:rPr lang="en-US" sz="1800" spc="-5" dirty="0">
                <a:latin typeface="Calibri"/>
                <a:cs typeface="Calibri"/>
              </a:rPr>
              <a:t> //</a:t>
            </a:r>
            <a:r>
              <a:rPr lang="en-US" sz="1800" dirty="0">
                <a:latin typeface="Calibri"/>
                <a:cs typeface="Calibri"/>
              </a:rPr>
              <a:t>a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newline</a:t>
            </a:r>
            <a:r>
              <a:rPr lang="en-US" sz="1800" spc="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to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screen using </a:t>
            </a:r>
            <a:r>
              <a:rPr lang="en-US" dirty="0" err="1"/>
              <a:t>System.out.write</a:t>
            </a:r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WriteConsole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int y;</a:t>
            </a:r>
          </a:p>
          <a:p>
            <a:r>
              <a:rPr lang="en-US" dirty="0"/>
              <a:t>y='X';</a:t>
            </a:r>
          </a:p>
          <a:p>
            <a:r>
              <a:rPr lang="en-US" dirty="0" err="1"/>
              <a:t>System.out.write</a:t>
            </a:r>
            <a:r>
              <a:rPr lang="en-US" dirty="0"/>
              <a:t>(y);</a:t>
            </a:r>
          </a:p>
          <a:p>
            <a:r>
              <a:rPr lang="en-US" dirty="0" err="1"/>
              <a:t>System.out.write</a:t>
            </a:r>
            <a:r>
              <a:rPr lang="en-US" dirty="0"/>
              <a:t>('\n');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084568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CB0275-6AC2-11E7-B97E-68EF8021733D}"/>
              </a:ext>
            </a:extLst>
          </p:cNvPr>
          <p:cNvSpPr txBox="1"/>
          <p:nvPr/>
        </p:nvSpPr>
        <p:spPr>
          <a:xfrm>
            <a:off x="0" y="3175"/>
            <a:ext cx="7772400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+mn-lt"/>
              </a:rPr>
              <a:t>			</a:t>
            </a:r>
            <a:r>
              <a:rPr lang="en-US" sz="2400" b="1" dirty="0" err="1">
                <a:latin typeface="+mn-lt"/>
              </a:rPr>
              <a:t>PrintWriter</a:t>
            </a:r>
            <a:r>
              <a:rPr lang="en-US" sz="2400" dirty="0">
                <a:latin typeface="+mn-lt"/>
              </a:rPr>
              <a:t> </a:t>
            </a:r>
            <a:r>
              <a:rPr lang="en-US" sz="2400" b="1" dirty="0">
                <a:latin typeface="+mn-lt"/>
              </a:rPr>
              <a:t>Class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For real-world programs, the recommended method of writing to the console using Java is through a </a:t>
            </a:r>
            <a:r>
              <a:rPr lang="en-US" sz="2400" dirty="0" err="1">
                <a:latin typeface="+mn-lt"/>
              </a:rPr>
              <a:t>PrintWriter</a:t>
            </a:r>
            <a:r>
              <a:rPr lang="en-US" sz="2400" dirty="0">
                <a:latin typeface="+mn-lt"/>
              </a:rPr>
              <a:t> stream.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n-lt"/>
              </a:rPr>
              <a:t>PrintWriter</a:t>
            </a:r>
            <a:r>
              <a:rPr lang="en-US" sz="2400" dirty="0">
                <a:latin typeface="+mn-lt"/>
              </a:rPr>
              <a:t> is one of the character-based classes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n-lt"/>
              </a:rPr>
              <a:t>PrintWriter</a:t>
            </a:r>
            <a:r>
              <a:rPr lang="en-US" sz="2400" dirty="0">
                <a:latin typeface="+mn-lt"/>
              </a:rPr>
              <a:t> defines several constructors.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n-lt"/>
              </a:rPr>
              <a:t>PrintWriter</a:t>
            </a:r>
            <a:r>
              <a:rPr lang="en-US" sz="2400" dirty="0">
                <a:latin typeface="+mn-lt"/>
              </a:rPr>
              <a:t>(</a:t>
            </a:r>
            <a:r>
              <a:rPr lang="en-US" sz="2400" dirty="0" err="1">
                <a:latin typeface="+mn-lt"/>
              </a:rPr>
              <a:t>OutputStream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outputStream</a:t>
            </a:r>
            <a:r>
              <a:rPr lang="en-US" sz="2400" dirty="0">
                <a:latin typeface="+mn-lt"/>
              </a:rPr>
              <a:t>, </a:t>
            </a:r>
            <a:r>
              <a:rPr lang="en-US" sz="2400" dirty="0" err="1">
                <a:latin typeface="+mn-lt"/>
              </a:rPr>
              <a:t>boolean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flushOnNewline</a:t>
            </a:r>
            <a:r>
              <a:rPr lang="en-US" sz="2400" dirty="0">
                <a:latin typeface="+mn-lt"/>
              </a:rPr>
              <a:t>) </a:t>
            </a:r>
          </a:p>
          <a:p>
            <a:pPr marL="285750" lvl="7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Here </a:t>
            </a:r>
            <a:r>
              <a:rPr lang="en-US" sz="2400" dirty="0" err="1">
                <a:latin typeface="+mn-lt"/>
              </a:rPr>
              <a:t>outputStream</a:t>
            </a:r>
            <a:r>
              <a:rPr lang="en-US" sz="2400" dirty="0">
                <a:latin typeface="+mn-lt"/>
              </a:rPr>
              <a:t> is an object of type </a:t>
            </a:r>
            <a:r>
              <a:rPr lang="en-US" sz="2400" dirty="0" err="1">
                <a:latin typeface="+mn-lt"/>
              </a:rPr>
              <a:t>OutputStream</a:t>
            </a:r>
            <a:r>
              <a:rPr lang="en-US" sz="2400" dirty="0">
                <a:latin typeface="+mn-lt"/>
              </a:rPr>
              <a:t>, and </a:t>
            </a:r>
            <a:r>
              <a:rPr lang="en-US" sz="2400" dirty="0" err="1">
                <a:latin typeface="+mn-lt"/>
              </a:rPr>
              <a:t>flushOnNewline</a:t>
            </a:r>
            <a:r>
              <a:rPr lang="en-US" sz="2400" dirty="0">
                <a:latin typeface="+mn-lt"/>
              </a:rPr>
              <a:t> controls whether Java flushes the output stream every time a </a:t>
            </a:r>
            <a:r>
              <a:rPr lang="en-US" sz="2400" dirty="0" err="1">
                <a:latin typeface="+mn-lt"/>
              </a:rPr>
              <a:t>println</a:t>
            </a:r>
            <a:r>
              <a:rPr lang="en-US" sz="2400" dirty="0">
                <a:latin typeface="+mn-lt"/>
              </a:rPr>
              <a:t>( ) method is called. </a:t>
            </a:r>
          </a:p>
          <a:p>
            <a:pPr marL="285750" lvl="7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– </a:t>
            </a:r>
            <a:r>
              <a:rPr lang="en-US" sz="2000" dirty="0">
                <a:latin typeface="+mn-lt"/>
              </a:rPr>
              <a:t>If </a:t>
            </a:r>
            <a:r>
              <a:rPr lang="en-US" sz="2000" dirty="0" err="1">
                <a:latin typeface="+mn-lt"/>
              </a:rPr>
              <a:t>flushOnNewline</a:t>
            </a:r>
            <a:r>
              <a:rPr lang="en-US" sz="2000" dirty="0">
                <a:latin typeface="+mn-lt"/>
              </a:rPr>
              <a:t> is true, flushing automatically takes place. </a:t>
            </a:r>
          </a:p>
          <a:p>
            <a:pPr lvl="7" algn="l"/>
            <a:r>
              <a:rPr lang="en-US" sz="2000" dirty="0">
                <a:latin typeface="+mn-lt"/>
              </a:rPr>
              <a:t>     – If false, flushing is not automatic. </a:t>
            </a:r>
          </a:p>
        </p:txBody>
      </p:sp>
    </p:spTree>
    <p:extLst>
      <p:ext uri="{BB962C8B-B14F-4D97-AF65-F5344CB8AC3E}">
        <p14:creationId xmlns:p14="http://schemas.microsoft.com/office/powerpoint/2010/main" val="3380025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D5CF3-2E01-25D5-6E7B-5230C2229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31775"/>
            <a:ext cx="7010400" cy="4374724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• </a:t>
            </a:r>
            <a:r>
              <a:rPr lang="en-US" sz="2400" dirty="0" err="1">
                <a:solidFill>
                  <a:schemeClr val="tx1"/>
                </a:solidFill>
              </a:rPr>
              <a:t>PrintWriter</a:t>
            </a:r>
            <a:r>
              <a:rPr lang="en-US" sz="2400" dirty="0">
                <a:solidFill>
                  <a:schemeClr val="tx1"/>
                </a:solidFill>
              </a:rPr>
              <a:t> supports the print and </a:t>
            </a:r>
            <a:r>
              <a:rPr lang="en-US" sz="2400" dirty="0" err="1">
                <a:solidFill>
                  <a:schemeClr val="tx1"/>
                </a:solidFill>
              </a:rPr>
              <a:t>println</a:t>
            </a:r>
            <a:r>
              <a:rPr lang="en-US" sz="2400" dirty="0">
                <a:solidFill>
                  <a:schemeClr val="tx1"/>
                </a:solidFill>
              </a:rPr>
              <a:t>( ) methods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• If an argument is not a simple type, the </a:t>
            </a:r>
            <a:r>
              <a:rPr lang="en-US" sz="2400" dirty="0" err="1">
                <a:solidFill>
                  <a:schemeClr val="tx1"/>
                </a:solidFill>
              </a:rPr>
              <a:t>PrintWriter</a:t>
            </a:r>
            <a:r>
              <a:rPr lang="en-US" sz="2400" dirty="0">
                <a:solidFill>
                  <a:schemeClr val="tx1"/>
                </a:solidFill>
              </a:rPr>
              <a:t> methods call the object’s </a:t>
            </a:r>
            <a:r>
              <a:rPr lang="en-US" sz="2400" dirty="0" err="1">
                <a:solidFill>
                  <a:schemeClr val="tx1"/>
                </a:solidFill>
              </a:rPr>
              <a:t>toString</a:t>
            </a:r>
            <a:r>
              <a:rPr lang="en-US" sz="2400" dirty="0">
                <a:solidFill>
                  <a:schemeClr val="tx1"/>
                </a:solidFill>
              </a:rPr>
              <a:t>( ) method and then print the result.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 • To write to the console by using a </a:t>
            </a:r>
            <a:r>
              <a:rPr lang="en-US" sz="2400" dirty="0" err="1">
                <a:solidFill>
                  <a:schemeClr val="tx1"/>
                </a:solidFill>
              </a:rPr>
              <a:t>PrintWriter</a:t>
            </a:r>
            <a:r>
              <a:rPr lang="en-US" sz="2400" dirty="0">
                <a:solidFill>
                  <a:schemeClr val="tx1"/>
                </a:solidFill>
              </a:rPr>
              <a:t>, specify </a:t>
            </a:r>
            <a:r>
              <a:rPr lang="en-US" sz="2400" dirty="0" err="1">
                <a:solidFill>
                  <a:schemeClr val="tx1"/>
                </a:solidFill>
              </a:rPr>
              <a:t>System.out</a:t>
            </a:r>
            <a:r>
              <a:rPr lang="en-US" sz="2400" dirty="0">
                <a:solidFill>
                  <a:schemeClr val="tx1"/>
                </a:solidFill>
              </a:rPr>
              <a:t> for the output stream and flush the stream after each new line.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PrintWriter</a:t>
            </a:r>
            <a:r>
              <a:rPr lang="en-US" sz="2400" dirty="0">
                <a:solidFill>
                  <a:schemeClr val="tx1"/>
                </a:solidFill>
              </a:rPr>
              <a:t> pw = new </a:t>
            </a:r>
            <a:r>
              <a:rPr lang="en-US" sz="2400" dirty="0" err="1">
                <a:solidFill>
                  <a:schemeClr val="tx1"/>
                </a:solidFill>
              </a:rPr>
              <a:t>PrintWriter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System.out</a:t>
            </a:r>
            <a:r>
              <a:rPr lang="en-US" sz="2400" dirty="0">
                <a:solidFill>
                  <a:schemeClr val="tx1"/>
                </a:solidFill>
              </a:rPr>
              <a:t>, true); </a:t>
            </a:r>
          </a:p>
        </p:txBody>
      </p:sp>
    </p:spTree>
    <p:extLst>
      <p:ext uri="{BB962C8B-B14F-4D97-AF65-F5344CB8AC3E}">
        <p14:creationId xmlns:p14="http://schemas.microsoft.com/office/powerpoint/2010/main" val="274587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79375"/>
            <a:ext cx="7315200" cy="489364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import java.io.*;</a:t>
            </a:r>
          </a:p>
          <a:p>
            <a:r>
              <a:rPr lang="en-US" sz="2400" dirty="0">
                <a:solidFill>
                  <a:schemeClr val="tx1"/>
                </a:solidFill>
              </a:rPr>
              <a:t>public class </a:t>
            </a:r>
            <a:r>
              <a:rPr lang="en-US" sz="2400" dirty="0" err="1">
                <a:solidFill>
                  <a:schemeClr val="tx1"/>
                </a:solidFill>
              </a:rPr>
              <a:t>PrintWriterDemo</a:t>
            </a:r>
            <a:r>
              <a:rPr lang="en-US" sz="2400" dirty="0">
                <a:solidFill>
                  <a:schemeClr val="tx1"/>
                </a:solidFill>
              </a:rPr>
              <a:t> {</a:t>
            </a:r>
          </a:p>
          <a:p>
            <a:r>
              <a:rPr lang="en-US" sz="2400" dirty="0">
                <a:solidFill>
                  <a:schemeClr val="tx1"/>
                </a:solidFill>
              </a:rPr>
              <a:t>public static void main(String </a:t>
            </a:r>
            <a:r>
              <a:rPr lang="en-US" sz="2400" dirty="0" err="1">
                <a:solidFill>
                  <a:schemeClr val="tx1"/>
                </a:solidFill>
              </a:rPr>
              <a:t>args</a:t>
            </a:r>
            <a:r>
              <a:rPr lang="en-US" sz="2400" dirty="0">
                <a:solidFill>
                  <a:schemeClr val="tx1"/>
                </a:solidFill>
              </a:rPr>
              <a:t>[]){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PrintWriter</a:t>
            </a:r>
            <a:r>
              <a:rPr lang="en-US" sz="2400" dirty="0">
                <a:solidFill>
                  <a:schemeClr val="tx1"/>
                </a:solidFill>
              </a:rPr>
              <a:t> pw = new </a:t>
            </a:r>
            <a:r>
              <a:rPr lang="en-US" sz="2400" dirty="0" err="1">
                <a:solidFill>
                  <a:schemeClr val="tx1"/>
                </a:solidFill>
              </a:rPr>
              <a:t>PrintWriter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System.out,true</a:t>
            </a:r>
            <a:r>
              <a:rPr lang="en-US" sz="2400" dirty="0">
                <a:solidFill>
                  <a:schemeClr val="tx1"/>
                </a:solidFill>
              </a:rPr>
              <a:t>);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pw.println</a:t>
            </a:r>
            <a:r>
              <a:rPr lang="en-US" sz="2400" dirty="0">
                <a:solidFill>
                  <a:schemeClr val="tx1"/>
                </a:solidFill>
              </a:rPr>
              <a:t>("This is a string");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int 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 = -7;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pw.println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i</a:t>
            </a:r>
            <a:r>
              <a:rPr lang="en-US" sz="2400" dirty="0">
                <a:solidFill>
                  <a:schemeClr val="tx1"/>
                </a:solidFill>
              </a:rPr>
              <a:t>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double d = 4.5e-7;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pw.println</a:t>
            </a:r>
            <a:r>
              <a:rPr lang="en-US" sz="2400" dirty="0">
                <a:solidFill>
                  <a:schemeClr val="tx1"/>
                </a:solidFill>
              </a:rPr>
              <a:t>(d);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}}</a:t>
            </a:r>
          </a:p>
          <a:p>
            <a:r>
              <a:rPr lang="en-US" sz="2400" dirty="0">
                <a:solidFill>
                  <a:schemeClr val="tx1"/>
                </a:solidFill>
              </a:rPr>
              <a:t>Output</a:t>
            </a:r>
          </a:p>
          <a:p>
            <a:r>
              <a:rPr lang="en-US" sz="1800" dirty="0">
                <a:solidFill>
                  <a:schemeClr val="tx1"/>
                </a:solidFill>
              </a:rPr>
              <a:t>This is a string</a:t>
            </a:r>
          </a:p>
          <a:p>
            <a:r>
              <a:rPr lang="en-US" sz="1800" dirty="0">
                <a:solidFill>
                  <a:schemeClr val="tx1"/>
                </a:solidFill>
              </a:rPr>
              <a:t> -7</a:t>
            </a:r>
          </a:p>
          <a:p>
            <a:r>
              <a:rPr lang="en-US" sz="1800" dirty="0">
                <a:solidFill>
                  <a:schemeClr val="tx1"/>
                </a:solidFill>
              </a:rPr>
              <a:t> 4.5E-7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584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79375"/>
            <a:ext cx="7315200" cy="3693319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		Object Streams and Serialization</a:t>
            </a: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Object streams support I/O(input-output) of objects.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object stream classes are</a:t>
            </a:r>
          </a:p>
          <a:p>
            <a:r>
              <a:rPr lang="en-US" sz="2400" dirty="0">
                <a:solidFill>
                  <a:schemeClr val="tx1"/>
                </a:solidFill>
              </a:rPr>
              <a:t>	– ObjectInputStream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	– ObjectOutputStream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506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3175"/>
            <a:ext cx="7315200" cy="4953000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			</a:t>
            </a:r>
            <a:r>
              <a:rPr lang="en-US" sz="2400" dirty="0">
                <a:solidFill>
                  <a:srgbClr val="FF0000"/>
                </a:solidFill>
              </a:rPr>
              <a:t>Serialization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Serialization is the process of writing(converting) the state of an object to a byte stream.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This is useful when we want to save(store) the state of the program to a persistent(permanent) storage area,  such as a file or when we want to send it over network.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Later we can restore these objects by using the process of deserialization.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Deserialization converts byte streams into object.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458F2A0F-99D4-9920-F409-80C0384819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3773" y="3279775"/>
            <a:ext cx="2281428" cy="16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3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79375"/>
            <a:ext cx="7239000" cy="4431983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			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Serialization is also needed to implement 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        Remote Method Invocation (RMI).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Interfaces that support serialization are: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Serializable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Externalizable</a:t>
            </a:r>
          </a:p>
          <a:p>
            <a:pPr algn="l" rtl="0" fontAlgn="base"/>
            <a:r>
              <a:rPr lang="en-US" sz="2400" b="1" i="0" dirty="0">
                <a:solidFill>
                  <a:srgbClr val="273239"/>
                </a:solidFill>
                <a:effectLst/>
                <a:latin typeface="+mn-lt"/>
              </a:rPr>
              <a:t>Advantages of Serialization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 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To save/persist state of an object. </a:t>
            </a:r>
          </a:p>
          <a:p>
            <a:pPr algn="l" fontAlgn="base">
              <a:buFont typeface="+mj-lt"/>
              <a:buAutoNum type="arabicPeriod" startAt="2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To travel the state of an object across a network</a:t>
            </a:r>
          </a:p>
          <a:p>
            <a:pPr algn="l" fontAlgn="base"/>
            <a:r>
              <a:rPr lang="en-US" sz="2400" dirty="0">
                <a:solidFill>
                  <a:srgbClr val="273239"/>
                </a:solidFill>
                <a:latin typeface="+mn-lt"/>
              </a:rPr>
              <a:t>		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(marshaling)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240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79375"/>
            <a:ext cx="7315200" cy="4801314"/>
          </a:xfrm>
          <a:ln>
            <a:solidFill>
              <a:schemeClr val="tx1"/>
            </a:solidFill>
          </a:ln>
        </p:spPr>
        <p:txBody>
          <a:bodyPr/>
          <a:lstStyle/>
          <a:p>
            <a:pPr lvl="1" algn="just"/>
            <a:r>
              <a:rPr lang="en-US" sz="2400" dirty="0">
                <a:solidFill>
                  <a:schemeClr val="tx1"/>
                </a:solidFill>
              </a:rPr>
              <a:t>			Serializable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Only an object that implements the Serializable interface can be saved and restored by the serialization facilities.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Serializable interface defines no members.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It is simply used to indicate that a class may be serialized.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If a class is serializable, all of its subclasses are also serializable.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Variables that are declared as transient and static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      variables are not saved by the serialization facilities.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1794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9375"/>
            <a:ext cx="7696200" cy="4555093"/>
          </a:xfrm>
          <a:ln>
            <a:solidFill>
              <a:schemeClr val="tx1"/>
            </a:solidFill>
          </a:ln>
        </p:spPr>
        <p:txBody>
          <a:bodyPr/>
          <a:lstStyle/>
          <a:p>
            <a:pPr marL="88900" lvl="1" indent="88900"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		Externalizable </a:t>
            </a:r>
          </a:p>
          <a:p>
            <a:pPr marL="266700" lvl="1" indent="1905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Much of the work to save and restore the state of an object occurs automatically.</a:t>
            </a:r>
          </a:p>
          <a:p>
            <a:pPr marL="355600" lvl="1" indent="-342900" algn="just">
              <a:buFont typeface="Arial" panose="020B0604020202020204" pitchFamily="34" charset="0"/>
              <a:buChar char="•"/>
              <a:tabLst>
                <a:tab pos="177800" algn="l"/>
              </a:tabLst>
            </a:pPr>
            <a:r>
              <a:rPr lang="en-US" sz="2400" dirty="0">
                <a:solidFill>
                  <a:schemeClr val="tx1"/>
                </a:solidFill>
              </a:rPr>
              <a:t>But the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programmer may need to have control over these processes. 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e</a:t>
            </a:r>
            <a:r>
              <a:rPr lang="en-US" sz="2400" dirty="0" err="1">
                <a:solidFill>
                  <a:schemeClr val="tx1"/>
                </a:solidFill>
              </a:rPr>
              <a:t>g</a:t>
            </a:r>
            <a:r>
              <a:rPr lang="en-US" sz="2400" dirty="0">
                <a:solidFill>
                  <a:schemeClr val="tx1"/>
                </a:solidFill>
              </a:rPr>
              <a:t>: It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may be desirable to use compression or encryption techniques. </a:t>
            </a:r>
          </a:p>
          <a:p>
            <a:pPr marL="88900" lvl="1" indent="3683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The Externalizable interface is designed for these situations.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The Externalizable interface defines these two methods: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readExternal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ObjectInput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inStream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) throws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IOException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ClassNotFoundException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void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writeExternal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ObjectOutput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outStream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) throws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IOException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5863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3175"/>
            <a:ext cx="7467600" cy="5847755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		</a:t>
            </a:r>
            <a:r>
              <a:rPr lang="en-US" sz="2400" dirty="0">
                <a:solidFill>
                  <a:srgbClr val="FF0000"/>
                </a:solidFill>
              </a:rPr>
              <a:t>ObjectOutputStream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</a:rPr>
              <a:t>The ObjectOutputStream class extends the </a:t>
            </a:r>
            <a:r>
              <a:rPr lang="en-US" sz="2200" dirty="0" err="1">
                <a:solidFill>
                  <a:schemeClr val="tx1"/>
                </a:solidFill>
                <a:latin typeface="+mn-lt"/>
              </a:rPr>
              <a:t>OutputStream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 class and implements the </a:t>
            </a:r>
            <a:r>
              <a:rPr lang="en-US" sz="2200" dirty="0" err="1">
                <a:solidFill>
                  <a:schemeClr val="tx1"/>
                </a:solidFill>
                <a:latin typeface="+mn-lt"/>
              </a:rPr>
              <a:t>ObjectOutput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 interface.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  <a:latin typeface="+mn-lt"/>
              </a:rPr>
              <a:t>It is responsible for writing objects to a stream.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</a:rPr>
              <a:t>A constructor of this class is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+mn-lt"/>
              </a:rPr>
              <a:t>  ObjectOutputStream(</a:t>
            </a:r>
            <a:r>
              <a:rPr lang="en-US" sz="2200" dirty="0" err="1">
                <a:solidFill>
                  <a:schemeClr val="tx1"/>
                </a:solidFill>
                <a:latin typeface="+mn-lt"/>
              </a:rPr>
              <a:t>OutputStream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n-lt"/>
              </a:rPr>
              <a:t>outStream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) throws    </a:t>
            </a:r>
          </a:p>
          <a:p>
            <a:pPr algn="just"/>
            <a:r>
              <a:rPr lang="en-US" sz="2200" dirty="0">
                <a:solidFill>
                  <a:schemeClr val="tx1"/>
                </a:solidFill>
                <a:latin typeface="+mn-lt"/>
              </a:rPr>
              <a:t>                                                       </a:t>
            </a:r>
            <a:r>
              <a:rPr lang="en-US" sz="2200" dirty="0" err="1">
                <a:solidFill>
                  <a:schemeClr val="tx1"/>
                </a:solidFill>
                <a:latin typeface="+mn-lt"/>
              </a:rPr>
              <a:t>IOException</a:t>
            </a:r>
            <a:endParaRPr lang="en-US" sz="2200" dirty="0">
              <a:solidFill>
                <a:schemeClr val="tx1"/>
              </a:solidFill>
              <a:latin typeface="+mn-lt"/>
            </a:endParaRPr>
          </a:p>
          <a:p>
            <a:pPr lvl="1" algn="just"/>
            <a:r>
              <a:rPr lang="en-US" sz="2200" dirty="0">
                <a:solidFill>
                  <a:schemeClr val="tx1"/>
                </a:solidFill>
              </a:rPr>
              <a:t>where </a:t>
            </a:r>
            <a:r>
              <a:rPr lang="en-US" sz="2200" dirty="0" err="1">
                <a:solidFill>
                  <a:schemeClr val="tx1"/>
                </a:solidFill>
              </a:rPr>
              <a:t>outStream</a:t>
            </a:r>
            <a:r>
              <a:rPr lang="en-US" sz="2200" dirty="0">
                <a:solidFill>
                  <a:schemeClr val="tx1"/>
                </a:solidFill>
              </a:rPr>
              <a:t> is the output stream to which serialized objects will be written.</a:t>
            </a:r>
          </a:p>
          <a:p>
            <a:pPr algn="just"/>
            <a:r>
              <a:rPr lang="en-US" sz="2200" u="sng" dirty="0">
                <a:solidFill>
                  <a:schemeClr val="tx1"/>
                </a:solidFill>
                <a:latin typeface="+mn-lt"/>
              </a:rPr>
              <a:t>Important Methods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</a:rPr>
              <a:t>final void </a:t>
            </a:r>
            <a:r>
              <a:rPr lang="en-US" sz="2200" dirty="0" err="1">
                <a:solidFill>
                  <a:srgbClr val="FF0000"/>
                </a:solidFill>
                <a:latin typeface="+mn-lt"/>
              </a:rPr>
              <a:t>writeObject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(Object obj)- Writes obj to the invoking stream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</a:rPr>
              <a:t>void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close( ) 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-Closes the invoking stream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+mn-lt"/>
              </a:rPr>
              <a:t>void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flush( ) 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-flushes the output buffers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070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9375"/>
            <a:ext cx="7772400" cy="44196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200" dirty="0">
                <a:solidFill>
                  <a:schemeClr val="tx1"/>
                </a:solidFill>
              </a:rPr>
              <a:t>		   </a:t>
            </a:r>
            <a:r>
              <a:rPr lang="en-US" sz="2200" dirty="0">
                <a:solidFill>
                  <a:srgbClr val="FF0000"/>
                </a:solidFill>
              </a:rPr>
              <a:t>ObjectInputStream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 The ObjectInputStream class extends the </a:t>
            </a:r>
            <a:r>
              <a:rPr lang="en-US" sz="2200" dirty="0" err="1">
                <a:solidFill>
                  <a:schemeClr val="tx1"/>
                </a:solidFill>
              </a:rPr>
              <a:t>InputStream</a:t>
            </a:r>
            <a:r>
              <a:rPr lang="en-US" sz="2200" dirty="0">
                <a:solidFill>
                  <a:schemeClr val="tx1"/>
                </a:solidFill>
              </a:rPr>
              <a:t> class and implements the </a:t>
            </a:r>
            <a:r>
              <a:rPr lang="en-US" sz="2200" dirty="0" err="1">
                <a:solidFill>
                  <a:schemeClr val="tx1"/>
                </a:solidFill>
              </a:rPr>
              <a:t>ObjectInput</a:t>
            </a:r>
            <a:r>
              <a:rPr lang="en-US" sz="2200" dirty="0">
                <a:solidFill>
                  <a:schemeClr val="tx1"/>
                </a:solidFill>
              </a:rPr>
              <a:t> interface.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rgbClr val="FF0000"/>
                </a:solidFill>
              </a:rPr>
              <a:t>ObjectInputStream is responsible for reading objects from a stream.</a:t>
            </a:r>
          </a:p>
          <a:p>
            <a:pPr marL="266700" indent="-2667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constructor of this class is</a:t>
            </a:r>
          </a:p>
          <a:p>
            <a:r>
              <a:rPr lang="en-US" sz="2200" dirty="0">
                <a:solidFill>
                  <a:schemeClr val="tx1"/>
                </a:solidFill>
              </a:rPr>
              <a:t>ObjectInputStream(</a:t>
            </a:r>
            <a:r>
              <a:rPr lang="en-US" sz="2200" dirty="0" err="1">
                <a:solidFill>
                  <a:schemeClr val="tx1"/>
                </a:solidFill>
              </a:rPr>
              <a:t>InputStream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inStream</a:t>
            </a:r>
            <a:r>
              <a:rPr lang="en-US" sz="2200" dirty="0">
                <a:solidFill>
                  <a:schemeClr val="tx1"/>
                </a:solidFill>
              </a:rPr>
              <a:t>) throws  </a:t>
            </a:r>
            <a:r>
              <a:rPr lang="en-US" sz="2200" dirty="0" err="1">
                <a:solidFill>
                  <a:schemeClr val="tx1"/>
                </a:solidFill>
              </a:rPr>
              <a:t>IOException</a:t>
            </a:r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	where </a:t>
            </a:r>
            <a:r>
              <a:rPr lang="en-US" sz="2200" dirty="0" err="1">
                <a:solidFill>
                  <a:schemeClr val="tx1"/>
                </a:solidFill>
              </a:rPr>
              <a:t>inStream</a:t>
            </a:r>
            <a:r>
              <a:rPr lang="en-US" sz="2200" dirty="0">
                <a:solidFill>
                  <a:schemeClr val="tx1"/>
                </a:solidFill>
              </a:rPr>
              <a:t> is the input stream from which serialized   </a:t>
            </a:r>
          </a:p>
          <a:p>
            <a:r>
              <a:rPr lang="en-US" sz="2200" dirty="0">
                <a:solidFill>
                  <a:schemeClr val="tx1"/>
                </a:solidFill>
              </a:rPr>
              <a:t>              objects should be read. </a:t>
            </a:r>
          </a:p>
          <a:p>
            <a:r>
              <a:rPr lang="en-US" sz="2200" u="sng" dirty="0">
                <a:solidFill>
                  <a:schemeClr val="tx1"/>
                </a:solidFill>
              </a:rPr>
              <a:t>Important Methods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Object </a:t>
            </a:r>
            <a:r>
              <a:rPr lang="en-US" sz="2200" dirty="0" err="1">
                <a:solidFill>
                  <a:srgbClr val="FF0000"/>
                </a:solidFill>
              </a:rPr>
              <a:t>readObject</a:t>
            </a:r>
            <a:r>
              <a:rPr lang="en-US" sz="2200" dirty="0">
                <a:solidFill>
                  <a:srgbClr val="FF0000"/>
                </a:solidFill>
              </a:rPr>
              <a:t>( )</a:t>
            </a:r>
            <a:r>
              <a:rPr lang="en-US" sz="2200" dirty="0">
                <a:solidFill>
                  <a:schemeClr val="tx1"/>
                </a:solidFill>
              </a:rPr>
              <a:t>- Reads an object from the invoking stream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void </a:t>
            </a:r>
            <a:r>
              <a:rPr lang="en-US" sz="2200" dirty="0">
                <a:solidFill>
                  <a:srgbClr val="FF0000"/>
                </a:solidFill>
              </a:rPr>
              <a:t>close( ) </a:t>
            </a:r>
            <a:r>
              <a:rPr lang="en-US" sz="2200" dirty="0">
                <a:solidFill>
                  <a:schemeClr val="tx1"/>
                </a:solidFill>
              </a:rPr>
              <a:t>-Closes the invoking stream.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948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1EEE-6C4B-A016-C70E-16FCB1E0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9375"/>
            <a:ext cx="7467600" cy="2215991"/>
          </a:xfrm>
          <a:ln>
            <a:solidFill>
              <a:schemeClr val="tx1"/>
            </a:solidFill>
          </a:ln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</a:rPr>
              <a:t>Eg</a:t>
            </a:r>
            <a:r>
              <a:rPr lang="en-US" sz="2400" dirty="0">
                <a:solidFill>
                  <a:schemeClr val="tx1"/>
                </a:solidFill>
              </a:rPr>
              <a:t>: of Java Serialization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We are going to   serialize the object of Student class. The </a:t>
            </a:r>
            <a:r>
              <a:rPr lang="en-US" sz="2400" dirty="0" err="1">
                <a:solidFill>
                  <a:schemeClr val="tx1"/>
                </a:solidFill>
              </a:rPr>
              <a:t>writeObject</a:t>
            </a:r>
            <a:r>
              <a:rPr lang="en-US" sz="2400" dirty="0">
                <a:solidFill>
                  <a:schemeClr val="tx1"/>
                </a:solidFill>
              </a:rPr>
              <a:t>() method of ObjectOutputStream class provides the functionality to serialize the object. We are saving the state of the object in the file named f1.txt.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05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A40F0A-FE0B-C76F-3FFE-4B6FCF73039B}"/>
              </a:ext>
            </a:extLst>
          </p:cNvPr>
          <p:cNvSpPr txBox="1"/>
          <p:nvPr/>
        </p:nvSpPr>
        <p:spPr>
          <a:xfrm>
            <a:off x="152400" y="15617"/>
            <a:ext cx="7162800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import java.io.*;</a:t>
            </a:r>
          </a:p>
          <a:p>
            <a:r>
              <a:rPr lang="en-US" sz="2000" b="1" dirty="0"/>
              <a:t>class Student </a:t>
            </a:r>
            <a:r>
              <a:rPr lang="en-US" sz="2000" b="1" dirty="0">
                <a:solidFill>
                  <a:srgbClr val="FF0000"/>
                </a:solidFill>
              </a:rPr>
              <a:t>implements Serializable</a:t>
            </a:r>
            <a:r>
              <a:rPr lang="en-US" sz="2000" b="1" dirty="0"/>
              <a:t>{</a:t>
            </a:r>
          </a:p>
          <a:p>
            <a:r>
              <a:rPr lang="en-US" sz="2000" b="1" dirty="0"/>
              <a:t>int r;</a:t>
            </a:r>
          </a:p>
          <a:p>
            <a:r>
              <a:rPr lang="en-US" sz="2000" b="1" dirty="0"/>
              <a:t>String name;</a:t>
            </a:r>
          </a:p>
          <a:p>
            <a:r>
              <a:rPr lang="en-US" sz="2000" b="1" dirty="0"/>
              <a:t>public static void main(String </a:t>
            </a:r>
            <a:r>
              <a:rPr lang="en-US" sz="2000" b="1" dirty="0" err="1"/>
              <a:t>args</a:t>
            </a:r>
            <a:r>
              <a:rPr lang="en-US" sz="2000" b="1" dirty="0"/>
              <a:t>[]){</a:t>
            </a:r>
          </a:p>
          <a:p>
            <a:r>
              <a:rPr lang="en-US" sz="2000" b="1" dirty="0"/>
              <a:t>try {</a:t>
            </a:r>
          </a:p>
          <a:p>
            <a:r>
              <a:rPr lang="en-US" sz="2000" b="1" dirty="0"/>
              <a:t>Student s1=new Student(); // Creating the object</a:t>
            </a:r>
          </a:p>
          <a:p>
            <a:r>
              <a:rPr lang="en-US" sz="2000" b="1" dirty="0"/>
              <a:t>s1.r=12;</a:t>
            </a:r>
          </a:p>
          <a:p>
            <a:r>
              <a:rPr lang="en-US" sz="2000" b="1" dirty="0"/>
              <a:t>s1.name="Ravi";</a:t>
            </a:r>
          </a:p>
          <a:p>
            <a:r>
              <a:rPr lang="en-US" sz="2000" b="1" dirty="0"/>
              <a:t>//Creating stream and writing the object</a:t>
            </a:r>
          </a:p>
          <a:p>
            <a:r>
              <a:rPr lang="en-US" sz="2000" b="1" dirty="0" err="1"/>
              <a:t>FileOutputStream</a:t>
            </a:r>
            <a:r>
              <a:rPr lang="en-US" sz="2000" b="1" dirty="0"/>
              <a:t> </a:t>
            </a:r>
            <a:r>
              <a:rPr lang="en-US" sz="2000" b="1" dirty="0" err="1"/>
              <a:t>fout</a:t>
            </a:r>
            <a:r>
              <a:rPr lang="en-US" sz="2000" b="1" dirty="0"/>
              <a:t>= new </a:t>
            </a:r>
            <a:r>
              <a:rPr lang="en-US" sz="2000" b="1" dirty="0" err="1"/>
              <a:t>FileOutputStream</a:t>
            </a:r>
            <a:r>
              <a:rPr lang="en-US" sz="2000" b="1" dirty="0"/>
              <a:t>("f1.txt");</a:t>
            </a:r>
          </a:p>
          <a:p>
            <a:r>
              <a:rPr lang="en-US" sz="2000" b="1" dirty="0" err="1"/>
              <a:t>ObjectOutputStream</a:t>
            </a:r>
            <a:r>
              <a:rPr lang="en-US" sz="2000" b="1" dirty="0"/>
              <a:t>  out=new </a:t>
            </a:r>
            <a:r>
              <a:rPr lang="en-US" sz="2000" b="1" dirty="0" err="1"/>
              <a:t>ObjectOutputStream</a:t>
            </a:r>
            <a:r>
              <a:rPr lang="en-US" sz="2000" b="1" dirty="0"/>
              <a:t>(</a:t>
            </a:r>
            <a:r>
              <a:rPr lang="en-US" sz="2000" b="1" dirty="0" err="1"/>
              <a:t>fout</a:t>
            </a:r>
            <a:r>
              <a:rPr lang="en-US" sz="2000" b="1" dirty="0"/>
              <a:t>);</a:t>
            </a:r>
          </a:p>
          <a:p>
            <a:r>
              <a:rPr lang="en-US" sz="2000" b="1" dirty="0" err="1"/>
              <a:t>out.writeObject</a:t>
            </a:r>
            <a:r>
              <a:rPr lang="en-US" sz="2000" b="1" dirty="0"/>
              <a:t>(s1);</a:t>
            </a:r>
          </a:p>
          <a:p>
            <a:r>
              <a:rPr lang="en-US" sz="2000" b="1" dirty="0"/>
              <a:t>out. flush ( ) ;</a:t>
            </a:r>
          </a:p>
          <a:p>
            <a:r>
              <a:rPr lang="en-US" sz="2000" b="1" dirty="0" err="1"/>
              <a:t>out.close</a:t>
            </a:r>
            <a:r>
              <a:rPr lang="en-US" sz="2000" b="1" dirty="0"/>
              <a:t>(); // closing the stream</a:t>
            </a:r>
          </a:p>
          <a:p>
            <a:r>
              <a:rPr lang="en-US" sz="2000" b="1" dirty="0" err="1"/>
              <a:t>System.out.println</a:t>
            </a:r>
            <a:r>
              <a:rPr lang="en-US" sz="2000" b="1" dirty="0"/>
              <a:t>( "success " ) ;  }</a:t>
            </a:r>
          </a:p>
        </p:txBody>
      </p:sp>
    </p:spTree>
    <p:extLst>
      <p:ext uri="{BB962C8B-B14F-4D97-AF65-F5344CB8AC3E}">
        <p14:creationId xmlns:p14="http://schemas.microsoft.com/office/powerpoint/2010/main" val="1266700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A40F0A-FE0B-C76F-3FFE-4B6FCF73039B}"/>
              </a:ext>
            </a:extLst>
          </p:cNvPr>
          <p:cNvSpPr txBox="1"/>
          <p:nvPr/>
        </p:nvSpPr>
        <p:spPr>
          <a:xfrm>
            <a:off x="152400" y="735647"/>
            <a:ext cx="716280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catch(Exception e)</a:t>
            </a:r>
          </a:p>
          <a:p>
            <a:r>
              <a:rPr lang="en-US" sz="2400" b="1" dirty="0"/>
              <a:t>{</a:t>
            </a:r>
          </a:p>
          <a:p>
            <a:r>
              <a:rPr lang="en-US" sz="2400" b="1" dirty="0" err="1"/>
              <a:t>System.out.println</a:t>
            </a:r>
            <a:r>
              <a:rPr lang="en-US" sz="2400" b="1" dirty="0"/>
              <a:t>(e);</a:t>
            </a:r>
          </a:p>
          <a:p>
            <a:r>
              <a:rPr lang="en-US" sz="2400" b="1" dirty="0"/>
              <a:t>}</a:t>
            </a:r>
          </a:p>
          <a:p>
            <a:r>
              <a:rPr lang="en-US" sz="2400" b="1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962567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FA70-A7BA-DCE7-9409-DD1BDBD8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0B65-E8E1-4E74-4DF0-5AA3EE663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20" y="1156716"/>
            <a:ext cx="7231380" cy="1107996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2400" dirty="0"/>
              <a:t>Write a Java program that takes age as input and raise the exception if age is less than 18.(shows the usage of try, catch, throws and finally.)</a:t>
            </a:r>
          </a:p>
        </p:txBody>
      </p:sp>
    </p:spTree>
    <p:extLst>
      <p:ext uri="{BB962C8B-B14F-4D97-AF65-F5344CB8AC3E}">
        <p14:creationId xmlns:p14="http://schemas.microsoft.com/office/powerpoint/2010/main" val="30019582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1B7925-76DD-FD66-245F-941C00757EAF}"/>
              </a:ext>
            </a:extLst>
          </p:cNvPr>
          <p:cNvSpPr txBox="1"/>
          <p:nvPr/>
        </p:nvSpPr>
        <p:spPr>
          <a:xfrm>
            <a:off x="228600" y="3175"/>
            <a:ext cx="7391400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+mn-lt"/>
              </a:rPr>
              <a:t>import </a:t>
            </a:r>
            <a:r>
              <a:rPr lang="en-US" sz="2400" b="1" dirty="0" err="1">
                <a:latin typeface="+mn-lt"/>
              </a:rPr>
              <a:t>java.util.Scanner</a:t>
            </a:r>
            <a:r>
              <a:rPr lang="en-US" sz="2400" b="1" dirty="0">
                <a:latin typeface="+mn-lt"/>
              </a:rPr>
              <a:t>;</a:t>
            </a:r>
          </a:p>
          <a:p>
            <a:r>
              <a:rPr lang="en-US" sz="2400" b="1" dirty="0">
                <a:latin typeface="+mn-lt"/>
              </a:rPr>
              <a:t>class </a:t>
            </a:r>
            <a:r>
              <a:rPr lang="en-US" sz="2400" b="1" dirty="0" err="1">
                <a:latin typeface="+mn-lt"/>
              </a:rPr>
              <a:t>AgeVerify</a:t>
            </a:r>
            <a:r>
              <a:rPr lang="en-US" sz="2400" b="1" dirty="0">
                <a:latin typeface="+mn-lt"/>
              </a:rPr>
              <a:t>{</a:t>
            </a:r>
          </a:p>
          <a:p>
            <a:r>
              <a:rPr lang="en-US" sz="2400" b="1" dirty="0">
                <a:latin typeface="+mn-lt"/>
              </a:rPr>
              <a:t>void vote(int age) 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throws</a:t>
            </a:r>
            <a:r>
              <a:rPr lang="en-US" sz="2400" b="1" dirty="0">
                <a:latin typeface="+mn-lt"/>
              </a:rPr>
              <a:t> </a:t>
            </a:r>
            <a:r>
              <a:rPr lang="en-US" sz="2400" b="1" dirty="0" err="1">
                <a:latin typeface="+mn-lt"/>
              </a:rPr>
              <a:t>IllegalAccessException</a:t>
            </a:r>
            <a:r>
              <a:rPr lang="en-US" sz="2400" b="1" dirty="0">
                <a:latin typeface="+mn-lt"/>
              </a:rPr>
              <a:t>{</a:t>
            </a:r>
          </a:p>
          <a:p>
            <a:r>
              <a:rPr lang="en-US" sz="2400" b="1" dirty="0">
                <a:latin typeface="+mn-lt"/>
              </a:rPr>
              <a:t>try{</a:t>
            </a:r>
          </a:p>
          <a:p>
            <a:r>
              <a:rPr lang="en-US" sz="2400" b="1" dirty="0">
                <a:latin typeface="+mn-lt"/>
              </a:rPr>
              <a:t>if (age &lt; 18){</a:t>
            </a:r>
          </a:p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throw </a:t>
            </a:r>
            <a:r>
              <a:rPr lang="en-US" sz="2400" b="1" dirty="0">
                <a:latin typeface="+mn-lt"/>
              </a:rPr>
              <a:t>new </a:t>
            </a:r>
            <a:r>
              <a:rPr lang="en-US" sz="2400" b="1" dirty="0" err="1">
                <a:latin typeface="+mn-lt"/>
              </a:rPr>
              <a:t>IllegalAccessException</a:t>
            </a:r>
            <a:r>
              <a:rPr lang="en-US" sz="2400" b="1" dirty="0">
                <a:latin typeface="+mn-lt"/>
              </a:rPr>
              <a:t>("You must be at least 18 years old to vote.");</a:t>
            </a:r>
          </a:p>
          <a:p>
            <a:r>
              <a:rPr lang="en-US" sz="2400" b="1" dirty="0">
                <a:latin typeface="+mn-lt"/>
              </a:rPr>
              <a:t>}</a:t>
            </a:r>
          </a:p>
          <a:p>
            <a:r>
              <a:rPr lang="en-US" sz="2400" b="1" dirty="0">
                <a:latin typeface="+mn-lt"/>
              </a:rPr>
              <a:t>else{</a:t>
            </a:r>
          </a:p>
          <a:p>
            <a:r>
              <a:rPr lang="en-US" sz="2400" b="1" dirty="0" err="1">
                <a:latin typeface="+mn-lt"/>
              </a:rPr>
              <a:t>System.out.println</a:t>
            </a:r>
            <a:r>
              <a:rPr lang="en-US" sz="2400" b="1" dirty="0">
                <a:latin typeface="+mn-lt"/>
              </a:rPr>
              <a:t>("You can vote!");</a:t>
            </a:r>
          </a:p>
          <a:p>
            <a:r>
              <a:rPr lang="en-US" sz="2400" b="1" dirty="0">
                <a:latin typeface="+mn-lt"/>
              </a:rPr>
              <a:t>} }</a:t>
            </a:r>
          </a:p>
          <a:p>
            <a:r>
              <a:rPr lang="en-US" sz="2400" b="1" dirty="0">
                <a:latin typeface="+mn-lt"/>
              </a:rPr>
              <a:t>catch(Exception e){</a:t>
            </a:r>
          </a:p>
          <a:p>
            <a:r>
              <a:rPr lang="en-US" sz="2400" b="1" dirty="0" err="1">
                <a:latin typeface="+mn-lt"/>
              </a:rPr>
              <a:t>System.out.println</a:t>
            </a:r>
            <a:r>
              <a:rPr lang="en-US" sz="2400" b="1" dirty="0">
                <a:latin typeface="+mn-lt"/>
              </a:rPr>
              <a:t>("EXCEPTION OCCURED: "+e);</a:t>
            </a:r>
          </a:p>
          <a:p>
            <a:r>
              <a:rPr lang="en-US" sz="2400" b="1" dirty="0">
                <a:latin typeface="+mn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8921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1B7925-76DD-FD66-245F-941C00757EAF}"/>
              </a:ext>
            </a:extLst>
          </p:cNvPr>
          <p:cNvSpPr txBox="1"/>
          <p:nvPr/>
        </p:nvSpPr>
        <p:spPr>
          <a:xfrm>
            <a:off x="152400" y="0"/>
            <a:ext cx="7543800" cy="5047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300" b="1" dirty="0">
                <a:latin typeface="+mn-lt"/>
              </a:rPr>
              <a:t>finally{</a:t>
            </a:r>
          </a:p>
          <a:p>
            <a:r>
              <a:rPr lang="en-US" sz="2300" b="1" dirty="0" err="1">
                <a:latin typeface="+mn-lt"/>
              </a:rPr>
              <a:t>System.out.println</a:t>
            </a:r>
            <a:r>
              <a:rPr lang="en-US" sz="2300" b="1" dirty="0">
                <a:latin typeface="+mn-lt"/>
              </a:rPr>
              <a:t>("Finally age verification done.");</a:t>
            </a:r>
          </a:p>
          <a:p>
            <a:r>
              <a:rPr lang="en-US" sz="2300" b="1" dirty="0">
                <a:latin typeface="+mn-lt"/>
              </a:rPr>
              <a:t>}}}</a:t>
            </a:r>
          </a:p>
          <a:p>
            <a:r>
              <a:rPr lang="en-US" sz="2300" b="1" dirty="0">
                <a:latin typeface="+mn-lt"/>
              </a:rPr>
              <a:t>public class </a:t>
            </a:r>
            <a:r>
              <a:rPr lang="en-US" sz="2300" b="1" dirty="0" err="1">
                <a:latin typeface="+mn-lt"/>
              </a:rPr>
              <a:t>Excep</a:t>
            </a:r>
            <a:r>
              <a:rPr lang="en-US" sz="2300" b="1" dirty="0">
                <a:latin typeface="+mn-lt"/>
              </a:rPr>
              <a:t>{</a:t>
            </a:r>
          </a:p>
          <a:p>
            <a:r>
              <a:rPr lang="en-US" sz="2300" b="1" dirty="0">
                <a:latin typeface="+mn-lt"/>
              </a:rPr>
              <a:t>public static void main(String[] </a:t>
            </a:r>
            <a:r>
              <a:rPr lang="en-US" sz="2300" b="1" dirty="0" err="1">
                <a:latin typeface="+mn-lt"/>
              </a:rPr>
              <a:t>args</a:t>
            </a:r>
            <a:r>
              <a:rPr lang="en-US" sz="2300" b="1" dirty="0">
                <a:latin typeface="+mn-lt"/>
              </a:rPr>
              <a:t>) throws </a:t>
            </a:r>
            <a:r>
              <a:rPr lang="en-US" sz="2300" b="1" dirty="0" err="1">
                <a:latin typeface="+mn-lt"/>
              </a:rPr>
              <a:t>IllegalAccessException</a:t>
            </a:r>
            <a:r>
              <a:rPr lang="en-US" sz="2300" b="1" dirty="0">
                <a:latin typeface="+mn-lt"/>
              </a:rPr>
              <a:t> {</a:t>
            </a:r>
          </a:p>
          <a:p>
            <a:r>
              <a:rPr lang="en-US" sz="2300" b="1" dirty="0">
                <a:latin typeface="+mn-lt"/>
              </a:rPr>
              <a:t>int age;</a:t>
            </a:r>
          </a:p>
          <a:p>
            <a:r>
              <a:rPr lang="en-US" sz="2300" b="1" dirty="0">
                <a:latin typeface="+mn-lt"/>
              </a:rPr>
              <a:t>Scanner </a:t>
            </a:r>
            <a:r>
              <a:rPr lang="en-US" sz="2300" b="1" dirty="0" err="1">
                <a:latin typeface="+mn-lt"/>
              </a:rPr>
              <a:t>sc</a:t>
            </a:r>
            <a:r>
              <a:rPr lang="en-US" sz="2300" b="1" dirty="0">
                <a:latin typeface="+mn-lt"/>
              </a:rPr>
              <a:t>=new Scanner(System.in);</a:t>
            </a:r>
          </a:p>
          <a:p>
            <a:r>
              <a:rPr lang="en-US" sz="2300" b="1" dirty="0" err="1">
                <a:latin typeface="+mn-lt"/>
              </a:rPr>
              <a:t>System.out.println</a:t>
            </a:r>
            <a:r>
              <a:rPr lang="en-US" sz="2300" b="1" dirty="0">
                <a:latin typeface="+mn-lt"/>
              </a:rPr>
              <a:t>("Enter age of voter.");</a:t>
            </a:r>
          </a:p>
          <a:p>
            <a:r>
              <a:rPr lang="en-US" sz="2300" b="1" dirty="0">
                <a:latin typeface="+mn-lt"/>
              </a:rPr>
              <a:t>age=</a:t>
            </a:r>
            <a:r>
              <a:rPr lang="en-US" sz="2300" b="1" dirty="0" err="1">
                <a:latin typeface="+mn-lt"/>
              </a:rPr>
              <a:t>sc.nextInt</a:t>
            </a:r>
            <a:r>
              <a:rPr lang="en-US" sz="2300" b="1" dirty="0">
                <a:latin typeface="+mn-lt"/>
              </a:rPr>
              <a:t>();</a:t>
            </a:r>
          </a:p>
          <a:p>
            <a:r>
              <a:rPr lang="en-US" sz="2300" b="1" dirty="0" err="1">
                <a:latin typeface="+mn-lt"/>
              </a:rPr>
              <a:t>AgeVerify</a:t>
            </a:r>
            <a:r>
              <a:rPr lang="en-US" sz="2300" b="1" dirty="0">
                <a:latin typeface="+mn-lt"/>
              </a:rPr>
              <a:t> av=new </a:t>
            </a:r>
            <a:r>
              <a:rPr lang="en-US" sz="2300" b="1" dirty="0" err="1">
                <a:latin typeface="+mn-lt"/>
              </a:rPr>
              <a:t>AgeVerify</a:t>
            </a:r>
            <a:r>
              <a:rPr lang="en-US" sz="2300" b="1" dirty="0">
                <a:latin typeface="+mn-lt"/>
              </a:rPr>
              <a:t>();</a:t>
            </a:r>
          </a:p>
          <a:p>
            <a:r>
              <a:rPr lang="en-US" sz="2300" b="1" dirty="0" err="1">
                <a:latin typeface="+mn-lt"/>
              </a:rPr>
              <a:t>av.vote</a:t>
            </a:r>
            <a:r>
              <a:rPr lang="en-US" sz="2300" b="1" dirty="0">
                <a:latin typeface="+mn-lt"/>
              </a:rPr>
              <a:t>(age);</a:t>
            </a:r>
          </a:p>
          <a:p>
            <a:r>
              <a:rPr lang="en-US" sz="2300" b="1" dirty="0" err="1">
                <a:latin typeface="+mn-lt"/>
              </a:rPr>
              <a:t>System.out.println</a:t>
            </a:r>
            <a:r>
              <a:rPr lang="en-US" sz="2300" b="1" dirty="0">
                <a:latin typeface="+mn-lt"/>
              </a:rPr>
              <a:t>("Verification completed successfully");</a:t>
            </a:r>
          </a:p>
          <a:p>
            <a:r>
              <a:rPr lang="en-US" sz="2300" b="1" dirty="0">
                <a:latin typeface="+mn-lt"/>
              </a:rPr>
              <a:t>} }</a:t>
            </a:r>
          </a:p>
        </p:txBody>
      </p:sp>
    </p:spTree>
    <p:extLst>
      <p:ext uri="{BB962C8B-B14F-4D97-AF65-F5344CB8AC3E}">
        <p14:creationId xmlns:p14="http://schemas.microsoft.com/office/powerpoint/2010/main" val="24469431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28548"/>
            <a:ext cx="6781800" cy="4370427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		   Working with Files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• Java provides methods to read bytes from a file and  write bytes to a file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Two of the most often used file stream classes are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•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FileInputStream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</a:rPr>
              <a:t>FileInputStream</a:t>
            </a:r>
            <a:r>
              <a:rPr lang="en-US" sz="2400" dirty="0">
                <a:solidFill>
                  <a:schemeClr val="tx1"/>
                </a:solidFill>
              </a:rPr>
              <a:t> class is an input stream to read data  from a file in the form of sequence of bytes</a:t>
            </a:r>
          </a:p>
          <a:p>
            <a:r>
              <a:rPr lang="en-US" sz="2400" dirty="0">
                <a:solidFill>
                  <a:srgbClr val="FF0000"/>
                </a:solidFill>
                <a:latin typeface="+mn-lt"/>
              </a:rPr>
              <a:t>•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FileOutputStream</a:t>
            </a:r>
            <a:endParaRPr lang="en-US" sz="2400" dirty="0">
              <a:solidFill>
                <a:srgbClr val="FF0000"/>
              </a:solidFill>
              <a:latin typeface="+mn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FileOutputStream</a:t>
            </a:r>
            <a:r>
              <a:rPr lang="en-US" sz="2400" dirty="0">
                <a:solidFill>
                  <a:schemeClr val="tx1"/>
                </a:solidFill>
              </a:rPr>
              <a:t> class is an output stream for</a:t>
            </a:r>
          </a:p>
          <a:p>
            <a:r>
              <a:rPr lang="en-US" sz="2400" dirty="0">
                <a:solidFill>
                  <a:schemeClr val="tx1"/>
                </a:solidFill>
                <a:latin typeface="+mn-lt"/>
              </a:rPr>
              <a:t>            writing data to a file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441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400" y="231775"/>
            <a:ext cx="7467600" cy="4062651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tabLst>
                <a:tab pos="177800" algn="l"/>
              </a:tabLst>
            </a:pP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+mn-lt"/>
              </a:rPr>
              <a:t>		To open a file for reading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We have to create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FileInputStream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class object and pass filename as the parameter to the constructor.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• E.g. to open the file Sample.txt for reading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fileobject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;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            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fileobject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= new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(“Sample.txt");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470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400" y="231775"/>
            <a:ext cx="7467600" cy="4062651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tabLst>
                <a:tab pos="177800" algn="l"/>
              </a:tabLst>
            </a:pP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+mn-lt"/>
              </a:rPr>
              <a:t>		To open a file for writing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We have to create </a:t>
            </a:r>
            <a:r>
              <a:rPr lang="en-US" sz="2400" dirty="0" err="1">
                <a:solidFill>
                  <a:srgbClr val="FF0000"/>
                </a:solidFill>
                <a:latin typeface="+mn-lt"/>
              </a:rPr>
              <a:t>FileOutputStream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class object and pass filename as the parameter to the constructor.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• E.g. to open the file Sample.txt for writing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FileOutputStream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fileobject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;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            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fileobject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= new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FileOutputStream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(“Sample.txt");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		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9593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" y="231775"/>
            <a:ext cx="7620000" cy="4062651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>
              <a:tabLst>
                <a:tab pos="177800" algn="l"/>
              </a:tabLst>
            </a:pP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+mn-lt"/>
              </a:rPr>
              <a:t>			Closing a file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• After completing file read or write operations, we should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close the file by calling close( ).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• It is defined by both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and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FileOutputStream</a:t>
            </a: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void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close( )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throws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IOException</a:t>
            </a: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  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5445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" y="0"/>
            <a:ext cx="7620000" cy="4801314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  E.g. to close file Sample.txt opened for reading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fileobject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;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fileobject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= </a:t>
            </a:r>
            <a:r>
              <a:rPr lang="en-US" sz="2400" dirty="0">
                <a:solidFill>
                  <a:srgbClr val="FF0000"/>
                </a:solidFill>
                <a:latin typeface="+mn-lt"/>
              </a:rPr>
              <a:t>new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("Sample.txt");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//statements for reading the file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fileobject.close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();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77898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" y="79375"/>
            <a:ext cx="7696200" cy="4416594"/>
          </a:xfrm>
          <a:ln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sz="2300" dirty="0">
                <a:solidFill>
                  <a:srgbClr val="FF0000"/>
                </a:solidFill>
                <a:latin typeface="+mn-lt"/>
              </a:rPr>
              <a:t>			Read a file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latin typeface="+mn-lt"/>
              </a:rPr>
              <a:t>To read data from a file,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latin typeface="+mn-lt"/>
              </a:rPr>
              <a:t>1.Create 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 class object and pass  filename as the parameter to the constructor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fileobject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;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latin typeface="+mn-lt"/>
              </a:rPr>
              <a:t> 	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fileobject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 = new 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(“Sample.txt");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latin typeface="+mn-lt"/>
              </a:rPr>
              <a:t>2. Use a version of read( ) that is defined within 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FileInputStream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.   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latin typeface="+mn-lt"/>
              </a:rPr>
              <a:t>	int read( ) throws 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IOException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eg.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 int c=</a:t>
            </a:r>
            <a:r>
              <a:rPr lang="en-US" sz="2300" dirty="0" err="1">
                <a:solidFill>
                  <a:schemeClr val="tx1"/>
                </a:solidFill>
                <a:latin typeface="+mn-lt"/>
              </a:rPr>
              <a:t>fileobj.read</a:t>
            </a:r>
            <a:r>
              <a:rPr lang="en-US" sz="2300" dirty="0">
                <a:solidFill>
                  <a:schemeClr val="tx1"/>
                </a:solidFill>
                <a:latin typeface="+mn-lt"/>
              </a:rPr>
              <a:t>();</a:t>
            </a:r>
          </a:p>
          <a:p>
            <a:pPr algn="l"/>
            <a:r>
              <a:rPr lang="en-US" sz="2300" dirty="0">
                <a:solidFill>
                  <a:schemeClr val="tx1"/>
                </a:solidFill>
                <a:latin typeface="+mn-lt"/>
              </a:rPr>
              <a:t>• Each time read() called, it reads a single byte from the file and returns the byte as an integer value.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/>
              </a:rPr>
              <a:t>read( ) returns  –1 when the end of the file is encountered.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+mn-lt"/>
              </a:rPr>
              <a:t> read() can throw an </a:t>
            </a:r>
            <a:r>
              <a:rPr lang="en-US" sz="1700" dirty="0" err="1">
                <a:solidFill>
                  <a:schemeClr val="tx1"/>
                </a:solidFill>
                <a:latin typeface="+mn-lt"/>
              </a:rPr>
              <a:t>IOException</a:t>
            </a:r>
            <a:endParaRPr lang="en-US" sz="17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8046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C17B4-C46E-9D94-08F7-C63B1F0DC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" y="220107"/>
            <a:ext cx="7620000" cy="4888468"/>
          </a:xfrm>
          <a:ln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import java.io.*;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class </a:t>
            </a:r>
            <a:r>
              <a:rPr lang="en-US" sz="2000" b="1" dirty="0" err="1">
                <a:solidFill>
                  <a:schemeClr val="tx1"/>
                </a:solidFill>
              </a:rPr>
              <a:t>Readfile</a:t>
            </a:r>
            <a:r>
              <a:rPr lang="en-US" sz="2000" b="1" dirty="0">
                <a:solidFill>
                  <a:schemeClr val="tx1"/>
                </a:solidFill>
              </a:rPr>
              <a:t>{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public static void main(String </a:t>
            </a:r>
            <a:r>
              <a:rPr lang="en-US" sz="2000" b="1" dirty="0" err="1">
                <a:solidFill>
                  <a:schemeClr val="tx1"/>
                </a:solidFill>
              </a:rPr>
              <a:t>arg</a:t>
            </a:r>
            <a:r>
              <a:rPr lang="en-US" sz="2000" b="1" dirty="0">
                <a:solidFill>
                  <a:schemeClr val="tx1"/>
                </a:solidFill>
              </a:rPr>
              <a:t>[]) throws </a:t>
            </a:r>
            <a:r>
              <a:rPr lang="en-US" sz="2000" b="1" dirty="0" err="1">
                <a:solidFill>
                  <a:schemeClr val="tx1"/>
                </a:solidFill>
              </a:rPr>
              <a:t>IOException</a:t>
            </a:r>
            <a:r>
              <a:rPr lang="en-US" sz="2000" b="1" dirty="0">
                <a:solidFill>
                  <a:schemeClr val="tx1"/>
                </a:solidFill>
              </a:rPr>
              <a:t> {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</a:t>
            </a:r>
            <a:r>
              <a:rPr lang="en-US" sz="2000" b="1" dirty="0" err="1">
                <a:solidFill>
                  <a:schemeClr val="tx1"/>
                </a:solidFill>
              </a:rPr>
              <a:t>FileInputStream</a:t>
            </a:r>
            <a:r>
              <a:rPr lang="en-US" sz="2000" b="1" dirty="0">
                <a:solidFill>
                  <a:schemeClr val="tx1"/>
                </a:solidFill>
              </a:rPr>
              <a:t> f=null;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try {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 f= new </a:t>
            </a:r>
            <a:r>
              <a:rPr lang="en-US" sz="2000" b="1" dirty="0" err="1">
                <a:solidFill>
                  <a:schemeClr val="tx1"/>
                </a:solidFill>
              </a:rPr>
              <a:t>FileInputStream</a:t>
            </a:r>
            <a:r>
              <a:rPr lang="en-US" sz="2000" b="1" dirty="0">
                <a:solidFill>
                  <a:schemeClr val="tx1"/>
                </a:solidFill>
              </a:rPr>
              <a:t>("Sample.txt");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int c;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do{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  c=</a:t>
            </a:r>
            <a:r>
              <a:rPr lang="en-US" sz="2000" b="1" dirty="0" err="1">
                <a:solidFill>
                  <a:schemeClr val="tx1"/>
                </a:solidFill>
              </a:rPr>
              <a:t>f.read</a:t>
            </a:r>
            <a:r>
              <a:rPr lang="en-US" sz="2000" b="1" dirty="0">
                <a:solidFill>
                  <a:schemeClr val="tx1"/>
                </a:solidFill>
              </a:rPr>
              <a:t>(); </a:t>
            </a:r>
            <a:r>
              <a:rPr lang="en-US" sz="2000" b="1" dirty="0">
                <a:solidFill>
                  <a:srgbClr val="FF0000"/>
                </a:solidFill>
              </a:rPr>
              <a:t>//read one byte from  file and store in integer variable c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  if(c!=-1)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   {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    </a:t>
            </a:r>
            <a:r>
              <a:rPr lang="en-US" sz="2000" b="1" dirty="0" err="1">
                <a:solidFill>
                  <a:schemeClr val="tx1"/>
                </a:solidFill>
              </a:rPr>
              <a:t>System.out.print</a:t>
            </a:r>
            <a:r>
              <a:rPr lang="en-US" sz="2000" b="1" dirty="0">
                <a:solidFill>
                  <a:schemeClr val="tx1"/>
                </a:solidFill>
              </a:rPr>
              <a:t>((char)c);</a:t>
            </a:r>
            <a:r>
              <a:rPr lang="en-US" sz="2000" b="1" dirty="0">
                <a:solidFill>
                  <a:srgbClr val="FF0000"/>
                </a:solidFill>
              </a:rPr>
              <a:t>// convert int to character and print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 }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} while(c!=-1);  </a:t>
            </a:r>
            <a:r>
              <a:rPr lang="en-US" sz="2000" b="1" dirty="0">
                <a:solidFill>
                  <a:srgbClr val="FF0000"/>
                </a:solidFill>
              </a:rPr>
              <a:t>//continues till end of file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C6791-9748-35BD-ED08-3B20C1D643E7}"/>
              </a:ext>
            </a:extLst>
          </p:cNvPr>
          <p:cNvSpPr txBox="1"/>
          <p:nvPr/>
        </p:nvSpPr>
        <p:spPr>
          <a:xfrm>
            <a:off x="0" y="-73025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</a:rPr>
              <a:t>//Write a program to read &amp;display the contents in the file Sample.txt</a:t>
            </a:r>
          </a:p>
        </p:txBody>
      </p:sp>
    </p:spTree>
    <p:extLst>
      <p:ext uri="{BB962C8B-B14F-4D97-AF65-F5344CB8AC3E}">
        <p14:creationId xmlns:p14="http://schemas.microsoft.com/office/powerpoint/2010/main" val="11539719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C17B4-C46E-9D94-08F7-C63B1F0DC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8600" y="323393"/>
            <a:ext cx="6629400" cy="3323987"/>
          </a:xfrm>
          <a:ln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sz="2400" b="1" dirty="0">
                <a:solidFill>
                  <a:schemeClr val="tx1"/>
                </a:solidFill>
              </a:rPr>
              <a:t>catch(</a:t>
            </a:r>
            <a:r>
              <a:rPr lang="en-US" sz="2400" b="1" dirty="0" err="1">
                <a:solidFill>
                  <a:schemeClr val="tx1"/>
                </a:solidFill>
              </a:rPr>
              <a:t>FileNotFoundException</a:t>
            </a:r>
            <a:r>
              <a:rPr lang="en-US" sz="2400" b="1" dirty="0">
                <a:solidFill>
                  <a:schemeClr val="tx1"/>
                </a:solidFill>
              </a:rPr>
              <a:t> e) 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{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   </a:t>
            </a:r>
            <a:r>
              <a:rPr lang="en-US" sz="2400" b="1" dirty="0" err="1">
                <a:solidFill>
                  <a:schemeClr val="tx1"/>
                </a:solidFill>
              </a:rPr>
              <a:t>System.out.println</a:t>
            </a:r>
            <a:r>
              <a:rPr lang="en-US" sz="2400" b="1" dirty="0">
                <a:solidFill>
                  <a:schemeClr val="tx1"/>
                </a:solidFill>
              </a:rPr>
              <a:t>("File not found");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   return;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 }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f.close</a:t>
            </a:r>
            <a:r>
              <a:rPr lang="en-US" sz="2400" b="1" dirty="0">
                <a:solidFill>
                  <a:schemeClr val="tx1"/>
                </a:solidFill>
              </a:rPr>
              <a:t>();  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 }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}</a:t>
            </a:r>
          </a:p>
          <a:p>
            <a:pPr algn="l"/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6942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" y="107950"/>
            <a:ext cx="7620000" cy="467820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600" dirty="0">
                <a:solidFill>
                  <a:srgbClr val="FF0000"/>
                </a:solidFill>
              </a:rPr>
              <a:t>		</a:t>
            </a:r>
            <a:r>
              <a:rPr lang="en-US" sz="2400" dirty="0">
                <a:solidFill>
                  <a:srgbClr val="FF0000"/>
                </a:solidFill>
              </a:rPr>
              <a:t>Steps to write data to a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To write data to a file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1.Create </a:t>
            </a:r>
            <a:r>
              <a:rPr lang="en-US" sz="2400" dirty="0" err="1">
                <a:solidFill>
                  <a:schemeClr val="tx1"/>
                </a:solidFill>
              </a:rPr>
              <a:t>FileOutputStream</a:t>
            </a:r>
            <a:r>
              <a:rPr lang="en-US" sz="2400" dirty="0">
                <a:solidFill>
                  <a:schemeClr val="tx1"/>
                </a:solidFill>
              </a:rPr>
              <a:t> class object and pass filename as the parameter to the constructor.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2. Using write function store the byte value in file.</a:t>
            </a:r>
          </a:p>
          <a:p>
            <a:pPr lvl="1"/>
            <a:r>
              <a:rPr lang="en-US" sz="2400" dirty="0" err="1">
                <a:solidFill>
                  <a:schemeClr val="tx1"/>
                </a:solidFill>
              </a:rPr>
              <a:t>Eg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 int c=65;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FileOutputStream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fileobject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fileobject</a:t>
            </a:r>
            <a:r>
              <a:rPr lang="en-US" sz="2400" dirty="0">
                <a:solidFill>
                  <a:schemeClr val="tx1"/>
                </a:solidFill>
              </a:rPr>
              <a:t> = new </a:t>
            </a:r>
            <a:r>
              <a:rPr lang="en-US" sz="2400" dirty="0" err="1">
                <a:solidFill>
                  <a:schemeClr val="tx1"/>
                </a:solidFill>
              </a:rPr>
              <a:t>FileOutputStream</a:t>
            </a:r>
            <a:r>
              <a:rPr lang="en-US" sz="2400" dirty="0">
                <a:solidFill>
                  <a:schemeClr val="tx1"/>
                </a:solidFill>
              </a:rPr>
              <a:t>(“Sample.txt");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fileobject.write</a:t>
            </a:r>
            <a:r>
              <a:rPr lang="en-US" sz="2400" dirty="0">
                <a:solidFill>
                  <a:schemeClr val="tx1"/>
                </a:solidFill>
              </a:rPr>
              <a:t>(c); </a:t>
            </a:r>
          </a:p>
          <a:p>
            <a:pPr algn="just"/>
            <a:endParaRPr lang="en-US" sz="16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2625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8600" y="231775"/>
            <a:ext cx="7391400" cy="4725114"/>
          </a:xfrm>
          <a:ln>
            <a:solidFill>
              <a:schemeClr val="tx1"/>
            </a:solidFill>
          </a:ln>
        </p:spPr>
        <p:txBody>
          <a:bodyPr/>
          <a:lstStyle/>
          <a:p>
            <a:pPr algn="just"/>
            <a:r>
              <a:rPr lang="en-US" sz="2400" b="1" dirty="0">
                <a:solidFill>
                  <a:schemeClr val="tx1"/>
                </a:solidFill>
              </a:rPr>
              <a:t>import java.io.*;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class </a:t>
            </a:r>
            <a:r>
              <a:rPr lang="en-US" sz="2400" b="1" dirty="0" err="1">
                <a:solidFill>
                  <a:schemeClr val="tx1"/>
                </a:solidFill>
              </a:rPr>
              <a:t>Filecopy</a:t>
            </a:r>
            <a:endParaRPr lang="en-US" sz="2400" b="1" dirty="0">
              <a:solidFill>
                <a:schemeClr val="tx1"/>
              </a:solidFill>
            </a:endParaRP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{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public static void main(String </a:t>
            </a:r>
            <a:r>
              <a:rPr lang="en-US" sz="2400" b="1" dirty="0" err="1">
                <a:solidFill>
                  <a:schemeClr val="tx1"/>
                </a:solidFill>
              </a:rPr>
              <a:t>args</a:t>
            </a:r>
            <a:r>
              <a:rPr lang="en-US" sz="2400" b="1" dirty="0">
                <a:solidFill>
                  <a:schemeClr val="tx1"/>
                </a:solidFill>
              </a:rPr>
              <a:t>[]) throws </a:t>
            </a:r>
            <a:r>
              <a:rPr lang="en-US" sz="2400" b="1" dirty="0" err="1">
                <a:solidFill>
                  <a:schemeClr val="tx1"/>
                </a:solidFill>
              </a:rPr>
              <a:t>IOException</a:t>
            </a:r>
            <a:endParaRPr lang="en-US" sz="2400" b="1" dirty="0">
              <a:solidFill>
                <a:schemeClr val="tx1"/>
              </a:solidFill>
            </a:endParaRP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{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FileInputStream</a:t>
            </a:r>
            <a:r>
              <a:rPr lang="en-US" sz="2400" b="1" dirty="0">
                <a:solidFill>
                  <a:schemeClr val="tx1"/>
                </a:solidFill>
              </a:rPr>
              <a:t> f1=null;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FileOutputStream</a:t>
            </a:r>
            <a:r>
              <a:rPr lang="en-US" sz="2400" b="1" dirty="0">
                <a:solidFill>
                  <a:schemeClr val="tx1"/>
                </a:solidFill>
              </a:rPr>
              <a:t> f2=null;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 try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 {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   f1=new </a:t>
            </a:r>
            <a:r>
              <a:rPr lang="en-US" sz="2400" b="1" dirty="0" err="1">
                <a:solidFill>
                  <a:schemeClr val="tx1"/>
                </a:solidFill>
              </a:rPr>
              <a:t>FileInputStream</a:t>
            </a:r>
            <a:r>
              <a:rPr lang="en-US" sz="2400" b="1" dirty="0">
                <a:solidFill>
                  <a:schemeClr val="tx1"/>
                </a:solidFill>
              </a:rPr>
              <a:t>("test.txt");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   f2= new </a:t>
            </a:r>
            <a:r>
              <a:rPr lang="en-US" sz="2400" b="1" dirty="0" err="1">
                <a:solidFill>
                  <a:schemeClr val="tx1"/>
                </a:solidFill>
              </a:rPr>
              <a:t>FileOutputStream</a:t>
            </a:r>
            <a:r>
              <a:rPr lang="en-US" sz="2400" b="1" dirty="0">
                <a:solidFill>
                  <a:schemeClr val="tx1"/>
                </a:solidFill>
              </a:rPr>
              <a:t>("cp.txt");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   int c;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</a:rPr>
              <a:t>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8EA89-7928-E3C9-40C9-D6CBDAEF1E02}"/>
              </a:ext>
            </a:extLst>
          </p:cNvPr>
          <p:cNvSpPr txBox="1"/>
          <p:nvPr/>
        </p:nvSpPr>
        <p:spPr>
          <a:xfrm>
            <a:off x="304800" y="-61357"/>
            <a:ext cx="693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</a:rPr>
              <a:t>//Program to copy contents from test.txt to cp.txt</a:t>
            </a:r>
          </a:p>
        </p:txBody>
      </p:sp>
    </p:spTree>
    <p:extLst>
      <p:ext uri="{BB962C8B-B14F-4D97-AF65-F5344CB8AC3E}">
        <p14:creationId xmlns:p14="http://schemas.microsoft.com/office/powerpoint/2010/main" val="2853015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49B4E-CBB7-A350-EDDB-FE0CD900699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57200" y="104973"/>
            <a:ext cx="6629400" cy="4851202"/>
          </a:xfrm>
          <a:ln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do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{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c=f1 .read();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if(c!=-1)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{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 f2.write((char)c);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 </a:t>
            </a:r>
            <a:r>
              <a:rPr lang="en-US" sz="2000" b="1" dirty="0" err="1">
                <a:solidFill>
                  <a:schemeClr val="tx1"/>
                </a:solidFill>
              </a:rPr>
              <a:t>System.out.print</a:t>
            </a:r>
            <a:r>
              <a:rPr lang="en-US" sz="2000" b="1" dirty="0">
                <a:solidFill>
                  <a:schemeClr val="tx1"/>
                </a:solidFill>
              </a:rPr>
              <a:t>((char)c);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   }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  }while(c!=-1);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}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catch(</a:t>
            </a:r>
            <a:r>
              <a:rPr lang="en-US" sz="2000" b="1" dirty="0" err="1">
                <a:solidFill>
                  <a:schemeClr val="tx1"/>
                </a:solidFill>
              </a:rPr>
              <a:t>FileNotFoundException</a:t>
            </a:r>
            <a:r>
              <a:rPr lang="en-US" sz="2000" b="1" dirty="0">
                <a:solidFill>
                  <a:schemeClr val="tx1"/>
                </a:solidFill>
              </a:rPr>
              <a:t> e){</a:t>
            </a:r>
          </a:p>
          <a:p>
            <a:pPr algn="l"/>
            <a:r>
              <a:rPr lang="en-US" sz="2000" b="1" dirty="0" err="1">
                <a:solidFill>
                  <a:schemeClr val="tx1"/>
                </a:solidFill>
              </a:rPr>
              <a:t>System.out.println</a:t>
            </a:r>
            <a:r>
              <a:rPr lang="en-US" sz="2000" b="1" dirty="0">
                <a:solidFill>
                  <a:schemeClr val="tx1"/>
                </a:solidFill>
              </a:rPr>
              <a:t>("</a:t>
            </a:r>
            <a:r>
              <a:rPr lang="en-US" sz="2000" b="1" dirty="0" err="1">
                <a:solidFill>
                  <a:schemeClr val="tx1"/>
                </a:solidFill>
              </a:rPr>
              <a:t>Filenotfound</a:t>
            </a:r>
            <a:r>
              <a:rPr lang="en-US" sz="2000" b="1" dirty="0">
                <a:solidFill>
                  <a:schemeClr val="tx1"/>
                </a:solidFill>
              </a:rPr>
              <a:t>");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return;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 }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f1 .close();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f2.close(); }}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2209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5CDD-3ABB-9224-9D15-1478E3BA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" y="612775"/>
            <a:ext cx="3733800" cy="37338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import java. io.* ;</a:t>
            </a:r>
          </a:p>
          <a:p>
            <a:r>
              <a:rPr lang="en-US" sz="2000" dirty="0">
                <a:solidFill>
                  <a:schemeClr val="tx1"/>
                </a:solidFill>
              </a:rPr>
              <a:t>class </a:t>
            </a:r>
            <a:r>
              <a:rPr lang="en-US" sz="2000" dirty="0" err="1">
                <a:solidFill>
                  <a:schemeClr val="tx1"/>
                </a:solidFill>
              </a:rPr>
              <a:t>Readcommandline</a:t>
            </a:r>
            <a:r>
              <a:rPr lang="en-US" sz="2000" dirty="0">
                <a:solidFill>
                  <a:schemeClr val="tx1"/>
                </a:solidFill>
              </a:rPr>
              <a:t>{</a:t>
            </a:r>
          </a:p>
          <a:p>
            <a:r>
              <a:rPr lang="en-US" sz="2000" dirty="0">
                <a:solidFill>
                  <a:schemeClr val="tx1"/>
                </a:solidFill>
              </a:rPr>
              <a:t>public static void main(String </a:t>
            </a:r>
            <a:r>
              <a:rPr lang="en-US" sz="2000" dirty="0" err="1">
                <a:solidFill>
                  <a:schemeClr val="tx1"/>
                </a:solidFill>
              </a:rPr>
              <a:t>arg</a:t>
            </a:r>
            <a:r>
              <a:rPr lang="en-US" sz="2000" dirty="0">
                <a:solidFill>
                  <a:schemeClr val="tx1"/>
                </a:solidFill>
              </a:rPr>
              <a:t>[]) throws </a:t>
            </a:r>
            <a:r>
              <a:rPr lang="en-US" sz="2000" dirty="0" err="1">
                <a:solidFill>
                  <a:schemeClr val="tx1"/>
                </a:solidFill>
              </a:rPr>
              <a:t>IOException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{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FileInputStream</a:t>
            </a:r>
            <a:r>
              <a:rPr lang="en-US" sz="2000" dirty="0">
                <a:solidFill>
                  <a:schemeClr val="tx1"/>
                </a:solidFill>
              </a:rPr>
              <a:t> f=null;</a:t>
            </a:r>
          </a:p>
          <a:p>
            <a:r>
              <a:rPr lang="en-US" sz="2000" dirty="0">
                <a:solidFill>
                  <a:schemeClr val="tx1"/>
                </a:solidFill>
              </a:rPr>
              <a:t>try</a:t>
            </a:r>
          </a:p>
          <a:p>
            <a:r>
              <a:rPr lang="en-US" sz="2000" dirty="0">
                <a:solidFill>
                  <a:schemeClr val="tx1"/>
                </a:solidFill>
              </a:rPr>
              <a:t>{</a:t>
            </a:r>
          </a:p>
          <a:p>
            <a:r>
              <a:rPr lang="en-US" sz="2000" dirty="0">
                <a:solidFill>
                  <a:srgbClr val="FF0000"/>
                </a:solidFill>
              </a:rPr>
              <a:t>f= new </a:t>
            </a:r>
            <a:r>
              <a:rPr lang="en-US" sz="2000" dirty="0" err="1">
                <a:solidFill>
                  <a:srgbClr val="FF0000"/>
                </a:solidFill>
              </a:rPr>
              <a:t>FileInputStream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dirty="0" err="1">
                <a:solidFill>
                  <a:srgbClr val="FF0000"/>
                </a:solidFill>
              </a:rPr>
              <a:t>arg</a:t>
            </a:r>
            <a:r>
              <a:rPr lang="en-US" sz="2000" dirty="0">
                <a:solidFill>
                  <a:srgbClr val="FF0000"/>
                </a:solidFill>
              </a:rPr>
              <a:t>[0]);</a:t>
            </a:r>
          </a:p>
          <a:p>
            <a:r>
              <a:rPr lang="en-US" sz="2000" dirty="0">
                <a:solidFill>
                  <a:schemeClr val="tx1"/>
                </a:solidFill>
              </a:rPr>
              <a:t>int c;</a:t>
            </a:r>
          </a:p>
          <a:p>
            <a:pPr algn="just"/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49B4E-CBB7-A350-EDDB-FE0CD9006993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3810000" y="612775"/>
            <a:ext cx="3886200" cy="42672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do{</a:t>
            </a:r>
          </a:p>
          <a:p>
            <a:r>
              <a:rPr lang="en-US" sz="2000" dirty="0">
                <a:solidFill>
                  <a:schemeClr val="tx1"/>
                </a:solidFill>
              </a:rPr>
              <a:t>c=</a:t>
            </a:r>
            <a:r>
              <a:rPr lang="en-US" sz="2000" dirty="0" err="1">
                <a:solidFill>
                  <a:schemeClr val="tx1"/>
                </a:solidFill>
              </a:rPr>
              <a:t>f.read</a:t>
            </a:r>
            <a:r>
              <a:rPr lang="en-US" sz="2000" dirty="0">
                <a:solidFill>
                  <a:schemeClr val="tx1"/>
                </a:solidFill>
              </a:rPr>
              <a:t>();</a:t>
            </a:r>
          </a:p>
          <a:p>
            <a:r>
              <a:rPr lang="en-US" sz="2000" dirty="0">
                <a:solidFill>
                  <a:schemeClr val="tx1"/>
                </a:solidFill>
              </a:rPr>
              <a:t>if(c!=-1)</a:t>
            </a:r>
          </a:p>
          <a:p>
            <a:r>
              <a:rPr lang="en-US" sz="2000" dirty="0">
                <a:solidFill>
                  <a:schemeClr val="tx1"/>
                </a:solidFill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 err="1">
                <a:solidFill>
                  <a:schemeClr val="tx1"/>
                </a:solidFill>
              </a:rPr>
              <a:t>System.out.print</a:t>
            </a:r>
            <a:r>
              <a:rPr lang="en-US" sz="2000" dirty="0">
                <a:solidFill>
                  <a:schemeClr val="tx1"/>
                </a:solidFill>
              </a:rPr>
              <a:t>((char)c); </a:t>
            </a:r>
          </a:p>
          <a:p>
            <a:r>
              <a:rPr lang="en-US" sz="2000" dirty="0">
                <a:solidFill>
                  <a:schemeClr val="tx1"/>
                </a:solidFill>
              </a:rPr>
              <a:t> }</a:t>
            </a:r>
          </a:p>
          <a:p>
            <a:r>
              <a:rPr lang="en-US" sz="2000" dirty="0">
                <a:solidFill>
                  <a:schemeClr val="tx1"/>
                </a:solidFill>
              </a:rPr>
              <a:t> }while(c!=-1);</a:t>
            </a:r>
          </a:p>
          <a:p>
            <a:r>
              <a:rPr lang="en-US" sz="2000" dirty="0">
                <a:solidFill>
                  <a:schemeClr val="tx1"/>
                </a:solidFill>
              </a:rPr>
              <a:t>}</a:t>
            </a:r>
          </a:p>
          <a:p>
            <a:r>
              <a:rPr lang="en-US" sz="2000" dirty="0">
                <a:solidFill>
                  <a:schemeClr val="tx1"/>
                </a:solidFill>
              </a:rPr>
              <a:t>catch(</a:t>
            </a:r>
            <a:r>
              <a:rPr lang="en-US" sz="2000" dirty="0" err="1">
                <a:solidFill>
                  <a:schemeClr val="tx1"/>
                </a:solidFill>
              </a:rPr>
              <a:t>FileNotFoundException</a:t>
            </a:r>
            <a:r>
              <a:rPr lang="en-US" sz="2000" dirty="0">
                <a:solidFill>
                  <a:schemeClr val="tx1"/>
                </a:solidFill>
              </a:rPr>
              <a:t> e)</a:t>
            </a:r>
          </a:p>
          <a:p>
            <a:r>
              <a:rPr lang="en-US" sz="2000" dirty="0">
                <a:solidFill>
                  <a:schemeClr val="tx1"/>
                </a:solidFill>
              </a:rPr>
              <a:t>{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System.out.print</a:t>
            </a:r>
            <a:r>
              <a:rPr lang="en-US" sz="2000" dirty="0">
                <a:solidFill>
                  <a:schemeClr val="tx1"/>
                </a:solidFill>
              </a:rPr>
              <a:t>("File not found");</a:t>
            </a:r>
          </a:p>
          <a:p>
            <a:r>
              <a:rPr lang="en-US" sz="2000" dirty="0">
                <a:solidFill>
                  <a:schemeClr val="tx1"/>
                </a:solidFill>
              </a:rPr>
              <a:t>return;</a:t>
            </a:r>
          </a:p>
          <a:p>
            <a:r>
              <a:rPr lang="en-US" sz="2000" dirty="0">
                <a:solidFill>
                  <a:schemeClr val="tx1"/>
                </a:solidFill>
              </a:rPr>
              <a:t>}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f.close</a:t>
            </a:r>
            <a:r>
              <a:rPr lang="en-US" sz="2000" dirty="0">
                <a:solidFill>
                  <a:schemeClr val="tx1"/>
                </a:solidFill>
              </a:rPr>
              <a:t>(); }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8EA89-7928-E3C9-40C9-D6CBDAEF1E02}"/>
              </a:ext>
            </a:extLst>
          </p:cNvPr>
          <p:cNvSpPr txBox="1"/>
          <p:nvPr/>
        </p:nvSpPr>
        <p:spPr>
          <a:xfrm>
            <a:off x="304800" y="-61357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//Program to read file when file name given as command line argument</a:t>
            </a:r>
          </a:p>
          <a:p>
            <a:pPr algn="just"/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65B4D-E93A-E0F1-2B95-27E5CB482E72}"/>
              </a:ext>
            </a:extLst>
          </p:cNvPr>
          <p:cNvSpPr txBox="1"/>
          <p:nvPr/>
        </p:nvSpPr>
        <p:spPr>
          <a:xfrm>
            <a:off x="0" y="4346575"/>
            <a:ext cx="381000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Execution:</a:t>
            </a:r>
          </a:p>
          <a:p>
            <a:r>
              <a:rPr lang="en-US" dirty="0"/>
              <a:t> java </a:t>
            </a:r>
            <a:r>
              <a:rPr lang="en-US" dirty="0" err="1"/>
              <a:t>Readcommandline</a:t>
            </a:r>
            <a:r>
              <a:rPr lang="en-US" dirty="0"/>
              <a:t> test.txt</a:t>
            </a:r>
          </a:p>
        </p:txBody>
      </p:sp>
    </p:spTree>
    <p:extLst>
      <p:ext uri="{BB962C8B-B14F-4D97-AF65-F5344CB8AC3E}">
        <p14:creationId xmlns:p14="http://schemas.microsoft.com/office/powerpoint/2010/main" val="33914527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3868-9A67-793E-B390-0B432B306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20" y="307975"/>
            <a:ext cx="7078980" cy="332398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			</a:t>
            </a:r>
            <a:r>
              <a:rPr lang="en-US" sz="2400" dirty="0" err="1">
                <a:solidFill>
                  <a:schemeClr val="tx1"/>
                </a:solidFill>
              </a:rPr>
              <a:t>FileReader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dirty="0" err="1">
                <a:solidFill>
                  <a:schemeClr val="tx1"/>
                </a:solidFill>
              </a:rPr>
              <a:t>FileReader</a:t>
            </a:r>
            <a:r>
              <a:rPr lang="en-US" sz="2400" dirty="0">
                <a:solidFill>
                  <a:schemeClr val="tx1"/>
                </a:solidFill>
              </a:rPr>
              <a:t> class creates a Reader that we can use to read the contents of a file.</a:t>
            </a:r>
          </a:p>
          <a:p>
            <a:r>
              <a:rPr lang="en-US" sz="2400" dirty="0">
                <a:solidFill>
                  <a:schemeClr val="tx1"/>
                </a:solidFill>
              </a:rPr>
              <a:t>• Its two most commonly used constructors are:</a:t>
            </a:r>
          </a:p>
          <a:p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dirty="0" err="1">
                <a:solidFill>
                  <a:schemeClr val="tx1"/>
                </a:solidFill>
              </a:rPr>
              <a:t>FileReader</a:t>
            </a:r>
            <a:r>
              <a:rPr lang="en-US" sz="2400" dirty="0">
                <a:solidFill>
                  <a:schemeClr val="tx1"/>
                </a:solidFill>
              </a:rPr>
              <a:t>(String </a:t>
            </a:r>
            <a:r>
              <a:rPr lang="en-US" sz="2400" dirty="0" err="1">
                <a:solidFill>
                  <a:schemeClr val="tx1"/>
                </a:solidFill>
              </a:rPr>
              <a:t>filePath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dirty="0" err="1">
                <a:solidFill>
                  <a:schemeClr val="tx1"/>
                </a:solidFill>
              </a:rPr>
              <a:t>FileReader</a:t>
            </a:r>
            <a:r>
              <a:rPr lang="en-US" sz="2400" dirty="0">
                <a:solidFill>
                  <a:schemeClr val="tx1"/>
                </a:solidFill>
              </a:rPr>
              <a:t>(File </a:t>
            </a:r>
            <a:r>
              <a:rPr lang="en-US" sz="2400" dirty="0" err="1">
                <a:solidFill>
                  <a:schemeClr val="tx1"/>
                </a:solidFill>
              </a:rPr>
              <a:t>fileObj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They can throw a </a:t>
            </a:r>
            <a:r>
              <a:rPr lang="en-US" sz="2400" dirty="0" err="1">
                <a:solidFill>
                  <a:schemeClr val="tx1"/>
                </a:solidFill>
              </a:rPr>
              <a:t>FileNotFoundException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filePath</a:t>
            </a:r>
            <a:r>
              <a:rPr lang="en-US" sz="2400" dirty="0">
                <a:solidFill>
                  <a:schemeClr val="tx1"/>
                </a:solidFill>
              </a:rPr>
              <a:t> is the full path name of a file, and </a:t>
            </a:r>
            <a:r>
              <a:rPr lang="en-US" sz="2400" dirty="0" err="1">
                <a:solidFill>
                  <a:schemeClr val="tx1"/>
                </a:solidFill>
              </a:rPr>
              <a:t>fileObj</a:t>
            </a:r>
            <a:r>
              <a:rPr lang="en-US" sz="2400" dirty="0">
                <a:solidFill>
                  <a:schemeClr val="tx1"/>
                </a:solidFill>
              </a:rPr>
              <a:t> is a File object that describes the file.</a:t>
            </a:r>
          </a:p>
        </p:txBody>
      </p:sp>
    </p:spTree>
    <p:extLst>
      <p:ext uri="{BB962C8B-B14F-4D97-AF65-F5344CB8AC3E}">
        <p14:creationId xmlns:p14="http://schemas.microsoft.com/office/powerpoint/2010/main" val="22269070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3868-9A67-793E-B390-0B432B306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20" y="90329"/>
            <a:ext cx="7078980" cy="5170646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			</a:t>
            </a:r>
            <a:r>
              <a:rPr lang="en-US" sz="2400" dirty="0" err="1">
                <a:solidFill>
                  <a:schemeClr val="tx1"/>
                </a:solidFill>
              </a:rPr>
              <a:t>FileWriter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</a:rPr>
              <a:t>FileWriter</a:t>
            </a:r>
            <a:r>
              <a:rPr lang="en-US" sz="2400" dirty="0">
                <a:solidFill>
                  <a:schemeClr val="tx1"/>
                </a:solidFill>
              </a:rPr>
              <a:t> creates a Writer that you can use to write to a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Its most commonly used constructors are: </a:t>
            </a:r>
            <a:r>
              <a:rPr lang="en-US" sz="2400" dirty="0" err="1">
                <a:solidFill>
                  <a:schemeClr val="tx1"/>
                </a:solidFill>
              </a:rPr>
              <a:t>FileWriter</a:t>
            </a:r>
            <a:r>
              <a:rPr lang="en-US" sz="2400" dirty="0">
                <a:solidFill>
                  <a:schemeClr val="tx1"/>
                </a:solidFill>
              </a:rPr>
              <a:t>(String </a:t>
            </a:r>
            <a:r>
              <a:rPr lang="en-US" sz="2400" dirty="0" err="1">
                <a:solidFill>
                  <a:schemeClr val="tx1"/>
                </a:solidFill>
              </a:rPr>
              <a:t>filePath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</a:t>
            </a:r>
            <a:r>
              <a:rPr lang="en-US" sz="2400" dirty="0" err="1">
                <a:solidFill>
                  <a:schemeClr val="tx1"/>
                </a:solidFill>
              </a:rPr>
              <a:t>FileWriter</a:t>
            </a:r>
            <a:r>
              <a:rPr lang="en-US" sz="2400" dirty="0">
                <a:solidFill>
                  <a:schemeClr val="tx1"/>
                </a:solidFill>
              </a:rPr>
              <a:t>(String </a:t>
            </a:r>
            <a:r>
              <a:rPr lang="en-US" sz="2400" dirty="0" err="1">
                <a:solidFill>
                  <a:schemeClr val="tx1"/>
                </a:solidFill>
              </a:rPr>
              <a:t>filePath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boolean</a:t>
            </a:r>
            <a:r>
              <a:rPr lang="en-US" sz="2400" dirty="0">
                <a:solidFill>
                  <a:schemeClr val="tx1"/>
                </a:solidFill>
              </a:rPr>
              <a:t> append)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</a:t>
            </a:r>
            <a:r>
              <a:rPr lang="en-US" sz="2400" dirty="0" err="1">
                <a:solidFill>
                  <a:schemeClr val="tx1"/>
                </a:solidFill>
              </a:rPr>
              <a:t>FileWriter</a:t>
            </a:r>
            <a:r>
              <a:rPr lang="en-US" sz="2400" dirty="0">
                <a:solidFill>
                  <a:schemeClr val="tx1"/>
                </a:solidFill>
              </a:rPr>
              <a:t>(File </a:t>
            </a:r>
            <a:r>
              <a:rPr lang="en-US" sz="2400" dirty="0" err="1">
                <a:solidFill>
                  <a:schemeClr val="tx1"/>
                </a:solidFill>
              </a:rPr>
              <a:t>fileObj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r>
              <a:rPr lang="en-US" sz="2400" dirty="0">
                <a:solidFill>
                  <a:schemeClr val="tx1"/>
                </a:solidFill>
              </a:rPr>
              <a:t>     </a:t>
            </a:r>
            <a:r>
              <a:rPr lang="en-US" sz="2400" dirty="0" err="1">
                <a:solidFill>
                  <a:schemeClr val="tx1"/>
                </a:solidFill>
              </a:rPr>
              <a:t>FileWriter</a:t>
            </a:r>
            <a:r>
              <a:rPr lang="en-US" sz="2400" dirty="0">
                <a:solidFill>
                  <a:schemeClr val="tx1"/>
                </a:solidFill>
              </a:rPr>
              <a:t>(File </a:t>
            </a:r>
            <a:r>
              <a:rPr lang="en-US" sz="2400" dirty="0" err="1">
                <a:solidFill>
                  <a:schemeClr val="tx1"/>
                </a:solidFill>
              </a:rPr>
              <a:t>fileObj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boolean</a:t>
            </a:r>
            <a:r>
              <a:rPr lang="en-US" sz="2400" dirty="0">
                <a:solidFill>
                  <a:schemeClr val="tx1"/>
                </a:solidFill>
              </a:rPr>
              <a:t> append)</a:t>
            </a:r>
          </a:p>
          <a:p>
            <a:r>
              <a:rPr lang="en-US" sz="2400" dirty="0">
                <a:solidFill>
                  <a:schemeClr val="tx1"/>
                </a:solidFill>
              </a:rPr>
              <a:t> – They can throw an </a:t>
            </a:r>
            <a:r>
              <a:rPr lang="en-US" sz="2400" dirty="0" err="1">
                <a:solidFill>
                  <a:schemeClr val="tx1"/>
                </a:solidFill>
              </a:rPr>
              <a:t>IOException</a:t>
            </a:r>
            <a:r>
              <a:rPr lang="en-US" sz="2400" dirty="0">
                <a:solidFill>
                  <a:schemeClr val="tx1"/>
                </a:solidFill>
              </a:rPr>
              <a:t>. Here, </a:t>
            </a:r>
            <a:r>
              <a:rPr lang="en-US" sz="2400" dirty="0" err="1">
                <a:solidFill>
                  <a:schemeClr val="tx1"/>
                </a:solidFill>
              </a:rPr>
              <a:t>filePath</a:t>
            </a:r>
            <a:r>
              <a:rPr lang="en-US" sz="2400" dirty="0">
                <a:solidFill>
                  <a:schemeClr val="tx1"/>
                </a:solidFill>
              </a:rPr>
              <a:t> is the full path name of a file, and </a:t>
            </a:r>
            <a:r>
              <a:rPr lang="en-US" sz="2400" dirty="0" err="1">
                <a:solidFill>
                  <a:schemeClr val="tx1"/>
                </a:solidFill>
              </a:rPr>
              <a:t>fileObj</a:t>
            </a:r>
            <a:r>
              <a:rPr lang="en-US" sz="2400" dirty="0">
                <a:solidFill>
                  <a:schemeClr val="tx1"/>
                </a:solidFill>
              </a:rPr>
              <a:t> is a File object that describes the file.</a:t>
            </a:r>
          </a:p>
          <a:p>
            <a:r>
              <a:rPr lang="en-US" sz="2400" dirty="0">
                <a:solidFill>
                  <a:schemeClr val="tx1"/>
                </a:solidFill>
              </a:rPr>
              <a:t> – If append is true, then output is appended to the end of the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3104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FA70-A7BA-DCE7-9409-DD1BDBD8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0B65-E8E1-4E74-4DF0-5AA3EE663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20" y="1156716"/>
            <a:ext cx="6926580" cy="1477328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3200" dirty="0"/>
              <a:t>Write a Java program that read from a file and write to file by handling all file related exceptions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376763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60AAF-783A-12D5-E3D1-2FFB7C32ED89}"/>
              </a:ext>
            </a:extLst>
          </p:cNvPr>
          <p:cNvSpPr txBox="1"/>
          <p:nvPr/>
        </p:nvSpPr>
        <p:spPr>
          <a:xfrm>
            <a:off x="76200" y="-2004"/>
            <a:ext cx="7620000" cy="46935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300" b="1" dirty="0">
                <a:latin typeface="+mn-lt"/>
              </a:rPr>
              <a:t>import java.io.*;</a:t>
            </a:r>
          </a:p>
          <a:p>
            <a:r>
              <a:rPr lang="en-US" sz="2300" b="1" dirty="0">
                <a:latin typeface="+mn-lt"/>
              </a:rPr>
              <a:t>import </a:t>
            </a:r>
            <a:r>
              <a:rPr lang="en-US" sz="2300" b="1" dirty="0" err="1">
                <a:latin typeface="+mn-lt"/>
              </a:rPr>
              <a:t>java.util.Scanner</a:t>
            </a:r>
            <a:r>
              <a:rPr lang="en-US" sz="2300" b="1" dirty="0">
                <a:latin typeface="+mn-lt"/>
              </a:rPr>
              <a:t>;</a:t>
            </a:r>
          </a:p>
          <a:p>
            <a:r>
              <a:rPr lang="en-US" sz="2300" b="1" dirty="0">
                <a:latin typeface="+mn-lt"/>
              </a:rPr>
              <a:t>class </a:t>
            </a:r>
            <a:r>
              <a:rPr lang="en-US" sz="2300" b="1" dirty="0" err="1">
                <a:latin typeface="+mn-lt"/>
              </a:rPr>
              <a:t>WriteRead</a:t>
            </a:r>
            <a:r>
              <a:rPr lang="en-US" sz="2300" b="1" dirty="0">
                <a:latin typeface="+mn-lt"/>
              </a:rPr>
              <a:t> {</a:t>
            </a:r>
          </a:p>
          <a:p>
            <a:r>
              <a:rPr lang="en-US" sz="2300" b="1" dirty="0">
                <a:latin typeface="+mn-lt"/>
              </a:rPr>
              <a:t> public static void main(String[] </a:t>
            </a:r>
            <a:r>
              <a:rPr lang="en-US" sz="2300" b="1" dirty="0" err="1">
                <a:latin typeface="+mn-lt"/>
              </a:rPr>
              <a:t>args</a:t>
            </a:r>
            <a:r>
              <a:rPr lang="en-US" sz="2300" b="1" dirty="0">
                <a:latin typeface="+mn-lt"/>
              </a:rPr>
              <a:t>) throws </a:t>
            </a:r>
            <a:r>
              <a:rPr lang="en-US" sz="2300" b="1" dirty="0" err="1">
                <a:latin typeface="+mn-lt"/>
              </a:rPr>
              <a:t>IOException</a:t>
            </a:r>
            <a:endParaRPr lang="en-US" sz="2300" b="1" dirty="0">
              <a:latin typeface="+mn-lt"/>
            </a:endParaRPr>
          </a:p>
          <a:p>
            <a:r>
              <a:rPr lang="en-US" sz="2300" b="1" dirty="0">
                <a:latin typeface="+mn-lt"/>
              </a:rPr>
              <a:t> {</a:t>
            </a:r>
          </a:p>
          <a:p>
            <a:r>
              <a:rPr lang="en-US" sz="2300" b="1" dirty="0">
                <a:latin typeface="+mn-lt"/>
              </a:rPr>
              <a:t>        int </a:t>
            </a:r>
            <a:r>
              <a:rPr lang="en-US" sz="2300" b="1" dirty="0" err="1">
                <a:latin typeface="+mn-lt"/>
              </a:rPr>
              <a:t>ch</a:t>
            </a:r>
            <a:r>
              <a:rPr lang="en-US" sz="2300" b="1" dirty="0">
                <a:latin typeface="+mn-lt"/>
              </a:rPr>
              <a:t>;</a:t>
            </a:r>
          </a:p>
          <a:p>
            <a:r>
              <a:rPr lang="en-US" sz="2300" b="1" dirty="0">
                <a:latin typeface="+mn-lt"/>
              </a:rPr>
              <a:t>        try {</a:t>
            </a:r>
          </a:p>
          <a:p>
            <a:r>
              <a:rPr lang="en-US" sz="2300" b="1" dirty="0">
                <a:latin typeface="+mn-lt"/>
              </a:rPr>
              <a:t>            Scanner </a:t>
            </a:r>
            <a:r>
              <a:rPr lang="en-US" sz="2300" b="1" dirty="0" err="1">
                <a:latin typeface="+mn-lt"/>
              </a:rPr>
              <a:t>sc</a:t>
            </a:r>
            <a:r>
              <a:rPr lang="en-US" sz="2300" b="1" dirty="0">
                <a:latin typeface="+mn-lt"/>
              </a:rPr>
              <a:t>=new Scanner(System.in);</a:t>
            </a:r>
          </a:p>
          <a:p>
            <a:r>
              <a:rPr lang="en-US" sz="2300" b="1" dirty="0">
                <a:latin typeface="+mn-lt"/>
              </a:rPr>
              <a:t>            </a:t>
            </a:r>
            <a:r>
              <a:rPr lang="en-US" sz="2300" b="1" dirty="0" err="1">
                <a:latin typeface="+mn-lt"/>
              </a:rPr>
              <a:t>System.out.println</a:t>
            </a:r>
            <a:r>
              <a:rPr lang="en-US" sz="2300" b="1" dirty="0">
                <a:latin typeface="+mn-lt"/>
              </a:rPr>
              <a:t>("enter the text to file");</a:t>
            </a:r>
          </a:p>
          <a:p>
            <a:r>
              <a:rPr lang="en-US" sz="2300" b="1" dirty="0">
                <a:latin typeface="+mn-lt"/>
              </a:rPr>
              <a:t>            String s=</a:t>
            </a:r>
            <a:r>
              <a:rPr lang="en-US" sz="2300" b="1" dirty="0" err="1">
                <a:latin typeface="+mn-lt"/>
              </a:rPr>
              <a:t>sc.nextLine</a:t>
            </a:r>
            <a:r>
              <a:rPr lang="en-US" sz="2300" b="1" dirty="0">
                <a:latin typeface="+mn-lt"/>
              </a:rPr>
              <a:t>();</a:t>
            </a:r>
          </a:p>
          <a:p>
            <a:r>
              <a:rPr lang="en-US" sz="2300" b="1" dirty="0">
                <a:latin typeface="+mn-lt"/>
              </a:rPr>
              <a:t>            </a:t>
            </a:r>
            <a:r>
              <a:rPr lang="en-US" sz="2300" b="1" dirty="0" err="1">
                <a:latin typeface="+mn-lt"/>
              </a:rPr>
              <a:t>FileWriter</a:t>
            </a:r>
            <a:r>
              <a:rPr lang="en-US" sz="2300" b="1" dirty="0">
                <a:latin typeface="+mn-lt"/>
              </a:rPr>
              <a:t> </a:t>
            </a:r>
            <a:r>
              <a:rPr lang="en-US" sz="2300" b="1" dirty="0" err="1">
                <a:latin typeface="+mn-lt"/>
              </a:rPr>
              <a:t>fw</a:t>
            </a:r>
            <a:r>
              <a:rPr lang="en-US" sz="2300" b="1" dirty="0">
                <a:latin typeface="+mn-lt"/>
              </a:rPr>
              <a:t> = new </a:t>
            </a:r>
            <a:r>
              <a:rPr lang="en-US" sz="2300" b="1" dirty="0" err="1">
                <a:latin typeface="+mn-lt"/>
              </a:rPr>
              <a:t>FileWriter</a:t>
            </a:r>
            <a:r>
              <a:rPr lang="en-US" sz="2300" b="1" dirty="0">
                <a:latin typeface="+mn-lt"/>
              </a:rPr>
              <a:t>("WritedSample.txt");</a:t>
            </a:r>
          </a:p>
          <a:p>
            <a:r>
              <a:rPr lang="en-US" sz="2300" b="1" dirty="0">
                <a:latin typeface="+mn-lt"/>
              </a:rPr>
              <a:t>            </a:t>
            </a:r>
            <a:r>
              <a:rPr lang="en-US" sz="2300" b="1" dirty="0" err="1">
                <a:latin typeface="+mn-lt"/>
              </a:rPr>
              <a:t>fw.write</a:t>
            </a:r>
            <a:r>
              <a:rPr lang="en-US" sz="2300" b="1" dirty="0">
                <a:latin typeface="+mn-lt"/>
              </a:rPr>
              <a:t>(s); //write to file</a:t>
            </a:r>
          </a:p>
          <a:p>
            <a:r>
              <a:rPr lang="en-US" sz="2300" b="1" dirty="0">
                <a:latin typeface="+mn-lt"/>
              </a:rPr>
              <a:t>           </a:t>
            </a:r>
            <a:r>
              <a:rPr lang="en-US" sz="2300" b="1" dirty="0" err="1">
                <a:latin typeface="+mn-lt"/>
              </a:rPr>
              <a:t>FileReader</a:t>
            </a:r>
            <a:r>
              <a:rPr lang="en-US" sz="2300" b="1" dirty="0">
                <a:latin typeface="+mn-lt"/>
              </a:rPr>
              <a:t> </a:t>
            </a:r>
            <a:r>
              <a:rPr lang="en-US" sz="2300" b="1" dirty="0" err="1">
                <a:latin typeface="+mn-lt"/>
              </a:rPr>
              <a:t>fr</a:t>
            </a:r>
            <a:r>
              <a:rPr lang="en-US" sz="2300" b="1" dirty="0">
                <a:latin typeface="+mn-lt"/>
              </a:rPr>
              <a:t> = new </a:t>
            </a:r>
            <a:r>
              <a:rPr lang="en-US" sz="2300" b="1" dirty="0" err="1">
                <a:latin typeface="+mn-lt"/>
              </a:rPr>
              <a:t>FileReader</a:t>
            </a:r>
            <a:r>
              <a:rPr lang="en-US" sz="2300" b="1" dirty="0">
                <a:latin typeface="+mn-lt"/>
              </a:rPr>
              <a:t>("WritedSample.txt");</a:t>
            </a:r>
          </a:p>
        </p:txBody>
      </p:sp>
    </p:spTree>
    <p:extLst>
      <p:ext uri="{BB962C8B-B14F-4D97-AF65-F5344CB8AC3E}">
        <p14:creationId xmlns:p14="http://schemas.microsoft.com/office/powerpoint/2010/main" val="1209334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60AAF-783A-12D5-E3D1-2FFB7C32ED89}"/>
              </a:ext>
            </a:extLst>
          </p:cNvPr>
          <p:cNvSpPr txBox="1"/>
          <p:nvPr/>
        </p:nvSpPr>
        <p:spPr>
          <a:xfrm>
            <a:off x="76200" y="0"/>
            <a:ext cx="7620000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+mn-lt"/>
              </a:rPr>
              <a:t> while ((</a:t>
            </a:r>
            <a:r>
              <a:rPr lang="en-US" sz="2000" b="1" dirty="0" err="1">
                <a:latin typeface="+mn-lt"/>
              </a:rPr>
              <a:t>ch</a:t>
            </a:r>
            <a:r>
              <a:rPr lang="en-US" sz="2000" b="1" dirty="0">
                <a:latin typeface="+mn-lt"/>
              </a:rPr>
              <a:t> = </a:t>
            </a:r>
            <a:r>
              <a:rPr lang="en-US" sz="2000" b="1" dirty="0" err="1">
                <a:latin typeface="+mn-lt"/>
              </a:rPr>
              <a:t>fr.read</a:t>
            </a:r>
            <a:r>
              <a:rPr lang="en-US" sz="2000" b="1" dirty="0">
                <a:latin typeface="+mn-lt"/>
              </a:rPr>
              <a:t>()) != -1)</a:t>
            </a:r>
          </a:p>
          <a:p>
            <a:r>
              <a:rPr lang="en-US" sz="2000" b="1" dirty="0">
                <a:latin typeface="+mn-lt"/>
              </a:rPr>
              <a:t>          {</a:t>
            </a:r>
          </a:p>
          <a:p>
            <a:r>
              <a:rPr lang="en-US" sz="2000" b="1" dirty="0">
                <a:latin typeface="+mn-lt"/>
              </a:rPr>
              <a:t>                </a:t>
            </a:r>
            <a:r>
              <a:rPr lang="en-US" sz="2000" b="1" dirty="0" err="1">
                <a:latin typeface="+mn-lt"/>
              </a:rPr>
              <a:t>System.out.print</a:t>
            </a:r>
            <a:r>
              <a:rPr lang="en-US" sz="2000" b="1" dirty="0">
                <a:latin typeface="+mn-lt"/>
              </a:rPr>
              <a:t>((char) </a:t>
            </a:r>
            <a:r>
              <a:rPr lang="en-US" sz="2000" b="1" dirty="0" err="1">
                <a:latin typeface="+mn-lt"/>
              </a:rPr>
              <a:t>ch</a:t>
            </a:r>
            <a:r>
              <a:rPr lang="en-US" sz="2000" b="1" dirty="0">
                <a:latin typeface="+mn-lt"/>
              </a:rPr>
              <a:t>);  </a:t>
            </a:r>
          </a:p>
          <a:p>
            <a:r>
              <a:rPr lang="en-US" sz="2000" b="1" dirty="0">
                <a:latin typeface="+mn-lt"/>
              </a:rPr>
              <a:t>            }</a:t>
            </a:r>
          </a:p>
          <a:p>
            <a:r>
              <a:rPr lang="en-US" sz="2000" b="1" dirty="0">
                <a:latin typeface="+mn-lt"/>
              </a:rPr>
              <a:t>            </a:t>
            </a:r>
            <a:r>
              <a:rPr lang="en-US" sz="2000" b="1" dirty="0" err="1">
                <a:latin typeface="+mn-lt"/>
              </a:rPr>
              <a:t>fr.close</a:t>
            </a:r>
            <a:r>
              <a:rPr lang="en-US" sz="2000" b="1" dirty="0">
                <a:latin typeface="+mn-lt"/>
              </a:rPr>
              <a:t>();</a:t>
            </a:r>
          </a:p>
          <a:p>
            <a:r>
              <a:rPr lang="en-US" sz="2000" b="1" dirty="0">
                <a:latin typeface="+mn-lt"/>
              </a:rPr>
              <a:t>            </a:t>
            </a:r>
            <a:r>
              <a:rPr lang="en-US" sz="2000" b="1" dirty="0" err="1">
                <a:latin typeface="+mn-lt"/>
              </a:rPr>
              <a:t>fw.close</a:t>
            </a:r>
            <a:r>
              <a:rPr lang="en-US" sz="2000" b="1" dirty="0">
                <a:latin typeface="+mn-lt"/>
              </a:rPr>
              <a:t>();</a:t>
            </a:r>
          </a:p>
          <a:p>
            <a:r>
              <a:rPr lang="en-US" sz="2000" b="1" dirty="0">
                <a:latin typeface="+mn-lt"/>
              </a:rPr>
              <a:t>        } </a:t>
            </a:r>
          </a:p>
          <a:p>
            <a:r>
              <a:rPr lang="en-US" sz="2000" b="1" dirty="0">
                <a:latin typeface="+mn-lt"/>
              </a:rPr>
              <a:t>catch (</a:t>
            </a:r>
            <a:r>
              <a:rPr lang="en-US" sz="2000" b="1" dirty="0" err="1">
                <a:latin typeface="+mn-lt"/>
              </a:rPr>
              <a:t>FileNotFoundException</a:t>
            </a:r>
            <a:r>
              <a:rPr lang="en-US" sz="2000" b="1" dirty="0">
                <a:latin typeface="+mn-lt"/>
              </a:rPr>
              <a:t> e)  {</a:t>
            </a:r>
          </a:p>
          <a:p>
            <a:r>
              <a:rPr lang="en-US" sz="2000" b="1" dirty="0">
                <a:latin typeface="+mn-lt"/>
              </a:rPr>
              <a:t>            </a:t>
            </a:r>
            <a:r>
              <a:rPr lang="en-US" sz="2000" b="1" dirty="0" err="1">
                <a:latin typeface="+mn-lt"/>
              </a:rPr>
              <a:t>System.out.println</a:t>
            </a:r>
            <a:r>
              <a:rPr lang="en-US" sz="2000" b="1" dirty="0">
                <a:latin typeface="+mn-lt"/>
              </a:rPr>
              <a:t>(</a:t>
            </a:r>
            <a:r>
              <a:rPr lang="en-US" sz="2000" b="1" dirty="0" err="1">
                <a:latin typeface="+mn-lt"/>
              </a:rPr>
              <a:t>e.getMessage</a:t>
            </a:r>
            <a:r>
              <a:rPr lang="en-US" sz="2000" b="1" dirty="0">
                <a:latin typeface="+mn-lt"/>
              </a:rPr>
              <a:t>());</a:t>
            </a:r>
          </a:p>
          <a:p>
            <a:r>
              <a:rPr lang="en-US" sz="2000" b="1" dirty="0">
                <a:latin typeface="+mn-lt"/>
              </a:rPr>
              <a:t>     }</a:t>
            </a:r>
          </a:p>
          <a:p>
            <a:r>
              <a:rPr lang="en-US" sz="2000" b="1" dirty="0">
                <a:latin typeface="+mn-lt"/>
              </a:rPr>
              <a:t>  catch (</a:t>
            </a:r>
            <a:r>
              <a:rPr lang="en-US" sz="2000" b="1" dirty="0" err="1">
                <a:latin typeface="+mn-lt"/>
              </a:rPr>
              <a:t>IOException</a:t>
            </a:r>
            <a:r>
              <a:rPr lang="en-US" sz="2000" b="1" dirty="0">
                <a:latin typeface="+mn-lt"/>
              </a:rPr>
              <a:t> e) {</a:t>
            </a:r>
          </a:p>
          <a:p>
            <a:r>
              <a:rPr lang="en-US" sz="2000" b="1" dirty="0">
                <a:latin typeface="+mn-lt"/>
              </a:rPr>
              <a:t>            </a:t>
            </a:r>
            <a:r>
              <a:rPr lang="en-US" sz="2000" b="1" dirty="0" err="1">
                <a:latin typeface="+mn-lt"/>
              </a:rPr>
              <a:t>System.out.println</a:t>
            </a:r>
            <a:r>
              <a:rPr lang="en-US" sz="2000" b="1" dirty="0">
                <a:latin typeface="+mn-lt"/>
              </a:rPr>
              <a:t>(</a:t>
            </a:r>
            <a:r>
              <a:rPr lang="en-US" sz="2000" b="1" dirty="0" err="1">
                <a:latin typeface="+mn-lt"/>
              </a:rPr>
              <a:t>e.getMessage</a:t>
            </a:r>
            <a:r>
              <a:rPr lang="en-US" sz="2000" b="1" dirty="0">
                <a:latin typeface="+mn-lt"/>
              </a:rPr>
              <a:t>());</a:t>
            </a:r>
          </a:p>
          <a:p>
            <a:r>
              <a:rPr lang="en-US" sz="2000" b="1" dirty="0">
                <a:latin typeface="+mn-lt"/>
              </a:rPr>
              <a:t>    }</a:t>
            </a:r>
          </a:p>
          <a:p>
            <a:r>
              <a:rPr lang="en-US" sz="2000" b="1" dirty="0">
                <a:latin typeface="+mn-lt"/>
              </a:rPr>
              <a:t> finally {</a:t>
            </a:r>
          </a:p>
          <a:p>
            <a:r>
              <a:rPr lang="en-US" sz="2000" b="1" dirty="0">
                <a:latin typeface="+mn-lt"/>
              </a:rPr>
              <a:t>            </a:t>
            </a:r>
            <a:r>
              <a:rPr lang="en-US" sz="2000" b="1" dirty="0" err="1">
                <a:latin typeface="+mn-lt"/>
              </a:rPr>
              <a:t>System.out.println</a:t>
            </a:r>
            <a:r>
              <a:rPr lang="en-US" sz="2000" b="1" dirty="0">
                <a:latin typeface="+mn-lt"/>
              </a:rPr>
              <a:t>("Success");</a:t>
            </a:r>
          </a:p>
          <a:p>
            <a:r>
              <a:rPr lang="en-US" sz="2000" b="1" dirty="0">
                <a:latin typeface="+mn-lt"/>
              </a:rPr>
              <a:t>    }}}</a:t>
            </a:r>
          </a:p>
        </p:txBody>
      </p:sp>
    </p:spTree>
    <p:extLst>
      <p:ext uri="{BB962C8B-B14F-4D97-AF65-F5344CB8AC3E}">
        <p14:creationId xmlns:p14="http://schemas.microsoft.com/office/powerpoint/2010/main" val="22369489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3868-9A67-793E-B390-0B432B306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20" y="307975"/>
            <a:ext cx="7078980" cy="443198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en-US" sz="2400" dirty="0" err="1">
                <a:solidFill>
                  <a:schemeClr val="tx1"/>
                </a:solidFill>
              </a:rPr>
              <a:t>eg</a:t>
            </a:r>
            <a:r>
              <a:rPr lang="en-US" sz="2400" dirty="0">
                <a:solidFill>
                  <a:schemeClr val="tx1"/>
                </a:solidFill>
              </a:rPr>
              <a:t>: of </a:t>
            </a:r>
            <a:r>
              <a:rPr lang="en-US" sz="2400" dirty="0" err="1">
                <a:solidFill>
                  <a:schemeClr val="tx1"/>
                </a:solidFill>
              </a:rPr>
              <a:t>FileReader</a:t>
            </a:r>
            <a:r>
              <a:rPr lang="en-US" sz="2400" dirty="0">
                <a:solidFill>
                  <a:schemeClr val="tx1"/>
                </a:solidFill>
              </a:rPr>
              <a:t> with </a:t>
            </a:r>
            <a:r>
              <a:rPr lang="en-US" sz="2400" dirty="0" err="1">
                <a:solidFill>
                  <a:schemeClr val="tx1"/>
                </a:solidFill>
              </a:rPr>
              <a:t>BufferedReader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import java.io.*;</a:t>
            </a:r>
          </a:p>
          <a:p>
            <a:r>
              <a:rPr lang="en-US" sz="2400" dirty="0">
                <a:solidFill>
                  <a:schemeClr val="tx1"/>
                </a:solidFill>
              </a:rPr>
              <a:t>class </a:t>
            </a:r>
            <a:r>
              <a:rPr lang="en-US" sz="2400" dirty="0" err="1">
                <a:solidFill>
                  <a:schemeClr val="tx1"/>
                </a:solidFill>
              </a:rPr>
              <a:t>FileReaderDemo</a:t>
            </a:r>
            <a:r>
              <a:rPr lang="en-US" sz="2400" dirty="0">
                <a:solidFill>
                  <a:schemeClr val="tx1"/>
                </a:solidFill>
              </a:rPr>
              <a:t> {</a:t>
            </a:r>
          </a:p>
          <a:p>
            <a:r>
              <a:rPr lang="en-US" sz="2400" dirty="0">
                <a:solidFill>
                  <a:schemeClr val="tx1"/>
                </a:solidFill>
              </a:rPr>
              <a:t>public static void main(String </a:t>
            </a:r>
            <a:r>
              <a:rPr lang="en-US" sz="2400" dirty="0" err="1">
                <a:solidFill>
                  <a:schemeClr val="tx1"/>
                </a:solidFill>
              </a:rPr>
              <a:t>args</a:t>
            </a:r>
            <a:r>
              <a:rPr lang="en-US" sz="2400" dirty="0">
                <a:solidFill>
                  <a:schemeClr val="tx1"/>
                </a:solidFill>
              </a:rPr>
              <a:t>[]) throws </a:t>
            </a:r>
            <a:r>
              <a:rPr lang="en-US" sz="2400" dirty="0" err="1">
                <a:solidFill>
                  <a:schemeClr val="tx1"/>
                </a:solidFill>
              </a:rPr>
              <a:t>IOException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FileReader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fr</a:t>
            </a:r>
            <a:r>
              <a:rPr lang="en-US" sz="2400" dirty="0">
                <a:solidFill>
                  <a:schemeClr val="tx1"/>
                </a:solidFill>
              </a:rPr>
              <a:t> = new </a:t>
            </a:r>
            <a:r>
              <a:rPr lang="en-US" sz="2400" dirty="0" err="1">
                <a:solidFill>
                  <a:schemeClr val="tx1"/>
                </a:solidFill>
              </a:rPr>
              <a:t>FileReader</a:t>
            </a:r>
            <a:r>
              <a:rPr lang="en-US" sz="2400" dirty="0">
                <a:solidFill>
                  <a:schemeClr val="tx1"/>
                </a:solidFill>
              </a:rPr>
              <a:t>("Sample.txt");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BufferedReader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br</a:t>
            </a:r>
            <a:r>
              <a:rPr lang="en-US" sz="2400" dirty="0">
                <a:solidFill>
                  <a:schemeClr val="tx1"/>
                </a:solidFill>
              </a:rPr>
              <a:t> = new </a:t>
            </a:r>
            <a:r>
              <a:rPr lang="en-US" sz="2400" dirty="0" err="1">
                <a:solidFill>
                  <a:schemeClr val="tx1"/>
                </a:solidFill>
              </a:rPr>
              <a:t>BufferedReader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fr</a:t>
            </a:r>
            <a:r>
              <a:rPr lang="en-US" sz="2400" dirty="0">
                <a:solidFill>
                  <a:schemeClr val="tx1"/>
                </a:solidFill>
              </a:rPr>
              <a:t>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String s;</a:t>
            </a:r>
          </a:p>
          <a:p>
            <a:r>
              <a:rPr lang="en-US" sz="2400" dirty="0">
                <a:solidFill>
                  <a:schemeClr val="tx1"/>
                </a:solidFill>
              </a:rPr>
              <a:t>while((s = </a:t>
            </a:r>
            <a:r>
              <a:rPr lang="en-US" sz="2400" dirty="0" err="1">
                <a:solidFill>
                  <a:schemeClr val="tx1"/>
                </a:solidFill>
              </a:rPr>
              <a:t>br.readLine</a:t>
            </a:r>
            <a:r>
              <a:rPr lang="en-US" sz="2400" dirty="0">
                <a:solidFill>
                  <a:schemeClr val="tx1"/>
                </a:solidFill>
              </a:rPr>
              <a:t>())!= null)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System.out.println</a:t>
            </a:r>
            <a:r>
              <a:rPr lang="en-US" sz="2400" dirty="0">
                <a:solidFill>
                  <a:schemeClr val="tx1"/>
                </a:solidFill>
              </a:rPr>
              <a:t>(s);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fr.close</a:t>
            </a:r>
            <a:r>
              <a:rPr lang="en-US" sz="2400" dirty="0">
                <a:solidFill>
                  <a:schemeClr val="tx1"/>
                </a:solidFill>
              </a:rPr>
              <a:t>();</a:t>
            </a:r>
          </a:p>
          <a:p>
            <a:r>
              <a:rPr lang="en-US" sz="2400" dirty="0">
                <a:solidFill>
                  <a:schemeClr val="tx1"/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54128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FA70-A7BA-DCE7-9409-DD1BDBD8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0B65-E8E1-4E74-4DF0-5AA3EE663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8620" y="1156716"/>
            <a:ext cx="6926580" cy="1231106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4000" dirty="0"/>
              <a:t>Write a file handling program in Java with reader/writer.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67632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9003E8-3080-E7BC-330D-123BD3B26F16}"/>
              </a:ext>
            </a:extLst>
          </p:cNvPr>
          <p:cNvSpPr txBox="1"/>
          <p:nvPr/>
        </p:nvSpPr>
        <p:spPr>
          <a:xfrm>
            <a:off x="76200" y="0"/>
            <a:ext cx="7467600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import java.io.*;</a:t>
            </a:r>
          </a:p>
          <a:p>
            <a:r>
              <a:rPr lang="en-US" b="1" dirty="0"/>
              <a:t>class </a:t>
            </a:r>
            <a:r>
              <a:rPr lang="en-US" b="1" dirty="0" err="1"/>
              <a:t>FileReadWrite</a:t>
            </a:r>
            <a:r>
              <a:rPr lang="en-US" b="1" dirty="0"/>
              <a:t>{</a:t>
            </a:r>
          </a:p>
          <a:p>
            <a:r>
              <a:rPr lang="en-US" b="1" dirty="0"/>
              <a:t>	public static void main (String [] </a:t>
            </a:r>
            <a:r>
              <a:rPr lang="en-US" b="1" dirty="0" err="1"/>
              <a:t>args</a:t>
            </a:r>
            <a:r>
              <a:rPr lang="en-US" b="1" dirty="0"/>
              <a:t>) throws </a:t>
            </a:r>
            <a:r>
              <a:rPr lang="en-US" b="1" dirty="0" err="1"/>
              <a:t>IOException</a:t>
            </a:r>
            <a:endParaRPr lang="en-US" b="1" dirty="0"/>
          </a:p>
          <a:p>
            <a:r>
              <a:rPr lang="en-US" b="1" dirty="0"/>
              <a:t>	{</a:t>
            </a:r>
          </a:p>
          <a:p>
            <a:r>
              <a:rPr lang="en-US" b="1" dirty="0"/>
              <a:t>	  int </a:t>
            </a:r>
            <a:r>
              <a:rPr lang="en-US" b="1" dirty="0" err="1"/>
              <a:t>ch</a:t>
            </a:r>
            <a:r>
              <a:rPr lang="en-US" b="1" dirty="0"/>
              <a:t>;</a:t>
            </a:r>
          </a:p>
          <a:p>
            <a:r>
              <a:rPr lang="en-US" b="1" dirty="0"/>
              <a:t>                </a:t>
            </a: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b="1" dirty="0" err="1"/>
              <a:t>fr</a:t>
            </a:r>
            <a:r>
              <a:rPr lang="en-US" b="1" dirty="0"/>
              <a:t> = new </a:t>
            </a:r>
            <a:r>
              <a:rPr lang="en-US" b="1" dirty="0" err="1"/>
              <a:t>FileReader</a:t>
            </a:r>
            <a:r>
              <a:rPr lang="en-US" b="1" dirty="0"/>
              <a:t>("sample.txt");</a:t>
            </a:r>
          </a:p>
          <a:p>
            <a:r>
              <a:rPr lang="en-US" b="1" dirty="0"/>
              <a:t>	  </a:t>
            </a:r>
            <a:r>
              <a:rPr lang="en-US" b="1" dirty="0" err="1"/>
              <a:t>FileWriter</a:t>
            </a:r>
            <a:r>
              <a:rPr lang="en-US" b="1" dirty="0"/>
              <a:t> </a:t>
            </a:r>
            <a:r>
              <a:rPr lang="en-US" b="1" dirty="0" err="1"/>
              <a:t>fw</a:t>
            </a:r>
            <a:r>
              <a:rPr lang="en-US" b="1" dirty="0"/>
              <a:t> = new </a:t>
            </a:r>
            <a:r>
              <a:rPr lang="en-US" b="1" dirty="0" err="1"/>
              <a:t>FileWriter</a:t>
            </a:r>
            <a:r>
              <a:rPr lang="en-US" b="1" dirty="0"/>
              <a:t>("WritedSample.txt");</a:t>
            </a:r>
          </a:p>
          <a:p>
            <a:r>
              <a:rPr lang="en-US" b="1" dirty="0"/>
              <a:t>		while((</a:t>
            </a:r>
            <a:r>
              <a:rPr lang="en-US" b="1" dirty="0" err="1"/>
              <a:t>ch</a:t>
            </a:r>
            <a:r>
              <a:rPr lang="en-US" b="1" dirty="0"/>
              <a:t> = </a:t>
            </a:r>
            <a:r>
              <a:rPr lang="en-US" b="1" dirty="0" err="1"/>
              <a:t>fr.read</a:t>
            </a:r>
            <a:r>
              <a:rPr lang="en-US" b="1" dirty="0"/>
              <a:t>()) != -1)</a:t>
            </a:r>
          </a:p>
          <a:p>
            <a:r>
              <a:rPr lang="en-US" b="1" dirty="0"/>
              <a:t>		{</a:t>
            </a:r>
          </a:p>
          <a:p>
            <a:r>
              <a:rPr lang="en-US" b="1" dirty="0"/>
              <a:t>			</a:t>
            </a:r>
            <a:r>
              <a:rPr lang="en-US" b="1" dirty="0" err="1"/>
              <a:t>fw.write</a:t>
            </a:r>
            <a:r>
              <a:rPr lang="en-US" b="1" dirty="0"/>
              <a:t>((char) </a:t>
            </a:r>
            <a:r>
              <a:rPr lang="en-US" b="1" dirty="0" err="1"/>
              <a:t>ch</a:t>
            </a:r>
            <a:r>
              <a:rPr lang="en-US" b="1" dirty="0"/>
              <a:t>);</a:t>
            </a:r>
          </a:p>
          <a:p>
            <a:r>
              <a:rPr lang="en-US" b="1" dirty="0"/>
              <a:t>			</a:t>
            </a:r>
            <a:r>
              <a:rPr lang="en-US" b="1" dirty="0" err="1"/>
              <a:t>System.out.print</a:t>
            </a:r>
            <a:r>
              <a:rPr lang="en-US" b="1" dirty="0"/>
              <a:t>((char) </a:t>
            </a:r>
            <a:r>
              <a:rPr lang="en-US" b="1" dirty="0" err="1"/>
              <a:t>ch</a:t>
            </a:r>
            <a:r>
              <a:rPr lang="en-US" b="1" dirty="0"/>
              <a:t>);</a:t>
            </a:r>
          </a:p>
          <a:p>
            <a:r>
              <a:rPr lang="en-US" b="1" dirty="0"/>
              <a:t>                            }</a:t>
            </a:r>
          </a:p>
          <a:p>
            <a:r>
              <a:rPr lang="en-US" b="1" dirty="0"/>
              <a:t>		</a:t>
            </a:r>
            <a:r>
              <a:rPr lang="en-US" b="1" dirty="0" err="1"/>
              <a:t>fr.close</a:t>
            </a:r>
            <a:r>
              <a:rPr lang="en-US" b="1" dirty="0"/>
              <a:t>();</a:t>
            </a:r>
          </a:p>
          <a:p>
            <a:r>
              <a:rPr lang="en-US" b="1" dirty="0"/>
              <a:t>		</a:t>
            </a:r>
            <a:r>
              <a:rPr lang="en-US" b="1" dirty="0" err="1"/>
              <a:t>fw.close</a:t>
            </a:r>
            <a:r>
              <a:rPr lang="en-US" b="1" dirty="0"/>
              <a:t>();</a:t>
            </a:r>
          </a:p>
          <a:p>
            <a:r>
              <a:rPr lang="en-US" b="1" dirty="0"/>
              <a:t>             	}}</a:t>
            </a:r>
          </a:p>
        </p:txBody>
      </p:sp>
    </p:spTree>
    <p:extLst>
      <p:ext uri="{BB962C8B-B14F-4D97-AF65-F5344CB8AC3E}">
        <p14:creationId xmlns:p14="http://schemas.microsoft.com/office/powerpoint/2010/main" val="1163633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</TotalTime>
  <Words>3985</Words>
  <Application>Microsoft Office PowerPoint</Application>
  <PresentationFormat>Custom</PresentationFormat>
  <Paragraphs>558</Paragraphs>
  <Slides>54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Arial</vt:lpstr>
      <vt:lpstr>Arial MT</vt:lpstr>
      <vt:lpstr>Calibri</vt:lpstr>
      <vt:lpstr>Courier New</vt:lpstr>
      <vt:lpstr>Google Sans</vt:lpstr>
      <vt:lpstr>Times New Roman</vt:lpstr>
      <vt:lpstr>Wingdings</vt:lpstr>
      <vt:lpstr>Office Theme</vt:lpstr>
      <vt:lpstr>MODULE 3</vt:lpstr>
      <vt:lpstr>Streams</vt:lpstr>
      <vt:lpstr>Working of I/O Stream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READING CONSOLE INPUT</vt:lpstr>
      <vt:lpstr>PowerPoint Presentation</vt:lpstr>
      <vt:lpstr>PowerPoint Presentation</vt:lpstr>
      <vt:lpstr>2. Using Scanner Class</vt:lpstr>
      <vt:lpstr>PowerPoint Presentation</vt:lpstr>
      <vt:lpstr>3. Using Console Class</vt:lpstr>
      <vt:lpstr>PowerPoint Presentation</vt:lpstr>
      <vt:lpstr>WRITING CONSOLE 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cp:lastModifiedBy>libsy baby</cp:lastModifiedBy>
  <cp:revision>322</cp:revision>
  <dcterms:created xsi:type="dcterms:W3CDTF">2023-11-09T18:04:32Z</dcterms:created>
  <dcterms:modified xsi:type="dcterms:W3CDTF">2023-11-25T17:22:43Z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2023-11-09T00:00:00Z</vt:filetime>
  </property>
  <property fmtid="{D5CDD505-2E9C-101B-9397-08002B2CF9AE}" pid="3" name="LastSaved">
    <vt:filetime>2023-11-09T00:00:00Z</vt:filetime>
  </property>
  <property fmtid="{D5CDD505-2E9C-101B-9397-08002B2CF9AE}" pid="4" name="Producer">
    <vt:lpwstr>pdfcpu v0.5.0 dev</vt:lpwstr>
  </property>
</Properties>
</file>