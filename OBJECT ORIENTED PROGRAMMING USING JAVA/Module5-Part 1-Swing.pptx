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24" r:id="rId7"/>
    <p:sldId id="326" r:id="rId8"/>
    <p:sldId id="262" r:id="rId9"/>
    <p:sldId id="263" r:id="rId10"/>
    <p:sldId id="325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329" r:id="rId40"/>
    <p:sldId id="292" r:id="rId41"/>
    <p:sldId id="293" r:id="rId42"/>
    <p:sldId id="294" r:id="rId43"/>
    <p:sldId id="295" r:id="rId4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303" autoAdjust="0"/>
  </p:normalViewPr>
  <p:slideViewPr>
    <p:cSldViewPr>
      <p:cViewPr varScale="1">
        <p:scale>
          <a:sx n="68" d="100"/>
          <a:sy n="68" d="100"/>
        </p:scale>
        <p:origin x="181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80084" y="1358305"/>
            <a:ext cx="2059305" cy="480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435305"/>
            <a:ext cx="7868284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371" y="1405509"/>
            <a:ext cx="7484109" cy="1915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" y="67056"/>
            <a:ext cx="9022080" cy="6696709"/>
            <a:chOff x="60960" y="67056"/>
            <a:chExt cx="9022080" cy="66967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" y="70104"/>
              <a:ext cx="9015984" cy="66903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008" y="70104"/>
              <a:ext cx="9016365" cy="6690359"/>
            </a:xfrm>
            <a:custGeom>
              <a:avLst/>
              <a:gdLst/>
              <a:ahLst/>
              <a:cxnLst/>
              <a:rect l="l" t="t" r="r" b="b"/>
              <a:pathLst>
                <a:path w="9016365" h="6690359">
                  <a:moveTo>
                    <a:pt x="0" y="329819"/>
                  </a:moveTo>
                  <a:lnTo>
                    <a:pt x="3575" y="281088"/>
                  </a:lnTo>
                  <a:lnTo>
                    <a:pt x="13961" y="234576"/>
                  </a:lnTo>
                  <a:lnTo>
                    <a:pt x="30648" y="190791"/>
                  </a:lnTo>
                  <a:lnTo>
                    <a:pt x="53126" y="150245"/>
                  </a:lnTo>
                  <a:lnTo>
                    <a:pt x="80884" y="113448"/>
                  </a:lnTo>
                  <a:lnTo>
                    <a:pt x="113414" y="80911"/>
                  </a:lnTo>
                  <a:lnTo>
                    <a:pt x="150203" y="53144"/>
                  </a:lnTo>
                  <a:lnTo>
                    <a:pt x="190744" y="30660"/>
                  </a:lnTo>
                  <a:lnTo>
                    <a:pt x="234525" y="13967"/>
                  </a:lnTo>
                  <a:lnTo>
                    <a:pt x="281036" y="3576"/>
                  </a:lnTo>
                  <a:lnTo>
                    <a:pt x="329768" y="0"/>
                  </a:lnTo>
                  <a:lnTo>
                    <a:pt x="8686165" y="0"/>
                  </a:lnTo>
                  <a:lnTo>
                    <a:pt x="8734895" y="3576"/>
                  </a:lnTo>
                  <a:lnTo>
                    <a:pt x="8781407" y="13967"/>
                  </a:lnTo>
                  <a:lnTo>
                    <a:pt x="8825192" y="30660"/>
                  </a:lnTo>
                  <a:lnTo>
                    <a:pt x="8865738" y="53144"/>
                  </a:lnTo>
                  <a:lnTo>
                    <a:pt x="8902535" y="80911"/>
                  </a:lnTo>
                  <a:lnTo>
                    <a:pt x="8935072" y="113448"/>
                  </a:lnTo>
                  <a:lnTo>
                    <a:pt x="8962839" y="150245"/>
                  </a:lnTo>
                  <a:lnTo>
                    <a:pt x="8985323" y="190791"/>
                  </a:lnTo>
                  <a:lnTo>
                    <a:pt x="9002016" y="234576"/>
                  </a:lnTo>
                  <a:lnTo>
                    <a:pt x="9012407" y="281088"/>
                  </a:lnTo>
                  <a:lnTo>
                    <a:pt x="9015984" y="329819"/>
                  </a:lnTo>
                  <a:lnTo>
                    <a:pt x="9015984" y="6360591"/>
                  </a:lnTo>
                  <a:lnTo>
                    <a:pt x="9012407" y="6409323"/>
                  </a:lnTo>
                  <a:lnTo>
                    <a:pt x="9002016" y="6455834"/>
                  </a:lnTo>
                  <a:lnTo>
                    <a:pt x="8985323" y="6499615"/>
                  </a:lnTo>
                  <a:lnTo>
                    <a:pt x="8962839" y="6540156"/>
                  </a:lnTo>
                  <a:lnTo>
                    <a:pt x="8935072" y="6576945"/>
                  </a:lnTo>
                  <a:lnTo>
                    <a:pt x="8902535" y="6609475"/>
                  </a:lnTo>
                  <a:lnTo>
                    <a:pt x="8865738" y="6637233"/>
                  </a:lnTo>
                  <a:lnTo>
                    <a:pt x="8825192" y="6659711"/>
                  </a:lnTo>
                  <a:lnTo>
                    <a:pt x="8781407" y="6676398"/>
                  </a:lnTo>
                  <a:lnTo>
                    <a:pt x="8734895" y="6686784"/>
                  </a:lnTo>
                  <a:lnTo>
                    <a:pt x="8686165" y="6690360"/>
                  </a:lnTo>
                  <a:lnTo>
                    <a:pt x="329768" y="6690360"/>
                  </a:lnTo>
                  <a:lnTo>
                    <a:pt x="281036" y="6686784"/>
                  </a:lnTo>
                  <a:lnTo>
                    <a:pt x="234525" y="6676398"/>
                  </a:lnTo>
                  <a:lnTo>
                    <a:pt x="190744" y="6659711"/>
                  </a:lnTo>
                  <a:lnTo>
                    <a:pt x="150203" y="6637233"/>
                  </a:lnTo>
                  <a:lnTo>
                    <a:pt x="113414" y="6609475"/>
                  </a:lnTo>
                  <a:lnTo>
                    <a:pt x="80884" y="6576945"/>
                  </a:lnTo>
                  <a:lnTo>
                    <a:pt x="53126" y="6540156"/>
                  </a:lnTo>
                  <a:lnTo>
                    <a:pt x="30648" y="6499615"/>
                  </a:lnTo>
                  <a:lnTo>
                    <a:pt x="13961" y="6455834"/>
                  </a:lnTo>
                  <a:lnTo>
                    <a:pt x="3575" y="6409323"/>
                  </a:lnTo>
                  <a:lnTo>
                    <a:pt x="0" y="6360591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008" y="1395983"/>
              <a:ext cx="9019540" cy="121920"/>
            </a:xfrm>
            <a:custGeom>
              <a:avLst/>
              <a:gdLst/>
              <a:ahLst/>
              <a:cxnLst/>
              <a:rect l="l" t="t" r="r" b="b"/>
              <a:pathLst>
                <a:path w="9019540" h="121919">
                  <a:moveTo>
                    <a:pt x="9019032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19032" y="121920"/>
                  </a:lnTo>
                  <a:lnTo>
                    <a:pt x="9019032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" y="2977895"/>
              <a:ext cx="9019540" cy="109855"/>
            </a:xfrm>
            <a:custGeom>
              <a:avLst/>
              <a:gdLst/>
              <a:ahLst/>
              <a:cxnLst/>
              <a:rect l="l" t="t" r="r" b="b"/>
              <a:pathLst>
                <a:path w="9019540" h="109855">
                  <a:moveTo>
                    <a:pt x="9019032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9019032" y="109727"/>
                  </a:lnTo>
                  <a:lnTo>
                    <a:pt x="9019032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007" y="1517903"/>
            <a:ext cx="9019540" cy="1460500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marR="149225" algn="ctr">
              <a:lnSpc>
                <a:spcPts val="2245"/>
              </a:lnSpc>
            </a:pPr>
            <a:r>
              <a:rPr sz="3300" b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3300" b="1" spc="-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b="1" spc="5" dirty="0">
                <a:solidFill>
                  <a:srgbClr val="FFFFFF"/>
                </a:solidFill>
                <a:latin typeface="Cambria"/>
                <a:cs typeface="Cambria"/>
              </a:rPr>
              <a:t>V</a:t>
            </a:r>
            <a:endParaRPr sz="3300" dirty="0">
              <a:latin typeface="Cambria"/>
              <a:cs typeface="Cambria"/>
            </a:endParaRPr>
          </a:p>
          <a:p>
            <a:pPr marL="680085" marR="833755" algn="ctr">
              <a:lnSpc>
                <a:spcPts val="4320"/>
              </a:lnSpc>
              <a:spcBef>
                <a:spcPts val="135"/>
              </a:spcBef>
            </a:pPr>
            <a:r>
              <a:rPr sz="3600" b="1" spc="-45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600" b="1" spc="-2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-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-2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-210" dirty="0">
                <a:solidFill>
                  <a:srgbClr val="FFFFFF"/>
                </a:solidFill>
                <a:latin typeface="Arial"/>
                <a:cs typeface="Arial"/>
              </a:rPr>
              <a:t>hic</a:t>
            </a:r>
            <a:r>
              <a:rPr sz="3600" b="1" spc="-26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-17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600" b="1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40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600" b="1" spc="-31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600" b="1" spc="-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-2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600" b="1" spc="-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600" b="1" spc="-1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600" b="1" spc="-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-1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-14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600" b="1" spc="-185" dirty="0">
                <a:solidFill>
                  <a:srgbClr val="FFFFFF"/>
                </a:solidFill>
                <a:latin typeface="Arial"/>
                <a:cs typeface="Arial"/>
              </a:rPr>
              <a:t>ace</a:t>
            </a:r>
            <a:r>
              <a:rPr sz="3600" b="1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-24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600" b="1" spc="-26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254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b="1" spc="-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600" b="1" spc="-160" dirty="0">
                <a:solidFill>
                  <a:srgbClr val="FFFFFF"/>
                </a:solidFill>
                <a:latin typeface="Arial"/>
                <a:cs typeface="Arial"/>
              </a:rPr>
              <a:t>abase  </a:t>
            </a:r>
            <a:r>
              <a:rPr sz="3600" b="1" spc="-30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3600" b="1" spc="-23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3600" b="1" spc="-2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-31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-28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600" b="1" spc="-1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spc="-9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6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3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3600" b="1" spc="-12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6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645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3600" b="1" spc="-15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-37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600" b="1" spc="-200" dirty="0">
                <a:solidFill>
                  <a:srgbClr val="FFFFFF"/>
                </a:solidFill>
                <a:latin typeface="Arial"/>
                <a:cs typeface="Arial"/>
              </a:rPr>
              <a:t>a: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554177"/>
            <a:ext cx="162813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0000"/>
                </a:solidFill>
              </a:rPr>
              <a:t>Syllabus: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6244" y="1084910"/>
            <a:ext cx="3272154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  <a:tab pos="1341755" algn="l"/>
                <a:tab pos="1905635" algn="l"/>
                <a:tab pos="3155950" algn="l"/>
              </a:tabLst>
            </a:pPr>
            <a:r>
              <a:rPr sz="2600" spc="-190" dirty="0">
                <a:latin typeface="Times New Roman"/>
                <a:cs typeface="Times New Roman"/>
              </a:rPr>
              <a:t>Swi</a:t>
            </a:r>
            <a:r>
              <a:rPr sz="2600" spc="-175" dirty="0">
                <a:latin typeface="Times New Roman"/>
                <a:cs typeface="Times New Roman"/>
              </a:rPr>
              <a:t>n</a:t>
            </a:r>
            <a:r>
              <a:rPr sz="2600" spc="-210" dirty="0">
                <a:latin typeface="Times New Roman"/>
                <a:cs typeface="Times New Roman"/>
              </a:rPr>
              <a:t>gs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80" dirty="0">
                <a:latin typeface="Times New Roman"/>
                <a:cs typeface="Times New Roman"/>
              </a:rPr>
              <a:t>f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-105" dirty="0">
                <a:latin typeface="Times New Roman"/>
                <a:cs typeface="Times New Roman"/>
              </a:rPr>
              <a:t>n</a:t>
            </a:r>
            <a:r>
              <a:rPr sz="2600" spc="-130" dirty="0">
                <a:latin typeface="Times New Roman"/>
                <a:cs typeface="Times New Roman"/>
              </a:rPr>
              <a:t>d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170" dirty="0">
                <a:latin typeface="Times New Roman"/>
                <a:cs typeface="Times New Roman"/>
              </a:rPr>
              <a:t>m</a:t>
            </a:r>
            <a:r>
              <a:rPr sz="2600" spc="-90" dirty="0">
                <a:latin typeface="Times New Roman"/>
                <a:cs typeface="Times New Roman"/>
              </a:rPr>
              <a:t>e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l</a:t>
            </a:r>
            <a:r>
              <a:rPr sz="2600" spc="-17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45" dirty="0">
                <a:latin typeface="Times New Roman"/>
                <a:cs typeface="Times New Roman"/>
              </a:rPr>
              <a:t>-  </a:t>
            </a:r>
            <a:r>
              <a:rPr sz="2600" spc="-75" dirty="0">
                <a:latin typeface="Times New Roman"/>
                <a:cs typeface="Times New Roman"/>
              </a:rPr>
              <a:t>Controller	</a:t>
            </a:r>
            <a:r>
              <a:rPr sz="2600" spc="-135" dirty="0">
                <a:latin typeface="Times New Roman"/>
                <a:cs typeface="Times New Roman"/>
              </a:rPr>
              <a:t>(MVC),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5417" y="1481708"/>
            <a:ext cx="410972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8390" algn="l"/>
                <a:tab pos="2570480" algn="l"/>
              </a:tabLst>
            </a:pPr>
            <a:r>
              <a:rPr sz="2600" spc="-195" dirty="0">
                <a:latin typeface="Times New Roman"/>
                <a:cs typeface="Times New Roman"/>
              </a:rPr>
              <a:t>Swing	</a:t>
            </a:r>
            <a:r>
              <a:rPr sz="2600" spc="-75" dirty="0">
                <a:latin typeface="Times New Roman"/>
                <a:cs typeface="Times New Roman"/>
              </a:rPr>
              <a:t>Controls,	</a:t>
            </a:r>
            <a:r>
              <a:rPr sz="2600" spc="-120" dirty="0">
                <a:latin typeface="Times New Roman"/>
                <a:cs typeface="Times New Roman"/>
              </a:rPr>
              <a:t>Components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5232" y="1084910"/>
            <a:ext cx="4594225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956944" algn="l"/>
                <a:tab pos="1649095" algn="l"/>
                <a:tab pos="2950845" algn="l"/>
                <a:tab pos="3954145" algn="l"/>
              </a:tabLst>
            </a:pPr>
            <a:r>
              <a:rPr sz="2600" spc="-345" dirty="0">
                <a:latin typeface="Times New Roman"/>
                <a:cs typeface="Times New Roman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wi</a:t>
            </a:r>
            <a:r>
              <a:rPr sz="2600" spc="-140" dirty="0">
                <a:latin typeface="Times New Roman"/>
                <a:cs typeface="Times New Roman"/>
              </a:rPr>
              <a:t>n</a:t>
            </a:r>
            <a:r>
              <a:rPr sz="2600" spc="-22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70" dirty="0">
                <a:latin typeface="Times New Roman"/>
                <a:cs typeface="Times New Roman"/>
              </a:rPr>
              <a:t>K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45" dirty="0">
                <a:latin typeface="Times New Roman"/>
                <a:cs typeface="Times New Roman"/>
              </a:rPr>
              <a:t>F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-185" dirty="0">
                <a:latin typeface="Times New Roman"/>
                <a:cs typeface="Times New Roman"/>
              </a:rPr>
              <a:t>a</a:t>
            </a:r>
            <a:r>
              <a:rPr sz="2600" spc="45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u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105" dirty="0">
                <a:latin typeface="Times New Roman"/>
                <a:cs typeface="Times New Roman"/>
              </a:rPr>
              <a:t>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05" dirty="0">
                <a:latin typeface="Times New Roman"/>
                <a:cs typeface="Times New Roman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od</a:t>
            </a:r>
            <a:r>
              <a:rPr sz="2600" spc="-105" dirty="0">
                <a:latin typeface="Times New Roman"/>
                <a:cs typeface="Times New Roman"/>
              </a:rPr>
              <a:t>el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95" dirty="0">
                <a:latin typeface="Times New Roman"/>
                <a:cs typeface="Times New Roman"/>
              </a:rPr>
              <a:t>V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85" dirty="0">
                <a:latin typeface="Times New Roman"/>
                <a:cs typeface="Times New Roman"/>
              </a:rPr>
              <a:t>e</a:t>
            </a:r>
            <a:r>
              <a:rPr sz="2600" spc="-150" dirty="0">
                <a:latin typeface="Times New Roman"/>
                <a:cs typeface="Times New Roman"/>
              </a:rPr>
              <a:t>w</a:t>
            </a:r>
            <a:endParaRPr sz="2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600" spc="-150" dirty="0"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1877644"/>
            <a:ext cx="8072755" cy="30437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algn="just">
              <a:lnSpc>
                <a:spcPct val="100000"/>
              </a:lnSpc>
              <a:spcBef>
                <a:spcPts val="95"/>
              </a:spcBef>
            </a:pPr>
            <a:r>
              <a:rPr sz="2600" spc="-85" dirty="0">
                <a:latin typeface="Times New Roman"/>
                <a:cs typeface="Times New Roman"/>
              </a:rPr>
              <a:t>Containers, </a:t>
            </a:r>
            <a:r>
              <a:rPr sz="2600" spc="-190" dirty="0">
                <a:latin typeface="Times New Roman"/>
                <a:cs typeface="Times New Roman"/>
              </a:rPr>
              <a:t>Swing</a:t>
            </a:r>
            <a:r>
              <a:rPr sz="2600" spc="-18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Packages, Event</a:t>
            </a:r>
            <a:r>
              <a:rPr sz="2600" spc="-145" dirty="0">
                <a:latin typeface="Times New Roman"/>
                <a:cs typeface="Times New Roman"/>
              </a:rPr>
              <a:t> Handling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in </a:t>
            </a:r>
            <a:r>
              <a:rPr sz="2600" spc="-155" dirty="0">
                <a:latin typeface="Times New Roman"/>
                <a:cs typeface="Times New Roman"/>
              </a:rPr>
              <a:t>Swings, </a:t>
            </a:r>
            <a:r>
              <a:rPr sz="2600" spc="-195" dirty="0">
                <a:latin typeface="Times New Roman"/>
                <a:cs typeface="Times New Roman"/>
              </a:rPr>
              <a:t>Swing </a:t>
            </a:r>
            <a:r>
              <a:rPr sz="2600" spc="-19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Layout </a:t>
            </a:r>
            <a:r>
              <a:rPr sz="2600" spc="-135" dirty="0">
                <a:latin typeface="Times New Roman"/>
                <a:cs typeface="Times New Roman"/>
              </a:rPr>
              <a:t>Managers, </a:t>
            </a:r>
            <a:r>
              <a:rPr sz="2600" spc="-120" dirty="0">
                <a:latin typeface="Times New Roman"/>
                <a:cs typeface="Times New Roman"/>
              </a:rPr>
              <a:t>Exploring </a:t>
            </a:r>
            <a:r>
              <a:rPr sz="2600" spc="-195" dirty="0">
                <a:latin typeface="Times New Roman"/>
                <a:cs typeface="Times New Roman"/>
              </a:rPr>
              <a:t>Swings </a:t>
            </a:r>
            <a:r>
              <a:rPr sz="2600" spc="-105" dirty="0">
                <a:latin typeface="Times New Roman"/>
                <a:cs typeface="Times New Roman"/>
              </a:rPr>
              <a:t>–JFrame, </a:t>
            </a:r>
            <a:r>
              <a:rPr sz="2600" spc="-135" dirty="0">
                <a:latin typeface="Times New Roman"/>
                <a:cs typeface="Times New Roman"/>
              </a:rPr>
              <a:t>JLabel, The </a:t>
            </a:r>
            <a:r>
              <a:rPr sz="2600" spc="-195" dirty="0">
                <a:latin typeface="Times New Roman"/>
                <a:cs typeface="Times New Roman"/>
              </a:rPr>
              <a:t>Swing </a:t>
            </a:r>
            <a:r>
              <a:rPr sz="2600" spc="-190" dirty="0">
                <a:latin typeface="Times New Roman"/>
                <a:cs typeface="Times New Roman"/>
              </a:rPr>
              <a:t> </a:t>
            </a:r>
            <a:r>
              <a:rPr sz="2600" spc="-305" dirty="0">
                <a:latin typeface="Times New Roman"/>
                <a:cs typeface="Times New Roman"/>
              </a:rPr>
              <a:t>B</a:t>
            </a:r>
            <a:r>
              <a:rPr sz="2600" spc="-245" dirty="0">
                <a:latin typeface="Times New Roman"/>
                <a:cs typeface="Times New Roman"/>
              </a:rPr>
              <a:t>u</a:t>
            </a:r>
            <a:r>
              <a:rPr sz="2600" spc="35" dirty="0">
                <a:latin typeface="Times New Roman"/>
                <a:cs typeface="Times New Roman"/>
              </a:rPr>
              <a:t>tt</a:t>
            </a:r>
            <a:r>
              <a:rPr sz="2600" spc="-130" dirty="0">
                <a:latin typeface="Times New Roman"/>
                <a:cs typeface="Times New Roman"/>
              </a:rPr>
              <a:t>on</a:t>
            </a:r>
            <a:r>
              <a:rPr sz="2600" spc="-50" dirty="0">
                <a:latin typeface="Times New Roman"/>
                <a:cs typeface="Times New Roman"/>
              </a:rPr>
              <a:t>s,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80" dirty="0" err="1">
                <a:latin typeface="Times New Roman"/>
                <a:cs typeface="Times New Roman"/>
              </a:rPr>
              <a:t>J</a:t>
            </a:r>
            <a:r>
              <a:rPr sz="2600" spc="-459" dirty="0" err="1">
                <a:latin typeface="Times New Roman"/>
                <a:cs typeface="Times New Roman"/>
              </a:rPr>
              <a:t>T</a:t>
            </a:r>
            <a:r>
              <a:rPr sz="2600" spc="-110" dirty="0" err="1">
                <a:latin typeface="Times New Roman"/>
                <a:cs typeface="Times New Roman"/>
              </a:rPr>
              <a:t>extFiel</a:t>
            </a:r>
            <a:r>
              <a:rPr sz="2600" spc="-140" dirty="0" err="1">
                <a:latin typeface="Times New Roman"/>
                <a:cs typeface="Times New Roman"/>
              </a:rPr>
              <a:t>d</a:t>
            </a:r>
            <a:r>
              <a:rPr sz="2600" spc="105" dirty="0">
                <a:latin typeface="Times New Roman"/>
                <a:cs typeface="Times New Roman"/>
              </a:rPr>
              <a:t>.</a:t>
            </a:r>
            <a:endParaRPr lang="en-US" sz="2600" dirty="0">
              <a:latin typeface="Times New Roman"/>
              <a:cs typeface="Times New Roman"/>
            </a:endParaRPr>
          </a:p>
          <a:p>
            <a:pPr marL="287020" marR="5715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lang="en-US" sz="2600" spc="-250" dirty="0">
                <a:latin typeface="Times New Roman"/>
                <a:cs typeface="Times New Roman"/>
              </a:rPr>
              <a:t>Java</a:t>
            </a:r>
            <a:r>
              <a:rPr lang="en-US" sz="2600" spc="-245" dirty="0">
                <a:latin typeface="Times New Roman"/>
                <a:cs typeface="Times New Roman"/>
              </a:rPr>
              <a:t> </a:t>
            </a:r>
            <a:r>
              <a:rPr lang="en-US" sz="2600" spc="-185" dirty="0" err="1">
                <a:latin typeface="Times New Roman"/>
                <a:cs typeface="Times New Roman"/>
              </a:rPr>
              <a:t>DataBase</a:t>
            </a:r>
            <a:r>
              <a:rPr lang="en-US" sz="2600" spc="-180" dirty="0">
                <a:latin typeface="Times New Roman"/>
                <a:cs typeface="Times New Roman"/>
              </a:rPr>
              <a:t> </a:t>
            </a:r>
            <a:r>
              <a:rPr lang="en-US" sz="2600" spc="-114" dirty="0">
                <a:latin typeface="Times New Roman"/>
                <a:cs typeface="Times New Roman"/>
              </a:rPr>
              <a:t>Connectivity </a:t>
            </a:r>
            <a:r>
              <a:rPr lang="en-US" sz="2600" spc="-170" dirty="0">
                <a:latin typeface="Times New Roman"/>
                <a:cs typeface="Times New Roman"/>
              </a:rPr>
              <a:t>(JDBC) </a:t>
            </a:r>
            <a:r>
              <a:rPr lang="en-US" sz="2600" spc="-55" dirty="0">
                <a:latin typeface="Times New Roman"/>
                <a:cs typeface="Times New Roman"/>
              </a:rPr>
              <a:t>- </a:t>
            </a:r>
            <a:r>
              <a:rPr lang="en-US" sz="2600" spc="-210" dirty="0">
                <a:latin typeface="Times New Roman"/>
                <a:cs typeface="Times New Roman"/>
              </a:rPr>
              <a:t>JDBC</a:t>
            </a:r>
            <a:r>
              <a:rPr lang="en-US" sz="2600" spc="-204" dirty="0">
                <a:latin typeface="Times New Roman"/>
                <a:cs typeface="Times New Roman"/>
              </a:rPr>
              <a:t> </a:t>
            </a:r>
            <a:r>
              <a:rPr lang="en-US" sz="2600" spc="-140" dirty="0">
                <a:latin typeface="Times New Roman"/>
                <a:cs typeface="Times New Roman"/>
              </a:rPr>
              <a:t>overview, </a:t>
            </a:r>
            <a:r>
              <a:rPr lang="en-US" sz="2600" spc="-114" dirty="0">
                <a:latin typeface="Times New Roman"/>
                <a:cs typeface="Times New Roman"/>
              </a:rPr>
              <a:t>Creating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5" dirty="0">
                <a:latin typeface="Times New Roman"/>
                <a:cs typeface="Times New Roman"/>
              </a:rPr>
              <a:t>and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spc="-140" dirty="0">
                <a:latin typeface="Times New Roman"/>
                <a:cs typeface="Times New Roman"/>
              </a:rPr>
              <a:t>Executing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spc="-90" dirty="0">
                <a:latin typeface="Times New Roman"/>
                <a:cs typeface="Times New Roman"/>
              </a:rPr>
              <a:t>Queries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–</a:t>
            </a:r>
            <a:r>
              <a:rPr lang="en-US" sz="2600" spc="-45" dirty="0">
                <a:latin typeface="Times New Roman"/>
                <a:cs typeface="Times New Roman"/>
              </a:rPr>
              <a:t> </a:t>
            </a:r>
            <a:r>
              <a:rPr lang="en-US" sz="2600" spc="-95" dirty="0">
                <a:latin typeface="Times New Roman"/>
                <a:cs typeface="Times New Roman"/>
              </a:rPr>
              <a:t>create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90" dirty="0">
                <a:latin typeface="Times New Roman"/>
                <a:cs typeface="Times New Roman"/>
              </a:rPr>
              <a:t>table,</a:t>
            </a:r>
            <a:r>
              <a:rPr lang="en-US" sz="2600" spc="-125" dirty="0">
                <a:latin typeface="Times New Roman"/>
                <a:cs typeface="Times New Roman"/>
              </a:rPr>
              <a:t> </a:t>
            </a:r>
            <a:r>
              <a:rPr lang="en-US" sz="2600" spc="-65" dirty="0">
                <a:latin typeface="Times New Roman"/>
                <a:cs typeface="Times New Roman"/>
              </a:rPr>
              <a:t>delete,</a:t>
            </a:r>
            <a:r>
              <a:rPr lang="en-US" sz="2600" spc="-180" dirty="0">
                <a:latin typeface="Times New Roman"/>
                <a:cs typeface="Times New Roman"/>
              </a:rPr>
              <a:t> </a:t>
            </a:r>
            <a:r>
              <a:rPr lang="en-US" sz="2600" spc="-45" dirty="0">
                <a:latin typeface="Times New Roman"/>
                <a:cs typeface="Times New Roman"/>
              </a:rPr>
              <a:t>insert,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spc="-75" dirty="0">
                <a:latin typeface="Times New Roman"/>
                <a:cs typeface="Times New Roman"/>
              </a:rPr>
              <a:t>select.</a:t>
            </a:r>
          </a:p>
          <a:p>
            <a:pPr marL="287020" marR="5715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endParaRPr lang="en-IN" sz="2600" spc="-75" dirty="0">
              <a:latin typeface="Times New Roman"/>
              <a:cs typeface="Times New Roman"/>
            </a:endParaRPr>
          </a:p>
          <a:p>
            <a:pPr marL="287020" marR="5715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endParaRPr lang="en-US"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7638" y="5283"/>
            <a:ext cx="165544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40" dirty="0">
                <a:solidFill>
                  <a:srgbClr val="1D1D1E"/>
                </a:solidFill>
                <a:latin typeface="Cambria"/>
                <a:cs typeface="Cambria"/>
              </a:rPr>
              <a:t>S</a:t>
            </a:r>
            <a:r>
              <a:rPr sz="4000" dirty="0">
                <a:solidFill>
                  <a:srgbClr val="1D1D1E"/>
                </a:solidFill>
                <a:latin typeface="Cambria"/>
                <a:cs typeface="Cambria"/>
              </a:rPr>
              <a:t>wi</a:t>
            </a:r>
            <a:r>
              <a:rPr sz="4000" spc="10" dirty="0">
                <a:solidFill>
                  <a:srgbClr val="1D1D1E"/>
                </a:solidFill>
                <a:latin typeface="Cambria"/>
                <a:cs typeface="Cambria"/>
              </a:rPr>
              <a:t>n</a:t>
            </a:r>
            <a:r>
              <a:rPr sz="4000" dirty="0">
                <a:solidFill>
                  <a:srgbClr val="1D1D1E"/>
                </a:solidFill>
                <a:latin typeface="Cambria"/>
                <a:cs typeface="Cambria"/>
              </a:rPr>
              <a:t>gs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896896"/>
            <a:ext cx="8919210" cy="51796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sz="2800" spc="-135" dirty="0">
                <a:latin typeface="Times New Roman"/>
                <a:cs typeface="Times New Roman"/>
              </a:rPr>
              <a:t>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Swing-related </a:t>
            </a:r>
            <a:r>
              <a:rPr sz="2800" spc="-175" dirty="0">
                <a:latin typeface="Times New Roman"/>
                <a:cs typeface="Times New Roman"/>
              </a:rPr>
              <a:t>classes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are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contained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in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javax.swing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marR="1270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sz="2800" spc="-204" dirty="0">
                <a:latin typeface="Times New Roman"/>
                <a:cs typeface="Times New Roman"/>
              </a:rPr>
              <a:t>Swing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a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set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of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classes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that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provides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more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powerful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and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flexible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GUI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com</a:t>
            </a:r>
            <a:r>
              <a:rPr sz="2800" spc="-120" dirty="0">
                <a:latin typeface="Times New Roman"/>
                <a:cs typeface="Times New Roman"/>
              </a:rPr>
              <a:t>p</a:t>
            </a:r>
            <a:r>
              <a:rPr sz="2800" spc="-110" dirty="0">
                <a:latin typeface="Times New Roman"/>
                <a:cs typeface="Times New Roman"/>
              </a:rPr>
              <a:t>on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-85" dirty="0">
                <a:latin typeface="Times New Roman"/>
                <a:cs typeface="Times New Roman"/>
              </a:rPr>
              <a:t>ts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160" dirty="0">
                <a:latin typeface="Times New Roman"/>
                <a:cs typeface="Times New Roman"/>
              </a:rPr>
              <a:t>a</a:t>
            </a:r>
            <a:r>
              <a:rPr sz="2800" spc="-175" dirty="0">
                <a:latin typeface="Times New Roman"/>
                <a:cs typeface="Times New Roman"/>
              </a:rPr>
              <a:t>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ar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po</a:t>
            </a:r>
            <a:r>
              <a:rPr sz="2800" spc="-210" dirty="0">
                <a:latin typeface="Times New Roman"/>
                <a:cs typeface="Times New Roman"/>
              </a:rPr>
              <a:t>s</a:t>
            </a:r>
            <a:r>
              <a:rPr sz="2800" spc="-200" dirty="0">
                <a:latin typeface="Times New Roman"/>
                <a:cs typeface="Times New Roman"/>
              </a:rPr>
              <a:t>s</a:t>
            </a:r>
            <a:r>
              <a:rPr sz="2800" spc="-100" dirty="0">
                <a:latin typeface="Times New Roman"/>
                <a:cs typeface="Times New Roman"/>
              </a:rPr>
              <a:t>i</a:t>
            </a:r>
            <a:r>
              <a:rPr sz="2800" spc="-235" dirty="0">
                <a:latin typeface="Times New Roman"/>
                <a:cs typeface="Times New Roman"/>
              </a:rPr>
              <a:t>b</a:t>
            </a:r>
            <a:r>
              <a:rPr sz="2800" spc="-85" dirty="0">
                <a:latin typeface="Times New Roman"/>
                <a:cs typeface="Times New Roman"/>
              </a:rPr>
              <a:t>l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105" dirty="0">
                <a:latin typeface="Times New Roman"/>
                <a:cs typeface="Times New Roman"/>
              </a:rPr>
              <a:t> with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spc="-280" dirty="0">
                <a:latin typeface="Times New Roman"/>
                <a:cs typeface="Times New Roman"/>
              </a:rPr>
              <a:t> </a:t>
            </a:r>
            <a:r>
              <a:rPr sz="2800" spc="-635" dirty="0">
                <a:latin typeface="Times New Roman"/>
                <a:cs typeface="Times New Roman"/>
              </a:rPr>
              <a:t>A</a:t>
            </a:r>
            <a:r>
              <a:rPr sz="2800" spc="-80" dirty="0">
                <a:latin typeface="Times New Roman"/>
                <a:cs typeface="Times New Roman"/>
              </a:rPr>
              <a:t>W</a:t>
            </a:r>
            <a:r>
              <a:rPr sz="2800" spc="-490" dirty="0">
                <a:latin typeface="Times New Roman"/>
                <a:cs typeface="Times New Roman"/>
              </a:rPr>
              <a:t>T</a:t>
            </a:r>
            <a:r>
              <a:rPr sz="2800" spc="12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sz="2800" spc="-345" dirty="0">
                <a:latin typeface="Times New Roman"/>
                <a:cs typeface="Times New Roman"/>
              </a:rPr>
              <a:t>A</a:t>
            </a:r>
            <a:r>
              <a:rPr sz="2800" spc="-110" dirty="0">
                <a:latin typeface="Times New Roman"/>
                <a:cs typeface="Times New Roman"/>
              </a:rPr>
              <a:t>l</a:t>
            </a:r>
            <a:r>
              <a:rPr sz="2800" spc="-105" dirty="0">
                <a:latin typeface="Times New Roman"/>
                <a:cs typeface="Times New Roman"/>
              </a:rPr>
              <a:t>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com</a:t>
            </a:r>
            <a:r>
              <a:rPr sz="2800" spc="-120" dirty="0">
                <a:latin typeface="Times New Roman"/>
                <a:cs typeface="Times New Roman"/>
              </a:rPr>
              <a:t>p</a:t>
            </a:r>
            <a:r>
              <a:rPr sz="2800" spc="-110" dirty="0">
                <a:latin typeface="Times New Roman"/>
                <a:cs typeface="Times New Roman"/>
              </a:rPr>
              <a:t>on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-85" dirty="0">
                <a:latin typeface="Times New Roman"/>
                <a:cs typeface="Times New Roman"/>
              </a:rPr>
              <a:t>ts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204" dirty="0">
                <a:latin typeface="Times New Roman"/>
                <a:cs typeface="Times New Roman"/>
              </a:rPr>
              <a:t>h</a:t>
            </a:r>
            <a:r>
              <a:rPr sz="2800" spc="-260" dirty="0">
                <a:latin typeface="Times New Roman"/>
                <a:cs typeface="Times New Roman"/>
              </a:rPr>
              <a:t>a</a:t>
            </a:r>
            <a:r>
              <a:rPr sz="2800" spc="-275" dirty="0">
                <a:latin typeface="Times New Roman"/>
                <a:cs typeface="Times New Roman"/>
              </a:rPr>
              <a:t>v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mo</a:t>
            </a:r>
            <a:r>
              <a:rPr sz="2800" spc="-80" dirty="0">
                <a:latin typeface="Times New Roman"/>
                <a:cs typeface="Times New Roman"/>
              </a:rPr>
              <a:t>r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c</a:t>
            </a:r>
            <a:r>
              <a:rPr sz="2800" spc="-185" dirty="0">
                <a:latin typeface="Times New Roman"/>
                <a:cs typeface="Times New Roman"/>
              </a:rPr>
              <a:t>a</a:t>
            </a:r>
            <a:r>
              <a:rPr sz="2800" spc="-110" dirty="0">
                <a:latin typeface="Times New Roman"/>
                <a:cs typeface="Times New Roman"/>
              </a:rPr>
              <a:t>p</a:t>
            </a:r>
            <a:r>
              <a:rPr sz="2800" spc="-215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b</a:t>
            </a:r>
            <a:r>
              <a:rPr sz="2800" spc="-125" dirty="0">
                <a:latin typeface="Times New Roman"/>
                <a:cs typeface="Times New Roman"/>
              </a:rPr>
              <a:t>il</a:t>
            </a:r>
            <a:r>
              <a:rPr sz="2800" spc="-120" dirty="0">
                <a:latin typeface="Times New Roman"/>
                <a:cs typeface="Times New Roman"/>
              </a:rPr>
              <a:t>i</a:t>
            </a:r>
            <a:r>
              <a:rPr sz="2800" spc="-55" dirty="0">
                <a:latin typeface="Times New Roman"/>
                <a:cs typeface="Times New Roman"/>
              </a:rPr>
              <a:t>ti</a:t>
            </a:r>
            <a:r>
              <a:rPr sz="2800" spc="-100" dirty="0">
                <a:latin typeface="Times New Roman"/>
                <a:cs typeface="Times New Roman"/>
              </a:rPr>
              <a:t>e</a:t>
            </a:r>
            <a:r>
              <a:rPr sz="2800" spc="-210" dirty="0">
                <a:latin typeface="Times New Roman"/>
                <a:cs typeface="Times New Roman"/>
              </a:rPr>
              <a:t>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in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75" dirty="0">
                <a:latin typeface="Times New Roman"/>
                <a:cs typeface="Times New Roman"/>
              </a:rPr>
              <a:t>Sw</a:t>
            </a:r>
            <a:r>
              <a:rPr sz="2800" spc="-110" dirty="0">
                <a:latin typeface="Times New Roman"/>
                <a:cs typeface="Times New Roman"/>
              </a:rPr>
              <a:t>in</a:t>
            </a:r>
            <a:r>
              <a:rPr sz="2800" spc="-470" dirty="0">
                <a:latin typeface="Times New Roman"/>
                <a:cs typeface="Times New Roman"/>
              </a:rPr>
              <a:t>g</a:t>
            </a:r>
            <a:r>
              <a:rPr sz="2800" spc="12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marR="5080" indent="42545" algn="just">
              <a:lnSpc>
                <a:spcPct val="100000"/>
              </a:lnSpc>
              <a:spcBef>
                <a:spcPts val="605"/>
              </a:spcBef>
            </a:pPr>
            <a:r>
              <a:rPr sz="2800" spc="-135" dirty="0">
                <a:latin typeface="Times New Roman"/>
                <a:cs typeface="Times New Roman"/>
              </a:rPr>
              <a:t>Example: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355" dirty="0">
                <a:latin typeface="Times New Roman"/>
                <a:cs typeface="Times New Roman"/>
              </a:rPr>
              <a:t>A</a:t>
            </a:r>
            <a:r>
              <a:rPr sz="2800" spc="-35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button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40" dirty="0">
                <a:latin typeface="Times New Roman"/>
                <a:cs typeface="Times New Roman"/>
              </a:rPr>
              <a:t>may</a:t>
            </a:r>
            <a:r>
              <a:rPr sz="2800" spc="-235" dirty="0">
                <a:latin typeface="Times New Roman"/>
                <a:cs typeface="Times New Roman"/>
              </a:rPr>
              <a:t> </a:t>
            </a:r>
            <a:r>
              <a:rPr sz="2800" spc="-225" dirty="0">
                <a:latin typeface="Times New Roman"/>
                <a:cs typeface="Times New Roman"/>
              </a:rPr>
              <a:t>have</a:t>
            </a:r>
            <a:r>
              <a:rPr sz="2800" spc="-22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both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an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image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and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a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text </a:t>
            </a:r>
            <a:r>
              <a:rPr sz="2800" spc="-95" dirty="0">
                <a:latin typeface="Times New Roman"/>
                <a:cs typeface="Times New Roman"/>
              </a:rPr>
              <a:t>string 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associated </a:t>
            </a:r>
            <a:r>
              <a:rPr sz="2800" spc="-110" dirty="0">
                <a:latin typeface="Times New Roman"/>
                <a:cs typeface="Times New Roman"/>
              </a:rPr>
              <a:t>with </a:t>
            </a:r>
            <a:r>
              <a:rPr sz="2800" spc="5" dirty="0">
                <a:latin typeface="Times New Roman"/>
                <a:cs typeface="Times New Roman"/>
              </a:rPr>
              <a:t>it. </a:t>
            </a:r>
            <a:r>
              <a:rPr sz="2800" spc="-150" dirty="0">
                <a:latin typeface="Times New Roman"/>
                <a:cs typeface="Times New Roman"/>
              </a:rPr>
              <a:t>Also,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170" dirty="0">
                <a:latin typeface="Times New Roman"/>
                <a:cs typeface="Times New Roman"/>
              </a:rPr>
              <a:t>image </a:t>
            </a:r>
            <a:r>
              <a:rPr sz="2800" spc="-165" dirty="0">
                <a:latin typeface="Times New Roman"/>
                <a:cs typeface="Times New Roman"/>
              </a:rPr>
              <a:t>can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be </a:t>
            </a:r>
            <a:r>
              <a:rPr sz="2800" spc="-150" dirty="0">
                <a:latin typeface="Times New Roman"/>
                <a:cs typeface="Times New Roman"/>
              </a:rPr>
              <a:t>changed </a:t>
            </a:r>
            <a:r>
              <a:rPr sz="2800" spc="-215" dirty="0">
                <a:latin typeface="Times New Roman"/>
                <a:cs typeface="Times New Roman"/>
              </a:rPr>
              <a:t>as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95" dirty="0">
                <a:latin typeface="Times New Roman"/>
                <a:cs typeface="Times New Roman"/>
              </a:rPr>
              <a:t>state </a:t>
            </a:r>
            <a:r>
              <a:rPr sz="2800" spc="-155" dirty="0">
                <a:latin typeface="Times New Roman"/>
                <a:cs typeface="Times New Roman"/>
              </a:rPr>
              <a:t>of 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b</a:t>
            </a:r>
            <a:r>
              <a:rPr sz="2800" spc="-110" dirty="0">
                <a:latin typeface="Times New Roman"/>
                <a:cs typeface="Times New Roman"/>
              </a:rPr>
              <a:t>u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spc="30" dirty="0">
                <a:latin typeface="Times New Roman"/>
                <a:cs typeface="Times New Roman"/>
              </a:rPr>
              <a:t>t</a:t>
            </a:r>
            <a:r>
              <a:rPr sz="2800" spc="-110" dirty="0">
                <a:latin typeface="Times New Roman"/>
                <a:cs typeface="Times New Roman"/>
              </a:rPr>
              <a:t>o</a:t>
            </a:r>
            <a:r>
              <a:rPr sz="2800" spc="-114" dirty="0">
                <a:latin typeface="Times New Roman"/>
                <a:cs typeface="Times New Roman"/>
              </a:rPr>
              <a:t>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c</a:t>
            </a:r>
            <a:r>
              <a:rPr sz="2800" spc="-180" dirty="0">
                <a:latin typeface="Times New Roman"/>
                <a:cs typeface="Times New Roman"/>
              </a:rPr>
              <a:t>han</a:t>
            </a:r>
            <a:r>
              <a:rPr sz="2800" spc="-185" dirty="0">
                <a:latin typeface="Times New Roman"/>
                <a:cs typeface="Times New Roman"/>
              </a:rPr>
              <a:t>g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240" dirty="0">
                <a:latin typeface="Times New Roman"/>
                <a:cs typeface="Times New Roman"/>
              </a:rPr>
              <a:t>s</a:t>
            </a:r>
            <a:r>
              <a:rPr sz="2800" spc="12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marR="889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sz="2800" spc="-204" dirty="0">
                <a:latin typeface="Times New Roman"/>
                <a:cs typeface="Times New Roman"/>
              </a:rPr>
              <a:t>Swing</a:t>
            </a:r>
            <a:r>
              <a:rPr sz="2800" spc="-20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library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is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an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official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265" dirty="0">
                <a:latin typeface="Times New Roman"/>
                <a:cs typeface="Times New Roman"/>
              </a:rPr>
              <a:t>Java</a:t>
            </a:r>
            <a:r>
              <a:rPr sz="2800" spc="-26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GUI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tool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kit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released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Times New Roman"/>
                <a:cs typeface="Times New Roman"/>
              </a:rPr>
              <a:t>by</a:t>
            </a:r>
            <a:r>
              <a:rPr sz="2800" spc="-210" dirty="0">
                <a:latin typeface="Times New Roman"/>
                <a:cs typeface="Times New Roman"/>
              </a:rPr>
              <a:t> Sun </a:t>
            </a:r>
            <a:r>
              <a:rPr sz="2800" spc="-204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Microsystems</a:t>
            </a:r>
            <a:endParaRPr sz="2800" dirty="0">
              <a:latin typeface="Times New Roman"/>
              <a:cs typeface="Times New Roman"/>
            </a:endParaRPr>
          </a:p>
          <a:p>
            <a:pPr marL="287020" marR="6985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</a:tabLst>
            </a:pPr>
            <a:r>
              <a:rPr sz="2800" spc="-260" dirty="0">
                <a:latin typeface="Times New Roman"/>
                <a:cs typeface="Times New Roman"/>
              </a:rPr>
              <a:t>Java</a:t>
            </a:r>
            <a:r>
              <a:rPr sz="2800" spc="-254" dirty="0">
                <a:latin typeface="Times New Roman"/>
                <a:cs typeface="Times New Roman"/>
              </a:rPr>
              <a:t> </a:t>
            </a:r>
            <a:r>
              <a:rPr sz="2800" spc="-210" dirty="0">
                <a:latin typeface="Times New Roman"/>
                <a:cs typeface="Times New Roman"/>
              </a:rPr>
              <a:t>Swing</a:t>
            </a:r>
            <a:r>
              <a:rPr sz="2800" spc="-204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provides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platform-independent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and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lightweight 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components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511505"/>
            <a:ext cx="8240395" cy="490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259079" indent="-274955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Wingdings"/>
              <a:buChar char=""/>
              <a:tabLst>
                <a:tab pos="287655" algn="l"/>
              </a:tabLst>
            </a:pPr>
            <a:r>
              <a:rPr sz="3000" spc="-285" dirty="0">
                <a:latin typeface="Times New Roman"/>
                <a:cs typeface="Times New Roman"/>
              </a:rPr>
              <a:t>J</a:t>
            </a:r>
            <a:r>
              <a:rPr sz="3000" spc="-325" dirty="0">
                <a:latin typeface="Times New Roman"/>
                <a:cs typeface="Times New Roman"/>
              </a:rPr>
              <a:t>a</a:t>
            </a:r>
            <a:r>
              <a:rPr sz="3000" spc="-305" dirty="0">
                <a:latin typeface="Times New Roman"/>
                <a:cs typeface="Times New Roman"/>
              </a:rPr>
              <a:t>v</a:t>
            </a:r>
            <a:r>
              <a:rPr sz="3000" spc="-235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54" dirty="0">
                <a:latin typeface="Times New Roman"/>
                <a:cs typeface="Times New Roman"/>
              </a:rPr>
              <a:t>S</a:t>
            </a:r>
            <a:r>
              <a:rPr sz="3000" spc="-345" dirty="0">
                <a:latin typeface="Times New Roman"/>
                <a:cs typeface="Times New Roman"/>
              </a:rPr>
              <a:t>w</a:t>
            </a:r>
            <a:r>
              <a:rPr sz="3000" spc="-175" dirty="0">
                <a:latin typeface="Times New Roman"/>
                <a:cs typeface="Times New Roman"/>
              </a:rPr>
              <a:t>ing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90" dirty="0">
                <a:latin typeface="Times New Roman"/>
                <a:cs typeface="Times New Roman"/>
              </a:rPr>
              <a:t>is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235" dirty="0">
                <a:latin typeface="Times New Roman"/>
                <a:cs typeface="Times New Roman"/>
              </a:rPr>
              <a:t>a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p</a:t>
            </a:r>
            <a:r>
              <a:rPr sz="3000" spc="-120" dirty="0">
                <a:latin typeface="Times New Roman"/>
                <a:cs typeface="Times New Roman"/>
              </a:rPr>
              <a:t>a</a:t>
            </a:r>
            <a:r>
              <a:rPr sz="3000" spc="5" dirty="0">
                <a:latin typeface="Times New Roman"/>
                <a:cs typeface="Times New Roman"/>
              </a:rPr>
              <a:t>r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75" dirty="0">
                <a:latin typeface="Times New Roman"/>
                <a:cs typeface="Times New Roman"/>
              </a:rPr>
              <a:t>of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285" dirty="0">
                <a:latin typeface="Times New Roman"/>
                <a:cs typeface="Times New Roman"/>
              </a:rPr>
              <a:t>J</a:t>
            </a:r>
            <a:r>
              <a:rPr sz="3000" spc="-325" dirty="0">
                <a:latin typeface="Times New Roman"/>
                <a:cs typeface="Times New Roman"/>
              </a:rPr>
              <a:t>a</a:t>
            </a:r>
            <a:r>
              <a:rPr sz="3000" spc="-305" dirty="0">
                <a:latin typeface="Times New Roman"/>
                <a:cs typeface="Times New Roman"/>
              </a:rPr>
              <a:t>v</a:t>
            </a:r>
            <a:r>
              <a:rPr sz="3000" spc="-235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400" dirty="0">
                <a:latin typeface="Times New Roman"/>
                <a:cs typeface="Times New Roman"/>
              </a:rPr>
              <a:t>F</a:t>
            </a:r>
            <a:r>
              <a:rPr sz="3000" spc="-125" dirty="0">
                <a:latin typeface="Times New Roman"/>
                <a:cs typeface="Times New Roman"/>
              </a:rPr>
              <a:t>o</a:t>
            </a:r>
            <a:r>
              <a:rPr sz="3000" spc="-140" dirty="0">
                <a:latin typeface="Times New Roman"/>
                <a:cs typeface="Times New Roman"/>
              </a:rPr>
              <a:t>u</a:t>
            </a:r>
            <a:r>
              <a:rPr sz="3000" spc="-125" dirty="0">
                <a:latin typeface="Times New Roman"/>
                <a:cs typeface="Times New Roman"/>
              </a:rPr>
              <a:t>n</a:t>
            </a:r>
            <a:r>
              <a:rPr sz="3000" spc="-140" dirty="0">
                <a:latin typeface="Times New Roman"/>
                <a:cs typeface="Times New Roman"/>
              </a:rPr>
              <a:t>d</a:t>
            </a:r>
            <a:r>
              <a:rPr sz="3000" spc="-254" dirty="0">
                <a:latin typeface="Times New Roman"/>
                <a:cs typeface="Times New Roman"/>
              </a:rPr>
              <a:t>a</a:t>
            </a:r>
            <a:r>
              <a:rPr sz="3000" spc="25" dirty="0">
                <a:latin typeface="Times New Roman"/>
                <a:cs typeface="Times New Roman"/>
              </a:rPr>
              <a:t>t</a:t>
            </a:r>
            <a:r>
              <a:rPr sz="3000" spc="-135" dirty="0">
                <a:latin typeface="Times New Roman"/>
                <a:cs typeface="Times New Roman"/>
              </a:rPr>
              <a:t>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80" dirty="0">
                <a:latin typeface="Times New Roman"/>
                <a:cs typeface="Times New Roman"/>
              </a:rPr>
              <a:t>Cl</a:t>
            </a:r>
            <a:r>
              <a:rPr sz="3000" spc="-160" dirty="0">
                <a:latin typeface="Times New Roman"/>
                <a:cs typeface="Times New Roman"/>
              </a:rPr>
              <a:t>a</a:t>
            </a:r>
            <a:r>
              <a:rPr sz="3000" spc="-180" dirty="0">
                <a:latin typeface="Times New Roman"/>
                <a:cs typeface="Times New Roman"/>
              </a:rPr>
              <a:t>sses</a:t>
            </a:r>
            <a:r>
              <a:rPr sz="3000" spc="-160" dirty="0">
                <a:latin typeface="Times New Roman"/>
                <a:cs typeface="Times New Roman"/>
              </a:rPr>
              <a:t>(</a:t>
            </a:r>
            <a:r>
              <a:rPr sz="3000" spc="-210" dirty="0">
                <a:latin typeface="Times New Roman"/>
                <a:cs typeface="Times New Roman"/>
              </a:rPr>
              <a:t>J</a:t>
            </a:r>
            <a:r>
              <a:rPr sz="3000" spc="-170" dirty="0">
                <a:latin typeface="Times New Roman"/>
                <a:cs typeface="Times New Roman"/>
              </a:rPr>
              <a:t>FC)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25" dirty="0">
                <a:latin typeface="Times New Roman"/>
                <a:cs typeface="Times New Roman"/>
              </a:rPr>
              <a:t>t</a:t>
            </a:r>
            <a:r>
              <a:rPr sz="3000" spc="-225" dirty="0">
                <a:latin typeface="Times New Roman"/>
                <a:cs typeface="Times New Roman"/>
              </a:rPr>
              <a:t>h</a:t>
            </a:r>
            <a:r>
              <a:rPr sz="3000" spc="-215" dirty="0">
                <a:latin typeface="Times New Roman"/>
                <a:cs typeface="Times New Roman"/>
              </a:rPr>
              <a:t>a</a:t>
            </a:r>
            <a:r>
              <a:rPr sz="3000" spc="40" dirty="0">
                <a:latin typeface="Times New Roman"/>
                <a:cs typeface="Times New Roman"/>
              </a:rPr>
              <a:t>t  </a:t>
            </a:r>
            <a:r>
              <a:rPr sz="3000" spc="-190" dirty="0">
                <a:latin typeface="Times New Roman"/>
                <a:cs typeface="Times New Roman"/>
              </a:rPr>
              <a:t>is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55" dirty="0">
                <a:latin typeface="Times New Roman"/>
                <a:cs typeface="Times New Roman"/>
              </a:rPr>
              <a:t>used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5" dirty="0">
                <a:latin typeface="Times New Roman"/>
                <a:cs typeface="Times New Roman"/>
              </a:rPr>
              <a:t>create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60" dirty="0">
                <a:latin typeface="Times New Roman"/>
                <a:cs typeface="Times New Roman"/>
              </a:rPr>
              <a:t>window-based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applications.</a:t>
            </a:r>
            <a:endParaRPr sz="300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Wingdings"/>
              <a:buChar char=""/>
              <a:tabLst>
                <a:tab pos="287655" algn="l"/>
              </a:tabLst>
            </a:pPr>
            <a:r>
              <a:rPr sz="3000" spc="-100" dirty="0">
                <a:latin typeface="Times New Roman"/>
                <a:cs typeface="Times New Roman"/>
              </a:rPr>
              <a:t>It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85" dirty="0">
                <a:latin typeface="Times New Roman"/>
                <a:cs typeface="Times New Roman"/>
              </a:rPr>
              <a:t>is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10" dirty="0">
                <a:latin typeface="Times New Roman"/>
                <a:cs typeface="Times New Roman"/>
              </a:rPr>
              <a:t>built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30" dirty="0">
                <a:latin typeface="Times New Roman"/>
                <a:cs typeface="Times New Roman"/>
              </a:rPr>
              <a:t>on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imes New Roman"/>
                <a:cs typeface="Times New Roman"/>
              </a:rPr>
              <a:t>the </a:t>
            </a:r>
            <a:r>
              <a:rPr sz="3000" spc="-75" dirty="0">
                <a:latin typeface="Times New Roman"/>
                <a:cs typeface="Times New Roman"/>
              </a:rPr>
              <a:t>top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75" dirty="0">
                <a:latin typeface="Times New Roman"/>
                <a:cs typeface="Times New Roman"/>
              </a:rPr>
              <a:t>of</a:t>
            </a:r>
            <a:r>
              <a:rPr sz="3000" spc="-315" dirty="0">
                <a:latin typeface="Times New Roman"/>
                <a:cs typeface="Times New Roman"/>
              </a:rPr>
              <a:t> </a:t>
            </a:r>
            <a:r>
              <a:rPr sz="3000" spc="-310" dirty="0">
                <a:latin typeface="Times New Roman"/>
                <a:cs typeface="Times New Roman"/>
              </a:rPr>
              <a:t>AWT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70" dirty="0">
                <a:latin typeface="Times New Roman"/>
                <a:cs typeface="Times New Roman"/>
              </a:rPr>
              <a:t>and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imes New Roman"/>
                <a:cs typeface="Times New Roman"/>
              </a:rPr>
              <a:t>entirely</a:t>
            </a:r>
            <a:r>
              <a:rPr sz="3000" spc="-60" dirty="0">
                <a:latin typeface="Times New Roman"/>
                <a:cs typeface="Times New Roman"/>
              </a:rPr>
              <a:t> written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in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80" dirty="0">
                <a:latin typeface="Times New Roman"/>
                <a:cs typeface="Times New Roman"/>
              </a:rPr>
              <a:t>java.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000" b="1" spc="-350" dirty="0">
                <a:solidFill>
                  <a:srgbClr val="FF0000"/>
                </a:solidFill>
                <a:latin typeface="Times New Roman"/>
                <a:cs typeface="Times New Roman"/>
              </a:rPr>
              <a:t>JFC</a:t>
            </a:r>
            <a:endParaRPr sz="3000">
              <a:latin typeface="Times New Roman"/>
              <a:cs typeface="Times New Roman"/>
            </a:endParaRPr>
          </a:p>
          <a:p>
            <a:pPr marL="287020" marR="271145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Wingdings"/>
              <a:buChar char=""/>
              <a:tabLst>
                <a:tab pos="287655" algn="l"/>
              </a:tabLst>
            </a:pPr>
            <a:r>
              <a:rPr sz="3000" spc="-155" dirty="0">
                <a:latin typeface="Times New Roman"/>
                <a:cs typeface="Times New Roman"/>
              </a:rPr>
              <a:t>T</a:t>
            </a:r>
            <a:r>
              <a:rPr sz="3000" spc="-150" dirty="0">
                <a:latin typeface="Times New Roman"/>
                <a:cs typeface="Times New Roman"/>
              </a:rPr>
              <a:t>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285" dirty="0">
                <a:latin typeface="Times New Roman"/>
                <a:cs typeface="Times New Roman"/>
              </a:rPr>
              <a:t>J</a:t>
            </a:r>
            <a:r>
              <a:rPr sz="3000" spc="-325" dirty="0">
                <a:latin typeface="Times New Roman"/>
                <a:cs typeface="Times New Roman"/>
              </a:rPr>
              <a:t>a</a:t>
            </a:r>
            <a:r>
              <a:rPr sz="3000" spc="-305" dirty="0">
                <a:latin typeface="Times New Roman"/>
                <a:cs typeface="Times New Roman"/>
              </a:rPr>
              <a:t>v</a:t>
            </a:r>
            <a:r>
              <a:rPr sz="3000" spc="-235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400" dirty="0">
                <a:latin typeface="Times New Roman"/>
                <a:cs typeface="Times New Roman"/>
              </a:rPr>
              <a:t>F</a:t>
            </a:r>
            <a:r>
              <a:rPr sz="3000" spc="-125" dirty="0">
                <a:latin typeface="Times New Roman"/>
                <a:cs typeface="Times New Roman"/>
              </a:rPr>
              <a:t>o</a:t>
            </a:r>
            <a:r>
              <a:rPr sz="3000" spc="-140" dirty="0">
                <a:latin typeface="Times New Roman"/>
                <a:cs typeface="Times New Roman"/>
              </a:rPr>
              <a:t>u</a:t>
            </a:r>
            <a:r>
              <a:rPr sz="3000" spc="-125" dirty="0">
                <a:latin typeface="Times New Roman"/>
                <a:cs typeface="Times New Roman"/>
              </a:rPr>
              <a:t>n</a:t>
            </a:r>
            <a:r>
              <a:rPr sz="3000" spc="-140" dirty="0">
                <a:latin typeface="Times New Roman"/>
                <a:cs typeface="Times New Roman"/>
              </a:rPr>
              <a:t>d</a:t>
            </a:r>
            <a:r>
              <a:rPr sz="3000" spc="-254" dirty="0">
                <a:latin typeface="Times New Roman"/>
                <a:cs typeface="Times New Roman"/>
              </a:rPr>
              <a:t>a</a:t>
            </a:r>
            <a:r>
              <a:rPr sz="3000" spc="25" dirty="0">
                <a:latin typeface="Times New Roman"/>
                <a:cs typeface="Times New Roman"/>
              </a:rPr>
              <a:t>t</a:t>
            </a:r>
            <a:r>
              <a:rPr sz="3000" spc="-135" dirty="0">
                <a:latin typeface="Times New Roman"/>
                <a:cs typeface="Times New Roman"/>
              </a:rPr>
              <a:t>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80" dirty="0">
                <a:latin typeface="Times New Roman"/>
                <a:cs typeface="Times New Roman"/>
              </a:rPr>
              <a:t>Cl</a:t>
            </a:r>
            <a:r>
              <a:rPr sz="3000" spc="-160" dirty="0">
                <a:latin typeface="Times New Roman"/>
                <a:cs typeface="Times New Roman"/>
              </a:rPr>
              <a:t>a</a:t>
            </a:r>
            <a:r>
              <a:rPr sz="3000" spc="-180" dirty="0">
                <a:latin typeface="Times New Roman"/>
                <a:cs typeface="Times New Roman"/>
              </a:rPr>
              <a:t>sses</a:t>
            </a:r>
            <a:r>
              <a:rPr sz="3000" spc="-160" dirty="0">
                <a:latin typeface="Times New Roman"/>
                <a:cs typeface="Times New Roman"/>
              </a:rPr>
              <a:t>(</a:t>
            </a:r>
            <a:r>
              <a:rPr sz="3000" spc="-210" dirty="0">
                <a:latin typeface="Times New Roman"/>
                <a:cs typeface="Times New Roman"/>
              </a:rPr>
              <a:t>J</a:t>
            </a:r>
            <a:r>
              <a:rPr sz="3000" spc="-170" dirty="0">
                <a:latin typeface="Times New Roman"/>
                <a:cs typeface="Times New Roman"/>
              </a:rPr>
              <a:t>FC)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imes New Roman"/>
                <a:cs typeface="Times New Roman"/>
              </a:rPr>
              <a:t>a</a:t>
            </a:r>
            <a:r>
              <a:rPr sz="3000" spc="-110" dirty="0">
                <a:latin typeface="Times New Roman"/>
                <a:cs typeface="Times New Roman"/>
              </a:rPr>
              <a:t>r</a:t>
            </a:r>
            <a:r>
              <a:rPr sz="3000" spc="-114" dirty="0">
                <a:latin typeface="Times New Roman"/>
                <a:cs typeface="Times New Roman"/>
              </a:rPr>
              <a:t>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235" dirty="0">
                <a:latin typeface="Times New Roman"/>
                <a:cs typeface="Times New Roman"/>
              </a:rPr>
              <a:t>a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imes New Roman"/>
                <a:cs typeface="Times New Roman"/>
              </a:rPr>
              <a:t>set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o</a:t>
            </a:r>
            <a:r>
              <a:rPr sz="3000" spc="-220" dirty="0">
                <a:latin typeface="Times New Roman"/>
                <a:cs typeface="Times New Roman"/>
              </a:rPr>
              <a:t>f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85" dirty="0">
                <a:latin typeface="Times New Roman"/>
                <a:cs typeface="Times New Roman"/>
              </a:rPr>
              <a:t>G</a:t>
            </a:r>
            <a:r>
              <a:rPr sz="3000" spc="-200" dirty="0">
                <a:latin typeface="Times New Roman"/>
                <a:cs typeface="Times New Roman"/>
              </a:rPr>
              <a:t>U</a:t>
            </a:r>
            <a:r>
              <a:rPr sz="3000" spc="-185" dirty="0">
                <a:latin typeface="Times New Roman"/>
                <a:cs typeface="Times New Roman"/>
              </a:rPr>
              <a:t>I  </a:t>
            </a:r>
            <a:r>
              <a:rPr sz="3000" spc="-145" dirty="0">
                <a:latin typeface="Times New Roman"/>
                <a:cs typeface="Times New Roman"/>
              </a:rPr>
              <a:t>c</a:t>
            </a:r>
            <a:r>
              <a:rPr sz="3000" spc="-175" dirty="0">
                <a:latin typeface="Times New Roman"/>
                <a:cs typeface="Times New Roman"/>
              </a:rPr>
              <a:t>o</a:t>
            </a:r>
            <a:r>
              <a:rPr sz="3000" spc="-160" dirty="0">
                <a:latin typeface="Times New Roman"/>
                <a:cs typeface="Times New Roman"/>
              </a:rPr>
              <a:t>mp</a:t>
            </a:r>
            <a:r>
              <a:rPr sz="3000" spc="-135" dirty="0">
                <a:latin typeface="Times New Roman"/>
                <a:cs typeface="Times New Roman"/>
              </a:rPr>
              <a:t>o</a:t>
            </a:r>
            <a:r>
              <a:rPr sz="3000" spc="-120" dirty="0">
                <a:latin typeface="Times New Roman"/>
                <a:cs typeface="Times New Roman"/>
              </a:rPr>
              <a:t>ne</a:t>
            </a:r>
            <a:r>
              <a:rPr sz="3000" spc="-140" dirty="0">
                <a:latin typeface="Times New Roman"/>
                <a:cs typeface="Times New Roman"/>
              </a:rPr>
              <a:t>n</a:t>
            </a:r>
            <a:r>
              <a:rPr sz="3000" spc="25" dirty="0">
                <a:latin typeface="Times New Roman"/>
                <a:cs typeface="Times New Roman"/>
              </a:rPr>
              <a:t>t</a:t>
            </a:r>
            <a:r>
              <a:rPr sz="3000" spc="-229" dirty="0">
                <a:latin typeface="Times New Roman"/>
                <a:cs typeface="Times New Roman"/>
              </a:rPr>
              <a:t>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80" dirty="0">
                <a:latin typeface="Times New Roman"/>
                <a:cs typeface="Times New Roman"/>
              </a:rPr>
              <a:t>w</a:t>
            </a:r>
            <a:r>
              <a:rPr sz="3000" spc="-215" dirty="0">
                <a:latin typeface="Times New Roman"/>
                <a:cs typeface="Times New Roman"/>
              </a:rPr>
              <a:t>h</a:t>
            </a:r>
            <a:r>
              <a:rPr sz="3000" spc="-114" dirty="0">
                <a:latin typeface="Times New Roman"/>
                <a:cs typeface="Times New Roman"/>
              </a:rPr>
              <a:t>ic</a:t>
            </a:r>
            <a:r>
              <a:rPr sz="3000" spc="-185" dirty="0">
                <a:latin typeface="Times New Roman"/>
                <a:cs typeface="Times New Roman"/>
              </a:rPr>
              <a:t>h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75" dirty="0">
                <a:latin typeface="Times New Roman"/>
                <a:cs typeface="Times New Roman"/>
              </a:rPr>
              <a:t>simplify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25" dirty="0">
                <a:latin typeface="Times New Roman"/>
                <a:cs typeface="Times New Roman"/>
              </a:rPr>
              <a:t>t</a:t>
            </a:r>
            <a:r>
              <a:rPr sz="3000" spc="-150" dirty="0">
                <a:latin typeface="Times New Roman"/>
                <a:cs typeface="Times New Roman"/>
              </a:rPr>
              <a:t>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d</a:t>
            </a:r>
            <a:r>
              <a:rPr sz="3000" spc="-160" dirty="0">
                <a:latin typeface="Times New Roman"/>
                <a:cs typeface="Times New Roman"/>
              </a:rPr>
              <a:t>e</a:t>
            </a:r>
            <a:r>
              <a:rPr sz="3000" spc="-325" dirty="0">
                <a:latin typeface="Times New Roman"/>
                <a:cs typeface="Times New Roman"/>
              </a:rPr>
              <a:t>v</a:t>
            </a:r>
            <a:r>
              <a:rPr sz="3000" spc="-114" dirty="0">
                <a:latin typeface="Times New Roman"/>
                <a:cs typeface="Times New Roman"/>
              </a:rPr>
              <a:t>elo</a:t>
            </a:r>
            <a:r>
              <a:rPr sz="3000" spc="-150" dirty="0">
                <a:latin typeface="Times New Roman"/>
                <a:cs typeface="Times New Roman"/>
              </a:rPr>
              <a:t>p</a:t>
            </a:r>
            <a:r>
              <a:rPr sz="3000" spc="-114" dirty="0">
                <a:latin typeface="Times New Roman"/>
                <a:cs typeface="Times New Roman"/>
              </a:rPr>
              <a:t>men</a:t>
            </a:r>
            <a:r>
              <a:rPr sz="3000" spc="-55" dirty="0">
                <a:latin typeface="Times New Roman"/>
                <a:cs typeface="Times New Roman"/>
              </a:rPr>
              <a:t>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75" dirty="0">
                <a:latin typeface="Times New Roman"/>
                <a:cs typeface="Times New Roman"/>
              </a:rPr>
              <a:t>of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35" dirty="0">
                <a:latin typeface="Times New Roman"/>
                <a:cs typeface="Times New Roman"/>
              </a:rPr>
              <a:t>desk</a:t>
            </a:r>
            <a:r>
              <a:rPr sz="3000" spc="-95" dirty="0">
                <a:latin typeface="Times New Roman"/>
                <a:cs typeface="Times New Roman"/>
              </a:rPr>
              <a:t>top  </a:t>
            </a:r>
            <a:r>
              <a:rPr sz="3000" spc="-140" dirty="0">
                <a:latin typeface="Times New Roman"/>
                <a:cs typeface="Times New Roman"/>
              </a:rPr>
              <a:t>applications.</a:t>
            </a:r>
            <a:endParaRPr sz="3000">
              <a:latin typeface="Times New Roman"/>
              <a:cs typeface="Times New Roman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Wingdings"/>
              <a:buChar char=""/>
              <a:tabLst>
                <a:tab pos="287655" algn="l"/>
              </a:tabLst>
            </a:pPr>
            <a:r>
              <a:rPr sz="3000" spc="-155" dirty="0">
                <a:latin typeface="Times New Roman"/>
                <a:cs typeface="Times New Roman"/>
              </a:rPr>
              <a:t>The </a:t>
            </a:r>
            <a:r>
              <a:rPr sz="3000" spc="-185" dirty="0">
                <a:latin typeface="Times New Roman"/>
                <a:cs typeface="Times New Roman"/>
              </a:rPr>
              <a:t>javax.swing</a:t>
            </a:r>
            <a:r>
              <a:rPr sz="3000" spc="-180" dirty="0">
                <a:latin typeface="Times New Roman"/>
                <a:cs typeface="Times New Roman"/>
              </a:rPr>
              <a:t> package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55" dirty="0">
                <a:latin typeface="Times New Roman"/>
                <a:cs typeface="Times New Roman"/>
              </a:rPr>
              <a:t>provides </a:t>
            </a:r>
            <a:r>
              <a:rPr sz="3000" spc="-190" dirty="0">
                <a:latin typeface="Times New Roman"/>
                <a:cs typeface="Times New Roman"/>
              </a:rPr>
              <a:t>classes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imes New Roman"/>
                <a:cs typeface="Times New Roman"/>
              </a:rPr>
              <a:t>for </a:t>
            </a:r>
            <a:r>
              <a:rPr sz="3000" spc="-254" dirty="0">
                <a:latin typeface="Times New Roman"/>
                <a:cs typeface="Times New Roman"/>
              </a:rPr>
              <a:t>java</a:t>
            </a:r>
            <a:r>
              <a:rPr sz="3000" spc="-250" dirty="0">
                <a:latin typeface="Times New Roman"/>
                <a:cs typeface="Times New Roman"/>
              </a:rPr>
              <a:t> </a:t>
            </a:r>
            <a:r>
              <a:rPr sz="3000" spc="-200" dirty="0">
                <a:latin typeface="Times New Roman"/>
                <a:cs typeface="Times New Roman"/>
              </a:rPr>
              <a:t>swing 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spc="-260" dirty="0">
                <a:latin typeface="Times New Roman"/>
                <a:cs typeface="Times New Roman"/>
              </a:rPr>
              <a:t>API</a:t>
            </a:r>
            <a:r>
              <a:rPr sz="3000" spc="-254" dirty="0">
                <a:latin typeface="Times New Roman"/>
                <a:cs typeface="Times New Roman"/>
              </a:rPr>
              <a:t> </a:t>
            </a:r>
            <a:r>
              <a:rPr sz="3000" spc="-170" dirty="0">
                <a:latin typeface="Times New Roman"/>
                <a:cs typeface="Times New Roman"/>
              </a:rPr>
              <a:t>such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229" dirty="0">
                <a:latin typeface="Times New Roman"/>
                <a:cs typeface="Times New Roman"/>
              </a:rPr>
              <a:t>as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spc="-110" dirty="0">
                <a:latin typeface="Times New Roman"/>
                <a:cs typeface="Times New Roman"/>
              </a:rPr>
              <a:t>JButton,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50" dirty="0">
                <a:latin typeface="Times New Roman"/>
                <a:cs typeface="Times New Roman"/>
              </a:rPr>
              <a:t>JTextField,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55" dirty="0">
                <a:latin typeface="Times New Roman"/>
                <a:cs typeface="Times New Roman"/>
              </a:rPr>
              <a:t>JTextArea, 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JRadioButton,</a:t>
            </a:r>
            <a:r>
              <a:rPr sz="3000" spc="-130" dirty="0">
                <a:latin typeface="Times New Roman"/>
                <a:cs typeface="Times New Roman"/>
              </a:rPr>
              <a:t> JCheckbox,</a:t>
            </a:r>
            <a:r>
              <a:rPr sz="3000" spc="-210" dirty="0">
                <a:latin typeface="Times New Roman"/>
                <a:cs typeface="Times New Roman"/>
              </a:rPr>
              <a:t> </a:t>
            </a:r>
            <a:r>
              <a:rPr sz="3000" spc="-140" dirty="0">
                <a:latin typeface="Times New Roman"/>
                <a:cs typeface="Times New Roman"/>
              </a:rPr>
              <a:t>JMenu,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spc="-130" dirty="0">
                <a:latin typeface="Times New Roman"/>
                <a:cs typeface="Times New Roman"/>
              </a:rPr>
              <a:t>JColorChooser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Times New Roman"/>
                <a:cs typeface="Times New Roman"/>
              </a:rPr>
              <a:t>etc.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1082"/>
            <a:ext cx="8588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Features</a:t>
            </a:r>
            <a:r>
              <a:rPr spc="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10" dirty="0"/>
              <a:t>Swing</a:t>
            </a:r>
            <a:r>
              <a:rPr spc="-90" dirty="0"/>
              <a:t> </a:t>
            </a:r>
            <a:r>
              <a:rPr dirty="0"/>
              <a:t>(Advantages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5" dirty="0"/>
              <a:t>Swings</a:t>
            </a:r>
            <a:r>
              <a:rPr spc="-70" dirty="0"/>
              <a:t> </a:t>
            </a:r>
            <a:r>
              <a:rPr spc="-5" dirty="0"/>
              <a:t>over</a:t>
            </a:r>
            <a:r>
              <a:rPr spc="-235" dirty="0"/>
              <a:t> </a:t>
            </a:r>
            <a:r>
              <a:rPr spc="-90" dirty="0"/>
              <a:t>AWT)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480628"/>
            <a:ext cx="8991600" cy="599971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00" b="1" spc="-5" dirty="0">
                <a:latin typeface="Times New Roman"/>
                <a:cs typeface="Times New Roman"/>
              </a:rPr>
              <a:t>Platform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Independent</a:t>
            </a:r>
            <a:endParaRPr sz="2800" dirty="0">
              <a:latin typeface="Times New Roman"/>
              <a:cs typeface="Times New Roman"/>
            </a:endParaRPr>
          </a:p>
          <a:p>
            <a:pPr marL="287020" marR="6807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655" algn="l"/>
              </a:tabLst>
            </a:pPr>
            <a:r>
              <a:rPr sz="2800" spc="-30" dirty="0">
                <a:latin typeface="Times New Roman"/>
                <a:cs typeface="Times New Roman"/>
              </a:rPr>
              <a:t>It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independent,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swing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used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10" dirty="0">
                <a:latin typeface="Times New Roman"/>
                <a:cs typeface="Times New Roman"/>
              </a:rPr>
              <a:t>programs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not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</a:t>
            </a:r>
            <a:r>
              <a:rPr lang="en-US"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specific.</a:t>
            </a:r>
            <a:endParaRPr sz="2800" dirty="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655" algn="l"/>
                <a:tab pos="187198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behavior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appearance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Swing</a:t>
            </a:r>
            <a:r>
              <a:rPr sz="2800" spc="-5" dirty="0">
                <a:latin typeface="Times New Roman"/>
                <a:cs typeface="Times New Roman"/>
              </a:rPr>
              <a:t> components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consistent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across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platforms,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whereas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AWT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components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differ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from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 </a:t>
            </a:r>
            <a:r>
              <a:rPr sz="2800" spc="-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platform.	</a:t>
            </a:r>
            <a:r>
              <a:rPr sz="2800" dirty="0">
                <a:latin typeface="Times New Roman"/>
                <a:cs typeface="Times New Roman"/>
              </a:rPr>
              <a:t>Thus Swing is </a:t>
            </a:r>
            <a:r>
              <a:rPr sz="2800" spc="-5" dirty="0">
                <a:latin typeface="Times New Roman"/>
                <a:cs typeface="Times New Roman"/>
              </a:rPr>
              <a:t>platform independent </a:t>
            </a:r>
            <a:r>
              <a:rPr sz="2800" spc="-10" dirty="0">
                <a:latin typeface="Times New Roman"/>
                <a:cs typeface="Times New Roman"/>
              </a:rPr>
              <a:t>whereas </a:t>
            </a:r>
            <a:r>
              <a:rPr sz="2800" spc="-65" dirty="0">
                <a:latin typeface="Times New Roman"/>
                <a:cs typeface="Times New Roman"/>
              </a:rPr>
              <a:t>AWT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 dependent.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5" dirty="0">
                <a:latin typeface="Times New Roman"/>
                <a:cs typeface="Times New Roman"/>
              </a:rPr>
              <a:t>Swing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Components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Are</a:t>
            </a:r>
            <a:r>
              <a:rPr sz="2800" b="1" dirty="0">
                <a:latin typeface="Times New Roman"/>
                <a:cs typeface="Times New Roman"/>
              </a:rPr>
              <a:t> Lightweight</a:t>
            </a:r>
            <a:endParaRPr sz="2800" dirty="0">
              <a:latin typeface="Times New Roman"/>
              <a:cs typeface="Times New Roman"/>
            </a:endParaRPr>
          </a:p>
          <a:p>
            <a:pPr marL="287020" marR="63881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77083"/>
              <a:buFont typeface="Wingdings"/>
              <a:buChar char=""/>
              <a:tabLst>
                <a:tab pos="356870" algn="l"/>
                <a:tab pos="357505" algn="l"/>
              </a:tabLst>
            </a:pPr>
            <a:r>
              <a:rPr sz="2000" dirty="0"/>
              <a:t>	</a:t>
            </a:r>
            <a:r>
              <a:rPr sz="2800" dirty="0">
                <a:latin typeface="Times New Roman"/>
                <a:cs typeface="Times New Roman"/>
              </a:rPr>
              <a:t>This </a:t>
            </a:r>
            <a:r>
              <a:rPr sz="2800" spc="-5" dirty="0">
                <a:latin typeface="Times New Roman"/>
                <a:cs typeface="Times New Roman"/>
              </a:rPr>
              <a:t>means that </a:t>
            </a:r>
            <a:r>
              <a:rPr sz="2800" dirty="0">
                <a:latin typeface="Times New Roman"/>
                <a:cs typeface="Times New Roman"/>
              </a:rPr>
              <a:t>they </a:t>
            </a:r>
            <a:r>
              <a:rPr sz="2800" spc="-5" dirty="0">
                <a:latin typeface="Times New Roman"/>
                <a:cs typeface="Times New Roman"/>
              </a:rPr>
              <a:t>are written entirely </a:t>
            </a:r>
            <a:r>
              <a:rPr sz="2800" dirty="0">
                <a:latin typeface="Times New Roman"/>
                <a:cs typeface="Times New Roman"/>
              </a:rPr>
              <a:t>in Java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do not </a:t>
            </a:r>
            <a:r>
              <a:rPr sz="2800" spc="-5" dirty="0">
                <a:latin typeface="Times New Roman"/>
                <a:cs typeface="Times New Roman"/>
              </a:rPr>
              <a:t>map </a:t>
            </a:r>
            <a:r>
              <a:rPr sz="2800" spc="-5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directly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platform-specific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peers.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5" dirty="0">
                <a:latin typeface="Times New Roman"/>
                <a:cs typeface="Times New Roman"/>
              </a:rPr>
              <a:t>Swing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Supports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 Pluggable Look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15" dirty="0">
                <a:latin typeface="Times New Roman"/>
                <a:cs typeface="Times New Roman"/>
              </a:rPr>
              <a:t>Feel</a:t>
            </a:r>
            <a:endParaRPr sz="2800" dirty="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655" algn="l"/>
              </a:tabLst>
            </a:pPr>
            <a:r>
              <a:rPr sz="2800" spc="-10" dirty="0">
                <a:latin typeface="Times New Roman"/>
                <a:cs typeface="Times New Roman"/>
              </a:rPr>
              <a:t>SWING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GUI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look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feel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changed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at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run-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based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available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" y="152401"/>
            <a:ext cx="8839200" cy="400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tabLst>
                <a:tab pos="287020" algn="l"/>
              </a:tabLst>
            </a:pPr>
            <a:r>
              <a:rPr lang="en-US" sz="2400" b="1" spc="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US" sz="2400" b="1" spc="-7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en-US" sz="2400" b="1" spc="-14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74320" algn="just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Java's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components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been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implemented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endParaRPr sz="2400" dirty="0">
              <a:latin typeface="Times New Roman"/>
              <a:cs typeface="Times New Roman"/>
            </a:endParaRPr>
          </a:p>
          <a:p>
            <a:pPr marL="287020" algn="just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model-view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controller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MVC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model.</a:t>
            </a:r>
            <a:endParaRPr sz="2400" dirty="0">
              <a:latin typeface="Times New Roman"/>
              <a:cs typeface="Times New Roman"/>
            </a:endParaRPr>
          </a:p>
          <a:p>
            <a:pPr marL="927100" marR="5080" lvl="1" indent="-594995" algn="just">
              <a:lnSpc>
                <a:spcPct val="100000"/>
              </a:lnSpc>
              <a:spcBef>
                <a:spcPts val="390"/>
              </a:spcBef>
              <a:buClr>
                <a:srgbClr val="9B2C1F"/>
              </a:buClr>
              <a:buSzPct val="84090"/>
              <a:buFont typeface="Wingdings"/>
              <a:buChar char=""/>
              <a:tabLst>
                <a:tab pos="927735" algn="l"/>
              </a:tabLst>
            </a:pPr>
            <a:r>
              <a:rPr sz="2200" i="1" dirty="0">
                <a:latin typeface="Times New Roman"/>
                <a:cs typeface="Times New Roman"/>
              </a:rPr>
              <a:t>Any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Swing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component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can</a:t>
            </a:r>
            <a:r>
              <a:rPr sz="2200" i="1" dirty="0">
                <a:latin typeface="Times New Roman"/>
                <a:cs typeface="Times New Roman"/>
              </a:rPr>
              <a:t> be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viewed</a:t>
            </a:r>
            <a:r>
              <a:rPr sz="2200" i="1" spc="5" dirty="0">
                <a:latin typeface="Times New Roman"/>
                <a:cs typeface="Times New Roman"/>
              </a:rPr>
              <a:t> in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terms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of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three 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independent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aspects: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what</a:t>
            </a:r>
            <a:r>
              <a:rPr sz="2200" i="1" dirty="0">
                <a:latin typeface="Times New Roman"/>
                <a:cs typeface="Times New Roman"/>
              </a:rPr>
              <a:t> state</a:t>
            </a:r>
            <a:r>
              <a:rPr sz="2200" i="1" spc="5" dirty="0">
                <a:latin typeface="Times New Roman"/>
                <a:cs typeface="Times New Roman"/>
              </a:rPr>
              <a:t> it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is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(its</a:t>
            </a:r>
            <a:r>
              <a:rPr sz="2200" i="1" spc="530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model</a:t>
            </a:r>
            <a:r>
              <a:rPr sz="2200" i="1" dirty="0">
                <a:latin typeface="Times New Roman"/>
                <a:cs typeface="Times New Roman"/>
              </a:rPr>
              <a:t>),</a:t>
            </a:r>
            <a:r>
              <a:rPr sz="2200" i="1" spc="5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how</a:t>
            </a:r>
            <a:r>
              <a:rPr sz="2200" i="1" spc="55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it 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looks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(its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view</a:t>
            </a:r>
            <a:r>
              <a:rPr sz="2200" i="1" spc="-5" dirty="0">
                <a:latin typeface="Times New Roman"/>
                <a:cs typeface="Times New Roman"/>
              </a:rPr>
              <a:t>),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and</a:t>
            </a:r>
            <a:r>
              <a:rPr sz="2200" i="1" spc="55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what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it  </a:t>
            </a:r>
            <a:r>
              <a:rPr sz="2200" i="1" spc="-5" dirty="0">
                <a:latin typeface="Times New Roman"/>
                <a:cs typeface="Times New Roman"/>
              </a:rPr>
              <a:t>does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(its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controller</a:t>
            </a:r>
            <a:r>
              <a:rPr sz="2200" i="1" spc="-5" dirty="0">
                <a:latin typeface="Times New Roman"/>
                <a:cs typeface="Times New Roman"/>
              </a:rPr>
              <a:t>).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Suppose </a:t>
            </a:r>
            <a:r>
              <a:rPr sz="2200" i="1" spc="5" dirty="0">
                <a:latin typeface="Times New Roman"/>
                <a:cs typeface="Times New Roman"/>
              </a:rPr>
              <a:t> the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user</a:t>
            </a:r>
            <a:r>
              <a:rPr sz="2200" i="1" spc="-5" dirty="0">
                <a:latin typeface="Times New Roman"/>
                <a:cs typeface="Times New Roman"/>
              </a:rPr>
              <a:t> clicks</a:t>
            </a:r>
            <a:r>
              <a:rPr sz="2200" i="1" dirty="0">
                <a:latin typeface="Times New Roman"/>
                <a:cs typeface="Times New Roman"/>
              </a:rPr>
              <a:t> on</a:t>
            </a:r>
            <a:r>
              <a:rPr sz="2200" i="1" spc="5" dirty="0">
                <a:latin typeface="Times New Roman"/>
                <a:cs typeface="Times New Roman"/>
              </a:rPr>
              <a:t> a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button.</a:t>
            </a:r>
            <a:r>
              <a:rPr sz="2200" i="1" dirty="0">
                <a:latin typeface="Times New Roman"/>
                <a:cs typeface="Times New Roman"/>
              </a:rPr>
              <a:t> This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action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is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detected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by</a:t>
            </a:r>
            <a:r>
              <a:rPr sz="2200" i="1" spc="5" dirty="0">
                <a:latin typeface="Times New Roman"/>
                <a:cs typeface="Times New Roman"/>
              </a:rPr>
              <a:t> the 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30" dirty="0">
                <a:latin typeface="Times New Roman"/>
                <a:cs typeface="Times New Roman"/>
              </a:rPr>
              <a:t>controller.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controller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tells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the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model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change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into</a:t>
            </a:r>
            <a:r>
              <a:rPr sz="2200" i="1" dirty="0">
                <a:latin typeface="Times New Roman"/>
                <a:cs typeface="Times New Roman"/>
              </a:rPr>
              <a:t> the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pressed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state.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The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model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turn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generates</a:t>
            </a:r>
            <a:r>
              <a:rPr sz="2200" i="1" dirty="0">
                <a:latin typeface="Times New Roman"/>
                <a:cs typeface="Times New Roman"/>
              </a:rPr>
              <a:t> an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event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that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is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passed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the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35" dirty="0">
                <a:latin typeface="Times New Roman"/>
                <a:cs typeface="Times New Roman"/>
              </a:rPr>
              <a:t>view.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event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tells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the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view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that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the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button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needs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be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redrawn</a:t>
            </a:r>
            <a:r>
              <a:rPr sz="2200" i="1" spc="-7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reflect</a:t>
            </a:r>
            <a:r>
              <a:rPr sz="2200" i="1" spc="-7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its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change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in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state.</a:t>
            </a:r>
            <a:endParaRPr sz="2200" dirty="0">
              <a:latin typeface="Times New Roman"/>
              <a:cs typeface="Times New Roman"/>
            </a:endParaRPr>
          </a:p>
          <a:p>
            <a:pPr marL="287020" indent="-274320" algn="just">
              <a:spcBef>
                <a:spcPts val="605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</a:tabLst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8452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" y="152401"/>
            <a:ext cx="8839200" cy="6229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tabLst>
                <a:tab pos="287020" algn="l"/>
              </a:tabLst>
            </a:pPr>
            <a:r>
              <a:rPr lang="en-US" sz="2400" b="1" spc="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US" sz="2400" b="1" spc="-7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en-US" sz="2400" b="1" spc="-14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74320" algn="just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</a:tabLst>
            </a:pPr>
            <a:r>
              <a:rPr sz="2400" spc="-5" dirty="0">
                <a:latin typeface="Times New Roman"/>
                <a:cs typeface="Times New Roman"/>
              </a:rPr>
              <a:t>Java's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components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been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implemented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endParaRPr sz="2400" dirty="0">
              <a:latin typeface="Times New Roman"/>
              <a:cs typeface="Times New Roman"/>
            </a:endParaRPr>
          </a:p>
          <a:p>
            <a:pPr marL="287020" algn="just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model-view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controller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b="1" spc="-10" dirty="0">
                <a:latin typeface="Times New Roman"/>
                <a:cs typeface="Times New Roman"/>
              </a:rPr>
              <a:t>MVC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model.</a:t>
            </a:r>
            <a:endParaRPr sz="2400" dirty="0">
              <a:latin typeface="Times New Roman"/>
              <a:cs typeface="Times New Roman"/>
            </a:endParaRPr>
          </a:p>
          <a:p>
            <a:pPr marL="927100" marR="5080" lvl="1" indent="-594995" algn="just">
              <a:lnSpc>
                <a:spcPct val="100000"/>
              </a:lnSpc>
              <a:spcBef>
                <a:spcPts val="390"/>
              </a:spcBef>
              <a:buClr>
                <a:srgbClr val="9B2C1F"/>
              </a:buClr>
              <a:buSzPct val="84090"/>
              <a:buFont typeface="Wingdings"/>
              <a:buChar char=""/>
              <a:tabLst>
                <a:tab pos="927735" algn="l"/>
              </a:tabLst>
            </a:pPr>
            <a:r>
              <a:rPr sz="2200" i="1" dirty="0">
                <a:latin typeface="Times New Roman"/>
                <a:cs typeface="Times New Roman"/>
              </a:rPr>
              <a:t>Any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Swing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component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can</a:t>
            </a:r>
            <a:r>
              <a:rPr sz="2200" i="1" dirty="0">
                <a:latin typeface="Times New Roman"/>
                <a:cs typeface="Times New Roman"/>
              </a:rPr>
              <a:t> be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viewed</a:t>
            </a:r>
            <a:r>
              <a:rPr sz="2200" i="1" spc="5" dirty="0">
                <a:latin typeface="Times New Roman"/>
                <a:cs typeface="Times New Roman"/>
              </a:rPr>
              <a:t> in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terms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of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three 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independent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aspects: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what</a:t>
            </a:r>
            <a:r>
              <a:rPr sz="2200" i="1" dirty="0">
                <a:latin typeface="Times New Roman"/>
                <a:cs typeface="Times New Roman"/>
              </a:rPr>
              <a:t> state</a:t>
            </a:r>
            <a:r>
              <a:rPr sz="2200" i="1" spc="5" dirty="0">
                <a:latin typeface="Times New Roman"/>
                <a:cs typeface="Times New Roman"/>
              </a:rPr>
              <a:t> it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is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(its</a:t>
            </a:r>
            <a:r>
              <a:rPr sz="2200" i="1" spc="530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model</a:t>
            </a:r>
            <a:r>
              <a:rPr sz="2200" i="1" dirty="0">
                <a:latin typeface="Times New Roman"/>
                <a:cs typeface="Times New Roman"/>
              </a:rPr>
              <a:t>),</a:t>
            </a:r>
            <a:r>
              <a:rPr sz="2200" i="1" spc="5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how</a:t>
            </a:r>
            <a:r>
              <a:rPr sz="2200" i="1" spc="55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it 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looks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(its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view</a:t>
            </a:r>
            <a:r>
              <a:rPr sz="2200" i="1" spc="-5" dirty="0">
                <a:latin typeface="Times New Roman"/>
                <a:cs typeface="Times New Roman"/>
              </a:rPr>
              <a:t>),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and</a:t>
            </a:r>
            <a:r>
              <a:rPr sz="2200" i="1" spc="55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what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it  </a:t>
            </a:r>
            <a:r>
              <a:rPr sz="2200" i="1" spc="-5" dirty="0">
                <a:latin typeface="Times New Roman"/>
                <a:cs typeface="Times New Roman"/>
              </a:rPr>
              <a:t>does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(its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latin typeface="Times New Roman"/>
                <a:cs typeface="Times New Roman"/>
              </a:rPr>
              <a:t>controller</a:t>
            </a:r>
            <a:r>
              <a:rPr sz="2200" i="1" spc="-5" dirty="0">
                <a:latin typeface="Times New Roman"/>
                <a:cs typeface="Times New Roman"/>
              </a:rPr>
              <a:t>).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Suppose </a:t>
            </a:r>
            <a:r>
              <a:rPr sz="2200" i="1" spc="5" dirty="0">
                <a:latin typeface="Times New Roman"/>
                <a:cs typeface="Times New Roman"/>
              </a:rPr>
              <a:t> the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user</a:t>
            </a:r>
            <a:r>
              <a:rPr sz="2200" i="1" spc="-5" dirty="0">
                <a:latin typeface="Times New Roman"/>
                <a:cs typeface="Times New Roman"/>
              </a:rPr>
              <a:t> clicks</a:t>
            </a:r>
            <a:r>
              <a:rPr sz="2200" i="1" dirty="0">
                <a:latin typeface="Times New Roman"/>
                <a:cs typeface="Times New Roman"/>
              </a:rPr>
              <a:t> on</a:t>
            </a:r>
            <a:r>
              <a:rPr sz="2200" i="1" spc="5" dirty="0">
                <a:latin typeface="Times New Roman"/>
                <a:cs typeface="Times New Roman"/>
              </a:rPr>
              <a:t> a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button.</a:t>
            </a:r>
            <a:r>
              <a:rPr sz="2200" i="1" dirty="0">
                <a:latin typeface="Times New Roman"/>
                <a:cs typeface="Times New Roman"/>
              </a:rPr>
              <a:t> This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action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is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detected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by</a:t>
            </a:r>
            <a:r>
              <a:rPr sz="2200" i="1" spc="5" dirty="0">
                <a:latin typeface="Times New Roman"/>
                <a:cs typeface="Times New Roman"/>
              </a:rPr>
              <a:t> the 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30" dirty="0">
                <a:latin typeface="Times New Roman"/>
                <a:cs typeface="Times New Roman"/>
              </a:rPr>
              <a:t>controller.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controller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tells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the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model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change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into</a:t>
            </a:r>
            <a:r>
              <a:rPr sz="2200" i="1" dirty="0">
                <a:latin typeface="Times New Roman"/>
                <a:cs typeface="Times New Roman"/>
              </a:rPr>
              <a:t> the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pressed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state.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The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model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turn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generates</a:t>
            </a:r>
            <a:r>
              <a:rPr sz="2200" i="1" dirty="0">
                <a:latin typeface="Times New Roman"/>
                <a:cs typeface="Times New Roman"/>
              </a:rPr>
              <a:t> an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event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that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is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passed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the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35" dirty="0">
                <a:latin typeface="Times New Roman"/>
                <a:cs typeface="Times New Roman"/>
              </a:rPr>
              <a:t>view.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event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tells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the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view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that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the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button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needs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be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redrawn</a:t>
            </a:r>
            <a:r>
              <a:rPr sz="2200" i="1" spc="-7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to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reflect</a:t>
            </a:r>
            <a:r>
              <a:rPr sz="2200" i="1" spc="-7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its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change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in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5" dirty="0">
                <a:latin typeface="Times New Roman"/>
                <a:cs typeface="Times New Roman"/>
              </a:rPr>
              <a:t>state.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z="2400" spc="-10" dirty="0">
                <a:latin typeface="Times New Roman"/>
                <a:cs typeface="Times New Roman"/>
              </a:rPr>
              <a:t>High</a:t>
            </a:r>
            <a:r>
              <a:rPr lang="en-US" sz="2400" spc="5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level</a:t>
            </a:r>
            <a:r>
              <a:rPr lang="en-US" sz="2400" spc="5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56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separation</a:t>
            </a:r>
            <a:r>
              <a:rPr lang="en-US" sz="2400" spc="56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between</a:t>
            </a:r>
            <a:r>
              <a:rPr lang="en-US" sz="2400" spc="5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view</a:t>
            </a:r>
            <a:r>
              <a:rPr lang="en-US" sz="2400" spc="5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and</a:t>
            </a:r>
            <a:r>
              <a:rPr lang="en-US" sz="2400" spc="5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controller</a:t>
            </a:r>
            <a:r>
              <a:rPr lang="en-US" sz="2400" spc="5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is</a:t>
            </a:r>
            <a:r>
              <a:rPr lang="en-US" sz="2400" spc="5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not b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n</a:t>
            </a:r>
            <a:r>
              <a:rPr lang="en-US" sz="2400" spc="-10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fi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ial for	</a:t>
            </a:r>
            <a:r>
              <a:rPr lang="en-US" sz="2400" spc="25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wing	</a:t>
            </a:r>
            <a:r>
              <a:rPr lang="en-US" sz="2400" spc="-15" dirty="0">
                <a:latin typeface="Times New Roman"/>
                <a:cs typeface="Times New Roman"/>
              </a:rPr>
              <a:t>c</a:t>
            </a:r>
            <a:r>
              <a:rPr lang="en-US" sz="2400" spc="-5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m</a:t>
            </a:r>
            <a:r>
              <a:rPr lang="en-US" sz="2400" spc="-5" dirty="0">
                <a:latin typeface="Times New Roman"/>
                <a:cs typeface="Times New Roman"/>
              </a:rPr>
              <a:t>pon</a:t>
            </a:r>
            <a:r>
              <a:rPr lang="en-US" sz="2400" spc="-15" dirty="0">
                <a:latin typeface="Times New Roman"/>
                <a:cs typeface="Times New Roman"/>
              </a:rPr>
              <a:t>e</a:t>
            </a:r>
            <a:r>
              <a:rPr lang="en-US" sz="2400" spc="-5" dirty="0">
                <a:latin typeface="Times New Roman"/>
                <a:cs typeface="Times New Roman"/>
              </a:rPr>
              <a:t>nts.</a:t>
            </a:r>
            <a:r>
              <a:rPr lang="en-US" sz="2400" spc="-60" dirty="0">
                <a:latin typeface="Times New Roman"/>
                <a:cs typeface="Times New Roman"/>
              </a:rPr>
              <a:t> I</a:t>
            </a:r>
            <a:r>
              <a:rPr lang="en-US" sz="2400" spc="-5" dirty="0">
                <a:latin typeface="Times New Roman"/>
                <a:cs typeface="Times New Roman"/>
              </a:rPr>
              <a:t>ns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10" dirty="0">
                <a:latin typeface="Times New Roman"/>
                <a:cs typeface="Times New Roman"/>
              </a:rPr>
              <a:t>e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d	</a:t>
            </a:r>
            <a:r>
              <a:rPr lang="en-US" sz="2400" spc="25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wing	u</a:t>
            </a:r>
            <a:r>
              <a:rPr lang="en-US" sz="2400" spc="15" dirty="0">
                <a:latin typeface="Times New Roman"/>
                <a:cs typeface="Times New Roman"/>
              </a:rPr>
              <a:t>s</a:t>
            </a:r>
            <a:r>
              <a:rPr lang="en-US" sz="2400" spc="-10" dirty="0">
                <a:latin typeface="Times New Roman"/>
                <a:cs typeface="Times New Roman"/>
              </a:rPr>
              <a:t>e a </a:t>
            </a:r>
            <a:r>
              <a:rPr lang="en-US" sz="2400" b="1" spc="-5" dirty="0">
                <a:latin typeface="Times New Roman"/>
                <a:cs typeface="Times New Roman"/>
              </a:rPr>
              <a:t>modified version of MVC </a:t>
            </a:r>
            <a:r>
              <a:rPr lang="en-US" sz="2400" dirty="0">
                <a:latin typeface="Times New Roman"/>
                <a:cs typeface="Times New Roman"/>
              </a:rPr>
              <a:t>that	</a:t>
            </a:r>
            <a:r>
              <a:rPr lang="en-US" sz="2400" spc="-10" dirty="0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ombines the	view	</a:t>
            </a: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nd controller into a single entity called UI (User Interface) delegate. </a:t>
            </a:r>
            <a:r>
              <a:rPr lang="en-US" sz="2400" spc="-10" dirty="0">
                <a:latin typeface="Times New Roman"/>
                <a:cs typeface="Times New Roman"/>
              </a:rPr>
              <a:t>For</a:t>
            </a:r>
            <a:r>
              <a:rPr lang="en-US" sz="2400" spc="204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this</a:t>
            </a:r>
            <a:r>
              <a:rPr lang="en-US" sz="2400" spc="2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reason</a:t>
            </a:r>
            <a:r>
              <a:rPr lang="en-US" sz="2400" spc="229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,Swing’s</a:t>
            </a:r>
            <a:r>
              <a:rPr lang="en-US" sz="2400" spc="204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approach</a:t>
            </a:r>
            <a:r>
              <a:rPr lang="en-US" sz="2400" spc="2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is</a:t>
            </a:r>
            <a:r>
              <a:rPr lang="en-US" sz="2400" spc="2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called</a:t>
            </a:r>
            <a:r>
              <a:rPr lang="en-US" sz="2400" spc="2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either</a:t>
            </a:r>
            <a:r>
              <a:rPr lang="en-US" sz="2400" spc="19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 </a:t>
            </a:r>
            <a:r>
              <a:rPr lang="en-US" sz="2400" b="1" spc="-5" dirty="0">
                <a:latin typeface="Times New Roman"/>
                <a:cs typeface="Times New Roman"/>
              </a:rPr>
              <a:t>Model-Delegate</a:t>
            </a:r>
            <a:r>
              <a:rPr lang="en-US" sz="2400" b="1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architecture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or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Separable</a:t>
            </a:r>
            <a:r>
              <a:rPr lang="en-US" sz="2400" b="1" spc="-30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Model</a:t>
            </a:r>
            <a:r>
              <a:rPr lang="en-US" sz="2400" b="1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architecture.</a:t>
            </a:r>
            <a:endParaRPr lang="en-US" sz="2400" dirty="0">
              <a:latin typeface="Times New Roman"/>
              <a:cs typeface="Times New Roman"/>
            </a:endParaRPr>
          </a:p>
          <a:p>
            <a:pPr marL="287020" indent="-274320" algn="just">
              <a:spcBef>
                <a:spcPts val="605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</a:tabLst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896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52400"/>
            <a:ext cx="8845219" cy="56451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spc="-5" dirty="0">
                <a:latin typeface="Times New Roman"/>
                <a:cs typeface="Times New Roman"/>
              </a:rPr>
              <a:t>Rich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Controls</a:t>
            </a:r>
            <a:endParaRPr sz="2400" dirty="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  <a:tab pos="1243965" algn="l"/>
                <a:tab pos="1628139" algn="l"/>
                <a:tab pos="2179955" algn="l"/>
                <a:tab pos="3003550" algn="l"/>
                <a:tab pos="3719829" algn="l"/>
                <a:tab pos="4774565" algn="l"/>
                <a:tab pos="5393690" algn="l"/>
                <a:tab pos="6619240" algn="l"/>
                <a:tab pos="6933565" algn="l"/>
                <a:tab pos="7820659" algn="l"/>
                <a:tab pos="8339455" algn="l"/>
              </a:tabLst>
            </a:pPr>
            <a:r>
              <a:rPr sz="2400" dirty="0">
                <a:latin typeface="Times New Roman"/>
                <a:cs typeface="Times New Roman"/>
              </a:rPr>
              <a:t>Swing	is	the	</a:t>
            </a:r>
            <a:r>
              <a:rPr sz="2400" spc="-5" dirty="0">
                <a:latin typeface="Times New Roman"/>
                <a:cs typeface="Times New Roman"/>
              </a:rPr>
              <a:t>latest	</a:t>
            </a:r>
            <a:r>
              <a:rPr sz="2400" spc="-10" dirty="0">
                <a:latin typeface="Times New Roman"/>
                <a:cs typeface="Times New Roman"/>
              </a:rPr>
              <a:t>GUI	</a:t>
            </a:r>
            <a:r>
              <a:rPr sz="2400" dirty="0">
                <a:latin typeface="Times New Roman"/>
                <a:cs typeface="Times New Roman"/>
              </a:rPr>
              <a:t>toolkit,	</a:t>
            </a:r>
            <a:r>
              <a:rPr sz="2400" spc="-5" dirty="0">
                <a:latin typeface="Times New Roman"/>
                <a:cs typeface="Times New Roman"/>
              </a:rPr>
              <a:t>and	provides	</a:t>
            </a:r>
            <a:r>
              <a:rPr sz="2400" dirty="0">
                <a:latin typeface="Times New Roman"/>
                <a:cs typeface="Times New Roman"/>
              </a:rPr>
              <a:t>a	</a:t>
            </a:r>
            <a:r>
              <a:rPr sz="2400" spc="-5" dirty="0">
                <a:latin typeface="Times New Roman"/>
                <a:cs typeface="Times New Roman"/>
              </a:rPr>
              <a:t>richer	</a:t>
            </a:r>
            <a:r>
              <a:rPr sz="2400" dirty="0">
                <a:latin typeface="Times New Roman"/>
                <a:cs typeface="Times New Roman"/>
              </a:rPr>
              <a:t>set	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endParaRPr sz="2400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f</a:t>
            </a:r>
            <a:r>
              <a:rPr sz="2400" spc="-10" dirty="0">
                <a:latin typeface="Times New Roman"/>
                <a:cs typeface="Times New Roman"/>
              </a:rPr>
              <a:t>ac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omponents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W</a:t>
            </a:r>
            <a:r>
              <a:rPr sz="2400" spc="-17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pPr marL="12700">
              <a:lnSpc>
                <a:spcPct val="100000"/>
              </a:lnSpc>
            </a:pPr>
            <a:endParaRPr lang="en-US" sz="2400" b="1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Customizable</a:t>
            </a:r>
            <a:endParaRPr sz="2400" dirty="0">
              <a:latin typeface="Times New Roman"/>
              <a:cs typeface="Times New Roman"/>
            </a:endParaRPr>
          </a:p>
          <a:p>
            <a:pPr marL="287020" marR="635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Swing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components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be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given</a:t>
            </a:r>
            <a:r>
              <a:rPr sz="2400" spc="-5" dirty="0">
                <a:latin typeface="Times New Roman"/>
                <a:cs typeface="Times New Roman"/>
              </a:rPr>
              <a:t> their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own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"look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feel“.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Eg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 A button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may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 both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image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text</a:t>
            </a:r>
            <a:r>
              <a:rPr sz="2400" dirty="0">
                <a:latin typeface="Times New Roman"/>
                <a:cs typeface="Times New Roman"/>
              </a:rPr>
              <a:t> string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associated </a:t>
            </a:r>
            <a:r>
              <a:rPr sz="2400" dirty="0">
                <a:latin typeface="Times New Roman"/>
                <a:cs typeface="Times New Roman"/>
              </a:rPr>
              <a:t>with it. </a:t>
            </a:r>
            <a:r>
              <a:rPr sz="2400" spc="-5" dirty="0">
                <a:latin typeface="Times New Roman"/>
                <a:cs typeface="Times New Roman"/>
              </a:rPr>
              <a:t>Also,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image can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changed </a:t>
            </a:r>
            <a:r>
              <a:rPr sz="2400" spc="-10" dirty="0">
                <a:latin typeface="Times New Roman"/>
                <a:cs typeface="Times New Roman"/>
              </a:rPr>
              <a:t>as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state of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button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changes.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endParaRPr lang="en-US" sz="2400" b="1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b="1" spc="-5" dirty="0">
                <a:latin typeface="Times New Roman"/>
                <a:cs typeface="Times New Roman"/>
              </a:rPr>
              <a:t>Manageable</a:t>
            </a:r>
            <a:endParaRPr sz="2400" dirty="0">
              <a:latin typeface="Times New Roman"/>
              <a:cs typeface="Times New Roman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Wingdings"/>
              <a:buChar char=""/>
              <a:tabLst>
                <a:tab pos="287020" algn="l"/>
              </a:tabLst>
            </a:pPr>
            <a:r>
              <a:rPr sz="2400" spc="-20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5" dirty="0">
                <a:latin typeface="Times New Roman"/>
                <a:cs typeface="Times New Roman"/>
              </a:rPr>
              <a:t>easy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manage and configure. </a:t>
            </a:r>
            <a:r>
              <a:rPr sz="2400" spc="-15" dirty="0">
                <a:latin typeface="Times New Roman"/>
                <a:cs typeface="Times New Roman"/>
              </a:rPr>
              <a:t>Its </a:t>
            </a:r>
            <a:r>
              <a:rPr sz="2400" spc="-5" dirty="0">
                <a:latin typeface="Times New Roman"/>
                <a:cs typeface="Times New Roman"/>
              </a:rPr>
              <a:t>mechanism and composition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pattern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allows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changing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settings</a:t>
            </a:r>
            <a:r>
              <a:rPr sz="2400" spc="-5" dirty="0">
                <a:latin typeface="Times New Roman"/>
                <a:cs typeface="Times New Roman"/>
              </a:rPr>
              <a:t> at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run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well.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uniform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changes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be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provided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user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interface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doing</a:t>
            </a:r>
            <a:r>
              <a:rPr sz="2400" spc="-5" dirty="0">
                <a:latin typeface="Times New Roman"/>
                <a:cs typeface="Times New Roman"/>
              </a:rPr>
              <a:t> any </a:t>
            </a:r>
            <a:r>
              <a:rPr sz="2400" spc="-10" dirty="0">
                <a:latin typeface="Times New Roman"/>
                <a:cs typeface="Times New Roman"/>
              </a:rPr>
              <a:t>changes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application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code.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185369"/>
            <a:ext cx="761238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275" dirty="0">
                <a:solidFill>
                  <a:srgbClr val="696363"/>
                </a:solidFill>
                <a:latin typeface="Arial"/>
                <a:cs typeface="Arial"/>
              </a:rPr>
              <a:t>D</a:t>
            </a:r>
            <a:r>
              <a:rPr sz="4000" spc="-185" dirty="0">
                <a:solidFill>
                  <a:srgbClr val="696363"/>
                </a:solidFill>
                <a:latin typeface="Arial"/>
                <a:cs typeface="Arial"/>
              </a:rPr>
              <a:t>i</a:t>
            </a:r>
            <a:r>
              <a:rPr sz="4000" spc="-20" dirty="0">
                <a:solidFill>
                  <a:srgbClr val="696363"/>
                </a:solidFill>
                <a:latin typeface="Arial"/>
                <a:cs typeface="Arial"/>
              </a:rPr>
              <a:t>f</a:t>
            </a:r>
            <a:r>
              <a:rPr sz="4000" spc="-210" dirty="0">
                <a:solidFill>
                  <a:srgbClr val="696363"/>
                </a:solidFill>
                <a:latin typeface="Arial"/>
                <a:cs typeface="Arial"/>
              </a:rPr>
              <a:t>f</a:t>
            </a:r>
            <a:r>
              <a:rPr sz="4000" spc="-185" dirty="0">
                <a:solidFill>
                  <a:srgbClr val="696363"/>
                </a:solidFill>
                <a:latin typeface="Arial"/>
                <a:cs typeface="Arial"/>
              </a:rPr>
              <a:t>ere</a:t>
            </a:r>
            <a:r>
              <a:rPr sz="4000" spc="-250" dirty="0">
                <a:solidFill>
                  <a:srgbClr val="696363"/>
                </a:solidFill>
                <a:latin typeface="Arial"/>
                <a:cs typeface="Arial"/>
              </a:rPr>
              <a:t>nce</a:t>
            </a:r>
            <a:r>
              <a:rPr sz="4000" spc="-175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265" dirty="0">
                <a:solidFill>
                  <a:srgbClr val="696363"/>
                </a:solidFill>
                <a:latin typeface="Arial"/>
                <a:cs typeface="Arial"/>
              </a:rPr>
              <a:t>b</a:t>
            </a:r>
            <a:r>
              <a:rPr sz="4000" spc="-185" dirty="0">
                <a:solidFill>
                  <a:srgbClr val="696363"/>
                </a:solidFill>
                <a:latin typeface="Arial"/>
                <a:cs typeface="Arial"/>
              </a:rPr>
              <a:t>et</a:t>
            </a:r>
            <a:r>
              <a:rPr sz="4000" spc="-355" dirty="0">
                <a:solidFill>
                  <a:srgbClr val="696363"/>
                </a:solidFill>
                <a:latin typeface="Arial"/>
                <a:cs typeface="Arial"/>
              </a:rPr>
              <a:t>w</a:t>
            </a:r>
            <a:r>
              <a:rPr sz="4000" spc="-185" dirty="0">
                <a:solidFill>
                  <a:srgbClr val="696363"/>
                </a:solidFill>
                <a:latin typeface="Arial"/>
                <a:cs typeface="Arial"/>
              </a:rPr>
              <a:t>een</a:t>
            </a:r>
            <a:r>
              <a:rPr sz="4000" spc="-195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880" dirty="0">
                <a:solidFill>
                  <a:srgbClr val="696363"/>
                </a:solidFill>
                <a:latin typeface="Arial"/>
                <a:cs typeface="Arial"/>
              </a:rPr>
              <a:t>A</a:t>
            </a:r>
            <a:r>
              <a:rPr sz="4000" spc="-375" dirty="0">
                <a:solidFill>
                  <a:srgbClr val="696363"/>
                </a:solidFill>
                <a:latin typeface="Arial"/>
                <a:cs typeface="Arial"/>
              </a:rPr>
              <a:t>W</a:t>
            </a:r>
            <a:r>
              <a:rPr sz="4000" spc="-500" dirty="0">
                <a:solidFill>
                  <a:srgbClr val="696363"/>
                </a:solidFill>
                <a:latin typeface="Arial"/>
                <a:cs typeface="Arial"/>
              </a:rPr>
              <a:t>T</a:t>
            </a:r>
            <a:r>
              <a:rPr sz="4000" spc="-185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95" dirty="0">
                <a:solidFill>
                  <a:srgbClr val="696363"/>
                </a:solidFill>
                <a:latin typeface="Arial"/>
                <a:cs typeface="Arial"/>
              </a:rPr>
              <a:t>a</a:t>
            </a:r>
            <a:r>
              <a:rPr sz="4000" spc="-240" dirty="0">
                <a:solidFill>
                  <a:srgbClr val="696363"/>
                </a:solidFill>
                <a:latin typeface="Arial"/>
                <a:cs typeface="Arial"/>
              </a:rPr>
              <a:t>n</a:t>
            </a:r>
            <a:r>
              <a:rPr sz="4000" spc="-285" dirty="0">
                <a:solidFill>
                  <a:srgbClr val="696363"/>
                </a:solidFill>
                <a:latin typeface="Arial"/>
                <a:cs typeface="Arial"/>
              </a:rPr>
              <a:t>d</a:t>
            </a:r>
            <a:r>
              <a:rPr sz="4000" spc="-16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370" dirty="0">
                <a:solidFill>
                  <a:srgbClr val="696363"/>
                </a:solidFill>
                <a:latin typeface="Arial"/>
                <a:cs typeface="Arial"/>
              </a:rPr>
              <a:t>S</a:t>
            </a:r>
            <a:r>
              <a:rPr sz="4000" spc="-355" dirty="0">
                <a:solidFill>
                  <a:srgbClr val="696363"/>
                </a:solidFill>
                <a:latin typeface="Arial"/>
                <a:cs typeface="Arial"/>
              </a:rPr>
              <a:t>wing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90600"/>
            <a:ext cx="899159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6248C-8975-2936-965B-07F01DF5B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5612"/>
            <a:ext cx="8404225" cy="59467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40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04797"/>
            <a:ext cx="8610600" cy="65531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1000"/>
            <a:ext cx="822959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7244" y="520649"/>
            <a:ext cx="565035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spc="-300" dirty="0"/>
              <a:t>C</a:t>
            </a:r>
            <a:r>
              <a:rPr sz="2800" spc="-125" dirty="0"/>
              <a:t>O</a:t>
            </a:r>
            <a:r>
              <a:rPr sz="2800" spc="-145" dirty="0"/>
              <a:t>M</a:t>
            </a:r>
            <a:r>
              <a:rPr sz="2800" spc="-180" dirty="0"/>
              <a:t>P</a:t>
            </a:r>
            <a:r>
              <a:rPr sz="2800" spc="-250" dirty="0"/>
              <a:t>ONENT</a:t>
            </a:r>
            <a:r>
              <a:rPr sz="2800" spc="-190" dirty="0"/>
              <a:t>S</a:t>
            </a:r>
            <a:r>
              <a:rPr sz="2800" spc="-15" dirty="0"/>
              <a:t> </a:t>
            </a:r>
            <a:r>
              <a:rPr sz="2800" spc="-170" dirty="0"/>
              <a:t>&amp;</a:t>
            </a:r>
            <a:r>
              <a:rPr sz="2800" spc="-75" dirty="0"/>
              <a:t> </a:t>
            </a:r>
            <a:r>
              <a:rPr sz="2800" spc="-305" dirty="0"/>
              <a:t>C</a:t>
            </a:r>
            <a:r>
              <a:rPr sz="2800" spc="-160" dirty="0"/>
              <a:t>ON</a:t>
            </a:r>
            <a:r>
              <a:rPr sz="2800" spc="-484" dirty="0"/>
              <a:t>T</a:t>
            </a:r>
            <a:r>
              <a:rPr sz="2800" spc="-140" dirty="0"/>
              <a:t>A</a:t>
            </a:r>
            <a:r>
              <a:rPr sz="2800" spc="-90" dirty="0"/>
              <a:t>I</a:t>
            </a:r>
            <a:r>
              <a:rPr sz="2800" spc="-250" dirty="0"/>
              <a:t>NERS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987374"/>
            <a:ext cx="8534400" cy="45999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7020" marR="6350" indent="-274320" algn="just">
              <a:lnSpc>
                <a:spcPct val="100000"/>
              </a:lnSpc>
              <a:spcBef>
                <a:spcPts val="11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39090" algn="l"/>
              </a:tabLst>
            </a:pPr>
            <a:r>
              <a:rPr sz="2400" dirty="0"/>
              <a:t>	</a:t>
            </a:r>
            <a:r>
              <a:rPr sz="3600" spc="-355" dirty="0">
                <a:latin typeface="Times New Roman"/>
                <a:cs typeface="Times New Roman"/>
              </a:rPr>
              <a:t>A</a:t>
            </a:r>
            <a:r>
              <a:rPr sz="3600" spc="-350" dirty="0">
                <a:latin typeface="Times New Roman"/>
                <a:cs typeface="Times New Roman"/>
              </a:rPr>
              <a:t> </a:t>
            </a:r>
            <a:r>
              <a:rPr sz="3600" spc="-110" dirty="0">
                <a:solidFill>
                  <a:srgbClr val="FF0000"/>
                </a:solidFill>
                <a:latin typeface="Times New Roman"/>
                <a:cs typeface="Times New Roman"/>
              </a:rPr>
              <a:t>component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is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65" dirty="0">
                <a:latin typeface="Times New Roman"/>
                <a:cs typeface="Times New Roman"/>
              </a:rPr>
              <a:t>an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spc="-105" dirty="0">
                <a:solidFill>
                  <a:srgbClr val="FF0000"/>
                </a:solidFill>
                <a:latin typeface="Times New Roman"/>
                <a:cs typeface="Times New Roman"/>
              </a:rPr>
              <a:t>independent </a:t>
            </a:r>
            <a:r>
              <a:rPr sz="3600" spc="-170" dirty="0">
                <a:solidFill>
                  <a:srgbClr val="FF0000"/>
                </a:solidFill>
                <a:latin typeface="Times New Roman"/>
                <a:cs typeface="Times New Roman"/>
              </a:rPr>
              <a:t>visual</a:t>
            </a:r>
            <a:r>
              <a:rPr sz="36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6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3600" spc="-60" dirty="0">
                <a:latin typeface="Times New Roman"/>
                <a:cs typeface="Times New Roman"/>
              </a:rPr>
              <a:t>, </a:t>
            </a:r>
            <a:r>
              <a:rPr sz="3600" spc="-150" dirty="0">
                <a:latin typeface="Times New Roman"/>
                <a:cs typeface="Times New Roman"/>
              </a:rPr>
              <a:t>such</a:t>
            </a:r>
            <a:r>
              <a:rPr sz="3600" spc="400" dirty="0">
                <a:latin typeface="Times New Roman"/>
                <a:cs typeface="Times New Roman"/>
              </a:rPr>
              <a:t> </a:t>
            </a:r>
            <a:r>
              <a:rPr sz="3600" spc="-215" dirty="0">
                <a:latin typeface="Times New Roman"/>
                <a:cs typeface="Times New Roman"/>
              </a:rPr>
              <a:t>as</a:t>
            </a:r>
            <a:r>
              <a:rPr sz="3600" spc="270" dirty="0">
                <a:latin typeface="Times New Roman"/>
                <a:cs typeface="Times New Roman"/>
              </a:rPr>
              <a:t> </a:t>
            </a:r>
            <a:r>
              <a:rPr sz="3600" spc="-220" dirty="0">
                <a:latin typeface="Times New Roman"/>
                <a:cs typeface="Times New Roman"/>
              </a:rPr>
              <a:t>a 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3600" spc="-145" dirty="0">
                <a:latin typeface="Times New Roman"/>
                <a:cs typeface="Times New Roman"/>
              </a:rPr>
              <a:t>pus</a:t>
            </a:r>
            <a:r>
              <a:rPr sz="3600" spc="-165" dirty="0">
                <a:latin typeface="Times New Roman"/>
                <a:cs typeface="Times New Roman"/>
              </a:rPr>
              <a:t>h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80" dirty="0">
                <a:latin typeface="Times New Roman"/>
                <a:cs typeface="Times New Roman"/>
              </a:rPr>
              <a:t>b</a:t>
            </a:r>
            <a:r>
              <a:rPr sz="3600" spc="-110" dirty="0">
                <a:latin typeface="Times New Roman"/>
                <a:cs typeface="Times New Roman"/>
              </a:rPr>
              <a:t>u</a:t>
            </a:r>
            <a:r>
              <a:rPr sz="3600" spc="-40" dirty="0">
                <a:latin typeface="Times New Roman"/>
                <a:cs typeface="Times New Roman"/>
              </a:rPr>
              <a:t>tton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45" dirty="0">
                <a:latin typeface="Times New Roman"/>
                <a:cs typeface="Times New Roman"/>
              </a:rPr>
              <a:t>o</a:t>
            </a:r>
            <a:r>
              <a:rPr sz="3600" spc="-35" dirty="0">
                <a:latin typeface="Times New Roman"/>
                <a:cs typeface="Times New Roman"/>
              </a:rPr>
              <a:t>r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210" dirty="0">
                <a:latin typeface="Times New Roman"/>
                <a:cs typeface="Times New Roman"/>
              </a:rPr>
              <a:t>s</a:t>
            </a:r>
            <a:r>
              <a:rPr sz="3600" spc="-100" dirty="0">
                <a:latin typeface="Times New Roman"/>
                <a:cs typeface="Times New Roman"/>
              </a:rPr>
              <a:t>li</a:t>
            </a:r>
            <a:r>
              <a:rPr sz="3600" spc="-160" dirty="0">
                <a:latin typeface="Times New Roman"/>
                <a:cs typeface="Times New Roman"/>
              </a:rPr>
              <a:t>d</a:t>
            </a:r>
            <a:r>
              <a:rPr sz="3600" spc="-120" dirty="0">
                <a:latin typeface="Times New Roman"/>
                <a:cs typeface="Times New Roman"/>
              </a:rPr>
              <a:t>e</a:t>
            </a:r>
            <a:r>
              <a:rPr sz="3600" spc="-210" dirty="0">
                <a:latin typeface="Times New Roman"/>
                <a:cs typeface="Times New Roman"/>
              </a:rPr>
              <a:t>r</a:t>
            </a:r>
            <a:r>
              <a:rPr sz="3600" spc="114" dirty="0">
                <a:latin typeface="Times New Roman"/>
                <a:cs typeface="Times New Roman"/>
              </a:rPr>
              <a:t>.</a:t>
            </a:r>
            <a:endParaRPr sz="3600" dirty="0">
              <a:latin typeface="Times New Roman"/>
              <a:cs typeface="Times New Roman"/>
            </a:endParaRPr>
          </a:p>
          <a:p>
            <a:pPr marL="287020" marR="762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39090" algn="l"/>
              </a:tabLst>
            </a:pPr>
            <a:r>
              <a:rPr sz="2400" dirty="0"/>
              <a:t>	</a:t>
            </a:r>
            <a:r>
              <a:rPr sz="3600" spc="-355" dirty="0">
                <a:latin typeface="Times New Roman"/>
                <a:cs typeface="Times New Roman"/>
              </a:rPr>
              <a:t>A</a:t>
            </a:r>
            <a:r>
              <a:rPr sz="3600" spc="-350" dirty="0">
                <a:latin typeface="Times New Roman"/>
                <a:cs typeface="Times New Roman"/>
              </a:rPr>
              <a:t> </a:t>
            </a:r>
            <a:r>
              <a:rPr sz="3600" spc="-105" dirty="0">
                <a:solidFill>
                  <a:srgbClr val="FF0000"/>
                </a:solidFill>
                <a:latin typeface="Times New Roman"/>
                <a:cs typeface="Times New Roman"/>
              </a:rPr>
              <a:t>container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150" dirty="0">
                <a:solidFill>
                  <a:srgbClr val="FF0000"/>
                </a:solidFill>
                <a:latin typeface="Times New Roman"/>
                <a:cs typeface="Times New Roman"/>
              </a:rPr>
              <a:t>holds </a:t>
            </a:r>
            <a:r>
              <a:rPr sz="3600" spc="-22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3600" spc="-110" dirty="0">
                <a:solidFill>
                  <a:srgbClr val="FF0000"/>
                </a:solidFill>
                <a:latin typeface="Times New Roman"/>
                <a:cs typeface="Times New Roman"/>
              </a:rPr>
              <a:t>group </a:t>
            </a:r>
            <a:r>
              <a:rPr sz="3600" spc="-16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3600" spc="-105" dirty="0">
                <a:solidFill>
                  <a:srgbClr val="FF0000"/>
                </a:solidFill>
                <a:latin typeface="Times New Roman"/>
                <a:cs typeface="Times New Roman"/>
              </a:rPr>
              <a:t>components</a:t>
            </a:r>
            <a:r>
              <a:rPr sz="3600" spc="-105" dirty="0">
                <a:latin typeface="Times New Roman"/>
                <a:cs typeface="Times New Roman"/>
              </a:rPr>
              <a:t>. </a:t>
            </a:r>
            <a:r>
              <a:rPr sz="3600" spc="-110" dirty="0">
                <a:latin typeface="Times New Roman"/>
                <a:cs typeface="Times New Roman"/>
              </a:rPr>
              <a:t>Thus, </a:t>
            </a:r>
            <a:r>
              <a:rPr sz="3600" spc="-220" dirty="0">
                <a:latin typeface="Times New Roman"/>
                <a:cs typeface="Times New Roman"/>
              </a:rPr>
              <a:t>a </a:t>
            </a:r>
            <a:r>
              <a:rPr sz="3600" spc="-105" dirty="0">
                <a:latin typeface="Times New Roman"/>
                <a:cs typeface="Times New Roman"/>
              </a:rPr>
              <a:t>container 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75" dirty="0">
                <a:latin typeface="Times New Roman"/>
                <a:cs typeface="Times New Roman"/>
              </a:rPr>
              <a:t>is </a:t>
            </a:r>
            <a:r>
              <a:rPr sz="3600" spc="-220" dirty="0">
                <a:latin typeface="Times New Roman"/>
                <a:cs typeface="Times New Roman"/>
              </a:rPr>
              <a:t>a </a:t>
            </a:r>
            <a:r>
              <a:rPr sz="3600" spc="-155" dirty="0">
                <a:latin typeface="Times New Roman"/>
                <a:cs typeface="Times New Roman"/>
              </a:rPr>
              <a:t>special </a:t>
            </a:r>
            <a:r>
              <a:rPr sz="3600" spc="-110" dirty="0">
                <a:latin typeface="Times New Roman"/>
                <a:cs typeface="Times New Roman"/>
              </a:rPr>
              <a:t>type </a:t>
            </a:r>
            <a:r>
              <a:rPr sz="3600" spc="-155" dirty="0">
                <a:latin typeface="Times New Roman"/>
                <a:cs typeface="Times New Roman"/>
              </a:rPr>
              <a:t>of </a:t>
            </a:r>
            <a:r>
              <a:rPr sz="3600" spc="-110" dirty="0">
                <a:latin typeface="Times New Roman"/>
                <a:cs typeface="Times New Roman"/>
              </a:rPr>
              <a:t>component </a:t>
            </a:r>
            <a:r>
              <a:rPr sz="3600" spc="-90" dirty="0">
                <a:latin typeface="Times New Roman"/>
                <a:cs typeface="Times New Roman"/>
              </a:rPr>
              <a:t>that </a:t>
            </a:r>
            <a:r>
              <a:rPr sz="3600" spc="-185" dirty="0">
                <a:latin typeface="Times New Roman"/>
                <a:cs typeface="Times New Roman"/>
              </a:rPr>
              <a:t>is </a:t>
            </a:r>
            <a:r>
              <a:rPr sz="3600" spc="-150" dirty="0">
                <a:latin typeface="Times New Roman"/>
                <a:cs typeface="Times New Roman"/>
              </a:rPr>
              <a:t>designed </a:t>
            </a:r>
            <a:r>
              <a:rPr sz="3600" spc="-40" dirty="0">
                <a:latin typeface="Times New Roman"/>
                <a:cs typeface="Times New Roman"/>
              </a:rPr>
              <a:t>to </a:t>
            </a:r>
            <a:r>
              <a:rPr sz="3600" spc="-125" dirty="0">
                <a:latin typeface="Times New Roman"/>
                <a:cs typeface="Times New Roman"/>
              </a:rPr>
              <a:t>hold </a:t>
            </a:r>
            <a:r>
              <a:rPr sz="3600" spc="-70" dirty="0">
                <a:latin typeface="Times New Roman"/>
                <a:cs typeface="Times New Roman"/>
              </a:rPr>
              <a:t>other 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0" dirty="0">
                <a:latin typeface="Times New Roman"/>
                <a:cs typeface="Times New Roman"/>
              </a:rPr>
              <a:t>components.</a:t>
            </a:r>
            <a:endParaRPr sz="3600" dirty="0">
              <a:latin typeface="Times New Roman"/>
              <a:cs typeface="Times New Roman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1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6395" algn="l"/>
              </a:tabLst>
            </a:pPr>
            <a:r>
              <a:rPr sz="2400" dirty="0"/>
              <a:t>	</a:t>
            </a:r>
            <a:r>
              <a:rPr sz="3600" spc="-204" dirty="0">
                <a:latin typeface="Times New Roman"/>
                <a:cs typeface="Times New Roman"/>
              </a:rPr>
              <a:t>Swing</a:t>
            </a:r>
            <a:r>
              <a:rPr sz="3600" spc="-200" dirty="0">
                <a:latin typeface="Times New Roman"/>
                <a:cs typeface="Times New Roman"/>
              </a:rPr>
              <a:t> </a:t>
            </a:r>
            <a:r>
              <a:rPr sz="3600" spc="-125" dirty="0">
                <a:latin typeface="Times New Roman"/>
                <a:cs typeface="Times New Roman"/>
              </a:rPr>
              <a:t>components</a:t>
            </a:r>
            <a:r>
              <a:rPr sz="3600" spc="-120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inherit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from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85" dirty="0">
                <a:latin typeface="Times New Roman"/>
                <a:cs typeface="Times New Roman"/>
              </a:rPr>
              <a:t>the 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javax.Swing.JComponent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spc="-135" dirty="0">
                <a:latin typeface="Times New Roman"/>
                <a:cs typeface="Times New Roman"/>
              </a:rPr>
              <a:t>class,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50" dirty="0">
                <a:latin typeface="Times New Roman"/>
                <a:cs typeface="Times New Roman"/>
              </a:rPr>
              <a:t>which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spc="-185" dirty="0">
                <a:latin typeface="Times New Roman"/>
                <a:cs typeface="Times New Roman"/>
              </a:rPr>
              <a:t>is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spc="-80" dirty="0">
                <a:latin typeface="Times New Roman"/>
                <a:cs typeface="Times New Roman"/>
              </a:rPr>
              <a:t>the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45" dirty="0">
                <a:latin typeface="Times New Roman"/>
                <a:cs typeface="Times New Roman"/>
              </a:rPr>
              <a:t>root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60" dirty="0">
                <a:latin typeface="Times New Roman"/>
                <a:cs typeface="Times New Roman"/>
              </a:rPr>
              <a:t>of</a:t>
            </a:r>
            <a:r>
              <a:rPr sz="3600" spc="380" dirty="0">
                <a:latin typeface="Times New Roman"/>
                <a:cs typeface="Times New Roman"/>
              </a:rPr>
              <a:t> </a:t>
            </a:r>
            <a:r>
              <a:rPr sz="3600" spc="-85" dirty="0">
                <a:latin typeface="Times New Roman"/>
                <a:cs typeface="Times New Roman"/>
              </a:rPr>
              <a:t>the 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280" dirty="0">
                <a:latin typeface="Times New Roman"/>
                <a:cs typeface="Times New Roman"/>
              </a:rPr>
              <a:t>Sw</a:t>
            </a:r>
            <a:r>
              <a:rPr sz="3600" spc="-114" dirty="0">
                <a:latin typeface="Times New Roman"/>
                <a:cs typeface="Times New Roman"/>
              </a:rPr>
              <a:t>i</a:t>
            </a:r>
            <a:r>
              <a:rPr sz="3600" spc="-110" dirty="0">
                <a:latin typeface="Times New Roman"/>
                <a:cs typeface="Times New Roman"/>
              </a:rPr>
              <a:t>n</a:t>
            </a:r>
            <a:r>
              <a:rPr sz="3600" spc="-229" dirty="0">
                <a:latin typeface="Times New Roman"/>
                <a:cs typeface="Times New Roman"/>
              </a:rPr>
              <a:t>g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c</a:t>
            </a:r>
            <a:r>
              <a:rPr sz="3600" spc="-145" dirty="0">
                <a:latin typeface="Times New Roman"/>
                <a:cs typeface="Times New Roman"/>
              </a:rPr>
              <a:t>omp</a:t>
            </a:r>
            <a:r>
              <a:rPr sz="3600" spc="-100" dirty="0">
                <a:latin typeface="Times New Roman"/>
                <a:cs typeface="Times New Roman"/>
              </a:rPr>
              <a:t>o</a:t>
            </a:r>
            <a:r>
              <a:rPr sz="3600" spc="-110" dirty="0">
                <a:latin typeface="Times New Roman"/>
                <a:cs typeface="Times New Roman"/>
              </a:rPr>
              <a:t>n</a:t>
            </a:r>
            <a:r>
              <a:rPr sz="3600" spc="-120" dirty="0">
                <a:latin typeface="Times New Roman"/>
                <a:cs typeface="Times New Roman"/>
              </a:rPr>
              <a:t>e</a:t>
            </a:r>
            <a:r>
              <a:rPr sz="3600" spc="-110" dirty="0">
                <a:latin typeface="Times New Roman"/>
                <a:cs typeface="Times New Roman"/>
              </a:rPr>
              <a:t>n</a:t>
            </a:r>
            <a:r>
              <a:rPr sz="3600" spc="40" dirty="0">
                <a:latin typeface="Times New Roman"/>
                <a:cs typeface="Times New Roman"/>
              </a:rPr>
              <a:t>t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30" dirty="0">
                <a:latin typeface="Times New Roman"/>
                <a:cs typeface="Times New Roman"/>
              </a:rPr>
              <a:t>hi</a:t>
            </a:r>
            <a:r>
              <a:rPr sz="3600" spc="-165" dirty="0">
                <a:latin typeface="Times New Roman"/>
                <a:cs typeface="Times New Roman"/>
              </a:rPr>
              <a:t>e</a:t>
            </a:r>
            <a:r>
              <a:rPr sz="3600" spc="-80" dirty="0">
                <a:latin typeface="Times New Roman"/>
                <a:cs typeface="Times New Roman"/>
              </a:rPr>
              <a:t>rar</a:t>
            </a:r>
            <a:r>
              <a:rPr sz="3600" spc="-55" dirty="0">
                <a:latin typeface="Times New Roman"/>
                <a:cs typeface="Times New Roman"/>
              </a:rPr>
              <a:t>c</a:t>
            </a:r>
            <a:r>
              <a:rPr sz="3600" spc="-229" dirty="0">
                <a:latin typeface="Times New Roman"/>
                <a:cs typeface="Times New Roman"/>
              </a:rPr>
              <a:t>h</a:t>
            </a:r>
            <a:r>
              <a:rPr sz="3600" spc="-509" dirty="0">
                <a:latin typeface="Times New Roman"/>
                <a:cs typeface="Times New Roman"/>
              </a:rPr>
              <a:t>y</a:t>
            </a:r>
            <a:r>
              <a:rPr sz="3600" spc="114" dirty="0">
                <a:latin typeface="Times New Roman"/>
                <a:cs typeface="Times New Roman"/>
              </a:rPr>
              <a:t>.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" y="0"/>
            <a:ext cx="8915400" cy="6596036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3928"/>
              <a:tabLst>
                <a:tab pos="287655" algn="l"/>
              </a:tabLst>
            </a:pPr>
            <a:r>
              <a:rPr lang="en-US" sz="4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7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US"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US" sz="2400" spc="-2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74955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204" dirty="0">
                <a:latin typeface="Times New Roman"/>
                <a:cs typeface="Times New Roman"/>
              </a:rPr>
              <a:t>Swing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components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are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derived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from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JComponent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class.</a:t>
            </a:r>
            <a:endParaRPr sz="3200" dirty="0">
              <a:latin typeface="Times New Roman"/>
              <a:cs typeface="Times New Roman"/>
            </a:endParaRPr>
          </a:p>
          <a:p>
            <a:pPr marL="287020" marR="12065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747395" algn="l"/>
              </a:tabLst>
            </a:pPr>
            <a:r>
              <a:rPr sz="3200" b="1" spc="-25" dirty="0">
                <a:latin typeface="Times New Roman"/>
                <a:cs typeface="Times New Roman"/>
              </a:rPr>
              <a:t>JComponent</a:t>
            </a:r>
            <a:r>
              <a:rPr sz="3200" b="1" spc="28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provides</a:t>
            </a:r>
            <a:r>
              <a:rPr sz="3200" spc="32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the</a:t>
            </a:r>
            <a:r>
              <a:rPr sz="3200" spc="28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functionality</a:t>
            </a:r>
            <a:r>
              <a:rPr sz="3200" spc="33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that</a:t>
            </a:r>
            <a:r>
              <a:rPr sz="3200" spc="28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is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common</a:t>
            </a:r>
            <a:r>
              <a:rPr sz="3200" spc="32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to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all	</a:t>
            </a:r>
            <a:r>
              <a:rPr sz="3200" spc="-100" dirty="0">
                <a:latin typeface="Times New Roman"/>
                <a:cs typeface="Times New Roman"/>
              </a:rPr>
              <a:t>components.</a:t>
            </a:r>
            <a:endParaRPr sz="3200" dirty="0">
              <a:latin typeface="Times New Roman"/>
              <a:cs typeface="Times New Roman"/>
            </a:endParaRPr>
          </a:p>
          <a:p>
            <a:pPr marL="287020" marR="635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lang="en-US" sz="3200" spc="-140" dirty="0" err="1">
                <a:latin typeface="Times New Roman"/>
                <a:cs typeface="Times New Roman"/>
              </a:rPr>
              <a:t>Eg</a:t>
            </a:r>
            <a:r>
              <a:rPr lang="en-US" sz="3200" spc="-140" dirty="0">
                <a:latin typeface="Times New Roman"/>
                <a:cs typeface="Times New Roman"/>
              </a:rPr>
              <a:t>: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spc="-30" dirty="0">
                <a:latin typeface="Times New Roman"/>
                <a:cs typeface="Times New Roman"/>
              </a:rPr>
              <a:t>JComponent</a:t>
            </a:r>
            <a:r>
              <a:rPr sz="3200" b="1" spc="10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supports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pluggable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look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and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feel.</a:t>
            </a:r>
            <a:endParaRPr sz="3200" dirty="0">
              <a:latin typeface="Times New Roman"/>
              <a:cs typeface="Times New Roman"/>
            </a:endParaRPr>
          </a:p>
          <a:p>
            <a:pPr marL="287020" marR="889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2448560" algn="l"/>
                <a:tab pos="3656329" algn="l"/>
                <a:tab pos="4296410" algn="l"/>
                <a:tab pos="5238115" algn="l"/>
                <a:tab pos="6303010" algn="l"/>
                <a:tab pos="7833359" algn="l"/>
              </a:tabLst>
            </a:pPr>
            <a:r>
              <a:rPr sz="3200" b="1" spc="-300" dirty="0">
                <a:latin typeface="Times New Roman"/>
                <a:cs typeface="Times New Roman"/>
              </a:rPr>
              <a:t>J</a:t>
            </a:r>
            <a:r>
              <a:rPr sz="3200" b="1" spc="-110" dirty="0">
                <a:latin typeface="Times New Roman"/>
                <a:cs typeface="Times New Roman"/>
              </a:rPr>
              <a:t>C</a:t>
            </a:r>
            <a:r>
              <a:rPr sz="3200" b="1" spc="-85" dirty="0">
                <a:latin typeface="Times New Roman"/>
                <a:cs typeface="Times New Roman"/>
              </a:rPr>
              <a:t>o</a:t>
            </a:r>
            <a:r>
              <a:rPr sz="3200" b="1" spc="35" dirty="0">
                <a:latin typeface="Times New Roman"/>
                <a:cs typeface="Times New Roman"/>
              </a:rPr>
              <a:t>mp</a:t>
            </a:r>
            <a:r>
              <a:rPr sz="3200" b="1" spc="10" dirty="0">
                <a:latin typeface="Times New Roman"/>
                <a:cs typeface="Times New Roman"/>
              </a:rPr>
              <a:t>o</a:t>
            </a:r>
            <a:r>
              <a:rPr sz="3200" b="1" spc="40" dirty="0">
                <a:latin typeface="Times New Roman"/>
                <a:cs typeface="Times New Roman"/>
              </a:rPr>
              <a:t>nent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45" dirty="0">
                <a:latin typeface="Times New Roman"/>
                <a:cs typeface="Times New Roman"/>
              </a:rPr>
              <a:t>h</a:t>
            </a:r>
            <a:r>
              <a:rPr sz="3200" spc="-150" dirty="0">
                <a:latin typeface="Times New Roman"/>
                <a:cs typeface="Times New Roman"/>
              </a:rPr>
              <a:t>e</a:t>
            </a:r>
            <a:r>
              <a:rPr sz="3200" spc="70" dirty="0">
                <a:latin typeface="Times New Roman"/>
                <a:cs typeface="Times New Roman"/>
              </a:rPr>
              <a:t>r</a:t>
            </a:r>
            <a:r>
              <a:rPr sz="3200" spc="-50" dirty="0">
                <a:latin typeface="Times New Roman"/>
                <a:cs typeface="Times New Roman"/>
              </a:rPr>
              <a:t>i</a:t>
            </a:r>
            <a:r>
              <a:rPr sz="3200" spc="-80" dirty="0">
                <a:latin typeface="Times New Roman"/>
                <a:cs typeface="Times New Roman"/>
              </a:rPr>
              <a:t>t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635" dirty="0">
                <a:latin typeface="Times New Roman"/>
                <a:cs typeface="Times New Roman"/>
              </a:rPr>
              <a:t>A</a:t>
            </a:r>
            <a:r>
              <a:rPr sz="3200" spc="-100" dirty="0">
                <a:latin typeface="Times New Roman"/>
                <a:cs typeface="Times New Roman"/>
              </a:rPr>
              <a:t>WT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65" dirty="0">
                <a:latin typeface="Times New Roman"/>
                <a:cs typeface="Times New Roman"/>
              </a:rPr>
              <a:t>c</a:t>
            </a:r>
            <a:r>
              <a:rPr sz="3200" spc="-135" dirty="0">
                <a:latin typeface="Times New Roman"/>
                <a:cs typeface="Times New Roman"/>
              </a:rPr>
              <a:t>l</a:t>
            </a:r>
            <a:r>
              <a:rPr sz="3200" spc="-235" dirty="0">
                <a:latin typeface="Times New Roman"/>
                <a:cs typeface="Times New Roman"/>
              </a:rPr>
              <a:t>a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75" dirty="0">
                <a:latin typeface="Times New Roman"/>
                <a:cs typeface="Times New Roman"/>
              </a:rPr>
              <a:t>ses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50" dirty="0">
                <a:latin typeface="Times New Roman"/>
                <a:cs typeface="Times New Roman"/>
              </a:rPr>
              <a:t>C</a:t>
            </a:r>
            <a:r>
              <a:rPr sz="3200" spc="-10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70" dirty="0">
                <a:latin typeface="Times New Roman"/>
                <a:cs typeface="Times New Roman"/>
              </a:rPr>
              <a:t>t</a:t>
            </a:r>
            <a:r>
              <a:rPr sz="3200" spc="-135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60" dirty="0">
                <a:latin typeface="Times New Roman"/>
                <a:cs typeface="Times New Roman"/>
              </a:rPr>
              <a:t>a</a:t>
            </a:r>
            <a:r>
              <a:rPr sz="3200" spc="-185" dirty="0">
                <a:latin typeface="Times New Roman"/>
                <a:cs typeface="Times New Roman"/>
              </a:rPr>
              <a:t>n</a:t>
            </a:r>
            <a:r>
              <a:rPr sz="3200" spc="-80" dirty="0">
                <a:latin typeface="Times New Roman"/>
                <a:cs typeface="Times New Roman"/>
              </a:rPr>
              <a:t>d  Component.</a:t>
            </a:r>
            <a:endParaRPr sz="3200" dirty="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160" dirty="0">
                <a:latin typeface="Times New Roman"/>
                <a:cs typeface="Times New Roman"/>
              </a:rPr>
              <a:t>Thus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a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Swing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component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is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built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on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and</a:t>
            </a:r>
            <a:r>
              <a:rPr sz="3200" spc="229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compatible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with</a:t>
            </a:r>
            <a:r>
              <a:rPr sz="3200" spc="18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an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635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W</a:t>
            </a:r>
            <a:r>
              <a:rPr sz="3200" spc="-13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com</a:t>
            </a:r>
            <a:r>
              <a:rPr sz="3200" spc="-120" dirty="0">
                <a:latin typeface="Times New Roman"/>
                <a:cs typeface="Times New Roman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on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45" dirty="0">
                <a:latin typeface="Times New Roman"/>
                <a:cs typeface="Times New Roman"/>
              </a:rPr>
              <a:t>t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6985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190" dirty="0">
                <a:latin typeface="Times New Roman"/>
                <a:cs typeface="Times New Roman"/>
              </a:rPr>
              <a:t>All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of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spc="-229" dirty="0">
                <a:latin typeface="Times New Roman"/>
                <a:cs typeface="Times New Roman"/>
              </a:rPr>
              <a:t>Swing’s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components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are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represented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by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classes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defined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within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package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javax.swing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152400"/>
            <a:ext cx="81457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tabLst>
                <a:tab pos="1097915" algn="l"/>
                <a:tab pos="2396490" algn="l"/>
                <a:tab pos="3164840" algn="l"/>
                <a:tab pos="4433570" algn="l"/>
              </a:tabLst>
            </a:pPr>
            <a:r>
              <a:rPr spc="-204" dirty="0"/>
              <a:t>C</a:t>
            </a:r>
            <a:r>
              <a:rPr spc="-95" dirty="0"/>
              <a:t>l</a:t>
            </a:r>
            <a:r>
              <a:rPr spc="-90" dirty="0"/>
              <a:t>ass</a:t>
            </a:r>
            <a:r>
              <a:rPr dirty="0"/>
              <a:t>	</a:t>
            </a:r>
            <a:r>
              <a:rPr spc="10" dirty="0"/>
              <a:t>n</a:t>
            </a:r>
            <a:r>
              <a:rPr spc="-85" dirty="0"/>
              <a:t>a</a:t>
            </a:r>
            <a:r>
              <a:rPr spc="-155" dirty="0"/>
              <a:t>m</a:t>
            </a:r>
            <a:r>
              <a:rPr spc="-5" dirty="0"/>
              <a:t>e</a:t>
            </a:r>
            <a:r>
              <a:rPr dirty="0"/>
              <a:t>s	</a:t>
            </a:r>
            <a:r>
              <a:rPr spc="-20" dirty="0"/>
              <a:t>for</a:t>
            </a:r>
            <a:r>
              <a:rPr dirty="0"/>
              <a:t>	</a:t>
            </a:r>
            <a:r>
              <a:rPr spc="-60" dirty="0"/>
              <a:t>Sw</a:t>
            </a:r>
            <a:r>
              <a:rPr spc="-50" dirty="0"/>
              <a:t>i</a:t>
            </a:r>
            <a:r>
              <a:rPr spc="10" dirty="0"/>
              <a:t>n</a:t>
            </a:r>
            <a:r>
              <a:rPr spc="30" dirty="0"/>
              <a:t>g</a:t>
            </a:r>
            <a:r>
              <a:rPr dirty="0"/>
              <a:t>	</a:t>
            </a:r>
            <a:r>
              <a:rPr spc="90" dirty="0"/>
              <a:t>c</a:t>
            </a:r>
            <a:r>
              <a:rPr spc="110" dirty="0"/>
              <a:t>o</a:t>
            </a:r>
            <a:r>
              <a:rPr spc="35" dirty="0"/>
              <a:t>mpon</a:t>
            </a:r>
            <a:r>
              <a:rPr dirty="0"/>
              <a:t>e</a:t>
            </a:r>
            <a:r>
              <a:rPr spc="10" dirty="0"/>
              <a:t>n</a:t>
            </a:r>
            <a:r>
              <a:rPr spc="15" dirty="0"/>
              <a:t>ts</a:t>
            </a:r>
            <a:r>
              <a:rPr spc="25" dirty="0"/>
              <a:t>(i</a:t>
            </a:r>
            <a:r>
              <a:rPr spc="10" dirty="0"/>
              <a:t>n</a:t>
            </a:r>
            <a:r>
              <a:rPr spc="65" dirty="0"/>
              <a:t>c</a:t>
            </a:r>
            <a:r>
              <a:rPr spc="55" dirty="0"/>
              <a:t>l</a:t>
            </a:r>
            <a:r>
              <a:rPr spc="10" dirty="0"/>
              <a:t>u</a:t>
            </a:r>
            <a:r>
              <a:rPr spc="30" dirty="0"/>
              <a:t>din</a:t>
            </a:r>
            <a:r>
              <a:rPr spc="20" dirty="0"/>
              <a:t>g  </a:t>
            </a:r>
            <a:r>
              <a:rPr spc="35" dirty="0"/>
              <a:t>those</a:t>
            </a:r>
            <a:r>
              <a:rPr spc="-70" dirty="0"/>
              <a:t> </a:t>
            </a:r>
            <a:r>
              <a:rPr spc="15" dirty="0"/>
              <a:t>used</a:t>
            </a:r>
            <a:r>
              <a:rPr spc="-65" dirty="0"/>
              <a:t> </a:t>
            </a:r>
            <a:r>
              <a:rPr spc="-105" dirty="0"/>
              <a:t>as</a:t>
            </a:r>
            <a:r>
              <a:rPr spc="-75" dirty="0"/>
              <a:t> </a:t>
            </a:r>
            <a:r>
              <a:rPr spc="15" dirty="0"/>
              <a:t>containers)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8864" y="1358305"/>
            <a:ext cx="2052955" cy="432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 marR="1089660">
              <a:lnSpc>
                <a:spcPct val="111400"/>
              </a:lnSpc>
              <a:spcBef>
                <a:spcPts val="95"/>
              </a:spcBef>
            </a:pPr>
            <a:r>
              <a:rPr sz="2800" spc="-240" dirty="0">
                <a:latin typeface="Times New Roman"/>
                <a:cs typeface="Times New Roman"/>
              </a:rPr>
              <a:t>J</a:t>
            </a:r>
            <a:r>
              <a:rPr sz="2800" spc="-330" dirty="0">
                <a:latin typeface="Times New Roman"/>
                <a:cs typeface="Times New Roman"/>
              </a:rPr>
              <a:t>S</a:t>
            </a:r>
            <a:r>
              <a:rPr sz="2800" spc="-100" dirty="0">
                <a:latin typeface="Times New Roman"/>
                <a:cs typeface="Times New Roman"/>
              </a:rPr>
              <a:t>li</a:t>
            </a:r>
            <a:r>
              <a:rPr sz="2800" spc="-160" dirty="0">
                <a:latin typeface="Times New Roman"/>
                <a:cs typeface="Times New Roman"/>
              </a:rPr>
              <a:t>d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25" dirty="0">
                <a:latin typeface="Times New Roman"/>
                <a:cs typeface="Times New Roman"/>
              </a:rPr>
              <a:t>r  </a:t>
            </a:r>
            <a:r>
              <a:rPr sz="2800" spc="-210" dirty="0">
                <a:latin typeface="Times New Roman"/>
                <a:cs typeface="Times New Roman"/>
              </a:rPr>
              <a:t>JTable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78740">
              <a:lnSpc>
                <a:spcPct val="112000"/>
              </a:lnSpc>
              <a:spcBef>
                <a:spcPts val="10"/>
              </a:spcBef>
            </a:pPr>
            <a:r>
              <a:rPr sz="2800" spc="-145" dirty="0">
                <a:latin typeface="Times New Roman"/>
                <a:cs typeface="Times New Roman"/>
              </a:rPr>
              <a:t>JTogglebutton 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JViewport 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JButton 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JComboBox 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JEditorPane 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JInternalFrame </a:t>
            </a:r>
            <a:r>
              <a:rPr sz="2800" spc="-114" dirty="0">
                <a:latin typeface="Times New Roman"/>
                <a:cs typeface="Times New Roman"/>
              </a:rPr>
              <a:t> JOptionPane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1440" marR="5080" indent="78740">
              <a:lnSpc>
                <a:spcPct val="111900"/>
              </a:lnSpc>
              <a:spcBef>
                <a:spcPts val="80"/>
              </a:spcBef>
            </a:pPr>
            <a:r>
              <a:rPr spc="-135" dirty="0"/>
              <a:t>JApplet </a:t>
            </a:r>
            <a:r>
              <a:rPr spc="-130" dirty="0"/>
              <a:t> </a:t>
            </a:r>
            <a:r>
              <a:rPr spc="-155" dirty="0"/>
              <a:t>JC</a:t>
            </a:r>
            <a:r>
              <a:rPr spc="-130" dirty="0"/>
              <a:t>o</a:t>
            </a:r>
            <a:r>
              <a:rPr spc="-110" dirty="0"/>
              <a:t>lorCho</a:t>
            </a:r>
            <a:r>
              <a:rPr spc="-105" dirty="0"/>
              <a:t>o</a:t>
            </a:r>
            <a:r>
              <a:rPr spc="-80" dirty="0"/>
              <a:t>ser  </a:t>
            </a:r>
            <a:r>
              <a:rPr spc="-165" dirty="0"/>
              <a:t>JDialog </a:t>
            </a:r>
            <a:r>
              <a:rPr spc="-155" dirty="0"/>
              <a:t> JFrame </a:t>
            </a:r>
            <a:r>
              <a:rPr spc="-150" dirty="0"/>
              <a:t> </a:t>
            </a:r>
            <a:r>
              <a:rPr spc="-175" dirty="0"/>
              <a:t>JLayeredPane </a:t>
            </a:r>
            <a:r>
              <a:rPr spc="-170" dirty="0"/>
              <a:t> </a:t>
            </a:r>
            <a:r>
              <a:rPr spc="-150" dirty="0"/>
              <a:t>JMenuItem </a:t>
            </a:r>
            <a:r>
              <a:rPr spc="-145" dirty="0"/>
              <a:t> </a:t>
            </a:r>
            <a:r>
              <a:rPr spc="-155" dirty="0"/>
              <a:t>JPopupMenu </a:t>
            </a:r>
            <a:r>
              <a:rPr spc="-150" dirty="0"/>
              <a:t> </a:t>
            </a:r>
            <a:r>
              <a:rPr spc="-135" dirty="0"/>
              <a:t>JRootPane </a:t>
            </a:r>
            <a:r>
              <a:rPr spc="-130" dirty="0"/>
              <a:t> </a:t>
            </a:r>
            <a:r>
              <a:rPr spc="-155" dirty="0"/>
              <a:t>JList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-150" dirty="0"/>
              <a:t>JProgressBar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0" y="229524"/>
            <a:ext cx="9144000" cy="5485476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3928"/>
              <a:tabLst>
                <a:tab pos="287655" algn="l"/>
              </a:tabLst>
            </a:pPr>
            <a:r>
              <a:rPr lang="en-US" sz="4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Swing</a:t>
            </a:r>
            <a:r>
              <a:rPr lang="en-US" sz="4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endParaRPr lang="en-US" sz="2400" spc="-2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74955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2800" spc="-280" dirty="0">
                <a:latin typeface="Times New Roman"/>
                <a:cs typeface="Times New Roman"/>
              </a:rPr>
              <a:t>Sw</a:t>
            </a:r>
            <a:r>
              <a:rPr sz="2800" spc="-114" dirty="0">
                <a:latin typeface="Times New Roman"/>
                <a:cs typeface="Times New Roman"/>
              </a:rPr>
              <a:t>i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-229" dirty="0">
                <a:latin typeface="Times New Roman"/>
                <a:cs typeface="Times New Roman"/>
              </a:rPr>
              <a:t>g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d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220" dirty="0">
                <a:latin typeface="Times New Roman"/>
                <a:cs typeface="Times New Roman"/>
              </a:rPr>
              <a:t>f</a:t>
            </a:r>
            <a:r>
              <a:rPr sz="2800" spc="-90" dirty="0">
                <a:latin typeface="Times New Roman"/>
                <a:cs typeface="Times New Roman"/>
              </a:rPr>
              <a:t>i</a:t>
            </a:r>
            <a:r>
              <a:rPr sz="2800" spc="-150" dirty="0">
                <a:latin typeface="Times New Roman"/>
                <a:cs typeface="Times New Roman"/>
              </a:rPr>
              <a:t>n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spc="-254" dirty="0">
                <a:latin typeface="Times New Roman"/>
                <a:cs typeface="Times New Roman"/>
              </a:rPr>
              <a:t>w</a:t>
            </a:r>
            <a:r>
              <a:rPr sz="2800" spc="-114" dirty="0">
                <a:latin typeface="Times New Roman"/>
                <a:cs typeface="Times New Roman"/>
              </a:rPr>
              <a:t>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ty</a:t>
            </a:r>
            <a:r>
              <a:rPr sz="2800" spc="-105" dirty="0">
                <a:latin typeface="Times New Roman"/>
                <a:cs typeface="Times New Roman"/>
              </a:rPr>
              <a:t>p</a:t>
            </a:r>
            <a:r>
              <a:rPr sz="2800" spc="-114" dirty="0">
                <a:latin typeface="Times New Roman"/>
                <a:cs typeface="Times New Roman"/>
              </a:rPr>
              <a:t>e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o</a:t>
            </a:r>
            <a:r>
              <a:rPr sz="2800" spc="-130" dirty="0">
                <a:latin typeface="Times New Roman"/>
                <a:cs typeface="Times New Roman"/>
              </a:rPr>
              <a:t>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c</a:t>
            </a:r>
            <a:r>
              <a:rPr sz="2800" spc="-145" dirty="0">
                <a:latin typeface="Times New Roman"/>
                <a:cs typeface="Times New Roman"/>
              </a:rPr>
              <a:t>o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-95" dirty="0">
                <a:latin typeface="Times New Roman"/>
                <a:cs typeface="Times New Roman"/>
              </a:rPr>
              <a:t>tai</a:t>
            </a:r>
            <a:r>
              <a:rPr sz="2800" spc="-135" dirty="0">
                <a:latin typeface="Times New Roman"/>
                <a:cs typeface="Times New Roman"/>
              </a:rPr>
              <a:t>n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65" dirty="0">
                <a:latin typeface="Times New Roman"/>
                <a:cs typeface="Times New Roman"/>
              </a:rPr>
              <a:t>r</a:t>
            </a:r>
            <a:r>
              <a:rPr sz="2800" spc="-245" dirty="0">
                <a:latin typeface="Times New Roman"/>
                <a:cs typeface="Times New Roman"/>
              </a:rPr>
              <a:t>s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indent="-274955"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055370" algn="l"/>
                <a:tab pos="1841500" algn="l"/>
                <a:tab pos="2503170" algn="l"/>
                <a:tab pos="3912235" algn="l"/>
              </a:tabLst>
            </a:pPr>
            <a:r>
              <a:rPr sz="2800" spc="-135" dirty="0">
                <a:latin typeface="Times New Roman"/>
                <a:cs typeface="Times New Roman"/>
              </a:rPr>
              <a:t>The	</a:t>
            </a:r>
            <a:r>
              <a:rPr sz="2800" spc="-90" dirty="0">
                <a:latin typeface="Times New Roman"/>
                <a:cs typeface="Times New Roman"/>
              </a:rPr>
              <a:t>first	</a:t>
            </a:r>
            <a:r>
              <a:rPr sz="2800" spc="-105" dirty="0">
                <a:latin typeface="Times New Roman"/>
                <a:cs typeface="Times New Roman"/>
              </a:rPr>
              <a:t>are	</a:t>
            </a:r>
            <a:r>
              <a:rPr sz="2800" spc="-110" dirty="0">
                <a:solidFill>
                  <a:srgbClr val="FF0000"/>
                </a:solidFill>
                <a:latin typeface="Times New Roman"/>
                <a:cs typeface="Times New Roman"/>
              </a:rPr>
              <a:t>top-level	</a:t>
            </a:r>
            <a:r>
              <a:rPr sz="2800" spc="-95" dirty="0">
                <a:solidFill>
                  <a:srgbClr val="FF0000"/>
                </a:solidFill>
                <a:latin typeface="Times New Roman"/>
                <a:cs typeface="Times New Roman"/>
              </a:rPr>
              <a:t>containers</a:t>
            </a:r>
            <a:r>
              <a:rPr sz="2800" spc="-95" dirty="0">
                <a:latin typeface="Times New Roman"/>
                <a:cs typeface="Times New Roman"/>
              </a:rPr>
              <a:t>:</a:t>
            </a:r>
            <a:endParaRPr lang="en-US" sz="2800" spc="-95" dirty="0">
              <a:latin typeface="Times New Roman"/>
              <a:cs typeface="Times New Roman"/>
            </a:endParaRPr>
          </a:p>
          <a:p>
            <a:pPr marL="744220" lvl="1" indent="-274955"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055370" algn="l"/>
                <a:tab pos="1841500" algn="l"/>
                <a:tab pos="2503170" algn="l"/>
                <a:tab pos="3912235" algn="l"/>
              </a:tabLst>
            </a:pPr>
            <a:r>
              <a:rPr lang="en-US" sz="2800" b="1" spc="-114" dirty="0" err="1">
                <a:latin typeface="Times New Roman"/>
                <a:cs typeface="Times New Roman"/>
              </a:rPr>
              <a:t>Jframe,</a:t>
            </a:r>
            <a:r>
              <a:rPr lang="en-US" sz="2800" b="1" spc="-15" dirty="0" err="1">
                <a:latin typeface="Times New Roman"/>
                <a:cs typeface="Times New Roman"/>
              </a:rPr>
              <a:t>JApplet</a:t>
            </a:r>
            <a:r>
              <a:rPr lang="en-US" sz="2800" spc="-15" dirty="0" err="1">
                <a:latin typeface="Times New Roman"/>
                <a:cs typeface="Times New Roman"/>
              </a:rPr>
              <a:t>,</a:t>
            </a:r>
            <a:r>
              <a:rPr sz="2800" b="1" spc="-165" dirty="0" err="1">
                <a:latin typeface="Times New Roman"/>
                <a:cs typeface="Times New Roman"/>
              </a:rPr>
              <a:t>J</a:t>
            </a:r>
            <a:r>
              <a:rPr sz="2800" b="1" spc="-370" dirty="0" err="1">
                <a:latin typeface="Times New Roman"/>
                <a:cs typeface="Times New Roman"/>
              </a:rPr>
              <a:t>W</a:t>
            </a:r>
            <a:r>
              <a:rPr sz="2800" b="1" spc="55" dirty="0" err="1">
                <a:latin typeface="Times New Roman"/>
                <a:cs typeface="Times New Roman"/>
              </a:rPr>
              <a:t>ind</a:t>
            </a:r>
            <a:r>
              <a:rPr sz="2800" b="1" spc="-25" dirty="0" err="1">
                <a:latin typeface="Times New Roman"/>
                <a:cs typeface="Times New Roman"/>
              </a:rPr>
              <a:t>o</a:t>
            </a:r>
            <a:r>
              <a:rPr sz="2800" b="1" spc="114" dirty="0" err="1">
                <a:latin typeface="Times New Roman"/>
                <a:cs typeface="Times New Roman"/>
              </a:rPr>
              <a:t>w</a:t>
            </a:r>
            <a:r>
              <a:rPr sz="2800" spc="114" dirty="0">
                <a:latin typeface="Times New Roman"/>
                <a:cs typeface="Times New Roman"/>
              </a:rPr>
              <a:t>,</a:t>
            </a:r>
            <a:r>
              <a:rPr sz="2800" spc="-22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a</a:t>
            </a:r>
            <a:r>
              <a:rPr sz="2800" spc="-170" dirty="0">
                <a:latin typeface="Times New Roman"/>
                <a:cs typeface="Times New Roman"/>
              </a:rPr>
              <a:t>n</a:t>
            </a:r>
            <a:r>
              <a:rPr sz="2800" spc="-114" dirty="0">
                <a:latin typeface="Times New Roman"/>
                <a:cs typeface="Times New Roman"/>
              </a:rPr>
              <a:t>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b="1" spc="-120" dirty="0" err="1">
                <a:latin typeface="Times New Roman"/>
                <a:cs typeface="Times New Roman"/>
              </a:rPr>
              <a:t>J</a:t>
            </a:r>
            <a:r>
              <a:rPr sz="2800" b="1" spc="-190" dirty="0" err="1">
                <a:latin typeface="Times New Roman"/>
                <a:cs typeface="Times New Roman"/>
              </a:rPr>
              <a:t>D</a:t>
            </a:r>
            <a:r>
              <a:rPr sz="2800" b="1" spc="20" dirty="0" err="1">
                <a:latin typeface="Times New Roman"/>
                <a:cs typeface="Times New Roman"/>
              </a:rPr>
              <a:t>ialog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lang="en-US" sz="2800" spc="114" dirty="0">
              <a:latin typeface="Times New Roman"/>
              <a:cs typeface="Times New Roman"/>
            </a:endParaRPr>
          </a:p>
          <a:p>
            <a:pPr marL="287020" marR="6985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070610" algn="l"/>
                <a:tab pos="1536700" algn="l"/>
                <a:tab pos="2244090" algn="l"/>
                <a:tab pos="3244215" algn="l"/>
                <a:tab pos="7437120" algn="l"/>
              </a:tabLst>
            </a:pPr>
            <a:r>
              <a:rPr lang="en-US" sz="2800" spc="-145" dirty="0">
                <a:latin typeface="Times New Roman"/>
                <a:cs typeface="Times New Roman"/>
              </a:rPr>
              <a:t>Th</a:t>
            </a:r>
            <a:r>
              <a:rPr lang="en-US" sz="2800" spc="-185" dirty="0">
                <a:latin typeface="Times New Roman"/>
                <a:cs typeface="Times New Roman"/>
              </a:rPr>
              <a:t>e</a:t>
            </a:r>
            <a:r>
              <a:rPr lang="en-US" sz="2800" spc="-229" dirty="0">
                <a:latin typeface="Times New Roman"/>
                <a:cs typeface="Times New Roman"/>
              </a:rPr>
              <a:t>y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  <a:r>
              <a:rPr lang="en-US" sz="2800" spc="-110" dirty="0">
                <a:latin typeface="Times New Roman"/>
                <a:cs typeface="Times New Roman"/>
              </a:rPr>
              <a:t>d</a:t>
            </a:r>
            <a:r>
              <a:rPr lang="en-US" sz="2800" spc="-114" dirty="0">
                <a:latin typeface="Times New Roman"/>
                <a:cs typeface="Times New Roman"/>
              </a:rPr>
              <a:t>o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  <a:r>
              <a:rPr lang="en-US" sz="2800" spc="-130" dirty="0">
                <a:latin typeface="Times New Roman"/>
                <a:cs typeface="Times New Roman"/>
              </a:rPr>
              <a:t>n</a:t>
            </a:r>
            <a:r>
              <a:rPr lang="en-US" sz="2800" spc="-110" dirty="0">
                <a:latin typeface="Times New Roman"/>
                <a:cs typeface="Times New Roman"/>
              </a:rPr>
              <a:t>o</a:t>
            </a:r>
            <a:r>
              <a:rPr lang="en-US" sz="2800" spc="40" dirty="0">
                <a:latin typeface="Times New Roman"/>
                <a:cs typeface="Times New Roman"/>
              </a:rPr>
              <a:t>t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  <a:r>
              <a:rPr lang="en-US" sz="2800" spc="-90" dirty="0">
                <a:latin typeface="Times New Roman"/>
                <a:cs typeface="Times New Roman"/>
              </a:rPr>
              <a:t>i</a:t>
            </a:r>
            <a:r>
              <a:rPr lang="en-US" sz="2800" spc="-150" dirty="0">
                <a:latin typeface="Times New Roman"/>
                <a:cs typeface="Times New Roman"/>
              </a:rPr>
              <a:t>n</a:t>
            </a:r>
            <a:r>
              <a:rPr lang="en-US" sz="2800" spc="-145" dirty="0">
                <a:latin typeface="Times New Roman"/>
                <a:cs typeface="Times New Roman"/>
              </a:rPr>
              <a:t>h</a:t>
            </a:r>
            <a:r>
              <a:rPr lang="en-US" sz="2800" spc="-150" dirty="0">
                <a:latin typeface="Times New Roman"/>
                <a:cs typeface="Times New Roman"/>
              </a:rPr>
              <a:t>e</a:t>
            </a:r>
            <a:r>
              <a:rPr lang="en-US" sz="2800" spc="65" dirty="0">
                <a:latin typeface="Times New Roman"/>
                <a:cs typeface="Times New Roman"/>
              </a:rPr>
              <a:t>r</a:t>
            </a:r>
            <a:r>
              <a:rPr lang="en-US" sz="2800" spc="-50" dirty="0">
                <a:latin typeface="Times New Roman"/>
                <a:cs typeface="Times New Roman"/>
              </a:rPr>
              <a:t>it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  <a:r>
              <a:rPr lang="en-US" sz="2800" b="1" spc="-325" dirty="0" err="1">
                <a:latin typeface="Times New Roman"/>
                <a:cs typeface="Times New Roman"/>
              </a:rPr>
              <a:t>J</a:t>
            </a:r>
            <a:r>
              <a:rPr lang="en-US" sz="2800" b="1" spc="-110" dirty="0" err="1">
                <a:latin typeface="Times New Roman"/>
                <a:cs typeface="Times New Roman"/>
              </a:rPr>
              <a:t>C</a:t>
            </a:r>
            <a:r>
              <a:rPr lang="en-US" sz="2800" b="1" spc="-85" dirty="0" err="1">
                <a:latin typeface="Times New Roman"/>
                <a:cs typeface="Times New Roman"/>
              </a:rPr>
              <a:t>o</a:t>
            </a:r>
            <a:r>
              <a:rPr lang="en-US" sz="2800" b="1" spc="40" dirty="0" err="1">
                <a:latin typeface="Times New Roman"/>
                <a:cs typeface="Times New Roman"/>
              </a:rPr>
              <a:t>mpon</a:t>
            </a:r>
            <a:r>
              <a:rPr lang="en-US" sz="2800" b="1" dirty="0" err="1">
                <a:latin typeface="Times New Roman"/>
                <a:cs typeface="Times New Roman"/>
              </a:rPr>
              <a:t>e</a:t>
            </a:r>
            <a:r>
              <a:rPr lang="en-US" sz="2800" b="1" spc="35" dirty="0" err="1">
                <a:latin typeface="Times New Roman"/>
                <a:cs typeface="Times New Roman"/>
              </a:rPr>
              <a:t>n</a:t>
            </a:r>
            <a:r>
              <a:rPr lang="en-US" sz="2800" b="1" spc="15" dirty="0" err="1">
                <a:latin typeface="Times New Roman"/>
                <a:cs typeface="Times New Roman"/>
              </a:rPr>
              <a:t>t</a:t>
            </a:r>
            <a:r>
              <a:rPr lang="en-US" sz="2800" spc="114" dirty="0">
                <a:latin typeface="Times New Roman"/>
                <a:cs typeface="Times New Roman"/>
              </a:rPr>
              <a:t>.</a:t>
            </a:r>
          </a:p>
          <a:p>
            <a:pPr marL="287020" marR="6985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070610" algn="l"/>
                <a:tab pos="1536700" algn="l"/>
                <a:tab pos="2244090" algn="l"/>
                <a:tab pos="3244215" algn="l"/>
                <a:tab pos="7437120" algn="l"/>
              </a:tabLst>
            </a:pPr>
            <a:r>
              <a:rPr lang="en-US" sz="2800" spc="114" dirty="0">
                <a:latin typeface="Times New Roman"/>
                <a:cs typeface="Times New Roman"/>
              </a:rPr>
              <a:t>T</a:t>
            </a:r>
            <a:r>
              <a:rPr lang="en-US" sz="2800" spc="-100" dirty="0">
                <a:latin typeface="Times New Roman"/>
                <a:cs typeface="Times New Roman"/>
              </a:rPr>
              <a:t>h</a:t>
            </a:r>
            <a:r>
              <a:rPr lang="en-US" sz="2800" spc="-165" dirty="0">
                <a:latin typeface="Times New Roman"/>
                <a:cs typeface="Times New Roman"/>
              </a:rPr>
              <a:t>e</a:t>
            </a:r>
            <a:r>
              <a:rPr lang="en-US" sz="2800" spc="-229" dirty="0">
                <a:latin typeface="Times New Roman"/>
                <a:cs typeface="Times New Roman"/>
              </a:rPr>
              <a:t>y</a:t>
            </a:r>
            <a:r>
              <a:rPr lang="en-US" sz="2800" dirty="0">
                <a:latin typeface="Times New Roman"/>
                <a:cs typeface="Times New Roman"/>
              </a:rPr>
              <a:t>	</a:t>
            </a:r>
            <a:r>
              <a:rPr lang="en-US" sz="2800" spc="-155" dirty="0">
                <a:latin typeface="Times New Roman"/>
                <a:cs typeface="Times New Roman"/>
              </a:rPr>
              <a:t>i</a:t>
            </a:r>
            <a:r>
              <a:rPr lang="en-US" sz="2800" spc="-110" dirty="0">
                <a:latin typeface="Times New Roman"/>
                <a:cs typeface="Times New Roman"/>
              </a:rPr>
              <a:t>n</a:t>
            </a:r>
            <a:r>
              <a:rPr lang="en-US" sz="2800" spc="-145" dirty="0">
                <a:latin typeface="Times New Roman"/>
                <a:cs typeface="Times New Roman"/>
              </a:rPr>
              <a:t>h</a:t>
            </a:r>
            <a:r>
              <a:rPr lang="en-US" sz="2800" spc="-150" dirty="0">
                <a:latin typeface="Times New Roman"/>
                <a:cs typeface="Times New Roman"/>
              </a:rPr>
              <a:t>e</a:t>
            </a:r>
            <a:r>
              <a:rPr lang="en-US" sz="2800" spc="65" dirty="0">
                <a:latin typeface="Times New Roman"/>
                <a:cs typeface="Times New Roman"/>
              </a:rPr>
              <a:t>r</a:t>
            </a:r>
            <a:r>
              <a:rPr lang="en-US" sz="2800" spc="-45" dirty="0">
                <a:latin typeface="Times New Roman"/>
                <a:cs typeface="Times New Roman"/>
              </a:rPr>
              <a:t>it  </a:t>
            </a:r>
            <a:r>
              <a:rPr lang="en-US" sz="2800" spc="-50" dirty="0">
                <a:latin typeface="Times New Roman"/>
                <a:cs typeface="Times New Roman"/>
              </a:rPr>
              <a:t>t</a:t>
            </a:r>
            <a:r>
              <a:rPr lang="en-US" sz="2800" spc="-100" dirty="0">
                <a:latin typeface="Times New Roman"/>
                <a:cs typeface="Times New Roman"/>
              </a:rPr>
              <a:t>h</a:t>
            </a:r>
            <a:r>
              <a:rPr lang="en-US" sz="2800" spc="-105" dirty="0">
                <a:latin typeface="Times New Roman"/>
                <a:cs typeface="Times New Roman"/>
              </a:rPr>
              <a:t>e</a:t>
            </a:r>
            <a:r>
              <a:rPr lang="en-US" sz="2800" spc="-285" dirty="0">
                <a:latin typeface="Times New Roman"/>
                <a:cs typeface="Times New Roman"/>
              </a:rPr>
              <a:t> </a:t>
            </a:r>
            <a:r>
              <a:rPr lang="en-US" sz="2800" spc="-635" dirty="0">
                <a:latin typeface="Times New Roman"/>
                <a:cs typeface="Times New Roman"/>
              </a:rPr>
              <a:t>A</a:t>
            </a:r>
            <a:r>
              <a:rPr lang="en-US" sz="2800" spc="-100" dirty="0">
                <a:latin typeface="Times New Roman"/>
                <a:cs typeface="Times New Roman"/>
              </a:rPr>
              <a:t>WT</a:t>
            </a:r>
            <a:r>
              <a:rPr lang="en-US" sz="2800" spc="-105" dirty="0">
                <a:latin typeface="Times New Roman"/>
                <a:cs typeface="Times New Roman"/>
              </a:rPr>
              <a:t> </a:t>
            </a:r>
            <a:r>
              <a:rPr lang="en-US" sz="2800" spc="-175" dirty="0">
                <a:latin typeface="Times New Roman"/>
                <a:cs typeface="Times New Roman"/>
              </a:rPr>
              <a:t>cla</a:t>
            </a:r>
            <a:r>
              <a:rPr lang="en-US" sz="2800" spc="-170" dirty="0">
                <a:latin typeface="Times New Roman"/>
                <a:cs typeface="Times New Roman"/>
              </a:rPr>
              <a:t>s</a:t>
            </a:r>
            <a:r>
              <a:rPr lang="en-US" sz="2800" spc="-175" dirty="0">
                <a:latin typeface="Times New Roman"/>
                <a:cs typeface="Times New Roman"/>
              </a:rPr>
              <a:t>ses</a:t>
            </a:r>
            <a:r>
              <a:rPr lang="en-US" sz="2800" spc="-120" dirty="0">
                <a:latin typeface="Times New Roman"/>
                <a:cs typeface="Times New Roman"/>
              </a:rPr>
              <a:t> </a:t>
            </a:r>
            <a:r>
              <a:rPr lang="en-US" sz="2800" b="1" spc="-110" dirty="0">
                <a:latin typeface="Times New Roman"/>
                <a:cs typeface="Times New Roman"/>
              </a:rPr>
              <a:t>C</a:t>
            </a:r>
            <a:r>
              <a:rPr lang="en-US" sz="2800" b="1" spc="-85" dirty="0">
                <a:latin typeface="Times New Roman"/>
                <a:cs typeface="Times New Roman"/>
              </a:rPr>
              <a:t>o</a:t>
            </a:r>
            <a:r>
              <a:rPr lang="en-US" sz="2800" b="1" spc="35" dirty="0">
                <a:latin typeface="Times New Roman"/>
                <a:cs typeface="Times New Roman"/>
              </a:rPr>
              <a:t>mp</a:t>
            </a:r>
            <a:r>
              <a:rPr lang="en-US" sz="2800" b="1" spc="10" dirty="0">
                <a:latin typeface="Times New Roman"/>
                <a:cs typeface="Times New Roman"/>
              </a:rPr>
              <a:t>o</a:t>
            </a:r>
            <a:r>
              <a:rPr lang="en-US" sz="2800" b="1" spc="40" dirty="0">
                <a:latin typeface="Times New Roman"/>
                <a:cs typeface="Times New Roman"/>
              </a:rPr>
              <a:t>nent</a:t>
            </a:r>
            <a:r>
              <a:rPr lang="en-US" sz="2800" b="1" spc="-125" dirty="0">
                <a:latin typeface="Times New Roman"/>
                <a:cs typeface="Times New Roman"/>
              </a:rPr>
              <a:t> </a:t>
            </a:r>
            <a:r>
              <a:rPr lang="en-US" sz="2800" spc="-160" dirty="0">
                <a:latin typeface="Times New Roman"/>
                <a:cs typeface="Times New Roman"/>
              </a:rPr>
              <a:t>a</a:t>
            </a:r>
            <a:r>
              <a:rPr lang="en-US" sz="2800" spc="-165" dirty="0">
                <a:latin typeface="Times New Roman"/>
                <a:cs typeface="Times New Roman"/>
              </a:rPr>
              <a:t>n</a:t>
            </a:r>
            <a:r>
              <a:rPr lang="en-US" sz="2800" spc="-114" dirty="0">
                <a:latin typeface="Times New Roman"/>
                <a:cs typeface="Times New Roman"/>
              </a:rPr>
              <a:t>d</a:t>
            </a:r>
            <a:r>
              <a:rPr lang="en-US" sz="2800" spc="-85" dirty="0">
                <a:latin typeface="Times New Roman"/>
                <a:cs typeface="Times New Roman"/>
              </a:rPr>
              <a:t> </a:t>
            </a:r>
            <a:r>
              <a:rPr lang="en-US" sz="2800" b="1" spc="-110" dirty="0">
                <a:latin typeface="Times New Roman"/>
                <a:cs typeface="Times New Roman"/>
              </a:rPr>
              <a:t>C</a:t>
            </a:r>
            <a:r>
              <a:rPr lang="en-US" sz="2800" b="1" spc="-85" dirty="0">
                <a:latin typeface="Times New Roman"/>
                <a:cs typeface="Times New Roman"/>
              </a:rPr>
              <a:t>o</a:t>
            </a:r>
            <a:r>
              <a:rPr lang="en-US" sz="2800" b="1" spc="-5" dirty="0">
                <a:latin typeface="Times New Roman"/>
                <a:cs typeface="Times New Roman"/>
              </a:rPr>
              <a:t>ntaine</a:t>
            </a:r>
            <a:r>
              <a:rPr lang="en-US" sz="2800" b="1" spc="-15" dirty="0">
                <a:latin typeface="Times New Roman"/>
                <a:cs typeface="Times New Roman"/>
              </a:rPr>
              <a:t>r</a:t>
            </a:r>
            <a:r>
              <a:rPr lang="en-US" sz="2800" spc="120" dirty="0">
                <a:latin typeface="Times New Roman"/>
                <a:cs typeface="Times New Roman"/>
              </a:rPr>
              <a:t>.</a:t>
            </a:r>
            <a:endParaRPr lang="en-US" sz="2800" dirty="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lang="en-US" sz="2800" spc="-140" dirty="0">
                <a:latin typeface="Times New Roman"/>
                <a:cs typeface="Times New Roman"/>
              </a:rPr>
              <a:t>Unlike</a:t>
            </a:r>
            <a:r>
              <a:rPr lang="en-US" sz="2800" spc="130" dirty="0">
                <a:latin typeface="Times New Roman"/>
                <a:cs typeface="Times New Roman"/>
              </a:rPr>
              <a:t> </a:t>
            </a:r>
            <a:r>
              <a:rPr lang="en-US" sz="2800" spc="-235" dirty="0">
                <a:latin typeface="Times New Roman"/>
                <a:cs typeface="Times New Roman"/>
              </a:rPr>
              <a:t>Swing’s</a:t>
            </a:r>
            <a:r>
              <a:rPr lang="en-US" sz="2800" spc="155" dirty="0">
                <a:latin typeface="Times New Roman"/>
                <a:cs typeface="Times New Roman"/>
              </a:rPr>
              <a:t> </a:t>
            </a:r>
            <a:r>
              <a:rPr lang="en-US" sz="2800" spc="-70" dirty="0">
                <a:latin typeface="Times New Roman"/>
                <a:cs typeface="Times New Roman"/>
              </a:rPr>
              <a:t>other</a:t>
            </a:r>
            <a:r>
              <a:rPr lang="en-US" sz="2800" spc="140" dirty="0">
                <a:latin typeface="Times New Roman"/>
                <a:cs typeface="Times New Roman"/>
              </a:rPr>
              <a:t> </a:t>
            </a:r>
            <a:r>
              <a:rPr lang="en-US" sz="2800" spc="-100" dirty="0">
                <a:latin typeface="Times New Roman"/>
                <a:cs typeface="Times New Roman"/>
              </a:rPr>
              <a:t>components,</a:t>
            </a:r>
            <a:r>
              <a:rPr lang="en-US" sz="2800" spc="30" dirty="0">
                <a:latin typeface="Times New Roman"/>
                <a:cs typeface="Times New Roman"/>
              </a:rPr>
              <a:t> </a:t>
            </a:r>
            <a:r>
              <a:rPr lang="en-US" sz="2800" spc="-155" dirty="0">
                <a:latin typeface="Times New Roman"/>
                <a:cs typeface="Times New Roman"/>
              </a:rPr>
              <a:t>which</a:t>
            </a:r>
            <a:r>
              <a:rPr lang="en-US" sz="2800" spc="140" dirty="0">
                <a:latin typeface="Times New Roman"/>
                <a:cs typeface="Times New Roman"/>
              </a:rPr>
              <a:t> </a:t>
            </a:r>
            <a:r>
              <a:rPr lang="en-US" sz="2800" spc="-110" dirty="0">
                <a:latin typeface="Times New Roman"/>
                <a:cs typeface="Times New Roman"/>
              </a:rPr>
              <a:t>are</a:t>
            </a:r>
            <a:r>
              <a:rPr lang="en-US" sz="2800" spc="130" dirty="0">
                <a:latin typeface="Times New Roman"/>
                <a:cs typeface="Times New Roman"/>
              </a:rPr>
              <a:t> </a:t>
            </a:r>
            <a:r>
              <a:rPr lang="en-US" sz="2800" spc="-114" dirty="0">
                <a:latin typeface="Times New Roman"/>
                <a:cs typeface="Times New Roman"/>
              </a:rPr>
              <a:t>lightweight,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spc="-85" dirty="0">
                <a:latin typeface="Times New Roman"/>
                <a:cs typeface="Times New Roman"/>
              </a:rPr>
              <a:t>the </a:t>
            </a:r>
            <a:r>
              <a:rPr lang="en-US" sz="2800" spc="-685" dirty="0">
                <a:latin typeface="Times New Roman"/>
                <a:cs typeface="Times New Roman"/>
              </a:rPr>
              <a:t> </a:t>
            </a:r>
            <a:r>
              <a:rPr lang="en-US" sz="2800" spc="-65" dirty="0">
                <a:latin typeface="Times New Roman"/>
                <a:cs typeface="Times New Roman"/>
              </a:rPr>
              <a:t>top</a:t>
            </a:r>
            <a:r>
              <a:rPr lang="en-US" sz="2800" spc="-85" dirty="0">
                <a:latin typeface="Times New Roman"/>
                <a:cs typeface="Times New Roman"/>
              </a:rPr>
              <a:t> l</a:t>
            </a:r>
            <a:r>
              <a:rPr lang="en-US" sz="2800" spc="-195" dirty="0">
                <a:latin typeface="Times New Roman"/>
                <a:cs typeface="Times New Roman"/>
              </a:rPr>
              <a:t>e</a:t>
            </a:r>
            <a:r>
              <a:rPr lang="en-US" sz="2800" spc="-275" dirty="0">
                <a:latin typeface="Times New Roman"/>
                <a:cs typeface="Times New Roman"/>
              </a:rPr>
              <a:t>v</a:t>
            </a:r>
            <a:r>
              <a:rPr lang="en-US" sz="2800" spc="-120" dirty="0">
                <a:latin typeface="Times New Roman"/>
                <a:cs typeface="Times New Roman"/>
              </a:rPr>
              <a:t>e</a:t>
            </a:r>
            <a:r>
              <a:rPr lang="en-US" sz="2800" spc="-105" dirty="0">
                <a:latin typeface="Times New Roman"/>
                <a:cs typeface="Times New Roman"/>
              </a:rPr>
              <a:t>l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spc="-130" dirty="0">
                <a:latin typeface="Times New Roman"/>
                <a:cs typeface="Times New Roman"/>
              </a:rPr>
              <a:t>c</a:t>
            </a:r>
            <a:r>
              <a:rPr lang="en-US" sz="2800" spc="-145" dirty="0">
                <a:latin typeface="Times New Roman"/>
                <a:cs typeface="Times New Roman"/>
              </a:rPr>
              <a:t>o</a:t>
            </a:r>
            <a:r>
              <a:rPr lang="en-US" sz="2800" spc="-110" dirty="0">
                <a:latin typeface="Times New Roman"/>
                <a:cs typeface="Times New Roman"/>
              </a:rPr>
              <a:t>n</a:t>
            </a:r>
            <a:r>
              <a:rPr lang="en-US" sz="2800" spc="-95" dirty="0">
                <a:latin typeface="Times New Roman"/>
                <a:cs typeface="Times New Roman"/>
              </a:rPr>
              <a:t>tai</a:t>
            </a:r>
            <a:r>
              <a:rPr lang="en-US" sz="2800" spc="-135" dirty="0">
                <a:latin typeface="Times New Roman"/>
                <a:cs typeface="Times New Roman"/>
              </a:rPr>
              <a:t>n</a:t>
            </a:r>
            <a:r>
              <a:rPr lang="en-US" sz="2800" spc="-120" dirty="0">
                <a:latin typeface="Times New Roman"/>
                <a:cs typeface="Times New Roman"/>
              </a:rPr>
              <a:t>e</a:t>
            </a:r>
            <a:r>
              <a:rPr lang="en-US" sz="2800" spc="65" dirty="0">
                <a:latin typeface="Times New Roman"/>
                <a:cs typeface="Times New Roman"/>
              </a:rPr>
              <a:t>r</a:t>
            </a:r>
            <a:r>
              <a:rPr lang="en-US" sz="2800" spc="-215" dirty="0">
                <a:latin typeface="Times New Roman"/>
                <a:cs typeface="Times New Roman"/>
              </a:rPr>
              <a:t>s</a:t>
            </a:r>
            <a:r>
              <a:rPr lang="en-US" sz="2800" spc="-105" dirty="0">
                <a:latin typeface="Times New Roman"/>
                <a:cs typeface="Times New Roman"/>
              </a:rPr>
              <a:t> </a:t>
            </a:r>
            <a:r>
              <a:rPr lang="en-US" sz="2800" spc="-110" dirty="0">
                <a:latin typeface="Times New Roman"/>
                <a:cs typeface="Times New Roman"/>
              </a:rPr>
              <a:t>a</a:t>
            </a:r>
            <a:r>
              <a:rPr lang="en-US" sz="2800" spc="-105" dirty="0">
                <a:latin typeface="Times New Roman"/>
                <a:cs typeface="Times New Roman"/>
              </a:rPr>
              <a:t>re</a:t>
            </a:r>
            <a:r>
              <a:rPr lang="en-US" sz="2800" spc="-90" dirty="0">
                <a:latin typeface="Times New Roman"/>
                <a:cs typeface="Times New Roman"/>
              </a:rPr>
              <a:t> </a:t>
            </a:r>
            <a:r>
              <a:rPr lang="en-US" sz="2800" spc="-145" dirty="0">
                <a:latin typeface="Times New Roman"/>
                <a:cs typeface="Times New Roman"/>
              </a:rPr>
              <a:t>h</a:t>
            </a:r>
            <a:r>
              <a:rPr lang="en-US" sz="2800" spc="-150" dirty="0">
                <a:latin typeface="Times New Roman"/>
                <a:cs typeface="Times New Roman"/>
              </a:rPr>
              <a:t>e</a:t>
            </a:r>
            <a:r>
              <a:rPr lang="en-US" sz="2800" spc="-290" dirty="0">
                <a:latin typeface="Times New Roman"/>
                <a:cs typeface="Times New Roman"/>
              </a:rPr>
              <a:t>a</a:t>
            </a:r>
            <a:r>
              <a:rPr lang="en-US" sz="2800" spc="-229" dirty="0">
                <a:latin typeface="Times New Roman"/>
                <a:cs typeface="Times New Roman"/>
              </a:rPr>
              <a:t>v</a:t>
            </a:r>
            <a:r>
              <a:rPr lang="en-US" sz="2800" spc="-225" dirty="0">
                <a:latin typeface="Times New Roman"/>
                <a:cs typeface="Times New Roman"/>
              </a:rPr>
              <a:t>y</a:t>
            </a:r>
            <a:r>
              <a:rPr lang="en-US" sz="2800" spc="-250" dirty="0">
                <a:latin typeface="Times New Roman"/>
                <a:cs typeface="Times New Roman"/>
              </a:rPr>
              <a:t>w</a:t>
            </a:r>
            <a:r>
              <a:rPr lang="en-US" sz="2800" spc="-120" dirty="0">
                <a:latin typeface="Times New Roman"/>
                <a:cs typeface="Times New Roman"/>
              </a:rPr>
              <a:t>e</a:t>
            </a:r>
            <a:r>
              <a:rPr lang="en-US" sz="2800" spc="-130" dirty="0">
                <a:latin typeface="Times New Roman"/>
                <a:cs typeface="Times New Roman"/>
              </a:rPr>
              <a:t>i</a:t>
            </a:r>
            <a:r>
              <a:rPr lang="en-US" sz="2800" spc="-229" dirty="0">
                <a:latin typeface="Times New Roman"/>
                <a:cs typeface="Times New Roman"/>
              </a:rPr>
              <a:t>g</a:t>
            </a:r>
            <a:r>
              <a:rPr lang="en-US" sz="2800" spc="-85" dirty="0">
                <a:latin typeface="Times New Roman"/>
                <a:cs typeface="Times New Roman"/>
              </a:rPr>
              <a:t>h</a:t>
            </a:r>
            <a:r>
              <a:rPr lang="en-US" sz="2800" spc="-55" dirty="0">
                <a:latin typeface="Times New Roman"/>
                <a:cs typeface="Times New Roman"/>
              </a:rPr>
              <a:t>t</a:t>
            </a:r>
            <a:r>
              <a:rPr lang="en-US" sz="2800" spc="114" dirty="0">
                <a:latin typeface="Times New Roman"/>
                <a:cs typeface="Times New Roman"/>
              </a:rPr>
              <a:t>.</a:t>
            </a:r>
            <a:endParaRPr lang="en-US" sz="2800" dirty="0">
              <a:latin typeface="Times New Roman"/>
              <a:cs typeface="Times New Roman"/>
            </a:endParaRPr>
          </a:p>
          <a:p>
            <a:pPr marL="287020" marR="1016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lang="en-US" sz="2800" spc="-135" dirty="0">
                <a:latin typeface="Times New Roman"/>
                <a:cs typeface="Times New Roman"/>
              </a:rPr>
              <a:t>The</a:t>
            </a:r>
            <a:r>
              <a:rPr lang="en-US" sz="2800" spc="114" dirty="0">
                <a:latin typeface="Times New Roman"/>
                <a:cs typeface="Times New Roman"/>
              </a:rPr>
              <a:t> </a:t>
            </a:r>
            <a:r>
              <a:rPr lang="en-US" sz="2800" spc="-105" dirty="0">
                <a:latin typeface="Times New Roman"/>
                <a:cs typeface="Times New Roman"/>
              </a:rPr>
              <a:t>one</a:t>
            </a:r>
            <a:r>
              <a:rPr lang="en-US" sz="2800" spc="125" dirty="0">
                <a:latin typeface="Times New Roman"/>
                <a:cs typeface="Times New Roman"/>
              </a:rPr>
              <a:t> </a:t>
            </a:r>
            <a:r>
              <a:rPr lang="en-US" sz="2800" spc="-120" dirty="0">
                <a:latin typeface="Times New Roman"/>
                <a:cs typeface="Times New Roman"/>
              </a:rPr>
              <a:t>most</a:t>
            </a:r>
            <a:r>
              <a:rPr lang="en-US" sz="2800" spc="120" dirty="0">
                <a:latin typeface="Times New Roman"/>
                <a:cs typeface="Times New Roman"/>
              </a:rPr>
              <a:t> </a:t>
            </a:r>
            <a:r>
              <a:rPr lang="en-US" sz="2800" spc="-155" dirty="0">
                <a:latin typeface="Times New Roman"/>
                <a:cs typeface="Times New Roman"/>
              </a:rPr>
              <a:t>commonly</a:t>
            </a:r>
            <a:r>
              <a:rPr lang="en-US" sz="2800" spc="145" dirty="0">
                <a:latin typeface="Times New Roman"/>
                <a:cs typeface="Times New Roman"/>
              </a:rPr>
              <a:t> </a:t>
            </a:r>
            <a:r>
              <a:rPr lang="en-US" sz="2800" spc="-140" dirty="0">
                <a:latin typeface="Times New Roman"/>
                <a:cs typeface="Times New Roman"/>
              </a:rPr>
              <a:t>used</a:t>
            </a:r>
            <a:r>
              <a:rPr lang="en-US" sz="2800" spc="140" dirty="0">
                <a:latin typeface="Times New Roman"/>
                <a:cs typeface="Times New Roman"/>
              </a:rPr>
              <a:t> </a:t>
            </a:r>
            <a:r>
              <a:rPr lang="en-US" sz="2800" spc="-100" dirty="0">
                <a:latin typeface="Times New Roman"/>
                <a:cs typeface="Times New Roman"/>
              </a:rPr>
              <a:t>for</a:t>
            </a:r>
            <a:r>
              <a:rPr lang="en-US" sz="2800" spc="110" dirty="0">
                <a:latin typeface="Times New Roman"/>
                <a:cs typeface="Times New Roman"/>
              </a:rPr>
              <a:t> </a:t>
            </a:r>
            <a:r>
              <a:rPr lang="en-US" sz="2800" spc="-135" dirty="0">
                <a:latin typeface="Times New Roman"/>
                <a:cs typeface="Times New Roman"/>
              </a:rPr>
              <a:t>application</a:t>
            </a:r>
            <a:r>
              <a:rPr lang="en-US" sz="2800" spc="130" dirty="0">
                <a:latin typeface="Times New Roman"/>
                <a:cs typeface="Times New Roman"/>
              </a:rPr>
              <a:t> </a:t>
            </a:r>
            <a:r>
              <a:rPr lang="en-US" sz="2800" spc="-185" dirty="0">
                <a:latin typeface="Times New Roman"/>
                <a:cs typeface="Times New Roman"/>
              </a:rPr>
              <a:t>is</a:t>
            </a:r>
            <a:r>
              <a:rPr lang="en-US" sz="2800" spc="145" dirty="0">
                <a:latin typeface="Times New Roman"/>
                <a:cs typeface="Times New Roman"/>
              </a:rPr>
              <a:t> </a:t>
            </a:r>
            <a:r>
              <a:rPr lang="en-US" sz="2800" b="1" spc="-150" dirty="0" err="1">
                <a:latin typeface="Times New Roman"/>
                <a:cs typeface="Times New Roman"/>
              </a:rPr>
              <a:t>JFrame</a:t>
            </a:r>
            <a:r>
              <a:rPr lang="en-US" sz="2800" b="1" spc="120" dirty="0">
                <a:latin typeface="Times New Roman"/>
                <a:cs typeface="Times New Roman"/>
              </a:rPr>
              <a:t> </a:t>
            </a:r>
            <a:r>
              <a:rPr lang="en-US" sz="2800" spc="-155" dirty="0">
                <a:latin typeface="Times New Roman"/>
                <a:cs typeface="Times New Roman"/>
              </a:rPr>
              <a:t>and </a:t>
            </a:r>
            <a:r>
              <a:rPr lang="en-US" sz="2800" spc="-685" dirty="0">
                <a:latin typeface="Times New Roman"/>
                <a:cs typeface="Times New Roman"/>
              </a:rPr>
              <a:t> </a:t>
            </a:r>
            <a:r>
              <a:rPr lang="en-US" sz="2800" spc="-50" dirty="0">
                <a:latin typeface="Times New Roman"/>
                <a:cs typeface="Times New Roman"/>
              </a:rPr>
              <a:t>t</a:t>
            </a:r>
            <a:r>
              <a:rPr lang="en-US" sz="2800" spc="-100" dirty="0">
                <a:latin typeface="Times New Roman"/>
                <a:cs typeface="Times New Roman"/>
              </a:rPr>
              <a:t>h</a:t>
            </a:r>
            <a:r>
              <a:rPr lang="en-US" sz="2800" spc="-105" dirty="0">
                <a:latin typeface="Times New Roman"/>
                <a:cs typeface="Times New Roman"/>
              </a:rPr>
              <a:t>e</a:t>
            </a:r>
            <a:r>
              <a:rPr lang="en-US" sz="2800" spc="-90" dirty="0">
                <a:latin typeface="Times New Roman"/>
                <a:cs typeface="Times New Roman"/>
              </a:rPr>
              <a:t> </a:t>
            </a:r>
            <a:r>
              <a:rPr lang="en-US" sz="2800" spc="-110" dirty="0">
                <a:latin typeface="Times New Roman"/>
                <a:cs typeface="Times New Roman"/>
              </a:rPr>
              <a:t>on</a:t>
            </a:r>
            <a:r>
              <a:rPr lang="en-US" sz="2800" spc="-105" dirty="0">
                <a:latin typeface="Times New Roman"/>
                <a:cs typeface="Times New Roman"/>
              </a:rPr>
              <a:t>e</a:t>
            </a:r>
            <a:r>
              <a:rPr lang="en-US" sz="2800" spc="-90" dirty="0">
                <a:latin typeface="Times New Roman"/>
                <a:cs typeface="Times New Roman"/>
              </a:rPr>
              <a:t> </a:t>
            </a:r>
            <a:r>
              <a:rPr lang="en-US" sz="2800" spc="-110" dirty="0">
                <a:latin typeface="Times New Roman"/>
                <a:cs typeface="Times New Roman"/>
              </a:rPr>
              <a:t>u</a:t>
            </a:r>
            <a:r>
              <a:rPr lang="en-US" sz="2800" spc="-145" dirty="0">
                <a:latin typeface="Times New Roman"/>
                <a:cs typeface="Times New Roman"/>
              </a:rPr>
              <a:t>sed</a:t>
            </a:r>
            <a:r>
              <a:rPr lang="en-US" sz="2800" spc="-90" dirty="0">
                <a:latin typeface="Times New Roman"/>
                <a:cs typeface="Times New Roman"/>
              </a:rPr>
              <a:t> </a:t>
            </a:r>
            <a:r>
              <a:rPr lang="en-US" sz="2800" spc="-220" dirty="0">
                <a:latin typeface="Times New Roman"/>
                <a:cs typeface="Times New Roman"/>
              </a:rPr>
              <a:t>f</a:t>
            </a:r>
            <a:r>
              <a:rPr lang="en-US" sz="2800" spc="-110" dirty="0">
                <a:latin typeface="Times New Roman"/>
                <a:cs typeface="Times New Roman"/>
              </a:rPr>
              <a:t>o</a:t>
            </a:r>
            <a:r>
              <a:rPr lang="en-US" sz="2800" spc="35" dirty="0">
                <a:latin typeface="Times New Roman"/>
                <a:cs typeface="Times New Roman"/>
              </a:rPr>
              <a:t>r</a:t>
            </a:r>
            <a:r>
              <a:rPr lang="en-US" sz="2800" spc="-300" dirty="0">
                <a:latin typeface="Times New Roman"/>
                <a:cs typeface="Times New Roman"/>
              </a:rPr>
              <a:t> </a:t>
            </a:r>
            <a:r>
              <a:rPr lang="en-US" sz="2800" spc="-350" dirty="0">
                <a:latin typeface="Times New Roman"/>
                <a:cs typeface="Times New Roman"/>
              </a:rPr>
              <a:t>A</a:t>
            </a:r>
            <a:r>
              <a:rPr lang="en-US" sz="2800" spc="-110" dirty="0">
                <a:latin typeface="Times New Roman"/>
                <a:cs typeface="Times New Roman"/>
              </a:rPr>
              <a:t>pp</a:t>
            </a:r>
            <a:r>
              <a:rPr lang="en-US" sz="2800" spc="-85" dirty="0">
                <a:latin typeface="Times New Roman"/>
                <a:cs typeface="Times New Roman"/>
              </a:rPr>
              <a:t>l</a:t>
            </a:r>
            <a:r>
              <a:rPr lang="en-US" sz="2800" spc="-150" dirty="0">
                <a:latin typeface="Times New Roman"/>
                <a:cs typeface="Times New Roman"/>
              </a:rPr>
              <a:t>e</a:t>
            </a:r>
            <a:r>
              <a:rPr lang="en-US" sz="2800" spc="40" dirty="0">
                <a:latin typeface="Times New Roman"/>
                <a:cs typeface="Times New Roman"/>
              </a:rPr>
              <a:t>t</a:t>
            </a:r>
            <a:r>
              <a:rPr lang="en-US" sz="2800" spc="-95" dirty="0">
                <a:latin typeface="Times New Roman"/>
                <a:cs typeface="Times New Roman"/>
              </a:rPr>
              <a:t> </a:t>
            </a:r>
            <a:r>
              <a:rPr lang="en-US" sz="2800" spc="-175" dirty="0">
                <a:latin typeface="Times New Roman"/>
                <a:cs typeface="Times New Roman"/>
              </a:rPr>
              <a:t>is</a:t>
            </a:r>
            <a:r>
              <a:rPr lang="en-US" sz="2800" spc="-70" dirty="0">
                <a:latin typeface="Times New Roman"/>
                <a:cs typeface="Times New Roman"/>
              </a:rPr>
              <a:t> </a:t>
            </a:r>
            <a:r>
              <a:rPr lang="en-US" sz="2800" b="1" spc="-65" dirty="0" err="1">
                <a:latin typeface="Times New Roman"/>
                <a:cs typeface="Times New Roman"/>
              </a:rPr>
              <a:t>JApp</a:t>
            </a:r>
            <a:r>
              <a:rPr lang="en-US" sz="2800" b="1" spc="-45" dirty="0" err="1">
                <a:latin typeface="Times New Roman"/>
                <a:cs typeface="Times New Roman"/>
              </a:rPr>
              <a:t>l</a:t>
            </a:r>
            <a:r>
              <a:rPr lang="en-US" sz="2800" b="1" spc="55" dirty="0" err="1">
                <a:latin typeface="Times New Roman"/>
                <a:cs typeface="Times New Roman"/>
              </a:rPr>
              <a:t>e</a:t>
            </a:r>
            <a:r>
              <a:rPr lang="en-US" sz="2800" b="1" spc="30" dirty="0" err="1">
                <a:latin typeface="Times New Roman"/>
                <a:cs typeface="Times New Roman"/>
              </a:rPr>
              <a:t>t</a:t>
            </a:r>
            <a:r>
              <a:rPr lang="en-US" sz="2800" spc="120" dirty="0">
                <a:latin typeface="Times New Roman"/>
                <a:cs typeface="Times New Roman"/>
              </a:rPr>
              <a:t>.</a:t>
            </a:r>
            <a:endParaRPr lang="en-US" sz="2800" dirty="0">
              <a:latin typeface="Times New Roman"/>
              <a:cs typeface="Times New Roman"/>
            </a:endParaRPr>
          </a:p>
          <a:p>
            <a:pPr marL="287020" indent="-274955"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055370" algn="l"/>
                <a:tab pos="1841500" algn="l"/>
                <a:tab pos="2503170" algn="l"/>
                <a:tab pos="3912235" algn="l"/>
              </a:tabLst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743838"/>
            <a:ext cx="8684260" cy="3198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988060" algn="l"/>
                <a:tab pos="2076450" algn="l"/>
                <a:tab pos="2839085" algn="l"/>
                <a:tab pos="3296285" algn="l"/>
                <a:tab pos="4826635" algn="l"/>
                <a:tab pos="6339205" algn="l"/>
                <a:tab pos="6842125" algn="l"/>
                <a:tab pos="7821295" algn="l"/>
              </a:tabLst>
            </a:pP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95" dirty="0">
                <a:latin typeface="Times New Roman"/>
                <a:cs typeface="Times New Roman"/>
              </a:rPr>
              <a:t>ty</a:t>
            </a:r>
            <a:r>
              <a:rPr sz="3200" spc="-114" dirty="0">
                <a:latin typeface="Times New Roman"/>
                <a:cs typeface="Times New Roman"/>
              </a:rPr>
              <a:t>p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9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70" dirty="0">
                <a:latin typeface="Times New Roman"/>
                <a:cs typeface="Times New Roman"/>
              </a:rPr>
              <a:t>t</a:t>
            </a:r>
            <a:r>
              <a:rPr sz="3200" spc="-13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65" dirty="0">
                <a:latin typeface="Times New Roman"/>
                <a:cs typeface="Times New Roman"/>
              </a:rPr>
              <a:t>r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lang="en-US" sz="3200" spc="-21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30" dirty="0">
                <a:latin typeface="Times New Roman"/>
                <a:cs typeface="Times New Roman"/>
              </a:rPr>
              <a:t>u</a:t>
            </a:r>
            <a:r>
              <a:rPr sz="3200" spc="-110" dirty="0">
                <a:latin typeface="Times New Roman"/>
                <a:cs typeface="Times New Roman"/>
              </a:rPr>
              <a:t>ppo</a:t>
            </a:r>
            <a:r>
              <a:rPr sz="3200" spc="114" dirty="0">
                <a:latin typeface="Times New Roman"/>
                <a:cs typeface="Times New Roman"/>
              </a:rPr>
              <a:t>r</a:t>
            </a:r>
            <a:r>
              <a:rPr sz="3200" spc="-25" dirty="0">
                <a:latin typeface="Times New Roman"/>
                <a:cs typeface="Times New Roman"/>
              </a:rPr>
              <a:t>t</a:t>
            </a:r>
            <a:r>
              <a:rPr sz="3200" spc="-60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0" dirty="0">
                <a:latin typeface="Times New Roman"/>
                <a:cs typeface="Times New Roman"/>
              </a:rPr>
              <a:t>b</a:t>
            </a:r>
            <a:r>
              <a:rPr sz="3200" spc="-190" dirty="0">
                <a:latin typeface="Times New Roman"/>
                <a:cs typeface="Times New Roman"/>
              </a:rPr>
              <a:t>y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35" dirty="0">
                <a:latin typeface="Times New Roman"/>
                <a:cs typeface="Times New Roman"/>
              </a:rPr>
              <a:t>S</a:t>
            </a:r>
            <a:r>
              <a:rPr sz="3200" spc="-325" dirty="0">
                <a:latin typeface="Times New Roman"/>
                <a:cs typeface="Times New Roman"/>
              </a:rPr>
              <a:t>w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70" dirty="0">
                <a:latin typeface="Times New Roman"/>
                <a:cs typeface="Times New Roman"/>
              </a:rPr>
              <a:t>n</a:t>
            </a:r>
            <a:r>
              <a:rPr sz="3200" spc="-229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10" dirty="0">
                <a:latin typeface="Times New Roman"/>
                <a:cs typeface="Times New Roman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r</a:t>
            </a:r>
            <a:r>
              <a:rPr sz="3200" spc="-75" dirty="0">
                <a:latin typeface="Times New Roman"/>
                <a:cs typeface="Times New Roman"/>
              </a:rPr>
              <a:t>e  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light</a:t>
            </a:r>
            <a:r>
              <a:rPr sz="3200" spc="-254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229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ht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 c</a:t>
            </a:r>
            <a:r>
              <a:rPr sz="3200" spc="-14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ta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-254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145" dirty="0">
                <a:latin typeface="Times New Roman"/>
                <a:cs typeface="Times New Roman"/>
              </a:rPr>
              <a:t>Th</a:t>
            </a:r>
            <a:r>
              <a:rPr sz="3200" spc="-185" dirty="0">
                <a:latin typeface="Times New Roman"/>
                <a:cs typeface="Times New Roman"/>
              </a:rPr>
              <a:t>e</a:t>
            </a:r>
            <a:r>
              <a:rPr sz="3200" spc="-229" dirty="0">
                <a:latin typeface="Times New Roman"/>
                <a:cs typeface="Times New Roman"/>
              </a:rPr>
              <a:t>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45" dirty="0">
                <a:latin typeface="Times New Roman"/>
                <a:cs typeface="Times New Roman"/>
              </a:rPr>
              <a:t>h</a:t>
            </a:r>
            <a:r>
              <a:rPr sz="3200" spc="-150" dirty="0">
                <a:latin typeface="Times New Roman"/>
                <a:cs typeface="Times New Roman"/>
              </a:rPr>
              <a:t>e</a:t>
            </a:r>
            <a:r>
              <a:rPr sz="3200" spc="70" dirty="0">
                <a:latin typeface="Times New Roman"/>
                <a:cs typeface="Times New Roman"/>
              </a:rPr>
              <a:t>r</a:t>
            </a:r>
            <a:r>
              <a:rPr sz="3200" spc="-50" dirty="0">
                <a:latin typeface="Times New Roman"/>
                <a:cs typeface="Times New Roman"/>
              </a:rPr>
              <a:t>it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b="1" spc="-300" dirty="0">
                <a:latin typeface="Times New Roman"/>
                <a:cs typeface="Times New Roman"/>
              </a:rPr>
              <a:t>J</a:t>
            </a:r>
            <a:r>
              <a:rPr sz="3200" b="1" spc="-110" dirty="0">
                <a:latin typeface="Times New Roman"/>
                <a:cs typeface="Times New Roman"/>
              </a:rPr>
              <a:t>C</a:t>
            </a:r>
            <a:r>
              <a:rPr sz="3200" b="1" spc="-85" dirty="0">
                <a:latin typeface="Times New Roman"/>
                <a:cs typeface="Times New Roman"/>
              </a:rPr>
              <a:t>o</a:t>
            </a:r>
            <a:r>
              <a:rPr sz="3200" b="1" spc="35" dirty="0">
                <a:latin typeface="Times New Roman"/>
                <a:cs typeface="Times New Roman"/>
              </a:rPr>
              <a:t>mp</a:t>
            </a:r>
            <a:r>
              <a:rPr sz="3200" b="1" spc="15" dirty="0">
                <a:latin typeface="Times New Roman"/>
                <a:cs typeface="Times New Roman"/>
              </a:rPr>
              <a:t>o</a:t>
            </a:r>
            <a:r>
              <a:rPr sz="3200" b="1" spc="40" dirty="0">
                <a:latin typeface="Times New Roman"/>
                <a:cs typeface="Times New Roman"/>
              </a:rPr>
              <a:t>nen</a:t>
            </a:r>
            <a:r>
              <a:rPr sz="3200" b="1" spc="20" dirty="0">
                <a:latin typeface="Times New Roman"/>
                <a:cs typeface="Times New Roman"/>
              </a:rPr>
              <a:t>t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270" dirty="0">
                <a:latin typeface="Times New Roman"/>
                <a:cs typeface="Times New Roman"/>
              </a:rPr>
              <a:t>A</a:t>
            </a:r>
            <a:r>
              <a:rPr sz="3200" spc="-195" dirty="0">
                <a:latin typeface="Times New Roman"/>
                <a:cs typeface="Times New Roman"/>
              </a:rPr>
              <a:t>n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x</a:t>
            </a:r>
            <a:r>
              <a:rPr sz="3200" spc="-180" dirty="0">
                <a:latin typeface="Times New Roman"/>
                <a:cs typeface="Times New Roman"/>
              </a:rPr>
              <a:t>am</a:t>
            </a:r>
            <a:r>
              <a:rPr sz="3200" spc="-135" dirty="0">
                <a:latin typeface="Times New Roman"/>
                <a:cs typeface="Times New Roman"/>
              </a:rPr>
              <a:t>p</a:t>
            </a:r>
            <a:r>
              <a:rPr sz="3200" spc="-85" dirty="0">
                <a:latin typeface="Times New Roman"/>
                <a:cs typeface="Times New Roman"/>
              </a:rPr>
              <a:t>l</a:t>
            </a:r>
            <a:r>
              <a:rPr sz="3200" spc="-130" dirty="0">
                <a:latin typeface="Times New Roman"/>
                <a:cs typeface="Times New Roman"/>
              </a:rPr>
              <a:t>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9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light</a:t>
            </a:r>
            <a:r>
              <a:rPr sz="3200" spc="-315" dirty="0">
                <a:latin typeface="Times New Roman"/>
                <a:cs typeface="Times New Roman"/>
              </a:rPr>
              <a:t>w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30" dirty="0">
                <a:latin typeface="Times New Roman"/>
                <a:cs typeface="Times New Roman"/>
              </a:rPr>
              <a:t>i</a:t>
            </a:r>
            <a:r>
              <a:rPr sz="3200" spc="-229" dirty="0">
                <a:latin typeface="Times New Roman"/>
                <a:cs typeface="Times New Roman"/>
              </a:rPr>
              <a:t>g</a:t>
            </a:r>
            <a:r>
              <a:rPr sz="3200" spc="-65" dirty="0">
                <a:latin typeface="Times New Roman"/>
                <a:cs typeface="Times New Roman"/>
              </a:rPr>
              <a:t>ht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95" dirty="0">
                <a:latin typeface="Times New Roman"/>
                <a:cs typeface="Times New Roman"/>
              </a:rPr>
              <a:t>tai</a:t>
            </a:r>
            <a:r>
              <a:rPr sz="3200" spc="-135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r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i</a:t>
            </a:r>
            <a:r>
              <a:rPr sz="3200" spc="-204" dirty="0">
                <a:latin typeface="Times New Roman"/>
                <a:cs typeface="Times New Roman"/>
              </a:rPr>
              <a:t>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b="1" spc="-215" dirty="0">
                <a:latin typeface="Times New Roman"/>
                <a:cs typeface="Times New Roman"/>
              </a:rPr>
              <a:t>J</a:t>
            </a:r>
            <a:r>
              <a:rPr sz="3200" b="1" spc="-350" dirty="0">
                <a:latin typeface="Times New Roman"/>
                <a:cs typeface="Times New Roman"/>
              </a:rPr>
              <a:t>P</a:t>
            </a:r>
            <a:r>
              <a:rPr sz="3200" b="1" spc="-110" dirty="0">
                <a:latin typeface="Times New Roman"/>
                <a:cs typeface="Times New Roman"/>
              </a:rPr>
              <a:t>a</a:t>
            </a:r>
            <a:r>
              <a:rPr sz="3200" b="1" spc="50" dirty="0">
                <a:latin typeface="Times New Roman"/>
                <a:cs typeface="Times New Roman"/>
              </a:rPr>
              <a:t>n</a:t>
            </a:r>
            <a:r>
              <a:rPr sz="3200" b="1" spc="45" dirty="0">
                <a:latin typeface="Times New Roman"/>
                <a:cs typeface="Times New Roman"/>
              </a:rPr>
              <a:t>e</a:t>
            </a:r>
            <a:r>
              <a:rPr sz="3200" b="1" spc="30" dirty="0">
                <a:latin typeface="Times New Roman"/>
                <a:cs typeface="Times New Roman"/>
              </a:rPr>
              <a:t>l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5715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2045970" algn="l"/>
                <a:tab pos="3485515" algn="l"/>
                <a:tab pos="4152900" algn="l"/>
                <a:tab pos="4689475" algn="l"/>
                <a:tab pos="6174740" algn="l"/>
                <a:tab pos="7232650" algn="l"/>
              </a:tabLst>
            </a:pPr>
            <a:r>
              <a:rPr sz="3200" spc="-305" dirty="0">
                <a:latin typeface="Times New Roman"/>
                <a:cs typeface="Times New Roman"/>
              </a:rPr>
              <a:t>L</a:t>
            </a:r>
            <a:r>
              <a:rPr sz="3200" spc="-155" dirty="0">
                <a:latin typeface="Times New Roman"/>
                <a:cs typeface="Times New Roman"/>
              </a:rPr>
              <a:t>i</a:t>
            </a:r>
            <a:r>
              <a:rPr sz="3200" spc="-120" dirty="0">
                <a:latin typeface="Times New Roman"/>
                <a:cs typeface="Times New Roman"/>
              </a:rPr>
              <a:t>ght</a:t>
            </a:r>
            <a:r>
              <a:rPr sz="3200" spc="-254" dirty="0">
                <a:latin typeface="Times New Roman"/>
                <a:cs typeface="Times New Roman"/>
              </a:rPr>
              <a:t>w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55" dirty="0">
                <a:latin typeface="Times New Roman"/>
                <a:cs typeface="Times New Roman"/>
              </a:rPr>
              <a:t>i</a:t>
            </a:r>
            <a:r>
              <a:rPr sz="3200" spc="-120" dirty="0">
                <a:latin typeface="Times New Roman"/>
                <a:cs typeface="Times New Roman"/>
              </a:rPr>
              <a:t>ght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6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70" dirty="0">
                <a:latin typeface="Times New Roman"/>
                <a:cs typeface="Times New Roman"/>
              </a:rPr>
              <a:t>t</a:t>
            </a:r>
            <a:r>
              <a:rPr sz="3200" spc="-13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3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90" dirty="0">
                <a:latin typeface="Times New Roman"/>
                <a:cs typeface="Times New Roman"/>
              </a:rPr>
              <a:t>c</a:t>
            </a:r>
            <a:r>
              <a:rPr sz="3200" spc="-185" dirty="0">
                <a:latin typeface="Times New Roman"/>
                <a:cs typeface="Times New Roman"/>
              </a:rPr>
              <a:t>a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45" dirty="0">
                <a:latin typeface="Times New Roman"/>
                <a:cs typeface="Times New Roman"/>
              </a:rPr>
              <a:t>b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70" dirty="0">
                <a:latin typeface="Times New Roman"/>
                <a:cs typeface="Times New Roman"/>
              </a:rPr>
              <a:t>t</a:t>
            </a:r>
            <a:r>
              <a:rPr sz="3200" spc="-13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10" dirty="0">
                <a:latin typeface="Times New Roman"/>
                <a:cs typeface="Times New Roman"/>
              </a:rPr>
              <a:t>w</a:t>
            </a:r>
            <a:r>
              <a:rPr sz="3200" spc="-75" dirty="0">
                <a:latin typeface="Times New Roman"/>
                <a:cs typeface="Times New Roman"/>
              </a:rPr>
              <a:t>i</a:t>
            </a:r>
            <a:r>
              <a:rPr sz="3200" spc="-100" dirty="0">
                <a:latin typeface="Times New Roman"/>
                <a:cs typeface="Times New Roman"/>
              </a:rPr>
              <a:t>th</a:t>
            </a:r>
            <a:r>
              <a:rPr sz="3200" spc="-95" dirty="0">
                <a:latin typeface="Times New Roman"/>
                <a:cs typeface="Times New Roman"/>
              </a:rPr>
              <a:t>i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20" dirty="0">
                <a:latin typeface="Times New Roman"/>
                <a:cs typeface="Times New Roman"/>
              </a:rPr>
              <a:t>anoth</a:t>
            </a:r>
            <a:r>
              <a:rPr sz="3200" spc="-140" dirty="0">
                <a:latin typeface="Times New Roman"/>
                <a:cs typeface="Times New Roman"/>
              </a:rPr>
              <a:t>e</a:t>
            </a:r>
            <a:r>
              <a:rPr sz="3200" spc="25" dirty="0">
                <a:latin typeface="Times New Roman"/>
                <a:cs typeface="Times New Roman"/>
              </a:rPr>
              <a:t>r  </a:t>
            </a:r>
            <a:r>
              <a:rPr sz="3200" spc="-100" dirty="0">
                <a:latin typeface="Times New Roman"/>
                <a:cs typeface="Times New Roman"/>
              </a:rPr>
              <a:t>container.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044" y="520649"/>
            <a:ext cx="801306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spc="-170" dirty="0">
                <a:latin typeface="Times New Roman"/>
                <a:cs typeface="Times New Roman"/>
              </a:rPr>
              <a:t>Following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list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commonly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used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containers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while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designed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GUI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-195" dirty="0">
                <a:latin typeface="Times New Roman"/>
                <a:cs typeface="Times New Roman"/>
              </a:rPr>
              <a:t>s</a:t>
            </a:r>
            <a:r>
              <a:rPr sz="2600" spc="-135" dirty="0">
                <a:latin typeface="Times New Roman"/>
                <a:cs typeface="Times New Roman"/>
              </a:rPr>
              <a:t>i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220" dirty="0">
                <a:latin typeface="Times New Roman"/>
                <a:cs typeface="Times New Roman"/>
              </a:rPr>
              <a:t>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SWIN</a:t>
            </a:r>
            <a:r>
              <a:rPr sz="2600" spc="-305" dirty="0">
                <a:latin typeface="Times New Roman"/>
                <a:cs typeface="Times New Roman"/>
              </a:rPr>
              <a:t>G</a:t>
            </a:r>
            <a:r>
              <a:rPr sz="2600" spc="105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676400"/>
            <a:ext cx="78486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435305"/>
            <a:ext cx="67227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T</a:t>
            </a:r>
            <a:r>
              <a:rPr spc="10" dirty="0"/>
              <a:t>h</a:t>
            </a:r>
            <a:r>
              <a:rPr spc="75" dirty="0"/>
              <a:t>e</a:t>
            </a:r>
            <a:r>
              <a:rPr spc="-55" dirty="0"/>
              <a:t> </a:t>
            </a:r>
            <a:r>
              <a:rPr spc="35" dirty="0"/>
              <a:t>Mod</a:t>
            </a:r>
            <a:r>
              <a:rPr spc="30" dirty="0"/>
              <a:t>e</a:t>
            </a:r>
            <a:r>
              <a:rPr spc="35" dirty="0"/>
              <a:t>l</a:t>
            </a:r>
            <a:r>
              <a:rPr spc="100" dirty="0"/>
              <a:t>-</a:t>
            </a:r>
            <a:r>
              <a:rPr spc="-204" dirty="0"/>
              <a:t>V</a:t>
            </a:r>
            <a:r>
              <a:rPr spc="-95" dirty="0"/>
              <a:t>i</a:t>
            </a:r>
            <a:r>
              <a:rPr spc="55" dirty="0"/>
              <a:t>e</a:t>
            </a:r>
            <a:r>
              <a:rPr spc="110" dirty="0"/>
              <a:t>w</a:t>
            </a:r>
            <a:r>
              <a:rPr spc="100" dirty="0"/>
              <a:t>-</a:t>
            </a:r>
            <a:r>
              <a:rPr spc="-10" dirty="0"/>
              <a:t>Control</a:t>
            </a:r>
            <a:r>
              <a:rPr spc="-30" dirty="0"/>
              <a:t>l</a:t>
            </a:r>
            <a:r>
              <a:rPr spc="-25" dirty="0"/>
              <a:t>e</a:t>
            </a:r>
            <a:r>
              <a:rPr spc="-20" dirty="0"/>
              <a:t>r</a:t>
            </a:r>
            <a:r>
              <a:rPr spc="-215" dirty="0"/>
              <a:t> </a:t>
            </a:r>
            <a:r>
              <a:rPr spc="-180" dirty="0"/>
              <a:t>A</a:t>
            </a:r>
            <a:r>
              <a:rPr spc="-20" dirty="0"/>
              <a:t>r</a:t>
            </a:r>
            <a:r>
              <a:rPr spc="-15" dirty="0"/>
              <a:t>c</a:t>
            </a:r>
            <a:r>
              <a:rPr spc="10" dirty="0"/>
              <a:t>h</a:t>
            </a:r>
            <a:r>
              <a:rPr spc="25" dirty="0"/>
              <a:t>i</a:t>
            </a:r>
            <a:r>
              <a:rPr spc="55" dirty="0"/>
              <a:t>te</a:t>
            </a:r>
            <a:r>
              <a:rPr spc="75" dirty="0"/>
              <a:t>c</a:t>
            </a:r>
            <a:r>
              <a:rPr spc="15" dirty="0"/>
              <a:t>t</a:t>
            </a:r>
            <a:r>
              <a:rPr spc="20" dirty="0"/>
              <a:t>u</a:t>
            </a:r>
            <a:r>
              <a:rPr spc="-20" dirty="0"/>
              <a:t>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93470"/>
            <a:ext cx="8079105" cy="403097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87020" marR="7620" indent="-274320" algn="just">
              <a:lnSpc>
                <a:spcPct val="102200"/>
              </a:lnSpc>
              <a:spcBef>
                <a:spcPts val="35"/>
              </a:spcBef>
              <a:buClr>
                <a:srgbClr val="D24717"/>
              </a:buClr>
              <a:buSzPct val="91071"/>
              <a:buFont typeface="Wingdings"/>
              <a:buChar char=""/>
              <a:tabLst>
                <a:tab pos="372745" algn="l"/>
              </a:tabLst>
            </a:pPr>
            <a:r>
              <a:rPr sz="2800" spc="-204" dirty="0">
                <a:latin typeface="Times New Roman"/>
                <a:cs typeface="Times New Roman"/>
              </a:rPr>
              <a:t>Swing </a:t>
            </a:r>
            <a:r>
              <a:rPr sz="2800" spc="-160" dirty="0">
                <a:latin typeface="Times New Roman"/>
                <a:cs typeface="Times New Roman"/>
              </a:rPr>
              <a:t>uses </a:t>
            </a:r>
            <a:r>
              <a:rPr sz="2800" spc="-85" dirty="0">
                <a:latin typeface="Times New Roman"/>
                <a:cs typeface="Times New Roman"/>
              </a:rPr>
              <a:t>the </a:t>
            </a:r>
            <a:r>
              <a:rPr sz="2800" spc="-105" dirty="0">
                <a:latin typeface="Times New Roman"/>
                <a:cs typeface="Times New Roman"/>
              </a:rPr>
              <a:t>model-view-controller </a:t>
            </a:r>
            <a:r>
              <a:rPr sz="2800" spc="-90" dirty="0">
                <a:latin typeface="Times New Roman"/>
                <a:cs typeface="Times New Roman"/>
              </a:rPr>
              <a:t>architecture </a:t>
            </a:r>
            <a:r>
              <a:rPr sz="2800" spc="-195" dirty="0">
                <a:latin typeface="Times New Roman"/>
                <a:cs typeface="Times New Roman"/>
              </a:rPr>
              <a:t>(MVC) </a:t>
            </a:r>
            <a:r>
              <a:rPr sz="2800" spc="-190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Times New Roman"/>
                <a:cs typeface="Times New Roman"/>
              </a:rPr>
              <a:t>as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fundamental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design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behind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each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its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components</a:t>
            </a:r>
            <a:endParaRPr sz="2800" dirty="0">
              <a:latin typeface="Times New Roman"/>
              <a:cs typeface="Times New Roman"/>
            </a:endParaRPr>
          </a:p>
          <a:p>
            <a:pPr marL="287020" marR="5715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6395" algn="l"/>
              </a:tabLst>
            </a:pPr>
            <a:r>
              <a:rPr dirty="0"/>
              <a:t>	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275" dirty="0">
                <a:latin typeface="Times New Roman"/>
                <a:cs typeface="Times New Roman"/>
              </a:rPr>
              <a:t>MVC</a:t>
            </a:r>
            <a:r>
              <a:rPr sz="2800" spc="-27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breaks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GUI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components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into</a:t>
            </a:r>
            <a:r>
              <a:rPr sz="2800" spc="-75" dirty="0">
                <a:latin typeface="Times New Roman"/>
                <a:cs typeface="Times New Roman"/>
              </a:rPr>
              <a:t> three 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elements. </a:t>
            </a:r>
            <a:r>
              <a:rPr sz="2800" spc="-195" dirty="0">
                <a:latin typeface="Times New Roman"/>
                <a:cs typeface="Times New Roman"/>
              </a:rPr>
              <a:t>Each </a:t>
            </a:r>
            <a:r>
              <a:rPr sz="2800" spc="-160" dirty="0">
                <a:latin typeface="Times New Roman"/>
                <a:cs typeface="Times New Roman"/>
              </a:rPr>
              <a:t>of </a:t>
            </a:r>
            <a:r>
              <a:rPr sz="2800" spc="-114" dirty="0">
                <a:latin typeface="Times New Roman"/>
                <a:cs typeface="Times New Roman"/>
              </a:rPr>
              <a:t>these elements </a:t>
            </a:r>
            <a:r>
              <a:rPr sz="2800" spc="-200" dirty="0">
                <a:latin typeface="Times New Roman"/>
                <a:cs typeface="Times New Roman"/>
              </a:rPr>
              <a:t>plays </a:t>
            </a:r>
            <a:r>
              <a:rPr sz="2800" spc="-220" dirty="0">
                <a:latin typeface="Times New Roman"/>
                <a:cs typeface="Times New Roman"/>
              </a:rPr>
              <a:t>a </a:t>
            </a:r>
            <a:r>
              <a:rPr sz="2800" spc="-120" dirty="0">
                <a:latin typeface="Times New Roman"/>
                <a:cs typeface="Times New Roman"/>
              </a:rPr>
              <a:t>crucial </a:t>
            </a:r>
            <a:r>
              <a:rPr sz="2800" spc="-80" dirty="0">
                <a:latin typeface="Times New Roman"/>
                <a:cs typeface="Times New Roman"/>
              </a:rPr>
              <a:t>role </a:t>
            </a:r>
            <a:r>
              <a:rPr sz="2800" spc="-125" dirty="0">
                <a:latin typeface="Times New Roman"/>
                <a:cs typeface="Times New Roman"/>
              </a:rPr>
              <a:t>in </a:t>
            </a:r>
            <a:r>
              <a:rPr sz="2800" spc="-185" dirty="0">
                <a:latin typeface="Times New Roman"/>
                <a:cs typeface="Times New Roman"/>
              </a:rPr>
              <a:t>how 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c</a:t>
            </a:r>
            <a:r>
              <a:rPr sz="2800" spc="-145" dirty="0">
                <a:latin typeface="Times New Roman"/>
                <a:cs typeface="Times New Roman"/>
              </a:rPr>
              <a:t>omp</a:t>
            </a:r>
            <a:r>
              <a:rPr sz="2800" spc="-100" dirty="0">
                <a:latin typeface="Times New Roman"/>
                <a:cs typeface="Times New Roman"/>
              </a:rPr>
              <a:t>o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b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210" dirty="0">
                <a:latin typeface="Times New Roman"/>
                <a:cs typeface="Times New Roman"/>
              </a:rPr>
              <a:t>h</a:t>
            </a:r>
            <a:r>
              <a:rPr sz="2800" spc="-260" dirty="0">
                <a:latin typeface="Times New Roman"/>
                <a:cs typeface="Times New Roman"/>
              </a:rPr>
              <a:t>a</a:t>
            </a:r>
            <a:r>
              <a:rPr sz="2800" spc="-275" dirty="0">
                <a:latin typeface="Times New Roman"/>
                <a:cs typeface="Times New Roman"/>
              </a:rPr>
              <a:t>v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254" dirty="0">
                <a:latin typeface="Times New Roman"/>
                <a:cs typeface="Times New Roman"/>
              </a:rPr>
              <a:t>s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3850" algn="l"/>
              </a:tabLst>
            </a:pPr>
            <a:r>
              <a:rPr dirty="0"/>
              <a:t>	</a:t>
            </a:r>
            <a:r>
              <a:rPr sz="2800" spc="-135" dirty="0">
                <a:latin typeface="Times New Roman"/>
                <a:cs typeface="Times New Roman"/>
              </a:rPr>
              <a:t>The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Model-View-Controller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is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a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well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known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software 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architectural </a:t>
            </a:r>
            <a:r>
              <a:rPr sz="2800" spc="-60" dirty="0">
                <a:latin typeface="Times New Roman"/>
                <a:cs typeface="Times New Roman"/>
              </a:rPr>
              <a:t>pattern </a:t>
            </a:r>
            <a:r>
              <a:rPr sz="2800" spc="-145" dirty="0">
                <a:latin typeface="Times New Roman"/>
                <a:cs typeface="Times New Roman"/>
              </a:rPr>
              <a:t>ideal </a:t>
            </a:r>
            <a:r>
              <a:rPr sz="2800" spc="-40" dirty="0">
                <a:latin typeface="Times New Roman"/>
                <a:cs typeface="Times New Roman"/>
              </a:rPr>
              <a:t>to </a:t>
            </a:r>
            <a:r>
              <a:rPr sz="2800" spc="-114" dirty="0">
                <a:latin typeface="Times New Roman"/>
                <a:cs typeface="Times New Roman"/>
              </a:rPr>
              <a:t>implement </a:t>
            </a:r>
            <a:r>
              <a:rPr sz="2800" spc="-100" dirty="0">
                <a:latin typeface="Times New Roman"/>
                <a:cs typeface="Times New Roman"/>
              </a:rPr>
              <a:t>user </a:t>
            </a:r>
            <a:r>
              <a:rPr sz="2800" spc="-125" dirty="0">
                <a:latin typeface="Times New Roman"/>
                <a:cs typeface="Times New Roman"/>
              </a:rPr>
              <a:t>interfaces </a:t>
            </a:r>
            <a:r>
              <a:rPr sz="2800" spc="-105" dirty="0">
                <a:latin typeface="Times New Roman"/>
                <a:cs typeface="Times New Roman"/>
              </a:rPr>
              <a:t>on 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computers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20" dirty="0">
                <a:latin typeface="Times New Roman"/>
                <a:cs typeface="Times New Roman"/>
              </a:rPr>
              <a:t>by</a:t>
            </a:r>
            <a:r>
              <a:rPr sz="2800" spc="-21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dividing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an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application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intro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three 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i</a:t>
            </a:r>
            <a:r>
              <a:rPr sz="2800" spc="-150" dirty="0">
                <a:latin typeface="Times New Roman"/>
                <a:cs typeface="Times New Roman"/>
              </a:rPr>
              <a:t>n</a:t>
            </a:r>
            <a:r>
              <a:rPr sz="2800" spc="-25" dirty="0">
                <a:latin typeface="Times New Roman"/>
                <a:cs typeface="Times New Roman"/>
              </a:rPr>
              <a:t>t</a:t>
            </a:r>
            <a:r>
              <a:rPr sz="2800" spc="-60" dirty="0">
                <a:latin typeface="Times New Roman"/>
                <a:cs typeface="Times New Roman"/>
              </a:rPr>
              <a:t>er</a:t>
            </a:r>
            <a:r>
              <a:rPr sz="2800" spc="-85" dirty="0">
                <a:latin typeface="Times New Roman"/>
                <a:cs typeface="Times New Roman"/>
              </a:rPr>
              <a:t>c</a:t>
            </a:r>
            <a:r>
              <a:rPr sz="2800" spc="-110" dirty="0">
                <a:latin typeface="Times New Roman"/>
                <a:cs typeface="Times New Roman"/>
              </a:rPr>
              <a:t>onn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70" dirty="0">
                <a:latin typeface="Times New Roman"/>
                <a:cs typeface="Times New Roman"/>
              </a:rPr>
              <a:t>ct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spc="-114" dirty="0">
                <a:latin typeface="Times New Roman"/>
                <a:cs typeface="Times New Roman"/>
              </a:rPr>
              <a:t>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pa</a:t>
            </a:r>
            <a:r>
              <a:rPr sz="2800" spc="10" dirty="0">
                <a:latin typeface="Times New Roman"/>
                <a:cs typeface="Times New Roman"/>
              </a:rPr>
              <a:t>r</a:t>
            </a:r>
            <a:r>
              <a:rPr sz="2800" spc="-85" dirty="0">
                <a:latin typeface="Times New Roman"/>
                <a:cs typeface="Times New Roman"/>
              </a:rPr>
              <a:t>ts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2400"/>
            <a:ext cx="8232140" cy="623119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1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200" dirty="0">
                <a:latin typeface="Times New Roman"/>
                <a:cs typeface="Times New Roman"/>
              </a:rPr>
              <a:t>Main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g</a:t>
            </a:r>
            <a:r>
              <a:rPr sz="3200" spc="-190" dirty="0">
                <a:latin typeface="Times New Roman"/>
                <a:cs typeface="Times New Roman"/>
              </a:rPr>
              <a:t>o</a:t>
            </a:r>
            <a:r>
              <a:rPr sz="3200" spc="-204" dirty="0">
                <a:latin typeface="Times New Roman"/>
                <a:cs typeface="Times New Roman"/>
              </a:rPr>
              <a:t>a</a:t>
            </a:r>
            <a:r>
              <a:rPr sz="3200" spc="-125" dirty="0">
                <a:latin typeface="Times New Roman"/>
                <a:cs typeface="Times New Roman"/>
              </a:rPr>
              <a:t>l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f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360" dirty="0">
                <a:latin typeface="Times New Roman"/>
                <a:cs typeface="Times New Roman"/>
              </a:rPr>
              <a:t>M</a:t>
            </a:r>
            <a:r>
              <a:rPr sz="3200" spc="-110" dirty="0">
                <a:latin typeface="Times New Roman"/>
                <a:cs typeface="Times New Roman"/>
              </a:rPr>
              <a:t>od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0" dirty="0">
                <a:latin typeface="Times New Roman"/>
                <a:cs typeface="Times New Roman"/>
              </a:rPr>
              <a:t>l</a:t>
            </a:r>
            <a:r>
              <a:rPr sz="3200" spc="-75" dirty="0">
                <a:latin typeface="Times New Roman"/>
                <a:cs typeface="Times New Roman"/>
              </a:rPr>
              <a:t>-</a:t>
            </a:r>
            <a:r>
              <a:rPr sz="3200" spc="-395" dirty="0">
                <a:latin typeface="Times New Roman"/>
                <a:cs typeface="Times New Roman"/>
              </a:rPr>
              <a:t>V</a:t>
            </a:r>
            <a:r>
              <a:rPr sz="3200" spc="-95" dirty="0">
                <a:latin typeface="Times New Roman"/>
                <a:cs typeface="Times New Roman"/>
              </a:rPr>
              <a:t>i</a:t>
            </a:r>
            <a:r>
              <a:rPr sz="3200" spc="-210" dirty="0">
                <a:latin typeface="Times New Roman"/>
                <a:cs typeface="Times New Roman"/>
              </a:rPr>
              <a:t>e</a:t>
            </a:r>
            <a:r>
              <a:rPr sz="3200" spc="-155" dirty="0">
                <a:latin typeface="Times New Roman"/>
                <a:cs typeface="Times New Roman"/>
              </a:rPr>
              <a:t>w</a:t>
            </a:r>
            <a:r>
              <a:rPr sz="3200" spc="-50" dirty="0">
                <a:latin typeface="Times New Roman"/>
                <a:cs typeface="Times New Roman"/>
              </a:rPr>
              <a:t>-</a:t>
            </a:r>
            <a:r>
              <a:rPr sz="3200" spc="-150" dirty="0">
                <a:latin typeface="Times New Roman"/>
                <a:cs typeface="Times New Roman"/>
              </a:rPr>
              <a:t>C</a:t>
            </a:r>
            <a:r>
              <a:rPr sz="3200" spc="-130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3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-95" dirty="0">
                <a:latin typeface="Times New Roman"/>
                <a:cs typeface="Times New Roman"/>
              </a:rPr>
              <a:t>ll</a:t>
            </a:r>
            <a:r>
              <a:rPr sz="3200" spc="-160" dirty="0">
                <a:latin typeface="Times New Roman"/>
                <a:cs typeface="Times New Roman"/>
              </a:rPr>
              <a:t>e</a:t>
            </a:r>
            <a:r>
              <a:rPr sz="3200" spc="-215" dirty="0">
                <a:latin typeface="Times New Roman"/>
                <a:cs typeface="Times New Roman"/>
              </a:rPr>
              <a:t>r</a:t>
            </a:r>
            <a:r>
              <a:rPr lang="en-US" sz="3200" spc="120" dirty="0">
                <a:latin typeface="Times New Roman"/>
                <a:cs typeface="Times New Roman"/>
              </a:rPr>
              <a:t>(</a:t>
            </a:r>
            <a:r>
              <a:rPr sz="3200" spc="-360" dirty="0">
                <a:latin typeface="Times New Roman"/>
                <a:cs typeface="Times New Roman"/>
              </a:rPr>
              <a:t>M</a:t>
            </a:r>
            <a:r>
              <a:rPr sz="3200" spc="-370" dirty="0">
                <a:latin typeface="Times New Roman"/>
                <a:cs typeface="Times New Roman"/>
              </a:rPr>
              <a:t>V</a:t>
            </a:r>
            <a:r>
              <a:rPr sz="3200" spc="-215" dirty="0">
                <a:latin typeface="Times New Roman"/>
                <a:cs typeface="Times New Roman"/>
              </a:rPr>
              <a:t>C</a:t>
            </a:r>
            <a:r>
              <a:rPr lang="en-US" sz="3200" spc="-215" dirty="0">
                <a:latin typeface="Times New Roman"/>
                <a:cs typeface="Times New Roman"/>
              </a:rPr>
              <a:t>)</a:t>
            </a:r>
            <a:r>
              <a:rPr sz="3200" spc="120" dirty="0">
                <a:latin typeface="Times New Roman"/>
                <a:cs typeface="Times New Roman"/>
              </a:rPr>
              <a:t>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is  </a:t>
            </a:r>
            <a:r>
              <a:rPr sz="3200" spc="-40" dirty="0">
                <a:latin typeface="Times New Roman"/>
                <a:cs typeface="Times New Roman"/>
              </a:rPr>
              <a:t>to 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separate 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internal 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representations </a:t>
            </a:r>
            <a:r>
              <a:rPr sz="3200" spc="-16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3200" spc="-165" dirty="0">
                <a:solidFill>
                  <a:srgbClr val="FF0000"/>
                </a:solidFill>
                <a:latin typeface="Times New Roman"/>
                <a:cs typeface="Times New Roman"/>
              </a:rPr>
              <a:t>an 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application 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8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3200" spc="-31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220" dirty="0">
                <a:solidFill>
                  <a:srgbClr val="FF0000"/>
                </a:solidFill>
                <a:latin typeface="Times New Roman"/>
                <a:cs typeface="Times New Roman"/>
              </a:rPr>
              <a:t>ys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15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22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9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-24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3200" spc="-16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1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10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22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7030" algn="l"/>
              </a:tabLst>
            </a:pPr>
            <a:r>
              <a:rPr sz="2000" dirty="0"/>
              <a:t>	</a:t>
            </a:r>
            <a:r>
              <a:rPr sz="3200" spc="-145" dirty="0">
                <a:latin typeface="Times New Roman"/>
                <a:cs typeface="Times New Roman"/>
              </a:rPr>
              <a:t>Initially, </a:t>
            </a:r>
            <a:r>
              <a:rPr sz="3200" spc="-275" dirty="0">
                <a:latin typeface="Times New Roman"/>
                <a:cs typeface="Times New Roman"/>
              </a:rPr>
              <a:t>MVC </a:t>
            </a:r>
            <a:r>
              <a:rPr sz="3200" spc="-210" dirty="0">
                <a:latin typeface="Times New Roman"/>
                <a:cs typeface="Times New Roman"/>
              </a:rPr>
              <a:t>was </a:t>
            </a:r>
            <a:r>
              <a:rPr sz="3200" spc="-150" dirty="0">
                <a:latin typeface="Times New Roman"/>
                <a:cs typeface="Times New Roman"/>
              </a:rPr>
              <a:t>designed </a:t>
            </a:r>
            <a:r>
              <a:rPr sz="3200" spc="-100" dirty="0">
                <a:latin typeface="Times New Roman"/>
                <a:cs typeface="Times New Roman"/>
              </a:rPr>
              <a:t>for </a:t>
            </a:r>
            <a:r>
              <a:rPr sz="3200" spc="-120" dirty="0">
                <a:latin typeface="Times New Roman"/>
                <a:cs typeface="Times New Roman"/>
              </a:rPr>
              <a:t>desktop </a:t>
            </a:r>
            <a:r>
              <a:rPr sz="3200" spc="-180" dirty="0">
                <a:latin typeface="Times New Roman"/>
                <a:cs typeface="Times New Roman"/>
              </a:rPr>
              <a:t>GUI </a:t>
            </a:r>
            <a:r>
              <a:rPr sz="3200" spc="-140" dirty="0">
                <a:latin typeface="Times New Roman"/>
                <a:cs typeface="Times New Roman"/>
              </a:rPr>
              <a:t>applications </a:t>
            </a:r>
            <a:r>
              <a:rPr sz="3200" spc="-85" dirty="0">
                <a:latin typeface="Times New Roman"/>
                <a:cs typeface="Times New Roman"/>
              </a:rPr>
              <a:t>but 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it’s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quickly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become</a:t>
            </a:r>
            <a:r>
              <a:rPr sz="3200" spc="42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an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extremely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popular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pattern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for 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30" dirty="0">
                <a:latin typeface="Times New Roman"/>
                <a:cs typeface="Times New Roman"/>
              </a:rPr>
              <a:t>i</a:t>
            </a:r>
            <a:r>
              <a:rPr sz="3200" spc="-229" dirty="0">
                <a:latin typeface="Times New Roman"/>
                <a:cs typeface="Times New Roman"/>
              </a:rPr>
              <a:t>g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229" dirty="0">
                <a:latin typeface="Times New Roman"/>
                <a:cs typeface="Times New Roman"/>
              </a:rPr>
              <a:t>g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250" dirty="0">
                <a:latin typeface="Times New Roman"/>
                <a:cs typeface="Times New Roman"/>
              </a:rPr>
              <a:t>w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45" dirty="0">
                <a:latin typeface="Times New Roman"/>
                <a:cs typeface="Times New Roman"/>
              </a:rPr>
              <a:t>b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</a:t>
            </a:r>
            <a:r>
              <a:rPr sz="3200" spc="-170" dirty="0">
                <a:latin typeface="Times New Roman"/>
                <a:cs typeface="Times New Roman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p</a:t>
            </a:r>
            <a:r>
              <a:rPr sz="3200" spc="-150" dirty="0">
                <a:latin typeface="Times New Roman"/>
                <a:cs typeface="Times New Roman"/>
              </a:rPr>
              <a:t>lic</a:t>
            </a:r>
            <a:r>
              <a:rPr sz="3200" spc="-204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ti</a:t>
            </a:r>
            <a:r>
              <a:rPr sz="3200" spc="-9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to</a:t>
            </a:r>
            <a:r>
              <a:rPr sz="3200" spc="-245" dirty="0">
                <a:latin typeface="Times New Roman"/>
                <a:cs typeface="Times New Roman"/>
              </a:rPr>
              <a:t>o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366395" indent="-35433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7030" algn="l"/>
              </a:tabLst>
            </a:pPr>
            <a:r>
              <a:rPr sz="3200" spc="-275" dirty="0">
                <a:latin typeface="Times New Roman"/>
                <a:cs typeface="Times New Roman"/>
              </a:rPr>
              <a:t>MVC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p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tt</a:t>
            </a:r>
            <a:r>
              <a:rPr sz="3200" spc="-30" dirty="0">
                <a:latin typeface="Times New Roman"/>
                <a:cs typeface="Times New Roman"/>
              </a:rPr>
              <a:t>e</a:t>
            </a:r>
            <a:r>
              <a:rPr sz="3200" spc="90" dirty="0">
                <a:latin typeface="Times New Roman"/>
                <a:cs typeface="Times New Roman"/>
              </a:rPr>
              <a:t>r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00" dirty="0">
                <a:latin typeface="Times New Roman"/>
                <a:cs typeface="Times New Roman"/>
              </a:rPr>
              <a:t>has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the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th</a:t>
            </a:r>
            <a:r>
              <a:rPr sz="3200" b="1" spc="-35" dirty="0">
                <a:latin typeface="Times New Roman"/>
                <a:cs typeface="Times New Roman"/>
              </a:rPr>
              <a:t>r</a:t>
            </a:r>
            <a:r>
              <a:rPr sz="3200" b="1" spc="65" dirty="0">
                <a:latin typeface="Times New Roman"/>
                <a:cs typeface="Times New Roman"/>
              </a:rPr>
              <a:t>e</a:t>
            </a:r>
            <a:r>
              <a:rPr sz="3200" b="1" spc="70" dirty="0">
                <a:latin typeface="Times New Roman"/>
                <a:cs typeface="Times New Roman"/>
              </a:rPr>
              <a:t>e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omp</a:t>
            </a:r>
            <a:r>
              <a:rPr sz="3200" spc="-100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85" dirty="0">
                <a:latin typeface="Times New Roman"/>
                <a:cs typeface="Times New Roman"/>
              </a:rPr>
              <a:t>ts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4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573405" lvl="1" indent="-241300" algn="just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0357"/>
              <a:buFont typeface="Wingdings"/>
              <a:buChar char=""/>
              <a:tabLst>
                <a:tab pos="574040" algn="l"/>
              </a:tabLst>
            </a:pPr>
            <a:r>
              <a:rPr sz="3200" spc="-155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that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manages</a:t>
            </a:r>
            <a:r>
              <a:rPr sz="3200" spc="-80" dirty="0">
                <a:latin typeface="Times New Roman"/>
                <a:cs typeface="Times New Roman"/>
              </a:rPr>
              <a:t> data,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logic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rules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of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the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application</a:t>
            </a:r>
            <a:endParaRPr sz="3200" dirty="0">
              <a:latin typeface="Times New Roman"/>
              <a:cs typeface="Times New Roman"/>
            </a:endParaRPr>
          </a:p>
          <a:p>
            <a:pPr marL="573405" lvl="1" indent="-241300" algn="just">
              <a:lnSpc>
                <a:spcPct val="100000"/>
              </a:lnSpc>
              <a:spcBef>
                <a:spcPts val="385"/>
              </a:spcBef>
              <a:buClr>
                <a:srgbClr val="9B2C1F"/>
              </a:buClr>
              <a:buSzPct val="80357"/>
              <a:buFont typeface="Wingdings"/>
              <a:buChar char=""/>
              <a:tabLst>
                <a:tab pos="574040" algn="l"/>
              </a:tabLst>
            </a:pPr>
            <a:r>
              <a:rPr sz="3200" spc="-39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u</a:t>
            </a:r>
            <a:r>
              <a:rPr sz="3200" spc="-145" dirty="0">
                <a:latin typeface="Times New Roman"/>
                <a:cs typeface="Times New Roman"/>
              </a:rPr>
              <a:t>sed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t</a:t>
            </a:r>
            <a:r>
              <a:rPr sz="3200" spc="-50" dirty="0">
                <a:latin typeface="Times New Roman"/>
                <a:cs typeface="Times New Roman"/>
              </a:rPr>
              <a:t>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p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0" dirty="0">
                <a:latin typeface="Times New Roman"/>
                <a:cs typeface="Times New Roman"/>
              </a:rPr>
              <a:t>sent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ta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t</a:t>
            </a:r>
            <a:r>
              <a:rPr sz="3200" spc="-50" dirty="0">
                <a:latin typeface="Times New Roman"/>
                <a:cs typeface="Times New Roman"/>
              </a:rPr>
              <a:t>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u</a:t>
            </a:r>
            <a:r>
              <a:rPr sz="3200" spc="-95" dirty="0">
                <a:latin typeface="Times New Roman"/>
                <a:cs typeface="Times New Roman"/>
              </a:rPr>
              <a:t>ser</a:t>
            </a:r>
            <a:endParaRPr sz="3200" dirty="0">
              <a:latin typeface="Times New Roman"/>
              <a:cs typeface="Times New Roman"/>
            </a:endParaRPr>
          </a:p>
          <a:p>
            <a:pPr marL="561340" marR="5080" lvl="1" indent="-228600" algn="just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0357"/>
              <a:buFont typeface="Wingdings"/>
              <a:buChar char=""/>
              <a:tabLst>
                <a:tab pos="574040" algn="l"/>
              </a:tabLst>
            </a:pP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Controller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that </a:t>
            </a:r>
            <a:r>
              <a:rPr sz="3200" spc="-135" dirty="0">
                <a:latin typeface="Times New Roman"/>
                <a:cs typeface="Times New Roman"/>
              </a:rPr>
              <a:t>accepts </a:t>
            </a:r>
            <a:r>
              <a:rPr sz="3200" spc="-90" dirty="0">
                <a:latin typeface="Times New Roman"/>
                <a:cs typeface="Times New Roman"/>
              </a:rPr>
              <a:t>input </a:t>
            </a:r>
            <a:r>
              <a:rPr sz="3200" spc="-120" dirty="0">
                <a:latin typeface="Times New Roman"/>
                <a:cs typeface="Times New Roman"/>
              </a:rPr>
              <a:t>from </a:t>
            </a:r>
            <a:r>
              <a:rPr sz="3200" spc="-85" dirty="0">
                <a:latin typeface="Times New Roman"/>
                <a:cs typeface="Times New Roman"/>
              </a:rPr>
              <a:t>the </a:t>
            </a:r>
            <a:r>
              <a:rPr sz="3200" spc="-105" dirty="0">
                <a:latin typeface="Times New Roman"/>
                <a:cs typeface="Times New Roman"/>
              </a:rPr>
              <a:t>user </a:t>
            </a:r>
            <a:r>
              <a:rPr sz="3200" spc="-155" dirty="0">
                <a:latin typeface="Times New Roman"/>
                <a:cs typeface="Times New Roman"/>
              </a:rPr>
              <a:t>and </a:t>
            </a:r>
            <a:r>
              <a:rPr sz="3200" spc="-114" dirty="0">
                <a:latin typeface="Times New Roman"/>
                <a:cs typeface="Times New Roman"/>
              </a:rPr>
              <a:t>converts </a:t>
            </a:r>
            <a:r>
              <a:rPr sz="3200" spc="-45" dirty="0">
                <a:latin typeface="Times New Roman"/>
                <a:cs typeface="Times New Roman"/>
              </a:rPr>
              <a:t>it 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t</a:t>
            </a:r>
            <a:r>
              <a:rPr sz="3200" spc="-50" dirty="0">
                <a:latin typeface="Times New Roman"/>
                <a:cs typeface="Times New Roman"/>
              </a:rPr>
              <a:t>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180" dirty="0">
                <a:latin typeface="Times New Roman"/>
                <a:cs typeface="Times New Roman"/>
              </a:rPr>
              <a:t>mma</a:t>
            </a:r>
            <a:r>
              <a:rPr sz="3200" spc="-120" dirty="0">
                <a:latin typeface="Times New Roman"/>
                <a:cs typeface="Times New Roman"/>
              </a:rPr>
              <a:t>n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f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Mo</a:t>
            </a:r>
            <a:r>
              <a:rPr sz="3200" spc="-140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5" dirty="0">
                <a:latin typeface="Times New Roman"/>
                <a:cs typeface="Times New Roman"/>
              </a:rPr>
              <a:t>l </a:t>
            </a:r>
            <a:r>
              <a:rPr sz="3200" spc="-45" dirty="0">
                <a:latin typeface="Times New Roman"/>
                <a:cs typeface="Times New Roman"/>
              </a:rPr>
              <a:t>o</a:t>
            </a:r>
            <a:r>
              <a:rPr sz="3200" spc="-35" dirty="0">
                <a:latin typeface="Times New Roman"/>
                <a:cs typeface="Times New Roman"/>
              </a:rPr>
              <a:t>r</a:t>
            </a:r>
            <a:r>
              <a:rPr sz="3200" spc="-420" dirty="0">
                <a:latin typeface="Times New Roman"/>
                <a:cs typeface="Times New Roman"/>
              </a:rPr>
              <a:t> </a:t>
            </a:r>
            <a:r>
              <a:rPr sz="3200" spc="-395" dirty="0">
                <a:latin typeface="Times New Roman"/>
                <a:cs typeface="Times New Roman"/>
              </a:rPr>
              <a:t>V</a:t>
            </a:r>
            <a:r>
              <a:rPr sz="3200" spc="-95" dirty="0">
                <a:latin typeface="Times New Roman"/>
                <a:cs typeface="Times New Roman"/>
              </a:rPr>
              <a:t>i</a:t>
            </a:r>
            <a:r>
              <a:rPr sz="3200" spc="-210" dirty="0">
                <a:latin typeface="Times New Roman"/>
                <a:cs typeface="Times New Roman"/>
              </a:rPr>
              <a:t>e</a:t>
            </a:r>
            <a:r>
              <a:rPr sz="3200" spc="-490" dirty="0">
                <a:latin typeface="Times New Roman"/>
                <a:cs typeface="Times New Roman"/>
              </a:rPr>
              <a:t>w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044" y="667638"/>
            <a:ext cx="8607756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78571"/>
              <a:buFont typeface="Wingdings"/>
              <a:buChar char=""/>
              <a:tabLst>
                <a:tab pos="360680" algn="l"/>
              </a:tabLst>
            </a:pPr>
            <a:r>
              <a:rPr sz="2000" dirty="0"/>
              <a:t>	</a:t>
            </a: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75" dirty="0">
                <a:latin typeface="Times New Roman"/>
                <a:cs typeface="Times New Roman"/>
              </a:rPr>
              <a:t>MVC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p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tt</a:t>
            </a:r>
            <a:r>
              <a:rPr sz="3200" spc="-30" dirty="0">
                <a:latin typeface="Times New Roman"/>
                <a:cs typeface="Times New Roman"/>
              </a:rPr>
              <a:t>e</a:t>
            </a:r>
            <a:r>
              <a:rPr sz="3200" spc="90" dirty="0">
                <a:latin typeface="Times New Roman"/>
                <a:cs typeface="Times New Roman"/>
              </a:rPr>
              <a:t>r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20" dirty="0">
                <a:latin typeface="Times New Roman"/>
                <a:cs typeface="Times New Roman"/>
              </a:rPr>
              <a:t>f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25" dirty="0">
                <a:latin typeface="Times New Roman"/>
                <a:cs typeface="Times New Roman"/>
              </a:rPr>
              <a:t>t</a:t>
            </a:r>
            <a:r>
              <a:rPr sz="3200" spc="-140" dirty="0">
                <a:latin typeface="Times New Roman"/>
                <a:cs typeface="Times New Roman"/>
              </a:rPr>
              <a:t>he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int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spc="-95" dirty="0">
                <a:latin typeface="Times New Roman"/>
                <a:cs typeface="Times New Roman"/>
              </a:rPr>
              <a:t>racti</a:t>
            </a:r>
            <a:r>
              <a:rPr sz="3200" spc="-120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b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spc="-254" dirty="0">
                <a:latin typeface="Times New Roman"/>
                <a:cs typeface="Times New Roman"/>
              </a:rPr>
              <a:t>w</a:t>
            </a:r>
            <a:r>
              <a:rPr sz="3200" spc="-120" dirty="0">
                <a:latin typeface="Times New Roman"/>
                <a:cs typeface="Times New Roman"/>
              </a:rPr>
              <a:t>ee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r>
              <a:rPr sz="3200" spc="-50" dirty="0">
                <a:latin typeface="Times New Roman"/>
                <a:cs typeface="Times New Roman"/>
              </a:rPr>
              <a:t> 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75" dirty="0">
                <a:latin typeface="Times New Roman"/>
                <a:cs typeface="Times New Roman"/>
              </a:rPr>
              <a:t>e 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com</a:t>
            </a:r>
            <a:r>
              <a:rPr sz="3200" spc="-120" dirty="0">
                <a:latin typeface="Times New Roman"/>
                <a:cs typeface="Times New Roman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on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85" dirty="0">
                <a:latin typeface="Times New Roman"/>
                <a:cs typeface="Times New Roman"/>
              </a:rPr>
              <a:t>ts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lang="en-US" sz="3200" spc="-145" dirty="0">
                <a:latin typeface="Times New Roman"/>
                <a:cs typeface="Times New Roman"/>
              </a:rPr>
              <a:t> as below: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905000"/>
            <a:ext cx="54864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667638"/>
            <a:ext cx="8455356" cy="3122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020" algn="l"/>
                <a:tab pos="1076325" algn="l"/>
                <a:tab pos="2198370" algn="l"/>
                <a:tab pos="3509645" algn="l"/>
                <a:tab pos="5180330" algn="l"/>
                <a:tab pos="5927090" algn="l"/>
                <a:tab pos="6741159" algn="l"/>
                <a:tab pos="7662545" algn="l"/>
              </a:tabLst>
            </a:pP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4" dirty="0">
                <a:latin typeface="Times New Roman"/>
                <a:cs typeface="Times New Roman"/>
              </a:rPr>
              <a:t>Mo</a:t>
            </a:r>
            <a:r>
              <a:rPr sz="3200" spc="-140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5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r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35" dirty="0">
                <a:latin typeface="Times New Roman"/>
                <a:cs typeface="Times New Roman"/>
              </a:rPr>
              <a:t>c</a:t>
            </a:r>
            <a:r>
              <a:rPr sz="3200" spc="-150" dirty="0">
                <a:latin typeface="Times New Roman"/>
                <a:cs typeface="Times New Roman"/>
              </a:rPr>
              <a:t>e</a:t>
            </a:r>
            <a:r>
              <a:rPr sz="3200" spc="-130" dirty="0">
                <a:latin typeface="Times New Roman"/>
                <a:cs typeface="Times New Roman"/>
              </a:rPr>
              <a:t>i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215" dirty="0">
                <a:latin typeface="Times New Roman"/>
                <a:cs typeface="Times New Roman"/>
              </a:rPr>
              <a:t>mm</a:t>
            </a:r>
            <a:r>
              <a:rPr sz="3200" spc="-145" dirty="0">
                <a:latin typeface="Times New Roman"/>
                <a:cs typeface="Times New Roman"/>
              </a:rPr>
              <a:t>a</a:t>
            </a:r>
            <a:r>
              <a:rPr sz="3200" spc="-110" dirty="0">
                <a:latin typeface="Times New Roman"/>
                <a:cs typeface="Times New Roman"/>
              </a:rPr>
              <a:t>nd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65" dirty="0">
                <a:latin typeface="Times New Roman"/>
                <a:cs typeface="Times New Roman"/>
              </a:rPr>
              <a:t>a</a:t>
            </a:r>
            <a:r>
              <a:rPr sz="3200" spc="-170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t</a:t>
            </a:r>
            <a:r>
              <a:rPr sz="3200" spc="-22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20" dirty="0">
                <a:latin typeface="Times New Roman"/>
                <a:cs typeface="Times New Roman"/>
              </a:rPr>
              <a:t>f</a:t>
            </a:r>
            <a:r>
              <a:rPr sz="3200" spc="-5" dirty="0">
                <a:latin typeface="Times New Roman"/>
                <a:cs typeface="Times New Roman"/>
              </a:rPr>
              <a:t>r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-160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75" dirty="0">
                <a:latin typeface="Times New Roman"/>
                <a:cs typeface="Times New Roman"/>
              </a:rPr>
              <a:t>the  </a:t>
            </a:r>
            <a:r>
              <a:rPr sz="3200" spc="-80" dirty="0">
                <a:latin typeface="Times New Roman"/>
                <a:cs typeface="Times New Roman"/>
              </a:rPr>
              <a:t>Controller.</a:t>
            </a:r>
            <a:r>
              <a:rPr sz="3200" spc="-22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It </a:t>
            </a:r>
            <a:r>
              <a:rPr sz="3200" spc="-105" dirty="0">
                <a:latin typeface="Times New Roman"/>
                <a:cs typeface="Times New Roman"/>
              </a:rPr>
              <a:t>stores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these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data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and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updates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-42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View.</a:t>
            </a:r>
            <a:endParaRPr sz="3200" dirty="0">
              <a:latin typeface="Times New Roman"/>
              <a:cs typeface="Times New Roman"/>
            </a:endParaRPr>
          </a:p>
          <a:p>
            <a:pPr marL="287020" marR="762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3850" algn="l"/>
              </a:tabLst>
            </a:pPr>
            <a:r>
              <a:rPr sz="2000" dirty="0"/>
              <a:t>	</a:t>
            </a: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View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lets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to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present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data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provided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by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Model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to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user.</a:t>
            </a:r>
            <a:endParaRPr sz="3200" dirty="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3850" algn="l"/>
              </a:tabLst>
            </a:pPr>
            <a:r>
              <a:rPr sz="2000" dirty="0"/>
              <a:t>	</a:t>
            </a: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Controller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accepts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inputs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from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user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and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converts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it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t</a:t>
            </a:r>
            <a:r>
              <a:rPr sz="3200" spc="-50" dirty="0">
                <a:latin typeface="Times New Roman"/>
                <a:cs typeface="Times New Roman"/>
              </a:rPr>
              <a:t>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o</a:t>
            </a:r>
            <a:r>
              <a:rPr sz="3200" spc="-180" dirty="0">
                <a:latin typeface="Times New Roman"/>
                <a:cs typeface="Times New Roman"/>
              </a:rPr>
              <a:t>mma</a:t>
            </a:r>
            <a:r>
              <a:rPr sz="3200" spc="-120" dirty="0">
                <a:latin typeface="Times New Roman"/>
                <a:cs typeface="Times New Roman"/>
              </a:rPr>
              <a:t>n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f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35" dirty="0">
                <a:latin typeface="Times New Roman"/>
                <a:cs typeface="Times New Roman"/>
              </a:rPr>
              <a:t>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04" dirty="0">
                <a:latin typeface="Times New Roman"/>
                <a:cs typeface="Times New Roman"/>
              </a:rPr>
              <a:t>Mo</a:t>
            </a:r>
            <a:r>
              <a:rPr sz="3200" spc="-145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5" dirty="0">
                <a:latin typeface="Times New Roman"/>
                <a:cs typeface="Times New Roman"/>
              </a:rPr>
              <a:t>l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o</a:t>
            </a:r>
            <a:r>
              <a:rPr sz="3200" spc="-35" dirty="0">
                <a:latin typeface="Times New Roman"/>
                <a:cs typeface="Times New Roman"/>
              </a:rPr>
              <a:t>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spc="-425" dirty="0">
                <a:latin typeface="Times New Roman"/>
                <a:cs typeface="Times New Roman"/>
              </a:rPr>
              <a:t> </a:t>
            </a:r>
            <a:r>
              <a:rPr sz="3200" spc="-395" dirty="0">
                <a:latin typeface="Times New Roman"/>
                <a:cs typeface="Times New Roman"/>
              </a:rPr>
              <a:t>V</a:t>
            </a:r>
            <a:r>
              <a:rPr sz="3200" spc="-95" dirty="0">
                <a:latin typeface="Times New Roman"/>
                <a:cs typeface="Times New Roman"/>
              </a:rPr>
              <a:t>i</a:t>
            </a:r>
            <a:r>
              <a:rPr sz="3200" spc="-210" dirty="0">
                <a:latin typeface="Times New Roman"/>
                <a:cs typeface="Times New Roman"/>
              </a:rPr>
              <a:t>e</a:t>
            </a:r>
            <a:r>
              <a:rPr sz="3200" spc="-490" dirty="0">
                <a:latin typeface="Times New Roman"/>
                <a:cs typeface="Times New Roman"/>
              </a:rPr>
              <a:t>w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" y="304800"/>
            <a:ext cx="8991600" cy="581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8890">
              <a:lnSpc>
                <a:spcPct val="100000"/>
              </a:lnSpc>
              <a:spcBef>
                <a:spcPts val="110"/>
              </a:spcBef>
              <a:buClr>
                <a:srgbClr val="D24717"/>
              </a:buClr>
              <a:buSzPct val="83928"/>
              <a:tabLst>
                <a:tab pos="324485" algn="l"/>
              </a:tabLst>
            </a:pPr>
            <a:r>
              <a:rPr lang="en-US" sz="3600" spc="-4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EV</a:t>
            </a:r>
            <a:r>
              <a:rPr lang="en-US" sz="3600" spc="-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3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sz="3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3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 sz="3600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87020" marR="8890" indent="-274955">
              <a:lnSpc>
                <a:spcPct val="100000"/>
              </a:lnSpc>
              <a:spcBef>
                <a:spcPts val="11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4485" algn="l"/>
              </a:tabLst>
            </a:pP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functionality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of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Event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Handling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what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is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further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step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i</a:t>
            </a:r>
            <a:r>
              <a:rPr sz="3200" spc="-185" dirty="0">
                <a:latin typeface="Times New Roman"/>
                <a:cs typeface="Times New Roman"/>
              </a:rPr>
              <a:t>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a</a:t>
            </a:r>
            <a:r>
              <a:rPr sz="3200" spc="-180" dirty="0">
                <a:latin typeface="Times New Roman"/>
                <a:cs typeface="Times New Roman"/>
              </a:rPr>
              <a:t>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a</a:t>
            </a:r>
            <a:r>
              <a:rPr sz="3200" spc="-85" dirty="0">
                <a:latin typeface="Times New Roman"/>
                <a:cs typeface="Times New Roman"/>
              </a:rPr>
              <a:t>cti</a:t>
            </a:r>
            <a:r>
              <a:rPr sz="3200" spc="-114" dirty="0">
                <a:latin typeface="Times New Roman"/>
                <a:cs typeface="Times New Roman"/>
              </a:rPr>
              <a:t>on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p</a:t>
            </a:r>
            <a:r>
              <a:rPr sz="3200" spc="-114" dirty="0">
                <a:latin typeface="Times New Roman"/>
                <a:cs typeface="Times New Roman"/>
              </a:rPr>
              <a:t>e</a:t>
            </a:r>
            <a:r>
              <a:rPr sz="3200" spc="-90" dirty="0">
                <a:latin typeface="Times New Roman"/>
                <a:cs typeface="Times New Roman"/>
              </a:rPr>
              <a:t>r</a:t>
            </a:r>
            <a:r>
              <a:rPr sz="3200" spc="-100" dirty="0">
                <a:latin typeface="Times New Roman"/>
                <a:cs typeface="Times New Roman"/>
              </a:rPr>
              <a:t>f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90" dirty="0">
                <a:latin typeface="Times New Roman"/>
                <a:cs typeface="Times New Roman"/>
              </a:rPr>
              <a:t>r</a:t>
            </a:r>
            <a:r>
              <a:rPr sz="3200" spc="-175" dirty="0">
                <a:latin typeface="Times New Roman"/>
                <a:cs typeface="Times New Roman"/>
              </a:rPr>
              <a:t>m</a:t>
            </a:r>
            <a:r>
              <a:rPr sz="3200" spc="-114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635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7030" algn="l"/>
                <a:tab pos="1058545" algn="l"/>
                <a:tab pos="2631440" algn="l"/>
                <a:tab pos="4223385" algn="l"/>
                <a:tab pos="5921375" algn="l"/>
                <a:tab pos="6842125" algn="l"/>
                <a:tab pos="7960995" algn="l"/>
              </a:tabLst>
            </a:pPr>
            <a:r>
              <a:rPr sz="2000" dirty="0"/>
              <a:t>	</a:t>
            </a:r>
            <a:r>
              <a:rPr sz="3200" spc="-254" dirty="0">
                <a:latin typeface="Times New Roman"/>
                <a:cs typeface="Times New Roman"/>
              </a:rPr>
              <a:t>J</a:t>
            </a:r>
            <a:r>
              <a:rPr sz="3200" spc="-290" dirty="0">
                <a:latin typeface="Times New Roman"/>
                <a:cs typeface="Times New Roman"/>
              </a:rPr>
              <a:t>a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22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20" dirty="0">
                <a:latin typeface="Times New Roman"/>
                <a:cs typeface="Times New Roman"/>
              </a:rPr>
              <a:t>f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u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30" dirty="0">
                <a:latin typeface="Times New Roman"/>
                <a:cs typeface="Times New Roman"/>
              </a:rPr>
              <a:t>d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ti</a:t>
            </a:r>
            <a:r>
              <a:rPr sz="3200" spc="-114" dirty="0">
                <a:latin typeface="Times New Roman"/>
                <a:cs typeface="Times New Roman"/>
              </a:rPr>
              <a:t>on</a:t>
            </a:r>
            <a:r>
              <a:rPr lang="en-US" sz="3200" spc="-114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10" dirty="0">
                <a:latin typeface="Times New Roman"/>
                <a:cs typeface="Times New Roman"/>
              </a:rPr>
              <a:t>t</a:t>
            </a:r>
            <a:r>
              <a:rPr sz="3200" spc="-5" dirty="0">
                <a:latin typeface="Times New Roman"/>
                <a:cs typeface="Times New Roman"/>
              </a:rPr>
              <a:t>r</a:t>
            </a:r>
            <a:r>
              <a:rPr sz="3200" spc="-130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du</a:t>
            </a:r>
            <a:r>
              <a:rPr sz="3200" spc="-135" dirty="0">
                <a:latin typeface="Times New Roman"/>
                <a:cs typeface="Times New Roman"/>
              </a:rPr>
              <a:t>c</a:t>
            </a:r>
            <a:r>
              <a:rPr sz="3200" spc="-150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lang="en-US" sz="3200" spc="-114" dirty="0">
                <a:latin typeface="Times New Roman"/>
                <a:cs typeface="Times New Roman"/>
              </a:rPr>
              <a:t> </a:t>
            </a:r>
            <a:r>
              <a:rPr sz="3200" spc="-380" dirty="0">
                <a:latin typeface="Times New Roman"/>
                <a:cs typeface="Times New Roman"/>
              </a:rPr>
              <a:t>“</a:t>
            </a:r>
            <a:r>
              <a:rPr sz="3200" spc="-16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200" spc="-14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240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200" spc="-22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300" dirty="0">
                <a:solidFill>
                  <a:srgbClr val="FF0000"/>
                </a:solidFill>
                <a:latin typeface="Times New Roman"/>
                <a:cs typeface="Times New Roman"/>
              </a:rPr>
              <a:t>Ev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4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200" spc="-204" dirty="0">
                <a:solidFill>
                  <a:srgbClr val="FF0000"/>
                </a:solidFill>
                <a:latin typeface="Times New Roman"/>
                <a:cs typeface="Times New Roman"/>
              </a:rPr>
              <a:t>Mo</a:t>
            </a:r>
            <a:r>
              <a:rPr sz="3200" spc="-140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8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200" spc="-290" dirty="0">
                <a:latin typeface="Times New Roman"/>
                <a:cs typeface="Times New Roman"/>
              </a:rPr>
              <a:t>”</a:t>
            </a:r>
            <a:r>
              <a:rPr lang="en-US" sz="3200" spc="-290" dirty="0">
                <a:latin typeface="Times New Roman"/>
                <a:cs typeface="Times New Roman"/>
              </a:rPr>
              <a:t> </a:t>
            </a:r>
            <a:r>
              <a:rPr sz="3200" spc="-130" dirty="0" err="1">
                <a:latin typeface="Times New Roman"/>
                <a:cs typeface="Times New Roman"/>
              </a:rPr>
              <a:t>i</a:t>
            </a:r>
            <a:r>
              <a:rPr sz="3200" spc="110" dirty="0" err="1">
                <a:latin typeface="Times New Roman"/>
                <a:cs typeface="Times New Roman"/>
              </a:rPr>
              <a:t>.</a:t>
            </a:r>
            <a:r>
              <a:rPr sz="3200" spc="-75" dirty="0" err="1">
                <a:latin typeface="Times New Roman"/>
                <a:cs typeface="Times New Roman"/>
              </a:rPr>
              <a:t>e</a:t>
            </a:r>
            <a:r>
              <a:rPr sz="3200" spc="-75" dirty="0">
                <a:latin typeface="Times New Roman"/>
                <a:cs typeface="Times New Roman"/>
              </a:rPr>
              <a:t>  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25" dirty="0">
                <a:latin typeface="Times New Roman"/>
                <a:cs typeface="Times New Roman"/>
              </a:rPr>
              <a:t>sc</a:t>
            </a:r>
            <a:r>
              <a:rPr sz="3200" spc="-55" dirty="0">
                <a:latin typeface="Times New Roman"/>
                <a:cs typeface="Times New Roman"/>
              </a:rPr>
              <a:t>r</a:t>
            </a:r>
            <a:r>
              <a:rPr sz="3200" spc="-125" dirty="0">
                <a:latin typeface="Times New Roman"/>
                <a:cs typeface="Times New Roman"/>
              </a:rPr>
              <a:t>ib</a:t>
            </a:r>
            <a:r>
              <a:rPr sz="3200" spc="-160" dirty="0">
                <a:latin typeface="Times New Roman"/>
                <a:cs typeface="Times New Roman"/>
              </a:rPr>
              <a:t>e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h</a:t>
            </a:r>
            <a:r>
              <a:rPr sz="3200" spc="-220" dirty="0">
                <a:latin typeface="Times New Roman"/>
                <a:cs typeface="Times New Roman"/>
              </a:rPr>
              <a:t>o</a:t>
            </a:r>
            <a:r>
              <a:rPr sz="3200" spc="-150" dirty="0">
                <a:latin typeface="Times New Roman"/>
                <a:cs typeface="Times New Roman"/>
              </a:rPr>
              <a:t>w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t</a:t>
            </a:r>
            <a:r>
              <a:rPr sz="3200" spc="-50" dirty="0">
                <a:latin typeface="Times New Roman"/>
                <a:cs typeface="Times New Roman"/>
              </a:rPr>
              <a:t>o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g</a:t>
            </a:r>
            <a:r>
              <a:rPr sz="3200" spc="-17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85" dirty="0">
                <a:latin typeface="Times New Roman"/>
                <a:cs typeface="Times New Roman"/>
              </a:rPr>
              <a:t>r</a:t>
            </a:r>
            <a:r>
              <a:rPr sz="3200" spc="-135" dirty="0">
                <a:latin typeface="Times New Roman"/>
                <a:cs typeface="Times New Roman"/>
              </a:rPr>
              <a:t>a</a:t>
            </a:r>
            <a:r>
              <a:rPr sz="3200" spc="-30" dirty="0">
                <a:latin typeface="Times New Roman"/>
                <a:cs typeface="Times New Roman"/>
              </a:rPr>
              <a:t>te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a</a:t>
            </a:r>
            <a:r>
              <a:rPr sz="3200" spc="-165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co</a:t>
            </a:r>
            <a:r>
              <a:rPr sz="3200" spc="-125" dirty="0">
                <a:latin typeface="Times New Roman"/>
                <a:cs typeface="Times New Roman"/>
              </a:rPr>
              <a:t>n</a:t>
            </a:r>
            <a:r>
              <a:rPr sz="3200" spc="35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-105" dirty="0">
                <a:latin typeface="Times New Roman"/>
                <a:cs typeface="Times New Roman"/>
              </a:rPr>
              <a:t>l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th</a:t>
            </a:r>
            <a:r>
              <a:rPr sz="3200" spc="-85" dirty="0">
                <a:latin typeface="Times New Roman"/>
                <a:cs typeface="Times New Roman"/>
              </a:rPr>
              <a:t>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70" dirty="0">
                <a:latin typeface="Times New Roman"/>
                <a:cs typeface="Times New Roman"/>
              </a:rPr>
              <a:t>e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70" dirty="0">
                <a:latin typeface="Times New Roman"/>
                <a:cs typeface="Times New Roman"/>
              </a:rPr>
              <a:t>t</a:t>
            </a:r>
            <a:r>
              <a:rPr sz="3200" spc="-140" dirty="0">
                <a:latin typeface="Times New Roman"/>
                <a:cs typeface="Times New Roman"/>
              </a:rPr>
              <a:t>s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4485" algn="l"/>
                <a:tab pos="1003300" algn="l"/>
                <a:tab pos="1619250" algn="l"/>
                <a:tab pos="2954655" algn="l"/>
                <a:tab pos="3390900" algn="l"/>
                <a:tab pos="3973195" algn="l"/>
                <a:tab pos="5552440" algn="l"/>
                <a:tab pos="6464300" algn="l"/>
                <a:tab pos="7476490" algn="l"/>
                <a:tab pos="8049895" algn="l"/>
              </a:tabLst>
            </a:pPr>
            <a:r>
              <a:rPr sz="2000" dirty="0"/>
              <a:t>	</a:t>
            </a: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29" dirty="0">
                <a:latin typeface="Times New Roman"/>
                <a:cs typeface="Times New Roman"/>
              </a:rPr>
              <a:t>k</a:t>
            </a:r>
            <a:r>
              <a:rPr sz="3200" spc="-170" dirty="0">
                <a:latin typeface="Times New Roman"/>
                <a:cs typeface="Times New Roman"/>
              </a:rPr>
              <a:t>e</a:t>
            </a:r>
            <a:r>
              <a:rPr sz="3200" spc="-229" dirty="0">
                <a:latin typeface="Times New Roman"/>
                <a:cs typeface="Times New Roman"/>
              </a:rPr>
              <a:t>y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85" dirty="0">
                <a:latin typeface="Times New Roman"/>
                <a:cs typeface="Times New Roman"/>
              </a:rPr>
              <a:t>l</a:t>
            </a:r>
            <a:r>
              <a:rPr sz="3200" spc="-150" dirty="0">
                <a:latin typeface="Times New Roman"/>
                <a:cs typeface="Times New Roman"/>
              </a:rPr>
              <a:t>e</a:t>
            </a:r>
            <a:r>
              <a:rPr sz="3200" spc="-145" dirty="0">
                <a:latin typeface="Times New Roman"/>
                <a:cs typeface="Times New Roman"/>
              </a:rPr>
              <a:t>m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85" dirty="0">
                <a:latin typeface="Times New Roman"/>
                <a:cs typeface="Times New Roman"/>
              </a:rPr>
              <a:t>ts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h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lang="en-US" sz="3200" dirty="0">
                <a:latin typeface="Times New Roman"/>
                <a:cs typeface="Times New Roman"/>
              </a:rPr>
              <a:t>  </a:t>
            </a:r>
            <a:r>
              <a:rPr sz="3200" spc="-155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85" dirty="0">
                <a:latin typeface="Times New Roman"/>
                <a:cs typeface="Times New Roman"/>
              </a:rPr>
              <a:t>l</a:t>
            </a:r>
            <a:r>
              <a:rPr sz="3200" spc="-150" dirty="0">
                <a:latin typeface="Times New Roman"/>
                <a:cs typeface="Times New Roman"/>
              </a:rPr>
              <a:t>e</a:t>
            </a:r>
            <a:r>
              <a:rPr sz="3200" spc="-240" dirty="0">
                <a:latin typeface="Times New Roman"/>
                <a:cs typeface="Times New Roman"/>
              </a:rPr>
              <a:t>g</a:t>
            </a:r>
            <a:r>
              <a:rPr sz="3200" spc="-225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ti</a:t>
            </a:r>
            <a:r>
              <a:rPr sz="3200" spc="-95" dirty="0">
                <a:latin typeface="Times New Roman"/>
                <a:cs typeface="Times New Roman"/>
              </a:rPr>
              <a:t>o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r>
              <a:rPr lang="en-US" sz="3200" spc="-114" dirty="0">
                <a:latin typeface="Times New Roman"/>
                <a:cs typeface="Times New Roman"/>
              </a:rPr>
              <a:t>  </a:t>
            </a:r>
            <a:r>
              <a:rPr sz="3200" spc="-300" dirty="0">
                <a:latin typeface="Times New Roman"/>
                <a:cs typeface="Times New Roman"/>
              </a:rPr>
              <a:t>E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4" dirty="0">
                <a:latin typeface="Times New Roman"/>
                <a:cs typeface="Times New Roman"/>
              </a:rPr>
              <a:t>Mo</a:t>
            </a:r>
            <a:r>
              <a:rPr sz="3200" spc="-145" dirty="0">
                <a:latin typeface="Times New Roman"/>
                <a:cs typeface="Times New Roman"/>
              </a:rPr>
              <a:t>d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05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10" dirty="0">
                <a:latin typeface="Times New Roman"/>
                <a:cs typeface="Times New Roman"/>
              </a:rPr>
              <a:t>ar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lang="en-US" sz="3200" spc="-105" dirty="0">
                <a:latin typeface="Times New Roman"/>
                <a:cs typeface="Times New Roman"/>
              </a:rPr>
              <a:t> </a:t>
            </a:r>
            <a:r>
              <a:rPr lang="en-US"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ou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rc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</a:t>
            </a:r>
            <a:r>
              <a:rPr sz="3200" spc="-170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40" dirty="0">
                <a:solidFill>
                  <a:srgbClr val="FF0000"/>
                </a:solidFill>
                <a:latin typeface="Times New Roman"/>
                <a:cs typeface="Times New Roman"/>
              </a:rPr>
              <a:t>li</a:t>
            </a:r>
            <a:r>
              <a:rPr sz="3200" spc="-18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6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-24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635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4485" algn="l"/>
              </a:tabLst>
            </a:pPr>
            <a:r>
              <a:rPr sz="2000" dirty="0"/>
              <a:t>	</a:t>
            </a:r>
            <a:r>
              <a:rPr sz="3200" spc="-13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listener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should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225" dirty="0">
                <a:latin typeface="Times New Roman"/>
                <a:cs typeface="Times New Roman"/>
              </a:rPr>
              <a:t>have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registered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32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source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0" dirty="0">
                <a:solidFill>
                  <a:srgbClr val="FF0000"/>
                </a:solidFill>
                <a:latin typeface="Times New Roman"/>
                <a:cs typeface="Times New Roman"/>
              </a:rPr>
              <a:t>purpose </a:t>
            </a:r>
            <a:r>
              <a:rPr sz="3200" spc="-6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8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40" dirty="0">
                <a:solidFill>
                  <a:srgbClr val="FF0000"/>
                </a:solidFill>
                <a:latin typeface="Times New Roman"/>
                <a:cs typeface="Times New Roman"/>
              </a:rPr>
              <a:t>al</a:t>
            </a:r>
            <a:r>
              <a:rPr sz="3200" spc="-17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12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4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3200" spc="-160" dirty="0">
                <a:solidFill>
                  <a:srgbClr val="FF0000"/>
                </a:solidFill>
                <a:latin typeface="Times New Roman"/>
                <a:cs typeface="Times New Roman"/>
              </a:rPr>
              <a:t>ic</a:t>
            </a:r>
            <a:r>
              <a:rPr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26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spc="12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39090" indent="-32702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39725" algn="l"/>
              </a:tabLst>
            </a:pPr>
            <a:r>
              <a:rPr sz="3200" spc="-350" dirty="0">
                <a:latin typeface="Times New Roman"/>
                <a:cs typeface="Times New Roman"/>
              </a:rPr>
              <a:t>A</a:t>
            </a:r>
            <a:r>
              <a:rPr sz="3200" spc="-110" dirty="0">
                <a:latin typeface="Times New Roman"/>
                <a:cs typeface="Times New Roman"/>
              </a:rPr>
              <a:t>l</a:t>
            </a:r>
            <a:r>
              <a:rPr sz="3200" spc="-105" dirty="0">
                <a:latin typeface="Times New Roman"/>
                <a:cs typeface="Times New Roman"/>
              </a:rPr>
              <a:t>l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G</a:t>
            </a:r>
            <a:r>
              <a:rPr sz="3200" spc="-160" dirty="0">
                <a:latin typeface="Times New Roman"/>
                <a:cs typeface="Times New Roman"/>
              </a:rPr>
              <a:t>U</a:t>
            </a:r>
            <a:r>
              <a:rPr sz="3200" spc="-204" dirty="0">
                <a:latin typeface="Times New Roman"/>
                <a:cs typeface="Times New Roman"/>
              </a:rPr>
              <a:t>I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</a:t>
            </a:r>
            <a:r>
              <a:rPr sz="3200" spc="-170" dirty="0">
                <a:latin typeface="Times New Roman"/>
                <a:cs typeface="Times New Roman"/>
              </a:rPr>
              <a:t>p</a:t>
            </a:r>
            <a:r>
              <a:rPr sz="3200" spc="-110" dirty="0">
                <a:latin typeface="Times New Roman"/>
                <a:cs typeface="Times New Roman"/>
              </a:rPr>
              <a:t>p</a:t>
            </a:r>
            <a:r>
              <a:rPr sz="3200" spc="-150" dirty="0">
                <a:latin typeface="Times New Roman"/>
                <a:cs typeface="Times New Roman"/>
              </a:rPr>
              <a:t>lic</a:t>
            </a:r>
            <a:r>
              <a:rPr sz="3200" spc="-204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ti</a:t>
            </a:r>
            <a:r>
              <a:rPr sz="3200" spc="-95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re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e</a:t>
            </a:r>
            <a:r>
              <a:rPr sz="3200" spc="-270" dirty="0">
                <a:latin typeface="Times New Roman"/>
                <a:cs typeface="Times New Roman"/>
              </a:rPr>
              <a:t>v</a:t>
            </a:r>
            <a:r>
              <a:rPr sz="3200" spc="-114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30" dirty="0">
                <a:latin typeface="Times New Roman"/>
                <a:cs typeface="Times New Roman"/>
              </a:rPr>
              <a:t>t</a:t>
            </a:r>
            <a:r>
              <a:rPr sz="3200" spc="-50" dirty="0">
                <a:latin typeface="Times New Roman"/>
                <a:cs typeface="Times New Roman"/>
              </a:rPr>
              <a:t>-</a:t>
            </a:r>
            <a:r>
              <a:rPr sz="3200" spc="-110" dirty="0">
                <a:latin typeface="Times New Roman"/>
                <a:cs typeface="Times New Roman"/>
              </a:rPr>
              <a:t>d</a:t>
            </a:r>
            <a:r>
              <a:rPr sz="3200" spc="65" dirty="0">
                <a:latin typeface="Times New Roman"/>
                <a:cs typeface="Times New Roman"/>
              </a:rPr>
              <a:t>r</a:t>
            </a:r>
            <a:r>
              <a:rPr sz="3200" spc="-130" dirty="0">
                <a:latin typeface="Times New Roman"/>
                <a:cs typeface="Times New Roman"/>
              </a:rPr>
              <a:t>i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n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439557"/>
            <a:ext cx="8839200" cy="589135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b="1" spc="-350" dirty="0">
                <a:solidFill>
                  <a:srgbClr val="FF0000"/>
                </a:solidFill>
                <a:latin typeface="Times New Roman"/>
                <a:cs typeface="Times New Roman"/>
              </a:rPr>
              <a:t>J</a:t>
            </a:r>
            <a:r>
              <a:rPr sz="3200" b="1" spc="-20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32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26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2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wing</a:t>
            </a:r>
            <a:r>
              <a:rPr sz="32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32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32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3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ject</a:t>
            </a:r>
            <a:endParaRPr sz="3200" dirty="0">
              <a:latin typeface="Times New Roman"/>
              <a:cs typeface="Times New Roman"/>
            </a:endParaRPr>
          </a:p>
          <a:p>
            <a:pPr marL="287020" marR="19685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78571"/>
              <a:buFont typeface="Wingdings"/>
              <a:buChar char=""/>
              <a:tabLst>
                <a:tab pos="360680" algn="l"/>
              </a:tabLst>
            </a:pPr>
            <a:r>
              <a:rPr sz="2000" dirty="0"/>
              <a:t>	</a:t>
            </a:r>
            <a:r>
              <a:rPr sz="3200" spc="-120" dirty="0">
                <a:latin typeface="Times New Roman"/>
                <a:cs typeface="Times New Roman"/>
              </a:rPr>
              <a:t>When </a:t>
            </a:r>
            <a:r>
              <a:rPr sz="3200" spc="-140" dirty="0">
                <a:latin typeface="Times New Roman"/>
                <a:cs typeface="Times New Roman"/>
              </a:rPr>
              <a:t>something </a:t>
            </a:r>
            <a:r>
              <a:rPr sz="3200" spc="-155" dirty="0">
                <a:latin typeface="Times New Roman"/>
                <a:cs typeface="Times New Roman"/>
              </a:rPr>
              <a:t>happens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in </a:t>
            </a:r>
            <a:r>
              <a:rPr sz="3200" spc="-85" dirty="0">
                <a:latin typeface="Times New Roman"/>
                <a:cs typeface="Times New Roman"/>
              </a:rPr>
              <a:t>the </a:t>
            </a:r>
            <a:r>
              <a:rPr sz="3200" spc="-114" dirty="0">
                <a:latin typeface="Times New Roman"/>
                <a:cs typeface="Times New Roman"/>
              </a:rPr>
              <a:t>application, </a:t>
            </a:r>
            <a:r>
              <a:rPr sz="3200" spc="-175" dirty="0">
                <a:latin typeface="Times New Roman"/>
                <a:cs typeface="Times New Roman"/>
              </a:rPr>
              <a:t>an</a:t>
            </a:r>
            <a:r>
              <a:rPr sz="3200" spc="-17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event </a:t>
            </a:r>
            <a:r>
              <a:rPr sz="3200" spc="-105" dirty="0">
                <a:latin typeface="Times New Roman"/>
                <a:cs typeface="Times New Roman"/>
              </a:rPr>
              <a:t>object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i</a:t>
            </a:r>
            <a:r>
              <a:rPr sz="3200" spc="-204" dirty="0">
                <a:latin typeface="Times New Roman"/>
                <a:cs typeface="Times New Roman"/>
              </a:rPr>
              <a:t>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c</a:t>
            </a:r>
            <a:r>
              <a:rPr sz="3200" spc="-90" dirty="0">
                <a:latin typeface="Times New Roman"/>
                <a:cs typeface="Times New Roman"/>
              </a:rPr>
              <a:t>r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40" dirty="0">
                <a:latin typeface="Times New Roman"/>
                <a:cs typeface="Times New Roman"/>
              </a:rPr>
              <a:t>a</a:t>
            </a:r>
            <a:r>
              <a:rPr sz="3200" spc="-25" dirty="0">
                <a:latin typeface="Times New Roman"/>
                <a:cs typeface="Times New Roman"/>
              </a:rPr>
              <a:t>t</a:t>
            </a:r>
            <a:r>
              <a:rPr sz="3200" spc="-60" dirty="0">
                <a:latin typeface="Times New Roman"/>
                <a:cs typeface="Times New Roman"/>
              </a:rPr>
              <a:t>e</a:t>
            </a:r>
            <a:r>
              <a:rPr sz="3200" spc="-105" dirty="0">
                <a:latin typeface="Times New Roman"/>
                <a:cs typeface="Times New Roman"/>
              </a:rPr>
              <a:t>d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2222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6395" algn="l"/>
              </a:tabLst>
            </a:pPr>
            <a:r>
              <a:rPr sz="2000" dirty="0"/>
              <a:t>	</a:t>
            </a:r>
            <a:r>
              <a:rPr sz="3200" spc="-140" dirty="0">
                <a:latin typeface="Times New Roman"/>
                <a:cs typeface="Times New Roman"/>
              </a:rPr>
              <a:t>For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example,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when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click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on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button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or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select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item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r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-160" dirty="0">
                <a:latin typeface="Times New Roman"/>
                <a:cs typeface="Times New Roman"/>
              </a:rPr>
              <a:t>m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a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40" dirty="0">
                <a:latin typeface="Times New Roman"/>
                <a:cs typeface="Times New Roman"/>
              </a:rPr>
              <a:t>li</a:t>
            </a:r>
            <a:r>
              <a:rPr sz="3200" spc="-180" dirty="0">
                <a:latin typeface="Times New Roman"/>
                <a:cs typeface="Times New Roman"/>
              </a:rPr>
              <a:t>s</a:t>
            </a:r>
            <a:r>
              <a:rPr sz="3200" spc="35" dirty="0">
                <a:latin typeface="Times New Roman"/>
                <a:cs typeface="Times New Roman"/>
              </a:rPr>
              <a:t>t</a:t>
            </a:r>
            <a:r>
              <a:rPr sz="3200" spc="12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23850" algn="l"/>
                <a:tab pos="1240790" algn="l"/>
                <a:tab pos="1793239" algn="l"/>
                <a:tab pos="2823845" algn="l"/>
                <a:tab pos="3653154" algn="l"/>
                <a:tab pos="4064635" algn="l"/>
                <a:tab pos="5113020" algn="l"/>
                <a:tab pos="6457950" algn="l"/>
              </a:tabLst>
            </a:pPr>
            <a:r>
              <a:rPr sz="2000" dirty="0"/>
              <a:t>	</a:t>
            </a:r>
            <a:r>
              <a:rPr sz="3200" spc="-145" dirty="0">
                <a:latin typeface="Times New Roman"/>
                <a:cs typeface="Times New Roman"/>
              </a:rPr>
              <a:t>Th</a:t>
            </a:r>
            <a:r>
              <a:rPr sz="3200" spc="-135" dirty="0">
                <a:latin typeface="Times New Roman"/>
                <a:cs typeface="Times New Roman"/>
              </a:rPr>
              <a:t>e</a:t>
            </a:r>
            <a:r>
              <a:rPr sz="3200" spc="-5" dirty="0">
                <a:latin typeface="Times New Roman"/>
                <a:cs typeface="Times New Roman"/>
              </a:rPr>
              <a:t>r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10" dirty="0">
                <a:latin typeface="Times New Roman"/>
                <a:cs typeface="Times New Roman"/>
              </a:rPr>
              <a:t>a</a:t>
            </a:r>
            <a:r>
              <a:rPr sz="3200" spc="-105" dirty="0">
                <a:latin typeface="Times New Roman"/>
                <a:cs typeface="Times New Roman"/>
              </a:rPr>
              <a:t>re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165" dirty="0">
                <a:latin typeface="Times New Roman"/>
                <a:cs typeface="Times New Roman"/>
              </a:rPr>
              <a:t>e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4" dirty="0">
                <a:latin typeface="Times New Roman"/>
                <a:cs typeface="Times New Roman"/>
              </a:rPr>
              <a:t>ra</a:t>
            </a:r>
            <a:r>
              <a:rPr sz="3200" spc="-80" dirty="0">
                <a:latin typeface="Times New Roman"/>
                <a:cs typeface="Times New Roman"/>
              </a:rPr>
              <a:t>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lang="en-US" sz="320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ty</a:t>
            </a:r>
            <a:r>
              <a:rPr sz="3200" spc="-114" dirty="0">
                <a:latin typeface="Times New Roman"/>
                <a:cs typeface="Times New Roman"/>
              </a:rPr>
              <a:t>p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215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9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65" dirty="0">
                <a:latin typeface="Times New Roman"/>
                <a:cs typeface="Times New Roman"/>
              </a:rPr>
              <a:t>e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20" dirty="0">
                <a:latin typeface="Times New Roman"/>
                <a:cs typeface="Times New Roman"/>
              </a:rPr>
              <a:t>ts,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cl</a:t>
            </a:r>
            <a:r>
              <a:rPr sz="3200" spc="-155" dirty="0">
                <a:latin typeface="Times New Roman"/>
                <a:cs typeface="Times New Roman"/>
              </a:rPr>
              <a:t>u</a:t>
            </a:r>
            <a:r>
              <a:rPr sz="3200" spc="-130" dirty="0">
                <a:latin typeface="Times New Roman"/>
                <a:cs typeface="Times New Roman"/>
              </a:rPr>
              <a:t>d</a:t>
            </a:r>
            <a:r>
              <a:rPr sz="3200" spc="-160" dirty="0">
                <a:latin typeface="Times New Roman"/>
                <a:cs typeface="Times New Roman"/>
              </a:rPr>
              <a:t>ing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350" dirty="0">
                <a:latin typeface="Times New Roman"/>
                <a:cs typeface="Times New Roman"/>
              </a:rPr>
              <a:t>A</a:t>
            </a:r>
            <a:r>
              <a:rPr sz="3200" spc="-75" dirty="0">
                <a:latin typeface="Times New Roman"/>
                <a:cs typeface="Times New Roman"/>
              </a:rPr>
              <a:t>c</a:t>
            </a:r>
            <a:r>
              <a:rPr sz="3200" spc="-80" dirty="0">
                <a:latin typeface="Times New Roman"/>
                <a:cs typeface="Times New Roman"/>
              </a:rPr>
              <a:t>t</a:t>
            </a:r>
            <a:r>
              <a:rPr sz="3200" spc="-90" dirty="0">
                <a:latin typeface="Times New Roman"/>
                <a:cs typeface="Times New Roman"/>
              </a:rPr>
              <a:t>i</a:t>
            </a:r>
            <a:r>
              <a:rPr sz="3200" spc="-15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n</a:t>
            </a:r>
            <a:r>
              <a:rPr sz="3200" spc="-300" dirty="0">
                <a:latin typeface="Times New Roman"/>
                <a:cs typeface="Times New Roman"/>
              </a:rPr>
              <a:t>E</a:t>
            </a:r>
            <a:r>
              <a:rPr sz="3200" spc="-275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75" dirty="0">
                <a:latin typeface="Times New Roman"/>
                <a:cs typeface="Times New Roman"/>
              </a:rPr>
              <a:t>t,  </a:t>
            </a:r>
            <a:r>
              <a:rPr sz="3200" spc="-490" dirty="0">
                <a:latin typeface="Times New Roman"/>
                <a:cs typeface="Times New Roman"/>
              </a:rPr>
              <a:t>T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x</a:t>
            </a:r>
            <a:r>
              <a:rPr sz="3200" spc="-150" dirty="0">
                <a:latin typeface="Times New Roman"/>
                <a:cs typeface="Times New Roman"/>
              </a:rPr>
              <a:t>tE</a:t>
            </a:r>
            <a:r>
              <a:rPr sz="3200" spc="-210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80" dirty="0">
                <a:latin typeface="Times New Roman"/>
                <a:cs typeface="Times New Roman"/>
              </a:rPr>
              <a:t>t,</a:t>
            </a:r>
            <a:r>
              <a:rPr sz="3200" spc="-250" dirty="0">
                <a:latin typeface="Times New Roman"/>
                <a:cs typeface="Times New Roman"/>
              </a:rPr>
              <a:t> </a:t>
            </a:r>
            <a:r>
              <a:rPr sz="3200" spc="-340" dirty="0">
                <a:latin typeface="Times New Roman"/>
                <a:cs typeface="Times New Roman"/>
              </a:rPr>
              <a:t>F</a:t>
            </a:r>
            <a:r>
              <a:rPr sz="3200" spc="-110" dirty="0">
                <a:latin typeface="Times New Roman"/>
                <a:cs typeface="Times New Roman"/>
              </a:rPr>
              <a:t>o</a:t>
            </a:r>
            <a:r>
              <a:rPr sz="3200" spc="-130" dirty="0">
                <a:latin typeface="Times New Roman"/>
                <a:cs typeface="Times New Roman"/>
              </a:rPr>
              <a:t>c</a:t>
            </a:r>
            <a:r>
              <a:rPr sz="3200" spc="-145" dirty="0">
                <a:latin typeface="Times New Roman"/>
                <a:cs typeface="Times New Roman"/>
              </a:rPr>
              <a:t>u</a:t>
            </a:r>
            <a:r>
              <a:rPr sz="3200" spc="-210" dirty="0">
                <a:latin typeface="Times New Roman"/>
                <a:cs typeface="Times New Roman"/>
              </a:rPr>
              <a:t>s</a:t>
            </a:r>
            <a:r>
              <a:rPr sz="3200" spc="-280" dirty="0">
                <a:latin typeface="Times New Roman"/>
                <a:cs typeface="Times New Roman"/>
              </a:rPr>
              <a:t>E</a:t>
            </a:r>
            <a:r>
              <a:rPr sz="3200" spc="-290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80" dirty="0">
                <a:latin typeface="Times New Roman"/>
                <a:cs typeface="Times New Roman"/>
              </a:rPr>
              <a:t>t,</a:t>
            </a:r>
            <a:r>
              <a:rPr sz="3200" spc="-270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a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55" dirty="0">
                <a:latin typeface="Times New Roman"/>
                <a:cs typeface="Times New Roman"/>
              </a:rPr>
              <a:t>C</a:t>
            </a:r>
            <a:r>
              <a:rPr sz="3200" spc="-105" dirty="0">
                <a:latin typeface="Times New Roman"/>
                <a:cs typeface="Times New Roman"/>
              </a:rPr>
              <a:t>o</a:t>
            </a:r>
            <a:r>
              <a:rPr sz="3200" spc="-145" dirty="0">
                <a:latin typeface="Times New Roman"/>
                <a:cs typeface="Times New Roman"/>
              </a:rPr>
              <a:t>mp</a:t>
            </a:r>
            <a:r>
              <a:rPr sz="3200" spc="-100" dirty="0">
                <a:latin typeface="Times New Roman"/>
                <a:cs typeface="Times New Roman"/>
              </a:rPr>
              <a:t>o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-150" dirty="0">
                <a:latin typeface="Times New Roman"/>
                <a:cs typeface="Times New Roman"/>
              </a:rPr>
              <a:t>tE</a:t>
            </a:r>
            <a:r>
              <a:rPr sz="3200" spc="-210" dirty="0">
                <a:latin typeface="Times New Roman"/>
                <a:cs typeface="Times New Roman"/>
              </a:rPr>
              <a:t>v</a:t>
            </a:r>
            <a:r>
              <a:rPr sz="3200" spc="-120" dirty="0">
                <a:latin typeface="Times New Roman"/>
                <a:cs typeface="Times New Roman"/>
              </a:rPr>
              <a:t>e</a:t>
            </a:r>
            <a:r>
              <a:rPr sz="3200" spc="-110" dirty="0">
                <a:latin typeface="Times New Roman"/>
                <a:cs typeface="Times New Roman"/>
              </a:rPr>
              <a:t>n</a:t>
            </a:r>
            <a:r>
              <a:rPr sz="3200" spc="50" dirty="0">
                <a:latin typeface="Times New Roman"/>
                <a:cs typeface="Times New Roman"/>
              </a:rPr>
              <a:t>t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365760" indent="-35369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66395" algn="l"/>
              </a:tabLst>
            </a:pPr>
            <a:r>
              <a:rPr sz="3200" spc="-195" dirty="0">
                <a:latin typeface="Times New Roman"/>
                <a:cs typeface="Times New Roman"/>
              </a:rPr>
              <a:t>Each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of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them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75" dirty="0">
                <a:latin typeface="Times New Roman"/>
                <a:cs typeface="Times New Roman"/>
              </a:rPr>
              <a:t>is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created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under </a:t>
            </a:r>
            <a:r>
              <a:rPr sz="3200" spc="-155" dirty="0">
                <a:latin typeface="Times New Roman"/>
                <a:cs typeface="Times New Roman"/>
              </a:rPr>
              <a:t>specific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conditions.</a:t>
            </a:r>
            <a:endParaRPr sz="3200" dirty="0">
              <a:latin typeface="Times New Roman"/>
              <a:cs typeface="Times New Roman"/>
            </a:endParaRPr>
          </a:p>
          <a:p>
            <a:pPr marL="287020" marR="2349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339090" algn="l"/>
              </a:tabLst>
            </a:pPr>
            <a:r>
              <a:rPr sz="2000" dirty="0"/>
              <a:t>	</a:t>
            </a:r>
            <a:r>
              <a:rPr sz="3200" spc="-229" dirty="0">
                <a:latin typeface="Times New Roman"/>
                <a:cs typeface="Times New Roman"/>
              </a:rPr>
              <a:t>An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event</a:t>
            </a:r>
            <a:r>
              <a:rPr sz="3200" spc="28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object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holds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information</a:t>
            </a:r>
            <a:r>
              <a:rPr sz="3200" spc="28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about</a:t>
            </a:r>
            <a:r>
              <a:rPr sz="3200" spc="285" dirty="0">
                <a:latin typeface="Times New Roman"/>
                <a:cs typeface="Times New Roman"/>
              </a:rPr>
              <a:t> </a:t>
            </a:r>
            <a:r>
              <a:rPr sz="3200" spc="-165" dirty="0">
                <a:latin typeface="Times New Roman"/>
                <a:cs typeface="Times New Roman"/>
              </a:rPr>
              <a:t>an</a:t>
            </a:r>
            <a:r>
              <a:rPr sz="3200" spc="31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event</a:t>
            </a:r>
            <a:r>
              <a:rPr sz="3200" spc="31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that</a:t>
            </a:r>
            <a:r>
              <a:rPr sz="3200" spc="300" dirty="0">
                <a:latin typeface="Times New Roman"/>
                <a:cs typeface="Times New Roman"/>
              </a:rPr>
              <a:t> </a:t>
            </a:r>
            <a:r>
              <a:rPr sz="3200" spc="-210" dirty="0">
                <a:latin typeface="Times New Roman"/>
                <a:cs typeface="Times New Roman"/>
              </a:rPr>
              <a:t>has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occurred.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3540" y="158374"/>
            <a:ext cx="6550660" cy="60138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2700" marR="3877945">
              <a:lnSpc>
                <a:spcPct val="123800"/>
              </a:lnSpc>
              <a:spcBef>
                <a:spcPts val="95"/>
              </a:spcBef>
            </a:pPr>
            <a:r>
              <a:rPr sz="2100" b="1" spc="-50" dirty="0">
                <a:latin typeface="Times New Roman"/>
                <a:cs typeface="Times New Roman"/>
              </a:rPr>
              <a:t>import </a:t>
            </a:r>
            <a:r>
              <a:rPr sz="2100" b="1" spc="-80" dirty="0">
                <a:latin typeface="Times New Roman"/>
                <a:cs typeface="Times New Roman"/>
              </a:rPr>
              <a:t>java.awt.*; </a:t>
            </a:r>
            <a:r>
              <a:rPr sz="2100" b="1" spc="-75" dirty="0">
                <a:latin typeface="Times New Roman"/>
                <a:cs typeface="Times New Roman"/>
              </a:rPr>
              <a:t> </a:t>
            </a:r>
            <a:r>
              <a:rPr sz="2100" b="1" spc="-50" dirty="0">
                <a:latin typeface="Times New Roman"/>
                <a:cs typeface="Times New Roman"/>
              </a:rPr>
              <a:t>import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spc="-110" dirty="0">
                <a:latin typeface="Times New Roman"/>
                <a:cs typeface="Times New Roman"/>
              </a:rPr>
              <a:t>javax.swing.*; </a:t>
            </a:r>
            <a:r>
              <a:rPr sz="2100" b="1" spc="-105" dirty="0">
                <a:latin typeface="Times New Roman"/>
                <a:cs typeface="Times New Roman"/>
              </a:rPr>
              <a:t> im</a:t>
            </a:r>
            <a:r>
              <a:rPr sz="2100" b="1" spc="-114" dirty="0">
                <a:latin typeface="Times New Roman"/>
                <a:cs typeface="Times New Roman"/>
              </a:rPr>
              <a:t>p</a:t>
            </a:r>
            <a:r>
              <a:rPr sz="2100" b="1" spc="-35" dirty="0">
                <a:latin typeface="Times New Roman"/>
                <a:cs typeface="Times New Roman"/>
              </a:rPr>
              <a:t>o</a:t>
            </a:r>
            <a:r>
              <a:rPr sz="2100" b="1" spc="35" dirty="0">
                <a:latin typeface="Times New Roman"/>
                <a:cs typeface="Times New Roman"/>
              </a:rPr>
              <a:t>r</a:t>
            </a:r>
            <a:r>
              <a:rPr sz="2100" b="1" spc="30" dirty="0">
                <a:latin typeface="Times New Roman"/>
                <a:cs typeface="Times New Roman"/>
              </a:rPr>
              <a:t>t</a:t>
            </a:r>
            <a:r>
              <a:rPr sz="2100" b="1" spc="-40" dirty="0">
                <a:latin typeface="Times New Roman"/>
                <a:cs typeface="Times New Roman"/>
              </a:rPr>
              <a:t> </a:t>
            </a:r>
            <a:r>
              <a:rPr sz="2100" b="1" spc="-105" dirty="0">
                <a:latin typeface="Times New Roman"/>
                <a:cs typeface="Times New Roman"/>
              </a:rPr>
              <a:t>j</a:t>
            </a:r>
            <a:r>
              <a:rPr sz="2100" b="1" spc="-240" dirty="0">
                <a:latin typeface="Times New Roman"/>
                <a:cs typeface="Times New Roman"/>
              </a:rPr>
              <a:t>a</a:t>
            </a:r>
            <a:r>
              <a:rPr sz="2100" b="1" spc="-185" dirty="0">
                <a:latin typeface="Times New Roman"/>
                <a:cs typeface="Times New Roman"/>
              </a:rPr>
              <a:t>v</a:t>
            </a:r>
            <a:r>
              <a:rPr sz="2100" b="1" spc="-50" dirty="0">
                <a:latin typeface="Times New Roman"/>
                <a:cs typeface="Times New Roman"/>
              </a:rPr>
              <a:t>a</a:t>
            </a:r>
            <a:r>
              <a:rPr sz="2100" b="1" spc="-20" dirty="0">
                <a:latin typeface="Times New Roman"/>
                <a:cs typeface="Times New Roman"/>
              </a:rPr>
              <a:t>.</a:t>
            </a:r>
            <a:r>
              <a:rPr sz="2100" b="1" spc="-240" dirty="0">
                <a:latin typeface="Times New Roman"/>
                <a:cs typeface="Times New Roman"/>
              </a:rPr>
              <a:t>a</a:t>
            </a:r>
            <a:r>
              <a:rPr sz="2100" b="1" spc="-105" dirty="0">
                <a:latin typeface="Times New Roman"/>
                <a:cs typeface="Times New Roman"/>
              </a:rPr>
              <a:t>w</a:t>
            </a:r>
            <a:r>
              <a:rPr sz="2100" b="1" spc="35" dirty="0">
                <a:latin typeface="Times New Roman"/>
                <a:cs typeface="Times New Roman"/>
              </a:rPr>
              <a:t>t</a:t>
            </a:r>
            <a:r>
              <a:rPr sz="2100" b="1" spc="75" dirty="0">
                <a:latin typeface="Times New Roman"/>
                <a:cs typeface="Times New Roman"/>
              </a:rPr>
              <a:t>.</a:t>
            </a:r>
            <a:r>
              <a:rPr sz="2100" b="1" spc="-120" dirty="0">
                <a:latin typeface="Times New Roman"/>
                <a:cs typeface="Times New Roman"/>
              </a:rPr>
              <a:t>e</a:t>
            </a:r>
            <a:r>
              <a:rPr sz="2100" b="1" spc="-210" dirty="0">
                <a:latin typeface="Times New Roman"/>
                <a:cs typeface="Times New Roman"/>
              </a:rPr>
              <a:t>v</a:t>
            </a:r>
            <a:r>
              <a:rPr sz="2100" b="1" spc="-95" dirty="0">
                <a:latin typeface="Times New Roman"/>
                <a:cs typeface="Times New Roman"/>
              </a:rPr>
              <a:t>e</a:t>
            </a:r>
            <a:r>
              <a:rPr sz="2100" b="1" spc="15" dirty="0">
                <a:latin typeface="Times New Roman"/>
                <a:cs typeface="Times New Roman"/>
              </a:rPr>
              <a:t>nt</a:t>
            </a:r>
            <a:r>
              <a:rPr sz="2100" b="1" spc="-5" dirty="0">
                <a:latin typeface="Times New Roman"/>
                <a:cs typeface="Times New Roman"/>
              </a:rPr>
              <a:t>.</a:t>
            </a:r>
            <a:r>
              <a:rPr sz="2100" b="1" spc="-25" dirty="0">
                <a:latin typeface="Times New Roman"/>
                <a:cs typeface="Times New Roman"/>
              </a:rPr>
              <a:t>*;</a:t>
            </a:r>
            <a:endParaRPr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b="1" spc="-105" dirty="0">
                <a:latin typeface="Times New Roman"/>
                <a:cs typeface="Times New Roman"/>
              </a:rPr>
              <a:t>public</a:t>
            </a:r>
            <a:r>
              <a:rPr sz="2100" b="1" spc="-70" dirty="0">
                <a:latin typeface="Times New Roman"/>
                <a:cs typeface="Times New Roman"/>
              </a:rPr>
              <a:t> </a:t>
            </a:r>
            <a:r>
              <a:rPr sz="2100" b="1" spc="-135" dirty="0">
                <a:latin typeface="Times New Roman"/>
                <a:cs typeface="Times New Roman"/>
              </a:rPr>
              <a:t>class</a:t>
            </a:r>
            <a:r>
              <a:rPr sz="2100" b="1" spc="-55" dirty="0">
                <a:latin typeface="Times New Roman"/>
                <a:cs typeface="Times New Roman"/>
              </a:rPr>
              <a:t> </a:t>
            </a:r>
            <a:r>
              <a:rPr sz="2100" b="1" spc="-114" dirty="0">
                <a:latin typeface="Times New Roman"/>
                <a:cs typeface="Times New Roman"/>
              </a:rPr>
              <a:t>Swingdemoevent</a:t>
            </a:r>
            <a:r>
              <a:rPr sz="2100" b="1" spc="-135" dirty="0">
                <a:latin typeface="Times New Roman"/>
                <a:cs typeface="Times New Roman"/>
              </a:rPr>
              <a:t> </a:t>
            </a:r>
            <a:r>
              <a:rPr sz="2100" b="1" spc="-90" dirty="0">
                <a:latin typeface="Times New Roman"/>
                <a:cs typeface="Times New Roman"/>
              </a:rPr>
              <a:t>implements</a:t>
            </a:r>
            <a:r>
              <a:rPr sz="2100" b="1" spc="-240" dirty="0">
                <a:latin typeface="Times New Roman"/>
                <a:cs typeface="Times New Roman"/>
              </a:rPr>
              <a:t> </a:t>
            </a:r>
            <a:r>
              <a:rPr sz="2100" b="1" spc="-90" dirty="0">
                <a:latin typeface="Times New Roman"/>
                <a:cs typeface="Times New Roman"/>
              </a:rPr>
              <a:t>ActionListener</a:t>
            </a:r>
            <a:r>
              <a:rPr sz="2100" b="1" spc="-114" dirty="0">
                <a:latin typeface="Times New Roman"/>
                <a:cs typeface="Times New Roman"/>
              </a:rPr>
              <a:t> </a:t>
            </a:r>
            <a:r>
              <a:rPr sz="2100" b="1" spc="5" dirty="0">
                <a:latin typeface="Times New Roman"/>
                <a:cs typeface="Times New Roman"/>
              </a:rPr>
              <a:t>{</a:t>
            </a:r>
            <a:endParaRPr sz="2100" b="1" dirty="0">
              <a:latin typeface="Times New Roman"/>
              <a:cs typeface="Times New Roman"/>
            </a:endParaRPr>
          </a:p>
          <a:p>
            <a:pPr marL="12700" marR="3018155">
              <a:lnSpc>
                <a:spcPct val="123800"/>
              </a:lnSpc>
              <a:tabLst>
                <a:tab pos="2718435" algn="l"/>
              </a:tabLst>
            </a:pPr>
            <a:r>
              <a:rPr sz="2100" b="1" spc="-145" dirty="0">
                <a:latin typeface="Times New Roman"/>
                <a:cs typeface="Times New Roman"/>
              </a:rPr>
              <a:t>J</a:t>
            </a:r>
            <a:r>
              <a:rPr sz="2100" b="1" spc="-350" dirty="0">
                <a:latin typeface="Times New Roman"/>
                <a:cs typeface="Times New Roman"/>
              </a:rPr>
              <a:t>T</a:t>
            </a:r>
            <a:r>
              <a:rPr sz="2100" b="1" spc="-75" dirty="0">
                <a:latin typeface="Times New Roman"/>
                <a:cs typeface="Times New Roman"/>
              </a:rPr>
              <a:t>e</a:t>
            </a:r>
            <a:r>
              <a:rPr sz="2100" b="1" spc="-85" dirty="0">
                <a:latin typeface="Times New Roman"/>
                <a:cs typeface="Times New Roman"/>
              </a:rPr>
              <a:t>xtFi</a:t>
            </a:r>
            <a:r>
              <a:rPr sz="2100" b="1" spc="-90" dirty="0">
                <a:latin typeface="Times New Roman"/>
                <a:cs typeface="Times New Roman"/>
              </a:rPr>
              <a:t>e</a:t>
            </a:r>
            <a:r>
              <a:rPr sz="2100" b="1" spc="-65" dirty="0">
                <a:latin typeface="Times New Roman"/>
                <a:cs typeface="Times New Roman"/>
              </a:rPr>
              <a:t>l</a:t>
            </a:r>
            <a:r>
              <a:rPr sz="2100" b="1" spc="-105" dirty="0">
                <a:latin typeface="Times New Roman"/>
                <a:cs typeface="Times New Roman"/>
              </a:rPr>
              <a:t>d</a:t>
            </a:r>
            <a:r>
              <a:rPr sz="2100" b="1" spc="-125" dirty="0">
                <a:latin typeface="Times New Roman"/>
                <a:cs typeface="Times New Roman"/>
              </a:rPr>
              <a:t> </a:t>
            </a:r>
            <a:r>
              <a:rPr sz="2100" b="1" spc="35" dirty="0">
                <a:latin typeface="Times New Roman"/>
                <a:cs typeface="Times New Roman"/>
              </a:rPr>
              <a:t>t</a:t>
            </a:r>
            <a:r>
              <a:rPr sz="2100" b="1" spc="225" dirty="0">
                <a:latin typeface="Times New Roman"/>
                <a:cs typeface="Times New Roman"/>
              </a:rPr>
              <a:t>=</a:t>
            </a:r>
            <a:r>
              <a:rPr sz="2100" b="1" spc="-85" dirty="0">
                <a:latin typeface="Times New Roman"/>
                <a:cs typeface="Times New Roman"/>
              </a:rPr>
              <a:t>n</a:t>
            </a:r>
            <a:r>
              <a:rPr sz="2100" b="1" spc="-95" dirty="0">
                <a:latin typeface="Times New Roman"/>
                <a:cs typeface="Times New Roman"/>
              </a:rPr>
              <a:t>e</a:t>
            </a:r>
            <a:r>
              <a:rPr sz="2100" b="1" spc="-110" dirty="0">
                <a:latin typeface="Times New Roman"/>
                <a:cs typeface="Times New Roman"/>
              </a:rPr>
              <a:t>w </a:t>
            </a:r>
            <a:r>
              <a:rPr sz="2100" b="1" spc="-145" dirty="0">
                <a:latin typeface="Times New Roman"/>
                <a:cs typeface="Times New Roman"/>
              </a:rPr>
              <a:t>J</a:t>
            </a:r>
            <a:r>
              <a:rPr sz="2100" b="1" spc="-350" dirty="0">
                <a:latin typeface="Times New Roman"/>
                <a:cs typeface="Times New Roman"/>
              </a:rPr>
              <a:t>T</a:t>
            </a:r>
            <a:r>
              <a:rPr sz="2100" b="1" spc="-75" dirty="0">
                <a:latin typeface="Times New Roman"/>
                <a:cs typeface="Times New Roman"/>
              </a:rPr>
              <a:t>e</a:t>
            </a:r>
            <a:r>
              <a:rPr sz="2100" b="1" spc="-85" dirty="0">
                <a:latin typeface="Times New Roman"/>
                <a:cs typeface="Times New Roman"/>
              </a:rPr>
              <a:t>xtFi</a:t>
            </a:r>
            <a:r>
              <a:rPr sz="2100" b="1" spc="-90" dirty="0">
                <a:latin typeface="Times New Roman"/>
                <a:cs typeface="Times New Roman"/>
              </a:rPr>
              <a:t>e</a:t>
            </a:r>
            <a:r>
              <a:rPr sz="2100" b="1" spc="-75" dirty="0">
                <a:latin typeface="Times New Roman"/>
                <a:cs typeface="Times New Roman"/>
              </a:rPr>
              <a:t>ld</a:t>
            </a:r>
            <a:r>
              <a:rPr sz="2100" b="1" spc="-55" dirty="0">
                <a:latin typeface="Times New Roman"/>
                <a:cs typeface="Times New Roman"/>
              </a:rPr>
              <a:t>(</a:t>
            </a:r>
            <a:r>
              <a:rPr sz="2100" b="1" spc="-85" dirty="0">
                <a:latin typeface="Times New Roman"/>
                <a:cs typeface="Times New Roman"/>
              </a:rPr>
              <a:t>2</a:t>
            </a:r>
            <a:r>
              <a:rPr sz="2100" b="1" spc="-100" dirty="0">
                <a:latin typeface="Times New Roman"/>
                <a:cs typeface="Times New Roman"/>
              </a:rPr>
              <a:t>0</a:t>
            </a:r>
            <a:r>
              <a:rPr sz="2100" b="1" spc="-30" dirty="0">
                <a:latin typeface="Times New Roman"/>
                <a:cs typeface="Times New Roman"/>
              </a:rPr>
              <a:t>)</a:t>
            </a:r>
            <a:r>
              <a:rPr sz="2100" b="1" spc="30" dirty="0">
                <a:latin typeface="Times New Roman"/>
                <a:cs typeface="Times New Roman"/>
              </a:rPr>
              <a:t>;  </a:t>
            </a:r>
            <a:r>
              <a:rPr sz="2100" b="1" spc="-145" dirty="0">
                <a:latin typeface="Times New Roman"/>
                <a:cs typeface="Times New Roman"/>
              </a:rPr>
              <a:t>J</a:t>
            </a:r>
            <a:r>
              <a:rPr sz="2100" b="1" spc="-155" dirty="0">
                <a:latin typeface="Times New Roman"/>
                <a:cs typeface="Times New Roman"/>
              </a:rPr>
              <a:t>Bu</a:t>
            </a:r>
            <a:r>
              <a:rPr sz="2100" b="1" spc="-70" dirty="0">
                <a:latin typeface="Times New Roman"/>
                <a:cs typeface="Times New Roman"/>
              </a:rPr>
              <a:t>t</a:t>
            </a:r>
            <a:r>
              <a:rPr sz="2100" b="1" spc="35" dirty="0">
                <a:latin typeface="Times New Roman"/>
                <a:cs typeface="Times New Roman"/>
              </a:rPr>
              <a:t>t</a:t>
            </a:r>
            <a:r>
              <a:rPr sz="2100" b="1" spc="-85" dirty="0">
                <a:latin typeface="Times New Roman"/>
                <a:cs typeface="Times New Roman"/>
              </a:rPr>
              <a:t>on</a:t>
            </a:r>
            <a:r>
              <a:rPr sz="2100" b="1" spc="-80" dirty="0">
                <a:latin typeface="Times New Roman"/>
                <a:cs typeface="Times New Roman"/>
              </a:rPr>
              <a:t> </a:t>
            </a:r>
            <a:r>
              <a:rPr sz="2100" b="1" spc="-114" dirty="0">
                <a:latin typeface="Times New Roman"/>
                <a:cs typeface="Times New Roman"/>
              </a:rPr>
              <a:t>b</a:t>
            </a:r>
            <a:r>
              <a:rPr sz="2100" b="1" spc="225" dirty="0">
                <a:latin typeface="Times New Roman"/>
                <a:cs typeface="Times New Roman"/>
              </a:rPr>
              <a:t>=</a:t>
            </a:r>
            <a:r>
              <a:rPr sz="2100" b="1" spc="-85" dirty="0">
                <a:latin typeface="Times New Roman"/>
                <a:cs typeface="Times New Roman"/>
              </a:rPr>
              <a:t>n</a:t>
            </a:r>
            <a:r>
              <a:rPr sz="2100" b="1" spc="-95" dirty="0">
                <a:latin typeface="Times New Roman"/>
                <a:cs typeface="Times New Roman"/>
              </a:rPr>
              <a:t>e</a:t>
            </a:r>
            <a:r>
              <a:rPr sz="2100" b="1" spc="-110" dirty="0">
                <a:latin typeface="Times New Roman"/>
                <a:cs typeface="Times New Roman"/>
              </a:rPr>
              <a:t>w</a:t>
            </a:r>
            <a:r>
              <a:rPr sz="2100" b="1" spc="-85" dirty="0">
                <a:latin typeface="Times New Roman"/>
                <a:cs typeface="Times New Roman"/>
              </a:rPr>
              <a:t> </a:t>
            </a:r>
            <a:r>
              <a:rPr sz="2100" b="1" spc="-145" dirty="0">
                <a:latin typeface="Times New Roman"/>
                <a:cs typeface="Times New Roman"/>
              </a:rPr>
              <a:t>J</a:t>
            </a:r>
            <a:r>
              <a:rPr sz="2100" b="1" spc="-155" dirty="0">
                <a:latin typeface="Times New Roman"/>
                <a:cs typeface="Times New Roman"/>
              </a:rPr>
              <a:t>Bu</a:t>
            </a:r>
            <a:r>
              <a:rPr sz="2100" b="1" spc="-70" dirty="0">
                <a:latin typeface="Times New Roman"/>
                <a:cs typeface="Times New Roman"/>
              </a:rPr>
              <a:t>t</a:t>
            </a:r>
            <a:r>
              <a:rPr sz="2100" b="1" spc="35" dirty="0">
                <a:latin typeface="Times New Roman"/>
                <a:cs typeface="Times New Roman"/>
              </a:rPr>
              <a:t>t</a:t>
            </a:r>
            <a:r>
              <a:rPr sz="2100" b="1" spc="-85" dirty="0">
                <a:latin typeface="Times New Roman"/>
                <a:cs typeface="Times New Roman"/>
              </a:rPr>
              <a:t>o</a:t>
            </a:r>
            <a:r>
              <a:rPr sz="2100" b="1" spc="-100" dirty="0">
                <a:latin typeface="Times New Roman"/>
                <a:cs typeface="Times New Roman"/>
              </a:rPr>
              <a:t>n</a:t>
            </a:r>
            <a:r>
              <a:rPr sz="2100" b="1" spc="-30" dirty="0">
                <a:latin typeface="Times New Roman"/>
                <a:cs typeface="Times New Roman"/>
              </a:rPr>
              <a:t>(</a:t>
            </a:r>
            <a:r>
              <a:rPr sz="2100" b="1" spc="-60" dirty="0">
                <a:latin typeface="Times New Roman"/>
                <a:cs typeface="Times New Roman"/>
              </a:rPr>
              <a:t>"OK</a:t>
            </a:r>
            <a:r>
              <a:rPr sz="2100" b="1" spc="-30" dirty="0">
                <a:latin typeface="Times New Roman"/>
                <a:cs typeface="Times New Roman"/>
              </a:rPr>
              <a:t>")</a:t>
            </a:r>
            <a:r>
              <a:rPr sz="2100" b="1" spc="30" dirty="0">
                <a:latin typeface="Times New Roman"/>
                <a:cs typeface="Times New Roman"/>
              </a:rPr>
              <a:t>;  </a:t>
            </a:r>
            <a:r>
              <a:rPr sz="2100" b="1" spc="-105" dirty="0">
                <a:latin typeface="Times New Roman"/>
                <a:cs typeface="Times New Roman"/>
              </a:rPr>
              <a:t>public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105" dirty="0" err="1">
                <a:latin typeface="Times New Roman"/>
                <a:cs typeface="Times New Roman"/>
              </a:rPr>
              <a:t>Swingdemoevent</a:t>
            </a:r>
            <a:r>
              <a:rPr sz="2100" b="1" spc="-105" dirty="0">
                <a:latin typeface="Times New Roman"/>
                <a:cs typeface="Times New Roman"/>
              </a:rPr>
              <a:t>()</a:t>
            </a:r>
            <a:r>
              <a:rPr lang="en-US" sz="2100" b="1" spc="-105" dirty="0">
                <a:latin typeface="Times New Roman"/>
                <a:cs typeface="Times New Roman"/>
              </a:rPr>
              <a:t>	</a:t>
            </a:r>
            <a:r>
              <a:rPr sz="2100" b="1" spc="5" dirty="0">
                <a:latin typeface="Times New Roman"/>
                <a:cs typeface="Times New Roman"/>
              </a:rPr>
              <a:t>{</a:t>
            </a:r>
            <a:endParaRPr sz="2100" b="1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605"/>
              </a:spcBef>
            </a:pPr>
            <a:r>
              <a:rPr sz="2100" b="1" spc="-150" dirty="0">
                <a:latin typeface="Times New Roman"/>
                <a:cs typeface="Times New Roman"/>
              </a:rPr>
              <a:t>J</a:t>
            </a:r>
            <a:r>
              <a:rPr sz="2100" b="1" spc="-215" dirty="0">
                <a:latin typeface="Times New Roman"/>
                <a:cs typeface="Times New Roman"/>
              </a:rPr>
              <a:t>F</a:t>
            </a:r>
            <a:r>
              <a:rPr sz="2100" b="1" spc="15" dirty="0">
                <a:latin typeface="Times New Roman"/>
                <a:cs typeface="Times New Roman"/>
              </a:rPr>
              <a:t>r</a:t>
            </a:r>
            <a:r>
              <a:rPr sz="2100" b="1" spc="-105" dirty="0">
                <a:latin typeface="Times New Roman"/>
                <a:cs typeface="Times New Roman"/>
              </a:rPr>
              <a:t>a</a:t>
            </a:r>
            <a:r>
              <a:rPr sz="2100" b="1" spc="-190" dirty="0">
                <a:latin typeface="Times New Roman"/>
                <a:cs typeface="Times New Roman"/>
              </a:rPr>
              <a:t>m</a:t>
            </a:r>
            <a:r>
              <a:rPr sz="2100" b="1" spc="-80" dirty="0">
                <a:latin typeface="Times New Roman"/>
                <a:cs typeface="Times New Roman"/>
              </a:rPr>
              <a:t>e</a:t>
            </a:r>
            <a:r>
              <a:rPr sz="2100" b="1" spc="-65" dirty="0">
                <a:latin typeface="Times New Roman"/>
                <a:cs typeface="Times New Roman"/>
              </a:rPr>
              <a:t> </a:t>
            </a:r>
            <a:r>
              <a:rPr sz="2100" b="1" spc="25" dirty="0">
                <a:latin typeface="Times New Roman"/>
                <a:cs typeface="Times New Roman"/>
              </a:rPr>
              <a:t>f</a:t>
            </a:r>
            <a:r>
              <a:rPr sz="2100" b="1" spc="50" dirty="0">
                <a:latin typeface="Times New Roman"/>
                <a:cs typeface="Times New Roman"/>
              </a:rPr>
              <a:t>=</a:t>
            </a:r>
            <a:r>
              <a:rPr sz="2100" b="1" spc="-95" dirty="0">
                <a:latin typeface="Times New Roman"/>
                <a:cs typeface="Times New Roman"/>
              </a:rPr>
              <a:t>n</a:t>
            </a:r>
            <a:r>
              <a:rPr sz="2100" b="1" spc="-100" dirty="0">
                <a:latin typeface="Times New Roman"/>
                <a:cs typeface="Times New Roman"/>
              </a:rPr>
              <a:t>e</a:t>
            </a:r>
            <a:r>
              <a:rPr sz="2100" b="1" spc="-110" dirty="0">
                <a:latin typeface="Times New Roman"/>
                <a:cs typeface="Times New Roman"/>
              </a:rPr>
              <a:t>w</a:t>
            </a:r>
            <a:r>
              <a:rPr sz="2100" b="1" spc="-90" dirty="0">
                <a:latin typeface="Times New Roman"/>
                <a:cs typeface="Times New Roman"/>
              </a:rPr>
              <a:t> </a:t>
            </a:r>
            <a:r>
              <a:rPr sz="2100" b="1" spc="-150" dirty="0">
                <a:latin typeface="Times New Roman"/>
                <a:cs typeface="Times New Roman"/>
              </a:rPr>
              <a:t>J</a:t>
            </a:r>
            <a:r>
              <a:rPr sz="2100" b="1" spc="-215" dirty="0">
                <a:latin typeface="Times New Roman"/>
                <a:cs typeface="Times New Roman"/>
              </a:rPr>
              <a:t>F</a:t>
            </a:r>
            <a:r>
              <a:rPr sz="2100" b="1" spc="15" dirty="0">
                <a:latin typeface="Times New Roman"/>
                <a:cs typeface="Times New Roman"/>
              </a:rPr>
              <a:t>r</a:t>
            </a:r>
            <a:r>
              <a:rPr sz="2100" b="1" spc="-105" dirty="0">
                <a:latin typeface="Times New Roman"/>
                <a:cs typeface="Times New Roman"/>
              </a:rPr>
              <a:t>a</a:t>
            </a:r>
            <a:r>
              <a:rPr sz="2100" b="1" spc="-190" dirty="0">
                <a:latin typeface="Times New Roman"/>
                <a:cs typeface="Times New Roman"/>
              </a:rPr>
              <a:t>m</a:t>
            </a:r>
            <a:r>
              <a:rPr sz="2100" b="1" spc="-80" dirty="0">
                <a:latin typeface="Times New Roman"/>
                <a:cs typeface="Times New Roman"/>
              </a:rPr>
              <a:t>e</a:t>
            </a:r>
            <a:r>
              <a:rPr sz="2100" b="1" spc="-35" dirty="0">
                <a:latin typeface="Times New Roman"/>
                <a:cs typeface="Times New Roman"/>
              </a:rPr>
              <a:t>()</a:t>
            </a:r>
            <a:r>
              <a:rPr sz="2100" b="1" spc="30" dirty="0">
                <a:latin typeface="Times New Roman"/>
                <a:cs typeface="Times New Roman"/>
              </a:rPr>
              <a:t>;</a:t>
            </a:r>
            <a:endParaRPr sz="2100" b="1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600"/>
              </a:spcBef>
            </a:pPr>
            <a:r>
              <a:rPr sz="2100" b="1" spc="-45" dirty="0">
                <a:latin typeface="Times New Roman"/>
                <a:cs typeface="Times New Roman"/>
              </a:rPr>
              <a:t>f.add(t);</a:t>
            </a:r>
            <a:endParaRPr sz="2100" b="1" dirty="0">
              <a:latin typeface="Times New Roman"/>
              <a:cs typeface="Times New Roman"/>
            </a:endParaRPr>
          </a:p>
          <a:p>
            <a:pPr marL="287020" marR="4141470">
              <a:lnSpc>
                <a:spcPct val="123900"/>
              </a:lnSpc>
            </a:pPr>
            <a:r>
              <a:rPr sz="2100" b="1" spc="-65" dirty="0">
                <a:latin typeface="Times New Roman"/>
                <a:cs typeface="Times New Roman"/>
              </a:rPr>
              <a:t>f.add(b); </a:t>
            </a:r>
            <a:r>
              <a:rPr sz="2100" b="1" spc="-60" dirty="0">
                <a:latin typeface="Times New Roman"/>
                <a:cs typeface="Times New Roman"/>
              </a:rPr>
              <a:t> </a:t>
            </a:r>
            <a:r>
              <a:rPr sz="2100" b="1" spc="-35" dirty="0">
                <a:latin typeface="Times New Roman"/>
                <a:cs typeface="Times New Roman"/>
              </a:rPr>
              <a:t>f</a:t>
            </a:r>
            <a:r>
              <a:rPr sz="2100" b="1" spc="-25" dirty="0">
                <a:latin typeface="Times New Roman"/>
                <a:cs typeface="Times New Roman"/>
              </a:rPr>
              <a:t>.</a:t>
            </a:r>
            <a:r>
              <a:rPr sz="2100" b="1" spc="-155" dirty="0">
                <a:latin typeface="Times New Roman"/>
                <a:cs typeface="Times New Roman"/>
              </a:rPr>
              <a:t>s</a:t>
            </a:r>
            <a:r>
              <a:rPr sz="2100" b="1" spc="-80" dirty="0">
                <a:latin typeface="Times New Roman"/>
                <a:cs typeface="Times New Roman"/>
              </a:rPr>
              <a:t>e</a:t>
            </a:r>
            <a:r>
              <a:rPr sz="2100" b="1" spc="30" dirty="0">
                <a:latin typeface="Times New Roman"/>
                <a:cs typeface="Times New Roman"/>
              </a:rPr>
              <a:t>t</a:t>
            </a:r>
            <a:r>
              <a:rPr sz="2100" b="1" spc="-290" dirty="0">
                <a:latin typeface="Times New Roman"/>
                <a:cs typeface="Times New Roman"/>
              </a:rPr>
              <a:t>S</a:t>
            </a:r>
            <a:r>
              <a:rPr sz="2100" b="1" spc="-105" dirty="0">
                <a:latin typeface="Times New Roman"/>
                <a:cs typeface="Times New Roman"/>
              </a:rPr>
              <a:t>i</a:t>
            </a:r>
            <a:r>
              <a:rPr sz="2100" b="1" spc="-175" dirty="0">
                <a:latin typeface="Times New Roman"/>
                <a:cs typeface="Times New Roman"/>
              </a:rPr>
              <a:t>z</a:t>
            </a:r>
            <a:r>
              <a:rPr sz="2100" b="1" spc="-100" dirty="0">
                <a:latin typeface="Times New Roman"/>
                <a:cs typeface="Times New Roman"/>
              </a:rPr>
              <a:t>e</a:t>
            </a:r>
            <a:r>
              <a:rPr sz="2100" b="1" spc="-35" dirty="0">
                <a:latin typeface="Times New Roman"/>
                <a:cs typeface="Times New Roman"/>
              </a:rPr>
              <a:t>(</a:t>
            </a:r>
            <a:r>
              <a:rPr sz="2100" b="1" spc="-95" dirty="0">
                <a:latin typeface="Times New Roman"/>
                <a:cs typeface="Times New Roman"/>
              </a:rPr>
              <a:t>300</a:t>
            </a:r>
            <a:r>
              <a:rPr sz="2100" b="1" spc="90" dirty="0">
                <a:latin typeface="Times New Roman"/>
                <a:cs typeface="Times New Roman"/>
              </a:rPr>
              <a:t>,</a:t>
            </a:r>
            <a:r>
              <a:rPr sz="2100" b="1" spc="-95" dirty="0">
                <a:latin typeface="Times New Roman"/>
                <a:cs typeface="Times New Roman"/>
              </a:rPr>
              <a:t>300</a:t>
            </a:r>
            <a:r>
              <a:rPr sz="2100" b="1" spc="-35" dirty="0">
                <a:latin typeface="Times New Roman"/>
                <a:cs typeface="Times New Roman"/>
              </a:rPr>
              <a:t>)</a:t>
            </a:r>
            <a:endParaRPr sz="2100" b="1" dirty="0">
              <a:latin typeface="Times New Roman"/>
              <a:cs typeface="Times New Roman"/>
            </a:endParaRPr>
          </a:p>
          <a:p>
            <a:pPr marL="287020" marR="2919730">
              <a:lnSpc>
                <a:spcPts val="3120"/>
              </a:lnSpc>
              <a:spcBef>
                <a:spcPts val="204"/>
              </a:spcBef>
            </a:pPr>
            <a:r>
              <a:rPr sz="2100" b="1" spc="-35" dirty="0">
                <a:latin typeface="Times New Roman"/>
                <a:cs typeface="Times New Roman"/>
              </a:rPr>
              <a:t>f</a:t>
            </a:r>
            <a:r>
              <a:rPr sz="2100" b="1" spc="-25" dirty="0">
                <a:latin typeface="Times New Roman"/>
                <a:cs typeface="Times New Roman"/>
              </a:rPr>
              <a:t>.</a:t>
            </a:r>
            <a:r>
              <a:rPr sz="2100" b="1" spc="-155" dirty="0">
                <a:latin typeface="Times New Roman"/>
                <a:cs typeface="Times New Roman"/>
              </a:rPr>
              <a:t>s</a:t>
            </a:r>
            <a:r>
              <a:rPr sz="2100" b="1" spc="-80" dirty="0">
                <a:latin typeface="Times New Roman"/>
                <a:cs typeface="Times New Roman"/>
              </a:rPr>
              <a:t>e</a:t>
            </a:r>
            <a:r>
              <a:rPr sz="2100" b="1" spc="30" dirty="0">
                <a:latin typeface="Times New Roman"/>
                <a:cs typeface="Times New Roman"/>
              </a:rPr>
              <a:t>t</a:t>
            </a:r>
            <a:r>
              <a:rPr sz="2100" b="1" spc="-225" dirty="0">
                <a:latin typeface="Times New Roman"/>
                <a:cs typeface="Times New Roman"/>
              </a:rPr>
              <a:t>L</a:t>
            </a:r>
            <a:r>
              <a:rPr sz="2100" b="1" spc="-240" dirty="0">
                <a:latin typeface="Times New Roman"/>
                <a:cs typeface="Times New Roman"/>
              </a:rPr>
              <a:t>a</a:t>
            </a:r>
            <a:r>
              <a:rPr sz="2100" b="1" spc="-190" dirty="0">
                <a:latin typeface="Times New Roman"/>
                <a:cs typeface="Times New Roman"/>
              </a:rPr>
              <a:t>y</a:t>
            </a:r>
            <a:r>
              <a:rPr sz="2100" b="1" spc="-95" dirty="0">
                <a:latin typeface="Times New Roman"/>
                <a:cs typeface="Times New Roman"/>
              </a:rPr>
              <a:t>ou</a:t>
            </a:r>
            <a:r>
              <a:rPr sz="2100" b="1" spc="10" dirty="0">
                <a:latin typeface="Times New Roman"/>
                <a:cs typeface="Times New Roman"/>
              </a:rPr>
              <a:t>t</a:t>
            </a:r>
            <a:r>
              <a:rPr sz="2100" b="1" spc="-35" dirty="0">
                <a:latin typeface="Times New Roman"/>
                <a:cs typeface="Times New Roman"/>
              </a:rPr>
              <a:t>(</a:t>
            </a:r>
            <a:r>
              <a:rPr sz="2100" b="1" spc="-95" dirty="0" err="1">
                <a:latin typeface="Times New Roman"/>
                <a:cs typeface="Times New Roman"/>
              </a:rPr>
              <a:t>n</a:t>
            </a:r>
            <a:r>
              <a:rPr sz="2100" b="1" spc="-125" dirty="0" err="1">
                <a:latin typeface="Times New Roman"/>
                <a:cs typeface="Times New Roman"/>
              </a:rPr>
              <a:t>e</a:t>
            </a:r>
            <a:r>
              <a:rPr sz="2100" b="1" spc="-110" dirty="0" err="1">
                <a:latin typeface="Times New Roman"/>
                <a:cs typeface="Times New Roman"/>
              </a:rPr>
              <a:t>w</a:t>
            </a:r>
            <a:r>
              <a:rPr sz="2100" b="1" spc="-215" dirty="0" err="1">
                <a:latin typeface="Times New Roman"/>
                <a:cs typeface="Times New Roman"/>
              </a:rPr>
              <a:t>F</a:t>
            </a:r>
            <a:r>
              <a:rPr sz="2100" b="1" spc="-65" dirty="0" err="1">
                <a:latin typeface="Times New Roman"/>
                <a:cs typeface="Times New Roman"/>
              </a:rPr>
              <a:t>l</a:t>
            </a:r>
            <a:r>
              <a:rPr sz="2100" b="1" spc="-190" dirty="0" err="1">
                <a:latin typeface="Times New Roman"/>
                <a:cs typeface="Times New Roman"/>
              </a:rPr>
              <a:t>o</a:t>
            </a:r>
            <a:r>
              <a:rPr sz="2100" b="1" spc="-110" dirty="0" err="1">
                <a:latin typeface="Times New Roman"/>
                <a:cs typeface="Times New Roman"/>
              </a:rPr>
              <a:t>w</a:t>
            </a:r>
            <a:r>
              <a:rPr sz="2100" b="1" spc="-225" dirty="0" err="1">
                <a:latin typeface="Times New Roman"/>
                <a:cs typeface="Times New Roman"/>
              </a:rPr>
              <a:t>L</a:t>
            </a:r>
            <a:r>
              <a:rPr sz="2100" b="1" spc="-240" dirty="0" err="1">
                <a:latin typeface="Times New Roman"/>
                <a:cs typeface="Times New Roman"/>
              </a:rPr>
              <a:t>a</a:t>
            </a:r>
            <a:r>
              <a:rPr sz="2100" b="1" spc="-190" dirty="0" err="1">
                <a:latin typeface="Times New Roman"/>
                <a:cs typeface="Times New Roman"/>
              </a:rPr>
              <a:t>y</a:t>
            </a:r>
            <a:r>
              <a:rPr sz="2100" b="1" spc="-95" dirty="0" err="1">
                <a:latin typeface="Times New Roman"/>
                <a:cs typeface="Times New Roman"/>
              </a:rPr>
              <a:t>ou</a:t>
            </a:r>
            <a:r>
              <a:rPr sz="2100" b="1" spc="30" dirty="0" err="1">
                <a:latin typeface="Times New Roman"/>
                <a:cs typeface="Times New Roman"/>
              </a:rPr>
              <a:t>t</a:t>
            </a:r>
            <a:r>
              <a:rPr sz="2100" b="1" spc="-35" dirty="0">
                <a:latin typeface="Times New Roman"/>
                <a:cs typeface="Times New Roman"/>
              </a:rPr>
              <a:t>())</a:t>
            </a:r>
            <a:r>
              <a:rPr sz="2100" b="1" spc="30" dirty="0">
                <a:latin typeface="Times New Roman"/>
                <a:cs typeface="Times New Roman"/>
              </a:rPr>
              <a:t>;  </a:t>
            </a:r>
            <a:r>
              <a:rPr sz="2100" b="1" spc="-75" dirty="0">
                <a:latin typeface="Times New Roman"/>
                <a:cs typeface="Times New Roman"/>
              </a:rPr>
              <a:t>f.setVisible(true);</a:t>
            </a:r>
            <a:endParaRPr sz="2100" b="1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395"/>
              </a:spcBef>
            </a:pPr>
            <a:r>
              <a:rPr sz="2100" b="1" spc="-90" dirty="0">
                <a:latin typeface="Times New Roman"/>
                <a:cs typeface="Times New Roman"/>
              </a:rPr>
              <a:t>b.addActionListener(this);</a:t>
            </a:r>
            <a:endParaRPr sz="2100" b="1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605"/>
              </a:spcBef>
              <a:tabLst>
                <a:tab pos="6154420" algn="l"/>
              </a:tabLst>
            </a:pPr>
            <a:r>
              <a:rPr sz="2100" b="1" spc="-35" dirty="0">
                <a:latin typeface="Times New Roman"/>
                <a:cs typeface="Times New Roman"/>
              </a:rPr>
              <a:t>f</a:t>
            </a:r>
            <a:r>
              <a:rPr sz="2100" b="1" spc="-25" dirty="0">
                <a:latin typeface="Times New Roman"/>
                <a:cs typeface="Times New Roman"/>
              </a:rPr>
              <a:t>.</a:t>
            </a:r>
            <a:r>
              <a:rPr sz="2100" b="1" spc="-155" dirty="0">
                <a:latin typeface="Times New Roman"/>
                <a:cs typeface="Times New Roman"/>
              </a:rPr>
              <a:t>s</a:t>
            </a:r>
            <a:r>
              <a:rPr sz="2100" b="1" spc="-80" dirty="0">
                <a:latin typeface="Times New Roman"/>
                <a:cs typeface="Times New Roman"/>
              </a:rPr>
              <a:t>e</a:t>
            </a:r>
            <a:r>
              <a:rPr sz="2100" b="1" spc="30" dirty="0">
                <a:latin typeface="Times New Roman"/>
                <a:cs typeface="Times New Roman"/>
              </a:rPr>
              <a:t>t</a:t>
            </a:r>
            <a:r>
              <a:rPr sz="2100" b="1" spc="-110" dirty="0">
                <a:latin typeface="Times New Roman"/>
                <a:cs typeface="Times New Roman"/>
              </a:rPr>
              <a:t>D</a:t>
            </a:r>
            <a:r>
              <a:rPr sz="2100" b="1" spc="-80" dirty="0">
                <a:latin typeface="Times New Roman"/>
                <a:cs typeface="Times New Roman"/>
              </a:rPr>
              <a:t>e</a:t>
            </a:r>
            <a:r>
              <a:rPr sz="2100" b="1" spc="-180" dirty="0">
                <a:latin typeface="Times New Roman"/>
                <a:cs typeface="Times New Roman"/>
              </a:rPr>
              <a:t>f</a:t>
            </a:r>
            <a:r>
              <a:rPr sz="2100" b="1" spc="-120" dirty="0">
                <a:latin typeface="Times New Roman"/>
                <a:cs typeface="Times New Roman"/>
              </a:rPr>
              <a:t>a</a:t>
            </a:r>
            <a:r>
              <a:rPr sz="2100" b="1" spc="-145" dirty="0">
                <a:latin typeface="Times New Roman"/>
                <a:cs typeface="Times New Roman"/>
              </a:rPr>
              <a:t>u</a:t>
            </a:r>
            <a:r>
              <a:rPr sz="2100" b="1" spc="-30" dirty="0">
                <a:latin typeface="Times New Roman"/>
                <a:cs typeface="Times New Roman"/>
              </a:rPr>
              <a:t>l</a:t>
            </a:r>
            <a:r>
              <a:rPr sz="2100" b="1" spc="-45" dirty="0">
                <a:latin typeface="Times New Roman"/>
                <a:cs typeface="Times New Roman"/>
              </a:rPr>
              <a:t>t</a:t>
            </a:r>
            <a:r>
              <a:rPr sz="2100" b="1" spc="-90" dirty="0">
                <a:latin typeface="Times New Roman"/>
                <a:cs typeface="Times New Roman"/>
              </a:rPr>
              <a:t>Cl</a:t>
            </a:r>
            <a:r>
              <a:rPr sz="2100" b="1" spc="-105" dirty="0">
                <a:latin typeface="Times New Roman"/>
                <a:cs typeface="Times New Roman"/>
              </a:rPr>
              <a:t>o</a:t>
            </a:r>
            <a:r>
              <a:rPr sz="2100" b="1" spc="-155" dirty="0">
                <a:latin typeface="Times New Roman"/>
                <a:cs typeface="Times New Roman"/>
              </a:rPr>
              <a:t>s</a:t>
            </a:r>
            <a:r>
              <a:rPr sz="2100" b="1" spc="-100" dirty="0">
                <a:latin typeface="Times New Roman"/>
                <a:cs typeface="Times New Roman"/>
              </a:rPr>
              <a:t>e</a:t>
            </a:r>
            <a:r>
              <a:rPr sz="2100" b="1" spc="-40" dirty="0">
                <a:latin typeface="Times New Roman"/>
                <a:cs typeface="Times New Roman"/>
              </a:rPr>
              <a:t>Op</a:t>
            </a:r>
            <a:r>
              <a:rPr sz="2100" b="1" spc="-100" dirty="0">
                <a:latin typeface="Times New Roman"/>
                <a:cs typeface="Times New Roman"/>
              </a:rPr>
              <a:t>e</a:t>
            </a:r>
            <a:r>
              <a:rPr sz="2100" b="1" spc="15" dirty="0">
                <a:latin typeface="Times New Roman"/>
                <a:cs typeface="Times New Roman"/>
              </a:rPr>
              <a:t>r</a:t>
            </a:r>
            <a:r>
              <a:rPr sz="2100" b="1" spc="-195" dirty="0">
                <a:latin typeface="Times New Roman"/>
                <a:cs typeface="Times New Roman"/>
              </a:rPr>
              <a:t>a</a:t>
            </a:r>
            <a:r>
              <a:rPr sz="2100" b="1" spc="30" dirty="0">
                <a:latin typeface="Times New Roman"/>
                <a:cs typeface="Times New Roman"/>
              </a:rPr>
              <a:t>t</a:t>
            </a:r>
            <a:r>
              <a:rPr sz="2100" b="1" spc="-70" dirty="0">
                <a:latin typeface="Times New Roman"/>
                <a:cs typeface="Times New Roman"/>
              </a:rPr>
              <a:t>i</a:t>
            </a:r>
            <a:r>
              <a:rPr sz="2100" b="1" spc="-135" dirty="0">
                <a:latin typeface="Times New Roman"/>
                <a:cs typeface="Times New Roman"/>
              </a:rPr>
              <a:t>o</a:t>
            </a:r>
            <a:r>
              <a:rPr sz="2100" b="1" spc="-95" dirty="0">
                <a:latin typeface="Times New Roman"/>
                <a:cs typeface="Times New Roman"/>
              </a:rPr>
              <a:t>n</a:t>
            </a:r>
            <a:r>
              <a:rPr sz="2100" b="1" spc="-55" dirty="0">
                <a:latin typeface="Times New Roman"/>
                <a:cs typeface="Times New Roman"/>
              </a:rPr>
              <a:t>(</a:t>
            </a:r>
            <a:r>
              <a:rPr sz="2100" b="1" spc="-150" dirty="0">
                <a:latin typeface="Times New Roman"/>
                <a:cs typeface="Times New Roman"/>
              </a:rPr>
              <a:t>J</a:t>
            </a:r>
            <a:r>
              <a:rPr sz="2100" b="1" spc="-215" dirty="0">
                <a:latin typeface="Times New Roman"/>
                <a:cs typeface="Times New Roman"/>
              </a:rPr>
              <a:t>F</a:t>
            </a:r>
            <a:r>
              <a:rPr sz="2100" b="1" spc="15" dirty="0">
                <a:latin typeface="Times New Roman"/>
                <a:cs typeface="Times New Roman"/>
              </a:rPr>
              <a:t>r</a:t>
            </a:r>
            <a:r>
              <a:rPr sz="2100" b="1" spc="-105" dirty="0">
                <a:latin typeface="Times New Roman"/>
                <a:cs typeface="Times New Roman"/>
              </a:rPr>
              <a:t>a</a:t>
            </a:r>
            <a:r>
              <a:rPr sz="2100" b="1" spc="-190" dirty="0">
                <a:latin typeface="Times New Roman"/>
                <a:cs typeface="Times New Roman"/>
              </a:rPr>
              <a:t>m</a:t>
            </a:r>
            <a:r>
              <a:rPr sz="2100" b="1" spc="-125" dirty="0">
                <a:latin typeface="Times New Roman"/>
                <a:cs typeface="Times New Roman"/>
              </a:rPr>
              <a:t>e</a:t>
            </a:r>
            <a:r>
              <a:rPr sz="2100" b="1" spc="90" dirty="0">
                <a:latin typeface="Times New Roman"/>
                <a:cs typeface="Times New Roman"/>
              </a:rPr>
              <a:t>.</a:t>
            </a:r>
            <a:r>
              <a:rPr sz="2100" b="1" spc="-195" dirty="0">
                <a:latin typeface="Times New Roman"/>
                <a:cs typeface="Times New Roman"/>
              </a:rPr>
              <a:t>E</a:t>
            </a:r>
            <a:r>
              <a:rPr sz="2100" b="1" spc="-254" dirty="0">
                <a:latin typeface="Times New Roman"/>
                <a:cs typeface="Times New Roman"/>
              </a:rPr>
              <a:t>X</a:t>
            </a:r>
            <a:r>
              <a:rPr sz="2100" b="1" spc="-90" dirty="0">
                <a:latin typeface="Times New Roman"/>
                <a:cs typeface="Times New Roman"/>
              </a:rPr>
              <a:t>I</a:t>
            </a:r>
            <a:r>
              <a:rPr sz="2100" b="1" spc="-150" dirty="0">
                <a:latin typeface="Times New Roman"/>
                <a:cs typeface="Times New Roman"/>
              </a:rPr>
              <a:t>T</a:t>
            </a:r>
            <a:r>
              <a:rPr sz="2100" b="1" spc="-20" dirty="0">
                <a:latin typeface="Times New Roman"/>
                <a:cs typeface="Times New Roman"/>
              </a:rPr>
              <a:t>_</a:t>
            </a:r>
            <a:r>
              <a:rPr sz="2100" b="1" spc="-45" dirty="0">
                <a:latin typeface="Times New Roman"/>
                <a:cs typeface="Times New Roman"/>
              </a:rPr>
              <a:t>O</a:t>
            </a:r>
            <a:r>
              <a:rPr sz="2100" b="1" spc="-70" dirty="0">
                <a:latin typeface="Times New Roman"/>
                <a:cs typeface="Times New Roman"/>
              </a:rPr>
              <a:t>N</a:t>
            </a:r>
            <a:r>
              <a:rPr sz="2100" b="1" spc="-110" dirty="0">
                <a:latin typeface="Times New Roman"/>
                <a:cs typeface="Times New Roman"/>
              </a:rPr>
              <a:t>_C</a:t>
            </a:r>
            <a:r>
              <a:rPr sz="2100" b="1" spc="-145" dirty="0">
                <a:latin typeface="Times New Roman"/>
                <a:cs typeface="Times New Roman"/>
              </a:rPr>
              <a:t>L</a:t>
            </a:r>
            <a:r>
              <a:rPr sz="2100" b="1" spc="-150" dirty="0">
                <a:latin typeface="Times New Roman"/>
                <a:cs typeface="Times New Roman"/>
              </a:rPr>
              <a:t>O</a:t>
            </a:r>
            <a:r>
              <a:rPr sz="2100" b="1" spc="-140" dirty="0">
                <a:latin typeface="Times New Roman"/>
                <a:cs typeface="Times New Roman"/>
              </a:rPr>
              <a:t>S</a:t>
            </a:r>
            <a:r>
              <a:rPr sz="2100" b="1" spc="-160" dirty="0">
                <a:latin typeface="Times New Roman"/>
                <a:cs typeface="Times New Roman"/>
              </a:rPr>
              <a:t>E</a:t>
            </a:r>
            <a:r>
              <a:rPr sz="2100" b="1" spc="-80" dirty="0">
                <a:latin typeface="Times New Roman"/>
                <a:cs typeface="Times New Roman"/>
              </a:rPr>
              <a:t>)</a:t>
            </a:r>
            <a:r>
              <a:rPr sz="2100" b="1" spc="30" dirty="0">
                <a:latin typeface="Times New Roman"/>
                <a:cs typeface="Times New Roman"/>
              </a:rPr>
              <a:t>;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5" dirty="0">
                <a:latin typeface="Times New Roman"/>
                <a:cs typeface="Times New Roman"/>
              </a:rPr>
              <a:t>}</a:t>
            </a:r>
            <a:endParaRPr sz="210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5205" y="2350465"/>
            <a:ext cx="10160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85" dirty="0">
                <a:solidFill>
                  <a:srgbClr val="00AF50"/>
                </a:solidFill>
                <a:latin typeface="Times New Roman"/>
                <a:cs typeface="Times New Roman"/>
              </a:rPr>
              <a:t>O</a:t>
            </a:r>
            <a:r>
              <a:rPr sz="25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u</a:t>
            </a:r>
            <a:r>
              <a:rPr sz="2500" b="1" spc="20" dirty="0">
                <a:solidFill>
                  <a:srgbClr val="00AF50"/>
                </a:solidFill>
                <a:latin typeface="Times New Roman"/>
                <a:cs typeface="Times New Roman"/>
              </a:rPr>
              <a:t>t</a:t>
            </a:r>
            <a:r>
              <a:rPr sz="2500" b="1" spc="50" dirty="0">
                <a:solidFill>
                  <a:srgbClr val="00AF50"/>
                </a:solidFill>
                <a:latin typeface="Times New Roman"/>
                <a:cs typeface="Times New Roman"/>
              </a:rPr>
              <a:t>p</a:t>
            </a:r>
            <a:r>
              <a:rPr sz="25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ut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299897"/>
            <a:ext cx="5026660" cy="286488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z="2100" b="1" spc="-105" dirty="0">
                <a:latin typeface="Times New Roman"/>
                <a:cs typeface="Times New Roman"/>
              </a:rPr>
              <a:t>public</a:t>
            </a:r>
            <a:r>
              <a:rPr lang="en-US" sz="2100" b="1" spc="-60" dirty="0">
                <a:latin typeface="Times New Roman"/>
                <a:cs typeface="Times New Roman"/>
              </a:rPr>
              <a:t> </a:t>
            </a:r>
            <a:r>
              <a:rPr lang="en-US" sz="2100" b="1" spc="-125" dirty="0">
                <a:latin typeface="Times New Roman"/>
                <a:cs typeface="Times New Roman"/>
              </a:rPr>
              <a:t>void</a:t>
            </a:r>
            <a:r>
              <a:rPr lang="en-US" sz="2100" b="1" spc="-40" dirty="0">
                <a:latin typeface="Times New Roman"/>
                <a:cs typeface="Times New Roman"/>
              </a:rPr>
              <a:t> </a:t>
            </a:r>
            <a:r>
              <a:rPr lang="en-US" sz="2100" b="1" spc="-95" dirty="0" err="1">
                <a:latin typeface="Times New Roman"/>
                <a:cs typeface="Times New Roman"/>
              </a:rPr>
              <a:t>actionPerformed</a:t>
            </a:r>
            <a:r>
              <a:rPr lang="en-US" sz="2100" b="1" spc="-95" dirty="0">
                <a:latin typeface="Times New Roman"/>
                <a:cs typeface="Times New Roman"/>
              </a:rPr>
              <a:t>(</a:t>
            </a:r>
            <a:r>
              <a:rPr lang="en-US" sz="2100" b="1" spc="-95" dirty="0" err="1">
                <a:latin typeface="Times New Roman"/>
                <a:cs typeface="Times New Roman"/>
              </a:rPr>
              <a:t>ActionEvent</a:t>
            </a:r>
            <a:r>
              <a:rPr lang="en-US" sz="2100" b="1" spc="-110" dirty="0">
                <a:latin typeface="Times New Roman"/>
                <a:cs typeface="Times New Roman"/>
              </a:rPr>
              <a:t> </a:t>
            </a:r>
            <a:r>
              <a:rPr lang="en-US" sz="2100" b="1" spc="-55" dirty="0">
                <a:latin typeface="Times New Roman"/>
                <a:cs typeface="Times New Roman"/>
              </a:rPr>
              <a:t>e)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100" b="1" spc="5" dirty="0">
                <a:latin typeface="Times New Roman"/>
                <a:cs typeface="Times New Roman"/>
              </a:rPr>
              <a:t>{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100" b="1" spc="-70" dirty="0" err="1">
                <a:latin typeface="Times New Roman"/>
                <a:cs typeface="Times New Roman"/>
              </a:rPr>
              <a:t>t.setText</a:t>
            </a:r>
            <a:r>
              <a:rPr lang="en-US" sz="2100" b="1" spc="-70" dirty="0">
                <a:latin typeface="Times New Roman"/>
                <a:cs typeface="Times New Roman"/>
              </a:rPr>
              <a:t>("Welcome");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US" sz="2100" b="1" spc="5" dirty="0">
                <a:latin typeface="Times New Roman"/>
                <a:cs typeface="Times New Roman"/>
              </a:rPr>
              <a:t>}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100" b="1" spc="-85" dirty="0">
                <a:latin typeface="Times New Roman"/>
                <a:cs typeface="Times New Roman"/>
              </a:rPr>
              <a:t>p</a:t>
            </a:r>
            <a:r>
              <a:rPr lang="en-US" sz="2100" b="1" spc="-100" dirty="0">
                <a:latin typeface="Times New Roman"/>
                <a:cs typeface="Times New Roman"/>
              </a:rPr>
              <a:t>u</a:t>
            </a:r>
            <a:r>
              <a:rPr lang="en-US" sz="2100" b="1" spc="-140" dirty="0">
                <a:latin typeface="Times New Roman"/>
                <a:cs typeface="Times New Roman"/>
              </a:rPr>
              <a:t>b</a:t>
            </a:r>
            <a:r>
              <a:rPr lang="en-US" sz="2100" b="1" spc="-95" dirty="0">
                <a:latin typeface="Times New Roman"/>
                <a:cs typeface="Times New Roman"/>
              </a:rPr>
              <a:t>l</a:t>
            </a:r>
            <a:r>
              <a:rPr lang="en-US" sz="2100" b="1" spc="-100" dirty="0">
                <a:latin typeface="Times New Roman"/>
                <a:cs typeface="Times New Roman"/>
              </a:rPr>
              <a:t>i</a:t>
            </a:r>
            <a:r>
              <a:rPr lang="en-US" sz="2100" b="1" spc="-120" dirty="0">
                <a:latin typeface="Times New Roman"/>
                <a:cs typeface="Times New Roman"/>
              </a:rPr>
              <a:t>c</a:t>
            </a:r>
            <a:r>
              <a:rPr lang="en-US" sz="2100" b="1" spc="-65" dirty="0">
                <a:latin typeface="Times New Roman"/>
                <a:cs typeface="Times New Roman"/>
              </a:rPr>
              <a:t> </a:t>
            </a:r>
            <a:r>
              <a:rPr lang="en-US" sz="2100" b="1" spc="-150" dirty="0">
                <a:latin typeface="Times New Roman"/>
                <a:cs typeface="Times New Roman"/>
              </a:rPr>
              <a:t>s</a:t>
            </a:r>
            <a:r>
              <a:rPr lang="en-US" sz="2100" b="1" spc="30" dirty="0">
                <a:latin typeface="Times New Roman"/>
                <a:cs typeface="Times New Roman"/>
              </a:rPr>
              <a:t>t</a:t>
            </a:r>
            <a:r>
              <a:rPr lang="en-US" sz="2100" b="1" spc="-190" dirty="0">
                <a:latin typeface="Times New Roman"/>
                <a:cs typeface="Times New Roman"/>
              </a:rPr>
              <a:t>a</a:t>
            </a:r>
            <a:r>
              <a:rPr lang="en-US" sz="2100" b="1" spc="30" dirty="0">
                <a:latin typeface="Times New Roman"/>
                <a:cs typeface="Times New Roman"/>
              </a:rPr>
              <a:t>t</a:t>
            </a:r>
            <a:r>
              <a:rPr lang="en-US" sz="2100" b="1" spc="-110" dirty="0">
                <a:latin typeface="Times New Roman"/>
                <a:cs typeface="Times New Roman"/>
              </a:rPr>
              <a:t>ic</a:t>
            </a:r>
            <a:r>
              <a:rPr lang="en-US" sz="2100" b="1" spc="-95" dirty="0">
                <a:latin typeface="Times New Roman"/>
                <a:cs typeface="Times New Roman"/>
              </a:rPr>
              <a:t> </a:t>
            </a:r>
            <a:r>
              <a:rPr lang="en-US" sz="2100" b="1" spc="-215" dirty="0">
                <a:latin typeface="Times New Roman"/>
                <a:cs typeface="Times New Roman"/>
              </a:rPr>
              <a:t>v</a:t>
            </a:r>
            <a:r>
              <a:rPr lang="en-US" sz="2100" b="1" spc="-120" dirty="0">
                <a:latin typeface="Times New Roman"/>
                <a:cs typeface="Times New Roman"/>
              </a:rPr>
              <a:t>o</a:t>
            </a:r>
            <a:r>
              <a:rPr lang="en-US" sz="2100" b="1" spc="-80" dirty="0">
                <a:latin typeface="Times New Roman"/>
                <a:cs typeface="Times New Roman"/>
              </a:rPr>
              <a:t>i</a:t>
            </a:r>
            <a:r>
              <a:rPr lang="en-US" sz="2100" b="1" spc="-85" dirty="0">
                <a:latin typeface="Times New Roman"/>
                <a:cs typeface="Times New Roman"/>
              </a:rPr>
              <a:t>d</a:t>
            </a:r>
            <a:r>
              <a:rPr lang="en-US" sz="2100" b="1" spc="-50" dirty="0">
                <a:latin typeface="Times New Roman"/>
                <a:cs typeface="Times New Roman"/>
              </a:rPr>
              <a:t> </a:t>
            </a:r>
            <a:r>
              <a:rPr lang="en-US" sz="2100" b="1" spc="-125" dirty="0">
                <a:latin typeface="Times New Roman"/>
                <a:cs typeface="Times New Roman"/>
              </a:rPr>
              <a:t>m</a:t>
            </a:r>
            <a:r>
              <a:rPr lang="en-US" sz="2100" b="1" spc="-110" dirty="0">
                <a:latin typeface="Times New Roman"/>
                <a:cs typeface="Times New Roman"/>
              </a:rPr>
              <a:t>ai</a:t>
            </a:r>
            <a:r>
              <a:rPr lang="en-US" sz="2100" b="1" spc="-155" dirty="0">
                <a:latin typeface="Times New Roman"/>
                <a:cs typeface="Times New Roman"/>
              </a:rPr>
              <a:t>n</a:t>
            </a:r>
            <a:r>
              <a:rPr lang="en-US" sz="2100" b="1" spc="-30" dirty="0">
                <a:latin typeface="Times New Roman"/>
                <a:cs typeface="Times New Roman"/>
              </a:rPr>
              <a:t>(</a:t>
            </a:r>
            <a:r>
              <a:rPr lang="en-US" sz="2100" b="1" spc="-285" dirty="0">
                <a:latin typeface="Times New Roman"/>
                <a:cs typeface="Times New Roman"/>
              </a:rPr>
              <a:t>S</a:t>
            </a:r>
            <a:r>
              <a:rPr lang="en-US" sz="2100" b="1" spc="30" dirty="0">
                <a:latin typeface="Times New Roman"/>
                <a:cs typeface="Times New Roman"/>
              </a:rPr>
              <a:t>t</a:t>
            </a:r>
            <a:r>
              <a:rPr lang="en-US" sz="2100" b="1" spc="60" dirty="0">
                <a:latin typeface="Times New Roman"/>
                <a:cs typeface="Times New Roman"/>
              </a:rPr>
              <a:t>r</a:t>
            </a:r>
            <a:r>
              <a:rPr lang="en-US" sz="2100" b="1" spc="-65" dirty="0">
                <a:latin typeface="Times New Roman"/>
                <a:cs typeface="Times New Roman"/>
              </a:rPr>
              <a:t>i</a:t>
            </a:r>
            <a:r>
              <a:rPr lang="en-US" sz="2100" b="1" spc="-135" dirty="0">
                <a:latin typeface="Times New Roman"/>
                <a:cs typeface="Times New Roman"/>
              </a:rPr>
              <a:t>n</a:t>
            </a:r>
            <a:r>
              <a:rPr lang="en-US" sz="2100" b="1" spc="-170" dirty="0">
                <a:latin typeface="Times New Roman"/>
                <a:cs typeface="Times New Roman"/>
              </a:rPr>
              <a:t>g</a:t>
            </a:r>
            <a:r>
              <a:rPr lang="en-US" sz="2100" b="1" spc="-114" dirty="0">
                <a:latin typeface="Times New Roman"/>
                <a:cs typeface="Times New Roman"/>
              </a:rPr>
              <a:t> </a:t>
            </a:r>
            <a:r>
              <a:rPr lang="en-US" sz="2100" b="1" spc="-125" dirty="0" err="1">
                <a:latin typeface="Times New Roman"/>
                <a:cs typeface="Times New Roman"/>
              </a:rPr>
              <a:t>arg</a:t>
            </a:r>
            <a:r>
              <a:rPr lang="en-US" sz="2100" b="1" spc="-100" dirty="0" err="1">
                <a:latin typeface="Times New Roman"/>
                <a:cs typeface="Times New Roman"/>
              </a:rPr>
              <a:t>s</a:t>
            </a:r>
            <a:r>
              <a:rPr lang="en-US" sz="2100" b="1" spc="-114" dirty="0">
                <a:latin typeface="Times New Roman"/>
                <a:cs typeface="Times New Roman"/>
              </a:rPr>
              <a:t>[])</a:t>
            </a:r>
            <a:r>
              <a:rPr lang="en-US" sz="2100" b="1" dirty="0">
                <a:latin typeface="Times New Roman"/>
                <a:cs typeface="Times New Roman"/>
              </a:rPr>
              <a:t> </a:t>
            </a:r>
            <a:r>
              <a:rPr lang="en-US" sz="2100" b="1" spc="-130" dirty="0">
                <a:latin typeface="Times New Roman"/>
                <a:cs typeface="Times New Roman"/>
              </a:rPr>
              <a:t> </a:t>
            </a:r>
            <a:r>
              <a:rPr lang="en-US" sz="2100" b="1" spc="5" dirty="0">
                <a:latin typeface="Times New Roman"/>
                <a:cs typeface="Times New Roman"/>
              </a:rPr>
              <a:t>{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lang="en-US" sz="2100" b="1" spc="-114" dirty="0" err="1">
                <a:latin typeface="Times New Roman"/>
                <a:cs typeface="Times New Roman"/>
              </a:rPr>
              <a:t>Swingdemoevent</a:t>
            </a:r>
            <a:r>
              <a:rPr lang="en-US" sz="2100" b="1" spc="-135" dirty="0">
                <a:latin typeface="Times New Roman"/>
                <a:cs typeface="Times New Roman"/>
              </a:rPr>
              <a:t> </a:t>
            </a:r>
            <a:r>
              <a:rPr lang="en-US" sz="2100" b="1" spc="-45" dirty="0">
                <a:latin typeface="Times New Roman"/>
                <a:cs typeface="Times New Roman"/>
              </a:rPr>
              <a:t>s=new</a:t>
            </a:r>
            <a:r>
              <a:rPr lang="en-US" sz="2100" b="1" spc="-80" dirty="0">
                <a:latin typeface="Times New Roman"/>
                <a:cs typeface="Times New Roman"/>
              </a:rPr>
              <a:t> </a:t>
            </a:r>
            <a:r>
              <a:rPr lang="en-US" sz="2100" b="1" spc="-95" dirty="0" err="1">
                <a:latin typeface="Times New Roman"/>
                <a:cs typeface="Times New Roman"/>
              </a:rPr>
              <a:t>Swingdemoevent</a:t>
            </a:r>
            <a:r>
              <a:rPr lang="en-US" sz="2100" b="1" spc="-95" dirty="0">
                <a:latin typeface="Times New Roman"/>
                <a:cs typeface="Times New Roman"/>
              </a:rPr>
              <a:t>();</a:t>
            </a:r>
            <a:endParaRPr lang="en-US" sz="21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441325" algn="l"/>
              </a:tabLst>
            </a:pPr>
            <a:r>
              <a:rPr lang="en-US" sz="2100" b="1" spc="5" dirty="0">
                <a:latin typeface="Times New Roman"/>
                <a:cs typeface="Times New Roman"/>
              </a:rPr>
              <a:t>}	}</a:t>
            </a:r>
            <a:endParaRPr lang="en-US" sz="2100" b="1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A9A51-2135-5001-1B12-D8A73CCB4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417" y="2971800"/>
            <a:ext cx="3457575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1140" y="0"/>
            <a:ext cx="8384540" cy="672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just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78571"/>
              <a:tabLst>
                <a:tab pos="360680" algn="l"/>
              </a:tabLst>
            </a:pPr>
            <a:r>
              <a:rPr lang="en-US" sz="32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SWING</a:t>
            </a:r>
            <a:r>
              <a:rPr lang="en-US"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-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78571"/>
              <a:buFont typeface="Wingdings"/>
              <a:buChar char=""/>
              <a:tabLst>
                <a:tab pos="360680" algn="l"/>
              </a:tabLst>
            </a:pPr>
            <a:r>
              <a:rPr sz="2000" dirty="0"/>
              <a:t>	</a:t>
            </a:r>
            <a:r>
              <a:rPr sz="3200" spc="-185" dirty="0">
                <a:latin typeface="Times New Roman"/>
                <a:cs typeface="Times New Roman"/>
              </a:rPr>
              <a:t>Layout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refers </a:t>
            </a:r>
            <a:r>
              <a:rPr sz="3200" spc="-40" dirty="0">
                <a:latin typeface="Times New Roman"/>
                <a:cs typeface="Times New Roman"/>
              </a:rPr>
              <a:t>to </a:t>
            </a:r>
            <a:r>
              <a:rPr sz="3200" spc="-85" dirty="0">
                <a:latin typeface="Times New Roman"/>
                <a:cs typeface="Times New Roman"/>
              </a:rPr>
              <a:t>the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arrangement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6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components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within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0" dirty="0">
                <a:solidFill>
                  <a:srgbClr val="FF0000"/>
                </a:solidFill>
                <a:latin typeface="Times New Roman"/>
                <a:cs typeface="Times New Roman"/>
              </a:rPr>
              <a:t>container</a:t>
            </a:r>
            <a:r>
              <a:rPr sz="3200" spc="-10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7620" indent="-274955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185" dirty="0">
                <a:latin typeface="Times New Roman"/>
                <a:cs typeface="Times New Roman"/>
              </a:rPr>
              <a:t>Layout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is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spc="-160" dirty="0">
                <a:solidFill>
                  <a:srgbClr val="FF0000"/>
                </a:solidFill>
                <a:latin typeface="Times New Roman"/>
                <a:cs typeface="Times New Roman"/>
              </a:rPr>
              <a:t>placing</a:t>
            </a:r>
            <a:r>
              <a:rPr sz="3200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components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2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2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particular</a:t>
            </a:r>
            <a:r>
              <a:rPr sz="3200" spc="5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position 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within 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container</a:t>
            </a:r>
            <a:r>
              <a:rPr sz="3200" spc="-105" dirty="0">
                <a:latin typeface="Times New Roman"/>
                <a:cs typeface="Times New Roman"/>
              </a:rPr>
              <a:t>. </a:t>
            </a:r>
            <a:r>
              <a:rPr sz="3200" spc="-145" dirty="0">
                <a:latin typeface="Times New Roman"/>
                <a:cs typeface="Times New Roman"/>
              </a:rPr>
              <a:t>The </a:t>
            </a:r>
            <a:r>
              <a:rPr sz="3200" spc="-140" dirty="0">
                <a:latin typeface="Times New Roman"/>
                <a:cs typeface="Times New Roman"/>
              </a:rPr>
              <a:t>task </a:t>
            </a:r>
            <a:r>
              <a:rPr sz="3200" spc="-160" dirty="0">
                <a:latin typeface="Times New Roman"/>
                <a:cs typeface="Times New Roman"/>
              </a:rPr>
              <a:t>of </a:t>
            </a:r>
            <a:r>
              <a:rPr sz="3200" spc="-190" dirty="0">
                <a:latin typeface="Times New Roman"/>
                <a:cs typeface="Times New Roman"/>
              </a:rPr>
              <a:t>laying </a:t>
            </a:r>
            <a:r>
              <a:rPr sz="3200" spc="-55" dirty="0">
                <a:latin typeface="Times New Roman"/>
                <a:cs typeface="Times New Roman"/>
              </a:rPr>
              <a:t>out </a:t>
            </a:r>
            <a:r>
              <a:rPr sz="3200" spc="-85" dirty="0">
                <a:latin typeface="Times New Roman"/>
                <a:cs typeface="Times New Roman"/>
              </a:rPr>
              <a:t>the </a:t>
            </a:r>
            <a:r>
              <a:rPr sz="3200" spc="-105" dirty="0">
                <a:latin typeface="Times New Roman"/>
                <a:cs typeface="Times New Roman"/>
              </a:rPr>
              <a:t>controls </a:t>
            </a:r>
            <a:r>
              <a:rPr sz="3200" spc="-175" dirty="0">
                <a:latin typeface="Times New Roman"/>
                <a:cs typeface="Times New Roman"/>
              </a:rPr>
              <a:t>is </a:t>
            </a:r>
            <a:r>
              <a:rPr sz="3200" spc="-114" dirty="0">
                <a:latin typeface="Times New Roman"/>
                <a:cs typeface="Times New Roman"/>
              </a:rPr>
              <a:t>done </a:t>
            </a:r>
            <a:r>
              <a:rPr sz="3200" spc="-685" dirty="0">
                <a:latin typeface="Times New Roman"/>
                <a:cs typeface="Times New Roman"/>
              </a:rPr>
              <a:t> </a:t>
            </a:r>
            <a:r>
              <a:rPr sz="3200" spc="-16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17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tom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tical</a:t>
            </a:r>
            <a:r>
              <a:rPr sz="3200" spc="-14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200" spc="-229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200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5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3200" spc="-19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10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30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3200" spc="-31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27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ou</a:t>
            </a:r>
            <a:r>
              <a:rPr sz="3200" spc="4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40" dirty="0">
                <a:solidFill>
                  <a:srgbClr val="FF0000"/>
                </a:solidFill>
                <a:latin typeface="Times New Roman"/>
                <a:cs typeface="Times New Roman"/>
              </a:rPr>
              <a:t>Ma</a:t>
            </a:r>
            <a:r>
              <a:rPr sz="3200" spc="-17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21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235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2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114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87020" marR="7620" indent="-274955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13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200" spc="-145" dirty="0">
                <a:solidFill>
                  <a:srgbClr val="FF0000"/>
                </a:solidFill>
                <a:latin typeface="Times New Roman"/>
                <a:cs typeface="Times New Roman"/>
              </a:rPr>
              <a:t>layout </a:t>
            </a:r>
            <a:r>
              <a:rPr sz="3200" spc="-150" dirty="0">
                <a:solidFill>
                  <a:srgbClr val="FF0000"/>
                </a:solidFill>
                <a:latin typeface="Times New Roman"/>
                <a:cs typeface="Times New Roman"/>
              </a:rPr>
              <a:t>manager </a:t>
            </a:r>
            <a:r>
              <a:rPr sz="3200" spc="-145" dirty="0">
                <a:solidFill>
                  <a:srgbClr val="FF0000"/>
                </a:solidFill>
                <a:latin typeface="Times New Roman"/>
                <a:cs typeface="Times New Roman"/>
              </a:rPr>
              <a:t>automatically 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positions </a:t>
            </a:r>
            <a:r>
              <a:rPr sz="3200" spc="-145" dirty="0">
                <a:solidFill>
                  <a:srgbClr val="FF0000"/>
                </a:solidFill>
                <a:latin typeface="Times New Roman"/>
                <a:cs typeface="Times New Roman"/>
              </a:rPr>
              <a:t>all 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components </a:t>
            </a:r>
            <a:r>
              <a:rPr sz="32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0" dirty="0">
                <a:solidFill>
                  <a:srgbClr val="FF0000"/>
                </a:solidFill>
                <a:latin typeface="Times New Roman"/>
                <a:cs typeface="Times New Roman"/>
              </a:rPr>
              <a:t>wit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hin</a:t>
            </a:r>
            <a:r>
              <a:rPr sz="32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3200" spc="-10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sz="3200" spc="-10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30" dirty="0">
                <a:solidFill>
                  <a:srgbClr val="FF0000"/>
                </a:solidFill>
                <a:latin typeface="Times New Roman"/>
                <a:cs typeface="Times New Roman"/>
              </a:rPr>
              <a:t>co</a:t>
            </a:r>
            <a:r>
              <a:rPr sz="3200" spc="-12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tai</a:t>
            </a:r>
            <a:r>
              <a:rPr sz="3200" spc="-13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3200" spc="-12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3200" spc="-204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3200" spc="12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87020" marR="7620" indent="-274955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3200" spc="-204" dirty="0">
                <a:latin typeface="Times New Roman"/>
                <a:cs typeface="Times New Roman"/>
              </a:rPr>
              <a:t>Even </a:t>
            </a:r>
            <a:r>
              <a:rPr sz="3200" spc="-170" dirty="0">
                <a:latin typeface="Times New Roman"/>
                <a:cs typeface="Times New Roman"/>
              </a:rPr>
              <a:t>if </a:t>
            </a:r>
            <a:r>
              <a:rPr sz="3200" spc="-175" dirty="0">
                <a:latin typeface="Times New Roman"/>
                <a:cs typeface="Times New Roman"/>
              </a:rPr>
              <a:t>you </a:t>
            </a:r>
            <a:r>
              <a:rPr sz="3200" spc="-110" dirty="0">
                <a:latin typeface="Times New Roman"/>
                <a:cs typeface="Times New Roman"/>
              </a:rPr>
              <a:t>do </a:t>
            </a:r>
            <a:r>
              <a:rPr sz="3200" spc="-70" dirty="0">
                <a:latin typeface="Times New Roman"/>
                <a:cs typeface="Times New Roman"/>
              </a:rPr>
              <a:t>not </a:t>
            </a:r>
            <a:r>
              <a:rPr sz="3200" spc="-150" dirty="0">
                <a:latin typeface="Times New Roman"/>
                <a:cs typeface="Times New Roman"/>
              </a:rPr>
              <a:t>use </a:t>
            </a:r>
            <a:r>
              <a:rPr sz="3200" spc="-90" dirty="0">
                <a:latin typeface="Times New Roman"/>
                <a:cs typeface="Times New Roman"/>
              </a:rPr>
              <a:t>the </a:t>
            </a:r>
            <a:r>
              <a:rPr sz="3200" spc="-150" dirty="0">
                <a:latin typeface="Times New Roman"/>
                <a:cs typeface="Times New Roman"/>
              </a:rPr>
              <a:t>layout manager, </a:t>
            </a:r>
            <a:r>
              <a:rPr sz="3200" spc="-85" dirty="0">
                <a:latin typeface="Times New Roman"/>
                <a:cs typeface="Times New Roman"/>
              </a:rPr>
              <a:t>the </a:t>
            </a:r>
            <a:r>
              <a:rPr sz="3200" spc="-120" dirty="0">
                <a:latin typeface="Times New Roman"/>
                <a:cs typeface="Times New Roman"/>
              </a:rPr>
              <a:t>components </a:t>
            </a:r>
            <a:r>
              <a:rPr sz="3200" spc="-110" dirty="0">
                <a:latin typeface="Times New Roman"/>
                <a:cs typeface="Times New Roman"/>
              </a:rPr>
              <a:t>are </a:t>
            </a:r>
            <a:r>
              <a:rPr sz="3200" spc="-105" dirty="0">
                <a:latin typeface="Times New Roman"/>
                <a:cs typeface="Times New Roman"/>
              </a:rPr>
              <a:t> still </a:t>
            </a:r>
            <a:r>
              <a:rPr sz="3200" spc="-120" dirty="0">
                <a:latin typeface="Times New Roman"/>
                <a:cs typeface="Times New Roman"/>
              </a:rPr>
              <a:t>positioned </a:t>
            </a:r>
            <a:r>
              <a:rPr sz="3200" spc="-229" dirty="0">
                <a:latin typeface="Times New Roman"/>
                <a:cs typeface="Times New Roman"/>
              </a:rPr>
              <a:t>by</a:t>
            </a:r>
            <a:r>
              <a:rPr sz="3200" spc="24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the </a:t>
            </a:r>
            <a:r>
              <a:rPr sz="3200" spc="-125" dirty="0">
                <a:latin typeface="Times New Roman"/>
                <a:cs typeface="Times New Roman"/>
              </a:rPr>
              <a:t>default </a:t>
            </a:r>
            <a:r>
              <a:rPr sz="3200" spc="-145" dirty="0">
                <a:latin typeface="Times New Roman"/>
                <a:cs typeface="Times New Roman"/>
              </a:rPr>
              <a:t>layout </a:t>
            </a:r>
            <a:r>
              <a:rPr sz="3200" spc="-150" dirty="0">
                <a:latin typeface="Times New Roman"/>
                <a:cs typeface="Times New Roman"/>
              </a:rPr>
              <a:t>manager. </a:t>
            </a:r>
            <a:r>
              <a:rPr sz="3200" spc="-100" dirty="0">
                <a:latin typeface="Times New Roman"/>
                <a:cs typeface="Times New Roman"/>
              </a:rPr>
              <a:t>It </a:t>
            </a:r>
            <a:r>
              <a:rPr sz="3200" spc="-175" dirty="0">
                <a:latin typeface="Times New Roman"/>
                <a:cs typeface="Times New Roman"/>
              </a:rPr>
              <a:t>is </a:t>
            </a:r>
            <a:r>
              <a:rPr sz="3200" spc="-155" dirty="0">
                <a:latin typeface="Times New Roman"/>
                <a:cs typeface="Times New Roman"/>
              </a:rPr>
              <a:t>possible </a:t>
            </a:r>
            <a:r>
              <a:rPr sz="3200" spc="-45" dirty="0">
                <a:latin typeface="Times New Roman"/>
                <a:cs typeface="Times New Roman"/>
              </a:rPr>
              <a:t>to 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20" dirty="0">
                <a:latin typeface="Times New Roman"/>
                <a:cs typeface="Times New Roman"/>
              </a:rPr>
              <a:t>lay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out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the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controls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215" dirty="0">
                <a:latin typeface="Times New Roman"/>
                <a:cs typeface="Times New Roman"/>
              </a:rPr>
              <a:t>by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hand,</a:t>
            </a:r>
            <a:r>
              <a:rPr sz="3200" spc="-220" dirty="0">
                <a:latin typeface="Times New Roman"/>
                <a:cs typeface="Times New Roman"/>
              </a:rPr>
              <a:t> </a:t>
            </a:r>
            <a:r>
              <a:rPr sz="3200" spc="-160" dirty="0">
                <a:latin typeface="Times New Roman"/>
                <a:cs typeface="Times New Roman"/>
              </a:rPr>
              <a:t>however,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it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50" dirty="0">
                <a:latin typeface="Times New Roman"/>
                <a:cs typeface="Times New Roman"/>
              </a:rPr>
              <a:t>becomes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45" dirty="0">
                <a:latin typeface="Times New Roman"/>
                <a:cs typeface="Times New Roman"/>
              </a:rPr>
              <a:t>very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difficult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52400"/>
            <a:ext cx="8839200" cy="63016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190500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800" spc="-250" dirty="0">
                <a:latin typeface="Times New Roman"/>
                <a:cs typeface="Times New Roman"/>
              </a:rPr>
              <a:t>Java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provides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various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layout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managers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position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controls. </a:t>
            </a:r>
            <a:r>
              <a:rPr sz="2800" spc="-63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Properties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like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size,</a:t>
            </a:r>
            <a:r>
              <a:rPr sz="2800" spc="-1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shape,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arrangement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varies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from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one 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layout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manager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to</a:t>
            </a:r>
            <a:r>
              <a:rPr sz="2800" spc="-80" dirty="0">
                <a:latin typeface="Times New Roman"/>
                <a:cs typeface="Times New Roman"/>
              </a:rPr>
              <a:t> 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other.</a:t>
            </a:r>
            <a:endParaRPr sz="2800" dirty="0">
              <a:latin typeface="Times New Roman"/>
              <a:cs typeface="Times New Roman"/>
            </a:endParaRPr>
          </a:p>
          <a:p>
            <a:pPr marL="320675" marR="5080" indent="-32067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320675" algn="l"/>
              </a:tabLst>
            </a:pPr>
            <a:r>
              <a:rPr sz="2800" spc="-105" dirty="0">
                <a:latin typeface="Times New Roman"/>
                <a:cs typeface="Times New Roman"/>
              </a:rPr>
              <a:t>There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are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following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classes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represents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layout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managers: </a:t>
            </a:r>
            <a:r>
              <a:rPr sz="2800" spc="-635" dirty="0">
                <a:latin typeface="Times New Roman"/>
                <a:cs typeface="Times New Roman"/>
              </a:rPr>
              <a:t> </a:t>
            </a:r>
            <a:r>
              <a:rPr lang="en-US" sz="2800" spc="-635" dirty="0">
                <a:latin typeface="Times New Roman"/>
                <a:cs typeface="Times New Roman"/>
              </a:rPr>
              <a:t>	</a:t>
            </a:r>
            <a:r>
              <a:rPr sz="2800" spc="-140" dirty="0" err="1">
                <a:latin typeface="Times New Roman"/>
                <a:cs typeface="Times New Roman"/>
              </a:rPr>
              <a:t>java.awt.BorderLayout</a:t>
            </a:r>
            <a:endParaRPr sz="2800" dirty="0">
              <a:latin typeface="Times New Roman"/>
              <a:cs typeface="Times New Roman"/>
            </a:endParaRPr>
          </a:p>
          <a:p>
            <a:pPr marL="927100" marR="3403600">
              <a:lnSpc>
                <a:spcPct val="119300"/>
              </a:lnSpc>
            </a:pPr>
            <a:r>
              <a:rPr sz="2800" spc="-155" dirty="0">
                <a:latin typeface="Times New Roman"/>
                <a:cs typeface="Times New Roman"/>
              </a:rPr>
              <a:t>java.awt.FlowLayout 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java.awt.GridLayout 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java.awt.CardLayout 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55" dirty="0" err="1">
                <a:latin typeface="Times New Roman"/>
                <a:cs typeface="Times New Roman"/>
              </a:rPr>
              <a:t>java.awt.GridBagLayout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endParaRPr lang="en-US" sz="2800" spc="-155" dirty="0">
              <a:latin typeface="Times New Roman"/>
              <a:cs typeface="Times New Roman"/>
            </a:endParaRPr>
          </a:p>
          <a:p>
            <a:pPr marL="927100" marR="3403600">
              <a:lnSpc>
                <a:spcPct val="119300"/>
              </a:lnSpc>
            </a:pPr>
            <a:endParaRPr lang="en-IN" sz="2800" spc="-155" dirty="0">
              <a:latin typeface="Times New Roman"/>
              <a:cs typeface="Times New Roman"/>
            </a:endParaRPr>
          </a:p>
          <a:p>
            <a:pPr marL="927100" marR="3403600">
              <a:lnSpc>
                <a:spcPct val="119300"/>
              </a:lnSpc>
            </a:pPr>
            <a:r>
              <a:rPr sz="2800" spc="-175" dirty="0" err="1">
                <a:latin typeface="Times New Roman"/>
                <a:cs typeface="Times New Roman"/>
              </a:rPr>
              <a:t>javax.swing.BoxLayout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javax.swing.GroupLayout 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j</a:t>
            </a:r>
            <a:r>
              <a:rPr sz="2800" spc="-290" dirty="0">
                <a:latin typeface="Times New Roman"/>
                <a:cs typeface="Times New Roman"/>
              </a:rPr>
              <a:t>a</a:t>
            </a:r>
            <a:r>
              <a:rPr sz="2800" spc="-270" dirty="0">
                <a:latin typeface="Times New Roman"/>
                <a:cs typeface="Times New Roman"/>
              </a:rPr>
              <a:t>v</a:t>
            </a:r>
            <a:r>
              <a:rPr sz="2800" spc="-225" dirty="0">
                <a:latin typeface="Times New Roman"/>
                <a:cs typeface="Times New Roman"/>
              </a:rPr>
              <a:t>a</a:t>
            </a:r>
            <a:r>
              <a:rPr sz="2800" spc="-130" dirty="0">
                <a:latin typeface="Times New Roman"/>
                <a:cs typeface="Times New Roman"/>
              </a:rPr>
              <a:t>x</a:t>
            </a:r>
            <a:r>
              <a:rPr sz="2800" spc="110" dirty="0">
                <a:latin typeface="Times New Roman"/>
                <a:cs typeface="Times New Roman"/>
              </a:rPr>
              <a:t>.</a:t>
            </a:r>
            <a:r>
              <a:rPr sz="2800" spc="-250" dirty="0">
                <a:latin typeface="Times New Roman"/>
                <a:cs typeface="Times New Roman"/>
              </a:rPr>
              <a:t>s</a:t>
            </a:r>
            <a:r>
              <a:rPr sz="2800" spc="-135" dirty="0">
                <a:latin typeface="Times New Roman"/>
                <a:cs typeface="Times New Roman"/>
              </a:rPr>
              <a:t>win</a:t>
            </a:r>
            <a:r>
              <a:rPr sz="2800" spc="-470" dirty="0">
                <a:latin typeface="Times New Roman"/>
                <a:cs typeface="Times New Roman"/>
              </a:rPr>
              <a:t>g</a:t>
            </a:r>
            <a:r>
              <a:rPr sz="2800" spc="110" dirty="0">
                <a:latin typeface="Times New Roman"/>
                <a:cs typeface="Times New Roman"/>
              </a:rPr>
              <a:t>.</a:t>
            </a:r>
            <a:r>
              <a:rPr sz="2800" spc="-254" dirty="0">
                <a:latin typeface="Times New Roman"/>
                <a:cs typeface="Times New Roman"/>
              </a:rPr>
              <a:t>S</a:t>
            </a:r>
            <a:r>
              <a:rPr sz="2800" spc="-245" dirty="0">
                <a:latin typeface="Times New Roman"/>
                <a:cs typeface="Times New Roman"/>
              </a:rPr>
              <a:t>p</a:t>
            </a:r>
            <a:r>
              <a:rPr sz="2800" spc="65" dirty="0">
                <a:latin typeface="Times New Roman"/>
                <a:cs typeface="Times New Roman"/>
              </a:rPr>
              <a:t>r</a:t>
            </a:r>
            <a:r>
              <a:rPr sz="2800" spc="-170" dirty="0">
                <a:latin typeface="Times New Roman"/>
                <a:cs typeface="Times New Roman"/>
              </a:rPr>
              <a:t>ing</a:t>
            </a:r>
            <a:r>
              <a:rPr sz="2800" spc="-229" dirty="0">
                <a:latin typeface="Times New Roman"/>
                <a:cs typeface="Times New Roman"/>
              </a:rPr>
              <a:t>L</a:t>
            </a:r>
            <a:r>
              <a:rPr sz="2800" spc="-295" dirty="0">
                <a:latin typeface="Times New Roman"/>
                <a:cs typeface="Times New Roman"/>
              </a:rPr>
              <a:t>a</a:t>
            </a:r>
            <a:r>
              <a:rPr sz="2800" spc="-270" dirty="0">
                <a:latin typeface="Times New Roman"/>
                <a:cs typeface="Times New Roman"/>
              </a:rPr>
              <a:t>y</a:t>
            </a:r>
            <a:r>
              <a:rPr sz="2800" spc="-105" dirty="0">
                <a:latin typeface="Times New Roman"/>
                <a:cs typeface="Times New Roman"/>
              </a:rPr>
              <a:t>o</a:t>
            </a:r>
            <a:r>
              <a:rPr sz="2800" spc="-130" dirty="0">
                <a:latin typeface="Times New Roman"/>
                <a:cs typeface="Times New Roman"/>
              </a:rPr>
              <a:t>u</a:t>
            </a:r>
            <a:r>
              <a:rPr sz="2800" spc="30" dirty="0">
                <a:latin typeface="Times New Roman"/>
                <a:cs typeface="Times New Roman"/>
              </a:rPr>
              <a:t>t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t</a:t>
            </a:r>
            <a:r>
              <a:rPr sz="2800" spc="-175" dirty="0">
                <a:latin typeface="Times New Roman"/>
                <a:cs typeface="Times New Roman"/>
              </a:rPr>
              <a:t>c</a:t>
            </a:r>
            <a:r>
              <a:rPr sz="2800" spc="10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56210"/>
            <a:ext cx="8839200" cy="22429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marR="5080" indent="-274320" algn="just">
              <a:lnSpc>
                <a:spcPct val="100000"/>
              </a:lnSpc>
              <a:spcBef>
                <a:spcPts val="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800" spc="-340" dirty="0">
                <a:latin typeface="Times New Roman"/>
                <a:cs typeface="Times New Roman"/>
              </a:rPr>
              <a:t>A</a:t>
            </a:r>
            <a:r>
              <a:rPr sz="2800" spc="-33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BorderLayout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places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components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in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up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five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areas: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top, 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bottom, left, </a:t>
            </a:r>
            <a:r>
              <a:rPr sz="2800" spc="-50" dirty="0">
                <a:latin typeface="Times New Roman"/>
                <a:cs typeface="Times New Roman"/>
              </a:rPr>
              <a:t>right, </a:t>
            </a:r>
            <a:r>
              <a:rPr sz="2800" spc="-145" dirty="0">
                <a:latin typeface="Times New Roman"/>
                <a:cs typeface="Times New Roman"/>
              </a:rPr>
              <a:t>and </a:t>
            </a:r>
            <a:r>
              <a:rPr sz="2800" spc="-80" dirty="0">
                <a:latin typeface="Times New Roman"/>
                <a:cs typeface="Times New Roman"/>
              </a:rPr>
              <a:t>center. </a:t>
            </a:r>
            <a:r>
              <a:rPr sz="2800" spc="-185" dirty="0">
                <a:latin typeface="Times New Roman"/>
                <a:cs typeface="Times New Roman"/>
              </a:rPr>
              <a:t>All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extra </a:t>
            </a:r>
            <a:r>
              <a:rPr sz="2800" spc="-155" dirty="0">
                <a:latin typeface="Times New Roman"/>
                <a:cs typeface="Times New Roman"/>
              </a:rPr>
              <a:t>space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is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placed </a:t>
            </a:r>
            <a:r>
              <a:rPr sz="2800" spc="-110" dirty="0">
                <a:latin typeface="Times New Roman"/>
                <a:cs typeface="Times New Roman"/>
              </a:rPr>
              <a:t>in </a:t>
            </a:r>
            <a:r>
              <a:rPr sz="2800" spc="-70" dirty="0">
                <a:latin typeface="Times New Roman"/>
                <a:cs typeface="Times New Roman"/>
              </a:rPr>
              <a:t>the 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center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area.</a:t>
            </a:r>
            <a:endParaRPr sz="2800" dirty="0">
              <a:latin typeface="Times New Roman"/>
              <a:cs typeface="Times New Roman"/>
            </a:endParaRPr>
          </a:p>
          <a:p>
            <a:pPr marL="287020" marR="1905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800" spc="-140" dirty="0" err="1">
                <a:latin typeface="Times New Roman"/>
                <a:cs typeface="Times New Roman"/>
              </a:rPr>
              <a:t>GridLayout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makes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spc="-210" dirty="0">
                <a:latin typeface="Times New Roman"/>
                <a:cs typeface="Times New Roman"/>
              </a:rPr>
              <a:t>a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bunch</a:t>
            </a:r>
            <a:r>
              <a:rPr sz="2800" spc="38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of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components </a:t>
            </a:r>
            <a:r>
              <a:rPr sz="2800" spc="-135" dirty="0">
                <a:latin typeface="Times New Roman"/>
                <a:cs typeface="Times New Roman"/>
              </a:rPr>
              <a:t>equal </a:t>
            </a:r>
            <a:r>
              <a:rPr sz="2800" spc="-110" dirty="0">
                <a:latin typeface="Times New Roman"/>
                <a:cs typeface="Times New Roman"/>
              </a:rPr>
              <a:t>in </a:t>
            </a:r>
            <a:r>
              <a:rPr sz="2800" spc="-160" dirty="0">
                <a:latin typeface="Times New Roman"/>
                <a:cs typeface="Times New Roman"/>
              </a:rPr>
              <a:t>size </a:t>
            </a:r>
            <a:r>
              <a:rPr sz="2800" spc="-155" dirty="0">
                <a:latin typeface="Times New Roman"/>
                <a:cs typeface="Times New Roman"/>
              </a:rPr>
              <a:t> 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displays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them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in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requested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number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rows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columns.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2399133"/>
            <a:ext cx="7086600" cy="36968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368249"/>
            <a:ext cx="8301990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</a:tabLst>
            </a:pPr>
            <a:r>
              <a:rPr sz="2600" spc="-175" dirty="0">
                <a:latin typeface="Times New Roman"/>
                <a:cs typeface="Times New Roman"/>
              </a:rPr>
              <a:t>FlowLayout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default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layout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manager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for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every</a:t>
            </a:r>
            <a:r>
              <a:rPr sz="2600" spc="38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JPanel.</a:t>
            </a:r>
            <a:r>
              <a:rPr sz="2600" spc="409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It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simply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Times New Roman"/>
                <a:cs typeface="Times New Roman"/>
              </a:rPr>
              <a:t>lays</a:t>
            </a:r>
            <a:r>
              <a:rPr sz="2600" spc="-20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out </a:t>
            </a:r>
            <a:r>
              <a:rPr sz="2600" spc="-114" dirty="0">
                <a:latin typeface="Times New Roman"/>
                <a:cs typeface="Times New Roman"/>
              </a:rPr>
              <a:t>components </a:t>
            </a:r>
            <a:r>
              <a:rPr sz="2600" spc="-120" dirty="0">
                <a:latin typeface="Times New Roman"/>
                <a:cs typeface="Times New Roman"/>
              </a:rPr>
              <a:t>in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single</a:t>
            </a:r>
            <a:r>
              <a:rPr sz="2600" spc="36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row, </a:t>
            </a:r>
            <a:r>
              <a:rPr sz="2600" spc="-85" dirty="0">
                <a:latin typeface="Times New Roman"/>
                <a:cs typeface="Times New Roman"/>
              </a:rPr>
              <a:t>starting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new</a:t>
            </a:r>
            <a:r>
              <a:rPr sz="2600" spc="3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row </a:t>
            </a:r>
            <a:r>
              <a:rPr sz="2600" spc="-160" dirty="0">
                <a:latin typeface="Times New Roman"/>
                <a:cs typeface="Times New Roman"/>
              </a:rPr>
              <a:t>if 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i</a:t>
            </a:r>
            <a:r>
              <a:rPr sz="2600" spc="-40" dirty="0">
                <a:latin typeface="Times New Roman"/>
                <a:cs typeface="Times New Roman"/>
              </a:rPr>
              <a:t>t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on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80" dirty="0">
                <a:latin typeface="Times New Roman"/>
                <a:cs typeface="Times New Roman"/>
              </a:rPr>
              <a:t>iner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i</a:t>
            </a:r>
            <a:r>
              <a:rPr sz="2600" spc="-195" dirty="0">
                <a:latin typeface="Times New Roman"/>
                <a:cs typeface="Times New Roman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no</a:t>
            </a:r>
            <a:r>
              <a:rPr sz="2600" spc="-45" dirty="0">
                <a:latin typeface="Times New Roman"/>
                <a:cs typeface="Times New Roman"/>
              </a:rPr>
              <a:t>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90" dirty="0">
                <a:latin typeface="Times New Roman"/>
                <a:cs typeface="Times New Roman"/>
              </a:rPr>
              <a:t>u</a:t>
            </a:r>
            <a:r>
              <a:rPr sz="2600" spc="-155" dirty="0">
                <a:latin typeface="Times New Roman"/>
                <a:cs typeface="Times New Roman"/>
              </a:rPr>
              <a:t>ffi</a:t>
            </a:r>
            <a:r>
              <a:rPr sz="2600" spc="-210" dirty="0">
                <a:latin typeface="Times New Roman"/>
                <a:cs typeface="Times New Roman"/>
              </a:rPr>
              <a:t>c</a:t>
            </a:r>
            <a:r>
              <a:rPr sz="2600" spc="-90" dirty="0">
                <a:latin typeface="Times New Roman"/>
                <a:cs typeface="Times New Roman"/>
              </a:rPr>
              <a:t>i</a:t>
            </a:r>
            <a:r>
              <a:rPr sz="2600" spc="-140" dirty="0">
                <a:latin typeface="Times New Roman"/>
                <a:cs typeface="Times New Roman"/>
              </a:rPr>
              <a:t>e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50" dirty="0">
                <a:latin typeface="Times New Roman"/>
                <a:cs typeface="Times New Roman"/>
              </a:rPr>
              <a:t>l</a:t>
            </a:r>
            <a:r>
              <a:rPr sz="2600" spc="-220" dirty="0">
                <a:latin typeface="Times New Roman"/>
                <a:cs typeface="Times New Roman"/>
              </a:rPr>
              <a:t>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wi</a:t>
            </a:r>
            <a:r>
              <a:rPr sz="2600" spc="-140" dirty="0">
                <a:latin typeface="Times New Roman"/>
                <a:cs typeface="Times New Roman"/>
              </a:rPr>
              <a:t>d</a:t>
            </a:r>
            <a:r>
              <a:rPr sz="2600" spc="-155" dirty="0">
                <a:latin typeface="Times New Roman"/>
                <a:cs typeface="Times New Roman"/>
              </a:rPr>
              <a:t>e</a:t>
            </a:r>
            <a:r>
              <a:rPr sz="2600" spc="10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3051759"/>
            <a:ext cx="8304530" cy="200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</a:tabLst>
            </a:pPr>
            <a:r>
              <a:rPr sz="2600" spc="-135" dirty="0">
                <a:latin typeface="Times New Roman"/>
                <a:cs typeface="Times New Roman"/>
              </a:rPr>
              <a:t>The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CardLayout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class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lets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you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implement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an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area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that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contains 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different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components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at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different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times. </a:t>
            </a: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-33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CardLayout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often </a:t>
            </a:r>
            <a:r>
              <a:rPr sz="2600" spc="-90" dirty="0">
                <a:latin typeface="Times New Roman"/>
                <a:cs typeface="Times New Roman"/>
              </a:rPr>
              <a:t> controlled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by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combo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box,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with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state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combo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box 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determining</a:t>
            </a:r>
            <a:r>
              <a:rPr sz="2600" spc="450" dirty="0">
                <a:latin typeface="Times New Roman"/>
                <a:cs typeface="Times New Roman"/>
              </a:rPr>
              <a:t>  </a:t>
            </a:r>
            <a:r>
              <a:rPr sz="2600" spc="4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which</a:t>
            </a:r>
            <a:r>
              <a:rPr sz="2600" spc="540" dirty="0">
                <a:latin typeface="Times New Roman"/>
                <a:cs typeface="Times New Roman"/>
              </a:rPr>
              <a:t>  </a:t>
            </a:r>
            <a:r>
              <a:rPr sz="2600" spc="5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panel</a:t>
            </a:r>
            <a:r>
              <a:rPr sz="2600" spc="560" dirty="0">
                <a:latin typeface="Times New Roman"/>
                <a:cs typeface="Times New Roman"/>
              </a:rPr>
              <a:t>   </a:t>
            </a:r>
            <a:r>
              <a:rPr sz="2600" spc="-95" dirty="0">
                <a:latin typeface="Times New Roman"/>
                <a:cs typeface="Times New Roman"/>
              </a:rPr>
              <a:t>(group</a:t>
            </a:r>
            <a:r>
              <a:rPr sz="2600" spc="645" dirty="0">
                <a:latin typeface="Times New Roman"/>
                <a:cs typeface="Times New Roman"/>
              </a:rPr>
              <a:t>   </a:t>
            </a:r>
            <a:r>
              <a:rPr sz="2600" spc="-165" dirty="0">
                <a:latin typeface="Times New Roman"/>
                <a:cs typeface="Times New Roman"/>
              </a:rPr>
              <a:t>of</a:t>
            </a:r>
            <a:r>
              <a:rPr sz="2600" spc="480" dirty="0">
                <a:latin typeface="Times New Roman"/>
                <a:cs typeface="Times New Roman"/>
              </a:rPr>
              <a:t> </a:t>
            </a:r>
            <a:r>
              <a:rPr sz="2600" spc="1614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components)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160" dirty="0">
                <a:latin typeface="Times New Roman"/>
                <a:cs typeface="Times New Roman"/>
              </a:rPr>
              <a:t>CardLayout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displays.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458" y="5105400"/>
            <a:ext cx="6417984" cy="14203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1752600"/>
            <a:ext cx="5715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044" y="139954"/>
            <a:ext cx="8168640" cy="1610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80" dirty="0">
                <a:latin typeface="Times New Roman"/>
                <a:cs typeface="Times New Roman"/>
              </a:rPr>
              <a:t>GridBagLayout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sophisticated, </a:t>
            </a:r>
            <a:r>
              <a:rPr sz="2600" spc="-135" dirty="0">
                <a:latin typeface="Times New Roman"/>
                <a:cs typeface="Times New Roman"/>
              </a:rPr>
              <a:t>flexible </a:t>
            </a:r>
            <a:r>
              <a:rPr sz="2600" spc="-155" dirty="0">
                <a:latin typeface="Times New Roman"/>
                <a:cs typeface="Times New Roman"/>
              </a:rPr>
              <a:t>layout </a:t>
            </a:r>
            <a:r>
              <a:rPr sz="2600" spc="-150" dirty="0">
                <a:latin typeface="Times New Roman"/>
                <a:cs typeface="Times New Roman"/>
              </a:rPr>
              <a:t>manager. </a:t>
            </a:r>
            <a:r>
              <a:rPr sz="2600" spc="-80" dirty="0">
                <a:latin typeface="Times New Roman"/>
                <a:cs typeface="Times New Roman"/>
              </a:rPr>
              <a:t>It </a:t>
            </a:r>
            <a:r>
              <a:rPr sz="2600" spc="-170" dirty="0">
                <a:latin typeface="Times New Roman"/>
                <a:cs typeface="Times New Roman"/>
              </a:rPr>
              <a:t>aligns 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components </a:t>
            </a:r>
            <a:r>
              <a:rPr sz="2600" spc="-210" dirty="0">
                <a:latin typeface="Times New Roman"/>
                <a:cs typeface="Times New Roman"/>
              </a:rPr>
              <a:t>by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placing </a:t>
            </a:r>
            <a:r>
              <a:rPr sz="2600" spc="-100" dirty="0">
                <a:latin typeface="Times New Roman"/>
                <a:cs typeface="Times New Roman"/>
              </a:rPr>
              <a:t>them </a:t>
            </a:r>
            <a:r>
              <a:rPr sz="2600" spc="-110" dirty="0">
                <a:latin typeface="Times New Roman"/>
                <a:cs typeface="Times New Roman"/>
              </a:rPr>
              <a:t>within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04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grid </a:t>
            </a:r>
            <a:r>
              <a:rPr sz="2600" spc="-160" dirty="0">
                <a:latin typeface="Times New Roman"/>
                <a:cs typeface="Times New Roman"/>
              </a:rPr>
              <a:t>of </a:t>
            </a:r>
            <a:r>
              <a:rPr sz="2600" spc="-90" dirty="0">
                <a:latin typeface="Times New Roman"/>
                <a:cs typeface="Times New Roman"/>
              </a:rPr>
              <a:t>cells, </a:t>
            </a:r>
            <a:r>
              <a:rPr sz="2600" spc="-160" dirty="0">
                <a:latin typeface="Times New Roman"/>
                <a:cs typeface="Times New Roman"/>
              </a:rPr>
              <a:t>allowing 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components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span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more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one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cell.The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rows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grid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 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have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different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heights,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grid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columns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can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have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different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widths.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044" y="3219399"/>
            <a:ext cx="8268970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13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00" dirty="0">
                <a:latin typeface="Times New Roman"/>
                <a:cs typeface="Times New Roman"/>
              </a:rPr>
              <a:t>B</a:t>
            </a:r>
            <a:r>
              <a:rPr sz="2600" spc="-285" dirty="0">
                <a:latin typeface="Times New Roman"/>
                <a:cs typeface="Times New Roman"/>
              </a:rPr>
              <a:t>o</a:t>
            </a:r>
            <a:r>
              <a:rPr sz="2600" spc="-130" dirty="0">
                <a:latin typeface="Times New Roman"/>
                <a:cs typeface="Times New Roman"/>
              </a:rPr>
              <a:t>x</a:t>
            </a:r>
            <a:r>
              <a:rPr sz="2600" spc="-295" dirty="0">
                <a:latin typeface="Times New Roman"/>
                <a:cs typeface="Times New Roman"/>
              </a:rPr>
              <a:t>L</a:t>
            </a:r>
            <a:r>
              <a:rPr sz="2600" spc="-315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y</a:t>
            </a:r>
            <a:r>
              <a:rPr sz="2600" spc="-130" dirty="0">
                <a:latin typeface="Times New Roman"/>
                <a:cs typeface="Times New Roman"/>
              </a:rPr>
              <a:t>ou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25" dirty="0">
                <a:latin typeface="Times New Roman"/>
                <a:cs typeface="Times New Roman"/>
              </a:rPr>
              <a:t>l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200" dirty="0">
                <a:latin typeface="Times New Roman"/>
                <a:cs typeface="Times New Roman"/>
              </a:rPr>
              <a:t>ss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p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45" dirty="0">
                <a:latin typeface="Times New Roman"/>
                <a:cs typeface="Times New Roman"/>
              </a:rPr>
              <a:t>mp</a:t>
            </a:r>
            <a:r>
              <a:rPr sz="2600" spc="-130" dirty="0">
                <a:latin typeface="Times New Roman"/>
                <a:cs typeface="Times New Roman"/>
              </a:rPr>
              <a:t>on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s</a:t>
            </a:r>
            <a:r>
              <a:rPr sz="2600" spc="-135" dirty="0">
                <a:latin typeface="Times New Roman"/>
                <a:cs typeface="Times New Roman"/>
              </a:rPr>
              <a:t>i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140" dirty="0">
                <a:latin typeface="Times New Roman"/>
                <a:cs typeface="Times New Roman"/>
              </a:rPr>
              <a:t>gle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200" dirty="0">
                <a:latin typeface="Times New Roman"/>
                <a:cs typeface="Times New Roman"/>
              </a:rPr>
              <a:t>o</a:t>
            </a:r>
            <a:r>
              <a:rPr sz="2600" spc="-150" dirty="0">
                <a:latin typeface="Times New Roman"/>
                <a:cs typeface="Times New Roman"/>
              </a:rPr>
              <a:t>w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25" dirty="0">
                <a:latin typeface="Times New Roman"/>
                <a:cs typeface="Times New Roman"/>
              </a:rPr>
              <a:t>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l</a:t>
            </a:r>
            <a:r>
              <a:rPr sz="2600" spc="-155" dirty="0">
                <a:latin typeface="Times New Roman"/>
                <a:cs typeface="Times New Roman"/>
              </a:rPr>
              <a:t>u</a:t>
            </a:r>
            <a:r>
              <a:rPr sz="2600" spc="-75" dirty="0">
                <a:latin typeface="Times New Roman"/>
                <a:cs typeface="Times New Roman"/>
              </a:rPr>
              <a:t>mn</a:t>
            </a:r>
            <a:r>
              <a:rPr sz="2600" spc="-30" dirty="0">
                <a:latin typeface="Times New Roman"/>
                <a:cs typeface="Times New Roman"/>
              </a:rPr>
              <a:t>.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It 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pe</a:t>
            </a:r>
            <a:r>
              <a:rPr sz="2600" spc="-120" dirty="0">
                <a:latin typeface="Times New Roman"/>
                <a:cs typeface="Times New Roman"/>
              </a:rPr>
              <a:t>c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204" dirty="0">
                <a:latin typeface="Times New Roman"/>
                <a:cs typeface="Times New Roman"/>
              </a:rPr>
              <a:t>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135" dirty="0">
                <a:latin typeface="Times New Roman"/>
                <a:cs typeface="Times New Roman"/>
              </a:rPr>
              <a:t>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pon</a:t>
            </a:r>
            <a:r>
              <a:rPr sz="2600" spc="-100" dirty="0">
                <a:latin typeface="Times New Roman"/>
                <a:cs typeface="Times New Roman"/>
              </a:rPr>
              <a:t>ent</a:t>
            </a:r>
            <a:r>
              <a:rPr sz="2600" spc="-9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'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20" dirty="0">
                <a:latin typeface="Times New Roman"/>
                <a:cs typeface="Times New Roman"/>
              </a:rPr>
              <a:t>eq</a:t>
            </a:r>
            <a:r>
              <a:rPr sz="2600" spc="-140" dirty="0">
                <a:latin typeface="Times New Roman"/>
                <a:cs typeface="Times New Roman"/>
              </a:rPr>
              <a:t>u</a:t>
            </a:r>
            <a:r>
              <a:rPr sz="2600" spc="-165" dirty="0">
                <a:latin typeface="Times New Roman"/>
                <a:cs typeface="Times New Roman"/>
              </a:rPr>
              <a:t>e</a:t>
            </a:r>
            <a:r>
              <a:rPr sz="2600" spc="-140" dirty="0">
                <a:latin typeface="Times New Roman"/>
                <a:cs typeface="Times New Roman"/>
              </a:rPr>
              <a:t>s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x</a:t>
            </a:r>
            <a:r>
              <a:rPr sz="2600" spc="-80" dirty="0">
                <a:latin typeface="Times New Roman"/>
                <a:cs typeface="Times New Roman"/>
              </a:rPr>
              <a:t>i</a:t>
            </a:r>
            <a:r>
              <a:rPr sz="2600" spc="-229" dirty="0">
                <a:latin typeface="Times New Roman"/>
                <a:cs typeface="Times New Roman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s</a:t>
            </a:r>
            <a:r>
              <a:rPr sz="2600" spc="-135" dirty="0">
                <a:latin typeface="Times New Roman"/>
                <a:cs typeface="Times New Roman"/>
              </a:rPr>
              <a:t>i</a:t>
            </a:r>
            <a:r>
              <a:rPr sz="2600" spc="-225" dirty="0">
                <a:latin typeface="Times New Roman"/>
                <a:cs typeface="Times New Roman"/>
              </a:rPr>
              <a:t>z</a:t>
            </a:r>
            <a:r>
              <a:rPr sz="2600" spc="-155" dirty="0">
                <a:latin typeface="Times New Roman"/>
                <a:cs typeface="Times New Roman"/>
              </a:rPr>
              <a:t>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25" dirty="0">
                <a:latin typeface="Times New Roman"/>
                <a:cs typeface="Times New Roman"/>
              </a:rPr>
              <a:t>ls</a:t>
            </a:r>
            <a:r>
              <a:rPr sz="2600" spc="-18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le</a:t>
            </a:r>
            <a:r>
              <a:rPr sz="2600" spc="-40" dirty="0">
                <a:latin typeface="Times New Roman"/>
                <a:cs typeface="Times New Roman"/>
              </a:rPr>
              <a:t>t</a:t>
            </a:r>
            <a:r>
              <a:rPr sz="2600" spc="-155" dirty="0">
                <a:latin typeface="Times New Roman"/>
                <a:cs typeface="Times New Roman"/>
              </a:rPr>
              <a:t>s  </a:t>
            </a:r>
            <a:r>
              <a:rPr sz="2600" spc="-270" dirty="0">
                <a:latin typeface="Times New Roman"/>
                <a:cs typeface="Times New Roman"/>
              </a:rPr>
              <a:t>y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14" dirty="0">
                <a:latin typeface="Times New Roman"/>
                <a:cs typeface="Times New Roman"/>
              </a:rPr>
              <a:t>u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20" dirty="0">
                <a:latin typeface="Times New Roman"/>
                <a:cs typeface="Times New Roman"/>
              </a:rPr>
              <a:t>l</a:t>
            </a:r>
            <a:r>
              <a:rPr sz="2600" spc="-114" dirty="0">
                <a:latin typeface="Times New Roman"/>
                <a:cs typeface="Times New Roman"/>
              </a:rPr>
              <a:t>i</a:t>
            </a:r>
            <a:r>
              <a:rPr sz="2600" spc="-170" dirty="0">
                <a:latin typeface="Times New Roman"/>
                <a:cs typeface="Times New Roman"/>
              </a:rPr>
              <a:t>gn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130" dirty="0">
                <a:latin typeface="Times New Roman"/>
                <a:cs typeface="Times New Roman"/>
              </a:rPr>
              <a:t>pon</a:t>
            </a:r>
            <a:r>
              <a:rPr sz="2600" spc="-100" dirty="0">
                <a:latin typeface="Times New Roman"/>
                <a:cs typeface="Times New Roman"/>
              </a:rPr>
              <a:t>ent</a:t>
            </a:r>
            <a:r>
              <a:rPr sz="2600" spc="-135" dirty="0">
                <a:latin typeface="Times New Roman"/>
                <a:cs typeface="Times New Roman"/>
              </a:rPr>
              <a:t>s</a:t>
            </a:r>
            <a:r>
              <a:rPr sz="2600" spc="10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4267200"/>
            <a:ext cx="4090254" cy="22491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752600"/>
            <a:ext cx="45720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596849"/>
            <a:ext cx="822325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  <a:tab pos="2064385" algn="l"/>
                <a:tab pos="2982595" algn="l"/>
                <a:tab pos="3710940" algn="l"/>
                <a:tab pos="4281170" algn="l"/>
                <a:tab pos="5687060" algn="l"/>
                <a:tab pos="6303010" algn="l"/>
                <a:tab pos="7388225" algn="l"/>
              </a:tabLst>
            </a:pPr>
            <a:r>
              <a:rPr sz="2600" spc="-105" dirty="0">
                <a:latin typeface="Times New Roman"/>
                <a:cs typeface="Times New Roman"/>
              </a:rPr>
              <a:t>G</a:t>
            </a:r>
            <a:r>
              <a:rPr sz="2600" spc="-80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05" dirty="0">
                <a:latin typeface="Times New Roman"/>
                <a:cs typeface="Times New Roman"/>
              </a:rPr>
              <a:t>u</a:t>
            </a:r>
            <a:r>
              <a:rPr sz="2600" spc="-130" dirty="0">
                <a:latin typeface="Times New Roman"/>
                <a:cs typeface="Times New Roman"/>
              </a:rPr>
              <a:t>p</a:t>
            </a:r>
            <a:r>
              <a:rPr sz="2600" spc="-275" dirty="0">
                <a:latin typeface="Times New Roman"/>
                <a:cs typeface="Times New Roman"/>
              </a:rPr>
              <a:t>L</a:t>
            </a:r>
            <a:r>
              <a:rPr sz="2600" spc="-320" dirty="0">
                <a:latin typeface="Times New Roman"/>
                <a:cs typeface="Times New Roman"/>
              </a:rPr>
              <a:t>a</a:t>
            </a:r>
            <a:r>
              <a:rPr sz="2600" spc="-250" dirty="0">
                <a:latin typeface="Times New Roman"/>
                <a:cs typeface="Times New Roman"/>
              </a:rPr>
              <a:t>y</a:t>
            </a:r>
            <a:r>
              <a:rPr sz="2600" spc="-130" dirty="0">
                <a:latin typeface="Times New Roman"/>
                <a:cs typeface="Times New Roman"/>
              </a:rPr>
              <a:t>ou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29" dirty="0">
                <a:latin typeface="Times New Roman"/>
                <a:cs typeface="Times New Roman"/>
              </a:rPr>
              <a:t>w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40" dirty="0">
                <a:latin typeface="Times New Roman"/>
                <a:cs typeface="Times New Roman"/>
              </a:rPr>
              <a:t>r</a:t>
            </a:r>
            <a:r>
              <a:rPr sz="2600" spc="-175" dirty="0">
                <a:latin typeface="Times New Roman"/>
                <a:cs typeface="Times New Roman"/>
              </a:rPr>
              <a:t>k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95" dirty="0">
                <a:latin typeface="Times New Roman"/>
                <a:cs typeface="Times New Roman"/>
              </a:rPr>
              <a:t>wi</a:t>
            </a:r>
            <a:r>
              <a:rPr sz="2600" spc="-45" dirty="0">
                <a:latin typeface="Times New Roman"/>
                <a:cs typeface="Times New Roman"/>
              </a:rPr>
              <a:t>t</a:t>
            </a:r>
            <a:r>
              <a:rPr sz="2600" spc="-16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75" dirty="0">
                <a:latin typeface="Times New Roman"/>
                <a:cs typeface="Times New Roman"/>
              </a:rPr>
              <a:t>h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75" dirty="0">
                <a:latin typeface="Times New Roman"/>
                <a:cs typeface="Times New Roman"/>
              </a:rPr>
              <a:t>h</a:t>
            </a:r>
            <a:r>
              <a:rPr sz="2600" spc="-105" dirty="0">
                <a:latin typeface="Times New Roman"/>
                <a:cs typeface="Times New Roman"/>
              </a:rPr>
              <a:t>o</a:t>
            </a:r>
            <a:r>
              <a:rPr sz="2600" spc="6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i</a:t>
            </a:r>
            <a:r>
              <a:rPr sz="2600" spc="-225" dirty="0">
                <a:latin typeface="Times New Roman"/>
                <a:cs typeface="Times New Roman"/>
              </a:rPr>
              <a:t>z</a:t>
            </a:r>
            <a:r>
              <a:rPr sz="2600" spc="-105" dirty="0">
                <a:latin typeface="Times New Roman"/>
                <a:cs typeface="Times New Roman"/>
              </a:rPr>
              <a:t>o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4" dirty="0">
                <a:latin typeface="Times New Roman"/>
                <a:cs typeface="Times New Roman"/>
              </a:rPr>
              <a:t>a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114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0" dirty="0">
                <a:latin typeface="Times New Roman"/>
                <a:cs typeface="Times New Roman"/>
              </a:rPr>
              <a:t>v</a:t>
            </a:r>
            <a:r>
              <a:rPr sz="2600" spc="-45" dirty="0">
                <a:latin typeface="Times New Roman"/>
                <a:cs typeface="Times New Roman"/>
              </a:rPr>
              <a:t>e</a:t>
            </a:r>
            <a:r>
              <a:rPr sz="2600" spc="55" dirty="0">
                <a:latin typeface="Times New Roman"/>
                <a:cs typeface="Times New Roman"/>
              </a:rPr>
              <a:t>r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i</a:t>
            </a:r>
            <a:r>
              <a:rPr sz="2600" spc="-165" dirty="0">
                <a:latin typeface="Times New Roman"/>
                <a:cs typeface="Times New Roman"/>
              </a:rPr>
              <a:t>c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0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320" dirty="0">
                <a:latin typeface="Times New Roman"/>
                <a:cs typeface="Times New Roman"/>
              </a:rPr>
              <a:t>a</a:t>
            </a:r>
            <a:r>
              <a:rPr sz="2600" spc="-250" dirty="0">
                <a:latin typeface="Times New Roman"/>
                <a:cs typeface="Times New Roman"/>
              </a:rPr>
              <a:t>y</a:t>
            </a:r>
            <a:r>
              <a:rPr sz="2600" spc="-130" dirty="0">
                <a:latin typeface="Times New Roman"/>
                <a:cs typeface="Times New Roman"/>
              </a:rPr>
              <a:t>ou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55" dirty="0">
                <a:latin typeface="Times New Roman"/>
                <a:cs typeface="Times New Roman"/>
              </a:rPr>
              <a:t>s  </a:t>
            </a:r>
            <a:r>
              <a:rPr sz="2600" spc="-120" dirty="0">
                <a:latin typeface="Times New Roman"/>
                <a:cs typeface="Times New Roman"/>
              </a:rPr>
              <a:t>separately.The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layout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defined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each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dimension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independently.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3357117"/>
            <a:ext cx="8226425" cy="8172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9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655" algn="l"/>
                <a:tab pos="2033905" algn="l"/>
                <a:tab pos="2634615" algn="l"/>
                <a:tab pos="3198495" algn="l"/>
                <a:tab pos="3744595" algn="l"/>
                <a:tab pos="4893945" algn="l"/>
                <a:tab pos="5296535" algn="l"/>
                <a:tab pos="5744845" algn="l"/>
                <a:tab pos="7089140" algn="l"/>
              </a:tabLst>
            </a:pPr>
            <a:r>
              <a:rPr sz="2600" spc="-254" dirty="0">
                <a:latin typeface="Times New Roman"/>
                <a:cs typeface="Times New Roman"/>
              </a:rPr>
              <a:t>S</a:t>
            </a:r>
            <a:r>
              <a:rPr sz="2600" spc="-245" dirty="0">
                <a:latin typeface="Times New Roman"/>
                <a:cs typeface="Times New Roman"/>
              </a:rPr>
              <a:t>p</a:t>
            </a:r>
            <a:r>
              <a:rPr sz="2600" spc="65" dirty="0">
                <a:latin typeface="Times New Roman"/>
                <a:cs typeface="Times New Roman"/>
              </a:rPr>
              <a:t>r</a:t>
            </a:r>
            <a:r>
              <a:rPr sz="2600" spc="-105" dirty="0">
                <a:latin typeface="Times New Roman"/>
                <a:cs typeface="Times New Roman"/>
              </a:rPr>
              <a:t>i</a:t>
            </a:r>
            <a:r>
              <a:rPr sz="2600" spc="-130" dirty="0">
                <a:latin typeface="Times New Roman"/>
                <a:cs typeface="Times New Roman"/>
              </a:rPr>
              <a:t>n</a:t>
            </a:r>
            <a:r>
              <a:rPr sz="2600" spc="-235" dirty="0">
                <a:latin typeface="Times New Roman"/>
                <a:cs typeface="Times New Roman"/>
              </a:rPr>
              <a:t>g</a:t>
            </a:r>
            <a:r>
              <a:rPr sz="2600" spc="-265" dirty="0">
                <a:latin typeface="Times New Roman"/>
                <a:cs typeface="Times New Roman"/>
              </a:rPr>
              <a:t>L</a:t>
            </a:r>
            <a:r>
              <a:rPr sz="2600" spc="-295" dirty="0">
                <a:latin typeface="Times New Roman"/>
                <a:cs typeface="Times New Roman"/>
              </a:rPr>
              <a:t>a</a:t>
            </a:r>
            <a:r>
              <a:rPr sz="2600" spc="-270" dirty="0">
                <a:latin typeface="Times New Roman"/>
                <a:cs typeface="Times New Roman"/>
              </a:rPr>
              <a:t>y</a:t>
            </a:r>
            <a:r>
              <a:rPr sz="2600" spc="-105" dirty="0">
                <a:latin typeface="Times New Roman"/>
                <a:cs typeface="Times New Roman"/>
              </a:rPr>
              <a:t>o</a:t>
            </a:r>
            <a:r>
              <a:rPr sz="2600" spc="-130" dirty="0">
                <a:latin typeface="Times New Roman"/>
                <a:cs typeface="Times New Roman"/>
              </a:rPr>
              <a:t>u</a:t>
            </a:r>
            <a:r>
              <a:rPr sz="2600" spc="3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80" dirty="0">
                <a:latin typeface="Times New Roman"/>
                <a:cs typeface="Times New Roman"/>
              </a:rPr>
              <a:t>l</a:t>
            </a:r>
            <a:r>
              <a:rPr sz="2600" spc="-320" dirty="0">
                <a:latin typeface="Times New Roman"/>
                <a:cs typeface="Times New Roman"/>
              </a:rPr>
              <a:t>a</a:t>
            </a:r>
            <a:r>
              <a:rPr sz="2600" spc="-210" dirty="0">
                <a:latin typeface="Times New Roman"/>
                <a:cs typeface="Times New Roman"/>
              </a:rPr>
              <a:t>ys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85" dirty="0">
                <a:latin typeface="Times New Roman"/>
                <a:cs typeface="Times New Roman"/>
              </a:rPr>
              <a:t>ou</a:t>
            </a:r>
            <a:r>
              <a:rPr sz="2600" spc="-4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60" dirty="0">
                <a:latin typeface="Times New Roman"/>
                <a:cs typeface="Times New Roman"/>
              </a:rPr>
              <a:t>t</a:t>
            </a:r>
            <a:r>
              <a:rPr sz="2600" spc="-135" dirty="0">
                <a:latin typeface="Times New Roman"/>
                <a:cs typeface="Times New Roman"/>
              </a:rPr>
              <a:t>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5" dirty="0">
                <a:latin typeface="Times New Roman"/>
                <a:cs typeface="Times New Roman"/>
              </a:rPr>
              <a:t>c</a:t>
            </a:r>
            <a:r>
              <a:rPr sz="2600" spc="-114" dirty="0">
                <a:latin typeface="Times New Roman"/>
                <a:cs typeface="Times New Roman"/>
              </a:rPr>
              <a:t>hil</a:t>
            </a:r>
            <a:r>
              <a:rPr sz="2600" spc="-155" dirty="0">
                <a:latin typeface="Times New Roman"/>
                <a:cs typeface="Times New Roman"/>
              </a:rPr>
              <a:t>d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10" dirty="0">
                <a:latin typeface="Times New Roman"/>
                <a:cs typeface="Times New Roman"/>
              </a:rPr>
              <a:t>en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5" dirty="0">
                <a:latin typeface="Times New Roman"/>
                <a:cs typeface="Times New Roman"/>
              </a:rPr>
              <a:t>i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04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204" dirty="0">
                <a:latin typeface="Times New Roman"/>
                <a:cs typeface="Times New Roman"/>
              </a:rPr>
              <a:t>s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i</a:t>
            </a:r>
            <a:r>
              <a:rPr sz="2600" spc="-240" dirty="0">
                <a:latin typeface="Times New Roman"/>
                <a:cs typeface="Times New Roman"/>
              </a:rPr>
              <a:t>a</a:t>
            </a:r>
            <a:r>
              <a:rPr sz="2600" spc="35" dirty="0">
                <a:latin typeface="Times New Roman"/>
                <a:cs typeface="Times New Roman"/>
              </a:rPr>
              <a:t>t</a:t>
            </a:r>
            <a:r>
              <a:rPr sz="2600" spc="-110" dirty="0">
                <a:latin typeface="Times New Roman"/>
                <a:cs typeface="Times New Roman"/>
              </a:rPr>
              <a:t>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50" dirty="0">
                <a:latin typeface="Times New Roman"/>
                <a:cs typeface="Times New Roman"/>
              </a:rPr>
              <a:t>c</a:t>
            </a:r>
            <a:r>
              <a:rPr sz="2600" spc="-125" dirty="0">
                <a:latin typeface="Times New Roman"/>
                <a:cs typeface="Times New Roman"/>
              </a:rPr>
              <a:t>on</a:t>
            </a:r>
            <a:r>
              <a:rPr sz="2600" spc="60" dirty="0">
                <a:latin typeface="Times New Roman"/>
                <a:cs typeface="Times New Roman"/>
              </a:rPr>
              <a:t>t</a:t>
            </a:r>
            <a:r>
              <a:rPr sz="2600" spc="-140" dirty="0">
                <a:latin typeface="Times New Roman"/>
                <a:cs typeface="Times New Roman"/>
              </a:rPr>
              <a:t>ain</a:t>
            </a:r>
            <a:r>
              <a:rPr sz="2600" spc="-130" dirty="0">
                <a:latin typeface="Times New Roman"/>
                <a:cs typeface="Times New Roman"/>
              </a:rPr>
              <a:t>e</a:t>
            </a:r>
            <a:r>
              <a:rPr sz="2600" spc="20" dirty="0">
                <a:latin typeface="Times New Roman"/>
                <a:cs typeface="Times New Roman"/>
              </a:rPr>
              <a:t>r  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cc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40" dirty="0">
                <a:latin typeface="Times New Roman"/>
                <a:cs typeface="Times New Roman"/>
              </a:rPr>
              <a:t>r</a:t>
            </a:r>
            <a:r>
              <a:rPr sz="2600" spc="-75" dirty="0">
                <a:latin typeface="Times New Roman"/>
                <a:cs typeface="Times New Roman"/>
              </a:rPr>
              <a:t>d</a:t>
            </a:r>
            <a:r>
              <a:rPr sz="2600" spc="-155" dirty="0">
                <a:latin typeface="Times New Roman"/>
                <a:cs typeface="Times New Roman"/>
              </a:rPr>
              <a:t>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o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set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o</a:t>
            </a:r>
            <a:r>
              <a:rPr sz="2600" spc="-125" dirty="0">
                <a:latin typeface="Times New Roman"/>
                <a:cs typeface="Times New Roman"/>
              </a:rPr>
              <a:t>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-130" dirty="0">
                <a:latin typeface="Times New Roman"/>
                <a:cs typeface="Times New Roman"/>
              </a:rPr>
              <a:t>on</a:t>
            </a:r>
            <a:r>
              <a:rPr sz="2600" spc="-100" dirty="0">
                <a:latin typeface="Times New Roman"/>
                <a:cs typeface="Times New Roman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t</a:t>
            </a:r>
            <a:r>
              <a:rPr sz="2600" spc="-85" dirty="0">
                <a:latin typeface="Times New Roman"/>
                <a:cs typeface="Times New Roman"/>
              </a:rPr>
              <a:t>r</a:t>
            </a:r>
            <a:r>
              <a:rPr sz="2600" spc="-125" dirty="0">
                <a:latin typeface="Times New Roman"/>
                <a:cs typeface="Times New Roman"/>
              </a:rPr>
              <a:t>a</a:t>
            </a:r>
            <a:r>
              <a:rPr sz="2600" spc="-105" dirty="0">
                <a:latin typeface="Times New Roman"/>
                <a:cs typeface="Times New Roman"/>
              </a:rPr>
              <a:t>ints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524000"/>
            <a:ext cx="4693818" cy="17824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800" y="4495800"/>
            <a:ext cx="3819900" cy="18466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07009"/>
            <a:ext cx="13081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JButton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43838"/>
            <a:ext cx="50253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2800" spc="-235" dirty="0">
                <a:latin typeface="Times New Roman"/>
                <a:cs typeface="Times New Roman"/>
              </a:rPr>
              <a:t>J</a:t>
            </a:r>
            <a:r>
              <a:rPr sz="2800" spc="-385" dirty="0">
                <a:latin typeface="Times New Roman"/>
                <a:cs typeface="Times New Roman"/>
              </a:rPr>
              <a:t>B</a:t>
            </a:r>
            <a:r>
              <a:rPr sz="2800" spc="-110" dirty="0">
                <a:latin typeface="Times New Roman"/>
                <a:cs typeface="Times New Roman"/>
              </a:rPr>
              <a:t>u</a:t>
            </a:r>
            <a:r>
              <a:rPr sz="2800" spc="-40" dirty="0">
                <a:latin typeface="Times New Roman"/>
                <a:cs typeface="Times New Roman"/>
              </a:rPr>
              <a:t>tton</a:t>
            </a:r>
            <a:r>
              <a:rPr sz="2800" spc="-120" dirty="0">
                <a:latin typeface="Times New Roman"/>
                <a:cs typeface="Times New Roman"/>
              </a:rPr>
              <a:t> e</a:t>
            </a:r>
            <a:r>
              <a:rPr sz="2800" spc="-110" dirty="0">
                <a:latin typeface="Times New Roman"/>
                <a:cs typeface="Times New Roman"/>
              </a:rPr>
              <a:t>x</a:t>
            </a:r>
            <a:r>
              <a:rPr sz="2800" spc="-25" dirty="0">
                <a:latin typeface="Times New Roman"/>
                <a:cs typeface="Times New Roman"/>
              </a:rPr>
              <a:t>t</a:t>
            </a:r>
            <a:r>
              <a:rPr sz="2800" spc="-60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nd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310" dirty="0">
                <a:latin typeface="Times New Roman"/>
                <a:cs typeface="Times New Roman"/>
              </a:rPr>
              <a:t> </a:t>
            </a:r>
            <a:r>
              <a:rPr sz="2800" spc="-350" dirty="0">
                <a:latin typeface="Times New Roman"/>
                <a:cs typeface="Times New Roman"/>
              </a:rPr>
              <a:t>A</a:t>
            </a:r>
            <a:r>
              <a:rPr sz="2800" spc="-160" dirty="0">
                <a:latin typeface="Times New Roman"/>
                <a:cs typeface="Times New Roman"/>
              </a:rPr>
              <a:t>b</a:t>
            </a:r>
            <a:r>
              <a:rPr sz="2800" spc="-210" dirty="0">
                <a:latin typeface="Times New Roman"/>
                <a:cs typeface="Times New Roman"/>
              </a:rPr>
              <a:t>s</a:t>
            </a:r>
            <a:r>
              <a:rPr sz="2800" spc="30" dirty="0">
                <a:latin typeface="Times New Roman"/>
                <a:cs typeface="Times New Roman"/>
              </a:rPr>
              <a:t>t</a:t>
            </a:r>
            <a:r>
              <a:rPr sz="2800" spc="25" dirty="0">
                <a:latin typeface="Times New Roman"/>
                <a:cs typeface="Times New Roman"/>
              </a:rPr>
              <a:t>r</a:t>
            </a:r>
            <a:r>
              <a:rPr sz="2800" spc="-170" dirty="0">
                <a:latin typeface="Times New Roman"/>
                <a:cs typeface="Times New Roman"/>
              </a:rPr>
              <a:t>act</a:t>
            </a:r>
            <a:r>
              <a:rPr sz="2800" spc="-280" dirty="0">
                <a:latin typeface="Times New Roman"/>
                <a:cs typeface="Times New Roman"/>
              </a:rPr>
              <a:t>B</a:t>
            </a:r>
            <a:r>
              <a:rPr sz="2800" spc="-110" dirty="0">
                <a:latin typeface="Times New Roman"/>
                <a:cs typeface="Times New Roman"/>
              </a:rPr>
              <a:t>u</a:t>
            </a:r>
            <a:r>
              <a:rPr sz="2800" spc="-10" dirty="0">
                <a:latin typeface="Times New Roman"/>
                <a:cs typeface="Times New Roman"/>
              </a:rPr>
              <a:t>tt</a:t>
            </a:r>
            <a:r>
              <a:rPr sz="2800" spc="-40" dirty="0">
                <a:latin typeface="Times New Roman"/>
                <a:cs typeface="Times New Roman"/>
              </a:rPr>
              <a:t>o</a:t>
            </a:r>
            <a:r>
              <a:rPr sz="2800" spc="-114" dirty="0">
                <a:latin typeface="Times New Roman"/>
                <a:cs typeface="Times New Roman"/>
              </a:rPr>
              <a:t>n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cla</a:t>
            </a:r>
            <a:r>
              <a:rPr sz="2800" spc="-165" dirty="0">
                <a:latin typeface="Times New Roman"/>
                <a:cs typeface="Times New Roman"/>
              </a:rPr>
              <a:t>s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425" y="1583898"/>
            <a:ext cx="8265737" cy="39487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11505"/>
            <a:ext cx="80676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C</a:t>
            </a:r>
            <a:r>
              <a:rPr spc="-75" dirty="0"/>
              <a:t>o</a:t>
            </a:r>
            <a:r>
              <a:rPr spc="-95" dirty="0"/>
              <a:t>m</a:t>
            </a:r>
            <a:r>
              <a:rPr spc="-110" dirty="0"/>
              <a:t>m</a:t>
            </a:r>
            <a:r>
              <a:rPr spc="75" dirty="0"/>
              <a:t>on</a:t>
            </a:r>
            <a:r>
              <a:rPr spc="-45" dirty="0"/>
              <a:t>l</a:t>
            </a:r>
            <a:r>
              <a:rPr dirty="0"/>
              <a:t>y</a:t>
            </a:r>
            <a:r>
              <a:rPr spc="-70" dirty="0"/>
              <a:t> </a:t>
            </a:r>
            <a:r>
              <a:rPr spc="5" dirty="0"/>
              <a:t>u</a:t>
            </a:r>
            <a:r>
              <a:rPr spc="-5" dirty="0"/>
              <a:t>s</a:t>
            </a:r>
            <a:r>
              <a:rPr spc="10" dirty="0"/>
              <a:t>e</a:t>
            </a:r>
            <a:r>
              <a:rPr spc="50" dirty="0"/>
              <a:t>d</a:t>
            </a:r>
            <a:r>
              <a:rPr spc="-70" dirty="0"/>
              <a:t> </a:t>
            </a:r>
            <a:r>
              <a:rPr spc="-125" dirty="0"/>
              <a:t>M</a:t>
            </a:r>
            <a:r>
              <a:rPr spc="50" dirty="0"/>
              <a:t>etho</a:t>
            </a:r>
            <a:r>
              <a:rPr spc="80" dirty="0"/>
              <a:t>d</a:t>
            </a:r>
            <a:r>
              <a:rPr spc="-75" dirty="0"/>
              <a:t>s</a:t>
            </a:r>
            <a:r>
              <a:rPr spc="-95" dirty="0"/>
              <a:t> </a:t>
            </a:r>
            <a:r>
              <a:rPr spc="30" dirty="0"/>
              <a:t>of</a:t>
            </a:r>
            <a:r>
              <a:rPr spc="-195" dirty="0"/>
              <a:t> </a:t>
            </a:r>
            <a:r>
              <a:rPr spc="-55" dirty="0"/>
              <a:t>Abstract</a:t>
            </a:r>
            <a:r>
              <a:rPr spc="-70" dirty="0"/>
              <a:t>B</a:t>
            </a:r>
            <a:r>
              <a:rPr spc="30" dirty="0"/>
              <a:t>ut</a:t>
            </a:r>
            <a:r>
              <a:rPr spc="10" dirty="0"/>
              <a:t>t</a:t>
            </a:r>
            <a:r>
              <a:rPr spc="70" dirty="0"/>
              <a:t>on</a:t>
            </a:r>
            <a:r>
              <a:rPr spc="-60" dirty="0"/>
              <a:t> </a:t>
            </a:r>
            <a:r>
              <a:rPr spc="-10" dirty="0"/>
              <a:t>cl</a:t>
            </a:r>
            <a:r>
              <a:rPr spc="-20" dirty="0"/>
              <a:t>a</a:t>
            </a:r>
            <a:r>
              <a:rPr spc="-80" dirty="0"/>
              <a:t>s</a:t>
            </a:r>
            <a:r>
              <a:rPr spc="-65" dirty="0"/>
              <a:t>s</a:t>
            </a:r>
            <a:r>
              <a:rPr spc="-22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524000"/>
            <a:ext cx="8912860" cy="43524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87655" algn="l"/>
              </a:tabLst>
            </a:pPr>
            <a:r>
              <a:rPr sz="2800" b="1" spc="40" dirty="0">
                <a:latin typeface="Times New Roman"/>
                <a:cs typeface="Times New Roman"/>
              </a:rPr>
              <a:t>void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setText(String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65" dirty="0">
                <a:latin typeface="Times New Roman"/>
                <a:cs typeface="Times New Roman"/>
              </a:rPr>
              <a:t>s):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is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used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set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specified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text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button</a:t>
            </a:r>
            <a:endParaRPr sz="2800" dirty="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87655" algn="l"/>
              </a:tabLst>
            </a:pPr>
            <a:r>
              <a:rPr sz="2800" b="1" spc="-30" dirty="0">
                <a:latin typeface="Times New Roman"/>
                <a:cs typeface="Times New Roman"/>
              </a:rPr>
              <a:t>String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getText():</a:t>
            </a:r>
            <a:r>
              <a:rPr sz="2800" b="1" spc="-204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It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used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return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the </a:t>
            </a:r>
            <a:r>
              <a:rPr sz="2800" spc="-30" dirty="0">
                <a:latin typeface="Times New Roman"/>
                <a:cs typeface="Times New Roman"/>
              </a:rPr>
              <a:t>text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button.</a:t>
            </a:r>
            <a:endParaRPr sz="2800" dirty="0">
              <a:latin typeface="Times New Roman"/>
              <a:cs typeface="Times New Roman"/>
            </a:endParaRPr>
          </a:p>
          <a:p>
            <a:pPr marL="287020" marR="889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87655" algn="l"/>
              </a:tabLst>
            </a:pPr>
            <a:r>
              <a:rPr sz="2800" b="1" spc="-35" dirty="0">
                <a:latin typeface="Times New Roman"/>
                <a:cs typeface="Times New Roman"/>
              </a:rPr>
              <a:t>v</a:t>
            </a:r>
            <a:r>
              <a:rPr sz="2800" b="1" spc="70" dirty="0">
                <a:latin typeface="Times New Roman"/>
                <a:cs typeface="Times New Roman"/>
              </a:rPr>
              <a:t>oid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75" dirty="0">
                <a:latin typeface="Times New Roman"/>
                <a:cs typeface="Times New Roman"/>
              </a:rPr>
              <a:t>setEn</a:t>
            </a:r>
            <a:r>
              <a:rPr sz="2800" b="1" spc="-155" dirty="0">
                <a:latin typeface="Times New Roman"/>
                <a:cs typeface="Times New Roman"/>
              </a:rPr>
              <a:t>a</a:t>
            </a:r>
            <a:r>
              <a:rPr sz="2800" b="1" spc="-65" dirty="0">
                <a:latin typeface="Times New Roman"/>
                <a:cs typeface="Times New Roman"/>
              </a:rPr>
              <a:t>b</a:t>
            </a:r>
            <a:r>
              <a:rPr sz="2800" b="1" spc="45" dirty="0">
                <a:latin typeface="Times New Roman"/>
                <a:cs typeface="Times New Roman"/>
              </a:rPr>
              <a:t>led(</a:t>
            </a:r>
            <a:r>
              <a:rPr sz="2800" b="1" spc="50" dirty="0">
                <a:latin typeface="Times New Roman"/>
                <a:cs typeface="Times New Roman"/>
              </a:rPr>
              <a:t>b</a:t>
            </a:r>
            <a:r>
              <a:rPr sz="2800" b="1" spc="120" dirty="0">
                <a:latin typeface="Times New Roman"/>
                <a:cs typeface="Times New Roman"/>
              </a:rPr>
              <a:t>o</a:t>
            </a:r>
            <a:r>
              <a:rPr sz="2800" b="1" spc="105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le</a:t>
            </a:r>
            <a:r>
              <a:rPr sz="2800" b="1" spc="-25" dirty="0">
                <a:latin typeface="Times New Roman"/>
                <a:cs typeface="Times New Roman"/>
              </a:rPr>
              <a:t>a</a:t>
            </a:r>
            <a:r>
              <a:rPr sz="2800" b="1" spc="25" dirty="0">
                <a:latin typeface="Times New Roman"/>
                <a:cs typeface="Times New Roman"/>
              </a:rPr>
              <a:t>n</a:t>
            </a:r>
            <a:r>
              <a:rPr sz="2800" b="1" spc="-14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b</a:t>
            </a:r>
            <a:r>
              <a:rPr sz="2800" b="1" spc="-60" dirty="0">
                <a:latin typeface="Times New Roman"/>
                <a:cs typeface="Times New Roman"/>
              </a:rPr>
              <a:t>)</a:t>
            </a:r>
            <a:r>
              <a:rPr sz="2800" b="1" spc="-55" dirty="0">
                <a:latin typeface="Times New Roman"/>
                <a:cs typeface="Times New Roman"/>
              </a:rPr>
              <a:t>:</a:t>
            </a:r>
            <a:r>
              <a:rPr sz="2800" b="1" spc="-175" dirty="0">
                <a:latin typeface="Times New Roman"/>
                <a:cs typeface="Times New Roman"/>
              </a:rPr>
              <a:t> </a:t>
            </a:r>
            <a:r>
              <a:rPr sz="2800" spc="-210" dirty="0">
                <a:latin typeface="Times New Roman"/>
                <a:cs typeface="Times New Roman"/>
              </a:rPr>
              <a:t>I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used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ena</a:t>
            </a:r>
            <a:r>
              <a:rPr sz="2800" spc="-195" dirty="0">
                <a:latin typeface="Times New Roman"/>
                <a:cs typeface="Times New Roman"/>
              </a:rPr>
              <a:t>b</a:t>
            </a:r>
            <a:r>
              <a:rPr sz="2800" spc="-85" dirty="0">
                <a:latin typeface="Times New Roman"/>
                <a:cs typeface="Times New Roman"/>
              </a:rPr>
              <a:t>l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or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dis</a:t>
            </a:r>
            <a:r>
              <a:rPr sz="2800" spc="-195" dirty="0">
                <a:latin typeface="Times New Roman"/>
                <a:cs typeface="Times New Roman"/>
              </a:rPr>
              <a:t>a</a:t>
            </a:r>
            <a:r>
              <a:rPr sz="2800" spc="-175" dirty="0">
                <a:latin typeface="Times New Roman"/>
                <a:cs typeface="Times New Roman"/>
              </a:rPr>
              <a:t>b</a:t>
            </a:r>
            <a:r>
              <a:rPr sz="2800" spc="-85" dirty="0">
                <a:latin typeface="Times New Roman"/>
                <a:cs typeface="Times New Roman"/>
              </a:rPr>
              <a:t>l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t</a:t>
            </a:r>
            <a:r>
              <a:rPr sz="2800" spc="-95" dirty="0">
                <a:latin typeface="Times New Roman"/>
                <a:cs typeface="Times New Roman"/>
              </a:rPr>
              <a:t>h</a:t>
            </a:r>
            <a:r>
              <a:rPr sz="2800" spc="-70" dirty="0">
                <a:latin typeface="Times New Roman"/>
                <a:cs typeface="Times New Roman"/>
              </a:rPr>
              <a:t>e  </a:t>
            </a:r>
            <a:r>
              <a:rPr sz="2800" spc="-40" dirty="0">
                <a:latin typeface="Times New Roman"/>
                <a:cs typeface="Times New Roman"/>
              </a:rPr>
              <a:t>button.</a:t>
            </a:r>
            <a:endParaRPr sz="2800" dirty="0">
              <a:latin typeface="Times New Roman"/>
              <a:cs typeface="Times New Roman"/>
            </a:endParaRPr>
          </a:p>
          <a:p>
            <a:pPr marL="287020" marR="10160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87655" algn="l"/>
              </a:tabLst>
            </a:pPr>
            <a:r>
              <a:rPr sz="2800" b="1" spc="40" dirty="0">
                <a:latin typeface="Times New Roman"/>
                <a:cs typeface="Times New Roman"/>
              </a:rPr>
              <a:t>void </a:t>
            </a:r>
            <a:r>
              <a:rPr sz="2800" b="1" spc="30" dirty="0">
                <a:latin typeface="Times New Roman"/>
                <a:cs typeface="Times New Roman"/>
              </a:rPr>
              <a:t>setIcon(Icon </a:t>
            </a:r>
            <a:r>
              <a:rPr sz="2800" b="1" spc="-45" dirty="0">
                <a:latin typeface="Times New Roman"/>
                <a:cs typeface="Times New Roman"/>
              </a:rPr>
              <a:t>b): </a:t>
            </a:r>
            <a:r>
              <a:rPr sz="2800" spc="-85" dirty="0">
                <a:latin typeface="Times New Roman"/>
                <a:cs typeface="Times New Roman"/>
              </a:rPr>
              <a:t>It </a:t>
            </a:r>
            <a:r>
              <a:rPr sz="2800" spc="-170" dirty="0">
                <a:latin typeface="Times New Roman"/>
                <a:cs typeface="Times New Roman"/>
              </a:rPr>
              <a:t>is </a:t>
            </a:r>
            <a:r>
              <a:rPr sz="2800" spc="-130" dirty="0">
                <a:latin typeface="Times New Roman"/>
                <a:cs typeface="Times New Roman"/>
              </a:rPr>
              <a:t>used </a:t>
            </a:r>
            <a:r>
              <a:rPr sz="2800" spc="-35" dirty="0">
                <a:latin typeface="Times New Roman"/>
                <a:cs typeface="Times New Roman"/>
              </a:rPr>
              <a:t>to </a:t>
            </a:r>
            <a:r>
              <a:rPr sz="2800" spc="-95" dirty="0">
                <a:latin typeface="Times New Roman"/>
                <a:cs typeface="Times New Roman"/>
              </a:rPr>
              <a:t>set </a:t>
            </a:r>
            <a:r>
              <a:rPr sz="2800" spc="-80" dirty="0">
                <a:latin typeface="Times New Roman"/>
                <a:cs typeface="Times New Roman"/>
              </a:rPr>
              <a:t>the </a:t>
            </a:r>
            <a:r>
              <a:rPr sz="2800" spc="-140" dirty="0">
                <a:latin typeface="Times New Roman"/>
                <a:cs typeface="Times New Roman"/>
              </a:rPr>
              <a:t>specified </a:t>
            </a:r>
            <a:r>
              <a:rPr sz="2800" spc="-150" dirty="0">
                <a:latin typeface="Times New Roman"/>
                <a:cs typeface="Times New Roman"/>
              </a:rPr>
              <a:t>Icon </a:t>
            </a:r>
            <a:r>
              <a:rPr sz="2800" spc="-110" dirty="0">
                <a:latin typeface="Times New Roman"/>
                <a:cs typeface="Times New Roman"/>
              </a:rPr>
              <a:t>on </a:t>
            </a:r>
            <a:r>
              <a:rPr sz="2800" spc="-80" dirty="0">
                <a:latin typeface="Times New Roman"/>
                <a:cs typeface="Times New Roman"/>
              </a:rPr>
              <a:t>the </a:t>
            </a:r>
            <a:r>
              <a:rPr sz="2800" spc="-66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button.</a:t>
            </a:r>
            <a:endParaRPr sz="2800" dirty="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87655" algn="l"/>
              </a:tabLst>
            </a:pPr>
            <a:r>
              <a:rPr sz="2800" b="1" spc="30" dirty="0">
                <a:latin typeface="Times New Roman"/>
                <a:cs typeface="Times New Roman"/>
              </a:rPr>
              <a:t>Icon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25" dirty="0">
                <a:latin typeface="Times New Roman"/>
                <a:cs typeface="Times New Roman"/>
              </a:rPr>
              <a:t>getIcon():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used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get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Icon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button.</a:t>
            </a:r>
            <a:endParaRPr sz="2800" dirty="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185"/>
              <a:buFont typeface="Wingdings"/>
              <a:buChar char=""/>
              <a:tabLst>
                <a:tab pos="287655" algn="l"/>
              </a:tabLst>
            </a:pPr>
            <a:r>
              <a:rPr sz="2800" b="1" spc="-35" dirty="0">
                <a:latin typeface="Times New Roman"/>
                <a:cs typeface="Times New Roman"/>
              </a:rPr>
              <a:t>v</a:t>
            </a:r>
            <a:r>
              <a:rPr sz="2800" b="1" spc="70" dirty="0">
                <a:latin typeface="Times New Roman"/>
                <a:cs typeface="Times New Roman"/>
              </a:rPr>
              <a:t>oid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a</a:t>
            </a:r>
            <a:r>
              <a:rPr sz="2800" b="1" spc="-45" dirty="0">
                <a:latin typeface="Times New Roman"/>
                <a:cs typeface="Times New Roman"/>
              </a:rPr>
              <a:t>d</a:t>
            </a:r>
            <a:r>
              <a:rPr sz="2800" b="1" spc="-30" dirty="0">
                <a:latin typeface="Times New Roman"/>
                <a:cs typeface="Times New Roman"/>
              </a:rPr>
              <a:t>dAction</a:t>
            </a:r>
            <a:r>
              <a:rPr sz="2800" b="1" spc="-50" dirty="0">
                <a:latin typeface="Times New Roman"/>
                <a:cs typeface="Times New Roman"/>
              </a:rPr>
              <a:t>L</a:t>
            </a:r>
            <a:r>
              <a:rPr sz="2800" b="1" spc="20" dirty="0">
                <a:latin typeface="Times New Roman"/>
                <a:cs typeface="Times New Roman"/>
              </a:rPr>
              <a:t>ist</a:t>
            </a:r>
            <a:r>
              <a:rPr sz="2800" b="1" spc="-5" dirty="0">
                <a:latin typeface="Times New Roman"/>
                <a:cs typeface="Times New Roman"/>
              </a:rPr>
              <a:t>e</a:t>
            </a:r>
            <a:r>
              <a:rPr sz="2800" b="1" spc="30" dirty="0">
                <a:latin typeface="Times New Roman"/>
                <a:cs typeface="Times New Roman"/>
              </a:rPr>
              <a:t>n</a:t>
            </a:r>
            <a:r>
              <a:rPr sz="2800" b="1" spc="40" dirty="0">
                <a:latin typeface="Times New Roman"/>
                <a:cs typeface="Times New Roman"/>
              </a:rPr>
              <a:t>e</a:t>
            </a:r>
            <a:r>
              <a:rPr sz="2800" b="1" spc="-40" dirty="0">
                <a:latin typeface="Times New Roman"/>
                <a:cs typeface="Times New Roman"/>
              </a:rPr>
              <a:t>r(</a:t>
            </a:r>
            <a:r>
              <a:rPr sz="2800" b="1" spc="-90" dirty="0">
                <a:latin typeface="Times New Roman"/>
                <a:cs typeface="Times New Roman"/>
              </a:rPr>
              <a:t>A</a:t>
            </a:r>
            <a:r>
              <a:rPr sz="2800" b="1" spc="50" dirty="0">
                <a:latin typeface="Times New Roman"/>
                <a:cs typeface="Times New Roman"/>
              </a:rPr>
              <a:t>ct</a:t>
            </a:r>
            <a:r>
              <a:rPr sz="2800" b="1" spc="10" dirty="0">
                <a:latin typeface="Times New Roman"/>
                <a:cs typeface="Times New Roman"/>
              </a:rPr>
              <a:t>i</a:t>
            </a:r>
            <a:r>
              <a:rPr sz="2800" b="1" spc="-85" dirty="0">
                <a:latin typeface="Times New Roman"/>
                <a:cs typeface="Times New Roman"/>
              </a:rPr>
              <a:t>on</a:t>
            </a:r>
            <a:r>
              <a:rPr sz="2800" b="1" spc="-125" dirty="0">
                <a:latin typeface="Times New Roman"/>
                <a:cs typeface="Times New Roman"/>
              </a:rPr>
              <a:t>L</a:t>
            </a:r>
            <a:r>
              <a:rPr sz="2800" b="1" spc="20" dirty="0">
                <a:latin typeface="Times New Roman"/>
                <a:cs typeface="Times New Roman"/>
              </a:rPr>
              <a:t>ist</a:t>
            </a:r>
            <a:r>
              <a:rPr sz="2800" b="1" spc="-5" dirty="0">
                <a:latin typeface="Times New Roman"/>
                <a:cs typeface="Times New Roman"/>
              </a:rPr>
              <a:t>e</a:t>
            </a:r>
            <a:r>
              <a:rPr sz="2800" b="1" spc="30" dirty="0">
                <a:latin typeface="Times New Roman"/>
                <a:cs typeface="Times New Roman"/>
              </a:rPr>
              <a:t>n</a:t>
            </a:r>
            <a:r>
              <a:rPr sz="2800" b="1" spc="40" dirty="0">
                <a:latin typeface="Times New Roman"/>
                <a:cs typeface="Times New Roman"/>
              </a:rPr>
              <a:t>e</a:t>
            </a:r>
            <a:r>
              <a:rPr sz="2800" b="1" spc="-100" dirty="0">
                <a:latin typeface="Times New Roman"/>
                <a:cs typeface="Times New Roman"/>
              </a:rPr>
              <a:t>r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spc="-75" dirty="0">
                <a:latin typeface="Times New Roman"/>
                <a:cs typeface="Times New Roman"/>
              </a:rPr>
              <a:t>a):</a:t>
            </a:r>
            <a:r>
              <a:rPr sz="2800" b="1" spc="-170" dirty="0">
                <a:latin typeface="Times New Roman"/>
                <a:cs typeface="Times New Roman"/>
              </a:rPr>
              <a:t> </a:t>
            </a:r>
            <a:r>
              <a:rPr sz="2800" spc="-204" dirty="0">
                <a:latin typeface="Times New Roman"/>
                <a:cs typeface="Times New Roman"/>
              </a:rPr>
              <a:t>I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u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spc="-105" dirty="0">
                <a:latin typeface="Times New Roman"/>
                <a:cs typeface="Times New Roman"/>
              </a:rPr>
              <a:t>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add  </a:t>
            </a:r>
            <a:r>
              <a:rPr sz="2800" spc="-45" dirty="0">
                <a:latin typeface="Times New Roman"/>
                <a:cs typeface="Times New Roman"/>
              </a:rPr>
              <a:t>t</a:t>
            </a:r>
            <a:r>
              <a:rPr sz="2800" spc="-95" dirty="0">
                <a:latin typeface="Times New Roman"/>
                <a:cs typeface="Times New Roman"/>
              </a:rPr>
              <a:t>h</a:t>
            </a:r>
            <a:r>
              <a:rPr sz="2800" spc="-100" dirty="0">
                <a:latin typeface="Times New Roman"/>
                <a:cs typeface="Times New Roman"/>
              </a:rPr>
              <a:t>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a</a:t>
            </a:r>
            <a:r>
              <a:rPr sz="2800" spc="-204" dirty="0">
                <a:latin typeface="Times New Roman"/>
                <a:cs typeface="Times New Roman"/>
              </a:rPr>
              <a:t>c</a:t>
            </a:r>
            <a:r>
              <a:rPr sz="2800" spc="-75" dirty="0">
                <a:latin typeface="Times New Roman"/>
                <a:cs typeface="Times New Roman"/>
              </a:rPr>
              <a:t>tion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li</a:t>
            </a:r>
            <a:r>
              <a:rPr sz="2800" spc="-195" dirty="0">
                <a:latin typeface="Times New Roman"/>
                <a:cs typeface="Times New Roman"/>
              </a:rPr>
              <a:t>s</a:t>
            </a:r>
            <a:r>
              <a:rPr sz="2800" spc="-45" dirty="0">
                <a:latin typeface="Times New Roman"/>
                <a:cs typeface="Times New Roman"/>
              </a:rPr>
              <a:t>tener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165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o</a:t>
            </a:r>
            <a:r>
              <a:rPr sz="2800" spc="-170" dirty="0">
                <a:latin typeface="Times New Roman"/>
                <a:cs typeface="Times New Roman"/>
              </a:rPr>
              <a:t>b</a:t>
            </a:r>
            <a:r>
              <a:rPr sz="2800" spc="-90" dirty="0">
                <a:latin typeface="Times New Roman"/>
                <a:cs typeface="Times New Roman"/>
              </a:rPr>
              <a:t>j</a:t>
            </a:r>
            <a:r>
              <a:rPr sz="2800" spc="-130" dirty="0">
                <a:latin typeface="Times New Roman"/>
                <a:cs typeface="Times New Roman"/>
              </a:rPr>
              <a:t>e</a:t>
            </a:r>
            <a:r>
              <a:rPr sz="2800" spc="-145" dirty="0">
                <a:latin typeface="Times New Roman"/>
                <a:cs typeface="Times New Roman"/>
              </a:rPr>
              <a:t>c</a:t>
            </a:r>
            <a:r>
              <a:rPr sz="2800" spc="80" dirty="0">
                <a:latin typeface="Times New Roman"/>
                <a:cs typeface="Times New Roman"/>
              </a:rPr>
              <a:t>t.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48267"/>
            <a:ext cx="5706745" cy="6367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295650">
              <a:lnSpc>
                <a:spcPct val="123900"/>
              </a:lnSpc>
              <a:spcBef>
                <a:spcPts val="90"/>
              </a:spcBef>
            </a:pPr>
            <a:r>
              <a:rPr sz="2100" b="1" spc="-120" dirty="0">
                <a:latin typeface="Times New Roman"/>
                <a:cs typeface="Times New Roman"/>
              </a:rPr>
              <a:t>E</a:t>
            </a:r>
            <a:r>
              <a:rPr sz="2100" b="1" spc="-80" dirty="0">
                <a:latin typeface="Times New Roman"/>
                <a:cs typeface="Times New Roman"/>
              </a:rPr>
              <a:t>x</a:t>
            </a:r>
            <a:r>
              <a:rPr sz="2100" b="1" spc="-95" dirty="0">
                <a:latin typeface="Times New Roman"/>
                <a:cs typeface="Times New Roman"/>
              </a:rPr>
              <a:t>a</a:t>
            </a:r>
            <a:r>
              <a:rPr sz="2100" b="1" spc="-50" dirty="0">
                <a:latin typeface="Times New Roman"/>
                <a:cs typeface="Times New Roman"/>
              </a:rPr>
              <a:t>m</a:t>
            </a:r>
            <a:r>
              <a:rPr sz="2100" b="1" spc="30" dirty="0">
                <a:latin typeface="Times New Roman"/>
                <a:cs typeface="Times New Roman"/>
              </a:rPr>
              <a:t>pl</a:t>
            </a:r>
            <a:r>
              <a:rPr sz="2100" b="1" spc="55" dirty="0">
                <a:latin typeface="Times New Roman"/>
                <a:cs typeface="Times New Roman"/>
              </a:rPr>
              <a:t>e</a:t>
            </a:r>
            <a:r>
              <a:rPr sz="2100" b="1" spc="-100" dirty="0">
                <a:latin typeface="Times New Roman"/>
                <a:cs typeface="Times New Roman"/>
              </a:rPr>
              <a:t> </a:t>
            </a:r>
            <a:r>
              <a:rPr sz="2100" b="1" spc="-60" dirty="0">
                <a:latin typeface="Times New Roman"/>
                <a:cs typeface="Times New Roman"/>
              </a:rPr>
              <a:t>(JB</a:t>
            </a:r>
            <a:r>
              <a:rPr sz="2100" b="1" spc="-55" dirty="0">
                <a:latin typeface="Times New Roman"/>
                <a:cs typeface="Times New Roman"/>
              </a:rPr>
              <a:t>u</a:t>
            </a:r>
            <a:r>
              <a:rPr sz="2100" b="1" spc="15" dirty="0">
                <a:latin typeface="Times New Roman"/>
                <a:cs typeface="Times New Roman"/>
              </a:rPr>
              <a:t>tt</a:t>
            </a:r>
            <a:r>
              <a:rPr sz="2100" b="1" spc="90" dirty="0">
                <a:latin typeface="Times New Roman"/>
                <a:cs typeface="Times New Roman"/>
              </a:rPr>
              <a:t>o</a:t>
            </a:r>
            <a:r>
              <a:rPr sz="2100" b="1" spc="25" dirty="0">
                <a:latin typeface="Times New Roman"/>
                <a:cs typeface="Times New Roman"/>
              </a:rPr>
              <a:t>n</a:t>
            </a:r>
            <a:r>
              <a:rPr sz="2100" b="1" spc="60" dirty="0">
                <a:latin typeface="Times New Roman"/>
                <a:cs typeface="Times New Roman"/>
              </a:rPr>
              <a:t>)  </a:t>
            </a:r>
            <a:r>
              <a:rPr sz="2100" spc="-50" dirty="0">
                <a:latin typeface="Times New Roman"/>
                <a:cs typeface="Times New Roman"/>
              </a:rPr>
              <a:t>import </a:t>
            </a:r>
            <a:r>
              <a:rPr sz="2100" spc="-110" dirty="0">
                <a:latin typeface="Times New Roman"/>
                <a:cs typeface="Times New Roman"/>
              </a:rPr>
              <a:t>javax.swing.*; 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60" dirty="0">
                <a:latin typeface="Times New Roman"/>
                <a:cs typeface="Times New Roman"/>
              </a:rPr>
              <a:t>i</a:t>
            </a:r>
            <a:r>
              <a:rPr sz="2100" spc="-175" dirty="0">
                <a:latin typeface="Times New Roman"/>
                <a:cs typeface="Times New Roman"/>
              </a:rPr>
              <a:t>m</a:t>
            </a:r>
            <a:r>
              <a:rPr sz="2100" spc="-95" dirty="0">
                <a:latin typeface="Times New Roman"/>
                <a:cs typeface="Times New Roman"/>
              </a:rPr>
              <a:t>po</a:t>
            </a:r>
            <a:r>
              <a:rPr sz="2100" spc="85" dirty="0">
                <a:latin typeface="Times New Roman"/>
                <a:cs typeface="Times New Roman"/>
              </a:rPr>
              <a:t>r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5" dirty="0">
                <a:latin typeface="Times New Roman"/>
                <a:cs typeface="Times New Roman"/>
              </a:rPr>
              <a:t>j</a:t>
            </a:r>
            <a:r>
              <a:rPr sz="2100" spc="-240" dirty="0">
                <a:latin typeface="Times New Roman"/>
                <a:cs typeface="Times New Roman"/>
              </a:rPr>
              <a:t>a</a:t>
            </a:r>
            <a:r>
              <a:rPr sz="2100" spc="-190" dirty="0">
                <a:latin typeface="Times New Roman"/>
                <a:cs typeface="Times New Roman"/>
              </a:rPr>
              <a:t>v</a:t>
            </a:r>
            <a:r>
              <a:rPr sz="2100" spc="-75" dirty="0">
                <a:latin typeface="Times New Roman"/>
                <a:cs typeface="Times New Roman"/>
              </a:rPr>
              <a:t>a.</a:t>
            </a:r>
            <a:r>
              <a:rPr sz="2100" spc="-165" dirty="0">
                <a:latin typeface="Times New Roman"/>
                <a:cs typeface="Times New Roman"/>
              </a:rPr>
              <a:t>a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70" dirty="0">
                <a:latin typeface="Times New Roman"/>
                <a:cs typeface="Times New Roman"/>
              </a:rPr>
              <a:t>.</a:t>
            </a:r>
            <a:r>
              <a:rPr sz="2100" spc="-125" dirty="0">
                <a:latin typeface="Times New Roman"/>
                <a:cs typeface="Times New Roman"/>
              </a:rPr>
              <a:t>e</a:t>
            </a:r>
            <a:r>
              <a:rPr sz="2100" spc="-215" dirty="0">
                <a:latin typeface="Times New Roman"/>
                <a:cs typeface="Times New Roman"/>
              </a:rPr>
              <a:t>v</a:t>
            </a:r>
            <a:r>
              <a:rPr sz="2100" spc="-100" dirty="0">
                <a:latin typeface="Times New Roman"/>
                <a:cs typeface="Times New Roman"/>
              </a:rPr>
              <a:t>e</a:t>
            </a:r>
            <a:r>
              <a:rPr sz="2100" spc="-95" dirty="0">
                <a:latin typeface="Times New Roman"/>
                <a:cs typeface="Times New Roman"/>
              </a:rPr>
              <a:t>n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70" dirty="0">
                <a:latin typeface="Times New Roman"/>
                <a:cs typeface="Times New Roman"/>
              </a:rPr>
              <a:t>.</a:t>
            </a:r>
            <a:r>
              <a:rPr sz="2100" spc="-95" dirty="0">
                <a:latin typeface="Times New Roman"/>
                <a:cs typeface="Times New Roman"/>
              </a:rPr>
              <a:t>*</a:t>
            </a:r>
            <a:r>
              <a:rPr sz="2100" spc="30" dirty="0">
                <a:latin typeface="Times New Roman"/>
                <a:cs typeface="Times New Roman"/>
              </a:rPr>
              <a:t>;  </a:t>
            </a:r>
            <a:r>
              <a:rPr sz="2100" spc="-50" dirty="0">
                <a:latin typeface="Times New Roman"/>
                <a:cs typeface="Times New Roman"/>
              </a:rPr>
              <a:t>import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85" dirty="0">
                <a:latin typeface="Times New Roman"/>
                <a:cs typeface="Times New Roman"/>
              </a:rPr>
              <a:t>java.awt.*;</a:t>
            </a:r>
            <a:endParaRPr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spc="-110" dirty="0">
                <a:latin typeface="Times New Roman"/>
                <a:cs typeface="Times New Roman"/>
              </a:rPr>
              <a:t>public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35" dirty="0">
                <a:latin typeface="Times New Roman"/>
                <a:cs typeface="Times New Roman"/>
              </a:rPr>
              <a:t>class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95" dirty="0">
                <a:latin typeface="Times New Roman"/>
                <a:cs typeface="Times New Roman"/>
              </a:rPr>
              <a:t>testswing</a:t>
            </a:r>
            <a:r>
              <a:rPr sz="2100" spc="-135" dirty="0">
                <a:latin typeface="Times New Roman"/>
                <a:cs typeface="Times New Roman"/>
              </a:rPr>
              <a:t> </a:t>
            </a:r>
            <a:r>
              <a:rPr sz="2100" spc="-80" dirty="0">
                <a:latin typeface="Times New Roman"/>
                <a:cs typeface="Times New Roman"/>
              </a:rPr>
              <a:t>extends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-100" dirty="0">
                <a:latin typeface="Times New Roman"/>
                <a:cs typeface="Times New Roman"/>
              </a:rPr>
              <a:t>JFrame{</a:t>
            </a:r>
            <a:endParaRPr sz="2100" dirty="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605"/>
              </a:spcBef>
            </a:pPr>
            <a:r>
              <a:rPr sz="2100" spc="-75" dirty="0">
                <a:latin typeface="Times New Roman"/>
                <a:cs typeface="Times New Roman"/>
              </a:rPr>
              <a:t>testswing(){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150" dirty="0">
                <a:latin typeface="Times New Roman"/>
                <a:cs typeface="Times New Roman"/>
              </a:rPr>
              <a:t>J</a:t>
            </a:r>
            <a:r>
              <a:rPr sz="2100" spc="-235" dirty="0">
                <a:latin typeface="Times New Roman"/>
                <a:cs typeface="Times New Roman"/>
              </a:rPr>
              <a:t>B</a:t>
            </a:r>
            <a:r>
              <a:rPr sz="2100" spc="-185" dirty="0">
                <a:latin typeface="Times New Roman"/>
                <a:cs typeface="Times New Roman"/>
              </a:rPr>
              <a:t>u</a:t>
            </a:r>
            <a:r>
              <a:rPr sz="2100" spc="30" dirty="0">
                <a:latin typeface="Times New Roman"/>
                <a:cs typeface="Times New Roman"/>
              </a:rPr>
              <a:t>tt</a:t>
            </a:r>
            <a:r>
              <a:rPr sz="2100" spc="-95" dirty="0">
                <a:latin typeface="Times New Roman"/>
                <a:cs typeface="Times New Roman"/>
              </a:rPr>
              <a:t>o</a:t>
            </a:r>
            <a:r>
              <a:rPr sz="2100" spc="-85" dirty="0">
                <a:latin typeface="Times New Roman"/>
                <a:cs typeface="Times New Roman"/>
              </a:rPr>
              <a:t>n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120" dirty="0">
                <a:latin typeface="Times New Roman"/>
                <a:cs typeface="Times New Roman"/>
              </a:rPr>
              <a:t>b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85" dirty="0">
                <a:latin typeface="Times New Roman"/>
                <a:cs typeface="Times New Roman"/>
              </a:rPr>
              <a:t>1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225" dirty="0">
                <a:latin typeface="Times New Roman"/>
                <a:cs typeface="Times New Roman"/>
              </a:rPr>
              <a:t>=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95" dirty="0">
                <a:latin typeface="Times New Roman"/>
                <a:cs typeface="Times New Roman"/>
              </a:rPr>
              <a:t>ne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Times New Roman"/>
                <a:cs typeface="Times New Roman"/>
              </a:rPr>
              <a:t>J</a:t>
            </a:r>
            <a:r>
              <a:rPr sz="2100" spc="-235" dirty="0">
                <a:latin typeface="Times New Roman"/>
                <a:cs typeface="Times New Roman"/>
              </a:rPr>
              <a:t>B</a:t>
            </a:r>
            <a:r>
              <a:rPr sz="2100" spc="-185" dirty="0">
                <a:latin typeface="Times New Roman"/>
                <a:cs typeface="Times New Roman"/>
              </a:rPr>
              <a:t>u</a:t>
            </a:r>
            <a:r>
              <a:rPr sz="2100" spc="30" dirty="0">
                <a:latin typeface="Times New Roman"/>
                <a:cs typeface="Times New Roman"/>
              </a:rPr>
              <a:t>tt</a:t>
            </a:r>
            <a:r>
              <a:rPr sz="2100" spc="-95" dirty="0">
                <a:latin typeface="Times New Roman"/>
                <a:cs typeface="Times New Roman"/>
              </a:rPr>
              <a:t>on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dirty="0">
                <a:latin typeface="Times New Roman"/>
                <a:cs typeface="Times New Roman"/>
              </a:rPr>
              <a:t>"</a:t>
            </a:r>
            <a:r>
              <a:rPr sz="2100" spc="-560" dirty="0">
                <a:latin typeface="Times New Roman"/>
                <a:cs typeface="Times New Roman"/>
              </a:rPr>
              <a:t>Y</a:t>
            </a:r>
            <a:r>
              <a:rPr sz="2100" spc="-125" dirty="0">
                <a:latin typeface="Times New Roman"/>
                <a:cs typeface="Times New Roman"/>
              </a:rPr>
              <a:t>e</a:t>
            </a:r>
            <a:r>
              <a:rPr sz="2100" spc="-100" dirty="0">
                <a:latin typeface="Times New Roman"/>
                <a:cs typeface="Times New Roman"/>
              </a:rPr>
              <a:t>s</a:t>
            </a:r>
            <a:r>
              <a:rPr sz="2100" spc="-25" dirty="0">
                <a:latin typeface="Times New Roman"/>
                <a:cs typeface="Times New Roman"/>
              </a:rPr>
              <a:t>"</a:t>
            </a:r>
            <a:r>
              <a:rPr sz="2100" spc="-10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endParaRPr sz="2100" dirty="0">
              <a:latin typeface="Times New Roman"/>
              <a:cs typeface="Times New Roman"/>
            </a:endParaRPr>
          </a:p>
          <a:p>
            <a:pPr marL="253365" marR="5080">
              <a:lnSpc>
                <a:spcPct val="123800"/>
              </a:lnSpc>
            </a:pPr>
            <a:r>
              <a:rPr sz="2100" spc="-150" dirty="0">
                <a:latin typeface="Times New Roman"/>
                <a:cs typeface="Times New Roman"/>
              </a:rPr>
              <a:t>J</a:t>
            </a:r>
            <a:r>
              <a:rPr sz="2100" spc="-100" dirty="0">
                <a:latin typeface="Times New Roman"/>
                <a:cs typeface="Times New Roman"/>
              </a:rPr>
              <a:t>But</a:t>
            </a:r>
            <a:r>
              <a:rPr sz="2100" spc="-50" dirty="0">
                <a:latin typeface="Times New Roman"/>
                <a:cs typeface="Times New Roman"/>
              </a:rPr>
              <a:t>t</a:t>
            </a:r>
            <a:r>
              <a:rPr sz="2100" spc="-95" dirty="0">
                <a:latin typeface="Times New Roman"/>
                <a:cs typeface="Times New Roman"/>
              </a:rPr>
              <a:t>o</a:t>
            </a:r>
            <a:r>
              <a:rPr sz="2100" spc="-85" dirty="0">
                <a:latin typeface="Times New Roman"/>
                <a:cs typeface="Times New Roman"/>
              </a:rPr>
              <a:t>n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114" dirty="0">
                <a:latin typeface="Times New Roman"/>
                <a:cs typeface="Times New Roman"/>
              </a:rPr>
              <a:t>b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85" dirty="0">
                <a:latin typeface="Times New Roman"/>
                <a:cs typeface="Times New Roman"/>
              </a:rPr>
              <a:t>2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220" dirty="0">
                <a:latin typeface="Times New Roman"/>
                <a:cs typeface="Times New Roman"/>
              </a:rPr>
              <a:t>=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95" dirty="0">
                <a:latin typeface="Times New Roman"/>
                <a:cs typeface="Times New Roman"/>
              </a:rPr>
              <a:t>n</a:t>
            </a:r>
            <a:r>
              <a:rPr sz="2100" spc="-100" dirty="0">
                <a:latin typeface="Times New Roman"/>
                <a:cs typeface="Times New Roman"/>
              </a:rPr>
              <a:t>e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Times New Roman"/>
                <a:cs typeface="Times New Roman"/>
              </a:rPr>
              <a:t>J</a:t>
            </a:r>
            <a:r>
              <a:rPr sz="2100" spc="-100" dirty="0">
                <a:latin typeface="Times New Roman"/>
                <a:cs typeface="Times New Roman"/>
              </a:rPr>
              <a:t>But</a:t>
            </a:r>
            <a:r>
              <a:rPr sz="2100" spc="-50" dirty="0">
                <a:latin typeface="Times New Roman"/>
                <a:cs typeface="Times New Roman"/>
              </a:rPr>
              <a:t>t</a:t>
            </a:r>
            <a:r>
              <a:rPr sz="2100" spc="-95" dirty="0">
                <a:latin typeface="Times New Roman"/>
                <a:cs typeface="Times New Roman"/>
              </a:rPr>
              <a:t>on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spc="-45" dirty="0">
                <a:latin typeface="Times New Roman"/>
                <a:cs typeface="Times New Roman"/>
              </a:rPr>
              <a:t>"</a:t>
            </a:r>
            <a:r>
              <a:rPr sz="2100" spc="-65" dirty="0">
                <a:latin typeface="Times New Roman"/>
                <a:cs typeface="Times New Roman"/>
              </a:rPr>
              <a:t>N</a:t>
            </a:r>
            <a:r>
              <a:rPr sz="2100" spc="-95" dirty="0">
                <a:latin typeface="Times New Roman"/>
                <a:cs typeface="Times New Roman"/>
              </a:rPr>
              <a:t>o</a:t>
            </a:r>
            <a:r>
              <a:rPr sz="2100" spc="-25" dirty="0">
                <a:latin typeface="Times New Roman"/>
                <a:cs typeface="Times New Roman"/>
              </a:rPr>
              <a:t>"</a:t>
            </a:r>
            <a:r>
              <a:rPr sz="2100" spc="-5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  </a:t>
            </a:r>
            <a:r>
              <a:rPr sz="2100" spc="-95" dirty="0">
                <a:latin typeface="Times New Roman"/>
                <a:cs typeface="Times New Roman"/>
              </a:rPr>
              <a:t>setDefaultCloseOperation(JFrame.EXIT_ON_CLOSE); </a:t>
            </a:r>
            <a:r>
              <a:rPr sz="2100" spc="-509" dirty="0">
                <a:latin typeface="Times New Roman"/>
                <a:cs typeface="Times New Roman"/>
              </a:rPr>
              <a:t> </a:t>
            </a:r>
            <a:r>
              <a:rPr sz="2100" spc="-155" dirty="0">
                <a:latin typeface="Times New Roman"/>
                <a:cs typeface="Times New Roman"/>
              </a:rPr>
              <a:t>s</a:t>
            </a:r>
            <a:r>
              <a:rPr sz="2100" spc="-25" dirty="0">
                <a:latin typeface="Times New Roman"/>
                <a:cs typeface="Times New Roman"/>
              </a:rPr>
              <a:t>e</a:t>
            </a:r>
            <a:r>
              <a:rPr sz="2100" spc="-10" dirty="0">
                <a:latin typeface="Times New Roman"/>
                <a:cs typeface="Times New Roman"/>
              </a:rPr>
              <a:t>t</a:t>
            </a:r>
            <a:r>
              <a:rPr sz="2100" spc="-225" dirty="0">
                <a:latin typeface="Times New Roman"/>
                <a:cs typeface="Times New Roman"/>
              </a:rPr>
              <a:t>L</a:t>
            </a:r>
            <a:r>
              <a:rPr sz="2100" spc="-245" dirty="0">
                <a:latin typeface="Times New Roman"/>
                <a:cs typeface="Times New Roman"/>
              </a:rPr>
              <a:t>a</a:t>
            </a:r>
            <a:r>
              <a:rPr sz="2100" spc="-190" dirty="0">
                <a:latin typeface="Times New Roman"/>
                <a:cs typeface="Times New Roman"/>
              </a:rPr>
              <a:t>y</a:t>
            </a:r>
            <a:r>
              <a:rPr sz="2100" spc="-95" dirty="0">
                <a:latin typeface="Times New Roman"/>
                <a:cs typeface="Times New Roman"/>
              </a:rPr>
              <a:t>ou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spc="-95" dirty="0">
                <a:latin typeface="Times New Roman"/>
                <a:cs typeface="Times New Roman"/>
              </a:rPr>
              <a:t>n</a:t>
            </a:r>
            <a:r>
              <a:rPr sz="2100" spc="-120" dirty="0">
                <a:latin typeface="Times New Roman"/>
                <a:cs typeface="Times New Roman"/>
              </a:rPr>
              <a:t>e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-140" dirty="0">
                <a:latin typeface="Times New Roman"/>
                <a:cs typeface="Times New Roman"/>
              </a:rPr>
              <a:t> </a:t>
            </a:r>
            <a:r>
              <a:rPr sz="2100" spc="-210" dirty="0">
                <a:latin typeface="Times New Roman"/>
                <a:cs typeface="Times New Roman"/>
              </a:rPr>
              <a:t>F</a:t>
            </a:r>
            <a:r>
              <a:rPr sz="2100" spc="-65" dirty="0">
                <a:latin typeface="Times New Roman"/>
                <a:cs typeface="Times New Roman"/>
              </a:rPr>
              <a:t>l</a:t>
            </a:r>
            <a:r>
              <a:rPr sz="2100" spc="-195" dirty="0">
                <a:latin typeface="Times New Roman"/>
                <a:cs typeface="Times New Roman"/>
              </a:rPr>
              <a:t>o</a:t>
            </a:r>
            <a:r>
              <a:rPr sz="2100" spc="-185" dirty="0">
                <a:latin typeface="Times New Roman"/>
                <a:cs typeface="Times New Roman"/>
              </a:rPr>
              <a:t>wL</a:t>
            </a:r>
            <a:r>
              <a:rPr sz="2100" spc="-200" dirty="0">
                <a:latin typeface="Times New Roman"/>
                <a:cs typeface="Times New Roman"/>
              </a:rPr>
              <a:t>a</a:t>
            </a:r>
            <a:r>
              <a:rPr sz="2100" spc="-190" dirty="0">
                <a:latin typeface="Times New Roman"/>
                <a:cs typeface="Times New Roman"/>
              </a:rPr>
              <a:t>y</a:t>
            </a:r>
            <a:r>
              <a:rPr sz="2100" spc="-95" dirty="0">
                <a:latin typeface="Times New Roman"/>
                <a:cs typeface="Times New Roman"/>
              </a:rPr>
              <a:t>ou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35" dirty="0">
                <a:latin typeface="Times New Roman"/>
                <a:cs typeface="Times New Roman"/>
              </a:rPr>
              <a:t>())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sz="2100" spc="-155" dirty="0">
                <a:latin typeface="Times New Roman"/>
                <a:cs typeface="Times New Roman"/>
              </a:rPr>
              <a:t>s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290" dirty="0">
                <a:latin typeface="Times New Roman"/>
                <a:cs typeface="Times New Roman"/>
              </a:rPr>
              <a:t>S</a:t>
            </a:r>
            <a:r>
              <a:rPr sz="2100" spc="-105" dirty="0">
                <a:latin typeface="Times New Roman"/>
                <a:cs typeface="Times New Roman"/>
              </a:rPr>
              <a:t>i</a:t>
            </a:r>
            <a:r>
              <a:rPr sz="2100" spc="-175" dirty="0">
                <a:latin typeface="Times New Roman"/>
                <a:cs typeface="Times New Roman"/>
              </a:rPr>
              <a:t>z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spc="-95" dirty="0">
                <a:latin typeface="Times New Roman"/>
                <a:cs typeface="Times New Roman"/>
              </a:rPr>
              <a:t>400</a:t>
            </a:r>
            <a:r>
              <a:rPr sz="2100" spc="90" dirty="0">
                <a:latin typeface="Times New Roman"/>
                <a:cs typeface="Times New Roman"/>
              </a:rPr>
              <a:t>,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spc="-95" dirty="0">
                <a:latin typeface="Times New Roman"/>
                <a:cs typeface="Times New Roman"/>
              </a:rPr>
              <a:t>400</a:t>
            </a:r>
            <a:r>
              <a:rPr sz="2100" spc="-35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65" dirty="0">
                <a:latin typeface="Times New Roman"/>
                <a:cs typeface="Times New Roman"/>
              </a:rPr>
              <a:t>add(bt1);</a:t>
            </a:r>
            <a:endParaRPr sz="2100" dirty="0">
              <a:latin typeface="Times New Roman"/>
              <a:cs typeface="Times New Roman"/>
            </a:endParaRPr>
          </a:p>
          <a:p>
            <a:pPr marL="253365" marR="3276600">
              <a:lnSpc>
                <a:spcPct val="123900"/>
              </a:lnSpc>
              <a:tabLst>
                <a:tab pos="2292985" algn="l"/>
              </a:tabLst>
            </a:pPr>
            <a:r>
              <a:rPr sz="2100" spc="-65" dirty="0">
                <a:latin typeface="Times New Roman"/>
                <a:cs typeface="Times New Roman"/>
              </a:rPr>
              <a:t>add(bt2); 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55" dirty="0">
                <a:latin typeface="Times New Roman"/>
                <a:cs typeface="Times New Roman"/>
              </a:rPr>
              <a:t>s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300" dirty="0">
                <a:latin typeface="Times New Roman"/>
                <a:cs typeface="Times New Roman"/>
              </a:rPr>
              <a:t>V</a:t>
            </a:r>
            <a:r>
              <a:rPr sz="2100" spc="-130" dirty="0">
                <a:latin typeface="Times New Roman"/>
                <a:cs typeface="Times New Roman"/>
              </a:rPr>
              <a:t>is</a:t>
            </a:r>
            <a:r>
              <a:rPr sz="2100" spc="-75" dirty="0">
                <a:latin typeface="Times New Roman"/>
                <a:cs typeface="Times New Roman"/>
              </a:rPr>
              <a:t>i</a:t>
            </a:r>
            <a:r>
              <a:rPr sz="2100" spc="-175" dirty="0">
                <a:latin typeface="Times New Roman"/>
                <a:cs typeface="Times New Roman"/>
              </a:rPr>
              <a:t>b</a:t>
            </a:r>
            <a:r>
              <a:rPr sz="2100" spc="-70" dirty="0">
                <a:latin typeface="Times New Roman"/>
                <a:cs typeface="Times New Roman"/>
              </a:rPr>
              <a:t>le(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60" dirty="0">
                <a:latin typeface="Times New Roman"/>
                <a:cs typeface="Times New Roman"/>
              </a:rPr>
              <a:t>r</a:t>
            </a:r>
            <a:r>
              <a:rPr sz="2100" spc="-95" dirty="0">
                <a:latin typeface="Times New Roman"/>
                <a:cs typeface="Times New Roman"/>
              </a:rPr>
              <a:t>u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-55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5" dirty="0">
                <a:latin typeface="Times New Roman"/>
                <a:cs typeface="Times New Roman"/>
              </a:rPr>
              <a:t>}</a:t>
            </a:r>
            <a:endParaRPr sz="2100" dirty="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600"/>
              </a:spcBef>
              <a:tabLst>
                <a:tab pos="3802379" algn="l"/>
              </a:tabLst>
            </a:pPr>
            <a:r>
              <a:rPr sz="2100" spc="-105" dirty="0">
                <a:latin typeface="Times New Roman"/>
                <a:cs typeface="Times New Roman"/>
              </a:rPr>
              <a:t>public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80" dirty="0">
                <a:latin typeface="Times New Roman"/>
                <a:cs typeface="Times New Roman"/>
              </a:rPr>
              <a:t>static </a:t>
            </a:r>
            <a:r>
              <a:rPr sz="2100" spc="-125" dirty="0">
                <a:latin typeface="Times New Roman"/>
                <a:cs typeface="Times New Roman"/>
              </a:rPr>
              <a:t>void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05" dirty="0">
                <a:latin typeface="Times New Roman"/>
                <a:cs typeface="Times New Roman"/>
              </a:rPr>
              <a:t>main(String[]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100" dirty="0">
                <a:latin typeface="Times New Roman"/>
                <a:cs typeface="Times New Roman"/>
              </a:rPr>
              <a:t>args)	</a:t>
            </a:r>
            <a:r>
              <a:rPr sz="2100" spc="5" dirty="0">
                <a:latin typeface="Times New Roman"/>
                <a:cs typeface="Times New Roman"/>
              </a:rPr>
              <a:t>{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  <a:tabLst>
                <a:tab pos="2450465" algn="l"/>
                <a:tab pos="2822575" algn="l"/>
              </a:tabLst>
            </a:pPr>
            <a:r>
              <a:rPr sz="2100" spc="-100" dirty="0">
                <a:latin typeface="Times New Roman"/>
                <a:cs typeface="Times New Roman"/>
              </a:rPr>
              <a:t>new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-75" dirty="0">
                <a:latin typeface="Times New Roman"/>
                <a:cs typeface="Times New Roman"/>
              </a:rPr>
              <a:t>testswing();	</a:t>
            </a:r>
            <a:r>
              <a:rPr sz="2100" spc="5" dirty="0">
                <a:latin typeface="Times New Roman"/>
                <a:cs typeface="Times New Roman"/>
              </a:rPr>
              <a:t>}	}</a:t>
            </a:r>
            <a:endParaRPr sz="21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3810000"/>
            <a:ext cx="3858767" cy="26944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0"/>
            <a:ext cx="708375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30" dirty="0" err="1"/>
              <a:t>J</a:t>
            </a:r>
            <a:r>
              <a:rPr lang="en-US" sz="2400" spc="-330" dirty="0" err="1"/>
              <a:t>L</a:t>
            </a:r>
            <a:r>
              <a:rPr sz="2400" spc="-185" dirty="0" err="1"/>
              <a:t>a</a:t>
            </a:r>
            <a:r>
              <a:rPr sz="2400" spc="35" dirty="0" err="1"/>
              <a:t>b</a:t>
            </a:r>
            <a:r>
              <a:rPr sz="2400" spc="30" dirty="0" err="1"/>
              <a:t>e</a:t>
            </a:r>
            <a:r>
              <a:rPr sz="2400" spc="40" dirty="0" err="1"/>
              <a:t>l</a:t>
            </a:r>
            <a:br>
              <a:rPr lang="en-US" sz="2400" spc="40" dirty="0"/>
            </a:br>
            <a:r>
              <a:rPr lang="en-IN" sz="2400" spc="40" dirty="0"/>
              <a:t> It is used for placing text in a box</a:t>
            </a:r>
            <a:br>
              <a:rPr lang="en-US" sz="2400" spc="40" dirty="0"/>
            </a:br>
            <a:endParaRPr sz="2400"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226501" y="4728340"/>
            <a:ext cx="8690997" cy="20146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10"/>
              </a:spcBef>
              <a:buClr>
                <a:srgbClr val="D24717"/>
              </a:buClr>
              <a:buSzPct val="83333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Icon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abstract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cannot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instantiated.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ImageIcon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Icon.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So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 </a:t>
            </a:r>
            <a:r>
              <a:rPr sz="2400" spc="-5" dirty="0">
                <a:latin typeface="Times New Roman"/>
                <a:cs typeface="Times New Roman"/>
              </a:rPr>
              <a:t>images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following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statement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be </a:t>
            </a:r>
            <a:r>
              <a:rPr sz="2400" spc="-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used:</a:t>
            </a:r>
          </a:p>
          <a:p>
            <a:pPr marL="280670">
              <a:lnSpc>
                <a:spcPct val="100000"/>
              </a:lnSpc>
              <a:spcBef>
                <a:spcPts val="60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ImageIcon</a:t>
            </a:r>
            <a:r>
              <a:rPr sz="2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ic=new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ImageIcon(“filename”);</a:t>
            </a:r>
            <a:endParaRPr sz="2400" dirty="0">
              <a:latin typeface="Times New Roman"/>
              <a:cs typeface="Times New Roman"/>
            </a:endParaRPr>
          </a:p>
          <a:p>
            <a:pPr marL="61277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filename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quantity.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501" y="838200"/>
            <a:ext cx="8638068" cy="38901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35305"/>
            <a:ext cx="66802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0590" algn="l"/>
              </a:tabLst>
            </a:pPr>
            <a:r>
              <a:rPr spc="-120" dirty="0"/>
              <a:t>C</a:t>
            </a:r>
            <a:r>
              <a:rPr spc="-75" dirty="0"/>
              <a:t>o</a:t>
            </a:r>
            <a:r>
              <a:rPr spc="-95" dirty="0"/>
              <a:t>m</a:t>
            </a:r>
            <a:r>
              <a:rPr spc="-110" dirty="0"/>
              <a:t>m</a:t>
            </a:r>
            <a:r>
              <a:rPr spc="75" dirty="0"/>
              <a:t>on</a:t>
            </a:r>
            <a:r>
              <a:rPr spc="-45" dirty="0"/>
              <a:t>l</a:t>
            </a:r>
            <a:r>
              <a:rPr dirty="0"/>
              <a:t>y</a:t>
            </a:r>
            <a:r>
              <a:rPr spc="-70" dirty="0"/>
              <a:t> </a:t>
            </a:r>
            <a:r>
              <a:rPr spc="10" dirty="0"/>
              <a:t>u</a:t>
            </a:r>
            <a:r>
              <a:rPr spc="-70" dirty="0"/>
              <a:t>s</a:t>
            </a:r>
            <a:r>
              <a:rPr spc="80" dirty="0"/>
              <a:t>e</a:t>
            </a:r>
            <a:r>
              <a:rPr spc="50" dirty="0"/>
              <a:t>d</a:t>
            </a:r>
            <a:r>
              <a:rPr spc="-70" dirty="0"/>
              <a:t> </a:t>
            </a:r>
            <a:r>
              <a:rPr spc="30" dirty="0"/>
              <a:t>Metho</a:t>
            </a:r>
            <a:r>
              <a:rPr spc="40" dirty="0"/>
              <a:t>d</a:t>
            </a:r>
            <a:r>
              <a:rPr spc="-75" dirty="0"/>
              <a:t>s</a:t>
            </a:r>
            <a:r>
              <a:rPr spc="-95" dirty="0"/>
              <a:t> </a:t>
            </a:r>
            <a:r>
              <a:rPr spc="30" dirty="0"/>
              <a:t>of</a:t>
            </a:r>
            <a:r>
              <a:rPr dirty="0"/>
              <a:t>	</a:t>
            </a:r>
            <a:r>
              <a:rPr spc="-320" dirty="0"/>
              <a:t>JL</a:t>
            </a:r>
            <a:r>
              <a:rPr spc="-330" dirty="0"/>
              <a:t>a</a:t>
            </a:r>
            <a:r>
              <a:rPr spc="35" dirty="0"/>
              <a:t>b</a:t>
            </a:r>
            <a:r>
              <a:rPr spc="30" dirty="0"/>
              <a:t>e</a:t>
            </a:r>
            <a:r>
              <a:rPr spc="40" dirty="0"/>
              <a:t>l</a:t>
            </a:r>
            <a:r>
              <a:rPr spc="-65" dirty="0"/>
              <a:t> </a:t>
            </a:r>
            <a:r>
              <a:rPr spc="80" dirty="0"/>
              <a:t>c</a:t>
            </a:r>
            <a:r>
              <a:rPr spc="30" dirty="0"/>
              <a:t>l</a:t>
            </a:r>
            <a:r>
              <a:rPr spc="-95" dirty="0"/>
              <a:t>as</a:t>
            </a:r>
            <a:r>
              <a:rPr spc="-75" dirty="0"/>
              <a:t>s</a:t>
            </a:r>
            <a:r>
              <a:rPr spc="-22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918540"/>
            <a:ext cx="8385810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7620" indent="-274955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378585" algn="l"/>
                <a:tab pos="3025140" algn="l"/>
                <a:tab pos="3387725" algn="l"/>
                <a:tab pos="4494530" algn="l"/>
                <a:tab pos="5064760" algn="l"/>
                <a:tab pos="5748020" algn="l"/>
                <a:tab pos="6653530" algn="l"/>
                <a:tab pos="7312025" algn="l"/>
                <a:tab pos="7610475" algn="l"/>
              </a:tabLst>
            </a:pPr>
            <a:r>
              <a:rPr sz="2800" b="1" spc="-270" dirty="0">
                <a:latin typeface="Times New Roman"/>
                <a:cs typeface="Times New Roman"/>
              </a:rPr>
              <a:t>S</a:t>
            </a:r>
            <a:r>
              <a:rPr sz="2800" b="1" spc="-35" dirty="0">
                <a:latin typeface="Times New Roman"/>
                <a:cs typeface="Times New Roman"/>
              </a:rPr>
              <a:t>t</a:t>
            </a:r>
            <a:r>
              <a:rPr sz="2800" b="1" spc="-15" dirty="0">
                <a:latin typeface="Times New Roman"/>
                <a:cs typeface="Times New Roman"/>
              </a:rPr>
              <a:t>r</a:t>
            </a:r>
            <a:r>
              <a:rPr sz="2800" b="1" spc="30" dirty="0">
                <a:latin typeface="Times New Roman"/>
                <a:cs typeface="Times New Roman"/>
              </a:rPr>
              <a:t>ing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55" dirty="0">
                <a:latin typeface="Times New Roman"/>
                <a:cs typeface="Times New Roman"/>
              </a:rPr>
              <a:t>ge</a:t>
            </a:r>
            <a:r>
              <a:rPr sz="2800" b="1" spc="-5" dirty="0">
                <a:latin typeface="Times New Roman"/>
                <a:cs typeface="Times New Roman"/>
              </a:rPr>
              <a:t>t</a:t>
            </a:r>
            <a:r>
              <a:rPr sz="2800" b="1" spc="-530" dirty="0">
                <a:latin typeface="Times New Roman"/>
                <a:cs typeface="Times New Roman"/>
              </a:rPr>
              <a:t>T</a:t>
            </a:r>
            <a:r>
              <a:rPr sz="2800" b="1" spc="100" dirty="0">
                <a:latin typeface="Times New Roman"/>
                <a:cs typeface="Times New Roman"/>
              </a:rPr>
              <a:t>e</a:t>
            </a:r>
            <a:r>
              <a:rPr sz="2800" b="1" spc="125" dirty="0">
                <a:latin typeface="Times New Roman"/>
                <a:cs typeface="Times New Roman"/>
              </a:rPr>
              <a:t>x</a:t>
            </a:r>
            <a:r>
              <a:rPr sz="2800" b="1" spc="55" dirty="0">
                <a:latin typeface="Times New Roman"/>
                <a:cs typeface="Times New Roman"/>
              </a:rPr>
              <a:t>t</a:t>
            </a:r>
            <a:r>
              <a:rPr sz="2800" b="1" spc="35" dirty="0">
                <a:latin typeface="Times New Roman"/>
                <a:cs typeface="Times New Roman"/>
              </a:rPr>
              <a:t>(</a:t>
            </a:r>
            <a:r>
              <a:rPr sz="2800" b="1" spc="105" dirty="0">
                <a:latin typeface="Times New Roman"/>
                <a:cs typeface="Times New Roman"/>
              </a:rPr>
              <a:t>)</a:t>
            </a:r>
            <a:r>
              <a:rPr sz="2800" b="1" spc="-204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100" dirty="0">
                <a:latin typeface="Times New Roman"/>
                <a:cs typeface="Times New Roman"/>
              </a:rPr>
              <a:t>I</a:t>
            </a:r>
            <a:r>
              <a:rPr sz="2800" spc="-7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15" dirty="0">
                <a:latin typeface="Times New Roman"/>
                <a:cs typeface="Times New Roman"/>
              </a:rPr>
              <a:t>tu</a:t>
            </a:r>
            <a:r>
              <a:rPr sz="2800" spc="55" dirty="0">
                <a:latin typeface="Times New Roman"/>
                <a:cs typeface="Times New Roman"/>
              </a:rPr>
              <a:t>r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-21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10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</a:t>
            </a:r>
            <a:r>
              <a:rPr sz="2800" spc="-60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x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10" dirty="0">
                <a:latin typeface="Times New Roman"/>
                <a:cs typeface="Times New Roman"/>
              </a:rPr>
              <a:t>s</a:t>
            </a:r>
            <a:r>
              <a:rPr sz="2800" spc="30" dirty="0">
                <a:latin typeface="Times New Roman"/>
                <a:cs typeface="Times New Roman"/>
              </a:rPr>
              <a:t>t</a:t>
            </a:r>
            <a:r>
              <a:rPr sz="2800" spc="75" dirty="0">
                <a:latin typeface="Times New Roman"/>
                <a:cs typeface="Times New Roman"/>
              </a:rPr>
              <a:t>r</a:t>
            </a:r>
            <a:r>
              <a:rPr sz="2800" spc="-90" dirty="0">
                <a:latin typeface="Times New Roman"/>
                <a:cs typeface="Times New Roman"/>
              </a:rPr>
              <a:t>i</a:t>
            </a:r>
            <a:r>
              <a:rPr sz="2800" spc="-150" dirty="0">
                <a:latin typeface="Times New Roman"/>
                <a:cs typeface="Times New Roman"/>
              </a:rPr>
              <a:t>n</a:t>
            </a:r>
            <a:r>
              <a:rPr sz="2800" spc="-229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240" dirty="0">
                <a:latin typeface="Times New Roman"/>
                <a:cs typeface="Times New Roman"/>
              </a:rPr>
              <a:t>a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2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45" dirty="0">
                <a:latin typeface="Times New Roman"/>
                <a:cs typeface="Times New Roman"/>
              </a:rPr>
              <a:t>lab</a:t>
            </a:r>
            <a:r>
              <a:rPr sz="2800" spc="-175" dirty="0">
                <a:latin typeface="Times New Roman"/>
                <a:cs typeface="Times New Roman"/>
              </a:rPr>
              <a:t>e</a:t>
            </a:r>
            <a:r>
              <a:rPr sz="2800" spc="-100" dirty="0">
                <a:latin typeface="Times New Roman"/>
                <a:cs typeface="Times New Roman"/>
              </a:rPr>
              <a:t>l  </a:t>
            </a:r>
            <a:r>
              <a:rPr sz="2800" spc="-150" dirty="0">
                <a:latin typeface="Times New Roman"/>
                <a:cs typeface="Times New Roman"/>
              </a:rPr>
              <a:t>displays.</a:t>
            </a:r>
            <a:endParaRPr sz="2800" dirty="0">
              <a:latin typeface="Times New Roman"/>
              <a:cs typeface="Times New Roman"/>
            </a:endParaRPr>
          </a:p>
          <a:p>
            <a:pPr marL="287020" marR="762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2800" b="1" spc="40" dirty="0">
                <a:latin typeface="Times New Roman"/>
                <a:cs typeface="Times New Roman"/>
              </a:rPr>
              <a:t>void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setText(String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spc="20" dirty="0">
                <a:latin typeface="Times New Roman"/>
                <a:cs typeface="Times New Roman"/>
              </a:rPr>
              <a:t>text):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It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defines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single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line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text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t</a:t>
            </a:r>
            <a:r>
              <a:rPr sz="2800" spc="-100" dirty="0">
                <a:latin typeface="Times New Roman"/>
                <a:cs typeface="Times New Roman"/>
              </a:rPr>
              <a:t>h</a:t>
            </a:r>
            <a:r>
              <a:rPr sz="2800" spc="-175" dirty="0">
                <a:latin typeface="Times New Roman"/>
                <a:cs typeface="Times New Roman"/>
              </a:rPr>
              <a:t>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c</a:t>
            </a:r>
            <a:r>
              <a:rPr sz="2800" spc="-140" dirty="0">
                <a:latin typeface="Times New Roman"/>
                <a:cs typeface="Times New Roman"/>
              </a:rPr>
              <a:t>o</a:t>
            </a:r>
            <a:r>
              <a:rPr sz="2800" spc="-175" dirty="0">
                <a:latin typeface="Times New Roman"/>
                <a:cs typeface="Times New Roman"/>
              </a:rPr>
              <a:t>m</a:t>
            </a:r>
            <a:r>
              <a:rPr sz="2800" spc="-105" dirty="0">
                <a:latin typeface="Times New Roman"/>
                <a:cs typeface="Times New Roman"/>
              </a:rPr>
              <a:t>p</a:t>
            </a:r>
            <a:r>
              <a:rPr sz="2800" spc="-110" dirty="0">
                <a:latin typeface="Times New Roman"/>
                <a:cs typeface="Times New Roman"/>
              </a:rPr>
              <a:t>on</a:t>
            </a:r>
            <a:r>
              <a:rPr sz="2800" spc="-114" dirty="0">
                <a:latin typeface="Times New Roman"/>
                <a:cs typeface="Times New Roman"/>
              </a:rPr>
              <a:t>e</a:t>
            </a:r>
            <a:r>
              <a:rPr sz="2800" spc="-110" dirty="0">
                <a:latin typeface="Times New Roman"/>
                <a:cs typeface="Times New Roman"/>
              </a:rPr>
              <a:t>n</a:t>
            </a:r>
            <a:r>
              <a:rPr sz="2800" spc="40" dirty="0">
                <a:latin typeface="Times New Roman"/>
                <a:cs typeface="Times New Roman"/>
              </a:rPr>
              <a:t>t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will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d</a:t>
            </a:r>
            <a:r>
              <a:rPr sz="2800" spc="-145" dirty="0">
                <a:latin typeface="Times New Roman"/>
                <a:cs typeface="Times New Roman"/>
              </a:rPr>
              <a:t>i</a:t>
            </a:r>
            <a:r>
              <a:rPr sz="2800" spc="-195" dirty="0">
                <a:latin typeface="Times New Roman"/>
                <a:cs typeface="Times New Roman"/>
              </a:rPr>
              <a:t>s</a:t>
            </a:r>
            <a:r>
              <a:rPr sz="2800" spc="-110" dirty="0">
                <a:latin typeface="Times New Roman"/>
                <a:cs typeface="Times New Roman"/>
              </a:rPr>
              <a:t>p</a:t>
            </a:r>
            <a:r>
              <a:rPr sz="2800" spc="-130" dirty="0">
                <a:latin typeface="Times New Roman"/>
                <a:cs typeface="Times New Roman"/>
              </a:rPr>
              <a:t>l</a:t>
            </a:r>
            <a:r>
              <a:rPr sz="2800" spc="-295" dirty="0">
                <a:latin typeface="Times New Roman"/>
                <a:cs typeface="Times New Roman"/>
              </a:rPr>
              <a:t>a</a:t>
            </a:r>
            <a:r>
              <a:rPr sz="2800" spc="-509" dirty="0">
                <a:latin typeface="Times New Roman"/>
                <a:cs typeface="Times New Roman"/>
              </a:rPr>
              <a:t>y</a:t>
            </a:r>
            <a:r>
              <a:rPr sz="2800" spc="114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87020" marR="5715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  <a:tab pos="1109980" algn="l"/>
                <a:tab pos="5501005" algn="l"/>
                <a:tab pos="7400290" algn="l"/>
                <a:tab pos="7745095" algn="l"/>
              </a:tabLst>
            </a:pPr>
            <a:r>
              <a:rPr sz="2800" b="1" spc="-40" dirty="0">
                <a:latin typeface="Times New Roman"/>
                <a:cs typeface="Times New Roman"/>
              </a:rPr>
              <a:t>v</a:t>
            </a:r>
            <a:r>
              <a:rPr sz="2800" b="1" spc="105" dirty="0">
                <a:latin typeface="Times New Roman"/>
                <a:cs typeface="Times New Roman"/>
              </a:rPr>
              <a:t>o</a:t>
            </a:r>
            <a:r>
              <a:rPr sz="2800" b="1" spc="45" dirty="0">
                <a:latin typeface="Times New Roman"/>
                <a:cs typeface="Times New Roman"/>
              </a:rPr>
              <a:t>id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85" dirty="0">
                <a:latin typeface="Times New Roman"/>
                <a:cs typeface="Times New Roman"/>
              </a:rPr>
              <a:t>s</a:t>
            </a:r>
            <a:r>
              <a:rPr sz="2800" b="1" spc="50" dirty="0">
                <a:latin typeface="Times New Roman"/>
                <a:cs typeface="Times New Roman"/>
              </a:rPr>
              <a:t>etH</a:t>
            </a:r>
            <a:r>
              <a:rPr sz="2800" b="1" spc="30" dirty="0">
                <a:latin typeface="Times New Roman"/>
                <a:cs typeface="Times New Roman"/>
              </a:rPr>
              <a:t>o</a:t>
            </a:r>
            <a:r>
              <a:rPr sz="2800" b="1" spc="-75" dirty="0">
                <a:latin typeface="Times New Roman"/>
                <a:cs typeface="Times New Roman"/>
              </a:rPr>
              <a:t>r</a:t>
            </a:r>
            <a:r>
              <a:rPr sz="2800" b="1" spc="25" dirty="0">
                <a:latin typeface="Times New Roman"/>
                <a:cs typeface="Times New Roman"/>
              </a:rPr>
              <a:t>izonta</a:t>
            </a:r>
            <a:r>
              <a:rPr sz="2800" b="1" spc="-15" dirty="0">
                <a:latin typeface="Times New Roman"/>
                <a:cs typeface="Times New Roman"/>
              </a:rPr>
              <a:t>l</a:t>
            </a:r>
            <a:r>
              <a:rPr sz="2800" b="1" spc="-30" dirty="0">
                <a:latin typeface="Times New Roman"/>
                <a:cs typeface="Times New Roman"/>
              </a:rPr>
              <a:t>Al</a:t>
            </a:r>
            <a:r>
              <a:rPr sz="2800" b="1" spc="-25" dirty="0">
                <a:latin typeface="Times New Roman"/>
                <a:cs typeface="Times New Roman"/>
              </a:rPr>
              <a:t>i</a:t>
            </a:r>
            <a:r>
              <a:rPr sz="2800" b="1" spc="10" dirty="0">
                <a:latin typeface="Times New Roman"/>
                <a:cs typeface="Times New Roman"/>
              </a:rPr>
              <a:t>g</a:t>
            </a:r>
            <a:r>
              <a:rPr sz="2800" b="1" spc="5" dirty="0">
                <a:latin typeface="Times New Roman"/>
                <a:cs typeface="Times New Roman"/>
              </a:rPr>
              <a:t>nm</a:t>
            </a:r>
            <a:r>
              <a:rPr sz="2800" b="1" spc="-15" dirty="0">
                <a:latin typeface="Times New Roman"/>
                <a:cs typeface="Times New Roman"/>
              </a:rPr>
              <a:t>e</a:t>
            </a:r>
            <a:r>
              <a:rPr sz="2800" b="1" spc="40" dirty="0">
                <a:latin typeface="Times New Roman"/>
                <a:cs typeface="Times New Roman"/>
              </a:rPr>
              <a:t>nt(int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10" dirty="0">
                <a:latin typeface="Times New Roman"/>
                <a:cs typeface="Times New Roman"/>
              </a:rPr>
              <a:t>a</a:t>
            </a:r>
            <a:r>
              <a:rPr sz="2800" b="1" spc="40" dirty="0">
                <a:latin typeface="Times New Roman"/>
                <a:cs typeface="Times New Roman"/>
              </a:rPr>
              <a:t>l</a:t>
            </a:r>
            <a:r>
              <a:rPr sz="2800" b="1" spc="5" dirty="0">
                <a:latin typeface="Times New Roman"/>
                <a:cs typeface="Times New Roman"/>
              </a:rPr>
              <a:t>i</a:t>
            </a:r>
            <a:r>
              <a:rPr sz="2800" b="1" spc="25" dirty="0">
                <a:latin typeface="Times New Roman"/>
                <a:cs typeface="Times New Roman"/>
              </a:rPr>
              <a:t>g</a:t>
            </a:r>
            <a:r>
              <a:rPr sz="2800" b="1" spc="10" dirty="0">
                <a:latin typeface="Times New Roman"/>
                <a:cs typeface="Times New Roman"/>
              </a:rPr>
              <a:t>n</a:t>
            </a:r>
            <a:r>
              <a:rPr sz="2800" b="1" spc="5" dirty="0">
                <a:latin typeface="Times New Roman"/>
                <a:cs typeface="Times New Roman"/>
              </a:rPr>
              <a:t>me</a:t>
            </a:r>
            <a:r>
              <a:rPr sz="2800" b="1" spc="10" dirty="0">
                <a:latin typeface="Times New Roman"/>
                <a:cs typeface="Times New Roman"/>
              </a:rPr>
              <a:t>n</a:t>
            </a:r>
            <a:r>
              <a:rPr sz="2800" b="1" spc="55" dirty="0">
                <a:latin typeface="Times New Roman"/>
                <a:cs typeface="Times New Roman"/>
              </a:rPr>
              <a:t>t</a:t>
            </a:r>
            <a:r>
              <a:rPr sz="2800" b="1" spc="65" dirty="0">
                <a:latin typeface="Times New Roman"/>
                <a:cs typeface="Times New Roman"/>
              </a:rPr>
              <a:t>)</a:t>
            </a:r>
            <a:r>
              <a:rPr sz="2800" b="1" spc="-204" dirty="0">
                <a:latin typeface="Times New Roman"/>
                <a:cs typeface="Times New Roman"/>
              </a:rPr>
              <a:t>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100" dirty="0">
                <a:latin typeface="Times New Roman"/>
                <a:cs typeface="Times New Roman"/>
              </a:rPr>
              <a:t>I</a:t>
            </a:r>
            <a:r>
              <a:rPr sz="2800" spc="-7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10" dirty="0">
                <a:latin typeface="Times New Roman"/>
                <a:cs typeface="Times New Roman"/>
              </a:rPr>
              <a:t>s</a:t>
            </a:r>
            <a:r>
              <a:rPr sz="2800" spc="-120" dirty="0">
                <a:latin typeface="Times New Roman"/>
                <a:cs typeface="Times New Roman"/>
              </a:rPr>
              <a:t>e</a:t>
            </a:r>
            <a:r>
              <a:rPr sz="2800" spc="-75" dirty="0">
                <a:latin typeface="Times New Roman"/>
                <a:cs typeface="Times New Roman"/>
              </a:rPr>
              <a:t>ts 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alignment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of</a:t>
            </a:r>
            <a:r>
              <a:rPr sz="2800" spc="-85" dirty="0">
                <a:latin typeface="Times New Roman"/>
                <a:cs typeface="Times New Roman"/>
              </a:rPr>
              <a:t> 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label's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contents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along</a:t>
            </a:r>
            <a:r>
              <a:rPr sz="2800" spc="-85" dirty="0">
                <a:latin typeface="Times New Roman"/>
                <a:cs typeface="Times New Roman"/>
              </a:rPr>
              <a:t> the </a:t>
            </a:r>
            <a:r>
              <a:rPr sz="2800" spc="-295" dirty="0">
                <a:latin typeface="Times New Roman"/>
                <a:cs typeface="Times New Roman"/>
              </a:rPr>
              <a:t>X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axis.</a:t>
            </a:r>
            <a:endParaRPr sz="2800" dirty="0">
              <a:latin typeface="Times New Roman"/>
              <a:cs typeface="Times New Roman"/>
            </a:endParaRPr>
          </a:p>
          <a:p>
            <a:pPr marL="287020" marR="7620" indent="-274955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2800" b="1" spc="35" dirty="0">
                <a:latin typeface="Times New Roman"/>
                <a:cs typeface="Times New Roman"/>
              </a:rPr>
              <a:t>Icon</a:t>
            </a:r>
            <a:r>
              <a:rPr sz="2800" b="1" spc="165" dirty="0">
                <a:latin typeface="Times New Roman"/>
                <a:cs typeface="Times New Roman"/>
              </a:rPr>
              <a:t> </a:t>
            </a:r>
            <a:r>
              <a:rPr sz="2800" b="1" spc="20" dirty="0">
                <a:latin typeface="Times New Roman"/>
                <a:cs typeface="Times New Roman"/>
              </a:rPr>
              <a:t>getIcon():</a:t>
            </a:r>
            <a:r>
              <a:rPr sz="2800" b="1" spc="6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It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returns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graphic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image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that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label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displays.</a:t>
            </a:r>
            <a:endParaRPr sz="2800" dirty="0">
              <a:latin typeface="Times New Roman"/>
              <a:cs typeface="Times New Roman"/>
            </a:endParaRPr>
          </a:p>
          <a:p>
            <a:pPr marL="287020" marR="5080" indent="-274955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3928"/>
              <a:buFont typeface="Wingdings"/>
              <a:buChar char=""/>
              <a:tabLst>
                <a:tab pos="287655" algn="l"/>
              </a:tabLst>
            </a:pPr>
            <a:r>
              <a:rPr sz="2800" b="1" spc="30" dirty="0">
                <a:latin typeface="Times New Roman"/>
                <a:cs typeface="Times New Roman"/>
              </a:rPr>
              <a:t>int</a:t>
            </a:r>
            <a:r>
              <a:rPr sz="2800" b="1" spc="240" dirty="0">
                <a:latin typeface="Times New Roman"/>
                <a:cs typeface="Times New Roman"/>
              </a:rPr>
              <a:t> </a:t>
            </a:r>
            <a:r>
              <a:rPr sz="2800" b="1" spc="10" dirty="0">
                <a:latin typeface="Times New Roman"/>
                <a:cs typeface="Times New Roman"/>
              </a:rPr>
              <a:t>getHorizontalAlignment():</a:t>
            </a:r>
            <a:r>
              <a:rPr sz="2800" b="1" spc="13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It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returns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alignment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of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label's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contents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along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95" dirty="0">
                <a:latin typeface="Times New Roman"/>
                <a:cs typeface="Times New Roman"/>
              </a:rPr>
              <a:t>X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axis.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19201"/>
            <a:ext cx="6442710" cy="563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40" dirty="0">
                <a:latin typeface="Times New Roman"/>
                <a:cs typeface="Times New Roman"/>
              </a:rPr>
              <a:t>Example</a:t>
            </a:r>
            <a:r>
              <a:rPr sz="2300" b="1" spc="-85" dirty="0">
                <a:latin typeface="Times New Roman"/>
                <a:cs typeface="Times New Roman"/>
              </a:rPr>
              <a:t> </a:t>
            </a:r>
            <a:r>
              <a:rPr sz="2300" b="1" spc="-65" dirty="0">
                <a:latin typeface="Times New Roman"/>
                <a:cs typeface="Times New Roman"/>
              </a:rPr>
              <a:t>(JLabel)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-90" dirty="0">
                <a:latin typeface="Times New Roman"/>
                <a:cs typeface="Times New Roman"/>
              </a:rPr>
              <a:t>impo</a:t>
            </a:r>
            <a:r>
              <a:rPr sz="2300" spc="10" dirty="0">
                <a:latin typeface="Times New Roman"/>
                <a:cs typeface="Times New Roman"/>
              </a:rPr>
              <a:t>r</a:t>
            </a:r>
            <a:r>
              <a:rPr sz="2300" spc="30" dirty="0">
                <a:latin typeface="Times New Roman"/>
                <a:cs typeface="Times New Roman"/>
              </a:rPr>
              <a:t>t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-114" dirty="0">
                <a:latin typeface="Times New Roman"/>
                <a:cs typeface="Times New Roman"/>
              </a:rPr>
              <a:t>j</a:t>
            </a:r>
            <a:r>
              <a:rPr sz="2300" spc="-254" dirty="0">
                <a:latin typeface="Times New Roman"/>
                <a:cs typeface="Times New Roman"/>
              </a:rPr>
              <a:t>a</a:t>
            </a:r>
            <a:r>
              <a:rPr sz="2300" spc="-215" dirty="0">
                <a:latin typeface="Times New Roman"/>
                <a:cs typeface="Times New Roman"/>
              </a:rPr>
              <a:t>v</a:t>
            </a:r>
            <a:r>
              <a:rPr sz="2300" spc="-95" dirty="0">
                <a:latin typeface="Times New Roman"/>
                <a:cs typeface="Times New Roman"/>
              </a:rPr>
              <a:t>ax.</a:t>
            </a:r>
            <a:r>
              <a:rPr sz="2300" spc="-135" dirty="0">
                <a:latin typeface="Times New Roman"/>
                <a:cs typeface="Times New Roman"/>
              </a:rPr>
              <a:t>s</a:t>
            </a:r>
            <a:r>
              <a:rPr sz="2300" spc="-110" dirty="0">
                <a:latin typeface="Times New Roman"/>
                <a:cs typeface="Times New Roman"/>
              </a:rPr>
              <a:t>win</a:t>
            </a:r>
            <a:r>
              <a:rPr sz="2300" spc="-405" dirty="0">
                <a:latin typeface="Times New Roman"/>
                <a:cs typeface="Times New Roman"/>
              </a:rPr>
              <a:t>g</a:t>
            </a:r>
            <a:r>
              <a:rPr sz="2300" spc="10" dirty="0">
                <a:latin typeface="Times New Roman"/>
                <a:cs typeface="Times New Roman"/>
              </a:rPr>
              <a:t>.*;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spc="-105" dirty="0">
                <a:latin typeface="Times New Roman"/>
                <a:cs typeface="Times New Roman"/>
              </a:rPr>
              <a:t>pu</a:t>
            </a:r>
            <a:r>
              <a:rPr sz="2300" spc="-125" dirty="0">
                <a:latin typeface="Times New Roman"/>
                <a:cs typeface="Times New Roman"/>
              </a:rPr>
              <a:t>b</a:t>
            </a:r>
            <a:r>
              <a:rPr sz="2300" spc="-100" dirty="0">
                <a:latin typeface="Times New Roman"/>
                <a:cs typeface="Times New Roman"/>
              </a:rPr>
              <a:t>li</a:t>
            </a:r>
            <a:r>
              <a:rPr sz="2300" spc="-150" dirty="0">
                <a:latin typeface="Times New Roman"/>
                <a:cs typeface="Times New Roman"/>
              </a:rPr>
              <a:t>c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150" dirty="0">
                <a:latin typeface="Times New Roman"/>
                <a:cs typeface="Times New Roman"/>
              </a:rPr>
              <a:t>class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-165" dirty="0">
                <a:latin typeface="Times New Roman"/>
                <a:cs typeface="Times New Roman"/>
              </a:rPr>
              <a:t>Simp</a:t>
            </a:r>
            <a:r>
              <a:rPr sz="2300" spc="-150" dirty="0">
                <a:latin typeface="Times New Roman"/>
                <a:cs typeface="Times New Roman"/>
              </a:rPr>
              <a:t>leLa</a:t>
            </a:r>
            <a:r>
              <a:rPr sz="2300" spc="-155" dirty="0">
                <a:latin typeface="Times New Roman"/>
                <a:cs typeface="Times New Roman"/>
              </a:rPr>
              <a:t>b</a:t>
            </a:r>
            <a:r>
              <a:rPr sz="2300" spc="-90" dirty="0">
                <a:latin typeface="Times New Roman"/>
                <a:cs typeface="Times New Roman"/>
              </a:rPr>
              <a:t>el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-60" dirty="0">
                <a:latin typeface="Times New Roman"/>
                <a:cs typeface="Times New Roman"/>
              </a:rPr>
              <a:t>ex</a:t>
            </a:r>
            <a:r>
              <a:rPr sz="2300" spc="-30" dirty="0">
                <a:latin typeface="Times New Roman"/>
                <a:cs typeface="Times New Roman"/>
              </a:rPr>
              <a:t>t</a:t>
            </a:r>
            <a:r>
              <a:rPr sz="2300" spc="-90" dirty="0">
                <a:latin typeface="Times New Roman"/>
                <a:cs typeface="Times New Roman"/>
              </a:rPr>
              <a:t>en</a:t>
            </a:r>
            <a:r>
              <a:rPr sz="2300" spc="-95" dirty="0">
                <a:latin typeface="Times New Roman"/>
                <a:cs typeface="Times New Roman"/>
              </a:rPr>
              <a:t>d</a:t>
            </a:r>
            <a:r>
              <a:rPr sz="2300" spc="-175" dirty="0">
                <a:latin typeface="Times New Roman"/>
                <a:cs typeface="Times New Roman"/>
              </a:rPr>
              <a:t>s</a:t>
            </a:r>
            <a:r>
              <a:rPr sz="2300" spc="-75" dirty="0">
                <a:latin typeface="Times New Roman"/>
                <a:cs typeface="Times New Roman"/>
              </a:rPr>
              <a:t> </a:t>
            </a:r>
            <a:r>
              <a:rPr sz="2300" spc="-135" dirty="0">
                <a:latin typeface="Times New Roman"/>
                <a:cs typeface="Times New Roman"/>
              </a:rPr>
              <a:t>JF</a:t>
            </a:r>
            <a:r>
              <a:rPr sz="2300" spc="-95" dirty="0">
                <a:latin typeface="Times New Roman"/>
                <a:cs typeface="Times New Roman"/>
              </a:rPr>
              <a:t>r</a:t>
            </a:r>
            <a:r>
              <a:rPr sz="2300" spc="-140" dirty="0">
                <a:latin typeface="Times New Roman"/>
                <a:cs typeface="Times New Roman"/>
              </a:rPr>
              <a:t>ame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47980" algn="l"/>
              </a:tabLst>
            </a:pPr>
            <a:r>
              <a:rPr sz="2300" dirty="0">
                <a:latin typeface="Times New Roman"/>
                <a:cs typeface="Times New Roman"/>
              </a:rPr>
              <a:t>{	</a:t>
            </a:r>
            <a:r>
              <a:rPr sz="2300" spc="-130" dirty="0">
                <a:latin typeface="Times New Roman"/>
                <a:cs typeface="Times New Roman"/>
              </a:rPr>
              <a:t>SimpleLabel()</a:t>
            </a:r>
            <a:endParaRPr sz="2300" dirty="0">
              <a:latin typeface="Times New Roman"/>
              <a:cs typeface="Times New Roman"/>
            </a:endParaRPr>
          </a:p>
          <a:p>
            <a:pPr marL="466725" marR="814069" indent="-192405" algn="just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imes New Roman"/>
                <a:cs typeface="Times New Roman"/>
              </a:rPr>
              <a:t>{ </a:t>
            </a:r>
            <a:r>
              <a:rPr sz="2300" spc="-140" dirty="0">
                <a:latin typeface="Times New Roman"/>
                <a:cs typeface="Times New Roman"/>
              </a:rPr>
              <a:t>ImageIcon </a:t>
            </a:r>
            <a:r>
              <a:rPr sz="2300" spc="-60" dirty="0">
                <a:latin typeface="Times New Roman"/>
                <a:cs typeface="Times New Roman"/>
              </a:rPr>
              <a:t>ic=new </a:t>
            </a:r>
            <a:r>
              <a:rPr sz="2300" spc="-100" dirty="0">
                <a:latin typeface="Times New Roman"/>
                <a:cs typeface="Times New Roman"/>
              </a:rPr>
              <a:t>ImageIcon("download.jpg"); 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150" dirty="0">
                <a:latin typeface="Times New Roman"/>
                <a:cs typeface="Times New Roman"/>
              </a:rPr>
              <a:t>JLabel </a:t>
            </a:r>
            <a:r>
              <a:rPr sz="2300" spc="-50" dirty="0">
                <a:latin typeface="Times New Roman"/>
                <a:cs typeface="Times New Roman"/>
              </a:rPr>
              <a:t>jl=new </a:t>
            </a:r>
            <a:r>
              <a:rPr sz="2300" spc="-110" dirty="0">
                <a:latin typeface="Times New Roman"/>
                <a:cs typeface="Times New Roman"/>
              </a:rPr>
              <a:t>JLabel("Name",ic,JLabel.LEFT); 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spc="-90" dirty="0">
                <a:latin typeface="Times New Roman"/>
                <a:cs typeface="Times New Roman"/>
              </a:rPr>
              <a:t>setSize(250,300);</a:t>
            </a:r>
            <a:endParaRPr sz="2300" dirty="0">
              <a:latin typeface="Times New Roman"/>
              <a:cs typeface="Times New Roman"/>
            </a:endParaRPr>
          </a:p>
          <a:p>
            <a:pPr marL="534035" marR="4246245" indent="-67310">
              <a:lnSpc>
                <a:spcPct val="100000"/>
              </a:lnSpc>
              <a:spcBef>
                <a:spcPts val="5"/>
              </a:spcBef>
            </a:pPr>
            <a:r>
              <a:rPr sz="2300" spc="-105" dirty="0">
                <a:latin typeface="Times New Roman"/>
                <a:cs typeface="Times New Roman"/>
              </a:rPr>
              <a:t>set</a:t>
            </a:r>
            <a:r>
              <a:rPr sz="2300" spc="-235" dirty="0">
                <a:latin typeface="Times New Roman"/>
                <a:cs typeface="Times New Roman"/>
              </a:rPr>
              <a:t>V</a:t>
            </a:r>
            <a:r>
              <a:rPr sz="2300" spc="-114" dirty="0">
                <a:latin typeface="Times New Roman"/>
                <a:cs typeface="Times New Roman"/>
              </a:rPr>
              <a:t>isi</a:t>
            </a:r>
            <a:r>
              <a:rPr sz="2300" spc="-210" dirty="0">
                <a:latin typeface="Times New Roman"/>
                <a:cs typeface="Times New Roman"/>
              </a:rPr>
              <a:t>b</a:t>
            </a:r>
            <a:r>
              <a:rPr sz="2300" spc="-40" dirty="0">
                <a:latin typeface="Times New Roman"/>
                <a:cs typeface="Times New Roman"/>
              </a:rPr>
              <a:t>le(t</a:t>
            </a:r>
            <a:r>
              <a:rPr sz="2300" spc="5" dirty="0">
                <a:latin typeface="Times New Roman"/>
                <a:cs typeface="Times New Roman"/>
              </a:rPr>
              <a:t>r</a:t>
            </a:r>
            <a:r>
              <a:rPr sz="2300" spc="-45" dirty="0">
                <a:latin typeface="Times New Roman"/>
                <a:cs typeface="Times New Roman"/>
              </a:rPr>
              <a:t>ue);  </a:t>
            </a:r>
            <a:r>
              <a:rPr sz="2300" spc="-85" dirty="0">
                <a:latin typeface="Times New Roman"/>
                <a:cs typeface="Times New Roman"/>
              </a:rPr>
              <a:t>add(jl);</a:t>
            </a:r>
            <a:endParaRPr sz="2300" dirty="0">
              <a:latin typeface="Times New Roman"/>
              <a:cs typeface="Times New Roman"/>
            </a:endParaRPr>
          </a:p>
          <a:p>
            <a:pPr marL="466725">
              <a:lnSpc>
                <a:spcPct val="100000"/>
              </a:lnSpc>
            </a:pPr>
            <a:r>
              <a:rPr sz="2300" spc="-100" dirty="0">
                <a:latin typeface="Times New Roman"/>
                <a:cs typeface="Times New Roman"/>
              </a:rPr>
              <a:t>setDefaultCloseOperation(JFrame.EXIT_ON_CLOSE);</a:t>
            </a:r>
            <a:endParaRPr sz="2300" dirty="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}</a:t>
            </a:r>
          </a:p>
          <a:p>
            <a:pPr marL="274955">
              <a:lnSpc>
                <a:spcPct val="100000"/>
              </a:lnSpc>
              <a:spcBef>
                <a:spcPts val="5"/>
              </a:spcBef>
            </a:pPr>
            <a:r>
              <a:rPr sz="2300" spc="-105" dirty="0">
                <a:latin typeface="Times New Roman"/>
                <a:cs typeface="Times New Roman"/>
              </a:rPr>
              <a:t>pu</a:t>
            </a:r>
            <a:r>
              <a:rPr sz="2300" spc="-130" dirty="0">
                <a:latin typeface="Times New Roman"/>
                <a:cs typeface="Times New Roman"/>
              </a:rPr>
              <a:t>b</a:t>
            </a:r>
            <a:r>
              <a:rPr sz="2300" spc="-100" dirty="0">
                <a:latin typeface="Times New Roman"/>
                <a:cs typeface="Times New Roman"/>
              </a:rPr>
              <a:t>li</a:t>
            </a:r>
            <a:r>
              <a:rPr sz="2300" spc="-150" dirty="0">
                <a:latin typeface="Times New Roman"/>
                <a:cs typeface="Times New Roman"/>
              </a:rPr>
              <a:t>c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100" dirty="0">
                <a:latin typeface="Times New Roman"/>
                <a:cs typeface="Times New Roman"/>
              </a:rPr>
              <a:t>st</a:t>
            </a:r>
            <a:r>
              <a:rPr sz="2300" spc="-160" dirty="0">
                <a:latin typeface="Times New Roman"/>
                <a:cs typeface="Times New Roman"/>
              </a:rPr>
              <a:t>a</a:t>
            </a:r>
            <a:r>
              <a:rPr sz="2300" spc="-75" dirty="0">
                <a:latin typeface="Times New Roman"/>
                <a:cs typeface="Times New Roman"/>
              </a:rPr>
              <a:t>tic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240" dirty="0">
                <a:latin typeface="Times New Roman"/>
                <a:cs typeface="Times New Roman"/>
              </a:rPr>
              <a:t>v</a:t>
            </a:r>
            <a:r>
              <a:rPr sz="2300" spc="-105" dirty="0">
                <a:latin typeface="Times New Roman"/>
                <a:cs typeface="Times New Roman"/>
              </a:rPr>
              <a:t>oid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-114" dirty="0">
                <a:latin typeface="Times New Roman"/>
                <a:cs typeface="Times New Roman"/>
              </a:rPr>
              <a:t>main(St</a:t>
            </a:r>
            <a:r>
              <a:rPr sz="2300" spc="-40" dirty="0">
                <a:latin typeface="Times New Roman"/>
                <a:cs typeface="Times New Roman"/>
              </a:rPr>
              <a:t>r</a:t>
            </a:r>
            <a:r>
              <a:rPr sz="2300" spc="-135" dirty="0">
                <a:latin typeface="Times New Roman"/>
                <a:cs typeface="Times New Roman"/>
              </a:rPr>
              <a:t>ing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135" dirty="0">
                <a:latin typeface="Times New Roman"/>
                <a:cs typeface="Times New Roman"/>
              </a:rPr>
              <a:t>args[])</a:t>
            </a:r>
            <a:endParaRPr sz="2300" dirty="0">
              <a:latin typeface="Times New Roman"/>
              <a:cs typeface="Times New Roman"/>
            </a:endParaRPr>
          </a:p>
          <a:p>
            <a:pPr marL="207645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{</a:t>
            </a:r>
          </a:p>
          <a:p>
            <a:pPr marL="664845">
              <a:lnSpc>
                <a:spcPct val="100000"/>
              </a:lnSpc>
            </a:pPr>
            <a:r>
              <a:rPr sz="2300" spc="-100" dirty="0">
                <a:latin typeface="Times New Roman"/>
                <a:cs typeface="Times New Roman"/>
              </a:rPr>
              <a:t>n</a:t>
            </a:r>
            <a:r>
              <a:rPr sz="2300" spc="-110" dirty="0">
                <a:latin typeface="Times New Roman"/>
                <a:cs typeface="Times New Roman"/>
              </a:rPr>
              <a:t>e</a:t>
            </a:r>
            <a:r>
              <a:rPr sz="2300" spc="-125" dirty="0">
                <a:latin typeface="Times New Roman"/>
                <a:cs typeface="Times New Roman"/>
              </a:rPr>
              <a:t>w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spc="-114" dirty="0">
                <a:latin typeface="Times New Roman"/>
                <a:cs typeface="Times New Roman"/>
              </a:rPr>
              <a:t>SimpleLabel();</a:t>
            </a:r>
            <a:endParaRPr sz="2300" dirty="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}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4571999"/>
            <a:ext cx="3276600" cy="22859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4099" y="2135990"/>
            <a:ext cx="6893859" cy="3452159"/>
          </a:xfrm>
          <a:custGeom>
            <a:avLst/>
            <a:gdLst/>
            <a:ahLst/>
            <a:cxnLst/>
            <a:rect l="l" t="t" r="r" b="b"/>
            <a:pathLst>
              <a:path w="5859780" h="2934335">
                <a:moveTo>
                  <a:pt x="0" y="0"/>
                </a:moveTo>
                <a:lnTo>
                  <a:pt x="5859780" y="0"/>
                </a:lnTo>
                <a:lnTo>
                  <a:pt x="5859780" y="2934208"/>
                </a:lnTo>
                <a:lnTo>
                  <a:pt x="0" y="2934208"/>
                </a:lnTo>
                <a:lnTo>
                  <a:pt x="0" y="0"/>
                </a:lnTo>
                <a:close/>
              </a:path>
            </a:pathLst>
          </a:custGeom>
          <a:solidFill>
            <a:srgbClr val="FBE4D6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3" name="object 3"/>
          <p:cNvSpPr/>
          <p:nvPr/>
        </p:nvSpPr>
        <p:spPr>
          <a:xfrm>
            <a:off x="1190498" y="2133001"/>
            <a:ext cx="6901329" cy="3454400"/>
          </a:xfrm>
          <a:custGeom>
            <a:avLst/>
            <a:gdLst/>
            <a:ahLst/>
            <a:cxnLst/>
            <a:rect l="l" t="t" r="r" b="b"/>
            <a:pathLst>
              <a:path w="5866130" h="2936240">
                <a:moveTo>
                  <a:pt x="5865888" y="1270"/>
                </a:moveTo>
                <a:lnTo>
                  <a:pt x="5865507" y="1270"/>
                </a:lnTo>
                <a:lnTo>
                  <a:pt x="5865507" y="0"/>
                </a:lnTo>
                <a:lnTo>
                  <a:pt x="5862586" y="0"/>
                </a:lnTo>
                <a:lnTo>
                  <a:pt x="5862586" y="3810"/>
                </a:lnTo>
                <a:lnTo>
                  <a:pt x="5861951" y="3810"/>
                </a:lnTo>
                <a:lnTo>
                  <a:pt x="5861951" y="3175"/>
                </a:lnTo>
                <a:lnTo>
                  <a:pt x="5862586" y="3810"/>
                </a:lnTo>
                <a:lnTo>
                  <a:pt x="5862586" y="0"/>
                </a:lnTo>
                <a:lnTo>
                  <a:pt x="4572" y="0"/>
                </a:lnTo>
                <a:lnTo>
                  <a:pt x="4572" y="2540"/>
                </a:lnTo>
                <a:lnTo>
                  <a:pt x="3937" y="3175"/>
                </a:lnTo>
                <a:lnTo>
                  <a:pt x="3937" y="2540"/>
                </a:lnTo>
                <a:lnTo>
                  <a:pt x="4572" y="2540"/>
                </a:lnTo>
                <a:lnTo>
                  <a:pt x="4572" y="0"/>
                </a:lnTo>
                <a:lnTo>
                  <a:pt x="381" y="0"/>
                </a:lnTo>
                <a:lnTo>
                  <a:pt x="381" y="1270"/>
                </a:lnTo>
                <a:lnTo>
                  <a:pt x="0" y="1270"/>
                </a:lnTo>
                <a:lnTo>
                  <a:pt x="0" y="2540"/>
                </a:lnTo>
                <a:lnTo>
                  <a:pt x="0" y="3810"/>
                </a:lnTo>
                <a:lnTo>
                  <a:pt x="0" y="2936240"/>
                </a:lnTo>
                <a:lnTo>
                  <a:pt x="4572" y="2936240"/>
                </a:lnTo>
                <a:lnTo>
                  <a:pt x="4572" y="4064"/>
                </a:lnTo>
                <a:lnTo>
                  <a:pt x="5861316" y="4064"/>
                </a:lnTo>
                <a:lnTo>
                  <a:pt x="5861316" y="2936240"/>
                </a:lnTo>
                <a:lnTo>
                  <a:pt x="5865888" y="2936240"/>
                </a:lnTo>
                <a:lnTo>
                  <a:pt x="5865888" y="4064"/>
                </a:lnTo>
                <a:lnTo>
                  <a:pt x="5865888" y="3810"/>
                </a:lnTo>
                <a:lnTo>
                  <a:pt x="5865888" y="2540"/>
                </a:lnTo>
                <a:lnTo>
                  <a:pt x="5865888" y="1270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 sz="2118"/>
          </a:p>
        </p:txBody>
      </p:sp>
      <p:sp>
        <p:nvSpPr>
          <p:cNvPr id="4" name="object 4"/>
          <p:cNvSpPr txBox="1"/>
          <p:nvPr/>
        </p:nvSpPr>
        <p:spPr>
          <a:xfrm>
            <a:off x="1231150" y="2103106"/>
            <a:ext cx="5161429" cy="303964"/>
          </a:xfrm>
          <a:prstGeom prst="rect">
            <a:avLst/>
          </a:prstGeom>
        </p:spPr>
        <p:txBody>
          <a:bodyPr vert="horz" wrap="square" lIns="0" tIns="14194" rIns="0" bIns="0" rtlCol="0">
            <a:spAutoFit/>
          </a:bodyPr>
          <a:lstStyle/>
          <a:p>
            <a:pPr marL="14942">
              <a:spcBef>
                <a:spcPts val="112"/>
              </a:spcBef>
            </a:pPr>
            <a:r>
              <a:rPr sz="1882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Example of</a:t>
            </a:r>
            <a:r>
              <a:rPr sz="1882" b="1" spc="-24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82" b="1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Jlabel</a:t>
            </a:r>
            <a:r>
              <a:rPr sz="1882" b="1" spc="-12" dirty="0">
                <a:solidFill>
                  <a:srgbClr val="702FA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-</a:t>
            </a:r>
            <a:r>
              <a:rPr sz="1882" spc="394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It</a:t>
            </a:r>
            <a:r>
              <a:rPr sz="1882" spc="-41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is</a:t>
            </a:r>
            <a:r>
              <a:rPr sz="1882" spc="-18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used</a:t>
            </a:r>
            <a:r>
              <a:rPr sz="1882" spc="12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for</a:t>
            </a:r>
            <a:r>
              <a:rPr sz="1882" spc="-29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placing</a:t>
            </a:r>
            <a:r>
              <a:rPr sz="1882" spc="-18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text</a:t>
            </a:r>
            <a:r>
              <a:rPr sz="1882" spc="-24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in</a:t>
            </a:r>
            <a:r>
              <a:rPr sz="1882" spc="-18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dirty="0">
                <a:latin typeface="Calibri" panose="020F0502020204030204"/>
                <a:cs typeface="Calibri" panose="020F0502020204030204"/>
              </a:rPr>
              <a:t>a</a:t>
            </a:r>
            <a:r>
              <a:rPr sz="1882" spc="-12" dirty="0">
                <a:latin typeface="Calibri" panose="020F0502020204030204"/>
                <a:cs typeface="Calibri" panose="020F0502020204030204"/>
              </a:rPr>
              <a:t> </a:t>
            </a:r>
            <a:r>
              <a:rPr sz="1882" spc="-29" dirty="0">
                <a:latin typeface="Calibri" panose="020F0502020204030204"/>
                <a:cs typeface="Calibri" panose="020F0502020204030204"/>
              </a:rPr>
              <a:t>box</a:t>
            </a:r>
            <a:endParaRPr sz="1882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86117" y="2058893"/>
            <a:ext cx="7170271" cy="3536576"/>
            <a:chOff x="838200" y="670559"/>
            <a:chExt cx="6094730" cy="30060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1013459"/>
              <a:ext cx="3607307" cy="26568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5756" y="1009408"/>
              <a:ext cx="3616960" cy="2660650"/>
            </a:xfrm>
            <a:custGeom>
              <a:avLst/>
              <a:gdLst/>
              <a:ahLst/>
              <a:cxnLst/>
              <a:rect l="l" t="t" r="r" b="b"/>
              <a:pathLst>
                <a:path w="3616960" h="2660650">
                  <a:moveTo>
                    <a:pt x="3616452" y="1270"/>
                  </a:moveTo>
                  <a:lnTo>
                    <a:pt x="3616071" y="1270"/>
                  </a:lnTo>
                  <a:lnTo>
                    <a:pt x="3616071" y="0"/>
                  </a:lnTo>
                  <a:lnTo>
                    <a:pt x="3614420" y="0"/>
                  </a:lnTo>
                  <a:lnTo>
                    <a:pt x="3614420" y="3810"/>
                  </a:lnTo>
                  <a:lnTo>
                    <a:pt x="3613150" y="3810"/>
                  </a:lnTo>
                  <a:lnTo>
                    <a:pt x="3613150" y="3175"/>
                  </a:lnTo>
                  <a:lnTo>
                    <a:pt x="3614420" y="3810"/>
                  </a:lnTo>
                  <a:lnTo>
                    <a:pt x="3614420" y="0"/>
                  </a:lnTo>
                  <a:lnTo>
                    <a:pt x="4572" y="0"/>
                  </a:lnTo>
                  <a:lnTo>
                    <a:pt x="4572" y="2540"/>
                  </a:lnTo>
                  <a:lnTo>
                    <a:pt x="3937" y="3175"/>
                  </a:lnTo>
                  <a:lnTo>
                    <a:pt x="3937" y="2540"/>
                  </a:lnTo>
                  <a:lnTo>
                    <a:pt x="4572" y="2540"/>
                  </a:lnTo>
                  <a:lnTo>
                    <a:pt x="4572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0" y="2660650"/>
                  </a:lnTo>
                  <a:lnTo>
                    <a:pt x="4572" y="2660650"/>
                  </a:lnTo>
                  <a:lnTo>
                    <a:pt x="4572" y="4064"/>
                  </a:lnTo>
                  <a:lnTo>
                    <a:pt x="3611880" y="4064"/>
                  </a:lnTo>
                  <a:lnTo>
                    <a:pt x="3611880" y="2660650"/>
                  </a:lnTo>
                  <a:lnTo>
                    <a:pt x="3616452" y="2660650"/>
                  </a:lnTo>
                  <a:lnTo>
                    <a:pt x="3616452" y="4064"/>
                  </a:lnTo>
                  <a:lnTo>
                    <a:pt x="3616452" y="3810"/>
                  </a:lnTo>
                  <a:lnTo>
                    <a:pt x="3616452" y="2540"/>
                  </a:lnTo>
                  <a:lnTo>
                    <a:pt x="3616452" y="127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2118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2979" y="1397508"/>
              <a:ext cx="2045207" cy="13304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88408" y="1392935"/>
              <a:ext cx="2054860" cy="1341120"/>
            </a:xfrm>
            <a:custGeom>
              <a:avLst/>
              <a:gdLst/>
              <a:ahLst/>
              <a:cxnLst/>
              <a:rect l="l" t="t" r="r" b="b"/>
              <a:pathLst>
                <a:path w="2054859" h="1341120">
                  <a:moveTo>
                    <a:pt x="2054351" y="1341120"/>
                  </a:moveTo>
                  <a:lnTo>
                    <a:pt x="1524" y="1341120"/>
                  </a:lnTo>
                  <a:lnTo>
                    <a:pt x="0" y="133959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054351" y="0"/>
                  </a:lnTo>
                  <a:lnTo>
                    <a:pt x="2054351" y="1524"/>
                  </a:lnTo>
                  <a:lnTo>
                    <a:pt x="4572" y="1524"/>
                  </a:lnTo>
                  <a:lnTo>
                    <a:pt x="3048" y="4572"/>
                  </a:lnTo>
                  <a:lnTo>
                    <a:pt x="4572" y="4572"/>
                  </a:lnTo>
                  <a:lnTo>
                    <a:pt x="4572" y="1335024"/>
                  </a:lnTo>
                  <a:lnTo>
                    <a:pt x="3048" y="1335024"/>
                  </a:lnTo>
                  <a:lnTo>
                    <a:pt x="4572" y="1338072"/>
                  </a:lnTo>
                  <a:lnTo>
                    <a:pt x="2054351" y="1338072"/>
                  </a:lnTo>
                  <a:lnTo>
                    <a:pt x="2054351" y="1341120"/>
                  </a:lnTo>
                  <a:close/>
                </a:path>
                <a:path w="2054859" h="1341120">
                  <a:moveTo>
                    <a:pt x="4572" y="4572"/>
                  </a:moveTo>
                  <a:lnTo>
                    <a:pt x="3048" y="4572"/>
                  </a:lnTo>
                  <a:lnTo>
                    <a:pt x="4572" y="1524"/>
                  </a:lnTo>
                  <a:lnTo>
                    <a:pt x="4572" y="4572"/>
                  </a:lnTo>
                  <a:close/>
                </a:path>
                <a:path w="2054859" h="1341120">
                  <a:moveTo>
                    <a:pt x="2049780" y="4572"/>
                  </a:moveTo>
                  <a:lnTo>
                    <a:pt x="4572" y="4572"/>
                  </a:lnTo>
                  <a:lnTo>
                    <a:pt x="4572" y="1524"/>
                  </a:lnTo>
                  <a:lnTo>
                    <a:pt x="2049780" y="1524"/>
                  </a:lnTo>
                  <a:lnTo>
                    <a:pt x="2049780" y="4572"/>
                  </a:lnTo>
                  <a:close/>
                </a:path>
                <a:path w="2054859" h="1341120">
                  <a:moveTo>
                    <a:pt x="2049780" y="1338072"/>
                  </a:moveTo>
                  <a:lnTo>
                    <a:pt x="2049780" y="1524"/>
                  </a:lnTo>
                  <a:lnTo>
                    <a:pt x="2052828" y="4572"/>
                  </a:lnTo>
                  <a:lnTo>
                    <a:pt x="2054351" y="4572"/>
                  </a:lnTo>
                  <a:lnTo>
                    <a:pt x="2054351" y="1335024"/>
                  </a:lnTo>
                  <a:lnTo>
                    <a:pt x="2052828" y="1335024"/>
                  </a:lnTo>
                  <a:lnTo>
                    <a:pt x="2049780" y="1338072"/>
                  </a:lnTo>
                  <a:close/>
                </a:path>
                <a:path w="2054859" h="1341120">
                  <a:moveTo>
                    <a:pt x="2054351" y="4572"/>
                  </a:moveTo>
                  <a:lnTo>
                    <a:pt x="2052828" y="4572"/>
                  </a:lnTo>
                  <a:lnTo>
                    <a:pt x="2049780" y="1524"/>
                  </a:lnTo>
                  <a:lnTo>
                    <a:pt x="2054351" y="1524"/>
                  </a:lnTo>
                  <a:lnTo>
                    <a:pt x="2054351" y="4572"/>
                  </a:lnTo>
                  <a:close/>
                </a:path>
                <a:path w="2054859" h="1341120">
                  <a:moveTo>
                    <a:pt x="4572" y="1338072"/>
                  </a:moveTo>
                  <a:lnTo>
                    <a:pt x="3048" y="1335024"/>
                  </a:lnTo>
                  <a:lnTo>
                    <a:pt x="4572" y="1335024"/>
                  </a:lnTo>
                  <a:lnTo>
                    <a:pt x="4572" y="1338072"/>
                  </a:lnTo>
                  <a:close/>
                </a:path>
                <a:path w="2054859" h="1341120">
                  <a:moveTo>
                    <a:pt x="2049780" y="1338072"/>
                  </a:moveTo>
                  <a:lnTo>
                    <a:pt x="4572" y="1338072"/>
                  </a:lnTo>
                  <a:lnTo>
                    <a:pt x="4572" y="1335024"/>
                  </a:lnTo>
                  <a:lnTo>
                    <a:pt x="2049780" y="1335024"/>
                  </a:lnTo>
                  <a:lnTo>
                    <a:pt x="2049780" y="1338072"/>
                  </a:lnTo>
                  <a:close/>
                </a:path>
                <a:path w="2054859" h="1341120">
                  <a:moveTo>
                    <a:pt x="2054351" y="1338072"/>
                  </a:moveTo>
                  <a:lnTo>
                    <a:pt x="2049780" y="1338072"/>
                  </a:lnTo>
                  <a:lnTo>
                    <a:pt x="2052828" y="1335024"/>
                  </a:lnTo>
                  <a:lnTo>
                    <a:pt x="2054351" y="1335024"/>
                  </a:lnTo>
                  <a:lnTo>
                    <a:pt x="2054351" y="1338072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2118"/>
            </a:p>
          </p:txBody>
        </p:sp>
        <p:sp>
          <p:nvSpPr>
            <p:cNvPr id="10" name="object 10"/>
            <p:cNvSpPr/>
            <p:nvPr/>
          </p:nvSpPr>
          <p:spPr>
            <a:xfrm>
              <a:off x="844295" y="676655"/>
              <a:ext cx="6082665" cy="2994025"/>
            </a:xfrm>
            <a:custGeom>
              <a:avLst/>
              <a:gdLst/>
              <a:ahLst/>
              <a:cxnLst/>
              <a:rect l="l" t="t" r="r" b="b"/>
              <a:pathLst>
                <a:path w="6082665" h="2994025">
                  <a:moveTo>
                    <a:pt x="6082284" y="0"/>
                  </a:moveTo>
                  <a:lnTo>
                    <a:pt x="0" y="0"/>
                  </a:lnTo>
                  <a:lnTo>
                    <a:pt x="0" y="2993644"/>
                  </a:lnTo>
                </a:path>
                <a:path w="6082665" h="2994025">
                  <a:moveTo>
                    <a:pt x="6082284" y="2993644"/>
                  </a:moveTo>
                  <a:lnTo>
                    <a:pt x="6082284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118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1300" y="2184399"/>
              <a:ext cx="4762500" cy="1485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9105"/>
            <a:ext cx="16795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JTextField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296760"/>
            <a:ext cx="8458200" cy="426583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82905"/>
            <a:ext cx="73101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15510" algn="l"/>
              </a:tabLst>
            </a:pPr>
            <a:r>
              <a:rPr spc="-95" dirty="0"/>
              <a:t>Com</a:t>
            </a:r>
            <a:r>
              <a:rPr spc="-120" dirty="0"/>
              <a:t>m</a:t>
            </a:r>
            <a:r>
              <a:rPr spc="75" dirty="0"/>
              <a:t>on</a:t>
            </a:r>
            <a:r>
              <a:rPr spc="-50" dirty="0"/>
              <a:t>l</a:t>
            </a:r>
            <a:r>
              <a:rPr dirty="0"/>
              <a:t>y</a:t>
            </a:r>
            <a:r>
              <a:rPr spc="-70" dirty="0"/>
              <a:t> </a:t>
            </a:r>
            <a:r>
              <a:rPr spc="5" dirty="0"/>
              <a:t>u</a:t>
            </a:r>
            <a:r>
              <a:rPr spc="-5" dirty="0"/>
              <a:t>s</a:t>
            </a:r>
            <a:r>
              <a:rPr spc="10" dirty="0"/>
              <a:t>e</a:t>
            </a:r>
            <a:r>
              <a:rPr spc="50" dirty="0"/>
              <a:t>d</a:t>
            </a:r>
            <a:r>
              <a:rPr spc="-75" dirty="0"/>
              <a:t> </a:t>
            </a:r>
            <a:r>
              <a:rPr spc="15" dirty="0"/>
              <a:t>Methods</a:t>
            </a:r>
            <a:r>
              <a:rPr spc="-95" dirty="0"/>
              <a:t> </a:t>
            </a:r>
            <a:r>
              <a:rPr spc="30" dirty="0"/>
              <a:t>of</a:t>
            </a:r>
            <a:r>
              <a:rPr dirty="0"/>
              <a:t>	</a:t>
            </a:r>
            <a:r>
              <a:rPr spc="-335" dirty="0"/>
              <a:t>J</a:t>
            </a:r>
            <a:r>
              <a:rPr spc="-590" dirty="0"/>
              <a:t>T</a:t>
            </a:r>
            <a:r>
              <a:rPr dirty="0"/>
              <a:t>extFie</a:t>
            </a:r>
            <a:r>
              <a:rPr spc="-10" dirty="0"/>
              <a:t>l</a:t>
            </a:r>
            <a:r>
              <a:rPr spc="50" dirty="0"/>
              <a:t>d</a:t>
            </a:r>
            <a:r>
              <a:rPr spc="-50" dirty="0"/>
              <a:t> </a:t>
            </a:r>
            <a:r>
              <a:rPr spc="-10" dirty="0"/>
              <a:t>cl</a:t>
            </a:r>
            <a:r>
              <a:rPr spc="-20" dirty="0"/>
              <a:t>a</a:t>
            </a:r>
            <a:r>
              <a:rPr spc="-80" dirty="0"/>
              <a:t>s</a:t>
            </a:r>
            <a:r>
              <a:rPr spc="-65" dirty="0"/>
              <a:t>s</a:t>
            </a:r>
            <a:r>
              <a:rPr spc="-22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298829"/>
            <a:ext cx="8151495" cy="2951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7020" marR="6985" indent="-274320" algn="just">
              <a:lnSpc>
                <a:spcPct val="100000"/>
              </a:lnSpc>
              <a:spcBef>
                <a:spcPts val="90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b="1" spc="30" dirty="0">
                <a:latin typeface="Times New Roman"/>
                <a:cs typeface="Times New Roman"/>
              </a:rPr>
              <a:t>void </a:t>
            </a:r>
            <a:r>
              <a:rPr sz="2600" b="1" spc="-20" dirty="0">
                <a:latin typeface="Times New Roman"/>
                <a:cs typeface="Times New Roman"/>
              </a:rPr>
              <a:t>addActionListener(ActionListener </a:t>
            </a:r>
            <a:r>
              <a:rPr sz="2600" b="1" spc="-30" dirty="0">
                <a:latin typeface="Times New Roman"/>
                <a:cs typeface="Times New Roman"/>
              </a:rPr>
              <a:t>l): </a:t>
            </a:r>
            <a:r>
              <a:rPr sz="2600" spc="-70" dirty="0">
                <a:latin typeface="Times New Roman"/>
                <a:cs typeface="Times New Roman"/>
              </a:rPr>
              <a:t>It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35" dirty="0">
                <a:latin typeface="Times New Roman"/>
                <a:cs typeface="Times New Roman"/>
              </a:rPr>
              <a:t>used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150" dirty="0">
                <a:latin typeface="Times New Roman"/>
                <a:cs typeface="Times New Roman"/>
              </a:rPr>
              <a:t>add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specified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action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listener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 </a:t>
            </a:r>
            <a:r>
              <a:rPr sz="2600" spc="-125" dirty="0">
                <a:latin typeface="Times New Roman"/>
                <a:cs typeface="Times New Roman"/>
              </a:rPr>
              <a:t>receive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action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events</a:t>
            </a:r>
            <a:r>
              <a:rPr sz="2600" spc="-120" dirty="0">
                <a:latin typeface="Times New Roman"/>
                <a:cs typeface="Times New Roman"/>
              </a:rPr>
              <a:t> from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this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textfield.</a:t>
            </a:r>
            <a:endParaRPr sz="2600">
              <a:latin typeface="Times New Roman"/>
              <a:cs typeface="Times New Roman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b="1" spc="30" dirty="0">
                <a:latin typeface="Times New Roman"/>
                <a:cs typeface="Times New Roman"/>
              </a:rPr>
              <a:t>void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latin typeface="Times New Roman"/>
                <a:cs typeface="Times New Roman"/>
              </a:rPr>
              <a:t>setFont(Font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-60" dirty="0">
                <a:latin typeface="Times New Roman"/>
                <a:cs typeface="Times New Roman"/>
              </a:rPr>
              <a:t>f):</a:t>
            </a:r>
            <a:r>
              <a:rPr sz="2600" b="1" spc="-1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It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used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set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current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font.</a:t>
            </a:r>
            <a:endParaRPr sz="2600">
              <a:latin typeface="Times New Roman"/>
              <a:cs typeface="Times New Roman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b="1" spc="30" dirty="0">
                <a:latin typeface="Times New Roman"/>
                <a:cs typeface="Times New Roman"/>
              </a:rPr>
              <a:t>void </a:t>
            </a:r>
            <a:r>
              <a:rPr sz="2600" b="1" spc="-20" dirty="0">
                <a:latin typeface="Times New Roman"/>
                <a:cs typeface="Times New Roman"/>
              </a:rPr>
              <a:t>removeActionListener(ActionListener </a:t>
            </a:r>
            <a:r>
              <a:rPr sz="2600" b="1" spc="-30" dirty="0">
                <a:latin typeface="Times New Roman"/>
                <a:cs typeface="Times New Roman"/>
              </a:rPr>
              <a:t>l): </a:t>
            </a:r>
            <a:r>
              <a:rPr sz="2600" spc="-85" dirty="0">
                <a:latin typeface="Times New Roman"/>
                <a:cs typeface="Times New Roman"/>
              </a:rPr>
              <a:t>It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35" dirty="0">
                <a:latin typeface="Times New Roman"/>
                <a:cs typeface="Times New Roman"/>
              </a:rPr>
              <a:t>used </a:t>
            </a:r>
            <a:r>
              <a:rPr sz="2600" spc="-30" dirty="0">
                <a:latin typeface="Times New Roman"/>
                <a:cs typeface="Times New Roman"/>
              </a:rPr>
              <a:t>to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remove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140" dirty="0">
                <a:latin typeface="Times New Roman"/>
                <a:cs typeface="Times New Roman"/>
              </a:rPr>
              <a:t>specified </a:t>
            </a:r>
            <a:r>
              <a:rPr sz="2600" spc="-114" dirty="0">
                <a:latin typeface="Times New Roman"/>
                <a:cs typeface="Times New Roman"/>
              </a:rPr>
              <a:t>action </a:t>
            </a:r>
            <a:r>
              <a:rPr sz="2600" spc="-90" dirty="0">
                <a:latin typeface="Times New Roman"/>
                <a:cs typeface="Times New Roman"/>
              </a:rPr>
              <a:t>listener </a:t>
            </a:r>
            <a:r>
              <a:rPr sz="2600" spc="-145" dirty="0">
                <a:latin typeface="Times New Roman"/>
                <a:cs typeface="Times New Roman"/>
              </a:rPr>
              <a:t>so </a:t>
            </a:r>
            <a:r>
              <a:rPr sz="2600" spc="-90" dirty="0">
                <a:latin typeface="Times New Roman"/>
                <a:cs typeface="Times New Roman"/>
              </a:rPr>
              <a:t>that </a:t>
            </a:r>
            <a:r>
              <a:rPr sz="2600" spc="-45" dirty="0">
                <a:latin typeface="Times New Roman"/>
                <a:cs typeface="Times New Roman"/>
              </a:rPr>
              <a:t>it </a:t>
            </a:r>
            <a:r>
              <a:rPr sz="2600" spc="-125" dirty="0">
                <a:latin typeface="Times New Roman"/>
                <a:cs typeface="Times New Roman"/>
              </a:rPr>
              <a:t>no </a:t>
            </a:r>
            <a:r>
              <a:rPr sz="2600" spc="-105" dirty="0">
                <a:latin typeface="Times New Roman"/>
                <a:cs typeface="Times New Roman"/>
              </a:rPr>
              <a:t>longer </a:t>
            </a:r>
            <a:r>
              <a:rPr sz="2600" spc="-135" dirty="0">
                <a:latin typeface="Times New Roman"/>
                <a:cs typeface="Times New Roman"/>
              </a:rPr>
              <a:t>receives 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Times New Roman"/>
                <a:cs typeface="Times New Roman"/>
              </a:rPr>
              <a:t>a</a:t>
            </a:r>
            <a:r>
              <a:rPr sz="2600" spc="-155" dirty="0">
                <a:latin typeface="Times New Roman"/>
                <a:cs typeface="Times New Roman"/>
              </a:rPr>
              <a:t>c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20" dirty="0">
                <a:latin typeface="Times New Roman"/>
                <a:cs typeface="Times New Roman"/>
              </a:rPr>
              <a:t>ion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e</a:t>
            </a:r>
            <a:r>
              <a:rPr sz="2600" spc="-270" dirty="0">
                <a:latin typeface="Times New Roman"/>
                <a:cs typeface="Times New Roman"/>
              </a:rPr>
              <a:t>v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n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200" dirty="0">
                <a:latin typeface="Times New Roman"/>
                <a:cs typeface="Times New Roman"/>
              </a:rPr>
              <a:t>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f</a:t>
            </a:r>
            <a:r>
              <a:rPr sz="2600" spc="-120" dirty="0">
                <a:latin typeface="Times New Roman"/>
                <a:cs typeface="Times New Roman"/>
              </a:rPr>
              <a:t>r</a:t>
            </a:r>
            <a:r>
              <a:rPr sz="2600" spc="-130" dirty="0">
                <a:latin typeface="Times New Roman"/>
                <a:cs typeface="Times New Roman"/>
              </a:rPr>
              <a:t>o</a:t>
            </a:r>
            <a:r>
              <a:rPr sz="2600" spc="-160" dirty="0">
                <a:latin typeface="Times New Roman"/>
                <a:cs typeface="Times New Roman"/>
              </a:rPr>
              <a:t>m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t</a:t>
            </a:r>
            <a:r>
              <a:rPr sz="2600" spc="-165" dirty="0">
                <a:latin typeface="Times New Roman"/>
                <a:cs typeface="Times New Roman"/>
              </a:rPr>
              <a:t>his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05" dirty="0">
                <a:latin typeface="Times New Roman"/>
                <a:cs typeface="Times New Roman"/>
              </a:rPr>
              <a:t>e</a:t>
            </a:r>
            <a:r>
              <a:rPr sz="2600" spc="-125" dirty="0">
                <a:latin typeface="Times New Roman"/>
                <a:cs typeface="Times New Roman"/>
              </a:rPr>
              <a:t>x</a:t>
            </a:r>
            <a:r>
              <a:rPr sz="2600" spc="40" dirty="0">
                <a:latin typeface="Times New Roman"/>
                <a:cs typeface="Times New Roman"/>
              </a:rPr>
              <a:t>t</a:t>
            </a:r>
            <a:r>
              <a:rPr sz="2600" spc="-130" dirty="0">
                <a:latin typeface="Times New Roman"/>
                <a:cs typeface="Times New Roman"/>
              </a:rPr>
              <a:t>field</a:t>
            </a:r>
            <a:r>
              <a:rPr sz="2600" spc="10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48267"/>
            <a:ext cx="6038215" cy="6367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617595">
              <a:lnSpc>
                <a:spcPct val="123900"/>
              </a:lnSpc>
              <a:spcBef>
                <a:spcPts val="90"/>
              </a:spcBef>
            </a:pPr>
            <a:r>
              <a:rPr sz="2100" b="1" spc="-120" dirty="0">
                <a:latin typeface="Times New Roman"/>
                <a:cs typeface="Times New Roman"/>
              </a:rPr>
              <a:t>E</a:t>
            </a:r>
            <a:r>
              <a:rPr sz="2100" b="1" spc="-80" dirty="0">
                <a:latin typeface="Times New Roman"/>
                <a:cs typeface="Times New Roman"/>
              </a:rPr>
              <a:t>x</a:t>
            </a:r>
            <a:r>
              <a:rPr sz="2100" b="1" spc="-95" dirty="0">
                <a:latin typeface="Times New Roman"/>
                <a:cs typeface="Times New Roman"/>
              </a:rPr>
              <a:t>a</a:t>
            </a:r>
            <a:r>
              <a:rPr sz="2100" b="1" spc="-50" dirty="0">
                <a:latin typeface="Times New Roman"/>
                <a:cs typeface="Times New Roman"/>
              </a:rPr>
              <a:t>m</a:t>
            </a:r>
            <a:r>
              <a:rPr sz="2100" b="1" spc="30" dirty="0">
                <a:latin typeface="Times New Roman"/>
                <a:cs typeface="Times New Roman"/>
              </a:rPr>
              <a:t>pl</a:t>
            </a:r>
            <a:r>
              <a:rPr sz="2100" b="1" spc="55" dirty="0">
                <a:latin typeface="Times New Roman"/>
                <a:cs typeface="Times New Roman"/>
              </a:rPr>
              <a:t>e</a:t>
            </a:r>
            <a:r>
              <a:rPr sz="2100" b="1" spc="-100" dirty="0">
                <a:latin typeface="Times New Roman"/>
                <a:cs typeface="Times New Roman"/>
              </a:rPr>
              <a:t> </a:t>
            </a:r>
            <a:r>
              <a:rPr sz="2100" b="1" spc="-80" dirty="0">
                <a:latin typeface="Times New Roman"/>
                <a:cs typeface="Times New Roman"/>
              </a:rPr>
              <a:t>(J</a:t>
            </a:r>
            <a:r>
              <a:rPr sz="2100" b="1" spc="-375" dirty="0">
                <a:latin typeface="Times New Roman"/>
                <a:cs typeface="Times New Roman"/>
              </a:rPr>
              <a:t>T</a:t>
            </a:r>
            <a:r>
              <a:rPr sz="2100" b="1" spc="45" dirty="0">
                <a:latin typeface="Times New Roman"/>
                <a:cs typeface="Times New Roman"/>
              </a:rPr>
              <a:t>e</a:t>
            </a:r>
            <a:r>
              <a:rPr sz="2100" b="1" spc="120" dirty="0">
                <a:latin typeface="Times New Roman"/>
                <a:cs typeface="Times New Roman"/>
              </a:rPr>
              <a:t>x</a:t>
            </a:r>
            <a:r>
              <a:rPr sz="2100" b="1" spc="15" dirty="0">
                <a:latin typeface="Times New Roman"/>
                <a:cs typeface="Times New Roman"/>
              </a:rPr>
              <a:t>t</a:t>
            </a:r>
            <a:r>
              <a:rPr sz="2100" b="1" spc="-5" dirty="0">
                <a:latin typeface="Times New Roman"/>
                <a:cs typeface="Times New Roman"/>
              </a:rPr>
              <a:t>Field)  </a:t>
            </a:r>
            <a:r>
              <a:rPr sz="2100" spc="-50" dirty="0">
                <a:latin typeface="Times New Roman"/>
                <a:cs typeface="Times New Roman"/>
              </a:rPr>
              <a:t>import </a:t>
            </a:r>
            <a:r>
              <a:rPr sz="2100" spc="-110" dirty="0">
                <a:latin typeface="Times New Roman"/>
                <a:cs typeface="Times New Roman"/>
              </a:rPr>
              <a:t>javax.swing.*; 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60" dirty="0">
                <a:latin typeface="Times New Roman"/>
                <a:cs typeface="Times New Roman"/>
              </a:rPr>
              <a:t>i</a:t>
            </a:r>
            <a:r>
              <a:rPr sz="2100" spc="-175" dirty="0">
                <a:latin typeface="Times New Roman"/>
                <a:cs typeface="Times New Roman"/>
              </a:rPr>
              <a:t>m</a:t>
            </a:r>
            <a:r>
              <a:rPr sz="2100" spc="-95" dirty="0">
                <a:latin typeface="Times New Roman"/>
                <a:cs typeface="Times New Roman"/>
              </a:rPr>
              <a:t>po</a:t>
            </a:r>
            <a:r>
              <a:rPr sz="2100" spc="85" dirty="0">
                <a:latin typeface="Times New Roman"/>
                <a:cs typeface="Times New Roman"/>
              </a:rPr>
              <a:t>r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5" dirty="0">
                <a:latin typeface="Times New Roman"/>
                <a:cs typeface="Times New Roman"/>
              </a:rPr>
              <a:t>j</a:t>
            </a:r>
            <a:r>
              <a:rPr sz="2100" spc="-240" dirty="0">
                <a:latin typeface="Times New Roman"/>
                <a:cs typeface="Times New Roman"/>
              </a:rPr>
              <a:t>a</a:t>
            </a:r>
            <a:r>
              <a:rPr sz="2100" spc="-190" dirty="0">
                <a:latin typeface="Times New Roman"/>
                <a:cs typeface="Times New Roman"/>
              </a:rPr>
              <a:t>v</a:t>
            </a:r>
            <a:r>
              <a:rPr sz="2100" spc="-75" dirty="0">
                <a:latin typeface="Times New Roman"/>
                <a:cs typeface="Times New Roman"/>
              </a:rPr>
              <a:t>a.</a:t>
            </a:r>
            <a:r>
              <a:rPr sz="2100" spc="-165" dirty="0">
                <a:latin typeface="Times New Roman"/>
                <a:cs typeface="Times New Roman"/>
              </a:rPr>
              <a:t>a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70" dirty="0">
                <a:latin typeface="Times New Roman"/>
                <a:cs typeface="Times New Roman"/>
              </a:rPr>
              <a:t>.</a:t>
            </a:r>
            <a:r>
              <a:rPr sz="2100" spc="-125" dirty="0">
                <a:latin typeface="Times New Roman"/>
                <a:cs typeface="Times New Roman"/>
              </a:rPr>
              <a:t>e</a:t>
            </a:r>
            <a:r>
              <a:rPr sz="2100" spc="-215" dirty="0">
                <a:latin typeface="Times New Roman"/>
                <a:cs typeface="Times New Roman"/>
              </a:rPr>
              <a:t>v</a:t>
            </a:r>
            <a:r>
              <a:rPr sz="2100" spc="-100" dirty="0">
                <a:latin typeface="Times New Roman"/>
                <a:cs typeface="Times New Roman"/>
              </a:rPr>
              <a:t>e</a:t>
            </a:r>
            <a:r>
              <a:rPr sz="2100" spc="-95" dirty="0">
                <a:latin typeface="Times New Roman"/>
                <a:cs typeface="Times New Roman"/>
              </a:rPr>
              <a:t>n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70" dirty="0">
                <a:latin typeface="Times New Roman"/>
                <a:cs typeface="Times New Roman"/>
              </a:rPr>
              <a:t>.</a:t>
            </a:r>
            <a:r>
              <a:rPr sz="2100" spc="-95" dirty="0">
                <a:latin typeface="Times New Roman"/>
                <a:cs typeface="Times New Roman"/>
              </a:rPr>
              <a:t>*</a:t>
            </a:r>
            <a:r>
              <a:rPr sz="2100" spc="30" dirty="0">
                <a:latin typeface="Times New Roman"/>
                <a:cs typeface="Times New Roman"/>
              </a:rPr>
              <a:t>;  </a:t>
            </a:r>
            <a:r>
              <a:rPr sz="2100" spc="-50" dirty="0">
                <a:latin typeface="Times New Roman"/>
                <a:cs typeface="Times New Roman"/>
              </a:rPr>
              <a:t>import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85" dirty="0">
                <a:latin typeface="Times New Roman"/>
                <a:cs typeface="Times New Roman"/>
              </a:rPr>
              <a:t>java.awt.*;</a:t>
            </a:r>
            <a:endParaRPr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spc="-110" dirty="0">
                <a:latin typeface="Times New Roman"/>
                <a:cs typeface="Times New Roman"/>
              </a:rPr>
              <a:t>public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35" dirty="0">
                <a:latin typeface="Times New Roman"/>
                <a:cs typeface="Times New Roman"/>
              </a:rPr>
              <a:t>class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35" dirty="0">
                <a:latin typeface="Times New Roman"/>
                <a:cs typeface="Times New Roman"/>
              </a:rPr>
              <a:t>MyTextField</a:t>
            </a:r>
            <a:r>
              <a:rPr sz="2100" spc="-130" dirty="0">
                <a:latin typeface="Times New Roman"/>
                <a:cs typeface="Times New Roman"/>
              </a:rPr>
              <a:t> </a:t>
            </a:r>
            <a:r>
              <a:rPr sz="2100" spc="-80" dirty="0">
                <a:latin typeface="Times New Roman"/>
                <a:cs typeface="Times New Roman"/>
              </a:rPr>
              <a:t>extends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-110" dirty="0" err="1">
                <a:latin typeface="Times New Roman"/>
                <a:cs typeface="Times New Roman"/>
              </a:rPr>
              <a:t>J</a:t>
            </a:r>
            <a:r>
              <a:rPr lang="en-US" sz="2100" spc="-110" dirty="0" err="1">
                <a:latin typeface="Times New Roman"/>
                <a:cs typeface="Times New Roman"/>
              </a:rPr>
              <a:t>F</a:t>
            </a:r>
            <a:r>
              <a:rPr sz="2100" spc="-110" dirty="0" err="1">
                <a:latin typeface="Times New Roman"/>
                <a:cs typeface="Times New Roman"/>
              </a:rPr>
              <a:t>rame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{</a:t>
            </a:r>
            <a:endParaRPr sz="2100" dirty="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605"/>
              </a:spcBef>
            </a:pPr>
            <a:r>
              <a:rPr sz="2100" spc="-85" dirty="0">
                <a:latin typeface="Times New Roman"/>
                <a:cs typeface="Times New Roman"/>
              </a:rPr>
              <a:t>p</a:t>
            </a:r>
            <a:r>
              <a:rPr sz="2100" spc="-100" dirty="0">
                <a:latin typeface="Times New Roman"/>
                <a:cs typeface="Times New Roman"/>
              </a:rPr>
              <a:t>u</a:t>
            </a:r>
            <a:r>
              <a:rPr sz="2100" spc="-140" dirty="0">
                <a:latin typeface="Times New Roman"/>
                <a:cs typeface="Times New Roman"/>
              </a:rPr>
              <a:t>b</a:t>
            </a:r>
            <a:r>
              <a:rPr sz="2100" spc="-90" dirty="0">
                <a:latin typeface="Times New Roman"/>
                <a:cs typeface="Times New Roman"/>
              </a:rPr>
              <a:t>li</a:t>
            </a:r>
            <a:r>
              <a:rPr sz="2100" spc="-135" dirty="0">
                <a:latin typeface="Times New Roman"/>
                <a:cs typeface="Times New Roman"/>
              </a:rPr>
              <a:t>c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265" dirty="0">
                <a:latin typeface="Times New Roman"/>
                <a:cs typeface="Times New Roman"/>
              </a:rPr>
              <a:t>M</a:t>
            </a:r>
            <a:r>
              <a:rPr sz="2100" spc="-140" dirty="0">
                <a:latin typeface="Times New Roman"/>
                <a:cs typeface="Times New Roman"/>
              </a:rPr>
              <a:t>y</a:t>
            </a:r>
            <a:r>
              <a:rPr sz="2100" spc="-350" dirty="0">
                <a:latin typeface="Times New Roman"/>
                <a:cs typeface="Times New Roman"/>
              </a:rPr>
              <a:t>T</a:t>
            </a:r>
            <a:r>
              <a:rPr sz="2100" spc="-75" dirty="0">
                <a:latin typeface="Times New Roman"/>
                <a:cs typeface="Times New Roman"/>
              </a:rPr>
              <a:t>e</a:t>
            </a:r>
            <a:r>
              <a:rPr sz="2100" spc="-85" dirty="0">
                <a:latin typeface="Times New Roman"/>
                <a:cs typeface="Times New Roman"/>
              </a:rPr>
              <a:t>xtFi</a:t>
            </a:r>
            <a:r>
              <a:rPr sz="2100" spc="-114" dirty="0">
                <a:latin typeface="Times New Roman"/>
                <a:cs typeface="Times New Roman"/>
              </a:rPr>
              <a:t>e</a:t>
            </a:r>
            <a:r>
              <a:rPr sz="2100" spc="-75" dirty="0">
                <a:latin typeface="Times New Roman"/>
                <a:cs typeface="Times New Roman"/>
              </a:rPr>
              <a:t>ld</a:t>
            </a:r>
            <a:r>
              <a:rPr sz="2100" spc="-55" dirty="0">
                <a:latin typeface="Times New Roman"/>
                <a:cs typeface="Times New Roman"/>
              </a:rPr>
              <a:t>(</a:t>
            </a:r>
            <a:r>
              <a:rPr sz="2100" spc="-40" dirty="0">
                <a:latin typeface="Times New Roman"/>
                <a:cs typeface="Times New Roman"/>
              </a:rPr>
              <a:t>)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{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120" dirty="0">
                <a:latin typeface="Times New Roman"/>
                <a:cs typeface="Times New Roman"/>
              </a:rPr>
              <a:t>JTextField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spc="-75" dirty="0">
                <a:latin typeface="Times New Roman"/>
                <a:cs typeface="Times New Roman"/>
              </a:rPr>
              <a:t>jtf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225" dirty="0">
                <a:latin typeface="Times New Roman"/>
                <a:cs typeface="Times New Roman"/>
              </a:rPr>
              <a:t>=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-100" dirty="0">
                <a:latin typeface="Times New Roman"/>
                <a:cs typeface="Times New Roman"/>
              </a:rPr>
              <a:t>new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95" dirty="0">
                <a:latin typeface="Times New Roman"/>
                <a:cs typeface="Times New Roman"/>
              </a:rPr>
              <a:t>JTextField(20);</a:t>
            </a:r>
            <a:r>
              <a:rPr sz="2100" spc="295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//creating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100" dirty="0">
                <a:latin typeface="Times New Roman"/>
                <a:cs typeface="Times New Roman"/>
              </a:rPr>
              <a:t>JTextField.</a:t>
            </a:r>
            <a:endParaRPr sz="2100" dirty="0">
              <a:latin typeface="Times New Roman"/>
              <a:cs typeface="Times New Roman"/>
            </a:endParaRPr>
          </a:p>
          <a:p>
            <a:pPr marL="253365" marR="1910714">
              <a:lnSpc>
                <a:spcPct val="123900"/>
              </a:lnSpc>
              <a:tabLst>
                <a:tab pos="1218565" algn="l"/>
              </a:tabLst>
            </a:pPr>
            <a:r>
              <a:rPr sz="2100" spc="-120" dirty="0">
                <a:latin typeface="Times New Roman"/>
                <a:cs typeface="Times New Roman"/>
              </a:rPr>
              <a:t>a</a:t>
            </a:r>
            <a:r>
              <a:rPr sz="2100" spc="-145" dirty="0">
                <a:latin typeface="Times New Roman"/>
                <a:cs typeface="Times New Roman"/>
              </a:rPr>
              <a:t>d</a:t>
            </a:r>
            <a:r>
              <a:rPr sz="2100" spc="-95" dirty="0">
                <a:latin typeface="Times New Roman"/>
                <a:cs typeface="Times New Roman"/>
              </a:rPr>
              <a:t>d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spc="-75" dirty="0">
                <a:latin typeface="Times New Roman"/>
                <a:cs typeface="Times New Roman"/>
              </a:rPr>
              <a:t>jtf</a:t>
            </a:r>
            <a:r>
              <a:rPr sz="2100" spc="-35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155" dirty="0">
                <a:latin typeface="Times New Roman"/>
                <a:cs typeface="Times New Roman"/>
              </a:rPr>
              <a:t>//a</a:t>
            </a:r>
            <a:r>
              <a:rPr sz="2100" spc="215" dirty="0">
                <a:latin typeface="Times New Roman"/>
                <a:cs typeface="Times New Roman"/>
              </a:rPr>
              <a:t>d</a:t>
            </a:r>
            <a:r>
              <a:rPr sz="2100" spc="-95" dirty="0">
                <a:latin typeface="Times New Roman"/>
                <a:cs typeface="Times New Roman"/>
              </a:rPr>
              <a:t>d</a:t>
            </a:r>
            <a:r>
              <a:rPr sz="2100" spc="-70" dirty="0">
                <a:latin typeface="Times New Roman"/>
                <a:cs typeface="Times New Roman"/>
              </a:rPr>
              <a:t>i</a:t>
            </a:r>
            <a:r>
              <a:rPr sz="2100" spc="-135" dirty="0">
                <a:latin typeface="Times New Roman"/>
                <a:cs typeface="Times New Roman"/>
              </a:rPr>
              <a:t>n</a:t>
            </a:r>
            <a:r>
              <a:rPr sz="2100" spc="-170" dirty="0">
                <a:latin typeface="Times New Roman"/>
                <a:cs typeface="Times New Roman"/>
              </a:rPr>
              <a:t>g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Times New Roman"/>
                <a:cs typeface="Times New Roman"/>
              </a:rPr>
              <a:t>J</a:t>
            </a:r>
            <a:r>
              <a:rPr sz="2100" spc="-350" dirty="0">
                <a:latin typeface="Times New Roman"/>
                <a:cs typeface="Times New Roman"/>
              </a:rPr>
              <a:t>T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-95" dirty="0">
                <a:latin typeface="Times New Roman"/>
                <a:cs typeface="Times New Roman"/>
              </a:rPr>
              <a:t>x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215" dirty="0">
                <a:latin typeface="Times New Roman"/>
                <a:cs typeface="Times New Roman"/>
              </a:rPr>
              <a:t>F</a:t>
            </a:r>
            <a:r>
              <a:rPr sz="2100" spc="-85" dirty="0">
                <a:latin typeface="Times New Roman"/>
                <a:cs typeface="Times New Roman"/>
              </a:rPr>
              <a:t>ield</a:t>
            </a:r>
            <a:r>
              <a:rPr sz="2100" spc="-125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85" dirty="0">
                <a:latin typeface="Times New Roman"/>
                <a:cs typeface="Times New Roman"/>
              </a:rPr>
              <a:t>o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90" dirty="0">
                <a:latin typeface="Times New Roman"/>
                <a:cs typeface="Times New Roman"/>
              </a:rPr>
              <a:t>fr</a:t>
            </a:r>
            <a:r>
              <a:rPr sz="2100" spc="-125" dirty="0">
                <a:latin typeface="Times New Roman"/>
                <a:cs typeface="Times New Roman"/>
              </a:rPr>
              <a:t>ame</a:t>
            </a:r>
            <a:r>
              <a:rPr sz="2100" spc="90" dirty="0">
                <a:latin typeface="Times New Roman"/>
                <a:cs typeface="Times New Roman"/>
              </a:rPr>
              <a:t>.  </a:t>
            </a:r>
            <a:r>
              <a:rPr sz="2100" spc="-155" dirty="0">
                <a:latin typeface="Times New Roman"/>
                <a:cs typeface="Times New Roman"/>
              </a:rPr>
              <a:t>s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225" dirty="0">
                <a:latin typeface="Times New Roman"/>
                <a:cs typeface="Times New Roman"/>
              </a:rPr>
              <a:t>L</a:t>
            </a:r>
            <a:r>
              <a:rPr sz="2100" spc="-240" dirty="0">
                <a:latin typeface="Times New Roman"/>
                <a:cs typeface="Times New Roman"/>
              </a:rPr>
              <a:t>a</a:t>
            </a:r>
            <a:r>
              <a:rPr sz="2100" spc="-190" dirty="0">
                <a:latin typeface="Times New Roman"/>
                <a:cs typeface="Times New Roman"/>
              </a:rPr>
              <a:t>y</a:t>
            </a:r>
            <a:r>
              <a:rPr sz="2100" spc="-95" dirty="0">
                <a:latin typeface="Times New Roman"/>
                <a:cs typeface="Times New Roman"/>
              </a:rPr>
              <a:t>ou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spc="-95" dirty="0">
                <a:latin typeface="Times New Roman"/>
                <a:cs typeface="Times New Roman"/>
              </a:rPr>
              <a:t>n</a:t>
            </a:r>
            <a:r>
              <a:rPr sz="2100" spc="-125" dirty="0">
                <a:latin typeface="Times New Roman"/>
                <a:cs typeface="Times New Roman"/>
              </a:rPr>
              <a:t>e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-135" dirty="0">
                <a:latin typeface="Times New Roman"/>
                <a:cs typeface="Times New Roman"/>
              </a:rPr>
              <a:t> </a:t>
            </a:r>
            <a:r>
              <a:rPr sz="2100" spc="-215" dirty="0">
                <a:latin typeface="Times New Roman"/>
                <a:cs typeface="Times New Roman"/>
              </a:rPr>
              <a:t>F</a:t>
            </a:r>
            <a:r>
              <a:rPr sz="2100" spc="-65" dirty="0">
                <a:latin typeface="Times New Roman"/>
                <a:cs typeface="Times New Roman"/>
              </a:rPr>
              <a:t>l</a:t>
            </a:r>
            <a:r>
              <a:rPr sz="2100" spc="-190" dirty="0">
                <a:latin typeface="Times New Roman"/>
                <a:cs typeface="Times New Roman"/>
              </a:rPr>
              <a:t>o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-225" dirty="0">
                <a:latin typeface="Times New Roman"/>
                <a:cs typeface="Times New Roman"/>
              </a:rPr>
              <a:t>L</a:t>
            </a:r>
            <a:r>
              <a:rPr sz="2100" spc="-240" dirty="0">
                <a:latin typeface="Times New Roman"/>
                <a:cs typeface="Times New Roman"/>
              </a:rPr>
              <a:t>a</a:t>
            </a:r>
            <a:r>
              <a:rPr sz="2100" spc="-190" dirty="0">
                <a:latin typeface="Times New Roman"/>
                <a:cs typeface="Times New Roman"/>
              </a:rPr>
              <a:t>y</a:t>
            </a:r>
            <a:r>
              <a:rPr sz="2100" spc="-95" dirty="0">
                <a:latin typeface="Times New Roman"/>
                <a:cs typeface="Times New Roman"/>
              </a:rPr>
              <a:t>ou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35" dirty="0">
                <a:latin typeface="Times New Roman"/>
                <a:cs typeface="Times New Roman"/>
              </a:rPr>
              <a:t>())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95" dirty="0">
                <a:latin typeface="Times New Roman"/>
                <a:cs typeface="Times New Roman"/>
              </a:rPr>
              <a:t>setDefaultCloseOperation(JFrame.EXIT_ON_CLOSE);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155" dirty="0">
                <a:latin typeface="Times New Roman"/>
                <a:cs typeface="Times New Roman"/>
              </a:rPr>
              <a:t>s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30" dirty="0">
                <a:latin typeface="Times New Roman"/>
                <a:cs typeface="Times New Roman"/>
              </a:rPr>
              <a:t>t</a:t>
            </a:r>
            <a:r>
              <a:rPr sz="2100" spc="-290" dirty="0">
                <a:latin typeface="Times New Roman"/>
                <a:cs typeface="Times New Roman"/>
              </a:rPr>
              <a:t>S</a:t>
            </a:r>
            <a:r>
              <a:rPr sz="2100" spc="-105" dirty="0">
                <a:latin typeface="Times New Roman"/>
                <a:cs typeface="Times New Roman"/>
              </a:rPr>
              <a:t>i</a:t>
            </a:r>
            <a:r>
              <a:rPr sz="2100" spc="-175" dirty="0">
                <a:latin typeface="Times New Roman"/>
                <a:cs typeface="Times New Roman"/>
              </a:rPr>
              <a:t>z</a:t>
            </a:r>
            <a:r>
              <a:rPr sz="2100" spc="-80" dirty="0">
                <a:latin typeface="Times New Roman"/>
                <a:cs typeface="Times New Roman"/>
              </a:rPr>
              <a:t>e</a:t>
            </a:r>
            <a:r>
              <a:rPr sz="2100" spc="-35" dirty="0">
                <a:latin typeface="Times New Roman"/>
                <a:cs typeface="Times New Roman"/>
              </a:rPr>
              <a:t>(</a:t>
            </a:r>
            <a:r>
              <a:rPr sz="2100" spc="-95" dirty="0">
                <a:latin typeface="Times New Roman"/>
                <a:cs typeface="Times New Roman"/>
              </a:rPr>
              <a:t>400</a:t>
            </a:r>
            <a:r>
              <a:rPr sz="2100" spc="90" dirty="0">
                <a:latin typeface="Times New Roman"/>
                <a:cs typeface="Times New Roman"/>
              </a:rPr>
              <a:t>,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spc="-95" dirty="0">
                <a:latin typeface="Times New Roman"/>
                <a:cs typeface="Times New Roman"/>
              </a:rPr>
              <a:t>400</a:t>
            </a:r>
            <a:r>
              <a:rPr sz="2100" spc="-35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75" dirty="0">
                <a:latin typeface="Times New Roman"/>
                <a:cs typeface="Times New Roman"/>
              </a:rPr>
              <a:t>setVisible(true);</a:t>
            </a:r>
            <a:r>
              <a:rPr sz="2100" spc="220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}</a:t>
            </a:r>
            <a:endParaRPr sz="2100" dirty="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605"/>
              </a:spcBef>
            </a:pPr>
            <a:r>
              <a:rPr sz="2100" spc="-85" dirty="0">
                <a:latin typeface="Times New Roman"/>
                <a:cs typeface="Times New Roman"/>
              </a:rPr>
              <a:t>p</a:t>
            </a:r>
            <a:r>
              <a:rPr sz="2100" spc="-100" dirty="0">
                <a:latin typeface="Times New Roman"/>
                <a:cs typeface="Times New Roman"/>
              </a:rPr>
              <a:t>u</a:t>
            </a:r>
            <a:r>
              <a:rPr sz="2100" spc="-140" dirty="0">
                <a:latin typeface="Times New Roman"/>
                <a:cs typeface="Times New Roman"/>
              </a:rPr>
              <a:t>b</a:t>
            </a:r>
            <a:r>
              <a:rPr sz="2100" spc="-90" dirty="0">
                <a:latin typeface="Times New Roman"/>
                <a:cs typeface="Times New Roman"/>
              </a:rPr>
              <a:t>li</a:t>
            </a:r>
            <a:r>
              <a:rPr sz="2100" spc="-135" dirty="0">
                <a:latin typeface="Times New Roman"/>
                <a:cs typeface="Times New Roman"/>
              </a:rPr>
              <a:t>c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Times New Roman"/>
                <a:cs typeface="Times New Roman"/>
              </a:rPr>
              <a:t>s</a:t>
            </a:r>
            <a:r>
              <a:rPr sz="2100" spc="35" dirty="0">
                <a:latin typeface="Times New Roman"/>
                <a:cs typeface="Times New Roman"/>
              </a:rPr>
              <a:t>t</a:t>
            </a:r>
            <a:r>
              <a:rPr sz="2100" spc="-195" dirty="0">
                <a:latin typeface="Times New Roman"/>
                <a:cs typeface="Times New Roman"/>
              </a:rPr>
              <a:t>a</a:t>
            </a:r>
            <a:r>
              <a:rPr sz="2100" spc="35" dirty="0">
                <a:latin typeface="Times New Roman"/>
                <a:cs typeface="Times New Roman"/>
              </a:rPr>
              <a:t>t</a:t>
            </a:r>
            <a:r>
              <a:rPr sz="2100" spc="-110" dirty="0">
                <a:latin typeface="Times New Roman"/>
                <a:cs typeface="Times New Roman"/>
              </a:rPr>
              <a:t>ic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-210" dirty="0">
                <a:latin typeface="Times New Roman"/>
                <a:cs typeface="Times New Roman"/>
              </a:rPr>
              <a:t>v</a:t>
            </a:r>
            <a:r>
              <a:rPr sz="2100" spc="-90" dirty="0">
                <a:latin typeface="Times New Roman"/>
                <a:cs typeface="Times New Roman"/>
              </a:rPr>
              <a:t>oid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-120" dirty="0">
                <a:latin typeface="Times New Roman"/>
                <a:cs typeface="Times New Roman"/>
              </a:rPr>
              <a:t>mai</a:t>
            </a:r>
            <a:r>
              <a:rPr sz="2100" spc="-130" dirty="0">
                <a:latin typeface="Times New Roman"/>
                <a:cs typeface="Times New Roman"/>
              </a:rPr>
              <a:t>n</a:t>
            </a:r>
            <a:r>
              <a:rPr sz="2100" spc="-30" dirty="0">
                <a:latin typeface="Times New Roman"/>
                <a:cs typeface="Times New Roman"/>
              </a:rPr>
              <a:t>(</a:t>
            </a:r>
            <a:r>
              <a:rPr sz="2100" spc="-285" dirty="0">
                <a:latin typeface="Times New Roman"/>
                <a:cs typeface="Times New Roman"/>
              </a:rPr>
              <a:t>S</a:t>
            </a:r>
            <a:r>
              <a:rPr sz="2100" spc="35" dirty="0">
                <a:latin typeface="Times New Roman"/>
                <a:cs typeface="Times New Roman"/>
              </a:rPr>
              <a:t>t</a:t>
            </a:r>
            <a:r>
              <a:rPr sz="2100" spc="65" dirty="0">
                <a:latin typeface="Times New Roman"/>
                <a:cs typeface="Times New Roman"/>
              </a:rPr>
              <a:t>r</a:t>
            </a:r>
            <a:r>
              <a:rPr sz="2100" spc="-135" dirty="0">
                <a:latin typeface="Times New Roman"/>
                <a:cs typeface="Times New Roman"/>
              </a:rPr>
              <a:t>ing</a:t>
            </a:r>
            <a:r>
              <a:rPr sz="2100" spc="-100" dirty="0">
                <a:latin typeface="Times New Roman"/>
                <a:cs typeface="Times New Roman"/>
              </a:rPr>
              <a:t>[</a:t>
            </a:r>
            <a:r>
              <a:rPr sz="2100" spc="-155" dirty="0">
                <a:latin typeface="Times New Roman"/>
                <a:cs typeface="Times New Roman"/>
              </a:rPr>
              <a:t>]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-125" dirty="0">
                <a:latin typeface="Times New Roman"/>
                <a:cs typeface="Times New Roman"/>
              </a:rPr>
              <a:t>arg</a:t>
            </a:r>
            <a:r>
              <a:rPr sz="2100" spc="-95" dirty="0">
                <a:latin typeface="Times New Roman"/>
                <a:cs typeface="Times New Roman"/>
              </a:rPr>
              <a:t>s</a:t>
            </a:r>
            <a:r>
              <a:rPr sz="2100" spc="-40" dirty="0">
                <a:latin typeface="Times New Roman"/>
                <a:cs typeface="Times New Roman"/>
              </a:rPr>
              <a:t>)</a:t>
            </a:r>
            <a:endParaRPr sz="2100" dirty="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600"/>
              </a:spcBef>
            </a:pPr>
            <a:r>
              <a:rPr sz="2100" spc="5" dirty="0">
                <a:latin typeface="Times New Roman"/>
                <a:cs typeface="Times New Roman"/>
              </a:rPr>
              <a:t>{</a:t>
            </a:r>
            <a:endParaRPr sz="2100" dirty="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600"/>
              </a:spcBef>
            </a:pPr>
            <a:r>
              <a:rPr sz="2100" spc="-95" dirty="0">
                <a:latin typeface="Times New Roman"/>
                <a:cs typeface="Times New Roman"/>
              </a:rPr>
              <a:t>ne</a:t>
            </a:r>
            <a:r>
              <a:rPr sz="2100" spc="-110" dirty="0">
                <a:latin typeface="Times New Roman"/>
                <a:cs typeface="Times New Roman"/>
              </a:rPr>
              <a:t>w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-260" dirty="0">
                <a:latin typeface="Times New Roman"/>
                <a:cs typeface="Times New Roman"/>
              </a:rPr>
              <a:t>M</a:t>
            </a:r>
            <a:r>
              <a:rPr sz="2100" spc="-145" dirty="0">
                <a:latin typeface="Times New Roman"/>
                <a:cs typeface="Times New Roman"/>
              </a:rPr>
              <a:t>y</a:t>
            </a:r>
            <a:r>
              <a:rPr sz="2100" spc="-350" dirty="0">
                <a:latin typeface="Times New Roman"/>
                <a:cs typeface="Times New Roman"/>
              </a:rPr>
              <a:t>T</a:t>
            </a:r>
            <a:r>
              <a:rPr sz="2100" spc="-95" dirty="0">
                <a:latin typeface="Times New Roman"/>
                <a:cs typeface="Times New Roman"/>
              </a:rPr>
              <a:t>extF</a:t>
            </a:r>
            <a:r>
              <a:rPr sz="2100" spc="-70" dirty="0">
                <a:latin typeface="Times New Roman"/>
                <a:cs typeface="Times New Roman"/>
              </a:rPr>
              <a:t>i</a:t>
            </a:r>
            <a:r>
              <a:rPr sz="2100" spc="-65" dirty="0">
                <a:latin typeface="Times New Roman"/>
                <a:cs typeface="Times New Roman"/>
              </a:rPr>
              <a:t>eld(</a:t>
            </a:r>
            <a:r>
              <a:rPr sz="2100" spc="-70" dirty="0">
                <a:latin typeface="Times New Roman"/>
                <a:cs typeface="Times New Roman"/>
              </a:rPr>
              <a:t>)</a:t>
            </a:r>
            <a:r>
              <a:rPr sz="2100" spc="30" dirty="0">
                <a:latin typeface="Times New Roman"/>
                <a:cs typeface="Times New Roman"/>
              </a:rPr>
              <a:t>;</a:t>
            </a:r>
            <a:endParaRPr sz="2100" dirty="0">
              <a:latin typeface="Times New Roman"/>
              <a:cs typeface="Times New Roman"/>
            </a:endParaRPr>
          </a:p>
          <a:p>
            <a:pPr marL="134620">
              <a:lnSpc>
                <a:spcPct val="100000"/>
              </a:lnSpc>
              <a:spcBef>
                <a:spcPts val="605"/>
              </a:spcBef>
              <a:tabLst>
                <a:tab pos="683895" algn="l"/>
              </a:tabLst>
            </a:pPr>
            <a:r>
              <a:rPr sz="2100" spc="5" dirty="0">
                <a:latin typeface="Times New Roman"/>
                <a:cs typeface="Times New Roman"/>
              </a:rPr>
              <a:t>}	}</a:t>
            </a:r>
            <a:endParaRPr sz="21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C2974-571D-7C71-DABC-F059ADA5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733800"/>
            <a:ext cx="305752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6068"/>
            <a:ext cx="544639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solidFill>
                  <a:srgbClr val="000000"/>
                </a:solidFill>
              </a:rPr>
              <a:t>Example</a:t>
            </a:r>
            <a:r>
              <a:rPr sz="3200" spc="3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(JFrame</a:t>
            </a:r>
            <a:r>
              <a:rPr sz="3200" spc="50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and</a:t>
            </a:r>
            <a:r>
              <a:rPr sz="3200" spc="-2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JLabel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5" dirty="0">
                <a:solidFill>
                  <a:srgbClr val="000000"/>
                </a:solidFill>
              </a:rPr>
              <a:t>)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07387" y="712591"/>
            <a:ext cx="8675370" cy="5791835"/>
            <a:chOff x="207387" y="712591"/>
            <a:chExt cx="8675370" cy="5791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387" y="712591"/>
              <a:ext cx="8674906" cy="5706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8199" y="4038600"/>
              <a:ext cx="2218944" cy="2465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2748</Words>
  <Application>Microsoft Office PowerPoint</Application>
  <PresentationFormat>On-screen Show (4:3)</PresentationFormat>
  <Paragraphs>199</Paragraphs>
  <Slides>43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Cambria</vt:lpstr>
      <vt:lpstr>Segoe UI Symbol</vt:lpstr>
      <vt:lpstr>Times New Roman</vt:lpstr>
      <vt:lpstr>Wingdings</vt:lpstr>
      <vt:lpstr>Office Theme</vt:lpstr>
      <vt:lpstr>PowerPoint Presentation</vt:lpstr>
      <vt:lpstr>Syllabus:</vt:lpstr>
      <vt:lpstr>Swings</vt:lpstr>
      <vt:lpstr>PowerPoint Presentation</vt:lpstr>
      <vt:lpstr>Features of Swing (Advantages of Swings over AWT)</vt:lpstr>
      <vt:lpstr>PowerPoint Presentation</vt:lpstr>
      <vt:lpstr>PowerPoint Presentation</vt:lpstr>
      <vt:lpstr>PowerPoint Presentation</vt:lpstr>
      <vt:lpstr>Difference between AWT and Swing</vt:lpstr>
      <vt:lpstr>PowerPoint Presentation</vt:lpstr>
      <vt:lpstr>PowerPoint Presentation</vt:lpstr>
      <vt:lpstr>PowerPoint Presentation</vt:lpstr>
      <vt:lpstr>COMPONENTS &amp; CONTAINERS</vt:lpstr>
      <vt:lpstr>PowerPoint Presentation</vt:lpstr>
      <vt:lpstr>Class names for Swing components(including  those used as containers)</vt:lpstr>
      <vt:lpstr>PowerPoint Presentation</vt:lpstr>
      <vt:lpstr>PowerPoint Presentation</vt:lpstr>
      <vt:lpstr>PowerPoint Presentation</vt:lpstr>
      <vt:lpstr>The Model-View-Controller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JButton</vt:lpstr>
      <vt:lpstr>Commonly used Methods of AbstractButton class:</vt:lpstr>
      <vt:lpstr>PowerPoint Presentation</vt:lpstr>
      <vt:lpstr>JLabel  It is used for placing text in a box </vt:lpstr>
      <vt:lpstr>Commonly used Methods of JLabel class:</vt:lpstr>
      <vt:lpstr>PowerPoint Presentation</vt:lpstr>
      <vt:lpstr>PowerPoint Presentation</vt:lpstr>
      <vt:lpstr>JTextField</vt:lpstr>
      <vt:lpstr>Commonly used Methods of JTextField class:</vt:lpstr>
      <vt:lpstr>PowerPoint Presentation</vt:lpstr>
      <vt:lpstr>Example (JFrame and JLabel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libsy baby</cp:lastModifiedBy>
  <cp:revision>64</cp:revision>
  <dcterms:created xsi:type="dcterms:W3CDTF">2023-12-06T08:39:05Z</dcterms:created>
  <dcterms:modified xsi:type="dcterms:W3CDTF">2023-12-18T14:56:07Z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2023-12-06T00:00:00Z</vt:filetime>
  </property>
</Properties>
</file>