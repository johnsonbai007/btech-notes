
<file path=[Content_Types].xml><?xml version="1.0" encoding="utf-8"?>
<Types xmlns="http://schemas.openxmlformats.org/package/2006/content-types">
  <Default Extension="png" ContentType="image/png"/>
  <Default Extension="tmp"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2"/>
  </p:notesMasterIdLst>
  <p:sldIdLst>
    <p:sldId id="256" r:id="rId2"/>
    <p:sldId id="257" r:id="rId3"/>
    <p:sldId id="828" r:id="rId4"/>
    <p:sldId id="260" r:id="rId5"/>
    <p:sldId id="462" r:id="rId6"/>
    <p:sldId id="472" r:id="rId7"/>
    <p:sldId id="478" r:id="rId8"/>
    <p:sldId id="485" r:id="rId9"/>
    <p:sldId id="479" r:id="rId10"/>
    <p:sldId id="481" r:id="rId11"/>
    <p:sldId id="482" r:id="rId12"/>
    <p:sldId id="480" r:id="rId13"/>
    <p:sldId id="483" r:id="rId14"/>
    <p:sldId id="739" r:id="rId15"/>
    <p:sldId id="842" r:id="rId16"/>
    <p:sldId id="740" r:id="rId17"/>
    <p:sldId id="741" r:id="rId18"/>
    <p:sldId id="742" r:id="rId19"/>
    <p:sldId id="494" r:id="rId20"/>
    <p:sldId id="708" r:id="rId21"/>
    <p:sldId id="798" r:id="rId22"/>
    <p:sldId id="282" r:id="rId23"/>
    <p:sldId id="291" r:id="rId24"/>
    <p:sldId id="292" r:id="rId25"/>
    <p:sldId id="293" r:id="rId26"/>
    <p:sldId id="294" r:id="rId27"/>
    <p:sldId id="295" r:id="rId28"/>
    <p:sldId id="296" r:id="rId29"/>
    <p:sldId id="312" r:id="rId30"/>
    <p:sldId id="313" r:id="rId31"/>
    <p:sldId id="315" r:id="rId32"/>
    <p:sldId id="316" r:id="rId33"/>
    <p:sldId id="318" r:id="rId34"/>
    <p:sldId id="319" r:id="rId35"/>
    <p:sldId id="320" r:id="rId36"/>
    <p:sldId id="321" r:id="rId37"/>
    <p:sldId id="322" r:id="rId38"/>
    <p:sldId id="323" r:id="rId39"/>
    <p:sldId id="324" r:id="rId40"/>
    <p:sldId id="325" r:id="rId41"/>
    <p:sldId id="326" r:id="rId42"/>
    <p:sldId id="819" r:id="rId43"/>
    <p:sldId id="327" r:id="rId44"/>
    <p:sldId id="328" r:id="rId45"/>
    <p:sldId id="329" r:id="rId46"/>
    <p:sldId id="332" r:id="rId47"/>
    <p:sldId id="333" r:id="rId48"/>
    <p:sldId id="334" r:id="rId49"/>
    <p:sldId id="336" r:id="rId50"/>
    <p:sldId id="337" r:id="rId51"/>
    <p:sldId id="338" r:id="rId52"/>
    <p:sldId id="339" r:id="rId53"/>
    <p:sldId id="836" r:id="rId54"/>
    <p:sldId id="341" r:id="rId55"/>
    <p:sldId id="343" r:id="rId56"/>
    <p:sldId id="344" r:id="rId57"/>
    <p:sldId id="345" r:id="rId58"/>
    <p:sldId id="346" r:id="rId59"/>
    <p:sldId id="347" r:id="rId60"/>
    <p:sldId id="348" r:id="rId61"/>
    <p:sldId id="349" r:id="rId62"/>
    <p:sldId id="350" r:id="rId63"/>
    <p:sldId id="352" r:id="rId64"/>
    <p:sldId id="353" r:id="rId65"/>
    <p:sldId id="354" r:id="rId66"/>
    <p:sldId id="355" r:id="rId67"/>
    <p:sldId id="358" r:id="rId68"/>
    <p:sldId id="359" r:id="rId69"/>
    <p:sldId id="361" r:id="rId70"/>
    <p:sldId id="365" r:id="rId71"/>
    <p:sldId id="369" r:id="rId72"/>
    <p:sldId id="370" r:id="rId73"/>
    <p:sldId id="373" r:id="rId74"/>
    <p:sldId id="378" r:id="rId75"/>
    <p:sldId id="820" r:id="rId76"/>
    <p:sldId id="822" r:id="rId77"/>
    <p:sldId id="382" r:id="rId78"/>
    <p:sldId id="386" r:id="rId79"/>
    <p:sldId id="389" r:id="rId80"/>
    <p:sldId id="390" r:id="rId81"/>
    <p:sldId id="391" r:id="rId82"/>
    <p:sldId id="392" r:id="rId83"/>
    <p:sldId id="393" r:id="rId84"/>
    <p:sldId id="395" r:id="rId85"/>
    <p:sldId id="396" r:id="rId86"/>
    <p:sldId id="397" r:id="rId87"/>
    <p:sldId id="554" r:id="rId88"/>
    <p:sldId id="555" r:id="rId89"/>
    <p:sldId id="823" r:id="rId90"/>
    <p:sldId id="559" r:id="rId91"/>
    <p:sldId id="556" r:id="rId92"/>
    <p:sldId id="558" r:id="rId93"/>
    <p:sldId id="399" r:id="rId94"/>
    <p:sldId id="400" r:id="rId95"/>
    <p:sldId id="401" r:id="rId96"/>
    <p:sldId id="402" r:id="rId97"/>
    <p:sldId id="403" r:id="rId98"/>
    <p:sldId id="405" r:id="rId99"/>
    <p:sldId id="406" r:id="rId100"/>
    <p:sldId id="407" r:id="rId101"/>
    <p:sldId id="409" r:id="rId102"/>
    <p:sldId id="841" r:id="rId103"/>
    <p:sldId id="412" r:id="rId104"/>
    <p:sldId id="414" r:id="rId105"/>
    <p:sldId id="416" r:id="rId106"/>
    <p:sldId id="417" r:id="rId107"/>
    <p:sldId id="419" r:id="rId108"/>
    <p:sldId id="420" r:id="rId109"/>
    <p:sldId id="421" r:id="rId110"/>
    <p:sldId id="422" r:id="rId111"/>
    <p:sldId id="423" r:id="rId112"/>
    <p:sldId id="424" r:id="rId113"/>
    <p:sldId id="425" r:id="rId114"/>
    <p:sldId id="426" r:id="rId115"/>
    <p:sldId id="824" r:id="rId116"/>
    <p:sldId id="831" r:id="rId117"/>
    <p:sldId id="832" r:id="rId118"/>
    <p:sldId id="833" r:id="rId119"/>
    <p:sldId id="834" r:id="rId120"/>
    <p:sldId id="835" r:id="rId121"/>
  </p:sldIdLst>
  <p:sldSz cx="6502400" cy="4292600"/>
  <p:notesSz cx="6502400" cy="4292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9" d="100"/>
          <a:sy n="109" d="100"/>
        </p:scale>
        <p:origin x="1176" y="84"/>
      </p:cViewPr>
      <p:guideLst>
        <p:guide orient="horz" pos="2880"/>
        <p:guide pos="216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17813" cy="215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683000" y="0"/>
            <a:ext cx="2817813" cy="215900"/>
          </a:xfrm>
          <a:prstGeom prst="rect">
            <a:avLst/>
          </a:prstGeom>
        </p:spPr>
        <p:txBody>
          <a:bodyPr vert="horz" lIns="91440" tIns="45720" rIns="91440" bIns="45720" rtlCol="0"/>
          <a:lstStyle>
            <a:lvl1pPr algn="r">
              <a:defRPr sz="1200"/>
            </a:lvl1pPr>
          </a:lstStyle>
          <a:p>
            <a:fld id="{AFEC57C5-8546-4B08-BE04-1CA875BD01B5}" type="datetimeFigureOut">
              <a:rPr lang="en-US" smtClean="0"/>
              <a:t>1/11/2024</a:t>
            </a:fld>
            <a:endParaRPr lang="en-US"/>
          </a:p>
        </p:txBody>
      </p:sp>
      <p:sp>
        <p:nvSpPr>
          <p:cNvPr id="4" name="Slide Image Placeholder 3"/>
          <p:cNvSpPr>
            <a:spLocks noGrp="1" noRot="1" noChangeAspect="1"/>
          </p:cNvSpPr>
          <p:nvPr>
            <p:ph type="sldImg" idx="2"/>
          </p:nvPr>
        </p:nvSpPr>
        <p:spPr>
          <a:xfrm>
            <a:off x="2152650" y="536575"/>
            <a:ext cx="2197100" cy="1449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50875" y="2065338"/>
            <a:ext cx="5200650" cy="16906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076700"/>
            <a:ext cx="2817813" cy="215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683000" y="4076700"/>
            <a:ext cx="2817813" cy="215900"/>
          </a:xfrm>
          <a:prstGeom prst="rect">
            <a:avLst/>
          </a:prstGeom>
        </p:spPr>
        <p:txBody>
          <a:bodyPr vert="horz" lIns="91440" tIns="45720" rIns="91440" bIns="45720" rtlCol="0" anchor="b"/>
          <a:lstStyle>
            <a:lvl1pPr algn="r">
              <a:defRPr sz="1200"/>
            </a:lvl1pPr>
          </a:lstStyle>
          <a:p>
            <a:fld id="{8A380A30-E08A-41A5-AEFB-5D8AF926A353}" type="slidenum">
              <a:rPr lang="en-US" smtClean="0"/>
              <a:t>‹#›</a:t>
            </a:fld>
            <a:endParaRPr lang="en-US"/>
          </a:p>
        </p:txBody>
      </p:sp>
    </p:spTree>
    <p:extLst>
      <p:ext uri="{BB962C8B-B14F-4D97-AF65-F5344CB8AC3E}">
        <p14:creationId xmlns:p14="http://schemas.microsoft.com/office/powerpoint/2010/main" val="210485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javarevisited.blogspot.com/2011/10/convert-double-to-string-example.html"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B6436084-1B9B-A429-73CE-9F599ECD1E17}"/>
              </a:ext>
            </a:extLst>
          </p:cNvPr>
          <p:cNvSpPr>
            <a:spLocks noGrp="1" noRot="1" noChangeAspect="1" noChangeArrowheads="1" noTextEdit="1"/>
          </p:cNvSpPr>
          <p:nvPr>
            <p:ph type="sldImg"/>
          </p:nvPr>
        </p:nvSpPr>
        <p:spPr>
          <a:ln/>
        </p:spPr>
      </p:sp>
      <p:sp>
        <p:nvSpPr>
          <p:cNvPr id="14339" name="Notes Placeholder 2">
            <a:extLst>
              <a:ext uri="{FF2B5EF4-FFF2-40B4-BE49-F238E27FC236}">
                <a16:creationId xmlns:a16="http://schemas.microsoft.com/office/drawing/2014/main" id="{B29DF333-89B8-7252-AC7A-0C7B7CBA584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 exponent-8 mantisa- 23 sign – 1</a:t>
            </a:r>
          </a:p>
          <a:p>
            <a:r>
              <a:rPr lang="en-US" altLang="en-US"/>
              <a:t>A </a:t>
            </a:r>
            <a:r>
              <a:rPr lang="en-US" altLang="en-US">
                <a:hlinkClick r:id="rId3"/>
              </a:rPr>
              <a:t>double</a:t>
            </a:r>
            <a:r>
              <a:rPr lang="en-US" altLang="en-US"/>
              <a:t> variable can provide precision up to 15 to 16 decimal points as compared to float precision of 6 to 7 decimal digits.</a:t>
            </a:r>
          </a:p>
        </p:txBody>
      </p:sp>
      <p:sp>
        <p:nvSpPr>
          <p:cNvPr id="14340" name="Slide Number Placeholder 3">
            <a:extLst>
              <a:ext uri="{FF2B5EF4-FFF2-40B4-BE49-F238E27FC236}">
                <a16:creationId xmlns:a16="http://schemas.microsoft.com/office/drawing/2014/main" id="{C2D35F2F-6D44-A6B7-C429-307EE04BEBF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924C4E57-C7B2-4707-B10E-EF1F03C1094F}" type="slidenum">
              <a:rPr lang="en-US" altLang="en-US" sz="1200" smtClean="0"/>
              <a:pPr/>
              <a:t>7</a:t>
            </a:fld>
            <a:endParaRPr lang="en-US" alt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19CE30BC-B09F-457E-8ECB-FE81515652E7}"/>
              </a:ext>
            </a:extLst>
          </p:cNvPr>
          <p:cNvSpPr>
            <a:spLocks noGrp="1" noRot="1" noChangeAspect="1" noChangeArrowheads="1" noTextEdit="1"/>
          </p:cNvSpPr>
          <p:nvPr>
            <p:ph type="sldImg"/>
          </p:nvPr>
        </p:nvSpPr>
        <p:spPr>
          <a:ln/>
        </p:spPr>
      </p:sp>
      <p:sp>
        <p:nvSpPr>
          <p:cNvPr id="17411" name="Notes Placeholder 2">
            <a:extLst>
              <a:ext uri="{FF2B5EF4-FFF2-40B4-BE49-F238E27FC236}">
                <a16:creationId xmlns:a16="http://schemas.microsoft.com/office/drawing/2014/main" id="{2C7B3FA1-AF12-DC4A-EBAF-D8E6F091689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en-US" sz="2400">
                <a:cs typeface="Times New Roman" panose="02020603050405020304" pitchFamily="18" charset="0"/>
              </a:rPr>
              <a:t>Java uses Unicode to represent characters. </a:t>
            </a:r>
          </a:p>
          <a:p>
            <a:pPr lvl="1" algn="just"/>
            <a:r>
              <a:rPr lang="en-US" altLang="en-US" sz="2200" i="1">
                <a:cs typeface="Times New Roman" panose="02020603050405020304" pitchFamily="18" charset="0"/>
              </a:rPr>
              <a:t>Unicode </a:t>
            </a:r>
            <a:r>
              <a:rPr lang="en-US" altLang="en-US" sz="2200">
                <a:cs typeface="Times New Roman" panose="02020603050405020304" pitchFamily="18" charset="0"/>
              </a:rPr>
              <a:t>defines a fully international character set that can represent all of the characters found in all human languages. Thus, in Java char is a 16-bit type. </a:t>
            </a:r>
          </a:p>
          <a:p>
            <a:pPr lvl="1" algn="just"/>
            <a:r>
              <a:rPr lang="en-US" altLang="en-US" sz="2200">
                <a:cs typeface="Times New Roman" panose="02020603050405020304" pitchFamily="18" charset="0"/>
              </a:rPr>
              <a:t>ASCII character set occupies the first 127 values in the Unicode character set. </a:t>
            </a:r>
          </a:p>
          <a:p>
            <a:pPr algn="just"/>
            <a:r>
              <a:rPr lang="en-US" altLang="en-US" sz="2400">
                <a:cs typeface="Times New Roman" panose="02020603050405020304" pitchFamily="18" charset="0"/>
              </a:rPr>
              <a:t>There are no negative chars. </a:t>
            </a:r>
          </a:p>
          <a:p>
            <a:pPr algn="just"/>
            <a:r>
              <a:rPr lang="en-US" altLang="en-US" sz="2400">
                <a:cs typeface="Times New Roman" panose="02020603050405020304" pitchFamily="18" charset="0"/>
              </a:rPr>
              <a:t>Even though </a:t>
            </a:r>
            <a:r>
              <a:rPr lang="en-US" altLang="en-US" sz="2400" b="1">
                <a:cs typeface="Times New Roman" panose="02020603050405020304" pitchFamily="18" charset="0"/>
              </a:rPr>
              <a:t>char</a:t>
            </a:r>
            <a:r>
              <a:rPr lang="en-US" altLang="en-US" sz="2400">
                <a:cs typeface="Times New Roman" panose="02020603050405020304" pitchFamily="18" charset="0"/>
              </a:rPr>
              <a:t>s are not integers, in many cases you can operate on them as if they were integers. This allows you to add two characters together, or to increment the value of a character variable.</a:t>
            </a:r>
          </a:p>
          <a:p>
            <a:endParaRPr lang="en-US" altLang="en-US"/>
          </a:p>
        </p:txBody>
      </p:sp>
      <p:sp>
        <p:nvSpPr>
          <p:cNvPr id="17412" name="Slide Number Placeholder 3">
            <a:extLst>
              <a:ext uri="{FF2B5EF4-FFF2-40B4-BE49-F238E27FC236}">
                <a16:creationId xmlns:a16="http://schemas.microsoft.com/office/drawing/2014/main" id="{0AFFB385-58E7-37E5-5EB5-2F6F839084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89906FFA-78A6-4F76-914F-F9E072A18894}" type="slidenum">
              <a:rPr lang="en-US" altLang="en-US" sz="1200" smtClean="0"/>
              <a:pPr/>
              <a:t>9</a:t>
            </a:fld>
            <a:endParaRPr lang="en-US" alt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B69D3C43-DD5E-EAE3-B2FD-E3F0D7C26EB5}"/>
              </a:ext>
            </a:extLst>
          </p:cNvPr>
          <p:cNvSpPr>
            <a:spLocks noGrp="1" noRot="1" noChangeAspect="1" noChangeArrowheads="1" noTextEdit="1"/>
          </p:cNvSpPr>
          <p:nvPr>
            <p:ph type="sldImg"/>
          </p:nvPr>
        </p:nvSpPr>
        <p:spPr>
          <a:ln/>
        </p:spPr>
      </p:sp>
      <p:sp>
        <p:nvSpPr>
          <p:cNvPr id="20483" name="Notes Placeholder 2">
            <a:extLst>
              <a:ext uri="{FF2B5EF4-FFF2-40B4-BE49-F238E27FC236}">
                <a16:creationId xmlns:a16="http://schemas.microsoft.com/office/drawing/2014/main" id="{99E566CF-A19D-CDF4-CFBA-7DACE77B49A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0484" name="Slide Number Placeholder 3">
            <a:extLst>
              <a:ext uri="{FF2B5EF4-FFF2-40B4-BE49-F238E27FC236}">
                <a16:creationId xmlns:a16="http://schemas.microsoft.com/office/drawing/2014/main" id="{6D922A7B-B181-1BA2-5D7D-7260B43BEF6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B70A80C8-9703-44CE-BEE1-9E958DEBB39A}" type="slidenum">
              <a:rPr lang="en-US" altLang="en-US" sz="1200" smtClean="0"/>
              <a:pPr/>
              <a:t>11</a:t>
            </a:fld>
            <a:endParaRPr lang="en-US" alt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BC90B866-19E4-298E-B175-14EE6E27268B}"/>
              </a:ext>
            </a:extLst>
          </p:cNvPr>
          <p:cNvSpPr>
            <a:spLocks noGrp="1" noRot="1" noChangeAspect="1" noChangeArrowheads="1" noTextEdit="1"/>
          </p:cNvSpPr>
          <p:nvPr>
            <p:ph type="sldImg"/>
          </p:nvPr>
        </p:nvSpPr>
        <p:spPr>
          <a:ln/>
        </p:spPr>
      </p:sp>
      <p:sp>
        <p:nvSpPr>
          <p:cNvPr id="24579" name="Notes Placeholder 2">
            <a:extLst>
              <a:ext uri="{FF2B5EF4-FFF2-40B4-BE49-F238E27FC236}">
                <a16:creationId xmlns:a16="http://schemas.microsoft.com/office/drawing/2014/main" id="{A1F933F0-0E10-B8AA-3CF7-A15008C4ED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24580" name="Slide Number Placeholder 3">
            <a:extLst>
              <a:ext uri="{FF2B5EF4-FFF2-40B4-BE49-F238E27FC236}">
                <a16:creationId xmlns:a16="http://schemas.microsoft.com/office/drawing/2014/main" id="{7D9EBD6B-CFB7-D1AD-78ED-390D055D2D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118417CC-539A-4065-B582-967C770B3424}" type="slidenum">
              <a:rPr lang="en-US" altLang="en-US" sz="1200" smtClean="0"/>
              <a:pPr/>
              <a:t>14</a:t>
            </a:fld>
            <a:endParaRPr lang="en-US" alt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BC90B866-19E4-298E-B175-14EE6E27268B}"/>
              </a:ext>
            </a:extLst>
          </p:cNvPr>
          <p:cNvSpPr>
            <a:spLocks noGrp="1" noRot="1" noChangeAspect="1" noChangeArrowheads="1" noTextEdit="1"/>
          </p:cNvSpPr>
          <p:nvPr>
            <p:ph type="sldImg"/>
          </p:nvPr>
        </p:nvSpPr>
        <p:spPr>
          <a:ln/>
        </p:spPr>
      </p:sp>
      <p:sp>
        <p:nvSpPr>
          <p:cNvPr id="24579" name="Notes Placeholder 2">
            <a:extLst>
              <a:ext uri="{FF2B5EF4-FFF2-40B4-BE49-F238E27FC236}">
                <a16:creationId xmlns:a16="http://schemas.microsoft.com/office/drawing/2014/main" id="{A1F933F0-0E10-B8AA-3CF7-A15008C4ED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solidFill>
                  <a:srgbClr val="000088"/>
                </a:solidFill>
              </a:rPr>
              <a:t>public</a:t>
            </a:r>
            <a:r>
              <a:rPr lang="en-US" altLang="en-US" dirty="0">
                <a:solidFill>
                  <a:srgbClr val="000000"/>
                </a:solidFill>
              </a:rPr>
              <a:t> </a:t>
            </a:r>
            <a:r>
              <a:rPr lang="en-US" altLang="en-US" dirty="0">
                <a:solidFill>
                  <a:srgbClr val="000088"/>
                </a:solidFill>
              </a:rPr>
              <a:t>class</a:t>
            </a:r>
            <a:r>
              <a:rPr lang="en-US" altLang="en-US" dirty="0">
                <a:solidFill>
                  <a:srgbClr val="000000"/>
                </a:solidFill>
              </a:rPr>
              <a:t> </a:t>
            </a:r>
            <a:r>
              <a:rPr lang="en-US" altLang="en-US" dirty="0">
                <a:solidFill>
                  <a:srgbClr val="660066"/>
                </a:solidFill>
              </a:rPr>
              <a:t>Demo</a:t>
            </a:r>
            <a:r>
              <a:rPr lang="en-US" altLang="en-US" dirty="0">
                <a:solidFill>
                  <a:srgbClr val="000000"/>
                </a:solidFill>
              </a:rPr>
              <a:t> </a:t>
            </a:r>
            <a:r>
              <a:rPr lang="en-US" altLang="en-US" dirty="0">
                <a:solidFill>
                  <a:srgbClr val="666600"/>
                </a:solidFill>
              </a:rPr>
              <a:t>{</a:t>
            </a:r>
            <a:r>
              <a:rPr lang="en-US" altLang="en-US" dirty="0">
                <a:solidFill>
                  <a:srgbClr val="000000"/>
                </a:solidFill>
              </a:rPr>
              <a:t> </a:t>
            </a:r>
            <a:r>
              <a:rPr lang="en-US" altLang="en-US" dirty="0">
                <a:solidFill>
                  <a:srgbClr val="000088"/>
                </a:solidFill>
              </a:rPr>
              <a:t>public</a:t>
            </a:r>
            <a:r>
              <a:rPr lang="en-US" altLang="en-US" dirty="0">
                <a:solidFill>
                  <a:srgbClr val="000000"/>
                </a:solidFill>
              </a:rPr>
              <a:t> </a:t>
            </a:r>
            <a:r>
              <a:rPr lang="en-US" altLang="en-US" dirty="0">
                <a:solidFill>
                  <a:srgbClr val="000088"/>
                </a:solidFill>
              </a:rPr>
              <a:t>static</a:t>
            </a:r>
            <a:r>
              <a:rPr lang="en-US" altLang="en-US" dirty="0">
                <a:solidFill>
                  <a:srgbClr val="000000"/>
                </a:solidFill>
              </a:rPr>
              <a:t> </a:t>
            </a:r>
            <a:r>
              <a:rPr lang="en-US" altLang="en-US" dirty="0">
                <a:solidFill>
                  <a:srgbClr val="000088"/>
                </a:solidFill>
              </a:rPr>
              <a:t>void</a:t>
            </a:r>
            <a:r>
              <a:rPr lang="en-US" altLang="en-US" dirty="0">
                <a:solidFill>
                  <a:srgbClr val="000000"/>
                </a:solidFill>
              </a:rPr>
              <a:t> main</a:t>
            </a:r>
            <a:r>
              <a:rPr lang="en-US" altLang="en-US" dirty="0">
                <a:solidFill>
                  <a:srgbClr val="666600"/>
                </a:solidFill>
              </a:rPr>
              <a:t>(</a:t>
            </a:r>
            <a:r>
              <a:rPr lang="en-US" altLang="en-US" dirty="0">
                <a:solidFill>
                  <a:srgbClr val="660066"/>
                </a:solidFill>
              </a:rPr>
              <a:t>String</a:t>
            </a:r>
            <a:r>
              <a:rPr lang="en-US" altLang="en-US" dirty="0">
                <a:solidFill>
                  <a:srgbClr val="000000"/>
                </a:solidFill>
              </a:rPr>
              <a:t> </a:t>
            </a:r>
            <a:r>
              <a:rPr lang="en-US" altLang="en-US" dirty="0">
                <a:solidFill>
                  <a:srgbClr val="666600"/>
                </a:solidFill>
              </a:rPr>
              <a:t>[]</a:t>
            </a:r>
            <a:r>
              <a:rPr lang="en-US" altLang="en-US" dirty="0" err="1">
                <a:solidFill>
                  <a:srgbClr val="000000"/>
                </a:solidFill>
              </a:rPr>
              <a:t>args</a:t>
            </a:r>
            <a:r>
              <a:rPr lang="en-US" altLang="en-US" dirty="0">
                <a:solidFill>
                  <a:srgbClr val="666600"/>
                </a:solidFill>
              </a:rPr>
              <a:t>)</a:t>
            </a:r>
            <a:r>
              <a:rPr lang="en-US" altLang="en-US" dirty="0">
                <a:solidFill>
                  <a:srgbClr val="000000"/>
                </a:solidFill>
              </a:rPr>
              <a:t> </a:t>
            </a:r>
          </a:p>
          <a:p>
            <a:r>
              <a:rPr lang="en-US" altLang="en-US" dirty="0">
                <a:solidFill>
                  <a:srgbClr val="666600"/>
                </a:solidFill>
              </a:rPr>
              <a:t>{</a:t>
            </a:r>
            <a:r>
              <a:rPr lang="en-US" altLang="en-US" dirty="0">
                <a:solidFill>
                  <a:srgbClr val="000000"/>
                </a:solidFill>
              </a:rPr>
              <a:t> </a:t>
            </a:r>
            <a:r>
              <a:rPr lang="en-US" altLang="en-US" dirty="0">
                <a:solidFill>
                  <a:srgbClr val="000088"/>
                </a:solidFill>
              </a:rPr>
              <a:t>int</a:t>
            </a:r>
            <a:r>
              <a:rPr lang="en-US" altLang="en-US" dirty="0">
                <a:solidFill>
                  <a:srgbClr val="000000"/>
                </a:solidFill>
              </a:rPr>
              <a:t> </a:t>
            </a:r>
            <a:r>
              <a:rPr lang="en-US" altLang="en-US" dirty="0" err="1">
                <a:solidFill>
                  <a:srgbClr val="000000"/>
                </a:solidFill>
              </a:rPr>
              <a:t>myOct</a:t>
            </a:r>
            <a:r>
              <a:rPr lang="en-US" altLang="en-US" dirty="0">
                <a:solidFill>
                  <a:srgbClr val="000000"/>
                </a:solidFill>
              </a:rPr>
              <a:t> </a:t>
            </a:r>
            <a:r>
              <a:rPr lang="en-US" altLang="en-US" dirty="0">
                <a:solidFill>
                  <a:srgbClr val="666600"/>
                </a:solidFill>
              </a:rPr>
              <a:t>=</a:t>
            </a:r>
            <a:r>
              <a:rPr lang="en-US" altLang="en-US" dirty="0">
                <a:solidFill>
                  <a:srgbClr val="000000"/>
                </a:solidFill>
              </a:rPr>
              <a:t> </a:t>
            </a:r>
            <a:r>
              <a:rPr lang="en-US" altLang="en-US" dirty="0">
                <a:solidFill>
                  <a:srgbClr val="006666"/>
                </a:solidFill>
              </a:rPr>
              <a:t>023</a:t>
            </a:r>
            <a:r>
              <a:rPr lang="en-US" altLang="en-US" dirty="0">
                <a:solidFill>
                  <a:srgbClr val="666600"/>
                </a:solidFill>
              </a:rPr>
              <a:t>;</a:t>
            </a:r>
            <a:r>
              <a:rPr lang="en-US" altLang="en-US" dirty="0">
                <a:solidFill>
                  <a:srgbClr val="000000"/>
                </a:solidFill>
              </a:rPr>
              <a:t> </a:t>
            </a:r>
          </a:p>
          <a:p>
            <a:r>
              <a:rPr lang="en-US" altLang="en-US" dirty="0" err="1">
                <a:solidFill>
                  <a:srgbClr val="660066"/>
                </a:solidFill>
              </a:rPr>
              <a:t>System</a:t>
            </a:r>
            <a:r>
              <a:rPr lang="en-US" altLang="en-US" dirty="0" err="1">
                <a:solidFill>
                  <a:srgbClr val="666600"/>
                </a:solidFill>
              </a:rPr>
              <a:t>.</a:t>
            </a:r>
            <a:r>
              <a:rPr lang="en-US" altLang="en-US" dirty="0" err="1">
                <a:solidFill>
                  <a:srgbClr val="000088"/>
                </a:solidFill>
              </a:rPr>
              <a:t>out</a:t>
            </a:r>
            <a:r>
              <a:rPr lang="en-US" altLang="en-US" dirty="0" err="1">
                <a:solidFill>
                  <a:srgbClr val="666600"/>
                </a:solidFill>
              </a:rPr>
              <a:t>.</a:t>
            </a:r>
            <a:r>
              <a:rPr lang="en-US" altLang="en-US" dirty="0" err="1">
                <a:solidFill>
                  <a:srgbClr val="000000"/>
                </a:solidFill>
              </a:rPr>
              <a:t>println</a:t>
            </a:r>
            <a:r>
              <a:rPr lang="en-US" altLang="en-US" dirty="0">
                <a:solidFill>
                  <a:srgbClr val="666600"/>
                </a:solidFill>
              </a:rPr>
              <a:t>(</a:t>
            </a:r>
            <a:r>
              <a:rPr lang="en-US" altLang="en-US" dirty="0" err="1">
                <a:solidFill>
                  <a:srgbClr val="000000"/>
                </a:solidFill>
              </a:rPr>
              <a:t>myOct</a:t>
            </a:r>
            <a:r>
              <a:rPr lang="en-US" altLang="en-US" dirty="0">
                <a:solidFill>
                  <a:srgbClr val="666600"/>
                </a:solidFill>
              </a:rPr>
              <a:t>);</a:t>
            </a:r>
            <a:r>
              <a:rPr lang="en-US" altLang="en-US" dirty="0">
                <a:solidFill>
                  <a:srgbClr val="000000"/>
                </a:solidFill>
              </a:rPr>
              <a:t> </a:t>
            </a:r>
            <a:r>
              <a:rPr lang="en-US" altLang="en-US" dirty="0">
                <a:solidFill>
                  <a:srgbClr val="666600"/>
                </a:solidFill>
              </a:rPr>
              <a:t>}</a:t>
            </a:r>
            <a:r>
              <a:rPr lang="en-US" altLang="en-US" dirty="0">
                <a:solidFill>
                  <a:srgbClr val="000000"/>
                </a:solidFill>
              </a:rPr>
              <a:t> </a:t>
            </a:r>
            <a:r>
              <a:rPr lang="en-US" altLang="en-US" dirty="0">
                <a:solidFill>
                  <a:srgbClr val="666600"/>
                </a:solidFill>
              </a:rPr>
              <a:t>}</a:t>
            </a:r>
            <a:endParaRPr lang="en-US" altLang="en-US" dirty="0"/>
          </a:p>
        </p:txBody>
      </p:sp>
      <p:sp>
        <p:nvSpPr>
          <p:cNvPr id="24580" name="Slide Number Placeholder 3">
            <a:extLst>
              <a:ext uri="{FF2B5EF4-FFF2-40B4-BE49-F238E27FC236}">
                <a16:creationId xmlns:a16="http://schemas.microsoft.com/office/drawing/2014/main" id="{7D9EBD6B-CFB7-D1AD-78ED-390D055D2D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118417CC-539A-4065-B582-967C770B3424}" type="slidenum">
              <a:rPr lang="en-US" altLang="en-US" sz="1200" smtClean="0"/>
              <a:pPr/>
              <a:t>15</a:t>
            </a:fld>
            <a:endParaRPr lang="en-US" altLang="en-US" sz="1200"/>
          </a:p>
        </p:txBody>
      </p:sp>
    </p:spTree>
    <p:extLst>
      <p:ext uri="{BB962C8B-B14F-4D97-AF65-F5344CB8AC3E}">
        <p14:creationId xmlns:p14="http://schemas.microsoft.com/office/powerpoint/2010/main" val="38848071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8863CAE9-7AA9-16DD-D44C-2125F3404470}"/>
              </a:ext>
            </a:extLst>
          </p:cNvPr>
          <p:cNvSpPr>
            <a:spLocks noGrp="1" noRot="1" noChangeAspect="1" noChangeArrowheads="1" noTextEdit="1"/>
          </p:cNvSpPr>
          <p:nvPr>
            <p:ph type="sldImg"/>
          </p:nvPr>
        </p:nvSpPr>
        <p:spPr>
          <a:ln/>
        </p:spPr>
      </p:sp>
      <p:sp>
        <p:nvSpPr>
          <p:cNvPr id="31747" name="Notes Placeholder 2">
            <a:extLst>
              <a:ext uri="{FF2B5EF4-FFF2-40B4-BE49-F238E27FC236}">
                <a16:creationId xmlns:a16="http://schemas.microsoft.com/office/drawing/2014/main" id="{026874FF-2996-C725-F4BC-8A118931A9B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1748" name="Slide Number Placeholder 3">
            <a:extLst>
              <a:ext uri="{FF2B5EF4-FFF2-40B4-BE49-F238E27FC236}">
                <a16:creationId xmlns:a16="http://schemas.microsoft.com/office/drawing/2014/main" id="{F00487D2-AFBD-A0D2-9B02-6CA725213A8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2D671801-FE8C-466D-9C91-E7A1DB227C96}" type="slidenum">
              <a:rPr lang="en-US" altLang="en-US" sz="1200" smtClean="0"/>
              <a:pPr/>
              <a:t>20</a:t>
            </a:fld>
            <a:endParaRPr lang="en-US" alt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A380A30-E08A-41A5-AEFB-5D8AF926A353}" type="slidenum">
              <a:rPr lang="en-US" smtClean="0"/>
              <a:t>39</a:t>
            </a:fld>
            <a:endParaRPr lang="en-US"/>
          </a:p>
        </p:txBody>
      </p:sp>
    </p:spTree>
    <p:extLst>
      <p:ext uri="{BB962C8B-B14F-4D97-AF65-F5344CB8AC3E}">
        <p14:creationId xmlns:p14="http://schemas.microsoft.com/office/powerpoint/2010/main" val="5619845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57F40AD6-CBEF-4F1D-9DE5-9625338E720D}"/>
              </a:ext>
            </a:extLst>
          </p:cNvPr>
          <p:cNvSpPr>
            <a:spLocks noGrp="1" noRot="1" noChangeAspect="1" noChangeArrowheads="1" noTextEdit="1"/>
          </p:cNvSpPr>
          <p:nvPr>
            <p:ph type="sldImg"/>
          </p:nvPr>
        </p:nvSpPr>
        <p:spPr>
          <a:ln/>
        </p:spPr>
      </p:sp>
      <p:sp>
        <p:nvSpPr>
          <p:cNvPr id="49155" name="Notes Placeholder 2">
            <a:extLst>
              <a:ext uri="{FF2B5EF4-FFF2-40B4-BE49-F238E27FC236}">
                <a16:creationId xmlns:a16="http://schemas.microsoft.com/office/drawing/2014/main" id="{3C72A37D-50DD-A580-60FD-B3F45CDDEF4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9156" name="Slide Number Placeholder 3">
            <a:extLst>
              <a:ext uri="{FF2B5EF4-FFF2-40B4-BE49-F238E27FC236}">
                <a16:creationId xmlns:a16="http://schemas.microsoft.com/office/drawing/2014/main" id="{1BC8032F-8DDA-1907-2007-7036CC650A1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B62470D9-88E5-49A2-8E8A-22212609175E}" type="slidenum">
              <a:rPr lang="en-US" altLang="en-US" sz="1200" smtClean="0"/>
              <a:pPr/>
              <a:t>42</a:t>
            </a:fld>
            <a:endParaRPr lang="en-US" alt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A380A30-E08A-41A5-AEFB-5D8AF926A353}" type="slidenum">
              <a:rPr lang="en-US" smtClean="0"/>
              <a:t>61</a:t>
            </a:fld>
            <a:endParaRPr lang="en-US"/>
          </a:p>
        </p:txBody>
      </p:sp>
    </p:spTree>
    <p:extLst>
      <p:ext uri="{BB962C8B-B14F-4D97-AF65-F5344CB8AC3E}">
        <p14:creationId xmlns:p14="http://schemas.microsoft.com/office/powerpoint/2010/main" val="315231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a:extLst>
              <a:ext uri="{FF2B5EF4-FFF2-40B4-BE49-F238E27FC236}">
                <a16:creationId xmlns:a16="http://schemas.microsoft.com/office/drawing/2014/main" id="{47BCFBAB-E696-DCD4-D925-2D3706C8624B}"/>
              </a:ext>
            </a:extLst>
          </p:cNvPr>
          <p:cNvSpPr>
            <a:spLocks noGrp="1" noRot="1" noChangeAspect="1" noChangeArrowheads="1" noTextEdit="1"/>
          </p:cNvSpPr>
          <p:nvPr>
            <p:ph type="sldImg"/>
          </p:nvPr>
        </p:nvSpPr>
        <p:spPr>
          <a:ln/>
        </p:spPr>
      </p:sp>
      <p:sp>
        <p:nvSpPr>
          <p:cNvPr id="91139" name="Notes Placeholder 2">
            <a:extLst>
              <a:ext uri="{FF2B5EF4-FFF2-40B4-BE49-F238E27FC236}">
                <a16:creationId xmlns:a16="http://schemas.microsoft.com/office/drawing/2014/main" id="{AE693FC5-22CC-0D71-6975-FBC86CFDEA4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1140" name="Slide Number Placeholder 3">
            <a:extLst>
              <a:ext uri="{FF2B5EF4-FFF2-40B4-BE49-F238E27FC236}">
                <a16:creationId xmlns:a16="http://schemas.microsoft.com/office/drawing/2014/main" id="{D34767A8-BE78-C35F-15FF-89275E34055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FAA9F3F7-A2A5-4AE5-8303-E3EE452D9C14}" type="slidenum">
              <a:rPr lang="en-US" altLang="en-US" sz="1200" smtClean="0"/>
              <a:pPr/>
              <a:t>87</a:t>
            </a:fld>
            <a:endParaRPr lang="en-US" alt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7E5246C2-0B75-BF0A-7434-12480B10D1D6}"/>
              </a:ext>
            </a:extLst>
          </p:cNvPr>
          <p:cNvSpPr>
            <a:spLocks noGrp="1" noRot="1" noChangeAspect="1" noChangeArrowheads="1" noTextEdit="1"/>
          </p:cNvSpPr>
          <p:nvPr>
            <p:ph type="sldImg"/>
          </p:nvPr>
        </p:nvSpPr>
        <p:spPr>
          <a:ln/>
        </p:spPr>
      </p:sp>
      <p:sp>
        <p:nvSpPr>
          <p:cNvPr id="93187" name="Notes Placeholder 2">
            <a:extLst>
              <a:ext uri="{FF2B5EF4-FFF2-40B4-BE49-F238E27FC236}">
                <a16:creationId xmlns:a16="http://schemas.microsoft.com/office/drawing/2014/main" id="{F5F11422-2C48-C63F-E860-BEF31A434A6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3188" name="Slide Number Placeholder 3">
            <a:extLst>
              <a:ext uri="{FF2B5EF4-FFF2-40B4-BE49-F238E27FC236}">
                <a16:creationId xmlns:a16="http://schemas.microsoft.com/office/drawing/2014/main" id="{A6396B86-976F-3AD8-2D28-02AA479660D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990D58AC-258F-40BA-9C20-1C540095EE71}" type="slidenum">
              <a:rPr lang="en-US" altLang="en-US" sz="1200" smtClean="0"/>
              <a:pPr/>
              <a:t>88</a:t>
            </a:fld>
            <a:endParaRPr lang="en-US" alt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7E5246C2-0B75-BF0A-7434-12480B10D1D6}"/>
              </a:ext>
            </a:extLst>
          </p:cNvPr>
          <p:cNvSpPr>
            <a:spLocks noGrp="1" noRot="1" noChangeAspect="1" noChangeArrowheads="1" noTextEdit="1"/>
          </p:cNvSpPr>
          <p:nvPr>
            <p:ph type="sldImg"/>
          </p:nvPr>
        </p:nvSpPr>
        <p:spPr>
          <a:ln/>
        </p:spPr>
      </p:sp>
      <p:sp>
        <p:nvSpPr>
          <p:cNvPr id="93187" name="Notes Placeholder 2">
            <a:extLst>
              <a:ext uri="{FF2B5EF4-FFF2-40B4-BE49-F238E27FC236}">
                <a16:creationId xmlns:a16="http://schemas.microsoft.com/office/drawing/2014/main" id="{F5F11422-2C48-C63F-E860-BEF31A434A6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3188" name="Slide Number Placeholder 3">
            <a:extLst>
              <a:ext uri="{FF2B5EF4-FFF2-40B4-BE49-F238E27FC236}">
                <a16:creationId xmlns:a16="http://schemas.microsoft.com/office/drawing/2014/main" id="{A6396B86-976F-3AD8-2D28-02AA479660D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990D58AC-258F-40BA-9C20-1C540095EE71}" type="slidenum">
              <a:rPr lang="en-US" altLang="en-US" sz="1200" smtClean="0"/>
              <a:pPr/>
              <a:t>89</a:t>
            </a:fld>
            <a:endParaRPr lang="en-US" altLang="en-US" sz="1200"/>
          </a:p>
        </p:txBody>
      </p:sp>
    </p:spTree>
    <p:extLst>
      <p:ext uri="{BB962C8B-B14F-4D97-AF65-F5344CB8AC3E}">
        <p14:creationId xmlns:p14="http://schemas.microsoft.com/office/powerpoint/2010/main" val="36256801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a:extLst>
              <a:ext uri="{FF2B5EF4-FFF2-40B4-BE49-F238E27FC236}">
                <a16:creationId xmlns:a16="http://schemas.microsoft.com/office/drawing/2014/main" id="{D35AFC50-AB1E-E70C-8C80-5EC0E5D0754C}"/>
              </a:ext>
            </a:extLst>
          </p:cNvPr>
          <p:cNvSpPr>
            <a:spLocks noGrp="1" noRot="1" noChangeAspect="1" noChangeArrowheads="1" noTextEdit="1"/>
          </p:cNvSpPr>
          <p:nvPr>
            <p:ph type="sldImg"/>
          </p:nvPr>
        </p:nvSpPr>
        <p:spPr>
          <a:ln/>
        </p:spPr>
      </p:sp>
      <p:sp>
        <p:nvSpPr>
          <p:cNvPr id="95235" name="Notes Placeholder 2">
            <a:extLst>
              <a:ext uri="{FF2B5EF4-FFF2-40B4-BE49-F238E27FC236}">
                <a16:creationId xmlns:a16="http://schemas.microsoft.com/office/drawing/2014/main" id="{AEB83BFF-A716-B0F8-3CE9-1B9DBD2DE04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5236" name="Slide Number Placeholder 3">
            <a:extLst>
              <a:ext uri="{FF2B5EF4-FFF2-40B4-BE49-F238E27FC236}">
                <a16:creationId xmlns:a16="http://schemas.microsoft.com/office/drawing/2014/main" id="{7596A231-4937-F55B-A2CE-C3B8BFF58B0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6BF5A470-43B6-4567-97FD-C39A49E6A65D}" type="slidenum">
              <a:rPr lang="en-US" altLang="en-US" sz="1200" smtClean="0"/>
              <a:pPr/>
              <a:t>90</a:t>
            </a:fld>
            <a:endParaRPr lang="en-US" alt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a:extLst>
              <a:ext uri="{FF2B5EF4-FFF2-40B4-BE49-F238E27FC236}">
                <a16:creationId xmlns:a16="http://schemas.microsoft.com/office/drawing/2014/main" id="{BDCBF5A7-8ECD-B002-8FC9-3EA148FF0747}"/>
              </a:ext>
            </a:extLst>
          </p:cNvPr>
          <p:cNvSpPr>
            <a:spLocks noGrp="1" noRot="1" noChangeAspect="1" noChangeArrowheads="1" noTextEdit="1"/>
          </p:cNvSpPr>
          <p:nvPr>
            <p:ph type="sldImg"/>
          </p:nvPr>
        </p:nvSpPr>
        <p:spPr>
          <a:ln/>
        </p:spPr>
      </p:sp>
      <p:sp>
        <p:nvSpPr>
          <p:cNvPr id="98307" name="Notes Placeholder 2">
            <a:extLst>
              <a:ext uri="{FF2B5EF4-FFF2-40B4-BE49-F238E27FC236}">
                <a16:creationId xmlns:a16="http://schemas.microsoft.com/office/drawing/2014/main" id="{5011F740-029D-FC77-1DF6-B3EB1C99369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8308" name="Slide Number Placeholder 3">
            <a:extLst>
              <a:ext uri="{FF2B5EF4-FFF2-40B4-BE49-F238E27FC236}">
                <a16:creationId xmlns:a16="http://schemas.microsoft.com/office/drawing/2014/main" id="{0D04FD89-A14B-0F72-993F-E8A90E0E061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8BD4C124-8050-4D7A-8862-A10D550E182D}" type="slidenum">
              <a:rPr lang="en-US" altLang="en-US" sz="1200" smtClean="0"/>
              <a:pPr/>
              <a:t>91</a:t>
            </a:fld>
            <a:endParaRPr lang="en-US" alt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a:extLst>
              <a:ext uri="{FF2B5EF4-FFF2-40B4-BE49-F238E27FC236}">
                <a16:creationId xmlns:a16="http://schemas.microsoft.com/office/drawing/2014/main" id="{BBDFEEA3-85A1-1D41-BFAC-3D09CFA8FF4D}"/>
              </a:ext>
            </a:extLst>
          </p:cNvPr>
          <p:cNvSpPr>
            <a:spLocks noGrp="1" noRot="1" noChangeAspect="1" noChangeArrowheads="1" noTextEdit="1"/>
          </p:cNvSpPr>
          <p:nvPr>
            <p:ph type="sldImg"/>
          </p:nvPr>
        </p:nvSpPr>
        <p:spPr>
          <a:ln/>
        </p:spPr>
      </p:sp>
      <p:sp>
        <p:nvSpPr>
          <p:cNvPr id="100355" name="Notes Placeholder 2">
            <a:extLst>
              <a:ext uri="{FF2B5EF4-FFF2-40B4-BE49-F238E27FC236}">
                <a16:creationId xmlns:a16="http://schemas.microsoft.com/office/drawing/2014/main" id="{16816537-8D92-9E17-DEF4-F8175BDF72C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00356" name="Slide Number Placeholder 3">
            <a:extLst>
              <a:ext uri="{FF2B5EF4-FFF2-40B4-BE49-F238E27FC236}">
                <a16:creationId xmlns:a16="http://schemas.microsoft.com/office/drawing/2014/main" id="{6C7F4A5E-97D1-6937-4DB5-91B476C98BC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83C8723C-1BC9-4256-876F-0C312A17E9FE}" type="slidenum">
              <a:rPr lang="en-US" altLang="en-US" sz="1200" smtClean="0"/>
              <a:pPr/>
              <a:t>92</a:t>
            </a:fld>
            <a:endParaRPr lang="en-US" alt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A380A30-E08A-41A5-AEFB-5D8AF926A353}" type="slidenum">
              <a:rPr lang="en-US" smtClean="0"/>
              <a:t>95</a:t>
            </a:fld>
            <a:endParaRPr lang="en-US"/>
          </a:p>
        </p:txBody>
      </p:sp>
    </p:spTree>
    <p:extLst>
      <p:ext uri="{BB962C8B-B14F-4D97-AF65-F5344CB8AC3E}">
        <p14:creationId xmlns:p14="http://schemas.microsoft.com/office/powerpoint/2010/main" val="10935173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A380A30-E08A-41A5-AEFB-5D8AF926A353}" type="slidenum">
              <a:rPr lang="en-US" smtClean="0"/>
              <a:t>115</a:t>
            </a:fld>
            <a:endParaRPr lang="en-US"/>
          </a:p>
        </p:txBody>
      </p:sp>
    </p:spTree>
    <p:extLst>
      <p:ext uri="{BB962C8B-B14F-4D97-AF65-F5344CB8AC3E}">
        <p14:creationId xmlns:p14="http://schemas.microsoft.com/office/powerpoint/2010/main" val="41147674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87680" y="1330706"/>
            <a:ext cx="5527040" cy="901446"/>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975360" y="2403856"/>
            <a:ext cx="4551680" cy="10731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4011" y="176167"/>
            <a:ext cx="6487240" cy="684201"/>
          </a:xfrm>
          <a:prstGeom prst="rect">
            <a:avLst/>
          </a:prstGeom>
        </p:spPr>
      </p:pic>
      <p:sp>
        <p:nvSpPr>
          <p:cNvPr id="2" name="Holder 2"/>
          <p:cNvSpPr>
            <a:spLocks noGrp="1"/>
          </p:cNvSpPr>
          <p:nvPr>
            <p:ph type="title"/>
          </p:nvPr>
        </p:nvSpPr>
        <p:spPr/>
        <p:txBody>
          <a:bodyPr lIns="0" tIns="0" rIns="0" bIns="0"/>
          <a:lstStyle>
            <a:lvl1pPr>
              <a:defRPr sz="1900" b="0" i="0">
                <a:solidFill>
                  <a:schemeClr val="bg1"/>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sz="145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900" b="0" i="0">
                <a:solidFill>
                  <a:schemeClr val="bg1"/>
                </a:solidFill>
                <a:latin typeface="Arial MT"/>
                <a:cs typeface="Arial MT"/>
              </a:defRPr>
            </a:lvl1pPr>
          </a:lstStyle>
          <a:p>
            <a:endParaRPr/>
          </a:p>
        </p:txBody>
      </p:sp>
      <p:sp>
        <p:nvSpPr>
          <p:cNvPr id="3" name="Holder 3"/>
          <p:cNvSpPr>
            <a:spLocks noGrp="1"/>
          </p:cNvSpPr>
          <p:nvPr>
            <p:ph sz="half" idx="2"/>
          </p:nvPr>
        </p:nvSpPr>
        <p:spPr>
          <a:xfrm>
            <a:off x="325120" y="987298"/>
            <a:ext cx="2828544" cy="283311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348736" y="987298"/>
            <a:ext cx="2828544" cy="283311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4011" y="176167"/>
            <a:ext cx="6487240" cy="684201"/>
          </a:xfrm>
          <a:prstGeom prst="rect">
            <a:avLst/>
          </a:prstGeom>
        </p:spPr>
      </p:pic>
      <p:sp>
        <p:nvSpPr>
          <p:cNvPr id="2" name="Holder 2"/>
          <p:cNvSpPr>
            <a:spLocks noGrp="1"/>
          </p:cNvSpPr>
          <p:nvPr>
            <p:ph type="title"/>
          </p:nvPr>
        </p:nvSpPr>
        <p:spPr/>
        <p:txBody>
          <a:bodyPr lIns="0" tIns="0" rIns="0" bIns="0"/>
          <a:lstStyle>
            <a:lvl1pPr>
              <a:defRPr sz="1900" b="0" i="0">
                <a:solidFill>
                  <a:schemeClr val="bg1"/>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67980" y="268881"/>
            <a:ext cx="5766439" cy="318134"/>
          </a:xfrm>
          <a:prstGeom prst="rect">
            <a:avLst/>
          </a:prstGeom>
        </p:spPr>
        <p:txBody>
          <a:bodyPr wrap="square" lIns="0" tIns="0" rIns="0" bIns="0">
            <a:spAutoFit/>
          </a:bodyPr>
          <a:lstStyle>
            <a:lvl1pPr>
              <a:defRPr sz="1900" b="0" i="0">
                <a:solidFill>
                  <a:schemeClr val="bg1"/>
                </a:solidFill>
                <a:latin typeface="Arial MT"/>
                <a:cs typeface="Arial MT"/>
              </a:defRPr>
            </a:lvl1pPr>
          </a:lstStyle>
          <a:p>
            <a:endParaRPr/>
          </a:p>
        </p:txBody>
      </p:sp>
      <p:sp>
        <p:nvSpPr>
          <p:cNvPr id="3" name="Holder 3"/>
          <p:cNvSpPr>
            <a:spLocks noGrp="1"/>
          </p:cNvSpPr>
          <p:nvPr>
            <p:ph type="body" idx="1"/>
          </p:nvPr>
        </p:nvSpPr>
        <p:spPr>
          <a:xfrm>
            <a:off x="364664" y="759953"/>
            <a:ext cx="3143250" cy="1122045"/>
          </a:xfrm>
          <a:prstGeom prst="rect">
            <a:avLst/>
          </a:prstGeom>
        </p:spPr>
        <p:txBody>
          <a:bodyPr wrap="square" lIns="0" tIns="0" rIns="0" bIns="0">
            <a:spAutoFit/>
          </a:bodyPr>
          <a:lstStyle>
            <a:lvl1pPr>
              <a:defRPr sz="145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2210816" y="3992118"/>
            <a:ext cx="2080768" cy="21463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25120" y="3992118"/>
            <a:ext cx="1495552" cy="21463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1/11/2024</a:t>
            </a:fld>
            <a:endParaRPr lang="en-US"/>
          </a:p>
        </p:txBody>
      </p:sp>
      <p:sp>
        <p:nvSpPr>
          <p:cNvPr id="6" name="Holder 6"/>
          <p:cNvSpPr>
            <a:spLocks noGrp="1"/>
          </p:cNvSpPr>
          <p:nvPr>
            <p:ph type="sldNum" sz="quarter" idx="7"/>
          </p:nvPr>
        </p:nvSpPr>
        <p:spPr>
          <a:xfrm>
            <a:off x="4681728" y="3992118"/>
            <a:ext cx="1495552" cy="21463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g"/><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8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8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5.xml"/><Relationship Id="rId4" Type="http://schemas.openxmlformats.org/officeDocument/2006/relationships/image" Target="../media/image44.png"/></Relationships>
</file>

<file path=ppt/slides/_rels/slide8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jpg"/><Relationship Id="rId1" Type="http://schemas.openxmlformats.org/officeDocument/2006/relationships/slideLayout" Target="../slideLayouts/slideLayout5.xml"/><Relationship Id="rId4" Type="http://schemas.openxmlformats.org/officeDocument/2006/relationships/image" Target="../media/image50.png"/></Relationships>
</file>

<file path=ppt/slides/_rels/slide10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10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11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jpg"/><Relationship Id="rId1" Type="http://schemas.openxmlformats.org/officeDocument/2006/relationships/slideLayout" Target="../slideLayouts/slideLayout5.xml"/><Relationship Id="rId5" Type="http://schemas.openxmlformats.org/officeDocument/2006/relationships/image" Target="../media/image62.png"/><Relationship Id="rId4" Type="http://schemas.openxmlformats.org/officeDocument/2006/relationships/image" Target="../media/image61.png"/></Relationships>
</file>

<file path=ppt/slides/_rels/slide11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1.jpg"/><Relationship Id="rId1" Type="http://schemas.openxmlformats.org/officeDocument/2006/relationships/slideLayout" Target="../slideLayouts/slideLayout5.xml"/><Relationship Id="rId5" Type="http://schemas.openxmlformats.org/officeDocument/2006/relationships/image" Target="../media/image65.png"/><Relationship Id="rId4" Type="http://schemas.openxmlformats.org/officeDocument/2006/relationships/image" Target="../media/image64.png"/></Relationships>
</file>

<file path=ppt/slides/_rels/slide11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1.jpg"/><Relationship Id="rId1" Type="http://schemas.openxmlformats.org/officeDocument/2006/relationships/slideLayout" Target="../slideLayouts/slideLayout5.xml"/><Relationship Id="rId5" Type="http://schemas.openxmlformats.org/officeDocument/2006/relationships/image" Target="../media/image68.png"/><Relationship Id="rId4" Type="http://schemas.openxmlformats.org/officeDocument/2006/relationships/image" Target="../media/image67.png"/></Relationships>
</file>

<file path=ppt/slides/_rels/slide11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1.jpg"/><Relationship Id="rId1" Type="http://schemas.openxmlformats.org/officeDocument/2006/relationships/slideLayout" Target="../slideLayouts/slideLayout5.xml"/><Relationship Id="rId5" Type="http://schemas.openxmlformats.org/officeDocument/2006/relationships/image" Target="../media/image71.png"/><Relationship Id="rId4" Type="http://schemas.openxmlformats.org/officeDocument/2006/relationships/image" Target="../media/image70.png"/></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2" Type="http://schemas.openxmlformats.org/officeDocument/2006/relationships/image" Target="../media/image72.tmp"/><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2" Type="http://schemas.openxmlformats.org/officeDocument/2006/relationships/image" Target="../media/image73.tmp"/><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2" Type="http://schemas.openxmlformats.org/officeDocument/2006/relationships/image" Target="../media/image74.tmp"/><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7000" y="1004670"/>
            <a:ext cx="6487240" cy="2283259"/>
          </a:xfrm>
          <a:prstGeom prst="rect">
            <a:avLst/>
          </a:prstGeom>
        </p:spPr>
      </p:pic>
      <p:sp>
        <p:nvSpPr>
          <p:cNvPr id="3" name="object 3"/>
          <p:cNvSpPr txBox="1"/>
          <p:nvPr/>
        </p:nvSpPr>
        <p:spPr>
          <a:xfrm>
            <a:off x="3061265" y="1546132"/>
            <a:ext cx="2916555" cy="1250950"/>
          </a:xfrm>
          <a:prstGeom prst="rect">
            <a:avLst/>
          </a:prstGeom>
        </p:spPr>
        <p:txBody>
          <a:bodyPr vert="horz" wrap="square" lIns="0" tIns="14604" rIns="0" bIns="0" rtlCol="0">
            <a:spAutoFit/>
          </a:bodyPr>
          <a:lstStyle/>
          <a:p>
            <a:pPr marR="10160" algn="r">
              <a:lnSpc>
                <a:spcPct val="100000"/>
              </a:lnSpc>
              <a:spcBef>
                <a:spcPts val="114"/>
              </a:spcBef>
            </a:pPr>
            <a:endParaRPr sz="1700" dirty="0">
              <a:latin typeface="Arial MT"/>
              <a:cs typeface="Arial MT"/>
            </a:endParaRPr>
          </a:p>
          <a:p>
            <a:pPr marR="11430" algn="r">
              <a:lnSpc>
                <a:spcPct val="100000"/>
              </a:lnSpc>
              <a:spcBef>
                <a:spcPts val="40"/>
              </a:spcBef>
            </a:pPr>
            <a:r>
              <a:rPr sz="1700" spc="10" dirty="0">
                <a:solidFill>
                  <a:srgbClr val="FFFFFF"/>
                </a:solidFill>
                <a:latin typeface="Arial MT"/>
                <a:cs typeface="Arial MT"/>
              </a:rPr>
              <a:t>Object</a:t>
            </a:r>
            <a:r>
              <a:rPr sz="1700" spc="-95" dirty="0">
                <a:solidFill>
                  <a:srgbClr val="FFFFFF"/>
                </a:solidFill>
                <a:latin typeface="Arial MT"/>
                <a:cs typeface="Arial MT"/>
              </a:rPr>
              <a:t> </a:t>
            </a:r>
            <a:r>
              <a:rPr sz="1700" spc="5" dirty="0">
                <a:solidFill>
                  <a:srgbClr val="FFFFFF"/>
                </a:solidFill>
                <a:latin typeface="Arial MT"/>
                <a:cs typeface="Arial MT"/>
              </a:rPr>
              <a:t>Oriented</a:t>
            </a:r>
            <a:r>
              <a:rPr sz="1700" spc="-95" dirty="0">
                <a:solidFill>
                  <a:srgbClr val="FFFFFF"/>
                </a:solidFill>
                <a:latin typeface="Arial MT"/>
                <a:cs typeface="Arial MT"/>
              </a:rPr>
              <a:t> </a:t>
            </a:r>
            <a:r>
              <a:rPr sz="1700" spc="5" dirty="0">
                <a:solidFill>
                  <a:srgbClr val="FFFFFF"/>
                </a:solidFill>
                <a:latin typeface="Arial MT"/>
                <a:cs typeface="Arial MT"/>
              </a:rPr>
              <a:t>Programming</a:t>
            </a:r>
            <a:endParaRPr sz="1700" dirty="0">
              <a:latin typeface="Arial MT"/>
              <a:cs typeface="Arial MT"/>
            </a:endParaRPr>
          </a:p>
          <a:p>
            <a:pPr marR="5715" algn="r">
              <a:lnSpc>
                <a:spcPct val="100000"/>
              </a:lnSpc>
              <a:spcBef>
                <a:spcPts val="990"/>
              </a:spcBef>
            </a:pPr>
            <a:r>
              <a:rPr sz="1700" dirty="0">
                <a:solidFill>
                  <a:srgbClr val="FFFFFF"/>
                </a:solidFill>
                <a:latin typeface="Arial MT"/>
                <a:cs typeface="Arial MT"/>
              </a:rPr>
              <a:t>MODULE</a:t>
            </a:r>
            <a:r>
              <a:rPr sz="1700" spc="-120" dirty="0">
                <a:solidFill>
                  <a:srgbClr val="FFFFFF"/>
                </a:solidFill>
                <a:latin typeface="Arial MT"/>
                <a:cs typeface="Arial MT"/>
              </a:rPr>
              <a:t> </a:t>
            </a:r>
            <a:r>
              <a:rPr sz="1700" spc="10" dirty="0">
                <a:solidFill>
                  <a:srgbClr val="FFFFFF"/>
                </a:solidFill>
                <a:latin typeface="Arial MT"/>
                <a:cs typeface="Arial MT"/>
              </a:rPr>
              <a:t>2</a:t>
            </a:r>
            <a:endParaRPr sz="1700" dirty="0">
              <a:latin typeface="Arial MT"/>
              <a:cs typeface="Arial MT"/>
            </a:endParaRPr>
          </a:p>
          <a:p>
            <a:pPr marR="6985" algn="r">
              <a:lnSpc>
                <a:spcPct val="100000"/>
              </a:lnSpc>
              <a:spcBef>
                <a:spcPts val="434"/>
              </a:spcBef>
            </a:pPr>
            <a:r>
              <a:rPr sz="1700" spc="5" dirty="0">
                <a:solidFill>
                  <a:srgbClr val="FFFFFF"/>
                </a:solidFill>
                <a:latin typeface="Arial MT"/>
                <a:cs typeface="Arial MT"/>
              </a:rPr>
              <a:t>Co</a:t>
            </a:r>
            <a:r>
              <a:rPr sz="1700" spc="-10" dirty="0">
                <a:solidFill>
                  <a:srgbClr val="FFFFFF"/>
                </a:solidFill>
                <a:latin typeface="Arial MT"/>
                <a:cs typeface="Arial MT"/>
              </a:rPr>
              <a:t>r</a:t>
            </a:r>
            <a:r>
              <a:rPr sz="1700" spc="10" dirty="0">
                <a:solidFill>
                  <a:srgbClr val="FFFFFF"/>
                </a:solidFill>
                <a:latin typeface="Arial MT"/>
                <a:cs typeface="Arial MT"/>
              </a:rPr>
              <a:t>e</a:t>
            </a:r>
            <a:r>
              <a:rPr sz="1700" spc="15" dirty="0">
                <a:solidFill>
                  <a:srgbClr val="FFFFFF"/>
                </a:solidFill>
                <a:latin typeface="Times New Roman"/>
                <a:cs typeface="Times New Roman"/>
              </a:rPr>
              <a:t> </a:t>
            </a:r>
            <a:r>
              <a:rPr sz="1700" spc="20" dirty="0">
                <a:solidFill>
                  <a:srgbClr val="FFFFFF"/>
                </a:solidFill>
                <a:latin typeface="Arial MT"/>
                <a:cs typeface="Arial MT"/>
              </a:rPr>
              <a:t>J</a:t>
            </a:r>
            <a:r>
              <a:rPr sz="1700" spc="5" dirty="0">
                <a:solidFill>
                  <a:srgbClr val="FFFFFF"/>
                </a:solidFill>
                <a:latin typeface="Arial MT"/>
                <a:cs typeface="Arial MT"/>
              </a:rPr>
              <a:t>a</a:t>
            </a:r>
            <a:r>
              <a:rPr sz="1700" spc="65" dirty="0">
                <a:solidFill>
                  <a:srgbClr val="FFFFFF"/>
                </a:solidFill>
                <a:latin typeface="Arial MT"/>
                <a:cs typeface="Arial MT"/>
              </a:rPr>
              <a:t>v</a:t>
            </a:r>
            <a:r>
              <a:rPr sz="1700" spc="10" dirty="0">
                <a:solidFill>
                  <a:srgbClr val="FFFFFF"/>
                </a:solidFill>
                <a:latin typeface="Arial MT"/>
                <a:cs typeface="Arial MT"/>
              </a:rPr>
              <a:t>a</a:t>
            </a:r>
            <a:r>
              <a:rPr sz="1700" spc="-65" dirty="0">
                <a:solidFill>
                  <a:srgbClr val="FFFFFF"/>
                </a:solidFill>
                <a:latin typeface="Times New Roman"/>
                <a:cs typeface="Times New Roman"/>
              </a:rPr>
              <a:t> </a:t>
            </a:r>
            <a:r>
              <a:rPr sz="1700" spc="-5" dirty="0">
                <a:solidFill>
                  <a:srgbClr val="FFFFFF"/>
                </a:solidFill>
                <a:latin typeface="Arial MT"/>
                <a:cs typeface="Arial MT"/>
              </a:rPr>
              <a:t>F</a:t>
            </a:r>
            <a:r>
              <a:rPr sz="1700" spc="5" dirty="0">
                <a:solidFill>
                  <a:srgbClr val="FFFFFF"/>
                </a:solidFill>
                <a:latin typeface="Arial MT"/>
                <a:cs typeface="Arial MT"/>
              </a:rPr>
              <a:t>u</a:t>
            </a:r>
            <a:r>
              <a:rPr sz="1700" spc="10" dirty="0">
                <a:solidFill>
                  <a:srgbClr val="FFFFFF"/>
                </a:solidFill>
                <a:latin typeface="Arial MT"/>
                <a:cs typeface="Arial MT"/>
              </a:rPr>
              <a:t>n</a:t>
            </a:r>
            <a:r>
              <a:rPr sz="1700" spc="5" dirty="0">
                <a:solidFill>
                  <a:srgbClr val="FFFFFF"/>
                </a:solidFill>
                <a:latin typeface="Arial MT"/>
                <a:cs typeface="Arial MT"/>
              </a:rPr>
              <a:t>d</a:t>
            </a:r>
            <a:r>
              <a:rPr sz="1700" spc="10" dirty="0">
                <a:solidFill>
                  <a:srgbClr val="FFFFFF"/>
                </a:solidFill>
                <a:latin typeface="Arial MT"/>
                <a:cs typeface="Arial MT"/>
              </a:rPr>
              <a:t>a</a:t>
            </a:r>
            <a:r>
              <a:rPr sz="1700" spc="20" dirty="0">
                <a:solidFill>
                  <a:srgbClr val="FFFFFF"/>
                </a:solidFill>
                <a:latin typeface="Arial MT"/>
                <a:cs typeface="Arial MT"/>
              </a:rPr>
              <a:t>m</a:t>
            </a:r>
            <a:r>
              <a:rPr sz="1700" spc="5" dirty="0">
                <a:solidFill>
                  <a:srgbClr val="FFFFFF"/>
                </a:solidFill>
                <a:latin typeface="Arial MT"/>
                <a:cs typeface="Arial MT"/>
              </a:rPr>
              <a:t>enta</a:t>
            </a:r>
            <a:r>
              <a:rPr sz="1700" spc="-25" dirty="0">
                <a:solidFill>
                  <a:srgbClr val="FFFFFF"/>
                </a:solidFill>
                <a:latin typeface="Arial MT"/>
                <a:cs typeface="Arial MT"/>
              </a:rPr>
              <a:t>l</a:t>
            </a:r>
            <a:r>
              <a:rPr sz="1700" spc="5" dirty="0">
                <a:solidFill>
                  <a:srgbClr val="FFFFFF"/>
                </a:solidFill>
                <a:latin typeface="Arial MT"/>
                <a:cs typeface="Arial MT"/>
              </a:rPr>
              <a:t>s</a:t>
            </a:r>
            <a:endParaRPr sz="1700" dirty="0">
              <a:latin typeface="Arial MT"/>
              <a:cs typeface="Arial MT"/>
            </a:endParaRPr>
          </a:p>
        </p:txBody>
      </p:sp>
      <p:grpSp>
        <p:nvGrpSpPr>
          <p:cNvPr id="4" name="object 4"/>
          <p:cNvGrpSpPr/>
          <p:nvPr/>
        </p:nvGrpSpPr>
        <p:grpSpPr>
          <a:xfrm>
            <a:off x="-201" y="637540"/>
            <a:ext cx="6498590" cy="3660140"/>
            <a:chOff x="-1387" y="628242"/>
            <a:chExt cx="6498590" cy="3660140"/>
          </a:xfrm>
        </p:grpSpPr>
        <p:pic>
          <p:nvPicPr>
            <p:cNvPr id="5" name="object 5"/>
            <p:cNvPicPr/>
            <p:nvPr/>
          </p:nvPicPr>
          <p:blipFill>
            <a:blip r:embed="rId3" cstate="print"/>
            <a:stretch>
              <a:fillRect/>
            </a:stretch>
          </p:blipFill>
          <p:spPr>
            <a:xfrm>
              <a:off x="6258109" y="4049495"/>
              <a:ext cx="152044" cy="146976"/>
            </a:xfrm>
            <a:prstGeom prst="rect">
              <a:avLst/>
            </a:prstGeom>
          </p:spPr>
        </p:pic>
        <p:sp>
          <p:nvSpPr>
            <p:cNvPr id="6" name="object 6"/>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011" y="176167"/>
            <a:ext cx="6487795" cy="2144395"/>
            <a:chOff x="4011" y="176167"/>
            <a:chExt cx="6487795" cy="2144395"/>
          </a:xfrm>
        </p:grpSpPr>
        <p:pic>
          <p:nvPicPr>
            <p:cNvPr id="3" name="object 3"/>
            <p:cNvPicPr/>
            <p:nvPr/>
          </p:nvPicPr>
          <p:blipFill>
            <a:blip r:embed="rId2" cstate="print"/>
            <a:stretch>
              <a:fillRect/>
            </a:stretch>
          </p:blipFill>
          <p:spPr>
            <a:xfrm>
              <a:off x="252351" y="647505"/>
              <a:ext cx="6086848" cy="1672491"/>
            </a:xfrm>
            <a:prstGeom prst="rect">
              <a:avLst/>
            </a:prstGeom>
          </p:spPr>
        </p:pic>
        <p:pic>
          <p:nvPicPr>
            <p:cNvPr id="4" name="object 4"/>
            <p:cNvPicPr/>
            <p:nvPr/>
          </p:nvPicPr>
          <p:blipFill>
            <a:blip r:embed="rId3" cstate="print"/>
            <a:stretch>
              <a:fillRect/>
            </a:stretch>
          </p:blipFill>
          <p:spPr>
            <a:xfrm>
              <a:off x="284452" y="670343"/>
              <a:ext cx="6022657" cy="1606605"/>
            </a:xfrm>
            <a:prstGeom prst="rect">
              <a:avLst/>
            </a:prstGeom>
          </p:spPr>
        </p:pic>
        <p:sp>
          <p:nvSpPr>
            <p:cNvPr id="5" name="object 5"/>
            <p:cNvSpPr/>
            <p:nvPr/>
          </p:nvSpPr>
          <p:spPr>
            <a:xfrm>
              <a:off x="284452" y="670343"/>
              <a:ext cx="6022975" cy="1607185"/>
            </a:xfrm>
            <a:custGeom>
              <a:avLst/>
              <a:gdLst/>
              <a:ahLst/>
              <a:cxnLst/>
              <a:rect l="l" t="t" r="r" b="b"/>
              <a:pathLst>
                <a:path w="6022975" h="1607185">
                  <a:moveTo>
                    <a:pt x="0" y="1606605"/>
                  </a:moveTo>
                  <a:lnTo>
                    <a:pt x="6022657" y="1606605"/>
                  </a:lnTo>
                  <a:lnTo>
                    <a:pt x="6022657" y="0"/>
                  </a:lnTo>
                  <a:lnTo>
                    <a:pt x="0" y="0"/>
                  </a:lnTo>
                  <a:lnTo>
                    <a:pt x="0" y="1606605"/>
                  </a:lnTo>
                  <a:close/>
                </a:path>
              </a:pathLst>
            </a:custGeom>
            <a:ln w="5073">
              <a:solidFill>
                <a:srgbClr val="000000"/>
              </a:solidFill>
            </a:ln>
          </p:spPr>
          <p:txBody>
            <a:bodyPr wrap="square" lIns="0" tIns="0" rIns="0" bIns="0" rtlCol="0"/>
            <a:lstStyle/>
            <a:p>
              <a:endParaRPr/>
            </a:p>
          </p:txBody>
        </p:sp>
      </p:grpSp>
      <p:sp>
        <p:nvSpPr>
          <p:cNvPr id="7" name="object 7"/>
          <p:cNvSpPr txBox="1">
            <a:spLocks noGrp="1"/>
          </p:cNvSpPr>
          <p:nvPr>
            <p:ph type="title" idx="4294967295"/>
          </p:nvPr>
        </p:nvSpPr>
        <p:spPr>
          <a:xfrm>
            <a:off x="5565775" y="268288"/>
            <a:ext cx="936625" cy="319087"/>
          </a:xfrm>
          <a:prstGeom prst="rect">
            <a:avLst/>
          </a:prstGeom>
        </p:spPr>
        <p:txBody>
          <a:bodyPr vert="horz" wrap="square" lIns="0" tIns="14604" rIns="0" bIns="0" rtlCol="0">
            <a:spAutoFit/>
          </a:bodyPr>
          <a:lstStyle/>
          <a:p>
            <a:pPr marL="12700">
              <a:lnSpc>
                <a:spcPct val="100000"/>
              </a:lnSpc>
              <a:spcBef>
                <a:spcPts val="114"/>
              </a:spcBef>
            </a:pPr>
            <a:r>
              <a:rPr spc="10" dirty="0"/>
              <a:t>S</a:t>
            </a:r>
            <a:r>
              <a:rPr spc="-40" dirty="0"/>
              <a:t>y</a:t>
            </a:r>
            <a:r>
              <a:rPr spc="-30" dirty="0"/>
              <a:t>ll</a:t>
            </a:r>
            <a:r>
              <a:rPr spc="15" dirty="0"/>
              <a:t>abu</a:t>
            </a:r>
            <a:r>
              <a:rPr spc="5" dirty="0"/>
              <a:t>s</a:t>
            </a:r>
          </a:p>
        </p:txBody>
      </p:sp>
      <p:sp>
        <p:nvSpPr>
          <p:cNvPr id="8" name="object 8"/>
          <p:cNvSpPr txBox="1"/>
          <p:nvPr/>
        </p:nvSpPr>
        <p:spPr>
          <a:xfrm>
            <a:off x="364659" y="808607"/>
            <a:ext cx="5709285" cy="2484120"/>
          </a:xfrm>
          <a:prstGeom prst="rect">
            <a:avLst/>
          </a:prstGeom>
        </p:spPr>
        <p:txBody>
          <a:bodyPr vert="horz" wrap="square" lIns="0" tIns="16510" rIns="0" bIns="0" rtlCol="0">
            <a:spAutoFit/>
          </a:bodyPr>
          <a:lstStyle/>
          <a:p>
            <a:pPr marL="144145" indent="-132080">
              <a:lnSpc>
                <a:spcPct val="100000"/>
              </a:lnSpc>
              <a:spcBef>
                <a:spcPts val="130"/>
              </a:spcBef>
              <a:buSzPct val="92000"/>
              <a:buFont typeface="Wingdings"/>
              <a:buChar char=""/>
              <a:tabLst>
                <a:tab pos="144780" algn="l"/>
              </a:tabLst>
            </a:pPr>
            <a:r>
              <a:rPr sz="1250" spc="5" dirty="0">
                <a:solidFill>
                  <a:srgbClr val="FF0000"/>
                </a:solidFill>
                <a:latin typeface="Arial MT"/>
                <a:cs typeface="Arial MT"/>
              </a:rPr>
              <a:t>Primitive</a:t>
            </a:r>
            <a:r>
              <a:rPr sz="1250" spc="55" dirty="0">
                <a:solidFill>
                  <a:srgbClr val="FF0000"/>
                </a:solidFill>
                <a:latin typeface="Arial MT"/>
                <a:cs typeface="Arial MT"/>
              </a:rPr>
              <a:t> </a:t>
            </a:r>
            <a:r>
              <a:rPr sz="1250" dirty="0">
                <a:solidFill>
                  <a:srgbClr val="FF0000"/>
                </a:solidFill>
                <a:latin typeface="Arial MT"/>
                <a:cs typeface="Arial MT"/>
              </a:rPr>
              <a:t>Data</a:t>
            </a:r>
            <a:r>
              <a:rPr sz="1250" spc="20" dirty="0">
                <a:solidFill>
                  <a:srgbClr val="FF0000"/>
                </a:solidFill>
                <a:latin typeface="Arial MT"/>
                <a:cs typeface="Arial MT"/>
              </a:rPr>
              <a:t> </a:t>
            </a:r>
            <a:r>
              <a:rPr sz="1250" spc="-10" dirty="0">
                <a:solidFill>
                  <a:srgbClr val="FF0000"/>
                </a:solidFill>
                <a:latin typeface="Arial MT"/>
                <a:cs typeface="Arial MT"/>
              </a:rPr>
              <a:t>types</a:t>
            </a:r>
            <a:r>
              <a:rPr sz="1250" spc="100" dirty="0">
                <a:solidFill>
                  <a:srgbClr val="FF0000"/>
                </a:solidFill>
                <a:latin typeface="Arial MT"/>
                <a:cs typeface="Arial MT"/>
              </a:rPr>
              <a:t> </a:t>
            </a:r>
            <a:r>
              <a:rPr sz="1250" spc="5" dirty="0">
                <a:latin typeface="Arial MT"/>
                <a:cs typeface="Arial MT"/>
              </a:rPr>
              <a:t>-</a:t>
            </a:r>
            <a:r>
              <a:rPr sz="1250" spc="25" dirty="0">
                <a:latin typeface="Arial MT"/>
                <a:cs typeface="Arial MT"/>
              </a:rPr>
              <a:t> </a:t>
            </a:r>
            <a:r>
              <a:rPr sz="1250" dirty="0">
                <a:latin typeface="Arial MT"/>
                <a:cs typeface="Arial MT"/>
              </a:rPr>
              <a:t>Integers,</a:t>
            </a:r>
            <a:r>
              <a:rPr sz="1250" spc="55" dirty="0">
                <a:latin typeface="Arial MT"/>
                <a:cs typeface="Arial MT"/>
              </a:rPr>
              <a:t> </a:t>
            </a:r>
            <a:r>
              <a:rPr sz="1250" spc="5" dirty="0">
                <a:latin typeface="Arial MT"/>
                <a:cs typeface="Arial MT"/>
              </a:rPr>
              <a:t>Floating</a:t>
            </a:r>
            <a:r>
              <a:rPr sz="1250" spc="55" dirty="0">
                <a:latin typeface="Arial MT"/>
                <a:cs typeface="Arial MT"/>
              </a:rPr>
              <a:t> </a:t>
            </a:r>
            <a:r>
              <a:rPr sz="1250" dirty="0">
                <a:latin typeface="Arial MT"/>
                <a:cs typeface="Arial MT"/>
              </a:rPr>
              <a:t>Point</a:t>
            </a:r>
            <a:r>
              <a:rPr sz="1250" spc="50" dirty="0">
                <a:latin typeface="Arial MT"/>
                <a:cs typeface="Arial MT"/>
              </a:rPr>
              <a:t> </a:t>
            </a:r>
            <a:r>
              <a:rPr sz="1250" spc="-10" dirty="0">
                <a:latin typeface="Arial MT"/>
                <a:cs typeface="Arial MT"/>
              </a:rPr>
              <a:t>Types,</a:t>
            </a:r>
            <a:r>
              <a:rPr sz="1250" spc="130" dirty="0">
                <a:latin typeface="Arial MT"/>
                <a:cs typeface="Arial MT"/>
              </a:rPr>
              <a:t> </a:t>
            </a:r>
            <a:r>
              <a:rPr sz="1250" spc="5" dirty="0">
                <a:latin typeface="Arial MT"/>
                <a:cs typeface="Arial MT"/>
              </a:rPr>
              <a:t>Characters,</a:t>
            </a:r>
            <a:r>
              <a:rPr sz="1250" spc="50" dirty="0">
                <a:latin typeface="Arial MT"/>
                <a:cs typeface="Arial MT"/>
              </a:rPr>
              <a:t> </a:t>
            </a:r>
            <a:r>
              <a:rPr sz="1250" spc="-10" dirty="0">
                <a:latin typeface="Arial MT"/>
                <a:cs typeface="Arial MT"/>
              </a:rPr>
              <a:t>Boolean.</a:t>
            </a:r>
            <a:endParaRPr sz="1250">
              <a:latin typeface="Arial MT"/>
              <a:cs typeface="Arial MT"/>
            </a:endParaRPr>
          </a:p>
          <a:p>
            <a:pPr marL="12700">
              <a:lnSpc>
                <a:spcPct val="100000"/>
              </a:lnSpc>
              <a:spcBef>
                <a:spcPts val="55"/>
              </a:spcBef>
            </a:pPr>
            <a:r>
              <a:rPr sz="1250" dirty="0">
                <a:latin typeface="Arial MT"/>
                <a:cs typeface="Arial MT"/>
              </a:rPr>
              <a:t>Literals,</a:t>
            </a:r>
            <a:r>
              <a:rPr sz="1250" spc="60" dirty="0">
                <a:latin typeface="Arial MT"/>
                <a:cs typeface="Arial MT"/>
              </a:rPr>
              <a:t> </a:t>
            </a:r>
            <a:r>
              <a:rPr sz="1250" spc="-15" dirty="0">
                <a:latin typeface="Arial MT"/>
                <a:cs typeface="Arial MT"/>
              </a:rPr>
              <a:t>Type</a:t>
            </a:r>
            <a:r>
              <a:rPr sz="1250" spc="105" dirty="0">
                <a:latin typeface="Arial MT"/>
                <a:cs typeface="Arial MT"/>
              </a:rPr>
              <a:t> </a:t>
            </a:r>
            <a:r>
              <a:rPr sz="1250" spc="-5" dirty="0">
                <a:latin typeface="Arial MT"/>
                <a:cs typeface="Arial MT"/>
              </a:rPr>
              <a:t>Conversion</a:t>
            </a:r>
            <a:r>
              <a:rPr sz="1250" spc="150" dirty="0">
                <a:latin typeface="Arial MT"/>
                <a:cs typeface="Arial MT"/>
              </a:rPr>
              <a:t> </a:t>
            </a:r>
            <a:r>
              <a:rPr sz="1250" spc="5" dirty="0">
                <a:latin typeface="Arial MT"/>
                <a:cs typeface="Arial MT"/>
              </a:rPr>
              <a:t>and</a:t>
            </a:r>
            <a:r>
              <a:rPr sz="1250" spc="25" dirty="0">
                <a:latin typeface="Arial MT"/>
                <a:cs typeface="Arial MT"/>
              </a:rPr>
              <a:t> </a:t>
            </a:r>
            <a:r>
              <a:rPr sz="1250" dirty="0">
                <a:latin typeface="Arial MT"/>
                <a:cs typeface="Arial MT"/>
              </a:rPr>
              <a:t>Casting,</a:t>
            </a:r>
            <a:r>
              <a:rPr sz="1250" spc="100" dirty="0">
                <a:latin typeface="Arial MT"/>
                <a:cs typeface="Arial MT"/>
              </a:rPr>
              <a:t> </a:t>
            </a:r>
            <a:r>
              <a:rPr sz="1250" spc="-5" dirty="0">
                <a:latin typeface="Arial MT"/>
                <a:cs typeface="Arial MT"/>
              </a:rPr>
              <a:t>Variables,</a:t>
            </a:r>
            <a:r>
              <a:rPr sz="1250" spc="145" dirty="0">
                <a:latin typeface="Arial MT"/>
                <a:cs typeface="Arial MT"/>
              </a:rPr>
              <a:t> </a:t>
            </a:r>
            <a:r>
              <a:rPr sz="1250" dirty="0">
                <a:latin typeface="Arial MT"/>
                <a:cs typeface="Arial MT"/>
              </a:rPr>
              <a:t>Arrays,</a:t>
            </a:r>
            <a:r>
              <a:rPr sz="1250" spc="65" dirty="0">
                <a:latin typeface="Arial MT"/>
                <a:cs typeface="Arial MT"/>
              </a:rPr>
              <a:t> </a:t>
            </a:r>
            <a:r>
              <a:rPr sz="1250" spc="5" dirty="0">
                <a:latin typeface="Arial MT"/>
                <a:cs typeface="Arial MT"/>
              </a:rPr>
              <a:t>Strings,</a:t>
            </a:r>
            <a:r>
              <a:rPr sz="1250" spc="20" dirty="0">
                <a:latin typeface="Arial MT"/>
                <a:cs typeface="Arial MT"/>
              </a:rPr>
              <a:t> </a:t>
            </a:r>
            <a:r>
              <a:rPr sz="1250" dirty="0">
                <a:latin typeface="Arial MT"/>
                <a:cs typeface="Arial MT"/>
              </a:rPr>
              <a:t>Vector</a:t>
            </a:r>
            <a:r>
              <a:rPr sz="1250" spc="110" dirty="0">
                <a:latin typeface="Arial MT"/>
                <a:cs typeface="Arial MT"/>
              </a:rPr>
              <a:t> </a:t>
            </a:r>
            <a:r>
              <a:rPr sz="1250" dirty="0">
                <a:latin typeface="Arial MT"/>
                <a:cs typeface="Arial MT"/>
              </a:rPr>
              <a:t>class.</a:t>
            </a:r>
            <a:endParaRPr sz="1250">
              <a:latin typeface="Arial MT"/>
              <a:cs typeface="Arial MT"/>
            </a:endParaRPr>
          </a:p>
          <a:p>
            <a:pPr marL="12700" marR="221615">
              <a:lnSpc>
                <a:spcPct val="101200"/>
              </a:lnSpc>
              <a:spcBef>
                <a:spcPts val="320"/>
              </a:spcBef>
              <a:buSzPct val="92000"/>
              <a:buFont typeface="Wingdings"/>
              <a:buChar char=""/>
              <a:tabLst>
                <a:tab pos="144780" algn="l"/>
              </a:tabLst>
            </a:pPr>
            <a:r>
              <a:rPr sz="1250" dirty="0">
                <a:solidFill>
                  <a:srgbClr val="007F00"/>
                </a:solidFill>
                <a:latin typeface="Arial MT"/>
                <a:cs typeface="Arial MT"/>
              </a:rPr>
              <a:t>Operators</a:t>
            </a:r>
            <a:r>
              <a:rPr sz="1250" spc="105" dirty="0">
                <a:solidFill>
                  <a:srgbClr val="007F00"/>
                </a:solidFill>
                <a:latin typeface="Arial MT"/>
                <a:cs typeface="Arial MT"/>
              </a:rPr>
              <a:t> </a:t>
            </a:r>
            <a:r>
              <a:rPr sz="1250" spc="5" dirty="0">
                <a:latin typeface="Arial MT"/>
                <a:cs typeface="Arial MT"/>
              </a:rPr>
              <a:t>-</a:t>
            </a:r>
            <a:r>
              <a:rPr sz="1250" spc="30" dirty="0">
                <a:latin typeface="Arial MT"/>
                <a:cs typeface="Arial MT"/>
              </a:rPr>
              <a:t> </a:t>
            </a:r>
            <a:r>
              <a:rPr sz="1250" spc="5" dirty="0">
                <a:latin typeface="Arial MT"/>
                <a:cs typeface="Arial MT"/>
              </a:rPr>
              <a:t>Arithmetic</a:t>
            </a:r>
            <a:r>
              <a:rPr sz="1250" spc="15" dirty="0">
                <a:latin typeface="Arial MT"/>
                <a:cs typeface="Arial MT"/>
              </a:rPr>
              <a:t> </a:t>
            </a:r>
            <a:r>
              <a:rPr sz="1250" dirty="0">
                <a:latin typeface="Arial MT"/>
                <a:cs typeface="Arial MT"/>
              </a:rPr>
              <a:t>Operators,</a:t>
            </a:r>
            <a:r>
              <a:rPr sz="1250" spc="100" dirty="0">
                <a:latin typeface="Arial MT"/>
                <a:cs typeface="Arial MT"/>
              </a:rPr>
              <a:t> </a:t>
            </a:r>
            <a:r>
              <a:rPr sz="1250" spc="5" dirty="0">
                <a:latin typeface="Arial MT"/>
                <a:cs typeface="Arial MT"/>
              </a:rPr>
              <a:t>Bitwise</a:t>
            </a:r>
            <a:r>
              <a:rPr sz="1250" spc="25" dirty="0">
                <a:latin typeface="Arial MT"/>
                <a:cs typeface="Arial MT"/>
              </a:rPr>
              <a:t> </a:t>
            </a:r>
            <a:r>
              <a:rPr sz="1250" dirty="0">
                <a:latin typeface="Arial MT"/>
                <a:cs typeface="Arial MT"/>
              </a:rPr>
              <a:t>Operators,</a:t>
            </a:r>
            <a:r>
              <a:rPr sz="1250" spc="100" dirty="0">
                <a:latin typeface="Arial MT"/>
                <a:cs typeface="Arial MT"/>
              </a:rPr>
              <a:t> </a:t>
            </a:r>
            <a:r>
              <a:rPr sz="1250" spc="-5" dirty="0">
                <a:latin typeface="Arial MT"/>
                <a:cs typeface="Arial MT"/>
              </a:rPr>
              <a:t>Relational</a:t>
            </a:r>
            <a:r>
              <a:rPr sz="1250" spc="180" dirty="0">
                <a:latin typeface="Arial MT"/>
                <a:cs typeface="Arial MT"/>
              </a:rPr>
              <a:t> </a:t>
            </a:r>
            <a:r>
              <a:rPr sz="1250" dirty="0">
                <a:latin typeface="Arial MT"/>
                <a:cs typeface="Arial MT"/>
              </a:rPr>
              <a:t>Operators, </a:t>
            </a:r>
            <a:r>
              <a:rPr sz="1250" spc="-335" dirty="0">
                <a:latin typeface="Arial MT"/>
                <a:cs typeface="Arial MT"/>
              </a:rPr>
              <a:t> </a:t>
            </a:r>
            <a:r>
              <a:rPr sz="1250" spc="-10" dirty="0">
                <a:latin typeface="Arial MT"/>
                <a:cs typeface="Arial MT"/>
              </a:rPr>
              <a:t>Boolean</a:t>
            </a:r>
            <a:r>
              <a:rPr sz="1250" spc="-5" dirty="0">
                <a:latin typeface="Arial MT"/>
                <a:cs typeface="Arial MT"/>
              </a:rPr>
              <a:t> Logical</a:t>
            </a:r>
            <a:r>
              <a:rPr sz="1250" dirty="0">
                <a:latin typeface="Arial MT"/>
                <a:cs typeface="Arial MT"/>
              </a:rPr>
              <a:t> Operators, </a:t>
            </a:r>
            <a:r>
              <a:rPr sz="1250" spc="5" dirty="0">
                <a:latin typeface="Arial MT"/>
                <a:cs typeface="Arial MT"/>
              </a:rPr>
              <a:t>Assignment </a:t>
            </a:r>
            <a:r>
              <a:rPr sz="1250" dirty="0">
                <a:latin typeface="Arial MT"/>
                <a:cs typeface="Arial MT"/>
              </a:rPr>
              <a:t>Operator, </a:t>
            </a:r>
            <a:r>
              <a:rPr sz="1250" spc="-5" dirty="0">
                <a:latin typeface="Arial MT"/>
                <a:cs typeface="Arial MT"/>
              </a:rPr>
              <a:t>Conditional</a:t>
            </a:r>
            <a:r>
              <a:rPr sz="1250" dirty="0">
                <a:latin typeface="Arial MT"/>
                <a:cs typeface="Arial MT"/>
              </a:rPr>
              <a:t> (Ternary) </a:t>
            </a:r>
            <a:r>
              <a:rPr sz="1250" spc="5" dirty="0">
                <a:latin typeface="Arial MT"/>
                <a:cs typeface="Arial MT"/>
              </a:rPr>
              <a:t> </a:t>
            </a:r>
            <a:r>
              <a:rPr sz="1250" dirty="0">
                <a:latin typeface="Arial MT"/>
                <a:cs typeface="Arial MT"/>
              </a:rPr>
              <a:t>Operator,</a:t>
            </a:r>
            <a:r>
              <a:rPr sz="1250" spc="85" dirty="0">
                <a:latin typeface="Arial MT"/>
                <a:cs typeface="Arial MT"/>
              </a:rPr>
              <a:t> </a:t>
            </a:r>
            <a:r>
              <a:rPr sz="1250" spc="-5" dirty="0">
                <a:latin typeface="Arial MT"/>
                <a:cs typeface="Arial MT"/>
              </a:rPr>
              <a:t>Operator</a:t>
            </a:r>
            <a:r>
              <a:rPr sz="1250" spc="100" dirty="0">
                <a:latin typeface="Arial MT"/>
                <a:cs typeface="Arial MT"/>
              </a:rPr>
              <a:t> </a:t>
            </a:r>
            <a:r>
              <a:rPr sz="1250" spc="-5" dirty="0">
                <a:latin typeface="Arial MT"/>
                <a:cs typeface="Arial MT"/>
              </a:rPr>
              <a:t>Precedence.</a:t>
            </a:r>
            <a:endParaRPr sz="1250">
              <a:latin typeface="Arial MT"/>
              <a:cs typeface="Arial MT"/>
            </a:endParaRPr>
          </a:p>
          <a:p>
            <a:pPr marL="12700" marR="191770">
              <a:lnSpc>
                <a:spcPct val="103899"/>
              </a:lnSpc>
              <a:spcBef>
                <a:spcPts val="280"/>
              </a:spcBef>
              <a:buSzPct val="92000"/>
              <a:buFont typeface="Wingdings"/>
              <a:buChar char=""/>
              <a:tabLst>
                <a:tab pos="144780" algn="l"/>
              </a:tabLst>
            </a:pPr>
            <a:r>
              <a:rPr sz="1250" dirty="0">
                <a:solidFill>
                  <a:srgbClr val="FF32CC"/>
                </a:solidFill>
                <a:latin typeface="Arial MT"/>
                <a:cs typeface="Arial MT"/>
              </a:rPr>
              <a:t>Control</a:t>
            </a:r>
            <a:r>
              <a:rPr sz="1250" spc="60" dirty="0">
                <a:solidFill>
                  <a:srgbClr val="FF32CC"/>
                </a:solidFill>
                <a:latin typeface="Arial MT"/>
                <a:cs typeface="Arial MT"/>
              </a:rPr>
              <a:t> </a:t>
            </a:r>
            <a:r>
              <a:rPr sz="1250" dirty="0">
                <a:solidFill>
                  <a:srgbClr val="FF32CC"/>
                </a:solidFill>
                <a:latin typeface="Arial MT"/>
                <a:cs typeface="Arial MT"/>
              </a:rPr>
              <a:t>Statements</a:t>
            </a:r>
            <a:r>
              <a:rPr sz="1250" spc="125" dirty="0">
                <a:solidFill>
                  <a:srgbClr val="FF32CC"/>
                </a:solidFill>
                <a:latin typeface="Arial MT"/>
                <a:cs typeface="Arial MT"/>
              </a:rPr>
              <a:t> </a:t>
            </a:r>
            <a:r>
              <a:rPr sz="1250" spc="5" dirty="0">
                <a:latin typeface="Arial MT"/>
                <a:cs typeface="Arial MT"/>
              </a:rPr>
              <a:t>-</a:t>
            </a:r>
            <a:r>
              <a:rPr sz="1250" spc="-10" dirty="0">
                <a:latin typeface="Arial MT"/>
                <a:cs typeface="Arial MT"/>
              </a:rPr>
              <a:t> </a:t>
            </a:r>
            <a:r>
              <a:rPr sz="1250" spc="-5" dirty="0">
                <a:latin typeface="Arial MT"/>
                <a:cs typeface="Arial MT"/>
              </a:rPr>
              <a:t>Selection</a:t>
            </a:r>
            <a:r>
              <a:rPr sz="1250" spc="155" dirty="0">
                <a:latin typeface="Arial MT"/>
                <a:cs typeface="Arial MT"/>
              </a:rPr>
              <a:t> </a:t>
            </a:r>
            <a:r>
              <a:rPr sz="1250" dirty="0">
                <a:latin typeface="Arial MT"/>
                <a:cs typeface="Arial MT"/>
              </a:rPr>
              <a:t>Statements,</a:t>
            </a:r>
            <a:r>
              <a:rPr sz="1250" spc="65" dirty="0">
                <a:latin typeface="Arial MT"/>
                <a:cs typeface="Arial MT"/>
              </a:rPr>
              <a:t> </a:t>
            </a:r>
            <a:r>
              <a:rPr sz="1250" dirty="0">
                <a:latin typeface="Arial MT"/>
                <a:cs typeface="Arial MT"/>
              </a:rPr>
              <a:t>Iteration</a:t>
            </a:r>
            <a:r>
              <a:rPr sz="1250" spc="114" dirty="0">
                <a:latin typeface="Arial MT"/>
                <a:cs typeface="Arial MT"/>
              </a:rPr>
              <a:t> </a:t>
            </a:r>
            <a:r>
              <a:rPr sz="1250" dirty="0">
                <a:latin typeface="Arial MT"/>
                <a:cs typeface="Arial MT"/>
              </a:rPr>
              <a:t>Statements</a:t>
            </a:r>
            <a:r>
              <a:rPr sz="1250" spc="105" dirty="0">
                <a:latin typeface="Arial MT"/>
                <a:cs typeface="Arial MT"/>
              </a:rPr>
              <a:t> </a:t>
            </a:r>
            <a:r>
              <a:rPr sz="1250" dirty="0">
                <a:latin typeface="Arial MT"/>
                <a:cs typeface="Arial MT"/>
              </a:rPr>
              <a:t>and</a:t>
            </a:r>
            <a:r>
              <a:rPr sz="1250" spc="30" dirty="0">
                <a:latin typeface="Arial MT"/>
                <a:cs typeface="Arial MT"/>
              </a:rPr>
              <a:t> </a:t>
            </a:r>
            <a:r>
              <a:rPr sz="1250" spc="20" dirty="0">
                <a:latin typeface="Arial MT"/>
                <a:cs typeface="Arial MT"/>
              </a:rPr>
              <a:t>Jump </a:t>
            </a:r>
            <a:r>
              <a:rPr sz="1250" spc="-330" dirty="0">
                <a:latin typeface="Arial MT"/>
                <a:cs typeface="Arial MT"/>
              </a:rPr>
              <a:t> </a:t>
            </a:r>
            <a:r>
              <a:rPr sz="1250" dirty="0">
                <a:latin typeface="Arial MT"/>
                <a:cs typeface="Arial MT"/>
              </a:rPr>
              <a:t>Statements.</a:t>
            </a:r>
            <a:endParaRPr sz="1250">
              <a:latin typeface="Arial MT"/>
              <a:cs typeface="Arial MT"/>
            </a:endParaRPr>
          </a:p>
          <a:p>
            <a:pPr marL="12700" marR="299720">
              <a:lnSpc>
                <a:spcPct val="102600"/>
              </a:lnSpc>
              <a:spcBef>
                <a:spcPts val="300"/>
              </a:spcBef>
              <a:buSzPct val="92000"/>
              <a:buFont typeface="Wingdings"/>
              <a:buChar char=""/>
              <a:tabLst>
                <a:tab pos="144780" algn="l"/>
              </a:tabLst>
            </a:pPr>
            <a:r>
              <a:rPr sz="1250" dirty="0">
                <a:solidFill>
                  <a:srgbClr val="006FC0"/>
                </a:solidFill>
                <a:latin typeface="Arial MT"/>
                <a:cs typeface="Arial MT"/>
              </a:rPr>
              <a:t>Object</a:t>
            </a:r>
            <a:r>
              <a:rPr sz="1250" spc="55" dirty="0">
                <a:solidFill>
                  <a:srgbClr val="006FC0"/>
                </a:solidFill>
                <a:latin typeface="Arial MT"/>
                <a:cs typeface="Arial MT"/>
              </a:rPr>
              <a:t> </a:t>
            </a:r>
            <a:r>
              <a:rPr sz="1250" spc="5" dirty="0">
                <a:solidFill>
                  <a:srgbClr val="006FC0"/>
                </a:solidFill>
                <a:latin typeface="Arial MT"/>
                <a:cs typeface="Arial MT"/>
              </a:rPr>
              <a:t>Oriented</a:t>
            </a:r>
            <a:r>
              <a:rPr sz="1250" spc="60" dirty="0">
                <a:solidFill>
                  <a:srgbClr val="006FC0"/>
                </a:solidFill>
                <a:latin typeface="Arial MT"/>
                <a:cs typeface="Arial MT"/>
              </a:rPr>
              <a:t> </a:t>
            </a:r>
            <a:r>
              <a:rPr sz="1250" spc="5" dirty="0">
                <a:solidFill>
                  <a:srgbClr val="006FC0"/>
                </a:solidFill>
                <a:latin typeface="Arial MT"/>
                <a:cs typeface="Arial MT"/>
              </a:rPr>
              <a:t>Programming</a:t>
            </a:r>
            <a:r>
              <a:rPr sz="1250" spc="60" dirty="0">
                <a:solidFill>
                  <a:srgbClr val="006FC0"/>
                </a:solidFill>
                <a:latin typeface="Arial MT"/>
                <a:cs typeface="Arial MT"/>
              </a:rPr>
              <a:t> </a:t>
            </a:r>
            <a:r>
              <a:rPr sz="1250" spc="5" dirty="0">
                <a:solidFill>
                  <a:srgbClr val="006FC0"/>
                </a:solidFill>
                <a:latin typeface="Arial MT"/>
                <a:cs typeface="Arial MT"/>
              </a:rPr>
              <a:t>in</a:t>
            </a:r>
            <a:r>
              <a:rPr sz="1250" spc="15" dirty="0">
                <a:solidFill>
                  <a:srgbClr val="006FC0"/>
                </a:solidFill>
                <a:latin typeface="Arial MT"/>
                <a:cs typeface="Arial MT"/>
              </a:rPr>
              <a:t> </a:t>
            </a:r>
            <a:r>
              <a:rPr sz="1250" spc="-5" dirty="0">
                <a:solidFill>
                  <a:srgbClr val="006FC0"/>
                </a:solidFill>
                <a:latin typeface="Arial MT"/>
                <a:cs typeface="Arial MT"/>
              </a:rPr>
              <a:t>Java</a:t>
            </a:r>
            <a:r>
              <a:rPr sz="1250" spc="90" dirty="0">
                <a:solidFill>
                  <a:srgbClr val="006FC0"/>
                </a:solidFill>
                <a:latin typeface="Arial MT"/>
                <a:cs typeface="Arial MT"/>
              </a:rPr>
              <a:t> </a:t>
            </a:r>
            <a:r>
              <a:rPr sz="1250" spc="5" dirty="0">
                <a:latin typeface="Arial MT"/>
                <a:cs typeface="Arial MT"/>
              </a:rPr>
              <a:t>-</a:t>
            </a:r>
            <a:r>
              <a:rPr sz="1250" spc="25" dirty="0">
                <a:latin typeface="Arial MT"/>
                <a:cs typeface="Arial MT"/>
              </a:rPr>
              <a:t> </a:t>
            </a:r>
            <a:r>
              <a:rPr sz="1250" dirty="0">
                <a:latin typeface="Arial MT"/>
                <a:cs typeface="Arial MT"/>
              </a:rPr>
              <a:t>Class</a:t>
            </a:r>
            <a:r>
              <a:rPr sz="1250" spc="50" dirty="0">
                <a:latin typeface="Arial MT"/>
                <a:cs typeface="Arial MT"/>
              </a:rPr>
              <a:t> </a:t>
            </a:r>
            <a:r>
              <a:rPr sz="1250" spc="5" dirty="0">
                <a:latin typeface="Arial MT"/>
                <a:cs typeface="Arial MT"/>
              </a:rPr>
              <a:t>Fundamentals,</a:t>
            </a:r>
            <a:r>
              <a:rPr sz="1250" spc="95" dirty="0">
                <a:latin typeface="Arial MT"/>
                <a:cs typeface="Arial MT"/>
              </a:rPr>
              <a:t> </a:t>
            </a:r>
            <a:r>
              <a:rPr sz="1250" dirty="0">
                <a:latin typeface="Arial MT"/>
                <a:cs typeface="Arial MT"/>
              </a:rPr>
              <a:t>Declaring </a:t>
            </a:r>
            <a:r>
              <a:rPr sz="1250" spc="5" dirty="0">
                <a:latin typeface="Arial MT"/>
                <a:cs typeface="Arial MT"/>
              </a:rPr>
              <a:t> </a:t>
            </a:r>
            <a:r>
              <a:rPr sz="1250" dirty="0">
                <a:latin typeface="Arial MT"/>
                <a:cs typeface="Arial MT"/>
              </a:rPr>
              <a:t>Objects,</a:t>
            </a:r>
            <a:r>
              <a:rPr sz="1250" spc="60" dirty="0">
                <a:latin typeface="Arial MT"/>
                <a:cs typeface="Arial MT"/>
              </a:rPr>
              <a:t> </a:t>
            </a:r>
            <a:r>
              <a:rPr sz="1250" dirty="0">
                <a:latin typeface="Arial MT"/>
                <a:cs typeface="Arial MT"/>
              </a:rPr>
              <a:t>Object</a:t>
            </a:r>
            <a:r>
              <a:rPr sz="1250" spc="60" dirty="0">
                <a:latin typeface="Arial MT"/>
                <a:cs typeface="Arial MT"/>
              </a:rPr>
              <a:t> </a:t>
            </a:r>
            <a:r>
              <a:rPr sz="1250" dirty="0">
                <a:latin typeface="Arial MT"/>
                <a:cs typeface="Arial MT"/>
              </a:rPr>
              <a:t>Reference,</a:t>
            </a:r>
            <a:r>
              <a:rPr sz="1250" spc="100" dirty="0">
                <a:latin typeface="Arial MT"/>
                <a:cs typeface="Arial MT"/>
              </a:rPr>
              <a:t> </a:t>
            </a:r>
            <a:r>
              <a:rPr sz="1250" spc="5" dirty="0">
                <a:latin typeface="Arial MT"/>
                <a:cs typeface="Arial MT"/>
              </a:rPr>
              <a:t>Introduction</a:t>
            </a:r>
            <a:r>
              <a:rPr sz="1250" spc="65" dirty="0">
                <a:latin typeface="Arial MT"/>
                <a:cs typeface="Arial MT"/>
              </a:rPr>
              <a:t> </a:t>
            </a:r>
            <a:r>
              <a:rPr sz="1250" spc="10" dirty="0">
                <a:latin typeface="Arial MT"/>
                <a:cs typeface="Arial MT"/>
              </a:rPr>
              <a:t>to</a:t>
            </a:r>
            <a:r>
              <a:rPr sz="1250" spc="30" dirty="0">
                <a:latin typeface="Arial MT"/>
                <a:cs typeface="Arial MT"/>
              </a:rPr>
              <a:t> </a:t>
            </a:r>
            <a:r>
              <a:rPr sz="1250" dirty="0">
                <a:latin typeface="Arial MT"/>
                <a:cs typeface="Arial MT"/>
              </a:rPr>
              <a:t>Methods,</a:t>
            </a:r>
            <a:r>
              <a:rPr sz="1250" spc="55" dirty="0">
                <a:latin typeface="Arial MT"/>
                <a:cs typeface="Arial MT"/>
              </a:rPr>
              <a:t> </a:t>
            </a:r>
            <a:r>
              <a:rPr sz="1250" spc="5" dirty="0">
                <a:latin typeface="Arial MT"/>
                <a:cs typeface="Arial MT"/>
              </a:rPr>
              <a:t>Constructors,</a:t>
            </a:r>
            <a:r>
              <a:rPr sz="1250" spc="70" dirty="0">
                <a:latin typeface="Arial MT"/>
                <a:cs typeface="Arial MT"/>
              </a:rPr>
              <a:t> </a:t>
            </a:r>
            <a:r>
              <a:rPr sz="1250" b="1" i="1" spc="15" dirty="0">
                <a:latin typeface="Arial"/>
                <a:cs typeface="Arial"/>
              </a:rPr>
              <a:t>this </a:t>
            </a:r>
            <a:r>
              <a:rPr sz="1250" b="1" i="1" spc="20" dirty="0">
                <a:latin typeface="Arial"/>
                <a:cs typeface="Arial"/>
              </a:rPr>
              <a:t> </a:t>
            </a:r>
            <a:r>
              <a:rPr sz="1250" b="1" i="1" spc="15" dirty="0">
                <a:latin typeface="Arial"/>
                <a:cs typeface="Arial"/>
              </a:rPr>
              <a:t>Keyword,</a:t>
            </a:r>
            <a:r>
              <a:rPr sz="1250" b="1" i="1" spc="-20" dirty="0">
                <a:latin typeface="Arial"/>
                <a:cs typeface="Arial"/>
              </a:rPr>
              <a:t> </a:t>
            </a:r>
            <a:r>
              <a:rPr sz="1250" b="1" i="1" spc="25" dirty="0">
                <a:latin typeface="Arial"/>
                <a:cs typeface="Arial"/>
              </a:rPr>
              <a:t>Method</a:t>
            </a:r>
            <a:r>
              <a:rPr sz="1250" b="1" i="1" spc="-95" dirty="0">
                <a:latin typeface="Arial"/>
                <a:cs typeface="Arial"/>
              </a:rPr>
              <a:t> </a:t>
            </a:r>
            <a:r>
              <a:rPr sz="1250" b="1" i="1" spc="15" dirty="0">
                <a:latin typeface="Arial"/>
                <a:cs typeface="Arial"/>
              </a:rPr>
              <a:t>Overloading,</a:t>
            </a:r>
            <a:r>
              <a:rPr sz="1250" b="1" i="1" spc="-60" dirty="0">
                <a:latin typeface="Arial"/>
                <a:cs typeface="Arial"/>
              </a:rPr>
              <a:t> </a:t>
            </a:r>
            <a:r>
              <a:rPr sz="1250" b="1" i="1" spc="15" dirty="0">
                <a:latin typeface="Arial"/>
                <a:cs typeface="Arial"/>
              </a:rPr>
              <a:t>Using</a:t>
            </a:r>
            <a:r>
              <a:rPr sz="1250" b="1" i="1" spc="40" dirty="0">
                <a:latin typeface="Arial"/>
                <a:cs typeface="Arial"/>
              </a:rPr>
              <a:t> </a:t>
            </a:r>
            <a:r>
              <a:rPr sz="1250" dirty="0">
                <a:latin typeface="Arial MT"/>
                <a:cs typeface="Arial MT"/>
              </a:rPr>
              <a:t>Objects</a:t>
            </a:r>
            <a:r>
              <a:rPr sz="1250" spc="55" dirty="0">
                <a:latin typeface="Arial MT"/>
                <a:cs typeface="Arial MT"/>
              </a:rPr>
              <a:t> </a:t>
            </a:r>
            <a:r>
              <a:rPr sz="1250" spc="-5" dirty="0">
                <a:latin typeface="Arial MT"/>
                <a:cs typeface="Arial MT"/>
              </a:rPr>
              <a:t>as</a:t>
            </a:r>
            <a:r>
              <a:rPr sz="1250" spc="50" dirty="0">
                <a:latin typeface="Arial MT"/>
                <a:cs typeface="Arial MT"/>
              </a:rPr>
              <a:t> </a:t>
            </a:r>
            <a:r>
              <a:rPr sz="1250" dirty="0">
                <a:latin typeface="Arial MT"/>
                <a:cs typeface="Arial MT"/>
              </a:rPr>
              <a:t>Parameters,</a:t>
            </a:r>
            <a:r>
              <a:rPr sz="1250" spc="100" dirty="0">
                <a:latin typeface="Arial MT"/>
                <a:cs typeface="Arial MT"/>
              </a:rPr>
              <a:t> </a:t>
            </a:r>
            <a:r>
              <a:rPr sz="1250" spc="5" dirty="0">
                <a:latin typeface="Arial MT"/>
                <a:cs typeface="Arial MT"/>
              </a:rPr>
              <a:t>Returning </a:t>
            </a:r>
            <a:r>
              <a:rPr sz="1250" spc="-335" dirty="0">
                <a:latin typeface="Arial MT"/>
                <a:cs typeface="Arial MT"/>
              </a:rPr>
              <a:t> </a:t>
            </a:r>
            <a:r>
              <a:rPr sz="1250" dirty="0">
                <a:latin typeface="Arial MT"/>
                <a:cs typeface="Arial MT"/>
              </a:rPr>
              <a:t>Objects,</a:t>
            </a:r>
            <a:r>
              <a:rPr sz="1250" spc="65" dirty="0">
                <a:latin typeface="Arial MT"/>
                <a:cs typeface="Arial MT"/>
              </a:rPr>
              <a:t> </a:t>
            </a:r>
            <a:r>
              <a:rPr sz="1250" spc="5" dirty="0">
                <a:latin typeface="Arial MT"/>
                <a:cs typeface="Arial MT"/>
              </a:rPr>
              <a:t>Recursion,</a:t>
            </a:r>
            <a:r>
              <a:rPr sz="1250" spc="60" dirty="0">
                <a:latin typeface="Arial MT"/>
                <a:cs typeface="Arial MT"/>
              </a:rPr>
              <a:t> </a:t>
            </a:r>
            <a:r>
              <a:rPr sz="1250" spc="5" dirty="0">
                <a:latin typeface="Arial MT"/>
                <a:cs typeface="Arial MT"/>
              </a:rPr>
              <a:t>Access</a:t>
            </a:r>
            <a:r>
              <a:rPr sz="1250" spc="55" dirty="0">
                <a:latin typeface="Arial MT"/>
                <a:cs typeface="Arial MT"/>
              </a:rPr>
              <a:t> </a:t>
            </a:r>
            <a:r>
              <a:rPr sz="1250" dirty="0">
                <a:latin typeface="Arial MT"/>
                <a:cs typeface="Arial MT"/>
              </a:rPr>
              <a:t>Control,</a:t>
            </a:r>
            <a:r>
              <a:rPr sz="1250" spc="60" dirty="0">
                <a:latin typeface="Arial MT"/>
                <a:cs typeface="Arial MT"/>
              </a:rPr>
              <a:t> </a:t>
            </a:r>
            <a:r>
              <a:rPr sz="1250" dirty="0">
                <a:latin typeface="Arial MT"/>
                <a:cs typeface="Arial MT"/>
              </a:rPr>
              <a:t>Static</a:t>
            </a:r>
            <a:r>
              <a:rPr sz="1250" spc="55" dirty="0">
                <a:latin typeface="Arial MT"/>
                <a:cs typeface="Arial MT"/>
              </a:rPr>
              <a:t> </a:t>
            </a:r>
            <a:r>
              <a:rPr sz="1250" spc="5" dirty="0">
                <a:latin typeface="Arial MT"/>
                <a:cs typeface="Arial MT"/>
              </a:rPr>
              <a:t>Members,</a:t>
            </a:r>
            <a:r>
              <a:rPr sz="1250" spc="60" dirty="0">
                <a:latin typeface="Arial MT"/>
                <a:cs typeface="Arial MT"/>
              </a:rPr>
              <a:t> </a:t>
            </a:r>
            <a:r>
              <a:rPr sz="1250" spc="5" dirty="0">
                <a:latin typeface="Arial MT"/>
                <a:cs typeface="Arial MT"/>
              </a:rPr>
              <a:t>Final</a:t>
            </a:r>
            <a:r>
              <a:rPr sz="1250" spc="10" dirty="0">
                <a:latin typeface="Arial MT"/>
                <a:cs typeface="Arial MT"/>
              </a:rPr>
              <a:t> </a:t>
            </a:r>
            <a:r>
              <a:rPr sz="1250" spc="-5" dirty="0">
                <a:latin typeface="Arial MT"/>
                <a:cs typeface="Arial MT"/>
              </a:rPr>
              <a:t>Variables,</a:t>
            </a:r>
            <a:r>
              <a:rPr sz="1250" spc="190" dirty="0">
                <a:latin typeface="Arial MT"/>
                <a:cs typeface="Arial MT"/>
              </a:rPr>
              <a:t> </a:t>
            </a:r>
            <a:r>
              <a:rPr sz="1250" spc="5" dirty="0">
                <a:latin typeface="Arial MT"/>
                <a:cs typeface="Arial MT"/>
              </a:rPr>
              <a:t>Inner </a:t>
            </a:r>
            <a:r>
              <a:rPr sz="1250" spc="-335" dirty="0">
                <a:latin typeface="Arial MT"/>
                <a:cs typeface="Arial MT"/>
              </a:rPr>
              <a:t> </a:t>
            </a:r>
            <a:r>
              <a:rPr sz="1250" dirty="0">
                <a:latin typeface="Arial MT"/>
                <a:cs typeface="Arial MT"/>
              </a:rPr>
              <a:t>Classes,</a:t>
            </a:r>
            <a:r>
              <a:rPr sz="1250" spc="90" dirty="0">
                <a:latin typeface="Arial MT"/>
                <a:cs typeface="Arial MT"/>
              </a:rPr>
              <a:t> </a:t>
            </a:r>
            <a:r>
              <a:rPr sz="1250" spc="10" dirty="0">
                <a:latin typeface="Arial MT"/>
                <a:cs typeface="Arial MT"/>
              </a:rPr>
              <a:t>Command-Line</a:t>
            </a:r>
            <a:r>
              <a:rPr sz="1250" spc="55" dirty="0">
                <a:latin typeface="Arial MT"/>
                <a:cs typeface="Arial MT"/>
              </a:rPr>
              <a:t> </a:t>
            </a:r>
            <a:r>
              <a:rPr sz="1250" spc="5" dirty="0">
                <a:latin typeface="Arial MT"/>
                <a:cs typeface="Arial MT"/>
              </a:rPr>
              <a:t>Arguments,</a:t>
            </a:r>
            <a:r>
              <a:rPr sz="1250" spc="15" dirty="0">
                <a:latin typeface="Arial MT"/>
                <a:cs typeface="Arial MT"/>
              </a:rPr>
              <a:t> </a:t>
            </a:r>
            <a:r>
              <a:rPr sz="1250" spc="-5" dirty="0">
                <a:latin typeface="Arial MT"/>
                <a:cs typeface="Arial MT"/>
              </a:rPr>
              <a:t>Variable</a:t>
            </a:r>
            <a:r>
              <a:rPr sz="1250" spc="130" dirty="0">
                <a:latin typeface="Arial MT"/>
                <a:cs typeface="Arial MT"/>
              </a:rPr>
              <a:t> </a:t>
            </a:r>
            <a:r>
              <a:rPr sz="1250" dirty="0">
                <a:latin typeface="Arial MT"/>
                <a:cs typeface="Arial MT"/>
              </a:rPr>
              <a:t>Length</a:t>
            </a:r>
            <a:r>
              <a:rPr sz="1250" spc="20" dirty="0">
                <a:latin typeface="Arial MT"/>
                <a:cs typeface="Arial MT"/>
              </a:rPr>
              <a:t> </a:t>
            </a:r>
            <a:r>
              <a:rPr sz="1250" spc="5" dirty="0">
                <a:latin typeface="Arial MT"/>
                <a:cs typeface="Arial MT"/>
              </a:rPr>
              <a:t>Arguments.</a:t>
            </a:r>
            <a:endParaRPr sz="1250">
              <a:latin typeface="Arial MT"/>
              <a:cs typeface="Arial MT"/>
            </a:endParaRPr>
          </a:p>
        </p:txBody>
      </p:sp>
      <p:sp>
        <p:nvSpPr>
          <p:cNvPr id="9" name="object 9"/>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E90D9209-B980-D6C7-2F3D-5EAAF6F2AB89}"/>
              </a:ext>
            </a:extLst>
          </p:cNvPr>
          <p:cNvSpPr>
            <a:spLocks noGrp="1"/>
          </p:cNvSpPr>
          <p:nvPr>
            <p:ph type="title" idx="4294967295"/>
          </p:nvPr>
        </p:nvSpPr>
        <p:spPr>
          <a:xfrm>
            <a:off x="0" y="49213"/>
            <a:ext cx="4430713" cy="369332"/>
          </a:xfrm>
        </p:spPr>
        <p:txBody>
          <a:bodyPr/>
          <a:lstStyle/>
          <a:p>
            <a:pPr algn="ctr" eaLnBrk="1" hangingPunct="1"/>
            <a:r>
              <a:rPr lang="en-US" altLang="en-US" sz="2400" b="1" dirty="0">
                <a:solidFill>
                  <a:srgbClr val="FF0000"/>
                </a:solidFill>
                <a:latin typeface="Times New Roman" panose="02020603050405020304" pitchFamily="18" charset="0"/>
                <a:cs typeface="Times New Roman" panose="02020603050405020304" pitchFamily="18" charset="0"/>
              </a:rPr>
              <a:t>      Data Types</a:t>
            </a:r>
          </a:p>
        </p:txBody>
      </p:sp>
      <p:sp>
        <p:nvSpPr>
          <p:cNvPr id="3" name="Content Placeholder 2">
            <a:extLst>
              <a:ext uri="{FF2B5EF4-FFF2-40B4-BE49-F238E27FC236}">
                <a16:creationId xmlns:a16="http://schemas.microsoft.com/office/drawing/2014/main" id="{461E9BFE-2F1D-768D-4A86-CAC0ADC184E8}"/>
              </a:ext>
            </a:extLst>
          </p:cNvPr>
          <p:cNvSpPr>
            <a:spLocks noGrp="1"/>
          </p:cNvSpPr>
          <p:nvPr>
            <p:ph sz="quarter" idx="4294967295"/>
          </p:nvPr>
        </p:nvSpPr>
        <p:spPr>
          <a:xfrm>
            <a:off x="203201" y="546100"/>
            <a:ext cx="6299200" cy="3317875"/>
          </a:xfrm>
        </p:spPr>
        <p:txBody>
          <a:bodyPr>
            <a:normAutofit/>
          </a:bodyPr>
          <a:lstStyle/>
          <a:p>
            <a:pPr marL="194945" marR="5080" indent="-182880" algn="just">
              <a:lnSpc>
                <a:spcPct val="101899"/>
              </a:lnSpc>
              <a:spcBef>
                <a:spcPts val="360"/>
              </a:spcBef>
              <a:buFontTx/>
              <a:buChar char="•"/>
              <a:tabLst>
                <a:tab pos="195580" algn="l"/>
              </a:tabLst>
            </a:pPr>
            <a:r>
              <a:rPr lang="en-US" sz="2400" dirty="0">
                <a:latin typeface="Times New Roman" panose="02020603050405020304" pitchFamily="18" charset="0"/>
                <a:cs typeface="Times New Roman" panose="02020603050405020304" pitchFamily="18" charset="0"/>
              </a:rPr>
              <a:t>Data type specify size and type of value that can be stored. </a:t>
            </a:r>
          </a:p>
          <a:p>
            <a:pPr marL="194945" indent="-182880" algn="just">
              <a:lnSpc>
                <a:spcPct val="100000"/>
              </a:lnSpc>
              <a:spcBef>
                <a:spcPts val="395"/>
              </a:spcBef>
              <a:buChar char="•"/>
              <a:tabLst>
                <a:tab pos="195580" algn="l"/>
              </a:tabLst>
            </a:pPr>
            <a:r>
              <a:rPr lang="en-US" sz="2400" dirty="0">
                <a:latin typeface="Times New Roman" panose="02020603050405020304" pitchFamily="18" charset="0"/>
                <a:cs typeface="Times New Roman" panose="02020603050405020304" pitchFamily="18" charset="0"/>
              </a:rPr>
              <a:t>There</a:t>
            </a:r>
            <a:r>
              <a:rPr lang="en-US" sz="2400" spc="-3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are</a:t>
            </a:r>
            <a:r>
              <a:rPr lang="en-US" sz="2400" spc="-35" dirty="0">
                <a:latin typeface="Times New Roman" panose="02020603050405020304" pitchFamily="18" charset="0"/>
                <a:cs typeface="Times New Roman" panose="02020603050405020304" pitchFamily="18" charset="0"/>
              </a:rPr>
              <a:t> </a:t>
            </a:r>
            <a:r>
              <a:rPr lang="en-US" sz="2400" spc="-20" dirty="0">
                <a:latin typeface="Times New Roman" panose="02020603050405020304" pitchFamily="18" charset="0"/>
                <a:cs typeface="Times New Roman" panose="02020603050405020304" pitchFamily="18" charset="0"/>
              </a:rPr>
              <a:t>two</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types</a:t>
            </a:r>
            <a:r>
              <a:rPr lang="en-US" sz="2400" spc="-2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of</a:t>
            </a:r>
            <a:r>
              <a:rPr lang="en-US" sz="2400" spc="-3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data</a:t>
            </a:r>
            <a:r>
              <a:rPr lang="en-US" sz="2400" spc="-3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types</a:t>
            </a:r>
            <a:r>
              <a:rPr lang="en-US" sz="2400" spc="-2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in</a:t>
            </a:r>
            <a:r>
              <a:rPr lang="en-US" sz="2400" spc="-35"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Java:</a:t>
            </a:r>
            <a:endParaRPr lang="en-US" sz="2400" dirty="0">
              <a:latin typeface="Times New Roman" panose="02020603050405020304" pitchFamily="18" charset="0"/>
              <a:cs typeface="Times New Roman" panose="02020603050405020304" pitchFamily="18" charset="0"/>
            </a:endParaRPr>
          </a:p>
          <a:p>
            <a:pPr marL="407670" lvl="1" indent="-152400" algn="just">
              <a:lnSpc>
                <a:spcPct val="100000"/>
              </a:lnSpc>
              <a:spcBef>
                <a:spcPts val="400"/>
              </a:spcBef>
              <a:buChar char="–"/>
              <a:tabLst>
                <a:tab pos="408305" algn="l"/>
              </a:tabLst>
            </a:pPr>
            <a:r>
              <a:rPr lang="en-US" sz="2400" spc="20" dirty="0">
                <a:solidFill>
                  <a:srgbClr val="FF0000"/>
                </a:solidFill>
                <a:latin typeface="Times New Roman" panose="02020603050405020304" pitchFamily="18" charset="0"/>
                <a:cs typeface="Times New Roman" panose="02020603050405020304" pitchFamily="18" charset="0"/>
              </a:rPr>
              <a:t>P</a:t>
            </a:r>
            <a:r>
              <a:rPr lang="en-US" sz="2400" spc="-10" dirty="0">
                <a:solidFill>
                  <a:srgbClr val="FF0000"/>
                </a:solidFill>
                <a:latin typeface="Times New Roman" panose="02020603050405020304" pitchFamily="18" charset="0"/>
                <a:cs typeface="Times New Roman" panose="02020603050405020304" pitchFamily="18" charset="0"/>
              </a:rPr>
              <a:t>r</a:t>
            </a:r>
            <a:r>
              <a:rPr lang="en-US" sz="2400" spc="15" dirty="0">
                <a:solidFill>
                  <a:srgbClr val="FF0000"/>
                </a:solidFill>
                <a:latin typeface="Times New Roman" panose="02020603050405020304" pitchFamily="18" charset="0"/>
                <a:cs typeface="Times New Roman" panose="02020603050405020304" pitchFamily="18" charset="0"/>
              </a:rPr>
              <a:t>imi</a:t>
            </a:r>
            <a:r>
              <a:rPr lang="en-US" sz="2400" dirty="0">
                <a:solidFill>
                  <a:srgbClr val="FF0000"/>
                </a:solidFill>
                <a:latin typeface="Times New Roman" panose="02020603050405020304" pitchFamily="18" charset="0"/>
                <a:cs typeface="Times New Roman" panose="02020603050405020304" pitchFamily="18" charset="0"/>
              </a:rPr>
              <a:t>t</a:t>
            </a:r>
            <a:r>
              <a:rPr lang="en-US" sz="2400" spc="20" dirty="0">
                <a:solidFill>
                  <a:srgbClr val="FF0000"/>
                </a:solidFill>
                <a:latin typeface="Times New Roman" panose="02020603050405020304" pitchFamily="18" charset="0"/>
                <a:cs typeface="Times New Roman" panose="02020603050405020304" pitchFamily="18" charset="0"/>
              </a:rPr>
              <a:t>iv</a:t>
            </a:r>
            <a:r>
              <a:rPr lang="en-US" sz="2400" spc="5" dirty="0">
                <a:solidFill>
                  <a:srgbClr val="FF0000"/>
                </a:solidFill>
                <a:latin typeface="Times New Roman" panose="02020603050405020304" pitchFamily="18" charset="0"/>
                <a:cs typeface="Times New Roman" panose="02020603050405020304" pitchFamily="18" charset="0"/>
              </a:rPr>
              <a:t>e</a:t>
            </a:r>
            <a:r>
              <a:rPr lang="en-US" sz="2400" spc="-85"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a:t>
            </a:r>
            <a:r>
              <a:rPr lang="en-US" sz="2400" spc="5" dirty="0">
                <a:latin typeface="Times New Roman" panose="02020603050405020304" pitchFamily="18" charset="0"/>
                <a:cs typeface="Times New Roman" panose="02020603050405020304" pitchFamily="18" charset="0"/>
              </a:rPr>
              <a:t>ata</a:t>
            </a:r>
            <a:r>
              <a:rPr lang="en-US" sz="2400" spc="1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a:t>
            </a:r>
            <a:r>
              <a:rPr lang="en-US" sz="2400" spc="-15" dirty="0">
                <a:latin typeface="Times New Roman" panose="02020603050405020304" pitchFamily="18" charset="0"/>
                <a:cs typeface="Times New Roman" panose="02020603050405020304" pitchFamily="18" charset="0"/>
              </a:rPr>
              <a:t>y</a:t>
            </a:r>
            <a:r>
              <a:rPr lang="en-US" sz="2400" dirty="0">
                <a:latin typeface="Times New Roman" panose="02020603050405020304" pitchFamily="18" charset="0"/>
                <a:cs typeface="Times New Roman" panose="02020603050405020304" pitchFamily="18" charset="0"/>
              </a:rPr>
              <a:t>p</a:t>
            </a:r>
            <a:r>
              <a:rPr lang="en-US" sz="2400" spc="5" dirty="0">
                <a:latin typeface="Times New Roman" panose="02020603050405020304" pitchFamily="18" charset="0"/>
                <a:cs typeface="Times New Roman" panose="02020603050405020304" pitchFamily="18" charset="0"/>
              </a:rPr>
              <a:t>es</a:t>
            </a:r>
            <a:endParaRPr lang="en-US" sz="2400" dirty="0">
              <a:latin typeface="Times New Roman" panose="02020603050405020304" pitchFamily="18" charset="0"/>
              <a:cs typeface="Times New Roman" panose="02020603050405020304" pitchFamily="18" charset="0"/>
            </a:endParaRPr>
          </a:p>
          <a:p>
            <a:pPr marL="407670" lvl="1" indent="-152400" algn="just">
              <a:lnSpc>
                <a:spcPct val="100000"/>
              </a:lnSpc>
              <a:spcBef>
                <a:spcPts val="434"/>
              </a:spcBef>
              <a:buChar char="–"/>
              <a:tabLst>
                <a:tab pos="408305" algn="l"/>
              </a:tabLst>
            </a:pPr>
            <a:r>
              <a:rPr lang="en-US" sz="2400" spc="5" dirty="0">
                <a:solidFill>
                  <a:srgbClr val="00AF50"/>
                </a:solidFill>
                <a:latin typeface="Times New Roman" panose="02020603050405020304" pitchFamily="18" charset="0"/>
                <a:cs typeface="Times New Roman" panose="02020603050405020304" pitchFamily="18" charset="0"/>
              </a:rPr>
              <a:t>No</a:t>
            </a:r>
            <a:r>
              <a:rPr lang="en-US" sz="2400" spc="10" dirty="0">
                <a:solidFill>
                  <a:srgbClr val="00AF50"/>
                </a:solidFill>
                <a:latin typeface="Times New Roman" panose="02020603050405020304" pitchFamily="18" charset="0"/>
                <a:cs typeface="Times New Roman" panose="02020603050405020304" pitchFamily="18" charset="0"/>
              </a:rPr>
              <a:t>n</a:t>
            </a:r>
            <a:r>
              <a:rPr lang="en-US" sz="2400" spc="-10" dirty="0">
                <a:solidFill>
                  <a:srgbClr val="00AF50"/>
                </a:solidFill>
                <a:latin typeface="Times New Roman" panose="02020603050405020304" pitchFamily="18" charset="0"/>
                <a:cs typeface="Times New Roman" panose="02020603050405020304" pitchFamily="18" charset="0"/>
              </a:rPr>
              <a:t>-</a:t>
            </a:r>
            <a:r>
              <a:rPr lang="en-US" sz="2400" spc="5" dirty="0">
                <a:solidFill>
                  <a:srgbClr val="00AF50"/>
                </a:solidFill>
                <a:latin typeface="Times New Roman" panose="02020603050405020304" pitchFamily="18" charset="0"/>
                <a:cs typeface="Times New Roman" panose="02020603050405020304" pitchFamily="18" charset="0"/>
              </a:rPr>
              <a:t>p</a:t>
            </a:r>
            <a:r>
              <a:rPr lang="en-US" sz="2400" spc="-10" dirty="0">
                <a:solidFill>
                  <a:srgbClr val="00AF50"/>
                </a:solidFill>
                <a:latin typeface="Times New Roman" panose="02020603050405020304" pitchFamily="18" charset="0"/>
                <a:cs typeface="Times New Roman" panose="02020603050405020304" pitchFamily="18" charset="0"/>
              </a:rPr>
              <a:t>r</a:t>
            </a:r>
            <a:r>
              <a:rPr lang="en-US" sz="2400" spc="15" dirty="0">
                <a:solidFill>
                  <a:srgbClr val="00AF50"/>
                </a:solidFill>
                <a:latin typeface="Times New Roman" panose="02020603050405020304" pitchFamily="18" charset="0"/>
                <a:cs typeface="Times New Roman" panose="02020603050405020304" pitchFamily="18" charset="0"/>
              </a:rPr>
              <a:t>i</a:t>
            </a:r>
            <a:r>
              <a:rPr lang="en-US" sz="2400" spc="20" dirty="0">
                <a:solidFill>
                  <a:srgbClr val="00AF50"/>
                </a:solidFill>
                <a:latin typeface="Times New Roman" panose="02020603050405020304" pitchFamily="18" charset="0"/>
                <a:cs typeface="Times New Roman" panose="02020603050405020304" pitchFamily="18" charset="0"/>
              </a:rPr>
              <a:t>m</a:t>
            </a:r>
            <a:r>
              <a:rPr lang="en-US" sz="2400" spc="15" dirty="0">
                <a:solidFill>
                  <a:srgbClr val="00AF50"/>
                </a:solidFill>
                <a:latin typeface="Times New Roman" panose="02020603050405020304" pitchFamily="18" charset="0"/>
                <a:cs typeface="Times New Roman" panose="02020603050405020304" pitchFamily="18" charset="0"/>
              </a:rPr>
              <a:t>i</a:t>
            </a:r>
            <a:r>
              <a:rPr lang="en-US" sz="2400" spc="5" dirty="0">
                <a:solidFill>
                  <a:srgbClr val="00AF50"/>
                </a:solidFill>
                <a:latin typeface="Times New Roman" panose="02020603050405020304" pitchFamily="18" charset="0"/>
                <a:cs typeface="Times New Roman" panose="02020603050405020304" pitchFamily="18" charset="0"/>
              </a:rPr>
              <a:t>t</a:t>
            </a:r>
            <a:r>
              <a:rPr lang="en-US" sz="2400" spc="-25" dirty="0">
                <a:solidFill>
                  <a:srgbClr val="00AF50"/>
                </a:solidFill>
                <a:latin typeface="Times New Roman" panose="02020603050405020304" pitchFamily="18" charset="0"/>
                <a:cs typeface="Times New Roman" panose="02020603050405020304" pitchFamily="18" charset="0"/>
              </a:rPr>
              <a:t>i</a:t>
            </a:r>
            <a:r>
              <a:rPr lang="en-US" sz="2400" spc="20" dirty="0">
                <a:solidFill>
                  <a:srgbClr val="00AF50"/>
                </a:solidFill>
                <a:latin typeface="Times New Roman" panose="02020603050405020304" pitchFamily="18" charset="0"/>
                <a:cs typeface="Times New Roman" panose="02020603050405020304" pitchFamily="18" charset="0"/>
              </a:rPr>
              <a:t>v</a:t>
            </a:r>
            <a:r>
              <a:rPr lang="en-US" sz="2400" spc="10" dirty="0">
                <a:solidFill>
                  <a:srgbClr val="00AF50"/>
                </a:solidFill>
                <a:latin typeface="Times New Roman" panose="02020603050405020304" pitchFamily="18" charset="0"/>
                <a:cs typeface="Times New Roman" panose="02020603050405020304" pitchFamily="18" charset="0"/>
              </a:rPr>
              <a:t>e</a:t>
            </a:r>
            <a:r>
              <a:rPr lang="en-US" sz="2400" spc="-55" dirty="0">
                <a:solidFill>
                  <a:srgbClr val="00AF50"/>
                </a:solidFill>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data</a:t>
            </a:r>
            <a:r>
              <a:rPr lang="en-US" sz="2400" spc="-3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t</a:t>
            </a:r>
            <a:r>
              <a:rPr lang="en-US" sz="2400" spc="-20" dirty="0">
                <a:latin typeface="Times New Roman" panose="02020603050405020304" pitchFamily="18" charset="0"/>
                <a:cs typeface="Times New Roman" panose="02020603050405020304" pitchFamily="18" charset="0"/>
              </a:rPr>
              <a:t>y</a:t>
            </a:r>
            <a:r>
              <a:rPr lang="en-US" sz="2400" spc="5" dirty="0">
                <a:latin typeface="Times New Roman" panose="02020603050405020304" pitchFamily="18" charset="0"/>
                <a:cs typeface="Times New Roman" panose="02020603050405020304" pitchFamily="18" charset="0"/>
              </a:rPr>
              <a:t>pes</a:t>
            </a:r>
            <a:endParaRPr lang="en-US" sz="2400" dirty="0">
              <a:latin typeface="Times New Roman" panose="02020603050405020304" pitchFamily="18" charset="0"/>
              <a:cs typeface="Times New Roman" panose="02020603050405020304" pitchFamily="18" charset="0"/>
            </a:endParaRPr>
          </a:p>
          <a:p>
            <a:pPr algn="just">
              <a:spcBef>
                <a:spcPts val="363"/>
              </a:spcBef>
              <a:defRPr/>
            </a:pPr>
            <a:endParaRPr lang="en-US" sz="2253" dirty="0">
              <a:latin typeface="Times New Roman" pitchFamily="18" charset="0"/>
              <a:cs typeface="Times New Roman" pitchFamily="18" charset="0"/>
            </a:endParaRPr>
          </a:p>
        </p:txBody>
      </p:sp>
    </p:spTree>
    <p:extLst>
      <p:ext uri="{BB962C8B-B14F-4D97-AF65-F5344CB8AC3E}">
        <p14:creationId xmlns:p14="http://schemas.microsoft.com/office/powerpoint/2010/main" val="3439629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grpSp>
        <p:nvGrpSpPr>
          <p:cNvPr id="4" name="object 4"/>
          <p:cNvGrpSpPr/>
          <p:nvPr/>
        </p:nvGrpSpPr>
        <p:grpSpPr>
          <a:xfrm>
            <a:off x="-201" y="88900"/>
            <a:ext cx="6498590" cy="3660140"/>
            <a:chOff x="-1387" y="628242"/>
            <a:chExt cx="6498590" cy="3660140"/>
          </a:xfrm>
        </p:grpSpPr>
        <p:pic>
          <p:nvPicPr>
            <p:cNvPr id="5" name="object 5"/>
            <p:cNvPicPr/>
            <p:nvPr/>
          </p:nvPicPr>
          <p:blipFill>
            <a:blip r:embed="rId3" cstate="print"/>
            <a:stretch>
              <a:fillRect/>
            </a:stretch>
          </p:blipFill>
          <p:spPr>
            <a:xfrm>
              <a:off x="4011" y="633596"/>
              <a:ext cx="6487240" cy="3649034"/>
            </a:xfrm>
            <a:prstGeom prst="rect">
              <a:avLst/>
            </a:prstGeom>
          </p:spPr>
        </p:pic>
        <p:sp>
          <p:nvSpPr>
            <p:cNvPr id="6" name="object 6"/>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1E9BFE-2F1D-768D-4A86-CAC0ADC184E8}"/>
              </a:ext>
            </a:extLst>
          </p:cNvPr>
          <p:cNvSpPr>
            <a:spLocks noGrp="1"/>
          </p:cNvSpPr>
          <p:nvPr>
            <p:ph sz="quarter" idx="4294967295"/>
          </p:nvPr>
        </p:nvSpPr>
        <p:spPr>
          <a:xfrm>
            <a:off x="431800" y="774700"/>
            <a:ext cx="5461000" cy="3089275"/>
          </a:xfrm>
        </p:spPr>
        <p:txBody>
          <a:bodyPr>
            <a:normAutofit/>
          </a:bodyPr>
          <a:lstStyle/>
          <a:p>
            <a:pPr>
              <a:spcBef>
                <a:spcPts val="363"/>
              </a:spcBef>
              <a:defRPr/>
            </a:pPr>
            <a:r>
              <a:rPr lang="en-US" sz="2253" dirty="0">
                <a:latin typeface="Times New Roman" pitchFamily="18" charset="0"/>
                <a:cs typeface="Times New Roman" pitchFamily="18" charset="0"/>
              </a:rPr>
              <a:t>Primitive Data types are classified as:</a:t>
            </a:r>
          </a:p>
          <a:p>
            <a:pPr marL="342900" indent="-342900">
              <a:spcBef>
                <a:spcPts val="363"/>
              </a:spcBef>
              <a:buFont typeface="Arial" panose="020B0604020202020204" pitchFamily="34" charset="0"/>
              <a:buChar char="•"/>
              <a:defRPr/>
            </a:pPr>
            <a:r>
              <a:rPr lang="en-US" sz="2253" dirty="0">
                <a:latin typeface="Times New Roman" pitchFamily="18" charset="0"/>
                <a:cs typeface="Times New Roman" pitchFamily="18" charset="0"/>
              </a:rPr>
              <a:t>Integer type</a:t>
            </a:r>
          </a:p>
          <a:p>
            <a:pPr marL="342900" indent="-342900">
              <a:spcBef>
                <a:spcPts val="363"/>
              </a:spcBef>
              <a:buFont typeface="Arial" panose="020B0604020202020204" pitchFamily="34" charset="0"/>
              <a:buChar char="•"/>
              <a:defRPr/>
            </a:pPr>
            <a:r>
              <a:rPr lang="en-US" sz="2253" dirty="0">
                <a:latin typeface="Times New Roman" pitchFamily="18" charset="0"/>
                <a:cs typeface="Times New Roman" pitchFamily="18" charset="0"/>
              </a:rPr>
              <a:t>Floating point type</a:t>
            </a:r>
          </a:p>
          <a:p>
            <a:pPr marL="342900" indent="-342900">
              <a:spcBef>
                <a:spcPts val="363"/>
              </a:spcBef>
              <a:buFont typeface="Arial" panose="020B0604020202020204" pitchFamily="34" charset="0"/>
              <a:buChar char="•"/>
              <a:defRPr/>
            </a:pPr>
            <a:r>
              <a:rPr lang="en-US" sz="2253" dirty="0">
                <a:latin typeface="Times New Roman" pitchFamily="18" charset="0"/>
                <a:cs typeface="Times New Roman" pitchFamily="18" charset="0"/>
              </a:rPr>
              <a:t>Character type</a:t>
            </a:r>
          </a:p>
          <a:p>
            <a:pPr marL="342900" indent="-342900">
              <a:spcBef>
                <a:spcPts val="363"/>
              </a:spcBef>
              <a:buFont typeface="Arial" panose="020B0604020202020204" pitchFamily="34" charset="0"/>
              <a:buChar char="•"/>
              <a:defRPr/>
            </a:pPr>
            <a:r>
              <a:rPr lang="en-US" sz="2253" dirty="0">
                <a:latin typeface="Times New Roman" pitchFamily="18" charset="0"/>
                <a:cs typeface="Times New Roman" pitchFamily="18" charset="0"/>
              </a:rPr>
              <a:t>Boolean type</a:t>
            </a:r>
          </a:p>
          <a:p>
            <a:pPr>
              <a:spcBef>
                <a:spcPts val="363"/>
              </a:spcBef>
              <a:defRPr/>
            </a:pPr>
            <a:endParaRPr lang="en-US" sz="2253"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50C68237-76B0-2228-5A19-90B9F0EEB0D0}"/>
              </a:ext>
            </a:extLst>
          </p:cNvPr>
          <p:cNvSpPr>
            <a:spLocks noGrp="1"/>
          </p:cNvSpPr>
          <p:nvPr>
            <p:ph type="title" idx="4294967295"/>
          </p:nvPr>
        </p:nvSpPr>
        <p:spPr>
          <a:xfrm>
            <a:off x="0" y="95250"/>
            <a:ext cx="5765800" cy="525463"/>
          </a:xfrm>
        </p:spPr>
        <p:txBody>
          <a:bodyPr/>
          <a:lstStyle/>
          <a:p>
            <a:pPr eaLnBrk="1" hangingPunct="1"/>
            <a:r>
              <a:rPr lang="en-US" altLang="en-US" sz="2253" dirty="0">
                <a:solidFill>
                  <a:srgbClr val="FF0000"/>
                </a:solidFill>
                <a:latin typeface="Times New Roman" panose="02020603050405020304" pitchFamily="18" charset="0"/>
                <a:cs typeface="Times New Roman" panose="02020603050405020304" pitchFamily="18" charset="0"/>
              </a:rPr>
              <a:t>		Data Types : Integer Type</a:t>
            </a:r>
          </a:p>
        </p:txBody>
      </p:sp>
      <p:sp>
        <p:nvSpPr>
          <p:cNvPr id="12291" name="Content Placeholder 2">
            <a:extLst>
              <a:ext uri="{FF2B5EF4-FFF2-40B4-BE49-F238E27FC236}">
                <a16:creationId xmlns:a16="http://schemas.microsoft.com/office/drawing/2014/main" id="{89D7DB8E-989E-30BE-E024-1EBC8D12AAFE}"/>
              </a:ext>
            </a:extLst>
          </p:cNvPr>
          <p:cNvSpPr>
            <a:spLocks noGrp="1"/>
          </p:cNvSpPr>
          <p:nvPr>
            <p:ph sz="quarter" idx="4294967295"/>
          </p:nvPr>
        </p:nvSpPr>
        <p:spPr>
          <a:xfrm>
            <a:off x="279400" y="469900"/>
            <a:ext cx="6223001" cy="381000"/>
          </a:xfrm>
        </p:spPr>
        <p:txBody>
          <a:bodyPr/>
          <a:lstStyle/>
          <a:p>
            <a:pPr eaLnBrk="1" hangingPunct="1"/>
            <a:r>
              <a:rPr lang="en-US" altLang="en-US" sz="1753" dirty="0">
                <a:latin typeface="Times New Roman" panose="02020603050405020304" pitchFamily="18" charset="0"/>
                <a:cs typeface="Times New Roman" panose="02020603050405020304" pitchFamily="18" charset="0"/>
              </a:rPr>
              <a:t>Java supports 4 types of integers</a:t>
            </a:r>
          </a:p>
          <a:p>
            <a:pPr lvl="1">
              <a:spcBef>
                <a:spcPts val="360"/>
              </a:spcBef>
            </a:pPr>
            <a:endParaRPr lang="en-US" altLang="en-US" sz="1753" dirty="0"/>
          </a:p>
        </p:txBody>
      </p:sp>
      <p:graphicFrame>
        <p:nvGraphicFramePr>
          <p:cNvPr id="2" name="Table 1">
            <a:extLst>
              <a:ext uri="{FF2B5EF4-FFF2-40B4-BE49-F238E27FC236}">
                <a16:creationId xmlns:a16="http://schemas.microsoft.com/office/drawing/2014/main" id="{9784A7BD-6CD1-DB2A-99B8-90E978A42477}"/>
              </a:ext>
            </a:extLst>
          </p:cNvPr>
          <p:cNvGraphicFramePr>
            <a:graphicFrameLocks noGrp="1"/>
          </p:cNvGraphicFramePr>
          <p:nvPr>
            <p:extLst>
              <p:ext uri="{D42A27DB-BD31-4B8C-83A1-F6EECF244321}">
                <p14:modId xmlns:p14="http://schemas.microsoft.com/office/powerpoint/2010/main" val="4126546808"/>
              </p:ext>
            </p:extLst>
          </p:nvPr>
        </p:nvGraphicFramePr>
        <p:xfrm>
          <a:off x="532553" y="906216"/>
          <a:ext cx="5483002" cy="3290993"/>
        </p:xfrm>
        <a:graphic>
          <a:graphicData uri="http://schemas.openxmlformats.org/drawingml/2006/table">
            <a:tbl>
              <a:tblPr firstRow="1" firstCol="1" bandRow="1">
                <a:effectLst/>
                <a:tableStyleId>{5C22544A-7EE6-4342-B048-85BDC9FD1C3A}</a:tableStyleId>
              </a:tblPr>
              <a:tblGrid>
                <a:gridCol w="556125">
                  <a:extLst>
                    <a:ext uri="{9D8B030D-6E8A-4147-A177-3AD203B41FA5}">
                      <a16:colId xmlns:a16="http://schemas.microsoft.com/office/drawing/2014/main" val="20000"/>
                    </a:ext>
                  </a:extLst>
                </a:gridCol>
                <a:gridCol w="653565">
                  <a:extLst>
                    <a:ext uri="{9D8B030D-6E8A-4147-A177-3AD203B41FA5}">
                      <a16:colId xmlns:a16="http://schemas.microsoft.com/office/drawing/2014/main" val="20001"/>
                    </a:ext>
                  </a:extLst>
                </a:gridCol>
                <a:gridCol w="2212067">
                  <a:extLst>
                    <a:ext uri="{9D8B030D-6E8A-4147-A177-3AD203B41FA5}">
                      <a16:colId xmlns:a16="http://schemas.microsoft.com/office/drawing/2014/main" val="20002"/>
                    </a:ext>
                  </a:extLst>
                </a:gridCol>
                <a:gridCol w="2061245">
                  <a:extLst>
                    <a:ext uri="{9D8B030D-6E8A-4147-A177-3AD203B41FA5}">
                      <a16:colId xmlns:a16="http://schemas.microsoft.com/office/drawing/2014/main" val="20003"/>
                    </a:ext>
                  </a:extLst>
                </a:gridCol>
              </a:tblGrid>
              <a:tr h="542295">
                <a:tc>
                  <a:txBody>
                    <a:bodyPr/>
                    <a:lstStyle/>
                    <a:p>
                      <a:pPr marL="0" marR="0" algn="just">
                        <a:lnSpc>
                          <a:spcPct val="115000"/>
                        </a:lnSpc>
                        <a:spcBef>
                          <a:spcPts val="0"/>
                        </a:spcBef>
                        <a:spcAft>
                          <a:spcPts val="0"/>
                        </a:spcAft>
                      </a:pPr>
                      <a:r>
                        <a:rPr lang="en-US" sz="1500" dirty="0">
                          <a:solidFill>
                            <a:schemeClr val="tx2"/>
                          </a:solidFill>
                          <a:effectLst/>
                        </a:rPr>
                        <a:t>Type</a:t>
                      </a:r>
                      <a:endParaRPr lang="en-US" sz="1500" dirty="0">
                        <a:solidFill>
                          <a:schemeClr val="tx2"/>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42930" marR="42930" marT="0" marB="0">
                    <a:solidFill>
                      <a:schemeClr val="bg1"/>
                    </a:solidFill>
                  </a:tcPr>
                </a:tc>
                <a:tc>
                  <a:txBody>
                    <a:bodyPr/>
                    <a:lstStyle/>
                    <a:p>
                      <a:pPr marL="0" marR="0" algn="just">
                        <a:lnSpc>
                          <a:spcPct val="115000"/>
                        </a:lnSpc>
                        <a:spcBef>
                          <a:spcPts val="0"/>
                        </a:spcBef>
                        <a:spcAft>
                          <a:spcPts val="0"/>
                        </a:spcAft>
                      </a:pPr>
                      <a:r>
                        <a:rPr lang="en-US" sz="1500" dirty="0">
                          <a:solidFill>
                            <a:schemeClr val="tx2"/>
                          </a:solidFill>
                          <a:effectLst/>
                        </a:rPr>
                        <a:t>Size</a:t>
                      </a:r>
                      <a:endParaRPr lang="en-US" sz="1500" dirty="0">
                        <a:solidFill>
                          <a:schemeClr val="tx2"/>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42930" marR="42930" marT="0" marB="0">
                    <a:solidFill>
                      <a:schemeClr val="bg1"/>
                    </a:solidFill>
                  </a:tcPr>
                </a:tc>
                <a:tc>
                  <a:txBody>
                    <a:bodyPr/>
                    <a:lstStyle/>
                    <a:p>
                      <a:pPr marL="0" marR="0" algn="just">
                        <a:lnSpc>
                          <a:spcPct val="115000"/>
                        </a:lnSpc>
                        <a:spcBef>
                          <a:spcPts val="0"/>
                        </a:spcBef>
                        <a:spcAft>
                          <a:spcPts val="0"/>
                        </a:spcAft>
                      </a:pPr>
                      <a:r>
                        <a:rPr lang="en-US" sz="1500" dirty="0">
                          <a:solidFill>
                            <a:schemeClr val="tx2"/>
                          </a:solidFill>
                          <a:effectLst/>
                        </a:rPr>
                        <a:t>Minimum value</a:t>
                      </a:r>
                      <a:endParaRPr lang="en-US" sz="1500" dirty="0">
                        <a:solidFill>
                          <a:schemeClr val="tx2"/>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42930" marR="42930" marT="0" marB="0">
                    <a:solidFill>
                      <a:schemeClr val="bg1"/>
                    </a:solidFill>
                  </a:tcPr>
                </a:tc>
                <a:tc>
                  <a:txBody>
                    <a:bodyPr/>
                    <a:lstStyle/>
                    <a:p>
                      <a:pPr marL="0" marR="0" algn="just">
                        <a:lnSpc>
                          <a:spcPct val="115000"/>
                        </a:lnSpc>
                        <a:spcBef>
                          <a:spcPts val="0"/>
                        </a:spcBef>
                        <a:spcAft>
                          <a:spcPts val="0"/>
                        </a:spcAft>
                      </a:pPr>
                      <a:r>
                        <a:rPr lang="en-US" sz="1500" dirty="0">
                          <a:solidFill>
                            <a:schemeClr val="tx2"/>
                          </a:solidFill>
                          <a:effectLst/>
                        </a:rPr>
                        <a:t>Maximum value</a:t>
                      </a:r>
                      <a:endParaRPr lang="en-US" sz="1500" dirty="0">
                        <a:solidFill>
                          <a:schemeClr val="tx2"/>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42930" marR="42930" marT="0" marB="0">
                    <a:solidFill>
                      <a:schemeClr val="bg1"/>
                    </a:solidFill>
                  </a:tcPr>
                </a:tc>
                <a:extLst>
                  <a:ext uri="{0D108BD9-81ED-4DB2-BD59-A6C34878D82A}">
                    <a16:rowId xmlns:a16="http://schemas.microsoft.com/office/drawing/2014/main" val="10000"/>
                  </a:ext>
                </a:extLst>
              </a:tr>
              <a:tr h="542295">
                <a:tc>
                  <a:txBody>
                    <a:bodyPr/>
                    <a:lstStyle/>
                    <a:p>
                      <a:pPr marL="0" marR="0" algn="just">
                        <a:lnSpc>
                          <a:spcPct val="115000"/>
                        </a:lnSpc>
                        <a:spcBef>
                          <a:spcPts val="0"/>
                        </a:spcBef>
                        <a:spcAft>
                          <a:spcPts val="0"/>
                        </a:spcAft>
                      </a:pPr>
                      <a:r>
                        <a:rPr lang="en-US" sz="1500">
                          <a:solidFill>
                            <a:schemeClr val="tx2"/>
                          </a:solidFill>
                          <a:effectLst/>
                        </a:rPr>
                        <a:t>byte</a:t>
                      </a:r>
                      <a:endParaRPr lang="en-US" sz="1500">
                        <a:solidFill>
                          <a:schemeClr val="tx2"/>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42930" marR="42930" marT="0" marB="0">
                    <a:solidFill>
                      <a:schemeClr val="bg1"/>
                    </a:solidFill>
                  </a:tcPr>
                </a:tc>
                <a:tc>
                  <a:txBody>
                    <a:bodyPr/>
                    <a:lstStyle/>
                    <a:p>
                      <a:pPr marL="0" marR="0" algn="just">
                        <a:lnSpc>
                          <a:spcPct val="115000"/>
                        </a:lnSpc>
                        <a:spcBef>
                          <a:spcPts val="0"/>
                        </a:spcBef>
                        <a:spcAft>
                          <a:spcPts val="0"/>
                        </a:spcAft>
                      </a:pPr>
                      <a:r>
                        <a:rPr lang="en-US" sz="1500">
                          <a:solidFill>
                            <a:schemeClr val="tx2"/>
                          </a:solidFill>
                          <a:effectLst/>
                        </a:rPr>
                        <a:t>1 byte</a:t>
                      </a:r>
                      <a:endParaRPr lang="en-US" sz="1500">
                        <a:solidFill>
                          <a:schemeClr val="tx2"/>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42930" marR="42930" marT="0" marB="0">
                    <a:solidFill>
                      <a:schemeClr val="bg1"/>
                    </a:solidFill>
                  </a:tcPr>
                </a:tc>
                <a:tc>
                  <a:txBody>
                    <a:bodyPr/>
                    <a:lstStyle/>
                    <a:p>
                      <a:pPr marL="0" marR="0" algn="just">
                        <a:lnSpc>
                          <a:spcPct val="115000"/>
                        </a:lnSpc>
                        <a:spcBef>
                          <a:spcPts val="0"/>
                        </a:spcBef>
                        <a:spcAft>
                          <a:spcPts val="0"/>
                        </a:spcAft>
                      </a:pPr>
                      <a:r>
                        <a:rPr lang="en-US" sz="1500" dirty="0">
                          <a:solidFill>
                            <a:schemeClr val="tx2"/>
                          </a:solidFill>
                          <a:effectLst/>
                        </a:rPr>
                        <a:t>-128</a:t>
                      </a:r>
                      <a:endParaRPr lang="en-US" sz="1500" dirty="0">
                        <a:solidFill>
                          <a:schemeClr val="tx2"/>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42930" marR="42930" marT="0" marB="0">
                    <a:solidFill>
                      <a:schemeClr val="bg1"/>
                    </a:solidFill>
                  </a:tcPr>
                </a:tc>
                <a:tc>
                  <a:txBody>
                    <a:bodyPr/>
                    <a:lstStyle/>
                    <a:p>
                      <a:pPr marL="0" marR="0" algn="just">
                        <a:lnSpc>
                          <a:spcPct val="115000"/>
                        </a:lnSpc>
                        <a:spcBef>
                          <a:spcPts val="0"/>
                        </a:spcBef>
                        <a:spcAft>
                          <a:spcPts val="0"/>
                        </a:spcAft>
                      </a:pPr>
                      <a:r>
                        <a:rPr lang="en-US" sz="1500" dirty="0">
                          <a:solidFill>
                            <a:schemeClr val="tx2"/>
                          </a:solidFill>
                          <a:effectLst/>
                        </a:rPr>
                        <a:t>127</a:t>
                      </a:r>
                      <a:endParaRPr lang="en-US" sz="1500" dirty="0">
                        <a:solidFill>
                          <a:schemeClr val="tx2"/>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42930" marR="42930" marT="0" marB="0">
                    <a:solidFill>
                      <a:schemeClr val="bg1"/>
                    </a:solidFill>
                  </a:tcPr>
                </a:tc>
                <a:extLst>
                  <a:ext uri="{0D108BD9-81ED-4DB2-BD59-A6C34878D82A}">
                    <a16:rowId xmlns:a16="http://schemas.microsoft.com/office/drawing/2014/main" val="10001"/>
                  </a:ext>
                </a:extLst>
              </a:tr>
              <a:tr h="542295">
                <a:tc>
                  <a:txBody>
                    <a:bodyPr/>
                    <a:lstStyle/>
                    <a:p>
                      <a:pPr marL="0" marR="0" algn="just">
                        <a:lnSpc>
                          <a:spcPct val="115000"/>
                        </a:lnSpc>
                        <a:spcBef>
                          <a:spcPts val="0"/>
                        </a:spcBef>
                        <a:spcAft>
                          <a:spcPts val="0"/>
                        </a:spcAft>
                      </a:pPr>
                      <a:r>
                        <a:rPr lang="en-US" sz="1500" dirty="0">
                          <a:solidFill>
                            <a:schemeClr val="tx2"/>
                          </a:solidFill>
                          <a:effectLst/>
                        </a:rPr>
                        <a:t>short</a:t>
                      </a:r>
                      <a:endParaRPr lang="en-US" sz="1500" dirty="0">
                        <a:solidFill>
                          <a:schemeClr val="tx2"/>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42930" marR="42930" marT="0" marB="0">
                    <a:solidFill>
                      <a:schemeClr val="bg1"/>
                    </a:solidFill>
                  </a:tcPr>
                </a:tc>
                <a:tc>
                  <a:txBody>
                    <a:bodyPr/>
                    <a:lstStyle/>
                    <a:p>
                      <a:pPr marL="0" marR="0" algn="just">
                        <a:lnSpc>
                          <a:spcPct val="115000"/>
                        </a:lnSpc>
                        <a:spcBef>
                          <a:spcPts val="0"/>
                        </a:spcBef>
                        <a:spcAft>
                          <a:spcPts val="0"/>
                        </a:spcAft>
                      </a:pPr>
                      <a:r>
                        <a:rPr lang="en-US" sz="1500">
                          <a:solidFill>
                            <a:schemeClr val="tx2"/>
                          </a:solidFill>
                          <a:effectLst/>
                        </a:rPr>
                        <a:t>2 byte</a:t>
                      </a:r>
                      <a:endParaRPr lang="en-US" sz="1500">
                        <a:solidFill>
                          <a:schemeClr val="tx2"/>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42930" marR="42930" marT="0" marB="0">
                    <a:solidFill>
                      <a:schemeClr val="bg1"/>
                    </a:solidFill>
                  </a:tcPr>
                </a:tc>
                <a:tc>
                  <a:txBody>
                    <a:bodyPr/>
                    <a:lstStyle/>
                    <a:p>
                      <a:pPr marL="0" marR="0" algn="just">
                        <a:lnSpc>
                          <a:spcPct val="115000"/>
                        </a:lnSpc>
                        <a:spcBef>
                          <a:spcPts val="0"/>
                        </a:spcBef>
                        <a:spcAft>
                          <a:spcPts val="0"/>
                        </a:spcAft>
                      </a:pPr>
                      <a:r>
                        <a:rPr lang="en-US" sz="1500" dirty="0">
                          <a:solidFill>
                            <a:schemeClr val="tx2"/>
                          </a:solidFill>
                          <a:effectLst/>
                        </a:rPr>
                        <a:t>-32768</a:t>
                      </a:r>
                      <a:endParaRPr lang="en-US" sz="1500" dirty="0">
                        <a:solidFill>
                          <a:schemeClr val="tx2"/>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42930" marR="42930" marT="0" marB="0">
                    <a:solidFill>
                      <a:schemeClr val="bg1"/>
                    </a:solidFill>
                  </a:tcPr>
                </a:tc>
                <a:tc>
                  <a:txBody>
                    <a:bodyPr/>
                    <a:lstStyle/>
                    <a:p>
                      <a:pPr marL="0" marR="0" algn="just">
                        <a:lnSpc>
                          <a:spcPct val="115000"/>
                        </a:lnSpc>
                        <a:spcBef>
                          <a:spcPts val="0"/>
                        </a:spcBef>
                        <a:spcAft>
                          <a:spcPts val="0"/>
                        </a:spcAft>
                      </a:pPr>
                      <a:r>
                        <a:rPr lang="en-US" sz="1500" dirty="0">
                          <a:solidFill>
                            <a:schemeClr val="tx2"/>
                          </a:solidFill>
                          <a:effectLst/>
                        </a:rPr>
                        <a:t>32767</a:t>
                      </a:r>
                      <a:endParaRPr lang="en-US" sz="1500" dirty="0">
                        <a:solidFill>
                          <a:schemeClr val="tx2"/>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42930" marR="42930" marT="0" marB="0">
                    <a:solidFill>
                      <a:schemeClr val="bg1"/>
                    </a:solidFill>
                  </a:tcPr>
                </a:tc>
                <a:extLst>
                  <a:ext uri="{0D108BD9-81ED-4DB2-BD59-A6C34878D82A}">
                    <a16:rowId xmlns:a16="http://schemas.microsoft.com/office/drawing/2014/main" val="10002"/>
                  </a:ext>
                </a:extLst>
              </a:tr>
              <a:tr h="542295">
                <a:tc>
                  <a:txBody>
                    <a:bodyPr/>
                    <a:lstStyle/>
                    <a:p>
                      <a:pPr marL="0" marR="0" algn="just">
                        <a:lnSpc>
                          <a:spcPct val="115000"/>
                        </a:lnSpc>
                        <a:spcBef>
                          <a:spcPts val="0"/>
                        </a:spcBef>
                        <a:spcAft>
                          <a:spcPts val="0"/>
                        </a:spcAft>
                      </a:pPr>
                      <a:r>
                        <a:rPr lang="en-US" sz="1500">
                          <a:solidFill>
                            <a:schemeClr val="tx2"/>
                          </a:solidFill>
                          <a:effectLst/>
                        </a:rPr>
                        <a:t>int</a:t>
                      </a:r>
                      <a:endParaRPr lang="en-US" sz="1500">
                        <a:solidFill>
                          <a:schemeClr val="tx2"/>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42930" marR="42930" marT="0" marB="0">
                    <a:solidFill>
                      <a:schemeClr val="bg1"/>
                    </a:solidFill>
                  </a:tcPr>
                </a:tc>
                <a:tc>
                  <a:txBody>
                    <a:bodyPr/>
                    <a:lstStyle/>
                    <a:p>
                      <a:pPr marL="0" marR="0" algn="just">
                        <a:lnSpc>
                          <a:spcPct val="115000"/>
                        </a:lnSpc>
                        <a:spcBef>
                          <a:spcPts val="0"/>
                        </a:spcBef>
                        <a:spcAft>
                          <a:spcPts val="0"/>
                        </a:spcAft>
                      </a:pPr>
                      <a:r>
                        <a:rPr lang="en-US" sz="1500">
                          <a:solidFill>
                            <a:schemeClr val="tx2"/>
                          </a:solidFill>
                          <a:effectLst/>
                        </a:rPr>
                        <a:t>4 byte</a:t>
                      </a:r>
                      <a:endParaRPr lang="en-US" sz="1500">
                        <a:solidFill>
                          <a:schemeClr val="tx2"/>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42930" marR="42930" marT="0" marB="0">
                    <a:solidFill>
                      <a:schemeClr val="bg1"/>
                    </a:solidFill>
                  </a:tcPr>
                </a:tc>
                <a:tc>
                  <a:txBody>
                    <a:bodyPr/>
                    <a:lstStyle/>
                    <a:p>
                      <a:pPr marL="0" marR="0" algn="just">
                        <a:lnSpc>
                          <a:spcPct val="115000"/>
                        </a:lnSpc>
                        <a:spcBef>
                          <a:spcPts val="0"/>
                        </a:spcBef>
                        <a:spcAft>
                          <a:spcPts val="0"/>
                        </a:spcAft>
                      </a:pPr>
                      <a:r>
                        <a:rPr lang="en-US" sz="1500" dirty="0">
                          <a:solidFill>
                            <a:schemeClr val="tx2"/>
                          </a:solidFill>
                          <a:effectLst/>
                        </a:rPr>
                        <a:t>-2147483648</a:t>
                      </a:r>
                      <a:endParaRPr lang="en-US" sz="1500" dirty="0">
                        <a:solidFill>
                          <a:schemeClr val="tx2"/>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42930" marR="42930" marT="0" marB="0">
                    <a:solidFill>
                      <a:schemeClr val="bg1"/>
                    </a:solidFill>
                  </a:tcPr>
                </a:tc>
                <a:tc>
                  <a:txBody>
                    <a:bodyPr/>
                    <a:lstStyle/>
                    <a:p>
                      <a:pPr marL="0" marR="0" algn="just">
                        <a:lnSpc>
                          <a:spcPct val="115000"/>
                        </a:lnSpc>
                        <a:spcBef>
                          <a:spcPts val="0"/>
                        </a:spcBef>
                        <a:spcAft>
                          <a:spcPts val="0"/>
                        </a:spcAft>
                      </a:pPr>
                      <a:r>
                        <a:rPr lang="en-US" sz="1500">
                          <a:solidFill>
                            <a:schemeClr val="tx2"/>
                          </a:solidFill>
                          <a:effectLst/>
                        </a:rPr>
                        <a:t>2147483647</a:t>
                      </a:r>
                      <a:endParaRPr lang="en-US" sz="1500">
                        <a:solidFill>
                          <a:schemeClr val="tx2"/>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42930" marR="42930" marT="0" marB="0">
                    <a:solidFill>
                      <a:schemeClr val="bg1"/>
                    </a:solidFill>
                  </a:tcPr>
                </a:tc>
                <a:extLst>
                  <a:ext uri="{0D108BD9-81ED-4DB2-BD59-A6C34878D82A}">
                    <a16:rowId xmlns:a16="http://schemas.microsoft.com/office/drawing/2014/main" val="10003"/>
                  </a:ext>
                </a:extLst>
              </a:tr>
              <a:tr h="1121813">
                <a:tc>
                  <a:txBody>
                    <a:bodyPr/>
                    <a:lstStyle/>
                    <a:p>
                      <a:pPr marL="0" marR="0" algn="just">
                        <a:lnSpc>
                          <a:spcPct val="115000"/>
                        </a:lnSpc>
                        <a:spcBef>
                          <a:spcPts val="0"/>
                        </a:spcBef>
                        <a:spcAft>
                          <a:spcPts val="0"/>
                        </a:spcAft>
                      </a:pPr>
                      <a:r>
                        <a:rPr lang="en-US" sz="1500">
                          <a:solidFill>
                            <a:schemeClr val="tx2"/>
                          </a:solidFill>
                          <a:effectLst/>
                        </a:rPr>
                        <a:t>long</a:t>
                      </a:r>
                      <a:endParaRPr lang="en-US" sz="1500">
                        <a:solidFill>
                          <a:schemeClr val="tx2"/>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42930" marR="42930" marT="0" marB="0">
                    <a:solidFill>
                      <a:schemeClr val="bg1"/>
                    </a:solidFill>
                  </a:tcPr>
                </a:tc>
                <a:tc>
                  <a:txBody>
                    <a:bodyPr/>
                    <a:lstStyle/>
                    <a:p>
                      <a:pPr marL="0" marR="0" algn="just">
                        <a:lnSpc>
                          <a:spcPct val="115000"/>
                        </a:lnSpc>
                        <a:spcBef>
                          <a:spcPts val="0"/>
                        </a:spcBef>
                        <a:spcAft>
                          <a:spcPts val="0"/>
                        </a:spcAft>
                      </a:pPr>
                      <a:r>
                        <a:rPr lang="en-US" sz="1500" dirty="0">
                          <a:solidFill>
                            <a:schemeClr val="tx2"/>
                          </a:solidFill>
                          <a:effectLst/>
                        </a:rPr>
                        <a:t>8 byte</a:t>
                      </a:r>
                      <a:endParaRPr lang="en-US" sz="1500" dirty="0">
                        <a:solidFill>
                          <a:schemeClr val="tx2"/>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42930" marR="42930" marT="0" marB="0">
                    <a:solidFill>
                      <a:schemeClr val="bg1"/>
                    </a:solidFill>
                  </a:tcPr>
                </a:tc>
                <a:tc>
                  <a:txBody>
                    <a:bodyPr/>
                    <a:lstStyle/>
                    <a:p>
                      <a:pPr marL="0" marR="0" algn="just">
                        <a:lnSpc>
                          <a:spcPct val="115000"/>
                        </a:lnSpc>
                        <a:spcBef>
                          <a:spcPts val="0"/>
                        </a:spcBef>
                        <a:spcAft>
                          <a:spcPts val="0"/>
                        </a:spcAft>
                      </a:pPr>
                      <a:r>
                        <a:rPr lang="en-US" sz="1500" dirty="0">
                          <a:solidFill>
                            <a:schemeClr val="tx2"/>
                          </a:solidFill>
                          <a:effectLst/>
                        </a:rPr>
                        <a:t>-9223372036854775808</a:t>
                      </a:r>
                      <a:endParaRPr lang="en-US" sz="1500" dirty="0">
                        <a:solidFill>
                          <a:schemeClr val="tx2"/>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42930" marR="42930" marT="0" marB="0">
                    <a:solidFill>
                      <a:schemeClr val="bg1"/>
                    </a:solidFill>
                  </a:tcPr>
                </a:tc>
                <a:tc>
                  <a:txBody>
                    <a:bodyPr/>
                    <a:lstStyle/>
                    <a:p>
                      <a:pPr marL="0" marR="0" algn="just">
                        <a:lnSpc>
                          <a:spcPct val="115000"/>
                        </a:lnSpc>
                        <a:spcBef>
                          <a:spcPts val="0"/>
                        </a:spcBef>
                        <a:spcAft>
                          <a:spcPts val="0"/>
                        </a:spcAft>
                      </a:pPr>
                      <a:r>
                        <a:rPr lang="en-US" sz="1500" dirty="0">
                          <a:solidFill>
                            <a:schemeClr val="tx2"/>
                          </a:solidFill>
                          <a:effectLst/>
                        </a:rPr>
                        <a:t>9223372036854775807</a:t>
                      </a:r>
                      <a:endParaRPr lang="en-US" sz="1500" dirty="0">
                        <a:solidFill>
                          <a:schemeClr val="tx2"/>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42930" marR="42930" marT="0" marB="0">
                    <a:solidFill>
                      <a:schemeClr val="bg1"/>
                    </a:solid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AB570166-E0CC-1707-BB47-611F93EB6414}"/>
              </a:ext>
            </a:extLst>
          </p:cNvPr>
          <p:cNvSpPr>
            <a:spLocks noGrp="1"/>
          </p:cNvSpPr>
          <p:nvPr>
            <p:ph type="title" idx="4294967295"/>
          </p:nvPr>
        </p:nvSpPr>
        <p:spPr>
          <a:xfrm>
            <a:off x="801687" y="95250"/>
            <a:ext cx="4430713" cy="346075"/>
          </a:xfrm>
        </p:spPr>
        <p:txBody>
          <a:bodyPr/>
          <a:lstStyle/>
          <a:p>
            <a:pPr eaLnBrk="1" hangingPunct="1"/>
            <a:r>
              <a:rPr lang="en-US" altLang="en-US" sz="2253" dirty="0">
                <a:solidFill>
                  <a:srgbClr val="FF0000"/>
                </a:solidFill>
                <a:latin typeface="Times New Roman" panose="02020603050405020304" pitchFamily="18" charset="0"/>
                <a:cs typeface="Times New Roman" panose="02020603050405020304" pitchFamily="18" charset="0"/>
              </a:rPr>
              <a:t>Data Types : Floating point Type</a:t>
            </a:r>
          </a:p>
        </p:txBody>
      </p:sp>
      <p:sp>
        <p:nvSpPr>
          <p:cNvPr id="13315" name="Content Placeholder 2">
            <a:extLst>
              <a:ext uri="{FF2B5EF4-FFF2-40B4-BE49-F238E27FC236}">
                <a16:creationId xmlns:a16="http://schemas.microsoft.com/office/drawing/2014/main" id="{6DF357AB-B5EE-8EB9-0FC6-56C0B7D393B4}"/>
              </a:ext>
            </a:extLst>
          </p:cNvPr>
          <p:cNvSpPr>
            <a:spLocks noGrp="1"/>
          </p:cNvSpPr>
          <p:nvPr>
            <p:ph sz="quarter" idx="4294967295"/>
          </p:nvPr>
        </p:nvSpPr>
        <p:spPr>
          <a:xfrm>
            <a:off x="101600" y="774700"/>
            <a:ext cx="6273800" cy="3047732"/>
          </a:xfrm>
        </p:spPr>
        <p:txBody>
          <a:bodyPr/>
          <a:lstStyle/>
          <a:p>
            <a:pPr marL="285750" indent="-285750" algn="just" eaLnBrk="1" hangingPunct="1">
              <a:buFont typeface="Arial" panose="020B0604020202020204" pitchFamily="34" charset="0"/>
              <a:buChar char="•"/>
            </a:pPr>
            <a:r>
              <a:rPr lang="en-US" altLang="en-US" dirty="0">
                <a:cs typeface="Times New Roman" panose="02020603050405020304" pitchFamily="18" charset="0"/>
              </a:rPr>
              <a:t>Java supports 2 kinds of floating point storage</a:t>
            </a:r>
          </a:p>
          <a:p>
            <a:pPr marL="285750" indent="-285750" algn="just" eaLnBrk="1" hangingPunct="1">
              <a:buFont typeface="Arial" panose="020B0604020202020204" pitchFamily="34" charset="0"/>
              <a:buChar char="•"/>
            </a:pPr>
            <a:endParaRPr lang="en-US" altLang="en-US" dirty="0">
              <a:cs typeface="Times New Roman" panose="02020603050405020304" pitchFamily="18" charset="0"/>
            </a:endParaRPr>
          </a:p>
          <a:p>
            <a:pPr marL="285750" indent="-285750" algn="just" eaLnBrk="1" hangingPunct="1">
              <a:buFont typeface="Arial" panose="020B0604020202020204" pitchFamily="34" charset="0"/>
              <a:buChar char="•"/>
            </a:pPr>
            <a:endParaRPr lang="en-US" altLang="en-US" dirty="0">
              <a:cs typeface="Times New Roman" panose="02020603050405020304" pitchFamily="18" charset="0"/>
            </a:endParaRPr>
          </a:p>
          <a:p>
            <a:pPr marL="285750" indent="-285750" algn="just" eaLnBrk="1" hangingPunct="1">
              <a:buFont typeface="Arial" panose="020B0604020202020204" pitchFamily="34" charset="0"/>
              <a:buChar char="•"/>
            </a:pPr>
            <a:endParaRPr lang="en-US" altLang="en-US" dirty="0">
              <a:cs typeface="Times New Roman" panose="02020603050405020304" pitchFamily="18" charset="0"/>
            </a:endParaRPr>
          </a:p>
          <a:p>
            <a:pPr marL="285750" indent="-285750" algn="just" eaLnBrk="1" hangingPunct="1">
              <a:buFont typeface="Arial" panose="020B0604020202020204" pitchFamily="34" charset="0"/>
              <a:buChar char="•"/>
            </a:pPr>
            <a:endParaRPr lang="en-US" altLang="en-US" dirty="0">
              <a:cs typeface="Times New Roman" panose="02020603050405020304" pitchFamily="18" charset="0"/>
            </a:endParaRPr>
          </a:p>
          <a:p>
            <a:pPr marL="285750" indent="-285750" algn="just" eaLnBrk="1" hangingPunct="1">
              <a:buFont typeface="Arial" panose="020B0604020202020204" pitchFamily="34" charset="0"/>
              <a:buChar char="•"/>
            </a:pPr>
            <a:endParaRPr lang="en-US" altLang="en-US" dirty="0">
              <a:cs typeface="Times New Roman" panose="02020603050405020304" pitchFamily="18" charset="0"/>
            </a:endParaRPr>
          </a:p>
          <a:p>
            <a:pPr marL="285750" indent="-285750" algn="just" eaLnBrk="1" hangingPunct="1">
              <a:buFont typeface="Arial" panose="020B0604020202020204" pitchFamily="34" charset="0"/>
              <a:buChar char="•"/>
            </a:pPr>
            <a:endParaRPr lang="en-US" altLang="en-US" dirty="0">
              <a:cs typeface="Times New Roman" panose="02020603050405020304" pitchFamily="18" charset="0"/>
            </a:endParaRPr>
          </a:p>
          <a:p>
            <a:pPr marL="285750" indent="-285750" algn="just" eaLnBrk="1" hangingPunct="1">
              <a:buFont typeface="Arial" panose="020B0604020202020204" pitchFamily="34" charset="0"/>
              <a:buChar char="•"/>
            </a:pPr>
            <a:endParaRPr lang="en-US" altLang="en-US" dirty="0">
              <a:cs typeface="Times New Roman" panose="02020603050405020304" pitchFamily="18" charset="0"/>
            </a:endParaRPr>
          </a:p>
          <a:p>
            <a:pPr marL="285750" indent="-285750" algn="just" eaLnBrk="1" hangingPunct="1">
              <a:buFont typeface="Arial" panose="020B0604020202020204" pitchFamily="34" charset="0"/>
              <a:buChar char="•"/>
            </a:pPr>
            <a:r>
              <a:rPr lang="en-US" altLang="en-US" dirty="0">
                <a:cs typeface="Times New Roman" panose="02020603050405020304" pitchFamily="18" charset="0"/>
              </a:rPr>
              <a:t>Floating point numbers are treated as double-precision quantities. To force them to be in single-precision mode, f or F is appended to numbers.</a:t>
            </a:r>
          </a:p>
          <a:p>
            <a:pPr marL="285750" indent="-285750" algn="just">
              <a:buFont typeface="Arial" panose="020B0604020202020204" pitchFamily="34" charset="0"/>
              <a:buChar char="•"/>
            </a:pPr>
            <a:r>
              <a:rPr lang="en-US" altLang="en-US" dirty="0"/>
              <a:t>There are two kinds of floating-point types, </a:t>
            </a:r>
            <a:r>
              <a:rPr lang="en-US" altLang="en-US" b="1" dirty="0"/>
              <a:t>float and double, </a:t>
            </a:r>
            <a:r>
              <a:rPr lang="en-US" altLang="en-US" dirty="0"/>
              <a:t>which represent single- and double-precision numbers, respectively.</a:t>
            </a:r>
          </a:p>
          <a:p>
            <a:pPr marL="285750" indent="-285750" algn="just">
              <a:buFont typeface="Arial" panose="020B0604020202020204" pitchFamily="34" charset="0"/>
              <a:buChar char="•"/>
            </a:pPr>
            <a:r>
              <a:rPr lang="en-US" altLang="en-US" b="1" dirty="0"/>
              <a:t>Width of double : </a:t>
            </a:r>
            <a:r>
              <a:rPr lang="en-US" altLang="en-US" dirty="0"/>
              <a:t>64</a:t>
            </a:r>
          </a:p>
          <a:p>
            <a:pPr marL="285750" indent="-285750" algn="just">
              <a:buFont typeface="Arial" panose="020B0604020202020204" pitchFamily="34" charset="0"/>
              <a:buChar char="•"/>
            </a:pPr>
            <a:r>
              <a:rPr lang="en-US" altLang="en-US" b="1" dirty="0"/>
              <a:t>Width of float : </a:t>
            </a:r>
            <a:r>
              <a:rPr lang="en-US" altLang="en-US" dirty="0"/>
              <a:t>32</a:t>
            </a:r>
          </a:p>
        </p:txBody>
      </p:sp>
      <p:graphicFrame>
        <p:nvGraphicFramePr>
          <p:cNvPr id="4" name="Table 3">
            <a:extLst>
              <a:ext uri="{FF2B5EF4-FFF2-40B4-BE49-F238E27FC236}">
                <a16:creationId xmlns:a16="http://schemas.microsoft.com/office/drawing/2014/main" id="{720D960E-CB38-5A2F-BA41-2459080A925B}"/>
              </a:ext>
            </a:extLst>
          </p:cNvPr>
          <p:cNvGraphicFramePr>
            <a:graphicFrameLocks noGrp="1"/>
          </p:cNvGraphicFramePr>
          <p:nvPr>
            <p:extLst>
              <p:ext uri="{D42A27DB-BD31-4B8C-83A1-F6EECF244321}">
                <p14:modId xmlns:p14="http://schemas.microsoft.com/office/powerpoint/2010/main" val="2596789684"/>
              </p:ext>
            </p:extLst>
          </p:nvPr>
        </p:nvGraphicFramePr>
        <p:xfrm>
          <a:off x="685800" y="1084579"/>
          <a:ext cx="5093264" cy="1442721"/>
        </p:xfrm>
        <a:graphic>
          <a:graphicData uri="http://schemas.openxmlformats.org/drawingml/2006/table">
            <a:tbl>
              <a:tblPr firstRow="1" firstCol="1" bandRow="1">
                <a:tableStyleId>{5C22544A-7EE6-4342-B048-85BDC9FD1C3A}</a:tableStyleId>
              </a:tblPr>
              <a:tblGrid>
                <a:gridCol w="855509">
                  <a:extLst>
                    <a:ext uri="{9D8B030D-6E8A-4147-A177-3AD203B41FA5}">
                      <a16:colId xmlns:a16="http://schemas.microsoft.com/office/drawing/2014/main" val="20000"/>
                    </a:ext>
                  </a:extLst>
                </a:gridCol>
                <a:gridCol w="994778">
                  <a:extLst>
                    <a:ext uri="{9D8B030D-6E8A-4147-A177-3AD203B41FA5}">
                      <a16:colId xmlns:a16="http://schemas.microsoft.com/office/drawing/2014/main" val="20001"/>
                    </a:ext>
                  </a:extLst>
                </a:gridCol>
                <a:gridCol w="1844208">
                  <a:extLst>
                    <a:ext uri="{9D8B030D-6E8A-4147-A177-3AD203B41FA5}">
                      <a16:colId xmlns:a16="http://schemas.microsoft.com/office/drawing/2014/main" val="20002"/>
                    </a:ext>
                  </a:extLst>
                </a:gridCol>
                <a:gridCol w="1398769">
                  <a:extLst>
                    <a:ext uri="{9D8B030D-6E8A-4147-A177-3AD203B41FA5}">
                      <a16:colId xmlns:a16="http://schemas.microsoft.com/office/drawing/2014/main" val="20003"/>
                    </a:ext>
                  </a:extLst>
                </a:gridCol>
              </a:tblGrid>
              <a:tr h="480907">
                <a:tc>
                  <a:txBody>
                    <a:bodyPr/>
                    <a:lstStyle/>
                    <a:p>
                      <a:pPr marL="0" marR="0" algn="just">
                        <a:lnSpc>
                          <a:spcPct val="115000"/>
                        </a:lnSpc>
                        <a:spcBef>
                          <a:spcPts val="0"/>
                        </a:spcBef>
                        <a:spcAft>
                          <a:spcPts val="0"/>
                        </a:spcAft>
                      </a:pPr>
                      <a:r>
                        <a:rPr lang="en-US" sz="1400" dirty="0">
                          <a:effectLst/>
                        </a:rPr>
                        <a:t>Type</a:t>
                      </a:r>
                      <a:endParaRPr lang="en-US" sz="1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2926" marR="42926" marT="0" marB="0"/>
                </a:tc>
                <a:tc>
                  <a:txBody>
                    <a:bodyPr/>
                    <a:lstStyle/>
                    <a:p>
                      <a:pPr marL="0" marR="0" algn="just">
                        <a:lnSpc>
                          <a:spcPct val="115000"/>
                        </a:lnSpc>
                        <a:spcBef>
                          <a:spcPts val="0"/>
                        </a:spcBef>
                        <a:spcAft>
                          <a:spcPts val="0"/>
                        </a:spcAft>
                      </a:pPr>
                      <a:r>
                        <a:rPr lang="en-US" sz="1400" dirty="0">
                          <a:effectLst/>
                        </a:rPr>
                        <a:t>Size</a:t>
                      </a:r>
                      <a:endParaRPr lang="en-US" sz="1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2926" marR="42926" marT="0" marB="0"/>
                </a:tc>
                <a:tc>
                  <a:txBody>
                    <a:bodyPr/>
                    <a:lstStyle/>
                    <a:p>
                      <a:pPr marL="0" marR="0" algn="just">
                        <a:lnSpc>
                          <a:spcPct val="115000"/>
                        </a:lnSpc>
                        <a:spcBef>
                          <a:spcPts val="0"/>
                        </a:spcBef>
                        <a:spcAft>
                          <a:spcPts val="0"/>
                        </a:spcAft>
                      </a:pPr>
                      <a:r>
                        <a:rPr lang="en-US" sz="1400" dirty="0">
                          <a:effectLst/>
                        </a:rPr>
                        <a:t>Minimum value</a:t>
                      </a:r>
                      <a:endParaRPr lang="en-US" sz="1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2926" marR="42926" marT="0" marB="0"/>
                </a:tc>
                <a:tc>
                  <a:txBody>
                    <a:bodyPr/>
                    <a:lstStyle/>
                    <a:p>
                      <a:pPr marL="0" marR="0" algn="just">
                        <a:lnSpc>
                          <a:spcPct val="115000"/>
                        </a:lnSpc>
                        <a:spcBef>
                          <a:spcPts val="0"/>
                        </a:spcBef>
                        <a:spcAft>
                          <a:spcPts val="0"/>
                        </a:spcAft>
                      </a:pPr>
                      <a:r>
                        <a:rPr lang="en-US" sz="1400">
                          <a:effectLst/>
                        </a:rPr>
                        <a:t>Maximum value</a:t>
                      </a:r>
                      <a:endParaRPr lang="en-US" sz="1400">
                        <a:effectLst/>
                        <a:latin typeface="Calibri" panose="020F0502020204030204" pitchFamily="34" charset="0"/>
                        <a:ea typeface="Times New Roman" panose="02020603050405020304" pitchFamily="18" charset="0"/>
                        <a:cs typeface="Times New Roman" panose="02020603050405020304" pitchFamily="18" charset="0"/>
                      </a:endParaRPr>
                    </a:p>
                  </a:txBody>
                  <a:tcPr marL="42926" marR="42926" marT="0" marB="0"/>
                </a:tc>
                <a:extLst>
                  <a:ext uri="{0D108BD9-81ED-4DB2-BD59-A6C34878D82A}">
                    <a16:rowId xmlns:a16="http://schemas.microsoft.com/office/drawing/2014/main" val="10000"/>
                  </a:ext>
                </a:extLst>
              </a:tr>
              <a:tr h="480907">
                <a:tc>
                  <a:txBody>
                    <a:bodyPr/>
                    <a:lstStyle/>
                    <a:p>
                      <a:pPr marL="0" marR="0" algn="just">
                        <a:lnSpc>
                          <a:spcPct val="115000"/>
                        </a:lnSpc>
                        <a:spcBef>
                          <a:spcPts val="0"/>
                        </a:spcBef>
                        <a:spcAft>
                          <a:spcPts val="0"/>
                        </a:spcAft>
                      </a:pPr>
                      <a:r>
                        <a:rPr lang="en-US" sz="1400" dirty="0">
                          <a:effectLst/>
                        </a:rPr>
                        <a:t>float</a:t>
                      </a:r>
                      <a:endParaRPr lang="en-US" sz="1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2926" marR="42926" marT="0" marB="0"/>
                </a:tc>
                <a:tc>
                  <a:txBody>
                    <a:bodyPr/>
                    <a:lstStyle/>
                    <a:p>
                      <a:pPr marL="0" marR="0" algn="just">
                        <a:lnSpc>
                          <a:spcPct val="115000"/>
                        </a:lnSpc>
                        <a:spcBef>
                          <a:spcPts val="0"/>
                        </a:spcBef>
                        <a:spcAft>
                          <a:spcPts val="0"/>
                        </a:spcAft>
                      </a:pPr>
                      <a:r>
                        <a:rPr lang="en-US" sz="1400" dirty="0">
                          <a:effectLst/>
                        </a:rPr>
                        <a:t>4 byte</a:t>
                      </a:r>
                      <a:endParaRPr lang="en-US" sz="1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2926" marR="42926" marT="0" marB="0"/>
                </a:tc>
                <a:tc>
                  <a:txBody>
                    <a:bodyPr/>
                    <a:lstStyle/>
                    <a:p>
                      <a:pPr marL="0" marR="0" algn="just">
                        <a:lnSpc>
                          <a:spcPct val="115000"/>
                        </a:lnSpc>
                        <a:spcBef>
                          <a:spcPts val="0"/>
                        </a:spcBef>
                        <a:spcAft>
                          <a:spcPts val="0"/>
                        </a:spcAft>
                      </a:pPr>
                      <a:r>
                        <a:rPr lang="en-US" sz="1400" dirty="0">
                          <a:effectLst/>
                        </a:rPr>
                        <a:t>1.4e-45</a:t>
                      </a:r>
                      <a:endParaRPr lang="en-US" sz="1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2926" marR="42926" marT="0" marB="0"/>
                </a:tc>
                <a:tc>
                  <a:txBody>
                    <a:bodyPr/>
                    <a:lstStyle/>
                    <a:p>
                      <a:pPr marL="0" marR="0" algn="just">
                        <a:lnSpc>
                          <a:spcPct val="115000"/>
                        </a:lnSpc>
                        <a:spcBef>
                          <a:spcPts val="0"/>
                        </a:spcBef>
                        <a:spcAft>
                          <a:spcPts val="0"/>
                        </a:spcAft>
                      </a:pPr>
                      <a:r>
                        <a:rPr lang="en-US" sz="1400" dirty="0">
                          <a:effectLst/>
                        </a:rPr>
                        <a:t>3.4e+38</a:t>
                      </a:r>
                      <a:endParaRPr lang="en-US" sz="1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2926" marR="42926" marT="0" marB="0"/>
                </a:tc>
                <a:extLst>
                  <a:ext uri="{0D108BD9-81ED-4DB2-BD59-A6C34878D82A}">
                    <a16:rowId xmlns:a16="http://schemas.microsoft.com/office/drawing/2014/main" val="10001"/>
                  </a:ext>
                </a:extLst>
              </a:tr>
              <a:tr h="480907">
                <a:tc>
                  <a:txBody>
                    <a:bodyPr/>
                    <a:lstStyle/>
                    <a:p>
                      <a:pPr marL="0" marR="0" algn="just">
                        <a:lnSpc>
                          <a:spcPct val="115000"/>
                        </a:lnSpc>
                        <a:spcBef>
                          <a:spcPts val="0"/>
                        </a:spcBef>
                        <a:spcAft>
                          <a:spcPts val="0"/>
                        </a:spcAft>
                      </a:pPr>
                      <a:r>
                        <a:rPr lang="en-US" sz="1400" dirty="0">
                          <a:effectLst/>
                        </a:rPr>
                        <a:t>double</a:t>
                      </a:r>
                      <a:endParaRPr lang="en-US" sz="1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2926" marR="42926" marT="0" marB="0"/>
                </a:tc>
                <a:tc>
                  <a:txBody>
                    <a:bodyPr/>
                    <a:lstStyle/>
                    <a:p>
                      <a:pPr marL="0" marR="0" algn="just">
                        <a:lnSpc>
                          <a:spcPct val="115000"/>
                        </a:lnSpc>
                        <a:spcBef>
                          <a:spcPts val="0"/>
                        </a:spcBef>
                        <a:spcAft>
                          <a:spcPts val="0"/>
                        </a:spcAft>
                      </a:pPr>
                      <a:r>
                        <a:rPr lang="en-US" sz="1400" dirty="0">
                          <a:effectLst/>
                        </a:rPr>
                        <a:t>8 byte</a:t>
                      </a:r>
                      <a:endParaRPr lang="en-US" sz="1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2926" marR="42926" marT="0" marB="0"/>
                </a:tc>
                <a:tc>
                  <a:txBody>
                    <a:bodyPr/>
                    <a:lstStyle/>
                    <a:p>
                      <a:pPr marL="0" marR="0" algn="just">
                        <a:lnSpc>
                          <a:spcPct val="115000"/>
                        </a:lnSpc>
                        <a:spcBef>
                          <a:spcPts val="0"/>
                        </a:spcBef>
                        <a:spcAft>
                          <a:spcPts val="0"/>
                        </a:spcAft>
                      </a:pPr>
                      <a:r>
                        <a:rPr lang="en-US" sz="1400">
                          <a:effectLst/>
                        </a:rPr>
                        <a:t>4.9e-324</a:t>
                      </a:r>
                      <a:endParaRPr lang="en-US" sz="1400">
                        <a:effectLst/>
                        <a:latin typeface="Calibri" panose="020F0502020204030204" pitchFamily="34" charset="0"/>
                        <a:ea typeface="Times New Roman" panose="02020603050405020304" pitchFamily="18" charset="0"/>
                        <a:cs typeface="Times New Roman" panose="02020603050405020304" pitchFamily="18" charset="0"/>
                      </a:endParaRPr>
                    </a:p>
                  </a:txBody>
                  <a:tcPr marL="42926" marR="42926" marT="0" marB="0"/>
                </a:tc>
                <a:tc>
                  <a:txBody>
                    <a:bodyPr/>
                    <a:lstStyle/>
                    <a:p>
                      <a:pPr marL="0" marR="0" algn="just">
                        <a:lnSpc>
                          <a:spcPct val="115000"/>
                        </a:lnSpc>
                        <a:spcBef>
                          <a:spcPts val="0"/>
                        </a:spcBef>
                        <a:spcAft>
                          <a:spcPts val="0"/>
                        </a:spcAft>
                      </a:pPr>
                      <a:r>
                        <a:rPr lang="en-US" sz="1400" dirty="0">
                          <a:effectLst/>
                        </a:rPr>
                        <a:t>1.8e+308</a:t>
                      </a:r>
                      <a:endParaRPr lang="en-US" sz="1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2926" marR="42926" marT="0" marB="0"/>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AA92F86C-2569-6414-E26D-60A3989F033A}"/>
              </a:ext>
            </a:extLst>
          </p:cNvPr>
          <p:cNvSpPr>
            <a:spLocks noGrp="1"/>
          </p:cNvSpPr>
          <p:nvPr>
            <p:ph sz="quarter" idx="4294967295"/>
          </p:nvPr>
        </p:nvSpPr>
        <p:spPr>
          <a:xfrm>
            <a:off x="0" y="285750"/>
            <a:ext cx="5534025" cy="3005138"/>
          </a:xfrm>
        </p:spPr>
        <p:txBody>
          <a:bodyPr/>
          <a:lstStyle/>
          <a:p>
            <a:r>
              <a:rPr lang="en-US" altLang="en-US" sz="1502" dirty="0">
                <a:latin typeface="Times New Roman" panose="02020603050405020304" pitchFamily="18" charset="0"/>
                <a:cs typeface="Times New Roman" panose="02020603050405020304" pitchFamily="18" charset="0"/>
              </a:rPr>
              <a:t>// </a:t>
            </a:r>
            <a:r>
              <a:rPr lang="en-US" altLang="en-US" sz="1502" dirty="0">
                <a:solidFill>
                  <a:srgbClr val="FF0000"/>
                </a:solidFill>
                <a:latin typeface="Times New Roman" panose="02020603050405020304" pitchFamily="18" charset="0"/>
                <a:cs typeface="Times New Roman" panose="02020603050405020304" pitchFamily="18" charset="0"/>
              </a:rPr>
              <a:t>FLOATING TYPE </a:t>
            </a:r>
            <a:r>
              <a:rPr lang="en-US" altLang="en-US" sz="1502" dirty="0" err="1">
                <a:solidFill>
                  <a:srgbClr val="FF0000"/>
                </a:solidFill>
                <a:latin typeface="Times New Roman" panose="02020603050405020304" pitchFamily="18" charset="0"/>
                <a:cs typeface="Times New Roman" panose="02020603050405020304" pitchFamily="18" charset="0"/>
              </a:rPr>
              <a:t>Eg</a:t>
            </a:r>
            <a:r>
              <a:rPr lang="en-US" altLang="en-US" sz="1502" dirty="0">
                <a:solidFill>
                  <a:srgbClr val="FF0000"/>
                </a:solidFill>
                <a:latin typeface="Times New Roman" panose="02020603050405020304" pitchFamily="18" charset="0"/>
                <a:cs typeface="Times New Roman" panose="02020603050405020304" pitchFamily="18" charset="0"/>
              </a:rPr>
              <a:t>: </a:t>
            </a:r>
            <a:r>
              <a:rPr lang="en-US" altLang="en-US" sz="1502" dirty="0">
                <a:latin typeface="Times New Roman" panose="02020603050405020304" pitchFamily="18" charset="0"/>
                <a:cs typeface="Times New Roman" panose="02020603050405020304" pitchFamily="18" charset="0"/>
              </a:rPr>
              <a:t>Compute the area of a circle.</a:t>
            </a:r>
          </a:p>
          <a:p>
            <a:r>
              <a:rPr lang="en-US" altLang="en-US" sz="1502" dirty="0">
                <a:latin typeface="Times New Roman" panose="02020603050405020304" pitchFamily="18" charset="0"/>
                <a:cs typeface="Times New Roman" panose="02020603050405020304" pitchFamily="18" charset="0"/>
              </a:rPr>
              <a:t>class Area </a:t>
            </a:r>
          </a:p>
          <a:p>
            <a:r>
              <a:rPr lang="en-US" altLang="en-US" sz="1502" dirty="0">
                <a:latin typeface="Times New Roman" panose="02020603050405020304" pitchFamily="18" charset="0"/>
                <a:cs typeface="Times New Roman" panose="02020603050405020304" pitchFamily="18" charset="0"/>
              </a:rPr>
              <a:t>{</a:t>
            </a:r>
          </a:p>
          <a:p>
            <a:r>
              <a:rPr lang="en-US" altLang="en-US" sz="1502" dirty="0">
                <a:latin typeface="Times New Roman" panose="02020603050405020304" pitchFamily="18" charset="0"/>
                <a:cs typeface="Times New Roman" panose="02020603050405020304" pitchFamily="18" charset="0"/>
              </a:rPr>
              <a:t>  	public static void main(String </a:t>
            </a:r>
            <a:r>
              <a:rPr lang="en-US" altLang="en-US" sz="1502" dirty="0" err="1">
                <a:latin typeface="Times New Roman" panose="02020603050405020304" pitchFamily="18" charset="0"/>
                <a:cs typeface="Times New Roman" panose="02020603050405020304" pitchFamily="18" charset="0"/>
              </a:rPr>
              <a:t>args</a:t>
            </a:r>
            <a:r>
              <a:rPr lang="en-US" altLang="en-US" sz="1502" dirty="0">
                <a:latin typeface="Times New Roman" panose="02020603050405020304" pitchFamily="18" charset="0"/>
                <a:cs typeface="Times New Roman" panose="02020603050405020304" pitchFamily="18" charset="0"/>
              </a:rPr>
              <a:t>[]) </a:t>
            </a:r>
          </a:p>
          <a:p>
            <a:r>
              <a:rPr lang="en-US" altLang="en-US" sz="1502" dirty="0">
                <a:latin typeface="Times New Roman" panose="02020603050405020304" pitchFamily="18" charset="0"/>
                <a:cs typeface="Times New Roman" panose="02020603050405020304" pitchFamily="18" charset="0"/>
              </a:rPr>
              <a:t>	{</a:t>
            </a:r>
          </a:p>
          <a:p>
            <a:r>
              <a:rPr lang="en-US" altLang="en-US" sz="1502" dirty="0">
                <a:latin typeface="Times New Roman" panose="02020603050405020304" pitchFamily="18" charset="0"/>
                <a:cs typeface="Times New Roman" panose="02020603050405020304" pitchFamily="18" charset="0"/>
              </a:rPr>
              <a:t>  		double pi, r, a;</a:t>
            </a:r>
          </a:p>
          <a:p>
            <a:r>
              <a:rPr lang="en-US" altLang="en-US" sz="1502" dirty="0">
                <a:latin typeface="Times New Roman" panose="02020603050405020304" pitchFamily="18" charset="0"/>
                <a:cs typeface="Times New Roman" panose="02020603050405020304" pitchFamily="18" charset="0"/>
              </a:rPr>
              <a:t> 		r = 10.8; // radius of circle</a:t>
            </a:r>
          </a:p>
          <a:p>
            <a:r>
              <a:rPr lang="en-US" altLang="en-US" sz="1502" dirty="0">
                <a:latin typeface="Times New Roman" panose="02020603050405020304" pitchFamily="18" charset="0"/>
                <a:cs typeface="Times New Roman" panose="02020603050405020304" pitchFamily="18" charset="0"/>
              </a:rPr>
              <a:t>  		pi = 3.1416; // pi, approximately</a:t>
            </a:r>
          </a:p>
          <a:p>
            <a:r>
              <a:rPr lang="pt-BR" altLang="en-US" sz="1502" dirty="0">
                <a:latin typeface="Times New Roman" panose="02020603050405020304" pitchFamily="18" charset="0"/>
                <a:cs typeface="Times New Roman" panose="02020603050405020304" pitchFamily="18" charset="0"/>
              </a:rPr>
              <a:t>    		a = pi * r * r; // compute area</a:t>
            </a:r>
          </a:p>
          <a:p>
            <a:r>
              <a:rPr lang="en-US" altLang="en-US" sz="1502" dirty="0">
                <a:latin typeface="Times New Roman" panose="02020603050405020304" pitchFamily="18" charset="0"/>
                <a:cs typeface="Times New Roman" panose="02020603050405020304" pitchFamily="18" charset="0"/>
              </a:rPr>
              <a:t>  		</a:t>
            </a:r>
            <a:r>
              <a:rPr lang="en-US" altLang="en-US" sz="1502" dirty="0" err="1">
                <a:latin typeface="Times New Roman" panose="02020603050405020304" pitchFamily="18" charset="0"/>
                <a:cs typeface="Times New Roman" panose="02020603050405020304" pitchFamily="18" charset="0"/>
              </a:rPr>
              <a:t>System.out.println</a:t>
            </a:r>
            <a:r>
              <a:rPr lang="en-US" altLang="en-US" sz="1502" dirty="0">
                <a:latin typeface="Times New Roman" panose="02020603050405020304" pitchFamily="18" charset="0"/>
                <a:cs typeface="Times New Roman" panose="02020603050405020304" pitchFamily="18" charset="0"/>
              </a:rPr>
              <a:t>("Area of circle is " + a);</a:t>
            </a:r>
          </a:p>
          <a:p>
            <a:r>
              <a:rPr lang="en-US" altLang="en-US" sz="1502" dirty="0">
                <a:latin typeface="Times New Roman" panose="02020603050405020304" pitchFamily="18" charset="0"/>
                <a:cs typeface="Times New Roman" panose="02020603050405020304" pitchFamily="18" charset="0"/>
              </a:rPr>
              <a:t>  	}</a:t>
            </a:r>
          </a:p>
          <a:p>
            <a:r>
              <a:rPr lang="en-US" altLang="en-US" sz="1502" dirty="0">
                <a:latin typeface="Times New Roman" panose="02020603050405020304" pitchFamily="18" charset="0"/>
                <a:cs typeface="Times New Roman" panose="02020603050405020304" pitchFamily="18" charset="0"/>
              </a:rPr>
              <a:t>}       </a:t>
            </a:r>
            <a:r>
              <a:rPr lang="en-US" altLang="en-US" sz="1502" b="1" dirty="0">
                <a:solidFill>
                  <a:srgbClr val="00B050"/>
                </a:solidFill>
                <a:latin typeface="Times New Roman" panose="02020603050405020304" pitchFamily="18" charset="0"/>
                <a:cs typeface="Times New Roman" panose="02020603050405020304" pitchFamily="18" charset="0"/>
              </a:rPr>
              <a:t>o/p Area of circle is 366.436224</a:t>
            </a:r>
          </a:p>
          <a:p>
            <a:endParaRPr lang="en-US" altLang="en-US" sz="1502" dirty="0">
              <a:latin typeface="Times New Roman" panose="02020603050405020304" pitchFamily="18" charset="0"/>
              <a:cs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6598C48B-1DFB-8F44-B6E6-9C05E5AC85F7}"/>
              </a:ext>
            </a:extLst>
          </p:cNvPr>
          <p:cNvSpPr>
            <a:spLocks noGrp="1"/>
          </p:cNvSpPr>
          <p:nvPr>
            <p:ph type="title" idx="4294967295"/>
          </p:nvPr>
        </p:nvSpPr>
        <p:spPr>
          <a:xfrm>
            <a:off x="0" y="95250"/>
            <a:ext cx="5842000" cy="346075"/>
          </a:xfrm>
        </p:spPr>
        <p:txBody>
          <a:bodyPr/>
          <a:lstStyle/>
          <a:p>
            <a:pPr algn="ctr" eaLnBrk="1" hangingPunct="1"/>
            <a:r>
              <a:rPr lang="en-US" altLang="en-US" sz="2253" dirty="0">
                <a:solidFill>
                  <a:srgbClr val="FF0000"/>
                </a:solidFill>
                <a:latin typeface="Times New Roman" panose="02020603050405020304" pitchFamily="18" charset="0"/>
                <a:cs typeface="Times New Roman" panose="02020603050405020304" pitchFamily="18" charset="0"/>
              </a:rPr>
              <a:t>Data Types : Character Type</a:t>
            </a:r>
          </a:p>
        </p:txBody>
      </p:sp>
      <p:sp>
        <p:nvSpPr>
          <p:cNvPr id="16387" name="Content Placeholder 2">
            <a:extLst>
              <a:ext uri="{FF2B5EF4-FFF2-40B4-BE49-F238E27FC236}">
                <a16:creationId xmlns:a16="http://schemas.microsoft.com/office/drawing/2014/main" id="{038B8946-94A6-1AB2-8819-1207A4CFAB63}"/>
              </a:ext>
            </a:extLst>
          </p:cNvPr>
          <p:cNvSpPr>
            <a:spLocks noGrp="1"/>
          </p:cNvSpPr>
          <p:nvPr>
            <p:ph sz="quarter" idx="4294967295"/>
          </p:nvPr>
        </p:nvSpPr>
        <p:spPr>
          <a:xfrm>
            <a:off x="1039813" y="763588"/>
            <a:ext cx="5462587" cy="2465387"/>
          </a:xfrm>
        </p:spPr>
        <p:txBody>
          <a:bodyPr/>
          <a:lstStyle/>
          <a:p>
            <a:pPr marL="342900" indent="-342900" algn="just" eaLnBrk="1" hangingPunct="1">
              <a:buFont typeface="Arial" panose="020B0604020202020204" pitchFamily="34" charset="0"/>
              <a:buChar char="•"/>
            </a:pPr>
            <a:endParaRPr lang="en-US" altLang="en-US" sz="2003" dirty="0">
              <a:latin typeface="Times New Roman" panose="02020603050405020304" pitchFamily="18" charset="0"/>
              <a:cs typeface="Times New Roman" panose="02020603050405020304" pitchFamily="18" charset="0"/>
            </a:endParaRPr>
          </a:p>
          <a:p>
            <a:pPr marL="342900" indent="-342900" algn="just" eaLnBrk="1" hangingPunct="1">
              <a:buFont typeface="Arial" panose="020B0604020202020204" pitchFamily="34" charset="0"/>
              <a:buChar char="•"/>
            </a:pPr>
            <a:endParaRPr lang="en-US" altLang="en-US" sz="2003" dirty="0">
              <a:latin typeface="Times New Roman" panose="02020603050405020304" pitchFamily="18" charset="0"/>
              <a:cs typeface="Times New Roman" panose="02020603050405020304" pitchFamily="18" charset="0"/>
            </a:endParaRPr>
          </a:p>
          <a:p>
            <a:pPr marL="342900" indent="-342900" algn="just" eaLnBrk="1" hangingPunct="1">
              <a:buFont typeface="Arial" panose="020B0604020202020204" pitchFamily="34" charset="0"/>
              <a:buChar char="•"/>
            </a:pPr>
            <a:endParaRPr lang="en-US" altLang="en-US" sz="2003"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sz="2003" dirty="0">
                <a:latin typeface="Times New Roman" panose="02020603050405020304" pitchFamily="18" charset="0"/>
                <a:cs typeface="Times New Roman" panose="02020603050405020304" pitchFamily="18" charset="0"/>
              </a:rPr>
              <a:t>Java uses Unicode to represent characters. </a:t>
            </a:r>
          </a:p>
          <a:p>
            <a:pPr marL="342900" indent="-342900" algn="just">
              <a:buFont typeface="Arial" panose="020B0604020202020204" pitchFamily="34" charset="0"/>
              <a:buChar char="•"/>
            </a:pPr>
            <a:r>
              <a:rPr lang="en-US" altLang="en-US" sz="2003" dirty="0">
                <a:latin typeface="Times New Roman" panose="02020603050405020304" pitchFamily="18" charset="0"/>
                <a:cs typeface="Times New Roman" panose="02020603050405020304" pitchFamily="18" charset="0"/>
              </a:rPr>
              <a:t>There are no negative chars. </a:t>
            </a:r>
          </a:p>
          <a:p>
            <a:pPr marL="342900" indent="-342900" algn="just" eaLnBrk="1" hangingPunct="1">
              <a:buFont typeface="Arial" panose="020B0604020202020204" pitchFamily="34" charset="0"/>
              <a:buChar char="•"/>
            </a:pPr>
            <a:endParaRPr lang="en-US" altLang="en-US" sz="2003" dirty="0">
              <a:latin typeface="Times New Roman" panose="02020603050405020304" pitchFamily="18" charset="0"/>
              <a:cs typeface="Times New Roman" panose="02020603050405020304" pitchFamily="18" charset="0"/>
            </a:endParaRPr>
          </a:p>
          <a:p>
            <a:pPr marL="342900" indent="-342900" algn="just" eaLnBrk="1" hangingPunct="1">
              <a:buFont typeface="Arial" panose="020B0604020202020204" pitchFamily="34" charset="0"/>
              <a:buChar char="•"/>
            </a:pPr>
            <a:endParaRPr lang="en-US" altLang="en-US" sz="2003" dirty="0">
              <a:latin typeface="Times New Roman" panose="02020603050405020304" pitchFamily="18" charset="0"/>
              <a:cs typeface="Times New Roman" panose="02020603050405020304" pitchFamily="18" charset="0"/>
            </a:endParaRPr>
          </a:p>
          <a:p>
            <a:pPr marL="342900" indent="-342900" algn="just" eaLnBrk="1" hangingPunct="1">
              <a:buFont typeface="Arial" panose="020B0604020202020204" pitchFamily="34" charset="0"/>
              <a:buChar char="•"/>
            </a:pPr>
            <a:endParaRPr lang="en-US" altLang="en-US" sz="2003"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A6775697-3A63-27B7-03EE-F2C1CBFE20CD}"/>
              </a:ext>
            </a:extLst>
          </p:cNvPr>
          <p:cNvGraphicFramePr>
            <a:graphicFrameLocks noGrp="1"/>
          </p:cNvGraphicFramePr>
          <p:nvPr/>
        </p:nvGraphicFramePr>
        <p:xfrm>
          <a:off x="723335" y="567379"/>
          <a:ext cx="5271354" cy="1101966"/>
        </p:xfrm>
        <a:graphic>
          <a:graphicData uri="http://schemas.openxmlformats.org/drawingml/2006/table">
            <a:tbl>
              <a:tblPr firstRow="1" firstCol="1" bandRow="1">
                <a:tableStyleId>{5C22544A-7EE6-4342-B048-85BDC9FD1C3A}</a:tableStyleId>
              </a:tblPr>
              <a:tblGrid>
                <a:gridCol w="826879">
                  <a:extLst>
                    <a:ext uri="{9D8B030D-6E8A-4147-A177-3AD203B41FA5}">
                      <a16:colId xmlns:a16="http://schemas.microsoft.com/office/drawing/2014/main" val="20000"/>
                    </a:ext>
                  </a:extLst>
                </a:gridCol>
                <a:gridCol w="1088105">
                  <a:extLst>
                    <a:ext uri="{9D8B030D-6E8A-4147-A177-3AD203B41FA5}">
                      <a16:colId xmlns:a16="http://schemas.microsoft.com/office/drawing/2014/main" val="20001"/>
                    </a:ext>
                  </a:extLst>
                </a:gridCol>
                <a:gridCol w="1908692">
                  <a:extLst>
                    <a:ext uri="{9D8B030D-6E8A-4147-A177-3AD203B41FA5}">
                      <a16:colId xmlns:a16="http://schemas.microsoft.com/office/drawing/2014/main" val="20002"/>
                    </a:ext>
                  </a:extLst>
                </a:gridCol>
                <a:gridCol w="1447678">
                  <a:extLst>
                    <a:ext uri="{9D8B030D-6E8A-4147-A177-3AD203B41FA5}">
                      <a16:colId xmlns:a16="http://schemas.microsoft.com/office/drawing/2014/main" val="20003"/>
                    </a:ext>
                  </a:extLst>
                </a:gridCol>
              </a:tblGrid>
              <a:tr h="550983">
                <a:tc>
                  <a:txBody>
                    <a:bodyPr/>
                    <a:lstStyle/>
                    <a:p>
                      <a:pPr marL="0" marR="0" algn="just">
                        <a:lnSpc>
                          <a:spcPct val="115000"/>
                        </a:lnSpc>
                        <a:spcBef>
                          <a:spcPts val="0"/>
                        </a:spcBef>
                        <a:spcAft>
                          <a:spcPts val="0"/>
                        </a:spcAft>
                      </a:pPr>
                      <a:r>
                        <a:rPr lang="en-US" sz="1300" dirty="0">
                          <a:effectLst/>
                        </a:rPr>
                        <a:t>Type</a:t>
                      </a:r>
                      <a:endParaRPr lang="en-US" sz="13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2926" marR="42926" marT="0" marB="0"/>
                </a:tc>
                <a:tc>
                  <a:txBody>
                    <a:bodyPr/>
                    <a:lstStyle/>
                    <a:p>
                      <a:pPr marL="0" marR="0" algn="just">
                        <a:lnSpc>
                          <a:spcPct val="115000"/>
                        </a:lnSpc>
                        <a:spcBef>
                          <a:spcPts val="0"/>
                        </a:spcBef>
                        <a:spcAft>
                          <a:spcPts val="0"/>
                        </a:spcAft>
                      </a:pPr>
                      <a:r>
                        <a:rPr lang="en-US" sz="1300">
                          <a:effectLst/>
                        </a:rPr>
                        <a:t>Size</a:t>
                      </a:r>
                      <a:endParaRPr lang="en-US"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42926" marR="42926" marT="0" marB="0"/>
                </a:tc>
                <a:tc>
                  <a:txBody>
                    <a:bodyPr/>
                    <a:lstStyle/>
                    <a:p>
                      <a:pPr marL="0" marR="0" algn="just">
                        <a:lnSpc>
                          <a:spcPct val="115000"/>
                        </a:lnSpc>
                        <a:spcBef>
                          <a:spcPts val="0"/>
                        </a:spcBef>
                        <a:spcAft>
                          <a:spcPts val="0"/>
                        </a:spcAft>
                      </a:pPr>
                      <a:r>
                        <a:rPr lang="en-US" sz="1300">
                          <a:effectLst/>
                        </a:rPr>
                        <a:t>Minimum value</a:t>
                      </a:r>
                      <a:endParaRPr lang="en-US"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42926" marR="42926" marT="0" marB="0"/>
                </a:tc>
                <a:tc>
                  <a:txBody>
                    <a:bodyPr/>
                    <a:lstStyle/>
                    <a:p>
                      <a:pPr marL="0" marR="0" algn="just">
                        <a:lnSpc>
                          <a:spcPct val="115000"/>
                        </a:lnSpc>
                        <a:spcBef>
                          <a:spcPts val="0"/>
                        </a:spcBef>
                        <a:spcAft>
                          <a:spcPts val="0"/>
                        </a:spcAft>
                      </a:pPr>
                      <a:r>
                        <a:rPr lang="en-US" sz="1300">
                          <a:effectLst/>
                        </a:rPr>
                        <a:t>Maximum value</a:t>
                      </a:r>
                      <a:endParaRPr lang="en-US"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42926" marR="42926" marT="0" marB="0"/>
                </a:tc>
                <a:extLst>
                  <a:ext uri="{0D108BD9-81ED-4DB2-BD59-A6C34878D82A}">
                    <a16:rowId xmlns:a16="http://schemas.microsoft.com/office/drawing/2014/main" val="10000"/>
                  </a:ext>
                </a:extLst>
              </a:tr>
              <a:tr h="550983">
                <a:tc>
                  <a:txBody>
                    <a:bodyPr/>
                    <a:lstStyle/>
                    <a:p>
                      <a:pPr marL="0" marR="0" algn="just">
                        <a:lnSpc>
                          <a:spcPct val="115000"/>
                        </a:lnSpc>
                        <a:spcBef>
                          <a:spcPts val="0"/>
                        </a:spcBef>
                        <a:spcAft>
                          <a:spcPts val="0"/>
                        </a:spcAft>
                      </a:pPr>
                      <a:r>
                        <a:rPr lang="en-US" sz="1300">
                          <a:effectLst/>
                        </a:rPr>
                        <a:t>Char</a:t>
                      </a:r>
                      <a:endParaRPr lang="en-US"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42926" marR="42926" marT="0" marB="0"/>
                </a:tc>
                <a:tc>
                  <a:txBody>
                    <a:bodyPr/>
                    <a:lstStyle/>
                    <a:p>
                      <a:pPr marL="0" marR="0" algn="just">
                        <a:lnSpc>
                          <a:spcPct val="115000"/>
                        </a:lnSpc>
                        <a:spcBef>
                          <a:spcPts val="0"/>
                        </a:spcBef>
                        <a:spcAft>
                          <a:spcPts val="0"/>
                        </a:spcAft>
                      </a:pPr>
                      <a:r>
                        <a:rPr lang="en-US" sz="1300" dirty="0">
                          <a:effectLst/>
                        </a:rPr>
                        <a:t>2 byte</a:t>
                      </a:r>
                      <a:endParaRPr lang="en-US" sz="13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2926" marR="42926" marT="0" marB="0"/>
                </a:tc>
                <a:tc>
                  <a:txBody>
                    <a:bodyPr/>
                    <a:lstStyle/>
                    <a:p>
                      <a:pPr marL="0" marR="0" algn="just">
                        <a:lnSpc>
                          <a:spcPct val="115000"/>
                        </a:lnSpc>
                        <a:spcBef>
                          <a:spcPts val="0"/>
                        </a:spcBef>
                        <a:spcAft>
                          <a:spcPts val="0"/>
                        </a:spcAft>
                      </a:pPr>
                      <a:r>
                        <a:rPr lang="en-US" sz="1300" dirty="0">
                          <a:effectLst/>
                        </a:rPr>
                        <a:t>0</a:t>
                      </a:r>
                      <a:endParaRPr lang="en-US" sz="13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2926" marR="42926" marT="0" marB="0"/>
                </a:tc>
                <a:tc>
                  <a:txBody>
                    <a:bodyPr/>
                    <a:lstStyle/>
                    <a:p>
                      <a:pPr marL="0" marR="0" algn="just">
                        <a:lnSpc>
                          <a:spcPct val="115000"/>
                        </a:lnSpc>
                        <a:spcBef>
                          <a:spcPts val="0"/>
                        </a:spcBef>
                        <a:spcAft>
                          <a:spcPts val="0"/>
                        </a:spcAft>
                      </a:pPr>
                      <a:r>
                        <a:rPr lang="en-US" sz="1300" dirty="0">
                          <a:effectLst/>
                        </a:rPr>
                        <a:t>65535</a:t>
                      </a:r>
                      <a:endParaRPr lang="en-US" sz="13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2926" marR="42926" marT="0" marB="0"/>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4C1C9B22-A0B0-E278-5E5B-C3FAC44AD23B}"/>
              </a:ext>
            </a:extLst>
          </p:cNvPr>
          <p:cNvSpPr>
            <a:spLocks noGrp="1"/>
          </p:cNvSpPr>
          <p:nvPr>
            <p:ph sz="quarter" idx="4294967295"/>
          </p:nvPr>
        </p:nvSpPr>
        <p:spPr>
          <a:xfrm>
            <a:off x="1374775" y="763588"/>
            <a:ext cx="5127625" cy="693737"/>
          </a:xfrm>
        </p:spPr>
        <p:txBody>
          <a:bodyPr/>
          <a:lstStyle/>
          <a:p>
            <a:pPr algn="just" eaLnBrk="1" hangingPunct="1"/>
            <a:endParaRPr lang="en-US" altLang="en-US" sz="1502"/>
          </a:p>
          <a:p>
            <a:pPr algn="just" eaLnBrk="1" hangingPunct="1"/>
            <a:endParaRPr lang="en-US" altLang="en-US" sz="1502"/>
          </a:p>
          <a:p>
            <a:pPr algn="just" eaLnBrk="1" hangingPunct="1"/>
            <a:endParaRPr lang="en-US" altLang="en-US" sz="1502"/>
          </a:p>
        </p:txBody>
      </p:sp>
      <p:sp>
        <p:nvSpPr>
          <p:cNvPr id="18441" name="Title 4">
            <a:extLst>
              <a:ext uri="{FF2B5EF4-FFF2-40B4-BE49-F238E27FC236}">
                <a16:creationId xmlns:a16="http://schemas.microsoft.com/office/drawing/2014/main" id="{84C93D00-7162-5C05-3D54-87C1E00AFAB8}"/>
              </a:ext>
            </a:extLst>
          </p:cNvPr>
          <p:cNvSpPr>
            <a:spLocks noGrp="1"/>
          </p:cNvSpPr>
          <p:nvPr>
            <p:ph type="title" idx="4294967295"/>
          </p:nvPr>
        </p:nvSpPr>
        <p:spPr>
          <a:xfrm>
            <a:off x="0" y="195263"/>
            <a:ext cx="5149850" cy="269875"/>
          </a:xfrm>
        </p:spPr>
        <p:txBody>
          <a:bodyPr/>
          <a:lstStyle/>
          <a:p>
            <a:pPr algn="ctr"/>
            <a:r>
              <a:rPr lang="en-GB" altLang="en-US" sz="1753" dirty="0">
                <a:solidFill>
                  <a:srgbClr val="FF0000"/>
                </a:solidFill>
              </a:rPr>
              <a:t>CHARACTER TYPE Example</a:t>
            </a:r>
          </a:p>
        </p:txBody>
      </p:sp>
      <p:graphicFrame>
        <p:nvGraphicFramePr>
          <p:cNvPr id="4" name="Table 3">
            <a:extLst>
              <a:ext uri="{FF2B5EF4-FFF2-40B4-BE49-F238E27FC236}">
                <a16:creationId xmlns:a16="http://schemas.microsoft.com/office/drawing/2014/main" id="{DAB0398D-E42E-E010-7A4B-63552946BD52}"/>
              </a:ext>
            </a:extLst>
          </p:cNvPr>
          <p:cNvGraphicFramePr>
            <a:graphicFrameLocks noGrp="1"/>
          </p:cNvGraphicFramePr>
          <p:nvPr>
            <p:extLst>
              <p:ext uri="{D42A27DB-BD31-4B8C-83A1-F6EECF244321}">
                <p14:modId xmlns:p14="http://schemas.microsoft.com/office/powerpoint/2010/main" val="4186273833"/>
              </p:ext>
            </p:extLst>
          </p:nvPr>
        </p:nvGraphicFramePr>
        <p:xfrm>
          <a:off x="508000" y="546100"/>
          <a:ext cx="5410200" cy="3551237"/>
        </p:xfrm>
        <a:graphic>
          <a:graphicData uri="http://schemas.openxmlformats.org/drawingml/2006/table">
            <a:tbl>
              <a:tblPr/>
              <a:tblGrid>
                <a:gridCol w="5410200">
                  <a:extLst>
                    <a:ext uri="{9D8B030D-6E8A-4147-A177-3AD203B41FA5}">
                      <a16:colId xmlns:a16="http://schemas.microsoft.com/office/drawing/2014/main" val="20000"/>
                    </a:ext>
                  </a:extLst>
                </a:gridCol>
              </a:tblGrid>
              <a:tr h="3551237">
                <a:tc>
                  <a:txBody>
                    <a:body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Times New Roman" pitchFamily="18" charset="0"/>
                          <a:cs typeface="Times New Roman" pitchFamily="18" charset="0"/>
                        </a:rPr>
                        <a:t>class </a:t>
                      </a:r>
                      <a:r>
                        <a:rPr kumimoji="0" lang="en-US" sz="1600" b="0" i="0" u="none" strike="noStrike" cap="none" normalizeH="0" baseline="0" dirty="0" err="1">
                          <a:ln>
                            <a:noFill/>
                          </a:ln>
                          <a:solidFill>
                            <a:srgbClr val="000000"/>
                          </a:solidFill>
                          <a:effectLst/>
                          <a:latin typeface="Times New Roman" pitchFamily="18" charset="0"/>
                          <a:cs typeface="Times New Roman" pitchFamily="18" charset="0"/>
                        </a:rPr>
                        <a:t>CharDemo</a:t>
                      </a:r>
                      <a:r>
                        <a:rPr kumimoji="0" lang="en-US" sz="1600" b="0" i="0" u="none" strike="noStrike" cap="none" normalizeH="0" baseline="0" dirty="0">
                          <a:ln>
                            <a:noFill/>
                          </a:ln>
                          <a:solidFill>
                            <a:srgbClr val="000000"/>
                          </a:solidFill>
                          <a:effectLst/>
                          <a:latin typeface="Times New Roman" pitchFamily="18" charset="0"/>
                          <a:cs typeface="Times New Roman" pitchFamily="18" charset="0"/>
                        </a:rPr>
                        <a:t> </a:t>
                      </a:r>
                    </a:p>
                    <a:p>
                      <a:pPr marL="0" marR="0" lvl="0" indent="0" algn="just" defTabSz="914400" rtl="0" eaLnBrk="1" fontAlgn="base" latinLnBrk="0" hangingPunct="1">
                        <a:lnSpc>
                          <a:spcPct val="115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Times New Roman" pitchFamily="18" charset="0"/>
                          <a:cs typeface="Times New Roman" pitchFamily="18" charset="0"/>
                        </a:rPr>
                        <a:t>{</a:t>
                      </a:r>
                    </a:p>
                    <a:p>
                      <a:pPr marL="0" marR="0" lvl="0" indent="0" algn="just" defTabSz="914400" rtl="0" eaLnBrk="1" fontAlgn="base" latinLnBrk="0" hangingPunct="1">
                        <a:lnSpc>
                          <a:spcPct val="115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Times New Roman" pitchFamily="18" charset="0"/>
                          <a:cs typeface="Times New Roman" pitchFamily="18" charset="0"/>
                        </a:rPr>
                        <a:t>                 public static void main(String </a:t>
                      </a:r>
                      <a:r>
                        <a:rPr kumimoji="0" lang="en-US" sz="1600" b="0" i="0" u="none" strike="noStrike" cap="none" normalizeH="0" baseline="0" dirty="0" err="1">
                          <a:ln>
                            <a:noFill/>
                          </a:ln>
                          <a:solidFill>
                            <a:srgbClr val="000000"/>
                          </a:solidFill>
                          <a:effectLst/>
                          <a:latin typeface="Times New Roman" pitchFamily="18" charset="0"/>
                          <a:cs typeface="Times New Roman" pitchFamily="18" charset="0"/>
                        </a:rPr>
                        <a:t>args</a:t>
                      </a:r>
                      <a:r>
                        <a:rPr kumimoji="0" lang="en-US" sz="1600" b="0" i="0" u="none" strike="noStrike" cap="none" normalizeH="0" baseline="0" dirty="0">
                          <a:ln>
                            <a:noFill/>
                          </a:ln>
                          <a:solidFill>
                            <a:srgbClr val="000000"/>
                          </a:solidFill>
                          <a:effectLst/>
                          <a:latin typeface="Times New Roman" pitchFamily="18" charset="0"/>
                          <a:cs typeface="Times New Roman" pitchFamily="18" charset="0"/>
                        </a:rPr>
                        <a:t>[]) </a:t>
                      </a:r>
                    </a:p>
                    <a:p>
                      <a:pPr marL="0" marR="0" lvl="0" indent="0" algn="just" defTabSz="914400" rtl="0" eaLnBrk="1" fontAlgn="base" latinLnBrk="0" hangingPunct="1">
                        <a:lnSpc>
                          <a:spcPct val="115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Times New Roman" pitchFamily="18" charset="0"/>
                          <a:cs typeface="Times New Roman" pitchFamily="18" charset="0"/>
                        </a:rPr>
                        <a:t>                 {</a:t>
                      </a:r>
                    </a:p>
                    <a:p>
                      <a:pPr marL="0" marR="0" lvl="0" indent="0" algn="just" defTabSz="914400" rtl="0" eaLnBrk="1" fontAlgn="base" latinLnBrk="0" hangingPunct="1">
                        <a:lnSpc>
                          <a:spcPct val="115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Times New Roman" pitchFamily="18" charset="0"/>
                          <a:cs typeface="Times New Roman" pitchFamily="18" charset="0"/>
                        </a:rPr>
                        <a:t>                           char ch1, ch2;</a:t>
                      </a:r>
                    </a:p>
                    <a:p>
                      <a:pPr marL="0" marR="0" lvl="0" indent="0" algn="just" defTabSz="914400" rtl="0" eaLnBrk="1" fontAlgn="base" latinLnBrk="0" hangingPunct="1">
                        <a:lnSpc>
                          <a:spcPct val="115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Times New Roman" pitchFamily="18" charset="0"/>
                          <a:cs typeface="Times New Roman" pitchFamily="18" charset="0"/>
                        </a:rPr>
                        <a:t>                           ch1 = 88; // code for X</a:t>
                      </a:r>
                    </a:p>
                    <a:p>
                      <a:pPr marL="0" marR="0" lvl="0" indent="0" algn="just" defTabSz="914400" rtl="0" eaLnBrk="1" fontAlgn="base" latinLnBrk="0" hangingPunct="1">
                        <a:lnSpc>
                          <a:spcPct val="115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Times New Roman" pitchFamily="18" charset="0"/>
                          <a:cs typeface="Times New Roman" pitchFamily="18" charset="0"/>
                        </a:rPr>
                        <a:t>                           ch2 = 'Y';</a:t>
                      </a:r>
                    </a:p>
                    <a:p>
                      <a:pPr marL="0" marR="0" lvl="0" indent="0" algn="just" defTabSz="914400" rtl="0" eaLnBrk="1" fontAlgn="base" latinLnBrk="0" hangingPunct="1">
                        <a:lnSpc>
                          <a:spcPct val="115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Times New Roman" pitchFamily="18" charset="0"/>
                          <a:cs typeface="Times New Roman" pitchFamily="18" charset="0"/>
                        </a:rPr>
                        <a:t>                           </a:t>
                      </a:r>
                      <a:r>
                        <a:rPr kumimoji="0" lang="en-US" sz="1600" b="0" i="0" u="none" strike="noStrike" cap="none" normalizeH="0" baseline="0" dirty="0" err="1">
                          <a:ln>
                            <a:noFill/>
                          </a:ln>
                          <a:solidFill>
                            <a:srgbClr val="000000"/>
                          </a:solidFill>
                          <a:effectLst/>
                          <a:latin typeface="Times New Roman" pitchFamily="18" charset="0"/>
                          <a:cs typeface="Times New Roman" pitchFamily="18" charset="0"/>
                        </a:rPr>
                        <a:t>System.out.print</a:t>
                      </a:r>
                      <a:r>
                        <a:rPr kumimoji="0" lang="en-US" sz="1600" b="0" i="0" u="none" strike="noStrike" cap="none" normalizeH="0" baseline="0" dirty="0">
                          <a:ln>
                            <a:noFill/>
                          </a:ln>
                          <a:solidFill>
                            <a:srgbClr val="000000"/>
                          </a:solidFill>
                          <a:effectLst/>
                          <a:latin typeface="Times New Roman" pitchFamily="18" charset="0"/>
                          <a:cs typeface="Times New Roman" pitchFamily="18" charset="0"/>
                        </a:rPr>
                        <a:t>("ch1 and ch2: ");</a:t>
                      </a:r>
                    </a:p>
                    <a:p>
                      <a:pPr marL="0" marR="0" lvl="0" indent="0" algn="just" defTabSz="914400" rtl="0" eaLnBrk="1" fontAlgn="base" latinLnBrk="0" hangingPunct="1">
                        <a:lnSpc>
                          <a:spcPct val="115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Times New Roman" pitchFamily="18" charset="0"/>
                          <a:cs typeface="Times New Roman" pitchFamily="18" charset="0"/>
                        </a:rPr>
                        <a:t>                           </a:t>
                      </a:r>
                      <a:r>
                        <a:rPr kumimoji="0" lang="en-US" sz="1600" b="0" i="0" u="none" strike="noStrike" cap="none" normalizeH="0" baseline="0" dirty="0" err="1">
                          <a:ln>
                            <a:noFill/>
                          </a:ln>
                          <a:solidFill>
                            <a:srgbClr val="000000"/>
                          </a:solidFill>
                          <a:effectLst/>
                          <a:latin typeface="Times New Roman" pitchFamily="18" charset="0"/>
                          <a:cs typeface="Times New Roman" pitchFamily="18" charset="0"/>
                        </a:rPr>
                        <a:t>System.out.println</a:t>
                      </a:r>
                      <a:r>
                        <a:rPr kumimoji="0" lang="en-US" sz="1600" b="0" i="0" u="none" strike="noStrike" cap="none" normalizeH="0" baseline="0" dirty="0">
                          <a:ln>
                            <a:noFill/>
                          </a:ln>
                          <a:solidFill>
                            <a:srgbClr val="000000"/>
                          </a:solidFill>
                          <a:effectLst/>
                          <a:latin typeface="Times New Roman" pitchFamily="18" charset="0"/>
                          <a:cs typeface="Times New Roman" pitchFamily="18" charset="0"/>
                        </a:rPr>
                        <a:t>(ch1 + " " + ch2);</a:t>
                      </a:r>
                    </a:p>
                    <a:p>
                      <a:pPr marL="0" marR="0" lvl="0" indent="0" algn="just" defTabSz="914400" rtl="0" eaLnBrk="1" fontAlgn="base" latinLnBrk="0" hangingPunct="1">
                        <a:lnSpc>
                          <a:spcPct val="115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Times New Roman" pitchFamily="18" charset="0"/>
                          <a:cs typeface="Times New Roman" pitchFamily="18" charset="0"/>
                        </a:rPr>
                        <a:t>                   }</a:t>
                      </a:r>
                    </a:p>
                    <a:p>
                      <a:pPr marL="0" marR="0" lvl="0" indent="0" algn="just" defTabSz="914400" rtl="0" eaLnBrk="1" fontAlgn="base" latinLnBrk="0" hangingPunct="1">
                        <a:lnSpc>
                          <a:spcPct val="115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Times New Roman" pitchFamily="18" charset="0"/>
                          <a:cs typeface="Times New Roman" pitchFamily="18" charset="0"/>
                        </a:rPr>
                        <a:t>}   </a:t>
                      </a:r>
                      <a:r>
                        <a:rPr kumimoji="0" lang="en-US" sz="1600" b="1" i="0" u="none" strike="noStrike" cap="none" normalizeH="0" baseline="0" dirty="0">
                          <a:ln>
                            <a:noFill/>
                          </a:ln>
                          <a:solidFill>
                            <a:srgbClr val="00B050"/>
                          </a:solidFill>
                          <a:effectLst/>
                          <a:latin typeface="Times New Roman" pitchFamily="18" charset="0"/>
                          <a:cs typeface="Times New Roman" pitchFamily="18" charset="0"/>
                        </a:rPr>
                        <a:t>o/p  ch1 and ch2: X  Y</a:t>
                      </a:r>
                    </a:p>
                  </a:txBody>
                  <a:tcPr marL="42926" marR="4292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76B08350-FD97-75B0-216D-D0C6C2CF11BB}"/>
              </a:ext>
            </a:extLst>
          </p:cNvPr>
          <p:cNvSpPr>
            <a:spLocks noGrp="1"/>
          </p:cNvSpPr>
          <p:nvPr>
            <p:ph sz="quarter" idx="4294967295"/>
          </p:nvPr>
        </p:nvSpPr>
        <p:spPr>
          <a:xfrm>
            <a:off x="1374775" y="763588"/>
            <a:ext cx="5127625" cy="693737"/>
          </a:xfrm>
        </p:spPr>
        <p:txBody>
          <a:bodyPr/>
          <a:lstStyle/>
          <a:p>
            <a:pPr algn="just" eaLnBrk="1" hangingPunct="1"/>
            <a:endParaRPr lang="en-US" altLang="en-US" sz="1502"/>
          </a:p>
          <a:p>
            <a:pPr algn="just" eaLnBrk="1" hangingPunct="1"/>
            <a:endParaRPr lang="en-US" altLang="en-US" sz="1502"/>
          </a:p>
          <a:p>
            <a:pPr algn="just" eaLnBrk="1" hangingPunct="1"/>
            <a:endParaRPr lang="en-US" altLang="en-US" sz="1502"/>
          </a:p>
        </p:txBody>
      </p:sp>
      <p:graphicFrame>
        <p:nvGraphicFramePr>
          <p:cNvPr id="2" name="Table 1">
            <a:extLst>
              <a:ext uri="{FF2B5EF4-FFF2-40B4-BE49-F238E27FC236}">
                <a16:creationId xmlns:a16="http://schemas.microsoft.com/office/drawing/2014/main" id="{CF98E991-758D-B691-3DFA-369FD24FCC28}"/>
              </a:ext>
            </a:extLst>
          </p:cNvPr>
          <p:cNvGraphicFramePr>
            <a:graphicFrameLocks noGrp="1"/>
          </p:cNvGraphicFramePr>
          <p:nvPr/>
        </p:nvGraphicFramePr>
        <p:xfrm>
          <a:off x="294076" y="47695"/>
          <a:ext cx="6295813" cy="4725835"/>
        </p:xfrm>
        <a:graphic>
          <a:graphicData uri="http://schemas.openxmlformats.org/drawingml/2006/table">
            <a:tbl>
              <a:tblPr>
                <a:tableStyleId>{5C22544A-7EE6-4342-B048-85BDC9FD1C3A}</a:tableStyleId>
              </a:tblPr>
              <a:tblGrid>
                <a:gridCol w="6295813">
                  <a:extLst>
                    <a:ext uri="{9D8B030D-6E8A-4147-A177-3AD203B41FA5}">
                      <a16:colId xmlns:a16="http://schemas.microsoft.com/office/drawing/2014/main" val="20000"/>
                    </a:ext>
                  </a:extLst>
                </a:gridCol>
              </a:tblGrid>
              <a:tr h="4725835">
                <a:tc>
                  <a:txBody>
                    <a:bodyPr/>
                    <a:lstStyle/>
                    <a:p>
                      <a:pPr marL="0" marR="0" algn="just">
                        <a:lnSpc>
                          <a:spcPct val="115000"/>
                        </a:lnSpc>
                        <a:spcBef>
                          <a:spcPts val="0"/>
                        </a:spcBef>
                        <a:spcAft>
                          <a:spcPts val="0"/>
                        </a:spcAft>
                      </a:pPr>
                      <a:r>
                        <a:rPr lang="en-US" sz="1800" dirty="0">
                          <a:effectLst/>
                          <a:latin typeface="Times New Roman" pitchFamily="18" charset="0"/>
                          <a:cs typeface="Times New Roman" pitchFamily="18" charset="0"/>
                        </a:rPr>
                        <a:t>  class CharDemo2 </a:t>
                      </a:r>
                    </a:p>
                    <a:p>
                      <a:pPr marL="0" marR="0" algn="just">
                        <a:lnSpc>
                          <a:spcPct val="115000"/>
                        </a:lnSpc>
                        <a:spcBef>
                          <a:spcPts val="0"/>
                        </a:spcBef>
                        <a:spcAft>
                          <a:spcPts val="0"/>
                        </a:spcAft>
                      </a:pPr>
                      <a:r>
                        <a:rPr lang="en-US" sz="1800" dirty="0">
                          <a:effectLst/>
                          <a:latin typeface="Times New Roman" pitchFamily="18" charset="0"/>
                          <a:cs typeface="Times New Roman" pitchFamily="18" charset="0"/>
                        </a:rPr>
                        <a:t> { </a:t>
                      </a:r>
                    </a:p>
                    <a:p>
                      <a:pPr marL="0" marR="0" indent="457200" algn="just">
                        <a:lnSpc>
                          <a:spcPct val="115000"/>
                        </a:lnSpc>
                        <a:spcBef>
                          <a:spcPts val="0"/>
                        </a:spcBef>
                        <a:spcAft>
                          <a:spcPts val="0"/>
                        </a:spcAft>
                      </a:pPr>
                      <a:r>
                        <a:rPr lang="en-US" sz="1800" dirty="0">
                          <a:effectLst/>
                          <a:latin typeface="Times New Roman" pitchFamily="18" charset="0"/>
                          <a:cs typeface="Times New Roman" pitchFamily="18" charset="0"/>
                        </a:rPr>
                        <a:t>public static void main(String </a:t>
                      </a:r>
                      <a:r>
                        <a:rPr lang="en-US" sz="1800" dirty="0" err="1">
                          <a:effectLst/>
                          <a:latin typeface="Times New Roman" pitchFamily="18" charset="0"/>
                          <a:cs typeface="Times New Roman" pitchFamily="18" charset="0"/>
                        </a:rPr>
                        <a:t>args</a:t>
                      </a:r>
                      <a:r>
                        <a:rPr lang="en-US" sz="1800" dirty="0">
                          <a:effectLst/>
                          <a:latin typeface="Times New Roman" pitchFamily="18" charset="0"/>
                          <a:cs typeface="Times New Roman" pitchFamily="18" charset="0"/>
                        </a:rPr>
                        <a:t>[]) </a:t>
                      </a:r>
                    </a:p>
                    <a:p>
                      <a:pPr marL="0" marR="0" indent="457200" algn="just">
                        <a:lnSpc>
                          <a:spcPct val="115000"/>
                        </a:lnSpc>
                        <a:spcBef>
                          <a:spcPts val="0"/>
                        </a:spcBef>
                        <a:spcAft>
                          <a:spcPts val="0"/>
                        </a:spcAft>
                      </a:pPr>
                      <a:r>
                        <a:rPr lang="en-US" sz="1800" dirty="0">
                          <a:effectLst/>
                          <a:latin typeface="Times New Roman" pitchFamily="18" charset="0"/>
                          <a:cs typeface="Times New Roman" pitchFamily="18" charset="0"/>
                        </a:rPr>
                        <a:t>{</a:t>
                      </a:r>
                    </a:p>
                    <a:p>
                      <a:pPr marL="914400" marR="0" algn="just">
                        <a:lnSpc>
                          <a:spcPct val="115000"/>
                        </a:lnSpc>
                        <a:spcBef>
                          <a:spcPts val="0"/>
                        </a:spcBef>
                        <a:spcAft>
                          <a:spcPts val="0"/>
                        </a:spcAft>
                      </a:pPr>
                      <a:r>
                        <a:rPr lang="en-US" sz="1800" dirty="0">
                          <a:effectLst/>
                          <a:latin typeface="Times New Roman" pitchFamily="18" charset="0"/>
                          <a:cs typeface="Times New Roman" pitchFamily="18" charset="0"/>
                        </a:rPr>
                        <a:t>char ch1;</a:t>
                      </a:r>
                    </a:p>
                    <a:p>
                      <a:pPr marL="914400" marR="0" algn="just">
                        <a:lnSpc>
                          <a:spcPct val="115000"/>
                        </a:lnSpc>
                        <a:spcBef>
                          <a:spcPts val="0"/>
                        </a:spcBef>
                        <a:spcAft>
                          <a:spcPts val="0"/>
                        </a:spcAft>
                      </a:pPr>
                      <a:r>
                        <a:rPr lang="en-US" sz="1800" dirty="0">
                          <a:effectLst/>
                          <a:latin typeface="Times New Roman" pitchFamily="18" charset="0"/>
                          <a:cs typeface="Times New Roman" pitchFamily="18" charset="0"/>
                        </a:rPr>
                        <a:t>ch1 = 'X';</a:t>
                      </a:r>
                    </a:p>
                    <a:p>
                      <a:pPr marL="914400" marR="0" algn="just">
                        <a:lnSpc>
                          <a:spcPct val="115000"/>
                        </a:lnSpc>
                        <a:spcBef>
                          <a:spcPts val="0"/>
                        </a:spcBef>
                        <a:spcAft>
                          <a:spcPts val="0"/>
                        </a:spcAft>
                      </a:pPr>
                      <a:r>
                        <a:rPr lang="en-US" sz="1800" dirty="0">
                          <a:effectLst/>
                          <a:latin typeface="Times New Roman" pitchFamily="18" charset="0"/>
                          <a:cs typeface="Times New Roman" pitchFamily="18" charset="0"/>
                        </a:rPr>
                        <a:t>System.out.println("ch1 contains " + ch1); </a:t>
                      </a:r>
                    </a:p>
                    <a:p>
                      <a:pPr marL="914400" marR="0" algn="just">
                        <a:lnSpc>
                          <a:spcPct val="115000"/>
                        </a:lnSpc>
                        <a:spcBef>
                          <a:spcPts val="0"/>
                        </a:spcBef>
                        <a:spcAft>
                          <a:spcPts val="0"/>
                        </a:spcAft>
                      </a:pPr>
                      <a:r>
                        <a:rPr lang="en-US" sz="1800" dirty="0">
                          <a:effectLst/>
                          <a:latin typeface="Times New Roman" pitchFamily="18" charset="0"/>
                          <a:cs typeface="Times New Roman" pitchFamily="18" charset="0"/>
                        </a:rPr>
                        <a:t>ch1++; // increment ch1</a:t>
                      </a:r>
                    </a:p>
                    <a:p>
                      <a:pPr marL="914400" marR="0" algn="just">
                        <a:lnSpc>
                          <a:spcPct val="115000"/>
                        </a:lnSpc>
                        <a:spcBef>
                          <a:spcPts val="0"/>
                        </a:spcBef>
                        <a:spcAft>
                          <a:spcPts val="0"/>
                        </a:spcAft>
                      </a:pPr>
                      <a:r>
                        <a:rPr lang="en-US" sz="1800" dirty="0">
                          <a:effectLst/>
                          <a:latin typeface="Times New Roman" pitchFamily="18" charset="0"/>
                          <a:cs typeface="Times New Roman" pitchFamily="18" charset="0"/>
                        </a:rPr>
                        <a:t>System.out.println("ch1 is now " + ch1);</a:t>
                      </a:r>
                    </a:p>
                    <a:p>
                      <a:pPr marL="0" marR="0" indent="457200" algn="just">
                        <a:lnSpc>
                          <a:spcPct val="115000"/>
                        </a:lnSpc>
                        <a:spcBef>
                          <a:spcPts val="0"/>
                        </a:spcBef>
                        <a:spcAft>
                          <a:spcPts val="0"/>
                        </a:spcAft>
                      </a:pPr>
                      <a:r>
                        <a:rPr lang="en-US" sz="1800" dirty="0">
                          <a:effectLst/>
                          <a:latin typeface="Times New Roman" pitchFamily="18" charset="0"/>
                          <a:cs typeface="Times New Roman" pitchFamily="18" charset="0"/>
                        </a:rPr>
                        <a:t>}</a:t>
                      </a:r>
                    </a:p>
                    <a:p>
                      <a:pPr marL="0" marR="0" algn="just">
                        <a:lnSpc>
                          <a:spcPct val="115000"/>
                        </a:lnSpc>
                        <a:spcBef>
                          <a:spcPts val="0"/>
                        </a:spcBef>
                        <a:spcAft>
                          <a:spcPts val="0"/>
                        </a:spcAft>
                      </a:pPr>
                      <a:r>
                        <a:rPr lang="en-US" sz="1800" dirty="0">
                          <a:effectLst/>
                          <a:latin typeface="Times New Roman" pitchFamily="18" charset="0"/>
                          <a:cs typeface="Times New Roman" pitchFamily="18" charset="0"/>
                        </a:rPr>
                        <a:t>  }    </a:t>
                      </a:r>
                      <a:r>
                        <a:rPr lang="en-US" sz="1800" b="1" dirty="0">
                          <a:solidFill>
                            <a:srgbClr val="00B050"/>
                          </a:solidFill>
                          <a:effectLst/>
                          <a:latin typeface="Times New Roman" pitchFamily="18" charset="0"/>
                          <a:cs typeface="Times New Roman" pitchFamily="18" charset="0"/>
                        </a:rPr>
                        <a:t>o/p</a:t>
                      </a:r>
                    </a:p>
                    <a:p>
                      <a:pPr marL="0" marR="0" algn="just">
                        <a:lnSpc>
                          <a:spcPct val="115000"/>
                        </a:lnSpc>
                        <a:spcBef>
                          <a:spcPts val="0"/>
                        </a:spcBef>
                        <a:spcAft>
                          <a:spcPts val="0"/>
                        </a:spcAft>
                      </a:pPr>
                      <a:r>
                        <a:rPr lang="en-US" sz="1800" b="1" dirty="0">
                          <a:solidFill>
                            <a:srgbClr val="00B050"/>
                          </a:solidFill>
                          <a:effectLst/>
                          <a:latin typeface="Times New Roman" pitchFamily="18" charset="0"/>
                          <a:cs typeface="Times New Roman" pitchFamily="18" charset="0"/>
                        </a:rPr>
                        <a:t>             ch1 contains</a:t>
                      </a:r>
                      <a:r>
                        <a:rPr lang="en-US" sz="1800" b="1" baseline="0" dirty="0">
                          <a:solidFill>
                            <a:srgbClr val="00B050"/>
                          </a:solidFill>
                          <a:effectLst/>
                          <a:latin typeface="Times New Roman" pitchFamily="18" charset="0"/>
                          <a:cs typeface="Times New Roman" pitchFamily="18" charset="0"/>
                        </a:rPr>
                        <a:t> X</a:t>
                      </a:r>
                    </a:p>
                    <a:p>
                      <a:pPr marL="0" marR="0" algn="just">
                        <a:lnSpc>
                          <a:spcPct val="115000"/>
                        </a:lnSpc>
                        <a:spcBef>
                          <a:spcPts val="0"/>
                        </a:spcBef>
                        <a:spcAft>
                          <a:spcPts val="0"/>
                        </a:spcAft>
                      </a:pPr>
                      <a:r>
                        <a:rPr lang="en-US" sz="1800" b="1" baseline="0" dirty="0">
                          <a:solidFill>
                            <a:srgbClr val="00B050"/>
                          </a:solidFill>
                          <a:effectLst/>
                          <a:latin typeface="Times New Roman" pitchFamily="18" charset="0"/>
                          <a:cs typeface="Times New Roman" pitchFamily="18" charset="0"/>
                        </a:rPr>
                        <a:t>             ch1 is now Y</a:t>
                      </a:r>
                      <a:endParaRPr lang="en-US" sz="1800" b="1" dirty="0">
                        <a:solidFill>
                          <a:srgbClr val="00B050"/>
                        </a:solidFill>
                        <a:effectLst/>
                        <a:latin typeface="Times New Roman" pitchFamily="18" charset="0"/>
                        <a:cs typeface="Times New Roman" pitchFamily="18" charset="0"/>
                      </a:endParaRPr>
                    </a:p>
                    <a:p>
                      <a:pPr marL="0" marR="0" algn="just">
                        <a:lnSpc>
                          <a:spcPct val="115000"/>
                        </a:lnSpc>
                        <a:spcBef>
                          <a:spcPts val="0"/>
                        </a:spcBef>
                        <a:spcAft>
                          <a:spcPts val="0"/>
                        </a:spcAft>
                      </a:pPr>
                      <a:r>
                        <a:rPr lang="en-US" sz="1800" b="1" dirty="0">
                          <a:solidFill>
                            <a:srgbClr val="00B050"/>
                          </a:solidFill>
                          <a:effectLst/>
                          <a:latin typeface="Times New Roman" pitchFamily="18" charset="0"/>
                          <a:cs typeface="Times New Roman" pitchFamily="18" charset="0"/>
                        </a:rPr>
                        <a:t> </a:t>
                      </a:r>
                      <a:endParaRPr lang="en-US" sz="1800" b="1" dirty="0">
                        <a:solidFill>
                          <a:srgbClr val="00B050"/>
                        </a:solidFill>
                        <a:effectLst/>
                        <a:latin typeface="Times New Roman" pitchFamily="18" charset="0"/>
                        <a:ea typeface="Times New Roman" panose="02020603050405020304" pitchFamily="18" charset="0"/>
                        <a:cs typeface="Times New Roman" pitchFamily="18" charset="0"/>
                      </a:endParaRPr>
                    </a:p>
                  </a:txBody>
                  <a:tcPr marL="42926" marR="42926" marT="0" marB="0">
                    <a:no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029C7F45-137E-1A75-9CF0-6283D969F0DC}"/>
              </a:ext>
            </a:extLst>
          </p:cNvPr>
          <p:cNvSpPr>
            <a:spLocks noGrp="1"/>
          </p:cNvSpPr>
          <p:nvPr>
            <p:ph type="title" idx="4294967295"/>
          </p:nvPr>
        </p:nvSpPr>
        <p:spPr>
          <a:xfrm>
            <a:off x="0" y="95250"/>
            <a:ext cx="4430713" cy="346075"/>
          </a:xfrm>
        </p:spPr>
        <p:txBody>
          <a:bodyPr/>
          <a:lstStyle/>
          <a:p>
            <a:pPr algn="ctr" eaLnBrk="1" hangingPunct="1"/>
            <a:r>
              <a:rPr lang="en-US" altLang="en-US" sz="2253" dirty="0">
                <a:solidFill>
                  <a:srgbClr val="FF0000"/>
                </a:solidFill>
                <a:latin typeface="Times New Roman" panose="02020603050405020304" pitchFamily="18" charset="0"/>
                <a:cs typeface="Times New Roman" panose="02020603050405020304" pitchFamily="18" charset="0"/>
              </a:rPr>
              <a:t>Data Types : Boolean Type</a:t>
            </a:r>
          </a:p>
        </p:txBody>
      </p:sp>
      <p:sp>
        <p:nvSpPr>
          <p:cNvPr id="21507" name="Content Placeholder 2">
            <a:extLst>
              <a:ext uri="{FF2B5EF4-FFF2-40B4-BE49-F238E27FC236}">
                <a16:creationId xmlns:a16="http://schemas.microsoft.com/office/drawing/2014/main" id="{546F3D77-49C1-F301-A65B-480307E45E05}"/>
              </a:ext>
            </a:extLst>
          </p:cNvPr>
          <p:cNvSpPr>
            <a:spLocks noGrp="1"/>
          </p:cNvSpPr>
          <p:nvPr>
            <p:ph sz="quarter" idx="4294967295"/>
          </p:nvPr>
        </p:nvSpPr>
        <p:spPr>
          <a:xfrm>
            <a:off x="279400" y="708660"/>
            <a:ext cx="5943600" cy="2780665"/>
          </a:xfrm>
        </p:spPr>
        <p:txBody>
          <a:bodyPr/>
          <a:lstStyle/>
          <a:p>
            <a:pPr marL="342900" indent="-342900" algn="just" eaLnBrk="1" hangingPunct="1">
              <a:buFont typeface="Arial" panose="020B0604020202020204" pitchFamily="34" charset="0"/>
              <a:buChar char="•"/>
            </a:pPr>
            <a:r>
              <a:rPr lang="en-US" altLang="en-US" sz="2253" b="1" dirty="0" err="1">
                <a:latin typeface="Times New Roman" panose="02020603050405020304" pitchFamily="18" charset="0"/>
                <a:cs typeface="Times New Roman" panose="02020603050405020304" pitchFamily="18" charset="0"/>
              </a:rPr>
              <a:t>boolean</a:t>
            </a:r>
            <a:r>
              <a:rPr lang="en-US" altLang="en-US" sz="2253" dirty="0">
                <a:latin typeface="Times New Roman" panose="02020603050405020304" pitchFamily="18" charset="0"/>
                <a:cs typeface="Times New Roman" panose="02020603050405020304" pitchFamily="18" charset="0"/>
              </a:rPr>
              <a:t> type is used for logical values. </a:t>
            </a:r>
          </a:p>
          <a:p>
            <a:pPr marL="342900" indent="-342900" algn="just" eaLnBrk="1" hangingPunct="1">
              <a:buFont typeface="Arial" panose="020B0604020202020204" pitchFamily="34" charset="0"/>
              <a:buChar char="•"/>
            </a:pPr>
            <a:endParaRPr lang="en-US" altLang="en-US" sz="2253" dirty="0">
              <a:latin typeface="Times New Roman" panose="02020603050405020304" pitchFamily="18" charset="0"/>
              <a:cs typeface="Times New Roman" panose="02020603050405020304" pitchFamily="18" charset="0"/>
            </a:endParaRPr>
          </a:p>
          <a:p>
            <a:pPr marL="342900" indent="-342900" algn="just" eaLnBrk="1" hangingPunct="1">
              <a:buFont typeface="Arial" panose="020B0604020202020204" pitchFamily="34" charset="0"/>
              <a:buChar char="•"/>
            </a:pPr>
            <a:r>
              <a:rPr lang="en-US" altLang="en-US" sz="2253" dirty="0">
                <a:latin typeface="Times New Roman" panose="02020603050405020304" pitchFamily="18" charset="0"/>
                <a:cs typeface="Times New Roman" panose="02020603050405020304" pitchFamily="18" charset="0"/>
              </a:rPr>
              <a:t>It can have only one of two possible values, </a:t>
            </a:r>
            <a:r>
              <a:rPr lang="en-US" altLang="en-US" sz="2253" b="1" dirty="0">
                <a:latin typeface="Times New Roman" panose="02020603050405020304" pitchFamily="18" charset="0"/>
                <a:cs typeface="Times New Roman" panose="02020603050405020304" pitchFamily="18" charset="0"/>
              </a:rPr>
              <a:t>true</a:t>
            </a:r>
            <a:r>
              <a:rPr lang="en-US" altLang="en-US" sz="2253" dirty="0">
                <a:latin typeface="Times New Roman" panose="02020603050405020304" pitchFamily="18" charset="0"/>
                <a:cs typeface="Times New Roman" panose="02020603050405020304" pitchFamily="18" charset="0"/>
              </a:rPr>
              <a:t> or </a:t>
            </a:r>
            <a:r>
              <a:rPr lang="en-US" altLang="en-US" sz="2253" b="1" dirty="0">
                <a:latin typeface="Times New Roman" panose="02020603050405020304" pitchFamily="18" charset="0"/>
                <a:cs typeface="Times New Roman" panose="02020603050405020304" pitchFamily="18" charset="0"/>
              </a:rPr>
              <a:t>false</a:t>
            </a:r>
            <a:r>
              <a:rPr lang="en-US" altLang="en-US" sz="2253" dirty="0">
                <a:latin typeface="Times New Roman" panose="02020603050405020304" pitchFamily="18" charset="0"/>
                <a:cs typeface="Times New Roman" panose="02020603050405020304" pitchFamily="18" charset="0"/>
              </a:rPr>
              <a:t>. </a:t>
            </a:r>
          </a:p>
          <a:p>
            <a:pPr marL="342900" indent="-342900" algn="just" eaLnBrk="1" hangingPunct="1">
              <a:buFont typeface="Arial" panose="020B0604020202020204" pitchFamily="34" charset="0"/>
              <a:buChar char="•"/>
            </a:pPr>
            <a:endParaRPr lang="en-US" altLang="en-US" sz="2253" dirty="0">
              <a:latin typeface="Times New Roman" panose="02020603050405020304" pitchFamily="18" charset="0"/>
              <a:cs typeface="Times New Roman" panose="02020603050405020304" pitchFamily="18" charset="0"/>
            </a:endParaRPr>
          </a:p>
          <a:p>
            <a:pPr marL="342900" indent="-342900" algn="just" eaLnBrk="1" hangingPunct="1">
              <a:buFont typeface="Arial" panose="020B0604020202020204" pitchFamily="34" charset="0"/>
              <a:buChar char="•"/>
            </a:pPr>
            <a:r>
              <a:rPr lang="en-US" altLang="en-US" sz="2253" dirty="0">
                <a:latin typeface="Times New Roman" panose="02020603050405020304" pitchFamily="18" charset="0"/>
                <a:cs typeface="Times New Roman" panose="02020603050405020304" pitchFamily="18" charset="0"/>
              </a:rPr>
              <a:t>This is the type returned by all relational operators</a:t>
            </a:r>
          </a:p>
          <a:p>
            <a:pPr marL="342900" indent="-342900" algn="just" eaLnBrk="1" hangingPunct="1">
              <a:buFont typeface="Arial" panose="020B0604020202020204" pitchFamily="34" charset="0"/>
              <a:buChar char="•"/>
            </a:pPr>
            <a:endParaRPr lang="en-US" altLang="en-US" sz="2253"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CD44CC0A-3E7E-4732-E2B5-D0DBA9052C4B}"/>
              </a:ext>
            </a:extLst>
          </p:cNvPr>
          <p:cNvGraphicFramePr>
            <a:graphicFrameLocks noGrp="1"/>
          </p:cNvGraphicFramePr>
          <p:nvPr>
            <p:ph sz="quarter" idx="4294967295"/>
            <p:extLst>
              <p:ext uri="{D42A27DB-BD31-4B8C-83A1-F6EECF244321}">
                <p14:modId xmlns:p14="http://schemas.microsoft.com/office/powerpoint/2010/main" val="1731996257"/>
              </p:ext>
            </p:extLst>
          </p:nvPr>
        </p:nvGraphicFramePr>
        <p:xfrm>
          <a:off x="279400" y="12700"/>
          <a:ext cx="6248400" cy="12172306"/>
        </p:xfrm>
        <a:graphic>
          <a:graphicData uri="http://schemas.openxmlformats.org/drawingml/2006/table">
            <a:tbl>
              <a:tblPr/>
              <a:tblGrid>
                <a:gridCol w="6248400">
                  <a:extLst>
                    <a:ext uri="{9D8B030D-6E8A-4147-A177-3AD203B41FA5}">
                      <a16:colId xmlns:a16="http://schemas.microsoft.com/office/drawing/2014/main" val="20000"/>
                    </a:ext>
                  </a:extLst>
                </a:gridCol>
              </a:tblGrid>
              <a:tr h="4715600">
                <a:tc>
                  <a:txBody>
                    <a:body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class </a:t>
                      </a:r>
                      <a:r>
                        <a:rPr kumimoji="0" lang="en-US"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BoolTest</a:t>
                      </a:r>
                      <a:r>
                        <a:rPr kumimoji="0" 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p>
                    <a:p>
                      <a:pPr marL="0" marR="0" lvl="0" indent="0" algn="just" defTabSz="914400" rtl="0" eaLnBrk="1" fontAlgn="base" latinLnBrk="0" hangingPunct="1">
                        <a:lnSpc>
                          <a:spcPct val="115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p>
                    <a:p>
                      <a:pPr marL="0" marR="0" lvl="0" indent="0" algn="just" defTabSz="914400" rtl="0" eaLnBrk="1" fontAlgn="base" latinLnBrk="0" hangingPunct="1">
                        <a:lnSpc>
                          <a:spcPct val="115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public static void main(String </a:t>
                      </a:r>
                      <a:r>
                        <a:rPr kumimoji="0" lang="en-US"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args</a:t>
                      </a:r>
                      <a:r>
                        <a:rPr kumimoji="0" 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sz="1400" b="1" i="0" u="none" strike="noStrike" cap="none" normalizeH="0" baseline="0" dirty="0">
                          <a:ln>
                            <a:noFill/>
                          </a:ln>
                          <a:solidFill>
                            <a:srgbClr val="00B050"/>
                          </a:solidFill>
                          <a:effectLst/>
                          <a:latin typeface="Arial" panose="020B0604020202020204" pitchFamily="34" charset="0"/>
                          <a:cs typeface="Arial" panose="020B0604020202020204" pitchFamily="34" charset="0"/>
                        </a:rPr>
                        <a:t>o/p          b is false</a:t>
                      </a:r>
                    </a:p>
                    <a:p>
                      <a:pPr marL="0" marR="0" lvl="0" indent="0" algn="just" defTabSz="914400" rtl="0" eaLnBrk="1" fontAlgn="base" latinLnBrk="0" hangingPunct="1">
                        <a:lnSpc>
                          <a:spcPct val="115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sz="1400" b="1" i="0" u="none" strike="noStrike" cap="none" normalizeH="0" baseline="0" dirty="0">
                          <a:ln>
                            <a:noFill/>
                          </a:ln>
                          <a:solidFill>
                            <a:srgbClr val="00B050"/>
                          </a:solidFill>
                          <a:effectLst/>
                          <a:latin typeface="Arial" panose="020B0604020202020204" pitchFamily="34" charset="0"/>
                          <a:cs typeface="Arial" panose="020B0604020202020204" pitchFamily="34" charset="0"/>
                        </a:rPr>
                        <a:t>b is true</a:t>
                      </a:r>
                    </a:p>
                    <a:p>
                      <a:pPr marL="0" marR="0" lvl="0" indent="0" algn="just" defTabSz="914400" rtl="0" eaLnBrk="1" fontAlgn="base" latinLnBrk="0" hangingPunct="1">
                        <a:lnSpc>
                          <a:spcPct val="115000"/>
                        </a:lnSpc>
                        <a:spcBef>
                          <a:spcPct val="0"/>
                        </a:spcBef>
                        <a:spcAft>
                          <a:spcPct val="0"/>
                        </a:spcAft>
                        <a:buClrTx/>
                        <a:buSzTx/>
                        <a:buFontTx/>
                        <a:buNone/>
                        <a:tabLst/>
                      </a:pPr>
                      <a:r>
                        <a:rPr kumimoji="0" lang="en-US"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boolean</a:t>
                      </a:r>
                      <a:r>
                        <a:rPr kumimoji="0" 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b;                                                                    </a:t>
                      </a:r>
                      <a:r>
                        <a:rPr kumimoji="0" lang="en-US" sz="1400" b="1" i="0" u="none" strike="noStrike" cap="none" normalizeH="0" baseline="0" dirty="0">
                          <a:ln>
                            <a:noFill/>
                          </a:ln>
                          <a:solidFill>
                            <a:srgbClr val="00B050"/>
                          </a:solidFill>
                          <a:effectLst/>
                          <a:latin typeface="Arial" panose="020B0604020202020204" pitchFamily="34" charset="0"/>
                          <a:cs typeface="Arial" panose="020B0604020202020204" pitchFamily="34" charset="0"/>
                        </a:rPr>
                        <a:t>This is </a:t>
                      </a:r>
                      <a:r>
                        <a:rPr kumimoji="0" lang="en-US" sz="1400" b="1" i="0" u="none" strike="noStrike" cap="none" normalizeH="0" baseline="0" dirty="0" err="1">
                          <a:ln>
                            <a:noFill/>
                          </a:ln>
                          <a:solidFill>
                            <a:srgbClr val="00B050"/>
                          </a:solidFill>
                          <a:effectLst/>
                          <a:latin typeface="Arial" panose="020B0604020202020204" pitchFamily="34" charset="0"/>
                          <a:cs typeface="Arial" panose="020B0604020202020204" pitchFamily="34" charset="0"/>
                        </a:rPr>
                        <a:t>exexuted</a:t>
                      </a:r>
                      <a:r>
                        <a:rPr kumimoji="0" lang="en-US" sz="1400" b="1" i="0" u="none" strike="noStrike" cap="none" normalizeH="0" baseline="0" dirty="0">
                          <a:ln>
                            <a:noFill/>
                          </a:ln>
                          <a:solidFill>
                            <a:srgbClr val="00B050"/>
                          </a:solidFill>
                          <a:effectLst/>
                          <a:latin typeface="Arial" panose="020B0604020202020204" pitchFamily="34" charset="0"/>
                          <a:cs typeface="Arial" panose="020B0604020202020204" pitchFamily="34" charset="0"/>
                        </a:rPr>
                        <a:t> </a:t>
                      </a:r>
                    </a:p>
                    <a:p>
                      <a:pPr marL="0" marR="0" lvl="0" indent="0" algn="just" defTabSz="914400" rtl="0" eaLnBrk="1" fontAlgn="base" latinLnBrk="0" hangingPunct="1">
                        <a:lnSpc>
                          <a:spcPct val="115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b = false;                                                                        </a:t>
                      </a:r>
                      <a:r>
                        <a:rPr kumimoji="0" lang="en-US" sz="1400" b="1" i="0" u="none" strike="noStrike" cap="none" normalizeH="0" baseline="0" dirty="0">
                          <a:ln>
                            <a:noFill/>
                          </a:ln>
                          <a:solidFill>
                            <a:srgbClr val="00B050"/>
                          </a:solidFill>
                          <a:effectLst/>
                          <a:latin typeface="Arial" panose="020B0604020202020204" pitchFamily="34" charset="0"/>
                          <a:cs typeface="Arial" panose="020B0604020202020204" pitchFamily="34" charset="0"/>
                        </a:rPr>
                        <a:t>10&gt;9 is true</a:t>
                      </a:r>
                    </a:p>
                    <a:p>
                      <a:pPr marL="0" marR="0" lvl="0" indent="0" algn="just" defTabSz="914400" rtl="0" eaLnBrk="1" fontAlgn="base" latinLnBrk="0" hangingPunct="1">
                        <a:lnSpc>
                          <a:spcPct val="115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System.out.println("b is " + b);</a:t>
                      </a:r>
                    </a:p>
                    <a:p>
                      <a:pPr marL="0" marR="0" lvl="0" indent="0" algn="just" defTabSz="914400" rtl="0" eaLnBrk="1" fontAlgn="base" latinLnBrk="0" hangingPunct="1">
                        <a:lnSpc>
                          <a:spcPct val="115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b = true;</a:t>
                      </a:r>
                    </a:p>
                    <a:p>
                      <a:pPr marL="0" marR="0" lvl="0" indent="0" algn="just" defTabSz="914400" rtl="0" eaLnBrk="1" fontAlgn="base" latinLnBrk="0" hangingPunct="1">
                        <a:lnSpc>
                          <a:spcPct val="115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System.out.println("b is " + b);</a:t>
                      </a:r>
                    </a:p>
                    <a:p>
                      <a:pPr marL="0" marR="0" lvl="0" indent="0" algn="just" defTabSz="914400" rtl="0" eaLnBrk="1" fontAlgn="base" latinLnBrk="0" hangingPunct="1">
                        <a:lnSpc>
                          <a:spcPct val="115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if(b) </a:t>
                      </a:r>
                    </a:p>
                    <a:p>
                      <a:pPr marL="0" marR="0" lvl="0" indent="0" algn="just" defTabSz="914400" rtl="0" eaLnBrk="1" fontAlgn="base" latinLnBrk="0" hangingPunct="1">
                        <a:lnSpc>
                          <a:spcPct val="115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System.out.println("This is executed.");</a:t>
                      </a:r>
                    </a:p>
                    <a:p>
                      <a:pPr marL="0" marR="0" lvl="0" indent="0" algn="just" defTabSz="914400" rtl="0" eaLnBrk="1" fontAlgn="base" latinLnBrk="0" hangingPunct="1">
                        <a:lnSpc>
                          <a:spcPct val="115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b = false;</a:t>
                      </a:r>
                    </a:p>
                    <a:p>
                      <a:pPr marL="0" marR="0" lvl="0" indent="0" algn="just" defTabSz="914400" rtl="0" eaLnBrk="1" fontAlgn="base" latinLnBrk="0" hangingPunct="1">
                        <a:lnSpc>
                          <a:spcPct val="115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if(b) </a:t>
                      </a:r>
                    </a:p>
                    <a:p>
                      <a:pPr marL="0" marR="0" lvl="0" indent="0" algn="just" defTabSz="914400" rtl="0" eaLnBrk="1" fontAlgn="base" latinLnBrk="0" hangingPunct="1">
                        <a:lnSpc>
                          <a:spcPct val="115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System.out.println("This is not executed.");</a:t>
                      </a:r>
                    </a:p>
                    <a:p>
                      <a:pPr marL="0" marR="0" lvl="0" indent="0" algn="just" defTabSz="914400" rtl="0" eaLnBrk="1" fontAlgn="base" latinLnBrk="0" hangingPunct="1">
                        <a:lnSpc>
                          <a:spcPct val="115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System.out.println("10 &gt; 9 is " + (10 &gt; 9));</a:t>
                      </a:r>
                    </a:p>
                    <a:p>
                      <a:pPr marL="0" marR="0" lvl="0" indent="0" algn="just" defTabSz="914400" rtl="0" eaLnBrk="1" fontAlgn="base" latinLnBrk="0" hangingPunct="1">
                        <a:lnSpc>
                          <a:spcPct val="115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p>
                    <a:p>
                      <a:pPr marL="0" marR="0" lvl="0" indent="0" algn="just" defTabSz="914400" rtl="0" eaLnBrk="1" fontAlgn="base" latinLnBrk="0" hangingPunct="1">
                        <a:lnSpc>
                          <a:spcPct val="115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p>
                  </a:txBody>
                  <a:tcPr marL="42926" marR="4292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28353">
                <a:tc>
                  <a:txBody>
                    <a:bodyPr/>
                    <a:lstStyle/>
                    <a:p>
                      <a:pPr marL="0" marR="0" lvl="0" indent="0" algn="just" defTabSz="914400" rtl="0" eaLnBrk="1" fontAlgn="base" latinLnBrk="0" hangingPunct="1">
                        <a:lnSpc>
                          <a:spcPct val="115000"/>
                        </a:lnSpc>
                        <a:spcBef>
                          <a:spcPct val="0"/>
                        </a:spcBef>
                        <a:spcAft>
                          <a:spcPct val="0"/>
                        </a:spcAft>
                        <a:buClrTx/>
                        <a:buSzTx/>
                        <a:buFontTx/>
                        <a:buNone/>
                        <a:tabLst/>
                      </a:pPr>
                      <a:endParaRPr kumimoji="0" 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42926" marR="4292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28353">
                <a:tc>
                  <a:txBody>
                    <a:bodyPr/>
                    <a:lstStyle/>
                    <a:p>
                      <a:pPr marL="0" marR="0" lvl="0" indent="0" algn="just" defTabSz="914400" rtl="0" eaLnBrk="1" fontAlgn="base" latinLnBrk="0" hangingPunct="1">
                        <a:lnSpc>
                          <a:spcPct val="115000"/>
                        </a:lnSpc>
                        <a:spcBef>
                          <a:spcPct val="0"/>
                        </a:spcBef>
                        <a:spcAft>
                          <a:spcPct val="0"/>
                        </a:spcAft>
                        <a:buClrTx/>
                        <a:buSzTx/>
                        <a:buFontTx/>
                        <a:buNone/>
                        <a:tabLst/>
                      </a:pPr>
                      <a:endParaRPr kumimoji="0" 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42926" marR="4292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2B1500B1-BBF1-8869-4672-C9AC5EEA19DD}"/>
              </a:ext>
            </a:extLst>
          </p:cNvPr>
          <p:cNvSpPr>
            <a:spLocks noGrp="1"/>
          </p:cNvSpPr>
          <p:nvPr>
            <p:ph type="title" idx="4294967295"/>
          </p:nvPr>
        </p:nvSpPr>
        <p:spPr>
          <a:xfrm>
            <a:off x="1638300" y="0"/>
            <a:ext cx="4864100" cy="292100"/>
          </a:xfrm>
        </p:spPr>
        <p:txBody>
          <a:bodyPr/>
          <a:lstStyle/>
          <a:p>
            <a:r>
              <a:rPr lang="en-US" altLang="en-US" b="1">
                <a:solidFill>
                  <a:srgbClr val="FF0000"/>
                </a:solidFill>
                <a:cs typeface="Times New Roman" panose="02020603050405020304" pitchFamily="18" charset="0"/>
              </a:rPr>
              <a:t>Literals </a:t>
            </a:r>
            <a:r>
              <a:rPr lang="en-US" altLang="en-US">
                <a:cs typeface="Times New Roman" panose="02020603050405020304" pitchFamily="18" charset="0"/>
              </a:rPr>
              <a:t> - Integer Literals</a:t>
            </a:r>
            <a:r>
              <a:rPr lang="en-US" altLang="en-US"/>
              <a:t> </a:t>
            </a:r>
          </a:p>
        </p:txBody>
      </p:sp>
      <p:sp>
        <p:nvSpPr>
          <p:cNvPr id="23555" name="Rectangle 3">
            <a:extLst>
              <a:ext uri="{FF2B5EF4-FFF2-40B4-BE49-F238E27FC236}">
                <a16:creationId xmlns:a16="http://schemas.microsoft.com/office/drawing/2014/main" id="{A808E7EB-0E3E-D549-D71C-3650E95AFDE0}"/>
              </a:ext>
            </a:extLst>
          </p:cNvPr>
          <p:cNvSpPr>
            <a:spLocks noGrp="1"/>
          </p:cNvSpPr>
          <p:nvPr>
            <p:ph type="body" idx="4294967295"/>
          </p:nvPr>
        </p:nvSpPr>
        <p:spPr>
          <a:xfrm>
            <a:off x="203201" y="546100"/>
            <a:ext cx="6299200" cy="2406493"/>
          </a:xfrm>
        </p:spPr>
        <p:txBody>
          <a:bodyPr/>
          <a:lstStyle/>
          <a:p>
            <a:pPr marL="194945" marR="5080" indent="-182880">
              <a:lnSpc>
                <a:spcPct val="101899"/>
              </a:lnSpc>
              <a:spcBef>
                <a:spcPts val="75"/>
              </a:spcBef>
              <a:buChar char="•"/>
              <a:tabLst>
                <a:tab pos="195580" algn="l"/>
              </a:tabLst>
            </a:pPr>
            <a:r>
              <a:rPr lang="en-US" sz="1700" spc="10" dirty="0">
                <a:latin typeface="Arial MT"/>
                <a:cs typeface="Arial MT"/>
              </a:rPr>
              <a:t>A</a:t>
            </a:r>
            <a:r>
              <a:rPr lang="en-US" sz="1700" spc="-25" dirty="0">
                <a:latin typeface="Arial MT"/>
                <a:cs typeface="Arial MT"/>
              </a:rPr>
              <a:t> </a:t>
            </a:r>
            <a:r>
              <a:rPr lang="en-US" sz="1700" spc="10" dirty="0">
                <a:solidFill>
                  <a:srgbClr val="FF0000"/>
                </a:solidFill>
                <a:latin typeface="Arial MT"/>
                <a:cs typeface="Arial MT"/>
              </a:rPr>
              <a:t>constant</a:t>
            </a:r>
            <a:r>
              <a:rPr lang="en-US" sz="1700" spc="-105" dirty="0">
                <a:solidFill>
                  <a:srgbClr val="FF0000"/>
                </a:solidFill>
                <a:latin typeface="Arial MT"/>
                <a:cs typeface="Arial MT"/>
              </a:rPr>
              <a:t> </a:t>
            </a:r>
            <a:r>
              <a:rPr lang="en-US" sz="1700" spc="20" dirty="0">
                <a:solidFill>
                  <a:srgbClr val="FF0000"/>
                </a:solidFill>
                <a:latin typeface="Arial MT"/>
                <a:cs typeface="Arial MT"/>
              </a:rPr>
              <a:t>value</a:t>
            </a:r>
            <a:r>
              <a:rPr lang="en-US" sz="1700" spc="-100" dirty="0">
                <a:solidFill>
                  <a:srgbClr val="FF0000"/>
                </a:solidFill>
                <a:latin typeface="Arial MT"/>
                <a:cs typeface="Arial MT"/>
              </a:rPr>
              <a:t> </a:t>
            </a:r>
            <a:r>
              <a:rPr lang="en-US" sz="1700" spc="10" dirty="0">
                <a:latin typeface="Arial MT"/>
                <a:cs typeface="Arial MT"/>
              </a:rPr>
              <a:t>in</a:t>
            </a:r>
            <a:r>
              <a:rPr lang="en-US" sz="1700" spc="-30" dirty="0">
                <a:latin typeface="Arial MT"/>
                <a:cs typeface="Arial MT"/>
              </a:rPr>
              <a:t> </a:t>
            </a:r>
            <a:r>
              <a:rPr lang="en-US" sz="1700" spc="25" dirty="0">
                <a:latin typeface="Arial MT"/>
                <a:cs typeface="Arial MT"/>
              </a:rPr>
              <a:t>Java</a:t>
            </a:r>
            <a:r>
              <a:rPr lang="en-US" sz="1700" spc="-110" dirty="0">
                <a:latin typeface="Arial MT"/>
                <a:cs typeface="Arial MT"/>
              </a:rPr>
              <a:t> </a:t>
            </a:r>
            <a:r>
              <a:rPr lang="en-US" sz="1700" spc="10" dirty="0">
                <a:latin typeface="Arial MT"/>
                <a:cs typeface="Arial MT"/>
              </a:rPr>
              <a:t>is</a:t>
            </a:r>
            <a:r>
              <a:rPr lang="en-US" sz="1700" spc="-60" dirty="0">
                <a:latin typeface="Arial MT"/>
                <a:cs typeface="Arial MT"/>
              </a:rPr>
              <a:t> </a:t>
            </a:r>
            <a:r>
              <a:rPr lang="en-US" sz="1700" spc="5" dirty="0">
                <a:latin typeface="Arial MT"/>
                <a:cs typeface="Arial MT"/>
              </a:rPr>
              <a:t>created</a:t>
            </a:r>
            <a:r>
              <a:rPr lang="en-US" sz="1700" spc="-70" dirty="0">
                <a:latin typeface="Arial MT"/>
                <a:cs typeface="Arial MT"/>
              </a:rPr>
              <a:t> </a:t>
            </a:r>
            <a:r>
              <a:rPr lang="en-US" sz="1700" spc="5" dirty="0">
                <a:latin typeface="Arial MT"/>
                <a:cs typeface="Arial MT"/>
              </a:rPr>
              <a:t>by</a:t>
            </a:r>
            <a:r>
              <a:rPr lang="en-US" sz="1700" spc="-10" dirty="0">
                <a:latin typeface="Arial MT"/>
                <a:cs typeface="Arial MT"/>
              </a:rPr>
              <a:t> </a:t>
            </a:r>
            <a:r>
              <a:rPr lang="en-US" sz="1700" spc="10" dirty="0">
                <a:latin typeface="Arial MT"/>
                <a:cs typeface="Arial MT"/>
              </a:rPr>
              <a:t>using</a:t>
            </a:r>
            <a:r>
              <a:rPr lang="en-US" sz="1700" spc="-65" dirty="0">
                <a:latin typeface="Arial MT"/>
                <a:cs typeface="Arial MT"/>
              </a:rPr>
              <a:t> </a:t>
            </a:r>
            <a:r>
              <a:rPr lang="en-US" sz="1700" spc="5" dirty="0">
                <a:latin typeface="Arial MT"/>
                <a:cs typeface="Arial MT"/>
              </a:rPr>
              <a:t>a</a:t>
            </a:r>
            <a:r>
              <a:rPr lang="en-US" sz="1700" spc="-30" dirty="0">
                <a:latin typeface="Arial MT"/>
                <a:cs typeface="Arial MT"/>
              </a:rPr>
              <a:t> </a:t>
            </a:r>
            <a:r>
              <a:rPr lang="en-US" sz="1700" spc="5" dirty="0">
                <a:solidFill>
                  <a:srgbClr val="FF0000"/>
                </a:solidFill>
                <a:latin typeface="Arial MT"/>
                <a:cs typeface="Arial MT"/>
              </a:rPr>
              <a:t>literal </a:t>
            </a:r>
            <a:r>
              <a:rPr lang="en-US" sz="1700" spc="-459" dirty="0">
                <a:solidFill>
                  <a:srgbClr val="FF0000"/>
                </a:solidFill>
                <a:latin typeface="Arial MT"/>
                <a:cs typeface="Arial MT"/>
              </a:rPr>
              <a:t> </a:t>
            </a:r>
            <a:r>
              <a:rPr lang="en-US" sz="1700" spc="5" dirty="0">
                <a:latin typeface="Arial MT"/>
                <a:cs typeface="Arial MT"/>
              </a:rPr>
              <a:t>representation</a:t>
            </a:r>
            <a:r>
              <a:rPr lang="en-US" sz="1700" i="1" spc="5" dirty="0">
                <a:latin typeface="Arial"/>
                <a:cs typeface="Arial"/>
              </a:rPr>
              <a:t>.</a:t>
            </a:r>
            <a:endParaRPr lang="en-US" sz="1700" dirty="0">
              <a:latin typeface="Arial"/>
              <a:cs typeface="Arial"/>
            </a:endParaRPr>
          </a:p>
          <a:p>
            <a:pPr marL="529590" lvl="1" indent="-274320">
              <a:lnSpc>
                <a:spcPct val="100000"/>
              </a:lnSpc>
              <a:spcBef>
                <a:spcPts val="400"/>
              </a:spcBef>
              <a:buAutoNum type="arabicPeriod"/>
              <a:tabLst>
                <a:tab pos="530225" algn="l"/>
              </a:tabLst>
            </a:pPr>
            <a:r>
              <a:rPr lang="en-US" sz="1700" spc="5" dirty="0">
                <a:latin typeface="Arial MT"/>
                <a:cs typeface="Arial MT"/>
              </a:rPr>
              <a:t>Integer</a:t>
            </a:r>
            <a:r>
              <a:rPr lang="en-US" sz="1700" spc="-105" dirty="0">
                <a:latin typeface="Arial MT"/>
                <a:cs typeface="Arial MT"/>
              </a:rPr>
              <a:t> </a:t>
            </a:r>
            <a:r>
              <a:rPr lang="en-US" sz="1700" spc="5" dirty="0">
                <a:latin typeface="Arial MT"/>
                <a:cs typeface="Arial MT"/>
              </a:rPr>
              <a:t>Literals</a:t>
            </a:r>
            <a:endParaRPr lang="en-US" sz="1700" dirty="0">
              <a:latin typeface="Arial MT"/>
              <a:cs typeface="Arial MT"/>
            </a:endParaRPr>
          </a:p>
          <a:p>
            <a:pPr marL="529590" lvl="1" indent="-274320">
              <a:lnSpc>
                <a:spcPct val="100000"/>
              </a:lnSpc>
              <a:spcBef>
                <a:spcPts val="439"/>
              </a:spcBef>
              <a:buAutoNum type="arabicPeriod"/>
              <a:tabLst>
                <a:tab pos="530225" algn="l"/>
              </a:tabLst>
            </a:pPr>
            <a:r>
              <a:rPr lang="en-US" sz="1700" spc="-5" dirty="0">
                <a:latin typeface="Arial MT"/>
                <a:cs typeface="Arial MT"/>
              </a:rPr>
              <a:t>F</a:t>
            </a:r>
            <a:r>
              <a:rPr lang="en-US" sz="1700" spc="15" dirty="0">
                <a:latin typeface="Arial MT"/>
                <a:cs typeface="Arial MT"/>
              </a:rPr>
              <a:t>l</a:t>
            </a:r>
            <a:r>
              <a:rPr lang="en-US" sz="1700" spc="5" dirty="0">
                <a:latin typeface="Arial MT"/>
                <a:cs typeface="Arial MT"/>
              </a:rPr>
              <a:t>oat</a:t>
            </a:r>
            <a:r>
              <a:rPr lang="en-US" sz="1700" spc="15" dirty="0">
                <a:latin typeface="Arial MT"/>
                <a:cs typeface="Arial MT"/>
              </a:rPr>
              <a:t>i</a:t>
            </a:r>
            <a:r>
              <a:rPr lang="en-US" sz="1700" spc="5" dirty="0">
                <a:latin typeface="Arial MT"/>
                <a:cs typeface="Arial MT"/>
              </a:rPr>
              <a:t>n</a:t>
            </a:r>
            <a:r>
              <a:rPr lang="en-US" sz="1700" spc="15" dirty="0">
                <a:latin typeface="Arial MT"/>
                <a:cs typeface="Arial MT"/>
              </a:rPr>
              <a:t>g</a:t>
            </a:r>
            <a:r>
              <a:rPr lang="en-US" sz="1700" spc="-10" dirty="0">
                <a:latin typeface="Arial MT"/>
                <a:cs typeface="Arial MT"/>
              </a:rPr>
              <a:t>-</a:t>
            </a:r>
            <a:r>
              <a:rPr lang="en-US" sz="1700" spc="20" dirty="0">
                <a:latin typeface="Arial MT"/>
                <a:cs typeface="Arial MT"/>
              </a:rPr>
              <a:t>P</a:t>
            </a:r>
            <a:r>
              <a:rPr lang="en-US" sz="1700" spc="5" dirty="0">
                <a:latin typeface="Arial MT"/>
                <a:cs typeface="Arial MT"/>
              </a:rPr>
              <a:t>o</a:t>
            </a:r>
            <a:r>
              <a:rPr lang="en-US" sz="1700" spc="-20" dirty="0">
                <a:latin typeface="Arial MT"/>
                <a:cs typeface="Arial MT"/>
              </a:rPr>
              <a:t>i</a:t>
            </a:r>
            <a:r>
              <a:rPr lang="en-US" sz="1700" spc="5" dirty="0">
                <a:latin typeface="Arial MT"/>
                <a:cs typeface="Arial MT"/>
              </a:rPr>
              <a:t>nt</a:t>
            </a:r>
            <a:r>
              <a:rPr lang="en-US" sz="1700" spc="-65" dirty="0">
                <a:latin typeface="Times New Roman"/>
                <a:cs typeface="Times New Roman"/>
              </a:rPr>
              <a:t> </a:t>
            </a:r>
            <a:r>
              <a:rPr lang="en-US" sz="1700" spc="5" dirty="0">
                <a:latin typeface="Arial MT"/>
                <a:cs typeface="Arial MT"/>
              </a:rPr>
              <a:t>L</a:t>
            </a:r>
            <a:r>
              <a:rPr lang="en-US" sz="1700" spc="20" dirty="0">
                <a:latin typeface="Arial MT"/>
                <a:cs typeface="Arial MT"/>
              </a:rPr>
              <a:t>i</a:t>
            </a:r>
            <a:r>
              <a:rPr lang="en-US" sz="1700" spc="5" dirty="0">
                <a:latin typeface="Arial MT"/>
                <a:cs typeface="Arial MT"/>
              </a:rPr>
              <a:t>te</a:t>
            </a:r>
            <a:r>
              <a:rPr lang="en-US" sz="1700" spc="-10" dirty="0">
                <a:latin typeface="Arial MT"/>
                <a:cs typeface="Arial MT"/>
              </a:rPr>
              <a:t>r</a:t>
            </a:r>
            <a:r>
              <a:rPr lang="en-US" sz="1700" spc="5" dirty="0">
                <a:latin typeface="Arial MT"/>
                <a:cs typeface="Arial MT"/>
              </a:rPr>
              <a:t>a</a:t>
            </a:r>
            <a:r>
              <a:rPr lang="en-US" sz="1700" spc="20" dirty="0">
                <a:latin typeface="Arial MT"/>
                <a:cs typeface="Arial MT"/>
              </a:rPr>
              <a:t>l</a:t>
            </a:r>
            <a:r>
              <a:rPr lang="en-US" sz="1700" spc="5" dirty="0">
                <a:latin typeface="Arial MT"/>
                <a:cs typeface="Arial MT"/>
              </a:rPr>
              <a:t>s</a:t>
            </a:r>
            <a:endParaRPr lang="en-US" sz="1700" dirty="0">
              <a:latin typeface="Arial MT"/>
              <a:cs typeface="Arial MT"/>
            </a:endParaRPr>
          </a:p>
          <a:p>
            <a:pPr marL="529590" lvl="1" indent="-274320">
              <a:lnSpc>
                <a:spcPct val="100000"/>
              </a:lnSpc>
              <a:spcBef>
                <a:spcPts val="395"/>
              </a:spcBef>
              <a:buAutoNum type="arabicPeriod"/>
              <a:tabLst>
                <a:tab pos="530225" algn="l"/>
              </a:tabLst>
            </a:pPr>
            <a:r>
              <a:rPr lang="en-US" sz="1700" spc="20" dirty="0">
                <a:latin typeface="Arial MT"/>
                <a:cs typeface="Arial MT"/>
              </a:rPr>
              <a:t>B</a:t>
            </a:r>
            <a:r>
              <a:rPr lang="en-US" sz="1700" dirty="0">
                <a:latin typeface="Arial MT"/>
                <a:cs typeface="Arial MT"/>
              </a:rPr>
              <a:t>o</a:t>
            </a:r>
            <a:r>
              <a:rPr lang="en-US" sz="1700" spc="10" dirty="0">
                <a:latin typeface="Arial MT"/>
                <a:cs typeface="Arial MT"/>
              </a:rPr>
              <a:t>o</a:t>
            </a:r>
            <a:r>
              <a:rPr lang="en-US" sz="1700" spc="15" dirty="0">
                <a:latin typeface="Arial MT"/>
                <a:cs typeface="Arial MT"/>
              </a:rPr>
              <a:t>l</a:t>
            </a:r>
            <a:r>
              <a:rPr lang="en-US" sz="1700" dirty="0">
                <a:latin typeface="Arial MT"/>
                <a:cs typeface="Arial MT"/>
              </a:rPr>
              <a:t>e</a:t>
            </a:r>
            <a:r>
              <a:rPr lang="en-US" sz="1700" spc="10" dirty="0">
                <a:latin typeface="Arial MT"/>
                <a:cs typeface="Arial MT"/>
              </a:rPr>
              <a:t>a</a:t>
            </a:r>
            <a:r>
              <a:rPr lang="en-US" sz="1700" spc="5" dirty="0">
                <a:latin typeface="Arial MT"/>
                <a:cs typeface="Arial MT"/>
              </a:rPr>
              <a:t>n</a:t>
            </a:r>
            <a:r>
              <a:rPr lang="en-US" sz="1700" spc="-65" dirty="0">
                <a:latin typeface="Times New Roman"/>
                <a:cs typeface="Times New Roman"/>
              </a:rPr>
              <a:t> </a:t>
            </a:r>
            <a:r>
              <a:rPr lang="en-US" sz="1700" dirty="0">
                <a:latin typeface="Arial MT"/>
                <a:cs typeface="Arial MT"/>
              </a:rPr>
              <a:t>L</a:t>
            </a:r>
            <a:r>
              <a:rPr lang="en-US" sz="1700" spc="20" dirty="0">
                <a:latin typeface="Arial MT"/>
                <a:cs typeface="Arial MT"/>
              </a:rPr>
              <a:t>i</a:t>
            </a:r>
            <a:r>
              <a:rPr lang="en-US" sz="1700" dirty="0">
                <a:latin typeface="Arial MT"/>
                <a:cs typeface="Arial MT"/>
              </a:rPr>
              <a:t>t</a:t>
            </a:r>
            <a:r>
              <a:rPr lang="en-US" sz="1700" spc="10" dirty="0">
                <a:latin typeface="Arial MT"/>
                <a:cs typeface="Arial MT"/>
              </a:rPr>
              <a:t>e</a:t>
            </a:r>
            <a:r>
              <a:rPr lang="en-US" sz="1700" spc="-10" dirty="0">
                <a:latin typeface="Arial MT"/>
                <a:cs typeface="Arial MT"/>
              </a:rPr>
              <a:t>r</a:t>
            </a:r>
            <a:r>
              <a:rPr lang="en-US" sz="1700" dirty="0">
                <a:latin typeface="Arial MT"/>
                <a:cs typeface="Arial MT"/>
              </a:rPr>
              <a:t>a</a:t>
            </a:r>
            <a:r>
              <a:rPr lang="en-US" sz="1700" spc="20" dirty="0">
                <a:latin typeface="Arial MT"/>
                <a:cs typeface="Arial MT"/>
              </a:rPr>
              <a:t>l</a:t>
            </a:r>
            <a:r>
              <a:rPr lang="en-US" sz="1700" spc="5" dirty="0">
                <a:latin typeface="Arial MT"/>
                <a:cs typeface="Arial MT"/>
              </a:rPr>
              <a:t>s</a:t>
            </a:r>
            <a:endParaRPr lang="en-US" sz="1700" dirty="0">
              <a:latin typeface="Arial MT"/>
              <a:cs typeface="Arial MT"/>
            </a:endParaRPr>
          </a:p>
          <a:p>
            <a:pPr marL="529590" lvl="1" indent="-274320">
              <a:lnSpc>
                <a:spcPct val="100000"/>
              </a:lnSpc>
              <a:spcBef>
                <a:spcPts val="400"/>
              </a:spcBef>
              <a:buAutoNum type="arabicPeriod"/>
              <a:tabLst>
                <a:tab pos="530225" algn="l"/>
              </a:tabLst>
            </a:pPr>
            <a:r>
              <a:rPr lang="en-US" sz="1700" spc="5" dirty="0">
                <a:latin typeface="Arial MT"/>
                <a:cs typeface="Arial MT"/>
              </a:rPr>
              <a:t>Character</a:t>
            </a:r>
            <a:r>
              <a:rPr lang="en-US" sz="1700" spc="-105" dirty="0">
                <a:latin typeface="Arial MT"/>
                <a:cs typeface="Arial MT"/>
              </a:rPr>
              <a:t> </a:t>
            </a:r>
            <a:r>
              <a:rPr lang="en-US" sz="1700" spc="5" dirty="0">
                <a:latin typeface="Arial MT"/>
                <a:cs typeface="Arial MT"/>
              </a:rPr>
              <a:t>Literals</a:t>
            </a:r>
            <a:endParaRPr lang="en-US" sz="1700" dirty="0">
              <a:latin typeface="Arial MT"/>
              <a:cs typeface="Arial MT"/>
            </a:endParaRPr>
          </a:p>
          <a:p>
            <a:pPr marL="529590" lvl="1" indent="-274320">
              <a:lnSpc>
                <a:spcPct val="100000"/>
              </a:lnSpc>
              <a:spcBef>
                <a:spcPts val="434"/>
              </a:spcBef>
              <a:buAutoNum type="arabicPeriod"/>
              <a:tabLst>
                <a:tab pos="530225" algn="l"/>
              </a:tabLst>
            </a:pPr>
            <a:r>
              <a:rPr lang="en-US" sz="1700" spc="5" dirty="0">
                <a:latin typeface="Arial MT"/>
                <a:cs typeface="Arial MT"/>
              </a:rPr>
              <a:t>String</a:t>
            </a:r>
            <a:r>
              <a:rPr lang="en-US" sz="1700" spc="-85" dirty="0">
                <a:latin typeface="Arial MT"/>
                <a:cs typeface="Arial MT"/>
              </a:rPr>
              <a:t> </a:t>
            </a:r>
            <a:r>
              <a:rPr lang="en-US" sz="1700" spc="5" dirty="0">
                <a:latin typeface="Arial MT"/>
                <a:cs typeface="Arial MT"/>
              </a:rPr>
              <a:t>Literals</a:t>
            </a:r>
            <a:endParaRPr lang="en-US" sz="1700" dirty="0">
              <a:latin typeface="Arial MT"/>
              <a:cs typeface="Arial MT"/>
            </a:endParaRPr>
          </a:p>
          <a:p>
            <a:pPr marL="342900" indent="-342900">
              <a:buFont typeface="Arial" panose="020B0604020202020204" pitchFamily="34" charset="0"/>
              <a:buChar char="•"/>
            </a:pPr>
            <a:endParaRPr lang="en-US" altLang="en-US" sz="2003"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2B1500B1-BBF1-8869-4672-C9AC5EEA19DD}"/>
              </a:ext>
            </a:extLst>
          </p:cNvPr>
          <p:cNvSpPr>
            <a:spLocks noGrp="1"/>
          </p:cNvSpPr>
          <p:nvPr>
            <p:ph type="title" idx="4294967295"/>
          </p:nvPr>
        </p:nvSpPr>
        <p:spPr>
          <a:xfrm>
            <a:off x="1638300" y="177800"/>
            <a:ext cx="2527300" cy="292100"/>
          </a:xfrm>
        </p:spPr>
        <p:txBody>
          <a:bodyPr/>
          <a:lstStyle/>
          <a:p>
            <a:r>
              <a:rPr lang="en-US" altLang="en-US" b="1" dirty="0">
                <a:solidFill>
                  <a:srgbClr val="FF0000"/>
                </a:solidFill>
                <a:cs typeface="Times New Roman" panose="02020603050405020304" pitchFamily="18" charset="0"/>
              </a:rPr>
              <a:t>Integer Literals </a:t>
            </a:r>
            <a:r>
              <a:rPr lang="en-US" altLang="en-US" dirty="0">
                <a:cs typeface="Times New Roman" panose="02020603050405020304" pitchFamily="18" charset="0"/>
              </a:rPr>
              <a:t> - Integer Literals</a:t>
            </a:r>
            <a:r>
              <a:rPr lang="en-US" altLang="en-US" dirty="0"/>
              <a:t> </a:t>
            </a:r>
          </a:p>
        </p:txBody>
      </p:sp>
      <p:sp>
        <p:nvSpPr>
          <p:cNvPr id="23555" name="Rectangle 3">
            <a:extLst>
              <a:ext uri="{FF2B5EF4-FFF2-40B4-BE49-F238E27FC236}">
                <a16:creationId xmlns:a16="http://schemas.microsoft.com/office/drawing/2014/main" id="{A808E7EB-0E3E-D549-D71C-3650E95AFDE0}"/>
              </a:ext>
            </a:extLst>
          </p:cNvPr>
          <p:cNvSpPr>
            <a:spLocks noGrp="1"/>
          </p:cNvSpPr>
          <p:nvPr>
            <p:ph type="body" idx="4294967295"/>
          </p:nvPr>
        </p:nvSpPr>
        <p:spPr>
          <a:xfrm>
            <a:off x="203201" y="546100"/>
            <a:ext cx="6299200" cy="2465803"/>
          </a:xfrm>
        </p:spPr>
        <p:txBody>
          <a:bodyPr/>
          <a:lstStyle/>
          <a:p>
            <a:pPr marL="342900" indent="-342900">
              <a:buFont typeface="Arial" panose="020B0604020202020204" pitchFamily="34" charset="0"/>
              <a:buChar char="•"/>
            </a:pPr>
            <a:r>
              <a:rPr lang="en-US" altLang="en-US" sz="2003" dirty="0">
                <a:latin typeface="Arial" panose="020B0604020202020204" pitchFamily="34" charset="0"/>
                <a:cs typeface="Arial" panose="020B0604020202020204" pitchFamily="34" charset="0"/>
              </a:rPr>
              <a:t>Integral literals may be expressed in </a:t>
            </a:r>
          </a:p>
          <a:p>
            <a:pPr marL="800100" lvl="1" indent="-342900">
              <a:buFont typeface="Arial" panose="020B0604020202020204" pitchFamily="34" charset="0"/>
              <a:buChar char="•"/>
            </a:pPr>
            <a:r>
              <a:rPr lang="en-US" altLang="en-US" sz="2003" dirty="0">
                <a:latin typeface="Arial" panose="020B0604020202020204" pitchFamily="34" charset="0"/>
                <a:cs typeface="Arial" panose="020B0604020202020204" pitchFamily="34" charset="0"/>
              </a:rPr>
              <a:t>decimal,</a:t>
            </a:r>
          </a:p>
          <a:p>
            <a:pPr marL="800100" lvl="1" indent="-342900">
              <a:buFont typeface="Arial" panose="020B0604020202020204" pitchFamily="34" charset="0"/>
              <a:buChar char="•"/>
            </a:pPr>
            <a:r>
              <a:rPr lang="en-US" altLang="en-US" sz="2003" dirty="0">
                <a:latin typeface="Arial" panose="020B0604020202020204" pitchFamily="34" charset="0"/>
                <a:cs typeface="Arial" panose="020B0604020202020204" pitchFamily="34" charset="0"/>
              </a:rPr>
              <a:t>octal, </a:t>
            </a:r>
          </a:p>
          <a:p>
            <a:pPr marL="800100" lvl="1" indent="-342900">
              <a:buFont typeface="Arial" panose="020B0604020202020204" pitchFamily="34" charset="0"/>
              <a:buChar char="•"/>
            </a:pPr>
            <a:r>
              <a:rPr lang="en-US" altLang="en-US" sz="2003" dirty="0">
                <a:latin typeface="Arial" panose="020B0604020202020204" pitchFamily="34" charset="0"/>
                <a:cs typeface="Arial" panose="020B0604020202020204" pitchFamily="34" charset="0"/>
              </a:rPr>
              <a:t>or hexadecimal.</a:t>
            </a:r>
          </a:p>
          <a:p>
            <a:pPr marL="342900" indent="-342900">
              <a:buFont typeface="Arial" panose="020B0604020202020204" pitchFamily="34" charset="0"/>
              <a:buChar char="•"/>
            </a:pPr>
            <a:endParaRPr lang="en-US" altLang="en-US" sz="2003"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altLang="en-US" sz="2003" dirty="0">
                <a:latin typeface="Arial" panose="020B0604020202020204" pitchFamily="34" charset="0"/>
                <a:cs typeface="Arial" panose="020B0604020202020204" pitchFamily="34" charset="0"/>
              </a:rPr>
              <a:t>To indicate octal, prefix the literal with 0 (zero)</a:t>
            </a:r>
          </a:p>
          <a:p>
            <a:pPr marL="342900" indent="-342900">
              <a:buFont typeface="Arial" panose="020B0604020202020204" pitchFamily="34" charset="0"/>
              <a:buChar char="•"/>
            </a:pPr>
            <a:r>
              <a:rPr lang="en-US" altLang="en-US" sz="2003" dirty="0">
                <a:latin typeface="Arial" panose="020B0604020202020204" pitchFamily="34" charset="0"/>
                <a:cs typeface="Arial" panose="020B0604020202020204" pitchFamily="34" charset="0"/>
              </a:rPr>
              <a:t>To indicate hexadecimal, prefix the literal with 0x or 0X; </a:t>
            </a:r>
          </a:p>
        </p:txBody>
      </p:sp>
    </p:spTree>
    <p:extLst>
      <p:ext uri="{BB962C8B-B14F-4D97-AF65-F5344CB8AC3E}">
        <p14:creationId xmlns:p14="http://schemas.microsoft.com/office/powerpoint/2010/main" val="59808509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2CBC3289-B767-3377-8A9B-9F1A9FACAAA7}"/>
              </a:ext>
            </a:extLst>
          </p:cNvPr>
          <p:cNvSpPr>
            <a:spLocks noGrp="1"/>
          </p:cNvSpPr>
          <p:nvPr>
            <p:ph type="title" idx="4294967295"/>
          </p:nvPr>
        </p:nvSpPr>
        <p:spPr>
          <a:xfrm>
            <a:off x="0" y="25400"/>
            <a:ext cx="4864100" cy="292100"/>
          </a:xfrm>
        </p:spPr>
        <p:txBody>
          <a:bodyPr/>
          <a:lstStyle/>
          <a:p>
            <a:pPr algn="ctr"/>
            <a:r>
              <a:rPr lang="en-US" altLang="en-US" dirty="0">
                <a:solidFill>
                  <a:srgbClr val="FF0000"/>
                </a:solidFill>
              </a:rPr>
              <a:t>Floating-Point Literals</a:t>
            </a:r>
          </a:p>
        </p:txBody>
      </p:sp>
      <p:sp>
        <p:nvSpPr>
          <p:cNvPr id="63491" name="Content Placeholder 2">
            <a:extLst>
              <a:ext uri="{FF2B5EF4-FFF2-40B4-BE49-F238E27FC236}">
                <a16:creationId xmlns:a16="http://schemas.microsoft.com/office/drawing/2014/main" id="{FD1F915F-E2E0-A630-6B14-6C7C0C1A7167}"/>
              </a:ext>
            </a:extLst>
          </p:cNvPr>
          <p:cNvSpPr>
            <a:spLocks noGrp="1"/>
          </p:cNvSpPr>
          <p:nvPr>
            <p:ph idx="4294967295"/>
          </p:nvPr>
        </p:nvSpPr>
        <p:spPr>
          <a:xfrm>
            <a:off x="50800" y="317500"/>
            <a:ext cx="6400799" cy="3483261"/>
          </a:xfrm>
        </p:spPr>
        <p:txBody>
          <a:bodyPr/>
          <a:lstStyle/>
          <a:p>
            <a:pPr marL="285750" indent="-285750" algn="just">
              <a:lnSpc>
                <a:spcPct val="150000"/>
              </a:lnSpc>
              <a:buFont typeface="Arial" panose="020B0604020202020204" pitchFamily="34" charset="0"/>
              <a:buChar char="•"/>
              <a:defRPr/>
            </a:pPr>
            <a:r>
              <a:rPr lang="en-US" sz="1700" dirty="0">
                <a:latin typeface="Arial" panose="020B0604020202020204" pitchFamily="34" charset="0"/>
                <a:cs typeface="Arial" panose="020B0604020202020204" pitchFamily="34" charset="0"/>
              </a:rPr>
              <a:t>They can be expressed in either standard or scientific notation. </a:t>
            </a:r>
            <a:endParaRPr lang="en-US" sz="1700" i="1" dirty="0">
              <a:latin typeface="Arial" panose="020B0604020202020204" pitchFamily="34" charset="0"/>
              <a:cs typeface="Arial" panose="020B0604020202020204" pitchFamily="34" charset="0"/>
            </a:endParaRPr>
          </a:p>
          <a:p>
            <a:pPr marL="285750" indent="-285750" algn="just">
              <a:lnSpc>
                <a:spcPct val="150000"/>
              </a:lnSpc>
              <a:buFont typeface="Arial" panose="020B0604020202020204" pitchFamily="34" charset="0"/>
              <a:buChar char="•"/>
              <a:defRPr/>
            </a:pPr>
            <a:r>
              <a:rPr lang="en-US" sz="1700" i="1" dirty="0">
                <a:latin typeface="Arial" panose="020B0604020202020204" pitchFamily="34" charset="0"/>
                <a:cs typeface="Arial" panose="020B0604020202020204" pitchFamily="34" charset="0"/>
              </a:rPr>
              <a:t>Standard notation </a:t>
            </a:r>
            <a:r>
              <a:rPr lang="en-US" sz="1700" dirty="0">
                <a:latin typeface="Arial" panose="020B0604020202020204" pitchFamily="34" charset="0"/>
                <a:cs typeface="Arial" panose="020B0604020202020204" pitchFamily="34" charset="0"/>
              </a:rPr>
              <a:t>consists of a whole number component followed by a decimal point followed by a fractional component.         </a:t>
            </a:r>
            <a:r>
              <a:rPr lang="en-US" sz="1700" dirty="0" err="1">
                <a:latin typeface="Arial" panose="020B0604020202020204" pitchFamily="34" charset="0"/>
                <a:cs typeface="Arial" panose="020B0604020202020204" pitchFamily="34" charset="0"/>
              </a:rPr>
              <a:t>Eg</a:t>
            </a:r>
            <a:r>
              <a:rPr lang="en-US" sz="1700" dirty="0">
                <a:latin typeface="Arial" panose="020B0604020202020204" pitchFamily="34" charset="0"/>
                <a:cs typeface="Arial" panose="020B0604020202020204" pitchFamily="34" charset="0"/>
              </a:rPr>
              <a:t>:- 2.0, 3.14159, and 0.6667</a:t>
            </a:r>
          </a:p>
          <a:p>
            <a:pPr marL="285750" indent="-285750" algn="just">
              <a:lnSpc>
                <a:spcPct val="150000"/>
              </a:lnSpc>
              <a:buFont typeface="Arial" panose="020B0604020202020204" pitchFamily="34" charset="0"/>
              <a:buChar char="•"/>
              <a:defRPr/>
            </a:pPr>
            <a:r>
              <a:rPr lang="en-US" sz="1700" i="1" dirty="0">
                <a:latin typeface="Arial" panose="020B0604020202020204" pitchFamily="34" charset="0"/>
                <a:cs typeface="Arial" panose="020B0604020202020204" pitchFamily="34" charset="0"/>
              </a:rPr>
              <a:t>Scientific notation </a:t>
            </a:r>
            <a:r>
              <a:rPr lang="en-US" sz="1700" dirty="0">
                <a:latin typeface="Arial" panose="020B0604020202020204" pitchFamily="34" charset="0"/>
                <a:cs typeface="Arial" panose="020B0604020202020204" pitchFamily="34" charset="0"/>
              </a:rPr>
              <a:t>uses a standard-notation, floating-point number plus a suffix that specifies a power of 10 by which the number is to be multiplied. </a:t>
            </a:r>
            <a:r>
              <a:rPr lang="en-US" sz="1700" dirty="0" err="1">
                <a:latin typeface="Arial" panose="020B0604020202020204" pitchFamily="34" charset="0"/>
                <a:cs typeface="Arial" panose="020B0604020202020204" pitchFamily="34" charset="0"/>
              </a:rPr>
              <a:t>Eg</a:t>
            </a:r>
            <a:r>
              <a:rPr lang="en-US" sz="1700" dirty="0">
                <a:latin typeface="Arial" panose="020B0604020202020204" pitchFamily="34" charset="0"/>
                <a:cs typeface="Arial" panose="020B0604020202020204" pitchFamily="34" charset="0"/>
              </a:rPr>
              <a:t>:- 6.022E23, 314159E–5, and 2e+100.</a:t>
            </a:r>
          </a:p>
          <a:p>
            <a:pPr marL="285750" indent="-285750" algn="just">
              <a:lnSpc>
                <a:spcPct val="150000"/>
              </a:lnSpc>
              <a:buFont typeface="Arial" panose="020B0604020202020204" pitchFamily="34" charset="0"/>
              <a:buChar char="•"/>
              <a:defRPr/>
            </a:pPr>
            <a:r>
              <a:rPr lang="en-US" sz="1700" dirty="0">
                <a:latin typeface="Arial" panose="020B0604020202020204" pitchFamily="34" charset="0"/>
                <a:cs typeface="Arial" panose="020B0604020202020204" pitchFamily="34" charset="0"/>
              </a:rPr>
              <a:t>Floating-point literals in Java default to </a:t>
            </a:r>
            <a:r>
              <a:rPr lang="en-US" sz="1700" b="1" dirty="0">
                <a:latin typeface="Arial" panose="020B0604020202020204" pitchFamily="34" charset="0"/>
                <a:cs typeface="Arial" panose="020B0604020202020204" pitchFamily="34" charset="0"/>
              </a:rPr>
              <a:t>double </a:t>
            </a:r>
            <a:r>
              <a:rPr lang="en-US" sz="1700" dirty="0">
                <a:latin typeface="Arial" panose="020B0604020202020204" pitchFamily="34" charset="0"/>
                <a:cs typeface="Arial" panose="020B0604020202020204" pitchFamily="34" charset="0"/>
              </a:rPr>
              <a:t>precision.</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429927E1-B57F-35AB-6D03-C5E63288831B}"/>
              </a:ext>
            </a:extLst>
          </p:cNvPr>
          <p:cNvSpPr>
            <a:spLocks noGrp="1"/>
          </p:cNvSpPr>
          <p:nvPr>
            <p:ph type="title" idx="4294967295"/>
          </p:nvPr>
        </p:nvSpPr>
        <p:spPr>
          <a:xfrm>
            <a:off x="152400" y="268288"/>
            <a:ext cx="5765800" cy="293687"/>
          </a:xfrm>
        </p:spPr>
        <p:txBody>
          <a:bodyPr/>
          <a:lstStyle/>
          <a:p>
            <a:r>
              <a:rPr lang="en-US" altLang="en-US" dirty="0">
                <a:solidFill>
                  <a:srgbClr val="FF0000"/>
                </a:solidFill>
              </a:rPr>
              <a:t>Boolean Literals</a:t>
            </a:r>
          </a:p>
        </p:txBody>
      </p:sp>
      <p:sp>
        <p:nvSpPr>
          <p:cNvPr id="26627" name="Content Placeholder 2">
            <a:extLst>
              <a:ext uri="{FF2B5EF4-FFF2-40B4-BE49-F238E27FC236}">
                <a16:creationId xmlns:a16="http://schemas.microsoft.com/office/drawing/2014/main" id="{E694BB58-0D19-1F7B-5BE1-FD9986E77C38}"/>
              </a:ext>
            </a:extLst>
          </p:cNvPr>
          <p:cNvSpPr>
            <a:spLocks noGrp="1"/>
          </p:cNvSpPr>
          <p:nvPr>
            <p:ph idx="4294967295"/>
          </p:nvPr>
        </p:nvSpPr>
        <p:spPr>
          <a:xfrm>
            <a:off x="152400" y="774700"/>
            <a:ext cx="6146800" cy="1156702"/>
          </a:xfrm>
        </p:spPr>
        <p:txBody>
          <a:bodyPr/>
          <a:lstStyle/>
          <a:p>
            <a:pPr marL="342900" indent="-342900" algn="just">
              <a:buFont typeface="Arial" panose="020B0604020202020204" pitchFamily="34" charset="0"/>
              <a:buChar char="•"/>
            </a:pPr>
            <a:r>
              <a:rPr lang="en-US" altLang="en-US" sz="2003" dirty="0">
                <a:latin typeface="Arial" panose="020B0604020202020204" pitchFamily="34" charset="0"/>
                <a:cs typeface="Arial" panose="020B0604020202020204" pitchFamily="34" charset="0"/>
              </a:rPr>
              <a:t>Boolean : In Java, they can only be assigned to variables declared as </a:t>
            </a:r>
            <a:r>
              <a:rPr lang="en-US" altLang="en-US" sz="2003" b="1" dirty="0" err="1">
                <a:latin typeface="Arial" panose="020B0604020202020204" pitchFamily="34" charset="0"/>
                <a:cs typeface="Arial" panose="020B0604020202020204" pitchFamily="34" charset="0"/>
              </a:rPr>
              <a:t>boolean</a:t>
            </a:r>
            <a:r>
              <a:rPr lang="en-US" altLang="en-US" sz="2003" dirty="0">
                <a:latin typeface="Arial" panose="020B0604020202020204" pitchFamily="34" charset="0"/>
                <a:cs typeface="Arial" panose="020B0604020202020204" pitchFamily="34" charset="0"/>
              </a:rPr>
              <a:t>, or used in expressions with Boolean operators.</a:t>
            </a:r>
          </a:p>
          <a:p>
            <a:pPr marL="342900" indent="-342900" algn="just">
              <a:buFont typeface="Arial" panose="020B0604020202020204" pitchFamily="34" charset="0"/>
              <a:buChar char="•"/>
            </a:pPr>
            <a:r>
              <a:rPr lang="en-US" altLang="en-US" sz="2003" dirty="0">
                <a:latin typeface="Arial" panose="020B0604020202020204" pitchFamily="34" charset="0"/>
                <a:cs typeface="Arial" panose="020B0604020202020204" pitchFamily="34" charset="0"/>
              </a:rPr>
              <a:t>Either takes the value </a:t>
            </a:r>
            <a:r>
              <a:rPr lang="en-US" altLang="en-US" sz="2003" dirty="0">
                <a:solidFill>
                  <a:srgbClr val="FF0000"/>
                </a:solidFill>
                <a:latin typeface="Arial" panose="020B0604020202020204" pitchFamily="34" charset="0"/>
                <a:cs typeface="Arial" panose="020B0604020202020204" pitchFamily="34" charset="0"/>
              </a:rPr>
              <a:t>true</a:t>
            </a:r>
            <a:r>
              <a:rPr lang="en-US" altLang="en-US" sz="2003" dirty="0">
                <a:latin typeface="Arial" panose="020B0604020202020204" pitchFamily="34" charset="0"/>
                <a:cs typeface="Arial" panose="020B0604020202020204" pitchFamily="34" charset="0"/>
              </a:rPr>
              <a:t> or </a:t>
            </a:r>
            <a:r>
              <a:rPr lang="en-US" altLang="en-US" sz="2003" dirty="0">
                <a:solidFill>
                  <a:srgbClr val="FF0000"/>
                </a:solidFill>
                <a:latin typeface="Arial" panose="020B0604020202020204" pitchFamily="34" charset="0"/>
                <a:cs typeface="Arial" panose="020B0604020202020204" pitchFamily="34" charset="0"/>
              </a:rPr>
              <a:t>false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3804BA43-8C8B-8C75-F1DB-D7F934D5B1F0}"/>
              </a:ext>
            </a:extLst>
          </p:cNvPr>
          <p:cNvSpPr>
            <a:spLocks noGrp="1"/>
          </p:cNvSpPr>
          <p:nvPr>
            <p:ph type="title" idx="4294967295"/>
          </p:nvPr>
        </p:nvSpPr>
        <p:spPr>
          <a:xfrm>
            <a:off x="0" y="268288"/>
            <a:ext cx="5765800" cy="293687"/>
          </a:xfrm>
        </p:spPr>
        <p:txBody>
          <a:bodyPr/>
          <a:lstStyle/>
          <a:p>
            <a:r>
              <a:rPr lang="en-US" altLang="en-US">
                <a:solidFill>
                  <a:srgbClr val="FF0000"/>
                </a:solidFill>
              </a:rPr>
              <a:t>Character Literal</a:t>
            </a:r>
          </a:p>
        </p:txBody>
      </p:sp>
      <p:sp>
        <p:nvSpPr>
          <p:cNvPr id="27651" name="Content Placeholder 2">
            <a:extLst>
              <a:ext uri="{FF2B5EF4-FFF2-40B4-BE49-F238E27FC236}">
                <a16:creationId xmlns:a16="http://schemas.microsoft.com/office/drawing/2014/main" id="{BBDFEECF-22A6-B071-5FD8-A5737D0C3885}"/>
              </a:ext>
            </a:extLst>
          </p:cNvPr>
          <p:cNvSpPr>
            <a:spLocks noGrp="1"/>
          </p:cNvSpPr>
          <p:nvPr>
            <p:ph idx="4294967295"/>
          </p:nvPr>
        </p:nvSpPr>
        <p:spPr>
          <a:xfrm>
            <a:off x="127001" y="698500"/>
            <a:ext cx="6172199" cy="3631763"/>
          </a:xfrm>
        </p:spPr>
        <p:txBody>
          <a:bodyPr/>
          <a:lstStyle/>
          <a:p>
            <a:pPr marL="342900" indent="-342900" algn="just">
              <a:buFont typeface="Arial" panose="020B0604020202020204" pitchFamily="34" charset="0"/>
              <a:buChar char="•"/>
            </a:pPr>
            <a:r>
              <a:rPr lang="en-US" altLang="en-US" sz="2000" dirty="0">
                <a:cs typeface="Times New Roman" panose="02020603050405020304" pitchFamily="18" charset="0"/>
              </a:rPr>
              <a:t>A char literal can be expressed by enclosing the desired character in single quotes.</a:t>
            </a:r>
          </a:p>
          <a:p>
            <a:pPr marL="342900" indent="-342900" algn="just">
              <a:buFont typeface="Arial" panose="020B0604020202020204" pitchFamily="34" charset="0"/>
              <a:buChar char="•"/>
            </a:pPr>
            <a:r>
              <a:rPr lang="en-US" altLang="en-US" sz="2000" dirty="0" err="1">
                <a:cs typeface="Times New Roman" panose="02020603050405020304" pitchFamily="18" charset="0"/>
              </a:rPr>
              <a:t>Eg</a:t>
            </a:r>
            <a:r>
              <a:rPr lang="en-US" altLang="en-US" sz="2000" dirty="0">
                <a:cs typeface="Times New Roman" panose="02020603050405020304" pitchFamily="18" charset="0"/>
              </a:rPr>
              <a:t>:	char c = ' w ‘;</a:t>
            </a:r>
            <a:r>
              <a:rPr lang="en-US" altLang="en-US" sz="2000" dirty="0"/>
              <a:t> </a:t>
            </a:r>
          </a:p>
          <a:p>
            <a:pPr marL="342900" indent="-342900" algn="just">
              <a:buFont typeface="Arial" panose="020B0604020202020204" pitchFamily="34" charset="0"/>
              <a:buChar char="•"/>
            </a:pPr>
            <a:endParaRPr lang="en-US" altLang="en-US" sz="2000" dirty="0"/>
          </a:p>
          <a:p>
            <a:pPr marL="342900" indent="-342900" algn="just">
              <a:buFont typeface="Arial" panose="020B0604020202020204" pitchFamily="34" charset="0"/>
              <a:buChar char="•"/>
            </a:pPr>
            <a:r>
              <a:rPr lang="en-US" altLang="en-US" sz="2000" dirty="0">
                <a:solidFill>
                  <a:srgbClr val="FF0000"/>
                </a:solidFill>
              </a:rPr>
              <a:t>String Literals</a:t>
            </a:r>
          </a:p>
          <a:p>
            <a:pPr marL="342900" indent="-342900" algn="just">
              <a:buFont typeface="Arial" panose="020B0604020202020204" pitchFamily="34" charset="0"/>
              <a:buChar char="•"/>
            </a:pPr>
            <a:endParaRPr lang="en-US" altLang="en-US" sz="1600" dirty="0"/>
          </a:p>
          <a:p>
            <a:pPr marL="342900" indent="-342900" algn="just">
              <a:buFont typeface="Arial" panose="020B0604020202020204" pitchFamily="34" charset="0"/>
              <a:buChar char="•"/>
              <a:defRPr/>
            </a:pPr>
            <a:r>
              <a:rPr lang="en-US" sz="2000" dirty="0">
                <a:latin typeface="Arial" panose="020B0604020202020204" pitchFamily="34" charset="0"/>
                <a:cs typeface="Arial" panose="020B0604020202020204" pitchFamily="34" charset="0"/>
              </a:rPr>
              <a:t>String literals in Java are specified by enclosing a sequence of characters between a pair of double quotes. </a:t>
            </a:r>
          </a:p>
          <a:p>
            <a:pPr marL="342900" indent="-342900" algn="just">
              <a:buFont typeface="Arial" panose="020B0604020202020204" pitchFamily="34" charset="0"/>
              <a:buChar char="•"/>
              <a:defRPr/>
            </a:pP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Eg</a:t>
            </a:r>
            <a:r>
              <a:rPr lang="en-US" sz="2000" dirty="0">
                <a:latin typeface="Arial" panose="020B0604020202020204" pitchFamily="34" charset="0"/>
                <a:cs typeface="Arial" panose="020B0604020202020204" pitchFamily="34" charset="0"/>
              </a:rPr>
              <a:t>:- “Hello World”</a:t>
            </a:r>
          </a:p>
          <a:p>
            <a:pPr marL="342900" indent="-342900" algn="just">
              <a:buFont typeface="Arial" panose="020B0604020202020204" pitchFamily="34" charset="0"/>
              <a:buChar char="•"/>
            </a:pPr>
            <a:endParaRPr lang="en-US" altLang="en-US" sz="2000" dirty="0"/>
          </a:p>
          <a:p>
            <a:pPr marL="342900" indent="-342900" algn="just">
              <a:buFont typeface="Arial" panose="020B0604020202020204" pitchFamily="34" charset="0"/>
              <a:buChar char="•"/>
            </a:pPr>
            <a:endParaRPr lang="en-US" altLang="en-US" sz="20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6A1AD8C3-8E99-C49B-FB7C-30E2C73F7B59}"/>
              </a:ext>
            </a:extLst>
          </p:cNvPr>
          <p:cNvSpPr>
            <a:spLocks noGrp="1"/>
          </p:cNvSpPr>
          <p:nvPr>
            <p:ph type="title" idx="4294967295"/>
          </p:nvPr>
        </p:nvSpPr>
        <p:spPr>
          <a:xfrm>
            <a:off x="0" y="0"/>
            <a:ext cx="5151438" cy="428625"/>
          </a:xfrm>
        </p:spPr>
        <p:txBody>
          <a:bodyPr>
            <a:normAutofit/>
          </a:bodyPr>
          <a:lstStyle/>
          <a:p>
            <a:pPr algn="ctr">
              <a:defRPr/>
            </a:pPr>
            <a:r>
              <a:rPr lang="en-US" b="1" dirty="0">
                <a:solidFill>
                  <a:srgbClr val="FF0000"/>
                </a:solidFill>
                <a:latin typeface="+mn-lt"/>
              </a:rPr>
              <a:t>Keywords</a:t>
            </a:r>
          </a:p>
        </p:txBody>
      </p:sp>
      <p:sp>
        <p:nvSpPr>
          <p:cNvPr id="29699" name="Content Placeholder 2">
            <a:extLst>
              <a:ext uri="{FF2B5EF4-FFF2-40B4-BE49-F238E27FC236}">
                <a16:creationId xmlns:a16="http://schemas.microsoft.com/office/drawing/2014/main" id="{0E4AF36E-879A-B3BD-3022-D15A6AC552BA}"/>
              </a:ext>
            </a:extLst>
          </p:cNvPr>
          <p:cNvSpPr>
            <a:spLocks noGrp="1"/>
          </p:cNvSpPr>
          <p:nvPr>
            <p:ph sz="quarter" idx="4294967295"/>
          </p:nvPr>
        </p:nvSpPr>
        <p:spPr>
          <a:xfrm>
            <a:off x="50800" y="393700"/>
            <a:ext cx="6299200" cy="1463351"/>
          </a:xfrm>
        </p:spPr>
        <p:txBody>
          <a:bodyPr/>
          <a:lstStyle/>
          <a:p>
            <a:pPr marL="285750" indent="-285750" algn="just">
              <a:buFont typeface="Arial" panose="020B0604020202020204" pitchFamily="34" charset="0"/>
              <a:buChar char="•"/>
            </a:pPr>
            <a:r>
              <a:rPr lang="en-US" altLang="en-US" sz="1600" dirty="0">
                <a:latin typeface="Arial" panose="020B0604020202020204" pitchFamily="34" charset="0"/>
                <a:cs typeface="Arial" panose="020B0604020202020204" pitchFamily="34" charset="0"/>
              </a:rPr>
              <a:t>There are 49 reserved keywords currently defined in the Java language. </a:t>
            </a:r>
          </a:p>
          <a:p>
            <a:pPr marL="285750" indent="-285750" algn="just">
              <a:buFont typeface="Arial" panose="020B0604020202020204" pitchFamily="34" charset="0"/>
              <a:buChar char="•"/>
            </a:pPr>
            <a:r>
              <a:rPr lang="en-US" altLang="en-US" sz="1600" dirty="0">
                <a:latin typeface="Arial" panose="020B0604020202020204" pitchFamily="34" charset="0"/>
                <a:cs typeface="Arial" panose="020B0604020202020204" pitchFamily="34" charset="0"/>
              </a:rPr>
              <a:t>In addition to the keywords, Java reserves the following: </a:t>
            </a:r>
            <a:r>
              <a:rPr lang="en-US" altLang="en-US" sz="1600" b="1" dirty="0">
                <a:latin typeface="Arial" panose="020B0604020202020204" pitchFamily="34" charset="0"/>
                <a:cs typeface="Arial" panose="020B0604020202020204" pitchFamily="34" charset="0"/>
              </a:rPr>
              <a:t>true</a:t>
            </a:r>
            <a:r>
              <a:rPr lang="en-US" altLang="en-US" sz="1600" dirty="0">
                <a:latin typeface="Arial" panose="020B0604020202020204" pitchFamily="34" charset="0"/>
                <a:cs typeface="Arial" panose="020B0604020202020204" pitchFamily="34" charset="0"/>
              </a:rPr>
              <a:t>, </a:t>
            </a:r>
            <a:r>
              <a:rPr lang="en-US" altLang="en-US" sz="1600" b="1" dirty="0">
                <a:latin typeface="Arial" panose="020B0604020202020204" pitchFamily="34" charset="0"/>
                <a:cs typeface="Arial" panose="020B0604020202020204" pitchFamily="34" charset="0"/>
              </a:rPr>
              <a:t>false</a:t>
            </a:r>
            <a:r>
              <a:rPr lang="en-US" altLang="en-US" sz="1600" dirty="0">
                <a:latin typeface="Arial" panose="020B0604020202020204" pitchFamily="34" charset="0"/>
                <a:cs typeface="Arial" panose="020B0604020202020204" pitchFamily="34" charset="0"/>
              </a:rPr>
              <a:t>, and </a:t>
            </a:r>
            <a:r>
              <a:rPr lang="en-US" altLang="en-US" sz="1600" b="1" dirty="0">
                <a:latin typeface="Arial" panose="020B0604020202020204" pitchFamily="34" charset="0"/>
                <a:cs typeface="Arial" panose="020B0604020202020204" pitchFamily="34" charset="0"/>
              </a:rPr>
              <a:t>null</a:t>
            </a:r>
            <a:r>
              <a:rPr lang="en-US" altLang="en-US" sz="1600" dirty="0">
                <a:latin typeface="Arial" panose="020B0604020202020204" pitchFamily="34" charset="0"/>
                <a:cs typeface="Arial" panose="020B0604020202020204" pitchFamily="34" charset="0"/>
              </a:rPr>
              <a:t>. </a:t>
            </a:r>
          </a:p>
          <a:p>
            <a:pPr marL="285750" indent="-285750" algn="just">
              <a:buFont typeface="Arial" panose="020B0604020202020204" pitchFamily="34" charset="0"/>
              <a:buChar char="•"/>
            </a:pPr>
            <a:r>
              <a:rPr lang="en-US" altLang="en-US" sz="1600" dirty="0">
                <a:latin typeface="Arial" panose="020B0604020202020204" pitchFamily="34" charset="0"/>
                <a:cs typeface="Arial" panose="020B0604020202020204" pitchFamily="34" charset="0"/>
              </a:rPr>
              <a:t>These words cannot be used for the names of variables, classes etc.</a:t>
            </a:r>
          </a:p>
          <a:p>
            <a:pPr marL="285750" indent="-285750" algn="just">
              <a:buFont typeface="Arial" panose="020B0604020202020204" pitchFamily="34" charset="0"/>
              <a:buChar char="•"/>
            </a:pPr>
            <a:endParaRPr lang="en-US" altLang="en-US" sz="1600" dirty="0">
              <a:latin typeface="Arial" panose="020B0604020202020204" pitchFamily="34" charset="0"/>
              <a:cs typeface="Arial" panose="020B0604020202020204" pitchFamily="34" charset="0"/>
            </a:endParaRPr>
          </a:p>
        </p:txBody>
      </p:sp>
      <p:pic>
        <p:nvPicPr>
          <p:cNvPr id="29700" name="Picture 3" descr="Untitled.png">
            <a:extLst>
              <a:ext uri="{FF2B5EF4-FFF2-40B4-BE49-F238E27FC236}">
                <a16:creationId xmlns:a16="http://schemas.microsoft.com/office/drawing/2014/main" id="{B3A6BFF1-701C-8DD9-FA6B-A5A542B1CD0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36600" y="1857051"/>
            <a:ext cx="5265391" cy="2499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68264126-223F-D3DA-04D4-53C1BBF4866E}"/>
              </a:ext>
            </a:extLst>
          </p:cNvPr>
          <p:cNvSpPr>
            <a:spLocks noGrp="1"/>
          </p:cNvSpPr>
          <p:nvPr>
            <p:ph type="title" idx="4294967295"/>
          </p:nvPr>
        </p:nvSpPr>
        <p:spPr>
          <a:xfrm>
            <a:off x="0" y="142875"/>
            <a:ext cx="5389563" cy="292100"/>
          </a:xfrm>
        </p:spPr>
        <p:txBody>
          <a:bodyPr/>
          <a:lstStyle/>
          <a:p>
            <a:pPr marL="214621" indent="-214621" algn="ctr"/>
            <a:r>
              <a:rPr lang="en-US" altLang="en-US" b="1">
                <a:solidFill>
                  <a:srgbClr val="FF0000"/>
                </a:solidFill>
                <a:latin typeface="Times New Roman" panose="02020603050405020304" pitchFamily="18" charset="0"/>
                <a:cs typeface="Times New Roman" panose="02020603050405020304" pitchFamily="18" charset="0"/>
              </a:rPr>
              <a:t>Variables</a:t>
            </a:r>
          </a:p>
        </p:txBody>
      </p:sp>
      <p:sp>
        <p:nvSpPr>
          <p:cNvPr id="125955" name="Content Placeholder 2">
            <a:extLst>
              <a:ext uri="{FF2B5EF4-FFF2-40B4-BE49-F238E27FC236}">
                <a16:creationId xmlns:a16="http://schemas.microsoft.com/office/drawing/2014/main" id="{5EF803FE-845E-5334-2273-1F47A2916701}"/>
              </a:ext>
            </a:extLst>
          </p:cNvPr>
          <p:cNvSpPr>
            <a:spLocks noGrp="1"/>
          </p:cNvSpPr>
          <p:nvPr>
            <p:ph sz="quarter" idx="4294967295"/>
          </p:nvPr>
        </p:nvSpPr>
        <p:spPr>
          <a:xfrm>
            <a:off x="0" y="523875"/>
            <a:ext cx="6299200" cy="3130409"/>
          </a:xfrm>
        </p:spPr>
        <p:txBody>
          <a:bodyPr/>
          <a:lstStyle/>
          <a:p>
            <a:pPr marL="342900" indent="-342900">
              <a:lnSpc>
                <a:spcPct val="150000"/>
              </a:lnSpc>
              <a:buFont typeface="Arial" panose="020B0604020202020204" pitchFamily="34" charset="0"/>
              <a:buChar char="•"/>
              <a:defRPr/>
            </a:pPr>
            <a:r>
              <a:rPr lang="en-US" sz="2003" dirty="0">
                <a:latin typeface="Times New Roman" pitchFamily="18" charset="0"/>
                <a:cs typeface="Times New Roman" pitchFamily="18" charset="0"/>
              </a:rPr>
              <a:t>Basic unit of storage in a Java program. </a:t>
            </a:r>
          </a:p>
          <a:p>
            <a:pPr marL="342900" indent="-342900">
              <a:lnSpc>
                <a:spcPct val="150000"/>
              </a:lnSpc>
              <a:buFont typeface="Arial" panose="020B0604020202020204" pitchFamily="34" charset="0"/>
              <a:buChar char="•"/>
              <a:defRPr/>
            </a:pPr>
            <a:r>
              <a:rPr lang="en-US" sz="2003" dirty="0">
                <a:latin typeface="Times New Roman" pitchFamily="18" charset="0"/>
                <a:cs typeface="Times New Roman" pitchFamily="18" charset="0"/>
              </a:rPr>
              <a:t>In order to use a variable in a program we need to perform 2 steps</a:t>
            </a:r>
          </a:p>
          <a:p>
            <a:pPr marL="342900" indent="-342900">
              <a:lnSpc>
                <a:spcPct val="150000"/>
              </a:lnSpc>
              <a:buFont typeface="Arial" panose="020B0604020202020204" pitchFamily="34" charset="0"/>
              <a:buChar char="•"/>
              <a:defRPr/>
            </a:pPr>
            <a:r>
              <a:rPr lang="en-US" sz="2003" dirty="0">
                <a:latin typeface="Times New Roman" pitchFamily="18" charset="0"/>
                <a:cs typeface="Times New Roman" pitchFamily="18" charset="0"/>
              </a:rPr>
              <a:t>1)Variable Declaration</a:t>
            </a:r>
          </a:p>
          <a:p>
            <a:pPr marL="342900" indent="-342900">
              <a:lnSpc>
                <a:spcPct val="150000"/>
              </a:lnSpc>
              <a:buFont typeface="Arial" panose="020B0604020202020204" pitchFamily="34" charset="0"/>
              <a:buChar char="•"/>
              <a:defRPr/>
            </a:pPr>
            <a:r>
              <a:rPr lang="en-US" sz="2003" dirty="0">
                <a:latin typeface="Times New Roman" pitchFamily="18" charset="0"/>
                <a:cs typeface="Times New Roman" pitchFamily="18" charset="0"/>
              </a:rPr>
              <a:t>2)Variable Initialization</a:t>
            </a:r>
          </a:p>
          <a:p>
            <a:pPr marL="342900" indent="-342900">
              <a:lnSpc>
                <a:spcPct val="150000"/>
              </a:lnSpc>
              <a:buFont typeface="Arial" panose="020B0604020202020204" pitchFamily="34" charset="0"/>
              <a:buChar char="•"/>
              <a:defRPr/>
            </a:pPr>
            <a:endParaRPr lang="en-US" sz="2003" b="1" dirty="0">
              <a:latin typeface="Times New Roman" pitchFamily="18" charset="0"/>
              <a:cs typeface="Times New Roman" pitchFamily="18" charset="0"/>
            </a:endParaRPr>
          </a:p>
          <a:p>
            <a:pPr marL="742950" lvl="1" indent="-285750">
              <a:lnSpc>
                <a:spcPct val="150000"/>
              </a:lnSpc>
              <a:buFont typeface="Arial" panose="020B0604020202020204" pitchFamily="34" charset="0"/>
              <a:buChar char="•"/>
              <a:defRPr/>
            </a:pPr>
            <a:endParaRPr lang="en-US" sz="1753"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9" name="Content Placeholder 5">
            <a:extLst>
              <a:ext uri="{FF2B5EF4-FFF2-40B4-BE49-F238E27FC236}">
                <a16:creationId xmlns:a16="http://schemas.microsoft.com/office/drawing/2014/main" id="{929B4C45-8D05-6366-817B-A1207F4A7DAB}"/>
              </a:ext>
            </a:extLst>
          </p:cNvPr>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379412" y="620713"/>
            <a:ext cx="5767388" cy="3051175"/>
          </a:xfr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0" y="12700"/>
            <a:ext cx="6487240" cy="684201"/>
          </a:xfrm>
          <a:prstGeom prst="rect">
            <a:avLst/>
          </a:prstGeom>
        </p:spPr>
      </p:pic>
      <p:sp>
        <p:nvSpPr>
          <p:cNvPr id="3" name="object 3"/>
          <p:cNvSpPr txBox="1">
            <a:spLocks noGrp="1"/>
          </p:cNvSpPr>
          <p:nvPr>
            <p:ph type="title"/>
          </p:nvPr>
        </p:nvSpPr>
        <p:spPr>
          <a:xfrm>
            <a:off x="4046854" y="726272"/>
            <a:ext cx="2087245" cy="318135"/>
          </a:xfrm>
          <a:prstGeom prst="rect">
            <a:avLst/>
          </a:prstGeom>
        </p:spPr>
        <p:txBody>
          <a:bodyPr vert="horz" wrap="square" lIns="0" tIns="14604" rIns="0" bIns="0" rtlCol="0">
            <a:spAutoFit/>
          </a:bodyPr>
          <a:lstStyle/>
          <a:p>
            <a:pPr marL="12700">
              <a:lnSpc>
                <a:spcPct val="100000"/>
              </a:lnSpc>
              <a:spcBef>
                <a:spcPts val="114"/>
              </a:spcBef>
            </a:pPr>
            <a:r>
              <a:rPr spc="10" dirty="0"/>
              <a:t>Escape</a:t>
            </a:r>
            <a:r>
              <a:rPr spc="-95" dirty="0"/>
              <a:t> </a:t>
            </a:r>
            <a:r>
              <a:rPr spc="10" dirty="0"/>
              <a:t>sequences</a:t>
            </a:r>
          </a:p>
        </p:txBody>
      </p:sp>
      <p:sp>
        <p:nvSpPr>
          <p:cNvPr id="4" name="object 4"/>
          <p:cNvSpPr txBox="1"/>
          <p:nvPr/>
        </p:nvSpPr>
        <p:spPr>
          <a:xfrm>
            <a:off x="50800" y="698500"/>
            <a:ext cx="6440450" cy="1001453"/>
          </a:xfrm>
          <a:prstGeom prst="rect">
            <a:avLst/>
          </a:prstGeom>
        </p:spPr>
        <p:txBody>
          <a:bodyPr vert="horz" wrap="square" lIns="0" tIns="16510" rIns="0" bIns="0" rtlCol="0">
            <a:spAutoFit/>
          </a:bodyPr>
          <a:lstStyle/>
          <a:p>
            <a:pPr marL="194945" indent="-182880">
              <a:lnSpc>
                <a:spcPct val="100000"/>
              </a:lnSpc>
              <a:spcBef>
                <a:spcPts val="130"/>
              </a:spcBef>
              <a:buChar char="•"/>
              <a:tabLst>
                <a:tab pos="195580" algn="l"/>
              </a:tabLst>
            </a:pPr>
            <a:r>
              <a:rPr sz="1400" spc="5" dirty="0">
                <a:latin typeface="Arial MT"/>
                <a:cs typeface="Arial MT"/>
              </a:rPr>
              <a:t>For</a:t>
            </a:r>
            <a:r>
              <a:rPr sz="1400" spc="20" dirty="0">
                <a:latin typeface="Arial MT"/>
                <a:cs typeface="Arial MT"/>
              </a:rPr>
              <a:t> </a:t>
            </a:r>
            <a:r>
              <a:rPr sz="1400" spc="5" dirty="0">
                <a:latin typeface="Arial MT"/>
                <a:cs typeface="Arial MT"/>
              </a:rPr>
              <a:t>characters</a:t>
            </a:r>
            <a:r>
              <a:rPr sz="1400" spc="60" dirty="0">
                <a:latin typeface="Arial MT"/>
                <a:cs typeface="Arial MT"/>
              </a:rPr>
              <a:t> </a:t>
            </a:r>
            <a:r>
              <a:rPr sz="1400" spc="5" dirty="0">
                <a:latin typeface="Arial MT"/>
                <a:cs typeface="Arial MT"/>
              </a:rPr>
              <a:t>that</a:t>
            </a:r>
            <a:r>
              <a:rPr sz="1400" spc="10" dirty="0">
                <a:latin typeface="Arial MT"/>
                <a:cs typeface="Arial MT"/>
              </a:rPr>
              <a:t> </a:t>
            </a:r>
            <a:r>
              <a:rPr sz="1400" spc="5" dirty="0">
                <a:latin typeface="Arial MT"/>
                <a:cs typeface="Arial MT"/>
              </a:rPr>
              <a:t>are</a:t>
            </a:r>
            <a:r>
              <a:rPr sz="1400" spc="20" dirty="0">
                <a:latin typeface="Arial MT"/>
                <a:cs typeface="Arial MT"/>
              </a:rPr>
              <a:t> </a:t>
            </a:r>
            <a:r>
              <a:rPr sz="1400" dirty="0">
                <a:latin typeface="Arial MT"/>
                <a:cs typeface="Arial MT"/>
              </a:rPr>
              <a:t>impossible</a:t>
            </a:r>
            <a:r>
              <a:rPr sz="1400" spc="145" dirty="0">
                <a:latin typeface="Arial MT"/>
                <a:cs typeface="Arial MT"/>
              </a:rPr>
              <a:t> </a:t>
            </a:r>
            <a:r>
              <a:rPr sz="1400" spc="10" dirty="0">
                <a:latin typeface="Arial MT"/>
                <a:cs typeface="Arial MT"/>
              </a:rPr>
              <a:t>to</a:t>
            </a:r>
            <a:r>
              <a:rPr sz="1400" spc="-15" dirty="0">
                <a:latin typeface="Arial MT"/>
                <a:cs typeface="Arial MT"/>
              </a:rPr>
              <a:t> </a:t>
            </a:r>
            <a:r>
              <a:rPr sz="1400" dirty="0">
                <a:latin typeface="Arial MT"/>
                <a:cs typeface="Arial MT"/>
              </a:rPr>
              <a:t>enter</a:t>
            </a:r>
            <a:r>
              <a:rPr sz="1400" spc="65" dirty="0">
                <a:latin typeface="Arial MT"/>
                <a:cs typeface="Arial MT"/>
              </a:rPr>
              <a:t> </a:t>
            </a:r>
            <a:r>
              <a:rPr sz="1400" spc="-5" dirty="0">
                <a:latin typeface="Arial MT"/>
                <a:cs typeface="Arial MT"/>
              </a:rPr>
              <a:t>directly,</a:t>
            </a:r>
            <a:r>
              <a:rPr sz="1400" spc="100" dirty="0">
                <a:latin typeface="Arial MT"/>
                <a:cs typeface="Arial MT"/>
              </a:rPr>
              <a:t> </a:t>
            </a:r>
            <a:r>
              <a:rPr sz="1400" spc="10" dirty="0">
                <a:latin typeface="Arial MT"/>
                <a:cs typeface="Arial MT"/>
              </a:rPr>
              <a:t>there</a:t>
            </a:r>
            <a:r>
              <a:rPr sz="1400" spc="20" dirty="0">
                <a:latin typeface="Arial MT"/>
                <a:cs typeface="Arial MT"/>
              </a:rPr>
              <a:t> </a:t>
            </a:r>
            <a:r>
              <a:rPr sz="1400" spc="5" dirty="0">
                <a:latin typeface="Arial MT"/>
                <a:cs typeface="Arial MT"/>
              </a:rPr>
              <a:t>are</a:t>
            </a:r>
            <a:r>
              <a:rPr sz="1400" spc="20" dirty="0">
                <a:latin typeface="Arial MT"/>
                <a:cs typeface="Arial MT"/>
              </a:rPr>
              <a:t> </a:t>
            </a:r>
            <a:r>
              <a:rPr sz="1400" spc="-10" dirty="0">
                <a:latin typeface="Arial MT"/>
                <a:cs typeface="Arial MT"/>
              </a:rPr>
              <a:t>several</a:t>
            </a:r>
            <a:r>
              <a:rPr sz="1400" spc="130" dirty="0">
                <a:latin typeface="Arial MT"/>
                <a:cs typeface="Arial MT"/>
              </a:rPr>
              <a:t> </a:t>
            </a:r>
            <a:r>
              <a:rPr sz="1400" spc="-5" dirty="0">
                <a:latin typeface="Arial MT"/>
                <a:cs typeface="Arial MT"/>
              </a:rPr>
              <a:t>escape</a:t>
            </a:r>
            <a:endParaRPr sz="1400" dirty="0">
              <a:latin typeface="Arial MT"/>
              <a:cs typeface="Arial MT"/>
            </a:endParaRPr>
          </a:p>
          <a:p>
            <a:pPr marL="194945">
              <a:lnSpc>
                <a:spcPct val="100000"/>
              </a:lnSpc>
              <a:spcBef>
                <a:spcPts val="55"/>
              </a:spcBef>
            </a:pPr>
            <a:r>
              <a:rPr sz="1400" dirty="0">
                <a:latin typeface="Arial MT"/>
                <a:cs typeface="Arial MT"/>
              </a:rPr>
              <a:t>sequences</a:t>
            </a:r>
            <a:r>
              <a:rPr sz="1400" spc="125" dirty="0">
                <a:latin typeface="Arial MT"/>
                <a:cs typeface="Arial MT"/>
              </a:rPr>
              <a:t> </a:t>
            </a:r>
            <a:r>
              <a:rPr sz="1400" spc="5" dirty="0">
                <a:latin typeface="Arial MT"/>
                <a:cs typeface="Arial MT"/>
              </a:rPr>
              <a:t>that </a:t>
            </a:r>
            <a:r>
              <a:rPr sz="1400" spc="-5" dirty="0">
                <a:latin typeface="Arial MT"/>
                <a:cs typeface="Arial MT"/>
              </a:rPr>
              <a:t>allow</a:t>
            </a:r>
            <a:r>
              <a:rPr sz="1400" spc="85" dirty="0">
                <a:latin typeface="Arial MT"/>
                <a:cs typeface="Arial MT"/>
              </a:rPr>
              <a:t> </a:t>
            </a:r>
            <a:r>
              <a:rPr sz="1400" spc="-10" dirty="0">
                <a:latin typeface="Arial MT"/>
                <a:cs typeface="Arial MT"/>
              </a:rPr>
              <a:t>you</a:t>
            </a:r>
            <a:r>
              <a:rPr sz="1400" spc="50" dirty="0">
                <a:latin typeface="Arial MT"/>
                <a:cs typeface="Arial MT"/>
              </a:rPr>
              <a:t> </a:t>
            </a:r>
            <a:r>
              <a:rPr sz="1400" spc="10" dirty="0">
                <a:latin typeface="Arial MT"/>
                <a:cs typeface="Arial MT"/>
              </a:rPr>
              <a:t>to</a:t>
            </a:r>
            <a:r>
              <a:rPr sz="1400" spc="20" dirty="0">
                <a:latin typeface="Arial MT"/>
                <a:cs typeface="Arial MT"/>
              </a:rPr>
              <a:t> </a:t>
            </a:r>
            <a:r>
              <a:rPr sz="1400" dirty="0">
                <a:latin typeface="Arial MT"/>
                <a:cs typeface="Arial MT"/>
              </a:rPr>
              <a:t>enter</a:t>
            </a:r>
            <a:r>
              <a:rPr sz="1400" spc="60" dirty="0">
                <a:latin typeface="Arial MT"/>
                <a:cs typeface="Arial MT"/>
              </a:rPr>
              <a:t> </a:t>
            </a:r>
            <a:r>
              <a:rPr sz="1400" spc="15" dirty="0">
                <a:latin typeface="Arial MT"/>
                <a:cs typeface="Arial MT"/>
              </a:rPr>
              <a:t>the</a:t>
            </a:r>
            <a:r>
              <a:rPr sz="1400" spc="-30" dirty="0">
                <a:latin typeface="Arial MT"/>
                <a:cs typeface="Arial MT"/>
              </a:rPr>
              <a:t> </a:t>
            </a:r>
            <a:r>
              <a:rPr sz="1400" dirty="0">
                <a:latin typeface="Arial MT"/>
                <a:cs typeface="Arial MT"/>
              </a:rPr>
              <a:t>character</a:t>
            </a:r>
            <a:r>
              <a:rPr sz="1400" spc="60" dirty="0">
                <a:latin typeface="Arial MT"/>
                <a:cs typeface="Arial MT"/>
              </a:rPr>
              <a:t> </a:t>
            </a:r>
            <a:r>
              <a:rPr sz="1400" spc="-10" dirty="0">
                <a:latin typeface="Arial MT"/>
                <a:cs typeface="Arial MT"/>
              </a:rPr>
              <a:t>you</a:t>
            </a:r>
            <a:r>
              <a:rPr sz="1400" spc="95" dirty="0">
                <a:latin typeface="Arial MT"/>
                <a:cs typeface="Arial MT"/>
              </a:rPr>
              <a:t> </a:t>
            </a:r>
            <a:r>
              <a:rPr sz="1400" spc="-5" dirty="0">
                <a:latin typeface="Arial MT"/>
                <a:cs typeface="Arial MT"/>
              </a:rPr>
              <a:t>need</a:t>
            </a:r>
            <a:endParaRPr sz="1400" dirty="0">
              <a:latin typeface="Arial MT"/>
              <a:cs typeface="Arial MT"/>
            </a:endParaRPr>
          </a:p>
          <a:p>
            <a:pPr marL="194945" indent="-182880">
              <a:lnSpc>
                <a:spcPct val="100000"/>
              </a:lnSpc>
              <a:spcBef>
                <a:spcPts val="340"/>
              </a:spcBef>
              <a:buChar char="•"/>
              <a:tabLst>
                <a:tab pos="195580" algn="l"/>
              </a:tabLst>
            </a:pPr>
            <a:r>
              <a:rPr sz="1400" spc="5" dirty="0">
                <a:latin typeface="Arial MT"/>
                <a:cs typeface="Arial MT"/>
              </a:rPr>
              <a:t>‘\n’</a:t>
            </a:r>
            <a:r>
              <a:rPr sz="1400" spc="-10" dirty="0">
                <a:latin typeface="Arial MT"/>
                <a:cs typeface="Arial MT"/>
              </a:rPr>
              <a:t> </a:t>
            </a:r>
            <a:r>
              <a:rPr sz="1400" spc="10" dirty="0">
                <a:latin typeface="Arial MT"/>
                <a:cs typeface="Arial MT"/>
              </a:rPr>
              <a:t>for</a:t>
            </a:r>
            <a:r>
              <a:rPr sz="1400" spc="-25" dirty="0">
                <a:latin typeface="Arial MT"/>
                <a:cs typeface="Arial MT"/>
              </a:rPr>
              <a:t> </a:t>
            </a:r>
            <a:r>
              <a:rPr sz="1400" spc="15" dirty="0">
                <a:latin typeface="Arial MT"/>
                <a:cs typeface="Arial MT"/>
              </a:rPr>
              <a:t>the</a:t>
            </a:r>
            <a:r>
              <a:rPr sz="1400" spc="-35" dirty="0">
                <a:latin typeface="Arial MT"/>
                <a:cs typeface="Arial MT"/>
              </a:rPr>
              <a:t> </a:t>
            </a:r>
            <a:r>
              <a:rPr sz="1400" spc="5" dirty="0">
                <a:latin typeface="Arial MT"/>
                <a:cs typeface="Arial MT"/>
              </a:rPr>
              <a:t>newline</a:t>
            </a:r>
            <a:r>
              <a:rPr sz="1400" spc="50" dirty="0">
                <a:latin typeface="Arial MT"/>
                <a:cs typeface="Arial MT"/>
              </a:rPr>
              <a:t> </a:t>
            </a:r>
            <a:r>
              <a:rPr sz="1400" spc="5" dirty="0">
                <a:latin typeface="Arial MT"/>
                <a:cs typeface="Arial MT"/>
              </a:rPr>
              <a:t>character.</a:t>
            </a:r>
            <a:endParaRPr sz="1400" dirty="0">
              <a:latin typeface="Arial MT"/>
              <a:cs typeface="Arial MT"/>
            </a:endParaRPr>
          </a:p>
          <a:p>
            <a:pPr marL="194945" indent="-182880">
              <a:lnSpc>
                <a:spcPct val="100000"/>
              </a:lnSpc>
              <a:spcBef>
                <a:spcPts val="335"/>
              </a:spcBef>
              <a:buChar char="•"/>
              <a:tabLst>
                <a:tab pos="195580" algn="l"/>
              </a:tabLst>
            </a:pPr>
            <a:r>
              <a:rPr sz="1400" dirty="0">
                <a:latin typeface="Arial MT"/>
                <a:cs typeface="Arial MT"/>
              </a:rPr>
              <a:t>‘\’’</a:t>
            </a:r>
            <a:r>
              <a:rPr sz="1400" spc="-5" dirty="0">
                <a:latin typeface="Arial MT"/>
                <a:cs typeface="Arial MT"/>
              </a:rPr>
              <a:t> </a:t>
            </a:r>
            <a:r>
              <a:rPr sz="1400" spc="10" dirty="0">
                <a:latin typeface="Arial MT"/>
                <a:cs typeface="Arial MT"/>
              </a:rPr>
              <a:t>for</a:t>
            </a:r>
            <a:r>
              <a:rPr sz="1400" spc="-20" dirty="0">
                <a:latin typeface="Arial MT"/>
                <a:cs typeface="Arial MT"/>
              </a:rPr>
              <a:t> </a:t>
            </a:r>
            <a:r>
              <a:rPr sz="1400" spc="15" dirty="0">
                <a:latin typeface="Arial MT"/>
                <a:cs typeface="Arial MT"/>
              </a:rPr>
              <a:t>the </a:t>
            </a:r>
            <a:r>
              <a:rPr sz="1400" dirty="0">
                <a:latin typeface="Arial MT"/>
                <a:cs typeface="Arial MT"/>
              </a:rPr>
              <a:t>single-quote</a:t>
            </a:r>
            <a:r>
              <a:rPr sz="1400" spc="100" dirty="0">
                <a:latin typeface="Arial MT"/>
                <a:cs typeface="Arial MT"/>
              </a:rPr>
              <a:t> </a:t>
            </a:r>
            <a:r>
              <a:rPr sz="1400" dirty="0">
                <a:latin typeface="Arial MT"/>
                <a:cs typeface="Arial MT"/>
              </a:rPr>
              <a:t>character</a:t>
            </a:r>
          </a:p>
        </p:txBody>
      </p:sp>
      <p:sp>
        <p:nvSpPr>
          <p:cNvPr id="5" name="object 5"/>
          <p:cNvSpPr txBox="1"/>
          <p:nvPr/>
        </p:nvSpPr>
        <p:spPr>
          <a:xfrm>
            <a:off x="5996275" y="3967703"/>
            <a:ext cx="137795" cy="129523"/>
          </a:xfrm>
          <a:prstGeom prst="rect">
            <a:avLst/>
          </a:prstGeom>
        </p:spPr>
        <p:txBody>
          <a:bodyPr vert="horz" wrap="square" lIns="0" tIns="13970" rIns="0" bIns="0" rtlCol="0">
            <a:spAutoFit/>
          </a:bodyPr>
          <a:lstStyle/>
          <a:p>
            <a:pPr marL="12700">
              <a:lnSpc>
                <a:spcPct val="100000"/>
              </a:lnSpc>
              <a:spcBef>
                <a:spcPts val="110"/>
              </a:spcBef>
            </a:pPr>
            <a:r>
              <a:rPr sz="750" spc="20" dirty="0">
                <a:latin typeface="Arial MT"/>
                <a:cs typeface="Arial MT"/>
              </a:rPr>
              <a:t>2</a:t>
            </a:r>
            <a:endParaRPr sz="750" dirty="0">
              <a:latin typeface="Arial MT"/>
              <a:cs typeface="Arial MT"/>
            </a:endParaRPr>
          </a:p>
        </p:txBody>
      </p:sp>
      <p:grpSp>
        <p:nvGrpSpPr>
          <p:cNvPr id="6" name="object 6"/>
          <p:cNvGrpSpPr/>
          <p:nvPr/>
        </p:nvGrpSpPr>
        <p:grpSpPr>
          <a:xfrm>
            <a:off x="4015" y="322904"/>
            <a:ext cx="6487795" cy="3649345"/>
            <a:chOff x="4015" y="633646"/>
            <a:chExt cx="6487795" cy="3649345"/>
          </a:xfrm>
        </p:grpSpPr>
        <p:pic>
          <p:nvPicPr>
            <p:cNvPr id="7" name="object 7"/>
            <p:cNvPicPr/>
            <p:nvPr/>
          </p:nvPicPr>
          <p:blipFill>
            <a:blip r:embed="rId3" cstate="print"/>
            <a:stretch>
              <a:fillRect/>
            </a:stretch>
          </p:blipFill>
          <p:spPr>
            <a:xfrm>
              <a:off x="696842" y="2038468"/>
              <a:ext cx="5373758" cy="2225360"/>
            </a:xfrm>
            <a:prstGeom prst="rect">
              <a:avLst/>
            </a:prstGeom>
          </p:spPr>
        </p:pic>
        <p:sp>
          <p:nvSpPr>
            <p:cNvPr id="8" name="object 8"/>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09590" y="268881"/>
            <a:ext cx="3951410" cy="307134"/>
          </a:xfrm>
          <a:prstGeom prst="rect">
            <a:avLst/>
          </a:prstGeom>
        </p:spPr>
        <p:txBody>
          <a:bodyPr vert="horz" wrap="square" lIns="0" tIns="14604" rIns="0" bIns="0" rtlCol="0">
            <a:spAutoFit/>
          </a:bodyPr>
          <a:lstStyle/>
          <a:p>
            <a:pPr marL="12700">
              <a:lnSpc>
                <a:spcPct val="100000"/>
              </a:lnSpc>
              <a:spcBef>
                <a:spcPts val="114"/>
              </a:spcBef>
            </a:pPr>
            <a:r>
              <a:rPr spc="-10" dirty="0">
                <a:solidFill>
                  <a:schemeClr val="tx1"/>
                </a:solidFill>
              </a:rPr>
              <a:t>The</a:t>
            </a:r>
            <a:r>
              <a:rPr spc="35" dirty="0">
                <a:solidFill>
                  <a:schemeClr val="tx1"/>
                </a:solidFill>
              </a:rPr>
              <a:t> </a:t>
            </a:r>
            <a:r>
              <a:rPr spc="10" dirty="0">
                <a:solidFill>
                  <a:schemeClr val="tx1"/>
                </a:solidFill>
              </a:rPr>
              <a:t>Scope</a:t>
            </a:r>
            <a:r>
              <a:rPr spc="-45" dirty="0">
                <a:solidFill>
                  <a:schemeClr val="tx1"/>
                </a:solidFill>
              </a:rPr>
              <a:t> </a:t>
            </a:r>
            <a:r>
              <a:rPr spc="10" dirty="0">
                <a:solidFill>
                  <a:schemeClr val="tx1"/>
                </a:solidFill>
              </a:rPr>
              <a:t>and</a:t>
            </a:r>
            <a:r>
              <a:rPr spc="-5" dirty="0">
                <a:solidFill>
                  <a:schemeClr val="tx1"/>
                </a:solidFill>
              </a:rPr>
              <a:t> Lifetime</a:t>
            </a:r>
            <a:r>
              <a:rPr spc="35" dirty="0">
                <a:solidFill>
                  <a:schemeClr val="tx1"/>
                </a:solidFill>
              </a:rPr>
              <a:t> </a:t>
            </a:r>
            <a:r>
              <a:rPr spc="10" dirty="0">
                <a:solidFill>
                  <a:schemeClr val="tx1"/>
                </a:solidFill>
              </a:rPr>
              <a:t>of</a:t>
            </a:r>
            <a:r>
              <a:rPr spc="-30" dirty="0">
                <a:solidFill>
                  <a:schemeClr val="tx1"/>
                </a:solidFill>
              </a:rPr>
              <a:t> </a:t>
            </a:r>
            <a:r>
              <a:rPr dirty="0">
                <a:solidFill>
                  <a:schemeClr val="tx1"/>
                </a:solidFill>
              </a:rPr>
              <a:t>Variables</a:t>
            </a:r>
          </a:p>
        </p:txBody>
      </p:sp>
      <p:sp>
        <p:nvSpPr>
          <p:cNvPr id="3" name="object 3"/>
          <p:cNvSpPr txBox="1"/>
          <p:nvPr/>
        </p:nvSpPr>
        <p:spPr>
          <a:xfrm>
            <a:off x="364664" y="803538"/>
            <a:ext cx="5768975" cy="2847975"/>
          </a:xfrm>
          <a:prstGeom prst="rect">
            <a:avLst/>
          </a:prstGeom>
        </p:spPr>
        <p:txBody>
          <a:bodyPr vert="horz" wrap="square" lIns="0" tIns="10160" rIns="0" bIns="0" rtlCol="0">
            <a:spAutoFit/>
          </a:bodyPr>
          <a:lstStyle/>
          <a:p>
            <a:pPr marL="194945" marR="238125" indent="-182880">
              <a:lnSpc>
                <a:spcPct val="101899"/>
              </a:lnSpc>
              <a:spcBef>
                <a:spcPts val="80"/>
              </a:spcBef>
              <a:buChar char="•"/>
              <a:tabLst>
                <a:tab pos="195580" algn="l"/>
              </a:tabLst>
            </a:pPr>
            <a:r>
              <a:rPr sz="1700" spc="10" dirty="0">
                <a:latin typeface="Arial MT"/>
                <a:cs typeface="Arial MT"/>
              </a:rPr>
              <a:t>All</a:t>
            </a:r>
            <a:r>
              <a:rPr sz="1700" spc="-65" dirty="0">
                <a:latin typeface="Arial MT"/>
                <a:cs typeface="Arial MT"/>
              </a:rPr>
              <a:t> </a:t>
            </a:r>
            <a:r>
              <a:rPr sz="1700" spc="5" dirty="0">
                <a:latin typeface="Arial MT"/>
                <a:cs typeface="Arial MT"/>
              </a:rPr>
              <a:t>of the</a:t>
            </a:r>
            <a:r>
              <a:rPr sz="1700" spc="-30" dirty="0">
                <a:latin typeface="Arial MT"/>
                <a:cs typeface="Arial MT"/>
              </a:rPr>
              <a:t> </a:t>
            </a:r>
            <a:r>
              <a:rPr sz="1700" spc="10" dirty="0">
                <a:latin typeface="Arial MT"/>
                <a:cs typeface="Arial MT"/>
              </a:rPr>
              <a:t>variables</a:t>
            </a:r>
            <a:r>
              <a:rPr sz="1700" spc="-135" dirty="0">
                <a:latin typeface="Arial MT"/>
                <a:cs typeface="Arial MT"/>
              </a:rPr>
              <a:t> </a:t>
            </a:r>
            <a:r>
              <a:rPr sz="1700" spc="10" dirty="0">
                <a:latin typeface="Arial MT"/>
                <a:cs typeface="Arial MT"/>
              </a:rPr>
              <a:t>used</a:t>
            </a:r>
            <a:r>
              <a:rPr sz="1700" spc="-70" dirty="0">
                <a:latin typeface="Arial MT"/>
                <a:cs typeface="Arial MT"/>
              </a:rPr>
              <a:t> </a:t>
            </a:r>
            <a:r>
              <a:rPr sz="1700" spc="20" dirty="0">
                <a:latin typeface="Arial MT"/>
                <a:cs typeface="Arial MT"/>
              </a:rPr>
              <a:t>have</a:t>
            </a:r>
            <a:r>
              <a:rPr sz="1700" spc="-110" dirty="0">
                <a:latin typeface="Arial MT"/>
                <a:cs typeface="Arial MT"/>
              </a:rPr>
              <a:t> </a:t>
            </a:r>
            <a:r>
              <a:rPr sz="1700" spc="5" dirty="0">
                <a:latin typeface="Arial MT"/>
                <a:cs typeface="Arial MT"/>
              </a:rPr>
              <a:t>been</a:t>
            </a:r>
            <a:r>
              <a:rPr sz="1700" spc="-35" dirty="0">
                <a:latin typeface="Arial MT"/>
                <a:cs typeface="Arial MT"/>
              </a:rPr>
              <a:t> </a:t>
            </a:r>
            <a:r>
              <a:rPr sz="1700" spc="5" dirty="0">
                <a:latin typeface="Arial MT"/>
                <a:cs typeface="Arial MT"/>
              </a:rPr>
              <a:t>declared</a:t>
            </a:r>
            <a:r>
              <a:rPr sz="1700" spc="-110" dirty="0">
                <a:latin typeface="Arial MT"/>
                <a:cs typeface="Arial MT"/>
              </a:rPr>
              <a:t> </a:t>
            </a:r>
            <a:r>
              <a:rPr sz="1700" spc="5" dirty="0">
                <a:latin typeface="Arial MT"/>
                <a:cs typeface="Arial MT"/>
              </a:rPr>
              <a:t>at</a:t>
            </a:r>
            <a:r>
              <a:rPr sz="1700" spc="-30" dirty="0">
                <a:latin typeface="Arial MT"/>
                <a:cs typeface="Arial MT"/>
              </a:rPr>
              <a:t> </a:t>
            </a:r>
            <a:r>
              <a:rPr sz="1700" spc="5" dirty="0">
                <a:latin typeface="Arial MT"/>
                <a:cs typeface="Arial MT"/>
              </a:rPr>
              <a:t>the</a:t>
            </a:r>
            <a:r>
              <a:rPr sz="1700" spc="-30" dirty="0">
                <a:latin typeface="Arial MT"/>
                <a:cs typeface="Arial MT"/>
              </a:rPr>
              <a:t> </a:t>
            </a:r>
            <a:r>
              <a:rPr sz="1700" spc="5" dirty="0">
                <a:latin typeface="Arial MT"/>
                <a:cs typeface="Arial MT"/>
              </a:rPr>
              <a:t>start </a:t>
            </a:r>
            <a:r>
              <a:rPr sz="1700" spc="-459" dirty="0">
                <a:latin typeface="Arial MT"/>
                <a:cs typeface="Arial MT"/>
              </a:rPr>
              <a:t> </a:t>
            </a:r>
            <a:r>
              <a:rPr sz="1700" spc="5" dirty="0">
                <a:latin typeface="Arial MT"/>
                <a:cs typeface="Arial MT"/>
              </a:rPr>
              <a:t>of</a:t>
            </a:r>
            <a:r>
              <a:rPr sz="1700" spc="-40" dirty="0">
                <a:latin typeface="Arial MT"/>
                <a:cs typeface="Arial MT"/>
              </a:rPr>
              <a:t> </a:t>
            </a:r>
            <a:r>
              <a:rPr sz="1700" spc="5" dirty="0">
                <a:latin typeface="Arial MT"/>
                <a:cs typeface="Arial MT"/>
              </a:rPr>
              <a:t>the</a:t>
            </a:r>
            <a:r>
              <a:rPr sz="1700" spc="-35" dirty="0">
                <a:latin typeface="Arial MT"/>
                <a:cs typeface="Arial MT"/>
              </a:rPr>
              <a:t> </a:t>
            </a:r>
            <a:r>
              <a:rPr sz="1700" spc="10" dirty="0">
                <a:latin typeface="Arial MT"/>
                <a:cs typeface="Arial MT"/>
              </a:rPr>
              <a:t>main(</a:t>
            </a:r>
            <a:r>
              <a:rPr sz="1700" spc="-50" dirty="0">
                <a:latin typeface="Arial MT"/>
                <a:cs typeface="Arial MT"/>
              </a:rPr>
              <a:t> </a:t>
            </a:r>
            <a:r>
              <a:rPr sz="1700" spc="5" dirty="0">
                <a:latin typeface="Arial MT"/>
                <a:cs typeface="Arial MT"/>
              </a:rPr>
              <a:t>)</a:t>
            </a:r>
            <a:r>
              <a:rPr sz="1700" spc="-10" dirty="0">
                <a:latin typeface="Arial MT"/>
                <a:cs typeface="Arial MT"/>
              </a:rPr>
              <a:t> </a:t>
            </a:r>
            <a:r>
              <a:rPr sz="1700" spc="5" dirty="0">
                <a:latin typeface="Arial MT"/>
                <a:cs typeface="Arial MT"/>
              </a:rPr>
              <a:t>method.</a:t>
            </a:r>
            <a:endParaRPr sz="1700" dirty="0">
              <a:latin typeface="Arial MT"/>
              <a:cs typeface="Arial MT"/>
            </a:endParaRPr>
          </a:p>
          <a:p>
            <a:pPr marL="194945" indent="-182880">
              <a:lnSpc>
                <a:spcPct val="100000"/>
              </a:lnSpc>
              <a:spcBef>
                <a:spcPts val="395"/>
              </a:spcBef>
              <a:buChar char="•"/>
              <a:tabLst>
                <a:tab pos="195580" algn="l"/>
              </a:tabLst>
            </a:pPr>
            <a:r>
              <a:rPr sz="1700" spc="25" dirty="0">
                <a:latin typeface="Arial MT"/>
                <a:cs typeface="Arial MT"/>
              </a:rPr>
              <a:t>Java</a:t>
            </a:r>
            <a:r>
              <a:rPr sz="1700" spc="-114" dirty="0">
                <a:latin typeface="Arial MT"/>
                <a:cs typeface="Arial MT"/>
              </a:rPr>
              <a:t> </a:t>
            </a:r>
            <a:r>
              <a:rPr sz="1700" spc="-5" dirty="0">
                <a:latin typeface="Arial MT"/>
                <a:cs typeface="Arial MT"/>
              </a:rPr>
              <a:t>allows</a:t>
            </a:r>
            <a:r>
              <a:rPr sz="1700" spc="-15" dirty="0">
                <a:latin typeface="Arial MT"/>
                <a:cs typeface="Arial MT"/>
              </a:rPr>
              <a:t> </a:t>
            </a:r>
            <a:r>
              <a:rPr sz="1700" spc="10" dirty="0">
                <a:latin typeface="Arial MT"/>
                <a:cs typeface="Arial MT"/>
              </a:rPr>
              <a:t>variables</a:t>
            </a:r>
            <a:r>
              <a:rPr sz="1700" spc="-135" dirty="0">
                <a:latin typeface="Arial MT"/>
                <a:cs typeface="Arial MT"/>
              </a:rPr>
              <a:t> </a:t>
            </a:r>
            <a:r>
              <a:rPr sz="1700" spc="5" dirty="0">
                <a:latin typeface="Arial MT"/>
                <a:cs typeface="Arial MT"/>
              </a:rPr>
              <a:t>to </a:t>
            </a:r>
            <a:r>
              <a:rPr sz="1700" spc="10" dirty="0">
                <a:latin typeface="Arial MT"/>
                <a:cs typeface="Arial MT"/>
              </a:rPr>
              <a:t>be</a:t>
            </a:r>
            <a:r>
              <a:rPr sz="1700" spc="-30" dirty="0">
                <a:latin typeface="Arial MT"/>
                <a:cs typeface="Arial MT"/>
              </a:rPr>
              <a:t> </a:t>
            </a:r>
            <a:r>
              <a:rPr sz="1700" spc="5" dirty="0">
                <a:latin typeface="Arial MT"/>
                <a:cs typeface="Arial MT"/>
              </a:rPr>
              <a:t>declared</a:t>
            </a:r>
            <a:r>
              <a:rPr sz="1700" spc="-110" dirty="0">
                <a:latin typeface="Arial MT"/>
                <a:cs typeface="Arial MT"/>
              </a:rPr>
              <a:t> </a:t>
            </a:r>
            <a:r>
              <a:rPr sz="1700" spc="-5" dirty="0">
                <a:latin typeface="Arial MT"/>
                <a:cs typeface="Arial MT"/>
              </a:rPr>
              <a:t>within</a:t>
            </a:r>
            <a:r>
              <a:rPr sz="1700" spc="5" dirty="0">
                <a:latin typeface="Arial MT"/>
                <a:cs typeface="Arial MT"/>
              </a:rPr>
              <a:t> any</a:t>
            </a:r>
            <a:r>
              <a:rPr sz="1700" spc="-55" dirty="0">
                <a:latin typeface="Arial MT"/>
                <a:cs typeface="Arial MT"/>
              </a:rPr>
              <a:t> </a:t>
            </a:r>
            <a:r>
              <a:rPr sz="1700" spc="10" dirty="0">
                <a:latin typeface="Arial MT"/>
                <a:cs typeface="Arial MT"/>
              </a:rPr>
              <a:t>block.</a:t>
            </a:r>
            <a:endParaRPr sz="1700" dirty="0">
              <a:latin typeface="Arial MT"/>
              <a:cs typeface="Arial MT"/>
            </a:endParaRPr>
          </a:p>
          <a:p>
            <a:pPr marL="407670" marR="430530" lvl="1" indent="-152400">
              <a:lnSpc>
                <a:spcPct val="103400"/>
              </a:lnSpc>
              <a:spcBef>
                <a:spcPts val="350"/>
              </a:spcBef>
              <a:buChar char="–"/>
              <a:tabLst>
                <a:tab pos="408305" algn="l"/>
              </a:tabLst>
            </a:pPr>
            <a:r>
              <a:rPr sz="1450" spc="15" dirty="0">
                <a:latin typeface="Arial MT"/>
                <a:cs typeface="Arial MT"/>
              </a:rPr>
              <a:t>a</a:t>
            </a:r>
            <a:r>
              <a:rPr sz="1450" spc="10" dirty="0">
                <a:latin typeface="Arial MT"/>
                <a:cs typeface="Arial MT"/>
              </a:rPr>
              <a:t> block</a:t>
            </a:r>
            <a:r>
              <a:rPr sz="1450" spc="50" dirty="0">
                <a:latin typeface="Arial MT"/>
                <a:cs typeface="Arial MT"/>
              </a:rPr>
              <a:t> </a:t>
            </a:r>
            <a:r>
              <a:rPr sz="1450" spc="5" dirty="0">
                <a:latin typeface="Arial MT"/>
                <a:cs typeface="Arial MT"/>
              </a:rPr>
              <a:t>begins</a:t>
            </a:r>
            <a:r>
              <a:rPr sz="1450" spc="50" dirty="0">
                <a:latin typeface="Arial MT"/>
                <a:cs typeface="Arial MT"/>
              </a:rPr>
              <a:t> </a:t>
            </a:r>
            <a:r>
              <a:rPr sz="1450" spc="-5" dirty="0">
                <a:latin typeface="Arial MT"/>
                <a:cs typeface="Arial MT"/>
              </a:rPr>
              <a:t>with</a:t>
            </a:r>
            <a:r>
              <a:rPr sz="1450" spc="85" dirty="0">
                <a:latin typeface="Arial MT"/>
                <a:cs typeface="Arial MT"/>
              </a:rPr>
              <a:t> </a:t>
            </a:r>
            <a:r>
              <a:rPr sz="1450" dirty="0">
                <a:latin typeface="Arial MT"/>
                <a:cs typeface="Arial MT"/>
              </a:rPr>
              <a:t>an</a:t>
            </a:r>
            <a:r>
              <a:rPr sz="1450" spc="45" dirty="0">
                <a:latin typeface="Arial MT"/>
                <a:cs typeface="Arial MT"/>
              </a:rPr>
              <a:t> </a:t>
            </a:r>
            <a:r>
              <a:rPr sz="1450" spc="5" dirty="0">
                <a:latin typeface="Arial MT"/>
                <a:cs typeface="Arial MT"/>
              </a:rPr>
              <a:t>opening</a:t>
            </a:r>
            <a:r>
              <a:rPr sz="1450" spc="85" dirty="0">
                <a:latin typeface="Arial MT"/>
                <a:cs typeface="Arial MT"/>
              </a:rPr>
              <a:t> </a:t>
            </a:r>
            <a:r>
              <a:rPr sz="1450" dirty="0">
                <a:latin typeface="Arial MT"/>
                <a:cs typeface="Arial MT"/>
              </a:rPr>
              <a:t>curly</a:t>
            </a:r>
            <a:r>
              <a:rPr sz="1450" spc="50" dirty="0">
                <a:latin typeface="Arial MT"/>
                <a:cs typeface="Arial MT"/>
              </a:rPr>
              <a:t> </a:t>
            </a:r>
            <a:r>
              <a:rPr sz="1450" spc="10" dirty="0">
                <a:latin typeface="Arial MT"/>
                <a:cs typeface="Arial MT"/>
              </a:rPr>
              <a:t>brace</a:t>
            </a:r>
            <a:r>
              <a:rPr sz="1450" spc="50" dirty="0">
                <a:latin typeface="Arial MT"/>
                <a:cs typeface="Arial MT"/>
              </a:rPr>
              <a:t> </a:t>
            </a:r>
            <a:r>
              <a:rPr sz="1450" spc="10" dirty="0">
                <a:latin typeface="Arial MT"/>
                <a:cs typeface="Arial MT"/>
              </a:rPr>
              <a:t>and</a:t>
            </a:r>
            <a:r>
              <a:rPr sz="1450" spc="50" dirty="0">
                <a:latin typeface="Arial MT"/>
                <a:cs typeface="Arial MT"/>
              </a:rPr>
              <a:t> </a:t>
            </a:r>
            <a:r>
              <a:rPr sz="1450" spc="5" dirty="0">
                <a:latin typeface="Arial MT"/>
                <a:cs typeface="Arial MT"/>
              </a:rPr>
              <a:t>ended</a:t>
            </a:r>
            <a:r>
              <a:rPr sz="1450" spc="85" dirty="0">
                <a:latin typeface="Arial MT"/>
                <a:cs typeface="Arial MT"/>
              </a:rPr>
              <a:t> </a:t>
            </a:r>
            <a:r>
              <a:rPr sz="1450" spc="15" dirty="0">
                <a:latin typeface="Arial MT"/>
                <a:cs typeface="Arial MT"/>
              </a:rPr>
              <a:t>by</a:t>
            </a:r>
            <a:r>
              <a:rPr sz="1450" spc="-30" dirty="0">
                <a:latin typeface="Arial MT"/>
                <a:cs typeface="Arial MT"/>
              </a:rPr>
              <a:t> </a:t>
            </a:r>
            <a:r>
              <a:rPr sz="1450" spc="15" dirty="0">
                <a:latin typeface="Arial MT"/>
                <a:cs typeface="Arial MT"/>
              </a:rPr>
              <a:t>a </a:t>
            </a:r>
            <a:r>
              <a:rPr sz="1450" spc="-390" dirty="0">
                <a:latin typeface="Arial MT"/>
                <a:cs typeface="Arial MT"/>
              </a:rPr>
              <a:t> </a:t>
            </a:r>
            <a:r>
              <a:rPr sz="1450" dirty="0">
                <a:latin typeface="Arial MT"/>
                <a:cs typeface="Arial MT"/>
              </a:rPr>
              <a:t>closing</a:t>
            </a:r>
            <a:r>
              <a:rPr sz="1450" spc="120" dirty="0">
                <a:latin typeface="Arial MT"/>
                <a:cs typeface="Arial MT"/>
              </a:rPr>
              <a:t> </a:t>
            </a:r>
            <a:r>
              <a:rPr sz="1450" dirty="0">
                <a:latin typeface="Arial MT"/>
                <a:cs typeface="Arial MT"/>
              </a:rPr>
              <a:t>curly</a:t>
            </a:r>
            <a:r>
              <a:rPr sz="1450" spc="50" dirty="0">
                <a:latin typeface="Arial MT"/>
                <a:cs typeface="Arial MT"/>
              </a:rPr>
              <a:t> </a:t>
            </a:r>
            <a:r>
              <a:rPr sz="1450" spc="5" dirty="0">
                <a:latin typeface="Arial MT"/>
                <a:cs typeface="Arial MT"/>
              </a:rPr>
              <a:t>brace.</a:t>
            </a:r>
            <a:endParaRPr sz="1450" dirty="0">
              <a:latin typeface="Arial MT"/>
              <a:cs typeface="Arial MT"/>
            </a:endParaRPr>
          </a:p>
          <a:p>
            <a:pPr marL="458470" lvl="1" indent="-203200">
              <a:lnSpc>
                <a:spcPct val="100000"/>
              </a:lnSpc>
              <a:spcBef>
                <a:spcPts val="415"/>
              </a:spcBef>
              <a:buChar char="–"/>
              <a:tabLst>
                <a:tab pos="459105" algn="l"/>
              </a:tabLst>
            </a:pPr>
            <a:r>
              <a:rPr sz="1450" spc="15" dirty="0">
                <a:latin typeface="Arial MT"/>
                <a:cs typeface="Arial MT"/>
              </a:rPr>
              <a:t>A</a:t>
            </a:r>
            <a:r>
              <a:rPr sz="1450" spc="-5" dirty="0">
                <a:latin typeface="Arial MT"/>
                <a:cs typeface="Arial MT"/>
              </a:rPr>
              <a:t> </a:t>
            </a:r>
            <a:r>
              <a:rPr sz="1450" spc="10" dirty="0">
                <a:latin typeface="Arial MT"/>
                <a:cs typeface="Arial MT"/>
              </a:rPr>
              <a:t>block</a:t>
            </a:r>
            <a:r>
              <a:rPr sz="1450" spc="40" dirty="0">
                <a:latin typeface="Arial MT"/>
                <a:cs typeface="Arial MT"/>
              </a:rPr>
              <a:t> </a:t>
            </a:r>
            <a:r>
              <a:rPr sz="1450" spc="-5" dirty="0">
                <a:latin typeface="Arial MT"/>
                <a:cs typeface="Arial MT"/>
              </a:rPr>
              <a:t>defines</a:t>
            </a:r>
            <a:r>
              <a:rPr sz="1450" spc="120" dirty="0">
                <a:latin typeface="Arial MT"/>
                <a:cs typeface="Arial MT"/>
              </a:rPr>
              <a:t> </a:t>
            </a:r>
            <a:r>
              <a:rPr sz="1450" spc="15" dirty="0">
                <a:latin typeface="Arial MT"/>
                <a:cs typeface="Arial MT"/>
              </a:rPr>
              <a:t>a</a:t>
            </a:r>
            <a:r>
              <a:rPr sz="1450" dirty="0">
                <a:latin typeface="Arial MT"/>
                <a:cs typeface="Arial MT"/>
              </a:rPr>
              <a:t> </a:t>
            </a:r>
            <a:r>
              <a:rPr sz="1450" spc="10" dirty="0">
                <a:latin typeface="Arial MT"/>
                <a:cs typeface="Arial MT"/>
              </a:rPr>
              <a:t>scope.</a:t>
            </a:r>
            <a:endParaRPr sz="1450" dirty="0">
              <a:latin typeface="Arial MT"/>
              <a:cs typeface="Arial MT"/>
            </a:endParaRPr>
          </a:p>
          <a:p>
            <a:pPr marL="621030" lvl="2" indent="-122555">
              <a:lnSpc>
                <a:spcPct val="100000"/>
              </a:lnSpc>
              <a:spcBef>
                <a:spcPts val="340"/>
              </a:spcBef>
              <a:buChar char="•"/>
              <a:tabLst>
                <a:tab pos="621665" algn="l"/>
              </a:tabLst>
            </a:pPr>
            <a:r>
              <a:rPr sz="1250" spc="15" dirty="0">
                <a:latin typeface="Arial MT"/>
                <a:cs typeface="Arial MT"/>
              </a:rPr>
              <a:t>A</a:t>
            </a:r>
            <a:r>
              <a:rPr sz="1250" spc="-15" dirty="0">
                <a:latin typeface="Arial MT"/>
                <a:cs typeface="Arial MT"/>
              </a:rPr>
              <a:t> </a:t>
            </a:r>
            <a:r>
              <a:rPr sz="1250" spc="-5" dirty="0">
                <a:latin typeface="Arial MT"/>
                <a:cs typeface="Arial MT"/>
              </a:rPr>
              <a:t>block</a:t>
            </a:r>
            <a:r>
              <a:rPr sz="1250" spc="80" dirty="0">
                <a:latin typeface="Arial MT"/>
                <a:cs typeface="Arial MT"/>
              </a:rPr>
              <a:t> </a:t>
            </a:r>
            <a:r>
              <a:rPr sz="1250" spc="-5" dirty="0">
                <a:latin typeface="Arial MT"/>
                <a:cs typeface="Arial MT"/>
              </a:rPr>
              <a:t>begins</a:t>
            </a:r>
            <a:r>
              <a:rPr sz="1250" spc="80" dirty="0">
                <a:latin typeface="Arial MT"/>
                <a:cs typeface="Arial MT"/>
              </a:rPr>
              <a:t> </a:t>
            </a:r>
            <a:r>
              <a:rPr sz="1250" spc="10" dirty="0">
                <a:latin typeface="Arial MT"/>
                <a:cs typeface="Arial MT"/>
              </a:rPr>
              <a:t>with{</a:t>
            </a:r>
            <a:r>
              <a:rPr sz="1250" spc="330" dirty="0">
                <a:latin typeface="Arial MT"/>
                <a:cs typeface="Arial MT"/>
              </a:rPr>
              <a:t> </a:t>
            </a:r>
            <a:r>
              <a:rPr sz="1250" spc="5" dirty="0">
                <a:latin typeface="Arial MT"/>
                <a:cs typeface="Arial MT"/>
              </a:rPr>
              <a:t>and</a:t>
            </a:r>
            <a:r>
              <a:rPr sz="1250" spc="50" dirty="0">
                <a:latin typeface="Arial MT"/>
                <a:cs typeface="Arial MT"/>
              </a:rPr>
              <a:t> </a:t>
            </a:r>
            <a:r>
              <a:rPr sz="1250" spc="5" dirty="0">
                <a:latin typeface="Arial MT"/>
                <a:cs typeface="Arial MT"/>
              </a:rPr>
              <a:t>end</a:t>
            </a:r>
            <a:r>
              <a:rPr sz="1250" spc="15" dirty="0">
                <a:latin typeface="Arial MT"/>
                <a:cs typeface="Arial MT"/>
              </a:rPr>
              <a:t> </a:t>
            </a:r>
            <a:r>
              <a:rPr sz="1250" spc="5" dirty="0">
                <a:latin typeface="Arial MT"/>
                <a:cs typeface="Arial MT"/>
              </a:rPr>
              <a:t>with</a:t>
            </a:r>
            <a:r>
              <a:rPr sz="1250" spc="10" dirty="0">
                <a:latin typeface="Arial MT"/>
                <a:cs typeface="Arial MT"/>
              </a:rPr>
              <a:t> </a:t>
            </a:r>
            <a:r>
              <a:rPr sz="1250" spc="5" dirty="0">
                <a:latin typeface="Arial MT"/>
                <a:cs typeface="Arial MT"/>
              </a:rPr>
              <a:t>}</a:t>
            </a:r>
            <a:endParaRPr sz="1250" dirty="0">
              <a:latin typeface="Arial MT"/>
              <a:cs typeface="Arial MT"/>
            </a:endParaRPr>
          </a:p>
          <a:p>
            <a:pPr marL="194945" marR="33020" indent="-182880">
              <a:lnSpc>
                <a:spcPct val="100000"/>
              </a:lnSpc>
              <a:spcBef>
                <a:spcPts val="409"/>
              </a:spcBef>
              <a:buChar char="•"/>
              <a:tabLst>
                <a:tab pos="195580" algn="l"/>
              </a:tabLst>
            </a:pPr>
            <a:r>
              <a:rPr sz="1700" spc="10" dirty="0">
                <a:latin typeface="Arial MT"/>
                <a:cs typeface="Arial MT"/>
              </a:rPr>
              <a:t>A</a:t>
            </a:r>
            <a:r>
              <a:rPr sz="1700" spc="-30" dirty="0">
                <a:latin typeface="Arial MT"/>
                <a:cs typeface="Arial MT"/>
              </a:rPr>
              <a:t> </a:t>
            </a:r>
            <a:r>
              <a:rPr sz="1700" spc="10" dirty="0">
                <a:latin typeface="Arial MT"/>
                <a:cs typeface="Arial MT"/>
              </a:rPr>
              <a:t>scope</a:t>
            </a:r>
            <a:r>
              <a:rPr sz="1700" spc="-70" dirty="0">
                <a:latin typeface="Arial MT"/>
                <a:cs typeface="Arial MT"/>
              </a:rPr>
              <a:t> </a:t>
            </a:r>
            <a:r>
              <a:rPr sz="1700" spc="5" dirty="0">
                <a:latin typeface="Arial MT"/>
                <a:cs typeface="Arial MT"/>
              </a:rPr>
              <a:t>determines</a:t>
            </a:r>
            <a:r>
              <a:rPr sz="1700" spc="-130" dirty="0">
                <a:latin typeface="Arial MT"/>
                <a:cs typeface="Arial MT"/>
              </a:rPr>
              <a:t> </a:t>
            </a:r>
            <a:r>
              <a:rPr sz="1700" spc="-15" dirty="0">
                <a:latin typeface="Arial MT"/>
                <a:cs typeface="Arial MT"/>
              </a:rPr>
              <a:t>what</a:t>
            </a:r>
            <a:r>
              <a:rPr sz="1700" spc="50" dirty="0">
                <a:latin typeface="Arial MT"/>
                <a:cs typeface="Arial MT"/>
              </a:rPr>
              <a:t> </a:t>
            </a:r>
            <a:r>
              <a:rPr sz="1700" spc="10" dirty="0">
                <a:latin typeface="Arial MT"/>
                <a:cs typeface="Arial MT"/>
              </a:rPr>
              <a:t>objects</a:t>
            </a:r>
            <a:r>
              <a:rPr sz="1700" spc="-100" dirty="0">
                <a:latin typeface="Arial MT"/>
                <a:cs typeface="Arial MT"/>
              </a:rPr>
              <a:t> </a:t>
            </a:r>
            <a:r>
              <a:rPr sz="1700" dirty="0">
                <a:latin typeface="Arial MT"/>
                <a:cs typeface="Arial MT"/>
              </a:rPr>
              <a:t>are</a:t>
            </a:r>
            <a:r>
              <a:rPr sz="1700" spc="-30" dirty="0">
                <a:latin typeface="Arial MT"/>
                <a:cs typeface="Arial MT"/>
              </a:rPr>
              <a:t> </a:t>
            </a:r>
            <a:r>
              <a:rPr sz="1700" spc="15" dirty="0">
                <a:latin typeface="Arial MT"/>
                <a:cs typeface="Arial MT"/>
              </a:rPr>
              <a:t>visible</a:t>
            </a:r>
            <a:r>
              <a:rPr sz="1700" spc="-110" dirty="0">
                <a:latin typeface="Arial MT"/>
                <a:cs typeface="Arial MT"/>
              </a:rPr>
              <a:t> </a:t>
            </a:r>
            <a:r>
              <a:rPr sz="1700" spc="5" dirty="0">
                <a:latin typeface="Arial MT"/>
                <a:cs typeface="Arial MT"/>
              </a:rPr>
              <a:t>to</a:t>
            </a:r>
            <a:r>
              <a:rPr sz="1700" spc="-30" dirty="0">
                <a:latin typeface="Arial MT"/>
                <a:cs typeface="Arial MT"/>
              </a:rPr>
              <a:t> </a:t>
            </a:r>
            <a:r>
              <a:rPr sz="1700" spc="5" dirty="0">
                <a:latin typeface="Arial MT"/>
                <a:cs typeface="Arial MT"/>
              </a:rPr>
              <a:t>other</a:t>
            </a:r>
            <a:r>
              <a:rPr sz="1700" spc="-45" dirty="0">
                <a:latin typeface="Arial MT"/>
                <a:cs typeface="Arial MT"/>
              </a:rPr>
              <a:t> </a:t>
            </a:r>
            <a:r>
              <a:rPr sz="1700" dirty="0">
                <a:latin typeface="Arial MT"/>
                <a:cs typeface="Arial MT"/>
              </a:rPr>
              <a:t>parts </a:t>
            </a:r>
            <a:r>
              <a:rPr sz="1700" spc="-459" dirty="0">
                <a:latin typeface="Arial MT"/>
                <a:cs typeface="Arial MT"/>
              </a:rPr>
              <a:t> </a:t>
            </a:r>
            <a:r>
              <a:rPr sz="1700" dirty="0">
                <a:latin typeface="Arial MT"/>
                <a:cs typeface="Arial MT"/>
              </a:rPr>
              <a:t>of</a:t>
            </a:r>
            <a:r>
              <a:rPr sz="1700" spc="-35" dirty="0">
                <a:latin typeface="Arial MT"/>
                <a:cs typeface="Arial MT"/>
              </a:rPr>
              <a:t> </a:t>
            </a:r>
            <a:r>
              <a:rPr sz="1700" dirty="0">
                <a:latin typeface="Arial MT"/>
                <a:cs typeface="Arial MT"/>
              </a:rPr>
              <a:t>your</a:t>
            </a:r>
            <a:r>
              <a:rPr sz="1700" spc="-15" dirty="0">
                <a:latin typeface="Arial MT"/>
                <a:cs typeface="Arial MT"/>
              </a:rPr>
              <a:t> </a:t>
            </a:r>
            <a:r>
              <a:rPr sz="1700" dirty="0">
                <a:latin typeface="Arial MT"/>
                <a:cs typeface="Arial MT"/>
              </a:rPr>
              <a:t>program.</a:t>
            </a:r>
          </a:p>
          <a:p>
            <a:pPr marL="194945" indent="-182880">
              <a:lnSpc>
                <a:spcPts val="1960"/>
              </a:lnSpc>
              <a:spcBef>
                <a:spcPts val="434"/>
              </a:spcBef>
              <a:buChar char="•"/>
              <a:tabLst>
                <a:tab pos="195580" algn="l"/>
              </a:tabLst>
            </a:pPr>
            <a:r>
              <a:rPr sz="1700" spc="10" dirty="0">
                <a:latin typeface="Arial MT"/>
                <a:cs typeface="Arial MT"/>
              </a:rPr>
              <a:t>Scope</a:t>
            </a:r>
            <a:r>
              <a:rPr sz="1700" spc="-70" dirty="0">
                <a:latin typeface="Arial MT"/>
                <a:cs typeface="Arial MT"/>
              </a:rPr>
              <a:t> </a:t>
            </a:r>
            <a:r>
              <a:rPr sz="1700" spc="10" dirty="0">
                <a:latin typeface="Arial MT"/>
                <a:cs typeface="Arial MT"/>
              </a:rPr>
              <a:t>also</a:t>
            </a:r>
            <a:r>
              <a:rPr sz="1700" spc="-70" dirty="0">
                <a:latin typeface="Arial MT"/>
                <a:cs typeface="Arial MT"/>
              </a:rPr>
              <a:t> </a:t>
            </a:r>
            <a:r>
              <a:rPr sz="1700" spc="5" dirty="0">
                <a:latin typeface="Arial MT"/>
                <a:cs typeface="Arial MT"/>
              </a:rPr>
              <a:t>determines</a:t>
            </a:r>
            <a:r>
              <a:rPr sz="1700" spc="-130" dirty="0">
                <a:latin typeface="Arial MT"/>
                <a:cs typeface="Arial MT"/>
              </a:rPr>
              <a:t> </a:t>
            </a:r>
            <a:r>
              <a:rPr sz="1700" spc="5" dirty="0">
                <a:latin typeface="Arial MT"/>
                <a:cs typeface="Arial MT"/>
              </a:rPr>
              <a:t>the</a:t>
            </a:r>
            <a:r>
              <a:rPr sz="1700" spc="-25" dirty="0">
                <a:latin typeface="Arial MT"/>
                <a:cs typeface="Arial MT"/>
              </a:rPr>
              <a:t> </a:t>
            </a:r>
            <a:r>
              <a:rPr sz="1700" spc="10" dirty="0">
                <a:latin typeface="Arial MT"/>
                <a:cs typeface="Arial MT"/>
              </a:rPr>
              <a:t>lifetime</a:t>
            </a:r>
            <a:r>
              <a:rPr sz="1700" spc="-110" dirty="0">
                <a:latin typeface="Arial MT"/>
                <a:cs typeface="Arial MT"/>
              </a:rPr>
              <a:t> </a:t>
            </a:r>
            <a:r>
              <a:rPr sz="1700" dirty="0">
                <a:latin typeface="Arial MT"/>
                <a:cs typeface="Arial MT"/>
              </a:rPr>
              <a:t>of</a:t>
            </a:r>
            <a:r>
              <a:rPr sz="1700" spc="-25" dirty="0">
                <a:latin typeface="Arial MT"/>
                <a:cs typeface="Arial MT"/>
              </a:rPr>
              <a:t> </a:t>
            </a:r>
            <a:r>
              <a:rPr sz="1700" spc="10" dirty="0">
                <a:latin typeface="Arial MT"/>
                <a:cs typeface="Arial MT"/>
              </a:rPr>
              <a:t>those</a:t>
            </a:r>
            <a:r>
              <a:rPr sz="1700" spc="-70" dirty="0">
                <a:latin typeface="Arial MT"/>
                <a:cs typeface="Arial MT"/>
              </a:rPr>
              <a:t> </a:t>
            </a:r>
            <a:r>
              <a:rPr sz="1700" spc="10" dirty="0">
                <a:latin typeface="Arial MT"/>
                <a:cs typeface="Arial MT"/>
              </a:rPr>
              <a:t>objects.</a:t>
            </a:r>
            <a:endParaRPr sz="1700" dirty="0">
              <a:latin typeface="Arial MT"/>
              <a:cs typeface="Arial MT"/>
            </a:endParaRPr>
          </a:p>
          <a:p>
            <a:pPr marR="5080" algn="r">
              <a:lnSpc>
                <a:spcPts val="819"/>
              </a:lnSpc>
            </a:pPr>
            <a:endParaRPr sz="750" dirty="0">
              <a:latin typeface="Arial MT"/>
              <a:cs typeface="Arial MT"/>
            </a:endParaRPr>
          </a:p>
        </p:txBody>
      </p:sp>
      <p:sp>
        <p:nvSpPr>
          <p:cNvPr id="4" name="object 4"/>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p:nvPr/>
        </p:nvSpPr>
        <p:spPr>
          <a:xfrm>
            <a:off x="364661" y="1205577"/>
            <a:ext cx="5595620" cy="1773555"/>
          </a:xfrm>
          <a:prstGeom prst="rect">
            <a:avLst/>
          </a:prstGeom>
        </p:spPr>
        <p:txBody>
          <a:bodyPr vert="horz" wrap="square" lIns="0" tIns="70485" rIns="0" bIns="0" rtlCol="0">
            <a:spAutoFit/>
          </a:bodyPr>
          <a:lstStyle/>
          <a:p>
            <a:pPr marL="194945" indent="-182880">
              <a:lnSpc>
                <a:spcPct val="100000"/>
              </a:lnSpc>
              <a:spcBef>
                <a:spcPts val="555"/>
              </a:spcBef>
              <a:buChar char="•"/>
              <a:tabLst>
                <a:tab pos="195580" algn="l"/>
              </a:tabLst>
            </a:pPr>
            <a:r>
              <a:rPr sz="1700" spc="-5" dirty="0">
                <a:latin typeface="Arial MT"/>
                <a:cs typeface="Arial MT"/>
              </a:rPr>
              <a:t>T</a:t>
            </a:r>
            <a:r>
              <a:rPr sz="1700" spc="-75" dirty="0">
                <a:latin typeface="Arial MT"/>
                <a:cs typeface="Arial MT"/>
              </a:rPr>
              <a:t>w</a:t>
            </a:r>
            <a:r>
              <a:rPr sz="1700" spc="10" dirty="0">
                <a:latin typeface="Arial MT"/>
                <a:cs typeface="Arial MT"/>
              </a:rPr>
              <a:t>o</a:t>
            </a:r>
            <a:r>
              <a:rPr sz="1700" spc="90" dirty="0">
                <a:latin typeface="Times New Roman"/>
                <a:cs typeface="Times New Roman"/>
              </a:rPr>
              <a:t> </a:t>
            </a:r>
            <a:r>
              <a:rPr sz="1700" spc="20" dirty="0">
                <a:latin typeface="Arial MT"/>
                <a:cs typeface="Arial MT"/>
              </a:rPr>
              <a:t>m</a:t>
            </a:r>
            <a:r>
              <a:rPr sz="1700" spc="5" dirty="0">
                <a:latin typeface="Arial MT"/>
                <a:cs typeface="Arial MT"/>
              </a:rPr>
              <a:t>a</a:t>
            </a:r>
            <a:r>
              <a:rPr sz="1700" spc="15" dirty="0">
                <a:latin typeface="Arial MT"/>
                <a:cs typeface="Arial MT"/>
              </a:rPr>
              <a:t>j</a:t>
            </a:r>
            <a:r>
              <a:rPr sz="1700" spc="5" dirty="0">
                <a:latin typeface="Arial MT"/>
                <a:cs typeface="Arial MT"/>
              </a:rPr>
              <a:t>or</a:t>
            </a:r>
            <a:r>
              <a:rPr sz="1700" dirty="0">
                <a:latin typeface="Times New Roman"/>
                <a:cs typeface="Times New Roman"/>
              </a:rPr>
              <a:t> </a:t>
            </a:r>
            <a:r>
              <a:rPr sz="1700" spc="20" dirty="0">
                <a:latin typeface="Arial MT"/>
                <a:cs typeface="Arial MT"/>
              </a:rPr>
              <a:t>sc</a:t>
            </a:r>
            <a:r>
              <a:rPr sz="1700" spc="5" dirty="0">
                <a:latin typeface="Arial MT"/>
                <a:cs typeface="Arial MT"/>
              </a:rPr>
              <a:t>opes</a:t>
            </a:r>
            <a:r>
              <a:rPr sz="1700" spc="-90" dirty="0">
                <a:latin typeface="Times New Roman"/>
                <a:cs typeface="Times New Roman"/>
              </a:rPr>
              <a:t> </a:t>
            </a:r>
            <a:r>
              <a:rPr sz="1700" spc="5" dirty="0">
                <a:latin typeface="Arial MT"/>
                <a:cs typeface="Arial MT"/>
              </a:rPr>
              <a:t>a</a:t>
            </a:r>
            <a:r>
              <a:rPr sz="1700" spc="-10" dirty="0">
                <a:latin typeface="Arial MT"/>
                <a:cs typeface="Arial MT"/>
              </a:rPr>
              <a:t>r</a:t>
            </a:r>
            <a:r>
              <a:rPr sz="1700" spc="10" dirty="0">
                <a:latin typeface="Arial MT"/>
                <a:cs typeface="Arial MT"/>
              </a:rPr>
              <a:t>e</a:t>
            </a:r>
            <a:endParaRPr sz="1700">
              <a:latin typeface="Arial MT"/>
              <a:cs typeface="Arial MT"/>
            </a:endParaRPr>
          </a:p>
          <a:p>
            <a:pPr marL="407670" lvl="1" indent="-152400">
              <a:lnSpc>
                <a:spcPct val="100000"/>
              </a:lnSpc>
              <a:spcBef>
                <a:spcPts val="405"/>
              </a:spcBef>
              <a:buChar char="–"/>
              <a:tabLst>
                <a:tab pos="408305" algn="l"/>
              </a:tabLst>
            </a:pPr>
            <a:r>
              <a:rPr sz="1450" spc="20" dirty="0">
                <a:latin typeface="Arial MT"/>
                <a:cs typeface="Arial MT"/>
              </a:rPr>
              <a:t>Scope</a:t>
            </a:r>
            <a:r>
              <a:rPr sz="1450" spc="-45" dirty="0">
                <a:latin typeface="Arial MT"/>
                <a:cs typeface="Arial MT"/>
              </a:rPr>
              <a:t> </a:t>
            </a:r>
            <a:r>
              <a:rPr sz="1450" dirty="0">
                <a:latin typeface="Arial MT"/>
                <a:cs typeface="Arial MT"/>
              </a:rPr>
              <a:t>defined</a:t>
            </a:r>
            <a:r>
              <a:rPr sz="1450" spc="110" dirty="0">
                <a:latin typeface="Arial MT"/>
                <a:cs typeface="Arial MT"/>
              </a:rPr>
              <a:t> </a:t>
            </a:r>
            <a:r>
              <a:rPr sz="1450" spc="20" dirty="0">
                <a:latin typeface="Arial MT"/>
                <a:cs typeface="Arial MT"/>
              </a:rPr>
              <a:t>by</a:t>
            </a:r>
            <a:r>
              <a:rPr sz="1450" spc="-5" dirty="0">
                <a:latin typeface="Arial MT"/>
                <a:cs typeface="Arial MT"/>
              </a:rPr>
              <a:t> </a:t>
            </a:r>
            <a:r>
              <a:rPr sz="1450" spc="15" dirty="0">
                <a:latin typeface="Arial MT"/>
                <a:cs typeface="Arial MT"/>
              </a:rPr>
              <a:t>a</a:t>
            </a:r>
            <a:r>
              <a:rPr sz="1450" dirty="0">
                <a:latin typeface="Arial MT"/>
                <a:cs typeface="Arial MT"/>
              </a:rPr>
              <a:t> </a:t>
            </a:r>
            <a:r>
              <a:rPr sz="1450" spc="-5" dirty="0">
                <a:latin typeface="Arial MT"/>
                <a:cs typeface="Arial MT"/>
              </a:rPr>
              <a:t>class</a:t>
            </a:r>
            <a:endParaRPr sz="1450">
              <a:latin typeface="Arial MT"/>
              <a:cs typeface="Arial MT"/>
            </a:endParaRPr>
          </a:p>
          <a:p>
            <a:pPr marL="407670" lvl="1" indent="-152400">
              <a:lnSpc>
                <a:spcPct val="100000"/>
              </a:lnSpc>
              <a:spcBef>
                <a:spcPts val="450"/>
              </a:spcBef>
              <a:buChar char="–"/>
              <a:tabLst>
                <a:tab pos="408305" algn="l"/>
              </a:tabLst>
            </a:pPr>
            <a:r>
              <a:rPr sz="1450" spc="20" dirty="0">
                <a:latin typeface="Arial MT"/>
                <a:cs typeface="Arial MT"/>
              </a:rPr>
              <a:t>Scope</a:t>
            </a:r>
            <a:r>
              <a:rPr sz="1450" spc="-35" dirty="0">
                <a:latin typeface="Arial MT"/>
                <a:cs typeface="Arial MT"/>
              </a:rPr>
              <a:t> </a:t>
            </a:r>
            <a:r>
              <a:rPr sz="1450" spc="-5" dirty="0">
                <a:latin typeface="Arial MT"/>
                <a:cs typeface="Arial MT"/>
              </a:rPr>
              <a:t>defined</a:t>
            </a:r>
            <a:r>
              <a:rPr sz="1450" spc="120" dirty="0">
                <a:latin typeface="Arial MT"/>
                <a:cs typeface="Arial MT"/>
              </a:rPr>
              <a:t> </a:t>
            </a:r>
            <a:r>
              <a:rPr sz="1450" spc="15" dirty="0">
                <a:latin typeface="Arial MT"/>
                <a:cs typeface="Arial MT"/>
              </a:rPr>
              <a:t>by</a:t>
            </a:r>
            <a:r>
              <a:rPr sz="1450" spc="10" dirty="0">
                <a:latin typeface="Arial MT"/>
                <a:cs typeface="Arial MT"/>
              </a:rPr>
              <a:t> </a:t>
            </a:r>
            <a:r>
              <a:rPr sz="1450" spc="15" dirty="0">
                <a:latin typeface="Arial MT"/>
                <a:cs typeface="Arial MT"/>
              </a:rPr>
              <a:t>a</a:t>
            </a:r>
            <a:r>
              <a:rPr sz="1450" spc="5" dirty="0">
                <a:latin typeface="Arial MT"/>
                <a:cs typeface="Arial MT"/>
              </a:rPr>
              <a:t> </a:t>
            </a:r>
            <a:r>
              <a:rPr sz="1450" spc="15" dirty="0">
                <a:latin typeface="Arial MT"/>
                <a:cs typeface="Arial MT"/>
              </a:rPr>
              <a:t>method</a:t>
            </a:r>
            <a:r>
              <a:rPr sz="1700" spc="15" dirty="0">
                <a:latin typeface="Arial MT"/>
                <a:cs typeface="Arial MT"/>
              </a:rPr>
              <a:t>.</a:t>
            </a:r>
            <a:endParaRPr sz="1700">
              <a:latin typeface="Arial MT"/>
              <a:cs typeface="Arial MT"/>
            </a:endParaRPr>
          </a:p>
          <a:p>
            <a:pPr marL="194945" marR="5080" indent="-182880">
              <a:lnSpc>
                <a:spcPct val="100000"/>
              </a:lnSpc>
              <a:spcBef>
                <a:spcPts val="395"/>
              </a:spcBef>
              <a:buChar char="•"/>
              <a:tabLst>
                <a:tab pos="195580" algn="l"/>
              </a:tabLst>
            </a:pPr>
            <a:r>
              <a:rPr sz="1700" spc="5" dirty="0">
                <a:latin typeface="Arial MT"/>
                <a:cs typeface="Arial MT"/>
              </a:rPr>
              <a:t>Variables</a:t>
            </a:r>
            <a:r>
              <a:rPr sz="1700" spc="-135" dirty="0">
                <a:latin typeface="Arial MT"/>
                <a:cs typeface="Arial MT"/>
              </a:rPr>
              <a:t> </a:t>
            </a:r>
            <a:r>
              <a:rPr sz="1700" spc="5" dirty="0">
                <a:latin typeface="Arial MT"/>
                <a:cs typeface="Arial MT"/>
              </a:rPr>
              <a:t>declared</a:t>
            </a:r>
            <a:r>
              <a:rPr sz="1700" spc="-65" dirty="0">
                <a:latin typeface="Arial MT"/>
                <a:cs typeface="Arial MT"/>
              </a:rPr>
              <a:t> </a:t>
            </a:r>
            <a:r>
              <a:rPr sz="1700" spc="10" dirty="0">
                <a:latin typeface="Arial MT"/>
                <a:cs typeface="Arial MT"/>
              </a:rPr>
              <a:t>inside</a:t>
            </a:r>
            <a:r>
              <a:rPr sz="1700" spc="-105" dirty="0">
                <a:latin typeface="Arial MT"/>
                <a:cs typeface="Arial MT"/>
              </a:rPr>
              <a:t> </a:t>
            </a:r>
            <a:r>
              <a:rPr sz="1700" spc="10" dirty="0">
                <a:latin typeface="Arial MT"/>
                <a:cs typeface="Arial MT"/>
              </a:rPr>
              <a:t>a</a:t>
            </a:r>
            <a:r>
              <a:rPr sz="1700" spc="-25" dirty="0">
                <a:latin typeface="Arial MT"/>
                <a:cs typeface="Arial MT"/>
              </a:rPr>
              <a:t> </a:t>
            </a:r>
            <a:r>
              <a:rPr sz="1700" spc="10" dirty="0">
                <a:latin typeface="Arial MT"/>
                <a:cs typeface="Arial MT"/>
              </a:rPr>
              <a:t>scope</a:t>
            </a:r>
            <a:r>
              <a:rPr sz="1700" spc="-65" dirty="0">
                <a:latin typeface="Arial MT"/>
                <a:cs typeface="Arial MT"/>
              </a:rPr>
              <a:t> </a:t>
            </a:r>
            <a:r>
              <a:rPr sz="1700" dirty="0">
                <a:latin typeface="Arial MT"/>
                <a:cs typeface="Arial MT"/>
              </a:rPr>
              <a:t>are</a:t>
            </a:r>
            <a:r>
              <a:rPr sz="1700" spc="-20" dirty="0">
                <a:latin typeface="Arial MT"/>
                <a:cs typeface="Arial MT"/>
              </a:rPr>
              <a:t> </a:t>
            </a:r>
            <a:r>
              <a:rPr sz="1700" spc="5" dirty="0">
                <a:latin typeface="Arial MT"/>
                <a:cs typeface="Arial MT"/>
              </a:rPr>
              <a:t>not</a:t>
            </a:r>
            <a:r>
              <a:rPr sz="1700" spc="-25" dirty="0">
                <a:latin typeface="Arial MT"/>
                <a:cs typeface="Arial MT"/>
              </a:rPr>
              <a:t> </a:t>
            </a:r>
            <a:r>
              <a:rPr sz="1700" spc="15" dirty="0">
                <a:latin typeface="Arial MT"/>
                <a:cs typeface="Arial MT"/>
              </a:rPr>
              <a:t>visible</a:t>
            </a:r>
            <a:r>
              <a:rPr sz="1700" spc="-150" dirty="0">
                <a:latin typeface="Arial MT"/>
                <a:cs typeface="Arial MT"/>
              </a:rPr>
              <a:t> </a:t>
            </a:r>
            <a:r>
              <a:rPr sz="1700" dirty="0">
                <a:latin typeface="Arial MT"/>
                <a:cs typeface="Arial MT"/>
              </a:rPr>
              <a:t>(that</a:t>
            </a:r>
            <a:r>
              <a:rPr sz="1700" spc="-20" dirty="0">
                <a:latin typeface="Arial MT"/>
                <a:cs typeface="Arial MT"/>
              </a:rPr>
              <a:t> </a:t>
            </a:r>
            <a:r>
              <a:rPr sz="1700" spc="15" dirty="0">
                <a:latin typeface="Arial MT"/>
                <a:cs typeface="Arial MT"/>
              </a:rPr>
              <a:t>is, </a:t>
            </a:r>
            <a:r>
              <a:rPr sz="1700" spc="-459" dirty="0">
                <a:latin typeface="Arial MT"/>
                <a:cs typeface="Arial MT"/>
              </a:rPr>
              <a:t> </a:t>
            </a:r>
            <a:r>
              <a:rPr sz="1700" spc="5" dirty="0">
                <a:latin typeface="Arial MT"/>
                <a:cs typeface="Arial MT"/>
              </a:rPr>
              <a:t>accessible)</a:t>
            </a:r>
            <a:r>
              <a:rPr sz="1700" spc="-130" dirty="0">
                <a:latin typeface="Arial MT"/>
                <a:cs typeface="Arial MT"/>
              </a:rPr>
              <a:t> </a:t>
            </a:r>
            <a:r>
              <a:rPr sz="1700" spc="5" dirty="0">
                <a:latin typeface="Arial MT"/>
                <a:cs typeface="Arial MT"/>
              </a:rPr>
              <a:t>to</a:t>
            </a:r>
            <a:r>
              <a:rPr sz="1700" spc="-30" dirty="0">
                <a:latin typeface="Arial MT"/>
                <a:cs typeface="Arial MT"/>
              </a:rPr>
              <a:t> </a:t>
            </a:r>
            <a:r>
              <a:rPr sz="1700" spc="10" dirty="0">
                <a:latin typeface="Arial MT"/>
                <a:cs typeface="Arial MT"/>
              </a:rPr>
              <a:t>code</a:t>
            </a:r>
            <a:r>
              <a:rPr sz="1700" spc="-70" dirty="0">
                <a:latin typeface="Arial MT"/>
                <a:cs typeface="Arial MT"/>
              </a:rPr>
              <a:t> </a:t>
            </a:r>
            <a:r>
              <a:rPr sz="1700" spc="5" dirty="0">
                <a:latin typeface="Arial MT"/>
                <a:cs typeface="Arial MT"/>
              </a:rPr>
              <a:t>that</a:t>
            </a:r>
            <a:r>
              <a:rPr sz="1700" spc="-30" dirty="0">
                <a:latin typeface="Arial MT"/>
                <a:cs typeface="Arial MT"/>
              </a:rPr>
              <a:t> </a:t>
            </a:r>
            <a:r>
              <a:rPr sz="1700" spc="10" dirty="0">
                <a:latin typeface="Arial MT"/>
                <a:cs typeface="Arial MT"/>
              </a:rPr>
              <a:t>is</a:t>
            </a:r>
            <a:r>
              <a:rPr sz="1700" spc="-15" dirty="0">
                <a:latin typeface="Arial MT"/>
                <a:cs typeface="Arial MT"/>
              </a:rPr>
              <a:t> </a:t>
            </a:r>
            <a:r>
              <a:rPr sz="1700" spc="10" dirty="0">
                <a:latin typeface="Arial MT"/>
                <a:cs typeface="Arial MT"/>
              </a:rPr>
              <a:t>defined</a:t>
            </a:r>
            <a:r>
              <a:rPr sz="1700" spc="-150" dirty="0">
                <a:latin typeface="Arial MT"/>
                <a:cs typeface="Arial MT"/>
              </a:rPr>
              <a:t> </a:t>
            </a:r>
            <a:r>
              <a:rPr sz="1700" spc="10" dirty="0">
                <a:latin typeface="Arial MT"/>
                <a:cs typeface="Arial MT"/>
              </a:rPr>
              <a:t>outside</a:t>
            </a:r>
            <a:r>
              <a:rPr sz="1700" spc="-70" dirty="0">
                <a:latin typeface="Arial MT"/>
                <a:cs typeface="Arial MT"/>
              </a:rPr>
              <a:t> </a:t>
            </a:r>
            <a:r>
              <a:rPr sz="1700" spc="5" dirty="0">
                <a:latin typeface="Arial MT"/>
                <a:cs typeface="Arial MT"/>
              </a:rPr>
              <a:t>that</a:t>
            </a:r>
            <a:r>
              <a:rPr sz="1700" spc="-70" dirty="0">
                <a:latin typeface="Arial MT"/>
                <a:cs typeface="Arial MT"/>
              </a:rPr>
              <a:t> </a:t>
            </a:r>
            <a:r>
              <a:rPr sz="1700" spc="10" dirty="0">
                <a:latin typeface="Arial MT"/>
                <a:cs typeface="Arial MT"/>
              </a:rPr>
              <a:t>scope.</a:t>
            </a:r>
            <a:endParaRPr sz="1700">
              <a:latin typeface="Arial MT"/>
              <a:cs typeface="Arial MT"/>
            </a:endParaRPr>
          </a:p>
          <a:p>
            <a:pPr marL="407670" lvl="1" indent="-152400">
              <a:lnSpc>
                <a:spcPct val="100000"/>
              </a:lnSpc>
              <a:spcBef>
                <a:spcPts val="409"/>
              </a:spcBef>
              <a:buChar char="–"/>
              <a:tabLst>
                <a:tab pos="408305" algn="l"/>
              </a:tabLst>
            </a:pPr>
            <a:r>
              <a:rPr sz="1450" spc="15" dirty="0">
                <a:latin typeface="Arial MT"/>
                <a:cs typeface="Arial MT"/>
              </a:rPr>
              <a:t>Local</a:t>
            </a:r>
            <a:r>
              <a:rPr sz="1450" spc="-5" dirty="0">
                <a:latin typeface="Arial MT"/>
                <a:cs typeface="Arial MT"/>
              </a:rPr>
              <a:t> </a:t>
            </a:r>
            <a:r>
              <a:rPr sz="1450" spc="-10" dirty="0">
                <a:latin typeface="Arial MT"/>
                <a:cs typeface="Arial MT"/>
              </a:rPr>
              <a:t>variable</a:t>
            </a:r>
            <a:endParaRPr sz="1450">
              <a:latin typeface="Arial MT"/>
              <a:cs typeface="Arial MT"/>
            </a:endParaRPr>
          </a:p>
        </p:txBody>
      </p:sp>
      <p:sp>
        <p:nvSpPr>
          <p:cNvPr id="5" name="object 5"/>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64664" y="748186"/>
            <a:ext cx="5534025" cy="3021965"/>
          </a:xfrm>
          <a:prstGeom prst="rect">
            <a:avLst/>
          </a:prstGeom>
        </p:spPr>
        <p:txBody>
          <a:bodyPr vert="horz" wrap="square" lIns="0" tIns="70485" rIns="0" bIns="0" rtlCol="0">
            <a:spAutoFit/>
          </a:bodyPr>
          <a:lstStyle/>
          <a:p>
            <a:pPr marL="194945" indent="-182880">
              <a:lnSpc>
                <a:spcPct val="100000"/>
              </a:lnSpc>
              <a:spcBef>
                <a:spcPts val="555"/>
              </a:spcBef>
              <a:buChar char="•"/>
              <a:tabLst>
                <a:tab pos="195580" algn="l"/>
              </a:tabLst>
            </a:pPr>
            <a:r>
              <a:rPr sz="1700" spc="10" dirty="0">
                <a:latin typeface="Arial MT"/>
                <a:cs typeface="Arial MT"/>
              </a:rPr>
              <a:t>Scopes</a:t>
            </a:r>
            <a:r>
              <a:rPr sz="1700" spc="-114" dirty="0">
                <a:latin typeface="Arial MT"/>
                <a:cs typeface="Arial MT"/>
              </a:rPr>
              <a:t> </a:t>
            </a:r>
            <a:r>
              <a:rPr sz="1700" spc="10" dirty="0">
                <a:latin typeface="Arial MT"/>
                <a:cs typeface="Arial MT"/>
              </a:rPr>
              <a:t>can</a:t>
            </a:r>
            <a:r>
              <a:rPr sz="1700" spc="-85" dirty="0">
                <a:latin typeface="Arial MT"/>
                <a:cs typeface="Arial MT"/>
              </a:rPr>
              <a:t> </a:t>
            </a:r>
            <a:r>
              <a:rPr sz="1700" spc="5" dirty="0">
                <a:latin typeface="Arial MT"/>
                <a:cs typeface="Arial MT"/>
              </a:rPr>
              <a:t>be</a:t>
            </a:r>
            <a:r>
              <a:rPr sz="1700" spc="-15" dirty="0">
                <a:latin typeface="Arial MT"/>
                <a:cs typeface="Arial MT"/>
              </a:rPr>
              <a:t> </a:t>
            </a:r>
            <a:r>
              <a:rPr sz="1700" spc="10" dirty="0">
                <a:latin typeface="Arial MT"/>
                <a:cs typeface="Arial MT"/>
              </a:rPr>
              <a:t>nested.</a:t>
            </a:r>
            <a:endParaRPr sz="1700">
              <a:latin typeface="Arial MT"/>
              <a:cs typeface="Arial MT"/>
            </a:endParaRPr>
          </a:p>
          <a:p>
            <a:pPr marL="407670" marR="5080" lvl="1" indent="-152400">
              <a:lnSpc>
                <a:spcPct val="103299"/>
              </a:lnSpc>
              <a:spcBef>
                <a:spcPts val="350"/>
              </a:spcBef>
              <a:buChar char="–"/>
              <a:tabLst>
                <a:tab pos="408305" algn="l"/>
              </a:tabLst>
            </a:pPr>
            <a:r>
              <a:rPr sz="1450" spc="15" dirty="0">
                <a:latin typeface="Arial MT"/>
                <a:cs typeface="Arial MT"/>
              </a:rPr>
              <a:t>Each</a:t>
            </a:r>
            <a:r>
              <a:rPr sz="1450" spc="10" dirty="0">
                <a:latin typeface="Arial MT"/>
                <a:cs typeface="Arial MT"/>
              </a:rPr>
              <a:t> </a:t>
            </a:r>
            <a:r>
              <a:rPr sz="1450" spc="-5" dirty="0">
                <a:latin typeface="Arial MT"/>
                <a:cs typeface="Arial MT"/>
              </a:rPr>
              <a:t>time</a:t>
            </a:r>
            <a:r>
              <a:rPr sz="1450" spc="90" dirty="0">
                <a:latin typeface="Arial MT"/>
                <a:cs typeface="Arial MT"/>
              </a:rPr>
              <a:t> </a:t>
            </a:r>
            <a:r>
              <a:rPr sz="1450" spc="-5" dirty="0">
                <a:latin typeface="Arial MT"/>
                <a:cs typeface="Arial MT"/>
              </a:rPr>
              <a:t>you</a:t>
            </a:r>
            <a:r>
              <a:rPr sz="1450" spc="85" dirty="0">
                <a:latin typeface="Arial MT"/>
                <a:cs typeface="Arial MT"/>
              </a:rPr>
              <a:t> </a:t>
            </a:r>
            <a:r>
              <a:rPr sz="1450" dirty="0">
                <a:latin typeface="Arial MT"/>
                <a:cs typeface="Arial MT"/>
              </a:rPr>
              <a:t>create</a:t>
            </a:r>
            <a:r>
              <a:rPr sz="1450" spc="90" dirty="0">
                <a:latin typeface="Arial MT"/>
                <a:cs typeface="Arial MT"/>
              </a:rPr>
              <a:t> </a:t>
            </a:r>
            <a:r>
              <a:rPr sz="1450" spc="15" dirty="0">
                <a:latin typeface="Arial MT"/>
                <a:cs typeface="Arial MT"/>
              </a:rPr>
              <a:t>a</a:t>
            </a:r>
            <a:r>
              <a:rPr sz="1450" spc="50" dirty="0">
                <a:latin typeface="Arial MT"/>
                <a:cs typeface="Arial MT"/>
              </a:rPr>
              <a:t> </a:t>
            </a:r>
            <a:r>
              <a:rPr sz="1450" spc="10" dirty="0">
                <a:latin typeface="Arial MT"/>
                <a:cs typeface="Arial MT"/>
              </a:rPr>
              <a:t>block </a:t>
            </a:r>
            <a:r>
              <a:rPr sz="1450" spc="15" dirty="0">
                <a:latin typeface="Arial MT"/>
                <a:cs typeface="Arial MT"/>
              </a:rPr>
              <a:t>of</a:t>
            </a:r>
            <a:r>
              <a:rPr sz="1450" spc="20" dirty="0">
                <a:latin typeface="Arial MT"/>
                <a:cs typeface="Arial MT"/>
              </a:rPr>
              <a:t> </a:t>
            </a:r>
            <a:r>
              <a:rPr sz="1450" spc="15" dirty="0">
                <a:latin typeface="Arial MT"/>
                <a:cs typeface="Arial MT"/>
              </a:rPr>
              <a:t>code,</a:t>
            </a:r>
            <a:r>
              <a:rPr sz="1450" spc="20" dirty="0">
                <a:latin typeface="Arial MT"/>
                <a:cs typeface="Arial MT"/>
              </a:rPr>
              <a:t> we</a:t>
            </a:r>
            <a:r>
              <a:rPr sz="1450" spc="10" dirty="0">
                <a:latin typeface="Arial MT"/>
                <a:cs typeface="Arial MT"/>
              </a:rPr>
              <a:t> </a:t>
            </a:r>
            <a:r>
              <a:rPr sz="1450" dirty="0">
                <a:latin typeface="Arial MT"/>
                <a:cs typeface="Arial MT"/>
              </a:rPr>
              <a:t>are</a:t>
            </a:r>
            <a:r>
              <a:rPr sz="1450" spc="50" dirty="0">
                <a:latin typeface="Arial MT"/>
                <a:cs typeface="Arial MT"/>
              </a:rPr>
              <a:t> </a:t>
            </a:r>
            <a:r>
              <a:rPr sz="1450" spc="-5" dirty="0">
                <a:latin typeface="Arial MT"/>
                <a:cs typeface="Arial MT"/>
              </a:rPr>
              <a:t>creating</a:t>
            </a:r>
            <a:r>
              <a:rPr sz="1450" spc="165" dirty="0">
                <a:latin typeface="Arial MT"/>
                <a:cs typeface="Arial MT"/>
              </a:rPr>
              <a:t> </a:t>
            </a:r>
            <a:r>
              <a:rPr sz="1450" spc="15" dirty="0">
                <a:latin typeface="Arial MT"/>
                <a:cs typeface="Arial MT"/>
              </a:rPr>
              <a:t>a</a:t>
            </a:r>
            <a:r>
              <a:rPr sz="1450" spc="10" dirty="0">
                <a:latin typeface="Arial MT"/>
                <a:cs typeface="Arial MT"/>
              </a:rPr>
              <a:t> new, </a:t>
            </a:r>
            <a:r>
              <a:rPr sz="1450" spc="-385" dirty="0">
                <a:latin typeface="Arial MT"/>
                <a:cs typeface="Arial MT"/>
              </a:rPr>
              <a:t> </a:t>
            </a:r>
            <a:r>
              <a:rPr sz="1450" dirty="0">
                <a:latin typeface="Arial MT"/>
                <a:cs typeface="Arial MT"/>
              </a:rPr>
              <a:t>nested</a:t>
            </a:r>
            <a:r>
              <a:rPr sz="1450" spc="120" dirty="0">
                <a:latin typeface="Arial MT"/>
                <a:cs typeface="Arial MT"/>
              </a:rPr>
              <a:t> </a:t>
            </a:r>
            <a:r>
              <a:rPr sz="1450" spc="10" dirty="0">
                <a:latin typeface="Arial MT"/>
                <a:cs typeface="Arial MT"/>
              </a:rPr>
              <a:t>scope.</a:t>
            </a:r>
            <a:endParaRPr sz="1450">
              <a:latin typeface="Arial MT"/>
              <a:cs typeface="Arial MT"/>
            </a:endParaRPr>
          </a:p>
          <a:p>
            <a:pPr marL="407670" lvl="1" indent="-152400">
              <a:lnSpc>
                <a:spcPct val="100000"/>
              </a:lnSpc>
              <a:spcBef>
                <a:spcPts val="415"/>
              </a:spcBef>
              <a:buChar char="–"/>
              <a:tabLst>
                <a:tab pos="408305" algn="l"/>
              </a:tabLst>
            </a:pPr>
            <a:r>
              <a:rPr sz="1450" spc="20" dirty="0">
                <a:latin typeface="Arial MT"/>
                <a:cs typeface="Arial MT"/>
              </a:rPr>
              <a:t>The</a:t>
            </a:r>
            <a:r>
              <a:rPr sz="1450" spc="5" dirty="0">
                <a:latin typeface="Arial MT"/>
                <a:cs typeface="Arial MT"/>
              </a:rPr>
              <a:t> outer</a:t>
            </a:r>
            <a:r>
              <a:rPr sz="1450" spc="20" dirty="0">
                <a:latin typeface="Arial MT"/>
                <a:cs typeface="Arial MT"/>
              </a:rPr>
              <a:t> </a:t>
            </a:r>
            <a:r>
              <a:rPr sz="1450" spc="15" dirty="0">
                <a:latin typeface="Arial MT"/>
                <a:cs typeface="Arial MT"/>
              </a:rPr>
              <a:t>scope</a:t>
            </a:r>
            <a:r>
              <a:rPr sz="1450" spc="50" dirty="0">
                <a:latin typeface="Arial MT"/>
                <a:cs typeface="Arial MT"/>
              </a:rPr>
              <a:t> </a:t>
            </a:r>
            <a:r>
              <a:rPr sz="1450" dirty="0">
                <a:latin typeface="Arial MT"/>
                <a:cs typeface="Arial MT"/>
              </a:rPr>
              <a:t>encloses</a:t>
            </a:r>
            <a:r>
              <a:rPr sz="1450" spc="130" dirty="0">
                <a:latin typeface="Arial MT"/>
                <a:cs typeface="Arial MT"/>
              </a:rPr>
              <a:t> </a:t>
            </a:r>
            <a:r>
              <a:rPr sz="1450" spc="10" dirty="0">
                <a:latin typeface="Arial MT"/>
                <a:cs typeface="Arial MT"/>
              </a:rPr>
              <a:t>the </a:t>
            </a:r>
            <a:r>
              <a:rPr sz="1450" dirty="0">
                <a:latin typeface="Arial MT"/>
                <a:cs typeface="Arial MT"/>
              </a:rPr>
              <a:t>inner</a:t>
            </a:r>
            <a:r>
              <a:rPr sz="1450" spc="100" dirty="0">
                <a:latin typeface="Arial MT"/>
                <a:cs typeface="Arial MT"/>
              </a:rPr>
              <a:t> </a:t>
            </a:r>
            <a:r>
              <a:rPr sz="1450" spc="10" dirty="0">
                <a:latin typeface="Arial MT"/>
                <a:cs typeface="Arial MT"/>
              </a:rPr>
              <a:t>scope.</a:t>
            </a:r>
            <a:endParaRPr sz="1450">
              <a:latin typeface="Arial MT"/>
              <a:cs typeface="Arial MT"/>
            </a:endParaRPr>
          </a:p>
          <a:p>
            <a:pPr marL="458470" lvl="1" indent="-203200">
              <a:lnSpc>
                <a:spcPct val="100000"/>
              </a:lnSpc>
              <a:spcBef>
                <a:spcPts val="420"/>
              </a:spcBef>
              <a:buChar char="–"/>
              <a:tabLst>
                <a:tab pos="459105" algn="l"/>
              </a:tabLst>
            </a:pPr>
            <a:r>
              <a:rPr sz="1450" spc="5" dirty="0">
                <a:latin typeface="Arial MT"/>
                <a:cs typeface="Arial MT"/>
              </a:rPr>
              <a:t>This</a:t>
            </a:r>
            <a:r>
              <a:rPr sz="1450" spc="50" dirty="0">
                <a:latin typeface="Arial MT"/>
                <a:cs typeface="Arial MT"/>
              </a:rPr>
              <a:t> </a:t>
            </a:r>
            <a:r>
              <a:rPr sz="1450" spc="5" dirty="0">
                <a:latin typeface="Arial MT"/>
                <a:cs typeface="Arial MT"/>
              </a:rPr>
              <a:t>means</a:t>
            </a:r>
            <a:r>
              <a:rPr sz="1450" spc="90" dirty="0">
                <a:latin typeface="Arial MT"/>
                <a:cs typeface="Arial MT"/>
              </a:rPr>
              <a:t> </a:t>
            </a:r>
            <a:r>
              <a:rPr sz="1450" dirty="0">
                <a:latin typeface="Arial MT"/>
                <a:cs typeface="Arial MT"/>
              </a:rPr>
              <a:t>that</a:t>
            </a:r>
            <a:r>
              <a:rPr sz="1450" spc="80" dirty="0">
                <a:latin typeface="Arial MT"/>
                <a:cs typeface="Arial MT"/>
              </a:rPr>
              <a:t> </a:t>
            </a:r>
            <a:r>
              <a:rPr sz="1450" i="1" spc="15" dirty="0">
                <a:latin typeface="Arial"/>
                <a:cs typeface="Arial"/>
              </a:rPr>
              <a:t>objects</a:t>
            </a:r>
            <a:r>
              <a:rPr sz="1450" i="1" spc="-35" dirty="0">
                <a:latin typeface="Arial"/>
                <a:cs typeface="Arial"/>
              </a:rPr>
              <a:t> </a:t>
            </a:r>
            <a:r>
              <a:rPr sz="1450" i="1" spc="15" dirty="0">
                <a:latin typeface="Arial"/>
                <a:cs typeface="Arial"/>
              </a:rPr>
              <a:t>declared</a:t>
            </a:r>
            <a:r>
              <a:rPr sz="1450" i="1" spc="10" dirty="0">
                <a:latin typeface="Arial"/>
                <a:cs typeface="Arial"/>
              </a:rPr>
              <a:t> </a:t>
            </a:r>
            <a:r>
              <a:rPr sz="1450" i="1" spc="5" dirty="0">
                <a:latin typeface="Arial"/>
                <a:cs typeface="Arial"/>
              </a:rPr>
              <a:t>in</a:t>
            </a:r>
            <a:r>
              <a:rPr sz="1450" i="1" spc="45" dirty="0">
                <a:latin typeface="Arial"/>
                <a:cs typeface="Arial"/>
              </a:rPr>
              <a:t> </a:t>
            </a:r>
            <a:r>
              <a:rPr sz="1450" i="1" spc="10" dirty="0">
                <a:latin typeface="Arial"/>
                <a:cs typeface="Arial"/>
              </a:rPr>
              <a:t>the</a:t>
            </a:r>
            <a:r>
              <a:rPr sz="1450" i="1" spc="45" dirty="0">
                <a:latin typeface="Arial"/>
                <a:cs typeface="Arial"/>
              </a:rPr>
              <a:t> </a:t>
            </a:r>
            <a:r>
              <a:rPr sz="1450" b="1" i="1" spc="15" dirty="0">
                <a:solidFill>
                  <a:srgbClr val="FF0000"/>
                </a:solidFill>
                <a:latin typeface="Arial"/>
                <a:cs typeface="Arial"/>
              </a:rPr>
              <a:t>outer </a:t>
            </a:r>
            <a:r>
              <a:rPr sz="1450" b="1" i="1" spc="20" dirty="0">
                <a:solidFill>
                  <a:srgbClr val="FF0000"/>
                </a:solidFill>
                <a:latin typeface="Arial"/>
                <a:cs typeface="Arial"/>
              </a:rPr>
              <a:t>scope</a:t>
            </a:r>
            <a:r>
              <a:rPr sz="1450" b="1" i="1" spc="30" dirty="0">
                <a:solidFill>
                  <a:srgbClr val="FF0000"/>
                </a:solidFill>
                <a:latin typeface="Arial"/>
                <a:cs typeface="Arial"/>
              </a:rPr>
              <a:t> </a:t>
            </a:r>
            <a:r>
              <a:rPr sz="1450" i="1" spc="-5" dirty="0">
                <a:latin typeface="Arial"/>
                <a:cs typeface="Arial"/>
              </a:rPr>
              <a:t>will</a:t>
            </a:r>
            <a:r>
              <a:rPr sz="1450" i="1" spc="65" dirty="0">
                <a:latin typeface="Arial"/>
                <a:cs typeface="Arial"/>
              </a:rPr>
              <a:t> </a:t>
            </a:r>
            <a:r>
              <a:rPr sz="1450" i="1" spc="20" dirty="0">
                <a:latin typeface="Arial"/>
                <a:cs typeface="Arial"/>
              </a:rPr>
              <a:t>be</a:t>
            </a:r>
            <a:endParaRPr sz="1450">
              <a:latin typeface="Arial"/>
              <a:cs typeface="Arial"/>
            </a:endParaRPr>
          </a:p>
          <a:p>
            <a:pPr marL="407670">
              <a:lnSpc>
                <a:spcPct val="100000"/>
              </a:lnSpc>
              <a:spcBef>
                <a:spcPts val="55"/>
              </a:spcBef>
            </a:pPr>
            <a:r>
              <a:rPr sz="1450" b="1" i="1" spc="10" dirty="0">
                <a:latin typeface="Arial"/>
                <a:cs typeface="Arial"/>
              </a:rPr>
              <a:t>visible</a:t>
            </a:r>
            <a:r>
              <a:rPr sz="1450" b="1" i="1" spc="40" dirty="0">
                <a:latin typeface="Arial"/>
                <a:cs typeface="Arial"/>
              </a:rPr>
              <a:t> </a:t>
            </a:r>
            <a:r>
              <a:rPr sz="1450" b="1" i="1" spc="5" dirty="0">
                <a:latin typeface="Arial"/>
                <a:cs typeface="Arial"/>
              </a:rPr>
              <a:t>to </a:t>
            </a:r>
            <a:r>
              <a:rPr sz="1450" b="1" i="1" spc="20" dirty="0">
                <a:latin typeface="Arial"/>
                <a:cs typeface="Arial"/>
              </a:rPr>
              <a:t>code</a:t>
            </a:r>
            <a:r>
              <a:rPr sz="1450" b="1" i="1" spc="5" dirty="0">
                <a:latin typeface="Arial"/>
                <a:cs typeface="Arial"/>
              </a:rPr>
              <a:t> within</a:t>
            </a:r>
            <a:r>
              <a:rPr sz="1450" b="1" i="1" spc="45" dirty="0">
                <a:latin typeface="Arial"/>
                <a:cs typeface="Arial"/>
              </a:rPr>
              <a:t> </a:t>
            </a:r>
            <a:r>
              <a:rPr sz="1450" b="1" i="1" spc="10" dirty="0">
                <a:latin typeface="Arial"/>
                <a:cs typeface="Arial"/>
              </a:rPr>
              <a:t>the</a:t>
            </a:r>
            <a:r>
              <a:rPr sz="1450" b="1" i="1" spc="40" dirty="0">
                <a:latin typeface="Arial"/>
                <a:cs typeface="Arial"/>
              </a:rPr>
              <a:t> </a:t>
            </a:r>
            <a:r>
              <a:rPr sz="1450" b="1" i="1" spc="15" dirty="0">
                <a:latin typeface="Arial"/>
                <a:cs typeface="Arial"/>
              </a:rPr>
              <a:t>inner</a:t>
            </a:r>
            <a:r>
              <a:rPr sz="1450" b="1" i="1" spc="-25" dirty="0">
                <a:latin typeface="Arial"/>
                <a:cs typeface="Arial"/>
              </a:rPr>
              <a:t> </a:t>
            </a:r>
            <a:r>
              <a:rPr sz="1450" b="1" i="1" spc="30" dirty="0">
                <a:latin typeface="Arial"/>
                <a:cs typeface="Arial"/>
              </a:rPr>
              <a:t>scope</a:t>
            </a:r>
            <a:r>
              <a:rPr sz="1450" spc="30" dirty="0">
                <a:latin typeface="Arial MT"/>
                <a:cs typeface="Arial MT"/>
              </a:rPr>
              <a:t>.</a:t>
            </a:r>
            <a:endParaRPr sz="1450">
              <a:latin typeface="Arial MT"/>
              <a:cs typeface="Arial MT"/>
            </a:endParaRPr>
          </a:p>
          <a:p>
            <a:pPr marL="255904">
              <a:lnSpc>
                <a:spcPct val="100000"/>
              </a:lnSpc>
              <a:spcBef>
                <a:spcPts val="380"/>
              </a:spcBef>
            </a:pPr>
            <a:r>
              <a:rPr sz="1450" dirty="0">
                <a:latin typeface="Arial MT"/>
                <a:cs typeface="Arial MT"/>
              </a:rPr>
              <a:t>{//outer</a:t>
            </a:r>
            <a:endParaRPr sz="1450">
              <a:latin typeface="Arial MT"/>
              <a:cs typeface="Arial MT"/>
            </a:endParaRPr>
          </a:p>
          <a:p>
            <a:pPr marL="499109">
              <a:lnSpc>
                <a:spcPct val="100000"/>
              </a:lnSpc>
              <a:spcBef>
                <a:spcPts val="380"/>
              </a:spcBef>
            </a:pPr>
            <a:r>
              <a:rPr sz="1250" b="1" spc="5" dirty="0">
                <a:solidFill>
                  <a:srgbClr val="C00000"/>
                </a:solidFill>
                <a:latin typeface="Arial"/>
                <a:cs typeface="Arial"/>
              </a:rPr>
              <a:t>{//inner</a:t>
            </a:r>
            <a:endParaRPr sz="1250">
              <a:latin typeface="Arial"/>
              <a:cs typeface="Arial"/>
            </a:endParaRPr>
          </a:p>
          <a:p>
            <a:pPr marL="742950">
              <a:lnSpc>
                <a:spcPct val="100000"/>
              </a:lnSpc>
              <a:spcBef>
                <a:spcPts val="254"/>
              </a:spcBef>
            </a:pPr>
            <a:r>
              <a:rPr sz="1050" b="1" spc="10" dirty="0">
                <a:solidFill>
                  <a:srgbClr val="0000CC"/>
                </a:solidFill>
                <a:latin typeface="Arial"/>
                <a:cs typeface="Arial"/>
              </a:rPr>
              <a:t>{//innermost</a:t>
            </a:r>
            <a:endParaRPr sz="1050">
              <a:latin typeface="Arial"/>
              <a:cs typeface="Arial"/>
            </a:endParaRPr>
          </a:p>
          <a:p>
            <a:pPr marL="742950">
              <a:lnSpc>
                <a:spcPct val="100000"/>
              </a:lnSpc>
              <a:spcBef>
                <a:spcPts val="300"/>
              </a:spcBef>
            </a:pPr>
            <a:r>
              <a:rPr sz="1050" b="1" spc="10" dirty="0">
                <a:solidFill>
                  <a:srgbClr val="0000CC"/>
                </a:solidFill>
                <a:latin typeface="Arial"/>
                <a:cs typeface="Arial"/>
              </a:rPr>
              <a:t>}</a:t>
            </a:r>
            <a:endParaRPr sz="1050">
              <a:latin typeface="Arial"/>
              <a:cs typeface="Arial"/>
            </a:endParaRPr>
          </a:p>
          <a:p>
            <a:pPr marL="499109">
              <a:lnSpc>
                <a:spcPct val="100000"/>
              </a:lnSpc>
              <a:spcBef>
                <a:spcPts val="340"/>
              </a:spcBef>
            </a:pPr>
            <a:r>
              <a:rPr sz="1250" b="1" spc="10" dirty="0">
                <a:solidFill>
                  <a:srgbClr val="C00000"/>
                </a:solidFill>
                <a:latin typeface="Arial"/>
                <a:cs typeface="Arial"/>
              </a:rPr>
              <a:t>}</a:t>
            </a:r>
            <a:endParaRPr sz="1250">
              <a:latin typeface="Arial"/>
              <a:cs typeface="Arial"/>
            </a:endParaRPr>
          </a:p>
          <a:p>
            <a:pPr marL="255904">
              <a:lnSpc>
                <a:spcPct val="100000"/>
              </a:lnSpc>
              <a:spcBef>
                <a:spcPts val="380"/>
              </a:spcBef>
            </a:pPr>
            <a:r>
              <a:rPr sz="1450" spc="5" dirty="0">
                <a:latin typeface="Arial MT"/>
                <a:cs typeface="Arial MT"/>
              </a:rPr>
              <a:t>}</a:t>
            </a:r>
            <a:endParaRPr sz="1450">
              <a:latin typeface="Arial MT"/>
              <a:cs typeface="Arial MT"/>
            </a:endParaRPr>
          </a:p>
        </p:txBody>
      </p:sp>
      <p:sp>
        <p:nvSpPr>
          <p:cNvPr id="5" name="object 5"/>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
        <p:nvSpPr>
          <p:cNvPr id="7" name="Title 6">
            <a:extLst>
              <a:ext uri="{FF2B5EF4-FFF2-40B4-BE49-F238E27FC236}">
                <a16:creationId xmlns:a16="http://schemas.microsoft.com/office/drawing/2014/main" id="{2079A997-FFA9-F370-D50A-DCACCD531EBF}"/>
              </a:ext>
            </a:extLst>
          </p:cNvPr>
          <p:cNvSpPr>
            <a:spLocks noGrp="1"/>
          </p:cNvSpPr>
          <p:nvPr>
            <p:ph type="title"/>
          </p:nvPr>
        </p:nvSpPr>
        <p:spPr/>
        <p:txBody>
          <a:bodyPr/>
          <a:lstStyle/>
          <a:p>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4" name="object 4"/>
          <p:cNvSpPr txBox="1"/>
          <p:nvPr/>
        </p:nvSpPr>
        <p:spPr>
          <a:xfrm>
            <a:off x="364664" y="1208221"/>
            <a:ext cx="5438775" cy="2348865"/>
          </a:xfrm>
          <a:prstGeom prst="rect">
            <a:avLst/>
          </a:prstGeom>
        </p:spPr>
        <p:txBody>
          <a:bodyPr vert="horz" wrap="square" lIns="0" tIns="67310" rIns="0" bIns="0" rtlCol="0">
            <a:spAutoFit/>
          </a:bodyPr>
          <a:lstStyle/>
          <a:p>
            <a:pPr marL="12700">
              <a:lnSpc>
                <a:spcPct val="100000"/>
              </a:lnSpc>
              <a:spcBef>
                <a:spcPts val="530"/>
              </a:spcBef>
            </a:pPr>
            <a:r>
              <a:rPr sz="1700" spc="5" dirty="0">
                <a:latin typeface="Arial MT"/>
                <a:cs typeface="Arial MT"/>
              </a:rPr>
              <a:t>//</a:t>
            </a:r>
            <a:r>
              <a:rPr sz="1700" spc="-40" dirty="0">
                <a:latin typeface="Arial MT"/>
                <a:cs typeface="Arial MT"/>
              </a:rPr>
              <a:t> </a:t>
            </a:r>
            <a:r>
              <a:rPr sz="1700" spc="5" dirty="0">
                <a:latin typeface="Arial MT"/>
                <a:cs typeface="Arial MT"/>
              </a:rPr>
              <a:t>This</a:t>
            </a:r>
            <a:r>
              <a:rPr sz="1700" spc="-25" dirty="0">
                <a:latin typeface="Arial MT"/>
                <a:cs typeface="Arial MT"/>
              </a:rPr>
              <a:t> </a:t>
            </a:r>
            <a:r>
              <a:rPr sz="1700" spc="5" dirty="0">
                <a:latin typeface="Arial MT"/>
                <a:cs typeface="Arial MT"/>
              </a:rPr>
              <a:t>fragment</a:t>
            </a:r>
            <a:r>
              <a:rPr sz="1700" spc="-114" dirty="0">
                <a:latin typeface="Arial MT"/>
                <a:cs typeface="Arial MT"/>
              </a:rPr>
              <a:t> </a:t>
            </a:r>
            <a:r>
              <a:rPr sz="1700" spc="10" dirty="0">
                <a:latin typeface="Arial MT"/>
                <a:cs typeface="Arial MT"/>
              </a:rPr>
              <a:t>is</a:t>
            </a:r>
            <a:r>
              <a:rPr sz="1700" spc="-45" dirty="0">
                <a:latin typeface="Arial MT"/>
                <a:cs typeface="Arial MT"/>
              </a:rPr>
              <a:t> </a:t>
            </a:r>
            <a:r>
              <a:rPr sz="1700" spc="-10" dirty="0">
                <a:solidFill>
                  <a:srgbClr val="C00000"/>
                </a:solidFill>
                <a:latin typeface="Arial MT"/>
                <a:cs typeface="Arial MT"/>
              </a:rPr>
              <a:t>wrong</a:t>
            </a:r>
            <a:r>
              <a:rPr sz="1700" spc="-10" dirty="0">
                <a:latin typeface="Arial MT"/>
                <a:cs typeface="Arial MT"/>
              </a:rPr>
              <a:t>!</a:t>
            </a:r>
            <a:endParaRPr sz="1700">
              <a:latin typeface="Arial MT"/>
              <a:cs typeface="Arial MT"/>
            </a:endParaRPr>
          </a:p>
          <a:p>
            <a:pPr marL="12700" marR="38100">
              <a:lnSpc>
                <a:spcPct val="119500"/>
              </a:lnSpc>
              <a:spcBef>
                <a:spcPts val="40"/>
              </a:spcBef>
            </a:pPr>
            <a:r>
              <a:rPr sz="1700" spc="10" dirty="0">
                <a:latin typeface="Arial MT"/>
                <a:cs typeface="Arial MT"/>
              </a:rPr>
              <a:t>count</a:t>
            </a:r>
            <a:r>
              <a:rPr sz="1700" spc="-80" dirty="0">
                <a:latin typeface="Arial MT"/>
                <a:cs typeface="Arial MT"/>
              </a:rPr>
              <a:t> </a:t>
            </a:r>
            <a:r>
              <a:rPr sz="1700" spc="10" dirty="0">
                <a:latin typeface="Arial MT"/>
                <a:cs typeface="Arial MT"/>
              </a:rPr>
              <a:t>=</a:t>
            </a:r>
            <a:r>
              <a:rPr sz="1700" spc="-5" dirty="0">
                <a:latin typeface="Arial MT"/>
                <a:cs typeface="Arial MT"/>
              </a:rPr>
              <a:t> </a:t>
            </a:r>
            <a:r>
              <a:rPr sz="1700" spc="5" dirty="0">
                <a:latin typeface="Arial MT"/>
                <a:cs typeface="Arial MT"/>
              </a:rPr>
              <a:t>100;</a:t>
            </a:r>
            <a:r>
              <a:rPr sz="1700" spc="409" dirty="0">
                <a:latin typeface="Arial MT"/>
                <a:cs typeface="Arial MT"/>
              </a:rPr>
              <a:t> </a:t>
            </a:r>
            <a:r>
              <a:rPr sz="1700" spc="5" dirty="0">
                <a:solidFill>
                  <a:srgbClr val="0000CC"/>
                </a:solidFill>
                <a:latin typeface="Arial MT"/>
                <a:cs typeface="Arial MT"/>
              </a:rPr>
              <a:t>//</a:t>
            </a:r>
            <a:r>
              <a:rPr sz="1700" dirty="0">
                <a:solidFill>
                  <a:srgbClr val="0000CC"/>
                </a:solidFill>
                <a:latin typeface="Arial MT"/>
                <a:cs typeface="Arial MT"/>
              </a:rPr>
              <a:t> </a:t>
            </a:r>
            <a:r>
              <a:rPr sz="1700" spc="10" dirty="0">
                <a:solidFill>
                  <a:srgbClr val="0000CC"/>
                </a:solidFill>
                <a:latin typeface="Arial MT"/>
                <a:cs typeface="Arial MT"/>
              </a:rPr>
              <a:t>cannot</a:t>
            </a:r>
            <a:r>
              <a:rPr sz="1700" spc="-114" dirty="0">
                <a:solidFill>
                  <a:srgbClr val="0000CC"/>
                </a:solidFill>
                <a:latin typeface="Arial MT"/>
                <a:cs typeface="Arial MT"/>
              </a:rPr>
              <a:t> </a:t>
            </a:r>
            <a:r>
              <a:rPr sz="1700" spc="10" dirty="0">
                <a:solidFill>
                  <a:srgbClr val="0000CC"/>
                </a:solidFill>
                <a:latin typeface="Arial MT"/>
                <a:cs typeface="Arial MT"/>
              </a:rPr>
              <a:t>use</a:t>
            </a:r>
            <a:r>
              <a:rPr sz="1700" spc="-35" dirty="0">
                <a:solidFill>
                  <a:srgbClr val="0000CC"/>
                </a:solidFill>
                <a:latin typeface="Arial MT"/>
                <a:cs typeface="Arial MT"/>
              </a:rPr>
              <a:t> </a:t>
            </a:r>
            <a:r>
              <a:rPr sz="1700" spc="10" dirty="0">
                <a:solidFill>
                  <a:srgbClr val="0000CC"/>
                </a:solidFill>
                <a:latin typeface="Arial MT"/>
                <a:cs typeface="Arial MT"/>
              </a:rPr>
              <a:t>variable</a:t>
            </a:r>
            <a:r>
              <a:rPr sz="1700" spc="-114" dirty="0">
                <a:solidFill>
                  <a:srgbClr val="0000CC"/>
                </a:solidFill>
                <a:latin typeface="Arial MT"/>
                <a:cs typeface="Arial MT"/>
              </a:rPr>
              <a:t> </a:t>
            </a:r>
            <a:r>
              <a:rPr sz="1700" spc="10" dirty="0">
                <a:solidFill>
                  <a:srgbClr val="0000CC"/>
                </a:solidFill>
                <a:latin typeface="Arial MT"/>
                <a:cs typeface="Arial MT"/>
              </a:rPr>
              <a:t>before</a:t>
            </a:r>
            <a:r>
              <a:rPr sz="1700" spc="-114" dirty="0">
                <a:solidFill>
                  <a:srgbClr val="0000CC"/>
                </a:solidFill>
                <a:latin typeface="Arial MT"/>
                <a:cs typeface="Arial MT"/>
              </a:rPr>
              <a:t> </a:t>
            </a:r>
            <a:r>
              <a:rPr sz="1700" spc="10" dirty="0">
                <a:solidFill>
                  <a:srgbClr val="0000CC"/>
                </a:solidFill>
                <a:latin typeface="Arial MT"/>
                <a:cs typeface="Arial MT"/>
              </a:rPr>
              <a:t>it</a:t>
            </a:r>
            <a:r>
              <a:rPr sz="1700" dirty="0">
                <a:solidFill>
                  <a:srgbClr val="0000CC"/>
                </a:solidFill>
                <a:latin typeface="Arial MT"/>
                <a:cs typeface="Arial MT"/>
              </a:rPr>
              <a:t> </a:t>
            </a:r>
            <a:r>
              <a:rPr sz="1700" spc="10" dirty="0">
                <a:solidFill>
                  <a:srgbClr val="0000CC"/>
                </a:solidFill>
                <a:latin typeface="Arial MT"/>
                <a:cs typeface="Arial MT"/>
              </a:rPr>
              <a:t>is</a:t>
            </a:r>
            <a:r>
              <a:rPr sz="1700" spc="-60" dirty="0">
                <a:solidFill>
                  <a:srgbClr val="0000CC"/>
                </a:solidFill>
                <a:latin typeface="Arial MT"/>
                <a:cs typeface="Arial MT"/>
              </a:rPr>
              <a:t> </a:t>
            </a:r>
            <a:r>
              <a:rPr sz="1700" spc="5" dirty="0">
                <a:solidFill>
                  <a:srgbClr val="0000CC"/>
                </a:solidFill>
                <a:latin typeface="Arial MT"/>
                <a:cs typeface="Arial MT"/>
              </a:rPr>
              <a:t>declared! </a:t>
            </a:r>
            <a:r>
              <a:rPr sz="1700" spc="-459" dirty="0">
                <a:solidFill>
                  <a:srgbClr val="0000CC"/>
                </a:solidFill>
                <a:latin typeface="Arial MT"/>
                <a:cs typeface="Arial MT"/>
              </a:rPr>
              <a:t> </a:t>
            </a:r>
            <a:r>
              <a:rPr sz="1700" spc="5" dirty="0">
                <a:latin typeface="Arial MT"/>
                <a:cs typeface="Arial MT"/>
              </a:rPr>
              <a:t>int</a:t>
            </a:r>
            <a:r>
              <a:rPr sz="1700" spc="-35" dirty="0">
                <a:latin typeface="Arial MT"/>
                <a:cs typeface="Arial MT"/>
              </a:rPr>
              <a:t> </a:t>
            </a:r>
            <a:r>
              <a:rPr sz="1700" spc="5" dirty="0">
                <a:latin typeface="Arial MT"/>
                <a:cs typeface="Arial MT"/>
              </a:rPr>
              <a:t>count;</a:t>
            </a:r>
            <a:endParaRPr sz="1700">
              <a:latin typeface="Arial MT"/>
              <a:cs typeface="Arial MT"/>
            </a:endParaRPr>
          </a:p>
          <a:p>
            <a:pPr>
              <a:lnSpc>
                <a:spcPct val="100000"/>
              </a:lnSpc>
            </a:pPr>
            <a:endParaRPr sz="2500">
              <a:latin typeface="Arial MT"/>
              <a:cs typeface="Arial MT"/>
            </a:endParaRPr>
          </a:p>
          <a:p>
            <a:pPr marL="194945" marR="5080" indent="-182880">
              <a:lnSpc>
                <a:spcPct val="100000"/>
              </a:lnSpc>
              <a:buChar char="•"/>
              <a:tabLst>
                <a:tab pos="195580" algn="l"/>
              </a:tabLst>
            </a:pPr>
            <a:r>
              <a:rPr sz="1700" spc="5" dirty="0">
                <a:latin typeface="Arial MT"/>
                <a:cs typeface="Arial MT"/>
              </a:rPr>
              <a:t>Variables</a:t>
            </a:r>
            <a:r>
              <a:rPr sz="1700" spc="-135" dirty="0">
                <a:latin typeface="Arial MT"/>
                <a:cs typeface="Arial MT"/>
              </a:rPr>
              <a:t> </a:t>
            </a:r>
            <a:r>
              <a:rPr sz="1700" dirty="0">
                <a:latin typeface="Arial MT"/>
                <a:cs typeface="Arial MT"/>
              </a:rPr>
              <a:t>are</a:t>
            </a:r>
            <a:r>
              <a:rPr sz="1700" spc="5" dirty="0">
                <a:latin typeface="Arial MT"/>
                <a:cs typeface="Arial MT"/>
              </a:rPr>
              <a:t> created</a:t>
            </a:r>
            <a:r>
              <a:rPr sz="1700" spc="-65" dirty="0">
                <a:latin typeface="Arial MT"/>
                <a:cs typeface="Arial MT"/>
              </a:rPr>
              <a:t> </a:t>
            </a:r>
            <a:r>
              <a:rPr sz="1700" spc="-15" dirty="0">
                <a:latin typeface="Arial MT"/>
                <a:cs typeface="Arial MT"/>
              </a:rPr>
              <a:t>when</a:t>
            </a:r>
            <a:r>
              <a:rPr sz="1700" spc="10" dirty="0">
                <a:latin typeface="Arial MT"/>
                <a:cs typeface="Arial MT"/>
              </a:rPr>
              <a:t> their</a:t>
            </a:r>
            <a:r>
              <a:rPr sz="1700" spc="-50" dirty="0">
                <a:latin typeface="Arial MT"/>
                <a:cs typeface="Arial MT"/>
              </a:rPr>
              <a:t> </a:t>
            </a:r>
            <a:r>
              <a:rPr sz="1700" spc="10" dirty="0">
                <a:latin typeface="Arial MT"/>
                <a:cs typeface="Arial MT"/>
              </a:rPr>
              <a:t>scope</a:t>
            </a:r>
            <a:r>
              <a:rPr sz="1700" spc="-105" dirty="0">
                <a:latin typeface="Arial MT"/>
                <a:cs typeface="Arial MT"/>
              </a:rPr>
              <a:t> </a:t>
            </a:r>
            <a:r>
              <a:rPr sz="1700" spc="10" dirty="0">
                <a:latin typeface="Arial MT"/>
                <a:cs typeface="Arial MT"/>
              </a:rPr>
              <a:t>is</a:t>
            </a:r>
            <a:r>
              <a:rPr sz="1700" spc="-15" dirty="0">
                <a:latin typeface="Arial MT"/>
                <a:cs typeface="Arial MT"/>
              </a:rPr>
              <a:t> </a:t>
            </a:r>
            <a:r>
              <a:rPr sz="1700" dirty="0">
                <a:latin typeface="Arial MT"/>
                <a:cs typeface="Arial MT"/>
              </a:rPr>
              <a:t>entered,</a:t>
            </a:r>
            <a:r>
              <a:rPr sz="1700" spc="-65" dirty="0">
                <a:latin typeface="Arial MT"/>
                <a:cs typeface="Arial MT"/>
              </a:rPr>
              <a:t> </a:t>
            </a:r>
            <a:r>
              <a:rPr sz="1700" spc="5" dirty="0">
                <a:latin typeface="Arial MT"/>
                <a:cs typeface="Arial MT"/>
              </a:rPr>
              <a:t>and </a:t>
            </a:r>
            <a:r>
              <a:rPr sz="1700" spc="-459" dirty="0">
                <a:latin typeface="Arial MT"/>
                <a:cs typeface="Arial MT"/>
              </a:rPr>
              <a:t> </a:t>
            </a:r>
            <a:r>
              <a:rPr sz="1700" spc="5" dirty="0">
                <a:latin typeface="Arial MT"/>
                <a:cs typeface="Arial MT"/>
              </a:rPr>
              <a:t>destroyed</a:t>
            </a:r>
            <a:r>
              <a:rPr sz="1700" spc="-75" dirty="0">
                <a:latin typeface="Arial MT"/>
                <a:cs typeface="Arial MT"/>
              </a:rPr>
              <a:t> </a:t>
            </a:r>
            <a:r>
              <a:rPr sz="1700" spc="-15" dirty="0">
                <a:latin typeface="Arial MT"/>
                <a:cs typeface="Arial MT"/>
              </a:rPr>
              <a:t>when</a:t>
            </a:r>
            <a:r>
              <a:rPr sz="1700" spc="5" dirty="0">
                <a:latin typeface="Arial MT"/>
                <a:cs typeface="Arial MT"/>
              </a:rPr>
              <a:t> </a:t>
            </a:r>
            <a:r>
              <a:rPr sz="1700" spc="10" dirty="0">
                <a:latin typeface="Arial MT"/>
                <a:cs typeface="Arial MT"/>
              </a:rPr>
              <a:t>their</a:t>
            </a:r>
            <a:r>
              <a:rPr sz="1700" spc="-55" dirty="0">
                <a:latin typeface="Arial MT"/>
                <a:cs typeface="Arial MT"/>
              </a:rPr>
              <a:t> </a:t>
            </a:r>
            <a:r>
              <a:rPr sz="1700" spc="10" dirty="0">
                <a:latin typeface="Arial MT"/>
                <a:cs typeface="Arial MT"/>
              </a:rPr>
              <a:t>scope</a:t>
            </a:r>
            <a:r>
              <a:rPr sz="1700" spc="-70" dirty="0">
                <a:latin typeface="Arial MT"/>
                <a:cs typeface="Arial MT"/>
              </a:rPr>
              <a:t> </a:t>
            </a:r>
            <a:r>
              <a:rPr sz="1700" spc="10" dirty="0">
                <a:latin typeface="Arial MT"/>
                <a:cs typeface="Arial MT"/>
              </a:rPr>
              <a:t>is</a:t>
            </a:r>
            <a:r>
              <a:rPr sz="1700" spc="-60" dirty="0">
                <a:latin typeface="Arial MT"/>
                <a:cs typeface="Arial MT"/>
              </a:rPr>
              <a:t> </a:t>
            </a:r>
            <a:r>
              <a:rPr sz="1700" spc="15" dirty="0">
                <a:latin typeface="Arial MT"/>
                <a:cs typeface="Arial MT"/>
              </a:rPr>
              <a:t>left.</a:t>
            </a:r>
            <a:endParaRPr sz="1700">
              <a:latin typeface="Arial MT"/>
              <a:cs typeface="Arial MT"/>
            </a:endParaRPr>
          </a:p>
          <a:p>
            <a:pPr marL="407670" marR="48895" indent="-152400">
              <a:lnSpc>
                <a:spcPct val="103400"/>
              </a:lnSpc>
              <a:spcBef>
                <a:spcPts val="350"/>
              </a:spcBef>
            </a:pPr>
            <a:r>
              <a:rPr sz="1450" spc="15" dirty="0">
                <a:latin typeface="Arial MT"/>
                <a:cs typeface="Arial MT"/>
              </a:rPr>
              <a:t>– </a:t>
            </a:r>
            <a:r>
              <a:rPr sz="1450" spc="5" dirty="0">
                <a:latin typeface="Arial MT"/>
                <a:cs typeface="Arial MT"/>
              </a:rPr>
              <a:t>This means </a:t>
            </a:r>
            <a:r>
              <a:rPr sz="1450" dirty="0">
                <a:latin typeface="Arial MT"/>
                <a:cs typeface="Arial MT"/>
              </a:rPr>
              <a:t>that </a:t>
            </a:r>
            <a:r>
              <a:rPr sz="1450" spc="15" dirty="0">
                <a:latin typeface="Arial MT"/>
                <a:cs typeface="Arial MT"/>
              </a:rPr>
              <a:t>a </a:t>
            </a:r>
            <a:r>
              <a:rPr sz="1450" spc="-5" dirty="0">
                <a:latin typeface="Arial MT"/>
                <a:cs typeface="Arial MT"/>
              </a:rPr>
              <a:t>variable</a:t>
            </a:r>
            <a:r>
              <a:rPr sz="1450" dirty="0">
                <a:latin typeface="Arial MT"/>
                <a:cs typeface="Arial MT"/>
              </a:rPr>
              <a:t> </a:t>
            </a:r>
            <a:r>
              <a:rPr sz="1450" spc="-15" dirty="0">
                <a:latin typeface="Arial MT"/>
                <a:cs typeface="Arial MT"/>
              </a:rPr>
              <a:t>will </a:t>
            </a:r>
            <a:r>
              <a:rPr sz="1450" spc="15" dirty="0">
                <a:latin typeface="Arial MT"/>
                <a:cs typeface="Arial MT"/>
              </a:rPr>
              <a:t>not </a:t>
            </a:r>
            <a:r>
              <a:rPr sz="1450" spc="5" dirty="0">
                <a:latin typeface="Arial MT"/>
                <a:cs typeface="Arial MT"/>
              </a:rPr>
              <a:t>hold </a:t>
            </a:r>
            <a:r>
              <a:rPr sz="1450" spc="-15" dirty="0">
                <a:latin typeface="Arial MT"/>
                <a:cs typeface="Arial MT"/>
              </a:rPr>
              <a:t>its value</a:t>
            </a:r>
            <a:r>
              <a:rPr sz="1450" spc="-10" dirty="0">
                <a:latin typeface="Arial MT"/>
                <a:cs typeface="Arial MT"/>
              </a:rPr>
              <a:t> </a:t>
            </a:r>
            <a:r>
              <a:rPr sz="1450" spc="20" dirty="0">
                <a:latin typeface="Arial MT"/>
                <a:cs typeface="Arial MT"/>
              </a:rPr>
              <a:t>once </a:t>
            </a:r>
            <a:r>
              <a:rPr sz="1450" spc="-20" dirty="0">
                <a:latin typeface="Arial MT"/>
                <a:cs typeface="Arial MT"/>
              </a:rPr>
              <a:t>it </a:t>
            </a:r>
            <a:r>
              <a:rPr sz="1450" spc="10" dirty="0">
                <a:latin typeface="Arial MT"/>
                <a:cs typeface="Arial MT"/>
              </a:rPr>
              <a:t>has </a:t>
            </a:r>
            <a:r>
              <a:rPr sz="1450" spc="-390" dirty="0">
                <a:latin typeface="Arial MT"/>
                <a:cs typeface="Arial MT"/>
              </a:rPr>
              <a:t> </a:t>
            </a:r>
            <a:r>
              <a:rPr sz="1450" spc="20" dirty="0">
                <a:latin typeface="Arial MT"/>
                <a:cs typeface="Arial MT"/>
              </a:rPr>
              <a:t>gone</a:t>
            </a:r>
            <a:r>
              <a:rPr sz="1450" spc="5" dirty="0">
                <a:latin typeface="Arial MT"/>
                <a:cs typeface="Arial MT"/>
              </a:rPr>
              <a:t> </a:t>
            </a:r>
            <a:r>
              <a:rPr sz="1450" spc="15" dirty="0">
                <a:latin typeface="Arial MT"/>
                <a:cs typeface="Arial MT"/>
              </a:rPr>
              <a:t>out</a:t>
            </a:r>
            <a:r>
              <a:rPr sz="1450" spc="-20" dirty="0">
                <a:latin typeface="Arial MT"/>
                <a:cs typeface="Arial MT"/>
              </a:rPr>
              <a:t> </a:t>
            </a:r>
            <a:r>
              <a:rPr sz="1450" spc="15" dirty="0">
                <a:latin typeface="Arial MT"/>
                <a:cs typeface="Arial MT"/>
              </a:rPr>
              <a:t>of</a:t>
            </a:r>
            <a:r>
              <a:rPr sz="1450" spc="-20" dirty="0">
                <a:latin typeface="Arial MT"/>
                <a:cs typeface="Arial MT"/>
              </a:rPr>
              <a:t> </a:t>
            </a:r>
            <a:r>
              <a:rPr sz="1450" spc="10" dirty="0">
                <a:latin typeface="Arial MT"/>
                <a:cs typeface="Arial MT"/>
              </a:rPr>
              <a:t>scope.</a:t>
            </a:r>
            <a:endParaRPr sz="1450">
              <a:latin typeface="Arial MT"/>
              <a:cs typeface="Arial MT"/>
            </a:endParaRPr>
          </a:p>
        </p:txBody>
      </p:sp>
      <p:sp>
        <p:nvSpPr>
          <p:cNvPr id="6" name="object 6"/>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
        <p:nvSpPr>
          <p:cNvPr id="8" name="Title 7">
            <a:extLst>
              <a:ext uri="{FF2B5EF4-FFF2-40B4-BE49-F238E27FC236}">
                <a16:creationId xmlns:a16="http://schemas.microsoft.com/office/drawing/2014/main" id="{11DB62DC-6BDF-D23F-7BE2-E0CA7CE54559}"/>
              </a:ext>
            </a:extLst>
          </p:cNvPr>
          <p:cNvSpPr>
            <a:spLocks noGrp="1"/>
          </p:cNvSpPr>
          <p:nvPr>
            <p:ph type="title"/>
          </p:nvPr>
        </p:nvSpPr>
        <p:spPr/>
        <p:txBody>
          <a:bodyPr/>
          <a:lstStyle/>
          <a:p>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176167"/>
            <a:ext cx="6487240" cy="684201"/>
          </a:xfrm>
          <a:prstGeom prst="rect">
            <a:avLst/>
          </a:prstGeom>
        </p:spPr>
      </p:pic>
      <p:sp>
        <p:nvSpPr>
          <p:cNvPr id="3" name="object 3"/>
          <p:cNvSpPr txBox="1"/>
          <p:nvPr/>
        </p:nvSpPr>
        <p:spPr>
          <a:xfrm>
            <a:off x="379026" y="722482"/>
            <a:ext cx="5603240" cy="2656205"/>
          </a:xfrm>
          <a:prstGeom prst="rect">
            <a:avLst/>
          </a:prstGeom>
        </p:spPr>
        <p:txBody>
          <a:bodyPr vert="horz" wrap="square" lIns="0" tIns="9525" rIns="0" bIns="0" rtlCol="0">
            <a:spAutoFit/>
          </a:bodyPr>
          <a:lstStyle/>
          <a:p>
            <a:pPr marL="194945" marR="5080" indent="-182880">
              <a:lnSpc>
                <a:spcPct val="101899"/>
              </a:lnSpc>
              <a:spcBef>
                <a:spcPts val="75"/>
              </a:spcBef>
              <a:buChar char="•"/>
              <a:tabLst>
                <a:tab pos="195580" algn="l"/>
              </a:tabLst>
            </a:pPr>
            <a:r>
              <a:rPr sz="1700" spc="5" dirty="0">
                <a:latin typeface="Arial MT"/>
                <a:cs typeface="Arial MT"/>
              </a:rPr>
              <a:t>Variable</a:t>
            </a:r>
            <a:r>
              <a:rPr sz="1700" spc="-110" dirty="0">
                <a:latin typeface="Arial MT"/>
                <a:cs typeface="Arial MT"/>
              </a:rPr>
              <a:t> </a:t>
            </a:r>
            <a:r>
              <a:rPr sz="1700" spc="10" dirty="0">
                <a:latin typeface="Arial MT"/>
                <a:cs typeface="Arial MT"/>
              </a:rPr>
              <a:t>can</a:t>
            </a:r>
            <a:r>
              <a:rPr sz="1700" spc="-25" dirty="0">
                <a:latin typeface="Arial MT"/>
                <a:cs typeface="Arial MT"/>
              </a:rPr>
              <a:t> </a:t>
            </a:r>
            <a:r>
              <a:rPr sz="1700" spc="5" dirty="0">
                <a:latin typeface="Arial MT"/>
                <a:cs typeface="Arial MT"/>
              </a:rPr>
              <a:t>be</a:t>
            </a:r>
            <a:r>
              <a:rPr sz="1700" spc="-25" dirty="0">
                <a:latin typeface="Arial MT"/>
                <a:cs typeface="Arial MT"/>
              </a:rPr>
              <a:t> </a:t>
            </a:r>
            <a:r>
              <a:rPr sz="1700" dirty="0">
                <a:latin typeface="Arial MT"/>
                <a:cs typeface="Arial MT"/>
              </a:rPr>
              <a:t>reinitialized</a:t>
            </a:r>
            <a:r>
              <a:rPr sz="1700" spc="-105" dirty="0">
                <a:latin typeface="Arial MT"/>
                <a:cs typeface="Arial MT"/>
              </a:rPr>
              <a:t> </a:t>
            </a:r>
            <a:r>
              <a:rPr sz="1700" spc="10" dirty="0">
                <a:latin typeface="Arial MT"/>
                <a:cs typeface="Arial MT"/>
              </a:rPr>
              <a:t>each</a:t>
            </a:r>
            <a:r>
              <a:rPr sz="1700" spc="-65" dirty="0">
                <a:latin typeface="Arial MT"/>
                <a:cs typeface="Arial MT"/>
              </a:rPr>
              <a:t> </a:t>
            </a:r>
            <a:r>
              <a:rPr sz="1700" spc="10" dirty="0">
                <a:latin typeface="Arial MT"/>
                <a:cs typeface="Arial MT"/>
              </a:rPr>
              <a:t>time</a:t>
            </a:r>
            <a:r>
              <a:rPr sz="1700" spc="-65" dirty="0">
                <a:latin typeface="Arial MT"/>
                <a:cs typeface="Arial MT"/>
              </a:rPr>
              <a:t> </a:t>
            </a:r>
            <a:r>
              <a:rPr sz="1700" spc="10" dirty="0">
                <a:latin typeface="Arial MT"/>
                <a:cs typeface="Arial MT"/>
              </a:rPr>
              <a:t>it</a:t>
            </a:r>
            <a:r>
              <a:rPr sz="1700" spc="-25" dirty="0">
                <a:latin typeface="Arial MT"/>
                <a:cs typeface="Arial MT"/>
              </a:rPr>
              <a:t> </a:t>
            </a:r>
            <a:r>
              <a:rPr sz="1700" spc="5" dirty="0">
                <a:latin typeface="Arial MT"/>
                <a:cs typeface="Arial MT"/>
              </a:rPr>
              <a:t>enters</a:t>
            </a:r>
            <a:r>
              <a:rPr sz="1700" spc="-10" dirty="0">
                <a:latin typeface="Arial MT"/>
                <a:cs typeface="Arial MT"/>
              </a:rPr>
              <a:t> </a:t>
            </a:r>
            <a:r>
              <a:rPr sz="1700" spc="5" dirty="0">
                <a:latin typeface="Arial MT"/>
                <a:cs typeface="Arial MT"/>
              </a:rPr>
              <a:t>the</a:t>
            </a:r>
            <a:r>
              <a:rPr sz="1700" spc="-20" dirty="0">
                <a:latin typeface="Arial MT"/>
                <a:cs typeface="Arial MT"/>
              </a:rPr>
              <a:t> </a:t>
            </a:r>
            <a:r>
              <a:rPr sz="1700" spc="10" dirty="0">
                <a:latin typeface="Arial MT"/>
                <a:cs typeface="Arial MT"/>
              </a:rPr>
              <a:t>block </a:t>
            </a:r>
            <a:r>
              <a:rPr sz="1700" spc="-459" dirty="0">
                <a:latin typeface="Arial MT"/>
                <a:cs typeface="Arial MT"/>
              </a:rPr>
              <a:t> </a:t>
            </a:r>
            <a:r>
              <a:rPr sz="1700" spc="10" dirty="0">
                <a:latin typeface="Arial MT"/>
                <a:cs typeface="Arial MT"/>
              </a:rPr>
              <a:t>in</a:t>
            </a:r>
            <a:r>
              <a:rPr sz="1700" spc="-35" dirty="0">
                <a:latin typeface="Arial MT"/>
                <a:cs typeface="Arial MT"/>
              </a:rPr>
              <a:t> </a:t>
            </a:r>
            <a:r>
              <a:rPr sz="1700" spc="-5" dirty="0">
                <a:latin typeface="Arial MT"/>
                <a:cs typeface="Arial MT"/>
              </a:rPr>
              <a:t>which</a:t>
            </a:r>
            <a:r>
              <a:rPr sz="1700" dirty="0">
                <a:latin typeface="Arial MT"/>
                <a:cs typeface="Arial MT"/>
              </a:rPr>
              <a:t> </a:t>
            </a:r>
            <a:r>
              <a:rPr sz="1700" spc="10" dirty="0">
                <a:latin typeface="Arial MT"/>
                <a:cs typeface="Arial MT"/>
              </a:rPr>
              <a:t>it</a:t>
            </a:r>
            <a:r>
              <a:rPr sz="1700" spc="-30" dirty="0">
                <a:latin typeface="Arial MT"/>
                <a:cs typeface="Arial MT"/>
              </a:rPr>
              <a:t> </a:t>
            </a:r>
            <a:r>
              <a:rPr sz="1700" spc="10" dirty="0">
                <a:latin typeface="Arial MT"/>
                <a:cs typeface="Arial MT"/>
              </a:rPr>
              <a:t>is</a:t>
            </a:r>
            <a:r>
              <a:rPr sz="1700" spc="-20" dirty="0">
                <a:latin typeface="Arial MT"/>
                <a:cs typeface="Arial MT"/>
              </a:rPr>
              <a:t> </a:t>
            </a:r>
            <a:r>
              <a:rPr sz="1700" spc="5" dirty="0">
                <a:latin typeface="Arial MT"/>
                <a:cs typeface="Arial MT"/>
              </a:rPr>
              <a:t>declared</a:t>
            </a:r>
            <a:endParaRPr sz="1700">
              <a:latin typeface="Arial MT"/>
              <a:cs typeface="Arial MT"/>
            </a:endParaRPr>
          </a:p>
          <a:p>
            <a:pPr marL="12700">
              <a:lnSpc>
                <a:spcPct val="100000"/>
              </a:lnSpc>
              <a:spcBef>
                <a:spcPts val="330"/>
              </a:spcBef>
            </a:pPr>
            <a:r>
              <a:rPr sz="1250" dirty="0">
                <a:latin typeface="Arial MT"/>
                <a:cs typeface="Arial MT"/>
              </a:rPr>
              <a:t>class</a:t>
            </a:r>
            <a:r>
              <a:rPr sz="1250" spc="20" dirty="0">
                <a:latin typeface="Arial MT"/>
                <a:cs typeface="Arial MT"/>
              </a:rPr>
              <a:t> </a:t>
            </a:r>
            <a:r>
              <a:rPr sz="1250" spc="10" dirty="0">
                <a:latin typeface="Arial MT"/>
                <a:cs typeface="Arial MT"/>
              </a:rPr>
              <a:t>LifeTime</a:t>
            </a:r>
            <a:r>
              <a:rPr sz="1250" spc="-40" dirty="0">
                <a:latin typeface="Arial MT"/>
                <a:cs typeface="Arial MT"/>
              </a:rPr>
              <a:t> </a:t>
            </a:r>
            <a:r>
              <a:rPr sz="1250" spc="5" dirty="0">
                <a:latin typeface="Arial MT"/>
                <a:cs typeface="Arial MT"/>
              </a:rPr>
              <a:t>{</a:t>
            </a:r>
            <a:endParaRPr sz="1250">
              <a:latin typeface="Arial MT"/>
              <a:cs typeface="Arial MT"/>
            </a:endParaRPr>
          </a:p>
          <a:p>
            <a:pPr marL="499109" marR="2670810" indent="-243840">
              <a:lnSpc>
                <a:spcPct val="122600"/>
              </a:lnSpc>
            </a:pPr>
            <a:r>
              <a:rPr sz="1250" spc="-5" dirty="0">
                <a:latin typeface="Arial MT"/>
                <a:cs typeface="Arial MT"/>
              </a:rPr>
              <a:t>public</a:t>
            </a:r>
            <a:r>
              <a:rPr sz="1250" spc="85" dirty="0">
                <a:latin typeface="Arial MT"/>
                <a:cs typeface="Arial MT"/>
              </a:rPr>
              <a:t> </a:t>
            </a:r>
            <a:r>
              <a:rPr sz="1250" spc="5" dirty="0">
                <a:latin typeface="Arial MT"/>
                <a:cs typeface="Arial MT"/>
              </a:rPr>
              <a:t>static </a:t>
            </a:r>
            <a:r>
              <a:rPr sz="1250" spc="-10" dirty="0">
                <a:latin typeface="Arial MT"/>
                <a:cs typeface="Arial MT"/>
              </a:rPr>
              <a:t>void</a:t>
            </a:r>
            <a:r>
              <a:rPr sz="1250" spc="95" dirty="0">
                <a:latin typeface="Arial MT"/>
                <a:cs typeface="Arial MT"/>
              </a:rPr>
              <a:t> </a:t>
            </a:r>
            <a:r>
              <a:rPr sz="1250" spc="10" dirty="0">
                <a:latin typeface="Arial MT"/>
                <a:cs typeface="Arial MT"/>
              </a:rPr>
              <a:t>main(String</a:t>
            </a:r>
            <a:r>
              <a:rPr sz="1250" spc="-25" dirty="0">
                <a:latin typeface="Arial MT"/>
                <a:cs typeface="Arial MT"/>
              </a:rPr>
              <a:t> </a:t>
            </a:r>
            <a:r>
              <a:rPr sz="1250" dirty="0">
                <a:latin typeface="Arial MT"/>
                <a:cs typeface="Arial MT"/>
              </a:rPr>
              <a:t>args[])</a:t>
            </a:r>
            <a:r>
              <a:rPr sz="1250" spc="60" dirty="0">
                <a:latin typeface="Arial MT"/>
                <a:cs typeface="Arial MT"/>
              </a:rPr>
              <a:t> </a:t>
            </a:r>
            <a:r>
              <a:rPr sz="1250" spc="5" dirty="0">
                <a:latin typeface="Arial MT"/>
                <a:cs typeface="Arial MT"/>
              </a:rPr>
              <a:t>{ </a:t>
            </a:r>
            <a:r>
              <a:rPr sz="1250" spc="-330" dirty="0">
                <a:latin typeface="Arial MT"/>
                <a:cs typeface="Arial MT"/>
              </a:rPr>
              <a:t> </a:t>
            </a:r>
            <a:r>
              <a:rPr sz="1250" spc="10" dirty="0">
                <a:latin typeface="Arial MT"/>
                <a:cs typeface="Arial MT"/>
              </a:rPr>
              <a:t>int</a:t>
            </a:r>
            <a:r>
              <a:rPr sz="1250" spc="5" dirty="0">
                <a:latin typeface="Arial MT"/>
                <a:cs typeface="Arial MT"/>
              </a:rPr>
              <a:t> </a:t>
            </a:r>
            <a:r>
              <a:rPr sz="1250" spc="-35" dirty="0">
                <a:latin typeface="Arial MT"/>
                <a:cs typeface="Arial MT"/>
              </a:rPr>
              <a:t>x;</a:t>
            </a:r>
            <a:endParaRPr sz="1250">
              <a:latin typeface="Arial MT"/>
              <a:cs typeface="Arial MT"/>
            </a:endParaRPr>
          </a:p>
          <a:p>
            <a:pPr marL="499109">
              <a:lnSpc>
                <a:spcPct val="100000"/>
              </a:lnSpc>
              <a:spcBef>
                <a:spcPts val="340"/>
              </a:spcBef>
            </a:pPr>
            <a:r>
              <a:rPr sz="1250" spc="15" dirty="0">
                <a:latin typeface="Arial MT"/>
                <a:cs typeface="Arial MT"/>
              </a:rPr>
              <a:t>for(x</a:t>
            </a:r>
            <a:r>
              <a:rPr sz="1250" spc="-45" dirty="0">
                <a:latin typeface="Arial MT"/>
                <a:cs typeface="Arial MT"/>
              </a:rPr>
              <a:t> </a:t>
            </a:r>
            <a:r>
              <a:rPr sz="1250" spc="15" dirty="0">
                <a:latin typeface="Arial MT"/>
                <a:cs typeface="Arial MT"/>
              </a:rPr>
              <a:t>=</a:t>
            </a:r>
            <a:r>
              <a:rPr sz="1250" spc="-25" dirty="0">
                <a:latin typeface="Arial MT"/>
                <a:cs typeface="Arial MT"/>
              </a:rPr>
              <a:t> </a:t>
            </a:r>
            <a:r>
              <a:rPr sz="1250" spc="10" dirty="0">
                <a:latin typeface="Arial MT"/>
                <a:cs typeface="Arial MT"/>
              </a:rPr>
              <a:t>0;</a:t>
            </a:r>
            <a:r>
              <a:rPr sz="1250" dirty="0">
                <a:latin typeface="Arial MT"/>
                <a:cs typeface="Arial MT"/>
              </a:rPr>
              <a:t> </a:t>
            </a:r>
            <a:r>
              <a:rPr sz="1250" spc="10" dirty="0">
                <a:latin typeface="Arial MT"/>
                <a:cs typeface="Arial MT"/>
              </a:rPr>
              <a:t>x</a:t>
            </a:r>
            <a:r>
              <a:rPr sz="1250" spc="-5" dirty="0">
                <a:latin typeface="Arial MT"/>
                <a:cs typeface="Arial MT"/>
              </a:rPr>
              <a:t> </a:t>
            </a:r>
            <a:r>
              <a:rPr sz="1250" spc="15" dirty="0">
                <a:latin typeface="Arial MT"/>
                <a:cs typeface="Arial MT"/>
              </a:rPr>
              <a:t>&lt;</a:t>
            </a:r>
            <a:r>
              <a:rPr sz="1250" spc="-25" dirty="0">
                <a:latin typeface="Arial MT"/>
                <a:cs typeface="Arial MT"/>
              </a:rPr>
              <a:t> </a:t>
            </a:r>
            <a:r>
              <a:rPr sz="1250" spc="10" dirty="0">
                <a:latin typeface="Arial MT"/>
                <a:cs typeface="Arial MT"/>
              </a:rPr>
              <a:t>2;</a:t>
            </a:r>
            <a:r>
              <a:rPr sz="1250" dirty="0">
                <a:latin typeface="Arial MT"/>
                <a:cs typeface="Arial MT"/>
              </a:rPr>
              <a:t> </a:t>
            </a:r>
            <a:r>
              <a:rPr sz="1250" spc="-5" dirty="0">
                <a:latin typeface="Arial MT"/>
                <a:cs typeface="Arial MT"/>
              </a:rPr>
              <a:t>x++)</a:t>
            </a:r>
            <a:endParaRPr sz="1250">
              <a:latin typeface="Arial MT"/>
              <a:cs typeface="Arial MT"/>
            </a:endParaRPr>
          </a:p>
          <a:p>
            <a:pPr marL="499109">
              <a:lnSpc>
                <a:spcPct val="100000"/>
              </a:lnSpc>
              <a:spcBef>
                <a:spcPts val="375"/>
              </a:spcBef>
            </a:pPr>
            <a:r>
              <a:rPr sz="1250" spc="5" dirty="0">
                <a:latin typeface="Arial MT"/>
                <a:cs typeface="Arial MT"/>
              </a:rPr>
              <a:t>{</a:t>
            </a:r>
            <a:endParaRPr sz="1250">
              <a:latin typeface="Arial MT"/>
              <a:cs typeface="Arial MT"/>
            </a:endParaRPr>
          </a:p>
          <a:p>
            <a:pPr marL="742950" marR="947419">
              <a:lnSpc>
                <a:spcPct val="122600"/>
              </a:lnSpc>
              <a:tabLst>
                <a:tab pos="3086100" algn="l"/>
              </a:tabLst>
            </a:pPr>
            <a:r>
              <a:rPr sz="1250" spc="5" dirty="0">
                <a:latin typeface="Arial MT"/>
                <a:cs typeface="Arial MT"/>
              </a:rPr>
              <a:t>int </a:t>
            </a:r>
            <a:r>
              <a:rPr sz="1250" spc="10" dirty="0">
                <a:latin typeface="Arial MT"/>
                <a:cs typeface="Arial MT"/>
              </a:rPr>
              <a:t>y </a:t>
            </a:r>
            <a:r>
              <a:rPr sz="1250" spc="15" dirty="0">
                <a:latin typeface="Arial MT"/>
                <a:cs typeface="Arial MT"/>
              </a:rPr>
              <a:t>= </a:t>
            </a:r>
            <a:r>
              <a:rPr sz="1250" spc="10" dirty="0">
                <a:latin typeface="Arial MT"/>
                <a:cs typeface="Arial MT"/>
              </a:rPr>
              <a:t>-1; </a:t>
            </a:r>
            <a:r>
              <a:rPr sz="1250" i="1" spc="5" dirty="0">
                <a:latin typeface="Arial"/>
                <a:cs typeface="Arial"/>
              </a:rPr>
              <a:t>// </a:t>
            </a:r>
            <a:r>
              <a:rPr sz="1250" i="1" spc="10" dirty="0">
                <a:latin typeface="Arial"/>
                <a:cs typeface="Arial"/>
              </a:rPr>
              <a:t>y </a:t>
            </a:r>
            <a:r>
              <a:rPr sz="1250" i="1" spc="5" dirty="0">
                <a:latin typeface="Arial"/>
                <a:cs typeface="Arial"/>
              </a:rPr>
              <a:t>is initialized </a:t>
            </a:r>
            <a:r>
              <a:rPr sz="1250" i="1" spc="15" dirty="0">
                <a:latin typeface="Arial"/>
                <a:cs typeface="Arial"/>
              </a:rPr>
              <a:t>each time </a:t>
            </a:r>
            <a:r>
              <a:rPr sz="1250" i="1" spc="5" dirty="0">
                <a:latin typeface="Arial"/>
                <a:cs typeface="Arial"/>
              </a:rPr>
              <a:t>block is </a:t>
            </a:r>
            <a:r>
              <a:rPr sz="1250" i="1" spc="15" dirty="0">
                <a:latin typeface="Arial"/>
                <a:cs typeface="Arial"/>
              </a:rPr>
              <a:t>entered </a:t>
            </a:r>
            <a:r>
              <a:rPr sz="1250" i="1" spc="20" dirty="0">
                <a:latin typeface="Arial"/>
                <a:cs typeface="Arial"/>
              </a:rPr>
              <a:t> </a:t>
            </a:r>
            <a:r>
              <a:rPr sz="1250" spc="5" dirty="0">
                <a:latin typeface="Arial MT"/>
                <a:cs typeface="Arial MT"/>
              </a:rPr>
              <a:t>System.out.println("y</a:t>
            </a:r>
            <a:r>
              <a:rPr sz="1250" spc="90" dirty="0">
                <a:latin typeface="Arial MT"/>
                <a:cs typeface="Arial MT"/>
              </a:rPr>
              <a:t> </a:t>
            </a:r>
            <a:r>
              <a:rPr sz="1250" spc="5" dirty="0">
                <a:latin typeface="Arial MT"/>
                <a:cs typeface="Arial MT"/>
              </a:rPr>
              <a:t>is:</a:t>
            </a:r>
            <a:r>
              <a:rPr sz="1250" spc="20" dirty="0">
                <a:latin typeface="Arial MT"/>
                <a:cs typeface="Arial MT"/>
              </a:rPr>
              <a:t> </a:t>
            </a:r>
            <a:r>
              <a:rPr sz="1250" spc="10" dirty="0">
                <a:latin typeface="Arial MT"/>
                <a:cs typeface="Arial MT"/>
              </a:rPr>
              <a:t>"</a:t>
            </a:r>
            <a:r>
              <a:rPr sz="1250" spc="-5" dirty="0">
                <a:latin typeface="Arial MT"/>
                <a:cs typeface="Arial MT"/>
              </a:rPr>
              <a:t> </a:t>
            </a:r>
            <a:r>
              <a:rPr sz="1250" spc="15" dirty="0">
                <a:latin typeface="Arial MT"/>
                <a:cs typeface="Arial MT"/>
              </a:rPr>
              <a:t>+</a:t>
            </a:r>
            <a:r>
              <a:rPr sz="1250" spc="-5" dirty="0">
                <a:latin typeface="Arial MT"/>
                <a:cs typeface="Arial MT"/>
              </a:rPr>
              <a:t> y);</a:t>
            </a:r>
            <a:r>
              <a:rPr sz="1250" spc="-5" dirty="0">
                <a:latin typeface="Times New Roman"/>
                <a:cs typeface="Times New Roman"/>
              </a:rPr>
              <a:t>	</a:t>
            </a:r>
            <a:r>
              <a:rPr sz="1250" i="1" spc="5" dirty="0">
                <a:latin typeface="Arial"/>
                <a:cs typeface="Arial"/>
              </a:rPr>
              <a:t>//</a:t>
            </a:r>
            <a:r>
              <a:rPr sz="1250" i="1" dirty="0">
                <a:latin typeface="Arial"/>
                <a:cs typeface="Arial"/>
              </a:rPr>
              <a:t> </a:t>
            </a:r>
            <a:r>
              <a:rPr sz="1250" i="1" spc="10" dirty="0">
                <a:latin typeface="Arial"/>
                <a:cs typeface="Arial"/>
              </a:rPr>
              <a:t>this</a:t>
            </a:r>
            <a:r>
              <a:rPr sz="1250" i="1" spc="-35" dirty="0">
                <a:latin typeface="Arial"/>
                <a:cs typeface="Arial"/>
              </a:rPr>
              <a:t> </a:t>
            </a:r>
            <a:r>
              <a:rPr sz="1250" i="1" spc="10" dirty="0">
                <a:latin typeface="Arial"/>
                <a:cs typeface="Arial"/>
              </a:rPr>
              <a:t>always</a:t>
            </a:r>
            <a:r>
              <a:rPr sz="1250" i="1" spc="-5" dirty="0">
                <a:latin typeface="Arial"/>
                <a:cs typeface="Arial"/>
              </a:rPr>
              <a:t> </a:t>
            </a:r>
            <a:r>
              <a:rPr sz="1250" i="1" spc="10" dirty="0">
                <a:latin typeface="Arial"/>
                <a:cs typeface="Arial"/>
              </a:rPr>
              <a:t>prints</a:t>
            </a:r>
            <a:r>
              <a:rPr sz="1250" i="1" spc="-20" dirty="0">
                <a:latin typeface="Arial"/>
                <a:cs typeface="Arial"/>
              </a:rPr>
              <a:t> </a:t>
            </a:r>
            <a:r>
              <a:rPr sz="1250" i="1" spc="15" dirty="0">
                <a:latin typeface="Arial"/>
                <a:cs typeface="Arial"/>
              </a:rPr>
              <a:t>-1 </a:t>
            </a:r>
            <a:r>
              <a:rPr sz="1250" i="1" spc="-330" dirty="0">
                <a:latin typeface="Arial"/>
                <a:cs typeface="Arial"/>
              </a:rPr>
              <a:t> </a:t>
            </a:r>
            <a:r>
              <a:rPr sz="1250" spc="10" dirty="0">
                <a:latin typeface="Arial MT"/>
                <a:cs typeface="Arial MT"/>
              </a:rPr>
              <a:t>y</a:t>
            </a:r>
            <a:r>
              <a:rPr sz="1250" dirty="0">
                <a:latin typeface="Arial MT"/>
                <a:cs typeface="Arial MT"/>
              </a:rPr>
              <a:t> </a:t>
            </a:r>
            <a:r>
              <a:rPr sz="1250" spc="15" dirty="0">
                <a:latin typeface="Arial MT"/>
                <a:cs typeface="Arial MT"/>
              </a:rPr>
              <a:t>=</a:t>
            </a:r>
            <a:r>
              <a:rPr sz="1250" spc="-20" dirty="0">
                <a:latin typeface="Arial MT"/>
                <a:cs typeface="Arial MT"/>
              </a:rPr>
              <a:t> </a:t>
            </a:r>
            <a:r>
              <a:rPr sz="1250" spc="15" dirty="0">
                <a:latin typeface="Arial MT"/>
                <a:cs typeface="Arial MT"/>
              </a:rPr>
              <a:t>100;</a:t>
            </a:r>
            <a:endParaRPr sz="1250">
              <a:latin typeface="Arial MT"/>
              <a:cs typeface="Arial MT"/>
            </a:endParaRPr>
          </a:p>
          <a:p>
            <a:pPr marL="742950">
              <a:lnSpc>
                <a:spcPct val="100000"/>
              </a:lnSpc>
              <a:spcBef>
                <a:spcPts val="340"/>
              </a:spcBef>
            </a:pPr>
            <a:r>
              <a:rPr sz="1250" spc="5" dirty="0">
                <a:latin typeface="Arial MT"/>
                <a:cs typeface="Arial MT"/>
              </a:rPr>
              <a:t>System.out.println("y</a:t>
            </a:r>
            <a:r>
              <a:rPr sz="1250" spc="70" dirty="0">
                <a:latin typeface="Arial MT"/>
                <a:cs typeface="Arial MT"/>
              </a:rPr>
              <a:t> </a:t>
            </a:r>
            <a:r>
              <a:rPr sz="1250" spc="5" dirty="0">
                <a:latin typeface="Arial MT"/>
                <a:cs typeface="Arial MT"/>
              </a:rPr>
              <a:t>is</a:t>
            </a:r>
            <a:r>
              <a:rPr sz="1250" dirty="0">
                <a:latin typeface="Arial MT"/>
                <a:cs typeface="Arial MT"/>
              </a:rPr>
              <a:t> </a:t>
            </a:r>
            <a:r>
              <a:rPr sz="1250" spc="5" dirty="0">
                <a:latin typeface="Arial MT"/>
                <a:cs typeface="Arial MT"/>
              </a:rPr>
              <a:t>now:</a:t>
            </a:r>
            <a:r>
              <a:rPr sz="1250" dirty="0">
                <a:latin typeface="Arial MT"/>
                <a:cs typeface="Arial MT"/>
              </a:rPr>
              <a:t> </a:t>
            </a:r>
            <a:r>
              <a:rPr sz="1250" spc="10" dirty="0">
                <a:latin typeface="Arial MT"/>
                <a:cs typeface="Arial MT"/>
              </a:rPr>
              <a:t>"</a:t>
            </a:r>
            <a:r>
              <a:rPr sz="1250" spc="20" dirty="0">
                <a:latin typeface="Arial MT"/>
                <a:cs typeface="Arial MT"/>
              </a:rPr>
              <a:t> </a:t>
            </a:r>
            <a:r>
              <a:rPr sz="1250" spc="15" dirty="0">
                <a:latin typeface="Arial MT"/>
                <a:cs typeface="Arial MT"/>
              </a:rPr>
              <a:t>+</a:t>
            </a:r>
            <a:r>
              <a:rPr sz="1250" spc="-25" dirty="0">
                <a:latin typeface="Arial MT"/>
                <a:cs typeface="Arial MT"/>
              </a:rPr>
              <a:t> </a:t>
            </a:r>
            <a:r>
              <a:rPr sz="1250" spc="-5" dirty="0">
                <a:latin typeface="Arial MT"/>
                <a:cs typeface="Arial MT"/>
              </a:rPr>
              <a:t>y);</a:t>
            </a:r>
            <a:endParaRPr sz="1250">
              <a:latin typeface="Arial MT"/>
              <a:cs typeface="Arial MT"/>
            </a:endParaRPr>
          </a:p>
        </p:txBody>
      </p:sp>
      <p:sp>
        <p:nvSpPr>
          <p:cNvPr id="4" name="object 4"/>
          <p:cNvSpPr txBox="1"/>
          <p:nvPr/>
        </p:nvSpPr>
        <p:spPr>
          <a:xfrm>
            <a:off x="865943" y="3391882"/>
            <a:ext cx="80010" cy="220345"/>
          </a:xfrm>
          <a:prstGeom prst="rect">
            <a:avLst/>
          </a:prstGeom>
        </p:spPr>
        <p:txBody>
          <a:bodyPr vert="horz" wrap="square" lIns="0" tIns="15875" rIns="0" bIns="0" rtlCol="0">
            <a:spAutoFit/>
          </a:bodyPr>
          <a:lstStyle/>
          <a:p>
            <a:pPr marL="12700">
              <a:lnSpc>
                <a:spcPct val="100000"/>
              </a:lnSpc>
              <a:spcBef>
                <a:spcPts val="125"/>
              </a:spcBef>
            </a:pPr>
            <a:r>
              <a:rPr sz="1250" spc="5" dirty="0">
                <a:latin typeface="Arial MT"/>
                <a:cs typeface="Arial MT"/>
              </a:rPr>
              <a:t>}</a:t>
            </a:r>
            <a:endParaRPr sz="1250">
              <a:latin typeface="Arial MT"/>
              <a:cs typeface="Arial MT"/>
            </a:endParaRPr>
          </a:p>
        </p:txBody>
      </p:sp>
      <p:sp>
        <p:nvSpPr>
          <p:cNvPr id="5" name="object 5"/>
          <p:cNvSpPr txBox="1"/>
          <p:nvPr/>
        </p:nvSpPr>
        <p:spPr>
          <a:xfrm>
            <a:off x="379026" y="3625353"/>
            <a:ext cx="175895" cy="220345"/>
          </a:xfrm>
          <a:prstGeom prst="rect">
            <a:avLst/>
          </a:prstGeom>
        </p:spPr>
        <p:txBody>
          <a:bodyPr vert="horz" wrap="square" lIns="0" tIns="15875" rIns="0" bIns="0" rtlCol="0">
            <a:spAutoFit/>
          </a:bodyPr>
          <a:lstStyle/>
          <a:p>
            <a:pPr marL="12700">
              <a:lnSpc>
                <a:spcPct val="100000"/>
              </a:lnSpc>
              <a:spcBef>
                <a:spcPts val="125"/>
              </a:spcBef>
            </a:pPr>
            <a:r>
              <a:rPr sz="1250" spc="5" dirty="0">
                <a:latin typeface="Arial MT"/>
                <a:cs typeface="Arial MT"/>
              </a:rPr>
              <a:t>}</a:t>
            </a:r>
            <a:r>
              <a:rPr sz="1250" spc="15" dirty="0">
                <a:latin typeface="Times New Roman"/>
                <a:cs typeface="Times New Roman"/>
              </a:rPr>
              <a:t> </a:t>
            </a:r>
            <a:r>
              <a:rPr sz="1250" spc="5" dirty="0">
                <a:latin typeface="Arial MT"/>
                <a:cs typeface="Arial MT"/>
              </a:rPr>
              <a:t>}</a:t>
            </a:r>
            <a:endParaRPr sz="1250">
              <a:latin typeface="Arial MT"/>
              <a:cs typeface="Arial MT"/>
            </a:endParaRPr>
          </a:p>
        </p:txBody>
      </p:sp>
      <p:sp>
        <p:nvSpPr>
          <p:cNvPr id="7" name="object 7"/>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p:nvPr/>
        </p:nvSpPr>
        <p:spPr>
          <a:xfrm>
            <a:off x="364664" y="1147605"/>
            <a:ext cx="5697220" cy="2702560"/>
          </a:xfrm>
          <a:prstGeom prst="rect">
            <a:avLst/>
          </a:prstGeom>
        </p:spPr>
        <p:txBody>
          <a:bodyPr vert="horz" wrap="square" lIns="0" tIns="8890" rIns="0" bIns="0" rtlCol="0">
            <a:spAutoFit/>
          </a:bodyPr>
          <a:lstStyle/>
          <a:p>
            <a:pPr marL="194945" marR="5080" indent="-182880">
              <a:lnSpc>
                <a:spcPct val="103400"/>
              </a:lnSpc>
              <a:spcBef>
                <a:spcPts val="70"/>
              </a:spcBef>
              <a:buChar char="•"/>
              <a:tabLst>
                <a:tab pos="195580" algn="l"/>
              </a:tabLst>
            </a:pPr>
            <a:r>
              <a:rPr sz="1450" spc="10" dirty="0">
                <a:latin typeface="Arial MT"/>
                <a:cs typeface="Arial MT"/>
              </a:rPr>
              <a:t>Although</a:t>
            </a:r>
            <a:r>
              <a:rPr sz="1450" spc="45" dirty="0">
                <a:latin typeface="Arial MT"/>
                <a:cs typeface="Arial MT"/>
              </a:rPr>
              <a:t> </a:t>
            </a:r>
            <a:r>
              <a:rPr sz="1450" spc="10" dirty="0">
                <a:latin typeface="Arial MT"/>
                <a:cs typeface="Arial MT"/>
              </a:rPr>
              <a:t>blocks can</a:t>
            </a:r>
            <a:r>
              <a:rPr sz="1450" spc="50" dirty="0">
                <a:latin typeface="Arial MT"/>
                <a:cs typeface="Arial MT"/>
              </a:rPr>
              <a:t> </a:t>
            </a:r>
            <a:r>
              <a:rPr sz="1450" spc="20" dirty="0">
                <a:latin typeface="Arial MT"/>
                <a:cs typeface="Arial MT"/>
              </a:rPr>
              <a:t>be</a:t>
            </a:r>
            <a:r>
              <a:rPr sz="1450" spc="10" dirty="0">
                <a:latin typeface="Arial MT"/>
                <a:cs typeface="Arial MT"/>
              </a:rPr>
              <a:t> </a:t>
            </a:r>
            <a:r>
              <a:rPr sz="1450" dirty="0">
                <a:latin typeface="Arial MT"/>
                <a:cs typeface="Arial MT"/>
              </a:rPr>
              <a:t>nested,</a:t>
            </a:r>
            <a:r>
              <a:rPr sz="1450" spc="105" dirty="0">
                <a:latin typeface="Arial MT"/>
                <a:cs typeface="Arial MT"/>
              </a:rPr>
              <a:t> </a:t>
            </a:r>
            <a:r>
              <a:rPr sz="1450" spc="-5" dirty="0">
                <a:latin typeface="Arial MT"/>
                <a:cs typeface="Arial MT"/>
              </a:rPr>
              <a:t>you</a:t>
            </a:r>
            <a:r>
              <a:rPr sz="1450" spc="85" dirty="0">
                <a:latin typeface="Arial MT"/>
                <a:cs typeface="Arial MT"/>
              </a:rPr>
              <a:t> </a:t>
            </a:r>
            <a:r>
              <a:rPr sz="1450" spc="15" dirty="0">
                <a:latin typeface="Arial MT"/>
                <a:cs typeface="Arial MT"/>
              </a:rPr>
              <a:t>cannot</a:t>
            </a:r>
            <a:r>
              <a:rPr sz="1450" spc="20" dirty="0">
                <a:latin typeface="Arial MT"/>
                <a:cs typeface="Arial MT"/>
              </a:rPr>
              <a:t> </a:t>
            </a:r>
            <a:r>
              <a:rPr sz="1450" b="1" spc="15" dirty="0">
                <a:latin typeface="Arial"/>
                <a:cs typeface="Arial"/>
              </a:rPr>
              <a:t>declare</a:t>
            </a:r>
            <a:r>
              <a:rPr sz="1450" b="1" spc="50" dirty="0">
                <a:latin typeface="Arial"/>
                <a:cs typeface="Arial"/>
              </a:rPr>
              <a:t> </a:t>
            </a:r>
            <a:r>
              <a:rPr sz="1450" b="1" spc="15" dirty="0">
                <a:latin typeface="Arial"/>
                <a:cs typeface="Arial"/>
              </a:rPr>
              <a:t>a</a:t>
            </a:r>
            <a:r>
              <a:rPr sz="1450" b="1" spc="10" dirty="0">
                <a:latin typeface="Arial"/>
                <a:cs typeface="Arial"/>
              </a:rPr>
              <a:t> variable</a:t>
            </a:r>
            <a:r>
              <a:rPr sz="1450" b="1" spc="50" dirty="0">
                <a:latin typeface="Arial"/>
                <a:cs typeface="Arial"/>
              </a:rPr>
              <a:t> </a:t>
            </a:r>
            <a:r>
              <a:rPr sz="1450" b="1" spc="5" dirty="0">
                <a:latin typeface="Arial"/>
                <a:cs typeface="Arial"/>
              </a:rPr>
              <a:t>to </a:t>
            </a:r>
            <a:r>
              <a:rPr sz="1450" b="1" spc="-390" dirty="0">
                <a:latin typeface="Arial"/>
                <a:cs typeface="Arial"/>
              </a:rPr>
              <a:t> </a:t>
            </a:r>
            <a:r>
              <a:rPr sz="1450" b="1" spc="20" dirty="0">
                <a:latin typeface="Arial"/>
                <a:cs typeface="Arial"/>
              </a:rPr>
              <a:t>have</a:t>
            </a:r>
            <a:r>
              <a:rPr sz="1450" b="1" spc="5" dirty="0">
                <a:latin typeface="Arial"/>
                <a:cs typeface="Arial"/>
              </a:rPr>
              <a:t> </a:t>
            </a:r>
            <a:r>
              <a:rPr sz="1450" b="1" spc="10" dirty="0">
                <a:latin typeface="Arial"/>
                <a:cs typeface="Arial"/>
              </a:rPr>
              <a:t>the</a:t>
            </a:r>
            <a:r>
              <a:rPr sz="1450" b="1" spc="15" dirty="0">
                <a:latin typeface="Arial"/>
                <a:cs typeface="Arial"/>
              </a:rPr>
              <a:t> </a:t>
            </a:r>
            <a:r>
              <a:rPr sz="1450" spc="5" dirty="0">
                <a:solidFill>
                  <a:srgbClr val="0000CC"/>
                </a:solidFill>
                <a:latin typeface="Arial MT"/>
                <a:cs typeface="Arial MT"/>
              </a:rPr>
              <a:t>same</a:t>
            </a:r>
            <a:r>
              <a:rPr sz="1450" spc="90" dirty="0">
                <a:solidFill>
                  <a:srgbClr val="0000CC"/>
                </a:solidFill>
                <a:latin typeface="Arial MT"/>
                <a:cs typeface="Arial MT"/>
              </a:rPr>
              <a:t> </a:t>
            </a:r>
            <a:r>
              <a:rPr sz="1450" spc="10" dirty="0">
                <a:solidFill>
                  <a:srgbClr val="0000CC"/>
                </a:solidFill>
                <a:latin typeface="Arial MT"/>
                <a:cs typeface="Arial MT"/>
              </a:rPr>
              <a:t>name</a:t>
            </a:r>
            <a:r>
              <a:rPr sz="1450" spc="50" dirty="0">
                <a:solidFill>
                  <a:srgbClr val="0000CC"/>
                </a:solidFill>
                <a:latin typeface="Arial MT"/>
                <a:cs typeface="Arial MT"/>
              </a:rPr>
              <a:t> </a:t>
            </a:r>
            <a:r>
              <a:rPr sz="1450" dirty="0">
                <a:solidFill>
                  <a:srgbClr val="0000CC"/>
                </a:solidFill>
                <a:latin typeface="Arial MT"/>
                <a:cs typeface="Arial MT"/>
              </a:rPr>
              <a:t>as</a:t>
            </a:r>
            <a:r>
              <a:rPr sz="1450" spc="50" dirty="0">
                <a:solidFill>
                  <a:srgbClr val="0000CC"/>
                </a:solidFill>
                <a:latin typeface="Arial MT"/>
                <a:cs typeface="Arial MT"/>
              </a:rPr>
              <a:t> </a:t>
            </a:r>
            <a:r>
              <a:rPr sz="1450" spc="20" dirty="0">
                <a:solidFill>
                  <a:srgbClr val="0000CC"/>
                </a:solidFill>
                <a:latin typeface="Arial MT"/>
                <a:cs typeface="Arial MT"/>
              </a:rPr>
              <a:t>one</a:t>
            </a:r>
            <a:r>
              <a:rPr sz="1450" spc="10" dirty="0">
                <a:solidFill>
                  <a:srgbClr val="0000CC"/>
                </a:solidFill>
                <a:latin typeface="Arial MT"/>
                <a:cs typeface="Arial MT"/>
              </a:rPr>
              <a:t> </a:t>
            </a:r>
            <a:r>
              <a:rPr sz="1450" spc="-15" dirty="0">
                <a:solidFill>
                  <a:srgbClr val="0000CC"/>
                </a:solidFill>
                <a:latin typeface="Arial MT"/>
                <a:cs typeface="Arial MT"/>
              </a:rPr>
              <a:t>in</a:t>
            </a:r>
            <a:r>
              <a:rPr sz="1450" spc="45" dirty="0">
                <a:solidFill>
                  <a:srgbClr val="0000CC"/>
                </a:solidFill>
                <a:latin typeface="Arial MT"/>
                <a:cs typeface="Arial MT"/>
              </a:rPr>
              <a:t> </a:t>
            </a:r>
            <a:r>
              <a:rPr sz="1450" dirty="0">
                <a:solidFill>
                  <a:srgbClr val="0000CC"/>
                </a:solidFill>
                <a:latin typeface="Arial MT"/>
                <a:cs typeface="Arial MT"/>
              </a:rPr>
              <a:t>an</a:t>
            </a:r>
            <a:r>
              <a:rPr sz="1450" spc="65" dirty="0">
                <a:solidFill>
                  <a:srgbClr val="0000CC"/>
                </a:solidFill>
                <a:latin typeface="Arial MT"/>
                <a:cs typeface="Arial MT"/>
              </a:rPr>
              <a:t> </a:t>
            </a:r>
            <a:r>
              <a:rPr sz="1450" b="1" spc="15" dirty="0">
                <a:solidFill>
                  <a:srgbClr val="0000CC"/>
                </a:solidFill>
                <a:latin typeface="Arial"/>
                <a:cs typeface="Arial"/>
              </a:rPr>
              <a:t>outer </a:t>
            </a:r>
            <a:r>
              <a:rPr sz="1450" b="1" spc="25" dirty="0">
                <a:solidFill>
                  <a:srgbClr val="0000CC"/>
                </a:solidFill>
                <a:latin typeface="Arial"/>
                <a:cs typeface="Arial"/>
              </a:rPr>
              <a:t>scope</a:t>
            </a:r>
            <a:r>
              <a:rPr sz="1450" spc="25" dirty="0">
                <a:solidFill>
                  <a:srgbClr val="0000CC"/>
                </a:solidFill>
                <a:latin typeface="Arial MT"/>
                <a:cs typeface="Arial MT"/>
              </a:rPr>
              <a:t>.</a:t>
            </a:r>
            <a:endParaRPr sz="1450">
              <a:latin typeface="Arial MT"/>
              <a:cs typeface="Arial MT"/>
            </a:endParaRPr>
          </a:p>
          <a:p>
            <a:pPr marL="12700" marR="3079750">
              <a:lnSpc>
                <a:spcPct val="124000"/>
              </a:lnSpc>
            </a:pPr>
            <a:r>
              <a:rPr sz="1450" dirty="0">
                <a:latin typeface="Arial MT"/>
                <a:cs typeface="Arial MT"/>
              </a:rPr>
              <a:t>//</a:t>
            </a:r>
            <a:r>
              <a:rPr sz="1450" spc="5" dirty="0">
                <a:latin typeface="Arial MT"/>
                <a:cs typeface="Arial MT"/>
              </a:rPr>
              <a:t> This</a:t>
            </a:r>
            <a:r>
              <a:rPr sz="1450" spc="35" dirty="0">
                <a:latin typeface="Arial MT"/>
                <a:cs typeface="Arial MT"/>
              </a:rPr>
              <a:t> </a:t>
            </a:r>
            <a:r>
              <a:rPr sz="1450" spc="10" dirty="0">
                <a:latin typeface="Arial MT"/>
                <a:cs typeface="Arial MT"/>
              </a:rPr>
              <a:t>program</a:t>
            </a:r>
            <a:r>
              <a:rPr sz="1450" spc="60" dirty="0">
                <a:latin typeface="Arial MT"/>
                <a:cs typeface="Arial MT"/>
              </a:rPr>
              <a:t> </a:t>
            </a:r>
            <a:r>
              <a:rPr sz="1450" spc="-15" dirty="0">
                <a:latin typeface="Arial MT"/>
                <a:cs typeface="Arial MT"/>
              </a:rPr>
              <a:t>will</a:t>
            </a:r>
            <a:r>
              <a:rPr sz="1450" spc="90" dirty="0">
                <a:latin typeface="Arial MT"/>
                <a:cs typeface="Arial MT"/>
              </a:rPr>
              <a:t> </a:t>
            </a:r>
            <a:r>
              <a:rPr sz="1450" spc="20" dirty="0">
                <a:latin typeface="Arial MT"/>
                <a:cs typeface="Arial MT"/>
              </a:rPr>
              <a:t>not</a:t>
            </a:r>
            <a:r>
              <a:rPr sz="1450" spc="-30" dirty="0">
                <a:latin typeface="Arial MT"/>
                <a:cs typeface="Arial MT"/>
              </a:rPr>
              <a:t> </a:t>
            </a:r>
            <a:r>
              <a:rPr sz="1450" spc="5" dirty="0">
                <a:latin typeface="Arial MT"/>
                <a:cs typeface="Arial MT"/>
              </a:rPr>
              <a:t>compile </a:t>
            </a:r>
            <a:r>
              <a:rPr sz="1450" spc="-385" dirty="0">
                <a:latin typeface="Arial MT"/>
                <a:cs typeface="Arial MT"/>
              </a:rPr>
              <a:t> </a:t>
            </a:r>
            <a:r>
              <a:rPr sz="1450" spc="-5" dirty="0">
                <a:latin typeface="Arial MT"/>
                <a:cs typeface="Arial MT"/>
              </a:rPr>
              <a:t>class</a:t>
            </a:r>
            <a:r>
              <a:rPr sz="1450" spc="85" dirty="0">
                <a:latin typeface="Arial MT"/>
                <a:cs typeface="Arial MT"/>
              </a:rPr>
              <a:t> </a:t>
            </a:r>
            <a:r>
              <a:rPr sz="1450" spc="15" dirty="0">
                <a:latin typeface="Arial MT"/>
                <a:cs typeface="Arial MT"/>
              </a:rPr>
              <a:t>ScopeErr</a:t>
            </a:r>
            <a:r>
              <a:rPr sz="1450" spc="70" dirty="0">
                <a:latin typeface="Arial MT"/>
                <a:cs typeface="Arial MT"/>
              </a:rPr>
              <a:t> </a:t>
            </a:r>
            <a:r>
              <a:rPr sz="1450" b="1" spc="10" dirty="0">
                <a:latin typeface="Arial"/>
                <a:cs typeface="Arial"/>
              </a:rPr>
              <a:t>{</a:t>
            </a:r>
            <a:endParaRPr sz="1450">
              <a:latin typeface="Arial"/>
              <a:cs typeface="Arial"/>
            </a:endParaRPr>
          </a:p>
          <a:p>
            <a:pPr marL="255904">
              <a:lnSpc>
                <a:spcPct val="100000"/>
              </a:lnSpc>
              <a:spcBef>
                <a:spcPts val="335"/>
              </a:spcBef>
            </a:pPr>
            <a:r>
              <a:rPr sz="1250" spc="-5" dirty="0">
                <a:latin typeface="Arial MT"/>
                <a:cs typeface="Arial MT"/>
              </a:rPr>
              <a:t>public</a:t>
            </a:r>
            <a:r>
              <a:rPr sz="1250" spc="75" dirty="0">
                <a:latin typeface="Arial MT"/>
                <a:cs typeface="Arial MT"/>
              </a:rPr>
              <a:t> </a:t>
            </a:r>
            <a:r>
              <a:rPr sz="1250" spc="5" dirty="0">
                <a:latin typeface="Arial MT"/>
                <a:cs typeface="Arial MT"/>
              </a:rPr>
              <a:t>static</a:t>
            </a:r>
            <a:r>
              <a:rPr sz="1250" spc="-5" dirty="0">
                <a:latin typeface="Arial MT"/>
                <a:cs typeface="Arial MT"/>
              </a:rPr>
              <a:t> </a:t>
            </a:r>
            <a:r>
              <a:rPr sz="1250" spc="-10" dirty="0">
                <a:latin typeface="Arial MT"/>
                <a:cs typeface="Arial MT"/>
              </a:rPr>
              <a:t>void</a:t>
            </a:r>
            <a:r>
              <a:rPr sz="1250" spc="85" dirty="0">
                <a:latin typeface="Arial MT"/>
                <a:cs typeface="Arial MT"/>
              </a:rPr>
              <a:t> </a:t>
            </a:r>
            <a:r>
              <a:rPr sz="1250" spc="10" dirty="0">
                <a:latin typeface="Arial MT"/>
                <a:cs typeface="Arial MT"/>
              </a:rPr>
              <a:t>main(String</a:t>
            </a:r>
            <a:r>
              <a:rPr sz="1250" spc="-35" dirty="0">
                <a:latin typeface="Arial MT"/>
                <a:cs typeface="Arial MT"/>
              </a:rPr>
              <a:t> </a:t>
            </a:r>
            <a:r>
              <a:rPr sz="1250" dirty="0">
                <a:latin typeface="Arial MT"/>
                <a:cs typeface="Arial MT"/>
              </a:rPr>
              <a:t>args[])</a:t>
            </a:r>
            <a:endParaRPr sz="1250">
              <a:latin typeface="Arial MT"/>
              <a:cs typeface="Arial MT"/>
            </a:endParaRPr>
          </a:p>
          <a:p>
            <a:pPr marL="255904">
              <a:lnSpc>
                <a:spcPct val="100000"/>
              </a:lnSpc>
              <a:spcBef>
                <a:spcPts val="380"/>
              </a:spcBef>
              <a:tabLst>
                <a:tab pos="621030" algn="l"/>
              </a:tabLst>
            </a:pPr>
            <a:r>
              <a:rPr sz="1450" b="1" spc="10" dirty="0">
                <a:solidFill>
                  <a:srgbClr val="C00000"/>
                </a:solidFill>
                <a:latin typeface="Arial"/>
                <a:cs typeface="Arial"/>
              </a:rPr>
              <a:t>{</a:t>
            </a:r>
            <a:r>
              <a:rPr sz="1450" spc="10" dirty="0">
                <a:solidFill>
                  <a:srgbClr val="C00000"/>
                </a:solidFill>
                <a:latin typeface="Times New Roman"/>
                <a:cs typeface="Times New Roman"/>
              </a:rPr>
              <a:t>	</a:t>
            </a:r>
            <a:r>
              <a:rPr sz="1450" spc="-5" dirty="0">
                <a:latin typeface="Arial MT"/>
                <a:cs typeface="Arial MT"/>
              </a:rPr>
              <a:t>int</a:t>
            </a:r>
            <a:r>
              <a:rPr sz="1450" spc="40" dirty="0">
                <a:latin typeface="Arial MT"/>
                <a:cs typeface="Arial MT"/>
              </a:rPr>
              <a:t> </a:t>
            </a:r>
            <a:r>
              <a:rPr sz="1450" b="1" spc="20" dirty="0">
                <a:solidFill>
                  <a:srgbClr val="C00000"/>
                </a:solidFill>
                <a:latin typeface="Arial"/>
                <a:cs typeface="Arial"/>
              </a:rPr>
              <a:t>bar</a:t>
            </a:r>
            <a:r>
              <a:rPr sz="1450" b="1" spc="-40" dirty="0">
                <a:solidFill>
                  <a:srgbClr val="C00000"/>
                </a:solidFill>
                <a:latin typeface="Arial"/>
                <a:cs typeface="Arial"/>
              </a:rPr>
              <a:t> </a:t>
            </a:r>
            <a:r>
              <a:rPr sz="1450" spc="15" dirty="0">
                <a:latin typeface="Arial MT"/>
                <a:cs typeface="Arial MT"/>
              </a:rPr>
              <a:t>=</a:t>
            </a:r>
            <a:r>
              <a:rPr sz="1450" spc="-10" dirty="0">
                <a:latin typeface="Arial MT"/>
                <a:cs typeface="Arial MT"/>
              </a:rPr>
              <a:t> </a:t>
            </a:r>
            <a:r>
              <a:rPr sz="1450" spc="15" dirty="0">
                <a:latin typeface="Arial MT"/>
                <a:cs typeface="Arial MT"/>
              </a:rPr>
              <a:t>1;</a:t>
            </a:r>
            <a:endParaRPr sz="1450">
              <a:latin typeface="Arial MT"/>
              <a:cs typeface="Arial MT"/>
            </a:endParaRPr>
          </a:p>
          <a:p>
            <a:pPr marL="621030">
              <a:lnSpc>
                <a:spcPct val="100000"/>
              </a:lnSpc>
              <a:spcBef>
                <a:spcPts val="380"/>
              </a:spcBef>
              <a:tabLst>
                <a:tab pos="864235" algn="l"/>
              </a:tabLst>
            </a:pPr>
            <a:r>
              <a:rPr sz="1250" b="1" spc="10" dirty="0">
                <a:solidFill>
                  <a:srgbClr val="0000CC"/>
                </a:solidFill>
                <a:latin typeface="Arial"/>
                <a:cs typeface="Arial"/>
              </a:rPr>
              <a:t>{</a:t>
            </a:r>
            <a:r>
              <a:rPr sz="1250" spc="10" dirty="0">
                <a:solidFill>
                  <a:srgbClr val="0000CC"/>
                </a:solidFill>
                <a:latin typeface="Times New Roman"/>
                <a:cs typeface="Times New Roman"/>
              </a:rPr>
              <a:t>	</a:t>
            </a:r>
            <a:r>
              <a:rPr sz="1250" i="1" spc="5" dirty="0">
                <a:solidFill>
                  <a:srgbClr val="0000CC"/>
                </a:solidFill>
                <a:latin typeface="Arial"/>
                <a:cs typeface="Arial"/>
              </a:rPr>
              <a:t>//</a:t>
            </a:r>
            <a:r>
              <a:rPr sz="1250" i="1" spc="-40" dirty="0">
                <a:solidFill>
                  <a:srgbClr val="0000CC"/>
                </a:solidFill>
                <a:latin typeface="Arial"/>
                <a:cs typeface="Arial"/>
              </a:rPr>
              <a:t> </a:t>
            </a:r>
            <a:r>
              <a:rPr sz="1250" i="1" spc="15" dirty="0">
                <a:solidFill>
                  <a:srgbClr val="0000CC"/>
                </a:solidFill>
                <a:latin typeface="Arial"/>
                <a:cs typeface="Arial"/>
              </a:rPr>
              <a:t>creates</a:t>
            </a:r>
            <a:r>
              <a:rPr sz="1250" i="1" spc="-45" dirty="0">
                <a:solidFill>
                  <a:srgbClr val="0000CC"/>
                </a:solidFill>
                <a:latin typeface="Arial"/>
                <a:cs typeface="Arial"/>
              </a:rPr>
              <a:t> </a:t>
            </a:r>
            <a:r>
              <a:rPr sz="1250" i="1" spc="15" dirty="0">
                <a:solidFill>
                  <a:srgbClr val="0000CC"/>
                </a:solidFill>
                <a:latin typeface="Arial"/>
                <a:cs typeface="Arial"/>
              </a:rPr>
              <a:t>a</a:t>
            </a:r>
            <a:r>
              <a:rPr sz="1250" i="1" dirty="0">
                <a:solidFill>
                  <a:srgbClr val="0000CC"/>
                </a:solidFill>
                <a:latin typeface="Arial"/>
                <a:cs typeface="Arial"/>
              </a:rPr>
              <a:t> </a:t>
            </a:r>
            <a:r>
              <a:rPr sz="1250" i="1" spc="15" dirty="0">
                <a:solidFill>
                  <a:srgbClr val="0000CC"/>
                </a:solidFill>
                <a:latin typeface="Arial"/>
                <a:cs typeface="Arial"/>
              </a:rPr>
              <a:t>new</a:t>
            </a:r>
            <a:r>
              <a:rPr sz="1250" i="1" spc="-50" dirty="0">
                <a:solidFill>
                  <a:srgbClr val="0000CC"/>
                </a:solidFill>
                <a:latin typeface="Arial"/>
                <a:cs typeface="Arial"/>
              </a:rPr>
              <a:t> </a:t>
            </a:r>
            <a:r>
              <a:rPr sz="1250" i="1" spc="5" dirty="0">
                <a:solidFill>
                  <a:srgbClr val="0000CC"/>
                </a:solidFill>
                <a:latin typeface="Arial"/>
                <a:cs typeface="Arial"/>
              </a:rPr>
              <a:t>scope</a:t>
            </a:r>
            <a:endParaRPr sz="1250">
              <a:latin typeface="Arial"/>
              <a:cs typeface="Arial"/>
            </a:endParaRPr>
          </a:p>
          <a:p>
            <a:pPr marL="621030">
              <a:lnSpc>
                <a:spcPct val="100000"/>
              </a:lnSpc>
              <a:spcBef>
                <a:spcPts val="335"/>
              </a:spcBef>
            </a:pPr>
            <a:r>
              <a:rPr sz="1250" spc="5" dirty="0">
                <a:latin typeface="Arial MT"/>
                <a:cs typeface="Arial MT"/>
              </a:rPr>
              <a:t>int</a:t>
            </a:r>
            <a:r>
              <a:rPr sz="1250" spc="10" dirty="0">
                <a:latin typeface="Arial MT"/>
                <a:cs typeface="Arial MT"/>
              </a:rPr>
              <a:t> </a:t>
            </a:r>
            <a:r>
              <a:rPr sz="1250" b="1" spc="5" dirty="0">
                <a:solidFill>
                  <a:srgbClr val="C00000"/>
                </a:solidFill>
                <a:latin typeface="Arial"/>
                <a:cs typeface="Arial"/>
              </a:rPr>
              <a:t>bar</a:t>
            </a:r>
            <a:r>
              <a:rPr sz="1250" b="1" spc="-5" dirty="0">
                <a:solidFill>
                  <a:srgbClr val="C00000"/>
                </a:solidFill>
                <a:latin typeface="Arial"/>
                <a:cs typeface="Arial"/>
              </a:rPr>
              <a:t> </a:t>
            </a:r>
            <a:r>
              <a:rPr sz="1250" spc="15" dirty="0">
                <a:latin typeface="Arial MT"/>
                <a:cs typeface="Arial MT"/>
              </a:rPr>
              <a:t>=</a:t>
            </a:r>
            <a:r>
              <a:rPr sz="1250" spc="10" dirty="0">
                <a:latin typeface="Arial MT"/>
                <a:cs typeface="Arial MT"/>
              </a:rPr>
              <a:t> 2;</a:t>
            </a:r>
            <a:r>
              <a:rPr sz="1250" spc="-25" dirty="0">
                <a:latin typeface="Arial MT"/>
                <a:cs typeface="Arial MT"/>
              </a:rPr>
              <a:t> </a:t>
            </a:r>
            <a:r>
              <a:rPr sz="1250" i="1" spc="5" dirty="0">
                <a:solidFill>
                  <a:srgbClr val="0000CC"/>
                </a:solidFill>
                <a:latin typeface="Arial"/>
                <a:cs typeface="Arial"/>
              </a:rPr>
              <a:t>// </a:t>
            </a:r>
            <a:r>
              <a:rPr sz="1250" i="1" spc="10" dirty="0">
                <a:solidFill>
                  <a:srgbClr val="0000CC"/>
                </a:solidFill>
                <a:latin typeface="Arial"/>
                <a:cs typeface="Arial"/>
              </a:rPr>
              <a:t>Compile-time</a:t>
            </a:r>
            <a:r>
              <a:rPr sz="1250" i="1" spc="-25" dirty="0">
                <a:solidFill>
                  <a:srgbClr val="0000CC"/>
                </a:solidFill>
                <a:latin typeface="Arial"/>
                <a:cs typeface="Arial"/>
              </a:rPr>
              <a:t> </a:t>
            </a:r>
            <a:r>
              <a:rPr sz="1250" i="1" spc="5" dirty="0">
                <a:solidFill>
                  <a:srgbClr val="0000CC"/>
                </a:solidFill>
                <a:latin typeface="Arial"/>
                <a:cs typeface="Arial"/>
              </a:rPr>
              <a:t>error</a:t>
            </a:r>
            <a:endParaRPr sz="1250">
              <a:latin typeface="Arial"/>
              <a:cs typeface="Arial"/>
            </a:endParaRPr>
          </a:p>
          <a:p>
            <a:pPr marL="621030">
              <a:lnSpc>
                <a:spcPct val="100000"/>
              </a:lnSpc>
              <a:spcBef>
                <a:spcPts val="340"/>
              </a:spcBef>
            </a:pPr>
            <a:r>
              <a:rPr sz="1250" i="1" spc="5" dirty="0">
                <a:solidFill>
                  <a:srgbClr val="0000CC"/>
                </a:solidFill>
                <a:latin typeface="Arial"/>
                <a:cs typeface="Arial"/>
              </a:rPr>
              <a:t>//</a:t>
            </a:r>
            <a:r>
              <a:rPr sz="1250" i="1" spc="325" dirty="0">
                <a:solidFill>
                  <a:srgbClr val="0000CC"/>
                </a:solidFill>
                <a:latin typeface="Arial"/>
                <a:cs typeface="Arial"/>
              </a:rPr>
              <a:t> </a:t>
            </a:r>
            <a:r>
              <a:rPr sz="1250" i="1" spc="15" dirty="0">
                <a:solidFill>
                  <a:srgbClr val="C00000"/>
                </a:solidFill>
                <a:latin typeface="Arial"/>
                <a:cs typeface="Arial"/>
              </a:rPr>
              <a:t>bar</a:t>
            </a:r>
            <a:r>
              <a:rPr sz="1250" i="1" spc="-15" dirty="0">
                <a:solidFill>
                  <a:srgbClr val="C00000"/>
                </a:solidFill>
                <a:latin typeface="Arial"/>
                <a:cs typeface="Arial"/>
              </a:rPr>
              <a:t> </a:t>
            </a:r>
            <a:r>
              <a:rPr sz="1250" i="1" spc="15" dirty="0">
                <a:solidFill>
                  <a:srgbClr val="0000CC"/>
                </a:solidFill>
                <a:latin typeface="Arial"/>
                <a:cs typeface="Arial"/>
              </a:rPr>
              <a:t>already</a:t>
            </a:r>
            <a:r>
              <a:rPr sz="1250" i="1" spc="-35" dirty="0">
                <a:solidFill>
                  <a:srgbClr val="0000CC"/>
                </a:solidFill>
                <a:latin typeface="Arial"/>
                <a:cs typeface="Arial"/>
              </a:rPr>
              <a:t> </a:t>
            </a:r>
            <a:r>
              <a:rPr sz="1250" i="1" spc="15" dirty="0">
                <a:solidFill>
                  <a:srgbClr val="0000CC"/>
                </a:solidFill>
                <a:latin typeface="Arial"/>
                <a:cs typeface="Arial"/>
              </a:rPr>
              <a:t>defined</a:t>
            </a:r>
            <a:r>
              <a:rPr sz="1250" i="1" spc="-30" dirty="0">
                <a:solidFill>
                  <a:srgbClr val="0000CC"/>
                </a:solidFill>
                <a:latin typeface="Arial"/>
                <a:cs typeface="Arial"/>
              </a:rPr>
              <a:t> </a:t>
            </a:r>
            <a:r>
              <a:rPr sz="1250" i="1" spc="5" dirty="0">
                <a:solidFill>
                  <a:srgbClr val="0000CC"/>
                </a:solidFill>
                <a:latin typeface="Arial"/>
                <a:cs typeface="Arial"/>
              </a:rPr>
              <a:t>in</a:t>
            </a:r>
            <a:r>
              <a:rPr sz="1250" i="1" spc="10" dirty="0">
                <a:solidFill>
                  <a:srgbClr val="0000CC"/>
                </a:solidFill>
                <a:latin typeface="Arial"/>
                <a:cs typeface="Arial"/>
              </a:rPr>
              <a:t> </a:t>
            </a:r>
            <a:r>
              <a:rPr sz="1250" i="1" spc="5" dirty="0">
                <a:solidFill>
                  <a:srgbClr val="0000CC"/>
                </a:solidFill>
                <a:latin typeface="Arial"/>
                <a:cs typeface="Arial"/>
              </a:rPr>
              <a:t>outer</a:t>
            </a:r>
            <a:r>
              <a:rPr sz="1250" i="1" spc="10" dirty="0">
                <a:solidFill>
                  <a:srgbClr val="0000CC"/>
                </a:solidFill>
                <a:latin typeface="Arial"/>
                <a:cs typeface="Arial"/>
              </a:rPr>
              <a:t> scope!</a:t>
            </a:r>
            <a:endParaRPr sz="1250">
              <a:latin typeface="Arial"/>
              <a:cs typeface="Arial"/>
            </a:endParaRPr>
          </a:p>
          <a:p>
            <a:pPr marL="631190">
              <a:lnSpc>
                <a:spcPct val="100000"/>
              </a:lnSpc>
              <a:spcBef>
                <a:spcPts val="340"/>
              </a:spcBef>
            </a:pPr>
            <a:r>
              <a:rPr sz="1250" b="1" spc="10" dirty="0">
                <a:solidFill>
                  <a:srgbClr val="0000CC"/>
                </a:solidFill>
                <a:latin typeface="Arial"/>
                <a:cs typeface="Arial"/>
              </a:rPr>
              <a:t>}</a:t>
            </a:r>
            <a:endParaRPr sz="1250">
              <a:latin typeface="Arial"/>
              <a:cs typeface="Arial"/>
            </a:endParaRPr>
          </a:p>
          <a:p>
            <a:pPr marL="255904">
              <a:lnSpc>
                <a:spcPct val="100000"/>
              </a:lnSpc>
              <a:spcBef>
                <a:spcPts val="335"/>
              </a:spcBef>
            </a:pPr>
            <a:r>
              <a:rPr sz="1250" b="1" spc="10" dirty="0">
                <a:solidFill>
                  <a:srgbClr val="C00000"/>
                </a:solidFill>
                <a:latin typeface="Arial"/>
                <a:cs typeface="Arial"/>
              </a:rPr>
              <a:t>}</a:t>
            </a:r>
            <a:endParaRPr sz="1250">
              <a:latin typeface="Arial"/>
              <a:cs typeface="Arial"/>
            </a:endParaRPr>
          </a:p>
        </p:txBody>
      </p:sp>
      <p:sp>
        <p:nvSpPr>
          <p:cNvPr id="4" name="object 4"/>
          <p:cNvSpPr txBox="1"/>
          <p:nvPr/>
        </p:nvSpPr>
        <p:spPr>
          <a:xfrm>
            <a:off x="364664" y="3873095"/>
            <a:ext cx="88265" cy="250825"/>
          </a:xfrm>
          <a:prstGeom prst="rect">
            <a:avLst/>
          </a:prstGeom>
        </p:spPr>
        <p:txBody>
          <a:bodyPr vert="horz" wrap="square" lIns="0" tIns="15875" rIns="0" bIns="0" rtlCol="0">
            <a:spAutoFit/>
          </a:bodyPr>
          <a:lstStyle/>
          <a:p>
            <a:pPr marL="12700">
              <a:lnSpc>
                <a:spcPct val="100000"/>
              </a:lnSpc>
              <a:spcBef>
                <a:spcPts val="125"/>
              </a:spcBef>
            </a:pPr>
            <a:r>
              <a:rPr sz="1450" spc="5" dirty="0">
                <a:latin typeface="Arial MT"/>
                <a:cs typeface="Arial MT"/>
              </a:rPr>
              <a:t>}</a:t>
            </a:r>
            <a:endParaRPr sz="1450">
              <a:latin typeface="Arial MT"/>
              <a:cs typeface="Arial MT"/>
            </a:endParaRPr>
          </a:p>
        </p:txBody>
      </p:sp>
      <p:sp>
        <p:nvSpPr>
          <p:cNvPr id="6" name="object 6"/>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idx="4294967295"/>
          </p:nvPr>
        </p:nvSpPr>
        <p:spPr>
          <a:xfrm>
            <a:off x="364664" y="241301"/>
            <a:ext cx="5629736" cy="307134"/>
          </a:xfrm>
          <a:prstGeom prst="rect">
            <a:avLst/>
          </a:prstGeom>
        </p:spPr>
        <p:txBody>
          <a:bodyPr vert="horz" wrap="square" lIns="0" tIns="14604" rIns="0" bIns="0" rtlCol="0">
            <a:spAutoFit/>
          </a:bodyPr>
          <a:lstStyle/>
          <a:p>
            <a:pPr marL="12700" algn="ctr">
              <a:lnSpc>
                <a:spcPct val="100000"/>
              </a:lnSpc>
              <a:spcBef>
                <a:spcPts val="114"/>
              </a:spcBef>
            </a:pPr>
            <a:r>
              <a:rPr spc="5" dirty="0">
                <a:solidFill>
                  <a:schemeClr val="tx2"/>
                </a:solidFill>
              </a:rPr>
              <a:t>Operators</a:t>
            </a:r>
          </a:p>
        </p:txBody>
      </p:sp>
      <p:sp>
        <p:nvSpPr>
          <p:cNvPr id="4" name="object 4"/>
          <p:cNvSpPr txBox="1"/>
          <p:nvPr/>
        </p:nvSpPr>
        <p:spPr>
          <a:xfrm>
            <a:off x="364664" y="680720"/>
            <a:ext cx="5708650" cy="2837180"/>
          </a:xfrm>
          <a:prstGeom prst="rect">
            <a:avLst/>
          </a:prstGeom>
        </p:spPr>
        <p:txBody>
          <a:bodyPr vert="horz" wrap="square" lIns="0" tIns="67310" rIns="0" bIns="0" rtlCol="0">
            <a:spAutoFit/>
          </a:bodyPr>
          <a:lstStyle/>
          <a:p>
            <a:pPr marL="194945" indent="-182880">
              <a:lnSpc>
                <a:spcPct val="100000"/>
              </a:lnSpc>
              <a:spcBef>
                <a:spcPts val="530"/>
              </a:spcBef>
              <a:buChar char="•"/>
              <a:tabLst>
                <a:tab pos="195580" algn="l"/>
              </a:tabLst>
            </a:pPr>
            <a:r>
              <a:rPr sz="1700" spc="10" dirty="0">
                <a:latin typeface="Arial MT"/>
                <a:cs typeface="Arial MT"/>
              </a:rPr>
              <a:t>An</a:t>
            </a:r>
            <a:r>
              <a:rPr sz="1700" spc="-30" dirty="0">
                <a:latin typeface="Arial MT"/>
                <a:cs typeface="Arial MT"/>
              </a:rPr>
              <a:t> </a:t>
            </a:r>
            <a:r>
              <a:rPr sz="1700" dirty="0">
                <a:latin typeface="Arial MT"/>
                <a:cs typeface="Arial MT"/>
              </a:rPr>
              <a:t>operator</a:t>
            </a:r>
            <a:r>
              <a:rPr sz="1700" spc="-85" dirty="0">
                <a:latin typeface="Arial MT"/>
                <a:cs typeface="Arial MT"/>
              </a:rPr>
              <a:t> </a:t>
            </a:r>
            <a:r>
              <a:rPr sz="1700" spc="10" dirty="0">
                <a:latin typeface="Arial MT"/>
                <a:cs typeface="Arial MT"/>
              </a:rPr>
              <a:t>is</a:t>
            </a:r>
            <a:r>
              <a:rPr sz="1700" spc="-10" dirty="0">
                <a:latin typeface="Arial MT"/>
                <a:cs typeface="Arial MT"/>
              </a:rPr>
              <a:t> </a:t>
            </a:r>
            <a:r>
              <a:rPr sz="1700" spc="10" dirty="0">
                <a:latin typeface="Arial MT"/>
                <a:cs typeface="Arial MT"/>
              </a:rPr>
              <a:t>a</a:t>
            </a:r>
            <a:r>
              <a:rPr sz="1700" spc="-25" dirty="0">
                <a:latin typeface="Arial MT"/>
                <a:cs typeface="Arial MT"/>
              </a:rPr>
              <a:t> </a:t>
            </a:r>
            <a:r>
              <a:rPr sz="1700" spc="5" dirty="0">
                <a:latin typeface="Arial MT"/>
                <a:cs typeface="Arial MT"/>
              </a:rPr>
              <a:t>symbol</a:t>
            </a:r>
            <a:r>
              <a:rPr sz="1700" spc="-50" dirty="0">
                <a:latin typeface="Arial MT"/>
                <a:cs typeface="Arial MT"/>
              </a:rPr>
              <a:t> </a:t>
            </a:r>
            <a:r>
              <a:rPr sz="1700" spc="5" dirty="0">
                <a:latin typeface="Arial MT"/>
                <a:cs typeface="Arial MT"/>
              </a:rPr>
              <a:t>that</a:t>
            </a:r>
            <a:r>
              <a:rPr sz="1700" spc="-25" dirty="0">
                <a:latin typeface="Arial MT"/>
                <a:cs typeface="Arial MT"/>
              </a:rPr>
              <a:t> </a:t>
            </a:r>
            <a:r>
              <a:rPr sz="1700" spc="10" dirty="0">
                <a:latin typeface="Arial MT"/>
                <a:cs typeface="Arial MT"/>
              </a:rPr>
              <a:t>tells</a:t>
            </a:r>
            <a:r>
              <a:rPr sz="1700" spc="-55" dirty="0">
                <a:latin typeface="Arial MT"/>
                <a:cs typeface="Arial MT"/>
              </a:rPr>
              <a:t> </a:t>
            </a:r>
            <a:r>
              <a:rPr sz="1700" spc="5" dirty="0">
                <a:latin typeface="Arial MT"/>
                <a:cs typeface="Arial MT"/>
              </a:rPr>
              <a:t>the</a:t>
            </a:r>
            <a:r>
              <a:rPr sz="1700" spc="-25" dirty="0">
                <a:latin typeface="Arial MT"/>
                <a:cs typeface="Arial MT"/>
              </a:rPr>
              <a:t> </a:t>
            </a:r>
            <a:r>
              <a:rPr sz="1700" spc="5" dirty="0">
                <a:latin typeface="Arial MT"/>
                <a:cs typeface="Arial MT"/>
              </a:rPr>
              <a:t>computer</a:t>
            </a:r>
            <a:r>
              <a:rPr sz="1700" spc="-120" dirty="0">
                <a:latin typeface="Arial MT"/>
                <a:cs typeface="Arial MT"/>
              </a:rPr>
              <a:t> </a:t>
            </a:r>
            <a:r>
              <a:rPr sz="1700" spc="5" dirty="0">
                <a:latin typeface="Arial MT"/>
                <a:cs typeface="Arial MT"/>
              </a:rPr>
              <a:t>to</a:t>
            </a:r>
            <a:r>
              <a:rPr sz="1700" spc="-25" dirty="0">
                <a:latin typeface="Arial MT"/>
                <a:cs typeface="Arial MT"/>
              </a:rPr>
              <a:t> </a:t>
            </a:r>
            <a:r>
              <a:rPr sz="1700" spc="5" dirty="0">
                <a:latin typeface="Arial MT"/>
                <a:cs typeface="Arial MT"/>
              </a:rPr>
              <a:t>perform</a:t>
            </a:r>
            <a:endParaRPr sz="1700" dirty="0">
              <a:latin typeface="Arial MT"/>
              <a:cs typeface="Arial MT"/>
            </a:endParaRPr>
          </a:p>
          <a:p>
            <a:pPr marL="194945" indent="-182880">
              <a:lnSpc>
                <a:spcPct val="100000"/>
              </a:lnSpc>
              <a:spcBef>
                <a:spcPts val="440"/>
              </a:spcBef>
              <a:buChar char="•"/>
              <a:tabLst>
                <a:tab pos="195580" algn="l"/>
              </a:tabLst>
            </a:pPr>
            <a:r>
              <a:rPr sz="1700" spc="5" dirty="0">
                <a:latin typeface="Arial MT"/>
                <a:cs typeface="Arial MT"/>
              </a:rPr>
              <a:t>certain</a:t>
            </a:r>
            <a:r>
              <a:rPr sz="1700" spc="-75" dirty="0">
                <a:latin typeface="Arial MT"/>
                <a:cs typeface="Arial MT"/>
              </a:rPr>
              <a:t> </a:t>
            </a:r>
            <a:r>
              <a:rPr sz="1700" dirty="0">
                <a:latin typeface="Arial MT"/>
                <a:cs typeface="Arial MT"/>
              </a:rPr>
              <a:t>mathematical</a:t>
            </a:r>
            <a:r>
              <a:rPr sz="1700" spc="-95" dirty="0">
                <a:latin typeface="Arial MT"/>
                <a:cs typeface="Arial MT"/>
              </a:rPr>
              <a:t> </a:t>
            </a:r>
            <a:r>
              <a:rPr sz="1700" spc="5" dirty="0">
                <a:latin typeface="Arial MT"/>
                <a:cs typeface="Arial MT"/>
              </a:rPr>
              <a:t>or</a:t>
            </a:r>
            <a:r>
              <a:rPr sz="1700" spc="-45" dirty="0">
                <a:latin typeface="Arial MT"/>
                <a:cs typeface="Arial MT"/>
              </a:rPr>
              <a:t> </a:t>
            </a:r>
            <a:r>
              <a:rPr sz="1700" spc="10" dirty="0">
                <a:latin typeface="Arial MT"/>
                <a:cs typeface="Arial MT"/>
              </a:rPr>
              <a:t>logical</a:t>
            </a:r>
            <a:r>
              <a:rPr sz="1700" spc="-90" dirty="0">
                <a:latin typeface="Arial MT"/>
                <a:cs typeface="Arial MT"/>
              </a:rPr>
              <a:t> </a:t>
            </a:r>
            <a:r>
              <a:rPr sz="1700" spc="5" dirty="0">
                <a:latin typeface="Arial MT"/>
                <a:cs typeface="Arial MT"/>
              </a:rPr>
              <a:t>manipulation.</a:t>
            </a:r>
            <a:endParaRPr sz="1700" dirty="0">
              <a:latin typeface="Arial MT"/>
              <a:cs typeface="Arial MT"/>
            </a:endParaRPr>
          </a:p>
          <a:p>
            <a:pPr marL="194945" indent="-182880">
              <a:lnSpc>
                <a:spcPct val="100000"/>
              </a:lnSpc>
              <a:spcBef>
                <a:spcPts val="400"/>
              </a:spcBef>
              <a:buChar char="•"/>
              <a:tabLst>
                <a:tab pos="195580" algn="l"/>
              </a:tabLst>
            </a:pPr>
            <a:r>
              <a:rPr sz="1700" spc="25" dirty="0">
                <a:latin typeface="Arial MT"/>
                <a:cs typeface="Arial MT"/>
              </a:rPr>
              <a:t>Java</a:t>
            </a:r>
            <a:r>
              <a:rPr sz="1700" spc="-110" dirty="0">
                <a:latin typeface="Arial MT"/>
                <a:cs typeface="Arial MT"/>
              </a:rPr>
              <a:t> </a:t>
            </a:r>
            <a:r>
              <a:rPr sz="1700" dirty="0">
                <a:latin typeface="Arial MT"/>
                <a:cs typeface="Arial MT"/>
              </a:rPr>
              <a:t>operators</a:t>
            </a:r>
            <a:r>
              <a:rPr sz="1700" spc="-95" dirty="0">
                <a:latin typeface="Arial MT"/>
                <a:cs typeface="Arial MT"/>
              </a:rPr>
              <a:t> </a:t>
            </a:r>
            <a:r>
              <a:rPr sz="1700" spc="10" dirty="0">
                <a:latin typeface="Arial MT"/>
                <a:cs typeface="Arial MT"/>
              </a:rPr>
              <a:t>can</a:t>
            </a:r>
            <a:r>
              <a:rPr sz="1700" spc="-25" dirty="0">
                <a:latin typeface="Arial MT"/>
                <a:cs typeface="Arial MT"/>
              </a:rPr>
              <a:t> </a:t>
            </a:r>
            <a:r>
              <a:rPr sz="1700" spc="5" dirty="0">
                <a:latin typeface="Arial MT"/>
                <a:cs typeface="Arial MT"/>
              </a:rPr>
              <a:t>be</a:t>
            </a:r>
            <a:r>
              <a:rPr sz="1700" spc="-25" dirty="0">
                <a:latin typeface="Arial MT"/>
                <a:cs typeface="Arial MT"/>
              </a:rPr>
              <a:t> </a:t>
            </a:r>
            <a:r>
              <a:rPr sz="1700" spc="10" dirty="0">
                <a:latin typeface="Arial MT"/>
                <a:cs typeface="Arial MT"/>
              </a:rPr>
              <a:t>divided</a:t>
            </a:r>
            <a:r>
              <a:rPr sz="1700" spc="-110" dirty="0">
                <a:latin typeface="Arial MT"/>
                <a:cs typeface="Arial MT"/>
              </a:rPr>
              <a:t> </a:t>
            </a:r>
            <a:r>
              <a:rPr sz="1700" spc="5" dirty="0">
                <a:latin typeface="Arial MT"/>
                <a:cs typeface="Arial MT"/>
              </a:rPr>
              <a:t>into</a:t>
            </a:r>
            <a:r>
              <a:rPr sz="1700" spc="-65" dirty="0">
                <a:latin typeface="Arial MT"/>
                <a:cs typeface="Arial MT"/>
              </a:rPr>
              <a:t> </a:t>
            </a:r>
            <a:r>
              <a:rPr sz="1700" spc="5" dirty="0">
                <a:latin typeface="Arial MT"/>
                <a:cs typeface="Arial MT"/>
              </a:rPr>
              <a:t>following</a:t>
            </a:r>
            <a:r>
              <a:rPr sz="1700" spc="-70" dirty="0">
                <a:latin typeface="Arial MT"/>
                <a:cs typeface="Arial MT"/>
              </a:rPr>
              <a:t> </a:t>
            </a:r>
            <a:r>
              <a:rPr sz="1700" spc="5" dirty="0">
                <a:latin typeface="Arial MT"/>
                <a:cs typeface="Arial MT"/>
              </a:rPr>
              <a:t>categories:</a:t>
            </a:r>
            <a:endParaRPr sz="1700" dirty="0">
              <a:latin typeface="Arial MT"/>
              <a:cs typeface="Arial MT"/>
            </a:endParaRPr>
          </a:p>
          <a:p>
            <a:pPr marL="499109" lvl="1" indent="-274320">
              <a:lnSpc>
                <a:spcPct val="100000"/>
              </a:lnSpc>
              <a:spcBef>
                <a:spcPts val="434"/>
              </a:spcBef>
              <a:buAutoNum type="arabicPeriod"/>
              <a:tabLst>
                <a:tab pos="499745" algn="l"/>
              </a:tabLst>
            </a:pPr>
            <a:r>
              <a:rPr sz="1700" spc="15" dirty="0">
                <a:latin typeface="Arial MT"/>
                <a:cs typeface="Arial MT"/>
              </a:rPr>
              <a:t>A</a:t>
            </a:r>
            <a:r>
              <a:rPr sz="1700" spc="-10" dirty="0">
                <a:latin typeface="Arial MT"/>
                <a:cs typeface="Arial MT"/>
              </a:rPr>
              <a:t>r</a:t>
            </a:r>
            <a:r>
              <a:rPr sz="1700" spc="15" dirty="0">
                <a:latin typeface="Arial MT"/>
                <a:cs typeface="Arial MT"/>
              </a:rPr>
              <a:t>i</a:t>
            </a:r>
            <a:r>
              <a:rPr sz="1700" spc="5" dirty="0">
                <a:latin typeface="Arial MT"/>
                <a:cs typeface="Arial MT"/>
              </a:rPr>
              <a:t>th</a:t>
            </a:r>
            <a:r>
              <a:rPr sz="1700" spc="20" dirty="0">
                <a:latin typeface="Arial MT"/>
                <a:cs typeface="Arial MT"/>
              </a:rPr>
              <a:t>m</a:t>
            </a:r>
            <a:r>
              <a:rPr sz="1700" dirty="0">
                <a:latin typeface="Arial MT"/>
                <a:cs typeface="Arial MT"/>
              </a:rPr>
              <a:t>et</a:t>
            </a:r>
            <a:r>
              <a:rPr sz="1700" spc="15" dirty="0">
                <a:latin typeface="Arial MT"/>
                <a:cs typeface="Arial MT"/>
              </a:rPr>
              <a:t>i</a:t>
            </a:r>
            <a:r>
              <a:rPr sz="1700" spc="5" dirty="0">
                <a:latin typeface="Arial MT"/>
                <a:cs typeface="Arial MT"/>
              </a:rPr>
              <a:t>c</a:t>
            </a:r>
            <a:r>
              <a:rPr sz="1700" spc="-90" dirty="0">
                <a:latin typeface="Times New Roman"/>
                <a:cs typeface="Times New Roman"/>
              </a:rPr>
              <a:t> </a:t>
            </a:r>
            <a:r>
              <a:rPr sz="1700" spc="-15" dirty="0">
                <a:latin typeface="Arial MT"/>
                <a:cs typeface="Arial MT"/>
              </a:rPr>
              <a:t>O</a:t>
            </a:r>
            <a:r>
              <a:rPr sz="1700" spc="5" dirty="0">
                <a:latin typeface="Arial MT"/>
                <a:cs typeface="Arial MT"/>
              </a:rPr>
              <a:t>pe</a:t>
            </a:r>
            <a:r>
              <a:rPr sz="1700" spc="-5" dirty="0">
                <a:latin typeface="Arial MT"/>
                <a:cs typeface="Arial MT"/>
              </a:rPr>
              <a:t>r</a:t>
            </a:r>
            <a:r>
              <a:rPr sz="1700" dirty="0">
                <a:latin typeface="Arial MT"/>
                <a:cs typeface="Arial MT"/>
              </a:rPr>
              <a:t>at</a:t>
            </a:r>
            <a:r>
              <a:rPr sz="1700" spc="10" dirty="0">
                <a:latin typeface="Arial MT"/>
                <a:cs typeface="Arial MT"/>
              </a:rPr>
              <a:t>o</a:t>
            </a:r>
            <a:r>
              <a:rPr sz="1700" spc="-10" dirty="0">
                <a:latin typeface="Arial MT"/>
                <a:cs typeface="Arial MT"/>
              </a:rPr>
              <a:t>r</a:t>
            </a:r>
            <a:r>
              <a:rPr sz="1700" spc="5" dirty="0">
                <a:latin typeface="Arial MT"/>
                <a:cs typeface="Arial MT"/>
              </a:rPr>
              <a:t>s</a:t>
            </a:r>
            <a:endParaRPr sz="1700" dirty="0">
              <a:latin typeface="Arial MT"/>
              <a:cs typeface="Arial MT"/>
            </a:endParaRPr>
          </a:p>
          <a:p>
            <a:pPr marL="499109" lvl="1" indent="-274320">
              <a:lnSpc>
                <a:spcPct val="100000"/>
              </a:lnSpc>
              <a:spcBef>
                <a:spcPts val="400"/>
              </a:spcBef>
              <a:buAutoNum type="arabicPeriod"/>
              <a:tabLst>
                <a:tab pos="499745" algn="l"/>
              </a:tabLst>
            </a:pPr>
            <a:r>
              <a:rPr sz="1700" spc="5" dirty="0">
                <a:latin typeface="Arial MT"/>
                <a:cs typeface="Arial MT"/>
              </a:rPr>
              <a:t>Re</a:t>
            </a:r>
            <a:r>
              <a:rPr sz="1700" spc="10" dirty="0">
                <a:latin typeface="Arial MT"/>
                <a:cs typeface="Arial MT"/>
              </a:rPr>
              <a:t>l</a:t>
            </a:r>
            <a:r>
              <a:rPr sz="1700" dirty="0">
                <a:latin typeface="Arial MT"/>
                <a:cs typeface="Arial MT"/>
              </a:rPr>
              <a:t>at</a:t>
            </a:r>
            <a:r>
              <a:rPr sz="1700" spc="15" dirty="0">
                <a:latin typeface="Arial MT"/>
                <a:cs typeface="Arial MT"/>
              </a:rPr>
              <a:t>i</a:t>
            </a:r>
            <a:r>
              <a:rPr sz="1700" spc="5" dirty="0">
                <a:latin typeface="Arial MT"/>
                <a:cs typeface="Arial MT"/>
              </a:rPr>
              <a:t>onal</a:t>
            </a:r>
            <a:r>
              <a:rPr sz="1700" spc="-90" dirty="0">
                <a:latin typeface="Times New Roman"/>
                <a:cs typeface="Times New Roman"/>
              </a:rPr>
              <a:t> </a:t>
            </a:r>
            <a:r>
              <a:rPr sz="1700" spc="-15" dirty="0">
                <a:latin typeface="Arial MT"/>
                <a:cs typeface="Arial MT"/>
              </a:rPr>
              <a:t>O</a:t>
            </a:r>
            <a:r>
              <a:rPr sz="1700" spc="5" dirty="0">
                <a:latin typeface="Arial MT"/>
                <a:cs typeface="Arial MT"/>
              </a:rPr>
              <a:t>pe</a:t>
            </a:r>
            <a:r>
              <a:rPr sz="1700" spc="-5" dirty="0">
                <a:latin typeface="Arial MT"/>
                <a:cs typeface="Arial MT"/>
              </a:rPr>
              <a:t>r</a:t>
            </a:r>
            <a:r>
              <a:rPr sz="1700" dirty="0">
                <a:latin typeface="Arial MT"/>
                <a:cs typeface="Arial MT"/>
              </a:rPr>
              <a:t>at</a:t>
            </a:r>
            <a:r>
              <a:rPr sz="1700" spc="10" dirty="0">
                <a:latin typeface="Arial MT"/>
                <a:cs typeface="Arial MT"/>
              </a:rPr>
              <a:t>o</a:t>
            </a:r>
            <a:r>
              <a:rPr sz="1700" spc="-10" dirty="0">
                <a:latin typeface="Arial MT"/>
                <a:cs typeface="Arial MT"/>
              </a:rPr>
              <a:t>r</a:t>
            </a:r>
            <a:r>
              <a:rPr sz="1700" spc="5" dirty="0">
                <a:latin typeface="Arial MT"/>
                <a:cs typeface="Arial MT"/>
              </a:rPr>
              <a:t>s</a:t>
            </a:r>
            <a:endParaRPr sz="1700" dirty="0">
              <a:latin typeface="Arial MT"/>
              <a:cs typeface="Arial MT"/>
            </a:endParaRPr>
          </a:p>
          <a:p>
            <a:pPr marL="499109" lvl="1" indent="-274320">
              <a:lnSpc>
                <a:spcPct val="100000"/>
              </a:lnSpc>
              <a:spcBef>
                <a:spcPts val="434"/>
              </a:spcBef>
              <a:buAutoNum type="arabicPeriod"/>
              <a:tabLst>
                <a:tab pos="499745" algn="l"/>
              </a:tabLst>
            </a:pPr>
            <a:r>
              <a:rPr sz="1700" dirty="0">
                <a:latin typeface="Arial MT"/>
                <a:cs typeface="Arial MT"/>
              </a:rPr>
              <a:t>Bitwise</a:t>
            </a:r>
            <a:r>
              <a:rPr sz="1700" spc="-100" dirty="0">
                <a:latin typeface="Arial MT"/>
                <a:cs typeface="Arial MT"/>
              </a:rPr>
              <a:t> </a:t>
            </a:r>
            <a:r>
              <a:rPr sz="1700" dirty="0">
                <a:latin typeface="Arial MT"/>
                <a:cs typeface="Arial MT"/>
              </a:rPr>
              <a:t>Operators</a:t>
            </a:r>
          </a:p>
          <a:p>
            <a:pPr marL="499109" lvl="1" indent="-274320">
              <a:lnSpc>
                <a:spcPct val="100000"/>
              </a:lnSpc>
              <a:spcBef>
                <a:spcPts val="400"/>
              </a:spcBef>
              <a:buAutoNum type="arabicPeriod"/>
              <a:tabLst>
                <a:tab pos="499745" algn="l"/>
              </a:tabLst>
            </a:pPr>
            <a:r>
              <a:rPr sz="1700" spc="5" dirty="0">
                <a:latin typeface="Arial MT"/>
                <a:cs typeface="Arial MT"/>
              </a:rPr>
              <a:t>Lo</a:t>
            </a:r>
            <a:r>
              <a:rPr sz="1700" spc="10" dirty="0">
                <a:latin typeface="Arial MT"/>
                <a:cs typeface="Arial MT"/>
              </a:rPr>
              <a:t>g</a:t>
            </a:r>
            <a:r>
              <a:rPr sz="1700" spc="20" dirty="0">
                <a:latin typeface="Arial MT"/>
                <a:cs typeface="Arial MT"/>
              </a:rPr>
              <a:t>ic</a:t>
            </a:r>
            <a:r>
              <a:rPr sz="1700" spc="5" dirty="0">
                <a:latin typeface="Arial MT"/>
                <a:cs typeface="Arial MT"/>
              </a:rPr>
              <a:t>a</a:t>
            </a:r>
            <a:r>
              <a:rPr sz="1700" dirty="0">
                <a:latin typeface="Arial MT"/>
                <a:cs typeface="Arial MT"/>
              </a:rPr>
              <a:t>l</a:t>
            </a:r>
            <a:r>
              <a:rPr sz="1700" spc="-50" dirty="0">
                <a:latin typeface="Times New Roman"/>
                <a:cs typeface="Times New Roman"/>
              </a:rPr>
              <a:t> </a:t>
            </a:r>
            <a:r>
              <a:rPr sz="1700" spc="-15" dirty="0">
                <a:latin typeface="Arial MT"/>
                <a:cs typeface="Arial MT"/>
              </a:rPr>
              <a:t>O</a:t>
            </a:r>
            <a:r>
              <a:rPr sz="1700" spc="5" dirty="0">
                <a:latin typeface="Arial MT"/>
                <a:cs typeface="Arial MT"/>
              </a:rPr>
              <a:t>pe</a:t>
            </a:r>
            <a:r>
              <a:rPr sz="1700" spc="-5" dirty="0">
                <a:latin typeface="Arial MT"/>
                <a:cs typeface="Arial MT"/>
              </a:rPr>
              <a:t>r</a:t>
            </a:r>
            <a:r>
              <a:rPr sz="1700" dirty="0">
                <a:latin typeface="Arial MT"/>
                <a:cs typeface="Arial MT"/>
              </a:rPr>
              <a:t>at</a:t>
            </a:r>
            <a:r>
              <a:rPr sz="1700" spc="10" dirty="0">
                <a:latin typeface="Arial MT"/>
                <a:cs typeface="Arial MT"/>
              </a:rPr>
              <a:t>o</a:t>
            </a:r>
            <a:r>
              <a:rPr sz="1700" spc="-10" dirty="0">
                <a:latin typeface="Arial MT"/>
                <a:cs typeface="Arial MT"/>
              </a:rPr>
              <a:t>r</a:t>
            </a:r>
            <a:r>
              <a:rPr sz="1700" spc="5" dirty="0">
                <a:latin typeface="Arial MT"/>
                <a:cs typeface="Arial MT"/>
              </a:rPr>
              <a:t>s</a:t>
            </a:r>
            <a:endParaRPr sz="1700" dirty="0">
              <a:latin typeface="Arial MT"/>
              <a:cs typeface="Arial MT"/>
            </a:endParaRPr>
          </a:p>
          <a:p>
            <a:pPr marL="499109" lvl="1" indent="-274320">
              <a:lnSpc>
                <a:spcPct val="100000"/>
              </a:lnSpc>
              <a:spcBef>
                <a:spcPts val="434"/>
              </a:spcBef>
              <a:buAutoNum type="arabicPeriod"/>
              <a:tabLst>
                <a:tab pos="499745" algn="l"/>
              </a:tabLst>
            </a:pPr>
            <a:r>
              <a:rPr sz="1700" spc="15" dirty="0">
                <a:latin typeface="Arial MT"/>
                <a:cs typeface="Arial MT"/>
              </a:rPr>
              <a:t>A</a:t>
            </a:r>
            <a:r>
              <a:rPr sz="1700" spc="20" dirty="0">
                <a:latin typeface="Arial MT"/>
                <a:cs typeface="Arial MT"/>
              </a:rPr>
              <a:t>ssi</a:t>
            </a:r>
            <a:r>
              <a:rPr sz="1700" spc="5" dirty="0">
                <a:latin typeface="Arial MT"/>
                <a:cs typeface="Arial MT"/>
              </a:rPr>
              <a:t>gn</a:t>
            </a:r>
            <a:r>
              <a:rPr sz="1700" spc="-20" dirty="0">
                <a:latin typeface="Arial MT"/>
                <a:cs typeface="Arial MT"/>
              </a:rPr>
              <a:t>m</a:t>
            </a:r>
            <a:r>
              <a:rPr sz="1700" spc="5" dirty="0">
                <a:latin typeface="Arial MT"/>
                <a:cs typeface="Arial MT"/>
              </a:rPr>
              <a:t>ent</a:t>
            </a:r>
            <a:r>
              <a:rPr sz="1700" spc="-105" dirty="0">
                <a:latin typeface="Times New Roman"/>
                <a:cs typeface="Times New Roman"/>
              </a:rPr>
              <a:t> </a:t>
            </a:r>
            <a:r>
              <a:rPr sz="1700" spc="-15" dirty="0">
                <a:latin typeface="Arial MT"/>
                <a:cs typeface="Arial MT"/>
              </a:rPr>
              <a:t>O</a:t>
            </a:r>
            <a:r>
              <a:rPr sz="1700" spc="5" dirty="0">
                <a:latin typeface="Arial MT"/>
                <a:cs typeface="Arial MT"/>
              </a:rPr>
              <a:t>pe</a:t>
            </a:r>
            <a:r>
              <a:rPr sz="1700" spc="-5" dirty="0">
                <a:latin typeface="Arial MT"/>
                <a:cs typeface="Arial MT"/>
              </a:rPr>
              <a:t>r</a:t>
            </a:r>
            <a:r>
              <a:rPr sz="1700" dirty="0">
                <a:latin typeface="Arial MT"/>
                <a:cs typeface="Arial MT"/>
              </a:rPr>
              <a:t>at</a:t>
            </a:r>
            <a:r>
              <a:rPr sz="1700" spc="10" dirty="0">
                <a:latin typeface="Arial MT"/>
                <a:cs typeface="Arial MT"/>
              </a:rPr>
              <a:t>o</a:t>
            </a:r>
            <a:r>
              <a:rPr sz="1700" spc="-10" dirty="0">
                <a:latin typeface="Arial MT"/>
                <a:cs typeface="Arial MT"/>
              </a:rPr>
              <a:t>r</a:t>
            </a:r>
            <a:r>
              <a:rPr sz="1700" spc="5" dirty="0">
                <a:latin typeface="Arial MT"/>
                <a:cs typeface="Arial MT"/>
              </a:rPr>
              <a:t>s</a:t>
            </a:r>
            <a:endParaRPr sz="1700" dirty="0">
              <a:latin typeface="Arial MT"/>
              <a:cs typeface="Arial MT"/>
            </a:endParaRPr>
          </a:p>
          <a:p>
            <a:pPr marL="499109" lvl="1" indent="-274320">
              <a:lnSpc>
                <a:spcPct val="100000"/>
              </a:lnSpc>
              <a:spcBef>
                <a:spcPts val="400"/>
              </a:spcBef>
              <a:buAutoNum type="arabicPeriod"/>
              <a:tabLst>
                <a:tab pos="499745" algn="l"/>
              </a:tabLst>
            </a:pPr>
            <a:r>
              <a:rPr sz="1700" spc="20" dirty="0">
                <a:latin typeface="Arial MT"/>
                <a:cs typeface="Arial MT"/>
              </a:rPr>
              <a:t>c</a:t>
            </a:r>
            <a:r>
              <a:rPr sz="1700" spc="5" dirty="0">
                <a:latin typeface="Arial MT"/>
                <a:cs typeface="Arial MT"/>
              </a:rPr>
              <a:t>on</a:t>
            </a:r>
            <a:r>
              <a:rPr sz="1700" spc="10" dirty="0">
                <a:latin typeface="Arial MT"/>
                <a:cs typeface="Arial MT"/>
              </a:rPr>
              <a:t>d</a:t>
            </a:r>
            <a:r>
              <a:rPr sz="1700" spc="15" dirty="0">
                <a:latin typeface="Arial MT"/>
                <a:cs typeface="Arial MT"/>
              </a:rPr>
              <a:t>i</a:t>
            </a:r>
            <a:r>
              <a:rPr sz="1700" spc="5" dirty="0">
                <a:latin typeface="Arial MT"/>
                <a:cs typeface="Arial MT"/>
              </a:rPr>
              <a:t>t</a:t>
            </a:r>
            <a:r>
              <a:rPr sz="1700" spc="15" dirty="0">
                <a:latin typeface="Arial MT"/>
                <a:cs typeface="Arial MT"/>
              </a:rPr>
              <a:t>i</a:t>
            </a:r>
            <a:r>
              <a:rPr sz="1700" spc="5" dirty="0">
                <a:latin typeface="Arial MT"/>
                <a:cs typeface="Arial MT"/>
              </a:rPr>
              <a:t>o</a:t>
            </a:r>
            <a:r>
              <a:rPr sz="1700" spc="-30" dirty="0">
                <a:latin typeface="Arial MT"/>
                <a:cs typeface="Arial MT"/>
              </a:rPr>
              <a:t>n</a:t>
            </a:r>
            <a:r>
              <a:rPr sz="1700" spc="5" dirty="0">
                <a:latin typeface="Arial MT"/>
                <a:cs typeface="Arial MT"/>
              </a:rPr>
              <a:t>a</a:t>
            </a:r>
            <a:r>
              <a:rPr sz="1700" dirty="0">
                <a:latin typeface="Arial MT"/>
                <a:cs typeface="Arial MT"/>
              </a:rPr>
              <a:t>l</a:t>
            </a:r>
            <a:r>
              <a:rPr sz="1700" spc="-90" dirty="0">
                <a:latin typeface="Times New Roman"/>
                <a:cs typeface="Times New Roman"/>
              </a:rPr>
              <a:t> </a:t>
            </a:r>
            <a:r>
              <a:rPr sz="1700" spc="5" dirty="0">
                <a:latin typeface="Arial MT"/>
                <a:cs typeface="Arial MT"/>
              </a:rPr>
              <a:t>op</a:t>
            </a:r>
            <a:r>
              <a:rPr sz="1700" spc="10" dirty="0">
                <a:latin typeface="Arial MT"/>
                <a:cs typeface="Arial MT"/>
              </a:rPr>
              <a:t>e</a:t>
            </a:r>
            <a:r>
              <a:rPr sz="1700" spc="-10" dirty="0">
                <a:latin typeface="Arial MT"/>
                <a:cs typeface="Arial MT"/>
              </a:rPr>
              <a:t>r</a:t>
            </a:r>
            <a:r>
              <a:rPr sz="1700" dirty="0">
                <a:latin typeface="Arial MT"/>
                <a:cs typeface="Arial MT"/>
              </a:rPr>
              <a:t>at</a:t>
            </a:r>
            <a:r>
              <a:rPr sz="1700" spc="5" dirty="0">
                <a:latin typeface="Arial MT"/>
                <a:cs typeface="Arial MT"/>
              </a:rPr>
              <a:t>or</a:t>
            </a:r>
            <a:r>
              <a:rPr sz="1700" spc="-5" dirty="0">
                <a:latin typeface="Times New Roman"/>
                <a:cs typeface="Times New Roman"/>
              </a:rPr>
              <a:t> </a:t>
            </a:r>
            <a:r>
              <a:rPr sz="1700" spc="-10" dirty="0">
                <a:latin typeface="Arial MT"/>
                <a:cs typeface="Arial MT"/>
              </a:rPr>
              <a:t>(T</a:t>
            </a:r>
            <a:r>
              <a:rPr sz="1700" spc="5" dirty="0">
                <a:latin typeface="Arial MT"/>
                <a:cs typeface="Arial MT"/>
              </a:rPr>
              <a:t>e</a:t>
            </a:r>
            <a:r>
              <a:rPr sz="1700" spc="-10" dirty="0">
                <a:latin typeface="Arial MT"/>
                <a:cs typeface="Arial MT"/>
              </a:rPr>
              <a:t>r</a:t>
            </a:r>
            <a:r>
              <a:rPr sz="1700" spc="5" dirty="0">
                <a:latin typeface="Arial MT"/>
                <a:cs typeface="Arial MT"/>
              </a:rPr>
              <a:t>na</a:t>
            </a:r>
            <a:r>
              <a:rPr sz="1700" spc="-5" dirty="0">
                <a:latin typeface="Arial MT"/>
                <a:cs typeface="Arial MT"/>
              </a:rPr>
              <a:t>r</a:t>
            </a:r>
            <a:r>
              <a:rPr sz="1700" spc="-20" dirty="0">
                <a:latin typeface="Arial MT"/>
                <a:cs typeface="Arial MT"/>
              </a:rPr>
              <a:t>y</a:t>
            </a:r>
            <a:r>
              <a:rPr sz="1700" spc="5" dirty="0">
                <a:latin typeface="Arial MT"/>
                <a:cs typeface="Arial MT"/>
              </a:rPr>
              <a:t>)</a:t>
            </a:r>
            <a:endParaRPr sz="1700" dirty="0">
              <a:latin typeface="Arial MT"/>
              <a:cs typeface="Arial MT"/>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1387" y="170827"/>
            <a:ext cx="6498590" cy="3660140"/>
            <a:chOff x="-1387" y="170827"/>
            <a:chExt cx="6498590" cy="3660140"/>
          </a:xfrm>
        </p:grpSpPr>
        <p:pic>
          <p:nvPicPr>
            <p:cNvPr id="5" name="object 5"/>
            <p:cNvPicPr/>
            <p:nvPr/>
          </p:nvPicPr>
          <p:blipFill>
            <a:blip r:embed="rId2" cstate="print"/>
            <a:stretch>
              <a:fillRect/>
            </a:stretch>
          </p:blipFill>
          <p:spPr>
            <a:xfrm>
              <a:off x="183930" y="831616"/>
              <a:ext cx="6089362" cy="2514681"/>
            </a:xfrm>
            <a:prstGeom prst="rect">
              <a:avLst/>
            </a:prstGeom>
          </p:spPr>
        </p:pic>
        <p:sp>
          <p:nvSpPr>
            <p:cNvPr id="6" name="object 6"/>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
        <p:nvSpPr>
          <p:cNvPr id="8" name="Title 7">
            <a:extLst>
              <a:ext uri="{FF2B5EF4-FFF2-40B4-BE49-F238E27FC236}">
                <a16:creationId xmlns:a16="http://schemas.microsoft.com/office/drawing/2014/main" id="{FB28E737-67CB-1D33-1DEC-FD797F786184}"/>
              </a:ext>
            </a:extLst>
          </p:cNvPr>
          <p:cNvSpPr>
            <a:spLocks noGrp="1"/>
          </p:cNvSpPr>
          <p:nvPr>
            <p:ph type="title"/>
          </p:nvPr>
        </p:nvSpPr>
        <p:spPr/>
        <p:txBody>
          <a:bodyPr/>
          <a:lstStyle/>
          <a:p>
            <a:endParaRPr lang="en-US"/>
          </a:p>
        </p:txBody>
      </p:sp>
      <p:sp>
        <p:nvSpPr>
          <p:cNvPr id="10" name="TextBox 9">
            <a:extLst>
              <a:ext uri="{FF2B5EF4-FFF2-40B4-BE49-F238E27FC236}">
                <a16:creationId xmlns:a16="http://schemas.microsoft.com/office/drawing/2014/main" id="{A536146C-8F9E-494A-624D-9CB808DA3BAF}"/>
              </a:ext>
            </a:extLst>
          </p:cNvPr>
          <p:cNvSpPr txBox="1"/>
          <p:nvPr/>
        </p:nvSpPr>
        <p:spPr>
          <a:xfrm>
            <a:off x="1624965" y="241300"/>
            <a:ext cx="3249930" cy="369332"/>
          </a:xfrm>
          <a:prstGeom prst="rect">
            <a:avLst/>
          </a:prstGeom>
          <a:noFill/>
        </p:spPr>
        <p:txBody>
          <a:bodyPr wrap="square">
            <a:spAutoFit/>
          </a:bodyPr>
          <a:lstStyle/>
          <a:p>
            <a:r>
              <a:rPr lang="en-US" dirty="0">
                <a:solidFill>
                  <a:schemeClr val="tx1"/>
                </a:solidFill>
              </a:rPr>
              <a:t>Arithmetic </a:t>
            </a:r>
            <a:r>
              <a:rPr lang="en-US" spc="5" dirty="0">
                <a:solidFill>
                  <a:schemeClr val="tx1"/>
                </a:solidFill>
              </a:rPr>
              <a:t>Operators</a:t>
            </a:r>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27200" y="268881"/>
            <a:ext cx="2461260" cy="318135"/>
          </a:xfrm>
          <a:prstGeom prst="rect">
            <a:avLst/>
          </a:prstGeom>
        </p:spPr>
        <p:txBody>
          <a:bodyPr vert="horz" wrap="square" lIns="0" tIns="14604" rIns="0" bIns="0" rtlCol="0">
            <a:spAutoFit/>
          </a:bodyPr>
          <a:lstStyle/>
          <a:p>
            <a:pPr marL="12700">
              <a:lnSpc>
                <a:spcPct val="100000"/>
              </a:lnSpc>
              <a:spcBef>
                <a:spcPts val="114"/>
              </a:spcBef>
            </a:pPr>
            <a:r>
              <a:rPr spc="-10" dirty="0">
                <a:solidFill>
                  <a:schemeClr val="tx1"/>
                </a:solidFill>
              </a:rPr>
              <a:t>The</a:t>
            </a:r>
            <a:r>
              <a:rPr spc="10" dirty="0">
                <a:solidFill>
                  <a:schemeClr val="tx1"/>
                </a:solidFill>
              </a:rPr>
              <a:t> </a:t>
            </a:r>
            <a:r>
              <a:rPr dirty="0">
                <a:solidFill>
                  <a:schemeClr val="tx1"/>
                </a:solidFill>
              </a:rPr>
              <a:t>Modulus</a:t>
            </a:r>
            <a:r>
              <a:rPr spc="5" dirty="0">
                <a:solidFill>
                  <a:schemeClr val="tx1"/>
                </a:solidFill>
              </a:rPr>
              <a:t> Operator</a:t>
            </a:r>
          </a:p>
        </p:txBody>
      </p:sp>
      <p:sp>
        <p:nvSpPr>
          <p:cNvPr id="3" name="object 3"/>
          <p:cNvSpPr txBox="1"/>
          <p:nvPr/>
        </p:nvSpPr>
        <p:spPr>
          <a:xfrm>
            <a:off x="364664" y="803538"/>
            <a:ext cx="5641975" cy="1120140"/>
          </a:xfrm>
          <a:prstGeom prst="rect">
            <a:avLst/>
          </a:prstGeom>
        </p:spPr>
        <p:txBody>
          <a:bodyPr vert="horz" wrap="square" lIns="0" tIns="10160" rIns="0" bIns="0" rtlCol="0">
            <a:spAutoFit/>
          </a:bodyPr>
          <a:lstStyle/>
          <a:p>
            <a:pPr marL="194945" marR="414020" indent="-182880">
              <a:lnSpc>
                <a:spcPct val="101899"/>
              </a:lnSpc>
              <a:spcBef>
                <a:spcPts val="80"/>
              </a:spcBef>
              <a:buChar char="•"/>
              <a:tabLst>
                <a:tab pos="195580" algn="l"/>
              </a:tabLst>
            </a:pPr>
            <a:r>
              <a:rPr sz="1700" dirty="0">
                <a:latin typeface="Arial MT"/>
                <a:cs typeface="Arial MT"/>
              </a:rPr>
              <a:t>The</a:t>
            </a:r>
            <a:r>
              <a:rPr sz="1700" spc="-35" dirty="0">
                <a:latin typeface="Arial MT"/>
                <a:cs typeface="Arial MT"/>
              </a:rPr>
              <a:t> </a:t>
            </a:r>
            <a:r>
              <a:rPr sz="1700" spc="10" dirty="0">
                <a:latin typeface="Arial MT"/>
                <a:cs typeface="Arial MT"/>
              </a:rPr>
              <a:t>modulus</a:t>
            </a:r>
            <a:r>
              <a:rPr sz="1700" spc="-100" dirty="0">
                <a:latin typeface="Arial MT"/>
                <a:cs typeface="Arial MT"/>
              </a:rPr>
              <a:t> </a:t>
            </a:r>
            <a:r>
              <a:rPr sz="1700" dirty="0">
                <a:latin typeface="Arial MT"/>
                <a:cs typeface="Arial MT"/>
              </a:rPr>
              <a:t>operator,</a:t>
            </a:r>
            <a:r>
              <a:rPr sz="1700" spc="-70" dirty="0">
                <a:latin typeface="Arial MT"/>
                <a:cs typeface="Arial MT"/>
              </a:rPr>
              <a:t> </a:t>
            </a:r>
            <a:r>
              <a:rPr sz="1700" dirty="0">
                <a:latin typeface="Arial MT"/>
                <a:cs typeface="Arial MT"/>
              </a:rPr>
              <a:t>%, returns</a:t>
            </a:r>
            <a:r>
              <a:rPr sz="1700" spc="-55" dirty="0">
                <a:latin typeface="Arial MT"/>
                <a:cs typeface="Arial MT"/>
              </a:rPr>
              <a:t> </a:t>
            </a:r>
            <a:r>
              <a:rPr sz="1700" spc="5" dirty="0">
                <a:latin typeface="Arial MT"/>
                <a:cs typeface="Arial MT"/>
              </a:rPr>
              <a:t>the</a:t>
            </a:r>
            <a:r>
              <a:rPr sz="1700" spc="-35" dirty="0">
                <a:latin typeface="Arial MT"/>
                <a:cs typeface="Arial MT"/>
              </a:rPr>
              <a:t> </a:t>
            </a:r>
            <a:r>
              <a:rPr sz="1700" spc="5" dirty="0">
                <a:latin typeface="Arial MT"/>
                <a:cs typeface="Arial MT"/>
              </a:rPr>
              <a:t>remainder</a:t>
            </a:r>
            <a:r>
              <a:rPr sz="1700" spc="-90" dirty="0">
                <a:latin typeface="Arial MT"/>
                <a:cs typeface="Arial MT"/>
              </a:rPr>
              <a:t> </a:t>
            </a:r>
            <a:r>
              <a:rPr sz="1700" spc="5" dirty="0">
                <a:latin typeface="Arial MT"/>
                <a:cs typeface="Arial MT"/>
              </a:rPr>
              <a:t>of</a:t>
            </a:r>
            <a:r>
              <a:rPr sz="1700" spc="-40" dirty="0">
                <a:latin typeface="Arial MT"/>
                <a:cs typeface="Arial MT"/>
              </a:rPr>
              <a:t> </a:t>
            </a:r>
            <a:r>
              <a:rPr sz="1700" spc="10" dirty="0">
                <a:latin typeface="Arial MT"/>
                <a:cs typeface="Arial MT"/>
              </a:rPr>
              <a:t>a </a:t>
            </a:r>
            <a:r>
              <a:rPr sz="1700" spc="-455" dirty="0">
                <a:latin typeface="Arial MT"/>
                <a:cs typeface="Arial MT"/>
              </a:rPr>
              <a:t> </a:t>
            </a:r>
            <a:r>
              <a:rPr sz="1700" spc="10" dirty="0">
                <a:latin typeface="Arial MT"/>
                <a:cs typeface="Arial MT"/>
              </a:rPr>
              <a:t>division</a:t>
            </a:r>
            <a:r>
              <a:rPr sz="1700" spc="-114" dirty="0">
                <a:latin typeface="Arial MT"/>
                <a:cs typeface="Arial MT"/>
              </a:rPr>
              <a:t> </a:t>
            </a:r>
            <a:r>
              <a:rPr sz="1700" dirty="0">
                <a:latin typeface="Arial MT"/>
                <a:cs typeface="Arial MT"/>
              </a:rPr>
              <a:t>operation.</a:t>
            </a:r>
            <a:endParaRPr sz="1700">
              <a:latin typeface="Arial MT"/>
              <a:cs typeface="Arial MT"/>
            </a:endParaRPr>
          </a:p>
          <a:p>
            <a:pPr marL="194945" marR="5080" indent="-182880">
              <a:lnSpc>
                <a:spcPct val="100000"/>
              </a:lnSpc>
              <a:spcBef>
                <a:spcPts val="395"/>
              </a:spcBef>
              <a:buChar char="•"/>
              <a:tabLst>
                <a:tab pos="195580" algn="l"/>
              </a:tabLst>
            </a:pPr>
            <a:r>
              <a:rPr sz="1700" spc="5" dirty="0">
                <a:latin typeface="Arial MT"/>
                <a:cs typeface="Arial MT"/>
              </a:rPr>
              <a:t>It</a:t>
            </a:r>
            <a:r>
              <a:rPr sz="1700" spc="-35" dirty="0">
                <a:latin typeface="Arial MT"/>
                <a:cs typeface="Arial MT"/>
              </a:rPr>
              <a:t> </a:t>
            </a:r>
            <a:r>
              <a:rPr sz="1700" spc="10" dirty="0">
                <a:latin typeface="Arial MT"/>
                <a:cs typeface="Arial MT"/>
              </a:rPr>
              <a:t>can</a:t>
            </a:r>
            <a:r>
              <a:rPr sz="1700" spc="-30" dirty="0">
                <a:latin typeface="Arial MT"/>
                <a:cs typeface="Arial MT"/>
              </a:rPr>
              <a:t> </a:t>
            </a:r>
            <a:r>
              <a:rPr sz="1700" spc="5" dirty="0">
                <a:latin typeface="Arial MT"/>
                <a:cs typeface="Arial MT"/>
              </a:rPr>
              <a:t>be</a:t>
            </a:r>
            <a:r>
              <a:rPr sz="1700" spc="-30" dirty="0">
                <a:latin typeface="Arial MT"/>
                <a:cs typeface="Arial MT"/>
              </a:rPr>
              <a:t> </a:t>
            </a:r>
            <a:r>
              <a:rPr sz="1700" spc="10" dirty="0">
                <a:latin typeface="Arial MT"/>
                <a:cs typeface="Arial MT"/>
              </a:rPr>
              <a:t>applied</a:t>
            </a:r>
            <a:r>
              <a:rPr sz="1700" spc="-110" dirty="0">
                <a:latin typeface="Arial MT"/>
                <a:cs typeface="Arial MT"/>
              </a:rPr>
              <a:t> </a:t>
            </a:r>
            <a:r>
              <a:rPr sz="1700" spc="5" dirty="0">
                <a:latin typeface="Arial MT"/>
                <a:cs typeface="Arial MT"/>
              </a:rPr>
              <a:t>to</a:t>
            </a:r>
            <a:r>
              <a:rPr sz="1700" dirty="0">
                <a:latin typeface="Arial MT"/>
                <a:cs typeface="Arial MT"/>
              </a:rPr>
              <a:t> </a:t>
            </a:r>
            <a:r>
              <a:rPr sz="1700" spc="5" dirty="0">
                <a:latin typeface="Arial MT"/>
                <a:cs typeface="Arial MT"/>
              </a:rPr>
              <a:t>floating-point</a:t>
            </a:r>
            <a:r>
              <a:rPr sz="1700" spc="-150" dirty="0">
                <a:latin typeface="Arial MT"/>
                <a:cs typeface="Arial MT"/>
              </a:rPr>
              <a:t> </a:t>
            </a:r>
            <a:r>
              <a:rPr sz="1700" dirty="0">
                <a:latin typeface="Arial MT"/>
                <a:cs typeface="Arial MT"/>
              </a:rPr>
              <a:t>types</a:t>
            </a:r>
            <a:r>
              <a:rPr sz="1700" spc="-15" dirty="0">
                <a:latin typeface="Arial MT"/>
                <a:cs typeface="Arial MT"/>
              </a:rPr>
              <a:t> </a:t>
            </a:r>
            <a:r>
              <a:rPr sz="1700" spc="5" dirty="0">
                <a:latin typeface="Arial MT"/>
                <a:cs typeface="Arial MT"/>
              </a:rPr>
              <a:t>as</a:t>
            </a:r>
            <a:r>
              <a:rPr sz="1700" spc="-15" dirty="0">
                <a:latin typeface="Arial MT"/>
                <a:cs typeface="Arial MT"/>
              </a:rPr>
              <a:t> well</a:t>
            </a:r>
            <a:r>
              <a:rPr sz="1700" spc="15" dirty="0">
                <a:latin typeface="Arial MT"/>
                <a:cs typeface="Arial MT"/>
              </a:rPr>
              <a:t> </a:t>
            </a:r>
            <a:r>
              <a:rPr sz="1700" spc="5" dirty="0">
                <a:latin typeface="Arial MT"/>
                <a:cs typeface="Arial MT"/>
              </a:rPr>
              <a:t>as</a:t>
            </a:r>
            <a:r>
              <a:rPr sz="1700" spc="-15" dirty="0">
                <a:latin typeface="Arial MT"/>
                <a:cs typeface="Arial MT"/>
              </a:rPr>
              <a:t> </a:t>
            </a:r>
            <a:r>
              <a:rPr sz="1700" spc="5" dirty="0">
                <a:latin typeface="Arial MT"/>
                <a:cs typeface="Arial MT"/>
              </a:rPr>
              <a:t>integer </a:t>
            </a:r>
            <a:r>
              <a:rPr sz="1700" spc="-455" dirty="0">
                <a:latin typeface="Arial MT"/>
                <a:cs typeface="Arial MT"/>
              </a:rPr>
              <a:t> </a:t>
            </a:r>
            <a:r>
              <a:rPr sz="1700" dirty="0">
                <a:latin typeface="Arial MT"/>
                <a:cs typeface="Arial MT"/>
              </a:rPr>
              <a:t>types</a:t>
            </a:r>
            <a:endParaRPr sz="1700">
              <a:latin typeface="Arial MT"/>
              <a:cs typeface="Arial MT"/>
            </a:endParaRPr>
          </a:p>
        </p:txBody>
      </p:sp>
      <p:grpSp>
        <p:nvGrpSpPr>
          <p:cNvPr id="5" name="object 5"/>
          <p:cNvGrpSpPr/>
          <p:nvPr/>
        </p:nvGrpSpPr>
        <p:grpSpPr>
          <a:xfrm>
            <a:off x="-1387" y="170827"/>
            <a:ext cx="6498590" cy="3660140"/>
            <a:chOff x="-1387" y="170827"/>
            <a:chExt cx="6498590" cy="3660140"/>
          </a:xfrm>
        </p:grpSpPr>
        <p:pic>
          <p:nvPicPr>
            <p:cNvPr id="6" name="object 6"/>
            <p:cNvPicPr/>
            <p:nvPr/>
          </p:nvPicPr>
          <p:blipFill>
            <a:blip r:embed="rId2" cstate="print"/>
            <a:stretch>
              <a:fillRect/>
            </a:stretch>
          </p:blipFill>
          <p:spPr>
            <a:xfrm>
              <a:off x="1326870" y="1747315"/>
              <a:ext cx="3585662" cy="2034836"/>
            </a:xfrm>
            <a:prstGeom prst="rect">
              <a:avLst/>
            </a:prstGeom>
          </p:spPr>
        </p:pic>
        <p:sp>
          <p:nvSpPr>
            <p:cNvPr id="7" name="object 7"/>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a:spLocks noGrp="1"/>
          </p:cNvSpPr>
          <p:nvPr>
            <p:ph type="title"/>
          </p:nvPr>
        </p:nvSpPr>
        <p:spPr>
          <a:xfrm>
            <a:off x="1277611" y="726272"/>
            <a:ext cx="4852670" cy="318135"/>
          </a:xfrm>
          <a:prstGeom prst="rect">
            <a:avLst/>
          </a:prstGeom>
        </p:spPr>
        <p:txBody>
          <a:bodyPr vert="horz" wrap="square" lIns="0" tIns="14604" rIns="0" bIns="0" rtlCol="0">
            <a:spAutoFit/>
          </a:bodyPr>
          <a:lstStyle/>
          <a:p>
            <a:pPr marL="12700">
              <a:lnSpc>
                <a:spcPct val="100000"/>
              </a:lnSpc>
              <a:spcBef>
                <a:spcPts val="114"/>
              </a:spcBef>
            </a:pPr>
            <a:r>
              <a:rPr dirty="0">
                <a:solidFill>
                  <a:schemeClr val="tx1"/>
                </a:solidFill>
              </a:rPr>
              <a:t>Arithmetic</a:t>
            </a:r>
            <a:r>
              <a:rPr spc="60" dirty="0">
                <a:solidFill>
                  <a:schemeClr val="tx1"/>
                </a:solidFill>
              </a:rPr>
              <a:t> </a:t>
            </a:r>
            <a:r>
              <a:rPr spc="10" dirty="0">
                <a:solidFill>
                  <a:schemeClr val="tx1"/>
                </a:solidFill>
              </a:rPr>
              <a:t>Compound</a:t>
            </a:r>
            <a:r>
              <a:rPr spc="-85" dirty="0">
                <a:solidFill>
                  <a:schemeClr val="tx1"/>
                </a:solidFill>
              </a:rPr>
              <a:t> </a:t>
            </a:r>
            <a:r>
              <a:rPr spc="5" dirty="0">
                <a:solidFill>
                  <a:schemeClr val="tx1"/>
                </a:solidFill>
              </a:rPr>
              <a:t>Assignment</a:t>
            </a:r>
            <a:r>
              <a:rPr spc="-30" dirty="0">
                <a:solidFill>
                  <a:schemeClr val="tx1"/>
                </a:solidFill>
              </a:rPr>
              <a:t> </a:t>
            </a:r>
            <a:r>
              <a:rPr spc="5" dirty="0">
                <a:solidFill>
                  <a:schemeClr val="tx1"/>
                </a:solidFill>
              </a:rPr>
              <a:t>Operators</a:t>
            </a:r>
          </a:p>
        </p:txBody>
      </p:sp>
      <p:sp>
        <p:nvSpPr>
          <p:cNvPr id="4" name="object 4"/>
          <p:cNvSpPr txBox="1"/>
          <p:nvPr/>
        </p:nvSpPr>
        <p:spPr>
          <a:xfrm>
            <a:off x="364664" y="1260930"/>
            <a:ext cx="5257800" cy="551815"/>
          </a:xfrm>
          <a:prstGeom prst="rect">
            <a:avLst/>
          </a:prstGeom>
        </p:spPr>
        <p:txBody>
          <a:bodyPr vert="horz" wrap="square" lIns="0" tIns="10160" rIns="0" bIns="0" rtlCol="0">
            <a:spAutoFit/>
          </a:bodyPr>
          <a:lstStyle/>
          <a:p>
            <a:pPr marL="194945" marR="5080" indent="-182880">
              <a:lnSpc>
                <a:spcPct val="101899"/>
              </a:lnSpc>
              <a:spcBef>
                <a:spcPts val="80"/>
              </a:spcBef>
              <a:buChar char="•"/>
              <a:tabLst>
                <a:tab pos="195580" algn="l"/>
              </a:tabLst>
            </a:pPr>
            <a:r>
              <a:rPr sz="1700" spc="25" dirty="0">
                <a:latin typeface="Arial MT"/>
                <a:cs typeface="Arial MT"/>
              </a:rPr>
              <a:t>Java </a:t>
            </a:r>
            <a:r>
              <a:rPr sz="1700" spc="5" dirty="0">
                <a:latin typeface="Arial MT"/>
                <a:cs typeface="Arial MT"/>
              </a:rPr>
              <a:t>provides </a:t>
            </a:r>
            <a:r>
              <a:rPr sz="1700" spc="10" dirty="0">
                <a:latin typeface="Arial MT"/>
                <a:cs typeface="Arial MT"/>
              </a:rPr>
              <a:t>special </a:t>
            </a:r>
            <a:r>
              <a:rPr sz="1700" dirty="0">
                <a:latin typeface="Arial MT"/>
                <a:cs typeface="Arial MT"/>
              </a:rPr>
              <a:t>operators </a:t>
            </a:r>
            <a:r>
              <a:rPr sz="1700" spc="5" dirty="0">
                <a:latin typeface="Arial MT"/>
                <a:cs typeface="Arial MT"/>
              </a:rPr>
              <a:t>that </a:t>
            </a:r>
            <a:r>
              <a:rPr sz="1700" spc="10" dirty="0">
                <a:latin typeface="Arial MT"/>
                <a:cs typeface="Arial MT"/>
              </a:rPr>
              <a:t>can </a:t>
            </a:r>
            <a:r>
              <a:rPr sz="1700" spc="5" dirty="0">
                <a:latin typeface="Arial MT"/>
                <a:cs typeface="Arial MT"/>
              </a:rPr>
              <a:t>be </a:t>
            </a:r>
            <a:r>
              <a:rPr sz="1700" spc="10" dirty="0">
                <a:latin typeface="Arial MT"/>
                <a:cs typeface="Arial MT"/>
              </a:rPr>
              <a:t>used </a:t>
            </a:r>
            <a:r>
              <a:rPr sz="1700" spc="5" dirty="0">
                <a:latin typeface="Arial MT"/>
                <a:cs typeface="Arial MT"/>
              </a:rPr>
              <a:t>to </a:t>
            </a:r>
            <a:r>
              <a:rPr sz="1700" spc="-459" dirty="0">
                <a:latin typeface="Arial MT"/>
                <a:cs typeface="Arial MT"/>
              </a:rPr>
              <a:t> </a:t>
            </a:r>
            <a:r>
              <a:rPr sz="1700" spc="20" dirty="0">
                <a:latin typeface="Arial MT"/>
                <a:cs typeface="Arial MT"/>
              </a:rPr>
              <a:t>c</a:t>
            </a:r>
            <a:r>
              <a:rPr sz="1700" spc="5" dirty="0">
                <a:latin typeface="Arial MT"/>
                <a:cs typeface="Arial MT"/>
              </a:rPr>
              <a:t>o</a:t>
            </a:r>
            <a:r>
              <a:rPr sz="1700" spc="20" dirty="0">
                <a:latin typeface="Arial MT"/>
                <a:cs typeface="Arial MT"/>
              </a:rPr>
              <a:t>m</a:t>
            </a:r>
            <a:r>
              <a:rPr sz="1700" spc="5" dirty="0">
                <a:latin typeface="Arial MT"/>
                <a:cs typeface="Arial MT"/>
              </a:rPr>
              <a:t>b</a:t>
            </a:r>
            <a:r>
              <a:rPr sz="1700" spc="15" dirty="0">
                <a:latin typeface="Arial MT"/>
                <a:cs typeface="Arial MT"/>
              </a:rPr>
              <a:t>i</a:t>
            </a:r>
            <a:r>
              <a:rPr sz="1700" spc="5" dirty="0">
                <a:latin typeface="Arial MT"/>
                <a:cs typeface="Arial MT"/>
              </a:rPr>
              <a:t>n</a:t>
            </a:r>
            <a:r>
              <a:rPr sz="1700" spc="10" dirty="0">
                <a:latin typeface="Arial MT"/>
                <a:cs typeface="Arial MT"/>
              </a:rPr>
              <a:t>e</a:t>
            </a:r>
            <a:r>
              <a:rPr sz="1700" spc="-65" dirty="0">
                <a:latin typeface="Times New Roman"/>
                <a:cs typeface="Times New Roman"/>
              </a:rPr>
              <a:t> </a:t>
            </a:r>
            <a:r>
              <a:rPr sz="1700" spc="5" dirty="0">
                <a:latin typeface="Arial MT"/>
                <a:cs typeface="Arial MT"/>
              </a:rPr>
              <a:t>a</a:t>
            </a:r>
            <a:r>
              <a:rPr sz="1700" spc="10" dirty="0">
                <a:latin typeface="Arial MT"/>
                <a:cs typeface="Arial MT"/>
              </a:rPr>
              <a:t>n</a:t>
            </a:r>
            <a:r>
              <a:rPr sz="1700" spc="15" dirty="0">
                <a:latin typeface="Times New Roman"/>
                <a:cs typeface="Times New Roman"/>
              </a:rPr>
              <a:t> </a:t>
            </a:r>
            <a:r>
              <a:rPr sz="1700" spc="5" dirty="0">
                <a:latin typeface="Arial MT"/>
                <a:cs typeface="Arial MT"/>
              </a:rPr>
              <a:t>a</a:t>
            </a:r>
            <a:r>
              <a:rPr sz="1700" spc="-10" dirty="0">
                <a:latin typeface="Arial MT"/>
                <a:cs typeface="Arial MT"/>
              </a:rPr>
              <a:t>r</a:t>
            </a:r>
            <a:r>
              <a:rPr sz="1700" spc="15" dirty="0">
                <a:latin typeface="Arial MT"/>
                <a:cs typeface="Arial MT"/>
              </a:rPr>
              <a:t>i</a:t>
            </a:r>
            <a:r>
              <a:rPr sz="1700" spc="5" dirty="0">
                <a:latin typeface="Arial MT"/>
                <a:cs typeface="Arial MT"/>
              </a:rPr>
              <a:t>th</a:t>
            </a:r>
            <a:r>
              <a:rPr sz="1700" spc="20" dirty="0">
                <a:latin typeface="Arial MT"/>
                <a:cs typeface="Arial MT"/>
              </a:rPr>
              <a:t>m</a:t>
            </a:r>
            <a:r>
              <a:rPr sz="1700" dirty="0">
                <a:latin typeface="Arial MT"/>
                <a:cs typeface="Arial MT"/>
              </a:rPr>
              <a:t>et</a:t>
            </a:r>
            <a:r>
              <a:rPr sz="1700" spc="15" dirty="0">
                <a:latin typeface="Arial MT"/>
                <a:cs typeface="Arial MT"/>
              </a:rPr>
              <a:t>i</a:t>
            </a:r>
            <a:r>
              <a:rPr sz="1700" spc="5" dirty="0">
                <a:latin typeface="Arial MT"/>
                <a:cs typeface="Arial MT"/>
              </a:rPr>
              <a:t>c</a:t>
            </a:r>
            <a:r>
              <a:rPr sz="1700" spc="-90" dirty="0">
                <a:latin typeface="Times New Roman"/>
                <a:cs typeface="Times New Roman"/>
              </a:rPr>
              <a:t> </a:t>
            </a:r>
            <a:r>
              <a:rPr sz="1700" spc="5" dirty="0">
                <a:latin typeface="Arial MT"/>
                <a:cs typeface="Arial MT"/>
              </a:rPr>
              <a:t>op</a:t>
            </a:r>
            <a:r>
              <a:rPr sz="1700" spc="10" dirty="0">
                <a:latin typeface="Arial MT"/>
                <a:cs typeface="Arial MT"/>
              </a:rPr>
              <a:t>e</a:t>
            </a:r>
            <a:r>
              <a:rPr sz="1700" spc="-10" dirty="0">
                <a:latin typeface="Arial MT"/>
                <a:cs typeface="Arial MT"/>
              </a:rPr>
              <a:t>r</a:t>
            </a:r>
            <a:r>
              <a:rPr sz="1700" dirty="0">
                <a:latin typeface="Arial MT"/>
                <a:cs typeface="Arial MT"/>
              </a:rPr>
              <a:t>at</a:t>
            </a:r>
            <a:r>
              <a:rPr sz="1700" spc="15" dirty="0">
                <a:latin typeface="Arial MT"/>
                <a:cs typeface="Arial MT"/>
              </a:rPr>
              <a:t>i</a:t>
            </a:r>
            <a:r>
              <a:rPr sz="1700" spc="5" dirty="0">
                <a:latin typeface="Arial MT"/>
                <a:cs typeface="Arial MT"/>
              </a:rPr>
              <a:t>o</a:t>
            </a:r>
            <a:r>
              <a:rPr sz="1700" spc="10" dirty="0">
                <a:latin typeface="Arial MT"/>
                <a:cs typeface="Arial MT"/>
              </a:rPr>
              <a:t>n</a:t>
            </a:r>
            <a:r>
              <a:rPr sz="1700" spc="-25" dirty="0">
                <a:latin typeface="Times New Roman"/>
                <a:cs typeface="Times New Roman"/>
              </a:rPr>
              <a:t> </a:t>
            </a:r>
            <a:r>
              <a:rPr sz="1700" spc="-75" dirty="0">
                <a:latin typeface="Arial MT"/>
                <a:cs typeface="Arial MT"/>
              </a:rPr>
              <a:t>w</a:t>
            </a:r>
            <a:r>
              <a:rPr sz="1700" spc="15" dirty="0">
                <a:latin typeface="Arial MT"/>
                <a:cs typeface="Arial MT"/>
              </a:rPr>
              <a:t>i</a:t>
            </a:r>
            <a:r>
              <a:rPr sz="1700" spc="5" dirty="0">
                <a:latin typeface="Arial MT"/>
                <a:cs typeface="Arial MT"/>
              </a:rPr>
              <a:t>th</a:t>
            </a:r>
            <a:r>
              <a:rPr sz="1700" spc="50" dirty="0">
                <a:latin typeface="Times New Roman"/>
                <a:cs typeface="Times New Roman"/>
              </a:rPr>
              <a:t> </a:t>
            </a:r>
            <a:r>
              <a:rPr sz="1700" spc="10" dirty="0">
                <a:latin typeface="Arial MT"/>
                <a:cs typeface="Arial MT"/>
              </a:rPr>
              <a:t>an</a:t>
            </a:r>
            <a:r>
              <a:rPr sz="1700" spc="50" dirty="0">
                <a:latin typeface="Times New Roman"/>
                <a:cs typeface="Times New Roman"/>
              </a:rPr>
              <a:t> </a:t>
            </a:r>
            <a:r>
              <a:rPr sz="1700" spc="10" dirty="0">
                <a:latin typeface="Arial MT"/>
                <a:cs typeface="Arial MT"/>
              </a:rPr>
              <a:t>a</a:t>
            </a:r>
            <a:r>
              <a:rPr sz="1700" spc="20" dirty="0">
                <a:latin typeface="Arial MT"/>
                <a:cs typeface="Arial MT"/>
              </a:rPr>
              <a:t>ssi</a:t>
            </a:r>
            <a:r>
              <a:rPr sz="1700" spc="5" dirty="0">
                <a:latin typeface="Arial MT"/>
                <a:cs typeface="Arial MT"/>
              </a:rPr>
              <a:t>gn</a:t>
            </a:r>
            <a:r>
              <a:rPr sz="1700" spc="-20" dirty="0">
                <a:latin typeface="Arial MT"/>
                <a:cs typeface="Arial MT"/>
              </a:rPr>
              <a:t>m</a:t>
            </a:r>
            <a:r>
              <a:rPr sz="1700" spc="5" dirty="0">
                <a:latin typeface="Arial MT"/>
                <a:cs typeface="Arial MT"/>
              </a:rPr>
              <a:t>en</a:t>
            </a:r>
            <a:r>
              <a:rPr sz="1700" spc="-30" dirty="0">
                <a:latin typeface="Arial MT"/>
                <a:cs typeface="Arial MT"/>
              </a:rPr>
              <a:t>t</a:t>
            </a:r>
            <a:r>
              <a:rPr sz="1700" spc="5" dirty="0">
                <a:latin typeface="Arial MT"/>
                <a:cs typeface="Arial MT"/>
              </a:rPr>
              <a:t>.</a:t>
            </a:r>
            <a:endParaRPr sz="1700">
              <a:latin typeface="Arial MT"/>
              <a:cs typeface="Arial MT"/>
            </a:endParaRPr>
          </a:p>
        </p:txBody>
      </p:sp>
      <p:sp>
        <p:nvSpPr>
          <p:cNvPr id="5" name="object 5"/>
          <p:cNvSpPr txBox="1"/>
          <p:nvPr/>
        </p:nvSpPr>
        <p:spPr>
          <a:xfrm>
            <a:off x="364664" y="2458707"/>
            <a:ext cx="5535930" cy="546735"/>
          </a:xfrm>
          <a:prstGeom prst="rect">
            <a:avLst/>
          </a:prstGeom>
        </p:spPr>
        <p:txBody>
          <a:bodyPr vert="horz" wrap="square" lIns="0" tIns="14604" rIns="0" bIns="0" rtlCol="0">
            <a:spAutoFit/>
          </a:bodyPr>
          <a:lstStyle/>
          <a:p>
            <a:pPr marL="194945" marR="5080" indent="-182880">
              <a:lnSpc>
                <a:spcPct val="100000"/>
              </a:lnSpc>
              <a:spcBef>
                <a:spcPts val="114"/>
              </a:spcBef>
              <a:buChar char="•"/>
              <a:tabLst>
                <a:tab pos="195580" algn="l"/>
              </a:tabLst>
            </a:pPr>
            <a:r>
              <a:rPr sz="1700" dirty="0">
                <a:latin typeface="Arial MT"/>
                <a:cs typeface="Arial MT"/>
              </a:rPr>
              <a:t>There</a:t>
            </a:r>
            <a:r>
              <a:rPr sz="1700" spc="-30" dirty="0">
                <a:latin typeface="Arial MT"/>
                <a:cs typeface="Arial MT"/>
              </a:rPr>
              <a:t> </a:t>
            </a:r>
            <a:r>
              <a:rPr sz="1700" dirty="0">
                <a:latin typeface="Arial MT"/>
                <a:cs typeface="Arial MT"/>
              </a:rPr>
              <a:t>are</a:t>
            </a:r>
            <a:r>
              <a:rPr sz="1700" spc="-30" dirty="0">
                <a:latin typeface="Arial MT"/>
                <a:cs typeface="Arial MT"/>
              </a:rPr>
              <a:t> </a:t>
            </a:r>
            <a:r>
              <a:rPr sz="1700" spc="10" dirty="0">
                <a:latin typeface="Arial MT"/>
                <a:cs typeface="Arial MT"/>
              </a:rPr>
              <a:t>compound</a:t>
            </a:r>
            <a:r>
              <a:rPr sz="1700" spc="-110" dirty="0">
                <a:latin typeface="Arial MT"/>
                <a:cs typeface="Arial MT"/>
              </a:rPr>
              <a:t> </a:t>
            </a:r>
            <a:r>
              <a:rPr sz="1700" spc="5" dirty="0">
                <a:latin typeface="Arial MT"/>
                <a:cs typeface="Arial MT"/>
              </a:rPr>
              <a:t>assignment</a:t>
            </a:r>
            <a:r>
              <a:rPr sz="1700" spc="-110" dirty="0">
                <a:latin typeface="Arial MT"/>
                <a:cs typeface="Arial MT"/>
              </a:rPr>
              <a:t> </a:t>
            </a:r>
            <a:r>
              <a:rPr sz="1700" dirty="0">
                <a:latin typeface="Arial MT"/>
                <a:cs typeface="Arial MT"/>
              </a:rPr>
              <a:t>operators</a:t>
            </a:r>
            <a:r>
              <a:rPr sz="1700" spc="-95" dirty="0">
                <a:latin typeface="Arial MT"/>
                <a:cs typeface="Arial MT"/>
              </a:rPr>
              <a:t> </a:t>
            </a:r>
            <a:r>
              <a:rPr sz="1700" spc="15" dirty="0">
                <a:latin typeface="Arial MT"/>
                <a:cs typeface="Arial MT"/>
              </a:rPr>
              <a:t>for</a:t>
            </a:r>
            <a:r>
              <a:rPr sz="1700" spc="-45" dirty="0">
                <a:latin typeface="Arial MT"/>
                <a:cs typeface="Arial MT"/>
              </a:rPr>
              <a:t> </a:t>
            </a:r>
            <a:r>
              <a:rPr sz="1700" spc="5" dirty="0">
                <a:latin typeface="Arial MT"/>
                <a:cs typeface="Arial MT"/>
              </a:rPr>
              <a:t>all</a:t>
            </a:r>
            <a:r>
              <a:rPr sz="1700" spc="-60" dirty="0">
                <a:latin typeface="Arial MT"/>
                <a:cs typeface="Arial MT"/>
              </a:rPr>
              <a:t> </a:t>
            </a:r>
            <a:r>
              <a:rPr sz="1700" spc="5" dirty="0">
                <a:latin typeface="Arial MT"/>
                <a:cs typeface="Arial MT"/>
              </a:rPr>
              <a:t>of the </a:t>
            </a:r>
            <a:r>
              <a:rPr sz="1700" spc="-455" dirty="0">
                <a:latin typeface="Arial MT"/>
                <a:cs typeface="Arial MT"/>
              </a:rPr>
              <a:t> </a:t>
            </a:r>
            <a:r>
              <a:rPr sz="1700" spc="5" dirty="0">
                <a:latin typeface="Arial MT"/>
                <a:cs typeface="Arial MT"/>
              </a:rPr>
              <a:t>arithmetic,</a:t>
            </a:r>
            <a:r>
              <a:rPr sz="1700" spc="-155" dirty="0">
                <a:latin typeface="Arial MT"/>
                <a:cs typeface="Arial MT"/>
              </a:rPr>
              <a:t> </a:t>
            </a:r>
            <a:r>
              <a:rPr sz="1700" spc="5" dirty="0">
                <a:latin typeface="Arial MT"/>
                <a:cs typeface="Arial MT"/>
              </a:rPr>
              <a:t>binary</a:t>
            </a:r>
            <a:r>
              <a:rPr sz="1700" spc="-55" dirty="0">
                <a:latin typeface="Arial MT"/>
                <a:cs typeface="Arial MT"/>
              </a:rPr>
              <a:t> </a:t>
            </a:r>
            <a:r>
              <a:rPr sz="1700" dirty="0">
                <a:latin typeface="Arial MT"/>
                <a:cs typeface="Arial MT"/>
              </a:rPr>
              <a:t>operators.</a:t>
            </a:r>
            <a:endParaRPr sz="1700">
              <a:latin typeface="Arial MT"/>
              <a:cs typeface="Arial MT"/>
            </a:endParaRPr>
          </a:p>
        </p:txBody>
      </p:sp>
      <p:sp>
        <p:nvSpPr>
          <p:cNvPr id="6" name="object 6"/>
          <p:cNvSpPr txBox="1"/>
          <p:nvPr/>
        </p:nvSpPr>
        <p:spPr>
          <a:xfrm>
            <a:off x="547289" y="3021944"/>
            <a:ext cx="2042795" cy="287655"/>
          </a:xfrm>
          <a:prstGeom prst="rect">
            <a:avLst/>
          </a:prstGeom>
        </p:spPr>
        <p:txBody>
          <a:bodyPr vert="horz" wrap="square" lIns="0" tIns="14604" rIns="0" bIns="0" rtlCol="0">
            <a:spAutoFit/>
          </a:bodyPr>
          <a:lstStyle/>
          <a:p>
            <a:pPr marL="12700">
              <a:lnSpc>
                <a:spcPct val="100000"/>
              </a:lnSpc>
              <a:spcBef>
                <a:spcPts val="114"/>
              </a:spcBef>
            </a:pPr>
            <a:r>
              <a:rPr sz="1700" spc="-135" dirty="0">
                <a:latin typeface="Times New Roman"/>
                <a:cs typeface="Times New Roman"/>
              </a:rPr>
              <a:t>v</a:t>
            </a:r>
            <a:r>
              <a:rPr sz="1700" spc="-45" dirty="0">
                <a:latin typeface="Times New Roman"/>
                <a:cs typeface="Times New Roman"/>
              </a:rPr>
              <a:t>a</a:t>
            </a:r>
            <a:r>
              <a:rPr sz="1700" spc="30" dirty="0">
                <a:latin typeface="Times New Roman"/>
                <a:cs typeface="Times New Roman"/>
              </a:rPr>
              <a:t>r</a:t>
            </a:r>
            <a:r>
              <a:rPr sz="1700" spc="-30" dirty="0">
                <a:latin typeface="Times New Roman"/>
                <a:cs typeface="Times New Roman"/>
              </a:rPr>
              <a:t> </a:t>
            </a:r>
            <a:r>
              <a:rPr sz="1700" spc="-114" dirty="0">
                <a:latin typeface="Times New Roman"/>
                <a:cs typeface="Times New Roman"/>
              </a:rPr>
              <a:t>=</a:t>
            </a:r>
            <a:r>
              <a:rPr sz="1700" spc="5" dirty="0">
                <a:latin typeface="Times New Roman"/>
                <a:cs typeface="Times New Roman"/>
              </a:rPr>
              <a:t> </a:t>
            </a:r>
            <a:r>
              <a:rPr sz="1700" spc="-135" dirty="0">
                <a:latin typeface="Times New Roman"/>
                <a:cs typeface="Times New Roman"/>
              </a:rPr>
              <a:t>v</a:t>
            </a:r>
            <a:r>
              <a:rPr sz="1700" spc="-45" dirty="0">
                <a:latin typeface="Times New Roman"/>
                <a:cs typeface="Times New Roman"/>
              </a:rPr>
              <a:t>a</a:t>
            </a:r>
            <a:r>
              <a:rPr sz="1700" spc="30" dirty="0">
                <a:latin typeface="Times New Roman"/>
                <a:cs typeface="Times New Roman"/>
              </a:rPr>
              <a:t>r</a:t>
            </a:r>
            <a:r>
              <a:rPr sz="1700" spc="-30" dirty="0">
                <a:latin typeface="Times New Roman"/>
                <a:cs typeface="Times New Roman"/>
              </a:rPr>
              <a:t> </a:t>
            </a:r>
            <a:r>
              <a:rPr sz="1700" spc="20" dirty="0">
                <a:latin typeface="Times New Roman"/>
                <a:cs typeface="Times New Roman"/>
              </a:rPr>
              <a:t>o</a:t>
            </a:r>
            <a:r>
              <a:rPr sz="1700" spc="50" dirty="0">
                <a:latin typeface="Times New Roman"/>
                <a:cs typeface="Times New Roman"/>
              </a:rPr>
              <a:t>p</a:t>
            </a:r>
            <a:r>
              <a:rPr sz="1700" spc="-15" dirty="0">
                <a:latin typeface="Times New Roman"/>
                <a:cs typeface="Times New Roman"/>
              </a:rPr>
              <a:t> </a:t>
            </a:r>
            <a:r>
              <a:rPr sz="1700" dirty="0">
                <a:latin typeface="Times New Roman"/>
                <a:cs typeface="Times New Roman"/>
              </a:rPr>
              <a:t>e</a:t>
            </a:r>
            <a:r>
              <a:rPr sz="1700" spc="-95" dirty="0">
                <a:latin typeface="Times New Roman"/>
                <a:cs typeface="Times New Roman"/>
              </a:rPr>
              <a:t>x</a:t>
            </a:r>
            <a:r>
              <a:rPr sz="1700" spc="65" dirty="0">
                <a:latin typeface="Times New Roman"/>
                <a:cs typeface="Times New Roman"/>
              </a:rPr>
              <a:t>p</a:t>
            </a:r>
            <a:r>
              <a:rPr sz="1700" spc="20" dirty="0">
                <a:latin typeface="Times New Roman"/>
                <a:cs typeface="Times New Roman"/>
              </a:rPr>
              <a:t>r</a:t>
            </a:r>
            <a:r>
              <a:rPr sz="1700" spc="5" dirty="0">
                <a:latin typeface="Times New Roman"/>
                <a:cs typeface="Times New Roman"/>
              </a:rPr>
              <a:t>e</a:t>
            </a:r>
            <a:r>
              <a:rPr sz="1700" spc="-65" dirty="0">
                <a:latin typeface="Times New Roman"/>
                <a:cs typeface="Times New Roman"/>
              </a:rPr>
              <a:t>ss</a:t>
            </a:r>
            <a:r>
              <a:rPr sz="1700" spc="-80" dirty="0">
                <a:latin typeface="Times New Roman"/>
                <a:cs typeface="Times New Roman"/>
              </a:rPr>
              <a:t>i</a:t>
            </a:r>
            <a:r>
              <a:rPr sz="1700" spc="20" dirty="0">
                <a:latin typeface="Times New Roman"/>
                <a:cs typeface="Times New Roman"/>
              </a:rPr>
              <a:t>on</a:t>
            </a:r>
            <a:r>
              <a:rPr sz="1700" spc="-65" dirty="0">
                <a:latin typeface="Times New Roman"/>
                <a:cs typeface="Times New Roman"/>
              </a:rPr>
              <a:t>;</a:t>
            </a:r>
            <a:endParaRPr sz="1700">
              <a:latin typeface="Times New Roman"/>
              <a:cs typeface="Times New Roman"/>
            </a:endParaRPr>
          </a:p>
        </p:txBody>
      </p:sp>
      <p:sp>
        <p:nvSpPr>
          <p:cNvPr id="8" name="object 8"/>
          <p:cNvSpPr txBox="1"/>
          <p:nvPr/>
        </p:nvSpPr>
        <p:spPr>
          <a:xfrm>
            <a:off x="1619943" y="1990983"/>
            <a:ext cx="876935" cy="311785"/>
          </a:xfrm>
          <a:prstGeom prst="rect">
            <a:avLst/>
          </a:prstGeom>
          <a:ln w="16893">
            <a:solidFill>
              <a:srgbClr val="FF0000"/>
            </a:solidFill>
          </a:ln>
        </p:spPr>
        <p:txBody>
          <a:bodyPr vert="horz" wrap="square" lIns="0" tIns="13335" rIns="0" bIns="0" rtlCol="0">
            <a:spAutoFit/>
          </a:bodyPr>
          <a:lstStyle/>
          <a:p>
            <a:pPr marL="49530">
              <a:lnSpc>
                <a:spcPct val="100000"/>
              </a:lnSpc>
              <a:spcBef>
                <a:spcPts val="105"/>
              </a:spcBef>
            </a:pPr>
            <a:r>
              <a:rPr sz="1700" spc="-25" dirty="0">
                <a:latin typeface="Times New Roman"/>
                <a:cs typeface="Times New Roman"/>
              </a:rPr>
              <a:t>a</a:t>
            </a:r>
            <a:r>
              <a:rPr sz="1700" spc="-5" dirty="0">
                <a:latin typeface="Times New Roman"/>
                <a:cs typeface="Times New Roman"/>
              </a:rPr>
              <a:t> </a:t>
            </a:r>
            <a:r>
              <a:rPr sz="1700" spc="-114" dirty="0">
                <a:latin typeface="Times New Roman"/>
                <a:cs typeface="Times New Roman"/>
              </a:rPr>
              <a:t>=</a:t>
            </a:r>
            <a:r>
              <a:rPr sz="1700" spc="-35" dirty="0">
                <a:latin typeface="Times New Roman"/>
                <a:cs typeface="Times New Roman"/>
              </a:rPr>
              <a:t> </a:t>
            </a:r>
            <a:r>
              <a:rPr sz="1700" spc="-25" dirty="0">
                <a:latin typeface="Times New Roman"/>
                <a:cs typeface="Times New Roman"/>
              </a:rPr>
              <a:t>a</a:t>
            </a:r>
            <a:r>
              <a:rPr sz="1700" spc="-5" dirty="0">
                <a:latin typeface="Times New Roman"/>
                <a:cs typeface="Times New Roman"/>
              </a:rPr>
              <a:t> </a:t>
            </a:r>
            <a:r>
              <a:rPr sz="1700" spc="-114" dirty="0">
                <a:latin typeface="Times New Roman"/>
                <a:cs typeface="Times New Roman"/>
              </a:rPr>
              <a:t>+</a:t>
            </a:r>
            <a:r>
              <a:rPr sz="1700" spc="5" dirty="0">
                <a:latin typeface="Times New Roman"/>
                <a:cs typeface="Times New Roman"/>
              </a:rPr>
              <a:t> </a:t>
            </a:r>
            <a:r>
              <a:rPr sz="1700" spc="-15" dirty="0">
                <a:latin typeface="Times New Roman"/>
                <a:cs typeface="Times New Roman"/>
              </a:rPr>
              <a:t>4</a:t>
            </a:r>
            <a:r>
              <a:rPr sz="1700" spc="-65" dirty="0">
                <a:latin typeface="Times New Roman"/>
                <a:cs typeface="Times New Roman"/>
              </a:rPr>
              <a:t>;</a:t>
            </a:r>
            <a:endParaRPr sz="1700">
              <a:latin typeface="Times New Roman"/>
              <a:cs typeface="Times New Roman"/>
            </a:endParaRPr>
          </a:p>
        </p:txBody>
      </p:sp>
      <p:grpSp>
        <p:nvGrpSpPr>
          <p:cNvPr id="9" name="object 9"/>
          <p:cNvGrpSpPr/>
          <p:nvPr/>
        </p:nvGrpSpPr>
        <p:grpSpPr>
          <a:xfrm>
            <a:off x="2736589" y="2031515"/>
            <a:ext cx="735330" cy="278130"/>
            <a:chOff x="2736589" y="2031515"/>
            <a:chExt cx="735330" cy="278130"/>
          </a:xfrm>
        </p:grpSpPr>
        <p:sp>
          <p:nvSpPr>
            <p:cNvPr id="10" name="object 10"/>
            <p:cNvSpPr/>
            <p:nvPr/>
          </p:nvSpPr>
          <p:spPr>
            <a:xfrm>
              <a:off x="2739129" y="2034055"/>
              <a:ext cx="730250" cy="273050"/>
            </a:xfrm>
            <a:custGeom>
              <a:avLst/>
              <a:gdLst/>
              <a:ahLst/>
              <a:cxnLst/>
              <a:rect l="l" t="t" r="r" b="b"/>
              <a:pathLst>
                <a:path w="730250" h="273050">
                  <a:moveTo>
                    <a:pt x="593452" y="0"/>
                  </a:moveTo>
                  <a:lnTo>
                    <a:pt x="593452" y="68180"/>
                  </a:lnTo>
                  <a:lnTo>
                    <a:pt x="0" y="68180"/>
                  </a:lnTo>
                  <a:lnTo>
                    <a:pt x="0" y="204623"/>
                  </a:lnTo>
                  <a:lnTo>
                    <a:pt x="593452" y="204623"/>
                  </a:lnTo>
                  <a:lnTo>
                    <a:pt x="593452" y="272869"/>
                  </a:lnTo>
                  <a:lnTo>
                    <a:pt x="729814" y="136442"/>
                  </a:lnTo>
                  <a:lnTo>
                    <a:pt x="593452" y="0"/>
                  </a:lnTo>
                  <a:close/>
                </a:path>
              </a:pathLst>
            </a:custGeom>
            <a:solidFill>
              <a:srgbClr val="FF0000"/>
            </a:solidFill>
          </p:spPr>
          <p:txBody>
            <a:bodyPr wrap="square" lIns="0" tIns="0" rIns="0" bIns="0" rtlCol="0"/>
            <a:lstStyle/>
            <a:p>
              <a:endParaRPr/>
            </a:p>
          </p:txBody>
        </p:sp>
        <p:sp>
          <p:nvSpPr>
            <p:cNvPr id="11" name="object 11"/>
            <p:cNvSpPr/>
            <p:nvPr/>
          </p:nvSpPr>
          <p:spPr>
            <a:xfrm>
              <a:off x="2739129" y="2034055"/>
              <a:ext cx="730250" cy="273050"/>
            </a:xfrm>
            <a:custGeom>
              <a:avLst/>
              <a:gdLst/>
              <a:ahLst/>
              <a:cxnLst/>
              <a:rect l="l" t="t" r="r" b="b"/>
              <a:pathLst>
                <a:path w="730250" h="273050">
                  <a:moveTo>
                    <a:pt x="0" y="68180"/>
                  </a:moveTo>
                  <a:lnTo>
                    <a:pt x="593452" y="68180"/>
                  </a:lnTo>
                  <a:lnTo>
                    <a:pt x="593452" y="0"/>
                  </a:lnTo>
                  <a:lnTo>
                    <a:pt x="729814" y="136442"/>
                  </a:lnTo>
                  <a:lnTo>
                    <a:pt x="593452" y="272869"/>
                  </a:lnTo>
                  <a:lnTo>
                    <a:pt x="593452" y="204623"/>
                  </a:lnTo>
                  <a:lnTo>
                    <a:pt x="0" y="204623"/>
                  </a:lnTo>
                  <a:lnTo>
                    <a:pt x="0" y="68180"/>
                  </a:lnTo>
                  <a:close/>
                </a:path>
              </a:pathLst>
            </a:custGeom>
            <a:ln w="5073">
              <a:solidFill>
                <a:srgbClr val="000000"/>
              </a:solidFill>
            </a:ln>
          </p:spPr>
          <p:txBody>
            <a:bodyPr wrap="square" lIns="0" tIns="0" rIns="0" bIns="0" rtlCol="0"/>
            <a:lstStyle/>
            <a:p>
              <a:endParaRPr/>
            </a:p>
          </p:txBody>
        </p:sp>
      </p:grpSp>
      <p:sp>
        <p:nvSpPr>
          <p:cNvPr id="12" name="object 12"/>
          <p:cNvSpPr txBox="1"/>
          <p:nvPr/>
        </p:nvSpPr>
        <p:spPr>
          <a:xfrm>
            <a:off x="3676731" y="1998580"/>
            <a:ext cx="883285" cy="311150"/>
          </a:xfrm>
          <a:prstGeom prst="rect">
            <a:avLst/>
          </a:prstGeom>
          <a:ln w="16893">
            <a:solidFill>
              <a:srgbClr val="FF0000"/>
            </a:solidFill>
          </a:ln>
        </p:spPr>
        <p:txBody>
          <a:bodyPr vert="horz" wrap="square" lIns="0" tIns="13335" rIns="0" bIns="0" rtlCol="0">
            <a:spAutoFit/>
          </a:bodyPr>
          <a:lstStyle/>
          <a:p>
            <a:pPr marL="51435">
              <a:lnSpc>
                <a:spcPct val="100000"/>
              </a:lnSpc>
              <a:spcBef>
                <a:spcPts val="105"/>
              </a:spcBef>
            </a:pPr>
            <a:r>
              <a:rPr sz="1700" spc="-25" dirty="0">
                <a:latin typeface="Times New Roman"/>
                <a:cs typeface="Times New Roman"/>
              </a:rPr>
              <a:t>a</a:t>
            </a:r>
            <a:r>
              <a:rPr sz="1700" spc="-5" dirty="0">
                <a:latin typeface="Times New Roman"/>
                <a:cs typeface="Times New Roman"/>
              </a:rPr>
              <a:t> </a:t>
            </a:r>
            <a:r>
              <a:rPr sz="1700" spc="-125" dirty="0">
                <a:latin typeface="Times New Roman"/>
                <a:cs typeface="Times New Roman"/>
              </a:rPr>
              <a:t>+</a:t>
            </a:r>
            <a:r>
              <a:rPr sz="1700" spc="-114" dirty="0">
                <a:latin typeface="Times New Roman"/>
                <a:cs typeface="Times New Roman"/>
              </a:rPr>
              <a:t>=</a:t>
            </a:r>
            <a:r>
              <a:rPr sz="1700" spc="-35" dirty="0">
                <a:latin typeface="Times New Roman"/>
                <a:cs typeface="Times New Roman"/>
              </a:rPr>
              <a:t> </a:t>
            </a:r>
            <a:r>
              <a:rPr sz="1700" spc="-15" dirty="0">
                <a:latin typeface="Times New Roman"/>
                <a:cs typeface="Times New Roman"/>
              </a:rPr>
              <a:t>4</a:t>
            </a:r>
            <a:r>
              <a:rPr sz="1700" spc="-65" dirty="0">
                <a:latin typeface="Times New Roman"/>
                <a:cs typeface="Times New Roman"/>
              </a:rPr>
              <a:t>;</a:t>
            </a:r>
            <a:endParaRPr sz="1700">
              <a:latin typeface="Times New Roman"/>
              <a:cs typeface="Times New Roman"/>
            </a:endParaRPr>
          </a:p>
        </p:txBody>
      </p:sp>
      <p:grpSp>
        <p:nvGrpSpPr>
          <p:cNvPr id="13" name="object 13"/>
          <p:cNvGrpSpPr/>
          <p:nvPr/>
        </p:nvGrpSpPr>
        <p:grpSpPr>
          <a:xfrm>
            <a:off x="2714630" y="3085697"/>
            <a:ext cx="735330" cy="278130"/>
            <a:chOff x="2714630" y="3085697"/>
            <a:chExt cx="735330" cy="278130"/>
          </a:xfrm>
        </p:grpSpPr>
        <p:sp>
          <p:nvSpPr>
            <p:cNvPr id="14" name="object 14"/>
            <p:cNvSpPr/>
            <p:nvPr/>
          </p:nvSpPr>
          <p:spPr>
            <a:xfrm>
              <a:off x="2717170" y="3088237"/>
              <a:ext cx="730250" cy="273050"/>
            </a:xfrm>
            <a:custGeom>
              <a:avLst/>
              <a:gdLst/>
              <a:ahLst/>
              <a:cxnLst/>
              <a:rect l="l" t="t" r="r" b="b"/>
              <a:pathLst>
                <a:path w="730250" h="273050">
                  <a:moveTo>
                    <a:pt x="593436" y="0"/>
                  </a:moveTo>
                  <a:lnTo>
                    <a:pt x="593436" y="68179"/>
                  </a:lnTo>
                  <a:lnTo>
                    <a:pt x="0" y="68179"/>
                  </a:lnTo>
                  <a:lnTo>
                    <a:pt x="0" y="204614"/>
                  </a:lnTo>
                  <a:lnTo>
                    <a:pt x="593436" y="204614"/>
                  </a:lnTo>
                  <a:lnTo>
                    <a:pt x="593436" y="272869"/>
                  </a:lnTo>
                  <a:lnTo>
                    <a:pt x="729814" y="136434"/>
                  </a:lnTo>
                  <a:lnTo>
                    <a:pt x="593436" y="0"/>
                  </a:lnTo>
                  <a:close/>
                </a:path>
              </a:pathLst>
            </a:custGeom>
            <a:solidFill>
              <a:srgbClr val="FF0000"/>
            </a:solidFill>
          </p:spPr>
          <p:txBody>
            <a:bodyPr wrap="square" lIns="0" tIns="0" rIns="0" bIns="0" rtlCol="0"/>
            <a:lstStyle/>
            <a:p>
              <a:endParaRPr/>
            </a:p>
          </p:txBody>
        </p:sp>
        <p:sp>
          <p:nvSpPr>
            <p:cNvPr id="15" name="object 15"/>
            <p:cNvSpPr/>
            <p:nvPr/>
          </p:nvSpPr>
          <p:spPr>
            <a:xfrm>
              <a:off x="2717170" y="3088237"/>
              <a:ext cx="730250" cy="273050"/>
            </a:xfrm>
            <a:custGeom>
              <a:avLst/>
              <a:gdLst/>
              <a:ahLst/>
              <a:cxnLst/>
              <a:rect l="l" t="t" r="r" b="b"/>
              <a:pathLst>
                <a:path w="730250" h="273050">
                  <a:moveTo>
                    <a:pt x="0" y="68179"/>
                  </a:moveTo>
                  <a:lnTo>
                    <a:pt x="593436" y="68179"/>
                  </a:lnTo>
                  <a:lnTo>
                    <a:pt x="593436" y="0"/>
                  </a:lnTo>
                  <a:lnTo>
                    <a:pt x="729814" y="136434"/>
                  </a:lnTo>
                  <a:lnTo>
                    <a:pt x="593436" y="272869"/>
                  </a:lnTo>
                  <a:lnTo>
                    <a:pt x="593436" y="204614"/>
                  </a:lnTo>
                  <a:lnTo>
                    <a:pt x="0" y="204614"/>
                  </a:lnTo>
                  <a:lnTo>
                    <a:pt x="0" y="68179"/>
                  </a:lnTo>
                  <a:close/>
                </a:path>
              </a:pathLst>
            </a:custGeom>
            <a:ln w="5073">
              <a:solidFill>
                <a:srgbClr val="000000"/>
              </a:solidFill>
            </a:ln>
          </p:spPr>
          <p:txBody>
            <a:bodyPr wrap="square" lIns="0" tIns="0" rIns="0" bIns="0" rtlCol="0"/>
            <a:lstStyle/>
            <a:p>
              <a:endParaRPr/>
            </a:p>
          </p:txBody>
        </p:sp>
      </p:grpSp>
      <p:sp>
        <p:nvSpPr>
          <p:cNvPr id="16" name="object 16"/>
          <p:cNvSpPr txBox="1"/>
          <p:nvPr/>
        </p:nvSpPr>
        <p:spPr>
          <a:xfrm>
            <a:off x="3717288" y="3059991"/>
            <a:ext cx="1678305" cy="287655"/>
          </a:xfrm>
          <a:prstGeom prst="rect">
            <a:avLst/>
          </a:prstGeom>
        </p:spPr>
        <p:txBody>
          <a:bodyPr vert="horz" wrap="square" lIns="0" tIns="14604" rIns="0" bIns="0" rtlCol="0">
            <a:spAutoFit/>
          </a:bodyPr>
          <a:lstStyle/>
          <a:p>
            <a:pPr marL="12700">
              <a:lnSpc>
                <a:spcPct val="100000"/>
              </a:lnSpc>
              <a:spcBef>
                <a:spcPts val="114"/>
              </a:spcBef>
            </a:pPr>
            <a:r>
              <a:rPr sz="1700" spc="-135" dirty="0">
                <a:latin typeface="Times New Roman"/>
                <a:cs typeface="Times New Roman"/>
              </a:rPr>
              <a:t>v</a:t>
            </a:r>
            <a:r>
              <a:rPr sz="1700" spc="-45" dirty="0">
                <a:latin typeface="Times New Roman"/>
                <a:cs typeface="Times New Roman"/>
              </a:rPr>
              <a:t>a</a:t>
            </a:r>
            <a:r>
              <a:rPr sz="1700" spc="30" dirty="0">
                <a:latin typeface="Times New Roman"/>
                <a:cs typeface="Times New Roman"/>
              </a:rPr>
              <a:t>r</a:t>
            </a:r>
            <a:r>
              <a:rPr sz="1700" spc="-30" dirty="0">
                <a:latin typeface="Times New Roman"/>
                <a:cs typeface="Times New Roman"/>
              </a:rPr>
              <a:t> </a:t>
            </a:r>
            <a:r>
              <a:rPr sz="1700" spc="20" dirty="0">
                <a:latin typeface="Times New Roman"/>
                <a:cs typeface="Times New Roman"/>
              </a:rPr>
              <a:t>o</a:t>
            </a:r>
            <a:r>
              <a:rPr sz="1700" spc="65" dirty="0">
                <a:latin typeface="Times New Roman"/>
                <a:cs typeface="Times New Roman"/>
              </a:rPr>
              <a:t>p</a:t>
            </a:r>
            <a:r>
              <a:rPr sz="1700" spc="-114" dirty="0">
                <a:latin typeface="Times New Roman"/>
                <a:cs typeface="Times New Roman"/>
              </a:rPr>
              <a:t>=</a:t>
            </a:r>
            <a:r>
              <a:rPr sz="1700" spc="-35" dirty="0">
                <a:latin typeface="Times New Roman"/>
                <a:cs typeface="Times New Roman"/>
              </a:rPr>
              <a:t> </a:t>
            </a:r>
            <a:r>
              <a:rPr sz="1700" dirty="0">
                <a:latin typeface="Times New Roman"/>
                <a:cs typeface="Times New Roman"/>
              </a:rPr>
              <a:t>e</a:t>
            </a:r>
            <a:r>
              <a:rPr sz="1700" spc="-95" dirty="0">
                <a:latin typeface="Times New Roman"/>
                <a:cs typeface="Times New Roman"/>
              </a:rPr>
              <a:t>x</a:t>
            </a:r>
            <a:r>
              <a:rPr sz="1700" spc="65" dirty="0">
                <a:latin typeface="Times New Roman"/>
                <a:cs typeface="Times New Roman"/>
              </a:rPr>
              <a:t>p</a:t>
            </a:r>
            <a:r>
              <a:rPr sz="1700" spc="20" dirty="0">
                <a:latin typeface="Times New Roman"/>
                <a:cs typeface="Times New Roman"/>
              </a:rPr>
              <a:t>r</a:t>
            </a:r>
            <a:r>
              <a:rPr sz="1700" spc="5" dirty="0">
                <a:latin typeface="Times New Roman"/>
                <a:cs typeface="Times New Roman"/>
              </a:rPr>
              <a:t>e</a:t>
            </a:r>
            <a:r>
              <a:rPr sz="1700" spc="-65" dirty="0">
                <a:latin typeface="Times New Roman"/>
                <a:cs typeface="Times New Roman"/>
              </a:rPr>
              <a:t>ss</a:t>
            </a:r>
            <a:r>
              <a:rPr sz="1700" spc="-80" dirty="0">
                <a:latin typeface="Times New Roman"/>
                <a:cs typeface="Times New Roman"/>
              </a:rPr>
              <a:t>i</a:t>
            </a:r>
            <a:r>
              <a:rPr sz="1700" spc="20" dirty="0">
                <a:latin typeface="Times New Roman"/>
                <a:cs typeface="Times New Roman"/>
              </a:rPr>
              <a:t>on</a:t>
            </a:r>
            <a:r>
              <a:rPr sz="1700" spc="-65" dirty="0">
                <a:latin typeface="Times New Roman"/>
                <a:cs typeface="Times New Roman"/>
              </a:rPr>
              <a:t>;</a:t>
            </a:r>
            <a:endParaRPr sz="1700">
              <a:latin typeface="Times New Roman"/>
              <a:cs typeface="Times New Roman"/>
            </a:endParaRPr>
          </a:p>
        </p:txBody>
      </p:sp>
      <p:sp>
        <p:nvSpPr>
          <p:cNvPr id="17" name="object 17"/>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a:spLocks noGrp="1"/>
          </p:cNvSpPr>
          <p:nvPr>
            <p:ph type="title"/>
          </p:nvPr>
        </p:nvSpPr>
        <p:spPr>
          <a:xfrm>
            <a:off x="1346200" y="726272"/>
            <a:ext cx="2842915" cy="318135"/>
          </a:xfrm>
          <a:prstGeom prst="rect">
            <a:avLst/>
          </a:prstGeom>
        </p:spPr>
        <p:txBody>
          <a:bodyPr vert="horz" wrap="square" lIns="0" tIns="14604" rIns="0" bIns="0" rtlCol="0">
            <a:spAutoFit/>
          </a:bodyPr>
          <a:lstStyle/>
          <a:p>
            <a:pPr marL="12700">
              <a:lnSpc>
                <a:spcPct val="100000"/>
              </a:lnSpc>
              <a:spcBef>
                <a:spcPts val="114"/>
              </a:spcBef>
            </a:pPr>
            <a:r>
              <a:rPr spc="5" dirty="0">
                <a:solidFill>
                  <a:schemeClr val="tx1"/>
                </a:solidFill>
              </a:rPr>
              <a:t>Increment</a:t>
            </a:r>
            <a:r>
              <a:rPr spc="-20" dirty="0">
                <a:solidFill>
                  <a:schemeClr val="tx1"/>
                </a:solidFill>
              </a:rPr>
              <a:t> </a:t>
            </a:r>
            <a:r>
              <a:rPr spc="10" dirty="0">
                <a:solidFill>
                  <a:schemeClr val="tx1"/>
                </a:solidFill>
              </a:rPr>
              <a:t>and</a:t>
            </a:r>
            <a:r>
              <a:rPr spc="-70" dirty="0">
                <a:solidFill>
                  <a:schemeClr val="tx1"/>
                </a:solidFill>
              </a:rPr>
              <a:t> </a:t>
            </a:r>
            <a:r>
              <a:rPr spc="10" dirty="0">
                <a:solidFill>
                  <a:schemeClr val="tx1"/>
                </a:solidFill>
              </a:rPr>
              <a:t>Decrement</a:t>
            </a:r>
          </a:p>
        </p:txBody>
      </p:sp>
      <p:sp>
        <p:nvSpPr>
          <p:cNvPr id="4" name="object 4"/>
          <p:cNvSpPr txBox="1"/>
          <p:nvPr/>
        </p:nvSpPr>
        <p:spPr>
          <a:xfrm>
            <a:off x="4363105" y="1265997"/>
            <a:ext cx="2074545" cy="2387600"/>
          </a:xfrm>
          <a:prstGeom prst="rect">
            <a:avLst/>
          </a:prstGeom>
        </p:spPr>
        <p:txBody>
          <a:bodyPr vert="horz" wrap="square" lIns="0" tIns="8890" rIns="0" bIns="0" rtlCol="0">
            <a:spAutoFit/>
          </a:bodyPr>
          <a:lstStyle/>
          <a:p>
            <a:pPr marL="194945" marR="135890" indent="-182880">
              <a:lnSpc>
                <a:spcPct val="103299"/>
              </a:lnSpc>
              <a:spcBef>
                <a:spcPts val="70"/>
              </a:spcBef>
              <a:buChar char="•"/>
              <a:tabLst>
                <a:tab pos="195580" algn="l"/>
              </a:tabLst>
            </a:pPr>
            <a:r>
              <a:rPr sz="1450" spc="20" dirty="0">
                <a:latin typeface="Arial MT"/>
                <a:cs typeface="Arial MT"/>
              </a:rPr>
              <a:t>The ++ </a:t>
            </a:r>
            <a:r>
              <a:rPr sz="1450" spc="10" dirty="0">
                <a:latin typeface="Arial MT"/>
                <a:cs typeface="Arial MT"/>
              </a:rPr>
              <a:t>and the </a:t>
            </a:r>
            <a:r>
              <a:rPr sz="1450" spc="15" dirty="0">
                <a:latin typeface="Arial MT"/>
                <a:cs typeface="Arial MT"/>
              </a:rPr>
              <a:t>– – </a:t>
            </a:r>
            <a:r>
              <a:rPr sz="1450" spc="20" dirty="0">
                <a:latin typeface="Arial MT"/>
                <a:cs typeface="Arial MT"/>
              </a:rPr>
              <a:t> </a:t>
            </a:r>
            <a:r>
              <a:rPr sz="1450" dirty="0">
                <a:latin typeface="Arial MT"/>
                <a:cs typeface="Arial MT"/>
              </a:rPr>
              <a:t>are</a:t>
            </a:r>
            <a:r>
              <a:rPr sz="1450" spc="10" dirty="0">
                <a:latin typeface="Arial MT"/>
                <a:cs typeface="Arial MT"/>
              </a:rPr>
              <a:t> </a:t>
            </a:r>
            <a:r>
              <a:rPr sz="1450" spc="-5" dirty="0">
                <a:latin typeface="Arial MT"/>
                <a:cs typeface="Arial MT"/>
              </a:rPr>
              <a:t>Java’s</a:t>
            </a:r>
            <a:r>
              <a:rPr sz="1450" spc="120" dirty="0">
                <a:latin typeface="Arial MT"/>
                <a:cs typeface="Arial MT"/>
              </a:rPr>
              <a:t> </a:t>
            </a:r>
            <a:r>
              <a:rPr sz="1450" spc="5" dirty="0">
                <a:latin typeface="Arial MT"/>
                <a:cs typeface="Arial MT"/>
              </a:rPr>
              <a:t>increment </a:t>
            </a:r>
            <a:r>
              <a:rPr sz="1450" spc="-385" dirty="0">
                <a:latin typeface="Arial MT"/>
                <a:cs typeface="Arial MT"/>
              </a:rPr>
              <a:t> </a:t>
            </a:r>
            <a:r>
              <a:rPr sz="1450" spc="10" dirty="0">
                <a:latin typeface="Arial MT"/>
                <a:cs typeface="Arial MT"/>
              </a:rPr>
              <a:t>and</a:t>
            </a:r>
            <a:r>
              <a:rPr sz="1450" spc="35" dirty="0">
                <a:latin typeface="Arial MT"/>
                <a:cs typeface="Arial MT"/>
              </a:rPr>
              <a:t> </a:t>
            </a:r>
            <a:r>
              <a:rPr sz="1450" spc="5" dirty="0">
                <a:latin typeface="Arial MT"/>
                <a:cs typeface="Arial MT"/>
              </a:rPr>
              <a:t>decrement </a:t>
            </a:r>
            <a:r>
              <a:rPr sz="1450" spc="10" dirty="0">
                <a:latin typeface="Arial MT"/>
                <a:cs typeface="Arial MT"/>
              </a:rPr>
              <a:t> </a:t>
            </a:r>
            <a:r>
              <a:rPr sz="1450" spc="5" dirty="0">
                <a:latin typeface="Arial MT"/>
                <a:cs typeface="Arial MT"/>
              </a:rPr>
              <a:t>operators</a:t>
            </a:r>
            <a:endParaRPr sz="1450">
              <a:latin typeface="Arial MT"/>
              <a:cs typeface="Arial MT"/>
            </a:endParaRPr>
          </a:p>
          <a:p>
            <a:pPr marL="194945" marR="70485" indent="-182880">
              <a:lnSpc>
                <a:spcPct val="103400"/>
              </a:lnSpc>
              <a:spcBef>
                <a:spcPts val="320"/>
              </a:spcBef>
              <a:buChar char="•"/>
              <a:tabLst>
                <a:tab pos="195580" algn="l"/>
              </a:tabLst>
            </a:pPr>
            <a:r>
              <a:rPr sz="1450" spc="20" dirty="0">
                <a:latin typeface="Arial MT"/>
                <a:cs typeface="Arial MT"/>
              </a:rPr>
              <a:t>The </a:t>
            </a:r>
            <a:r>
              <a:rPr sz="1450" spc="5" dirty="0">
                <a:latin typeface="Arial MT"/>
                <a:cs typeface="Arial MT"/>
              </a:rPr>
              <a:t>increment </a:t>
            </a:r>
            <a:r>
              <a:rPr sz="1450" spc="10" dirty="0">
                <a:latin typeface="Arial MT"/>
                <a:cs typeface="Arial MT"/>
              </a:rPr>
              <a:t> </a:t>
            </a:r>
            <a:r>
              <a:rPr sz="1450" spc="5" dirty="0">
                <a:latin typeface="Arial MT"/>
                <a:cs typeface="Arial MT"/>
              </a:rPr>
              <a:t>operator</a:t>
            </a:r>
            <a:r>
              <a:rPr sz="1450" spc="75" dirty="0">
                <a:latin typeface="Arial MT"/>
                <a:cs typeface="Arial MT"/>
              </a:rPr>
              <a:t> </a:t>
            </a:r>
            <a:r>
              <a:rPr sz="1450" spc="-5" dirty="0">
                <a:latin typeface="Arial MT"/>
                <a:cs typeface="Arial MT"/>
              </a:rPr>
              <a:t>increases</a:t>
            </a:r>
            <a:r>
              <a:rPr sz="1450" spc="145" dirty="0">
                <a:latin typeface="Arial MT"/>
                <a:cs typeface="Arial MT"/>
              </a:rPr>
              <a:t> </a:t>
            </a:r>
            <a:r>
              <a:rPr sz="1450" spc="-15" dirty="0">
                <a:latin typeface="Arial MT"/>
                <a:cs typeface="Arial MT"/>
              </a:rPr>
              <a:t>its </a:t>
            </a:r>
            <a:r>
              <a:rPr sz="1450" spc="-390" dirty="0">
                <a:latin typeface="Arial MT"/>
                <a:cs typeface="Arial MT"/>
              </a:rPr>
              <a:t> </a:t>
            </a:r>
            <a:r>
              <a:rPr sz="1450" spc="5" dirty="0">
                <a:latin typeface="Arial MT"/>
                <a:cs typeface="Arial MT"/>
              </a:rPr>
              <a:t>operand</a:t>
            </a:r>
            <a:r>
              <a:rPr sz="1450" spc="75" dirty="0">
                <a:latin typeface="Arial MT"/>
                <a:cs typeface="Arial MT"/>
              </a:rPr>
              <a:t> </a:t>
            </a:r>
            <a:r>
              <a:rPr sz="1450" spc="15" dirty="0">
                <a:latin typeface="Arial MT"/>
                <a:cs typeface="Arial MT"/>
              </a:rPr>
              <a:t>by</a:t>
            </a:r>
            <a:r>
              <a:rPr sz="1450" spc="5" dirty="0">
                <a:latin typeface="Arial MT"/>
                <a:cs typeface="Arial MT"/>
              </a:rPr>
              <a:t> </a:t>
            </a:r>
            <a:r>
              <a:rPr sz="1450" spc="10" dirty="0">
                <a:latin typeface="Arial MT"/>
                <a:cs typeface="Arial MT"/>
              </a:rPr>
              <a:t>one.</a:t>
            </a:r>
            <a:endParaRPr sz="1450">
              <a:latin typeface="Arial MT"/>
              <a:cs typeface="Arial MT"/>
            </a:endParaRPr>
          </a:p>
          <a:p>
            <a:pPr marL="194945" marR="5080" indent="-182880">
              <a:lnSpc>
                <a:spcPct val="102200"/>
              </a:lnSpc>
              <a:spcBef>
                <a:spcPts val="380"/>
              </a:spcBef>
              <a:buChar char="•"/>
              <a:tabLst>
                <a:tab pos="195580" algn="l"/>
              </a:tabLst>
            </a:pPr>
            <a:r>
              <a:rPr sz="1450" spc="20" dirty="0">
                <a:latin typeface="Arial MT"/>
                <a:cs typeface="Arial MT"/>
              </a:rPr>
              <a:t>The </a:t>
            </a:r>
            <a:r>
              <a:rPr sz="1450" spc="5" dirty="0">
                <a:latin typeface="Arial MT"/>
                <a:cs typeface="Arial MT"/>
              </a:rPr>
              <a:t>decrement </a:t>
            </a:r>
            <a:r>
              <a:rPr sz="1450" spc="10" dirty="0">
                <a:latin typeface="Arial MT"/>
                <a:cs typeface="Arial MT"/>
              </a:rPr>
              <a:t> </a:t>
            </a:r>
            <a:r>
              <a:rPr sz="1450" spc="5" dirty="0">
                <a:latin typeface="Arial MT"/>
                <a:cs typeface="Arial MT"/>
              </a:rPr>
              <a:t>operator</a:t>
            </a:r>
            <a:r>
              <a:rPr sz="1450" spc="70" dirty="0">
                <a:latin typeface="Arial MT"/>
                <a:cs typeface="Arial MT"/>
              </a:rPr>
              <a:t> </a:t>
            </a:r>
            <a:r>
              <a:rPr sz="1450" dirty="0">
                <a:latin typeface="Arial MT"/>
                <a:cs typeface="Arial MT"/>
              </a:rPr>
              <a:t>decreases</a:t>
            </a:r>
            <a:r>
              <a:rPr sz="1450" spc="140" dirty="0">
                <a:latin typeface="Arial MT"/>
                <a:cs typeface="Arial MT"/>
              </a:rPr>
              <a:t> </a:t>
            </a:r>
            <a:r>
              <a:rPr sz="1450" spc="-15" dirty="0">
                <a:latin typeface="Arial MT"/>
                <a:cs typeface="Arial MT"/>
              </a:rPr>
              <a:t>its </a:t>
            </a:r>
            <a:r>
              <a:rPr sz="1450" spc="-390" dirty="0">
                <a:latin typeface="Arial MT"/>
                <a:cs typeface="Arial MT"/>
              </a:rPr>
              <a:t> </a:t>
            </a:r>
            <a:r>
              <a:rPr sz="1450" spc="5" dirty="0">
                <a:latin typeface="Arial MT"/>
                <a:cs typeface="Arial MT"/>
              </a:rPr>
              <a:t>operand</a:t>
            </a:r>
            <a:r>
              <a:rPr sz="1450" spc="75" dirty="0">
                <a:latin typeface="Arial MT"/>
                <a:cs typeface="Arial MT"/>
              </a:rPr>
              <a:t> </a:t>
            </a:r>
            <a:r>
              <a:rPr sz="1450" spc="15" dirty="0">
                <a:latin typeface="Arial MT"/>
                <a:cs typeface="Arial MT"/>
              </a:rPr>
              <a:t>by</a:t>
            </a:r>
            <a:r>
              <a:rPr sz="1450" spc="10" dirty="0">
                <a:latin typeface="Arial MT"/>
                <a:cs typeface="Arial MT"/>
              </a:rPr>
              <a:t> </a:t>
            </a:r>
            <a:r>
              <a:rPr sz="1450" spc="20" dirty="0">
                <a:latin typeface="Arial MT"/>
                <a:cs typeface="Arial MT"/>
              </a:rPr>
              <a:t>one</a:t>
            </a:r>
            <a:endParaRPr sz="1450">
              <a:latin typeface="Arial MT"/>
              <a:cs typeface="Arial MT"/>
            </a:endParaRPr>
          </a:p>
        </p:txBody>
      </p:sp>
      <p:grpSp>
        <p:nvGrpSpPr>
          <p:cNvPr id="6" name="object 6"/>
          <p:cNvGrpSpPr/>
          <p:nvPr/>
        </p:nvGrpSpPr>
        <p:grpSpPr>
          <a:xfrm>
            <a:off x="-201" y="698500"/>
            <a:ext cx="6498590" cy="3660140"/>
            <a:chOff x="-1387" y="628242"/>
            <a:chExt cx="6498590" cy="3660140"/>
          </a:xfrm>
        </p:grpSpPr>
        <p:pic>
          <p:nvPicPr>
            <p:cNvPr id="7" name="object 7"/>
            <p:cNvPicPr/>
            <p:nvPr/>
          </p:nvPicPr>
          <p:blipFill>
            <a:blip r:embed="rId3" cstate="print"/>
            <a:stretch>
              <a:fillRect/>
            </a:stretch>
          </p:blipFill>
          <p:spPr>
            <a:xfrm>
              <a:off x="4011" y="1205451"/>
              <a:ext cx="4260625" cy="2952164"/>
            </a:xfrm>
            <a:prstGeom prst="rect">
              <a:avLst/>
            </a:prstGeom>
          </p:spPr>
        </p:pic>
        <p:sp>
          <p:nvSpPr>
            <p:cNvPr id="8" name="object 8"/>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02951" y="268881"/>
            <a:ext cx="4828540" cy="318135"/>
          </a:xfrm>
          <a:prstGeom prst="rect">
            <a:avLst/>
          </a:prstGeom>
        </p:spPr>
        <p:txBody>
          <a:bodyPr vert="horz" wrap="square" lIns="0" tIns="14604" rIns="0" bIns="0" rtlCol="0">
            <a:spAutoFit/>
          </a:bodyPr>
          <a:lstStyle/>
          <a:p>
            <a:pPr marL="12700">
              <a:lnSpc>
                <a:spcPct val="100000"/>
              </a:lnSpc>
              <a:spcBef>
                <a:spcPts val="114"/>
              </a:spcBef>
            </a:pPr>
            <a:r>
              <a:rPr spc="5" dirty="0">
                <a:solidFill>
                  <a:schemeClr val="tx1"/>
                </a:solidFill>
              </a:rPr>
              <a:t>Pre-Increment</a:t>
            </a:r>
            <a:r>
              <a:rPr spc="-40" dirty="0">
                <a:solidFill>
                  <a:schemeClr val="tx1"/>
                </a:solidFill>
              </a:rPr>
              <a:t> </a:t>
            </a:r>
            <a:r>
              <a:rPr spc="10" dirty="0">
                <a:solidFill>
                  <a:schemeClr val="tx1"/>
                </a:solidFill>
              </a:rPr>
              <a:t>Post</a:t>
            </a:r>
            <a:r>
              <a:rPr dirty="0">
                <a:solidFill>
                  <a:schemeClr val="tx1"/>
                </a:solidFill>
              </a:rPr>
              <a:t> increment(Prefix/Postfix)</a:t>
            </a:r>
          </a:p>
        </p:txBody>
      </p:sp>
      <p:sp>
        <p:nvSpPr>
          <p:cNvPr id="3" name="object 3"/>
          <p:cNvSpPr txBox="1"/>
          <p:nvPr/>
        </p:nvSpPr>
        <p:spPr>
          <a:xfrm>
            <a:off x="364664" y="803538"/>
            <a:ext cx="5727700" cy="1120140"/>
          </a:xfrm>
          <a:prstGeom prst="rect">
            <a:avLst/>
          </a:prstGeom>
        </p:spPr>
        <p:txBody>
          <a:bodyPr vert="horz" wrap="square" lIns="0" tIns="10160" rIns="0" bIns="0" rtlCol="0">
            <a:spAutoFit/>
          </a:bodyPr>
          <a:lstStyle/>
          <a:p>
            <a:pPr marL="194945" marR="5080" indent="-182880">
              <a:lnSpc>
                <a:spcPct val="101899"/>
              </a:lnSpc>
              <a:spcBef>
                <a:spcPts val="80"/>
              </a:spcBef>
              <a:buChar char="•"/>
              <a:tabLst>
                <a:tab pos="195580" algn="l"/>
              </a:tabLst>
            </a:pPr>
            <a:r>
              <a:rPr sz="1700" spc="5" dirty="0">
                <a:latin typeface="Arial MT"/>
                <a:cs typeface="Arial MT"/>
              </a:rPr>
              <a:t>In</a:t>
            </a:r>
            <a:r>
              <a:rPr sz="1700" spc="-25" dirty="0">
                <a:latin typeface="Arial MT"/>
                <a:cs typeface="Arial MT"/>
              </a:rPr>
              <a:t> </a:t>
            </a:r>
            <a:r>
              <a:rPr sz="1700" spc="10" dirty="0">
                <a:latin typeface="Arial MT"/>
                <a:cs typeface="Arial MT"/>
              </a:rPr>
              <a:t>prefix</a:t>
            </a:r>
            <a:r>
              <a:rPr sz="1700" spc="-95" dirty="0">
                <a:latin typeface="Arial MT"/>
                <a:cs typeface="Arial MT"/>
              </a:rPr>
              <a:t> </a:t>
            </a:r>
            <a:r>
              <a:rPr sz="1700" spc="10" dirty="0">
                <a:latin typeface="Arial MT"/>
                <a:cs typeface="Arial MT"/>
              </a:rPr>
              <a:t>form</a:t>
            </a:r>
            <a:r>
              <a:rPr sz="1700" spc="-65" dirty="0">
                <a:latin typeface="Arial MT"/>
                <a:cs typeface="Arial MT"/>
              </a:rPr>
              <a:t> </a:t>
            </a:r>
            <a:r>
              <a:rPr sz="1700" spc="5" dirty="0">
                <a:latin typeface="Arial MT"/>
                <a:cs typeface="Arial MT"/>
              </a:rPr>
              <a:t>the</a:t>
            </a:r>
            <a:r>
              <a:rPr sz="1700" spc="-25" dirty="0">
                <a:latin typeface="Arial MT"/>
                <a:cs typeface="Arial MT"/>
              </a:rPr>
              <a:t> </a:t>
            </a:r>
            <a:r>
              <a:rPr sz="1700" dirty="0">
                <a:latin typeface="Arial MT"/>
                <a:cs typeface="Arial MT"/>
              </a:rPr>
              <a:t>operand</a:t>
            </a:r>
            <a:r>
              <a:rPr sz="1700" spc="-65" dirty="0">
                <a:latin typeface="Arial MT"/>
                <a:cs typeface="Arial MT"/>
              </a:rPr>
              <a:t> </a:t>
            </a:r>
            <a:r>
              <a:rPr sz="1700" spc="10" dirty="0">
                <a:latin typeface="Arial MT"/>
                <a:cs typeface="Arial MT"/>
              </a:rPr>
              <a:t>is</a:t>
            </a:r>
            <a:r>
              <a:rPr sz="1700" spc="-10" dirty="0">
                <a:latin typeface="Arial MT"/>
                <a:cs typeface="Arial MT"/>
              </a:rPr>
              <a:t> </a:t>
            </a:r>
            <a:r>
              <a:rPr sz="1700" spc="5" dirty="0">
                <a:latin typeface="Arial MT"/>
                <a:cs typeface="Arial MT"/>
              </a:rPr>
              <a:t>incremented</a:t>
            </a:r>
            <a:r>
              <a:rPr sz="1700" spc="-145" dirty="0">
                <a:latin typeface="Arial MT"/>
                <a:cs typeface="Arial MT"/>
              </a:rPr>
              <a:t> </a:t>
            </a:r>
            <a:r>
              <a:rPr sz="1700" spc="5" dirty="0">
                <a:latin typeface="Arial MT"/>
                <a:cs typeface="Arial MT"/>
              </a:rPr>
              <a:t>or</a:t>
            </a:r>
            <a:r>
              <a:rPr sz="1700" dirty="0">
                <a:latin typeface="Arial MT"/>
                <a:cs typeface="Arial MT"/>
              </a:rPr>
              <a:t> </a:t>
            </a:r>
            <a:r>
              <a:rPr sz="1700" spc="5" dirty="0">
                <a:latin typeface="Arial MT"/>
                <a:cs typeface="Arial MT"/>
              </a:rPr>
              <a:t>decremented </a:t>
            </a:r>
            <a:r>
              <a:rPr sz="1700" spc="-455" dirty="0">
                <a:latin typeface="Arial MT"/>
                <a:cs typeface="Arial MT"/>
              </a:rPr>
              <a:t> </a:t>
            </a:r>
            <a:r>
              <a:rPr sz="1700" spc="10" dirty="0">
                <a:latin typeface="Arial MT"/>
                <a:cs typeface="Arial MT"/>
              </a:rPr>
              <a:t>before</a:t>
            </a:r>
            <a:r>
              <a:rPr sz="1700" spc="-114" dirty="0">
                <a:latin typeface="Arial MT"/>
                <a:cs typeface="Arial MT"/>
              </a:rPr>
              <a:t> </a:t>
            </a:r>
            <a:r>
              <a:rPr sz="1700" spc="5" dirty="0">
                <a:latin typeface="Arial MT"/>
                <a:cs typeface="Arial MT"/>
              </a:rPr>
              <a:t>the</a:t>
            </a:r>
            <a:r>
              <a:rPr sz="1700" spc="-30" dirty="0">
                <a:latin typeface="Arial MT"/>
                <a:cs typeface="Arial MT"/>
              </a:rPr>
              <a:t> </a:t>
            </a:r>
            <a:r>
              <a:rPr sz="1700" spc="20" dirty="0">
                <a:latin typeface="Arial MT"/>
                <a:cs typeface="Arial MT"/>
              </a:rPr>
              <a:t>value</a:t>
            </a:r>
            <a:r>
              <a:rPr sz="1700" spc="-114" dirty="0">
                <a:latin typeface="Arial MT"/>
                <a:cs typeface="Arial MT"/>
              </a:rPr>
              <a:t> </a:t>
            </a:r>
            <a:r>
              <a:rPr sz="1700" spc="10" dirty="0">
                <a:latin typeface="Arial MT"/>
                <a:cs typeface="Arial MT"/>
              </a:rPr>
              <a:t>is</a:t>
            </a:r>
            <a:r>
              <a:rPr sz="1700" spc="-15" dirty="0">
                <a:latin typeface="Arial MT"/>
                <a:cs typeface="Arial MT"/>
              </a:rPr>
              <a:t> </a:t>
            </a:r>
            <a:r>
              <a:rPr sz="1700" spc="5" dirty="0">
                <a:latin typeface="Arial MT"/>
                <a:cs typeface="Arial MT"/>
              </a:rPr>
              <a:t>obtained</a:t>
            </a:r>
            <a:r>
              <a:rPr sz="1700" spc="-110" dirty="0">
                <a:latin typeface="Arial MT"/>
                <a:cs typeface="Arial MT"/>
              </a:rPr>
              <a:t> </a:t>
            </a:r>
            <a:r>
              <a:rPr sz="1700" spc="15" dirty="0">
                <a:latin typeface="Arial MT"/>
                <a:cs typeface="Arial MT"/>
              </a:rPr>
              <a:t>for</a:t>
            </a:r>
            <a:r>
              <a:rPr sz="1700" spc="-90" dirty="0">
                <a:latin typeface="Arial MT"/>
                <a:cs typeface="Arial MT"/>
              </a:rPr>
              <a:t> </a:t>
            </a:r>
            <a:r>
              <a:rPr sz="1700" spc="10" dirty="0">
                <a:latin typeface="Arial MT"/>
                <a:cs typeface="Arial MT"/>
              </a:rPr>
              <a:t>use</a:t>
            </a:r>
            <a:r>
              <a:rPr sz="1700" spc="-30" dirty="0">
                <a:latin typeface="Arial MT"/>
                <a:cs typeface="Arial MT"/>
              </a:rPr>
              <a:t> </a:t>
            </a:r>
            <a:r>
              <a:rPr sz="1700" spc="10" dirty="0">
                <a:latin typeface="Arial MT"/>
                <a:cs typeface="Arial MT"/>
              </a:rPr>
              <a:t>in</a:t>
            </a:r>
            <a:r>
              <a:rPr sz="1700" spc="-35" dirty="0">
                <a:latin typeface="Arial MT"/>
                <a:cs typeface="Arial MT"/>
              </a:rPr>
              <a:t> </a:t>
            </a:r>
            <a:r>
              <a:rPr sz="1700" spc="5" dirty="0">
                <a:latin typeface="Arial MT"/>
                <a:cs typeface="Arial MT"/>
              </a:rPr>
              <a:t>the</a:t>
            </a:r>
            <a:r>
              <a:rPr sz="1700" spc="-30" dirty="0">
                <a:latin typeface="Arial MT"/>
                <a:cs typeface="Arial MT"/>
              </a:rPr>
              <a:t> </a:t>
            </a:r>
            <a:r>
              <a:rPr sz="1700" spc="5" dirty="0">
                <a:latin typeface="Arial MT"/>
                <a:cs typeface="Arial MT"/>
              </a:rPr>
              <a:t>expression.</a:t>
            </a:r>
            <a:endParaRPr sz="1700">
              <a:latin typeface="Arial MT"/>
              <a:cs typeface="Arial MT"/>
            </a:endParaRPr>
          </a:p>
          <a:p>
            <a:pPr marL="194945" marR="304165" indent="-182880">
              <a:lnSpc>
                <a:spcPct val="100000"/>
              </a:lnSpc>
              <a:spcBef>
                <a:spcPts val="395"/>
              </a:spcBef>
              <a:buChar char="•"/>
              <a:tabLst>
                <a:tab pos="195580" algn="l"/>
              </a:tabLst>
            </a:pPr>
            <a:r>
              <a:rPr sz="1700" spc="5" dirty="0">
                <a:latin typeface="Arial MT"/>
                <a:cs typeface="Arial MT"/>
              </a:rPr>
              <a:t>In</a:t>
            </a:r>
            <a:r>
              <a:rPr sz="1700" spc="-30" dirty="0">
                <a:latin typeface="Arial MT"/>
                <a:cs typeface="Arial MT"/>
              </a:rPr>
              <a:t> </a:t>
            </a:r>
            <a:r>
              <a:rPr sz="1700" spc="15" dirty="0">
                <a:latin typeface="Arial MT"/>
                <a:cs typeface="Arial MT"/>
              </a:rPr>
              <a:t>postfix</a:t>
            </a:r>
            <a:r>
              <a:rPr sz="1700" spc="-140" dirty="0">
                <a:latin typeface="Arial MT"/>
                <a:cs typeface="Arial MT"/>
              </a:rPr>
              <a:t> </a:t>
            </a:r>
            <a:r>
              <a:rPr sz="1700" spc="10" dirty="0">
                <a:latin typeface="Arial MT"/>
                <a:cs typeface="Arial MT"/>
              </a:rPr>
              <a:t>form</a:t>
            </a:r>
            <a:r>
              <a:rPr sz="1700" spc="-65" dirty="0">
                <a:latin typeface="Arial MT"/>
                <a:cs typeface="Arial MT"/>
              </a:rPr>
              <a:t> </a:t>
            </a:r>
            <a:r>
              <a:rPr sz="1700" spc="5" dirty="0">
                <a:latin typeface="Arial MT"/>
                <a:cs typeface="Arial MT"/>
              </a:rPr>
              <a:t>the</a:t>
            </a:r>
            <a:r>
              <a:rPr sz="1700" spc="-30" dirty="0">
                <a:latin typeface="Arial MT"/>
                <a:cs typeface="Arial MT"/>
              </a:rPr>
              <a:t> </a:t>
            </a:r>
            <a:r>
              <a:rPr sz="1700" spc="10" dirty="0">
                <a:latin typeface="Arial MT"/>
                <a:cs typeface="Arial MT"/>
              </a:rPr>
              <a:t>previous</a:t>
            </a:r>
            <a:r>
              <a:rPr sz="1700" spc="-135" dirty="0">
                <a:latin typeface="Arial MT"/>
                <a:cs typeface="Arial MT"/>
              </a:rPr>
              <a:t> </a:t>
            </a:r>
            <a:r>
              <a:rPr sz="1700" spc="20" dirty="0">
                <a:latin typeface="Arial MT"/>
                <a:cs typeface="Arial MT"/>
              </a:rPr>
              <a:t>value</a:t>
            </a:r>
            <a:r>
              <a:rPr sz="1700" spc="-110" dirty="0">
                <a:latin typeface="Arial MT"/>
                <a:cs typeface="Arial MT"/>
              </a:rPr>
              <a:t> </a:t>
            </a:r>
            <a:r>
              <a:rPr sz="1700" spc="10" dirty="0">
                <a:latin typeface="Arial MT"/>
                <a:cs typeface="Arial MT"/>
              </a:rPr>
              <a:t>is</a:t>
            </a:r>
            <a:r>
              <a:rPr sz="1700" spc="-55" dirty="0">
                <a:latin typeface="Arial MT"/>
                <a:cs typeface="Arial MT"/>
              </a:rPr>
              <a:t> </a:t>
            </a:r>
            <a:r>
              <a:rPr sz="1700" spc="5" dirty="0">
                <a:latin typeface="Arial MT"/>
                <a:cs typeface="Arial MT"/>
              </a:rPr>
              <a:t>obtained</a:t>
            </a:r>
            <a:r>
              <a:rPr sz="1700" spc="-70" dirty="0">
                <a:latin typeface="Arial MT"/>
                <a:cs typeface="Arial MT"/>
              </a:rPr>
              <a:t> </a:t>
            </a:r>
            <a:r>
              <a:rPr sz="1700" spc="15" dirty="0">
                <a:latin typeface="Arial MT"/>
                <a:cs typeface="Arial MT"/>
              </a:rPr>
              <a:t>for</a:t>
            </a:r>
            <a:r>
              <a:rPr sz="1700" spc="-85" dirty="0">
                <a:latin typeface="Arial MT"/>
                <a:cs typeface="Arial MT"/>
              </a:rPr>
              <a:t> </a:t>
            </a:r>
            <a:r>
              <a:rPr sz="1700" spc="10" dirty="0">
                <a:latin typeface="Arial MT"/>
                <a:cs typeface="Arial MT"/>
              </a:rPr>
              <a:t>use</a:t>
            </a:r>
            <a:r>
              <a:rPr sz="1700" spc="-25" dirty="0">
                <a:latin typeface="Arial MT"/>
                <a:cs typeface="Arial MT"/>
              </a:rPr>
              <a:t> </a:t>
            </a:r>
            <a:r>
              <a:rPr sz="1700" spc="10" dirty="0">
                <a:latin typeface="Arial MT"/>
                <a:cs typeface="Arial MT"/>
              </a:rPr>
              <a:t>in </a:t>
            </a:r>
            <a:r>
              <a:rPr sz="1700" spc="-459" dirty="0">
                <a:latin typeface="Arial MT"/>
                <a:cs typeface="Arial MT"/>
              </a:rPr>
              <a:t> </a:t>
            </a:r>
            <a:r>
              <a:rPr sz="1700" spc="5" dirty="0">
                <a:latin typeface="Arial MT"/>
                <a:cs typeface="Arial MT"/>
              </a:rPr>
              <a:t>the</a:t>
            </a:r>
            <a:r>
              <a:rPr sz="1700" spc="-30" dirty="0">
                <a:latin typeface="Arial MT"/>
                <a:cs typeface="Arial MT"/>
              </a:rPr>
              <a:t> </a:t>
            </a:r>
            <a:r>
              <a:rPr sz="1700" spc="5" dirty="0">
                <a:latin typeface="Arial MT"/>
                <a:cs typeface="Arial MT"/>
              </a:rPr>
              <a:t>expression,</a:t>
            </a:r>
            <a:r>
              <a:rPr sz="1700" spc="-110" dirty="0">
                <a:latin typeface="Arial MT"/>
                <a:cs typeface="Arial MT"/>
              </a:rPr>
              <a:t> </a:t>
            </a:r>
            <a:r>
              <a:rPr sz="1700" spc="5" dirty="0">
                <a:latin typeface="Arial MT"/>
                <a:cs typeface="Arial MT"/>
              </a:rPr>
              <a:t>and</a:t>
            </a:r>
            <a:r>
              <a:rPr sz="1700" spc="-70" dirty="0">
                <a:latin typeface="Arial MT"/>
                <a:cs typeface="Arial MT"/>
              </a:rPr>
              <a:t> </a:t>
            </a:r>
            <a:r>
              <a:rPr sz="1700" spc="5" dirty="0">
                <a:latin typeface="Arial MT"/>
                <a:cs typeface="Arial MT"/>
              </a:rPr>
              <a:t>then</a:t>
            </a:r>
            <a:r>
              <a:rPr sz="1700" spc="-30" dirty="0">
                <a:latin typeface="Arial MT"/>
                <a:cs typeface="Arial MT"/>
              </a:rPr>
              <a:t> </a:t>
            </a:r>
            <a:r>
              <a:rPr sz="1700" spc="5" dirty="0">
                <a:latin typeface="Arial MT"/>
                <a:cs typeface="Arial MT"/>
              </a:rPr>
              <a:t>the</a:t>
            </a:r>
            <a:r>
              <a:rPr sz="1700" spc="-30" dirty="0">
                <a:latin typeface="Arial MT"/>
                <a:cs typeface="Arial MT"/>
              </a:rPr>
              <a:t> </a:t>
            </a:r>
            <a:r>
              <a:rPr sz="1700" dirty="0">
                <a:latin typeface="Arial MT"/>
                <a:cs typeface="Arial MT"/>
              </a:rPr>
              <a:t>operand</a:t>
            </a:r>
            <a:r>
              <a:rPr sz="1700" spc="-65" dirty="0">
                <a:latin typeface="Arial MT"/>
                <a:cs typeface="Arial MT"/>
              </a:rPr>
              <a:t> </a:t>
            </a:r>
            <a:r>
              <a:rPr sz="1700" spc="10" dirty="0">
                <a:latin typeface="Arial MT"/>
                <a:cs typeface="Arial MT"/>
              </a:rPr>
              <a:t>is</a:t>
            </a:r>
            <a:r>
              <a:rPr sz="1700" spc="-15" dirty="0">
                <a:latin typeface="Arial MT"/>
                <a:cs typeface="Arial MT"/>
              </a:rPr>
              <a:t> </a:t>
            </a:r>
            <a:r>
              <a:rPr sz="1700" spc="5" dirty="0">
                <a:latin typeface="Arial MT"/>
                <a:cs typeface="Arial MT"/>
              </a:rPr>
              <a:t>modified.</a:t>
            </a:r>
            <a:endParaRPr sz="1700">
              <a:latin typeface="Arial MT"/>
              <a:cs typeface="Arial MT"/>
            </a:endParaRPr>
          </a:p>
        </p:txBody>
      </p:sp>
      <p:grpSp>
        <p:nvGrpSpPr>
          <p:cNvPr id="5" name="object 5"/>
          <p:cNvGrpSpPr/>
          <p:nvPr/>
        </p:nvGrpSpPr>
        <p:grpSpPr>
          <a:xfrm>
            <a:off x="-1387" y="170827"/>
            <a:ext cx="6498590" cy="3660140"/>
            <a:chOff x="-1387" y="170827"/>
            <a:chExt cx="6498590" cy="3660140"/>
          </a:xfrm>
        </p:grpSpPr>
        <p:pic>
          <p:nvPicPr>
            <p:cNvPr id="6" name="object 6"/>
            <p:cNvPicPr/>
            <p:nvPr/>
          </p:nvPicPr>
          <p:blipFill>
            <a:blip r:embed="rId2" cstate="print"/>
            <a:stretch>
              <a:fillRect/>
            </a:stretch>
          </p:blipFill>
          <p:spPr>
            <a:xfrm>
              <a:off x="1427296" y="2008224"/>
              <a:ext cx="2199514" cy="1801418"/>
            </a:xfrm>
            <a:prstGeom prst="rect">
              <a:avLst/>
            </a:prstGeom>
          </p:spPr>
        </p:pic>
        <p:sp>
          <p:nvSpPr>
            <p:cNvPr id="7" name="object 7"/>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grpSp>
        <p:nvGrpSpPr>
          <p:cNvPr id="4" name="object 4"/>
          <p:cNvGrpSpPr/>
          <p:nvPr/>
        </p:nvGrpSpPr>
        <p:grpSpPr>
          <a:xfrm>
            <a:off x="-1387" y="628242"/>
            <a:ext cx="6498590" cy="3660140"/>
            <a:chOff x="-1387" y="628242"/>
            <a:chExt cx="6498590" cy="3660140"/>
          </a:xfrm>
        </p:grpSpPr>
        <p:pic>
          <p:nvPicPr>
            <p:cNvPr id="5" name="object 5"/>
            <p:cNvPicPr/>
            <p:nvPr/>
          </p:nvPicPr>
          <p:blipFill>
            <a:blip r:embed="rId3" cstate="print"/>
            <a:stretch>
              <a:fillRect/>
            </a:stretch>
          </p:blipFill>
          <p:spPr>
            <a:xfrm>
              <a:off x="4011" y="633558"/>
              <a:ext cx="4224345" cy="2807758"/>
            </a:xfrm>
            <a:prstGeom prst="rect">
              <a:avLst/>
            </a:prstGeom>
          </p:spPr>
        </p:pic>
        <p:pic>
          <p:nvPicPr>
            <p:cNvPr id="6" name="object 6"/>
            <p:cNvPicPr/>
            <p:nvPr/>
          </p:nvPicPr>
          <p:blipFill>
            <a:blip r:embed="rId4" cstate="print"/>
            <a:stretch>
              <a:fillRect/>
            </a:stretch>
          </p:blipFill>
          <p:spPr>
            <a:xfrm>
              <a:off x="3564420" y="2024801"/>
              <a:ext cx="2926832" cy="1225614"/>
            </a:xfrm>
            <a:prstGeom prst="rect">
              <a:avLst/>
            </a:prstGeom>
          </p:spPr>
        </p:pic>
        <p:sp>
          <p:nvSpPr>
            <p:cNvPr id="7" name="object 7"/>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1387" y="170827"/>
            <a:ext cx="6498590" cy="3660140"/>
            <a:chOff x="-1387" y="170827"/>
            <a:chExt cx="6498590" cy="3660140"/>
          </a:xfrm>
        </p:grpSpPr>
        <p:pic>
          <p:nvPicPr>
            <p:cNvPr id="5" name="object 5"/>
            <p:cNvPicPr/>
            <p:nvPr/>
          </p:nvPicPr>
          <p:blipFill>
            <a:blip r:embed="rId2" cstate="print"/>
            <a:stretch>
              <a:fillRect/>
            </a:stretch>
          </p:blipFill>
          <p:spPr>
            <a:xfrm>
              <a:off x="310636" y="807965"/>
              <a:ext cx="5430501" cy="2788362"/>
            </a:xfrm>
            <a:prstGeom prst="rect">
              <a:avLst/>
            </a:prstGeom>
          </p:spPr>
        </p:pic>
        <p:sp>
          <p:nvSpPr>
            <p:cNvPr id="6" name="object 6"/>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
        <p:nvSpPr>
          <p:cNvPr id="8" name="Title 7">
            <a:extLst>
              <a:ext uri="{FF2B5EF4-FFF2-40B4-BE49-F238E27FC236}">
                <a16:creationId xmlns:a16="http://schemas.microsoft.com/office/drawing/2014/main" id="{69C3614F-2B26-FAF2-910C-D68DA9AFF83B}"/>
              </a:ext>
            </a:extLst>
          </p:cNvPr>
          <p:cNvSpPr>
            <a:spLocks noGrp="1"/>
          </p:cNvSpPr>
          <p:nvPr>
            <p:ph type="title"/>
          </p:nvPr>
        </p:nvSpPr>
        <p:spPr>
          <a:xfrm>
            <a:off x="367980" y="268881"/>
            <a:ext cx="5766439" cy="292388"/>
          </a:xfrm>
        </p:spPr>
        <p:txBody>
          <a:bodyPr/>
          <a:lstStyle/>
          <a:p>
            <a:r>
              <a:rPr lang="en-US" spc="-15" dirty="0">
                <a:solidFill>
                  <a:schemeClr val="tx1"/>
                </a:solidFill>
              </a:rPr>
              <a:t>                              Bitwise</a:t>
            </a:r>
            <a:r>
              <a:rPr lang="en-US" spc="75" dirty="0">
                <a:solidFill>
                  <a:schemeClr val="tx1"/>
                </a:solidFill>
              </a:rPr>
              <a:t> </a:t>
            </a:r>
            <a:r>
              <a:rPr lang="en-US" spc="5" dirty="0">
                <a:solidFill>
                  <a:schemeClr val="tx1"/>
                </a:solidFill>
              </a:rPr>
              <a:t>operators</a:t>
            </a:r>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a:spLocks noGrp="1"/>
          </p:cNvSpPr>
          <p:nvPr>
            <p:ph type="title"/>
          </p:nvPr>
        </p:nvSpPr>
        <p:spPr>
          <a:xfrm>
            <a:off x="2260600" y="726273"/>
            <a:ext cx="3048000" cy="307134"/>
          </a:xfrm>
          <a:prstGeom prst="rect">
            <a:avLst/>
          </a:prstGeom>
        </p:spPr>
        <p:txBody>
          <a:bodyPr vert="horz" wrap="square" lIns="0" tIns="14604" rIns="0" bIns="0" rtlCol="0">
            <a:spAutoFit/>
          </a:bodyPr>
          <a:lstStyle/>
          <a:p>
            <a:pPr marL="12700">
              <a:lnSpc>
                <a:spcPct val="100000"/>
              </a:lnSpc>
              <a:spcBef>
                <a:spcPts val="114"/>
              </a:spcBef>
            </a:pPr>
            <a:r>
              <a:rPr spc="-15" dirty="0">
                <a:solidFill>
                  <a:schemeClr val="tx1"/>
                </a:solidFill>
              </a:rPr>
              <a:t>Bitwise</a:t>
            </a:r>
            <a:r>
              <a:rPr spc="90" dirty="0">
                <a:solidFill>
                  <a:schemeClr val="tx1"/>
                </a:solidFill>
              </a:rPr>
              <a:t> </a:t>
            </a:r>
            <a:r>
              <a:rPr dirty="0">
                <a:solidFill>
                  <a:schemeClr val="tx1"/>
                </a:solidFill>
              </a:rPr>
              <a:t>logical</a:t>
            </a:r>
            <a:r>
              <a:rPr spc="20" dirty="0">
                <a:solidFill>
                  <a:schemeClr val="tx1"/>
                </a:solidFill>
              </a:rPr>
              <a:t> </a:t>
            </a:r>
            <a:r>
              <a:rPr spc="5" dirty="0">
                <a:solidFill>
                  <a:schemeClr val="tx1"/>
                </a:solidFill>
              </a:rPr>
              <a:t>op</a:t>
            </a:r>
            <a:r>
              <a:rPr lang="en-US" spc="5" dirty="0">
                <a:solidFill>
                  <a:schemeClr val="tx1"/>
                </a:solidFill>
              </a:rPr>
              <a:t>e</a:t>
            </a:r>
            <a:r>
              <a:rPr spc="5" dirty="0">
                <a:solidFill>
                  <a:schemeClr val="tx1"/>
                </a:solidFill>
              </a:rPr>
              <a:t>rators</a:t>
            </a:r>
          </a:p>
        </p:txBody>
      </p:sp>
      <p:grpSp>
        <p:nvGrpSpPr>
          <p:cNvPr id="5" name="object 5"/>
          <p:cNvGrpSpPr/>
          <p:nvPr/>
        </p:nvGrpSpPr>
        <p:grpSpPr>
          <a:xfrm>
            <a:off x="-1387" y="628242"/>
            <a:ext cx="6498590" cy="3660140"/>
            <a:chOff x="-1387" y="628242"/>
            <a:chExt cx="6498590" cy="3660140"/>
          </a:xfrm>
        </p:grpSpPr>
        <p:pic>
          <p:nvPicPr>
            <p:cNvPr id="6" name="object 6"/>
            <p:cNvPicPr/>
            <p:nvPr/>
          </p:nvPicPr>
          <p:blipFill>
            <a:blip r:embed="rId3" cstate="print"/>
            <a:stretch>
              <a:fillRect/>
            </a:stretch>
          </p:blipFill>
          <p:spPr>
            <a:xfrm>
              <a:off x="213981" y="1544015"/>
              <a:ext cx="6121581" cy="1610514"/>
            </a:xfrm>
            <a:prstGeom prst="rect">
              <a:avLst/>
            </a:prstGeom>
          </p:spPr>
        </p:pic>
        <p:sp>
          <p:nvSpPr>
            <p:cNvPr id="7" name="object 7"/>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41092" y="268881"/>
            <a:ext cx="1094740" cy="318135"/>
          </a:xfrm>
          <a:prstGeom prst="rect">
            <a:avLst/>
          </a:prstGeom>
        </p:spPr>
        <p:txBody>
          <a:bodyPr vert="horz" wrap="square" lIns="0" tIns="14604" rIns="0" bIns="0" rtlCol="0">
            <a:spAutoFit/>
          </a:bodyPr>
          <a:lstStyle/>
          <a:p>
            <a:pPr marL="12700">
              <a:lnSpc>
                <a:spcPct val="100000"/>
              </a:lnSpc>
              <a:spcBef>
                <a:spcPts val="114"/>
              </a:spcBef>
            </a:pPr>
            <a:r>
              <a:rPr spc="5" dirty="0">
                <a:solidFill>
                  <a:schemeClr val="tx1"/>
                </a:solidFill>
              </a:rPr>
              <a:t>Examples</a:t>
            </a:r>
          </a:p>
        </p:txBody>
      </p:sp>
      <p:grpSp>
        <p:nvGrpSpPr>
          <p:cNvPr id="4" name="object 4"/>
          <p:cNvGrpSpPr/>
          <p:nvPr/>
        </p:nvGrpSpPr>
        <p:grpSpPr>
          <a:xfrm>
            <a:off x="-1387" y="170827"/>
            <a:ext cx="6498590" cy="3660140"/>
            <a:chOff x="-1387" y="170827"/>
            <a:chExt cx="6498590" cy="3660140"/>
          </a:xfrm>
        </p:grpSpPr>
        <p:pic>
          <p:nvPicPr>
            <p:cNvPr id="5" name="object 5"/>
            <p:cNvPicPr/>
            <p:nvPr/>
          </p:nvPicPr>
          <p:blipFill>
            <a:blip r:embed="rId2" cstate="print"/>
            <a:stretch>
              <a:fillRect/>
            </a:stretch>
          </p:blipFill>
          <p:spPr>
            <a:xfrm>
              <a:off x="1014265" y="1098827"/>
              <a:ext cx="3454750" cy="2129932"/>
            </a:xfrm>
            <a:prstGeom prst="rect">
              <a:avLst/>
            </a:prstGeom>
          </p:spPr>
        </p:pic>
        <p:sp>
          <p:nvSpPr>
            <p:cNvPr id="6" name="object 6"/>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4011" y="633558"/>
            <a:ext cx="6487240" cy="684201"/>
          </a:xfrm>
          <a:prstGeom prst="rect">
            <a:avLst/>
          </a:prstGeom>
        </p:spPr>
      </p:pic>
      <p:sp>
        <p:nvSpPr>
          <p:cNvPr id="3" name="object 3"/>
          <p:cNvSpPr txBox="1">
            <a:spLocks noGrp="1"/>
          </p:cNvSpPr>
          <p:nvPr>
            <p:ph type="title"/>
          </p:nvPr>
        </p:nvSpPr>
        <p:spPr>
          <a:xfrm>
            <a:off x="2489200" y="726272"/>
            <a:ext cx="938530" cy="318135"/>
          </a:xfrm>
          <a:prstGeom prst="rect">
            <a:avLst/>
          </a:prstGeom>
        </p:spPr>
        <p:txBody>
          <a:bodyPr vert="horz" wrap="square" lIns="0" tIns="14604" rIns="0" bIns="0" rtlCol="0">
            <a:spAutoFit/>
          </a:bodyPr>
          <a:lstStyle/>
          <a:p>
            <a:pPr marL="12700">
              <a:lnSpc>
                <a:spcPct val="100000"/>
              </a:lnSpc>
              <a:spcBef>
                <a:spcPts val="114"/>
              </a:spcBef>
            </a:pPr>
            <a:r>
              <a:rPr spc="5" dirty="0">
                <a:solidFill>
                  <a:schemeClr val="tx1"/>
                </a:solidFill>
              </a:rPr>
              <a:t>Left</a:t>
            </a:r>
            <a:r>
              <a:rPr spc="-90" dirty="0">
                <a:solidFill>
                  <a:schemeClr val="tx1"/>
                </a:solidFill>
              </a:rPr>
              <a:t> </a:t>
            </a:r>
            <a:r>
              <a:rPr spc="-5" dirty="0">
                <a:solidFill>
                  <a:schemeClr val="tx1"/>
                </a:solidFill>
              </a:rPr>
              <a:t>shift</a:t>
            </a:r>
          </a:p>
        </p:txBody>
      </p:sp>
      <p:sp>
        <p:nvSpPr>
          <p:cNvPr id="4" name="object 4"/>
          <p:cNvSpPr txBox="1"/>
          <p:nvPr/>
        </p:nvSpPr>
        <p:spPr>
          <a:xfrm>
            <a:off x="364664" y="1133212"/>
            <a:ext cx="5638800" cy="1753235"/>
          </a:xfrm>
          <a:prstGeom prst="rect">
            <a:avLst/>
          </a:prstGeom>
        </p:spPr>
        <p:txBody>
          <a:bodyPr vert="horz" wrap="square" lIns="0" tIns="8890" rIns="0" bIns="0" rtlCol="0">
            <a:spAutoFit/>
          </a:bodyPr>
          <a:lstStyle/>
          <a:p>
            <a:pPr marL="194945" marR="5080" indent="-182880">
              <a:lnSpc>
                <a:spcPct val="103299"/>
              </a:lnSpc>
              <a:spcBef>
                <a:spcPts val="70"/>
              </a:spcBef>
              <a:buChar char="•"/>
              <a:tabLst>
                <a:tab pos="195580" algn="l"/>
              </a:tabLst>
            </a:pPr>
            <a:r>
              <a:rPr sz="1450" spc="20" dirty="0">
                <a:latin typeface="Arial MT"/>
                <a:cs typeface="Arial MT"/>
              </a:rPr>
              <a:t>The</a:t>
            </a:r>
            <a:r>
              <a:rPr sz="1450" spc="10" dirty="0">
                <a:latin typeface="Arial MT"/>
                <a:cs typeface="Arial MT"/>
              </a:rPr>
              <a:t> </a:t>
            </a:r>
            <a:r>
              <a:rPr sz="1450" spc="-15" dirty="0">
                <a:latin typeface="Arial MT"/>
                <a:cs typeface="Arial MT"/>
              </a:rPr>
              <a:t>left</a:t>
            </a:r>
            <a:r>
              <a:rPr sz="1450" spc="105" dirty="0">
                <a:latin typeface="Arial MT"/>
                <a:cs typeface="Arial MT"/>
              </a:rPr>
              <a:t> </a:t>
            </a:r>
            <a:r>
              <a:rPr sz="1450" spc="-10" dirty="0">
                <a:latin typeface="Arial MT"/>
                <a:cs typeface="Arial MT"/>
              </a:rPr>
              <a:t>shift</a:t>
            </a:r>
            <a:r>
              <a:rPr sz="1450" spc="100" dirty="0">
                <a:latin typeface="Arial MT"/>
                <a:cs typeface="Arial MT"/>
              </a:rPr>
              <a:t> </a:t>
            </a:r>
            <a:r>
              <a:rPr sz="1450" spc="5" dirty="0">
                <a:latin typeface="Arial MT"/>
                <a:cs typeface="Arial MT"/>
              </a:rPr>
              <a:t>operator,</a:t>
            </a:r>
            <a:r>
              <a:rPr sz="1450" spc="120" dirty="0">
                <a:latin typeface="Arial MT"/>
                <a:cs typeface="Arial MT"/>
              </a:rPr>
              <a:t> </a:t>
            </a:r>
            <a:r>
              <a:rPr sz="1450" b="1" spc="20" dirty="0">
                <a:latin typeface="Arial"/>
                <a:cs typeface="Arial"/>
              </a:rPr>
              <a:t>&lt;&lt;,</a:t>
            </a:r>
            <a:r>
              <a:rPr sz="1450" b="1" spc="-15" dirty="0">
                <a:latin typeface="Arial"/>
                <a:cs typeface="Arial"/>
              </a:rPr>
              <a:t> </a:t>
            </a:r>
            <a:r>
              <a:rPr sz="1450" b="1" spc="5" dirty="0">
                <a:latin typeface="Arial"/>
                <a:cs typeface="Arial"/>
              </a:rPr>
              <a:t>shifts</a:t>
            </a:r>
            <a:r>
              <a:rPr sz="1450" b="1" spc="50" dirty="0">
                <a:latin typeface="Arial"/>
                <a:cs typeface="Arial"/>
              </a:rPr>
              <a:t> </a:t>
            </a:r>
            <a:r>
              <a:rPr sz="1450" b="1" spc="5" dirty="0">
                <a:latin typeface="Arial"/>
                <a:cs typeface="Arial"/>
              </a:rPr>
              <a:t>all</a:t>
            </a:r>
            <a:r>
              <a:rPr sz="1450" b="1" spc="20" dirty="0">
                <a:latin typeface="Arial"/>
                <a:cs typeface="Arial"/>
              </a:rPr>
              <a:t> </a:t>
            </a:r>
            <a:r>
              <a:rPr sz="1450" b="1" spc="15" dirty="0">
                <a:latin typeface="Arial"/>
                <a:cs typeface="Arial"/>
              </a:rPr>
              <a:t>of</a:t>
            </a:r>
            <a:r>
              <a:rPr sz="1450" b="1" spc="25" dirty="0">
                <a:latin typeface="Arial"/>
                <a:cs typeface="Arial"/>
              </a:rPr>
              <a:t> </a:t>
            </a:r>
            <a:r>
              <a:rPr sz="1450" b="1" spc="10" dirty="0">
                <a:latin typeface="Arial"/>
                <a:cs typeface="Arial"/>
              </a:rPr>
              <a:t>the </a:t>
            </a:r>
            <a:r>
              <a:rPr sz="1450" b="1" spc="5" dirty="0">
                <a:latin typeface="Arial"/>
                <a:cs typeface="Arial"/>
              </a:rPr>
              <a:t>bits</a:t>
            </a:r>
            <a:r>
              <a:rPr sz="1450" b="1" spc="50" dirty="0">
                <a:latin typeface="Arial"/>
                <a:cs typeface="Arial"/>
              </a:rPr>
              <a:t> </a:t>
            </a:r>
            <a:r>
              <a:rPr sz="1450" b="1" spc="5" dirty="0">
                <a:latin typeface="Arial"/>
                <a:cs typeface="Arial"/>
              </a:rPr>
              <a:t>in</a:t>
            </a:r>
            <a:r>
              <a:rPr sz="1450" b="1" spc="50" dirty="0">
                <a:latin typeface="Arial"/>
                <a:cs typeface="Arial"/>
              </a:rPr>
              <a:t> </a:t>
            </a:r>
            <a:r>
              <a:rPr sz="1450" b="1" spc="15" dirty="0">
                <a:latin typeface="Arial"/>
                <a:cs typeface="Arial"/>
              </a:rPr>
              <a:t>a</a:t>
            </a:r>
            <a:r>
              <a:rPr sz="1450" b="1" spc="10" dirty="0">
                <a:latin typeface="Arial"/>
                <a:cs typeface="Arial"/>
              </a:rPr>
              <a:t> </a:t>
            </a:r>
            <a:r>
              <a:rPr sz="1450" b="1" spc="15" dirty="0">
                <a:latin typeface="Arial"/>
                <a:cs typeface="Arial"/>
              </a:rPr>
              <a:t>value </a:t>
            </a:r>
            <a:r>
              <a:rPr sz="1450" b="1" spc="5" dirty="0">
                <a:latin typeface="Arial"/>
                <a:cs typeface="Arial"/>
              </a:rPr>
              <a:t>to</a:t>
            </a:r>
            <a:r>
              <a:rPr sz="1450" b="1" spc="45" dirty="0">
                <a:latin typeface="Arial"/>
                <a:cs typeface="Arial"/>
              </a:rPr>
              <a:t> </a:t>
            </a:r>
            <a:r>
              <a:rPr sz="1450" b="1" spc="10" dirty="0">
                <a:latin typeface="Arial"/>
                <a:cs typeface="Arial"/>
              </a:rPr>
              <a:t>the </a:t>
            </a:r>
            <a:r>
              <a:rPr sz="1450" b="1" spc="-385" dirty="0">
                <a:latin typeface="Arial"/>
                <a:cs typeface="Arial"/>
              </a:rPr>
              <a:t> </a:t>
            </a:r>
            <a:r>
              <a:rPr sz="1450" b="1" spc="5" dirty="0">
                <a:latin typeface="Arial"/>
                <a:cs typeface="Arial"/>
              </a:rPr>
              <a:t>left</a:t>
            </a:r>
            <a:r>
              <a:rPr sz="1450" b="1" spc="15" dirty="0">
                <a:latin typeface="Arial"/>
                <a:cs typeface="Arial"/>
              </a:rPr>
              <a:t> a</a:t>
            </a:r>
            <a:r>
              <a:rPr sz="1450" b="1" spc="45" dirty="0">
                <a:latin typeface="Arial"/>
                <a:cs typeface="Arial"/>
              </a:rPr>
              <a:t> </a:t>
            </a:r>
            <a:r>
              <a:rPr sz="1450" b="1" spc="10" dirty="0">
                <a:latin typeface="Arial"/>
                <a:cs typeface="Arial"/>
              </a:rPr>
              <a:t>specified </a:t>
            </a:r>
            <a:r>
              <a:rPr sz="1450" b="1" spc="20" dirty="0">
                <a:latin typeface="Arial"/>
                <a:cs typeface="Arial"/>
              </a:rPr>
              <a:t>number</a:t>
            </a:r>
            <a:r>
              <a:rPr sz="1450" b="1" spc="-20" dirty="0">
                <a:latin typeface="Arial"/>
                <a:cs typeface="Arial"/>
              </a:rPr>
              <a:t> </a:t>
            </a:r>
            <a:r>
              <a:rPr sz="1450" b="1" spc="15" dirty="0">
                <a:latin typeface="Arial"/>
                <a:cs typeface="Arial"/>
              </a:rPr>
              <a:t>of</a:t>
            </a:r>
            <a:r>
              <a:rPr sz="1450" b="1" spc="20" dirty="0">
                <a:latin typeface="Arial"/>
                <a:cs typeface="Arial"/>
              </a:rPr>
              <a:t> </a:t>
            </a:r>
            <a:r>
              <a:rPr sz="1450" b="1" spc="10" dirty="0">
                <a:latin typeface="Arial"/>
                <a:cs typeface="Arial"/>
              </a:rPr>
              <a:t>times.</a:t>
            </a:r>
            <a:endParaRPr sz="1450">
              <a:latin typeface="Arial"/>
              <a:cs typeface="Arial"/>
            </a:endParaRPr>
          </a:p>
          <a:p>
            <a:pPr marL="194945" indent="-182880">
              <a:lnSpc>
                <a:spcPct val="100000"/>
              </a:lnSpc>
              <a:spcBef>
                <a:spcPts val="420"/>
              </a:spcBef>
              <a:buChar char="•"/>
              <a:tabLst>
                <a:tab pos="195580" algn="l"/>
              </a:tabLst>
            </a:pPr>
            <a:r>
              <a:rPr sz="1450" spc="-20" dirty="0">
                <a:latin typeface="Arial MT"/>
                <a:cs typeface="Arial MT"/>
              </a:rPr>
              <a:t>It</a:t>
            </a:r>
            <a:r>
              <a:rPr sz="1450" spc="55" dirty="0">
                <a:latin typeface="Arial MT"/>
                <a:cs typeface="Arial MT"/>
              </a:rPr>
              <a:t> </a:t>
            </a:r>
            <a:r>
              <a:rPr sz="1450" spc="10" dirty="0">
                <a:latin typeface="Arial MT"/>
                <a:cs typeface="Arial MT"/>
              </a:rPr>
              <a:t>has</a:t>
            </a:r>
            <a:r>
              <a:rPr sz="1450" spc="50" dirty="0">
                <a:latin typeface="Arial MT"/>
                <a:cs typeface="Arial MT"/>
              </a:rPr>
              <a:t> </a:t>
            </a:r>
            <a:r>
              <a:rPr sz="1450" spc="-5" dirty="0">
                <a:latin typeface="Arial MT"/>
                <a:cs typeface="Arial MT"/>
              </a:rPr>
              <a:t>this</a:t>
            </a:r>
            <a:r>
              <a:rPr sz="1450" spc="45" dirty="0">
                <a:latin typeface="Arial MT"/>
                <a:cs typeface="Arial MT"/>
              </a:rPr>
              <a:t> </a:t>
            </a:r>
            <a:r>
              <a:rPr sz="1450" dirty="0">
                <a:latin typeface="Arial MT"/>
                <a:cs typeface="Arial MT"/>
              </a:rPr>
              <a:t>general</a:t>
            </a:r>
            <a:r>
              <a:rPr sz="1450" spc="105" dirty="0">
                <a:latin typeface="Arial MT"/>
                <a:cs typeface="Arial MT"/>
              </a:rPr>
              <a:t> </a:t>
            </a:r>
            <a:r>
              <a:rPr sz="1450" spc="5" dirty="0">
                <a:latin typeface="Arial MT"/>
                <a:cs typeface="Arial MT"/>
              </a:rPr>
              <a:t>form: </a:t>
            </a:r>
            <a:r>
              <a:rPr sz="1450" spc="75" dirty="0">
                <a:latin typeface="Arial MT"/>
                <a:cs typeface="Arial MT"/>
              </a:rPr>
              <a:t> </a:t>
            </a:r>
            <a:r>
              <a:rPr sz="1450" i="1" spc="15" dirty="0">
                <a:latin typeface="Arial"/>
                <a:cs typeface="Arial"/>
              </a:rPr>
              <a:t>value</a:t>
            </a:r>
            <a:r>
              <a:rPr sz="1450" i="1" spc="5" dirty="0">
                <a:latin typeface="Arial"/>
                <a:cs typeface="Arial"/>
              </a:rPr>
              <a:t> </a:t>
            </a:r>
            <a:r>
              <a:rPr sz="1450" i="1" spc="20" dirty="0">
                <a:latin typeface="Arial"/>
                <a:cs typeface="Arial"/>
              </a:rPr>
              <a:t>&lt;&lt;</a:t>
            </a:r>
            <a:r>
              <a:rPr sz="1450" i="1" spc="5" dirty="0">
                <a:latin typeface="Arial"/>
                <a:cs typeface="Arial"/>
              </a:rPr>
              <a:t> </a:t>
            </a:r>
            <a:r>
              <a:rPr sz="1450" i="1" spc="20" dirty="0">
                <a:latin typeface="Arial"/>
                <a:cs typeface="Arial"/>
              </a:rPr>
              <a:t>num</a:t>
            </a:r>
            <a:endParaRPr sz="1450">
              <a:latin typeface="Arial"/>
              <a:cs typeface="Arial"/>
            </a:endParaRPr>
          </a:p>
          <a:p>
            <a:pPr marL="194945" marR="306070" indent="-182880">
              <a:lnSpc>
                <a:spcPct val="101099"/>
              </a:lnSpc>
              <a:spcBef>
                <a:spcPts val="395"/>
              </a:spcBef>
              <a:buFont typeface="Arial MT"/>
              <a:buChar char="•"/>
              <a:tabLst>
                <a:tab pos="195580" algn="l"/>
              </a:tabLst>
            </a:pPr>
            <a:r>
              <a:rPr sz="1450" i="1" spc="25" dirty="0">
                <a:latin typeface="Arial"/>
                <a:cs typeface="Arial"/>
              </a:rPr>
              <a:t>num</a:t>
            </a:r>
            <a:r>
              <a:rPr sz="1450" i="1" spc="-5" dirty="0">
                <a:latin typeface="Arial"/>
                <a:cs typeface="Arial"/>
              </a:rPr>
              <a:t> </a:t>
            </a:r>
            <a:r>
              <a:rPr sz="1450" i="1" spc="15" dirty="0">
                <a:latin typeface="Arial"/>
                <a:cs typeface="Arial"/>
              </a:rPr>
              <a:t>specifies</a:t>
            </a:r>
            <a:r>
              <a:rPr sz="1450" i="1" spc="10" dirty="0">
                <a:latin typeface="Arial"/>
                <a:cs typeface="Arial"/>
              </a:rPr>
              <a:t> the </a:t>
            </a:r>
            <a:r>
              <a:rPr sz="1450" i="1" spc="15" dirty="0">
                <a:latin typeface="Arial"/>
                <a:cs typeface="Arial"/>
              </a:rPr>
              <a:t>number</a:t>
            </a:r>
            <a:r>
              <a:rPr sz="1450" i="1" spc="60" dirty="0">
                <a:latin typeface="Arial"/>
                <a:cs typeface="Arial"/>
              </a:rPr>
              <a:t> </a:t>
            </a:r>
            <a:r>
              <a:rPr sz="1450" i="1" spc="15" dirty="0">
                <a:latin typeface="Arial"/>
                <a:cs typeface="Arial"/>
              </a:rPr>
              <a:t>of</a:t>
            </a:r>
            <a:r>
              <a:rPr sz="1450" i="1" spc="-15" dirty="0">
                <a:latin typeface="Arial"/>
                <a:cs typeface="Arial"/>
              </a:rPr>
              <a:t> </a:t>
            </a:r>
            <a:r>
              <a:rPr sz="1450" i="1" spc="15" dirty="0">
                <a:latin typeface="Arial"/>
                <a:cs typeface="Arial"/>
              </a:rPr>
              <a:t>positions</a:t>
            </a:r>
            <a:r>
              <a:rPr sz="1450" i="1" spc="10" dirty="0">
                <a:latin typeface="Arial"/>
                <a:cs typeface="Arial"/>
              </a:rPr>
              <a:t> </a:t>
            </a:r>
            <a:r>
              <a:rPr sz="1450" i="1" dirty="0">
                <a:latin typeface="Arial"/>
                <a:cs typeface="Arial"/>
              </a:rPr>
              <a:t>to</a:t>
            </a:r>
            <a:r>
              <a:rPr sz="1450" i="1" spc="45" dirty="0">
                <a:latin typeface="Arial"/>
                <a:cs typeface="Arial"/>
              </a:rPr>
              <a:t> </a:t>
            </a:r>
            <a:r>
              <a:rPr sz="1450" i="1" spc="5" dirty="0">
                <a:latin typeface="Arial"/>
                <a:cs typeface="Arial"/>
              </a:rPr>
              <a:t>left-shift</a:t>
            </a:r>
            <a:r>
              <a:rPr sz="1450" i="1" spc="60" dirty="0">
                <a:latin typeface="Arial"/>
                <a:cs typeface="Arial"/>
              </a:rPr>
              <a:t> </a:t>
            </a:r>
            <a:r>
              <a:rPr sz="1450" i="1" spc="10" dirty="0">
                <a:latin typeface="Arial"/>
                <a:cs typeface="Arial"/>
              </a:rPr>
              <a:t>the</a:t>
            </a:r>
            <a:r>
              <a:rPr sz="1450" i="1" spc="15" dirty="0">
                <a:latin typeface="Arial"/>
                <a:cs typeface="Arial"/>
              </a:rPr>
              <a:t> value</a:t>
            </a:r>
            <a:r>
              <a:rPr sz="1450" i="1" spc="10" dirty="0">
                <a:latin typeface="Arial"/>
                <a:cs typeface="Arial"/>
              </a:rPr>
              <a:t> </a:t>
            </a:r>
            <a:r>
              <a:rPr sz="1450" i="1" spc="5" dirty="0">
                <a:latin typeface="Arial"/>
                <a:cs typeface="Arial"/>
              </a:rPr>
              <a:t>in </a:t>
            </a:r>
            <a:r>
              <a:rPr sz="1450" i="1" spc="-390" dirty="0">
                <a:latin typeface="Arial"/>
                <a:cs typeface="Arial"/>
              </a:rPr>
              <a:t> </a:t>
            </a:r>
            <a:r>
              <a:rPr sz="1450" i="1" spc="15" dirty="0">
                <a:latin typeface="Arial"/>
                <a:cs typeface="Arial"/>
              </a:rPr>
              <a:t>value.</a:t>
            </a:r>
            <a:endParaRPr sz="1450">
              <a:latin typeface="Arial"/>
              <a:cs typeface="Arial"/>
            </a:endParaRPr>
          </a:p>
          <a:p>
            <a:pPr marL="194945" marR="218440" indent="-182880">
              <a:lnSpc>
                <a:spcPct val="103400"/>
              </a:lnSpc>
              <a:spcBef>
                <a:spcPts val="360"/>
              </a:spcBef>
              <a:buFont typeface="Arial MT"/>
              <a:buChar char="•"/>
              <a:tabLst>
                <a:tab pos="245745" algn="l"/>
                <a:tab pos="246379" algn="l"/>
              </a:tabLst>
            </a:pPr>
            <a:r>
              <a:rPr dirty="0"/>
              <a:t>	</a:t>
            </a:r>
            <a:r>
              <a:rPr sz="1450" b="1" i="1" spc="20" dirty="0">
                <a:latin typeface="Arial"/>
                <a:cs typeface="Arial"/>
              </a:rPr>
              <a:t>&lt;&lt;</a:t>
            </a:r>
            <a:r>
              <a:rPr sz="1450" b="1" i="1" spc="10" dirty="0">
                <a:latin typeface="Arial"/>
                <a:cs typeface="Arial"/>
              </a:rPr>
              <a:t> </a:t>
            </a:r>
            <a:r>
              <a:rPr sz="1450" dirty="0">
                <a:latin typeface="Arial MT"/>
                <a:cs typeface="Arial MT"/>
              </a:rPr>
              <a:t>moves</a:t>
            </a:r>
            <a:r>
              <a:rPr sz="1450" spc="130" dirty="0">
                <a:latin typeface="Arial MT"/>
                <a:cs typeface="Arial MT"/>
              </a:rPr>
              <a:t> </a:t>
            </a:r>
            <a:r>
              <a:rPr sz="1450" spc="-20" dirty="0">
                <a:latin typeface="Arial MT"/>
                <a:cs typeface="Arial MT"/>
              </a:rPr>
              <a:t>all</a:t>
            </a:r>
            <a:r>
              <a:rPr sz="1450" spc="110" dirty="0">
                <a:latin typeface="Arial MT"/>
                <a:cs typeface="Arial MT"/>
              </a:rPr>
              <a:t> </a:t>
            </a:r>
            <a:r>
              <a:rPr sz="1450" spc="15" dirty="0">
                <a:latin typeface="Arial MT"/>
                <a:cs typeface="Arial MT"/>
              </a:rPr>
              <a:t>of</a:t>
            </a:r>
            <a:r>
              <a:rPr sz="1450" spc="-15" dirty="0">
                <a:latin typeface="Arial MT"/>
                <a:cs typeface="Arial MT"/>
              </a:rPr>
              <a:t> </a:t>
            </a:r>
            <a:r>
              <a:rPr sz="1450" spc="10" dirty="0">
                <a:latin typeface="Arial MT"/>
                <a:cs typeface="Arial MT"/>
              </a:rPr>
              <a:t>the</a:t>
            </a:r>
            <a:r>
              <a:rPr sz="1450" spc="15" dirty="0">
                <a:latin typeface="Arial MT"/>
                <a:cs typeface="Arial MT"/>
              </a:rPr>
              <a:t> </a:t>
            </a:r>
            <a:r>
              <a:rPr sz="1450" spc="-5" dirty="0">
                <a:latin typeface="Arial MT"/>
                <a:cs typeface="Arial MT"/>
              </a:rPr>
              <a:t>bits</a:t>
            </a:r>
            <a:r>
              <a:rPr sz="1450" spc="90" dirty="0">
                <a:latin typeface="Arial MT"/>
                <a:cs typeface="Arial MT"/>
              </a:rPr>
              <a:t> </a:t>
            </a:r>
            <a:r>
              <a:rPr sz="1450" spc="-15" dirty="0">
                <a:latin typeface="Arial MT"/>
                <a:cs typeface="Arial MT"/>
              </a:rPr>
              <a:t>in</a:t>
            </a:r>
            <a:r>
              <a:rPr sz="1450" spc="50" dirty="0">
                <a:latin typeface="Arial MT"/>
                <a:cs typeface="Arial MT"/>
              </a:rPr>
              <a:t> </a:t>
            </a:r>
            <a:r>
              <a:rPr sz="1450" spc="10" dirty="0">
                <a:latin typeface="Arial MT"/>
                <a:cs typeface="Arial MT"/>
              </a:rPr>
              <a:t>the</a:t>
            </a:r>
            <a:r>
              <a:rPr sz="1450" spc="50" dirty="0">
                <a:latin typeface="Arial MT"/>
                <a:cs typeface="Arial MT"/>
              </a:rPr>
              <a:t> </a:t>
            </a:r>
            <a:r>
              <a:rPr sz="1450" spc="-10" dirty="0">
                <a:latin typeface="Arial MT"/>
                <a:cs typeface="Arial MT"/>
              </a:rPr>
              <a:t>specified</a:t>
            </a:r>
            <a:r>
              <a:rPr sz="1450" spc="210" dirty="0">
                <a:latin typeface="Arial MT"/>
                <a:cs typeface="Arial MT"/>
              </a:rPr>
              <a:t> </a:t>
            </a:r>
            <a:r>
              <a:rPr sz="1450" spc="-15" dirty="0">
                <a:latin typeface="Arial MT"/>
                <a:cs typeface="Arial MT"/>
              </a:rPr>
              <a:t>value</a:t>
            </a:r>
            <a:r>
              <a:rPr sz="1450" spc="170" dirty="0">
                <a:latin typeface="Arial MT"/>
                <a:cs typeface="Arial MT"/>
              </a:rPr>
              <a:t> </a:t>
            </a:r>
            <a:r>
              <a:rPr sz="1450" dirty="0">
                <a:latin typeface="Arial MT"/>
                <a:cs typeface="Arial MT"/>
              </a:rPr>
              <a:t>to</a:t>
            </a:r>
            <a:r>
              <a:rPr sz="1450" spc="15" dirty="0">
                <a:latin typeface="Arial MT"/>
                <a:cs typeface="Arial MT"/>
              </a:rPr>
              <a:t> </a:t>
            </a:r>
            <a:r>
              <a:rPr sz="1450" spc="10" dirty="0">
                <a:latin typeface="Arial MT"/>
                <a:cs typeface="Arial MT"/>
              </a:rPr>
              <a:t>the </a:t>
            </a:r>
            <a:r>
              <a:rPr sz="1450" spc="-15" dirty="0">
                <a:latin typeface="Arial MT"/>
                <a:cs typeface="Arial MT"/>
              </a:rPr>
              <a:t>left</a:t>
            </a:r>
            <a:r>
              <a:rPr sz="1450" spc="145" dirty="0">
                <a:latin typeface="Arial MT"/>
                <a:cs typeface="Arial MT"/>
              </a:rPr>
              <a:t> </a:t>
            </a:r>
            <a:r>
              <a:rPr sz="1450" spc="20" dirty="0">
                <a:latin typeface="Arial MT"/>
                <a:cs typeface="Arial MT"/>
              </a:rPr>
              <a:t>by</a:t>
            </a:r>
            <a:r>
              <a:rPr sz="1450" spc="-25" dirty="0">
                <a:latin typeface="Arial MT"/>
                <a:cs typeface="Arial MT"/>
              </a:rPr>
              <a:t> </a:t>
            </a:r>
            <a:r>
              <a:rPr sz="1450" spc="10" dirty="0">
                <a:latin typeface="Arial MT"/>
                <a:cs typeface="Arial MT"/>
              </a:rPr>
              <a:t>the </a:t>
            </a:r>
            <a:r>
              <a:rPr sz="1450" spc="-390" dirty="0">
                <a:latin typeface="Arial MT"/>
                <a:cs typeface="Arial MT"/>
              </a:rPr>
              <a:t> </a:t>
            </a:r>
            <a:r>
              <a:rPr sz="1450" spc="15" dirty="0">
                <a:latin typeface="Arial MT"/>
                <a:cs typeface="Arial MT"/>
              </a:rPr>
              <a:t>number of</a:t>
            </a:r>
            <a:r>
              <a:rPr sz="1450" spc="20" dirty="0">
                <a:latin typeface="Arial MT"/>
                <a:cs typeface="Arial MT"/>
              </a:rPr>
              <a:t> </a:t>
            </a:r>
            <a:r>
              <a:rPr sz="1450" spc="-5" dirty="0">
                <a:latin typeface="Arial MT"/>
                <a:cs typeface="Arial MT"/>
              </a:rPr>
              <a:t>bit</a:t>
            </a:r>
            <a:r>
              <a:rPr sz="1450" spc="60" dirty="0">
                <a:latin typeface="Arial MT"/>
                <a:cs typeface="Arial MT"/>
              </a:rPr>
              <a:t> </a:t>
            </a:r>
            <a:r>
              <a:rPr sz="1450" dirty="0">
                <a:latin typeface="Arial MT"/>
                <a:cs typeface="Arial MT"/>
              </a:rPr>
              <a:t>positions</a:t>
            </a:r>
            <a:r>
              <a:rPr sz="1450" spc="130" dirty="0">
                <a:latin typeface="Arial MT"/>
                <a:cs typeface="Arial MT"/>
              </a:rPr>
              <a:t> </a:t>
            </a:r>
            <a:r>
              <a:rPr sz="1450" spc="-10" dirty="0">
                <a:latin typeface="Arial MT"/>
                <a:cs typeface="Arial MT"/>
              </a:rPr>
              <a:t>specified</a:t>
            </a:r>
            <a:r>
              <a:rPr sz="1450" spc="204" dirty="0">
                <a:latin typeface="Arial MT"/>
                <a:cs typeface="Arial MT"/>
              </a:rPr>
              <a:t> </a:t>
            </a:r>
            <a:r>
              <a:rPr sz="1450" spc="20" dirty="0">
                <a:latin typeface="Arial MT"/>
                <a:cs typeface="Arial MT"/>
              </a:rPr>
              <a:t>by</a:t>
            </a:r>
            <a:r>
              <a:rPr sz="1450" dirty="0">
                <a:latin typeface="Arial MT"/>
                <a:cs typeface="Arial MT"/>
              </a:rPr>
              <a:t> </a:t>
            </a:r>
            <a:r>
              <a:rPr sz="1450" i="1" spc="30" dirty="0">
                <a:latin typeface="Arial"/>
                <a:cs typeface="Arial"/>
              </a:rPr>
              <a:t>num</a:t>
            </a:r>
            <a:endParaRPr sz="1450">
              <a:latin typeface="Arial"/>
              <a:cs typeface="Arial"/>
            </a:endParaRPr>
          </a:p>
        </p:txBody>
      </p:sp>
      <p:grpSp>
        <p:nvGrpSpPr>
          <p:cNvPr id="6" name="object 6"/>
          <p:cNvGrpSpPr/>
          <p:nvPr/>
        </p:nvGrpSpPr>
        <p:grpSpPr>
          <a:xfrm>
            <a:off x="-1387" y="628242"/>
            <a:ext cx="6498590" cy="3660140"/>
            <a:chOff x="-1387" y="628242"/>
            <a:chExt cx="6498590" cy="3660140"/>
          </a:xfrm>
        </p:grpSpPr>
        <p:pic>
          <p:nvPicPr>
            <p:cNvPr id="7" name="object 7"/>
            <p:cNvPicPr/>
            <p:nvPr/>
          </p:nvPicPr>
          <p:blipFill>
            <a:blip r:embed="rId4" cstate="print"/>
            <a:stretch>
              <a:fillRect/>
            </a:stretch>
          </p:blipFill>
          <p:spPr>
            <a:xfrm>
              <a:off x="3660723" y="2824690"/>
              <a:ext cx="2010363" cy="1339683"/>
            </a:xfrm>
            <a:prstGeom prst="rect">
              <a:avLst/>
            </a:prstGeom>
          </p:spPr>
        </p:pic>
        <p:sp>
          <p:nvSpPr>
            <p:cNvPr id="8" name="object 8"/>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55401" y="268881"/>
            <a:ext cx="1152999" cy="318135"/>
          </a:xfrm>
          <a:prstGeom prst="rect">
            <a:avLst/>
          </a:prstGeom>
        </p:spPr>
        <p:txBody>
          <a:bodyPr vert="horz" wrap="square" lIns="0" tIns="14604" rIns="0" bIns="0" rtlCol="0">
            <a:spAutoFit/>
          </a:bodyPr>
          <a:lstStyle/>
          <a:p>
            <a:pPr marL="12700">
              <a:lnSpc>
                <a:spcPct val="100000"/>
              </a:lnSpc>
              <a:spcBef>
                <a:spcPts val="114"/>
              </a:spcBef>
            </a:pPr>
            <a:r>
              <a:rPr spc="5" dirty="0">
                <a:solidFill>
                  <a:schemeClr val="tx1"/>
                </a:solidFill>
              </a:rPr>
              <a:t>Right</a:t>
            </a:r>
            <a:r>
              <a:rPr spc="-95" dirty="0">
                <a:solidFill>
                  <a:schemeClr val="tx1"/>
                </a:solidFill>
              </a:rPr>
              <a:t> </a:t>
            </a:r>
            <a:r>
              <a:rPr spc="-5" dirty="0">
                <a:solidFill>
                  <a:schemeClr val="tx1"/>
                </a:solidFill>
              </a:rPr>
              <a:t>shift</a:t>
            </a:r>
          </a:p>
        </p:txBody>
      </p:sp>
      <p:sp>
        <p:nvSpPr>
          <p:cNvPr id="3" name="object 3"/>
          <p:cNvSpPr txBox="1"/>
          <p:nvPr/>
        </p:nvSpPr>
        <p:spPr>
          <a:xfrm>
            <a:off x="10590" y="683784"/>
            <a:ext cx="6441010" cy="1462516"/>
          </a:xfrm>
          <a:prstGeom prst="rect">
            <a:avLst/>
          </a:prstGeom>
        </p:spPr>
        <p:txBody>
          <a:bodyPr vert="horz" wrap="square" lIns="0" tIns="8890" rIns="0" bIns="0" rtlCol="0">
            <a:spAutoFit/>
          </a:bodyPr>
          <a:lstStyle/>
          <a:p>
            <a:pPr marL="194945" marR="284480" indent="-182880">
              <a:lnSpc>
                <a:spcPct val="103400"/>
              </a:lnSpc>
              <a:spcBef>
                <a:spcPts val="70"/>
              </a:spcBef>
              <a:buChar char="•"/>
              <a:tabLst>
                <a:tab pos="195580" algn="l"/>
              </a:tabLst>
            </a:pPr>
            <a:r>
              <a:rPr sz="1450" spc="15" dirty="0">
                <a:latin typeface="Arial MT"/>
                <a:cs typeface="Arial MT"/>
              </a:rPr>
              <a:t>Each </a:t>
            </a:r>
            <a:r>
              <a:rPr sz="1450" spc="-5" dirty="0">
                <a:latin typeface="Arial MT"/>
                <a:cs typeface="Arial MT"/>
              </a:rPr>
              <a:t>time you </a:t>
            </a:r>
            <a:r>
              <a:rPr sz="1450" spc="-10" dirty="0">
                <a:latin typeface="Arial MT"/>
                <a:cs typeface="Arial MT"/>
              </a:rPr>
              <a:t>shift </a:t>
            </a:r>
            <a:r>
              <a:rPr sz="1450" spc="15" dirty="0">
                <a:latin typeface="Arial MT"/>
                <a:cs typeface="Arial MT"/>
              </a:rPr>
              <a:t>a </a:t>
            </a:r>
            <a:r>
              <a:rPr sz="1450" spc="-15" dirty="0">
                <a:latin typeface="Arial MT"/>
                <a:cs typeface="Arial MT"/>
              </a:rPr>
              <a:t>value</a:t>
            </a:r>
            <a:r>
              <a:rPr sz="1450" spc="-10" dirty="0">
                <a:latin typeface="Arial MT"/>
                <a:cs typeface="Arial MT"/>
              </a:rPr>
              <a:t> </a:t>
            </a:r>
            <a:r>
              <a:rPr sz="1450" dirty="0">
                <a:latin typeface="Arial MT"/>
                <a:cs typeface="Arial MT"/>
              </a:rPr>
              <a:t>to </a:t>
            </a:r>
            <a:r>
              <a:rPr sz="1450" spc="10" dirty="0">
                <a:latin typeface="Arial MT"/>
                <a:cs typeface="Arial MT"/>
              </a:rPr>
              <a:t>the </a:t>
            </a:r>
            <a:r>
              <a:rPr sz="1450" dirty="0">
                <a:latin typeface="Arial MT"/>
                <a:cs typeface="Arial MT"/>
              </a:rPr>
              <a:t>right, </a:t>
            </a:r>
            <a:r>
              <a:rPr sz="1450" spc="-20" dirty="0">
                <a:latin typeface="Arial MT"/>
                <a:cs typeface="Arial MT"/>
              </a:rPr>
              <a:t>it </a:t>
            </a:r>
            <a:r>
              <a:rPr sz="1450" spc="-10" dirty="0">
                <a:latin typeface="Arial MT"/>
                <a:cs typeface="Arial MT"/>
              </a:rPr>
              <a:t>divides</a:t>
            </a:r>
            <a:r>
              <a:rPr sz="1450" spc="-5" dirty="0">
                <a:latin typeface="Arial MT"/>
                <a:cs typeface="Arial MT"/>
              </a:rPr>
              <a:t> </a:t>
            </a:r>
            <a:r>
              <a:rPr sz="1450" dirty="0">
                <a:latin typeface="Arial MT"/>
                <a:cs typeface="Arial MT"/>
              </a:rPr>
              <a:t>that </a:t>
            </a:r>
            <a:r>
              <a:rPr sz="1450" spc="-15" dirty="0">
                <a:latin typeface="Arial MT"/>
                <a:cs typeface="Arial MT"/>
              </a:rPr>
              <a:t>value</a:t>
            </a:r>
            <a:r>
              <a:rPr sz="1450" spc="-10" dirty="0">
                <a:latin typeface="Arial MT"/>
                <a:cs typeface="Arial MT"/>
              </a:rPr>
              <a:t> </a:t>
            </a:r>
            <a:r>
              <a:rPr sz="1450" spc="20" dirty="0">
                <a:latin typeface="Arial MT"/>
                <a:cs typeface="Arial MT"/>
              </a:rPr>
              <a:t>by </a:t>
            </a:r>
            <a:r>
              <a:rPr sz="1450" spc="-390" dirty="0">
                <a:latin typeface="Arial MT"/>
                <a:cs typeface="Arial MT"/>
              </a:rPr>
              <a:t> </a:t>
            </a:r>
            <a:r>
              <a:rPr sz="1450" spc="15" dirty="0">
                <a:latin typeface="Arial MT"/>
                <a:cs typeface="Arial MT"/>
              </a:rPr>
              <a:t>two—and</a:t>
            </a:r>
            <a:r>
              <a:rPr sz="1450" spc="40" dirty="0">
                <a:latin typeface="Arial MT"/>
                <a:cs typeface="Arial MT"/>
              </a:rPr>
              <a:t> </a:t>
            </a:r>
            <a:r>
              <a:rPr sz="1450" dirty="0">
                <a:latin typeface="Arial MT"/>
                <a:cs typeface="Arial MT"/>
              </a:rPr>
              <a:t>discards</a:t>
            </a:r>
            <a:r>
              <a:rPr sz="1450" spc="130" dirty="0">
                <a:latin typeface="Arial MT"/>
                <a:cs typeface="Arial MT"/>
              </a:rPr>
              <a:t> </a:t>
            </a:r>
            <a:r>
              <a:rPr sz="1450" spc="10" dirty="0">
                <a:latin typeface="Arial MT"/>
                <a:cs typeface="Arial MT"/>
              </a:rPr>
              <a:t>any</a:t>
            </a:r>
            <a:r>
              <a:rPr sz="1450" spc="45" dirty="0">
                <a:latin typeface="Arial MT"/>
                <a:cs typeface="Arial MT"/>
              </a:rPr>
              <a:t> </a:t>
            </a:r>
            <a:r>
              <a:rPr sz="1450" dirty="0">
                <a:latin typeface="Arial MT"/>
                <a:cs typeface="Arial MT"/>
              </a:rPr>
              <a:t>remainder.</a:t>
            </a:r>
          </a:p>
          <a:p>
            <a:pPr marL="194945" marR="5080" indent="-182880">
              <a:lnSpc>
                <a:spcPct val="103400"/>
              </a:lnSpc>
              <a:spcBef>
                <a:spcPts val="355"/>
              </a:spcBef>
              <a:buChar char="•"/>
              <a:tabLst>
                <a:tab pos="195580" algn="l"/>
              </a:tabLst>
            </a:pPr>
            <a:r>
              <a:rPr sz="1450" spc="40" dirty="0">
                <a:latin typeface="Arial MT"/>
                <a:cs typeface="Arial MT"/>
              </a:rPr>
              <a:t>When </a:t>
            </a:r>
            <a:r>
              <a:rPr sz="1450" spc="-5" dirty="0">
                <a:latin typeface="Arial MT"/>
                <a:cs typeface="Arial MT"/>
              </a:rPr>
              <a:t>you </a:t>
            </a:r>
            <a:r>
              <a:rPr sz="1450" dirty="0">
                <a:latin typeface="Arial MT"/>
                <a:cs typeface="Arial MT"/>
              </a:rPr>
              <a:t>are </a:t>
            </a:r>
            <a:r>
              <a:rPr sz="1450" spc="-10" dirty="0">
                <a:latin typeface="Arial MT"/>
                <a:cs typeface="Arial MT"/>
              </a:rPr>
              <a:t>shifting</a:t>
            </a:r>
            <a:r>
              <a:rPr sz="1450" spc="-5" dirty="0">
                <a:latin typeface="Arial MT"/>
                <a:cs typeface="Arial MT"/>
              </a:rPr>
              <a:t> </a:t>
            </a:r>
            <a:r>
              <a:rPr sz="1450" dirty="0">
                <a:latin typeface="Arial MT"/>
                <a:cs typeface="Arial MT"/>
              </a:rPr>
              <a:t>right, </a:t>
            </a:r>
            <a:r>
              <a:rPr sz="1450" spc="10" dirty="0">
                <a:latin typeface="Arial MT"/>
                <a:cs typeface="Arial MT"/>
              </a:rPr>
              <a:t>the top </a:t>
            </a:r>
            <a:r>
              <a:rPr sz="1450" spc="-5" dirty="0">
                <a:latin typeface="Arial MT"/>
                <a:cs typeface="Arial MT"/>
              </a:rPr>
              <a:t>(leftmost)</a:t>
            </a:r>
            <a:r>
              <a:rPr sz="1450" dirty="0">
                <a:latin typeface="Arial MT"/>
                <a:cs typeface="Arial MT"/>
              </a:rPr>
              <a:t> </a:t>
            </a:r>
            <a:r>
              <a:rPr sz="1450" spc="-5" dirty="0">
                <a:latin typeface="Arial MT"/>
                <a:cs typeface="Arial MT"/>
              </a:rPr>
              <a:t>bits exposed </a:t>
            </a:r>
            <a:r>
              <a:rPr sz="1450" spc="15" dirty="0">
                <a:latin typeface="Arial MT"/>
                <a:cs typeface="Arial MT"/>
              </a:rPr>
              <a:t>by </a:t>
            </a:r>
            <a:r>
              <a:rPr lang="en-US" sz="1450" spc="15" dirty="0">
                <a:latin typeface="Arial MT"/>
                <a:cs typeface="Arial MT"/>
              </a:rPr>
              <a:t>   </a:t>
            </a:r>
            <a:r>
              <a:rPr sz="1450" spc="10" dirty="0">
                <a:latin typeface="Arial MT"/>
                <a:cs typeface="Arial MT"/>
              </a:rPr>
              <a:t>the </a:t>
            </a:r>
            <a:r>
              <a:rPr sz="1450" spc="-390" dirty="0">
                <a:latin typeface="Arial MT"/>
                <a:cs typeface="Arial MT"/>
              </a:rPr>
              <a:t> </a:t>
            </a:r>
            <a:r>
              <a:rPr sz="1450" dirty="0">
                <a:latin typeface="Arial MT"/>
                <a:cs typeface="Arial MT"/>
              </a:rPr>
              <a:t>right</a:t>
            </a:r>
            <a:r>
              <a:rPr sz="1450" spc="60" dirty="0">
                <a:latin typeface="Arial MT"/>
                <a:cs typeface="Arial MT"/>
              </a:rPr>
              <a:t> </a:t>
            </a:r>
            <a:r>
              <a:rPr sz="1450" spc="-10" dirty="0">
                <a:latin typeface="Arial MT"/>
                <a:cs typeface="Arial MT"/>
              </a:rPr>
              <a:t>shift</a:t>
            </a:r>
            <a:r>
              <a:rPr sz="1450" spc="105" dirty="0">
                <a:latin typeface="Arial MT"/>
                <a:cs typeface="Arial MT"/>
              </a:rPr>
              <a:t> </a:t>
            </a:r>
            <a:r>
              <a:rPr sz="1450" dirty="0">
                <a:solidFill>
                  <a:srgbClr val="0000CC"/>
                </a:solidFill>
                <a:latin typeface="Arial MT"/>
                <a:cs typeface="Arial MT"/>
              </a:rPr>
              <a:t>are</a:t>
            </a:r>
            <a:r>
              <a:rPr sz="1450" spc="50" dirty="0">
                <a:solidFill>
                  <a:srgbClr val="0000CC"/>
                </a:solidFill>
                <a:latin typeface="Arial MT"/>
                <a:cs typeface="Arial MT"/>
              </a:rPr>
              <a:t> </a:t>
            </a:r>
            <a:r>
              <a:rPr sz="1450" spc="-15" dirty="0">
                <a:solidFill>
                  <a:srgbClr val="0000CC"/>
                </a:solidFill>
                <a:latin typeface="Arial MT"/>
                <a:cs typeface="Arial MT"/>
              </a:rPr>
              <a:t>filled</a:t>
            </a:r>
            <a:r>
              <a:rPr sz="1450" spc="210" dirty="0">
                <a:solidFill>
                  <a:srgbClr val="0000CC"/>
                </a:solidFill>
                <a:latin typeface="Arial MT"/>
                <a:cs typeface="Arial MT"/>
              </a:rPr>
              <a:t> </a:t>
            </a:r>
            <a:r>
              <a:rPr sz="1450" spc="-15" dirty="0">
                <a:solidFill>
                  <a:srgbClr val="0000CC"/>
                </a:solidFill>
                <a:latin typeface="Arial MT"/>
                <a:cs typeface="Arial MT"/>
              </a:rPr>
              <a:t>in</a:t>
            </a:r>
            <a:r>
              <a:rPr sz="1450" spc="45" dirty="0">
                <a:solidFill>
                  <a:srgbClr val="0000CC"/>
                </a:solidFill>
                <a:latin typeface="Arial MT"/>
                <a:cs typeface="Arial MT"/>
              </a:rPr>
              <a:t> </a:t>
            </a:r>
            <a:r>
              <a:rPr sz="1450" spc="-5" dirty="0">
                <a:solidFill>
                  <a:srgbClr val="0000CC"/>
                </a:solidFill>
                <a:latin typeface="Arial MT"/>
                <a:cs typeface="Arial MT"/>
              </a:rPr>
              <a:t>with</a:t>
            </a:r>
            <a:r>
              <a:rPr sz="1450" spc="85" dirty="0">
                <a:solidFill>
                  <a:srgbClr val="0000CC"/>
                </a:solidFill>
                <a:latin typeface="Arial MT"/>
                <a:cs typeface="Arial MT"/>
              </a:rPr>
              <a:t> </a:t>
            </a:r>
            <a:r>
              <a:rPr sz="1450" spc="10" dirty="0">
                <a:solidFill>
                  <a:srgbClr val="0000CC"/>
                </a:solidFill>
                <a:latin typeface="Arial MT"/>
                <a:cs typeface="Arial MT"/>
              </a:rPr>
              <a:t>the </a:t>
            </a:r>
            <a:r>
              <a:rPr sz="1450" spc="-5" dirty="0">
                <a:solidFill>
                  <a:srgbClr val="0000CC"/>
                </a:solidFill>
                <a:latin typeface="Arial MT"/>
                <a:cs typeface="Arial MT"/>
              </a:rPr>
              <a:t>previous</a:t>
            </a:r>
            <a:r>
              <a:rPr sz="1450" spc="175" dirty="0">
                <a:solidFill>
                  <a:srgbClr val="0000CC"/>
                </a:solidFill>
                <a:latin typeface="Arial MT"/>
                <a:cs typeface="Arial MT"/>
              </a:rPr>
              <a:t> </a:t>
            </a:r>
            <a:r>
              <a:rPr sz="1450" spc="10" dirty="0">
                <a:solidFill>
                  <a:srgbClr val="0000CC"/>
                </a:solidFill>
                <a:latin typeface="Arial MT"/>
                <a:cs typeface="Arial MT"/>
              </a:rPr>
              <a:t>contents</a:t>
            </a:r>
            <a:r>
              <a:rPr sz="1450" spc="50" dirty="0">
                <a:solidFill>
                  <a:srgbClr val="0000CC"/>
                </a:solidFill>
                <a:latin typeface="Arial MT"/>
                <a:cs typeface="Arial MT"/>
              </a:rPr>
              <a:t> </a:t>
            </a:r>
            <a:r>
              <a:rPr sz="1450" spc="15" dirty="0">
                <a:solidFill>
                  <a:srgbClr val="0000CC"/>
                </a:solidFill>
                <a:latin typeface="Arial MT"/>
                <a:cs typeface="Arial MT"/>
              </a:rPr>
              <a:t>of</a:t>
            </a:r>
            <a:r>
              <a:rPr sz="1450" spc="-15" dirty="0">
                <a:solidFill>
                  <a:srgbClr val="0000CC"/>
                </a:solidFill>
                <a:latin typeface="Arial MT"/>
                <a:cs typeface="Arial MT"/>
              </a:rPr>
              <a:t> </a:t>
            </a:r>
            <a:r>
              <a:rPr sz="1450" spc="10" dirty="0">
                <a:solidFill>
                  <a:srgbClr val="0000CC"/>
                </a:solidFill>
                <a:latin typeface="Arial MT"/>
                <a:cs typeface="Arial MT"/>
              </a:rPr>
              <a:t>the</a:t>
            </a:r>
            <a:r>
              <a:rPr sz="1450" spc="55" dirty="0">
                <a:solidFill>
                  <a:srgbClr val="0000CC"/>
                </a:solidFill>
                <a:latin typeface="Arial MT"/>
                <a:cs typeface="Arial MT"/>
              </a:rPr>
              <a:t> </a:t>
            </a:r>
            <a:r>
              <a:rPr sz="1450" spc="10" dirty="0">
                <a:solidFill>
                  <a:srgbClr val="0000CC"/>
                </a:solidFill>
                <a:latin typeface="Arial MT"/>
                <a:cs typeface="Arial MT"/>
              </a:rPr>
              <a:t>top</a:t>
            </a:r>
            <a:r>
              <a:rPr lang="en-US" sz="1450" spc="10" dirty="0">
                <a:solidFill>
                  <a:srgbClr val="0000CC"/>
                </a:solidFill>
                <a:latin typeface="Arial MT"/>
                <a:cs typeface="Arial MT"/>
              </a:rPr>
              <a:t>  </a:t>
            </a:r>
            <a:r>
              <a:rPr sz="1450" spc="10" dirty="0">
                <a:solidFill>
                  <a:srgbClr val="0000CC"/>
                </a:solidFill>
                <a:latin typeface="Arial MT"/>
                <a:cs typeface="Arial MT"/>
              </a:rPr>
              <a:t> </a:t>
            </a:r>
            <a:r>
              <a:rPr sz="1450" spc="-5" dirty="0">
                <a:solidFill>
                  <a:srgbClr val="0000CC"/>
                </a:solidFill>
                <a:latin typeface="Arial MT"/>
                <a:cs typeface="Arial MT"/>
              </a:rPr>
              <a:t>bit.</a:t>
            </a:r>
            <a:endParaRPr sz="1450" dirty="0">
              <a:latin typeface="Arial MT"/>
              <a:cs typeface="Arial MT"/>
            </a:endParaRPr>
          </a:p>
          <a:p>
            <a:pPr marL="194945" marR="45720" indent="-182880">
              <a:lnSpc>
                <a:spcPct val="103299"/>
              </a:lnSpc>
              <a:spcBef>
                <a:spcPts val="320"/>
              </a:spcBef>
              <a:buChar char="•"/>
              <a:tabLst>
                <a:tab pos="195580" algn="l"/>
              </a:tabLst>
            </a:pPr>
            <a:r>
              <a:rPr sz="1450" spc="5" dirty="0">
                <a:latin typeface="Arial MT"/>
                <a:cs typeface="Arial MT"/>
              </a:rPr>
              <a:t>This </a:t>
            </a:r>
            <a:r>
              <a:rPr sz="1450" spc="-15" dirty="0">
                <a:latin typeface="Arial MT"/>
                <a:cs typeface="Arial MT"/>
              </a:rPr>
              <a:t>is called</a:t>
            </a:r>
            <a:r>
              <a:rPr sz="1450" spc="-10" dirty="0">
                <a:latin typeface="Arial MT"/>
                <a:cs typeface="Arial MT"/>
              </a:rPr>
              <a:t> </a:t>
            </a:r>
            <a:r>
              <a:rPr sz="1450" spc="-5" dirty="0">
                <a:latin typeface="Arial MT"/>
                <a:cs typeface="Arial MT"/>
              </a:rPr>
              <a:t>sign extension</a:t>
            </a:r>
            <a:r>
              <a:rPr sz="1450" dirty="0">
                <a:latin typeface="Arial MT"/>
                <a:cs typeface="Arial MT"/>
              </a:rPr>
              <a:t> </a:t>
            </a:r>
            <a:r>
              <a:rPr sz="1450" spc="10" dirty="0">
                <a:latin typeface="Arial MT"/>
                <a:cs typeface="Arial MT"/>
              </a:rPr>
              <a:t>and </a:t>
            </a:r>
            <a:r>
              <a:rPr sz="1450" spc="-15" dirty="0">
                <a:latin typeface="Arial MT"/>
                <a:cs typeface="Arial MT"/>
              </a:rPr>
              <a:t>serves</a:t>
            </a:r>
            <a:r>
              <a:rPr sz="1450" spc="-10" dirty="0">
                <a:latin typeface="Arial MT"/>
                <a:cs typeface="Arial MT"/>
              </a:rPr>
              <a:t> </a:t>
            </a:r>
            <a:r>
              <a:rPr sz="1450" dirty="0">
                <a:latin typeface="Arial MT"/>
                <a:cs typeface="Arial MT"/>
              </a:rPr>
              <a:t>to </a:t>
            </a:r>
            <a:r>
              <a:rPr sz="1450" spc="-10" dirty="0">
                <a:latin typeface="Arial MT"/>
                <a:cs typeface="Arial MT"/>
              </a:rPr>
              <a:t>preserve</a:t>
            </a:r>
            <a:r>
              <a:rPr sz="1450" spc="-5" dirty="0">
                <a:latin typeface="Arial MT"/>
                <a:cs typeface="Arial MT"/>
              </a:rPr>
              <a:t> </a:t>
            </a:r>
            <a:r>
              <a:rPr sz="1450" spc="10" dirty="0">
                <a:latin typeface="Arial MT"/>
                <a:cs typeface="Arial MT"/>
              </a:rPr>
              <a:t>the </a:t>
            </a:r>
            <a:r>
              <a:rPr sz="1450" spc="-5" dirty="0">
                <a:latin typeface="Arial MT"/>
                <a:cs typeface="Arial MT"/>
              </a:rPr>
              <a:t>sign </a:t>
            </a:r>
            <a:r>
              <a:rPr sz="1450" spc="15" dirty="0">
                <a:latin typeface="Arial MT"/>
                <a:cs typeface="Arial MT"/>
              </a:rPr>
              <a:t>of </a:t>
            </a:r>
            <a:r>
              <a:rPr sz="1450" spc="20" dirty="0">
                <a:latin typeface="Arial MT"/>
                <a:cs typeface="Arial MT"/>
              </a:rPr>
              <a:t> </a:t>
            </a:r>
            <a:r>
              <a:rPr sz="1450" spc="-10" dirty="0">
                <a:latin typeface="Arial MT"/>
                <a:cs typeface="Arial MT"/>
              </a:rPr>
              <a:t>negative</a:t>
            </a:r>
            <a:r>
              <a:rPr sz="1450" spc="210" dirty="0">
                <a:latin typeface="Arial MT"/>
                <a:cs typeface="Arial MT"/>
              </a:rPr>
              <a:t> </a:t>
            </a:r>
            <a:r>
              <a:rPr sz="1450" spc="10" dirty="0">
                <a:latin typeface="Arial MT"/>
                <a:cs typeface="Arial MT"/>
              </a:rPr>
              <a:t>numbers</a:t>
            </a:r>
            <a:r>
              <a:rPr sz="1450" spc="55" dirty="0">
                <a:latin typeface="Arial MT"/>
                <a:cs typeface="Arial MT"/>
              </a:rPr>
              <a:t> </a:t>
            </a:r>
            <a:r>
              <a:rPr sz="1450" spc="15" dirty="0">
                <a:latin typeface="Arial MT"/>
                <a:cs typeface="Arial MT"/>
              </a:rPr>
              <a:t>when</a:t>
            </a:r>
            <a:r>
              <a:rPr sz="1450" spc="50" dirty="0">
                <a:latin typeface="Arial MT"/>
                <a:cs typeface="Arial MT"/>
              </a:rPr>
              <a:t> </a:t>
            </a:r>
            <a:r>
              <a:rPr sz="1450" spc="-5" dirty="0">
                <a:latin typeface="Arial MT"/>
                <a:cs typeface="Arial MT"/>
              </a:rPr>
              <a:t>you</a:t>
            </a:r>
            <a:r>
              <a:rPr sz="1450" spc="45" dirty="0">
                <a:latin typeface="Arial MT"/>
                <a:cs typeface="Arial MT"/>
              </a:rPr>
              <a:t> </a:t>
            </a:r>
            <a:r>
              <a:rPr sz="1450" spc="-10" dirty="0">
                <a:latin typeface="Arial MT"/>
                <a:cs typeface="Arial MT"/>
              </a:rPr>
              <a:t>shift</a:t>
            </a:r>
            <a:r>
              <a:rPr sz="1450" spc="105" dirty="0">
                <a:latin typeface="Arial MT"/>
                <a:cs typeface="Arial MT"/>
              </a:rPr>
              <a:t> </a:t>
            </a:r>
            <a:r>
              <a:rPr sz="1450" spc="5" dirty="0">
                <a:latin typeface="Arial MT"/>
                <a:cs typeface="Arial MT"/>
              </a:rPr>
              <a:t>them</a:t>
            </a:r>
            <a:r>
              <a:rPr sz="1450" spc="80" dirty="0">
                <a:latin typeface="Arial MT"/>
                <a:cs typeface="Arial MT"/>
              </a:rPr>
              <a:t> </a:t>
            </a:r>
            <a:r>
              <a:rPr sz="1450" dirty="0">
                <a:latin typeface="Arial MT"/>
                <a:cs typeface="Arial MT"/>
              </a:rPr>
              <a:t>right.</a:t>
            </a:r>
            <a:r>
              <a:rPr sz="1450" spc="65" dirty="0">
                <a:latin typeface="Arial MT"/>
                <a:cs typeface="Arial MT"/>
              </a:rPr>
              <a:t> </a:t>
            </a:r>
            <a:r>
              <a:rPr sz="1450" spc="20" dirty="0">
                <a:latin typeface="Arial MT"/>
                <a:cs typeface="Arial MT"/>
              </a:rPr>
              <a:t>For</a:t>
            </a:r>
            <a:r>
              <a:rPr sz="1450" spc="25" dirty="0">
                <a:latin typeface="Arial MT"/>
                <a:cs typeface="Arial MT"/>
              </a:rPr>
              <a:t> </a:t>
            </a:r>
            <a:r>
              <a:rPr sz="1450" spc="-10" dirty="0">
                <a:latin typeface="Arial MT"/>
                <a:cs typeface="Arial MT"/>
              </a:rPr>
              <a:t>example,</a:t>
            </a:r>
            <a:r>
              <a:rPr sz="1450" spc="270" dirty="0">
                <a:latin typeface="Arial MT"/>
                <a:cs typeface="Arial MT"/>
              </a:rPr>
              <a:t> </a:t>
            </a:r>
            <a:r>
              <a:rPr sz="1450" spc="20" dirty="0">
                <a:latin typeface="Arial MT"/>
                <a:cs typeface="Arial MT"/>
              </a:rPr>
              <a:t>–8</a:t>
            </a:r>
            <a:r>
              <a:rPr sz="1450" spc="15" dirty="0">
                <a:latin typeface="Arial MT"/>
                <a:cs typeface="Arial MT"/>
              </a:rPr>
              <a:t> </a:t>
            </a:r>
            <a:r>
              <a:rPr sz="1450" spc="20" dirty="0">
                <a:latin typeface="Arial MT"/>
                <a:cs typeface="Arial MT"/>
              </a:rPr>
              <a:t>&gt;&gt; </a:t>
            </a:r>
            <a:r>
              <a:rPr sz="1450" spc="-385" dirty="0">
                <a:latin typeface="Arial MT"/>
                <a:cs typeface="Arial MT"/>
              </a:rPr>
              <a:t> </a:t>
            </a:r>
            <a:r>
              <a:rPr sz="1450" spc="15" dirty="0">
                <a:latin typeface="Arial MT"/>
                <a:cs typeface="Arial MT"/>
              </a:rPr>
              <a:t>1</a:t>
            </a:r>
            <a:r>
              <a:rPr sz="1450" spc="5" dirty="0">
                <a:latin typeface="Arial MT"/>
                <a:cs typeface="Arial MT"/>
              </a:rPr>
              <a:t> </a:t>
            </a:r>
            <a:r>
              <a:rPr sz="1450" spc="-15" dirty="0">
                <a:latin typeface="Arial MT"/>
                <a:cs typeface="Arial MT"/>
              </a:rPr>
              <a:t>is</a:t>
            </a:r>
            <a:r>
              <a:rPr sz="1450" spc="55" dirty="0">
                <a:latin typeface="Arial MT"/>
                <a:cs typeface="Arial MT"/>
              </a:rPr>
              <a:t> </a:t>
            </a:r>
            <a:r>
              <a:rPr sz="1450" spc="20" dirty="0">
                <a:latin typeface="Arial MT"/>
                <a:cs typeface="Arial MT"/>
              </a:rPr>
              <a:t>–4</a:t>
            </a:r>
            <a:endParaRPr sz="1450" dirty="0">
              <a:latin typeface="Arial MT"/>
              <a:cs typeface="Arial MT"/>
            </a:endParaRPr>
          </a:p>
        </p:txBody>
      </p:sp>
      <p:grpSp>
        <p:nvGrpSpPr>
          <p:cNvPr id="5" name="object 5"/>
          <p:cNvGrpSpPr/>
          <p:nvPr/>
        </p:nvGrpSpPr>
        <p:grpSpPr>
          <a:xfrm>
            <a:off x="4015" y="176230"/>
            <a:ext cx="6487795" cy="3649345"/>
            <a:chOff x="4015" y="176230"/>
            <a:chExt cx="6487795" cy="3649345"/>
          </a:xfrm>
        </p:grpSpPr>
        <p:pic>
          <p:nvPicPr>
            <p:cNvPr id="6" name="object 6"/>
            <p:cNvPicPr/>
            <p:nvPr/>
          </p:nvPicPr>
          <p:blipFill>
            <a:blip r:embed="rId2" cstate="print"/>
            <a:stretch>
              <a:fillRect/>
            </a:stretch>
          </p:blipFill>
          <p:spPr>
            <a:xfrm>
              <a:off x="1818615" y="2742854"/>
              <a:ext cx="1464182" cy="708323"/>
            </a:xfrm>
            <a:prstGeom prst="rect">
              <a:avLst/>
            </a:prstGeom>
          </p:spPr>
        </p:pic>
        <p:sp>
          <p:nvSpPr>
            <p:cNvPr id="8" name="object 8"/>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
        <p:nvSpPr>
          <p:cNvPr id="9" name="Rectangle 8">
            <a:extLst>
              <a:ext uri="{FF2B5EF4-FFF2-40B4-BE49-F238E27FC236}">
                <a16:creationId xmlns:a16="http://schemas.microsoft.com/office/drawing/2014/main" id="{0DC8127F-C655-0BEB-38CA-A21AD771BBBE}"/>
              </a:ext>
            </a:extLst>
          </p:cNvPr>
          <p:cNvSpPr/>
          <p:nvPr/>
        </p:nvSpPr>
        <p:spPr>
          <a:xfrm>
            <a:off x="3937000" y="2222500"/>
            <a:ext cx="1981200" cy="1542985"/>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grpSp>
        <p:nvGrpSpPr>
          <p:cNvPr id="4" name="object 4"/>
          <p:cNvGrpSpPr/>
          <p:nvPr/>
        </p:nvGrpSpPr>
        <p:grpSpPr>
          <a:xfrm>
            <a:off x="-1387" y="628242"/>
            <a:ext cx="6498590" cy="3660140"/>
            <a:chOff x="-1387" y="628242"/>
            <a:chExt cx="6498590" cy="3660140"/>
          </a:xfrm>
        </p:grpSpPr>
        <p:pic>
          <p:nvPicPr>
            <p:cNvPr id="5" name="object 5"/>
            <p:cNvPicPr/>
            <p:nvPr/>
          </p:nvPicPr>
          <p:blipFill>
            <a:blip r:embed="rId3" cstate="print"/>
            <a:stretch>
              <a:fillRect/>
            </a:stretch>
          </p:blipFill>
          <p:spPr>
            <a:xfrm>
              <a:off x="796334" y="1256088"/>
              <a:ext cx="4387337" cy="2569563"/>
            </a:xfrm>
            <a:prstGeom prst="rect">
              <a:avLst/>
            </a:prstGeom>
          </p:spPr>
        </p:pic>
        <p:sp>
          <p:nvSpPr>
            <p:cNvPr id="6" name="object 6"/>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75ED5340-6055-3BF9-7552-0EC9A8A4E01E}"/>
              </a:ext>
            </a:extLst>
          </p:cNvPr>
          <p:cNvSpPr>
            <a:spLocks noGrp="1"/>
          </p:cNvSpPr>
          <p:nvPr>
            <p:ph type="title"/>
          </p:nvPr>
        </p:nvSpPr>
        <p:spPr>
          <a:xfrm>
            <a:off x="532553" y="143087"/>
            <a:ext cx="5389598" cy="269754"/>
          </a:xfrm>
        </p:spPr>
        <p:txBody>
          <a:bodyPr/>
          <a:lstStyle/>
          <a:p>
            <a:pPr marL="214621" indent="-214621"/>
            <a:r>
              <a:rPr lang="en-US" altLang="en-US" sz="1753">
                <a:solidFill>
                  <a:srgbClr val="FF0000"/>
                </a:solidFill>
                <a:latin typeface="Times New Roman" panose="02020603050405020304" pitchFamily="18" charset="0"/>
                <a:cs typeface="Times New Roman" panose="02020603050405020304" pitchFamily="18" charset="0"/>
              </a:rPr>
              <a:t>Bitwise Operators : Unsigned Right Shift Operators</a:t>
            </a:r>
          </a:p>
        </p:txBody>
      </p:sp>
      <p:sp>
        <p:nvSpPr>
          <p:cNvPr id="3" name="Content Placeholder 2">
            <a:extLst>
              <a:ext uri="{FF2B5EF4-FFF2-40B4-BE49-F238E27FC236}">
                <a16:creationId xmlns:a16="http://schemas.microsoft.com/office/drawing/2014/main" id="{04C60701-160F-5A54-B429-1460B648A250}"/>
              </a:ext>
            </a:extLst>
          </p:cNvPr>
          <p:cNvSpPr>
            <a:spLocks noGrp="1"/>
          </p:cNvSpPr>
          <p:nvPr>
            <p:ph sz="quarter" idx="1"/>
          </p:nvPr>
        </p:nvSpPr>
        <p:spPr>
          <a:xfrm>
            <a:off x="675640" y="763129"/>
            <a:ext cx="5246511" cy="2311530"/>
          </a:xfrm>
        </p:spPr>
        <p:txBody>
          <a:bodyPr/>
          <a:lstStyle/>
          <a:p>
            <a:pPr>
              <a:defRPr/>
            </a:pPr>
            <a:r>
              <a:rPr lang="en-US" sz="1502" dirty="0">
                <a:latin typeface="Times New Roman" pitchFamily="18" charset="0"/>
                <a:cs typeface="Times New Roman" pitchFamily="18" charset="0"/>
              </a:rPr>
              <a:t>Unsigned shift-right operator, </a:t>
            </a:r>
            <a:r>
              <a:rPr lang="en-US" sz="1502" b="1" dirty="0">
                <a:latin typeface="Times New Roman" pitchFamily="18" charset="0"/>
                <a:cs typeface="Times New Roman" pitchFamily="18" charset="0"/>
              </a:rPr>
              <a:t>&gt;&gt;&gt;</a:t>
            </a:r>
            <a:r>
              <a:rPr lang="en-US" sz="1502" dirty="0">
                <a:latin typeface="Times New Roman" pitchFamily="18" charset="0"/>
                <a:cs typeface="Times New Roman" pitchFamily="18" charset="0"/>
              </a:rPr>
              <a:t>, always shifts zeros into the high-order bit.</a:t>
            </a:r>
          </a:p>
          <a:p>
            <a:pPr>
              <a:defRPr/>
            </a:pPr>
            <a:r>
              <a:rPr lang="en-US" sz="1502" dirty="0">
                <a:latin typeface="Times New Roman" pitchFamily="18" charset="0"/>
                <a:cs typeface="Times New Roman" pitchFamily="18" charset="0"/>
              </a:rPr>
              <a:t>   Example : </a:t>
            </a:r>
          </a:p>
          <a:p>
            <a:pPr>
              <a:defRPr/>
            </a:pPr>
            <a:r>
              <a:rPr lang="en-US" sz="1502" dirty="0">
                <a:latin typeface="Times New Roman" pitchFamily="18" charset="0"/>
                <a:cs typeface="Times New Roman" pitchFamily="18" charset="0"/>
              </a:rPr>
              <a:t>	</a:t>
            </a:r>
            <a:r>
              <a:rPr lang="en-US" sz="1502" dirty="0" err="1">
                <a:latin typeface="Times New Roman" pitchFamily="18" charset="0"/>
                <a:cs typeface="Times New Roman" pitchFamily="18" charset="0"/>
              </a:rPr>
              <a:t>int</a:t>
            </a:r>
            <a:r>
              <a:rPr lang="en-US" sz="1502" dirty="0">
                <a:latin typeface="Times New Roman" pitchFamily="18" charset="0"/>
                <a:cs typeface="Times New Roman" pitchFamily="18" charset="0"/>
              </a:rPr>
              <a:t> a=-1;</a:t>
            </a:r>
          </a:p>
          <a:p>
            <a:pPr>
              <a:defRPr/>
            </a:pPr>
            <a:r>
              <a:rPr lang="en-US" sz="1502" dirty="0">
                <a:latin typeface="Times New Roman" pitchFamily="18" charset="0"/>
                <a:cs typeface="Times New Roman" pitchFamily="18" charset="0"/>
              </a:rPr>
              <a:t>            a=a&gt;&gt;&gt;24;</a:t>
            </a:r>
          </a:p>
          <a:p>
            <a:pPr>
              <a:defRPr/>
            </a:pPr>
            <a:r>
              <a:rPr lang="en-US" sz="1502" dirty="0">
                <a:latin typeface="Times New Roman" pitchFamily="18" charset="0"/>
                <a:cs typeface="Times New Roman" pitchFamily="18" charset="0"/>
              </a:rPr>
              <a:t>            </a:t>
            </a:r>
            <a:r>
              <a:rPr lang="en-US" sz="1502" dirty="0" err="1">
                <a:latin typeface="Times New Roman" pitchFamily="18" charset="0"/>
                <a:cs typeface="Times New Roman" pitchFamily="18" charset="0"/>
              </a:rPr>
              <a:t>System.out.println</a:t>
            </a:r>
            <a:r>
              <a:rPr lang="en-US" sz="1502" dirty="0">
                <a:latin typeface="Times New Roman" pitchFamily="18" charset="0"/>
                <a:cs typeface="Times New Roman" pitchFamily="18" charset="0"/>
              </a:rPr>
              <a:t>(a);</a:t>
            </a:r>
          </a:p>
          <a:p>
            <a:pPr>
              <a:defRPr/>
            </a:pPr>
            <a:r>
              <a:rPr lang="en-US" sz="1502" dirty="0">
                <a:latin typeface="Times New Roman" pitchFamily="18" charset="0"/>
                <a:cs typeface="Times New Roman" pitchFamily="18" charset="0"/>
              </a:rPr>
              <a:t> </a:t>
            </a:r>
          </a:p>
          <a:p>
            <a:pPr>
              <a:defRPr/>
            </a:pPr>
            <a:r>
              <a:rPr lang="en-US" sz="1502" dirty="0">
                <a:latin typeface="Times New Roman" pitchFamily="18" charset="0"/>
                <a:cs typeface="Times New Roman" pitchFamily="18" charset="0"/>
              </a:rPr>
              <a:t>	11111111 11111111 11111111 11111111 	–1 </a:t>
            </a:r>
          </a:p>
          <a:p>
            <a:pPr>
              <a:defRPr/>
            </a:pPr>
            <a:r>
              <a:rPr lang="en-US" sz="1502" dirty="0">
                <a:latin typeface="Times New Roman" pitchFamily="18" charset="0"/>
                <a:cs typeface="Times New Roman" pitchFamily="18" charset="0"/>
              </a:rPr>
              <a:t>	&gt;&gt;&gt;24</a:t>
            </a:r>
          </a:p>
          <a:p>
            <a:pPr>
              <a:defRPr/>
            </a:pPr>
            <a:r>
              <a:rPr lang="en-US" sz="1502" dirty="0">
                <a:latin typeface="Times New Roman" pitchFamily="18" charset="0"/>
                <a:cs typeface="Times New Roman" pitchFamily="18" charset="0"/>
              </a:rPr>
              <a:t>	00000000 00000000 00000000 11111111 	255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22400" y="268881"/>
            <a:ext cx="3429000" cy="307134"/>
          </a:xfrm>
          <a:prstGeom prst="rect">
            <a:avLst/>
          </a:prstGeom>
        </p:spPr>
        <p:txBody>
          <a:bodyPr vert="horz" wrap="square" lIns="0" tIns="14604" rIns="0" bIns="0" rtlCol="0">
            <a:spAutoFit/>
          </a:bodyPr>
          <a:lstStyle/>
          <a:p>
            <a:pPr marL="12700">
              <a:lnSpc>
                <a:spcPct val="100000"/>
              </a:lnSpc>
              <a:spcBef>
                <a:spcPts val="114"/>
              </a:spcBef>
            </a:pPr>
            <a:r>
              <a:rPr spc="5" dirty="0">
                <a:solidFill>
                  <a:schemeClr val="tx1"/>
                </a:solidFill>
              </a:rPr>
              <a:t>Boolean</a:t>
            </a:r>
            <a:r>
              <a:rPr spc="-60" dirty="0">
                <a:solidFill>
                  <a:schemeClr val="tx1"/>
                </a:solidFill>
              </a:rPr>
              <a:t> </a:t>
            </a:r>
            <a:r>
              <a:rPr spc="5" dirty="0">
                <a:solidFill>
                  <a:schemeClr val="tx1"/>
                </a:solidFill>
              </a:rPr>
              <a:t>Logical</a:t>
            </a:r>
            <a:r>
              <a:rPr spc="-20" dirty="0">
                <a:solidFill>
                  <a:schemeClr val="tx1"/>
                </a:solidFill>
              </a:rPr>
              <a:t> </a:t>
            </a:r>
            <a:r>
              <a:rPr spc="5" dirty="0">
                <a:solidFill>
                  <a:schemeClr val="tx1"/>
                </a:solidFill>
              </a:rPr>
              <a:t>Operators</a:t>
            </a:r>
          </a:p>
        </p:txBody>
      </p:sp>
      <p:grpSp>
        <p:nvGrpSpPr>
          <p:cNvPr id="4" name="object 4"/>
          <p:cNvGrpSpPr/>
          <p:nvPr/>
        </p:nvGrpSpPr>
        <p:grpSpPr>
          <a:xfrm>
            <a:off x="-1387" y="170827"/>
            <a:ext cx="6498590" cy="3660140"/>
            <a:chOff x="-1387" y="170827"/>
            <a:chExt cx="6498590" cy="3660140"/>
          </a:xfrm>
        </p:grpSpPr>
        <p:pic>
          <p:nvPicPr>
            <p:cNvPr id="5" name="object 5"/>
            <p:cNvPicPr/>
            <p:nvPr/>
          </p:nvPicPr>
          <p:blipFill>
            <a:blip r:embed="rId2" cstate="print"/>
            <a:stretch>
              <a:fillRect/>
            </a:stretch>
          </p:blipFill>
          <p:spPr>
            <a:xfrm>
              <a:off x="1257536" y="792761"/>
              <a:ext cx="3088202" cy="3021497"/>
            </a:xfrm>
            <a:prstGeom prst="rect">
              <a:avLst/>
            </a:prstGeom>
          </p:spPr>
        </p:pic>
        <p:sp>
          <p:nvSpPr>
            <p:cNvPr id="6" name="object 6"/>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a:spLocks noGrp="1"/>
          </p:cNvSpPr>
          <p:nvPr>
            <p:ph type="title"/>
          </p:nvPr>
        </p:nvSpPr>
        <p:spPr>
          <a:xfrm>
            <a:off x="364664" y="1208221"/>
            <a:ext cx="4626610" cy="954405"/>
          </a:xfrm>
          <a:prstGeom prst="rect">
            <a:avLst/>
          </a:prstGeom>
        </p:spPr>
        <p:txBody>
          <a:bodyPr vert="horz" wrap="square" lIns="0" tIns="12065" rIns="0" bIns="0" rtlCol="0">
            <a:spAutoFit/>
          </a:bodyPr>
          <a:lstStyle/>
          <a:p>
            <a:pPr marL="12700" marR="3850004">
              <a:lnSpc>
                <a:spcPct val="119500"/>
              </a:lnSpc>
              <a:spcBef>
                <a:spcPts val="95"/>
              </a:spcBef>
            </a:pPr>
            <a:r>
              <a:rPr sz="1700" spc="-80" dirty="0">
                <a:solidFill>
                  <a:srgbClr val="000000"/>
                </a:solidFill>
                <a:latin typeface="Times New Roman"/>
                <a:cs typeface="Times New Roman"/>
              </a:rPr>
              <a:t>i</a:t>
            </a:r>
            <a:r>
              <a:rPr sz="1700" spc="20" dirty="0">
                <a:solidFill>
                  <a:srgbClr val="000000"/>
                </a:solidFill>
                <a:latin typeface="Times New Roman"/>
                <a:cs typeface="Times New Roman"/>
              </a:rPr>
              <a:t>n</a:t>
            </a:r>
            <a:r>
              <a:rPr sz="1700" spc="-30" dirty="0">
                <a:solidFill>
                  <a:srgbClr val="000000"/>
                </a:solidFill>
                <a:latin typeface="Times New Roman"/>
                <a:cs typeface="Times New Roman"/>
              </a:rPr>
              <a:t>t</a:t>
            </a:r>
            <a:r>
              <a:rPr sz="1700" dirty="0">
                <a:solidFill>
                  <a:srgbClr val="000000"/>
                </a:solidFill>
                <a:latin typeface="Times New Roman"/>
                <a:cs typeface="Times New Roman"/>
              </a:rPr>
              <a:t> </a:t>
            </a:r>
            <a:r>
              <a:rPr sz="1700" spc="-25" dirty="0">
                <a:solidFill>
                  <a:srgbClr val="000000"/>
                </a:solidFill>
                <a:latin typeface="Times New Roman"/>
                <a:cs typeface="Times New Roman"/>
              </a:rPr>
              <a:t>a</a:t>
            </a:r>
            <a:r>
              <a:rPr sz="1700" spc="-5" dirty="0">
                <a:solidFill>
                  <a:srgbClr val="000000"/>
                </a:solidFill>
                <a:latin typeface="Times New Roman"/>
                <a:cs typeface="Times New Roman"/>
              </a:rPr>
              <a:t> </a:t>
            </a:r>
            <a:r>
              <a:rPr sz="1700" spc="-114" dirty="0">
                <a:solidFill>
                  <a:srgbClr val="000000"/>
                </a:solidFill>
                <a:latin typeface="Times New Roman"/>
                <a:cs typeface="Times New Roman"/>
              </a:rPr>
              <a:t>=</a:t>
            </a:r>
            <a:r>
              <a:rPr sz="1700" spc="5" dirty="0">
                <a:solidFill>
                  <a:srgbClr val="000000"/>
                </a:solidFill>
                <a:latin typeface="Times New Roman"/>
                <a:cs typeface="Times New Roman"/>
              </a:rPr>
              <a:t> </a:t>
            </a:r>
            <a:r>
              <a:rPr sz="1700" spc="-15" dirty="0">
                <a:solidFill>
                  <a:srgbClr val="000000"/>
                </a:solidFill>
                <a:latin typeface="Times New Roman"/>
                <a:cs typeface="Times New Roman"/>
              </a:rPr>
              <a:t>4</a:t>
            </a:r>
            <a:r>
              <a:rPr sz="1700" spc="-60" dirty="0">
                <a:solidFill>
                  <a:srgbClr val="000000"/>
                </a:solidFill>
                <a:latin typeface="Times New Roman"/>
                <a:cs typeface="Times New Roman"/>
              </a:rPr>
              <a:t>;  </a:t>
            </a:r>
            <a:r>
              <a:rPr sz="1700" spc="-80" dirty="0">
                <a:solidFill>
                  <a:srgbClr val="000000"/>
                </a:solidFill>
                <a:latin typeface="Times New Roman"/>
                <a:cs typeface="Times New Roman"/>
              </a:rPr>
              <a:t>i</a:t>
            </a:r>
            <a:r>
              <a:rPr sz="1700" spc="20" dirty="0">
                <a:solidFill>
                  <a:srgbClr val="000000"/>
                </a:solidFill>
                <a:latin typeface="Times New Roman"/>
                <a:cs typeface="Times New Roman"/>
              </a:rPr>
              <a:t>n</a:t>
            </a:r>
            <a:r>
              <a:rPr sz="1700" spc="-30" dirty="0">
                <a:solidFill>
                  <a:srgbClr val="000000"/>
                </a:solidFill>
                <a:latin typeface="Times New Roman"/>
                <a:cs typeface="Times New Roman"/>
              </a:rPr>
              <a:t>t</a:t>
            </a:r>
            <a:r>
              <a:rPr sz="1700" dirty="0">
                <a:solidFill>
                  <a:srgbClr val="000000"/>
                </a:solidFill>
                <a:latin typeface="Times New Roman"/>
                <a:cs typeface="Times New Roman"/>
              </a:rPr>
              <a:t> </a:t>
            </a:r>
            <a:r>
              <a:rPr sz="1700" spc="30" dirty="0">
                <a:solidFill>
                  <a:srgbClr val="000000"/>
                </a:solidFill>
                <a:latin typeface="Times New Roman"/>
                <a:cs typeface="Times New Roman"/>
              </a:rPr>
              <a:t>b</a:t>
            </a:r>
            <a:r>
              <a:rPr sz="1700" spc="5" dirty="0">
                <a:solidFill>
                  <a:srgbClr val="000000"/>
                </a:solidFill>
                <a:latin typeface="Times New Roman"/>
                <a:cs typeface="Times New Roman"/>
              </a:rPr>
              <a:t> </a:t>
            </a:r>
            <a:r>
              <a:rPr sz="1700" spc="-114" dirty="0">
                <a:solidFill>
                  <a:srgbClr val="000000"/>
                </a:solidFill>
                <a:latin typeface="Times New Roman"/>
                <a:cs typeface="Times New Roman"/>
              </a:rPr>
              <a:t>=</a:t>
            </a:r>
            <a:r>
              <a:rPr sz="1700" spc="-35" dirty="0">
                <a:solidFill>
                  <a:srgbClr val="000000"/>
                </a:solidFill>
                <a:latin typeface="Times New Roman"/>
                <a:cs typeface="Times New Roman"/>
              </a:rPr>
              <a:t> </a:t>
            </a:r>
            <a:r>
              <a:rPr sz="1700" spc="-15" dirty="0">
                <a:solidFill>
                  <a:srgbClr val="000000"/>
                </a:solidFill>
                <a:latin typeface="Times New Roman"/>
                <a:cs typeface="Times New Roman"/>
              </a:rPr>
              <a:t>1</a:t>
            </a:r>
            <a:r>
              <a:rPr sz="1700" spc="-65" dirty="0">
                <a:solidFill>
                  <a:srgbClr val="000000"/>
                </a:solidFill>
                <a:latin typeface="Times New Roman"/>
                <a:cs typeface="Times New Roman"/>
              </a:rPr>
              <a:t>;</a:t>
            </a:r>
            <a:endParaRPr sz="1700">
              <a:latin typeface="Times New Roman"/>
              <a:cs typeface="Times New Roman"/>
            </a:endParaRPr>
          </a:p>
          <a:p>
            <a:pPr marL="12700">
              <a:lnSpc>
                <a:spcPct val="100000"/>
              </a:lnSpc>
              <a:spcBef>
                <a:spcPts val="400"/>
              </a:spcBef>
            </a:pPr>
            <a:r>
              <a:rPr sz="1700" dirty="0">
                <a:solidFill>
                  <a:srgbClr val="000000"/>
                </a:solidFill>
                <a:latin typeface="Times New Roman"/>
                <a:cs typeface="Times New Roman"/>
              </a:rPr>
              <a:t>boolean</a:t>
            </a:r>
            <a:r>
              <a:rPr sz="1700" spc="35" dirty="0">
                <a:solidFill>
                  <a:srgbClr val="000000"/>
                </a:solidFill>
                <a:latin typeface="Times New Roman"/>
                <a:cs typeface="Times New Roman"/>
              </a:rPr>
              <a:t> </a:t>
            </a:r>
            <a:r>
              <a:rPr sz="1700" spc="-40" dirty="0">
                <a:solidFill>
                  <a:srgbClr val="000000"/>
                </a:solidFill>
                <a:latin typeface="Times New Roman"/>
                <a:cs typeface="Times New Roman"/>
              </a:rPr>
              <a:t>c</a:t>
            </a:r>
            <a:r>
              <a:rPr sz="1700" spc="-25" dirty="0">
                <a:solidFill>
                  <a:srgbClr val="000000"/>
                </a:solidFill>
                <a:latin typeface="Times New Roman"/>
                <a:cs typeface="Times New Roman"/>
              </a:rPr>
              <a:t> </a:t>
            </a:r>
            <a:r>
              <a:rPr sz="1700" spc="-114" dirty="0">
                <a:solidFill>
                  <a:srgbClr val="000000"/>
                </a:solidFill>
                <a:latin typeface="Times New Roman"/>
                <a:cs typeface="Times New Roman"/>
              </a:rPr>
              <a:t>=</a:t>
            </a:r>
            <a:r>
              <a:rPr sz="1700" spc="5" dirty="0">
                <a:solidFill>
                  <a:srgbClr val="000000"/>
                </a:solidFill>
                <a:latin typeface="Times New Roman"/>
                <a:cs typeface="Times New Roman"/>
              </a:rPr>
              <a:t> </a:t>
            </a:r>
            <a:r>
              <a:rPr sz="1700" spc="-25" dirty="0">
                <a:solidFill>
                  <a:srgbClr val="000000"/>
                </a:solidFill>
                <a:latin typeface="Times New Roman"/>
                <a:cs typeface="Times New Roman"/>
              </a:rPr>
              <a:t>a</a:t>
            </a:r>
            <a:r>
              <a:rPr sz="1700" spc="-5" dirty="0">
                <a:solidFill>
                  <a:srgbClr val="000000"/>
                </a:solidFill>
                <a:latin typeface="Times New Roman"/>
                <a:cs typeface="Times New Roman"/>
              </a:rPr>
              <a:t> </a:t>
            </a:r>
            <a:r>
              <a:rPr sz="1700" spc="-114" dirty="0">
                <a:solidFill>
                  <a:srgbClr val="000000"/>
                </a:solidFill>
                <a:latin typeface="Times New Roman"/>
                <a:cs typeface="Times New Roman"/>
              </a:rPr>
              <a:t>&lt;</a:t>
            </a:r>
            <a:r>
              <a:rPr sz="1700" spc="-35" dirty="0">
                <a:solidFill>
                  <a:srgbClr val="000000"/>
                </a:solidFill>
                <a:latin typeface="Times New Roman"/>
                <a:cs typeface="Times New Roman"/>
              </a:rPr>
              <a:t> </a:t>
            </a:r>
            <a:r>
              <a:rPr sz="1700" dirty="0">
                <a:solidFill>
                  <a:srgbClr val="000000"/>
                </a:solidFill>
                <a:latin typeface="Times New Roman"/>
                <a:cs typeface="Times New Roman"/>
              </a:rPr>
              <a:t>b;//c</a:t>
            </a:r>
            <a:r>
              <a:rPr sz="1700" spc="-65" dirty="0">
                <a:solidFill>
                  <a:srgbClr val="000000"/>
                </a:solidFill>
                <a:latin typeface="Times New Roman"/>
                <a:cs typeface="Times New Roman"/>
              </a:rPr>
              <a:t> </a:t>
            </a:r>
            <a:r>
              <a:rPr sz="1700" spc="-25" dirty="0">
                <a:solidFill>
                  <a:srgbClr val="000000"/>
                </a:solidFill>
                <a:latin typeface="Times New Roman"/>
                <a:cs typeface="Times New Roman"/>
              </a:rPr>
              <a:t>contains</a:t>
            </a:r>
            <a:r>
              <a:rPr sz="1700" spc="40" dirty="0">
                <a:solidFill>
                  <a:srgbClr val="000000"/>
                </a:solidFill>
                <a:latin typeface="Times New Roman"/>
                <a:cs typeface="Times New Roman"/>
              </a:rPr>
              <a:t> </a:t>
            </a:r>
            <a:r>
              <a:rPr sz="1700" spc="-50" dirty="0">
                <a:solidFill>
                  <a:srgbClr val="000000"/>
                </a:solidFill>
                <a:latin typeface="Times New Roman"/>
                <a:cs typeface="Times New Roman"/>
              </a:rPr>
              <a:t>false.</a:t>
            </a:r>
            <a:r>
              <a:rPr sz="1700" spc="30" dirty="0">
                <a:solidFill>
                  <a:srgbClr val="000000"/>
                </a:solidFill>
                <a:latin typeface="Times New Roman"/>
                <a:cs typeface="Times New Roman"/>
              </a:rPr>
              <a:t> </a:t>
            </a:r>
            <a:r>
              <a:rPr sz="1700" spc="-5" dirty="0">
                <a:solidFill>
                  <a:srgbClr val="000000"/>
                </a:solidFill>
                <a:latin typeface="Times New Roman"/>
                <a:cs typeface="Times New Roman"/>
              </a:rPr>
              <a:t>4</a:t>
            </a:r>
            <a:r>
              <a:rPr sz="1700" spc="5" dirty="0">
                <a:solidFill>
                  <a:srgbClr val="000000"/>
                </a:solidFill>
                <a:latin typeface="Times New Roman"/>
                <a:cs typeface="Times New Roman"/>
              </a:rPr>
              <a:t> </a:t>
            </a:r>
            <a:r>
              <a:rPr sz="1700" spc="-65" dirty="0">
                <a:solidFill>
                  <a:srgbClr val="000000"/>
                </a:solidFill>
                <a:latin typeface="Times New Roman"/>
                <a:cs typeface="Times New Roman"/>
              </a:rPr>
              <a:t>is</a:t>
            </a:r>
            <a:r>
              <a:rPr sz="1700" dirty="0">
                <a:solidFill>
                  <a:srgbClr val="000000"/>
                </a:solidFill>
                <a:latin typeface="Times New Roman"/>
                <a:cs typeface="Times New Roman"/>
              </a:rPr>
              <a:t> </a:t>
            </a:r>
            <a:r>
              <a:rPr sz="1700" spc="5" dirty="0">
                <a:solidFill>
                  <a:srgbClr val="000000"/>
                </a:solidFill>
                <a:latin typeface="Times New Roman"/>
                <a:cs typeface="Times New Roman"/>
              </a:rPr>
              <a:t>not</a:t>
            </a:r>
            <a:r>
              <a:rPr sz="1700" dirty="0">
                <a:solidFill>
                  <a:srgbClr val="000000"/>
                </a:solidFill>
                <a:latin typeface="Times New Roman"/>
                <a:cs typeface="Times New Roman"/>
              </a:rPr>
              <a:t> </a:t>
            </a:r>
            <a:r>
              <a:rPr sz="1700" spc="-50" dirty="0">
                <a:solidFill>
                  <a:srgbClr val="000000"/>
                </a:solidFill>
                <a:latin typeface="Times New Roman"/>
                <a:cs typeface="Times New Roman"/>
              </a:rPr>
              <a:t>less</a:t>
            </a:r>
            <a:r>
              <a:rPr sz="1700" dirty="0">
                <a:solidFill>
                  <a:srgbClr val="000000"/>
                </a:solidFill>
                <a:latin typeface="Times New Roman"/>
                <a:cs typeface="Times New Roman"/>
              </a:rPr>
              <a:t> </a:t>
            </a:r>
            <a:r>
              <a:rPr sz="1700" spc="5" dirty="0">
                <a:solidFill>
                  <a:srgbClr val="000000"/>
                </a:solidFill>
                <a:latin typeface="Times New Roman"/>
                <a:cs typeface="Times New Roman"/>
              </a:rPr>
              <a:t>than</a:t>
            </a:r>
            <a:r>
              <a:rPr sz="1700" spc="-5" dirty="0">
                <a:solidFill>
                  <a:srgbClr val="000000"/>
                </a:solidFill>
                <a:latin typeface="Times New Roman"/>
                <a:cs typeface="Times New Roman"/>
              </a:rPr>
              <a:t> 1</a:t>
            </a:r>
            <a:endParaRPr sz="1700">
              <a:latin typeface="Times New Roman"/>
              <a:cs typeface="Times New Roman"/>
            </a:endParaRPr>
          </a:p>
        </p:txBody>
      </p:sp>
      <p:sp>
        <p:nvSpPr>
          <p:cNvPr id="4" name="object 4"/>
          <p:cNvSpPr txBox="1"/>
          <p:nvPr/>
        </p:nvSpPr>
        <p:spPr>
          <a:xfrm>
            <a:off x="364664" y="2152451"/>
            <a:ext cx="4979035" cy="1252009"/>
          </a:xfrm>
          <a:prstGeom prst="rect">
            <a:avLst/>
          </a:prstGeom>
        </p:spPr>
        <p:txBody>
          <a:bodyPr vert="horz" wrap="square" lIns="0" tIns="12065" rIns="0" bIns="0" rtlCol="0">
            <a:spAutoFit/>
          </a:bodyPr>
          <a:lstStyle/>
          <a:p>
            <a:pPr marL="12700" marR="5080">
              <a:lnSpc>
                <a:spcPct val="119400"/>
              </a:lnSpc>
              <a:spcBef>
                <a:spcPts val="95"/>
              </a:spcBef>
            </a:pPr>
            <a:r>
              <a:rPr sz="1700" dirty="0">
                <a:latin typeface="Arial MT"/>
                <a:cs typeface="Arial MT"/>
              </a:rPr>
              <a:t>Here</a:t>
            </a:r>
            <a:r>
              <a:rPr sz="1700" spc="-30" dirty="0">
                <a:latin typeface="Arial MT"/>
                <a:cs typeface="Arial MT"/>
              </a:rPr>
              <a:t> </a:t>
            </a:r>
            <a:r>
              <a:rPr sz="1700" spc="5" dirty="0">
                <a:latin typeface="Arial MT"/>
                <a:cs typeface="Arial MT"/>
              </a:rPr>
              <a:t>the</a:t>
            </a:r>
            <a:r>
              <a:rPr sz="1700" spc="-30" dirty="0">
                <a:latin typeface="Arial MT"/>
                <a:cs typeface="Arial MT"/>
              </a:rPr>
              <a:t> </a:t>
            </a:r>
            <a:r>
              <a:rPr sz="1700" spc="5" dirty="0">
                <a:latin typeface="Arial MT"/>
                <a:cs typeface="Arial MT"/>
              </a:rPr>
              <a:t>result</a:t>
            </a:r>
            <a:r>
              <a:rPr sz="1700" spc="-70" dirty="0">
                <a:latin typeface="Arial MT"/>
                <a:cs typeface="Arial MT"/>
              </a:rPr>
              <a:t> </a:t>
            </a:r>
            <a:r>
              <a:rPr sz="1700" spc="5" dirty="0">
                <a:latin typeface="Arial MT"/>
                <a:cs typeface="Arial MT"/>
              </a:rPr>
              <a:t>of</a:t>
            </a:r>
            <a:r>
              <a:rPr sz="1700" spc="-10" dirty="0">
                <a:latin typeface="Arial MT"/>
                <a:cs typeface="Arial MT"/>
              </a:rPr>
              <a:t> </a:t>
            </a:r>
            <a:r>
              <a:rPr sz="1700" b="1" spc="5" dirty="0">
                <a:latin typeface="Arial"/>
                <a:cs typeface="Arial"/>
              </a:rPr>
              <a:t>a&lt;b</a:t>
            </a:r>
            <a:r>
              <a:rPr sz="1700" b="1" spc="-10" dirty="0">
                <a:latin typeface="Arial"/>
                <a:cs typeface="Arial"/>
              </a:rPr>
              <a:t> </a:t>
            </a:r>
            <a:r>
              <a:rPr sz="1700" b="1" spc="-5" dirty="0">
                <a:latin typeface="Arial"/>
                <a:cs typeface="Arial"/>
              </a:rPr>
              <a:t>(</a:t>
            </a:r>
            <a:r>
              <a:rPr sz="1700" spc="-5" dirty="0">
                <a:latin typeface="Arial MT"/>
                <a:cs typeface="Arial MT"/>
              </a:rPr>
              <a:t>which</a:t>
            </a:r>
            <a:r>
              <a:rPr sz="1700" spc="5" dirty="0">
                <a:latin typeface="Arial MT"/>
                <a:cs typeface="Arial MT"/>
              </a:rPr>
              <a:t> </a:t>
            </a:r>
            <a:r>
              <a:rPr sz="1700" spc="10" dirty="0">
                <a:latin typeface="Arial MT"/>
                <a:cs typeface="Arial MT"/>
              </a:rPr>
              <a:t>is</a:t>
            </a:r>
            <a:r>
              <a:rPr sz="1700" spc="-5" dirty="0">
                <a:latin typeface="Arial MT"/>
                <a:cs typeface="Arial MT"/>
              </a:rPr>
              <a:t> </a:t>
            </a:r>
            <a:r>
              <a:rPr sz="1700" b="1" dirty="0">
                <a:latin typeface="Arial"/>
                <a:cs typeface="Arial"/>
              </a:rPr>
              <a:t>false)</a:t>
            </a:r>
            <a:r>
              <a:rPr sz="1700" b="1" spc="-35" dirty="0">
                <a:latin typeface="Arial"/>
                <a:cs typeface="Arial"/>
              </a:rPr>
              <a:t> </a:t>
            </a:r>
            <a:r>
              <a:rPr sz="1700" spc="10" dirty="0">
                <a:latin typeface="Arial MT"/>
                <a:cs typeface="Arial MT"/>
              </a:rPr>
              <a:t>is</a:t>
            </a:r>
            <a:r>
              <a:rPr sz="1700" spc="-55" dirty="0">
                <a:latin typeface="Arial MT"/>
                <a:cs typeface="Arial MT"/>
              </a:rPr>
              <a:t> </a:t>
            </a:r>
            <a:r>
              <a:rPr sz="1700" spc="5" dirty="0">
                <a:latin typeface="Arial MT"/>
                <a:cs typeface="Arial MT"/>
              </a:rPr>
              <a:t>stored</a:t>
            </a:r>
            <a:r>
              <a:rPr sz="1700" spc="-70" dirty="0">
                <a:latin typeface="Arial MT"/>
                <a:cs typeface="Arial MT"/>
              </a:rPr>
              <a:t> </a:t>
            </a:r>
            <a:r>
              <a:rPr sz="1700" spc="10" dirty="0">
                <a:latin typeface="Arial MT"/>
                <a:cs typeface="Arial MT"/>
              </a:rPr>
              <a:t>in</a:t>
            </a:r>
            <a:r>
              <a:rPr sz="1700" spc="-30" dirty="0">
                <a:latin typeface="Arial MT"/>
                <a:cs typeface="Arial MT"/>
              </a:rPr>
              <a:t> </a:t>
            </a:r>
            <a:r>
              <a:rPr sz="1700" spc="10" dirty="0">
                <a:latin typeface="Arial MT"/>
                <a:cs typeface="Arial MT"/>
              </a:rPr>
              <a:t>c. </a:t>
            </a:r>
            <a:r>
              <a:rPr sz="1700" spc="-455" dirty="0">
                <a:latin typeface="Arial MT"/>
                <a:cs typeface="Arial MT"/>
              </a:rPr>
              <a:t> </a:t>
            </a:r>
            <a:r>
              <a:rPr sz="1700" spc="5" dirty="0">
                <a:latin typeface="Arial MT"/>
                <a:cs typeface="Arial MT"/>
              </a:rPr>
              <a:t>E.g.</a:t>
            </a:r>
            <a:endParaRPr sz="1700" dirty="0">
              <a:latin typeface="Arial MT"/>
              <a:cs typeface="Arial MT"/>
            </a:endParaRPr>
          </a:p>
          <a:p>
            <a:pPr marL="12700">
              <a:lnSpc>
                <a:spcPct val="100000"/>
              </a:lnSpc>
              <a:spcBef>
                <a:spcPts val="359"/>
              </a:spcBef>
            </a:pPr>
            <a:r>
              <a:rPr sz="1700" spc="-30" dirty="0">
                <a:latin typeface="Times New Roman"/>
                <a:cs typeface="Times New Roman"/>
              </a:rPr>
              <a:t>int</a:t>
            </a:r>
            <a:r>
              <a:rPr sz="1700" spc="-40" dirty="0">
                <a:latin typeface="Times New Roman"/>
                <a:cs typeface="Times New Roman"/>
              </a:rPr>
              <a:t> </a:t>
            </a:r>
            <a:r>
              <a:rPr sz="1700" spc="10" dirty="0">
                <a:latin typeface="Times New Roman"/>
                <a:cs typeface="Times New Roman"/>
              </a:rPr>
              <a:t>done;</a:t>
            </a:r>
            <a:endParaRPr sz="1700" dirty="0">
              <a:latin typeface="Times New Roman"/>
              <a:cs typeface="Times New Roman"/>
            </a:endParaRPr>
          </a:p>
          <a:p>
            <a:pPr marL="12700" marR="2046605">
              <a:lnSpc>
                <a:spcPts val="2480"/>
              </a:lnSpc>
              <a:spcBef>
                <a:spcPts val="55"/>
              </a:spcBef>
            </a:pPr>
            <a:r>
              <a:rPr sz="1700" spc="-20" dirty="0">
                <a:latin typeface="Times New Roman"/>
                <a:cs typeface="Times New Roman"/>
              </a:rPr>
              <a:t>if(done) </a:t>
            </a:r>
            <a:r>
              <a:rPr sz="1700" spc="-25" dirty="0">
                <a:latin typeface="Times New Roman"/>
                <a:cs typeface="Times New Roman"/>
              </a:rPr>
              <a:t>...</a:t>
            </a:r>
            <a:r>
              <a:rPr sz="1700" spc="25" dirty="0">
                <a:latin typeface="Times New Roman"/>
                <a:cs typeface="Times New Roman"/>
              </a:rPr>
              <a:t> </a:t>
            </a:r>
            <a:r>
              <a:rPr sz="1700" spc="35" dirty="0">
                <a:latin typeface="Times New Roman"/>
                <a:cs typeface="Times New Roman"/>
              </a:rPr>
              <a:t>//</a:t>
            </a:r>
            <a:r>
              <a:rPr sz="1700" spc="-20" dirty="0">
                <a:latin typeface="Times New Roman"/>
                <a:cs typeface="Times New Roman"/>
              </a:rPr>
              <a:t> </a:t>
            </a:r>
            <a:r>
              <a:rPr sz="1700" spc="5" dirty="0">
                <a:latin typeface="Times New Roman"/>
                <a:cs typeface="Times New Roman"/>
              </a:rPr>
              <a:t>but</a:t>
            </a:r>
            <a:r>
              <a:rPr sz="1700" spc="-25" dirty="0">
                <a:latin typeface="Times New Roman"/>
                <a:cs typeface="Times New Roman"/>
              </a:rPr>
              <a:t> </a:t>
            </a:r>
            <a:r>
              <a:rPr sz="1700" spc="5" dirty="0">
                <a:solidFill>
                  <a:srgbClr val="C00000"/>
                </a:solidFill>
                <a:latin typeface="Times New Roman"/>
                <a:cs typeface="Times New Roman"/>
              </a:rPr>
              <a:t>not</a:t>
            </a:r>
            <a:r>
              <a:rPr sz="1700" spc="-5" dirty="0">
                <a:solidFill>
                  <a:srgbClr val="C00000"/>
                </a:solidFill>
                <a:latin typeface="Times New Roman"/>
                <a:cs typeface="Times New Roman"/>
              </a:rPr>
              <a:t> </a:t>
            </a:r>
            <a:r>
              <a:rPr sz="1700" spc="-60" dirty="0">
                <a:solidFill>
                  <a:srgbClr val="C00000"/>
                </a:solidFill>
                <a:latin typeface="Times New Roman"/>
                <a:cs typeface="Times New Roman"/>
              </a:rPr>
              <a:t>valid</a:t>
            </a:r>
            <a:r>
              <a:rPr sz="1700" spc="55" dirty="0">
                <a:solidFill>
                  <a:srgbClr val="C00000"/>
                </a:solidFill>
                <a:latin typeface="Times New Roman"/>
                <a:cs typeface="Times New Roman"/>
              </a:rPr>
              <a:t> </a:t>
            </a:r>
            <a:r>
              <a:rPr sz="1700" spc="-20" dirty="0">
                <a:solidFill>
                  <a:srgbClr val="C00000"/>
                </a:solidFill>
                <a:latin typeface="Times New Roman"/>
                <a:cs typeface="Times New Roman"/>
              </a:rPr>
              <a:t>in</a:t>
            </a:r>
            <a:r>
              <a:rPr sz="1700" spc="-10" dirty="0">
                <a:solidFill>
                  <a:srgbClr val="C00000"/>
                </a:solidFill>
                <a:latin typeface="Times New Roman"/>
                <a:cs typeface="Times New Roman"/>
              </a:rPr>
              <a:t> </a:t>
            </a:r>
            <a:r>
              <a:rPr sz="1700" spc="-65" dirty="0">
                <a:solidFill>
                  <a:srgbClr val="C00000"/>
                </a:solidFill>
                <a:latin typeface="Times New Roman"/>
                <a:cs typeface="Times New Roman"/>
              </a:rPr>
              <a:t>Java.</a:t>
            </a:r>
            <a:endParaRPr sz="1700" dirty="0">
              <a:latin typeface="Times New Roman"/>
              <a:cs typeface="Times New Roman"/>
            </a:endParaRPr>
          </a:p>
        </p:txBody>
      </p:sp>
      <p:grpSp>
        <p:nvGrpSpPr>
          <p:cNvPr id="6" name="object 6"/>
          <p:cNvGrpSpPr/>
          <p:nvPr/>
        </p:nvGrpSpPr>
        <p:grpSpPr>
          <a:xfrm>
            <a:off x="-1387" y="628242"/>
            <a:ext cx="6498590" cy="3660140"/>
            <a:chOff x="-1387" y="628242"/>
            <a:chExt cx="6498590" cy="3660140"/>
          </a:xfrm>
        </p:grpSpPr>
        <p:pic>
          <p:nvPicPr>
            <p:cNvPr id="7" name="object 7"/>
            <p:cNvPicPr/>
            <p:nvPr/>
          </p:nvPicPr>
          <p:blipFill>
            <a:blip r:embed="rId3" cstate="print"/>
            <a:stretch>
              <a:fillRect/>
            </a:stretch>
          </p:blipFill>
          <p:spPr>
            <a:xfrm>
              <a:off x="3029693" y="1218082"/>
              <a:ext cx="2341488" cy="683390"/>
            </a:xfrm>
            <a:prstGeom prst="rect">
              <a:avLst/>
            </a:prstGeom>
          </p:spPr>
        </p:pic>
        <p:sp>
          <p:nvSpPr>
            <p:cNvPr id="8" name="object 8"/>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176167"/>
            <a:ext cx="6487240" cy="684201"/>
          </a:xfrm>
          <a:prstGeom prst="rect">
            <a:avLst/>
          </a:prstGeom>
        </p:spPr>
      </p:pic>
      <p:sp>
        <p:nvSpPr>
          <p:cNvPr id="3" name="object 3"/>
          <p:cNvSpPr txBox="1"/>
          <p:nvPr/>
        </p:nvSpPr>
        <p:spPr>
          <a:xfrm>
            <a:off x="364664" y="803538"/>
            <a:ext cx="5465445" cy="810260"/>
          </a:xfrm>
          <a:prstGeom prst="rect">
            <a:avLst/>
          </a:prstGeom>
        </p:spPr>
        <p:txBody>
          <a:bodyPr vert="horz" wrap="square" lIns="0" tIns="12700" rIns="0" bIns="0" rtlCol="0">
            <a:spAutoFit/>
          </a:bodyPr>
          <a:lstStyle/>
          <a:p>
            <a:pPr marL="194945" marR="5080" indent="-182880" algn="just">
              <a:lnSpc>
                <a:spcPct val="100899"/>
              </a:lnSpc>
              <a:spcBef>
                <a:spcPts val="100"/>
              </a:spcBef>
              <a:buChar char="•"/>
              <a:tabLst>
                <a:tab pos="195580" algn="l"/>
              </a:tabLst>
            </a:pPr>
            <a:r>
              <a:rPr sz="1700" dirty="0">
                <a:latin typeface="Arial MT"/>
                <a:cs typeface="Arial MT"/>
              </a:rPr>
              <a:t>The</a:t>
            </a:r>
            <a:r>
              <a:rPr sz="1700" spc="-30" dirty="0">
                <a:latin typeface="Arial MT"/>
                <a:cs typeface="Arial MT"/>
              </a:rPr>
              <a:t> </a:t>
            </a:r>
            <a:r>
              <a:rPr sz="1700" spc="10" dirty="0">
                <a:latin typeface="Arial MT"/>
                <a:cs typeface="Arial MT"/>
              </a:rPr>
              <a:t>logical</a:t>
            </a:r>
            <a:r>
              <a:rPr sz="1700" spc="-95" dirty="0">
                <a:latin typeface="Arial MT"/>
                <a:cs typeface="Arial MT"/>
              </a:rPr>
              <a:t> </a:t>
            </a:r>
            <a:r>
              <a:rPr sz="1700" spc="10" dirty="0">
                <a:latin typeface="Arial MT"/>
                <a:cs typeface="Arial MT"/>
              </a:rPr>
              <a:t>Boolean</a:t>
            </a:r>
            <a:r>
              <a:rPr sz="1700" spc="-110" dirty="0">
                <a:latin typeface="Arial MT"/>
                <a:cs typeface="Arial MT"/>
              </a:rPr>
              <a:t> </a:t>
            </a:r>
            <a:r>
              <a:rPr sz="1700" dirty="0">
                <a:latin typeface="Arial MT"/>
                <a:cs typeface="Arial MT"/>
              </a:rPr>
              <a:t>operators,</a:t>
            </a:r>
            <a:r>
              <a:rPr sz="1700" spc="-75" dirty="0">
                <a:latin typeface="Arial MT"/>
                <a:cs typeface="Arial MT"/>
              </a:rPr>
              <a:t> </a:t>
            </a:r>
            <a:r>
              <a:rPr sz="1700" b="1" spc="5" dirty="0">
                <a:latin typeface="Arial"/>
                <a:cs typeface="Arial"/>
              </a:rPr>
              <a:t>&amp;,</a:t>
            </a:r>
            <a:r>
              <a:rPr sz="1700" b="1" spc="10" dirty="0">
                <a:latin typeface="Arial"/>
                <a:cs typeface="Arial"/>
              </a:rPr>
              <a:t> </a:t>
            </a:r>
            <a:r>
              <a:rPr sz="1700" b="1" spc="5" dirty="0">
                <a:latin typeface="Arial"/>
                <a:cs typeface="Arial"/>
              </a:rPr>
              <a:t>|, </a:t>
            </a:r>
            <a:r>
              <a:rPr sz="1700" b="1" dirty="0">
                <a:latin typeface="Arial"/>
                <a:cs typeface="Arial"/>
              </a:rPr>
              <a:t>and</a:t>
            </a:r>
            <a:r>
              <a:rPr sz="1700" b="1" spc="-45" dirty="0">
                <a:latin typeface="Arial"/>
                <a:cs typeface="Arial"/>
              </a:rPr>
              <a:t> </a:t>
            </a:r>
            <a:r>
              <a:rPr sz="1700" b="1" dirty="0">
                <a:latin typeface="Arial"/>
                <a:cs typeface="Arial"/>
              </a:rPr>
              <a:t>^,</a:t>
            </a:r>
            <a:r>
              <a:rPr sz="1700" b="1" spc="10" dirty="0">
                <a:latin typeface="Arial"/>
                <a:cs typeface="Arial"/>
              </a:rPr>
              <a:t> </a:t>
            </a:r>
            <a:r>
              <a:rPr sz="1700" b="1" dirty="0">
                <a:latin typeface="Arial"/>
                <a:cs typeface="Arial"/>
              </a:rPr>
              <a:t>operate</a:t>
            </a:r>
            <a:r>
              <a:rPr sz="1700" b="1" spc="-75" dirty="0">
                <a:latin typeface="Arial"/>
                <a:cs typeface="Arial"/>
              </a:rPr>
              <a:t> </a:t>
            </a:r>
            <a:r>
              <a:rPr sz="1700" b="1" dirty="0">
                <a:latin typeface="Arial"/>
                <a:cs typeface="Arial"/>
              </a:rPr>
              <a:t>on </a:t>
            </a:r>
            <a:r>
              <a:rPr sz="1700" b="1" spc="-459" dirty="0">
                <a:latin typeface="Arial"/>
                <a:cs typeface="Arial"/>
              </a:rPr>
              <a:t> </a:t>
            </a:r>
            <a:r>
              <a:rPr sz="1700" b="1" dirty="0">
                <a:latin typeface="Arial"/>
                <a:cs typeface="Arial"/>
              </a:rPr>
              <a:t>boolean</a:t>
            </a:r>
            <a:r>
              <a:rPr sz="1700" b="1" spc="-45" dirty="0">
                <a:latin typeface="Arial"/>
                <a:cs typeface="Arial"/>
              </a:rPr>
              <a:t> </a:t>
            </a:r>
            <a:r>
              <a:rPr sz="1700" b="1" spc="-5" dirty="0">
                <a:latin typeface="Arial"/>
                <a:cs typeface="Arial"/>
              </a:rPr>
              <a:t>values</a:t>
            </a:r>
            <a:r>
              <a:rPr sz="1700" b="1" spc="-25" dirty="0">
                <a:latin typeface="Arial"/>
                <a:cs typeface="Arial"/>
              </a:rPr>
              <a:t> </a:t>
            </a:r>
            <a:r>
              <a:rPr sz="1700" b="1" spc="5" dirty="0">
                <a:latin typeface="Arial"/>
                <a:cs typeface="Arial"/>
              </a:rPr>
              <a:t>in</a:t>
            </a:r>
            <a:r>
              <a:rPr sz="1700" b="1" spc="-5" dirty="0">
                <a:latin typeface="Arial"/>
                <a:cs typeface="Arial"/>
              </a:rPr>
              <a:t> the</a:t>
            </a:r>
            <a:r>
              <a:rPr sz="1700" b="1" spc="10" dirty="0">
                <a:latin typeface="Arial"/>
                <a:cs typeface="Arial"/>
              </a:rPr>
              <a:t> </a:t>
            </a:r>
            <a:r>
              <a:rPr sz="1700" b="1" spc="5" dirty="0">
                <a:latin typeface="Arial"/>
                <a:cs typeface="Arial"/>
              </a:rPr>
              <a:t>same</a:t>
            </a:r>
            <a:r>
              <a:rPr sz="1700" b="1" spc="-75" dirty="0">
                <a:latin typeface="Arial"/>
                <a:cs typeface="Arial"/>
              </a:rPr>
              <a:t> </a:t>
            </a:r>
            <a:r>
              <a:rPr sz="1700" b="1" spc="25" dirty="0">
                <a:latin typeface="Arial"/>
                <a:cs typeface="Arial"/>
              </a:rPr>
              <a:t>way</a:t>
            </a:r>
            <a:r>
              <a:rPr sz="1700" b="1" spc="-40" dirty="0">
                <a:latin typeface="Arial"/>
                <a:cs typeface="Arial"/>
              </a:rPr>
              <a:t> </a:t>
            </a:r>
            <a:r>
              <a:rPr sz="1700" spc="5" dirty="0">
                <a:latin typeface="Arial MT"/>
                <a:cs typeface="Arial MT"/>
              </a:rPr>
              <a:t>that</a:t>
            </a:r>
            <a:r>
              <a:rPr sz="1700" spc="-25" dirty="0">
                <a:latin typeface="Arial MT"/>
                <a:cs typeface="Arial MT"/>
              </a:rPr>
              <a:t> </a:t>
            </a:r>
            <a:r>
              <a:rPr sz="1700" spc="5" dirty="0">
                <a:latin typeface="Arial MT"/>
                <a:cs typeface="Arial MT"/>
              </a:rPr>
              <a:t>they</a:t>
            </a:r>
            <a:r>
              <a:rPr sz="1700" spc="-55" dirty="0">
                <a:latin typeface="Arial MT"/>
                <a:cs typeface="Arial MT"/>
              </a:rPr>
              <a:t> </a:t>
            </a:r>
            <a:r>
              <a:rPr sz="1700" dirty="0">
                <a:latin typeface="Arial MT"/>
                <a:cs typeface="Arial MT"/>
              </a:rPr>
              <a:t>operate</a:t>
            </a:r>
            <a:r>
              <a:rPr sz="1700" spc="-65" dirty="0">
                <a:latin typeface="Arial MT"/>
                <a:cs typeface="Arial MT"/>
              </a:rPr>
              <a:t> </a:t>
            </a:r>
            <a:r>
              <a:rPr sz="1700" spc="5" dirty="0">
                <a:latin typeface="Arial MT"/>
                <a:cs typeface="Arial MT"/>
              </a:rPr>
              <a:t>on </a:t>
            </a:r>
            <a:r>
              <a:rPr sz="1700" spc="-465" dirty="0">
                <a:latin typeface="Arial MT"/>
                <a:cs typeface="Arial MT"/>
              </a:rPr>
              <a:t> </a:t>
            </a:r>
            <a:r>
              <a:rPr sz="1700" spc="5" dirty="0">
                <a:latin typeface="Arial MT"/>
                <a:cs typeface="Arial MT"/>
              </a:rPr>
              <a:t>the</a:t>
            </a:r>
            <a:r>
              <a:rPr sz="1700" spc="-35" dirty="0">
                <a:latin typeface="Arial MT"/>
                <a:cs typeface="Arial MT"/>
              </a:rPr>
              <a:t> </a:t>
            </a:r>
            <a:r>
              <a:rPr sz="1700" spc="5" dirty="0">
                <a:latin typeface="Arial MT"/>
                <a:cs typeface="Arial MT"/>
              </a:rPr>
              <a:t>bits</a:t>
            </a:r>
            <a:r>
              <a:rPr sz="1700" spc="-60" dirty="0">
                <a:latin typeface="Arial MT"/>
                <a:cs typeface="Arial MT"/>
              </a:rPr>
              <a:t> </a:t>
            </a:r>
            <a:r>
              <a:rPr sz="1700" spc="5" dirty="0">
                <a:latin typeface="Arial MT"/>
                <a:cs typeface="Arial MT"/>
              </a:rPr>
              <a:t>of</a:t>
            </a:r>
            <a:r>
              <a:rPr sz="1700" spc="-35" dirty="0">
                <a:latin typeface="Arial MT"/>
                <a:cs typeface="Arial MT"/>
              </a:rPr>
              <a:t> </a:t>
            </a:r>
            <a:r>
              <a:rPr sz="1700" spc="5" dirty="0">
                <a:latin typeface="Arial MT"/>
                <a:cs typeface="Arial MT"/>
              </a:rPr>
              <a:t>an integer.</a:t>
            </a:r>
            <a:endParaRPr sz="1700">
              <a:latin typeface="Arial MT"/>
              <a:cs typeface="Arial MT"/>
            </a:endParaRPr>
          </a:p>
        </p:txBody>
      </p:sp>
      <p:grpSp>
        <p:nvGrpSpPr>
          <p:cNvPr id="5" name="object 5"/>
          <p:cNvGrpSpPr/>
          <p:nvPr/>
        </p:nvGrpSpPr>
        <p:grpSpPr>
          <a:xfrm>
            <a:off x="-1387" y="170827"/>
            <a:ext cx="6498590" cy="3660140"/>
            <a:chOff x="-1387" y="170827"/>
            <a:chExt cx="6498590" cy="3660140"/>
          </a:xfrm>
        </p:grpSpPr>
        <p:pic>
          <p:nvPicPr>
            <p:cNvPr id="6" name="object 6"/>
            <p:cNvPicPr/>
            <p:nvPr/>
          </p:nvPicPr>
          <p:blipFill>
            <a:blip r:embed="rId3" cstate="print"/>
            <a:stretch>
              <a:fillRect/>
            </a:stretch>
          </p:blipFill>
          <p:spPr>
            <a:xfrm>
              <a:off x="48751" y="1914882"/>
              <a:ext cx="6442501" cy="1190848"/>
            </a:xfrm>
            <a:prstGeom prst="rect">
              <a:avLst/>
            </a:prstGeom>
          </p:spPr>
        </p:pic>
        <p:sp>
          <p:nvSpPr>
            <p:cNvPr id="7" name="object 7"/>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a:spLocks noGrp="1"/>
          </p:cNvSpPr>
          <p:nvPr>
            <p:ph type="title"/>
          </p:nvPr>
        </p:nvSpPr>
        <p:spPr>
          <a:xfrm>
            <a:off x="2071087" y="726272"/>
            <a:ext cx="2246913" cy="318135"/>
          </a:xfrm>
          <a:prstGeom prst="rect">
            <a:avLst/>
          </a:prstGeom>
        </p:spPr>
        <p:txBody>
          <a:bodyPr vert="horz" wrap="square" lIns="0" tIns="14604" rIns="0" bIns="0" rtlCol="0">
            <a:spAutoFit/>
          </a:bodyPr>
          <a:lstStyle/>
          <a:p>
            <a:pPr marL="12700">
              <a:lnSpc>
                <a:spcPct val="100000"/>
              </a:lnSpc>
              <a:spcBef>
                <a:spcPts val="114"/>
              </a:spcBef>
            </a:pPr>
            <a:r>
              <a:rPr dirty="0">
                <a:solidFill>
                  <a:schemeClr val="tx1"/>
                </a:solidFill>
              </a:rPr>
              <a:t>Relational</a:t>
            </a:r>
            <a:r>
              <a:rPr spc="-20" dirty="0">
                <a:solidFill>
                  <a:schemeClr val="tx1"/>
                </a:solidFill>
              </a:rPr>
              <a:t> </a:t>
            </a:r>
            <a:r>
              <a:rPr spc="5" dirty="0">
                <a:solidFill>
                  <a:schemeClr val="tx1"/>
                </a:solidFill>
              </a:rPr>
              <a:t>operators</a:t>
            </a:r>
          </a:p>
        </p:txBody>
      </p:sp>
      <p:grpSp>
        <p:nvGrpSpPr>
          <p:cNvPr id="5" name="object 5"/>
          <p:cNvGrpSpPr/>
          <p:nvPr/>
        </p:nvGrpSpPr>
        <p:grpSpPr>
          <a:xfrm>
            <a:off x="-1387" y="628242"/>
            <a:ext cx="6498590" cy="3660140"/>
            <a:chOff x="-1387" y="628242"/>
            <a:chExt cx="6498590" cy="3660140"/>
          </a:xfrm>
        </p:grpSpPr>
        <p:pic>
          <p:nvPicPr>
            <p:cNvPr id="6" name="object 6"/>
            <p:cNvPicPr/>
            <p:nvPr/>
          </p:nvPicPr>
          <p:blipFill>
            <a:blip r:embed="rId3" cstate="print"/>
            <a:stretch>
              <a:fillRect/>
            </a:stretch>
          </p:blipFill>
          <p:spPr>
            <a:xfrm>
              <a:off x="901075" y="1512919"/>
              <a:ext cx="4425384" cy="2283168"/>
            </a:xfrm>
            <a:prstGeom prst="rect">
              <a:avLst/>
            </a:prstGeom>
          </p:spPr>
        </p:pic>
        <p:sp>
          <p:nvSpPr>
            <p:cNvPr id="7" name="object 7"/>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08200" y="268881"/>
            <a:ext cx="2325370" cy="318135"/>
          </a:xfrm>
          <a:prstGeom prst="rect">
            <a:avLst/>
          </a:prstGeom>
        </p:spPr>
        <p:txBody>
          <a:bodyPr vert="horz" wrap="square" lIns="0" tIns="14604" rIns="0" bIns="0" rtlCol="0">
            <a:spAutoFit/>
          </a:bodyPr>
          <a:lstStyle/>
          <a:p>
            <a:pPr marL="12700">
              <a:lnSpc>
                <a:spcPct val="100000"/>
              </a:lnSpc>
              <a:spcBef>
                <a:spcPts val="114"/>
              </a:spcBef>
            </a:pPr>
            <a:r>
              <a:rPr spc="5" dirty="0">
                <a:solidFill>
                  <a:schemeClr val="tx1"/>
                </a:solidFill>
              </a:rPr>
              <a:t>Assignment</a:t>
            </a:r>
            <a:r>
              <a:rPr spc="-70" dirty="0">
                <a:solidFill>
                  <a:schemeClr val="tx1"/>
                </a:solidFill>
              </a:rPr>
              <a:t> </a:t>
            </a:r>
            <a:r>
              <a:rPr spc="5" dirty="0">
                <a:solidFill>
                  <a:schemeClr val="tx1"/>
                </a:solidFill>
              </a:rPr>
              <a:t>Operator</a:t>
            </a:r>
          </a:p>
        </p:txBody>
      </p:sp>
      <p:sp>
        <p:nvSpPr>
          <p:cNvPr id="3" name="object 3"/>
          <p:cNvSpPr txBox="1"/>
          <p:nvPr/>
        </p:nvSpPr>
        <p:spPr>
          <a:xfrm>
            <a:off x="364664" y="740693"/>
            <a:ext cx="5607050" cy="1852930"/>
          </a:xfrm>
          <a:prstGeom prst="rect">
            <a:avLst/>
          </a:prstGeom>
        </p:spPr>
        <p:txBody>
          <a:bodyPr vert="horz" wrap="square" lIns="0" tIns="72390" rIns="0" bIns="0" rtlCol="0">
            <a:spAutoFit/>
          </a:bodyPr>
          <a:lstStyle/>
          <a:p>
            <a:pPr marL="194945" indent="-182880">
              <a:lnSpc>
                <a:spcPct val="100000"/>
              </a:lnSpc>
              <a:spcBef>
                <a:spcPts val="570"/>
              </a:spcBef>
              <a:buChar char="•"/>
              <a:tabLst>
                <a:tab pos="195580" algn="l"/>
              </a:tabLst>
            </a:pPr>
            <a:r>
              <a:rPr sz="1700" spc="-50" dirty="0">
                <a:latin typeface="Calibri"/>
                <a:cs typeface="Calibri"/>
              </a:rPr>
              <a:t>var</a:t>
            </a:r>
            <a:r>
              <a:rPr sz="1700" spc="-10" dirty="0">
                <a:latin typeface="Calibri"/>
                <a:cs typeface="Calibri"/>
              </a:rPr>
              <a:t> </a:t>
            </a:r>
            <a:r>
              <a:rPr sz="1700" spc="-5" dirty="0">
                <a:latin typeface="Calibri"/>
                <a:cs typeface="Calibri"/>
              </a:rPr>
              <a:t>=</a:t>
            </a:r>
            <a:r>
              <a:rPr sz="1700" spc="30" dirty="0">
                <a:latin typeface="Calibri"/>
                <a:cs typeface="Calibri"/>
              </a:rPr>
              <a:t> </a:t>
            </a:r>
            <a:r>
              <a:rPr sz="1700" spc="-35" dirty="0">
                <a:latin typeface="Calibri"/>
                <a:cs typeface="Calibri"/>
              </a:rPr>
              <a:t>expression;</a:t>
            </a:r>
            <a:endParaRPr sz="1700">
              <a:latin typeface="Calibri"/>
              <a:cs typeface="Calibri"/>
            </a:endParaRPr>
          </a:p>
          <a:p>
            <a:pPr marL="194945" marR="5080" indent="-182880">
              <a:lnSpc>
                <a:spcPct val="100000"/>
              </a:lnSpc>
              <a:spcBef>
                <a:spcPts val="480"/>
              </a:spcBef>
              <a:buChar char="•"/>
              <a:tabLst>
                <a:tab pos="195580" algn="l"/>
              </a:tabLst>
            </a:pPr>
            <a:r>
              <a:rPr sz="1700" dirty="0">
                <a:latin typeface="Arial MT"/>
                <a:cs typeface="Arial MT"/>
              </a:rPr>
              <a:t>Here,</a:t>
            </a:r>
            <a:r>
              <a:rPr sz="1700" spc="-35" dirty="0">
                <a:latin typeface="Arial MT"/>
                <a:cs typeface="Arial MT"/>
              </a:rPr>
              <a:t> </a:t>
            </a:r>
            <a:r>
              <a:rPr sz="1700" spc="5" dirty="0">
                <a:latin typeface="Arial MT"/>
                <a:cs typeface="Arial MT"/>
              </a:rPr>
              <a:t>the</a:t>
            </a:r>
            <a:r>
              <a:rPr sz="1700" spc="-30" dirty="0">
                <a:latin typeface="Arial MT"/>
                <a:cs typeface="Arial MT"/>
              </a:rPr>
              <a:t> </a:t>
            </a:r>
            <a:r>
              <a:rPr sz="1700" dirty="0">
                <a:latin typeface="Arial MT"/>
                <a:cs typeface="Arial MT"/>
              </a:rPr>
              <a:t>type</a:t>
            </a:r>
            <a:r>
              <a:rPr sz="1700" spc="-35" dirty="0">
                <a:latin typeface="Arial MT"/>
                <a:cs typeface="Arial MT"/>
              </a:rPr>
              <a:t> </a:t>
            </a:r>
            <a:r>
              <a:rPr sz="1700" spc="5" dirty="0">
                <a:latin typeface="Arial MT"/>
                <a:cs typeface="Arial MT"/>
              </a:rPr>
              <a:t>of </a:t>
            </a:r>
            <a:r>
              <a:rPr sz="1700" spc="25" dirty="0">
                <a:latin typeface="Arial MT"/>
                <a:cs typeface="Arial MT"/>
              </a:rPr>
              <a:t>var</a:t>
            </a:r>
            <a:r>
              <a:rPr sz="1700" spc="-90" dirty="0">
                <a:latin typeface="Arial MT"/>
                <a:cs typeface="Arial MT"/>
              </a:rPr>
              <a:t> </a:t>
            </a:r>
            <a:r>
              <a:rPr sz="1700" spc="10" dirty="0">
                <a:latin typeface="Arial MT"/>
                <a:cs typeface="Arial MT"/>
              </a:rPr>
              <a:t>must</a:t>
            </a:r>
            <a:r>
              <a:rPr sz="1700" spc="-70" dirty="0">
                <a:latin typeface="Arial MT"/>
                <a:cs typeface="Arial MT"/>
              </a:rPr>
              <a:t> </a:t>
            </a:r>
            <a:r>
              <a:rPr sz="1700" spc="5" dirty="0">
                <a:latin typeface="Arial MT"/>
                <a:cs typeface="Arial MT"/>
              </a:rPr>
              <a:t>be</a:t>
            </a:r>
            <a:r>
              <a:rPr sz="1700" spc="-35" dirty="0">
                <a:latin typeface="Arial MT"/>
                <a:cs typeface="Arial MT"/>
              </a:rPr>
              <a:t> </a:t>
            </a:r>
            <a:r>
              <a:rPr sz="1700" spc="5" dirty="0">
                <a:latin typeface="Arial MT"/>
                <a:cs typeface="Arial MT"/>
              </a:rPr>
              <a:t>compatible</a:t>
            </a:r>
            <a:r>
              <a:rPr sz="1700" spc="-110" dirty="0">
                <a:latin typeface="Arial MT"/>
                <a:cs typeface="Arial MT"/>
              </a:rPr>
              <a:t> </a:t>
            </a:r>
            <a:r>
              <a:rPr sz="1700" spc="-10" dirty="0">
                <a:latin typeface="Arial MT"/>
                <a:cs typeface="Arial MT"/>
              </a:rPr>
              <a:t>with</a:t>
            </a:r>
            <a:r>
              <a:rPr sz="1700" dirty="0">
                <a:latin typeface="Arial MT"/>
                <a:cs typeface="Arial MT"/>
              </a:rPr>
              <a:t> </a:t>
            </a:r>
            <a:r>
              <a:rPr sz="1700" spc="5" dirty="0">
                <a:latin typeface="Arial MT"/>
                <a:cs typeface="Arial MT"/>
              </a:rPr>
              <a:t>the</a:t>
            </a:r>
            <a:r>
              <a:rPr sz="1700" spc="-30" dirty="0">
                <a:latin typeface="Arial MT"/>
                <a:cs typeface="Arial MT"/>
              </a:rPr>
              <a:t> </a:t>
            </a:r>
            <a:r>
              <a:rPr sz="1700" dirty="0">
                <a:latin typeface="Arial MT"/>
                <a:cs typeface="Arial MT"/>
              </a:rPr>
              <a:t>type</a:t>
            </a:r>
            <a:r>
              <a:rPr sz="1700" spc="5" dirty="0">
                <a:latin typeface="Arial MT"/>
                <a:cs typeface="Arial MT"/>
              </a:rPr>
              <a:t> </a:t>
            </a:r>
            <a:r>
              <a:rPr sz="1700" dirty="0">
                <a:latin typeface="Arial MT"/>
                <a:cs typeface="Arial MT"/>
              </a:rPr>
              <a:t>of </a:t>
            </a:r>
            <a:r>
              <a:rPr sz="1700" spc="-455" dirty="0">
                <a:latin typeface="Arial MT"/>
                <a:cs typeface="Arial MT"/>
              </a:rPr>
              <a:t> </a:t>
            </a:r>
            <a:r>
              <a:rPr sz="1700" spc="5" dirty="0">
                <a:latin typeface="Arial MT"/>
                <a:cs typeface="Arial MT"/>
              </a:rPr>
              <a:t>expression.</a:t>
            </a:r>
            <a:endParaRPr sz="1700">
              <a:latin typeface="Arial MT"/>
              <a:cs typeface="Arial MT"/>
            </a:endParaRPr>
          </a:p>
          <a:p>
            <a:pPr marL="194945" indent="-182880">
              <a:lnSpc>
                <a:spcPct val="100000"/>
              </a:lnSpc>
              <a:spcBef>
                <a:spcPts val="434"/>
              </a:spcBef>
              <a:buChar char="•"/>
              <a:tabLst>
                <a:tab pos="195580" algn="l"/>
              </a:tabLst>
            </a:pPr>
            <a:r>
              <a:rPr sz="1700" spc="5" dirty="0">
                <a:latin typeface="Arial MT"/>
                <a:cs typeface="Arial MT"/>
              </a:rPr>
              <a:t>It</a:t>
            </a:r>
            <a:r>
              <a:rPr sz="1700" spc="-35" dirty="0">
                <a:latin typeface="Arial MT"/>
                <a:cs typeface="Arial MT"/>
              </a:rPr>
              <a:t> </a:t>
            </a:r>
            <a:r>
              <a:rPr sz="1700" spc="-5" dirty="0">
                <a:latin typeface="Arial MT"/>
                <a:cs typeface="Arial MT"/>
              </a:rPr>
              <a:t>allows</a:t>
            </a:r>
            <a:r>
              <a:rPr sz="1700" spc="25" dirty="0">
                <a:latin typeface="Arial MT"/>
                <a:cs typeface="Arial MT"/>
              </a:rPr>
              <a:t> </a:t>
            </a:r>
            <a:r>
              <a:rPr sz="1700" dirty="0">
                <a:latin typeface="Arial MT"/>
                <a:cs typeface="Arial MT"/>
              </a:rPr>
              <a:t>you</a:t>
            </a:r>
            <a:r>
              <a:rPr sz="1700" spc="-35" dirty="0">
                <a:latin typeface="Arial MT"/>
                <a:cs typeface="Arial MT"/>
              </a:rPr>
              <a:t> </a:t>
            </a:r>
            <a:r>
              <a:rPr sz="1700" spc="5" dirty="0">
                <a:latin typeface="Arial MT"/>
                <a:cs typeface="Arial MT"/>
              </a:rPr>
              <a:t>to create</a:t>
            </a:r>
            <a:r>
              <a:rPr sz="1700" spc="-80" dirty="0">
                <a:latin typeface="Arial MT"/>
                <a:cs typeface="Arial MT"/>
              </a:rPr>
              <a:t> </a:t>
            </a:r>
            <a:r>
              <a:rPr sz="1700" spc="10" dirty="0">
                <a:latin typeface="Arial MT"/>
                <a:cs typeface="Arial MT"/>
              </a:rPr>
              <a:t>a</a:t>
            </a:r>
            <a:r>
              <a:rPr sz="1700" spc="-30" dirty="0">
                <a:latin typeface="Arial MT"/>
                <a:cs typeface="Arial MT"/>
              </a:rPr>
              <a:t> </a:t>
            </a:r>
            <a:r>
              <a:rPr sz="1700" spc="10" dirty="0">
                <a:latin typeface="Arial MT"/>
                <a:cs typeface="Arial MT"/>
              </a:rPr>
              <a:t>chain</a:t>
            </a:r>
            <a:r>
              <a:rPr sz="1700" spc="-80" dirty="0">
                <a:latin typeface="Arial MT"/>
                <a:cs typeface="Arial MT"/>
              </a:rPr>
              <a:t> </a:t>
            </a:r>
            <a:r>
              <a:rPr sz="1700" spc="5" dirty="0">
                <a:latin typeface="Arial MT"/>
                <a:cs typeface="Arial MT"/>
              </a:rPr>
              <a:t>of</a:t>
            </a:r>
            <a:r>
              <a:rPr sz="1700" spc="-35" dirty="0">
                <a:latin typeface="Arial MT"/>
                <a:cs typeface="Arial MT"/>
              </a:rPr>
              <a:t> </a:t>
            </a:r>
            <a:r>
              <a:rPr sz="1700" spc="5" dirty="0">
                <a:latin typeface="Arial MT"/>
                <a:cs typeface="Arial MT"/>
              </a:rPr>
              <a:t>assignments</a:t>
            </a:r>
            <a:endParaRPr sz="1700">
              <a:latin typeface="Arial MT"/>
              <a:cs typeface="Arial MT"/>
            </a:endParaRPr>
          </a:p>
          <a:p>
            <a:pPr marL="12700">
              <a:lnSpc>
                <a:spcPct val="100000"/>
              </a:lnSpc>
              <a:spcBef>
                <a:spcPts val="315"/>
              </a:spcBef>
            </a:pPr>
            <a:r>
              <a:rPr sz="1700" spc="-50" dirty="0">
                <a:latin typeface="Calibri"/>
                <a:cs typeface="Calibri"/>
              </a:rPr>
              <a:t>int</a:t>
            </a:r>
            <a:r>
              <a:rPr sz="1700" spc="20" dirty="0">
                <a:latin typeface="Calibri"/>
                <a:cs typeface="Calibri"/>
              </a:rPr>
              <a:t> </a:t>
            </a:r>
            <a:r>
              <a:rPr sz="1700" dirty="0">
                <a:latin typeface="Calibri"/>
                <a:cs typeface="Calibri"/>
              </a:rPr>
              <a:t>x,</a:t>
            </a:r>
            <a:r>
              <a:rPr sz="1700" spc="25" dirty="0">
                <a:latin typeface="Calibri"/>
                <a:cs typeface="Calibri"/>
              </a:rPr>
              <a:t> </a:t>
            </a:r>
            <a:r>
              <a:rPr sz="1700" spc="-35" dirty="0">
                <a:latin typeface="Calibri"/>
                <a:cs typeface="Calibri"/>
              </a:rPr>
              <a:t>y,</a:t>
            </a:r>
            <a:r>
              <a:rPr sz="1700" spc="25" dirty="0">
                <a:latin typeface="Calibri"/>
                <a:cs typeface="Calibri"/>
              </a:rPr>
              <a:t> </a:t>
            </a:r>
            <a:r>
              <a:rPr sz="1700" spc="-25" dirty="0">
                <a:latin typeface="Calibri"/>
                <a:cs typeface="Calibri"/>
              </a:rPr>
              <a:t>z;</a:t>
            </a:r>
            <a:endParaRPr sz="1700">
              <a:latin typeface="Calibri"/>
              <a:cs typeface="Calibri"/>
            </a:endParaRPr>
          </a:p>
          <a:p>
            <a:pPr marL="12700">
              <a:lnSpc>
                <a:spcPct val="100000"/>
              </a:lnSpc>
              <a:spcBef>
                <a:spcPts val="440"/>
              </a:spcBef>
            </a:pPr>
            <a:r>
              <a:rPr sz="1700" spc="25" dirty="0">
                <a:latin typeface="Calibri"/>
                <a:cs typeface="Calibri"/>
              </a:rPr>
              <a:t>x</a:t>
            </a:r>
            <a:r>
              <a:rPr sz="1700" spc="25" dirty="0">
                <a:latin typeface="Times New Roman"/>
                <a:cs typeface="Times New Roman"/>
              </a:rPr>
              <a:t> </a:t>
            </a:r>
            <a:r>
              <a:rPr sz="1700" spc="-5" dirty="0">
                <a:latin typeface="Calibri"/>
                <a:cs typeface="Calibri"/>
              </a:rPr>
              <a:t>=</a:t>
            </a:r>
            <a:r>
              <a:rPr sz="1700" spc="-35" dirty="0">
                <a:latin typeface="Times New Roman"/>
                <a:cs typeface="Times New Roman"/>
              </a:rPr>
              <a:t> </a:t>
            </a:r>
            <a:r>
              <a:rPr sz="1700" spc="-55" dirty="0">
                <a:latin typeface="Calibri"/>
                <a:cs typeface="Calibri"/>
              </a:rPr>
              <a:t>y</a:t>
            </a:r>
            <a:r>
              <a:rPr sz="1700" spc="10" dirty="0">
                <a:latin typeface="Times New Roman"/>
                <a:cs typeface="Times New Roman"/>
              </a:rPr>
              <a:t> </a:t>
            </a:r>
            <a:r>
              <a:rPr sz="1700" spc="-5" dirty="0">
                <a:latin typeface="Calibri"/>
                <a:cs typeface="Calibri"/>
              </a:rPr>
              <a:t>=</a:t>
            </a:r>
            <a:r>
              <a:rPr sz="1700" spc="-35" dirty="0">
                <a:latin typeface="Times New Roman"/>
                <a:cs typeface="Times New Roman"/>
              </a:rPr>
              <a:t> </a:t>
            </a:r>
            <a:r>
              <a:rPr sz="1700" spc="15" dirty="0">
                <a:latin typeface="Calibri"/>
                <a:cs typeface="Calibri"/>
              </a:rPr>
              <a:t>z</a:t>
            </a:r>
            <a:r>
              <a:rPr sz="1700" dirty="0">
                <a:latin typeface="Times New Roman"/>
                <a:cs typeface="Times New Roman"/>
              </a:rPr>
              <a:t> </a:t>
            </a:r>
            <a:r>
              <a:rPr sz="1700" spc="-5" dirty="0">
                <a:latin typeface="Calibri"/>
                <a:cs typeface="Calibri"/>
              </a:rPr>
              <a:t>=</a:t>
            </a:r>
            <a:r>
              <a:rPr sz="1700" spc="5" dirty="0">
                <a:latin typeface="Times New Roman"/>
                <a:cs typeface="Times New Roman"/>
              </a:rPr>
              <a:t> </a:t>
            </a:r>
            <a:r>
              <a:rPr sz="1700" spc="-30" dirty="0">
                <a:latin typeface="Calibri"/>
                <a:cs typeface="Calibri"/>
              </a:rPr>
              <a:t>100</a:t>
            </a:r>
            <a:r>
              <a:rPr sz="1700" spc="-50" dirty="0">
                <a:latin typeface="Calibri"/>
                <a:cs typeface="Calibri"/>
              </a:rPr>
              <a:t>;</a:t>
            </a:r>
            <a:r>
              <a:rPr sz="1700" dirty="0">
                <a:latin typeface="Times New Roman"/>
                <a:cs typeface="Times New Roman"/>
              </a:rPr>
              <a:t> </a:t>
            </a:r>
            <a:r>
              <a:rPr sz="1700" spc="-145" dirty="0">
                <a:latin typeface="Calibri"/>
                <a:cs typeface="Calibri"/>
              </a:rPr>
              <a:t>/</a:t>
            </a:r>
            <a:r>
              <a:rPr sz="1700" spc="-155" dirty="0">
                <a:latin typeface="Calibri"/>
                <a:cs typeface="Calibri"/>
              </a:rPr>
              <a:t>/</a:t>
            </a:r>
            <a:r>
              <a:rPr sz="1700" spc="-55" dirty="0">
                <a:latin typeface="Times New Roman"/>
                <a:cs typeface="Times New Roman"/>
              </a:rPr>
              <a:t> </a:t>
            </a:r>
            <a:r>
              <a:rPr sz="1700" spc="-70" dirty="0">
                <a:latin typeface="Calibri"/>
                <a:cs typeface="Calibri"/>
              </a:rPr>
              <a:t>s</a:t>
            </a:r>
            <a:r>
              <a:rPr sz="1700" spc="-95" dirty="0">
                <a:latin typeface="Calibri"/>
                <a:cs typeface="Calibri"/>
              </a:rPr>
              <a:t>e</a:t>
            </a:r>
            <a:r>
              <a:rPr sz="1700" spc="-125" dirty="0">
                <a:latin typeface="Calibri"/>
                <a:cs typeface="Calibri"/>
              </a:rPr>
              <a:t>t</a:t>
            </a:r>
            <a:r>
              <a:rPr sz="1700" dirty="0">
                <a:latin typeface="Times New Roman"/>
                <a:cs typeface="Times New Roman"/>
              </a:rPr>
              <a:t> </a:t>
            </a:r>
            <a:r>
              <a:rPr sz="1700" spc="15" dirty="0">
                <a:latin typeface="Calibri"/>
                <a:cs typeface="Calibri"/>
              </a:rPr>
              <a:t>x</a:t>
            </a:r>
            <a:r>
              <a:rPr sz="1700" spc="-15" dirty="0">
                <a:latin typeface="Calibri"/>
                <a:cs typeface="Calibri"/>
              </a:rPr>
              <a:t>,</a:t>
            </a:r>
            <a:r>
              <a:rPr sz="1700" dirty="0">
                <a:latin typeface="Times New Roman"/>
                <a:cs typeface="Times New Roman"/>
              </a:rPr>
              <a:t> </a:t>
            </a:r>
            <a:r>
              <a:rPr sz="1700" spc="-35" dirty="0">
                <a:latin typeface="Calibri"/>
                <a:cs typeface="Calibri"/>
              </a:rPr>
              <a:t>y,</a:t>
            </a:r>
            <a:r>
              <a:rPr sz="1700" dirty="0">
                <a:latin typeface="Times New Roman"/>
                <a:cs typeface="Times New Roman"/>
              </a:rPr>
              <a:t> </a:t>
            </a:r>
            <a:r>
              <a:rPr sz="1700" spc="-105" dirty="0">
                <a:latin typeface="Calibri"/>
                <a:cs typeface="Calibri"/>
              </a:rPr>
              <a:t>a</a:t>
            </a:r>
            <a:r>
              <a:rPr sz="1700" spc="-20" dirty="0">
                <a:latin typeface="Calibri"/>
                <a:cs typeface="Calibri"/>
              </a:rPr>
              <a:t>n</a:t>
            </a:r>
            <a:r>
              <a:rPr sz="1700" spc="5" dirty="0">
                <a:latin typeface="Calibri"/>
                <a:cs typeface="Calibri"/>
              </a:rPr>
              <a:t>d</a:t>
            </a:r>
            <a:r>
              <a:rPr sz="1700" spc="-15" dirty="0">
                <a:latin typeface="Times New Roman"/>
                <a:cs typeface="Times New Roman"/>
              </a:rPr>
              <a:t> </a:t>
            </a:r>
            <a:r>
              <a:rPr sz="1700" spc="15" dirty="0">
                <a:latin typeface="Calibri"/>
                <a:cs typeface="Calibri"/>
              </a:rPr>
              <a:t>z</a:t>
            </a:r>
            <a:r>
              <a:rPr sz="1700" dirty="0">
                <a:latin typeface="Times New Roman"/>
                <a:cs typeface="Times New Roman"/>
              </a:rPr>
              <a:t> </a:t>
            </a:r>
            <a:r>
              <a:rPr sz="1700" spc="-135" dirty="0">
                <a:latin typeface="Calibri"/>
                <a:cs typeface="Calibri"/>
              </a:rPr>
              <a:t>t</a:t>
            </a:r>
            <a:r>
              <a:rPr sz="1700" spc="-10" dirty="0">
                <a:latin typeface="Calibri"/>
                <a:cs typeface="Calibri"/>
              </a:rPr>
              <a:t>o</a:t>
            </a:r>
            <a:r>
              <a:rPr sz="1700" dirty="0">
                <a:latin typeface="Times New Roman"/>
                <a:cs typeface="Times New Roman"/>
              </a:rPr>
              <a:t> </a:t>
            </a:r>
            <a:r>
              <a:rPr sz="1700" spc="-30" dirty="0">
                <a:latin typeface="Calibri"/>
                <a:cs typeface="Calibri"/>
              </a:rPr>
              <a:t>10</a:t>
            </a:r>
            <a:r>
              <a:rPr sz="1700" spc="-20" dirty="0">
                <a:latin typeface="Calibri"/>
                <a:cs typeface="Calibri"/>
              </a:rPr>
              <a:t>0</a:t>
            </a:r>
            <a:endParaRPr sz="1700">
              <a:latin typeface="Calibri"/>
              <a:cs typeface="Calibri"/>
            </a:endParaRPr>
          </a:p>
        </p:txBody>
      </p:sp>
      <p:sp>
        <p:nvSpPr>
          <p:cNvPr id="5" name="object 5"/>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12700"/>
            <a:ext cx="6487240" cy="684201"/>
          </a:xfrm>
          <a:prstGeom prst="rect">
            <a:avLst/>
          </a:prstGeom>
        </p:spPr>
      </p:pic>
      <p:sp>
        <p:nvSpPr>
          <p:cNvPr id="3" name="object 3"/>
          <p:cNvSpPr txBox="1">
            <a:spLocks noGrp="1"/>
          </p:cNvSpPr>
          <p:nvPr>
            <p:ph type="title"/>
          </p:nvPr>
        </p:nvSpPr>
        <p:spPr>
          <a:xfrm>
            <a:off x="1117600" y="12700"/>
            <a:ext cx="4654550" cy="318135"/>
          </a:xfrm>
          <a:prstGeom prst="rect">
            <a:avLst/>
          </a:prstGeom>
        </p:spPr>
        <p:txBody>
          <a:bodyPr vert="horz" wrap="square" lIns="0" tIns="14604" rIns="0" bIns="0" rtlCol="0">
            <a:spAutoFit/>
          </a:bodyPr>
          <a:lstStyle/>
          <a:p>
            <a:pPr marL="12700">
              <a:lnSpc>
                <a:spcPct val="100000"/>
              </a:lnSpc>
              <a:spcBef>
                <a:spcPts val="114"/>
              </a:spcBef>
            </a:pPr>
            <a:r>
              <a:rPr dirty="0">
                <a:solidFill>
                  <a:schemeClr val="tx1"/>
                </a:solidFill>
              </a:rPr>
              <a:t>Ternary</a:t>
            </a:r>
            <a:r>
              <a:rPr spc="25" dirty="0">
                <a:solidFill>
                  <a:schemeClr val="tx1"/>
                </a:solidFill>
              </a:rPr>
              <a:t> </a:t>
            </a:r>
            <a:r>
              <a:rPr dirty="0">
                <a:solidFill>
                  <a:schemeClr val="tx1"/>
                </a:solidFill>
              </a:rPr>
              <a:t>(conditional</a:t>
            </a:r>
            <a:r>
              <a:rPr spc="-30" dirty="0">
                <a:solidFill>
                  <a:schemeClr val="tx1"/>
                </a:solidFill>
              </a:rPr>
              <a:t> </a:t>
            </a:r>
            <a:r>
              <a:rPr spc="10" dirty="0">
                <a:solidFill>
                  <a:schemeClr val="tx1"/>
                </a:solidFill>
              </a:rPr>
              <a:t>or</a:t>
            </a:r>
            <a:r>
              <a:rPr spc="-10" dirty="0">
                <a:solidFill>
                  <a:schemeClr val="tx1"/>
                </a:solidFill>
              </a:rPr>
              <a:t> </a:t>
            </a:r>
            <a:r>
              <a:rPr dirty="0">
                <a:solidFill>
                  <a:schemeClr val="tx1"/>
                </a:solidFill>
              </a:rPr>
              <a:t>three-way)</a:t>
            </a:r>
            <a:r>
              <a:rPr spc="75" dirty="0">
                <a:solidFill>
                  <a:schemeClr val="tx1"/>
                </a:solidFill>
              </a:rPr>
              <a:t> </a:t>
            </a:r>
            <a:r>
              <a:rPr spc="5" dirty="0">
                <a:solidFill>
                  <a:schemeClr val="tx1"/>
                </a:solidFill>
              </a:rPr>
              <a:t>operator</a:t>
            </a:r>
          </a:p>
        </p:txBody>
      </p:sp>
      <p:sp>
        <p:nvSpPr>
          <p:cNvPr id="4" name="object 4"/>
          <p:cNvSpPr txBox="1"/>
          <p:nvPr/>
        </p:nvSpPr>
        <p:spPr>
          <a:xfrm>
            <a:off x="121920" y="622300"/>
            <a:ext cx="6329680" cy="4163063"/>
          </a:xfrm>
          <a:prstGeom prst="rect">
            <a:avLst/>
          </a:prstGeom>
        </p:spPr>
        <p:txBody>
          <a:bodyPr vert="horz" wrap="square" lIns="0" tIns="57150" rIns="0" bIns="0" rtlCol="0">
            <a:spAutoFit/>
          </a:bodyPr>
          <a:lstStyle/>
          <a:p>
            <a:pPr marL="194945" indent="-182880" algn="just">
              <a:lnSpc>
                <a:spcPct val="100000"/>
              </a:lnSpc>
              <a:spcBef>
                <a:spcPts val="450"/>
              </a:spcBef>
              <a:buChar char="•"/>
              <a:tabLst>
                <a:tab pos="195580" algn="l"/>
              </a:tabLst>
            </a:pPr>
            <a:r>
              <a:rPr lang="en-US" sz="1700" dirty="0">
                <a:latin typeface="Arial MT"/>
                <a:cs typeface="Arial MT"/>
              </a:rPr>
              <a:t>G</a:t>
            </a:r>
            <a:r>
              <a:rPr sz="1700" dirty="0">
                <a:latin typeface="Arial MT"/>
                <a:cs typeface="Arial MT"/>
              </a:rPr>
              <a:t>eneral</a:t>
            </a:r>
            <a:r>
              <a:rPr sz="1700" spc="-60" dirty="0">
                <a:latin typeface="Arial MT"/>
                <a:cs typeface="Arial MT"/>
              </a:rPr>
              <a:t> </a:t>
            </a:r>
            <a:r>
              <a:rPr sz="1700" spc="10" dirty="0">
                <a:latin typeface="Arial MT"/>
                <a:cs typeface="Arial MT"/>
              </a:rPr>
              <a:t>form:</a:t>
            </a:r>
            <a:endParaRPr sz="1700" dirty="0">
              <a:latin typeface="Arial MT"/>
              <a:cs typeface="Arial MT"/>
            </a:endParaRPr>
          </a:p>
          <a:p>
            <a:pPr marL="12700" algn="just">
              <a:lnSpc>
                <a:spcPct val="100000"/>
              </a:lnSpc>
              <a:spcBef>
                <a:spcPts val="360"/>
              </a:spcBef>
            </a:pPr>
            <a:r>
              <a:rPr sz="1700" spc="-15" dirty="0">
                <a:solidFill>
                  <a:srgbClr val="0000CC"/>
                </a:solidFill>
                <a:latin typeface="Times New Roman"/>
                <a:cs typeface="Times New Roman"/>
              </a:rPr>
              <a:t>expression1</a:t>
            </a:r>
            <a:r>
              <a:rPr sz="1700" spc="-10" dirty="0">
                <a:solidFill>
                  <a:srgbClr val="0000CC"/>
                </a:solidFill>
                <a:latin typeface="Times New Roman"/>
                <a:cs typeface="Times New Roman"/>
              </a:rPr>
              <a:t> </a:t>
            </a:r>
            <a:r>
              <a:rPr sz="1700" spc="35" dirty="0">
                <a:solidFill>
                  <a:srgbClr val="0000CC"/>
                </a:solidFill>
                <a:latin typeface="Times New Roman"/>
                <a:cs typeface="Times New Roman"/>
              </a:rPr>
              <a:t>?</a:t>
            </a:r>
            <a:r>
              <a:rPr sz="1700" spc="-40" dirty="0">
                <a:solidFill>
                  <a:srgbClr val="0000CC"/>
                </a:solidFill>
                <a:latin typeface="Times New Roman"/>
                <a:cs typeface="Times New Roman"/>
              </a:rPr>
              <a:t> </a:t>
            </a:r>
            <a:r>
              <a:rPr sz="1700" spc="-15" dirty="0">
                <a:solidFill>
                  <a:srgbClr val="0000CC"/>
                </a:solidFill>
                <a:latin typeface="Times New Roman"/>
                <a:cs typeface="Times New Roman"/>
              </a:rPr>
              <a:t>expression2</a:t>
            </a:r>
            <a:r>
              <a:rPr sz="1700" spc="35" dirty="0">
                <a:solidFill>
                  <a:srgbClr val="0000CC"/>
                </a:solidFill>
                <a:latin typeface="Times New Roman"/>
                <a:cs typeface="Times New Roman"/>
              </a:rPr>
              <a:t> </a:t>
            </a:r>
            <a:r>
              <a:rPr sz="1700" spc="-55" dirty="0">
                <a:solidFill>
                  <a:srgbClr val="0000CC"/>
                </a:solidFill>
                <a:latin typeface="Times New Roman"/>
                <a:cs typeface="Times New Roman"/>
              </a:rPr>
              <a:t>:</a:t>
            </a:r>
            <a:r>
              <a:rPr sz="1700" spc="-25" dirty="0">
                <a:solidFill>
                  <a:srgbClr val="0000CC"/>
                </a:solidFill>
                <a:latin typeface="Times New Roman"/>
                <a:cs typeface="Times New Roman"/>
              </a:rPr>
              <a:t> </a:t>
            </a:r>
            <a:r>
              <a:rPr sz="1700" spc="-15" dirty="0">
                <a:solidFill>
                  <a:srgbClr val="0000CC"/>
                </a:solidFill>
                <a:latin typeface="Times New Roman"/>
                <a:cs typeface="Times New Roman"/>
              </a:rPr>
              <a:t>expression3</a:t>
            </a:r>
            <a:endParaRPr sz="1700" dirty="0">
              <a:latin typeface="Times New Roman"/>
              <a:cs typeface="Times New Roman"/>
            </a:endParaRPr>
          </a:p>
          <a:p>
            <a:pPr marL="194945" marR="179070" indent="-182880" algn="just">
              <a:lnSpc>
                <a:spcPct val="101899"/>
              </a:lnSpc>
              <a:spcBef>
                <a:spcPts val="440"/>
              </a:spcBef>
              <a:buChar char="•"/>
              <a:tabLst>
                <a:tab pos="195580" algn="l"/>
              </a:tabLst>
            </a:pPr>
            <a:r>
              <a:rPr sz="1700" spc="-35" dirty="0">
                <a:latin typeface="Arial MT"/>
                <a:cs typeface="Arial MT"/>
              </a:rPr>
              <a:t> </a:t>
            </a:r>
            <a:r>
              <a:rPr sz="1700" spc="5" dirty="0">
                <a:latin typeface="Arial MT"/>
                <a:cs typeface="Arial MT"/>
              </a:rPr>
              <a:t>expression1</a:t>
            </a:r>
            <a:r>
              <a:rPr sz="1700" spc="-150" dirty="0">
                <a:latin typeface="Arial MT"/>
                <a:cs typeface="Arial MT"/>
              </a:rPr>
              <a:t> </a:t>
            </a:r>
            <a:r>
              <a:rPr sz="1700" spc="10" dirty="0">
                <a:latin typeface="Arial MT"/>
                <a:cs typeface="Arial MT"/>
              </a:rPr>
              <a:t>can</a:t>
            </a:r>
            <a:r>
              <a:rPr sz="1700" spc="-35" dirty="0">
                <a:latin typeface="Arial MT"/>
                <a:cs typeface="Arial MT"/>
              </a:rPr>
              <a:t> </a:t>
            </a:r>
            <a:r>
              <a:rPr sz="1700" spc="5" dirty="0">
                <a:latin typeface="Arial MT"/>
                <a:cs typeface="Arial MT"/>
              </a:rPr>
              <a:t>be</a:t>
            </a:r>
            <a:r>
              <a:rPr sz="1700" spc="-30" dirty="0">
                <a:latin typeface="Arial MT"/>
                <a:cs typeface="Arial MT"/>
              </a:rPr>
              <a:t> </a:t>
            </a:r>
            <a:r>
              <a:rPr sz="1700" spc="5" dirty="0">
                <a:latin typeface="Arial MT"/>
                <a:cs typeface="Arial MT"/>
              </a:rPr>
              <a:t>any</a:t>
            </a:r>
            <a:r>
              <a:rPr sz="1700" spc="-10" dirty="0">
                <a:latin typeface="Arial MT"/>
                <a:cs typeface="Arial MT"/>
              </a:rPr>
              <a:t> </a:t>
            </a:r>
            <a:r>
              <a:rPr sz="1700" spc="5" dirty="0">
                <a:latin typeface="Arial MT"/>
                <a:cs typeface="Arial MT"/>
              </a:rPr>
              <a:t>expression</a:t>
            </a:r>
            <a:r>
              <a:rPr sz="1700" spc="-155" dirty="0">
                <a:latin typeface="Arial MT"/>
                <a:cs typeface="Arial MT"/>
              </a:rPr>
              <a:t> </a:t>
            </a:r>
            <a:r>
              <a:rPr sz="1700" spc="5" dirty="0">
                <a:latin typeface="Arial MT"/>
                <a:cs typeface="Arial MT"/>
              </a:rPr>
              <a:t>that</a:t>
            </a:r>
            <a:r>
              <a:rPr sz="1700" spc="-30" dirty="0">
                <a:latin typeface="Arial MT"/>
                <a:cs typeface="Arial MT"/>
              </a:rPr>
              <a:t> </a:t>
            </a:r>
            <a:r>
              <a:rPr sz="1700" spc="10" dirty="0">
                <a:latin typeface="Arial MT"/>
                <a:cs typeface="Arial MT"/>
              </a:rPr>
              <a:t>evaluates </a:t>
            </a:r>
            <a:r>
              <a:rPr sz="1700" spc="-459" dirty="0">
                <a:latin typeface="Arial MT"/>
                <a:cs typeface="Arial MT"/>
              </a:rPr>
              <a:t> </a:t>
            </a:r>
            <a:r>
              <a:rPr sz="1700" spc="5" dirty="0">
                <a:latin typeface="Arial MT"/>
                <a:cs typeface="Arial MT"/>
              </a:rPr>
              <a:t>to</a:t>
            </a:r>
            <a:r>
              <a:rPr sz="1700" spc="-35" dirty="0">
                <a:latin typeface="Arial MT"/>
                <a:cs typeface="Arial MT"/>
              </a:rPr>
              <a:t> </a:t>
            </a:r>
            <a:r>
              <a:rPr sz="1700" spc="10" dirty="0">
                <a:latin typeface="Arial MT"/>
                <a:cs typeface="Arial MT"/>
              </a:rPr>
              <a:t>a</a:t>
            </a:r>
            <a:r>
              <a:rPr sz="1700" dirty="0">
                <a:latin typeface="Arial MT"/>
                <a:cs typeface="Arial MT"/>
              </a:rPr>
              <a:t> </a:t>
            </a:r>
            <a:r>
              <a:rPr sz="1700" spc="5" dirty="0">
                <a:latin typeface="Arial MT"/>
                <a:cs typeface="Arial MT"/>
              </a:rPr>
              <a:t>boolean</a:t>
            </a:r>
            <a:r>
              <a:rPr sz="1700" spc="-110" dirty="0">
                <a:latin typeface="Arial MT"/>
                <a:cs typeface="Arial MT"/>
              </a:rPr>
              <a:t> </a:t>
            </a:r>
            <a:r>
              <a:rPr sz="1700" spc="15" dirty="0">
                <a:latin typeface="Arial MT"/>
                <a:cs typeface="Arial MT"/>
              </a:rPr>
              <a:t>value.</a:t>
            </a:r>
            <a:endParaRPr sz="1700" dirty="0">
              <a:latin typeface="Arial MT"/>
              <a:cs typeface="Arial MT"/>
            </a:endParaRPr>
          </a:p>
          <a:p>
            <a:pPr marL="407670" marR="45720" lvl="1" indent="-152400" algn="just">
              <a:lnSpc>
                <a:spcPct val="101099"/>
              </a:lnSpc>
              <a:spcBef>
                <a:spcPts val="385"/>
              </a:spcBef>
              <a:buChar char="–"/>
              <a:tabLst>
                <a:tab pos="408305" algn="l"/>
              </a:tabLst>
            </a:pPr>
            <a:r>
              <a:rPr sz="1450" spc="-20" dirty="0">
                <a:latin typeface="Arial MT"/>
                <a:cs typeface="Arial MT"/>
              </a:rPr>
              <a:t>If</a:t>
            </a:r>
            <a:r>
              <a:rPr sz="1450" spc="60" dirty="0">
                <a:latin typeface="Arial MT"/>
                <a:cs typeface="Arial MT"/>
              </a:rPr>
              <a:t> </a:t>
            </a:r>
            <a:r>
              <a:rPr sz="1450" spc="-5" dirty="0">
                <a:latin typeface="Arial MT"/>
                <a:cs typeface="Arial MT"/>
              </a:rPr>
              <a:t>expression1</a:t>
            </a:r>
            <a:r>
              <a:rPr sz="1450" spc="215" dirty="0">
                <a:latin typeface="Arial MT"/>
                <a:cs typeface="Arial MT"/>
              </a:rPr>
              <a:t> </a:t>
            </a:r>
            <a:r>
              <a:rPr sz="1450" spc="-15" dirty="0">
                <a:latin typeface="Arial MT"/>
                <a:cs typeface="Arial MT"/>
              </a:rPr>
              <a:t>is</a:t>
            </a:r>
            <a:r>
              <a:rPr sz="1450" spc="50" dirty="0">
                <a:latin typeface="Arial MT"/>
                <a:cs typeface="Arial MT"/>
              </a:rPr>
              <a:t> </a:t>
            </a:r>
            <a:r>
              <a:rPr sz="1450" dirty="0">
                <a:latin typeface="Arial MT"/>
                <a:cs typeface="Arial MT"/>
              </a:rPr>
              <a:t>true,</a:t>
            </a:r>
            <a:r>
              <a:rPr sz="1450" spc="105" dirty="0">
                <a:latin typeface="Arial MT"/>
                <a:cs typeface="Arial MT"/>
              </a:rPr>
              <a:t> </a:t>
            </a:r>
            <a:r>
              <a:rPr sz="1450" spc="5" dirty="0">
                <a:latin typeface="Arial MT"/>
                <a:cs typeface="Arial MT"/>
              </a:rPr>
              <a:t>then</a:t>
            </a:r>
            <a:r>
              <a:rPr sz="1450" spc="50" dirty="0">
                <a:latin typeface="Arial MT"/>
                <a:cs typeface="Arial MT"/>
              </a:rPr>
              <a:t> </a:t>
            </a:r>
            <a:r>
              <a:rPr sz="1450" spc="-5" dirty="0">
                <a:latin typeface="Arial MT"/>
                <a:cs typeface="Arial MT"/>
              </a:rPr>
              <a:t>expression2</a:t>
            </a:r>
            <a:r>
              <a:rPr sz="1450" spc="210" dirty="0">
                <a:latin typeface="Arial MT"/>
                <a:cs typeface="Arial MT"/>
              </a:rPr>
              <a:t> </a:t>
            </a:r>
            <a:r>
              <a:rPr sz="1450" spc="-15" dirty="0">
                <a:latin typeface="Arial MT"/>
                <a:cs typeface="Arial MT"/>
              </a:rPr>
              <a:t>is</a:t>
            </a:r>
            <a:r>
              <a:rPr sz="1450" spc="55" dirty="0">
                <a:latin typeface="Arial MT"/>
                <a:cs typeface="Arial MT"/>
              </a:rPr>
              <a:t> </a:t>
            </a:r>
            <a:r>
              <a:rPr sz="1450" dirty="0">
                <a:latin typeface="Arial MT"/>
                <a:cs typeface="Arial MT"/>
              </a:rPr>
              <a:t>evaluated;</a:t>
            </a:r>
            <a:r>
              <a:rPr sz="1450" spc="190" dirty="0">
                <a:latin typeface="Arial MT"/>
                <a:cs typeface="Arial MT"/>
              </a:rPr>
              <a:t> </a:t>
            </a:r>
            <a:r>
              <a:rPr sz="1450" dirty="0">
                <a:latin typeface="Arial MT"/>
                <a:cs typeface="Arial MT"/>
              </a:rPr>
              <a:t>otherwise, </a:t>
            </a:r>
            <a:r>
              <a:rPr sz="1450" spc="-390" dirty="0">
                <a:latin typeface="Arial MT"/>
                <a:cs typeface="Arial MT"/>
              </a:rPr>
              <a:t> </a:t>
            </a:r>
            <a:r>
              <a:rPr sz="1450" spc="-5" dirty="0">
                <a:latin typeface="Arial MT"/>
                <a:cs typeface="Arial MT"/>
              </a:rPr>
              <a:t>expression3</a:t>
            </a:r>
            <a:r>
              <a:rPr sz="1450" spc="204" dirty="0">
                <a:latin typeface="Arial MT"/>
                <a:cs typeface="Arial MT"/>
              </a:rPr>
              <a:t> </a:t>
            </a:r>
            <a:r>
              <a:rPr sz="1450" spc="-15" dirty="0">
                <a:latin typeface="Arial MT"/>
                <a:cs typeface="Arial MT"/>
              </a:rPr>
              <a:t>is</a:t>
            </a:r>
            <a:r>
              <a:rPr sz="1450" spc="50" dirty="0">
                <a:latin typeface="Arial MT"/>
                <a:cs typeface="Arial MT"/>
              </a:rPr>
              <a:t> </a:t>
            </a:r>
            <a:r>
              <a:rPr sz="1450" spc="-5" dirty="0">
                <a:latin typeface="Arial MT"/>
                <a:cs typeface="Arial MT"/>
              </a:rPr>
              <a:t>evaluated.</a:t>
            </a:r>
            <a:endParaRPr sz="1450" dirty="0">
              <a:latin typeface="Arial MT"/>
              <a:cs typeface="Arial MT"/>
            </a:endParaRPr>
          </a:p>
          <a:p>
            <a:pPr marL="407670" marR="960755" lvl="1" indent="-152400" algn="just">
              <a:lnSpc>
                <a:spcPct val="103400"/>
              </a:lnSpc>
              <a:spcBef>
                <a:spcPts val="360"/>
              </a:spcBef>
              <a:buChar char="–"/>
              <a:tabLst>
                <a:tab pos="408305" algn="l"/>
              </a:tabLst>
            </a:pPr>
            <a:r>
              <a:rPr lang="en-US" sz="1450" spc="20" dirty="0">
                <a:latin typeface="Arial MT"/>
                <a:cs typeface="Arial MT"/>
              </a:rPr>
              <a:t>The </a:t>
            </a:r>
            <a:r>
              <a:rPr lang="en-US" sz="1450" spc="-10" dirty="0">
                <a:latin typeface="Arial MT"/>
                <a:cs typeface="Arial MT"/>
              </a:rPr>
              <a:t>result</a:t>
            </a:r>
            <a:r>
              <a:rPr lang="en-US" sz="1450" spc="-5" dirty="0">
                <a:latin typeface="Arial MT"/>
                <a:cs typeface="Arial MT"/>
              </a:rPr>
              <a:t> </a:t>
            </a:r>
            <a:r>
              <a:rPr lang="en-US" sz="1450" spc="15" dirty="0">
                <a:latin typeface="Arial MT"/>
                <a:cs typeface="Arial MT"/>
              </a:rPr>
              <a:t>of </a:t>
            </a:r>
            <a:r>
              <a:rPr lang="en-US" sz="1450" spc="10" dirty="0">
                <a:latin typeface="Arial MT"/>
                <a:cs typeface="Arial MT"/>
              </a:rPr>
              <a:t>the </a:t>
            </a:r>
            <a:r>
              <a:rPr lang="en-US" sz="1450" spc="15" dirty="0">
                <a:latin typeface="Arial MT"/>
                <a:cs typeface="Arial MT"/>
              </a:rPr>
              <a:t>? </a:t>
            </a:r>
            <a:r>
              <a:rPr lang="en-US" sz="1450" dirty="0">
                <a:latin typeface="Arial MT"/>
                <a:cs typeface="Arial MT"/>
              </a:rPr>
              <a:t>operation </a:t>
            </a:r>
            <a:r>
              <a:rPr lang="en-US" sz="1450" spc="-15" dirty="0">
                <a:latin typeface="Arial MT"/>
                <a:cs typeface="Arial MT"/>
              </a:rPr>
              <a:t>is </a:t>
            </a:r>
            <a:r>
              <a:rPr lang="en-US" sz="1450" dirty="0">
                <a:latin typeface="Arial MT"/>
                <a:cs typeface="Arial MT"/>
              </a:rPr>
              <a:t>that </a:t>
            </a:r>
            <a:r>
              <a:rPr lang="en-US" sz="1450" spc="15" dirty="0">
                <a:latin typeface="Arial MT"/>
                <a:cs typeface="Arial MT"/>
              </a:rPr>
              <a:t>of </a:t>
            </a:r>
            <a:r>
              <a:rPr lang="en-US" sz="1450" spc="10" dirty="0">
                <a:latin typeface="Arial MT"/>
                <a:cs typeface="Arial MT"/>
              </a:rPr>
              <a:t>the </a:t>
            </a:r>
            <a:r>
              <a:rPr lang="en-US" sz="1450" spc="-5" dirty="0">
                <a:latin typeface="Arial MT"/>
                <a:cs typeface="Arial MT"/>
              </a:rPr>
              <a:t>expression </a:t>
            </a:r>
            <a:r>
              <a:rPr lang="en-US" sz="1450" spc="-390" dirty="0">
                <a:latin typeface="Arial MT"/>
                <a:cs typeface="Arial MT"/>
              </a:rPr>
              <a:t> </a:t>
            </a:r>
            <a:r>
              <a:rPr lang="en-US" sz="1450" spc="-5" dirty="0">
                <a:latin typeface="Arial MT"/>
                <a:cs typeface="Arial MT"/>
              </a:rPr>
              <a:t>evaluated.</a:t>
            </a:r>
          </a:p>
          <a:p>
            <a:pPr marL="12700">
              <a:lnSpc>
                <a:spcPct val="100000"/>
              </a:lnSpc>
              <a:spcBef>
                <a:spcPts val="490"/>
              </a:spcBef>
            </a:pPr>
            <a:r>
              <a:rPr lang="en-US" sz="1600" spc="-50" dirty="0">
                <a:latin typeface="Calibri"/>
                <a:cs typeface="Calibri"/>
              </a:rPr>
              <a:t>	</a:t>
            </a:r>
            <a:r>
              <a:rPr lang="en-US" sz="1600" spc="-50" dirty="0" err="1">
                <a:latin typeface="Calibri"/>
                <a:cs typeface="Calibri"/>
              </a:rPr>
              <a:t>eg</a:t>
            </a:r>
            <a:r>
              <a:rPr lang="en-US" sz="1600" spc="-50" dirty="0">
                <a:latin typeface="Calibri"/>
                <a:cs typeface="Calibri"/>
              </a:rPr>
              <a:t>:</a:t>
            </a:r>
          </a:p>
          <a:p>
            <a:pPr marL="12700">
              <a:lnSpc>
                <a:spcPct val="100000"/>
              </a:lnSpc>
              <a:spcBef>
                <a:spcPts val="490"/>
              </a:spcBef>
            </a:pPr>
            <a:r>
              <a:rPr lang="en-US" sz="1600" spc="-50" dirty="0">
                <a:latin typeface="Calibri"/>
                <a:cs typeface="Calibri"/>
              </a:rPr>
              <a:t>	int</a:t>
            </a:r>
            <a:r>
              <a:rPr lang="en-US" sz="1600" spc="5" dirty="0">
                <a:latin typeface="Calibri"/>
                <a:cs typeface="Calibri"/>
              </a:rPr>
              <a:t> </a:t>
            </a:r>
            <a:r>
              <a:rPr lang="en-US" sz="1600" spc="-35" dirty="0">
                <a:latin typeface="Calibri"/>
                <a:cs typeface="Calibri"/>
              </a:rPr>
              <a:t>a=3,b=5;</a:t>
            </a:r>
            <a:endParaRPr lang="en-US" sz="1600" dirty="0">
              <a:latin typeface="Calibri"/>
              <a:cs typeface="Calibri"/>
            </a:endParaRPr>
          </a:p>
          <a:p>
            <a:pPr marL="12700">
              <a:lnSpc>
                <a:spcPct val="100000"/>
              </a:lnSpc>
              <a:spcBef>
                <a:spcPts val="400"/>
              </a:spcBef>
            </a:pPr>
            <a:r>
              <a:rPr lang="en-US" sz="1600" spc="-50" dirty="0">
                <a:latin typeface="Calibri"/>
                <a:cs typeface="Calibri"/>
              </a:rPr>
              <a:t>	int</a:t>
            </a:r>
            <a:r>
              <a:rPr lang="en-US" sz="1600" spc="25" dirty="0">
                <a:latin typeface="Calibri"/>
                <a:cs typeface="Calibri"/>
              </a:rPr>
              <a:t> </a:t>
            </a:r>
            <a:r>
              <a:rPr lang="en-US" sz="1600" spc="-35" dirty="0">
                <a:latin typeface="Calibri"/>
                <a:cs typeface="Calibri"/>
              </a:rPr>
              <a:t>c=(a&gt;</a:t>
            </a:r>
            <a:r>
              <a:rPr lang="en-US" sz="1600" spc="-35" dirty="0" err="1">
                <a:latin typeface="Calibri"/>
                <a:cs typeface="Calibri"/>
              </a:rPr>
              <a:t>b?a:b</a:t>
            </a:r>
            <a:r>
              <a:rPr lang="en-US" sz="1600" spc="-35" dirty="0">
                <a:latin typeface="Calibri"/>
                <a:cs typeface="Calibri"/>
              </a:rPr>
              <a:t>);</a:t>
            </a:r>
            <a:endParaRPr lang="en-US" sz="1600" dirty="0">
              <a:latin typeface="Calibri"/>
              <a:cs typeface="Calibri"/>
            </a:endParaRPr>
          </a:p>
          <a:p>
            <a:pPr>
              <a:lnSpc>
                <a:spcPct val="100000"/>
              </a:lnSpc>
              <a:spcBef>
                <a:spcPts val="25"/>
              </a:spcBef>
            </a:pPr>
            <a:endParaRPr lang="en-US" sz="2000" dirty="0">
              <a:latin typeface="Calibri"/>
              <a:cs typeface="Calibri"/>
            </a:endParaRPr>
          </a:p>
          <a:p>
            <a:pPr marL="194945" indent="-182880">
              <a:lnSpc>
                <a:spcPct val="100000"/>
              </a:lnSpc>
              <a:buChar char="•"/>
              <a:tabLst>
                <a:tab pos="195580" algn="l"/>
              </a:tabLst>
            </a:pPr>
            <a:r>
              <a:rPr lang="en-US" sz="1600" dirty="0">
                <a:latin typeface="Arial MT"/>
                <a:cs typeface="Arial MT"/>
              </a:rPr>
              <a:t>Here</a:t>
            </a:r>
            <a:r>
              <a:rPr lang="en-US" sz="1600" spc="-35" dirty="0">
                <a:latin typeface="Arial MT"/>
                <a:cs typeface="Arial MT"/>
              </a:rPr>
              <a:t> </a:t>
            </a:r>
            <a:r>
              <a:rPr lang="en-US" sz="1600" spc="5" dirty="0">
                <a:latin typeface="Arial MT"/>
                <a:cs typeface="Arial MT"/>
              </a:rPr>
              <a:t>a&gt;b</a:t>
            </a:r>
            <a:r>
              <a:rPr lang="en-US" sz="1600" spc="-35" dirty="0">
                <a:latin typeface="Arial MT"/>
                <a:cs typeface="Arial MT"/>
              </a:rPr>
              <a:t> </a:t>
            </a:r>
            <a:r>
              <a:rPr lang="en-US" sz="1600" spc="10" dirty="0">
                <a:latin typeface="Arial MT"/>
                <a:cs typeface="Arial MT"/>
              </a:rPr>
              <a:t>is</a:t>
            </a:r>
            <a:r>
              <a:rPr lang="en-US" sz="1600" spc="-5" dirty="0">
                <a:latin typeface="Arial MT"/>
                <a:cs typeface="Arial MT"/>
              </a:rPr>
              <a:t> </a:t>
            </a:r>
            <a:r>
              <a:rPr lang="en-US" sz="1600" b="1" dirty="0">
                <a:latin typeface="Arial"/>
                <a:cs typeface="Arial"/>
              </a:rPr>
              <a:t>false</a:t>
            </a:r>
            <a:r>
              <a:rPr lang="en-US" sz="1600" b="1" spc="-25" dirty="0">
                <a:latin typeface="Arial"/>
                <a:cs typeface="Arial"/>
              </a:rPr>
              <a:t> </a:t>
            </a:r>
            <a:r>
              <a:rPr lang="en-US" sz="1600" spc="15" dirty="0">
                <a:latin typeface="Arial MT"/>
                <a:cs typeface="Arial MT"/>
              </a:rPr>
              <a:t>so</a:t>
            </a:r>
            <a:r>
              <a:rPr lang="en-US" sz="1600" spc="-35" dirty="0">
                <a:latin typeface="Arial MT"/>
                <a:cs typeface="Arial MT"/>
              </a:rPr>
              <a:t> </a:t>
            </a:r>
            <a:r>
              <a:rPr lang="en-US" sz="1600" spc="5" dirty="0">
                <a:latin typeface="Arial MT"/>
                <a:cs typeface="Arial MT"/>
              </a:rPr>
              <a:t>the</a:t>
            </a:r>
            <a:r>
              <a:rPr lang="en-US" sz="1600" spc="-30" dirty="0">
                <a:latin typeface="Arial MT"/>
                <a:cs typeface="Arial MT"/>
              </a:rPr>
              <a:t> </a:t>
            </a:r>
            <a:r>
              <a:rPr lang="en-US" sz="1600" spc="20" dirty="0">
                <a:latin typeface="Arial MT"/>
                <a:cs typeface="Arial MT"/>
              </a:rPr>
              <a:t>value</a:t>
            </a:r>
            <a:r>
              <a:rPr lang="en-US" sz="1600" spc="-150" dirty="0">
                <a:latin typeface="Arial MT"/>
                <a:cs typeface="Arial MT"/>
              </a:rPr>
              <a:t> </a:t>
            </a:r>
            <a:r>
              <a:rPr lang="en-US" sz="1600" spc="5" dirty="0">
                <a:latin typeface="Arial MT"/>
                <a:cs typeface="Arial MT"/>
              </a:rPr>
              <a:t>of </a:t>
            </a:r>
            <a:r>
              <a:rPr lang="en-US" sz="1600" spc="10" dirty="0">
                <a:latin typeface="Arial MT"/>
                <a:cs typeface="Arial MT"/>
              </a:rPr>
              <a:t>b</a:t>
            </a:r>
            <a:r>
              <a:rPr lang="en-US" sz="1600" spc="-35" dirty="0">
                <a:latin typeface="Arial MT"/>
                <a:cs typeface="Arial MT"/>
              </a:rPr>
              <a:t> </a:t>
            </a:r>
            <a:r>
              <a:rPr lang="en-US" sz="1600" spc="10" dirty="0">
                <a:latin typeface="Arial MT"/>
                <a:cs typeface="Arial MT"/>
              </a:rPr>
              <a:t>is</a:t>
            </a:r>
            <a:r>
              <a:rPr lang="en-US" sz="1600" spc="-15" dirty="0">
                <a:latin typeface="Arial MT"/>
                <a:cs typeface="Arial MT"/>
              </a:rPr>
              <a:t> </a:t>
            </a:r>
            <a:r>
              <a:rPr lang="en-US" sz="1600" spc="5" dirty="0">
                <a:latin typeface="Arial MT"/>
                <a:cs typeface="Arial MT"/>
              </a:rPr>
              <a:t>stored</a:t>
            </a:r>
            <a:r>
              <a:rPr lang="en-US" sz="1600" spc="-70" dirty="0">
                <a:latin typeface="Arial MT"/>
                <a:cs typeface="Arial MT"/>
              </a:rPr>
              <a:t> </a:t>
            </a:r>
            <a:r>
              <a:rPr lang="en-US" sz="1600" spc="10" dirty="0">
                <a:latin typeface="Arial MT"/>
                <a:cs typeface="Arial MT"/>
              </a:rPr>
              <a:t>in</a:t>
            </a:r>
            <a:r>
              <a:rPr lang="en-US" sz="1600" spc="-30" dirty="0">
                <a:latin typeface="Arial MT"/>
                <a:cs typeface="Arial MT"/>
              </a:rPr>
              <a:t> </a:t>
            </a:r>
            <a:r>
              <a:rPr lang="en-US" sz="1600" spc="10" dirty="0">
                <a:latin typeface="Arial MT"/>
                <a:cs typeface="Arial MT"/>
              </a:rPr>
              <a:t>c.</a:t>
            </a:r>
            <a:endParaRPr lang="en-US" sz="1600" dirty="0">
              <a:latin typeface="Arial MT"/>
              <a:cs typeface="Arial MT"/>
            </a:endParaRPr>
          </a:p>
          <a:p>
            <a:pPr marL="407670" marR="960755" lvl="1" indent="-152400" algn="just">
              <a:lnSpc>
                <a:spcPct val="103400"/>
              </a:lnSpc>
              <a:spcBef>
                <a:spcPts val="360"/>
              </a:spcBef>
              <a:buChar char="–"/>
              <a:tabLst>
                <a:tab pos="408305" algn="l"/>
              </a:tabLst>
            </a:pPr>
            <a:endParaRPr lang="en-US" sz="1450" dirty="0">
              <a:latin typeface="Arial MT"/>
              <a:cs typeface="Arial MT"/>
            </a:endParaRPr>
          </a:p>
          <a:p>
            <a:pPr marR="5080" algn="just">
              <a:lnSpc>
                <a:spcPct val="100000"/>
              </a:lnSpc>
              <a:spcBef>
                <a:spcPts val="490"/>
              </a:spcBef>
            </a:pPr>
            <a:r>
              <a:rPr sz="750" spc="20" dirty="0">
                <a:latin typeface="Arial MT"/>
                <a:cs typeface="Arial MT"/>
              </a:rPr>
              <a:t>79</a:t>
            </a:r>
            <a:endParaRPr sz="750" dirty="0">
              <a:latin typeface="Arial MT"/>
              <a:cs typeface="Arial MT"/>
            </a:endParaRPr>
          </a:p>
        </p:txBody>
      </p:sp>
      <p:sp>
        <p:nvSpPr>
          <p:cNvPr id="5" name="object 5"/>
          <p:cNvSpPr/>
          <p:nvPr/>
        </p:nvSpPr>
        <p:spPr>
          <a:xfrm>
            <a:off x="35560" y="696901"/>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a:spLocks noGrp="1"/>
          </p:cNvSpPr>
          <p:nvPr>
            <p:ph type="title"/>
          </p:nvPr>
        </p:nvSpPr>
        <p:spPr>
          <a:xfrm>
            <a:off x="1879600" y="726272"/>
            <a:ext cx="2359025" cy="318135"/>
          </a:xfrm>
          <a:prstGeom prst="rect">
            <a:avLst/>
          </a:prstGeom>
        </p:spPr>
        <p:txBody>
          <a:bodyPr vert="horz" wrap="square" lIns="0" tIns="14604" rIns="0" bIns="0" rtlCol="0">
            <a:spAutoFit/>
          </a:bodyPr>
          <a:lstStyle/>
          <a:p>
            <a:pPr marL="12700">
              <a:lnSpc>
                <a:spcPct val="100000"/>
              </a:lnSpc>
              <a:spcBef>
                <a:spcPts val="114"/>
              </a:spcBef>
            </a:pPr>
            <a:r>
              <a:rPr spc="5" dirty="0">
                <a:solidFill>
                  <a:schemeClr val="tx1"/>
                </a:solidFill>
              </a:rPr>
              <a:t>Operator</a:t>
            </a:r>
            <a:r>
              <a:rPr spc="-60" dirty="0">
                <a:solidFill>
                  <a:schemeClr val="tx1"/>
                </a:solidFill>
              </a:rPr>
              <a:t> </a:t>
            </a:r>
            <a:r>
              <a:rPr spc="10" dirty="0">
                <a:solidFill>
                  <a:schemeClr val="tx1"/>
                </a:solidFill>
              </a:rPr>
              <a:t>Precedence</a:t>
            </a:r>
          </a:p>
        </p:txBody>
      </p:sp>
      <p:sp>
        <p:nvSpPr>
          <p:cNvPr id="4" name="object 4"/>
          <p:cNvSpPr txBox="1"/>
          <p:nvPr/>
        </p:nvSpPr>
        <p:spPr>
          <a:xfrm>
            <a:off x="368334" y="1155700"/>
            <a:ext cx="5930866" cy="1992469"/>
          </a:xfrm>
          <a:prstGeom prst="rect">
            <a:avLst/>
          </a:prstGeom>
        </p:spPr>
        <p:txBody>
          <a:bodyPr vert="horz" wrap="square" lIns="0" tIns="9525" rIns="0" bIns="0" rtlCol="0">
            <a:spAutoFit/>
          </a:bodyPr>
          <a:lstStyle/>
          <a:p>
            <a:pPr marL="194945" marR="184150" indent="-182880" algn="just">
              <a:lnSpc>
                <a:spcPct val="101899"/>
              </a:lnSpc>
              <a:spcBef>
                <a:spcPts val="75"/>
              </a:spcBef>
              <a:buChar char="•"/>
              <a:tabLst>
                <a:tab pos="195580" algn="l"/>
              </a:tabLst>
            </a:pPr>
            <a:r>
              <a:rPr sz="1700" dirty="0">
                <a:latin typeface="Arial MT"/>
                <a:cs typeface="Arial MT"/>
              </a:rPr>
              <a:t>Operator</a:t>
            </a:r>
            <a:r>
              <a:rPr sz="1700" spc="-45" dirty="0">
                <a:latin typeface="Arial MT"/>
                <a:cs typeface="Arial MT"/>
              </a:rPr>
              <a:t> </a:t>
            </a:r>
            <a:r>
              <a:rPr sz="1700" spc="5" dirty="0">
                <a:latin typeface="Arial MT"/>
                <a:cs typeface="Arial MT"/>
              </a:rPr>
              <a:t>precedence</a:t>
            </a:r>
            <a:r>
              <a:rPr sz="1700" spc="-145" dirty="0">
                <a:latin typeface="Arial MT"/>
                <a:cs typeface="Arial MT"/>
              </a:rPr>
              <a:t> </a:t>
            </a:r>
            <a:r>
              <a:rPr sz="1700" spc="5" dirty="0">
                <a:latin typeface="Arial MT"/>
                <a:cs typeface="Arial MT"/>
              </a:rPr>
              <a:t>determines</a:t>
            </a:r>
            <a:r>
              <a:rPr sz="1700" spc="-90" dirty="0">
                <a:latin typeface="Arial MT"/>
                <a:cs typeface="Arial MT"/>
              </a:rPr>
              <a:t> </a:t>
            </a:r>
            <a:r>
              <a:rPr sz="1700" spc="5" dirty="0">
                <a:latin typeface="Arial MT"/>
                <a:cs typeface="Arial MT"/>
              </a:rPr>
              <a:t>the</a:t>
            </a:r>
            <a:r>
              <a:rPr sz="1700" spc="-20" dirty="0">
                <a:latin typeface="Arial MT"/>
                <a:cs typeface="Arial MT"/>
              </a:rPr>
              <a:t> </a:t>
            </a:r>
            <a:r>
              <a:rPr sz="1700" dirty="0">
                <a:latin typeface="Arial MT"/>
                <a:cs typeface="Arial MT"/>
              </a:rPr>
              <a:t>order</a:t>
            </a:r>
            <a:r>
              <a:rPr sz="1700" spc="-40" dirty="0">
                <a:latin typeface="Arial MT"/>
                <a:cs typeface="Arial MT"/>
              </a:rPr>
              <a:t> </a:t>
            </a:r>
            <a:r>
              <a:rPr sz="1700" spc="10" dirty="0">
                <a:latin typeface="Arial MT"/>
                <a:cs typeface="Arial MT"/>
              </a:rPr>
              <a:t>in</a:t>
            </a:r>
            <a:r>
              <a:rPr sz="1700" spc="-25" dirty="0">
                <a:latin typeface="Arial MT"/>
                <a:cs typeface="Arial MT"/>
              </a:rPr>
              <a:t> </a:t>
            </a:r>
            <a:r>
              <a:rPr sz="1700" spc="-5" dirty="0">
                <a:latin typeface="Arial MT"/>
                <a:cs typeface="Arial MT"/>
              </a:rPr>
              <a:t>which</a:t>
            </a:r>
            <a:r>
              <a:rPr sz="1700" spc="10" dirty="0">
                <a:latin typeface="Arial MT"/>
                <a:cs typeface="Arial MT"/>
              </a:rPr>
              <a:t> </a:t>
            </a:r>
            <a:r>
              <a:rPr sz="1700" dirty="0">
                <a:latin typeface="Arial MT"/>
                <a:cs typeface="Arial MT"/>
              </a:rPr>
              <a:t>the </a:t>
            </a:r>
            <a:r>
              <a:rPr sz="1700" spc="-455" dirty="0">
                <a:latin typeface="Arial MT"/>
                <a:cs typeface="Arial MT"/>
              </a:rPr>
              <a:t> </a:t>
            </a:r>
            <a:r>
              <a:rPr sz="1700" dirty="0">
                <a:latin typeface="Arial MT"/>
                <a:cs typeface="Arial MT"/>
              </a:rPr>
              <a:t>operators</a:t>
            </a:r>
            <a:r>
              <a:rPr sz="1700" spc="-60" dirty="0">
                <a:latin typeface="Arial MT"/>
                <a:cs typeface="Arial MT"/>
              </a:rPr>
              <a:t> </a:t>
            </a:r>
            <a:r>
              <a:rPr sz="1700" spc="10" dirty="0">
                <a:latin typeface="Arial MT"/>
                <a:cs typeface="Arial MT"/>
              </a:rPr>
              <a:t>in</a:t>
            </a:r>
            <a:r>
              <a:rPr sz="1700" spc="-35" dirty="0">
                <a:latin typeface="Arial MT"/>
                <a:cs typeface="Arial MT"/>
              </a:rPr>
              <a:t> </a:t>
            </a:r>
            <a:r>
              <a:rPr sz="1700" spc="5" dirty="0">
                <a:latin typeface="Arial MT"/>
                <a:cs typeface="Arial MT"/>
              </a:rPr>
              <a:t>an</a:t>
            </a:r>
            <a:r>
              <a:rPr sz="1700" spc="-30" dirty="0">
                <a:latin typeface="Arial MT"/>
                <a:cs typeface="Arial MT"/>
              </a:rPr>
              <a:t> </a:t>
            </a:r>
            <a:r>
              <a:rPr sz="1700" spc="5" dirty="0">
                <a:latin typeface="Arial MT"/>
                <a:cs typeface="Arial MT"/>
              </a:rPr>
              <a:t>expression</a:t>
            </a:r>
            <a:r>
              <a:rPr sz="1700" spc="-114" dirty="0">
                <a:latin typeface="Arial MT"/>
                <a:cs typeface="Arial MT"/>
              </a:rPr>
              <a:t> </a:t>
            </a:r>
            <a:r>
              <a:rPr sz="1700" dirty="0">
                <a:latin typeface="Arial MT"/>
                <a:cs typeface="Arial MT"/>
              </a:rPr>
              <a:t>are</a:t>
            </a:r>
            <a:r>
              <a:rPr sz="1700" spc="-35" dirty="0">
                <a:latin typeface="Arial MT"/>
                <a:cs typeface="Arial MT"/>
              </a:rPr>
              <a:t> </a:t>
            </a:r>
            <a:r>
              <a:rPr sz="1700" spc="10" dirty="0">
                <a:latin typeface="Arial MT"/>
                <a:cs typeface="Arial MT"/>
              </a:rPr>
              <a:t>evaluated.</a:t>
            </a:r>
            <a:endParaRPr sz="1700" dirty="0">
              <a:latin typeface="Arial MT"/>
              <a:cs typeface="Arial MT"/>
            </a:endParaRPr>
          </a:p>
          <a:p>
            <a:pPr marL="95250" algn="just">
              <a:lnSpc>
                <a:spcPct val="100000"/>
              </a:lnSpc>
              <a:spcBef>
                <a:spcPts val="320"/>
              </a:spcBef>
            </a:pPr>
            <a:r>
              <a:rPr lang="en-US" sz="1700" spc="-80" dirty="0">
                <a:solidFill>
                  <a:srgbClr val="FF0000"/>
                </a:solidFill>
                <a:latin typeface="Times New Roman"/>
                <a:cs typeface="Times New Roman"/>
              </a:rPr>
              <a:t>    </a:t>
            </a:r>
            <a:r>
              <a:rPr sz="1700" spc="-80" dirty="0">
                <a:solidFill>
                  <a:srgbClr val="FF0000"/>
                </a:solidFill>
                <a:latin typeface="Times New Roman"/>
                <a:cs typeface="Times New Roman"/>
              </a:rPr>
              <a:t>i</a:t>
            </a:r>
            <a:r>
              <a:rPr sz="1700" spc="20" dirty="0">
                <a:solidFill>
                  <a:srgbClr val="FF0000"/>
                </a:solidFill>
                <a:latin typeface="Times New Roman"/>
                <a:cs typeface="Times New Roman"/>
              </a:rPr>
              <a:t>n</a:t>
            </a:r>
            <a:r>
              <a:rPr sz="1700" spc="-30" dirty="0">
                <a:solidFill>
                  <a:srgbClr val="FF0000"/>
                </a:solidFill>
                <a:latin typeface="Times New Roman"/>
                <a:cs typeface="Times New Roman"/>
              </a:rPr>
              <a:t>t</a:t>
            </a:r>
            <a:r>
              <a:rPr sz="1700" spc="5" dirty="0">
                <a:solidFill>
                  <a:srgbClr val="FF0000"/>
                </a:solidFill>
                <a:latin typeface="Times New Roman"/>
                <a:cs typeface="Times New Roman"/>
              </a:rPr>
              <a:t> </a:t>
            </a:r>
            <a:r>
              <a:rPr sz="1700" spc="30" dirty="0">
                <a:solidFill>
                  <a:srgbClr val="FF0000"/>
                </a:solidFill>
                <a:latin typeface="Times New Roman"/>
                <a:cs typeface="Times New Roman"/>
              </a:rPr>
              <a:t>m</a:t>
            </a:r>
            <a:r>
              <a:rPr sz="1700" spc="-50" dirty="0">
                <a:solidFill>
                  <a:srgbClr val="FF0000"/>
                </a:solidFill>
                <a:latin typeface="Times New Roman"/>
                <a:cs typeface="Times New Roman"/>
              </a:rPr>
              <a:t>y</a:t>
            </a:r>
            <a:r>
              <a:rPr sz="1700" spc="-55" dirty="0">
                <a:solidFill>
                  <a:srgbClr val="FF0000"/>
                </a:solidFill>
                <a:latin typeface="Times New Roman"/>
                <a:cs typeface="Times New Roman"/>
              </a:rPr>
              <a:t>I</a:t>
            </a:r>
            <a:r>
              <a:rPr sz="1700" spc="20" dirty="0">
                <a:solidFill>
                  <a:srgbClr val="FF0000"/>
                </a:solidFill>
                <a:latin typeface="Times New Roman"/>
                <a:cs typeface="Times New Roman"/>
              </a:rPr>
              <a:t>n</a:t>
            </a:r>
            <a:r>
              <a:rPr sz="1700" spc="-30" dirty="0">
                <a:solidFill>
                  <a:srgbClr val="FF0000"/>
                </a:solidFill>
                <a:latin typeface="Times New Roman"/>
                <a:cs typeface="Times New Roman"/>
              </a:rPr>
              <a:t>t</a:t>
            </a:r>
            <a:r>
              <a:rPr sz="1700" spc="5" dirty="0">
                <a:solidFill>
                  <a:srgbClr val="FF0000"/>
                </a:solidFill>
                <a:latin typeface="Times New Roman"/>
                <a:cs typeface="Times New Roman"/>
              </a:rPr>
              <a:t> </a:t>
            </a:r>
            <a:r>
              <a:rPr sz="1700" spc="-114" dirty="0">
                <a:solidFill>
                  <a:srgbClr val="FF0000"/>
                </a:solidFill>
                <a:latin typeface="Times New Roman"/>
                <a:cs typeface="Times New Roman"/>
              </a:rPr>
              <a:t>=</a:t>
            </a:r>
            <a:r>
              <a:rPr sz="1700" spc="5" dirty="0">
                <a:solidFill>
                  <a:srgbClr val="FF0000"/>
                </a:solidFill>
                <a:latin typeface="Times New Roman"/>
                <a:cs typeface="Times New Roman"/>
              </a:rPr>
              <a:t> </a:t>
            </a:r>
            <a:r>
              <a:rPr sz="1700" spc="-20" dirty="0">
                <a:solidFill>
                  <a:srgbClr val="FF0000"/>
                </a:solidFill>
                <a:latin typeface="Times New Roman"/>
                <a:cs typeface="Times New Roman"/>
              </a:rPr>
              <a:t>1</a:t>
            </a:r>
            <a:r>
              <a:rPr sz="1700" spc="-10" dirty="0">
                <a:solidFill>
                  <a:srgbClr val="FF0000"/>
                </a:solidFill>
                <a:latin typeface="Times New Roman"/>
                <a:cs typeface="Times New Roman"/>
              </a:rPr>
              <a:t>2</a:t>
            </a:r>
            <a:r>
              <a:rPr sz="1700" spc="15" dirty="0">
                <a:solidFill>
                  <a:srgbClr val="FF0000"/>
                </a:solidFill>
                <a:latin typeface="Times New Roman"/>
                <a:cs typeface="Times New Roman"/>
              </a:rPr>
              <a:t> </a:t>
            </a:r>
            <a:r>
              <a:rPr sz="1700" spc="-140" dirty="0">
                <a:solidFill>
                  <a:srgbClr val="FF0000"/>
                </a:solidFill>
                <a:latin typeface="Times New Roman"/>
                <a:cs typeface="Times New Roman"/>
              </a:rPr>
              <a:t>-</a:t>
            </a:r>
            <a:r>
              <a:rPr sz="1700" spc="-20" dirty="0">
                <a:solidFill>
                  <a:srgbClr val="FF0000"/>
                </a:solidFill>
                <a:latin typeface="Times New Roman"/>
                <a:cs typeface="Times New Roman"/>
              </a:rPr>
              <a:t> </a:t>
            </a:r>
            <a:r>
              <a:rPr sz="1700" spc="-10" dirty="0">
                <a:solidFill>
                  <a:srgbClr val="FF0000"/>
                </a:solidFill>
                <a:latin typeface="Times New Roman"/>
                <a:cs typeface="Times New Roman"/>
              </a:rPr>
              <a:t>4</a:t>
            </a:r>
            <a:r>
              <a:rPr sz="1700" spc="5" dirty="0">
                <a:solidFill>
                  <a:srgbClr val="FF0000"/>
                </a:solidFill>
                <a:latin typeface="Times New Roman"/>
                <a:cs typeface="Times New Roman"/>
              </a:rPr>
              <a:t> </a:t>
            </a:r>
            <a:r>
              <a:rPr sz="1700" spc="-10" dirty="0">
                <a:solidFill>
                  <a:srgbClr val="FF0000"/>
                </a:solidFill>
                <a:latin typeface="Times New Roman"/>
                <a:cs typeface="Times New Roman"/>
              </a:rPr>
              <a:t>*</a:t>
            </a:r>
            <a:r>
              <a:rPr sz="1700" spc="-35" dirty="0">
                <a:solidFill>
                  <a:srgbClr val="FF0000"/>
                </a:solidFill>
                <a:latin typeface="Times New Roman"/>
                <a:cs typeface="Times New Roman"/>
              </a:rPr>
              <a:t> </a:t>
            </a:r>
            <a:r>
              <a:rPr sz="1700" spc="-20" dirty="0">
                <a:solidFill>
                  <a:srgbClr val="FF0000"/>
                </a:solidFill>
                <a:latin typeface="Times New Roman"/>
                <a:cs typeface="Times New Roman"/>
              </a:rPr>
              <a:t>2</a:t>
            </a:r>
            <a:r>
              <a:rPr sz="1700" spc="-65" dirty="0">
                <a:solidFill>
                  <a:srgbClr val="FF0000"/>
                </a:solidFill>
                <a:latin typeface="Times New Roman"/>
                <a:cs typeface="Times New Roman"/>
              </a:rPr>
              <a:t>;</a:t>
            </a:r>
            <a:endParaRPr sz="1700" dirty="0">
              <a:latin typeface="Times New Roman"/>
              <a:cs typeface="Times New Roman"/>
            </a:endParaRPr>
          </a:p>
          <a:p>
            <a:pPr marL="194945" marR="5080" indent="-182880" algn="just">
              <a:spcBef>
                <a:spcPts val="400"/>
              </a:spcBef>
              <a:buFontTx/>
              <a:buChar char="•"/>
              <a:tabLst>
                <a:tab pos="195580" algn="l"/>
              </a:tabLst>
            </a:pPr>
            <a:r>
              <a:rPr lang="en-US" sz="1700" spc="5" dirty="0">
                <a:latin typeface="Arial MT"/>
                <a:cs typeface="Arial MT"/>
              </a:rPr>
              <a:t>Here </a:t>
            </a:r>
            <a:r>
              <a:rPr sz="1700" spc="5" dirty="0">
                <a:latin typeface="Arial MT"/>
                <a:cs typeface="Arial MT"/>
              </a:rPr>
              <a:t>the precedence </a:t>
            </a:r>
            <a:r>
              <a:rPr sz="1700" dirty="0">
                <a:latin typeface="Arial MT"/>
                <a:cs typeface="Arial MT"/>
              </a:rPr>
              <a:t>of </a:t>
            </a:r>
            <a:r>
              <a:rPr sz="1700" spc="5" dirty="0">
                <a:latin typeface="Arial MT"/>
                <a:cs typeface="Arial MT"/>
              </a:rPr>
              <a:t>* </a:t>
            </a:r>
            <a:r>
              <a:rPr sz="1700" spc="10" dirty="0">
                <a:latin typeface="Arial MT"/>
                <a:cs typeface="Arial MT"/>
              </a:rPr>
              <a:t>is </a:t>
            </a:r>
            <a:r>
              <a:rPr sz="1700" spc="5" dirty="0">
                <a:latin typeface="Arial MT"/>
                <a:cs typeface="Arial MT"/>
              </a:rPr>
              <a:t>higher than that </a:t>
            </a:r>
            <a:r>
              <a:rPr sz="1700" dirty="0">
                <a:latin typeface="Arial MT"/>
                <a:cs typeface="Arial MT"/>
              </a:rPr>
              <a:t>of </a:t>
            </a:r>
            <a:r>
              <a:rPr sz="1700" spc="-5" dirty="0">
                <a:latin typeface="Arial MT"/>
                <a:cs typeface="Arial MT"/>
              </a:rPr>
              <a:t>-. </a:t>
            </a:r>
            <a:r>
              <a:rPr sz="1700" dirty="0">
                <a:latin typeface="Arial MT"/>
                <a:cs typeface="Arial MT"/>
              </a:rPr>
              <a:t> </a:t>
            </a:r>
            <a:r>
              <a:rPr sz="1700" spc="5" dirty="0">
                <a:latin typeface="Arial MT"/>
                <a:cs typeface="Arial MT"/>
              </a:rPr>
              <a:t>Hen</a:t>
            </a:r>
            <a:r>
              <a:rPr sz="1700" spc="20" dirty="0">
                <a:latin typeface="Arial MT"/>
                <a:cs typeface="Arial MT"/>
              </a:rPr>
              <a:t>c</a:t>
            </a:r>
            <a:r>
              <a:rPr sz="1700" spc="5" dirty="0">
                <a:latin typeface="Arial MT"/>
                <a:cs typeface="Arial MT"/>
              </a:rPr>
              <a:t>e,</a:t>
            </a:r>
            <a:r>
              <a:rPr sz="1700" spc="-25" dirty="0">
                <a:latin typeface="Times New Roman"/>
                <a:cs typeface="Times New Roman"/>
              </a:rPr>
              <a:t> </a:t>
            </a:r>
            <a:r>
              <a:rPr sz="1700" spc="5" dirty="0">
                <a:latin typeface="Arial MT"/>
                <a:cs typeface="Arial MT"/>
              </a:rPr>
              <a:t>the</a:t>
            </a:r>
            <a:r>
              <a:rPr sz="1700" spc="15" dirty="0">
                <a:latin typeface="Times New Roman"/>
                <a:cs typeface="Times New Roman"/>
              </a:rPr>
              <a:t> </a:t>
            </a:r>
            <a:r>
              <a:rPr sz="1700" spc="20" dirty="0">
                <a:latin typeface="Arial MT"/>
                <a:cs typeface="Arial MT"/>
              </a:rPr>
              <a:t>m</a:t>
            </a:r>
            <a:r>
              <a:rPr sz="1700" spc="5" dirty="0">
                <a:latin typeface="Arial MT"/>
                <a:cs typeface="Arial MT"/>
              </a:rPr>
              <a:t>u</a:t>
            </a:r>
            <a:r>
              <a:rPr sz="1700" spc="15" dirty="0">
                <a:latin typeface="Arial MT"/>
                <a:cs typeface="Arial MT"/>
              </a:rPr>
              <a:t>l</a:t>
            </a:r>
            <a:r>
              <a:rPr sz="1700" spc="5" dirty="0">
                <a:latin typeface="Arial MT"/>
                <a:cs typeface="Arial MT"/>
              </a:rPr>
              <a:t>t</a:t>
            </a:r>
            <a:r>
              <a:rPr sz="1700" spc="15" dirty="0">
                <a:latin typeface="Arial MT"/>
                <a:cs typeface="Arial MT"/>
              </a:rPr>
              <a:t>i</a:t>
            </a:r>
            <a:r>
              <a:rPr sz="1700" spc="5" dirty="0">
                <a:latin typeface="Arial MT"/>
                <a:cs typeface="Arial MT"/>
              </a:rPr>
              <a:t>p</a:t>
            </a:r>
            <a:r>
              <a:rPr sz="1700" spc="15" dirty="0">
                <a:latin typeface="Arial MT"/>
                <a:cs typeface="Arial MT"/>
              </a:rPr>
              <a:t>l</a:t>
            </a:r>
            <a:r>
              <a:rPr sz="1700" spc="-25" dirty="0">
                <a:latin typeface="Arial MT"/>
                <a:cs typeface="Arial MT"/>
              </a:rPr>
              <a:t>i</a:t>
            </a:r>
            <a:r>
              <a:rPr sz="1700" spc="20" dirty="0">
                <a:latin typeface="Arial MT"/>
                <a:cs typeface="Arial MT"/>
              </a:rPr>
              <a:t>c</a:t>
            </a:r>
            <a:r>
              <a:rPr sz="1700" spc="-30" dirty="0">
                <a:latin typeface="Arial MT"/>
                <a:cs typeface="Arial MT"/>
              </a:rPr>
              <a:t>a</a:t>
            </a:r>
            <a:r>
              <a:rPr sz="1700" spc="5" dirty="0">
                <a:latin typeface="Arial MT"/>
                <a:cs typeface="Arial MT"/>
              </a:rPr>
              <a:t>t</a:t>
            </a:r>
            <a:r>
              <a:rPr sz="1700" spc="15" dirty="0">
                <a:latin typeface="Arial MT"/>
                <a:cs typeface="Arial MT"/>
              </a:rPr>
              <a:t>i</a:t>
            </a:r>
            <a:r>
              <a:rPr sz="1700" spc="-30" dirty="0">
                <a:latin typeface="Arial MT"/>
                <a:cs typeface="Arial MT"/>
              </a:rPr>
              <a:t>o</a:t>
            </a:r>
            <a:r>
              <a:rPr sz="1700" spc="10" dirty="0">
                <a:latin typeface="Arial MT"/>
                <a:cs typeface="Arial MT"/>
              </a:rPr>
              <a:t>n</a:t>
            </a:r>
            <a:r>
              <a:rPr sz="1700" spc="-65" dirty="0">
                <a:latin typeface="Times New Roman"/>
                <a:cs typeface="Times New Roman"/>
              </a:rPr>
              <a:t> </a:t>
            </a:r>
            <a:r>
              <a:rPr sz="1700" spc="15" dirty="0">
                <a:latin typeface="Arial MT"/>
                <a:cs typeface="Arial MT"/>
              </a:rPr>
              <a:t>i</a:t>
            </a:r>
            <a:r>
              <a:rPr sz="1700" spc="5" dirty="0">
                <a:latin typeface="Arial MT"/>
                <a:cs typeface="Arial MT"/>
              </a:rPr>
              <a:t>s</a:t>
            </a:r>
            <a:r>
              <a:rPr sz="1700" spc="30" dirty="0">
                <a:latin typeface="Times New Roman"/>
                <a:cs typeface="Times New Roman"/>
              </a:rPr>
              <a:t> </a:t>
            </a:r>
            <a:r>
              <a:rPr sz="1700" spc="5" dirty="0">
                <a:latin typeface="Arial MT"/>
                <a:cs typeface="Arial MT"/>
              </a:rPr>
              <a:t>pe</a:t>
            </a:r>
            <a:r>
              <a:rPr sz="1700" spc="-5" dirty="0">
                <a:latin typeface="Arial MT"/>
                <a:cs typeface="Arial MT"/>
              </a:rPr>
              <a:t>r</a:t>
            </a:r>
            <a:r>
              <a:rPr sz="1700" spc="40" dirty="0">
                <a:latin typeface="Arial MT"/>
                <a:cs typeface="Arial MT"/>
              </a:rPr>
              <a:t>f</a:t>
            </a:r>
            <a:r>
              <a:rPr sz="1700" spc="5" dirty="0">
                <a:latin typeface="Arial MT"/>
                <a:cs typeface="Arial MT"/>
              </a:rPr>
              <a:t>o</a:t>
            </a:r>
            <a:r>
              <a:rPr sz="1700" spc="-10" dirty="0">
                <a:latin typeface="Arial MT"/>
                <a:cs typeface="Arial MT"/>
              </a:rPr>
              <a:t>r</a:t>
            </a:r>
            <a:r>
              <a:rPr sz="1700" spc="20" dirty="0">
                <a:latin typeface="Arial MT"/>
                <a:cs typeface="Arial MT"/>
              </a:rPr>
              <a:t>m</a:t>
            </a:r>
            <a:r>
              <a:rPr sz="1700" spc="5" dirty="0">
                <a:latin typeface="Arial MT"/>
                <a:cs typeface="Arial MT"/>
              </a:rPr>
              <a:t>e</a:t>
            </a:r>
            <a:r>
              <a:rPr sz="1700" spc="10" dirty="0">
                <a:latin typeface="Arial MT"/>
                <a:cs typeface="Arial MT"/>
              </a:rPr>
              <a:t>d</a:t>
            </a:r>
            <a:r>
              <a:rPr sz="1700" spc="-105" dirty="0">
                <a:latin typeface="Times New Roman"/>
                <a:cs typeface="Times New Roman"/>
              </a:rPr>
              <a:t> </a:t>
            </a:r>
            <a:r>
              <a:rPr sz="1700" spc="5" dirty="0">
                <a:latin typeface="Arial MT"/>
                <a:cs typeface="Arial MT"/>
              </a:rPr>
              <a:t>be</a:t>
            </a:r>
            <a:r>
              <a:rPr sz="1700" spc="45" dirty="0">
                <a:latin typeface="Arial MT"/>
                <a:cs typeface="Arial MT"/>
              </a:rPr>
              <a:t>f</a:t>
            </a:r>
            <a:r>
              <a:rPr sz="1700" spc="5" dirty="0">
                <a:latin typeface="Arial MT"/>
                <a:cs typeface="Arial MT"/>
              </a:rPr>
              <a:t>o</a:t>
            </a:r>
            <a:r>
              <a:rPr sz="1700" spc="-10" dirty="0">
                <a:latin typeface="Arial MT"/>
                <a:cs typeface="Arial MT"/>
              </a:rPr>
              <a:t>r</a:t>
            </a:r>
            <a:r>
              <a:rPr sz="1700" spc="10" dirty="0">
                <a:latin typeface="Arial MT"/>
                <a:cs typeface="Arial MT"/>
              </a:rPr>
              <a:t>e</a:t>
            </a:r>
            <a:r>
              <a:rPr sz="1700" spc="-30" dirty="0">
                <a:latin typeface="Times New Roman"/>
                <a:cs typeface="Times New Roman"/>
              </a:rPr>
              <a:t> </a:t>
            </a:r>
            <a:r>
              <a:rPr sz="1700" spc="20" dirty="0">
                <a:latin typeface="Arial MT"/>
                <a:cs typeface="Arial MT"/>
              </a:rPr>
              <a:t>s</a:t>
            </a:r>
            <a:r>
              <a:rPr sz="1700" spc="5" dirty="0">
                <a:latin typeface="Arial MT"/>
                <a:cs typeface="Arial MT"/>
              </a:rPr>
              <a:t>ubt</a:t>
            </a:r>
            <a:r>
              <a:rPr sz="1700" spc="-10" dirty="0">
                <a:latin typeface="Arial MT"/>
                <a:cs typeface="Arial MT"/>
              </a:rPr>
              <a:t>r</a:t>
            </a:r>
            <a:r>
              <a:rPr sz="1700" spc="5" dirty="0">
                <a:latin typeface="Arial MT"/>
                <a:cs typeface="Arial MT"/>
              </a:rPr>
              <a:t>a</a:t>
            </a:r>
            <a:r>
              <a:rPr sz="1700" spc="20" dirty="0">
                <a:latin typeface="Arial MT"/>
                <a:cs typeface="Arial MT"/>
              </a:rPr>
              <a:t>c</a:t>
            </a:r>
            <a:r>
              <a:rPr sz="1700" spc="5" dirty="0">
                <a:latin typeface="Arial MT"/>
                <a:cs typeface="Arial MT"/>
              </a:rPr>
              <a:t>t</a:t>
            </a:r>
            <a:r>
              <a:rPr sz="1700" spc="15" dirty="0">
                <a:latin typeface="Arial MT"/>
                <a:cs typeface="Arial MT"/>
              </a:rPr>
              <a:t>i</a:t>
            </a:r>
            <a:r>
              <a:rPr sz="1700" spc="5" dirty="0">
                <a:latin typeface="Arial MT"/>
                <a:cs typeface="Arial MT"/>
              </a:rPr>
              <a:t>o</a:t>
            </a:r>
            <a:r>
              <a:rPr sz="1700" spc="-30" dirty="0">
                <a:latin typeface="Arial MT"/>
                <a:cs typeface="Arial MT"/>
              </a:rPr>
              <a:t>n</a:t>
            </a:r>
            <a:r>
              <a:rPr sz="1700" spc="5" dirty="0">
                <a:latin typeface="Arial MT"/>
                <a:cs typeface="Arial MT"/>
              </a:rPr>
              <a:t>,</a:t>
            </a:r>
            <a:r>
              <a:rPr lang="en-US" sz="1700" spc="5" dirty="0">
                <a:latin typeface="Arial MT"/>
                <a:cs typeface="Arial MT"/>
              </a:rPr>
              <a:t> an</a:t>
            </a:r>
            <a:r>
              <a:rPr lang="en-US" sz="1700" spc="10" dirty="0">
                <a:latin typeface="Arial MT"/>
                <a:cs typeface="Arial MT"/>
              </a:rPr>
              <a:t>d</a:t>
            </a:r>
            <a:r>
              <a:rPr lang="en-US" sz="1700" spc="15" dirty="0">
                <a:latin typeface="Times New Roman"/>
                <a:cs typeface="Times New Roman"/>
              </a:rPr>
              <a:t> </a:t>
            </a:r>
            <a:r>
              <a:rPr lang="en-US" sz="1700" spc="5" dirty="0">
                <a:latin typeface="Arial MT"/>
                <a:cs typeface="Arial MT"/>
              </a:rPr>
              <a:t>the</a:t>
            </a:r>
            <a:r>
              <a:rPr lang="en-US" sz="1700" spc="15" dirty="0">
                <a:latin typeface="Times New Roman"/>
                <a:cs typeface="Times New Roman"/>
              </a:rPr>
              <a:t> </a:t>
            </a:r>
            <a:r>
              <a:rPr lang="en-US" sz="1700" spc="60" dirty="0">
                <a:latin typeface="Arial MT"/>
                <a:cs typeface="Arial MT"/>
              </a:rPr>
              <a:t>v</a:t>
            </a:r>
            <a:r>
              <a:rPr lang="en-US" sz="1700" spc="5" dirty="0">
                <a:latin typeface="Arial MT"/>
                <a:cs typeface="Arial MT"/>
              </a:rPr>
              <a:t>a</a:t>
            </a:r>
            <a:r>
              <a:rPr lang="en-US" sz="1700" spc="15" dirty="0">
                <a:latin typeface="Arial MT"/>
                <a:cs typeface="Arial MT"/>
              </a:rPr>
              <a:t>l</a:t>
            </a:r>
            <a:r>
              <a:rPr lang="en-US" sz="1700" spc="5" dirty="0">
                <a:latin typeface="Arial MT"/>
                <a:cs typeface="Arial MT"/>
              </a:rPr>
              <a:t>u</a:t>
            </a:r>
            <a:r>
              <a:rPr lang="en-US" sz="1700" spc="10" dirty="0">
                <a:latin typeface="Arial MT"/>
                <a:cs typeface="Arial MT"/>
              </a:rPr>
              <a:t>e</a:t>
            </a:r>
            <a:r>
              <a:rPr lang="en-US" sz="1700" spc="-105" dirty="0">
                <a:latin typeface="Times New Roman"/>
                <a:cs typeface="Times New Roman"/>
              </a:rPr>
              <a:t> </a:t>
            </a:r>
            <a:r>
              <a:rPr lang="en-US" sz="1700" spc="5" dirty="0">
                <a:latin typeface="Arial MT"/>
                <a:cs typeface="Arial MT"/>
              </a:rPr>
              <a:t>of</a:t>
            </a:r>
            <a:r>
              <a:rPr lang="en-US" sz="1700" spc="75" dirty="0">
                <a:latin typeface="Times New Roman"/>
                <a:cs typeface="Times New Roman"/>
              </a:rPr>
              <a:t> </a:t>
            </a:r>
            <a:r>
              <a:rPr lang="en-US" sz="1700" spc="20" dirty="0" err="1">
                <a:latin typeface="Arial MT"/>
                <a:cs typeface="Arial MT"/>
              </a:rPr>
              <a:t>m</a:t>
            </a:r>
            <a:r>
              <a:rPr lang="en-US" sz="1700" spc="-20" dirty="0" err="1">
                <a:latin typeface="Arial MT"/>
                <a:cs typeface="Arial MT"/>
              </a:rPr>
              <a:t>y</a:t>
            </a:r>
            <a:r>
              <a:rPr lang="en-US" sz="1700" spc="5" dirty="0" err="1">
                <a:latin typeface="Arial MT"/>
                <a:cs typeface="Arial MT"/>
              </a:rPr>
              <a:t>Int</a:t>
            </a:r>
            <a:r>
              <a:rPr lang="en-US" sz="1700" spc="20" dirty="0">
                <a:latin typeface="Times New Roman"/>
                <a:cs typeface="Times New Roman"/>
              </a:rPr>
              <a:t> </a:t>
            </a:r>
            <a:r>
              <a:rPr lang="en-US" sz="1700" spc="-75" dirty="0">
                <a:latin typeface="Arial MT"/>
                <a:cs typeface="Arial MT"/>
              </a:rPr>
              <a:t>w</a:t>
            </a:r>
            <a:r>
              <a:rPr lang="en-US" sz="1700" spc="15" dirty="0">
                <a:latin typeface="Arial MT"/>
                <a:cs typeface="Arial MT"/>
              </a:rPr>
              <a:t>il</a:t>
            </a:r>
            <a:r>
              <a:rPr lang="en-US" sz="1700" dirty="0">
                <a:latin typeface="Arial MT"/>
                <a:cs typeface="Arial MT"/>
              </a:rPr>
              <a:t>l</a:t>
            </a:r>
            <a:r>
              <a:rPr lang="en-US" sz="1700" spc="65" dirty="0">
                <a:latin typeface="Times New Roman"/>
                <a:cs typeface="Times New Roman"/>
              </a:rPr>
              <a:t> </a:t>
            </a:r>
            <a:r>
              <a:rPr lang="en-US" sz="1700" spc="5" dirty="0">
                <a:latin typeface="Arial MT"/>
                <a:cs typeface="Arial MT"/>
              </a:rPr>
              <a:t>b</a:t>
            </a:r>
            <a:r>
              <a:rPr lang="en-US" sz="1700" spc="10" dirty="0">
                <a:latin typeface="Arial MT"/>
                <a:cs typeface="Arial MT"/>
              </a:rPr>
              <a:t>e</a:t>
            </a:r>
            <a:r>
              <a:rPr lang="en-US" sz="1700" spc="15" dirty="0">
                <a:latin typeface="Times New Roman"/>
                <a:cs typeface="Times New Roman"/>
              </a:rPr>
              <a:t> </a:t>
            </a:r>
            <a:r>
              <a:rPr lang="en-US" sz="1700" dirty="0">
                <a:latin typeface="Arial MT"/>
                <a:cs typeface="Arial MT"/>
              </a:rPr>
              <a:t>4.</a:t>
            </a:r>
          </a:p>
          <a:p>
            <a:pPr marL="194945" marR="5080" indent="-182880" algn="just">
              <a:lnSpc>
                <a:spcPct val="100000"/>
              </a:lnSpc>
              <a:spcBef>
                <a:spcPts val="400"/>
              </a:spcBef>
              <a:buChar char="•"/>
              <a:tabLst>
                <a:tab pos="195580" algn="l"/>
              </a:tabLst>
            </a:pPr>
            <a:endParaRPr sz="1700" dirty="0">
              <a:latin typeface="Arial MT"/>
              <a:cs typeface="Arial MT"/>
            </a:endParaRPr>
          </a:p>
        </p:txBody>
      </p:sp>
      <p:sp>
        <p:nvSpPr>
          <p:cNvPr id="7" name="object 7"/>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176167"/>
            <a:ext cx="6487240" cy="684201"/>
          </a:xfrm>
          <a:prstGeom prst="rect">
            <a:avLst/>
          </a:prstGeom>
        </p:spPr>
      </p:pic>
      <p:grpSp>
        <p:nvGrpSpPr>
          <p:cNvPr id="4" name="object 4"/>
          <p:cNvGrpSpPr/>
          <p:nvPr/>
        </p:nvGrpSpPr>
        <p:grpSpPr>
          <a:xfrm>
            <a:off x="-201" y="143146"/>
            <a:ext cx="6498590" cy="4149454"/>
            <a:chOff x="-1387" y="170827"/>
            <a:chExt cx="6498590" cy="3660140"/>
          </a:xfrm>
        </p:grpSpPr>
        <p:pic>
          <p:nvPicPr>
            <p:cNvPr id="5" name="object 5"/>
            <p:cNvPicPr/>
            <p:nvPr/>
          </p:nvPicPr>
          <p:blipFill>
            <a:blip r:embed="rId3" cstate="print"/>
            <a:stretch>
              <a:fillRect/>
            </a:stretch>
          </p:blipFill>
          <p:spPr>
            <a:xfrm>
              <a:off x="1136778" y="662710"/>
              <a:ext cx="3655835" cy="3162529"/>
            </a:xfrm>
            <a:prstGeom prst="rect">
              <a:avLst/>
            </a:prstGeom>
          </p:spPr>
        </p:pic>
        <p:sp>
          <p:nvSpPr>
            <p:cNvPr id="6" name="object 6"/>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a:spLocks noGrp="1"/>
          </p:cNvSpPr>
          <p:nvPr>
            <p:ph type="title"/>
          </p:nvPr>
        </p:nvSpPr>
        <p:spPr>
          <a:xfrm>
            <a:off x="1955800" y="726272"/>
            <a:ext cx="2729001" cy="307134"/>
          </a:xfrm>
          <a:prstGeom prst="rect">
            <a:avLst/>
          </a:prstGeom>
        </p:spPr>
        <p:txBody>
          <a:bodyPr vert="horz" wrap="square" lIns="0" tIns="14604" rIns="0" bIns="0" rtlCol="0">
            <a:spAutoFit/>
          </a:bodyPr>
          <a:lstStyle/>
          <a:p>
            <a:pPr marL="12700">
              <a:lnSpc>
                <a:spcPct val="100000"/>
              </a:lnSpc>
              <a:spcBef>
                <a:spcPts val="114"/>
              </a:spcBef>
            </a:pPr>
            <a:r>
              <a:rPr dirty="0">
                <a:solidFill>
                  <a:schemeClr val="tx1"/>
                </a:solidFill>
              </a:rPr>
              <a:t>Associativity</a:t>
            </a:r>
            <a:r>
              <a:rPr spc="10" dirty="0">
                <a:solidFill>
                  <a:schemeClr val="tx1"/>
                </a:solidFill>
              </a:rPr>
              <a:t> of</a:t>
            </a:r>
            <a:r>
              <a:rPr spc="-5" dirty="0">
                <a:solidFill>
                  <a:schemeClr val="tx1"/>
                </a:solidFill>
              </a:rPr>
              <a:t> </a:t>
            </a:r>
            <a:r>
              <a:rPr spc="5" dirty="0">
                <a:solidFill>
                  <a:schemeClr val="tx1"/>
                </a:solidFill>
              </a:rPr>
              <a:t>operators</a:t>
            </a:r>
          </a:p>
        </p:txBody>
      </p:sp>
      <p:sp>
        <p:nvSpPr>
          <p:cNvPr id="4" name="object 4"/>
          <p:cNvSpPr txBox="1"/>
          <p:nvPr/>
        </p:nvSpPr>
        <p:spPr>
          <a:xfrm>
            <a:off x="364664" y="1260930"/>
            <a:ext cx="6239336" cy="2293128"/>
          </a:xfrm>
          <a:prstGeom prst="rect">
            <a:avLst/>
          </a:prstGeom>
        </p:spPr>
        <p:txBody>
          <a:bodyPr vert="horz" wrap="square" lIns="0" tIns="12700" rIns="0" bIns="0" rtlCol="0">
            <a:spAutoFit/>
          </a:bodyPr>
          <a:lstStyle/>
          <a:p>
            <a:pPr marL="194945" marR="101600" indent="-182880">
              <a:lnSpc>
                <a:spcPct val="100899"/>
              </a:lnSpc>
              <a:spcBef>
                <a:spcPts val="100"/>
              </a:spcBef>
              <a:buChar char="•"/>
              <a:tabLst>
                <a:tab pos="195580" algn="l"/>
              </a:tabLst>
            </a:pPr>
            <a:r>
              <a:rPr sz="1700" spc="65" dirty="0">
                <a:latin typeface="Arial MT"/>
                <a:cs typeface="Arial MT"/>
              </a:rPr>
              <a:t>W</a:t>
            </a:r>
            <a:r>
              <a:rPr sz="1700" spc="5" dirty="0">
                <a:latin typeface="Arial MT"/>
                <a:cs typeface="Arial MT"/>
              </a:rPr>
              <a:t>he</a:t>
            </a:r>
            <a:r>
              <a:rPr sz="1700" spc="10" dirty="0">
                <a:latin typeface="Arial MT"/>
                <a:cs typeface="Arial MT"/>
              </a:rPr>
              <a:t>n</a:t>
            </a:r>
            <a:r>
              <a:rPr sz="1700" spc="-65" dirty="0">
                <a:latin typeface="Times New Roman"/>
                <a:cs typeface="Times New Roman"/>
              </a:rPr>
              <a:t> </a:t>
            </a:r>
            <a:r>
              <a:rPr sz="1700" spc="5" dirty="0">
                <a:latin typeface="Arial MT"/>
                <a:cs typeface="Arial MT"/>
              </a:rPr>
              <a:t>a</a:t>
            </a:r>
            <a:r>
              <a:rPr sz="1700" spc="10" dirty="0">
                <a:latin typeface="Arial MT"/>
                <a:cs typeface="Arial MT"/>
              </a:rPr>
              <a:t>n</a:t>
            </a:r>
            <a:r>
              <a:rPr sz="1700" spc="15" dirty="0">
                <a:latin typeface="Times New Roman"/>
                <a:cs typeface="Times New Roman"/>
              </a:rPr>
              <a:t> </a:t>
            </a:r>
            <a:r>
              <a:rPr sz="1700" spc="5" dirty="0">
                <a:latin typeface="Arial MT"/>
                <a:cs typeface="Arial MT"/>
              </a:rPr>
              <a:t>e</a:t>
            </a:r>
            <a:r>
              <a:rPr sz="1700" spc="20" dirty="0">
                <a:latin typeface="Arial MT"/>
                <a:cs typeface="Arial MT"/>
              </a:rPr>
              <a:t>x</a:t>
            </a:r>
            <a:r>
              <a:rPr sz="1700" spc="5" dirty="0">
                <a:latin typeface="Arial MT"/>
                <a:cs typeface="Arial MT"/>
              </a:rPr>
              <a:t>p</a:t>
            </a:r>
            <a:r>
              <a:rPr sz="1700" spc="-10" dirty="0">
                <a:latin typeface="Arial MT"/>
                <a:cs typeface="Arial MT"/>
              </a:rPr>
              <a:t>r</a:t>
            </a:r>
            <a:r>
              <a:rPr sz="1700" spc="5" dirty="0">
                <a:latin typeface="Arial MT"/>
                <a:cs typeface="Arial MT"/>
              </a:rPr>
              <a:t>e</a:t>
            </a:r>
            <a:r>
              <a:rPr sz="1700" spc="20" dirty="0">
                <a:latin typeface="Arial MT"/>
                <a:cs typeface="Arial MT"/>
              </a:rPr>
              <a:t>ssi</a:t>
            </a:r>
            <a:r>
              <a:rPr sz="1700" spc="5" dirty="0">
                <a:latin typeface="Arial MT"/>
                <a:cs typeface="Arial MT"/>
              </a:rPr>
              <a:t>o</a:t>
            </a:r>
            <a:r>
              <a:rPr sz="1700" spc="10" dirty="0">
                <a:latin typeface="Arial MT"/>
                <a:cs typeface="Arial MT"/>
              </a:rPr>
              <a:t>n</a:t>
            </a:r>
            <a:r>
              <a:rPr sz="1700" spc="-105" dirty="0">
                <a:latin typeface="Times New Roman"/>
                <a:cs typeface="Times New Roman"/>
              </a:rPr>
              <a:t> </a:t>
            </a:r>
            <a:r>
              <a:rPr sz="1700" spc="5" dirty="0">
                <a:latin typeface="Arial MT"/>
                <a:cs typeface="Arial MT"/>
              </a:rPr>
              <a:t>has</a:t>
            </a:r>
            <a:r>
              <a:rPr sz="1700" spc="30" dirty="0">
                <a:latin typeface="Times New Roman"/>
                <a:cs typeface="Times New Roman"/>
              </a:rPr>
              <a:t> </a:t>
            </a:r>
            <a:r>
              <a:rPr sz="1700" spc="5" dirty="0">
                <a:latin typeface="Arial MT"/>
                <a:cs typeface="Arial MT"/>
              </a:rPr>
              <a:t>t</a:t>
            </a:r>
            <a:r>
              <a:rPr sz="1700" spc="-75" dirty="0">
                <a:latin typeface="Arial MT"/>
                <a:cs typeface="Arial MT"/>
              </a:rPr>
              <a:t>w</a:t>
            </a:r>
            <a:r>
              <a:rPr sz="1700" spc="10" dirty="0">
                <a:latin typeface="Arial MT"/>
                <a:cs typeface="Arial MT"/>
              </a:rPr>
              <a:t>o</a:t>
            </a:r>
            <a:r>
              <a:rPr sz="1700" spc="90" dirty="0">
                <a:latin typeface="Times New Roman"/>
                <a:cs typeface="Times New Roman"/>
              </a:rPr>
              <a:t> </a:t>
            </a:r>
            <a:r>
              <a:rPr sz="1700" spc="5" dirty="0">
                <a:latin typeface="Arial MT"/>
                <a:cs typeface="Arial MT"/>
              </a:rPr>
              <a:t>or</a:t>
            </a:r>
            <a:r>
              <a:rPr sz="1700" dirty="0">
                <a:latin typeface="Times New Roman"/>
                <a:cs typeface="Times New Roman"/>
              </a:rPr>
              <a:t> </a:t>
            </a:r>
            <a:r>
              <a:rPr sz="1700" spc="20" dirty="0">
                <a:latin typeface="Arial MT"/>
                <a:cs typeface="Arial MT"/>
              </a:rPr>
              <a:t>m</a:t>
            </a:r>
            <a:r>
              <a:rPr sz="1700" spc="5" dirty="0">
                <a:latin typeface="Arial MT"/>
                <a:cs typeface="Arial MT"/>
              </a:rPr>
              <a:t>o</a:t>
            </a:r>
            <a:r>
              <a:rPr sz="1700" spc="-10" dirty="0">
                <a:latin typeface="Arial MT"/>
                <a:cs typeface="Arial MT"/>
              </a:rPr>
              <a:t>r</a:t>
            </a:r>
            <a:r>
              <a:rPr sz="1700" spc="10" dirty="0">
                <a:latin typeface="Arial MT"/>
                <a:cs typeface="Arial MT"/>
              </a:rPr>
              <a:t>e</a:t>
            </a:r>
            <a:r>
              <a:rPr sz="1700" spc="15" dirty="0">
                <a:latin typeface="Times New Roman"/>
                <a:cs typeface="Times New Roman"/>
              </a:rPr>
              <a:t> </a:t>
            </a:r>
            <a:r>
              <a:rPr sz="1700" spc="5" dirty="0">
                <a:latin typeface="Arial MT"/>
                <a:cs typeface="Arial MT"/>
              </a:rPr>
              <a:t>op</a:t>
            </a:r>
            <a:r>
              <a:rPr sz="1700" spc="10" dirty="0">
                <a:latin typeface="Arial MT"/>
                <a:cs typeface="Arial MT"/>
              </a:rPr>
              <a:t>e</a:t>
            </a:r>
            <a:r>
              <a:rPr sz="1700" spc="-10" dirty="0">
                <a:latin typeface="Arial MT"/>
                <a:cs typeface="Arial MT"/>
              </a:rPr>
              <a:t>r</a:t>
            </a:r>
            <a:r>
              <a:rPr sz="1700" dirty="0">
                <a:latin typeface="Arial MT"/>
                <a:cs typeface="Arial MT"/>
              </a:rPr>
              <a:t>at</a:t>
            </a:r>
            <a:r>
              <a:rPr sz="1700" spc="10" dirty="0">
                <a:latin typeface="Arial MT"/>
                <a:cs typeface="Arial MT"/>
              </a:rPr>
              <a:t>o</a:t>
            </a:r>
            <a:r>
              <a:rPr sz="1700" spc="-10" dirty="0">
                <a:latin typeface="Arial MT"/>
                <a:cs typeface="Arial MT"/>
              </a:rPr>
              <a:t>r</a:t>
            </a:r>
            <a:r>
              <a:rPr sz="1700" spc="5" dirty="0">
                <a:latin typeface="Arial MT"/>
                <a:cs typeface="Arial MT"/>
              </a:rPr>
              <a:t>s</a:t>
            </a:r>
            <a:r>
              <a:rPr sz="1700" spc="-10" dirty="0">
                <a:latin typeface="Times New Roman"/>
                <a:cs typeface="Times New Roman"/>
              </a:rPr>
              <a:t> </a:t>
            </a:r>
            <a:r>
              <a:rPr sz="1700" spc="-75" dirty="0">
                <a:latin typeface="Arial MT"/>
                <a:cs typeface="Arial MT"/>
              </a:rPr>
              <a:t>w</a:t>
            </a:r>
            <a:r>
              <a:rPr sz="1700" spc="15" dirty="0">
                <a:latin typeface="Arial MT"/>
                <a:cs typeface="Arial MT"/>
              </a:rPr>
              <a:t>i</a:t>
            </a:r>
            <a:r>
              <a:rPr sz="1700" spc="5" dirty="0">
                <a:latin typeface="Arial MT"/>
                <a:cs typeface="Arial MT"/>
              </a:rPr>
              <a:t>th</a:t>
            </a:r>
            <a:r>
              <a:rPr sz="1700" spc="95" dirty="0">
                <a:latin typeface="Times New Roman"/>
                <a:cs typeface="Times New Roman"/>
              </a:rPr>
              <a:t> </a:t>
            </a:r>
            <a:r>
              <a:rPr sz="1700" spc="5" dirty="0">
                <a:latin typeface="Arial MT"/>
                <a:cs typeface="Arial MT"/>
              </a:rPr>
              <a:t>the </a:t>
            </a:r>
            <a:r>
              <a:rPr sz="1700" dirty="0">
                <a:latin typeface="Times New Roman"/>
                <a:cs typeface="Times New Roman"/>
              </a:rPr>
              <a:t> </a:t>
            </a:r>
            <a:r>
              <a:rPr sz="1700" spc="15" dirty="0">
                <a:latin typeface="Arial MT"/>
                <a:cs typeface="Arial MT"/>
              </a:rPr>
              <a:t>same</a:t>
            </a:r>
            <a:r>
              <a:rPr sz="1700" spc="-75" dirty="0">
                <a:latin typeface="Arial MT"/>
                <a:cs typeface="Arial MT"/>
              </a:rPr>
              <a:t> </a:t>
            </a:r>
            <a:r>
              <a:rPr sz="1700" dirty="0">
                <a:latin typeface="Arial MT"/>
                <a:cs typeface="Arial MT"/>
              </a:rPr>
              <a:t>precedence,</a:t>
            </a:r>
            <a:r>
              <a:rPr sz="1700" spc="-105" dirty="0">
                <a:latin typeface="Arial MT"/>
                <a:cs typeface="Arial MT"/>
              </a:rPr>
              <a:t> </a:t>
            </a:r>
            <a:r>
              <a:rPr sz="1700" spc="5" dirty="0">
                <a:latin typeface="Arial MT"/>
                <a:cs typeface="Arial MT"/>
              </a:rPr>
              <a:t>the</a:t>
            </a:r>
            <a:r>
              <a:rPr sz="1700" spc="-25" dirty="0">
                <a:latin typeface="Arial MT"/>
                <a:cs typeface="Arial MT"/>
              </a:rPr>
              <a:t> </a:t>
            </a:r>
            <a:r>
              <a:rPr sz="1700" spc="5" dirty="0">
                <a:latin typeface="Arial MT"/>
                <a:cs typeface="Arial MT"/>
              </a:rPr>
              <a:t>expression</a:t>
            </a:r>
            <a:r>
              <a:rPr sz="1700" spc="-105" dirty="0">
                <a:latin typeface="Arial MT"/>
                <a:cs typeface="Arial MT"/>
              </a:rPr>
              <a:t> </a:t>
            </a:r>
            <a:r>
              <a:rPr sz="1700" spc="10" dirty="0">
                <a:latin typeface="Arial MT"/>
                <a:cs typeface="Arial MT"/>
              </a:rPr>
              <a:t>is</a:t>
            </a:r>
            <a:r>
              <a:rPr sz="1700" spc="-10" dirty="0">
                <a:latin typeface="Arial MT"/>
                <a:cs typeface="Arial MT"/>
              </a:rPr>
              <a:t> </a:t>
            </a:r>
            <a:r>
              <a:rPr sz="1700" spc="10" dirty="0">
                <a:latin typeface="Arial MT"/>
                <a:cs typeface="Arial MT"/>
              </a:rPr>
              <a:t>evaluated</a:t>
            </a:r>
            <a:r>
              <a:rPr sz="1700" spc="-145" dirty="0">
                <a:latin typeface="Arial MT"/>
                <a:cs typeface="Arial MT"/>
              </a:rPr>
              <a:t> </a:t>
            </a:r>
            <a:r>
              <a:rPr sz="1700" spc="5" dirty="0">
                <a:latin typeface="Arial MT"/>
                <a:cs typeface="Arial MT"/>
              </a:rPr>
              <a:t>according </a:t>
            </a:r>
            <a:r>
              <a:rPr sz="1700" spc="-455" dirty="0">
                <a:latin typeface="Arial MT"/>
                <a:cs typeface="Arial MT"/>
              </a:rPr>
              <a:t> </a:t>
            </a:r>
            <a:r>
              <a:rPr sz="1700" spc="5" dirty="0">
                <a:latin typeface="Arial MT"/>
                <a:cs typeface="Arial MT"/>
              </a:rPr>
              <a:t>to</a:t>
            </a:r>
            <a:r>
              <a:rPr sz="1700" spc="-35" dirty="0">
                <a:latin typeface="Arial MT"/>
                <a:cs typeface="Arial MT"/>
              </a:rPr>
              <a:t> </a:t>
            </a:r>
            <a:r>
              <a:rPr sz="1700" spc="10" dirty="0">
                <a:latin typeface="Arial MT"/>
                <a:cs typeface="Arial MT"/>
              </a:rPr>
              <a:t>its</a:t>
            </a:r>
            <a:r>
              <a:rPr sz="1700" spc="465" dirty="0">
                <a:latin typeface="Arial MT"/>
                <a:cs typeface="Arial MT"/>
              </a:rPr>
              <a:t> </a:t>
            </a:r>
            <a:r>
              <a:rPr sz="1700" b="1" dirty="0">
                <a:latin typeface="Arial"/>
                <a:cs typeface="Arial"/>
              </a:rPr>
              <a:t>associativity</a:t>
            </a:r>
            <a:r>
              <a:rPr sz="1700" dirty="0">
                <a:latin typeface="Arial MT"/>
                <a:cs typeface="Arial MT"/>
              </a:rPr>
              <a:t>.</a:t>
            </a:r>
          </a:p>
          <a:p>
            <a:pPr marL="255904">
              <a:lnSpc>
                <a:spcPct val="100000"/>
              </a:lnSpc>
              <a:spcBef>
                <a:spcPts val="405"/>
              </a:spcBef>
            </a:pPr>
            <a:r>
              <a:rPr sz="1450" spc="15" dirty="0">
                <a:latin typeface="Arial MT"/>
                <a:cs typeface="Arial MT"/>
              </a:rPr>
              <a:t>–</a:t>
            </a:r>
            <a:r>
              <a:rPr sz="1450" spc="-35" dirty="0">
                <a:latin typeface="Arial MT"/>
                <a:cs typeface="Arial MT"/>
              </a:rPr>
              <a:t> </a:t>
            </a:r>
            <a:r>
              <a:rPr sz="1450" spc="-20" dirty="0">
                <a:latin typeface="Arial MT"/>
                <a:cs typeface="Arial MT"/>
              </a:rPr>
              <a:t>It</a:t>
            </a:r>
            <a:r>
              <a:rPr sz="1450" spc="55" dirty="0">
                <a:latin typeface="Arial MT"/>
                <a:cs typeface="Arial MT"/>
              </a:rPr>
              <a:t> </a:t>
            </a:r>
            <a:r>
              <a:rPr sz="1450" spc="-15" dirty="0">
                <a:latin typeface="Arial MT"/>
                <a:cs typeface="Arial MT"/>
              </a:rPr>
              <a:t>is</a:t>
            </a:r>
            <a:r>
              <a:rPr sz="1450" spc="45" dirty="0">
                <a:latin typeface="Arial MT"/>
                <a:cs typeface="Arial MT"/>
              </a:rPr>
              <a:t> </a:t>
            </a:r>
            <a:r>
              <a:rPr sz="1450" spc="10" dirty="0">
                <a:latin typeface="Arial MT"/>
                <a:cs typeface="Arial MT"/>
              </a:rPr>
              <a:t>the</a:t>
            </a:r>
            <a:r>
              <a:rPr sz="1450" spc="45" dirty="0">
                <a:latin typeface="Arial MT"/>
                <a:cs typeface="Arial MT"/>
              </a:rPr>
              <a:t> </a:t>
            </a:r>
            <a:r>
              <a:rPr sz="1450" spc="5" dirty="0">
                <a:latin typeface="Arial MT"/>
                <a:cs typeface="Arial MT"/>
              </a:rPr>
              <a:t>order</a:t>
            </a:r>
            <a:r>
              <a:rPr sz="1450" spc="15" dirty="0">
                <a:latin typeface="Arial MT"/>
                <a:cs typeface="Arial MT"/>
              </a:rPr>
              <a:t> of </a:t>
            </a:r>
            <a:r>
              <a:rPr sz="1450" spc="-10" dirty="0">
                <a:latin typeface="Arial MT"/>
                <a:cs typeface="Arial MT"/>
              </a:rPr>
              <a:t>applying</a:t>
            </a:r>
            <a:r>
              <a:rPr sz="1450" spc="200" dirty="0">
                <a:latin typeface="Arial MT"/>
                <a:cs typeface="Arial MT"/>
              </a:rPr>
              <a:t> </a:t>
            </a:r>
            <a:r>
              <a:rPr sz="1450" spc="5" dirty="0">
                <a:latin typeface="Arial MT"/>
                <a:cs typeface="Arial MT"/>
              </a:rPr>
              <a:t>operators</a:t>
            </a:r>
            <a:endParaRPr sz="1450" dirty="0">
              <a:latin typeface="Arial MT"/>
              <a:cs typeface="Arial MT"/>
            </a:endParaRPr>
          </a:p>
          <a:p>
            <a:pPr marL="8255" algn="ctr">
              <a:lnSpc>
                <a:spcPct val="100000"/>
              </a:lnSpc>
              <a:spcBef>
                <a:spcPts val="330"/>
              </a:spcBef>
            </a:pPr>
            <a:r>
              <a:rPr sz="1700" spc="-25" dirty="0">
                <a:solidFill>
                  <a:srgbClr val="FF0000"/>
                </a:solidFill>
                <a:latin typeface="Times New Roman"/>
                <a:cs typeface="Times New Roman"/>
              </a:rPr>
              <a:t>a</a:t>
            </a:r>
            <a:r>
              <a:rPr sz="1700" spc="-5" dirty="0">
                <a:solidFill>
                  <a:srgbClr val="FF0000"/>
                </a:solidFill>
                <a:latin typeface="Times New Roman"/>
                <a:cs typeface="Times New Roman"/>
              </a:rPr>
              <a:t> </a:t>
            </a:r>
            <a:r>
              <a:rPr sz="1700" spc="-114" dirty="0">
                <a:solidFill>
                  <a:srgbClr val="FF0000"/>
                </a:solidFill>
                <a:latin typeface="Times New Roman"/>
                <a:cs typeface="Times New Roman"/>
              </a:rPr>
              <a:t>=</a:t>
            </a:r>
            <a:r>
              <a:rPr sz="1700" spc="-35" dirty="0">
                <a:solidFill>
                  <a:srgbClr val="FF0000"/>
                </a:solidFill>
                <a:latin typeface="Times New Roman"/>
                <a:cs typeface="Times New Roman"/>
              </a:rPr>
              <a:t> </a:t>
            </a:r>
            <a:r>
              <a:rPr sz="1700" spc="30" dirty="0">
                <a:solidFill>
                  <a:srgbClr val="FF0000"/>
                </a:solidFill>
                <a:latin typeface="Times New Roman"/>
                <a:cs typeface="Times New Roman"/>
              </a:rPr>
              <a:t>b</a:t>
            </a:r>
            <a:r>
              <a:rPr sz="1700" spc="5" dirty="0">
                <a:solidFill>
                  <a:srgbClr val="FF0000"/>
                </a:solidFill>
                <a:latin typeface="Times New Roman"/>
                <a:cs typeface="Times New Roman"/>
              </a:rPr>
              <a:t> </a:t>
            </a:r>
            <a:r>
              <a:rPr sz="1700" spc="-114" dirty="0">
                <a:solidFill>
                  <a:srgbClr val="FF0000"/>
                </a:solidFill>
                <a:latin typeface="Times New Roman"/>
                <a:cs typeface="Times New Roman"/>
              </a:rPr>
              <a:t>=</a:t>
            </a:r>
            <a:r>
              <a:rPr sz="1700" spc="5" dirty="0">
                <a:solidFill>
                  <a:srgbClr val="FF0000"/>
                </a:solidFill>
                <a:latin typeface="Times New Roman"/>
                <a:cs typeface="Times New Roman"/>
              </a:rPr>
              <a:t> </a:t>
            </a:r>
            <a:r>
              <a:rPr sz="1700" spc="-55" dirty="0">
                <a:solidFill>
                  <a:srgbClr val="FF0000"/>
                </a:solidFill>
                <a:latin typeface="Times New Roman"/>
                <a:cs typeface="Times New Roman"/>
              </a:rPr>
              <a:t>c;</a:t>
            </a:r>
            <a:endParaRPr sz="1700" dirty="0">
              <a:latin typeface="Times New Roman"/>
              <a:cs typeface="Times New Roman"/>
            </a:endParaRPr>
          </a:p>
          <a:p>
            <a:pPr marL="194945" marR="5080" indent="-182880">
              <a:lnSpc>
                <a:spcPct val="100000"/>
              </a:lnSpc>
              <a:spcBef>
                <a:spcPts val="515"/>
              </a:spcBef>
              <a:buChar char="•"/>
              <a:tabLst>
                <a:tab pos="195580" algn="l"/>
              </a:tabLst>
            </a:pPr>
            <a:r>
              <a:rPr sz="1700" spc="5" dirty="0">
                <a:latin typeface="Arial MT"/>
                <a:cs typeface="Arial MT"/>
              </a:rPr>
              <a:t>He</a:t>
            </a:r>
            <a:r>
              <a:rPr sz="1700" spc="-15" dirty="0">
                <a:latin typeface="Arial MT"/>
                <a:cs typeface="Arial MT"/>
              </a:rPr>
              <a:t>r</a:t>
            </a:r>
            <a:r>
              <a:rPr sz="1700" spc="5" dirty="0">
                <a:latin typeface="Arial MT"/>
                <a:cs typeface="Arial MT"/>
              </a:rPr>
              <a:t>e,</a:t>
            </a:r>
            <a:r>
              <a:rPr sz="1700" spc="15" dirty="0">
                <a:latin typeface="Times New Roman"/>
                <a:cs typeface="Times New Roman"/>
              </a:rPr>
              <a:t> </a:t>
            </a:r>
            <a:r>
              <a:rPr sz="1700" spc="5" dirty="0">
                <a:latin typeface="Arial MT"/>
                <a:cs typeface="Arial MT"/>
              </a:rPr>
              <a:t>the</a:t>
            </a:r>
            <a:r>
              <a:rPr sz="1700" spc="15" dirty="0">
                <a:latin typeface="Times New Roman"/>
                <a:cs typeface="Times New Roman"/>
              </a:rPr>
              <a:t> </a:t>
            </a:r>
            <a:r>
              <a:rPr sz="1700" spc="60" dirty="0">
                <a:latin typeface="Arial MT"/>
                <a:cs typeface="Arial MT"/>
              </a:rPr>
              <a:t>v</a:t>
            </a:r>
            <a:r>
              <a:rPr sz="1700" spc="5" dirty="0">
                <a:latin typeface="Arial MT"/>
                <a:cs typeface="Arial MT"/>
              </a:rPr>
              <a:t>a</a:t>
            </a:r>
            <a:r>
              <a:rPr sz="1700" spc="15" dirty="0">
                <a:latin typeface="Arial MT"/>
                <a:cs typeface="Arial MT"/>
              </a:rPr>
              <a:t>l</a:t>
            </a:r>
            <a:r>
              <a:rPr sz="1700" spc="5" dirty="0">
                <a:latin typeface="Arial MT"/>
                <a:cs typeface="Arial MT"/>
              </a:rPr>
              <a:t>u</a:t>
            </a:r>
            <a:r>
              <a:rPr sz="1700" spc="10" dirty="0">
                <a:latin typeface="Arial MT"/>
                <a:cs typeface="Arial MT"/>
              </a:rPr>
              <a:t>e</a:t>
            </a:r>
            <a:r>
              <a:rPr sz="1700" spc="-65" dirty="0">
                <a:latin typeface="Times New Roman"/>
                <a:cs typeface="Times New Roman"/>
              </a:rPr>
              <a:t> </a:t>
            </a:r>
            <a:r>
              <a:rPr sz="1700" spc="5" dirty="0">
                <a:latin typeface="Arial MT"/>
                <a:cs typeface="Arial MT"/>
              </a:rPr>
              <a:t>of</a:t>
            </a:r>
            <a:r>
              <a:rPr sz="1700" spc="35" dirty="0">
                <a:latin typeface="Times New Roman"/>
                <a:cs typeface="Times New Roman"/>
              </a:rPr>
              <a:t> </a:t>
            </a:r>
            <a:r>
              <a:rPr sz="1700" spc="5" dirty="0">
                <a:latin typeface="Arial MT"/>
                <a:cs typeface="Arial MT"/>
              </a:rPr>
              <a:t>c</a:t>
            </a:r>
            <a:r>
              <a:rPr sz="1700" spc="30" dirty="0">
                <a:latin typeface="Times New Roman"/>
                <a:cs typeface="Times New Roman"/>
              </a:rPr>
              <a:t> </a:t>
            </a:r>
            <a:r>
              <a:rPr sz="1700" spc="15" dirty="0">
                <a:latin typeface="Arial MT"/>
                <a:cs typeface="Arial MT"/>
              </a:rPr>
              <a:t>i</a:t>
            </a:r>
            <a:r>
              <a:rPr sz="1700" spc="5" dirty="0">
                <a:latin typeface="Arial MT"/>
                <a:cs typeface="Arial MT"/>
              </a:rPr>
              <a:t>s</a:t>
            </a:r>
            <a:r>
              <a:rPr sz="1700" spc="30" dirty="0">
                <a:latin typeface="Times New Roman"/>
                <a:cs typeface="Times New Roman"/>
              </a:rPr>
              <a:t> </a:t>
            </a:r>
            <a:r>
              <a:rPr sz="1700" spc="5" dirty="0">
                <a:latin typeface="Arial MT"/>
                <a:cs typeface="Arial MT"/>
              </a:rPr>
              <a:t>a</a:t>
            </a:r>
            <a:r>
              <a:rPr sz="1700" spc="20" dirty="0">
                <a:latin typeface="Arial MT"/>
                <a:cs typeface="Arial MT"/>
              </a:rPr>
              <a:t>ssi</a:t>
            </a:r>
            <a:r>
              <a:rPr sz="1700" spc="5" dirty="0">
                <a:latin typeface="Arial MT"/>
                <a:cs typeface="Arial MT"/>
              </a:rPr>
              <a:t>gn</a:t>
            </a:r>
            <a:r>
              <a:rPr sz="1700" spc="10" dirty="0">
                <a:latin typeface="Arial MT"/>
                <a:cs typeface="Arial MT"/>
              </a:rPr>
              <a:t>ed</a:t>
            </a:r>
            <a:r>
              <a:rPr sz="1700" spc="-105" dirty="0">
                <a:latin typeface="Times New Roman"/>
                <a:cs typeface="Times New Roman"/>
              </a:rPr>
              <a:t> </a:t>
            </a:r>
            <a:r>
              <a:rPr sz="1700" spc="5" dirty="0">
                <a:latin typeface="Arial MT"/>
                <a:cs typeface="Arial MT"/>
              </a:rPr>
              <a:t>to</a:t>
            </a:r>
            <a:r>
              <a:rPr sz="1700" spc="15" dirty="0">
                <a:latin typeface="Times New Roman"/>
                <a:cs typeface="Times New Roman"/>
              </a:rPr>
              <a:t> </a:t>
            </a:r>
            <a:r>
              <a:rPr sz="1700" spc="60" dirty="0">
                <a:latin typeface="Arial MT"/>
                <a:cs typeface="Arial MT"/>
              </a:rPr>
              <a:t>v</a:t>
            </a:r>
            <a:r>
              <a:rPr sz="1700" spc="5" dirty="0">
                <a:latin typeface="Arial MT"/>
                <a:cs typeface="Arial MT"/>
              </a:rPr>
              <a:t>a</a:t>
            </a:r>
            <a:r>
              <a:rPr sz="1700" spc="-10" dirty="0">
                <a:latin typeface="Arial MT"/>
                <a:cs typeface="Arial MT"/>
              </a:rPr>
              <a:t>r</a:t>
            </a:r>
            <a:r>
              <a:rPr sz="1700" spc="15" dirty="0">
                <a:latin typeface="Arial MT"/>
                <a:cs typeface="Arial MT"/>
              </a:rPr>
              <a:t>i</a:t>
            </a:r>
            <a:r>
              <a:rPr sz="1700" spc="5" dirty="0">
                <a:latin typeface="Arial MT"/>
                <a:cs typeface="Arial MT"/>
              </a:rPr>
              <a:t>ab</a:t>
            </a:r>
            <a:r>
              <a:rPr sz="1700" spc="20" dirty="0">
                <a:latin typeface="Arial MT"/>
                <a:cs typeface="Arial MT"/>
              </a:rPr>
              <a:t>l</a:t>
            </a:r>
            <a:r>
              <a:rPr sz="1700" spc="10" dirty="0">
                <a:latin typeface="Arial MT"/>
                <a:cs typeface="Arial MT"/>
              </a:rPr>
              <a:t>e</a:t>
            </a:r>
            <a:r>
              <a:rPr sz="1700" spc="-75" dirty="0">
                <a:latin typeface="Times New Roman"/>
                <a:cs typeface="Times New Roman"/>
              </a:rPr>
              <a:t> </a:t>
            </a:r>
            <a:r>
              <a:rPr sz="1700" spc="5" dirty="0">
                <a:latin typeface="Arial MT"/>
                <a:cs typeface="Arial MT"/>
              </a:rPr>
              <a:t>b.</a:t>
            </a:r>
            <a:r>
              <a:rPr sz="1700" spc="50" dirty="0">
                <a:latin typeface="Times New Roman"/>
                <a:cs typeface="Times New Roman"/>
              </a:rPr>
              <a:t> </a:t>
            </a:r>
            <a:r>
              <a:rPr sz="1700" dirty="0">
                <a:latin typeface="Arial MT"/>
                <a:cs typeface="Arial MT"/>
              </a:rPr>
              <a:t>T</a:t>
            </a:r>
            <a:r>
              <a:rPr sz="1700" spc="5" dirty="0">
                <a:latin typeface="Arial MT"/>
                <a:cs typeface="Arial MT"/>
              </a:rPr>
              <a:t>he</a:t>
            </a:r>
            <a:r>
              <a:rPr sz="1700" spc="10" dirty="0">
                <a:latin typeface="Arial MT"/>
                <a:cs typeface="Arial MT"/>
              </a:rPr>
              <a:t>n</a:t>
            </a:r>
            <a:r>
              <a:rPr sz="1700" spc="15" dirty="0">
                <a:latin typeface="Times New Roman"/>
                <a:cs typeface="Times New Roman"/>
              </a:rPr>
              <a:t> </a:t>
            </a:r>
            <a:r>
              <a:rPr sz="1700" spc="5" dirty="0">
                <a:latin typeface="Arial MT"/>
                <a:cs typeface="Arial MT"/>
              </a:rPr>
              <a:t>the </a:t>
            </a:r>
            <a:r>
              <a:rPr sz="1700" dirty="0">
                <a:latin typeface="Times New Roman"/>
                <a:cs typeface="Times New Roman"/>
              </a:rPr>
              <a:t> </a:t>
            </a:r>
            <a:r>
              <a:rPr sz="1700" spc="20" dirty="0">
                <a:latin typeface="Arial MT"/>
                <a:cs typeface="Arial MT"/>
              </a:rPr>
              <a:t>value</a:t>
            </a:r>
            <a:r>
              <a:rPr sz="1700" spc="-114" dirty="0">
                <a:latin typeface="Arial MT"/>
                <a:cs typeface="Arial MT"/>
              </a:rPr>
              <a:t> </a:t>
            </a:r>
            <a:r>
              <a:rPr sz="1700" spc="5" dirty="0">
                <a:latin typeface="Arial MT"/>
                <a:cs typeface="Arial MT"/>
              </a:rPr>
              <a:t>of</a:t>
            </a:r>
            <a:r>
              <a:rPr sz="1700" spc="-25" dirty="0">
                <a:latin typeface="Arial MT"/>
                <a:cs typeface="Arial MT"/>
              </a:rPr>
              <a:t> </a:t>
            </a:r>
            <a:r>
              <a:rPr sz="1700" spc="10" dirty="0">
                <a:latin typeface="Arial MT"/>
                <a:cs typeface="Arial MT"/>
              </a:rPr>
              <a:t>b</a:t>
            </a:r>
            <a:r>
              <a:rPr sz="1700" spc="-35" dirty="0">
                <a:latin typeface="Arial MT"/>
                <a:cs typeface="Arial MT"/>
              </a:rPr>
              <a:t> </a:t>
            </a:r>
            <a:r>
              <a:rPr sz="1700" spc="10" dirty="0">
                <a:latin typeface="Arial MT"/>
                <a:cs typeface="Arial MT"/>
              </a:rPr>
              <a:t>is</a:t>
            </a:r>
            <a:r>
              <a:rPr sz="1700" spc="-15" dirty="0">
                <a:latin typeface="Arial MT"/>
                <a:cs typeface="Arial MT"/>
              </a:rPr>
              <a:t> </a:t>
            </a:r>
            <a:r>
              <a:rPr sz="1700" spc="10" dirty="0">
                <a:latin typeface="Arial MT"/>
                <a:cs typeface="Arial MT"/>
              </a:rPr>
              <a:t>assigned</a:t>
            </a:r>
            <a:r>
              <a:rPr sz="1700" spc="-155" dirty="0">
                <a:latin typeface="Arial MT"/>
                <a:cs typeface="Arial MT"/>
              </a:rPr>
              <a:t> </a:t>
            </a:r>
            <a:r>
              <a:rPr sz="1700" spc="5" dirty="0">
                <a:latin typeface="Arial MT"/>
                <a:cs typeface="Arial MT"/>
              </a:rPr>
              <a:t>of </a:t>
            </a:r>
            <a:r>
              <a:rPr sz="1700" spc="10" dirty="0">
                <a:latin typeface="Arial MT"/>
                <a:cs typeface="Arial MT"/>
              </a:rPr>
              <a:t>variable</a:t>
            </a:r>
            <a:r>
              <a:rPr sz="1700" spc="-80" dirty="0">
                <a:latin typeface="Arial MT"/>
                <a:cs typeface="Arial MT"/>
              </a:rPr>
              <a:t> </a:t>
            </a:r>
            <a:r>
              <a:rPr sz="1700" spc="5" dirty="0">
                <a:latin typeface="Arial MT"/>
                <a:cs typeface="Arial MT"/>
              </a:rPr>
              <a:t>a.</a:t>
            </a:r>
            <a:r>
              <a:rPr sz="1700" spc="-35" dirty="0">
                <a:latin typeface="Arial MT"/>
                <a:cs typeface="Arial MT"/>
              </a:rPr>
              <a:t> </a:t>
            </a:r>
            <a:endParaRPr lang="en-US" sz="1700" spc="-35" dirty="0">
              <a:latin typeface="Arial MT"/>
              <a:cs typeface="Arial MT"/>
            </a:endParaRPr>
          </a:p>
          <a:p>
            <a:pPr marL="194945" marR="5080" indent="-182880">
              <a:lnSpc>
                <a:spcPct val="100000"/>
              </a:lnSpc>
              <a:spcBef>
                <a:spcPts val="515"/>
              </a:spcBef>
              <a:buChar char="•"/>
              <a:tabLst>
                <a:tab pos="195580" algn="l"/>
              </a:tabLst>
            </a:pPr>
            <a:r>
              <a:rPr lang="en-IN" sz="1700" spc="-35" dirty="0">
                <a:latin typeface="Arial MT"/>
                <a:cs typeface="Arial MT"/>
              </a:rPr>
              <a:t>I</a:t>
            </a:r>
            <a:r>
              <a:rPr sz="1700" dirty="0">
                <a:latin typeface="Arial MT"/>
                <a:cs typeface="Arial MT"/>
              </a:rPr>
              <a:t>t's</a:t>
            </a:r>
            <a:r>
              <a:rPr sz="1700" spc="-20" dirty="0">
                <a:latin typeface="Arial MT"/>
                <a:cs typeface="Arial MT"/>
              </a:rPr>
              <a:t> </a:t>
            </a:r>
            <a:r>
              <a:rPr sz="1700" spc="10" dirty="0">
                <a:latin typeface="Arial MT"/>
                <a:cs typeface="Arial MT"/>
              </a:rPr>
              <a:t>because</a:t>
            </a:r>
            <a:r>
              <a:rPr sz="1700" spc="-110" dirty="0">
                <a:latin typeface="Arial MT"/>
                <a:cs typeface="Arial MT"/>
              </a:rPr>
              <a:t> </a:t>
            </a:r>
            <a:r>
              <a:rPr sz="1700" spc="5" dirty="0">
                <a:latin typeface="Arial MT"/>
                <a:cs typeface="Arial MT"/>
              </a:rPr>
              <a:t>the </a:t>
            </a:r>
            <a:r>
              <a:rPr sz="1700" spc="-459" dirty="0">
                <a:latin typeface="Arial MT"/>
                <a:cs typeface="Arial MT"/>
              </a:rPr>
              <a:t> </a:t>
            </a:r>
            <a:r>
              <a:rPr sz="1700" spc="5" dirty="0">
                <a:latin typeface="Arial MT"/>
                <a:cs typeface="Arial MT"/>
              </a:rPr>
              <a:t>associativity</a:t>
            </a:r>
            <a:r>
              <a:rPr sz="1700" spc="-100" dirty="0">
                <a:latin typeface="Arial MT"/>
                <a:cs typeface="Arial MT"/>
              </a:rPr>
              <a:t> </a:t>
            </a:r>
            <a:r>
              <a:rPr sz="1700" spc="5" dirty="0">
                <a:latin typeface="Arial MT"/>
                <a:cs typeface="Arial MT"/>
              </a:rPr>
              <a:t>of</a:t>
            </a:r>
            <a:r>
              <a:rPr sz="1700" spc="-40" dirty="0">
                <a:latin typeface="Arial MT"/>
                <a:cs typeface="Arial MT"/>
              </a:rPr>
              <a:t> </a:t>
            </a:r>
            <a:r>
              <a:rPr sz="1700" spc="10" dirty="0">
                <a:latin typeface="Arial MT"/>
                <a:cs typeface="Arial MT"/>
              </a:rPr>
              <a:t>=</a:t>
            </a:r>
            <a:r>
              <a:rPr sz="1700" dirty="0">
                <a:latin typeface="Arial MT"/>
                <a:cs typeface="Arial MT"/>
              </a:rPr>
              <a:t> operator</a:t>
            </a:r>
            <a:r>
              <a:rPr sz="1700" spc="-95" dirty="0">
                <a:latin typeface="Arial MT"/>
                <a:cs typeface="Arial MT"/>
              </a:rPr>
              <a:t> </a:t>
            </a:r>
            <a:r>
              <a:rPr sz="1700" spc="10" dirty="0">
                <a:latin typeface="Arial MT"/>
                <a:cs typeface="Arial MT"/>
              </a:rPr>
              <a:t>is</a:t>
            </a:r>
            <a:r>
              <a:rPr sz="1700" spc="-15" dirty="0">
                <a:latin typeface="Arial MT"/>
                <a:cs typeface="Arial MT"/>
              </a:rPr>
              <a:t> </a:t>
            </a:r>
            <a:r>
              <a:rPr sz="1700" spc="10" dirty="0">
                <a:latin typeface="Arial MT"/>
                <a:cs typeface="Arial MT"/>
              </a:rPr>
              <a:t>from</a:t>
            </a:r>
            <a:r>
              <a:rPr sz="1700" spc="-70" dirty="0">
                <a:latin typeface="Arial MT"/>
                <a:cs typeface="Arial MT"/>
              </a:rPr>
              <a:t> </a:t>
            </a:r>
            <a:r>
              <a:rPr sz="1700" spc="5" dirty="0">
                <a:latin typeface="Arial MT"/>
                <a:cs typeface="Arial MT"/>
              </a:rPr>
              <a:t>right</a:t>
            </a:r>
            <a:r>
              <a:rPr sz="1700" spc="-70" dirty="0">
                <a:latin typeface="Arial MT"/>
                <a:cs typeface="Arial MT"/>
              </a:rPr>
              <a:t> </a:t>
            </a:r>
            <a:r>
              <a:rPr sz="1700" spc="5" dirty="0">
                <a:latin typeface="Arial MT"/>
                <a:cs typeface="Arial MT"/>
              </a:rPr>
              <a:t>to</a:t>
            </a:r>
            <a:r>
              <a:rPr sz="1700" dirty="0">
                <a:latin typeface="Arial MT"/>
                <a:cs typeface="Arial MT"/>
              </a:rPr>
              <a:t> </a:t>
            </a:r>
            <a:r>
              <a:rPr sz="1700" spc="15" dirty="0">
                <a:latin typeface="Arial MT"/>
                <a:cs typeface="Arial MT"/>
              </a:rPr>
              <a:t>left.</a:t>
            </a:r>
            <a:endParaRPr sz="1700" dirty="0">
              <a:latin typeface="Arial MT"/>
              <a:cs typeface="Arial MT"/>
            </a:endParaRPr>
          </a:p>
        </p:txBody>
      </p:sp>
      <p:sp>
        <p:nvSpPr>
          <p:cNvPr id="6" name="object 6"/>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4116388" y="268288"/>
            <a:ext cx="2386012" cy="319087"/>
          </a:xfrm>
          <a:prstGeom prst="rect">
            <a:avLst/>
          </a:prstGeom>
        </p:spPr>
        <p:txBody>
          <a:bodyPr vert="horz" wrap="square" lIns="0" tIns="14604" rIns="0" bIns="0" rtlCol="0">
            <a:spAutoFit/>
          </a:bodyPr>
          <a:lstStyle/>
          <a:p>
            <a:pPr marL="12700">
              <a:lnSpc>
                <a:spcPct val="100000"/>
              </a:lnSpc>
              <a:spcBef>
                <a:spcPts val="114"/>
              </a:spcBef>
            </a:pPr>
            <a:r>
              <a:rPr spc="5" dirty="0"/>
              <a:t>Operator</a:t>
            </a:r>
            <a:r>
              <a:rPr spc="-60" dirty="0"/>
              <a:t> </a:t>
            </a:r>
            <a:r>
              <a:rPr dirty="0"/>
              <a:t>Associativity</a:t>
            </a:r>
          </a:p>
        </p:txBody>
      </p:sp>
      <p:grpSp>
        <p:nvGrpSpPr>
          <p:cNvPr id="4" name="object 4"/>
          <p:cNvGrpSpPr/>
          <p:nvPr/>
        </p:nvGrpSpPr>
        <p:grpSpPr>
          <a:xfrm>
            <a:off x="-254000" y="-215900"/>
            <a:ext cx="7086600" cy="4046867"/>
            <a:chOff x="-1387" y="170827"/>
            <a:chExt cx="6498590" cy="3660140"/>
          </a:xfrm>
        </p:grpSpPr>
        <p:pic>
          <p:nvPicPr>
            <p:cNvPr id="5" name="object 5"/>
            <p:cNvPicPr/>
            <p:nvPr/>
          </p:nvPicPr>
          <p:blipFill>
            <a:blip r:embed="rId2" cstate="print"/>
            <a:stretch>
              <a:fillRect/>
            </a:stretch>
          </p:blipFill>
          <p:spPr>
            <a:xfrm>
              <a:off x="1282877" y="633176"/>
              <a:ext cx="3704814" cy="3192063"/>
            </a:xfrm>
            <a:prstGeom prst="rect">
              <a:avLst/>
            </a:prstGeom>
          </p:spPr>
        </p:pic>
        <p:sp>
          <p:nvSpPr>
            <p:cNvPr id="6" name="object 6"/>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4116388" y="268288"/>
            <a:ext cx="2386012" cy="319087"/>
          </a:xfrm>
          <a:prstGeom prst="rect">
            <a:avLst/>
          </a:prstGeom>
        </p:spPr>
        <p:txBody>
          <a:bodyPr vert="horz" wrap="square" lIns="0" tIns="14604" rIns="0" bIns="0" rtlCol="0">
            <a:spAutoFit/>
          </a:bodyPr>
          <a:lstStyle/>
          <a:p>
            <a:pPr marL="12700">
              <a:lnSpc>
                <a:spcPct val="100000"/>
              </a:lnSpc>
              <a:spcBef>
                <a:spcPts val="114"/>
              </a:spcBef>
            </a:pPr>
            <a:r>
              <a:rPr spc="5" dirty="0"/>
              <a:t>Operator</a:t>
            </a:r>
            <a:r>
              <a:rPr spc="-60" dirty="0"/>
              <a:t> </a:t>
            </a:r>
            <a:r>
              <a:rPr dirty="0"/>
              <a:t>Associativity</a:t>
            </a:r>
          </a:p>
        </p:txBody>
      </p:sp>
      <p:grpSp>
        <p:nvGrpSpPr>
          <p:cNvPr id="7" name="object 4">
            <a:extLst>
              <a:ext uri="{FF2B5EF4-FFF2-40B4-BE49-F238E27FC236}">
                <a16:creationId xmlns:a16="http://schemas.microsoft.com/office/drawing/2014/main" id="{D01E1B58-F5D1-BED0-AAFD-AC3D75E1433E}"/>
              </a:ext>
            </a:extLst>
          </p:cNvPr>
          <p:cNvGrpSpPr/>
          <p:nvPr/>
        </p:nvGrpSpPr>
        <p:grpSpPr>
          <a:xfrm>
            <a:off x="-1387" y="0"/>
            <a:ext cx="6498590" cy="4288382"/>
            <a:chOff x="-1387" y="628242"/>
            <a:chExt cx="6498590" cy="3660140"/>
          </a:xfrm>
        </p:grpSpPr>
        <p:pic>
          <p:nvPicPr>
            <p:cNvPr id="8" name="object 5">
              <a:extLst>
                <a:ext uri="{FF2B5EF4-FFF2-40B4-BE49-F238E27FC236}">
                  <a16:creationId xmlns:a16="http://schemas.microsoft.com/office/drawing/2014/main" id="{1ABDE823-F528-C805-32FB-DFB5443FB315}"/>
                </a:ext>
              </a:extLst>
            </p:cNvPr>
            <p:cNvPicPr/>
            <p:nvPr/>
          </p:nvPicPr>
          <p:blipFill>
            <a:blip r:embed="rId2" cstate="print"/>
            <a:stretch>
              <a:fillRect/>
            </a:stretch>
          </p:blipFill>
          <p:spPr>
            <a:xfrm>
              <a:off x="586004" y="633558"/>
              <a:ext cx="3209838" cy="3649072"/>
            </a:xfrm>
            <a:prstGeom prst="rect">
              <a:avLst/>
            </a:prstGeom>
          </p:spPr>
        </p:pic>
        <p:sp>
          <p:nvSpPr>
            <p:cNvPr id="9" name="object 6">
              <a:extLst>
                <a:ext uri="{FF2B5EF4-FFF2-40B4-BE49-F238E27FC236}">
                  <a16:creationId xmlns:a16="http://schemas.microsoft.com/office/drawing/2014/main" id="{2F535F43-4012-DFB5-C431-AB3CEF53E524}"/>
                </a:ext>
              </a:extLst>
            </p:cNvPr>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Tree>
    <p:extLst>
      <p:ext uri="{BB962C8B-B14F-4D97-AF65-F5344CB8AC3E}">
        <p14:creationId xmlns:p14="http://schemas.microsoft.com/office/powerpoint/2010/main" val="363457810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32000" y="268881"/>
            <a:ext cx="2133600" cy="307134"/>
          </a:xfrm>
          <a:prstGeom prst="rect">
            <a:avLst/>
          </a:prstGeom>
        </p:spPr>
        <p:txBody>
          <a:bodyPr vert="horz" wrap="square" lIns="0" tIns="14604" rIns="0" bIns="0" rtlCol="0">
            <a:spAutoFit/>
          </a:bodyPr>
          <a:lstStyle/>
          <a:p>
            <a:pPr marL="12700">
              <a:lnSpc>
                <a:spcPct val="100000"/>
              </a:lnSpc>
              <a:spcBef>
                <a:spcPts val="114"/>
              </a:spcBef>
            </a:pPr>
            <a:r>
              <a:rPr spc="5" dirty="0">
                <a:solidFill>
                  <a:schemeClr val="tx1"/>
                </a:solidFill>
              </a:rPr>
              <a:t>Assoc</a:t>
            </a:r>
            <a:r>
              <a:rPr spc="-30" dirty="0">
                <a:solidFill>
                  <a:schemeClr val="tx1"/>
                </a:solidFill>
              </a:rPr>
              <a:t>i</a:t>
            </a:r>
            <a:r>
              <a:rPr spc="15" dirty="0">
                <a:solidFill>
                  <a:schemeClr val="tx1"/>
                </a:solidFill>
              </a:rPr>
              <a:t>a</a:t>
            </a:r>
            <a:r>
              <a:rPr spc="-10" dirty="0">
                <a:solidFill>
                  <a:schemeClr val="tx1"/>
                </a:solidFill>
              </a:rPr>
              <a:t>t</a:t>
            </a:r>
            <a:r>
              <a:rPr spc="-30" dirty="0">
                <a:solidFill>
                  <a:schemeClr val="tx1"/>
                </a:solidFill>
              </a:rPr>
              <a:t>i</a:t>
            </a:r>
            <a:r>
              <a:rPr spc="40" dirty="0">
                <a:solidFill>
                  <a:schemeClr val="tx1"/>
                </a:solidFill>
              </a:rPr>
              <a:t>v</a:t>
            </a:r>
            <a:r>
              <a:rPr spc="-30" dirty="0">
                <a:solidFill>
                  <a:schemeClr val="tx1"/>
                </a:solidFill>
              </a:rPr>
              <a:t>i</a:t>
            </a:r>
            <a:r>
              <a:rPr spc="-10" dirty="0">
                <a:solidFill>
                  <a:schemeClr val="tx1"/>
                </a:solidFill>
              </a:rPr>
              <a:t>t</a:t>
            </a:r>
            <a:r>
              <a:rPr spc="5" dirty="0">
                <a:solidFill>
                  <a:schemeClr val="tx1"/>
                </a:solidFill>
              </a:rPr>
              <a:t>y</a:t>
            </a:r>
          </a:p>
        </p:txBody>
      </p:sp>
      <p:sp>
        <p:nvSpPr>
          <p:cNvPr id="3" name="object 3"/>
          <p:cNvSpPr txBox="1"/>
          <p:nvPr/>
        </p:nvSpPr>
        <p:spPr>
          <a:xfrm>
            <a:off x="364664" y="748186"/>
            <a:ext cx="4709795" cy="1474470"/>
          </a:xfrm>
          <a:prstGeom prst="rect">
            <a:avLst/>
          </a:prstGeom>
        </p:spPr>
        <p:txBody>
          <a:bodyPr vert="horz" wrap="square" lIns="0" tIns="70485" rIns="0" bIns="0" rtlCol="0">
            <a:spAutoFit/>
          </a:bodyPr>
          <a:lstStyle/>
          <a:p>
            <a:pPr marL="194945" indent="-182880">
              <a:lnSpc>
                <a:spcPct val="100000"/>
              </a:lnSpc>
              <a:spcBef>
                <a:spcPts val="555"/>
              </a:spcBef>
              <a:buChar char="•"/>
              <a:tabLst>
                <a:tab pos="195580" algn="l"/>
              </a:tabLst>
            </a:pPr>
            <a:r>
              <a:rPr sz="1700" spc="5" dirty="0">
                <a:latin typeface="Arial MT"/>
                <a:cs typeface="Arial MT"/>
              </a:rPr>
              <a:t>R</a:t>
            </a:r>
            <a:r>
              <a:rPr sz="1700" spc="10" dirty="0">
                <a:latin typeface="Arial MT"/>
                <a:cs typeface="Arial MT"/>
              </a:rPr>
              <a:t>i</a:t>
            </a:r>
            <a:r>
              <a:rPr sz="1700" spc="5" dirty="0">
                <a:latin typeface="Arial MT"/>
                <a:cs typeface="Arial MT"/>
              </a:rPr>
              <a:t>ght</a:t>
            </a:r>
            <a:r>
              <a:rPr sz="1700" spc="-25" dirty="0">
                <a:latin typeface="Times New Roman"/>
                <a:cs typeface="Times New Roman"/>
              </a:rPr>
              <a:t> </a:t>
            </a:r>
            <a:r>
              <a:rPr sz="1700" spc="5" dirty="0">
                <a:latin typeface="Arial MT"/>
                <a:cs typeface="Arial MT"/>
              </a:rPr>
              <a:t>to</a:t>
            </a:r>
            <a:r>
              <a:rPr sz="1700" spc="50" dirty="0">
                <a:latin typeface="Times New Roman"/>
                <a:cs typeface="Times New Roman"/>
              </a:rPr>
              <a:t> </a:t>
            </a:r>
            <a:r>
              <a:rPr sz="1700" spc="10" dirty="0">
                <a:latin typeface="Arial MT"/>
                <a:cs typeface="Arial MT"/>
              </a:rPr>
              <a:t>L</a:t>
            </a:r>
            <a:r>
              <a:rPr sz="1700" spc="5" dirty="0">
                <a:latin typeface="Arial MT"/>
                <a:cs typeface="Arial MT"/>
              </a:rPr>
              <a:t>e</a:t>
            </a:r>
            <a:r>
              <a:rPr sz="1700" spc="45" dirty="0">
                <a:latin typeface="Arial MT"/>
                <a:cs typeface="Arial MT"/>
              </a:rPr>
              <a:t>f</a:t>
            </a:r>
            <a:r>
              <a:rPr sz="1700" spc="5" dirty="0">
                <a:latin typeface="Arial MT"/>
                <a:cs typeface="Arial MT"/>
              </a:rPr>
              <a:t>t</a:t>
            </a:r>
            <a:r>
              <a:rPr sz="1700" spc="-65" dirty="0">
                <a:latin typeface="Times New Roman"/>
                <a:cs typeface="Times New Roman"/>
              </a:rPr>
              <a:t> </a:t>
            </a:r>
            <a:r>
              <a:rPr sz="1700" spc="5" dirty="0">
                <a:latin typeface="Arial MT"/>
                <a:cs typeface="Arial MT"/>
              </a:rPr>
              <a:t>a</a:t>
            </a:r>
            <a:r>
              <a:rPr sz="1700" spc="20" dirty="0">
                <a:latin typeface="Arial MT"/>
                <a:cs typeface="Arial MT"/>
              </a:rPr>
              <a:t>ss</a:t>
            </a:r>
            <a:r>
              <a:rPr sz="1700" spc="5" dirty="0">
                <a:latin typeface="Arial MT"/>
                <a:cs typeface="Arial MT"/>
              </a:rPr>
              <a:t>o</a:t>
            </a:r>
            <a:r>
              <a:rPr sz="1700" spc="20" dirty="0">
                <a:latin typeface="Arial MT"/>
                <a:cs typeface="Arial MT"/>
              </a:rPr>
              <a:t>ci</a:t>
            </a:r>
            <a:r>
              <a:rPr sz="1700" dirty="0">
                <a:latin typeface="Arial MT"/>
                <a:cs typeface="Arial MT"/>
              </a:rPr>
              <a:t>at</a:t>
            </a:r>
            <a:r>
              <a:rPr sz="1700" spc="-20" dirty="0">
                <a:latin typeface="Arial MT"/>
                <a:cs typeface="Arial MT"/>
              </a:rPr>
              <a:t>i</a:t>
            </a:r>
            <a:r>
              <a:rPr sz="1700" spc="20" dirty="0">
                <a:latin typeface="Arial MT"/>
                <a:cs typeface="Arial MT"/>
              </a:rPr>
              <a:t>v</a:t>
            </a:r>
            <a:r>
              <a:rPr sz="1700" spc="10" dirty="0">
                <a:latin typeface="Arial MT"/>
                <a:cs typeface="Arial MT"/>
              </a:rPr>
              <a:t>e</a:t>
            </a:r>
            <a:endParaRPr sz="1700">
              <a:latin typeface="Arial MT"/>
              <a:cs typeface="Arial MT"/>
            </a:endParaRPr>
          </a:p>
          <a:p>
            <a:pPr marL="407670" lvl="1" indent="-152400">
              <a:lnSpc>
                <a:spcPct val="100000"/>
              </a:lnSpc>
              <a:spcBef>
                <a:spcPts val="405"/>
              </a:spcBef>
              <a:buChar char="–"/>
              <a:tabLst>
                <a:tab pos="408305" algn="l"/>
              </a:tabLst>
            </a:pPr>
            <a:r>
              <a:rPr sz="1450" spc="10" dirty="0">
                <a:latin typeface="Arial MT"/>
                <a:cs typeface="Arial MT"/>
              </a:rPr>
              <a:t>Unary</a:t>
            </a:r>
            <a:r>
              <a:rPr sz="1450" spc="5" dirty="0">
                <a:latin typeface="Arial MT"/>
                <a:cs typeface="Arial MT"/>
              </a:rPr>
              <a:t> operators</a:t>
            </a:r>
            <a:endParaRPr sz="1450">
              <a:latin typeface="Arial MT"/>
              <a:cs typeface="Arial MT"/>
            </a:endParaRPr>
          </a:p>
          <a:p>
            <a:pPr marL="407670" lvl="1" indent="-152400">
              <a:lnSpc>
                <a:spcPct val="100000"/>
              </a:lnSpc>
              <a:spcBef>
                <a:spcPts val="420"/>
              </a:spcBef>
              <a:buChar char="–"/>
              <a:tabLst>
                <a:tab pos="408305" algn="l"/>
              </a:tabLst>
            </a:pPr>
            <a:r>
              <a:rPr sz="1450" spc="5" dirty="0">
                <a:latin typeface="Arial MT"/>
                <a:cs typeface="Arial MT"/>
              </a:rPr>
              <a:t>Assignment</a:t>
            </a:r>
            <a:r>
              <a:rPr sz="1450" spc="95" dirty="0">
                <a:latin typeface="Arial MT"/>
                <a:cs typeface="Arial MT"/>
              </a:rPr>
              <a:t> </a:t>
            </a:r>
            <a:r>
              <a:rPr sz="1450" spc="5" dirty="0">
                <a:latin typeface="Arial MT"/>
                <a:cs typeface="Arial MT"/>
              </a:rPr>
              <a:t>operators</a:t>
            </a:r>
            <a:endParaRPr sz="1450">
              <a:latin typeface="Arial MT"/>
              <a:cs typeface="Arial MT"/>
            </a:endParaRPr>
          </a:p>
          <a:p>
            <a:pPr marL="407670" lvl="1" indent="-152400">
              <a:lnSpc>
                <a:spcPct val="100000"/>
              </a:lnSpc>
              <a:spcBef>
                <a:spcPts val="415"/>
              </a:spcBef>
              <a:buChar char="–"/>
              <a:tabLst>
                <a:tab pos="408305" algn="l"/>
              </a:tabLst>
            </a:pPr>
            <a:r>
              <a:rPr sz="1450" spc="5" dirty="0">
                <a:latin typeface="Arial MT"/>
                <a:cs typeface="Arial MT"/>
              </a:rPr>
              <a:t>Conditional(ternary)</a:t>
            </a:r>
            <a:r>
              <a:rPr sz="1450" spc="160" dirty="0">
                <a:latin typeface="Arial MT"/>
                <a:cs typeface="Arial MT"/>
              </a:rPr>
              <a:t> </a:t>
            </a:r>
            <a:r>
              <a:rPr sz="1450" dirty="0">
                <a:latin typeface="Arial MT"/>
                <a:cs typeface="Arial MT"/>
              </a:rPr>
              <a:t>operators)</a:t>
            </a:r>
            <a:endParaRPr sz="1450">
              <a:latin typeface="Arial MT"/>
              <a:cs typeface="Arial MT"/>
            </a:endParaRPr>
          </a:p>
          <a:p>
            <a:pPr marL="194945" indent="-182880">
              <a:lnSpc>
                <a:spcPct val="100000"/>
              </a:lnSpc>
              <a:spcBef>
                <a:spcPts val="409"/>
              </a:spcBef>
              <a:buChar char="•"/>
              <a:tabLst>
                <a:tab pos="195580" algn="l"/>
              </a:tabLst>
            </a:pPr>
            <a:r>
              <a:rPr sz="1700" spc="10" dirty="0">
                <a:latin typeface="Arial MT"/>
                <a:cs typeface="Arial MT"/>
              </a:rPr>
              <a:t>All</a:t>
            </a:r>
            <a:r>
              <a:rPr sz="1700" spc="-65" dirty="0">
                <a:latin typeface="Arial MT"/>
                <a:cs typeface="Arial MT"/>
              </a:rPr>
              <a:t> </a:t>
            </a:r>
            <a:r>
              <a:rPr sz="1700" spc="5" dirty="0">
                <a:latin typeface="Arial MT"/>
                <a:cs typeface="Arial MT"/>
              </a:rPr>
              <a:t>other</a:t>
            </a:r>
            <a:r>
              <a:rPr sz="1700" spc="-45" dirty="0">
                <a:latin typeface="Arial MT"/>
                <a:cs typeface="Arial MT"/>
              </a:rPr>
              <a:t> </a:t>
            </a:r>
            <a:r>
              <a:rPr sz="1700" dirty="0">
                <a:latin typeface="Arial MT"/>
                <a:cs typeface="Arial MT"/>
              </a:rPr>
              <a:t>operators</a:t>
            </a:r>
            <a:r>
              <a:rPr sz="1700" spc="-60" dirty="0">
                <a:latin typeface="Arial MT"/>
                <a:cs typeface="Arial MT"/>
              </a:rPr>
              <a:t> </a:t>
            </a:r>
            <a:r>
              <a:rPr sz="1700" dirty="0">
                <a:latin typeface="Arial MT"/>
                <a:cs typeface="Arial MT"/>
              </a:rPr>
              <a:t>are</a:t>
            </a:r>
            <a:r>
              <a:rPr sz="1700" spc="-30" dirty="0">
                <a:latin typeface="Arial MT"/>
                <a:cs typeface="Arial MT"/>
              </a:rPr>
              <a:t> </a:t>
            </a:r>
            <a:r>
              <a:rPr sz="1700" spc="15" dirty="0">
                <a:latin typeface="Arial MT"/>
                <a:cs typeface="Arial MT"/>
              </a:rPr>
              <a:t>Left</a:t>
            </a:r>
            <a:r>
              <a:rPr sz="1700" spc="-75" dirty="0">
                <a:latin typeface="Arial MT"/>
                <a:cs typeface="Arial MT"/>
              </a:rPr>
              <a:t> </a:t>
            </a:r>
            <a:r>
              <a:rPr sz="1700" spc="5" dirty="0">
                <a:latin typeface="Arial MT"/>
                <a:cs typeface="Arial MT"/>
              </a:rPr>
              <a:t>to</a:t>
            </a:r>
            <a:r>
              <a:rPr sz="1700" spc="-30" dirty="0">
                <a:latin typeface="Arial MT"/>
                <a:cs typeface="Arial MT"/>
              </a:rPr>
              <a:t> </a:t>
            </a:r>
            <a:r>
              <a:rPr sz="1700" spc="5" dirty="0">
                <a:latin typeface="Arial MT"/>
                <a:cs typeface="Arial MT"/>
              </a:rPr>
              <a:t>Right</a:t>
            </a:r>
            <a:r>
              <a:rPr sz="1700" spc="-30" dirty="0">
                <a:latin typeface="Arial MT"/>
                <a:cs typeface="Arial MT"/>
              </a:rPr>
              <a:t> </a:t>
            </a:r>
            <a:r>
              <a:rPr sz="1700" spc="5" dirty="0">
                <a:latin typeface="Arial MT"/>
                <a:cs typeface="Arial MT"/>
              </a:rPr>
              <a:t>associative</a:t>
            </a:r>
            <a:endParaRPr sz="1700">
              <a:latin typeface="Arial MT"/>
              <a:cs typeface="Arial MT"/>
            </a:endParaRPr>
          </a:p>
        </p:txBody>
      </p:sp>
      <p:sp>
        <p:nvSpPr>
          <p:cNvPr id="5" name="object 5"/>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84400" y="268881"/>
            <a:ext cx="2110827" cy="318135"/>
          </a:xfrm>
          <a:prstGeom prst="rect">
            <a:avLst/>
          </a:prstGeom>
        </p:spPr>
        <p:txBody>
          <a:bodyPr vert="horz" wrap="square" lIns="0" tIns="14604" rIns="0" bIns="0" rtlCol="0">
            <a:spAutoFit/>
          </a:bodyPr>
          <a:lstStyle/>
          <a:p>
            <a:pPr marL="12700">
              <a:lnSpc>
                <a:spcPct val="100000"/>
              </a:lnSpc>
              <a:spcBef>
                <a:spcPts val="114"/>
              </a:spcBef>
            </a:pPr>
            <a:r>
              <a:rPr spc="5" dirty="0">
                <a:solidFill>
                  <a:schemeClr val="tx1"/>
                </a:solidFill>
              </a:rPr>
              <a:t>Control</a:t>
            </a:r>
            <a:r>
              <a:rPr spc="-90" dirty="0">
                <a:solidFill>
                  <a:schemeClr val="tx1"/>
                </a:solidFill>
              </a:rPr>
              <a:t> </a:t>
            </a:r>
            <a:r>
              <a:rPr spc="5" dirty="0">
                <a:solidFill>
                  <a:schemeClr val="tx1"/>
                </a:solidFill>
              </a:rPr>
              <a:t>statements</a:t>
            </a:r>
          </a:p>
        </p:txBody>
      </p:sp>
      <p:sp>
        <p:nvSpPr>
          <p:cNvPr id="3" name="object 3"/>
          <p:cNvSpPr txBox="1"/>
          <p:nvPr/>
        </p:nvSpPr>
        <p:spPr>
          <a:xfrm>
            <a:off x="364664" y="927100"/>
            <a:ext cx="6010736" cy="1941750"/>
          </a:xfrm>
          <a:prstGeom prst="rect">
            <a:avLst/>
          </a:prstGeom>
        </p:spPr>
        <p:txBody>
          <a:bodyPr vert="horz" wrap="square" lIns="0" tIns="12700" rIns="0" bIns="0" rtlCol="0">
            <a:spAutoFit/>
          </a:bodyPr>
          <a:lstStyle/>
          <a:p>
            <a:pPr marL="194945" marR="5080" indent="-182880" algn="just">
              <a:lnSpc>
                <a:spcPct val="100899"/>
              </a:lnSpc>
              <a:spcBef>
                <a:spcPts val="100"/>
              </a:spcBef>
              <a:buChar char="•"/>
              <a:tabLst>
                <a:tab pos="195580" algn="l"/>
              </a:tabLst>
            </a:pPr>
            <a:r>
              <a:rPr sz="1700" spc="10" dirty="0">
                <a:latin typeface="Arial MT"/>
                <a:cs typeface="Arial MT"/>
              </a:rPr>
              <a:t>A </a:t>
            </a:r>
            <a:r>
              <a:rPr sz="1700" spc="5" dirty="0">
                <a:latin typeface="Arial MT"/>
                <a:cs typeface="Arial MT"/>
              </a:rPr>
              <a:t>programming language </a:t>
            </a:r>
            <a:r>
              <a:rPr sz="1700" spc="10" dirty="0">
                <a:latin typeface="Arial MT"/>
                <a:cs typeface="Arial MT"/>
              </a:rPr>
              <a:t>uses </a:t>
            </a:r>
            <a:r>
              <a:rPr sz="1700" spc="5" dirty="0">
                <a:latin typeface="Arial MT"/>
                <a:cs typeface="Arial MT"/>
              </a:rPr>
              <a:t>control </a:t>
            </a:r>
            <a:r>
              <a:rPr sz="1700" spc="10" dirty="0">
                <a:latin typeface="Arial MT"/>
                <a:cs typeface="Arial MT"/>
              </a:rPr>
              <a:t>statements </a:t>
            </a:r>
            <a:r>
              <a:rPr sz="1700" spc="5" dirty="0">
                <a:latin typeface="Arial MT"/>
                <a:cs typeface="Arial MT"/>
              </a:rPr>
              <a:t>to </a:t>
            </a:r>
            <a:r>
              <a:rPr sz="1700" spc="10" dirty="0">
                <a:latin typeface="Arial MT"/>
                <a:cs typeface="Arial MT"/>
              </a:rPr>
              <a:t> </a:t>
            </a:r>
            <a:r>
              <a:rPr sz="1700" spc="15" dirty="0">
                <a:latin typeface="Arial MT"/>
                <a:cs typeface="Arial MT"/>
              </a:rPr>
              <a:t>cause</a:t>
            </a:r>
            <a:r>
              <a:rPr sz="1700" spc="-114" dirty="0">
                <a:latin typeface="Arial MT"/>
                <a:cs typeface="Arial MT"/>
              </a:rPr>
              <a:t> </a:t>
            </a:r>
            <a:r>
              <a:rPr sz="1700" spc="5" dirty="0">
                <a:latin typeface="Arial MT"/>
                <a:cs typeface="Arial MT"/>
              </a:rPr>
              <a:t>the</a:t>
            </a:r>
            <a:r>
              <a:rPr sz="1700" spc="-35" dirty="0">
                <a:latin typeface="Arial MT"/>
                <a:cs typeface="Arial MT"/>
              </a:rPr>
              <a:t> </a:t>
            </a:r>
            <a:r>
              <a:rPr sz="1700" spc="15" dirty="0">
                <a:latin typeface="Arial MT"/>
                <a:cs typeface="Arial MT"/>
              </a:rPr>
              <a:t>flow</a:t>
            </a:r>
            <a:r>
              <a:rPr sz="1700" spc="-80" dirty="0">
                <a:latin typeface="Arial MT"/>
                <a:cs typeface="Arial MT"/>
              </a:rPr>
              <a:t> </a:t>
            </a:r>
            <a:r>
              <a:rPr sz="1700" spc="5" dirty="0">
                <a:latin typeface="Arial MT"/>
                <a:cs typeface="Arial MT"/>
              </a:rPr>
              <a:t>of</a:t>
            </a:r>
            <a:r>
              <a:rPr sz="1700" spc="-30" dirty="0">
                <a:latin typeface="Arial MT"/>
                <a:cs typeface="Arial MT"/>
              </a:rPr>
              <a:t> </a:t>
            </a:r>
            <a:r>
              <a:rPr sz="1700" spc="10" dirty="0">
                <a:latin typeface="Arial MT"/>
                <a:cs typeface="Arial MT"/>
              </a:rPr>
              <a:t>execution</a:t>
            </a:r>
            <a:r>
              <a:rPr sz="1700" spc="-114" dirty="0">
                <a:latin typeface="Arial MT"/>
                <a:cs typeface="Arial MT"/>
              </a:rPr>
              <a:t> </a:t>
            </a:r>
            <a:r>
              <a:rPr sz="1700" spc="5" dirty="0">
                <a:latin typeface="Arial MT"/>
                <a:cs typeface="Arial MT"/>
              </a:rPr>
              <a:t>to</a:t>
            </a:r>
            <a:r>
              <a:rPr sz="1700" spc="-35" dirty="0">
                <a:latin typeface="Arial MT"/>
                <a:cs typeface="Arial MT"/>
              </a:rPr>
              <a:t> </a:t>
            </a:r>
            <a:r>
              <a:rPr sz="1700" spc="10" dirty="0">
                <a:latin typeface="Arial MT"/>
                <a:cs typeface="Arial MT"/>
              </a:rPr>
              <a:t>advance</a:t>
            </a:r>
            <a:r>
              <a:rPr sz="1700" spc="-110" dirty="0">
                <a:latin typeface="Arial MT"/>
                <a:cs typeface="Arial MT"/>
              </a:rPr>
              <a:t> </a:t>
            </a:r>
            <a:r>
              <a:rPr sz="1700" spc="5" dirty="0">
                <a:latin typeface="Arial MT"/>
                <a:cs typeface="Arial MT"/>
              </a:rPr>
              <a:t>and</a:t>
            </a:r>
            <a:r>
              <a:rPr sz="1700" spc="-35" dirty="0">
                <a:latin typeface="Arial MT"/>
                <a:cs typeface="Arial MT"/>
              </a:rPr>
              <a:t> </a:t>
            </a:r>
            <a:r>
              <a:rPr sz="1700" spc="5" dirty="0">
                <a:latin typeface="Arial MT"/>
                <a:cs typeface="Arial MT"/>
              </a:rPr>
              <a:t>branch</a:t>
            </a:r>
            <a:r>
              <a:rPr sz="1700" spc="-80" dirty="0">
                <a:latin typeface="Arial MT"/>
                <a:cs typeface="Arial MT"/>
              </a:rPr>
              <a:t> </a:t>
            </a:r>
            <a:r>
              <a:rPr sz="1700" spc="10" dirty="0">
                <a:latin typeface="Arial MT"/>
                <a:cs typeface="Arial MT"/>
              </a:rPr>
              <a:t>based </a:t>
            </a:r>
            <a:r>
              <a:rPr sz="1700" spc="-455" dirty="0">
                <a:latin typeface="Arial MT"/>
                <a:cs typeface="Arial MT"/>
              </a:rPr>
              <a:t> </a:t>
            </a:r>
            <a:r>
              <a:rPr sz="1700" spc="5" dirty="0">
                <a:latin typeface="Arial MT"/>
                <a:cs typeface="Arial MT"/>
              </a:rPr>
              <a:t>on</a:t>
            </a:r>
            <a:r>
              <a:rPr sz="1700" spc="-35" dirty="0">
                <a:latin typeface="Arial MT"/>
                <a:cs typeface="Arial MT"/>
              </a:rPr>
              <a:t> </a:t>
            </a:r>
            <a:r>
              <a:rPr sz="1700" spc="5" dirty="0">
                <a:latin typeface="Arial MT"/>
                <a:cs typeface="Arial MT"/>
              </a:rPr>
              <a:t>changes</a:t>
            </a:r>
            <a:r>
              <a:rPr sz="1700" spc="-100" dirty="0">
                <a:latin typeface="Arial MT"/>
                <a:cs typeface="Arial MT"/>
              </a:rPr>
              <a:t> </a:t>
            </a:r>
            <a:r>
              <a:rPr sz="1700" spc="5" dirty="0">
                <a:latin typeface="Arial MT"/>
                <a:cs typeface="Arial MT"/>
              </a:rPr>
              <a:t>to</a:t>
            </a:r>
            <a:r>
              <a:rPr sz="1700" spc="-30" dirty="0">
                <a:latin typeface="Arial MT"/>
                <a:cs typeface="Arial MT"/>
              </a:rPr>
              <a:t> </a:t>
            </a:r>
            <a:r>
              <a:rPr sz="1700" spc="5" dirty="0">
                <a:latin typeface="Arial MT"/>
                <a:cs typeface="Arial MT"/>
              </a:rPr>
              <a:t>the</a:t>
            </a:r>
            <a:r>
              <a:rPr sz="1700" spc="-35" dirty="0">
                <a:latin typeface="Arial MT"/>
                <a:cs typeface="Arial MT"/>
              </a:rPr>
              <a:t> </a:t>
            </a:r>
            <a:r>
              <a:rPr sz="1700" spc="10" dirty="0">
                <a:latin typeface="Arial MT"/>
                <a:cs typeface="Arial MT"/>
              </a:rPr>
              <a:t>state</a:t>
            </a:r>
            <a:r>
              <a:rPr sz="1700" spc="-70" dirty="0">
                <a:latin typeface="Arial MT"/>
                <a:cs typeface="Arial MT"/>
              </a:rPr>
              <a:t> </a:t>
            </a:r>
            <a:r>
              <a:rPr sz="1700" spc="5" dirty="0">
                <a:latin typeface="Arial MT"/>
                <a:cs typeface="Arial MT"/>
              </a:rPr>
              <a:t>of</a:t>
            </a:r>
            <a:r>
              <a:rPr sz="1700" dirty="0">
                <a:latin typeface="Arial MT"/>
                <a:cs typeface="Arial MT"/>
              </a:rPr>
              <a:t> </a:t>
            </a:r>
            <a:r>
              <a:rPr sz="1700" spc="10" dirty="0">
                <a:latin typeface="Arial MT"/>
                <a:cs typeface="Arial MT"/>
              </a:rPr>
              <a:t>a</a:t>
            </a:r>
            <a:r>
              <a:rPr sz="1700" spc="-30" dirty="0">
                <a:latin typeface="Arial MT"/>
                <a:cs typeface="Arial MT"/>
              </a:rPr>
              <a:t> </a:t>
            </a:r>
            <a:r>
              <a:rPr sz="1700" dirty="0">
                <a:latin typeface="Arial MT"/>
                <a:cs typeface="Arial MT"/>
              </a:rPr>
              <a:t>program</a:t>
            </a:r>
          </a:p>
          <a:p>
            <a:pPr marL="194945" indent="-182880" algn="just">
              <a:lnSpc>
                <a:spcPct val="100000"/>
              </a:lnSpc>
              <a:spcBef>
                <a:spcPts val="395"/>
              </a:spcBef>
              <a:buChar char="•"/>
              <a:tabLst>
                <a:tab pos="195580" algn="l"/>
              </a:tabLst>
            </a:pPr>
            <a:r>
              <a:rPr sz="1700" spc="5" dirty="0">
                <a:latin typeface="Arial MT"/>
                <a:cs typeface="Arial MT"/>
              </a:rPr>
              <a:t>Categories</a:t>
            </a:r>
            <a:r>
              <a:rPr sz="1700" spc="-105" dirty="0">
                <a:latin typeface="Arial MT"/>
                <a:cs typeface="Arial MT"/>
              </a:rPr>
              <a:t> </a:t>
            </a:r>
            <a:r>
              <a:rPr sz="1700" dirty="0">
                <a:latin typeface="Arial MT"/>
                <a:cs typeface="Arial MT"/>
              </a:rPr>
              <a:t>of</a:t>
            </a:r>
            <a:r>
              <a:rPr sz="1700" spc="-45" dirty="0">
                <a:latin typeface="Arial MT"/>
                <a:cs typeface="Arial MT"/>
              </a:rPr>
              <a:t> </a:t>
            </a:r>
            <a:r>
              <a:rPr sz="1700" spc="5" dirty="0">
                <a:latin typeface="Arial MT"/>
                <a:cs typeface="Arial MT"/>
              </a:rPr>
              <a:t>control</a:t>
            </a:r>
            <a:r>
              <a:rPr sz="1700" spc="-65" dirty="0">
                <a:latin typeface="Arial MT"/>
                <a:cs typeface="Arial MT"/>
              </a:rPr>
              <a:t> </a:t>
            </a:r>
            <a:r>
              <a:rPr sz="1700" spc="5" dirty="0">
                <a:latin typeface="Arial MT"/>
                <a:cs typeface="Arial MT"/>
              </a:rPr>
              <a:t>statements</a:t>
            </a:r>
            <a:endParaRPr sz="1700" dirty="0">
              <a:latin typeface="Arial MT"/>
              <a:cs typeface="Arial MT"/>
            </a:endParaRPr>
          </a:p>
          <a:p>
            <a:pPr marL="499109" lvl="1" indent="-274320" algn="just">
              <a:lnSpc>
                <a:spcPct val="100000"/>
              </a:lnSpc>
              <a:spcBef>
                <a:spcPts val="409"/>
              </a:spcBef>
              <a:buFont typeface="Wingdings"/>
              <a:buChar char=""/>
              <a:tabLst>
                <a:tab pos="499745" algn="l"/>
              </a:tabLst>
            </a:pPr>
            <a:r>
              <a:rPr sz="1450" spc="-5" dirty="0">
                <a:latin typeface="Arial MT"/>
                <a:cs typeface="Arial MT"/>
              </a:rPr>
              <a:t>Selection</a:t>
            </a:r>
            <a:r>
              <a:rPr sz="1450" spc="140" dirty="0">
                <a:latin typeface="Arial MT"/>
                <a:cs typeface="Arial MT"/>
              </a:rPr>
              <a:t> </a:t>
            </a:r>
            <a:r>
              <a:rPr sz="1450" dirty="0">
                <a:latin typeface="Arial MT"/>
                <a:cs typeface="Arial MT"/>
              </a:rPr>
              <a:t>Statements,</a:t>
            </a:r>
          </a:p>
          <a:p>
            <a:pPr marL="499109" lvl="1" indent="-274320" algn="just">
              <a:lnSpc>
                <a:spcPct val="100000"/>
              </a:lnSpc>
              <a:spcBef>
                <a:spcPts val="420"/>
              </a:spcBef>
              <a:buFont typeface="Wingdings"/>
              <a:buChar char=""/>
              <a:tabLst>
                <a:tab pos="499745" algn="l"/>
              </a:tabLst>
            </a:pPr>
            <a:r>
              <a:rPr sz="1450" spc="-10" dirty="0">
                <a:latin typeface="Arial MT"/>
                <a:cs typeface="Arial MT"/>
              </a:rPr>
              <a:t>Iteration</a:t>
            </a:r>
            <a:r>
              <a:rPr sz="1450" spc="175" dirty="0">
                <a:latin typeface="Arial MT"/>
                <a:cs typeface="Arial MT"/>
              </a:rPr>
              <a:t> </a:t>
            </a:r>
            <a:r>
              <a:rPr sz="1450" dirty="0">
                <a:latin typeface="Arial MT"/>
                <a:cs typeface="Arial MT"/>
              </a:rPr>
              <a:t>Statements</a:t>
            </a:r>
          </a:p>
          <a:p>
            <a:pPr marL="499109" lvl="1" indent="-274320" algn="just">
              <a:lnSpc>
                <a:spcPct val="100000"/>
              </a:lnSpc>
              <a:spcBef>
                <a:spcPts val="415"/>
              </a:spcBef>
              <a:buFont typeface="Wingdings"/>
              <a:buChar char=""/>
              <a:tabLst>
                <a:tab pos="499745" algn="l"/>
              </a:tabLst>
            </a:pPr>
            <a:r>
              <a:rPr sz="1450" spc="20" dirty="0">
                <a:latin typeface="Arial MT"/>
                <a:cs typeface="Arial MT"/>
              </a:rPr>
              <a:t>Jump</a:t>
            </a:r>
            <a:r>
              <a:rPr sz="1450" spc="-20" dirty="0">
                <a:latin typeface="Arial MT"/>
                <a:cs typeface="Arial MT"/>
              </a:rPr>
              <a:t> </a:t>
            </a:r>
            <a:r>
              <a:rPr sz="1450" dirty="0">
                <a:latin typeface="Arial MT"/>
                <a:cs typeface="Arial MT"/>
              </a:rPr>
              <a:t>Statements.</a:t>
            </a:r>
          </a:p>
        </p:txBody>
      </p:sp>
      <p:sp>
        <p:nvSpPr>
          <p:cNvPr id="5" name="object 5"/>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p:nvPr/>
        </p:nvSpPr>
        <p:spPr>
          <a:xfrm>
            <a:off x="364664" y="1231899"/>
            <a:ext cx="6010736" cy="1795235"/>
          </a:xfrm>
          <a:prstGeom prst="rect">
            <a:avLst/>
          </a:prstGeom>
        </p:spPr>
        <p:txBody>
          <a:bodyPr vert="horz" wrap="square" lIns="0" tIns="70485" rIns="0" bIns="0" rtlCol="0">
            <a:spAutoFit/>
          </a:bodyPr>
          <a:lstStyle/>
          <a:p>
            <a:pPr marL="194945" indent="-182880">
              <a:lnSpc>
                <a:spcPct val="100000"/>
              </a:lnSpc>
              <a:spcBef>
                <a:spcPts val="555"/>
              </a:spcBef>
              <a:buChar char="•"/>
              <a:tabLst>
                <a:tab pos="195580" algn="l"/>
              </a:tabLst>
            </a:pPr>
            <a:r>
              <a:rPr sz="1700" spc="15" dirty="0">
                <a:solidFill>
                  <a:srgbClr val="FF0000"/>
                </a:solidFill>
                <a:latin typeface="Arial MT"/>
                <a:cs typeface="Arial MT"/>
              </a:rPr>
              <a:t>S</a:t>
            </a:r>
            <a:r>
              <a:rPr sz="1700" spc="5" dirty="0">
                <a:solidFill>
                  <a:srgbClr val="FF0000"/>
                </a:solidFill>
                <a:latin typeface="Arial MT"/>
                <a:cs typeface="Arial MT"/>
              </a:rPr>
              <a:t>e</a:t>
            </a:r>
            <a:r>
              <a:rPr sz="1700" spc="15" dirty="0">
                <a:solidFill>
                  <a:srgbClr val="FF0000"/>
                </a:solidFill>
                <a:latin typeface="Arial MT"/>
                <a:cs typeface="Arial MT"/>
              </a:rPr>
              <a:t>l</a:t>
            </a:r>
            <a:r>
              <a:rPr sz="1700" spc="5" dirty="0">
                <a:solidFill>
                  <a:srgbClr val="FF0000"/>
                </a:solidFill>
                <a:latin typeface="Arial MT"/>
                <a:cs typeface="Arial MT"/>
              </a:rPr>
              <a:t>e</a:t>
            </a:r>
            <a:r>
              <a:rPr sz="1700" spc="20" dirty="0">
                <a:solidFill>
                  <a:srgbClr val="FF0000"/>
                </a:solidFill>
                <a:latin typeface="Arial MT"/>
                <a:cs typeface="Arial MT"/>
              </a:rPr>
              <a:t>c</a:t>
            </a:r>
            <a:r>
              <a:rPr sz="1700" spc="5" dirty="0">
                <a:solidFill>
                  <a:srgbClr val="FF0000"/>
                </a:solidFill>
                <a:latin typeface="Arial MT"/>
                <a:cs typeface="Arial MT"/>
              </a:rPr>
              <a:t>t</a:t>
            </a:r>
            <a:r>
              <a:rPr sz="1700" spc="15" dirty="0">
                <a:solidFill>
                  <a:srgbClr val="FF0000"/>
                </a:solidFill>
                <a:latin typeface="Arial MT"/>
                <a:cs typeface="Arial MT"/>
              </a:rPr>
              <a:t>i</a:t>
            </a:r>
            <a:r>
              <a:rPr sz="1700" spc="5" dirty="0">
                <a:solidFill>
                  <a:srgbClr val="FF0000"/>
                </a:solidFill>
                <a:latin typeface="Arial MT"/>
                <a:cs typeface="Arial MT"/>
              </a:rPr>
              <a:t>o</a:t>
            </a:r>
            <a:r>
              <a:rPr sz="1700" spc="10" dirty="0">
                <a:solidFill>
                  <a:srgbClr val="FF0000"/>
                </a:solidFill>
                <a:latin typeface="Arial MT"/>
                <a:cs typeface="Arial MT"/>
              </a:rPr>
              <a:t>n</a:t>
            </a:r>
            <a:r>
              <a:rPr sz="1700" spc="-105" dirty="0">
                <a:solidFill>
                  <a:srgbClr val="FF0000"/>
                </a:solidFill>
                <a:latin typeface="Times New Roman"/>
                <a:cs typeface="Times New Roman"/>
              </a:rPr>
              <a:t> </a:t>
            </a:r>
            <a:r>
              <a:rPr sz="1700" spc="20" dirty="0">
                <a:solidFill>
                  <a:srgbClr val="FF0000"/>
                </a:solidFill>
                <a:latin typeface="Arial MT"/>
                <a:cs typeface="Arial MT"/>
              </a:rPr>
              <a:t>s</a:t>
            </a:r>
            <a:r>
              <a:rPr sz="1700" spc="5" dirty="0">
                <a:solidFill>
                  <a:srgbClr val="FF0000"/>
                </a:solidFill>
                <a:latin typeface="Arial MT"/>
                <a:cs typeface="Arial MT"/>
              </a:rPr>
              <a:t>tat</a:t>
            </a:r>
            <a:r>
              <a:rPr sz="1700" spc="15" dirty="0">
                <a:solidFill>
                  <a:srgbClr val="FF0000"/>
                </a:solidFill>
                <a:latin typeface="Arial MT"/>
                <a:cs typeface="Arial MT"/>
              </a:rPr>
              <a:t>em</a:t>
            </a:r>
            <a:r>
              <a:rPr sz="1700" spc="5" dirty="0">
                <a:solidFill>
                  <a:srgbClr val="FF0000"/>
                </a:solidFill>
                <a:latin typeface="Arial MT"/>
                <a:cs typeface="Arial MT"/>
              </a:rPr>
              <a:t>ents</a:t>
            </a:r>
            <a:r>
              <a:rPr sz="1700" spc="-65" dirty="0">
                <a:solidFill>
                  <a:srgbClr val="FF0000"/>
                </a:solidFill>
                <a:latin typeface="Times New Roman"/>
                <a:cs typeface="Times New Roman"/>
              </a:rPr>
              <a:t> </a:t>
            </a:r>
            <a:r>
              <a:rPr sz="1700" spc="5" dirty="0">
                <a:latin typeface="Arial MT"/>
                <a:cs typeface="Arial MT"/>
              </a:rPr>
              <a:t>a</a:t>
            </a:r>
            <a:r>
              <a:rPr sz="1700" spc="15" dirty="0">
                <a:latin typeface="Arial MT"/>
                <a:cs typeface="Arial MT"/>
              </a:rPr>
              <a:t>ll</a:t>
            </a:r>
            <a:r>
              <a:rPr sz="1700" spc="5" dirty="0">
                <a:latin typeface="Arial MT"/>
                <a:cs typeface="Arial MT"/>
              </a:rPr>
              <a:t>o</a:t>
            </a:r>
            <a:r>
              <a:rPr sz="1700" spc="10" dirty="0">
                <a:latin typeface="Arial MT"/>
                <a:cs typeface="Arial MT"/>
              </a:rPr>
              <a:t>w</a:t>
            </a:r>
            <a:r>
              <a:rPr sz="1700" spc="-30" dirty="0">
                <a:latin typeface="Times New Roman"/>
                <a:cs typeface="Times New Roman"/>
              </a:rPr>
              <a:t> </a:t>
            </a:r>
            <a:r>
              <a:rPr sz="1700" spc="5" dirty="0">
                <a:latin typeface="Arial MT"/>
                <a:cs typeface="Arial MT"/>
              </a:rPr>
              <a:t>the</a:t>
            </a:r>
            <a:r>
              <a:rPr sz="1700" spc="15" dirty="0">
                <a:latin typeface="Times New Roman"/>
                <a:cs typeface="Times New Roman"/>
              </a:rPr>
              <a:t> </a:t>
            </a:r>
            <a:r>
              <a:rPr sz="1700" spc="5" dirty="0">
                <a:latin typeface="Arial MT"/>
                <a:cs typeface="Arial MT"/>
              </a:rPr>
              <a:t>p</a:t>
            </a:r>
            <a:r>
              <a:rPr sz="1700" spc="-10" dirty="0">
                <a:latin typeface="Arial MT"/>
                <a:cs typeface="Arial MT"/>
              </a:rPr>
              <a:t>r</a:t>
            </a:r>
            <a:r>
              <a:rPr sz="1700" spc="5" dirty="0">
                <a:latin typeface="Arial MT"/>
                <a:cs typeface="Arial MT"/>
              </a:rPr>
              <a:t>og</a:t>
            </a:r>
            <a:r>
              <a:rPr sz="1700" spc="-5" dirty="0">
                <a:latin typeface="Arial MT"/>
                <a:cs typeface="Arial MT"/>
              </a:rPr>
              <a:t>r</a:t>
            </a:r>
            <a:r>
              <a:rPr sz="1700" spc="5" dirty="0">
                <a:latin typeface="Arial MT"/>
                <a:cs typeface="Arial MT"/>
              </a:rPr>
              <a:t>am</a:t>
            </a:r>
            <a:endParaRPr sz="1700" dirty="0">
              <a:latin typeface="Arial MT"/>
              <a:cs typeface="Arial MT"/>
            </a:endParaRPr>
          </a:p>
          <a:p>
            <a:pPr marL="407670" marR="381000" lvl="1" indent="-152400">
              <a:lnSpc>
                <a:spcPct val="103299"/>
              </a:lnSpc>
              <a:spcBef>
                <a:spcPts val="350"/>
              </a:spcBef>
              <a:buChar char="–"/>
              <a:tabLst>
                <a:tab pos="408305" algn="l"/>
              </a:tabLst>
            </a:pPr>
            <a:r>
              <a:rPr sz="1450" dirty="0">
                <a:latin typeface="Arial MT"/>
                <a:cs typeface="Arial MT"/>
              </a:rPr>
              <a:t>to</a:t>
            </a:r>
            <a:r>
              <a:rPr sz="1450" spc="10" dirty="0">
                <a:latin typeface="Arial MT"/>
                <a:cs typeface="Arial MT"/>
              </a:rPr>
              <a:t> </a:t>
            </a:r>
            <a:r>
              <a:rPr sz="1450" spc="15" dirty="0">
                <a:latin typeface="Arial MT"/>
                <a:cs typeface="Arial MT"/>
              </a:rPr>
              <a:t>choose</a:t>
            </a:r>
            <a:r>
              <a:rPr sz="1450" spc="10" dirty="0">
                <a:latin typeface="Arial MT"/>
                <a:cs typeface="Arial MT"/>
              </a:rPr>
              <a:t> </a:t>
            </a:r>
            <a:r>
              <a:rPr sz="1450" spc="-5" dirty="0">
                <a:latin typeface="Arial MT"/>
                <a:cs typeface="Arial MT"/>
              </a:rPr>
              <a:t>different</a:t>
            </a:r>
            <a:r>
              <a:rPr sz="1450" spc="185" dirty="0">
                <a:latin typeface="Arial MT"/>
                <a:cs typeface="Arial MT"/>
              </a:rPr>
              <a:t> </a:t>
            </a:r>
            <a:r>
              <a:rPr sz="1450" spc="10" dirty="0">
                <a:latin typeface="Arial MT"/>
                <a:cs typeface="Arial MT"/>
              </a:rPr>
              <a:t>paths</a:t>
            </a:r>
            <a:r>
              <a:rPr sz="1450" spc="55" dirty="0">
                <a:latin typeface="Arial MT"/>
                <a:cs typeface="Arial MT"/>
              </a:rPr>
              <a:t> </a:t>
            </a:r>
            <a:r>
              <a:rPr sz="1450" spc="15" dirty="0">
                <a:latin typeface="Arial MT"/>
                <a:cs typeface="Arial MT"/>
              </a:rPr>
              <a:t>of</a:t>
            </a:r>
            <a:r>
              <a:rPr sz="1450" spc="-15" dirty="0">
                <a:latin typeface="Arial MT"/>
                <a:cs typeface="Arial MT"/>
              </a:rPr>
              <a:t> </a:t>
            </a:r>
            <a:r>
              <a:rPr sz="1450" spc="-5" dirty="0">
                <a:latin typeface="Arial MT"/>
                <a:cs typeface="Arial MT"/>
              </a:rPr>
              <a:t>execution</a:t>
            </a:r>
            <a:r>
              <a:rPr sz="1450" spc="210" dirty="0">
                <a:latin typeface="Arial MT"/>
                <a:cs typeface="Arial MT"/>
              </a:rPr>
              <a:t> </a:t>
            </a:r>
            <a:r>
              <a:rPr sz="1450" dirty="0">
                <a:latin typeface="Arial MT"/>
                <a:cs typeface="Arial MT"/>
              </a:rPr>
              <a:t>based</a:t>
            </a:r>
            <a:r>
              <a:rPr sz="1450" spc="85" dirty="0">
                <a:latin typeface="Arial MT"/>
                <a:cs typeface="Arial MT"/>
              </a:rPr>
              <a:t> </a:t>
            </a:r>
            <a:r>
              <a:rPr sz="1450" spc="20" dirty="0">
                <a:latin typeface="Arial MT"/>
                <a:cs typeface="Arial MT"/>
              </a:rPr>
              <a:t>on</a:t>
            </a:r>
            <a:r>
              <a:rPr sz="1450" spc="15" dirty="0">
                <a:latin typeface="Arial MT"/>
                <a:cs typeface="Arial MT"/>
              </a:rPr>
              <a:t> </a:t>
            </a:r>
            <a:r>
              <a:rPr sz="1450" spc="5" dirty="0">
                <a:latin typeface="Arial MT"/>
                <a:cs typeface="Arial MT"/>
              </a:rPr>
              <a:t>condition</a:t>
            </a:r>
            <a:endParaRPr sz="1450" dirty="0">
              <a:latin typeface="Arial MT"/>
              <a:cs typeface="Arial MT"/>
            </a:endParaRPr>
          </a:p>
          <a:p>
            <a:pPr marL="194945" indent="-182880">
              <a:lnSpc>
                <a:spcPct val="100000"/>
              </a:lnSpc>
              <a:spcBef>
                <a:spcPts val="405"/>
              </a:spcBef>
              <a:buChar char="•"/>
              <a:tabLst>
                <a:tab pos="195580" algn="l"/>
              </a:tabLst>
            </a:pPr>
            <a:r>
              <a:rPr sz="1700" spc="5" dirty="0">
                <a:solidFill>
                  <a:srgbClr val="FF0000"/>
                </a:solidFill>
                <a:latin typeface="Arial MT"/>
                <a:cs typeface="Arial MT"/>
              </a:rPr>
              <a:t>Ite</a:t>
            </a:r>
            <a:r>
              <a:rPr sz="1700" spc="-5" dirty="0">
                <a:solidFill>
                  <a:srgbClr val="FF0000"/>
                </a:solidFill>
                <a:latin typeface="Arial MT"/>
                <a:cs typeface="Arial MT"/>
              </a:rPr>
              <a:t>r</a:t>
            </a:r>
            <a:r>
              <a:rPr sz="1700" dirty="0">
                <a:solidFill>
                  <a:srgbClr val="FF0000"/>
                </a:solidFill>
                <a:latin typeface="Arial MT"/>
                <a:cs typeface="Arial MT"/>
              </a:rPr>
              <a:t>at</a:t>
            </a:r>
            <a:r>
              <a:rPr sz="1700" spc="15" dirty="0">
                <a:solidFill>
                  <a:srgbClr val="FF0000"/>
                </a:solidFill>
                <a:latin typeface="Arial MT"/>
                <a:cs typeface="Arial MT"/>
              </a:rPr>
              <a:t>i</a:t>
            </a:r>
            <a:r>
              <a:rPr sz="1700" spc="5" dirty="0">
                <a:solidFill>
                  <a:srgbClr val="FF0000"/>
                </a:solidFill>
                <a:latin typeface="Arial MT"/>
                <a:cs typeface="Arial MT"/>
              </a:rPr>
              <a:t>o</a:t>
            </a:r>
            <a:r>
              <a:rPr sz="1700" spc="10" dirty="0">
                <a:solidFill>
                  <a:srgbClr val="FF0000"/>
                </a:solidFill>
                <a:latin typeface="Arial MT"/>
                <a:cs typeface="Arial MT"/>
              </a:rPr>
              <a:t>n</a:t>
            </a:r>
            <a:r>
              <a:rPr sz="1700" spc="-25" dirty="0">
                <a:solidFill>
                  <a:srgbClr val="FF0000"/>
                </a:solidFill>
                <a:latin typeface="Times New Roman"/>
                <a:cs typeface="Times New Roman"/>
              </a:rPr>
              <a:t> </a:t>
            </a:r>
            <a:r>
              <a:rPr sz="1700" spc="20" dirty="0">
                <a:solidFill>
                  <a:srgbClr val="FF0000"/>
                </a:solidFill>
                <a:latin typeface="Arial MT"/>
                <a:cs typeface="Arial MT"/>
              </a:rPr>
              <a:t>s</a:t>
            </a:r>
            <a:r>
              <a:rPr sz="1700" spc="5" dirty="0">
                <a:solidFill>
                  <a:srgbClr val="FF0000"/>
                </a:solidFill>
                <a:latin typeface="Arial MT"/>
                <a:cs typeface="Arial MT"/>
              </a:rPr>
              <a:t>tat</a:t>
            </a:r>
            <a:r>
              <a:rPr sz="1700" spc="15" dirty="0">
                <a:solidFill>
                  <a:srgbClr val="FF0000"/>
                </a:solidFill>
                <a:latin typeface="Arial MT"/>
                <a:cs typeface="Arial MT"/>
              </a:rPr>
              <a:t>em</a:t>
            </a:r>
            <a:r>
              <a:rPr sz="1700" spc="5" dirty="0">
                <a:solidFill>
                  <a:srgbClr val="FF0000"/>
                </a:solidFill>
                <a:latin typeface="Arial MT"/>
                <a:cs typeface="Arial MT"/>
              </a:rPr>
              <a:t>ents</a:t>
            </a:r>
            <a:r>
              <a:rPr sz="1700" spc="-75" dirty="0">
                <a:solidFill>
                  <a:srgbClr val="FF0000"/>
                </a:solidFill>
                <a:latin typeface="Times New Roman"/>
                <a:cs typeface="Times New Roman"/>
              </a:rPr>
              <a:t> </a:t>
            </a:r>
            <a:r>
              <a:rPr sz="1700" spc="5" dirty="0">
                <a:latin typeface="Arial MT"/>
                <a:cs typeface="Arial MT"/>
              </a:rPr>
              <a:t>en</a:t>
            </a:r>
            <a:r>
              <a:rPr sz="1700" spc="10" dirty="0">
                <a:latin typeface="Arial MT"/>
                <a:cs typeface="Arial MT"/>
              </a:rPr>
              <a:t>a</a:t>
            </a:r>
            <a:r>
              <a:rPr sz="1700" spc="5" dirty="0">
                <a:latin typeface="Arial MT"/>
                <a:cs typeface="Arial MT"/>
              </a:rPr>
              <a:t>b</a:t>
            </a:r>
            <a:r>
              <a:rPr sz="1700" spc="15" dirty="0">
                <a:latin typeface="Arial MT"/>
                <a:cs typeface="Arial MT"/>
              </a:rPr>
              <a:t>l</a:t>
            </a:r>
            <a:r>
              <a:rPr sz="1700" spc="10" dirty="0">
                <a:latin typeface="Arial MT"/>
                <a:cs typeface="Arial MT"/>
              </a:rPr>
              <a:t>e</a:t>
            </a:r>
            <a:r>
              <a:rPr sz="1700" spc="-65" dirty="0">
                <a:latin typeface="Times New Roman"/>
                <a:cs typeface="Times New Roman"/>
              </a:rPr>
              <a:t> </a:t>
            </a:r>
            <a:r>
              <a:rPr sz="1700" spc="5" dirty="0">
                <a:latin typeface="Arial MT"/>
                <a:cs typeface="Arial MT"/>
              </a:rPr>
              <a:t>p</a:t>
            </a:r>
            <a:r>
              <a:rPr sz="1700" spc="-10" dirty="0">
                <a:latin typeface="Arial MT"/>
                <a:cs typeface="Arial MT"/>
              </a:rPr>
              <a:t>r</a:t>
            </a:r>
            <a:r>
              <a:rPr sz="1700" spc="5" dirty="0">
                <a:latin typeface="Arial MT"/>
                <a:cs typeface="Arial MT"/>
              </a:rPr>
              <a:t>og</a:t>
            </a:r>
            <a:r>
              <a:rPr sz="1700" spc="-5" dirty="0">
                <a:latin typeface="Arial MT"/>
                <a:cs typeface="Arial MT"/>
              </a:rPr>
              <a:t>r</a:t>
            </a:r>
            <a:r>
              <a:rPr sz="1700" spc="5" dirty="0">
                <a:latin typeface="Arial MT"/>
                <a:cs typeface="Arial MT"/>
              </a:rPr>
              <a:t>a</a:t>
            </a:r>
            <a:r>
              <a:rPr sz="1700" spc="15" dirty="0">
                <a:latin typeface="Arial MT"/>
                <a:cs typeface="Arial MT"/>
              </a:rPr>
              <a:t>m</a:t>
            </a:r>
            <a:r>
              <a:rPr sz="1700" spc="15" dirty="0">
                <a:latin typeface="Times New Roman"/>
                <a:cs typeface="Times New Roman"/>
              </a:rPr>
              <a:t> </a:t>
            </a:r>
            <a:r>
              <a:rPr sz="1700" spc="5" dirty="0">
                <a:latin typeface="Arial MT"/>
                <a:cs typeface="Arial MT"/>
              </a:rPr>
              <a:t>e</a:t>
            </a:r>
            <a:r>
              <a:rPr sz="1700" spc="20" dirty="0">
                <a:latin typeface="Arial MT"/>
                <a:cs typeface="Arial MT"/>
              </a:rPr>
              <a:t>x</a:t>
            </a:r>
            <a:r>
              <a:rPr sz="1700" spc="5" dirty="0">
                <a:latin typeface="Arial MT"/>
                <a:cs typeface="Arial MT"/>
              </a:rPr>
              <a:t>e</a:t>
            </a:r>
            <a:r>
              <a:rPr sz="1700" spc="20" dirty="0">
                <a:latin typeface="Arial MT"/>
                <a:cs typeface="Arial MT"/>
              </a:rPr>
              <a:t>c</a:t>
            </a:r>
            <a:r>
              <a:rPr sz="1700" dirty="0">
                <a:latin typeface="Arial MT"/>
                <a:cs typeface="Arial MT"/>
              </a:rPr>
              <a:t>ut</a:t>
            </a:r>
            <a:r>
              <a:rPr sz="1700" spc="15" dirty="0">
                <a:latin typeface="Arial MT"/>
                <a:cs typeface="Arial MT"/>
              </a:rPr>
              <a:t>i</a:t>
            </a:r>
            <a:r>
              <a:rPr sz="1700" spc="-30" dirty="0">
                <a:latin typeface="Arial MT"/>
                <a:cs typeface="Arial MT"/>
              </a:rPr>
              <a:t>o</a:t>
            </a:r>
            <a:r>
              <a:rPr sz="1700" spc="10" dirty="0">
                <a:latin typeface="Arial MT"/>
                <a:cs typeface="Arial MT"/>
              </a:rPr>
              <a:t>n</a:t>
            </a:r>
            <a:endParaRPr sz="1700" dirty="0">
              <a:latin typeface="Arial MT"/>
              <a:cs typeface="Arial MT"/>
            </a:endParaRPr>
          </a:p>
          <a:p>
            <a:pPr marL="407670" marR="5080" lvl="1" indent="-152400">
              <a:lnSpc>
                <a:spcPct val="103400"/>
              </a:lnSpc>
              <a:spcBef>
                <a:spcPts val="350"/>
              </a:spcBef>
              <a:buChar char="–"/>
              <a:tabLst>
                <a:tab pos="408305" algn="l"/>
              </a:tabLst>
            </a:pPr>
            <a:r>
              <a:rPr sz="1450" dirty="0">
                <a:latin typeface="Arial MT"/>
                <a:cs typeface="Arial MT"/>
              </a:rPr>
              <a:t>to</a:t>
            </a:r>
            <a:r>
              <a:rPr sz="1450" spc="10" dirty="0">
                <a:latin typeface="Arial MT"/>
                <a:cs typeface="Arial MT"/>
              </a:rPr>
              <a:t> </a:t>
            </a:r>
            <a:r>
              <a:rPr sz="1450" spc="-5" dirty="0">
                <a:latin typeface="Arial MT"/>
                <a:cs typeface="Arial MT"/>
              </a:rPr>
              <a:t>repeat</a:t>
            </a:r>
            <a:r>
              <a:rPr sz="1450" spc="145" dirty="0">
                <a:latin typeface="Arial MT"/>
                <a:cs typeface="Arial MT"/>
              </a:rPr>
              <a:t> </a:t>
            </a:r>
            <a:r>
              <a:rPr sz="1450" spc="20" dirty="0">
                <a:latin typeface="Arial MT"/>
                <a:cs typeface="Arial MT"/>
              </a:rPr>
              <a:t>one</a:t>
            </a:r>
            <a:r>
              <a:rPr sz="1450" spc="15" dirty="0">
                <a:latin typeface="Arial MT"/>
                <a:cs typeface="Arial MT"/>
              </a:rPr>
              <a:t> or</a:t>
            </a:r>
            <a:r>
              <a:rPr sz="1450" spc="-15" dirty="0">
                <a:latin typeface="Arial MT"/>
                <a:cs typeface="Arial MT"/>
              </a:rPr>
              <a:t> </a:t>
            </a:r>
            <a:r>
              <a:rPr sz="1450" spc="10" dirty="0">
                <a:latin typeface="Arial MT"/>
                <a:cs typeface="Arial MT"/>
              </a:rPr>
              <a:t>more</a:t>
            </a:r>
            <a:r>
              <a:rPr sz="1450" spc="50" dirty="0">
                <a:latin typeface="Arial MT"/>
                <a:cs typeface="Arial MT"/>
              </a:rPr>
              <a:t> </a:t>
            </a:r>
            <a:r>
              <a:rPr sz="1450" dirty="0">
                <a:latin typeface="Arial MT"/>
                <a:cs typeface="Arial MT"/>
              </a:rPr>
              <a:t>statements</a:t>
            </a:r>
          </a:p>
          <a:p>
            <a:pPr marL="194945" indent="-182880">
              <a:lnSpc>
                <a:spcPct val="100000"/>
              </a:lnSpc>
              <a:spcBef>
                <a:spcPts val="409"/>
              </a:spcBef>
              <a:buChar char="•"/>
              <a:tabLst>
                <a:tab pos="195580" algn="l"/>
              </a:tabLst>
            </a:pPr>
            <a:r>
              <a:rPr sz="1700" spc="20" dirty="0">
                <a:solidFill>
                  <a:srgbClr val="FF0000"/>
                </a:solidFill>
                <a:latin typeface="Arial MT"/>
                <a:cs typeface="Arial MT"/>
              </a:rPr>
              <a:t>J</a:t>
            </a:r>
            <a:r>
              <a:rPr sz="1700" spc="5" dirty="0">
                <a:solidFill>
                  <a:srgbClr val="FF0000"/>
                </a:solidFill>
                <a:latin typeface="Arial MT"/>
                <a:cs typeface="Arial MT"/>
              </a:rPr>
              <a:t>u</a:t>
            </a:r>
            <a:r>
              <a:rPr sz="1700" spc="20" dirty="0">
                <a:solidFill>
                  <a:srgbClr val="FF0000"/>
                </a:solidFill>
                <a:latin typeface="Arial MT"/>
                <a:cs typeface="Arial MT"/>
              </a:rPr>
              <a:t>m</a:t>
            </a:r>
            <a:r>
              <a:rPr sz="1700" spc="10" dirty="0">
                <a:solidFill>
                  <a:srgbClr val="FF0000"/>
                </a:solidFill>
                <a:latin typeface="Arial MT"/>
                <a:cs typeface="Arial MT"/>
              </a:rPr>
              <a:t>p</a:t>
            </a:r>
            <a:r>
              <a:rPr sz="1700" spc="-30" dirty="0">
                <a:solidFill>
                  <a:srgbClr val="FF0000"/>
                </a:solidFill>
                <a:latin typeface="Times New Roman"/>
                <a:cs typeface="Times New Roman"/>
              </a:rPr>
              <a:t> </a:t>
            </a:r>
            <a:r>
              <a:rPr sz="1700" spc="20" dirty="0">
                <a:solidFill>
                  <a:srgbClr val="FF0000"/>
                </a:solidFill>
                <a:latin typeface="Arial MT"/>
                <a:cs typeface="Arial MT"/>
              </a:rPr>
              <a:t>s</a:t>
            </a:r>
            <a:r>
              <a:rPr sz="1700" spc="5" dirty="0">
                <a:solidFill>
                  <a:srgbClr val="FF0000"/>
                </a:solidFill>
                <a:latin typeface="Arial MT"/>
                <a:cs typeface="Arial MT"/>
              </a:rPr>
              <a:t>tat</a:t>
            </a:r>
            <a:r>
              <a:rPr sz="1700" spc="15" dirty="0">
                <a:solidFill>
                  <a:srgbClr val="FF0000"/>
                </a:solidFill>
                <a:latin typeface="Arial MT"/>
                <a:cs typeface="Arial MT"/>
              </a:rPr>
              <a:t>em</a:t>
            </a:r>
            <a:r>
              <a:rPr sz="1700" spc="5" dirty="0">
                <a:solidFill>
                  <a:srgbClr val="FF0000"/>
                </a:solidFill>
                <a:latin typeface="Arial MT"/>
                <a:cs typeface="Arial MT"/>
              </a:rPr>
              <a:t>ents</a:t>
            </a:r>
            <a:r>
              <a:rPr sz="1700" spc="-75" dirty="0">
                <a:solidFill>
                  <a:srgbClr val="FF0000"/>
                </a:solidFill>
                <a:latin typeface="Times New Roman"/>
                <a:cs typeface="Times New Roman"/>
              </a:rPr>
              <a:t> </a:t>
            </a:r>
            <a:r>
              <a:rPr sz="1700" spc="5" dirty="0">
                <a:latin typeface="Arial MT"/>
                <a:cs typeface="Arial MT"/>
              </a:rPr>
              <a:t>a</a:t>
            </a:r>
            <a:r>
              <a:rPr sz="1700" spc="15" dirty="0">
                <a:latin typeface="Arial MT"/>
                <a:cs typeface="Arial MT"/>
              </a:rPr>
              <a:t>ll</a:t>
            </a:r>
            <a:r>
              <a:rPr sz="1700" spc="5" dirty="0">
                <a:latin typeface="Arial MT"/>
                <a:cs typeface="Arial MT"/>
              </a:rPr>
              <a:t>o</a:t>
            </a:r>
            <a:r>
              <a:rPr sz="1700" spc="10" dirty="0">
                <a:latin typeface="Arial MT"/>
                <a:cs typeface="Arial MT"/>
              </a:rPr>
              <a:t>w</a:t>
            </a:r>
            <a:r>
              <a:rPr sz="1700" spc="-30" dirty="0">
                <a:latin typeface="Times New Roman"/>
                <a:cs typeface="Times New Roman"/>
              </a:rPr>
              <a:t> </a:t>
            </a:r>
            <a:r>
              <a:rPr sz="1700" spc="-20" dirty="0">
                <a:latin typeface="Arial MT"/>
                <a:cs typeface="Arial MT"/>
              </a:rPr>
              <a:t>y</a:t>
            </a:r>
            <a:r>
              <a:rPr sz="1700" spc="5" dirty="0">
                <a:latin typeface="Arial MT"/>
                <a:cs typeface="Arial MT"/>
              </a:rPr>
              <a:t>our</a:t>
            </a:r>
            <a:r>
              <a:rPr sz="1700" spc="40" dirty="0">
                <a:latin typeface="Times New Roman"/>
                <a:cs typeface="Times New Roman"/>
              </a:rPr>
              <a:t> </a:t>
            </a:r>
            <a:r>
              <a:rPr sz="1700" spc="5" dirty="0">
                <a:latin typeface="Arial MT"/>
                <a:cs typeface="Arial MT"/>
              </a:rPr>
              <a:t>p</a:t>
            </a:r>
            <a:r>
              <a:rPr sz="1700" spc="-10" dirty="0">
                <a:latin typeface="Arial MT"/>
                <a:cs typeface="Arial MT"/>
              </a:rPr>
              <a:t>r</a:t>
            </a:r>
            <a:r>
              <a:rPr sz="1700" spc="5" dirty="0">
                <a:latin typeface="Arial MT"/>
                <a:cs typeface="Arial MT"/>
              </a:rPr>
              <a:t>og</a:t>
            </a:r>
            <a:r>
              <a:rPr sz="1700" spc="-5" dirty="0">
                <a:latin typeface="Arial MT"/>
                <a:cs typeface="Arial MT"/>
              </a:rPr>
              <a:t>r</a:t>
            </a:r>
            <a:r>
              <a:rPr sz="1700" spc="5" dirty="0">
                <a:latin typeface="Arial MT"/>
                <a:cs typeface="Arial MT"/>
              </a:rPr>
              <a:t>am</a:t>
            </a:r>
            <a:endParaRPr sz="1700" dirty="0">
              <a:latin typeface="Arial MT"/>
              <a:cs typeface="Arial MT"/>
            </a:endParaRPr>
          </a:p>
          <a:p>
            <a:pPr marL="407670" lvl="1" indent="-152400">
              <a:lnSpc>
                <a:spcPct val="100000"/>
              </a:lnSpc>
              <a:spcBef>
                <a:spcPts val="405"/>
              </a:spcBef>
              <a:buChar char="–"/>
              <a:tabLst>
                <a:tab pos="408305" algn="l"/>
              </a:tabLst>
            </a:pPr>
            <a:r>
              <a:rPr sz="1450" dirty="0">
                <a:latin typeface="Arial MT"/>
                <a:cs typeface="Arial MT"/>
              </a:rPr>
              <a:t>to</a:t>
            </a:r>
            <a:r>
              <a:rPr sz="1450" spc="5" dirty="0">
                <a:latin typeface="Arial MT"/>
                <a:cs typeface="Arial MT"/>
              </a:rPr>
              <a:t> </a:t>
            </a:r>
            <a:r>
              <a:rPr sz="1450" spc="-5" dirty="0">
                <a:latin typeface="Arial MT"/>
                <a:cs typeface="Arial MT"/>
              </a:rPr>
              <a:t>execute</a:t>
            </a:r>
            <a:r>
              <a:rPr sz="1450" spc="160" dirty="0">
                <a:latin typeface="Arial MT"/>
                <a:cs typeface="Arial MT"/>
              </a:rPr>
              <a:t> </a:t>
            </a:r>
            <a:r>
              <a:rPr sz="1450" spc="-15" dirty="0">
                <a:latin typeface="Arial MT"/>
                <a:cs typeface="Arial MT"/>
              </a:rPr>
              <a:t>in</a:t>
            </a:r>
            <a:r>
              <a:rPr sz="1450" spc="40" dirty="0">
                <a:latin typeface="Arial MT"/>
                <a:cs typeface="Arial MT"/>
              </a:rPr>
              <a:t> </a:t>
            </a:r>
            <a:r>
              <a:rPr sz="1450" spc="15" dirty="0">
                <a:latin typeface="Arial MT"/>
                <a:cs typeface="Arial MT"/>
              </a:rPr>
              <a:t>a</a:t>
            </a:r>
            <a:r>
              <a:rPr sz="1450" spc="5" dirty="0">
                <a:latin typeface="Arial MT"/>
                <a:cs typeface="Arial MT"/>
              </a:rPr>
              <a:t> </a:t>
            </a:r>
            <a:r>
              <a:rPr sz="1450" dirty="0">
                <a:latin typeface="Arial MT"/>
                <a:cs typeface="Arial MT"/>
              </a:rPr>
              <a:t>nonlinear</a:t>
            </a:r>
            <a:r>
              <a:rPr sz="1450" spc="175" dirty="0">
                <a:latin typeface="Arial MT"/>
                <a:cs typeface="Arial MT"/>
              </a:rPr>
              <a:t> </a:t>
            </a:r>
            <a:r>
              <a:rPr sz="1450" dirty="0">
                <a:latin typeface="Arial MT"/>
                <a:cs typeface="Arial MT"/>
              </a:rPr>
              <a:t>fashion.</a:t>
            </a:r>
          </a:p>
        </p:txBody>
      </p:sp>
      <p:sp>
        <p:nvSpPr>
          <p:cNvPr id="5" name="object 5"/>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176167"/>
            <a:ext cx="6487240" cy="684201"/>
          </a:xfrm>
          <a:prstGeom prst="rect">
            <a:avLst/>
          </a:prstGeom>
        </p:spPr>
      </p:pic>
      <p:sp>
        <p:nvSpPr>
          <p:cNvPr id="3" name="object 3"/>
          <p:cNvSpPr txBox="1"/>
          <p:nvPr/>
        </p:nvSpPr>
        <p:spPr>
          <a:xfrm>
            <a:off x="364662" y="774700"/>
            <a:ext cx="6137738" cy="2035365"/>
          </a:xfrm>
          <a:prstGeom prst="rect">
            <a:avLst/>
          </a:prstGeom>
        </p:spPr>
        <p:txBody>
          <a:bodyPr vert="horz" wrap="square" lIns="0" tIns="67310" rIns="0" bIns="0" rtlCol="0">
            <a:spAutoFit/>
          </a:bodyPr>
          <a:lstStyle/>
          <a:p>
            <a:pPr marL="194945" indent="-182880">
              <a:lnSpc>
                <a:spcPct val="100000"/>
              </a:lnSpc>
              <a:spcBef>
                <a:spcPts val="530"/>
              </a:spcBef>
              <a:buChar char="•"/>
              <a:tabLst>
                <a:tab pos="195580" algn="l"/>
              </a:tabLst>
            </a:pPr>
            <a:r>
              <a:rPr sz="1700" spc="15" dirty="0">
                <a:latin typeface="Arial MT"/>
                <a:cs typeface="Arial MT"/>
              </a:rPr>
              <a:t>Also</a:t>
            </a:r>
            <a:r>
              <a:rPr sz="1700" spc="-75" dirty="0">
                <a:latin typeface="Arial MT"/>
                <a:cs typeface="Arial MT"/>
              </a:rPr>
              <a:t> </a:t>
            </a:r>
            <a:r>
              <a:rPr sz="1700" spc="10" dirty="0">
                <a:latin typeface="Arial MT"/>
                <a:cs typeface="Arial MT"/>
              </a:rPr>
              <a:t>called</a:t>
            </a:r>
            <a:r>
              <a:rPr sz="1700" spc="-110" dirty="0">
                <a:latin typeface="Arial MT"/>
                <a:cs typeface="Arial MT"/>
              </a:rPr>
              <a:t> </a:t>
            </a:r>
            <a:r>
              <a:rPr sz="1700" spc="10" dirty="0">
                <a:latin typeface="Arial MT"/>
                <a:cs typeface="Arial MT"/>
              </a:rPr>
              <a:t>decision</a:t>
            </a:r>
            <a:r>
              <a:rPr sz="1700" spc="-150" dirty="0">
                <a:latin typeface="Arial MT"/>
                <a:cs typeface="Arial MT"/>
              </a:rPr>
              <a:t> </a:t>
            </a:r>
            <a:r>
              <a:rPr sz="1700" spc="10" dirty="0">
                <a:latin typeface="Arial MT"/>
                <a:cs typeface="Arial MT"/>
              </a:rPr>
              <a:t>making</a:t>
            </a:r>
            <a:r>
              <a:rPr sz="1700" spc="-110" dirty="0">
                <a:latin typeface="Arial MT"/>
                <a:cs typeface="Arial MT"/>
              </a:rPr>
              <a:t> </a:t>
            </a:r>
            <a:r>
              <a:rPr sz="1700" spc="10" dirty="0">
                <a:latin typeface="Arial MT"/>
                <a:cs typeface="Arial MT"/>
              </a:rPr>
              <a:t>statements.</a:t>
            </a:r>
            <a:endParaRPr sz="1700" dirty="0">
              <a:latin typeface="Arial MT"/>
              <a:cs typeface="Arial MT"/>
            </a:endParaRPr>
          </a:p>
          <a:p>
            <a:pPr marL="194945" marR="5080" indent="-182880">
              <a:lnSpc>
                <a:spcPct val="100600"/>
              </a:lnSpc>
              <a:spcBef>
                <a:spcPts val="425"/>
              </a:spcBef>
              <a:buChar char="•"/>
              <a:tabLst>
                <a:tab pos="195580" algn="l"/>
              </a:tabLst>
            </a:pPr>
            <a:r>
              <a:rPr sz="1700" spc="15" dirty="0">
                <a:solidFill>
                  <a:srgbClr val="FF0000"/>
                </a:solidFill>
                <a:latin typeface="Arial MT"/>
                <a:cs typeface="Arial MT"/>
              </a:rPr>
              <a:t>S</a:t>
            </a:r>
            <a:r>
              <a:rPr sz="1700" spc="5" dirty="0">
                <a:solidFill>
                  <a:srgbClr val="FF0000"/>
                </a:solidFill>
                <a:latin typeface="Arial MT"/>
                <a:cs typeface="Arial MT"/>
              </a:rPr>
              <a:t>e</a:t>
            </a:r>
            <a:r>
              <a:rPr sz="1700" spc="15" dirty="0">
                <a:solidFill>
                  <a:srgbClr val="FF0000"/>
                </a:solidFill>
                <a:latin typeface="Arial MT"/>
                <a:cs typeface="Arial MT"/>
              </a:rPr>
              <a:t>l</a:t>
            </a:r>
            <a:r>
              <a:rPr sz="1700" spc="5" dirty="0">
                <a:solidFill>
                  <a:srgbClr val="FF0000"/>
                </a:solidFill>
                <a:latin typeface="Arial MT"/>
                <a:cs typeface="Arial MT"/>
              </a:rPr>
              <a:t>e</a:t>
            </a:r>
            <a:r>
              <a:rPr sz="1700" spc="20" dirty="0">
                <a:solidFill>
                  <a:srgbClr val="FF0000"/>
                </a:solidFill>
                <a:latin typeface="Arial MT"/>
                <a:cs typeface="Arial MT"/>
              </a:rPr>
              <a:t>c</a:t>
            </a:r>
            <a:r>
              <a:rPr sz="1700" spc="5" dirty="0">
                <a:solidFill>
                  <a:srgbClr val="FF0000"/>
                </a:solidFill>
                <a:latin typeface="Arial MT"/>
                <a:cs typeface="Arial MT"/>
              </a:rPr>
              <a:t>t</a:t>
            </a:r>
            <a:r>
              <a:rPr sz="1700" spc="15" dirty="0">
                <a:solidFill>
                  <a:srgbClr val="FF0000"/>
                </a:solidFill>
                <a:latin typeface="Arial MT"/>
                <a:cs typeface="Arial MT"/>
              </a:rPr>
              <a:t>i</a:t>
            </a:r>
            <a:r>
              <a:rPr sz="1700" spc="5" dirty="0">
                <a:solidFill>
                  <a:srgbClr val="FF0000"/>
                </a:solidFill>
                <a:latin typeface="Arial MT"/>
                <a:cs typeface="Arial MT"/>
              </a:rPr>
              <a:t>o</a:t>
            </a:r>
            <a:r>
              <a:rPr sz="1700" spc="10" dirty="0">
                <a:solidFill>
                  <a:srgbClr val="FF0000"/>
                </a:solidFill>
                <a:latin typeface="Arial MT"/>
                <a:cs typeface="Arial MT"/>
              </a:rPr>
              <a:t>n</a:t>
            </a:r>
            <a:r>
              <a:rPr sz="1700" spc="-105" dirty="0">
                <a:solidFill>
                  <a:srgbClr val="FF0000"/>
                </a:solidFill>
                <a:latin typeface="Times New Roman"/>
                <a:cs typeface="Times New Roman"/>
              </a:rPr>
              <a:t> </a:t>
            </a:r>
            <a:r>
              <a:rPr sz="1700" spc="20" dirty="0">
                <a:solidFill>
                  <a:srgbClr val="FF0000"/>
                </a:solidFill>
                <a:latin typeface="Arial MT"/>
                <a:cs typeface="Arial MT"/>
              </a:rPr>
              <a:t>s</a:t>
            </a:r>
            <a:r>
              <a:rPr sz="1700" spc="5" dirty="0">
                <a:solidFill>
                  <a:srgbClr val="FF0000"/>
                </a:solidFill>
                <a:latin typeface="Arial MT"/>
                <a:cs typeface="Arial MT"/>
              </a:rPr>
              <a:t>tat</a:t>
            </a:r>
            <a:r>
              <a:rPr sz="1700" spc="15" dirty="0">
                <a:solidFill>
                  <a:srgbClr val="FF0000"/>
                </a:solidFill>
                <a:latin typeface="Arial MT"/>
                <a:cs typeface="Arial MT"/>
              </a:rPr>
              <a:t>em</a:t>
            </a:r>
            <a:r>
              <a:rPr sz="1700" spc="5" dirty="0">
                <a:solidFill>
                  <a:srgbClr val="FF0000"/>
                </a:solidFill>
                <a:latin typeface="Arial MT"/>
                <a:cs typeface="Arial MT"/>
              </a:rPr>
              <a:t>ents</a:t>
            </a:r>
            <a:r>
              <a:rPr sz="1700" spc="-65" dirty="0">
                <a:solidFill>
                  <a:srgbClr val="FF0000"/>
                </a:solidFill>
                <a:latin typeface="Times New Roman"/>
                <a:cs typeface="Times New Roman"/>
              </a:rPr>
              <a:t> </a:t>
            </a:r>
            <a:r>
              <a:rPr sz="1700" spc="20" dirty="0">
                <a:latin typeface="Arial MT"/>
                <a:cs typeface="Arial MT"/>
              </a:rPr>
              <a:t>c</a:t>
            </a:r>
            <a:r>
              <a:rPr sz="1700" spc="5" dirty="0">
                <a:latin typeface="Arial MT"/>
                <a:cs typeface="Arial MT"/>
              </a:rPr>
              <a:t>ont</a:t>
            </a:r>
            <a:r>
              <a:rPr sz="1700" spc="-10" dirty="0">
                <a:latin typeface="Arial MT"/>
                <a:cs typeface="Arial MT"/>
              </a:rPr>
              <a:t>r</a:t>
            </a:r>
            <a:r>
              <a:rPr sz="1700" spc="5" dirty="0">
                <a:latin typeface="Arial MT"/>
                <a:cs typeface="Arial MT"/>
              </a:rPr>
              <a:t>o</a:t>
            </a:r>
            <a:r>
              <a:rPr sz="1700" dirty="0">
                <a:latin typeface="Arial MT"/>
                <a:cs typeface="Arial MT"/>
              </a:rPr>
              <a:t>l</a:t>
            </a:r>
            <a:r>
              <a:rPr sz="1700" spc="-60" dirty="0">
                <a:latin typeface="Arial MT"/>
                <a:cs typeface="Arial MT"/>
              </a:rPr>
              <a:t> </a:t>
            </a:r>
            <a:r>
              <a:rPr sz="1700" spc="5" dirty="0">
                <a:latin typeface="Arial MT"/>
                <a:cs typeface="Arial MT"/>
              </a:rPr>
              <a:t>the</a:t>
            </a:r>
            <a:r>
              <a:rPr sz="1700" spc="-35" dirty="0">
                <a:latin typeface="Arial MT"/>
                <a:cs typeface="Arial MT"/>
              </a:rPr>
              <a:t> </a:t>
            </a:r>
            <a:r>
              <a:rPr sz="1700" spc="40" dirty="0">
                <a:latin typeface="Arial MT"/>
                <a:cs typeface="Arial MT"/>
              </a:rPr>
              <a:t>f</a:t>
            </a:r>
            <a:r>
              <a:rPr sz="1700" spc="15" dirty="0">
                <a:latin typeface="Arial MT"/>
                <a:cs typeface="Arial MT"/>
              </a:rPr>
              <a:t>l</a:t>
            </a:r>
            <a:r>
              <a:rPr sz="1700" spc="5" dirty="0">
                <a:latin typeface="Arial MT"/>
                <a:cs typeface="Arial MT"/>
              </a:rPr>
              <a:t>o</a:t>
            </a:r>
            <a:r>
              <a:rPr sz="1700" spc="10" dirty="0">
                <a:latin typeface="Arial MT"/>
                <a:cs typeface="Arial MT"/>
              </a:rPr>
              <a:t>w</a:t>
            </a:r>
            <a:r>
              <a:rPr sz="1700" spc="-80" dirty="0">
                <a:latin typeface="Arial MT"/>
                <a:cs typeface="Arial MT"/>
              </a:rPr>
              <a:t> </a:t>
            </a:r>
            <a:r>
              <a:rPr sz="1700" spc="5" dirty="0">
                <a:latin typeface="Arial MT"/>
                <a:cs typeface="Arial MT"/>
              </a:rPr>
              <a:t>of</a:t>
            </a:r>
            <a:r>
              <a:rPr sz="1700" spc="-35" dirty="0">
                <a:latin typeface="Arial MT"/>
                <a:cs typeface="Arial MT"/>
              </a:rPr>
              <a:t> </a:t>
            </a:r>
            <a:r>
              <a:rPr sz="1700" spc="5" dirty="0">
                <a:latin typeface="Arial MT"/>
                <a:cs typeface="Arial MT"/>
              </a:rPr>
              <a:t>p</a:t>
            </a:r>
            <a:r>
              <a:rPr sz="1700" spc="-10" dirty="0">
                <a:latin typeface="Arial MT"/>
                <a:cs typeface="Arial MT"/>
              </a:rPr>
              <a:t>r</a:t>
            </a:r>
            <a:r>
              <a:rPr sz="1700" spc="5" dirty="0">
                <a:latin typeface="Arial MT"/>
                <a:cs typeface="Arial MT"/>
              </a:rPr>
              <a:t>og</a:t>
            </a:r>
            <a:r>
              <a:rPr sz="1700" spc="-5" dirty="0">
                <a:latin typeface="Arial MT"/>
                <a:cs typeface="Arial MT"/>
              </a:rPr>
              <a:t>r</a:t>
            </a:r>
            <a:r>
              <a:rPr sz="1700" spc="5" dirty="0">
                <a:latin typeface="Arial MT"/>
                <a:cs typeface="Arial MT"/>
              </a:rPr>
              <a:t>a</a:t>
            </a:r>
            <a:r>
              <a:rPr sz="1700" spc="20" dirty="0">
                <a:latin typeface="Arial MT"/>
                <a:cs typeface="Arial MT"/>
              </a:rPr>
              <a:t>m</a:t>
            </a:r>
            <a:r>
              <a:rPr sz="1700" spc="15" dirty="0">
                <a:latin typeface="Arial MT"/>
                <a:cs typeface="Arial MT"/>
              </a:rPr>
              <a:t>’</a:t>
            </a:r>
            <a:r>
              <a:rPr sz="1700" spc="5" dirty="0">
                <a:latin typeface="Arial MT"/>
                <a:cs typeface="Arial MT"/>
              </a:rPr>
              <a:t>s  e</a:t>
            </a:r>
            <a:r>
              <a:rPr sz="1700" spc="20" dirty="0">
                <a:latin typeface="Arial MT"/>
                <a:cs typeface="Arial MT"/>
              </a:rPr>
              <a:t>x</a:t>
            </a:r>
            <a:r>
              <a:rPr sz="1700" spc="5" dirty="0">
                <a:latin typeface="Arial MT"/>
                <a:cs typeface="Arial MT"/>
              </a:rPr>
              <a:t>e</a:t>
            </a:r>
            <a:r>
              <a:rPr sz="1700" spc="20" dirty="0">
                <a:latin typeface="Arial MT"/>
                <a:cs typeface="Arial MT"/>
              </a:rPr>
              <a:t>c</a:t>
            </a:r>
            <a:r>
              <a:rPr sz="1700" dirty="0">
                <a:latin typeface="Arial MT"/>
                <a:cs typeface="Arial MT"/>
              </a:rPr>
              <a:t>ut</a:t>
            </a:r>
            <a:r>
              <a:rPr sz="1700" spc="15" dirty="0">
                <a:latin typeface="Arial MT"/>
                <a:cs typeface="Arial MT"/>
              </a:rPr>
              <a:t>i</a:t>
            </a:r>
            <a:r>
              <a:rPr sz="1700" spc="5" dirty="0">
                <a:latin typeface="Arial MT"/>
                <a:cs typeface="Arial MT"/>
              </a:rPr>
              <a:t>o</a:t>
            </a:r>
            <a:r>
              <a:rPr sz="1700" spc="10" dirty="0">
                <a:latin typeface="Arial MT"/>
                <a:cs typeface="Arial MT"/>
              </a:rPr>
              <a:t>n</a:t>
            </a:r>
            <a:r>
              <a:rPr sz="1700" spc="-105" dirty="0">
                <a:latin typeface="Times New Roman"/>
                <a:cs typeface="Times New Roman"/>
              </a:rPr>
              <a:t> </a:t>
            </a:r>
            <a:r>
              <a:rPr sz="1700" spc="5" dirty="0">
                <a:latin typeface="Arial MT"/>
                <a:cs typeface="Arial MT"/>
              </a:rPr>
              <a:t>ba</a:t>
            </a:r>
            <a:r>
              <a:rPr sz="1700" spc="25" dirty="0">
                <a:latin typeface="Arial MT"/>
                <a:cs typeface="Arial MT"/>
              </a:rPr>
              <a:t>s</a:t>
            </a:r>
            <a:r>
              <a:rPr sz="1700" spc="5" dirty="0">
                <a:latin typeface="Arial MT"/>
                <a:cs typeface="Arial MT"/>
              </a:rPr>
              <a:t>e</a:t>
            </a:r>
            <a:r>
              <a:rPr sz="1700" spc="10" dirty="0">
                <a:latin typeface="Arial MT"/>
                <a:cs typeface="Arial MT"/>
              </a:rPr>
              <a:t>d</a:t>
            </a:r>
            <a:r>
              <a:rPr sz="1700" spc="-25" dirty="0">
                <a:latin typeface="Times New Roman"/>
                <a:cs typeface="Times New Roman"/>
              </a:rPr>
              <a:t> </a:t>
            </a:r>
            <a:r>
              <a:rPr sz="1700" spc="5" dirty="0">
                <a:latin typeface="Arial MT"/>
                <a:cs typeface="Arial MT"/>
              </a:rPr>
              <a:t>up</a:t>
            </a:r>
            <a:r>
              <a:rPr sz="1700" spc="10" dirty="0">
                <a:latin typeface="Arial MT"/>
                <a:cs typeface="Arial MT"/>
              </a:rPr>
              <a:t>on</a:t>
            </a:r>
            <a:r>
              <a:rPr sz="1700" spc="-30" dirty="0">
                <a:latin typeface="Times New Roman"/>
                <a:cs typeface="Times New Roman"/>
              </a:rPr>
              <a:t> </a:t>
            </a:r>
            <a:r>
              <a:rPr sz="1700" spc="20" dirty="0">
                <a:latin typeface="Arial MT"/>
                <a:cs typeface="Arial MT"/>
              </a:rPr>
              <a:t>c</a:t>
            </a:r>
            <a:r>
              <a:rPr sz="1700" spc="5" dirty="0">
                <a:latin typeface="Arial MT"/>
                <a:cs typeface="Arial MT"/>
              </a:rPr>
              <a:t>on</a:t>
            </a:r>
            <a:r>
              <a:rPr sz="1700" spc="10" dirty="0">
                <a:latin typeface="Arial MT"/>
                <a:cs typeface="Arial MT"/>
              </a:rPr>
              <a:t>d</a:t>
            </a:r>
            <a:r>
              <a:rPr sz="1700" spc="15" dirty="0">
                <a:latin typeface="Arial MT"/>
                <a:cs typeface="Arial MT"/>
              </a:rPr>
              <a:t>i</a:t>
            </a:r>
            <a:r>
              <a:rPr sz="1700" spc="5" dirty="0">
                <a:latin typeface="Arial MT"/>
                <a:cs typeface="Arial MT"/>
              </a:rPr>
              <a:t>t</a:t>
            </a:r>
            <a:r>
              <a:rPr sz="1700" spc="15" dirty="0">
                <a:latin typeface="Arial MT"/>
                <a:cs typeface="Arial MT"/>
              </a:rPr>
              <a:t>i</a:t>
            </a:r>
            <a:r>
              <a:rPr sz="1700" spc="5" dirty="0">
                <a:latin typeface="Arial MT"/>
                <a:cs typeface="Arial MT"/>
              </a:rPr>
              <a:t>ons</a:t>
            </a:r>
            <a:r>
              <a:rPr sz="1700" spc="-85" dirty="0">
                <a:latin typeface="Times New Roman"/>
                <a:cs typeface="Times New Roman"/>
              </a:rPr>
              <a:t> </a:t>
            </a:r>
            <a:r>
              <a:rPr sz="1700" spc="20" dirty="0">
                <a:latin typeface="Arial MT"/>
                <a:cs typeface="Arial MT"/>
              </a:rPr>
              <a:t>k</a:t>
            </a:r>
            <a:r>
              <a:rPr sz="1700" spc="5" dirty="0">
                <a:latin typeface="Arial MT"/>
                <a:cs typeface="Arial MT"/>
              </a:rPr>
              <a:t>no</a:t>
            </a:r>
            <a:r>
              <a:rPr sz="1700" spc="-70" dirty="0">
                <a:latin typeface="Arial MT"/>
                <a:cs typeface="Arial MT"/>
              </a:rPr>
              <a:t>w</a:t>
            </a:r>
            <a:r>
              <a:rPr sz="1700" spc="10" dirty="0">
                <a:latin typeface="Arial MT"/>
                <a:cs typeface="Arial MT"/>
              </a:rPr>
              <a:t>n</a:t>
            </a:r>
            <a:r>
              <a:rPr sz="1700" spc="50" dirty="0">
                <a:latin typeface="Times New Roman"/>
                <a:cs typeface="Times New Roman"/>
              </a:rPr>
              <a:t> </a:t>
            </a:r>
            <a:r>
              <a:rPr sz="1700" spc="10" dirty="0">
                <a:latin typeface="Arial MT"/>
                <a:cs typeface="Arial MT"/>
              </a:rPr>
              <a:t>o</a:t>
            </a:r>
            <a:r>
              <a:rPr sz="1700" spc="5" dirty="0">
                <a:latin typeface="Arial MT"/>
                <a:cs typeface="Arial MT"/>
              </a:rPr>
              <a:t>n</a:t>
            </a:r>
            <a:r>
              <a:rPr sz="1700" spc="15" dirty="0">
                <a:latin typeface="Arial MT"/>
                <a:cs typeface="Arial MT"/>
              </a:rPr>
              <a:t>l</a:t>
            </a:r>
            <a:r>
              <a:rPr sz="1700" spc="5" dirty="0">
                <a:latin typeface="Arial MT"/>
                <a:cs typeface="Arial MT"/>
              </a:rPr>
              <a:t>y</a:t>
            </a:r>
            <a:r>
              <a:rPr sz="1700" spc="40" dirty="0">
                <a:latin typeface="Times New Roman"/>
                <a:cs typeface="Times New Roman"/>
              </a:rPr>
              <a:t> </a:t>
            </a:r>
            <a:r>
              <a:rPr sz="1700" spc="5" dirty="0">
                <a:solidFill>
                  <a:srgbClr val="FF0000"/>
                </a:solidFill>
                <a:latin typeface="Arial MT"/>
                <a:cs typeface="Arial MT"/>
              </a:rPr>
              <a:t>du</a:t>
            </a:r>
            <a:r>
              <a:rPr sz="1700" spc="-5" dirty="0">
                <a:solidFill>
                  <a:srgbClr val="FF0000"/>
                </a:solidFill>
                <a:latin typeface="Arial MT"/>
                <a:cs typeface="Arial MT"/>
              </a:rPr>
              <a:t>r</a:t>
            </a:r>
            <a:r>
              <a:rPr sz="1700" spc="15" dirty="0">
                <a:solidFill>
                  <a:srgbClr val="FF0000"/>
                </a:solidFill>
                <a:latin typeface="Arial MT"/>
                <a:cs typeface="Arial MT"/>
              </a:rPr>
              <a:t>i</a:t>
            </a:r>
            <a:r>
              <a:rPr sz="1700" spc="5" dirty="0">
                <a:solidFill>
                  <a:srgbClr val="FF0000"/>
                </a:solidFill>
                <a:latin typeface="Arial MT"/>
                <a:cs typeface="Arial MT"/>
              </a:rPr>
              <a:t>n</a:t>
            </a:r>
            <a:r>
              <a:rPr sz="1700" spc="10" dirty="0">
                <a:solidFill>
                  <a:srgbClr val="FF0000"/>
                </a:solidFill>
                <a:latin typeface="Arial MT"/>
                <a:cs typeface="Arial MT"/>
              </a:rPr>
              <a:t>g</a:t>
            </a:r>
            <a:r>
              <a:rPr sz="1700" spc="-25" dirty="0">
                <a:solidFill>
                  <a:srgbClr val="FF0000"/>
                </a:solidFill>
                <a:latin typeface="Times New Roman"/>
                <a:cs typeface="Times New Roman"/>
              </a:rPr>
              <a:t> </a:t>
            </a:r>
            <a:r>
              <a:rPr sz="1700" spc="-10" dirty="0">
                <a:solidFill>
                  <a:srgbClr val="FF0000"/>
                </a:solidFill>
                <a:latin typeface="Arial MT"/>
                <a:cs typeface="Arial MT"/>
              </a:rPr>
              <a:t>r</a:t>
            </a:r>
            <a:r>
              <a:rPr sz="1700" dirty="0">
                <a:solidFill>
                  <a:srgbClr val="FF0000"/>
                </a:solidFill>
                <a:latin typeface="Arial MT"/>
                <a:cs typeface="Arial MT"/>
              </a:rPr>
              <a:t>un </a:t>
            </a:r>
            <a:r>
              <a:rPr sz="1700" spc="-5" dirty="0">
                <a:solidFill>
                  <a:srgbClr val="FF0000"/>
                </a:solidFill>
                <a:latin typeface="Times New Roman"/>
                <a:cs typeface="Times New Roman"/>
              </a:rPr>
              <a:t> </a:t>
            </a:r>
            <a:r>
              <a:rPr sz="1700" spc="10" dirty="0">
                <a:solidFill>
                  <a:srgbClr val="FF0000"/>
                </a:solidFill>
                <a:latin typeface="Arial MT"/>
                <a:cs typeface="Arial MT"/>
              </a:rPr>
              <a:t>time</a:t>
            </a:r>
            <a:r>
              <a:rPr sz="1700" spc="10" dirty="0">
                <a:latin typeface="Arial MT"/>
                <a:cs typeface="Arial MT"/>
              </a:rPr>
              <a:t>.</a:t>
            </a:r>
            <a:r>
              <a:rPr sz="1700" spc="-70" dirty="0">
                <a:latin typeface="Arial MT"/>
                <a:cs typeface="Arial MT"/>
              </a:rPr>
              <a:t> </a:t>
            </a:r>
            <a:r>
              <a:rPr sz="1700" spc="5" dirty="0">
                <a:latin typeface="Arial MT"/>
                <a:cs typeface="Arial MT"/>
              </a:rPr>
              <a:t>It helps</a:t>
            </a:r>
            <a:r>
              <a:rPr sz="1700" spc="-95" dirty="0">
                <a:latin typeface="Arial MT"/>
                <a:cs typeface="Arial MT"/>
              </a:rPr>
              <a:t> </a:t>
            </a:r>
            <a:r>
              <a:rPr sz="1700" spc="5" dirty="0">
                <a:latin typeface="Arial MT"/>
                <a:cs typeface="Arial MT"/>
              </a:rPr>
              <a:t>to </a:t>
            </a:r>
            <a:r>
              <a:rPr sz="1700" spc="10" dirty="0">
                <a:latin typeface="Arial MT"/>
                <a:cs typeface="Arial MT"/>
              </a:rPr>
              <a:t>choose</a:t>
            </a:r>
            <a:r>
              <a:rPr sz="1700" spc="-110" dirty="0">
                <a:latin typeface="Arial MT"/>
                <a:cs typeface="Arial MT"/>
              </a:rPr>
              <a:t> </a:t>
            </a:r>
            <a:r>
              <a:rPr sz="1700" spc="5" dirty="0">
                <a:latin typeface="Arial MT"/>
                <a:cs typeface="Arial MT"/>
              </a:rPr>
              <a:t>different</a:t>
            </a:r>
            <a:r>
              <a:rPr sz="1700" spc="-145" dirty="0">
                <a:latin typeface="Arial MT"/>
                <a:cs typeface="Arial MT"/>
              </a:rPr>
              <a:t> </a:t>
            </a:r>
            <a:r>
              <a:rPr sz="1700" spc="5" dirty="0">
                <a:latin typeface="Arial MT"/>
                <a:cs typeface="Arial MT"/>
              </a:rPr>
              <a:t>paths</a:t>
            </a:r>
            <a:r>
              <a:rPr sz="1700" spc="-55" dirty="0">
                <a:latin typeface="Arial MT"/>
                <a:cs typeface="Arial MT"/>
              </a:rPr>
              <a:t> </a:t>
            </a:r>
            <a:r>
              <a:rPr sz="1700" spc="5" dirty="0">
                <a:latin typeface="Arial MT"/>
                <a:cs typeface="Arial MT"/>
              </a:rPr>
              <a:t>of execution</a:t>
            </a:r>
            <a:r>
              <a:rPr sz="1700" spc="-110" dirty="0">
                <a:latin typeface="Arial MT"/>
                <a:cs typeface="Arial MT"/>
              </a:rPr>
              <a:t> </a:t>
            </a:r>
            <a:r>
              <a:rPr sz="1700" spc="10" dirty="0">
                <a:latin typeface="Arial MT"/>
                <a:cs typeface="Arial MT"/>
              </a:rPr>
              <a:t>based </a:t>
            </a:r>
            <a:r>
              <a:rPr sz="1700" spc="-455" dirty="0">
                <a:latin typeface="Arial MT"/>
                <a:cs typeface="Arial MT"/>
              </a:rPr>
              <a:t> </a:t>
            </a:r>
            <a:r>
              <a:rPr sz="1700" spc="5" dirty="0">
                <a:latin typeface="Arial MT"/>
                <a:cs typeface="Arial MT"/>
              </a:rPr>
              <a:t>on</a:t>
            </a:r>
            <a:r>
              <a:rPr sz="1700" spc="-35" dirty="0">
                <a:latin typeface="Arial MT"/>
                <a:cs typeface="Arial MT"/>
              </a:rPr>
              <a:t> </a:t>
            </a:r>
            <a:r>
              <a:rPr sz="1700" spc="10" dirty="0">
                <a:latin typeface="Arial MT"/>
                <a:cs typeface="Arial MT"/>
              </a:rPr>
              <a:t>condition.</a:t>
            </a:r>
            <a:endParaRPr sz="1700" dirty="0">
              <a:latin typeface="Arial MT"/>
              <a:cs typeface="Arial MT"/>
            </a:endParaRPr>
          </a:p>
          <a:p>
            <a:pPr marL="194945" indent="-182880">
              <a:lnSpc>
                <a:spcPct val="100000"/>
              </a:lnSpc>
              <a:spcBef>
                <a:spcPts val="400"/>
              </a:spcBef>
              <a:buChar char="•"/>
              <a:tabLst>
                <a:tab pos="195580" algn="l"/>
              </a:tabLst>
            </a:pPr>
            <a:r>
              <a:rPr sz="1700" spc="20" dirty="0">
                <a:latin typeface="Arial MT"/>
                <a:cs typeface="Arial MT"/>
              </a:rPr>
              <a:t>J</a:t>
            </a:r>
            <a:r>
              <a:rPr sz="1700" spc="5" dirty="0">
                <a:latin typeface="Arial MT"/>
                <a:cs typeface="Arial MT"/>
              </a:rPr>
              <a:t>a</a:t>
            </a:r>
            <a:r>
              <a:rPr sz="1700" spc="60" dirty="0">
                <a:latin typeface="Arial MT"/>
                <a:cs typeface="Arial MT"/>
              </a:rPr>
              <a:t>v</a:t>
            </a:r>
            <a:r>
              <a:rPr sz="1700" spc="10" dirty="0">
                <a:latin typeface="Arial MT"/>
                <a:cs typeface="Arial MT"/>
              </a:rPr>
              <a:t>a</a:t>
            </a:r>
            <a:r>
              <a:rPr sz="1700" spc="-65" dirty="0">
                <a:latin typeface="Times New Roman"/>
                <a:cs typeface="Times New Roman"/>
              </a:rPr>
              <a:t> </a:t>
            </a:r>
            <a:r>
              <a:rPr sz="1700" spc="20" dirty="0">
                <a:latin typeface="Arial MT"/>
                <a:cs typeface="Arial MT"/>
              </a:rPr>
              <a:t>s</a:t>
            </a:r>
            <a:r>
              <a:rPr sz="1700" spc="5" dirty="0">
                <a:latin typeface="Arial MT"/>
                <a:cs typeface="Arial MT"/>
              </a:rPr>
              <a:t>up</a:t>
            </a:r>
            <a:r>
              <a:rPr sz="1700" spc="10" dirty="0">
                <a:latin typeface="Arial MT"/>
                <a:cs typeface="Arial MT"/>
              </a:rPr>
              <a:t>p</a:t>
            </a:r>
            <a:r>
              <a:rPr sz="1700" spc="5" dirty="0">
                <a:latin typeface="Arial MT"/>
                <a:cs typeface="Arial MT"/>
              </a:rPr>
              <a:t>o</a:t>
            </a:r>
            <a:r>
              <a:rPr sz="1700" spc="-10" dirty="0">
                <a:latin typeface="Arial MT"/>
                <a:cs typeface="Arial MT"/>
              </a:rPr>
              <a:t>r</a:t>
            </a:r>
            <a:r>
              <a:rPr sz="1700" spc="5" dirty="0">
                <a:latin typeface="Arial MT"/>
                <a:cs typeface="Arial MT"/>
              </a:rPr>
              <a:t>ts</a:t>
            </a:r>
            <a:r>
              <a:rPr sz="1700" spc="-50" dirty="0">
                <a:latin typeface="Times New Roman"/>
                <a:cs typeface="Times New Roman"/>
              </a:rPr>
              <a:t> </a:t>
            </a:r>
            <a:r>
              <a:rPr sz="1700" spc="5" dirty="0">
                <a:latin typeface="Arial MT"/>
                <a:cs typeface="Arial MT"/>
              </a:rPr>
              <a:t>t</a:t>
            </a:r>
            <a:r>
              <a:rPr sz="1700" spc="-75" dirty="0">
                <a:latin typeface="Arial MT"/>
                <a:cs typeface="Arial MT"/>
              </a:rPr>
              <a:t>w</a:t>
            </a:r>
            <a:r>
              <a:rPr sz="1700" spc="10" dirty="0">
                <a:latin typeface="Arial MT"/>
                <a:cs typeface="Arial MT"/>
              </a:rPr>
              <a:t>o</a:t>
            </a:r>
            <a:r>
              <a:rPr sz="1700" spc="90" dirty="0">
                <a:latin typeface="Times New Roman"/>
                <a:cs typeface="Times New Roman"/>
              </a:rPr>
              <a:t> </a:t>
            </a:r>
            <a:r>
              <a:rPr sz="1700" spc="20" dirty="0">
                <a:latin typeface="Arial MT"/>
                <a:cs typeface="Arial MT"/>
              </a:rPr>
              <a:t>s</a:t>
            </a:r>
            <a:r>
              <a:rPr sz="1700" spc="5" dirty="0">
                <a:latin typeface="Arial MT"/>
                <a:cs typeface="Arial MT"/>
              </a:rPr>
              <a:t>e</a:t>
            </a:r>
            <a:r>
              <a:rPr sz="1700" spc="15" dirty="0">
                <a:latin typeface="Arial MT"/>
                <a:cs typeface="Arial MT"/>
              </a:rPr>
              <a:t>l</a:t>
            </a:r>
            <a:r>
              <a:rPr sz="1700" spc="5" dirty="0">
                <a:latin typeface="Arial MT"/>
                <a:cs typeface="Arial MT"/>
              </a:rPr>
              <a:t>e</a:t>
            </a:r>
            <a:r>
              <a:rPr sz="1700" spc="20" dirty="0">
                <a:latin typeface="Arial MT"/>
                <a:cs typeface="Arial MT"/>
              </a:rPr>
              <a:t>c</a:t>
            </a:r>
            <a:r>
              <a:rPr sz="1700" spc="5" dirty="0">
                <a:latin typeface="Arial MT"/>
                <a:cs typeface="Arial MT"/>
              </a:rPr>
              <a:t>t</a:t>
            </a:r>
            <a:r>
              <a:rPr sz="1700" spc="15" dirty="0">
                <a:latin typeface="Arial MT"/>
                <a:cs typeface="Arial MT"/>
              </a:rPr>
              <a:t>i</a:t>
            </a:r>
            <a:r>
              <a:rPr sz="1700" spc="5" dirty="0">
                <a:latin typeface="Arial MT"/>
                <a:cs typeface="Arial MT"/>
              </a:rPr>
              <a:t>o</a:t>
            </a:r>
            <a:r>
              <a:rPr sz="1700" spc="10" dirty="0">
                <a:latin typeface="Arial MT"/>
                <a:cs typeface="Arial MT"/>
              </a:rPr>
              <a:t>n</a:t>
            </a:r>
            <a:r>
              <a:rPr sz="1700" spc="-105" dirty="0">
                <a:latin typeface="Times New Roman"/>
                <a:cs typeface="Times New Roman"/>
              </a:rPr>
              <a:t> </a:t>
            </a:r>
            <a:r>
              <a:rPr sz="1700" spc="20" dirty="0">
                <a:latin typeface="Arial MT"/>
                <a:cs typeface="Arial MT"/>
              </a:rPr>
              <a:t>s</a:t>
            </a:r>
            <a:r>
              <a:rPr sz="1700" spc="5" dirty="0">
                <a:latin typeface="Arial MT"/>
                <a:cs typeface="Arial MT"/>
              </a:rPr>
              <a:t>tat</a:t>
            </a:r>
            <a:r>
              <a:rPr sz="1700" spc="15" dirty="0">
                <a:latin typeface="Arial MT"/>
                <a:cs typeface="Arial MT"/>
              </a:rPr>
              <a:t>em</a:t>
            </a:r>
            <a:r>
              <a:rPr sz="1700" spc="5" dirty="0">
                <a:latin typeface="Arial MT"/>
                <a:cs typeface="Arial MT"/>
              </a:rPr>
              <a:t>ent</a:t>
            </a:r>
            <a:r>
              <a:rPr sz="1700" spc="-20" dirty="0">
                <a:latin typeface="Arial MT"/>
                <a:cs typeface="Arial MT"/>
              </a:rPr>
              <a:t>s</a:t>
            </a:r>
            <a:r>
              <a:rPr sz="1700" spc="5" dirty="0">
                <a:latin typeface="Arial MT"/>
                <a:cs typeface="Arial MT"/>
              </a:rPr>
              <a:t>:</a:t>
            </a:r>
            <a:endParaRPr sz="1700" dirty="0">
              <a:latin typeface="Arial MT"/>
              <a:cs typeface="Arial MT"/>
            </a:endParaRPr>
          </a:p>
          <a:p>
            <a:pPr marL="407670" lvl="1" indent="-152400">
              <a:lnSpc>
                <a:spcPct val="100000"/>
              </a:lnSpc>
              <a:spcBef>
                <a:spcPts val="409"/>
              </a:spcBef>
              <a:buSzPct val="93103"/>
              <a:buFont typeface="Wingdings"/>
              <a:buChar char=""/>
              <a:tabLst>
                <a:tab pos="408305" algn="l"/>
              </a:tabLst>
            </a:pPr>
            <a:r>
              <a:rPr sz="1450" spc="-20" dirty="0">
                <a:latin typeface="Arial MT"/>
                <a:cs typeface="Arial MT"/>
              </a:rPr>
              <a:t>if</a:t>
            </a:r>
            <a:endParaRPr sz="1450" dirty="0">
              <a:latin typeface="Arial MT"/>
              <a:cs typeface="Arial MT"/>
            </a:endParaRPr>
          </a:p>
          <a:p>
            <a:pPr marL="407670" lvl="1" indent="-152400">
              <a:lnSpc>
                <a:spcPct val="100000"/>
              </a:lnSpc>
              <a:spcBef>
                <a:spcPts val="415"/>
              </a:spcBef>
              <a:buSzPct val="93103"/>
              <a:buFont typeface="Wingdings"/>
              <a:buChar char=""/>
              <a:tabLst>
                <a:tab pos="408305" algn="l"/>
              </a:tabLst>
            </a:pPr>
            <a:r>
              <a:rPr sz="1450" dirty="0">
                <a:latin typeface="Arial MT"/>
                <a:cs typeface="Arial MT"/>
              </a:rPr>
              <a:t>switch</a:t>
            </a:r>
          </a:p>
        </p:txBody>
      </p:sp>
      <p:sp>
        <p:nvSpPr>
          <p:cNvPr id="5" name="object 5"/>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a:spLocks noGrp="1"/>
          </p:cNvSpPr>
          <p:nvPr>
            <p:ph type="title"/>
          </p:nvPr>
        </p:nvSpPr>
        <p:spPr>
          <a:xfrm>
            <a:off x="2413000" y="726272"/>
            <a:ext cx="1283335" cy="318135"/>
          </a:xfrm>
          <a:prstGeom prst="rect">
            <a:avLst/>
          </a:prstGeom>
        </p:spPr>
        <p:txBody>
          <a:bodyPr vert="horz" wrap="square" lIns="0" tIns="14604" rIns="0" bIns="0" rtlCol="0">
            <a:spAutoFit/>
          </a:bodyPr>
          <a:lstStyle/>
          <a:p>
            <a:pPr marL="12700">
              <a:lnSpc>
                <a:spcPct val="100000"/>
              </a:lnSpc>
              <a:spcBef>
                <a:spcPts val="114"/>
              </a:spcBef>
            </a:pPr>
            <a:r>
              <a:rPr spc="-15" dirty="0">
                <a:solidFill>
                  <a:schemeClr val="tx1"/>
                </a:solidFill>
              </a:rPr>
              <a:t>if</a:t>
            </a:r>
            <a:r>
              <a:rPr spc="-50" dirty="0">
                <a:solidFill>
                  <a:schemeClr val="tx1"/>
                </a:solidFill>
              </a:rPr>
              <a:t> </a:t>
            </a:r>
            <a:r>
              <a:rPr spc="5" dirty="0">
                <a:solidFill>
                  <a:schemeClr val="tx1"/>
                </a:solidFill>
              </a:rPr>
              <a:t>statement</a:t>
            </a:r>
          </a:p>
        </p:txBody>
      </p:sp>
      <p:sp>
        <p:nvSpPr>
          <p:cNvPr id="4" name="object 4"/>
          <p:cNvSpPr txBox="1"/>
          <p:nvPr/>
        </p:nvSpPr>
        <p:spPr>
          <a:xfrm>
            <a:off x="364662" y="1205577"/>
            <a:ext cx="6010738" cy="1897314"/>
          </a:xfrm>
          <a:prstGeom prst="rect">
            <a:avLst/>
          </a:prstGeom>
        </p:spPr>
        <p:txBody>
          <a:bodyPr vert="horz" wrap="square" lIns="0" tIns="70485" rIns="0" bIns="0" rtlCol="0">
            <a:spAutoFit/>
          </a:bodyPr>
          <a:lstStyle/>
          <a:p>
            <a:pPr marL="194945" indent="-182880">
              <a:lnSpc>
                <a:spcPct val="100000"/>
              </a:lnSpc>
              <a:spcBef>
                <a:spcPts val="405"/>
              </a:spcBef>
              <a:buChar char="•"/>
              <a:tabLst>
                <a:tab pos="195580" algn="l"/>
              </a:tabLst>
            </a:pPr>
            <a:r>
              <a:rPr sz="1700" spc="15" dirty="0">
                <a:latin typeface="Arial MT"/>
                <a:cs typeface="Arial MT"/>
              </a:rPr>
              <a:t>S</a:t>
            </a:r>
            <a:r>
              <a:rPr sz="1700" spc="-20" dirty="0">
                <a:latin typeface="Arial MT"/>
                <a:cs typeface="Arial MT"/>
              </a:rPr>
              <a:t>y</a:t>
            </a:r>
            <a:r>
              <a:rPr sz="1700" dirty="0">
                <a:latin typeface="Arial MT"/>
                <a:cs typeface="Arial MT"/>
              </a:rPr>
              <a:t>nt</a:t>
            </a:r>
            <a:r>
              <a:rPr sz="1700" spc="5" dirty="0">
                <a:latin typeface="Arial MT"/>
                <a:cs typeface="Arial MT"/>
              </a:rPr>
              <a:t>ax</a:t>
            </a:r>
            <a:r>
              <a:rPr sz="1700" spc="-10" dirty="0">
                <a:latin typeface="Times New Roman"/>
                <a:cs typeface="Times New Roman"/>
              </a:rPr>
              <a:t> </a:t>
            </a:r>
            <a:r>
              <a:rPr sz="1700" spc="5" dirty="0">
                <a:latin typeface="Arial MT"/>
                <a:cs typeface="Arial MT"/>
              </a:rPr>
              <a:t>of</a:t>
            </a:r>
            <a:r>
              <a:rPr sz="1700" spc="10" dirty="0">
                <a:latin typeface="Times New Roman"/>
                <a:cs typeface="Times New Roman"/>
              </a:rPr>
              <a:t> </a:t>
            </a:r>
            <a:r>
              <a:rPr sz="1700" spc="20" dirty="0">
                <a:latin typeface="Arial MT"/>
                <a:cs typeface="Arial MT"/>
              </a:rPr>
              <a:t>sim</a:t>
            </a:r>
            <a:r>
              <a:rPr sz="1700" spc="5" dirty="0">
                <a:latin typeface="Arial MT"/>
                <a:cs typeface="Arial MT"/>
              </a:rPr>
              <a:t>p</a:t>
            </a:r>
            <a:r>
              <a:rPr sz="1700" spc="15" dirty="0">
                <a:latin typeface="Arial MT"/>
                <a:cs typeface="Arial MT"/>
              </a:rPr>
              <a:t>l</a:t>
            </a:r>
            <a:r>
              <a:rPr sz="1700" spc="10" dirty="0">
                <a:latin typeface="Arial MT"/>
                <a:cs typeface="Arial MT"/>
              </a:rPr>
              <a:t>e</a:t>
            </a:r>
            <a:r>
              <a:rPr sz="1700" spc="-65" dirty="0">
                <a:latin typeface="Times New Roman"/>
                <a:cs typeface="Times New Roman"/>
              </a:rPr>
              <a:t> </a:t>
            </a:r>
            <a:r>
              <a:rPr sz="1700" spc="15" dirty="0">
                <a:latin typeface="Arial MT"/>
                <a:cs typeface="Arial MT"/>
              </a:rPr>
              <a:t>i</a:t>
            </a:r>
            <a:r>
              <a:rPr sz="1700" spc="5" dirty="0">
                <a:latin typeface="Arial MT"/>
                <a:cs typeface="Arial MT"/>
              </a:rPr>
              <a:t>f</a:t>
            </a:r>
            <a:r>
              <a:rPr sz="1700" spc="50" dirty="0">
                <a:latin typeface="Times New Roman"/>
                <a:cs typeface="Times New Roman"/>
              </a:rPr>
              <a:t> </a:t>
            </a:r>
            <a:r>
              <a:rPr sz="1700" spc="20" dirty="0">
                <a:latin typeface="Arial MT"/>
                <a:cs typeface="Arial MT"/>
              </a:rPr>
              <a:t>s</a:t>
            </a:r>
            <a:r>
              <a:rPr sz="1700" spc="5" dirty="0">
                <a:latin typeface="Arial MT"/>
                <a:cs typeface="Arial MT"/>
              </a:rPr>
              <a:t>tat</a:t>
            </a:r>
            <a:r>
              <a:rPr sz="1700" spc="15" dirty="0">
                <a:latin typeface="Arial MT"/>
                <a:cs typeface="Arial MT"/>
              </a:rPr>
              <a:t>em</a:t>
            </a:r>
            <a:r>
              <a:rPr sz="1700" dirty="0">
                <a:latin typeface="Arial MT"/>
                <a:cs typeface="Arial MT"/>
              </a:rPr>
              <a:t>ent</a:t>
            </a:r>
          </a:p>
          <a:p>
            <a:pPr marL="12700">
              <a:lnSpc>
                <a:spcPct val="100000"/>
              </a:lnSpc>
              <a:spcBef>
                <a:spcPts val="360"/>
              </a:spcBef>
            </a:pPr>
            <a:r>
              <a:rPr sz="1700" spc="-85" dirty="0">
                <a:latin typeface="Times New Roman"/>
                <a:cs typeface="Times New Roman"/>
              </a:rPr>
              <a:t>if</a:t>
            </a:r>
            <a:r>
              <a:rPr sz="1700" spc="-10" dirty="0">
                <a:latin typeface="Times New Roman"/>
                <a:cs typeface="Times New Roman"/>
              </a:rPr>
              <a:t> </a:t>
            </a:r>
            <a:r>
              <a:rPr sz="1700" spc="-20" dirty="0">
                <a:latin typeface="Times New Roman"/>
                <a:cs typeface="Times New Roman"/>
              </a:rPr>
              <a:t>(condition)</a:t>
            </a:r>
            <a:endParaRPr sz="1700" dirty="0">
              <a:latin typeface="Times New Roman"/>
              <a:cs typeface="Times New Roman"/>
            </a:endParaRPr>
          </a:p>
          <a:p>
            <a:pPr marL="12700">
              <a:lnSpc>
                <a:spcPct val="100000"/>
              </a:lnSpc>
              <a:spcBef>
                <a:spcPts val="395"/>
              </a:spcBef>
            </a:pPr>
            <a:r>
              <a:rPr sz="1700" spc="-315" dirty="0">
                <a:latin typeface="Times New Roman"/>
                <a:cs typeface="Times New Roman"/>
              </a:rPr>
              <a:t>{</a:t>
            </a:r>
            <a:endParaRPr sz="1700" dirty="0">
              <a:latin typeface="Times New Roman"/>
              <a:cs typeface="Times New Roman"/>
            </a:endParaRPr>
          </a:p>
          <a:p>
            <a:pPr marL="67945">
              <a:lnSpc>
                <a:spcPct val="100000"/>
              </a:lnSpc>
              <a:spcBef>
                <a:spcPts val="440"/>
              </a:spcBef>
            </a:pPr>
            <a:r>
              <a:rPr sz="1700" spc="35" dirty="0">
                <a:latin typeface="Times New Roman"/>
                <a:cs typeface="Times New Roman"/>
              </a:rPr>
              <a:t>//</a:t>
            </a:r>
            <a:r>
              <a:rPr sz="1700" spc="-55" dirty="0">
                <a:latin typeface="Times New Roman"/>
                <a:cs typeface="Times New Roman"/>
              </a:rPr>
              <a:t> </a:t>
            </a:r>
            <a:r>
              <a:rPr sz="1700" spc="-15" dirty="0">
                <a:latin typeface="Times New Roman"/>
                <a:cs typeface="Times New Roman"/>
              </a:rPr>
              <a:t>block</a:t>
            </a:r>
            <a:r>
              <a:rPr sz="1700" spc="-10" dirty="0">
                <a:latin typeface="Times New Roman"/>
                <a:cs typeface="Times New Roman"/>
              </a:rPr>
              <a:t> </a:t>
            </a:r>
            <a:r>
              <a:rPr sz="1700" spc="-35" dirty="0">
                <a:latin typeface="Times New Roman"/>
                <a:cs typeface="Times New Roman"/>
              </a:rPr>
              <a:t>of</a:t>
            </a:r>
            <a:r>
              <a:rPr sz="1700" spc="10" dirty="0">
                <a:latin typeface="Times New Roman"/>
                <a:cs typeface="Times New Roman"/>
              </a:rPr>
              <a:t> </a:t>
            </a:r>
            <a:r>
              <a:rPr sz="1700" spc="15" dirty="0">
                <a:latin typeface="Times New Roman"/>
                <a:cs typeface="Times New Roman"/>
              </a:rPr>
              <a:t>code</a:t>
            </a:r>
            <a:r>
              <a:rPr sz="1700" spc="-45" dirty="0">
                <a:latin typeface="Times New Roman"/>
                <a:cs typeface="Times New Roman"/>
              </a:rPr>
              <a:t> </a:t>
            </a:r>
            <a:r>
              <a:rPr sz="1700" dirty="0">
                <a:latin typeface="Times New Roman"/>
                <a:cs typeface="Times New Roman"/>
              </a:rPr>
              <a:t>to </a:t>
            </a:r>
            <a:r>
              <a:rPr sz="1700" spc="20" dirty="0">
                <a:latin typeface="Times New Roman"/>
                <a:cs typeface="Times New Roman"/>
              </a:rPr>
              <a:t>be</a:t>
            </a:r>
            <a:r>
              <a:rPr sz="1700" spc="-5" dirty="0">
                <a:latin typeface="Times New Roman"/>
                <a:cs typeface="Times New Roman"/>
              </a:rPr>
              <a:t> </a:t>
            </a:r>
            <a:r>
              <a:rPr sz="1700" spc="-15" dirty="0">
                <a:latin typeface="Times New Roman"/>
                <a:cs typeface="Times New Roman"/>
              </a:rPr>
              <a:t>executed </a:t>
            </a:r>
            <a:r>
              <a:rPr sz="1700" spc="-85" dirty="0">
                <a:latin typeface="Times New Roman"/>
                <a:cs typeface="Times New Roman"/>
              </a:rPr>
              <a:t>if</a:t>
            </a:r>
            <a:r>
              <a:rPr sz="1700" spc="10" dirty="0">
                <a:latin typeface="Times New Roman"/>
                <a:cs typeface="Times New Roman"/>
              </a:rPr>
              <a:t> </a:t>
            </a:r>
            <a:r>
              <a:rPr sz="1700" spc="15" dirty="0">
                <a:latin typeface="Times New Roman"/>
                <a:cs typeface="Times New Roman"/>
              </a:rPr>
              <a:t>the</a:t>
            </a:r>
            <a:r>
              <a:rPr sz="1700" spc="-45" dirty="0">
                <a:latin typeface="Times New Roman"/>
                <a:cs typeface="Times New Roman"/>
              </a:rPr>
              <a:t> </a:t>
            </a:r>
            <a:r>
              <a:rPr sz="1700" spc="-5" dirty="0">
                <a:latin typeface="Times New Roman"/>
                <a:cs typeface="Times New Roman"/>
              </a:rPr>
              <a:t>condition </a:t>
            </a:r>
            <a:r>
              <a:rPr sz="1700" spc="-65" dirty="0">
                <a:latin typeface="Times New Roman"/>
                <a:cs typeface="Times New Roman"/>
              </a:rPr>
              <a:t>is</a:t>
            </a:r>
            <a:r>
              <a:rPr sz="1700" spc="45" dirty="0">
                <a:latin typeface="Times New Roman"/>
                <a:cs typeface="Times New Roman"/>
              </a:rPr>
              <a:t> </a:t>
            </a:r>
            <a:r>
              <a:rPr sz="1700" spc="10" dirty="0">
                <a:latin typeface="Times New Roman"/>
                <a:cs typeface="Times New Roman"/>
              </a:rPr>
              <a:t>true</a:t>
            </a:r>
            <a:endParaRPr sz="1700" dirty="0">
              <a:latin typeface="Times New Roman"/>
              <a:cs typeface="Times New Roman"/>
            </a:endParaRPr>
          </a:p>
          <a:p>
            <a:pPr marL="12700">
              <a:lnSpc>
                <a:spcPct val="100000"/>
              </a:lnSpc>
              <a:spcBef>
                <a:spcPts val="395"/>
              </a:spcBef>
            </a:pPr>
            <a:r>
              <a:rPr sz="1700" spc="100" dirty="0">
                <a:latin typeface="Calibri"/>
                <a:cs typeface="Calibri"/>
              </a:rPr>
              <a:t>………………</a:t>
            </a:r>
            <a:endParaRPr sz="1700" dirty="0">
              <a:latin typeface="Calibri"/>
              <a:cs typeface="Calibri"/>
            </a:endParaRPr>
          </a:p>
          <a:p>
            <a:pPr marL="12700">
              <a:lnSpc>
                <a:spcPct val="100000"/>
              </a:lnSpc>
              <a:spcBef>
                <a:spcPts val="440"/>
              </a:spcBef>
            </a:pPr>
            <a:r>
              <a:rPr sz="1700" spc="-315" dirty="0">
                <a:latin typeface="Times New Roman"/>
                <a:cs typeface="Times New Roman"/>
              </a:rPr>
              <a:t>}</a:t>
            </a:r>
            <a:endParaRPr sz="1700" dirty="0">
              <a:latin typeface="Times New Roman"/>
              <a:cs typeface="Times New Roman"/>
            </a:endParaRPr>
          </a:p>
        </p:txBody>
      </p:sp>
      <p:sp>
        <p:nvSpPr>
          <p:cNvPr id="6" name="object 6"/>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4664" y="803538"/>
            <a:ext cx="1044575" cy="251460"/>
          </a:xfrm>
          <a:prstGeom prst="rect">
            <a:avLst/>
          </a:prstGeom>
        </p:spPr>
        <p:txBody>
          <a:bodyPr vert="horz" wrap="square" lIns="0" tIns="16510" rIns="0" bIns="0" rtlCol="0">
            <a:spAutoFit/>
          </a:bodyPr>
          <a:lstStyle/>
          <a:p>
            <a:pPr marL="12700">
              <a:lnSpc>
                <a:spcPct val="100000"/>
              </a:lnSpc>
              <a:spcBef>
                <a:spcPts val="130"/>
              </a:spcBef>
            </a:pPr>
            <a:r>
              <a:rPr sz="1450" spc="-30" dirty="0">
                <a:solidFill>
                  <a:srgbClr val="000000"/>
                </a:solidFill>
                <a:latin typeface="Calibri"/>
                <a:cs typeface="Calibri"/>
              </a:rPr>
              <a:t>class</a:t>
            </a:r>
            <a:r>
              <a:rPr sz="1450" spc="-5" dirty="0">
                <a:solidFill>
                  <a:srgbClr val="000000"/>
                </a:solidFill>
                <a:latin typeface="Calibri"/>
                <a:cs typeface="Calibri"/>
              </a:rPr>
              <a:t> </a:t>
            </a:r>
            <a:r>
              <a:rPr sz="1450" b="1" spc="10" dirty="0">
                <a:solidFill>
                  <a:srgbClr val="000000"/>
                </a:solidFill>
                <a:latin typeface="Calibri"/>
                <a:cs typeface="Calibri"/>
              </a:rPr>
              <a:t>Sample</a:t>
            </a:r>
            <a:r>
              <a:rPr sz="1450" spc="10" dirty="0">
                <a:solidFill>
                  <a:srgbClr val="000000"/>
                </a:solidFill>
                <a:latin typeface="Calibri"/>
                <a:cs typeface="Calibri"/>
              </a:rPr>
              <a:t>{</a:t>
            </a:r>
            <a:endParaRPr sz="1450">
              <a:latin typeface="Calibri"/>
              <a:cs typeface="Calibri"/>
            </a:endParaRPr>
          </a:p>
        </p:txBody>
      </p:sp>
      <p:sp>
        <p:nvSpPr>
          <p:cNvPr id="3" name="object 3"/>
          <p:cNvSpPr txBox="1"/>
          <p:nvPr/>
        </p:nvSpPr>
        <p:spPr>
          <a:xfrm>
            <a:off x="364657" y="1024035"/>
            <a:ext cx="3737610" cy="2481580"/>
          </a:xfrm>
          <a:prstGeom prst="rect">
            <a:avLst/>
          </a:prstGeom>
        </p:spPr>
        <p:txBody>
          <a:bodyPr vert="horz" wrap="square" lIns="0" tIns="64769" rIns="0" bIns="0" rtlCol="0">
            <a:spAutoFit/>
          </a:bodyPr>
          <a:lstStyle/>
          <a:p>
            <a:pPr marL="12700">
              <a:lnSpc>
                <a:spcPct val="100000"/>
              </a:lnSpc>
              <a:spcBef>
                <a:spcPts val="509"/>
              </a:spcBef>
            </a:pPr>
            <a:r>
              <a:rPr sz="1450" spc="5" dirty="0">
                <a:latin typeface="Calibri"/>
                <a:cs typeface="Calibri"/>
              </a:rPr>
              <a:t>public</a:t>
            </a:r>
            <a:r>
              <a:rPr sz="1450" spc="85" dirty="0">
                <a:latin typeface="Calibri"/>
                <a:cs typeface="Calibri"/>
              </a:rPr>
              <a:t> </a:t>
            </a:r>
            <a:r>
              <a:rPr sz="1450" spc="-45" dirty="0">
                <a:latin typeface="Calibri"/>
                <a:cs typeface="Calibri"/>
              </a:rPr>
              <a:t>static</a:t>
            </a:r>
            <a:r>
              <a:rPr sz="1450" spc="5" dirty="0">
                <a:latin typeface="Calibri"/>
                <a:cs typeface="Calibri"/>
              </a:rPr>
              <a:t> </a:t>
            </a:r>
            <a:r>
              <a:rPr sz="1450" spc="-10" dirty="0">
                <a:latin typeface="Calibri"/>
                <a:cs typeface="Calibri"/>
              </a:rPr>
              <a:t>void</a:t>
            </a:r>
            <a:r>
              <a:rPr sz="1450" spc="85" dirty="0">
                <a:latin typeface="Calibri"/>
                <a:cs typeface="Calibri"/>
              </a:rPr>
              <a:t> </a:t>
            </a:r>
            <a:r>
              <a:rPr sz="1450" spc="-10" dirty="0">
                <a:latin typeface="Calibri"/>
                <a:cs typeface="Calibri"/>
              </a:rPr>
              <a:t>main(String</a:t>
            </a:r>
            <a:r>
              <a:rPr sz="1450" spc="50" dirty="0">
                <a:latin typeface="Calibri"/>
                <a:cs typeface="Calibri"/>
              </a:rPr>
              <a:t> </a:t>
            </a:r>
            <a:r>
              <a:rPr sz="1450" spc="-30" dirty="0">
                <a:latin typeface="Calibri"/>
                <a:cs typeface="Calibri"/>
              </a:rPr>
              <a:t>args[])</a:t>
            </a:r>
            <a:endParaRPr sz="1450" dirty="0">
              <a:latin typeface="Calibri"/>
              <a:cs typeface="Calibri"/>
            </a:endParaRPr>
          </a:p>
          <a:p>
            <a:pPr marL="12700">
              <a:lnSpc>
                <a:spcPct val="100000"/>
              </a:lnSpc>
              <a:spcBef>
                <a:spcPts val="415"/>
              </a:spcBef>
            </a:pPr>
            <a:r>
              <a:rPr sz="1450" spc="-25" dirty="0">
                <a:latin typeface="Calibri"/>
                <a:cs typeface="Calibri"/>
              </a:rPr>
              <a:t>{</a:t>
            </a:r>
            <a:endParaRPr sz="1450" dirty="0">
              <a:latin typeface="Calibri"/>
              <a:cs typeface="Calibri"/>
            </a:endParaRPr>
          </a:p>
          <a:p>
            <a:pPr marL="255904" marR="2926715">
              <a:lnSpc>
                <a:spcPct val="124000"/>
              </a:lnSpc>
            </a:pPr>
            <a:r>
              <a:rPr sz="1450" spc="-30" dirty="0">
                <a:latin typeface="Calibri"/>
                <a:cs typeface="Calibri"/>
              </a:rPr>
              <a:t>int a=5; </a:t>
            </a:r>
            <a:r>
              <a:rPr sz="1450" spc="-320" dirty="0">
                <a:latin typeface="Calibri"/>
                <a:cs typeface="Calibri"/>
              </a:rPr>
              <a:t> </a:t>
            </a:r>
            <a:r>
              <a:rPr sz="1450" spc="-20" dirty="0">
                <a:solidFill>
                  <a:srgbClr val="0000CC"/>
                </a:solidFill>
                <a:latin typeface="Calibri"/>
                <a:cs typeface="Calibri"/>
              </a:rPr>
              <a:t>if</a:t>
            </a:r>
            <a:r>
              <a:rPr sz="1450" spc="-20" dirty="0">
                <a:latin typeface="Calibri"/>
                <a:cs typeface="Calibri"/>
              </a:rPr>
              <a:t>(a&gt;0)</a:t>
            </a:r>
            <a:endParaRPr sz="1450" dirty="0">
              <a:latin typeface="Calibri"/>
              <a:cs typeface="Calibri"/>
            </a:endParaRPr>
          </a:p>
          <a:p>
            <a:pPr marL="255904">
              <a:lnSpc>
                <a:spcPct val="100000"/>
              </a:lnSpc>
              <a:spcBef>
                <a:spcPts val="380"/>
              </a:spcBef>
            </a:pPr>
            <a:r>
              <a:rPr sz="1450" spc="-25" dirty="0">
                <a:latin typeface="Calibri"/>
                <a:cs typeface="Calibri"/>
              </a:rPr>
              <a:t>{</a:t>
            </a:r>
            <a:endParaRPr sz="1450" dirty="0">
              <a:latin typeface="Calibri"/>
              <a:cs typeface="Calibri"/>
            </a:endParaRPr>
          </a:p>
          <a:p>
            <a:pPr marL="407670">
              <a:lnSpc>
                <a:spcPct val="100000"/>
              </a:lnSpc>
              <a:spcBef>
                <a:spcPts val="420"/>
              </a:spcBef>
            </a:pPr>
            <a:r>
              <a:rPr sz="1450" spc="-30" dirty="0">
                <a:latin typeface="Calibri"/>
                <a:cs typeface="Calibri"/>
              </a:rPr>
              <a:t>System.out.println("</a:t>
            </a:r>
            <a:r>
              <a:rPr sz="1450" spc="145" dirty="0">
                <a:latin typeface="Calibri"/>
                <a:cs typeface="Calibri"/>
              </a:rPr>
              <a:t> </a:t>
            </a:r>
            <a:r>
              <a:rPr sz="1450" spc="-65" dirty="0">
                <a:latin typeface="Calibri"/>
                <a:cs typeface="Calibri"/>
              </a:rPr>
              <a:t>a</a:t>
            </a:r>
            <a:r>
              <a:rPr sz="1450" spc="40" dirty="0">
                <a:latin typeface="Calibri"/>
                <a:cs typeface="Calibri"/>
              </a:rPr>
              <a:t> </a:t>
            </a:r>
            <a:r>
              <a:rPr sz="1450" spc="-15" dirty="0">
                <a:latin typeface="Calibri"/>
                <a:cs typeface="Calibri"/>
              </a:rPr>
              <a:t>is</a:t>
            </a:r>
            <a:r>
              <a:rPr sz="1450" spc="30" dirty="0">
                <a:latin typeface="Calibri"/>
                <a:cs typeface="Calibri"/>
              </a:rPr>
              <a:t> </a:t>
            </a:r>
            <a:r>
              <a:rPr sz="1450" spc="-65" dirty="0">
                <a:latin typeface="Calibri"/>
                <a:cs typeface="Calibri"/>
              </a:rPr>
              <a:t>a</a:t>
            </a:r>
            <a:r>
              <a:rPr sz="1450" spc="75" dirty="0">
                <a:latin typeface="Calibri"/>
                <a:cs typeface="Calibri"/>
              </a:rPr>
              <a:t> </a:t>
            </a:r>
            <a:r>
              <a:rPr sz="1450" spc="-30" dirty="0">
                <a:latin typeface="Calibri"/>
                <a:cs typeface="Calibri"/>
              </a:rPr>
              <a:t>positive</a:t>
            </a:r>
            <a:r>
              <a:rPr sz="1450" spc="85" dirty="0">
                <a:latin typeface="Calibri"/>
                <a:cs typeface="Calibri"/>
              </a:rPr>
              <a:t> </a:t>
            </a:r>
            <a:r>
              <a:rPr sz="1450" spc="-10" dirty="0">
                <a:latin typeface="Calibri"/>
                <a:cs typeface="Calibri"/>
              </a:rPr>
              <a:t>number”);</a:t>
            </a:r>
            <a:endParaRPr sz="1450" dirty="0">
              <a:latin typeface="Calibri"/>
              <a:cs typeface="Calibri"/>
            </a:endParaRPr>
          </a:p>
          <a:p>
            <a:pPr marL="255904">
              <a:lnSpc>
                <a:spcPct val="100000"/>
              </a:lnSpc>
              <a:spcBef>
                <a:spcPts val="415"/>
              </a:spcBef>
            </a:pPr>
            <a:r>
              <a:rPr sz="1450" spc="-25" dirty="0">
                <a:latin typeface="Calibri"/>
                <a:cs typeface="Calibri"/>
              </a:rPr>
              <a:t>}</a:t>
            </a:r>
            <a:endParaRPr sz="1450" dirty="0">
              <a:latin typeface="Calibri"/>
              <a:cs typeface="Calibri"/>
            </a:endParaRPr>
          </a:p>
          <a:p>
            <a:pPr marL="12700">
              <a:lnSpc>
                <a:spcPct val="100000"/>
              </a:lnSpc>
              <a:spcBef>
                <a:spcPts val="420"/>
              </a:spcBef>
            </a:pPr>
            <a:r>
              <a:rPr sz="1450" spc="-25" dirty="0">
                <a:latin typeface="Calibri"/>
                <a:cs typeface="Calibri"/>
              </a:rPr>
              <a:t>}</a:t>
            </a:r>
            <a:endParaRPr sz="1450" dirty="0">
              <a:latin typeface="Calibri"/>
              <a:cs typeface="Calibri"/>
            </a:endParaRPr>
          </a:p>
          <a:p>
            <a:pPr marL="12700">
              <a:lnSpc>
                <a:spcPct val="100000"/>
              </a:lnSpc>
              <a:spcBef>
                <a:spcPts val="375"/>
              </a:spcBef>
            </a:pPr>
            <a:r>
              <a:rPr sz="1450" spc="-25" dirty="0">
                <a:latin typeface="Calibri"/>
                <a:cs typeface="Calibri"/>
              </a:rPr>
              <a:t>}</a:t>
            </a:r>
            <a:endParaRPr sz="1450" dirty="0">
              <a:latin typeface="Calibri"/>
              <a:cs typeface="Calibri"/>
            </a:endParaRPr>
          </a:p>
        </p:txBody>
      </p:sp>
      <p:grpSp>
        <p:nvGrpSpPr>
          <p:cNvPr id="5" name="object 5"/>
          <p:cNvGrpSpPr/>
          <p:nvPr/>
        </p:nvGrpSpPr>
        <p:grpSpPr>
          <a:xfrm>
            <a:off x="-1387" y="170827"/>
            <a:ext cx="6498590" cy="3660140"/>
            <a:chOff x="-1387" y="170827"/>
            <a:chExt cx="6498590" cy="3660140"/>
          </a:xfrm>
        </p:grpSpPr>
        <p:pic>
          <p:nvPicPr>
            <p:cNvPr id="6" name="object 6"/>
            <p:cNvPicPr/>
            <p:nvPr/>
          </p:nvPicPr>
          <p:blipFill>
            <a:blip r:embed="rId2" cstate="print"/>
            <a:stretch>
              <a:fillRect/>
            </a:stretch>
          </p:blipFill>
          <p:spPr>
            <a:xfrm>
              <a:off x="3631125" y="1498148"/>
              <a:ext cx="2339801" cy="683322"/>
            </a:xfrm>
            <a:prstGeom prst="rect">
              <a:avLst/>
            </a:prstGeom>
          </p:spPr>
        </p:pic>
        <p:sp>
          <p:nvSpPr>
            <p:cNvPr id="7" name="object 7"/>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grpSp>
        <p:nvGrpSpPr>
          <p:cNvPr id="3" name="object 3"/>
          <p:cNvGrpSpPr/>
          <p:nvPr/>
        </p:nvGrpSpPr>
        <p:grpSpPr>
          <a:xfrm>
            <a:off x="196601" y="1555962"/>
            <a:ext cx="1764030" cy="1318260"/>
            <a:chOff x="196601" y="1555962"/>
            <a:chExt cx="1764030" cy="1318260"/>
          </a:xfrm>
        </p:grpSpPr>
        <p:pic>
          <p:nvPicPr>
            <p:cNvPr id="4" name="object 4"/>
            <p:cNvPicPr/>
            <p:nvPr/>
          </p:nvPicPr>
          <p:blipFill>
            <a:blip r:embed="rId3" cstate="print"/>
            <a:stretch>
              <a:fillRect/>
            </a:stretch>
          </p:blipFill>
          <p:spPr>
            <a:xfrm>
              <a:off x="196601" y="1555962"/>
              <a:ext cx="1763726" cy="1317720"/>
            </a:xfrm>
            <a:prstGeom prst="rect">
              <a:avLst/>
            </a:prstGeom>
          </p:spPr>
        </p:pic>
        <p:pic>
          <p:nvPicPr>
            <p:cNvPr id="5" name="object 5"/>
            <p:cNvPicPr/>
            <p:nvPr/>
          </p:nvPicPr>
          <p:blipFill>
            <a:blip r:embed="rId4" cstate="print"/>
            <a:stretch>
              <a:fillRect/>
            </a:stretch>
          </p:blipFill>
          <p:spPr>
            <a:xfrm>
              <a:off x="217717" y="1562722"/>
              <a:ext cx="1724860" cy="1282243"/>
            </a:xfrm>
            <a:prstGeom prst="rect">
              <a:avLst/>
            </a:prstGeom>
          </p:spPr>
        </p:pic>
      </p:grpSp>
      <p:sp>
        <p:nvSpPr>
          <p:cNvPr id="6" name="object 6"/>
          <p:cNvSpPr txBox="1">
            <a:spLocks noGrp="1"/>
          </p:cNvSpPr>
          <p:nvPr>
            <p:ph type="title"/>
          </p:nvPr>
        </p:nvSpPr>
        <p:spPr>
          <a:xfrm>
            <a:off x="2090699" y="726272"/>
            <a:ext cx="1846301" cy="318135"/>
          </a:xfrm>
          <a:prstGeom prst="rect">
            <a:avLst/>
          </a:prstGeom>
        </p:spPr>
        <p:txBody>
          <a:bodyPr vert="horz" wrap="square" lIns="0" tIns="14604" rIns="0" bIns="0" rtlCol="0">
            <a:spAutoFit/>
          </a:bodyPr>
          <a:lstStyle/>
          <a:p>
            <a:pPr marL="12700">
              <a:lnSpc>
                <a:spcPct val="100000"/>
              </a:lnSpc>
              <a:spcBef>
                <a:spcPts val="114"/>
              </a:spcBef>
            </a:pPr>
            <a:r>
              <a:rPr spc="-10" dirty="0">
                <a:solidFill>
                  <a:schemeClr val="tx1"/>
                </a:solidFill>
              </a:rPr>
              <a:t>If-else</a:t>
            </a:r>
            <a:r>
              <a:rPr spc="25" dirty="0">
                <a:solidFill>
                  <a:schemeClr val="tx1"/>
                </a:solidFill>
              </a:rPr>
              <a:t> </a:t>
            </a:r>
            <a:r>
              <a:rPr spc="5" dirty="0">
                <a:solidFill>
                  <a:schemeClr val="tx1"/>
                </a:solidFill>
              </a:rPr>
              <a:t>statement</a:t>
            </a:r>
          </a:p>
        </p:txBody>
      </p:sp>
      <p:sp>
        <p:nvSpPr>
          <p:cNvPr id="7" name="object 7"/>
          <p:cNvSpPr txBox="1"/>
          <p:nvPr/>
        </p:nvSpPr>
        <p:spPr>
          <a:xfrm>
            <a:off x="364664" y="1260930"/>
            <a:ext cx="3317240" cy="287655"/>
          </a:xfrm>
          <a:prstGeom prst="rect">
            <a:avLst/>
          </a:prstGeom>
        </p:spPr>
        <p:txBody>
          <a:bodyPr vert="horz" wrap="square" lIns="0" tIns="14604" rIns="0" bIns="0" rtlCol="0">
            <a:spAutoFit/>
          </a:bodyPr>
          <a:lstStyle/>
          <a:p>
            <a:pPr marL="194945" indent="-182880">
              <a:lnSpc>
                <a:spcPct val="100000"/>
              </a:lnSpc>
              <a:spcBef>
                <a:spcPts val="114"/>
              </a:spcBef>
              <a:buChar char="•"/>
              <a:tabLst>
                <a:tab pos="195580" algn="l"/>
              </a:tabLst>
            </a:pPr>
            <a:r>
              <a:rPr sz="1700" dirty="0">
                <a:latin typeface="Arial MT"/>
                <a:cs typeface="Arial MT"/>
              </a:rPr>
              <a:t>General</a:t>
            </a:r>
            <a:r>
              <a:rPr sz="1700" spc="-70" dirty="0">
                <a:latin typeface="Arial MT"/>
                <a:cs typeface="Arial MT"/>
              </a:rPr>
              <a:t> </a:t>
            </a:r>
            <a:r>
              <a:rPr sz="1700" spc="10" dirty="0">
                <a:latin typeface="Arial MT"/>
                <a:cs typeface="Arial MT"/>
              </a:rPr>
              <a:t>form</a:t>
            </a:r>
            <a:r>
              <a:rPr sz="1700" spc="-80" dirty="0">
                <a:latin typeface="Arial MT"/>
                <a:cs typeface="Arial MT"/>
              </a:rPr>
              <a:t> </a:t>
            </a:r>
            <a:r>
              <a:rPr sz="1700" spc="5" dirty="0">
                <a:latin typeface="Arial MT"/>
                <a:cs typeface="Arial MT"/>
              </a:rPr>
              <a:t>of</a:t>
            </a:r>
            <a:r>
              <a:rPr sz="1700" spc="-10" dirty="0">
                <a:latin typeface="Arial MT"/>
                <a:cs typeface="Arial MT"/>
              </a:rPr>
              <a:t> </a:t>
            </a:r>
            <a:r>
              <a:rPr sz="1700" spc="5" dirty="0">
                <a:latin typeface="Arial MT"/>
                <a:cs typeface="Arial MT"/>
              </a:rPr>
              <a:t>the</a:t>
            </a:r>
            <a:r>
              <a:rPr sz="1700" spc="-45" dirty="0">
                <a:latin typeface="Arial MT"/>
                <a:cs typeface="Arial MT"/>
              </a:rPr>
              <a:t> </a:t>
            </a:r>
            <a:r>
              <a:rPr sz="1700" spc="10" dirty="0">
                <a:latin typeface="Arial MT"/>
                <a:cs typeface="Arial MT"/>
              </a:rPr>
              <a:t>if</a:t>
            </a:r>
            <a:r>
              <a:rPr sz="1700" spc="-50" dirty="0">
                <a:latin typeface="Arial MT"/>
                <a:cs typeface="Arial MT"/>
              </a:rPr>
              <a:t> </a:t>
            </a:r>
            <a:r>
              <a:rPr sz="1700" spc="10" dirty="0">
                <a:latin typeface="Arial MT"/>
                <a:cs typeface="Arial MT"/>
              </a:rPr>
              <a:t>statement:</a:t>
            </a:r>
            <a:endParaRPr sz="1700" dirty="0">
              <a:latin typeface="Arial MT"/>
              <a:cs typeface="Arial MT"/>
            </a:endParaRPr>
          </a:p>
        </p:txBody>
      </p:sp>
      <p:sp>
        <p:nvSpPr>
          <p:cNvPr id="8" name="object 8"/>
          <p:cNvSpPr txBox="1"/>
          <p:nvPr/>
        </p:nvSpPr>
        <p:spPr>
          <a:xfrm>
            <a:off x="217717" y="1562722"/>
            <a:ext cx="1725295" cy="1282700"/>
          </a:xfrm>
          <a:prstGeom prst="rect">
            <a:avLst/>
          </a:prstGeom>
          <a:ln w="5073">
            <a:solidFill>
              <a:srgbClr val="000000"/>
            </a:solidFill>
          </a:ln>
        </p:spPr>
        <p:txBody>
          <a:bodyPr vert="horz" wrap="square" lIns="0" tIns="17780" rIns="0" bIns="0" rtlCol="0">
            <a:spAutoFit/>
          </a:bodyPr>
          <a:lstStyle/>
          <a:p>
            <a:pPr marL="159385">
              <a:lnSpc>
                <a:spcPct val="100000"/>
              </a:lnSpc>
              <a:spcBef>
                <a:spcPts val="140"/>
              </a:spcBef>
            </a:pPr>
            <a:r>
              <a:rPr sz="1700" spc="-85" dirty="0">
                <a:solidFill>
                  <a:srgbClr val="0000CC"/>
                </a:solidFill>
                <a:latin typeface="Times New Roman"/>
                <a:cs typeface="Times New Roman"/>
              </a:rPr>
              <a:t>i</a:t>
            </a:r>
            <a:r>
              <a:rPr sz="1700" spc="-80" dirty="0">
                <a:solidFill>
                  <a:srgbClr val="0000CC"/>
                </a:solidFill>
                <a:latin typeface="Times New Roman"/>
                <a:cs typeface="Times New Roman"/>
              </a:rPr>
              <a:t>f</a:t>
            </a:r>
            <a:r>
              <a:rPr sz="1700" spc="10" dirty="0">
                <a:solidFill>
                  <a:srgbClr val="0000CC"/>
                </a:solidFill>
                <a:latin typeface="Times New Roman"/>
                <a:cs typeface="Times New Roman"/>
              </a:rPr>
              <a:t> </a:t>
            </a:r>
            <a:r>
              <a:rPr sz="1700" spc="-50" dirty="0">
                <a:latin typeface="Times New Roman"/>
                <a:cs typeface="Times New Roman"/>
              </a:rPr>
              <a:t>(</a:t>
            </a:r>
            <a:r>
              <a:rPr sz="1700" dirty="0">
                <a:solidFill>
                  <a:srgbClr val="6F2F9F"/>
                </a:solidFill>
                <a:latin typeface="Times New Roman"/>
                <a:cs typeface="Times New Roman"/>
              </a:rPr>
              <a:t>c</a:t>
            </a:r>
            <a:r>
              <a:rPr sz="1700" spc="-10" dirty="0">
                <a:solidFill>
                  <a:srgbClr val="6F2F9F"/>
                </a:solidFill>
                <a:latin typeface="Times New Roman"/>
                <a:cs typeface="Times New Roman"/>
              </a:rPr>
              <a:t>o</a:t>
            </a:r>
            <a:r>
              <a:rPr sz="1700" spc="20" dirty="0">
                <a:solidFill>
                  <a:srgbClr val="6F2F9F"/>
                </a:solidFill>
                <a:latin typeface="Times New Roman"/>
                <a:cs typeface="Times New Roman"/>
              </a:rPr>
              <a:t>n</a:t>
            </a:r>
            <a:r>
              <a:rPr sz="1700" spc="65" dirty="0">
                <a:solidFill>
                  <a:srgbClr val="6F2F9F"/>
                </a:solidFill>
                <a:latin typeface="Times New Roman"/>
                <a:cs typeface="Times New Roman"/>
              </a:rPr>
              <a:t>d</a:t>
            </a:r>
            <a:r>
              <a:rPr sz="1700" spc="-80" dirty="0">
                <a:solidFill>
                  <a:srgbClr val="6F2F9F"/>
                </a:solidFill>
                <a:latin typeface="Times New Roman"/>
                <a:cs typeface="Times New Roman"/>
              </a:rPr>
              <a:t>i</a:t>
            </a:r>
            <a:r>
              <a:rPr sz="1700" spc="-40" dirty="0">
                <a:solidFill>
                  <a:srgbClr val="6F2F9F"/>
                </a:solidFill>
                <a:latin typeface="Times New Roman"/>
                <a:cs typeface="Times New Roman"/>
              </a:rPr>
              <a:t>t</a:t>
            </a:r>
            <a:r>
              <a:rPr sz="1700" spc="-80" dirty="0">
                <a:solidFill>
                  <a:srgbClr val="6F2F9F"/>
                </a:solidFill>
                <a:latin typeface="Times New Roman"/>
                <a:cs typeface="Times New Roman"/>
              </a:rPr>
              <a:t>i</a:t>
            </a:r>
            <a:r>
              <a:rPr sz="1700" spc="20" dirty="0">
                <a:solidFill>
                  <a:srgbClr val="6F2F9F"/>
                </a:solidFill>
                <a:latin typeface="Times New Roman"/>
                <a:cs typeface="Times New Roman"/>
              </a:rPr>
              <a:t>o</a:t>
            </a:r>
            <a:r>
              <a:rPr sz="1700" spc="30" dirty="0">
                <a:solidFill>
                  <a:srgbClr val="6F2F9F"/>
                </a:solidFill>
                <a:latin typeface="Times New Roman"/>
                <a:cs typeface="Times New Roman"/>
              </a:rPr>
              <a:t>n</a:t>
            </a:r>
            <a:r>
              <a:rPr sz="1700" spc="-65" dirty="0">
                <a:latin typeface="Times New Roman"/>
                <a:cs typeface="Times New Roman"/>
              </a:rPr>
              <a:t>)</a:t>
            </a:r>
            <a:endParaRPr sz="1700">
              <a:latin typeface="Times New Roman"/>
              <a:cs typeface="Times New Roman"/>
            </a:endParaRPr>
          </a:p>
          <a:p>
            <a:pPr marL="159385" marR="405765" indent="182245">
              <a:lnSpc>
                <a:spcPts val="2480"/>
              </a:lnSpc>
              <a:spcBef>
                <a:spcPts val="110"/>
              </a:spcBef>
            </a:pPr>
            <a:r>
              <a:rPr sz="1700" spc="-65" dirty="0">
                <a:latin typeface="Times New Roman"/>
                <a:cs typeface="Times New Roman"/>
              </a:rPr>
              <a:t>s</a:t>
            </a:r>
            <a:r>
              <a:rPr sz="1700" spc="-40" dirty="0">
                <a:latin typeface="Times New Roman"/>
                <a:cs typeface="Times New Roman"/>
              </a:rPr>
              <a:t>t</a:t>
            </a:r>
            <a:r>
              <a:rPr sz="1700" spc="-45" dirty="0">
                <a:latin typeface="Times New Roman"/>
                <a:cs typeface="Times New Roman"/>
              </a:rPr>
              <a:t>a</a:t>
            </a:r>
            <a:r>
              <a:rPr sz="1700" spc="-40" dirty="0">
                <a:latin typeface="Times New Roman"/>
                <a:cs typeface="Times New Roman"/>
              </a:rPr>
              <a:t>t</a:t>
            </a:r>
            <a:r>
              <a:rPr sz="1700" dirty="0">
                <a:latin typeface="Times New Roman"/>
                <a:cs typeface="Times New Roman"/>
              </a:rPr>
              <a:t>e</a:t>
            </a:r>
            <a:r>
              <a:rPr sz="1700" spc="30" dirty="0">
                <a:latin typeface="Times New Roman"/>
                <a:cs typeface="Times New Roman"/>
              </a:rPr>
              <a:t>m</a:t>
            </a:r>
            <a:r>
              <a:rPr sz="1700" dirty="0">
                <a:latin typeface="Times New Roman"/>
                <a:cs typeface="Times New Roman"/>
              </a:rPr>
              <a:t>e</a:t>
            </a:r>
            <a:r>
              <a:rPr sz="1700" spc="20" dirty="0">
                <a:latin typeface="Times New Roman"/>
                <a:cs typeface="Times New Roman"/>
              </a:rPr>
              <a:t>n</a:t>
            </a:r>
            <a:r>
              <a:rPr sz="1700" spc="-40" dirty="0">
                <a:latin typeface="Times New Roman"/>
                <a:cs typeface="Times New Roman"/>
              </a:rPr>
              <a:t>t</a:t>
            </a:r>
            <a:r>
              <a:rPr sz="1700" spc="-15" dirty="0">
                <a:latin typeface="Times New Roman"/>
                <a:cs typeface="Times New Roman"/>
              </a:rPr>
              <a:t>1</a:t>
            </a:r>
            <a:r>
              <a:rPr sz="1700" spc="-60" dirty="0">
                <a:latin typeface="Times New Roman"/>
                <a:cs typeface="Times New Roman"/>
              </a:rPr>
              <a:t>;  </a:t>
            </a:r>
            <a:r>
              <a:rPr sz="1700" spc="-30" dirty="0">
                <a:solidFill>
                  <a:srgbClr val="0000CC"/>
                </a:solidFill>
                <a:latin typeface="Times New Roman"/>
                <a:cs typeface="Times New Roman"/>
              </a:rPr>
              <a:t>else</a:t>
            </a:r>
            <a:endParaRPr sz="1700">
              <a:latin typeface="Times New Roman"/>
              <a:cs typeface="Times New Roman"/>
            </a:endParaRPr>
          </a:p>
          <a:p>
            <a:pPr marL="342265">
              <a:lnSpc>
                <a:spcPct val="100000"/>
              </a:lnSpc>
              <a:spcBef>
                <a:spcPts val="240"/>
              </a:spcBef>
            </a:pPr>
            <a:r>
              <a:rPr sz="1700" spc="-25" dirty="0">
                <a:latin typeface="Times New Roman"/>
                <a:cs typeface="Times New Roman"/>
              </a:rPr>
              <a:t>statement2;</a:t>
            </a:r>
            <a:endParaRPr sz="1700">
              <a:latin typeface="Times New Roman"/>
              <a:cs typeface="Times New Roman"/>
            </a:endParaRPr>
          </a:p>
        </p:txBody>
      </p:sp>
      <p:sp>
        <p:nvSpPr>
          <p:cNvPr id="9" name="object 9"/>
          <p:cNvSpPr txBox="1"/>
          <p:nvPr/>
        </p:nvSpPr>
        <p:spPr>
          <a:xfrm>
            <a:off x="364662" y="2824153"/>
            <a:ext cx="5858338" cy="1435905"/>
          </a:xfrm>
          <a:prstGeom prst="rect">
            <a:avLst/>
          </a:prstGeom>
        </p:spPr>
        <p:txBody>
          <a:bodyPr vert="horz" wrap="square" lIns="0" tIns="14604" rIns="0" bIns="0" rtlCol="0">
            <a:spAutoFit/>
          </a:bodyPr>
          <a:lstStyle/>
          <a:p>
            <a:pPr marL="194945" marR="121920" indent="-182880">
              <a:lnSpc>
                <a:spcPct val="100000"/>
              </a:lnSpc>
              <a:spcBef>
                <a:spcPts val="114"/>
              </a:spcBef>
              <a:buChar char="•"/>
              <a:tabLst>
                <a:tab pos="195580" algn="l"/>
              </a:tabLst>
            </a:pPr>
            <a:r>
              <a:rPr sz="1700" spc="15" dirty="0">
                <a:latin typeface="Arial MT"/>
                <a:cs typeface="Arial MT"/>
              </a:rPr>
              <a:t>S</a:t>
            </a:r>
            <a:r>
              <a:rPr sz="1700" spc="5" dirty="0">
                <a:latin typeface="Arial MT"/>
                <a:cs typeface="Arial MT"/>
              </a:rPr>
              <a:t>tat</a:t>
            </a:r>
            <a:r>
              <a:rPr sz="1700" spc="15" dirty="0">
                <a:latin typeface="Arial MT"/>
                <a:cs typeface="Arial MT"/>
              </a:rPr>
              <a:t>em</a:t>
            </a:r>
            <a:r>
              <a:rPr sz="1700" spc="5" dirty="0">
                <a:latin typeface="Arial MT"/>
                <a:cs typeface="Arial MT"/>
              </a:rPr>
              <a:t>ent</a:t>
            </a:r>
            <a:r>
              <a:rPr sz="1700" spc="-65" dirty="0">
                <a:latin typeface="Times New Roman"/>
                <a:cs typeface="Times New Roman"/>
              </a:rPr>
              <a:t> </a:t>
            </a:r>
            <a:r>
              <a:rPr sz="1700" spc="20" dirty="0">
                <a:latin typeface="Arial MT"/>
                <a:cs typeface="Arial MT"/>
              </a:rPr>
              <a:t>m</a:t>
            </a:r>
            <a:r>
              <a:rPr sz="1700" spc="5" dirty="0">
                <a:latin typeface="Arial MT"/>
                <a:cs typeface="Arial MT"/>
              </a:rPr>
              <a:t>ay</a:t>
            </a:r>
            <a:r>
              <a:rPr sz="1700" spc="-10" dirty="0">
                <a:latin typeface="Times New Roman"/>
                <a:cs typeface="Times New Roman"/>
              </a:rPr>
              <a:t> </a:t>
            </a:r>
            <a:r>
              <a:rPr sz="1700" spc="5" dirty="0">
                <a:latin typeface="Arial MT"/>
                <a:cs typeface="Arial MT"/>
              </a:rPr>
              <a:t>b</a:t>
            </a:r>
            <a:r>
              <a:rPr sz="1700" spc="10" dirty="0">
                <a:latin typeface="Arial MT"/>
                <a:cs typeface="Arial MT"/>
              </a:rPr>
              <a:t>e</a:t>
            </a:r>
            <a:r>
              <a:rPr sz="1700" spc="15" dirty="0">
                <a:latin typeface="Times New Roman"/>
                <a:cs typeface="Times New Roman"/>
              </a:rPr>
              <a:t> </a:t>
            </a:r>
            <a:r>
              <a:rPr sz="1700" spc="10" dirty="0">
                <a:latin typeface="Arial MT"/>
                <a:cs typeface="Arial MT"/>
              </a:rPr>
              <a:t>a</a:t>
            </a:r>
            <a:r>
              <a:rPr sz="1700" spc="50" dirty="0">
                <a:latin typeface="Times New Roman"/>
                <a:cs typeface="Times New Roman"/>
              </a:rPr>
              <a:t> </a:t>
            </a:r>
            <a:r>
              <a:rPr sz="1700" spc="25" dirty="0">
                <a:latin typeface="Arial MT"/>
                <a:cs typeface="Arial MT"/>
              </a:rPr>
              <a:t>s</a:t>
            </a:r>
            <a:r>
              <a:rPr sz="1700" spc="15" dirty="0">
                <a:latin typeface="Arial MT"/>
                <a:cs typeface="Arial MT"/>
              </a:rPr>
              <a:t>i</a:t>
            </a:r>
            <a:r>
              <a:rPr sz="1700" spc="5" dirty="0">
                <a:latin typeface="Arial MT"/>
                <a:cs typeface="Arial MT"/>
              </a:rPr>
              <a:t>ng</a:t>
            </a:r>
            <a:r>
              <a:rPr sz="1700" spc="20" dirty="0">
                <a:latin typeface="Arial MT"/>
                <a:cs typeface="Arial MT"/>
              </a:rPr>
              <a:t>l</a:t>
            </a:r>
            <a:r>
              <a:rPr sz="1700" spc="10" dirty="0">
                <a:latin typeface="Arial MT"/>
                <a:cs typeface="Arial MT"/>
              </a:rPr>
              <a:t>e</a:t>
            </a:r>
            <a:r>
              <a:rPr sz="1700" spc="-65" dirty="0">
                <a:latin typeface="Times New Roman"/>
                <a:cs typeface="Times New Roman"/>
              </a:rPr>
              <a:t> </a:t>
            </a:r>
            <a:r>
              <a:rPr sz="1700" spc="20" dirty="0">
                <a:latin typeface="Arial MT"/>
                <a:cs typeface="Arial MT"/>
              </a:rPr>
              <a:t>s</a:t>
            </a:r>
            <a:r>
              <a:rPr sz="1700" spc="5" dirty="0">
                <a:latin typeface="Arial MT"/>
                <a:cs typeface="Arial MT"/>
              </a:rPr>
              <a:t>tat</a:t>
            </a:r>
            <a:r>
              <a:rPr sz="1700" spc="15" dirty="0">
                <a:latin typeface="Arial MT"/>
                <a:cs typeface="Arial MT"/>
              </a:rPr>
              <a:t>em</a:t>
            </a:r>
            <a:r>
              <a:rPr sz="1700" spc="5" dirty="0">
                <a:latin typeface="Arial MT"/>
                <a:cs typeface="Arial MT"/>
              </a:rPr>
              <a:t>ent</a:t>
            </a:r>
            <a:r>
              <a:rPr sz="1700" spc="-65" dirty="0">
                <a:latin typeface="Times New Roman"/>
                <a:cs typeface="Times New Roman"/>
              </a:rPr>
              <a:t> </a:t>
            </a:r>
            <a:r>
              <a:rPr sz="1700" spc="5" dirty="0">
                <a:latin typeface="Arial MT"/>
                <a:cs typeface="Arial MT"/>
              </a:rPr>
              <a:t>or</a:t>
            </a:r>
            <a:r>
              <a:rPr sz="1700" spc="40" dirty="0">
                <a:latin typeface="Times New Roman"/>
                <a:cs typeface="Times New Roman"/>
              </a:rPr>
              <a:t> </a:t>
            </a:r>
            <a:r>
              <a:rPr sz="1700" spc="10" dirty="0">
                <a:latin typeface="Arial MT"/>
                <a:cs typeface="Arial MT"/>
              </a:rPr>
              <a:t>a</a:t>
            </a:r>
            <a:r>
              <a:rPr sz="1700" spc="15" dirty="0">
                <a:latin typeface="Times New Roman"/>
                <a:cs typeface="Times New Roman"/>
              </a:rPr>
              <a:t> </a:t>
            </a:r>
            <a:r>
              <a:rPr sz="1700" spc="20" dirty="0">
                <a:latin typeface="Arial MT"/>
                <a:cs typeface="Arial MT"/>
              </a:rPr>
              <a:t>c</a:t>
            </a:r>
            <a:r>
              <a:rPr sz="1700" spc="5" dirty="0">
                <a:latin typeface="Arial MT"/>
                <a:cs typeface="Arial MT"/>
              </a:rPr>
              <a:t>o</a:t>
            </a:r>
            <a:r>
              <a:rPr sz="1700" spc="20" dirty="0">
                <a:latin typeface="Arial MT"/>
                <a:cs typeface="Arial MT"/>
              </a:rPr>
              <a:t>m</a:t>
            </a:r>
            <a:r>
              <a:rPr sz="1700" spc="5" dirty="0">
                <a:latin typeface="Arial MT"/>
                <a:cs typeface="Arial MT"/>
              </a:rPr>
              <a:t>po</a:t>
            </a:r>
            <a:r>
              <a:rPr sz="1700" spc="10" dirty="0">
                <a:latin typeface="Arial MT"/>
                <a:cs typeface="Arial MT"/>
              </a:rPr>
              <a:t>u</a:t>
            </a:r>
            <a:r>
              <a:rPr sz="1700" dirty="0">
                <a:latin typeface="Arial MT"/>
                <a:cs typeface="Arial MT"/>
              </a:rPr>
              <a:t>nd </a:t>
            </a:r>
            <a:r>
              <a:rPr sz="1700" spc="-5" dirty="0">
                <a:latin typeface="Times New Roman"/>
                <a:cs typeface="Times New Roman"/>
              </a:rPr>
              <a:t> </a:t>
            </a:r>
            <a:r>
              <a:rPr sz="1700" spc="10" dirty="0">
                <a:latin typeface="Arial MT"/>
                <a:cs typeface="Arial MT"/>
              </a:rPr>
              <a:t>statement</a:t>
            </a:r>
            <a:r>
              <a:rPr sz="1700" spc="-114" dirty="0">
                <a:latin typeface="Arial MT"/>
                <a:cs typeface="Arial MT"/>
              </a:rPr>
              <a:t> </a:t>
            </a:r>
            <a:r>
              <a:rPr sz="1700" spc="10" dirty="0">
                <a:latin typeface="Arial MT"/>
                <a:cs typeface="Arial MT"/>
              </a:rPr>
              <a:t>enclosed</a:t>
            </a:r>
            <a:r>
              <a:rPr sz="1700" spc="-150" dirty="0">
                <a:latin typeface="Arial MT"/>
                <a:cs typeface="Arial MT"/>
              </a:rPr>
              <a:t> </a:t>
            </a:r>
            <a:r>
              <a:rPr sz="1700" spc="10" dirty="0">
                <a:latin typeface="Arial MT"/>
                <a:cs typeface="Arial MT"/>
              </a:rPr>
              <a:t>in</a:t>
            </a:r>
            <a:r>
              <a:rPr sz="1700" spc="-30" dirty="0">
                <a:latin typeface="Arial MT"/>
                <a:cs typeface="Arial MT"/>
              </a:rPr>
              <a:t> </a:t>
            </a:r>
            <a:r>
              <a:rPr sz="1700" spc="5" dirty="0">
                <a:latin typeface="Arial MT"/>
                <a:cs typeface="Arial MT"/>
              </a:rPr>
              <a:t>curly</a:t>
            </a:r>
            <a:r>
              <a:rPr sz="1700" spc="-55" dirty="0">
                <a:latin typeface="Arial MT"/>
                <a:cs typeface="Arial MT"/>
              </a:rPr>
              <a:t> </a:t>
            </a:r>
            <a:r>
              <a:rPr sz="1700" spc="5" dirty="0">
                <a:latin typeface="Arial MT"/>
                <a:cs typeface="Arial MT"/>
              </a:rPr>
              <a:t>braces</a:t>
            </a:r>
            <a:r>
              <a:rPr sz="1700" spc="-60" dirty="0">
                <a:latin typeface="Arial MT"/>
                <a:cs typeface="Arial MT"/>
              </a:rPr>
              <a:t> </a:t>
            </a:r>
            <a:r>
              <a:rPr sz="1700" dirty="0">
                <a:latin typeface="Arial MT"/>
                <a:cs typeface="Arial MT"/>
              </a:rPr>
              <a:t>(</a:t>
            </a:r>
            <a:r>
              <a:rPr lang="en-US" sz="1700" dirty="0" err="1">
                <a:latin typeface="Arial MT"/>
                <a:cs typeface="Arial MT"/>
              </a:rPr>
              <a:t>ie</a:t>
            </a:r>
            <a:r>
              <a:rPr lang="en-US" sz="1700" dirty="0">
                <a:latin typeface="Arial MT"/>
                <a:cs typeface="Arial MT"/>
              </a:rPr>
              <a:t>,</a:t>
            </a:r>
            <a:r>
              <a:rPr sz="1700" spc="-70" dirty="0">
                <a:latin typeface="Arial MT"/>
                <a:cs typeface="Arial MT"/>
              </a:rPr>
              <a:t> </a:t>
            </a:r>
            <a:r>
              <a:rPr sz="1700" spc="10" dirty="0">
                <a:latin typeface="Arial MT"/>
                <a:cs typeface="Arial MT"/>
              </a:rPr>
              <a:t>a</a:t>
            </a:r>
            <a:r>
              <a:rPr sz="1700" spc="5" dirty="0">
                <a:latin typeface="Arial MT"/>
                <a:cs typeface="Arial MT"/>
              </a:rPr>
              <a:t> </a:t>
            </a:r>
            <a:r>
              <a:rPr sz="1700" spc="10" dirty="0">
                <a:latin typeface="Arial MT"/>
                <a:cs typeface="Arial MT"/>
              </a:rPr>
              <a:t>block).</a:t>
            </a:r>
            <a:endParaRPr sz="1700" dirty="0">
              <a:latin typeface="Arial MT"/>
              <a:cs typeface="Arial MT"/>
            </a:endParaRPr>
          </a:p>
          <a:p>
            <a:pPr marL="194945" marR="5080" indent="-182880">
              <a:lnSpc>
                <a:spcPct val="101899"/>
              </a:lnSpc>
              <a:spcBef>
                <a:spcPts val="359"/>
              </a:spcBef>
              <a:buChar char="•"/>
              <a:tabLst>
                <a:tab pos="195580" algn="l"/>
              </a:tabLst>
            </a:pPr>
            <a:r>
              <a:rPr sz="1700" dirty="0">
                <a:latin typeface="Arial MT"/>
                <a:cs typeface="Arial MT"/>
              </a:rPr>
              <a:t>The</a:t>
            </a:r>
            <a:r>
              <a:rPr sz="1700" spc="-35" dirty="0">
                <a:latin typeface="Arial MT"/>
                <a:cs typeface="Arial MT"/>
              </a:rPr>
              <a:t> </a:t>
            </a:r>
            <a:r>
              <a:rPr sz="1700" spc="10" dirty="0">
                <a:solidFill>
                  <a:srgbClr val="6F2F9F"/>
                </a:solidFill>
                <a:latin typeface="Arial MT"/>
                <a:cs typeface="Arial MT"/>
              </a:rPr>
              <a:t>condition</a:t>
            </a:r>
            <a:r>
              <a:rPr sz="1700" spc="-135" dirty="0">
                <a:solidFill>
                  <a:srgbClr val="6F2F9F"/>
                </a:solidFill>
                <a:latin typeface="Arial MT"/>
                <a:cs typeface="Arial MT"/>
              </a:rPr>
              <a:t> </a:t>
            </a:r>
            <a:r>
              <a:rPr sz="1700" spc="10" dirty="0">
                <a:latin typeface="Arial MT"/>
                <a:cs typeface="Arial MT"/>
              </a:rPr>
              <a:t>is</a:t>
            </a:r>
            <a:r>
              <a:rPr sz="1700" spc="-15" dirty="0">
                <a:latin typeface="Arial MT"/>
                <a:cs typeface="Arial MT"/>
              </a:rPr>
              <a:t> </a:t>
            </a:r>
            <a:r>
              <a:rPr sz="1700" spc="5" dirty="0">
                <a:latin typeface="Arial MT"/>
                <a:cs typeface="Arial MT"/>
              </a:rPr>
              <a:t>any</a:t>
            </a:r>
            <a:r>
              <a:rPr sz="1700" spc="-10" dirty="0">
                <a:latin typeface="Arial MT"/>
                <a:cs typeface="Arial MT"/>
              </a:rPr>
              <a:t> </a:t>
            </a:r>
            <a:r>
              <a:rPr sz="1700" spc="5" dirty="0">
                <a:latin typeface="Arial MT"/>
                <a:cs typeface="Arial MT"/>
              </a:rPr>
              <a:t>expression</a:t>
            </a:r>
            <a:r>
              <a:rPr sz="1700" spc="-150" dirty="0">
                <a:latin typeface="Arial MT"/>
                <a:cs typeface="Arial MT"/>
              </a:rPr>
              <a:t> </a:t>
            </a:r>
            <a:r>
              <a:rPr sz="1700" spc="5" dirty="0">
                <a:latin typeface="Arial MT"/>
                <a:cs typeface="Arial MT"/>
              </a:rPr>
              <a:t>that</a:t>
            </a:r>
            <a:r>
              <a:rPr sz="1700" spc="-30" dirty="0">
                <a:latin typeface="Arial MT"/>
                <a:cs typeface="Arial MT"/>
              </a:rPr>
              <a:t> </a:t>
            </a:r>
            <a:r>
              <a:rPr sz="1700" dirty="0">
                <a:latin typeface="Arial MT"/>
                <a:cs typeface="Arial MT"/>
              </a:rPr>
              <a:t>returns</a:t>
            </a:r>
            <a:r>
              <a:rPr sz="1700" spc="-15" dirty="0">
                <a:latin typeface="Arial MT"/>
                <a:cs typeface="Arial MT"/>
              </a:rPr>
              <a:t> </a:t>
            </a:r>
            <a:r>
              <a:rPr sz="1700" spc="10" dirty="0">
                <a:latin typeface="Arial MT"/>
                <a:cs typeface="Arial MT"/>
              </a:rPr>
              <a:t>a</a:t>
            </a:r>
            <a:r>
              <a:rPr sz="1700" spc="-30" dirty="0">
                <a:latin typeface="Arial MT"/>
                <a:cs typeface="Arial MT"/>
              </a:rPr>
              <a:t> </a:t>
            </a:r>
            <a:r>
              <a:rPr sz="1700" spc="5" dirty="0">
                <a:latin typeface="Arial MT"/>
                <a:cs typeface="Arial MT"/>
              </a:rPr>
              <a:t>boolean </a:t>
            </a:r>
            <a:r>
              <a:rPr sz="1700" spc="-459" dirty="0">
                <a:latin typeface="Arial MT"/>
                <a:cs typeface="Arial MT"/>
              </a:rPr>
              <a:t> </a:t>
            </a:r>
            <a:r>
              <a:rPr sz="1700" spc="15" dirty="0">
                <a:latin typeface="Arial MT"/>
                <a:cs typeface="Arial MT"/>
              </a:rPr>
              <a:t>value.</a:t>
            </a:r>
            <a:endParaRPr sz="1700" dirty="0">
              <a:latin typeface="Arial MT"/>
              <a:cs typeface="Arial MT"/>
            </a:endParaRPr>
          </a:p>
          <a:p>
            <a:pPr marL="194945" indent="-182880">
              <a:lnSpc>
                <a:spcPct val="100000"/>
              </a:lnSpc>
              <a:spcBef>
                <a:spcPts val="395"/>
              </a:spcBef>
              <a:buChar char="•"/>
              <a:tabLst>
                <a:tab pos="195580" algn="l"/>
              </a:tabLst>
            </a:pPr>
            <a:r>
              <a:rPr sz="1700" dirty="0">
                <a:latin typeface="Arial MT"/>
                <a:cs typeface="Arial MT"/>
              </a:rPr>
              <a:t>The</a:t>
            </a:r>
            <a:r>
              <a:rPr sz="1700" spc="-35" dirty="0">
                <a:latin typeface="Arial MT"/>
                <a:cs typeface="Arial MT"/>
              </a:rPr>
              <a:t> </a:t>
            </a:r>
            <a:r>
              <a:rPr sz="1700" spc="10" dirty="0">
                <a:solidFill>
                  <a:srgbClr val="0000CC"/>
                </a:solidFill>
                <a:latin typeface="Arial MT"/>
                <a:cs typeface="Arial MT"/>
              </a:rPr>
              <a:t>else</a:t>
            </a:r>
            <a:r>
              <a:rPr sz="1700" spc="-75" dirty="0">
                <a:solidFill>
                  <a:srgbClr val="0000CC"/>
                </a:solidFill>
                <a:latin typeface="Arial MT"/>
                <a:cs typeface="Arial MT"/>
              </a:rPr>
              <a:t> </a:t>
            </a:r>
            <a:r>
              <a:rPr sz="1700" spc="15" dirty="0">
                <a:latin typeface="Arial MT"/>
                <a:cs typeface="Arial MT"/>
              </a:rPr>
              <a:t>clause</a:t>
            </a:r>
            <a:r>
              <a:rPr sz="1700" spc="-114" dirty="0">
                <a:latin typeface="Arial MT"/>
                <a:cs typeface="Arial MT"/>
              </a:rPr>
              <a:t> </a:t>
            </a:r>
            <a:r>
              <a:rPr sz="1700" spc="10" dirty="0">
                <a:latin typeface="Arial MT"/>
                <a:cs typeface="Arial MT"/>
              </a:rPr>
              <a:t>is</a:t>
            </a:r>
            <a:r>
              <a:rPr sz="1700" spc="-25" dirty="0">
                <a:latin typeface="Arial MT"/>
                <a:cs typeface="Arial MT"/>
              </a:rPr>
              <a:t> </a:t>
            </a:r>
            <a:r>
              <a:rPr sz="1700" spc="5" dirty="0">
                <a:latin typeface="Arial MT"/>
                <a:cs typeface="Arial MT"/>
              </a:rPr>
              <a:t>optional.</a:t>
            </a:r>
            <a:endParaRPr sz="1700" dirty="0">
              <a:latin typeface="Arial MT"/>
              <a:cs typeface="Arial MT"/>
            </a:endParaRPr>
          </a:p>
        </p:txBody>
      </p:sp>
      <p:sp>
        <p:nvSpPr>
          <p:cNvPr id="11" name="object 11"/>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84400" y="268881"/>
            <a:ext cx="1900555" cy="318135"/>
          </a:xfrm>
          <a:prstGeom prst="rect">
            <a:avLst/>
          </a:prstGeom>
        </p:spPr>
        <p:txBody>
          <a:bodyPr vert="horz" wrap="square" lIns="0" tIns="14604" rIns="0" bIns="0" rtlCol="0">
            <a:spAutoFit/>
          </a:bodyPr>
          <a:lstStyle/>
          <a:p>
            <a:pPr marL="12700">
              <a:lnSpc>
                <a:spcPct val="100000"/>
              </a:lnSpc>
              <a:spcBef>
                <a:spcPts val="114"/>
              </a:spcBef>
            </a:pPr>
            <a:r>
              <a:rPr spc="65" dirty="0">
                <a:latin typeface="Times New Roman"/>
                <a:cs typeface="Times New Roman"/>
              </a:rPr>
              <a:t> </a:t>
            </a:r>
            <a:r>
              <a:rPr spc="-30" dirty="0">
                <a:solidFill>
                  <a:schemeClr val="tx1"/>
                </a:solidFill>
              </a:rPr>
              <a:t>i</a:t>
            </a:r>
            <a:r>
              <a:rPr spc="10" dirty="0">
                <a:solidFill>
                  <a:schemeClr val="tx1"/>
                </a:solidFill>
              </a:rPr>
              <a:t>f</a:t>
            </a:r>
            <a:r>
              <a:rPr spc="5" dirty="0">
                <a:solidFill>
                  <a:schemeClr val="tx1"/>
                </a:solidFill>
              </a:rPr>
              <a:t>-</a:t>
            </a:r>
            <a:r>
              <a:rPr spc="15" dirty="0">
                <a:solidFill>
                  <a:schemeClr val="tx1"/>
                </a:solidFill>
              </a:rPr>
              <a:t>e</a:t>
            </a:r>
            <a:r>
              <a:rPr spc="-30" dirty="0">
                <a:solidFill>
                  <a:schemeClr val="tx1"/>
                </a:solidFill>
              </a:rPr>
              <a:t>l</a:t>
            </a:r>
            <a:r>
              <a:rPr spc="5" dirty="0">
                <a:solidFill>
                  <a:schemeClr val="tx1"/>
                </a:solidFill>
              </a:rPr>
              <a:t>se</a:t>
            </a:r>
          </a:p>
        </p:txBody>
      </p:sp>
      <p:sp>
        <p:nvSpPr>
          <p:cNvPr id="3" name="object 3"/>
          <p:cNvSpPr txBox="1"/>
          <p:nvPr/>
        </p:nvSpPr>
        <p:spPr>
          <a:xfrm>
            <a:off x="355600" y="774700"/>
            <a:ext cx="5443855" cy="2544158"/>
          </a:xfrm>
          <a:prstGeom prst="rect">
            <a:avLst/>
          </a:prstGeom>
        </p:spPr>
        <p:txBody>
          <a:bodyPr vert="horz" wrap="square" lIns="0" tIns="12065" rIns="0" bIns="0" rtlCol="0">
            <a:spAutoFit/>
          </a:bodyPr>
          <a:lstStyle/>
          <a:p>
            <a:pPr marL="194945" marR="4271010" indent="-182880">
              <a:lnSpc>
                <a:spcPct val="119500"/>
              </a:lnSpc>
              <a:spcBef>
                <a:spcPts val="95"/>
              </a:spcBef>
            </a:pPr>
            <a:r>
              <a:rPr lang="en-US" sz="1700" u="sng" spc="-20" dirty="0">
                <a:solidFill>
                  <a:srgbClr val="0000CC"/>
                </a:solidFill>
                <a:latin typeface="Calibri"/>
                <a:cs typeface="Calibri"/>
              </a:rPr>
              <a:t>General form </a:t>
            </a:r>
          </a:p>
          <a:p>
            <a:pPr marL="194945" marR="4271010" indent="-182880">
              <a:lnSpc>
                <a:spcPct val="119500"/>
              </a:lnSpc>
              <a:spcBef>
                <a:spcPts val="95"/>
              </a:spcBef>
            </a:pPr>
            <a:r>
              <a:rPr sz="1700" spc="-20" dirty="0">
                <a:solidFill>
                  <a:srgbClr val="0000CC"/>
                </a:solidFill>
                <a:latin typeface="Calibri"/>
                <a:cs typeface="Calibri"/>
              </a:rPr>
              <a:t>if</a:t>
            </a:r>
            <a:r>
              <a:rPr sz="1700" spc="20" dirty="0">
                <a:solidFill>
                  <a:srgbClr val="0000CC"/>
                </a:solidFill>
                <a:latin typeface="Calibri"/>
                <a:cs typeface="Calibri"/>
              </a:rPr>
              <a:t> </a:t>
            </a:r>
            <a:r>
              <a:rPr sz="1700" spc="-20" dirty="0">
                <a:latin typeface="Calibri"/>
                <a:cs typeface="Calibri"/>
              </a:rPr>
              <a:t>(</a:t>
            </a:r>
            <a:r>
              <a:rPr sz="1700" spc="-20" dirty="0">
                <a:solidFill>
                  <a:srgbClr val="6F2F9F"/>
                </a:solidFill>
                <a:latin typeface="Calibri"/>
                <a:cs typeface="Calibri"/>
              </a:rPr>
              <a:t>condition</a:t>
            </a:r>
            <a:r>
              <a:rPr sz="1700" spc="-20" dirty="0">
                <a:latin typeface="Calibri"/>
                <a:cs typeface="Calibri"/>
              </a:rPr>
              <a:t>) </a:t>
            </a:r>
            <a:r>
              <a:rPr sz="1700" spc="-15" dirty="0">
                <a:latin typeface="Calibri"/>
                <a:cs typeface="Calibri"/>
              </a:rPr>
              <a:t> </a:t>
            </a:r>
            <a:r>
              <a:rPr sz="1700" spc="-70" dirty="0">
                <a:latin typeface="Calibri"/>
                <a:cs typeface="Calibri"/>
              </a:rPr>
              <a:t>s</a:t>
            </a:r>
            <a:r>
              <a:rPr sz="1700" spc="-135" dirty="0">
                <a:latin typeface="Calibri"/>
                <a:cs typeface="Calibri"/>
              </a:rPr>
              <a:t>t</a:t>
            </a:r>
            <a:r>
              <a:rPr sz="1700" spc="-105" dirty="0">
                <a:latin typeface="Calibri"/>
                <a:cs typeface="Calibri"/>
              </a:rPr>
              <a:t>a</a:t>
            </a:r>
            <a:r>
              <a:rPr sz="1700" spc="-135" dirty="0">
                <a:latin typeface="Calibri"/>
                <a:cs typeface="Calibri"/>
              </a:rPr>
              <a:t>t</a:t>
            </a:r>
            <a:r>
              <a:rPr sz="1700" spc="-95" dirty="0">
                <a:latin typeface="Calibri"/>
                <a:cs typeface="Calibri"/>
              </a:rPr>
              <a:t>e</a:t>
            </a:r>
            <a:r>
              <a:rPr sz="1700" spc="-5" dirty="0">
                <a:latin typeface="Calibri"/>
                <a:cs typeface="Calibri"/>
              </a:rPr>
              <a:t>m</a:t>
            </a:r>
            <a:r>
              <a:rPr sz="1700" spc="-95" dirty="0">
                <a:latin typeface="Calibri"/>
                <a:cs typeface="Calibri"/>
              </a:rPr>
              <a:t>e</a:t>
            </a:r>
            <a:r>
              <a:rPr sz="1700" spc="-20" dirty="0">
                <a:latin typeface="Calibri"/>
                <a:cs typeface="Calibri"/>
              </a:rPr>
              <a:t>n</a:t>
            </a:r>
            <a:r>
              <a:rPr sz="1700" spc="-135" dirty="0">
                <a:latin typeface="Calibri"/>
                <a:cs typeface="Calibri"/>
              </a:rPr>
              <a:t>t</a:t>
            </a:r>
            <a:r>
              <a:rPr sz="1700" spc="-30" dirty="0">
                <a:latin typeface="Calibri"/>
                <a:cs typeface="Calibri"/>
              </a:rPr>
              <a:t>1</a:t>
            </a:r>
            <a:r>
              <a:rPr sz="1700" spc="-50" dirty="0">
                <a:latin typeface="Calibri"/>
                <a:cs typeface="Calibri"/>
              </a:rPr>
              <a:t>;</a:t>
            </a:r>
            <a:endParaRPr sz="1700" dirty="0">
              <a:latin typeface="Calibri"/>
              <a:cs typeface="Calibri"/>
            </a:endParaRPr>
          </a:p>
          <a:p>
            <a:pPr marL="12700">
              <a:lnSpc>
                <a:spcPct val="100000"/>
              </a:lnSpc>
              <a:spcBef>
                <a:spcPts val="400"/>
              </a:spcBef>
            </a:pPr>
            <a:r>
              <a:rPr sz="1700" spc="-60" dirty="0">
                <a:solidFill>
                  <a:srgbClr val="0000CC"/>
                </a:solidFill>
                <a:latin typeface="Calibri"/>
                <a:cs typeface="Calibri"/>
              </a:rPr>
              <a:t>else</a:t>
            </a:r>
            <a:endParaRPr sz="1700" dirty="0">
              <a:latin typeface="Calibri"/>
              <a:cs typeface="Calibri"/>
            </a:endParaRPr>
          </a:p>
          <a:p>
            <a:pPr marL="194945">
              <a:lnSpc>
                <a:spcPct val="100000"/>
              </a:lnSpc>
              <a:spcBef>
                <a:spcPts val="434"/>
              </a:spcBef>
            </a:pPr>
            <a:r>
              <a:rPr sz="1700" spc="-80" dirty="0">
                <a:latin typeface="Calibri"/>
                <a:cs typeface="Calibri"/>
              </a:rPr>
              <a:t>statement2;</a:t>
            </a:r>
            <a:endParaRPr sz="1700" dirty="0">
              <a:latin typeface="Calibri"/>
              <a:cs typeface="Calibri"/>
            </a:endParaRPr>
          </a:p>
          <a:p>
            <a:pPr marL="194945" indent="-182880">
              <a:lnSpc>
                <a:spcPct val="100000"/>
              </a:lnSpc>
              <a:spcBef>
                <a:spcPts val="475"/>
              </a:spcBef>
              <a:buChar char="•"/>
              <a:tabLst>
                <a:tab pos="195580" algn="l"/>
              </a:tabLst>
            </a:pPr>
            <a:r>
              <a:rPr sz="1700" spc="5" dirty="0">
                <a:latin typeface="Arial MT"/>
                <a:cs typeface="Arial MT"/>
              </a:rPr>
              <a:t>If</a:t>
            </a:r>
            <a:r>
              <a:rPr sz="1700" spc="-40" dirty="0">
                <a:latin typeface="Arial MT"/>
                <a:cs typeface="Arial MT"/>
              </a:rPr>
              <a:t> </a:t>
            </a:r>
            <a:r>
              <a:rPr sz="1700" spc="5" dirty="0">
                <a:latin typeface="Arial MT"/>
                <a:cs typeface="Arial MT"/>
              </a:rPr>
              <a:t>the</a:t>
            </a:r>
            <a:r>
              <a:rPr sz="1700" spc="-30" dirty="0">
                <a:latin typeface="Arial MT"/>
                <a:cs typeface="Arial MT"/>
              </a:rPr>
              <a:t> </a:t>
            </a:r>
            <a:r>
              <a:rPr sz="1700" spc="10" dirty="0">
                <a:latin typeface="Arial MT"/>
                <a:cs typeface="Arial MT"/>
              </a:rPr>
              <a:t>condition</a:t>
            </a:r>
            <a:r>
              <a:rPr sz="1700" spc="-110" dirty="0">
                <a:latin typeface="Arial MT"/>
                <a:cs typeface="Arial MT"/>
              </a:rPr>
              <a:t> </a:t>
            </a:r>
            <a:r>
              <a:rPr sz="1700" spc="10" dirty="0">
                <a:latin typeface="Arial MT"/>
                <a:cs typeface="Arial MT"/>
              </a:rPr>
              <a:t>is</a:t>
            </a:r>
            <a:r>
              <a:rPr sz="1700" spc="-55" dirty="0">
                <a:latin typeface="Arial MT"/>
                <a:cs typeface="Arial MT"/>
              </a:rPr>
              <a:t> </a:t>
            </a:r>
            <a:r>
              <a:rPr sz="1700" dirty="0">
                <a:latin typeface="Arial MT"/>
                <a:cs typeface="Arial MT"/>
              </a:rPr>
              <a:t>true,</a:t>
            </a:r>
            <a:r>
              <a:rPr sz="1700" spc="-30" dirty="0">
                <a:latin typeface="Arial MT"/>
                <a:cs typeface="Arial MT"/>
              </a:rPr>
              <a:t> </a:t>
            </a:r>
            <a:r>
              <a:rPr sz="1700" spc="5" dirty="0">
                <a:latin typeface="Arial MT"/>
                <a:cs typeface="Arial MT"/>
              </a:rPr>
              <a:t>then</a:t>
            </a:r>
            <a:r>
              <a:rPr sz="1700" spc="-30" dirty="0">
                <a:latin typeface="Arial MT"/>
                <a:cs typeface="Arial MT"/>
              </a:rPr>
              <a:t> </a:t>
            </a:r>
            <a:r>
              <a:rPr sz="1700" spc="10" dirty="0">
                <a:latin typeface="Arial MT"/>
                <a:cs typeface="Arial MT"/>
              </a:rPr>
              <a:t>statement1</a:t>
            </a:r>
            <a:r>
              <a:rPr sz="1700" spc="-114" dirty="0">
                <a:latin typeface="Arial MT"/>
                <a:cs typeface="Arial MT"/>
              </a:rPr>
              <a:t> </a:t>
            </a:r>
            <a:r>
              <a:rPr sz="1700" spc="10" dirty="0">
                <a:latin typeface="Arial MT"/>
                <a:cs typeface="Arial MT"/>
              </a:rPr>
              <a:t>is</a:t>
            </a:r>
            <a:r>
              <a:rPr sz="1700" spc="-55" dirty="0">
                <a:latin typeface="Arial MT"/>
                <a:cs typeface="Arial MT"/>
              </a:rPr>
              <a:t> </a:t>
            </a:r>
            <a:r>
              <a:rPr sz="1700" spc="5" dirty="0">
                <a:latin typeface="Arial MT"/>
                <a:cs typeface="Arial MT"/>
              </a:rPr>
              <a:t>executed.</a:t>
            </a:r>
            <a:endParaRPr sz="1700" dirty="0">
              <a:latin typeface="Arial MT"/>
              <a:cs typeface="Arial MT"/>
            </a:endParaRPr>
          </a:p>
          <a:p>
            <a:pPr marL="194945" indent="-182880">
              <a:lnSpc>
                <a:spcPct val="100000"/>
              </a:lnSpc>
              <a:spcBef>
                <a:spcPts val="440"/>
              </a:spcBef>
              <a:buChar char="•"/>
              <a:tabLst>
                <a:tab pos="195580" algn="l"/>
              </a:tabLst>
            </a:pPr>
            <a:r>
              <a:rPr sz="1700" spc="-15" dirty="0">
                <a:latin typeface="Arial MT"/>
                <a:cs typeface="Arial MT"/>
              </a:rPr>
              <a:t>O</a:t>
            </a:r>
            <a:r>
              <a:rPr sz="1700" spc="5" dirty="0">
                <a:latin typeface="Arial MT"/>
                <a:cs typeface="Arial MT"/>
              </a:rPr>
              <a:t>the</a:t>
            </a:r>
            <a:r>
              <a:rPr sz="1700" spc="-10" dirty="0">
                <a:latin typeface="Arial MT"/>
                <a:cs typeface="Arial MT"/>
              </a:rPr>
              <a:t>r</a:t>
            </a:r>
            <a:r>
              <a:rPr sz="1700" spc="-75" dirty="0">
                <a:latin typeface="Arial MT"/>
                <a:cs typeface="Arial MT"/>
              </a:rPr>
              <a:t>w</a:t>
            </a:r>
            <a:r>
              <a:rPr sz="1700" spc="20" dirty="0">
                <a:latin typeface="Arial MT"/>
                <a:cs typeface="Arial MT"/>
              </a:rPr>
              <a:t>is</a:t>
            </a:r>
            <a:r>
              <a:rPr sz="1700" spc="5" dirty="0">
                <a:latin typeface="Arial MT"/>
                <a:cs typeface="Arial MT"/>
              </a:rPr>
              <a:t>e,</a:t>
            </a:r>
            <a:r>
              <a:rPr sz="1700" spc="15" dirty="0">
                <a:latin typeface="Times New Roman"/>
                <a:cs typeface="Times New Roman"/>
              </a:rPr>
              <a:t> </a:t>
            </a:r>
            <a:r>
              <a:rPr sz="1700" spc="20" dirty="0">
                <a:latin typeface="Arial MT"/>
                <a:cs typeface="Arial MT"/>
              </a:rPr>
              <a:t>s</a:t>
            </a:r>
            <a:r>
              <a:rPr sz="1700" spc="5" dirty="0">
                <a:latin typeface="Arial MT"/>
                <a:cs typeface="Arial MT"/>
              </a:rPr>
              <a:t>tat</a:t>
            </a:r>
            <a:r>
              <a:rPr sz="1700" spc="15" dirty="0">
                <a:latin typeface="Arial MT"/>
                <a:cs typeface="Arial MT"/>
              </a:rPr>
              <a:t>em</a:t>
            </a:r>
            <a:r>
              <a:rPr sz="1700" spc="5" dirty="0">
                <a:latin typeface="Arial MT"/>
                <a:cs typeface="Arial MT"/>
              </a:rPr>
              <a:t>ent2</a:t>
            </a:r>
            <a:r>
              <a:rPr sz="1700" spc="-65" dirty="0">
                <a:latin typeface="Times New Roman"/>
                <a:cs typeface="Times New Roman"/>
              </a:rPr>
              <a:t> </a:t>
            </a:r>
            <a:r>
              <a:rPr sz="1700" spc="-10" dirty="0">
                <a:latin typeface="Arial MT"/>
                <a:cs typeface="Arial MT"/>
              </a:rPr>
              <a:t>(</a:t>
            </a:r>
            <a:r>
              <a:rPr sz="1700" spc="15" dirty="0">
                <a:latin typeface="Arial MT"/>
                <a:cs typeface="Arial MT"/>
              </a:rPr>
              <a:t>i</a:t>
            </a:r>
            <a:r>
              <a:rPr sz="1700" spc="5" dirty="0">
                <a:latin typeface="Arial MT"/>
                <a:cs typeface="Arial MT"/>
              </a:rPr>
              <a:t>f</a:t>
            </a:r>
            <a:r>
              <a:rPr sz="1700" spc="10" dirty="0">
                <a:latin typeface="Times New Roman"/>
                <a:cs typeface="Times New Roman"/>
              </a:rPr>
              <a:t> </a:t>
            </a:r>
            <a:r>
              <a:rPr sz="1700" spc="15" dirty="0">
                <a:latin typeface="Arial MT"/>
                <a:cs typeface="Arial MT"/>
              </a:rPr>
              <a:t>i</a:t>
            </a:r>
            <a:r>
              <a:rPr sz="1700" spc="5" dirty="0">
                <a:latin typeface="Arial MT"/>
                <a:cs typeface="Arial MT"/>
              </a:rPr>
              <a:t>t</a:t>
            </a:r>
            <a:r>
              <a:rPr sz="1700" spc="15" dirty="0">
                <a:latin typeface="Times New Roman"/>
                <a:cs typeface="Times New Roman"/>
              </a:rPr>
              <a:t> </a:t>
            </a:r>
            <a:r>
              <a:rPr sz="1700" spc="5" dirty="0">
                <a:latin typeface="Arial MT"/>
                <a:cs typeface="Arial MT"/>
              </a:rPr>
              <a:t>e</a:t>
            </a:r>
            <a:r>
              <a:rPr sz="1700" spc="20" dirty="0">
                <a:latin typeface="Arial MT"/>
                <a:cs typeface="Arial MT"/>
              </a:rPr>
              <a:t>xis</a:t>
            </a:r>
            <a:r>
              <a:rPr sz="1700" spc="5" dirty="0">
                <a:latin typeface="Arial MT"/>
                <a:cs typeface="Arial MT"/>
              </a:rPr>
              <a:t>t</a:t>
            </a:r>
            <a:r>
              <a:rPr sz="1700" spc="20" dirty="0">
                <a:latin typeface="Arial MT"/>
                <a:cs typeface="Arial MT"/>
              </a:rPr>
              <a:t>s</a:t>
            </a:r>
            <a:r>
              <a:rPr sz="1700" spc="5" dirty="0">
                <a:latin typeface="Arial MT"/>
                <a:cs typeface="Arial MT"/>
              </a:rPr>
              <a:t>)</a:t>
            </a:r>
            <a:r>
              <a:rPr sz="1700" spc="-80" dirty="0">
                <a:latin typeface="Times New Roman"/>
                <a:cs typeface="Times New Roman"/>
              </a:rPr>
              <a:t> </a:t>
            </a:r>
            <a:r>
              <a:rPr sz="1700" spc="15" dirty="0">
                <a:latin typeface="Arial MT"/>
                <a:cs typeface="Arial MT"/>
              </a:rPr>
              <a:t>i</a:t>
            </a:r>
            <a:r>
              <a:rPr sz="1700" spc="5" dirty="0">
                <a:latin typeface="Arial MT"/>
                <a:cs typeface="Arial MT"/>
              </a:rPr>
              <a:t>s</a:t>
            </a:r>
            <a:r>
              <a:rPr sz="1700" spc="30" dirty="0">
                <a:latin typeface="Times New Roman"/>
                <a:cs typeface="Times New Roman"/>
              </a:rPr>
              <a:t> </a:t>
            </a:r>
            <a:r>
              <a:rPr sz="1700" spc="5" dirty="0">
                <a:latin typeface="Arial MT"/>
                <a:cs typeface="Arial MT"/>
              </a:rPr>
              <a:t>e</a:t>
            </a:r>
            <a:r>
              <a:rPr sz="1700" spc="20" dirty="0">
                <a:latin typeface="Arial MT"/>
                <a:cs typeface="Arial MT"/>
              </a:rPr>
              <a:t>x</a:t>
            </a:r>
            <a:r>
              <a:rPr sz="1700" spc="5" dirty="0">
                <a:latin typeface="Arial MT"/>
                <a:cs typeface="Arial MT"/>
              </a:rPr>
              <a:t>e</a:t>
            </a:r>
            <a:r>
              <a:rPr sz="1700" spc="20" dirty="0">
                <a:latin typeface="Arial MT"/>
                <a:cs typeface="Arial MT"/>
              </a:rPr>
              <a:t>c</a:t>
            </a:r>
            <a:r>
              <a:rPr sz="1700" dirty="0">
                <a:latin typeface="Arial MT"/>
                <a:cs typeface="Arial MT"/>
              </a:rPr>
              <a:t>ut</a:t>
            </a:r>
            <a:r>
              <a:rPr sz="1700" spc="10" dirty="0">
                <a:latin typeface="Arial MT"/>
                <a:cs typeface="Arial MT"/>
              </a:rPr>
              <a:t>e</a:t>
            </a:r>
            <a:r>
              <a:rPr sz="1700" dirty="0">
                <a:latin typeface="Arial MT"/>
                <a:cs typeface="Arial MT"/>
              </a:rPr>
              <a:t>d.</a:t>
            </a:r>
          </a:p>
          <a:p>
            <a:pPr marL="194945" indent="-182880">
              <a:lnSpc>
                <a:spcPct val="100000"/>
              </a:lnSpc>
              <a:spcBef>
                <a:spcPts val="400"/>
              </a:spcBef>
              <a:buChar char="•"/>
              <a:tabLst>
                <a:tab pos="195580" algn="l"/>
              </a:tabLst>
            </a:pPr>
            <a:r>
              <a:rPr sz="1700" spc="5" dirty="0">
                <a:latin typeface="Arial MT"/>
                <a:cs typeface="Arial MT"/>
              </a:rPr>
              <a:t>Both</a:t>
            </a:r>
            <a:r>
              <a:rPr sz="1700" spc="-80" dirty="0">
                <a:latin typeface="Arial MT"/>
                <a:cs typeface="Arial MT"/>
              </a:rPr>
              <a:t> </a:t>
            </a:r>
            <a:r>
              <a:rPr sz="1700" spc="10" dirty="0">
                <a:latin typeface="Arial MT"/>
                <a:cs typeface="Arial MT"/>
              </a:rPr>
              <a:t>statements</a:t>
            </a:r>
            <a:r>
              <a:rPr sz="1700" spc="-100" dirty="0">
                <a:latin typeface="Arial MT"/>
                <a:cs typeface="Arial MT"/>
              </a:rPr>
              <a:t> </a:t>
            </a:r>
            <a:r>
              <a:rPr sz="1700" spc="-10" dirty="0">
                <a:latin typeface="Arial MT"/>
                <a:cs typeface="Arial MT"/>
              </a:rPr>
              <a:t>will</a:t>
            </a:r>
            <a:r>
              <a:rPr sz="1700" spc="15" dirty="0">
                <a:latin typeface="Arial MT"/>
                <a:cs typeface="Arial MT"/>
              </a:rPr>
              <a:t> </a:t>
            </a:r>
            <a:r>
              <a:rPr sz="1700" spc="5" dirty="0">
                <a:latin typeface="Arial MT"/>
                <a:cs typeface="Arial MT"/>
              </a:rPr>
              <a:t>not</a:t>
            </a:r>
            <a:r>
              <a:rPr sz="1700" spc="-40" dirty="0">
                <a:latin typeface="Arial MT"/>
                <a:cs typeface="Arial MT"/>
              </a:rPr>
              <a:t> </a:t>
            </a:r>
            <a:r>
              <a:rPr sz="1700" spc="5" dirty="0">
                <a:latin typeface="Arial MT"/>
                <a:cs typeface="Arial MT"/>
              </a:rPr>
              <a:t>be</a:t>
            </a:r>
            <a:r>
              <a:rPr sz="1700" spc="-35" dirty="0">
                <a:latin typeface="Arial MT"/>
                <a:cs typeface="Arial MT"/>
              </a:rPr>
              <a:t> </a:t>
            </a:r>
            <a:r>
              <a:rPr sz="1700" spc="10" dirty="0">
                <a:latin typeface="Arial MT"/>
                <a:cs typeface="Arial MT"/>
              </a:rPr>
              <a:t>executed</a:t>
            </a:r>
            <a:r>
              <a:rPr sz="1700" spc="-114" dirty="0">
                <a:latin typeface="Arial MT"/>
                <a:cs typeface="Arial MT"/>
              </a:rPr>
              <a:t> </a:t>
            </a:r>
            <a:r>
              <a:rPr sz="1700" spc="5" dirty="0">
                <a:latin typeface="Arial MT"/>
                <a:cs typeface="Arial MT"/>
              </a:rPr>
              <a:t>at</a:t>
            </a:r>
            <a:r>
              <a:rPr sz="1700" spc="-40" dirty="0">
                <a:latin typeface="Arial MT"/>
                <a:cs typeface="Arial MT"/>
              </a:rPr>
              <a:t> </a:t>
            </a:r>
            <a:r>
              <a:rPr sz="1700" spc="5" dirty="0">
                <a:latin typeface="Arial MT"/>
                <a:cs typeface="Arial MT"/>
              </a:rPr>
              <a:t>the</a:t>
            </a:r>
            <a:r>
              <a:rPr sz="1700" spc="-35" dirty="0">
                <a:latin typeface="Arial MT"/>
                <a:cs typeface="Arial MT"/>
              </a:rPr>
              <a:t> </a:t>
            </a:r>
            <a:r>
              <a:rPr sz="1700" spc="15" dirty="0">
                <a:latin typeface="Arial MT"/>
                <a:cs typeface="Arial MT"/>
              </a:rPr>
              <a:t>same</a:t>
            </a:r>
            <a:r>
              <a:rPr sz="1700" spc="-80" dirty="0">
                <a:latin typeface="Arial MT"/>
                <a:cs typeface="Arial MT"/>
              </a:rPr>
              <a:t> </a:t>
            </a:r>
            <a:r>
              <a:rPr sz="1700" spc="10" dirty="0">
                <a:latin typeface="Arial MT"/>
                <a:cs typeface="Arial MT"/>
              </a:rPr>
              <a:t>time.</a:t>
            </a:r>
            <a:endParaRPr sz="1700" dirty="0">
              <a:latin typeface="Arial MT"/>
              <a:cs typeface="Arial MT"/>
            </a:endParaRPr>
          </a:p>
        </p:txBody>
      </p:sp>
      <p:sp>
        <p:nvSpPr>
          <p:cNvPr id="5" name="object 5"/>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a:spLocks noGrp="1"/>
          </p:cNvSpPr>
          <p:nvPr>
            <p:ph type="title"/>
          </p:nvPr>
        </p:nvSpPr>
        <p:spPr>
          <a:xfrm>
            <a:off x="364664" y="1208221"/>
            <a:ext cx="3188335" cy="954405"/>
          </a:xfrm>
          <a:prstGeom prst="rect">
            <a:avLst/>
          </a:prstGeom>
        </p:spPr>
        <p:txBody>
          <a:bodyPr vert="horz" wrap="square" lIns="0" tIns="62230" rIns="0" bIns="0" rtlCol="0">
            <a:spAutoFit/>
          </a:bodyPr>
          <a:lstStyle/>
          <a:p>
            <a:pPr marL="12700">
              <a:lnSpc>
                <a:spcPct val="100000"/>
              </a:lnSpc>
              <a:spcBef>
                <a:spcPts val="490"/>
              </a:spcBef>
            </a:pPr>
            <a:r>
              <a:rPr sz="1700" spc="-55" dirty="0">
                <a:solidFill>
                  <a:srgbClr val="000000"/>
                </a:solidFill>
                <a:latin typeface="Times New Roman"/>
                <a:cs typeface="Times New Roman"/>
              </a:rPr>
              <a:t>class</a:t>
            </a:r>
            <a:r>
              <a:rPr sz="1700" spc="-35" dirty="0">
                <a:solidFill>
                  <a:srgbClr val="000000"/>
                </a:solidFill>
                <a:latin typeface="Times New Roman"/>
                <a:cs typeface="Times New Roman"/>
              </a:rPr>
              <a:t> </a:t>
            </a:r>
            <a:r>
              <a:rPr sz="1700" spc="-60" dirty="0">
                <a:solidFill>
                  <a:srgbClr val="000000"/>
                </a:solidFill>
                <a:latin typeface="Times New Roman"/>
                <a:cs typeface="Times New Roman"/>
              </a:rPr>
              <a:t>Sample{</a:t>
            </a:r>
            <a:endParaRPr sz="1700">
              <a:latin typeface="Times New Roman"/>
              <a:cs typeface="Times New Roman"/>
            </a:endParaRPr>
          </a:p>
          <a:p>
            <a:pPr marL="12700" marR="5080">
              <a:lnSpc>
                <a:spcPct val="119500"/>
              </a:lnSpc>
            </a:pPr>
            <a:r>
              <a:rPr sz="1700" spc="65" dirty="0">
                <a:solidFill>
                  <a:srgbClr val="000000"/>
                </a:solidFill>
                <a:latin typeface="Times New Roman"/>
                <a:cs typeface="Times New Roman"/>
              </a:rPr>
              <a:t>p</a:t>
            </a:r>
            <a:r>
              <a:rPr sz="1700" dirty="0">
                <a:solidFill>
                  <a:srgbClr val="000000"/>
                </a:solidFill>
                <a:latin typeface="Times New Roman"/>
                <a:cs typeface="Times New Roman"/>
              </a:rPr>
              <a:t>ub</a:t>
            </a:r>
            <a:r>
              <a:rPr sz="1700" spc="-25" dirty="0">
                <a:solidFill>
                  <a:srgbClr val="000000"/>
                </a:solidFill>
                <a:latin typeface="Times New Roman"/>
                <a:cs typeface="Times New Roman"/>
              </a:rPr>
              <a:t>l</a:t>
            </a:r>
            <a:r>
              <a:rPr sz="1700" spc="-80" dirty="0">
                <a:solidFill>
                  <a:srgbClr val="000000"/>
                </a:solidFill>
                <a:latin typeface="Times New Roman"/>
                <a:cs typeface="Times New Roman"/>
              </a:rPr>
              <a:t>i</a:t>
            </a:r>
            <a:r>
              <a:rPr sz="1700" spc="-40" dirty="0">
                <a:solidFill>
                  <a:srgbClr val="000000"/>
                </a:solidFill>
                <a:latin typeface="Times New Roman"/>
                <a:cs typeface="Times New Roman"/>
              </a:rPr>
              <a:t>c</a:t>
            </a:r>
            <a:r>
              <a:rPr sz="1700" spc="-25" dirty="0">
                <a:solidFill>
                  <a:srgbClr val="000000"/>
                </a:solidFill>
                <a:latin typeface="Times New Roman"/>
                <a:cs typeface="Times New Roman"/>
              </a:rPr>
              <a:t> </a:t>
            </a:r>
            <a:r>
              <a:rPr sz="1700" spc="-65" dirty="0">
                <a:solidFill>
                  <a:srgbClr val="000000"/>
                </a:solidFill>
                <a:latin typeface="Times New Roman"/>
                <a:cs typeface="Times New Roman"/>
              </a:rPr>
              <a:t>s</a:t>
            </a:r>
            <a:r>
              <a:rPr sz="1700" spc="-40" dirty="0">
                <a:solidFill>
                  <a:srgbClr val="000000"/>
                </a:solidFill>
                <a:latin typeface="Times New Roman"/>
                <a:cs typeface="Times New Roman"/>
              </a:rPr>
              <a:t>t</a:t>
            </a:r>
            <a:r>
              <a:rPr sz="1700" spc="-45" dirty="0">
                <a:solidFill>
                  <a:srgbClr val="000000"/>
                </a:solidFill>
                <a:latin typeface="Times New Roman"/>
                <a:cs typeface="Times New Roman"/>
              </a:rPr>
              <a:t>a</a:t>
            </a:r>
            <a:r>
              <a:rPr sz="1700" spc="-40" dirty="0">
                <a:solidFill>
                  <a:srgbClr val="000000"/>
                </a:solidFill>
                <a:latin typeface="Times New Roman"/>
                <a:cs typeface="Times New Roman"/>
              </a:rPr>
              <a:t>t</a:t>
            </a:r>
            <a:r>
              <a:rPr sz="1700" spc="-80" dirty="0">
                <a:solidFill>
                  <a:srgbClr val="000000"/>
                </a:solidFill>
                <a:latin typeface="Times New Roman"/>
                <a:cs typeface="Times New Roman"/>
              </a:rPr>
              <a:t>i</a:t>
            </a:r>
            <a:r>
              <a:rPr sz="1700" spc="-40" dirty="0">
                <a:solidFill>
                  <a:srgbClr val="000000"/>
                </a:solidFill>
                <a:latin typeface="Times New Roman"/>
                <a:cs typeface="Times New Roman"/>
              </a:rPr>
              <a:t>c</a:t>
            </a:r>
            <a:r>
              <a:rPr sz="1700" spc="10" dirty="0">
                <a:solidFill>
                  <a:srgbClr val="000000"/>
                </a:solidFill>
                <a:latin typeface="Times New Roman"/>
                <a:cs typeface="Times New Roman"/>
              </a:rPr>
              <a:t> </a:t>
            </a:r>
            <a:r>
              <a:rPr sz="1700" spc="-135" dirty="0">
                <a:solidFill>
                  <a:srgbClr val="000000"/>
                </a:solidFill>
                <a:latin typeface="Times New Roman"/>
                <a:cs typeface="Times New Roman"/>
              </a:rPr>
              <a:t>v</a:t>
            </a:r>
            <a:r>
              <a:rPr sz="1700" spc="20" dirty="0">
                <a:solidFill>
                  <a:srgbClr val="000000"/>
                </a:solidFill>
                <a:latin typeface="Times New Roman"/>
                <a:cs typeface="Times New Roman"/>
              </a:rPr>
              <a:t>o</a:t>
            </a:r>
            <a:r>
              <a:rPr sz="1700" spc="-80" dirty="0">
                <a:solidFill>
                  <a:srgbClr val="000000"/>
                </a:solidFill>
                <a:latin typeface="Times New Roman"/>
                <a:cs typeface="Times New Roman"/>
              </a:rPr>
              <a:t>i</a:t>
            </a:r>
            <a:r>
              <a:rPr sz="1700" spc="50" dirty="0">
                <a:solidFill>
                  <a:srgbClr val="000000"/>
                </a:solidFill>
                <a:latin typeface="Times New Roman"/>
                <a:cs typeface="Times New Roman"/>
              </a:rPr>
              <a:t>d</a:t>
            </a:r>
            <a:r>
              <a:rPr sz="1700" spc="-15" dirty="0">
                <a:solidFill>
                  <a:srgbClr val="000000"/>
                </a:solidFill>
                <a:latin typeface="Times New Roman"/>
                <a:cs typeface="Times New Roman"/>
              </a:rPr>
              <a:t> </a:t>
            </a:r>
            <a:r>
              <a:rPr sz="1700" spc="30" dirty="0">
                <a:solidFill>
                  <a:srgbClr val="000000"/>
                </a:solidFill>
                <a:latin typeface="Times New Roman"/>
                <a:cs typeface="Times New Roman"/>
              </a:rPr>
              <a:t>m</a:t>
            </a:r>
            <a:r>
              <a:rPr sz="1700" spc="-45" dirty="0">
                <a:solidFill>
                  <a:srgbClr val="000000"/>
                </a:solidFill>
                <a:latin typeface="Times New Roman"/>
                <a:cs typeface="Times New Roman"/>
              </a:rPr>
              <a:t>a</a:t>
            </a:r>
            <a:r>
              <a:rPr sz="1700" spc="-80" dirty="0">
                <a:solidFill>
                  <a:srgbClr val="000000"/>
                </a:solidFill>
                <a:latin typeface="Times New Roman"/>
                <a:cs typeface="Times New Roman"/>
              </a:rPr>
              <a:t>i</a:t>
            </a:r>
            <a:r>
              <a:rPr sz="1700" spc="20" dirty="0">
                <a:solidFill>
                  <a:srgbClr val="000000"/>
                </a:solidFill>
                <a:latin typeface="Times New Roman"/>
                <a:cs typeface="Times New Roman"/>
              </a:rPr>
              <a:t>n</a:t>
            </a:r>
            <a:r>
              <a:rPr sz="1700" spc="-55" dirty="0">
                <a:solidFill>
                  <a:srgbClr val="000000"/>
                </a:solidFill>
                <a:latin typeface="Times New Roman"/>
                <a:cs typeface="Times New Roman"/>
              </a:rPr>
              <a:t>(</a:t>
            </a:r>
            <a:r>
              <a:rPr sz="1700" spc="-75" dirty="0">
                <a:solidFill>
                  <a:srgbClr val="000000"/>
                </a:solidFill>
                <a:latin typeface="Times New Roman"/>
                <a:cs typeface="Times New Roman"/>
              </a:rPr>
              <a:t>S</a:t>
            </a:r>
            <a:r>
              <a:rPr sz="1700" spc="-40" dirty="0">
                <a:solidFill>
                  <a:srgbClr val="000000"/>
                </a:solidFill>
                <a:latin typeface="Times New Roman"/>
                <a:cs typeface="Times New Roman"/>
              </a:rPr>
              <a:t>t</a:t>
            </a:r>
            <a:r>
              <a:rPr sz="1700" spc="-15" dirty="0">
                <a:solidFill>
                  <a:srgbClr val="000000"/>
                </a:solidFill>
                <a:latin typeface="Times New Roman"/>
                <a:cs typeface="Times New Roman"/>
              </a:rPr>
              <a:t>r</a:t>
            </a:r>
            <a:r>
              <a:rPr sz="1700" spc="-35" dirty="0">
                <a:solidFill>
                  <a:srgbClr val="000000"/>
                </a:solidFill>
                <a:latin typeface="Times New Roman"/>
                <a:cs typeface="Times New Roman"/>
              </a:rPr>
              <a:t>i</a:t>
            </a:r>
            <a:r>
              <a:rPr sz="1700" spc="20" dirty="0">
                <a:solidFill>
                  <a:srgbClr val="000000"/>
                </a:solidFill>
                <a:latin typeface="Times New Roman"/>
                <a:cs typeface="Times New Roman"/>
              </a:rPr>
              <a:t>n</a:t>
            </a:r>
            <a:r>
              <a:rPr sz="1700" spc="-145" dirty="0">
                <a:solidFill>
                  <a:srgbClr val="000000"/>
                </a:solidFill>
                <a:latin typeface="Times New Roman"/>
                <a:cs typeface="Times New Roman"/>
              </a:rPr>
              <a:t>g</a:t>
            </a:r>
            <a:r>
              <a:rPr sz="1700" spc="20" dirty="0">
                <a:solidFill>
                  <a:srgbClr val="000000"/>
                </a:solidFill>
                <a:latin typeface="Times New Roman"/>
                <a:cs typeface="Times New Roman"/>
              </a:rPr>
              <a:t> </a:t>
            </a:r>
            <a:r>
              <a:rPr sz="1700" spc="-45" dirty="0">
                <a:solidFill>
                  <a:srgbClr val="000000"/>
                </a:solidFill>
                <a:latin typeface="Times New Roman"/>
                <a:cs typeface="Times New Roman"/>
              </a:rPr>
              <a:t>ar</a:t>
            </a:r>
            <a:r>
              <a:rPr sz="1700" spc="-65" dirty="0">
                <a:solidFill>
                  <a:srgbClr val="000000"/>
                </a:solidFill>
                <a:latin typeface="Times New Roman"/>
                <a:cs typeface="Times New Roman"/>
              </a:rPr>
              <a:t>gs</a:t>
            </a:r>
            <a:r>
              <a:rPr sz="1700" spc="-55" dirty="0">
                <a:solidFill>
                  <a:srgbClr val="000000"/>
                </a:solidFill>
                <a:latin typeface="Times New Roman"/>
                <a:cs typeface="Times New Roman"/>
              </a:rPr>
              <a:t>[]</a:t>
            </a:r>
            <a:r>
              <a:rPr sz="1700" spc="-65" dirty="0">
                <a:solidFill>
                  <a:srgbClr val="000000"/>
                </a:solidFill>
                <a:latin typeface="Times New Roman"/>
                <a:cs typeface="Times New Roman"/>
              </a:rPr>
              <a:t>)</a:t>
            </a:r>
            <a:r>
              <a:rPr sz="1700" spc="-55" dirty="0">
                <a:solidFill>
                  <a:srgbClr val="000000"/>
                </a:solidFill>
                <a:latin typeface="Times New Roman"/>
                <a:cs typeface="Times New Roman"/>
              </a:rPr>
              <a:t> </a:t>
            </a:r>
            <a:r>
              <a:rPr sz="1700" spc="-215" dirty="0">
                <a:solidFill>
                  <a:srgbClr val="000000"/>
                </a:solidFill>
                <a:latin typeface="Times New Roman"/>
                <a:cs typeface="Times New Roman"/>
              </a:rPr>
              <a:t>{  </a:t>
            </a:r>
            <a:r>
              <a:rPr sz="1700" spc="-30" dirty="0">
                <a:solidFill>
                  <a:srgbClr val="000000"/>
                </a:solidFill>
                <a:latin typeface="Times New Roman"/>
                <a:cs typeface="Times New Roman"/>
              </a:rPr>
              <a:t>int</a:t>
            </a:r>
            <a:r>
              <a:rPr sz="1700" spc="-5" dirty="0">
                <a:solidFill>
                  <a:srgbClr val="000000"/>
                </a:solidFill>
                <a:latin typeface="Times New Roman"/>
                <a:cs typeface="Times New Roman"/>
              </a:rPr>
              <a:t> </a:t>
            </a:r>
            <a:r>
              <a:rPr sz="1700" spc="-50" dirty="0">
                <a:solidFill>
                  <a:srgbClr val="000000"/>
                </a:solidFill>
                <a:latin typeface="Times New Roman"/>
                <a:cs typeface="Times New Roman"/>
              </a:rPr>
              <a:t>a=5,</a:t>
            </a:r>
            <a:r>
              <a:rPr sz="1700" dirty="0">
                <a:solidFill>
                  <a:srgbClr val="000000"/>
                </a:solidFill>
                <a:latin typeface="Times New Roman"/>
                <a:cs typeface="Times New Roman"/>
              </a:rPr>
              <a:t> </a:t>
            </a:r>
            <a:r>
              <a:rPr sz="1700" spc="-50" dirty="0">
                <a:solidFill>
                  <a:srgbClr val="000000"/>
                </a:solidFill>
                <a:latin typeface="Times New Roman"/>
                <a:cs typeface="Times New Roman"/>
              </a:rPr>
              <a:t>b=3;</a:t>
            </a:r>
            <a:endParaRPr sz="1700">
              <a:latin typeface="Times New Roman"/>
              <a:cs typeface="Times New Roman"/>
            </a:endParaRPr>
          </a:p>
        </p:txBody>
      </p:sp>
      <p:sp>
        <p:nvSpPr>
          <p:cNvPr id="4" name="object 4"/>
          <p:cNvSpPr txBox="1"/>
          <p:nvPr/>
        </p:nvSpPr>
        <p:spPr>
          <a:xfrm>
            <a:off x="364664" y="2141909"/>
            <a:ext cx="2468245" cy="1893570"/>
          </a:xfrm>
          <a:prstGeom prst="rect">
            <a:avLst/>
          </a:prstGeom>
        </p:spPr>
        <p:txBody>
          <a:bodyPr vert="horz" wrap="square" lIns="0" tIns="12065" rIns="0" bIns="0" rtlCol="0">
            <a:spAutoFit/>
          </a:bodyPr>
          <a:lstStyle/>
          <a:p>
            <a:pPr marL="12700" marR="1271270">
              <a:lnSpc>
                <a:spcPct val="119500"/>
              </a:lnSpc>
              <a:spcBef>
                <a:spcPts val="95"/>
              </a:spcBef>
            </a:pPr>
            <a:r>
              <a:rPr sz="1700" spc="-80" dirty="0">
                <a:latin typeface="Times New Roman"/>
                <a:cs typeface="Times New Roman"/>
              </a:rPr>
              <a:t>i</a:t>
            </a:r>
            <a:r>
              <a:rPr sz="1700" spc="-75" dirty="0">
                <a:latin typeface="Times New Roman"/>
                <a:cs typeface="Times New Roman"/>
              </a:rPr>
              <a:t>f</a:t>
            </a:r>
            <a:r>
              <a:rPr sz="1700" spc="-65" dirty="0">
                <a:latin typeface="Times New Roman"/>
                <a:cs typeface="Times New Roman"/>
              </a:rPr>
              <a:t>(</a:t>
            </a:r>
            <a:r>
              <a:rPr sz="1700" spc="-25" dirty="0">
                <a:latin typeface="Times New Roman"/>
                <a:cs typeface="Times New Roman"/>
              </a:rPr>
              <a:t>a</a:t>
            </a:r>
            <a:r>
              <a:rPr sz="1700" spc="-5" dirty="0">
                <a:latin typeface="Times New Roman"/>
                <a:cs typeface="Times New Roman"/>
              </a:rPr>
              <a:t> </a:t>
            </a:r>
            <a:r>
              <a:rPr sz="1700" spc="-114" dirty="0">
                <a:latin typeface="Times New Roman"/>
                <a:cs typeface="Times New Roman"/>
              </a:rPr>
              <a:t>&lt;</a:t>
            </a:r>
            <a:r>
              <a:rPr sz="1700" spc="-35" dirty="0">
                <a:latin typeface="Times New Roman"/>
                <a:cs typeface="Times New Roman"/>
              </a:rPr>
              <a:t> </a:t>
            </a:r>
            <a:r>
              <a:rPr sz="1700" spc="-25" dirty="0">
                <a:latin typeface="Times New Roman"/>
                <a:cs typeface="Times New Roman"/>
              </a:rPr>
              <a:t>b</a:t>
            </a:r>
            <a:r>
              <a:rPr sz="1700" spc="-15" dirty="0">
                <a:latin typeface="Times New Roman"/>
                <a:cs typeface="Times New Roman"/>
              </a:rPr>
              <a:t>) </a:t>
            </a:r>
            <a:r>
              <a:rPr sz="1700" spc="-25" dirty="0">
                <a:latin typeface="Times New Roman"/>
                <a:cs typeface="Times New Roman"/>
              </a:rPr>
              <a:t>a</a:t>
            </a:r>
            <a:r>
              <a:rPr sz="1700" spc="-5" dirty="0">
                <a:latin typeface="Times New Roman"/>
                <a:cs typeface="Times New Roman"/>
              </a:rPr>
              <a:t> </a:t>
            </a:r>
            <a:r>
              <a:rPr sz="1700" spc="-114" dirty="0">
                <a:latin typeface="Times New Roman"/>
                <a:cs typeface="Times New Roman"/>
              </a:rPr>
              <a:t>=</a:t>
            </a:r>
            <a:r>
              <a:rPr sz="1700" spc="5" dirty="0">
                <a:latin typeface="Times New Roman"/>
                <a:cs typeface="Times New Roman"/>
              </a:rPr>
              <a:t> </a:t>
            </a:r>
            <a:r>
              <a:rPr sz="1700" spc="-15" dirty="0">
                <a:latin typeface="Times New Roman"/>
                <a:cs typeface="Times New Roman"/>
              </a:rPr>
              <a:t>0</a:t>
            </a:r>
            <a:r>
              <a:rPr sz="1700" spc="-60" dirty="0">
                <a:latin typeface="Times New Roman"/>
                <a:cs typeface="Times New Roman"/>
              </a:rPr>
              <a:t>;  </a:t>
            </a:r>
            <a:r>
              <a:rPr sz="1700" dirty="0">
                <a:latin typeface="Times New Roman"/>
                <a:cs typeface="Times New Roman"/>
              </a:rPr>
              <a:t>e</a:t>
            </a:r>
            <a:r>
              <a:rPr sz="1700" spc="-80" dirty="0">
                <a:latin typeface="Times New Roman"/>
                <a:cs typeface="Times New Roman"/>
              </a:rPr>
              <a:t>l</a:t>
            </a:r>
            <a:r>
              <a:rPr sz="1700" spc="-65" dirty="0">
                <a:latin typeface="Times New Roman"/>
                <a:cs typeface="Times New Roman"/>
              </a:rPr>
              <a:t>s</a:t>
            </a:r>
            <a:r>
              <a:rPr sz="1700" spc="20" dirty="0">
                <a:latin typeface="Times New Roman"/>
                <a:cs typeface="Times New Roman"/>
              </a:rPr>
              <a:t>e</a:t>
            </a:r>
            <a:r>
              <a:rPr sz="1700" spc="-10" dirty="0">
                <a:latin typeface="Times New Roman"/>
                <a:cs typeface="Times New Roman"/>
              </a:rPr>
              <a:t> </a:t>
            </a:r>
            <a:r>
              <a:rPr sz="1700" spc="30" dirty="0">
                <a:latin typeface="Times New Roman"/>
                <a:cs typeface="Times New Roman"/>
              </a:rPr>
              <a:t>b</a:t>
            </a:r>
            <a:r>
              <a:rPr sz="1700" spc="5" dirty="0">
                <a:latin typeface="Times New Roman"/>
                <a:cs typeface="Times New Roman"/>
              </a:rPr>
              <a:t> </a:t>
            </a:r>
            <a:r>
              <a:rPr sz="1700" spc="-114" dirty="0">
                <a:latin typeface="Times New Roman"/>
                <a:cs typeface="Times New Roman"/>
              </a:rPr>
              <a:t>=</a:t>
            </a:r>
            <a:r>
              <a:rPr sz="1700" spc="5" dirty="0">
                <a:latin typeface="Times New Roman"/>
                <a:cs typeface="Times New Roman"/>
              </a:rPr>
              <a:t> </a:t>
            </a:r>
            <a:r>
              <a:rPr sz="1700" spc="-15" dirty="0">
                <a:latin typeface="Times New Roman"/>
                <a:cs typeface="Times New Roman"/>
              </a:rPr>
              <a:t>0</a:t>
            </a:r>
            <a:r>
              <a:rPr sz="1700" spc="-65" dirty="0">
                <a:latin typeface="Times New Roman"/>
                <a:cs typeface="Times New Roman"/>
              </a:rPr>
              <a:t>;</a:t>
            </a:r>
            <a:endParaRPr sz="1700">
              <a:latin typeface="Times New Roman"/>
              <a:cs typeface="Times New Roman"/>
            </a:endParaRPr>
          </a:p>
          <a:p>
            <a:pPr marL="12700" marR="5080">
              <a:lnSpc>
                <a:spcPct val="119500"/>
              </a:lnSpc>
              <a:spcBef>
                <a:spcPts val="40"/>
              </a:spcBef>
            </a:pPr>
            <a:r>
              <a:rPr sz="1700" spc="-75" dirty="0">
                <a:latin typeface="Times New Roman"/>
                <a:cs typeface="Times New Roman"/>
              </a:rPr>
              <a:t>S</a:t>
            </a:r>
            <a:r>
              <a:rPr sz="1700" spc="-105" dirty="0">
                <a:latin typeface="Times New Roman"/>
                <a:cs typeface="Times New Roman"/>
              </a:rPr>
              <a:t>y</a:t>
            </a:r>
            <a:r>
              <a:rPr sz="1700" spc="-100" dirty="0">
                <a:latin typeface="Times New Roman"/>
                <a:cs typeface="Times New Roman"/>
              </a:rPr>
              <a:t>s</a:t>
            </a:r>
            <a:r>
              <a:rPr sz="1700" spc="-40" dirty="0">
                <a:latin typeface="Times New Roman"/>
                <a:cs typeface="Times New Roman"/>
              </a:rPr>
              <a:t>t</a:t>
            </a:r>
            <a:r>
              <a:rPr sz="1700" dirty="0">
                <a:latin typeface="Times New Roman"/>
                <a:cs typeface="Times New Roman"/>
              </a:rPr>
              <a:t>e</a:t>
            </a:r>
            <a:r>
              <a:rPr sz="1700" spc="30" dirty="0">
                <a:latin typeface="Times New Roman"/>
                <a:cs typeface="Times New Roman"/>
              </a:rPr>
              <a:t>m</a:t>
            </a:r>
            <a:r>
              <a:rPr sz="1700" spc="-35" dirty="0">
                <a:latin typeface="Times New Roman"/>
                <a:cs typeface="Times New Roman"/>
              </a:rPr>
              <a:t>.</a:t>
            </a:r>
            <a:r>
              <a:rPr sz="1700" spc="20" dirty="0">
                <a:latin typeface="Times New Roman"/>
                <a:cs typeface="Times New Roman"/>
              </a:rPr>
              <a:t>o</a:t>
            </a:r>
            <a:r>
              <a:rPr sz="1700" dirty="0">
                <a:latin typeface="Times New Roman"/>
                <a:cs typeface="Times New Roman"/>
              </a:rPr>
              <a:t>u</a:t>
            </a:r>
            <a:r>
              <a:rPr sz="1700" spc="-10" dirty="0">
                <a:latin typeface="Times New Roman"/>
                <a:cs typeface="Times New Roman"/>
              </a:rPr>
              <a:t>t</a:t>
            </a:r>
            <a:r>
              <a:rPr sz="1700" spc="-35" dirty="0">
                <a:latin typeface="Times New Roman"/>
                <a:cs typeface="Times New Roman"/>
              </a:rPr>
              <a:t>.</a:t>
            </a:r>
            <a:r>
              <a:rPr sz="1700" spc="65" dirty="0">
                <a:latin typeface="Times New Roman"/>
                <a:cs typeface="Times New Roman"/>
              </a:rPr>
              <a:t>p</a:t>
            </a:r>
            <a:r>
              <a:rPr sz="1700" spc="-15" dirty="0">
                <a:latin typeface="Times New Roman"/>
                <a:cs typeface="Times New Roman"/>
              </a:rPr>
              <a:t>r</a:t>
            </a:r>
            <a:r>
              <a:rPr sz="1700" spc="-35" dirty="0">
                <a:latin typeface="Times New Roman"/>
                <a:cs typeface="Times New Roman"/>
              </a:rPr>
              <a:t>i</a:t>
            </a:r>
            <a:r>
              <a:rPr sz="1700" spc="20" dirty="0">
                <a:latin typeface="Times New Roman"/>
                <a:cs typeface="Times New Roman"/>
              </a:rPr>
              <a:t>n</a:t>
            </a:r>
            <a:r>
              <a:rPr sz="1700" spc="-40" dirty="0">
                <a:latin typeface="Times New Roman"/>
                <a:cs typeface="Times New Roman"/>
              </a:rPr>
              <a:t>t</a:t>
            </a:r>
            <a:r>
              <a:rPr sz="1700" spc="-80" dirty="0">
                <a:latin typeface="Times New Roman"/>
                <a:cs typeface="Times New Roman"/>
              </a:rPr>
              <a:t>l</a:t>
            </a:r>
            <a:r>
              <a:rPr sz="1700" spc="20" dirty="0">
                <a:latin typeface="Times New Roman"/>
                <a:cs typeface="Times New Roman"/>
              </a:rPr>
              <a:t>n</a:t>
            </a:r>
            <a:r>
              <a:rPr sz="1700" spc="-55" dirty="0">
                <a:latin typeface="Times New Roman"/>
                <a:cs typeface="Times New Roman"/>
              </a:rPr>
              <a:t>(</a:t>
            </a:r>
            <a:r>
              <a:rPr sz="1700" spc="-280" dirty="0">
                <a:latin typeface="Times New Roman"/>
                <a:cs typeface="Times New Roman"/>
              </a:rPr>
              <a:t>"</a:t>
            </a:r>
            <a:r>
              <a:rPr sz="1700" spc="30" dirty="0">
                <a:latin typeface="Times New Roman"/>
                <a:cs typeface="Times New Roman"/>
              </a:rPr>
              <a:t> </a:t>
            </a:r>
            <a:r>
              <a:rPr sz="1700" spc="-45" dirty="0">
                <a:latin typeface="Times New Roman"/>
                <a:cs typeface="Times New Roman"/>
              </a:rPr>
              <a:t>a</a:t>
            </a:r>
            <a:r>
              <a:rPr sz="1700" spc="-125" dirty="0">
                <a:latin typeface="Times New Roman"/>
                <a:cs typeface="Times New Roman"/>
              </a:rPr>
              <a:t>=</a:t>
            </a:r>
            <a:r>
              <a:rPr sz="1700" spc="-280" dirty="0">
                <a:latin typeface="Times New Roman"/>
                <a:cs typeface="Times New Roman"/>
              </a:rPr>
              <a:t>"</a:t>
            </a:r>
            <a:r>
              <a:rPr sz="1700" spc="-10" dirty="0">
                <a:latin typeface="Times New Roman"/>
                <a:cs typeface="Times New Roman"/>
              </a:rPr>
              <a:t> </a:t>
            </a:r>
            <a:r>
              <a:rPr sz="1700" spc="-114" dirty="0">
                <a:latin typeface="Times New Roman"/>
                <a:cs typeface="Times New Roman"/>
              </a:rPr>
              <a:t>+</a:t>
            </a:r>
            <a:r>
              <a:rPr sz="1700" spc="5" dirty="0">
                <a:latin typeface="Times New Roman"/>
                <a:cs typeface="Times New Roman"/>
              </a:rPr>
              <a:t> </a:t>
            </a:r>
            <a:r>
              <a:rPr sz="1700" spc="-45" dirty="0">
                <a:latin typeface="Times New Roman"/>
                <a:cs typeface="Times New Roman"/>
              </a:rPr>
              <a:t>a</a:t>
            </a:r>
            <a:r>
              <a:rPr sz="1700" spc="-55" dirty="0">
                <a:latin typeface="Times New Roman"/>
                <a:cs typeface="Times New Roman"/>
              </a:rPr>
              <a:t>)</a:t>
            </a:r>
            <a:r>
              <a:rPr sz="1700" spc="-60" dirty="0">
                <a:latin typeface="Times New Roman"/>
                <a:cs typeface="Times New Roman"/>
              </a:rPr>
              <a:t>;  </a:t>
            </a:r>
            <a:r>
              <a:rPr sz="1700" spc="-75" dirty="0">
                <a:latin typeface="Times New Roman"/>
                <a:cs typeface="Times New Roman"/>
              </a:rPr>
              <a:t>S</a:t>
            </a:r>
            <a:r>
              <a:rPr sz="1700" spc="-105" dirty="0">
                <a:latin typeface="Times New Roman"/>
                <a:cs typeface="Times New Roman"/>
              </a:rPr>
              <a:t>y</a:t>
            </a:r>
            <a:r>
              <a:rPr sz="1700" spc="-100" dirty="0">
                <a:latin typeface="Times New Roman"/>
                <a:cs typeface="Times New Roman"/>
              </a:rPr>
              <a:t>s</a:t>
            </a:r>
            <a:r>
              <a:rPr sz="1700" spc="-40" dirty="0">
                <a:latin typeface="Times New Roman"/>
                <a:cs typeface="Times New Roman"/>
              </a:rPr>
              <a:t>t</a:t>
            </a:r>
            <a:r>
              <a:rPr sz="1700" dirty="0">
                <a:latin typeface="Times New Roman"/>
                <a:cs typeface="Times New Roman"/>
              </a:rPr>
              <a:t>e</a:t>
            </a:r>
            <a:r>
              <a:rPr sz="1700" spc="30" dirty="0">
                <a:latin typeface="Times New Roman"/>
                <a:cs typeface="Times New Roman"/>
              </a:rPr>
              <a:t>m</a:t>
            </a:r>
            <a:r>
              <a:rPr sz="1700" spc="-35" dirty="0">
                <a:latin typeface="Times New Roman"/>
                <a:cs typeface="Times New Roman"/>
              </a:rPr>
              <a:t>.</a:t>
            </a:r>
            <a:r>
              <a:rPr sz="1700" spc="20" dirty="0">
                <a:latin typeface="Times New Roman"/>
                <a:cs typeface="Times New Roman"/>
              </a:rPr>
              <a:t>o</a:t>
            </a:r>
            <a:r>
              <a:rPr sz="1700" dirty="0">
                <a:latin typeface="Times New Roman"/>
                <a:cs typeface="Times New Roman"/>
              </a:rPr>
              <a:t>u</a:t>
            </a:r>
            <a:r>
              <a:rPr sz="1700" spc="-10" dirty="0">
                <a:latin typeface="Times New Roman"/>
                <a:cs typeface="Times New Roman"/>
              </a:rPr>
              <a:t>t</a:t>
            </a:r>
            <a:r>
              <a:rPr sz="1700" spc="-35" dirty="0">
                <a:latin typeface="Times New Roman"/>
                <a:cs typeface="Times New Roman"/>
              </a:rPr>
              <a:t>.</a:t>
            </a:r>
            <a:r>
              <a:rPr sz="1700" spc="65" dirty="0">
                <a:latin typeface="Times New Roman"/>
                <a:cs typeface="Times New Roman"/>
              </a:rPr>
              <a:t>p</a:t>
            </a:r>
            <a:r>
              <a:rPr sz="1700" spc="-15" dirty="0">
                <a:latin typeface="Times New Roman"/>
                <a:cs typeface="Times New Roman"/>
              </a:rPr>
              <a:t>r</a:t>
            </a:r>
            <a:r>
              <a:rPr sz="1700" spc="-35" dirty="0">
                <a:latin typeface="Times New Roman"/>
                <a:cs typeface="Times New Roman"/>
              </a:rPr>
              <a:t>i</a:t>
            </a:r>
            <a:r>
              <a:rPr sz="1700" spc="20" dirty="0">
                <a:latin typeface="Times New Roman"/>
                <a:cs typeface="Times New Roman"/>
              </a:rPr>
              <a:t>n</a:t>
            </a:r>
            <a:r>
              <a:rPr sz="1700" spc="-40" dirty="0">
                <a:latin typeface="Times New Roman"/>
                <a:cs typeface="Times New Roman"/>
              </a:rPr>
              <a:t>t</a:t>
            </a:r>
            <a:r>
              <a:rPr sz="1700" spc="-80" dirty="0">
                <a:latin typeface="Times New Roman"/>
                <a:cs typeface="Times New Roman"/>
              </a:rPr>
              <a:t>l</a:t>
            </a:r>
            <a:r>
              <a:rPr sz="1700" spc="20" dirty="0">
                <a:latin typeface="Times New Roman"/>
                <a:cs typeface="Times New Roman"/>
              </a:rPr>
              <a:t>n</a:t>
            </a:r>
            <a:r>
              <a:rPr sz="1700" spc="-55" dirty="0">
                <a:latin typeface="Times New Roman"/>
                <a:cs typeface="Times New Roman"/>
              </a:rPr>
              <a:t>(</a:t>
            </a:r>
            <a:r>
              <a:rPr sz="1700" spc="-280" dirty="0">
                <a:latin typeface="Times New Roman"/>
                <a:cs typeface="Times New Roman"/>
              </a:rPr>
              <a:t>"</a:t>
            </a:r>
            <a:r>
              <a:rPr sz="1700" spc="30" dirty="0">
                <a:latin typeface="Times New Roman"/>
                <a:cs typeface="Times New Roman"/>
              </a:rPr>
              <a:t> </a:t>
            </a:r>
            <a:r>
              <a:rPr sz="1700" spc="-45" dirty="0">
                <a:latin typeface="Times New Roman"/>
                <a:cs typeface="Times New Roman"/>
              </a:rPr>
              <a:t>b</a:t>
            </a:r>
            <a:r>
              <a:rPr sz="1700" spc="-60" dirty="0">
                <a:latin typeface="Times New Roman"/>
                <a:cs typeface="Times New Roman"/>
              </a:rPr>
              <a:t>=</a:t>
            </a:r>
            <a:r>
              <a:rPr sz="1700" spc="-280" dirty="0">
                <a:latin typeface="Times New Roman"/>
                <a:cs typeface="Times New Roman"/>
              </a:rPr>
              <a:t>"</a:t>
            </a:r>
            <a:r>
              <a:rPr sz="1700" spc="-10" dirty="0">
                <a:latin typeface="Times New Roman"/>
                <a:cs typeface="Times New Roman"/>
              </a:rPr>
              <a:t> </a:t>
            </a:r>
            <a:r>
              <a:rPr sz="1700" spc="-114" dirty="0">
                <a:latin typeface="Times New Roman"/>
                <a:cs typeface="Times New Roman"/>
              </a:rPr>
              <a:t>+</a:t>
            </a:r>
            <a:r>
              <a:rPr sz="1700" spc="-35" dirty="0">
                <a:latin typeface="Times New Roman"/>
                <a:cs typeface="Times New Roman"/>
              </a:rPr>
              <a:t> </a:t>
            </a:r>
            <a:r>
              <a:rPr sz="1700" spc="-25" dirty="0">
                <a:latin typeface="Times New Roman"/>
                <a:cs typeface="Times New Roman"/>
              </a:rPr>
              <a:t>b</a:t>
            </a:r>
            <a:r>
              <a:rPr sz="1700" spc="-5" dirty="0">
                <a:latin typeface="Times New Roman"/>
                <a:cs typeface="Times New Roman"/>
              </a:rPr>
              <a:t>)</a:t>
            </a:r>
            <a:r>
              <a:rPr sz="1700" spc="-65" dirty="0">
                <a:latin typeface="Times New Roman"/>
                <a:cs typeface="Times New Roman"/>
              </a:rPr>
              <a:t>;</a:t>
            </a:r>
            <a:endParaRPr sz="1700">
              <a:latin typeface="Times New Roman"/>
              <a:cs typeface="Times New Roman"/>
            </a:endParaRPr>
          </a:p>
          <a:p>
            <a:pPr marL="12700">
              <a:lnSpc>
                <a:spcPct val="100000"/>
              </a:lnSpc>
              <a:spcBef>
                <a:spcPts val="434"/>
              </a:spcBef>
            </a:pPr>
            <a:r>
              <a:rPr sz="1700" spc="-315" dirty="0">
                <a:latin typeface="Times New Roman"/>
                <a:cs typeface="Times New Roman"/>
              </a:rPr>
              <a:t>}</a:t>
            </a:r>
            <a:endParaRPr sz="1700">
              <a:latin typeface="Times New Roman"/>
              <a:cs typeface="Times New Roman"/>
            </a:endParaRPr>
          </a:p>
          <a:p>
            <a:pPr marL="12700">
              <a:lnSpc>
                <a:spcPct val="100000"/>
              </a:lnSpc>
              <a:spcBef>
                <a:spcPts val="400"/>
              </a:spcBef>
            </a:pPr>
            <a:r>
              <a:rPr sz="1700" spc="-315" dirty="0">
                <a:latin typeface="Times New Roman"/>
                <a:cs typeface="Times New Roman"/>
              </a:rPr>
              <a:t>}</a:t>
            </a:r>
            <a:endParaRPr sz="1700">
              <a:latin typeface="Times New Roman"/>
              <a:cs typeface="Times New Roman"/>
            </a:endParaRPr>
          </a:p>
        </p:txBody>
      </p:sp>
      <p:grpSp>
        <p:nvGrpSpPr>
          <p:cNvPr id="6" name="object 6"/>
          <p:cNvGrpSpPr/>
          <p:nvPr/>
        </p:nvGrpSpPr>
        <p:grpSpPr>
          <a:xfrm>
            <a:off x="-1387" y="628242"/>
            <a:ext cx="6498590" cy="3660140"/>
            <a:chOff x="-1387" y="628242"/>
            <a:chExt cx="6498590" cy="3660140"/>
          </a:xfrm>
        </p:grpSpPr>
        <p:pic>
          <p:nvPicPr>
            <p:cNvPr id="7" name="object 7"/>
            <p:cNvPicPr/>
            <p:nvPr/>
          </p:nvPicPr>
          <p:blipFill>
            <a:blip r:embed="rId3" cstate="print"/>
            <a:stretch>
              <a:fillRect/>
            </a:stretch>
          </p:blipFill>
          <p:spPr>
            <a:xfrm>
              <a:off x="3194453" y="2110958"/>
              <a:ext cx="2110850" cy="785564"/>
            </a:xfrm>
            <a:prstGeom prst="rect">
              <a:avLst/>
            </a:prstGeom>
          </p:spPr>
        </p:pic>
        <p:sp>
          <p:nvSpPr>
            <p:cNvPr id="8" name="object 8"/>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570" y="633646"/>
            <a:ext cx="6487240" cy="684201"/>
          </a:xfrm>
          <a:prstGeom prst="rect">
            <a:avLst/>
          </a:prstGeom>
        </p:spPr>
      </p:pic>
      <p:sp>
        <p:nvSpPr>
          <p:cNvPr id="3" name="object 3"/>
          <p:cNvSpPr txBox="1">
            <a:spLocks noGrp="1"/>
          </p:cNvSpPr>
          <p:nvPr>
            <p:ph type="title"/>
          </p:nvPr>
        </p:nvSpPr>
        <p:spPr>
          <a:xfrm>
            <a:off x="2260600" y="726272"/>
            <a:ext cx="1131409" cy="318135"/>
          </a:xfrm>
          <a:prstGeom prst="rect">
            <a:avLst/>
          </a:prstGeom>
        </p:spPr>
        <p:txBody>
          <a:bodyPr vert="horz" wrap="square" lIns="0" tIns="14604" rIns="0" bIns="0" rtlCol="0">
            <a:spAutoFit/>
          </a:bodyPr>
          <a:lstStyle/>
          <a:p>
            <a:pPr marL="12700">
              <a:lnSpc>
                <a:spcPct val="100000"/>
              </a:lnSpc>
              <a:spcBef>
                <a:spcPts val="114"/>
              </a:spcBef>
            </a:pPr>
            <a:r>
              <a:rPr spc="5" dirty="0">
                <a:solidFill>
                  <a:schemeClr val="tx1"/>
                </a:solidFill>
              </a:rPr>
              <a:t>Nested</a:t>
            </a:r>
            <a:r>
              <a:rPr spc="-105" dirty="0">
                <a:solidFill>
                  <a:schemeClr val="tx1"/>
                </a:solidFill>
              </a:rPr>
              <a:t> </a:t>
            </a:r>
            <a:r>
              <a:rPr spc="-10" dirty="0">
                <a:solidFill>
                  <a:schemeClr val="tx1"/>
                </a:solidFill>
              </a:rPr>
              <a:t>if</a:t>
            </a:r>
          </a:p>
        </p:txBody>
      </p:sp>
      <p:sp>
        <p:nvSpPr>
          <p:cNvPr id="4" name="object 4"/>
          <p:cNvSpPr txBox="1"/>
          <p:nvPr/>
        </p:nvSpPr>
        <p:spPr>
          <a:xfrm>
            <a:off x="364664" y="1260930"/>
            <a:ext cx="6010736" cy="1085875"/>
          </a:xfrm>
          <a:prstGeom prst="rect">
            <a:avLst/>
          </a:prstGeom>
        </p:spPr>
        <p:txBody>
          <a:bodyPr vert="horz" wrap="square" lIns="0" tIns="10160" rIns="0" bIns="0" rtlCol="0">
            <a:spAutoFit/>
          </a:bodyPr>
          <a:lstStyle/>
          <a:p>
            <a:pPr marL="194945" marR="5080" indent="-182880">
              <a:lnSpc>
                <a:spcPct val="101899"/>
              </a:lnSpc>
              <a:spcBef>
                <a:spcPts val="80"/>
              </a:spcBef>
              <a:buChar char="•"/>
              <a:tabLst>
                <a:tab pos="195580" algn="l"/>
              </a:tabLst>
            </a:pPr>
            <a:r>
              <a:rPr sz="1700" spc="10" dirty="0">
                <a:latin typeface="Arial MT"/>
                <a:cs typeface="Arial MT"/>
              </a:rPr>
              <a:t>A</a:t>
            </a:r>
            <a:r>
              <a:rPr sz="1700" spc="-30" dirty="0">
                <a:latin typeface="Arial MT"/>
                <a:cs typeface="Arial MT"/>
              </a:rPr>
              <a:t> </a:t>
            </a:r>
            <a:r>
              <a:rPr sz="1700" spc="10" dirty="0">
                <a:latin typeface="Arial MT"/>
                <a:cs typeface="Arial MT"/>
              </a:rPr>
              <a:t>nested</a:t>
            </a:r>
            <a:r>
              <a:rPr sz="1700" spc="-70" dirty="0">
                <a:latin typeface="Arial MT"/>
                <a:cs typeface="Arial MT"/>
              </a:rPr>
              <a:t> </a:t>
            </a:r>
            <a:r>
              <a:rPr sz="1700" spc="10" dirty="0">
                <a:latin typeface="Arial MT"/>
                <a:cs typeface="Arial MT"/>
              </a:rPr>
              <a:t>if</a:t>
            </a:r>
            <a:r>
              <a:rPr sz="1700" spc="-35" dirty="0">
                <a:latin typeface="Arial MT"/>
                <a:cs typeface="Arial MT"/>
              </a:rPr>
              <a:t> </a:t>
            </a:r>
            <a:r>
              <a:rPr sz="1700" spc="10" dirty="0">
                <a:latin typeface="Arial MT"/>
                <a:cs typeface="Arial MT"/>
              </a:rPr>
              <a:t>is</a:t>
            </a:r>
            <a:r>
              <a:rPr sz="1700" spc="-20" dirty="0">
                <a:latin typeface="Arial MT"/>
                <a:cs typeface="Arial MT"/>
              </a:rPr>
              <a:t> </a:t>
            </a:r>
            <a:r>
              <a:rPr sz="1700" spc="5" dirty="0">
                <a:latin typeface="Arial MT"/>
                <a:cs typeface="Arial MT"/>
              </a:rPr>
              <a:t>an</a:t>
            </a:r>
            <a:r>
              <a:rPr sz="1700" spc="-30" dirty="0">
                <a:latin typeface="Arial MT"/>
                <a:cs typeface="Arial MT"/>
              </a:rPr>
              <a:t> </a:t>
            </a:r>
            <a:r>
              <a:rPr sz="1700" spc="10" dirty="0">
                <a:latin typeface="Arial MT"/>
                <a:cs typeface="Arial MT"/>
              </a:rPr>
              <a:t>if</a:t>
            </a:r>
            <a:r>
              <a:rPr sz="1700" spc="-35" dirty="0">
                <a:latin typeface="Arial MT"/>
                <a:cs typeface="Arial MT"/>
              </a:rPr>
              <a:t> </a:t>
            </a:r>
            <a:r>
              <a:rPr sz="1700" spc="10" dirty="0">
                <a:latin typeface="Arial MT"/>
                <a:cs typeface="Arial MT"/>
              </a:rPr>
              <a:t>statement</a:t>
            </a:r>
            <a:r>
              <a:rPr sz="1700" spc="-110" dirty="0">
                <a:latin typeface="Arial MT"/>
                <a:cs typeface="Arial MT"/>
              </a:rPr>
              <a:t> </a:t>
            </a:r>
            <a:r>
              <a:rPr sz="1700" spc="5" dirty="0">
                <a:latin typeface="Arial MT"/>
                <a:cs typeface="Arial MT"/>
              </a:rPr>
              <a:t>that</a:t>
            </a:r>
            <a:r>
              <a:rPr sz="1700" spc="-35" dirty="0">
                <a:latin typeface="Arial MT"/>
                <a:cs typeface="Arial MT"/>
              </a:rPr>
              <a:t> </a:t>
            </a:r>
            <a:r>
              <a:rPr sz="1700" spc="10" dirty="0">
                <a:latin typeface="Arial MT"/>
                <a:cs typeface="Arial MT"/>
              </a:rPr>
              <a:t>is</a:t>
            </a:r>
            <a:r>
              <a:rPr sz="1700" spc="-55" dirty="0">
                <a:latin typeface="Arial MT"/>
                <a:cs typeface="Arial MT"/>
              </a:rPr>
              <a:t> </a:t>
            </a:r>
            <a:r>
              <a:rPr sz="1700" spc="10" dirty="0">
                <a:latin typeface="Arial MT"/>
                <a:cs typeface="Arial MT"/>
              </a:rPr>
              <a:t>inside</a:t>
            </a:r>
            <a:r>
              <a:rPr sz="1700" spc="-70" dirty="0">
                <a:latin typeface="Arial MT"/>
                <a:cs typeface="Arial MT"/>
              </a:rPr>
              <a:t> </a:t>
            </a:r>
            <a:r>
              <a:rPr lang="en-US" sz="1700" spc="5" dirty="0">
                <a:latin typeface="Arial MT"/>
                <a:cs typeface="Arial MT"/>
              </a:rPr>
              <a:t> </a:t>
            </a:r>
            <a:r>
              <a:rPr sz="1700" spc="-455" dirty="0">
                <a:latin typeface="Arial MT"/>
                <a:cs typeface="Arial MT"/>
              </a:rPr>
              <a:t> </a:t>
            </a:r>
            <a:r>
              <a:rPr sz="1700" spc="5" dirty="0">
                <a:latin typeface="Arial MT"/>
                <a:cs typeface="Arial MT"/>
              </a:rPr>
              <a:t>another</a:t>
            </a:r>
            <a:r>
              <a:rPr sz="1700" spc="-95" dirty="0">
                <a:latin typeface="Arial MT"/>
                <a:cs typeface="Arial MT"/>
              </a:rPr>
              <a:t> </a:t>
            </a:r>
            <a:r>
              <a:rPr sz="1700" spc="10" dirty="0">
                <a:latin typeface="Arial MT"/>
                <a:cs typeface="Arial MT"/>
              </a:rPr>
              <a:t>if</a:t>
            </a:r>
            <a:r>
              <a:rPr sz="1700" spc="-40" dirty="0">
                <a:latin typeface="Arial MT"/>
                <a:cs typeface="Arial MT"/>
              </a:rPr>
              <a:t> </a:t>
            </a:r>
            <a:r>
              <a:rPr sz="1700" spc="5" dirty="0">
                <a:latin typeface="Arial MT"/>
                <a:cs typeface="Arial MT"/>
              </a:rPr>
              <a:t>or</a:t>
            </a:r>
            <a:r>
              <a:rPr sz="1700" spc="-5" dirty="0">
                <a:latin typeface="Arial MT"/>
                <a:cs typeface="Arial MT"/>
              </a:rPr>
              <a:t> </a:t>
            </a:r>
            <a:r>
              <a:rPr sz="1700" spc="10" dirty="0">
                <a:latin typeface="Arial MT"/>
                <a:cs typeface="Arial MT"/>
              </a:rPr>
              <a:t>else.</a:t>
            </a:r>
            <a:endParaRPr sz="1700" dirty="0">
              <a:latin typeface="Arial MT"/>
              <a:cs typeface="Arial MT"/>
            </a:endParaRPr>
          </a:p>
          <a:p>
            <a:pPr marL="194945" indent="-182880">
              <a:lnSpc>
                <a:spcPct val="100000"/>
              </a:lnSpc>
              <a:spcBef>
                <a:spcPts val="395"/>
              </a:spcBef>
              <a:buChar char="•"/>
              <a:tabLst>
                <a:tab pos="195580" algn="l"/>
              </a:tabLst>
            </a:pPr>
            <a:r>
              <a:rPr sz="1700" dirty="0">
                <a:latin typeface="Arial MT"/>
                <a:cs typeface="Arial MT"/>
              </a:rPr>
              <a:t>The</a:t>
            </a:r>
            <a:r>
              <a:rPr sz="1700" spc="-35" dirty="0">
                <a:latin typeface="Arial MT"/>
                <a:cs typeface="Arial MT"/>
              </a:rPr>
              <a:t> </a:t>
            </a:r>
            <a:r>
              <a:rPr sz="1700" spc="10" dirty="0">
                <a:latin typeface="Arial MT"/>
                <a:cs typeface="Arial MT"/>
              </a:rPr>
              <a:t>else</a:t>
            </a:r>
            <a:r>
              <a:rPr sz="1700" spc="-80" dirty="0">
                <a:latin typeface="Arial MT"/>
                <a:cs typeface="Arial MT"/>
              </a:rPr>
              <a:t> </a:t>
            </a:r>
            <a:r>
              <a:rPr sz="1700" spc="10" dirty="0">
                <a:latin typeface="Arial MT"/>
                <a:cs typeface="Arial MT"/>
              </a:rPr>
              <a:t>statement</a:t>
            </a:r>
            <a:r>
              <a:rPr sz="1700" spc="-114" dirty="0">
                <a:latin typeface="Arial MT"/>
                <a:cs typeface="Arial MT"/>
              </a:rPr>
              <a:t> </a:t>
            </a:r>
            <a:r>
              <a:rPr sz="1700" spc="-10" dirty="0">
                <a:latin typeface="Arial MT"/>
                <a:cs typeface="Arial MT"/>
              </a:rPr>
              <a:t>always</a:t>
            </a:r>
            <a:r>
              <a:rPr sz="1700" spc="25" dirty="0">
                <a:latin typeface="Arial MT"/>
                <a:cs typeface="Arial MT"/>
              </a:rPr>
              <a:t> </a:t>
            </a:r>
            <a:r>
              <a:rPr sz="1700" spc="5" dirty="0">
                <a:latin typeface="Arial MT"/>
                <a:cs typeface="Arial MT"/>
              </a:rPr>
              <a:t>refers</a:t>
            </a:r>
            <a:r>
              <a:rPr sz="1700" spc="-60" dirty="0">
                <a:latin typeface="Arial MT"/>
                <a:cs typeface="Arial MT"/>
              </a:rPr>
              <a:t> </a:t>
            </a:r>
            <a:r>
              <a:rPr sz="1700" spc="5" dirty="0">
                <a:latin typeface="Arial MT"/>
                <a:cs typeface="Arial MT"/>
              </a:rPr>
              <a:t>to</a:t>
            </a:r>
            <a:r>
              <a:rPr sz="1700" spc="-35" dirty="0">
                <a:latin typeface="Arial MT"/>
                <a:cs typeface="Arial MT"/>
              </a:rPr>
              <a:t> </a:t>
            </a:r>
            <a:r>
              <a:rPr sz="1700" spc="5" dirty="0">
                <a:latin typeface="Arial MT"/>
                <a:cs typeface="Arial MT"/>
              </a:rPr>
              <a:t>the</a:t>
            </a:r>
            <a:endParaRPr sz="1700" dirty="0">
              <a:latin typeface="Arial MT"/>
              <a:cs typeface="Arial MT"/>
            </a:endParaRPr>
          </a:p>
          <a:p>
            <a:pPr marL="407670" marR="140335" indent="-152400">
              <a:lnSpc>
                <a:spcPct val="103400"/>
              </a:lnSpc>
              <a:spcBef>
                <a:spcPts val="350"/>
              </a:spcBef>
            </a:pPr>
            <a:r>
              <a:rPr sz="1450" spc="15" dirty="0">
                <a:latin typeface="Arial MT"/>
                <a:cs typeface="Arial MT"/>
              </a:rPr>
              <a:t>–</a:t>
            </a:r>
            <a:r>
              <a:rPr sz="1450" spc="-35" dirty="0">
                <a:latin typeface="Arial MT"/>
                <a:cs typeface="Arial MT"/>
              </a:rPr>
              <a:t> </a:t>
            </a:r>
            <a:r>
              <a:rPr sz="1450" spc="-5" dirty="0">
                <a:latin typeface="Arial MT"/>
                <a:cs typeface="Arial MT"/>
              </a:rPr>
              <a:t>nearest</a:t>
            </a:r>
            <a:r>
              <a:rPr sz="1450" spc="145" dirty="0">
                <a:latin typeface="Arial MT"/>
                <a:cs typeface="Arial MT"/>
              </a:rPr>
              <a:t> </a:t>
            </a:r>
            <a:r>
              <a:rPr sz="1450" spc="-20" dirty="0">
                <a:latin typeface="Arial MT"/>
                <a:cs typeface="Arial MT"/>
              </a:rPr>
              <a:t>if</a:t>
            </a:r>
            <a:r>
              <a:rPr sz="1450" spc="55" dirty="0">
                <a:latin typeface="Arial MT"/>
                <a:cs typeface="Arial MT"/>
              </a:rPr>
              <a:t> </a:t>
            </a:r>
            <a:r>
              <a:rPr sz="1450" dirty="0">
                <a:latin typeface="Arial MT"/>
                <a:cs typeface="Arial MT"/>
              </a:rPr>
              <a:t>statement</a:t>
            </a:r>
            <a:r>
              <a:rPr sz="1450" spc="185" dirty="0">
                <a:latin typeface="Arial MT"/>
                <a:cs typeface="Arial MT"/>
              </a:rPr>
              <a:t> </a:t>
            </a:r>
            <a:r>
              <a:rPr sz="1450" dirty="0">
                <a:latin typeface="Arial MT"/>
                <a:cs typeface="Arial MT"/>
              </a:rPr>
              <a:t>that</a:t>
            </a:r>
            <a:r>
              <a:rPr sz="1450" spc="15" dirty="0">
                <a:latin typeface="Arial MT"/>
                <a:cs typeface="Arial MT"/>
              </a:rPr>
              <a:t> </a:t>
            </a:r>
            <a:r>
              <a:rPr sz="1450" spc="-15" dirty="0">
                <a:latin typeface="Arial MT"/>
                <a:cs typeface="Arial MT"/>
              </a:rPr>
              <a:t>is</a:t>
            </a:r>
            <a:r>
              <a:rPr sz="1450" spc="90" dirty="0">
                <a:latin typeface="Arial MT"/>
                <a:cs typeface="Arial MT"/>
              </a:rPr>
              <a:t> </a:t>
            </a:r>
            <a:r>
              <a:rPr sz="1450" spc="-5" dirty="0">
                <a:latin typeface="Arial MT"/>
                <a:cs typeface="Arial MT"/>
              </a:rPr>
              <a:t>within</a:t>
            </a:r>
            <a:r>
              <a:rPr sz="1450" spc="125" dirty="0">
                <a:latin typeface="Arial MT"/>
                <a:cs typeface="Arial MT"/>
              </a:rPr>
              <a:t> </a:t>
            </a:r>
            <a:r>
              <a:rPr sz="1450" spc="10" dirty="0">
                <a:latin typeface="Arial MT"/>
                <a:cs typeface="Arial MT"/>
              </a:rPr>
              <a:t>the </a:t>
            </a:r>
            <a:r>
              <a:rPr sz="1450" dirty="0">
                <a:latin typeface="Arial MT"/>
                <a:cs typeface="Arial MT"/>
              </a:rPr>
              <a:t>same</a:t>
            </a:r>
            <a:r>
              <a:rPr sz="1450" spc="85" dirty="0">
                <a:latin typeface="Arial MT"/>
                <a:cs typeface="Arial MT"/>
              </a:rPr>
              <a:t> </a:t>
            </a:r>
            <a:r>
              <a:rPr sz="1450" spc="10" dirty="0">
                <a:latin typeface="Arial MT"/>
                <a:cs typeface="Arial MT"/>
              </a:rPr>
              <a:t>block </a:t>
            </a:r>
            <a:r>
              <a:rPr sz="1450" dirty="0">
                <a:latin typeface="Arial MT"/>
                <a:cs typeface="Arial MT"/>
              </a:rPr>
              <a:t>as</a:t>
            </a:r>
            <a:r>
              <a:rPr sz="1450" spc="50" dirty="0">
                <a:latin typeface="Arial MT"/>
                <a:cs typeface="Arial MT"/>
              </a:rPr>
              <a:t> </a:t>
            </a:r>
            <a:r>
              <a:rPr sz="1450" spc="10" dirty="0">
                <a:latin typeface="Arial MT"/>
                <a:cs typeface="Arial MT"/>
              </a:rPr>
              <a:t>the</a:t>
            </a:r>
            <a:r>
              <a:rPr sz="1450" spc="50" dirty="0">
                <a:latin typeface="Arial MT"/>
                <a:cs typeface="Arial MT"/>
              </a:rPr>
              <a:t> </a:t>
            </a:r>
            <a:r>
              <a:rPr sz="1450" spc="-15" dirty="0">
                <a:latin typeface="Arial MT"/>
                <a:cs typeface="Arial MT"/>
              </a:rPr>
              <a:t>else </a:t>
            </a:r>
            <a:r>
              <a:rPr sz="1450" spc="-390" dirty="0">
                <a:latin typeface="Arial MT"/>
                <a:cs typeface="Arial MT"/>
              </a:rPr>
              <a:t> </a:t>
            </a:r>
            <a:r>
              <a:rPr sz="1450" spc="10" dirty="0">
                <a:latin typeface="Arial MT"/>
                <a:cs typeface="Arial MT"/>
              </a:rPr>
              <a:t>and</a:t>
            </a:r>
            <a:r>
              <a:rPr sz="1450" spc="40" dirty="0">
                <a:latin typeface="Arial MT"/>
                <a:cs typeface="Arial MT"/>
              </a:rPr>
              <a:t> </a:t>
            </a:r>
            <a:r>
              <a:rPr sz="1450" dirty="0">
                <a:latin typeface="Arial MT"/>
                <a:cs typeface="Arial MT"/>
              </a:rPr>
              <a:t>that</a:t>
            </a:r>
            <a:r>
              <a:rPr sz="1450" spc="20" dirty="0">
                <a:latin typeface="Arial MT"/>
                <a:cs typeface="Arial MT"/>
              </a:rPr>
              <a:t> </a:t>
            </a:r>
            <a:r>
              <a:rPr sz="1450" spc="-15" dirty="0">
                <a:latin typeface="Arial MT"/>
                <a:cs typeface="Arial MT"/>
              </a:rPr>
              <a:t>is</a:t>
            </a:r>
            <a:r>
              <a:rPr sz="1450" spc="90" dirty="0">
                <a:latin typeface="Arial MT"/>
                <a:cs typeface="Arial MT"/>
              </a:rPr>
              <a:t> </a:t>
            </a:r>
            <a:r>
              <a:rPr sz="1450" spc="20" dirty="0">
                <a:latin typeface="Arial MT"/>
                <a:cs typeface="Arial MT"/>
              </a:rPr>
              <a:t>not</a:t>
            </a:r>
            <a:r>
              <a:rPr sz="1450" spc="-15" dirty="0">
                <a:latin typeface="Arial MT"/>
                <a:cs typeface="Arial MT"/>
              </a:rPr>
              <a:t> </a:t>
            </a:r>
            <a:r>
              <a:rPr sz="1450" dirty="0">
                <a:latin typeface="Arial MT"/>
                <a:cs typeface="Arial MT"/>
              </a:rPr>
              <a:t>already</a:t>
            </a:r>
            <a:r>
              <a:rPr sz="1450" spc="130" dirty="0">
                <a:latin typeface="Arial MT"/>
                <a:cs typeface="Arial MT"/>
              </a:rPr>
              <a:t> </a:t>
            </a:r>
            <a:r>
              <a:rPr sz="1450" spc="-5" dirty="0">
                <a:latin typeface="Arial MT"/>
                <a:cs typeface="Arial MT"/>
              </a:rPr>
              <a:t>associated</a:t>
            </a:r>
            <a:r>
              <a:rPr sz="1450" spc="204" dirty="0">
                <a:latin typeface="Arial MT"/>
                <a:cs typeface="Arial MT"/>
              </a:rPr>
              <a:t> </a:t>
            </a:r>
            <a:r>
              <a:rPr sz="1450" spc="-5" dirty="0">
                <a:latin typeface="Arial MT"/>
                <a:cs typeface="Arial MT"/>
              </a:rPr>
              <a:t>with</a:t>
            </a:r>
            <a:r>
              <a:rPr sz="1450" spc="85" dirty="0">
                <a:latin typeface="Arial MT"/>
                <a:cs typeface="Arial MT"/>
              </a:rPr>
              <a:t> </a:t>
            </a:r>
            <a:r>
              <a:rPr sz="1450" dirty="0">
                <a:latin typeface="Arial MT"/>
                <a:cs typeface="Arial MT"/>
              </a:rPr>
              <a:t>an</a:t>
            </a:r>
            <a:r>
              <a:rPr sz="1450" spc="45" dirty="0">
                <a:latin typeface="Arial MT"/>
                <a:cs typeface="Arial MT"/>
              </a:rPr>
              <a:t> </a:t>
            </a:r>
            <a:r>
              <a:rPr sz="1450" spc="-15" dirty="0">
                <a:latin typeface="Arial MT"/>
                <a:cs typeface="Arial MT"/>
              </a:rPr>
              <a:t>else.</a:t>
            </a:r>
            <a:endParaRPr sz="1450" dirty="0">
              <a:latin typeface="Arial MT"/>
              <a:cs typeface="Arial MT"/>
            </a:endParaRPr>
          </a:p>
        </p:txBody>
      </p:sp>
      <p:sp>
        <p:nvSpPr>
          <p:cNvPr id="6" name="object 6"/>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4664" y="750829"/>
            <a:ext cx="849630" cy="898964"/>
          </a:xfrm>
          <a:prstGeom prst="rect">
            <a:avLst/>
          </a:prstGeom>
        </p:spPr>
        <p:txBody>
          <a:bodyPr vert="horz" wrap="square" lIns="0" tIns="62230" rIns="0" bIns="0" rtlCol="0">
            <a:spAutoFit/>
          </a:bodyPr>
          <a:lstStyle/>
          <a:p>
            <a:pPr marL="12700">
              <a:lnSpc>
                <a:spcPct val="100000"/>
              </a:lnSpc>
              <a:spcBef>
                <a:spcPts val="490"/>
              </a:spcBef>
            </a:pPr>
            <a:r>
              <a:rPr sz="1700" spc="-5" dirty="0">
                <a:solidFill>
                  <a:srgbClr val="000000"/>
                </a:solidFill>
                <a:latin typeface="Calibri"/>
                <a:cs typeface="Calibri"/>
              </a:rPr>
              <a:t>if(i </a:t>
            </a:r>
            <a:r>
              <a:rPr sz="1700" spc="-10" dirty="0">
                <a:solidFill>
                  <a:srgbClr val="000000"/>
                </a:solidFill>
                <a:latin typeface="Calibri"/>
                <a:cs typeface="Calibri"/>
              </a:rPr>
              <a:t>==</a:t>
            </a:r>
            <a:r>
              <a:rPr sz="1700" spc="-20" dirty="0">
                <a:solidFill>
                  <a:srgbClr val="000000"/>
                </a:solidFill>
                <a:latin typeface="Calibri"/>
                <a:cs typeface="Calibri"/>
              </a:rPr>
              <a:t> </a:t>
            </a:r>
            <a:r>
              <a:rPr sz="1700" spc="-25" dirty="0">
                <a:solidFill>
                  <a:srgbClr val="000000"/>
                </a:solidFill>
                <a:latin typeface="Calibri"/>
                <a:cs typeface="Calibri"/>
              </a:rPr>
              <a:t>10)</a:t>
            </a:r>
            <a:endParaRPr sz="1700" dirty="0">
              <a:latin typeface="Calibri"/>
              <a:cs typeface="Calibri"/>
            </a:endParaRPr>
          </a:p>
          <a:p>
            <a:pPr marL="194945">
              <a:lnSpc>
                <a:spcPct val="100000"/>
              </a:lnSpc>
              <a:spcBef>
                <a:spcPts val="400"/>
              </a:spcBef>
            </a:pPr>
            <a:r>
              <a:rPr lang="en-US" sz="1700" spc="-35" dirty="0">
                <a:solidFill>
                  <a:srgbClr val="000000"/>
                </a:solidFill>
                <a:latin typeface="Calibri"/>
                <a:cs typeface="Calibri"/>
              </a:rPr>
              <a:t>{</a:t>
            </a:r>
            <a:br>
              <a:rPr lang="en-US" sz="1700" spc="-35" dirty="0">
                <a:solidFill>
                  <a:srgbClr val="000000"/>
                </a:solidFill>
                <a:latin typeface="Calibri"/>
                <a:cs typeface="Calibri"/>
              </a:rPr>
            </a:br>
            <a:endParaRPr lang="en-US" sz="1700" dirty="0">
              <a:latin typeface="Calibri"/>
              <a:cs typeface="Calibri"/>
            </a:endParaRPr>
          </a:p>
        </p:txBody>
      </p:sp>
      <p:sp>
        <p:nvSpPr>
          <p:cNvPr id="3" name="object 3"/>
          <p:cNvSpPr txBox="1"/>
          <p:nvPr/>
        </p:nvSpPr>
        <p:spPr>
          <a:xfrm>
            <a:off x="2890435" y="1684520"/>
            <a:ext cx="2199640" cy="645160"/>
          </a:xfrm>
          <a:prstGeom prst="rect">
            <a:avLst/>
          </a:prstGeom>
        </p:spPr>
        <p:txBody>
          <a:bodyPr vert="horz" wrap="square" lIns="0" tIns="62865" rIns="0" bIns="0" rtlCol="0">
            <a:spAutoFit/>
          </a:bodyPr>
          <a:lstStyle/>
          <a:p>
            <a:pPr marL="48260">
              <a:lnSpc>
                <a:spcPct val="100000"/>
              </a:lnSpc>
              <a:spcBef>
                <a:spcPts val="495"/>
              </a:spcBef>
            </a:pPr>
            <a:r>
              <a:rPr sz="1700" spc="-145" dirty="0">
                <a:solidFill>
                  <a:srgbClr val="FF0000"/>
                </a:solidFill>
                <a:latin typeface="Calibri"/>
                <a:cs typeface="Calibri"/>
              </a:rPr>
              <a:t>/</a:t>
            </a:r>
            <a:r>
              <a:rPr sz="1700" spc="-155" dirty="0">
                <a:solidFill>
                  <a:srgbClr val="FF0000"/>
                </a:solidFill>
                <a:latin typeface="Calibri"/>
                <a:cs typeface="Calibri"/>
              </a:rPr>
              <a:t>/</a:t>
            </a:r>
            <a:r>
              <a:rPr sz="1700" spc="-15" dirty="0">
                <a:solidFill>
                  <a:srgbClr val="FF0000"/>
                </a:solidFill>
                <a:latin typeface="Times New Roman"/>
                <a:cs typeface="Times New Roman"/>
              </a:rPr>
              <a:t> </a:t>
            </a:r>
            <a:r>
              <a:rPr sz="1700" spc="-135" dirty="0">
                <a:solidFill>
                  <a:srgbClr val="FF0000"/>
                </a:solidFill>
                <a:latin typeface="Calibri"/>
                <a:cs typeface="Calibri"/>
              </a:rPr>
              <a:t>t</a:t>
            </a:r>
            <a:r>
              <a:rPr sz="1700" spc="20" dirty="0">
                <a:solidFill>
                  <a:srgbClr val="FF0000"/>
                </a:solidFill>
                <a:latin typeface="Calibri"/>
                <a:cs typeface="Calibri"/>
              </a:rPr>
              <a:t>h</a:t>
            </a:r>
            <a:r>
              <a:rPr sz="1700" spc="5" dirty="0">
                <a:solidFill>
                  <a:srgbClr val="FF0000"/>
                </a:solidFill>
                <a:latin typeface="Calibri"/>
                <a:cs typeface="Calibri"/>
              </a:rPr>
              <a:t>i</a:t>
            </a:r>
            <a:r>
              <a:rPr sz="1700" spc="-60" dirty="0">
                <a:solidFill>
                  <a:srgbClr val="FF0000"/>
                </a:solidFill>
                <a:latin typeface="Calibri"/>
                <a:cs typeface="Calibri"/>
              </a:rPr>
              <a:t>s</a:t>
            </a:r>
            <a:r>
              <a:rPr sz="1700" spc="-40" dirty="0">
                <a:solidFill>
                  <a:srgbClr val="FF0000"/>
                </a:solidFill>
                <a:latin typeface="Times New Roman"/>
                <a:cs typeface="Times New Roman"/>
              </a:rPr>
              <a:t> </a:t>
            </a:r>
            <a:r>
              <a:rPr sz="1700" spc="5" dirty="0">
                <a:solidFill>
                  <a:srgbClr val="FF0000"/>
                </a:solidFill>
                <a:latin typeface="Calibri"/>
                <a:cs typeface="Calibri"/>
              </a:rPr>
              <a:t>i</a:t>
            </a:r>
            <a:r>
              <a:rPr sz="1700" spc="-40" dirty="0">
                <a:solidFill>
                  <a:srgbClr val="FF0000"/>
                </a:solidFill>
                <a:latin typeface="Calibri"/>
                <a:cs typeface="Calibri"/>
              </a:rPr>
              <a:t>f</a:t>
            </a:r>
            <a:r>
              <a:rPr sz="1700" spc="10" dirty="0">
                <a:solidFill>
                  <a:srgbClr val="FF0000"/>
                </a:solidFill>
                <a:latin typeface="Times New Roman"/>
                <a:cs typeface="Times New Roman"/>
              </a:rPr>
              <a:t> </a:t>
            </a:r>
            <a:r>
              <a:rPr sz="1700" spc="5" dirty="0">
                <a:solidFill>
                  <a:srgbClr val="FF0000"/>
                </a:solidFill>
                <a:latin typeface="Calibri"/>
                <a:cs typeface="Calibri"/>
              </a:rPr>
              <a:t>i</a:t>
            </a:r>
            <a:r>
              <a:rPr sz="1700" spc="-60" dirty="0">
                <a:solidFill>
                  <a:srgbClr val="FF0000"/>
                </a:solidFill>
                <a:latin typeface="Calibri"/>
                <a:cs typeface="Calibri"/>
              </a:rPr>
              <a:t>s</a:t>
            </a:r>
            <a:endParaRPr sz="1700">
              <a:latin typeface="Calibri"/>
              <a:cs typeface="Calibri"/>
            </a:endParaRPr>
          </a:p>
          <a:p>
            <a:pPr marL="12700">
              <a:lnSpc>
                <a:spcPct val="100000"/>
              </a:lnSpc>
              <a:spcBef>
                <a:spcPts val="395"/>
              </a:spcBef>
            </a:pPr>
            <a:r>
              <a:rPr sz="1700" spc="-145" dirty="0">
                <a:solidFill>
                  <a:srgbClr val="0000CC"/>
                </a:solidFill>
                <a:latin typeface="Calibri"/>
                <a:cs typeface="Calibri"/>
              </a:rPr>
              <a:t>/</a:t>
            </a:r>
            <a:r>
              <a:rPr sz="1700" spc="-155" dirty="0">
                <a:solidFill>
                  <a:srgbClr val="0000CC"/>
                </a:solidFill>
                <a:latin typeface="Calibri"/>
                <a:cs typeface="Calibri"/>
              </a:rPr>
              <a:t>/</a:t>
            </a:r>
            <a:r>
              <a:rPr sz="1700" spc="-15" dirty="0">
                <a:solidFill>
                  <a:srgbClr val="0000CC"/>
                </a:solidFill>
                <a:latin typeface="Times New Roman"/>
                <a:cs typeface="Times New Roman"/>
              </a:rPr>
              <a:t> </a:t>
            </a:r>
            <a:r>
              <a:rPr sz="1700" spc="-105" dirty="0">
                <a:solidFill>
                  <a:srgbClr val="0000CC"/>
                </a:solidFill>
                <a:latin typeface="Calibri"/>
                <a:cs typeface="Calibri"/>
              </a:rPr>
              <a:t>a</a:t>
            </a:r>
            <a:r>
              <a:rPr sz="1700" spc="-70" dirty="0">
                <a:solidFill>
                  <a:srgbClr val="0000CC"/>
                </a:solidFill>
                <a:latin typeface="Calibri"/>
                <a:cs typeface="Calibri"/>
              </a:rPr>
              <a:t>ss</a:t>
            </a:r>
            <a:r>
              <a:rPr sz="1700" spc="-25" dirty="0">
                <a:solidFill>
                  <a:srgbClr val="0000CC"/>
                </a:solidFill>
                <a:latin typeface="Calibri"/>
                <a:cs typeface="Calibri"/>
              </a:rPr>
              <a:t>o</a:t>
            </a:r>
            <a:r>
              <a:rPr sz="1700" spc="10" dirty="0">
                <a:solidFill>
                  <a:srgbClr val="0000CC"/>
                </a:solidFill>
                <a:latin typeface="Calibri"/>
                <a:cs typeface="Calibri"/>
              </a:rPr>
              <a:t>c</a:t>
            </a:r>
            <a:r>
              <a:rPr sz="1700" spc="-10" dirty="0">
                <a:solidFill>
                  <a:srgbClr val="0000CC"/>
                </a:solidFill>
                <a:latin typeface="Calibri"/>
                <a:cs typeface="Calibri"/>
              </a:rPr>
              <a:t>i</a:t>
            </a:r>
            <a:r>
              <a:rPr sz="1700" spc="-105" dirty="0">
                <a:solidFill>
                  <a:srgbClr val="0000CC"/>
                </a:solidFill>
                <a:latin typeface="Calibri"/>
                <a:cs typeface="Calibri"/>
              </a:rPr>
              <a:t>a</a:t>
            </a:r>
            <a:r>
              <a:rPr sz="1700" spc="-135" dirty="0">
                <a:solidFill>
                  <a:srgbClr val="0000CC"/>
                </a:solidFill>
                <a:latin typeface="Calibri"/>
                <a:cs typeface="Calibri"/>
              </a:rPr>
              <a:t>t</a:t>
            </a:r>
            <a:r>
              <a:rPr sz="1700" spc="-95" dirty="0">
                <a:solidFill>
                  <a:srgbClr val="0000CC"/>
                </a:solidFill>
                <a:latin typeface="Calibri"/>
                <a:cs typeface="Calibri"/>
              </a:rPr>
              <a:t>e</a:t>
            </a:r>
            <a:r>
              <a:rPr sz="1700" spc="5" dirty="0">
                <a:solidFill>
                  <a:srgbClr val="0000CC"/>
                </a:solidFill>
                <a:latin typeface="Calibri"/>
                <a:cs typeface="Calibri"/>
              </a:rPr>
              <a:t>d</a:t>
            </a:r>
            <a:r>
              <a:rPr sz="1700" spc="25" dirty="0">
                <a:solidFill>
                  <a:srgbClr val="0000CC"/>
                </a:solidFill>
                <a:latin typeface="Times New Roman"/>
                <a:cs typeface="Times New Roman"/>
              </a:rPr>
              <a:t> </a:t>
            </a:r>
            <a:r>
              <a:rPr sz="1700" spc="-185" dirty="0">
                <a:solidFill>
                  <a:srgbClr val="0000CC"/>
                </a:solidFill>
                <a:latin typeface="Calibri"/>
                <a:cs typeface="Calibri"/>
              </a:rPr>
              <a:t>w</a:t>
            </a:r>
            <a:r>
              <a:rPr sz="1700" spc="5" dirty="0">
                <a:solidFill>
                  <a:srgbClr val="0000CC"/>
                </a:solidFill>
                <a:latin typeface="Calibri"/>
                <a:cs typeface="Calibri"/>
              </a:rPr>
              <a:t>i</a:t>
            </a:r>
            <a:r>
              <a:rPr sz="1700" spc="-135" dirty="0">
                <a:solidFill>
                  <a:srgbClr val="0000CC"/>
                </a:solidFill>
                <a:latin typeface="Calibri"/>
                <a:cs typeface="Calibri"/>
              </a:rPr>
              <a:t>t</a:t>
            </a:r>
            <a:r>
              <a:rPr sz="1700" spc="5" dirty="0">
                <a:solidFill>
                  <a:srgbClr val="0000CC"/>
                </a:solidFill>
                <a:latin typeface="Calibri"/>
                <a:cs typeface="Calibri"/>
              </a:rPr>
              <a:t>h</a:t>
            </a:r>
            <a:r>
              <a:rPr sz="1700" spc="-15" dirty="0">
                <a:solidFill>
                  <a:srgbClr val="0000CC"/>
                </a:solidFill>
                <a:latin typeface="Times New Roman"/>
                <a:cs typeface="Times New Roman"/>
              </a:rPr>
              <a:t> </a:t>
            </a:r>
            <a:r>
              <a:rPr sz="1700" spc="-135" dirty="0">
                <a:solidFill>
                  <a:srgbClr val="0000CC"/>
                </a:solidFill>
                <a:latin typeface="Calibri"/>
                <a:cs typeface="Calibri"/>
              </a:rPr>
              <a:t>t</a:t>
            </a:r>
            <a:r>
              <a:rPr sz="1700" spc="20" dirty="0">
                <a:solidFill>
                  <a:srgbClr val="0000CC"/>
                </a:solidFill>
                <a:latin typeface="Calibri"/>
                <a:cs typeface="Calibri"/>
              </a:rPr>
              <a:t>h</a:t>
            </a:r>
            <a:r>
              <a:rPr sz="1700" spc="5" dirty="0">
                <a:solidFill>
                  <a:srgbClr val="0000CC"/>
                </a:solidFill>
                <a:latin typeface="Calibri"/>
                <a:cs typeface="Calibri"/>
              </a:rPr>
              <a:t>i</a:t>
            </a:r>
            <a:r>
              <a:rPr sz="1700" spc="-60" dirty="0">
                <a:solidFill>
                  <a:srgbClr val="0000CC"/>
                </a:solidFill>
                <a:latin typeface="Calibri"/>
                <a:cs typeface="Calibri"/>
              </a:rPr>
              <a:t>s</a:t>
            </a:r>
            <a:r>
              <a:rPr sz="1700" dirty="0">
                <a:solidFill>
                  <a:srgbClr val="0000CC"/>
                </a:solidFill>
                <a:latin typeface="Times New Roman"/>
                <a:cs typeface="Times New Roman"/>
              </a:rPr>
              <a:t> </a:t>
            </a:r>
            <a:r>
              <a:rPr sz="1700" spc="-95" dirty="0">
                <a:solidFill>
                  <a:srgbClr val="0000CC"/>
                </a:solidFill>
                <a:latin typeface="Calibri"/>
                <a:cs typeface="Calibri"/>
              </a:rPr>
              <a:t>e</a:t>
            </a:r>
            <a:r>
              <a:rPr sz="1700" spc="5" dirty="0">
                <a:solidFill>
                  <a:srgbClr val="0000CC"/>
                </a:solidFill>
                <a:latin typeface="Calibri"/>
                <a:cs typeface="Calibri"/>
              </a:rPr>
              <a:t>l</a:t>
            </a:r>
            <a:r>
              <a:rPr sz="1700" spc="-70" dirty="0">
                <a:solidFill>
                  <a:srgbClr val="0000CC"/>
                </a:solidFill>
                <a:latin typeface="Calibri"/>
                <a:cs typeface="Calibri"/>
              </a:rPr>
              <a:t>s</a:t>
            </a:r>
            <a:r>
              <a:rPr sz="1700" spc="-75" dirty="0">
                <a:solidFill>
                  <a:srgbClr val="0000CC"/>
                </a:solidFill>
                <a:latin typeface="Calibri"/>
                <a:cs typeface="Calibri"/>
              </a:rPr>
              <a:t>e</a:t>
            </a:r>
            <a:endParaRPr sz="1700">
              <a:latin typeface="Calibri"/>
              <a:cs typeface="Calibri"/>
            </a:endParaRPr>
          </a:p>
        </p:txBody>
      </p:sp>
      <p:sp>
        <p:nvSpPr>
          <p:cNvPr id="4" name="object 4"/>
          <p:cNvSpPr txBox="1"/>
          <p:nvPr/>
        </p:nvSpPr>
        <p:spPr>
          <a:xfrm>
            <a:off x="364664" y="1365027"/>
            <a:ext cx="1617345" cy="1278890"/>
          </a:xfrm>
          <a:prstGeom prst="rect">
            <a:avLst/>
          </a:prstGeom>
        </p:spPr>
        <p:txBody>
          <a:bodyPr vert="horz" wrap="square" lIns="0" tIns="14605" rIns="0" bIns="0" rtlCol="0">
            <a:spAutoFit/>
          </a:bodyPr>
          <a:lstStyle/>
          <a:p>
            <a:pPr marL="194945" marR="5080">
              <a:lnSpc>
                <a:spcPct val="120500"/>
              </a:lnSpc>
              <a:spcBef>
                <a:spcPts val="115"/>
              </a:spcBef>
            </a:pPr>
            <a:r>
              <a:rPr sz="1700" spc="-20" dirty="0">
                <a:latin typeface="Calibri"/>
                <a:cs typeface="Calibri"/>
              </a:rPr>
              <a:t>if(j </a:t>
            </a:r>
            <a:r>
              <a:rPr sz="1700" spc="-5" dirty="0">
                <a:latin typeface="Calibri"/>
                <a:cs typeface="Calibri"/>
              </a:rPr>
              <a:t>&lt; </a:t>
            </a:r>
            <a:r>
              <a:rPr sz="1700" spc="-25" dirty="0">
                <a:latin typeface="Calibri"/>
                <a:cs typeface="Calibri"/>
              </a:rPr>
              <a:t>20) </a:t>
            </a:r>
            <a:r>
              <a:rPr sz="1700" spc="-85" dirty="0">
                <a:latin typeface="Calibri"/>
                <a:cs typeface="Calibri"/>
              </a:rPr>
              <a:t>a</a:t>
            </a:r>
            <a:r>
              <a:rPr sz="1700" spc="-80" dirty="0">
                <a:latin typeface="Calibri"/>
                <a:cs typeface="Calibri"/>
              </a:rPr>
              <a:t> </a:t>
            </a:r>
            <a:r>
              <a:rPr sz="1700" spc="-5" dirty="0">
                <a:latin typeface="Calibri"/>
                <a:cs typeface="Calibri"/>
              </a:rPr>
              <a:t>= </a:t>
            </a:r>
            <a:r>
              <a:rPr sz="1700" spc="-35" dirty="0">
                <a:latin typeface="Calibri"/>
                <a:cs typeface="Calibri"/>
              </a:rPr>
              <a:t>b; </a:t>
            </a:r>
            <a:r>
              <a:rPr sz="1700" spc="-30" dirty="0">
                <a:latin typeface="Calibri"/>
                <a:cs typeface="Calibri"/>
              </a:rPr>
              <a:t> </a:t>
            </a:r>
            <a:r>
              <a:rPr sz="1700" spc="10" dirty="0">
                <a:solidFill>
                  <a:srgbClr val="FF0000"/>
                </a:solidFill>
                <a:latin typeface="Calibri"/>
                <a:cs typeface="Calibri"/>
              </a:rPr>
              <a:t>if(k</a:t>
            </a:r>
            <a:r>
              <a:rPr sz="1700" spc="15" dirty="0">
                <a:solidFill>
                  <a:srgbClr val="FF0000"/>
                </a:solidFill>
                <a:latin typeface="Calibri"/>
                <a:cs typeface="Calibri"/>
              </a:rPr>
              <a:t> </a:t>
            </a:r>
            <a:r>
              <a:rPr sz="1700" spc="-5" dirty="0">
                <a:solidFill>
                  <a:srgbClr val="FF0000"/>
                </a:solidFill>
                <a:latin typeface="Calibri"/>
                <a:cs typeface="Calibri"/>
              </a:rPr>
              <a:t>&gt; </a:t>
            </a:r>
            <a:r>
              <a:rPr sz="1700" spc="-25" dirty="0">
                <a:solidFill>
                  <a:srgbClr val="FF0000"/>
                </a:solidFill>
                <a:latin typeface="Calibri"/>
                <a:cs typeface="Calibri"/>
              </a:rPr>
              <a:t>100)</a:t>
            </a:r>
            <a:r>
              <a:rPr sz="1700" spc="45" dirty="0">
                <a:solidFill>
                  <a:srgbClr val="FF0000"/>
                </a:solidFill>
                <a:latin typeface="Calibri"/>
                <a:cs typeface="Calibri"/>
              </a:rPr>
              <a:t> </a:t>
            </a:r>
            <a:r>
              <a:rPr sz="1700" spc="-5" dirty="0">
                <a:solidFill>
                  <a:srgbClr val="FF0000"/>
                </a:solidFill>
                <a:latin typeface="Calibri"/>
                <a:cs typeface="Calibri"/>
              </a:rPr>
              <a:t>c</a:t>
            </a:r>
            <a:r>
              <a:rPr sz="1700" spc="5" dirty="0">
                <a:solidFill>
                  <a:srgbClr val="FF0000"/>
                </a:solidFill>
                <a:latin typeface="Calibri"/>
                <a:cs typeface="Calibri"/>
              </a:rPr>
              <a:t> </a:t>
            </a:r>
            <a:r>
              <a:rPr sz="1700" spc="-5" dirty="0">
                <a:solidFill>
                  <a:srgbClr val="FF0000"/>
                </a:solidFill>
                <a:latin typeface="Calibri"/>
                <a:cs typeface="Calibri"/>
              </a:rPr>
              <a:t>=</a:t>
            </a:r>
            <a:r>
              <a:rPr sz="1700" spc="35" dirty="0">
                <a:solidFill>
                  <a:srgbClr val="FF0000"/>
                </a:solidFill>
                <a:latin typeface="Calibri"/>
                <a:cs typeface="Calibri"/>
              </a:rPr>
              <a:t> </a:t>
            </a:r>
            <a:r>
              <a:rPr sz="1700" spc="-15" dirty="0">
                <a:solidFill>
                  <a:srgbClr val="FF0000"/>
                </a:solidFill>
                <a:latin typeface="Calibri"/>
                <a:cs typeface="Calibri"/>
              </a:rPr>
              <a:t>d; </a:t>
            </a:r>
            <a:r>
              <a:rPr sz="1700" spc="-370" dirty="0">
                <a:solidFill>
                  <a:srgbClr val="FF0000"/>
                </a:solidFill>
                <a:latin typeface="Calibri"/>
                <a:cs typeface="Calibri"/>
              </a:rPr>
              <a:t> </a:t>
            </a:r>
            <a:r>
              <a:rPr sz="1700" spc="-60" dirty="0">
                <a:solidFill>
                  <a:srgbClr val="FF0000"/>
                </a:solidFill>
                <a:latin typeface="Calibri"/>
                <a:cs typeface="Calibri"/>
              </a:rPr>
              <a:t>else</a:t>
            </a:r>
            <a:r>
              <a:rPr sz="1700" spc="25" dirty="0">
                <a:solidFill>
                  <a:srgbClr val="FF0000"/>
                </a:solidFill>
                <a:latin typeface="Calibri"/>
                <a:cs typeface="Calibri"/>
              </a:rPr>
              <a:t> </a:t>
            </a:r>
            <a:r>
              <a:rPr sz="1700" spc="-85" dirty="0">
                <a:solidFill>
                  <a:srgbClr val="FF0000"/>
                </a:solidFill>
                <a:latin typeface="Calibri"/>
                <a:cs typeface="Calibri"/>
              </a:rPr>
              <a:t>a</a:t>
            </a:r>
            <a:r>
              <a:rPr sz="1700" spc="30" dirty="0">
                <a:solidFill>
                  <a:srgbClr val="FF0000"/>
                </a:solidFill>
                <a:latin typeface="Calibri"/>
                <a:cs typeface="Calibri"/>
              </a:rPr>
              <a:t> </a:t>
            </a:r>
            <a:r>
              <a:rPr sz="1700" spc="-5" dirty="0">
                <a:solidFill>
                  <a:srgbClr val="FF0000"/>
                </a:solidFill>
                <a:latin typeface="Calibri"/>
                <a:cs typeface="Calibri"/>
              </a:rPr>
              <a:t>=</a:t>
            </a:r>
            <a:r>
              <a:rPr sz="1700" spc="40" dirty="0">
                <a:solidFill>
                  <a:srgbClr val="FF0000"/>
                </a:solidFill>
                <a:latin typeface="Calibri"/>
                <a:cs typeface="Calibri"/>
              </a:rPr>
              <a:t> </a:t>
            </a:r>
            <a:r>
              <a:rPr sz="1700" spc="-25" dirty="0">
                <a:solidFill>
                  <a:srgbClr val="FF0000"/>
                </a:solidFill>
                <a:latin typeface="Calibri"/>
                <a:cs typeface="Calibri"/>
              </a:rPr>
              <a:t>c;</a:t>
            </a:r>
            <a:endParaRPr sz="1700" dirty="0">
              <a:latin typeface="Calibri"/>
              <a:cs typeface="Calibri"/>
            </a:endParaRPr>
          </a:p>
          <a:p>
            <a:pPr marL="12700">
              <a:lnSpc>
                <a:spcPct val="100000"/>
              </a:lnSpc>
              <a:spcBef>
                <a:spcPts val="434"/>
              </a:spcBef>
            </a:pPr>
            <a:r>
              <a:rPr sz="1700" spc="-35" dirty="0">
                <a:latin typeface="Calibri"/>
                <a:cs typeface="Calibri"/>
              </a:rPr>
              <a:t>}</a:t>
            </a:r>
            <a:endParaRPr sz="1700" dirty="0">
              <a:latin typeface="Calibri"/>
              <a:cs typeface="Calibri"/>
            </a:endParaRPr>
          </a:p>
        </p:txBody>
      </p:sp>
      <p:sp>
        <p:nvSpPr>
          <p:cNvPr id="5" name="object 5"/>
          <p:cNvSpPr txBox="1"/>
          <p:nvPr/>
        </p:nvSpPr>
        <p:spPr>
          <a:xfrm>
            <a:off x="364664" y="2666117"/>
            <a:ext cx="3421379" cy="287655"/>
          </a:xfrm>
          <a:prstGeom prst="rect">
            <a:avLst/>
          </a:prstGeom>
        </p:spPr>
        <p:txBody>
          <a:bodyPr vert="horz" wrap="square" lIns="0" tIns="14604" rIns="0" bIns="0" rtlCol="0">
            <a:spAutoFit/>
          </a:bodyPr>
          <a:lstStyle/>
          <a:p>
            <a:pPr marL="12700">
              <a:lnSpc>
                <a:spcPct val="100000"/>
              </a:lnSpc>
              <a:spcBef>
                <a:spcPts val="114"/>
              </a:spcBef>
            </a:pPr>
            <a:r>
              <a:rPr sz="1700" spc="-60" dirty="0">
                <a:latin typeface="Calibri"/>
                <a:cs typeface="Calibri"/>
              </a:rPr>
              <a:t>else</a:t>
            </a:r>
            <a:r>
              <a:rPr sz="1700" spc="30" dirty="0">
                <a:latin typeface="Calibri"/>
                <a:cs typeface="Calibri"/>
              </a:rPr>
              <a:t> </a:t>
            </a:r>
            <a:r>
              <a:rPr sz="1700" spc="-85" dirty="0">
                <a:latin typeface="Calibri"/>
                <a:cs typeface="Calibri"/>
              </a:rPr>
              <a:t>a</a:t>
            </a:r>
            <a:r>
              <a:rPr sz="1700" spc="35" dirty="0">
                <a:latin typeface="Calibri"/>
                <a:cs typeface="Calibri"/>
              </a:rPr>
              <a:t> </a:t>
            </a:r>
            <a:r>
              <a:rPr sz="1700" spc="-5" dirty="0">
                <a:latin typeface="Calibri"/>
                <a:cs typeface="Calibri"/>
              </a:rPr>
              <a:t>=</a:t>
            </a:r>
            <a:r>
              <a:rPr sz="1700" spc="50" dirty="0">
                <a:latin typeface="Calibri"/>
                <a:cs typeface="Calibri"/>
              </a:rPr>
              <a:t> </a:t>
            </a:r>
            <a:r>
              <a:rPr sz="1700" spc="-15" dirty="0">
                <a:latin typeface="Calibri"/>
                <a:cs typeface="Calibri"/>
              </a:rPr>
              <a:t>d;</a:t>
            </a:r>
            <a:r>
              <a:rPr sz="1700" dirty="0">
                <a:latin typeface="Calibri"/>
                <a:cs typeface="Calibri"/>
              </a:rPr>
              <a:t> </a:t>
            </a:r>
            <a:r>
              <a:rPr sz="1700" spc="-150" dirty="0">
                <a:latin typeface="Calibri"/>
                <a:cs typeface="Calibri"/>
              </a:rPr>
              <a:t>//</a:t>
            </a:r>
            <a:r>
              <a:rPr sz="1700" spc="25" dirty="0">
                <a:latin typeface="Calibri"/>
                <a:cs typeface="Calibri"/>
              </a:rPr>
              <a:t> </a:t>
            </a:r>
            <a:r>
              <a:rPr sz="1700" spc="-45" dirty="0">
                <a:latin typeface="Calibri"/>
                <a:cs typeface="Calibri"/>
              </a:rPr>
              <a:t>this</a:t>
            </a:r>
            <a:r>
              <a:rPr sz="1700" dirty="0">
                <a:latin typeface="Calibri"/>
                <a:cs typeface="Calibri"/>
              </a:rPr>
              <a:t> </a:t>
            </a:r>
            <a:r>
              <a:rPr sz="1700" spc="-60" dirty="0">
                <a:latin typeface="Calibri"/>
                <a:cs typeface="Calibri"/>
              </a:rPr>
              <a:t>else</a:t>
            </a:r>
            <a:r>
              <a:rPr sz="1700" spc="80" dirty="0">
                <a:latin typeface="Calibri"/>
                <a:cs typeface="Calibri"/>
              </a:rPr>
              <a:t> </a:t>
            </a:r>
            <a:r>
              <a:rPr sz="1700" spc="-45" dirty="0">
                <a:latin typeface="Calibri"/>
                <a:cs typeface="Calibri"/>
              </a:rPr>
              <a:t>refers</a:t>
            </a:r>
            <a:r>
              <a:rPr sz="1700" spc="40" dirty="0">
                <a:latin typeface="Calibri"/>
                <a:cs typeface="Calibri"/>
              </a:rPr>
              <a:t> </a:t>
            </a:r>
            <a:r>
              <a:rPr sz="1700" spc="-75" dirty="0">
                <a:latin typeface="Calibri"/>
                <a:cs typeface="Calibri"/>
              </a:rPr>
              <a:t>to</a:t>
            </a:r>
            <a:r>
              <a:rPr sz="1700" dirty="0">
                <a:latin typeface="Calibri"/>
                <a:cs typeface="Calibri"/>
              </a:rPr>
              <a:t> </a:t>
            </a:r>
            <a:r>
              <a:rPr sz="1700" spc="-5" dirty="0">
                <a:latin typeface="Calibri"/>
                <a:cs typeface="Calibri"/>
              </a:rPr>
              <a:t>if(i</a:t>
            </a:r>
            <a:r>
              <a:rPr sz="1700" spc="35" dirty="0">
                <a:latin typeface="Calibri"/>
                <a:cs typeface="Calibri"/>
              </a:rPr>
              <a:t> </a:t>
            </a:r>
            <a:r>
              <a:rPr sz="1700" spc="-10" dirty="0">
                <a:latin typeface="Calibri"/>
                <a:cs typeface="Calibri"/>
              </a:rPr>
              <a:t>==</a:t>
            </a:r>
            <a:r>
              <a:rPr sz="1700" spc="45" dirty="0">
                <a:latin typeface="Calibri"/>
                <a:cs typeface="Calibri"/>
              </a:rPr>
              <a:t> </a:t>
            </a:r>
            <a:r>
              <a:rPr sz="1700" spc="-25" dirty="0">
                <a:latin typeface="Calibri"/>
                <a:cs typeface="Calibri"/>
              </a:rPr>
              <a:t>10)</a:t>
            </a:r>
            <a:endParaRPr sz="1700">
              <a:latin typeface="Calibri"/>
              <a:cs typeface="Calibri"/>
            </a:endParaRPr>
          </a:p>
        </p:txBody>
      </p:sp>
      <p:sp>
        <p:nvSpPr>
          <p:cNvPr id="7" name="object 7"/>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a:spLocks noGrp="1"/>
          </p:cNvSpPr>
          <p:nvPr>
            <p:ph type="title"/>
          </p:nvPr>
        </p:nvSpPr>
        <p:spPr>
          <a:xfrm>
            <a:off x="1498600" y="726272"/>
            <a:ext cx="4636383" cy="318135"/>
          </a:xfrm>
          <a:prstGeom prst="rect">
            <a:avLst/>
          </a:prstGeom>
        </p:spPr>
        <p:txBody>
          <a:bodyPr vert="horz" wrap="square" lIns="0" tIns="14604" rIns="0" bIns="0" rtlCol="0">
            <a:spAutoFit/>
          </a:bodyPr>
          <a:lstStyle/>
          <a:p>
            <a:pPr marL="12700">
              <a:lnSpc>
                <a:spcPct val="100000"/>
              </a:lnSpc>
              <a:spcBef>
                <a:spcPts val="114"/>
              </a:spcBef>
            </a:pPr>
            <a:r>
              <a:rPr spc="-10" dirty="0">
                <a:solidFill>
                  <a:schemeClr val="tx1"/>
                </a:solidFill>
              </a:rPr>
              <a:t>The</a:t>
            </a:r>
            <a:r>
              <a:rPr spc="15" dirty="0">
                <a:solidFill>
                  <a:schemeClr val="tx1"/>
                </a:solidFill>
              </a:rPr>
              <a:t> </a:t>
            </a:r>
            <a:r>
              <a:rPr spc="-5" dirty="0">
                <a:solidFill>
                  <a:schemeClr val="tx1"/>
                </a:solidFill>
              </a:rPr>
              <a:t>if-else-if</a:t>
            </a:r>
            <a:r>
              <a:rPr spc="30" dirty="0">
                <a:solidFill>
                  <a:schemeClr val="tx1"/>
                </a:solidFill>
              </a:rPr>
              <a:t> </a:t>
            </a:r>
            <a:r>
              <a:rPr spc="10" dirty="0">
                <a:solidFill>
                  <a:schemeClr val="tx1"/>
                </a:solidFill>
              </a:rPr>
              <a:t>Ladder</a:t>
            </a:r>
          </a:p>
        </p:txBody>
      </p:sp>
      <p:sp>
        <p:nvSpPr>
          <p:cNvPr id="4" name="object 4"/>
          <p:cNvSpPr txBox="1"/>
          <p:nvPr/>
        </p:nvSpPr>
        <p:spPr>
          <a:xfrm>
            <a:off x="127000" y="1044407"/>
            <a:ext cx="5597260" cy="2865914"/>
          </a:xfrm>
          <a:prstGeom prst="rect">
            <a:avLst/>
          </a:prstGeom>
        </p:spPr>
        <p:txBody>
          <a:bodyPr vert="horz" wrap="square" lIns="0" tIns="9525" rIns="0" bIns="0" rtlCol="0">
            <a:spAutoFit/>
          </a:bodyPr>
          <a:lstStyle/>
          <a:p>
            <a:pPr marL="194945" marR="5080" indent="-182880">
              <a:lnSpc>
                <a:spcPct val="101899"/>
              </a:lnSpc>
              <a:spcBef>
                <a:spcPts val="75"/>
              </a:spcBef>
              <a:buChar char="•"/>
              <a:tabLst>
                <a:tab pos="195580" algn="l"/>
              </a:tabLst>
            </a:pPr>
            <a:r>
              <a:rPr sz="1700" spc="10" dirty="0">
                <a:latin typeface="Arial MT"/>
                <a:cs typeface="Arial MT"/>
              </a:rPr>
              <a:t>A</a:t>
            </a:r>
            <a:r>
              <a:rPr sz="1700" spc="-25" dirty="0">
                <a:latin typeface="Arial MT"/>
                <a:cs typeface="Arial MT"/>
              </a:rPr>
              <a:t> </a:t>
            </a:r>
            <a:r>
              <a:rPr sz="1700" spc="10" dirty="0">
                <a:latin typeface="Arial MT"/>
                <a:cs typeface="Arial MT"/>
              </a:rPr>
              <a:t>common</a:t>
            </a:r>
            <a:r>
              <a:rPr sz="1700" spc="-105" dirty="0">
                <a:latin typeface="Arial MT"/>
                <a:cs typeface="Arial MT"/>
              </a:rPr>
              <a:t> </a:t>
            </a:r>
            <a:r>
              <a:rPr sz="1700" spc="5" dirty="0">
                <a:latin typeface="Arial MT"/>
                <a:cs typeface="Arial MT"/>
              </a:rPr>
              <a:t>programming</a:t>
            </a:r>
            <a:r>
              <a:rPr sz="1700" spc="-105" dirty="0">
                <a:latin typeface="Arial MT"/>
                <a:cs typeface="Arial MT"/>
              </a:rPr>
              <a:t> </a:t>
            </a:r>
            <a:r>
              <a:rPr sz="1700" spc="10" dirty="0">
                <a:latin typeface="Arial MT"/>
                <a:cs typeface="Arial MT"/>
              </a:rPr>
              <a:t>construct</a:t>
            </a:r>
            <a:r>
              <a:rPr sz="1700" spc="-110" dirty="0">
                <a:latin typeface="Arial MT"/>
                <a:cs typeface="Arial MT"/>
              </a:rPr>
              <a:t> </a:t>
            </a:r>
            <a:r>
              <a:rPr sz="1700" spc="5" dirty="0">
                <a:latin typeface="Arial MT"/>
                <a:cs typeface="Arial MT"/>
              </a:rPr>
              <a:t>that</a:t>
            </a:r>
            <a:r>
              <a:rPr sz="1700" spc="-30" dirty="0">
                <a:latin typeface="Arial MT"/>
                <a:cs typeface="Arial MT"/>
              </a:rPr>
              <a:t> </a:t>
            </a:r>
            <a:r>
              <a:rPr sz="1700" spc="10" dirty="0">
                <a:latin typeface="Arial MT"/>
                <a:cs typeface="Arial MT"/>
              </a:rPr>
              <a:t>is</a:t>
            </a:r>
            <a:r>
              <a:rPr sz="1700" spc="-60" dirty="0">
                <a:latin typeface="Arial MT"/>
                <a:cs typeface="Arial MT"/>
              </a:rPr>
              <a:t> </a:t>
            </a:r>
            <a:r>
              <a:rPr sz="1700" spc="10" dirty="0">
                <a:latin typeface="Arial MT"/>
                <a:cs typeface="Arial MT"/>
              </a:rPr>
              <a:t>based</a:t>
            </a:r>
            <a:r>
              <a:rPr sz="1700" spc="-65" dirty="0">
                <a:latin typeface="Arial MT"/>
                <a:cs typeface="Arial MT"/>
              </a:rPr>
              <a:t> </a:t>
            </a:r>
            <a:r>
              <a:rPr sz="1700" spc="5" dirty="0">
                <a:latin typeface="Arial MT"/>
                <a:cs typeface="Arial MT"/>
              </a:rPr>
              <a:t>upon</a:t>
            </a:r>
            <a:r>
              <a:rPr sz="1700" spc="-25" dirty="0">
                <a:latin typeface="Arial MT"/>
                <a:cs typeface="Arial MT"/>
              </a:rPr>
              <a:t> </a:t>
            </a:r>
            <a:r>
              <a:rPr sz="1700" spc="5" dirty="0">
                <a:latin typeface="Arial MT"/>
                <a:cs typeface="Arial MT"/>
              </a:rPr>
              <a:t>a </a:t>
            </a:r>
            <a:r>
              <a:rPr sz="1700" spc="-455" dirty="0">
                <a:latin typeface="Arial MT"/>
                <a:cs typeface="Arial MT"/>
              </a:rPr>
              <a:t> </a:t>
            </a:r>
            <a:r>
              <a:rPr sz="1700" spc="20" dirty="0">
                <a:latin typeface="Arial MT"/>
                <a:cs typeface="Arial MT"/>
              </a:rPr>
              <a:t>s</a:t>
            </a:r>
            <a:r>
              <a:rPr sz="1700" spc="5" dirty="0">
                <a:latin typeface="Arial MT"/>
                <a:cs typeface="Arial MT"/>
              </a:rPr>
              <a:t>e</a:t>
            </a:r>
            <a:r>
              <a:rPr sz="1700" spc="10" dirty="0">
                <a:latin typeface="Arial MT"/>
                <a:cs typeface="Arial MT"/>
              </a:rPr>
              <a:t>q</a:t>
            </a:r>
            <a:r>
              <a:rPr sz="1700" spc="5" dirty="0">
                <a:latin typeface="Arial MT"/>
                <a:cs typeface="Arial MT"/>
              </a:rPr>
              <a:t>u</a:t>
            </a:r>
            <a:r>
              <a:rPr sz="1700" spc="10" dirty="0">
                <a:latin typeface="Arial MT"/>
                <a:cs typeface="Arial MT"/>
              </a:rPr>
              <a:t>e</a:t>
            </a:r>
            <a:r>
              <a:rPr sz="1700" spc="5" dirty="0">
                <a:latin typeface="Arial MT"/>
                <a:cs typeface="Arial MT"/>
              </a:rPr>
              <a:t>n</a:t>
            </a:r>
            <a:r>
              <a:rPr sz="1700" spc="25" dirty="0">
                <a:latin typeface="Arial MT"/>
                <a:cs typeface="Arial MT"/>
              </a:rPr>
              <a:t>c</a:t>
            </a:r>
            <a:r>
              <a:rPr sz="1700" spc="10" dirty="0">
                <a:latin typeface="Arial MT"/>
                <a:cs typeface="Arial MT"/>
              </a:rPr>
              <a:t>e</a:t>
            </a:r>
            <a:r>
              <a:rPr sz="1700" spc="-105" dirty="0">
                <a:latin typeface="Times New Roman"/>
                <a:cs typeface="Times New Roman"/>
              </a:rPr>
              <a:t> </a:t>
            </a:r>
            <a:r>
              <a:rPr sz="1700" spc="5" dirty="0">
                <a:latin typeface="Arial MT"/>
                <a:cs typeface="Arial MT"/>
              </a:rPr>
              <a:t>of</a:t>
            </a:r>
            <a:r>
              <a:rPr sz="1700" spc="55" dirty="0">
                <a:latin typeface="Times New Roman"/>
                <a:cs typeface="Times New Roman"/>
              </a:rPr>
              <a:t> </a:t>
            </a:r>
            <a:r>
              <a:rPr sz="1700" spc="5" dirty="0">
                <a:latin typeface="Arial MT"/>
                <a:cs typeface="Arial MT"/>
              </a:rPr>
              <a:t>n</a:t>
            </a:r>
            <a:r>
              <a:rPr sz="1700" spc="10" dirty="0">
                <a:latin typeface="Arial MT"/>
                <a:cs typeface="Arial MT"/>
              </a:rPr>
              <a:t>e</a:t>
            </a:r>
            <a:r>
              <a:rPr sz="1700" spc="20" dirty="0">
                <a:latin typeface="Arial MT"/>
                <a:cs typeface="Arial MT"/>
              </a:rPr>
              <a:t>s</a:t>
            </a:r>
            <a:r>
              <a:rPr sz="1700" spc="5" dirty="0">
                <a:latin typeface="Arial MT"/>
                <a:cs typeface="Arial MT"/>
              </a:rPr>
              <a:t>ted</a:t>
            </a:r>
            <a:r>
              <a:rPr sz="1700" spc="-60" dirty="0">
                <a:latin typeface="Times New Roman"/>
                <a:cs typeface="Times New Roman"/>
              </a:rPr>
              <a:t> </a:t>
            </a:r>
            <a:r>
              <a:rPr sz="1700" spc="15" dirty="0">
                <a:latin typeface="Arial MT"/>
                <a:cs typeface="Arial MT"/>
              </a:rPr>
              <a:t>i</a:t>
            </a:r>
            <a:r>
              <a:rPr sz="1700" spc="40" dirty="0">
                <a:latin typeface="Arial MT"/>
                <a:cs typeface="Arial MT"/>
              </a:rPr>
              <a:t>f</a:t>
            </a:r>
            <a:r>
              <a:rPr sz="1700" spc="5" dirty="0">
                <a:latin typeface="Arial MT"/>
                <a:cs typeface="Arial MT"/>
              </a:rPr>
              <a:t>s</a:t>
            </a:r>
            <a:r>
              <a:rPr sz="1700" spc="-10" dirty="0">
                <a:latin typeface="Times New Roman"/>
                <a:cs typeface="Times New Roman"/>
              </a:rPr>
              <a:t> </a:t>
            </a:r>
            <a:r>
              <a:rPr sz="1700" spc="15" dirty="0">
                <a:latin typeface="Arial MT"/>
                <a:cs typeface="Arial MT"/>
              </a:rPr>
              <a:t>i</a:t>
            </a:r>
            <a:r>
              <a:rPr sz="1700" spc="5" dirty="0">
                <a:latin typeface="Arial MT"/>
                <a:cs typeface="Arial MT"/>
              </a:rPr>
              <a:t>s</a:t>
            </a:r>
            <a:r>
              <a:rPr sz="1700" spc="30" dirty="0">
                <a:latin typeface="Times New Roman"/>
                <a:cs typeface="Times New Roman"/>
              </a:rPr>
              <a:t> </a:t>
            </a:r>
            <a:r>
              <a:rPr sz="1700" spc="5" dirty="0">
                <a:latin typeface="Arial MT"/>
                <a:cs typeface="Arial MT"/>
              </a:rPr>
              <a:t>the</a:t>
            </a:r>
            <a:r>
              <a:rPr sz="1700" spc="20" dirty="0">
                <a:latin typeface="Times New Roman"/>
                <a:cs typeface="Times New Roman"/>
              </a:rPr>
              <a:t> </a:t>
            </a:r>
            <a:r>
              <a:rPr sz="1700" spc="15" dirty="0">
                <a:latin typeface="Arial MT"/>
                <a:cs typeface="Arial MT"/>
              </a:rPr>
              <a:t>i</a:t>
            </a:r>
            <a:r>
              <a:rPr sz="1700" spc="60" dirty="0">
                <a:latin typeface="Arial MT"/>
                <a:cs typeface="Arial MT"/>
              </a:rPr>
              <a:t>f</a:t>
            </a:r>
            <a:r>
              <a:rPr sz="1700" spc="-10" dirty="0">
                <a:latin typeface="Arial MT"/>
                <a:cs typeface="Arial MT"/>
              </a:rPr>
              <a:t>-</a:t>
            </a:r>
            <a:r>
              <a:rPr sz="1700" spc="5" dirty="0">
                <a:latin typeface="Arial MT"/>
                <a:cs typeface="Arial MT"/>
              </a:rPr>
              <a:t>e</a:t>
            </a:r>
            <a:r>
              <a:rPr sz="1700" spc="20" dirty="0">
                <a:latin typeface="Arial MT"/>
                <a:cs typeface="Arial MT"/>
              </a:rPr>
              <a:t>ls</a:t>
            </a:r>
            <a:r>
              <a:rPr sz="1700" spc="-25" dirty="0">
                <a:latin typeface="Arial MT"/>
                <a:cs typeface="Arial MT"/>
              </a:rPr>
              <a:t>e</a:t>
            </a:r>
            <a:r>
              <a:rPr sz="1700" spc="-10" dirty="0">
                <a:latin typeface="Arial MT"/>
                <a:cs typeface="Arial MT"/>
              </a:rPr>
              <a:t>-</a:t>
            </a:r>
            <a:r>
              <a:rPr sz="1700" spc="15" dirty="0">
                <a:latin typeface="Arial MT"/>
                <a:cs typeface="Arial MT"/>
              </a:rPr>
              <a:t>i</a:t>
            </a:r>
            <a:r>
              <a:rPr sz="1700" spc="5" dirty="0">
                <a:latin typeface="Arial MT"/>
                <a:cs typeface="Arial MT"/>
              </a:rPr>
              <a:t>f</a:t>
            </a:r>
            <a:r>
              <a:rPr sz="1700" spc="-65" dirty="0">
                <a:latin typeface="Times New Roman"/>
                <a:cs typeface="Times New Roman"/>
              </a:rPr>
              <a:t> </a:t>
            </a:r>
            <a:r>
              <a:rPr sz="1700" spc="15" dirty="0">
                <a:latin typeface="Arial MT"/>
                <a:cs typeface="Arial MT"/>
              </a:rPr>
              <a:t>l</a:t>
            </a:r>
            <a:r>
              <a:rPr sz="1700" spc="5" dirty="0">
                <a:latin typeface="Arial MT"/>
                <a:cs typeface="Arial MT"/>
              </a:rPr>
              <a:t>a</a:t>
            </a:r>
            <a:r>
              <a:rPr sz="1700" spc="10" dirty="0">
                <a:latin typeface="Arial MT"/>
                <a:cs typeface="Arial MT"/>
              </a:rPr>
              <a:t>d</a:t>
            </a:r>
            <a:r>
              <a:rPr sz="1700" spc="5" dirty="0">
                <a:latin typeface="Arial MT"/>
                <a:cs typeface="Arial MT"/>
              </a:rPr>
              <a:t>d</a:t>
            </a:r>
            <a:r>
              <a:rPr sz="1700" spc="10" dirty="0">
                <a:latin typeface="Arial MT"/>
                <a:cs typeface="Arial MT"/>
              </a:rPr>
              <a:t>e</a:t>
            </a:r>
            <a:r>
              <a:rPr sz="1700" spc="-10" dirty="0">
                <a:latin typeface="Arial MT"/>
                <a:cs typeface="Arial MT"/>
              </a:rPr>
              <a:t>r</a:t>
            </a:r>
            <a:r>
              <a:rPr sz="1700" spc="5" dirty="0">
                <a:latin typeface="Arial MT"/>
                <a:cs typeface="Arial MT"/>
              </a:rPr>
              <a:t>.</a:t>
            </a:r>
            <a:endParaRPr sz="1700" dirty="0">
              <a:latin typeface="Arial MT"/>
              <a:cs typeface="Arial MT"/>
            </a:endParaRPr>
          </a:p>
          <a:p>
            <a:pPr marL="408305" marR="4333875" indent="-152400">
              <a:lnSpc>
                <a:spcPts val="2160"/>
              </a:lnSpc>
              <a:spcBef>
                <a:spcPts val="55"/>
              </a:spcBef>
            </a:pPr>
            <a:r>
              <a:rPr sz="1450" spc="-20" dirty="0">
                <a:latin typeface="Times New Roman"/>
                <a:cs typeface="Times New Roman"/>
              </a:rPr>
              <a:t>if(condition) </a:t>
            </a:r>
            <a:r>
              <a:rPr sz="1450" spc="-350" dirty="0">
                <a:latin typeface="Times New Roman"/>
                <a:cs typeface="Times New Roman"/>
              </a:rPr>
              <a:t> </a:t>
            </a:r>
            <a:r>
              <a:rPr sz="1450" spc="-50" dirty="0">
                <a:latin typeface="Times New Roman"/>
                <a:cs typeface="Times New Roman"/>
              </a:rPr>
              <a:t>s</a:t>
            </a:r>
            <a:r>
              <a:rPr sz="1450" spc="-10" dirty="0">
                <a:latin typeface="Times New Roman"/>
                <a:cs typeface="Times New Roman"/>
              </a:rPr>
              <a:t>tat</a:t>
            </a:r>
            <a:r>
              <a:rPr sz="1450" spc="30" dirty="0">
                <a:latin typeface="Times New Roman"/>
                <a:cs typeface="Times New Roman"/>
              </a:rPr>
              <a:t>e</a:t>
            </a:r>
            <a:r>
              <a:rPr sz="1450" spc="65" dirty="0">
                <a:latin typeface="Times New Roman"/>
                <a:cs typeface="Times New Roman"/>
              </a:rPr>
              <a:t>m</a:t>
            </a:r>
            <a:r>
              <a:rPr sz="1450" spc="30" dirty="0">
                <a:latin typeface="Times New Roman"/>
                <a:cs typeface="Times New Roman"/>
              </a:rPr>
              <a:t>e</a:t>
            </a:r>
            <a:r>
              <a:rPr sz="1450" spc="25" dirty="0">
                <a:latin typeface="Times New Roman"/>
                <a:cs typeface="Times New Roman"/>
              </a:rPr>
              <a:t>n</a:t>
            </a:r>
            <a:r>
              <a:rPr sz="1450" spc="-10" dirty="0">
                <a:latin typeface="Times New Roman"/>
                <a:cs typeface="Times New Roman"/>
              </a:rPr>
              <a:t>t</a:t>
            </a:r>
            <a:r>
              <a:rPr sz="1450" spc="-55" dirty="0">
                <a:latin typeface="Times New Roman"/>
                <a:cs typeface="Times New Roman"/>
              </a:rPr>
              <a:t>;</a:t>
            </a:r>
            <a:endParaRPr sz="1450" dirty="0">
              <a:latin typeface="Times New Roman"/>
              <a:cs typeface="Times New Roman"/>
            </a:endParaRPr>
          </a:p>
          <a:p>
            <a:pPr marL="408305" marR="4014470" indent="-152400">
              <a:lnSpc>
                <a:spcPts val="2120"/>
              </a:lnSpc>
              <a:spcBef>
                <a:spcPts val="25"/>
              </a:spcBef>
            </a:pPr>
            <a:r>
              <a:rPr sz="1450" spc="-10" dirty="0">
                <a:latin typeface="Times New Roman"/>
                <a:cs typeface="Times New Roman"/>
              </a:rPr>
              <a:t>else</a:t>
            </a:r>
            <a:r>
              <a:rPr sz="1450" spc="-60" dirty="0">
                <a:latin typeface="Times New Roman"/>
                <a:cs typeface="Times New Roman"/>
              </a:rPr>
              <a:t> </a:t>
            </a:r>
            <a:r>
              <a:rPr sz="1450" spc="-20" dirty="0">
                <a:latin typeface="Times New Roman"/>
                <a:cs typeface="Times New Roman"/>
              </a:rPr>
              <a:t>if(condition) </a:t>
            </a:r>
            <a:r>
              <a:rPr sz="1450" spc="-350" dirty="0">
                <a:latin typeface="Times New Roman"/>
                <a:cs typeface="Times New Roman"/>
              </a:rPr>
              <a:t> </a:t>
            </a:r>
            <a:r>
              <a:rPr sz="1450" dirty="0">
                <a:latin typeface="Times New Roman"/>
                <a:cs typeface="Times New Roman"/>
              </a:rPr>
              <a:t>statement;</a:t>
            </a:r>
          </a:p>
          <a:p>
            <a:pPr marL="408305" marR="4015104" indent="-152400">
              <a:lnSpc>
                <a:spcPts val="2160"/>
              </a:lnSpc>
              <a:spcBef>
                <a:spcPts val="5"/>
              </a:spcBef>
            </a:pPr>
            <a:r>
              <a:rPr sz="1450" spc="-15" dirty="0">
                <a:latin typeface="Times New Roman"/>
                <a:cs typeface="Times New Roman"/>
              </a:rPr>
              <a:t>else </a:t>
            </a:r>
            <a:r>
              <a:rPr sz="1450" spc="-20" dirty="0">
                <a:latin typeface="Times New Roman"/>
                <a:cs typeface="Times New Roman"/>
              </a:rPr>
              <a:t>if(condition) </a:t>
            </a:r>
            <a:r>
              <a:rPr sz="1450" spc="-350" dirty="0">
                <a:latin typeface="Times New Roman"/>
                <a:cs typeface="Times New Roman"/>
              </a:rPr>
              <a:t> </a:t>
            </a:r>
            <a:r>
              <a:rPr sz="1450" dirty="0">
                <a:latin typeface="Times New Roman"/>
                <a:cs typeface="Times New Roman"/>
              </a:rPr>
              <a:t>statement;</a:t>
            </a:r>
          </a:p>
          <a:p>
            <a:pPr marL="255904">
              <a:lnSpc>
                <a:spcPct val="100000"/>
              </a:lnSpc>
              <a:spcBef>
                <a:spcPts val="275"/>
              </a:spcBef>
            </a:pPr>
            <a:r>
              <a:rPr sz="1450" spc="-10" dirty="0">
                <a:latin typeface="Times New Roman"/>
                <a:cs typeface="Times New Roman"/>
              </a:rPr>
              <a:t>...</a:t>
            </a:r>
            <a:endParaRPr sz="1450" dirty="0">
              <a:latin typeface="Times New Roman"/>
              <a:cs typeface="Times New Roman"/>
            </a:endParaRPr>
          </a:p>
          <a:p>
            <a:pPr marL="255904">
              <a:lnSpc>
                <a:spcPct val="100000"/>
              </a:lnSpc>
              <a:spcBef>
                <a:spcPts val="375"/>
              </a:spcBef>
            </a:pPr>
            <a:r>
              <a:rPr sz="1450" spc="-15" dirty="0">
                <a:latin typeface="Times New Roman"/>
                <a:cs typeface="Times New Roman"/>
              </a:rPr>
              <a:t>else</a:t>
            </a:r>
            <a:endParaRPr sz="1450" dirty="0">
              <a:latin typeface="Times New Roman"/>
              <a:cs typeface="Times New Roman"/>
            </a:endParaRPr>
          </a:p>
        </p:txBody>
      </p:sp>
      <p:sp>
        <p:nvSpPr>
          <p:cNvPr id="5" name="object 5"/>
          <p:cNvSpPr txBox="1"/>
          <p:nvPr/>
        </p:nvSpPr>
        <p:spPr>
          <a:xfrm>
            <a:off x="605573" y="3932898"/>
            <a:ext cx="789305" cy="251460"/>
          </a:xfrm>
          <a:prstGeom prst="rect">
            <a:avLst/>
          </a:prstGeom>
        </p:spPr>
        <p:txBody>
          <a:bodyPr vert="horz" wrap="square" lIns="0" tIns="16510" rIns="0" bIns="0" rtlCol="0">
            <a:spAutoFit/>
          </a:bodyPr>
          <a:lstStyle/>
          <a:p>
            <a:pPr marL="12700">
              <a:lnSpc>
                <a:spcPct val="100000"/>
              </a:lnSpc>
              <a:spcBef>
                <a:spcPts val="130"/>
              </a:spcBef>
            </a:pPr>
            <a:r>
              <a:rPr sz="1450" dirty="0">
                <a:latin typeface="Times New Roman"/>
                <a:cs typeface="Times New Roman"/>
              </a:rPr>
              <a:t>statement;</a:t>
            </a:r>
          </a:p>
        </p:txBody>
      </p:sp>
      <p:sp>
        <p:nvSpPr>
          <p:cNvPr id="7" name="object 7"/>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176167"/>
            <a:ext cx="6487240" cy="684201"/>
          </a:xfrm>
          <a:prstGeom prst="rect">
            <a:avLst/>
          </a:prstGeom>
        </p:spPr>
      </p:pic>
      <p:sp>
        <p:nvSpPr>
          <p:cNvPr id="3" name="object 3"/>
          <p:cNvSpPr txBox="1"/>
          <p:nvPr/>
        </p:nvSpPr>
        <p:spPr>
          <a:xfrm>
            <a:off x="364664" y="750829"/>
            <a:ext cx="5737225" cy="2039341"/>
          </a:xfrm>
          <a:prstGeom prst="rect">
            <a:avLst/>
          </a:prstGeom>
        </p:spPr>
        <p:txBody>
          <a:bodyPr vert="horz" wrap="square" lIns="0" tIns="67310" rIns="0" bIns="0" rtlCol="0">
            <a:spAutoFit/>
          </a:bodyPr>
          <a:lstStyle/>
          <a:p>
            <a:pPr marL="194945" indent="-182880" algn="just">
              <a:lnSpc>
                <a:spcPct val="100000"/>
              </a:lnSpc>
              <a:spcBef>
                <a:spcPts val="530"/>
              </a:spcBef>
              <a:buChar char="•"/>
              <a:tabLst>
                <a:tab pos="195580" algn="l"/>
              </a:tabLst>
            </a:pPr>
            <a:r>
              <a:rPr sz="1700" spc="-5" dirty="0">
                <a:latin typeface="Arial" panose="020B0604020202020204" pitchFamily="34" charset="0"/>
                <a:cs typeface="Arial" panose="020B0604020202020204" pitchFamily="34" charset="0"/>
              </a:rPr>
              <a:t>T</a:t>
            </a:r>
            <a:r>
              <a:rPr sz="1700" spc="5" dirty="0">
                <a:latin typeface="Arial" panose="020B0604020202020204" pitchFamily="34" charset="0"/>
                <a:cs typeface="Arial" panose="020B0604020202020204" pitchFamily="34" charset="0"/>
              </a:rPr>
              <a:t>h</a:t>
            </a:r>
            <a:r>
              <a:rPr sz="1700" spc="10" dirty="0">
                <a:latin typeface="Arial" panose="020B0604020202020204" pitchFamily="34" charset="0"/>
                <a:cs typeface="Arial" panose="020B0604020202020204" pitchFamily="34" charset="0"/>
              </a:rPr>
              <a:t>e</a:t>
            </a:r>
            <a:r>
              <a:rPr sz="1700" spc="15" dirty="0">
                <a:latin typeface="Arial" panose="020B0604020202020204" pitchFamily="34" charset="0"/>
                <a:cs typeface="Arial" panose="020B0604020202020204" pitchFamily="34" charset="0"/>
              </a:rPr>
              <a:t> i</a:t>
            </a:r>
            <a:r>
              <a:rPr sz="1700" spc="5" dirty="0">
                <a:latin typeface="Arial" panose="020B0604020202020204" pitchFamily="34" charset="0"/>
                <a:cs typeface="Arial" panose="020B0604020202020204" pitchFamily="34" charset="0"/>
              </a:rPr>
              <a:t>f</a:t>
            </a:r>
            <a:r>
              <a:rPr sz="1700" spc="10" dirty="0">
                <a:latin typeface="Arial" panose="020B0604020202020204" pitchFamily="34" charset="0"/>
                <a:cs typeface="Arial" panose="020B0604020202020204" pitchFamily="34" charset="0"/>
              </a:rPr>
              <a:t> </a:t>
            </a:r>
            <a:r>
              <a:rPr sz="1700" spc="20" dirty="0">
                <a:latin typeface="Arial" panose="020B0604020202020204" pitchFamily="34" charset="0"/>
                <a:cs typeface="Arial" panose="020B0604020202020204" pitchFamily="34" charset="0"/>
              </a:rPr>
              <a:t>s</a:t>
            </a:r>
            <a:r>
              <a:rPr sz="1700" spc="5" dirty="0">
                <a:latin typeface="Arial" panose="020B0604020202020204" pitchFamily="34" charset="0"/>
                <a:cs typeface="Arial" panose="020B0604020202020204" pitchFamily="34" charset="0"/>
              </a:rPr>
              <a:t>tat</a:t>
            </a:r>
            <a:r>
              <a:rPr sz="1700" spc="15" dirty="0">
                <a:latin typeface="Arial" panose="020B0604020202020204" pitchFamily="34" charset="0"/>
                <a:cs typeface="Arial" panose="020B0604020202020204" pitchFamily="34" charset="0"/>
              </a:rPr>
              <a:t>em</a:t>
            </a:r>
            <a:r>
              <a:rPr sz="1700" spc="5" dirty="0">
                <a:latin typeface="Arial" panose="020B0604020202020204" pitchFamily="34" charset="0"/>
                <a:cs typeface="Arial" panose="020B0604020202020204" pitchFamily="34" charset="0"/>
              </a:rPr>
              <a:t>ents</a:t>
            </a:r>
            <a:r>
              <a:rPr sz="1700" spc="-90"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a</a:t>
            </a:r>
            <a:r>
              <a:rPr sz="1700" spc="-10" dirty="0">
                <a:latin typeface="Arial" panose="020B0604020202020204" pitchFamily="34" charset="0"/>
                <a:cs typeface="Arial" panose="020B0604020202020204" pitchFamily="34" charset="0"/>
              </a:rPr>
              <a:t>r</a:t>
            </a:r>
            <a:r>
              <a:rPr sz="1700" spc="10" dirty="0">
                <a:latin typeface="Arial" panose="020B0604020202020204" pitchFamily="34" charset="0"/>
                <a:cs typeface="Arial" panose="020B0604020202020204" pitchFamily="34" charset="0"/>
              </a:rPr>
              <a:t>e</a:t>
            </a:r>
            <a:r>
              <a:rPr sz="1700" spc="50" dirty="0">
                <a:latin typeface="Arial" panose="020B0604020202020204" pitchFamily="34" charset="0"/>
                <a:cs typeface="Arial" panose="020B0604020202020204" pitchFamily="34" charset="0"/>
              </a:rPr>
              <a:t> </a:t>
            </a:r>
            <a:r>
              <a:rPr sz="1700" spc="10" dirty="0">
                <a:latin typeface="Arial" panose="020B0604020202020204" pitchFamily="34" charset="0"/>
                <a:cs typeface="Arial" panose="020B0604020202020204" pitchFamily="34" charset="0"/>
              </a:rPr>
              <a:t>e</a:t>
            </a:r>
            <a:r>
              <a:rPr sz="1700" spc="20" dirty="0">
                <a:latin typeface="Arial" panose="020B0604020202020204" pitchFamily="34" charset="0"/>
                <a:cs typeface="Arial" panose="020B0604020202020204" pitchFamily="34" charset="0"/>
              </a:rPr>
              <a:t>x</a:t>
            </a:r>
            <a:r>
              <a:rPr sz="1700" spc="5" dirty="0">
                <a:latin typeface="Arial" panose="020B0604020202020204" pitchFamily="34" charset="0"/>
                <a:cs typeface="Arial" panose="020B0604020202020204" pitchFamily="34" charset="0"/>
              </a:rPr>
              <a:t>e</a:t>
            </a:r>
            <a:r>
              <a:rPr sz="1700" spc="20" dirty="0">
                <a:latin typeface="Arial" panose="020B0604020202020204" pitchFamily="34" charset="0"/>
                <a:cs typeface="Arial" panose="020B0604020202020204" pitchFamily="34" charset="0"/>
              </a:rPr>
              <a:t>c</a:t>
            </a:r>
            <a:r>
              <a:rPr sz="1700" dirty="0">
                <a:latin typeface="Arial" panose="020B0604020202020204" pitchFamily="34" charset="0"/>
                <a:cs typeface="Arial" panose="020B0604020202020204" pitchFamily="34" charset="0"/>
              </a:rPr>
              <a:t>ut</a:t>
            </a:r>
            <a:r>
              <a:rPr sz="1700" spc="10" dirty="0">
                <a:latin typeface="Arial" panose="020B0604020202020204" pitchFamily="34" charset="0"/>
                <a:cs typeface="Arial" panose="020B0604020202020204" pitchFamily="34" charset="0"/>
              </a:rPr>
              <a:t>ed</a:t>
            </a:r>
            <a:r>
              <a:rPr sz="1700" spc="-105" dirty="0">
                <a:latin typeface="Arial" panose="020B0604020202020204" pitchFamily="34" charset="0"/>
                <a:cs typeface="Arial" panose="020B0604020202020204" pitchFamily="34" charset="0"/>
              </a:rPr>
              <a:t> </a:t>
            </a:r>
            <a:r>
              <a:rPr sz="1700" spc="40" dirty="0">
                <a:latin typeface="Arial" panose="020B0604020202020204" pitchFamily="34" charset="0"/>
                <a:cs typeface="Arial" panose="020B0604020202020204" pitchFamily="34" charset="0"/>
              </a:rPr>
              <a:t>f</a:t>
            </a:r>
            <a:r>
              <a:rPr sz="1700" spc="-10" dirty="0">
                <a:latin typeface="Arial" panose="020B0604020202020204" pitchFamily="34" charset="0"/>
                <a:cs typeface="Arial" panose="020B0604020202020204" pitchFamily="34" charset="0"/>
              </a:rPr>
              <a:t>r</a:t>
            </a:r>
            <a:r>
              <a:rPr sz="1700" spc="5" dirty="0">
                <a:latin typeface="Arial" panose="020B0604020202020204" pitchFamily="34" charset="0"/>
                <a:cs typeface="Arial" panose="020B0604020202020204" pitchFamily="34" charset="0"/>
              </a:rPr>
              <a:t>o</a:t>
            </a:r>
            <a:r>
              <a:rPr sz="1700" spc="15" dirty="0">
                <a:latin typeface="Arial" panose="020B0604020202020204" pitchFamily="34" charset="0"/>
                <a:cs typeface="Arial" panose="020B0604020202020204" pitchFamily="34" charset="0"/>
              </a:rPr>
              <a:t>m</a:t>
            </a:r>
            <a:r>
              <a:rPr sz="1700" spc="-20"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the</a:t>
            </a:r>
            <a:r>
              <a:rPr sz="1700" spc="15"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top</a:t>
            </a:r>
            <a:r>
              <a:rPr sz="1700" spc="15"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do</a:t>
            </a:r>
            <a:r>
              <a:rPr sz="1700" spc="-70" dirty="0">
                <a:latin typeface="Arial" panose="020B0604020202020204" pitchFamily="34" charset="0"/>
                <a:cs typeface="Arial" panose="020B0604020202020204" pitchFamily="34" charset="0"/>
              </a:rPr>
              <a:t>w</a:t>
            </a:r>
            <a:r>
              <a:rPr sz="1700" dirty="0">
                <a:latin typeface="Arial" panose="020B0604020202020204" pitchFamily="34" charset="0"/>
                <a:cs typeface="Arial" panose="020B0604020202020204" pitchFamily="34" charset="0"/>
              </a:rPr>
              <a:t>n.</a:t>
            </a:r>
          </a:p>
          <a:p>
            <a:pPr marL="194945" marR="110489" indent="-182880" algn="just">
              <a:lnSpc>
                <a:spcPct val="100000"/>
              </a:lnSpc>
              <a:spcBef>
                <a:spcPts val="440"/>
              </a:spcBef>
              <a:buChar char="•"/>
              <a:tabLst>
                <a:tab pos="195580" algn="l"/>
              </a:tabLst>
            </a:pPr>
            <a:r>
              <a:rPr sz="1700" spc="15" dirty="0">
                <a:latin typeface="Arial" panose="020B0604020202020204" pitchFamily="34" charset="0"/>
                <a:cs typeface="Arial" panose="020B0604020202020204" pitchFamily="34" charset="0"/>
              </a:rPr>
              <a:t>A</a:t>
            </a:r>
            <a:r>
              <a:rPr sz="1700" spc="5" dirty="0">
                <a:latin typeface="Arial" panose="020B0604020202020204" pitchFamily="34" charset="0"/>
                <a:cs typeface="Arial" panose="020B0604020202020204" pitchFamily="34" charset="0"/>
              </a:rPr>
              <a:t>s</a:t>
            </a:r>
            <a:r>
              <a:rPr sz="1700" spc="30" dirty="0">
                <a:latin typeface="Arial" panose="020B0604020202020204" pitchFamily="34" charset="0"/>
                <a:cs typeface="Arial" panose="020B0604020202020204" pitchFamily="34" charset="0"/>
              </a:rPr>
              <a:t> </a:t>
            </a:r>
            <a:r>
              <a:rPr sz="1700" spc="20" dirty="0">
                <a:latin typeface="Arial" panose="020B0604020202020204" pitchFamily="34" charset="0"/>
                <a:cs typeface="Arial" panose="020B0604020202020204" pitchFamily="34" charset="0"/>
              </a:rPr>
              <a:t>s</a:t>
            </a:r>
            <a:r>
              <a:rPr sz="1700" spc="5" dirty="0">
                <a:latin typeface="Arial" panose="020B0604020202020204" pitchFamily="34" charset="0"/>
                <a:cs typeface="Arial" panose="020B0604020202020204" pitchFamily="34" charset="0"/>
              </a:rPr>
              <a:t>oo</a:t>
            </a:r>
            <a:r>
              <a:rPr sz="1700" spc="10" dirty="0">
                <a:latin typeface="Arial" panose="020B0604020202020204" pitchFamily="34" charset="0"/>
                <a:cs typeface="Arial" panose="020B0604020202020204" pitchFamily="34" charset="0"/>
              </a:rPr>
              <a:t>n</a:t>
            </a:r>
            <a:r>
              <a:rPr sz="1700" spc="-25"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as</a:t>
            </a:r>
            <a:r>
              <a:rPr sz="1700" spc="30"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on</a:t>
            </a:r>
            <a:r>
              <a:rPr sz="1700" spc="10" dirty="0">
                <a:latin typeface="Arial" panose="020B0604020202020204" pitchFamily="34" charset="0"/>
                <a:cs typeface="Arial" panose="020B0604020202020204" pitchFamily="34" charset="0"/>
              </a:rPr>
              <a:t>e</a:t>
            </a:r>
            <a:r>
              <a:rPr sz="1700" spc="-25"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of</a:t>
            </a:r>
            <a:r>
              <a:rPr sz="1700" spc="50"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the</a:t>
            </a:r>
            <a:r>
              <a:rPr sz="1700" spc="15" dirty="0">
                <a:latin typeface="Arial" panose="020B0604020202020204" pitchFamily="34" charset="0"/>
                <a:cs typeface="Arial" panose="020B0604020202020204" pitchFamily="34" charset="0"/>
              </a:rPr>
              <a:t> </a:t>
            </a:r>
            <a:r>
              <a:rPr sz="1700" spc="20" dirty="0">
                <a:latin typeface="Arial" panose="020B0604020202020204" pitchFamily="34" charset="0"/>
                <a:cs typeface="Arial" panose="020B0604020202020204" pitchFamily="34" charset="0"/>
              </a:rPr>
              <a:t>c</a:t>
            </a:r>
            <a:r>
              <a:rPr sz="1700" spc="5" dirty="0">
                <a:latin typeface="Arial" panose="020B0604020202020204" pitchFamily="34" charset="0"/>
                <a:cs typeface="Arial" panose="020B0604020202020204" pitchFamily="34" charset="0"/>
              </a:rPr>
              <a:t>on</a:t>
            </a:r>
            <a:r>
              <a:rPr sz="1700" spc="10" dirty="0">
                <a:latin typeface="Arial" panose="020B0604020202020204" pitchFamily="34" charset="0"/>
                <a:cs typeface="Arial" panose="020B0604020202020204" pitchFamily="34" charset="0"/>
              </a:rPr>
              <a:t>d</a:t>
            </a:r>
            <a:r>
              <a:rPr sz="1700" spc="15" dirty="0">
                <a:latin typeface="Arial" panose="020B0604020202020204" pitchFamily="34" charset="0"/>
                <a:cs typeface="Arial" panose="020B0604020202020204" pitchFamily="34" charset="0"/>
              </a:rPr>
              <a:t>i</a:t>
            </a:r>
            <a:r>
              <a:rPr sz="1700" spc="5" dirty="0">
                <a:latin typeface="Arial" panose="020B0604020202020204" pitchFamily="34" charset="0"/>
                <a:cs typeface="Arial" panose="020B0604020202020204" pitchFamily="34" charset="0"/>
              </a:rPr>
              <a:t>t</a:t>
            </a:r>
            <a:r>
              <a:rPr sz="1700" spc="15" dirty="0">
                <a:latin typeface="Arial" panose="020B0604020202020204" pitchFamily="34" charset="0"/>
                <a:cs typeface="Arial" panose="020B0604020202020204" pitchFamily="34" charset="0"/>
              </a:rPr>
              <a:t>i</a:t>
            </a:r>
            <a:r>
              <a:rPr sz="1700" spc="5" dirty="0">
                <a:latin typeface="Arial" panose="020B0604020202020204" pitchFamily="34" charset="0"/>
                <a:cs typeface="Arial" panose="020B0604020202020204" pitchFamily="34" charset="0"/>
              </a:rPr>
              <a:t>o</a:t>
            </a:r>
            <a:r>
              <a:rPr sz="1700" spc="-30" dirty="0">
                <a:latin typeface="Arial" panose="020B0604020202020204" pitchFamily="34" charset="0"/>
                <a:cs typeface="Arial" panose="020B0604020202020204" pitchFamily="34" charset="0"/>
              </a:rPr>
              <a:t>n</a:t>
            </a:r>
            <a:r>
              <a:rPr sz="1700" spc="5" dirty="0">
                <a:latin typeface="Arial" panose="020B0604020202020204" pitchFamily="34" charset="0"/>
                <a:cs typeface="Arial" panose="020B0604020202020204" pitchFamily="34" charset="0"/>
              </a:rPr>
              <a:t>s</a:t>
            </a:r>
            <a:r>
              <a:rPr sz="1700" spc="-90" dirty="0">
                <a:latin typeface="Arial" panose="020B0604020202020204" pitchFamily="34" charset="0"/>
                <a:cs typeface="Arial" panose="020B0604020202020204" pitchFamily="34" charset="0"/>
              </a:rPr>
              <a:t> </a:t>
            </a:r>
            <a:r>
              <a:rPr sz="1700" spc="20" dirty="0">
                <a:latin typeface="Arial" panose="020B0604020202020204" pitchFamily="34" charset="0"/>
                <a:cs typeface="Arial" panose="020B0604020202020204" pitchFamily="34" charset="0"/>
              </a:rPr>
              <a:t>c</a:t>
            </a:r>
            <a:r>
              <a:rPr sz="1700" spc="5" dirty="0">
                <a:latin typeface="Arial" panose="020B0604020202020204" pitchFamily="34" charset="0"/>
                <a:cs typeface="Arial" panose="020B0604020202020204" pitchFamily="34" charset="0"/>
              </a:rPr>
              <a:t>ont</a:t>
            </a:r>
            <a:r>
              <a:rPr sz="1700" spc="-10" dirty="0">
                <a:latin typeface="Arial" panose="020B0604020202020204" pitchFamily="34" charset="0"/>
                <a:cs typeface="Arial" panose="020B0604020202020204" pitchFamily="34" charset="0"/>
              </a:rPr>
              <a:t>r</a:t>
            </a:r>
            <a:r>
              <a:rPr sz="1700" spc="5" dirty="0">
                <a:latin typeface="Arial" panose="020B0604020202020204" pitchFamily="34" charset="0"/>
                <a:cs typeface="Arial" panose="020B0604020202020204" pitchFamily="34" charset="0"/>
              </a:rPr>
              <a:t>o</a:t>
            </a:r>
            <a:r>
              <a:rPr sz="1700" spc="15" dirty="0">
                <a:latin typeface="Arial" panose="020B0604020202020204" pitchFamily="34" charset="0"/>
                <a:cs typeface="Arial" panose="020B0604020202020204" pitchFamily="34" charset="0"/>
              </a:rPr>
              <a:t>lli</a:t>
            </a:r>
            <a:r>
              <a:rPr sz="1700" spc="5" dirty="0">
                <a:latin typeface="Arial" panose="020B0604020202020204" pitchFamily="34" charset="0"/>
                <a:cs typeface="Arial" panose="020B0604020202020204" pitchFamily="34" charset="0"/>
              </a:rPr>
              <a:t>n</a:t>
            </a:r>
            <a:r>
              <a:rPr sz="1700" spc="10" dirty="0">
                <a:latin typeface="Arial" panose="020B0604020202020204" pitchFamily="34" charset="0"/>
                <a:cs typeface="Arial" panose="020B0604020202020204" pitchFamily="34" charset="0"/>
              </a:rPr>
              <a:t>g</a:t>
            </a:r>
            <a:r>
              <a:rPr sz="1700" spc="-105"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the</a:t>
            </a:r>
            <a:r>
              <a:rPr sz="1700" spc="15" dirty="0">
                <a:latin typeface="Arial" panose="020B0604020202020204" pitchFamily="34" charset="0"/>
                <a:cs typeface="Arial" panose="020B0604020202020204" pitchFamily="34" charset="0"/>
              </a:rPr>
              <a:t> i</a:t>
            </a:r>
            <a:r>
              <a:rPr sz="1700" spc="5" dirty="0">
                <a:latin typeface="Arial" panose="020B0604020202020204" pitchFamily="34" charset="0"/>
                <a:cs typeface="Arial" panose="020B0604020202020204" pitchFamily="34" charset="0"/>
              </a:rPr>
              <a:t>f</a:t>
            </a:r>
            <a:r>
              <a:rPr sz="1700" spc="50" dirty="0">
                <a:latin typeface="Arial" panose="020B0604020202020204" pitchFamily="34" charset="0"/>
                <a:cs typeface="Arial" panose="020B0604020202020204" pitchFamily="34" charset="0"/>
              </a:rPr>
              <a:t> </a:t>
            </a:r>
            <a:r>
              <a:rPr sz="1700" spc="15" dirty="0">
                <a:latin typeface="Arial" panose="020B0604020202020204" pitchFamily="34" charset="0"/>
                <a:cs typeface="Arial" panose="020B0604020202020204" pitchFamily="34" charset="0"/>
              </a:rPr>
              <a:t>i</a:t>
            </a:r>
            <a:r>
              <a:rPr sz="1700" spc="5" dirty="0">
                <a:latin typeface="Arial" panose="020B0604020202020204" pitchFamily="34" charset="0"/>
                <a:cs typeface="Arial" panose="020B0604020202020204" pitchFamily="34" charset="0"/>
              </a:rPr>
              <a:t>s</a:t>
            </a:r>
            <a:r>
              <a:rPr sz="1700" spc="-10"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t</a:t>
            </a:r>
            <a:r>
              <a:rPr sz="1700" spc="-10" dirty="0">
                <a:latin typeface="Arial" panose="020B0604020202020204" pitchFamily="34" charset="0"/>
                <a:cs typeface="Arial" panose="020B0604020202020204" pitchFamily="34" charset="0"/>
              </a:rPr>
              <a:t>r</a:t>
            </a:r>
            <a:r>
              <a:rPr sz="1700" dirty="0">
                <a:latin typeface="Arial" panose="020B0604020202020204" pitchFamily="34" charset="0"/>
                <a:cs typeface="Arial" panose="020B0604020202020204" pitchFamily="34" charset="0"/>
              </a:rPr>
              <a:t>ue, </a:t>
            </a:r>
            <a:r>
              <a:rPr sz="1700" spc="-5"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the</a:t>
            </a:r>
            <a:r>
              <a:rPr sz="1700" spc="-35" dirty="0">
                <a:latin typeface="Arial" panose="020B0604020202020204" pitchFamily="34" charset="0"/>
                <a:cs typeface="Arial" panose="020B0604020202020204" pitchFamily="34" charset="0"/>
              </a:rPr>
              <a:t> </a:t>
            </a:r>
            <a:r>
              <a:rPr sz="1700" spc="10" dirty="0">
                <a:latin typeface="Arial" panose="020B0604020202020204" pitchFamily="34" charset="0"/>
                <a:cs typeface="Arial" panose="020B0604020202020204" pitchFamily="34" charset="0"/>
              </a:rPr>
              <a:t>statement</a:t>
            </a:r>
            <a:r>
              <a:rPr sz="1700" spc="-110"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associated</a:t>
            </a:r>
            <a:r>
              <a:rPr sz="1700" spc="-145" dirty="0">
                <a:latin typeface="Arial" panose="020B0604020202020204" pitchFamily="34" charset="0"/>
                <a:cs typeface="Arial" panose="020B0604020202020204" pitchFamily="34" charset="0"/>
              </a:rPr>
              <a:t> </a:t>
            </a:r>
            <a:r>
              <a:rPr sz="1700" spc="-10" dirty="0">
                <a:latin typeface="Arial" panose="020B0604020202020204" pitchFamily="34" charset="0"/>
                <a:cs typeface="Arial" panose="020B0604020202020204" pitchFamily="34" charset="0"/>
              </a:rPr>
              <a:t>with</a:t>
            </a:r>
            <a:r>
              <a:rPr sz="1700" spc="50"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that</a:t>
            </a:r>
            <a:r>
              <a:rPr sz="1700" spc="-30" dirty="0">
                <a:latin typeface="Arial" panose="020B0604020202020204" pitchFamily="34" charset="0"/>
                <a:cs typeface="Arial" panose="020B0604020202020204" pitchFamily="34" charset="0"/>
              </a:rPr>
              <a:t> </a:t>
            </a:r>
            <a:r>
              <a:rPr sz="1700" spc="10" dirty="0">
                <a:latin typeface="Arial" panose="020B0604020202020204" pitchFamily="34" charset="0"/>
                <a:cs typeface="Arial" panose="020B0604020202020204" pitchFamily="34" charset="0"/>
              </a:rPr>
              <a:t>if</a:t>
            </a:r>
            <a:r>
              <a:rPr sz="1700" spc="-35" dirty="0">
                <a:latin typeface="Arial" panose="020B0604020202020204" pitchFamily="34" charset="0"/>
                <a:cs typeface="Arial" panose="020B0604020202020204" pitchFamily="34" charset="0"/>
              </a:rPr>
              <a:t> </a:t>
            </a:r>
            <a:r>
              <a:rPr sz="1700" spc="10" dirty="0">
                <a:latin typeface="Arial" panose="020B0604020202020204" pitchFamily="34" charset="0"/>
                <a:cs typeface="Arial" panose="020B0604020202020204" pitchFamily="34" charset="0"/>
              </a:rPr>
              <a:t>is</a:t>
            </a:r>
            <a:r>
              <a:rPr sz="1700" spc="-15"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executed,</a:t>
            </a:r>
            <a:r>
              <a:rPr sz="1700" spc="-110"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and</a:t>
            </a:r>
            <a:r>
              <a:rPr sz="1700" spc="-30"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the </a:t>
            </a:r>
            <a:r>
              <a:rPr sz="1700" spc="-459"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rest</a:t>
            </a:r>
            <a:r>
              <a:rPr sz="1700" spc="-35"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of</a:t>
            </a:r>
            <a:r>
              <a:rPr sz="1700" spc="-40"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the</a:t>
            </a:r>
            <a:r>
              <a:rPr sz="1700" spc="-30"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ladder</a:t>
            </a:r>
            <a:r>
              <a:rPr sz="1700" spc="-90" dirty="0">
                <a:latin typeface="Arial" panose="020B0604020202020204" pitchFamily="34" charset="0"/>
                <a:cs typeface="Arial" panose="020B0604020202020204" pitchFamily="34" charset="0"/>
              </a:rPr>
              <a:t> </a:t>
            </a:r>
            <a:r>
              <a:rPr sz="1700" spc="10" dirty="0">
                <a:latin typeface="Arial" panose="020B0604020202020204" pitchFamily="34" charset="0"/>
                <a:cs typeface="Arial" panose="020B0604020202020204" pitchFamily="34" charset="0"/>
              </a:rPr>
              <a:t>is</a:t>
            </a:r>
            <a:r>
              <a:rPr sz="1700" spc="-15"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bypassed.</a:t>
            </a:r>
            <a:endParaRPr sz="1700" dirty="0">
              <a:latin typeface="Arial" panose="020B0604020202020204" pitchFamily="34" charset="0"/>
              <a:cs typeface="Arial" panose="020B0604020202020204" pitchFamily="34" charset="0"/>
            </a:endParaRPr>
          </a:p>
          <a:p>
            <a:pPr marL="194945" marR="632460" indent="-182880" algn="just">
              <a:lnSpc>
                <a:spcPct val="100000"/>
              </a:lnSpc>
              <a:spcBef>
                <a:spcPts val="434"/>
              </a:spcBef>
              <a:buChar char="•"/>
              <a:tabLst>
                <a:tab pos="195580" algn="l"/>
              </a:tabLst>
            </a:pPr>
            <a:r>
              <a:rPr sz="1700" spc="5" dirty="0">
                <a:latin typeface="Arial" panose="020B0604020202020204" pitchFamily="34" charset="0"/>
                <a:cs typeface="Arial" panose="020B0604020202020204" pitchFamily="34" charset="0"/>
              </a:rPr>
              <a:t>If</a:t>
            </a:r>
            <a:r>
              <a:rPr sz="1700" spc="-35" dirty="0">
                <a:latin typeface="Arial" panose="020B0604020202020204" pitchFamily="34" charset="0"/>
                <a:cs typeface="Arial" panose="020B0604020202020204" pitchFamily="34" charset="0"/>
              </a:rPr>
              <a:t> </a:t>
            </a:r>
            <a:r>
              <a:rPr sz="1700" dirty="0">
                <a:latin typeface="Arial" panose="020B0604020202020204" pitchFamily="34" charset="0"/>
                <a:cs typeface="Arial" panose="020B0604020202020204" pitchFamily="34" charset="0"/>
              </a:rPr>
              <a:t>NONE</a:t>
            </a:r>
            <a:r>
              <a:rPr sz="1700" spc="15"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of</a:t>
            </a:r>
            <a:r>
              <a:rPr sz="1700" spc="-30"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the</a:t>
            </a:r>
            <a:r>
              <a:rPr sz="1700" spc="-30"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conditions</a:t>
            </a:r>
            <a:r>
              <a:rPr sz="1700" spc="-90" dirty="0">
                <a:latin typeface="Arial" panose="020B0604020202020204" pitchFamily="34" charset="0"/>
                <a:cs typeface="Arial" panose="020B0604020202020204" pitchFamily="34" charset="0"/>
              </a:rPr>
              <a:t> </a:t>
            </a:r>
            <a:r>
              <a:rPr sz="1700" spc="10" dirty="0">
                <a:latin typeface="Arial" panose="020B0604020202020204" pitchFamily="34" charset="0"/>
                <a:cs typeface="Arial" panose="020B0604020202020204" pitchFamily="34" charset="0"/>
              </a:rPr>
              <a:t>is</a:t>
            </a:r>
            <a:r>
              <a:rPr sz="1700" spc="-55" dirty="0">
                <a:latin typeface="Arial" panose="020B0604020202020204" pitchFamily="34" charset="0"/>
                <a:cs typeface="Arial" panose="020B0604020202020204" pitchFamily="34" charset="0"/>
              </a:rPr>
              <a:t> </a:t>
            </a:r>
            <a:r>
              <a:rPr sz="1700" dirty="0">
                <a:latin typeface="Arial" panose="020B0604020202020204" pitchFamily="34" charset="0"/>
                <a:cs typeface="Arial" panose="020B0604020202020204" pitchFamily="34" charset="0"/>
              </a:rPr>
              <a:t>true,</a:t>
            </a:r>
            <a:r>
              <a:rPr sz="1700" spc="-25"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then</a:t>
            </a:r>
            <a:r>
              <a:rPr sz="1700" spc="-30"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the</a:t>
            </a:r>
            <a:r>
              <a:rPr sz="1700" spc="-25" dirty="0">
                <a:latin typeface="Arial" panose="020B0604020202020204" pitchFamily="34" charset="0"/>
                <a:cs typeface="Arial" panose="020B0604020202020204" pitchFamily="34" charset="0"/>
              </a:rPr>
              <a:t> </a:t>
            </a:r>
            <a:r>
              <a:rPr sz="1700" spc="10" dirty="0">
                <a:latin typeface="Arial" panose="020B0604020202020204" pitchFamily="34" charset="0"/>
                <a:cs typeface="Arial" panose="020B0604020202020204" pitchFamily="34" charset="0"/>
              </a:rPr>
              <a:t>final</a:t>
            </a:r>
            <a:r>
              <a:rPr sz="1700" spc="-95" dirty="0">
                <a:latin typeface="Arial" panose="020B0604020202020204" pitchFamily="34" charset="0"/>
                <a:cs typeface="Arial" panose="020B0604020202020204" pitchFamily="34" charset="0"/>
              </a:rPr>
              <a:t> </a:t>
            </a:r>
            <a:r>
              <a:rPr sz="1700" spc="10" dirty="0">
                <a:latin typeface="Arial" panose="020B0604020202020204" pitchFamily="34" charset="0"/>
                <a:cs typeface="Arial" panose="020B0604020202020204" pitchFamily="34" charset="0"/>
              </a:rPr>
              <a:t>else </a:t>
            </a:r>
            <a:r>
              <a:rPr sz="1700" spc="-459"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statement</a:t>
            </a:r>
            <a:r>
              <a:rPr sz="1700" spc="-114" dirty="0">
                <a:latin typeface="Arial" panose="020B0604020202020204" pitchFamily="34" charset="0"/>
                <a:cs typeface="Arial" panose="020B0604020202020204" pitchFamily="34" charset="0"/>
              </a:rPr>
              <a:t> </a:t>
            </a:r>
            <a:r>
              <a:rPr sz="1700" spc="-10" dirty="0">
                <a:latin typeface="Arial" panose="020B0604020202020204" pitchFamily="34" charset="0"/>
                <a:cs typeface="Arial" panose="020B0604020202020204" pitchFamily="34" charset="0"/>
              </a:rPr>
              <a:t>will</a:t>
            </a:r>
            <a:r>
              <a:rPr sz="1700" spc="20"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be</a:t>
            </a:r>
            <a:r>
              <a:rPr sz="1700" spc="-35" dirty="0">
                <a:latin typeface="Arial" panose="020B0604020202020204" pitchFamily="34" charset="0"/>
                <a:cs typeface="Arial" panose="020B0604020202020204" pitchFamily="34" charset="0"/>
              </a:rPr>
              <a:t> </a:t>
            </a:r>
            <a:r>
              <a:rPr sz="1700" spc="5" dirty="0">
                <a:latin typeface="Arial" panose="020B0604020202020204" pitchFamily="34" charset="0"/>
                <a:cs typeface="Arial" panose="020B0604020202020204" pitchFamily="34" charset="0"/>
              </a:rPr>
              <a:t>executed.</a:t>
            </a:r>
            <a:endParaRPr sz="1700" dirty="0">
              <a:latin typeface="Arial" panose="020B0604020202020204" pitchFamily="34" charset="0"/>
              <a:cs typeface="Arial" panose="020B0604020202020204" pitchFamily="34" charset="0"/>
            </a:endParaRPr>
          </a:p>
          <a:p>
            <a:pPr marL="12065" marR="5080" algn="just">
              <a:lnSpc>
                <a:spcPct val="100899"/>
              </a:lnSpc>
              <a:spcBef>
                <a:spcPts val="375"/>
              </a:spcBef>
              <a:tabLst>
                <a:tab pos="195580" algn="l"/>
              </a:tabLst>
            </a:pPr>
            <a:endParaRPr sz="1700" dirty="0">
              <a:latin typeface="Arial" panose="020B0604020202020204" pitchFamily="34" charset="0"/>
              <a:cs typeface="Arial" panose="020B0604020202020204" pitchFamily="34" charset="0"/>
            </a:endParaRPr>
          </a:p>
        </p:txBody>
      </p:sp>
      <p:sp>
        <p:nvSpPr>
          <p:cNvPr id="5" name="object 5"/>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a:spLocks noGrp="1"/>
          </p:cNvSpPr>
          <p:nvPr>
            <p:ph type="title"/>
          </p:nvPr>
        </p:nvSpPr>
        <p:spPr>
          <a:xfrm>
            <a:off x="1727200" y="726272"/>
            <a:ext cx="4409089" cy="318135"/>
          </a:xfrm>
          <a:prstGeom prst="rect">
            <a:avLst/>
          </a:prstGeom>
        </p:spPr>
        <p:txBody>
          <a:bodyPr vert="horz" wrap="square" lIns="0" tIns="14604" rIns="0" bIns="0" rtlCol="0">
            <a:spAutoFit/>
          </a:bodyPr>
          <a:lstStyle/>
          <a:p>
            <a:pPr marL="12700">
              <a:lnSpc>
                <a:spcPct val="100000"/>
              </a:lnSpc>
              <a:spcBef>
                <a:spcPts val="114"/>
              </a:spcBef>
            </a:pPr>
            <a:r>
              <a:rPr spc="-15" dirty="0">
                <a:solidFill>
                  <a:schemeClr val="tx1"/>
                </a:solidFill>
              </a:rPr>
              <a:t>Switch</a:t>
            </a:r>
            <a:r>
              <a:rPr spc="65" dirty="0">
                <a:solidFill>
                  <a:schemeClr val="tx1"/>
                </a:solidFill>
              </a:rPr>
              <a:t> </a:t>
            </a:r>
            <a:r>
              <a:rPr spc="5" dirty="0">
                <a:solidFill>
                  <a:schemeClr val="tx1"/>
                </a:solidFill>
              </a:rPr>
              <a:t>statement</a:t>
            </a:r>
          </a:p>
        </p:txBody>
      </p:sp>
      <p:sp>
        <p:nvSpPr>
          <p:cNvPr id="4" name="object 4"/>
          <p:cNvSpPr txBox="1"/>
          <p:nvPr/>
        </p:nvSpPr>
        <p:spPr>
          <a:xfrm>
            <a:off x="364664" y="1260930"/>
            <a:ext cx="6137736" cy="1180580"/>
          </a:xfrm>
          <a:prstGeom prst="rect">
            <a:avLst/>
          </a:prstGeom>
        </p:spPr>
        <p:txBody>
          <a:bodyPr vert="horz" wrap="square" lIns="0" tIns="10160" rIns="0" bIns="0" rtlCol="0">
            <a:spAutoFit/>
          </a:bodyPr>
          <a:lstStyle/>
          <a:p>
            <a:pPr marL="194945" marR="661035" indent="-182880">
              <a:lnSpc>
                <a:spcPct val="101899"/>
              </a:lnSpc>
              <a:spcBef>
                <a:spcPts val="80"/>
              </a:spcBef>
              <a:buChar char="•"/>
              <a:tabLst>
                <a:tab pos="195580" algn="l"/>
              </a:tabLst>
            </a:pPr>
            <a:r>
              <a:rPr dirty="0">
                <a:latin typeface="Arial MT"/>
                <a:cs typeface="Arial MT"/>
              </a:rPr>
              <a:t>The</a:t>
            </a:r>
            <a:r>
              <a:rPr spc="-35" dirty="0">
                <a:latin typeface="Arial MT"/>
                <a:cs typeface="Arial MT"/>
              </a:rPr>
              <a:t> </a:t>
            </a:r>
            <a:r>
              <a:rPr dirty="0">
                <a:latin typeface="Arial MT"/>
                <a:cs typeface="Arial MT"/>
              </a:rPr>
              <a:t>switch</a:t>
            </a:r>
            <a:r>
              <a:rPr spc="-35" dirty="0">
                <a:latin typeface="Arial MT"/>
                <a:cs typeface="Arial MT"/>
              </a:rPr>
              <a:t> </a:t>
            </a:r>
            <a:r>
              <a:rPr spc="10" dirty="0">
                <a:latin typeface="Arial MT"/>
                <a:cs typeface="Arial MT"/>
              </a:rPr>
              <a:t>statement</a:t>
            </a:r>
            <a:r>
              <a:rPr spc="-110" dirty="0">
                <a:latin typeface="Arial MT"/>
                <a:cs typeface="Arial MT"/>
              </a:rPr>
              <a:t> </a:t>
            </a:r>
            <a:r>
              <a:rPr spc="10" dirty="0">
                <a:latin typeface="Arial MT"/>
                <a:cs typeface="Arial MT"/>
              </a:rPr>
              <a:t>is</a:t>
            </a:r>
            <a:r>
              <a:rPr spc="-20" dirty="0">
                <a:latin typeface="Arial MT"/>
                <a:cs typeface="Arial MT"/>
              </a:rPr>
              <a:t> </a:t>
            </a:r>
            <a:r>
              <a:rPr spc="10" dirty="0">
                <a:latin typeface="Arial MT"/>
                <a:cs typeface="Arial MT"/>
              </a:rPr>
              <a:t>Java’s</a:t>
            </a:r>
            <a:r>
              <a:rPr spc="-60" dirty="0">
                <a:latin typeface="Arial MT"/>
                <a:cs typeface="Arial MT"/>
              </a:rPr>
              <a:t> </a:t>
            </a:r>
            <a:r>
              <a:rPr dirty="0">
                <a:solidFill>
                  <a:srgbClr val="C00000"/>
                </a:solidFill>
                <a:latin typeface="Arial MT"/>
                <a:cs typeface="Arial MT"/>
              </a:rPr>
              <a:t>multiway</a:t>
            </a:r>
            <a:r>
              <a:rPr spc="-60" dirty="0">
                <a:solidFill>
                  <a:srgbClr val="C00000"/>
                </a:solidFill>
                <a:latin typeface="Arial MT"/>
                <a:cs typeface="Arial MT"/>
              </a:rPr>
              <a:t> </a:t>
            </a:r>
            <a:r>
              <a:rPr spc="5" dirty="0">
                <a:solidFill>
                  <a:srgbClr val="C00000"/>
                </a:solidFill>
                <a:latin typeface="Arial MT"/>
                <a:cs typeface="Arial MT"/>
              </a:rPr>
              <a:t>branch</a:t>
            </a:r>
            <a:r>
              <a:rPr lang="en-US" spc="5" dirty="0">
                <a:solidFill>
                  <a:srgbClr val="C00000"/>
                </a:solidFill>
                <a:latin typeface="Arial MT"/>
                <a:cs typeface="Arial MT"/>
              </a:rPr>
              <a:t>    </a:t>
            </a:r>
            <a:r>
              <a:rPr spc="10" dirty="0">
                <a:solidFill>
                  <a:srgbClr val="C00000"/>
                </a:solidFill>
                <a:latin typeface="Arial MT"/>
                <a:cs typeface="Arial MT"/>
              </a:rPr>
              <a:t>statement.</a:t>
            </a:r>
            <a:endParaRPr dirty="0">
              <a:latin typeface="Arial MT"/>
              <a:cs typeface="Arial MT"/>
            </a:endParaRPr>
          </a:p>
          <a:p>
            <a:pPr marL="194945" marR="5080" indent="-182880">
              <a:lnSpc>
                <a:spcPct val="100000"/>
              </a:lnSpc>
              <a:spcBef>
                <a:spcPts val="395"/>
              </a:spcBef>
              <a:buChar char="•"/>
              <a:tabLst>
                <a:tab pos="195580" algn="l"/>
              </a:tabLst>
            </a:pPr>
            <a:r>
              <a:rPr spc="5" dirty="0">
                <a:latin typeface="Arial MT"/>
                <a:cs typeface="Arial MT"/>
              </a:rPr>
              <a:t>It</a:t>
            </a:r>
            <a:r>
              <a:rPr spc="-35" dirty="0">
                <a:latin typeface="Arial MT"/>
                <a:cs typeface="Arial MT"/>
              </a:rPr>
              <a:t> </a:t>
            </a:r>
            <a:r>
              <a:rPr spc="10" dirty="0">
                <a:latin typeface="Arial MT"/>
                <a:cs typeface="Arial MT"/>
              </a:rPr>
              <a:t>is</a:t>
            </a:r>
            <a:r>
              <a:rPr spc="-15" dirty="0">
                <a:latin typeface="Arial MT"/>
                <a:cs typeface="Arial MT"/>
              </a:rPr>
              <a:t> </a:t>
            </a:r>
            <a:r>
              <a:rPr spc="5" dirty="0">
                <a:latin typeface="Arial MT"/>
                <a:cs typeface="Arial MT"/>
              </a:rPr>
              <a:t>an</a:t>
            </a:r>
            <a:r>
              <a:rPr spc="-30" dirty="0">
                <a:latin typeface="Arial MT"/>
                <a:cs typeface="Arial MT"/>
              </a:rPr>
              <a:t> </a:t>
            </a:r>
            <a:r>
              <a:rPr spc="5" dirty="0">
                <a:latin typeface="Arial MT"/>
                <a:cs typeface="Arial MT"/>
              </a:rPr>
              <a:t>better</a:t>
            </a:r>
            <a:r>
              <a:rPr spc="-45" dirty="0">
                <a:latin typeface="Arial MT"/>
                <a:cs typeface="Arial MT"/>
              </a:rPr>
              <a:t> </a:t>
            </a:r>
            <a:r>
              <a:rPr spc="5" dirty="0">
                <a:latin typeface="Arial MT"/>
                <a:cs typeface="Arial MT"/>
              </a:rPr>
              <a:t>alternative</a:t>
            </a:r>
            <a:r>
              <a:rPr spc="-150" dirty="0">
                <a:latin typeface="Arial MT"/>
                <a:cs typeface="Arial MT"/>
              </a:rPr>
              <a:t> </a:t>
            </a:r>
            <a:r>
              <a:rPr spc="5" dirty="0">
                <a:latin typeface="Arial MT"/>
                <a:cs typeface="Arial MT"/>
              </a:rPr>
              <a:t>than</a:t>
            </a:r>
            <a:r>
              <a:rPr spc="-30" dirty="0">
                <a:latin typeface="Arial MT"/>
                <a:cs typeface="Arial MT"/>
              </a:rPr>
              <a:t> </a:t>
            </a:r>
            <a:r>
              <a:rPr spc="10" dirty="0">
                <a:latin typeface="Arial MT"/>
                <a:cs typeface="Arial MT"/>
              </a:rPr>
              <a:t>a</a:t>
            </a:r>
            <a:r>
              <a:rPr spc="-30" dirty="0">
                <a:latin typeface="Arial MT"/>
                <a:cs typeface="Arial MT"/>
              </a:rPr>
              <a:t> </a:t>
            </a:r>
            <a:r>
              <a:rPr spc="5" dirty="0">
                <a:latin typeface="Arial MT"/>
                <a:cs typeface="Arial MT"/>
              </a:rPr>
              <a:t>large</a:t>
            </a:r>
            <a:r>
              <a:rPr spc="-30" dirty="0">
                <a:latin typeface="Arial MT"/>
                <a:cs typeface="Arial MT"/>
              </a:rPr>
              <a:t> </a:t>
            </a:r>
            <a:r>
              <a:rPr spc="5" dirty="0">
                <a:latin typeface="Arial MT"/>
                <a:cs typeface="Arial MT"/>
              </a:rPr>
              <a:t>series</a:t>
            </a:r>
            <a:r>
              <a:rPr spc="-95" dirty="0">
                <a:latin typeface="Arial MT"/>
                <a:cs typeface="Arial MT"/>
              </a:rPr>
              <a:t> </a:t>
            </a:r>
            <a:r>
              <a:rPr spc="5" dirty="0">
                <a:latin typeface="Arial MT"/>
                <a:cs typeface="Arial MT"/>
              </a:rPr>
              <a:t>of </a:t>
            </a:r>
            <a:r>
              <a:rPr spc="15" dirty="0">
                <a:latin typeface="Arial MT"/>
                <a:cs typeface="Arial MT"/>
              </a:rPr>
              <a:t>if-else-if </a:t>
            </a:r>
            <a:r>
              <a:rPr spc="-455" dirty="0">
                <a:latin typeface="Arial MT"/>
                <a:cs typeface="Arial MT"/>
              </a:rPr>
              <a:t> </a:t>
            </a:r>
            <a:r>
              <a:rPr spc="5" dirty="0">
                <a:latin typeface="Arial MT"/>
                <a:cs typeface="Arial MT"/>
              </a:rPr>
              <a:t>statements.</a:t>
            </a:r>
            <a:endParaRPr dirty="0">
              <a:latin typeface="Arial MT"/>
              <a:cs typeface="Arial MT"/>
            </a:endParaRPr>
          </a:p>
        </p:txBody>
      </p:sp>
      <p:sp>
        <p:nvSpPr>
          <p:cNvPr id="6" name="object 6"/>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4737100" y="268288"/>
            <a:ext cx="1765300" cy="319087"/>
          </a:xfrm>
          <a:prstGeom prst="rect">
            <a:avLst/>
          </a:prstGeom>
        </p:spPr>
        <p:txBody>
          <a:bodyPr vert="horz" wrap="square" lIns="0" tIns="14604" rIns="0" bIns="0" rtlCol="0">
            <a:spAutoFit/>
          </a:bodyPr>
          <a:lstStyle/>
          <a:p>
            <a:pPr marL="12700">
              <a:lnSpc>
                <a:spcPct val="100000"/>
              </a:lnSpc>
              <a:spcBef>
                <a:spcPts val="114"/>
              </a:spcBef>
            </a:pPr>
            <a:r>
              <a:rPr dirty="0"/>
              <a:t>Syntax</a:t>
            </a:r>
            <a:r>
              <a:rPr spc="-10" dirty="0"/>
              <a:t> </a:t>
            </a:r>
            <a:r>
              <a:rPr spc="10" dirty="0"/>
              <a:t>of</a:t>
            </a:r>
            <a:r>
              <a:rPr spc="-55" dirty="0"/>
              <a:t> </a:t>
            </a:r>
            <a:r>
              <a:rPr spc="-15" dirty="0"/>
              <a:t>switch</a:t>
            </a:r>
          </a:p>
        </p:txBody>
      </p:sp>
      <p:sp>
        <p:nvSpPr>
          <p:cNvPr id="3" name="object 3"/>
          <p:cNvSpPr txBox="1"/>
          <p:nvPr/>
        </p:nvSpPr>
        <p:spPr>
          <a:xfrm>
            <a:off x="127000" y="88900"/>
            <a:ext cx="5638800" cy="3316805"/>
          </a:xfrm>
          <a:prstGeom prst="rect">
            <a:avLst/>
          </a:prstGeom>
        </p:spPr>
        <p:txBody>
          <a:bodyPr vert="horz" wrap="square" lIns="0" tIns="16510" rIns="0" bIns="0" rtlCol="0">
            <a:spAutoFit/>
          </a:bodyPr>
          <a:lstStyle/>
          <a:p>
            <a:pPr marL="12700">
              <a:lnSpc>
                <a:spcPct val="100000"/>
              </a:lnSpc>
              <a:spcBef>
                <a:spcPts val="130"/>
              </a:spcBef>
            </a:pPr>
            <a:r>
              <a:rPr lang="en-US" sz="1400" spc="-40" dirty="0">
                <a:solidFill>
                  <a:srgbClr val="0000CC"/>
                </a:solidFill>
                <a:latin typeface="Arial" panose="020B0604020202020204" pitchFamily="34" charset="0"/>
                <a:cs typeface="Arial" panose="020B0604020202020204" pitchFamily="34" charset="0"/>
              </a:rPr>
              <a:t>Syntax:</a:t>
            </a:r>
          </a:p>
          <a:p>
            <a:pPr marL="12700">
              <a:lnSpc>
                <a:spcPct val="100000"/>
              </a:lnSpc>
              <a:spcBef>
                <a:spcPts val="130"/>
              </a:spcBef>
            </a:pPr>
            <a:endParaRPr lang="en-US" sz="1400" spc="-40" dirty="0">
              <a:solidFill>
                <a:srgbClr val="0000CC"/>
              </a:solidFill>
              <a:latin typeface="Arial" panose="020B0604020202020204" pitchFamily="34" charset="0"/>
              <a:cs typeface="Arial" panose="020B0604020202020204" pitchFamily="34" charset="0"/>
            </a:endParaRPr>
          </a:p>
          <a:p>
            <a:pPr marL="12700">
              <a:lnSpc>
                <a:spcPct val="100000"/>
              </a:lnSpc>
              <a:spcBef>
                <a:spcPts val="130"/>
              </a:spcBef>
            </a:pPr>
            <a:r>
              <a:rPr sz="1400" spc="-40" dirty="0">
                <a:solidFill>
                  <a:srgbClr val="0000CC"/>
                </a:solidFill>
                <a:latin typeface="Arial" panose="020B0604020202020204" pitchFamily="34" charset="0"/>
                <a:cs typeface="Arial" panose="020B0604020202020204" pitchFamily="34" charset="0"/>
              </a:rPr>
              <a:t>switch</a:t>
            </a:r>
            <a:r>
              <a:rPr sz="1400" spc="15" dirty="0">
                <a:solidFill>
                  <a:srgbClr val="0000CC"/>
                </a:solidFill>
                <a:latin typeface="Arial" panose="020B0604020202020204" pitchFamily="34" charset="0"/>
                <a:cs typeface="Arial" panose="020B0604020202020204" pitchFamily="34" charset="0"/>
              </a:rPr>
              <a:t> </a:t>
            </a:r>
            <a:r>
              <a:rPr sz="1400" spc="-15" dirty="0">
                <a:latin typeface="Arial" panose="020B0604020202020204" pitchFamily="34" charset="0"/>
                <a:cs typeface="Arial" panose="020B0604020202020204" pitchFamily="34" charset="0"/>
              </a:rPr>
              <a:t>(expression)</a:t>
            </a:r>
            <a:endParaRPr sz="1400" dirty="0">
              <a:latin typeface="Arial" panose="020B0604020202020204" pitchFamily="34" charset="0"/>
              <a:cs typeface="Arial" panose="020B0604020202020204" pitchFamily="34" charset="0"/>
            </a:endParaRPr>
          </a:p>
          <a:p>
            <a:pPr marL="12700">
              <a:lnSpc>
                <a:spcPct val="100000"/>
              </a:lnSpc>
              <a:spcBef>
                <a:spcPts val="15"/>
              </a:spcBef>
            </a:pPr>
            <a:r>
              <a:rPr sz="1400" spc="-20" dirty="0">
                <a:latin typeface="Arial" panose="020B0604020202020204" pitchFamily="34" charset="0"/>
                <a:cs typeface="Arial" panose="020B0604020202020204" pitchFamily="34" charset="0"/>
              </a:rPr>
              <a:t>{</a:t>
            </a:r>
            <a:endParaRPr sz="1400" dirty="0">
              <a:latin typeface="Arial" panose="020B0604020202020204" pitchFamily="34" charset="0"/>
              <a:cs typeface="Arial" panose="020B0604020202020204" pitchFamily="34" charset="0"/>
            </a:endParaRPr>
          </a:p>
          <a:p>
            <a:pPr marL="255904">
              <a:lnSpc>
                <a:spcPct val="100000"/>
              </a:lnSpc>
              <a:spcBef>
                <a:spcPts val="20"/>
              </a:spcBef>
            </a:pPr>
            <a:r>
              <a:rPr sz="1400" spc="-40" dirty="0">
                <a:solidFill>
                  <a:srgbClr val="0000CC"/>
                </a:solidFill>
                <a:latin typeface="Arial" panose="020B0604020202020204" pitchFamily="34" charset="0"/>
                <a:cs typeface="Arial" panose="020B0604020202020204" pitchFamily="34" charset="0"/>
              </a:rPr>
              <a:t>case</a:t>
            </a:r>
            <a:r>
              <a:rPr sz="1400" spc="20" dirty="0">
                <a:solidFill>
                  <a:srgbClr val="0000CC"/>
                </a:solidFill>
                <a:latin typeface="Arial" panose="020B0604020202020204" pitchFamily="34" charset="0"/>
                <a:cs typeface="Arial" panose="020B0604020202020204" pitchFamily="34" charset="0"/>
              </a:rPr>
              <a:t> </a:t>
            </a:r>
            <a:r>
              <a:rPr sz="1400" spc="-25" dirty="0">
                <a:latin typeface="Arial" panose="020B0604020202020204" pitchFamily="34" charset="0"/>
                <a:cs typeface="Arial" panose="020B0604020202020204" pitchFamily="34" charset="0"/>
              </a:rPr>
              <a:t>value1</a:t>
            </a:r>
            <a:r>
              <a:rPr sz="1400" spc="-25" dirty="0">
                <a:solidFill>
                  <a:srgbClr val="0000CC"/>
                </a:solidFill>
                <a:latin typeface="Arial" panose="020B0604020202020204" pitchFamily="34" charset="0"/>
                <a:cs typeface="Arial" panose="020B0604020202020204" pitchFamily="34" charset="0"/>
              </a:rPr>
              <a:t>:</a:t>
            </a:r>
            <a:endParaRPr sz="1400" dirty="0">
              <a:latin typeface="Arial" panose="020B0604020202020204" pitchFamily="34" charset="0"/>
              <a:cs typeface="Arial" panose="020B0604020202020204" pitchFamily="34" charset="0"/>
            </a:endParaRPr>
          </a:p>
          <a:p>
            <a:pPr marL="407670" marR="480695">
              <a:lnSpc>
                <a:spcPct val="101299"/>
              </a:lnSpc>
              <a:spcBef>
                <a:spcPts val="40"/>
              </a:spcBef>
            </a:pPr>
            <a:r>
              <a:rPr sz="1400" spc="-130" dirty="0">
                <a:latin typeface="Arial" panose="020B0604020202020204" pitchFamily="34" charset="0"/>
                <a:cs typeface="Arial" panose="020B0604020202020204" pitchFamily="34" charset="0"/>
              </a:rPr>
              <a:t>/</a:t>
            </a:r>
            <a:r>
              <a:rPr sz="1400" spc="-110" dirty="0">
                <a:latin typeface="Arial" panose="020B0604020202020204" pitchFamily="34" charset="0"/>
                <a:cs typeface="Arial" panose="020B0604020202020204" pitchFamily="34" charset="0"/>
              </a:rPr>
              <a:t>/</a:t>
            </a:r>
            <a:r>
              <a:rPr sz="1400" spc="25" dirty="0">
                <a:latin typeface="Arial" panose="020B0604020202020204" pitchFamily="34" charset="0"/>
                <a:cs typeface="Arial" panose="020B0604020202020204" pitchFamily="34" charset="0"/>
              </a:rPr>
              <a:t> </a:t>
            </a:r>
            <a:r>
              <a:rPr sz="1400" spc="-55" dirty="0">
                <a:latin typeface="Arial" panose="020B0604020202020204" pitchFamily="34" charset="0"/>
                <a:cs typeface="Arial" panose="020B0604020202020204" pitchFamily="34" charset="0"/>
              </a:rPr>
              <a:t>s</a:t>
            </a:r>
            <a:r>
              <a:rPr sz="1400" spc="-105" dirty="0">
                <a:latin typeface="Arial" panose="020B0604020202020204" pitchFamily="34" charset="0"/>
                <a:cs typeface="Arial" panose="020B0604020202020204" pitchFamily="34" charset="0"/>
              </a:rPr>
              <a:t>t</a:t>
            </a:r>
            <a:r>
              <a:rPr sz="1400" spc="-45" dirty="0">
                <a:latin typeface="Arial" panose="020B0604020202020204" pitchFamily="34" charset="0"/>
                <a:cs typeface="Arial" panose="020B0604020202020204" pitchFamily="34" charset="0"/>
              </a:rPr>
              <a:t>a</a:t>
            </a:r>
            <a:r>
              <a:rPr sz="1400" spc="-105" dirty="0">
                <a:latin typeface="Arial" panose="020B0604020202020204" pitchFamily="34" charset="0"/>
                <a:cs typeface="Arial" panose="020B0604020202020204" pitchFamily="34" charset="0"/>
              </a:rPr>
              <a:t>t</a:t>
            </a:r>
            <a:r>
              <a:rPr sz="1400" spc="-70" dirty="0">
                <a:latin typeface="Arial" panose="020B0604020202020204" pitchFamily="34" charset="0"/>
                <a:cs typeface="Arial" panose="020B0604020202020204" pitchFamily="34" charset="0"/>
              </a:rPr>
              <a:t>e</a:t>
            </a:r>
            <a:r>
              <a:rPr sz="1400" spc="30" dirty="0">
                <a:latin typeface="Arial" panose="020B0604020202020204" pitchFamily="34" charset="0"/>
                <a:cs typeface="Arial" panose="020B0604020202020204" pitchFamily="34" charset="0"/>
              </a:rPr>
              <a:t>m</a:t>
            </a:r>
            <a:r>
              <a:rPr sz="1400" spc="-70" dirty="0">
                <a:latin typeface="Arial" panose="020B0604020202020204" pitchFamily="34" charset="0"/>
                <a:cs typeface="Arial" panose="020B0604020202020204" pitchFamily="34" charset="0"/>
              </a:rPr>
              <a:t>e</a:t>
            </a:r>
            <a:r>
              <a:rPr sz="1400" spc="15" dirty="0">
                <a:latin typeface="Arial" panose="020B0604020202020204" pitchFamily="34" charset="0"/>
                <a:cs typeface="Arial" panose="020B0604020202020204" pitchFamily="34" charset="0"/>
              </a:rPr>
              <a:t>n</a:t>
            </a:r>
            <a:r>
              <a:rPr sz="1400" spc="-90" dirty="0">
                <a:latin typeface="Arial" panose="020B0604020202020204" pitchFamily="34" charset="0"/>
                <a:cs typeface="Arial" panose="020B0604020202020204" pitchFamily="34" charset="0"/>
              </a:rPr>
              <a:t>t</a:t>
            </a:r>
            <a:r>
              <a:rPr sz="1400" spc="30" dirty="0">
                <a:latin typeface="Arial" panose="020B0604020202020204" pitchFamily="34" charset="0"/>
                <a:cs typeface="Arial" panose="020B0604020202020204" pitchFamily="34" charset="0"/>
              </a:rPr>
              <a:t> </a:t>
            </a:r>
            <a:r>
              <a:rPr sz="1400" spc="-55" dirty="0">
                <a:latin typeface="Arial" panose="020B0604020202020204" pitchFamily="34" charset="0"/>
                <a:cs typeface="Arial" panose="020B0604020202020204" pitchFamily="34" charset="0"/>
              </a:rPr>
              <a:t>s</a:t>
            </a:r>
            <a:r>
              <a:rPr sz="1400" spc="-70" dirty="0">
                <a:latin typeface="Arial" panose="020B0604020202020204" pitchFamily="34" charset="0"/>
                <a:cs typeface="Arial" panose="020B0604020202020204" pitchFamily="34" charset="0"/>
              </a:rPr>
              <a:t>e</a:t>
            </a:r>
            <a:r>
              <a:rPr sz="1400" spc="-25" dirty="0">
                <a:latin typeface="Arial" panose="020B0604020202020204" pitchFamily="34" charset="0"/>
                <a:cs typeface="Arial" panose="020B0604020202020204" pitchFamily="34" charset="0"/>
              </a:rPr>
              <a:t>qu</a:t>
            </a:r>
            <a:r>
              <a:rPr sz="1400" spc="-70" dirty="0">
                <a:latin typeface="Arial" panose="020B0604020202020204" pitchFamily="34" charset="0"/>
                <a:cs typeface="Arial" panose="020B0604020202020204" pitchFamily="34" charset="0"/>
              </a:rPr>
              <a:t>e</a:t>
            </a:r>
            <a:r>
              <a:rPr sz="1400" spc="15" dirty="0">
                <a:latin typeface="Arial" panose="020B0604020202020204" pitchFamily="34" charset="0"/>
                <a:cs typeface="Arial" panose="020B0604020202020204" pitchFamily="34" charset="0"/>
              </a:rPr>
              <a:t>n</a:t>
            </a:r>
            <a:r>
              <a:rPr sz="1400" spc="-15" dirty="0">
                <a:latin typeface="Arial" panose="020B0604020202020204" pitchFamily="34" charset="0"/>
                <a:cs typeface="Arial" panose="020B0604020202020204" pitchFamily="34" charset="0"/>
              </a:rPr>
              <a:t>c</a:t>
            </a:r>
            <a:r>
              <a:rPr sz="1400" spc="-35" dirty="0">
                <a:latin typeface="Arial" panose="020B0604020202020204" pitchFamily="34" charset="0"/>
                <a:cs typeface="Arial" panose="020B0604020202020204" pitchFamily="34" charset="0"/>
              </a:rPr>
              <a:t>e </a:t>
            </a:r>
            <a:r>
              <a:rPr sz="1400" spc="-25" dirty="0">
                <a:latin typeface="Arial" panose="020B0604020202020204" pitchFamily="34" charset="0"/>
                <a:cs typeface="Arial" panose="020B0604020202020204" pitchFamily="34" charset="0"/>
              </a:rPr>
              <a:t> </a:t>
            </a:r>
            <a:r>
              <a:rPr sz="1400" spc="-20" dirty="0">
                <a:solidFill>
                  <a:srgbClr val="C00000"/>
                </a:solidFill>
                <a:latin typeface="Arial" panose="020B0604020202020204" pitchFamily="34" charset="0"/>
                <a:cs typeface="Arial" panose="020B0604020202020204" pitchFamily="34" charset="0"/>
              </a:rPr>
              <a:t>break;</a:t>
            </a:r>
            <a:endParaRPr sz="1400" dirty="0">
              <a:latin typeface="Arial" panose="020B0604020202020204" pitchFamily="34" charset="0"/>
              <a:cs typeface="Arial" panose="020B0604020202020204" pitchFamily="34" charset="0"/>
            </a:endParaRPr>
          </a:p>
          <a:p>
            <a:pPr marL="255904">
              <a:lnSpc>
                <a:spcPct val="100000"/>
              </a:lnSpc>
              <a:spcBef>
                <a:spcPts val="55"/>
              </a:spcBef>
            </a:pPr>
            <a:r>
              <a:rPr sz="1400" spc="-40" dirty="0">
                <a:solidFill>
                  <a:srgbClr val="0000CC"/>
                </a:solidFill>
                <a:latin typeface="Arial" panose="020B0604020202020204" pitchFamily="34" charset="0"/>
                <a:cs typeface="Arial" panose="020B0604020202020204" pitchFamily="34" charset="0"/>
              </a:rPr>
              <a:t>case</a:t>
            </a:r>
            <a:r>
              <a:rPr sz="1400" spc="30" dirty="0">
                <a:solidFill>
                  <a:srgbClr val="0000CC"/>
                </a:solidFill>
                <a:latin typeface="Arial" panose="020B0604020202020204" pitchFamily="34" charset="0"/>
                <a:cs typeface="Arial" panose="020B0604020202020204" pitchFamily="34" charset="0"/>
              </a:rPr>
              <a:t> </a:t>
            </a:r>
            <a:r>
              <a:rPr sz="1400" spc="-30" dirty="0">
                <a:latin typeface="Arial" panose="020B0604020202020204" pitchFamily="34" charset="0"/>
                <a:cs typeface="Arial" panose="020B0604020202020204" pitchFamily="34" charset="0"/>
              </a:rPr>
              <a:t>value2:</a:t>
            </a:r>
            <a:endParaRPr sz="1400" dirty="0">
              <a:latin typeface="Arial" panose="020B0604020202020204" pitchFamily="34" charset="0"/>
              <a:cs typeface="Arial" panose="020B0604020202020204" pitchFamily="34" charset="0"/>
            </a:endParaRPr>
          </a:p>
          <a:p>
            <a:pPr marL="407670">
              <a:lnSpc>
                <a:spcPct val="100000"/>
              </a:lnSpc>
              <a:spcBef>
                <a:spcPts val="20"/>
              </a:spcBef>
            </a:pPr>
            <a:r>
              <a:rPr sz="1400" spc="-130" dirty="0">
                <a:latin typeface="Arial" panose="020B0604020202020204" pitchFamily="34" charset="0"/>
                <a:cs typeface="Arial" panose="020B0604020202020204" pitchFamily="34" charset="0"/>
              </a:rPr>
              <a:t>/</a:t>
            </a:r>
            <a:r>
              <a:rPr sz="1400" spc="-110" dirty="0">
                <a:latin typeface="Arial" panose="020B0604020202020204" pitchFamily="34" charset="0"/>
                <a:cs typeface="Arial" panose="020B0604020202020204" pitchFamily="34" charset="0"/>
              </a:rPr>
              <a:t>/</a:t>
            </a:r>
            <a:r>
              <a:rPr sz="1400" spc="25" dirty="0">
                <a:latin typeface="Arial" panose="020B0604020202020204" pitchFamily="34" charset="0"/>
                <a:cs typeface="Arial" panose="020B0604020202020204" pitchFamily="34" charset="0"/>
              </a:rPr>
              <a:t> </a:t>
            </a:r>
            <a:r>
              <a:rPr sz="1400" spc="-55" dirty="0">
                <a:latin typeface="Arial" panose="020B0604020202020204" pitchFamily="34" charset="0"/>
                <a:cs typeface="Arial" panose="020B0604020202020204" pitchFamily="34" charset="0"/>
              </a:rPr>
              <a:t>s</a:t>
            </a:r>
            <a:r>
              <a:rPr sz="1400" spc="-105" dirty="0">
                <a:latin typeface="Arial" panose="020B0604020202020204" pitchFamily="34" charset="0"/>
                <a:cs typeface="Arial" panose="020B0604020202020204" pitchFamily="34" charset="0"/>
              </a:rPr>
              <a:t>t</a:t>
            </a:r>
            <a:r>
              <a:rPr sz="1400" spc="-45" dirty="0">
                <a:latin typeface="Arial" panose="020B0604020202020204" pitchFamily="34" charset="0"/>
                <a:cs typeface="Arial" panose="020B0604020202020204" pitchFamily="34" charset="0"/>
              </a:rPr>
              <a:t>a</a:t>
            </a:r>
            <a:r>
              <a:rPr sz="1400" spc="-105" dirty="0">
                <a:latin typeface="Arial" panose="020B0604020202020204" pitchFamily="34" charset="0"/>
                <a:cs typeface="Arial" panose="020B0604020202020204" pitchFamily="34" charset="0"/>
              </a:rPr>
              <a:t>t</a:t>
            </a:r>
            <a:r>
              <a:rPr sz="1400" spc="-70" dirty="0">
                <a:latin typeface="Arial" panose="020B0604020202020204" pitchFamily="34" charset="0"/>
                <a:cs typeface="Arial" panose="020B0604020202020204" pitchFamily="34" charset="0"/>
              </a:rPr>
              <a:t>e</a:t>
            </a:r>
            <a:r>
              <a:rPr sz="1400" spc="30" dirty="0">
                <a:latin typeface="Arial" panose="020B0604020202020204" pitchFamily="34" charset="0"/>
                <a:cs typeface="Arial" panose="020B0604020202020204" pitchFamily="34" charset="0"/>
              </a:rPr>
              <a:t>m</a:t>
            </a:r>
            <a:r>
              <a:rPr sz="1400" spc="-70" dirty="0">
                <a:latin typeface="Arial" panose="020B0604020202020204" pitchFamily="34" charset="0"/>
                <a:cs typeface="Arial" panose="020B0604020202020204" pitchFamily="34" charset="0"/>
              </a:rPr>
              <a:t>e</a:t>
            </a:r>
            <a:r>
              <a:rPr sz="1400" spc="15" dirty="0">
                <a:latin typeface="Arial" panose="020B0604020202020204" pitchFamily="34" charset="0"/>
                <a:cs typeface="Arial" panose="020B0604020202020204" pitchFamily="34" charset="0"/>
              </a:rPr>
              <a:t>n</a:t>
            </a:r>
            <a:r>
              <a:rPr sz="1400" spc="-90" dirty="0">
                <a:latin typeface="Arial" panose="020B0604020202020204" pitchFamily="34" charset="0"/>
                <a:cs typeface="Arial" panose="020B0604020202020204" pitchFamily="34" charset="0"/>
              </a:rPr>
              <a:t>t</a:t>
            </a:r>
            <a:r>
              <a:rPr sz="1400" spc="30" dirty="0">
                <a:latin typeface="Arial" panose="020B0604020202020204" pitchFamily="34" charset="0"/>
                <a:cs typeface="Arial" panose="020B0604020202020204" pitchFamily="34" charset="0"/>
              </a:rPr>
              <a:t> </a:t>
            </a:r>
            <a:r>
              <a:rPr sz="1400" spc="-55" dirty="0">
                <a:latin typeface="Arial" panose="020B0604020202020204" pitchFamily="34" charset="0"/>
                <a:cs typeface="Arial" panose="020B0604020202020204" pitchFamily="34" charset="0"/>
              </a:rPr>
              <a:t>s</a:t>
            </a:r>
            <a:r>
              <a:rPr sz="1400" spc="-70" dirty="0">
                <a:latin typeface="Arial" panose="020B0604020202020204" pitchFamily="34" charset="0"/>
                <a:cs typeface="Arial" panose="020B0604020202020204" pitchFamily="34" charset="0"/>
              </a:rPr>
              <a:t>e</a:t>
            </a:r>
            <a:r>
              <a:rPr sz="1400" spc="-25" dirty="0">
                <a:latin typeface="Arial" panose="020B0604020202020204" pitchFamily="34" charset="0"/>
                <a:cs typeface="Arial" panose="020B0604020202020204" pitchFamily="34" charset="0"/>
              </a:rPr>
              <a:t>qu</a:t>
            </a:r>
            <a:r>
              <a:rPr sz="1400" spc="-70" dirty="0">
                <a:latin typeface="Arial" panose="020B0604020202020204" pitchFamily="34" charset="0"/>
                <a:cs typeface="Arial" panose="020B0604020202020204" pitchFamily="34" charset="0"/>
              </a:rPr>
              <a:t>e</a:t>
            </a:r>
            <a:r>
              <a:rPr sz="1400" spc="15" dirty="0">
                <a:latin typeface="Arial" panose="020B0604020202020204" pitchFamily="34" charset="0"/>
                <a:cs typeface="Arial" panose="020B0604020202020204" pitchFamily="34" charset="0"/>
              </a:rPr>
              <a:t>n</a:t>
            </a:r>
            <a:r>
              <a:rPr sz="1400" spc="-15" dirty="0">
                <a:latin typeface="Arial" panose="020B0604020202020204" pitchFamily="34" charset="0"/>
                <a:cs typeface="Arial" panose="020B0604020202020204" pitchFamily="34" charset="0"/>
              </a:rPr>
              <a:t>c</a:t>
            </a:r>
            <a:r>
              <a:rPr sz="1400" spc="-50" dirty="0">
                <a:latin typeface="Arial" panose="020B0604020202020204" pitchFamily="34" charset="0"/>
                <a:cs typeface="Arial" panose="020B0604020202020204" pitchFamily="34" charset="0"/>
              </a:rPr>
              <a:t>e</a:t>
            </a:r>
            <a:endParaRPr sz="1400" dirty="0">
              <a:latin typeface="Arial" panose="020B0604020202020204" pitchFamily="34" charset="0"/>
              <a:cs typeface="Arial" panose="020B0604020202020204" pitchFamily="34" charset="0"/>
            </a:endParaRPr>
          </a:p>
          <a:p>
            <a:pPr marL="255904">
              <a:lnSpc>
                <a:spcPct val="100000"/>
              </a:lnSpc>
              <a:spcBef>
                <a:spcPts val="20"/>
              </a:spcBef>
            </a:pPr>
            <a:r>
              <a:rPr sz="1400" spc="-15" dirty="0">
                <a:solidFill>
                  <a:srgbClr val="C00000"/>
                </a:solidFill>
                <a:latin typeface="Arial" panose="020B0604020202020204" pitchFamily="34" charset="0"/>
                <a:cs typeface="Arial" panose="020B0604020202020204" pitchFamily="34" charset="0"/>
              </a:rPr>
              <a:t>break;</a:t>
            </a:r>
            <a:endParaRPr sz="1400" dirty="0">
              <a:latin typeface="Arial" panose="020B0604020202020204" pitchFamily="34" charset="0"/>
              <a:cs typeface="Arial" panose="020B0604020202020204" pitchFamily="34" charset="0"/>
            </a:endParaRPr>
          </a:p>
          <a:p>
            <a:pPr marL="255904">
              <a:lnSpc>
                <a:spcPct val="100000"/>
              </a:lnSpc>
              <a:spcBef>
                <a:spcPts val="60"/>
              </a:spcBef>
            </a:pPr>
            <a:r>
              <a:rPr sz="1400" dirty="0">
                <a:latin typeface="Arial" panose="020B0604020202020204" pitchFamily="34" charset="0"/>
                <a:cs typeface="Arial" panose="020B0604020202020204" pitchFamily="34" charset="0"/>
              </a:rPr>
              <a:t>...</a:t>
            </a:r>
          </a:p>
          <a:p>
            <a:pPr marL="255904">
              <a:lnSpc>
                <a:spcPct val="100000"/>
              </a:lnSpc>
              <a:spcBef>
                <a:spcPts val="15"/>
              </a:spcBef>
            </a:pPr>
            <a:r>
              <a:rPr sz="1400" spc="-40" dirty="0">
                <a:solidFill>
                  <a:srgbClr val="0000CC"/>
                </a:solidFill>
                <a:latin typeface="Arial" panose="020B0604020202020204" pitchFamily="34" charset="0"/>
                <a:cs typeface="Arial" panose="020B0604020202020204" pitchFamily="34" charset="0"/>
              </a:rPr>
              <a:t>case</a:t>
            </a:r>
            <a:r>
              <a:rPr sz="1400" spc="20" dirty="0">
                <a:solidFill>
                  <a:srgbClr val="0000CC"/>
                </a:solidFill>
                <a:latin typeface="Arial" panose="020B0604020202020204" pitchFamily="34" charset="0"/>
                <a:cs typeface="Arial" panose="020B0604020202020204" pitchFamily="34" charset="0"/>
              </a:rPr>
              <a:t> </a:t>
            </a:r>
            <a:r>
              <a:rPr sz="1400" spc="-5" dirty="0">
                <a:latin typeface="Arial" panose="020B0604020202020204" pitchFamily="34" charset="0"/>
                <a:cs typeface="Arial" panose="020B0604020202020204" pitchFamily="34" charset="0"/>
              </a:rPr>
              <a:t>valueN:</a:t>
            </a:r>
            <a:endParaRPr sz="1400" dirty="0">
              <a:latin typeface="Arial" panose="020B0604020202020204" pitchFamily="34" charset="0"/>
              <a:cs typeface="Arial" panose="020B0604020202020204" pitchFamily="34" charset="0"/>
            </a:endParaRPr>
          </a:p>
          <a:p>
            <a:pPr marL="407670" marR="480695">
              <a:lnSpc>
                <a:spcPct val="101299"/>
              </a:lnSpc>
              <a:spcBef>
                <a:spcPts val="40"/>
              </a:spcBef>
            </a:pPr>
            <a:r>
              <a:rPr sz="1400" spc="-130" dirty="0">
                <a:latin typeface="Arial" panose="020B0604020202020204" pitchFamily="34" charset="0"/>
                <a:cs typeface="Arial" panose="020B0604020202020204" pitchFamily="34" charset="0"/>
              </a:rPr>
              <a:t>/</a:t>
            </a:r>
            <a:r>
              <a:rPr sz="1400" spc="-110" dirty="0">
                <a:latin typeface="Arial" panose="020B0604020202020204" pitchFamily="34" charset="0"/>
                <a:cs typeface="Arial" panose="020B0604020202020204" pitchFamily="34" charset="0"/>
              </a:rPr>
              <a:t>/</a:t>
            </a:r>
            <a:r>
              <a:rPr sz="1400" spc="25" dirty="0">
                <a:latin typeface="Arial" panose="020B0604020202020204" pitchFamily="34" charset="0"/>
                <a:cs typeface="Arial" panose="020B0604020202020204" pitchFamily="34" charset="0"/>
              </a:rPr>
              <a:t> </a:t>
            </a:r>
            <a:r>
              <a:rPr sz="1400" spc="-55" dirty="0">
                <a:latin typeface="Arial" panose="020B0604020202020204" pitchFamily="34" charset="0"/>
                <a:cs typeface="Arial" panose="020B0604020202020204" pitchFamily="34" charset="0"/>
              </a:rPr>
              <a:t>s</a:t>
            </a:r>
            <a:r>
              <a:rPr sz="1400" spc="-105" dirty="0">
                <a:latin typeface="Arial" panose="020B0604020202020204" pitchFamily="34" charset="0"/>
                <a:cs typeface="Arial" panose="020B0604020202020204" pitchFamily="34" charset="0"/>
              </a:rPr>
              <a:t>t</a:t>
            </a:r>
            <a:r>
              <a:rPr sz="1400" spc="-45" dirty="0">
                <a:latin typeface="Arial" panose="020B0604020202020204" pitchFamily="34" charset="0"/>
                <a:cs typeface="Arial" panose="020B0604020202020204" pitchFamily="34" charset="0"/>
              </a:rPr>
              <a:t>a</a:t>
            </a:r>
            <a:r>
              <a:rPr sz="1400" spc="-105" dirty="0">
                <a:latin typeface="Arial" panose="020B0604020202020204" pitchFamily="34" charset="0"/>
                <a:cs typeface="Arial" panose="020B0604020202020204" pitchFamily="34" charset="0"/>
              </a:rPr>
              <a:t>t</a:t>
            </a:r>
            <a:r>
              <a:rPr sz="1400" spc="-70" dirty="0">
                <a:latin typeface="Arial" panose="020B0604020202020204" pitchFamily="34" charset="0"/>
                <a:cs typeface="Arial" panose="020B0604020202020204" pitchFamily="34" charset="0"/>
              </a:rPr>
              <a:t>e</a:t>
            </a:r>
            <a:r>
              <a:rPr sz="1400" spc="30" dirty="0">
                <a:latin typeface="Arial" panose="020B0604020202020204" pitchFamily="34" charset="0"/>
                <a:cs typeface="Arial" panose="020B0604020202020204" pitchFamily="34" charset="0"/>
              </a:rPr>
              <a:t>m</a:t>
            </a:r>
            <a:r>
              <a:rPr sz="1400" spc="-70" dirty="0">
                <a:latin typeface="Arial" panose="020B0604020202020204" pitchFamily="34" charset="0"/>
                <a:cs typeface="Arial" panose="020B0604020202020204" pitchFamily="34" charset="0"/>
              </a:rPr>
              <a:t>e</a:t>
            </a:r>
            <a:r>
              <a:rPr sz="1400" spc="15" dirty="0">
                <a:latin typeface="Arial" panose="020B0604020202020204" pitchFamily="34" charset="0"/>
                <a:cs typeface="Arial" panose="020B0604020202020204" pitchFamily="34" charset="0"/>
              </a:rPr>
              <a:t>n</a:t>
            </a:r>
            <a:r>
              <a:rPr sz="1400" spc="-90" dirty="0">
                <a:latin typeface="Arial" panose="020B0604020202020204" pitchFamily="34" charset="0"/>
                <a:cs typeface="Arial" panose="020B0604020202020204" pitchFamily="34" charset="0"/>
              </a:rPr>
              <a:t>t</a:t>
            </a:r>
            <a:r>
              <a:rPr sz="1400" spc="30" dirty="0">
                <a:latin typeface="Arial" panose="020B0604020202020204" pitchFamily="34" charset="0"/>
                <a:cs typeface="Arial" panose="020B0604020202020204" pitchFamily="34" charset="0"/>
              </a:rPr>
              <a:t> </a:t>
            </a:r>
            <a:r>
              <a:rPr sz="1400" spc="-55" dirty="0">
                <a:latin typeface="Arial" panose="020B0604020202020204" pitchFamily="34" charset="0"/>
                <a:cs typeface="Arial" panose="020B0604020202020204" pitchFamily="34" charset="0"/>
              </a:rPr>
              <a:t>s</a:t>
            </a:r>
            <a:r>
              <a:rPr sz="1400" spc="-70" dirty="0">
                <a:latin typeface="Arial" panose="020B0604020202020204" pitchFamily="34" charset="0"/>
                <a:cs typeface="Arial" panose="020B0604020202020204" pitchFamily="34" charset="0"/>
              </a:rPr>
              <a:t>e</a:t>
            </a:r>
            <a:r>
              <a:rPr sz="1400" spc="-25" dirty="0">
                <a:latin typeface="Arial" panose="020B0604020202020204" pitchFamily="34" charset="0"/>
                <a:cs typeface="Arial" panose="020B0604020202020204" pitchFamily="34" charset="0"/>
              </a:rPr>
              <a:t>qu</a:t>
            </a:r>
            <a:r>
              <a:rPr sz="1400" spc="-70" dirty="0">
                <a:latin typeface="Arial" panose="020B0604020202020204" pitchFamily="34" charset="0"/>
                <a:cs typeface="Arial" panose="020B0604020202020204" pitchFamily="34" charset="0"/>
              </a:rPr>
              <a:t>e</a:t>
            </a:r>
            <a:r>
              <a:rPr sz="1400" spc="15" dirty="0">
                <a:latin typeface="Arial" panose="020B0604020202020204" pitchFamily="34" charset="0"/>
                <a:cs typeface="Arial" panose="020B0604020202020204" pitchFamily="34" charset="0"/>
              </a:rPr>
              <a:t>n</a:t>
            </a:r>
            <a:r>
              <a:rPr sz="1400" spc="-15" dirty="0">
                <a:latin typeface="Arial" panose="020B0604020202020204" pitchFamily="34" charset="0"/>
                <a:cs typeface="Arial" panose="020B0604020202020204" pitchFamily="34" charset="0"/>
              </a:rPr>
              <a:t>c</a:t>
            </a:r>
            <a:r>
              <a:rPr sz="1400" spc="-35" dirty="0">
                <a:latin typeface="Arial" panose="020B0604020202020204" pitchFamily="34" charset="0"/>
                <a:cs typeface="Arial" panose="020B0604020202020204" pitchFamily="34" charset="0"/>
              </a:rPr>
              <a:t>e </a:t>
            </a:r>
            <a:r>
              <a:rPr sz="1400" spc="-25" dirty="0">
                <a:latin typeface="Arial" panose="020B0604020202020204" pitchFamily="34" charset="0"/>
                <a:cs typeface="Arial" panose="020B0604020202020204" pitchFamily="34" charset="0"/>
              </a:rPr>
              <a:t> </a:t>
            </a:r>
            <a:r>
              <a:rPr sz="1400" spc="-20" dirty="0">
                <a:solidFill>
                  <a:srgbClr val="C00000"/>
                </a:solidFill>
                <a:latin typeface="Arial" panose="020B0604020202020204" pitchFamily="34" charset="0"/>
                <a:cs typeface="Arial" panose="020B0604020202020204" pitchFamily="34" charset="0"/>
              </a:rPr>
              <a:t>break;</a:t>
            </a:r>
            <a:endParaRPr sz="1400" dirty="0">
              <a:latin typeface="Arial" panose="020B0604020202020204" pitchFamily="34" charset="0"/>
              <a:cs typeface="Arial" panose="020B0604020202020204" pitchFamily="34" charset="0"/>
            </a:endParaRPr>
          </a:p>
          <a:p>
            <a:pPr marL="255904">
              <a:lnSpc>
                <a:spcPct val="100000"/>
              </a:lnSpc>
              <a:spcBef>
                <a:spcPts val="20"/>
              </a:spcBef>
            </a:pPr>
            <a:r>
              <a:rPr sz="1400" spc="-30" dirty="0">
                <a:solidFill>
                  <a:srgbClr val="0000CC"/>
                </a:solidFill>
                <a:latin typeface="Arial" panose="020B0604020202020204" pitchFamily="34" charset="0"/>
                <a:cs typeface="Arial" panose="020B0604020202020204" pitchFamily="34" charset="0"/>
              </a:rPr>
              <a:t>default</a:t>
            </a:r>
            <a:r>
              <a:rPr sz="1400" spc="-30" dirty="0">
                <a:latin typeface="Arial" panose="020B0604020202020204" pitchFamily="34" charset="0"/>
                <a:cs typeface="Arial" panose="020B0604020202020204" pitchFamily="34" charset="0"/>
              </a:rPr>
              <a:t>:</a:t>
            </a:r>
            <a:endParaRPr sz="1400" dirty="0">
              <a:latin typeface="Arial" panose="020B0604020202020204" pitchFamily="34" charset="0"/>
              <a:cs typeface="Arial" panose="020B0604020202020204" pitchFamily="34" charset="0"/>
            </a:endParaRPr>
          </a:p>
          <a:p>
            <a:pPr marL="407670">
              <a:lnSpc>
                <a:spcPct val="100000"/>
              </a:lnSpc>
              <a:spcBef>
                <a:spcPts val="55"/>
              </a:spcBef>
            </a:pPr>
            <a:r>
              <a:rPr sz="1400" spc="-130" dirty="0">
                <a:latin typeface="Arial" panose="020B0604020202020204" pitchFamily="34" charset="0"/>
                <a:cs typeface="Arial" panose="020B0604020202020204" pitchFamily="34" charset="0"/>
              </a:rPr>
              <a:t>/</a:t>
            </a:r>
            <a:r>
              <a:rPr sz="1400" spc="-110" dirty="0">
                <a:latin typeface="Arial" panose="020B0604020202020204" pitchFamily="34" charset="0"/>
                <a:cs typeface="Arial" panose="020B0604020202020204" pitchFamily="34" charset="0"/>
              </a:rPr>
              <a:t>/</a:t>
            </a:r>
            <a:r>
              <a:rPr sz="1400" spc="25" dirty="0">
                <a:latin typeface="Arial" panose="020B0604020202020204" pitchFamily="34" charset="0"/>
                <a:cs typeface="Arial" panose="020B0604020202020204" pitchFamily="34" charset="0"/>
              </a:rPr>
              <a:t> </a:t>
            </a:r>
            <a:r>
              <a:rPr sz="1400" spc="15" dirty="0">
                <a:latin typeface="Arial" panose="020B0604020202020204" pitchFamily="34" charset="0"/>
                <a:cs typeface="Arial" panose="020B0604020202020204" pitchFamily="34" charset="0"/>
              </a:rPr>
              <a:t>d</a:t>
            </a:r>
            <a:r>
              <a:rPr sz="1400" spc="-70" dirty="0">
                <a:latin typeface="Arial" panose="020B0604020202020204" pitchFamily="34" charset="0"/>
                <a:cs typeface="Arial" panose="020B0604020202020204" pitchFamily="34" charset="0"/>
              </a:rPr>
              <a:t>e</a:t>
            </a:r>
            <a:r>
              <a:rPr sz="1400" spc="-30" dirty="0">
                <a:latin typeface="Arial" panose="020B0604020202020204" pitchFamily="34" charset="0"/>
                <a:cs typeface="Arial" panose="020B0604020202020204" pitchFamily="34" charset="0"/>
              </a:rPr>
              <a:t>f</a:t>
            </a:r>
            <a:r>
              <a:rPr sz="1400" spc="-40" dirty="0">
                <a:latin typeface="Arial" panose="020B0604020202020204" pitchFamily="34" charset="0"/>
                <a:cs typeface="Arial" panose="020B0604020202020204" pitchFamily="34" charset="0"/>
              </a:rPr>
              <a:t>a</a:t>
            </a:r>
            <a:r>
              <a:rPr sz="1400" spc="-25" dirty="0">
                <a:latin typeface="Arial" panose="020B0604020202020204" pitchFamily="34" charset="0"/>
                <a:cs typeface="Arial" panose="020B0604020202020204" pitchFamily="34" charset="0"/>
              </a:rPr>
              <a:t>u</a:t>
            </a:r>
            <a:r>
              <a:rPr sz="1400" spc="25" dirty="0">
                <a:latin typeface="Arial" panose="020B0604020202020204" pitchFamily="34" charset="0"/>
                <a:cs typeface="Arial" panose="020B0604020202020204" pitchFamily="34" charset="0"/>
              </a:rPr>
              <a:t>l</a:t>
            </a:r>
            <a:r>
              <a:rPr sz="1400" spc="-90" dirty="0">
                <a:latin typeface="Arial" panose="020B0604020202020204" pitchFamily="34" charset="0"/>
                <a:cs typeface="Arial" panose="020B0604020202020204" pitchFamily="34" charset="0"/>
              </a:rPr>
              <a:t>t</a:t>
            </a:r>
            <a:r>
              <a:rPr sz="1400" spc="-5" dirty="0">
                <a:latin typeface="Arial" panose="020B0604020202020204" pitchFamily="34" charset="0"/>
                <a:cs typeface="Arial" panose="020B0604020202020204" pitchFamily="34" charset="0"/>
              </a:rPr>
              <a:t> </a:t>
            </a:r>
            <a:r>
              <a:rPr sz="1400" spc="-55" dirty="0">
                <a:latin typeface="Arial" panose="020B0604020202020204" pitchFamily="34" charset="0"/>
                <a:cs typeface="Arial" panose="020B0604020202020204" pitchFamily="34" charset="0"/>
              </a:rPr>
              <a:t>s</a:t>
            </a:r>
            <a:r>
              <a:rPr sz="1400" spc="-105" dirty="0">
                <a:latin typeface="Arial" panose="020B0604020202020204" pitchFamily="34" charset="0"/>
                <a:cs typeface="Arial" panose="020B0604020202020204" pitchFamily="34" charset="0"/>
              </a:rPr>
              <a:t>t</a:t>
            </a:r>
            <a:r>
              <a:rPr sz="1400" spc="-45" dirty="0">
                <a:latin typeface="Arial" panose="020B0604020202020204" pitchFamily="34" charset="0"/>
                <a:cs typeface="Arial" panose="020B0604020202020204" pitchFamily="34" charset="0"/>
              </a:rPr>
              <a:t>a</a:t>
            </a:r>
            <a:r>
              <a:rPr sz="1400" spc="-105" dirty="0">
                <a:latin typeface="Arial" panose="020B0604020202020204" pitchFamily="34" charset="0"/>
                <a:cs typeface="Arial" panose="020B0604020202020204" pitchFamily="34" charset="0"/>
              </a:rPr>
              <a:t>t</a:t>
            </a:r>
            <a:r>
              <a:rPr sz="1400" spc="-70" dirty="0">
                <a:latin typeface="Arial" panose="020B0604020202020204" pitchFamily="34" charset="0"/>
                <a:cs typeface="Arial" panose="020B0604020202020204" pitchFamily="34" charset="0"/>
              </a:rPr>
              <a:t>e</a:t>
            </a:r>
            <a:r>
              <a:rPr sz="1400" spc="30" dirty="0">
                <a:latin typeface="Arial" panose="020B0604020202020204" pitchFamily="34" charset="0"/>
                <a:cs typeface="Arial" panose="020B0604020202020204" pitchFamily="34" charset="0"/>
              </a:rPr>
              <a:t>m</a:t>
            </a:r>
            <a:r>
              <a:rPr sz="1400" spc="-70" dirty="0">
                <a:latin typeface="Arial" panose="020B0604020202020204" pitchFamily="34" charset="0"/>
                <a:cs typeface="Arial" panose="020B0604020202020204" pitchFamily="34" charset="0"/>
              </a:rPr>
              <a:t>e</a:t>
            </a:r>
            <a:r>
              <a:rPr sz="1400" spc="15" dirty="0">
                <a:latin typeface="Arial" panose="020B0604020202020204" pitchFamily="34" charset="0"/>
                <a:cs typeface="Arial" panose="020B0604020202020204" pitchFamily="34" charset="0"/>
              </a:rPr>
              <a:t>n</a:t>
            </a:r>
            <a:r>
              <a:rPr sz="1400" spc="-90" dirty="0">
                <a:latin typeface="Arial" panose="020B0604020202020204" pitchFamily="34" charset="0"/>
                <a:cs typeface="Arial" panose="020B0604020202020204" pitchFamily="34" charset="0"/>
              </a:rPr>
              <a:t>t</a:t>
            </a:r>
            <a:r>
              <a:rPr sz="1400" spc="30" dirty="0">
                <a:latin typeface="Arial" panose="020B0604020202020204" pitchFamily="34" charset="0"/>
                <a:cs typeface="Arial" panose="020B0604020202020204" pitchFamily="34" charset="0"/>
              </a:rPr>
              <a:t> </a:t>
            </a:r>
            <a:r>
              <a:rPr sz="1400" spc="-55" dirty="0">
                <a:latin typeface="Arial" panose="020B0604020202020204" pitchFamily="34" charset="0"/>
                <a:cs typeface="Arial" panose="020B0604020202020204" pitchFamily="34" charset="0"/>
              </a:rPr>
              <a:t>s</a:t>
            </a:r>
            <a:r>
              <a:rPr sz="1400" spc="-70" dirty="0">
                <a:latin typeface="Arial" panose="020B0604020202020204" pitchFamily="34" charset="0"/>
                <a:cs typeface="Arial" panose="020B0604020202020204" pitchFamily="34" charset="0"/>
              </a:rPr>
              <a:t>e</a:t>
            </a:r>
            <a:r>
              <a:rPr sz="1400" spc="-25" dirty="0">
                <a:latin typeface="Arial" panose="020B0604020202020204" pitchFamily="34" charset="0"/>
                <a:cs typeface="Arial" panose="020B0604020202020204" pitchFamily="34" charset="0"/>
              </a:rPr>
              <a:t>qu</a:t>
            </a:r>
            <a:r>
              <a:rPr sz="1400" spc="-70" dirty="0">
                <a:latin typeface="Arial" panose="020B0604020202020204" pitchFamily="34" charset="0"/>
                <a:cs typeface="Arial" panose="020B0604020202020204" pitchFamily="34" charset="0"/>
              </a:rPr>
              <a:t>e</a:t>
            </a:r>
            <a:r>
              <a:rPr sz="1400" spc="15" dirty="0">
                <a:latin typeface="Arial" panose="020B0604020202020204" pitchFamily="34" charset="0"/>
                <a:cs typeface="Arial" panose="020B0604020202020204" pitchFamily="34" charset="0"/>
              </a:rPr>
              <a:t>n</a:t>
            </a:r>
            <a:r>
              <a:rPr sz="1400" spc="-15" dirty="0">
                <a:latin typeface="Arial" panose="020B0604020202020204" pitchFamily="34" charset="0"/>
                <a:cs typeface="Arial" panose="020B0604020202020204" pitchFamily="34" charset="0"/>
              </a:rPr>
              <a:t>c</a:t>
            </a:r>
            <a:r>
              <a:rPr sz="1400" spc="-50" dirty="0">
                <a:latin typeface="Arial" panose="020B0604020202020204" pitchFamily="34" charset="0"/>
                <a:cs typeface="Arial" panose="020B0604020202020204" pitchFamily="34" charset="0"/>
              </a:rPr>
              <a:t>e</a:t>
            </a:r>
            <a:endParaRPr sz="1400" dirty="0">
              <a:latin typeface="Arial" panose="020B0604020202020204" pitchFamily="34" charset="0"/>
              <a:cs typeface="Arial" panose="020B0604020202020204" pitchFamily="34" charset="0"/>
            </a:endParaRPr>
          </a:p>
          <a:p>
            <a:pPr marL="12700">
              <a:lnSpc>
                <a:spcPct val="100000"/>
              </a:lnSpc>
              <a:spcBef>
                <a:spcPts val="20"/>
              </a:spcBef>
            </a:pPr>
            <a:r>
              <a:rPr sz="1400" spc="-20" dirty="0">
                <a:latin typeface="Arial" panose="020B0604020202020204" pitchFamily="34" charset="0"/>
                <a:cs typeface="Arial" panose="020B0604020202020204" pitchFamily="34" charset="0"/>
              </a:rPr>
              <a:t>}</a:t>
            </a:r>
            <a:endParaRPr sz="1400" dirty="0">
              <a:latin typeface="Arial" panose="020B0604020202020204" pitchFamily="34" charset="0"/>
              <a:cs typeface="Arial" panose="020B0604020202020204" pitchFamily="34" charset="0"/>
            </a:endParaRPr>
          </a:p>
        </p:txBody>
      </p:sp>
      <p:sp>
        <p:nvSpPr>
          <p:cNvPr id="5" name="object 5"/>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08200" y="304165"/>
            <a:ext cx="1918335" cy="318135"/>
          </a:xfrm>
          <a:prstGeom prst="rect">
            <a:avLst/>
          </a:prstGeom>
        </p:spPr>
        <p:txBody>
          <a:bodyPr vert="horz" wrap="square" lIns="0" tIns="14604" rIns="0" bIns="0" rtlCol="0">
            <a:spAutoFit/>
          </a:bodyPr>
          <a:lstStyle/>
          <a:p>
            <a:pPr marL="12700">
              <a:lnSpc>
                <a:spcPct val="100000"/>
              </a:lnSpc>
              <a:spcBef>
                <a:spcPts val="114"/>
              </a:spcBef>
            </a:pPr>
            <a:r>
              <a:rPr spc="114" dirty="0">
                <a:solidFill>
                  <a:schemeClr val="tx1"/>
                </a:solidFill>
              </a:rPr>
              <a:t>W</a:t>
            </a:r>
            <a:r>
              <a:rPr spc="15" dirty="0">
                <a:solidFill>
                  <a:schemeClr val="tx1"/>
                </a:solidFill>
              </a:rPr>
              <a:t>o</a:t>
            </a:r>
            <a:r>
              <a:rPr spc="5" dirty="0">
                <a:solidFill>
                  <a:schemeClr val="tx1"/>
                </a:solidFill>
              </a:rPr>
              <a:t>rk</a:t>
            </a:r>
            <a:r>
              <a:rPr spc="-30" dirty="0">
                <a:solidFill>
                  <a:schemeClr val="tx1"/>
                </a:solidFill>
              </a:rPr>
              <a:t>i</a:t>
            </a:r>
            <a:r>
              <a:rPr spc="15" dirty="0">
                <a:solidFill>
                  <a:schemeClr val="tx1"/>
                </a:solidFill>
              </a:rPr>
              <a:t>n</a:t>
            </a:r>
            <a:r>
              <a:rPr spc="10" dirty="0">
                <a:solidFill>
                  <a:schemeClr val="tx1"/>
                </a:solidFill>
              </a:rPr>
              <a:t>g</a:t>
            </a:r>
            <a:r>
              <a:rPr spc="-70" dirty="0">
                <a:solidFill>
                  <a:schemeClr val="tx1"/>
                </a:solidFill>
                <a:latin typeface="Times New Roman"/>
                <a:cs typeface="Times New Roman"/>
              </a:rPr>
              <a:t> </a:t>
            </a:r>
            <a:r>
              <a:rPr spc="15" dirty="0">
                <a:solidFill>
                  <a:schemeClr val="tx1"/>
                </a:solidFill>
              </a:rPr>
              <a:t>o</a:t>
            </a:r>
            <a:r>
              <a:rPr spc="5" dirty="0">
                <a:solidFill>
                  <a:schemeClr val="tx1"/>
                </a:solidFill>
              </a:rPr>
              <a:t>f</a:t>
            </a:r>
            <a:r>
              <a:rPr spc="65" dirty="0">
                <a:solidFill>
                  <a:schemeClr val="tx1"/>
                </a:solidFill>
                <a:latin typeface="Times New Roman"/>
                <a:cs typeface="Times New Roman"/>
              </a:rPr>
              <a:t> </a:t>
            </a:r>
            <a:r>
              <a:rPr spc="5" dirty="0">
                <a:solidFill>
                  <a:schemeClr val="tx1"/>
                </a:solidFill>
              </a:rPr>
              <a:t>s</a:t>
            </a:r>
            <a:r>
              <a:rPr spc="-60" dirty="0">
                <a:solidFill>
                  <a:schemeClr val="tx1"/>
                </a:solidFill>
              </a:rPr>
              <a:t>w</a:t>
            </a:r>
            <a:r>
              <a:rPr spc="-30" dirty="0">
                <a:solidFill>
                  <a:schemeClr val="tx1"/>
                </a:solidFill>
              </a:rPr>
              <a:t>i</a:t>
            </a:r>
            <a:r>
              <a:rPr spc="-10" dirty="0">
                <a:solidFill>
                  <a:schemeClr val="tx1"/>
                </a:solidFill>
              </a:rPr>
              <a:t>t</a:t>
            </a:r>
            <a:r>
              <a:rPr spc="5" dirty="0">
                <a:solidFill>
                  <a:schemeClr val="tx1"/>
                </a:solidFill>
              </a:rPr>
              <a:t>ch</a:t>
            </a:r>
          </a:p>
        </p:txBody>
      </p:sp>
      <p:sp>
        <p:nvSpPr>
          <p:cNvPr id="3" name="object 3"/>
          <p:cNvSpPr txBox="1"/>
          <p:nvPr/>
        </p:nvSpPr>
        <p:spPr>
          <a:xfrm>
            <a:off x="0" y="640689"/>
            <a:ext cx="6207760" cy="3699218"/>
          </a:xfrm>
          <a:prstGeom prst="rect">
            <a:avLst/>
          </a:prstGeom>
        </p:spPr>
        <p:txBody>
          <a:bodyPr vert="horz" wrap="square" lIns="0" tIns="10160" rIns="0" bIns="0" rtlCol="0">
            <a:spAutoFit/>
          </a:bodyPr>
          <a:lstStyle/>
          <a:p>
            <a:pPr marL="194945" marR="125730" indent="-182880" algn="just">
              <a:lnSpc>
                <a:spcPct val="101899"/>
              </a:lnSpc>
              <a:spcBef>
                <a:spcPts val="80"/>
              </a:spcBef>
              <a:buFontTx/>
              <a:buChar char="•"/>
              <a:tabLst>
                <a:tab pos="195580" algn="l"/>
              </a:tabLst>
            </a:pPr>
            <a:r>
              <a:rPr lang="en-US" sz="1700" dirty="0">
                <a:latin typeface="Arial MT"/>
                <a:cs typeface="Arial MT"/>
              </a:rPr>
              <a:t>The</a:t>
            </a:r>
            <a:r>
              <a:rPr lang="en-US" sz="1700" spc="-30" dirty="0">
                <a:latin typeface="Arial MT"/>
                <a:cs typeface="Arial MT"/>
              </a:rPr>
              <a:t> </a:t>
            </a:r>
            <a:r>
              <a:rPr lang="en-US" sz="1700" spc="5" dirty="0">
                <a:latin typeface="Arial MT"/>
                <a:cs typeface="Arial MT"/>
              </a:rPr>
              <a:t>expression</a:t>
            </a:r>
            <a:r>
              <a:rPr lang="en-US" sz="1700" spc="-110" dirty="0">
                <a:latin typeface="Arial MT"/>
                <a:cs typeface="Arial MT"/>
              </a:rPr>
              <a:t> </a:t>
            </a:r>
            <a:r>
              <a:rPr lang="en-US" sz="1700" spc="10" dirty="0">
                <a:latin typeface="Arial MT"/>
                <a:cs typeface="Arial MT"/>
              </a:rPr>
              <a:t>inside</a:t>
            </a:r>
            <a:r>
              <a:rPr lang="en-US" sz="1700" spc="-110" dirty="0">
                <a:latin typeface="Arial MT"/>
                <a:cs typeface="Arial MT"/>
              </a:rPr>
              <a:t> </a:t>
            </a:r>
            <a:r>
              <a:rPr lang="en-US" sz="1700" dirty="0">
                <a:latin typeface="Arial MT"/>
                <a:cs typeface="Arial MT"/>
              </a:rPr>
              <a:t>switch</a:t>
            </a:r>
            <a:r>
              <a:rPr lang="en-US" sz="1700" spc="-30" dirty="0">
                <a:latin typeface="Arial MT"/>
                <a:cs typeface="Arial MT"/>
              </a:rPr>
              <a:t> </a:t>
            </a:r>
            <a:r>
              <a:rPr lang="en-US" sz="1700" spc="10" dirty="0">
                <a:latin typeface="Arial MT"/>
                <a:cs typeface="Arial MT"/>
              </a:rPr>
              <a:t>must</a:t>
            </a:r>
            <a:r>
              <a:rPr lang="en-US" sz="1700" spc="-30" dirty="0">
                <a:latin typeface="Arial MT"/>
                <a:cs typeface="Arial MT"/>
              </a:rPr>
              <a:t> </a:t>
            </a:r>
            <a:r>
              <a:rPr lang="en-US" sz="1700" spc="5" dirty="0">
                <a:latin typeface="Arial MT"/>
                <a:cs typeface="Arial MT"/>
              </a:rPr>
              <a:t>be</a:t>
            </a:r>
            <a:r>
              <a:rPr lang="en-US" sz="1700" spc="-25" dirty="0">
                <a:latin typeface="Arial MT"/>
                <a:cs typeface="Arial MT"/>
              </a:rPr>
              <a:t> </a:t>
            </a:r>
            <a:r>
              <a:rPr lang="en-US" sz="1700" spc="5" dirty="0">
                <a:latin typeface="Arial MT"/>
                <a:cs typeface="Arial MT"/>
              </a:rPr>
              <a:t>of</a:t>
            </a:r>
            <a:r>
              <a:rPr lang="en-US" sz="1700" spc="-35" dirty="0">
                <a:latin typeface="Arial MT"/>
                <a:cs typeface="Arial MT"/>
              </a:rPr>
              <a:t> </a:t>
            </a:r>
            <a:r>
              <a:rPr lang="en-US" sz="1700" dirty="0">
                <a:latin typeface="Arial MT"/>
                <a:cs typeface="Arial MT"/>
              </a:rPr>
              <a:t>type</a:t>
            </a:r>
            <a:r>
              <a:rPr lang="en-US" sz="1700" spc="-30" dirty="0">
                <a:latin typeface="Arial MT"/>
                <a:cs typeface="Arial MT"/>
              </a:rPr>
              <a:t> </a:t>
            </a:r>
            <a:r>
              <a:rPr lang="en-US" sz="1700" dirty="0">
                <a:latin typeface="Arial MT"/>
                <a:cs typeface="Arial MT"/>
              </a:rPr>
              <a:t>byte,</a:t>
            </a:r>
            <a:r>
              <a:rPr lang="en-US" sz="1700" spc="10" dirty="0">
                <a:latin typeface="Arial MT"/>
                <a:cs typeface="Arial MT"/>
              </a:rPr>
              <a:t> </a:t>
            </a:r>
            <a:r>
              <a:rPr lang="en-US" sz="1700" spc="5" dirty="0">
                <a:latin typeface="Arial MT"/>
                <a:cs typeface="Arial MT"/>
              </a:rPr>
              <a:t>short, </a:t>
            </a:r>
            <a:r>
              <a:rPr lang="en-US" sz="1700" spc="-455" dirty="0">
                <a:latin typeface="Arial MT"/>
                <a:cs typeface="Arial MT"/>
              </a:rPr>
              <a:t> </a:t>
            </a:r>
            <a:r>
              <a:rPr lang="en-US" sz="1700" spc="5" dirty="0">
                <a:latin typeface="Arial MT"/>
                <a:cs typeface="Arial MT"/>
              </a:rPr>
              <a:t>int,</a:t>
            </a:r>
            <a:r>
              <a:rPr lang="en-US" sz="1700" spc="-35" dirty="0">
                <a:latin typeface="Arial MT"/>
                <a:cs typeface="Arial MT"/>
              </a:rPr>
              <a:t> </a:t>
            </a:r>
            <a:r>
              <a:rPr lang="en-US" sz="1700" spc="5" dirty="0">
                <a:latin typeface="Arial MT"/>
                <a:cs typeface="Arial MT"/>
              </a:rPr>
              <a:t>or</a:t>
            </a:r>
            <a:r>
              <a:rPr lang="en-US" sz="1700" spc="-50" dirty="0">
                <a:latin typeface="Arial MT"/>
                <a:cs typeface="Arial MT"/>
              </a:rPr>
              <a:t> </a:t>
            </a:r>
            <a:r>
              <a:rPr lang="en-US" sz="1700" spc="5" dirty="0">
                <a:latin typeface="Arial MT"/>
                <a:cs typeface="Arial MT"/>
              </a:rPr>
              <a:t>char;</a:t>
            </a:r>
            <a:endParaRPr lang="en-US" sz="1700" dirty="0">
              <a:latin typeface="Arial MT"/>
              <a:cs typeface="Arial MT"/>
            </a:endParaRPr>
          </a:p>
          <a:p>
            <a:pPr marL="194945" marR="125730" indent="-182880" algn="just">
              <a:lnSpc>
                <a:spcPct val="101899"/>
              </a:lnSpc>
              <a:spcBef>
                <a:spcPts val="80"/>
              </a:spcBef>
              <a:buChar char="•"/>
              <a:tabLst>
                <a:tab pos="195580" algn="l"/>
              </a:tabLst>
            </a:pPr>
            <a:r>
              <a:rPr sz="1700" dirty="0">
                <a:latin typeface="Arial MT"/>
                <a:cs typeface="Arial MT"/>
              </a:rPr>
              <a:t>The</a:t>
            </a:r>
            <a:r>
              <a:rPr sz="1700" spc="-30" dirty="0">
                <a:latin typeface="Arial MT"/>
                <a:cs typeface="Arial MT"/>
              </a:rPr>
              <a:t> </a:t>
            </a:r>
            <a:r>
              <a:rPr sz="1700" spc="20" dirty="0">
                <a:latin typeface="Arial MT"/>
                <a:cs typeface="Arial MT"/>
              </a:rPr>
              <a:t>value</a:t>
            </a:r>
            <a:r>
              <a:rPr sz="1700" spc="-110" dirty="0">
                <a:latin typeface="Arial MT"/>
                <a:cs typeface="Arial MT"/>
              </a:rPr>
              <a:t> </a:t>
            </a:r>
            <a:r>
              <a:rPr sz="1700" spc="5" dirty="0">
                <a:latin typeface="Arial MT"/>
                <a:cs typeface="Arial MT"/>
              </a:rPr>
              <a:t>of</a:t>
            </a:r>
            <a:r>
              <a:rPr sz="1700" spc="-35" dirty="0">
                <a:latin typeface="Arial MT"/>
                <a:cs typeface="Arial MT"/>
              </a:rPr>
              <a:t> </a:t>
            </a:r>
            <a:r>
              <a:rPr sz="1700" spc="5" dirty="0">
                <a:latin typeface="Arial MT"/>
                <a:cs typeface="Arial MT"/>
              </a:rPr>
              <a:t>the</a:t>
            </a:r>
            <a:r>
              <a:rPr sz="1700" spc="-25" dirty="0">
                <a:latin typeface="Arial MT"/>
                <a:cs typeface="Arial MT"/>
              </a:rPr>
              <a:t> </a:t>
            </a:r>
            <a:r>
              <a:rPr sz="1700" spc="5" dirty="0">
                <a:latin typeface="Arial MT"/>
                <a:cs typeface="Arial MT"/>
              </a:rPr>
              <a:t>expression</a:t>
            </a:r>
            <a:r>
              <a:rPr sz="1700" spc="-110" dirty="0">
                <a:latin typeface="Arial MT"/>
                <a:cs typeface="Arial MT"/>
              </a:rPr>
              <a:t> </a:t>
            </a:r>
            <a:r>
              <a:rPr sz="1700" spc="10" dirty="0">
                <a:latin typeface="Arial MT"/>
                <a:cs typeface="Arial MT"/>
              </a:rPr>
              <a:t>inside</a:t>
            </a:r>
            <a:r>
              <a:rPr sz="1700" spc="-65" dirty="0">
                <a:latin typeface="Arial MT"/>
                <a:cs typeface="Arial MT"/>
              </a:rPr>
              <a:t> </a:t>
            </a:r>
            <a:r>
              <a:rPr sz="1700" dirty="0">
                <a:solidFill>
                  <a:srgbClr val="0000CC"/>
                </a:solidFill>
                <a:latin typeface="Arial MT"/>
                <a:cs typeface="Arial MT"/>
              </a:rPr>
              <a:t>switch</a:t>
            </a:r>
            <a:r>
              <a:rPr sz="1700" spc="-20" dirty="0">
                <a:solidFill>
                  <a:srgbClr val="0000CC"/>
                </a:solidFill>
                <a:latin typeface="Arial MT"/>
                <a:cs typeface="Arial MT"/>
              </a:rPr>
              <a:t> </a:t>
            </a:r>
            <a:r>
              <a:rPr sz="1700" spc="10" dirty="0">
                <a:latin typeface="Arial MT"/>
                <a:cs typeface="Arial MT"/>
              </a:rPr>
              <a:t>is</a:t>
            </a:r>
            <a:r>
              <a:rPr sz="1700" spc="-10" dirty="0">
                <a:latin typeface="Arial MT"/>
                <a:cs typeface="Arial MT"/>
              </a:rPr>
              <a:t> </a:t>
            </a:r>
            <a:r>
              <a:rPr sz="1700" spc="5" dirty="0">
                <a:latin typeface="Arial MT"/>
                <a:cs typeface="Arial MT"/>
              </a:rPr>
              <a:t>compared </a:t>
            </a:r>
            <a:r>
              <a:rPr sz="1700" spc="-459" dirty="0">
                <a:latin typeface="Arial MT"/>
                <a:cs typeface="Arial MT"/>
              </a:rPr>
              <a:t> </a:t>
            </a:r>
            <a:r>
              <a:rPr sz="1700" spc="-10" dirty="0">
                <a:latin typeface="Arial MT"/>
                <a:cs typeface="Arial MT"/>
              </a:rPr>
              <a:t>with</a:t>
            </a:r>
            <a:r>
              <a:rPr sz="1700" spc="50" dirty="0">
                <a:latin typeface="Arial MT"/>
                <a:cs typeface="Arial MT"/>
              </a:rPr>
              <a:t> </a:t>
            </a:r>
            <a:r>
              <a:rPr sz="1700" spc="10" dirty="0">
                <a:latin typeface="Arial MT"/>
                <a:cs typeface="Arial MT"/>
              </a:rPr>
              <a:t>each</a:t>
            </a:r>
            <a:r>
              <a:rPr sz="1700" spc="-75" dirty="0">
                <a:latin typeface="Arial MT"/>
                <a:cs typeface="Arial MT"/>
              </a:rPr>
              <a:t> </a:t>
            </a:r>
            <a:r>
              <a:rPr sz="1700" spc="5" dirty="0">
                <a:latin typeface="Arial MT"/>
                <a:cs typeface="Arial MT"/>
              </a:rPr>
              <a:t>of</a:t>
            </a:r>
            <a:r>
              <a:rPr sz="1700" spc="-40" dirty="0">
                <a:latin typeface="Arial MT"/>
                <a:cs typeface="Arial MT"/>
              </a:rPr>
              <a:t> </a:t>
            </a:r>
            <a:r>
              <a:rPr sz="1700" spc="5" dirty="0">
                <a:latin typeface="Arial MT"/>
                <a:cs typeface="Arial MT"/>
              </a:rPr>
              <a:t>the</a:t>
            </a:r>
            <a:r>
              <a:rPr sz="1700" spc="-30" dirty="0">
                <a:latin typeface="Arial MT"/>
                <a:cs typeface="Arial MT"/>
              </a:rPr>
              <a:t> </a:t>
            </a:r>
            <a:r>
              <a:rPr sz="1700" spc="5" dirty="0">
                <a:latin typeface="Arial MT"/>
                <a:cs typeface="Arial MT"/>
              </a:rPr>
              <a:t>literal</a:t>
            </a:r>
            <a:r>
              <a:rPr sz="1700" spc="-55" dirty="0">
                <a:latin typeface="Arial MT"/>
                <a:cs typeface="Arial MT"/>
              </a:rPr>
              <a:t> </a:t>
            </a:r>
            <a:r>
              <a:rPr sz="1700" spc="15" dirty="0">
                <a:latin typeface="Arial MT"/>
                <a:cs typeface="Arial MT"/>
              </a:rPr>
              <a:t>values</a:t>
            </a:r>
            <a:r>
              <a:rPr sz="1700" spc="-130" dirty="0">
                <a:latin typeface="Arial MT"/>
                <a:cs typeface="Arial MT"/>
              </a:rPr>
              <a:t> </a:t>
            </a:r>
            <a:r>
              <a:rPr sz="1700" spc="10" dirty="0">
                <a:latin typeface="Arial MT"/>
                <a:cs typeface="Arial MT"/>
              </a:rPr>
              <a:t>in</a:t>
            </a:r>
            <a:r>
              <a:rPr sz="1700" spc="-30" dirty="0">
                <a:latin typeface="Arial MT"/>
                <a:cs typeface="Arial MT"/>
              </a:rPr>
              <a:t> </a:t>
            </a:r>
            <a:r>
              <a:rPr sz="1700" spc="5" dirty="0">
                <a:latin typeface="Arial MT"/>
                <a:cs typeface="Arial MT"/>
              </a:rPr>
              <a:t>the</a:t>
            </a:r>
            <a:r>
              <a:rPr sz="1700" spc="15" dirty="0">
                <a:latin typeface="Arial MT"/>
                <a:cs typeface="Arial MT"/>
              </a:rPr>
              <a:t> </a:t>
            </a:r>
            <a:r>
              <a:rPr sz="1700" spc="15" dirty="0">
                <a:solidFill>
                  <a:srgbClr val="0000CC"/>
                </a:solidFill>
                <a:latin typeface="Arial MT"/>
                <a:cs typeface="Arial MT"/>
              </a:rPr>
              <a:t>case</a:t>
            </a:r>
            <a:r>
              <a:rPr sz="1700" spc="-65" dirty="0">
                <a:solidFill>
                  <a:srgbClr val="0000CC"/>
                </a:solidFill>
                <a:latin typeface="Arial MT"/>
                <a:cs typeface="Arial MT"/>
              </a:rPr>
              <a:t> </a:t>
            </a:r>
            <a:r>
              <a:rPr sz="1700" spc="5" dirty="0">
                <a:latin typeface="Arial MT"/>
                <a:cs typeface="Arial MT"/>
              </a:rPr>
              <a:t>statements.</a:t>
            </a:r>
            <a:endParaRPr sz="1700" dirty="0">
              <a:latin typeface="Arial MT"/>
              <a:cs typeface="Arial MT"/>
            </a:endParaRPr>
          </a:p>
          <a:p>
            <a:pPr marL="407670" marR="243204" lvl="1" indent="-152400" algn="just">
              <a:lnSpc>
                <a:spcPct val="101099"/>
              </a:lnSpc>
              <a:spcBef>
                <a:spcPts val="385"/>
              </a:spcBef>
              <a:buChar char="–"/>
              <a:tabLst>
                <a:tab pos="408305" algn="l"/>
              </a:tabLst>
            </a:pPr>
            <a:r>
              <a:rPr sz="1450" spc="-20" dirty="0">
                <a:latin typeface="Arial MT"/>
                <a:cs typeface="Arial MT"/>
              </a:rPr>
              <a:t>If</a:t>
            </a:r>
            <a:r>
              <a:rPr sz="1450" spc="60" dirty="0">
                <a:latin typeface="Arial MT"/>
                <a:cs typeface="Arial MT"/>
              </a:rPr>
              <a:t> </a:t>
            </a:r>
            <a:r>
              <a:rPr sz="1450" spc="15" dirty="0">
                <a:latin typeface="Arial MT"/>
                <a:cs typeface="Arial MT"/>
              </a:rPr>
              <a:t>a</a:t>
            </a:r>
            <a:r>
              <a:rPr sz="1450" spc="10" dirty="0">
                <a:latin typeface="Arial MT"/>
                <a:cs typeface="Arial MT"/>
              </a:rPr>
              <a:t> match</a:t>
            </a:r>
            <a:r>
              <a:rPr sz="1450" spc="45" dirty="0">
                <a:latin typeface="Arial MT"/>
                <a:cs typeface="Arial MT"/>
              </a:rPr>
              <a:t> </a:t>
            </a:r>
            <a:r>
              <a:rPr sz="1450" spc="-15" dirty="0">
                <a:latin typeface="Arial MT"/>
                <a:cs typeface="Arial MT"/>
              </a:rPr>
              <a:t>is</a:t>
            </a:r>
            <a:r>
              <a:rPr sz="1450" spc="95" dirty="0">
                <a:latin typeface="Arial MT"/>
                <a:cs typeface="Arial MT"/>
              </a:rPr>
              <a:t> </a:t>
            </a:r>
            <a:r>
              <a:rPr sz="1450" spc="15" dirty="0">
                <a:latin typeface="Arial MT"/>
                <a:cs typeface="Arial MT"/>
              </a:rPr>
              <a:t>found,</a:t>
            </a:r>
            <a:r>
              <a:rPr sz="1450" spc="-15" dirty="0">
                <a:latin typeface="Arial MT"/>
                <a:cs typeface="Arial MT"/>
              </a:rPr>
              <a:t> </a:t>
            </a:r>
            <a:r>
              <a:rPr sz="1450" spc="10" dirty="0">
                <a:latin typeface="Arial MT"/>
                <a:cs typeface="Arial MT"/>
              </a:rPr>
              <a:t>the </a:t>
            </a:r>
            <a:r>
              <a:rPr sz="1450" spc="20" dirty="0">
                <a:latin typeface="Arial MT"/>
                <a:cs typeface="Arial MT"/>
              </a:rPr>
              <a:t>code</a:t>
            </a:r>
            <a:r>
              <a:rPr sz="1450" spc="10" dirty="0">
                <a:latin typeface="Arial MT"/>
                <a:cs typeface="Arial MT"/>
              </a:rPr>
              <a:t> sequence</a:t>
            </a:r>
            <a:r>
              <a:rPr sz="1450" spc="55" dirty="0">
                <a:latin typeface="Arial MT"/>
                <a:cs typeface="Arial MT"/>
              </a:rPr>
              <a:t> </a:t>
            </a:r>
            <a:r>
              <a:rPr sz="1450" spc="-5" dirty="0">
                <a:latin typeface="Arial MT"/>
                <a:cs typeface="Arial MT"/>
              </a:rPr>
              <a:t>following</a:t>
            </a:r>
            <a:r>
              <a:rPr sz="1450" spc="170" dirty="0">
                <a:latin typeface="Arial MT"/>
                <a:cs typeface="Arial MT"/>
              </a:rPr>
              <a:t> </a:t>
            </a:r>
            <a:r>
              <a:rPr sz="1450" dirty="0">
                <a:latin typeface="Arial MT"/>
                <a:cs typeface="Arial MT"/>
              </a:rPr>
              <a:t>that</a:t>
            </a:r>
            <a:r>
              <a:rPr sz="1450" spc="60" dirty="0">
                <a:latin typeface="Arial MT"/>
                <a:cs typeface="Arial MT"/>
              </a:rPr>
              <a:t> </a:t>
            </a:r>
            <a:r>
              <a:rPr sz="1450" spc="5" dirty="0">
                <a:latin typeface="Arial MT"/>
                <a:cs typeface="Arial MT"/>
              </a:rPr>
              <a:t>case</a:t>
            </a:r>
            <a:r>
              <a:rPr lang="en-US" sz="1450" spc="5" dirty="0">
                <a:latin typeface="Arial MT"/>
                <a:cs typeface="Arial MT"/>
              </a:rPr>
              <a:t>  </a:t>
            </a:r>
            <a:r>
              <a:rPr sz="1450" dirty="0">
                <a:latin typeface="Arial MT"/>
                <a:cs typeface="Arial MT"/>
              </a:rPr>
              <a:t>statement</a:t>
            </a:r>
            <a:r>
              <a:rPr sz="1450" spc="140" dirty="0">
                <a:latin typeface="Arial MT"/>
                <a:cs typeface="Arial MT"/>
              </a:rPr>
              <a:t> </a:t>
            </a:r>
            <a:r>
              <a:rPr sz="1450" spc="-15" dirty="0">
                <a:latin typeface="Arial MT"/>
                <a:cs typeface="Arial MT"/>
              </a:rPr>
              <a:t>is</a:t>
            </a:r>
            <a:r>
              <a:rPr sz="1450" spc="85" dirty="0">
                <a:latin typeface="Arial MT"/>
                <a:cs typeface="Arial MT"/>
              </a:rPr>
              <a:t> </a:t>
            </a:r>
            <a:r>
              <a:rPr sz="1450" dirty="0">
                <a:latin typeface="Arial MT"/>
                <a:cs typeface="Arial MT"/>
              </a:rPr>
              <a:t>executed.</a:t>
            </a:r>
          </a:p>
          <a:p>
            <a:pPr marL="407670" marR="48260" lvl="1" indent="-152400" algn="just">
              <a:lnSpc>
                <a:spcPct val="103299"/>
              </a:lnSpc>
              <a:spcBef>
                <a:spcPts val="360"/>
              </a:spcBef>
              <a:buChar char="–"/>
              <a:tabLst>
                <a:tab pos="408305" algn="l"/>
              </a:tabLst>
            </a:pPr>
            <a:r>
              <a:rPr sz="1450" spc="-20" dirty="0">
                <a:latin typeface="Arial MT"/>
                <a:cs typeface="Arial MT"/>
              </a:rPr>
              <a:t>If</a:t>
            </a:r>
            <a:r>
              <a:rPr sz="1450" spc="60" dirty="0">
                <a:latin typeface="Arial MT"/>
                <a:cs typeface="Arial MT"/>
              </a:rPr>
              <a:t> </a:t>
            </a:r>
            <a:r>
              <a:rPr sz="1450" spc="20" dirty="0">
                <a:latin typeface="Arial MT"/>
                <a:cs typeface="Arial MT"/>
              </a:rPr>
              <a:t>none</a:t>
            </a:r>
            <a:r>
              <a:rPr sz="1450" spc="10" dirty="0">
                <a:latin typeface="Arial MT"/>
                <a:cs typeface="Arial MT"/>
              </a:rPr>
              <a:t> </a:t>
            </a:r>
            <a:r>
              <a:rPr sz="1450" spc="15" dirty="0">
                <a:latin typeface="Arial MT"/>
                <a:cs typeface="Arial MT"/>
              </a:rPr>
              <a:t>of</a:t>
            </a:r>
            <a:r>
              <a:rPr sz="1450" spc="-20" dirty="0">
                <a:latin typeface="Arial MT"/>
                <a:cs typeface="Arial MT"/>
              </a:rPr>
              <a:t> </a:t>
            </a:r>
            <a:r>
              <a:rPr sz="1450" spc="10" dirty="0">
                <a:latin typeface="Arial MT"/>
                <a:cs typeface="Arial MT"/>
              </a:rPr>
              <a:t>the </a:t>
            </a:r>
            <a:r>
              <a:rPr sz="1450" spc="5" dirty="0">
                <a:latin typeface="Arial MT"/>
                <a:cs typeface="Arial MT"/>
              </a:rPr>
              <a:t>constants</a:t>
            </a:r>
            <a:r>
              <a:rPr sz="1450" spc="95" dirty="0">
                <a:latin typeface="Arial MT"/>
                <a:cs typeface="Arial MT"/>
              </a:rPr>
              <a:t> </a:t>
            </a:r>
            <a:r>
              <a:rPr sz="1450" spc="-15" dirty="0">
                <a:latin typeface="Arial MT"/>
                <a:cs typeface="Arial MT"/>
              </a:rPr>
              <a:t>in</a:t>
            </a:r>
            <a:r>
              <a:rPr sz="1450" spc="45" dirty="0">
                <a:latin typeface="Arial MT"/>
                <a:cs typeface="Arial MT"/>
              </a:rPr>
              <a:t> </a:t>
            </a:r>
            <a:r>
              <a:rPr sz="1450" spc="10" dirty="0">
                <a:latin typeface="Arial MT"/>
                <a:cs typeface="Arial MT"/>
              </a:rPr>
              <a:t>the</a:t>
            </a:r>
            <a:r>
              <a:rPr sz="1450" spc="90" dirty="0">
                <a:latin typeface="Arial MT"/>
                <a:cs typeface="Arial MT"/>
              </a:rPr>
              <a:t> </a:t>
            </a:r>
            <a:r>
              <a:rPr sz="1450" spc="5" dirty="0">
                <a:solidFill>
                  <a:srgbClr val="0000CC"/>
                </a:solidFill>
                <a:latin typeface="Arial MT"/>
                <a:cs typeface="Arial MT"/>
              </a:rPr>
              <a:t>case</a:t>
            </a:r>
            <a:r>
              <a:rPr sz="1450" spc="60" dirty="0">
                <a:solidFill>
                  <a:srgbClr val="0000CC"/>
                </a:solidFill>
                <a:latin typeface="Arial MT"/>
                <a:cs typeface="Arial MT"/>
              </a:rPr>
              <a:t> </a:t>
            </a:r>
            <a:r>
              <a:rPr sz="1450" spc="5" dirty="0">
                <a:latin typeface="Arial MT"/>
                <a:cs typeface="Arial MT"/>
              </a:rPr>
              <a:t>matches</a:t>
            </a:r>
            <a:r>
              <a:rPr sz="1450" spc="90" dirty="0">
                <a:latin typeface="Arial MT"/>
                <a:cs typeface="Arial MT"/>
              </a:rPr>
              <a:t> </a:t>
            </a:r>
            <a:r>
              <a:rPr sz="1450" spc="10" dirty="0">
                <a:latin typeface="Arial MT"/>
                <a:cs typeface="Arial MT"/>
              </a:rPr>
              <a:t>the </a:t>
            </a:r>
            <a:r>
              <a:rPr sz="1450" spc="-15" dirty="0">
                <a:latin typeface="Arial MT"/>
                <a:cs typeface="Arial MT"/>
              </a:rPr>
              <a:t>value</a:t>
            </a:r>
            <a:r>
              <a:rPr sz="1450" spc="170" dirty="0">
                <a:latin typeface="Arial MT"/>
                <a:cs typeface="Arial MT"/>
              </a:rPr>
              <a:t> </a:t>
            </a:r>
            <a:r>
              <a:rPr sz="1450" spc="15" dirty="0">
                <a:latin typeface="Arial MT"/>
                <a:cs typeface="Arial MT"/>
              </a:rPr>
              <a:t>of</a:t>
            </a:r>
            <a:r>
              <a:rPr sz="1450" spc="-20" dirty="0">
                <a:latin typeface="Arial MT"/>
                <a:cs typeface="Arial MT"/>
              </a:rPr>
              <a:t> </a:t>
            </a:r>
            <a:r>
              <a:rPr sz="1450" spc="10" dirty="0">
                <a:latin typeface="Arial MT"/>
                <a:cs typeface="Arial MT"/>
              </a:rPr>
              <a:t>the </a:t>
            </a:r>
            <a:r>
              <a:rPr sz="1450" spc="-385" dirty="0">
                <a:latin typeface="Arial MT"/>
                <a:cs typeface="Arial MT"/>
              </a:rPr>
              <a:t> </a:t>
            </a:r>
            <a:r>
              <a:rPr sz="1450" spc="-5" dirty="0">
                <a:latin typeface="Arial MT"/>
                <a:cs typeface="Arial MT"/>
              </a:rPr>
              <a:t>expression,</a:t>
            </a:r>
            <a:r>
              <a:rPr sz="1450" spc="220" dirty="0">
                <a:latin typeface="Arial MT"/>
                <a:cs typeface="Arial MT"/>
              </a:rPr>
              <a:t> </a:t>
            </a:r>
            <a:r>
              <a:rPr sz="1450" spc="5" dirty="0">
                <a:latin typeface="Arial MT"/>
                <a:cs typeface="Arial MT"/>
              </a:rPr>
              <a:t>then</a:t>
            </a:r>
            <a:r>
              <a:rPr sz="1450" spc="40" dirty="0">
                <a:latin typeface="Arial MT"/>
                <a:cs typeface="Arial MT"/>
              </a:rPr>
              <a:t> </a:t>
            </a:r>
            <a:r>
              <a:rPr sz="1450" spc="10" dirty="0">
                <a:latin typeface="Arial MT"/>
                <a:cs typeface="Arial MT"/>
              </a:rPr>
              <a:t>the</a:t>
            </a:r>
            <a:r>
              <a:rPr sz="1450" spc="35" dirty="0">
                <a:latin typeface="Arial MT"/>
                <a:cs typeface="Arial MT"/>
              </a:rPr>
              <a:t> </a:t>
            </a:r>
            <a:r>
              <a:rPr sz="1450" spc="-5" dirty="0">
                <a:solidFill>
                  <a:srgbClr val="0000CC"/>
                </a:solidFill>
                <a:latin typeface="Arial MT"/>
                <a:cs typeface="Arial MT"/>
              </a:rPr>
              <a:t>default</a:t>
            </a:r>
            <a:r>
              <a:rPr sz="1450" spc="145" dirty="0">
                <a:solidFill>
                  <a:srgbClr val="0000CC"/>
                </a:solidFill>
                <a:latin typeface="Arial MT"/>
                <a:cs typeface="Arial MT"/>
              </a:rPr>
              <a:t> </a:t>
            </a:r>
            <a:r>
              <a:rPr sz="1450" dirty="0">
                <a:latin typeface="Arial MT"/>
                <a:cs typeface="Arial MT"/>
              </a:rPr>
              <a:t>statement</a:t>
            </a:r>
            <a:r>
              <a:rPr sz="1450" spc="140" dirty="0">
                <a:latin typeface="Arial MT"/>
                <a:cs typeface="Arial MT"/>
              </a:rPr>
              <a:t> </a:t>
            </a:r>
            <a:r>
              <a:rPr sz="1450" spc="-15" dirty="0">
                <a:latin typeface="Arial MT"/>
                <a:cs typeface="Arial MT"/>
              </a:rPr>
              <a:t>is</a:t>
            </a:r>
            <a:r>
              <a:rPr sz="1450" spc="90" dirty="0">
                <a:latin typeface="Arial MT"/>
                <a:cs typeface="Arial MT"/>
              </a:rPr>
              <a:t> </a:t>
            </a:r>
            <a:r>
              <a:rPr sz="1450" dirty="0">
                <a:latin typeface="Arial MT"/>
                <a:cs typeface="Arial MT"/>
              </a:rPr>
              <a:t>executed.</a:t>
            </a:r>
          </a:p>
          <a:p>
            <a:pPr marL="407670" lvl="1" indent="-152400" algn="just">
              <a:lnSpc>
                <a:spcPct val="100000"/>
              </a:lnSpc>
              <a:spcBef>
                <a:spcPts val="420"/>
              </a:spcBef>
              <a:buChar char="–"/>
              <a:tabLst>
                <a:tab pos="408305" algn="l"/>
              </a:tabLst>
            </a:pPr>
            <a:r>
              <a:rPr sz="1450" spc="-5" dirty="0">
                <a:solidFill>
                  <a:srgbClr val="0000CC"/>
                </a:solidFill>
                <a:latin typeface="Arial MT"/>
                <a:cs typeface="Arial MT"/>
              </a:rPr>
              <a:t>default</a:t>
            </a:r>
            <a:r>
              <a:rPr sz="1450" spc="125" dirty="0">
                <a:solidFill>
                  <a:srgbClr val="0000CC"/>
                </a:solidFill>
                <a:latin typeface="Arial MT"/>
                <a:cs typeface="Arial MT"/>
              </a:rPr>
              <a:t> </a:t>
            </a:r>
            <a:r>
              <a:rPr sz="1450" dirty="0">
                <a:latin typeface="Arial MT"/>
                <a:cs typeface="Arial MT"/>
              </a:rPr>
              <a:t>statement</a:t>
            </a:r>
            <a:r>
              <a:rPr sz="1450" spc="125" dirty="0">
                <a:latin typeface="Arial MT"/>
                <a:cs typeface="Arial MT"/>
              </a:rPr>
              <a:t> </a:t>
            </a:r>
            <a:r>
              <a:rPr sz="1450" spc="-15" dirty="0">
                <a:latin typeface="Arial MT"/>
                <a:cs typeface="Arial MT"/>
              </a:rPr>
              <a:t>is</a:t>
            </a:r>
            <a:r>
              <a:rPr sz="1450" spc="35" dirty="0">
                <a:latin typeface="Arial MT"/>
                <a:cs typeface="Arial MT"/>
              </a:rPr>
              <a:t> </a:t>
            </a:r>
            <a:r>
              <a:rPr sz="1450" dirty="0">
                <a:latin typeface="Arial MT"/>
                <a:cs typeface="Arial MT"/>
              </a:rPr>
              <a:t>optional.</a:t>
            </a:r>
          </a:p>
          <a:p>
            <a:pPr marL="407670" marR="5080" lvl="1" indent="-152400" algn="just">
              <a:lnSpc>
                <a:spcPct val="101000"/>
              </a:lnSpc>
              <a:spcBef>
                <a:spcPts val="400"/>
              </a:spcBef>
              <a:buFont typeface="Arial MT"/>
              <a:buChar char="–"/>
              <a:tabLst>
                <a:tab pos="459105" algn="l"/>
              </a:tabLst>
            </a:pPr>
            <a:r>
              <a:rPr dirty="0"/>
              <a:t>	</a:t>
            </a:r>
            <a:r>
              <a:rPr sz="1450" spc="-20" dirty="0">
                <a:latin typeface="Arial MT"/>
                <a:cs typeface="Arial MT"/>
              </a:rPr>
              <a:t>If</a:t>
            </a:r>
            <a:r>
              <a:rPr sz="1450" spc="60" dirty="0">
                <a:latin typeface="Arial MT"/>
                <a:cs typeface="Arial MT"/>
              </a:rPr>
              <a:t> </a:t>
            </a:r>
            <a:r>
              <a:rPr sz="1450" spc="20" dirty="0">
                <a:latin typeface="Arial MT"/>
                <a:cs typeface="Arial MT"/>
              </a:rPr>
              <a:t>no</a:t>
            </a:r>
            <a:r>
              <a:rPr sz="1450" spc="10" dirty="0">
                <a:latin typeface="Arial MT"/>
                <a:cs typeface="Arial MT"/>
              </a:rPr>
              <a:t> </a:t>
            </a:r>
            <a:r>
              <a:rPr sz="1450" spc="5" dirty="0">
                <a:latin typeface="Arial MT"/>
                <a:cs typeface="Arial MT"/>
              </a:rPr>
              <a:t>case</a:t>
            </a:r>
            <a:r>
              <a:rPr sz="1450" spc="90" dirty="0">
                <a:latin typeface="Arial MT"/>
                <a:cs typeface="Arial MT"/>
              </a:rPr>
              <a:t> </a:t>
            </a:r>
            <a:r>
              <a:rPr sz="1450" spc="5" dirty="0">
                <a:latin typeface="Arial MT"/>
                <a:cs typeface="Arial MT"/>
              </a:rPr>
              <a:t>matches</a:t>
            </a:r>
            <a:r>
              <a:rPr sz="1450" spc="50" dirty="0">
                <a:latin typeface="Arial MT"/>
                <a:cs typeface="Arial MT"/>
              </a:rPr>
              <a:t> </a:t>
            </a:r>
            <a:r>
              <a:rPr sz="1450" spc="10" dirty="0">
                <a:latin typeface="Arial MT"/>
                <a:cs typeface="Arial MT"/>
              </a:rPr>
              <a:t>and</a:t>
            </a:r>
            <a:r>
              <a:rPr sz="1450" spc="45" dirty="0">
                <a:latin typeface="Arial MT"/>
                <a:cs typeface="Arial MT"/>
              </a:rPr>
              <a:t> </a:t>
            </a:r>
            <a:r>
              <a:rPr sz="1450" spc="20" dirty="0">
                <a:latin typeface="Arial MT"/>
                <a:cs typeface="Arial MT"/>
              </a:rPr>
              <a:t>no</a:t>
            </a:r>
            <a:r>
              <a:rPr sz="1450" spc="10" dirty="0">
                <a:latin typeface="Arial MT"/>
                <a:cs typeface="Arial MT"/>
              </a:rPr>
              <a:t> </a:t>
            </a:r>
            <a:r>
              <a:rPr sz="1450" spc="-5" dirty="0">
                <a:latin typeface="Arial MT"/>
                <a:cs typeface="Arial MT"/>
              </a:rPr>
              <a:t>default</a:t>
            </a:r>
            <a:r>
              <a:rPr sz="1450" spc="145" dirty="0">
                <a:latin typeface="Arial MT"/>
                <a:cs typeface="Arial MT"/>
              </a:rPr>
              <a:t> </a:t>
            </a:r>
            <a:r>
              <a:rPr sz="1450" spc="-15" dirty="0">
                <a:latin typeface="Arial MT"/>
                <a:cs typeface="Arial MT"/>
              </a:rPr>
              <a:t>is</a:t>
            </a:r>
            <a:r>
              <a:rPr sz="1450" spc="50" dirty="0">
                <a:latin typeface="Arial MT"/>
                <a:cs typeface="Arial MT"/>
              </a:rPr>
              <a:t> </a:t>
            </a:r>
            <a:r>
              <a:rPr sz="1450" dirty="0">
                <a:latin typeface="Arial MT"/>
                <a:cs typeface="Arial MT"/>
              </a:rPr>
              <a:t>present,</a:t>
            </a:r>
            <a:r>
              <a:rPr sz="1450" spc="145" dirty="0">
                <a:latin typeface="Arial MT"/>
                <a:cs typeface="Arial MT"/>
              </a:rPr>
              <a:t> </a:t>
            </a:r>
            <a:r>
              <a:rPr sz="1450" spc="5" dirty="0">
                <a:latin typeface="Arial MT"/>
                <a:cs typeface="Arial MT"/>
              </a:rPr>
              <a:t>then</a:t>
            </a:r>
            <a:r>
              <a:rPr sz="1450" spc="45" dirty="0">
                <a:latin typeface="Arial MT"/>
                <a:cs typeface="Arial MT"/>
              </a:rPr>
              <a:t> </a:t>
            </a:r>
            <a:r>
              <a:rPr sz="1450" spc="20" dirty="0">
                <a:latin typeface="Arial MT"/>
                <a:cs typeface="Arial MT"/>
              </a:rPr>
              <a:t>no</a:t>
            </a:r>
            <a:r>
              <a:rPr sz="1450" spc="10" dirty="0">
                <a:latin typeface="Arial MT"/>
                <a:cs typeface="Arial MT"/>
              </a:rPr>
              <a:t> </a:t>
            </a:r>
            <a:r>
              <a:rPr sz="1450" dirty="0">
                <a:latin typeface="Arial MT"/>
                <a:cs typeface="Arial MT"/>
              </a:rPr>
              <a:t>further </a:t>
            </a:r>
            <a:r>
              <a:rPr sz="1450" spc="-385" dirty="0">
                <a:latin typeface="Arial MT"/>
                <a:cs typeface="Arial MT"/>
              </a:rPr>
              <a:t> </a:t>
            </a:r>
            <a:r>
              <a:rPr sz="1450" dirty="0">
                <a:latin typeface="Arial MT"/>
                <a:cs typeface="Arial MT"/>
              </a:rPr>
              <a:t>action</a:t>
            </a:r>
            <a:r>
              <a:rPr sz="1450" spc="80" dirty="0">
                <a:latin typeface="Arial MT"/>
                <a:cs typeface="Arial MT"/>
              </a:rPr>
              <a:t> </a:t>
            </a:r>
            <a:r>
              <a:rPr sz="1450" spc="-15" dirty="0">
                <a:latin typeface="Arial MT"/>
                <a:cs typeface="Arial MT"/>
              </a:rPr>
              <a:t>is</a:t>
            </a:r>
            <a:r>
              <a:rPr sz="1450" spc="50" dirty="0">
                <a:latin typeface="Arial MT"/>
                <a:cs typeface="Arial MT"/>
              </a:rPr>
              <a:t> </a:t>
            </a:r>
            <a:r>
              <a:rPr sz="1450" spc="5" dirty="0">
                <a:latin typeface="Arial MT"/>
                <a:cs typeface="Arial MT"/>
              </a:rPr>
              <a:t>taken.</a:t>
            </a:r>
            <a:endParaRPr lang="en-US" sz="1450" spc="5" dirty="0">
              <a:latin typeface="Arial MT"/>
              <a:cs typeface="Arial MT"/>
            </a:endParaRPr>
          </a:p>
          <a:p>
            <a:pPr marL="407670" marR="5080" lvl="1" indent="-152400" algn="just">
              <a:lnSpc>
                <a:spcPct val="101000"/>
              </a:lnSpc>
              <a:spcBef>
                <a:spcPts val="400"/>
              </a:spcBef>
              <a:buFont typeface="Arial MT"/>
              <a:buChar char="–"/>
              <a:tabLst>
                <a:tab pos="459105" algn="l"/>
              </a:tabLst>
            </a:pPr>
            <a:r>
              <a:rPr lang="en-US" sz="1450" spc="5" dirty="0">
                <a:latin typeface="Arial MT"/>
                <a:cs typeface="Arial MT"/>
              </a:rPr>
              <a:t> When a break statement is encountered, execution  branches to the first line of code after the entire switch  statement.</a:t>
            </a:r>
          </a:p>
          <a:p>
            <a:pPr marL="407670" marR="5080" lvl="1" indent="-152400" algn="just">
              <a:lnSpc>
                <a:spcPct val="101000"/>
              </a:lnSpc>
              <a:spcBef>
                <a:spcPts val="400"/>
              </a:spcBef>
              <a:buFont typeface="Arial MT"/>
              <a:buChar char="–"/>
              <a:tabLst>
                <a:tab pos="459105" algn="l"/>
              </a:tabLst>
            </a:pPr>
            <a:endParaRPr lang="en-US" sz="1450" dirty="0">
              <a:latin typeface="Arial MT"/>
              <a:cs typeface="Arial MT"/>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27200" y="268881"/>
            <a:ext cx="2871478" cy="318135"/>
          </a:xfrm>
          <a:prstGeom prst="rect">
            <a:avLst/>
          </a:prstGeom>
        </p:spPr>
        <p:txBody>
          <a:bodyPr vert="horz" wrap="square" lIns="0" tIns="14604" rIns="0" bIns="0" rtlCol="0">
            <a:spAutoFit/>
          </a:bodyPr>
          <a:lstStyle/>
          <a:p>
            <a:pPr marL="12700">
              <a:lnSpc>
                <a:spcPct val="100000"/>
              </a:lnSpc>
              <a:spcBef>
                <a:spcPts val="114"/>
              </a:spcBef>
            </a:pPr>
            <a:r>
              <a:rPr spc="5" dirty="0">
                <a:solidFill>
                  <a:schemeClr val="tx1"/>
                </a:solidFill>
              </a:rPr>
              <a:t>Nested</a:t>
            </a:r>
            <a:r>
              <a:rPr spc="-60" dirty="0">
                <a:solidFill>
                  <a:schemeClr val="tx1"/>
                </a:solidFill>
              </a:rPr>
              <a:t> </a:t>
            </a:r>
            <a:r>
              <a:rPr spc="-15" dirty="0">
                <a:solidFill>
                  <a:schemeClr val="tx1"/>
                </a:solidFill>
              </a:rPr>
              <a:t>switch</a:t>
            </a:r>
            <a:r>
              <a:rPr spc="90" dirty="0">
                <a:solidFill>
                  <a:schemeClr val="tx1"/>
                </a:solidFill>
              </a:rPr>
              <a:t> </a:t>
            </a:r>
            <a:r>
              <a:rPr spc="5" dirty="0">
                <a:solidFill>
                  <a:schemeClr val="tx1"/>
                </a:solidFill>
              </a:rPr>
              <a:t>Statements</a:t>
            </a:r>
          </a:p>
        </p:txBody>
      </p:sp>
      <p:sp>
        <p:nvSpPr>
          <p:cNvPr id="3" name="object 3"/>
          <p:cNvSpPr txBox="1"/>
          <p:nvPr/>
        </p:nvSpPr>
        <p:spPr>
          <a:xfrm>
            <a:off x="364664" y="803538"/>
            <a:ext cx="5586730" cy="551815"/>
          </a:xfrm>
          <a:prstGeom prst="rect">
            <a:avLst/>
          </a:prstGeom>
        </p:spPr>
        <p:txBody>
          <a:bodyPr vert="horz" wrap="square" lIns="0" tIns="10160" rIns="0" bIns="0" rtlCol="0">
            <a:spAutoFit/>
          </a:bodyPr>
          <a:lstStyle/>
          <a:p>
            <a:pPr marL="194945" marR="5080" indent="-182880">
              <a:lnSpc>
                <a:spcPct val="101899"/>
              </a:lnSpc>
              <a:spcBef>
                <a:spcPts val="80"/>
              </a:spcBef>
              <a:buChar char="•"/>
              <a:tabLst>
                <a:tab pos="195580" algn="l"/>
              </a:tabLst>
            </a:pPr>
            <a:r>
              <a:rPr sz="1700" spc="35" dirty="0">
                <a:latin typeface="Arial MT"/>
                <a:cs typeface="Arial MT"/>
              </a:rPr>
              <a:t>We </a:t>
            </a:r>
            <a:r>
              <a:rPr sz="1700" spc="10" dirty="0">
                <a:latin typeface="Arial MT"/>
                <a:cs typeface="Arial MT"/>
              </a:rPr>
              <a:t>can use a </a:t>
            </a:r>
            <a:r>
              <a:rPr sz="1700" dirty="0">
                <a:latin typeface="Arial MT"/>
                <a:cs typeface="Arial MT"/>
              </a:rPr>
              <a:t>switch </a:t>
            </a:r>
            <a:r>
              <a:rPr sz="1700" spc="5" dirty="0">
                <a:latin typeface="Arial MT"/>
                <a:cs typeface="Arial MT"/>
              </a:rPr>
              <a:t>as </a:t>
            </a:r>
            <a:r>
              <a:rPr sz="1700" dirty="0">
                <a:latin typeface="Arial MT"/>
                <a:cs typeface="Arial MT"/>
              </a:rPr>
              <a:t>part </a:t>
            </a:r>
            <a:r>
              <a:rPr sz="1700" spc="5" dirty="0">
                <a:latin typeface="Arial MT"/>
                <a:cs typeface="Arial MT"/>
              </a:rPr>
              <a:t>of the </a:t>
            </a:r>
            <a:r>
              <a:rPr sz="1700" spc="10" dirty="0">
                <a:latin typeface="Arial MT"/>
                <a:cs typeface="Arial MT"/>
              </a:rPr>
              <a:t>statement sequence </a:t>
            </a:r>
            <a:r>
              <a:rPr sz="1700" spc="-459" dirty="0">
                <a:latin typeface="Arial MT"/>
                <a:cs typeface="Arial MT"/>
              </a:rPr>
              <a:t> </a:t>
            </a:r>
            <a:r>
              <a:rPr sz="1700" spc="5" dirty="0">
                <a:latin typeface="Arial MT"/>
                <a:cs typeface="Arial MT"/>
              </a:rPr>
              <a:t>of</a:t>
            </a:r>
            <a:r>
              <a:rPr sz="1700" spc="-40" dirty="0">
                <a:latin typeface="Arial MT"/>
                <a:cs typeface="Arial MT"/>
              </a:rPr>
              <a:t> </a:t>
            </a:r>
            <a:r>
              <a:rPr sz="1700" spc="5" dirty="0">
                <a:latin typeface="Arial MT"/>
                <a:cs typeface="Arial MT"/>
              </a:rPr>
              <a:t>an</a:t>
            </a:r>
            <a:r>
              <a:rPr sz="1700" spc="-35" dirty="0">
                <a:latin typeface="Arial MT"/>
                <a:cs typeface="Arial MT"/>
              </a:rPr>
              <a:t> </a:t>
            </a:r>
            <a:r>
              <a:rPr sz="1700" spc="5" dirty="0">
                <a:latin typeface="Arial MT"/>
                <a:cs typeface="Arial MT"/>
              </a:rPr>
              <a:t>outer</a:t>
            </a:r>
            <a:r>
              <a:rPr sz="1700" spc="-45" dirty="0">
                <a:latin typeface="Arial MT"/>
                <a:cs typeface="Arial MT"/>
              </a:rPr>
              <a:t> </a:t>
            </a:r>
            <a:r>
              <a:rPr sz="1700" dirty="0">
                <a:latin typeface="Arial MT"/>
                <a:cs typeface="Arial MT"/>
              </a:rPr>
              <a:t>switch.</a:t>
            </a:r>
            <a:r>
              <a:rPr sz="1700" spc="-35" dirty="0">
                <a:latin typeface="Arial MT"/>
                <a:cs typeface="Arial MT"/>
              </a:rPr>
              <a:t> </a:t>
            </a:r>
            <a:r>
              <a:rPr sz="1700" spc="5" dirty="0">
                <a:latin typeface="Arial MT"/>
                <a:cs typeface="Arial MT"/>
              </a:rPr>
              <a:t>This</a:t>
            </a:r>
            <a:r>
              <a:rPr sz="1700" spc="-20" dirty="0">
                <a:latin typeface="Arial MT"/>
                <a:cs typeface="Arial MT"/>
              </a:rPr>
              <a:t> </a:t>
            </a:r>
            <a:r>
              <a:rPr sz="1700" spc="10" dirty="0">
                <a:latin typeface="Arial MT"/>
                <a:cs typeface="Arial MT"/>
              </a:rPr>
              <a:t>is</a:t>
            </a:r>
            <a:r>
              <a:rPr sz="1700" spc="-55" dirty="0">
                <a:latin typeface="Arial MT"/>
                <a:cs typeface="Arial MT"/>
              </a:rPr>
              <a:t> </a:t>
            </a:r>
            <a:r>
              <a:rPr sz="1700" spc="10" dirty="0">
                <a:latin typeface="Arial MT"/>
                <a:cs typeface="Arial MT"/>
              </a:rPr>
              <a:t>called</a:t>
            </a:r>
            <a:r>
              <a:rPr sz="1700" spc="-75" dirty="0">
                <a:latin typeface="Arial MT"/>
                <a:cs typeface="Arial MT"/>
              </a:rPr>
              <a:t> </a:t>
            </a:r>
            <a:r>
              <a:rPr sz="1700" spc="10" dirty="0">
                <a:latin typeface="Arial MT"/>
                <a:cs typeface="Arial MT"/>
              </a:rPr>
              <a:t>a</a:t>
            </a:r>
            <a:r>
              <a:rPr sz="1700" spc="-30" dirty="0">
                <a:latin typeface="Arial MT"/>
                <a:cs typeface="Arial MT"/>
              </a:rPr>
              <a:t> </a:t>
            </a:r>
            <a:r>
              <a:rPr sz="1700" spc="10" dirty="0">
                <a:latin typeface="Arial MT"/>
                <a:cs typeface="Arial MT"/>
              </a:rPr>
              <a:t>nested</a:t>
            </a:r>
            <a:r>
              <a:rPr sz="1700" spc="-75" dirty="0">
                <a:latin typeface="Arial MT"/>
                <a:cs typeface="Arial MT"/>
              </a:rPr>
              <a:t> </a:t>
            </a:r>
            <a:r>
              <a:rPr sz="1700" dirty="0">
                <a:latin typeface="Arial MT"/>
                <a:cs typeface="Arial MT"/>
              </a:rPr>
              <a:t>switch</a:t>
            </a:r>
            <a:endParaRPr sz="1700">
              <a:latin typeface="Arial MT"/>
              <a:cs typeface="Arial MT"/>
            </a:endParaRPr>
          </a:p>
        </p:txBody>
      </p:sp>
      <p:grpSp>
        <p:nvGrpSpPr>
          <p:cNvPr id="5" name="object 5"/>
          <p:cNvGrpSpPr/>
          <p:nvPr/>
        </p:nvGrpSpPr>
        <p:grpSpPr>
          <a:xfrm>
            <a:off x="-1387" y="170827"/>
            <a:ext cx="6498590" cy="3660140"/>
            <a:chOff x="-1387" y="170827"/>
            <a:chExt cx="6498590" cy="3660140"/>
          </a:xfrm>
        </p:grpSpPr>
        <p:pic>
          <p:nvPicPr>
            <p:cNvPr id="6" name="object 6"/>
            <p:cNvPicPr/>
            <p:nvPr/>
          </p:nvPicPr>
          <p:blipFill>
            <a:blip r:embed="rId2" cstate="print"/>
            <a:stretch>
              <a:fillRect/>
            </a:stretch>
          </p:blipFill>
          <p:spPr>
            <a:xfrm>
              <a:off x="756081" y="1464484"/>
              <a:ext cx="3968110" cy="2326165"/>
            </a:xfrm>
            <a:prstGeom prst="rect">
              <a:avLst/>
            </a:prstGeom>
          </p:spPr>
        </p:pic>
        <p:sp>
          <p:nvSpPr>
            <p:cNvPr id="7" name="object 7"/>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98600" y="268881"/>
            <a:ext cx="4635136" cy="318135"/>
          </a:xfrm>
          <a:prstGeom prst="rect">
            <a:avLst/>
          </a:prstGeom>
        </p:spPr>
        <p:txBody>
          <a:bodyPr vert="horz" wrap="square" lIns="0" tIns="14604" rIns="0" bIns="0" rtlCol="0">
            <a:spAutoFit/>
          </a:bodyPr>
          <a:lstStyle/>
          <a:p>
            <a:pPr marL="12700">
              <a:lnSpc>
                <a:spcPct val="100000"/>
              </a:lnSpc>
              <a:spcBef>
                <a:spcPts val="114"/>
              </a:spcBef>
            </a:pPr>
            <a:r>
              <a:rPr spc="-5" dirty="0">
                <a:solidFill>
                  <a:schemeClr val="tx1"/>
                </a:solidFill>
              </a:rPr>
              <a:t>Iteration</a:t>
            </a:r>
            <a:r>
              <a:rPr spc="10" dirty="0">
                <a:solidFill>
                  <a:schemeClr val="tx1"/>
                </a:solidFill>
              </a:rPr>
              <a:t> </a:t>
            </a:r>
            <a:r>
              <a:rPr spc="5" dirty="0">
                <a:solidFill>
                  <a:schemeClr val="tx1"/>
                </a:solidFill>
              </a:rPr>
              <a:t>Statements</a:t>
            </a:r>
          </a:p>
        </p:txBody>
      </p:sp>
      <p:sp>
        <p:nvSpPr>
          <p:cNvPr id="3" name="object 3"/>
          <p:cNvSpPr txBox="1"/>
          <p:nvPr/>
        </p:nvSpPr>
        <p:spPr>
          <a:xfrm>
            <a:off x="364664" y="803538"/>
            <a:ext cx="5445125" cy="2058670"/>
          </a:xfrm>
          <a:prstGeom prst="rect">
            <a:avLst/>
          </a:prstGeom>
        </p:spPr>
        <p:txBody>
          <a:bodyPr vert="horz" wrap="square" lIns="0" tIns="12700" rIns="0" bIns="0" rtlCol="0">
            <a:spAutoFit/>
          </a:bodyPr>
          <a:lstStyle/>
          <a:p>
            <a:pPr marL="194945" marR="5080" indent="-182880" algn="just">
              <a:lnSpc>
                <a:spcPct val="100899"/>
              </a:lnSpc>
              <a:spcBef>
                <a:spcPts val="100"/>
              </a:spcBef>
              <a:buSzPct val="94117"/>
              <a:buFont typeface="Wingdings"/>
              <a:buChar char=""/>
              <a:tabLst>
                <a:tab pos="208279" algn="l"/>
              </a:tabLst>
            </a:pPr>
            <a:r>
              <a:rPr sz="1700" spc="10" dirty="0">
                <a:latin typeface="Arial MT"/>
                <a:cs typeface="Arial MT"/>
              </a:rPr>
              <a:t>A</a:t>
            </a:r>
            <a:r>
              <a:rPr lang="en-US" sz="1700" spc="10" dirty="0">
                <a:latin typeface="Arial MT"/>
                <a:cs typeface="Arial MT"/>
              </a:rPr>
              <a:t>n</a:t>
            </a:r>
            <a:r>
              <a:rPr sz="1700" spc="10" dirty="0">
                <a:latin typeface="Arial MT"/>
                <a:cs typeface="Arial MT"/>
              </a:rPr>
              <a:t> </a:t>
            </a:r>
            <a:r>
              <a:rPr sz="1700" spc="5" dirty="0">
                <a:latin typeface="Arial MT"/>
                <a:cs typeface="Arial MT"/>
              </a:rPr>
              <a:t>iteration </a:t>
            </a:r>
            <a:r>
              <a:rPr sz="1700" spc="10" dirty="0">
                <a:latin typeface="Arial MT"/>
                <a:cs typeface="Arial MT"/>
              </a:rPr>
              <a:t>statement </a:t>
            </a:r>
            <a:r>
              <a:rPr sz="1700" spc="5" dirty="0">
                <a:latin typeface="Arial MT"/>
                <a:cs typeface="Arial MT"/>
              </a:rPr>
              <a:t>or </a:t>
            </a:r>
            <a:r>
              <a:rPr sz="1700" spc="10" dirty="0">
                <a:latin typeface="Arial MT"/>
                <a:cs typeface="Arial MT"/>
              </a:rPr>
              <a:t>loop </a:t>
            </a:r>
            <a:r>
              <a:rPr sz="1700" spc="5" dirty="0">
                <a:latin typeface="Arial MT"/>
                <a:cs typeface="Arial MT"/>
              </a:rPr>
              <a:t>repeatedly </a:t>
            </a:r>
            <a:r>
              <a:rPr sz="1700" spc="10" dirty="0">
                <a:uFill>
                  <a:solidFill>
                    <a:srgbClr val="000000"/>
                  </a:solidFill>
                </a:uFill>
                <a:latin typeface="Arial MT"/>
                <a:cs typeface="Arial MT"/>
              </a:rPr>
              <a:t>executes </a:t>
            </a:r>
            <a:r>
              <a:rPr sz="1700" spc="5" dirty="0">
                <a:uFill>
                  <a:solidFill>
                    <a:srgbClr val="000000"/>
                  </a:solidFill>
                </a:uFill>
                <a:latin typeface="Arial MT"/>
                <a:cs typeface="Arial MT"/>
              </a:rPr>
              <a:t>the </a:t>
            </a:r>
            <a:r>
              <a:rPr sz="1700" spc="-465" dirty="0">
                <a:latin typeface="Arial MT"/>
                <a:cs typeface="Arial MT"/>
              </a:rPr>
              <a:t> </a:t>
            </a:r>
            <a:r>
              <a:rPr sz="1700" spc="15" dirty="0">
                <a:uFill>
                  <a:solidFill>
                    <a:srgbClr val="000000"/>
                  </a:solidFill>
                </a:uFill>
                <a:latin typeface="Arial MT"/>
                <a:cs typeface="Arial MT"/>
              </a:rPr>
              <a:t>same</a:t>
            </a:r>
            <a:r>
              <a:rPr sz="1700" spc="-80" dirty="0">
                <a:uFill>
                  <a:solidFill>
                    <a:srgbClr val="000000"/>
                  </a:solidFill>
                </a:uFill>
                <a:latin typeface="Arial MT"/>
                <a:cs typeface="Arial MT"/>
              </a:rPr>
              <a:t> </a:t>
            </a:r>
            <a:r>
              <a:rPr sz="1700" spc="10" dirty="0">
                <a:uFill>
                  <a:solidFill>
                    <a:srgbClr val="000000"/>
                  </a:solidFill>
                </a:uFill>
                <a:latin typeface="Arial MT"/>
                <a:cs typeface="Arial MT"/>
              </a:rPr>
              <a:t>set</a:t>
            </a:r>
            <a:r>
              <a:rPr sz="1700" spc="-30" dirty="0">
                <a:uFill>
                  <a:solidFill>
                    <a:srgbClr val="000000"/>
                  </a:solidFill>
                </a:uFill>
                <a:latin typeface="Arial MT"/>
                <a:cs typeface="Arial MT"/>
              </a:rPr>
              <a:t> </a:t>
            </a:r>
            <a:r>
              <a:rPr sz="1700" spc="5" dirty="0">
                <a:uFill>
                  <a:solidFill>
                    <a:srgbClr val="000000"/>
                  </a:solidFill>
                </a:uFill>
                <a:latin typeface="Arial MT"/>
                <a:cs typeface="Arial MT"/>
              </a:rPr>
              <a:t>of</a:t>
            </a:r>
            <a:r>
              <a:rPr sz="1700" spc="-35" dirty="0">
                <a:uFill>
                  <a:solidFill>
                    <a:srgbClr val="000000"/>
                  </a:solidFill>
                </a:uFill>
                <a:latin typeface="Arial MT"/>
                <a:cs typeface="Arial MT"/>
              </a:rPr>
              <a:t> </a:t>
            </a:r>
            <a:r>
              <a:rPr sz="1700" spc="5" dirty="0">
                <a:uFill>
                  <a:solidFill>
                    <a:srgbClr val="000000"/>
                  </a:solidFill>
                </a:uFill>
                <a:latin typeface="Arial MT"/>
                <a:cs typeface="Arial MT"/>
              </a:rPr>
              <a:t>instructions</a:t>
            </a:r>
            <a:r>
              <a:rPr sz="1700" spc="-130" dirty="0">
                <a:uFill>
                  <a:solidFill>
                    <a:srgbClr val="000000"/>
                  </a:solidFill>
                </a:uFill>
                <a:latin typeface="Arial MT"/>
                <a:cs typeface="Arial MT"/>
              </a:rPr>
              <a:t> </a:t>
            </a:r>
            <a:r>
              <a:rPr sz="1700" spc="5" dirty="0">
                <a:uFill>
                  <a:solidFill>
                    <a:srgbClr val="000000"/>
                  </a:solidFill>
                </a:uFill>
                <a:latin typeface="Arial MT"/>
                <a:cs typeface="Arial MT"/>
              </a:rPr>
              <a:t>until</a:t>
            </a:r>
            <a:r>
              <a:rPr sz="1700" spc="-60" dirty="0">
                <a:uFill>
                  <a:solidFill>
                    <a:srgbClr val="000000"/>
                  </a:solidFill>
                </a:uFill>
                <a:latin typeface="Arial MT"/>
                <a:cs typeface="Arial MT"/>
              </a:rPr>
              <a:t> </a:t>
            </a:r>
            <a:r>
              <a:rPr sz="1700" spc="10" dirty="0">
                <a:uFill>
                  <a:solidFill>
                    <a:srgbClr val="000000"/>
                  </a:solidFill>
                </a:uFill>
                <a:latin typeface="Arial MT"/>
                <a:cs typeface="Arial MT"/>
              </a:rPr>
              <a:t>a</a:t>
            </a:r>
            <a:r>
              <a:rPr sz="1700" spc="5" dirty="0">
                <a:uFill>
                  <a:solidFill>
                    <a:srgbClr val="000000"/>
                  </a:solidFill>
                </a:uFill>
                <a:latin typeface="Arial MT"/>
                <a:cs typeface="Arial MT"/>
              </a:rPr>
              <a:t> termination</a:t>
            </a:r>
            <a:r>
              <a:rPr sz="1700" spc="-150" dirty="0">
                <a:uFill>
                  <a:solidFill>
                    <a:srgbClr val="000000"/>
                  </a:solidFill>
                </a:uFill>
                <a:latin typeface="Arial MT"/>
                <a:cs typeface="Arial MT"/>
              </a:rPr>
              <a:t> </a:t>
            </a:r>
            <a:r>
              <a:rPr sz="1700" spc="10" dirty="0">
                <a:uFill>
                  <a:solidFill>
                    <a:srgbClr val="000000"/>
                  </a:solidFill>
                </a:uFill>
                <a:latin typeface="Arial MT"/>
                <a:cs typeface="Arial MT"/>
              </a:rPr>
              <a:t>condition</a:t>
            </a:r>
            <a:r>
              <a:rPr sz="1700" spc="-114" dirty="0">
                <a:uFill>
                  <a:solidFill>
                    <a:srgbClr val="000000"/>
                  </a:solidFill>
                </a:uFill>
                <a:latin typeface="Arial MT"/>
                <a:cs typeface="Arial MT"/>
              </a:rPr>
              <a:t> </a:t>
            </a:r>
            <a:r>
              <a:rPr sz="1700" spc="10" dirty="0">
                <a:uFill>
                  <a:solidFill>
                    <a:srgbClr val="000000"/>
                  </a:solidFill>
                </a:uFill>
                <a:latin typeface="Arial MT"/>
                <a:cs typeface="Arial MT"/>
              </a:rPr>
              <a:t>is </a:t>
            </a:r>
            <a:r>
              <a:rPr sz="1700" spc="15" dirty="0">
                <a:latin typeface="Arial MT"/>
                <a:cs typeface="Arial MT"/>
              </a:rPr>
              <a:t> </a:t>
            </a:r>
            <a:r>
              <a:rPr sz="1700" spc="5" dirty="0">
                <a:uFill>
                  <a:solidFill>
                    <a:srgbClr val="000000"/>
                  </a:solidFill>
                </a:uFill>
                <a:latin typeface="Arial MT"/>
                <a:cs typeface="Arial MT"/>
              </a:rPr>
              <a:t>met.</a:t>
            </a:r>
            <a:endParaRPr sz="1700" dirty="0">
              <a:latin typeface="Arial MT"/>
              <a:cs typeface="Arial MT"/>
            </a:endParaRPr>
          </a:p>
          <a:p>
            <a:pPr marL="207645" indent="-195580" algn="just">
              <a:lnSpc>
                <a:spcPct val="100000"/>
              </a:lnSpc>
              <a:spcBef>
                <a:spcPts val="395"/>
              </a:spcBef>
              <a:buSzPct val="94117"/>
              <a:buFont typeface="Wingdings"/>
              <a:buChar char=""/>
              <a:tabLst>
                <a:tab pos="208279" algn="l"/>
              </a:tabLst>
            </a:pPr>
            <a:r>
              <a:rPr sz="1700" spc="10" dirty="0">
                <a:latin typeface="Arial MT"/>
                <a:cs typeface="Arial MT"/>
              </a:rPr>
              <a:t>Java’s</a:t>
            </a:r>
            <a:r>
              <a:rPr sz="1700" spc="-90" dirty="0">
                <a:latin typeface="Arial MT"/>
                <a:cs typeface="Arial MT"/>
              </a:rPr>
              <a:t> </a:t>
            </a:r>
            <a:r>
              <a:rPr sz="1700" spc="5" dirty="0">
                <a:latin typeface="Arial MT"/>
                <a:cs typeface="Arial MT"/>
              </a:rPr>
              <a:t>iteration</a:t>
            </a:r>
            <a:r>
              <a:rPr sz="1700" spc="-105" dirty="0">
                <a:latin typeface="Arial MT"/>
                <a:cs typeface="Arial MT"/>
              </a:rPr>
              <a:t> </a:t>
            </a:r>
            <a:r>
              <a:rPr sz="1700" spc="5" dirty="0">
                <a:latin typeface="Arial MT"/>
                <a:cs typeface="Arial MT"/>
              </a:rPr>
              <a:t>statements</a:t>
            </a:r>
            <a:r>
              <a:rPr sz="1700" spc="-125" dirty="0">
                <a:latin typeface="Arial MT"/>
                <a:cs typeface="Arial MT"/>
              </a:rPr>
              <a:t> </a:t>
            </a:r>
            <a:r>
              <a:rPr sz="1700" dirty="0">
                <a:latin typeface="Arial MT"/>
                <a:cs typeface="Arial MT"/>
              </a:rPr>
              <a:t>(</a:t>
            </a:r>
            <a:r>
              <a:rPr sz="1700" b="1" dirty="0">
                <a:latin typeface="Arial"/>
                <a:cs typeface="Arial"/>
              </a:rPr>
              <a:t>looping</a:t>
            </a:r>
            <a:r>
              <a:rPr sz="1700" b="1" spc="10" dirty="0">
                <a:latin typeface="Arial"/>
                <a:cs typeface="Arial"/>
              </a:rPr>
              <a:t> </a:t>
            </a:r>
            <a:r>
              <a:rPr sz="1700" spc="5" dirty="0">
                <a:latin typeface="Arial MT"/>
                <a:cs typeface="Arial MT"/>
              </a:rPr>
              <a:t>statements)</a:t>
            </a:r>
            <a:r>
              <a:rPr sz="1700" spc="-120" dirty="0">
                <a:latin typeface="Arial MT"/>
                <a:cs typeface="Arial MT"/>
              </a:rPr>
              <a:t> </a:t>
            </a:r>
            <a:r>
              <a:rPr sz="1700" dirty="0">
                <a:latin typeface="Arial MT"/>
                <a:cs typeface="Arial MT"/>
              </a:rPr>
              <a:t>are</a:t>
            </a:r>
          </a:p>
          <a:p>
            <a:pPr marL="194945" indent="-182880">
              <a:lnSpc>
                <a:spcPct val="100000"/>
              </a:lnSpc>
              <a:spcBef>
                <a:spcPts val="440"/>
              </a:spcBef>
              <a:buSzPct val="94117"/>
              <a:buFont typeface="Wingdings"/>
              <a:buChar char=""/>
              <a:tabLst>
                <a:tab pos="195580" algn="l"/>
              </a:tabLst>
            </a:pPr>
            <a:r>
              <a:rPr sz="1700" b="1" spc="-5" dirty="0">
                <a:latin typeface="Arial"/>
                <a:cs typeface="Arial"/>
              </a:rPr>
              <a:t>for</a:t>
            </a:r>
            <a:endParaRPr sz="1700" dirty="0">
              <a:latin typeface="Arial"/>
              <a:cs typeface="Arial"/>
            </a:endParaRPr>
          </a:p>
          <a:p>
            <a:pPr marL="194945" indent="-182880">
              <a:lnSpc>
                <a:spcPct val="100000"/>
              </a:lnSpc>
              <a:spcBef>
                <a:spcPts val="400"/>
              </a:spcBef>
              <a:buSzPct val="94117"/>
              <a:buFont typeface="Wingdings"/>
              <a:buChar char=""/>
              <a:tabLst>
                <a:tab pos="195580" algn="l"/>
              </a:tabLst>
            </a:pPr>
            <a:r>
              <a:rPr sz="1700" b="1" spc="15" dirty="0">
                <a:latin typeface="Arial"/>
                <a:cs typeface="Arial"/>
              </a:rPr>
              <a:t>while</a:t>
            </a:r>
            <a:endParaRPr sz="1700" dirty="0">
              <a:latin typeface="Arial"/>
              <a:cs typeface="Arial"/>
            </a:endParaRPr>
          </a:p>
          <a:p>
            <a:pPr marL="194945" indent="-182880">
              <a:lnSpc>
                <a:spcPct val="100000"/>
              </a:lnSpc>
              <a:spcBef>
                <a:spcPts val="434"/>
              </a:spcBef>
              <a:buSzPct val="94117"/>
              <a:buFont typeface="Wingdings"/>
              <a:buChar char=""/>
              <a:tabLst>
                <a:tab pos="195580" algn="l"/>
              </a:tabLst>
            </a:pPr>
            <a:r>
              <a:rPr sz="1700" b="1" spc="5" dirty="0">
                <a:latin typeface="Arial"/>
                <a:cs typeface="Arial"/>
              </a:rPr>
              <a:t>do-while</a:t>
            </a:r>
            <a:endParaRPr sz="1700" dirty="0">
              <a:latin typeface="Arial"/>
              <a:cs typeface="Arial"/>
            </a:endParaRPr>
          </a:p>
        </p:txBody>
      </p:sp>
      <p:sp>
        <p:nvSpPr>
          <p:cNvPr id="5" name="object 5"/>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a:spLocks noGrp="1"/>
          </p:cNvSpPr>
          <p:nvPr>
            <p:ph type="title"/>
          </p:nvPr>
        </p:nvSpPr>
        <p:spPr>
          <a:xfrm>
            <a:off x="2760980" y="726272"/>
            <a:ext cx="566420" cy="318135"/>
          </a:xfrm>
          <a:prstGeom prst="rect">
            <a:avLst/>
          </a:prstGeom>
        </p:spPr>
        <p:txBody>
          <a:bodyPr vert="horz" wrap="square" lIns="0" tIns="14604" rIns="0" bIns="0" rtlCol="0">
            <a:spAutoFit/>
          </a:bodyPr>
          <a:lstStyle/>
          <a:p>
            <a:pPr marL="12700">
              <a:lnSpc>
                <a:spcPct val="100000"/>
              </a:lnSpc>
              <a:spcBef>
                <a:spcPts val="114"/>
              </a:spcBef>
            </a:pPr>
            <a:r>
              <a:rPr spc="-60" dirty="0">
                <a:solidFill>
                  <a:schemeClr val="tx1"/>
                </a:solidFill>
              </a:rPr>
              <a:t>w</a:t>
            </a:r>
            <a:r>
              <a:rPr spc="15" dirty="0">
                <a:solidFill>
                  <a:schemeClr val="tx1"/>
                </a:solidFill>
              </a:rPr>
              <a:t>h</a:t>
            </a:r>
            <a:r>
              <a:rPr spc="-30" dirty="0">
                <a:solidFill>
                  <a:schemeClr val="tx1"/>
                </a:solidFill>
              </a:rPr>
              <a:t>il</a:t>
            </a:r>
            <a:r>
              <a:rPr spc="10" dirty="0">
                <a:solidFill>
                  <a:schemeClr val="tx1"/>
                </a:solidFill>
              </a:rPr>
              <a:t>e</a:t>
            </a:r>
          </a:p>
        </p:txBody>
      </p:sp>
      <p:sp>
        <p:nvSpPr>
          <p:cNvPr id="4" name="object 4"/>
          <p:cNvSpPr txBox="1"/>
          <p:nvPr/>
        </p:nvSpPr>
        <p:spPr>
          <a:xfrm>
            <a:off x="223520" y="1079500"/>
            <a:ext cx="6278880" cy="2902077"/>
          </a:xfrm>
          <a:prstGeom prst="rect">
            <a:avLst/>
          </a:prstGeom>
        </p:spPr>
        <p:txBody>
          <a:bodyPr vert="horz" wrap="square" lIns="0" tIns="16510" rIns="0" bIns="0" rtlCol="0">
            <a:spAutoFit/>
          </a:bodyPr>
          <a:lstStyle/>
          <a:p>
            <a:pPr marL="194945" indent="-182880">
              <a:lnSpc>
                <a:spcPct val="100000"/>
              </a:lnSpc>
              <a:spcBef>
                <a:spcPts val="130"/>
              </a:spcBef>
              <a:buChar char="•"/>
              <a:tabLst>
                <a:tab pos="195580" algn="l"/>
              </a:tabLst>
            </a:pPr>
            <a:r>
              <a:rPr sz="1450" spc="20" dirty="0">
                <a:latin typeface="Arial MT"/>
                <a:cs typeface="Arial MT"/>
              </a:rPr>
              <a:t>The</a:t>
            </a:r>
            <a:r>
              <a:rPr sz="1450" spc="5" dirty="0">
                <a:latin typeface="Arial MT"/>
                <a:cs typeface="Arial MT"/>
              </a:rPr>
              <a:t> </a:t>
            </a:r>
            <a:r>
              <a:rPr sz="1450" spc="-5" dirty="0">
                <a:latin typeface="Arial MT"/>
                <a:cs typeface="Arial MT"/>
              </a:rPr>
              <a:t>while</a:t>
            </a:r>
            <a:r>
              <a:rPr sz="1450" spc="90" dirty="0">
                <a:latin typeface="Arial MT"/>
                <a:cs typeface="Arial MT"/>
              </a:rPr>
              <a:t> </a:t>
            </a:r>
            <a:r>
              <a:rPr sz="1450" spc="5" dirty="0">
                <a:latin typeface="Arial MT"/>
                <a:cs typeface="Arial MT"/>
              </a:rPr>
              <a:t>loop</a:t>
            </a:r>
            <a:r>
              <a:rPr sz="1450" spc="85" dirty="0">
                <a:latin typeface="Arial MT"/>
                <a:cs typeface="Arial MT"/>
              </a:rPr>
              <a:t> </a:t>
            </a:r>
            <a:r>
              <a:rPr sz="1450" spc="-15" dirty="0">
                <a:latin typeface="Arial MT"/>
                <a:cs typeface="Arial MT"/>
              </a:rPr>
              <a:t>is</a:t>
            </a:r>
            <a:r>
              <a:rPr sz="1450" spc="45" dirty="0">
                <a:latin typeface="Arial MT"/>
                <a:cs typeface="Arial MT"/>
              </a:rPr>
              <a:t> </a:t>
            </a:r>
            <a:r>
              <a:rPr lang="en-US" sz="1450" spc="45" dirty="0">
                <a:latin typeface="Arial MT"/>
                <a:cs typeface="Arial MT"/>
              </a:rPr>
              <a:t> </a:t>
            </a:r>
            <a:r>
              <a:rPr sz="1450" spc="20" dirty="0">
                <a:latin typeface="Arial MT"/>
                <a:cs typeface="Arial MT"/>
              </a:rPr>
              <a:t>ENTRY</a:t>
            </a:r>
            <a:r>
              <a:rPr sz="1450" spc="-15" dirty="0">
                <a:latin typeface="Arial MT"/>
                <a:cs typeface="Arial MT"/>
              </a:rPr>
              <a:t> </a:t>
            </a:r>
            <a:r>
              <a:rPr sz="1450" spc="25" dirty="0">
                <a:latin typeface="Arial MT"/>
                <a:cs typeface="Arial MT"/>
              </a:rPr>
              <a:t>CONTROLLED</a:t>
            </a:r>
            <a:r>
              <a:rPr sz="1450" spc="-60" dirty="0">
                <a:latin typeface="Arial MT"/>
                <a:cs typeface="Arial MT"/>
              </a:rPr>
              <a:t> </a:t>
            </a:r>
            <a:r>
              <a:rPr sz="1450" spc="5" dirty="0">
                <a:latin typeface="Arial MT"/>
                <a:cs typeface="Arial MT"/>
              </a:rPr>
              <a:t>loop.</a:t>
            </a:r>
            <a:endParaRPr sz="1450" dirty="0">
              <a:latin typeface="Arial MT"/>
              <a:cs typeface="Arial MT"/>
            </a:endParaRPr>
          </a:p>
          <a:p>
            <a:pPr marL="194945" indent="-182880">
              <a:lnSpc>
                <a:spcPct val="100000"/>
              </a:lnSpc>
              <a:spcBef>
                <a:spcPts val="415"/>
              </a:spcBef>
              <a:buChar char="•"/>
              <a:tabLst>
                <a:tab pos="195580" algn="l"/>
              </a:tabLst>
            </a:pPr>
            <a:r>
              <a:rPr sz="1450" dirty="0">
                <a:latin typeface="Arial MT"/>
                <a:cs typeface="Arial MT"/>
              </a:rPr>
              <a:t>General</a:t>
            </a:r>
            <a:r>
              <a:rPr sz="1450" spc="75" dirty="0">
                <a:latin typeface="Arial MT"/>
                <a:cs typeface="Arial MT"/>
              </a:rPr>
              <a:t> </a:t>
            </a:r>
            <a:r>
              <a:rPr sz="1450" spc="5" dirty="0">
                <a:latin typeface="Arial MT"/>
                <a:cs typeface="Arial MT"/>
              </a:rPr>
              <a:t>form:</a:t>
            </a:r>
            <a:endParaRPr sz="1450" dirty="0">
              <a:latin typeface="Arial MT"/>
              <a:cs typeface="Arial MT"/>
            </a:endParaRPr>
          </a:p>
          <a:p>
            <a:pPr marL="255904">
              <a:lnSpc>
                <a:spcPct val="100000"/>
              </a:lnSpc>
              <a:spcBef>
                <a:spcPts val="330"/>
              </a:spcBef>
            </a:pPr>
            <a:r>
              <a:rPr sz="1700" spc="-30" dirty="0">
                <a:solidFill>
                  <a:srgbClr val="0000CC"/>
                </a:solidFill>
                <a:latin typeface="Times New Roman"/>
                <a:cs typeface="Times New Roman"/>
              </a:rPr>
              <a:t>while(</a:t>
            </a:r>
            <a:r>
              <a:rPr sz="1700" spc="-30" dirty="0">
                <a:latin typeface="Times New Roman"/>
                <a:cs typeface="Times New Roman"/>
              </a:rPr>
              <a:t>condition)</a:t>
            </a:r>
            <a:endParaRPr sz="1700" dirty="0">
              <a:latin typeface="Times New Roman"/>
              <a:cs typeface="Times New Roman"/>
            </a:endParaRPr>
          </a:p>
          <a:p>
            <a:pPr marL="255904">
              <a:lnSpc>
                <a:spcPct val="100000"/>
              </a:lnSpc>
              <a:spcBef>
                <a:spcPts val="434"/>
              </a:spcBef>
            </a:pPr>
            <a:r>
              <a:rPr sz="1700" spc="-315" dirty="0">
                <a:latin typeface="Times New Roman"/>
                <a:cs typeface="Times New Roman"/>
              </a:rPr>
              <a:t>{</a:t>
            </a:r>
            <a:endParaRPr sz="1700" dirty="0">
              <a:latin typeface="Times New Roman"/>
              <a:cs typeface="Times New Roman"/>
            </a:endParaRPr>
          </a:p>
          <a:p>
            <a:pPr marL="255904">
              <a:lnSpc>
                <a:spcPct val="100000"/>
              </a:lnSpc>
              <a:spcBef>
                <a:spcPts val="400"/>
              </a:spcBef>
            </a:pPr>
            <a:r>
              <a:rPr sz="1700" spc="35" dirty="0">
                <a:latin typeface="Times New Roman"/>
                <a:cs typeface="Times New Roman"/>
              </a:rPr>
              <a:t>//</a:t>
            </a:r>
            <a:r>
              <a:rPr sz="1700" spc="-40" dirty="0">
                <a:latin typeface="Times New Roman"/>
                <a:cs typeface="Times New Roman"/>
              </a:rPr>
              <a:t> </a:t>
            </a:r>
            <a:r>
              <a:rPr sz="1700" spc="-5" dirty="0">
                <a:latin typeface="Times New Roman"/>
                <a:cs typeface="Times New Roman"/>
              </a:rPr>
              <a:t>body</a:t>
            </a:r>
            <a:r>
              <a:rPr sz="1700" spc="-85" dirty="0">
                <a:latin typeface="Times New Roman"/>
                <a:cs typeface="Times New Roman"/>
              </a:rPr>
              <a:t> </a:t>
            </a:r>
            <a:r>
              <a:rPr sz="1700" spc="-35" dirty="0">
                <a:latin typeface="Times New Roman"/>
                <a:cs typeface="Times New Roman"/>
              </a:rPr>
              <a:t>of</a:t>
            </a:r>
            <a:r>
              <a:rPr sz="1700" spc="-10" dirty="0">
                <a:latin typeface="Times New Roman"/>
                <a:cs typeface="Times New Roman"/>
              </a:rPr>
              <a:t> </a:t>
            </a:r>
            <a:r>
              <a:rPr sz="1700" spc="5" dirty="0">
                <a:latin typeface="Times New Roman"/>
                <a:cs typeface="Times New Roman"/>
              </a:rPr>
              <a:t>loop</a:t>
            </a:r>
            <a:endParaRPr sz="1700" dirty="0">
              <a:latin typeface="Times New Roman"/>
              <a:cs typeface="Times New Roman"/>
            </a:endParaRPr>
          </a:p>
          <a:p>
            <a:pPr marL="255904">
              <a:lnSpc>
                <a:spcPct val="100000"/>
              </a:lnSpc>
              <a:spcBef>
                <a:spcPts val="434"/>
              </a:spcBef>
            </a:pPr>
            <a:r>
              <a:rPr sz="1700" spc="-315" dirty="0">
                <a:latin typeface="Times New Roman"/>
                <a:cs typeface="Times New Roman"/>
              </a:rPr>
              <a:t>}</a:t>
            </a:r>
            <a:endParaRPr lang="en-US" sz="1700" spc="-315" dirty="0">
              <a:latin typeface="Times New Roman"/>
              <a:cs typeface="Times New Roman"/>
            </a:endParaRPr>
          </a:p>
          <a:p>
            <a:pPr marL="255904">
              <a:lnSpc>
                <a:spcPct val="100000"/>
              </a:lnSpc>
              <a:spcBef>
                <a:spcPts val="434"/>
              </a:spcBef>
            </a:pPr>
            <a:r>
              <a:rPr lang="en-US" sz="1700" dirty="0">
                <a:latin typeface="Times New Roman"/>
                <a:cs typeface="Times New Roman"/>
              </a:rPr>
              <a:t>The body of the loop will be executed as long as the conditional  expression is true. When condition becomes false, control passes to the next line  of code immediately after the loop.</a:t>
            </a:r>
          </a:p>
          <a:p>
            <a:pPr marL="255904">
              <a:lnSpc>
                <a:spcPct val="100000"/>
              </a:lnSpc>
              <a:spcBef>
                <a:spcPts val="434"/>
              </a:spcBef>
            </a:pPr>
            <a:endParaRPr lang="en-US" sz="1700" dirty="0">
              <a:latin typeface="Times New Roman"/>
              <a:cs typeface="Times New Roman"/>
            </a:endParaRPr>
          </a:p>
        </p:txBody>
      </p:sp>
      <p:sp>
        <p:nvSpPr>
          <p:cNvPr id="6" name="object 6"/>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4664" y="759952"/>
            <a:ext cx="2304415" cy="563880"/>
          </a:xfrm>
          <a:prstGeom prst="rect">
            <a:avLst/>
          </a:prstGeom>
        </p:spPr>
        <p:txBody>
          <a:bodyPr vert="horz" wrap="square" lIns="0" tIns="12065" rIns="0" bIns="0" rtlCol="0">
            <a:spAutoFit/>
          </a:bodyPr>
          <a:lstStyle/>
          <a:p>
            <a:pPr marL="12700" marR="5080">
              <a:lnSpc>
                <a:spcPct val="121700"/>
              </a:lnSpc>
              <a:spcBef>
                <a:spcPts val="95"/>
              </a:spcBef>
            </a:pPr>
            <a:r>
              <a:rPr sz="1450" spc="-130" dirty="0">
                <a:solidFill>
                  <a:srgbClr val="000000"/>
                </a:solidFill>
                <a:latin typeface="Calibri"/>
                <a:cs typeface="Calibri"/>
              </a:rPr>
              <a:t>//</a:t>
            </a:r>
            <a:r>
              <a:rPr sz="1450" spc="-130" dirty="0">
                <a:solidFill>
                  <a:srgbClr val="000000"/>
                </a:solidFill>
                <a:latin typeface="Times New Roman"/>
                <a:cs typeface="Times New Roman"/>
              </a:rPr>
              <a:t> </a:t>
            </a:r>
            <a:r>
              <a:rPr sz="1450" spc="254" dirty="0">
                <a:solidFill>
                  <a:srgbClr val="000000"/>
                </a:solidFill>
                <a:latin typeface="Calibri"/>
                <a:cs typeface="Calibri"/>
              </a:rPr>
              <a:t>D</a:t>
            </a:r>
            <a:r>
              <a:rPr sz="1450" spc="-45" dirty="0">
                <a:solidFill>
                  <a:srgbClr val="000000"/>
                </a:solidFill>
                <a:latin typeface="Calibri"/>
                <a:cs typeface="Calibri"/>
              </a:rPr>
              <a:t>e</a:t>
            </a:r>
            <a:r>
              <a:rPr sz="1450" spc="30" dirty="0">
                <a:solidFill>
                  <a:srgbClr val="000000"/>
                </a:solidFill>
                <a:latin typeface="Calibri"/>
                <a:cs typeface="Calibri"/>
              </a:rPr>
              <a:t>m</a:t>
            </a:r>
            <a:r>
              <a:rPr sz="1450" spc="-10" dirty="0">
                <a:solidFill>
                  <a:srgbClr val="000000"/>
                </a:solidFill>
                <a:latin typeface="Calibri"/>
                <a:cs typeface="Calibri"/>
              </a:rPr>
              <a:t>on</a:t>
            </a:r>
            <a:r>
              <a:rPr sz="1450" spc="-50" dirty="0">
                <a:solidFill>
                  <a:srgbClr val="000000"/>
                </a:solidFill>
                <a:latin typeface="Calibri"/>
                <a:cs typeface="Calibri"/>
              </a:rPr>
              <a:t>s</a:t>
            </a:r>
            <a:r>
              <a:rPr sz="1450" spc="-95" dirty="0">
                <a:solidFill>
                  <a:srgbClr val="000000"/>
                </a:solidFill>
                <a:latin typeface="Calibri"/>
                <a:cs typeface="Calibri"/>
              </a:rPr>
              <a:t>t</a:t>
            </a:r>
            <a:r>
              <a:rPr sz="1450" spc="-25" dirty="0">
                <a:solidFill>
                  <a:srgbClr val="000000"/>
                </a:solidFill>
                <a:latin typeface="Calibri"/>
                <a:cs typeface="Calibri"/>
              </a:rPr>
              <a:t>r</a:t>
            </a:r>
            <a:r>
              <a:rPr sz="1450" spc="-30" dirty="0">
                <a:solidFill>
                  <a:srgbClr val="000000"/>
                </a:solidFill>
                <a:latin typeface="Calibri"/>
                <a:cs typeface="Calibri"/>
              </a:rPr>
              <a:t>a</a:t>
            </a:r>
            <a:r>
              <a:rPr sz="1450" spc="-95" dirty="0">
                <a:solidFill>
                  <a:srgbClr val="000000"/>
                </a:solidFill>
                <a:latin typeface="Calibri"/>
                <a:cs typeface="Calibri"/>
              </a:rPr>
              <a:t>t</a:t>
            </a:r>
            <a:r>
              <a:rPr sz="1450" spc="-55" dirty="0">
                <a:solidFill>
                  <a:srgbClr val="000000"/>
                </a:solidFill>
                <a:latin typeface="Calibri"/>
                <a:cs typeface="Calibri"/>
              </a:rPr>
              <a:t>e</a:t>
            </a:r>
            <a:r>
              <a:rPr sz="1450" spc="5" dirty="0">
                <a:solidFill>
                  <a:srgbClr val="000000"/>
                </a:solidFill>
                <a:latin typeface="Times New Roman"/>
                <a:cs typeface="Times New Roman"/>
              </a:rPr>
              <a:t> </a:t>
            </a:r>
            <a:r>
              <a:rPr sz="1450" spc="-95" dirty="0">
                <a:solidFill>
                  <a:srgbClr val="000000"/>
                </a:solidFill>
                <a:latin typeface="Calibri"/>
                <a:cs typeface="Calibri"/>
              </a:rPr>
              <a:t>t</a:t>
            </a:r>
            <a:r>
              <a:rPr sz="1450" spc="-10" dirty="0">
                <a:solidFill>
                  <a:srgbClr val="000000"/>
                </a:solidFill>
                <a:latin typeface="Calibri"/>
                <a:cs typeface="Calibri"/>
              </a:rPr>
              <a:t>h</a:t>
            </a:r>
            <a:r>
              <a:rPr sz="1450" spc="-55" dirty="0">
                <a:solidFill>
                  <a:srgbClr val="000000"/>
                </a:solidFill>
                <a:latin typeface="Calibri"/>
                <a:cs typeface="Calibri"/>
              </a:rPr>
              <a:t>e</a:t>
            </a:r>
            <a:r>
              <a:rPr sz="1450" spc="45" dirty="0">
                <a:solidFill>
                  <a:srgbClr val="000000"/>
                </a:solidFill>
                <a:latin typeface="Times New Roman"/>
                <a:cs typeface="Times New Roman"/>
              </a:rPr>
              <a:t> </a:t>
            </a:r>
            <a:r>
              <a:rPr sz="1450" spc="-125" dirty="0">
                <a:solidFill>
                  <a:srgbClr val="000000"/>
                </a:solidFill>
                <a:latin typeface="Calibri"/>
                <a:cs typeface="Calibri"/>
              </a:rPr>
              <a:t>w</a:t>
            </a:r>
            <a:r>
              <a:rPr sz="1450" spc="-10" dirty="0">
                <a:solidFill>
                  <a:srgbClr val="000000"/>
                </a:solidFill>
                <a:latin typeface="Calibri"/>
                <a:cs typeface="Calibri"/>
              </a:rPr>
              <a:t>hil</a:t>
            </a:r>
            <a:r>
              <a:rPr sz="1450" spc="-5" dirty="0">
                <a:solidFill>
                  <a:srgbClr val="000000"/>
                </a:solidFill>
                <a:latin typeface="Calibri"/>
                <a:cs typeface="Calibri"/>
              </a:rPr>
              <a:t>e</a:t>
            </a:r>
            <a:r>
              <a:rPr sz="1450" spc="5" dirty="0">
                <a:solidFill>
                  <a:srgbClr val="000000"/>
                </a:solidFill>
                <a:latin typeface="Times New Roman"/>
                <a:cs typeface="Times New Roman"/>
              </a:rPr>
              <a:t> </a:t>
            </a:r>
            <a:r>
              <a:rPr sz="1450" dirty="0">
                <a:solidFill>
                  <a:srgbClr val="000000"/>
                </a:solidFill>
                <a:latin typeface="Calibri"/>
                <a:cs typeface="Calibri"/>
              </a:rPr>
              <a:t>l</a:t>
            </a:r>
            <a:r>
              <a:rPr sz="1450" spc="5" dirty="0">
                <a:solidFill>
                  <a:srgbClr val="000000"/>
                </a:solidFill>
                <a:latin typeface="Calibri"/>
                <a:cs typeface="Calibri"/>
              </a:rPr>
              <a:t>o</a:t>
            </a:r>
            <a:r>
              <a:rPr sz="1450" spc="-10" dirty="0">
                <a:solidFill>
                  <a:srgbClr val="000000"/>
                </a:solidFill>
                <a:latin typeface="Calibri"/>
                <a:cs typeface="Calibri"/>
              </a:rPr>
              <a:t>op</a:t>
            </a:r>
            <a:r>
              <a:rPr sz="1450" spc="-5" dirty="0">
                <a:solidFill>
                  <a:srgbClr val="000000"/>
                </a:solidFill>
                <a:latin typeface="Calibri"/>
                <a:cs typeface="Calibri"/>
              </a:rPr>
              <a:t>. </a:t>
            </a:r>
            <a:r>
              <a:rPr sz="1450" spc="-5" dirty="0">
                <a:solidFill>
                  <a:srgbClr val="000000"/>
                </a:solidFill>
                <a:latin typeface="Times New Roman"/>
                <a:cs typeface="Times New Roman"/>
              </a:rPr>
              <a:t> </a:t>
            </a:r>
            <a:r>
              <a:rPr sz="1450" spc="-30" dirty="0">
                <a:solidFill>
                  <a:srgbClr val="000000"/>
                </a:solidFill>
                <a:latin typeface="Calibri"/>
                <a:cs typeface="Calibri"/>
              </a:rPr>
              <a:t>class</a:t>
            </a:r>
            <a:r>
              <a:rPr sz="1450" spc="60" dirty="0">
                <a:solidFill>
                  <a:srgbClr val="000000"/>
                </a:solidFill>
                <a:latin typeface="Calibri"/>
                <a:cs typeface="Calibri"/>
              </a:rPr>
              <a:t> </a:t>
            </a:r>
            <a:r>
              <a:rPr sz="1450" spc="20" dirty="0">
                <a:solidFill>
                  <a:srgbClr val="000000"/>
                </a:solidFill>
                <a:latin typeface="Calibri"/>
                <a:cs typeface="Calibri"/>
              </a:rPr>
              <a:t>Whileeg</a:t>
            </a:r>
            <a:r>
              <a:rPr sz="1450" spc="55" dirty="0">
                <a:solidFill>
                  <a:srgbClr val="000000"/>
                </a:solidFill>
                <a:latin typeface="Calibri"/>
                <a:cs typeface="Calibri"/>
              </a:rPr>
              <a:t> </a:t>
            </a:r>
            <a:r>
              <a:rPr sz="1450" spc="-25" dirty="0">
                <a:solidFill>
                  <a:srgbClr val="000000"/>
                </a:solidFill>
                <a:latin typeface="Calibri"/>
                <a:cs typeface="Calibri"/>
              </a:rPr>
              <a:t>{</a:t>
            </a:r>
            <a:endParaRPr sz="1450">
              <a:latin typeface="Calibri"/>
              <a:cs typeface="Calibri"/>
            </a:endParaRPr>
          </a:p>
        </p:txBody>
      </p:sp>
      <p:sp>
        <p:nvSpPr>
          <p:cNvPr id="3" name="object 3"/>
          <p:cNvSpPr txBox="1"/>
          <p:nvPr/>
        </p:nvSpPr>
        <p:spPr>
          <a:xfrm>
            <a:off x="364664" y="1297925"/>
            <a:ext cx="3039110" cy="2207895"/>
          </a:xfrm>
          <a:prstGeom prst="rect">
            <a:avLst/>
          </a:prstGeom>
        </p:spPr>
        <p:txBody>
          <a:bodyPr vert="horz" wrap="square" lIns="0" tIns="64769" rIns="0" bIns="0" rtlCol="0">
            <a:spAutoFit/>
          </a:bodyPr>
          <a:lstStyle/>
          <a:p>
            <a:pPr marL="255904">
              <a:lnSpc>
                <a:spcPct val="100000"/>
              </a:lnSpc>
              <a:spcBef>
                <a:spcPts val="509"/>
              </a:spcBef>
            </a:pPr>
            <a:r>
              <a:rPr sz="1450" spc="5" dirty="0">
                <a:latin typeface="Calibri"/>
                <a:cs typeface="Calibri"/>
              </a:rPr>
              <a:t>public</a:t>
            </a:r>
            <a:r>
              <a:rPr sz="1450" spc="85" dirty="0">
                <a:latin typeface="Calibri"/>
                <a:cs typeface="Calibri"/>
              </a:rPr>
              <a:t> </a:t>
            </a:r>
            <a:r>
              <a:rPr sz="1450" spc="-45" dirty="0">
                <a:latin typeface="Calibri"/>
                <a:cs typeface="Calibri"/>
              </a:rPr>
              <a:t>static</a:t>
            </a:r>
            <a:r>
              <a:rPr sz="1450" spc="10" dirty="0">
                <a:latin typeface="Calibri"/>
                <a:cs typeface="Calibri"/>
              </a:rPr>
              <a:t> </a:t>
            </a:r>
            <a:r>
              <a:rPr sz="1450" spc="-10" dirty="0">
                <a:latin typeface="Calibri"/>
                <a:cs typeface="Calibri"/>
              </a:rPr>
              <a:t>void</a:t>
            </a:r>
            <a:r>
              <a:rPr sz="1450" spc="80" dirty="0">
                <a:latin typeface="Calibri"/>
                <a:cs typeface="Calibri"/>
              </a:rPr>
              <a:t> </a:t>
            </a:r>
            <a:r>
              <a:rPr sz="1450" spc="-10" dirty="0">
                <a:latin typeface="Calibri"/>
                <a:cs typeface="Calibri"/>
              </a:rPr>
              <a:t>main(String</a:t>
            </a:r>
            <a:r>
              <a:rPr sz="1450" spc="55" dirty="0">
                <a:latin typeface="Calibri"/>
                <a:cs typeface="Calibri"/>
              </a:rPr>
              <a:t> </a:t>
            </a:r>
            <a:r>
              <a:rPr sz="1450" spc="-30" dirty="0">
                <a:latin typeface="Calibri"/>
                <a:cs typeface="Calibri"/>
              </a:rPr>
              <a:t>args[])</a:t>
            </a:r>
            <a:r>
              <a:rPr sz="1450" spc="65" dirty="0">
                <a:latin typeface="Calibri"/>
                <a:cs typeface="Calibri"/>
              </a:rPr>
              <a:t> </a:t>
            </a:r>
            <a:r>
              <a:rPr sz="1450" spc="-25" dirty="0">
                <a:latin typeface="Calibri"/>
                <a:cs typeface="Calibri"/>
              </a:rPr>
              <a:t>{</a:t>
            </a:r>
            <a:endParaRPr sz="1450">
              <a:latin typeface="Calibri"/>
              <a:cs typeface="Calibri"/>
            </a:endParaRPr>
          </a:p>
          <a:p>
            <a:pPr marL="499109" marR="1393190">
              <a:lnSpc>
                <a:spcPct val="124000"/>
              </a:lnSpc>
            </a:pPr>
            <a:r>
              <a:rPr sz="1450" spc="-20" dirty="0">
                <a:latin typeface="Calibri"/>
                <a:cs typeface="Calibri"/>
              </a:rPr>
              <a:t>char</a:t>
            </a:r>
            <a:r>
              <a:rPr sz="1450" spc="290" dirty="0">
                <a:latin typeface="Calibri"/>
                <a:cs typeface="Calibri"/>
              </a:rPr>
              <a:t> </a:t>
            </a:r>
            <a:r>
              <a:rPr sz="1450" spc="-20" dirty="0">
                <a:latin typeface="Calibri"/>
                <a:cs typeface="Calibri"/>
              </a:rPr>
              <a:t>ch=‘a’ </a:t>
            </a:r>
            <a:r>
              <a:rPr sz="1450" spc="-15" dirty="0">
                <a:latin typeface="Calibri"/>
                <a:cs typeface="Calibri"/>
              </a:rPr>
              <a:t> </a:t>
            </a:r>
            <a:r>
              <a:rPr sz="1450" spc="-20" dirty="0">
                <a:latin typeface="Calibri"/>
                <a:cs typeface="Calibri"/>
              </a:rPr>
              <a:t>while(ch==‘a’)</a:t>
            </a:r>
            <a:r>
              <a:rPr sz="1450" spc="45" dirty="0">
                <a:latin typeface="Calibri"/>
                <a:cs typeface="Calibri"/>
              </a:rPr>
              <a:t> </a:t>
            </a:r>
            <a:r>
              <a:rPr sz="1450" spc="-25" dirty="0">
                <a:latin typeface="Calibri"/>
                <a:cs typeface="Calibri"/>
              </a:rPr>
              <a:t>{</a:t>
            </a:r>
            <a:endParaRPr sz="1450">
              <a:latin typeface="Calibri"/>
              <a:cs typeface="Calibri"/>
            </a:endParaRPr>
          </a:p>
          <a:p>
            <a:pPr marL="742950" marR="71120">
              <a:lnSpc>
                <a:spcPts val="2160"/>
              </a:lnSpc>
              <a:spcBef>
                <a:spcPts val="100"/>
              </a:spcBef>
            </a:pPr>
            <a:r>
              <a:rPr sz="1450" spc="85" dirty="0">
                <a:latin typeface="Calibri"/>
                <a:cs typeface="Calibri"/>
              </a:rPr>
              <a:t>S</a:t>
            </a:r>
            <a:r>
              <a:rPr sz="1450" spc="-60" dirty="0">
                <a:latin typeface="Calibri"/>
                <a:cs typeface="Calibri"/>
              </a:rPr>
              <a:t>y</a:t>
            </a:r>
            <a:r>
              <a:rPr sz="1450" spc="-80" dirty="0">
                <a:latin typeface="Calibri"/>
                <a:cs typeface="Calibri"/>
              </a:rPr>
              <a:t>s</a:t>
            </a:r>
            <a:r>
              <a:rPr sz="1450" spc="-60" dirty="0">
                <a:latin typeface="Calibri"/>
                <a:cs typeface="Calibri"/>
              </a:rPr>
              <a:t>t</a:t>
            </a:r>
            <a:r>
              <a:rPr sz="1450" spc="-50" dirty="0">
                <a:latin typeface="Calibri"/>
                <a:cs typeface="Calibri"/>
              </a:rPr>
              <a:t>e</a:t>
            </a:r>
            <a:r>
              <a:rPr sz="1450" spc="30" dirty="0">
                <a:latin typeface="Calibri"/>
                <a:cs typeface="Calibri"/>
              </a:rPr>
              <a:t>m</a:t>
            </a:r>
            <a:r>
              <a:rPr sz="1450" spc="-10" dirty="0">
                <a:latin typeface="Calibri"/>
                <a:cs typeface="Calibri"/>
              </a:rPr>
              <a:t>.</a:t>
            </a:r>
            <a:r>
              <a:rPr sz="1450" spc="-15" dirty="0">
                <a:latin typeface="Calibri"/>
                <a:cs typeface="Calibri"/>
              </a:rPr>
              <a:t>o</a:t>
            </a:r>
            <a:r>
              <a:rPr sz="1450" spc="-70" dirty="0">
                <a:latin typeface="Calibri"/>
                <a:cs typeface="Calibri"/>
              </a:rPr>
              <a:t>u</a:t>
            </a:r>
            <a:r>
              <a:rPr sz="1450" spc="-30" dirty="0">
                <a:latin typeface="Calibri"/>
                <a:cs typeface="Calibri"/>
              </a:rPr>
              <a:t>t</a:t>
            </a:r>
            <a:r>
              <a:rPr sz="1450" spc="-5" dirty="0">
                <a:latin typeface="Calibri"/>
                <a:cs typeface="Calibri"/>
              </a:rPr>
              <a:t>.</a:t>
            </a:r>
            <a:r>
              <a:rPr sz="1450" spc="-20" dirty="0">
                <a:latin typeface="Calibri"/>
                <a:cs typeface="Calibri"/>
              </a:rPr>
              <a:t>p</a:t>
            </a:r>
            <a:r>
              <a:rPr sz="1450" spc="5" dirty="0">
                <a:latin typeface="Calibri"/>
                <a:cs typeface="Calibri"/>
              </a:rPr>
              <a:t>r</a:t>
            </a:r>
            <a:r>
              <a:rPr sz="1450" dirty="0">
                <a:latin typeface="Calibri"/>
                <a:cs typeface="Calibri"/>
              </a:rPr>
              <a:t>i</a:t>
            </a:r>
            <a:r>
              <a:rPr sz="1450" spc="5" dirty="0">
                <a:latin typeface="Calibri"/>
                <a:cs typeface="Calibri"/>
              </a:rPr>
              <a:t>n</a:t>
            </a:r>
            <a:r>
              <a:rPr sz="1450" spc="-95" dirty="0">
                <a:latin typeface="Calibri"/>
                <a:cs typeface="Calibri"/>
              </a:rPr>
              <a:t>t</a:t>
            </a:r>
            <a:r>
              <a:rPr sz="1450" dirty="0">
                <a:latin typeface="Calibri"/>
                <a:cs typeface="Calibri"/>
              </a:rPr>
              <a:t>l</a:t>
            </a:r>
            <a:r>
              <a:rPr sz="1450" spc="5" dirty="0">
                <a:latin typeface="Calibri"/>
                <a:cs typeface="Calibri"/>
              </a:rPr>
              <a:t>n</a:t>
            </a:r>
            <a:r>
              <a:rPr sz="1450" spc="-10" dirty="0">
                <a:latin typeface="Calibri"/>
                <a:cs typeface="Calibri"/>
              </a:rPr>
              <a:t>(</a:t>
            </a:r>
            <a:r>
              <a:rPr sz="1450" spc="-180" dirty="0">
                <a:latin typeface="Calibri"/>
                <a:cs typeface="Calibri"/>
              </a:rPr>
              <a:t>"</a:t>
            </a:r>
            <a:r>
              <a:rPr sz="1450" spc="-140" dirty="0">
                <a:latin typeface="Calibri"/>
                <a:cs typeface="Calibri"/>
              </a:rPr>
              <a:t>t</a:t>
            </a:r>
            <a:r>
              <a:rPr sz="1450" dirty="0">
                <a:latin typeface="Calibri"/>
                <a:cs typeface="Calibri"/>
              </a:rPr>
              <a:t>i</a:t>
            </a:r>
            <a:r>
              <a:rPr sz="1450" spc="-5" dirty="0">
                <a:latin typeface="Calibri"/>
                <a:cs typeface="Calibri"/>
              </a:rPr>
              <a:t>c</a:t>
            </a:r>
            <a:r>
              <a:rPr sz="1450" spc="75" dirty="0">
                <a:latin typeface="Calibri"/>
                <a:cs typeface="Calibri"/>
              </a:rPr>
              <a:t>k</a:t>
            </a:r>
            <a:r>
              <a:rPr sz="1450" spc="90" dirty="0">
                <a:latin typeface="Times New Roman"/>
                <a:cs typeface="Times New Roman"/>
              </a:rPr>
              <a:t> </a:t>
            </a:r>
            <a:r>
              <a:rPr sz="1450" spc="-225" dirty="0">
                <a:latin typeface="Calibri"/>
                <a:cs typeface="Calibri"/>
              </a:rPr>
              <a:t>"</a:t>
            </a:r>
            <a:r>
              <a:rPr sz="1450" spc="30" dirty="0">
                <a:latin typeface="Times New Roman"/>
                <a:cs typeface="Times New Roman"/>
              </a:rPr>
              <a:t> </a:t>
            </a:r>
            <a:r>
              <a:rPr sz="1450" dirty="0">
                <a:latin typeface="Calibri"/>
                <a:cs typeface="Calibri"/>
              </a:rPr>
              <a:t>+</a:t>
            </a:r>
            <a:r>
              <a:rPr sz="1450" spc="25" dirty="0">
                <a:latin typeface="Times New Roman"/>
                <a:cs typeface="Times New Roman"/>
              </a:rPr>
              <a:t> </a:t>
            </a:r>
            <a:r>
              <a:rPr sz="1450" spc="-10" dirty="0">
                <a:latin typeface="Calibri"/>
                <a:cs typeface="Calibri"/>
              </a:rPr>
              <a:t>n)</a:t>
            </a:r>
            <a:r>
              <a:rPr sz="1450" spc="-35" dirty="0">
                <a:latin typeface="Calibri"/>
                <a:cs typeface="Calibri"/>
              </a:rPr>
              <a:t>; </a:t>
            </a:r>
            <a:r>
              <a:rPr sz="1450" spc="-35" dirty="0">
                <a:latin typeface="Times New Roman"/>
                <a:cs typeface="Times New Roman"/>
              </a:rPr>
              <a:t> </a:t>
            </a:r>
            <a:r>
              <a:rPr sz="1450" spc="-55" dirty="0">
                <a:latin typeface="Calibri"/>
                <a:cs typeface="Calibri"/>
              </a:rPr>
              <a:t>n--;</a:t>
            </a:r>
            <a:endParaRPr sz="1450">
              <a:latin typeface="Calibri"/>
              <a:cs typeface="Calibri"/>
            </a:endParaRPr>
          </a:p>
          <a:p>
            <a:pPr marL="499109">
              <a:lnSpc>
                <a:spcPct val="100000"/>
              </a:lnSpc>
              <a:spcBef>
                <a:spcPts val="275"/>
              </a:spcBef>
            </a:pPr>
            <a:r>
              <a:rPr sz="1450" spc="-25" dirty="0">
                <a:latin typeface="Calibri"/>
                <a:cs typeface="Calibri"/>
              </a:rPr>
              <a:t>}</a:t>
            </a:r>
            <a:endParaRPr sz="1450">
              <a:latin typeface="Calibri"/>
              <a:cs typeface="Calibri"/>
            </a:endParaRPr>
          </a:p>
          <a:p>
            <a:pPr marL="194945">
              <a:lnSpc>
                <a:spcPct val="100000"/>
              </a:lnSpc>
              <a:spcBef>
                <a:spcPts val="415"/>
              </a:spcBef>
            </a:pPr>
            <a:r>
              <a:rPr sz="1450" spc="-25" dirty="0">
                <a:latin typeface="Calibri"/>
                <a:cs typeface="Calibri"/>
              </a:rPr>
              <a:t>}</a:t>
            </a:r>
            <a:endParaRPr sz="1450">
              <a:latin typeface="Calibri"/>
              <a:cs typeface="Calibri"/>
            </a:endParaRPr>
          </a:p>
          <a:p>
            <a:pPr marL="12700">
              <a:lnSpc>
                <a:spcPct val="100000"/>
              </a:lnSpc>
              <a:spcBef>
                <a:spcPts val="380"/>
              </a:spcBef>
            </a:pPr>
            <a:r>
              <a:rPr sz="1450" spc="-25" dirty="0">
                <a:latin typeface="Calibri"/>
                <a:cs typeface="Calibri"/>
              </a:rPr>
              <a:t>}</a:t>
            </a:r>
            <a:endParaRPr sz="1450">
              <a:latin typeface="Calibri"/>
              <a:cs typeface="Calibri"/>
            </a:endParaRPr>
          </a:p>
        </p:txBody>
      </p:sp>
      <p:grpSp>
        <p:nvGrpSpPr>
          <p:cNvPr id="5" name="object 5"/>
          <p:cNvGrpSpPr/>
          <p:nvPr/>
        </p:nvGrpSpPr>
        <p:grpSpPr>
          <a:xfrm>
            <a:off x="-1387" y="170827"/>
            <a:ext cx="6498590" cy="3660140"/>
            <a:chOff x="-1387" y="170827"/>
            <a:chExt cx="6498590" cy="3660140"/>
          </a:xfrm>
        </p:grpSpPr>
        <p:pic>
          <p:nvPicPr>
            <p:cNvPr id="6" name="object 6"/>
            <p:cNvPicPr/>
            <p:nvPr/>
          </p:nvPicPr>
          <p:blipFill>
            <a:blip r:embed="rId2" cstate="print"/>
            <a:stretch>
              <a:fillRect/>
            </a:stretch>
          </p:blipFill>
          <p:spPr>
            <a:xfrm>
              <a:off x="3423322" y="1008163"/>
              <a:ext cx="3067929" cy="1829596"/>
            </a:xfrm>
            <a:prstGeom prst="rect">
              <a:avLst/>
            </a:prstGeom>
          </p:spPr>
        </p:pic>
        <p:sp>
          <p:nvSpPr>
            <p:cNvPr id="7" name="object 7"/>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12700"/>
            <a:ext cx="6487240" cy="684201"/>
          </a:xfrm>
          <a:prstGeom prst="rect">
            <a:avLst/>
          </a:prstGeom>
        </p:spPr>
      </p:pic>
      <p:sp>
        <p:nvSpPr>
          <p:cNvPr id="3" name="object 3"/>
          <p:cNvSpPr txBox="1">
            <a:spLocks noGrp="1"/>
          </p:cNvSpPr>
          <p:nvPr>
            <p:ph type="title"/>
          </p:nvPr>
        </p:nvSpPr>
        <p:spPr>
          <a:xfrm>
            <a:off x="3980968" y="726272"/>
            <a:ext cx="2153920" cy="318135"/>
          </a:xfrm>
          <a:prstGeom prst="rect">
            <a:avLst/>
          </a:prstGeom>
        </p:spPr>
        <p:txBody>
          <a:bodyPr vert="horz" wrap="square" lIns="0" tIns="14604" rIns="0" bIns="0" rtlCol="0">
            <a:spAutoFit/>
          </a:bodyPr>
          <a:lstStyle/>
          <a:p>
            <a:pPr marL="12700">
              <a:lnSpc>
                <a:spcPct val="100000"/>
              </a:lnSpc>
              <a:spcBef>
                <a:spcPts val="114"/>
              </a:spcBef>
            </a:pPr>
            <a:r>
              <a:rPr spc="65" dirty="0">
                <a:latin typeface="Times New Roman"/>
                <a:cs typeface="Times New Roman"/>
              </a:rPr>
              <a:t> </a:t>
            </a:r>
            <a:r>
              <a:rPr spc="15" dirty="0"/>
              <a:t>d</a:t>
            </a:r>
            <a:r>
              <a:rPr spc="40" dirty="0"/>
              <a:t>o</a:t>
            </a:r>
            <a:r>
              <a:rPr dirty="0"/>
              <a:t>-</a:t>
            </a:r>
            <a:r>
              <a:rPr spc="-60" dirty="0"/>
              <a:t>w</a:t>
            </a:r>
            <a:r>
              <a:rPr spc="15" dirty="0"/>
              <a:t>h</a:t>
            </a:r>
            <a:r>
              <a:rPr spc="-30" dirty="0"/>
              <a:t>il</a:t>
            </a:r>
            <a:r>
              <a:rPr spc="10" dirty="0"/>
              <a:t>e</a:t>
            </a:r>
          </a:p>
        </p:txBody>
      </p:sp>
      <p:sp>
        <p:nvSpPr>
          <p:cNvPr id="4" name="object 4"/>
          <p:cNvSpPr txBox="1"/>
          <p:nvPr/>
        </p:nvSpPr>
        <p:spPr>
          <a:xfrm>
            <a:off x="60960" y="647297"/>
            <a:ext cx="6430290" cy="3317702"/>
          </a:xfrm>
          <a:prstGeom prst="rect">
            <a:avLst/>
          </a:prstGeom>
        </p:spPr>
        <p:txBody>
          <a:bodyPr vert="horz" wrap="square" lIns="0" tIns="14604" rIns="0" bIns="0" rtlCol="0">
            <a:spAutoFit/>
          </a:bodyPr>
          <a:lstStyle/>
          <a:p>
            <a:pPr marL="298450" indent="-285750">
              <a:lnSpc>
                <a:spcPts val="2020"/>
              </a:lnSpc>
              <a:spcBef>
                <a:spcPts val="114"/>
              </a:spcBef>
              <a:buFont typeface="Arial" panose="020B0604020202020204" pitchFamily="34" charset="0"/>
              <a:buChar char="•"/>
            </a:pPr>
            <a:r>
              <a:rPr sz="1700" spc="-5" dirty="0">
                <a:latin typeface="Arial MT"/>
                <a:cs typeface="Arial MT"/>
              </a:rPr>
              <a:t>do-while</a:t>
            </a:r>
            <a:r>
              <a:rPr sz="1700" spc="-35" dirty="0">
                <a:latin typeface="Arial MT"/>
                <a:cs typeface="Arial MT"/>
              </a:rPr>
              <a:t> </a:t>
            </a:r>
            <a:r>
              <a:rPr sz="1700" spc="10" dirty="0">
                <a:latin typeface="Arial MT"/>
                <a:cs typeface="Arial MT"/>
              </a:rPr>
              <a:t>is</a:t>
            </a:r>
            <a:r>
              <a:rPr sz="1700" spc="-15" dirty="0">
                <a:latin typeface="Arial MT"/>
                <a:cs typeface="Arial MT"/>
              </a:rPr>
              <a:t> </a:t>
            </a:r>
            <a:r>
              <a:rPr sz="1700" spc="10" dirty="0">
                <a:latin typeface="Arial MT"/>
                <a:cs typeface="Arial MT"/>
              </a:rPr>
              <a:t>EXIT</a:t>
            </a:r>
            <a:r>
              <a:rPr sz="1700" spc="-45" dirty="0">
                <a:latin typeface="Arial MT"/>
                <a:cs typeface="Arial MT"/>
              </a:rPr>
              <a:t> </a:t>
            </a:r>
            <a:r>
              <a:rPr sz="1700" dirty="0">
                <a:latin typeface="Arial MT"/>
                <a:cs typeface="Arial MT"/>
              </a:rPr>
              <a:t>CONTROLLED</a:t>
            </a:r>
            <a:r>
              <a:rPr sz="1700" spc="-75" dirty="0">
                <a:latin typeface="Arial MT"/>
                <a:cs typeface="Arial MT"/>
              </a:rPr>
              <a:t> </a:t>
            </a:r>
            <a:r>
              <a:rPr sz="1700" spc="5" dirty="0">
                <a:latin typeface="Arial MT"/>
                <a:cs typeface="Arial MT"/>
              </a:rPr>
              <a:t>loop.</a:t>
            </a:r>
            <a:endParaRPr lang="en-US" sz="1700" spc="5" dirty="0">
              <a:latin typeface="Arial MT"/>
              <a:cs typeface="Arial MT"/>
            </a:endParaRPr>
          </a:p>
          <a:p>
            <a:pPr marL="298450" indent="-285750">
              <a:lnSpc>
                <a:spcPts val="2020"/>
              </a:lnSpc>
              <a:spcBef>
                <a:spcPts val="114"/>
              </a:spcBef>
              <a:buFont typeface="Arial" panose="020B0604020202020204" pitchFamily="34" charset="0"/>
              <a:buChar char="•"/>
            </a:pPr>
            <a:r>
              <a:rPr lang="en-US" sz="1700" dirty="0">
                <a:latin typeface="Arial MT"/>
                <a:cs typeface="Arial MT"/>
              </a:rPr>
              <a:t>The do-while loop always executes its body at least  once. </a:t>
            </a:r>
          </a:p>
          <a:p>
            <a:pPr marL="12700">
              <a:lnSpc>
                <a:spcPts val="2020"/>
              </a:lnSpc>
            </a:pPr>
            <a:r>
              <a:rPr sz="1700" spc="60" dirty="0">
                <a:solidFill>
                  <a:srgbClr val="0000CC"/>
                </a:solidFill>
                <a:latin typeface="Times New Roman"/>
                <a:cs typeface="Times New Roman"/>
              </a:rPr>
              <a:t>do</a:t>
            </a:r>
            <a:endParaRPr sz="1700" dirty="0">
              <a:latin typeface="Times New Roman"/>
              <a:cs typeface="Times New Roman"/>
            </a:endParaRPr>
          </a:p>
          <a:p>
            <a:pPr marL="12700">
              <a:lnSpc>
                <a:spcPts val="2039"/>
              </a:lnSpc>
            </a:pPr>
            <a:r>
              <a:rPr sz="1700" spc="-315" dirty="0">
                <a:latin typeface="Times New Roman"/>
                <a:cs typeface="Times New Roman"/>
              </a:rPr>
              <a:t>{</a:t>
            </a:r>
            <a:endParaRPr sz="1700" dirty="0">
              <a:latin typeface="Times New Roman"/>
              <a:cs typeface="Times New Roman"/>
            </a:endParaRPr>
          </a:p>
          <a:p>
            <a:pPr marL="194945">
              <a:lnSpc>
                <a:spcPts val="2039"/>
              </a:lnSpc>
            </a:pPr>
            <a:r>
              <a:rPr sz="1700" spc="-15" dirty="0">
                <a:latin typeface="Times New Roman"/>
                <a:cs typeface="Times New Roman"/>
              </a:rPr>
              <a:t>//statements</a:t>
            </a:r>
            <a:endParaRPr sz="1700" dirty="0">
              <a:latin typeface="Times New Roman"/>
              <a:cs typeface="Times New Roman"/>
            </a:endParaRPr>
          </a:p>
          <a:p>
            <a:pPr marL="12700">
              <a:lnSpc>
                <a:spcPts val="2039"/>
              </a:lnSpc>
            </a:pPr>
            <a:r>
              <a:rPr sz="1700" spc="-315" dirty="0">
                <a:latin typeface="Times New Roman"/>
                <a:cs typeface="Times New Roman"/>
              </a:rPr>
              <a:t>}</a:t>
            </a:r>
            <a:endParaRPr sz="1700" dirty="0">
              <a:latin typeface="Times New Roman"/>
              <a:cs typeface="Times New Roman"/>
            </a:endParaRPr>
          </a:p>
          <a:p>
            <a:pPr marL="12700">
              <a:lnSpc>
                <a:spcPct val="100000"/>
              </a:lnSpc>
              <a:spcBef>
                <a:spcPts val="40"/>
              </a:spcBef>
            </a:pPr>
            <a:r>
              <a:rPr sz="1700" spc="-40" dirty="0">
                <a:solidFill>
                  <a:srgbClr val="0000CC"/>
                </a:solidFill>
                <a:latin typeface="Times New Roman"/>
                <a:cs typeface="Times New Roman"/>
              </a:rPr>
              <a:t>while</a:t>
            </a:r>
            <a:r>
              <a:rPr sz="1700" spc="-40" dirty="0">
                <a:latin typeface="Times New Roman"/>
                <a:cs typeface="Times New Roman"/>
              </a:rPr>
              <a:t>(</a:t>
            </a:r>
            <a:r>
              <a:rPr sz="1700" b="1" spc="-40" dirty="0">
                <a:solidFill>
                  <a:srgbClr val="00AF50"/>
                </a:solidFill>
                <a:latin typeface="Calibri"/>
                <a:cs typeface="Calibri"/>
              </a:rPr>
              <a:t>condition</a:t>
            </a:r>
            <a:r>
              <a:rPr sz="1700" spc="-40" dirty="0">
                <a:latin typeface="Times New Roman"/>
                <a:cs typeface="Times New Roman"/>
              </a:rPr>
              <a:t>);</a:t>
            </a:r>
            <a:endParaRPr sz="1700" dirty="0">
              <a:latin typeface="Times New Roman"/>
              <a:cs typeface="Times New Roman"/>
            </a:endParaRPr>
          </a:p>
          <a:p>
            <a:pPr marL="194945" marR="769620" indent="-182880">
              <a:lnSpc>
                <a:spcPct val="100000"/>
              </a:lnSpc>
              <a:spcBef>
                <a:spcPts val="475"/>
              </a:spcBef>
              <a:buSzPct val="94117"/>
              <a:buAutoNum type="arabicPeriod"/>
              <a:tabLst>
                <a:tab pos="196215" algn="l"/>
              </a:tabLst>
            </a:pPr>
            <a:r>
              <a:rPr sz="1700" spc="5" dirty="0">
                <a:latin typeface="Arial MT"/>
                <a:cs typeface="Arial MT"/>
              </a:rPr>
              <a:t>In</a:t>
            </a:r>
            <a:r>
              <a:rPr sz="1700" spc="15" dirty="0">
                <a:latin typeface="Arial MT"/>
                <a:cs typeface="Arial MT"/>
              </a:rPr>
              <a:t>i</a:t>
            </a:r>
            <a:r>
              <a:rPr sz="1700" spc="5" dirty="0">
                <a:latin typeface="Arial MT"/>
                <a:cs typeface="Arial MT"/>
              </a:rPr>
              <a:t>t</a:t>
            </a:r>
            <a:r>
              <a:rPr sz="1700" spc="15" dirty="0">
                <a:latin typeface="Arial MT"/>
                <a:cs typeface="Arial MT"/>
              </a:rPr>
              <a:t>i</a:t>
            </a:r>
            <a:r>
              <a:rPr sz="1700" spc="5" dirty="0">
                <a:latin typeface="Arial MT"/>
                <a:cs typeface="Arial MT"/>
              </a:rPr>
              <a:t>a</a:t>
            </a:r>
            <a:r>
              <a:rPr sz="1700" spc="15" dirty="0">
                <a:latin typeface="Arial MT"/>
                <a:cs typeface="Arial MT"/>
              </a:rPr>
              <a:t>ll</a:t>
            </a:r>
            <a:r>
              <a:rPr sz="1700" spc="5" dirty="0">
                <a:latin typeface="Arial MT"/>
                <a:cs typeface="Arial MT"/>
              </a:rPr>
              <a:t>y</a:t>
            </a:r>
            <a:r>
              <a:rPr sz="1700" spc="-90" dirty="0">
                <a:latin typeface="Times New Roman"/>
                <a:cs typeface="Times New Roman"/>
              </a:rPr>
              <a:t> </a:t>
            </a:r>
            <a:r>
              <a:rPr sz="1700" spc="5" dirty="0">
                <a:latin typeface="Arial MT"/>
                <a:cs typeface="Arial MT"/>
              </a:rPr>
              <a:t>the</a:t>
            </a:r>
            <a:r>
              <a:rPr sz="1700" spc="25" dirty="0">
                <a:latin typeface="Times New Roman"/>
                <a:cs typeface="Times New Roman"/>
              </a:rPr>
              <a:t> </a:t>
            </a:r>
            <a:r>
              <a:rPr sz="1700" b="1" spc="5" dirty="0">
                <a:latin typeface="Arial"/>
                <a:cs typeface="Arial"/>
              </a:rPr>
              <a:t>s</a:t>
            </a:r>
            <a:r>
              <a:rPr sz="1700" b="1" spc="-10" dirty="0">
                <a:latin typeface="Arial"/>
                <a:cs typeface="Arial"/>
              </a:rPr>
              <a:t>t</a:t>
            </a:r>
            <a:r>
              <a:rPr sz="1700" b="1" spc="5" dirty="0">
                <a:latin typeface="Arial"/>
                <a:cs typeface="Arial"/>
              </a:rPr>
              <a:t>a</a:t>
            </a:r>
            <a:r>
              <a:rPr sz="1700" b="1" spc="-10" dirty="0">
                <a:latin typeface="Arial"/>
                <a:cs typeface="Arial"/>
              </a:rPr>
              <a:t>t</a:t>
            </a:r>
            <a:r>
              <a:rPr sz="1700" b="1" spc="5" dirty="0">
                <a:latin typeface="Arial"/>
                <a:cs typeface="Arial"/>
              </a:rPr>
              <a:t>eme</a:t>
            </a:r>
            <a:r>
              <a:rPr sz="1700" b="1" spc="-10" dirty="0">
                <a:latin typeface="Arial"/>
                <a:cs typeface="Arial"/>
              </a:rPr>
              <a:t>nt</a:t>
            </a:r>
            <a:r>
              <a:rPr sz="1700" b="1" spc="10" dirty="0">
                <a:latin typeface="Arial"/>
                <a:cs typeface="Arial"/>
              </a:rPr>
              <a:t>s</a:t>
            </a:r>
            <a:r>
              <a:rPr sz="1700" spc="25" dirty="0">
                <a:latin typeface="Times New Roman"/>
                <a:cs typeface="Times New Roman"/>
              </a:rPr>
              <a:t> </a:t>
            </a:r>
            <a:r>
              <a:rPr sz="1700" spc="15" dirty="0">
                <a:latin typeface="Arial MT"/>
                <a:cs typeface="Arial MT"/>
              </a:rPr>
              <a:t>i</a:t>
            </a:r>
            <a:r>
              <a:rPr sz="1700" spc="5" dirty="0">
                <a:latin typeface="Arial MT"/>
                <a:cs typeface="Arial MT"/>
              </a:rPr>
              <a:t>n</a:t>
            </a:r>
            <a:r>
              <a:rPr sz="1700" spc="20" dirty="0">
                <a:latin typeface="Arial MT"/>
                <a:cs typeface="Arial MT"/>
              </a:rPr>
              <a:t>si</a:t>
            </a:r>
            <a:r>
              <a:rPr sz="1700" spc="5" dirty="0">
                <a:latin typeface="Arial MT"/>
                <a:cs typeface="Arial MT"/>
              </a:rPr>
              <a:t>d</a:t>
            </a:r>
            <a:r>
              <a:rPr sz="1700" spc="10" dirty="0">
                <a:latin typeface="Arial MT"/>
                <a:cs typeface="Arial MT"/>
              </a:rPr>
              <a:t>e</a:t>
            </a:r>
            <a:r>
              <a:rPr sz="1700" spc="-65" dirty="0">
                <a:latin typeface="Times New Roman"/>
                <a:cs typeface="Times New Roman"/>
              </a:rPr>
              <a:t> </a:t>
            </a:r>
            <a:r>
              <a:rPr sz="1700" spc="5" dirty="0">
                <a:latin typeface="Arial MT"/>
                <a:cs typeface="Arial MT"/>
              </a:rPr>
              <a:t>the</a:t>
            </a:r>
            <a:r>
              <a:rPr sz="1700" spc="15" dirty="0">
                <a:latin typeface="Times New Roman"/>
                <a:cs typeface="Times New Roman"/>
              </a:rPr>
              <a:t> </a:t>
            </a:r>
            <a:r>
              <a:rPr sz="1700" spc="5" dirty="0">
                <a:latin typeface="Arial MT"/>
                <a:cs typeface="Arial MT"/>
              </a:rPr>
              <a:t>d</a:t>
            </a:r>
            <a:r>
              <a:rPr sz="1700" spc="25" dirty="0">
                <a:latin typeface="Arial MT"/>
                <a:cs typeface="Arial MT"/>
              </a:rPr>
              <a:t>o</a:t>
            </a:r>
            <a:r>
              <a:rPr sz="1700" spc="-10" dirty="0">
                <a:latin typeface="Arial MT"/>
                <a:cs typeface="Arial MT"/>
              </a:rPr>
              <a:t>-</a:t>
            </a:r>
            <a:r>
              <a:rPr sz="1700" spc="-75" dirty="0">
                <a:latin typeface="Arial MT"/>
                <a:cs typeface="Arial MT"/>
              </a:rPr>
              <a:t>w</a:t>
            </a:r>
            <a:r>
              <a:rPr sz="1700" spc="5" dirty="0">
                <a:latin typeface="Arial MT"/>
                <a:cs typeface="Arial MT"/>
              </a:rPr>
              <a:t>h</a:t>
            </a:r>
            <a:r>
              <a:rPr sz="1700" spc="15" dirty="0">
                <a:latin typeface="Arial MT"/>
                <a:cs typeface="Arial MT"/>
              </a:rPr>
              <a:t>il</a:t>
            </a:r>
            <a:r>
              <a:rPr sz="1700" spc="10" dirty="0">
                <a:latin typeface="Arial MT"/>
                <a:cs typeface="Arial MT"/>
              </a:rPr>
              <a:t>e</a:t>
            </a:r>
            <a:r>
              <a:rPr sz="1700" spc="15" dirty="0">
                <a:latin typeface="Times New Roman"/>
                <a:cs typeface="Times New Roman"/>
              </a:rPr>
              <a:t> </a:t>
            </a:r>
            <a:r>
              <a:rPr sz="1700" spc="15" dirty="0">
                <a:latin typeface="Arial MT"/>
                <a:cs typeface="Arial MT"/>
              </a:rPr>
              <a:t>l</a:t>
            </a:r>
            <a:r>
              <a:rPr sz="1700" spc="5" dirty="0">
                <a:latin typeface="Arial MT"/>
                <a:cs typeface="Arial MT"/>
              </a:rPr>
              <a:t>oo</a:t>
            </a:r>
            <a:r>
              <a:rPr sz="1700" spc="10" dirty="0">
                <a:latin typeface="Arial MT"/>
                <a:cs typeface="Arial MT"/>
              </a:rPr>
              <a:t>p</a:t>
            </a:r>
            <a:r>
              <a:rPr sz="1700" spc="15" dirty="0">
                <a:latin typeface="Times New Roman"/>
                <a:cs typeface="Times New Roman"/>
              </a:rPr>
              <a:t> </a:t>
            </a:r>
            <a:r>
              <a:rPr lang="en-US" sz="1700" spc="15" dirty="0">
                <a:latin typeface="Arial MT"/>
                <a:cs typeface="Arial MT"/>
              </a:rPr>
              <a:t>i</a:t>
            </a:r>
            <a:r>
              <a:rPr lang="en-US" sz="1700" spc="5" dirty="0">
                <a:latin typeface="Arial MT"/>
                <a:cs typeface="Arial MT"/>
              </a:rPr>
              <a:t>s </a:t>
            </a:r>
            <a:r>
              <a:rPr sz="1700" spc="10" dirty="0">
                <a:latin typeface="Arial MT"/>
                <a:cs typeface="Arial MT"/>
              </a:rPr>
              <a:t>executed</a:t>
            </a:r>
            <a:endParaRPr lang="en-US" sz="1700" dirty="0">
              <a:latin typeface="Arial MT"/>
              <a:cs typeface="Arial MT"/>
            </a:endParaRPr>
          </a:p>
          <a:p>
            <a:pPr marL="12700" marR="383540">
              <a:lnSpc>
                <a:spcPct val="119500"/>
              </a:lnSpc>
              <a:spcBef>
                <a:spcPts val="40"/>
              </a:spcBef>
              <a:buSzPct val="94117"/>
              <a:buAutoNum type="arabicPeriod"/>
              <a:tabLst>
                <a:tab pos="196215" algn="l"/>
              </a:tabLst>
            </a:pPr>
            <a:r>
              <a:rPr lang="en-US" sz="1700" spc="5" dirty="0">
                <a:latin typeface="Arial MT"/>
                <a:cs typeface="Arial MT"/>
              </a:rPr>
              <a:t>Then </a:t>
            </a:r>
            <a:r>
              <a:rPr lang="en-US" sz="1700" spc="10" dirty="0">
                <a:latin typeface="Arial MT"/>
                <a:cs typeface="Arial MT"/>
              </a:rPr>
              <a:t>only </a:t>
            </a:r>
            <a:r>
              <a:rPr lang="en-US" sz="1700" spc="5" dirty="0">
                <a:latin typeface="Arial MT"/>
                <a:cs typeface="Arial MT"/>
              </a:rPr>
              <a:t>the </a:t>
            </a:r>
            <a:r>
              <a:rPr lang="en-US" sz="1700" b="1" dirty="0">
                <a:latin typeface="Arial"/>
                <a:cs typeface="Arial"/>
              </a:rPr>
              <a:t>condition </a:t>
            </a:r>
            <a:r>
              <a:rPr lang="en-US" sz="1700" spc="10" dirty="0">
                <a:latin typeface="Arial MT"/>
                <a:cs typeface="Arial MT"/>
              </a:rPr>
              <a:t>inside </a:t>
            </a:r>
            <a:r>
              <a:rPr lang="en-US" sz="1700" spc="-5" dirty="0">
                <a:latin typeface="Arial MT"/>
                <a:cs typeface="Arial MT"/>
              </a:rPr>
              <a:t>while </a:t>
            </a:r>
            <a:r>
              <a:rPr lang="en-US" sz="1700" spc="10" dirty="0">
                <a:latin typeface="Arial MT"/>
                <a:cs typeface="Arial MT"/>
              </a:rPr>
              <a:t>is </a:t>
            </a:r>
            <a:r>
              <a:rPr lang="en-US" sz="1700" spc="5" dirty="0">
                <a:latin typeface="Arial MT"/>
                <a:cs typeface="Arial MT"/>
              </a:rPr>
              <a:t>checked. </a:t>
            </a:r>
            <a:r>
              <a:rPr lang="en-US" sz="1700" spc="10" dirty="0">
                <a:latin typeface="Arial MT"/>
                <a:cs typeface="Arial MT"/>
              </a:rPr>
              <a:t> </a:t>
            </a:r>
          </a:p>
          <a:p>
            <a:pPr marL="12700" marR="383540">
              <a:lnSpc>
                <a:spcPct val="119500"/>
              </a:lnSpc>
              <a:spcBef>
                <a:spcPts val="40"/>
              </a:spcBef>
              <a:buSzPct val="94117"/>
              <a:buAutoNum type="arabicPeriod"/>
              <a:tabLst>
                <a:tab pos="196215" algn="l"/>
              </a:tabLst>
            </a:pPr>
            <a:r>
              <a:rPr lang="en-US" sz="1700" spc="10" dirty="0">
                <a:latin typeface="Arial MT"/>
                <a:cs typeface="Arial MT"/>
              </a:rPr>
              <a:t>T</a:t>
            </a:r>
            <a:r>
              <a:rPr lang="en-US" sz="1700" spc="5" dirty="0">
                <a:latin typeface="Arial MT"/>
                <a:cs typeface="Arial MT"/>
              </a:rPr>
              <a:t>he</a:t>
            </a:r>
            <a:r>
              <a:rPr lang="en-US" sz="1700" spc="15" dirty="0">
                <a:latin typeface="Times New Roman"/>
                <a:cs typeface="Times New Roman"/>
              </a:rPr>
              <a:t> </a:t>
            </a:r>
            <a:r>
              <a:rPr lang="en-US" sz="1700" spc="15" dirty="0">
                <a:latin typeface="Arial MT"/>
                <a:cs typeface="Arial MT"/>
              </a:rPr>
              <a:t>l</a:t>
            </a:r>
            <a:r>
              <a:rPr lang="en-US" sz="1700" spc="5" dirty="0">
                <a:latin typeface="Arial MT"/>
                <a:cs typeface="Arial MT"/>
              </a:rPr>
              <a:t>oo</a:t>
            </a:r>
            <a:r>
              <a:rPr lang="en-US" sz="1700" spc="10" dirty="0">
                <a:latin typeface="Arial MT"/>
                <a:cs typeface="Arial MT"/>
              </a:rPr>
              <a:t>p</a:t>
            </a:r>
            <a:r>
              <a:rPr lang="en-US" sz="1700" spc="-25" dirty="0">
                <a:latin typeface="Times New Roman"/>
                <a:cs typeface="Times New Roman"/>
              </a:rPr>
              <a:t> </a:t>
            </a:r>
            <a:r>
              <a:rPr lang="en-US" sz="1700" spc="15" dirty="0">
                <a:latin typeface="Arial MT"/>
                <a:cs typeface="Arial MT"/>
              </a:rPr>
              <a:t>i</a:t>
            </a:r>
            <a:r>
              <a:rPr lang="en-US" sz="1700" spc="5" dirty="0">
                <a:latin typeface="Arial MT"/>
                <a:cs typeface="Arial MT"/>
              </a:rPr>
              <a:t>s</a:t>
            </a:r>
            <a:r>
              <a:rPr lang="en-US" sz="1700" spc="30" dirty="0">
                <a:latin typeface="Times New Roman"/>
                <a:cs typeface="Times New Roman"/>
              </a:rPr>
              <a:t> </a:t>
            </a:r>
            <a:r>
              <a:rPr lang="en-US" sz="1700" spc="5" dirty="0">
                <a:latin typeface="Arial MT"/>
                <a:cs typeface="Arial MT"/>
              </a:rPr>
              <a:t>e</a:t>
            </a:r>
            <a:r>
              <a:rPr lang="en-US" sz="1700" spc="20" dirty="0">
                <a:latin typeface="Arial MT"/>
                <a:cs typeface="Arial MT"/>
              </a:rPr>
              <a:t>x</a:t>
            </a:r>
            <a:r>
              <a:rPr lang="en-US" sz="1700" spc="5" dirty="0">
                <a:latin typeface="Arial MT"/>
                <a:cs typeface="Arial MT"/>
              </a:rPr>
              <a:t>e</a:t>
            </a:r>
            <a:r>
              <a:rPr lang="en-US" sz="1700" spc="20" dirty="0">
                <a:latin typeface="Arial MT"/>
                <a:cs typeface="Arial MT"/>
              </a:rPr>
              <a:t>c</a:t>
            </a:r>
            <a:r>
              <a:rPr lang="en-US" sz="1700" dirty="0">
                <a:latin typeface="Arial MT"/>
                <a:cs typeface="Arial MT"/>
              </a:rPr>
              <a:t>ut</a:t>
            </a:r>
            <a:r>
              <a:rPr lang="en-US" sz="1700" spc="10" dirty="0">
                <a:latin typeface="Arial MT"/>
                <a:cs typeface="Arial MT"/>
              </a:rPr>
              <a:t>ed</a:t>
            </a:r>
            <a:r>
              <a:rPr lang="en-US" sz="1700" spc="-105" dirty="0">
                <a:latin typeface="Times New Roman"/>
                <a:cs typeface="Times New Roman"/>
              </a:rPr>
              <a:t> </a:t>
            </a:r>
            <a:r>
              <a:rPr lang="en-US" sz="1700" spc="5" dirty="0">
                <a:latin typeface="Arial MT"/>
                <a:cs typeface="Arial MT"/>
              </a:rPr>
              <a:t>on</a:t>
            </a:r>
            <a:r>
              <a:rPr lang="en-US" sz="1700" spc="20" dirty="0">
                <a:latin typeface="Arial MT"/>
                <a:cs typeface="Arial MT"/>
              </a:rPr>
              <a:t>l</a:t>
            </a:r>
            <a:r>
              <a:rPr lang="en-US" sz="1700" spc="5" dirty="0">
                <a:latin typeface="Arial MT"/>
                <a:cs typeface="Arial MT"/>
              </a:rPr>
              <a:t>y</a:t>
            </a:r>
            <a:r>
              <a:rPr lang="en-US" sz="1700" spc="-10" dirty="0">
                <a:latin typeface="Times New Roman"/>
                <a:cs typeface="Times New Roman"/>
              </a:rPr>
              <a:t> </a:t>
            </a:r>
            <a:r>
              <a:rPr lang="en-US" sz="1700" spc="15" dirty="0">
                <a:latin typeface="Arial MT"/>
                <a:cs typeface="Arial MT"/>
              </a:rPr>
              <a:t>i</a:t>
            </a:r>
            <a:r>
              <a:rPr lang="en-US" sz="1700" spc="5" dirty="0">
                <a:latin typeface="Arial MT"/>
                <a:cs typeface="Arial MT"/>
              </a:rPr>
              <a:t>f</a:t>
            </a:r>
            <a:r>
              <a:rPr lang="en-US" sz="1700" spc="50" dirty="0">
                <a:latin typeface="Times New Roman"/>
                <a:cs typeface="Times New Roman"/>
              </a:rPr>
              <a:t> </a:t>
            </a:r>
            <a:r>
              <a:rPr lang="en-US" sz="1700" spc="5" dirty="0">
                <a:latin typeface="Arial MT"/>
                <a:cs typeface="Arial MT"/>
              </a:rPr>
              <a:t>that</a:t>
            </a:r>
            <a:r>
              <a:rPr lang="en-US" sz="1700" spc="-25" dirty="0">
                <a:latin typeface="Times New Roman"/>
                <a:cs typeface="Times New Roman"/>
              </a:rPr>
              <a:t> </a:t>
            </a:r>
            <a:r>
              <a:rPr lang="en-US" sz="1700" spc="20" dirty="0">
                <a:latin typeface="Arial MT"/>
                <a:cs typeface="Arial MT"/>
              </a:rPr>
              <a:t>c</a:t>
            </a:r>
            <a:r>
              <a:rPr lang="en-US" sz="1700" spc="5" dirty="0">
                <a:latin typeface="Arial MT"/>
                <a:cs typeface="Arial MT"/>
              </a:rPr>
              <a:t>on</a:t>
            </a:r>
            <a:r>
              <a:rPr lang="en-US" sz="1700" spc="10" dirty="0">
                <a:latin typeface="Arial MT"/>
                <a:cs typeface="Arial MT"/>
              </a:rPr>
              <a:t>d</a:t>
            </a:r>
            <a:r>
              <a:rPr lang="en-US" sz="1700" spc="15" dirty="0">
                <a:latin typeface="Arial MT"/>
                <a:cs typeface="Arial MT"/>
              </a:rPr>
              <a:t>i</a:t>
            </a:r>
            <a:r>
              <a:rPr lang="en-US" sz="1700" spc="5" dirty="0">
                <a:latin typeface="Arial MT"/>
                <a:cs typeface="Arial MT"/>
              </a:rPr>
              <a:t>t</a:t>
            </a:r>
            <a:r>
              <a:rPr lang="en-US" sz="1700" spc="15" dirty="0">
                <a:latin typeface="Arial MT"/>
                <a:cs typeface="Arial MT"/>
              </a:rPr>
              <a:t>i</a:t>
            </a:r>
            <a:r>
              <a:rPr lang="en-US" sz="1700" spc="5" dirty="0">
                <a:latin typeface="Arial MT"/>
                <a:cs typeface="Arial MT"/>
              </a:rPr>
              <a:t>o</a:t>
            </a:r>
            <a:r>
              <a:rPr lang="en-US" sz="1700" spc="10" dirty="0">
                <a:latin typeface="Arial MT"/>
                <a:cs typeface="Arial MT"/>
              </a:rPr>
              <a:t>n</a:t>
            </a:r>
            <a:r>
              <a:rPr lang="en-US" sz="1700" spc="-65" dirty="0">
                <a:latin typeface="Times New Roman"/>
                <a:cs typeface="Times New Roman"/>
              </a:rPr>
              <a:t> </a:t>
            </a:r>
            <a:r>
              <a:rPr lang="en-US" sz="1700" spc="15" dirty="0">
                <a:latin typeface="Arial MT"/>
                <a:cs typeface="Arial MT"/>
              </a:rPr>
              <a:t>i</a:t>
            </a:r>
            <a:r>
              <a:rPr lang="en-US" sz="1700" spc="5" dirty="0">
                <a:latin typeface="Arial MT"/>
                <a:cs typeface="Arial MT"/>
              </a:rPr>
              <a:t>s</a:t>
            </a:r>
            <a:r>
              <a:rPr lang="en-US" sz="1700" spc="-10" dirty="0">
                <a:latin typeface="Times New Roman"/>
                <a:cs typeface="Times New Roman"/>
              </a:rPr>
              <a:t> </a:t>
            </a:r>
            <a:r>
              <a:rPr lang="en-US" sz="1700" spc="5" dirty="0">
                <a:latin typeface="Arial MT"/>
                <a:cs typeface="Arial MT"/>
              </a:rPr>
              <a:t>t</a:t>
            </a:r>
            <a:r>
              <a:rPr lang="en-US" sz="1700" spc="-10" dirty="0">
                <a:latin typeface="Arial MT"/>
                <a:cs typeface="Arial MT"/>
              </a:rPr>
              <a:t>r</a:t>
            </a:r>
            <a:r>
              <a:rPr lang="en-US" sz="1700" dirty="0">
                <a:latin typeface="Arial MT"/>
                <a:cs typeface="Arial MT"/>
              </a:rPr>
              <a:t>ue.</a:t>
            </a:r>
          </a:p>
          <a:p>
            <a:pPr marL="255904">
              <a:lnSpc>
                <a:spcPct val="100000"/>
              </a:lnSpc>
              <a:spcBef>
                <a:spcPts val="405"/>
              </a:spcBef>
            </a:pPr>
            <a:endParaRPr sz="1450" dirty="0">
              <a:latin typeface="Arial MT"/>
              <a:cs typeface="Arial MT"/>
            </a:endParaRPr>
          </a:p>
        </p:txBody>
      </p:sp>
      <p:sp>
        <p:nvSpPr>
          <p:cNvPr id="6" name="object 6"/>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
        <p:nvSpPr>
          <p:cNvPr id="7" name="object 2">
            <a:extLst>
              <a:ext uri="{FF2B5EF4-FFF2-40B4-BE49-F238E27FC236}">
                <a16:creationId xmlns:a16="http://schemas.microsoft.com/office/drawing/2014/main" id="{50FDBC5E-0DBE-9AF5-C4DE-230762014837}"/>
              </a:ext>
            </a:extLst>
          </p:cNvPr>
          <p:cNvSpPr txBox="1">
            <a:spLocks/>
          </p:cNvSpPr>
          <p:nvPr/>
        </p:nvSpPr>
        <p:spPr>
          <a:xfrm>
            <a:off x="2653471" y="12700"/>
            <a:ext cx="978729" cy="307134"/>
          </a:xfrm>
          <a:prstGeom prst="rect">
            <a:avLst/>
          </a:prstGeom>
        </p:spPr>
        <p:txBody>
          <a:bodyPr vert="horz" wrap="square" lIns="0" tIns="14604" rIns="0" bIns="0" rtlCol="0">
            <a:spAutoFit/>
          </a:bodyPr>
          <a:lstStyle>
            <a:lvl1pPr>
              <a:defRPr sz="1900" b="0" i="0">
                <a:solidFill>
                  <a:schemeClr val="bg1"/>
                </a:solidFill>
                <a:latin typeface="Arial MT"/>
                <a:ea typeface="+mj-ea"/>
                <a:cs typeface="Arial MT"/>
              </a:defRPr>
            </a:lvl1pPr>
          </a:lstStyle>
          <a:p>
            <a:pPr marL="12700">
              <a:spcBef>
                <a:spcPts val="114"/>
              </a:spcBef>
            </a:pPr>
            <a:r>
              <a:rPr lang="en-US" kern="0" spc="-10" dirty="0">
                <a:solidFill>
                  <a:schemeClr val="tx1"/>
                </a:solidFill>
              </a:rPr>
              <a:t>do-while</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8C7CC-4869-CD46-1CA6-A1BA63A5D3B3}"/>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E208B8C5-A7FC-0957-0A1C-C695AA9F51EC}"/>
              </a:ext>
            </a:extLst>
          </p:cNvPr>
          <p:cNvPicPr>
            <a:picLocks noChangeAspect="1"/>
          </p:cNvPicPr>
          <p:nvPr/>
        </p:nvPicPr>
        <p:blipFill>
          <a:blip r:embed="rId2"/>
          <a:stretch>
            <a:fillRect/>
          </a:stretch>
        </p:blipFill>
        <p:spPr>
          <a:xfrm>
            <a:off x="736600" y="546100"/>
            <a:ext cx="5638800" cy="3741756"/>
          </a:xfrm>
          <a:prstGeom prst="rect">
            <a:avLst/>
          </a:prstGeom>
        </p:spPr>
      </p:pic>
    </p:spTree>
    <p:extLst>
      <p:ext uri="{BB962C8B-B14F-4D97-AF65-F5344CB8AC3E}">
        <p14:creationId xmlns:p14="http://schemas.microsoft.com/office/powerpoint/2010/main" val="14901971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4">
            <a:extLst>
              <a:ext uri="{FF2B5EF4-FFF2-40B4-BE49-F238E27FC236}">
                <a16:creationId xmlns:a16="http://schemas.microsoft.com/office/drawing/2014/main" id="{06EBCD0C-4845-1B3D-93A4-39DB8D146037}"/>
              </a:ext>
            </a:extLst>
          </p:cNvPr>
          <p:cNvSpPr txBox="1"/>
          <p:nvPr/>
        </p:nvSpPr>
        <p:spPr>
          <a:xfrm>
            <a:off x="355600" y="1003299"/>
            <a:ext cx="5943600" cy="2199319"/>
          </a:xfrm>
          <a:prstGeom prst="rect">
            <a:avLst/>
          </a:prstGeom>
        </p:spPr>
        <p:txBody>
          <a:bodyPr vert="horz" wrap="square" lIns="0" tIns="64769" rIns="0" bIns="0" rtlCol="0">
            <a:spAutoFit/>
          </a:bodyPr>
          <a:lstStyle/>
          <a:p>
            <a:pPr marL="194945" indent="-182880">
              <a:lnSpc>
                <a:spcPct val="100000"/>
              </a:lnSpc>
              <a:spcBef>
                <a:spcPts val="420"/>
              </a:spcBef>
              <a:buChar char="•"/>
              <a:tabLst>
                <a:tab pos="195580" algn="l"/>
              </a:tabLst>
            </a:pPr>
            <a:r>
              <a:rPr lang="en-US" sz="2000" dirty="0">
                <a:latin typeface="Arial MT"/>
                <a:cs typeface="Arial MT"/>
              </a:rPr>
              <a:t>General form</a:t>
            </a:r>
          </a:p>
          <a:p>
            <a:pPr>
              <a:lnSpc>
                <a:spcPct val="100000"/>
              </a:lnSpc>
              <a:spcBef>
                <a:spcPts val="20"/>
              </a:spcBef>
            </a:pPr>
            <a:endParaRPr sz="3200" dirty="0">
              <a:latin typeface="Arial MT"/>
              <a:cs typeface="Arial MT"/>
            </a:endParaRPr>
          </a:p>
          <a:p>
            <a:pPr marL="12700">
              <a:lnSpc>
                <a:spcPct val="100000"/>
              </a:lnSpc>
            </a:pPr>
            <a:r>
              <a:rPr sz="2000" b="1" spc="-25" dirty="0">
                <a:solidFill>
                  <a:srgbClr val="0000CC"/>
                </a:solidFill>
                <a:latin typeface="Calibri"/>
                <a:cs typeface="Calibri"/>
              </a:rPr>
              <a:t>for</a:t>
            </a:r>
            <a:r>
              <a:rPr sz="2000" spc="-25" dirty="0">
                <a:latin typeface="Calibri"/>
                <a:cs typeface="Calibri"/>
              </a:rPr>
              <a:t>(</a:t>
            </a:r>
            <a:r>
              <a:rPr sz="2000" b="1" spc="-25" dirty="0">
                <a:solidFill>
                  <a:srgbClr val="323200"/>
                </a:solidFill>
                <a:latin typeface="Calibri"/>
                <a:cs typeface="Calibri"/>
              </a:rPr>
              <a:t>initialization</a:t>
            </a:r>
            <a:r>
              <a:rPr sz="2000" spc="-25" dirty="0">
                <a:latin typeface="Calibri"/>
                <a:cs typeface="Calibri"/>
              </a:rPr>
              <a:t>;</a:t>
            </a:r>
            <a:r>
              <a:rPr sz="2000" spc="-40" dirty="0">
                <a:latin typeface="Calibri"/>
                <a:cs typeface="Calibri"/>
              </a:rPr>
              <a:t> </a:t>
            </a:r>
            <a:r>
              <a:rPr sz="2000" spc="-15" dirty="0">
                <a:solidFill>
                  <a:srgbClr val="FF0000"/>
                </a:solidFill>
                <a:latin typeface="Calibri"/>
                <a:cs typeface="Calibri"/>
              </a:rPr>
              <a:t>condition;</a:t>
            </a:r>
            <a:r>
              <a:rPr sz="2000" spc="130" dirty="0">
                <a:solidFill>
                  <a:srgbClr val="FF0000"/>
                </a:solidFill>
                <a:latin typeface="Calibri"/>
                <a:cs typeface="Calibri"/>
              </a:rPr>
              <a:t> </a:t>
            </a:r>
            <a:r>
              <a:rPr sz="2000" b="1" spc="-30" dirty="0">
                <a:latin typeface="Calibri"/>
                <a:cs typeface="Calibri"/>
              </a:rPr>
              <a:t>iteration</a:t>
            </a:r>
            <a:r>
              <a:rPr sz="2000" spc="-30" dirty="0">
                <a:latin typeface="Calibri"/>
                <a:cs typeface="Calibri"/>
              </a:rPr>
              <a:t>)</a:t>
            </a:r>
            <a:r>
              <a:rPr sz="2000" spc="-85" dirty="0">
                <a:latin typeface="Calibri"/>
                <a:cs typeface="Calibri"/>
              </a:rPr>
              <a:t> </a:t>
            </a:r>
            <a:endParaRPr lang="en-US" sz="2000" spc="-85" dirty="0">
              <a:latin typeface="Calibri"/>
              <a:cs typeface="Calibri"/>
            </a:endParaRPr>
          </a:p>
          <a:p>
            <a:pPr marL="12700">
              <a:lnSpc>
                <a:spcPct val="100000"/>
              </a:lnSpc>
            </a:pPr>
            <a:r>
              <a:rPr sz="2000" spc="-25" dirty="0">
                <a:latin typeface="Calibri"/>
                <a:cs typeface="Calibri"/>
              </a:rPr>
              <a:t>{</a:t>
            </a:r>
            <a:endParaRPr sz="2000" dirty="0">
              <a:latin typeface="Calibri"/>
              <a:cs typeface="Calibri"/>
            </a:endParaRPr>
          </a:p>
          <a:p>
            <a:pPr marL="194945">
              <a:lnSpc>
                <a:spcPct val="100000"/>
              </a:lnSpc>
              <a:spcBef>
                <a:spcPts val="420"/>
              </a:spcBef>
            </a:pPr>
            <a:r>
              <a:rPr sz="2000" spc="-130" dirty="0">
                <a:latin typeface="Calibri"/>
                <a:cs typeface="Calibri"/>
              </a:rPr>
              <a:t>//</a:t>
            </a:r>
            <a:r>
              <a:rPr sz="2000" spc="-130" dirty="0">
                <a:latin typeface="Times New Roman"/>
                <a:cs typeface="Times New Roman"/>
              </a:rPr>
              <a:t> </a:t>
            </a:r>
            <a:r>
              <a:rPr sz="2000" spc="-10" dirty="0">
                <a:latin typeface="Calibri"/>
                <a:cs typeface="Calibri"/>
              </a:rPr>
              <a:t>b</a:t>
            </a:r>
            <a:r>
              <a:rPr sz="2000" spc="-15" dirty="0">
                <a:latin typeface="Calibri"/>
                <a:cs typeface="Calibri"/>
              </a:rPr>
              <a:t>o</a:t>
            </a:r>
            <a:r>
              <a:rPr sz="2000" spc="-10" dirty="0">
                <a:latin typeface="Calibri"/>
                <a:cs typeface="Calibri"/>
              </a:rPr>
              <a:t>d</a:t>
            </a:r>
            <a:r>
              <a:rPr sz="2000" spc="-40" dirty="0">
                <a:latin typeface="Calibri"/>
                <a:cs typeface="Calibri"/>
              </a:rPr>
              <a:t>y</a:t>
            </a:r>
            <a:endParaRPr sz="2000" dirty="0">
              <a:latin typeface="Calibri"/>
              <a:cs typeface="Calibri"/>
            </a:endParaRPr>
          </a:p>
          <a:p>
            <a:pPr marL="12700">
              <a:lnSpc>
                <a:spcPct val="100000"/>
              </a:lnSpc>
              <a:spcBef>
                <a:spcPts val="380"/>
              </a:spcBef>
            </a:pPr>
            <a:r>
              <a:rPr sz="2000" spc="-25" dirty="0">
                <a:latin typeface="Calibri"/>
                <a:cs typeface="Calibri"/>
              </a:rPr>
              <a:t>}</a:t>
            </a:r>
            <a:endParaRPr sz="2000" dirty="0">
              <a:latin typeface="Calibri"/>
              <a:cs typeface="Calibri"/>
            </a:endParaRPr>
          </a:p>
        </p:txBody>
      </p:sp>
      <p:sp>
        <p:nvSpPr>
          <p:cNvPr id="5" name="Title 4">
            <a:extLst>
              <a:ext uri="{FF2B5EF4-FFF2-40B4-BE49-F238E27FC236}">
                <a16:creationId xmlns:a16="http://schemas.microsoft.com/office/drawing/2014/main" id="{1B26652F-0AD0-035A-9B56-E2227D9D9880}"/>
              </a:ext>
            </a:extLst>
          </p:cNvPr>
          <p:cNvSpPr>
            <a:spLocks noGrp="1"/>
          </p:cNvSpPr>
          <p:nvPr>
            <p:ph type="title"/>
          </p:nvPr>
        </p:nvSpPr>
        <p:spPr>
          <a:xfrm>
            <a:off x="367980" y="268881"/>
            <a:ext cx="5766439" cy="292388"/>
          </a:xfrm>
        </p:spPr>
        <p:txBody>
          <a:bodyPr/>
          <a:lstStyle/>
          <a:p>
            <a:r>
              <a:rPr lang="en-US" dirty="0"/>
              <a:t>                                       </a:t>
            </a:r>
            <a:r>
              <a:rPr lang="en-US" dirty="0">
                <a:solidFill>
                  <a:schemeClr val="tx1"/>
                </a:solidFill>
              </a:rPr>
              <a:t>for</a:t>
            </a:r>
          </a:p>
        </p:txBody>
      </p:sp>
    </p:spTree>
    <p:extLst>
      <p:ext uri="{BB962C8B-B14F-4D97-AF65-F5344CB8AC3E}">
        <p14:creationId xmlns:p14="http://schemas.microsoft.com/office/powerpoint/2010/main" val="3120902459"/>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a:spLocks noGrp="1"/>
          </p:cNvSpPr>
          <p:nvPr>
            <p:ph type="title"/>
          </p:nvPr>
        </p:nvSpPr>
        <p:spPr>
          <a:xfrm>
            <a:off x="2108200" y="726272"/>
            <a:ext cx="2055582" cy="307134"/>
          </a:xfrm>
          <a:prstGeom prst="rect">
            <a:avLst/>
          </a:prstGeom>
        </p:spPr>
        <p:txBody>
          <a:bodyPr vert="horz" wrap="square" lIns="0" tIns="14604" rIns="0" bIns="0" rtlCol="0">
            <a:spAutoFit/>
          </a:bodyPr>
          <a:lstStyle/>
          <a:p>
            <a:pPr marL="12700">
              <a:lnSpc>
                <a:spcPct val="100000"/>
              </a:lnSpc>
              <a:spcBef>
                <a:spcPts val="114"/>
              </a:spcBef>
            </a:pPr>
            <a:r>
              <a:rPr spc="114" dirty="0">
                <a:solidFill>
                  <a:schemeClr val="tx1"/>
                </a:solidFill>
              </a:rPr>
              <a:t>W</a:t>
            </a:r>
            <a:r>
              <a:rPr spc="15" dirty="0">
                <a:solidFill>
                  <a:schemeClr val="tx1"/>
                </a:solidFill>
              </a:rPr>
              <a:t>o</a:t>
            </a:r>
            <a:r>
              <a:rPr spc="5" dirty="0">
                <a:solidFill>
                  <a:schemeClr val="tx1"/>
                </a:solidFill>
              </a:rPr>
              <a:t>rk</a:t>
            </a:r>
            <a:r>
              <a:rPr spc="-30" dirty="0">
                <a:solidFill>
                  <a:schemeClr val="tx1"/>
                </a:solidFill>
              </a:rPr>
              <a:t>i</a:t>
            </a:r>
            <a:r>
              <a:rPr spc="15" dirty="0">
                <a:solidFill>
                  <a:schemeClr val="tx1"/>
                </a:solidFill>
              </a:rPr>
              <a:t>n</a:t>
            </a:r>
            <a:r>
              <a:rPr spc="10" dirty="0">
                <a:solidFill>
                  <a:schemeClr val="tx1"/>
                </a:solidFill>
              </a:rPr>
              <a:t>g</a:t>
            </a:r>
            <a:r>
              <a:rPr spc="-70" dirty="0">
                <a:solidFill>
                  <a:schemeClr val="tx1"/>
                </a:solidFill>
                <a:latin typeface="Times New Roman"/>
                <a:cs typeface="Times New Roman"/>
              </a:rPr>
              <a:t> </a:t>
            </a:r>
            <a:r>
              <a:rPr spc="15" dirty="0">
                <a:solidFill>
                  <a:schemeClr val="tx1"/>
                </a:solidFill>
              </a:rPr>
              <a:t>o</a:t>
            </a:r>
            <a:r>
              <a:rPr spc="5" dirty="0">
                <a:solidFill>
                  <a:schemeClr val="tx1"/>
                </a:solidFill>
              </a:rPr>
              <a:t>f</a:t>
            </a:r>
            <a:r>
              <a:rPr spc="65" dirty="0">
                <a:solidFill>
                  <a:schemeClr val="tx1"/>
                </a:solidFill>
                <a:latin typeface="Times New Roman"/>
                <a:cs typeface="Times New Roman"/>
              </a:rPr>
              <a:t> </a:t>
            </a:r>
            <a:r>
              <a:rPr spc="-10" dirty="0">
                <a:solidFill>
                  <a:schemeClr val="tx1"/>
                </a:solidFill>
              </a:rPr>
              <a:t>f</a:t>
            </a:r>
            <a:r>
              <a:rPr spc="15" dirty="0">
                <a:solidFill>
                  <a:schemeClr val="tx1"/>
                </a:solidFill>
              </a:rPr>
              <a:t>o</a:t>
            </a:r>
            <a:r>
              <a:rPr spc="5" dirty="0">
                <a:solidFill>
                  <a:schemeClr val="tx1"/>
                </a:solidFill>
              </a:rPr>
              <a:t>r</a:t>
            </a:r>
            <a:r>
              <a:rPr spc="40" dirty="0">
                <a:solidFill>
                  <a:schemeClr val="tx1"/>
                </a:solidFill>
                <a:latin typeface="Times New Roman"/>
                <a:cs typeface="Times New Roman"/>
              </a:rPr>
              <a:t> </a:t>
            </a:r>
            <a:r>
              <a:rPr spc="-30" dirty="0">
                <a:solidFill>
                  <a:schemeClr val="tx1"/>
                </a:solidFill>
              </a:rPr>
              <a:t>l</a:t>
            </a:r>
            <a:r>
              <a:rPr spc="15" dirty="0">
                <a:solidFill>
                  <a:schemeClr val="tx1"/>
                </a:solidFill>
              </a:rPr>
              <a:t>oo</a:t>
            </a:r>
            <a:r>
              <a:rPr spc="10" dirty="0">
                <a:solidFill>
                  <a:schemeClr val="tx1"/>
                </a:solidFill>
              </a:rPr>
              <a:t>p</a:t>
            </a:r>
          </a:p>
        </p:txBody>
      </p:sp>
      <p:sp>
        <p:nvSpPr>
          <p:cNvPr id="4" name="object 4"/>
          <p:cNvSpPr txBox="1"/>
          <p:nvPr/>
        </p:nvSpPr>
        <p:spPr>
          <a:xfrm>
            <a:off x="0" y="1033406"/>
            <a:ext cx="6461840" cy="3197100"/>
          </a:xfrm>
          <a:prstGeom prst="rect">
            <a:avLst/>
          </a:prstGeom>
        </p:spPr>
        <p:txBody>
          <a:bodyPr vert="horz" wrap="square" lIns="0" tIns="16510" rIns="0" bIns="0" rtlCol="0">
            <a:spAutoFit/>
          </a:bodyPr>
          <a:lstStyle/>
          <a:p>
            <a:pPr marL="194945" indent="-182880" algn="just">
              <a:lnSpc>
                <a:spcPct val="100000"/>
              </a:lnSpc>
              <a:spcBef>
                <a:spcPts val="130"/>
              </a:spcBef>
              <a:buChar char="•"/>
              <a:tabLst>
                <a:tab pos="195580" algn="l"/>
              </a:tabLst>
            </a:pPr>
            <a:r>
              <a:rPr sz="1600" spc="25" dirty="0">
                <a:latin typeface="Arial MT"/>
                <a:cs typeface="Arial MT"/>
              </a:rPr>
              <a:t>When</a:t>
            </a:r>
            <a:r>
              <a:rPr sz="1600" spc="-60" dirty="0">
                <a:latin typeface="Arial MT"/>
                <a:cs typeface="Arial MT"/>
              </a:rPr>
              <a:t> </a:t>
            </a:r>
            <a:r>
              <a:rPr sz="1600" spc="15" dirty="0">
                <a:latin typeface="Arial MT"/>
                <a:cs typeface="Arial MT"/>
              </a:rPr>
              <a:t>the</a:t>
            </a:r>
            <a:r>
              <a:rPr sz="1600" spc="25" dirty="0">
                <a:latin typeface="Arial MT"/>
                <a:cs typeface="Arial MT"/>
              </a:rPr>
              <a:t> </a:t>
            </a:r>
            <a:r>
              <a:rPr sz="1600" spc="-10" dirty="0">
                <a:latin typeface="Arial MT"/>
                <a:cs typeface="Arial MT"/>
              </a:rPr>
              <a:t>loop</a:t>
            </a:r>
            <a:r>
              <a:rPr sz="1600" spc="65" dirty="0">
                <a:latin typeface="Arial MT"/>
                <a:cs typeface="Arial MT"/>
              </a:rPr>
              <a:t> </a:t>
            </a:r>
            <a:r>
              <a:rPr sz="1600" spc="15" dirty="0">
                <a:latin typeface="Arial MT"/>
                <a:cs typeface="Arial MT"/>
              </a:rPr>
              <a:t>first</a:t>
            </a:r>
            <a:r>
              <a:rPr sz="1600" spc="-25" dirty="0">
                <a:latin typeface="Arial MT"/>
                <a:cs typeface="Arial MT"/>
              </a:rPr>
              <a:t> </a:t>
            </a:r>
            <a:r>
              <a:rPr sz="1600" spc="5" dirty="0">
                <a:latin typeface="Arial MT"/>
                <a:cs typeface="Arial MT"/>
              </a:rPr>
              <a:t>starts,</a:t>
            </a:r>
            <a:r>
              <a:rPr sz="1600" spc="-15" dirty="0">
                <a:latin typeface="Arial MT"/>
                <a:cs typeface="Arial MT"/>
              </a:rPr>
              <a:t> </a:t>
            </a:r>
            <a:r>
              <a:rPr sz="1600" spc="15" dirty="0">
                <a:latin typeface="Arial MT"/>
                <a:cs typeface="Arial MT"/>
              </a:rPr>
              <a:t>the</a:t>
            </a:r>
            <a:r>
              <a:rPr sz="1600" spc="55" dirty="0">
                <a:latin typeface="Arial MT"/>
                <a:cs typeface="Arial MT"/>
              </a:rPr>
              <a:t> </a:t>
            </a:r>
            <a:r>
              <a:rPr sz="1600" b="1" spc="10" dirty="0">
                <a:latin typeface="Arial"/>
                <a:cs typeface="Arial"/>
              </a:rPr>
              <a:t>initialization</a:t>
            </a:r>
            <a:r>
              <a:rPr sz="1600" b="1" spc="-75" dirty="0">
                <a:latin typeface="Arial"/>
                <a:cs typeface="Arial"/>
              </a:rPr>
              <a:t> </a:t>
            </a:r>
            <a:r>
              <a:rPr sz="1600" spc="-5" dirty="0">
                <a:latin typeface="Arial MT"/>
                <a:cs typeface="Arial MT"/>
              </a:rPr>
              <a:t>portion</a:t>
            </a:r>
            <a:r>
              <a:rPr sz="1600" spc="105" dirty="0">
                <a:latin typeface="Arial MT"/>
                <a:cs typeface="Arial MT"/>
              </a:rPr>
              <a:t> </a:t>
            </a:r>
            <a:r>
              <a:rPr sz="1600" spc="-10" dirty="0">
                <a:latin typeface="Arial MT"/>
                <a:cs typeface="Arial MT"/>
              </a:rPr>
              <a:t>of</a:t>
            </a:r>
            <a:r>
              <a:rPr sz="1600" spc="20" dirty="0">
                <a:latin typeface="Arial MT"/>
                <a:cs typeface="Arial MT"/>
              </a:rPr>
              <a:t> </a:t>
            </a:r>
            <a:r>
              <a:rPr sz="1600" spc="15" dirty="0">
                <a:latin typeface="Arial MT"/>
                <a:cs typeface="Arial MT"/>
              </a:rPr>
              <a:t>the</a:t>
            </a:r>
            <a:r>
              <a:rPr sz="1600" spc="25" dirty="0">
                <a:latin typeface="Arial MT"/>
                <a:cs typeface="Arial MT"/>
              </a:rPr>
              <a:t> </a:t>
            </a:r>
            <a:r>
              <a:rPr sz="1600" spc="-10" dirty="0">
                <a:latin typeface="Arial MT"/>
                <a:cs typeface="Arial MT"/>
              </a:rPr>
              <a:t>loop</a:t>
            </a:r>
            <a:r>
              <a:rPr sz="1600" spc="65" dirty="0">
                <a:latin typeface="Arial MT"/>
                <a:cs typeface="Arial MT"/>
              </a:rPr>
              <a:t> </a:t>
            </a:r>
            <a:r>
              <a:rPr sz="1600" spc="5" dirty="0">
                <a:latin typeface="Arial MT"/>
                <a:cs typeface="Arial MT"/>
              </a:rPr>
              <a:t>is</a:t>
            </a:r>
            <a:r>
              <a:rPr sz="1600" spc="10" dirty="0">
                <a:latin typeface="Arial MT"/>
                <a:cs typeface="Arial MT"/>
              </a:rPr>
              <a:t> </a:t>
            </a:r>
            <a:r>
              <a:rPr sz="1600" spc="-15" dirty="0">
                <a:latin typeface="Arial MT"/>
                <a:cs typeface="Arial MT"/>
              </a:rPr>
              <a:t>executed.</a:t>
            </a:r>
            <a:r>
              <a:rPr sz="1600" spc="229" dirty="0">
                <a:latin typeface="Arial MT"/>
                <a:cs typeface="Arial MT"/>
              </a:rPr>
              <a:t> </a:t>
            </a:r>
            <a:endParaRPr lang="en-US" sz="1600" spc="229" dirty="0">
              <a:latin typeface="Arial MT"/>
              <a:cs typeface="Arial MT"/>
            </a:endParaRPr>
          </a:p>
          <a:p>
            <a:pPr marL="652145" lvl="1" indent="-182880" algn="just">
              <a:spcBef>
                <a:spcPts val="130"/>
              </a:spcBef>
              <a:buChar char="•"/>
              <a:tabLst>
                <a:tab pos="195580" algn="l"/>
              </a:tabLst>
            </a:pPr>
            <a:r>
              <a:rPr lang="en-US" spc="10" dirty="0">
                <a:latin typeface="Arial MT"/>
                <a:cs typeface="Arial MT"/>
              </a:rPr>
              <a:t>the </a:t>
            </a:r>
            <a:r>
              <a:rPr lang="en-US" spc="-5" dirty="0">
                <a:latin typeface="Arial MT"/>
                <a:cs typeface="Arial MT"/>
              </a:rPr>
              <a:t>initialization</a:t>
            </a:r>
            <a:r>
              <a:rPr lang="en-US" spc="210" dirty="0">
                <a:latin typeface="Arial MT"/>
                <a:cs typeface="Arial MT"/>
              </a:rPr>
              <a:t> </a:t>
            </a:r>
            <a:r>
              <a:rPr lang="en-US" spc="-5" dirty="0">
                <a:latin typeface="Arial MT"/>
                <a:cs typeface="Arial MT"/>
              </a:rPr>
              <a:t>expression</a:t>
            </a:r>
            <a:r>
              <a:rPr lang="en-US" spc="215" dirty="0">
                <a:latin typeface="Arial MT"/>
                <a:cs typeface="Arial MT"/>
              </a:rPr>
              <a:t> </a:t>
            </a:r>
            <a:r>
              <a:rPr lang="en-US" spc="-15" dirty="0">
                <a:latin typeface="Arial MT"/>
                <a:cs typeface="Arial MT"/>
              </a:rPr>
              <a:t>is</a:t>
            </a:r>
            <a:r>
              <a:rPr lang="en-US" spc="90" dirty="0">
                <a:latin typeface="Arial MT"/>
                <a:cs typeface="Arial MT"/>
              </a:rPr>
              <a:t> </a:t>
            </a:r>
            <a:r>
              <a:rPr lang="en-US" spc="5" dirty="0">
                <a:latin typeface="Arial MT"/>
                <a:cs typeface="Arial MT"/>
              </a:rPr>
              <a:t>only</a:t>
            </a:r>
            <a:r>
              <a:rPr lang="en-US" spc="55" dirty="0">
                <a:latin typeface="Arial MT"/>
                <a:cs typeface="Arial MT"/>
              </a:rPr>
              <a:t> </a:t>
            </a:r>
            <a:r>
              <a:rPr lang="en-US" spc="-5" dirty="0">
                <a:latin typeface="Arial MT"/>
                <a:cs typeface="Arial MT"/>
              </a:rPr>
              <a:t>executed</a:t>
            </a:r>
            <a:r>
              <a:rPr lang="en-US" spc="170" dirty="0">
                <a:latin typeface="Arial MT"/>
                <a:cs typeface="Arial MT"/>
              </a:rPr>
              <a:t> </a:t>
            </a:r>
            <a:r>
              <a:rPr lang="en-US" spc="15" dirty="0">
                <a:latin typeface="Arial MT"/>
                <a:cs typeface="Arial MT"/>
              </a:rPr>
              <a:t>once.</a:t>
            </a:r>
            <a:endParaRPr lang="en-US" dirty="0">
              <a:latin typeface="Arial MT"/>
              <a:cs typeface="Arial MT"/>
            </a:endParaRPr>
          </a:p>
          <a:p>
            <a:pPr marL="194945" indent="-182880" algn="just">
              <a:lnSpc>
                <a:spcPct val="100000"/>
              </a:lnSpc>
              <a:spcBef>
                <a:spcPts val="335"/>
              </a:spcBef>
              <a:buChar char="•"/>
              <a:tabLst>
                <a:tab pos="195580" algn="l"/>
              </a:tabLst>
            </a:pPr>
            <a:r>
              <a:rPr sz="1600" spc="-15" dirty="0">
                <a:latin typeface="Arial MT"/>
                <a:cs typeface="Arial MT"/>
              </a:rPr>
              <a:t>Next,</a:t>
            </a:r>
            <a:r>
              <a:rPr sz="1600" spc="85" dirty="0">
                <a:latin typeface="Arial MT"/>
                <a:cs typeface="Arial MT"/>
              </a:rPr>
              <a:t> </a:t>
            </a:r>
            <a:r>
              <a:rPr sz="1600" dirty="0">
                <a:latin typeface="Arial MT"/>
                <a:cs typeface="Arial MT"/>
              </a:rPr>
              <a:t>condition</a:t>
            </a:r>
            <a:r>
              <a:rPr sz="1600" spc="125" dirty="0">
                <a:latin typeface="Arial MT"/>
                <a:cs typeface="Arial MT"/>
              </a:rPr>
              <a:t> </a:t>
            </a:r>
            <a:r>
              <a:rPr sz="1600" spc="5" dirty="0">
                <a:latin typeface="Arial MT"/>
                <a:cs typeface="Arial MT"/>
              </a:rPr>
              <a:t>is</a:t>
            </a:r>
            <a:r>
              <a:rPr sz="1600" dirty="0">
                <a:latin typeface="Arial MT"/>
                <a:cs typeface="Arial MT"/>
              </a:rPr>
              <a:t> evaluated.(Boolean</a:t>
            </a:r>
            <a:r>
              <a:rPr sz="1600" spc="204" dirty="0">
                <a:latin typeface="Arial MT"/>
                <a:cs typeface="Arial MT"/>
              </a:rPr>
              <a:t> </a:t>
            </a:r>
            <a:r>
              <a:rPr sz="1600" spc="-10" dirty="0">
                <a:latin typeface="Arial MT"/>
                <a:cs typeface="Arial MT"/>
              </a:rPr>
              <a:t>expression)</a:t>
            </a:r>
            <a:endParaRPr sz="1600" dirty="0">
              <a:latin typeface="Arial MT"/>
              <a:cs typeface="Arial MT"/>
            </a:endParaRPr>
          </a:p>
          <a:p>
            <a:pPr marL="541020" marR="774700" lvl="1" indent="-285750" algn="just">
              <a:lnSpc>
                <a:spcPct val="101000"/>
              </a:lnSpc>
              <a:spcBef>
                <a:spcPts val="400"/>
              </a:spcBef>
              <a:buFont typeface="Arial" panose="020B0604020202020204" pitchFamily="34" charset="0"/>
              <a:buChar char="•"/>
              <a:tabLst>
                <a:tab pos="459105" algn="l"/>
              </a:tabLst>
            </a:pPr>
            <a:r>
              <a:rPr spc="-20" dirty="0">
                <a:latin typeface="Arial MT"/>
                <a:cs typeface="Arial MT"/>
              </a:rPr>
              <a:t>If</a:t>
            </a:r>
            <a:r>
              <a:rPr spc="55" dirty="0">
                <a:latin typeface="Arial MT"/>
                <a:cs typeface="Arial MT"/>
              </a:rPr>
              <a:t> </a:t>
            </a:r>
            <a:r>
              <a:rPr spc="-5" dirty="0">
                <a:latin typeface="Arial MT"/>
                <a:cs typeface="Arial MT"/>
              </a:rPr>
              <a:t>this</a:t>
            </a:r>
            <a:r>
              <a:rPr spc="85" dirty="0">
                <a:latin typeface="Arial MT"/>
                <a:cs typeface="Arial MT"/>
              </a:rPr>
              <a:t> </a:t>
            </a:r>
            <a:r>
              <a:rPr spc="-5" dirty="0">
                <a:latin typeface="Arial MT"/>
                <a:cs typeface="Arial MT"/>
              </a:rPr>
              <a:t>expression</a:t>
            </a:r>
            <a:r>
              <a:rPr spc="200" dirty="0">
                <a:latin typeface="Arial MT"/>
                <a:cs typeface="Arial MT"/>
              </a:rPr>
              <a:t> </a:t>
            </a:r>
            <a:r>
              <a:rPr spc="-15" dirty="0">
                <a:latin typeface="Arial MT"/>
                <a:cs typeface="Arial MT"/>
              </a:rPr>
              <a:t>is</a:t>
            </a:r>
            <a:r>
              <a:rPr spc="120" dirty="0">
                <a:latin typeface="Arial MT"/>
                <a:cs typeface="Arial MT"/>
              </a:rPr>
              <a:t> </a:t>
            </a:r>
            <a:r>
              <a:rPr b="1" spc="10" dirty="0">
                <a:latin typeface="Arial"/>
                <a:cs typeface="Arial"/>
              </a:rPr>
              <a:t>true</a:t>
            </a:r>
            <a:r>
              <a:rPr spc="10" dirty="0">
                <a:latin typeface="Arial MT"/>
                <a:cs typeface="Arial MT"/>
              </a:rPr>
              <a:t>,</a:t>
            </a:r>
            <a:r>
              <a:rPr spc="15" dirty="0">
                <a:latin typeface="Arial MT"/>
                <a:cs typeface="Arial MT"/>
              </a:rPr>
              <a:t> </a:t>
            </a:r>
            <a:r>
              <a:rPr spc="5" dirty="0">
                <a:latin typeface="Arial MT"/>
                <a:cs typeface="Arial MT"/>
              </a:rPr>
              <a:t>then</a:t>
            </a:r>
            <a:r>
              <a:rPr spc="45" dirty="0">
                <a:latin typeface="Arial MT"/>
                <a:cs typeface="Arial MT"/>
              </a:rPr>
              <a:t> </a:t>
            </a:r>
            <a:r>
              <a:rPr spc="10" dirty="0">
                <a:latin typeface="Arial MT"/>
                <a:cs typeface="Arial MT"/>
              </a:rPr>
              <a:t>the</a:t>
            </a:r>
            <a:r>
              <a:rPr spc="45" dirty="0">
                <a:latin typeface="Arial MT"/>
                <a:cs typeface="Arial MT"/>
              </a:rPr>
              <a:t> </a:t>
            </a:r>
            <a:r>
              <a:rPr spc="20" dirty="0">
                <a:latin typeface="Arial MT"/>
                <a:cs typeface="Arial MT"/>
              </a:rPr>
              <a:t>body</a:t>
            </a:r>
            <a:r>
              <a:rPr spc="-35" dirty="0">
                <a:latin typeface="Arial MT"/>
                <a:cs typeface="Arial MT"/>
              </a:rPr>
              <a:t> </a:t>
            </a:r>
            <a:r>
              <a:rPr spc="15" dirty="0">
                <a:latin typeface="Arial MT"/>
                <a:cs typeface="Arial MT"/>
              </a:rPr>
              <a:t>of </a:t>
            </a:r>
            <a:r>
              <a:rPr spc="10" dirty="0">
                <a:latin typeface="Arial MT"/>
                <a:cs typeface="Arial MT"/>
              </a:rPr>
              <a:t>the</a:t>
            </a:r>
            <a:r>
              <a:rPr spc="5" dirty="0">
                <a:latin typeface="Arial MT"/>
                <a:cs typeface="Arial MT"/>
              </a:rPr>
              <a:t> loop</a:t>
            </a:r>
            <a:r>
              <a:rPr spc="45" dirty="0">
                <a:latin typeface="Arial MT"/>
                <a:cs typeface="Arial MT"/>
              </a:rPr>
              <a:t> </a:t>
            </a:r>
            <a:r>
              <a:rPr spc="-15" dirty="0">
                <a:latin typeface="Arial MT"/>
                <a:cs typeface="Arial MT"/>
              </a:rPr>
              <a:t>is </a:t>
            </a:r>
            <a:r>
              <a:rPr spc="-390" dirty="0">
                <a:latin typeface="Arial MT"/>
                <a:cs typeface="Arial MT"/>
              </a:rPr>
              <a:t> </a:t>
            </a:r>
            <a:r>
              <a:rPr dirty="0">
                <a:latin typeface="Arial MT"/>
                <a:cs typeface="Arial MT"/>
              </a:rPr>
              <a:t>executed.</a:t>
            </a:r>
          </a:p>
          <a:p>
            <a:pPr marL="541020" lvl="1" indent="-285750" algn="just">
              <a:lnSpc>
                <a:spcPct val="100000"/>
              </a:lnSpc>
              <a:spcBef>
                <a:spcPts val="420"/>
              </a:spcBef>
              <a:buFont typeface="Arial" panose="020B0604020202020204" pitchFamily="34" charset="0"/>
              <a:buChar char="•"/>
              <a:tabLst>
                <a:tab pos="408305" algn="l"/>
              </a:tabLst>
            </a:pPr>
            <a:r>
              <a:rPr spc="-20" dirty="0">
                <a:latin typeface="Arial MT"/>
                <a:cs typeface="Arial MT"/>
              </a:rPr>
              <a:t>If</a:t>
            </a:r>
            <a:r>
              <a:rPr spc="55" dirty="0">
                <a:latin typeface="Arial MT"/>
                <a:cs typeface="Arial MT"/>
              </a:rPr>
              <a:t> </a:t>
            </a:r>
            <a:r>
              <a:rPr spc="-20" dirty="0">
                <a:latin typeface="Arial MT"/>
                <a:cs typeface="Arial MT"/>
              </a:rPr>
              <a:t>it</a:t>
            </a:r>
            <a:r>
              <a:rPr spc="55" dirty="0">
                <a:latin typeface="Arial MT"/>
                <a:cs typeface="Arial MT"/>
              </a:rPr>
              <a:t> </a:t>
            </a:r>
            <a:r>
              <a:rPr spc="-15" dirty="0">
                <a:latin typeface="Arial MT"/>
                <a:cs typeface="Arial MT"/>
              </a:rPr>
              <a:t>is</a:t>
            </a:r>
            <a:r>
              <a:rPr spc="60" dirty="0">
                <a:latin typeface="Arial MT"/>
                <a:cs typeface="Arial MT"/>
              </a:rPr>
              <a:t> </a:t>
            </a:r>
            <a:r>
              <a:rPr b="1" spc="10" dirty="0">
                <a:latin typeface="Arial"/>
                <a:cs typeface="Arial"/>
              </a:rPr>
              <a:t>false</a:t>
            </a:r>
            <a:r>
              <a:rPr spc="10" dirty="0">
                <a:latin typeface="Arial MT"/>
                <a:cs typeface="Arial MT"/>
              </a:rPr>
              <a:t>,</a:t>
            </a:r>
            <a:r>
              <a:rPr spc="15" dirty="0">
                <a:latin typeface="Arial MT"/>
                <a:cs typeface="Arial MT"/>
              </a:rPr>
              <a:t> </a:t>
            </a:r>
            <a:r>
              <a:rPr spc="10" dirty="0">
                <a:latin typeface="Arial MT"/>
                <a:cs typeface="Arial MT"/>
              </a:rPr>
              <a:t>the</a:t>
            </a:r>
            <a:r>
              <a:rPr spc="45" dirty="0">
                <a:latin typeface="Arial MT"/>
                <a:cs typeface="Arial MT"/>
              </a:rPr>
              <a:t> </a:t>
            </a:r>
            <a:r>
              <a:rPr spc="5" dirty="0">
                <a:latin typeface="Arial MT"/>
                <a:cs typeface="Arial MT"/>
              </a:rPr>
              <a:t>loop</a:t>
            </a:r>
            <a:r>
              <a:rPr spc="45" dirty="0">
                <a:latin typeface="Arial MT"/>
                <a:cs typeface="Arial MT"/>
              </a:rPr>
              <a:t> </a:t>
            </a:r>
            <a:r>
              <a:rPr spc="-5" dirty="0">
                <a:latin typeface="Arial MT"/>
                <a:cs typeface="Arial MT"/>
              </a:rPr>
              <a:t>terminates.</a:t>
            </a:r>
            <a:endParaRPr dirty="0">
              <a:latin typeface="Arial MT"/>
              <a:cs typeface="Arial MT"/>
            </a:endParaRPr>
          </a:p>
          <a:p>
            <a:pPr marL="194945" indent="-182880" algn="just">
              <a:lnSpc>
                <a:spcPct val="100000"/>
              </a:lnSpc>
              <a:spcBef>
                <a:spcPts val="380"/>
              </a:spcBef>
              <a:buChar char="•"/>
              <a:tabLst>
                <a:tab pos="195580" algn="l"/>
              </a:tabLst>
            </a:pPr>
            <a:r>
              <a:rPr sz="1600" spc="-15" dirty="0">
                <a:latin typeface="Arial MT"/>
                <a:cs typeface="Arial MT"/>
              </a:rPr>
              <a:t>Next,</a:t>
            </a:r>
            <a:r>
              <a:rPr sz="1600" spc="90" dirty="0">
                <a:latin typeface="Arial MT"/>
                <a:cs typeface="Arial MT"/>
              </a:rPr>
              <a:t> </a:t>
            </a:r>
            <a:r>
              <a:rPr sz="1600" spc="15" dirty="0">
                <a:latin typeface="Arial MT"/>
                <a:cs typeface="Arial MT"/>
              </a:rPr>
              <a:t>the </a:t>
            </a:r>
            <a:r>
              <a:rPr sz="1600" dirty="0">
                <a:latin typeface="Arial MT"/>
                <a:cs typeface="Arial MT"/>
              </a:rPr>
              <a:t>iteration</a:t>
            </a:r>
            <a:r>
              <a:rPr sz="1600" spc="95" dirty="0">
                <a:latin typeface="Arial MT"/>
                <a:cs typeface="Arial MT"/>
              </a:rPr>
              <a:t> </a:t>
            </a:r>
            <a:r>
              <a:rPr sz="1600" spc="-5" dirty="0">
                <a:latin typeface="Arial MT"/>
                <a:cs typeface="Arial MT"/>
              </a:rPr>
              <a:t>portion</a:t>
            </a:r>
            <a:r>
              <a:rPr sz="1600" spc="55" dirty="0">
                <a:latin typeface="Arial MT"/>
                <a:cs typeface="Arial MT"/>
              </a:rPr>
              <a:t> </a:t>
            </a:r>
            <a:r>
              <a:rPr sz="1600" spc="-10" dirty="0">
                <a:latin typeface="Arial MT"/>
                <a:cs typeface="Arial MT"/>
              </a:rPr>
              <a:t>of</a:t>
            </a:r>
            <a:r>
              <a:rPr sz="1600" spc="45" dirty="0">
                <a:latin typeface="Arial MT"/>
                <a:cs typeface="Arial MT"/>
              </a:rPr>
              <a:t> </a:t>
            </a:r>
            <a:r>
              <a:rPr sz="1600" spc="15" dirty="0">
                <a:latin typeface="Arial MT"/>
                <a:cs typeface="Arial MT"/>
              </a:rPr>
              <a:t>the</a:t>
            </a:r>
            <a:r>
              <a:rPr sz="1600" spc="-25" dirty="0">
                <a:latin typeface="Arial MT"/>
                <a:cs typeface="Arial MT"/>
              </a:rPr>
              <a:t> </a:t>
            </a:r>
            <a:r>
              <a:rPr sz="1600" spc="-10" dirty="0">
                <a:latin typeface="Arial MT"/>
                <a:cs typeface="Arial MT"/>
              </a:rPr>
              <a:t>loop</a:t>
            </a:r>
            <a:r>
              <a:rPr sz="1600" spc="95" dirty="0">
                <a:latin typeface="Arial MT"/>
                <a:cs typeface="Arial MT"/>
              </a:rPr>
              <a:t> </a:t>
            </a:r>
            <a:r>
              <a:rPr sz="1600" spc="5" dirty="0">
                <a:latin typeface="Arial MT"/>
                <a:cs typeface="Arial MT"/>
              </a:rPr>
              <a:t>is </a:t>
            </a:r>
            <a:r>
              <a:rPr sz="1600" spc="-10" dirty="0">
                <a:latin typeface="Arial MT"/>
                <a:cs typeface="Arial MT"/>
              </a:rPr>
              <a:t>executed.</a:t>
            </a:r>
            <a:endParaRPr sz="1600" dirty="0">
              <a:latin typeface="Arial MT"/>
              <a:cs typeface="Arial MT"/>
            </a:endParaRPr>
          </a:p>
          <a:p>
            <a:pPr marL="541020" lvl="1" indent="-285750" algn="just">
              <a:lnSpc>
                <a:spcPct val="100000"/>
              </a:lnSpc>
              <a:spcBef>
                <a:spcPts val="375"/>
              </a:spcBef>
              <a:buFont typeface="Arial" panose="020B0604020202020204" pitchFamily="34" charset="0"/>
              <a:buChar char="•"/>
              <a:tabLst>
                <a:tab pos="459105" algn="l"/>
              </a:tabLst>
            </a:pPr>
            <a:r>
              <a:rPr dirty="0">
                <a:latin typeface="Arial MT"/>
                <a:cs typeface="Arial MT"/>
              </a:rPr>
              <a:t>increments</a:t>
            </a:r>
            <a:r>
              <a:rPr spc="175" dirty="0">
                <a:latin typeface="Arial MT"/>
                <a:cs typeface="Arial MT"/>
              </a:rPr>
              <a:t> </a:t>
            </a:r>
            <a:r>
              <a:rPr spc="15" dirty="0">
                <a:latin typeface="Arial MT"/>
                <a:cs typeface="Arial MT"/>
              </a:rPr>
              <a:t>or</a:t>
            </a:r>
            <a:r>
              <a:rPr spc="-20" dirty="0">
                <a:latin typeface="Arial MT"/>
                <a:cs typeface="Arial MT"/>
              </a:rPr>
              <a:t> </a:t>
            </a:r>
            <a:r>
              <a:rPr spc="5" dirty="0">
                <a:latin typeface="Arial MT"/>
                <a:cs typeface="Arial MT"/>
              </a:rPr>
              <a:t>decrements</a:t>
            </a:r>
            <a:r>
              <a:rPr spc="135" dirty="0">
                <a:latin typeface="Arial MT"/>
                <a:cs typeface="Arial MT"/>
              </a:rPr>
              <a:t> </a:t>
            </a:r>
            <a:r>
              <a:rPr spc="10" dirty="0">
                <a:latin typeface="Arial MT"/>
                <a:cs typeface="Arial MT"/>
              </a:rPr>
              <a:t>the</a:t>
            </a:r>
            <a:r>
              <a:rPr spc="15" dirty="0">
                <a:latin typeface="Arial MT"/>
                <a:cs typeface="Arial MT"/>
              </a:rPr>
              <a:t> </a:t>
            </a:r>
            <a:r>
              <a:rPr spc="5" dirty="0">
                <a:latin typeface="Arial MT"/>
                <a:cs typeface="Arial MT"/>
              </a:rPr>
              <a:t>loop</a:t>
            </a:r>
            <a:r>
              <a:rPr spc="90" dirty="0">
                <a:latin typeface="Arial MT"/>
                <a:cs typeface="Arial MT"/>
              </a:rPr>
              <a:t> </a:t>
            </a:r>
            <a:r>
              <a:rPr spc="10" dirty="0">
                <a:latin typeface="Arial MT"/>
                <a:cs typeface="Arial MT"/>
              </a:rPr>
              <a:t>control</a:t>
            </a:r>
            <a:r>
              <a:rPr spc="-15" dirty="0">
                <a:latin typeface="Arial MT"/>
                <a:cs typeface="Arial MT"/>
              </a:rPr>
              <a:t> </a:t>
            </a:r>
            <a:r>
              <a:rPr spc="-5" dirty="0">
                <a:latin typeface="Arial MT"/>
                <a:cs typeface="Arial MT"/>
              </a:rPr>
              <a:t>variable.</a:t>
            </a:r>
            <a:endParaRPr dirty="0">
              <a:latin typeface="Arial MT"/>
              <a:cs typeface="Arial MT"/>
            </a:endParaRPr>
          </a:p>
          <a:p>
            <a:pPr marL="194945" indent="-182880" algn="just">
              <a:lnSpc>
                <a:spcPct val="100000"/>
              </a:lnSpc>
              <a:spcBef>
                <a:spcPts val="340"/>
              </a:spcBef>
              <a:buChar char="•"/>
              <a:tabLst>
                <a:tab pos="195580" algn="l"/>
              </a:tabLst>
            </a:pPr>
            <a:r>
              <a:rPr sz="1600" spc="-15" dirty="0">
                <a:latin typeface="Arial MT"/>
                <a:cs typeface="Arial MT"/>
              </a:rPr>
              <a:t>Next,</a:t>
            </a:r>
            <a:r>
              <a:rPr sz="1600" spc="80" dirty="0">
                <a:latin typeface="Arial MT"/>
                <a:cs typeface="Arial MT"/>
              </a:rPr>
              <a:t> </a:t>
            </a:r>
            <a:r>
              <a:rPr sz="1600" dirty="0">
                <a:latin typeface="Arial MT"/>
                <a:cs typeface="Arial MT"/>
              </a:rPr>
              <a:t>condition</a:t>
            </a:r>
            <a:r>
              <a:rPr sz="1600" spc="114" dirty="0">
                <a:latin typeface="Arial MT"/>
                <a:cs typeface="Arial MT"/>
              </a:rPr>
              <a:t> </a:t>
            </a:r>
            <a:r>
              <a:rPr sz="1600" spc="5" dirty="0">
                <a:latin typeface="Arial MT"/>
                <a:cs typeface="Arial MT"/>
              </a:rPr>
              <a:t>is</a:t>
            </a:r>
            <a:r>
              <a:rPr sz="1600" spc="-5" dirty="0">
                <a:latin typeface="Arial MT"/>
                <a:cs typeface="Arial MT"/>
              </a:rPr>
              <a:t> </a:t>
            </a:r>
            <a:r>
              <a:rPr sz="1600" spc="-10" dirty="0">
                <a:latin typeface="Arial MT"/>
                <a:cs typeface="Arial MT"/>
              </a:rPr>
              <a:t>evaluated.</a:t>
            </a:r>
            <a:endParaRPr sz="1600" dirty="0">
              <a:latin typeface="Arial MT"/>
              <a:cs typeface="Arial MT"/>
            </a:endParaRPr>
          </a:p>
          <a:p>
            <a:pPr marL="194945" indent="-182880" algn="just">
              <a:lnSpc>
                <a:spcPct val="100000"/>
              </a:lnSpc>
              <a:spcBef>
                <a:spcPts val="335"/>
              </a:spcBef>
              <a:buChar char="•"/>
              <a:tabLst>
                <a:tab pos="195580" algn="l"/>
              </a:tabLst>
            </a:pPr>
            <a:r>
              <a:rPr sz="1600" spc="10" dirty="0">
                <a:latin typeface="Arial MT"/>
                <a:cs typeface="Arial MT"/>
              </a:rPr>
              <a:t>And</a:t>
            </a:r>
            <a:r>
              <a:rPr sz="1600" spc="15" dirty="0">
                <a:latin typeface="Arial MT"/>
                <a:cs typeface="Arial MT"/>
              </a:rPr>
              <a:t> the</a:t>
            </a:r>
            <a:r>
              <a:rPr sz="1600" spc="-25" dirty="0">
                <a:latin typeface="Arial MT"/>
                <a:cs typeface="Arial MT"/>
              </a:rPr>
              <a:t> </a:t>
            </a:r>
            <a:r>
              <a:rPr sz="1600" dirty="0">
                <a:latin typeface="Arial MT"/>
                <a:cs typeface="Arial MT"/>
              </a:rPr>
              <a:t>process</a:t>
            </a:r>
            <a:r>
              <a:rPr sz="1600" spc="90" dirty="0">
                <a:latin typeface="Arial MT"/>
                <a:cs typeface="Arial MT"/>
              </a:rPr>
              <a:t> </a:t>
            </a:r>
            <a:r>
              <a:rPr sz="1600" spc="5" dirty="0">
                <a:latin typeface="Arial MT"/>
                <a:cs typeface="Arial MT"/>
              </a:rPr>
              <a:t>continues</a:t>
            </a:r>
            <a:r>
              <a:rPr sz="1600" spc="50" dirty="0">
                <a:latin typeface="Arial MT"/>
                <a:cs typeface="Arial MT"/>
              </a:rPr>
              <a:t> </a:t>
            </a:r>
            <a:r>
              <a:rPr sz="1600" spc="10" dirty="0">
                <a:latin typeface="Arial MT"/>
                <a:cs typeface="Arial MT"/>
              </a:rPr>
              <a:t>until</a:t>
            </a:r>
            <a:r>
              <a:rPr sz="1600" spc="5" dirty="0">
                <a:latin typeface="Arial MT"/>
                <a:cs typeface="Arial MT"/>
              </a:rPr>
              <a:t> </a:t>
            </a:r>
            <a:r>
              <a:rPr sz="1600" dirty="0">
                <a:latin typeface="Arial MT"/>
                <a:cs typeface="Arial MT"/>
              </a:rPr>
              <a:t>condition</a:t>
            </a:r>
            <a:r>
              <a:rPr sz="1600" spc="95" dirty="0">
                <a:latin typeface="Arial MT"/>
                <a:cs typeface="Arial MT"/>
              </a:rPr>
              <a:t> </a:t>
            </a:r>
            <a:r>
              <a:rPr sz="1600" spc="-5" dirty="0">
                <a:latin typeface="Arial MT"/>
                <a:cs typeface="Arial MT"/>
              </a:rPr>
              <a:t>becomes</a:t>
            </a:r>
            <a:r>
              <a:rPr sz="1600" spc="165" dirty="0">
                <a:latin typeface="Arial MT"/>
                <a:cs typeface="Arial MT"/>
              </a:rPr>
              <a:t> </a:t>
            </a:r>
            <a:r>
              <a:rPr sz="1600" b="1" spc="20" dirty="0">
                <a:latin typeface="Arial"/>
                <a:cs typeface="Arial"/>
              </a:rPr>
              <a:t>false</a:t>
            </a:r>
            <a:endParaRPr sz="1600" dirty="0">
              <a:latin typeface="Arial"/>
              <a:cs typeface="Arial"/>
            </a:endParaRPr>
          </a:p>
        </p:txBody>
      </p:sp>
      <p:sp>
        <p:nvSpPr>
          <p:cNvPr id="6" name="object 6"/>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a:spLocks noGrp="1"/>
          </p:cNvSpPr>
          <p:nvPr>
            <p:ph type="title"/>
          </p:nvPr>
        </p:nvSpPr>
        <p:spPr>
          <a:xfrm>
            <a:off x="2717800" y="726272"/>
            <a:ext cx="1435973" cy="318135"/>
          </a:xfrm>
          <a:prstGeom prst="rect">
            <a:avLst/>
          </a:prstGeom>
        </p:spPr>
        <p:txBody>
          <a:bodyPr vert="horz" wrap="square" lIns="0" tIns="14604" rIns="0" bIns="0" rtlCol="0">
            <a:spAutoFit/>
          </a:bodyPr>
          <a:lstStyle/>
          <a:p>
            <a:pPr marL="12700">
              <a:lnSpc>
                <a:spcPct val="100000"/>
              </a:lnSpc>
              <a:spcBef>
                <a:spcPts val="114"/>
              </a:spcBef>
            </a:pPr>
            <a:r>
              <a:rPr spc="5" dirty="0">
                <a:solidFill>
                  <a:schemeClr val="tx1"/>
                </a:solidFill>
              </a:rPr>
              <a:t>Nested</a:t>
            </a:r>
            <a:r>
              <a:rPr spc="-105" dirty="0">
                <a:solidFill>
                  <a:schemeClr val="tx1"/>
                </a:solidFill>
              </a:rPr>
              <a:t> </a:t>
            </a:r>
            <a:r>
              <a:rPr spc="5" dirty="0">
                <a:solidFill>
                  <a:schemeClr val="tx1"/>
                </a:solidFill>
              </a:rPr>
              <a:t>loops</a:t>
            </a:r>
          </a:p>
        </p:txBody>
      </p:sp>
      <p:sp>
        <p:nvSpPr>
          <p:cNvPr id="4" name="object 4"/>
          <p:cNvSpPr txBox="1"/>
          <p:nvPr/>
        </p:nvSpPr>
        <p:spPr>
          <a:xfrm>
            <a:off x="364664" y="1217343"/>
            <a:ext cx="3166745" cy="3030220"/>
          </a:xfrm>
          <a:prstGeom prst="rect">
            <a:avLst/>
          </a:prstGeom>
        </p:spPr>
        <p:txBody>
          <a:bodyPr vert="horz" wrap="square" lIns="0" tIns="12065" rIns="0" bIns="0" rtlCol="0">
            <a:spAutoFit/>
          </a:bodyPr>
          <a:lstStyle/>
          <a:p>
            <a:pPr marL="12700" marR="1137920">
              <a:lnSpc>
                <a:spcPct val="124000"/>
              </a:lnSpc>
              <a:spcBef>
                <a:spcPts val="95"/>
              </a:spcBef>
            </a:pPr>
            <a:r>
              <a:rPr sz="1450" dirty="0">
                <a:latin typeface="Arial MT"/>
                <a:cs typeface="Arial MT"/>
              </a:rPr>
              <a:t>// </a:t>
            </a:r>
            <a:r>
              <a:rPr sz="1450" spc="20" dirty="0">
                <a:latin typeface="Arial MT"/>
                <a:cs typeface="Arial MT"/>
              </a:rPr>
              <a:t>Loops </a:t>
            </a:r>
            <a:r>
              <a:rPr sz="1450" spc="10" dirty="0">
                <a:latin typeface="Arial MT"/>
                <a:cs typeface="Arial MT"/>
              </a:rPr>
              <a:t>may </a:t>
            </a:r>
            <a:r>
              <a:rPr sz="1450" spc="20" dirty="0">
                <a:latin typeface="Arial MT"/>
                <a:cs typeface="Arial MT"/>
              </a:rPr>
              <a:t>be </a:t>
            </a:r>
            <a:r>
              <a:rPr sz="1450" dirty="0">
                <a:latin typeface="Arial MT"/>
                <a:cs typeface="Arial MT"/>
              </a:rPr>
              <a:t>nested. </a:t>
            </a:r>
            <a:r>
              <a:rPr sz="1450" spc="-390" dirty="0">
                <a:latin typeface="Arial MT"/>
                <a:cs typeface="Arial MT"/>
              </a:rPr>
              <a:t> </a:t>
            </a:r>
            <a:r>
              <a:rPr sz="1450" spc="-5" dirty="0">
                <a:latin typeface="Arial MT"/>
                <a:cs typeface="Arial MT"/>
              </a:rPr>
              <a:t>class</a:t>
            </a:r>
            <a:r>
              <a:rPr sz="1450" spc="85" dirty="0">
                <a:latin typeface="Arial MT"/>
                <a:cs typeface="Arial MT"/>
              </a:rPr>
              <a:t> </a:t>
            </a:r>
            <a:r>
              <a:rPr sz="1450" spc="10" dirty="0">
                <a:latin typeface="Arial MT"/>
                <a:cs typeface="Arial MT"/>
              </a:rPr>
              <a:t>Foreg2{</a:t>
            </a:r>
            <a:endParaRPr sz="1450">
              <a:latin typeface="Arial MT"/>
              <a:cs typeface="Arial MT"/>
            </a:endParaRPr>
          </a:p>
          <a:p>
            <a:pPr marL="12700" marR="28575">
              <a:lnSpc>
                <a:spcPct val="124000"/>
              </a:lnSpc>
            </a:pPr>
            <a:r>
              <a:rPr sz="1450" dirty="0">
                <a:latin typeface="Arial MT"/>
                <a:cs typeface="Arial MT"/>
              </a:rPr>
              <a:t>public </a:t>
            </a:r>
            <a:r>
              <a:rPr sz="1450" spc="-15" dirty="0">
                <a:latin typeface="Arial MT"/>
                <a:cs typeface="Arial MT"/>
              </a:rPr>
              <a:t>static</a:t>
            </a:r>
            <a:r>
              <a:rPr sz="1450" spc="-10" dirty="0">
                <a:latin typeface="Arial MT"/>
                <a:cs typeface="Arial MT"/>
              </a:rPr>
              <a:t> </a:t>
            </a:r>
            <a:r>
              <a:rPr sz="1450" spc="-15" dirty="0">
                <a:latin typeface="Arial MT"/>
                <a:cs typeface="Arial MT"/>
              </a:rPr>
              <a:t>void </a:t>
            </a:r>
            <a:r>
              <a:rPr sz="1450" dirty="0">
                <a:latin typeface="Arial MT"/>
                <a:cs typeface="Arial MT"/>
              </a:rPr>
              <a:t>main(String</a:t>
            </a:r>
            <a:r>
              <a:rPr sz="1450" spc="5" dirty="0">
                <a:latin typeface="Arial MT"/>
                <a:cs typeface="Arial MT"/>
              </a:rPr>
              <a:t> </a:t>
            </a:r>
            <a:r>
              <a:rPr sz="1450" spc="-5" dirty="0">
                <a:latin typeface="Arial MT"/>
                <a:cs typeface="Arial MT"/>
              </a:rPr>
              <a:t>args[]) </a:t>
            </a:r>
            <a:r>
              <a:rPr sz="1450" spc="5" dirty="0">
                <a:latin typeface="Arial MT"/>
                <a:cs typeface="Arial MT"/>
              </a:rPr>
              <a:t>{ </a:t>
            </a:r>
            <a:r>
              <a:rPr sz="1450" spc="-390" dirty="0">
                <a:latin typeface="Arial MT"/>
                <a:cs typeface="Arial MT"/>
              </a:rPr>
              <a:t> </a:t>
            </a:r>
            <a:r>
              <a:rPr sz="1450" spc="-5" dirty="0">
                <a:latin typeface="Arial MT"/>
                <a:cs typeface="Arial MT"/>
              </a:rPr>
              <a:t>int</a:t>
            </a:r>
            <a:r>
              <a:rPr sz="1450" spc="55" dirty="0">
                <a:latin typeface="Arial MT"/>
                <a:cs typeface="Arial MT"/>
              </a:rPr>
              <a:t> </a:t>
            </a:r>
            <a:r>
              <a:rPr sz="1450" spc="-20" dirty="0">
                <a:latin typeface="Arial MT"/>
                <a:cs typeface="Arial MT"/>
              </a:rPr>
              <a:t>i,</a:t>
            </a:r>
            <a:r>
              <a:rPr sz="1450" spc="60" dirty="0">
                <a:latin typeface="Arial MT"/>
                <a:cs typeface="Arial MT"/>
              </a:rPr>
              <a:t> </a:t>
            </a:r>
            <a:r>
              <a:rPr sz="1450" spc="15" dirty="0">
                <a:latin typeface="Arial MT"/>
                <a:cs typeface="Arial MT"/>
              </a:rPr>
              <a:t>j;</a:t>
            </a:r>
            <a:endParaRPr sz="1450">
              <a:latin typeface="Arial MT"/>
              <a:cs typeface="Arial MT"/>
            </a:endParaRPr>
          </a:p>
          <a:p>
            <a:pPr marL="12700" marR="1696720">
              <a:lnSpc>
                <a:spcPts val="2160"/>
              </a:lnSpc>
              <a:spcBef>
                <a:spcPts val="100"/>
              </a:spcBef>
            </a:pPr>
            <a:r>
              <a:rPr sz="1450" dirty="0">
                <a:latin typeface="Arial MT"/>
                <a:cs typeface="Arial MT"/>
              </a:rPr>
              <a:t>for(i=0;</a:t>
            </a:r>
            <a:r>
              <a:rPr sz="1450" spc="85" dirty="0">
                <a:latin typeface="Arial MT"/>
                <a:cs typeface="Arial MT"/>
              </a:rPr>
              <a:t> </a:t>
            </a:r>
            <a:r>
              <a:rPr sz="1450" dirty="0">
                <a:latin typeface="Arial MT"/>
                <a:cs typeface="Arial MT"/>
              </a:rPr>
              <a:t>i&lt;4;</a:t>
            </a:r>
            <a:r>
              <a:rPr sz="1450" spc="5" dirty="0">
                <a:latin typeface="Arial MT"/>
                <a:cs typeface="Arial MT"/>
              </a:rPr>
              <a:t> </a:t>
            </a:r>
            <a:r>
              <a:rPr sz="1450" dirty="0">
                <a:latin typeface="Arial MT"/>
                <a:cs typeface="Arial MT"/>
              </a:rPr>
              <a:t>i++)</a:t>
            </a:r>
            <a:r>
              <a:rPr sz="1450" spc="50" dirty="0">
                <a:latin typeface="Arial MT"/>
                <a:cs typeface="Arial MT"/>
              </a:rPr>
              <a:t> </a:t>
            </a:r>
            <a:r>
              <a:rPr sz="1450" spc="5" dirty="0">
                <a:latin typeface="Arial MT"/>
                <a:cs typeface="Arial MT"/>
              </a:rPr>
              <a:t>{ </a:t>
            </a:r>
            <a:r>
              <a:rPr sz="1450" spc="-390" dirty="0">
                <a:latin typeface="Arial MT"/>
                <a:cs typeface="Arial MT"/>
              </a:rPr>
              <a:t> </a:t>
            </a:r>
            <a:r>
              <a:rPr sz="1450" spc="10" dirty="0">
                <a:latin typeface="Arial MT"/>
                <a:cs typeface="Arial MT"/>
              </a:rPr>
              <a:t>for(j=0;</a:t>
            </a:r>
            <a:r>
              <a:rPr sz="1450" spc="5" dirty="0">
                <a:latin typeface="Arial MT"/>
                <a:cs typeface="Arial MT"/>
              </a:rPr>
              <a:t> </a:t>
            </a:r>
            <a:r>
              <a:rPr sz="1450" spc="20" dirty="0">
                <a:latin typeface="Arial MT"/>
                <a:cs typeface="Arial MT"/>
              </a:rPr>
              <a:t>j&lt;3;</a:t>
            </a:r>
            <a:r>
              <a:rPr sz="1450" spc="-70" dirty="0">
                <a:latin typeface="Arial MT"/>
                <a:cs typeface="Arial MT"/>
              </a:rPr>
              <a:t> </a:t>
            </a:r>
            <a:r>
              <a:rPr sz="1450" spc="20" dirty="0">
                <a:latin typeface="Arial MT"/>
                <a:cs typeface="Arial MT"/>
              </a:rPr>
              <a:t>j++)</a:t>
            </a:r>
            <a:endParaRPr sz="1450">
              <a:latin typeface="Arial MT"/>
              <a:cs typeface="Arial MT"/>
            </a:endParaRPr>
          </a:p>
          <a:p>
            <a:pPr marL="12700">
              <a:lnSpc>
                <a:spcPct val="100000"/>
              </a:lnSpc>
              <a:spcBef>
                <a:spcPts val="270"/>
              </a:spcBef>
            </a:pPr>
            <a:r>
              <a:rPr sz="1450" spc="5" dirty="0">
                <a:latin typeface="Arial MT"/>
                <a:cs typeface="Arial MT"/>
              </a:rPr>
              <a:t>System.out.print("i="+i+"</a:t>
            </a:r>
            <a:r>
              <a:rPr sz="1450" spc="185" dirty="0">
                <a:latin typeface="Arial MT"/>
                <a:cs typeface="Arial MT"/>
              </a:rPr>
              <a:t> </a:t>
            </a:r>
            <a:r>
              <a:rPr sz="1450" spc="15" dirty="0">
                <a:latin typeface="Arial MT"/>
                <a:cs typeface="Arial MT"/>
              </a:rPr>
              <a:t>j="+j</a:t>
            </a:r>
            <a:r>
              <a:rPr sz="1450" spc="-15" dirty="0">
                <a:latin typeface="Arial MT"/>
                <a:cs typeface="Arial MT"/>
              </a:rPr>
              <a:t> </a:t>
            </a:r>
            <a:r>
              <a:rPr sz="1450" spc="15" dirty="0">
                <a:latin typeface="Arial MT"/>
                <a:cs typeface="Arial MT"/>
              </a:rPr>
              <a:t>+</a:t>
            </a:r>
            <a:r>
              <a:rPr sz="1450" spc="10" dirty="0">
                <a:latin typeface="Arial MT"/>
                <a:cs typeface="Arial MT"/>
              </a:rPr>
              <a:t> </a:t>
            </a:r>
            <a:r>
              <a:rPr sz="1450" dirty="0">
                <a:latin typeface="Arial MT"/>
                <a:cs typeface="Arial MT"/>
              </a:rPr>
              <a:t>"\t\t");</a:t>
            </a:r>
            <a:endParaRPr sz="1450">
              <a:latin typeface="Arial MT"/>
              <a:cs typeface="Arial MT"/>
            </a:endParaRPr>
          </a:p>
          <a:p>
            <a:pPr marL="12700">
              <a:lnSpc>
                <a:spcPct val="100000"/>
              </a:lnSpc>
              <a:spcBef>
                <a:spcPts val="420"/>
              </a:spcBef>
            </a:pPr>
            <a:r>
              <a:rPr sz="1450" dirty="0">
                <a:latin typeface="Arial MT"/>
                <a:cs typeface="Arial MT"/>
              </a:rPr>
              <a:t>System.out.println();</a:t>
            </a:r>
            <a:endParaRPr sz="1450">
              <a:latin typeface="Arial MT"/>
              <a:cs typeface="Arial MT"/>
            </a:endParaRPr>
          </a:p>
          <a:p>
            <a:pPr marL="12700">
              <a:lnSpc>
                <a:spcPct val="100000"/>
              </a:lnSpc>
              <a:spcBef>
                <a:spcPts val="380"/>
              </a:spcBef>
            </a:pPr>
            <a:r>
              <a:rPr sz="1450" spc="5" dirty="0">
                <a:latin typeface="Arial MT"/>
                <a:cs typeface="Arial MT"/>
              </a:rPr>
              <a:t>}</a:t>
            </a:r>
            <a:endParaRPr sz="1450">
              <a:latin typeface="Arial MT"/>
              <a:cs typeface="Arial MT"/>
            </a:endParaRPr>
          </a:p>
          <a:p>
            <a:pPr marL="12700">
              <a:lnSpc>
                <a:spcPct val="100000"/>
              </a:lnSpc>
              <a:spcBef>
                <a:spcPts val="415"/>
              </a:spcBef>
            </a:pPr>
            <a:r>
              <a:rPr sz="1450" spc="5" dirty="0">
                <a:latin typeface="Arial MT"/>
                <a:cs typeface="Arial MT"/>
              </a:rPr>
              <a:t>}</a:t>
            </a:r>
            <a:endParaRPr sz="1450">
              <a:latin typeface="Arial MT"/>
              <a:cs typeface="Arial MT"/>
            </a:endParaRPr>
          </a:p>
          <a:p>
            <a:pPr marL="12700">
              <a:lnSpc>
                <a:spcPct val="100000"/>
              </a:lnSpc>
              <a:spcBef>
                <a:spcPts val="420"/>
              </a:spcBef>
            </a:pPr>
            <a:r>
              <a:rPr sz="1450" spc="5" dirty="0">
                <a:latin typeface="Arial MT"/>
                <a:cs typeface="Arial MT"/>
              </a:rPr>
              <a:t>}</a:t>
            </a:r>
            <a:endParaRPr sz="1450">
              <a:latin typeface="Arial MT"/>
              <a:cs typeface="Arial MT"/>
            </a:endParaRPr>
          </a:p>
        </p:txBody>
      </p:sp>
      <p:graphicFrame>
        <p:nvGraphicFramePr>
          <p:cNvPr id="6" name="object 6"/>
          <p:cNvGraphicFramePr>
            <a:graphicFrameLocks noGrp="1"/>
          </p:cNvGraphicFramePr>
          <p:nvPr/>
        </p:nvGraphicFramePr>
        <p:xfrm>
          <a:off x="3849901" y="1758691"/>
          <a:ext cx="1974214" cy="867533"/>
        </p:xfrm>
        <a:graphic>
          <a:graphicData uri="http://schemas.openxmlformats.org/drawingml/2006/table">
            <a:tbl>
              <a:tblPr firstRow="1" bandRow="1">
                <a:tableStyleId>{2D5ABB26-0587-4C30-8999-92F81FD0307C}</a:tableStyleId>
              </a:tblPr>
              <a:tblGrid>
                <a:gridCol w="706755">
                  <a:extLst>
                    <a:ext uri="{9D8B030D-6E8A-4147-A177-3AD203B41FA5}">
                      <a16:colId xmlns:a16="http://schemas.microsoft.com/office/drawing/2014/main" val="20000"/>
                    </a:ext>
                  </a:extLst>
                </a:gridCol>
                <a:gridCol w="660400">
                  <a:extLst>
                    <a:ext uri="{9D8B030D-6E8A-4147-A177-3AD203B41FA5}">
                      <a16:colId xmlns:a16="http://schemas.microsoft.com/office/drawing/2014/main" val="20001"/>
                    </a:ext>
                  </a:extLst>
                </a:gridCol>
                <a:gridCol w="607059">
                  <a:extLst>
                    <a:ext uri="{9D8B030D-6E8A-4147-A177-3AD203B41FA5}">
                      <a16:colId xmlns:a16="http://schemas.microsoft.com/office/drawing/2014/main" val="20002"/>
                    </a:ext>
                  </a:extLst>
                </a:gridCol>
              </a:tblGrid>
              <a:tr h="191543">
                <a:tc>
                  <a:txBody>
                    <a:bodyPr/>
                    <a:lstStyle/>
                    <a:p>
                      <a:pPr marL="51435">
                        <a:lnSpc>
                          <a:spcPts val="1215"/>
                        </a:lnSpc>
                        <a:spcBef>
                          <a:spcPts val="190"/>
                        </a:spcBef>
                      </a:pPr>
                      <a:r>
                        <a:rPr sz="1050" b="1" spc="25" dirty="0">
                          <a:latin typeface="Arial"/>
                          <a:cs typeface="Arial"/>
                        </a:rPr>
                        <a:t>OUTPUT</a:t>
                      </a:r>
                      <a:endParaRPr sz="1050">
                        <a:latin typeface="Arial"/>
                        <a:cs typeface="Arial"/>
                      </a:endParaRPr>
                    </a:p>
                  </a:txBody>
                  <a:tcPr marL="0" marR="0" marT="24130" marB="0">
                    <a:lnL w="6350">
                      <a:solidFill>
                        <a:srgbClr val="000000"/>
                      </a:solidFill>
                      <a:prstDash val="solid"/>
                    </a:lnL>
                  </a:tcPr>
                </a:tc>
                <a:tc gridSpan="2">
                  <a:txBody>
                    <a:bodyPr/>
                    <a:lstStyle/>
                    <a:p>
                      <a:pPr>
                        <a:lnSpc>
                          <a:spcPct val="100000"/>
                        </a:lnSpc>
                      </a:pPr>
                      <a:endParaRPr sz="1100">
                        <a:latin typeface="Times New Roman"/>
                        <a:cs typeface="Times New Roman"/>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162415">
                <a:tc>
                  <a:txBody>
                    <a:bodyPr/>
                    <a:lstStyle/>
                    <a:p>
                      <a:pPr marL="51435">
                        <a:lnSpc>
                          <a:spcPts val="1180"/>
                        </a:lnSpc>
                      </a:pPr>
                      <a:r>
                        <a:rPr sz="1050" spc="10" dirty="0">
                          <a:latin typeface="Arial MT"/>
                          <a:cs typeface="Arial MT"/>
                        </a:rPr>
                        <a:t>i=0</a:t>
                      </a:r>
                      <a:r>
                        <a:rPr sz="1050" spc="-55" dirty="0">
                          <a:latin typeface="Arial MT"/>
                          <a:cs typeface="Arial MT"/>
                        </a:rPr>
                        <a:t> </a:t>
                      </a:r>
                      <a:r>
                        <a:rPr sz="1050" spc="10" dirty="0">
                          <a:latin typeface="Arial MT"/>
                          <a:cs typeface="Arial MT"/>
                        </a:rPr>
                        <a:t>j=0</a:t>
                      </a:r>
                      <a:endParaRPr sz="1050">
                        <a:latin typeface="Arial MT"/>
                        <a:cs typeface="Arial MT"/>
                      </a:endParaRPr>
                    </a:p>
                  </a:txBody>
                  <a:tcPr marL="0" marR="0" marT="0" marB="0">
                    <a:lnL w="6350">
                      <a:solidFill>
                        <a:srgbClr val="000000"/>
                      </a:solidFill>
                      <a:prstDash val="solid"/>
                    </a:lnL>
                  </a:tcPr>
                </a:tc>
                <a:tc>
                  <a:txBody>
                    <a:bodyPr/>
                    <a:lstStyle/>
                    <a:p>
                      <a:pPr marL="85090">
                        <a:lnSpc>
                          <a:spcPts val="1180"/>
                        </a:lnSpc>
                      </a:pPr>
                      <a:r>
                        <a:rPr sz="1050" spc="10" dirty="0">
                          <a:latin typeface="Arial MT"/>
                          <a:cs typeface="Arial MT"/>
                        </a:rPr>
                        <a:t>i=0</a:t>
                      </a:r>
                      <a:r>
                        <a:rPr sz="1050" spc="-55" dirty="0">
                          <a:latin typeface="Arial MT"/>
                          <a:cs typeface="Arial MT"/>
                        </a:rPr>
                        <a:t> </a:t>
                      </a:r>
                      <a:r>
                        <a:rPr sz="1050" spc="10" dirty="0">
                          <a:latin typeface="Arial MT"/>
                          <a:cs typeface="Arial MT"/>
                        </a:rPr>
                        <a:t>j=1</a:t>
                      </a:r>
                      <a:endParaRPr sz="1050">
                        <a:latin typeface="Arial MT"/>
                        <a:cs typeface="Arial MT"/>
                      </a:endParaRPr>
                    </a:p>
                  </a:txBody>
                  <a:tcPr marL="0" marR="0" marT="0" marB="0"/>
                </a:tc>
                <a:tc>
                  <a:txBody>
                    <a:bodyPr/>
                    <a:lstStyle/>
                    <a:p>
                      <a:pPr marR="24130" algn="r">
                        <a:lnSpc>
                          <a:spcPts val="1180"/>
                        </a:lnSpc>
                      </a:pPr>
                      <a:r>
                        <a:rPr sz="1050" spc="10" dirty="0">
                          <a:latin typeface="Arial MT"/>
                          <a:cs typeface="Arial MT"/>
                        </a:rPr>
                        <a:t>i=0</a:t>
                      </a:r>
                      <a:r>
                        <a:rPr sz="1050" spc="-50" dirty="0">
                          <a:latin typeface="Arial MT"/>
                          <a:cs typeface="Arial MT"/>
                        </a:rPr>
                        <a:t> </a:t>
                      </a:r>
                      <a:r>
                        <a:rPr sz="1050" spc="10" dirty="0">
                          <a:latin typeface="Arial MT"/>
                          <a:cs typeface="Arial MT"/>
                        </a:rPr>
                        <a:t>j=2</a:t>
                      </a:r>
                      <a:endParaRPr sz="1050">
                        <a:latin typeface="Arial MT"/>
                        <a:cs typeface="Arial MT"/>
                      </a:endParaRPr>
                    </a:p>
                  </a:txBody>
                  <a:tcPr marL="0" marR="0" marT="0" marB="0"/>
                </a:tc>
                <a:extLst>
                  <a:ext uri="{0D108BD9-81ED-4DB2-BD59-A6C34878D82A}">
                    <a16:rowId xmlns:a16="http://schemas.microsoft.com/office/drawing/2014/main" val="10001"/>
                  </a:ext>
                </a:extLst>
              </a:tr>
              <a:tr h="162349">
                <a:tc>
                  <a:txBody>
                    <a:bodyPr/>
                    <a:lstStyle/>
                    <a:p>
                      <a:pPr marL="51435">
                        <a:lnSpc>
                          <a:spcPts val="1180"/>
                        </a:lnSpc>
                      </a:pPr>
                      <a:r>
                        <a:rPr sz="1050" spc="10" dirty="0">
                          <a:latin typeface="Arial MT"/>
                          <a:cs typeface="Arial MT"/>
                        </a:rPr>
                        <a:t>i=1</a:t>
                      </a:r>
                      <a:r>
                        <a:rPr sz="1050" spc="-55" dirty="0">
                          <a:latin typeface="Arial MT"/>
                          <a:cs typeface="Arial MT"/>
                        </a:rPr>
                        <a:t> </a:t>
                      </a:r>
                      <a:r>
                        <a:rPr sz="1050" spc="10" dirty="0">
                          <a:latin typeface="Arial MT"/>
                          <a:cs typeface="Arial MT"/>
                        </a:rPr>
                        <a:t>j=0</a:t>
                      </a:r>
                      <a:endParaRPr sz="1050">
                        <a:latin typeface="Arial MT"/>
                        <a:cs typeface="Arial MT"/>
                      </a:endParaRPr>
                    </a:p>
                  </a:txBody>
                  <a:tcPr marL="0" marR="0" marT="0" marB="0">
                    <a:lnL w="6350">
                      <a:solidFill>
                        <a:srgbClr val="000000"/>
                      </a:solidFill>
                      <a:prstDash val="solid"/>
                    </a:lnL>
                  </a:tcPr>
                </a:tc>
                <a:tc>
                  <a:txBody>
                    <a:bodyPr/>
                    <a:lstStyle/>
                    <a:p>
                      <a:pPr marL="85090">
                        <a:lnSpc>
                          <a:spcPts val="1180"/>
                        </a:lnSpc>
                      </a:pPr>
                      <a:r>
                        <a:rPr sz="1050" spc="10" dirty="0">
                          <a:latin typeface="Arial MT"/>
                          <a:cs typeface="Arial MT"/>
                        </a:rPr>
                        <a:t>i=1</a:t>
                      </a:r>
                      <a:r>
                        <a:rPr sz="1050" spc="-55" dirty="0">
                          <a:latin typeface="Arial MT"/>
                          <a:cs typeface="Arial MT"/>
                        </a:rPr>
                        <a:t> </a:t>
                      </a:r>
                      <a:r>
                        <a:rPr sz="1050" spc="10" dirty="0">
                          <a:latin typeface="Arial MT"/>
                          <a:cs typeface="Arial MT"/>
                        </a:rPr>
                        <a:t>j=1</a:t>
                      </a:r>
                      <a:endParaRPr sz="1050">
                        <a:latin typeface="Arial MT"/>
                        <a:cs typeface="Arial MT"/>
                      </a:endParaRPr>
                    </a:p>
                  </a:txBody>
                  <a:tcPr marL="0" marR="0" marT="0" marB="0"/>
                </a:tc>
                <a:tc>
                  <a:txBody>
                    <a:bodyPr/>
                    <a:lstStyle/>
                    <a:p>
                      <a:pPr marR="24130" algn="r">
                        <a:lnSpc>
                          <a:spcPts val="1180"/>
                        </a:lnSpc>
                      </a:pPr>
                      <a:r>
                        <a:rPr sz="1050" spc="10" dirty="0">
                          <a:latin typeface="Arial MT"/>
                          <a:cs typeface="Arial MT"/>
                        </a:rPr>
                        <a:t>i=1</a:t>
                      </a:r>
                      <a:r>
                        <a:rPr sz="1050" spc="-50" dirty="0">
                          <a:latin typeface="Arial MT"/>
                          <a:cs typeface="Arial MT"/>
                        </a:rPr>
                        <a:t> </a:t>
                      </a:r>
                      <a:r>
                        <a:rPr sz="1050" spc="10" dirty="0">
                          <a:latin typeface="Arial MT"/>
                          <a:cs typeface="Arial MT"/>
                        </a:rPr>
                        <a:t>j=2</a:t>
                      </a:r>
                      <a:endParaRPr sz="1050">
                        <a:latin typeface="Arial MT"/>
                        <a:cs typeface="Arial MT"/>
                      </a:endParaRPr>
                    </a:p>
                  </a:txBody>
                  <a:tcPr marL="0" marR="0" marT="0" marB="0"/>
                </a:tc>
                <a:extLst>
                  <a:ext uri="{0D108BD9-81ED-4DB2-BD59-A6C34878D82A}">
                    <a16:rowId xmlns:a16="http://schemas.microsoft.com/office/drawing/2014/main" val="10002"/>
                  </a:ext>
                </a:extLst>
              </a:tr>
              <a:tr h="162453">
                <a:tc>
                  <a:txBody>
                    <a:bodyPr/>
                    <a:lstStyle/>
                    <a:p>
                      <a:pPr marL="51435">
                        <a:lnSpc>
                          <a:spcPts val="1180"/>
                        </a:lnSpc>
                      </a:pPr>
                      <a:r>
                        <a:rPr sz="1050" spc="10" dirty="0">
                          <a:latin typeface="Arial MT"/>
                          <a:cs typeface="Arial MT"/>
                        </a:rPr>
                        <a:t>i=2</a:t>
                      </a:r>
                      <a:r>
                        <a:rPr sz="1050" spc="-55" dirty="0">
                          <a:latin typeface="Arial MT"/>
                          <a:cs typeface="Arial MT"/>
                        </a:rPr>
                        <a:t> </a:t>
                      </a:r>
                      <a:r>
                        <a:rPr sz="1050" spc="10" dirty="0">
                          <a:latin typeface="Arial MT"/>
                          <a:cs typeface="Arial MT"/>
                        </a:rPr>
                        <a:t>j=0</a:t>
                      </a:r>
                      <a:endParaRPr sz="1050">
                        <a:latin typeface="Arial MT"/>
                        <a:cs typeface="Arial MT"/>
                      </a:endParaRPr>
                    </a:p>
                  </a:txBody>
                  <a:tcPr marL="0" marR="0" marT="0" marB="0">
                    <a:lnL w="6350">
                      <a:solidFill>
                        <a:srgbClr val="000000"/>
                      </a:solidFill>
                      <a:prstDash val="solid"/>
                    </a:lnL>
                  </a:tcPr>
                </a:tc>
                <a:tc>
                  <a:txBody>
                    <a:bodyPr/>
                    <a:lstStyle/>
                    <a:p>
                      <a:pPr marL="85090">
                        <a:lnSpc>
                          <a:spcPts val="1180"/>
                        </a:lnSpc>
                      </a:pPr>
                      <a:r>
                        <a:rPr sz="1050" spc="10" dirty="0">
                          <a:latin typeface="Arial MT"/>
                          <a:cs typeface="Arial MT"/>
                        </a:rPr>
                        <a:t>i=2</a:t>
                      </a:r>
                      <a:r>
                        <a:rPr sz="1050" spc="-55" dirty="0">
                          <a:latin typeface="Arial MT"/>
                          <a:cs typeface="Arial MT"/>
                        </a:rPr>
                        <a:t> </a:t>
                      </a:r>
                      <a:r>
                        <a:rPr sz="1050" spc="10" dirty="0">
                          <a:latin typeface="Arial MT"/>
                          <a:cs typeface="Arial MT"/>
                        </a:rPr>
                        <a:t>j=1</a:t>
                      </a:r>
                      <a:endParaRPr sz="1050">
                        <a:latin typeface="Arial MT"/>
                        <a:cs typeface="Arial MT"/>
                      </a:endParaRPr>
                    </a:p>
                  </a:txBody>
                  <a:tcPr marL="0" marR="0" marT="0" marB="0"/>
                </a:tc>
                <a:tc>
                  <a:txBody>
                    <a:bodyPr/>
                    <a:lstStyle/>
                    <a:p>
                      <a:pPr marR="24130" algn="r">
                        <a:lnSpc>
                          <a:spcPts val="1180"/>
                        </a:lnSpc>
                      </a:pPr>
                      <a:r>
                        <a:rPr sz="1050" spc="10" dirty="0">
                          <a:latin typeface="Arial MT"/>
                          <a:cs typeface="Arial MT"/>
                        </a:rPr>
                        <a:t>i=2</a:t>
                      </a:r>
                      <a:r>
                        <a:rPr sz="1050" spc="-50" dirty="0">
                          <a:latin typeface="Arial MT"/>
                          <a:cs typeface="Arial MT"/>
                        </a:rPr>
                        <a:t> </a:t>
                      </a:r>
                      <a:r>
                        <a:rPr sz="1050" spc="10" dirty="0">
                          <a:latin typeface="Arial MT"/>
                          <a:cs typeface="Arial MT"/>
                        </a:rPr>
                        <a:t>j=2</a:t>
                      </a:r>
                      <a:endParaRPr sz="1050">
                        <a:latin typeface="Arial MT"/>
                        <a:cs typeface="Arial MT"/>
                      </a:endParaRPr>
                    </a:p>
                  </a:txBody>
                  <a:tcPr marL="0" marR="0" marT="0" marB="0"/>
                </a:tc>
                <a:extLst>
                  <a:ext uri="{0D108BD9-81ED-4DB2-BD59-A6C34878D82A}">
                    <a16:rowId xmlns:a16="http://schemas.microsoft.com/office/drawing/2014/main" val="10003"/>
                  </a:ext>
                </a:extLst>
              </a:tr>
              <a:tr h="188773">
                <a:tc>
                  <a:txBody>
                    <a:bodyPr/>
                    <a:lstStyle/>
                    <a:p>
                      <a:pPr marL="51435">
                        <a:lnSpc>
                          <a:spcPts val="1225"/>
                        </a:lnSpc>
                      </a:pPr>
                      <a:r>
                        <a:rPr sz="1050" spc="10" dirty="0">
                          <a:latin typeface="Arial MT"/>
                          <a:cs typeface="Arial MT"/>
                        </a:rPr>
                        <a:t>i=3</a:t>
                      </a:r>
                      <a:r>
                        <a:rPr sz="1050" spc="-55" dirty="0">
                          <a:latin typeface="Arial MT"/>
                          <a:cs typeface="Arial MT"/>
                        </a:rPr>
                        <a:t> </a:t>
                      </a:r>
                      <a:r>
                        <a:rPr sz="1050" spc="10" dirty="0">
                          <a:latin typeface="Arial MT"/>
                          <a:cs typeface="Arial MT"/>
                        </a:rPr>
                        <a:t>j=0</a:t>
                      </a:r>
                      <a:endParaRPr sz="1050">
                        <a:latin typeface="Arial MT"/>
                        <a:cs typeface="Arial MT"/>
                      </a:endParaRPr>
                    </a:p>
                  </a:txBody>
                  <a:tcPr marL="0" marR="0" marT="0" marB="0">
                    <a:lnL w="6350">
                      <a:solidFill>
                        <a:srgbClr val="000000"/>
                      </a:solidFill>
                      <a:prstDash val="solid"/>
                    </a:lnL>
                  </a:tcPr>
                </a:tc>
                <a:tc>
                  <a:txBody>
                    <a:bodyPr/>
                    <a:lstStyle/>
                    <a:p>
                      <a:pPr marL="85090">
                        <a:lnSpc>
                          <a:spcPts val="1225"/>
                        </a:lnSpc>
                      </a:pPr>
                      <a:r>
                        <a:rPr sz="1050" spc="10" dirty="0">
                          <a:latin typeface="Arial MT"/>
                          <a:cs typeface="Arial MT"/>
                        </a:rPr>
                        <a:t>i=3</a:t>
                      </a:r>
                      <a:r>
                        <a:rPr sz="1050" spc="-55" dirty="0">
                          <a:latin typeface="Arial MT"/>
                          <a:cs typeface="Arial MT"/>
                        </a:rPr>
                        <a:t> </a:t>
                      </a:r>
                      <a:r>
                        <a:rPr sz="1050" spc="10" dirty="0">
                          <a:latin typeface="Arial MT"/>
                          <a:cs typeface="Arial MT"/>
                        </a:rPr>
                        <a:t>j=1</a:t>
                      </a:r>
                      <a:endParaRPr sz="1050">
                        <a:latin typeface="Arial MT"/>
                        <a:cs typeface="Arial MT"/>
                      </a:endParaRPr>
                    </a:p>
                  </a:txBody>
                  <a:tcPr marL="0" marR="0" marT="0" marB="0"/>
                </a:tc>
                <a:tc>
                  <a:txBody>
                    <a:bodyPr/>
                    <a:lstStyle/>
                    <a:p>
                      <a:pPr marR="24130" algn="r">
                        <a:lnSpc>
                          <a:spcPts val="1225"/>
                        </a:lnSpc>
                      </a:pPr>
                      <a:r>
                        <a:rPr sz="1050" spc="10" dirty="0">
                          <a:latin typeface="Arial MT"/>
                          <a:cs typeface="Arial MT"/>
                        </a:rPr>
                        <a:t>i=3</a:t>
                      </a:r>
                      <a:r>
                        <a:rPr sz="1050" spc="-50" dirty="0">
                          <a:latin typeface="Arial MT"/>
                          <a:cs typeface="Arial MT"/>
                        </a:rPr>
                        <a:t> </a:t>
                      </a:r>
                      <a:r>
                        <a:rPr sz="1050" spc="10" dirty="0">
                          <a:latin typeface="Arial MT"/>
                          <a:cs typeface="Arial MT"/>
                        </a:rPr>
                        <a:t>j=2</a:t>
                      </a:r>
                      <a:endParaRPr sz="1050">
                        <a:latin typeface="Arial MT"/>
                        <a:cs typeface="Arial MT"/>
                      </a:endParaRPr>
                    </a:p>
                  </a:txBody>
                  <a:tcPr marL="0" marR="0" marT="0" marB="0"/>
                </a:tc>
                <a:extLst>
                  <a:ext uri="{0D108BD9-81ED-4DB2-BD59-A6C34878D82A}">
                    <a16:rowId xmlns:a16="http://schemas.microsoft.com/office/drawing/2014/main" val="10004"/>
                  </a:ext>
                </a:extLst>
              </a:tr>
            </a:tbl>
          </a:graphicData>
        </a:graphic>
      </p:graphicFrame>
      <p:sp>
        <p:nvSpPr>
          <p:cNvPr id="12" name="object 12"/>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64664" y="750829"/>
            <a:ext cx="3829685" cy="1279525"/>
          </a:xfrm>
          <a:prstGeom prst="rect">
            <a:avLst/>
          </a:prstGeom>
        </p:spPr>
        <p:txBody>
          <a:bodyPr vert="horz" wrap="square" lIns="0" tIns="67310" rIns="0" bIns="0" rtlCol="0">
            <a:spAutoFit/>
          </a:bodyPr>
          <a:lstStyle/>
          <a:p>
            <a:pPr marL="207645" indent="-195580">
              <a:lnSpc>
                <a:spcPct val="100000"/>
              </a:lnSpc>
              <a:spcBef>
                <a:spcPts val="530"/>
              </a:spcBef>
              <a:buSzPct val="94117"/>
              <a:buFont typeface="Wingdings"/>
              <a:buChar char=""/>
              <a:tabLst>
                <a:tab pos="208279" algn="l"/>
              </a:tabLst>
            </a:pPr>
            <a:r>
              <a:rPr sz="1700" spc="20" dirty="0">
                <a:latin typeface="Arial MT"/>
                <a:cs typeface="Arial MT"/>
              </a:rPr>
              <a:t>J</a:t>
            </a:r>
            <a:r>
              <a:rPr sz="1700" spc="5" dirty="0">
                <a:latin typeface="Arial MT"/>
                <a:cs typeface="Arial MT"/>
              </a:rPr>
              <a:t>a</a:t>
            </a:r>
            <a:r>
              <a:rPr sz="1700" spc="60" dirty="0">
                <a:latin typeface="Arial MT"/>
                <a:cs typeface="Arial MT"/>
              </a:rPr>
              <a:t>v</a:t>
            </a:r>
            <a:r>
              <a:rPr sz="1700" spc="10" dirty="0">
                <a:latin typeface="Arial MT"/>
                <a:cs typeface="Arial MT"/>
              </a:rPr>
              <a:t>a</a:t>
            </a:r>
            <a:r>
              <a:rPr sz="1700" spc="-65" dirty="0">
                <a:latin typeface="Times New Roman"/>
                <a:cs typeface="Times New Roman"/>
              </a:rPr>
              <a:t> </a:t>
            </a:r>
            <a:r>
              <a:rPr sz="1700" spc="20" dirty="0">
                <a:latin typeface="Arial MT"/>
                <a:cs typeface="Arial MT"/>
              </a:rPr>
              <a:t>s</a:t>
            </a:r>
            <a:r>
              <a:rPr sz="1700" spc="5" dirty="0">
                <a:latin typeface="Arial MT"/>
                <a:cs typeface="Arial MT"/>
              </a:rPr>
              <a:t>up</a:t>
            </a:r>
            <a:r>
              <a:rPr sz="1700" spc="10" dirty="0">
                <a:latin typeface="Arial MT"/>
                <a:cs typeface="Arial MT"/>
              </a:rPr>
              <a:t>p</a:t>
            </a:r>
            <a:r>
              <a:rPr sz="1700" spc="5" dirty="0">
                <a:latin typeface="Arial MT"/>
                <a:cs typeface="Arial MT"/>
              </a:rPr>
              <a:t>o</a:t>
            </a:r>
            <a:r>
              <a:rPr sz="1700" spc="-10" dirty="0">
                <a:latin typeface="Arial MT"/>
                <a:cs typeface="Arial MT"/>
              </a:rPr>
              <a:t>r</a:t>
            </a:r>
            <a:r>
              <a:rPr sz="1700" spc="5" dirty="0">
                <a:latin typeface="Arial MT"/>
                <a:cs typeface="Arial MT"/>
              </a:rPr>
              <a:t>ts</a:t>
            </a:r>
            <a:r>
              <a:rPr sz="1700" spc="-50" dirty="0">
                <a:latin typeface="Times New Roman"/>
                <a:cs typeface="Times New Roman"/>
              </a:rPr>
              <a:t> </a:t>
            </a:r>
            <a:r>
              <a:rPr sz="1700" spc="5" dirty="0">
                <a:latin typeface="Arial MT"/>
                <a:cs typeface="Arial MT"/>
              </a:rPr>
              <a:t>th</a:t>
            </a:r>
            <a:r>
              <a:rPr sz="1700" spc="-5" dirty="0">
                <a:latin typeface="Arial MT"/>
                <a:cs typeface="Arial MT"/>
              </a:rPr>
              <a:t>r</a:t>
            </a:r>
            <a:r>
              <a:rPr sz="1700" spc="5" dirty="0">
                <a:latin typeface="Arial MT"/>
                <a:cs typeface="Arial MT"/>
              </a:rPr>
              <a:t>e</a:t>
            </a:r>
            <a:r>
              <a:rPr sz="1700" spc="10" dirty="0">
                <a:latin typeface="Arial MT"/>
                <a:cs typeface="Arial MT"/>
              </a:rPr>
              <a:t>e</a:t>
            </a:r>
            <a:r>
              <a:rPr sz="1700" spc="15" dirty="0">
                <a:latin typeface="Times New Roman"/>
                <a:cs typeface="Times New Roman"/>
              </a:rPr>
              <a:t> </a:t>
            </a:r>
            <a:r>
              <a:rPr sz="1700" spc="15" dirty="0">
                <a:latin typeface="Arial MT"/>
                <a:cs typeface="Arial MT"/>
              </a:rPr>
              <a:t>j</a:t>
            </a:r>
            <a:r>
              <a:rPr sz="1700" spc="5" dirty="0">
                <a:latin typeface="Arial MT"/>
                <a:cs typeface="Arial MT"/>
              </a:rPr>
              <a:t>u</a:t>
            </a:r>
            <a:r>
              <a:rPr sz="1700" spc="20" dirty="0">
                <a:latin typeface="Arial MT"/>
                <a:cs typeface="Arial MT"/>
              </a:rPr>
              <a:t>m</a:t>
            </a:r>
            <a:r>
              <a:rPr sz="1700" spc="10" dirty="0">
                <a:latin typeface="Arial MT"/>
                <a:cs typeface="Arial MT"/>
              </a:rPr>
              <a:t>p</a:t>
            </a:r>
            <a:r>
              <a:rPr sz="1700" spc="-30" dirty="0">
                <a:latin typeface="Times New Roman"/>
                <a:cs typeface="Times New Roman"/>
              </a:rPr>
              <a:t> </a:t>
            </a:r>
            <a:r>
              <a:rPr sz="1700" spc="20" dirty="0">
                <a:latin typeface="Arial MT"/>
                <a:cs typeface="Arial MT"/>
              </a:rPr>
              <a:t>s</a:t>
            </a:r>
            <a:r>
              <a:rPr sz="1700" spc="5" dirty="0">
                <a:latin typeface="Arial MT"/>
                <a:cs typeface="Arial MT"/>
              </a:rPr>
              <a:t>tat</a:t>
            </a:r>
            <a:r>
              <a:rPr sz="1700" spc="15" dirty="0">
                <a:latin typeface="Arial MT"/>
                <a:cs typeface="Arial MT"/>
              </a:rPr>
              <a:t>em</a:t>
            </a:r>
            <a:r>
              <a:rPr sz="1700" spc="5" dirty="0">
                <a:latin typeface="Arial MT"/>
                <a:cs typeface="Arial MT"/>
              </a:rPr>
              <a:t>ent</a:t>
            </a:r>
            <a:r>
              <a:rPr sz="1700" spc="-20" dirty="0">
                <a:latin typeface="Arial MT"/>
                <a:cs typeface="Arial MT"/>
              </a:rPr>
              <a:t>s</a:t>
            </a:r>
            <a:r>
              <a:rPr sz="1700" spc="5" dirty="0">
                <a:latin typeface="Arial MT"/>
                <a:cs typeface="Arial MT"/>
              </a:rPr>
              <a:t>:</a:t>
            </a:r>
            <a:endParaRPr sz="1700">
              <a:latin typeface="Arial MT"/>
              <a:cs typeface="Arial MT"/>
            </a:endParaRPr>
          </a:p>
          <a:p>
            <a:pPr marL="194945" indent="-182880">
              <a:lnSpc>
                <a:spcPct val="100000"/>
              </a:lnSpc>
              <a:spcBef>
                <a:spcPts val="440"/>
              </a:spcBef>
              <a:buSzPct val="94117"/>
              <a:buFont typeface="Wingdings"/>
              <a:buChar char=""/>
              <a:tabLst>
                <a:tab pos="195580" algn="l"/>
              </a:tabLst>
            </a:pPr>
            <a:r>
              <a:rPr sz="1700" b="1" spc="5" dirty="0">
                <a:latin typeface="Arial"/>
                <a:cs typeface="Arial"/>
              </a:rPr>
              <a:t>break</a:t>
            </a:r>
            <a:endParaRPr sz="1700">
              <a:latin typeface="Arial"/>
              <a:cs typeface="Arial"/>
            </a:endParaRPr>
          </a:p>
          <a:p>
            <a:pPr marL="194945" indent="-182880">
              <a:lnSpc>
                <a:spcPct val="100000"/>
              </a:lnSpc>
              <a:spcBef>
                <a:spcPts val="400"/>
              </a:spcBef>
              <a:buSzPct val="94117"/>
              <a:buFont typeface="Wingdings"/>
              <a:buChar char=""/>
              <a:tabLst>
                <a:tab pos="195580" algn="l"/>
              </a:tabLst>
            </a:pPr>
            <a:r>
              <a:rPr sz="1700" b="1" spc="-5" dirty="0">
                <a:latin typeface="Arial"/>
                <a:cs typeface="Arial"/>
              </a:rPr>
              <a:t>continue</a:t>
            </a:r>
            <a:endParaRPr sz="1700">
              <a:latin typeface="Arial"/>
              <a:cs typeface="Arial"/>
            </a:endParaRPr>
          </a:p>
          <a:p>
            <a:pPr marL="194945" indent="-182880">
              <a:lnSpc>
                <a:spcPct val="100000"/>
              </a:lnSpc>
              <a:spcBef>
                <a:spcPts val="434"/>
              </a:spcBef>
              <a:buSzPct val="94117"/>
              <a:buFont typeface="Wingdings"/>
              <a:buChar char=""/>
              <a:tabLst>
                <a:tab pos="195580" algn="l"/>
              </a:tabLst>
            </a:pPr>
            <a:r>
              <a:rPr sz="1700" b="1" dirty="0">
                <a:latin typeface="Arial"/>
                <a:cs typeface="Arial"/>
              </a:rPr>
              <a:t>return</a:t>
            </a:r>
            <a:endParaRPr sz="1700">
              <a:latin typeface="Arial"/>
              <a:cs typeface="Arial"/>
            </a:endParaRPr>
          </a:p>
        </p:txBody>
      </p:sp>
      <p:sp>
        <p:nvSpPr>
          <p:cNvPr id="5" name="object 5"/>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
        <p:nvSpPr>
          <p:cNvPr id="7" name="Title 6">
            <a:extLst>
              <a:ext uri="{FF2B5EF4-FFF2-40B4-BE49-F238E27FC236}">
                <a16:creationId xmlns:a16="http://schemas.microsoft.com/office/drawing/2014/main" id="{616B1191-FC55-CB16-3C23-8A747003C5D5}"/>
              </a:ext>
            </a:extLst>
          </p:cNvPr>
          <p:cNvSpPr>
            <a:spLocks noGrp="1"/>
          </p:cNvSpPr>
          <p:nvPr>
            <p:ph type="title"/>
          </p:nvPr>
        </p:nvSpPr>
        <p:spPr>
          <a:xfrm>
            <a:off x="396240" y="268881"/>
            <a:ext cx="5738179" cy="292388"/>
          </a:xfrm>
        </p:spPr>
        <p:txBody>
          <a:bodyPr/>
          <a:lstStyle/>
          <a:p>
            <a:pPr algn="ctr"/>
            <a:r>
              <a:rPr lang="en-US" dirty="0">
                <a:solidFill>
                  <a:schemeClr val="tx1"/>
                </a:solidFill>
              </a:rPr>
              <a:t>Jump Statements</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a:spLocks noGrp="1"/>
          </p:cNvSpPr>
          <p:nvPr>
            <p:ph type="title"/>
          </p:nvPr>
        </p:nvSpPr>
        <p:spPr>
          <a:xfrm>
            <a:off x="1574800" y="726272"/>
            <a:ext cx="2133600" cy="307134"/>
          </a:xfrm>
          <a:prstGeom prst="rect">
            <a:avLst/>
          </a:prstGeom>
        </p:spPr>
        <p:txBody>
          <a:bodyPr vert="horz" wrap="square" lIns="0" tIns="14604" rIns="0" bIns="0" rtlCol="0">
            <a:spAutoFit/>
          </a:bodyPr>
          <a:lstStyle/>
          <a:p>
            <a:pPr marL="12700">
              <a:lnSpc>
                <a:spcPct val="100000"/>
              </a:lnSpc>
              <a:spcBef>
                <a:spcPts val="114"/>
              </a:spcBef>
            </a:pPr>
            <a:r>
              <a:rPr spc="10" dirty="0">
                <a:solidFill>
                  <a:schemeClr val="tx1"/>
                </a:solidFill>
              </a:rPr>
              <a:t>break</a:t>
            </a:r>
            <a:r>
              <a:rPr spc="-110" dirty="0">
                <a:solidFill>
                  <a:schemeClr val="tx1"/>
                </a:solidFill>
              </a:rPr>
              <a:t> </a:t>
            </a:r>
            <a:r>
              <a:rPr spc="5" dirty="0">
                <a:solidFill>
                  <a:schemeClr val="tx1"/>
                </a:solidFill>
              </a:rPr>
              <a:t>statement</a:t>
            </a:r>
          </a:p>
        </p:txBody>
      </p:sp>
      <p:sp>
        <p:nvSpPr>
          <p:cNvPr id="4" name="object 4"/>
          <p:cNvSpPr txBox="1"/>
          <p:nvPr/>
        </p:nvSpPr>
        <p:spPr>
          <a:xfrm>
            <a:off x="364664" y="1208221"/>
            <a:ext cx="5263515" cy="1537970"/>
          </a:xfrm>
          <a:prstGeom prst="rect">
            <a:avLst/>
          </a:prstGeom>
        </p:spPr>
        <p:txBody>
          <a:bodyPr vert="horz" wrap="square" lIns="0" tIns="67310" rIns="0" bIns="0" rtlCol="0">
            <a:spAutoFit/>
          </a:bodyPr>
          <a:lstStyle/>
          <a:p>
            <a:pPr marL="194945" indent="-182880">
              <a:lnSpc>
                <a:spcPct val="100000"/>
              </a:lnSpc>
              <a:spcBef>
                <a:spcPts val="530"/>
              </a:spcBef>
              <a:buChar char="•"/>
              <a:tabLst>
                <a:tab pos="195580" algn="l"/>
              </a:tabLst>
            </a:pPr>
            <a:r>
              <a:rPr sz="1700" dirty="0">
                <a:latin typeface="Arial MT"/>
                <a:cs typeface="Arial MT"/>
              </a:rPr>
              <a:t>Three</a:t>
            </a:r>
            <a:r>
              <a:rPr sz="1700" spc="-70" dirty="0">
                <a:latin typeface="Arial MT"/>
                <a:cs typeface="Arial MT"/>
              </a:rPr>
              <a:t> </a:t>
            </a:r>
            <a:r>
              <a:rPr sz="1700" spc="10" dirty="0">
                <a:latin typeface="Arial MT"/>
                <a:cs typeface="Arial MT"/>
              </a:rPr>
              <a:t>uses.</a:t>
            </a:r>
            <a:endParaRPr sz="1700" dirty="0">
              <a:latin typeface="Arial MT"/>
              <a:cs typeface="Arial MT"/>
            </a:endParaRPr>
          </a:p>
          <a:p>
            <a:pPr marL="194945" marR="5080" indent="-182880">
              <a:lnSpc>
                <a:spcPct val="100000"/>
              </a:lnSpc>
              <a:spcBef>
                <a:spcPts val="440"/>
              </a:spcBef>
              <a:buSzPct val="94117"/>
              <a:buFont typeface="Wingdings"/>
              <a:buChar char=""/>
              <a:tabLst>
                <a:tab pos="195580" algn="l"/>
              </a:tabLst>
            </a:pPr>
            <a:r>
              <a:rPr sz="1700" spc="5" dirty="0">
                <a:latin typeface="Arial MT"/>
                <a:cs typeface="Arial MT"/>
              </a:rPr>
              <a:t>First </a:t>
            </a:r>
            <a:r>
              <a:rPr sz="1700" spc="10" dirty="0">
                <a:latin typeface="Arial MT"/>
                <a:cs typeface="Arial MT"/>
              </a:rPr>
              <a:t>it </a:t>
            </a:r>
            <a:r>
              <a:rPr sz="1700" b="1" dirty="0">
                <a:latin typeface="Arial"/>
                <a:cs typeface="Arial"/>
              </a:rPr>
              <a:t>terminates </a:t>
            </a:r>
            <a:r>
              <a:rPr sz="1700" spc="10" dirty="0">
                <a:latin typeface="Arial MT"/>
                <a:cs typeface="Arial MT"/>
              </a:rPr>
              <a:t>a statement sequence in a </a:t>
            </a:r>
            <a:r>
              <a:rPr sz="1700" dirty="0">
                <a:uFill>
                  <a:solidFill>
                    <a:srgbClr val="000000"/>
                  </a:solidFill>
                </a:uFill>
                <a:latin typeface="Arial MT"/>
                <a:cs typeface="Arial MT"/>
              </a:rPr>
              <a:t>switch </a:t>
            </a:r>
            <a:r>
              <a:rPr sz="1700" spc="-459" dirty="0">
                <a:latin typeface="Arial MT"/>
                <a:cs typeface="Arial MT"/>
              </a:rPr>
              <a:t> </a:t>
            </a:r>
            <a:r>
              <a:rPr sz="1700" spc="10" dirty="0">
                <a:uFill>
                  <a:solidFill>
                    <a:srgbClr val="000000"/>
                  </a:solidFill>
                </a:uFill>
                <a:latin typeface="Arial MT"/>
                <a:cs typeface="Arial MT"/>
              </a:rPr>
              <a:t>statement</a:t>
            </a:r>
            <a:r>
              <a:rPr sz="1700" spc="10" dirty="0">
                <a:latin typeface="Arial MT"/>
                <a:cs typeface="Arial MT"/>
              </a:rPr>
              <a:t>.</a:t>
            </a:r>
            <a:endParaRPr sz="1700" dirty="0">
              <a:latin typeface="Arial MT"/>
              <a:cs typeface="Arial MT"/>
            </a:endParaRPr>
          </a:p>
          <a:p>
            <a:pPr marL="194945" indent="-182880">
              <a:lnSpc>
                <a:spcPct val="100000"/>
              </a:lnSpc>
              <a:spcBef>
                <a:spcPts val="434"/>
              </a:spcBef>
              <a:buSzPct val="94117"/>
              <a:buFont typeface="Wingdings"/>
              <a:buChar char=""/>
              <a:tabLst>
                <a:tab pos="195580" algn="l"/>
              </a:tabLst>
            </a:pPr>
            <a:r>
              <a:rPr sz="1700" spc="10" dirty="0">
                <a:latin typeface="Arial MT"/>
                <a:cs typeface="Arial MT"/>
              </a:rPr>
              <a:t>Second,</a:t>
            </a:r>
            <a:r>
              <a:rPr sz="1700" spc="-120" dirty="0">
                <a:latin typeface="Arial MT"/>
                <a:cs typeface="Arial MT"/>
              </a:rPr>
              <a:t> </a:t>
            </a:r>
            <a:r>
              <a:rPr sz="1700" spc="10" dirty="0">
                <a:latin typeface="Arial MT"/>
                <a:cs typeface="Arial MT"/>
              </a:rPr>
              <a:t>it</a:t>
            </a:r>
            <a:r>
              <a:rPr sz="1700" spc="-40" dirty="0">
                <a:latin typeface="Arial MT"/>
                <a:cs typeface="Arial MT"/>
              </a:rPr>
              <a:t> </a:t>
            </a:r>
            <a:r>
              <a:rPr sz="1700" spc="10" dirty="0">
                <a:latin typeface="Arial MT"/>
                <a:cs typeface="Arial MT"/>
              </a:rPr>
              <a:t>can</a:t>
            </a:r>
            <a:r>
              <a:rPr sz="1700" spc="-35" dirty="0">
                <a:latin typeface="Arial MT"/>
                <a:cs typeface="Arial MT"/>
              </a:rPr>
              <a:t> </a:t>
            </a:r>
            <a:r>
              <a:rPr sz="1700" spc="5" dirty="0">
                <a:latin typeface="Arial MT"/>
                <a:cs typeface="Arial MT"/>
              </a:rPr>
              <a:t>be</a:t>
            </a:r>
            <a:r>
              <a:rPr sz="1700" spc="-40" dirty="0">
                <a:latin typeface="Arial MT"/>
                <a:cs typeface="Arial MT"/>
              </a:rPr>
              <a:t> </a:t>
            </a:r>
            <a:r>
              <a:rPr sz="1700" spc="10" dirty="0">
                <a:latin typeface="Arial MT"/>
                <a:cs typeface="Arial MT"/>
              </a:rPr>
              <a:t>used</a:t>
            </a:r>
            <a:r>
              <a:rPr sz="1700" spc="-80" dirty="0">
                <a:latin typeface="Arial MT"/>
                <a:cs typeface="Arial MT"/>
              </a:rPr>
              <a:t> </a:t>
            </a:r>
            <a:r>
              <a:rPr sz="1700" spc="5" dirty="0">
                <a:latin typeface="Arial MT"/>
                <a:cs typeface="Arial MT"/>
              </a:rPr>
              <a:t>to</a:t>
            </a:r>
            <a:r>
              <a:rPr sz="1700" spc="-15" dirty="0">
                <a:latin typeface="Arial MT"/>
                <a:cs typeface="Arial MT"/>
              </a:rPr>
              <a:t> </a:t>
            </a:r>
            <a:r>
              <a:rPr sz="1700" b="1" spc="5" dirty="0">
                <a:latin typeface="Arial"/>
                <a:cs typeface="Arial"/>
              </a:rPr>
              <a:t>exit</a:t>
            </a:r>
            <a:r>
              <a:rPr sz="1700" b="1" spc="-5" dirty="0">
                <a:latin typeface="Arial"/>
                <a:cs typeface="Arial"/>
              </a:rPr>
              <a:t> </a:t>
            </a:r>
            <a:r>
              <a:rPr sz="1700" spc="10" dirty="0">
                <a:latin typeface="Arial MT"/>
                <a:cs typeface="Arial MT"/>
              </a:rPr>
              <a:t>a</a:t>
            </a:r>
            <a:r>
              <a:rPr sz="1700" spc="-40" dirty="0">
                <a:latin typeface="Arial MT"/>
                <a:cs typeface="Arial MT"/>
              </a:rPr>
              <a:t> </a:t>
            </a:r>
            <a:r>
              <a:rPr sz="1700" spc="10" dirty="0">
                <a:uFill>
                  <a:solidFill>
                    <a:srgbClr val="000000"/>
                  </a:solidFill>
                </a:uFill>
                <a:latin typeface="Arial MT"/>
                <a:cs typeface="Arial MT"/>
              </a:rPr>
              <a:t>loop</a:t>
            </a:r>
            <a:r>
              <a:rPr sz="1700" spc="10" dirty="0">
                <a:latin typeface="Arial MT"/>
                <a:cs typeface="Arial MT"/>
              </a:rPr>
              <a:t>.</a:t>
            </a:r>
            <a:endParaRPr sz="1700" dirty="0">
              <a:latin typeface="Arial MT"/>
              <a:cs typeface="Arial MT"/>
            </a:endParaRPr>
          </a:p>
          <a:p>
            <a:pPr marL="194945" indent="-182880">
              <a:lnSpc>
                <a:spcPct val="100000"/>
              </a:lnSpc>
              <a:spcBef>
                <a:spcPts val="400"/>
              </a:spcBef>
              <a:buSzPct val="94117"/>
              <a:buFont typeface="Wingdings"/>
              <a:buChar char=""/>
              <a:tabLst>
                <a:tab pos="195580" algn="l"/>
              </a:tabLst>
            </a:pPr>
            <a:r>
              <a:rPr sz="1700" dirty="0">
                <a:latin typeface="Arial MT"/>
                <a:cs typeface="Arial MT"/>
              </a:rPr>
              <a:t>Third,</a:t>
            </a:r>
            <a:r>
              <a:rPr sz="1700" spc="-35" dirty="0">
                <a:latin typeface="Arial MT"/>
                <a:cs typeface="Arial MT"/>
              </a:rPr>
              <a:t> </a:t>
            </a:r>
            <a:r>
              <a:rPr sz="1700" spc="10" dirty="0">
                <a:latin typeface="Arial MT"/>
                <a:cs typeface="Arial MT"/>
              </a:rPr>
              <a:t>it</a:t>
            </a:r>
            <a:r>
              <a:rPr sz="1700" spc="-35" dirty="0">
                <a:latin typeface="Arial MT"/>
                <a:cs typeface="Arial MT"/>
              </a:rPr>
              <a:t> </a:t>
            </a:r>
            <a:r>
              <a:rPr sz="1700" spc="10" dirty="0">
                <a:latin typeface="Arial MT"/>
                <a:cs typeface="Arial MT"/>
              </a:rPr>
              <a:t>can</a:t>
            </a:r>
            <a:r>
              <a:rPr sz="1700" spc="-70" dirty="0">
                <a:latin typeface="Arial MT"/>
                <a:cs typeface="Arial MT"/>
              </a:rPr>
              <a:t> </a:t>
            </a:r>
            <a:r>
              <a:rPr sz="1700" spc="5" dirty="0">
                <a:latin typeface="Arial MT"/>
                <a:cs typeface="Arial MT"/>
              </a:rPr>
              <a:t>be</a:t>
            </a:r>
            <a:r>
              <a:rPr sz="1700" spc="-25" dirty="0">
                <a:latin typeface="Arial MT"/>
                <a:cs typeface="Arial MT"/>
              </a:rPr>
              <a:t> </a:t>
            </a:r>
            <a:r>
              <a:rPr sz="1700" spc="10" dirty="0">
                <a:latin typeface="Arial MT"/>
                <a:cs typeface="Arial MT"/>
              </a:rPr>
              <a:t>used</a:t>
            </a:r>
            <a:r>
              <a:rPr sz="1700" spc="-30" dirty="0">
                <a:latin typeface="Arial MT"/>
                <a:cs typeface="Arial MT"/>
              </a:rPr>
              <a:t> </a:t>
            </a:r>
            <a:r>
              <a:rPr sz="1700" spc="5" dirty="0">
                <a:latin typeface="Arial MT"/>
                <a:cs typeface="Arial MT"/>
              </a:rPr>
              <a:t>as</a:t>
            </a:r>
            <a:r>
              <a:rPr sz="1700" spc="-55" dirty="0">
                <a:latin typeface="Arial MT"/>
                <a:cs typeface="Arial MT"/>
              </a:rPr>
              <a:t> </a:t>
            </a:r>
            <a:r>
              <a:rPr sz="1700" spc="10" dirty="0">
                <a:latin typeface="Arial MT"/>
                <a:cs typeface="Arial MT"/>
              </a:rPr>
              <a:t>a</a:t>
            </a:r>
            <a:r>
              <a:rPr sz="1700" dirty="0">
                <a:latin typeface="Arial MT"/>
                <a:cs typeface="Arial MT"/>
              </a:rPr>
              <a:t> </a:t>
            </a:r>
            <a:r>
              <a:rPr sz="1700" spc="5" dirty="0">
                <a:latin typeface="Arial MT"/>
                <a:cs typeface="Arial MT"/>
              </a:rPr>
              <a:t>“civilized”</a:t>
            </a:r>
            <a:r>
              <a:rPr sz="1700" spc="-125" dirty="0">
                <a:latin typeface="Arial MT"/>
                <a:cs typeface="Arial MT"/>
              </a:rPr>
              <a:t> </a:t>
            </a:r>
            <a:r>
              <a:rPr sz="1700" spc="10" dirty="0">
                <a:latin typeface="Arial MT"/>
                <a:cs typeface="Arial MT"/>
              </a:rPr>
              <a:t>form</a:t>
            </a:r>
            <a:r>
              <a:rPr sz="1700" spc="-70" dirty="0">
                <a:latin typeface="Arial MT"/>
                <a:cs typeface="Arial MT"/>
              </a:rPr>
              <a:t> </a:t>
            </a:r>
            <a:r>
              <a:rPr sz="1700" spc="5" dirty="0">
                <a:latin typeface="Arial MT"/>
                <a:cs typeface="Arial MT"/>
              </a:rPr>
              <a:t>of </a:t>
            </a:r>
            <a:r>
              <a:rPr sz="1700" dirty="0">
                <a:latin typeface="Arial MT"/>
                <a:cs typeface="Arial MT"/>
              </a:rPr>
              <a:t>goto.</a:t>
            </a:r>
          </a:p>
        </p:txBody>
      </p:sp>
      <p:sp>
        <p:nvSpPr>
          <p:cNvPr id="6" name="object 6"/>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12065" rIns="0" bIns="0" rtlCol="0">
            <a:spAutoFit/>
          </a:bodyPr>
          <a:lstStyle/>
          <a:p>
            <a:pPr marL="12700" marR="780415">
              <a:lnSpc>
                <a:spcPct val="124000"/>
              </a:lnSpc>
              <a:spcBef>
                <a:spcPts val="95"/>
              </a:spcBef>
            </a:pPr>
            <a:r>
              <a:rPr dirty="0"/>
              <a:t>// Using break to </a:t>
            </a:r>
            <a:r>
              <a:rPr spc="-25" dirty="0"/>
              <a:t>exit</a:t>
            </a:r>
            <a:r>
              <a:rPr spc="-20" dirty="0"/>
              <a:t> </a:t>
            </a:r>
            <a:r>
              <a:rPr spc="15" dirty="0"/>
              <a:t>a </a:t>
            </a:r>
            <a:r>
              <a:rPr spc="5" dirty="0"/>
              <a:t>loop. </a:t>
            </a:r>
            <a:r>
              <a:rPr spc="-390" dirty="0"/>
              <a:t> </a:t>
            </a:r>
            <a:r>
              <a:rPr spc="-5" dirty="0"/>
              <a:t>class</a:t>
            </a:r>
            <a:r>
              <a:rPr spc="85" dirty="0"/>
              <a:t> </a:t>
            </a:r>
            <a:r>
              <a:rPr spc="10" dirty="0"/>
              <a:t>BreakLoop</a:t>
            </a:r>
            <a:r>
              <a:rPr spc="80" dirty="0"/>
              <a:t> </a:t>
            </a:r>
            <a:r>
              <a:rPr spc="5" dirty="0"/>
              <a:t>{</a:t>
            </a:r>
          </a:p>
          <a:p>
            <a:pPr marL="255904" marR="5080" indent="-243840">
              <a:lnSpc>
                <a:spcPct val="124000"/>
              </a:lnSpc>
            </a:pPr>
            <a:r>
              <a:rPr dirty="0"/>
              <a:t>public </a:t>
            </a:r>
            <a:r>
              <a:rPr spc="-15" dirty="0"/>
              <a:t>static</a:t>
            </a:r>
            <a:r>
              <a:rPr spc="-10" dirty="0"/>
              <a:t> </a:t>
            </a:r>
            <a:r>
              <a:rPr spc="-15" dirty="0"/>
              <a:t>void </a:t>
            </a:r>
            <a:r>
              <a:rPr dirty="0"/>
              <a:t>main(String</a:t>
            </a:r>
            <a:r>
              <a:rPr spc="5" dirty="0"/>
              <a:t> </a:t>
            </a:r>
            <a:r>
              <a:rPr spc="-5" dirty="0"/>
              <a:t>args[]) </a:t>
            </a:r>
            <a:r>
              <a:rPr spc="5" dirty="0"/>
              <a:t>{ </a:t>
            </a:r>
            <a:r>
              <a:rPr spc="-390" dirty="0"/>
              <a:t> </a:t>
            </a:r>
            <a:r>
              <a:rPr dirty="0"/>
              <a:t>for(int</a:t>
            </a:r>
            <a:r>
              <a:rPr spc="95" dirty="0"/>
              <a:t> </a:t>
            </a:r>
            <a:r>
              <a:rPr dirty="0"/>
              <a:t>i=0;</a:t>
            </a:r>
            <a:r>
              <a:rPr spc="55" dirty="0"/>
              <a:t> </a:t>
            </a:r>
            <a:r>
              <a:rPr dirty="0"/>
              <a:t>i&lt;6;</a:t>
            </a:r>
            <a:r>
              <a:rPr spc="20" dirty="0"/>
              <a:t> </a:t>
            </a:r>
            <a:r>
              <a:rPr spc="5" dirty="0"/>
              <a:t>i++)</a:t>
            </a:r>
          </a:p>
        </p:txBody>
      </p:sp>
      <p:sp>
        <p:nvSpPr>
          <p:cNvPr id="3" name="object 3"/>
          <p:cNvSpPr txBox="1"/>
          <p:nvPr/>
        </p:nvSpPr>
        <p:spPr>
          <a:xfrm>
            <a:off x="364664" y="1851191"/>
            <a:ext cx="3373754" cy="1938655"/>
          </a:xfrm>
          <a:prstGeom prst="rect">
            <a:avLst/>
          </a:prstGeom>
        </p:spPr>
        <p:txBody>
          <a:bodyPr vert="horz" wrap="square" lIns="0" tIns="64769" rIns="0" bIns="0" rtlCol="0">
            <a:spAutoFit/>
          </a:bodyPr>
          <a:lstStyle/>
          <a:p>
            <a:pPr marL="255904">
              <a:lnSpc>
                <a:spcPct val="100000"/>
              </a:lnSpc>
              <a:spcBef>
                <a:spcPts val="509"/>
              </a:spcBef>
            </a:pPr>
            <a:r>
              <a:rPr sz="1450" spc="5" dirty="0">
                <a:latin typeface="Arial MT"/>
                <a:cs typeface="Arial MT"/>
              </a:rPr>
              <a:t>{</a:t>
            </a:r>
            <a:r>
              <a:rPr sz="1450" spc="270" dirty="0">
                <a:latin typeface="Arial MT"/>
                <a:cs typeface="Arial MT"/>
              </a:rPr>
              <a:t> </a:t>
            </a:r>
            <a:r>
              <a:rPr sz="1450" spc="-15" dirty="0">
                <a:latin typeface="Arial MT"/>
                <a:cs typeface="Arial MT"/>
              </a:rPr>
              <a:t>if(i</a:t>
            </a:r>
            <a:r>
              <a:rPr sz="1450" spc="85" dirty="0">
                <a:latin typeface="Arial MT"/>
                <a:cs typeface="Arial MT"/>
              </a:rPr>
              <a:t> </a:t>
            </a:r>
            <a:r>
              <a:rPr sz="1450" spc="20" dirty="0">
                <a:latin typeface="Arial MT"/>
                <a:cs typeface="Arial MT"/>
              </a:rPr>
              <a:t>==</a:t>
            </a:r>
            <a:r>
              <a:rPr sz="1450" spc="-10" dirty="0">
                <a:latin typeface="Arial MT"/>
                <a:cs typeface="Arial MT"/>
              </a:rPr>
              <a:t> </a:t>
            </a:r>
            <a:r>
              <a:rPr sz="1450" spc="15" dirty="0">
                <a:latin typeface="Arial MT"/>
                <a:cs typeface="Arial MT"/>
              </a:rPr>
              <a:t>3)</a:t>
            </a:r>
            <a:endParaRPr sz="1450">
              <a:latin typeface="Arial MT"/>
              <a:cs typeface="Arial MT"/>
            </a:endParaRPr>
          </a:p>
          <a:p>
            <a:pPr marL="671830">
              <a:lnSpc>
                <a:spcPct val="100000"/>
              </a:lnSpc>
              <a:spcBef>
                <a:spcPts val="420"/>
              </a:spcBef>
            </a:pPr>
            <a:r>
              <a:rPr sz="1450" spc="5" dirty="0">
                <a:solidFill>
                  <a:srgbClr val="C00000"/>
                </a:solidFill>
                <a:latin typeface="Arial MT"/>
                <a:cs typeface="Arial MT"/>
              </a:rPr>
              <a:t>break</a:t>
            </a:r>
            <a:r>
              <a:rPr sz="1450" spc="5" dirty="0">
                <a:latin typeface="Arial MT"/>
                <a:cs typeface="Arial MT"/>
              </a:rPr>
              <a:t>;</a:t>
            </a:r>
            <a:r>
              <a:rPr sz="1450" spc="50" dirty="0">
                <a:latin typeface="Arial MT"/>
                <a:cs typeface="Arial MT"/>
              </a:rPr>
              <a:t> </a:t>
            </a:r>
            <a:r>
              <a:rPr sz="1450" i="1" dirty="0">
                <a:latin typeface="Arial"/>
                <a:cs typeface="Arial"/>
              </a:rPr>
              <a:t>//</a:t>
            </a:r>
            <a:r>
              <a:rPr sz="1450" i="1" spc="10" dirty="0">
                <a:latin typeface="Arial"/>
                <a:cs typeface="Arial"/>
              </a:rPr>
              <a:t> </a:t>
            </a:r>
            <a:r>
              <a:rPr sz="1450" i="1" spc="5" dirty="0">
                <a:latin typeface="Arial"/>
                <a:cs typeface="Arial"/>
              </a:rPr>
              <a:t>terminate</a:t>
            </a:r>
            <a:r>
              <a:rPr sz="1450" i="1" spc="75" dirty="0">
                <a:latin typeface="Arial"/>
                <a:cs typeface="Arial"/>
              </a:rPr>
              <a:t> </a:t>
            </a:r>
            <a:r>
              <a:rPr sz="1450" i="1" spc="15" dirty="0">
                <a:latin typeface="Arial"/>
                <a:cs typeface="Arial"/>
              </a:rPr>
              <a:t>loop</a:t>
            </a:r>
            <a:r>
              <a:rPr sz="1450" i="1" dirty="0">
                <a:latin typeface="Arial"/>
                <a:cs typeface="Arial"/>
              </a:rPr>
              <a:t> if</a:t>
            </a:r>
            <a:r>
              <a:rPr sz="1450" i="1" spc="15" dirty="0">
                <a:latin typeface="Arial"/>
                <a:cs typeface="Arial"/>
              </a:rPr>
              <a:t> </a:t>
            </a:r>
            <a:r>
              <a:rPr sz="1450" i="1" spc="5" dirty="0">
                <a:latin typeface="Arial"/>
                <a:cs typeface="Arial"/>
              </a:rPr>
              <a:t>i</a:t>
            </a:r>
            <a:r>
              <a:rPr sz="1450" i="1" spc="15" dirty="0">
                <a:latin typeface="Arial"/>
                <a:cs typeface="Arial"/>
              </a:rPr>
              <a:t> </a:t>
            </a:r>
            <a:r>
              <a:rPr sz="1450" i="1" spc="5" dirty="0">
                <a:latin typeface="Arial"/>
                <a:cs typeface="Arial"/>
              </a:rPr>
              <a:t>is</a:t>
            </a:r>
            <a:r>
              <a:rPr sz="1450" i="1" dirty="0">
                <a:latin typeface="Arial"/>
                <a:cs typeface="Arial"/>
              </a:rPr>
              <a:t> </a:t>
            </a:r>
            <a:r>
              <a:rPr sz="1450" i="1" spc="15" dirty="0">
                <a:latin typeface="Arial"/>
                <a:cs typeface="Arial"/>
              </a:rPr>
              <a:t>3</a:t>
            </a:r>
            <a:endParaRPr sz="1450">
              <a:latin typeface="Arial"/>
              <a:cs typeface="Arial"/>
            </a:endParaRPr>
          </a:p>
          <a:p>
            <a:pPr marL="407670">
              <a:lnSpc>
                <a:spcPct val="100000"/>
              </a:lnSpc>
              <a:spcBef>
                <a:spcPts val="415"/>
              </a:spcBef>
            </a:pPr>
            <a:r>
              <a:rPr sz="1450" spc="5" dirty="0">
                <a:latin typeface="Arial MT"/>
                <a:cs typeface="Arial MT"/>
              </a:rPr>
              <a:t>System.out.println("i:</a:t>
            </a:r>
            <a:r>
              <a:rPr sz="1450" spc="160" dirty="0">
                <a:latin typeface="Arial MT"/>
                <a:cs typeface="Arial MT"/>
              </a:rPr>
              <a:t> </a:t>
            </a:r>
            <a:r>
              <a:rPr sz="1450" spc="10" dirty="0">
                <a:latin typeface="Arial MT"/>
                <a:cs typeface="Arial MT"/>
              </a:rPr>
              <a:t>"</a:t>
            </a:r>
            <a:r>
              <a:rPr sz="1450" spc="15" dirty="0">
                <a:latin typeface="Arial MT"/>
                <a:cs typeface="Arial MT"/>
              </a:rPr>
              <a:t> +</a:t>
            </a:r>
            <a:r>
              <a:rPr sz="1450" spc="-5" dirty="0">
                <a:latin typeface="Arial MT"/>
                <a:cs typeface="Arial MT"/>
              </a:rPr>
              <a:t> </a:t>
            </a:r>
            <a:r>
              <a:rPr sz="1450" spc="-15" dirty="0">
                <a:latin typeface="Arial MT"/>
                <a:cs typeface="Arial MT"/>
              </a:rPr>
              <a:t>i);</a:t>
            </a:r>
            <a:endParaRPr sz="1450">
              <a:latin typeface="Arial MT"/>
              <a:cs typeface="Arial MT"/>
            </a:endParaRPr>
          </a:p>
          <a:p>
            <a:pPr marL="255904">
              <a:lnSpc>
                <a:spcPct val="100000"/>
              </a:lnSpc>
              <a:spcBef>
                <a:spcPts val="420"/>
              </a:spcBef>
            </a:pPr>
            <a:r>
              <a:rPr sz="1450" spc="5" dirty="0">
                <a:latin typeface="Arial MT"/>
                <a:cs typeface="Arial MT"/>
              </a:rPr>
              <a:t>}</a:t>
            </a:r>
            <a:endParaRPr sz="1450">
              <a:latin typeface="Arial MT"/>
              <a:cs typeface="Arial MT"/>
            </a:endParaRPr>
          </a:p>
          <a:p>
            <a:pPr marL="255904">
              <a:lnSpc>
                <a:spcPct val="100000"/>
              </a:lnSpc>
              <a:spcBef>
                <a:spcPts val="375"/>
              </a:spcBef>
            </a:pPr>
            <a:r>
              <a:rPr sz="1450" spc="5" dirty="0">
                <a:latin typeface="Arial MT"/>
                <a:cs typeface="Arial MT"/>
              </a:rPr>
              <a:t>System.out.println("Loop</a:t>
            </a:r>
            <a:r>
              <a:rPr sz="1450" spc="200" dirty="0">
                <a:latin typeface="Arial MT"/>
                <a:cs typeface="Arial MT"/>
              </a:rPr>
              <a:t> </a:t>
            </a:r>
            <a:r>
              <a:rPr sz="1450" dirty="0">
                <a:latin typeface="Arial MT"/>
                <a:cs typeface="Arial MT"/>
              </a:rPr>
              <a:t>complete.");</a:t>
            </a:r>
            <a:endParaRPr sz="1450">
              <a:latin typeface="Arial MT"/>
              <a:cs typeface="Arial MT"/>
            </a:endParaRPr>
          </a:p>
          <a:p>
            <a:pPr marL="255904">
              <a:lnSpc>
                <a:spcPct val="100000"/>
              </a:lnSpc>
              <a:spcBef>
                <a:spcPts val="420"/>
              </a:spcBef>
            </a:pPr>
            <a:r>
              <a:rPr sz="1450" spc="5" dirty="0">
                <a:latin typeface="Arial MT"/>
                <a:cs typeface="Arial MT"/>
              </a:rPr>
              <a:t>}</a:t>
            </a:r>
            <a:endParaRPr sz="1450">
              <a:latin typeface="Arial MT"/>
              <a:cs typeface="Arial MT"/>
            </a:endParaRPr>
          </a:p>
          <a:p>
            <a:pPr marL="12700">
              <a:lnSpc>
                <a:spcPct val="100000"/>
              </a:lnSpc>
              <a:spcBef>
                <a:spcPts val="420"/>
              </a:spcBef>
            </a:pPr>
            <a:r>
              <a:rPr sz="1450" spc="5" dirty="0">
                <a:latin typeface="Arial MT"/>
                <a:cs typeface="Arial MT"/>
              </a:rPr>
              <a:t>}</a:t>
            </a:r>
            <a:endParaRPr sz="1450">
              <a:latin typeface="Arial MT"/>
              <a:cs typeface="Arial MT"/>
            </a:endParaRPr>
          </a:p>
        </p:txBody>
      </p:sp>
      <p:grpSp>
        <p:nvGrpSpPr>
          <p:cNvPr id="5" name="object 5"/>
          <p:cNvGrpSpPr/>
          <p:nvPr/>
        </p:nvGrpSpPr>
        <p:grpSpPr>
          <a:xfrm>
            <a:off x="4636307" y="1336774"/>
            <a:ext cx="1216660" cy="1155700"/>
            <a:chOff x="4636307" y="1336774"/>
            <a:chExt cx="1216660" cy="1155700"/>
          </a:xfrm>
        </p:grpSpPr>
        <p:pic>
          <p:nvPicPr>
            <p:cNvPr id="6" name="object 6"/>
            <p:cNvPicPr/>
            <p:nvPr/>
          </p:nvPicPr>
          <p:blipFill>
            <a:blip r:embed="rId2" cstate="print"/>
            <a:stretch>
              <a:fillRect/>
            </a:stretch>
          </p:blipFill>
          <p:spPr>
            <a:xfrm>
              <a:off x="4681920" y="1367183"/>
              <a:ext cx="1170744" cy="1069381"/>
            </a:xfrm>
            <a:prstGeom prst="rect">
              <a:avLst/>
            </a:prstGeom>
          </p:spPr>
        </p:pic>
        <p:pic>
          <p:nvPicPr>
            <p:cNvPr id="7" name="object 7"/>
            <p:cNvPicPr/>
            <p:nvPr/>
          </p:nvPicPr>
          <p:blipFill>
            <a:blip r:embed="rId3" cstate="print"/>
            <a:stretch>
              <a:fillRect/>
            </a:stretch>
          </p:blipFill>
          <p:spPr>
            <a:xfrm>
              <a:off x="4636307" y="1336774"/>
              <a:ext cx="1201153" cy="1155539"/>
            </a:xfrm>
            <a:prstGeom prst="rect">
              <a:avLst/>
            </a:prstGeom>
          </p:spPr>
        </p:pic>
        <p:pic>
          <p:nvPicPr>
            <p:cNvPr id="8" name="object 8"/>
            <p:cNvPicPr/>
            <p:nvPr/>
          </p:nvPicPr>
          <p:blipFill>
            <a:blip r:embed="rId4" cstate="print"/>
            <a:stretch>
              <a:fillRect/>
            </a:stretch>
          </p:blipFill>
          <p:spPr>
            <a:xfrm>
              <a:off x="4699687" y="1373943"/>
              <a:ext cx="1135267" cy="1031401"/>
            </a:xfrm>
            <a:prstGeom prst="rect">
              <a:avLst/>
            </a:prstGeom>
          </p:spPr>
        </p:pic>
      </p:grpSp>
      <p:sp>
        <p:nvSpPr>
          <p:cNvPr id="9" name="object 9"/>
          <p:cNvSpPr txBox="1"/>
          <p:nvPr/>
        </p:nvSpPr>
        <p:spPr>
          <a:xfrm>
            <a:off x="4699687" y="1373943"/>
            <a:ext cx="1135380" cy="1031875"/>
          </a:xfrm>
          <a:prstGeom prst="rect">
            <a:avLst/>
          </a:prstGeom>
          <a:ln w="5073">
            <a:solidFill>
              <a:srgbClr val="000000"/>
            </a:solidFill>
          </a:ln>
        </p:spPr>
        <p:txBody>
          <a:bodyPr vert="horz" wrap="square" lIns="0" tIns="24130" rIns="0" bIns="0" rtlCol="0">
            <a:spAutoFit/>
          </a:bodyPr>
          <a:lstStyle/>
          <a:p>
            <a:pPr marL="52069">
              <a:lnSpc>
                <a:spcPct val="100000"/>
              </a:lnSpc>
              <a:spcBef>
                <a:spcPts val="190"/>
              </a:spcBef>
            </a:pPr>
            <a:r>
              <a:rPr sz="1050" b="1" spc="25" dirty="0">
                <a:latin typeface="Arial"/>
                <a:cs typeface="Arial"/>
              </a:rPr>
              <a:t>OUTPUT</a:t>
            </a:r>
            <a:endParaRPr sz="1050">
              <a:latin typeface="Arial"/>
              <a:cs typeface="Arial"/>
            </a:endParaRPr>
          </a:p>
          <a:p>
            <a:pPr marL="52069">
              <a:lnSpc>
                <a:spcPct val="100000"/>
              </a:lnSpc>
              <a:spcBef>
                <a:spcPts val="20"/>
              </a:spcBef>
            </a:pPr>
            <a:r>
              <a:rPr sz="1050" dirty="0">
                <a:latin typeface="Arial MT"/>
                <a:cs typeface="Arial MT"/>
              </a:rPr>
              <a:t>i</a:t>
            </a:r>
            <a:r>
              <a:rPr sz="1050" spc="5" dirty="0">
                <a:latin typeface="Arial MT"/>
                <a:cs typeface="Arial MT"/>
              </a:rPr>
              <a:t>:</a:t>
            </a:r>
            <a:r>
              <a:rPr sz="1050" spc="35" dirty="0">
                <a:latin typeface="Times New Roman"/>
                <a:cs typeface="Times New Roman"/>
              </a:rPr>
              <a:t> </a:t>
            </a:r>
            <a:r>
              <a:rPr sz="1050" spc="15" dirty="0">
                <a:latin typeface="Arial MT"/>
                <a:cs typeface="Arial MT"/>
              </a:rPr>
              <a:t>0</a:t>
            </a:r>
            <a:endParaRPr sz="1050">
              <a:latin typeface="Arial MT"/>
              <a:cs typeface="Arial MT"/>
            </a:endParaRPr>
          </a:p>
          <a:p>
            <a:pPr marL="52069">
              <a:lnSpc>
                <a:spcPct val="100000"/>
              </a:lnSpc>
              <a:spcBef>
                <a:spcPts val="20"/>
              </a:spcBef>
            </a:pPr>
            <a:r>
              <a:rPr sz="1050" dirty="0">
                <a:latin typeface="Arial MT"/>
                <a:cs typeface="Arial MT"/>
              </a:rPr>
              <a:t>i</a:t>
            </a:r>
            <a:r>
              <a:rPr sz="1050" spc="5" dirty="0">
                <a:latin typeface="Arial MT"/>
                <a:cs typeface="Arial MT"/>
              </a:rPr>
              <a:t>:</a:t>
            </a:r>
            <a:r>
              <a:rPr sz="1050" spc="35" dirty="0">
                <a:latin typeface="Times New Roman"/>
                <a:cs typeface="Times New Roman"/>
              </a:rPr>
              <a:t> </a:t>
            </a:r>
            <a:r>
              <a:rPr sz="1050" spc="15" dirty="0">
                <a:latin typeface="Arial MT"/>
                <a:cs typeface="Arial MT"/>
              </a:rPr>
              <a:t>1</a:t>
            </a:r>
            <a:endParaRPr sz="1050">
              <a:latin typeface="Arial MT"/>
              <a:cs typeface="Arial MT"/>
            </a:endParaRPr>
          </a:p>
          <a:p>
            <a:pPr marL="52069">
              <a:lnSpc>
                <a:spcPct val="100000"/>
              </a:lnSpc>
              <a:spcBef>
                <a:spcPts val="20"/>
              </a:spcBef>
            </a:pPr>
            <a:r>
              <a:rPr sz="1050" dirty="0">
                <a:latin typeface="Arial MT"/>
                <a:cs typeface="Arial MT"/>
              </a:rPr>
              <a:t>i</a:t>
            </a:r>
            <a:r>
              <a:rPr sz="1050" spc="5" dirty="0">
                <a:latin typeface="Arial MT"/>
                <a:cs typeface="Arial MT"/>
              </a:rPr>
              <a:t>:</a:t>
            </a:r>
            <a:r>
              <a:rPr sz="1050" spc="35" dirty="0">
                <a:latin typeface="Times New Roman"/>
                <a:cs typeface="Times New Roman"/>
              </a:rPr>
              <a:t> </a:t>
            </a:r>
            <a:r>
              <a:rPr sz="1050" spc="15" dirty="0">
                <a:latin typeface="Arial MT"/>
                <a:cs typeface="Arial MT"/>
              </a:rPr>
              <a:t>2</a:t>
            </a:r>
            <a:endParaRPr sz="1050">
              <a:latin typeface="Arial MT"/>
              <a:cs typeface="Arial MT"/>
            </a:endParaRPr>
          </a:p>
          <a:p>
            <a:pPr marL="52069">
              <a:lnSpc>
                <a:spcPct val="100000"/>
              </a:lnSpc>
              <a:spcBef>
                <a:spcPts val="15"/>
              </a:spcBef>
            </a:pPr>
            <a:r>
              <a:rPr sz="1050" spc="10" dirty="0">
                <a:latin typeface="Arial MT"/>
                <a:cs typeface="Arial MT"/>
              </a:rPr>
              <a:t>Loop</a:t>
            </a:r>
            <a:r>
              <a:rPr sz="1050" spc="-50" dirty="0">
                <a:latin typeface="Arial MT"/>
                <a:cs typeface="Arial MT"/>
              </a:rPr>
              <a:t> </a:t>
            </a:r>
            <a:r>
              <a:rPr sz="1050" spc="10" dirty="0">
                <a:latin typeface="Arial MT"/>
                <a:cs typeface="Arial MT"/>
              </a:rPr>
              <a:t>complete.</a:t>
            </a:r>
            <a:endParaRPr sz="1050">
              <a:latin typeface="Arial MT"/>
              <a:cs typeface="Arial MT"/>
            </a:endParaRPr>
          </a:p>
        </p:txBody>
      </p:sp>
      <p:sp>
        <p:nvSpPr>
          <p:cNvPr id="10" name="object 10"/>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a:spLocks noGrp="1"/>
          </p:cNvSpPr>
          <p:nvPr>
            <p:ph type="title"/>
          </p:nvPr>
        </p:nvSpPr>
        <p:spPr>
          <a:xfrm>
            <a:off x="1346200" y="726272"/>
            <a:ext cx="3336453" cy="307134"/>
          </a:xfrm>
          <a:prstGeom prst="rect">
            <a:avLst/>
          </a:prstGeom>
        </p:spPr>
        <p:txBody>
          <a:bodyPr vert="horz" wrap="square" lIns="0" tIns="14604" rIns="0" bIns="0" rtlCol="0">
            <a:spAutoFit/>
          </a:bodyPr>
          <a:lstStyle/>
          <a:p>
            <a:pPr marL="12700">
              <a:lnSpc>
                <a:spcPct val="100000"/>
              </a:lnSpc>
              <a:spcBef>
                <a:spcPts val="114"/>
              </a:spcBef>
            </a:pPr>
            <a:r>
              <a:rPr spc="5" dirty="0">
                <a:solidFill>
                  <a:schemeClr val="tx1"/>
                </a:solidFill>
              </a:rPr>
              <a:t>Using</a:t>
            </a:r>
            <a:r>
              <a:rPr spc="-15" dirty="0">
                <a:solidFill>
                  <a:schemeClr val="tx1"/>
                </a:solidFill>
              </a:rPr>
              <a:t> </a:t>
            </a:r>
            <a:r>
              <a:rPr spc="10" dirty="0">
                <a:solidFill>
                  <a:schemeClr val="tx1"/>
                </a:solidFill>
              </a:rPr>
              <a:t>break</a:t>
            </a:r>
            <a:r>
              <a:rPr spc="-60" dirty="0">
                <a:solidFill>
                  <a:schemeClr val="tx1"/>
                </a:solidFill>
              </a:rPr>
              <a:t> </a:t>
            </a:r>
            <a:r>
              <a:rPr spc="10" dirty="0">
                <a:solidFill>
                  <a:schemeClr val="tx1"/>
                </a:solidFill>
              </a:rPr>
              <a:t>as</a:t>
            </a:r>
            <a:r>
              <a:rPr spc="-25" dirty="0">
                <a:solidFill>
                  <a:schemeClr val="tx1"/>
                </a:solidFill>
              </a:rPr>
              <a:t> </a:t>
            </a:r>
            <a:r>
              <a:rPr spc="10" dirty="0">
                <a:solidFill>
                  <a:schemeClr val="tx1"/>
                </a:solidFill>
              </a:rPr>
              <a:t>a</a:t>
            </a:r>
            <a:r>
              <a:rPr spc="-15" dirty="0">
                <a:solidFill>
                  <a:schemeClr val="tx1"/>
                </a:solidFill>
              </a:rPr>
              <a:t> </a:t>
            </a:r>
            <a:r>
              <a:rPr spc="5" dirty="0">
                <a:solidFill>
                  <a:schemeClr val="tx1"/>
                </a:solidFill>
              </a:rPr>
              <a:t>Form</a:t>
            </a:r>
            <a:r>
              <a:rPr spc="20" dirty="0">
                <a:solidFill>
                  <a:schemeClr val="tx1"/>
                </a:solidFill>
              </a:rPr>
              <a:t> </a:t>
            </a:r>
            <a:r>
              <a:rPr spc="10" dirty="0">
                <a:solidFill>
                  <a:schemeClr val="tx1"/>
                </a:solidFill>
              </a:rPr>
              <a:t>of</a:t>
            </a:r>
            <a:r>
              <a:rPr spc="-40" dirty="0">
                <a:solidFill>
                  <a:schemeClr val="tx1"/>
                </a:solidFill>
              </a:rPr>
              <a:t> </a:t>
            </a:r>
            <a:r>
              <a:rPr dirty="0">
                <a:solidFill>
                  <a:schemeClr val="tx1"/>
                </a:solidFill>
              </a:rPr>
              <a:t>Goto</a:t>
            </a:r>
          </a:p>
        </p:txBody>
      </p:sp>
      <p:sp>
        <p:nvSpPr>
          <p:cNvPr id="4" name="object 4"/>
          <p:cNvSpPr txBox="1"/>
          <p:nvPr/>
        </p:nvSpPr>
        <p:spPr>
          <a:xfrm>
            <a:off x="364664" y="1260930"/>
            <a:ext cx="5768340" cy="1482714"/>
          </a:xfrm>
          <a:prstGeom prst="rect">
            <a:avLst/>
          </a:prstGeom>
        </p:spPr>
        <p:txBody>
          <a:bodyPr vert="horz" wrap="square" lIns="0" tIns="10160" rIns="0" bIns="0" rtlCol="0">
            <a:spAutoFit/>
          </a:bodyPr>
          <a:lstStyle/>
          <a:p>
            <a:pPr marL="194945" marR="5080" indent="-182880">
              <a:lnSpc>
                <a:spcPct val="101899"/>
              </a:lnSpc>
              <a:spcBef>
                <a:spcPts val="80"/>
              </a:spcBef>
              <a:buChar char="•"/>
              <a:tabLst>
                <a:tab pos="195580" algn="l"/>
              </a:tabLst>
            </a:pPr>
            <a:r>
              <a:rPr sz="1700" spc="10" dirty="0">
                <a:latin typeface="Arial MT"/>
                <a:cs typeface="Arial MT"/>
              </a:rPr>
              <a:t>By</a:t>
            </a:r>
            <a:r>
              <a:rPr sz="1700" spc="-20" dirty="0">
                <a:latin typeface="Arial MT"/>
                <a:cs typeface="Arial MT"/>
              </a:rPr>
              <a:t> </a:t>
            </a:r>
            <a:r>
              <a:rPr sz="1700" spc="10" dirty="0">
                <a:latin typeface="Arial MT"/>
                <a:cs typeface="Arial MT"/>
              </a:rPr>
              <a:t>using</a:t>
            </a:r>
            <a:r>
              <a:rPr sz="1700" spc="-114" dirty="0">
                <a:latin typeface="Arial MT"/>
                <a:cs typeface="Arial MT"/>
              </a:rPr>
              <a:t> </a:t>
            </a:r>
            <a:r>
              <a:rPr sz="1700" spc="10" dirty="0">
                <a:latin typeface="Arial MT"/>
                <a:cs typeface="Arial MT"/>
              </a:rPr>
              <a:t>this</a:t>
            </a:r>
            <a:r>
              <a:rPr sz="1700" spc="-60" dirty="0">
                <a:latin typeface="Arial MT"/>
                <a:cs typeface="Arial MT"/>
              </a:rPr>
              <a:t> </a:t>
            </a:r>
            <a:r>
              <a:rPr sz="1700" spc="10" dirty="0">
                <a:latin typeface="Arial MT"/>
                <a:cs typeface="Arial MT"/>
              </a:rPr>
              <a:t>form</a:t>
            </a:r>
            <a:r>
              <a:rPr sz="1700" spc="-70" dirty="0">
                <a:latin typeface="Arial MT"/>
                <a:cs typeface="Arial MT"/>
              </a:rPr>
              <a:t> </a:t>
            </a:r>
            <a:r>
              <a:rPr sz="1700" spc="5" dirty="0">
                <a:latin typeface="Arial MT"/>
                <a:cs typeface="Arial MT"/>
              </a:rPr>
              <a:t>of</a:t>
            </a:r>
            <a:r>
              <a:rPr sz="1700" spc="25" dirty="0">
                <a:latin typeface="Arial MT"/>
                <a:cs typeface="Arial MT"/>
              </a:rPr>
              <a:t> </a:t>
            </a:r>
            <a:r>
              <a:rPr sz="1700" b="1" spc="5" dirty="0">
                <a:latin typeface="Arial"/>
                <a:cs typeface="Arial"/>
              </a:rPr>
              <a:t>break,</a:t>
            </a:r>
            <a:r>
              <a:rPr sz="1700" b="1" spc="-75" dirty="0">
                <a:latin typeface="Arial"/>
                <a:cs typeface="Arial"/>
              </a:rPr>
              <a:t> </a:t>
            </a:r>
            <a:r>
              <a:rPr sz="1700" b="1" dirty="0">
                <a:latin typeface="Arial"/>
                <a:cs typeface="Arial"/>
              </a:rPr>
              <a:t>you</a:t>
            </a:r>
            <a:r>
              <a:rPr sz="1700" b="1" spc="-5" dirty="0">
                <a:latin typeface="Arial"/>
                <a:cs typeface="Arial"/>
              </a:rPr>
              <a:t> </a:t>
            </a:r>
            <a:r>
              <a:rPr sz="1700" b="1" dirty="0">
                <a:latin typeface="Arial"/>
                <a:cs typeface="Arial"/>
              </a:rPr>
              <a:t>can,</a:t>
            </a:r>
            <a:r>
              <a:rPr sz="1700" b="1" spc="-35" dirty="0">
                <a:latin typeface="Arial"/>
                <a:cs typeface="Arial"/>
              </a:rPr>
              <a:t> </a:t>
            </a:r>
            <a:r>
              <a:rPr sz="1700" b="1" spc="-5" dirty="0">
                <a:latin typeface="Arial"/>
                <a:cs typeface="Arial"/>
              </a:rPr>
              <a:t>for</a:t>
            </a:r>
            <a:r>
              <a:rPr sz="1700" b="1" spc="-30" dirty="0">
                <a:latin typeface="Arial"/>
                <a:cs typeface="Arial"/>
              </a:rPr>
              <a:t> </a:t>
            </a:r>
            <a:r>
              <a:rPr sz="1700" b="1" spc="5" dirty="0">
                <a:latin typeface="Arial"/>
                <a:cs typeface="Arial"/>
              </a:rPr>
              <a:t>example,</a:t>
            </a:r>
            <a:r>
              <a:rPr sz="1700" b="1" spc="-70" dirty="0">
                <a:latin typeface="Arial"/>
                <a:cs typeface="Arial"/>
              </a:rPr>
              <a:t> </a:t>
            </a:r>
            <a:r>
              <a:rPr sz="1700" b="1" spc="5" dirty="0">
                <a:latin typeface="Arial"/>
                <a:cs typeface="Arial"/>
              </a:rPr>
              <a:t>break </a:t>
            </a:r>
            <a:r>
              <a:rPr sz="1700" b="1" spc="-459" dirty="0">
                <a:latin typeface="Arial"/>
                <a:cs typeface="Arial"/>
              </a:rPr>
              <a:t> </a:t>
            </a:r>
            <a:r>
              <a:rPr sz="1700" b="1" spc="-5" dirty="0">
                <a:latin typeface="Arial"/>
                <a:cs typeface="Arial"/>
              </a:rPr>
              <a:t>out</a:t>
            </a:r>
            <a:r>
              <a:rPr sz="1700" b="1" spc="-15" dirty="0">
                <a:latin typeface="Arial"/>
                <a:cs typeface="Arial"/>
              </a:rPr>
              <a:t> </a:t>
            </a:r>
            <a:r>
              <a:rPr sz="1700" b="1" dirty="0">
                <a:latin typeface="Arial"/>
                <a:cs typeface="Arial"/>
              </a:rPr>
              <a:t>of</a:t>
            </a:r>
            <a:r>
              <a:rPr sz="1700" b="1" spc="-10" dirty="0">
                <a:latin typeface="Arial"/>
                <a:cs typeface="Arial"/>
              </a:rPr>
              <a:t> </a:t>
            </a:r>
            <a:r>
              <a:rPr sz="1700" spc="5" dirty="0">
                <a:latin typeface="Arial MT"/>
                <a:cs typeface="Arial MT"/>
              </a:rPr>
              <a:t>one</a:t>
            </a:r>
            <a:r>
              <a:rPr sz="1700" spc="-30" dirty="0">
                <a:latin typeface="Arial MT"/>
                <a:cs typeface="Arial MT"/>
              </a:rPr>
              <a:t> </a:t>
            </a:r>
            <a:r>
              <a:rPr sz="1700" spc="5" dirty="0">
                <a:latin typeface="Arial MT"/>
                <a:cs typeface="Arial MT"/>
              </a:rPr>
              <a:t>or</a:t>
            </a:r>
            <a:r>
              <a:rPr sz="1700" spc="-50" dirty="0">
                <a:latin typeface="Arial MT"/>
                <a:cs typeface="Arial MT"/>
              </a:rPr>
              <a:t> </a:t>
            </a:r>
            <a:r>
              <a:rPr sz="1700" spc="5" dirty="0">
                <a:latin typeface="Arial MT"/>
                <a:cs typeface="Arial MT"/>
              </a:rPr>
              <a:t>more</a:t>
            </a:r>
            <a:r>
              <a:rPr sz="1700" spc="-35" dirty="0">
                <a:latin typeface="Arial MT"/>
                <a:cs typeface="Arial MT"/>
              </a:rPr>
              <a:t> </a:t>
            </a:r>
            <a:r>
              <a:rPr sz="1700" spc="10" dirty="0">
                <a:latin typeface="Arial MT"/>
                <a:cs typeface="Arial MT"/>
              </a:rPr>
              <a:t>blocks</a:t>
            </a:r>
            <a:r>
              <a:rPr sz="1700" spc="-95" dirty="0">
                <a:latin typeface="Arial MT"/>
                <a:cs typeface="Arial MT"/>
              </a:rPr>
              <a:t> </a:t>
            </a:r>
            <a:r>
              <a:rPr sz="1700" spc="5" dirty="0">
                <a:latin typeface="Arial MT"/>
                <a:cs typeface="Arial MT"/>
              </a:rPr>
              <a:t>of</a:t>
            </a:r>
            <a:r>
              <a:rPr sz="1700" spc="-40" dirty="0">
                <a:latin typeface="Arial MT"/>
                <a:cs typeface="Arial MT"/>
              </a:rPr>
              <a:t> </a:t>
            </a:r>
            <a:r>
              <a:rPr sz="1700" spc="10" dirty="0">
                <a:latin typeface="Arial MT"/>
                <a:cs typeface="Arial MT"/>
              </a:rPr>
              <a:t>code.</a:t>
            </a:r>
            <a:endParaRPr sz="1700" dirty="0">
              <a:latin typeface="Arial MT"/>
              <a:cs typeface="Arial MT"/>
            </a:endParaRPr>
          </a:p>
          <a:p>
            <a:pPr marL="194945" indent="-182880">
              <a:lnSpc>
                <a:spcPct val="100000"/>
              </a:lnSpc>
              <a:spcBef>
                <a:spcPts val="395"/>
              </a:spcBef>
              <a:buChar char="•"/>
              <a:tabLst>
                <a:tab pos="195580" algn="l"/>
              </a:tabLst>
            </a:pPr>
            <a:r>
              <a:rPr sz="1700" dirty="0">
                <a:latin typeface="Arial MT"/>
                <a:cs typeface="Arial MT"/>
              </a:rPr>
              <a:t>The</a:t>
            </a:r>
            <a:r>
              <a:rPr sz="1700" spc="-35" dirty="0">
                <a:latin typeface="Arial MT"/>
                <a:cs typeface="Arial MT"/>
              </a:rPr>
              <a:t> </a:t>
            </a:r>
            <a:r>
              <a:rPr sz="1700" dirty="0">
                <a:latin typeface="Arial MT"/>
                <a:cs typeface="Arial MT"/>
              </a:rPr>
              <a:t>general</a:t>
            </a:r>
            <a:r>
              <a:rPr sz="1700" spc="-55" dirty="0">
                <a:latin typeface="Arial MT"/>
                <a:cs typeface="Arial MT"/>
              </a:rPr>
              <a:t> </a:t>
            </a:r>
            <a:r>
              <a:rPr sz="1700" spc="10" dirty="0">
                <a:latin typeface="Arial MT"/>
                <a:cs typeface="Arial MT"/>
              </a:rPr>
              <a:t>form</a:t>
            </a:r>
            <a:r>
              <a:rPr sz="1700" spc="-75" dirty="0">
                <a:latin typeface="Arial MT"/>
                <a:cs typeface="Arial MT"/>
              </a:rPr>
              <a:t> </a:t>
            </a:r>
            <a:r>
              <a:rPr sz="1700" spc="5" dirty="0">
                <a:latin typeface="Arial MT"/>
                <a:cs typeface="Arial MT"/>
              </a:rPr>
              <a:t>of</a:t>
            </a:r>
            <a:r>
              <a:rPr sz="1700" spc="-35" dirty="0">
                <a:latin typeface="Arial MT"/>
                <a:cs typeface="Arial MT"/>
              </a:rPr>
              <a:t> </a:t>
            </a:r>
            <a:r>
              <a:rPr sz="1700" spc="5" dirty="0">
                <a:latin typeface="Arial MT"/>
                <a:cs typeface="Arial MT"/>
              </a:rPr>
              <a:t>the</a:t>
            </a:r>
            <a:r>
              <a:rPr sz="1700" spc="-35" dirty="0">
                <a:latin typeface="Arial MT"/>
                <a:cs typeface="Arial MT"/>
              </a:rPr>
              <a:t> </a:t>
            </a:r>
            <a:r>
              <a:rPr sz="1700" spc="10" dirty="0">
                <a:latin typeface="Arial MT"/>
                <a:cs typeface="Arial MT"/>
              </a:rPr>
              <a:t>labeled</a:t>
            </a:r>
            <a:r>
              <a:rPr sz="1700" spc="-110" dirty="0">
                <a:latin typeface="Arial MT"/>
                <a:cs typeface="Arial MT"/>
              </a:rPr>
              <a:t> </a:t>
            </a:r>
            <a:r>
              <a:rPr sz="1700" dirty="0">
                <a:latin typeface="Arial MT"/>
                <a:cs typeface="Arial MT"/>
              </a:rPr>
              <a:t>break</a:t>
            </a:r>
            <a:r>
              <a:rPr sz="1700" spc="-20" dirty="0">
                <a:latin typeface="Arial MT"/>
                <a:cs typeface="Arial MT"/>
              </a:rPr>
              <a:t> </a:t>
            </a:r>
            <a:r>
              <a:rPr sz="1700" spc="10" dirty="0">
                <a:latin typeface="Arial MT"/>
                <a:cs typeface="Arial MT"/>
              </a:rPr>
              <a:t>statement</a:t>
            </a:r>
            <a:r>
              <a:rPr sz="1700" spc="-110" dirty="0">
                <a:latin typeface="Arial MT"/>
                <a:cs typeface="Arial MT"/>
              </a:rPr>
              <a:t> </a:t>
            </a:r>
            <a:r>
              <a:rPr sz="1700" spc="10" dirty="0">
                <a:latin typeface="Arial MT"/>
                <a:cs typeface="Arial MT"/>
              </a:rPr>
              <a:t>is</a:t>
            </a:r>
            <a:r>
              <a:rPr sz="1700" spc="-60" dirty="0">
                <a:latin typeface="Arial MT"/>
                <a:cs typeface="Arial MT"/>
              </a:rPr>
              <a:t> </a:t>
            </a:r>
            <a:r>
              <a:rPr sz="1700" spc="5" dirty="0">
                <a:latin typeface="Arial MT"/>
                <a:cs typeface="Arial MT"/>
              </a:rPr>
              <a:t>:</a:t>
            </a:r>
            <a:endParaRPr sz="1700" dirty="0">
              <a:latin typeface="Arial MT"/>
              <a:cs typeface="Arial MT"/>
            </a:endParaRPr>
          </a:p>
          <a:p>
            <a:pPr marL="194945">
              <a:lnSpc>
                <a:spcPct val="100000"/>
              </a:lnSpc>
              <a:spcBef>
                <a:spcPts val="439"/>
              </a:spcBef>
            </a:pPr>
            <a:endParaRPr lang="en-US" sz="1700" b="1" spc="5" dirty="0">
              <a:latin typeface="Arial"/>
              <a:cs typeface="Arial"/>
            </a:endParaRPr>
          </a:p>
          <a:p>
            <a:pPr marL="194945">
              <a:lnSpc>
                <a:spcPct val="100000"/>
              </a:lnSpc>
              <a:spcBef>
                <a:spcPts val="439"/>
              </a:spcBef>
            </a:pPr>
            <a:r>
              <a:rPr sz="1700" b="1" spc="5" dirty="0">
                <a:latin typeface="Arial"/>
                <a:cs typeface="Arial"/>
              </a:rPr>
              <a:t>break</a:t>
            </a:r>
            <a:r>
              <a:rPr sz="1700" b="1" spc="-110" dirty="0">
                <a:latin typeface="Arial"/>
                <a:cs typeface="Arial"/>
              </a:rPr>
              <a:t> </a:t>
            </a:r>
            <a:r>
              <a:rPr sz="1700" i="1" spc="10" dirty="0">
                <a:latin typeface="Arial"/>
                <a:cs typeface="Arial"/>
              </a:rPr>
              <a:t>label;</a:t>
            </a:r>
            <a:endParaRPr sz="1700" dirty="0">
              <a:latin typeface="Arial"/>
              <a:cs typeface="Arial"/>
            </a:endParaRPr>
          </a:p>
        </p:txBody>
      </p:sp>
      <p:sp>
        <p:nvSpPr>
          <p:cNvPr id="6" name="object 6"/>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9026" y="683457"/>
            <a:ext cx="3164840" cy="418465"/>
          </a:xfrm>
          <a:prstGeom prst="rect">
            <a:avLst/>
          </a:prstGeom>
        </p:spPr>
        <p:txBody>
          <a:bodyPr vert="horz" wrap="square" lIns="0" tIns="16510" rIns="0" bIns="0" rtlCol="0">
            <a:spAutoFit/>
          </a:bodyPr>
          <a:lstStyle/>
          <a:p>
            <a:pPr marL="12700">
              <a:lnSpc>
                <a:spcPct val="100000"/>
              </a:lnSpc>
              <a:spcBef>
                <a:spcPts val="130"/>
              </a:spcBef>
            </a:pPr>
            <a:r>
              <a:rPr sz="1250" spc="5" dirty="0">
                <a:solidFill>
                  <a:srgbClr val="000000"/>
                </a:solidFill>
              </a:rPr>
              <a:t>//</a:t>
            </a:r>
            <a:r>
              <a:rPr sz="1250" spc="-25" dirty="0">
                <a:solidFill>
                  <a:srgbClr val="000000"/>
                </a:solidFill>
              </a:rPr>
              <a:t> </a:t>
            </a:r>
            <a:r>
              <a:rPr sz="1250" b="1" spc="5" dirty="0">
                <a:solidFill>
                  <a:srgbClr val="000000"/>
                </a:solidFill>
                <a:latin typeface="Arial"/>
                <a:cs typeface="Arial"/>
              </a:rPr>
              <a:t>Using</a:t>
            </a:r>
            <a:r>
              <a:rPr sz="1250" b="1" spc="30" dirty="0">
                <a:solidFill>
                  <a:srgbClr val="000000"/>
                </a:solidFill>
                <a:latin typeface="Arial"/>
                <a:cs typeface="Arial"/>
              </a:rPr>
              <a:t> </a:t>
            </a:r>
            <a:r>
              <a:rPr sz="1250" b="1" spc="10" dirty="0">
                <a:solidFill>
                  <a:srgbClr val="000000"/>
                </a:solidFill>
                <a:latin typeface="Arial"/>
                <a:cs typeface="Arial"/>
              </a:rPr>
              <a:t>break</a:t>
            </a:r>
            <a:r>
              <a:rPr sz="1250" b="1" spc="-25" dirty="0">
                <a:solidFill>
                  <a:srgbClr val="000000"/>
                </a:solidFill>
                <a:latin typeface="Arial"/>
                <a:cs typeface="Arial"/>
              </a:rPr>
              <a:t> </a:t>
            </a:r>
            <a:r>
              <a:rPr sz="1250" b="1" spc="15" dirty="0">
                <a:solidFill>
                  <a:srgbClr val="000000"/>
                </a:solidFill>
                <a:latin typeface="Arial"/>
                <a:cs typeface="Arial"/>
              </a:rPr>
              <a:t>as a civilized</a:t>
            </a:r>
            <a:r>
              <a:rPr sz="1250" b="1" spc="-95" dirty="0">
                <a:solidFill>
                  <a:srgbClr val="000000"/>
                </a:solidFill>
                <a:latin typeface="Arial"/>
                <a:cs typeface="Arial"/>
              </a:rPr>
              <a:t> </a:t>
            </a:r>
            <a:r>
              <a:rPr sz="1250" b="1" spc="15" dirty="0">
                <a:solidFill>
                  <a:srgbClr val="000000"/>
                </a:solidFill>
                <a:latin typeface="Arial"/>
                <a:cs typeface="Arial"/>
              </a:rPr>
              <a:t>form</a:t>
            </a:r>
            <a:r>
              <a:rPr sz="1250" b="1" spc="-10" dirty="0">
                <a:solidFill>
                  <a:srgbClr val="000000"/>
                </a:solidFill>
                <a:latin typeface="Arial"/>
                <a:cs typeface="Arial"/>
              </a:rPr>
              <a:t> </a:t>
            </a:r>
            <a:r>
              <a:rPr sz="1250" b="1" dirty="0">
                <a:solidFill>
                  <a:srgbClr val="000000"/>
                </a:solidFill>
                <a:latin typeface="Arial"/>
                <a:cs typeface="Arial"/>
              </a:rPr>
              <a:t>of</a:t>
            </a:r>
            <a:r>
              <a:rPr sz="1250" b="1" spc="15" dirty="0">
                <a:solidFill>
                  <a:srgbClr val="000000"/>
                </a:solidFill>
                <a:latin typeface="Arial"/>
                <a:cs typeface="Arial"/>
              </a:rPr>
              <a:t> </a:t>
            </a:r>
            <a:r>
              <a:rPr sz="1250" b="1" spc="5" dirty="0">
                <a:solidFill>
                  <a:srgbClr val="000000"/>
                </a:solidFill>
                <a:latin typeface="Arial"/>
                <a:cs typeface="Arial"/>
              </a:rPr>
              <a:t>goto</a:t>
            </a:r>
            <a:r>
              <a:rPr sz="1250" spc="5" dirty="0">
                <a:solidFill>
                  <a:srgbClr val="000000"/>
                </a:solidFill>
              </a:rPr>
              <a:t>.</a:t>
            </a:r>
            <a:endParaRPr sz="1250">
              <a:latin typeface="Arial"/>
              <a:cs typeface="Arial"/>
            </a:endParaRPr>
          </a:p>
          <a:p>
            <a:pPr marL="12700">
              <a:lnSpc>
                <a:spcPct val="100000"/>
              </a:lnSpc>
              <a:spcBef>
                <a:spcPts val="55"/>
              </a:spcBef>
            </a:pPr>
            <a:r>
              <a:rPr sz="1250" dirty="0">
                <a:solidFill>
                  <a:srgbClr val="000000"/>
                </a:solidFill>
              </a:rPr>
              <a:t>class</a:t>
            </a:r>
            <a:r>
              <a:rPr sz="1250" spc="30" dirty="0">
                <a:solidFill>
                  <a:srgbClr val="000000"/>
                </a:solidFill>
              </a:rPr>
              <a:t> </a:t>
            </a:r>
            <a:r>
              <a:rPr sz="1250" spc="-5" dirty="0">
                <a:solidFill>
                  <a:srgbClr val="000000"/>
                </a:solidFill>
              </a:rPr>
              <a:t>Breakeg</a:t>
            </a:r>
            <a:r>
              <a:rPr sz="1250" spc="90" dirty="0">
                <a:solidFill>
                  <a:srgbClr val="000000"/>
                </a:solidFill>
              </a:rPr>
              <a:t> </a:t>
            </a:r>
            <a:r>
              <a:rPr sz="1250" spc="5" dirty="0">
                <a:solidFill>
                  <a:srgbClr val="FF0000"/>
                </a:solidFill>
              </a:rPr>
              <a:t>{</a:t>
            </a:r>
            <a:endParaRPr sz="1250"/>
          </a:p>
        </p:txBody>
      </p:sp>
      <p:sp>
        <p:nvSpPr>
          <p:cNvPr id="3" name="object 3"/>
          <p:cNvSpPr txBox="1"/>
          <p:nvPr/>
        </p:nvSpPr>
        <p:spPr>
          <a:xfrm>
            <a:off x="379026" y="1074246"/>
            <a:ext cx="4348366" cy="2786660"/>
          </a:xfrm>
          <a:prstGeom prst="rect">
            <a:avLst/>
          </a:prstGeom>
        </p:spPr>
        <p:txBody>
          <a:bodyPr vert="horz" wrap="square" lIns="0" tIns="16510" rIns="0" bIns="0" rtlCol="0">
            <a:spAutoFit/>
          </a:bodyPr>
          <a:lstStyle/>
          <a:p>
            <a:pPr marL="255904">
              <a:lnSpc>
                <a:spcPct val="100000"/>
              </a:lnSpc>
              <a:spcBef>
                <a:spcPts val="130"/>
              </a:spcBef>
            </a:pPr>
            <a:r>
              <a:rPr sz="1250" spc="-5" dirty="0">
                <a:latin typeface="Arial MT"/>
                <a:cs typeface="Arial MT"/>
              </a:rPr>
              <a:t>public</a:t>
            </a:r>
            <a:r>
              <a:rPr sz="1250" spc="75" dirty="0">
                <a:latin typeface="Arial MT"/>
                <a:cs typeface="Arial MT"/>
              </a:rPr>
              <a:t> </a:t>
            </a:r>
            <a:r>
              <a:rPr sz="1250" spc="5" dirty="0">
                <a:latin typeface="Arial MT"/>
                <a:cs typeface="Arial MT"/>
              </a:rPr>
              <a:t>static</a:t>
            </a:r>
            <a:r>
              <a:rPr sz="1250" dirty="0">
                <a:latin typeface="Arial MT"/>
                <a:cs typeface="Arial MT"/>
              </a:rPr>
              <a:t> </a:t>
            </a:r>
            <a:r>
              <a:rPr sz="1250" spc="-10" dirty="0">
                <a:latin typeface="Arial MT"/>
                <a:cs typeface="Arial MT"/>
              </a:rPr>
              <a:t>void</a:t>
            </a:r>
            <a:r>
              <a:rPr sz="1250" spc="90" dirty="0">
                <a:latin typeface="Arial MT"/>
                <a:cs typeface="Arial MT"/>
              </a:rPr>
              <a:t> </a:t>
            </a:r>
            <a:r>
              <a:rPr sz="1250" spc="10" dirty="0">
                <a:latin typeface="Arial MT"/>
                <a:cs typeface="Arial MT"/>
              </a:rPr>
              <a:t>main(String</a:t>
            </a:r>
            <a:r>
              <a:rPr sz="1250" spc="-35" dirty="0">
                <a:latin typeface="Arial MT"/>
                <a:cs typeface="Arial MT"/>
              </a:rPr>
              <a:t> </a:t>
            </a:r>
            <a:r>
              <a:rPr sz="1250" dirty="0">
                <a:latin typeface="Arial MT"/>
                <a:cs typeface="Arial MT"/>
              </a:rPr>
              <a:t>args[])</a:t>
            </a:r>
            <a:r>
              <a:rPr sz="1250" spc="85" dirty="0">
                <a:latin typeface="Arial MT"/>
                <a:cs typeface="Arial MT"/>
              </a:rPr>
              <a:t> </a:t>
            </a:r>
            <a:r>
              <a:rPr sz="1250" spc="5" dirty="0">
                <a:solidFill>
                  <a:srgbClr val="00AF50"/>
                </a:solidFill>
                <a:latin typeface="Arial MT"/>
                <a:cs typeface="Arial MT"/>
              </a:rPr>
              <a:t>{</a:t>
            </a:r>
            <a:endParaRPr sz="1250" dirty="0">
              <a:latin typeface="Arial MT"/>
              <a:cs typeface="Arial MT"/>
            </a:endParaRPr>
          </a:p>
          <a:p>
            <a:pPr marL="499109" marR="2514600">
              <a:lnSpc>
                <a:spcPts val="1560"/>
              </a:lnSpc>
              <a:spcBef>
                <a:spcPts val="20"/>
              </a:spcBef>
            </a:pPr>
            <a:r>
              <a:rPr sz="1250" spc="-15" dirty="0">
                <a:latin typeface="Arial MT"/>
                <a:cs typeface="Arial MT"/>
              </a:rPr>
              <a:t>boolean</a:t>
            </a:r>
            <a:r>
              <a:rPr sz="1250" spc="150" dirty="0">
                <a:latin typeface="Arial MT"/>
                <a:cs typeface="Arial MT"/>
              </a:rPr>
              <a:t> </a:t>
            </a:r>
            <a:r>
              <a:rPr sz="1250" spc="5" dirty="0">
                <a:latin typeface="Arial MT"/>
                <a:cs typeface="Arial MT"/>
              </a:rPr>
              <a:t>t</a:t>
            </a:r>
            <a:r>
              <a:rPr sz="1250" spc="-5" dirty="0">
                <a:latin typeface="Arial MT"/>
                <a:cs typeface="Arial MT"/>
              </a:rPr>
              <a:t> </a:t>
            </a:r>
            <a:r>
              <a:rPr sz="1250" spc="15" dirty="0">
                <a:latin typeface="Arial MT"/>
                <a:cs typeface="Arial MT"/>
              </a:rPr>
              <a:t>=</a:t>
            </a:r>
            <a:r>
              <a:rPr sz="1250" spc="-35" dirty="0">
                <a:latin typeface="Arial MT"/>
                <a:cs typeface="Arial MT"/>
              </a:rPr>
              <a:t> </a:t>
            </a:r>
            <a:r>
              <a:rPr sz="1250" spc="5" dirty="0">
                <a:latin typeface="Arial MT"/>
                <a:cs typeface="Arial MT"/>
              </a:rPr>
              <a:t>true; </a:t>
            </a:r>
            <a:r>
              <a:rPr sz="1250" spc="-330" dirty="0">
                <a:latin typeface="Arial MT"/>
                <a:cs typeface="Arial MT"/>
              </a:rPr>
              <a:t> </a:t>
            </a:r>
            <a:r>
              <a:rPr sz="1250" spc="15" dirty="0">
                <a:solidFill>
                  <a:srgbClr val="0000CC"/>
                </a:solidFill>
                <a:latin typeface="Arial MT"/>
                <a:cs typeface="Arial MT"/>
              </a:rPr>
              <a:t>first</a:t>
            </a:r>
            <a:r>
              <a:rPr sz="1250" spc="15" dirty="0">
                <a:solidFill>
                  <a:srgbClr val="3232FF"/>
                </a:solidFill>
                <a:latin typeface="Arial MT"/>
                <a:cs typeface="Arial MT"/>
              </a:rPr>
              <a:t>:</a:t>
            </a:r>
            <a:r>
              <a:rPr sz="1250" spc="-70" dirty="0">
                <a:solidFill>
                  <a:srgbClr val="3232FF"/>
                </a:solidFill>
                <a:latin typeface="Arial MT"/>
                <a:cs typeface="Arial MT"/>
              </a:rPr>
              <a:t> </a:t>
            </a:r>
            <a:r>
              <a:rPr sz="1250" spc="5" dirty="0">
                <a:solidFill>
                  <a:srgbClr val="3232FF"/>
                </a:solidFill>
                <a:latin typeface="Arial MT"/>
                <a:cs typeface="Arial MT"/>
              </a:rPr>
              <a:t>{</a:t>
            </a:r>
            <a:endParaRPr sz="1250" dirty="0">
              <a:latin typeface="Arial MT"/>
              <a:cs typeface="Arial MT"/>
            </a:endParaRPr>
          </a:p>
          <a:p>
            <a:pPr marR="2610485" algn="r">
              <a:lnSpc>
                <a:spcPts val="1455"/>
              </a:lnSpc>
            </a:pPr>
            <a:r>
              <a:rPr sz="1250" b="1" spc="5" dirty="0">
                <a:solidFill>
                  <a:srgbClr val="C00000"/>
                </a:solidFill>
                <a:latin typeface="Arial"/>
                <a:cs typeface="Arial"/>
              </a:rPr>
              <a:t>second</a:t>
            </a:r>
            <a:r>
              <a:rPr sz="1250" spc="5" dirty="0">
                <a:latin typeface="Arial MT"/>
                <a:cs typeface="Arial MT"/>
              </a:rPr>
              <a:t>:</a:t>
            </a:r>
            <a:r>
              <a:rPr sz="1250" spc="15" dirty="0">
                <a:latin typeface="Arial MT"/>
                <a:cs typeface="Arial MT"/>
              </a:rPr>
              <a:t> </a:t>
            </a:r>
            <a:r>
              <a:rPr sz="1250" spc="5" dirty="0">
                <a:solidFill>
                  <a:srgbClr val="C00000"/>
                </a:solidFill>
                <a:latin typeface="Arial MT"/>
                <a:cs typeface="Arial MT"/>
              </a:rPr>
              <a:t>{</a:t>
            </a:r>
            <a:endParaRPr sz="1250" dirty="0">
              <a:latin typeface="Arial MT"/>
              <a:cs typeface="Arial MT"/>
            </a:endParaRPr>
          </a:p>
          <a:p>
            <a:pPr marR="2575560" algn="r">
              <a:lnSpc>
                <a:spcPct val="100000"/>
              </a:lnSpc>
              <a:spcBef>
                <a:spcPts val="55"/>
              </a:spcBef>
            </a:pPr>
            <a:r>
              <a:rPr sz="1250" b="1" spc="15" dirty="0">
                <a:solidFill>
                  <a:srgbClr val="323200"/>
                </a:solidFill>
                <a:latin typeface="Arial"/>
                <a:cs typeface="Arial"/>
              </a:rPr>
              <a:t>third</a:t>
            </a:r>
            <a:r>
              <a:rPr sz="1250" spc="15" dirty="0">
                <a:latin typeface="Arial MT"/>
                <a:cs typeface="Arial MT"/>
              </a:rPr>
              <a:t>:</a:t>
            </a:r>
            <a:r>
              <a:rPr sz="1250" spc="-65" dirty="0">
                <a:latin typeface="Arial MT"/>
                <a:cs typeface="Arial MT"/>
              </a:rPr>
              <a:t> </a:t>
            </a:r>
            <a:r>
              <a:rPr sz="1250" spc="5" dirty="0">
                <a:latin typeface="Arial MT"/>
                <a:cs typeface="Arial MT"/>
              </a:rPr>
              <a:t>{</a:t>
            </a:r>
            <a:endParaRPr sz="1250" dirty="0">
              <a:latin typeface="Arial MT"/>
              <a:cs typeface="Arial MT"/>
            </a:endParaRPr>
          </a:p>
          <a:p>
            <a:pPr marL="1108075">
              <a:lnSpc>
                <a:spcPct val="100000"/>
              </a:lnSpc>
              <a:spcBef>
                <a:spcPts val="20"/>
              </a:spcBef>
            </a:pPr>
            <a:r>
              <a:rPr sz="1250" spc="5" dirty="0">
                <a:latin typeface="Arial MT"/>
                <a:cs typeface="Arial MT"/>
              </a:rPr>
              <a:t>System.out.println("Before</a:t>
            </a:r>
            <a:r>
              <a:rPr sz="1250" spc="65" dirty="0">
                <a:latin typeface="Arial MT"/>
                <a:cs typeface="Arial MT"/>
              </a:rPr>
              <a:t> </a:t>
            </a:r>
            <a:r>
              <a:rPr sz="1250" spc="15" dirty="0">
                <a:latin typeface="Arial MT"/>
                <a:cs typeface="Arial MT"/>
              </a:rPr>
              <a:t>the</a:t>
            </a:r>
            <a:r>
              <a:rPr sz="1250" spc="-5" dirty="0">
                <a:latin typeface="Arial MT"/>
                <a:cs typeface="Arial MT"/>
              </a:rPr>
              <a:t> </a:t>
            </a:r>
            <a:r>
              <a:rPr sz="1250" dirty="0">
                <a:latin typeface="Arial MT"/>
                <a:cs typeface="Arial MT"/>
              </a:rPr>
              <a:t>break.");</a:t>
            </a:r>
          </a:p>
          <a:p>
            <a:pPr marL="1108075">
              <a:lnSpc>
                <a:spcPct val="100000"/>
              </a:lnSpc>
              <a:spcBef>
                <a:spcPts val="20"/>
              </a:spcBef>
            </a:pPr>
            <a:r>
              <a:rPr sz="1250" spc="15" dirty="0">
                <a:latin typeface="Arial MT"/>
                <a:cs typeface="Arial MT"/>
              </a:rPr>
              <a:t>if(t)</a:t>
            </a:r>
            <a:r>
              <a:rPr sz="1250" spc="-55" dirty="0">
                <a:latin typeface="Arial MT"/>
                <a:cs typeface="Arial MT"/>
              </a:rPr>
              <a:t> </a:t>
            </a:r>
            <a:r>
              <a:rPr sz="1250" b="1" spc="15" dirty="0">
                <a:latin typeface="Arial"/>
                <a:cs typeface="Arial"/>
              </a:rPr>
              <a:t>break</a:t>
            </a:r>
            <a:r>
              <a:rPr sz="1250" b="1" spc="-20" dirty="0">
                <a:latin typeface="Arial"/>
                <a:cs typeface="Arial"/>
              </a:rPr>
              <a:t> </a:t>
            </a:r>
            <a:r>
              <a:rPr sz="1250" b="1" spc="5" dirty="0">
                <a:solidFill>
                  <a:srgbClr val="C00000"/>
                </a:solidFill>
                <a:latin typeface="Arial"/>
                <a:cs typeface="Arial"/>
              </a:rPr>
              <a:t>second</a:t>
            </a:r>
            <a:r>
              <a:rPr sz="1250" spc="5" dirty="0">
                <a:latin typeface="Arial MT"/>
                <a:cs typeface="Arial MT"/>
              </a:rPr>
              <a:t>;</a:t>
            </a:r>
            <a:r>
              <a:rPr sz="1250" spc="50" dirty="0">
                <a:latin typeface="Arial MT"/>
                <a:cs typeface="Arial MT"/>
              </a:rPr>
              <a:t> </a:t>
            </a:r>
            <a:r>
              <a:rPr sz="1250" i="1" spc="15" dirty="0">
                <a:latin typeface="Arial"/>
                <a:cs typeface="Arial"/>
              </a:rPr>
              <a:t>//break</a:t>
            </a:r>
            <a:r>
              <a:rPr sz="1250" i="1" spc="-35" dirty="0">
                <a:latin typeface="Arial"/>
                <a:cs typeface="Arial"/>
              </a:rPr>
              <a:t> </a:t>
            </a:r>
            <a:r>
              <a:rPr sz="1250" i="1" spc="-10" dirty="0">
                <a:latin typeface="Arial"/>
                <a:cs typeface="Arial"/>
              </a:rPr>
              <a:t>of</a:t>
            </a:r>
            <a:r>
              <a:rPr sz="1250" i="1" spc="5" dirty="0">
                <a:latin typeface="Arial"/>
                <a:cs typeface="Arial"/>
              </a:rPr>
              <a:t> </a:t>
            </a:r>
            <a:r>
              <a:rPr sz="1250" i="1" spc="10" dirty="0">
                <a:latin typeface="Arial"/>
                <a:cs typeface="Arial"/>
              </a:rPr>
              <a:t>second</a:t>
            </a:r>
            <a:r>
              <a:rPr sz="1250" i="1" spc="5" dirty="0">
                <a:latin typeface="Arial"/>
                <a:cs typeface="Arial"/>
              </a:rPr>
              <a:t> block</a:t>
            </a:r>
            <a:endParaRPr sz="1250" dirty="0">
              <a:latin typeface="Arial"/>
              <a:cs typeface="Arial"/>
            </a:endParaRPr>
          </a:p>
          <a:p>
            <a:pPr marL="1108075">
              <a:lnSpc>
                <a:spcPct val="100000"/>
              </a:lnSpc>
              <a:spcBef>
                <a:spcPts val="60"/>
              </a:spcBef>
            </a:pPr>
            <a:r>
              <a:rPr sz="1250" spc="5" dirty="0">
                <a:latin typeface="Arial MT"/>
                <a:cs typeface="Arial MT"/>
              </a:rPr>
              <a:t>System.out.println("This</a:t>
            </a:r>
            <a:r>
              <a:rPr sz="1250" spc="65" dirty="0">
                <a:latin typeface="Arial MT"/>
                <a:cs typeface="Arial MT"/>
              </a:rPr>
              <a:t> </a:t>
            </a:r>
            <a:r>
              <a:rPr sz="1250" dirty="0">
                <a:latin typeface="Arial MT"/>
                <a:cs typeface="Arial MT"/>
              </a:rPr>
              <a:t>won't</a:t>
            </a:r>
            <a:r>
              <a:rPr sz="1250" spc="40" dirty="0">
                <a:latin typeface="Arial MT"/>
                <a:cs typeface="Arial MT"/>
              </a:rPr>
              <a:t> </a:t>
            </a:r>
            <a:r>
              <a:rPr sz="1250" spc="-10" dirty="0">
                <a:latin typeface="Arial MT"/>
                <a:cs typeface="Arial MT"/>
              </a:rPr>
              <a:t>execute");</a:t>
            </a:r>
            <a:endParaRPr sz="1250" dirty="0">
              <a:latin typeface="Arial MT"/>
              <a:cs typeface="Arial MT"/>
            </a:endParaRPr>
          </a:p>
          <a:p>
            <a:pPr marL="1108075">
              <a:lnSpc>
                <a:spcPct val="100000"/>
              </a:lnSpc>
              <a:spcBef>
                <a:spcPts val="15"/>
              </a:spcBef>
            </a:pPr>
            <a:r>
              <a:rPr sz="1250" spc="5" dirty="0">
                <a:latin typeface="Arial MT"/>
                <a:cs typeface="Arial MT"/>
              </a:rPr>
              <a:t>}</a:t>
            </a:r>
            <a:endParaRPr sz="1250" dirty="0">
              <a:latin typeface="Arial MT"/>
              <a:cs typeface="Arial MT"/>
            </a:endParaRPr>
          </a:p>
          <a:p>
            <a:pPr marL="864235">
              <a:lnSpc>
                <a:spcPct val="100000"/>
              </a:lnSpc>
              <a:spcBef>
                <a:spcPts val="60"/>
              </a:spcBef>
            </a:pPr>
            <a:r>
              <a:rPr sz="1250" spc="5" dirty="0">
                <a:latin typeface="Arial MT"/>
                <a:cs typeface="Arial MT"/>
              </a:rPr>
              <a:t>System.out.println("This</a:t>
            </a:r>
            <a:r>
              <a:rPr sz="1250" spc="75" dirty="0">
                <a:latin typeface="Arial MT"/>
                <a:cs typeface="Arial MT"/>
              </a:rPr>
              <a:t> </a:t>
            </a:r>
            <a:r>
              <a:rPr sz="1250" dirty="0">
                <a:latin typeface="Arial MT"/>
                <a:cs typeface="Arial MT"/>
              </a:rPr>
              <a:t>won't</a:t>
            </a:r>
            <a:r>
              <a:rPr sz="1250" spc="45" dirty="0">
                <a:latin typeface="Arial MT"/>
                <a:cs typeface="Arial MT"/>
              </a:rPr>
              <a:t> </a:t>
            </a:r>
            <a:r>
              <a:rPr sz="1250" spc="-10" dirty="0">
                <a:latin typeface="Arial MT"/>
                <a:cs typeface="Arial MT"/>
              </a:rPr>
              <a:t>execute");</a:t>
            </a:r>
            <a:endParaRPr sz="1250" dirty="0">
              <a:latin typeface="Arial MT"/>
              <a:cs typeface="Arial MT"/>
            </a:endParaRPr>
          </a:p>
          <a:p>
            <a:pPr marL="864235">
              <a:lnSpc>
                <a:spcPct val="100000"/>
              </a:lnSpc>
              <a:spcBef>
                <a:spcPts val="20"/>
              </a:spcBef>
            </a:pPr>
            <a:r>
              <a:rPr sz="1250" spc="5" dirty="0">
                <a:solidFill>
                  <a:srgbClr val="C00000"/>
                </a:solidFill>
                <a:latin typeface="Arial MT"/>
                <a:cs typeface="Arial MT"/>
              </a:rPr>
              <a:t>}</a:t>
            </a:r>
            <a:endParaRPr sz="1250" dirty="0">
              <a:latin typeface="Arial MT"/>
              <a:cs typeface="Arial MT"/>
            </a:endParaRPr>
          </a:p>
          <a:p>
            <a:pPr marL="621030">
              <a:lnSpc>
                <a:spcPct val="100000"/>
              </a:lnSpc>
              <a:spcBef>
                <a:spcPts val="15"/>
              </a:spcBef>
            </a:pPr>
            <a:r>
              <a:rPr sz="1250" spc="5" dirty="0">
                <a:latin typeface="Arial MT"/>
                <a:cs typeface="Arial MT"/>
              </a:rPr>
              <a:t>System.out.println(“After</a:t>
            </a:r>
            <a:r>
              <a:rPr sz="1250" spc="65" dirty="0">
                <a:latin typeface="Arial MT"/>
                <a:cs typeface="Arial MT"/>
              </a:rPr>
              <a:t> </a:t>
            </a:r>
            <a:r>
              <a:rPr sz="1250" dirty="0">
                <a:latin typeface="Arial MT"/>
                <a:cs typeface="Arial MT"/>
              </a:rPr>
              <a:t>second</a:t>
            </a:r>
            <a:r>
              <a:rPr sz="1250" spc="65" dirty="0">
                <a:latin typeface="Arial MT"/>
                <a:cs typeface="Arial MT"/>
              </a:rPr>
              <a:t> </a:t>
            </a:r>
            <a:r>
              <a:rPr sz="1250" dirty="0">
                <a:latin typeface="Arial MT"/>
                <a:cs typeface="Arial MT"/>
              </a:rPr>
              <a:t>block.");</a:t>
            </a:r>
          </a:p>
          <a:p>
            <a:pPr marL="621030">
              <a:lnSpc>
                <a:spcPct val="100000"/>
              </a:lnSpc>
              <a:spcBef>
                <a:spcPts val="60"/>
              </a:spcBef>
            </a:pPr>
            <a:r>
              <a:rPr sz="1250" spc="5" dirty="0">
                <a:solidFill>
                  <a:srgbClr val="3232FF"/>
                </a:solidFill>
                <a:latin typeface="Arial MT"/>
                <a:cs typeface="Arial MT"/>
              </a:rPr>
              <a:t>}</a:t>
            </a:r>
            <a:endParaRPr sz="1250" dirty="0">
              <a:latin typeface="Arial MT"/>
              <a:cs typeface="Arial MT"/>
            </a:endParaRPr>
          </a:p>
          <a:p>
            <a:pPr marL="12700">
              <a:lnSpc>
                <a:spcPct val="100000"/>
              </a:lnSpc>
              <a:spcBef>
                <a:spcPts val="20"/>
              </a:spcBef>
            </a:pPr>
            <a:r>
              <a:rPr sz="1250" spc="10" dirty="0">
                <a:solidFill>
                  <a:srgbClr val="00AF50"/>
                </a:solidFill>
                <a:latin typeface="Arial MT"/>
                <a:cs typeface="Arial MT"/>
              </a:rPr>
              <a:t>}</a:t>
            </a:r>
            <a:r>
              <a:rPr sz="1250" spc="10" dirty="0">
                <a:solidFill>
                  <a:srgbClr val="FF0000"/>
                </a:solidFill>
                <a:latin typeface="Arial MT"/>
                <a:cs typeface="Arial MT"/>
              </a:rPr>
              <a:t>}</a:t>
            </a:r>
            <a:endParaRPr sz="1250" dirty="0">
              <a:latin typeface="Arial MT"/>
              <a:cs typeface="Arial MT"/>
            </a:endParaRPr>
          </a:p>
        </p:txBody>
      </p:sp>
      <p:grpSp>
        <p:nvGrpSpPr>
          <p:cNvPr id="5" name="object 5"/>
          <p:cNvGrpSpPr/>
          <p:nvPr/>
        </p:nvGrpSpPr>
        <p:grpSpPr>
          <a:xfrm>
            <a:off x="4727534" y="1169525"/>
            <a:ext cx="1505585" cy="831215"/>
            <a:chOff x="4727534" y="1169525"/>
            <a:chExt cx="1505585" cy="831215"/>
          </a:xfrm>
        </p:grpSpPr>
        <p:pic>
          <p:nvPicPr>
            <p:cNvPr id="6" name="object 6"/>
            <p:cNvPicPr/>
            <p:nvPr/>
          </p:nvPicPr>
          <p:blipFill>
            <a:blip r:embed="rId2" cstate="print"/>
            <a:stretch>
              <a:fillRect/>
            </a:stretch>
          </p:blipFill>
          <p:spPr>
            <a:xfrm>
              <a:off x="4773147" y="1194866"/>
              <a:ext cx="1459629" cy="745019"/>
            </a:xfrm>
            <a:prstGeom prst="rect">
              <a:avLst/>
            </a:prstGeom>
          </p:spPr>
        </p:pic>
        <p:pic>
          <p:nvPicPr>
            <p:cNvPr id="7" name="object 7"/>
            <p:cNvPicPr/>
            <p:nvPr/>
          </p:nvPicPr>
          <p:blipFill>
            <a:blip r:embed="rId3" cstate="print"/>
            <a:stretch>
              <a:fillRect/>
            </a:stretch>
          </p:blipFill>
          <p:spPr>
            <a:xfrm>
              <a:off x="4727534" y="1169525"/>
              <a:ext cx="1464697" cy="831177"/>
            </a:xfrm>
            <a:prstGeom prst="rect">
              <a:avLst/>
            </a:prstGeom>
          </p:spPr>
        </p:pic>
        <p:pic>
          <p:nvPicPr>
            <p:cNvPr id="8" name="object 8"/>
            <p:cNvPicPr/>
            <p:nvPr/>
          </p:nvPicPr>
          <p:blipFill>
            <a:blip r:embed="rId4" cstate="print"/>
            <a:stretch>
              <a:fillRect/>
            </a:stretch>
          </p:blipFill>
          <p:spPr>
            <a:xfrm>
              <a:off x="4791725" y="1204191"/>
              <a:ext cx="1419083" cy="704473"/>
            </a:xfrm>
            <a:prstGeom prst="rect">
              <a:avLst/>
            </a:prstGeom>
          </p:spPr>
        </p:pic>
      </p:grpSp>
      <p:sp>
        <p:nvSpPr>
          <p:cNvPr id="9" name="object 9"/>
          <p:cNvSpPr txBox="1"/>
          <p:nvPr/>
        </p:nvSpPr>
        <p:spPr>
          <a:xfrm>
            <a:off x="4791725" y="1204191"/>
            <a:ext cx="1419225" cy="704850"/>
          </a:xfrm>
          <a:prstGeom prst="rect">
            <a:avLst/>
          </a:prstGeom>
          <a:ln w="5073">
            <a:solidFill>
              <a:srgbClr val="000000"/>
            </a:solidFill>
          </a:ln>
        </p:spPr>
        <p:txBody>
          <a:bodyPr vert="horz" wrap="square" lIns="0" tIns="24130" rIns="0" bIns="0" rtlCol="0">
            <a:spAutoFit/>
          </a:bodyPr>
          <a:lstStyle/>
          <a:p>
            <a:pPr marL="52069">
              <a:lnSpc>
                <a:spcPct val="100000"/>
              </a:lnSpc>
              <a:spcBef>
                <a:spcPts val="190"/>
              </a:spcBef>
            </a:pPr>
            <a:r>
              <a:rPr sz="1050" b="1" spc="25" dirty="0">
                <a:latin typeface="Arial"/>
                <a:cs typeface="Arial"/>
              </a:rPr>
              <a:t>OUTPUT</a:t>
            </a:r>
            <a:endParaRPr sz="1050">
              <a:latin typeface="Arial"/>
              <a:cs typeface="Arial"/>
            </a:endParaRPr>
          </a:p>
          <a:p>
            <a:pPr marL="52069" marR="160655">
              <a:lnSpc>
                <a:spcPct val="101400"/>
              </a:lnSpc>
            </a:pPr>
            <a:r>
              <a:rPr sz="1050" spc="5" dirty="0">
                <a:latin typeface="Arial MT"/>
                <a:cs typeface="Arial MT"/>
              </a:rPr>
              <a:t>Before </a:t>
            </a:r>
            <a:r>
              <a:rPr sz="1050" spc="15" dirty="0">
                <a:latin typeface="Arial MT"/>
                <a:cs typeface="Arial MT"/>
              </a:rPr>
              <a:t>the </a:t>
            </a:r>
            <a:r>
              <a:rPr sz="1050" spc="10" dirty="0">
                <a:latin typeface="Arial MT"/>
                <a:cs typeface="Arial MT"/>
              </a:rPr>
              <a:t>break. </a:t>
            </a:r>
            <a:r>
              <a:rPr sz="1050" spc="15" dirty="0">
                <a:latin typeface="Arial MT"/>
                <a:cs typeface="Arial MT"/>
              </a:rPr>
              <a:t> A</a:t>
            </a:r>
            <a:r>
              <a:rPr sz="1050" spc="-20" dirty="0">
                <a:latin typeface="Arial MT"/>
                <a:cs typeface="Arial MT"/>
              </a:rPr>
              <a:t>f</a:t>
            </a:r>
            <a:r>
              <a:rPr sz="1050" spc="20" dirty="0">
                <a:latin typeface="Arial MT"/>
                <a:cs typeface="Arial MT"/>
              </a:rPr>
              <a:t>t</a:t>
            </a:r>
            <a:r>
              <a:rPr sz="1050" spc="10" dirty="0">
                <a:latin typeface="Arial MT"/>
                <a:cs typeface="Arial MT"/>
              </a:rPr>
              <a:t>e</a:t>
            </a:r>
            <a:r>
              <a:rPr sz="1050" spc="5" dirty="0">
                <a:latin typeface="Arial MT"/>
                <a:cs typeface="Arial MT"/>
              </a:rPr>
              <a:t>r</a:t>
            </a:r>
            <a:r>
              <a:rPr sz="1050" spc="-25" dirty="0">
                <a:latin typeface="Times New Roman"/>
                <a:cs typeface="Times New Roman"/>
              </a:rPr>
              <a:t> </a:t>
            </a:r>
            <a:r>
              <a:rPr sz="1050" spc="25" dirty="0">
                <a:latin typeface="Arial MT"/>
                <a:cs typeface="Arial MT"/>
              </a:rPr>
              <a:t>s</a:t>
            </a:r>
            <a:r>
              <a:rPr sz="1050" spc="10" dirty="0">
                <a:latin typeface="Arial MT"/>
                <a:cs typeface="Arial MT"/>
              </a:rPr>
              <a:t>e</a:t>
            </a:r>
            <a:r>
              <a:rPr sz="1050" spc="25" dirty="0">
                <a:latin typeface="Arial MT"/>
                <a:cs typeface="Arial MT"/>
              </a:rPr>
              <a:t>c</a:t>
            </a:r>
            <a:r>
              <a:rPr sz="1050" spc="10" dirty="0">
                <a:latin typeface="Arial MT"/>
                <a:cs typeface="Arial MT"/>
              </a:rPr>
              <a:t>on</a:t>
            </a:r>
            <a:r>
              <a:rPr sz="1050" spc="15" dirty="0">
                <a:latin typeface="Arial MT"/>
                <a:cs typeface="Arial MT"/>
              </a:rPr>
              <a:t>d</a:t>
            </a:r>
            <a:r>
              <a:rPr sz="1050" spc="-30" dirty="0">
                <a:latin typeface="Times New Roman"/>
                <a:cs typeface="Times New Roman"/>
              </a:rPr>
              <a:t> </a:t>
            </a:r>
            <a:r>
              <a:rPr sz="1050" spc="5" dirty="0">
                <a:latin typeface="Arial MT"/>
                <a:cs typeface="Arial MT"/>
              </a:rPr>
              <a:t>blo</a:t>
            </a:r>
            <a:r>
              <a:rPr sz="1050" spc="25" dirty="0">
                <a:latin typeface="Arial MT"/>
                <a:cs typeface="Arial MT"/>
              </a:rPr>
              <a:t>ck.</a:t>
            </a:r>
            <a:r>
              <a:rPr sz="1050" spc="5" dirty="0">
                <a:latin typeface="Arial MT"/>
                <a:cs typeface="Arial MT"/>
              </a:rPr>
              <a:t>.</a:t>
            </a:r>
            <a:endParaRPr sz="1050">
              <a:latin typeface="Arial MT"/>
              <a:cs typeface="Arial MT"/>
            </a:endParaRPr>
          </a:p>
        </p:txBody>
      </p:sp>
      <p:sp>
        <p:nvSpPr>
          <p:cNvPr id="10" name="object 10"/>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64664" y="732823"/>
            <a:ext cx="2021205" cy="492759"/>
          </a:xfrm>
          <a:prstGeom prst="rect">
            <a:avLst/>
          </a:prstGeom>
        </p:spPr>
        <p:txBody>
          <a:bodyPr vert="horz" wrap="square" lIns="0" tIns="11430" rIns="0" bIns="0" rtlCol="0">
            <a:spAutoFit/>
          </a:bodyPr>
          <a:lstStyle/>
          <a:p>
            <a:pPr marL="12700" marR="5080">
              <a:lnSpc>
                <a:spcPct val="122600"/>
              </a:lnSpc>
              <a:spcBef>
                <a:spcPts val="90"/>
              </a:spcBef>
            </a:pPr>
            <a:r>
              <a:rPr sz="1250" spc="5" dirty="0">
                <a:latin typeface="Arial MT"/>
                <a:cs typeface="Arial MT"/>
              </a:rPr>
              <a:t>//</a:t>
            </a:r>
            <a:r>
              <a:rPr sz="1250" spc="-35" dirty="0">
                <a:latin typeface="Arial MT"/>
                <a:cs typeface="Arial MT"/>
              </a:rPr>
              <a:t> </a:t>
            </a:r>
            <a:r>
              <a:rPr sz="1250" spc="10" dirty="0">
                <a:latin typeface="Arial MT"/>
                <a:cs typeface="Arial MT"/>
              </a:rPr>
              <a:t>Using</a:t>
            </a:r>
            <a:r>
              <a:rPr sz="1250" spc="5" dirty="0">
                <a:latin typeface="Arial MT"/>
                <a:cs typeface="Arial MT"/>
              </a:rPr>
              <a:t> </a:t>
            </a:r>
            <a:r>
              <a:rPr sz="1250" spc="-5" dirty="0">
                <a:latin typeface="Arial MT"/>
                <a:cs typeface="Arial MT"/>
              </a:rPr>
              <a:t>break</a:t>
            </a:r>
            <a:r>
              <a:rPr sz="1250" spc="75" dirty="0">
                <a:latin typeface="Arial MT"/>
                <a:cs typeface="Arial MT"/>
              </a:rPr>
              <a:t> </a:t>
            </a:r>
            <a:r>
              <a:rPr sz="1250" spc="10" dirty="0">
                <a:latin typeface="Arial MT"/>
                <a:cs typeface="Arial MT"/>
              </a:rPr>
              <a:t>to </a:t>
            </a:r>
            <a:r>
              <a:rPr sz="1250" spc="-25" dirty="0">
                <a:latin typeface="Arial MT"/>
                <a:cs typeface="Arial MT"/>
              </a:rPr>
              <a:t>exit</a:t>
            </a:r>
            <a:r>
              <a:rPr sz="1250" spc="80" dirty="0">
                <a:latin typeface="Arial MT"/>
                <a:cs typeface="Arial MT"/>
              </a:rPr>
              <a:t> </a:t>
            </a:r>
            <a:r>
              <a:rPr sz="1250" spc="15" dirty="0">
                <a:latin typeface="Arial MT"/>
                <a:cs typeface="Arial MT"/>
              </a:rPr>
              <a:t>a</a:t>
            </a:r>
            <a:r>
              <a:rPr sz="1250" spc="5" dirty="0">
                <a:latin typeface="Arial MT"/>
                <a:cs typeface="Arial MT"/>
              </a:rPr>
              <a:t> </a:t>
            </a:r>
            <a:r>
              <a:rPr sz="1250" spc="-10" dirty="0">
                <a:latin typeface="Arial MT"/>
                <a:cs typeface="Arial MT"/>
              </a:rPr>
              <a:t>loop. </a:t>
            </a:r>
            <a:r>
              <a:rPr sz="1250" spc="-335" dirty="0">
                <a:latin typeface="Arial MT"/>
                <a:cs typeface="Arial MT"/>
              </a:rPr>
              <a:t> </a:t>
            </a:r>
            <a:r>
              <a:rPr sz="1250" dirty="0">
                <a:latin typeface="Arial MT"/>
                <a:cs typeface="Arial MT"/>
              </a:rPr>
              <a:t>class</a:t>
            </a:r>
            <a:r>
              <a:rPr sz="1250" spc="40" dirty="0">
                <a:latin typeface="Arial MT"/>
                <a:cs typeface="Arial MT"/>
              </a:rPr>
              <a:t> </a:t>
            </a:r>
            <a:r>
              <a:rPr sz="1250" dirty="0">
                <a:latin typeface="Arial MT"/>
                <a:cs typeface="Arial MT"/>
              </a:rPr>
              <a:t>continueeg</a:t>
            </a:r>
            <a:r>
              <a:rPr sz="1250" spc="55" dirty="0">
                <a:latin typeface="Arial MT"/>
                <a:cs typeface="Arial MT"/>
              </a:rPr>
              <a:t> </a:t>
            </a:r>
            <a:r>
              <a:rPr sz="1250" spc="5" dirty="0">
                <a:latin typeface="Arial MT"/>
                <a:cs typeface="Arial MT"/>
              </a:rPr>
              <a:t>{</a:t>
            </a:r>
            <a:endParaRPr sz="1250" dirty="0">
              <a:latin typeface="Arial MT"/>
              <a:cs typeface="Arial MT"/>
            </a:endParaRPr>
          </a:p>
        </p:txBody>
      </p:sp>
      <p:sp>
        <p:nvSpPr>
          <p:cNvPr id="3" name="object 3"/>
          <p:cNvSpPr txBox="1">
            <a:spLocks noGrp="1"/>
          </p:cNvSpPr>
          <p:nvPr>
            <p:ph type="title" idx="4294967295"/>
          </p:nvPr>
        </p:nvSpPr>
        <p:spPr>
          <a:xfrm>
            <a:off x="0" y="1193800"/>
            <a:ext cx="2692400" cy="492125"/>
          </a:xfrm>
          <a:prstGeom prst="rect">
            <a:avLst/>
          </a:prstGeom>
        </p:spPr>
        <p:txBody>
          <a:bodyPr vert="horz" wrap="square" lIns="0" tIns="11430" rIns="0" bIns="0" rtlCol="0">
            <a:spAutoFit/>
          </a:bodyPr>
          <a:lstStyle/>
          <a:p>
            <a:pPr marL="255904" marR="5080" indent="-243840">
              <a:lnSpc>
                <a:spcPct val="122600"/>
              </a:lnSpc>
              <a:spcBef>
                <a:spcPts val="90"/>
              </a:spcBef>
            </a:pPr>
            <a:r>
              <a:rPr sz="1250" spc="-5" dirty="0">
                <a:solidFill>
                  <a:srgbClr val="000000"/>
                </a:solidFill>
              </a:rPr>
              <a:t>public</a:t>
            </a:r>
            <a:r>
              <a:rPr sz="1250" spc="75" dirty="0">
                <a:solidFill>
                  <a:srgbClr val="000000"/>
                </a:solidFill>
              </a:rPr>
              <a:t> </a:t>
            </a:r>
            <a:r>
              <a:rPr sz="1250" spc="5" dirty="0">
                <a:solidFill>
                  <a:srgbClr val="000000"/>
                </a:solidFill>
              </a:rPr>
              <a:t>static</a:t>
            </a:r>
            <a:r>
              <a:rPr sz="1250" dirty="0">
                <a:solidFill>
                  <a:srgbClr val="000000"/>
                </a:solidFill>
              </a:rPr>
              <a:t> </a:t>
            </a:r>
            <a:r>
              <a:rPr sz="1250" spc="-10" dirty="0">
                <a:solidFill>
                  <a:srgbClr val="000000"/>
                </a:solidFill>
              </a:rPr>
              <a:t>void</a:t>
            </a:r>
            <a:r>
              <a:rPr sz="1250" spc="85" dirty="0">
                <a:solidFill>
                  <a:srgbClr val="000000"/>
                </a:solidFill>
              </a:rPr>
              <a:t> </a:t>
            </a:r>
            <a:r>
              <a:rPr sz="1250" spc="10" dirty="0">
                <a:solidFill>
                  <a:srgbClr val="000000"/>
                </a:solidFill>
              </a:rPr>
              <a:t>main(String</a:t>
            </a:r>
            <a:r>
              <a:rPr sz="1250" spc="-35" dirty="0">
                <a:solidFill>
                  <a:srgbClr val="000000"/>
                </a:solidFill>
              </a:rPr>
              <a:t> </a:t>
            </a:r>
            <a:r>
              <a:rPr sz="1250" dirty="0">
                <a:solidFill>
                  <a:srgbClr val="000000"/>
                </a:solidFill>
              </a:rPr>
              <a:t>args[])</a:t>
            </a:r>
            <a:r>
              <a:rPr sz="1250" spc="50" dirty="0">
                <a:solidFill>
                  <a:srgbClr val="000000"/>
                </a:solidFill>
              </a:rPr>
              <a:t> </a:t>
            </a:r>
            <a:r>
              <a:rPr sz="1250" spc="5" dirty="0">
                <a:solidFill>
                  <a:srgbClr val="000000"/>
                </a:solidFill>
              </a:rPr>
              <a:t>{ </a:t>
            </a:r>
            <a:r>
              <a:rPr sz="1250" spc="-330" dirty="0">
                <a:solidFill>
                  <a:srgbClr val="000000"/>
                </a:solidFill>
              </a:rPr>
              <a:t> </a:t>
            </a:r>
            <a:r>
              <a:rPr sz="1250" spc="10" dirty="0">
                <a:solidFill>
                  <a:srgbClr val="000000"/>
                </a:solidFill>
              </a:rPr>
              <a:t>for(int</a:t>
            </a:r>
            <a:r>
              <a:rPr sz="1250" spc="-30" dirty="0">
                <a:solidFill>
                  <a:srgbClr val="000000"/>
                </a:solidFill>
              </a:rPr>
              <a:t> </a:t>
            </a:r>
            <a:r>
              <a:rPr sz="1250" spc="10" dirty="0">
                <a:solidFill>
                  <a:srgbClr val="000000"/>
                </a:solidFill>
              </a:rPr>
              <a:t>i=0;</a:t>
            </a:r>
            <a:r>
              <a:rPr sz="1250" spc="-25" dirty="0">
                <a:solidFill>
                  <a:srgbClr val="000000"/>
                </a:solidFill>
              </a:rPr>
              <a:t> </a:t>
            </a:r>
            <a:r>
              <a:rPr sz="1250" spc="10" dirty="0">
                <a:solidFill>
                  <a:srgbClr val="000000"/>
                </a:solidFill>
              </a:rPr>
              <a:t>i&lt;6;</a:t>
            </a:r>
            <a:r>
              <a:rPr sz="1250" spc="-30" dirty="0">
                <a:solidFill>
                  <a:srgbClr val="000000"/>
                </a:solidFill>
              </a:rPr>
              <a:t> </a:t>
            </a:r>
            <a:r>
              <a:rPr sz="1250" spc="15" dirty="0">
                <a:solidFill>
                  <a:srgbClr val="000000"/>
                </a:solidFill>
              </a:rPr>
              <a:t>i++)</a:t>
            </a:r>
            <a:endParaRPr sz="1250" dirty="0"/>
          </a:p>
        </p:txBody>
      </p:sp>
      <p:sp>
        <p:nvSpPr>
          <p:cNvPr id="4" name="object 4"/>
          <p:cNvSpPr txBox="1"/>
          <p:nvPr/>
        </p:nvSpPr>
        <p:spPr>
          <a:xfrm>
            <a:off x="364662" y="1661640"/>
            <a:ext cx="3743960" cy="2177415"/>
          </a:xfrm>
          <a:prstGeom prst="rect">
            <a:avLst/>
          </a:prstGeom>
        </p:spPr>
        <p:txBody>
          <a:bodyPr vert="horz" wrap="square" lIns="0" tIns="59690" rIns="0" bIns="0" rtlCol="0">
            <a:spAutoFit/>
          </a:bodyPr>
          <a:lstStyle/>
          <a:p>
            <a:pPr marL="499109">
              <a:lnSpc>
                <a:spcPct val="100000"/>
              </a:lnSpc>
              <a:spcBef>
                <a:spcPts val="470"/>
              </a:spcBef>
            </a:pPr>
            <a:r>
              <a:rPr sz="1250" spc="5" dirty="0">
                <a:latin typeface="Arial MT"/>
                <a:cs typeface="Arial MT"/>
              </a:rPr>
              <a:t>{</a:t>
            </a:r>
            <a:endParaRPr sz="1250" dirty="0">
              <a:latin typeface="Arial MT"/>
              <a:cs typeface="Arial MT"/>
            </a:endParaRPr>
          </a:p>
          <a:p>
            <a:pPr marL="742950">
              <a:lnSpc>
                <a:spcPct val="100000"/>
              </a:lnSpc>
              <a:spcBef>
                <a:spcPts val="380"/>
              </a:spcBef>
            </a:pPr>
            <a:r>
              <a:rPr sz="1250" spc="15" dirty="0">
                <a:latin typeface="Arial MT"/>
                <a:cs typeface="Arial MT"/>
              </a:rPr>
              <a:t>if(i</a:t>
            </a:r>
            <a:r>
              <a:rPr sz="1250" spc="-60" dirty="0">
                <a:latin typeface="Arial MT"/>
                <a:cs typeface="Arial MT"/>
              </a:rPr>
              <a:t> </a:t>
            </a:r>
            <a:r>
              <a:rPr sz="1250" spc="20" dirty="0">
                <a:latin typeface="Arial MT"/>
                <a:cs typeface="Arial MT"/>
              </a:rPr>
              <a:t>==</a:t>
            </a:r>
            <a:r>
              <a:rPr sz="1250" spc="-40" dirty="0">
                <a:latin typeface="Arial MT"/>
                <a:cs typeface="Arial MT"/>
              </a:rPr>
              <a:t> </a:t>
            </a:r>
            <a:r>
              <a:rPr sz="1250" b="1" spc="15" dirty="0">
                <a:latin typeface="Arial"/>
                <a:cs typeface="Arial"/>
              </a:rPr>
              <a:t>3</a:t>
            </a:r>
            <a:r>
              <a:rPr sz="1250" spc="15" dirty="0">
                <a:latin typeface="Arial MT"/>
                <a:cs typeface="Arial MT"/>
              </a:rPr>
              <a:t>)</a:t>
            </a:r>
            <a:endParaRPr sz="1250" dirty="0">
              <a:latin typeface="Arial MT"/>
              <a:cs typeface="Arial MT"/>
            </a:endParaRPr>
          </a:p>
          <a:p>
            <a:pPr marL="909955">
              <a:lnSpc>
                <a:spcPct val="100000"/>
              </a:lnSpc>
              <a:spcBef>
                <a:spcPts val="340"/>
              </a:spcBef>
            </a:pPr>
            <a:r>
              <a:rPr sz="1250" spc="5" dirty="0">
                <a:solidFill>
                  <a:srgbClr val="C00000"/>
                </a:solidFill>
                <a:latin typeface="Arial MT"/>
                <a:cs typeface="Arial MT"/>
              </a:rPr>
              <a:t>continue</a:t>
            </a:r>
            <a:r>
              <a:rPr sz="1250" spc="5" dirty="0">
                <a:latin typeface="Arial MT"/>
                <a:cs typeface="Arial MT"/>
              </a:rPr>
              <a:t>;</a:t>
            </a:r>
            <a:r>
              <a:rPr sz="1250" spc="50" dirty="0">
                <a:latin typeface="Arial MT"/>
                <a:cs typeface="Arial MT"/>
              </a:rPr>
              <a:t> </a:t>
            </a:r>
            <a:r>
              <a:rPr sz="1250" i="1" spc="5" dirty="0">
                <a:latin typeface="Arial"/>
                <a:cs typeface="Arial"/>
              </a:rPr>
              <a:t>//</a:t>
            </a:r>
            <a:r>
              <a:rPr sz="1250" i="1" spc="-30" dirty="0">
                <a:latin typeface="Arial"/>
                <a:cs typeface="Arial"/>
              </a:rPr>
              <a:t> </a:t>
            </a:r>
            <a:r>
              <a:rPr sz="1250" i="1" spc="10" dirty="0">
                <a:latin typeface="Arial"/>
                <a:cs typeface="Arial"/>
              </a:rPr>
              <a:t>skip</a:t>
            </a:r>
            <a:r>
              <a:rPr sz="1250" i="1" spc="5" dirty="0">
                <a:latin typeface="Arial"/>
                <a:cs typeface="Arial"/>
              </a:rPr>
              <a:t> </a:t>
            </a:r>
            <a:r>
              <a:rPr sz="1250" i="1" spc="15" dirty="0">
                <a:latin typeface="Arial"/>
                <a:cs typeface="Arial"/>
              </a:rPr>
              <a:t>remaining</a:t>
            </a:r>
            <a:r>
              <a:rPr sz="1250" i="1" spc="-25" dirty="0">
                <a:latin typeface="Arial"/>
                <a:cs typeface="Arial"/>
              </a:rPr>
              <a:t> </a:t>
            </a:r>
            <a:r>
              <a:rPr sz="1250" i="1" spc="15" dirty="0">
                <a:latin typeface="Arial"/>
                <a:cs typeface="Arial"/>
              </a:rPr>
              <a:t>stmts</a:t>
            </a:r>
            <a:r>
              <a:rPr sz="1250" i="1" spc="-30" dirty="0">
                <a:latin typeface="Arial"/>
                <a:cs typeface="Arial"/>
              </a:rPr>
              <a:t> </a:t>
            </a:r>
            <a:r>
              <a:rPr sz="1250" i="1" dirty="0">
                <a:latin typeface="Arial"/>
                <a:cs typeface="Arial"/>
              </a:rPr>
              <a:t>if</a:t>
            </a:r>
            <a:r>
              <a:rPr sz="1250" i="1" spc="10" dirty="0">
                <a:latin typeface="Arial"/>
                <a:cs typeface="Arial"/>
              </a:rPr>
              <a:t> </a:t>
            </a:r>
            <a:r>
              <a:rPr sz="1250" i="1" spc="5" dirty="0">
                <a:latin typeface="Arial"/>
                <a:cs typeface="Arial"/>
              </a:rPr>
              <a:t>i</a:t>
            </a:r>
            <a:r>
              <a:rPr sz="1250" i="1" spc="-5" dirty="0">
                <a:latin typeface="Arial"/>
                <a:cs typeface="Arial"/>
              </a:rPr>
              <a:t> </a:t>
            </a:r>
            <a:r>
              <a:rPr sz="1250" i="1" spc="5" dirty="0">
                <a:latin typeface="Arial"/>
                <a:cs typeface="Arial"/>
              </a:rPr>
              <a:t>is</a:t>
            </a:r>
            <a:r>
              <a:rPr sz="1250" i="1" dirty="0">
                <a:latin typeface="Arial"/>
                <a:cs typeface="Arial"/>
              </a:rPr>
              <a:t> </a:t>
            </a:r>
            <a:r>
              <a:rPr sz="1250" i="1" spc="15" dirty="0">
                <a:latin typeface="Arial"/>
                <a:cs typeface="Arial"/>
              </a:rPr>
              <a:t>3</a:t>
            </a:r>
            <a:endParaRPr sz="1250" dirty="0">
              <a:latin typeface="Arial"/>
              <a:cs typeface="Arial"/>
            </a:endParaRPr>
          </a:p>
          <a:p>
            <a:pPr marL="864235">
              <a:lnSpc>
                <a:spcPct val="100000"/>
              </a:lnSpc>
              <a:spcBef>
                <a:spcPts val="335"/>
              </a:spcBef>
            </a:pPr>
            <a:r>
              <a:rPr sz="1250" i="1" spc="5" dirty="0">
                <a:latin typeface="Arial"/>
                <a:cs typeface="Arial"/>
              </a:rPr>
              <a:t>//</a:t>
            </a:r>
            <a:r>
              <a:rPr sz="1250" i="1" spc="-25" dirty="0">
                <a:latin typeface="Arial"/>
                <a:cs typeface="Arial"/>
              </a:rPr>
              <a:t> </a:t>
            </a:r>
            <a:r>
              <a:rPr sz="1250" i="1" spc="10" dirty="0">
                <a:latin typeface="Arial"/>
                <a:cs typeface="Arial"/>
              </a:rPr>
              <a:t>continue </a:t>
            </a:r>
            <a:r>
              <a:rPr sz="1250" i="1" dirty="0">
                <a:latin typeface="Arial"/>
                <a:cs typeface="Arial"/>
              </a:rPr>
              <a:t>loop.control</a:t>
            </a:r>
            <a:r>
              <a:rPr sz="1250" i="1" spc="125" dirty="0">
                <a:latin typeface="Arial"/>
                <a:cs typeface="Arial"/>
              </a:rPr>
              <a:t> </a:t>
            </a:r>
            <a:r>
              <a:rPr sz="1250" i="1" spc="5" dirty="0">
                <a:latin typeface="Arial"/>
                <a:cs typeface="Arial"/>
              </a:rPr>
              <a:t>goes</a:t>
            </a:r>
            <a:r>
              <a:rPr sz="1250" i="1" spc="10" dirty="0">
                <a:latin typeface="Arial"/>
                <a:cs typeface="Arial"/>
              </a:rPr>
              <a:t> to</a:t>
            </a:r>
            <a:r>
              <a:rPr sz="1250" i="1" spc="15" dirty="0">
                <a:latin typeface="Arial"/>
                <a:cs typeface="Arial"/>
              </a:rPr>
              <a:t> </a:t>
            </a:r>
            <a:r>
              <a:rPr sz="1250" i="1" spc="5" dirty="0">
                <a:latin typeface="Arial"/>
                <a:cs typeface="Arial"/>
              </a:rPr>
              <a:t>iteration</a:t>
            </a:r>
            <a:endParaRPr sz="1250" dirty="0">
              <a:latin typeface="Arial"/>
              <a:cs typeface="Arial"/>
            </a:endParaRPr>
          </a:p>
          <a:p>
            <a:pPr marL="742950">
              <a:lnSpc>
                <a:spcPct val="100000"/>
              </a:lnSpc>
              <a:spcBef>
                <a:spcPts val="340"/>
              </a:spcBef>
            </a:pPr>
            <a:r>
              <a:rPr sz="1250" spc="5" dirty="0">
                <a:latin typeface="Arial MT"/>
                <a:cs typeface="Arial MT"/>
              </a:rPr>
              <a:t>System.out.println("i:</a:t>
            </a:r>
            <a:r>
              <a:rPr sz="1250" spc="70" dirty="0">
                <a:latin typeface="Arial MT"/>
                <a:cs typeface="Arial MT"/>
              </a:rPr>
              <a:t> </a:t>
            </a:r>
            <a:r>
              <a:rPr sz="1250" spc="10" dirty="0">
                <a:latin typeface="Arial MT"/>
                <a:cs typeface="Arial MT"/>
              </a:rPr>
              <a:t>"</a:t>
            </a:r>
            <a:r>
              <a:rPr sz="1250" spc="-25" dirty="0">
                <a:latin typeface="Arial MT"/>
                <a:cs typeface="Arial MT"/>
              </a:rPr>
              <a:t> </a:t>
            </a:r>
            <a:r>
              <a:rPr sz="1250" spc="15" dirty="0">
                <a:latin typeface="Arial MT"/>
                <a:cs typeface="Arial MT"/>
              </a:rPr>
              <a:t>+</a:t>
            </a:r>
            <a:r>
              <a:rPr sz="1250" dirty="0">
                <a:latin typeface="Arial MT"/>
                <a:cs typeface="Arial MT"/>
              </a:rPr>
              <a:t> </a:t>
            </a:r>
            <a:r>
              <a:rPr sz="1250" spc="5" dirty="0">
                <a:latin typeface="Arial MT"/>
                <a:cs typeface="Arial MT"/>
              </a:rPr>
              <a:t>i);</a:t>
            </a:r>
            <a:endParaRPr sz="1250" dirty="0">
              <a:latin typeface="Arial MT"/>
              <a:cs typeface="Arial MT"/>
            </a:endParaRPr>
          </a:p>
          <a:p>
            <a:pPr marL="499109">
              <a:lnSpc>
                <a:spcPct val="100000"/>
              </a:lnSpc>
              <a:spcBef>
                <a:spcPts val="335"/>
              </a:spcBef>
            </a:pPr>
            <a:r>
              <a:rPr sz="1250" spc="5" dirty="0">
                <a:latin typeface="Arial MT"/>
                <a:cs typeface="Arial MT"/>
              </a:rPr>
              <a:t>}</a:t>
            </a:r>
            <a:endParaRPr sz="1250" dirty="0">
              <a:latin typeface="Arial MT"/>
              <a:cs typeface="Arial MT"/>
            </a:endParaRPr>
          </a:p>
          <a:p>
            <a:pPr marL="499109">
              <a:lnSpc>
                <a:spcPct val="100000"/>
              </a:lnSpc>
              <a:spcBef>
                <a:spcPts val="340"/>
              </a:spcBef>
            </a:pPr>
            <a:r>
              <a:rPr sz="1250" dirty="0">
                <a:latin typeface="Arial MT"/>
                <a:cs typeface="Arial MT"/>
              </a:rPr>
              <a:t>System.out.println("Loop</a:t>
            </a:r>
            <a:r>
              <a:rPr sz="1250" spc="150" dirty="0">
                <a:latin typeface="Arial MT"/>
                <a:cs typeface="Arial MT"/>
              </a:rPr>
              <a:t> </a:t>
            </a:r>
            <a:r>
              <a:rPr sz="1250" dirty="0">
                <a:latin typeface="Arial MT"/>
                <a:cs typeface="Arial MT"/>
              </a:rPr>
              <a:t>complete.");</a:t>
            </a:r>
          </a:p>
          <a:p>
            <a:pPr marL="255904">
              <a:lnSpc>
                <a:spcPct val="100000"/>
              </a:lnSpc>
              <a:spcBef>
                <a:spcPts val="380"/>
              </a:spcBef>
            </a:pPr>
            <a:r>
              <a:rPr sz="1450" spc="5" dirty="0">
                <a:latin typeface="Arial MT"/>
                <a:cs typeface="Arial MT"/>
              </a:rPr>
              <a:t>}</a:t>
            </a:r>
            <a:endParaRPr sz="1450" dirty="0">
              <a:latin typeface="Arial MT"/>
              <a:cs typeface="Arial MT"/>
            </a:endParaRPr>
          </a:p>
          <a:p>
            <a:pPr marL="12700">
              <a:lnSpc>
                <a:spcPct val="100000"/>
              </a:lnSpc>
              <a:spcBef>
                <a:spcPts val="375"/>
              </a:spcBef>
            </a:pPr>
            <a:r>
              <a:rPr sz="1250" spc="5" dirty="0">
                <a:latin typeface="Arial MT"/>
                <a:cs typeface="Arial MT"/>
              </a:rPr>
              <a:t>}</a:t>
            </a:r>
            <a:endParaRPr sz="1250" dirty="0">
              <a:latin typeface="Arial MT"/>
              <a:cs typeface="Arial MT"/>
            </a:endParaRPr>
          </a:p>
        </p:txBody>
      </p:sp>
      <p:grpSp>
        <p:nvGrpSpPr>
          <p:cNvPr id="6" name="object 6"/>
          <p:cNvGrpSpPr/>
          <p:nvPr/>
        </p:nvGrpSpPr>
        <p:grpSpPr>
          <a:xfrm>
            <a:off x="4540020" y="1250616"/>
            <a:ext cx="1221740" cy="1480185"/>
            <a:chOff x="4540020" y="1250616"/>
            <a:chExt cx="1221740" cy="1480185"/>
          </a:xfrm>
        </p:grpSpPr>
        <p:pic>
          <p:nvPicPr>
            <p:cNvPr id="7" name="object 7"/>
            <p:cNvPicPr/>
            <p:nvPr/>
          </p:nvPicPr>
          <p:blipFill>
            <a:blip r:embed="rId2" cstate="print"/>
            <a:stretch>
              <a:fillRect/>
            </a:stretch>
          </p:blipFill>
          <p:spPr>
            <a:xfrm>
              <a:off x="4585633" y="1275957"/>
              <a:ext cx="1175812" cy="1398811"/>
            </a:xfrm>
            <a:prstGeom prst="rect">
              <a:avLst/>
            </a:prstGeom>
          </p:spPr>
        </p:pic>
        <p:pic>
          <p:nvPicPr>
            <p:cNvPr id="8" name="object 8"/>
            <p:cNvPicPr/>
            <p:nvPr/>
          </p:nvPicPr>
          <p:blipFill>
            <a:blip r:embed="rId3" cstate="print"/>
            <a:stretch>
              <a:fillRect/>
            </a:stretch>
          </p:blipFill>
          <p:spPr>
            <a:xfrm>
              <a:off x="4540020" y="1250616"/>
              <a:ext cx="1201153" cy="1479901"/>
            </a:xfrm>
            <a:prstGeom prst="rect">
              <a:avLst/>
            </a:prstGeom>
          </p:spPr>
        </p:pic>
        <p:pic>
          <p:nvPicPr>
            <p:cNvPr id="9" name="object 9"/>
            <p:cNvPicPr/>
            <p:nvPr/>
          </p:nvPicPr>
          <p:blipFill>
            <a:blip r:embed="rId4" cstate="print"/>
            <a:stretch>
              <a:fillRect/>
            </a:stretch>
          </p:blipFill>
          <p:spPr>
            <a:xfrm>
              <a:off x="4604211" y="1285282"/>
              <a:ext cx="1135267" cy="1359076"/>
            </a:xfrm>
            <a:prstGeom prst="rect">
              <a:avLst/>
            </a:prstGeom>
          </p:spPr>
        </p:pic>
        <p:sp>
          <p:nvSpPr>
            <p:cNvPr id="10" name="object 10"/>
            <p:cNvSpPr/>
            <p:nvPr/>
          </p:nvSpPr>
          <p:spPr>
            <a:xfrm>
              <a:off x="4604211" y="1285282"/>
              <a:ext cx="1135380" cy="1359535"/>
            </a:xfrm>
            <a:custGeom>
              <a:avLst/>
              <a:gdLst/>
              <a:ahLst/>
              <a:cxnLst/>
              <a:rect l="l" t="t" r="r" b="b"/>
              <a:pathLst>
                <a:path w="1135379" h="1359535">
                  <a:moveTo>
                    <a:pt x="0" y="1359076"/>
                  </a:moveTo>
                  <a:lnTo>
                    <a:pt x="1135267" y="1359076"/>
                  </a:lnTo>
                  <a:lnTo>
                    <a:pt x="1135267" y="0"/>
                  </a:lnTo>
                  <a:lnTo>
                    <a:pt x="0" y="0"/>
                  </a:lnTo>
                  <a:lnTo>
                    <a:pt x="0" y="1359076"/>
                  </a:lnTo>
                  <a:close/>
                </a:path>
              </a:pathLst>
            </a:custGeom>
            <a:ln w="5073">
              <a:solidFill>
                <a:srgbClr val="000000"/>
              </a:solidFill>
            </a:ln>
          </p:spPr>
          <p:txBody>
            <a:bodyPr wrap="square" lIns="0" tIns="0" rIns="0" bIns="0" rtlCol="0"/>
            <a:lstStyle/>
            <a:p>
              <a:endParaRPr/>
            </a:p>
          </p:txBody>
        </p:sp>
      </p:grpSp>
      <p:sp>
        <p:nvSpPr>
          <p:cNvPr id="11" name="object 11"/>
          <p:cNvSpPr txBox="1"/>
          <p:nvPr/>
        </p:nvSpPr>
        <p:spPr>
          <a:xfrm>
            <a:off x="4643680" y="1293360"/>
            <a:ext cx="962025" cy="1164590"/>
          </a:xfrm>
          <a:prstGeom prst="rect">
            <a:avLst/>
          </a:prstGeom>
        </p:spPr>
        <p:txBody>
          <a:bodyPr vert="horz" wrap="square" lIns="0" tIns="15875" rIns="0" bIns="0" rtlCol="0">
            <a:spAutoFit/>
          </a:bodyPr>
          <a:lstStyle/>
          <a:p>
            <a:pPr marL="12700">
              <a:lnSpc>
                <a:spcPct val="100000"/>
              </a:lnSpc>
              <a:spcBef>
                <a:spcPts val="125"/>
              </a:spcBef>
            </a:pPr>
            <a:r>
              <a:rPr sz="1050" b="1" spc="25" dirty="0">
                <a:latin typeface="Arial"/>
                <a:cs typeface="Arial"/>
              </a:rPr>
              <a:t>OUTPUT</a:t>
            </a:r>
            <a:endParaRPr sz="1050">
              <a:latin typeface="Arial"/>
              <a:cs typeface="Arial"/>
            </a:endParaRPr>
          </a:p>
          <a:p>
            <a:pPr marL="12700">
              <a:lnSpc>
                <a:spcPct val="100000"/>
              </a:lnSpc>
              <a:spcBef>
                <a:spcPts val="20"/>
              </a:spcBef>
            </a:pPr>
            <a:r>
              <a:rPr sz="1050" dirty="0">
                <a:latin typeface="Arial MT"/>
                <a:cs typeface="Arial MT"/>
              </a:rPr>
              <a:t>i</a:t>
            </a:r>
            <a:r>
              <a:rPr sz="1050" spc="5" dirty="0">
                <a:latin typeface="Arial MT"/>
                <a:cs typeface="Arial MT"/>
              </a:rPr>
              <a:t>:</a:t>
            </a:r>
            <a:r>
              <a:rPr sz="1050" spc="30" dirty="0">
                <a:latin typeface="Times New Roman"/>
                <a:cs typeface="Times New Roman"/>
              </a:rPr>
              <a:t> </a:t>
            </a:r>
            <a:r>
              <a:rPr sz="1050" spc="15" dirty="0">
                <a:latin typeface="Arial MT"/>
                <a:cs typeface="Arial MT"/>
              </a:rPr>
              <a:t>0</a:t>
            </a:r>
            <a:endParaRPr sz="1050">
              <a:latin typeface="Arial MT"/>
              <a:cs typeface="Arial MT"/>
            </a:endParaRPr>
          </a:p>
          <a:p>
            <a:pPr marL="12700">
              <a:lnSpc>
                <a:spcPct val="100000"/>
              </a:lnSpc>
              <a:spcBef>
                <a:spcPts val="20"/>
              </a:spcBef>
            </a:pPr>
            <a:r>
              <a:rPr sz="1050" dirty="0">
                <a:latin typeface="Arial MT"/>
                <a:cs typeface="Arial MT"/>
              </a:rPr>
              <a:t>i</a:t>
            </a:r>
            <a:r>
              <a:rPr sz="1050" spc="5" dirty="0">
                <a:latin typeface="Arial MT"/>
                <a:cs typeface="Arial MT"/>
              </a:rPr>
              <a:t>:</a:t>
            </a:r>
            <a:r>
              <a:rPr sz="1050" spc="35" dirty="0">
                <a:latin typeface="Times New Roman"/>
                <a:cs typeface="Times New Roman"/>
              </a:rPr>
              <a:t> </a:t>
            </a:r>
            <a:r>
              <a:rPr sz="1050" spc="15" dirty="0">
                <a:latin typeface="Arial MT"/>
                <a:cs typeface="Arial MT"/>
              </a:rPr>
              <a:t>1</a:t>
            </a:r>
            <a:endParaRPr sz="1050">
              <a:latin typeface="Arial MT"/>
              <a:cs typeface="Arial MT"/>
            </a:endParaRPr>
          </a:p>
          <a:p>
            <a:pPr marL="12700">
              <a:lnSpc>
                <a:spcPct val="100000"/>
              </a:lnSpc>
              <a:spcBef>
                <a:spcPts val="20"/>
              </a:spcBef>
            </a:pPr>
            <a:r>
              <a:rPr sz="1050" dirty="0">
                <a:latin typeface="Arial MT"/>
                <a:cs typeface="Arial MT"/>
              </a:rPr>
              <a:t>i</a:t>
            </a:r>
            <a:r>
              <a:rPr sz="1050" spc="5" dirty="0">
                <a:latin typeface="Arial MT"/>
                <a:cs typeface="Arial MT"/>
              </a:rPr>
              <a:t>:</a:t>
            </a:r>
            <a:r>
              <a:rPr sz="1050" spc="35" dirty="0">
                <a:latin typeface="Times New Roman"/>
                <a:cs typeface="Times New Roman"/>
              </a:rPr>
              <a:t> </a:t>
            </a:r>
            <a:r>
              <a:rPr sz="1050" spc="15" dirty="0">
                <a:latin typeface="Arial MT"/>
                <a:cs typeface="Arial MT"/>
              </a:rPr>
              <a:t>2</a:t>
            </a:r>
            <a:endParaRPr sz="1050">
              <a:latin typeface="Arial MT"/>
              <a:cs typeface="Arial MT"/>
            </a:endParaRPr>
          </a:p>
          <a:p>
            <a:pPr marL="12700">
              <a:lnSpc>
                <a:spcPct val="100000"/>
              </a:lnSpc>
              <a:spcBef>
                <a:spcPts val="15"/>
              </a:spcBef>
            </a:pPr>
            <a:r>
              <a:rPr sz="1050" dirty="0">
                <a:latin typeface="Arial MT"/>
                <a:cs typeface="Arial MT"/>
              </a:rPr>
              <a:t>i</a:t>
            </a:r>
            <a:r>
              <a:rPr sz="1050" spc="5" dirty="0">
                <a:latin typeface="Arial MT"/>
                <a:cs typeface="Arial MT"/>
              </a:rPr>
              <a:t>:</a:t>
            </a:r>
            <a:r>
              <a:rPr sz="1050" spc="35" dirty="0">
                <a:latin typeface="Times New Roman"/>
                <a:cs typeface="Times New Roman"/>
              </a:rPr>
              <a:t> </a:t>
            </a:r>
            <a:r>
              <a:rPr sz="1050" spc="15" dirty="0">
                <a:latin typeface="Arial MT"/>
                <a:cs typeface="Arial MT"/>
              </a:rPr>
              <a:t>4</a:t>
            </a:r>
            <a:endParaRPr sz="1050">
              <a:latin typeface="Arial MT"/>
              <a:cs typeface="Arial MT"/>
            </a:endParaRPr>
          </a:p>
          <a:p>
            <a:pPr marL="12700">
              <a:lnSpc>
                <a:spcPct val="100000"/>
              </a:lnSpc>
              <a:spcBef>
                <a:spcPts val="20"/>
              </a:spcBef>
            </a:pPr>
            <a:r>
              <a:rPr sz="1050" dirty="0">
                <a:latin typeface="Arial MT"/>
                <a:cs typeface="Arial MT"/>
              </a:rPr>
              <a:t>i</a:t>
            </a:r>
            <a:r>
              <a:rPr sz="1050" spc="5" dirty="0">
                <a:latin typeface="Arial MT"/>
                <a:cs typeface="Arial MT"/>
              </a:rPr>
              <a:t>:</a:t>
            </a:r>
            <a:r>
              <a:rPr sz="1050" spc="35" dirty="0">
                <a:latin typeface="Times New Roman"/>
                <a:cs typeface="Times New Roman"/>
              </a:rPr>
              <a:t> </a:t>
            </a:r>
            <a:r>
              <a:rPr sz="1050" spc="15" dirty="0">
                <a:latin typeface="Arial MT"/>
                <a:cs typeface="Arial MT"/>
              </a:rPr>
              <a:t>5</a:t>
            </a:r>
            <a:endParaRPr sz="1050">
              <a:latin typeface="Arial MT"/>
              <a:cs typeface="Arial MT"/>
            </a:endParaRPr>
          </a:p>
          <a:p>
            <a:pPr marL="12700">
              <a:lnSpc>
                <a:spcPct val="100000"/>
              </a:lnSpc>
              <a:spcBef>
                <a:spcPts val="20"/>
              </a:spcBef>
            </a:pPr>
            <a:r>
              <a:rPr sz="1050" spc="10" dirty="0">
                <a:latin typeface="Arial MT"/>
                <a:cs typeface="Arial MT"/>
              </a:rPr>
              <a:t>Loop</a:t>
            </a:r>
            <a:r>
              <a:rPr sz="1050" spc="-65" dirty="0">
                <a:latin typeface="Arial MT"/>
                <a:cs typeface="Arial MT"/>
              </a:rPr>
              <a:t> </a:t>
            </a:r>
            <a:r>
              <a:rPr sz="1050" spc="10" dirty="0">
                <a:latin typeface="Arial MT"/>
                <a:cs typeface="Arial MT"/>
              </a:rPr>
              <a:t>complete.</a:t>
            </a:r>
            <a:endParaRPr sz="1050">
              <a:latin typeface="Arial MT"/>
              <a:cs typeface="Arial MT"/>
            </a:endParaRPr>
          </a:p>
        </p:txBody>
      </p:sp>
      <p:sp>
        <p:nvSpPr>
          <p:cNvPr id="12" name="object 12"/>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
        <p:nvSpPr>
          <p:cNvPr id="14" name="TextBox 13">
            <a:extLst>
              <a:ext uri="{FF2B5EF4-FFF2-40B4-BE49-F238E27FC236}">
                <a16:creationId xmlns:a16="http://schemas.microsoft.com/office/drawing/2014/main" id="{DC51F6E3-9974-CA37-099B-03BD885C8117}"/>
              </a:ext>
            </a:extLst>
          </p:cNvPr>
          <p:cNvSpPr txBox="1"/>
          <p:nvPr/>
        </p:nvSpPr>
        <p:spPr>
          <a:xfrm>
            <a:off x="50800" y="165100"/>
            <a:ext cx="6288610" cy="618118"/>
          </a:xfrm>
          <a:prstGeom prst="rect">
            <a:avLst/>
          </a:prstGeom>
          <a:noFill/>
        </p:spPr>
        <p:txBody>
          <a:bodyPr wrap="square">
            <a:spAutoFit/>
          </a:bodyPr>
          <a:lstStyle/>
          <a:p>
            <a:pPr marL="12065" marR="85725">
              <a:lnSpc>
                <a:spcPct val="100899"/>
              </a:lnSpc>
              <a:spcBef>
                <a:spcPts val="100"/>
              </a:spcBef>
              <a:tabLst>
                <a:tab pos="195580" algn="l"/>
              </a:tabLst>
            </a:pPr>
            <a:r>
              <a:rPr lang="en-US" sz="1600" spc="5" dirty="0"/>
              <a:t>				</a:t>
            </a:r>
            <a:r>
              <a:rPr lang="en-US" b="1" spc="5" dirty="0"/>
              <a:t>continue</a:t>
            </a:r>
            <a:endParaRPr lang="en-US" sz="1600" b="1" spc="5" dirty="0">
              <a:latin typeface="Arial MT"/>
              <a:cs typeface="Arial MT"/>
            </a:endParaRPr>
          </a:p>
          <a:p>
            <a:pPr marL="194945" marR="85725" indent="-182880">
              <a:lnSpc>
                <a:spcPct val="100899"/>
              </a:lnSpc>
              <a:spcBef>
                <a:spcPts val="100"/>
              </a:spcBef>
              <a:buChar char="•"/>
              <a:tabLst>
                <a:tab pos="195580" algn="l"/>
              </a:tabLst>
            </a:pPr>
            <a:r>
              <a:rPr lang="en-US" sz="1600" spc="5" dirty="0">
                <a:latin typeface="Arial MT"/>
                <a:cs typeface="Arial MT"/>
              </a:rPr>
              <a:t>Any</a:t>
            </a:r>
            <a:r>
              <a:rPr lang="en-US" sz="1600" spc="-10" dirty="0">
                <a:latin typeface="Arial MT"/>
                <a:cs typeface="Arial MT"/>
              </a:rPr>
              <a:t> </a:t>
            </a:r>
            <a:r>
              <a:rPr lang="en-US" sz="1600" spc="5" dirty="0">
                <a:latin typeface="Arial MT"/>
                <a:cs typeface="Arial MT"/>
              </a:rPr>
              <a:t>intermediate</a:t>
            </a:r>
            <a:r>
              <a:rPr lang="en-US" sz="1600" spc="-155" dirty="0">
                <a:latin typeface="Arial MT"/>
                <a:cs typeface="Arial MT"/>
              </a:rPr>
              <a:t> </a:t>
            </a:r>
            <a:r>
              <a:rPr lang="en-US" sz="1600" spc="10" dirty="0">
                <a:latin typeface="Arial MT"/>
                <a:cs typeface="Arial MT"/>
              </a:rPr>
              <a:t>code</a:t>
            </a:r>
            <a:r>
              <a:rPr lang="en-US" sz="1600" spc="-70" dirty="0">
                <a:latin typeface="Arial MT"/>
                <a:cs typeface="Arial MT"/>
              </a:rPr>
              <a:t> </a:t>
            </a:r>
            <a:r>
              <a:rPr lang="en-US" sz="1600" spc="10" dirty="0">
                <a:latin typeface="Arial MT"/>
                <a:cs typeface="Arial MT"/>
              </a:rPr>
              <a:t>after</a:t>
            </a:r>
            <a:r>
              <a:rPr lang="en-US" sz="1600" spc="-85" dirty="0">
                <a:latin typeface="Arial MT"/>
                <a:cs typeface="Arial MT"/>
              </a:rPr>
              <a:t> </a:t>
            </a:r>
            <a:r>
              <a:rPr lang="en-US" sz="1600" spc="10" dirty="0">
                <a:latin typeface="Arial MT"/>
                <a:cs typeface="Arial MT"/>
              </a:rPr>
              <a:t>continue</a:t>
            </a:r>
            <a:r>
              <a:rPr lang="en-US" sz="1600" spc="-110" dirty="0">
                <a:latin typeface="Arial MT"/>
                <a:cs typeface="Arial MT"/>
              </a:rPr>
              <a:t> </a:t>
            </a:r>
            <a:r>
              <a:rPr lang="en-US" sz="1600" spc="10" dirty="0">
                <a:latin typeface="Arial MT"/>
                <a:cs typeface="Arial MT"/>
              </a:rPr>
              <a:t>is </a:t>
            </a:r>
            <a:r>
              <a:rPr lang="en-US" sz="1600" spc="-459" dirty="0">
                <a:latin typeface="Arial MT"/>
                <a:cs typeface="Arial MT"/>
              </a:rPr>
              <a:t> </a:t>
            </a:r>
            <a:r>
              <a:rPr lang="en-US" sz="1600" dirty="0">
                <a:latin typeface="Arial MT"/>
                <a:cs typeface="Arial MT"/>
              </a:rPr>
              <a:t>bypassed(skipped).</a:t>
            </a: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a:spLocks noGrp="1"/>
          </p:cNvSpPr>
          <p:nvPr>
            <p:ph type="title"/>
          </p:nvPr>
        </p:nvSpPr>
        <p:spPr>
          <a:xfrm>
            <a:off x="2184400" y="726272"/>
            <a:ext cx="1800522" cy="307134"/>
          </a:xfrm>
          <a:prstGeom prst="rect">
            <a:avLst/>
          </a:prstGeom>
        </p:spPr>
        <p:txBody>
          <a:bodyPr vert="horz" wrap="square" lIns="0" tIns="14604" rIns="0" bIns="0" rtlCol="0">
            <a:spAutoFit/>
          </a:bodyPr>
          <a:lstStyle/>
          <a:p>
            <a:pPr marL="12700">
              <a:lnSpc>
                <a:spcPct val="100000"/>
              </a:lnSpc>
              <a:spcBef>
                <a:spcPts val="114"/>
              </a:spcBef>
            </a:pPr>
            <a:r>
              <a:rPr spc="5" dirty="0">
                <a:solidFill>
                  <a:schemeClr val="tx1"/>
                </a:solidFill>
              </a:rPr>
              <a:t>return</a:t>
            </a:r>
            <a:r>
              <a:rPr spc="-60" dirty="0">
                <a:solidFill>
                  <a:schemeClr val="tx1"/>
                </a:solidFill>
              </a:rPr>
              <a:t> </a:t>
            </a:r>
            <a:r>
              <a:rPr spc="5" dirty="0">
                <a:solidFill>
                  <a:schemeClr val="tx1"/>
                </a:solidFill>
              </a:rPr>
              <a:t>statement</a:t>
            </a:r>
          </a:p>
        </p:txBody>
      </p:sp>
      <p:sp>
        <p:nvSpPr>
          <p:cNvPr id="4" name="object 4"/>
          <p:cNvSpPr txBox="1"/>
          <p:nvPr/>
        </p:nvSpPr>
        <p:spPr>
          <a:xfrm>
            <a:off x="364659" y="1217343"/>
            <a:ext cx="5720080" cy="2123401"/>
          </a:xfrm>
          <a:prstGeom prst="rect">
            <a:avLst/>
          </a:prstGeom>
        </p:spPr>
        <p:txBody>
          <a:bodyPr vert="horz" wrap="square" lIns="0" tIns="64769" rIns="0" bIns="0" rtlCol="0">
            <a:spAutoFit/>
          </a:bodyPr>
          <a:lstStyle/>
          <a:p>
            <a:pPr marL="83820" marR="27940" indent="-285750">
              <a:lnSpc>
                <a:spcPct val="103299"/>
              </a:lnSpc>
              <a:spcBef>
                <a:spcPts val="360"/>
              </a:spcBef>
              <a:buFont typeface="Arial" panose="020B0604020202020204" pitchFamily="34" charset="0"/>
              <a:buChar char="•"/>
              <a:tabLst>
                <a:tab pos="408305" algn="l"/>
              </a:tabLst>
            </a:pPr>
            <a:r>
              <a:rPr sz="1450" spc="20" dirty="0">
                <a:latin typeface="Arial MT"/>
                <a:cs typeface="Arial MT"/>
              </a:rPr>
              <a:t>The</a:t>
            </a:r>
            <a:r>
              <a:rPr sz="1450" spc="15" dirty="0">
                <a:latin typeface="Arial MT"/>
                <a:cs typeface="Arial MT"/>
              </a:rPr>
              <a:t> </a:t>
            </a:r>
            <a:r>
              <a:rPr sz="1450" dirty="0">
                <a:latin typeface="Arial MT"/>
                <a:cs typeface="Arial MT"/>
              </a:rPr>
              <a:t>return</a:t>
            </a:r>
            <a:r>
              <a:rPr sz="1450" spc="90" dirty="0">
                <a:latin typeface="Arial MT"/>
                <a:cs typeface="Arial MT"/>
              </a:rPr>
              <a:t> </a:t>
            </a:r>
            <a:r>
              <a:rPr sz="1450" spc="5" dirty="0">
                <a:latin typeface="Arial MT"/>
                <a:cs typeface="Arial MT"/>
              </a:rPr>
              <a:t>causes</a:t>
            </a:r>
            <a:r>
              <a:rPr sz="1450" spc="95" dirty="0">
                <a:latin typeface="Arial MT"/>
                <a:cs typeface="Arial MT"/>
              </a:rPr>
              <a:t> </a:t>
            </a:r>
            <a:r>
              <a:rPr sz="1450" spc="10" dirty="0">
                <a:latin typeface="Arial MT"/>
                <a:cs typeface="Arial MT"/>
              </a:rPr>
              <a:t>program</a:t>
            </a:r>
            <a:r>
              <a:rPr sz="1450" spc="80" dirty="0">
                <a:latin typeface="Arial MT"/>
                <a:cs typeface="Arial MT"/>
              </a:rPr>
              <a:t> </a:t>
            </a:r>
            <a:r>
              <a:rPr sz="1450" spc="10" dirty="0">
                <a:latin typeface="Arial MT"/>
                <a:cs typeface="Arial MT"/>
              </a:rPr>
              <a:t>control</a:t>
            </a:r>
            <a:r>
              <a:rPr sz="1450" spc="-10" dirty="0">
                <a:latin typeface="Arial MT"/>
                <a:cs typeface="Arial MT"/>
              </a:rPr>
              <a:t> </a:t>
            </a:r>
            <a:r>
              <a:rPr sz="1450" dirty="0">
                <a:latin typeface="Arial MT"/>
                <a:cs typeface="Arial MT"/>
              </a:rPr>
              <a:t>to</a:t>
            </a:r>
            <a:r>
              <a:rPr sz="1450" spc="55" dirty="0">
                <a:latin typeface="Arial MT"/>
                <a:cs typeface="Arial MT"/>
              </a:rPr>
              <a:t> </a:t>
            </a:r>
            <a:r>
              <a:rPr sz="1450" spc="-5" dirty="0">
                <a:latin typeface="Arial MT"/>
                <a:cs typeface="Arial MT"/>
              </a:rPr>
              <a:t>transfer</a:t>
            </a:r>
            <a:r>
              <a:rPr sz="1450" spc="145" dirty="0">
                <a:latin typeface="Arial MT"/>
                <a:cs typeface="Arial MT"/>
              </a:rPr>
              <a:t> </a:t>
            </a:r>
            <a:r>
              <a:rPr sz="1450" spc="15" dirty="0">
                <a:latin typeface="Arial MT"/>
                <a:cs typeface="Arial MT"/>
              </a:rPr>
              <a:t>back </a:t>
            </a:r>
            <a:r>
              <a:rPr sz="1450" dirty="0">
                <a:latin typeface="Arial MT"/>
                <a:cs typeface="Arial MT"/>
              </a:rPr>
              <a:t>to</a:t>
            </a:r>
            <a:r>
              <a:rPr sz="1450" spc="50" dirty="0">
                <a:latin typeface="Arial MT"/>
                <a:cs typeface="Arial MT"/>
              </a:rPr>
              <a:t> </a:t>
            </a:r>
            <a:r>
              <a:rPr sz="1450" spc="10" dirty="0">
                <a:latin typeface="Arial MT"/>
                <a:cs typeface="Arial MT"/>
              </a:rPr>
              <a:t>the</a:t>
            </a:r>
            <a:r>
              <a:rPr sz="1450" spc="15" dirty="0">
                <a:latin typeface="Arial MT"/>
                <a:cs typeface="Arial MT"/>
              </a:rPr>
              <a:t> </a:t>
            </a:r>
            <a:r>
              <a:rPr sz="1450" spc="-15" dirty="0">
                <a:latin typeface="Arial MT"/>
                <a:cs typeface="Arial MT"/>
              </a:rPr>
              <a:t>caller </a:t>
            </a:r>
            <a:r>
              <a:rPr sz="1450" spc="-390" dirty="0">
                <a:latin typeface="Arial MT"/>
                <a:cs typeface="Arial MT"/>
              </a:rPr>
              <a:t> </a:t>
            </a:r>
            <a:r>
              <a:rPr sz="1450" spc="15" dirty="0">
                <a:latin typeface="Arial MT"/>
                <a:cs typeface="Arial MT"/>
              </a:rPr>
              <a:t>of</a:t>
            </a:r>
            <a:r>
              <a:rPr sz="1450" spc="-20" dirty="0">
                <a:latin typeface="Arial MT"/>
                <a:cs typeface="Arial MT"/>
              </a:rPr>
              <a:t> </a:t>
            </a:r>
            <a:r>
              <a:rPr sz="1450" spc="10" dirty="0">
                <a:latin typeface="Arial MT"/>
                <a:cs typeface="Arial MT"/>
              </a:rPr>
              <a:t>the</a:t>
            </a:r>
            <a:r>
              <a:rPr sz="1450" spc="50" dirty="0">
                <a:latin typeface="Arial MT"/>
                <a:cs typeface="Arial MT"/>
              </a:rPr>
              <a:t> </a:t>
            </a:r>
            <a:r>
              <a:rPr sz="1450" spc="10" dirty="0">
                <a:latin typeface="Arial MT"/>
                <a:cs typeface="Arial MT"/>
              </a:rPr>
              <a:t>method.</a:t>
            </a:r>
            <a:endParaRPr sz="1450" dirty="0">
              <a:latin typeface="Arial MT"/>
              <a:cs typeface="Arial MT"/>
            </a:endParaRPr>
          </a:p>
          <a:p>
            <a:pPr marL="194945" indent="-182880">
              <a:lnSpc>
                <a:spcPct val="100000"/>
              </a:lnSpc>
              <a:spcBef>
                <a:spcPts val="420"/>
              </a:spcBef>
              <a:buChar char="•"/>
              <a:tabLst>
                <a:tab pos="195580" algn="l"/>
              </a:tabLst>
            </a:pPr>
            <a:r>
              <a:rPr sz="1450" spc="45" dirty="0">
                <a:latin typeface="Arial MT"/>
                <a:cs typeface="Arial MT"/>
              </a:rPr>
              <a:t>When</a:t>
            </a:r>
            <a:r>
              <a:rPr sz="1450" spc="-75" dirty="0">
                <a:latin typeface="Arial MT"/>
                <a:cs typeface="Arial MT"/>
              </a:rPr>
              <a:t> </a:t>
            </a:r>
            <a:r>
              <a:rPr sz="1450" dirty="0">
                <a:latin typeface="Arial MT"/>
                <a:cs typeface="Arial MT"/>
              </a:rPr>
              <a:t>return</a:t>
            </a:r>
            <a:r>
              <a:rPr sz="1450" spc="80" dirty="0">
                <a:latin typeface="Arial MT"/>
                <a:cs typeface="Arial MT"/>
              </a:rPr>
              <a:t> </a:t>
            </a:r>
            <a:r>
              <a:rPr sz="1450" dirty="0">
                <a:latin typeface="Arial MT"/>
                <a:cs typeface="Arial MT"/>
              </a:rPr>
              <a:t>statement</a:t>
            </a:r>
            <a:r>
              <a:rPr sz="1450" spc="180" dirty="0">
                <a:latin typeface="Arial MT"/>
                <a:cs typeface="Arial MT"/>
              </a:rPr>
              <a:t> </a:t>
            </a:r>
            <a:r>
              <a:rPr sz="1450" spc="-15" dirty="0">
                <a:latin typeface="Arial MT"/>
                <a:cs typeface="Arial MT"/>
              </a:rPr>
              <a:t>is</a:t>
            </a:r>
            <a:r>
              <a:rPr sz="1450" spc="50" dirty="0">
                <a:latin typeface="Arial MT"/>
                <a:cs typeface="Arial MT"/>
              </a:rPr>
              <a:t> </a:t>
            </a:r>
            <a:r>
              <a:rPr sz="1450" spc="-5" dirty="0">
                <a:latin typeface="Arial MT"/>
                <a:cs typeface="Arial MT"/>
              </a:rPr>
              <a:t>executed</a:t>
            </a:r>
            <a:r>
              <a:rPr sz="1450" spc="160" dirty="0">
                <a:latin typeface="Arial MT"/>
                <a:cs typeface="Arial MT"/>
              </a:rPr>
              <a:t> </a:t>
            </a:r>
            <a:r>
              <a:rPr sz="1450" spc="10" dirty="0">
                <a:latin typeface="Arial MT"/>
                <a:cs typeface="Arial MT"/>
              </a:rPr>
              <a:t>the method</a:t>
            </a:r>
            <a:r>
              <a:rPr sz="1450" spc="80" dirty="0">
                <a:latin typeface="Arial MT"/>
                <a:cs typeface="Arial MT"/>
              </a:rPr>
              <a:t> </a:t>
            </a:r>
            <a:r>
              <a:rPr sz="1450" dirty="0">
                <a:latin typeface="Arial MT"/>
                <a:cs typeface="Arial MT"/>
              </a:rPr>
              <a:t>terminates.</a:t>
            </a:r>
          </a:p>
          <a:p>
            <a:pPr marL="194945" indent="-182880">
              <a:lnSpc>
                <a:spcPct val="100000"/>
              </a:lnSpc>
              <a:spcBef>
                <a:spcPts val="375"/>
              </a:spcBef>
              <a:buChar char="•"/>
              <a:tabLst>
                <a:tab pos="195580" algn="l"/>
              </a:tabLst>
            </a:pPr>
            <a:r>
              <a:rPr sz="1450" spc="20" dirty="0">
                <a:latin typeface="Arial MT"/>
                <a:cs typeface="Arial MT"/>
              </a:rPr>
              <a:t>The</a:t>
            </a:r>
            <a:r>
              <a:rPr sz="1450" spc="15" dirty="0">
                <a:latin typeface="Arial MT"/>
                <a:cs typeface="Arial MT"/>
              </a:rPr>
              <a:t> </a:t>
            </a:r>
            <a:r>
              <a:rPr sz="1450" dirty="0">
                <a:latin typeface="Arial MT"/>
                <a:cs typeface="Arial MT"/>
              </a:rPr>
              <a:t>return</a:t>
            </a:r>
            <a:r>
              <a:rPr sz="1450" spc="90" dirty="0">
                <a:latin typeface="Arial MT"/>
                <a:cs typeface="Arial MT"/>
              </a:rPr>
              <a:t> </a:t>
            </a:r>
            <a:r>
              <a:rPr sz="1450" spc="5" dirty="0">
                <a:latin typeface="Arial MT"/>
                <a:cs typeface="Arial MT"/>
              </a:rPr>
              <a:t>causes</a:t>
            </a:r>
            <a:r>
              <a:rPr sz="1450" spc="95" dirty="0">
                <a:latin typeface="Arial MT"/>
                <a:cs typeface="Arial MT"/>
              </a:rPr>
              <a:t> </a:t>
            </a:r>
            <a:r>
              <a:rPr sz="1450" spc="-5" dirty="0">
                <a:latin typeface="Arial MT"/>
                <a:cs typeface="Arial MT"/>
              </a:rPr>
              <a:t>execution</a:t>
            </a:r>
            <a:r>
              <a:rPr sz="1450" spc="175" dirty="0">
                <a:latin typeface="Arial MT"/>
                <a:cs typeface="Arial MT"/>
              </a:rPr>
              <a:t> </a:t>
            </a:r>
            <a:r>
              <a:rPr sz="1450" dirty="0">
                <a:latin typeface="Arial MT"/>
                <a:cs typeface="Arial MT"/>
              </a:rPr>
              <a:t>to</a:t>
            </a:r>
            <a:r>
              <a:rPr sz="1450" spc="50" dirty="0">
                <a:latin typeface="Arial MT"/>
                <a:cs typeface="Arial MT"/>
              </a:rPr>
              <a:t> </a:t>
            </a:r>
            <a:r>
              <a:rPr sz="1450" dirty="0">
                <a:latin typeface="Arial MT"/>
                <a:cs typeface="Arial MT"/>
              </a:rPr>
              <a:t>return</a:t>
            </a:r>
            <a:r>
              <a:rPr sz="1450" spc="95" dirty="0">
                <a:latin typeface="Arial MT"/>
                <a:cs typeface="Arial MT"/>
              </a:rPr>
              <a:t> </a:t>
            </a:r>
            <a:r>
              <a:rPr sz="1450" dirty="0">
                <a:latin typeface="Arial MT"/>
                <a:cs typeface="Arial MT"/>
              </a:rPr>
              <a:t>to</a:t>
            </a:r>
            <a:r>
              <a:rPr sz="1450" spc="15" dirty="0">
                <a:latin typeface="Arial MT"/>
                <a:cs typeface="Arial MT"/>
              </a:rPr>
              <a:t> </a:t>
            </a:r>
            <a:r>
              <a:rPr sz="1450" spc="10" dirty="0">
                <a:latin typeface="Arial MT"/>
                <a:cs typeface="Arial MT"/>
              </a:rPr>
              <a:t>the</a:t>
            </a:r>
            <a:r>
              <a:rPr sz="1450" spc="55" dirty="0">
                <a:latin typeface="Arial MT"/>
                <a:cs typeface="Arial MT"/>
              </a:rPr>
              <a:t> </a:t>
            </a:r>
            <a:r>
              <a:rPr sz="1450" spc="-5" dirty="0">
                <a:latin typeface="Arial MT"/>
                <a:cs typeface="Arial MT"/>
              </a:rPr>
              <a:t>Java</a:t>
            </a:r>
            <a:r>
              <a:rPr sz="1450" spc="95" dirty="0">
                <a:latin typeface="Arial MT"/>
                <a:cs typeface="Arial MT"/>
              </a:rPr>
              <a:t> </a:t>
            </a:r>
            <a:r>
              <a:rPr sz="1450" spc="5" dirty="0">
                <a:latin typeface="Arial MT"/>
                <a:cs typeface="Arial MT"/>
              </a:rPr>
              <a:t>run-time</a:t>
            </a:r>
            <a:r>
              <a:rPr sz="1450" spc="140" dirty="0">
                <a:latin typeface="Arial MT"/>
                <a:cs typeface="Arial MT"/>
              </a:rPr>
              <a:t> </a:t>
            </a:r>
            <a:r>
              <a:rPr sz="1450" spc="-15" dirty="0">
                <a:latin typeface="Arial MT"/>
                <a:cs typeface="Arial MT"/>
              </a:rPr>
              <a:t>system</a:t>
            </a:r>
            <a:endParaRPr sz="1450" dirty="0">
              <a:latin typeface="Arial MT"/>
              <a:cs typeface="Arial MT"/>
            </a:endParaRPr>
          </a:p>
          <a:p>
            <a:pPr marL="194945" marR="122555" indent="-182880">
              <a:lnSpc>
                <a:spcPct val="103400"/>
              </a:lnSpc>
              <a:spcBef>
                <a:spcPts val="360"/>
              </a:spcBef>
              <a:buChar char="•"/>
              <a:tabLst>
                <a:tab pos="195580" algn="l"/>
              </a:tabLst>
            </a:pPr>
            <a:r>
              <a:rPr sz="1450" spc="10" dirty="0">
                <a:latin typeface="Arial MT"/>
                <a:cs typeface="Arial MT"/>
              </a:rPr>
              <a:t>Methods</a:t>
            </a:r>
            <a:r>
              <a:rPr sz="1450" spc="50" dirty="0">
                <a:latin typeface="Arial MT"/>
                <a:cs typeface="Arial MT"/>
              </a:rPr>
              <a:t> </a:t>
            </a:r>
            <a:r>
              <a:rPr sz="1450" dirty="0">
                <a:latin typeface="Arial MT"/>
                <a:cs typeface="Arial MT"/>
              </a:rPr>
              <a:t>that</a:t>
            </a:r>
            <a:r>
              <a:rPr sz="1450" spc="20" dirty="0">
                <a:latin typeface="Arial MT"/>
                <a:cs typeface="Arial MT"/>
              </a:rPr>
              <a:t> </a:t>
            </a:r>
            <a:r>
              <a:rPr sz="1450" spc="-5" dirty="0">
                <a:latin typeface="Arial MT"/>
                <a:cs typeface="Arial MT"/>
              </a:rPr>
              <a:t>have</a:t>
            </a:r>
            <a:r>
              <a:rPr sz="1450" spc="130" dirty="0">
                <a:latin typeface="Arial MT"/>
                <a:cs typeface="Arial MT"/>
              </a:rPr>
              <a:t> </a:t>
            </a:r>
            <a:r>
              <a:rPr sz="1450" spc="15" dirty="0">
                <a:latin typeface="Arial MT"/>
                <a:cs typeface="Arial MT"/>
              </a:rPr>
              <a:t>a </a:t>
            </a:r>
            <a:r>
              <a:rPr sz="1450" dirty="0">
                <a:latin typeface="Arial MT"/>
                <a:cs typeface="Arial MT"/>
              </a:rPr>
              <a:t>return</a:t>
            </a:r>
            <a:r>
              <a:rPr sz="1450" spc="85" dirty="0">
                <a:latin typeface="Arial MT"/>
                <a:cs typeface="Arial MT"/>
              </a:rPr>
              <a:t> </a:t>
            </a:r>
            <a:r>
              <a:rPr sz="1450" spc="-5" dirty="0">
                <a:latin typeface="Arial MT"/>
                <a:cs typeface="Arial MT"/>
              </a:rPr>
              <a:t>type</a:t>
            </a:r>
            <a:r>
              <a:rPr sz="1450" spc="90" dirty="0">
                <a:latin typeface="Arial MT"/>
                <a:cs typeface="Arial MT"/>
              </a:rPr>
              <a:t> </a:t>
            </a:r>
            <a:r>
              <a:rPr sz="1450" spc="5" dirty="0">
                <a:latin typeface="Arial MT"/>
                <a:cs typeface="Arial MT"/>
              </a:rPr>
              <a:t>other</a:t>
            </a:r>
            <a:r>
              <a:rPr sz="1450" spc="60" dirty="0">
                <a:latin typeface="Arial MT"/>
                <a:cs typeface="Arial MT"/>
              </a:rPr>
              <a:t> </a:t>
            </a:r>
            <a:r>
              <a:rPr sz="1450" spc="5" dirty="0">
                <a:latin typeface="Arial MT"/>
                <a:cs typeface="Arial MT"/>
              </a:rPr>
              <a:t>than</a:t>
            </a:r>
            <a:r>
              <a:rPr sz="1450" spc="50" dirty="0">
                <a:latin typeface="Arial MT"/>
                <a:cs typeface="Arial MT"/>
              </a:rPr>
              <a:t> </a:t>
            </a:r>
            <a:r>
              <a:rPr sz="1450" spc="-15" dirty="0">
                <a:latin typeface="Arial MT"/>
                <a:cs typeface="Arial MT"/>
              </a:rPr>
              <a:t>void</a:t>
            </a:r>
            <a:r>
              <a:rPr sz="1450" spc="125" dirty="0">
                <a:latin typeface="Arial MT"/>
                <a:cs typeface="Arial MT"/>
              </a:rPr>
              <a:t> </a:t>
            </a:r>
            <a:r>
              <a:rPr sz="1450" dirty="0">
                <a:latin typeface="Arial MT"/>
                <a:cs typeface="Arial MT"/>
              </a:rPr>
              <a:t>return</a:t>
            </a:r>
            <a:r>
              <a:rPr sz="1450" spc="85" dirty="0">
                <a:latin typeface="Arial MT"/>
                <a:cs typeface="Arial MT"/>
              </a:rPr>
              <a:t> </a:t>
            </a:r>
            <a:r>
              <a:rPr sz="1450" spc="15" dirty="0">
                <a:latin typeface="Arial MT"/>
                <a:cs typeface="Arial MT"/>
              </a:rPr>
              <a:t>a </a:t>
            </a:r>
            <a:r>
              <a:rPr sz="1450" spc="-15" dirty="0">
                <a:latin typeface="Arial MT"/>
                <a:cs typeface="Arial MT"/>
              </a:rPr>
              <a:t>value</a:t>
            </a:r>
            <a:r>
              <a:rPr sz="1450" spc="165" dirty="0">
                <a:latin typeface="Arial MT"/>
                <a:cs typeface="Arial MT"/>
              </a:rPr>
              <a:t> </a:t>
            </a:r>
            <a:r>
              <a:rPr sz="1450" dirty="0">
                <a:latin typeface="Arial MT"/>
                <a:cs typeface="Arial MT"/>
              </a:rPr>
              <a:t>to </a:t>
            </a:r>
            <a:r>
              <a:rPr sz="1450" spc="-385" dirty="0">
                <a:latin typeface="Arial MT"/>
                <a:cs typeface="Arial MT"/>
              </a:rPr>
              <a:t> </a:t>
            </a:r>
            <a:r>
              <a:rPr sz="1450" spc="10" dirty="0">
                <a:latin typeface="Arial MT"/>
                <a:cs typeface="Arial MT"/>
              </a:rPr>
              <a:t>the</a:t>
            </a:r>
            <a:r>
              <a:rPr sz="1450" spc="5" dirty="0">
                <a:latin typeface="Arial MT"/>
                <a:cs typeface="Arial MT"/>
              </a:rPr>
              <a:t> </a:t>
            </a:r>
            <a:r>
              <a:rPr sz="1450" spc="-15" dirty="0">
                <a:latin typeface="Arial MT"/>
                <a:cs typeface="Arial MT"/>
              </a:rPr>
              <a:t>calling</a:t>
            </a:r>
            <a:r>
              <a:rPr sz="1450" spc="204" dirty="0">
                <a:latin typeface="Arial MT"/>
                <a:cs typeface="Arial MT"/>
              </a:rPr>
              <a:t> </a:t>
            </a:r>
            <a:r>
              <a:rPr sz="1450" spc="10" dirty="0">
                <a:latin typeface="Arial MT"/>
                <a:cs typeface="Arial MT"/>
              </a:rPr>
              <a:t>method(function)</a:t>
            </a:r>
            <a:endParaRPr sz="1450" dirty="0">
              <a:latin typeface="Arial MT"/>
              <a:cs typeface="Arial MT"/>
            </a:endParaRPr>
          </a:p>
          <a:p>
            <a:pPr marL="12700">
              <a:lnSpc>
                <a:spcPct val="100000"/>
              </a:lnSpc>
              <a:spcBef>
                <a:spcPts val="240"/>
              </a:spcBef>
            </a:pPr>
            <a:r>
              <a:rPr sz="1450" spc="25" dirty="0">
                <a:solidFill>
                  <a:srgbClr val="3232FF"/>
                </a:solidFill>
                <a:latin typeface="Times New Roman"/>
                <a:cs typeface="Times New Roman"/>
              </a:rPr>
              <a:t>return</a:t>
            </a:r>
            <a:r>
              <a:rPr sz="1450" spc="-40" dirty="0">
                <a:solidFill>
                  <a:srgbClr val="3232FF"/>
                </a:solidFill>
                <a:latin typeface="Times New Roman"/>
                <a:cs typeface="Times New Roman"/>
              </a:rPr>
              <a:t> </a:t>
            </a:r>
            <a:r>
              <a:rPr sz="1550" i="1" spc="-75" dirty="0">
                <a:solidFill>
                  <a:srgbClr val="3232FF"/>
                </a:solidFill>
                <a:latin typeface="Calibri"/>
                <a:cs typeface="Calibri"/>
              </a:rPr>
              <a:t>value;</a:t>
            </a:r>
            <a:endParaRPr sz="1550" dirty="0">
              <a:latin typeface="Calibri"/>
              <a:cs typeface="Calibri"/>
            </a:endParaRPr>
          </a:p>
          <a:p>
            <a:pPr marL="407670" lvl="1" indent="-152400">
              <a:lnSpc>
                <a:spcPct val="100000"/>
              </a:lnSpc>
              <a:spcBef>
                <a:spcPts val="434"/>
              </a:spcBef>
              <a:buChar char="–"/>
              <a:tabLst>
                <a:tab pos="408305" algn="l"/>
              </a:tabLst>
            </a:pPr>
            <a:r>
              <a:rPr sz="1450" dirty="0">
                <a:latin typeface="Arial MT"/>
                <a:cs typeface="Arial MT"/>
              </a:rPr>
              <a:t>Here,</a:t>
            </a:r>
            <a:r>
              <a:rPr sz="1450" spc="110" dirty="0">
                <a:latin typeface="Arial MT"/>
                <a:cs typeface="Arial MT"/>
              </a:rPr>
              <a:t> </a:t>
            </a:r>
            <a:r>
              <a:rPr sz="1450" i="1" spc="15" dirty="0">
                <a:latin typeface="Arial"/>
                <a:cs typeface="Arial"/>
              </a:rPr>
              <a:t>value</a:t>
            </a:r>
            <a:r>
              <a:rPr sz="1450" i="1" spc="10" dirty="0">
                <a:latin typeface="Arial"/>
                <a:cs typeface="Arial"/>
              </a:rPr>
              <a:t> </a:t>
            </a:r>
            <a:r>
              <a:rPr sz="1450" i="1" spc="5" dirty="0">
                <a:latin typeface="Arial"/>
                <a:cs typeface="Arial"/>
              </a:rPr>
              <a:t>is</a:t>
            </a:r>
            <a:r>
              <a:rPr sz="1450" i="1" spc="10" dirty="0">
                <a:latin typeface="Arial"/>
                <a:cs typeface="Arial"/>
              </a:rPr>
              <a:t> the </a:t>
            </a:r>
            <a:r>
              <a:rPr sz="1450" i="1" spc="15" dirty="0">
                <a:latin typeface="Arial"/>
                <a:cs typeface="Arial"/>
              </a:rPr>
              <a:t>value</a:t>
            </a:r>
            <a:r>
              <a:rPr sz="1450" i="1" spc="10" dirty="0">
                <a:latin typeface="Arial"/>
                <a:cs typeface="Arial"/>
              </a:rPr>
              <a:t> </a:t>
            </a:r>
            <a:r>
              <a:rPr sz="1450" i="1" spc="5" dirty="0">
                <a:latin typeface="Arial"/>
                <a:cs typeface="Arial"/>
              </a:rPr>
              <a:t>is</a:t>
            </a:r>
            <a:r>
              <a:rPr sz="1450" i="1" spc="10" dirty="0">
                <a:latin typeface="Arial"/>
                <a:cs typeface="Arial"/>
              </a:rPr>
              <a:t> returned</a:t>
            </a:r>
            <a:r>
              <a:rPr sz="1450" i="1" spc="50" dirty="0">
                <a:latin typeface="Arial"/>
                <a:cs typeface="Arial"/>
              </a:rPr>
              <a:t> </a:t>
            </a:r>
            <a:r>
              <a:rPr sz="1450" i="1" dirty="0">
                <a:latin typeface="Arial"/>
                <a:cs typeface="Arial"/>
              </a:rPr>
              <a:t>to</a:t>
            </a:r>
            <a:r>
              <a:rPr sz="1450" i="1" spc="45" dirty="0">
                <a:latin typeface="Arial"/>
                <a:cs typeface="Arial"/>
              </a:rPr>
              <a:t> </a:t>
            </a:r>
            <a:r>
              <a:rPr sz="1450" i="1" spc="10" dirty="0">
                <a:latin typeface="Arial"/>
                <a:cs typeface="Arial"/>
              </a:rPr>
              <a:t>the calling</a:t>
            </a:r>
            <a:r>
              <a:rPr sz="1450" i="1" spc="45" dirty="0">
                <a:latin typeface="Arial"/>
                <a:cs typeface="Arial"/>
              </a:rPr>
              <a:t> </a:t>
            </a:r>
            <a:r>
              <a:rPr sz="1450" i="1" spc="10" dirty="0">
                <a:latin typeface="Arial"/>
                <a:cs typeface="Arial"/>
              </a:rPr>
              <a:t>function</a:t>
            </a:r>
            <a:endParaRPr sz="1450" dirty="0">
              <a:latin typeface="Arial"/>
              <a:cs typeface="Arial"/>
            </a:endParaRPr>
          </a:p>
        </p:txBody>
      </p:sp>
      <p:sp>
        <p:nvSpPr>
          <p:cNvPr id="6" name="object 6"/>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4664" y="750829"/>
            <a:ext cx="3820795" cy="964565"/>
          </a:xfrm>
          <a:prstGeom prst="rect">
            <a:avLst/>
          </a:prstGeom>
        </p:spPr>
        <p:txBody>
          <a:bodyPr vert="horz" wrap="square" lIns="0" tIns="12065" rIns="0" bIns="0" rtlCol="0">
            <a:spAutoFit/>
          </a:bodyPr>
          <a:lstStyle/>
          <a:p>
            <a:pPr marL="12700" marR="1697989">
              <a:lnSpc>
                <a:spcPct val="121400"/>
              </a:lnSpc>
              <a:spcBef>
                <a:spcPts val="95"/>
              </a:spcBef>
            </a:pPr>
            <a:r>
              <a:rPr sz="1700" spc="5" dirty="0">
                <a:solidFill>
                  <a:srgbClr val="000000"/>
                </a:solidFill>
              </a:rPr>
              <a:t>//</a:t>
            </a:r>
            <a:r>
              <a:rPr sz="1700" spc="15" dirty="0">
                <a:solidFill>
                  <a:srgbClr val="000000"/>
                </a:solidFill>
                <a:latin typeface="Times New Roman"/>
                <a:cs typeface="Times New Roman"/>
              </a:rPr>
              <a:t> </a:t>
            </a:r>
            <a:r>
              <a:rPr sz="1700" spc="5" dirty="0">
                <a:solidFill>
                  <a:srgbClr val="000000"/>
                </a:solidFill>
              </a:rPr>
              <a:t>Dem</a:t>
            </a:r>
            <a:r>
              <a:rPr sz="1700" spc="10" dirty="0">
                <a:solidFill>
                  <a:srgbClr val="000000"/>
                </a:solidFill>
              </a:rPr>
              <a:t>o</a:t>
            </a:r>
            <a:r>
              <a:rPr sz="1700" spc="5" dirty="0">
                <a:solidFill>
                  <a:srgbClr val="000000"/>
                </a:solidFill>
              </a:rPr>
              <a:t>n</a:t>
            </a:r>
            <a:r>
              <a:rPr sz="1700" spc="20" dirty="0">
                <a:solidFill>
                  <a:srgbClr val="000000"/>
                </a:solidFill>
              </a:rPr>
              <a:t>s</a:t>
            </a:r>
            <a:r>
              <a:rPr sz="1700" spc="5" dirty="0">
                <a:solidFill>
                  <a:srgbClr val="000000"/>
                </a:solidFill>
              </a:rPr>
              <a:t>t</a:t>
            </a:r>
            <a:r>
              <a:rPr sz="1700" spc="-10" dirty="0">
                <a:solidFill>
                  <a:srgbClr val="000000"/>
                </a:solidFill>
              </a:rPr>
              <a:t>r</a:t>
            </a:r>
            <a:r>
              <a:rPr sz="1700" dirty="0">
                <a:solidFill>
                  <a:srgbClr val="000000"/>
                </a:solidFill>
              </a:rPr>
              <a:t>at</a:t>
            </a:r>
            <a:r>
              <a:rPr sz="1700" spc="10" dirty="0">
                <a:solidFill>
                  <a:srgbClr val="000000"/>
                </a:solidFill>
              </a:rPr>
              <a:t>e</a:t>
            </a:r>
            <a:r>
              <a:rPr sz="1700" spc="-65" dirty="0">
                <a:solidFill>
                  <a:srgbClr val="000000"/>
                </a:solidFill>
                <a:latin typeface="Times New Roman"/>
                <a:cs typeface="Times New Roman"/>
              </a:rPr>
              <a:t> </a:t>
            </a:r>
            <a:r>
              <a:rPr sz="1700" spc="-10" dirty="0">
                <a:solidFill>
                  <a:srgbClr val="000000"/>
                </a:solidFill>
              </a:rPr>
              <a:t>r</a:t>
            </a:r>
            <a:r>
              <a:rPr sz="1700" dirty="0">
                <a:solidFill>
                  <a:srgbClr val="000000"/>
                </a:solidFill>
              </a:rPr>
              <a:t>et</a:t>
            </a:r>
            <a:r>
              <a:rPr sz="1700" spc="10" dirty="0">
                <a:solidFill>
                  <a:srgbClr val="000000"/>
                </a:solidFill>
              </a:rPr>
              <a:t>u</a:t>
            </a:r>
            <a:r>
              <a:rPr sz="1700" spc="-10" dirty="0">
                <a:solidFill>
                  <a:srgbClr val="000000"/>
                </a:solidFill>
              </a:rPr>
              <a:t>r</a:t>
            </a:r>
            <a:r>
              <a:rPr sz="1700" dirty="0">
                <a:solidFill>
                  <a:srgbClr val="000000"/>
                </a:solidFill>
              </a:rPr>
              <a:t>n. </a:t>
            </a:r>
            <a:r>
              <a:rPr sz="1700" spc="-5" dirty="0">
                <a:solidFill>
                  <a:srgbClr val="000000"/>
                </a:solidFill>
                <a:latin typeface="Times New Roman"/>
                <a:cs typeface="Times New Roman"/>
              </a:rPr>
              <a:t> </a:t>
            </a:r>
            <a:r>
              <a:rPr sz="1700" spc="15" dirty="0">
                <a:solidFill>
                  <a:srgbClr val="000000"/>
                </a:solidFill>
              </a:rPr>
              <a:t>class</a:t>
            </a:r>
            <a:r>
              <a:rPr sz="1700" spc="-105" dirty="0">
                <a:solidFill>
                  <a:srgbClr val="000000"/>
                </a:solidFill>
              </a:rPr>
              <a:t> </a:t>
            </a:r>
            <a:r>
              <a:rPr sz="1700" dirty="0">
                <a:solidFill>
                  <a:srgbClr val="000000"/>
                </a:solidFill>
              </a:rPr>
              <a:t>Return</a:t>
            </a:r>
            <a:r>
              <a:rPr sz="1700" spc="-35" dirty="0">
                <a:solidFill>
                  <a:srgbClr val="000000"/>
                </a:solidFill>
              </a:rPr>
              <a:t> </a:t>
            </a:r>
            <a:r>
              <a:rPr sz="1700" spc="5" dirty="0">
                <a:solidFill>
                  <a:srgbClr val="000000"/>
                </a:solidFill>
              </a:rPr>
              <a:t>{</a:t>
            </a:r>
            <a:endParaRPr sz="1700">
              <a:latin typeface="Times New Roman"/>
              <a:cs typeface="Times New Roman"/>
            </a:endParaRPr>
          </a:p>
          <a:p>
            <a:pPr marL="255904">
              <a:lnSpc>
                <a:spcPct val="100000"/>
              </a:lnSpc>
              <a:spcBef>
                <a:spcPts val="400"/>
              </a:spcBef>
            </a:pPr>
            <a:r>
              <a:rPr sz="1700" spc="10" dirty="0">
                <a:solidFill>
                  <a:srgbClr val="000000"/>
                </a:solidFill>
              </a:rPr>
              <a:t>public</a:t>
            </a:r>
            <a:r>
              <a:rPr sz="1700" spc="-100" dirty="0">
                <a:solidFill>
                  <a:srgbClr val="000000"/>
                </a:solidFill>
              </a:rPr>
              <a:t> </a:t>
            </a:r>
            <a:r>
              <a:rPr sz="1700" spc="10" dirty="0">
                <a:solidFill>
                  <a:srgbClr val="000000"/>
                </a:solidFill>
              </a:rPr>
              <a:t>static</a:t>
            </a:r>
            <a:r>
              <a:rPr sz="1700" spc="-100" dirty="0">
                <a:solidFill>
                  <a:srgbClr val="000000"/>
                </a:solidFill>
              </a:rPr>
              <a:t> </a:t>
            </a:r>
            <a:r>
              <a:rPr sz="1700" spc="20" dirty="0">
                <a:solidFill>
                  <a:srgbClr val="000000"/>
                </a:solidFill>
              </a:rPr>
              <a:t>void</a:t>
            </a:r>
            <a:r>
              <a:rPr sz="1700" spc="-114" dirty="0">
                <a:solidFill>
                  <a:srgbClr val="000000"/>
                </a:solidFill>
              </a:rPr>
              <a:t> </a:t>
            </a:r>
            <a:r>
              <a:rPr sz="1700" spc="5" dirty="0">
                <a:solidFill>
                  <a:srgbClr val="000000"/>
                </a:solidFill>
              </a:rPr>
              <a:t>main(String</a:t>
            </a:r>
            <a:r>
              <a:rPr sz="1700" spc="-114" dirty="0">
                <a:solidFill>
                  <a:srgbClr val="000000"/>
                </a:solidFill>
              </a:rPr>
              <a:t> </a:t>
            </a:r>
            <a:r>
              <a:rPr sz="1700" spc="5" dirty="0">
                <a:solidFill>
                  <a:srgbClr val="000000"/>
                </a:solidFill>
              </a:rPr>
              <a:t>args[])</a:t>
            </a:r>
            <a:r>
              <a:rPr sz="1700" spc="-45" dirty="0">
                <a:solidFill>
                  <a:srgbClr val="000000"/>
                </a:solidFill>
              </a:rPr>
              <a:t> </a:t>
            </a:r>
            <a:r>
              <a:rPr sz="1700" spc="5" dirty="0">
                <a:solidFill>
                  <a:srgbClr val="000000"/>
                </a:solidFill>
              </a:rPr>
              <a:t>{</a:t>
            </a:r>
            <a:endParaRPr sz="1700"/>
          </a:p>
        </p:txBody>
      </p:sp>
      <p:sp>
        <p:nvSpPr>
          <p:cNvPr id="3" name="object 3"/>
          <p:cNvSpPr txBox="1"/>
          <p:nvPr/>
        </p:nvSpPr>
        <p:spPr>
          <a:xfrm>
            <a:off x="364667" y="1688499"/>
            <a:ext cx="3931285" cy="1742439"/>
          </a:xfrm>
          <a:prstGeom prst="rect">
            <a:avLst/>
          </a:prstGeom>
        </p:spPr>
        <p:txBody>
          <a:bodyPr vert="horz" wrap="square" lIns="0" tIns="12065" rIns="0" bIns="0" rtlCol="0">
            <a:spAutoFit/>
          </a:bodyPr>
          <a:lstStyle/>
          <a:p>
            <a:pPr marL="499109" marR="136525">
              <a:lnSpc>
                <a:spcPct val="124000"/>
              </a:lnSpc>
              <a:spcBef>
                <a:spcPts val="95"/>
              </a:spcBef>
            </a:pPr>
            <a:r>
              <a:rPr sz="1450" dirty="0">
                <a:latin typeface="Arial MT"/>
                <a:cs typeface="Arial MT"/>
              </a:rPr>
              <a:t>boolean</a:t>
            </a:r>
            <a:r>
              <a:rPr sz="1450" spc="5" dirty="0">
                <a:latin typeface="Arial MT"/>
                <a:cs typeface="Arial MT"/>
              </a:rPr>
              <a:t> t </a:t>
            </a:r>
            <a:r>
              <a:rPr sz="1450" spc="15" dirty="0">
                <a:latin typeface="Arial MT"/>
                <a:cs typeface="Arial MT"/>
              </a:rPr>
              <a:t>= </a:t>
            </a:r>
            <a:r>
              <a:rPr sz="1450" dirty="0">
                <a:latin typeface="Arial MT"/>
                <a:cs typeface="Arial MT"/>
              </a:rPr>
              <a:t>true; </a:t>
            </a:r>
            <a:r>
              <a:rPr sz="1450" spc="5" dirty="0">
                <a:latin typeface="Arial MT"/>
                <a:cs typeface="Arial MT"/>
              </a:rPr>
              <a:t> System.out.println("Before</a:t>
            </a:r>
            <a:r>
              <a:rPr sz="1450" spc="170" dirty="0">
                <a:latin typeface="Arial MT"/>
                <a:cs typeface="Arial MT"/>
              </a:rPr>
              <a:t> </a:t>
            </a:r>
            <a:r>
              <a:rPr sz="1450" spc="10" dirty="0">
                <a:latin typeface="Arial MT"/>
                <a:cs typeface="Arial MT"/>
              </a:rPr>
              <a:t>the</a:t>
            </a:r>
            <a:r>
              <a:rPr sz="1450" spc="55" dirty="0">
                <a:latin typeface="Arial MT"/>
                <a:cs typeface="Arial MT"/>
              </a:rPr>
              <a:t> </a:t>
            </a:r>
            <a:r>
              <a:rPr sz="1450" dirty="0">
                <a:latin typeface="Arial MT"/>
                <a:cs typeface="Arial MT"/>
              </a:rPr>
              <a:t>return."); </a:t>
            </a:r>
            <a:r>
              <a:rPr sz="1450" spc="-390" dirty="0">
                <a:latin typeface="Arial MT"/>
                <a:cs typeface="Arial MT"/>
              </a:rPr>
              <a:t> </a:t>
            </a:r>
            <a:r>
              <a:rPr sz="1450" spc="-15" dirty="0">
                <a:latin typeface="Arial MT"/>
                <a:cs typeface="Arial MT"/>
              </a:rPr>
              <a:t>if(t)</a:t>
            </a:r>
            <a:r>
              <a:rPr sz="1450" spc="95" dirty="0">
                <a:latin typeface="Arial MT"/>
                <a:cs typeface="Arial MT"/>
              </a:rPr>
              <a:t> </a:t>
            </a:r>
            <a:r>
              <a:rPr sz="1450" b="1" spc="10" dirty="0">
                <a:latin typeface="Arial"/>
                <a:cs typeface="Arial"/>
              </a:rPr>
              <a:t>return</a:t>
            </a:r>
            <a:r>
              <a:rPr sz="1450" spc="10" dirty="0">
                <a:latin typeface="Arial MT"/>
                <a:cs typeface="Arial MT"/>
              </a:rPr>
              <a:t>;</a:t>
            </a:r>
            <a:endParaRPr sz="1450">
              <a:latin typeface="Arial MT"/>
              <a:cs typeface="Arial MT"/>
            </a:endParaRPr>
          </a:p>
          <a:p>
            <a:pPr marL="499109">
              <a:lnSpc>
                <a:spcPct val="100000"/>
              </a:lnSpc>
              <a:spcBef>
                <a:spcPts val="415"/>
              </a:spcBef>
            </a:pPr>
            <a:r>
              <a:rPr sz="1450" spc="5" dirty="0">
                <a:latin typeface="Arial MT"/>
                <a:cs typeface="Arial MT"/>
              </a:rPr>
              <a:t>System.out.println("This</a:t>
            </a:r>
            <a:r>
              <a:rPr sz="1450" spc="165" dirty="0">
                <a:latin typeface="Arial MT"/>
                <a:cs typeface="Arial MT"/>
              </a:rPr>
              <a:t> </a:t>
            </a:r>
            <a:r>
              <a:rPr sz="1450" spc="15" dirty="0">
                <a:latin typeface="Arial MT"/>
                <a:cs typeface="Arial MT"/>
              </a:rPr>
              <a:t>won't</a:t>
            </a:r>
            <a:r>
              <a:rPr sz="1450" spc="-25" dirty="0">
                <a:latin typeface="Arial MT"/>
                <a:cs typeface="Arial MT"/>
              </a:rPr>
              <a:t> </a:t>
            </a:r>
            <a:r>
              <a:rPr sz="1450" dirty="0">
                <a:latin typeface="Arial MT"/>
                <a:cs typeface="Arial MT"/>
              </a:rPr>
              <a:t>execute.");</a:t>
            </a:r>
            <a:endParaRPr sz="1450">
              <a:latin typeface="Arial MT"/>
              <a:cs typeface="Arial MT"/>
            </a:endParaRPr>
          </a:p>
          <a:p>
            <a:pPr marL="255904">
              <a:lnSpc>
                <a:spcPct val="100000"/>
              </a:lnSpc>
              <a:spcBef>
                <a:spcPts val="409"/>
              </a:spcBef>
            </a:pPr>
            <a:r>
              <a:rPr sz="1700" spc="5" dirty="0">
                <a:latin typeface="Arial MT"/>
                <a:cs typeface="Arial MT"/>
              </a:rPr>
              <a:t>}</a:t>
            </a:r>
            <a:endParaRPr sz="1700">
              <a:latin typeface="Arial MT"/>
              <a:cs typeface="Arial MT"/>
            </a:endParaRPr>
          </a:p>
          <a:p>
            <a:pPr marL="12700">
              <a:lnSpc>
                <a:spcPct val="100000"/>
              </a:lnSpc>
              <a:spcBef>
                <a:spcPts val="395"/>
              </a:spcBef>
            </a:pPr>
            <a:r>
              <a:rPr sz="1700" spc="5" dirty="0">
                <a:latin typeface="Arial MT"/>
                <a:cs typeface="Arial MT"/>
              </a:rPr>
              <a:t>}</a:t>
            </a:r>
            <a:endParaRPr sz="1700">
              <a:latin typeface="Arial MT"/>
              <a:cs typeface="Arial MT"/>
            </a:endParaRPr>
          </a:p>
        </p:txBody>
      </p:sp>
      <p:grpSp>
        <p:nvGrpSpPr>
          <p:cNvPr id="5" name="object 5"/>
          <p:cNvGrpSpPr/>
          <p:nvPr/>
        </p:nvGrpSpPr>
        <p:grpSpPr>
          <a:xfrm>
            <a:off x="4960669" y="1270888"/>
            <a:ext cx="1282700" cy="507365"/>
            <a:chOff x="4960669" y="1270888"/>
            <a:chExt cx="1282700" cy="507365"/>
          </a:xfrm>
        </p:grpSpPr>
        <p:pic>
          <p:nvPicPr>
            <p:cNvPr id="6" name="object 6"/>
            <p:cNvPicPr/>
            <p:nvPr/>
          </p:nvPicPr>
          <p:blipFill>
            <a:blip r:embed="rId2" cstate="print"/>
            <a:stretch>
              <a:fillRect/>
            </a:stretch>
          </p:blipFill>
          <p:spPr>
            <a:xfrm>
              <a:off x="5006282" y="1301297"/>
              <a:ext cx="1170744" cy="415588"/>
            </a:xfrm>
            <a:prstGeom prst="rect">
              <a:avLst/>
            </a:prstGeom>
          </p:spPr>
        </p:pic>
        <p:pic>
          <p:nvPicPr>
            <p:cNvPr id="7" name="object 7"/>
            <p:cNvPicPr/>
            <p:nvPr/>
          </p:nvPicPr>
          <p:blipFill>
            <a:blip r:embed="rId3" cstate="print"/>
            <a:stretch>
              <a:fillRect/>
            </a:stretch>
          </p:blipFill>
          <p:spPr>
            <a:xfrm>
              <a:off x="4960669" y="1270888"/>
              <a:ext cx="1282243" cy="506815"/>
            </a:xfrm>
            <a:prstGeom prst="rect">
              <a:avLst/>
            </a:prstGeom>
          </p:spPr>
        </p:pic>
        <p:pic>
          <p:nvPicPr>
            <p:cNvPr id="8" name="object 8"/>
            <p:cNvPicPr/>
            <p:nvPr/>
          </p:nvPicPr>
          <p:blipFill>
            <a:blip r:embed="rId4" cstate="print"/>
            <a:stretch>
              <a:fillRect/>
            </a:stretch>
          </p:blipFill>
          <p:spPr>
            <a:xfrm>
              <a:off x="5024049" y="1308062"/>
              <a:ext cx="1135267" cy="376728"/>
            </a:xfrm>
            <a:prstGeom prst="rect">
              <a:avLst/>
            </a:prstGeom>
          </p:spPr>
        </p:pic>
      </p:grpSp>
      <p:sp>
        <p:nvSpPr>
          <p:cNvPr id="9" name="object 9"/>
          <p:cNvSpPr txBox="1"/>
          <p:nvPr/>
        </p:nvSpPr>
        <p:spPr>
          <a:xfrm>
            <a:off x="5024049" y="1308062"/>
            <a:ext cx="1135380" cy="377190"/>
          </a:xfrm>
          <a:prstGeom prst="rect">
            <a:avLst/>
          </a:prstGeom>
          <a:ln w="5073">
            <a:solidFill>
              <a:srgbClr val="000000"/>
            </a:solidFill>
          </a:ln>
        </p:spPr>
        <p:txBody>
          <a:bodyPr vert="horz" wrap="square" lIns="0" tIns="24130" rIns="0" bIns="0" rtlCol="0">
            <a:spAutoFit/>
          </a:bodyPr>
          <a:lstStyle/>
          <a:p>
            <a:pPr marL="52069">
              <a:lnSpc>
                <a:spcPct val="100000"/>
              </a:lnSpc>
              <a:spcBef>
                <a:spcPts val="190"/>
              </a:spcBef>
            </a:pPr>
            <a:r>
              <a:rPr sz="1050" b="1" spc="25" dirty="0">
                <a:latin typeface="Arial"/>
                <a:cs typeface="Arial"/>
              </a:rPr>
              <a:t>OUTPUT</a:t>
            </a:r>
            <a:endParaRPr sz="1050">
              <a:latin typeface="Arial"/>
              <a:cs typeface="Arial"/>
            </a:endParaRPr>
          </a:p>
          <a:p>
            <a:pPr marL="52069">
              <a:lnSpc>
                <a:spcPct val="100000"/>
              </a:lnSpc>
              <a:spcBef>
                <a:spcPts val="20"/>
              </a:spcBef>
            </a:pPr>
            <a:r>
              <a:rPr sz="1050" spc="15" dirty="0">
                <a:latin typeface="Arial MT"/>
                <a:cs typeface="Arial MT"/>
              </a:rPr>
              <a:t>Be</a:t>
            </a:r>
            <a:r>
              <a:rPr sz="1050" spc="-20" dirty="0">
                <a:latin typeface="Arial MT"/>
                <a:cs typeface="Arial MT"/>
              </a:rPr>
              <a:t>f</a:t>
            </a:r>
            <a:r>
              <a:rPr sz="1050" spc="5" dirty="0">
                <a:latin typeface="Arial MT"/>
                <a:cs typeface="Arial MT"/>
              </a:rPr>
              <a:t>or</a:t>
            </a:r>
            <a:r>
              <a:rPr sz="1050" spc="15" dirty="0">
                <a:latin typeface="Arial MT"/>
                <a:cs typeface="Arial MT"/>
              </a:rPr>
              <a:t>e</a:t>
            </a:r>
            <a:r>
              <a:rPr sz="1050" spc="10" dirty="0">
                <a:latin typeface="Times New Roman"/>
                <a:cs typeface="Times New Roman"/>
              </a:rPr>
              <a:t> </a:t>
            </a:r>
            <a:r>
              <a:rPr sz="1050" spc="20" dirty="0">
                <a:latin typeface="Arial MT"/>
                <a:cs typeface="Arial MT"/>
              </a:rPr>
              <a:t>t</a:t>
            </a:r>
            <a:r>
              <a:rPr sz="1050" spc="10" dirty="0">
                <a:latin typeface="Arial MT"/>
                <a:cs typeface="Arial MT"/>
              </a:rPr>
              <a:t>h</a:t>
            </a:r>
            <a:r>
              <a:rPr sz="1050" spc="15" dirty="0">
                <a:latin typeface="Arial MT"/>
                <a:cs typeface="Arial MT"/>
              </a:rPr>
              <a:t>e</a:t>
            </a:r>
            <a:r>
              <a:rPr sz="1050" spc="-30" dirty="0">
                <a:latin typeface="Times New Roman"/>
                <a:cs typeface="Times New Roman"/>
              </a:rPr>
              <a:t> </a:t>
            </a:r>
            <a:r>
              <a:rPr sz="1050" spc="10" dirty="0">
                <a:latin typeface="Arial MT"/>
                <a:cs typeface="Arial MT"/>
              </a:rPr>
              <a:t>re</a:t>
            </a:r>
            <a:r>
              <a:rPr sz="1050" spc="20" dirty="0">
                <a:latin typeface="Arial MT"/>
                <a:cs typeface="Arial MT"/>
              </a:rPr>
              <a:t>t</a:t>
            </a:r>
            <a:r>
              <a:rPr sz="1050" spc="5" dirty="0">
                <a:latin typeface="Arial MT"/>
                <a:cs typeface="Arial MT"/>
              </a:rPr>
              <a:t>urn</a:t>
            </a:r>
            <a:endParaRPr sz="1050">
              <a:latin typeface="Arial MT"/>
              <a:cs typeface="Arial MT"/>
            </a:endParaRPr>
          </a:p>
        </p:txBody>
      </p:sp>
      <p:sp>
        <p:nvSpPr>
          <p:cNvPr id="10" name="object 10"/>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a:extLst>
              <a:ext uri="{FF2B5EF4-FFF2-40B4-BE49-F238E27FC236}">
                <a16:creationId xmlns:a16="http://schemas.microsoft.com/office/drawing/2014/main" id="{49778F52-8F2F-9C10-F50F-6C2EA6319885}"/>
              </a:ext>
            </a:extLst>
          </p:cNvPr>
          <p:cNvSpPr>
            <a:spLocks noGrp="1"/>
          </p:cNvSpPr>
          <p:nvPr>
            <p:ph type="title"/>
          </p:nvPr>
        </p:nvSpPr>
        <p:spPr>
          <a:xfrm>
            <a:off x="532553" y="143087"/>
            <a:ext cx="5389598" cy="292388"/>
          </a:xfrm>
        </p:spPr>
        <p:txBody>
          <a:bodyPr/>
          <a:lstStyle/>
          <a:p>
            <a:pPr marL="214621" indent="-214621"/>
            <a:r>
              <a:rPr lang="en-US" altLang="en-US" b="1">
                <a:solidFill>
                  <a:srgbClr val="FF0000"/>
                </a:solidFill>
                <a:latin typeface="Times New Roman" panose="02020603050405020304" pitchFamily="18" charset="0"/>
                <a:cs typeface="Times New Roman" panose="02020603050405020304" pitchFamily="18" charset="0"/>
              </a:rPr>
              <a:t>Type Conversion and Casting</a:t>
            </a:r>
          </a:p>
        </p:txBody>
      </p:sp>
      <p:sp>
        <p:nvSpPr>
          <p:cNvPr id="90115" name="Content Placeholder 2">
            <a:extLst>
              <a:ext uri="{FF2B5EF4-FFF2-40B4-BE49-F238E27FC236}">
                <a16:creationId xmlns:a16="http://schemas.microsoft.com/office/drawing/2014/main" id="{653CF6B3-90CA-D5BB-1970-C82E35A2E4C5}"/>
              </a:ext>
            </a:extLst>
          </p:cNvPr>
          <p:cNvSpPr>
            <a:spLocks noGrp="1"/>
          </p:cNvSpPr>
          <p:nvPr>
            <p:ph sz="quarter" idx="1"/>
          </p:nvPr>
        </p:nvSpPr>
        <p:spPr>
          <a:xfrm>
            <a:off x="203200" y="774700"/>
            <a:ext cx="6096000" cy="2215991"/>
          </a:xfrm>
        </p:spPr>
        <p:txBody>
          <a:bodyPr/>
          <a:lstStyle/>
          <a:p>
            <a:pPr marL="285750" indent="-285750"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Assign a value of one type to a variable of another type is called type conversion. </a:t>
            </a:r>
          </a:p>
          <a:p>
            <a:pPr marL="285750" indent="-285750" algn="just">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Type conversion is classified as : </a:t>
            </a:r>
          </a:p>
          <a:p>
            <a:pPr marL="742950" lvl="1" indent="-285750"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Automatic Type Conversion</a:t>
            </a:r>
          </a:p>
          <a:p>
            <a:pPr marL="742950" lvl="1" indent="-285750"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Explicit Type Conversion</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Content Placeholder 2">
            <a:extLst>
              <a:ext uri="{FF2B5EF4-FFF2-40B4-BE49-F238E27FC236}">
                <a16:creationId xmlns:a16="http://schemas.microsoft.com/office/drawing/2014/main" id="{7CFDB7C5-B001-FB59-E2A8-1FD9F27E98F2}"/>
              </a:ext>
            </a:extLst>
          </p:cNvPr>
          <p:cNvSpPr>
            <a:spLocks noGrp="1"/>
          </p:cNvSpPr>
          <p:nvPr>
            <p:ph type="body" idx="1"/>
          </p:nvPr>
        </p:nvSpPr>
        <p:spPr>
          <a:xfrm>
            <a:off x="203200" y="736882"/>
            <a:ext cx="6019800" cy="2552418"/>
          </a:xfrm>
        </p:spPr>
        <p:txBody>
          <a:bodyPr/>
          <a:lstStyle/>
          <a:p>
            <a:pPr marL="285750" indent="-285750" algn="just">
              <a:buFont typeface="Arial" panose="020B0604020202020204" pitchFamily="34" charset="0"/>
              <a:buChar char="•"/>
            </a:pPr>
            <a:r>
              <a:rPr lang="en-US" altLang="en-US" sz="1753" dirty="0">
                <a:latin typeface="Times New Roman" panose="02020603050405020304" pitchFamily="18" charset="0"/>
                <a:cs typeface="Times New Roman" panose="02020603050405020304" pitchFamily="18" charset="0"/>
              </a:rPr>
              <a:t>An </a:t>
            </a:r>
            <a:r>
              <a:rPr lang="en-US" altLang="en-US" sz="2003" b="1" i="1" dirty="0">
                <a:solidFill>
                  <a:srgbClr val="FF0000"/>
                </a:solidFill>
                <a:latin typeface="Times New Roman" panose="02020603050405020304" pitchFamily="18" charset="0"/>
                <a:cs typeface="Times New Roman" panose="02020603050405020304" pitchFamily="18" charset="0"/>
              </a:rPr>
              <a:t>automatic type conversion</a:t>
            </a:r>
            <a:r>
              <a:rPr lang="en-US" altLang="en-US" sz="2003" i="1" dirty="0">
                <a:solidFill>
                  <a:srgbClr val="FF0000"/>
                </a:solidFill>
                <a:latin typeface="Times New Roman" panose="02020603050405020304" pitchFamily="18" charset="0"/>
                <a:cs typeface="Times New Roman" panose="02020603050405020304" pitchFamily="18" charset="0"/>
              </a:rPr>
              <a:t> </a:t>
            </a:r>
            <a:r>
              <a:rPr lang="en-US" altLang="en-US" sz="1753" dirty="0">
                <a:latin typeface="Times New Roman" panose="02020603050405020304" pitchFamily="18" charset="0"/>
                <a:cs typeface="Times New Roman" panose="02020603050405020304" pitchFamily="18" charset="0"/>
              </a:rPr>
              <a:t>will take place if the following two conditions are met:</a:t>
            </a:r>
          </a:p>
          <a:p>
            <a:pPr marL="742950" lvl="1" indent="-285750" algn="jus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The two types are compatible.</a:t>
            </a:r>
          </a:p>
          <a:p>
            <a:pPr marL="742950" lvl="1" indent="-285750" algn="jus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The destination type is larger than the source type.</a:t>
            </a:r>
          </a:p>
          <a:p>
            <a:pPr marL="285750" indent="-285750" algn="just">
              <a:buFont typeface="Arial" panose="020B0604020202020204" pitchFamily="34" charset="0"/>
              <a:buChar char="•"/>
            </a:pPr>
            <a:r>
              <a:rPr lang="en-US" altLang="en-US" sz="1753" dirty="0" err="1">
                <a:latin typeface="Times New Roman" panose="02020603050405020304" pitchFamily="18" charset="0"/>
                <a:cs typeface="Times New Roman" panose="02020603050405020304" pitchFamily="18" charset="0"/>
              </a:rPr>
              <a:t>eg</a:t>
            </a:r>
            <a:r>
              <a:rPr lang="en-US" altLang="en-US" sz="1753" dirty="0">
                <a:latin typeface="Times New Roman" panose="02020603050405020304" pitchFamily="18" charset="0"/>
                <a:cs typeface="Times New Roman" panose="02020603050405020304" pitchFamily="18" charset="0"/>
              </a:rPr>
              <a:t> : </a:t>
            </a:r>
          </a:p>
          <a:p>
            <a:pPr marL="742950" lvl="1" indent="-285750" algn="jus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Integer and floating-point types are compatible with each other</a:t>
            </a:r>
          </a:p>
          <a:p>
            <a:pPr marL="742950" lvl="1" indent="-285750" algn="jus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int </a:t>
            </a:r>
            <a:r>
              <a:rPr lang="en-US" altLang="en-US" dirty="0">
                <a:latin typeface="Times New Roman" panose="02020603050405020304" pitchFamily="18" charset="0"/>
                <a:cs typeface="Times New Roman" panose="02020603050405020304" pitchFamily="18" charset="0"/>
              </a:rPr>
              <a:t>type is always large enough to hold all valid </a:t>
            </a:r>
            <a:r>
              <a:rPr lang="en-US" altLang="en-US" b="1" dirty="0">
                <a:latin typeface="Times New Roman" panose="02020603050405020304" pitchFamily="18" charset="0"/>
                <a:cs typeface="Times New Roman" panose="02020603050405020304" pitchFamily="18" charset="0"/>
              </a:rPr>
              <a:t>byte </a:t>
            </a:r>
            <a:r>
              <a:rPr lang="en-US" altLang="en-US" dirty="0">
                <a:latin typeface="Times New Roman" panose="02020603050405020304" pitchFamily="18" charset="0"/>
                <a:cs typeface="Times New Roman" panose="02020603050405020304" pitchFamily="18" charset="0"/>
              </a:rPr>
              <a:t>values</a:t>
            </a: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Content Placeholder 2">
            <a:extLst>
              <a:ext uri="{FF2B5EF4-FFF2-40B4-BE49-F238E27FC236}">
                <a16:creationId xmlns:a16="http://schemas.microsoft.com/office/drawing/2014/main" id="{7CFDB7C5-B001-FB59-E2A8-1FD9F27E98F2}"/>
              </a:ext>
            </a:extLst>
          </p:cNvPr>
          <p:cNvSpPr>
            <a:spLocks noGrp="1"/>
          </p:cNvSpPr>
          <p:nvPr>
            <p:ph type="body" idx="1"/>
          </p:nvPr>
        </p:nvSpPr>
        <p:spPr>
          <a:xfrm>
            <a:off x="127000" y="698500"/>
            <a:ext cx="6248400" cy="2793719"/>
          </a:xfrm>
        </p:spPr>
        <p:txBody>
          <a:bodyPr/>
          <a:lstStyle/>
          <a:p>
            <a:pPr algn="just" eaLnBrk="1" hangingPunct="1"/>
            <a:r>
              <a:rPr lang="en-US" altLang="en-US" sz="1753" u="sng" dirty="0">
                <a:latin typeface="Times New Roman" panose="02020603050405020304" pitchFamily="18" charset="0"/>
                <a:cs typeface="Times New Roman" panose="02020603050405020304" pitchFamily="18" charset="0"/>
              </a:rPr>
              <a:t>Type Conversion Rules </a:t>
            </a:r>
            <a:r>
              <a:rPr lang="en-US" altLang="en-US" sz="1753" dirty="0">
                <a:latin typeface="Times New Roman" panose="02020603050405020304" pitchFamily="18" charset="0"/>
                <a:cs typeface="Times New Roman" panose="02020603050405020304" pitchFamily="18" charset="0"/>
              </a:rPr>
              <a:t>: </a:t>
            </a:r>
          </a:p>
          <a:p>
            <a:pPr marL="742950" lvl="1" indent="-285750" algn="just" eaLnBrk="1" hangingPunct="1">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All byte and short values are promoted to </a:t>
            </a:r>
            <a:r>
              <a:rPr lang="en-US" altLang="en-US" b="1" dirty="0">
                <a:latin typeface="Times New Roman" panose="02020603050405020304" pitchFamily="18" charset="0"/>
                <a:cs typeface="Times New Roman" panose="02020603050405020304" pitchFamily="18" charset="0"/>
              </a:rPr>
              <a:t>int</a:t>
            </a:r>
          </a:p>
          <a:p>
            <a:pPr marL="742950" lvl="1" indent="-285750" algn="just" eaLnBrk="1" hangingPunct="1">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If one operand is long then the whole expression is promoted to </a:t>
            </a:r>
            <a:r>
              <a:rPr lang="en-US" altLang="en-US" b="1" dirty="0">
                <a:latin typeface="Times New Roman" panose="02020603050405020304" pitchFamily="18" charset="0"/>
                <a:cs typeface="Times New Roman" panose="02020603050405020304" pitchFamily="18" charset="0"/>
              </a:rPr>
              <a:t>long</a:t>
            </a:r>
          </a:p>
          <a:p>
            <a:pPr marL="742950" lvl="1" indent="-285750" algn="just" eaLnBrk="1" hangingPunct="1">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If one operand is float then the whole expression is promoted to </a:t>
            </a:r>
            <a:r>
              <a:rPr lang="en-US" altLang="en-US" b="1" dirty="0">
                <a:latin typeface="Times New Roman" panose="02020603050405020304" pitchFamily="18" charset="0"/>
                <a:cs typeface="Times New Roman" panose="02020603050405020304" pitchFamily="18" charset="0"/>
              </a:rPr>
              <a:t>float</a:t>
            </a:r>
          </a:p>
          <a:p>
            <a:pPr marL="742950" lvl="1" indent="-285750" algn="just" eaLnBrk="1" hangingPunct="1">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If one operand is double then the whole expression is promoted to </a:t>
            </a:r>
            <a:r>
              <a:rPr lang="en-US" altLang="en-US" b="1" dirty="0">
                <a:latin typeface="Times New Roman" panose="02020603050405020304" pitchFamily="18" charset="0"/>
                <a:cs typeface="Times New Roman" panose="02020603050405020304" pitchFamily="18" charset="0"/>
              </a:rPr>
              <a:t>double</a:t>
            </a:r>
          </a:p>
          <a:p>
            <a:pPr lvl="1" algn="just"/>
            <a:endParaRPr lang="en-US" altLang="en-US" sz="1753"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7788016"/>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9" name="Content Placeholder 2">
            <a:extLst>
              <a:ext uri="{FF2B5EF4-FFF2-40B4-BE49-F238E27FC236}">
                <a16:creationId xmlns:a16="http://schemas.microsoft.com/office/drawing/2014/main" id="{F0E3EEA9-C7A0-89B1-6917-EFC835EDC973}"/>
              </a:ext>
            </a:extLst>
          </p:cNvPr>
          <p:cNvSpPr>
            <a:spLocks noGrp="1"/>
          </p:cNvSpPr>
          <p:nvPr>
            <p:ph sz="quarter" idx="1"/>
          </p:nvPr>
        </p:nvSpPr>
        <p:spPr>
          <a:xfrm>
            <a:off x="279400" y="698500"/>
            <a:ext cx="5389598" cy="3693319"/>
          </a:xfrm>
        </p:spPr>
        <p:txBody>
          <a:bodyPr/>
          <a:lstStyle/>
          <a:p>
            <a:pPr>
              <a:defRPr/>
            </a:pPr>
            <a:r>
              <a:rPr lang="en-US" sz="1600" dirty="0">
                <a:latin typeface="Times New Roman" pitchFamily="18" charset="0"/>
                <a:cs typeface="Times New Roman" pitchFamily="18" charset="0"/>
              </a:rPr>
              <a:t>Example :</a:t>
            </a:r>
          </a:p>
          <a:p>
            <a:pPr>
              <a:defRPr/>
            </a:pPr>
            <a:r>
              <a:rPr lang="en-US" sz="1600" dirty="0">
                <a:latin typeface="Times New Roman" pitchFamily="18" charset="0"/>
                <a:cs typeface="Times New Roman" pitchFamily="18" charset="0"/>
              </a:rPr>
              <a:t>	byte   b = 50;</a:t>
            </a:r>
          </a:p>
          <a:p>
            <a:pPr>
              <a:defRPr/>
            </a:pPr>
            <a:r>
              <a:rPr lang="en-US" sz="1600" dirty="0">
                <a:latin typeface="Times New Roman" pitchFamily="18" charset="0"/>
                <a:cs typeface="Times New Roman" pitchFamily="18" charset="0"/>
              </a:rPr>
              <a:t>	b = b * 2; // Error! Cannot assign an </a:t>
            </a:r>
            <a:r>
              <a:rPr lang="en-US" sz="1600" dirty="0" err="1">
                <a:latin typeface="Times New Roman" pitchFamily="18" charset="0"/>
                <a:cs typeface="Times New Roman" pitchFamily="18" charset="0"/>
              </a:rPr>
              <a:t>int</a:t>
            </a:r>
            <a:r>
              <a:rPr lang="en-US" sz="1600" dirty="0">
                <a:latin typeface="Times New Roman" pitchFamily="18" charset="0"/>
                <a:cs typeface="Times New Roman" pitchFamily="18" charset="0"/>
              </a:rPr>
              <a:t> to a byte!</a:t>
            </a:r>
          </a:p>
          <a:p>
            <a:pPr>
              <a:defRPr/>
            </a:pPr>
            <a:endParaRPr lang="en-US" sz="1600" dirty="0">
              <a:latin typeface="Times New Roman" pitchFamily="18" charset="0"/>
              <a:cs typeface="Times New Roman" pitchFamily="18" charset="0"/>
            </a:endParaRPr>
          </a:p>
          <a:p>
            <a:pPr>
              <a:defRPr/>
            </a:pPr>
            <a:r>
              <a:rPr lang="en-US" sz="1600" dirty="0">
                <a:latin typeface="Times New Roman" pitchFamily="18" charset="0"/>
                <a:cs typeface="Times New Roman" pitchFamily="18" charset="0"/>
              </a:rPr>
              <a:t>To handle this situation rewrite the above code as : </a:t>
            </a:r>
          </a:p>
          <a:p>
            <a:pPr>
              <a:defRPr/>
            </a:pPr>
            <a:r>
              <a:rPr lang="en-US" sz="1600" dirty="0">
                <a:latin typeface="Times New Roman" pitchFamily="18" charset="0"/>
                <a:cs typeface="Times New Roman" pitchFamily="18" charset="0"/>
              </a:rPr>
              <a:t>	byte b = 50;                      </a:t>
            </a:r>
            <a:r>
              <a:rPr lang="en-US" sz="1600" b="1" dirty="0">
                <a:latin typeface="Times New Roman" pitchFamily="18" charset="0"/>
                <a:cs typeface="Times New Roman" pitchFamily="18" charset="0"/>
              </a:rPr>
              <a:t> 	</a:t>
            </a:r>
          </a:p>
          <a:p>
            <a:pPr>
              <a:defRPr/>
            </a:pPr>
            <a:r>
              <a:rPr lang="en-US" sz="1600" b="1" dirty="0">
                <a:latin typeface="Times New Roman" pitchFamily="18" charset="0"/>
                <a:cs typeface="Times New Roman" pitchFamily="18" charset="0"/>
              </a:rPr>
              <a:t>	</a:t>
            </a:r>
            <a:r>
              <a:rPr lang="en-US" sz="1600" dirty="0">
                <a:latin typeface="Times New Roman" pitchFamily="18" charset="0"/>
                <a:cs typeface="Times New Roman" pitchFamily="18" charset="0"/>
              </a:rPr>
              <a:t>b = (byte)(b * 2);</a:t>
            </a:r>
          </a:p>
          <a:p>
            <a:pPr>
              <a:defRPr/>
            </a:pPr>
            <a:endParaRPr lang="en-US" sz="1600" dirty="0">
              <a:latin typeface="Times New Roman" pitchFamily="18" charset="0"/>
              <a:cs typeface="Times New Roman" pitchFamily="18" charset="0"/>
            </a:endParaRPr>
          </a:p>
          <a:p>
            <a:pPr>
              <a:defRPr/>
            </a:pPr>
            <a:r>
              <a:rPr lang="en-US" sz="1600" dirty="0">
                <a:latin typeface="Times New Roman" pitchFamily="18" charset="0"/>
                <a:cs typeface="Times New Roman" pitchFamily="18" charset="0"/>
              </a:rPr>
              <a:t>	OR</a:t>
            </a:r>
          </a:p>
          <a:p>
            <a:pPr>
              <a:defRPr/>
            </a:pPr>
            <a:r>
              <a:rPr lang="en-US" sz="1600" dirty="0">
                <a:latin typeface="Times New Roman" pitchFamily="18" charset="0"/>
                <a:cs typeface="Times New Roman" pitchFamily="18" charset="0"/>
              </a:rPr>
              <a:t>	</a:t>
            </a:r>
            <a:endParaRPr lang="en-US" sz="1600" b="1" dirty="0">
              <a:latin typeface="Times New Roman" pitchFamily="18" charset="0"/>
              <a:cs typeface="Times New Roman" pitchFamily="18" charset="0"/>
            </a:endParaRPr>
          </a:p>
          <a:p>
            <a:pPr>
              <a:defRPr/>
            </a:pPr>
            <a:r>
              <a:rPr lang="en-US" sz="1600" b="1" dirty="0">
                <a:latin typeface="Times New Roman" pitchFamily="18" charset="0"/>
                <a:cs typeface="Times New Roman" pitchFamily="18" charset="0"/>
              </a:rPr>
              <a:t>	</a:t>
            </a:r>
            <a:r>
              <a:rPr lang="en-US" sz="1600" dirty="0">
                <a:latin typeface="Times New Roman" pitchFamily="18" charset="0"/>
                <a:cs typeface="Times New Roman" pitchFamily="18" charset="0"/>
              </a:rPr>
              <a:t>byte  b = 50;</a:t>
            </a:r>
          </a:p>
          <a:p>
            <a:pPr>
              <a:defRPr/>
            </a:pPr>
            <a:r>
              <a:rPr lang="en-US" sz="1600" dirty="0">
                <a:latin typeface="Times New Roman" pitchFamily="18" charset="0"/>
                <a:cs typeface="Times New Roman" pitchFamily="18" charset="0"/>
              </a:rPr>
              <a:t>	int c;</a:t>
            </a:r>
          </a:p>
          <a:p>
            <a:pPr>
              <a:defRPr/>
            </a:pPr>
            <a:r>
              <a:rPr lang="en-US" sz="1600" dirty="0">
                <a:latin typeface="Times New Roman" pitchFamily="18" charset="0"/>
                <a:cs typeface="Times New Roman" pitchFamily="18" charset="0"/>
              </a:rPr>
              <a:t>	c = b * 2; </a:t>
            </a:r>
          </a:p>
          <a:p>
            <a:pPr>
              <a:defRPr/>
            </a:pPr>
            <a:endParaRPr lang="en-US" sz="1600" dirty="0">
              <a:latin typeface="Times New Roman" pitchFamily="18" charset="0"/>
              <a:cs typeface="Times New Roman" pitchFamily="18" charset="0"/>
            </a:endParaRPr>
          </a:p>
          <a:p>
            <a:pPr>
              <a:defRPr/>
            </a:pPr>
            <a:r>
              <a:rPr lang="en-US" sz="1600" dirty="0">
                <a:latin typeface="Times New Roman" pitchFamily="18" charset="0"/>
                <a:cs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2339">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2339">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2339">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2339">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2339">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2339">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2339">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2339">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a:extLst>
              <a:ext uri="{FF2B5EF4-FFF2-40B4-BE49-F238E27FC236}">
                <a16:creationId xmlns:a16="http://schemas.microsoft.com/office/drawing/2014/main" id="{C15EB695-829E-509C-9CD3-D6180B5281AE}"/>
              </a:ext>
            </a:extLst>
          </p:cNvPr>
          <p:cNvSpPr>
            <a:spLocks noGrp="1"/>
          </p:cNvSpPr>
          <p:nvPr>
            <p:ph type="title"/>
          </p:nvPr>
        </p:nvSpPr>
        <p:spPr>
          <a:xfrm>
            <a:off x="928793" y="304800"/>
            <a:ext cx="5294207" cy="241300"/>
          </a:xfrm>
        </p:spPr>
        <p:txBody>
          <a:bodyPr/>
          <a:lstStyle/>
          <a:p>
            <a:pPr marL="214621" indent="-214621"/>
            <a:r>
              <a:rPr lang="en-US" altLang="en-US" sz="1753" dirty="0">
                <a:solidFill>
                  <a:srgbClr val="FF0000"/>
                </a:solidFill>
                <a:latin typeface="Times New Roman" panose="02020603050405020304" pitchFamily="18" charset="0"/>
                <a:cs typeface="Times New Roman" panose="02020603050405020304" pitchFamily="18" charset="0"/>
              </a:rPr>
              <a:t>Explicit Type Conversion </a:t>
            </a:r>
          </a:p>
        </p:txBody>
      </p:sp>
      <p:sp>
        <p:nvSpPr>
          <p:cNvPr id="142339" name="Content Placeholder 2">
            <a:extLst>
              <a:ext uri="{FF2B5EF4-FFF2-40B4-BE49-F238E27FC236}">
                <a16:creationId xmlns:a16="http://schemas.microsoft.com/office/drawing/2014/main" id="{C76D6C2E-371C-10EA-A58C-1E16265AABD0}"/>
              </a:ext>
            </a:extLst>
          </p:cNvPr>
          <p:cNvSpPr>
            <a:spLocks noGrp="1"/>
          </p:cNvSpPr>
          <p:nvPr>
            <p:ph sz="quarter" idx="1"/>
          </p:nvPr>
        </p:nvSpPr>
        <p:spPr>
          <a:xfrm>
            <a:off x="127000" y="698500"/>
            <a:ext cx="6096000" cy="3594100"/>
          </a:xfrm>
        </p:spPr>
        <p:txBody>
          <a:bodyPr/>
          <a:lstStyle/>
          <a:p>
            <a:pPr marL="285750" indent="-285750" algn="just">
              <a:buFont typeface="Arial" panose="020B0604020202020204" pitchFamily="34" charset="0"/>
              <a:buChar char="•"/>
              <a:defRPr/>
            </a:pPr>
            <a:r>
              <a:rPr lang="en-US" sz="1800" dirty="0">
                <a:latin typeface="Times New Roman" pitchFamily="18" charset="0"/>
                <a:cs typeface="Times New Roman" pitchFamily="18" charset="0"/>
              </a:rPr>
              <a:t>To create a conversion between two incompatible types, we must use a cast. </a:t>
            </a:r>
          </a:p>
          <a:p>
            <a:pPr marL="285750" indent="-285750" algn="just">
              <a:buFont typeface="Arial" panose="020B0604020202020204" pitchFamily="34" charset="0"/>
              <a:buChar char="•"/>
              <a:defRPr/>
            </a:pPr>
            <a:r>
              <a:rPr lang="en-US" sz="1800" dirty="0">
                <a:latin typeface="Times New Roman" pitchFamily="18" charset="0"/>
                <a:cs typeface="Times New Roman" pitchFamily="18" charset="0"/>
              </a:rPr>
              <a:t>Syntax: 		</a:t>
            </a:r>
          </a:p>
          <a:p>
            <a:pPr marL="285750" indent="-285750" algn="just">
              <a:buFont typeface="Arial" panose="020B0604020202020204" pitchFamily="34" charset="0"/>
              <a:buChar char="•"/>
              <a:defRPr/>
            </a:pPr>
            <a:r>
              <a:rPr lang="en-US" sz="1800" dirty="0">
                <a:latin typeface="Times New Roman" pitchFamily="18" charset="0"/>
                <a:cs typeface="Times New Roman" pitchFamily="18" charset="0"/>
              </a:rPr>
              <a:t>(</a:t>
            </a:r>
            <a:r>
              <a:rPr lang="en-US" sz="1800" i="1" dirty="0">
                <a:latin typeface="Times New Roman" pitchFamily="18" charset="0"/>
                <a:cs typeface="Times New Roman" pitchFamily="18" charset="0"/>
              </a:rPr>
              <a:t>target</a:t>
            </a:r>
            <a:r>
              <a:rPr lang="en-US" sz="1800" dirty="0">
                <a:latin typeface="Times New Roman" pitchFamily="18" charset="0"/>
                <a:cs typeface="Times New Roman" pitchFamily="18" charset="0"/>
              </a:rPr>
              <a:t>-</a:t>
            </a:r>
            <a:r>
              <a:rPr lang="en-US" sz="1800" i="1" dirty="0">
                <a:latin typeface="Times New Roman" pitchFamily="18" charset="0"/>
                <a:cs typeface="Times New Roman" pitchFamily="18" charset="0"/>
              </a:rPr>
              <a:t>type</a:t>
            </a:r>
            <a:r>
              <a:rPr lang="en-US" sz="1800" dirty="0">
                <a:latin typeface="Times New Roman" pitchFamily="18" charset="0"/>
                <a:cs typeface="Times New Roman" pitchFamily="18" charset="0"/>
              </a:rPr>
              <a:t>) </a:t>
            </a:r>
            <a:r>
              <a:rPr lang="en-US" sz="1800" i="1" dirty="0">
                <a:latin typeface="Times New Roman" pitchFamily="18" charset="0"/>
                <a:cs typeface="Times New Roman" pitchFamily="18" charset="0"/>
              </a:rPr>
              <a:t>value </a:t>
            </a:r>
            <a:endParaRPr lang="en-US" sz="1800" dirty="0">
              <a:latin typeface="Times New Roman" pitchFamily="18" charset="0"/>
              <a:cs typeface="Times New Roman" pitchFamily="18" charset="0"/>
            </a:endParaRPr>
          </a:p>
          <a:p>
            <a:pPr marL="485467" lvl="1" indent="-285750" algn="just">
              <a:buFont typeface="Arial" panose="020B0604020202020204" pitchFamily="34" charset="0"/>
              <a:buChar char="•"/>
              <a:defRPr/>
            </a:pPr>
            <a:r>
              <a:rPr lang="en-US" sz="1600" i="1" dirty="0">
                <a:latin typeface="Times New Roman" pitchFamily="18" charset="0"/>
                <a:cs typeface="Times New Roman" pitchFamily="18" charset="0"/>
              </a:rPr>
              <a:t>target-type </a:t>
            </a:r>
            <a:r>
              <a:rPr lang="en-US" sz="1600" dirty="0">
                <a:latin typeface="Times New Roman" pitchFamily="18" charset="0"/>
                <a:cs typeface="Times New Roman" pitchFamily="18" charset="0"/>
              </a:rPr>
              <a:t>specifies the desired type to convert the specified value</a:t>
            </a:r>
          </a:p>
          <a:p>
            <a:pPr marL="199717" lvl="1" algn="just">
              <a:defRPr/>
            </a:pPr>
            <a:r>
              <a:rPr lang="en-US" sz="1600" dirty="0">
                <a:latin typeface="Times New Roman" pitchFamily="18" charset="0"/>
                <a:cs typeface="Times New Roman" pitchFamily="18" charset="0"/>
              </a:rPr>
              <a:t> </a:t>
            </a:r>
          </a:p>
          <a:p>
            <a:pPr marL="285750" indent="-285750">
              <a:buFont typeface="Arial" panose="020B0604020202020204" pitchFamily="34" charset="0"/>
              <a:buChar char="•"/>
              <a:defRPr/>
            </a:pPr>
            <a:r>
              <a:rPr lang="en-US" sz="1800" b="1" i="1" dirty="0">
                <a:latin typeface="Times New Roman" pitchFamily="18" charset="0"/>
                <a:cs typeface="Times New Roman" pitchFamily="18" charset="0"/>
              </a:rPr>
              <a:t>narrowing conversion </a:t>
            </a:r>
            <a:r>
              <a:rPr lang="en-US" sz="1800" i="1" dirty="0">
                <a:latin typeface="Times New Roman" pitchFamily="18" charset="0"/>
                <a:cs typeface="Times New Roman" pitchFamily="18" charset="0"/>
              </a:rPr>
              <a:t>: </a:t>
            </a:r>
            <a:r>
              <a:rPr lang="en-US" sz="1800" dirty="0">
                <a:latin typeface="Times New Roman" pitchFamily="18" charset="0"/>
                <a:cs typeface="Times New Roman" pitchFamily="18" charset="0"/>
              </a:rPr>
              <a:t>Explicitly making the value narrower so that it will fit into the target type </a:t>
            </a:r>
          </a:p>
          <a:p>
            <a:pPr marL="285750" indent="-285750">
              <a:buFont typeface="Arial" panose="020B0604020202020204" pitchFamily="34" charset="0"/>
              <a:buChar char="•"/>
              <a:defRPr/>
            </a:pPr>
            <a:r>
              <a:rPr lang="en-US" sz="1800" dirty="0">
                <a:latin typeface="Times New Roman" pitchFamily="18" charset="0"/>
                <a:cs typeface="Times New Roman" pitchFamily="18" charset="0"/>
              </a:rPr>
              <a:t>Ex: Assign an </a:t>
            </a:r>
            <a:r>
              <a:rPr lang="en-US" sz="1800" b="1" dirty="0">
                <a:latin typeface="Times New Roman" pitchFamily="18" charset="0"/>
                <a:cs typeface="Times New Roman" pitchFamily="18" charset="0"/>
              </a:rPr>
              <a:t>int </a:t>
            </a:r>
            <a:r>
              <a:rPr lang="en-US" sz="1800" dirty="0">
                <a:latin typeface="Times New Roman" pitchFamily="18" charset="0"/>
                <a:cs typeface="Times New Roman" pitchFamily="18" charset="0"/>
              </a:rPr>
              <a:t>value to a </a:t>
            </a:r>
            <a:r>
              <a:rPr lang="en-US" sz="1800" b="1" dirty="0">
                <a:latin typeface="Times New Roman" pitchFamily="18" charset="0"/>
                <a:cs typeface="Times New Roman" pitchFamily="18" charset="0"/>
              </a:rPr>
              <a:t>byte </a:t>
            </a:r>
            <a:r>
              <a:rPr lang="en-US" sz="1800" dirty="0">
                <a:latin typeface="Times New Roman" pitchFamily="18" charset="0"/>
                <a:cs typeface="Times New Roman" pitchFamily="18" charset="0"/>
              </a:rPr>
              <a:t>variable </a:t>
            </a:r>
          </a:p>
          <a:p>
            <a:pPr>
              <a:defRPr/>
            </a:pP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int</a:t>
            </a:r>
            <a:r>
              <a:rPr lang="en-US" sz="1800" dirty="0">
                <a:latin typeface="Times New Roman" pitchFamily="18" charset="0"/>
                <a:cs typeface="Times New Roman" pitchFamily="18" charset="0"/>
              </a:rPr>
              <a:t> a;</a:t>
            </a:r>
          </a:p>
          <a:p>
            <a:pPr>
              <a:defRPr/>
            </a:pPr>
            <a:r>
              <a:rPr lang="en-US" sz="1800" dirty="0">
                <a:latin typeface="Times New Roman" pitchFamily="18" charset="0"/>
                <a:cs typeface="Times New Roman" pitchFamily="18" charset="0"/>
              </a:rPr>
              <a:t>		byte b;</a:t>
            </a:r>
          </a:p>
          <a:p>
            <a:pPr>
              <a:defRPr/>
            </a:pPr>
            <a:r>
              <a:rPr lang="en-US" sz="1800" dirty="0">
                <a:latin typeface="Times New Roman" pitchFamily="18" charset="0"/>
                <a:cs typeface="Times New Roman" pitchFamily="18" charset="0"/>
              </a:rPr>
              <a:t>		// ...</a:t>
            </a:r>
          </a:p>
          <a:p>
            <a:pPr>
              <a:defRPr/>
            </a:pPr>
            <a:r>
              <a:rPr lang="en-US" sz="1800" dirty="0">
                <a:latin typeface="Times New Roman" pitchFamily="18" charset="0"/>
                <a:cs typeface="Times New Roman" pitchFamily="18" charset="0"/>
              </a:rPr>
              <a:t>		b = (byte) a;</a:t>
            </a:r>
            <a:endParaRPr lang="en-US" sz="1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1" name="Content Placeholder 2">
            <a:extLst>
              <a:ext uri="{FF2B5EF4-FFF2-40B4-BE49-F238E27FC236}">
                <a16:creationId xmlns:a16="http://schemas.microsoft.com/office/drawing/2014/main" id="{B0B2CA40-2806-A5DE-520C-85D28FEBEFDA}"/>
              </a:ext>
            </a:extLst>
          </p:cNvPr>
          <p:cNvSpPr>
            <a:spLocks noGrp="1"/>
          </p:cNvSpPr>
          <p:nvPr>
            <p:ph sz="quarter" idx="1"/>
          </p:nvPr>
        </p:nvSpPr>
        <p:spPr>
          <a:xfrm>
            <a:off x="532553" y="755640"/>
            <a:ext cx="5580380" cy="1631216"/>
          </a:xfrm>
        </p:spPr>
        <p:txBody>
          <a:bodyPr/>
          <a:lstStyle/>
          <a:p>
            <a:pPr algn="just">
              <a:defRPr/>
            </a:pPr>
            <a:r>
              <a:rPr lang="en-US" sz="1800" i="1" u="sng" dirty="0">
                <a:solidFill>
                  <a:srgbClr val="FF0000"/>
                </a:solidFill>
                <a:latin typeface="Times New Roman" pitchFamily="18" charset="0"/>
                <a:cs typeface="Times New Roman" pitchFamily="18" charset="0"/>
              </a:rPr>
              <a:t>Truncation</a:t>
            </a:r>
            <a:r>
              <a:rPr lang="en-US" sz="1800" dirty="0">
                <a:solidFill>
                  <a:srgbClr val="FF0000"/>
                </a:solidFill>
                <a:latin typeface="Times New Roman" pitchFamily="18" charset="0"/>
                <a:cs typeface="Times New Roman" pitchFamily="18" charset="0"/>
              </a:rPr>
              <a:t> : the fractional component is lost</a:t>
            </a:r>
          </a:p>
          <a:p>
            <a:pPr lvl="1" algn="just">
              <a:defRPr/>
            </a:pPr>
            <a:r>
              <a:rPr lang="en-US" sz="1600" dirty="0">
                <a:latin typeface="Times New Roman" pitchFamily="18" charset="0"/>
                <a:cs typeface="Times New Roman" pitchFamily="18" charset="0"/>
              </a:rPr>
              <a:t>Ex : floating-point value is assigned to an integer type</a:t>
            </a:r>
          </a:p>
          <a:p>
            <a:pPr algn="just">
              <a:defRPr/>
            </a:pPr>
            <a:endParaRPr lang="en-US" sz="1800" dirty="0">
              <a:latin typeface="Times New Roman" pitchFamily="18" charset="0"/>
              <a:cs typeface="Times New Roman" pitchFamily="18" charset="0"/>
            </a:endParaRPr>
          </a:p>
          <a:p>
            <a:pPr algn="just">
              <a:defRPr/>
            </a:pPr>
            <a:r>
              <a:rPr lang="en-US" sz="1800" dirty="0">
                <a:latin typeface="Times New Roman" pitchFamily="18" charset="0"/>
                <a:cs typeface="Times New Roman" pitchFamily="18" charset="0"/>
              </a:rPr>
              <a:t>If the size of the whole number component is too large to fit into the target integer type, then that value will be reduced to modulo the target type’s range.</a:t>
            </a:r>
            <a:endParaRPr lang="en-US" sz="1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65400" y="268881"/>
            <a:ext cx="725170" cy="318135"/>
          </a:xfrm>
          <a:prstGeom prst="rect">
            <a:avLst/>
          </a:prstGeom>
        </p:spPr>
        <p:txBody>
          <a:bodyPr vert="horz" wrap="square" lIns="0" tIns="14604" rIns="0" bIns="0" rtlCol="0">
            <a:spAutoFit/>
          </a:bodyPr>
          <a:lstStyle/>
          <a:p>
            <a:pPr marL="12700">
              <a:lnSpc>
                <a:spcPct val="100000"/>
              </a:lnSpc>
              <a:spcBef>
                <a:spcPts val="114"/>
              </a:spcBef>
            </a:pPr>
            <a:r>
              <a:rPr spc="5" dirty="0">
                <a:solidFill>
                  <a:schemeClr val="tx1"/>
                </a:solidFill>
              </a:rPr>
              <a:t>Arr</a:t>
            </a:r>
            <a:r>
              <a:rPr spc="15" dirty="0">
                <a:solidFill>
                  <a:schemeClr val="tx1"/>
                </a:solidFill>
              </a:rPr>
              <a:t>a</a:t>
            </a:r>
            <a:r>
              <a:rPr spc="-40" dirty="0">
                <a:solidFill>
                  <a:schemeClr val="tx1"/>
                </a:solidFill>
              </a:rPr>
              <a:t>y</a:t>
            </a:r>
            <a:r>
              <a:rPr spc="5" dirty="0">
                <a:solidFill>
                  <a:schemeClr val="tx1"/>
                </a:solidFill>
              </a:rPr>
              <a:t>s</a:t>
            </a:r>
          </a:p>
        </p:txBody>
      </p:sp>
      <p:sp>
        <p:nvSpPr>
          <p:cNvPr id="3" name="object 3"/>
          <p:cNvSpPr txBox="1"/>
          <p:nvPr/>
        </p:nvSpPr>
        <p:spPr>
          <a:xfrm>
            <a:off x="364664" y="803538"/>
            <a:ext cx="5743575" cy="1991995"/>
          </a:xfrm>
          <a:prstGeom prst="rect">
            <a:avLst/>
          </a:prstGeom>
        </p:spPr>
        <p:txBody>
          <a:bodyPr vert="horz" wrap="square" lIns="0" tIns="10160" rIns="0" bIns="0" rtlCol="0">
            <a:spAutoFit/>
          </a:bodyPr>
          <a:lstStyle/>
          <a:p>
            <a:pPr marL="194945" marR="5080" indent="-182880">
              <a:lnSpc>
                <a:spcPct val="101899"/>
              </a:lnSpc>
              <a:spcBef>
                <a:spcPts val="80"/>
              </a:spcBef>
              <a:buChar char="•"/>
              <a:tabLst>
                <a:tab pos="195580" algn="l"/>
              </a:tabLst>
            </a:pPr>
            <a:r>
              <a:rPr sz="1700" spc="10" dirty="0">
                <a:latin typeface="Arial MT"/>
                <a:cs typeface="Arial MT"/>
              </a:rPr>
              <a:t>An</a:t>
            </a:r>
            <a:r>
              <a:rPr sz="1700" spc="-35" dirty="0">
                <a:latin typeface="Arial MT"/>
                <a:cs typeface="Arial MT"/>
              </a:rPr>
              <a:t> </a:t>
            </a:r>
            <a:r>
              <a:rPr sz="1700" dirty="0">
                <a:latin typeface="Arial MT"/>
                <a:cs typeface="Arial MT"/>
              </a:rPr>
              <a:t>array</a:t>
            </a:r>
            <a:r>
              <a:rPr sz="1700" spc="-15" dirty="0">
                <a:latin typeface="Arial MT"/>
                <a:cs typeface="Arial MT"/>
              </a:rPr>
              <a:t> </a:t>
            </a:r>
            <a:r>
              <a:rPr sz="1700" spc="10" dirty="0">
                <a:latin typeface="Arial MT"/>
                <a:cs typeface="Arial MT"/>
              </a:rPr>
              <a:t>is</a:t>
            </a:r>
            <a:r>
              <a:rPr sz="1700" spc="-55" dirty="0">
                <a:latin typeface="Arial MT"/>
                <a:cs typeface="Arial MT"/>
              </a:rPr>
              <a:t> </a:t>
            </a:r>
            <a:r>
              <a:rPr sz="1700" spc="10" dirty="0">
                <a:latin typeface="Arial MT"/>
                <a:cs typeface="Arial MT"/>
              </a:rPr>
              <a:t>a</a:t>
            </a:r>
            <a:r>
              <a:rPr sz="1700" dirty="0">
                <a:latin typeface="Arial MT"/>
                <a:cs typeface="Arial MT"/>
              </a:rPr>
              <a:t> group</a:t>
            </a:r>
            <a:r>
              <a:rPr sz="1700" spc="-30" dirty="0">
                <a:latin typeface="Arial MT"/>
                <a:cs typeface="Arial MT"/>
              </a:rPr>
              <a:t> </a:t>
            </a:r>
            <a:r>
              <a:rPr sz="1700" spc="5" dirty="0">
                <a:latin typeface="Arial MT"/>
                <a:cs typeface="Arial MT"/>
              </a:rPr>
              <a:t>of</a:t>
            </a:r>
            <a:r>
              <a:rPr sz="1700" spc="-35" dirty="0">
                <a:latin typeface="Arial MT"/>
                <a:cs typeface="Arial MT"/>
              </a:rPr>
              <a:t> </a:t>
            </a:r>
            <a:r>
              <a:rPr sz="1700" spc="5" dirty="0">
                <a:latin typeface="Arial MT"/>
                <a:cs typeface="Arial MT"/>
              </a:rPr>
              <a:t>like-typed(same</a:t>
            </a:r>
            <a:r>
              <a:rPr sz="1700" spc="-155" dirty="0">
                <a:latin typeface="Arial MT"/>
                <a:cs typeface="Arial MT"/>
              </a:rPr>
              <a:t> </a:t>
            </a:r>
            <a:r>
              <a:rPr sz="1700" dirty="0">
                <a:latin typeface="Arial MT"/>
                <a:cs typeface="Arial MT"/>
              </a:rPr>
              <a:t>type)</a:t>
            </a:r>
            <a:r>
              <a:rPr sz="1700" spc="-5" dirty="0">
                <a:latin typeface="Arial MT"/>
                <a:cs typeface="Arial MT"/>
              </a:rPr>
              <a:t> </a:t>
            </a:r>
            <a:r>
              <a:rPr sz="1700" spc="10" dirty="0">
                <a:latin typeface="Arial MT"/>
                <a:cs typeface="Arial MT"/>
              </a:rPr>
              <a:t>variables</a:t>
            </a:r>
            <a:r>
              <a:rPr sz="1700" spc="-130" dirty="0">
                <a:latin typeface="Arial MT"/>
                <a:cs typeface="Arial MT"/>
              </a:rPr>
              <a:t> </a:t>
            </a:r>
            <a:r>
              <a:rPr sz="1700" spc="5" dirty="0">
                <a:latin typeface="Arial MT"/>
                <a:cs typeface="Arial MT"/>
              </a:rPr>
              <a:t>that </a:t>
            </a:r>
            <a:r>
              <a:rPr sz="1700" spc="-459" dirty="0">
                <a:latin typeface="Arial MT"/>
                <a:cs typeface="Arial MT"/>
              </a:rPr>
              <a:t> </a:t>
            </a:r>
            <a:r>
              <a:rPr sz="1700" dirty="0">
                <a:latin typeface="Arial MT"/>
                <a:cs typeface="Arial MT"/>
              </a:rPr>
              <a:t>are</a:t>
            </a:r>
            <a:r>
              <a:rPr sz="1700" spc="-35" dirty="0">
                <a:latin typeface="Arial MT"/>
                <a:cs typeface="Arial MT"/>
              </a:rPr>
              <a:t> </a:t>
            </a:r>
            <a:r>
              <a:rPr sz="1700" spc="5" dirty="0">
                <a:latin typeface="Arial MT"/>
                <a:cs typeface="Arial MT"/>
              </a:rPr>
              <a:t>referred</a:t>
            </a:r>
            <a:r>
              <a:rPr sz="1700" spc="-75" dirty="0">
                <a:latin typeface="Arial MT"/>
                <a:cs typeface="Arial MT"/>
              </a:rPr>
              <a:t> </a:t>
            </a:r>
            <a:r>
              <a:rPr sz="1700" spc="5" dirty="0">
                <a:latin typeface="Arial MT"/>
                <a:cs typeface="Arial MT"/>
              </a:rPr>
              <a:t>to</a:t>
            </a:r>
            <a:r>
              <a:rPr sz="1700" spc="-35" dirty="0">
                <a:latin typeface="Arial MT"/>
                <a:cs typeface="Arial MT"/>
              </a:rPr>
              <a:t> </a:t>
            </a:r>
            <a:r>
              <a:rPr sz="1700" spc="5" dirty="0">
                <a:latin typeface="Arial MT"/>
                <a:cs typeface="Arial MT"/>
              </a:rPr>
              <a:t>by</a:t>
            </a:r>
            <a:r>
              <a:rPr sz="1700" spc="-15" dirty="0">
                <a:latin typeface="Arial MT"/>
                <a:cs typeface="Arial MT"/>
              </a:rPr>
              <a:t> </a:t>
            </a:r>
            <a:r>
              <a:rPr sz="1700" spc="10" dirty="0">
                <a:latin typeface="Arial MT"/>
                <a:cs typeface="Arial MT"/>
              </a:rPr>
              <a:t>a</a:t>
            </a:r>
            <a:r>
              <a:rPr sz="1700" dirty="0">
                <a:latin typeface="Arial MT"/>
                <a:cs typeface="Arial MT"/>
              </a:rPr>
              <a:t> </a:t>
            </a:r>
            <a:r>
              <a:rPr sz="1700" spc="15" dirty="0">
                <a:latin typeface="Arial MT"/>
                <a:cs typeface="Arial MT"/>
              </a:rPr>
              <a:t>common</a:t>
            </a:r>
            <a:r>
              <a:rPr sz="1700" spc="-114" dirty="0">
                <a:latin typeface="Arial MT"/>
                <a:cs typeface="Arial MT"/>
              </a:rPr>
              <a:t> </a:t>
            </a:r>
            <a:r>
              <a:rPr sz="1700" spc="5" dirty="0">
                <a:latin typeface="Arial MT"/>
                <a:cs typeface="Arial MT"/>
              </a:rPr>
              <a:t>name.</a:t>
            </a:r>
            <a:endParaRPr sz="1700" dirty="0">
              <a:latin typeface="Arial MT"/>
              <a:cs typeface="Arial MT"/>
            </a:endParaRPr>
          </a:p>
          <a:p>
            <a:pPr marL="194945" indent="-182880">
              <a:lnSpc>
                <a:spcPct val="100000"/>
              </a:lnSpc>
              <a:spcBef>
                <a:spcPts val="395"/>
              </a:spcBef>
              <a:buChar char="•"/>
              <a:tabLst>
                <a:tab pos="195580" algn="l"/>
              </a:tabLst>
            </a:pPr>
            <a:r>
              <a:rPr sz="1700" dirty="0">
                <a:latin typeface="Arial MT"/>
                <a:cs typeface="Arial MT"/>
              </a:rPr>
              <a:t>Arrays</a:t>
            </a:r>
            <a:r>
              <a:rPr sz="1700" spc="-30" dirty="0">
                <a:latin typeface="Arial MT"/>
                <a:cs typeface="Arial MT"/>
              </a:rPr>
              <a:t> </a:t>
            </a:r>
            <a:r>
              <a:rPr sz="1700" spc="5" dirty="0">
                <a:latin typeface="Arial MT"/>
                <a:cs typeface="Arial MT"/>
              </a:rPr>
              <a:t>of</a:t>
            </a:r>
            <a:r>
              <a:rPr sz="1700" spc="-45" dirty="0">
                <a:latin typeface="Arial MT"/>
                <a:cs typeface="Arial MT"/>
              </a:rPr>
              <a:t> </a:t>
            </a:r>
            <a:r>
              <a:rPr sz="1700" spc="5" dirty="0">
                <a:latin typeface="Arial MT"/>
                <a:cs typeface="Arial MT"/>
              </a:rPr>
              <a:t>any</a:t>
            </a:r>
            <a:r>
              <a:rPr sz="1700" spc="-20" dirty="0">
                <a:latin typeface="Arial MT"/>
                <a:cs typeface="Arial MT"/>
              </a:rPr>
              <a:t> </a:t>
            </a:r>
            <a:r>
              <a:rPr sz="1700" dirty="0">
                <a:latin typeface="Arial MT"/>
                <a:cs typeface="Arial MT"/>
              </a:rPr>
              <a:t>type</a:t>
            </a:r>
            <a:r>
              <a:rPr sz="1700" spc="-40" dirty="0">
                <a:latin typeface="Arial MT"/>
                <a:cs typeface="Arial MT"/>
              </a:rPr>
              <a:t> </a:t>
            </a:r>
            <a:r>
              <a:rPr sz="1700" spc="10" dirty="0">
                <a:latin typeface="Arial MT"/>
                <a:cs typeface="Arial MT"/>
              </a:rPr>
              <a:t>can</a:t>
            </a:r>
            <a:r>
              <a:rPr sz="1700" spc="-40" dirty="0">
                <a:latin typeface="Arial MT"/>
                <a:cs typeface="Arial MT"/>
              </a:rPr>
              <a:t> </a:t>
            </a:r>
            <a:r>
              <a:rPr sz="1700" spc="5" dirty="0">
                <a:latin typeface="Arial MT"/>
                <a:cs typeface="Arial MT"/>
              </a:rPr>
              <a:t>be</a:t>
            </a:r>
            <a:r>
              <a:rPr sz="1700" spc="-40" dirty="0">
                <a:latin typeface="Arial MT"/>
                <a:cs typeface="Arial MT"/>
              </a:rPr>
              <a:t> </a:t>
            </a:r>
            <a:r>
              <a:rPr sz="1700" spc="5" dirty="0">
                <a:latin typeface="Arial MT"/>
                <a:cs typeface="Arial MT"/>
              </a:rPr>
              <a:t>created</a:t>
            </a:r>
            <a:endParaRPr sz="1700" dirty="0">
              <a:latin typeface="Arial MT"/>
              <a:cs typeface="Arial MT"/>
            </a:endParaRPr>
          </a:p>
          <a:p>
            <a:pPr marL="194945" indent="-182880">
              <a:lnSpc>
                <a:spcPct val="100000"/>
              </a:lnSpc>
              <a:spcBef>
                <a:spcPts val="439"/>
              </a:spcBef>
              <a:buChar char="•"/>
              <a:tabLst>
                <a:tab pos="195580" algn="l"/>
              </a:tabLst>
            </a:pPr>
            <a:r>
              <a:rPr sz="1700" dirty="0">
                <a:latin typeface="Arial MT"/>
                <a:cs typeface="Arial MT"/>
              </a:rPr>
              <a:t>Arrays</a:t>
            </a:r>
            <a:r>
              <a:rPr sz="1700" spc="-25" dirty="0">
                <a:latin typeface="Arial MT"/>
                <a:cs typeface="Arial MT"/>
              </a:rPr>
              <a:t> </a:t>
            </a:r>
            <a:r>
              <a:rPr sz="1700" spc="10" dirty="0">
                <a:latin typeface="Arial MT"/>
                <a:cs typeface="Arial MT"/>
              </a:rPr>
              <a:t>may</a:t>
            </a:r>
            <a:r>
              <a:rPr sz="1700" spc="-65" dirty="0">
                <a:latin typeface="Arial MT"/>
                <a:cs typeface="Arial MT"/>
              </a:rPr>
              <a:t> </a:t>
            </a:r>
            <a:r>
              <a:rPr sz="1700" spc="20" dirty="0">
                <a:latin typeface="Arial MT"/>
                <a:cs typeface="Arial MT"/>
              </a:rPr>
              <a:t>have</a:t>
            </a:r>
            <a:r>
              <a:rPr sz="1700" spc="-114" dirty="0">
                <a:latin typeface="Arial MT"/>
                <a:cs typeface="Arial MT"/>
              </a:rPr>
              <a:t> </a:t>
            </a:r>
            <a:r>
              <a:rPr sz="1700" spc="5" dirty="0">
                <a:latin typeface="Arial MT"/>
                <a:cs typeface="Arial MT"/>
              </a:rPr>
              <a:t>one</a:t>
            </a:r>
            <a:r>
              <a:rPr sz="1700" spc="-40" dirty="0">
                <a:latin typeface="Arial MT"/>
                <a:cs typeface="Arial MT"/>
              </a:rPr>
              <a:t> </a:t>
            </a:r>
            <a:r>
              <a:rPr sz="1700" spc="5" dirty="0">
                <a:latin typeface="Arial MT"/>
                <a:cs typeface="Arial MT"/>
              </a:rPr>
              <a:t>or</a:t>
            </a:r>
            <a:r>
              <a:rPr sz="1700" spc="-15" dirty="0">
                <a:latin typeface="Arial MT"/>
                <a:cs typeface="Arial MT"/>
              </a:rPr>
              <a:t> </a:t>
            </a:r>
            <a:r>
              <a:rPr sz="1700" spc="5" dirty="0">
                <a:latin typeface="Arial MT"/>
                <a:cs typeface="Arial MT"/>
              </a:rPr>
              <a:t>more</a:t>
            </a:r>
            <a:r>
              <a:rPr sz="1700" spc="-40" dirty="0">
                <a:latin typeface="Arial MT"/>
                <a:cs typeface="Arial MT"/>
              </a:rPr>
              <a:t> </a:t>
            </a:r>
            <a:r>
              <a:rPr sz="1700" spc="5" dirty="0">
                <a:latin typeface="Arial MT"/>
                <a:cs typeface="Arial MT"/>
              </a:rPr>
              <a:t>dimensions.</a:t>
            </a:r>
            <a:endParaRPr sz="1700" dirty="0">
              <a:latin typeface="Arial MT"/>
              <a:cs typeface="Arial MT"/>
            </a:endParaRPr>
          </a:p>
          <a:p>
            <a:pPr marL="194945" indent="-182880">
              <a:lnSpc>
                <a:spcPct val="100000"/>
              </a:lnSpc>
              <a:spcBef>
                <a:spcPts val="395"/>
              </a:spcBef>
              <a:buChar char="•"/>
              <a:tabLst>
                <a:tab pos="195580" algn="l"/>
              </a:tabLst>
            </a:pPr>
            <a:r>
              <a:rPr sz="1700" spc="10" dirty="0">
                <a:latin typeface="Arial MT"/>
                <a:cs typeface="Arial MT"/>
              </a:rPr>
              <a:t>A</a:t>
            </a:r>
            <a:r>
              <a:rPr sz="1700" spc="-30" dirty="0">
                <a:latin typeface="Arial MT"/>
                <a:cs typeface="Arial MT"/>
              </a:rPr>
              <a:t> </a:t>
            </a:r>
            <a:r>
              <a:rPr sz="1700" spc="10" dirty="0">
                <a:latin typeface="Arial MT"/>
                <a:cs typeface="Arial MT"/>
              </a:rPr>
              <a:t>specific</a:t>
            </a:r>
            <a:r>
              <a:rPr sz="1700" spc="-135" dirty="0">
                <a:latin typeface="Arial MT"/>
                <a:cs typeface="Arial MT"/>
              </a:rPr>
              <a:t> </a:t>
            </a:r>
            <a:r>
              <a:rPr sz="1700" spc="5" dirty="0">
                <a:latin typeface="Arial MT"/>
                <a:cs typeface="Arial MT"/>
              </a:rPr>
              <a:t>element</a:t>
            </a:r>
            <a:r>
              <a:rPr sz="1700" spc="-70" dirty="0">
                <a:latin typeface="Arial MT"/>
                <a:cs typeface="Arial MT"/>
              </a:rPr>
              <a:t> </a:t>
            </a:r>
            <a:r>
              <a:rPr sz="1700" spc="10" dirty="0">
                <a:latin typeface="Arial MT"/>
                <a:cs typeface="Arial MT"/>
              </a:rPr>
              <a:t>in</a:t>
            </a:r>
            <a:r>
              <a:rPr sz="1700" spc="-30" dirty="0">
                <a:latin typeface="Arial MT"/>
                <a:cs typeface="Arial MT"/>
              </a:rPr>
              <a:t> </a:t>
            </a:r>
            <a:r>
              <a:rPr sz="1700" spc="5" dirty="0">
                <a:latin typeface="Arial MT"/>
                <a:cs typeface="Arial MT"/>
              </a:rPr>
              <a:t>an</a:t>
            </a:r>
            <a:r>
              <a:rPr sz="1700" spc="-35" dirty="0">
                <a:latin typeface="Arial MT"/>
                <a:cs typeface="Arial MT"/>
              </a:rPr>
              <a:t> </a:t>
            </a:r>
            <a:r>
              <a:rPr sz="1700" dirty="0">
                <a:latin typeface="Arial MT"/>
                <a:cs typeface="Arial MT"/>
              </a:rPr>
              <a:t>array</a:t>
            </a:r>
            <a:r>
              <a:rPr sz="1700" spc="-15" dirty="0">
                <a:latin typeface="Arial MT"/>
                <a:cs typeface="Arial MT"/>
              </a:rPr>
              <a:t> </a:t>
            </a:r>
            <a:r>
              <a:rPr sz="1700" spc="10" dirty="0">
                <a:latin typeface="Arial MT"/>
                <a:cs typeface="Arial MT"/>
              </a:rPr>
              <a:t>is</a:t>
            </a:r>
            <a:r>
              <a:rPr sz="1700" spc="-55" dirty="0">
                <a:latin typeface="Arial MT"/>
                <a:cs typeface="Arial MT"/>
              </a:rPr>
              <a:t> </a:t>
            </a:r>
            <a:r>
              <a:rPr sz="1700" spc="15" dirty="0">
                <a:latin typeface="Arial MT"/>
                <a:cs typeface="Arial MT"/>
              </a:rPr>
              <a:t>accessed</a:t>
            </a:r>
            <a:r>
              <a:rPr sz="1700" spc="-150" dirty="0">
                <a:latin typeface="Arial MT"/>
                <a:cs typeface="Arial MT"/>
              </a:rPr>
              <a:t> </a:t>
            </a:r>
            <a:r>
              <a:rPr sz="1700" spc="5" dirty="0">
                <a:latin typeface="Arial MT"/>
                <a:cs typeface="Arial MT"/>
              </a:rPr>
              <a:t>by</a:t>
            </a:r>
            <a:r>
              <a:rPr sz="1700" spc="-15" dirty="0">
                <a:latin typeface="Arial MT"/>
                <a:cs typeface="Arial MT"/>
              </a:rPr>
              <a:t> </a:t>
            </a:r>
            <a:r>
              <a:rPr sz="1700" spc="10" dirty="0">
                <a:latin typeface="Arial MT"/>
                <a:cs typeface="Arial MT"/>
              </a:rPr>
              <a:t>its</a:t>
            </a:r>
            <a:r>
              <a:rPr sz="1700" spc="-60" dirty="0">
                <a:latin typeface="Arial MT"/>
                <a:cs typeface="Arial MT"/>
              </a:rPr>
              <a:t> </a:t>
            </a:r>
            <a:r>
              <a:rPr sz="1700" spc="10" dirty="0">
                <a:latin typeface="Arial MT"/>
                <a:cs typeface="Arial MT"/>
              </a:rPr>
              <a:t>index.</a:t>
            </a:r>
            <a:endParaRPr sz="1700" dirty="0">
              <a:latin typeface="Arial MT"/>
              <a:cs typeface="Arial MT"/>
            </a:endParaRPr>
          </a:p>
          <a:p>
            <a:pPr marL="407670" lvl="1" indent="-152400">
              <a:lnSpc>
                <a:spcPct val="100000"/>
              </a:lnSpc>
              <a:spcBef>
                <a:spcPts val="409"/>
              </a:spcBef>
              <a:buChar char="–"/>
              <a:tabLst>
                <a:tab pos="408305" algn="l"/>
              </a:tabLst>
            </a:pPr>
            <a:r>
              <a:rPr sz="1450" dirty="0">
                <a:latin typeface="Arial MT"/>
                <a:cs typeface="Arial MT"/>
              </a:rPr>
              <a:t>Index</a:t>
            </a:r>
            <a:r>
              <a:rPr sz="1450" spc="85" dirty="0">
                <a:latin typeface="Arial MT"/>
                <a:cs typeface="Arial MT"/>
              </a:rPr>
              <a:t> </a:t>
            </a:r>
            <a:r>
              <a:rPr sz="1450" spc="5" dirty="0">
                <a:latin typeface="Arial MT"/>
                <a:cs typeface="Arial MT"/>
              </a:rPr>
              <a:t>means</a:t>
            </a:r>
            <a:r>
              <a:rPr sz="1450" spc="50" dirty="0">
                <a:latin typeface="Arial MT"/>
                <a:cs typeface="Arial MT"/>
              </a:rPr>
              <a:t> </a:t>
            </a:r>
            <a:r>
              <a:rPr sz="1450" spc="-5" dirty="0">
                <a:latin typeface="Arial MT"/>
                <a:cs typeface="Arial MT"/>
              </a:rPr>
              <a:t>position</a:t>
            </a:r>
            <a:r>
              <a:rPr lang="en-US" sz="1450" spc="-5" dirty="0">
                <a:latin typeface="Arial MT"/>
                <a:cs typeface="Arial MT"/>
              </a:rPr>
              <a:t>.</a:t>
            </a:r>
            <a:r>
              <a:rPr sz="1450" spc="165" dirty="0">
                <a:latin typeface="Arial MT"/>
                <a:cs typeface="Arial MT"/>
              </a:rPr>
              <a:t> </a:t>
            </a:r>
            <a:r>
              <a:rPr sz="1450" spc="-20" dirty="0">
                <a:latin typeface="Arial MT"/>
                <a:cs typeface="Arial MT"/>
              </a:rPr>
              <a:t>It</a:t>
            </a:r>
            <a:r>
              <a:rPr sz="1450" spc="60" dirty="0">
                <a:latin typeface="Arial MT"/>
                <a:cs typeface="Arial MT"/>
              </a:rPr>
              <a:t> </a:t>
            </a:r>
            <a:r>
              <a:rPr sz="1450" spc="-5" dirty="0">
                <a:latin typeface="Arial MT"/>
                <a:cs typeface="Arial MT"/>
              </a:rPr>
              <a:t>starts</a:t>
            </a:r>
            <a:r>
              <a:rPr sz="1450" spc="90" dirty="0">
                <a:latin typeface="Arial MT"/>
                <a:cs typeface="Arial MT"/>
              </a:rPr>
              <a:t> </a:t>
            </a:r>
            <a:r>
              <a:rPr sz="1450" spc="5" dirty="0">
                <a:latin typeface="Arial MT"/>
                <a:cs typeface="Arial MT"/>
              </a:rPr>
              <a:t>from</a:t>
            </a:r>
            <a:r>
              <a:rPr sz="1450" spc="75" dirty="0">
                <a:latin typeface="Arial MT"/>
                <a:cs typeface="Arial MT"/>
              </a:rPr>
              <a:t> </a:t>
            </a:r>
            <a:r>
              <a:rPr sz="1450" spc="15" dirty="0">
                <a:latin typeface="Arial MT"/>
                <a:cs typeface="Arial MT"/>
              </a:rPr>
              <a:t>0.</a:t>
            </a:r>
            <a:endParaRPr sz="1450" dirty="0">
              <a:latin typeface="Arial MT"/>
              <a:cs typeface="Arial MT"/>
            </a:endParaRPr>
          </a:p>
          <a:p>
            <a:pPr marL="621030" lvl="2" indent="-122555">
              <a:lnSpc>
                <a:spcPct val="100000"/>
              </a:lnSpc>
              <a:spcBef>
                <a:spcPts val="335"/>
              </a:spcBef>
              <a:buChar char="•"/>
              <a:tabLst>
                <a:tab pos="621665" algn="l"/>
              </a:tabLst>
            </a:pPr>
            <a:r>
              <a:rPr sz="1250" dirty="0">
                <a:latin typeface="Arial MT"/>
                <a:cs typeface="Arial MT"/>
              </a:rPr>
              <a:t>Index</a:t>
            </a:r>
            <a:r>
              <a:rPr sz="1250" spc="50" dirty="0">
                <a:latin typeface="Arial MT"/>
                <a:cs typeface="Arial MT"/>
              </a:rPr>
              <a:t> </a:t>
            </a:r>
            <a:r>
              <a:rPr sz="1250" spc="-10" dirty="0">
                <a:latin typeface="Arial MT"/>
                <a:cs typeface="Arial MT"/>
              </a:rPr>
              <a:t>of</a:t>
            </a:r>
            <a:r>
              <a:rPr sz="1250" spc="50" dirty="0">
                <a:latin typeface="Arial MT"/>
                <a:cs typeface="Arial MT"/>
              </a:rPr>
              <a:t> </a:t>
            </a:r>
            <a:r>
              <a:rPr sz="1250" spc="15" dirty="0">
                <a:latin typeface="Arial MT"/>
                <a:cs typeface="Arial MT"/>
              </a:rPr>
              <a:t>first</a:t>
            </a:r>
            <a:r>
              <a:rPr sz="1250" spc="-65" dirty="0">
                <a:latin typeface="Arial MT"/>
                <a:cs typeface="Arial MT"/>
              </a:rPr>
              <a:t> </a:t>
            </a:r>
            <a:r>
              <a:rPr sz="1250" dirty="0">
                <a:latin typeface="Arial MT"/>
                <a:cs typeface="Arial MT"/>
              </a:rPr>
              <a:t>element</a:t>
            </a:r>
            <a:r>
              <a:rPr sz="1250" spc="95" dirty="0">
                <a:latin typeface="Arial MT"/>
                <a:cs typeface="Arial MT"/>
              </a:rPr>
              <a:t> </a:t>
            </a:r>
            <a:r>
              <a:rPr sz="1250" spc="5" dirty="0">
                <a:latin typeface="Arial MT"/>
                <a:cs typeface="Arial MT"/>
              </a:rPr>
              <a:t>is </a:t>
            </a:r>
            <a:r>
              <a:rPr sz="1250" spc="10" dirty="0">
                <a:latin typeface="Arial MT"/>
                <a:cs typeface="Arial MT"/>
              </a:rPr>
              <a:t>0,</a:t>
            </a:r>
            <a:r>
              <a:rPr sz="1250" spc="-25" dirty="0">
                <a:latin typeface="Arial MT"/>
                <a:cs typeface="Arial MT"/>
              </a:rPr>
              <a:t> </a:t>
            </a:r>
            <a:r>
              <a:rPr sz="1250" dirty="0">
                <a:latin typeface="Arial MT"/>
                <a:cs typeface="Arial MT"/>
              </a:rPr>
              <a:t>second</a:t>
            </a:r>
            <a:r>
              <a:rPr sz="1250" spc="55" dirty="0">
                <a:latin typeface="Arial MT"/>
                <a:cs typeface="Arial MT"/>
              </a:rPr>
              <a:t> </a:t>
            </a:r>
            <a:r>
              <a:rPr sz="1250" dirty="0">
                <a:latin typeface="Arial MT"/>
                <a:cs typeface="Arial MT"/>
              </a:rPr>
              <a:t>element</a:t>
            </a:r>
            <a:r>
              <a:rPr sz="1250" spc="95" dirty="0">
                <a:latin typeface="Arial MT"/>
                <a:cs typeface="Arial MT"/>
              </a:rPr>
              <a:t> </a:t>
            </a:r>
            <a:r>
              <a:rPr sz="1250" spc="5" dirty="0">
                <a:latin typeface="Arial MT"/>
                <a:cs typeface="Arial MT"/>
              </a:rPr>
              <a:t>is </a:t>
            </a:r>
            <a:r>
              <a:rPr sz="1250" spc="15" dirty="0">
                <a:latin typeface="Arial MT"/>
                <a:cs typeface="Arial MT"/>
              </a:rPr>
              <a:t>1 </a:t>
            </a:r>
            <a:r>
              <a:rPr sz="1250" dirty="0">
                <a:latin typeface="Arial MT"/>
                <a:cs typeface="Arial MT"/>
              </a:rPr>
              <a:t>etc.</a:t>
            </a:r>
          </a:p>
        </p:txBody>
      </p:sp>
      <p:sp>
        <p:nvSpPr>
          <p:cNvPr id="5" name="object 5"/>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a:spLocks noGrp="1"/>
          </p:cNvSpPr>
          <p:nvPr>
            <p:ph type="title"/>
          </p:nvPr>
        </p:nvSpPr>
        <p:spPr>
          <a:xfrm>
            <a:off x="1422400" y="726272"/>
            <a:ext cx="2654687" cy="318135"/>
          </a:xfrm>
          <a:prstGeom prst="rect">
            <a:avLst/>
          </a:prstGeom>
        </p:spPr>
        <p:txBody>
          <a:bodyPr vert="horz" wrap="square" lIns="0" tIns="14604" rIns="0" bIns="0" rtlCol="0">
            <a:spAutoFit/>
          </a:bodyPr>
          <a:lstStyle/>
          <a:p>
            <a:pPr marL="12700">
              <a:lnSpc>
                <a:spcPct val="100000"/>
              </a:lnSpc>
              <a:spcBef>
                <a:spcPts val="114"/>
              </a:spcBef>
            </a:pPr>
            <a:r>
              <a:rPr spc="5" dirty="0">
                <a:solidFill>
                  <a:schemeClr val="tx1"/>
                </a:solidFill>
              </a:rPr>
              <a:t>One-Dimensional</a:t>
            </a:r>
            <a:r>
              <a:rPr spc="-85" dirty="0">
                <a:solidFill>
                  <a:schemeClr val="tx1"/>
                </a:solidFill>
              </a:rPr>
              <a:t> </a:t>
            </a:r>
            <a:r>
              <a:rPr dirty="0">
                <a:solidFill>
                  <a:schemeClr val="tx1"/>
                </a:solidFill>
              </a:rPr>
              <a:t>Arrays</a:t>
            </a:r>
          </a:p>
        </p:txBody>
      </p:sp>
      <p:sp>
        <p:nvSpPr>
          <p:cNvPr id="4" name="object 4"/>
          <p:cNvSpPr txBox="1"/>
          <p:nvPr/>
        </p:nvSpPr>
        <p:spPr>
          <a:xfrm>
            <a:off x="279400" y="1044407"/>
            <a:ext cx="5943600" cy="3070007"/>
          </a:xfrm>
          <a:prstGeom prst="rect">
            <a:avLst/>
          </a:prstGeom>
        </p:spPr>
        <p:txBody>
          <a:bodyPr vert="horz" wrap="square" lIns="0" tIns="64769" rIns="0" bIns="0" rtlCol="0">
            <a:spAutoFit/>
          </a:bodyPr>
          <a:lstStyle/>
          <a:p>
            <a:pPr marL="194945" indent="-182880">
              <a:lnSpc>
                <a:spcPct val="100000"/>
              </a:lnSpc>
              <a:spcBef>
                <a:spcPts val="509"/>
              </a:spcBef>
              <a:buChar char="•"/>
              <a:tabLst>
                <a:tab pos="195580" algn="l"/>
              </a:tabLst>
            </a:pPr>
            <a:r>
              <a:rPr lang="en-US" sz="1450" dirty="0">
                <a:latin typeface="Arial MT"/>
                <a:cs typeface="Arial MT"/>
              </a:rPr>
              <a:t>C</a:t>
            </a:r>
            <a:r>
              <a:rPr sz="1450" dirty="0">
                <a:latin typeface="Arial MT"/>
                <a:cs typeface="Arial MT"/>
              </a:rPr>
              <a:t>reate</a:t>
            </a:r>
            <a:r>
              <a:rPr sz="1450" spc="85" dirty="0">
                <a:latin typeface="Arial MT"/>
                <a:cs typeface="Arial MT"/>
              </a:rPr>
              <a:t> </a:t>
            </a:r>
            <a:r>
              <a:rPr sz="1450" dirty="0">
                <a:latin typeface="Arial MT"/>
                <a:cs typeface="Arial MT"/>
              </a:rPr>
              <a:t>an</a:t>
            </a:r>
            <a:r>
              <a:rPr sz="1450" spc="40" dirty="0">
                <a:latin typeface="Arial MT"/>
                <a:cs typeface="Arial MT"/>
              </a:rPr>
              <a:t> </a:t>
            </a:r>
            <a:r>
              <a:rPr sz="1450" spc="-5" dirty="0">
                <a:latin typeface="Arial MT"/>
                <a:cs typeface="Arial MT"/>
              </a:rPr>
              <a:t>array</a:t>
            </a:r>
            <a:r>
              <a:rPr sz="1450" spc="125" dirty="0">
                <a:latin typeface="Arial MT"/>
                <a:cs typeface="Arial MT"/>
              </a:rPr>
              <a:t> </a:t>
            </a:r>
            <a:r>
              <a:rPr sz="1450" spc="-5" dirty="0">
                <a:latin typeface="Arial MT"/>
                <a:cs typeface="Arial MT"/>
              </a:rPr>
              <a:t>variable</a:t>
            </a:r>
            <a:r>
              <a:rPr sz="1450" spc="160" dirty="0">
                <a:latin typeface="Arial MT"/>
                <a:cs typeface="Arial MT"/>
              </a:rPr>
              <a:t> </a:t>
            </a:r>
            <a:r>
              <a:rPr sz="1450" spc="15" dirty="0">
                <a:latin typeface="Arial MT"/>
                <a:cs typeface="Arial MT"/>
              </a:rPr>
              <a:t>of </a:t>
            </a:r>
            <a:r>
              <a:rPr sz="1450" spc="10" dirty="0">
                <a:latin typeface="Arial MT"/>
                <a:cs typeface="Arial MT"/>
              </a:rPr>
              <a:t>the </a:t>
            </a:r>
            <a:r>
              <a:rPr sz="1450" spc="-5" dirty="0">
                <a:latin typeface="Arial MT"/>
                <a:cs typeface="Arial MT"/>
              </a:rPr>
              <a:t>desired</a:t>
            </a:r>
            <a:r>
              <a:rPr sz="1450" spc="160" dirty="0">
                <a:latin typeface="Arial MT"/>
                <a:cs typeface="Arial MT"/>
              </a:rPr>
              <a:t> </a:t>
            </a:r>
            <a:r>
              <a:rPr sz="1450" spc="-10" dirty="0">
                <a:latin typeface="Arial MT"/>
                <a:cs typeface="Arial MT"/>
              </a:rPr>
              <a:t>type.</a:t>
            </a:r>
            <a:endParaRPr sz="1450" dirty="0">
              <a:latin typeface="Arial MT"/>
              <a:cs typeface="Arial MT"/>
            </a:endParaRPr>
          </a:p>
          <a:p>
            <a:pPr marL="194945" indent="-182880">
              <a:lnSpc>
                <a:spcPct val="100000"/>
              </a:lnSpc>
              <a:spcBef>
                <a:spcPts val="420"/>
              </a:spcBef>
              <a:buChar char="•"/>
              <a:tabLst>
                <a:tab pos="195580" algn="l"/>
              </a:tabLst>
            </a:pPr>
            <a:r>
              <a:rPr sz="1450" dirty="0">
                <a:latin typeface="Arial MT"/>
                <a:cs typeface="Arial MT"/>
              </a:rPr>
              <a:t>Declaration</a:t>
            </a:r>
            <a:r>
              <a:rPr sz="1450" spc="180" dirty="0">
                <a:latin typeface="Arial MT"/>
                <a:cs typeface="Arial MT"/>
              </a:rPr>
              <a:t> </a:t>
            </a:r>
            <a:r>
              <a:rPr sz="1450" spc="-10" dirty="0">
                <a:latin typeface="Arial MT"/>
                <a:cs typeface="Arial MT"/>
              </a:rPr>
              <a:t>syntax</a:t>
            </a:r>
            <a:r>
              <a:rPr sz="1450" spc="110" dirty="0">
                <a:latin typeface="Arial MT"/>
                <a:cs typeface="Arial MT"/>
              </a:rPr>
              <a:t> </a:t>
            </a:r>
            <a:r>
              <a:rPr sz="1450" spc="15" dirty="0">
                <a:latin typeface="Arial MT"/>
                <a:cs typeface="Arial MT"/>
              </a:rPr>
              <a:t>1</a:t>
            </a:r>
            <a:endParaRPr sz="1450" dirty="0">
              <a:latin typeface="Arial MT"/>
              <a:cs typeface="Arial MT"/>
            </a:endParaRPr>
          </a:p>
          <a:p>
            <a:pPr marL="255904">
              <a:lnSpc>
                <a:spcPct val="100000"/>
              </a:lnSpc>
              <a:spcBef>
                <a:spcPts val="335"/>
              </a:spcBef>
            </a:pPr>
            <a:r>
              <a:rPr sz="1250" spc="-5" dirty="0">
                <a:solidFill>
                  <a:srgbClr val="0000CC"/>
                </a:solidFill>
                <a:latin typeface="Arial MT"/>
                <a:cs typeface="Arial MT"/>
              </a:rPr>
              <a:t>type</a:t>
            </a:r>
            <a:r>
              <a:rPr sz="1250" spc="40" dirty="0">
                <a:solidFill>
                  <a:srgbClr val="0000CC"/>
                </a:solidFill>
                <a:latin typeface="Arial MT"/>
                <a:cs typeface="Arial MT"/>
              </a:rPr>
              <a:t> </a:t>
            </a:r>
            <a:r>
              <a:rPr sz="1250" spc="-5" dirty="0">
                <a:latin typeface="Arial MT"/>
                <a:cs typeface="Arial MT"/>
              </a:rPr>
              <a:t>variablename[</a:t>
            </a:r>
            <a:r>
              <a:rPr sz="1250" spc="150" dirty="0">
                <a:latin typeface="Arial MT"/>
                <a:cs typeface="Arial MT"/>
              </a:rPr>
              <a:t> </a:t>
            </a:r>
            <a:r>
              <a:rPr sz="1250" spc="5" dirty="0">
                <a:latin typeface="Arial MT"/>
                <a:cs typeface="Arial MT"/>
              </a:rPr>
              <a:t>];</a:t>
            </a:r>
            <a:endParaRPr sz="1250" dirty="0">
              <a:latin typeface="Arial MT"/>
              <a:cs typeface="Arial MT"/>
            </a:endParaRPr>
          </a:p>
          <a:p>
            <a:pPr marL="255904">
              <a:lnSpc>
                <a:spcPct val="100000"/>
              </a:lnSpc>
              <a:spcBef>
                <a:spcPts val="340"/>
              </a:spcBef>
            </a:pPr>
            <a:r>
              <a:rPr sz="1250" dirty="0">
                <a:latin typeface="Arial MT"/>
                <a:cs typeface="Arial MT"/>
              </a:rPr>
              <a:t>E.g.</a:t>
            </a:r>
            <a:r>
              <a:rPr sz="1250" spc="20" dirty="0">
                <a:latin typeface="Arial MT"/>
                <a:cs typeface="Arial MT"/>
              </a:rPr>
              <a:t> </a:t>
            </a:r>
            <a:r>
              <a:rPr sz="1250" spc="10" dirty="0">
                <a:latin typeface="Arial MT"/>
                <a:cs typeface="Arial MT"/>
              </a:rPr>
              <a:t>int</a:t>
            </a:r>
            <a:r>
              <a:rPr sz="1250" spc="-50" dirty="0">
                <a:latin typeface="Arial MT"/>
                <a:cs typeface="Arial MT"/>
              </a:rPr>
              <a:t> </a:t>
            </a:r>
            <a:r>
              <a:rPr sz="1250" dirty="0">
                <a:latin typeface="Arial MT"/>
                <a:cs typeface="Arial MT"/>
              </a:rPr>
              <a:t>a[];</a:t>
            </a:r>
          </a:p>
          <a:p>
            <a:pPr marL="194945" marR="2800985" indent="-182880">
              <a:lnSpc>
                <a:spcPct val="124000"/>
              </a:lnSpc>
              <a:buChar char="•"/>
              <a:tabLst>
                <a:tab pos="195580" algn="l"/>
              </a:tabLst>
            </a:pPr>
            <a:r>
              <a:rPr sz="1450" dirty="0">
                <a:latin typeface="Arial MT"/>
                <a:cs typeface="Arial MT"/>
              </a:rPr>
              <a:t>Declaration</a:t>
            </a:r>
            <a:r>
              <a:rPr sz="1450" spc="5" dirty="0">
                <a:latin typeface="Arial MT"/>
                <a:cs typeface="Arial MT"/>
              </a:rPr>
              <a:t> </a:t>
            </a:r>
            <a:r>
              <a:rPr sz="1450" spc="-10" dirty="0">
                <a:latin typeface="Arial MT"/>
                <a:cs typeface="Arial MT"/>
              </a:rPr>
              <a:t>syntax </a:t>
            </a:r>
            <a:r>
              <a:rPr sz="1450" spc="15" dirty="0">
                <a:latin typeface="Arial MT"/>
                <a:cs typeface="Arial MT"/>
              </a:rPr>
              <a:t>2</a:t>
            </a:r>
            <a:endParaRPr lang="en-US" sz="1450" spc="15" dirty="0">
              <a:latin typeface="Arial MT"/>
              <a:cs typeface="Arial MT"/>
            </a:endParaRPr>
          </a:p>
          <a:p>
            <a:pPr marL="12065" marR="2800985">
              <a:lnSpc>
                <a:spcPct val="124000"/>
              </a:lnSpc>
              <a:tabLst>
                <a:tab pos="195580" algn="l"/>
              </a:tabLst>
            </a:pPr>
            <a:r>
              <a:rPr lang="en-IN" sz="1450" spc="15" dirty="0">
                <a:latin typeface="Arial MT"/>
                <a:cs typeface="Arial MT"/>
              </a:rPr>
              <a:t>    </a:t>
            </a:r>
            <a:r>
              <a:rPr sz="1450" spc="15" dirty="0">
                <a:latin typeface="Arial MT"/>
                <a:cs typeface="Arial MT"/>
              </a:rPr>
              <a:t> </a:t>
            </a:r>
            <a:r>
              <a:rPr sz="1450" spc="-390" dirty="0">
                <a:latin typeface="Arial MT"/>
                <a:cs typeface="Arial MT"/>
              </a:rPr>
              <a:t> </a:t>
            </a:r>
            <a:r>
              <a:rPr sz="1450" spc="-10" dirty="0">
                <a:solidFill>
                  <a:srgbClr val="0000CC"/>
                </a:solidFill>
                <a:latin typeface="Arial MT"/>
                <a:cs typeface="Arial MT"/>
              </a:rPr>
              <a:t>type</a:t>
            </a:r>
            <a:r>
              <a:rPr sz="1450" spc="-10" dirty="0">
                <a:latin typeface="Arial MT"/>
                <a:cs typeface="Arial MT"/>
              </a:rPr>
              <a:t>[</a:t>
            </a:r>
            <a:r>
              <a:rPr sz="1450" spc="85" dirty="0">
                <a:latin typeface="Arial MT"/>
                <a:cs typeface="Arial MT"/>
              </a:rPr>
              <a:t> </a:t>
            </a:r>
            <a:r>
              <a:rPr sz="1450" spc="5" dirty="0">
                <a:latin typeface="Arial MT"/>
                <a:cs typeface="Arial MT"/>
              </a:rPr>
              <a:t>]</a:t>
            </a:r>
            <a:r>
              <a:rPr sz="1450" spc="15" dirty="0">
                <a:latin typeface="Arial MT"/>
                <a:cs typeface="Arial MT"/>
              </a:rPr>
              <a:t> </a:t>
            </a:r>
            <a:r>
              <a:rPr sz="1450" dirty="0" err="1">
                <a:latin typeface="Arial MT"/>
                <a:cs typeface="Arial MT"/>
              </a:rPr>
              <a:t>variablename</a:t>
            </a:r>
            <a:r>
              <a:rPr sz="1450" dirty="0">
                <a:latin typeface="Arial MT"/>
                <a:cs typeface="Arial MT"/>
              </a:rPr>
              <a:t>;</a:t>
            </a:r>
            <a:endParaRPr lang="en-US" sz="1450" dirty="0">
              <a:latin typeface="Arial MT"/>
              <a:cs typeface="Arial MT"/>
            </a:endParaRPr>
          </a:p>
          <a:p>
            <a:pPr marL="194945" marR="2800985" indent="-182880">
              <a:lnSpc>
                <a:spcPct val="124000"/>
              </a:lnSpc>
              <a:buFontTx/>
              <a:buChar char="•"/>
              <a:tabLst>
                <a:tab pos="195580" algn="l"/>
              </a:tabLst>
            </a:pPr>
            <a:r>
              <a:rPr lang="en-IN" sz="1450" dirty="0" err="1">
                <a:latin typeface="Arial MT"/>
                <a:cs typeface="Arial MT"/>
              </a:rPr>
              <a:t>Eg</a:t>
            </a:r>
            <a:r>
              <a:rPr lang="en-IN" sz="1450" dirty="0">
                <a:latin typeface="Arial MT"/>
                <a:cs typeface="Arial MT"/>
              </a:rPr>
              <a:t>:</a:t>
            </a:r>
            <a:r>
              <a:rPr lang="en-US" sz="1600" spc="5" dirty="0">
                <a:latin typeface="Arial MT"/>
                <a:cs typeface="Arial MT"/>
              </a:rPr>
              <a:t>int[] a;</a:t>
            </a:r>
            <a:endParaRPr lang="en-US" sz="1600" dirty="0">
              <a:latin typeface="Arial MT"/>
              <a:cs typeface="Arial MT"/>
            </a:endParaRPr>
          </a:p>
          <a:p>
            <a:pPr marL="194945" indent="-182880">
              <a:lnSpc>
                <a:spcPct val="100000"/>
              </a:lnSpc>
              <a:spcBef>
                <a:spcPts val="420"/>
              </a:spcBef>
              <a:buChar char="•"/>
              <a:tabLst>
                <a:tab pos="195580" algn="l"/>
              </a:tabLst>
            </a:pPr>
            <a:r>
              <a:rPr sz="1450" spc="20" dirty="0">
                <a:latin typeface="Arial MT"/>
                <a:cs typeface="Arial MT"/>
              </a:rPr>
              <a:t>The</a:t>
            </a:r>
            <a:r>
              <a:rPr sz="1450" spc="10" dirty="0">
                <a:latin typeface="Arial MT"/>
                <a:cs typeface="Arial MT"/>
              </a:rPr>
              <a:t> </a:t>
            </a:r>
            <a:r>
              <a:rPr sz="1450" spc="-5" dirty="0">
                <a:latin typeface="Arial MT"/>
                <a:cs typeface="Arial MT"/>
              </a:rPr>
              <a:t>following</a:t>
            </a:r>
            <a:r>
              <a:rPr sz="1450" spc="175" dirty="0">
                <a:latin typeface="Arial MT"/>
                <a:cs typeface="Arial MT"/>
              </a:rPr>
              <a:t> </a:t>
            </a:r>
            <a:r>
              <a:rPr sz="1450" spc="10" dirty="0">
                <a:latin typeface="Arial MT"/>
                <a:cs typeface="Arial MT"/>
              </a:rPr>
              <a:t>two</a:t>
            </a:r>
            <a:r>
              <a:rPr sz="1450" spc="15" dirty="0">
                <a:latin typeface="Arial MT"/>
                <a:cs typeface="Arial MT"/>
              </a:rPr>
              <a:t> </a:t>
            </a:r>
            <a:r>
              <a:rPr sz="1450" dirty="0">
                <a:latin typeface="Arial MT"/>
                <a:cs typeface="Arial MT"/>
              </a:rPr>
              <a:t>declarations</a:t>
            </a:r>
            <a:r>
              <a:rPr sz="1450" spc="175" dirty="0">
                <a:latin typeface="Arial MT"/>
                <a:cs typeface="Arial MT"/>
              </a:rPr>
              <a:t> </a:t>
            </a:r>
            <a:r>
              <a:rPr sz="1450" dirty="0">
                <a:latin typeface="Arial MT"/>
                <a:cs typeface="Arial MT"/>
              </a:rPr>
              <a:t>are</a:t>
            </a:r>
            <a:r>
              <a:rPr sz="1450" spc="95" dirty="0">
                <a:latin typeface="Arial MT"/>
                <a:cs typeface="Arial MT"/>
              </a:rPr>
              <a:t> </a:t>
            </a:r>
            <a:r>
              <a:rPr sz="1450" spc="-5" dirty="0">
                <a:latin typeface="Arial MT"/>
                <a:cs typeface="Arial MT"/>
              </a:rPr>
              <a:t>equivalent:</a:t>
            </a:r>
            <a:endParaRPr sz="1450" dirty="0">
              <a:latin typeface="Arial MT"/>
              <a:cs typeface="Arial MT"/>
            </a:endParaRPr>
          </a:p>
          <a:p>
            <a:pPr marL="255904">
              <a:lnSpc>
                <a:spcPct val="100000"/>
              </a:lnSpc>
              <a:spcBef>
                <a:spcPts val="335"/>
              </a:spcBef>
            </a:pPr>
            <a:r>
              <a:rPr sz="1250" spc="10" dirty="0">
                <a:latin typeface="Arial MT"/>
                <a:cs typeface="Arial MT"/>
              </a:rPr>
              <a:t>int</a:t>
            </a:r>
            <a:r>
              <a:rPr sz="1250" spc="-35" dirty="0">
                <a:latin typeface="Arial MT"/>
                <a:cs typeface="Arial MT"/>
              </a:rPr>
              <a:t> </a:t>
            </a:r>
            <a:r>
              <a:rPr sz="1250" dirty="0">
                <a:latin typeface="Arial MT"/>
                <a:cs typeface="Arial MT"/>
              </a:rPr>
              <a:t>a[];</a:t>
            </a:r>
          </a:p>
          <a:p>
            <a:pPr marL="255904">
              <a:lnSpc>
                <a:spcPct val="100000"/>
              </a:lnSpc>
              <a:spcBef>
                <a:spcPts val="340"/>
              </a:spcBef>
            </a:pPr>
            <a:r>
              <a:rPr sz="1250" spc="5" dirty="0">
                <a:latin typeface="Arial MT"/>
                <a:cs typeface="Arial MT"/>
              </a:rPr>
              <a:t>int[]</a:t>
            </a:r>
            <a:r>
              <a:rPr lang="en-US" sz="1250" spc="5" dirty="0">
                <a:latin typeface="Arial MT"/>
                <a:cs typeface="Arial MT"/>
              </a:rPr>
              <a:t> </a:t>
            </a:r>
            <a:r>
              <a:rPr sz="1250" spc="5" dirty="0">
                <a:latin typeface="Arial MT"/>
                <a:cs typeface="Arial MT"/>
              </a:rPr>
              <a:t>a;</a:t>
            </a:r>
            <a:endParaRPr sz="1250" dirty="0">
              <a:latin typeface="Arial MT"/>
              <a:cs typeface="Arial MT"/>
            </a:endParaRPr>
          </a:p>
          <a:p>
            <a:pPr marL="255904" marR="5080">
              <a:lnSpc>
                <a:spcPct val="122600"/>
              </a:lnSpc>
            </a:pPr>
            <a:r>
              <a:rPr sz="1250" spc="5" dirty="0">
                <a:latin typeface="Arial MT"/>
                <a:cs typeface="Arial MT"/>
              </a:rPr>
              <a:t>Here</a:t>
            </a:r>
            <a:r>
              <a:rPr sz="1250" spc="15" dirty="0">
                <a:latin typeface="Arial MT"/>
                <a:cs typeface="Arial MT"/>
              </a:rPr>
              <a:t> </a:t>
            </a:r>
            <a:r>
              <a:rPr sz="1250" spc="10" dirty="0">
                <a:latin typeface="Arial MT"/>
                <a:cs typeface="Arial MT"/>
              </a:rPr>
              <a:t>this</a:t>
            </a:r>
            <a:r>
              <a:rPr sz="1250" spc="5" dirty="0">
                <a:latin typeface="Arial MT"/>
                <a:cs typeface="Arial MT"/>
              </a:rPr>
              <a:t> </a:t>
            </a:r>
            <a:r>
              <a:rPr sz="1250" spc="-5" dirty="0">
                <a:latin typeface="Arial MT"/>
                <a:cs typeface="Arial MT"/>
              </a:rPr>
              <a:t>declaration</a:t>
            </a:r>
            <a:r>
              <a:rPr sz="1250" spc="175" dirty="0">
                <a:latin typeface="Arial MT"/>
                <a:cs typeface="Arial MT"/>
              </a:rPr>
              <a:t> </a:t>
            </a:r>
            <a:r>
              <a:rPr sz="1250" spc="5" dirty="0">
                <a:latin typeface="Arial MT"/>
                <a:cs typeface="Arial MT"/>
              </a:rPr>
              <a:t>means</a:t>
            </a:r>
            <a:r>
              <a:rPr sz="1250" spc="45" dirty="0">
                <a:latin typeface="Arial MT"/>
                <a:cs typeface="Arial MT"/>
              </a:rPr>
              <a:t> </a:t>
            </a:r>
            <a:r>
              <a:rPr sz="1250" dirty="0">
                <a:latin typeface="Arial MT"/>
                <a:cs typeface="Arial MT"/>
              </a:rPr>
              <a:t>that</a:t>
            </a:r>
            <a:r>
              <a:rPr sz="1250" spc="10" dirty="0">
                <a:latin typeface="Arial MT"/>
                <a:cs typeface="Arial MT"/>
              </a:rPr>
              <a:t> </a:t>
            </a:r>
            <a:r>
              <a:rPr sz="1250" spc="15" dirty="0">
                <a:latin typeface="Arial MT"/>
                <a:cs typeface="Arial MT"/>
              </a:rPr>
              <a:t>a</a:t>
            </a:r>
            <a:r>
              <a:rPr sz="1250" spc="-25" dirty="0">
                <a:latin typeface="Arial MT"/>
                <a:cs typeface="Arial MT"/>
              </a:rPr>
              <a:t> </a:t>
            </a:r>
            <a:r>
              <a:rPr sz="1250" spc="5" dirty="0">
                <a:latin typeface="Arial MT"/>
                <a:cs typeface="Arial MT"/>
              </a:rPr>
              <a:t>is </a:t>
            </a:r>
            <a:r>
              <a:rPr sz="1250" spc="-5" dirty="0">
                <a:latin typeface="Arial MT"/>
                <a:cs typeface="Arial MT"/>
              </a:rPr>
              <a:t>an</a:t>
            </a:r>
            <a:r>
              <a:rPr sz="1250" spc="55" dirty="0">
                <a:latin typeface="Arial MT"/>
                <a:cs typeface="Arial MT"/>
              </a:rPr>
              <a:t> </a:t>
            </a:r>
            <a:r>
              <a:rPr sz="1250" dirty="0">
                <a:latin typeface="Arial MT"/>
                <a:cs typeface="Arial MT"/>
              </a:rPr>
              <a:t>array</a:t>
            </a:r>
            <a:r>
              <a:rPr sz="1250" spc="45" dirty="0">
                <a:latin typeface="Arial MT"/>
                <a:cs typeface="Arial MT"/>
              </a:rPr>
              <a:t> </a:t>
            </a:r>
            <a:r>
              <a:rPr sz="1250" spc="-10" dirty="0">
                <a:latin typeface="Arial MT"/>
                <a:cs typeface="Arial MT"/>
              </a:rPr>
              <a:t>variable,</a:t>
            </a:r>
            <a:r>
              <a:rPr sz="1250" spc="175" dirty="0">
                <a:latin typeface="Arial MT"/>
                <a:cs typeface="Arial MT"/>
              </a:rPr>
              <a:t> </a:t>
            </a:r>
            <a:r>
              <a:rPr sz="1250" dirty="0">
                <a:latin typeface="Arial MT"/>
                <a:cs typeface="Arial MT"/>
              </a:rPr>
              <a:t>but</a:t>
            </a:r>
            <a:r>
              <a:rPr sz="1250" spc="30" dirty="0">
                <a:latin typeface="Arial MT"/>
                <a:cs typeface="Arial MT"/>
              </a:rPr>
              <a:t> </a:t>
            </a:r>
            <a:r>
              <a:rPr sz="1250" spc="15" dirty="0">
                <a:latin typeface="Arial MT"/>
                <a:cs typeface="Arial MT"/>
              </a:rPr>
              <a:t>no </a:t>
            </a:r>
            <a:r>
              <a:rPr sz="1250" spc="-335" dirty="0">
                <a:latin typeface="Arial MT"/>
                <a:cs typeface="Arial MT"/>
              </a:rPr>
              <a:t> </a:t>
            </a:r>
            <a:r>
              <a:rPr sz="1250" dirty="0">
                <a:latin typeface="Arial MT"/>
                <a:cs typeface="Arial MT"/>
              </a:rPr>
              <a:t>array</a:t>
            </a:r>
            <a:r>
              <a:rPr sz="1250" spc="45" dirty="0">
                <a:latin typeface="Arial MT"/>
                <a:cs typeface="Arial MT"/>
              </a:rPr>
              <a:t> </a:t>
            </a:r>
            <a:r>
              <a:rPr sz="1250" dirty="0">
                <a:latin typeface="Arial MT"/>
                <a:cs typeface="Arial MT"/>
              </a:rPr>
              <a:t>actually</a:t>
            </a:r>
            <a:r>
              <a:rPr sz="1250" spc="45" dirty="0">
                <a:latin typeface="Arial MT"/>
                <a:cs typeface="Arial MT"/>
              </a:rPr>
              <a:t> </a:t>
            </a:r>
            <a:r>
              <a:rPr sz="1250" spc="-10" dirty="0">
                <a:latin typeface="Arial MT"/>
                <a:cs typeface="Arial MT"/>
              </a:rPr>
              <a:t>exists.</a:t>
            </a:r>
            <a:r>
              <a:rPr sz="1250" spc="130" dirty="0">
                <a:latin typeface="Arial MT"/>
                <a:cs typeface="Arial MT"/>
              </a:rPr>
              <a:t> </a:t>
            </a:r>
            <a:r>
              <a:rPr sz="1250" spc="10" dirty="0">
                <a:latin typeface="Arial MT"/>
                <a:cs typeface="Arial MT"/>
              </a:rPr>
              <a:t>No</a:t>
            </a:r>
            <a:r>
              <a:rPr sz="1250" spc="15" dirty="0">
                <a:latin typeface="Arial MT"/>
                <a:cs typeface="Arial MT"/>
              </a:rPr>
              <a:t> </a:t>
            </a:r>
            <a:r>
              <a:rPr sz="1250" dirty="0">
                <a:latin typeface="Arial MT"/>
                <a:cs typeface="Arial MT"/>
              </a:rPr>
              <a:t>space</a:t>
            </a:r>
            <a:r>
              <a:rPr sz="1250" spc="55" dirty="0">
                <a:latin typeface="Arial MT"/>
                <a:cs typeface="Arial MT"/>
              </a:rPr>
              <a:t> </a:t>
            </a:r>
            <a:r>
              <a:rPr sz="1250" spc="5" dirty="0">
                <a:latin typeface="Arial MT"/>
                <a:cs typeface="Arial MT"/>
              </a:rPr>
              <a:t>is </a:t>
            </a:r>
            <a:r>
              <a:rPr sz="1250" spc="-5" dirty="0">
                <a:latin typeface="Arial MT"/>
                <a:cs typeface="Arial MT"/>
              </a:rPr>
              <a:t>allocated</a:t>
            </a:r>
            <a:r>
              <a:rPr sz="1250" spc="135" dirty="0">
                <a:latin typeface="Arial MT"/>
                <a:cs typeface="Arial MT"/>
              </a:rPr>
              <a:t> </a:t>
            </a:r>
            <a:r>
              <a:rPr sz="1250" spc="10" dirty="0">
                <a:latin typeface="Arial MT"/>
                <a:cs typeface="Arial MT"/>
              </a:rPr>
              <a:t>for</a:t>
            </a:r>
            <a:r>
              <a:rPr sz="1250" spc="-20" dirty="0">
                <a:latin typeface="Arial MT"/>
                <a:cs typeface="Arial MT"/>
              </a:rPr>
              <a:t> </a:t>
            </a:r>
            <a:r>
              <a:rPr sz="1250" dirty="0">
                <a:latin typeface="Arial MT"/>
                <a:cs typeface="Arial MT"/>
              </a:rPr>
              <a:t>it</a:t>
            </a:r>
            <a:r>
              <a:rPr sz="1250" spc="10" dirty="0">
                <a:latin typeface="Arial MT"/>
                <a:cs typeface="Arial MT"/>
              </a:rPr>
              <a:t> </a:t>
            </a:r>
            <a:r>
              <a:rPr sz="1250" spc="5" dirty="0">
                <a:latin typeface="Arial MT"/>
                <a:cs typeface="Arial MT"/>
              </a:rPr>
              <a:t>in</a:t>
            </a:r>
            <a:r>
              <a:rPr sz="1250" spc="10" dirty="0">
                <a:latin typeface="Arial MT"/>
                <a:cs typeface="Arial MT"/>
              </a:rPr>
              <a:t> memory</a:t>
            </a:r>
            <a:endParaRPr sz="1250" dirty="0">
              <a:latin typeface="Arial MT"/>
              <a:cs typeface="Arial MT"/>
            </a:endParaRPr>
          </a:p>
        </p:txBody>
      </p:sp>
      <p:sp>
        <p:nvSpPr>
          <p:cNvPr id="6" name="object 6"/>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4011" y="176167"/>
            <a:ext cx="6487240" cy="684201"/>
          </a:xfrm>
          <a:prstGeom prst="rect">
            <a:avLst/>
          </a:prstGeom>
        </p:spPr>
      </p:pic>
      <p:sp>
        <p:nvSpPr>
          <p:cNvPr id="3" name="object 3"/>
          <p:cNvSpPr txBox="1"/>
          <p:nvPr/>
        </p:nvSpPr>
        <p:spPr>
          <a:xfrm>
            <a:off x="279400" y="730518"/>
            <a:ext cx="5408469" cy="3090846"/>
          </a:xfrm>
          <a:prstGeom prst="rect">
            <a:avLst/>
          </a:prstGeom>
        </p:spPr>
        <p:txBody>
          <a:bodyPr vert="horz" wrap="square" lIns="0" tIns="10160" rIns="0" bIns="0" rtlCol="0">
            <a:spAutoFit/>
          </a:bodyPr>
          <a:lstStyle/>
          <a:p>
            <a:pPr marL="194945" marR="20320" indent="-182880">
              <a:lnSpc>
                <a:spcPct val="101899"/>
              </a:lnSpc>
              <a:spcBef>
                <a:spcPts val="80"/>
              </a:spcBef>
              <a:buChar char="•"/>
              <a:tabLst>
                <a:tab pos="195580" algn="l"/>
              </a:tabLst>
            </a:pPr>
            <a:r>
              <a:rPr sz="1700" spc="35" dirty="0">
                <a:latin typeface="Arial MT"/>
                <a:cs typeface="Arial MT"/>
              </a:rPr>
              <a:t>We</a:t>
            </a:r>
            <a:r>
              <a:rPr sz="1700" spc="-80" dirty="0">
                <a:latin typeface="Arial MT"/>
                <a:cs typeface="Arial MT"/>
              </a:rPr>
              <a:t> </a:t>
            </a:r>
            <a:r>
              <a:rPr sz="1700" spc="20" dirty="0">
                <a:latin typeface="Arial MT"/>
                <a:cs typeface="Arial MT"/>
              </a:rPr>
              <a:t>have</a:t>
            </a:r>
            <a:r>
              <a:rPr sz="1700" spc="-110" dirty="0">
                <a:latin typeface="Arial MT"/>
                <a:cs typeface="Arial MT"/>
              </a:rPr>
              <a:t> </a:t>
            </a:r>
            <a:r>
              <a:rPr sz="1700" spc="5" dirty="0">
                <a:latin typeface="Arial MT"/>
                <a:cs typeface="Arial MT"/>
              </a:rPr>
              <a:t>to</a:t>
            </a:r>
            <a:r>
              <a:rPr sz="1700" spc="-35" dirty="0">
                <a:latin typeface="Arial MT"/>
                <a:cs typeface="Arial MT"/>
              </a:rPr>
              <a:t> </a:t>
            </a:r>
            <a:r>
              <a:rPr sz="1700" spc="10" dirty="0">
                <a:latin typeface="Arial MT"/>
                <a:cs typeface="Arial MT"/>
              </a:rPr>
              <a:t>link</a:t>
            </a:r>
            <a:r>
              <a:rPr sz="1700" spc="-55" dirty="0">
                <a:latin typeface="Arial MT"/>
                <a:cs typeface="Arial MT"/>
              </a:rPr>
              <a:t> </a:t>
            </a:r>
            <a:r>
              <a:rPr sz="1700" dirty="0">
                <a:latin typeface="Arial MT"/>
                <a:cs typeface="Arial MT"/>
              </a:rPr>
              <a:t>array</a:t>
            </a:r>
            <a:r>
              <a:rPr sz="1700" spc="-15" dirty="0">
                <a:latin typeface="Arial MT"/>
                <a:cs typeface="Arial MT"/>
              </a:rPr>
              <a:t> </a:t>
            </a:r>
            <a:r>
              <a:rPr sz="1700" spc="-10" dirty="0">
                <a:latin typeface="Arial MT"/>
                <a:cs typeface="Arial MT"/>
              </a:rPr>
              <a:t>with</a:t>
            </a:r>
            <a:r>
              <a:rPr sz="1700" spc="45" dirty="0">
                <a:latin typeface="Arial MT"/>
                <a:cs typeface="Arial MT"/>
              </a:rPr>
              <a:t> </a:t>
            </a:r>
            <a:r>
              <a:rPr sz="1700" spc="5" dirty="0">
                <a:latin typeface="Arial MT"/>
                <a:cs typeface="Arial MT"/>
              </a:rPr>
              <a:t>an</a:t>
            </a:r>
            <a:r>
              <a:rPr sz="1700" spc="-30" dirty="0">
                <a:latin typeface="Arial MT"/>
                <a:cs typeface="Arial MT"/>
              </a:rPr>
              <a:t> </a:t>
            </a:r>
            <a:r>
              <a:rPr sz="1700" spc="10" dirty="0">
                <a:latin typeface="Arial MT"/>
                <a:cs typeface="Arial MT"/>
              </a:rPr>
              <a:t>actual,</a:t>
            </a:r>
            <a:r>
              <a:rPr sz="1700" spc="-114" dirty="0">
                <a:latin typeface="Arial MT"/>
                <a:cs typeface="Arial MT"/>
              </a:rPr>
              <a:t> </a:t>
            </a:r>
            <a:r>
              <a:rPr sz="1700" spc="5" dirty="0">
                <a:latin typeface="Arial MT"/>
                <a:cs typeface="Arial MT"/>
              </a:rPr>
              <a:t>physical</a:t>
            </a:r>
            <a:r>
              <a:rPr sz="1700" spc="-95" dirty="0">
                <a:latin typeface="Arial MT"/>
                <a:cs typeface="Arial MT"/>
              </a:rPr>
              <a:t> </a:t>
            </a:r>
            <a:r>
              <a:rPr sz="1700" dirty="0">
                <a:latin typeface="Arial MT"/>
                <a:cs typeface="Arial MT"/>
              </a:rPr>
              <a:t>array</a:t>
            </a:r>
            <a:r>
              <a:rPr sz="1700" spc="-15" dirty="0">
                <a:latin typeface="Arial MT"/>
                <a:cs typeface="Arial MT"/>
              </a:rPr>
              <a:t> </a:t>
            </a:r>
            <a:r>
              <a:rPr sz="1700" dirty="0">
                <a:latin typeface="Arial MT"/>
                <a:cs typeface="Arial MT"/>
              </a:rPr>
              <a:t>of </a:t>
            </a:r>
            <a:r>
              <a:rPr sz="1700" spc="-459" dirty="0">
                <a:latin typeface="Arial MT"/>
                <a:cs typeface="Arial MT"/>
              </a:rPr>
              <a:t> </a:t>
            </a:r>
            <a:r>
              <a:rPr sz="1700" spc="5" dirty="0">
                <a:latin typeface="Arial MT"/>
                <a:cs typeface="Arial MT"/>
              </a:rPr>
              <a:t>integers.</a:t>
            </a:r>
            <a:endParaRPr sz="1700" dirty="0">
              <a:latin typeface="Arial MT"/>
              <a:cs typeface="Arial MT"/>
            </a:endParaRPr>
          </a:p>
          <a:p>
            <a:pPr marL="194945" marR="5080" indent="-182880">
              <a:lnSpc>
                <a:spcPct val="100000"/>
              </a:lnSpc>
              <a:spcBef>
                <a:spcPts val="395"/>
              </a:spcBef>
              <a:buChar char="•"/>
              <a:tabLst>
                <a:tab pos="195580" algn="l"/>
              </a:tabLst>
            </a:pPr>
            <a:r>
              <a:rPr sz="1700" spc="10" dirty="0">
                <a:latin typeface="Arial MT"/>
                <a:cs typeface="Arial MT"/>
              </a:rPr>
              <a:t>So</a:t>
            </a:r>
            <a:r>
              <a:rPr sz="1700" spc="-35" dirty="0">
                <a:latin typeface="Arial MT"/>
                <a:cs typeface="Arial MT"/>
              </a:rPr>
              <a:t> we</a:t>
            </a:r>
            <a:r>
              <a:rPr sz="1700" spc="45" dirty="0">
                <a:latin typeface="Arial MT"/>
                <a:cs typeface="Arial MT"/>
              </a:rPr>
              <a:t> </a:t>
            </a:r>
            <a:r>
              <a:rPr sz="1700" spc="10" dirty="0">
                <a:latin typeface="Arial MT"/>
                <a:cs typeface="Arial MT"/>
              </a:rPr>
              <a:t>must</a:t>
            </a:r>
            <a:r>
              <a:rPr sz="1700" spc="-75" dirty="0">
                <a:latin typeface="Arial MT"/>
                <a:cs typeface="Arial MT"/>
              </a:rPr>
              <a:t> </a:t>
            </a:r>
            <a:r>
              <a:rPr sz="1700" spc="10" dirty="0">
                <a:latin typeface="Arial MT"/>
                <a:cs typeface="Arial MT"/>
              </a:rPr>
              <a:t>allocate</a:t>
            </a:r>
            <a:r>
              <a:rPr sz="1700" spc="-110" dirty="0">
                <a:latin typeface="Arial MT"/>
                <a:cs typeface="Arial MT"/>
              </a:rPr>
              <a:t> </a:t>
            </a:r>
            <a:r>
              <a:rPr sz="1700" spc="15" dirty="0">
                <a:latin typeface="Arial MT"/>
                <a:cs typeface="Arial MT"/>
              </a:rPr>
              <a:t>space</a:t>
            </a:r>
            <a:r>
              <a:rPr sz="1700" spc="-75" dirty="0">
                <a:latin typeface="Arial MT"/>
                <a:cs typeface="Arial MT"/>
              </a:rPr>
              <a:t> </a:t>
            </a:r>
            <a:r>
              <a:rPr sz="1700" spc="10" dirty="0">
                <a:latin typeface="Arial MT"/>
                <a:cs typeface="Arial MT"/>
              </a:rPr>
              <a:t>using</a:t>
            </a:r>
            <a:r>
              <a:rPr sz="1700" spc="-70" dirty="0">
                <a:latin typeface="Arial MT"/>
                <a:cs typeface="Arial MT"/>
              </a:rPr>
              <a:t> </a:t>
            </a:r>
            <a:r>
              <a:rPr sz="1700" spc="10" dirty="0">
                <a:solidFill>
                  <a:srgbClr val="FF0000"/>
                </a:solidFill>
                <a:latin typeface="Arial MT"/>
                <a:cs typeface="Arial MT"/>
              </a:rPr>
              <a:t>new</a:t>
            </a:r>
            <a:r>
              <a:rPr sz="1700" spc="-35" dirty="0">
                <a:solidFill>
                  <a:srgbClr val="FF0000"/>
                </a:solidFill>
                <a:latin typeface="Arial MT"/>
                <a:cs typeface="Arial MT"/>
              </a:rPr>
              <a:t> </a:t>
            </a:r>
            <a:r>
              <a:rPr sz="1700" spc="5" dirty="0">
                <a:latin typeface="Arial MT"/>
                <a:cs typeface="Arial MT"/>
              </a:rPr>
              <a:t>and</a:t>
            </a:r>
            <a:r>
              <a:rPr sz="1700" spc="-30" dirty="0">
                <a:latin typeface="Arial MT"/>
                <a:cs typeface="Arial MT"/>
              </a:rPr>
              <a:t> </a:t>
            </a:r>
            <a:r>
              <a:rPr sz="1700" spc="10" dirty="0">
                <a:latin typeface="Arial MT"/>
                <a:cs typeface="Arial MT"/>
              </a:rPr>
              <a:t>assign</a:t>
            </a:r>
            <a:r>
              <a:rPr sz="1700" spc="-114" dirty="0">
                <a:latin typeface="Arial MT"/>
                <a:cs typeface="Arial MT"/>
              </a:rPr>
              <a:t> </a:t>
            </a:r>
            <a:r>
              <a:rPr sz="1700" spc="10" dirty="0">
                <a:latin typeface="Arial MT"/>
                <a:cs typeface="Arial MT"/>
              </a:rPr>
              <a:t>it</a:t>
            </a:r>
            <a:r>
              <a:rPr sz="1700" spc="-30" dirty="0">
                <a:latin typeface="Arial MT"/>
                <a:cs typeface="Arial MT"/>
              </a:rPr>
              <a:t> </a:t>
            </a:r>
            <a:r>
              <a:rPr sz="1700" spc="5" dirty="0">
                <a:latin typeface="Arial MT"/>
                <a:cs typeface="Arial MT"/>
              </a:rPr>
              <a:t>to </a:t>
            </a:r>
            <a:r>
              <a:rPr sz="1700" spc="-459" dirty="0">
                <a:latin typeface="Arial MT"/>
                <a:cs typeface="Arial MT"/>
              </a:rPr>
              <a:t> </a:t>
            </a:r>
            <a:r>
              <a:rPr sz="1700" dirty="0">
                <a:latin typeface="Arial MT"/>
                <a:cs typeface="Arial MT"/>
              </a:rPr>
              <a:t>array</a:t>
            </a:r>
            <a:r>
              <a:rPr sz="1700" spc="-20" dirty="0">
                <a:latin typeface="Arial MT"/>
                <a:cs typeface="Arial MT"/>
              </a:rPr>
              <a:t> </a:t>
            </a:r>
            <a:r>
              <a:rPr sz="1700" spc="10" dirty="0">
                <a:latin typeface="Arial MT"/>
                <a:cs typeface="Arial MT"/>
              </a:rPr>
              <a:t>variable</a:t>
            </a:r>
            <a:r>
              <a:rPr sz="1700" spc="-114" dirty="0">
                <a:latin typeface="Arial MT"/>
                <a:cs typeface="Arial MT"/>
              </a:rPr>
              <a:t> </a:t>
            </a:r>
            <a:r>
              <a:rPr sz="1700" spc="5" dirty="0">
                <a:latin typeface="Arial MT"/>
                <a:cs typeface="Arial MT"/>
              </a:rPr>
              <a:t>.</a:t>
            </a:r>
            <a:endParaRPr sz="1700" dirty="0">
              <a:latin typeface="Arial MT"/>
              <a:cs typeface="Arial MT"/>
            </a:endParaRPr>
          </a:p>
          <a:p>
            <a:pPr marL="255904">
              <a:lnSpc>
                <a:spcPct val="100000"/>
              </a:lnSpc>
              <a:spcBef>
                <a:spcPts val="405"/>
              </a:spcBef>
            </a:pPr>
            <a:r>
              <a:rPr sz="1450" spc="15" dirty="0">
                <a:solidFill>
                  <a:srgbClr val="00AF50"/>
                </a:solidFill>
                <a:latin typeface="Arial MT"/>
                <a:cs typeface="Arial MT"/>
              </a:rPr>
              <a:t>–</a:t>
            </a:r>
            <a:r>
              <a:rPr sz="1450" spc="-30" dirty="0">
                <a:solidFill>
                  <a:srgbClr val="00AF50"/>
                </a:solidFill>
                <a:latin typeface="Arial MT"/>
                <a:cs typeface="Arial MT"/>
              </a:rPr>
              <a:t> </a:t>
            </a:r>
            <a:r>
              <a:rPr sz="1450" spc="10" dirty="0">
                <a:solidFill>
                  <a:srgbClr val="00AF50"/>
                </a:solidFill>
                <a:latin typeface="Arial MT"/>
                <a:cs typeface="Arial MT"/>
              </a:rPr>
              <a:t>new</a:t>
            </a:r>
            <a:r>
              <a:rPr sz="1450" spc="50" dirty="0">
                <a:solidFill>
                  <a:srgbClr val="00AF50"/>
                </a:solidFill>
                <a:latin typeface="Arial MT"/>
                <a:cs typeface="Arial MT"/>
              </a:rPr>
              <a:t> </a:t>
            </a:r>
            <a:r>
              <a:rPr sz="1450" spc="-15" dirty="0">
                <a:latin typeface="Arial MT"/>
                <a:cs typeface="Arial MT"/>
              </a:rPr>
              <a:t>is</a:t>
            </a:r>
            <a:r>
              <a:rPr sz="1450" spc="50" dirty="0">
                <a:latin typeface="Arial MT"/>
                <a:cs typeface="Arial MT"/>
              </a:rPr>
              <a:t> </a:t>
            </a:r>
            <a:r>
              <a:rPr sz="1450" spc="15" dirty="0">
                <a:latin typeface="Arial MT"/>
                <a:cs typeface="Arial MT"/>
              </a:rPr>
              <a:t>a </a:t>
            </a:r>
            <a:r>
              <a:rPr sz="1450" spc="-5" dirty="0">
                <a:latin typeface="Arial MT"/>
                <a:cs typeface="Arial MT"/>
              </a:rPr>
              <a:t>special</a:t>
            </a:r>
            <a:r>
              <a:rPr sz="1450" spc="145" dirty="0">
                <a:latin typeface="Arial MT"/>
                <a:cs typeface="Arial MT"/>
              </a:rPr>
              <a:t> </a:t>
            </a:r>
            <a:r>
              <a:rPr sz="1450" spc="5" dirty="0">
                <a:latin typeface="Arial MT"/>
                <a:cs typeface="Arial MT"/>
              </a:rPr>
              <a:t>operator</a:t>
            </a:r>
            <a:r>
              <a:rPr sz="1450" spc="105" dirty="0">
                <a:latin typeface="Arial MT"/>
                <a:cs typeface="Arial MT"/>
              </a:rPr>
              <a:t> </a:t>
            </a:r>
            <a:r>
              <a:rPr sz="1450" dirty="0">
                <a:latin typeface="Arial MT"/>
                <a:cs typeface="Arial MT"/>
              </a:rPr>
              <a:t>that</a:t>
            </a:r>
            <a:r>
              <a:rPr sz="1450" spc="65" dirty="0">
                <a:latin typeface="Arial MT"/>
                <a:cs typeface="Arial MT"/>
              </a:rPr>
              <a:t> </a:t>
            </a:r>
            <a:r>
              <a:rPr sz="1450" spc="-10" dirty="0">
                <a:latin typeface="Arial MT"/>
                <a:cs typeface="Arial MT"/>
              </a:rPr>
              <a:t>allocates</a:t>
            </a:r>
            <a:r>
              <a:rPr sz="1450" spc="215" dirty="0">
                <a:latin typeface="Arial MT"/>
                <a:cs typeface="Arial MT"/>
              </a:rPr>
              <a:t> </a:t>
            </a:r>
            <a:r>
              <a:rPr sz="1450" dirty="0">
                <a:latin typeface="Arial MT"/>
                <a:cs typeface="Arial MT"/>
              </a:rPr>
              <a:t>memory.</a:t>
            </a:r>
          </a:p>
          <a:p>
            <a:pPr marL="255904">
              <a:lnSpc>
                <a:spcPct val="100000"/>
              </a:lnSpc>
              <a:spcBef>
                <a:spcPts val="340"/>
              </a:spcBef>
            </a:pPr>
            <a:r>
              <a:rPr sz="1450" spc="-30" dirty="0">
                <a:latin typeface="Calibri"/>
                <a:cs typeface="Calibri"/>
              </a:rPr>
              <a:t>variable=</a:t>
            </a:r>
            <a:r>
              <a:rPr sz="1450" spc="-30" dirty="0">
                <a:solidFill>
                  <a:srgbClr val="C00000"/>
                </a:solidFill>
                <a:latin typeface="Calibri"/>
                <a:cs typeface="Calibri"/>
              </a:rPr>
              <a:t>new</a:t>
            </a:r>
            <a:r>
              <a:rPr sz="1450" spc="45" dirty="0">
                <a:solidFill>
                  <a:srgbClr val="C00000"/>
                </a:solidFill>
                <a:latin typeface="Calibri"/>
                <a:cs typeface="Calibri"/>
              </a:rPr>
              <a:t> </a:t>
            </a:r>
            <a:r>
              <a:rPr sz="1450" spc="-30" dirty="0">
                <a:latin typeface="Calibri"/>
                <a:cs typeface="Calibri"/>
              </a:rPr>
              <a:t>type[size];</a:t>
            </a:r>
            <a:endParaRPr sz="1450" dirty="0">
              <a:latin typeface="Calibri"/>
              <a:cs typeface="Calibri"/>
            </a:endParaRPr>
          </a:p>
          <a:p>
            <a:pPr marL="255904">
              <a:lnSpc>
                <a:spcPct val="100000"/>
              </a:lnSpc>
              <a:spcBef>
                <a:spcPts val="495"/>
              </a:spcBef>
            </a:pPr>
            <a:r>
              <a:rPr lang="en-US" sz="1450" spc="10" dirty="0">
                <a:latin typeface="Arial MT"/>
                <a:cs typeface="Arial MT"/>
              </a:rPr>
              <a:t>E.g.</a:t>
            </a:r>
          </a:p>
          <a:p>
            <a:pPr marL="255904">
              <a:lnSpc>
                <a:spcPct val="100000"/>
              </a:lnSpc>
              <a:spcBef>
                <a:spcPts val="495"/>
              </a:spcBef>
            </a:pPr>
            <a:endParaRPr lang="en-IN" sz="1450" spc="10" dirty="0">
              <a:latin typeface="Arial MT"/>
              <a:cs typeface="Arial MT"/>
            </a:endParaRPr>
          </a:p>
          <a:p>
            <a:pPr marL="255904">
              <a:lnSpc>
                <a:spcPct val="100000"/>
              </a:lnSpc>
              <a:spcBef>
                <a:spcPts val="495"/>
              </a:spcBef>
            </a:pPr>
            <a:endParaRPr lang="en-IN" sz="1450" spc="10" dirty="0">
              <a:latin typeface="Arial MT"/>
              <a:cs typeface="Arial MT"/>
            </a:endParaRPr>
          </a:p>
          <a:p>
            <a:pPr marL="255904">
              <a:lnSpc>
                <a:spcPct val="100000"/>
              </a:lnSpc>
              <a:spcBef>
                <a:spcPts val="495"/>
              </a:spcBef>
            </a:pPr>
            <a:endParaRPr lang="en-IN" sz="1450" spc="10" dirty="0">
              <a:latin typeface="Arial MT"/>
              <a:cs typeface="Arial MT"/>
            </a:endParaRPr>
          </a:p>
          <a:p>
            <a:pPr marL="255904">
              <a:lnSpc>
                <a:spcPct val="100000"/>
              </a:lnSpc>
              <a:spcBef>
                <a:spcPts val="495"/>
              </a:spcBef>
            </a:pPr>
            <a:endParaRPr sz="1450" dirty="0">
              <a:latin typeface="Arial MT"/>
              <a:cs typeface="Arial MT"/>
            </a:endParaRPr>
          </a:p>
        </p:txBody>
      </p:sp>
      <p:sp>
        <p:nvSpPr>
          <p:cNvPr id="4" name="object 4"/>
          <p:cNvSpPr txBox="1"/>
          <p:nvPr/>
        </p:nvSpPr>
        <p:spPr>
          <a:xfrm>
            <a:off x="608107" y="2708555"/>
            <a:ext cx="1123315" cy="574040"/>
          </a:xfrm>
          <a:prstGeom prst="rect">
            <a:avLst/>
          </a:prstGeom>
        </p:spPr>
        <p:txBody>
          <a:bodyPr vert="horz" wrap="square" lIns="0" tIns="64769" rIns="0" bIns="0" rtlCol="0">
            <a:spAutoFit/>
          </a:bodyPr>
          <a:lstStyle/>
          <a:p>
            <a:pPr marL="12700">
              <a:lnSpc>
                <a:spcPct val="100000"/>
              </a:lnSpc>
              <a:spcBef>
                <a:spcPts val="509"/>
              </a:spcBef>
            </a:pPr>
            <a:r>
              <a:rPr sz="1450" spc="-30" dirty="0">
                <a:latin typeface="Calibri"/>
                <a:cs typeface="Calibri"/>
              </a:rPr>
              <a:t>int</a:t>
            </a:r>
            <a:r>
              <a:rPr sz="1450" dirty="0">
                <a:latin typeface="Calibri"/>
                <a:cs typeface="Calibri"/>
              </a:rPr>
              <a:t> </a:t>
            </a:r>
            <a:r>
              <a:rPr sz="1450" spc="-30" dirty="0">
                <a:latin typeface="Calibri"/>
                <a:cs typeface="Calibri"/>
              </a:rPr>
              <a:t>a[];</a:t>
            </a:r>
            <a:endParaRPr sz="1450" dirty="0">
              <a:latin typeface="Calibri"/>
              <a:cs typeface="Calibri"/>
            </a:endParaRPr>
          </a:p>
          <a:p>
            <a:pPr marL="12700">
              <a:lnSpc>
                <a:spcPct val="100000"/>
              </a:lnSpc>
              <a:spcBef>
                <a:spcPts val="420"/>
              </a:spcBef>
            </a:pPr>
            <a:r>
              <a:rPr sz="1450" spc="-30" dirty="0">
                <a:latin typeface="Calibri"/>
                <a:cs typeface="Calibri"/>
              </a:rPr>
              <a:t>a=</a:t>
            </a:r>
            <a:r>
              <a:rPr sz="1450" spc="35" dirty="0">
                <a:latin typeface="Calibri"/>
                <a:cs typeface="Calibri"/>
              </a:rPr>
              <a:t> </a:t>
            </a:r>
            <a:r>
              <a:rPr sz="1450" spc="-65" dirty="0">
                <a:latin typeface="Calibri"/>
                <a:cs typeface="Calibri"/>
              </a:rPr>
              <a:t>new</a:t>
            </a:r>
            <a:r>
              <a:rPr sz="1450" spc="15" dirty="0">
                <a:latin typeface="Calibri"/>
                <a:cs typeface="Calibri"/>
              </a:rPr>
              <a:t> </a:t>
            </a:r>
            <a:r>
              <a:rPr sz="1450" spc="-25" dirty="0">
                <a:latin typeface="Calibri"/>
                <a:cs typeface="Calibri"/>
              </a:rPr>
              <a:t>int[12];</a:t>
            </a:r>
            <a:endParaRPr sz="1450" dirty="0">
              <a:latin typeface="Calibri"/>
              <a:cs typeface="Calibri"/>
            </a:endParaRPr>
          </a:p>
        </p:txBody>
      </p:sp>
      <p:sp>
        <p:nvSpPr>
          <p:cNvPr id="5" name="object 5"/>
          <p:cNvSpPr txBox="1"/>
          <p:nvPr/>
        </p:nvSpPr>
        <p:spPr>
          <a:xfrm>
            <a:off x="608107" y="3310623"/>
            <a:ext cx="5474970" cy="251460"/>
          </a:xfrm>
          <a:prstGeom prst="rect">
            <a:avLst/>
          </a:prstGeom>
        </p:spPr>
        <p:txBody>
          <a:bodyPr vert="horz" wrap="square" lIns="0" tIns="16510" rIns="0" bIns="0" rtlCol="0">
            <a:spAutoFit/>
          </a:bodyPr>
          <a:lstStyle/>
          <a:p>
            <a:pPr marL="12700">
              <a:lnSpc>
                <a:spcPct val="100000"/>
              </a:lnSpc>
              <a:spcBef>
                <a:spcPts val="130"/>
              </a:spcBef>
            </a:pPr>
            <a:r>
              <a:rPr sz="1450" spc="15" dirty="0">
                <a:latin typeface="Arial MT"/>
                <a:cs typeface="Arial MT"/>
              </a:rPr>
              <a:t>–</a:t>
            </a:r>
            <a:r>
              <a:rPr sz="1450" spc="-35" dirty="0">
                <a:latin typeface="Arial MT"/>
                <a:cs typeface="Arial MT"/>
              </a:rPr>
              <a:t> </a:t>
            </a:r>
            <a:r>
              <a:rPr sz="1450" dirty="0">
                <a:latin typeface="Arial MT"/>
                <a:cs typeface="Arial MT"/>
              </a:rPr>
              <a:t>After</a:t>
            </a:r>
            <a:r>
              <a:rPr sz="1450" spc="60" dirty="0">
                <a:latin typeface="Arial MT"/>
                <a:cs typeface="Arial MT"/>
              </a:rPr>
              <a:t> </a:t>
            </a:r>
            <a:r>
              <a:rPr sz="1450" spc="-5" dirty="0">
                <a:latin typeface="Arial MT"/>
                <a:cs typeface="Arial MT"/>
              </a:rPr>
              <a:t>this</a:t>
            </a:r>
            <a:r>
              <a:rPr sz="1450" spc="90" dirty="0">
                <a:latin typeface="Arial MT"/>
                <a:cs typeface="Arial MT"/>
              </a:rPr>
              <a:t> </a:t>
            </a:r>
            <a:r>
              <a:rPr sz="1450" dirty="0">
                <a:latin typeface="Arial MT"/>
                <a:cs typeface="Arial MT"/>
              </a:rPr>
              <a:t>statement</a:t>
            </a:r>
            <a:r>
              <a:rPr sz="1450" spc="140" dirty="0">
                <a:latin typeface="Arial MT"/>
                <a:cs typeface="Arial MT"/>
              </a:rPr>
              <a:t> </a:t>
            </a:r>
            <a:r>
              <a:rPr sz="1450" spc="-5" dirty="0">
                <a:latin typeface="Arial MT"/>
                <a:cs typeface="Arial MT"/>
              </a:rPr>
              <a:t>executes,</a:t>
            </a:r>
            <a:r>
              <a:rPr sz="1450" spc="185" dirty="0">
                <a:latin typeface="Arial MT"/>
                <a:cs typeface="Arial MT"/>
              </a:rPr>
              <a:t> </a:t>
            </a:r>
            <a:r>
              <a:rPr sz="1450" dirty="0">
                <a:latin typeface="Arial MT"/>
                <a:cs typeface="Arial MT"/>
              </a:rPr>
              <a:t>variable</a:t>
            </a:r>
            <a:r>
              <a:rPr sz="1450" spc="165" dirty="0">
                <a:latin typeface="Arial MT"/>
                <a:cs typeface="Arial MT"/>
              </a:rPr>
              <a:t> </a:t>
            </a:r>
            <a:r>
              <a:rPr sz="1450" spc="15" dirty="0">
                <a:latin typeface="Arial MT"/>
                <a:cs typeface="Arial MT"/>
              </a:rPr>
              <a:t>a</a:t>
            </a:r>
            <a:r>
              <a:rPr sz="1450" spc="10" dirty="0">
                <a:latin typeface="Arial MT"/>
                <a:cs typeface="Arial MT"/>
              </a:rPr>
              <a:t> </a:t>
            </a:r>
            <a:r>
              <a:rPr sz="1450" spc="-15" dirty="0">
                <a:latin typeface="Arial MT"/>
                <a:cs typeface="Arial MT"/>
              </a:rPr>
              <a:t>will</a:t>
            </a:r>
            <a:r>
              <a:rPr sz="1450" spc="105" dirty="0">
                <a:latin typeface="Arial MT"/>
                <a:cs typeface="Arial MT"/>
              </a:rPr>
              <a:t> </a:t>
            </a:r>
            <a:r>
              <a:rPr sz="1450" spc="-5" dirty="0">
                <a:latin typeface="Arial MT"/>
                <a:cs typeface="Arial MT"/>
              </a:rPr>
              <a:t>refer</a:t>
            </a:r>
            <a:r>
              <a:rPr sz="1450" spc="135" dirty="0">
                <a:latin typeface="Arial MT"/>
                <a:cs typeface="Arial MT"/>
              </a:rPr>
              <a:t> </a:t>
            </a:r>
            <a:r>
              <a:rPr sz="1450" dirty="0">
                <a:latin typeface="Arial MT"/>
                <a:cs typeface="Arial MT"/>
              </a:rPr>
              <a:t>to</a:t>
            </a:r>
            <a:r>
              <a:rPr sz="1450" spc="10" dirty="0">
                <a:latin typeface="Arial MT"/>
                <a:cs typeface="Arial MT"/>
              </a:rPr>
              <a:t> </a:t>
            </a:r>
            <a:r>
              <a:rPr sz="1450" dirty="0">
                <a:latin typeface="Arial MT"/>
                <a:cs typeface="Arial MT"/>
              </a:rPr>
              <a:t>an</a:t>
            </a:r>
            <a:r>
              <a:rPr sz="1450" spc="45" dirty="0">
                <a:latin typeface="Arial MT"/>
                <a:cs typeface="Arial MT"/>
              </a:rPr>
              <a:t> </a:t>
            </a:r>
            <a:r>
              <a:rPr sz="1450" spc="-5" dirty="0">
                <a:latin typeface="Arial MT"/>
                <a:cs typeface="Arial MT"/>
              </a:rPr>
              <a:t>array</a:t>
            </a:r>
            <a:r>
              <a:rPr sz="1450" spc="130" dirty="0">
                <a:latin typeface="Arial MT"/>
                <a:cs typeface="Arial MT"/>
              </a:rPr>
              <a:t> </a:t>
            </a:r>
            <a:r>
              <a:rPr sz="1450" spc="15" dirty="0">
                <a:latin typeface="Arial MT"/>
                <a:cs typeface="Arial MT"/>
              </a:rPr>
              <a:t>of</a:t>
            </a:r>
            <a:endParaRPr sz="1450">
              <a:latin typeface="Arial MT"/>
              <a:cs typeface="Arial MT"/>
            </a:endParaRPr>
          </a:p>
        </p:txBody>
      </p:sp>
      <p:sp>
        <p:nvSpPr>
          <p:cNvPr id="6" name="object 6"/>
          <p:cNvSpPr txBox="1"/>
          <p:nvPr/>
        </p:nvSpPr>
        <p:spPr>
          <a:xfrm>
            <a:off x="760120" y="3539026"/>
            <a:ext cx="945515" cy="251460"/>
          </a:xfrm>
          <a:prstGeom prst="rect">
            <a:avLst/>
          </a:prstGeom>
        </p:spPr>
        <p:txBody>
          <a:bodyPr vert="horz" wrap="square" lIns="0" tIns="16510" rIns="0" bIns="0" rtlCol="0">
            <a:spAutoFit/>
          </a:bodyPr>
          <a:lstStyle/>
          <a:p>
            <a:pPr marL="12700">
              <a:lnSpc>
                <a:spcPct val="100000"/>
              </a:lnSpc>
              <a:spcBef>
                <a:spcPts val="130"/>
              </a:spcBef>
            </a:pPr>
            <a:r>
              <a:rPr sz="1450" spc="20" dirty="0">
                <a:latin typeface="Arial MT"/>
                <a:cs typeface="Arial MT"/>
              </a:rPr>
              <a:t>12</a:t>
            </a:r>
            <a:r>
              <a:rPr sz="1450" spc="-40" dirty="0">
                <a:latin typeface="Arial MT"/>
                <a:cs typeface="Arial MT"/>
              </a:rPr>
              <a:t> </a:t>
            </a:r>
            <a:r>
              <a:rPr sz="1450" spc="-5" dirty="0">
                <a:latin typeface="Arial MT"/>
                <a:cs typeface="Arial MT"/>
              </a:rPr>
              <a:t>integers</a:t>
            </a:r>
            <a:endParaRPr sz="1450">
              <a:latin typeface="Arial MT"/>
              <a:cs typeface="Arial MT"/>
            </a:endParaRPr>
          </a:p>
        </p:txBody>
      </p:sp>
      <p:sp>
        <p:nvSpPr>
          <p:cNvPr id="8" name="object 8"/>
          <p:cNvSpPr txBox="1"/>
          <p:nvPr/>
        </p:nvSpPr>
        <p:spPr>
          <a:xfrm>
            <a:off x="2558363" y="2811639"/>
            <a:ext cx="1787525" cy="246379"/>
          </a:xfrm>
          <a:prstGeom prst="rect">
            <a:avLst/>
          </a:prstGeom>
          <a:ln w="11825">
            <a:solidFill>
              <a:srgbClr val="000000"/>
            </a:solidFill>
          </a:ln>
        </p:spPr>
        <p:txBody>
          <a:bodyPr vert="horz" wrap="square" lIns="0" tIns="26034" rIns="0" bIns="0" rtlCol="0">
            <a:spAutoFit/>
          </a:bodyPr>
          <a:lstStyle/>
          <a:p>
            <a:pPr marL="50165">
              <a:lnSpc>
                <a:spcPct val="100000"/>
              </a:lnSpc>
              <a:spcBef>
                <a:spcPts val="204"/>
              </a:spcBef>
            </a:pPr>
            <a:r>
              <a:rPr sz="1250" spc="10" dirty="0">
                <a:latin typeface="Arial MT"/>
                <a:cs typeface="Arial MT"/>
              </a:rPr>
              <a:t>int</a:t>
            </a:r>
            <a:r>
              <a:rPr sz="1250" spc="-15" dirty="0">
                <a:latin typeface="Arial MT"/>
                <a:cs typeface="Arial MT"/>
              </a:rPr>
              <a:t> </a:t>
            </a:r>
            <a:r>
              <a:rPr sz="1250" spc="5" dirty="0">
                <a:latin typeface="Arial MT"/>
                <a:cs typeface="Arial MT"/>
              </a:rPr>
              <a:t>a[]=new</a:t>
            </a:r>
            <a:r>
              <a:rPr sz="1250" spc="-20" dirty="0">
                <a:latin typeface="Arial MT"/>
                <a:cs typeface="Arial MT"/>
              </a:rPr>
              <a:t> </a:t>
            </a:r>
            <a:r>
              <a:rPr sz="1250" spc="10" dirty="0">
                <a:latin typeface="Arial MT"/>
                <a:cs typeface="Arial MT"/>
              </a:rPr>
              <a:t>int[12];</a:t>
            </a:r>
            <a:endParaRPr sz="1250">
              <a:latin typeface="Arial MT"/>
              <a:cs typeface="Arial MT"/>
            </a:endParaRPr>
          </a:p>
        </p:txBody>
      </p:sp>
      <p:sp>
        <p:nvSpPr>
          <p:cNvPr id="9" name="object 9"/>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p:nvPr/>
        </p:nvSpPr>
        <p:spPr>
          <a:xfrm>
            <a:off x="364659" y="1205577"/>
            <a:ext cx="5416550" cy="2002155"/>
          </a:xfrm>
          <a:prstGeom prst="rect">
            <a:avLst/>
          </a:prstGeom>
        </p:spPr>
        <p:txBody>
          <a:bodyPr vert="horz" wrap="square" lIns="0" tIns="70485" rIns="0" bIns="0" rtlCol="0">
            <a:spAutoFit/>
          </a:bodyPr>
          <a:lstStyle/>
          <a:p>
            <a:pPr marL="194945" indent="-182880">
              <a:lnSpc>
                <a:spcPct val="100000"/>
              </a:lnSpc>
              <a:spcBef>
                <a:spcPts val="555"/>
              </a:spcBef>
              <a:buChar char="•"/>
              <a:tabLst>
                <a:tab pos="195580" algn="l"/>
              </a:tabLst>
            </a:pPr>
            <a:r>
              <a:rPr sz="1700" spc="5" dirty="0">
                <a:latin typeface="Arial MT"/>
                <a:cs typeface="Arial MT"/>
              </a:rPr>
              <a:t>Obtaining</a:t>
            </a:r>
            <a:r>
              <a:rPr sz="1700" spc="-120" dirty="0">
                <a:latin typeface="Arial MT"/>
                <a:cs typeface="Arial MT"/>
              </a:rPr>
              <a:t> </a:t>
            </a:r>
            <a:r>
              <a:rPr sz="1700" spc="5" dirty="0">
                <a:latin typeface="Arial MT"/>
                <a:cs typeface="Arial MT"/>
              </a:rPr>
              <a:t>an</a:t>
            </a:r>
            <a:r>
              <a:rPr sz="1700" spc="-40" dirty="0">
                <a:latin typeface="Arial MT"/>
                <a:cs typeface="Arial MT"/>
              </a:rPr>
              <a:t> </a:t>
            </a:r>
            <a:r>
              <a:rPr sz="1700" dirty="0">
                <a:latin typeface="Arial MT"/>
                <a:cs typeface="Arial MT"/>
              </a:rPr>
              <a:t>array</a:t>
            </a:r>
            <a:r>
              <a:rPr sz="1700" spc="-25" dirty="0">
                <a:latin typeface="Arial MT"/>
                <a:cs typeface="Arial MT"/>
              </a:rPr>
              <a:t> </a:t>
            </a:r>
            <a:r>
              <a:rPr sz="1700" spc="10" dirty="0">
                <a:latin typeface="Arial MT"/>
                <a:cs typeface="Arial MT"/>
              </a:rPr>
              <a:t>is</a:t>
            </a:r>
            <a:r>
              <a:rPr sz="1700" spc="-20" dirty="0">
                <a:latin typeface="Arial MT"/>
                <a:cs typeface="Arial MT"/>
              </a:rPr>
              <a:t> </a:t>
            </a:r>
            <a:r>
              <a:rPr sz="1700" spc="10" dirty="0">
                <a:latin typeface="Arial MT"/>
                <a:cs typeface="Arial MT"/>
              </a:rPr>
              <a:t>a</a:t>
            </a:r>
            <a:r>
              <a:rPr sz="1700" spc="-40" dirty="0">
                <a:latin typeface="Arial MT"/>
                <a:cs typeface="Arial MT"/>
              </a:rPr>
              <a:t> </a:t>
            </a:r>
            <a:r>
              <a:rPr sz="1700" dirty="0">
                <a:latin typeface="Arial MT"/>
                <a:cs typeface="Arial MT"/>
              </a:rPr>
              <a:t>two-step </a:t>
            </a:r>
            <a:r>
              <a:rPr sz="1700" spc="10" dirty="0">
                <a:latin typeface="Arial MT"/>
                <a:cs typeface="Arial MT"/>
              </a:rPr>
              <a:t>process.</a:t>
            </a:r>
            <a:endParaRPr sz="1700">
              <a:latin typeface="Arial MT"/>
              <a:cs typeface="Arial MT"/>
            </a:endParaRPr>
          </a:p>
          <a:p>
            <a:pPr marL="499109" lvl="1" indent="-243840">
              <a:lnSpc>
                <a:spcPct val="100000"/>
              </a:lnSpc>
              <a:spcBef>
                <a:spcPts val="405"/>
              </a:spcBef>
              <a:buAutoNum type="arabicPeriod"/>
              <a:tabLst>
                <a:tab pos="499745" algn="l"/>
              </a:tabLst>
            </a:pPr>
            <a:r>
              <a:rPr sz="1450" spc="-5" dirty="0">
                <a:latin typeface="Arial MT"/>
                <a:cs typeface="Arial MT"/>
              </a:rPr>
              <a:t>First,</a:t>
            </a:r>
            <a:r>
              <a:rPr sz="1450" spc="95" dirty="0">
                <a:latin typeface="Arial MT"/>
                <a:cs typeface="Arial MT"/>
              </a:rPr>
              <a:t> </a:t>
            </a:r>
            <a:r>
              <a:rPr sz="1450" spc="20" dirty="0">
                <a:latin typeface="Arial MT"/>
                <a:cs typeface="Arial MT"/>
              </a:rPr>
              <a:t>we</a:t>
            </a:r>
            <a:r>
              <a:rPr sz="1450" spc="5" dirty="0">
                <a:latin typeface="Arial MT"/>
                <a:cs typeface="Arial MT"/>
              </a:rPr>
              <a:t> </a:t>
            </a:r>
            <a:r>
              <a:rPr sz="1450" spc="10" dirty="0">
                <a:latin typeface="Arial MT"/>
                <a:cs typeface="Arial MT"/>
              </a:rPr>
              <a:t>must</a:t>
            </a:r>
            <a:r>
              <a:rPr sz="1450" spc="70" dirty="0">
                <a:latin typeface="Arial MT"/>
                <a:cs typeface="Arial MT"/>
              </a:rPr>
              <a:t> </a:t>
            </a:r>
            <a:r>
              <a:rPr sz="1450" b="1" spc="15" dirty="0">
                <a:latin typeface="Arial"/>
                <a:cs typeface="Arial"/>
              </a:rPr>
              <a:t>declare</a:t>
            </a:r>
            <a:r>
              <a:rPr sz="1450" b="1" spc="10" dirty="0">
                <a:latin typeface="Arial"/>
                <a:cs typeface="Arial"/>
              </a:rPr>
              <a:t> </a:t>
            </a:r>
            <a:r>
              <a:rPr sz="1450" spc="15" dirty="0">
                <a:latin typeface="Arial MT"/>
                <a:cs typeface="Arial MT"/>
              </a:rPr>
              <a:t>a</a:t>
            </a:r>
            <a:r>
              <a:rPr sz="1450" spc="5" dirty="0">
                <a:latin typeface="Arial MT"/>
                <a:cs typeface="Arial MT"/>
              </a:rPr>
              <a:t> </a:t>
            </a:r>
            <a:r>
              <a:rPr sz="1450" spc="-5" dirty="0">
                <a:latin typeface="Arial MT"/>
                <a:cs typeface="Arial MT"/>
              </a:rPr>
              <a:t>variable</a:t>
            </a:r>
            <a:r>
              <a:rPr sz="1450" spc="204" dirty="0">
                <a:latin typeface="Arial MT"/>
                <a:cs typeface="Arial MT"/>
              </a:rPr>
              <a:t> </a:t>
            </a:r>
            <a:r>
              <a:rPr sz="1450" spc="15" dirty="0">
                <a:latin typeface="Arial MT"/>
                <a:cs typeface="Arial MT"/>
              </a:rPr>
              <a:t>of</a:t>
            </a:r>
            <a:r>
              <a:rPr sz="1450" spc="-20" dirty="0">
                <a:latin typeface="Arial MT"/>
                <a:cs typeface="Arial MT"/>
              </a:rPr>
              <a:t> </a:t>
            </a:r>
            <a:r>
              <a:rPr sz="1450" spc="10" dirty="0">
                <a:latin typeface="Arial MT"/>
                <a:cs typeface="Arial MT"/>
              </a:rPr>
              <a:t>the</a:t>
            </a:r>
            <a:r>
              <a:rPr sz="1450" spc="45" dirty="0">
                <a:latin typeface="Arial MT"/>
                <a:cs typeface="Arial MT"/>
              </a:rPr>
              <a:t> </a:t>
            </a:r>
            <a:r>
              <a:rPr sz="1450" spc="-5" dirty="0">
                <a:latin typeface="Arial MT"/>
                <a:cs typeface="Arial MT"/>
              </a:rPr>
              <a:t>desired</a:t>
            </a:r>
            <a:r>
              <a:rPr sz="1450" spc="165" dirty="0">
                <a:latin typeface="Arial MT"/>
                <a:cs typeface="Arial MT"/>
              </a:rPr>
              <a:t> </a:t>
            </a:r>
            <a:r>
              <a:rPr sz="1450" spc="-5" dirty="0">
                <a:latin typeface="Arial MT"/>
                <a:cs typeface="Arial MT"/>
              </a:rPr>
              <a:t>array</a:t>
            </a:r>
            <a:r>
              <a:rPr sz="1450" spc="85" dirty="0">
                <a:latin typeface="Arial MT"/>
                <a:cs typeface="Arial MT"/>
              </a:rPr>
              <a:t> </a:t>
            </a:r>
            <a:r>
              <a:rPr sz="1450" spc="-10" dirty="0">
                <a:latin typeface="Arial MT"/>
                <a:cs typeface="Arial MT"/>
              </a:rPr>
              <a:t>type.</a:t>
            </a:r>
            <a:endParaRPr sz="1450">
              <a:latin typeface="Arial MT"/>
              <a:cs typeface="Arial MT"/>
            </a:endParaRPr>
          </a:p>
          <a:p>
            <a:pPr marL="499109" marR="161290" lvl="1" indent="-243840">
              <a:lnSpc>
                <a:spcPct val="103400"/>
              </a:lnSpc>
              <a:spcBef>
                <a:spcPts val="360"/>
              </a:spcBef>
              <a:buAutoNum type="arabicPeriod"/>
              <a:tabLst>
                <a:tab pos="499745" algn="l"/>
              </a:tabLst>
            </a:pPr>
            <a:r>
              <a:rPr sz="1450" spc="15" dirty="0">
                <a:latin typeface="Arial MT"/>
                <a:cs typeface="Arial MT"/>
              </a:rPr>
              <a:t>Second, </a:t>
            </a:r>
            <a:r>
              <a:rPr sz="1450" spc="20" dirty="0">
                <a:latin typeface="Arial MT"/>
                <a:cs typeface="Arial MT"/>
              </a:rPr>
              <a:t>we </a:t>
            </a:r>
            <a:r>
              <a:rPr sz="1450" spc="10" dirty="0">
                <a:latin typeface="Arial MT"/>
                <a:cs typeface="Arial MT"/>
              </a:rPr>
              <a:t>must </a:t>
            </a:r>
            <a:r>
              <a:rPr sz="1450" b="1" spc="10" dirty="0">
                <a:latin typeface="Arial"/>
                <a:cs typeface="Arial"/>
              </a:rPr>
              <a:t>allocate the </a:t>
            </a:r>
            <a:r>
              <a:rPr sz="1450" b="1" spc="15" dirty="0">
                <a:latin typeface="Arial"/>
                <a:cs typeface="Arial"/>
              </a:rPr>
              <a:t>memory </a:t>
            </a:r>
            <a:r>
              <a:rPr sz="1450" dirty="0">
                <a:latin typeface="Arial MT"/>
                <a:cs typeface="Arial MT"/>
              </a:rPr>
              <a:t>that </a:t>
            </a:r>
            <a:r>
              <a:rPr sz="1450" spc="-15" dirty="0">
                <a:latin typeface="Arial MT"/>
                <a:cs typeface="Arial MT"/>
              </a:rPr>
              <a:t>will</a:t>
            </a:r>
            <a:r>
              <a:rPr sz="1450" spc="-10" dirty="0">
                <a:latin typeface="Arial MT"/>
                <a:cs typeface="Arial MT"/>
              </a:rPr>
              <a:t> </a:t>
            </a:r>
            <a:r>
              <a:rPr sz="1450" spc="5" dirty="0">
                <a:latin typeface="Arial MT"/>
                <a:cs typeface="Arial MT"/>
              </a:rPr>
              <a:t>hold </a:t>
            </a:r>
            <a:r>
              <a:rPr sz="1450" spc="10" dirty="0">
                <a:latin typeface="Arial MT"/>
                <a:cs typeface="Arial MT"/>
              </a:rPr>
              <a:t>the </a:t>
            </a:r>
            <a:r>
              <a:rPr sz="1450" spc="-390" dirty="0">
                <a:latin typeface="Arial MT"/>
                <a:cs typeface="Arial MT"/>
              </a:rPr>
              <a:t> </a:t>
            </a:r>
            <a:r>
              <a:rPr sz="1450" spc="-15" dirty="0">
                <a:latin typeface="Arial MT"/>
                <a:cs typeface="Arial MT"/>
              </a:rPr>
              <a:t>array,</a:t>
            </a:r>
            <a:r>
              <a:rPr sz="1450" spc="180" dirty="0">
                <a:latin typeface="Arial MT"/>
                <a:cs typeface="Arial MT"/>
              </a:rPr>
              <a:t> </a:t>
            </a:r>
            <a:r>
              <a:rPr sz="1450" dirty="0">
                <a:latin typeface="Arial MT"/>
                <a:cs typeface="Arial MT"/>
              </a:rPr>
              <a:t>using</a:t>
            </a:r>
            <a:r>
              <a:rPr sz="1450" spc="105" dirty="0">
                <a:latin typeface="Arial MT"/>
                <a:cs typeface="Arial MT"/>
              </a:rPr>
              <a:t> </a:t>
            </a:r>
            <a:r>
              <a:rPr sz="1450" b="1" spc="20" dirty="0">
                <a:solidFill>
                  <a:srgbClr val="C00000"/>
                </a:solidFill>
                <a:latin typeface="Arial"/>
                <a:cs typeface="Arial"/>
              </a:rPr>
              <a:t>new</a:t>
            </a:r>
            <a:r>
              <a:rPr sz="1450" spc="20" dirty="0">
                <a:latin typeface="Arial MT"/>
                <a:cs typeface="Arial MT"/>
              </a:rPr>
              <a:t>,</a:t>
            </a:r>
            <a:r>
              <a:rPr sz="1450" spc="-20" dirty="0">
                <a:latin typeface="Arial MT"/>
                <a:cs typeface="Arial MT"/>
              </a:rPr>
              <a:t> </a:t>
            </a:r>
            <a:r>
              <a:rPr sz="1450" spc="10" dirty="0">
                <a:latin typeface="Arial MT"/>
                <a:cs typeface="Arial MT"/>
              </a:rPr>
              <a:t>and</a:t>
            </a:r>
            <a:r>
              <a:rPr sz="1450" spc="45" dirty="0">
                <a:latin typeface="Arial MT"/>
                <a:cs typeface="Arial MT"/>
              </a:rPr>
              <a:t> </a:t>
            </a:r>
            <a:r>
              <a:rPr sz="1450" spc="-10" dirty="0">
                <a:latin typeface="Arial MT"/>
                <a:cs typeface="Arial MT"/>
              </a:rPr>
              <a:t>assign</a:t>
            </a:r>
            <a:r>
              <a:rPr sz="1450" spc="125" dirty="0">
                <a:latin typeface="Arial MT"/>
                <a:cs typeface="Arial MT"/>
              </a:rPr>
              <a:t> </a:t>
            </a:r>
            <a:r>
              <a:rPr sz="1450" spc="-20" dirty="0">
                <a:latin typeface="Arial MT"/>
                <a:cs typeface="Arial MT"/>
              </a:rPr>
              <a:t>it</a:t>
            </a:r>
            <a:r>
              <a:rPr sz="1450" spc="65" dirty="0">
                <a:latin typeface="Arial MT"/>
                <a:cs typeface="Arial MT"/>
              </a:rPr>
              <a:t> </a:t>
            </a:r>
            <a:r>
              <a:rPr sz="1450" dirty="0">
                <a:latin typeface="Arial MT"/>
                <a:cs typeface="Arial MT"/>
              </a:rPr>
              <a:t>to</a:t>
            </a:r>
            <a:r>
              <a:rPr sz="1450" spc="45" dirty="0">
                <a:latin typeface="Arial MT"/>
                <a:cs typeface="Arial MT"/>
              </a:rPr>
              <a:t> </a:t>
            </a:r>
            <a:r>
              <a:rPr sz="1450" spc="10" dirty="0">
                <a:latin typeface="Arial MT"/>
                <a:cs typeface="Arial MT"/>
              </a:rPr>
              <a:t>the </a:t>
            </a:r>
            <a:r>
              <a:rPr sz="1450" spc="-5" dirty="0">
                <a:latin typeface="Arial MT"/>
                <a:cs typeface="Arial MT"/>
              </a:rPr>
              <a:t>array</a:t>
            </a:r>
            <a:r>
              <a:rPr sz="1450" spc="130" dirty="0">
                <a:latin typeface="Arial MT"/>
                <a:cs typeface="Arial MT"/>
              </a:rPr>
              <a:t> </a:t>
            </a:r>
            <a:r>
              <a:rPr sz="1450" spc="-10" dirty="0">
                <a:latin typeface="Arial MT"/>
                <a:cs typeface="Arial MT"/>
              </a:rPr>
              <a:t>variable</a:t>
            </a:r>
            <a:endParaRPr sz="1450">
              <a:latin typeface="Arial MT"/>
              <a:cs typeface="Arial MT"/>
            </a:endParaRPr>
          </a:p>
          <a:p>
            <a:pPr marL="194945" indent="-182880">
              <a:lnSpc>
                <a:spcPct val="100000"/>
              </a:lnSpc>
              <a:spcBef>
                <a:spcPts val="409"/>
              </a:spcBef>
              <a:buChar char="•"/>
              <a:tabLst>
                <a:tab pos="195580" algn="l"/>
              </a:tabLst>
            </a:pPr>
            <a:r>
              <a:rPr sz="1700" spc="5" dirty="0">
                <a:latin typeface="Arial MT"/>
                <a:cs typeface="Arial MT"/>
              </a:rPr>
              <a:t>In</a:t>
            </a:r>
            <a:r>
              <a:rPr sz="1700" spc="-40" dirty="0">
                <a:latin typeface="Arial MT"/>
                <a:cs typeface="Arial MT"/>
              </a:rPr>
              <a:t> </a:t>
            </a:r>
            <a:r>
              <a:rPr sz="1700" spc="25" dirty="0">
                <a:latin typeface="Arial MT"/>
                <a:cs typeface="Arial MT"/>
              </a:rPr>
              <a:t>Java</a:t>
            </a:r>
            <a:r>
              <a:rPr sz="1700" spc="-114" dirty="0">
                <a:latin typeface="Arial MT"/>
                <a:cs typeface="Arial MT"/>
              </a:rPr>
              <a:t> </a:t>
            </a:r>
            <a:r>
              <a:rPr sz="1700" spc="5" dirty="0">
                <a:latin typeface="Arial MT"/>
                <a:cs typeface="Arial MT"/>
              </a:rPr>
              <a:t>all</a:t>
            </a:r>
            <a:r>
              <a:rPr sz="1700" spc="-30" dirty="0">
                <a:latin typeface="Arial MT"/>
                <a:cs typeface="Arial MT"/>
              </a:rPr>
              <a:t> </a:t>
            </a:r>
            <a:r>
              <a:rPr sz="1700" spc="-5" dirty="0">
                <a:latin typeface="Arial MT"/>
                <a:cs typeface="Arial MT"/>
              </a:rPr>
              <a:t>arrays</a:t>
            </a:r>
            <a:r>
              <a:rPr sz="1700" spc="-20" dirty="0">
                <a:latin typeface="Arial MT"/>
                <a:cs typeface="Arial MT"/>
              </a:rPr>
              <a:t> </a:t>
            </a:r>
            <a:r>
              <a:rPr sz="1700" dirty="0">
                <a:latin typeface="Arial MT"/>
                <a:cs typeface="Arial MT"/>
              </a:rPr>
              <a:t>are</a:t>
            </a:r>
            <a:r>
              <a:rPr sz="1700" spc="-20" dirty="0">
                <a:latin typeface="Arial MT"/>
                <a:cs typeface="Arial MT"/>
              </a:rPr>
              <a:t> </a:t>
            </a:r>
            <a:r>
              <a:rPr sz="1700" b="1" i="1" spc="5" dirty="0">
                <a:latin typeface="Arial"/>
                <a:cs typeface="Arial"/>
              </a:rPr>
              <a:t>dynamically</a:t>
            </a:r>
            <a:r>
              <a:rPr sz="1700" b="1" i="1" spc="-75" dirty="0">
                <a:latin typeface="Arial"/>
                <a:cs typeface="Arial"/>
              </a:rPr>
              <a:t> </a:t>
            </a:r>
            <a:r>
              <a:rPr sz="1700" b="1" i="1" dirty="0">
                <a:latin typeface="Arial"/>
                <a:cs typeface="Arial"/>
              </a:rPr>
              <a:t>allocated.</a:t>
            </a:r>
            <a:endParaRPr sz="1700">
              <a:latin typeface="Arial"/>
              <a:cs typeface="Arial"/>
            </a:endParaRPr>
          </a:p>
          <a:p>
            <a:pPr marL="194945" marR="283845" indent="-182880">
              <a:lnSpc>
                <a:spcPct val="100000"/>
              </a:lnSpc>
              <a:spcBef>
                <a:spcPts val="434"/>
              </a:spcBef>
              <a:buChar char="•"/>
              <a:tabLst>
                <a:tab pos="195580" algn="l"/>
              </a:tabLst>
            </a:pPr>
            <a:r>
              <a:rPr sz="1700" spc="5" dirty="0">
                <a:latin typeface="Arial MT"/>
                <a:cs typeface="Arial MT"/>
              </a:rPr>
              <a:t>It</a:t>
            </a:r>
            <a:r>
              <a:rPr sz="1700" spc="-25" dirty="0">
                <a:latin typeface="Arial MT"/>
                <a:cs typeface="Arial MT"/>
              </a:rPr>
              <a:t> </a:t>
            </a:r>
            <a:r>
              <a:rPr sz="1700" spc="10" dirty="0">
                <a:latin typeface="Arial MT"/>
                <a:cs typeface="Arial MT"/>
              </a:rPr>
              <a:t>is</a:t>
            </a:r>
            <a:r>
              <a:rPr sz="1700" spc="-10" dirty="0">
                <a:latin typeface="Arial MT"/>
                <a:cs typeface="Arial MT"/>
              </a:rPr>
              <a:t> </a:t>
            </a:r>
            <a:r>
              <a:rPr sz="1700" spc="10" dirty="0">
                <a:latin typeface="Arial MT"/>
                <a:cs typeface="Arial MT"/>
              </a:rPr>
              <a:t>possible</a:t>
            </a:r>
            <a:r>
              <a:rPr sz="1700" spc="-150" dirty="0">
                <a:latin typeface="Arial MT"/>
                <a:cs typeface="Arial MT"/>
              </a:rPr>
              <a:t> </a:t>
            </a:r>
            <a:r>
              <a:rPr sz="1700" spc="5" dirty="0">
                <a:latin typeface="Arial MT"/>
                <a:cs typeface="Arial MT"/>
              </a:rPr>
              <a:t>to</a:t>
            </a:r>
            <a:r>
              <a:rPr sz="1700" spc="10" dirty="0">
                <a:latin typeface="Arial MT"/>
                <a:cs typeface="Arial MT"/>
              </a:rPr>
              <a:t> combine</a:t>
            </a:r>
            <a:r>
              <a:rPr sz="1700" spc="-145" dirty="0">
                <a:latin typeface="Arial MT"/>
                <a:cs typeface="Arial MT"/>
              </a:rPr>
              <a:t> </a:t>
            </a:r>
            <a:r>
              <a:rPr sz="1700" spc="5" dirty="0">
                <a:latin typeface="Arial MT"/>
                <a:cs typeface="Arial MT"/>
              </a:rPr>
              <a:t>the</a:t>
            </a:r>
            <a:r>
              <a:rPr sz="1700" spc="-25" dirty="0">
                <a:latin typeface="Arial MT"/>
                <a:cs typeface="Arial MT"/>
              </a:rPr>
              <a:t> </a:t>
            </a:r>
            <a:r>
              <a:rPr sz="1700" spc="5" dirty="0">
                <a:latin typeface="Arial MT"/>
                <a:cs typeface="Arial MT"/>
              </a:rPr>
              <a:t>declaration</a:t>
            </a:r>
            <a:r>
              <a:rPr sz="1700" spc="-105" dirty="0">
                <a:latin typeface="Arial MT"/>
                <a:cs typeface="Arial MT"/>
              </a:rPr>
              <a:t> </a:t>
            </a:r>
            <a:r>
              <a:rPr sz="1700" spc="5" dirty="0">
                <a:latin typeface="Arial MT"/>
                <a:cs typeface="Arial MT"/>
              </a:rPr>
              <a:t>of</a:t>
            </a:r>
            <a:r>
              <a:rPr sz="1700" spc="-30" dirty="0">
                <a:latin typeface="Arial MT"/>
                <a:cs typeface="Arial MT"/>
              </a:rPr>
              <a:t> </a:t>
            </a:r>
            <a:r>
              <a:rPr sz="1700" spc="5" dirty="0">
                <a:latin typeface="Arial MT"/>
                <a:cs typeface="Arial MT"/>
              </a:rPr>
              <a:t>the</a:t>
            </a:r>
            <a:r>
              <a:rPr sz="1700" spc="-25" dirty="0">
                <a:latin typeface="Arial MT"/>
                <a:cs typeface="Arial MT"/>
              </a:rPr>
              <a:t> </a:t>
            </a:r>
            <a:r>
              <a:rPr sz="1700" spc="-5" dirty="0">
                <a:latin typeface="Arial MT"/>
                <a:cs typeface="Arial MT"/>
              </a:rPr>
              <a:t>array </a:t>
            </a:r>
            <a:r>
              <a:rPr sz="1700" spc="-459" dirty="0">
                <a:latin typeface="Arial MT"/>
                <a:cs typeface="Arial MT"/>
              </a:rPr>
              <a:t> </a:t>
            </a:r>
            <a:r>
              <a:rPr sz="1700" spc="10" dirty="0">
                <a:latin typeface="Arial MT"/>
                <a:cs typeface="Arial MT"/>
              </a:rPr>
              <a:t>variable</a:t>
            </a:r>
            <a:r>
              <a:rPr sz="1700" spc="-114" dirty="0">
                <a:latin typeface="Arial MT"/>
                <a:cs typeface="Arial MT"/>
              </a:rPr>
              <a:t> </a:t>
            </a:r>
            <a:r>
              <a:rPr sz="1700" spc="-10" dirty="0">
                <a:latin typeface="Arial MT"/>
                <a:cs typeface="Arial MT"/>
              </a:rPr>
              <a:t>with</a:t>
            </a:r>
            <a:r>
              <a:rPr sz="1700" spc="45" dirty="0">
                <a:latin typeface="Arial MT"/>
                <a:cs typeface="Arial MT"/>
              </a:rPr>
              <a:t> </a:t>
            </a:r>
            <a:r>
              <a:rPr sz="1700" spc="5" dirty="0">
                <a:latin typeface="Arial MT"/>
                <a:cs typeface="Arial MT"/>
              </a:rPr>
              <a:t>the</a:t>
            </a:r>
            <a:r>
              <a:rPr sz="1700" spc="-30" dirty="0">
                <a:latin typeface="Arial MT"/>
                <a:cs typeface="Arial MT"/>
              </a:rPr>
              <a:t> </a:t>
            </a:r>
            <a:r>
              <a:rPr sz="1700" spc="5" dirty="0">
                <a:latin typeface="Arial MT"/>
                <a:cs typeface="Arial MT"/>
              </a:rPr>
              <a:t>allocation.</a:t>
            </a:r>
            <a:endParaRPr sz="1700">
              <a:latin typeface="Arial MT"/>
              <a:cs typeface="Arial MT"/>
            </a:endParaRPr>
          </a:p>
        </p:txBody>
      </p:sp>
      <p:sp>
        <p:nvSpPr>
          <p:cNvPr id="4" name="object 4"/>
          <p:cNvSpPr txBox="1"/>
          <p:nvPr/>
        </p:nvSpPr>
        <p:spPr>
          <a:xfrm>
            <a:off x="364661" y="3174773"/>
            <a:ext cx="1749425" cy="615950"/>
          </a:xfrm>
          <a:prstGeom prst="rect">
            <a:avLst/>
          </a:prstGeom>
        </p:spPr>
        <p:txBody>
          <a:bodyPr vert="horz" wrap="square" lIns="0" tIns="70485" rIns="0" bIns="0" rtlCol="0">
            <a:spAutoFit/>
          </a:bodyPr>
          <a:lstStyle/>
          <a:p>
            <a:pPr marL="12700">
              <a:lnSpc>
                <a:spcPct val="100000"/>
              </a:lnSpc>
              <a:spcBef>
                <a:spcPts val="555"/>
              </a:spcBef>
            </a:pPr>
            <a:r>
              <a:rPr sz="1700" spc="5" dirty="0">
                <a:latin typeface="Arial MT"/>
                <a:cs typeface="Arial MT"/>
              </a:rPr>
              <a:t>E.g.</a:t>
            </a:r>
            <a:endParaRPr sz="1700">
              <a:latin typeface="Arial MT"/>
              <a:cs typeface="Arial MT"/>
            </a:endParaRPr>
          </a:p>
          <a:p>
            <a:pPr marL="255904">
              <a:lnSpc>
                <a:spcPct val="100000"/>
              </a:lnSpc>
              <a:spcBef>
                <a:spcPts val="405"/>
              </a:spcBef>
            </a:pPr>
            <a:r>
              <a:rPr sz="1450" spc="-5" dirty="0">
                <a:latin typeface="Arial MT"/>
                <a:cs typeface="Arial MT"/>
              </a:rPr>
              <a:t>int</a:t>
            </a:r>
            <a:r>
              <a:rPr sz="1450" spc="40" dirty="0">
                <a:latin typeface="Arial MT"/>
                <a:cs typeface="Arial MT"/>
              </a:rPr>
              <a:t> </a:t>
            </a:r>
            <a:r>
              <a:rPr sz="1450" dirty="0">
                <a:latin typeface="Arial MT"/>
                <a:cs typeface="Arial MT"/>
              </a:rPr>
              <a:t>a=</a:t>
            </a:r>
            <a:r>
              <a:rPr sz="1450" spc="30" dirty="0">
                <a:latin typeface="Arial MT"/>
                <a:cs typeface="Arial MT"/>
              </a:rPr>
              <a:t> </a:t>
            </a:r>
            <a:r>
              <a:rPr sz="1450" spc="10" dirty="0">
                <a:latin typeface="Arial MT"/>
                <a:cs typeface="Arial MT"/>
              </a:rPr>
              <a:t>new</a:t>
            </a:r>
            <a:r>
              <a:rPr sz="1450" spc="20" dirty="0">
                <a:latin typeface="Arial MT"/>
                <a:cs typeface="Arial MT"/>
              </a:rPr>
              <a:t> </a:t>
            </a:r>
            <a:r>
              <a:rPr sz="1450" dirty="0">
                <a:latin typeface="Arial MT"/>
                <a:cs typeface="Arial MT"/>
              </a:rPr>
              <a:t>int[12];</a:t>
            </a:r>
            <a:endParaRPr sz="1450">
              <a:latin typeface="Arial MT"/>
              <a:cs typeface="Arial MT"/>
            </a:endParaRPr>
          </a:p>
        </p:txBody>
      </p:sp>
      <p:sp>
        <p:nvSpPr>
          <p:cNvPr id="6" name="object 6"/>
          <p:cNvSpPr txBox="1"/>
          <p:nvPr/>
        </p:nvSpPr>
        <p:spPr>
          <a:xfrm>
            <a:off x="3461370" y="3349246"/>
            <a:ext cx="1417955" cy="638810"/>
          </a:xfrm>
          <a:prstGeom prst="rect">
            <a:avLst/>
          </a:prstGeom>
          <a:ln w="5073">
            <a:solidFill>
              <a:srgbClr val="0065CC"/>
            </a:solidFill>
          </a:ln>
        </p:spPr>
        <p:txBody>
          <a:bodyPr vert="horz" wrap="square" lIns="0" tIns="26669" rIns="0" bIns="0" rtlCol="0">
            <a:spAutoFit/>
          </a:bodyPr>
          <a:lstStyle/>
          <a:p>
            <a:pPr marL="294640">
              <a:lnSpc>
                <a:spcPct val="100000"/>
              </a:lnSpc>
              <a:spcBef>
                <a:spcPts val="209"/>
              </a:spcBef>
            </a:pPr>
            <a:r>
              <a:rPr sz="1250" spc="10" dirty="0">
                <a:latin typeface="Arial MT"/>
                <a:cs typeface="Arial MT"/>
              </a:rPr>
              <a:t>int</a:t>
            </a:r>
            <a:r>
              <a:rPr sz="1250" spc="-35" dirty="0">
                <a:latin typeface="Arial MT"/>
                <a:cs typeface="Arial MT"/>
              </a:rPr>
              <a:t> </a:t>
            </a:r>
            <a:r>
              <a:rPr sz="1250" dirty="0">
                <a:latin typeface="Arial MT"/>
                <a:cs typeface="Arial MT"/>
              </a:rPr>
              <a:t>a[];</a:t>
            </a:r>
            <a:endParaRPr sz="1250">
              <a:latin typeface="Arial MT"/>
              <a:cs typeface="Arial MT"/>
            </a:endParaRPr>
          </a:p>
          <a:p>
            <a:pPr marL="294640">
              <a:lnSpc>
                <a:spcPct val="100000"/>
              </a:lnSpc>
              <a:spcBef>
                <a:spcPts val="55"/>
              </a:spcBef>
            </a:pPr>
            <a:r>
              <a:rPr sz="1250" spc="-5" dirty="0">
                <a:latin typeface="Arial MT"/>
                <a:cs typeface="Arial MT"/>
              </a:rPr>
              <a:t>a= </a:t>
            </a:r>
            <a:r>
              <a:rPr sz="1250" spc="5" dirty="0">
                <a:latin typeface="Arial MT"/>
                <a:cs typeface="Arial MT"/>
              </a:rPr>
              <a:t>new</a:t>
            </a:r>
            <a:r>
              <a:rPr sz="1250" spc="20" dirty="0">
                <a:latin typeface="Arial MT"/>
                <a:cs typeface="Arial MT"/>
              </a:rPr>
              <a:t> </a:t>
            </a:r>
            <a:r>
              <a:rPr sz="1250" spc="10" dirty="0">
                <a:latin typeface="Arial MT"/>
                <a:cs typeface="Arial MT"/>
              </a:rPr>
              <a:t>int[12];</a:t>
            </a:r>
            <a:endParaRPr sz="1250">
              <a:latin typeface="Arial MT"/>
              <a:cs typeface="Arial MT"/>
            </a:endParaRPr>
          </a:p>
        </p:txBody>
      </p:sp>
      <p:grpSp>
        <p:nvGrpSpPr>
          <p:cNvPr id="7" name="object 7"/>
          <p:cNvGrpSpPr/>
          <p:nvPr/>
        </p:nvGrpSpPr>
        <p:grpSpPr>
          <a:xfrm>
            <a:off x="-1387" y="628242"/>
            <a:ext cx="6498590" cy="3660140"/>
            <a:chOff x="-1387" y="628242"/>
            <a:chExt cx="6498590" cy="3660140"/>
          </a:xfrm>
        </p:grpSpPr>
        <p:sp>
          <p:nvSpPr>
            <p:cNvPr id="8" name="object 8"/>
            <p:cNvSpPr/>
            <p:nvPr/>
          </p:nvSpPr>
          <p:spPr>
            <a:xfrm>
              <a:off x="2134324" y="3647064"/>
              <a:ext cx="1327150" cy="60960"/>
            </a:xfrm>
            <a:custGeom>
              <a:avLst/>
              <a:gdLst/>
              <a:ahLst/>
              <a:cxnLst/>
              <a:rect l="l" t="t" r="r" b="b"/>
              <a:pathLst>
                <a:path w="1327150" h="60960">
                  <a:moveTo>
                    <a:pt x="51897" y="0"/>
                  </a:moveTo>
                  <a:lnTo>
                    <a:pt x="0" y="30764"/>
                  </a:lnTo>
                  <a:lnTo>
                    <a:pt x="52303" y="60804"/>
                  </a:lnTo>
                  <a:lnTo>
                    <a:pt x="55952" y="59823"/>
                  </a:lnTo>
                  <a:lnTo>
                    <a:pt x="59196" y="54160"/>
                  </a:lnTo>
                  <a:lnTo>
                    <a:pt x="58190" y="50542"/>
                  </a:lnTo>
                  <a:lnTo>
                    <a:pt x="33899" y="36599"/>
                  </a:lnTo>
                  <a:lnTo>
                    <a:pt x="11758" y="36599"/>
                  </a:lnTo>
                  <a:lnTo>
                    <a:pt x="11693" y="24771"/>
                  </a:lnTo>
                  <a:lnTo>
                    <a:pt x="33546" y="24618"/>
                  </a:lnTo>
                  <a:lnTo>
                    <a:pt x="57914" y="10168"/>
                  </a:lnTo>
                  <a:lnTo>
                    <a:pt x="58855" y="6539"/>
                  </a:lnTo>
                  <a:lnTo>
                    <a:pt x="55482" y="926"/>
                  </a:lnTo>
                  <a:lnTo>
                    <a:pt x="51897" y="0"/>
                  </a:lnTo>
                  <a:close/>
                </a:path>
                <a:path w="1327150" h="60960">
                  <a:moveTo>
                    <a:pt x="33546" y="24618"/>
                  </a:moveTo>
                  <a:lnTo>
                    <a:pt x="11693" y="24771"/>
                  </a:lnTo>
                  <a:lnTo>
                    <a:pt x="11758" y="36599"/>
                  </a:lnTo>
                  <a:lnTo>
                    <a:pt x="33632" y="36446"/>
                  </a:lnTo>
                  <a:lnTo>
                    <a:pt x="32453" y="35769"/>
                  </a:lnTo>
                  <a:lnTo>
                    <a:pt x="14742" y="35769"/>
                  </a:lnTo>
                  <a:lnTo>
                    <a:pt x="14661" y="25556"/>
                  </a:lnTo>
                  <a:lnTo>
                    <a:pt x="31964" y="25556"/>
                  </a:lnTo>
                  <a:lnTo>
                    <a:pt x="33546" y="24618"/>
                  </a:lnTo>
                  <a:close/>
                </a:path>
                <a:path w="1327150" h="60960">
                  <a:moveTo>
                    <a:pt x="33632" y="36446"/>
                  </a:moveTo>
                  <a:lnTo>
                    <a:pt x="11758" y="36599"/>
                  </a:lnTo>
                  <a:lnTo>
                    <a:pt x="33899" y="36599"/>
                  </a:lnTo>
                  <a:lnTo>
                    <a:pt x="33632" y="36446"/>
                  </a:lnTo>
                  <a:close/>
                </a:path>
                <a:path w="1327150" h="60960">
                  <a:moveTo>
                    <a:pt x="1326981" y="15559"/>
                  </a:moveTo>
                  <a:lnTo>
                    <a:pt x="33546" y="24618"/>
                  </a:lnTo>
                  <a:lnTo>
                    <a:pt x="23453" y="30603"/>
                  </a:lnTo>
                  <a:lnTo>
                    <a:pt x="33632" y="36446"/>
                  </a:lnTo>
                  <a:lnTo>
                    <a:pt x="1327046" y="27387"/>
                  </a:lnTo>
                  <a:lnTo>
                    <a:pt x="1326981" y="15559"/>
                  </a:lnTo>
                  <a:close/>
                </a:path>
                <a:path w="1327150" h="60960">
                  <a:moveTo>
                    <a:pt x="14661" y="25556"/>
                  </a:moveTo>
                  <a:lnTo>
                    <a:pt x="14742" y="35769"/>
                  </a:lnTo>
                  <a:lnTo>
                    <a:pt x="23453" y="30603"/>
                  </a:lnTo>
                  <a:lnTo>
                    <a:pt x="14661" y="25556"/>
                  </a:lnTo>
                  <a:close/>
                </a:path>
                <a:path w="1327150" h="60960">
                  <a:moveTo>
                    <a:pt x="23453" y="30603"/>
                  </a:moveTo>
                  <a:lnTo>
                    <a:pt x="14742" y="35769"/>
                  </a:lnTo>
                  <a:lnTo>
                    <a:pt x="32453" y="35769"/>
                  </a:lnTo>
                  <a:lnTo>
                    <a:pt x="23453" y="30603"/>
                  </a:lnTo>
                  <a:close/>
                </a:path>
                <a:path w="1327150" h="60960">
                  <a:moveTo>
                    <a:pt x="31964" y="25556"/>
                  </a:moveTo>
                  <a:lnTo>
                    <a:pt x="14661" y="25556"/>
                  </a:lnTo>
                  <a:lnTo>
                    <a:pt x="23453" y="30603"/>
                  </a:lnTo>
                  <a:lnTo>
                    <a:pt x="31964" y="25556"/>
                  </a:lnTo>
                  <a:close/>
                </a:path>
              </a:pathLst>
            </a:custGeom>
            <a:solidFill>
              <a:srgbClr val="000000"/>
            </a:solidFill>
          </p:spPr>
          <p:txBody>
            <a:bodyPr wrap="square" lIns="0" tIns="0" rIns="0" bIns="0" rtlCol="0"/>
            <a:lstStyle/>
            <a:p>
              <a:endParaRPr/>
            </a:p>
          </p:txBody>
        </p:sp>
        <p:sp>
          <p:nvSpPr>
            <p:cNvPr id="9" name="object 9"/>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40784" y="268881"/>
            <a:ext cx="2124816" cy="307134"/>
          </a:xfrm>
          <a:prstGeom prst="rect">
            <a:avLst/>
          </a:prstGeom>
        </p:spPr>
        <p:txBody>
          <a:bodyPr vert="horz" wrap="square" lIns="0" tIns="14604" rIns="0" bIns="0" rtlCol="0">
            <a:spAutoFit/>
          </a:bodyPr>
          <a:lstStyle/>
          <a:p>
            <a:pPr marL="12700">
              <a:lnSpc>
                <a:spcPct val="100000"/>
              </a:lnSpc>
              <a:spcBef>
                <a:spcPts val="114"/>
              </a:spcBef>
            </a:pPr>
            <a:r>
              <a:rPr spc="5" dirty="0">
                <a:solidFill>
                  <a:schemeClr val="tx1"/>
                </a:solidFill>
              </a:rPr>
              <a:t>Store</a:t>
            </a:r>
            <a:r>
              <a:rPr spc="-30" dirty="0">
                <a:solidFill>
                  <a:schemeClr val="tx1"/>
                </a:solidFill>
              </a:rPr>
              <a:t> </a:t>
            </a:r>
            <a:r>
              <a:rPr spc="10" dirty="0">
                <a:solidFill>
                  <a:schemeClr val="tx1"/>
                </a:solidFill>
              </a:rPr>
              <a:t>value</a:t>
            </a:r>
            <a:r>
              <a:rPr spc="-65" dirty="0">
                <a:solidFill>
                  <a:schemeClr val="tx1"/>
                </a:solidFill>
              </a:rPr>
              <a:t> </a:t>
            </a:r>
            <a:r>
              <a:rPr spc="-10" dirty="0">
                <a:solidFill>
                  <a:schemeClr val="tx1"/>
                </a:solidFill>
              </a:rPr>
              <a:t>in</a:t>
            </a:r>
            <a:r>
              <a:rPr spc="10" dirty="0">
                <a:solidFill>
                  <a:schemeClr val="tx1"/>
                </a:solidFill>
              </a:rPr>
              <a:t> array</a:t>
            </a:r>
          </a:p>
        </p:txBody>
      </p:sp>
      <p:sp>
        <p:nvSpPr>
          <p:cNvPr id="3" name="object 3"/>
          <p:cNvSpPr txBox="1"/>
          <p:nvPr/>
        </p:nvSpPr>
        <p:spPr>
          <a:xfrm>
            <a:off x="364664" y="750829"/>
            <a:ext cx="3449954" cy="2917190"/>
          </a:xfrm>
          <a:prstGeom prst="rect">
            <a:avLst/>
          </a:prstGeom>
        </p:spPr>
        <p:txBody>
          <a:bodyPr vert="horz" wrap="square" lIns="0" tIns="67310" rIns="0" bIns="0" rtlCol="0">
            <a:spAutoFit/>
          </a:bodyPr>
          <a:lstStyle/>
          <a:p>
            <a:pPr marL="12700">
              <a:lnSpc>
                <a:spcPct val="100000"/>
              </a:lnSpc>
              <a:spcBef>
                <a:spcPts val="530"/>
              </a:spcBef>
            </a:pPr>
            <a:r>
              <a:rPr sz="1700" spc="15" dirty="0">
                <a:latin typeface="Arial MT"/>
                <a:cs typeface="Arial MT"/>
              </a:rPr>
              <a:t>class</a:t>
            </a:r>
            <a:r>
              <a:rPr sz="1700" spc="-120" dirty="0">
                <a:latin typeface="Arial MT"/>
                <a:cs typeface="Arial MT"/>
              </a:rPr>
              <a:t> </a:t>
            </a:r>
            <a:r>
              <a:rPr sz="1700" dirty="0">
                <a:latin typeface="Arial MT"/>
                <a:cs typeface="Arial MT"/>
              </a:rPr>
              <a:t>Array</a:t>
            </a:r>
            <a:r>
              <a:rPr sz="1700" spc="-45" dirty="0">
                <a:latin typeface="Arial MT"/>
                <a:cs typeface="Arial MT"/>
              </a:rPr>
              <a:t> </a:t>
            </a:r>
            <a:r>
              <a:rPr sz="1700" spc="5" dirty="0">
                <a:latin typeface="Arial MT"/>
                <a:cs typeface="Arial MT"/>
              </a:rPr>
              <a:t>{</a:t>
            </a:r>
            <a:endParaRPr sz="1700">
              <a:latin typeface="Arial MT"/>
              <a:cs typeface="Arial MT"/>
            </a:endParaRPr>
          </a:p>
          <a:p>
            <a:pPr marL="12700">
              <a:lnSpc>
                <a:spcPct val="100000"/>
              </a:lnSpc>
              <a:spcBef>
                <a:spcPts val="440"/>
              </a:spcBef>
            </a:pPr>
            <a:r>
              <a:rPr sz="1700" spc="10" dirty="0">
                <a:latin typeface="Arial MT"/>
                <a:cs typeface="Arial MT"/>
              </a:rPr>
              <a:t>public</a:t>
            </a:r>
            <a:r>
              <a:rPr sz="1700" spc="-100" dirty="0">
                <a:latin typeface="Arial MT"/>
                <a:cs typeface="Arial MT"/>
              </a:rPr>
              <a:t> </a:t>
            </a:r>
            <a:r>
              <a:rPr sz="1700" spc="10" dirty="0">
                <a:latin typeface="Arial MT"/>
                <a:cs typeface="Arial MT"/>
              </a:rPr>
              <a:t>static</a:t>
            </a:r>
            <a:r>
              <a:rPr sz="1700" spc="-100" dirty="0">
                <a:latin typeface="Arial MT"/>
                <a:cs typeface="Arial MT"/>
              </a:rPr>
              <a:t> </a:t>
            </a:r>
            <a:r>
              <a:rPr sz="1700" spc="20" dirty="0">
                <a:latin typeface="Arial MT"/>
                <a:cs typeface="Arial MT"/>
              </a:rPr>
              <a:t>void</a:t>
            </a:r>
            <a:r>
              <a:rPr sz="1700" spc="-114" dirty="0">
                <a:latin typeface="Arial MT"/>
                <a:cs typeface="Arial MT"/>
              </a:rPr>
              <a:t> </a:t>
            </a:r>
            <a:r>
              <a:rPr sz="1700" spc="5" dirty="0">
                <a:latin typeface="Arial MT"/>
                <a:cs typeface="Arial MT"/>
              </a:rPr>
              <a:t>main(String</a:t>
            </a:r>
            <a:r>
              <a:rPr sz="1700" spc="-114" dirty="0">
                <a:latin typeface="Arial MT"/>
                <a:cs typeface="Arial MT"/>
              </a:rPr>
              <a:t> </a:t>
            </a:r>
            <a:r>
              <a:rPr sz="1700" spc="5" dirty="0">
                <a:latin typeface="Arial MT"/>
                <a:cs typeface="Arial MT"/>
              </a:rPr>
              <a:t>args[])</a:t>
            </a:r>
            <a:endParaRPr sz="1700">
              <a:latin typeface="Arial MT"/>
              <a:cs typeface="Arial MT"/>
            </a:endParaRPr>
          </a:p>
          <a:p>
            <a:pPr marL="194945">
              <a:lnSpc>
                <a:spcPct val="100000"/>
              </a:lnSpc>
              <a:spcBef>
                <a:spcPts val="400"/>
              </a:spcBef>
            </a:pPr>
            <a:r>
              <a:rPr sz="1700" spc="5" dirty="0">
                <a:latin typeface="Arial MT"/>
                <a:cs typeface="Arial MT"/>
              </a:rPr>
              <a:t>{</a:t>
            </a:r>
            <a:endParaRPr sz="1700">
              <a:latin typeface="Arial MT"/>
              <a:cs typeface="Arial MT"/>
            </a:endParaRPr>
          </a:p>
          <a:p>
            <a:pPr marL="499109">
              <a:lnSpc>
                <a:spcPct val="100000"/>
              </a:lnSpc>
              <a:spcBef>
                <a:spcPts val="365"/>
              </a:spcBef>
            </a:pPr>
            <a:r>
              <a:rPr sz="1250" b="1" spc="15" dirty="0">
                <a:latin typeface="Arial"/>
                <a:cs typeface="Arial"/>
              </a:rPr>
              <a:t>int</a:t>
            </a:r>
            <a:r>
              <a:rPr sz="1250" b="1" spc="-60" dirty="0">
                <a:latin typeface="Arial"/>
                <a:cs typeface="Arial"/>
              </a:rPr>
              <a:t> </a:t>
            </a:r>
            <a:r>
              <a:rPr sz="1250" b="1" spc="15" dirty="0">
                <a:latin typeface="Arial"/>
                <a:cs typeface="Arial"/>
              </a:rPr>
              <a:t>a[];</a:t>
            </a:r>
            <a:endParaRPr sz="1250">
              <a:latin typeface="Arial"/>
              <a:cs typeface="Arial"/>
            </a:endParaRPr>
          </a:p>
          <a:p>
            <a:pPr marL="499109">
              <a:lnSpc>
                <a:spcPct val="100000"/>
              </a:lnSpc>
              <a:spcBef>
                <a:spcPts val="340"/>
              </a:spcBef>
            </a:pPr>
            <a:r>
              <a:rPr sz="1250" b="1" spc="15" dirty="0">
                <a:latin typeface="Arial"/>
                <a:cs typeface="Arial"/>
              </a:rPr>
              <a:t>a</a:t>
            </a:r>
            <a:r>
              <a:rPr sz="1250" b="1" spc="-10" dirty="0">
                <a:latin typeface="Arial"/>
                <a:cs typeface="Arial"/>
              </a:rPr>
              <a:t> </a:t>
            </a:r>
            <a:r>
              <a:rPr sz="1250" b="1" spc="15" dirty="0">
                <a:latin typeface="Arial"/>
                <a:cs typeface="Arial"/>
              </a:rPr>
              <a:t>=</a:t>
            </a:r>
            <a:r>
              <a:rPr sz="1250" b="1" spc="-35" dirty="0">
                <a:latin typeface="Arial"/>
                <a:cs typeface="Arial"/>
              </a:rPr>
              <a:t> </a:t>
            </a:r>
            <a:r>
              <a:rPr sz="1250" b="1" spc="10" dirty="0">
                <a:latin typeface="Arial"/>
                <a:cs typeface="Arial"/>
              </a:rPr>
              <a:t>new</a:t>
            </a:r>
            <a:r>
              <a:rPr sz="1250" b="1" spc="-10" dirty="0">
                <a:latin typeface="Arial"/>
                <a:cs typeface="Arial"/>
              </a:rPr>
              <a:t> </a:t>
            </a:r>
            <a:r>
              <a:rPr sz="1250" b="1" spc="15" dirty="0">
                <a:latin typeface="Arial"/>
                <a:cs typeface="Arial"/>
              </a:rPr>
              <a:t>int[4];</a:t>
            </a:r>
            <a:endParaRPr sz="1250">
              <a:latin typeface="Arial"/>
              <a:cs typeface="Arial"/>
            </a:endParaRPr>
          </a:p>
          <a:p>
            <a:pPr marL="499109">
              <a:lnSpc>
                <a:spcPct val="100000"/>
              </a:lnSpc>
              <a:spcBef>
                <a:spcPts val="335"/>
              </a:spcBef>
            </a:pPr>
            <a:r>
              <a:rPr sz="1250" spc="5" dirty="0">
                <a:latin typeface="Arial MT"/>
                <a:cs typeface="Arial MT"/>
              </a:rPr>
              <a:t>a[0]</a:t>
            </a:r>
            <a:r>
              <a:rPr sz="1250" spc="-40" dirty="0">
                <a:latin typeface="Arial MT"/>
                <a:cs typeface="Arial MT"/>
              </a:rPr>
              <a:t> </a:t>
            </a:r>
            <a:r>
              <a:rPr sz="1250" spc="15" dirty="0">
                <a:latin typeface="Arial MT"/>
                <a:cs typeface="Arial MT"/>
              </a:rPr>
              <a:t>=</a:t>
            </a:r>
            <a:r>
              <a:rPr sz="1250" spc="-30" dirty="0">
                <a:latin typeface="Arial MT"/>
                <a:cs typeface="Arial MT"/>
              </a:rPr>
              <a:t> </a:t>
            </a:r>
            <a:r>
              <a:rPr sz="1250" spc="15" dirty="0">
                <a:latin typeface="Arial MT"/>
                <a:cs typeface="Arial MT"/>
              </a:rPr>
              <a:t>1;</a:t>
            </a:r>
            <a:endParaRPr sz="1250">
              <a:latin typeface="Arial MT"/>
              <a:cs typeface="Arial MT"/>
            </a:endParaRPr>
          </a:p>
          <a:p>
            <a:pPr marL="499109">
              <a:lnSpc>
                <a:spcPct val="100000"/>
              </a:lnSpc>
              <a:spcBef>
                <a:spcPts val="340"/>
              </a:spcBef>
            </a:pPr>
            <a:r>
              <a:rPr sz="1250" spc="5" dirty="0">
                <a:latin typeface="Arial MT"/>
                <a:cs typeface="Arial MT"/>
              </a:rPr>
              <a:t>a[1]</a:t>
            </a:r>
            <a:r>
              <a:rPr sz="1250" spc="-40" dirty="0">
                <a:latin typeface="Arial MT"/>
                <a:cs typeface="Arial MT"/>
              </a:rPr>
              <a:t> </a:t>
            </a:r>
            <a:r>
              <a:rPr sz="1250" spc="15" dirty="0">
                <a:latin typeface="Arial MT"/>
                <a:cs typeface="Arial MT"/>
              </a:rPr>
              <a:t>=</a:t>
            </a:r>
            <a:r>
              <a:rPr sz="1250" spc="-30" dirty="0">
                <a:latin typeface="Arial MT"/>
                <a:cs typeface="Arial MT"/>
              </a:rPr>
              <a:t> </a:t>
            </a:r>
            <a:r>
              <a:rPr sz="1250" spc="15" dirty="0">
                <a:latin typeface="Arial MT"/>
                <a:cs typeface="Arial MT"/>
              </a:rPr>
              <a:t>3;</a:t>
            </a:r>
            <a:endParaRPr sz="1250">
              <a:latin typeface="Arial MT"/>
              <a:cs typeface="Arial MT"/>
            </a:endParaRPr>
          </a:p>
          <a:p>
            <a:pPr marL="499109">
              <a:lnSpc>
                <a:spcPct val="100000"/>
              </a:lnSpc>
              <a:spcBef>
                <a:spcPts val="340"/>
              </a:spcBef>
            </a:pPr>
            <a:r>
              <a:rPr sz="1250" spc="5" dirty="0">
                <a:latin typeface="Arial MT"/>
                <a:cs typeface="Arial MT"/>
              </a:rPr>
              <a:t>a[2]</a:t>
            </a:r>
            <a:r>
              <a:rPr sz="1250" spc="-40" dirty="0">
                <a:latin typeface="Arial MT"/>
                <a:cs typeface="Arial MT"/>
              </a:rPr>
              <a:t> </a:t>
            </a:r>
            <a:r>
              <a:rPr sz="1250" spc="15" dirty="0">
                <a:latin typeface="Arial MT"/>
                <a:cs typeface="Arial MT"/>
              </a:rPr>
              <a:t>=</a:t>
            </a:r>
            <a:r>
              <a:rPr sz="1250" spc="-30" dirty="0">
                <a:latin typeface="Arial MT"/>
                <a:cs typeface="Arial MT"/>
              </a:rPr>
              <a:t> </a:t>
            </a:r>
            <a:r>
              <a:rPr sz="1250" spc="15" dirty="0">
                <a:latin typeface="Arial MT"/>
                <a:cs typeface="Arial MT"/>
              </a:rPr>
              <a:t>2;</a:t>
            </a:r>
            <a:endParaRPr sz="1250">
              <a:latin typeface="Arial MT"/>
              <a:cs typeface="Arial MT"/>
            </a:endParaRPr>
          </a:p>
          <a:p>
            <a:pPr marL="499109">
              <a:lnSpc>
                <a:spcPct val="100000"/>
              </a:lnSpc>
              <a:spcBef>
                <a:spcPts val="335"/>
              </a:spcBef>
            </a:pPr>
            <a:r>
              <a:rPr sz="1250" spc="10" dirty="0">
                <a:latin typeface="Arial MT"/>
                <a:cs typeface="Arial MT"/>
              </a:rPr>
              <a:t>a[3]=5;</a:t>
            </a:r>
            <a:endParaRPr sz="1250">
              <a:latin typeface="Arial MT"/>
              <a:cs typeface="Arial MT"/>
            </a:endParaRPr>
          </a:p>
          <a:p>
            <a:pPr marL="255904">
              <a:lnSpc>
                <a:spcPct val="100000"/>
              </a:lnSpc>
              <a:spcBef>
                <a:spcPts val="420"/>
              </a:spcBef>
            </a:pPr>
            <a:r>
              <a:rPr sz="1450" spc="5" dirty="0">
                <a:latin typeface="Arial MT"/>
                <a:cs typeface="Arial MT"/>
              </a:rPr>
              <a:t>}</a:t>
            </a:r>
            <a:endParaRPr sz="1450">
              <a:latin typeface="Arial MT"/>
              <a:cs typeface="Arial MT"/>
            </a:endParaRPr>
          </a:p>
          <a:p>
            <a:pPr marL="255904">
              <a:lnSpc>
                <a:spcPct val="100000"/>
              </a:lnSpc>
              <a:spcBef>
                <a:spcPts val="420"/>
              </a:spcBef>
            </a:pPr>
            <a:r>
              <a:rPr sz="1450" spc="5" dirty="0">
                <a:latin typeface="Arial MT"/>
                <a:cs typeface="Arial MT"/>
              </a:rPr>
              <a:t>}</a:t>
            </a:r>
            <a:endParaRPr sz="1450">
              <a:latin typeface="Arial MT"/>
              <a:cs typeface="Arial MT"/>
            </a:endParaRPr>
          </a:p>
        </p:txBody>
      </p:sp>
      <p:sp>
        <p:nvSpPr>
          <p:cNvPr id="5" name="object 5"/>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3400" y="268881"/>
            <a:ext cx="1890761" cy="307134"/>
          </a:xfrm>
          <a:prstGeom prst="rect">
            <a:avLst/>
          </a:prstGeom>
        </p:spPr>
        <p:txBody>
          <a:bodyPr vert="horz" wrap="square" lIns="0" tIns="14604" rIns="0" bIns="0" rtlCol="0">
            <a:spAutoFit/>
          </a:bodyPr>
          <a:lstStyle/>
          <a:p>
            <a:pPr marL="12700">
              <a:lnSpc>
                <a:spcPct val="100000"/>
              </a:lnSpc>
              <a:spcBef>
                <a:spcPts val="114"/>
              </a:spcBef>
            </a:pPr>
            <a:r>
              <a:rPr spc="5" dirty="0">
                <a:solidFill>
                  <a:schemeClr val="tx1"/>
                </a:solidFill>
              </a:rPr>
              <a:t>Array</a:t>
            </a:r>
            <a:r>
              <a:rPr spc="-40" dirty="0">
                <a:solidFill>
                  <a:schemeClr val="tx1"/>
                </a:solidFill>
              </a:rPr>
              <a:t> </a:t>
            </a:r>
            <a:r>
              <a:rPr spc="-10" dirty="0">
                <a:solidFill>
                  <a:schemeClr val="tx1"/>
                </a:solidFill>
              </a:rPr>
              <a:t>initialization</a:t>
            </a:r>
          </a:p>
        </p:txBody>
      </p:sp>
      <p:sp>
        <p:nvSpPr>
          <p:cNvPr id="3" name="object 3"/>
          <p:cNvSpPr txBox="1"/>
          <p:nvPr/>
        </p:nvSpPr>
        <p:spPr>
          <a:xfrm>
            <a:off x="364664" y="759953"/>
            <a:ext cx="5342255" cy="2705100"/>
          </a:xfrm>
          <a:prstGeom prst="rect">
            <a:avLst/>
          </a:prstGeom>
        </p:spPr>
        <p:txBody>
          <a:bodyPr vert="horz" wrap="square" lIns="0" tIns="64769" rIns="0" bIns="0" rtlCol="0">
            <a:spAutoFit/>
          </a:bodyPr>
          <a:lstStyle/>
          <a:p>
            <a:pPr marL="194945" indent="-182880">
              <a:lnSpc>
                <a:spcPct val="100000"/>
              </a:lnSpc>
              <a:spcBef>
                <a:spcPts val="509"/>
              </a:spcBef>
              <a:buChar char="•"/>
              <a:tabLst>
                <a:tab pos="195580" algn="l"/>
              </a:tabLst>
            </a:pPr>
            <a:r>
              <a:rPr sz="1450" spc="-10" dirty="0">
                <a:latin typeface="Arial MT"/>
                <a:cs typeface="Arial MT"/>
              </a:rPr>
              <a:t>Arrays</a:t>
            </a:r>
            <a:r>
              <a:rPr sz="1450" spc="130" dirty="0">
                <a:latin typeface="Arial MT"/>
                <a:cs typeface="Arial MT"/>
              </a:rPr>
              <a:t> </a:t>
            </a:r>
            <a:r>
              <a:rPr sz="1450" spc="10" dirty="0">
                <a:latin typeface="Arial MT"/>
                <a:cs typeface="Arial MT"/>
              </a:rPr>
              <a:t>can</a:t>
            </a:r>
            <a:r>
              <a:rPr sz="1450" spc="50" dirty="0">
                <a:latin typeface="Arial MT"/>
                <a:cs typeface="Arial MT"/>
              </a:rPr>
              <a:t> </a:t>
            </a:r>
            <a:r>
              <a:rPr sz="1450" spc="20" dirty="0">
                <a:latin typeface="Arial MT"/>
                <a:cs typeface="Arial MT"/>
              </a:rPr>
              <a:t>be</a:t>
            </a:r>
            <a:r>
              <a:rPr sz="1450" spc="15" dirty="0">
                <a:latin typeface="Arial MT"/>
                <a:cs typeface="Arial MT"/>
              </a:rPr>
              <a:t> </a:t>
            </a:r>
            <a:r>
              <a:rPr sz="1450" dirty="0">
                <a:latin typeface="Arial MT"/>
                <a:cs typeface="Arial MT"/>
              </a:rPr>
              <a:t>initialized(give</a:t>
            </a:r>
            <a:r>
              <a:rPr sz="1450" spc="170" dirty="0">
                <a:latin typeface="Arial MT"/>
                <a:cs typeface="Arial MT"/>
              </a:rPr>
              <a:t> </a:t>
            </a:r>
            <a:r>
              <a:rPr sz="1450" spc="-10" dirty="0">
                <a:latin typeface="Arial MT"/>
                <a:cs typeface="Arial MT"/>
              </a:rPr>
              <a:t>values)</a:t>
            </a:r>
            <a:r>
              <a:rPr sz="1450" spc="180" dirty="0">
                <a:latin typeface="Arial MT"/>
                <a:cs typeface="Arial MT"/>
              </a:rPr>
              <a:t> </a:t>
            </a:r>
            <a:r>
              <a:rPr sz="1450" spc="15" dirty="0">
                <a:latin typeface="Arial MT"/>
                <a:cs typeface="Arial MT"/>
              </a:rPr>
              <a:t>when</a:t>
            </a:r>
            <a:r>
              <a:rPr sz="1450" spc="50" dirty="0">
                <a:latin typeface="Arial MT"/>
                <a:cs typeface="Arial MT"/>
              </a:rPr>
              <a:t> </a:t>
            </a:r>
            <a:r>
              <a:rPr sz="1450" spc="5" dirty="0">
                <a:latin typeface="Arial MT"/>
                <a:cs typeface="Arial MT"/>
              </a:rPr>
              <a:t>they</a:t>
            </a:r>
            <a:r>
              <a:rPr sz="1450" spc="55" dirty="0">
                <a:latin typeface="Arial MT"/>
                <a:cs typeface="Arial MT"/>
              </a:rPr>
              <a:t> </a:t>
            </a:r>
            <a:r>
              <a:rPr sz="1450" dirty="0">
                <a:latin typeface="Arial MT"/>
                <a:cs typeface="Arial MT"/>
              </a:rPr>
              <a:t>are</a:t>
            </a:r>
            <a:r>
              <a:rPr sz="1450" spc="90" dirty="0">
                <a:latin typeface="Arial MT"/>
                <a:cs typeface="Arial MT"/>
              </a:rPr>
              <a:t> </a:t>
            </a:r>
            <a:r>
              <a:rPr sz="1450" dirty="0">
                <a:latin typeface="Arial MT"/>
                <a:cs typeface="Arial MT"/>
              </a:rPr>
              <a:t>declared.</a:t>
            </a:r>
          </a:p>
          <a:p>
            <a:pPr marL="194945" marR="166370" indent="-182880">
              <a:lnSpc>
                <a:spcPct val="103299"/>
              </a:lnSpc>
              <a:spcBef>
                <a:spcPts val="360"/>
              </a:spcBef>
              <a:buChar char="•"/>
              <a:tabLst>
                <a:tab pos="195580" algn="l"/>
              </a:tabLst>
            </a:pPr>
            <a:r>
              <a:rPr sz="1450" spc="20" dirty="0">
                <a:latin typeface="Arial MT"/>
                <a:cs typeface="Arial MT"/>
              </a:rPr>
              <a:t>An</a:t>
            </a:r>
            <a:r>
              <a:rPr sz="1450" spc="10" dirty="0">
                <a:latin typeface="Arial MT"/>
                <a:cs typeface="Arial MT"/>
              </a:rPr>
              <a:t> </a:t>
            </a:r>
            <a:r>
              <a:rPr sz="1450" spc="-5" dirty="0">
                <a:latin typeface="Arial MT"/>
                <a:cs typeface="Arial MT"/>
              </a:rPr>
              <a:t>array</a:t>
            </a:r>
            <a:r>
              <a:rPr sz="1450" spc="135" dirty="0">
                <a:latin typeface="Arial MT"/>
                <a:cs typeface="Arial MT"/>
              </a:rPr>
              <a:t> </a:t>
            </a:r>
            <a:r>
              <a:rPr sz="1450" spc="-10" dirty="0">
                <a:latin typeface="Arial MT"/>
                <a:cs typeface="Arial MT"/>
              </a:rPr>
              <a:t>initializer</a:t>
            </a:r>
            <a:r>
              <a:rPr sz="1450" spc="225" dirty="0">
                <a:latin typeface="Arial MT"/>
                <a:cs typeface="Arial MT"/>
              </a:rPr>
              <a:t> </a:t>
            </a:r>
            <a:r>
              <a:rPr sz="1450" spc="-15" dirty="0">
                <a:latin typeface="Arial MT"/>
                <a:cs typeface="Arial MT"/>
              </a:rPr>
              <a:t>is</a:t>
            </a:r>
            <a:r>
              <a:rPr sz="1450" spc="55" dirty="0">
                <a:latin typeface="Arial MT"/>
                <a:cs typeface="Arial MT"/>
              </a:rPr>
              <a:t> </a:t>
            </a:r>
            <a:r>
              <a:rPr sz="1450" spc="15" dirty="0">
                <a:latin typeface="Arial MT"/>
                <a:cs typeface="Arial MT"/>
              </a:rPr>
              <a:t>a</a:t>
            </a:r>
            <a:r>
              <a:rPr sz="1450" spc="10" dirty="0">
                <a:latin typeface="Arial MT"/>
                <a:cs typeface="Arial MT"/>
              </a:rPr>
              <a:t> </a:t>
            </a:r>
            <a:r>
              <a:rPr sz="1450" spc="-25" dirty="0">
                <a:latin typeface="Arial MT"/>
                <a:cs typeface="Arial MT"/>
              </a:rPr>
              <a:t>list</a:t>
            </a:r>
            <a:r>
              <a:rPr sz="1450" spc="150" dirty="0">
                <a:latin typeface="Arial MT"/>
                <a:cs typeface="Arial MT"/>
              </a:rPr>
              <a:t> </a:t>
            </a:r>
            <a:r>
              <a:rPr sz="1450" spc="15" dirty="0">
                <a:latin typeface="Arial MT"/>
                <a:cs typeface="Arial MT"/>
              </a:rPr>
              <a:t>of</a:t>
            </a:r>
            <a:r>
              <a:rPr sz="1450" spc="40" dirty="0">
                <a:latin typeface="Arial MT"/>
                <a:cs typeface="Arial MT"/>
              </a:rPr>
              <a:t> </a:t>
            </a:r>
            <a:r>
              <a:rPr sz="1450" spc="5" dirty="0">
                <a:latin typeface="Arial MT"/>
                <a:cs typeface="Arial MT"/>
              </a:rPr>
              <a:t>comma-separated</a:t>
            </a:r>
            <a:r>
              <a:rPr sz="1450" spc="260" dirty="0">
                <a:latin typeface="Arial MT"/>
                <a:cs typeface="Arial MT"/>
              </a:rPr>
              <a:t> </a:t>
            </a:r>
            <a:r>
              <a:rPr sz="1450" spc="-5" dirty="0">
                <a:latin typeface="Arial MT"/>
                <a:cs typeface="Arial MT"/>
              </a:rPr>
              <a:t>expressions </a:t>
            </a:r>
            <a:r>
              <a:rPr sz="1450" spc="-385" dirty="0">
                <a:latin typeface="Arial MT"/>
                <a:cs typeface="Arial MT"/>
              </a:rPr>
              <a:t> </a:t>
            </a:r>
            <a:r>
              <a:rPr sz="1450" spc="10" dirty="0">
                <a:latin typeface="Arial MT"/>
                <a:cs typeface="Arial MT"/>
              </a:rPr>
              <a:t>surrounded</a:t>
            </a:r>
            <a:r>
              <a:rPr sz="1450" spc="80" dirty="0">
                <a:latin typeface="Arial MT"/>
                <a:cs typeface="Arial MT"/>
              </a:rPr>
              <a:t> </a:t>
            </a:r>
            <a:r>
              <a:rPr sz="1450" spc="20" dirty="0">
                <a:latin typeface="Arial MT"/>
                <a:cs typeface="Arial MT"/>
              </a:rPr>
              <a:t>by</a:t>
            </a:r>
            <a:r>
              <a:rPr sz="1450" spc="10" dirty="0">
                <a:latin typeface="Arial MT"/>
                <a:cs typeface="Arial MT"/>
              </a:rPr>
              <a:t> </a:t>
            </a:r>
            <a:r>
              <a:rPr sz="1450" dirty="0">
                <a:latin typeface="Arial MT"/>
                <a:cs typeface="Arial MT"/>
              </a:rPr>
              <a:t>curly</a:t>
            </a:r>
            <a:r>
              <a:rPr sz="1450" spc="50" dirty="0">
                <a:latin typeface="Arial MT"/>
                <a:cs typeface="Arial MT"/>
              </a:rPr>
              <a:t> </a:t>
            </a:r>
            <a:r>
              <a:rPr sz="1450" dirty="0">
                <a:latin typeface="Arial MT"/>
                <a:cs typeface="Arial MT"/>
              </a:rPr>
              <a:t>braces.</a:t>
            </a:r>
          </a:p>
          <a:p>
            <a:pPr marL="194945" indent="-182880">
              <a:lnSpc>
                <a:spcPct val="100000"/>
              </a:lnSpc>
              <a:spcBef>
                <a:spcPts val="420"/>
              </a:spcBef>
              <a:buChar char="•"/>
              <a:tabLst>
                <a:tab pos="195580" algn="l"/>
              </a:tabLst>
            </a:pPr>
            <a:r>
              <a:rPr sz="1450" spc="20" dirty="0">
                <a:latin typeface="Arial MT"/>
                <a:cs typeface="Arial MT"/>
              </a:rPr>
              <a:t>No</a:t>
            </a:r>
            <a:r>
              <a:rPr sz="1450" dirty="0">
                <a:latin typeface="Arial MT"/>
                <a:cs typeface="Arial MT"/>
              </a:rPr>
              <a:t> </a:t>
            </a:r>
            <a:r>
              <a:rPr sz="1450" spc="5" dirty="0">
                <a:latin typeface="Arial MT"/>
                <a:cs typeface="Arial MT"/>
              </a:rPr>
              <a:t>need</a:t>
            </a:r>
            <a:r>
              <a:rPr sz="1450" spc="70" dirty="0">
                <a:latin typeface="Arial MT"/>
                <a:cs typeface="Arial MT"/>
              </a:rPr>
              <a:t> </a:t>
            </a:r>
            <a:r>
              <a:rPr sz="1450" spc="5" dirty="0">
                <a:latin typeface="Arial MT"/>
                <a:cs typeface="Arial MT"/>
              </a:rPr>
              <a:t>for</a:t>
            </a:r>
            <a:r>
              <a:rPr sz="1450" spc="10" dirty="0">
                <a:latin typeface="Arial MT"/>
                <a:cs typeface="Arial MT"/>
              </a:rPr>
              <a:t> new</a:t>
            </a:r>
            <a:r>
              <a:rPr sz="1450" spc="30" dirty="0">
                <a:latin typeface="Arial MT"/>
                <a:cs typeface="Arial MT"/>
              </a:rPr>
              <a:t> </a:t>
            </a:r>
            <a:r>
              <a:rPr sz="1450" spc="5" dirty="0">
                <a:latin typeface="Arial MT"/>
                <a:cs typeface="Arial MT"/>
              </a:rPr>
              <a:t>operator</a:t>
            </a:r>
            <a:endParaRPr sz="1450" dirty="0">
              <a:latin typeface="Arial MT"/>
              <a:cs typeface="Arial MT"/>
            </a:endParaRPr>
          </a:p>
          <a:p>
            <a:pPr marL="12700">
              <a:lnSpc>
                <a:spcPct val="100000"/>
              </a:lnSpc>
              <a:spcBef>
                <a:spcPts val="340"/>
              </a:spcBef>
            </a:pPr>
            <a:r>
              <a:rPr sz="1450" spc="-30" dirty="0">
                <a:latin typeface="Calibri"/>
                <a:cs typeface="Calibri"/>
              </a:rPr>
              <a:t>class</a:t>
            </a:r>
            <a:r>
              <a:rPr sz="1450" spc="40" dirty="0">
                <a:latin typeface="Calibri"/>
                <a:cs typeface="Calibri"/>
              </a:rPr>
              <a:t> </a:t>
            </a:r>
            <a:r>
              <a:rPr sz="1450" spc="20" dirty="0">
                <a:latin typeface="Calibri"/>
                <a:cs typeface="Calibri"/>
              </a:rPr>
              <a:t>AutoArray</a:t>
            </a:r>
            <a:r>
              <a:rPr sz="1450" spc="30" dirty="0">
                <a:latin typeface="Calibri"/>
                <a:cs typeface="Calibri"/>
              </a:rPr>
              <a:t> </a:t>
            </a:r>
            <a:r>
              <a:rPr sz="1450" spc="-25" dirty="0">
                <a:latin typeface="Calibri"/>
                <a:cs typeface="Calibri"/>
              </a:rPr>
              <a:t>{</a:t>
            </a:r>
            <a:endParaRPr sz="1450" dirty="0">
              <a:latin typeface="Calibri"/>
              <a:cs typeface="Calibri"/>
            </a:endParaRPr>
          </a:p>
          <a:p>
            <a:pPr marL="194945">
              <a:lnSpc>
                <a:spcPct val="100000"/>
              </a:lnSpc>
              <a:spcBef>
                <a:spcPts val="375"/>
              </a:spcBef>
            </a:pPr>
            <a:r>
              <a:rPr sz="1450" dirty="0">
                <a:latin typeface="Calibri"/>
                <a:cs typeface="Calibri"/>
              </a:rPr>
              <a:t>public</a:t>
            </a:r>
            <a:r>
              <a:rPr sz="1450" spc="85" dirty="0">
                <a:latin typeface="Calibri"/>
                <a:cs typeface="Calibri"/>
              </a:rPr>
              <a:t> </a:t>
            </a:r>
            <a:r>
              <a:rPr sz="1450" spc="-45" dirty="0">
                <a:latin typeface="Calibri"/>
                <a:cs typeface="Calibri"/>
              </a:rPr>
              <a:t>static</a:t>
            </a:r>
            <a:r>
              <a:rPr sz="1450" spc="10" dirty="0">
                <a:latin typeface="Calibri"/>
                <a:cs typeface="Calibri"/>
              </a:rPr>
              <a:t> </a:t>
            </a:r>
            <a:r>
              <a:rPr sz="1450" spc="-10" dirty="0">
                <a:latin typeface="Calibri"/>
                <a:cs typeface="Calibri"/>
              </a:rPr>
              <a:t>void</a:t>
            </a:r>
            <a:r>
              <a:rPr sz="1450" spc="85" dirty="0">
                <a:latin typeface="Calibri"/>
                <a:cs typeface="Calibri"/>
              </a:rPr>
              <a:t> </a:t>
            </a:r>
            <a:r>
              <a:rPr sz="1450" spc="-10" dirty="0">
                <a:latin typeface="Calibri"/>
                <a:cs typeface="Calibri"/>
              </a:rPr>
              <a:t>main(String</a:t>
            </a:r>
            <a:r>
              <a:rPr sz="1450" spc="55" dirty="0">
                <a:latin typeface="Calibri"/>
                <a:cs typeface="Calibri"/>
              </a:rPr>
              <a:t> </a:t>
            </a:r>
            <a:r>
              <a:rPr sz="1450" spc="-30" dirty="0">
                <a:latin typeface="Calibri"/>
                <a:cs typeface="Calibri"/>
              </a:rPr>
              <a:t>args[])</a:t>
            </a:r>
            <a:endParaRPr sz="1450" dirty="0">
              <a:latin typeface="Calibri"/>
              <a:cs typeface="Calibri"/>
            </a:endParaRPr>
          </a:p>
          <a:p>
            <a:pPr marL="12700">
              <a:lnSpc>
                <a:spcPct val="100000"/>
              </a:lnSpc>
              <a:spcBef>
                <a:spcPts val="420"/>
              </a:spcBef>
            </a:pPr>
            <a:r>
              <a:rPr sz="1450" spc="-25" dirty="0">
                <a:latin typeface="Calibri"/>
                <a:cs typeface="Calibri"/>
              </a:rPr>
              <a:t>{</a:t>
            </a:r>
            <a:endParaRPr sz="1450" dirty="0">
              <a:latin typeface="Calibri"/>
              <a:cs typeface="Calibri"/>
            </a:endParaRPr>
          </a:p>
          <a:p>
            <a:pPr marL="194945">
              <a:lnSpc>
                <a:spcPct val="100000"/>
              </a:lnSpc>
              <a:spcBef>
                <a:spcPts val="415"/>
              </a:spcBef>
            </a:pPr>
            <a:r>
              <a:rPr sz="1450" spc="-30" dirty="0">
                <a:latin typeface="Calibri"/>
                <a:cs typeface="Calibri"/>
              </a:rPr>
              <a:t>int</a:t>
            </a:r>
            <a:r>
              <a:rPr sz="1450" spc="35" dirty="0">
                <a:latin typeface="Calibri"/>
                <a:cs typeface="Calibri"/>
              </a:rPr>
              <a:t> </a:t>
            </a:r>
            <a:r>
              <a:rPr sz="1450" spc="-30" dirty="0">
                <a:latin typeface="Calibri"/>
                <a:cs typeface="Calibri"/>
              </a:rPr>
              <a:t>a[]</a:t>
            </a:r>
            <a:r>
              <a:rPr sz="1450" spc="60" dirty="0">
                <a:latin typeface="Calibri"/>
                <a:cs typeface="Calibri"/>
              </a:rPr>
              <a:t> </a:t>
            </a:r>
            <a:r>
              <a:rPr sz="1450" dirty="0">
                <a:latin typeface="Calibri"/>
                <a:cs typeface="Calibri"/>
              </a:rPr>
              <a:t>=</a:t>
            </a:r>
            <a:r>
              <a:rPr sz="1450" spc="10" dirty="0">
                <a:latin typeface="Calibri"/>
                <a:cs typeface="Calibri"/>
              </a:rPr>
              <a:t> </a:t>
            </a:r>
            <a:r>
              <a:rPr sz="1450" spc="-25" dirty="0">
                <a:latin typeface="Calibri"/>
                <a:cs typeface="Calibri"/>
              </a:rPr>
              <a:t>{</a:t>
            </a:r>
            <a:r>
              <a:rPr sz="1450" spc="60" dirty="0">
                <a:latin typeface="Calibri"/>
                <a:cs typeface="Calibri"/>
              </a:rPr>
              <a:t> </a:t>
            </a:r>
            <a:r>
              <a:rPr sz="1450" spc="-20" dirty="0">
                <a:latin typeface="Calibri"/>
                <a:cs typeface="Calibri"/>
              </a:rPr>
              <a:t>1,3,2,5};</a:t>
            </a:r>
            <a:endParaRPr sz="1450" dirty="0">
              <a:latin typeface="Calibri"/>
              <a:cs typeface="Calibri"/>
            </a:endParaRPr>
          </a:p>
          <a:p>
            <a:pPr marL="12700">
              <a:lnSpc>
                <a:spcPct val="100000"/>
              </a:lnSpc>
              <a:spcBef>
                <a:spcPts val="420"/>
              </a:spcBef>
            </a:pPr>
            <a:r>
              <a:rPr sz="1450" spc="-25" dirty="0">
                <a:latin typeface="Calibri"/>
                <a:cs typeface="Calibri"/>
              </a:rPr>
              <a:t>}</a:t>
            </a:r>
            <a:endParaRPr sz="1450" dirty="0">
              <a:latin typeface="Calibri"/>
              <a:cs typeface="Calibri"/>
            </a:endParaRPr>
          </a:p>
          <a:p>
            <a:pPr marL="12700">
              <a:lnSpc>
                <a:spcPct val="100000"/>
              </a:lnSpc>
              <a:spcBef>
                <a:spcPts val="415"/>
              </a:spcBef>
            </a:pPr>
            <a:r>
              <a:rPr sz="1450" spc="-25" dirty="0">
                <a:latin typeface="Calibri"/>
                <a:cs typeface="Calibri"/>
              </a:rPr>
              <a:t>}</a:t>
            </a:r>
            <a:endParaRPr sz="1450" dirty="0">
              <a:latin typeface="Calibri"/>
              <a:cs typeface="Calibri"/>
            </a:endParaRPr>
          </a:p>
        </p:txBody>
      </p:sp>
      <p:sp>
        <p:nvSpPr>
          <p:cNvPr id="5" name="object 5"/>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p:nvPr/>
        </p:nvSpPr>
        <p:spPr>
          <a:xfrm>
            <a:off x="364664" y="1260930"/>
            <a:ext cx="5348605" cy="2048510"/>
          </a:xfrm>
          <a:prstGeom prst="rect">
            <a:avLst/>
          </a:prstGeom>
        </p:spPr>
        <p:txBody>
          <a:bodyPr vert="horz" wrap="square" lIns="0" tIns="12700" rIns="0" bIns="0" rtlCol="0">
            <a:spAutoFit/>
          </a:bodyPr>
          <a:lstStyle/>
          <a:p>
            <a:pPr marL="194945" marR="5080" indent="-182880" algn="just">
              <a:lnSpc>
                <a:spcPct val="100899"/>
              </a:lnSpc>
              <a:spcBef>
                <a:spcPts val="100"/>
              </a:spcBef>
              <a:buChar char="•"/>
              <a:tabLst>
                <a:tab pos="195580" algn="l"/>
              </a:tabLst>
            </a:pPr>
            <a:r>
              <a:rPr sz="1700" spc="5" dirty="0">
                <a:latin typeface="Arial MT"/>
                <a:cs typeface="Arial MT"/>
              </a:rPr>
              <a:t>If</a:t>
            </a:r>
            <a:r>
              <a:rPr sz="1700" spc="-40" dirty="0">
                <a:latin typeface="Arial MT"/>
                <a:cs typeface="Arial MT"/>
              </a:rPr>
              <a:t> </a:t>
            </a:r>
            <a:r>
              <a:rPr sz="1700" dirty="0">
                <a:latin typeface="Arial MT"/>
                <a:cs typeface="Arial MT"/>
              </a:rPr>
              <a:t>you</a:t>
            </a:r>
            <a:r>
              <a:rPr sz="1700" spc="5" dirty="0">
                <a:latin typeface="Arial MT"/>
                <a:cs typeface="Arial MT"/>
              </a:rPr>
              <a:t> </a:t>
            </a:r>
            <a:r>
              <a:rPr sz="1700" dirty="0">
                <a:latin typeface="Arial MT"/>
                <a:cs typeface="Arial MT"/>
              </a:rPr>
              <a:t>try</a:t>
            </a:r>
            <a:r>
              <a:rPr sz="1700" spc="-15" dirty="0">
                <a:latin typeface="Arial MT"/>
                <a:cs typeface="Arial MT"/>
              </a:rPr>
              <a:t> </a:t>
            </a:r>
            <a:r>
              <a:rPr sz="1700" spc="5" dirty="0">
                <a:latin typeface="Arial MT"/>
                <a:cs typeface="Arial MT"/>
              </a:rPr>
              <a:t>to</a:t>
            </a:r>
            <a:r>
              <a:rPr sz="1700" spc="-25" dirty="0">
                <a:latin typeface="Arial MT"/>
                <a:cs typeface="Arial MT"/>
              </a:rPr>
              <a:t> </a:t>
            </a:r>
            <a:r>
              <a:rPr sz="1700" spc="15" dirty="0">
                <a:uFill>
                  <a:solidFill>
                    <a:srgbClr val="000000"/>
                  </a:solidFill>
                </a:uFill>
                <a:latin typeface="Arial MT"/>
                <a:cs typeface="Arial MT"/>
              </a:rPr>
              <a:t>access</a:t>
            </a:r>
            <a:r>
              <a:rPr sz="1700" spc="-95" dirty="0">
                <a:uFill>
                  <a:solidFill>
                    <a:srgbClr val="000000"/>
                  </a:solidFill>
                </a:uFill>
                <a:latin typeface="Arial MT"/>
                <a:cs typeface="Arial MT"/>
              </a:rPr>
              <a:t> </a:t>
            </a:r>
            <a:r>
              <a:rPr sz="1700" spc="5" dirty="0">
                <a:uFill>
                  <a:solidFill>
                    <a:srgbClr val="000000"/>
                  </a:solidFill>
                </a:uFill>
                <a:latin typeface="Arial MT"/>
                <a:cs typeface="Arial MT"/>
              </a:rPr>
              <a:t>elements</a:t>
            </a:r>
            <a:r>
              <a:rPr sz="1700" spc="-80" dirty="0">
                <a:uFill>
                  <a:solidFill>
                    <a:srgbClr val="000000"/>
                  </a:solidFill>
                </a:uFill>
                <a:latin typeface="Arial MT"/>
                <a:cs typeface="Arial MT"/>
              </a:rPr>
              <a:t> </a:t>
            </a:r>
            <a:r>
              <a:rPr sz="1700" b="1" dirty="0">
                <a:uFill>
                  <a:solidFill>
                    <a:srgbClr val="000000"/>
                  </a:solidFill>
                </a:uFill>
                <a:latin typeface="Arial"/>
                <a:cs typeface="Arial"/>
              </a:rPr>
              <a:t>outside</a:t>
            </a:r>
            <a:r>
              <a:rPr sz="1700" b="1" spc="-25" dirty="0">
                <a:uFill>
                  <a:solidFill>
                    <a:srgbClr val="000000"/>
                  </a:solidFill>
                </a:uFill>
                <a:latin typeface="Arial"/>
                <a:cs typeface="Arial"/>
              </a:rPr>
              <a:t> </a:t>
            </a:r>
            <a:r>
              <a:rPr sz="1700" spc="5" dirty="0">
                <a:uFill>
                  <a:solidFill>
                    <a:srgbClr val="000000"/>
                  </a:solidFill>
                </a:uFill>
                <a:latin typeface="Arial MT"/>
                <a:cs typeface="Arial MT"/>
              </a:rPr>
              <a:t>the</a:t>
            </a:r>
            <a:r>
              <a:rPr sz="1700" spc="-35" dirty="0">
                <a:uFill>
                  <a:solidFill>
                    <a:srgbClr val="000000"/>
                  </a:solidFill>
                </a:uFill>
                <a:latin typeface="Arial MT"/>
                <a:cs typeface="Arial MT"/>
              </a:rPr>
              <a:t> </a:t>
            </a:r>
            <a:r>
              <a:rPr sz="1700" dirty="0">
                <a:uFill>
                  <a:solidFill>
                    <a:srgbClr val="000000"/>
                  </a:solidFill>
                </a:uFill>
                <a:latin typeface="Arial MT"/>
                <a:cs typeface="Arial MT"/>
              </a:rPr>
              <a:t>range</a:t>
            </a:r>
            <a:r>
              <a:rPr sz="1700" spc="-75" dirty="0">
                <a:uFill>
                  <a:solidFill>
                    <a:srgbClr val="000000"/>
                  </a:solidFill>
                </a:uFill>
                <a:latin typeface="Arial MT"/>
                <a:cs typeface="Arial MT"/>
              </a:rPr>
              <a:t> </a:t>
            </a:r>
            <a:r>
              <a:rPr sz="1700" spc="5" dirty="0">
                <a:uFill>
                  <a:solidFill>
                    <a:srgbClr val="000000"/>
                  </a:solidFill>
                </a:uFill>
                <a:latin typeface="Arial MT"/>
                <a:cs typeface="Arial MT"/>
              </a:rPr>
              <a:t>of</a:t>
            </a:r>
            <a:r>
              <a:rPr sz="1700" dirty="0">
                <a:uFill>
                  <a:solidFill>
                    <a:srgbClr val="000000"/>
                  </a:solidFill>
                </a:uFill>
                <a:latin typeface="Arial MT"/>
                <a:cs typeface="Arial MT"/>
              </a:rPr>
              <a:t> </a:t>
            </a:r>
            <a:r>
              <a:rPr sz="1700" spc="5" dirty="0">
                <a:uFill>
                  <a:solidFill>
                    <a:srgbClr val="000000"/>
                  </a:solidFill>
                </a:uFill>
                <a:latin typeface="Arial MT"/>
                <a:cs typeface="Arial MT"/>
              </a:rPr>
              <a:t>the </a:t>
            </a:r>
            <a:r>
              <a:rPr sz="1700" spc="-459" dirty="0">
                <a:latin typeface="Arial MT"/>
                <a:cs typeface="Arial MT"/>
              </a:rPr>
              <a:t> </a:t>
            </a:r>
            <a:r>
              <a:rPr sz="1700" dirty="0">
                <a:uFill>
                  <a:solidFill>
                    <a:srgbClr val="000000"/>
                  </a:solidFill>
                </a:uFill>
                <a:latin typeface="Arial MT"/>
                <a:cs typeface="Arial MT"/>
              </a:rPr>
              <a:t>array </a:t>
            </a:r>
            <a:r>
              <a:rPr lang="en-US" sz="1700" dirty="0">
                <a:uFill>
                  <a:solidFill>
                    <a:srgbClr val="000000"/>
                  </a:solidFill>
                </a:uFill>
                <a:latin typeface="Arial MT"/>
                <a:cs typeface="Arial MT"/>
              </a:rPr>
              <a:t>(</a:t>
            </a:r>
            <a:r>
              <a:rPr sz="1700" spc="5" dirty="0">
                <a:solidFill>
                  <a:srgbClr val="C00000"/>
                </a:solidFill>
                <a:latin typeface="Arial MT"/>
                <a:cs typeface="Arial MT"/>
              </a:rPr>
              <a:t>negative numbers </a:t>
            </a:r>
            <a:r>
              <a:rPr sz="1700" spc="5" dirty="0">
                <a:latin typeface="Arial MT"/>
                <a:cs typeface="Arial MT"/>
              </a:rPr>
              <a:t>or </a:t>
            </a:r>
            <a:r>
              <a:rPr sz="1700" spc="5" dirty="0">
                <a:solidFill>
                  <a:srgbClr val="C00000"/>
                </a:solidFill>
                <a:latin typeface="Arial MT"/>
                <a:cs typeface="Arial MT"/>
              </a:rPr>
              <a:t>numbers </a:t>
            </a:r>
            <a:r>
              <a:rPr sz="1700" dirty="0">
                <a:solidFill>
                  <a:srgbClr val="C00000"/>
                </a:solidFill>
                <a:latin typeface="Arial MT"/>
                <a:cs typeface="Arial MT"/>
              </a:rPr>
              <a:t>greater </a:t>
            </a:r>
            <a:r>
              <a:rPr sz="1700" spc="5" dirty="0">
                <a:solidFill>
                  <a:srgbClr val="C00000"/>
                </a:solidFill>
                <a:latin typeface="Arial MT"/>
                <a:cs typeface="Arial MT"/>
              </a:rPr>
              <a:t>than the </a:t>
            </a:r>
            <a:r>
              <a:rPr sz="1700" spc="-459" dirty="0">
                <a:solidFill>
                  <a:srgbClr val="C00000"/>
                </a:solidFill>
                <a:latin typeface="Arial MT"/>
                <a:cs typeface="Arial MT"/>
              </a:rPr>
              <a:t> </a:t>
            </a:r>
            <a:r>
              <a:rPr sz="1700" spc="5" dirty="0">
                <a:solidFill>
                  <a:srgbClr val="C00000"/>
                </a:solidFill>
                <a:latin typeface="Arial MT"/>
                <a:cs typeface="Arial MT"/>
              </a:rPr>
              <a:t>length</a:t>
            </a:r>
            <a:r>
              <a:rPr sz="1700" spc="-75" dirty="0">
                <a:solidFill>
                  <a:srgbClr val="C00000"/>
                </a:solidFill>
                <a:latin typeface="Arial MT"/>
                <a:cs typeface="Arial MT"/>
              </a:rPr>
              <a:t> </a:t>
            </a:r>
            <a:r>
              <a:rPr sz="1700" spc="5" dirty="0">
                <a:solidFill>
                  <a:srgbClr val="C00000"/>
                </a:solidFill>
                <a:latin typeface="Arial MT"/>
                <a:cs typeface="Arial MT"/>
              </a:rPr>
              <a:t>of</a:t>
            </a:r>
            <a:r>
              <a:rPr sz="1700" spc="-35" dirty="0">
                <a:solidFill>
                  <a:srgbClr val="C00000"/>
                </a:solidFill>
                <a:latin typeface="Arial MT"/>
                <a:cs typeface="Arial MT"/>
              </a:rPr>
              <a:t> </a:t>
            </a:r>
            <a:r>
              <a:rPr sz="1700" spc="5" dirty="0">
                <a:solidFill>
                  <a:srgbClr val="C00000"/>
                </a:solidFill>
                <a:latin typeface="Arial MT"/>
                <a:cs typeface="Arial MT"/>
              </a:rPr>
              <a:t>the</a:t>
            </a:r>
            <a:r>
              <a:rPr sz="1700" spc="-30" dirty="0">
                <a:solidFill>
                  <a:srgbClr val="C00000"/>
                </a:solidFill>
                <a:latin typeface="Arial MT"/>
                <a:cs typeface="Arial MT"/>
              </a:rPr>
              <a:t> </a:t>
            </a:r>
            <a:r>
              <a:rPr sz="1700" spc="-5" dirty="0">
                <a:solidFill>
                  <a:srgbClr val="C00000"/>
                </a:solidFill>
                <a:latin typeface="Arial MT"/>
                <a:cs typeface="Arial MT"/>
              </a:rPr>
              <a:t>array</a:t>
            </a:r>
            <a:r>
              <a:rPr sz="1700" spc="-5" dirty="0">
                <a:latin typeface="Arial MT"/>
                <a:cs typeface="Arial MT"/>
              </a:rPr>
              <a:t>),</a:t>
            </a:r>
            <a:r>
              <a:rPr sz="1700" spc="5" dirty="0">
                <a:latin typeface="Arial MT"/>
                <a:cs typeface="Arial MT"/>
              </a:rPr>
              <a:t> </a:t>
            </a:r>
            <a:r>
              <a:rPr sz="1700" spc="10" dirty="0">
                <a:latin typeface="Arial MT"/>
                <a:cs typeface="Arial MT"/>
              </a:rPr>
              <a:t>it</a:t>
            </a:r>
            <a:r>
              <a:rPr sz="1700" spc="-30" dirty="0">
                <a:latin typeface="Arial MT"/>
                <a:cs typeface="Arial MT"/>
              </a:rPr>
              <a:t> </a:t>
            </a:r>
            <a:r>
              <a:rPr sz="1700" spc="-10" dirty="0">
                <a:latin typeface="Arial MT"/>
                <a:cs typeface="Arial MT"/>
              </a:rPr>
              <a:t>will</a:t>
            </a:r>
            <a:r>
              <a:rPr sz="1700" spc="20" dirty="0">
                <a:latin typeface="Arial MT"/>
                <a:cs typeface="Arial MT"/>
              </a:rPr>
              <a:t> </a:t>
            </a:r>
            <a:r>
              <a:rPr sz="1700" spc="15" dirty="0">
                <a:latin typeface="Arial MT"/>
                <a:cs typeface="Arial MT"/>
              </a:rPr>
              <a:t>cause</a:t>
            </a:r>
            <a:r>
              <a:rPr sz="1700" spc="-80" dirty="0">
                <a:latin typeface="Arial MT"/>
                <a:cs typeface="Arial MT"/>
              </a:rPr>
              <a:t> </a:t>
            </a:r>
            <a:r>
              <a:rPr sz="1700" spc="10" dirty="0">
                <a:latin typeface="Arial MT"/>
                <a:cs typeface="Arial MT"/>
              </a:rPr>
              <a:t>a</a:t>
            </a:r>
            <a:r>
              <a:rPr sz="1700" spc="-5" dirty="0">
                <a:latin typeface="Arial MT"/>
                <a:cs typeface="Arial MT"/>
              </a:rPr>
              <a:t> </a:t>
            </a:r>
            <a:r>
              <a:rPr sz="1700" b="1" dirty="0">
                <a:latin typeface="Arial"/>
                <a:cs typeface="Arial"/>
              </a:rPr>
              <a:t>run-time</a:t>
            </a:r>
            <a:r>
              <a:rPr sz="1700" b="1" spc="5" dirty="0">
                <a:latin typeface="Arial"/>
                <a:cs typeface="Arial"/>
              </a:rPr>
              <a:t> error</a:t>
            </a:r>
            <a:r>
              <a:rPr sz="1700" spc="5" dirty="0">
                <a:latin typeface="Arial MT"/>
                <a:cs typeface="Arial MT"/>
              </a:rPr>
              <a:t>.</a:t>
            </a:r>
            <a:endParaRPr sz="1700" dirty="0">
              <a:latin typeface="Arial MT"/>
              <a:cs typeface="Arial MT"/>
            </a:endParaRPr>
          </a:p>
          <a:p>
            <a:pPr marL="194945" indent="-182880" algn="just">
              <a:lnSpc>
                <a:spcPct val="100000"/>
              </a:lnSpc>
              <a:spcBef>
                <a:spcPts val="395"/>
              </a:spcBef>
              <a:buChar char="•"/>
              <a:tabLst>
                <a:tab pos="195580" algn="l"/>
              </a:tabLst>
            </a:pPr>
            <a:r>
              <a:rPr sz="1700" spc="10" dirty="0">
                <a:latin typeface="Arial MT"/>
                <a:cs typeface="Arial MT"/>
              </a:rPr>
              <a:t>E.g</a:t>
            </a:r>
            <a:endParaRPr sz="1700" dirty="0">
              <a:latin typeface="Arial MT"/>
              <a:cs typeface="Arial MT"/>
            </a:endParaRPr>
          </a:p>
          <a:p>
            <a:pPr marL="12700" marR="3720465">
              <a:lnSpc>
                <a:spcPts val="2440"/>
              </a:lnSpc>
              <a:spcBef>
                <a:spcPts val="105"/>
              </a:spcBef>
            </a:pPr>
            <a:r>
              <a:rPr sz="1700" spc="-80" dirty="0">
                <a:latin typeface="Times New Roman"/>
                <a:cs typeface="Times New Roman"/>
              </a:rPr>
              <a:t>i</a:t>
            </a:r>
            <a:r>
              <a:rPr sz="1700" spc="20" dirty="0">
                <a:latin typeface="Times New Roman"/>
                <a:cs typeface="Times New Roman"/>
              </a:rPr>
              <a:t>n</a:t>
            </a:r>
            <a:r>
              <a:rPr sz="1700" spc="-30" dirty="0">
                <a:latin typeface="Times New Roman"/>
                <a:cs typeface="Times New Roman"/>
              </a:rPr>
              <a:t>t</a:t>
            </a:r>
            <a:r>
              <a:rPr sz="1700" dirty="0">
                <a:latin typeface="Times New Roman"/>
                <a:cs typeface="Times New Roman"/>
              </a:rPr>
              <a:t> </a:t>
            </a:r>
            <a:r>
              <a:rPr sz="1700" spc="-45" dirty="0">
                <a:latin typeface="Times New Roman"/>
                <a:cs typeface="Times New Roman"/>
              </a:rPr>
              <a:t>a</a:t>
            </a:r>
            <a:r>
              <a:rPr sz="1700" spc="-55" dirty="0">
                <a:latin typeface="Times New Roman"/>
                <a:cs typeface="Times New Roman"/>
              </a:rPr>
              <a:t>[]</a:t>
            </a:r>
            <a:r>
              <a:rPr sz="1700" spc="-125" dirty="0">
                <a:latin typeface="Times New Roman"/>
                <a:cs typeface="Times New Roman"/>
              </a:rPr>
              <a:t>=</a:t>
            </a:r>
            <a:r>
              <a:rPr sz="1700" spc="20" dirty="0">
                <a:latin typeface="Times New Roman"/>
                <a:cs typeface="Times New Roman"/>
              </a:rPr>
              <a:t>n</a:t>
            </a:r>
            <a:r>
              <a:rPr sz="1700" dirty="0">
                <a:latin typeface="Times New Roman"/>
                <a:cs typeface="Times New Roman"/>
              </a:rPr>
              <a:t>e</a:t>
            </a:r>
            <a:r>
              <a:rPr sz="1700" spc="-175" dirty="0">
                <a:latin typeface="Times New Roman"/>
                <a:cs typeface="Times New Roman"/>
              </a:rPr>
              <a:t>w</a:t>
            </a:r>
            <a:r>
              <a:rPr sz="1700" spc="-45" dirty="0">
                <a:latin typeface="Times New Roman"/>
                <a:cs typeface="Times New Roman"/>
              </a:rPr>
              <a:t> </a:t>
            </a:r>
            <a:r>
              <a:rPr sz="1700" spc="-80" dirty="0">
                <a:latin typeface="Times New Roman"/>
                <a:cs typeface="Times New Roman"/>
              </a:rPr>
              <a:t>i</a:t>
            </a:r>
            <a:r>
              <a:rPr sz="1700" spc="20" dirty="0">
                <a:latin typeface="Times New Roman"/>
                <a:cs typeface="Times New Roman"/>
              </a:rPr>
              <a:t>n</a:t>
            </a:r>
            <a:r>
              <a:rPr sz="1700" spc="-40" dirty="0">
                <a:latin typeface="Times New Roman"/>
                <a:cs typeface="Times New Roman"/>
              </a:rPr>
              <a:t>t</a:t>
            </a:r>
            <a:r>
              <a:rPr sz="1700" spc="-55" dirty="0">
                <a:latin typeface="Times New Roman"/>
                <a:cs typeface="Times New Roman"/>
              </a:rPr>
              <a:t>[</a:t>
            </a:r>
            <a:r>
              <a:rPr sz="1700" spc="-15" dirty="0">
                <a:latin typeface="Times New Roman"/>
                <a:cs typeface="Times New Roman"/>
              </a:rPr>
              <a:t>10</a:t>
            </a:r>
            <a:r>
              <a:rPr sz="1700" spc="-55" dirty="0">
                <a:latin typeface="Times New Roman"/>
                <a:cs typeface="Times New Roman"/>
              </a:rPr>
              <a:t>]</a:t>
            </a:r>
            <a:r>
              <a:rPr sz="1700" spc="-60" dirty="0">
                <a:latin typeface="Times New Roman"/>
                <a:cs typeface="Times New Roman"/>
              </a:rPr>
              <a:t>;  </a:t>
            </a:r>
            <a:r>
              <a:rPr sz="1700" spc="-25" dirty="0">
                <a:latin typeface="Times New Roman"/>
                <a:cs typeface="Times New Roman"/>
              </a:rPr>
              <a:t>a[-3]=5;//ERROR</a:t>
            </a:r>
            <a:endParaRPr sz="1700" dirty="0">
              <a:latin typeface="Times New Roman"/>
              <a:cs typeface="Times New Roman"/>
            </a:endParaRPr>
          </a:p>
          <a:p>
            <a:pPr marL="12700">
              <a:lnSpc>
                <a:spcPct val="100000"/>
              </a:lnSpc>
              <a:spcBef>
                <a:spcPts val="290"/>
              </a:spcBef>
            </a:pPr>
            <a:r>
              <a:rPr sz="1700" spc="-45" dirty="0">
                <a:latin typeface="Times New Roman"/>
                <a:cs typeface="Times New Roman"/>
              </a:rPr>
              <a:t>a</a:t>
            </a:r>
            <a:r>
              <a:rPr sz="1700" spc="-55" dirty="0">
                <a:latin typeface="Times New Roman"/>
                <a:cs typeface="Times New Roman"/>
              </a:rPr>
              <a:t>[</a:t>
            </a:r>
            <a:r>
              <a:rPr sz="1700" spc="-15" dirty="0">
                <a:latin typeface="Times New Roman"/>
                <a:cs typeface="Times New Roman"/>
              </a:rPr>
              <a:t>11</a:t>
            </a:r>
            <a:r>
              <a:rPr sz="1700" spc="-55" dirty="0">
                <a:latin typeface="Times New Roman"/>
                <a:cs typeface="Times New Roman"/>
              </a:rPr>
              <a:t>]</a:t>
            </a:r>
            <a:r>
              <a:rPr sz="1700" spc="-125" dirty="0">
                <a:latin typeface="Times New Roman"/>
                <a:cs typeface="Times New Roman"/>
              </a:rPr>
              <a:t>=</a:t>
            </a:r>
            <a:r>
              <a:rPr sz="1700" spc="-15" dirty="0">
                <a:latin typeface="Times New Roman"/>
                <a:cs typeface="Times New Roman"/>
              </a:rPr>
              <a:t>7</a:t>
            </a:r>
            <a:r>
              <a:rPr sz="1700" spc="-65" dirty="0">
                <a:latin typeface="Times New Roman"/>
                <a:cs typeface="Times New Roman"/>
              </a:rPr>
              <a:t>;</a:t>
            </a:r>
            <a:r>
              <a:rPr sz="1700" spc="-35" dirty="0">
                <a:latin typeface="Times New Roman"/>
                <a:cs typeface="Times New Roman"/>
              </a:rPr>
              <a:t> </a:t>
            </a:r>
            <a:r>
              <a:rPr sz="1700" spc="40" dirty="0">
                <a:latin typeface="Times New Roman"/>
                <a:cs typeface="Times New Roman"/>
              </a:rPr>
              <a:t>//</a:t>
            </a:r>
            <a:r>
              <a:rPr sz="1700" spc="35" dirty="0">
                <a:latin typeface="Times New Roman"/>
                <a:cs typeface="Times New Roman"/>
              </a:rPr>
              <a:t>E</a:t>
            </a:r>
            <a:r>
              <a:rPr sz="1700" spc="-25" dirty="0">
                <a:latin typeface="Times New Roman"/>
                <a:cs typeface="Times New Roman"/>
              </a:rPr>
              <a:t>RR</a:t>
            </a:r>
            <a:r>
              <a:rPr sz="1700" spc="70" dirty="0">
                <a:latin typeface="Times New Roman"/>
                <a:cs typeface="Times New Roman"/>
              </a:rPr>
              <a:t>O</a:t>
            </a:r>
            <a:r>
              <a:rPr sz="1700" spc="65" dirty="0">
                <a:latin typeface="Times New Roman"/>
                <a:cs typeface="Times New Roman"/>
              </a:rPr>
              <a:t>R</a:t>
            </a:r>
            <a:r>
              <a:rPr sz="1700" spc="-100" dirty="0">
                <a:latin typeface="Times New Roman"/>
                <a:cs typeface="Times New Roman"/>
              </a:rPr>
              <a:t> </a:t>
            </a:r>
            <a:r>
              <a:rPr sz="1700" spc="-40" dirty="0">
                <a:latin typeface="Times New Roman"/>
                <a:cs typeface="Times New Roman"/>
              </a:rPr>
              <a:t>A</a:t>
            </a:r>
            <a:r>
              <a:rPr sz="1700" spc="-25" dirty="0">
                <a:latin typeface="Times New Roman"/>
                <a:cs typeface="Times New Roman"/>
              </a:rPr>
              <a:t>RR</a:t>
            </a:r>
            <a:r>
              <a:rPr sz="1700" spc="-40" dirty="0">
                <a:latin typeface="Times New Roman"/>
                <a:cs typeface="Times New Roman"/>
              </a:rPr>
              <a:t>A</a:t>
            </a:r>
            <a:r>
              <a:rPr sz="1700" spc="-100" dirty="0">
                <a:latin typeface="Times New Roman"/>
                <a:cs typeface="Times New Roman"/>
              </a:rPr>
              <a:t>Y</a:t>
            </a:r>
            <a:r>
              <a:rPr sz="1700" spc="-80" dirty="0">
                <a:latin typeface="Times New Roman"/>
                <a:cs typeface="Times New Roman"/>
              </a:rPr>
              <a:t> </a:t>
            </a:r>
            <a:r>
              <a:rPr sz="1700" spc="25" dirty="0">
                <a:latin typeface="Times New Roman"/>
                <a:cs typeface="Times New Roman"/>
              </a:rPr>
              <a:t>I</a:t>
            </a:r>
            <a:r>
              <a:rPr sz="1700" spc="45" dirty="0">
                <a:latin typeface="Times New Roman"/>
                <a:cs typeface="Times New Roman"/>
              </a:rPr>
              <a:t>N</a:t>
            </a:r>
            <a:r>
              <a:rPr sz="1700" spc="80" dirty="0">
                <a:latin typeface="Times New Roman"/>
                <a:cs typeface="Times New Roman"/>
              </a:rPr>
              <a:t>D</a:t>
            </a:r>
            <a:r>
              <a:rPr sz="1700" spc="35" dirty="0">
                <a:latin typeface="Times New Roman"/>
                <a:cs typeface="Times New Roman"/>
              </a:rPr>
              <a:t>E</a:t>
            </a:r>
            <a:r>
              <a:rPr sz="1700" spc="15" dirty="0">
                <a:latin typeface="Times New Roman"/>
                <a:cs typeface="Times New Roman"/>
              </a:rPr>
              <a:t>X</a:t>
            </a:r>
            <a:r>
              <a:rPr sz="1700" dirty="0">
                <a:latin typeface="Times New Roman"/>
                <a:cs typeface="Times New Roman"/>
              </a:rPr>
              <a:t> </a:t>
            </a:r>
            <a:r>
              <a:rPr sz="1700" spc="110" dirty="0">
                <a:latin typeface="Times New Roman"/>
                <a:cs typeface="Times New Roman"/>
              </a:rPr>
              <a:t>O</a:t>
            </a:r>
            <a:r>
              <a:rPr sz="1700" spc="100" dirty="0">
                <a:latin typeface="Times New Roman"/>
                <a:cs typeface="Times New Roman"/>
              </a:rPr>
              <a:t>U</a:t>
            </a:r>
            <a:r>
              <a:rPr sz="1700" spc="140" dirty="0">
                <a:latin typeface="Times New Roman"/>
                <a:cs typeface="Times New Roman"/>
              </a:rPr>
              <a:t>T</a:t>
            </a:r>
            <a:r>
              <a:rPr sz="1700" spc="-50" dirty="0">
                <a:latin typeface="Times New Roman"/>
                <a:cs typeface="Times New Roman"/>
              </a:rPr>
              <a:t> </a:t>
            </a:r>
            <a:r>
              <a:rPr sz="1700" spc="80" dirty="0">
                <a:latin typeface="Times New Roman"/>
                <a:cs typeface="Times New Roman"/>
              </a:rPr>
              <a:t>O</a:t>
            </a:r>
            <a:r>
              <a:rPr sz="1700" spc="65" dirty="0">
                <a:latin typeface="Times New Roman"/>
                <a:cs typeface="Times New Roman"/>
              </a:rPr>
              <a:t>F</a:t>
            </a:r>
            <a:r>
              <a:rPr sz="1700" spc="-5" dirty="0">
                <a:latin typeface="Times New Roman"/>
                <a:cs typeface="Times New Roman"/>
              </a:rPr>
              <a:t> </a:t>
            </a:r>
            <a:r>
              <a:rPr sz="1700" spc="80" dirty="0">
                <a:latin typeface="Times New Roman"/>
                <a:cs typeface="Times New Roman"/>
              </a:rPr>
              <a:t>BO</a:t>
            </a:r>
            <a:r>
              <a:rPr sz="1700" spc="70" dirty="0">
                <a:latin typeface="Times New Roman"/>
                <a:cs typeface="Times New Roman"/>
              </a:rPr>
              <a:t>U</a:t>
            </a:r>
            <a:r>
              <a:rPr sz="1700" spc="45" dirty="0">
                <a:latin typeface="Times New Roman"/>
                <a:cs typeface="Times New Roman"/>
              </a:rPr>
              <a:t>N</a:t>
            </a:r>
            <a:r>
              <a:rPr sz="1700" spc="80" dirty="0">
                <a:latin typeface="Times New Roman"/>
                <a:cs typeface="Times New Roman"/>
              </a:rPr>
              <a:t>D</a:t>
            </a:r>
            <a:r>
              <a:rPr sz="1700" spc="-60" dirty="0">
                <a:latin typeface="Times New Roman"/>
                <a:cs typeface="Times New Roman"/>
              </a:rPr>
              <a:t>S</a:t>
            </a:r>
            <a:endParaRPr sz="1700" dirty="0">
              <a:latin typeface="Times New Roman"/>
              <a:cs typeface="Times New Roman"/>
            </a:endParaRPr>
          </a:p>
        </p:txBody>
      </p:sp>
      <p:sp>
        <p:nvSpPr>
          <p:cNvPr id="5" name="object 5"/>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4664" y="759952"/>
            <a:ext cx="2101215" cy="556691"/>
          </a:xfrm>
          <a:prstGeom prst="rect">
            <a:avLst/>
          </a:prstGeom>
        </p:spPr>
        <p:txBody>
          <a:bodyPr vert="horz" wrap="square" lIns="0" tIns="12065" rIns="0" bIns="0" rtlCol="0">
            <a:spAutoFit/>
          </a:bodyPr>
          <a:lstStyle/>
          <a:p>
            <a:pPr marL="12700" marR="5080">
              <a:lnSpc>
                <a:spcPct val="121700"/>
              </a:lnSpc>
              <a:spcBef>
                <a:spcPts val="95"/>
              </a:spcBef>
            </a:pPr>
            <a:r>
              <a:rPr sz="1450" spc="-130" dirty="0">
                <a:solidFill>
                  <a:srgbClr val="000000"/>
                </a:solidFill>
                <a:latin typeface="Calibri"/>
                <a:cs typeface="Calibri"/>
              </a:rPr>
              <a:t>//</a:t>
            </a:r>
            <a:r>
              <a:rPr sz="1450" spc="-130" dirty="0">
                <a:solidFill>
                  <a:srgbClr val="000000"/>
                </a:solidFill>
                <a:latin typeface="Times New Roman"/>
                <a:cs typeface="Times New Roman"/>
              </a:rPr>
              <a:t> </a:t>
            </a:r>
            <a:r>
              <a:rPr lang="en-US" sz="1450" spc="190" dirty="0" smtClean="0">
                <a:solidFill>
                  <a:srgbClr val="000000"/>
                </a:solidFill>
                <a:latin typeface="Calibri"/>
                <a:cs typeface="Calibri"/>
              </a:rPr>
              <a:t>A</a:t>
            </a:r>
            <a:r>
              <a:rPr sz="1450" spc="-60" dirty="0" smtClean="0">
                <a:solidFill>
                  <a:srgbClr val="000000"/>
                </a:solidFill>
                <a:latin typeface="Calibri"/>
                <a:cs typeface="Calibri"/>
              </a:rPr>
              <a:t>v</a:t>
            </a:r>
            <a:r>
              <a:rPr sz="1450" spc="-45" dirty="0" smtClean="0">
                <a:solidFill>
                  <a:srgbClr val="000000"/>
                </a:solidFill>
                <a:latin typeface="Calibri"/>
                <a:cs typeface="Calibri"/>
              </a:rPr>
              <a:t>e</a:t>
            </a:r>
            <a:r>
              <a:rPr sz="1450" spc="-25" dirty="0" smtClean="0">
                <a:solidFill>
                  <a:srgbClr val="000000"/>
                </a:solidFill>
                <a:latin typeface="Calibri"/>
                <a:cs typeface="Calibri"/>
              </a:rPr>
              <a:t>r</a:t>
            </a:r>
            <a:r>
              <a:rPr sz="1450" spc="-30" dirty="0" smtClean="0">
                <a:solidFill>
                  <a:srgbClr val="000000"/>
                </a:solidFill>
                <a:latin typeface="Calibri"/>
                <a:cs typeface="Calibri"/>
              </a:rPr>
              <a:t>a</a:t>
            </a:r>
            <a:r>
              <a:rPr sz="1450" spc="-85" dirty="0" smtClean="0">
                <a:solidFill>
                  <a:srgbClr val="000000"/>
                </a:solidFill>
                <a:latin typeface="Calibri"/>
                <a:cs typeface="Calibri"/>
              </a:rPr>
              <a:t>g</a:t>
            </a:r>
            <a:r>
              <a:rPr sz="1450" spc="-55" dirty="0" smtClean="0">
                <a:solidFill>
                  <a:srgbClr val="000000"/>
                </a:solidFill>
                <a:latin typeface="Calibri"/>
                <a:cs typeface="Calibri"/>
              </a:rPr>
              <a:t>e</a:t>
            </a:r>
            <a:r>
              <a:rPr sz="1450" spc="45" dirty="0" smtClean="0">
                <a:solidFill>
                  <a:srgbClr val="000000"/>
                </a:solidFill>
                <a:latin typeface="Times New Roman"/>
                <a:cs typeface="Times New Roman"/>
              </a:rPr>
              <a:t> </a:t>
            </a:r>
            <a:r>
              <a:rPr sz="1450" spc="-60" dirty="0">
                <a:solidFill>
                  <a:srgbClr val="000000"/>
                </a:solidFill>
                <a:latin typeface="Calibri"/>
                <a:cs typeface="Calibri"/>
              </a:rPr>
              <a:t>va</a:t>
            </a:r>
            <a:r>
              <a:rPr sz="1450" spc="-20" dirty="0">
                <a:solidFill>
                  <a:srgbClr val="000000"/>
                </a:solidFill>
                <a:latin typeface="Calibri"/>
                <a:cs typeface="Calibri"/>
              </a:rPr>
              <a:t>lu</a:t>
            </a:r>
            <a:r>
              <a:rPr sz="1450" spc="-15" dirty="0">
                <a:solidFill>
                  <a:srgbClr val="000000"/>
                </a:solidFill>
                <a:latin typeface="Calibri"/>
                <a:cs typeface="Calibri"/>
              </a:rPr>
              <a:t>e</a:t>
            </a:r>
            <a:r>
              <a:rPr sz="1450" spc="45" dirty="0">
                <a:solidFill>
                  <a:srgbClr val="000000"/>
                </a:solidFill>
                <a:latin typeface="Times New Roman"/>
                <a:cs typeface="Times New Roman"/>
              </a:rPr>
              <a:t> </a:t>
            </a:r>
            <a:r>
              <a:rPr sz="1450" spc="5" dirty="0">
                <a:solidFill>
                  <a:srgbClr val="000000"/>
                </a:solidFill>
                <a:latin typeface="Calibri"/>
                <a:cs typeface="Calibri"/>
              </a:rPr>
              <a:t>i</a:t>
            </a:r>
            <a:r>
              <a:rPr sz="1450" spc="20" dirty="0">
                <a:solidFill>
                  <a:srgbClr val="000000"/>
                </a:solidFill>
                <a:latin typeface="Calibri"/>
                <a:cs typeface="Calibri"/>
              </a:rPr>
              <a:t>n</a:t>
            </a:r>
            <a:r>
              <a:rPr sz="1450" spc="20" dirty="0">
                <a:solidFill>
                  <a:srgbClr val="000000"/>
                </a:solidFill>
                <a:latin typeface="Times New Roman"/>
                <a:cs typeface="Times New Roman"/>
              </a:rPr>
              <a:t> </a:t>
            </a:r>
            <a:r>
              <a:rPr sz="1450" spc="-60" dirty="0">
                <a:solidFill>
                  <a:srgbClr val="000000"/>
                </a:solidFill>
                <a:latin typeface="Calibri"/>
                <a:cs typeface="Calibri"/>
              </a:rPr>
              <a:t>a</a:t>
            </a:r>
            <a:r>
              <a:rPr sz="1450" spc="5" dirty="0">
                <a:solidFill>
                  <a:srgbClr val="000000"/>
                </a:solidFill>
                <a:latin typeface="Calibri"/>
                <a:cs typeface="Calibri"/>
              </a:rPr>
              <a:t>n</a:t>
            </a:r>
            <a:r>
              <a:rPr sz="1450" spc="-15" dirty="0">
                <a:solidFill>
                  <a:srgbClr val="000000"/>
                </a:solidFill>
                <a:latin typeface="Times New Roman"/>
                <a:cs typeface="Times New Roman"/>
              </a:rPr>
              <a:t> </a:t>
            </a:r>
            <a:r>
              <a:rPr sz="1450" spc="-60" dirty="0">
                <a:solidFill>
                  <a:srgbClr val="000000"/>
                </a:solidFill>
                <a:latin typeface="Calibri"/>
                <a:cs typeface="Calibri"/>
              </a:rPr>
              <a:t>a</a:t>
            </a:r>
            <a:r>
              <a:rPr sz="1450" spc="5" dirty="0">
                <a:solidFill>
                  <a:srgbClr val="000000"/>
                </a:solidFill>
                <a:latin typeface="Calibri"/>
                <a:cs typeface="Calibri"/>
              </a:rPr>
              <a:t>r</a:t>
            </a:r>
            <a:r>
              <a:rPr sz="1450" spc="10" dirty="0">
                <a:solidFill>
                  <a:srgbClr val="000000"/>
                </a:solidFill>
                <a:latin typeface="Calibri"/>
                <a:cs typeface="Calibri"/>
              </a:rPr>
              <a:t>r</a:t>
            </a:r>
            <a:r>
              <a:rPr sz="1450" spc="-60" dirty="0">
                <a:solidFill>
                  <a:srgbClr val="000000"/>
                </a:solidFill>
                <a:latin typeface="Calibri"/>
                <a:cs typeface="Calibri"/>
              </a:rPr>
              <a:t>ay</a:t>
            </a:r>
            <a:r>
              <a:rPr sz="1450" spc="-5" dirty="0">
                <a:solidFill>
                  <a:srgbClr val="000000"/>
                </a:solidFill>
                <a:latin typeface="Calibri"/>
                <a:cs typeface="Calibri"/>
              </a:rPr>
              <a:t>. </a:t>
            </a:r>
            <a:r>
              <a:rPr sz="1450" spc="-5" dirty="0">
                <a:solidFill>
                  <a:srgbClr val="000000"/>
                </a:solidFill>
                <a:latin typeface="Times New Roman"/>
                <a:cs typeface="Times New Roman"/>
              </a:rPr>
              <a:t> </a:t>
            </a:r>
            <a:r>
              <a:rPr sz="1450" spc="-30" dirty="0">
                <a:solidFill>
                  <a:srgbClr val="000000"/>
                </a:solidFill>
                <a:latin typeface="Calibri"/>
                <a:cs typeface="Calibri"/>
              </a:rPr>
              <a:t>class</a:t>
            </a:r>
            <a:r>
              <a:rPr sz="1450" spc="60" dirty="0">
                <a:solidFill>
                  <a:srgbClr val="000000"/>
                </a:solidFill>
                <a:latin typeface="Calibri"/>
                <a:cs typeface="Calibri"/>
              </a:rPr>
              <a:t> </a:t>
            </a:r>
            <a:r>
              <a:rPr sz="1450" spc="-15" dirty="0">
                <a:solidFill>
                  <a:srgbClr val="000000"/>
                </a:solidFill>
                <a:latin typeface="Calibri"/>
                <a:cs typeface="Calibri"/>
              </a:rPr>
              <a:t>Average</a:t>
            </a:r>
            <a:r>
              <a:rPr sz="1450" spc="75" dirty="0">
                <a:solidFill>
                  <a:srgbClr val="000000"/>
                </a:solidFill>
                <a:latin typeface="Calibri"/>
                <a:cs typeface="Calibri"/>
              </a:rPr>
              <a:t> </a:t>
            </a:r>
            <a:r>
              <a:rPr sz="1450" spc="-25" dirty="0">
                <a:solidFill>
                  <a:srgbClr val="000000"/>
                </a:solidFill>
                <a:latin typeface="Calibri"/>
                <a:cs typeface="Calibri"/>
              </a:rPr>
              <a:t>{</a:t>
            </a:r>
            <a:endParaRPr sz="1450" dirty="0">
              <a:latin typeface="Calibri"/>
              <a:cs typeface="Calibri"/>
            </a:endParaRPr>
          </a:p>
        </p:txBody>
      </p:sp>
      <p:sp>
        <p:nvSpPr>
          <p:cNvPr id="3" name="object 3"/>
          <p:cNvSpPr txBox="1"/>
          <p:nvPr/>
        </p:nvSpPr>
        <p:spPr>
          <a:xfrm>
            <a:off x="364664" y="1297925"/>
            <a:ext cx="3206115" cy="2482215"/>
          </a:xfrm>
          <a:prstGeom prst="rect">
            <a:avLst/>
          </a:prstGeom>
        </p:spPr>
        <p:txBody>
          <a:bodyPr vert="horz" wrap="square" lIns="0" tIns="64769" rIns="0" bIns="0" rtlCol="0">
            <a:spAutoFit/>
          </a:bodyPr>
          <a:lstStyle/>
          <a:p>
            <a:pPr marL="12700">
              <a:lnSpc>
                <a:spcPct val="100000"/>
              </a:lnSpc>
              <a:spcBef>
                <a:spcPts val="509"/>
              </a:spcBef>
            </a:pPr>
            <a:r>
              <a:rPr sz="1450" spc="5" dirty="0">
                <a:latin typeface="Calibri"/>
                <a:cs typeface="Calibri"/>
              </a:rPr>
              <a:t>public</a:t>
            </a:r>
            <a:r>
              <a:rPr sz="1450" spc="85" dirty="0">
                <a:latin typeface="Calibri"/>
                <a:cs typeface="Calibri"/>
              </a:rPr>
              <a:t> </a:t>
            </a:r>
            <a:r>
              <a:rPr sz="1450" spc="-45" dirty="0">
                <a:latin typeface="Calibri"/>
                <a:cs typeface="Calibri"/>
              </a:rPr>
              <a:t>static</a:t>
            </a:r>
            <a:r>
              <a:rPr sz="1450" spc="5" dirty="0">
                <a:latin typeface="Calibri"/>
                <a:cs typeface="Calibri"/>
              </a:rPr>
              <a:t> </a:t>
            </a:r>
            <a:r>
              <a:rPr sz="1450" spc="-10" dirty="0">
                <a:latin typeface="Calibri"/>
                <a:cs typeface="Calibri"/>
              </a:rPr>
              <a:t>void</a:t>
            </a:r>
            <a:r>
              <a:rPr sz="1450" spc="85" dirty="0">
                <a:latin typeface="Calibri"/>
                <a:cs typeface="Calibri"/>
              </a:rPr>
              <a:t> </a:t>
            </a:r>
            <a:r>
              <a:rPr sz="1450" spc="-10" dirty="0">
                <a:latin typeface="Calibri"/>
                <a:cs typeface="Calibri"/>
              </a:rPr>
              <a:t>main(String</a:t>
            </a:r>
            <a:r>
              <a:rPr sz="1450" spc="50" dirty="0">
                <a:latin typeface="Calibri"/>
                <a:cs typeface="Calibri"/>
              </a:rPr>
              <a:t> </a:t>
            </a:r>
            <a:r>
              <a:rPr sz="1450" spc="-30" dirty="0">
                <a:latin typeface="Calibri"/>
                <a:cs typeface="Calibri"/>
              </a:rPr>
              <a:t>args[])</a:t>
            </a:r>
            <a:endParaRPr sz="1450" dirty="0">
              <a:latin typeface="Calibri"/>
              <a:cs typeface="Calibri"/>
            </a:endParaRPr>
          </a:p>
          <a:p>
            <a:pPr marL="12700">
              <a:lnSpc>
                <a:spcPct val="100000"/>
              </a:lnSpc>
              <a:spcBef>
                <a:spcPts val="420"/>
              </a:spcBef>
            </a:pPr>
            <a:r>
              <a:rPr sz="1450" spc="-25" dirty="0">
                <a:latin typeface="Calibri"/>
                <a:cs typeface="Calibri"/>
              </a:rPr>
              <a:t>{</a:t>
            </a:r>
            <a:endParaRPr sz="1450" dirty="0">
              <a:latin typeface="Calibri"/>
              <a:cs typeface="Calibri"/>
            </a:endParaRPr>
          </a:p>
          <a:p>
            <a:pPr marL="255904">
              <a:lnSpc>
                <a:spcPct val="100000"/>
              </a:lnSpc>
              <a:spcBef>
                <a:spcPts val="335"/>
              </a:spcBef>
            </a:pPr>
            <a:r>
              <a:rPr sz="1250" spc="-5" dirty="0">
                <a:latin typeface="Calibri"/>
                <a:cs typeface="Calibri"/>
              </a:rPr>
              <a:t>double</a:t>
            </a:r>
            <a:r>
              <a:rPr sz="1250" spc="15" dirty="0">
                <a:latin typeface="Calibri"/>
                <a:cs typeface="Calibri"/>
              </a:rPr>
              <a:t> </a:t>
            </a:r>
            <a:r>
              <a:rPr sz="1250" spc="-10" dirty="0">
                <a:latin typeface="Calibri"/>
                <a:cs typeface="Calibri"/>
              </a:rPr>
              <a:t>nums[]</a:t>
            </a:r>
            <a:r>
              <a:rPr sz="1250" spc="55" dirty="0">
                <a:latin typeface="Calibri"/>
                <a:cs typeface="Calibri"/>
              </a:rPr>
              <a:t> </a:t>
            </a:r>
            <a:r>
              <a:rPr sz="1250" spc="5" dirty="0">
                <a:latin typeface="Calibri"/>
                <a:cs typeface="Calibri"/>
              </a:rPr>
              <a:t>=</a:t>
            </a:r>
            <a:r>
              <a:rPr sz="1250" spc="45" dirty="0">
                <a:latin typeface="Calibri"/>
                <a:cs typeface="Calibri"/>
              </a:rPr>
              <a:t> </a:t>
            </a:r>
            <a:r>
              <a:rPr sz="1250" spc="-10" dirty="0">
                <a:latin typeface="Calibri"/>
                <a:cs typeface="Calibri"/>
              </a:rPr>
              <a:t>{10.1,</a:t>
            </a:r>
            <a:r>
              <a:rPr sz="1250" spc="-30" dirty="0">
                <a:latin typeface="Calibri"/>
                <a:cs typeface="Calibri"/>
              </a:rPr>
              <a:t> </a:t>
            </a:r>
            <a:r>
              <a:rPr sz="1250" spc="-5" dirty="0">
                <a:latin typeface="Calibri"/>
                <a:cs typeface="Calibri"/>
              </a:rPr>
              <a:t>11.2,</a:t>
            </a:r>
            <a:r>
              <a:rPr sz="1250" spc="10" dirty="0">
                <a:latin typeface="Calibri"/>
                <a:cs typeface="Calibri"/>
              </a:rPr>
              <a:t> </a:t>
            </a:r>
            <a:r>
              <a:rPr sz="1250" spc="-5" dirty="0">
                <a:latin typeface="Calibri"/>
                <a:cs typeface="Calibri"/>
              </a:rPr>
              <a:t>12.3,</a:t>
            </a:r>
            <a:r>
              <a:rPr sz="1250" spc="-30" dirty="0">
                <a:latin typeface="Calibri"/>
                <a:cs typeface="Calibri"/>
              </a:rPr>
              <a:t> </a:t>
            </a:r>
            <a:r>
              <a:rPr sz="1250" spc="-5" dirty="0">
                <a:latin typeface="Calibri"/>
                <a:cs typeface="Calibri"/>
              </a:rPr>
              <a:t>13.4,</a:t>
            </a:r>
            <a:r>
              <a:rPr sz="1250" spc="10" dirty="0">
                <a:latin typeface="Calibri"/>
                <a:cs typeface="Calibri"/>
              </a:rPr>
              <a:t> </a:t>
            </a:r>
            <a:r>
              <a:rPr sz="1250" spc="-15" dirty="0">
                <a:latin typeface="Calibri"/>
                <a:cs typeface="Calibri"/>
              </a:rPr>
              <a:t>14.5};</a:t>
            </a:r>
            <a:endParaRPr sz="1250" dirty="0">
              <a:latin typeface="Calibri"/>
              <a:cs typeface="Calibri"/>
            </a:endParaRPr>
          </a:p>
          <a:p>
            <a:pPr marL="255904">
              <a:lnSpc>
                <a:spcPct val="100000"/>
              </a:lnSpc>
              <a:spcBef>
                <a:spcPts val="380"/>
              </a:spcBef>
            </a:pPr>
            <a:r>
              <a:rPr sz="1250" spc="-5" dirty="0">
                <a:latin typeface="Calibri"/>
                <a:cs typeface="Calibri"/>
              </a:rPr>
              <a:t>double </a:t>
            </a:r>
            <a:r>
              <a:rPr sz="1250" spc="-35" dirty="0">
                <a:latin typeface="Calibri"/>
                <a:cs typeface="Calibri"/>
              </a:rPr>
              <a:t>result</a:t>
            </a:r>
            <a:r>
              <a:rPr sz="1250" spc="75" dirty="0">
                <a:latin typeface="Calibri"/>
                <a:cs typeface="Calibri"/>
              </a:rPr>
              <a:t> </a:t>
            </a:r>
            <a:r>
              <a:rPr sz="1250" spc="5" dirty="0">
                <a:latin typeface="Calibri"/>
                <a:cs typeface="Calibri"/>
              </a:rPr>
              <a:t>=</a:t>
            </a:r>
            <a:r>
              <a:rPr sz="1250" spc="-15" dirty="0">
                <a:latin typeface="Calibri"/>
                <a:cs typeface="Calibri"/>
              </a:rPr>
              <a:t> 0;</a:t>
            </a:r>
            <a:endParaRPr sz="1250" dirty="0">
              <a:latin typeface="Calibri"/>
              <a:cs typeface="Calibri"/>
            </a:endParaRPr>
          </a:p>
          <a:p>
            <a:pPr marL="255904">
              <a:lnSpc>
                <a:spcPct val="100000"/>
              </a:lnSpc>
              <a:spcBef>
                <a:spcPts val="340"/>
              </a:spcBef>
            </a:pPr>
            <a:r>
              <a:rPr sz="1250" spc="-15" dirty="0">
                <a:latin typeface="Calibri"/>
                <a:cs typeface="Calibri"/>
              </a:rPr>
              <a:t>int</a:t>
            </a:r>
            <a:r>
              <a:rPr sz="1250" spc="-20" dirty="0">
                <a:latin typeface="Calibri"/>
                <a:cs typeface="Calibri"/>
              </a:rPr>
              <a:t> </a:t>
            </a:r>
            <a:r>
              <a:rPr sz="1250" spc="-5" dirty="0">
                <a:latin typeface="Calibri"/>
                <a:cs typeface="Calibri"/>
              </a:rPr>
              <a:t>i;</a:t>
            </a:r>
            <a:endParaRPr sz="1250" dirty="0">
              <a:latin typeface="Calibri"/>
              <a:cs typeface="Calibri"/>
            </a:endParaRPr>
          </a:p>
          <a:p>
            <a:pPr marL="255904">
              <a:lnSpc>
                <a:spcPct val="100000"/>
              </a:lnSpc>
              <a:spcBef>
                <a:spcPts val="335"/>
              </a:spcBef>
            </a:pPr>
            <a:r>
              <a:rPr sz="1250" spc="-5" dirty="0">
                <a:latin typeface="Calibri"/>
                <a:cs typeface="Calibri"/>
              </a:rPr>
              <a:t>for(i=0;</a:t>
            </a:r>
            <a:r>
              <a:rPr sz="1250" spc="-15" dirty="0">
                <a:latin typeface="Calibri"/>
                <a:cs typeface="Calibri"/>
              </a:rPr>
              <a:t> </a:t>
            </a:r>
            <a:r>
              <a:rPr sz="1250" dirty="0">
                <a:latin typeface="Calibri"/>
                <a:cs typeface="Calibri"/>
              </a:rPr>
              <a:t>i&lt;5;</a:t>
            </a:r>
            <a:r>
              <a:rPr sz="1250" spc="-15" dirty="0">
                <a:latin typeface="Calibri"/>
                <a:cs typeface="Calibri"/>
              </a:rPr>
              <a:t> </a:t>
            </a:r>
            <a:r>
              <a:rPr sz="1250" spc="10" dirty="0">
                <a:latin typeface="Calibri"/>
                <a:cs typeface="Calibri"/>
              </a:rPr>
              <a:t>i++)</a:t>
            </a:r>
            <a:endParaRPr sz="1250" dirty="0">
              <a:latin typeface="Calibri"/>
              <a:cs typeface="Calibri"/>
            </a:endParaRPr>
          </a:p>
          <a:p>
            <a:pPr marL="255904" marR="138430" indent="151765">
              <a:lnSpc>
                <a:spcPct val="122600"/>
              </a:lnSpc>
            </a:pPr>
            <a:r>
              <a:rPr sz="1250" spc="-35" dirty="0">
                <a:latin typeface="Calibri"/>
                <a:cs typeface="Calibri"/>
              </a:rPr>
              <a:t>result</a:t>
            </a:r>
            <a:r>
              <a:rPr sz="1250" spc="-30" dirty="0">
                <a:latin typeface="Calibri"/>
                <a:cs typeface="Calibri"/>
              </a:rPr>
              <a:t> </a:t>
            </a:r>
            <a:r>
              <a:rPr sz="1250" spc="5" dirty="0">
                <a:latin typeface="Calibri"/>
                <a:cs typeface="Calibri"/>
              </a:rPr>
              <a:t>= </a:t>
            </a:r>
            <a:r>
              <a:rPr sz="1250" spc="-35" dirty="0">
                <a:latin typeface="Calibri"/>
                <a:cs typeface="Calibri"/>
              </a:rPr>
              <a:t>result</a:t>
            </a:r>
            <a:r>
              <a:rPr sz="1250" spc="-30" dirty="0">
                <a:latin typeface="Calibri"/>
                <a:cs typeface="Calibri"/>
              </a:rPr>
              <a:t> </a:t>
            </a:r>
            <a:r>
              <a:rPr sz="1250" spc="5" dirty="0">
                <a:latin typeface="Calibri"/>
                <a:cs typeface="Calibri"/>
              </a:rPr>
              <a:t>+ </a:t>
            </a:r>
            <a:r>
              <a:rPr sz="1250" spc="-15" dirty="0">
                <a:latin typeface="Calibri"/>
                <a:cs typeface="Calibri"/>
              </a:rPr>
              <a:t>nums[i]; </a:t>
            </a:r>
            <a:r>
              <a:rPr sz="1250" spc="-10" dirty="0">
                <a:latin typeface="Calibri"/>
                <a:cs typeface="Calibri"/>
              </a:rPr>
              <a:t> </a:t>
            </a:r>
            <a:r>
              <a:rPr sz="1250" spc="-25" dirty="0">
                <a:latin typeface="Calibri"/>
                <a:cs typeface="Calibri"/>
              </a:rPr>
              <a:t>System.out.println("Average</a:t>
            </a:r>
            <a:r>
              <a:rPr sz="1250" spc="55" dirty="0">
                <a:latin typeface="Calibri"/>
                <a:cs typeface="Calibri"/>
              </a:rPr>
              <a:t> </a:t>
            </a:r>
            <a:r>
              <a:rPr sz="1250" spc="-5" dirty="0">
                <a:latin typeface="Calibri"/>
                <a:cs typeface="Calibri"/>
              </a:rPr>
              <a:t>is</a:t>
            </a:r>
            <a:r>
              <a:rPr sz="1250" spc="65" dirty="0">
                <a:latin typeface="Calibri"/>
                <a:cs typeface="Calibri"/>
              </a:rPr>
              <a:t> </a:t>
            </a:r>
            <a:r>
              <a:rPr sz="1250" spc="-190" dirty="0">
                <a:latin typeface="Calibri"/>
                <a:cs typeface="Calibri"/>
              </a:rPr>
              <a:t>"</a:t>
            </a:r>
            <a:r>
              <a:rPr sz="1250" spc="-180" dirty="0">
                <a:latin typeface="Calibri"/>
                <a:cs typeface="Calibri"/>
              </a:rPr>
              <a:t> </a:t>
            </a:r>
            <a:r>
              <a:rPr sz="1250" spc="5" dirty="0">
                <a:latin typeface="Calibri"/>
                <a:cs typeface="Calibri"/>
              </a:rPr>
              <a:t>+</a:t>
            </a:r>
            <a:r>
              <a:rPr sz="1250" spc="50" dirty="0">
                <a:latin typeface="Calibri"/>
                <a:cs typeface="Calibri"/>
              </a:rPr>
              <a:t> </a:t>
            </a:r>
            <a:r>
              <a:rPr sz="1250" spc="-35" dirty="0">
                <a:latin typeface="Calibri"/>
                <a:cs typeface="Calibri"/>
              </a:rPr>
              <a:t>result</a:t>
            </a:r>
            <a:r>
              <a:rPr sz="1250" spc="105" dirty="0">
                <a:latin typeface="Calibri"/>
                <a:cs typeface="Calibri"/>
              </a:rPr>
              <a:t> </a:t>
            </a:r>
            <a:r>
              <a:rPr sz="1250" spc="-110" dirty="0">
                <a:latin typeface="Calibri"/>
                <a:cs typeface="Calibri"/>
              </a:rPr>
              <a:t>/</a:t>
            </a:r>
            <a:r>
              <a:rPr sz="1250" spc="25" dirty="0">
                <a:latin typeface="Calibri"/>
                <a:cs typeface="Calibri"/>
              </a:rPr>
              <a:t> </a:t>
            </a:r>
            <a:r>
              <a:rPr sz="1250" spc="-20" dirty="0">
                <a:latin typeface="Calibri"/>
                <a:cs typeface="Calibri"/>
              </a:rPr>
              <a:t>5);</a:t>
            </a:r>
            <a:endParaRPr sz="1250" dirty="0">
              <a:latin typeface="Calibri"/>
              <a:cs typeface="Calibri"/>
            </a:endParaRPr>
          </a:p>
          <a:p>
            <a:pPr marL="255904">
              <a:lnSpc>
                <a:spcPct val="100000"/>
              </a:lnSpc>
              <a:spcBef>
                <a:spcPts val="340"/>
              </a:spcBef>
            </a:pPr>
            <a:r>
              <a:rPr sz="1250" spc="-20" dirty="0">
                <a:latin typeface="Calibri"/>
                <a:cs typeface="Calibri"/>
              </a:rPr>
              <a:t>}</a:t>
            </a:r>
            <a:endParaRPr sz="1250" dirty="0">
              <a:latin typeface="Calibri"/>
              <a:cs typeface="Calibri"/>
            </a:endParaRPr>
          </a:p>
          <a:p>
            <a:pPr marL="12700">
              <a:lnSpc>
                <a:spcPct val="100000"/>
              </a:lnSpc>
              <a:spcBef>
                <a:spcPts val="375"/>
              </a:spcBef>
            </a:pPr>
            <a:r>
              <a:rPr sz="1450" spc="-25" dirty="0">
                <a:latin typeface="Calibri"/>
                <a:cs typeface="Calibri"/>
              </a:rPr>
              <a:t>}</a:t>
            </a:r>
            <a:endParaRPr sz="1450" dirty="0">
              <a:latin typeface="Calibri"/>
              <a:cs typeface="Calibri"/>
            </a:endParaRPr>
          </a:p>
        </p:txBody>
      </p:sp>
      <p:sp>
        <p:nvSpPr>
          <p:cNvPr id="5" name="object 5"/>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42465" y="261261"/>
            <a:ext cx="2604135" cy="318135"/>
          </a:xfrm>
          <a:prstGeom prst="rect">
            <a:avLst/>
          </a:prstGeom>
        </p:spPr>
        <p:txBody>
          <a:bodyPr vert="horz" wrap="square" lIns="0" tIns="14604" rIns="0" bIns="0" rtlCol="0">
            <a:spAutoFit/>
          </a:bodyPr>
          <a:lstStyle/>
          <a:p>
            <a:pPr marL="12700">
              <a:lnSpc>
                <a:spcPct val="100000"/>
              </a:lnSpc>
              <a:spcBef>
                <a:spcPts val="114"/>
              </a:spcBef>
            </a:pPr>
            <a:r>
              <a:rPr spc="-5" dirty="0">
                <a:solidFill>
                  <a:schemeClr val="tx1"/>
                </a:solidFill>
              </a:rPr>
              <a:t>Multidimensional</a:t>
            </a:r>
            <a:r>
              <a:rPr spc="60" dirty="0">
                <a:solidFill>
                  <a:schemeClr val="tx1"/>
                </a:solidFill>
              </a:rPr>
              <a:t> </a:t>
            </a:r>
            <a:r>
              <a:rPr dirty="0">
                <a:solidFill>
                  <a:schemeClr val="tx1"/>
                </a:solidFill>
              </a:rPr>
              <a:t>Arrays</a:t>
            </a:r>
          </a:p>
        </p:txBody>
      </p:sp>
      <p:sp>
        <p:nvSpPr>
          <p:cNvPr id="3" name="object 3"/>
          <p:cNvSpPr txBox="1"/>
          <p:nvPr/>
        </p:nvSpPr>
        <p:spPr>
          <a:xfrm>
            <a:off x="364664" y="750829"/>
            <a:ext cx="5763895" cy="2786380"/>
          </a:xfrm>
          <a:prstGeom prst="rect">
            <a:avLst/>
          </a:prstGeom>
        </p:spPr>
        <p:txBody>
          <a:bodyPr vert="horz" wrap="square" lIns="0" tIns="67310" rIns="0" bIns="0" rtlCol="0">
            <a:spAutoFit/>
          </a:bodyPr>
          <a:lstStyle/>
          <a:p>
            <a:pPr marL="194945" indent="-182880">
              <a:lnSpc>
                <a:spcPct val="100000"/>
              </a:lnSpc>
              <a:spcBef>
                <a:spcPts val="530"/>
              </a:spcBef>
              <a:buChar char="•"/>
              <a:tabLst>
                <a:tab pos="195580" algn="l"/>
              </a:tabLst>
            </a:pPr>
            <a:r>
              <a:rPr sz="1700" dirty="0">
                <a:latin typeface="Arial MT"/>
                <a:cs typeface="Arial MT"/>
              </a:rPr>
              <a:t>Multidimensional</a:t>
            </a:r>
            <a:r>
              <a:rPr sz="1700" spc="-125" dirty="0">
                <a:latin typeface="Arial MT"/>
                <a:cs typeface="Arial MT"/>
              </a:rPr>
              <a:t> </a:t>
            </a:r>
            <a:r>
              <a:rPr sz="1700" spc="-5" dirty="0">
                <a:latin typeface="Arial MT"/>
                <a:cs typeface="Arial MT"/>
              </a:rPr>
              <a:t>arrays </a:t>
            </a:r>
            <a:r>
              <a:rPr sz="1700" dirty="0">
                <a:latin typeface="Arial MT"/>
                <a:cs typeface="Arial MT"/>
              </a:rPr>
              <a:t>are</a:t>
            </a:r>
            <a:r>
              <a:rPr sz="1700" spc="20" dirty="0">
                <a:latin typeface="Arial MT"/>
                <a:cs typeface="Arial MT"/>
              </a:rPr>
              <a:t> </a:t>
            </a:r>
            <a:r>
              <a:rPr sz="1700" spc="10" dirty="0">
                <a:latin typeface="Arial MT"/>
                <a:cs typeface="Arial MT"/>
              </a:rPr>
              <a:t>actually</a:t>
            </a:r>
            <a:r>
              <a:rPr sz="1700" spc="-90" dirty="0">
                <a:latin typeface="Arial MT"/>
                <a:cs typeface="Arial MT"/>
              </a:rPr>
              <a:t> </a:t>
            </a:r>
            <a:r>
              <a:rPr sz="1700" spc="-5" dirty="0">
                <a:solidFill>
                  <a:srgbClr val="FF32CC"/>
                </a:solidFill>
                <a:latin typeface="Arial MT"/>
                <a:cs typeface="Arial MT"/>
              </a:rPr>
              <a:t>arrays </a:t>
            </a:r>
            <a:r>
              <a:rPr sz="1700" spc="5" dirty="0">
                <a:solidFill>
                  <a:srgbClr val="FF32CC"/>
                </a:solidFill>
                <a:latin typeface="Arial MT"/>
                <a:cs typeface="Arial MT"/>
              </a:rPr>
              <a:t>of</a:t>
            </a:r>
            <a:r>
              <a:rPr sz="1700" spc="-25" dirty="0">
                <a:solidFill>
                  <a:srgbClr val="FF32CC"/>
                </a:solidFill>
                <a:latin typeface="Arial MT"/>
                <a:cs typeface="Arial MT"/>
              </a:rPr>
              <a:t> </a:t>
            </a:r>
            <a:r>
              <a:rPr sz="1700" dirty="0">
                <a:solidFill>
                  <a:srgbClr val="FF32CC"/>
                </a:solidFill>
                <a:latin typeface="Arial MT"/>
                <a:cs typeface="Arial MT"/>
              </a:rPr>
              <a:t>arrays</a:t>
            </a:r>
            <a:r>
              <a:rPr sz="1700" dirty="0">
                <a:latin typeface="Arial MT"/>
                <a:cs typeface="Arial MT"/>
              </a:rPr>
              <a:t>.</a:t>
            </a:r>
          </a:p>
          <a:p>
            <a:pPr marL="194945" marR="5080" indent="-182880">
              <a:lnSpc>
                <a:spcPct val="100000"/>
              </a:lnSpc>
              <a:spcBef>
                <a:spcPts val="440"/>
              </a:spcBef>
              <a:buChar char="•"/>
              <a:tabLst>
                <a:tab pos="195580" algn="l"/>
              </a:tabLst>
            </a:pPr>
            <a:r>
              <a:rPr sz="1700" dirty="0">
                <a:latin typeface="Arial MT"/>
                <a:cs typeface="Arial MT"/>
              </a:rPr>
              <a:t>To</a:t>
            </a:r>
            <a:r>
              <a:rPr sz="1700" spc="-30" dirty="0">
                <a:latin typeface="Arial MT"/>
                <a:cs typeface="Arial MT"/>
              </a:rPr>
              <a:t> </a:t>
            </a:r>
            <a:r>
              <a:rPr sz="1700" spc="5" dirty="0">
                <a:latin typeface="Arial MT"/>
                <a:cs typeface="Arial MT"/>
              </a:rPr>
              <a:t>declare</a:t>
            </a:r>
            <a:r>
              <a:rPr sz="1700" spc="-75" dirty="0">
                <a:latin typeface="Arial MT"/>
                <a:cs typeface="Arial MT"/>
              </a:rPr>
              <a:t> </a:t>
            </a:r>
            <a:r>
              <a:rPr sz="1700" spc="10" dirty="0">
                <a:latin typeface="Arial MT"/>
                <a:cs typeface="Arial MT"/>
              </a:rPr>
              <a:t>a</a:t>
            </a:r>
            <a:r>
              <a:rPr sz="1700" spc="-30" dirty="0">
                <a:latin typeface="Arial MT"/>
                <a:cs typeface="Arial MT"/>
              </a:rPr>
              <a:t> </a:t>
            </a:r>
            <a:r>
              <a:rPr sz="1700" spc="5" dirty="0">
                <a:latin typeface="Arial MT"/>
                <a:cs typeface="Arial MT"/>
              </a:rPr>
              <a:t>multidimensional</a:t>
            </a:r>
            <a:r>
              <a:rPr sz="1700" spc="-100" dirty="0">
                <a:latin typeface="Arial MT"/>
                <a:cs typeface="Arial MT"/>
              </a:rPr>
              <a:t> </a:t>
            </a:r>
            <a:r>
              <a:rPr sz="1700" dirty="0">
                <a:latin typeface="Arial MT"/>
                <a:cs typeface="Arial MT"/>
              </a:rPr>
              <a:t>array</a:t>
            </a:r>
            <a:r>
              <a:rPr sz="1700" spc="-55" dirty="0">
                <a:latin typeface="Arial MT"/>
                <a:cs typeface="Arial MT"/>
              </a:rPr>
              <a:t> </a:t>
            </a:r>
            <a:r>
              <a:rPr sz="1700" spc="10" dirty="0">
                <a:latin typeface="Arial MT"/>
                <a:cs typeface="Arial MT"/>
              </a:rPr>
              <a:t>variable,</a:t>
            </a:r>
            <a:r>
              <a:rPr sz="1700" spc="-150" dirty="0">
                <a:latin typeface="Arial MT"/>
                <a:cs typeface="Arial MT"/>
              </a:rPr>
              <a:t> </a:t>
            </a:r>
            <a:r>
              <a:rPr sz="1700" spc="15" dirty="0">
                <a:latin typeface="Arial MT"/>
                <a:cs typeface="Arial MT"/>
              </a:rPr>
              <a:t>specify</a:t>
            </a:r>
            <a:r>
              <a:rPr sz="1700" spc="-135" dirty="0">
                <a:latin typeface="Arial MT"/>
                <a:cs typeface="Arial MT"/>
              </a:rPr>
              <a:t> </a:t>
            </a:r>
            <a:r>
              <a:rPr sz="1700" dirty="0">
                <a:latin typeface="Arial MT"/>
                <a:cs typeface="Arial MT"/>
              </a:rPr>
              <a:t>each </a:t>
            </a:r>
            <a:r>
              <a:rPr sz="1700" spc="-459" dirty="0">
                <a:latin typeface="Arial MT"/>
                <a:cs typeface="Arial MT"/>
              </a:rPr>
              <a:t> </a:t>
            </a:r>
            <a:r>
              <a:rPr sz="1700" spc="5" dirty="0">
                <a:latin typeface="Arial MT"/>
                <a:cs typeface="Arial MT"/>
              </a:rPr>
              <a:t>additional</a:t>
            </a:r>
            <a:r>
              <a:rPr sz="1700" spc="-140" dirty="0">
                <a:latin typeface="Arial MT"/>
                <a:cs typeface="Arial MT"/>
              </a:rPr>
              <a:t> </a:t>
            </a:r>
            <a:r>
              <a:rPr sz="1700" spc="5" dirty="0">
                <a:latin typeface="Arial MT"/>
                <a:cs typeface="Arial MT"/>
              </a:rPr>
              <a:t>index</a:t>
            </a:r>
            <a:r>
              <a:rPr sz="1700" spc="-55" dirty="0">
                <a:latin typeface="Arial MT"/>
                <a:cs typeface="Arial MT"/>
              </a:rPr>
              <a:t> </a:t>
            </a:r>
            <a:r>
              <a:rPr sz="1700" spc="10" dirty="0">
                <a:latin typeface="Arial MT"/>
                <a:cs typeface="Arial MT"/>
              </a:rPr>
              <a:t>using</a:t>
            </a:r>
            <a:r>
              <a:rPr sz="1700" spc="-110" dirty="0">
                <a:latin typeface="Arial MT"/>
                <a:cs typeface="Arial MT"/>
              </a:rPr>
              <a:t> </a:t>
            </a:r>
            <a:r>
              <a:rPr sz="1700" spc="5" dirty="0">
                <a:latin typeface="Arial MT"/>
                <a:cs typeface="Arial MT"/>
              </a:rPr>
              <a:t>another</a:t>
            </a:r>
            <a:r>
              <a:rPr sz="1700" spc="-50" dirty="0">
                <a:latin typeface="Arial MT"/>
                <a:cs typeface="Arial MT"/>
              </a:rPr>
              <a:t> </a:t>
            </a:r>
            <a:r>
              <a:rPr sz="1700" spc="10" dirty="0">
                <a:latin typeface="Arial MT"/>
                <a:cs typeface="Arial MT"/>
              </a:rPr>
              <a:t>set</a:t>
            </a:r>
            <a:r>
              <a:rPr sz="1700" spc="-75" dirty="0">
                <a:latin typeface="Arial MT"/>
                <a:cs typeface="Arial MT"/>
              </a:rPr>
              <a:t> </a:t>
            </a:r>
            <a:r>
              <a:rPr sz="1700" spc="5" dirty="0">
                <a:latin typeface="Arial MT"/>
                <a:cs typeface="Arial MT"/>
              </a:rPr>
              <a:t>of square</a:t>
            </a:r>
            <a:r>
              <a:rPr sz="1700" spc="-75" dirty="0">
                <a:latin typeface="Arial MT"/>
                <a:cs typeface="Arial MT"/>
              </a:rPr>
              <a:t> </a:t>
            </a:r>
            <a:r>
              <a:rPr sz="1700" spc="10" dirty="0">
                <a:latin typeface="Arial MT"/>
                <a:cs typeface="Arial MT"/>
              </a:rPr>
              <a:t>brackets.</a:t>
            </a:r>
            <a:endParaRPr sz="1700" dirty="0">
              <a:latin typeface="Arial MT"/>
              <a:cs typeface="Arial MT"/>
            </a:endParaRPr>
          </a:p>
          <a:p>
            <a:pPr marL="194945" indent="-182880">
              <a:lnSpc>
                <a:spcPct val="100000"/>
              </a:lnSpc>
              <a:spcBef>
                <a:spcPts val="434"/>
              </a:spcBef>
              <a:buChar char="•"/>
              <a:tabLst>
                <a:tab pos="195580" algn="l"/>
              </a:tabLst>
            </a:pPr>
            <a:r>
              <a:rPr sz="1700" spc="10" dirty="0">
                <a:latin typeface="Arial MT"/>
                <a:cs typeface="Arial MT"/>
              </a:rPr>
              <a:t>E.g</a:t>
            </a:r>
            <a:r>
              <a:rPr sz="1700" spc="-50" dirty="0">
                <a:latin typeface="Arial MT"/>
                <a:cs typeface="Arial MT"/>
              </a:rPr>
              <a:t> </a:t>
            </a:r>
            <a:r>
              <a:rPr sz="1700" spc="10" dirty="0">
                <a:latin typeface="Arial MT"/>
                <a:cs typeface="Arial MT"/>
              </a:rPr>
              <a:t>2</a:t>
            </a:r>
            <a:r>
              <a:rPr sz="1700" spc="-50" dirty="0">
                <a:latin typeface="Arial MT"/>
                <a:cs typeface="Arial MT"/>
              </a:rPr>
              <a:t> </a:t>
            </a:r>
            <a:r>
              <a:rPr sz="1700" spc="10" dirty="0">
                <a:latin typeface="Arial MT"/>
                <a:cs typeface="Arial MT"/>
              </a:rPr>
              <a:t>D</a:t>
            </a:r>
            <a:r>
              <a:rPr sz="1700" spc="-15" dirty="0">
                <a:latin typeface="Arial MT"/>
                <a:cs typeface="Arial MT"/>
              </a:rPr>
              <a:t> </a:t>
            </a:r>
            <a:r>
              <a:rPr sz="1700" dirty="0">
                <a:latin typeface="Arial MT"/>
                <a:cs typeface="Arial MT"/>
              </a:rPr>
              <a:t>array</a:t>
            </a:r>
            <a:r>
              <a:rPr sz="1700" spc="-30" dirty="0">
                <a:latin typeface="Arial MT"/>
                <a:cs typeface="Arial MT"/>
              </a:rPr>
              <a:t> </a:t>
            </a:r>
            <a:r>
              <a:rPr sz="1700" spc="5" dirty="0">
                <a:latin typeface="Arial MT"/>
                <a:cs typeface="Arial MT"/>
              </a:rPr>
              <a:t>declaration</a:t>
            </a:r>
            <a:endParaRPr sz="1700" dirty="0">
              <a:latin typeface="Arial MT"/>
              <a:cs typeface="Arial MT"/>
            </a:endParaRPr>
          </a:p>
          <a:p>
            <a:pPr>
              <a:lnSpc>
                <a:spcPct val="100000"/>
              </a:lnSpc>
              <a:spcBef>
                <a:spcPts val="35"/>
              </a:spcBef>
            </a:pPr>
            <a:endParaRPr sz="2400" dirty="0">
              <a:latin typeface="Arial MT"/>
              <a:cs typeface="Arial MT"/>
            </a:endParaRPr>
          </a:p>
          <a:p>
            <a:pPr marL="12700">
              <a:lnSpc>
                <a:spcPct val="100000"/>
              </a:lnSpc>
            </a:pPr>
            <a:r>
              <a:rPr sz="1700" spc="-50" dirty="0">
                <a:latin typeface="Calibri"/>
                <a:cs typeface="Calibri"/>
              </a:rPr>
              <a:t>int</a:t>
            </a:r>
            <a:r>
              <a:rPr sz="1700" spc="30" dirty="0">
                <a:latin typeface="Calibri"/>
                <a:cs typeface="Calibri"/>
              </a:rPr>
              <a:t> </a:t>
            </a:r>
            <a:r>
              <a:rPr sz="1700" spc="-10" dirty="0">
                <a:latin typeface="Calibri"/>
                <a:cs typeface="Calibri"/>
              </a:rPr>
              <a:t>b[][]=</a:t>
            </a:r>
            <a:r>
              <a:rPr sz="1700" spc="-40" dirty="0">
                <a:latin typeface="Calibri"/>
                <a:cs typeface="Calibri"/>
              </a:rPr>
              <a:t> </a:t>
            </a:r>
            <a:r>
              <a:rPr sz="1700" spc="-95" dirty="0">
                <a:latin typeface="Calibri"/>
                <a:cs typeface="Calibri"/>
              </a:rPr>
              <a:t>new</a:t>
            </a:r>
            <a:r>
              <a:rPr sz="1700" spc="25" dirty="0">
                <a:latin typeface="Calibri"/>
                <a:cs typeface="Calibri"/>
              </a:rPr>
              <a:t> </a:t>
            </a:r>
            <a:r>
              <a:rPr sz="1700" spc="-30" dirty="0">
                <a:latin typeface="Calibri"/>
                <a:cs typeface="Calibri"/>
              </a:rPr>
              <a:t>int[4][5];</a:t>
            </a:r>
            <a:endParaRPr sz="1700" dirty="0">
              <a:latin typeface="Calibri"/>
              <a:cs typeface="Calibri"/>
            </a:endParaRPr>
          </a:p>
          <a:p>
            <a:pPr>
              <a:lnSpc>
                <a:spcPct val="100000"/>
              </a:lnSpc>
              <a:spcBef>
                <a:spcPts val="45"/>
              </a:spcBef>
            </a:pPr>
            <a:endParaRPr sz="2350" dirty="0">
              <a:latin typeface="Calibri"/>
              <a:cs typeface="Calibri"/>
            </a:endParaRPr>
          </a:p>
          <a:p>
            <a:pPr marL="12700">
              <a:lnSpc>
                <a:spcPct val="100000"/>
              </a:lnSpc>
              <a:spcBef>
                <a:spcPts val="5"/>
              </a:spcBef>
            </a:pPr>
            <a:r>
              <a:rPr sz="1700" spc="-5" dirty="0">
                <a:latin typeface="Arial MT"/>
                <a:cs typeface="Arial MT"/>
              </a:rPr>
              <a:t>T</a:t>
            </a:r>
            <a:r>
              <a:rPr sz="1700" spc="5" dirty="0">
                <a:latin typeface="Arial MT"/>
                <a:cs typeface="Arial MT"/>
              </a:rPr>
              <a:t>h</a:t>
            </a:r>
            <a:r>
              <a:rPr sz="1700" spc="15" dirty="0">
                <a:latin typeface="Arial MT"/>
                <a:cs typeface="Arial MT"/>
              </a:rPr>
              <a:t>i</a:t>
            </a:r>
            <a:r>
              <a:rPr sz="1700" spc="5" dirty="0">
                <a:latin typeface="Arial MT"/>
                <a:cs typeface="Arial MT"/>
              </a:rPr>
              <a:t>s</a:t>
            </a:r>
            <a:r>
              <a:rPr sz="1700" spc="-10" dirty="0">
                <a:latin typeface="Times New Roman"/>
                <a:cs typeface="Times New Roman"/>
              </a:rPr>
              <a:t> </a:t>
            </a:r>
            <a:r>
              <a:rPr sz="1700" spc="5" dirty="0">
                <a:latin typeface="Arial MT"/>
                <a:cs typeface="Arial MT"/>
              </a:rPr>
              <a:t>a</a:t>
            </a:r>
            <a:r>
              <a:rPr sz="1700" spc="15" dirty="0">
                <a:latin typeface="Arial MT"/>
                <a:cs typeface="Arial MT"/>
              </a:rPr>
              <a:t>ll</a:t>
            </a:r>
            <a:r>
              <a:rPr sz="1700" spc="5" dirty="0">
                <a:latin typeface="Arial MT"/>
                <a:cs typeface="Arial MT"/>
              </a:rPr>
              <a:t>o</a:t>
            </a:r>
            <a:r>
              <a:rPr sz="1700" spc="20" dirty="0">
                <a:latin typeface="Arial MT"/>
                <a:cs typeface="Arial MT"/>
              </a:rPr>
              <a:t>c</a:t>
            </a:r>
            <a:r>
              <a:rPr sz="1700" dirty="0">
                <a:latin typeface="Arial MT"/>
                <a:cs typeface="Arial MT"/>
              </a:rPr>
              <a:t>at</a:t>
            </a:r>
            <a:r>
              <a:rPr sz="1700" spc="5" dirty="0">
                <a:latin typeface="Arial MT"/>
                <a:cs typeface="Arial MT"/>
              </a:rPr>
              <a:t>es</a:t>
            </a:r>
            <a:r>
              <a:rPr sz="1700" spc="-90" dirty="0">
                <a:latin typeface="Times New Roman"/>
                <a:cs typeface="Times New Roman"/>
              </a:rPr>
              <a:t> </a:t>
            </a:r>
            <a:r>
              <a:rPr sz="1700" spc="10" dirty="0">
                <a:latin typeface="Arial MT"/>
                <a:cs typeface="Arial MT"/>
              </a:rPr>
              <a:t>a</a:t>
            </a:r>
            <a:r>
              <a:rPr sz="1700" spc="50" dirty="0">
                <a:latin typeface="Times New Roman"/>
                <a:cs typeface="Times New Roman"/>
              </a:rPr>
              <a:t> </a:t>
            </a:r>
            <a:r>
              <a:rPr sz="1700" spc="10" dirty="0">
                <a:latin typeface="Arial MT"/>
                <a:cs typeface="Arial MT"/>
              </a:rPr>
              <a:t>4</a:t>
            </a:r>
            <a:r>
              <a:rPr sz="1700" spc="15" dirty="0">
                <a:latin typeface="Times New Roman"/>
                <a:cs typeface="Times New Roman"/>
              </a:rPr>
              <a:t> </a:t>
            </a:r>
            <a:r>
              <a:rPr sz="1700" spc="5" dirty="0">
                <a:latin typeface="Arial MT"/>
                <a:cs typeface="Arial MT"/>
              </a:rPr>
              <a:t>by</a:t>
            </a:r>
            <a:r>
              <a:rPr sz="1700" spc="30" dirty="0">
                <a:latin typeface="Times New Roman"/>
                <a:cs typeface="Times New Roman"/>
              </a:rPr>
              <a:t> </a:t>
            </a:r>
            <a:r>
              <a:rPr sz="1700" spc="10" dirty="0">
                <a:latin typeface="Arial MT"/>
                <a:cs typeface="Arial MT"/>
              </a:rPr>
              <a:t>5</a:t>
            </a:r>
            <a:r>
              <a:rPr sz="1700" spc="50" dirty="0">
                <a:latin typeface="Times New Roman"/>
                <a:cs typeface="Times New Roman"/>
              </a:rPr>
              <a:t> </a:t>
            </a:r>
            <a:r>
              <a:rPr sz="1700" spc="10" dirty="0">
                <a:latin typeface="Arial MT"/>
                <a:cs typeface="Arial MT"/>
              </a:rPr>
              <a:t>a</a:t>
            </a:r>
            <a:r>
              <a:rPr sz="1700" spc="-10" dirty="0">
                <a:latin typeface="Arial MT"/>
                <a:cs typeface="Arial MT"/>
              </a:rPr>
              <a:t>rr</a:t>
            </a:r>
            <a:r>
              <a:rPr sz="1700" spc="5" dirty="0">
                <a:latin typeface="Arial MT"/>
                <a:cs typeface="Arial MT"/>
              </a:rPr>
              <a:t>ay</a:t>
            </a:r>
            <a:r>
              <a:rPr sz="1700" spc="-10" dirty="0">
                <a:latin typeface="Times New Roman"/>
                <a:cs typeface="Times New Roman"/>
              </a:rPr>
              <a:t> </a:t>
            </a:r>
            <a:r>
              <a:rPr sz="1700" spc="5" dirty="0">
                <a:latin typeface="Arial MT"/>
                <a:cs typeface="Arial MT"/>
              </a:rPr>
              <a:t>an</a:t>
            </a:r>
            <a:r>
              <a:rPr sz="1700" spc="10" dirty="0">
                <a:latin typeface="Arial MT"/>
                <a:cs typeface="Arial MT"/>
              </a:rPr>
              <a:t>d</a:t>
            </a:r>
            <a:r>
              <a:rPr sz="1700" spc="15" dirty="0">
                <a:latin typeface="Times New Roman"/>
                <a:cs typeface="Times New Roman"/>
              </a:rPr>
              <a:t> </a:t>
            </a:r>
            <a:r>
              <a:rPr sz="1700" spc="5" dirty="0">
                <a:latin typeface="Arial MT"/>
                <a:cs typeface="Arial MT"/>
              </a:rPr>
              <a:t>a</a:t>
            </a:r>
            <a:r>
              <a:rPr sz="1700" spc="20" dirty="0">
                <a:latin typeface="Arial MT"/>
                <a:cs typeface="Arial MT"/>
              </a:rPr>
              <a:t>ssi</a:t>
            </a:r>
            <a:r>
              <a:rPr sz="1700" spc="5" dirty="0">
                <a:latin typeface="Arial MT"/>
                <a:cs typeface="Arial MT"/>
              </a:rPr>
              <a:t>gns</a:t>
            </a:r>
            <a:r>
              <a:rPr sz="1700" spc="-50" dirty="0">
                <a:latin typeface="Times New Roman"/>
                <a:cs typeface="Times New Roman"/>
              </a:rPr>
              <a:t> </a:t>
            </a:r>
            <a:r>
              <a:rPr sz="1700" spc="15" dirty="0">
                <a:latin typeface="Arial MT"/>
                <a:cs typeface="Arial MT"/>
              </a:rPr>
              <a:t>i</a:t>
            </a:r>
            <a:r>
              <a:rPr sz="1700" spc="5" dirty="0">
                <a:latin typeface="Arial MT"/>
                <a:cs typeface="Arial MT"/>
              </a:rPr>
              <a:t>t</a:t>
            </a:r>
            <a:r>
              <a:rPr sz="1700" spc="15" dirty="0">
                <a:latin typeface="Times New Roman"/>
                <a:cs typeface="Times New Roman"/>
              </a:rPr>
              <a:t> </a:t>
            </a:r>
            <a:r>
              <a:rPr sz="1700" spc="5" dirty="0">
                <a:latin typeface="Arial MT"/>
                <a:cs typeface="Arial MT"/>
              </a:rPr>
              <a:t>to</a:t>
            </a:r>
            <a:r>
              <a:rPr sz="1700" spc="15" dirty="0">
                <a:latin typeface="Times New Roman"/>
                <a:cs typeface="Times New Roman"/>
              </a:rPr>
              <a:t> </a:t>
            </a:r>
            <a:r>
              <a:rPr sz="1700" spc="60" dirty="0">
                <a:latin typeface="Arial MT"/>
                <a:cs typeface="Arial MT"/>
              </a:rPr>
              <a:t>v</a:t>
            </a:r>
            <a:r>
              <a:rPr sz="1700" spc="5" dirty="0">
                <a:latin typeface="Arial MT"/>
                <a:cs typeface="Arial MT"/>
              </a:rPr>
              <a:t>a</a:t>
            </a:r>
            <a:r>
              <a:rPr sz="1700" spc="-10" dirty="0">
                <a:latin typeface="Arial MT"/>
                <a:cs typeface="Arial MT"/>
              </a:rPr>
              <a:t>r</a:t>
            </a:r>
            <a:r>
              <a:rPr sz="1700" spc="15" dirty="0">
                <a:latin typeface="Arial MT"/>
                <a:cs typeface="Arial MT"/>
              </a:rPr>
              <a:t>i</a:t>
            </a:r>
            <a:r>
              <a:rPr sz="1700" spc="5" dirty="0">
                <a:latin typeface="Arial MT"/>
                <a:cs typeface="Arial MT"/>
              </a:rPr>
              <a:t>ab</a:t>
            </a:r>
            <a:r>
              <a:rPr sz="1700" spc="20" dirty="0">
                <a:latin typeface="Arial MT"/>
                <a:cs typeface="Arial MT"/>
              </a:rPr>
              <a:t>l</a:t>
            </a:r>
            <a:r>
              <a:rPr sz="1700" spc="10" dirty="0">
                <a:latin typeface="Arial MT"/>
                <a:cs typeface="Arial MT"/>
              </a:rPr>
              <a:t>e</a:t>
            </a:r>
            <a:r>
              <a:rPr sz="1700" spc="-40" dirty="0">
                <a:latin typeface="Times New Roman"/>
                <a:cs typeface="Times New Roman"/>
              </a:rPr>
              <a:t> </a:t>
            </a:r>
            <a:r>
              <a:rPr sz="1700" b="1" spc="-10" dirty="0">
                <a:latin typeface="Arial"/>
                <a:cs typeface="Arial"/>
              </a:rPr>
              <a:t>b.</a:t>
            </a:r>
            <a:endParaRPr sz="1700" dirty="0">
              <a:latin typeface="Arial"/>
              <a:cs typeface="Arial"/>
            </a:endParaRPr>
          </a:p>
          <a:p>
            <a:pPr marL="12700">
              <a:lnSpc>
                <a:spcPct val="100000"/>
              </a:lnSpc>
              <a:spcBef>
                <a:spcPts val="434"/>
              </a:spcBef>
            </a:pPr>
            <a:r>
              <a:rPr sz="1700" spc="5" dirty="0">
                <a:solidFill>
                  <a:srgbClr val="00AF50"/>
                </a:solidFill>
                <a:latin typeface="Arial MT"/>
                <a:cs typeface="Arial MT"/>
              </a:rPr>
              <a:t>4</a:t>
            </a:r>
            <a:r>
              <a:rPr sz="1700" spc="-45" dirty="0">
                <a:solidFill>
                  <a:srgbClr val="00AF50"/>
                </a:solidFill>
                <a:latin typeface="Arial MT"/>
                <a:cs typeface="Arial MT"/>
              </a:rPr>
              <a:t> </a:t>
            </a:r>
            <a:r>
              <a:rPr sz="1700" spc="-20" dirty="0">
                <a:solidFill>
                  <a:srgbClr val="00AF50"/>
                </a:solidFill>
                <a:latin typeface="Arial MT"/>
                <a:cs typeface="Arial MT"/>
              </a:rPr>
              <a:t>rows</a:t>
            </a:r>
            <a:r>
              <a:rPr sz="1700" spc="50" dirty="0">
                <a:solidFill>
                  <a:srgbClr val="00AF50"/>
                </a:solidFill>
                <a:latin typeface="Arial MT"/>
                <a:cs typeface="Arial MT"/>
              </a:rPr>
              <a:t> </a:t>
            </a:r>
            <a:r>
              <a:rPr sz="1700" spc="5" dirty="0">
                <a:solidFill>
                  <a:srgbClr val="00AF50"/>
                </a:solidFill>
                <a:latin typeface="Arial MT"/>
                <a:cs typeface="Arial MT"/>
              </a:rPr>
              <a:t>and</a:t>
            </a:r>
            <a:r>
              <a:rPr sz="1700" spc="-45" dirty="0">
                <a:solidFill>
                  <a:srgbClr val="00AF50"/>
                </a:solidFill>
                <a:latin typeface="Arial MT"/>
                <a:cs typeface="Arial MT"/>
              </a:rPr>
              <a:t> </a:t>
            </a:r>
            <a:r>
              <a:rPr sz="1700" spc="5" dirty="0">
                <a:solidFill>
                  <a:srgbClr val="00AF50"/>
                </a:solidFill>
                <a:latin typeface="Arial MT"/>
                <a:cs typeface="Arial MT"/>
              </a:rPr>
              <a:t>5</a:t>
            </a:r>
            <a:r>
              <a:rPr sz="1700" spc="-5" dirty="0">
                <a:solidFill>
                  <a:srgbClr val="00AF50"/>
                </a:solidFill>
                <a:latin typeface="Arial MT"/>
                <a:cs typeface="Arial MT"/>
              </a:rPr>
              <a:t> </a:t>
            </a:r>
            <a:r>
              <a:rPr sz="1700" spc="10" dirty="0">
                <a:solidFill>
                  <a:srgbClr val="00AF50"/>
                </a:solidFill>
                <a:latin typeface="Arial MT"/>
                <a:cs typeface="Arial MT"/>
              </a:rPr>
              <a:t>columns</a:t>
            </a:r>
            <a:endParaRPr sz="1700" dirty="0">
              <a:latin typeface="Arial MT"/>
              <a:cs typeface="Arial MT"/>
            </a:endParaRPr>
          </a:p>
        </p:txBody>
      </p:sp>
      <p:sp>
        <p:nvSpPr>
          <p:cNvPr id="5" name="object 5"/>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58D20B-2BB1-BB21-033B-18D6900CA13F}"/>
              </a:ext>
            </a:extLst>
          </p:cNvPr>
          <p:cNvPicPr>
            <a:picLocks noChangeAspect="1"/>
          </p:cNvPicPr>
          <p:nvPr/>
        </p:nvPicPr>
        <p:blipFill>
          <a:blip r:embed="rId2"/>
          <a:stretch>
            <a:fillRect/>
          </a:stretch>
        </p:blipFill>
        <p:spPr>
          <a:xfrm>
            <a:off x="93663" y="327025"/>
            <a:ext cx="5291138" cy="3048589"/>
          </a:xfrm>
          <a:prstGeom prst="rect">
            <a:avLst/>
          </a:prstGeom>
        </p:spPr>
      </p:pic>
      <p:sp>
        <p:nvSpPr>
          <p:cNvPr id="7" name="TextBox 6">
            <a:extLst>
              <a:ext uri="{FF2B5EF4-FFF2-40B4-BE49-F238E27FC236}">
                <a16:creationId xmlns:a16="http://schemas.microsoft.com/office/drawing/2014/main" id="{1DBB01D8-4CF7-2DF4-79D6-E133B0ADC5FF}"/>
              </a:ext>
            </a:extLst>
          </p:cNvPr>
          <p:cNvSpPr txBox="1"/>
          <p:nvPr/>
        </p:nvSpPr>
        <p:spPr>
          <a:xfrm>
            <a:off x="279400" y="3362444"/>
            <a:ext cx="6129337" cy="841256"/>
          </a:xfrm>
          <a:prstGeom prst="rect">
            <a:avLst/>
          </a:prstGeom>
          <a:noFill/>
        </p:spPr>
        <p:txBody>
          <a:bodyPr wrap="square">
            <a:spAutoFit/>
          </a:bodyPr>
          <a:lstStyle/>
          <a:p>
            <a:pPr marL="194945" indent="-182880">
              <a:lnSpc>
                <a:spcPct val="100000"/>
              </a:lnSpc>
              <a:spcBef>
                <a:spcPts val="450"/>
              </a:spcBef>
              <a:buChar char="•"/>
              <a:tabLst>
                <a:tab pos="195580" algn="l"/>
              </a:tabLst>
            </a:pPr>
            <a:r>
              <a:rPr lang="en-US" sz="1400" spc="-5" dirty="0">
                <a:latin typeface="Arial MT"/>
                <a:cs typeface="Arial MT"/>
              </a:rPr>
              <a:t>T</a:t>
            </a:r>
            <a:r>
              <a:rPr lang="en-US" sz="1400" spc="5" dirty="0">
                <a:latin typeface="Arial MT"/>
                <a:cs typeface="Arial MT"/>
              </a:rPr>
              <a:t>h</a:t>
            </a:r>
            <a:r>
              <a:rPr lang="en-US" sz="1400" spc="10" dirty="0">
                <a:latin typeface="Arial MT"/>
                <a:cs typeface="Arial MT"/>
              </a:rPr>
              <a:t>e</a:t>
            </a:r>
            <a:r>
              <a:rPr lang="en-US" sz="1400" spc="15" dirty="0">
                <a:latin typeface="Times New Roman"/>
                <a:cs typeface="Times New Roman"/>
              </a:rPr>
              <a:t> </a:t>
            </a:r>
            <a:r>
              <a:rPr lang="en-US" sz="1400" spc="40" dirty="0">
                <a:latin typeface="Arial MT"/>
                <a:cs typeface="Arial MT"/>
              </a:rPr>
              <a:t>f</a:t>
            </a:r>
            <a:r>
              <a:rPr lang="en-US" sz="1400" spc="5" dirty="0">
                <a:latin typeface="Arial MT"/>
                <a:cs typeface="Arial MT"/>
              </a:rPr>
              <a:t>o</a:t>
            </a:r>
            <a:r>
              <a:rPr lang="en-US" sz="1400" spc="15" dirty="0">
                <a:latin typeface="Arial MT"/>
                <a:cs typeface="Arial MT"/>
              </a:rPr>
              <a:t>ll</a:t>
            </a:r>
            <a:r>
              <a:rPr lang="en-US" sz="1400" spc="5" dirty="0">
                <a:latin typeface="Arial MT"/>
                <a:cs typeface="Arial MT"/>
              </a:rPr>
              <a:t>o</a:t>
            </a:r>
            <a:r>
              <a:rPr lang="en-US" sz="1400" spc="-75" dirty="0">
                <a:latin typeface="Arial MT"/>
                <a:cs typeface="Arial MT"/>
              </a:rPr>
              <a:t>w</a:t>
            </a:r>
            <a:r>
              <a:rPr lang="en-US" sz="1400" spc="15" dirty="0">
                <a:latin typeface="Arial MT"/>
                <a:cs typeface="Arial MT"/>
              </a:rPr>
              <a:t>i</a:t>
            </a:r>
            <a:r>
              <a:rPr lang="en-US" sz="1400" spc="5" dirty="0">
                <a:latin typeface="Arial MT"/>
                <a:cs typeface="Arial MT"/>
              </a:rPr>
              <a:t>n</a:t>
            </a:r>
            <a:r>
              <a:rPr lang="en-US" sz="1400" spc="10" dirty="0">
                <a:latin typeface="Arial MT"/>
                <a:cs typeface="Arial MT"/>
              </a:rPr>
              <a:t>g</a:t>
            </a:r>
            <a:r>
              <a:rPr lang="en-US" sz="1400" spc="-25" dirty="0">
                <a:latin typeface="Times New Roman"/>
                <a:cs typeface="Times New Roman"/>
              </a:rPr>
              <a:t> </a:t>
            </a:r>
            <a:r>
              <a:rPr lang="en-US" sz="1400" spc="5" dirty="0">
                <a:latin typeface="Arial MT"/>
                <a:cs typeface="Arial MT"/>
              </a:rPr>
              <a:t>de</a:t>
            </a:r>
            <a:r>
              <a:rPr lang="en-US" sz="1400" spc="25" dirty="0">
                <a:latin typeface="Arial MT"/>
                <a:cs typeface="Arial MT"/>
              </a:rPr>
              <a:t>c</a:t>
            </a:r>
            <a:r>
              <a:rPr lang="en-US" sz="1400" spc="15" dirty="0">
                <a:latin typeface="Arial MT"/>
                <a:cs typeface="Arial MT"/>
              </a:rPr>
              <a:t>l</a:t>
            </a:r>
            <a:r>
              <a:rPr lang="en-US" sz="1400" spc="5" dirty="0">
                <a:latin typeface="Arial MT"/>
                <a:cs typeface="Arial MT"/>
              </a:rPr>
              <a:t>a</a:t>
            </a:r>
            <a:r>
              <a:rPr lang="en-US" sz="1400" spc="-10" dirty="0">
                <a:latin typeface="Arial MT"/>
                <a:cs typeface="Arial MT"/>
              </a:rPr>
              <a:t>r</a:t>
            </a:r>
            <a:r>
              <a:rPr lang="en-US" sz="1400" dirty="0">
                <a:latin typeface="Arial MT"/>
                <a:cs typeface="Arial MT"/>
              </a:rPr>
              <a:t>at</a:t>
            </a:r>
            <a:r>
              <a:rPr lang="en-US" sz="1400" spc="15" dirty="0">
                <a:latin typeface="Arial MT"/>
                <a:cs typeface="Arial MT"/>
              </a:rPr>
              <a:t>i</a:t>
            </a:r>
            <a:r>
              <a:rPr lang="en-US" sz="1400" spc="-30" dirty="0">
                <a:latin typeface="Arial MT"/>
                <a:cs typeface="Arial MT"/>
              </a:rPr>
              <a:t>o</a:t>
            </a:r>
            <a:r>
              <a:rPr lang="en-US" sz="1400" spc="5" dirty="0">
                <a:latin typeface="Arial MT"/>
                <a:cs typeface="Arial MT"/>
              </a:rPr>
              <a:t>ns</a:t>
            </a:r>
            <a:r>
              <a:rPr lang="en-US" sz="1400" spc="-85" dirty="0">
                <a:latin typeface="Times New Roman"/>
                <a:cs typeface="Times New Roman"/>
              </a:rPr>
              <a:t> </a:t>
            </a:r>
            <a:r>
              <a:rPr lang="en-US" sz="1400" spc="5" dirty="0">
                <a:latin typeface="Arial MT"/>
                <a:cs typeface="Arial MT"/>
              </a:rPr>
              <a:t>a</a:t>
            </a:r>
            <a:r>
              <a:rPr lang="en-US" sz="1400" spc="-10" dirty="0">
                <a:latin typeface="Arial MT"/>
                <a:cs typeface="Arial MT"/>
              </a:rPr>
              <a:t>r</a:t>
            </a:r>
            <a:r>
              <a:rPr lang="en-US" sz="1400" spc="10" dirty="0">
                <a:latin typeface="Arial MT"/>
                <a:cs typeface="Arial MT"/>
              </a:rPr>
              <a:t>e</a:t>
            </a:r>
            <a:r>
              <a:rPr lang="en-US" sz="1400" spc="50" dirty="0">
                <a:latin typeface="Times New Roman"/>
                <a:cs typeface="Times New Roman"/>
              </a:rPr>
              <a:t> </a:t>
            </a:r>
            <a:r>
              <a:rPr lang="en-US" sz="1400" spc="10" dirty="0">
                <a:latin typeface="Arial MT"/>
                <a:cs typeface="Arial MT"/>
              </a:rPr>
              <a:t>a</a:t>
            </a:r>
            <a:r>
              <a:rPr lang="en-US" sz="1400" spc="20" dirty="0">
                <a:latin typeface="Arial MT"/>
                <a:cs typeface="Arial MT"/>
              </a:rPr>
              <a:t>ls</a:t>
            </a:r>
            <a:r>
              <a:rPr lang="en-US" sz="1400" spc="10" dirty="0">
                <a:latin typeface="Arial MT"/>
                <a:cs typeface="Arial MT"/>
              </a:rPr>
              <a:t>o</a:t>
            </a:r>
            <a:r>
              <a:rPr lang="en-US" sz="1400" spc="-30" dirty="0">
                <a:latin typeface="Times New Roman"/>
                <a:cs typeface="Times New Roman"/>
              </a:rPr>
              <a:t> </a:t>
            </a:r>
            <a:r>
              <a:rPr lang="en-US" sz="1400" spc="5" dirty="0">
                <a:latin typeface="Arial MT"/>
                <a:cs typeface="Arial MT"/>
              </a:rPr>
              <a:t>eq</a:t>
            </a:r>
            <a:r>
              <a:rPr lang="en-US" sz="1400" spc="10" dirty="0">
                <a:latin typeface="Arial MT"/>
                <a:cs typeface="Arial MT"/>
              </a:rPr>
              <a:t>u</a:t>
            </a:r>
            <a:r>
              <a:rPr lang="en-US" sz="1400" spc="20" dirty="0">
                <a:latin typeface="Arial MT"/>
                <a:cs typeface="Arial MT"/>
              </a:rPr>
              <a:t>iv</a:t>
            </a:r>
            <a:r>
              <a:rPr lang="en-US" sz="1400" spc="5" dirty="0">
                <a:latin typeface="Arial MT"/>
                <a:cs typeface="Arial MT"/>
              </a:rPr>
              <a:t>a</a:t>
            </a:r>
            <a:r>
              <a:rPr lang="en-US" sz="1400" spc="15" dirty="0">
                <a:latin typeface="Arial MT"/>
                <a:cs typeface="Arial MT"/>
              </a:rPr>
              <a:t>l</a:t>
            </a:r>
            <a:r>
              <a:rPr lang="en-US" sz="1400" spc="-30" dirty="0">
                <a:latin typeface="Arial MT"/>
                <a:cs typeface="Arial MT"/>
              </a:rPr>
              <a:t>e</a:t>
            </a:r>
            <a:r>
              <a:rPr lang="en-US" sz="1400" dirty="0">
                <a:latin typeface="Arial MT"/>
                <a:cs typeface="Arial MT"/>
              </a:rPr>
              <a:t>nt:</a:t>
            </a:r>
          </a:p>
          <a:p>
            <a:pPr marL="12700">
              <a:lnSpc>
                <a:spcPct val="100000"/>
              </a:lnSpc>
              <a:spcBef>
                <a:spcPts val="360"/>
              </a:spcBef>
            </a:pPr>
            <a:r>
              <a:rPr lang="en-US" sz="1400" dirty="0">
                <a:latin typeface="Calibri"/>
                <a:cs typeface="Calibri"/>
              </a:rPr>
              <a:t>c</a:t>
            </a:r>
            <a:r>
              <a:rPr lang="en-US" sz="1400" spc="15" dirty="0">
                <a:latin typeface="Calibri"/>
                <a:cs typeface="Calibri"/>
              </a:rPr>
              <a:t>h</a:t>
            </a:r>
            <a:r>
              <a:rPr lang="en-US" sz="1400" spc="-105" dirty="0">
                <a:latin typeface="Calibri"/>
                <a:cs typeface="Calibri"/>
              </a:rPr>
              <a:t>a</a:t>
            </a:r>
            <a:r>
              <a:rPr lang="en-US" sz="1400" dirty="0">
                <a:latin typeface="Calibri"/>
                <a:cs typeface="Calibri"/>
              </a:rPr>
              <a:t>r</a:t>
            </a:r>
            <a:r>
              <a:rPr lang="en-US" sz="1400" spc="-30" dirty="0">
                <a:latin typeface="Times New Roman"/>
                <a:cs typeface="Times New Roman"/>
              </a:rPr>
              <a:t> </a:t>
            </a:r>
            <a:r>
              <a:rPr lang="en-US" sz="1400" spc="-135" dirty="0" err="1">
                <a:latin typeface="Calibri"/>
                <a:cs typeface="Calibri"/>
              </a:rPr>
              <a:t>t</a:t>
            </a:r>
            <a:r>
              <a:rPr lang="en-US" sz="1400" spc="-185" dirty="0" err="1">
                <a:latin typeface="Calibri"/>
                <a:cs typeface="Calibri"/>
              </a:rPr>
              <a:t>w</a:t>
            </a:r>
            <a:r>
              <a:rPr lang="en-US" sz="1400" spc="-25" dirty="0" err="1">
                <a:latin typeface="Calibri"/>
                <a:cs typeface="Calibri"/>
              </a:rPr>
              <a:t>o</a:t>
            </a:r>
            <a:r>
              <a:rPr lang="en-US" sz="1400" spc="20" dirty="0" err="1">
                <a:latin typeface="Calibri"/>
                <a:cs typeface="Calibri"/>
              </a:rPr>
              <a:t>d</a:t>
            </a:r>
            <a:r>
              <a:rPr lang="en-US" sz="1400" spc="-10" dirty="0">
                <a:latin typeface="Calibri"/>
                <a:cs typeface="Calibri"/>
              </a:rPr>
              <a:t>[][</a:t>
            </a:r>
            <a:r>
              <a:rPr lang="en-US" sz="1400" spc="-20" dirty="0">
                <a:latin typeface="Calibri"/>
                <a:cs typeface="Calibri"/>
              </a:rPr>
              <a:t>]</a:t>
            </a:r>
            <a:r>
              <a:rPr lang="en-US" sz="1400" spc="-95" dirty="0">
                <a:latin typeface="Times New Roman"/>
                <a:cs typeface="Times New Roman"/>
              </a:rPr>
              <a:t> </a:t>
            </a:r>
            <a:r>
              <a:rPr lang="en-US" sz="1400" spc="-5" dirty="0">
                <a:latin typeface="Calibri"/>
                <a:cs typeface="Calibri"/>
              </a:rPr>
              <a:t>=</a:t>
            </a:r>
            <a:r>
              <a:rPr lang="en-US" sz="1400" spc="5" dirty="0">
                <a:latin typeface="Times New Roman"/>
                <a:cs typeface="Times New Roman"/>
              </a:rPr>
              <a:t> </a:t>
            </a:r>
            <a:r>
              <a:rPr lang="en-US" sz="1400" spc="-20" dirty="0">
                <a:latin typeface="Calibri"/>
                <a:cs typeface="Calibri"/>
              </a:rPr>
              <a:t>n</a:t>
            </a:r>
            <a:r>
              <a:rPr lang="en-US" sz="1400" spc="-95" dirty="0">
                <a:latin typeface="Calibri"/>
                <a:cs typeface="Calibri"/>
              </a:rPr>
              <a:t>e</a:t>
            </a:r>
            <a:r>
              <a:rPr lang="en-US" sz="1400" spc="-165" dirty="0">
                <a:latin typeface="Calibri"/>
                <a:cs typeface="Calibri"/>
              </a:rPr>
              <a:t>w</a:t>
            </a:r>
            <a:r>
              <a:rPr lang="en-US" sz="1400" spc="-10" dirty="0">
                <a:latin typeface="Times New Roman"/>
                <a:cs typeface="Times New Roman"/>
              </a:rPr>
              <a:t> </a:t>
            </a:r>
            <a:r>
              <a:rPr lang="en-US" sz="1400" dirty="0">
                <a:latin typeface="Calibri"/>
                <a:cs typeface="Calibri"/>
              </a:rPr>
              <a:t>c</a:t>
            </a:r>
            <a:r>
              <a:rPr lang="en-US" sz="1400" spc="15" dirty="0">
                <a:latin typeface="Calibri"/>
                <a:cs typeface="Calibri"/>
              </a:rPr>
              <a:t>h</a:t>
            </a:r>
            <a:r>
              <a:rPr lang="en-US" sz="1400" spc="-105" dirty="0">
                <a:latin typeface="Calibri"/>
                <a:cs typeface="Calibri"/>
              </a:rPr>
              <a:t>a</a:t>
            </a:r>
            <a:r>
              <a:rPr lang="en-US" sz="1400" spc="-10" dirty="0">
                <a:latin typeface="Calibri"/>
                <a:cs typeface="Calibri"/>
              </a:rPr>
              <a:t>r</a:t>
            </a:r>
            <a:r>
              <a:rPr lang="en-US" sz="1400" dirty="0">
                <a:latin typeface="Calibri"/>
                <a:cs typeface="Calibri"/>
              </a:rPr>
              <a:t>[</a:t>
            </a:r>
            <a:r>
              <a:rPr lang="en-US" sz="1400" spc="-30" dirty="0">
                <a:latin typeface="Calibri"/>
                <a:cs typeface="Calibri"/>
              </a:rPr>
              <a:t>3</a:t>
            </a:r>
            <a:r>
              <a:rPr lang="en-US" sz="1400" spc="-10" dirty="0">
                <a:latin typeface="Calibri"/>
                <a:cs typeface="Calibri"/>
              </a:rPr>
              <a:t>][</a:t>
            </a:r>
            <a:r>
              <a:rPr lang="en-US" sz="1400" spc="-30" dirty="0">
                <a:latin typeface="Calibri"/>
                <a:cs typeface="Calibri"/>
              </a:rPr>
              <a:t>4</a:t>
            </a:r>
            <a:r>
              <a:rPr lang="en-US" sz="1400" spc="-10" dirty="0">
                <a:latin typeface="Calibri"/>
                <a:cs typeface="Calibri"/>
              </a:rPr>
              <a:t>]</a:t>
            </a:r>
            <a:r>
              <a:rPr lang="en-US" sz="1400" spc="-50" dirty="0">
                <a:latin typeface="Calibri"/>
                <a:cs typeface="Calibri"/>
              </a:rPr>
              <a:t>;</a:t>
            </a:r>
            <a:endParaRPr lang="en-US" sz="1400" dirty="0">
              <a:latin typeface="Calibri"/>
              <a:cs typeface="Calibri"/>
            </a:endParaRPr>
          </a:p>
          <a:p>
            <a:pPr marL="12700">
              <a:lnSpc>
                <a:spcPct val="100000"/>
              </a:lnSpc>
              <a:spcBef>
                <a:spcPts val="400"/>
              </a:spcBef>
            </a:pPr>
            <a:r>
              <a:rPr lang="en-US" sz="1400" spc="-15" dirty="0">
                <a:latin typeface="Calibri"/>
                <a:cs typeface="Calibri"/>
              </a:rPr>
              <a:t>char[][]</a:t>
            </a:r>
            <a:r>
              <a:rPr lang="en-US" sz="1400" spc="-65" dirty="0">
                <a:latin typeface="Calibri"/>
                <a:cs typeface="Calibri"/>
              </a:rPr>
              <a:t>  </a:t>
            </a:r>
            <a:r>
              <a:rPr lang="en-US" sz="1400" spc="-85" dirty="0" err="1">
                <a:latin typeface="Calibri"/>
                <a:cs typeface="Calibri"/>
              </a:rPr>
              <a:t>twod</a:t>
            </a:r>
            <a:r>
              <a:rPr lang="en-US" sz="1400" spc="10" dirty="0">
                <a:latin typeface="Calibri"/>
                <a:cs typeface="Calibri"/>
              </a:rPr>
              <a:t> </a:t>
            </a:r>
            <a:r>
              <a:rPr lang="en-US" sz="1400" spc="-5" dirty="0">
                <a:latin typeface="Calibri"/>
                <a:cs typeface="Calibri"/>
              </a:rPr>
              <a:t>=</a:t>
            </a:r>
            <a:r>
              <a:rPr lang="en-US" sz="1400" spc="35" dirty="0">
                <a:latin typeface="Calibri"/>
                <a:cs typeface="Calibri"/>
              </a:rPr>
              <a:t> </a:t>
            </a:r>
            <a:r>
              <a:rPr lang="en-US" sz="1400" spc="-95" dirty="0">
                <a:latin typeface="Calibri"/>
                <a:cs typeface="Calibri"/>
              </a:rPr>
              <a:t>new</a:t>
            </a:r>
            <a:r>
              <a:rPr lang="en-US" sz="1400" spc="15" dirty="0">
                <a:latin typeface="Calibri"/>
                <a:cs typeface="Calibri"/>
              </a:rPr>
              <a:t> </a:t>
            </a:r>
            <a:r>
              <a:rPr lang="en-US" sz="1400" spc="-20" dirty="0">
                <a:latin typeface="Calibri"/>
                <a:cs typeface="Calibri"/>
              </a:rPr>
              <a:t>char[3][4];</a:t>
            </a:r>
            <a:endParaRPr lang="en-US" sz="1400" dirty="0">
              <a:latin typeface="Calibri"/>
              <a:cs typeface="Calibri"/>
            </a:endParaRPr>
          </a:p>
        </p:txBody>
      </p:sp>
    </p:spTree>
    <p:extLst>
      <p:ext uri="{BB962C8B-B14F-4D97-AF65-F5344CB8AC3E}">
        <p14:creationId xmlns:p14="http://schemas.microsoft.com/office/powerpoint/2010/main" val="3902604665"/>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grpSp>
        <p:nvGrpSpPr>
          <p:cNvPr id="3" name="object 3"/>
          <p:cNvGrpSpPr/>
          <p:nvPr/>
        </p:nvGrpSpPr>
        <p:grpSpPr>
          <a:xfrm>
            <a:off x="242215" y="2093187"/>
            <a:ext cx="2357120" cy="1358265"/>
            <a:chOff x="242215" y="2093187"/>
            <a:chExt cx="2357120" cy="1358265"/>
          </a:xfrm>
        </p:grpSpPr>
        <p:pic>
          <p:nvPicPr>
            <p:cNvPr id="4" name="object 4"/>
            <p:cNvPicPr/>
            <p:nvPr/>
          </p:nvPicPr>
          <p:blipFill>
            <a:blip r:embed="rId3" cstate="print"/>
            <a:stretch>
              <a:fillRect/>
            </a:stretch>
          </p:blipFill>
          <p:spPr>
            <a:xfrm>
              <a:off x="242215" y="2093187"/>
              <a:ext cx="2356692" cy="1358266"/>
            </a:xfrm>
            <a:prstGeom prst="rect">
              <a:avLst/>
            </a:prstGeom>
          </p:spPr>
        </p:pic>
        <p:pic>
          <p:nvPicPr>
            <p:cNvPr id="5" name="object 5"/>
            <p:cNvPicPr/>
            <p:nvPr/>
          </p:nvPicPr>
          <p:blipFill>
            <a:blip r:embed="rId4" cstate="print"/>
            <a:stretch>
              <a:fillRect/>
            </a:stretch>
          </p:blipFill>
          <p:spPr>
            <a:xfrm>
              <a:off x="261644" y="2100820"/>
              <a:ext cx="2315263" cy="1319412"/>
            </a:xfrm>
            <a:prstGeom prst="rect">
              <a:avLst/>
            </a:prstGeom>
          </p:spPr>
        </p:pic>
      </p:grpSp>
      <p:sp>
        <p:nvSpPr>
          <p:cNvPr id="6" name="object 6"/>
          <p:cNvSpPr txBox="1"/>
          <p:nvPr/>
        </p:nvSpPr>
        <p:spPr>
          <a:xfrm>
            <a:off x="364664" y="1260930"/>
            <a:ext cx="5592445" cy="810260"/>
          </a:xfrm>
          <a:prstGeom prst="rect">
            <a:avLst/>
          </a:prstGeom>
        </p:spPr>
        <p:txBody>
          <a:bodyPr vert="horz" wrap="square" lIns="0" tIns="12700" rIns="0" bIns="0" rtlCol="0">
            <a:spAutoFit/>
          </a:bodyPr>
          <a:lstStyle/>
          <a:p>
            <a:pPr marL="194945" marR="5080" indent="-182880" algn="just">
              <a:lnSpc>
                <a:spcPct val="100899"/>
              </a:lnSpc>
              <a:spcBef>
                <a:spcPts val="100"/>
              </a:spcBef>
              <a:buChar char="•"/>
              <a:tabLst>
                <a:tab pos="195580" algn="l"/>
              </a:tabLst>
            </a:pPr>
            <a:r>
              <a:rPr sz="1700" spc="65" dirty="0">
                <a:latin typeface="Arial MT"/>
                <a:cs typeface="Arial MT"/>
              </a:rPr>
              <a:t>W</a:t>
            </a:r>
            <a:r>
              <a:rPr sz="1700" spc="5" dirty="0">
                <a:latin typeface="Arial MT"/>
                <a:cs typeface="Arial MT"/>
              </a:rPr>
              <a:t>he</a:t>
            </a:r>
            <a:r>
              <a:rPr sz="1700" spc="10" dirty="0">
                <a:latin typeface="Arial MT"/>
                <a:cs typeface="Arial MT"/>
              </a:rPr>
              <a:t>n</a:t>
            </a:r>
            <a:r>
              <a:rPr sz="1700" spc="-65" dirty="0">
                <a:latin typeface="Times New Roman"/>
                <a:cs typeface="Times New Roman"/>
              </a:rPr>
              <a:t> </a:t>
            </a:r>
            <a:r>
              <a:rPr sz="1700" spc="-20" dirty="0">
                <a:latin typeface="Arial MT"/>
                <a:cs typeface="Arial MT"/>
              </a:rPr>
              <a:t>y</a:t>
            </a:r>
            <a:r>
              <a:rPr sz="1700" spc="5" dirty="0">
                <a:latin typeface="Arial MT"/>
                <a:cs typeface="Arial MT"/>
              </a:rPr>
              <a:t>o</a:t>
            </a:r>
            <a:r>
              <a:rPr sz="1700" spc="10" dirty="0">
                <a:latin typeface="Arial MT"/>
                <a:cs typeface="Arial MT"/>
              </a:rPr>
              <a:t>u</a:t>
            </a:r>
            <a:r>
              <a:rPr sz="1700" spc="55" dirty="0">
                <a:latin typeface="Times New Roman"/>
                <a:cs typeface="Times New Roman"/>
              </a:rPr>
              <a:t> </a:t>
            </a:r>
            <a:r>
              <a:rPr sz="1700" spc="5" dirty="0">
                <a:latin typeface="Arial MT"/>
                <a:cs typeface="Arial MT"/>
              </a:rPr>
              <a:t>a</a:t>
            </a:r>
            <a:r>
              <a:rPr sz="1700" spc="15" dirty="0">
                <a:latin typeface="Arial MT"/>
                <a:cs typeface="Arial MT"/>
              </a:rPr>
              <a:t>ll</a:t>
            </a:r>
            <a:r>
              <a:rPr sz="1700" spc="5" dirty="0">
                <a:latin typeface="Arial MT"/>
                <a:cs typeface="Arial MT"/>
              </a:rPr>
              <a:t>o</a:t>
            </a:r>
            <a:r>
              <a:rPr sz="1700" spc="20" dirty="0">
                <a:latin typeface="Arial MT"/>
                <a:cs typeface="Arial MT"/>
              </a:rPr>
              <a:t>c</a:t>
            </a:r>
            <a:r>
              <a:rPr sz="1700" dirty="0">
                <a:latin typeface="Arial MT"/>
                <a:cs typeface="Arial MT"/>
              </a:rPr>
              <a:t>at</a:t>
            </a:r>
            <a:r>
              <a:rPr sz="1700" spc="10" dirty="0">
                <a:latin typeface="Arial MT"/>
                <a:cs typeface="Arial MT"/>
              </a:rPr>
              <a:t>e</a:t>
            </a:r>
            <a:r>
              <a:rPr sz="1700" spc="-105" dirty="0">
                <a:latin typeface="Times New Roman"/>
                <a:cs typeface="Times New Roman"/>
              </a:rPr>
              <a:t> </a:t>
            </a:r>
            <a:r>
              <a:rPr sz="1700" spc="20" dirty="0">
                <a:latin typeface="Arial MT"/>
                <a:cs typeface="Arial MT"/>
              </a:rPr>
              <a:t>m</a:t>
            </a:r>
            <a:r>
              <a:rPr sz="1700" spc="5" dirty="0">
                <a:latin typeface="Arial MT"/>
                <a:cs typeface="Arial MT"/>
              </a:rPr>
              <a:t>e</a:t>
            </a:r>
            <a:r>
              <a:rPr sz="1700" spc="20" dirty="0">
                <a:latin typeface="Arial MT"/>
                <a:cs typeface="Arial MT"/>
              </a:rPr>
              <a:t>m</a:t>
            </a:r>
            <a:r>
              <a:rPr sz="1700" spc="5" dirty="0">
                <a:latin typeface="Arial MT"/>
                <a:cs typeface="Arial MT"/>
              </a:rPr>
              <a:t>o</a:t>
            </a:r>
            <a:r>
              <a:rPr sz="1700" spc="-10" dirty="0">
                <a:latin typeface="Arial MT"/>
                <a:cs typeface="Arial MT"/>
              </a:rPr>
              <a:t>r</a:t>
            </a:r>
            <a:r>
              <a:rPr sz="1700" spc="5" dirty="0">
                <a:latin typeface="Arial MT"/>
                <a:cs typeface="Arial MT"/>
              </a:rPr>
              <a:t>y</a:t>
            </a:r>
            <a:r>
              <a:rPr sz="1700" spc="-10" dirty="0">
                <a:latin typeface="Times New Roman"/>
                <a:cs typeface="Times New Roman"/>
              </a:rPr>
              <a:t> </a:t>
            </a:r>
            <a:r>
              <a:rPr sz="1700" spc="40" dirty="0">
                <a:latin typeface="Arial MT"/>
                <a:cs typeface="Arial MT"/>
              </a:rPr>
              <a:t>f</a:t>
            </a:r>
            <a:r>
              <a:rPr sz="1700" spc="5" dirty="0">
                <a:latin typeface="Arial MT"/>
                <a:cs typeface="Arial MT"/>
              </a:rPr>
              <a:t>or</a:t>
            </a:r>
            <a:r>
              <a:rPr sz="1700" spc="-40" dirty="0">
                <a:latin typeface="Times New Roman"/>
                <a:cs typeface="Times New Roman"/>
              </a:rPr>
              <a:t> </a:t>
            </a:r>
            <a:r>
              <a:rPr sz="1700" spc="10" dirty="0">
                <a:latin typeface="Arial MT"/>
                <a:cs typeface="Arial MT"/>
              </a:rPr>
              <a:t>a</a:t>
            </a:r>
            <a:r>
              <a:rPr sz="1700" spc="50" dirty="0">
                <a:latin typeface="Times New Roman"/>
                <a:cs typeface="Times New Roman"/>
              </a:rPr>
              <a:t> </a:t>
            </a:r>
            <a:r>
              <a:rPr sz="1700" spc="20" dirty="0">
                <a:latin typeface="Arial MT"/>
                <a:cs typeface="Arial MT"/>
              </a:rPr>
              <a:t>m</a:t>
            </a:r>
            <a:r>
              <a:rPr sz="1700" spc="5" dirty="0">
                <a:latin typeface="Arial MT"/>
                <a:cs typeface="Arial MT"/>
              </a:rPr>
              <a:t>u</a:t>
            </a:r>
            <a:r>
              <a:rPr sz="1700" spc="15" dirty="0">
                <a:latin typeface="Arial MT"/>
                <a:cs typeface="Arial MT"/>
              </a:rPr>
              <a:t>l</a:t>
            </a:r>
            <a:r>
              <a:rPr sz="1700" spc="5" dirty="0">
                <a:latin typeface="Arial MT"/>
                <a:cs typeface="Arial MT"/>
              </a:rPr>
              <a:t>t</a:t>
            </a:r>
            <a:r>
              <a:rPr sz="1700" spc="15" dirty="0">
                <a:latin typeface="Arial MT"/>
                <a:cs typeface="Arial MT"/>
              </a:rPr>
              <a:t>i</a:t>
            </a:r>
            <a:r>
              <a:rPr sz="1700" spc="5" dirty="0">
                <a:latin typeface="Arial MT"/>
                <a:cs typeface="Arial MT"/>
              </a:rPr>
              <a:t>d</a:t>
            </a:r>
            <a:r>
              <a:rPr sz="1700" spc="15" dirty="0">
                <a:latin typeface="Arial MT"/>
                <a:cs typeface="Arial MT"/>
              </a:rPr>
              <a:t>i</a:t>
            </a:r>
            <a:r>
              <a:rPr sz="1700" spc="20" dirty="0">
                <a:latin typeface="Arial MT"/>
                <a:cs typeface="Arial MT"/>
              </a:rPr>
              <a:t>m</a:t>
            </a:r>
            <a:r>
              <a:rPr sz="1700" spc="-30" dirty="0">
                <a:latin typeface="Arial MT"/>
                <a:cs typeface="Arial MT"/>
              </a:rPr>
              <a:t>e</a:t>
            </a:r>
            <a:r>
              <a:rPr sz="1700" spc="5" dirty="0">
                <a:latin typeface="Arial MT"/>
                <a:cs typeface="Arial MT"/>
              </a:rPr>
              <a:t>n</a:t>
            </a:r>
            <a:r>
              <a:rPr sz="1700" spc="-15" dirty="0">
                <a:latin typeface="Arial MT"/>
                <a:cs typeface="Arial MT"/>
              </a:rPr>
              <a:t>s</a:t>
            </a:r>
            <a:r>
              <a:rPr sz="1700" spc="15" dirty="0">
                <a:latin typeface="Arial MT"/>
                <a:cs typeface="Arial MT"/>
              </a:rPr>
              <a:t>i</a:t>
            </a:r>
            <a:r>
              <a:rPr sz="1700" spc="-30" dirty="0">
                <a:latin typeface="Arial MT"/>
                <a:cs typeface="Arial MT"/>
              </a:rPr>
              <a:t>o</a:t>
            </a:r>
            <a:r>
              <a:rPr sz="1700" spc="5" dirty="0">
                <a:latin typeface="Arial MT"/>
                <a:cs typeface="Arial MT"/>
              </a:rPr>
              <a:t>na</a:t>
            </a:r>
            <a:r>
              <a:rPr sz="1700" dirty="0">
                <a:latin typeface="Arial MT"/>
                <a:cs typeface="Arial MT"/>
              </a:rPr>
              <a:t>l</a:t>
            </a:r>
            <a:r>
              <a:rPr sz="1700" spc="-85" dirty="0">
                <a:latin typeface="Times New Roman"/>
                <a:cs typeface="Times New Roman"/>
              </a:rPr>
              <a:t> </a:t>
            </a:r>
            <a:r>
              <a:rPr sz="1700" spc="5" dirty="0">
                <a:latin typeface="Arial MT"/>
                <a:cs typeface="Arial MT"/>
              </a:rPr>
              <a:t>a</a:t>
            </a:r>
            <a:r>
              <a:rPr sz="1700" spc="-10" dirty="0">
                <a:latin typeface="Arial MT"/>
                <a:cs typeface="Arial MT"/>
              </a:rPr>
              <a:t>rr</a:t>
            </a:r>
            <a:r>
              <a:rPr sz="1700" spc="5" dirty="0">
                <a:latin typeface="Arial MT"/>
                <a:cs typeface="Arial MT"/>
              </a:rPr>
              <a:t>a</a:t>
            </a:r>
            <a:r>
              <a:rPr sz="1700" spc="-15" dirty="0">
                <a:latin typeface="Arial MT"/>
                <a:cs typeface="Arial MT"/>
              </a:rPr>
              <a:t>y</a:t>
            </a:r>
            <a:r>
              <a:rPr sz="1700" spc="5" dirty="0">
                <a:latin typeface="Arial MT"/>
                <a:cs typeface="Arial MT"/>
              </a:rPr>
              <a:t>, </a:t>
            </a:r>
            <a:r>
              <a:rPr sz="1700" dirty="0">
                <a:latin typeface="Times New Roman"/>
                <a:cs typeface="Times New Roman"/>
              </a:rPr>
              <a:t> </a:t>
            </a:r>
            <a:r>
              <a:rPr sz="1700" dirty="0">
                <a:latin typeface="Arial MT"/>
                <a:cs typeface="Arial MT"/>
              </a:rPr>
              <a:t>you</a:t>
            </a:r>
            <a:r>
              <a:rPr sz="1700" spc="-30" dirty="0">
                <a:latin typeface="Arial MT"/>
                <a:cs typeface="Arial MT"/>
              </a:rPr>
              <a:t> </a:t>
            </a:r>
            <a:r>
              <a:rPr sz="1700" spc="5" dirty="0">
                <a:latin typeface="Arial MT"/>
                <a:cs typeface="Arial MT"/>
              </a:rPr>
              <a:t>need</a:t>
            </a:r>
            <a:r>
              <a:rPr sz="1700" spc="-30" dirty="0">
                <a:latin typeface="Arial MT"/>
                <a:cs typeface="Arial MT"/>
              </a:rPr>
              <a:t> </a:t>
            </a:r>
            <a:r>
              <a:rPr sz="1700" spc="10" dirty="0">
                <a:latin typeface="Arial MT"/>
                <a:cs typeface="Arial MT"/>
              </a:rPr>
              <a:t>only</a:t>
            </a:r>
            <a:r>
              <a:rPr sz="1700" spc="-45" dirty="0">
                <a:latin typeface="Arial MT"/>
                <a:cs typeface="Arial MT"/>
              </a:rPr>
              <a:t> </a:t>
            </a:r>
            <a:r>
              <a:rPr sz="1700" spc="10" dirty="0">
                <a:solidFill>
                  <a:srgbClr val="3232FF"/>
                </a:solidFill>
                <a:latin typeface="Arial MT"/>
                <a:cs typeface="Arial MT"/>
              </a:rPr>
              <a:t>specify</a:t>
            </a:r>
            <a:r>
              <a:rPr sz="1700" spc="-135" dirty="0">
                <a:solidFill>
                  <a:srgbClr val="3232FF"/>
                </a:solidFill>
                <a:latin typeface="Arial MT"/>
                <a:cs typeface="Arial MT"/>
              </a:rPr>
              <a:t> </a:t>
            </a:r>
            <a:r>
              <a:rPr sz="1700" spc="5" dirty="0">
                <a:solidFill>
                  <a:srgbClr val="3232FF"/>
                </a:solidFill>
                <a:latin typeface="Arial MT"/>
                <a:cs typeface="Arial MT"/>
              </a:rPr>
              <a:t>the</a:t>
            </a:r>
            <a:r>
              <a:rPr sz="1700" spc="-30" dirty="0">
                <a:solidFill>
                  <a:srgbClr val="3232FF"/>
                </a:solidFill>
                <a:latin typeface="Arial MT"/>
                <a:cs typeface="Arial MT"/>
              </a:rPr>
              <a:t> </a:t>
            </a:r>
            <a:r>
              <a:rPr sz="1700" spc="5" dirty="0">
                <a:solidFill>
                  <a:srgbClr val="3232FF"/>
                </a:solidFill>
                <a:latin typeface="Arial MT"/>
                <a:cs typeface="Arial MT"/>
              </a:rPr>
              <a:t>memory</a:t>
            </a:r>
            <a:r>
              <a:rPr sz="1700" spc="-55" dirty="0">
                <a:solidFill>
                  <a:srgbClr val="3232FF"/>
                </a:solidFill>
                <a:latin typeface="Arial MT"/>
                <a:cs typeface="Arial MT"/>
              </a:rPr>
              <a:t> </a:t>
            </a:r>
            <a:r>
              <a:rPr sz="1700" spc="15" dirty="0">
                <a:solidFill>
                  <a:srgbClr val="3232FF"/>
                </a:solidFill>
                <a:latin typeface="Arial MT"/>
                <a:cs typeface="Arial MT"/>
              </a:rPr>
              <a:t>for</a:t>
            </a:r>
            <a:r>
              <a:rPr sz="1700" spc="-45" dirty="0">
                <a:solidFill>
                  <a:srgbClr val="3232FF"/>
                </a:solidFill>
                <a:latin typeface="Arial MT"/>
                <a:cs typeface="Arial MT"/>
              </a:rPr>
              <a:t> </a:t>
            </a:r>
            <a:r>
              <a:rPr sz="1700" spc="5" dirty="0">
                <a:solidFill>
                  <a:srgbClr val="3232FF"/>
                </a:solidFill>
                <a:latin typeface="Arial MT"/>
                <a:cs typeface="Arial MT"/>
              </a:rPr>
              <a:t>the</a:t>
            </a:r>
            <a:r>
              <a:rPr sz="1700" spc="-30" dirty="0">
                <a:solidFill>
                  <a:srgbClr val="3232FF"/>
                </a:solidFill>
                <a:latin typeface="Arial MT"/>
                <a:cs typeface="Arial MT"/>
              </a:rPr>
              <a:t> </a:t>
            </a:r>
            <a:r>
              <a:rPr sz="1700" spc="15" dirty="0">
                <a:solidFill>
                  <a:srgbClr val="3232FF"/>
                </a:solidFill>
                <a:latin typeface="Arial MT"/>
                <a:cs typeface="Arial MT"/>
              </a:rPr>
              <a:t>first</a:t>
            </a:r>
            <a:r>
              <a:rPr sz="1700" spc="-110" dirty="0">
                <a:solidFill>
                  <a:srgbClr val="3232FF"/>
                </a:solidFill>
                <a:latin typeface="Arial MT"/>
                <a:cs typeface="Arial MT"/>
              </a:rPr>
              <a:t> </a:t>
            </a:r>
            <a:r>
              <a:rPr sz="1700" spc="10" dirty="0">
                <a:solidFill>
                  <a:srgbClr val="3232FF"/>
                </a:solidFill>
                <a:latin typeface="Arial MT"/>
                <a:cs typeface="Arial MT"/>
              </a:rPr>
              <a:t>(leftmost) </a:t>
            </a:r>
            <a:r>
              <a:rPr sz="1700" spc="15" dirty="0">
                <a:solidFill>
                  <a:srgbClr val="3232FF"/>
                </a:solidFill>
                <a:latin typeface="Arial MT"/>
                <a:cs typeface="Arial MT"/>
              </a:rPr>
              <a:t> </a:t>
            </a:r>
            <a:r>
              <a:rPr sz="1700" spc="5" dirty="0">
                <a:solidFill>
                  <a:srgbClr val="3232FF"/>
                </a:solidFill>
                <a:latin typeface="Arial MT"/>
                <a:cs typeface="Arial MT"/>
              </a:rPr>
              <a:t>dimension.</a:t>
            </a:r>
            <a:endParaRPr sz="1700">
              <a:latin typeface="Arial MT"/>
              <a:cs typeface="Arial MT"/>
            </a:endParaRPr>
          </a:p>
        </p:txBody>
      </p:sp>
      <p:sp>
        <p:nvSpPr>
          <p:cNvPr id="7" name="object 7"/>
          <p:cNvSpPr txBox="1"/>
          <p:nvPr/>
        </p:nvSpPr>
        <p:spPr>
          <a:xfrm>
            <a:off x="261644" y="2100820"/>
            <a:ext cx="2315845" cy="1319530"/>
          </a:xfrm>
          <a:prstGeom prst="rect">
            <a:avLst/>
          </a:prstGeom>
          <a:ln w="5073">
            <a:solidFill>
              <a:srgbClr val="000000"/>
            </a:solidFill>
          </a:ln>
        </p:spPr>
        <p:txBody>
          <a:bodyPr vert="horz" wrap="square" lIns="0" tIns="88265" rIns="0" bIns="0" rtlCol="0">
            <a:spAutoFit/>
          </a:bodyPr>
          <a:lstStyle/>
          <a:p>
            <a:pPr marL="115570">
              <a:lnSpc>
                <a:spcPct val="100000"/>
              </a:lnSpc>
              <a:spcBef>
                <a:spcPts val="695"/>
              </a:spcBef>
            </a:pPr>
            <a:r>
              <a:rPr sz="1700" spc="5" dirty="0">
                <a:latin typeface="Arial MT"/>
                <a:cs typeface="Arial MT"/>
              </a:rPr>
              <a:t>int</a:t>
            </a:r>
            <a:r>
              <a:rPr sz="1700" spc="-45" dirty="0">
                <a:latin typeface="Arial MT"/>
                <a:cs typeface="Arial MT"/>
              </a:rPr>
              <a:t> </a:t>
            </a:r>
            <a:r>
              <a:rPr sz="1700" dirty="0">
                <a:latin typeface="Arial MT"/>
                <a:cs typeface="Arial MT"/>
              </a:rPr>
              <a:t>a[][]</a:t>
            </a:r>
            <a:r>
              <a:rPr sz="1700" spc="-45" dirty="0">
                <a:latin typeface="Arial MT"/>
                <a:cs typeface="Arial MT"/>
              </a:rPr>
              <a:t> </a:t>
            </a:r>
            <a:r>
              <a:rPr sz="1700" spc="10" dirty="0">
                <a:latin typeface="Arial MT"/>
                <a:cs typeface="Arial MT"/>
              </a:rPr>
              <a:t>=</a:t>
            </a:r>
            <a:r>
              <a:rPr sz="1700" spc="-50" dirty="0">
                <a:latin typeface="Arial MT"/>
                <a:cs typeface="Arial MT"/>
              </a:rPr>
              <a:t> </a:t>
            </a:r>
            <a:r>
              <a:rPr sz="1700" spc="5" dirty="0">
                <a:latin typeface="Arial MT"/>
                <a:cs typeface="Arial MT"/>
              </a:rPr>
              <a:t>new</a:t>
            </a:r>
            <a:r>
              <a:rPr sz="1700" spc="-50" dirty="0">
                <a:latin typeface="Arial MT"/>
                <a:cs typeface="Arial MT"/>
              </a:rPr>
              <a:t> </a:t>
            </a:r>
            <a:r>
              <a:rPr sz="1700" spc="5" dirty="0">
                <a:latin typeface="Arial MT"/>
                <a:cs typeface="Arial MT"/>
              </a:rPr>
              <a:t>int[2][];</a:t>
            </a:r>
            <a:endParaRPr sz="1700">
              <a:latin typeface="Arial MT"/>
              <a:cs typeface="Arial MT"/>
            </a:endParaRPr>
          </a:p>
          <a:p>
            <a:pPr marL="115570">
              <a:lnSpc>
                <a:spcPct val="100000"/>
              </a:lnSpc>
              <a:spcBef>
                <a:spcPts val="1440"/>
              </a:spcBef>
            </a:pPr>
            <a:r>
              <a:rPr sz="1700" spc="5" dirty="0">
                <a:latin typeface="Arial MT"/>
                <a:cs typeface="Arial MT"/>
              </a:rPr>
              <a:t>a[0]</a:t>
            </a:r>
            <a:r>
              <a:rPr sz="1700" spc="-60" dirty="0">
                <a:latin typeface="Arial MT"/>
                <a:cs typeface="Arial MT"/>
              </a:rPr>
              <a:t> </a:t>
            </a:r>
            <a:r>
              <a:rPr sz="1700" spc="10" dirty="0">
                <a:latin typeface="Arial MT"/>
                <a:cs typeface="Arial MT"/>
              </a:rPr>
              <a:t>=</a:t>
            </a:r>
            <a:r>
              <a:rPr sz="1700" spc="-25" dirty="0">
                <a:latin typeface="Arial MT"/>
                <a:cs typeface="Arial MT"/>
              </a:rPr>
              <a:t> </a:t>
            </a:r>
            <a:r>
              <a:rPr sz="1700" spc="5" dirty="0">
                <a:latin typeface="Arial MT"/>
                <a:cs typeface="Arial MT"/>
              </a:rPr>
              <a:t>new</a:t>
            </a:r>
            <a:r>
              <a:rPr sz="1700" spc="-70" dirty="0">
                <a:latin typeface="Arial MT"/>
                <a:cs typeface="Arial MT"/>
              </a:rPr>
              <a:t> </a:t>
            </a:r>
            <a:r>
              <a:rPr sz="1700" spc="5" dirty="0">
                <a:latin typeface="Arial MT"/>
                <a:cs typeface="Arial MT"/>
              </a:rPr>
              <a:t>int[3];</a:t>
            </a:r>
            <a:endParaRPr sz="1700">
              <a:latin typeface="Arial MT"/>
              <a:cs typeface="Arial MT"/>
            </a:endParaRPr>
          </a:p>
          <a:p>
            <a:pPr marL="115570">
              <a:lnSpc>
                <a:spcPct val="100000"/>
              </a:lnSpc>
              <a:spcBef>
                <a:spcPts val="1475"/>
              </a:spcBef>
            </a:pPr>
            <a:r>
              <a:rPr sz="1700" dirty="0">
                <a:latin typeface="Arial MT"/>
                <a:cs typeface="Arial MT"/>
              </a:rPr>
              <a:t>a[1]</a:t>
            </a:r>
            <a:r>
              <a:rPr sz="1700" spc="-45" dirty="0">
                <a:latin typeface="Arial MT"/>
                <a:cs typeface="Arial MT"/>
              </a:rPr>
              <a:t> </a:t>
            </a:r>
            <a:r>
              <a:rPr sz="1700" spc="10" dirty="0">
                <a:latin typeface="Arial MT"/>
                <a:cs typeface="Arial MT"/>
              </a:rPr>
              <a:t>=</a:t>
            </a:r>
            <a:r>
              <a:rPr sz="1700" spc="-15" dirty="0">
                <a:latin typeface="Arial MT"/>
                <a:cs typeface="Arial MT"/>
              </a:rPr>
              <a:t> </a:t>
            </a:r>
            <a:r>
              <a:rPr sz="1700" spc="5" dirty="0">
                <a:latin typeface="Arial MT"/>
                <a:cs typeface="Arial MT"/>
              </a:rPr>
              <a:t>new</a:t>
            </a:r>
            <a:r>
              <a:rPr sz="1700" spc="-55" dirty="0">
                <a:latin typeface="Arial MT"/>
                <a:cs typeface="Arial MT"/>
              </a:rPr>
              <a:t> </a:t>
            </a:r>
            <a:r>
              <a:rPr sz="1700" dirty="0">
                <a:latin typeface="Arial MT"/>
                <a:cs typeface="Arial MT"/>
              </a:rPr>
              <a:t>int[3];</a:t>
            </a:r>
            <a:endParaRPr sz="1700">
              <a:latin typeface="Arial MT"/>
              <a:cs typeface="Arial MT"/>
            </a:endParaRPr>
          </a:p>
        </p:txBody>
      </p:sp>
      <p:sp>
        <p:nvSpPr>
          <p:cNvPr id="8" name="object 8"/>
          <p:cNvSpPr txBox="1"/>
          <p:nvPr/>
        </p:nvSpPr>
        <p:spPr>
          <a:xfrm>
            <a:off x="608107" y="3488925"/>
            <a:ext cx="5422265" cy="251460"/>
          </a:xfrm>
          <a:prstGeom prst="rect">
            <a:avLst/>
          </a:prstGeom>
        </p:spPr>
        <p:txBody>
          <a:bodyPr vert="horz" wrap="square" lIns="0" tIns="16510" rIns="0" bIns="0" rtlCol="0">
            <a:spAutoFit/>
          </a:bodyPr>
          <a:lstStyle/>
          <a:p>
            <a:pPr marL="12700">
              <a:lnSpc>
                <a:spcPct val="100000"/>
              </a:lnSpc>
              <a:spcBef>
                <a:spcPts val="130"/>
              </a:spcBef>
            </a:pPr>
            <a:r>
              <a:rPr sz="1450" spc="15" dirty="0">
                <a:solidFill>
                  <a:srgbClr val="FF0000"/>
                </a:solidFill>
                <a:latin typeface="Arial MT"/>
                <a:cs typeface="Arial MT"/>
              </a:rPr>
              <a:t>–</a:t>
            </a:r>
            <a:r>
              <a:rPr sz="1450" spc="-30" dirty="0">
                <a:solidFill>
                  <a:srgbClr val="FF0000"/>
                </a:solidFill>
                <a:latin typeface="Arial MT"/>
                <a:cs typeface="Arial MT"/>
              </a:rPr>
              <a:t> </a:t>
            </a:r>
            <a:r>
              <a:rPr sz="1450" spc="5" dirty="0">
                <a:solidFill>
                  <a:srgbClr val="FF0000"/>
                </a:solidFill>
                <a:latin typeface="Arial MT"/>
                <a:cs typeface="Arial MT"/>
              </a:rPr>
              <a:t>Here</a:t>
            </a:r>
            <a:r>
              <a:rPr sz="1450" spc="50" dirty="0">
                <a:solidFill>
                  <a:srgbClr val="FF0000"/>
                </a:solidFill>
                <a:latin typeface="Arial MT"/>
                <a:cs typeface="Arial MT"/>
              </a:rPr>
              <a:t> </a:t>
            </a:r>
            <a:r>
              <a:rPr sz="1450" spc="15" dirty="0">
                <a:solidFill>
                  <a:srgbClr val="FF0000"/>
                </a:solidFill>
                <a:latin typeface="Arial MT"/>
                <a:cs typeface="Arial MT"/>
              </a:rPr>
              <a:t>a</a:t>
            </a:r>
            <a:r>
              <a:rPr sz="1450" spc="50" dirty="0">
                <a:solidFill>
                  <a:srgbClr val="FF0000"/>
                </a:solidFill>
                <a:latin typeface="Arial MT"/>
                <a:cs typeface="Arial MT"/>
              </a:rPr>
              <a:t> </a:t>
            </a:r>
            <a:r>
              <a:rPr sz="1450" spc="-15" dirty="0">
                <a:solidFill>
                  <a:srgbClr val="FF0000"/>
                </a:solidFill>
                <a:latin typeface="Arial MT"/>
                <a:cs typeface="Arial MT"/>
              </a:rPr>
              <a:t>is</a:t>
            </a:r>
            <a:r>
              <a:rPr sz="1450" spc="50" dirty="0">
                <a:solidFill>
                  <a:srgbClr val="FF0000"/>
                </a:solidFill>
                <a:latin typeface="Arial MT"/>
                <a:cs typeface="Arial MT"/>
              </a:rPr>
              <a:t> </a:t>
            </a:r>
            <a:r>
              <a:rPr sz="1450" spc="20" dirty="0">
                <a:solidFill>
                  <a:srgbClr val="FF0000"/>
                </a:solidFill>
                <a:latin typeface="Arial MT"/>
                <a:cs typeface="Arial MT"/>
              </a:rPr>
              <a:t>2D</a:t>
            </a:r>
            <a:r>
              <a:rPr sz="1450" dirty="0">
                <a:solidFill>
                  <a:srgbClr val="FF0000"/>
                </a:solidFill>
                <a:latin typeface="Arial MT"/>
                <a:cs typeface="Arial MT"/>
              </a:rPr>
              <a:t> </a:t>
            </a:r>
            <a:r>
              <a:rPr sz="1450" spc="-5" dirty="0">
                <a:solidFill>
                  <a:srgbClr val="FF0000"/>
                </a:solidFill>
                <a:latin typeface="Arial MT"/>
                <a:cs typeface="Arial MT"/>
              </a:rPr>
              <a:t>array</a:t>
            </a:r>
            <a:r>
              <a:rPr sz="1450" spc="130" dirty="0">
                <a:solidFill>
                  <a:srgbClr val="FF0000"/>
                </a:solidFill>
                <a:latin typeface="Arial MT"/>
                <a:cs typeface="Arial MT"/>
              </a:rPr>
              <a:t> </a:t>
            </a:r>
            <a:r>
              <a:rPr sz="1450" spc="-5" dirty="0">
                <a:solidFill>
                  <a:srgbClr val="FF0000"/>
                </a:solidFill>
                <a:latin typeface="Arial MT"/>
                <a:cs typeface="Arial MT"/>
              </a:rPr>
              <a:t>with</a:t>
            </a:r>
            <a:r>
              <a:rPr sz="1450" spc="85" dirty="0">
                <a:solidFill>
                  <a:srgbClr val="FF0000"/>
                </a:solidFill>
                <a:latin typeface="Arial MT"/>
                <a:cs typeface="Arial MT"/>
              </a:rPr>
              <a:t> </a:t>
            </a:r>
            <a:r>
              <a:rPr sz="1450" spc="10" dirty="0">
                <a:solidFill>
                  <a:srgbClr val="FF0000"/>
                </a:solidFill>
                <a:latin typeface="Arial MT"/>
                <a:cs typeface="Arial MT"/>
              </a:rPr>
              <a:t>two </a:t>
            </a:r>
            <a:r>
              <a:rPr sz="1450" spc="5" dirty="0">
                <a:solidFill>
                  <a:srgbClr val="FF0000"/>
                </a:solidFill>
                <a:latin typeface="Arial MT"/>
                <a:cs typeface="Arial MT"/>
              </a:rPr>
              <a:t>rows.</a:t>
            </a:r>
            <a:r>
              <a:rPr sz="1450" spc="60" dirty="0">
                <a:solidFill>
                  <a:srgbClr val="FF0000"/>
                </a:solidFill>
                <a:latin typeface="Arial MT"/>
                <a:cs typeface="Arial MT"/>
              </a:rPr>
              <a:t> </a:t>
            </a:r>
            <a:r>
              <a:rPr sz="1450" spc="-5" dirty="0">
                <a:solidFill>
                  <a:srgbClr val="FF0000"/>
                </a:solidFill>
                <a:latin typeface="Arial MT"/>
                <a:cs typeface="Arial MT"/>
              </a:rPr>
              <a:t>First</a:t>
            </a:r>
            <a:r>
              <a:rPr sz="1450" spc="100" dirty="0">
                <a:solidFill>
                  <a:srgbClr val="FF0000"/>
                </a:solidFill>
                <a:latin typeface="Arial MT"/>
                <a:cs typeface="Arial MT"/>
              </a:rPr>
              <a:t> </a:t>
            </a:r>
            <a:r>
              <a:rPr sz="1450" spc="10" dirty="0">
                <a:solidFill>
                  <a:srgbClr val="FF0000"/>
                </a:solidFill>
                <a:latin typeface="Arial MT"/>
                <a:cs typeface="Arial MT"/>
              </a:rPr>
              <a:t>row</a:t>
            </a:r>
            <a:r>
              <a:rPr sz="1450" dirty="0">
                <a:solidFill>
                  <a:srgbClr val="FF0000"/>
                </a:solidFill>
                <a:latin typeface="Arial MT"/>
                <a:cs typeface="Arial MT"/>
              </a:rPr>
              <a:t> a[0]</a:t>
            </a:r>
            <a:r>
              <a:rPr sz="1450" spc="65" dirty="0">
                <a:solidFill>
                  <a:srgbClr val="FF0000"/>
                </a:solidFill>
                <a:latin typeface="Arial MT"/>
                <a:cs typeface="Arial MT"/>
              </a:rPr>
              <a:t> </a:t>
            </a:r>
            <a:r>
              <a:rPr sz="1450" spc="10" dirty="0">
                <a:solidFill>
                  <a:srgbClr val="FF0000"/>
                </a:solidFill>
                <a:latin typeface="Arial MT"/>
                <a:cs typeface="Arial MT"/>
              </a:rPr>
              <a:t>has</a:t>
            </a:r>
            <a:r>
              <a:rPr sz="1450" spc="50" dirty="0">
                <a:solidFill>
                  <a:srgbClr val="FF0000"/>
                </a:solidFill>
                <a:latin typeface="Arial MT"/>
                <a:cs typeface="Arial MT"/>
              </a:rPr>
              <a:t> </a:t>
            </a:r>
            <a:r>
              <a:rPr sz="1450" spc="15" dirty="0">
                <a:solidFill>
                  <a:srgbClr val="FF0000"/>
                </a:solidFill>
                <a:latin typeface="Arial MT"/>
                <a:cs typeface="Arial MT"/>
              </a:rPr>
              <a:t>3</a:t>
            </a:r>
            <a:r>
              <a:rPr sz="1450" spc="10" dirty="0">
                <a:solidFill>
                  <a:srgbClr val="FF0000"/>
                </a:solidFill>
                <a:latin typeface="Arial MT"/>
                <a:cs typeface="Arial MT"/>
              </a:rPr>
              <a:t> columns.</a:t>
            </a:r>
            <a:endParaRPr sz="1450">
              <a:latin typeface="Arial MT"/>
              <a:cs typeface="Arial MT"/>
            </a:endParaRPr>
          </a:p>
        </p:txBody>
      </p:sp>
      <p:sp>
        <p:nvSpPr>
          <p:cNvPr id="9" name="object 9"/>
          <p:cNvSpPr txBox="1"/>
          <p:nvPr/>
        </p:nvSpPr>
        <p:spPr>
          <a:xfrm>
            <a:off x="760120" y="3828834"/>
            <a:ext cx="2711450" cy="251460"/>
          </a:xfrm>
          <a:prstGeom prst="rect">
            <a:avLst/>
          </a:prstGeom>
        </p:spPr>
        <p:txBody>
          <a:bodyPr vert="horz" wrap="square" lIns="0" tIns="16510" rIns="0" bIns="0" rtlCol="0">
            <a:spAutoFit/>
          </a:bodyPr>
          <a:lstStyle/>
          <a:p>
            <a:pPr marL="12700">
              <a:lnSpc>
                <a:spcPct val="100000"/>
              </a:lnSpc>
              <a:spcBef>
                <a:spcPts val="130"/>
              </a:spcBef>
            </a:pPr>
            <a:r>
              <a:rPr sz="1450" spc="15" dirty="0">
                <a:solidFill>
                  <a:srgbClr val="FF0000"/>
                </a:solidFill>
                <a:latin typeface="Arial MT"/>
                <a:cs typeface="Arial MT"/>
              </a:rPr>
              <a:t>Second</a:t>
            </a:r>
            <a:r>
              <a:rPr sz="1450" dirty="0">
                <a:solidFill>
                  <a:srgbClr val="FF0000"/>
                </a:solidFill>
                <a:latin typeface="Arial MT"/>
                <a:cs typeface="Arial MT"/>
              </a:rPr>
              <a:t> </a:t>
            </a:r>
            <a:r>
              <a:rPr sz="1450" spc="10" dirty="0">
                <a:solidFill>
                  <a:srgbClr val="FF0000"/>
                </a:solidFill>
                <a:latin typeface="Arial MT"/>
                <a:cs typeface="Arial MT"/>
              </a:rPr>
              <a:t>row</a:t>
            </a:r>
            <a:r>
              <a:rPr sz="1450" spc="35" dirty="0">
                <a:solidFill>
                  <a:srgbClr val="FF0000"/>
                </a:solidFill>
                <a:latin typeface="Arial MT"/>
                <a:cs typeface="Arial MT"/>
              </a:rPr>
              <a:t> </a:t>
            </a:r>
            <a:r>
              <a:rPr sz="1450" dirty="0">
                <a:solidFill>
                  <a:srgbClr val="FF0000"/>
                </a:solidFill>
                <a:latin typeface="Arial MT"/>
                <a:cs typeface="Arial MT"/>
              </a:rPr>
              <a:t>a[1]</a:t>
            </a:r>
            <a:r>
              <a:rPr sz="1450" spc="10" dirty="0">
                <a:solidFill>
                  <a:srgbClr val="FF0000"/>
                </a:solidFill>
                <a:latin typeface="Arial MT"/>
                <a:cs typeface="Arial MT"/>
              </a:rPr>
              <a:t> has</a:t>
            </a:r>
            <a:r>
              <a:rPr sz="1450" spc="45" dirty="0">
                <a:solidFill>
                  <a:srgbClr val="FF0000"/>
                </a:solidFill>
                <a:latin typeface="Arial MT"/>
                <a:cs typeface="Arial MT"/>
              </a:rPr>
              <a:t> </a:t>
            </a:r>
            <a:r>
              <a:rPr sz="1450" spc="15" dirty="0">
                <a:solidFill>
                  <a:srgbClr val="FF0000"/>
                </a:solidFill>
                <a:latin typeface="Arial MT"/>
                <a:cs typeface="Arial MT"/>
              </a:rPr>
              <a:t>3</a:t>
            </a:r>
            <a:r>
              <a:rPr sz="1450" spc="5" dirty="0">
                <a:solidFill>
                  <a:srgbClr val="FF0000"/>
                </a:solidFill>
                <a:latin typeface="Arial MT"/>
                <a:cs typeface="Arial MT"/>
              </a:rPr>
              <a:t> </a:t>
            </a:r>
            <a:r>
              <a:rPr sz="1450" spc="10" dirty="0">
                <a:solidFill>
                  <a:srgbClr val="FF0000"/>
                </a:solidFill>
                <a:latin typeface="Arial MT"/>
                <a:cs typeface="Arial MT"/>
              </a:rPr>
              <a:t>columns.</a:t>
            </a:r>
            <a:endParaRPr sz="1450">
              <a:latin typeface="Arial MT"/>
              <a:cs typeface="Arial MT"/>
            </a:endParaRPr>
          </a:p>
        </p:txBody>
      </p:sp>
      <p:sp>
        <p:nvSpPr>
          <p:cNvPr id="11" name="object 11"/>
          <p:cNvSpPr txBox="1"/>
          <p:nvPr/>
        </p:nvSpPr>
        <p:spPr>
          <a:xfrm>
            <a:off x="3115049" y="2646459"/>
            <a:ext cx="1657350" cy="441959"/>
          </a:xfrm>
          <a:prstGeom prst="rect">
            <a:avLst/>
          </a:prstGeom>
          <a:ln w="5073">
            <a:solidFill>
              <a:srgbClr val="000000"/>
            </a:solidFill>
          </a:ln>
        </p:spPr>
        <p:txBody>
          <a:bodyPr vert="horz" wrap="square" lIns="0" tIns="25400" rIns="0" bIns="0" rtlCol="0">
            <a:spAutoFit/>
          </a:bodyPr>
          <a:lstStyle/>
          <a:p>
            <a:pPr marL="50800">
              <a:lnSpc>
                <a:spcPct val="100000"/>
              </a:lnSpc>
              <a:spcBef>
                <a:spcPts val="200"/>
              </a:spcBef>
            </a:pPr>
            <a:r>
              <a:rPr sz="1250" spc="5" dirty="0">
                <a:latin typeface="Arial MT"/>
                <a:cs typeface="Arial MT"/>
              </a:rPr>
              <a:t>int</a:t>
            </a:r>
            <a:r>
              <a:rPr sz="1250" spc="-5" dirty="0">
                <a:latin typeface="Arial MT"/>
                <a:cs typeface="Arial MT"/>
              </a:rPr>
              <a:t> </a:t>
            </a:r>
            <a:r>
              <a:rPr sz="1250" spc="5" dirty="0">
                <a:latin typeface="Arial MT"/>
                <a:cs typeface="Arial MT"/>
              </a:rPr>
              <a:t>a[][]=</a:t>
            </a:r>
            <a:r>
              <a:rPr sz="1250" spc="-30" dirty="0">
                <a:latin typeface="Arial MT"/>
                <a:cs typeface="Arial MT"/>
              </a:rPr>
              <a:t> </a:t>
            </a:r>
            <a:r>
              <a:rPr sz="1250" spc="5" dirty="0">
                <a:latin typeface="Arial MT"/>
                <a:cs typeface="Arial MT"/>
              </a:rPr>
              <a:t>new</a:t>
            </a:r>
            <a:r>
              <a:rPr sz="1250" spc="30" dirty="0">
                <a:latin typeface="Arial MT"/>
                <a:cs typeface="Arial MT"/>
              </a:rPr>
              <a:t> </a:t>
            </a:r>
            <a:r>
              <a:rPr sz="1250" spc="10" dirty="0">
                <a:latin typeface="Arial MT"/>
                <a:cs typeface="Arial MT"/>
              </a:rPr>
              <a:t>int[2][3];</a:t>
            </a:r>
            <a:endParaRPr sz="1250">
              <a:latin typeface="Arial MT"/>
              <a:cs typeface="Arial MT"/>
            </a:endParaRPr>
          </a:p>
        </p:txBody>
      </p:sp>
      <p:grpSp>
        <p:nvGrpSpPr>
          <p:cNvPr id="12" name="object 12"/>
          <p:cNvGrpSpPr/>
          <p:nvPr/>
        </p:nvGrpSpPr>
        <p:grpSpPr>
          <a:xfrm>
            <a:off x="-1450" y="633558"/>
            <a:ext cx="6498590" cy="3660140"/>
            <a:chOff x="-1387" y="628242"/>
            <a:chExt cx="6498590" cy="3660140"/>
          </a:xfrm>
        </p:grpSpPr>
        <p:sp>
          <p:nvSpPr>
            <p:cNvPr id="13" name="object 13"/>
            <p:cNvSpPr/>
            <p:nvPr/>
          </p:nvSpPr>
          <p:spPr>
            <a:xfrm>
              <a:off x="2587896" y="2778332"/>
              <a:ext cx="527685" cy="60960"/>
            </a:xfrm>
            <a:custGeom>
              <a:avLst/>
              <a:gdLst/>
              <a:ahLst/>
              <a:cxnLst/>
              <a:rect l="l" t="t" r="r" b="b"/>
              <a:pathLst>
                <a:path w="527685" h="60960">
                  <a:moveTo>
                    <a:pt x="52173" y="0"/>
                  </a:moveTo>
                  <a:lnTo>
                    <a:pt x="0" y="30275"/>
                  </a:lnTo>
                  <a:lnTo>
                    <a:pt x="52092" y="60817"/>
                  </a:lnTo>
                  <a:lnTo>
                    <a:pt x="55676" y="59873"/>
                  </a:lnTo>
                  <a:lnTo>
                    <a:pt x="57363" y="57035"/>
                  </a:lnTo>
                  <a:lnTo>
                    <a:pt x="58985" y="54197"/>
                  </a:lnTo>
                  <a:lnTo>
                    <a:pt x="58044" y="50618"/>
                  </a:lnTo>
                  <a:lnTo>
                    <a:pt x="55206" y="48926"/>
                  </a:lnTo>
                  <a:lnTo>
                    <a:pt x="33586" y="36259"/>
                  </a:lnTo>
                  <a:lnTo>
                    <a:pt x="11758" y="36224"/>
                  </a:lnTo>
                  <a:lnTo>
                    <a:pt x="11758" y="24396"/>
                  </a:lnTo>
                  <a:lnTo>
                    <a:pt x="33664" y="24396"/>
                  </a:lnTo>
                  <a:lnTo>
                    <a:pt x="55271" y="11827"/>
                  </a:lnTo>
                  <a:lnTo>
                    <a:pt x="58109" y="10206"/>
                  </a:lnTo>
                  <a:lnTo>
                    <a:pt x="59066" y="6626"/>
                  </a:lnTo>
                  <a:lnTo>
                    <a:pt x="55822" y="950"/>
                  </a:lnTo>
                  <a:lnTo>
                    <a:pt x="52173" y="0"/>
                  </a:lnTo>
                  <a:close/>
                </a:path>
                <a:path w="527685" h="60960">
                  <a:moveTo>
                    <a:pt x="33605" y="24431"/>
                  </a:moveTo>
                  <a:lnTo>
                    <a:pt x="23466" y="30329"/>
                  </a:lnTo>
                  <a:lnTo>
                    <a:pt x="33586" y="36259"/>
                  </a:lnTo>
                  <a:lnTo>
                    <a:pt x="527088" y="37035"/>
                  </a:lnTo>
                  <a:lnTo>
                    <a:pt x="527153" y="25207"/>
                  </a:lnTo>
                  <a:lnTo>
                    <a:pt x="33605" y="24431"/>
                  </a:lnTo>
                  <a:close/>
                </a:path>
                <a:path w="527685" h="60960">
                  <a:moveTo>
                    <a:pt x="11758" y="24396"/>
                  </a:moveTo>
                  <a:lnTo>
                    <a:pt x="11758" y="36224"/>
                  </a:lnTo>
                  <a:lnTo>
                    <a:pt x="33586" y="36259"/>
                  </a:lnTo>
                  <a:lnTo>
                    <a:pt x="32144" y="35413"/>
                  </a:lnTo>
                  <a:lnTo>
                    <a:pt x="14726" y="35413"/>
                  </a:lnTo>
                  <a:lnTo>
                    <a:pt x="14726" y="25207"/>
                  </a:lnTo>
                  <a:lnTo>
                    <a:pt x="32270" y="25207"/>
                  </a:lnTo>
                  <a:lnTo>
                    <a:pt x="33605" y="24431"/>
                  </a:lnTo>
                  <a:lnTo>
                    <a:pt x="11758" y="24396"/>
                  </a:lnTo>
                  <a:close/>
                </a:path>
                <a:path w="527685" h="60960">
                  <a:moveTo>
                    <a:pt x="14726" y="25207"/>
                  </a:moveTo>
                  <a:lnTo>
                    <a:pt x="14726" y="35413"/>
                  </a:lnTo>
                  <a:lnTo>
                    <a:pt x="23466" y="30329"/>
                  </a:lnTo>
                  <a:lnTo>
                    <a:pt x="14726" y="25207"/>
                  </a:lnTo>
                  <a:close/>
                </a:path>
                <a:path w="527685" h="60960">
                  <a:moveTo>
                    <a:pt x="23466" y="30329"/>
                  </a:moveTo>
                  <a:lnTo>
                    <a:pt x="14726" y="35413"/>
                  </a:lnTo>
                  <a:lnTo>
                    <a:pt x="32144" y="35413"/>
                  </a:lnTo>
                  <a:lnTo>
                    <a:pt x="23466" y="30329"/>
                  </a:lnTo>
                  <a:close/>
                </a:path>
                <a:path w="527685" h="60960">
                  <a:moveTo>
                    <a:pt x="32270" y="25207"/>
                  </a:moveTo>
                  <a:lnTo>
                    <a:pt x="14726" y="25207"/>
                  </a:lnTo>
                  <a:lnTo>
                    <a:pt x="23466" y="30329"/>
                  </a:lnTo>
                  <a:lnTo>
                    <a:pt x="32270" y="25207"/>
                  </a:lnTo>
                  <a:close/>
                </a:path>
                <a:path w="527685" h="60960">
                  <a:moveTo>
                    <a:pt x="33664" y="24396"/>
                  </a:moveTo>
                  <a:lnTo>
                    <a:pt x="11758" y="24396"/>
                  </a:lnTo>
                  <a:lnTo>
                    <a:pt x="33605" y="24431"/>
                  </a:lnTo>
                  <a:close/>
                </a:path>
              </a:pathLst>
            </a:custGeom>
            <a:solidFill>
              <a:srgbClr val="000000"/>
            </a:solidFill>
          </p:spPr>
          <p:txBody>
            <a:bodyPr wrap="square" lIns="0" tIns="0" rIns="0" bIns="0" rtlCol="0"/>
            <a:lstStyle/>
            <a:p>
              <a:endParaRPr/>
            </a:p>
          </p:txBody>
        </p:sp>
        <p:sp>
          <p:nvSpPr>
            <p:cNvPr id="14" name="object 14"/>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469900"/>
            <a:ext cx="6487240" cy="684201"/>
          </a:xfrm>
          <a:prstGeom prst="rect">
            <a:avLst/>
          </a:prstGeom>
        </p:spPr>
      </p:pic>
      <p:sp>
        <p:nvSpPr>
          <p:cNvPr id="3" name="object 3"/>
          <p:cNvSpPr txBox="1"/>
          <p:nvPr/>
        </p:nvSpPr>
        <p:spPr>
          <a:xfrm>
            <a:off x="364664" y="1260930"/>
            <a:ext cx="5769610" cy="2847975"/>
          </a:xfrm>
          <a:prstGeom prst="rect">
            <a:avLst/>
          </a:prstGeom>
        </p:spPr>
        <p:txBody>
          <a:bodyPr vert="horz" wrap="square" lIns="0" tIns="12700" rIns="0" bIns="0" rtlCol="0">
            <a:spAutoFit/>
          </a:bodyPr>
          <a:lstStyle/>
          <a:p>
            <a:pPr marL="194945" marR="45085" indent="-182880">
              <a:lnSpc>
                <a:spcPct val="100899"/>
              </a:lnSpc>
              <a:spcBef>
                <a:spcPts val="100"/>
              </a:spcBef>
              <a:buChar char="•"/>
              <a:tabLst>
                <a:tab pos="195580" algn="l"/>
              </a:tabLst>
            </a:pPr>
            <a:r>
              <a:rPr sz="1700" spc="20" dirty="0">
                <a:latin typeface="Arial MT"/>
                <a:cs typeface="Arial MT"/>
              </a:rPr>
              <a:t>When</a:t>
            </a:r>
            <a:r>
              <a:rPr sz="1700" spc="-114" dirty="0">
                <a:latin typeface="Arial MT"/>
                <a:cs typeface="Arial MT"/>
              </a:rPr>
              <a:t> </a:t>
            </a:r>
            <a:r>
              <a:rPr sz="1700" dirty="0">
                <a:latin typeface="Arial MT"/>
                <a:cs typeface="Arial MT"/>
              </a:rPr>
              <a:t>you</a:t>
            </a:r>
            <a:r>
              <a:rPr sz="1700" spc="10" dirty="0">
                <a:latin typeface="Arial MT"/>
                <a:cs typeface="Arial MT"/>
              </a:rPr>
              <a:t> allocate</a:t>
            </a:r>
            <a:r>
              <a:rPr sz="1700" spc="-155" dirty="0">
                <a:latin typeface="Arial MT"/>
                <a:cs typeface="Arial MT"/>
              </a:rPr>
              <a:t> </a:t>
            </a:r>
            <a:r>
              <a:rPr sz="1700" spc="5" dirty="0">
                <a:latin typeface="Arial MT"/>
                <a:cs typeface="Arial MT"/>
              </a:rPr>
              <a:t>dimensions</a:t>
            </a:r>
            <a:r>
              <a:rPr sz="1700" spc="-95" dirty="0">
                <a:latin typeface="Arial MT"/>
                <a:cs typeface="Arial MT"/>
              </a:rPr>
              <a:t> </a:t>
            </a:r>
            <a:r>
              <a:rPr sz="1700" spc="5" dirty="0">
                <a:latin typeface="Arial MT"/>
                <a:cs typeface="Arial MT"/>
              </a:rPr>
              <a:t>manually,</a:t>
            </a:r>
            <a:r>
              <a:rPr sz="1700" spc="-110" dirty="0">
                <a:latin typeface="Arial MT"/>
                <a:cs typeface="Arial MT"/>
              </a:rPr>
              <a:t> </a:t>
            </a:r>
            <a:r>
              <a:rPr sz="1700" dirty="0">
                <a:latin typeface="Arial MT"/>
                <a:cs typeface="Arial MT"/>
              </a:rPr>
              <a:t>you</a:t>
            </a:r>
            <a:r>
              <a:rPr sz="1700" spc="-35" dirty="0">
                <a:latin typeface="Arial MT"/>
                <a:cs typeface="Arial MT"/>
              </a:rPr>
              <a:t> </a:t>
            </a:r>
            <a:r>
              <a:rPr sz="1700" spc="5" dirty="0">
                <a:latin typeface="Arial MT"/>
                <a:cs typeface="Arial MT"/>
              </a:rPr>
              <a:t>do</a:t>
            </a:r>
            <a:r>
              <a:rPr sz="1700" spc="-30" dirty="0">
                <a:latin typeface="Arial MT"/>
                <a:cs typeface="Arial MT"/>
              </a:rPr>
              <a:t> </a:t>
            </a:r>
            <a:r>
              <a:rPr sz="1700" spc="5" dirty="0">
                <a:latin typeface="Arial MT"/>
                <a:cs typeface="Arial MT"/>
              </a:rPr>
              <a:t>not</a:t>
            </a:r>
            <a:r>
              <a:rPr sz="1700" spc="-30" dirty="0">
                <a:latin typeface="Arial MT"/>
                <a:cs typeface="Arial MT"/>
              </a:rPr>
              <a:t> </a:t>
            </a:r>
            <a:r>
              <a:rPr sz="1700" spc="5" dirty="0">
                <a:latin typeface="Arial MT"/>
                <a:cs typeface="Arial MT"/>
              </a:rPr>
              <a:t>need </a:t>
            </a:r>
            <a:r>
              <a:rPr sz="1700" spc="-459" dirty="0">
                <a:latin typeface="Arial MT"/>
                <a:cs typeface="Arial MT"/>
              </a:rPr>
              <a:t> </a:t>
            </a:r>
            <a:r>
              <a:rPr sz="1700" spc="5" dirty="0">
                <a:latin typeface="Arial MT"/>
                <a:cs typeface="Arial MT"/>
              </a:rPr>
              <a:t>to </a:t>
            </a:r>
            <a:r>
              <a:rPr sz="1700" spc="10" dirty="0">
                <a:latin typeface="Arial MT"/>
                <a:cs typeface="Arial MT"/>
              </a:rPr>
              <a:t>allocate </a:t>
            </a:r>
            <a:r>
              <a:rPr sz="1700" spc="5" dirty="0">
                <a:latin typeface="Arial MT"/>
                <a:cs typeface="Arial MT"/>
              </a:rPr>
              <a:t>the </a:t>
            </a:r>
            <a:r>
              <a:rPr sz="1700" spc="15" dirty="0">
                <a:latin typeface="Arial MT"/>
                <a:cs typeface="Arial MT"/>
              </a:rPr>
              <a:t>same </a:t>
            </a:r>
            <a:r>
              <a:rPr sz="1700" spc="5" dirty="0">
                <a:latin typeface="Arial MT"/>
                <a:cs typeface="Arial MT"/>
              </a:rPr>
              <a:t>number of elements </a:t>
            </a:r>
            <a:r>
              <a:rPr sz="1700" spc="15" dirty="0">
                <a:latin typeface="Arial MT"/>
                <a:cs typeface="Arial MT"/>
              </a:rPr>
              <a:t>for </a:t>
            </a:r>
            <a:r>
              <a:rPr sz="1700" spc="10" dirty="0">
                <a:latin typeface="Arial MT"/>
                <a:cs typeface="Arial MT"/>
              </a:rPr>
              <a:t>each </a:t>
            </a:r>
            <a:r>
              <a:rPr sz="1700" spc="15" dirty="0">
                <a:latin typeface="Arial MT"/>
                <a:cs typeface="Arial MT"/>
              </a:rPr>
              <a:t> </a:t>
            </a:r>
            <a:r>
              <a:rPr sz="1700" spc="5" dirty="0">
                <a:latin typeface="Arial MT"/>
                <a:cs typeface="Arial MT"/>
              </a:rPr>
              <a:t>dimension.</a:t>
            </a:r>
            <a:endParaRPr sz="1700" dirty="0">
              <a:latin typeface="Arial MT"/>
              <a:cs typeface="Arial MT"/>
            </a:endParaRPr>
          </a:p>
          <a:p>
            <a:pPr marL="194945" indent="-182880">
              <a:lnSpc>
                <a:spcPct val="100000"/>
              </a:lnSpc>
              <a:spcBef>
                <a:spcPts val="395"/>
              </a:spcBef>
              <a:buChar char="•"/>
              <a:tabLst>
                <a:tab pos="195580" algn="l"/>
              </a:tabLst>
            </a:pPr>
            <a:r>
              <a:rPr sz="1700" spc="10" dirty="0">
                <a:latin typeface="Arial MT"/>
                <a:cs typeface="Arial MT"/>
              </a:rPr>
              <a:t>E.g.</a:t>
            </a:r>
            <a:endParaRPr sz="1700" dirty="0">
              <a:latin typeface="Arial MT"/>
              <a:cs typeface="Arial MT"/>
            </a:endParaRPr>
          </a:p>
          <a:p>
            <a:pPr marL="255904" marR="3876040">
              <a:lnSpc>
                <a:spcPts val="2120"/>
              </a:lnSpc>
              <a:spcBef>
                <a:spcPts val="125"/>
              </a:spcBef>
            </a:pPr>
            <a:r>
              <a:rPr sz="1450" spc="-5" dirty="0">
                <a:latin typeface="Times New Roman"/>
                <a:cs typeface="Times New Roman"/>
              </a:rPr>
              <a:t>i</a:t>
            </a:r>
            <a:r>
              <a:rPr sz="1450" spc="-15" dirty="0">
                <a:latin typeface="Times New Roman"/>
                <a:cs typeface="Times New Roman"/>
              </a:rPr>
              <a:t>n</a:t>
            </a:r>
            <a:r>
              <a:rPr sz="1450" spc="-20" dirty="0">
                <a:latin typeface="Times New Roman"/>
                <a:cs typeface="Times New Roman"/>
              </a:rPr>
              <a:t>t</a:t>
            </a:r>
            <a:r>
              <a:rPr sz="1450" spc="10" dirty="0">
                <a:latin typeface="Times New Roman"/>
                <a:cs typeface="Times New Roman"/>
              </a:rPr>
              <a:t> </a:t>
            </a:r>
            <a:r>
              <a:rPr sz="1450" spc="-10" dirty="0">
                <a:latin typeface="Times New Roman"/>
                <a:cs typeface="Times New Roman"/>
              </a:rPr>
              <a:t>a</a:t>
            </a:r>
            <a:r>
              <a:rPr sz="1450" spc="-50" dirty="0">
                <a:latin typeface="Times New Roman"/>
                <a:cs typeface="Times New Roman"/>
              </a:rPr>
              <a:t>[][]</a:t>
            </a:r>
            <a:r>
              <a:rPr sz="1450" spc="35" dirty="0">
                <a:latin typeface="Times New Roman"/>
                <a:cs typeface="Times New Roman"/>
              </a:rPr>
              <a:t> </a:t>
            </a:r>
            <a:r>
              <a:rPr sz="1450" spc="-95" dirty="0">
                <a:latin typeface="Times New Roman"/>
                <a:cs typeface="Times New Roman"/>
              </a:rPr>
              <a:t>=</a:t>
            </a:r>
            <a:r>
              <a:rPr sz="1450" spc="-15" dirty="0">
                <a:latin typeface="Times New Roman"/>
                <a:cs typeface="Times New Roman"/>
              </a:rPr>
              <a:t> </a:t>
            </a:r>
            <a:r>
              <a:rPr sz="1450" spc="25" dirty="0">
                <a:latin typeface="Times New Roman"/>
                <a:cs typeface="Times New Roman"/>
              </a:rPr>
              <a:t>n</a:t>
            </a:r>
            <a:r>
              <a:rPr sz="1450" spc="30" dirty="0">
                <a:latin typeface="Times New Roman"/>
                <a:cs typeface="Times New Roman"/>
              </a:rPr>
              <a:t>e</a:t>
            </a:r>
            <a:r>
              <a:rPr sz="1450" spc="-140" dirty="0">
                <a:latin typeface="Times New Roman"/>
                <a:cs typeface="Times New Roman"/>
              </a:rPr>
              <a:t>w</a:t>
            </a:r>
            <a:r>
              <a:rPr sz="1450" spc="40" dirty="0">
                <a:latin typeface="Times New Roman"/>
                <a:cs typeface="Times New Roman"/>
              </a:rPr>
              <a:t> </a:t>
            </a:r>
            <a:r>
              <a:rPr sz="1450" spc="-5" dirty="0">
                <a:latin typeface="Times New Roman"/>
                <a:cs typeface="Times New Roman"/>
              </a:rPr>
              <a:t>i</a:t>
            </a:r>
            <a:r>
              <a:rPr sz="1450" spc="-15" dirty="0">
                <a:latin typeface="Times New Roman"/>
                <a:cs typeface="Times New Roman"/>
              </a:rPr>
              <a:t>n</a:t>
            </a:r>
            <a:r>
              <a:rPr sz="1450" spc="-10" dirty="0">
                <a:latin typeface="Times New Roman"/>
                <a:cs typeface="Times New Roman"/>
              </a:rPr>
              <a:t>t</a:t>
            </a:r>
            <a:r>
              <a:rPr sz="1450" spc="-50" dirty="0">
                <a:latin typeface="Times New Roman"/>
                <a:cs typeface="Times New Roman"/>
              </a:rPr>
              <a:t>[</a:t>
            </a:r>
            <a:r>
              <a:rPr sz="1450" spc="-10" dirty="0">
                <a:latin typeface="Times New Roman"/>
                <a:cs typeface="Times New Roman"/>
              </a:rPr>
              <a:t>2</a:t>
            </a:r>
            <a:r>
              <a:rPr sz="1450" spc="-50" dirty="0">
                <a:latin typeface="Times New Roman"/>
                <a:cs typeface="Times New Roman"/>
              </a:rPr>
              <a:t>][];  </a:t>
            </a:r>
            <a:r>
              <a:rPr sz="1450" spc="-10" dirty="0">
                <a:latin typeface="Times New Roman"/>
                <a:cs typeface="Times New Roman"/>
              </a:rPr>
              <a:t>a</a:t>
            </a:r>
            <a:r>
              <a:rPr sz="1450" spc="-50" dirty="0">
                <a:latin typeface="Times New Roman"/>
                <a:cs typeface="Times New Roman"/>
              </a:rPr>
              <a:t>[</a:t>
            </a:r>
            <a:r>
              <a:rPr sz="1450" spc="-10" dirty="0">
                <a:latin typeface="Times New Roman"/>
                <a:cs typeface="Times New Roman"/>
              </a:rPr>
              <a:t>0</a:t>
            </a:r>
            <a:r>
              <a:rPr sz="1450" spc="-50" dirty="0">
                <a:latin typeface="Times New Roman"/>
                <a:cs typeface="Times New Roman"/>
              </a:rPr>
              <a:t>]</a:t>
            </a:r>
            <a:r>
              <a:rPr sz="1450" spc="35" dirty="0">
                <a:latin typeface="Times New Roman"/>
                <a:cs typeface="Times New Roman"/>
              </a:rPr>
              <a:t> </a:t>
            </a:r>
            <a:r>
              <a:rPr sz="1450" spc="-95" dirty="0">
                <a:latin typeface="Times New Roman"/>
                <a:cs typeface="Times New Roman"/>
              </a:rPr>
              <a:t>=</a:t>
            </a:r>
            <a:r>
              <a:rPr sz="1450" spc="-15" dirty="0">
                <a:latin typeface="Times New Roman"/>
                <a:cs typeface="Times New Roman"/>
              </a:rPr>
              <a:t> </a:t>
            </a:r>
            <a:r>
              <a:rPr sz="1450" spc="25" dirty="0">
                <a:latin typeface="Times New Roman"/>
                <a:cs typeface="Times New Roman"/>
              </a:rPr>
              <a:t>n</a:t>
            </a:r>
            <a:r>
              <a:rPr sz="1450" spc="30" dirty="0">
                <a:latin typeface="Times New Roman"/>
                <a:cs typeface="Times New Roman"/>
              </a:rPr>
              <a:t>e</a:t>
            </a:r>
            <a:r>
              <a:rPr sz="1450" spc="-140" dirty="0">
                <a:latin typeface="Times New Roman"/>
                <a:cs typeface="Times New Roman"/>
              </a:rPr>
              <a:t>w</a:t>
            </a:r>
            <a:r>
              <a:rPr sz="1450" spc="40" dirty="0">
                <a:latin typeface="Times New Roman"/>
                <a:cs typeface="Times New Roman"/>
              </a:rPr>
              <a:t> </a:t>
            </a:r>
            <a:r>
              <a:rPr sz="1450" spc="-5" dirty="0">
                <a:latin typeface="Times New Roman"/>
                <a:cs typeface="Times New Roman"/>
              </a:rPr>
              <a:t>i</a:t>
            </a:r>
            <a:r>
              <a:rPr sz="1450" spc="-15" dirty="0">
                <a:latin typeface="Times New Roman"/>
                <a:cs typeface="Times New Roman"/>
              </a:rPr>
              <a:t>n</a:t>
            </a:r>
            <a:r>
              <a:rPr sz="1450" spc="-10" dirty="0">
                <a:latin typeface="Times New Roman"/>
                <a:cs typeface="Times New Roman"/>
              </a:rPr>
              <a:t>t</a:t>
            </a:r>
            <a:r>
              <a:rPr sz="1450" spc="-50" dirty="0">
                <a:latin typeface="Times New Roman"/>
                <a:cs typeface="Times New Roman"/>
              </a:rPr>
              <a:t>[</a:t>
            </a:r>
            <a:r>
              <a:rPr sz="1450" spc="-10" dirty="0">
                <a:latin typeface="Times New Roman"/>
                <a:cs typeface="Times New Roman"/>
              </a:rPr>
              <a:t>1</a:t>
            </a:r>
            <a:r>
              <a:rPr sz="1450" spc="-50" dirty="0">
                <a:latin typeface="Times New Roman"/>
                <a:cs typeface="Times New Roman"/>
              </a:rPr>
              <a:t>]</a:t>
            </a:r>
            <a:r>
              <a:rPr sz="1450" spc="-55" dirty="0">
                <a:latin typeface="Times New Roman"/>
                <a:cs typeface="Times New Roman"/>
              </a:rPr>
              <a:t>;</a:t>
            </a:r>
            <a:endParaRPr sz="1450" dirty="0">
              <a:latin typeface="Times New Roman"/>
              <a:cs typeface="Times New Roman"/>
            </a:endParaRPr>
          </a:p>
          <a:p>
            <a:pPr marL="255904">
              <a:lnSpc>
                <a:spcPct val="100000"/>
              </a:lnSpc>
              <a:spcBef>
                <a:spcPts val="280"/>
              </a:spcBef>
            </a:pPr>
            <a:r>
              <a:rPr sz="1450" spc="-10" dirty="0">
                <a:latin typeface="Times New Roman"/>
                <a:cs typeface="Times New Roman"/>
              </a:rPr>
              <a:t>a</a:t>
            </a:r>
            <a:r>
              <a:rPr sz="1450" spc="-50" dirty="0">
                <a:latin typeface="Times New Roman"/>
                <a:cs typeface="Times New Roman"/>
              </a:rPr>
              <a:t>[</a:t>
            </a:r>
            <a:r>
              <a:rPr sz="1450" spc="-10" dirty="0">
                <a:latin typeface="Times New Roman"/>
                <a:cs typeface="Times New Roman"/>
              </a:rPr>
              <a:t>1</a:t>
            </a:r>
            <a:r>
              <a:rPr sz="1450" spc="-50" dirty="0">
                <a:latin typeface="Times New Roman"/>
                <a:cs typeface="Times New Roman"/>
              </a:rPr>
              <a:t>]</a:t>
            </a:r>
            <a:r>
              <a:rPr sz="1450" spc="35" dirty="0">
                <a:latin typeface="Times New Roman"/>
                <a:cs typeface="Times New Roman"/>
              </a:rPr>
              <a:t> </a:t>
            </a:r>
            <a:r>
              <a:rPr sz="1450" spc="-95" dirty="0">
                <a:latin typeface="Times New Roman"/>
                <a:cs typeface="Times New Roman"/>
              </a:rPr>
              <a:t>=</a:t>
            </a:r>
            <a:r>
              <a:rPr sz="1450" spc="-15" dirty="0">
                <a:latin typeface="Times New Roman"/>
                <a:cs typeface="Times New Roman"/>
              </a:rPr>
              <a:t> </a:t>
            </a:r>
            <a:r>
              <a:rPr sz="1450" spc="25" dirty="0">
                <a:latin typeface="Times New Roman"/>
                <a:cs typeface="Times New Roman"/>
              </a:rPr>
              <a:t>n</a:t>
            </a:r>
            <a:r>
              <a:rPr sz="1450" spc="30" dirty="0">
                <a:latin typeface="Times New Roman"/>
                <a:cs typeface="Times New Roman"/>
              </a:rPr>
              <a:t>e</a:t>
            </a:r>
            <a:r>
              <a:rPr sz="1450" spc="-140" dirty="0">
                <a:latin typeface="Times New Roman"/>
                <a:cs typeface="Times New Roman"/>
              </a:rPr>
              <a:t>w</a:t>
            </a:r>
            <a:r>
              <a:rPr sz="1450" spc="40" dirty="0">
                <a:latin typeface="Times New Roman"/>
                <a:cs typeface="Times New Roman"/>
              </a:rPr>
              <a:t> </a:t>
            </a:r>
            <a:r>
              <a:rPr sz="1450" spc="-5" dirty="0">
                <a:latin typeface="Times New Roman"/>
                <a:cs typeface="Times New Roman"/>
              </a:rPr>
              <a:t>i</a:t>
            </a:r>
            <a:r>
              <a:rPr sz="1450" spc="-15" dirty="0">
                <a:latin typeface="Times New Roman"/>
                <a:cs typeface="Times New Roman"/>
              </a:rPr>
              <a:t>n</a:t>
            </a:r>
            <a:r>
              <a:rPr sz="1450" spc="-10" dirty="0">
                <a:latin typeface="Times New Roman"/>
                <a:cs typeface="Times New Roman"/>
              </a:rPr>
              <a:t>t</a:t>
            </a:r>
            <a:r>
              <a:rPr sz="1450" spc="-50" dirty="0">
                <a:latin typeface="Times New Roman"/>
                <a:cs typeface="Times New Roman"/>
              </a:rPr>
              <a:t>[</a:t>
            </a:r>
            <a:r>
              <a:rPr sz="1450" spc="-10" dirty="0">
                <a:latin typeface="Times New Roman"/>
                <a:cs typeface="Times New Roman"/>
              </a:rPr>
              <a:t>2</a:t>
            </a:r>
            <a:r>
              <a:rPr sz="1450" spc="-50" dirty="0">
                <a:latin typeface="Times New Roman"/>
                <a:cs typeface="Times New Roman"/>
              </a:rPr>
              <a:t>]</a:t>
            </a:r>
            <a:r>
              <a:rPr sz="1450" spc="-55" dirty="0">
                <a:latin typeface="Times New Roman"/>
                <a:cs typeface="Times New Roman"/>
              </a:rPr>
              <a:t>;</a:t>
            </a:r>
            <a:endParaRPr sz="1450" dirty="0">
              <a:latin typeface="Times New Roman"/>
              <a:cs typeface="Times New Roman"/>
            </a:endParaRPr>
          </a:p>
          <a:p>
            <a:pPr marL="407670" lvl="1" indent="-152400">
              <a:lnSpc>
                <a:spcPct val="100000"/>
              </a:lnSpc>
              <a:spcBef>
                <a:spcPts val="500"/>
              </a:spcBef>
              <a:buChar char="–"/>
              <a:tabLst>
                <a:tab pos="408305" algn="l"/>
              </a:tabLst>
            </a:pPr>
            <a:r>
              <a:rPr sz="1450" spc="5" dirty="0">
                <a:latin typeface="Arial MT"/>
                <a:cs typeface="Arial MT"/>
              </a:rPr>
              <a:t>Here</a:t>
            </a:r>
            <a:r>
              <a:rPr sz="1450" spc="35" dirty="0">
                <a:latin typeface="Arial MT"/>
                <a:cs typeface="Arial MT"/>
              </a:rPr>
              <a:t> </a:t>
            </a:r>
            <a:r>
              <a:rPr sz="1450" spc="-5" dirty="0">
                <a:latin typeface="Arial MT"/>
                <a:cs typeface="Arial MT"/>
              </a:rPr>
              <a:t>array</a:t>
            </a:r>
            <a:r>
              <a:rPr sz="1450" spc="130" dirty="0">
                <a:latin typeface="Arial MT"/>
                <a:cs typeface="Arial MT"/>
              </a:rPr>
              <a:t> </a:t>
            </a:r>
            <a:r>
              <a:rPr sz="1450" b="1" spc="15" dirty="0">
                <a:latin typeface="Arial"/>
                <a:cs typeface="Arial"/>
              </a:rPr>
              <a:t>a</a:t>
            </a:r>
            <a:r>
              <a:rPr sz="1450" b="1" dirty="0">
                <a:latin typeface="Arial"/>
                <a:cs typeface="Arial"/>
              </a:rPr>
              <a:t> </a:t>
            </a:r>
            <a:r>
              <a:rPr sz="1450" spc="10" dirty="0">
                <a:latin typeface="Arial MT"/>
                <a:cs typeface="Arial MT"/>
              </a:rPr>
              <a:t>has</a:t>
            </a:r>
            <a:r>
              <a:rPr sz="1450" spc="35" dirty="0">
                <a:latin typeface="Arial MT"/>
                <a:cs typeface="Arial MT"/>
              </a:rPr>
              <a:t> </a:t>
            </a:r>
            <a:r>
              <a:rPr sz="1450" spc="15" dirty="0">
                <a:latin typeface="Arial MT"/>
                <a:cs typeface="Arial MT"/>
              </a:rPr>
              <a:t>2</a:t>
            </a:r>
            <a:r>
              <a:rPr sz="1450" dirty="0">
                <a:latin typeface="Arial MT"/>
                <a:cs typeface="Arial MT"/>
              </a:rPr>
              <a:t> </a:t>
            </a:r>
            <a:r>
              <a:rPr sz="1450" spc="5" dirty="0">
                <a:latin typeface="Arial MT"/>
                <a:cs typeface="Arial MT"/>
              </a:rPr>
              <a:t>rows.</a:t>
            </a:r>
            <a:endParaRPr sz="1450" dirty="0">
              <a:latin typeface="Arial MT"/>
              <a:cs typeface="Arial MT"/>
            </a:endParaRPr>
          </a:p>
          <a:p>
            <a:pPr marL="407670" lvl="1" indent="-152400">
              <a:lnSpc>
                <a:spcPct val="100000"/>
              </a:lnSpc>
              <a:spcBef>
                <a:spcPts val="375"/>
              </a:spcBef>
              <a:buChar char="–"/>
              <a:tabLst>
                <a:tab pos="408305" algn="l"/>
              </a:tabLst>
            </a:pPr>
            <a:r>
              <a:rPr sz="1450" spc="-10" dirty="0">
                <a:latin typeface="Arial MT"/>
                <a:cs typeface="Arial MT"/>
              </a:rPr>
              <a:t>First</a:t>
            </a:r>
            <a:r>
              <a:rPr sz="1450" spc="90" dirty="0">
                <a:latin typeface="Arial MT"/>
                <a:cs typeface="Arial MT"/>
              </a:rPr>
              <a:t> </a:t>
            </a:r>
            <a:r>
              <a:rPr sz="1450" spc="10" dirty="0">
                <a:latin typeface="Arial MT"/>
                <a:cs typeface="Arial MT"/>
              </a:rPr>
              <a:t>row</a:t>
            </a:r>
            <a:r>
              <a:rPr sz="1450" spc="40" dirty="0">
                <a:latin typeface="Arial MT"/>
                <a:cs typeface="Arial MT"/>
              </a:rPr>
              <a:t> </a:t>
            </a:r>
            <a:r>
              <a:rPr sz="1450" dirty="0">
                <a:latin typeface="Arial MT"/>
                <a:cs typeface="Arial MT"/>
              </a:rPr>
              <a:t>a[0]</a:t>
            </a:r>
            <a:r>
              <a:rPr sz="1450" spc="15" dirty="0">
                <a:latin typeface="Arial MT"/>
                <a:cs typeface="Arial MT"/>
              </a:rPr>
              <a:t> </a:t>
            </a:r>
            <a:r>
              <a:rPr sz="1450" spc="10" dirty="0">
                <a:latin typeface="Arial MT"/>
                <a:cs typeface="Arial MT"/>
              </a:rPr>
              <a:t>has</a:t>
            </a:r>
            <a:r>
              <a:rPr sz="1450" spc="45" dirty="0">
                <a:latin typeface="Arial MT"/>
                <a:cs typeface="Arial MT"/>
              </a:rPr>
              <a:t> </a:t>
            </a:r>
            <a:r>
              <a:rPr sz="1450" spc="15" dirty="0">
                <a:latin typeface="Arial MT"/>
                <a:cs typeface="Arial MT"/>
              </a:rPr>
              <a:t>1</a:t>
            </a:r>
            <a:r>
              <a:rPr sz="1450" spc="5" dirty="0">
                <a:latin typeface="Arial MT"/>
                <a:cs typeface="Arial MT"/>
              </a:rPr>
              <a:t> </a:t>
            </a:r>
            <a:r>
              <a:rPr sz="1450" spc="10" dirty="0">
                <a:latin typeface="Arial MT"/>
                <a:cs typeface="Arial MT"/>
              </a:rPr>
              <a:t>column.</a:t>
            </a:r>
            <a:endParaRPr sz="1450" dirty="0">
              <a:latin typeface="Arial MT"/>
              <a:cs typeface="Arial MT"/>
            </a:endParaRPr>
          </a:p>
          <a:p>
            <a:pPr marL="407670" lvl="1" indent="-152400">
              <a:lnSpc>
                <a:spcPts val="1645"/>
              </a:lnSpc>
              <a:spcBef>
                <a:spcPts val="420"/>
              </a:spcBef>
              <a:buChar char="–"/>
              <a:tabLst>
                <a:tab pos="408305" algn="l"/>
              </a:tabLst>
            </a:pPr>
            <a:r>
              <a:rPr sz="1450" spc="15" dirty="0">
                <a:latin typeface="Arial MT"/>
                <a:cs typeface="Arial MT"/>
              </a:rPr>
              <a:t>Second</a:t>
            </a:r>
            <a:r>
              <a:rPr sz="1450" spc="5" dirty="0">
                <a:latin typeface="Arial MT"/>
                <a:cs typeface="Arial MT"/>
              </a:rPr>
              <a:t> </a:t>
            </a:r>
            <a:r>
              <a:rPr sz="1450" spc="10" dirty="0">
                <a:latin typeface="Arial MT"/>
                <a:cs typeface="Arial MT"/>
              </a:rPr>
              <a:t>row</a:t>
            </a:r>
            <a:r>
              <a:rPr sz="1450" spc="35" dirty="0">
                <a:latin typeface="Arial MT"/>
                <a:cs typeface="Arial MT"/>
              </a:rPr>
              <a:t> </a:t>
            </a:r>
            <a:r>
              <a:rPr sz="1450" dirty="0">
                <a:latin typeface="Arial MT"/>
                <a:cs typeface="Arial MT"/>
              </a:rPr>
              <a:t>a[1]</a:t>
            </a:r>
            <a:r>
              <a:rPr sz="1450" spc="20" dirty="0">
                <a:latin typeface="Arial MT"/>
                <a:cs typeface="Arial MT"/>
              </a:rPr>
              <a:t> </a:t>
            </a:r>
            <a:r>
              <a:rPr sz="1450" spc="10" dirty="0">
                <a:latin typeface="Arial MT"/>
                <a:cs typeface="Arial MT"/>
              </a:rPr>
              <a:t>has</a:t>
            </a:r>
            <a:r>
              <a:rPr sz="1450" spc="45" dirty="0">
                <a:latin typeface="Arial MT"/>
                <a:cs typeface="Arial MT"/>
              </a:rPr>
              <a:t> </a:t>
            </a:r>
            <a:r>
              <a:rPr lang="en-US" sz="1450" spc="45" dirty="0">
                <a:latin typeface="Arial MT"/>
                <a:cs typeface="Arial MT"/>
              </a:rPr>
              <a:t>2</a:t>
            </a:r>
            <a:r>
              <a:rPr sz="1450" spc="10" dirty="0">
                <a:latin typeface="Arial MT"/>
                <a:cs typeface="Arial MT"/>
              </a:rPr>
              <a:t> column</a:t>
            </a:r>
            <a:r>
              <a:rPr lang="en-US" sz="1450" spc="10" dirty="0">
                <a:latin typeface="Arial MT"/>
                <a:cs typeface="Arial MT"/>
              </a:rPr>
              <a:t>s</a:t>
            </a:r>
            <a:endParaRPr sz="1450" dirty="0">
              <a:latin typeface="Arial MT"/>
              <a:cs typeface="Arial MT"/>
            </a:endParaRPr>
          </a:p>
          <a:p>
            <a:pPr marR="5080" algn="r">
              <a:lnSpc>
                <a:spcPts val="805"/>
              </a:lnSpc>
            </a:pPr>
            <a:endParaRPr sz="750" dirty="0">
              <a:latin typeface="Arial MT"/>
              <a:cs typeface="Arial MT"/>
            </a:endParaRPr>
          </a:p>
        </p:txBody>
      </p:sp>
      <p:sp>
        <p:nvSpPr>
          <p:cNvPr id="4" name="object 4"/>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a:spLocks noGrp="1"/>
          </p:cNvSpPr>
          <p:nvPr>
            <p:ph type="title"/>
          </p:nvPr>
        </p:nvSpPr>
        <p:spPr>
          <a:xfrm>
            <a:off x="1422400" y="761365"/>
            <a:ext cx="3761740" cy="318135"/>
          </a:xfrm>
          <a:prstGeom prst="rect">
            <a:avLst/>
          </a:prstGeom>
        </p:spPr>
        <p:txBody>
          <a:bodyPr vert="horz" wrap="square" lIns="0" tIns="14604" rIns="0" bIns="0" rtlCol="0">
            <a:spAutoFit/>
          </a:bodyPr>
          <a:lstStyle/>
          <a:p>
            <a:pPr marL="12700">
              <a:lnSpc>
                <a:spcPct val="100000"/>
              </a:lnSpc>
              <a:spcBef>
                <a:spcPts val="114"/>
              </a:spcBef>
            </a:pPr>
            <a:r>
              <a:rPr spc="-5" dirty="0">
                <a:solidFill>
                  <a:schemeClr val="tx1"/>
                </a:solidFill>
              </a:rPr>
              <a:t>Multidimensional</a:t>
            </a:r>
            <a:r>
              <a:rPr spc="80" dirty="0">
                <a:solidFill>
                  <a:schemeClr val="tx1"/>
                </a:solidFill>
              </a:rPr>
              <a:t> </a:t>
            </a:r>
            <a:r>
              <a:rPr spc="10" dirty="0">
                <a:solidFill>
                  <a:schemeClr val="tx1"/>
                </a:solidFill>
              </a:rPr>
              <a:t>array</a:t>
            </a:r>
            <a:r>
              <a:rPr spc="-45" dirty="0">
                <a:solidFill>
                  <a:schemeClr val="tx1"/>
                </a:solidFill>
              </a:rPr>
              <a:t> </a:t>
            </a:r>
            <a:r>
              <a:rPr spc="-10" dirty="0">
                <a:solidFill>
                  <a:schemeClr val="tx1"/>
                </a:solidFill>
              </a:rPr>
              <a:t>initialization</a:t>
            </a:r>
          </a:p>
        </p:txBody>
      </p:sp>
      <p:sp>
        <p:nvSpPr>
          <p:cNvPr id="4" name="object 4"/>
          <p:cNvSpPr txBox="1"/>
          <p:nvPr/>
        </p:nvSpPr>
        <p:spPr>
          <a:xfrm>
            <a:off x="364659" y="1260930"/>
            <a:ext cx="5706745" cy="1734185"/>
          </a:xfrm>
          <a:prstGeom prst="rect">
            <a:avLst/>
          </a:prstGeom>
        </p:spPr>
        <p:txBody>
          <a:bodyPr vert="horz" wrap="square" lIns="0" tIns="14604" rIns="0" bIns="0" rtlCol="0">
            <a:spAutoFit/>
          </a:bodyPr>
          <a:lstStyle/>
          <a:p>
            <a:pPr marL="194945" indent="-182880">
              <a:lnSpc>
                <a:spcPct val="100000"/>
              </a:lnSpc>
              <a:spcBef>
                <a:spcPts val="114"/>
              </a:spcBef>
              <a:buChar char="•"/>
              <a:tabLst>
                <a:tab pos="195580" algn="l"/>
              </a:tabLst>
            </a:pPr>
            <a:r>
              <a:rPr sz="1700" spc="15" dirty="0">
                <a:latin typeface="Arial MT"/>
                <a:cs typeface="Arial MT"/>
              </a:rPr>
              <a:t>E</a:t>
            </a:r>
            <a:r>
              <a:rPr sz="1700" spc="5" dirty="0">
                <a:latin typeface="Arial MT"/>
                <a:cs typeface="Arial MT"/>
              </a:rPr>
              <a:t>n</a:t>
            </a:r>
            <a:r>
              <a:rPr sz="1700" spc="20" dirty="0">
                <a:latin typeface="Arial MT"/>
                <a:cs typeface="Arial MT"/>
              </a:rPr>
              <a:t>cl</a:t>
            </a:r>
            <a:r>
              <a:rPr sz="1700" spc="5" dirty="0">
                <a:latin typeface="Arial MT"/>
                <a:cs typeface="Arial MT"/>
              </a:rPr>
              <a:t>o</a:t>
            </a:r>
            <a:r>
              <a:rPr sz="1700" spc="20" dirty="0">
                <a:latin typeface="Arial MT"/>
                <a:cs typeface="Arial MT"/>
              </a:rPr>
              <a:t>s</a:t>
            </a:r>
            <a:r>
              <a:rPr sz="1700" spc="10" dirty="0">
                <a:latin typeface="Arial MT"/>
                <a:cs typeface="Arial MT"/>
              </a:rPr>
              <a:t>e</a:t>
            </a:r>
            <a:r>
              <a:rPr sz="1700" spc="-155" dirty="0">
                <a:latin typeface="Arial MT"/>
                <a:cs typeface="Arial MT"/>
              </a:rPr>
              <a:t> </a:t>
            </a:r>
            <a:r>
              <a:rPr sz="1700" spc="5" dirty="0">
                <a:latin typeface="Arial MT"/>
                <a:cs typeface="Arial MT"/>
              </a:rPr>
              <a:t>ea</a:t>
            </a:r>
            <a:r>
              <a:rPr sz="1700" spc="25" dirty="0">
                <a:latin typeface="Arial MT"/>
                <a:cs typeface="Arial MT"/>
              </a:rPr>
              <a:t>c</a:t>
            </a:r>
            <a:r>
              <a:rPr sz="1700" spc="10" dirty="0">
                <a:latin typeface="Arial MT"/>
                <a:cs typeface="Arial MT"/>
              </a:rPr>
              <a:t>h</a:t>
            </a:r>
            <a:r>
              <a:rPr sz="1700" spc="-35" dirty="0">
                <a:latin typeface="Arial MT"/>
                <a:cs typeface="Arial MT"/>
              </a:rPr>
              <a:t> </a:t>
            </a:r>
            <a:r>
              <a:rPr sz="1700" spc="5" dirty="0">
                <a:latin typeface="Arial MT"/>
                <a:cs typeface="Arial MT"/>
              </a:rPr>
              <a:t>d</a:t>
            </a:r>
            <a:r>
              <a:rPr sz="1700" spc="15" dirty="0">
                <a:latin typeface="Arial MT"/>
                <a:cs typeface="Arial MT"/>
              </a:rPr>
              <a:t>i</a:t>
            </a:r>
            <a:r>
              <a:rPr sz="1700" spc="20" dirty="0">
                <a:latin typeface="Arial MT"/>
                <a:cs typeface="Arial MT"/>
              </a:rPr>
              <a:t>m</a:t>
            </a:r>
            <a:r>
              <a:rPr sz="1700" spc="5" dirty="0">
                <a:latin typeface="Arial MT"/>
                <a:cs typeface="Arial MT"/>
              </a:rPr>
              <a:t>en</a:t>
            </a:r>
            <a:r>
              <a:rPr sz="1700" spc="25" dirty="0">
                <a:latin typeface="Arial MT"/>
                <a:cs typeface="Arial MT"/>
              </a:rPr>
              <a:t>s</a:t>
            </a:r>
            <a:r>
              <a:rPr sz="1700" spc="-25" dirty="0">
                <a:latin typeface="Arial MT"/>
                <a:cs typeface="Arial MT"/>
              </a:rPr>
              <a:t>i</a:t>
            </a:r>
            <a:r>
              <a:rPr sz="1700" spc="5" dirty="0">
                <a:latin typeface="Arial MT"/>
                <a:cs typeface="Arial MT"/>
              </a:rPr>
              <a:t>on</a:t>
            </a:r>
            <a:r>
              <a:rPr sz="1700" spc="-20" dirty="0">
                <a:latin typeface="Arial MT"/>
                <a:cs typeface="Arial MT"/>
              </a:rPr>
              <a:t>’</a:t>
            </a:r>
            <a:r>
              <a:rPr sz="1700" spc="5" dirty="0">
                <a:latin typeface="Arial MT"/>
                <a:cs typeface="Arial MT"/>
              </a:rPr>
              <a:t>s</a:t>
            </a:r>
            <a:r>
              <a:rPr sz="1700" spc="-140" dirty="0">
                <a:latin typeface="Arial MT"/>
                <a:cs typeface="Arial MT"/>
              </a:rPr>
              <a:t> </a:t>
            </a:r>
            <a:r>
              <a:rPr sz="1700" spc="15" dirty="0">
                <a:latin typeface="Arial MT"/>
                <a:cs typeface="Arial MT"/>
              </a:rPr>
              <a:t>i</a:t>
            </a:r>
            <a:r>
              <a:rPr sz="1700" spc="5" dirty="0">
                <a:latin typeface="Arial MT"/>
                <a:cs typeface="Arial MT"/>
              </a:rPr>
              <a:t>n</a:t>
            </a:r>
            <a:r>
              <a:rPr sz="1700" spc="15" dirty="0">
                <a:latin typeface="Arial MT"/>
                <a:cs typeface="Arial MT"/>
              </a:rPr>
              <a:t>i</a:t>
            </a:r>
            <a:r>
              <a:rPr sz="1700" spc="5" dirty="0">
                <a:latin typeface="Arial MT"/>
                <a:cs typeface="Arial MT"/>
              </a:rPr>
              <a:t>t</a:t>
            </a:r>
            <a:r>
              <a:rPr sz="1700" spc="15" dirty="0">
                <a:latin typeface="Arial MT"/>
                <a:cs typeface="Arial MT"/>
              </a:rPr>
              <a:t>i</a:t>
            </a:r>
            <a:r>
              <a:rPr sz="1700" spc="5" dirty="0">
                <a:latin typeface="Arial MT"/>
                <a:cs typeface="Arial MT"/>
              </a:rPr>
              <a:t>a</a:t>
            </a:r>
            <a:r>
              <a:rPr sz="1700" spc="15" dirty="0">
                <a:latin typeface="Arial MT"/>
                <a:cs typeface="Arial MT"/>
              </a:rPr>
              <a:t>li</a:t>
            </a:r>
            <a:r>
              <a:rPr sz="1700" spc="-20" dirty="0">
                <a:latin typeface="Arial MT"/>
                <a:cs typeface="Arial MT"/>
              </a:rPr>
              <a:t>z</a:t>
            </a:r>
            <a:r>
              <a:rPr sz="1700" spc="5" dirty="0">
                <a:latin typeface="Arial MT"/>
                <a:cs typeface="Arial MT"/>
              </a:rPr>
              <a:t>e</a:t>
            </a:r>
            <a:r>
              <a:rPr sz="1700" spc="-10" dirty="0">
                <a:latin typeface="Arial MT"/>
                <a:cs typeface="Arial MT"/>
              </a:rPr>
              <a:t>r(</a:t>
            </a:r>
            <a:r>
              <a:rPr sz="1700" spc="20" dirty="0">
                <a:latin typeface="Arial MT"/>
                <a:cs typeface="Arial MT"/>
              </a:rPr>
              <a:t>v</a:t>
            </a:r>
            <a:r>
              <a:rPr sz="1700" spc="-30" dirty="0">
                <a:latin typeface="Arial MT"/>
                <a:cs typeface="Arial MT"/>
              </a:rPr>
              <a:t>a</a:t>
            </a:r>
            <a:r>
              <a:rPr sz="1700" spc="15" dirty="0">
                <a:latin typeface="Arial MT"/>
                <a:cs typeface="Arial MT"/>
              </a:rPr>
              <a:t>l</a:t>
            </a:r>
            <a:r>
              <a:rPr sz="1700" spc="5" dirty="0">
                <a:latin typeface="Arial MT"/>
                <a:cs typeface="Arial MT"/>
              </a:rPr>
              <a:t>u</a:t>
            </a:r>
            <a:r>
              <a:rPr sz="1700" spc="-30" dirty="0">
                <a:latin typeface="Arial MT"/>
                <a:cs typeface="Arial MT"/>
              </a:rPr>
              <a:t>e</a:t>
            </a:r>
            <a:r>
              <a:rPr sz="1700" spc="20" dirty="0">
                <a:latin typeface="Arial MT"/>
                <a:cs typeface="Arial MT"/>
              </a:rPr>
              <a:t>s</a:t>
            </a:r>
            <a:r>
              <a:rPr sz="1700" spc="5" dirty="0">
                <a:latin typeface="Arial MT"/>
                <a:cs typeface="Arial MT"/>
              </a:rPr>
              <a:t>)</a:t>
            </a:r>
            <a:r>
              <a:rPr sz="1700" spc="-130" dirty="0">
                <a:latin typeface="Arial MT"/>
                <a:cs typeface="Arial MT"/>
              </a:rPr>
              <a:t> </a:t>
            </a:r>
            <a:r>
              <a:rPr sz="1700" spc="-75" dirty="0">
                <a:latin typeface="Arial MT"/>
                <a:cs typeface="Arial MT"/>
              </a:rPr>
              <a:t>w</a:t>
            </a:r>
            <a:r>
              <a:rPr sz="1700" spc="15" dirty="0">
                <a:latin typeface="Arial MT"/>
                <a:cs typeface="Arial MT"/>
              </a:rPr>
              <a:t>i</a:t>
            </a:r>
            <a:r>
              <a:rPr sz="1700" spc="5" dirty="0">
                <a:latin typeface="Arial MT"/>
                <a:cs typeface="Arial MT"/>
              </a:rPr>
              <a:t>th</a:t>
            </a:r>
            <a:r>
              <a:rPr sz="1700" spc="15" dirty="0">
                <a:latin typeface="Arial MT"/>
                <a:cs typeface="Arial MT"/>
              </a:rPr>
              <a:t>i</a:t>
            </a:r>
            <a:r>
              <a:rPr sz="1700" spc="10" dirty="0">
                <a:latin typeface="Arial MT"/>
                <a:cs typeface="Arial MT"/>
              </a:rPr>
              <a:t>n</a:t>
            </a:r>
            <a:r>
              <a:rPr sz="1700" spc="-35" dirty="0">
                <a:latin typeface="Arial MT"/>
                <a:cs typeface="Arial MT"/>
              </a:rPr>
              <a:t> </a:t>
            </a:r>
            <a:r>
              <a:rPr sz="1700" spc="15" dirty="0">
                <a:latin typeface="Arial MT"/>
                <a:cs typeface="Arial MT"/>
              </a:rPr>
              <a:t>i</a:t>
            </a:r>
            <a:r>
              <a:rPr sz="1700" spc="5" dirty="0">
                <a:latin typeface="Arial MT"/>
                <a:cs typeface="Arial MT"/>
              </a:rPr>
              <a:t>ts</a:t>
            </a:r>
            <a:r>
              <a:rPr sz="1700" spc="-20" dirty="0">
                <a:latin typeface="Arial MT"/>
                <a:cs typeface="Arial MT"/>
              </a:rPr>
              <a:t> </a:t>
            </a:r>
            <a:r>
              <a:rPr sz="1700" spc="5" dirty="0">
                <a:latin typeface="Arial MT"/>
                <a:cs typeface="Arial MT"/>
              </a:rPr>
              <a:t>o</a:t>
            </a:r>
            <a:r>
              <a:rPr sz="1700" spc="-75" dirty="0">
                <a:latin typeface="Arial MT"/>
                <a:cs typeface="Arial MT"/>
              </a:rPr>
              <a:t>w</a:t>
            </a:r>
            <a:r>
              <a:rPr sz="1700" spc="10" dirty="0">
                <a:latin typeface="Arial MT"/>
                <a:cs typeface="Arial MT"/>
              </a:rPr>
              <a:t>n</a:t>
            </a:r>
            <a:endParaRPr sz="1700">
              <a:latin typeface="Arial MT"/>
              <a:cs typeface="Arial MT"/>
            </a:endParaRPr>
          </a:p>
          <a:p>
            <a:pPr marL="194945">
              <a:lnSpc>
                <a:spcPct val="100000"/>
              </a:lnSpc>
              <a:spcBef>
                <a:spcPts val="40"/>
              </a:spcBef>
            </a:pPr>
            <a:r>
              <a:rPr sz="1700" spc="10" dirty="0">
                <a:latin typeface="Arial MT"/>
                <a:cs typeface="Arial MT"/>
              </a:rPr>
              <a:t>set</a:t>
            </a:r>
            <a:r>
              <a:rPr sz="1700" spc="-45" dirty="0">
                <a:latin typeface="Arial MT"/>
                <a:cs typeface="Arial MT"/>
              </a:rPr>
              <a:t> </a:t>
            </a:r>
            <a:r>
              <a:rPr sz="1700" spc="5" dirty="0">
                <a:latin typeface="Arial MT"/>
                <a:cs typeface="Arial MT"/>
              </a:rPr>
              <a:t>of</a:t>
            </a:r>
            <a:r>
              <a:rPr sz="1700" spc="-50" dirty="0">
                <a:latin typeface="Arial MT"/>
                <a:cs typeface="Arial MT"/>
              </a:rPr>
              <a:t> </a:t>
            </a:r>
            <a:r>
              <a:rPr sz="1700" spc="5" dirty="0">
                <a:latin typeface="Arial MT"/>
                <a:cs typeface="Arial MT"/>
              </a:rPr>
              <a:t>curly</a:t>
            </a:r>
            <a:r>
              <a:rPr sz="1700" spc="-65" dirty="0">
                <a:latin typeface="Arial MT"/>
                <a:cs typeface="Arial MT"/>
              </a:rPr>
              <a:t> </a:t>
            </a:r>
            <a:r>
              <a:rPr sz="1700" spc="5" dirty="0">
                <a:latin typeface="Arial MT"/>
                <a:cs typeface="Arial MT"/>
              </a:rPr>
              <a:t>braces.</a:t>
            </a:r>
            <a:endParaRPr sz="1700">
              <a:latin typeface="Arial MT"/>
              <a:cs typeface="Arial MT"/>
            </a:endParaRPr>
          </a:p>
          <a:p>
            <a:pPr marL="194945" marR="27305" indent="-182880">
              <a:lnSpc>
                <a:spcPct val="100000"/>
              </a:lnSpc>
              <a:spcBef>
                <a:spcPts val="400"/>
              </a:spcBef>
              <a:buChar char="•"/>
              <a:tabLst>
                <a:tab pos="195580" algn="l"/>
              </a:tabLst>
            </a:pPr>
            <a:r>
              <a:rPr sz="1700" spc="35" dirty="0">
                <a:latin typeface="Arial MT"/>
                <a:cs typeface="Arial MT"/>
              </a:rPr>
              <a:t>We</a:t>
            </a:r>
            <a:r>
              <a:rPr sz="1700" spc="-75" dirty="0">
                <a:latin typeface="Arial MT"/>
                <a:cs typeface="Arial MT"/>
              </a:rPr>
              <a:t> </a:t>
            </a:r>
            <a:r>
              <a:rPr sz="1700" spc="10" dirty="0">
                <a:latin typeface="Arial MT"/>
                <a:cs typeface="Arial MT"/>
              </a:rPr>
              <a:t>can</a:t>
            </a:r>
            <a:r>
              <a:rPr sz="1700" spc="-65" dirty="0">
                <a:latin typeface="Arial MT"/>
                <a:cs typeface="Arial MT"/>
              </a:rPr>
              <a:t> </a:t>
            </a:r>
            <a:r>
              <a:rPr sz="1700" spc="10" dirty="0">
                <a:latin typeface="Arial MT"/>
                <a:cs typeface="Arial MT"/>
              </a:rPr>
              <a:t>use</a:t>
            </a:r>
            <a:r>
              <a:rPr sz="1700" spc="-20" dirty="0">
                <a:latin typeface="Arial MT"/>
                <a:cs typeface="Arial MT"/>
              </a:rPr>
              <a:t> </a:t>
            </a:r>
            <a:r>
              <a:rPr sz="1700" b="1" dirty="0">
                <a:latin typeface="Arial"/>
                <a:cs typeface="Arial"/>
              </a:rPr>
              <a:t>expressions</a:t>
            </a:r>
            <a:r>
              <a:rPr sz="1700" b="1" spc="-95" dirty="0">
                <a:latin typeface="Arial"/>
                <a:cs typeface="Arial"/>
              </a:rPr>
              <a:t> </a:t>
            </a:r>
            <a:r>
              <a:rPr sz="1700" spc="5" dirty="0">
                <a:latin typeface="Arial MT"/>
                <a:cs typeface="Arial MT"/>
              </a:rPr>
              <a:t>as</a:t>
            </a:r>
            <a:r>
              <a:rPr sz="1700" spc="-15" dirty="0">
                <a:latin typeface="Arial MT"/>
                <a:cs typeface="Arial MT"/>
              </a:rPr>
              <a:t> well</a:t>
            </a:r>
            <a:r>
              <a:rPr sz="1700" spc="25" dirty="0">
                <a:latin typeface="Arial MT"/>
                <a:cs typeface="Arial MT"/>
              </a:rPr>
              <a:t> </a:t>
            </a:r>
            <a:r>
              <a:rPr sz="1700" spc="5" dirty="0">
                <a:latin typeface="Arial MT"/>
                <a:cs typeface="Arial MT"/>
              </a:rPr>
              <a:t>as</a:t>
            </a:r>
            <a:r>
              <a:rPr sz="1700" spc="10" dirty="0">
                <a:latin typeface="Arial MT"/>
                <a:cs typeface="Arial MT"/>
              </a:rPr>
              <a:t> </a:t>
            </a:r>
            <a:r>
              <a:rPr sz="1700" b="1" spc="5" dirty="0">
                <a:latin typeface="Arial"/>
                <a:cs typeface="Arial"/>
              </a:rPr>
              <a:t>literal</a:t>
            </a:r>
            <a:r>
              <a:rPr sz="1700" b="1" spc="-30" dirty="0">
                <a:latin typeface="Arial"/>
                <a:cs typeface="Arial"/>
              </a:rPr>
              <a:t> </a:t>
            </a:r>
            <a:r>
              <a:rPr sz="1700" b="1" spc="-5" dirty="0">
                <a:latin typeface="Arial"/>
                <a:cs typeface="Arial"/>
              </a:rPr>
              <a:t>values</a:t>
            </a:r>
            <a:r>
              <a:rPr sz="1700" b="1" spc="-10" dirty="0">
                <a:latin typeface="Arial"/>
                <a:cs typeface="Arial"/>
              </a:rPr>
              <a:t> </a:t>
            </a:r>
            <a:r>
              <a:rPr sz="1700" spc="10" dirty="0">
                <a:latin typeface="Arial MT"/>
                <a:cs typeface="Arial MT"/>
              </a:rPr>
              <a:t>inside </a:t>
            </a:r>
            <a:r>
              <a:rPr sz="1700" spc="-459" dirty="0">
                <a:latin typeface="Arial MT"/>
                <a:cs typeface="Arial MT"/>
              </a:rPr>
              <a:t> </a:t>
            </a:r>
            <a:r>
              <a:rPr sz="1700" spc="5" dirty="0">
                <a:latin typeface="Arial MT"/>
                <a:cs typeface="Arial MT"/>
              </a:rPr>
              <a:t>of</a:t>
            </a:r>
            <a:r>
              <a:rPr sz="1700" spc="-40" dirty="0">
                <a:latin typeface="Arial MT"/>
                <a:cs typeface="Arial MT"/>
              </a:rPr>
              <a:t> </a:t>
            </a:r>
            <a:r>
              <a:rPr sz="1700" dirty="0">
                <a:latin typeface="Arial MT"/>
                <a:cs typeface="Arial MT"/>
              </a:rPr>
              <a:t>array</a:t>
            </a:r>
            <a:r>
              <a:rPr sz="1700" spc="-10" dirty="0">
                <a:latin typeface="Arial MT"/>
                <a:cs typeface="Arial MT"/>
              </a:rPr>
              <a:t> </a:t>
            </a:r>
            <a:r>
              <a:rPr sz="1700" spc="5" dirty="0">
                <a:solidFill>
                  <a:srgbClr val="C00000"/>
                </a:solidFill>
                <a:latin typeface="Arial MT"/>
                <a:cs typeface="Arial MT"/>
              </a:rPr>
              <a:t>initializers</a:t>
            </a:r>
            <a:r>
              <a:rPr sz="1700" spc="5" dirty="0">
                <a:latin typeface="Arial MT"/>
                <a:cs typeface="Arial MT"/>
              </a:rPr>
              <a:t>.</a:t>
            </a:r>
            <a:endParaRPr sz="1700">
              <a:latin typeface="Arial MT"/>
              <a:cs typeface="Arial MT"/>
            </a:endParaRPr>
          </a:p>
          <a:p>
            <a:pPr marL="194945" indent="-182880">
              <a:lnSpc>
                <a:spcPct val="100000"/>
              </a:lnSpc>
              <a:spcBef>
                <a:spcPts val="434"/>
              </a:spcBef>
              <a:buChar char="•"/>
              <a:tabLst>
                <a:tab pos="195580" algn="l"/>
              </a:tabLst>
            </a:pPr>
            <a:r>
              <a:rPr sz="1700" spc="5" dirty="0">
                <a:latin typeface="Arial MT"/>
                <a:cs typeface="Arial MT"/>
              </a:rPr>
              <a:t>Eg.</a:t>
            </a:r>
            <a:endParaRPr sz="1700">
              <a:latin typeface="Arial MT"/>
              <a:cs typeface="Arial MT"/>
            </a:endParaRPr>
          </a:p>
          <a:p>
            <a:pPr marL="12700">
              <a:lnSpc>
                <a:spcPct val="100000"/>
              </a:lnSpc>
              <a:spcBef>
                <a:spcPts val="315"/>
              </a:spcBef>
            </a:pPr>
            <a:r>
              <a:rPr sz="1700" spc="-80" dirty="0">
                <a:latin typeface="Times New Roman"/>
                <a:cs typeface="Times New Roman"/>
              </a:rPr>
              <a:t>i</a:t>
            </a:r>
            <a:r>
              <a:rPr sz="1700" spc="20" dirty="0">
                <a:latin typeface="Times New Roman"/>
                <a:cs typeface="Times New Roman"/>
              </a:rPr>
              <a:t>n</a:t>
            </a:r>
            <a:r>
              <a:rPr sz="1700" spc="-30" dirty="0">
                <a:latin typeface="Times New Roman"/>
                <a:cs typeface="Times New Roman"/>
              </a:rPr>
              <a:t>t</a:t>
            </a:r>
            <a:r>
              <a:rPr sz="1700" spc="5" dirty="0">
                <a:latin typeface="Times New Roman"/>
                <a:cs typeface="Times New Roman"/>
              </a:rPr>
              <a:t> </a:t>
            </a:r>
            <a:r>
              <a:rPr sz="1700" spc="-45" dirty="0">
                <a:latin typeface="Times New Roman"/>
                <a:cs typeface="Times New Roman"/>
              </a:rPr>
              <a:t>a</a:t>
            </a:r>
            <a:r>
              <a:rPr sz="1700" spc="-55" dirty="0">
                <a:latin typeface="Times New Roman"/>
                <a:cs typeface="Times New Roman"/>
              </a:rPr>
              <a:t>[][]</a:t>
            </a:r>
            <a:r>
              <a:rPr sz="1700" spc="-125" dirty="0">
                <a:latin typeface="Times New Roman"/>
                <a:cs typeface="Times New Roman"/>
              </a:rPr>
              <a:t>=</a:t>
            </a:r>
            <a:r>
              <a:rPr sz="1700" spc="-315" dirty="0">
                <a:latin typeface="Times New Roman"/>
                <a:cs typeface="Times New Roman"/>
              </a:rPr>
              <a:t>{</a:t>
            </a:r>
            <a:r>
              <a:rPr sz="1700" spc="-95" dirty="0">
                <a:latin typeface="Times New Roman"/>
                <a:cs typeface="Times New Roman"/>
              </a:rPr>
              <a:t> </a:t>
            </a:r>
            <a:r>
              <a:rPr sz="1700" spc="-305" dirty="0">
                <a:latin typeface="Times New Roman"/>
                <a:cs typeface="Times New Roman"/>
              </a:rPr>
              <a:t>{</a:t>
            </a:r>
            <a:r>
              <a:rPr sz="1700" spc="-20" dirty="0">
                <a:latin typeface="Times New Roman"/>
                <a:cs typeface="Times New Roman"/>
              </a:rPr>
              <a:t>1</a:t>
            </a:r>
            <a:r>
              <a:rPr sz="1700" spc="-35" dirty="0">
                <a:latin typeface="Times New Roman"/>
                <a:cs typeface="Times New Roman"/>
              </a:rPr>
              <a:t>,</a:t>
            </a:r>
            <a:r>
              <a:rPr sz="1700" spc="-20" dirty="0">
                <a:latin typeface="Times New Roman"/>
                <a:cs typeface="Times New Roman"/>
              </a:rPr>
              <a:t>2</a:t>
            </a:r>
            <a:r>
              <a:rPr sz="1700" spc="-35" dirty="0">
                <a:latin typeface="Times New Roman"/>
                <a:cs typeface="Times New Roman"/>
              </a:rPr>
              <a:t>,</a:t>
            </a:r>
            <a:r>
              <a:rPr sz="1700" spc="-20" dirty="0">
                <a:latin typeface="Times New Roman"/>
                <a:cs typeface="Times New Roman"/>
              </a:rPr>
              <a:t>3</a:t>
            </a:r>
            <a:r>
              <a:rPr sz="1700" spc="-315" dirty="0">
                <a:latin typeface="Times New Roman"/>
                <a:cs typeface="Times New Roman"/>
              </a:rPr>
              <a:t>}</a:t>
            </a:r>
            <a:r>
              <a:rPr sz="1700" spc="-15" dirty="0">
                <a:latin typeface="Times New Roman"/>
                <a:cs typeface="Times New Roman"/>
              </a:rPr>
              <a:t> </a:t>
            </a:r>
            <a:r>
              <a:rPr sz="1700" spc="-20" dirty="0">
                <a:latin typeface="Times New Roman"/>
                <a:cs typeface="Times New Roman"/>
              </a:rPr>
              <a:t>,</a:t>
            </a:r>
            <a:r>
              <a:rPr sz="1700" dirty="0">
                <a:latin typeface="Times New Roman"/>
                <a:cs typeface="Times New Roman"/>
              </a:rPr>
              <a:t> </a:t>
            </a:r>
            <a:r>
              <a:rPr sz="1700" spc="-305" dirty="0">
                <a:latin typeface="Times New Roman"/>
                <a:cs typeface="Times New Roman"/>
              </a:rPr>
              <a:t>{</a:t>
            </a:r>
            <a:r>
              <a:rPr sz="1700" spc="-20" dirty="0">
                <a:latin typeface="Times New Roman"/>
                <a:cs typeface="Times New Roman"/>
              </a:rPr>
              <a:t>3</a:t>
            </a:r>
            <a:r>
              <a:rPr sz="1700" spc="-35" dirty="0">
                <a:latin typeface="Times New Roman"/>
                <a:cs typeface="Times New Roman"/>
              </a:rPr>
              <a:t>,</a:t>
            </a:r>
            <a:r>
              <a:rPr sz="1700" spc="-20" dirty="0">
                <a:latin typeface="Times New Roman"/>
                <a:cs typeface="Times New Roman"/>
              </a:rPr>
              <a:t>4</a:t>
            </a:r>
            <a:r>
              <a:rPr sz="1700" spc="-35" dirty="0">
                <a:latin typeface="Times New Roman"/>
                <a:cs typeface="Times New Roman"/>
              </a:rPr>
              <a:t>,</a:t>
            </a:r>
            <a:r>
              <a:rPr sz="1700" spc="-20" dirty="0">
                <a:latin typeface="Times New Roman"/>
                <a:cs typeface="Times New Roman"/>
              </a:rPr>
              <a:t>5</a:t>
            </a:r>
            <a:r>
              <a:rPr sz="1700" spc="-305" dirty="0">
                <a:latin typeface="Times New Roman"/>
                <a:cs typeface="Times New Roman"/>
              </a:rPr>
              <a:t>}</a:t>
            </a:r>
            <a:r>
              <a:rPr sz="1700" spc="-315" dirty="0">
                <a:latin typeface="Times New Roman"/>
                <a:cs typeface="Times New Roman"/>
              </a:rPr>
              <a:t>}</a:t>
            </a:r>
            <a:r>
              <a:rPr sz="1700" spc="-15" dirty="0">
                <a:latin typeface="Times New Roman"/>
                <a:cs typeface="Times New Roman"/>
              </a:rPr>
              <a:t> </a:t>
            </a:r>
            <a:r>
              <a:rPr sz="1700" spc="-65" dirty="0">
                <a:latin typeface="Times New Roman"/>
                <a:cs typeface="Times New Roman"/>
              </a:rPr>
              <a:t>;</a:t>
            </a:r>
            <a:endParaRPr sz="1700">
              <a:latin typeface="Times New Roman"/>
              <a:cs typeface="Times New Roman"/>
            </a:endParaRPr>
          </a:p>
        </p:txBody>
      </p:sp>
      <p:sp>
        <p:nvSpPr>
          <p:cNvPr id="6" name="object 6"/>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7764" y="529385"/>
            <a:ext cx="1144270" cy="251460"/>
          </a:xfrm>
          <a:prstGeom prst="rect">
            <a:avLst/>
          </a:prstGeom>
        </p:spPr>
        <p:txBody>
          <a:bodyPr vert="horz" wrap="square" lIns="0" tIns="16510" rIns="0" bIns="0" rtlCol="0">
            <a:spAutoFit/>
          </a:bodyPr>
          <a:lstStyle/>
          <a:p>
            <a:pPr marL="12700">
              <a:lnSpc>
                <a:spcPct val="100000"/>
              </a:lnSpc>
              <a:spcBef>
                <a:spcPts val="130"/>
              </a:spcBef>
            </a:pPr>
            <a:r>
              <a:rPr sz="1450" spc="-5" dirty="0">
                <a:solidFill>
                  <a:srgbClr val="000000"/>
                </a:solidFill>
              </a:rPr>
              <a:t>class</a:t>
            </a:r>
            <a:r>
              <a:rPr sz="1450" spc="60" dirty="0">
                <a:solidFill>
                  <a:srgbClr val="000000"/>
                </a:solidFill>
              </a:rPr>
              <a:t> </a:t>
            </a:r>
            <a:r>
              <a:rPr sz="1450" spc="-5" dirty="0">
                <a:solidFill>
                  <a:srgbClr val="000000"/>
                </a:solidFill>
              </a:rPr>
              <a:t>Matrix</a:t>
            </a:r>
            <a:r>
              <a:rPr sz="1450" spc="135" dirty="0">
                <a:solidFill>
                  <a:srgbClr val="000000"/>
                </a:solidFill>
              </a:rPr>
              <a:t> </a:t>
            </a:r>
            <a:r>
              <a:rPr sz="1450" spc="5" dirty="0">
                <a:solidFill>
                  <a:srgbClr val="000000"/>
                </a:solidFill>
              </a:rPr>
              <a:t>{</a:t>
            </a:r>
            <a:endParaRPr sz="1450"/>
          </a:p>
        </p:txBody>
      </p:sp>
      <p:sp>
        <p:nvSpPr>
          <p:cNvPr id="3" name="object 3"/>
          <p:cNvSpPr txBox="1"/>
          <p:nvPr/>
        </p:nvSpPr>
        <p:spPr>
          <a:xfrm>
            <a:off x="297764" y="755065"/>
            <a:ext cx="3553460" cy="3030220"/>
          </a:xfrm>
          <a:prstGeom prst="rect">
            <a:avLst/>
          </a:prstGeom>
        </p:spPr>
        <p:txBody>
          <a:bodyPr vert="horz" wrap="square" lIns="0" tIns="11430" rIns="0" bIns="0" rtlCol="0">
            <a:spAutoFit/>
          </a:bodyPr>
          <a:lstStyle/>
          <a:p>
            <a:pPr marL="12700" marR="410209">
              <a:lnSpc>
                <a:spcPct val="124000"/>
              </a:lnSpc>
              <a:spcBef>
                <a:spcPts val="90"/>
              </a:spcBef>
            </a:pPr>
            <a:r>
              <a:rPr sz="1450" dirty="0">
                <a:latin typeface="Arial MT"/>
                <a:cs typeface="Arial MT"/>
              </a:rPr>
              <a:t>public</a:t>
            </a:r>
            <a:r>
              <a:rPr sz="1450" spc="85" dirty="0">
                <a:latin typeface="Arial MT"/>
                <a:cs typeface="Arial MT"/>
              </a:rPr>
              <a:t> </a:t>
            </a:r>
            <a:r>
              <a:rPr sz="1450" spc="-10" dirty="0">
                <a:latin typeface="Arial MT"/>
                <a:cs typeface="Arial MT"/>
              </a:rPr>
              <a:t>static</a:t>
            </a:r>
            <a:r>
              <a:rPr sz="1450" spc="165" dirty="0">
                <a:latin typeface="Arial MT"/>
                <a:cs typeface="Arial MT"/>
              </a:rPr>
              <a:t> </a:t>
            </a:r>
            <a:r>
              <a:rPr sz="1450" spc="-15" dirty="0">
                <a:latin typeface="Arial MT"/>
                <a:cs typeface="Arial MT"/>
              </a:rPr>
              <a:t>void</a:t>
            </a:r>
            <a:r>
              <a:rPr sz="1450" spc="120" dirty="0">
                <a:latin typeface="Arial MT"/>
                <a:cs typeface="Arial MT"/>
              </a:rPr>
              <a:t> </a:t>
            </a:r>
            <a:r>
              <a:rPr sz="1450" dirty="0">
                <a:latin typeface="Arial MT"/>
                <a:cs typeface="Arial MT"/>
              </a:rPr>
              <a:t>main(String</a:t>
            </a:r>
            <a:r>
              <a:rPr sz="1450" spc="160" dirty="0">
                <a:latin typeface="Arial MT"/>
                <a:cs typeface="Arial MT"/>
              </a:rPr>
              <a:t> </a:t>
            </a:r>
            <a:r>
              <a:rPr sz="1450" dirty="0">
                <a:latin typeface="Arial MT"/>
                <a:cs typeface="Arial MT"/>
              </a:rPr>
              <a:t>args[])</a:t>
            </a:r>
            <a:r>
              <a:rPr sz="1450" spc="135" dirty="0">
                <a:latin typeface="Arial MT"/>
                <a:cs typeface="Arial MT"/>
              </a:rPr>
              <a:t> </a:t>
            </a:r>
            <a:r>
              <a:rPr sz="1450" spc="5" dirty="0">
                <a:latin typeface="Arial MT"/>
                <a:cs typeface="Arial MT"/>
              </a:rPr>
              <a:t>{ </a:t>
            </a:r>
            <a:r>
              <a:rPr sz="1450" spc="-390" dirty="0">
                <a:latin typeface="Arial MT"/>
                <a:cs typeface="Arial MT"/>
              </a:rPr>
              <a:t> </a:t>
            </a:r>
            <a:r>
              <a:rPr sz="1450" spc="10" dirty="0">
                <a:latin typeface="Arial MT"/>
                <a:cs typeface="Arial MT"/>
              </a:rPr>
              <a:t>double</a:t>
            </a:r>
            <a:r>
              <a:rPr sz="1450" spc="45" dirty="0">
                <a:latin typeface="Arial MT"/>
                <a:cs typeface="Arial MT"/>
              </a:rPr>
              <a:t> </a:t>
            </a:r>
            <a:r>
              <a:rPr sz="1450" dirty="0">
                <a:latin typeface="Arial MT"/>
                <a:cs typeface="Arial MT"/>
              </a:rPr>
              <a:t>m[][]</a:t>
            </a:r>
            <a:r>
              <a:rPr sz="1450" spc="65" dirty="0">
                <a:latin typeface="Arial MT"/>
                <a:cs typeface="Arial MT"/>
              </a:rPr>
              <a:t> </a:t>
            </a:r>
            <a:r>
              <a:rPr sz="1450" spc="15" dirty="0">
                <a:latin typeface="Arial MT"/>
                <a:cs typeface="Arial MT"/>
              </a:rPr>
              <a:t>=</a:t>
            </a:r>
            <a:r>
              <a:rPr sz="1450" spc="5" dirty="0">
                <a:latin typeface="Arial MT"/>
                <a:cs typeface="Arial MT"/>
              </a:rPr>
              <a:t> {</a:t>
            </a:r>
            <a:endParaRPr sz="1450">
              <a:latin typeface="Arial MT"/>
              <a:cs typeface="Arial MT"/>
            </a:endParaRPr>
          </a:p>
          <a:p>
            <a:pPr marL="12700">
              <a:lnSpc>
                <a:spcPct val="100000"/>
              </a:lnSpc>
              <a:spcBef>
                <a:spcPts val="420"/>
              </a:spcBef>
            </a:pPr>
            <a:r>
              <a:rPr sz="1450" spc="5" dirty="0">
                <a:latin typeface="Arial MT"/>
                <a:cs typeface="Arial MT"/>
              </a:rPr>
              <a:t>{</a:t>
            </a:r>
            <a:r>
              <a:rPr sz="1450" spc="20" dirty="0">
                <a:latin typeface="Arial MT"/>
                <a:cs typeface="Arial MT"/>
              </a:rPr>
              <a:t> </a:t>
            </a:r>
            <a:r>
              <a:rPr sz="1450" spc="10" dirty="0">
                <a:latin typeface="Arial MT"/>
                <a:cs typeface="Arial MT"/>
              </a:rPr>
              <a:t>0*0,</a:t>
            </a:r>
            <a:r>
              <a:rPr sz="1450" spc="30" dirty="0">
                <a:latin typeface="Arial MT"/>
                <a:cs typeface="Arial MT"/>
              </a:rPr>
              <a:t> </a:t>
            </a:r>
            <a:r>
              <a:rPr sz="1450" spc="10" dirty="0">
                <a:latin typeface="Arial MT"/>
                <a:cs typeface="Arial MT"/>
              </a:rPr>
              <a:t>1*0,</a:t>
            </a:r>
            <a:r>
              <a:rPr sz="1450" spc="-15" dirty="0">
                <a:latin typeface="Arial MT"/>
                <a:cs typeface="Arial MT"/>
              </a:rPr>
              <a:t> </a:t>
            </a:r>
            <a:r>
              <a:rPr sz="1450" spc="10" dirty="0">
                <a:latin typeface="Arial MT"/>
                <a:cs typeface="Arial MT"/>
              </a:rPr>
              <a:t>2*0,</a:t>
            </a:r>
            <a:r>
              <a:rPr sz="1450" spc="30" dirty="0">
                <a:latin typeface="Arial MT"/>
                <a:cs typeface="Arial MT"/>
              </a:rPr>
              <a:t> </a:t>
            </a:r>
            <a:r>
              <a:rPr sz="1450" spc="10" dirty="0">
                <a:latin typeface="Arial MT"/>
                <a:cs typeface="Arial MT"/>
              </a:rPr>
              <a:t>3*0</a:t>
            </a:r>
            <a:r>
              <a:rPr sz="1450" spc="50" dirty="0">
                <a:latin typeface="Arial MT"/>
                <a:cs typeface="Arial MT"/>
              </a:rPr>
              <a:t> </a:t>
            </a:r>
            <a:r>
              <a:rPr sz="1450" dirty="0">
                <a:latin typeface="Arial MT"/>
                <a:cs typeface="Arial MT"/>
              </a:rPr>
              <a:t>},</a:t>
            </a:r>
            <a:r>
              <a:rPr sz="1450" spc="30" dirty="0">
                <a:latin typeface="Arial MT"/>
                <a:cs typeface="Arial MT"/>
              </a:rPr>
              <a:t> </a:t>
            </a:r>
            <a:r>
              <a:rPr sz="1450" spc="5" dirty="0">
                <a:latin typeface="Arial MT"/>
                <a:cs typeface="Arial MT"/>
              </a:rPr>
              <a:t>{</a:t>
            </a:r>
            <a:r>
              <a:rPr sz="1450" spc="20" dirty="0">
                <a:latin typeface="Arial MT"/>
                <a:cs typeface="Arial MT"/>
              </a:rPr>
              <a:t> </a:t>
            </a:r>
            <a:r>
              <a:rPr sz="1450" spc="10" dirty="0">
                <a:latin typeface="Arial MT"/>
                <a:cs typeface="Arial MT"/>
              </a:rPr>
              <a:t>0*1,</a:t>
            </a:r>
            <a:r>
              <a:rPr sz="1450" spc="30" dirty="0">
                <a:latin typeface="Arial MT"/>
                <a:cs typeface="Arial MT"/>
              </a:rPr>
              <a:t> </a:t>
            </a:r>
            <a:r>
              <a:rPr sz="1450" spc="10" dirty="0">
                <a:latin typeface="Arial MT"/>
                <a:cs typeface="Arial MT"/>
              </a:rPr>
              <a:t>1*1,</a:t>
            </a:r>
            <a:r>
              <a:rPr sz="1450" spc="-15" dirty="0">
                <a:latin typeface="Arial MT"/>
                <a:cs typeface="Arial MT"/>
              </a:rPr>
              <a:t> </a:t>
            </a:r>
            <a:r>
              <a:rPr sz="1450" spc="10" dirty="0">
                <a:latin typeface="Arial MT"/>
                <a:cs typeface="Arial MT"/>
              </a:rPr>
              <a:t>2*1,</a:t>
            </a:r>
            <a:r>
              <a:rPr sz="1450" spc="30" dirty="0">
                <a:latin typeface="Arial MT"/>
                <a:cs typeface="Arial MT"/>
              </a:rPr>
              <a:t> </a:t>
            </a:r>
            <a:r>
              <a:rPr sz="1450" spc="10" dirty="0">
                <a:latin typeface="Arial MT"/>
                <a:cs typeface="Arial MT"/>
              </a:rPr>
              <a:t>3*1</a:t>
            </a:r>
            <a:r>
              <a:rPr sz="1450" spc="50" dirty="0">
                <a:latin typeface="Arial MT"/>
                <a:cs typeface="Arial MT"/>
              </a:rPr>
              <a:t> </a:t>
            </a:r>
            <a:r>
              <a:rPr sz="1450" dirty="0">
                <a:latin typeface="Arial MT"/>
                <a:cs typeface="Arial MT"/>
              </a:rPr>
              <a:t>},</a:t>
            </a:r>
            <a:endParaRPr sz="1450">
              <a:latin typeface="Arial MT"/>
              <a:cs typeface="Arial MT"/>
            </a:endParaRPr>
          </a:p>
          <a:p>
            <a:pPr marL="12700">
              <a:lnSpc>
                <a:spcPct val="100000"/>
              </a:lnSpc>
              <a:spcBef>
                <a:spcPts val="375"/>
              </a:spcBef>
            </a:pPr>
            <a:r>
              <a:rPr sz="1450" spc="5" dirty="0">
                <a:latin typeface="Arial MT"/>
                <a:cs typeface="Arial MT"/>
              </a:rPr>
              <a:t>{</a:t>
            </a:r>
            <a:r>
              <a:rPr sz="1450" spc="20" dirty="0">
                <a:latin typeface="Arial MT"/>
                <a:cs typeface="Arial MT"/>
              </a:rPr>
              <a:t> </a:t>
            </a:r>
            <a:r>
              <a:rPr sz="1450" spc="10" dirty="0">
                <a:latin typeface="Arial MT"/>
                <a:cs typeface="Arial MT"/>
              </a:rPr>
              <a:t>0*2,</a:t>
            </a:r>
            <a:r>
              <a:rPr sz="1450" spc="30" dirty="0">
                <a:latin typeface="Arial MT"/>
                <a:cs typeface="Arial MT"/>
              </a:rPr>
              <a:t> </a:t>
            </a:r>
            <a:r>
              <a:rPr sz="1450" spc="10" dirty="0">
                <a:latin typeface="Arial MT"/>
                <a:cs typeface="Arial MT"/>
              </a:rPr>
              <a:t>1*2,</a:t>
            </a:r>
            <a:r>
              <a:rPr sz="1450" spc="-15" dirty="0">
                <a:latin typeface="Arial MT"/>
                <a:cs typeface="Arial MT"/>
              </a:rPr>
              <a:t> </a:t>
            </a:r>
            <a:r>
              <a:rPr sz="1450" spc="10" dirty="0">
                <a:latin typeface="Arial MT"/>
                <a:cs typeface="Arial MT"/>
              </a:rPr>
              <a:t>2*2,</a:t>
            </a:r>
            <a:r>
              <a:rPr sz="1450" spc="30" dirty="0">
                <a:latin typeface="Arial MT"/>
                <a:cs typeface="Arial MT"/>
              </a:rPr>
              <a:t> </a:t>
            </a:r>
            <a:r>
              <a:rPr sz="1450" spc="10" dirty="0">
                <a:latin typeface="Arial MT"/>
                <a:cs typeface="Arial MT"/>
              </a:rPr>
              <a:t>3*2</a:t>
            </a:r>
            <a:r>
              <a:rPr sz="1450" spc="50" dirty="0">
                <a:latin typeface="Arial MT"/>
                <a:cs typeface="Arial MT"/>
              </a:rPr>
              <a:t> </a:t>
            </a:r>
            <a:r>
              <a:rPr sz="1450" dirty="0">
                <a:latin typeface="Arial MT"/>
                <a:cs typeface="Arial MT"/>
              </a:rPr>
              <a:t>},</a:t>
            </a:r>
            <a:r>
              <a:rPr sz="1450" spc="30" dirty="0">
                <a:latin typeface="Arial MT"/>
                <a:cs typeface="Arial MT"/>
              </a:rPr>
              <a:t> </a:t>
            </a:r>
            <a:r>
              <a:rPr sz="1450" spc="5" dirty="0">
                <a:latin typeface="Arial MT"/>
                <a:cs typeface="Arial MT"/>
              </a:rPr>
              <a:t>{</a:t>
            </a:r>
            <a:r>
              <a:rPr sz="1450" spc="20" dirty="0">
                <a:latin typeface="Arial MT"/>
                <a:cs typeface="Arial MT"/>
              </a:rPr>
              <a:t> </a:t>
            </a:r>
            <a:r>
              <a:rPr sz="1450" spc="10" dirty="0">
                <a:latin typeface="Arial MT"/>
                <a:cs typeface="Arial MT"/>
              </a:rPr>
              <a:t>0*3,</a:t>
            </a:r>
            <a:r>
              <a:rPr sz="1450" spc="30" dirty="0">
                <a:latin typeface="Arial MT"/>
                <a:cs typeface="Arial MT"/>
              </a:rPr>
              <a:t> </a:t>
            </a:r>
            <a:r>
              <a:rPr sz="1450" spc="10" dirty="0">
                <a:latin typeface="Arial MT"/>
                <a:cs typeface="Arial MT"/>
              </a:rPr>
              <a:t>1*3,</a:t>
            </a:r>
            <a:r>
              <a:rPr sz="1450" spc="-15" dirty="0">
                <a:latin typeface="Arial MT"/>
                <a:cs typeface="Arial MT"/>
              </a:rPr>
              <a:t> </a:t>
            </a:r>
            <a:r>
              <a:rPr sz="1450" spc="10" dirty="0">
                <a:latin typeface="Arial MT"/>
                <a:cs typeface="Arial MT"/>
              </a:rPr>
              <a:t>2*3,</a:t>
            </a:r>
            <a:r>
              <a:rPr sz="1450" spc="30" dirty="0">
                <a:latin typeface="Arial MT"/>
                <a:cs typeface="Arial MT"/>
              </a:rPr>
              <a:t> </a:t>
            </a:r>
            <a:r>
              <a:rPr sz="1450" spc="10" dirty="0">
                <a:latin typeface="Arial MT"/>
                <a:cs typeface="Arial MT"/>
              </a:rPr>
              <a:t>3*3</a:t>
            </a:r>
            <a:r>
              <a:rPr sz="1450" spc="50" dirty="0">
                <a:latin typeface="Arial MT"/>
                <a:cs typeface="Arial MT"/>
              </a:rPr>
              <a:t> </a:t>
            </a:r>
            <a:r>
              <a:rPr sz="1450" spc="5" dirty="0">
                <a:latin typeface="Arial MT"/>
                <a:cs typeface="Arial MT"/>
              </a:rPr>
              <a:t>}</a:t>
            </a:r>
            <a:endParaRPr sz="1450">
              <a:latin typeface="Arial MT"/>
              <a:cs typeface="Arial MT"/>
            </a:endParaRPr>
          </a:p>
          <a:p>
            <a:pPr marL="12700">
              <a:lnSpc>
                <a:spcPct val="100000"/>
              </a:lnSpc>
              <a:spcBef>
                <a:spcPts val="420"/>
              </a:spcBef>
            </a:pPr>
            <a:r>
              <a:rPr sz="1450" spc="-10" dirty="0">
                <a:latin typeface="Arial MT"/>
                <a:cs typeface="Arial MT"/>
              </a:rPr>
              <a:t>};</a:t>
            </a:r>
            <a:endParaRPr sz="1450">
              <a:latin typeface="Arial MT"/>
              <a:cs typeface="Arial MT"/>
            </a:endParaRPr>
          </a:p>
          <a:p>
            <a:pPr marL="12700">
              <a:lnSpc>
                <a:spcPct val="100000"/>
              </a:lnSpc>
              <a:spcBef>
                <a:spcPts val="420"/>
              </a:spcBef>
            </a:pPr>
            <a:r>
              <a:rPr sz="1450" spc="-5" dirty="0">
                <a:latin typeface="Arial MT"/>
                <a:cs typeface="Arial MT"/>
              </a:rPr>
              <a:t>int</a:t>
            </a:r>
            <a:r>
              <a:rPr sz="1450" spc="35" dirty="0">
                <a:latin typeface="Arial MT"/>
                <a:cs typeface="Arial MT"/>
              </a:rPr>
              <a:t> </a:t>
            </a:r>
            <a:r>
              <a:rPr sz="1450" spc="-20" dirty="0">
                <a:latin typeface="Arial MT"/>
                <a:cs typeface="Arial MT"/>
              </a:rPr>
              <a:t>i,</a:t>
            </a:r>
            <a:r>
              <a:rPr sz="1450" spc="35" dirty="0">
                <a:latin typeface="Arial MT"/>
                <a:cs typeface="Arial MT"/>
              </a:rPr>
              <a:t> </a:t>
            </a:r>
            <a:r>
              <a:rPr sz="1450" spc="20" dirty="0">
                <a:latin typeface="Arial MT"/>
                <a:cs typeface="Arial MT"/>
              </a:rPr>
              <a:t>j;</a:t>
            </a:r>
            <a:endParaRPr sz="1450">
              <a:latin typeface="Arial MT"/>
              <a:cs typeface="Arial MT"/>
            </a:endParaRPr>
          </a:p>
          <a:p>
            <a:pPr marL="12700" marR="2079625">
              <a:lnSpc>
                <a:spcPct val="121700"/>
              </a:lnSpc>
              <a:spcBef>
                <a:spcPts val="40"/>
              </a:spcBef>
            </a:pPr>
            <a:r>
              <a:rPr sz="1450" dirty="0">
                <a:latin typeface="Arial MT"/>
                <a:cs typeface="Arial MT"/>
              </a:rPr>
              <a:t>for(i=0;</a:t>
            </a:r>
            <a:r>
              <a:rPr sz="1450" spc="85" dirty="0">
                <a:latin typeface="Arial MT"/>
                <a:cs typeface="Arial MT"/>
              </a:rPr>
              <a:t> </a:t>
            </a:r>
            <a:r>
              <a:rPr sz="1450" dirty="0">
                <a:latin typeface="Arial MT"/>
                <a:cs typeface="Arial MT"/>
              </a:rPr>
              <a:t>i&lt;4;</a:t>
            </a:r>
            <a:r>
              <a:rPr sz="1450" spc="10" dirty="0">
                <a:latin typeface="Arial MT"/>
                <a:cs typeface="Arial MT"/>
              </a:rPr>
              <a:t> </a:t>
            </a:r>
            <a:r>
              <a:rPr sz="1450" spc="5" dirty="0">
                <a:latin typeface="Arial MT"/>
                <a:cs typeface="Arial MT"/>
              </a:rPr>
              <a:t>i++)</a:t>
            </a:r>
            <a:r>
              <a:rPr sz="1450" spc="45" dirty="0">
                <a:latin typeface="Arial MT"/>
                <a:cs typeface="Arial MT"/>
              </a:rPr>
              <a:t> </a:t>
            </a:r>
            <a:r>
              <a:rPr sz="1450" spc="5" dirty="0">
                <a:latin typeface="Arial MT"/>
                <a:cs typeface="Arial MT"/>
              </a:rPr>
              <a:t>{ </a:t>
            </a:r>
            <a:r>
              <a:rPr sz="1450" spc="-390" dirty="0">
                <a:latin typeface="Arial MT"/>
                <a:cs typeface="Arial MT"/>
              </a:rPr>
              <a:t> </a:t>
            </a:r>
            <a:r>
              <a:rPr sz="1450" spc="10" dirty="0">
                <a:latin typeface="Arial MT"/>
                <a:cs typeface="Arial MT"/>
              </a:rPr>
              <a:t>for(j=0; </a:t>
            </a:r>
            <a:r>
              <a:rPr sz="1450" spc="20" dirty="0">
                <a:latin typeface="Arial MT"/>
                <a:cs typeface="Arial MT"/>
              </a:rPr>
              <a:t>j&lt;4;</a:t>
            </a:r>
            <a:r>
              <a:rPr sz="1450" spc="-70" dirty="0">
                <a:latin typeface="Arial MT"/>
                <a:cs typeface="Arial MT"/>
              </a:rPr>
              <a:t> </a:t>
            </a:r>
            <a:r>
              <a:rPr sz="1450" spc="25" dirty="0">
                <a:latin typeface="Arial MT"/>
                <a:cs typeface="Arial MT"/>
              </a:rPr>
              <a:t>j++)</a:t>
            </a:r>
            <a:endParaRPr sz="1450">
              <a:latin typeface="Arial MT"/>
              <a:cs typeface="Arial MT"/>
            </a:endParaRPr>
          </a:p>
          <a:p>
            <a:pPr marL="12700" marR="824865" indent="182245">
              <a:lnSpc>
                <a:spcPct val="124000"/>
              </a:lnSpc>
            </a:pPr>
            <a:r>
              <a:rPr sz="1450" spc="5" dirty="0">
                <a:latin typeface="Arial MT"/>
                <a:cs typeface="Arial MT"/>
              </a:rPr>
              <a:t>{System.out.print(m[i][j]</a:t>
            </a:r>
            <a:r>
              <a:rPr sz="1450" spc="160" dirty="0">
                <a:latin typeface="Arial MT"/>
                <a:cs typeface="Arial MT"/>
              </a:rPr>
              <a:t> </a:t>
            </a:r>
            <a:r>
              <a:rPr sz="1450" spc="15" dirty="0">
                <a:latin typeface="Arial MT"/>
                <a:cs typeface="Arial MT"/>
              </a:rPr>
              <a:t>+</a:t>
            </a:r>
            <a:r>
              <a:rPr sz="1450" spc="35" dirty="0">
                <a:latin typeface="Arial MT"/>
                <a:cs typeface="Arial MT"/>
              </a:rPr>
              <a:t> </a:t>
            </a:r>
            <a:r>
              <a:rPr sz="1450" spc="10" dirty="0">
                <a:latin typeface="Arial MT"/>
                <a:cs typeface="Arial MT"/>
              </a:rPr>
              <a:t>"</a:t>
            </a:r>
            <a:r>
              <a:rPr sz="1450" spc="-20" dirty="0">
                <a:latin typeface="Arial MT"/>
                <a:cs typeface="Arial MT"/>
              </a:rPr>
              <a:t> </a:t>
            </a:r>
            <a:r>
              <a:rPr sz="1450" dirty="0">
                <a:latin typeface="Arial MT"/>
                <a:cs typeface="Arial MT"/>
              </a:rPr>
              <a:t>");} </a:t>
            </a:r>
            <a:r>
              <a:rPr sz="1450" spc="-390" dirty="0">
                <a:latin typeface="Arial MT"/>
                <a:cs typeface="Arial MT"/>
              </a:rPr>
              <a:t> </a:t>
            </a:r>
            <a:r>
              <a:rPr sz="1450" spc="5" dirty="0">
                <a:latin typeface="Arial MT"/>
                <a:cs typeface="Arial MT"/>
              </a:rPr>
              <a:t>System.out.println();</a:t>
            </a:r>
            <a:endParaRPr sz="1450">
              <a:latin typeface="Arial MT"/>
              <a:cs typeface="Arial MT"/>
            </a:endParaRPr>
          </a:p>
          <a:p>
            <a:pPr marL="12700">
              <a:lnSpc>
                <a:spcPct val="100000"/>
              </a:lnSpc>
              <a:spcBef>
                <a:spcPts val="420"/>
              </a:spcBef>
            </a:pPr>
            <a:r>
              <a:rPr sz="1450" spc="-10" dirty="0">
                <a:latin typeface="Arial MT"/>
                <a:cs typeface="Arial MT"/>
              </a:rPr>
              <a:t>}}}</a:t>
            </a:r>
            <a:endParaRPr sz="1450">
              <a:latin typeface="Arial MT"/>
              <a:cs typeface="Arial MT"/>
            </a:endParaRPr>
          </a:p>
        </p:txBody>
      </p:sp>
      <p:grpSp>
        <p:nvGrpSpPr>
          <p:cNvPr id="5" name="object 5"/>
          <p:cNvGrpSpPr/>
          <p:nvPr/>
        </p:nvGrpSpPr>
        <p:grpSpPr>
          <a:xfrm>
            <a:off x="4144704" y="1524296"/>
            <a:ext cx="2159635" cy="1470025"/>
            <a:chOff x="4144704" y="1524296"/>
            <a:chExt cx="2159635" cy="1470025"/>
          </a:xfrm>
        </p:grpSpPr>
        <p:pic>
          <p:nvPicPr>
            <p:cNvPr id="6" name="object 6"/>
            <p:cNvPicPr/>
            <p:nvPr/>
          </p:nvPicPr>
          <p:blipFill>
            <a:blip r:embed="rId2" cstate="print"/>
            <a:stretch>
              <a:fillRect/>
            </a:stretch>
          </p:blipFill>
          <p:spPr>
            <a:xfrm>
              <a:off x="4235931" y="1559773"/>
              <a:ext cx="2067816" cy="1332925"/>
            </a:xfrm>
            <a:prstGeom prst="rect">
              <a:avLst/>
            </a:prstGeom>
          </p:spPr>
        </p:pic>
        <p:pic>
          <p:nvPicPr>
            <p:cNvPr id="7" name="object 7"/>
            <p:cNvPicPr/>
            <p:nvPr/>
          </p:nvPicPr>
          <p:blipFill>
            <a:blip r:embed="rId3" cstate="print"/>
            <a:stretch>
              <a:fillRect/>
            </a:stretch>
          </p:blipFill>
          <p:spPr>
            <a:xfrm>
              <a:off x="4144704" y="1524296"/>
              <a:ext cx="1951248" cy="1469765"/>
            </a:xfrm>
            <a:prstGeom prst="rect">
              <a:avLst/>
            </a:prstGeom>
          </p:spPr>
        </p:pic>
        <p:pic>
          <p:nvPicPr>
            <p:cNvPr id="8" name="object 8"/>
            <p:cNvPicPr/>
            <p:nvPr/>
          </p:nvPicPr>
          <p:blipFill>
            <a:blip r:embed="rId4" cstate="print"/>
            <a:stretch>
              <a:fillRect/>
            </a:stretch>
          </p:blipFill>
          <p:spPr>
            <a:xfrm>
              <a:off x="4257890" y="1565722"/>
              <a:ext cx="2027262" cy="1294065"/>
            </a:xfrm>
            <a:prstGeom prst="rect">
              <a:avLst/>
            </a:prstGeom>
          </p:spPr>
        </p:pic>
        <p:sp>
          <p:nvSpPr>
            <p:cNvPr id="9" name="object 9"/>
            <p:cNvSpPr/>
            <p:nvPr/>
          </p:nvSpPr>
          <p:spPr>
            <a:xfrm>
              <a:off x="4257890" y="1565722"/>
              <a:ext cx="2027555" cy="1294130"/>
            </a:xfrm>
            <a:custGeom>
              <a:avLst/>
              <a:gdLst/>
              <a:ahLst/>
              <a:cxnLst/>
              <a:rect l="l" t="t" r="r" b="b"/>
              <a:pathLst>
                <a:path w="2027554" h="1294130">
                  <a:moveTo>
                    <a:pt x="0" y="1294065"/>
                  </a:moveTo>
                  <a:lnTo>
                    <a:pt x="2027262" y="1294065"/>
                  </a:lnTo>
                  <a:lnTo>
                    <a:pt x="2027262" y="0"/>
                  </a:lnTo>
                  <a:lnTo>
                    <a:pt x="0" y="0"/>
                  </a:lnTo>
                  <a:lnTo>
                    <a:pt x="0" y="1294065"/>
                  </a:lnTo>
                  <a:close/>
                </a:path>
              </a:pathLst>
            </a:custGeom>
            <a:ln w="5073">
              <a:solidFill>
                <a:srgbClr val="000000"/>
              </a:solidFill>
            </a:ln>
          </p:spPr>
          <p:txBody>
            <a:bodyPr wrap="square" lIns="0" tIns="0" rIns="0" bIns="0" rtlCol="0"/>
            <a:lstStyle/>
            <a:p>
              <a:endParaRPr/>
            </a:p>
          </p:txBody>
        </p:sp>
      </p:grpSp>
      <p:sp>
        <p:nvSpPr>
          <p:cNvPr id="10" name="object 10"/>
          <p:cNvSpPr txBox="1"/>
          <p:nvPr/>
        </p:nvSpPr>
        <p:spPr>
          <a:xfrm>
            <a:off x="4297221" y="1574102"/>
            <a:ext cx="1590040" cy="1257300"/>
          </a:xfrm>
          <a:prstGeom prst="rect">
            <a:avLst/>
          </a:prstGeom>
        </p:spPr>
        <p:txBody>
          <a:bodyPr vert="horz" wrap="square" lIns="0" tIns="16510" rIns="0" bIns="0" rtlCol="0">
            <a:spAutoFit/>
          </a:bodyPr>
          <a:lstStyle/>
          <a:p>
            <a:pPr marL="12700">
              <a:lnSpc>
                <a:spcPct val="100000"/>
              </a:lnSpc>
              <a:spcBef>
                <a:spcPts val="130"/>
              </a:spcBef>
            </a:pPr>
            <a:r>
              <a:rPr sz="1250" spc="10" dirty="0">
                <a:latin typeface="Arial MT"/>
                <a:cs typeface="Arial MT"/>
              </a:rPr>
              <a:t>OUTPUT</a:t>
            </a:r>
            <a:endParaRPr sz="1250">
              <a:latin typeface="Arial MT"/>
              <a:cs typeface="Arial MT"/>
            </a:endParaRPr>
          </a:p>
          <a:p>
            <a:pPr marL="12700">
              <a:lnSpc>
                <a:spcPts val="2039"/>
              </a:lnSpc>
              <a:spcBef>
                <a:spcPts val="5"/>
              </a:spcBef>
            </a:pPr>
            <a:r>
              <a:rPr sz="1700" spc="5" dirty="0">
                <a:latin typeface="Arial MT"/>
                <a:cs typeface="Arial MT"/>
              </a:rPr>
              <a:t>0.0</a:t>
            </a:r>
            <a:r>
              <a:rPr sz="1700" spc="409" dirty="0">
                <a:latin typeface="Arial MT"/>
                <a:cs typeface="Arial MT"/>
              </a:rPr>
              <a:t> </a:t>
            </a:r>
            <a:r>
              <a:rPr sz="1700" spc="5" dirty="0">
                <a:latin typeface="Arial MT"/>
                <a:cs typeface="Arial MT"/>
              </a:rPr>
              <a:t>0.0</a:t>
            </a:r>
            <a:r>
              <a:rPr sz="1700" spc="420" dirty="0">
                <a:latin typeface="Arial MT"/>
                <a:cs typeface="Arial MT"/>
              </a:rPr>
              <a:t> </a:t>
            </a:r>
            <a:r>
              <a:rPr sz="1700" spc="5" dirty="0">
                <a:latin typeface="Arial MT"/>
                <a:cs typeface="Arial MT"/>
              </a:rPr>
              <a:t>0.0</a:t>
            </a:r>
            <a:r>
              <a:rPr sz="1700" spc="420" dirty="0">
                <a:latin typeface="Arial MT"/>
                <a:cs typeface="Arial MT"/>
              </a:rPr>
              <a:t> </a:t>
            </a:r>
            <a:r>
              <a:rPr sz="1700" dirty="0">
                <a:latin typeface="Arial MT"/>
                <a:cs typeface="Arial MT"/>
              </a:rPr>
              <a:t>0.0</a:t>
            </a:r>
            <a:endParaRPr sz="1700">
              <a:latin typeface="Arial MT"/>
              <a:cs typeface="Arial MT"/>
            </a:endParaRPr>
          </a:p>
          <a:p>
            <a:pPr marL="12700">
              <a:lnSpc>
                <a:spcPts val="2039"/>
              </a:lnSpc>
            </a:pPr>
            <a:r>
              <a:rPr sz="1700" spc="5" dirty="0">
                <a:latin typeface="Arial MT"/>
                <a:cs typeface="Arial MT"/>
              </a:rPr>
              <a:t>0.0</a:t>
            </a:r>
            <a:r>
              <a:rPr sz="1700" spc="409" dirty="0">
                <a:latin typeface="Arial MT"/>
                <a:cs typeface="Arial MT"/>
              </a:rPr>
              <a:t> </a:t>
            </a:r>
            <a:r>
              <a:rPr sz="1700" spc="5" dirty="0">
                <a:latin typeface="Arial MT"/>
                <a:cs typeface="Arial MT"/>
              </a:rPr>
              <a:t>1.0</a:t>
            </a:r>
            <a:r>
              <a:rPr sz="1700" spc="420" dirty="0">
                <a:latin typeface="Arial MT"/>
                <a:cs typeface="Arial MT"/>
              </a:rPr>
              <a:t> </a:t>
            </a:r>
            <a:r>
              <a:rPr sz="1700" spc="5" dirty="0">
                <a:latin typeface="Arial MT"/>
                <a:cs typeface="Arial MT"/>
              </a:rPr>
              <a:t>2.0</a:t>
            </a:r>
            <a:r>
              <a:rPr sz="1700" spc="420" dirty="0">
                <a:latin typeface="Arial MT"/>
                <a:cs typeface="Arial MT"/>
              </a:rPr>
              <a:t> </a:t>
            </a:r>
            <a:r>
              <a:rPr sz="1700" dirty="0">
                <a:latin typeface="Arial MT"/>
                <a:cs typeface="Arial MT"/>
              </a:rPr>
              <a:t>3.0</a:t>
            </a:r>
            <a:endParaRPr sz="1700">
              <a:latin typeface="Arial MT"/>
              <a:cs typeface="Arial MT"/>
            </a:endParaRPr>
          </a:p>
          <a:p>
            <a:pPr marL="12700">
              <a:lnSpc>
                <a:spcPts val="2039"/>
              </a:lnSpc>
            </a:pPr>
            <a:r>
              <a:rPr sz="1700" spc="5" dirty="0">
                <a:latin typeface="Arial MT"/>
                <a:cs typeface="Arial MT"/>
              </a:rPr>
              <a:t>0.0</a:t>
            </a:r>
            <a:r>
              <a:rPr sz="1700" spc="409" dirty="0">
                <a:latin typeface="Arial MT"/>
                <a:cs typeface="Arial MT"/>
              </a:rPr>
              <a:t> </a:t>
            </a:r>
            <a:r>
              <a:rPr sz="1700" spc="5" dirty="0">
                <a:latin typeface="Arial MT"/>
                <a:cs typeface="Arial MT"/>
              </a:rPr>
              <a:t>2.0</a:t>
            </a:r>
            <a:r>
              <a:rPr sz="1700" spc="420" dirty="0">
                <a:latin typeface="Arial MT"/>
                <a:cs typeface="Arial MT"/>
              </a:rPr>
              <a:t> </a:t>
            </a:r>
            <a:r>
              <a:rPr sz="1700" spc="5" dirty="0">
                <a:latin typeface="Arial MT"/>
                <a:cs typeface="Arial MT"/>
              </a:rPr>
              <a:t>4.0</a:t>
            </a:r>
            <a:r>
              <a:rPr sz="1700" spc="420" dirty="0">
                <a:latin typeface="Arial MT"/>
                <a:cs typeface="Arial MT"/>
              </a:rPr>
              <a:t> </a:t>
            </a:r>
            <a:r>
              <a:rPr sz="1700" dirty="0">
                <a:latin typeface="Arial MT"/>
                <a:cs typeface="Arial MT"/>
              </a:rPr>
              <a:t>6.0</a:t>
            </a:r>
            <a:endParaRPr sz="1700">
              <a:latin typeface="Arial MT"/>
              <a:cs typeface="Arial MT"/>
            </a:endParaRPr>
          </a:p>
          <a:p>
            <a:pPr marL="12700">
              <a:lnSpc>
                <a:spcPts val="2039"/>
              </a:lnSpc>
            </a:pPr>
            <a:r>
              <a:rPr sz="1700" spc="5" dirty="0">
                <a:latin typeface="Arial MT"/>
                <a:cs typeface="Arial MT"/>
              </a:rPr>
              <a:t>0.0</a:t>
            </a:r>
            <a:r>
              <a:rPr sz="1700" spc="409" dirty="0">
                <a:latin typeface="Arial MT"/>
                <a:cs typeface="Arial MT"/>
              </a:rPr>
              <a:t> </a:t>
            </a:r>
            <a:r>
              <a:rPr sz="1700" spc="5" dirty="0">
                <a:latin typeface="Arial MT"/>
                <a:cs typeface="Arial MT"/>
              </a:rPr>
              <a:t>3.0</a:t>
            </a:r>
            <a:r>
              <a:rPr sz="1700" spc="420" dirty="0">
                <a:latin typeface="Arial MT"/>
                <a:cs typeface="Arial MT"/>
              </a:rPr>
              <a:t> </a:t>
            </a:r>
            <a:r>
              <a:rPr sz="1700" spc="5" dirty="0">
                <a:latin typeface="Arial MT"/>
                <a:cs typeface="Arial MT"/>
              </a:rPr>
              <a:t>6.0</a:t>
            </a:r>
            <a:r>
              <a:rPr sz="1700" spc="420" dirty="0">
                <a:latin typeface="Arial MT"/>
                <a:cs typeface="Arial MT"/>
              </a:rPr>
              <a:t> </a:t>
            </a:r>
            <a:r>
              <a:rPr sz="1700" dirty="0">
                <a:latin typeface="Arial MT"/>
                <a:cs typeface="Arial MT"/>
              </a:rPr>
              <a:t>9.0</a:t>
            </a:r>
            <a:endParaRPr sz="1700">
              <a:latin typeface="Arial MT"/>
              <a:cs typeface="Arial MT"/>
            </a:endParaRPr>
          </a:p>
        </p:txBody>
      </p:sp>
      <p:sp>
        <p:nvSpPr>
          <p:cNvPr id="11" name="object 11"/>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84400" y="268881"/>
            <a:ext cx="1282065" cy="318135"/>
          </a:xfrm>
          <a:prstGeom prst="rect">
            <a:avLst/>
          </a:prstGeom>
        </p:spPr>
        <p:txBody>
          <a:bodyPr vert="horz" wrap="square" lIns="0" tIns="14604" rIns="0" bIns="0" rtlCol="0">
            <a:spAutoFit/>
          </a:bodyPr>
          <a:lstStyle/>
          <a:p>
            <a:pPr marL="12700">
              <a:lnSpc>
                <a:spcPct val="100000"/>
              </a:lnSpc>
              <a:spcBef>
                <a:spcPts val="114"/>
              </a:spcBef>
            </a:pPr>
            <a:r>
              <a:rPr dirty="0">
                <a:solidFill>
                  <a:schemeClr val="tx1"/>
                </a:solidFill>
              </a:rPr>
              <a:t>String</a:t>
            </a:r>
            <a:r>
              <a:rPr spc="-30" dirty="0">
                <a:solidFill>
                  <a:schemeClr val="tx1"/>
                </a:solidFill>
              </a:rPr>
              <a:t> </a:t>
            </a:r>
            <a:r>
              <a:rPr dirty="0">
                <a:solidFill>
                  <a:schemeClr val="tx1"/>
                </a:solidFill>
              </a:rPr>
              <a:t>class</a:t>
            </a:r>
          </a:p>
        </p:txBody>
      </p:sp>
      <p:sp>
        <p:nvSpPr>
          <p:cNvPr id="3" name="object 3"/>
          <p:cNvSpPr txBox="1"/>
          <p:nvPr/>
        </p:nvSpPr>
        <p:spPr>
          <a:xfrm>
            <a:off x="127000" y="587017"/>
            <a:ext cx="6375400" cy="2893740"/>
          </a:xfrm>
          <a:prstGeom prst="rect">
            <a:avLst/>
          </a:prstGeom>
        </p:spPr>
        <p:txBody>
          <a:bodyPr vert="horz" wrap="square" lIns="0" tIns="64769" rIns="0" bIns="0" rtlCol="0">
            <a:spAutoFit/>
          </a:bodyPr>
          <a:lstStyle/>
          <a:p>
            <a:pPr marL="194945" indent="-182880">
              <a:lnSpc>
                <a:spcPct val="100000"/>
              </a:lnSpc>
              <a:spcBef>
                <a:spcPts val="509"/>
              </a:spcBef>
              <a:buChar char="•"/>
              <a:tabLst>
                <a:tab pos="195580" algn="l"/>
              </a:tabLst>
            </a:pPr>
            <a:r>
              <a:rPr sz="1600" dirty="0">
                <a:latin typeface="Arial MT"/>
                <a:cs typeface="Arial MT"/>
              </a:rPr>
              <a:t>String</a:t>
            </a:r>
            <a:r>
              <a:rPr sz="1600" spc="65" dirty="0">
                <a:latin typeface="Arial MT"/>
                <a:cs typeface="Arial MT"/>
              </a:rPr>
              <a:t> </a:t>
            </a:r>
            <a:r>
              <a:rPr sz="1600" spc="-15" dirty="0">
                <a:latin typeface="Arial MT"/>
                <a:cs typeface="Arial MT"/>
              </a:rPr>
              <a:t>is</a:t>
            </a:r>
            <a:r>
              <a:rPr sz="1600" spc="35" dirty="0">
                <a:latin typeface="Arial MT"/>
                <a:cs typeface="Arial MT"/>
              </a:rPr>
              <a:t> </a:t>
            </a:r>
            <a:r>
              <a:rPr sz="1600" spc="15" dirty="0">
                <a:latin typeface="Arial MT"/>
                <a:cs typeface="Arial MT"/>
              </a:rPr>
              <a:t>a</a:t>
            </a:r>
            <a:r>
              <a:rPr sz="1600" spc="-5" dirty="0">
                <a:latin typeface="Arial MT"/>
                <a:cs typeface="Arial MT"/>
              </a:rPr>
              <a:t> </a:t>
            </a:r>
            <a:r>
              <a:rPr sz="1600" spc="-10" dirty="0">
                <a:latin typeface="Arial MT"/>
                <a:cs typeface="Arial MT"/>
              </a:rPr>
              <a:t>class.</a:t>
            </a:r>
            <a:endParaRPr sz="1600" dirty="0">
              <a:latin typeface="Arial MT"/>
              <a:cs typeface="Arial MT"/>
            </a:endParaRPr>
          </a:p>
          <a:p>
            <a:pPr marL="194945" indent="-182880">
              <a:lnSpc>
                <a:spcPct val="100000"/>
              </a:lnSpc>
              <a:spcBef>
                <a:spcPts val="420"/>
              </a:spcBef>
              <a:buChar char="•"/>
              <a:tabLst>
                <a:tab pos="195580" algn="l"/>
              </a:tabLst>
            </a:pPr>
            <a:r>
              <a:rPr sz="1600" spc="-20" dirty="0">
                <a:latin typeface="Arial MT"/>
                <a:cs typeface="Arial MT"/>
              </a:rPr>
              <a:t>It</a:t>
            </a:r>
            <a:r>
              <a:rPr sz="1600" spc="50" dirty="0">
                <a:latin typeface="Arial MT"/>
                <a:cs typeface="Arial MT"/>
              </a:rPr>
              <a:t> </a:t>
            </a:r>
            <a:r>
              <a:rPr sz="1600" spc="10" dirty="0">
                <a:latin typeface="Arial MT"/>
                <a:cs typeface="Arial MT"/>
              </a:rPr>
              <a:t>can</a:t>
            </a:r>
            <a:r>
              <a:rPr sz="1600" spc="35" dirty="0">
                <a:latin typeface="Arial MT"/>
                <a:cs typeface="Arial MT"/>
              </a:rPr>
              <a:t> </a:t>
            </a:r>
            <a:r>
              <a:rPr sz="1600" spc="-5" dirty="0">
                <a:latin typeface="Arial MT"/>
                <a:cs typeface="Arial MT"/>
              </a:rPr>
              <a:t>define</a:t>
            </a:r>
            <a:r>
              <a:rPr sz="1600" spc="114" dirty="0">
                <a:latin typeface="Arial MT"/>
                <a:cs typeface="Arial MT"/>
              </a:rPr>
              <a:t> </a:t>
            </a:r>
            <a:r>
              <a:rPr sz="1600" dirty="0">
                <a:latin typeface="Arial MT"/>
                <a:cs typeface="Arial MT"/>
              </a:rPr>
              <a:t>an</a:t>
            </a:r>
            <a:r>
              <a:rPr sz="1600" spc="35" dirty="0">
                <a:latin typeface="Arial MT"/>
                <a:cs typeface="Arial MT"/>
              </a:rPr>
              <a:t> </a:t>
            </a:r>
            <a:r>
              <a:rPr sz="1600" spc="15" dirty="0">
                <a:latin typeface="Arial MT"/>
                <a:cs typeface="Arial MT"/>
              </a:rPr>
              <a:t>object.</a:t>
            </a:r>
            <a:endParaRPr sz="1600" dirty="0">
              <a:latin typeface="Arial MT"/>
              <a:cs typeface="Arial MT"/>
            </a:endParaRPr>
          </a:p>
          <a:p>
            <a:pPr marL="194945" indent="-182880">
              <a:lnSpc>
                <a:spcPct val="100000"/>
              </a:lnSpc>
              <a:spcBef>
                <a:spcPts val="415"/>
              </a:spcBef>
              <a:buChar char="•"/>
              <a:tabLst>
                <a:tab pos="195580" algn="l"/>
              </a:tabLst>
            </a:pPr>
            <a:r>
              <a:rPr sz="1600" spc="20" dirty="0">
                <a:latin typeface="Arial MT"/>
                <a:cs typeface="Arial MT"/>
              </a:rPr>
              <a:t>The</a:t>
            </a:r>
            <a:r>
              <a:rPr sz="1600" spc="5" dirty="0">
                <a:latin typeface="Arial MT"/>
                <a:cs typeface="Arial MT"/>
              </a:rPr>
              <a:t> </a:t>
            </a:r>
            <a:r>
              <a:rPr sz="1600" dirty="0">
                <a:latin typeface="Arial MT"/>
                <a:cs typeface="Arial MT"/>
              </a:rPr>
              <a:t>String</a:t>
            </a:r>
            <a:r>
              <a:rPr sz="1600" spc="85" dirty="0">
                <a:latin typeface="Arial MT"/>
                <a:cs typeface="Arial MT"/>
              </a:rPr>
              <a:t> </a:t>
            </a:r>
            <a:r>
              <a:rPr sz="1600" spc="-5" dirty="0">
                <a:latin typeface="Arial MT"/>
                <a:cs typeface="Arial MT"/>
              </a:rPr>
              <a:t>type</a:t>
            </a:r>
            <a:r>
              <a:rPr sz="1600" spc="85" dirty="0">
                <a:latin typeface="Arial MT"/>
                <a:cs typeface="Arial MT"/>
              </a:rPr>
              <a:t> </a:t>
            </a:r>
            <a:r>
              <a:rPr sz="1600" spc="-15" dirty="0">
                <a:latin typeface="Arial MT"/>
                <a:cs typeface="Arial MT"/>
              </a:rPr>
              <a:t>is</a:t>
            </a:r>
            <a:r>
              <a:rPr sz="1600" spc="50" dirty="0">
                <a:latin typeface="Arial MT"/>
                <a:cs typeface="Arial MT"/>
              </a:rPr>
              <a:t> </a:t>
            </a:r>
            <a:r>
              <a:rPr sz="1600" spc="5" dirty="0">
                <a:latin typeface="Arial MT"/>
                <a:cs typeface="Arial MT"/>
              </a:rPr>
              <a:t>used</a:t>
            </a:r>
            <a:r>
              <a:rPr sz="1600" spc="85" dirty="0">
                <a:latin typeface="Arial MT"/>
                <a:cs typeface="Arial MT"/>
              </a:rPr>
              <a:t> </a:t>
            </a:r>
            <a:r>
              <a:rPr sz="1600" dirty="0">
                <a:latin typeface="Arial MT"/>
                <a:cs typeface="Arial MT"/>
              </a:rPr>
              <a:t>to</a:t>
            </a:r>
            <a:r>
              <a:rPr sz="1600" spc="25" dirty="0">
                <a:latin typeface="Arial MT"/>
                <a:cs typeface="Arial MT"/>
              </a:rPr>
              <a:t> </a:t>
            </a:r>
            <a:r>
              <a:rPr sz="1600" dirty="0">
                <a:uFill>
                  <a:solidFill>
                    <a:srgbClr val="000000"/>
                  </a:solidFill>
                </a:uFill>
                <a:latin typeface="Arial MT"/>
                <a:cs typeface="Arial MT"/>
              </a:rPr>
              <a:t>declare</a:t>
            </a:r>
            <a:r>
              <a:rPr sz="1600" spc="130" dirty="0">
                <a:uFill>
                  <a:solidFill>
                    <a:srgbClr val="000000"/>
                  </a:solidFill>
                </a:uFill>
                <a:latin typeface="Arial MT"/>
                <a:cs typeface="Arial MT"/>
              </a:rPr>
              <a:t> </a:t>
            </a:r>
            <a:r>
              <a:rPr sz="1600" spc="-5" dirty="0">
                <a:uFill>
                  <a:solidFill>
                    <a:srgbClr val="000000"/>
                  </a:solidFill>
                </a:uFill>
                <a:latin typeface="Arial MT"/>
                <a:cs typeface="Arial MT"/>
              </a:rPr>
              <a:t>string</a:t>
            </a:r>
            <a:r>
              <a:rPr sz="1600" spc="120" dirty="0">
                <a:uFill>
                  <a:solidFill>
                    <a:srgbClr val="000000"/>
                  </a:solidFill>
                </a:uFill>
                <a:latin typeface="Arial MT"/>
                <a:cs typeface="Arial MT"/>
              </a:rPr>
              <a:t> </a:t>
            </a:r>
            <a:r>
              <a:rPr sz="1600" spc="-5" dirty="0">
                <a:uFill>
                  <a:solidFill>
                    <a:srgbClr val="000000"/>
                  </a:solidFill>
                </a:uFill>
                <a:latin typeface="Arial MT"/>
                <a:cs typeface="Arial MT"/>
              </a:rPr>
              <a:t>variables</a:t>
            </a:r>
            <a:endParaRPr sz="1600" dirty="0">
              <a:latin typeface="Arial MT"/>
              <a:cs typeface="Arial MT"/>
            </a:endParaRPr>
          </a:p>
          <a:p>
            <a:pPr marL="194945" indent="-182880">
              <a:lnSpc>
                <a:spcPct val="100000"/>
              </a:lnSpc>
              <a:spcBef>
                <a:spcPts val="420"/>
              </a:spcBef>
              <a:buChar char="•"/>
              <a:tabLst>
                <a:tab pos="195580" algn="l"/>
              </a:tabLst>
            </a:pPr>
            <a:r>
              <a:rPr sz="1600" spc="15" dirty="0">
                <a:latin typeface="Arial MT"/>
                <a:cs typeface="Arial MT"/>
              </a:rPr>
              <a:t>A</a:t>
            </a:r>
            <a:r>
              <a:rPr sz="1600" spc="10" dirty="0">
                <a:latin typeface="Arial MT"/>
                <a:cs typeface="Arial MT"/>
              </a:rPr>
              <a:t> quoted</a:t>
            </a:r>
            <a:r>
              <a:rPr sz="1600" spc="50" dirty="0">
                <a:latin typeface="Arial MT"/>
                <a:cs typeface="Arial MT"/>
              </a:rPr>
              <a:t> </a:t>
            </a:r>
            <a:r>
              <a:rPr sz="1600" spc="-5" dirty="0">
                <a:latin typeface="Arial MT"/>
                <a:cs typeface="Arial MT"/>
              </a:rPr>
              <a:t>string</a:t>
            </a:r>
            <a:r>
              <a:rPr sz="1600" spc="135" dirty="0">
                <a:latin typeface="Arial MT"/>
                <a:cs typeface="Arial MT"/>
              </a:rPr>
              <a:t> </a:t>
            </a:r>
            <a:r>
              <a:rPr sz="1600" spc="5" dirty="0">
                <a:latin typeface="Arial MT"/>
                <a:cs typeface="Arial MT"/>
              </a:rPr>
              <a:t>constant(E.g.</a:t>
            </a:r>
            <a:r>
              <a:rPr sz="1600" spc="70" dirty="0">
                <a:latin typeface="Arial MT"/>
                <a:cs typeface="Arial MT"/>
              </a:rPr>
              <a:t> </a:t>
            </a:r>
            <a:r>
              <a:rPr sz="1600" spc="-10" dirty="0">
                <a:latin typeface="Arial MT"/>
                <a:cs typeface="Arial MT"/>
              </a:rPr>
              <a:t>“hello”)</a:t>
            </a:r>
            <a:r>
              <a:rPr sz="1600" spc="185" dirty="0">
                <a:latin typeface="Arial MT"/>
                <a:cs typeface="Arial MT"/>
              </a:rPr>
              <a:t> </a:t>
            </a:r>
            <a:r>
              <a:rPr sz="1600" spc="10" dirty="0">
                <a:latin typeface="Arial MT"/>
                <a:cs typeface="Arial MT"/>
              </a:rPr>
              <a:t>can</a:t>
            </a:r>
            <a:r>
              <a:rPr sz="1600" spc="55" dirty="0">
                <a:latin typeface="Arial MT"/>
                <a:cs typeface="Arial MT"/>
              </a:rPr>
              <a:t> </a:t>
            </a:r>
            <a:r>
              <a:rPr sz="1600" spc="20" dirty="0">
                <a:latin typeface="Arial MT"/>
                <a:cs typeface="Arial MT"/>
              </a:rPr>
              <a:t>be</a:t>
            </a:r>
            <a:r>
              <a:rPr sz="1600" spc="15" dirty="0">
                <a:latin typeface="Arial MT"/>
                <a:cs typeface="Arial MT"/>
              </a:rPr>
              <a:t> </a:t>
            </a:r>
            <a:r>
              <a:rPr sz="1600" spc="-5" dirty="0">
                <a:latin typeface="Arial MT"/>
                <a:cs typeface="Arial MT"/>
              </a:rPr>
              <a:t>assigned</a:t>
            </a:r>
            <a:r>
              <a:rPr sz="1600" spc="175" dirty="0">
                <a:latin typeface="Arial MT"/>
                <a:cs typeface="Arial MT"/>
              </a:rPr>
              <a:t> </a:t>
            </a:r>
            <a:r>
              <a:rPr sz="1600" dirty="0">
                <a:latin typeface="Arial MT"/>
                <a:cs typeface="Arial MT"/>
              </a:rPr>
              <a:t>to</a:t>
            </a:r>
            <a:r>
              <a:rPr sz="1600" spc="55" dirty="0">
                <a:latin typeface="Arial MT"/>
                <a:cs typeface="Arial MT"/>
              </a:rPr>
              <a:t> </a:t>
            </a:r>
            <a:r>
              <a:rPr sz="1600" spc="15" dirty="0">
                <a:latin typeface="Arial MT"/>
                <a:cs typeface="Arial MT"/>
              </a:rPr>
              <a:t>a </a:t>
            </a:r>
            <a:r>
              <a:rPr sz="1600" dirty="0">
                <a:latin typeface="Arial MT"/>
                <a:cs typeface="Arial MT"/>
              </a:rPr>
              <a:t>String</a:t>
            </a:r>
          </a:p>
          <a:p>
            <a:pPr marL="194945">
              <a:lnSpc>
                <a:spcPct val="100000"/>
              </a:lnSpc>
              <a:spcBef>
                <a:spcPts val="20"/>
              </a:spcBef>
            </a:pPr>
            <a:r>
              <a:rPr sz="1600" spc="-10" dirty="0">
                <a:latin typeface="Arial MT"/>
                <a:cs typeface="Arial MT"/>
              </a:rPr>
              <a:t>variable.</a:t>
            </a:r>
            <a:endParaRPr sz="1600" dirty="0">
              <a:latin typeface="Arial MT"/>
              <a:cs typeface="Arial MT"/>
            </a:endParaRPr>
          </a:p>
          <a:p>
            <a:pPr marL="194945" marR="149860" indent="-182880">
              <a:lnSpc>
                <a:spcPct val="103400"/>
              </a:lnSpc>
              <a:spcBef>
                <a:spcPts val="355"/>
              </a:spcBef>
              <a:buChar char="•"/>
              <a:tabLst>
                <a:tab pos="195580" algn="l"/>
              </a:tabLst>
            </a:pPr>
            <a:r>
              <a:rPr sz="1600" spc="15" dirty="0">
                <a:latin typeface="Arial MT"/>
                <a:cs typeface="Arial MT"/>
              </a:rPr>
              <a:t>A</a:t>
            </a:r>
            <a:r>
              <a:rPr sz="1600" spc="5" dirty="0">
                <a:latin typeface="Arial MT"/>
                <a:cs typeface="Arial MT"/>
              </a:rPr>
              <a:t> </a:t>
            </a:r>
            <a:r>
              <a:rPr sz="1600" spc="-10" dirty="0">
                <a:latin typeface="Arial MT"/>
                <a:cs typeface="Arial MT"/>
              </a:rPr>
              <a:t>variable</a:t>
            </a:r>
            <a:r>
              <a:rPr sz="1600" spc="215" dirty="0">
                <a:latin typeface="Arial MT"/>
                <a:cs typeface="Arial MT"/>
              </a:rPr>
              <a:t> </a:t>
            </a:r>
            <a:r>
              <a:rPr sz="1600" spc="15" dirty="0">
                <a:latin typeface="Arial MT"/>
                <a:cs typeface="Arial MT"/>
              </a:rPr>
              <a:t>of</a:t>
            </a:r>
            <a:r>
              <a:rPr sz="1600" spc="-15" dirty="0">
                <a:latin typeface="Arial MT"/>
                <a:cs typeface="Arial MT"/>
              </a:rPr>
              <a:t> </a:t>
            </a:r>
            <a:r>
              <a:rPr sz="1600" spc="-5" dirty="0">
                <a:latin typeface="Arial MT"/>
                <a:cs typeface="Arial MT"/>
              </a:rPr>
              <a:t>type</a:t>
            </a:r>
            <a:r>
              <a:rPr sz="1600" spc="95" dirty="0">
                <a:latin typeface="Arial MT"/>
                <a:cs typeface="Arial MT"/>
              </a:rPr>
              <a:t> </a:t>
            </a:r>
            <a:r>
              <a:rPr sz="1600" dirty="0">
                <a:latin typeface="Arial MT"/>
                <a:cs typeface="Arial MT"/>
              </a:rPr>
              <a:t>String</a:t>
            </a:r>
            <a:r>
              <a:rPr sz="1600" spc="120" dirty="0">
                <a:latin typeface="Arial MT"/>
                <a:cs typeface="Arial MT"/>
              </a:rPr>
              <a:t> </a:t>
            </a:r>
            <a:r>
              <a:rPr sz="1600" spc="10" dirty="0">
                <a:uFill>
                  <a:solidFill>
                    <a:srgbClr val="000000"/>
                  </a:solidFill>
                </a:uFill>
                <a:latin typeface="Arial MT"/>
                <a:cs typeface="Arial MT"/>
              </a:rPr>
              <a:t>can</a:t>
            </a:r>
            <a:r>
              <a:rPr sz="1600" spc="50" dirty="0">
                <a:uFill>
                  <a:solidFill>
                    <a:srgbClr val="000000"/>
                  </a:solidFill>
                </a:uFill>
                <a:latin typeface="Arial MT"/>
                <a:cs typeface="Arial MT"/>
              </a:rPr>
              <a:t> </a:t>
            </a:r>
            <a:r>
              <a:rPr sz="1600" spc="20" dirty="0">
                <a:uFill>
                  <a:solidFill>
                    <a:srgbClr val="000000"/>
                  </a:solidFill>
                </a:uFill>
                <a:latin typeface="Arial MT"/>
                <a:cs typeface="Arial MT"/>
              </a:rPr>
              <a:t>be</a:t>
            </a:r>
            <a:r>
              <a:rPr sz="1600" spc="15" dirty="0">
                <a:uFill>
                  <a:solidFill>
                    <a:srgbClr val="000000"/>
                  </a:solidFill>
                </a:uFill>
                <a:latin typeface="Arial MT"/>
                <a:cs typeface="Arial MT"/>
              </a:rPr>
              <a:t> </a:t>
            </a:r>
            <a:r>
              <a:rPr sz="1600" spc="-5" dirty="0">
                <a:uFill>
                  <a:solidFill>
                    <a:srgbClr val="000000"/>
                  </a:solidFill>
                </a:uFill>
                <a:latin typeface="Arial MT"/>
                <a:cs typeface="Arial MT"/>
              </a:rPr>
              <a:t>assigned</a:t>
            </a:r>
            <a:r>
              <a:rPr sz="1600" spc="170" dirty="0">
                <a:uFill>
                  <a:solidFill>
                    <a:srgbClr val="000000"/>
                  </a:solidFill>
                </a:uFill>
                <a:latin typeface="Arial MT"/>
                <a:cs typeface="Arial MT"/>
              </a:rPr>
              <a:t> </a:t>
            </a:r>
            <a:r>
              <a:rPr sz="1600" dirty="0">
                <a:uFill>
                  <a:solidFill>
                    <a:srgbClr val="000000"/>
                  </a:solidFill>
                </a:uFill>
                <a:latin typeface="Arial MT"/>
                <a:cs typeface="Arial MT"/>
              </a:rPr>
              <a:t>to</a:t>
            </a:r>
            <a:r>
              <a:rPr sz="1600" spc="15" dirty="0">
                <a:uFill>
                  <a:solidFill>
                    <a:srgbClr val="000000"/>
                  </a:solidFill>
                </a:uFill>
                <a:latin typeface="Arial MT"/>
                <a:cs typeface="Arial MT"/>
              </a:rPr>
              <a:t> </a:t>
            </a:r>
            <a:r>
              <a:rPr sz="1600" spc="5" dirty="0">
                <a:latin typeface="Arial MT"/>
                <a:cs typeface="Arial MT"/>
              </a:rPr>
              <a:t>another</a:t>
            </a:r>
            <a:r>
              <a:rPr sz="1600" spc="105" dirty="0">
                <a:latin typeface="Arial MT"/>
                <a:cs typeface="Arial MT"/>
              </a:rPr>
              <a:t> </a:t>
            </a:r>
            <a:r>
              <a:rPr sz="1600" spc="-10" dirty="0">
                <a:latin typeface="Arial MT"/>
                <a:cs typeface="Arial MT"/>
              </a:rPr>
              <a:t>variable</a:t>
            </a:r>
            <a:r>
              <a:rPr sz="1600" spc="175" dirty="0">
                <a:latin typeface="Arial MT"/>
                <a:cs typeface="Arial MT"/>
              </a:rPr>
              <a:t> </a:t>
            </a:r>
            <a:r>
              <a:rPr sz="1600" spc="15" dirty="0">
                <a:latin typeface="Arial MT"/>
                <a:cs typeface="Arial MT"/>
              </a:rPr>
              <a:t>of </a:t>
            </a:r>
            <a:r>
              <a:rPr sz="1600" spc="-385" dirty="0">
                <a:latin typeface="Arial MT"/>
                <a:cs typeface="Arial MT"/>
              </a:rPr>
              <a:t> </a:t>
            </a:r>
            <a:r>
              <a:rPr sz="1600" spc="-5" dirty="0">
                <a:latin typeface="Arial MT"/>
                <a:cs typeface="Arial MT"/>
              </a:rPr>
              <a:t>type</a:t>
            </a:r>
            <a:r>
              <a:rPr sz="1600" spc="85" dirty="0">
                <a:latin typeface="Arial MT"/>
                <a:cs typeface="Arial MT"/>
              </a:rPr>
              <a:t> </a:t>
            </a:r>
            <a:r>
              <a:rPr sz="1600" dirty="0">
                <a:latin typeface="Arial MT"/>
                <a:cs typeface="Arial MT"/>
              </a:rPr>
              <a:t>String.</a:t>
            </a:r>
          </a:p>
          <a:p>
            <a:pPr marL="12065">
              <a:lnSpc>
                <a:spcPct val="100000"/>
              </a:lnSpc>
              <a:spcBef>
                <a:spcPts val="355"/>
              </a:spcBef>
              <a:tabLst>
                <a:tab pos="195580" algn="l"/>
              </a:tabLst>
            </a:pPr>
            <a:endParaRPr lang="en-US" sz="1400" dirty="0">
              <a:latin typeface="Arial MT"/>
              <a:cs typeface="Arial MT"/>
            </a:endParaRPr>
          </a:p>
          <a:p>
            <a:pPr marL="12700" marR="5080">
              <a:lnSpc>
                <a:spcPts val="2480"/>
              </a:lnSpc>
            </a:pPr>
            <a:endParaRPr lang="en-US" dirty="0">
              <a:latin typeface="Arial MT"/>
              <a:cs typeface="Calibri"/>
            </a:endParaRPr>
          </a:p>
          <a:p>
            <a:pPr marL="194945" indent="-182880">
              <a:lnSpc>
                <a:spcPct val="100000"/>
              </a:lnSpc>
              <a:spcBef>
                <a:spcPts val="420"/>
              </a:spcBef>
              <a:buChar char="•"/>
              <a:tabLst>
                <a:tab pos="195580" algn="l"/>
              </a:tabLst>
            </a:pPr>
            <a:endParaRPr sz="1600" dirty="0">
              <a:latin typeface="Arial MT"/>
              <a:cs typeface="Arial MT"/>
            </a:endParaRPr>
          </a:p>
        </p:txBody>
      </p:sp>
      <p:sp>
        <p:nvSpPr>
          <p:cNvPr id="10" name="object 10"/>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a:spLocks noGrp="1"/>
          </p:cNvSpPr>
          <p:nvPr>
            <p:ph type="title"/>
          </p:nvPr>
        </p:nvSpPr>
        <p:spPr>
          <a:xfrm>
            <a:off x="364664" y="1208221"/>
            <a:ext cx="3077210" cy="644525"/>
          </a:xfrm>
          <a:prstGeom prst="rect">
            <a:avLst/>
          </a:prstGeom>
        </p:spPr>
        <p:txBody>
          <a:bodyPr vert="horz" wrap="square" lIns="0" tIns="62230" rIns="0" bIns="0" rtlCol="0">
            <a:spAutoFit/>
          </a:bodyPr>
          <a:lstStyle/>
          <a:p>
            <a:pPr marL="12700">
              <a:lnSpc>
                <a:spcPct val="100000"/>
              </a:lnSpc>
              <a:spcBef>
                <a:spcPts val="490"/>
              </a:spcBef>
            </a:pPr>
            <a:r>
              <a:rPr sz="1700" spc="-55" dirty="0">
                <a:solidFill>
                  <a:srgbClr val="000000"/>
                </a:solidFill>
                <a:latin typeface="Times New Roman"/>
                <a:cs typeface="Times New Roman"/>
              </a:rPr>
              <a:t>class</a:t>
            </a:r>
            <a:r>
              <a:rPr sz="1700" spc="-25" dirty="0">
                <a:solidFill>
                  <a:srgbClr val="000000"/>
                </a:solidFill>
                <a:latin typeface="Times New Roman"/>
                <a:cs typeface="Times New Roman"/>
              </a:rPr>
              <a:t> </a:t>
            </a:r>
            <a:r>
              <a:rPr sz="1700" spc="-15" dirty="0">
                <a:solidFill>
                  <a:srgbClr val="000000"/>
                </a:solidFill>
                <a:latin typeface="Times New Roman"/>
                <a:cs typeface="Times New Roman"/>
              </a:rPr>
              <a:t>Sample</a:t>
            </a:r>
            <a:r>
              <a:rPr sz="1700" spc="-30" dirty="0">
                <a:solidFill>
                  <a:srgbClr val="000000"/>
                </a:solidFill>
                <a:latin typeface="Times New Roman"/>
                <a:cs typeface="Times New Roman"/>
              </a:rPr>
              <a:t> </a:t>
            </a:r>
            <a:r>
              <a:rPr sz="1700" spc="-315" dirty="0">
                <a:solidFill>
                  <a:srgbClr val="000000"/>
                </a:solidFill>
                <a:latin typeface="Times New Roman"/>
                <a:cs typeface="Times New Roman"/>
              </a:rPr>
              <a:t>{</a:t>
            </a:r>
            <a:endParaRPr sz="1700">
              <a:latin typeface="Times New Roman"/>
              <a:cs typeface="Times New Roman"/>
            </a:endParaRPr>
          </a:p>
          <a:p>
            <a:pPr marL="12700">
              <a:lnSpc>
                <a:spcPct val="100000"/>
              </a:lnSpc>
              <a:spcBef>
                <a:spcPts val="400"/>
              </a:spcBef>
            </a:pPr>
            <a:r>
              <a:rPr sz="1700" spc="-15" dirty="0">
                <a:solidFill>
                  <a:srgbClr val="000000"/>
                </a:solidFill>
                <a:latin typeface="Times New Roman"/>
                <a:cs typeface="Times New Roman"/>
              </a:rPr>
              <a:t>public</a:t>
            </a:r>
            <a:r>
              <a:rPr sz="1700" spc="-40" dirty="0">
                <a:solidFill>
                  <a:srgbClr val="000000"/>
                </a:solidFill>
                <a:latin typeface="Times New Roman"/>
                <a:cs typeface="Times New Roman"/>
              </a:rPr>
              <a:t> </a:t>
            </a:r>
            <a:r>
              <a:rPr sz="1700" spc="-50" dirty="0">
                <a:solidFill>
                  <a:srgbClr val="000000"/>
                </a:solidFill>
                <a:latin typeface="Times New Roman"/>
                <a:cs typeface="Times New Roman"/>
              </a:rPr>
              <a:t>static</a:t>
            </a:r>
            <a:r>
              <a:rPr sz="1700" spc="-5" dirty="0">
                <a:solidFill>
                  <a:srgbClr val="000000"/>
                </a:solidFill>
                <a:latin typeface="Times New Roman"/>
                <a:cs typeface="Times New Roman"/>
              </a:rPr>
              <a:t> </a:t>
            </a:r>
            <a:r>
              <a:rPr sz="1700" spc="-35" dirty="0">
                <a:solidFill>
                  <a:srgbClr val="000000"/>
                </a:solidFill>
                <a:latin typeface="Times New Roman"/>
                <a:cs typeface="Times New Roman"/>
              </a:rPr>
              <a:t>void</a:t>
            </a:r>
            <a:r>
              <a:rPr sz="1700" spc="-25" dirty="0">
                <a:solidFill>
                  <a:srgbClr val="000000"/>
                </a:solidFill>
                <a:latin typeface="Times New Roman"/>
                <a:cs typeface="Times New Roman"/>
              </a:rPr>
              <a:t> </a:t>
            </a:r>
            <a:r>
              <a:rPr sz="1700" spc="-35" dirty="0">
                <a:solidFill>
                  <a:srgbClr val="000000"/>
                </a:solidFill>
                <a:latin typeface="Times New Roman"/>
                <a:cs typeface="Times New Roman"/>
              </a:rPr>
              <a:t>main(String</a:t>
            </a:r>
            <a:r>
              <a:rPr sz="1700" spc="5" dirty="0">
                <a:solidFill>
                  <a:srgbClr val="000000"/>
                </a:solidFill>
                <a:latin typeface="Times New Roman"/>
                <a:cs typeface="Times New Roman"/>
              </a:rPr>
              <a:t> </a:t>
            </a:r>
            <a:r>
              <a:rPr sz="1700" spc="-55" dirty="0">
                <a:solidFill>
                  <a:srgbClr val="000000"/>
                </a:solidFill>
                <a:latin typeface="Times New Roman"/>
                <a:cs typeface="Times New Roman"/>
              </a:rPr>
              <a:t>args[])</a:t>
            </a:r>
            <a:endParaRPr sz="1700">
              <a:latin typeface="Times New Roman"/>
              <a:cs typeface="Times New Roman"/>
            </a:endParaRPr>
          </a:p>
        </p:txBody>
      </p:sp>
      <p:sp>
        <p:nvSpPr>
          <p:cNvPr id="4" name="object 4"/>
          <p:cNvSpPr txBox="1"/>
          <p:nvPr/>
        </p:nvSpPr>
        <p:spPr>
          <a:xfrm>
            <a:off x="364664" y="1822418"/>
            <a:ext cx="1921510" cy="1588770"/>
          </a:xfrm>
          <a:prstGeom prst="rect">
            <a:avLst/>
          </a:prstGeom>
        </p:spPr>
        <p:txBody>
          <a:bodyPr vert="horz" wrap="square" lIns="0" tIns="67310" rIns="0" bIns="0" rtlCol="0">
            <a:spAutoFit/>
          </a:bodyPr>
          <a:lstStyle/>
          <a:p>
            <a:pPr marL="255904">
              <a:lnSpc>
                <a:spcPct val="100000"/>
              </a:lnSpc>
              <a:spcBef>
                <a:spcPts val="530"/>
              </a:spcBef>
            </a:pPr>
            <a:r>
              <a:rPr sz="1700" spc="-315" dirty="0">
                <a:latin typeface="Times New Roman"/>
                <a:cs typeface="Times New Roman"/>
              </a:rPr>
              <a:t>{</a:t>
            </a:r>
            <a:endParaRPr sz="1700" dirty="0">
              <a:latin typeface="Times New Roman"/>
              <a:cs typeface="Times New Roman"/>
            </a:endParaRPr>
          </a:p>
          <a:p>
            <a:pPr marL="255904">
              <a:lnSpc>
                <a:spcPct val="100000"/>
              </a:lnSpc>
              <a:spcBef>
                <a:spcPts val="439"/>
              </a:spcBef>
            </a:pPr>
            <a:r>
              <a:rPr sz="1700" spc="-25" dirty="0">
                <a:latin typeface="Calibri"/>
                <a:cs typeface="Calibri"/>
              </a:rPr>
              <a:t>String</a:t>
            </a:r>
            <a:r>
              <a:rPr sz="1700" spc="-15" dirty="0">
                <a:latin typeface="Calibri"/>
                <a:cs typeface="Calibri"/>
              </a:rPr>
              <a:t> </a:t>
            </a:r>
            <a:r>
              <a:rPr sz="1700" spc="10" dirty="0">
                <a:latin typeface="Calibri"/>
                <a:cs typeface="Calibri"/>
              </a:rPr>
              <a:t>s=“</a:t>
            </a:r>
            <a:r>
              <a:rPr sz="1700" spc="10">
                <a:latin typeface="Calibri"/>
                <a:cs typeface="Calibri"/>
              </a:rPr>
              <a:t>Hello”</a:t>
            </a:r>
            <a:r>
              <a:rPr lang="en-US" sz="1700" spc="10">
                <a:latin typeface="Calibri"/>
                <a:cs typeface="Calibri"/>
              </a:rPr>
              <a:t>;</a:t>
            </a:r>
            <a:endParaRPr sz="1700" dirty="0">
              <a:latin typeface="Calibri"/>
              <a:cs typeface="Calibri"/>
            </a:endParaRPr>
          </a:p>
          <a:p>
            <a:pPr marL="255904">
              <a:lnSpc>
                <a:spcPct val="100000"/>
              </a:lnSpc>
              <a:spcBef>
                <a:spcPts val="395"/>
              </a:spcBef>
            </a:pPr>
            <a:r>
              <a:rPr sz="1700" spc="-30" dirty="0">
                <a:latin typeface="Times New Roman"/>
                <a:cs typeface="Times New Roman"/>
              </a:rPr>
              <a:t>System.out.print(s);</a:t>
            </a:r>
            <a:endParaRPr sz="1700" dirty="0">
              <a:latin typeface="Times New Roman"/>
              <a:cs typeface="Times New Roman"/>
            </a:endParaRPr>
          </a:p>
          <a:p>
            <a:pPr marL="255904">
              <a:lnSpc>
                <a:spcPct val="100000"/>
              </a:lnSpc>
              <a:spcBef>
                <a:spcPts val="440"/>
              </a:spcBef>
            </a:pPr>
            <a:r>
              <a:rPr sz="1700" spc="-315" dirty="0">
                <a:latin typeface="Times New Roman"/>
                <a:cs typeface="Times New Roman"/>
              </a:rPr>
              <a:t>}</a:t>
            </a:r>
            <a:endParaRPr sz="1700" dirty="0">
              <a:latin typeface="Times New Roman"/>
              <a:cs typeface="Times New Roman"/>
            </a:endParaRPr>
          </a:p>
          <a:p>
            <a:pPr marL="12700">
              <a:lnSpc>
                <a:spcPct val="100000"/>
              </a:lnSpc>
              <a:spcBef>
                <a:spcPts val="395"/>
              </a:spcBef>
            </a:pPr>
            <a:r>
              <a:rPr sz="1700" spc="-315" dirty="0">
                <a:latin typeface="Times New Roman"/>
                <a:cs typeface="Times New Roman"/>
              </a:rPr>
              <a:t>}</a:t>
            </a:r>
            <a:endParaRPr sz="1700" dirty="0">
              <a:latin typeface="Times New Roman"/>
              <a:cs typeface="Times New Roman"/>
            </a:endParaRPr>
          </a:p>
        </p:txBody>
      </p:sp>
      <p:grpSp>
        <p:nvGrpSpPr>
          <p:cNvPr id="6" name="object 6"/>
          <p:cNvGrpSpPr/>
          <p:nvPr/>
        </p:nvGrpSpPr>
        <p:grpSpPr>
          <a:xfrm>
            <a:off x="4519747" y="1834702"/>
            <a:ext cx="1115060" cy="679450"/>
            <a:chOff x="4519747" y="1834702"/>
            <a:chExt cx="1115060" cy="679450"/>
          </a:xfrm>
        </p:grpSpPr>
        <p:pic>
          <p:nvPicPr>
            <p:cNvPr id="7" name="object 7"/>
            <p:cNvPicPr/>
            <p:nvPr/>
          </p:nvPicPr>
          <p:blipFill>
            <a:blip r:embed="rId3" cstate="print"/>
            <a:stretch>
              <a:fillRect/>
            </a:stretch>
          </p:blipFill>
          <p:spPr>
            <a:xfrm>
              <a:off x="4595770" y="1875248"/>
              <a:ext cx="922404" cy="547360"/>
            </a:xfrm>
            <a:prstGeom prst="rect">
              <a:avLst/>
            </a:prstGeom>
          </p:spPr>
        </p:pic>
        <p:pic>
          <p:nvPicPr>
            <p:cNvPr id="8" name="object 8"/>
            <p:cNvPicPr/>
            <p:nvPr/>
          </p:nvPicPr>
          <p:blipFill>
            <a:blip r:embed="rId4" cstate="print"/>
            <a:stretch>
              <a:fillRect/>
            </a:stretch>
          </p:blipFill>
          <p:spPr>
            <a:xfrm>
              <a:off x="4519747" y="1834702"/>
              <a:ext cx="1114994" cy="679133"/>
            </a:xfrm>
            <a:prstGeom prst="rect">
              <a:avLst/>
            </a:prstGeom>
          </p:spPr>
        </p:pic>
        <p:pic>
          <p:nvPicPr>
            <p:cNvPr id="9" name="object 9"/>
            <p:cNvPicPr/>
            <p:nvPr/>
          </p:nvPicPr>
          <p:blipFill>
            <a:blip r:embed="rId5" cstate="print"/>
            <a:stretch>
              <a:fillRect/>
            </a:stretch>
          </p:blipFill>
          <p:spPr>
            <a:xfrm>
              <a:off x="4615223" y="1882854"/>
              <a:ext cx="883550" cy="507659"/>
            </a:xfrm>
            <a:prstGeom prst="rect">
              <a:avLst/>
            </a:prstGeom>
          </p:spPr>
        </p:pic>
      </p:grpSp>
      <p:sp>
        <p:nvSpPr>
          <p:cNvPr id="10" name="object 10"/>
          <p:cNvSpPr txBox="1"/>
          <p:nvPr/>
        </p:nvSpPr>
        <p:spPr>
          <a:xfrm>
            <a:off x="4615224" y="1882854"/>
            <a:ext cx="883919" cy="508000"/>
          </a:xfrm>
          <a:prstGeom prst="rect">
            <a:avLst/>
          </a:prstGeom>
          <a:ln w="5073">
            <a:solidFill>
              <a:srgbClr val="000000"/>
            </a:solidFill>
          </a:ln>
        </p:spPr>
        <p:txBody>
          <a:bodyPr vert="horz" wrap="square" lIns="0" tIns="24130" rIns="0" bIns="0" rtlCol="0">
            <a:spAutoFit/>
          </a:bodyPr>
          <a:lstStyle/>
          <a:p>
            <a:pPr marL="52069">
              <a:lnSpc>
                <a:spcPct val="100000"/>
              </a:lnSpc>
              <a:spcBef>
                <a:spcPts val="190"/>
              </a:spcBef>
            </a:pPr>
            <a:r>
              <a:rPr sz="1450" spc="25" dirty="0">
                <a:latin typeface="Arial MT"/>
                <a:cs typeface="Arial MT"/>
              </a:rPr>
              <a:t>OUTPUT</a:t>
            </a:r>
            <a:endParaRPr sz="1450">
              <a:latin typeface="Arial MT"/>
              <a:cs typeface="Arial MT"/>
            </a:endParaRPr>
          </a:p>
          <a:p>
            <a:pPr marL="52069">
              <a:lnSpc>
                <a:spcPct val="100000"/>
              </a:lnSpc>
              <a:spcBef>
                <a:spcPts val="60"/>
              </a:spcBef>
            </a:pPr>
            <a:r>
              <a:rPr sz="1450" spc="-15" dirty="0">
                <a:latin typeface="Arial MT"/>
                <a:cs typeface="Arial MT"/>
              </a:rPr>
              <a:t>Hello</a:t>
            </a:r>
            <a:endParaRPr sz="1450">
              <a:latin typeface="Arial MT"/>
              <a:cs typeface="Arial MT"/>
            </a:endParaRPr>
          </a:p>
        </p:txBody>
      </p:sp>
      <p:sp>
        <p:nvSpPr>
          <p:cNvPr id="11" name="object 11"/>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176167"/>
            <a:ext cx="6487240" cy="684201"/>
          </a:xfrm>
          <a:prstGeom prst="rect">
            <a:avLst/>
          </a:prstGeom>
        </p:spPr>
      </p:pic>
      <p:sp>
        <p:nvSpPr>
          <p:cNvPr id="3" name="object 3"/>
          <p:cNvSpPr txBox="1"/>
          <p:nvPr/>
        </p:nvSpPr>
        <p:spPr>
          <a:xfrm>
            <a:off x="203200" y="640688"/>
            <a:ext cx="6288051" cy="2983124"/>
          </a:xfrm>
          <a:prstGeom prst="rect">
            <a:avLst/>
          </a:prstGeom>
        </p:spPr>
        <p:txBody>
          <a:bodyPr vert="horz" wrap="square" lIns="0" tIns="10160" rIns="0" bIns="0" rtlCol="0">
            <a:spAutoFit/>
          </a:bodyPr>
          <a:lstStyle/>
          <a:p>
            <a:pPr marL="194945" marR="455930" indent="-182880">
              <a:lnSpc>
                <a:spcPct val="101899"/>
              </a:lnSpc>
              <a:spcBef>
                <a:spcPts val="80"/>
              </a:spcBef>
              <a:buChar char="•"/>
              <a:tabLst>
                <a:tab pos="195580" algn="l"/>
              </a:tabLst>
            </a:pPr>
            <a:r>
              <a:rPr sz="1700" spc="5" dirty="0">
                <a:latin typeface="Arial MT"/>
                <a:cs typeface="Arial MT"/>
              </a:rPr>
              <a:t>In</a:t>
            </a:r>
            <a:r>
              <a:rPr sz="1700" spc="15" dirty="0">
                <a:latin typeface="Times New Roman"/>
                <a:cs typeface="Times New Roman"/>
              </a:rPr>
              <a:t> </a:t>
            </a:r>
            <a:r>
              <a:rPr sz="1700" spc="20" dirty="0">
                <a:latin typeface="Arial MT"/>
                <a:cs typeface="Arial MT"/>
              </a:rPr>
              <a:t>J</a:t>
            </a:r>
            <a:r>
              <a:rPr sz="1700" spc="5" dirty="0">
                <a:latin typeface="Arial MT"/>
                <a:cs typeface="Arial MT"/>
              </a:rPr>
              <a:t>a</a:t>
            </a:r>
            <a:r>
              <a:rPr sz="1700" spc="60" dirty="0">
                <a:latin typeface="Arial MT"/>
                <a:cs typeface="Arial MT"/>
              </a:rPr>
              <a:t>v</a:t>
            </a:r>
            <a:r>
              <a:rPr sz="1700" spc="5" dirty="0">
                <a:latin typeface="Arial MT"/>
                <a:cs typeface="Arial MT"/>
              </a:rPr>
              <a:t>a,</a:t>
            </a:r>
            <a:r>
              <a:rPr sz="1700" spc="-55" dirty="0">
                <a:latin typeface="Times New Roman"/>
                <a:cs typeface="Times New Roman"/>
              </a:rPr>
              <a:t> </a:t>
            </a:r>
            <a:r>
              <a:rPr sz="1700" spc="20" dirty="0">
                <a:solidFill>
                  <a:srgbClr val="FF0000"/>
                </a:solidFill>
                <a:latin typeface="Arial MT"/>
                <a:cs typeface="Arial MT"/>
              </a:rPr>
              <a:t>s</a:t>
            </a:r>
            <a:r>
              <a:rPr sz="1700" spc="5" dirty="0">
                <a:solidFill>
                  <a:srgbClr val="FF0000"/>
                </a:solidFill>
                <a:latin typeface="Arial MT"/>
                <a:cs typeface="Arial MT"/>
              </a:rPr>
              <a:t>t</a:t>
            </a:r>
            <a:r>
              <a:rPr sz="1700" spc="-10" dirty="0">
                <a:solidFill>
                  <a:srgbClr val="FF0000"/>
                </a:solidFill>
                <a:latin typeface="Arial MT"/>
                <a:cs typeface="Arial MT"/>
              </a:rPr>
              <a:t>r</a:t>
            </a:r>
            <a:r>
              <a:rPr sz="1700" spc="15" dirty="0">
                <a:solidFill>
                  <a:srgbClr val="FF0000"/>
                </a:solidFill>
                <a:latin typeface="Arial MT"/>
                <a:cs typeface="Arial MT"/>
              </a:rPr>
              <a:t>i</a:t>
            </a:r>
            <a:r>
              <a:rPr sz="1700" spc="5" dirty="0">
                <a:solidFill>
                  <a:srgbClr val="FF0000"/>
                </a:solidFill>
                <a:latin typeface="Arial MT"/>
                <a:cs typeface="Arial MT"/>
              </a:rPr>
              <a:t>n</a:t>
            </a:r>
            <a:r>
              <a:rPr sz="1700" spc="10" dirty="0">
                <a:solidFill>
                  <a:srgbClr val="FF0000"/>
                </a:solidFill>
                <a:latin typeface="Arial MT"/>
                <a:cs typeface="Arial MT"/>
              </a:rPr>
              <a:t>g</a:t>
            </a:r>
            <a:r>
              <a:rPr sz="1700" spc="-25" dirty="0">
                <a:solidFill>
                  <a:srgbClr val="FF0000"/>
                </a:solidFill>
                <a:latin typeface="Times New Roman"/>
                <a:cs typeface="Times New Roman"/>
              </a:rPr>
              <a:t> </a:t>
            </a:r>
            <a:r>
              <a:rPr sz="1700" spc="15" dirty="0">
                <a:solidFill>
                  <a:srgbClr val="FF0000"/>
                </a:solidFill>
                <a:latin typeface="Arial MT"/>
                <a:cs typeface="Arial MT"/>
              </a:rPr>
              <a:t>i</a:t>
            </a:r>
            <a:r>
              <a:rPr sz="1700" spc="5" dirty="0">
                <a:solidFill>
                  <a:srgbClr val="FF0000"/>
                </a:solidFill>
                <a:latin typeface="Arial MT"/>
                <a:cs typeface="Arial MT"/>
              </a:rPr>
              <a:t>s</a:t>
            </a:r>
            <a:r>
              <a:rPr sz="1700" spc="30" dirty="0">
                <a:solidFill>
                  <a:srgbClr val="FF0000"/>
                </a:solidFill>
                <a:latin typeface="Times New Roman"/>
                <a:cs typeface="Times New Roman"/>
              </a:rPr>
              <a:t> </a:t>
            </a:r>
            <a:r>
              <a:rPr sz="1700" spc="5" dirty="0">
                <a:solidFill>
                  <a:srgbClr val="FF0000"/>
                </a:solidFill>
                <a:latin typeface="Arial MT"/>
                <a:cs typeface="Arial MT"/>
              </a:rPr>
              <a:t>ba</a:t>
            </a:r>
            <a:r>
              <a:rPr sz="1700" spc="25" dirty="0">
                <a:solidFill>
                  <a:srgbClr val="FF0000"/>
                </a:solidFill>
                <a:latin typeface="Arial MT"/>
                <a:cs typeface="Arial MT"/>
              </a:rPr>
              <a:t>s</a:t>
            </a:r>
            <a:r>
              <a:rPr sz="1700" spc="20" dirty="0">
                <a:solidFill>
                  <a:srgbClr val="FF0000"/>
                </a:solidFill>
                <a:latin typeface="Arial MT"/>
                <a:cs typeface="Arial MT"/>
              </a:rPr>
              <a:t>ic</a:t>
            </a:r>
            <a:r>
              <a:rPr sz="1700" spc="5" dirty="0">
                <a:solidFill>
                  <a:srgbClr val="FF0000"/>
                </a:solidFill>
                <a:latin typeface="Arial MT"/>
                <a:cs typeface="Arial MT"/>
              </a:rPr>
              <a:t>a</a:t>
            </a:r>
            <a:r>
              <a:rPr sz="1700" spc="-25" dirty="0">
                <a:solidFill>
                  <a:srgbClr val="FF0000"/>
                </a:solidFill>
                <a:latin typeface="Arial MT"/>
                <a:cs typeface="Arial MT"/>
              </a:rPr>
              <a:t>l</a:t>
            </a:r>
            <a:r>
              <a:rPr sz="1700" spc="15" dirty="0">
                <a:solidFill>
                  <a:srgbClr val="FF0000"/>
                </a:solidFill>
                <a:latin typeface="Arial MT"/>
                <a:cs typeface="Arial MT"/>
              </a:rPr>
              <a:t>l</a:t>
            </a:r>
            <a:r>
              <a:rPr sz="1700" spc="5" dirty="0">
                <a:solidFill>
                  <a:srgbClr val="FF0000"/>
                </a:solidFill>
                <a:latin typeface="Arial MT"/>
                <a:cs typeface="Arial MT"/>
              </a:rPr>
              <a:t>y</a:t>
            </a:r>
            <a:r>
              <a:rPr sz="1700" spc="-90" dirty="0">
                <a:solidFill>
                  <a:srgbClr val="FF0000"/>
                </a:solidFill>
                <a:latin typeface="Times New Roman"/>
                <a:cs typeface="Times New Roman"/>
              </a:rPr>
              <a:t> </a:t>
            </a:r>
            <a:r>
              <a:rPr sz="1700" spc="5" dirty="0">
                <a:solidFill>
                  <a:srgbClr val="FF0000"/>
                </a:solidFill>
                <a:latin typeface="Arial MT"/>
                <a:cs typeface="Arial MT"/>
              </a:rPr>
              <a:t>a</a:t>
            </a:r>
            <a:r>
              <a:rPr sz="1700" spc="10" dirty="0">
                <a:solidFill>
                  <a:srgbClr val="FF0000"/>
                </a:solidFill>
                <a:latin typeface="Arial MT"/>
                <a:cs typeface="Arial MT"/>
              </a:rPr>
              <a:t>n</a:t>
            </a:r>
            <a:r>
              <a:rPr sz="1700" spc="15" dirty="0">
                <a:solidFill>
                  <a:srgbClr val="FF0000"/>
                </a:solidFill>
                <a:latin typeface="Times New Roman"/>
                <a:cs typeface="Times New Roman"/>
              </a:rPr>
              <a:t> </a:t>
            </a:r>
            <a:r>
              <a:rPr sz="1700" spc="5" dirty="0">
                <a:solidFill>
                  <a:srgbClr val="FF0000"/>
                </a:solidFill>
                <a:latin typeface="Arial MT"/>
                <a:cs typeface="Arial MT"/>
              </a:rPr>
              <a:t>ob</a:t>
            </a:r>
            <a:r>
              <a:rPr sz="1700" spc="20" dirty="0">
                <a:solidFill>
                  <a:srgbClr val="FF0000"/>
                </a:solidFill>
                <a:latin typeface="Arial MT"/>
                <a:cs typeface="Arial MT"/>
              </a:rPr>
              <a:t>j</a:t>
            </a:r>
            <a:r>
              <a:rPr sz="1700" spc="5" dirty="0">
                <a:solidFill>
                  <a:srgbClr val="FF0000"/>
                </a:solidFill>
                <a:latin typeface="Arial MT"/>
                <a:cs typeface="Arial MT"/>
              </a:rPr>
              <a:t>e</a:t>
            </a:r>
            <a:r>
              <a:rPr sz="1700" spc="20" dirty="0">
                <a:solidFill>
                  <a:srgbClr val="FF0000"/>
                </a:solidFill>
                <a:latin typeface="Arial MT"/>
                <a:cs typeface="Arial MT"/>
              </a:rPr>
              <a:t>c</a:t>
            </a:r>
            <a:r>
              <a:rPr sz="1700" spc="5" dirty="0">
                <a:solidFill>
                  <a:srgbClr val="FF0000"/>
                </a:solidFill>
                <a:latin typeface="Arial MT"/>
                <a:cs typeface="Arial MT"/>
              </a:rPr>
              <a:t>t</a:t>
            </a:r>
            <a:r>
              <a:rPr sz="1700" spc="10" dirty="0">
                <a:solidFill>
                  <a:srgbClr val="FF0000"/>
                </a:solidFill>
                <a:latin typeface="Times New Roman"/>
                <a:cs typeface="Times New Roman"/>
              </a:rPr>
              <a:t> </a:t>
            </a:r>
            <a:r>
              <a:rPr sz="1700" spc="5" dirty="0">
                <a:latin typeface="Arial MT"/>
                <a:cs typeface="Arial MT"/>
              </a:rPr>
              <a:t>that</a:t>
            </a:r>
            <a:r>
              <a:rPr sz="1700" spc="-25" dirty="0">
                <a:latin typeface="Times New Roman"/>
                <a:cs typeface="Times New Roman"/>
              </a:rPr>
              <a:t> </a:t>
            </a:r>
            <a:r>
              <a:rPr sz="1700" spc="-10" dirty="0">
                <a:latin typeface="Arial MT"/>
                <a:cs typeface="Arial MT"/>
              </a:rPr>
              <a:t>r</a:t>
            </a:r>
            <a:r>
              <a:rPr sz="1700" spc="5" dirty="0">
                <a:latin typeface="Arial MT"/>
                <a:cs typeface="Arial MT"/>
              </a:rPr>
              <a:t>ep</a:t>
            </a:r>
            <a:r>
              <a:rPr sz="1700" spc="-5" dirty="0">
                <a:latin typeface="Arial MT"/>
                <a:cs typeface="Arial MT"/>
              </a:rPr>
              <a:t>r</a:t>
            </a:r>
            <a:r>
              <a:rPr sz="1700" spc="5" dirty="0">
                <a:latin typeface="Arial MT"/>
                <a:cs typeface="Arial MT"/>
              </a:rPr>
              <a:t>e</a:t>
            </a:r>
            <a:r>
              <a:rPr sz="1700" spc="20" dirty="0">
                <a:latin typeface="Arial MT"/>
                <a:cs typeface="Arial MT"/>
              </a:rPr>
              <a:t>s</a:t>
            </a:r>
            <a:r>
              <a:rPr sz="1700" spc="5" dirty="0">
                <a:latin typeface="Arial MT"/>
                <a:cs typeface="Arial MT"/>
              </a:rPr>
              <a:t>ents </a:t>
            </a:r>
            <a:r>
              <a:rPr sz="1700" dirty="0">
                <a:latin typeface="Times New Roman"/>
                <a:cs typeface="Times New Roman"/>
              </a:rPr>
              <a:t> </a:t>
            </a:r>
            <a:r>
              <a:rPr sz="1700" spc="20" dirty="0">
                <a:solidFill>
                  <a:srgbClr val="3232FF"/>
                </a:solidFill>
                <a:latin typeface="Arial MT"/>
                <a:cs typeface="Arial MT"/>
              </a:rPr>
              <a:t>s</a:t>
            </a:r>
            <a:r>
              <a:rPr sz="1700" spc="5" dirty="0">
                <a:solidFill>
                  <a:srgbClr val="3232FF"/>
                </a:solidFill>
                <a:latin typeface="Arial MT"/>
                <a:cs typeface="Arial MT"/>
              </a:rPr>
              <a:t>eq</a:t>
            </a:r>
            <a:r>
              <a:rPr sz="1700" spc="10" dirty="0">
                <a:solidFill>
                  <a:srgbClr val="3232FF"/>
                </a:solidFill>
                <a:latin typeface="Arial MT"/>
                <a:cs typeface="Arial MT"/>
              </a:rPr>
              <a:t>u</a:t>
            </a:r>
            <a:r>
              <a:rPr sz="1700" spc="5" dirty="0">
                <a:solidFill>
                  <a:srgbClr val="3232FF"/>
                </a:solidFill>
                <a:latin typeface="Arial MT"/>
                <a:cs typeface="Arial MT"/>
              </a:rPr>
              <a:t>en</a:t>
            </a:r>
            <a:r>
              <a:rPr sz="1700" spc="25" dirty="0">
                <a:solidFill>
                  <a:srgbClr val="3232FF"/>
                </a:solidFill>
                <a:latin typeface="Arial MT"/>
                <a:cs typeface="Arial MT"/>
              </a:rPr>
              <a:t>c</a:t>
            </a:r>
            <a:r>
              <a:rPr sz="1700" spc="10" dirty="0">
                <a:solidFill>
                  <a:srgbClr val="3232FF"/>
                </a:solidFill>
                <a:latin typeface="Arial MT"/>
                <a:cs typeface="Arial MT"/>
              </a:rPr>
              <a:t>e</a:t>
            </a:r>
            <a:r>
              <a:rPr sz="1700" spc="-105" dirty="0">
                <a:solidFill>
                  <a:srgbClr val="3232FF"/>
                </a:solidFill>
                <a:latin typeface="Times New Roman"/>
                <a:cs typeface="Times New Roman"/>
              </a:rPr>
              <a:t> </a:t>
            </a:r>
            <a:r>
              <a:rPr sz="1700" spc="5" dirty="0">
                <a:solidFill>
                  <a:srgbClr val="3232FF"/>
                </a:solidFill>
                <a:latin typeface="Arial MT"/>
                <a:cs typeface="Arial MT"/>
              </a:rPr>
              <a:t>of</a:t>
            </a:r>
            <a:r>
              <a:rPr sz="1700" spc="50" dirty="0">
                <a:solidFill>
                  <a:srgbClr val="3232FF"/>
                </a:solidFill>
                <a:latin typeface="Times New Roman"/>
                <a:cs typeface="Times New Roman"/>
              </a:rPr>
              <a:t> </a:t>
            </a:r>
            <a:r>
              <a:rPr sz="1700" spc="20" dirty="0">
                <a:solidFill>
                  <a:srgbClr val="3232FF"/>
                </a:solidFill>
                <a:latin typeface="Arial MT"/>
                <a:cs typeface="Arial MT"/>
              </a:rPr>
              <a:t>c</a:t>
            </a:r>
            <a:r>
              <a:rPr sz="1700" spc="5" dirty="0">
                <a:solidFill>
                  <a:srgbClr val="3232FF"/>
                </a:solidFill>
                <a:latin typeface="Arial MT"/>
                <a:cs typeface="Arial MT"/>
              </a:rPr>
              <a:t>har</a:t>
            </a:r>
            <a:r>
              <a:rPr sz="1700" spc="-40" dirty="0">
                <a:solidFill>
                  <a:srgbClr val="3232FF"/>
                </a:solidFill>
                <a:latin typeface="Times New Roman"/>
                <a:cs typeface="Times New Roman"/>
              </a:rPr>
              <a:t> </a:t>
            </a:r>
            <a:r>
              <a:rPr sz="1700" spc="60" dirty="0">
                <a:solidFill>
                  <a:srgbClr val="3232FF"/>
                </a:solidFill>
                <a:latin typeface="Arial MT"/>
                <a:cs typeface="Arial MT"/>
              </a:rPr>
              <a:t>v</a:t>
            </a:r>
            <a:r>
              <a:rPr sz="1700" spc="5" dirty="0">
                <a:solidFill>
                  <a:srgbClr val="3232FF"/>
                </a:solidFill>
                <a:latin typeface="Arial MT"/>
                <a:cs typeface="Arial MT"/>
              </a:rPr>
              <a:t>a</a:t>
            </a:r>
            <a:r>
              <a:rPr sz="1700" spc="15" dirty="0">
                <a:solidFill>
                  <a:srgbClr val="3232FF"/>
                </a:solidFill>
                <a:latin typeface="Arial MT"/>
                <a:cs typeface="Arial MT"/>
              </a:rPr>
              <a:t>l</a:t>
            </a:r>
            <a:r>
              <a:rPr sz="1700" spc="5" dirty="0">
                <a:solidFill>
                  <a:srgbClr val="3232FF"/>
                </a:solidFill>
                <a:latin typeface="Arial MT"/>
                <a:cs typeface="Arial MT"/>
              </a:rPr>
              <a:t>ues</a:t>
            </a:r>
            <a:r>
              <a:rPr sz="1700" spc="-55" dirty="0">
                <a:solidFill>
                  <a:srgbClr val="3232FF"/>
                </a:solidFill>
                <a:latin typeface="Times New Roman"/>
                <a:cs typeface="Times New Roman"/>
              </a:rPr>
              <a:t> </a:t>
            </a:r>
            <a:r>
              <a:rPr sz="1700" spc="5" dirty="0">
                <a:latin typeface="Arial MT"/>
                <a:cs typeface="Arial MT"/>
              </a:rPr>
              <a:t>.</a:t>
            </a:r>
            <a:endParaRPr sz="1700" dirty="0">
              <a:latin typeface="Arial MT"/>
              <a:cs typeface="Arial MT"/>
            </a:endParaRPr>
          </a:p>
          <a:p>
            <a:pPr marL="194945" indent="-182880">
              <a:lnSpc>
                <a:spcPct val="100000"/>
              </a:lnSpc>
              <a:spcBef>
                <a:spcPts val="395"/>
              </a:spcBef>
              <a:buChar char="•"/>
              <a:tabLst>
                <a:tab pos="195580" algn="l"/>
              </a:tabLst>
            </a:pPr>
            <a:r>
              <a:rPr sz="1700" spc="10" dirty="0">
                <a:latin typeface="Arial MT"/>
                <a:cs typeface="Arial MT"/>
              </a:rPr>
              <a:t>An</a:t>
            </a:r>
            <a:r>
              <a:rPr sz="1700" spc="-35" dirty="0">
                <a:latin typeface="Arial MT"/>
                <a:cs typeface="Arial MT"/>
              </a:rPr>
              <a:t> </a:t>
            </a:r>
            <a:r>
              <a:rPr sz="1700" dirty="0">
                <a:latin typeface="Arial MT"/>
                <a:cs typeface="Arial MT"/>
              </a:rPr>
              <a:t>array</a:t>
            </a:r>
            <a:r>
              <a:rPr sz="1700" spc="-20" dirty="0">
                <a:latin typeface="Arial MT"/>
                <a:cs typeface="Arial MT"/>
              </a:rPr>
              <a:t> </a:t>
            </a:r>
            <a:r>
              <a:rPr sz="1700" spc="5" dirty="0">
                <a:latin typeface="Arial MT"/>
                <a:cs typeface="Arial MT"/>
              </a:rPr>
              <a:t>of</a:t>
            </a:r>
            <a:r>
              <a:rPr sz="1700" spc="-35" dirty="0">
                <a:latin typeface="Arial MT"/>
                <a:cs typeface="Arial MT"/>
              </a:rPr>
              <a:t> </a:t>
            </a:r>
            <a:r>
              <a:rPr sz="1700" spc="5" dirty="0">
                <a:latin typeface="Arial MT"/>
                <a:cs typeface="Arial MT"/>
              </a:rPr>
              <a:t>characters</a:t>
            </a:r>
            <a:r>
              <a:rPr sz="1700" spc="-100" dirty="0">
                <a:latin typeface="Arial MT"/>
                <a:cs typeface="Arial MT"/>
              </a:rPr>
              <a:t> </a:t>
            </a:r>
            <a:r>
              <a:rPr sz="1700" spc="-10" dirty="0">
                <a:latin typeface="Arial MT"/>
                <a:cs typeface="Arial MT"/>
              </a:rPr>
              <a:t>works</a:t>
            </a:r>
            <a:r>
              <a:rPr sz="1700" spc="20" dirty="0">
                <a:latin typeface="Arial MT"/>
                <a:cs typeface="Arial MT"/>
              </a:rPr>
              <a:t> </a:t>
            </a:r>
            <a:r>
              <a:rPr sz="1700" spc="15" dirty="0">
                <a:latin typeface="Arial MT"/>
                <a:cs typeface="Arial MT"/>
              </a:rPr>
              <a:t>same</a:t>
            </a:r>
            <a:r>
              <a:rPr sz="1700" spc="-80" dirty="0">
                <a:latin typeface="Arial MT"/>
                <a:cs typeface="Arial MT"/>
              </a:rPr>
              <a:t> </a:t>
            </a:r>
            <a:r>
              <a:rPr sz="1700" spc="5" dirty="0">
                <a:latin typeface="Arial MT"/>
                <a:cs typeface="Arial MT"/>
              </a:rPr>
              <a:t>as</a:t>
            </a:r>
            <a:r>
              <a:rPr sz="1700" spc="-20" dirty="0">
                <a:latin typeface="Arial MT"/>
                <a:cs typeface="Arial MT"/>
              </a:rPr>
              <a:t> </a:t>
            </a:r>
            <a:r>
              <a:rPr sz="1700" spc="25" dirty="0">
                <a:latin typeface="Arial MT"/>
                <a:cs typeface="Arial MT"/>
              </a:rPr>
              <a:t>Java</a:t>
            </a:r>
            <a:r>
              <a:rPr sz="1700" spc="-114" dirty="0">
                <a:latin typeface="Arial MT"/>
                <a:cs typeface="Arial MT"/>
              </a:rPr>
              <a:t> </a:t>
            </a:r>
            <a:r>
              <a:rPr sz="1700" spc="5" dirty="0">
                <a:latin typeface="Arial MT"/>
                <a:cs typeface="Arial MT"/>
              </a:rPr>
              <a:t>string.</a:t>
            </a:r>
            <a:endParaRPr sz="1700" dirty="0">
              <a:latin typeface="Arial MT"/>
              <a:cs typeface="Arial MT"/>
            </a:endParaRPr>
          </a:p>
          <a:p>
            <a:pPr marL="194945" indent="-182880">
              <a:lnSpc>
                <a:spcPct val="100000"/>
              </a:lnSpc>
              <a:spcBef>
                <a:spcPts val="439"/>
              </a:spcBef>
              <a:buChar char="•"/>
              <a:tabLst>
                <a:tab pos="195580" algn="l"/>
              </a:tabLst>
            </a:pPr>
            <a:r>
              <a:rPr lang="en-US" sz="1700" dirty="0" err="1">
                <a:latin typeface="Arial MT"/>
                <a:cs typeface="Arial MT"/>
              </a:rPr>
              <a:t>Eg</a:t>
            </a:r>
            <a:r>
              <a:rPr lang="en-US" sz="1700" dirty="0">
                <a:latin typeface="Arial MT"/>
                <a:cs typeface="Arial MT"/>
              </a:rPr>
              <a:t>:</a:t>
            </a:r>
            <a:endParaRPr sz="1700" dirty="0">
              <a:latin typeface="Arial MT"/>
              <a:cs typeface="Arial MT"/>
            </a:endParaRPr>
          </a:p>
          <a:p>
            <a:pPr marL="12700">
              <a:lnSpc>
                <a:spcPct val="100000"/>
              </a:lnSpc>
              <a:spcBef>
                <a:spcPts val="315"/>
              </a:spcBef>
            </a:pPr>
            <a:r>
              <a:rPr sz="1700" spc="-20" dirty="0">
                <a:latin typeface="Calibri"/>
                <a:cs typeface="Calibri"/>
              </a:rPr>
              <a:t>char[]</a:t>
            </a:r>
            <a:r>
              <a:rPr sz="1700" spc="-5" dirty="0">
                <a:latin typeface="Calibri"/>
                <a:cs typeface="Calibri"/>
              </a:rPr>
              <a:t> </a:t>
            </a:r>
            <a:r>
              <a:rPr sz="1700" spc="-15" dirty="0">
                <a:latin typeface="Calibri"/>
                <a:cs typeface="Calibri"/>
              </a:rPr>
              <a:t>ch={‘H’,’e’,’l’,’l’,’o’};</a:t>
            </a:r>
            <a:endParaRPr sz="1700" dirty="0">
              <a:latin typeface="Calibri"/>
              <a:cs typeface="Calibri"/>
            </a:endParaRPr>
          </a:p>
          <a:p>
            <a:pPr marL="12700">
              <a:lnSpc>
                <a:spcPct val="100000"/>
              </a:lnSpc>
              <a:spcBef>
                <a:spcPts val="440"/>
              </a:spcBef>
            </a:pPr>
            <a:r>
              <a:rPr sz="1700" spc="-25" dirty="0">
                <a:solidFill>
                  <a:srgbClr val="C00000"/>
                </a:solidFill>
                <a:latin typeface="Calibri"/>
                <a:cs typeface="Calibri"/>
              </a:rPr>
              <a:t>String</a:t>
            </a:r>
            <a:r>
              <a:rPr sz="1700" dirty="0">
                <a:solidFill>
                  <a:srgbClr val="C00000"/>
                </a:solidFill>
                <a:latin typeface="Calibri"/>
                <a:cs typeface="Calibri"/>
              </a:rPr>
              <a:t> </a:t>
            </a:r>
            <a:r>
              <a:rPr sz="1700" spc="-70" dirty="0">
                <a:latin typeface="Calibri"/>
                <a:cs typeface="Calibri"/>
              </a:rPr>
              <a:t>s=new</a:t>
            </a:r>
            <a:r>
              <a:rPr sz="1700" spc="50" dirty="0">
                <a:latin typeface="Calibri"/>
                <a:cs typeface="Calibri"/>
              </a:rPr>
              <a:t> </a:t>
            </a:r>
            <a:r>
              <a:rPr sz="1700" spc="-15" dirty="0">
                <a:solidFill>
                  <a:srgbClr val="C00000"/>
                </a:solidFill>
                <a:latin typeface="Calibri"/>
                <a:cs typeface="Calibri"/>
              </a:rPr>
              <a:t>String</a:t>
            </a:r>
            <a:r>
              <a:rPr sz="1700" spc="-15" dirty="0">
                <a:latin typeface="Calibri"/>
                <a:cs typeface="Calibri"/>
              </a:rPr>
              <a:t>(ch);</a:t>
            </a:r>
            <a:endParaRPr sz="1700" dirty="0">
              <a:latin typeface="Calibri"/>
              <a:cs typeface="Calibri"/>
            </a:endParaRPr>
          </a:p>
          <a:p>
            <a:pPr marL="194945" marR="5080">
              <a:lnSpc>
                <a:spcPct val="100000"/>
              </a:lnSpc>
              <a:spcBef>
                <a:spcPts val="395"/>
              </a:spcBef>
            </a:pPr>
            <a:r>
              <a:rPr sz="1700" spc="30" dirty="0">
                <a:latin typeface="Calibri"/>
                <a:cs typeface="Calibri"/>
              </a:rPr>
              <a:t>/*This </a:t>
            </a:r>
            <a:r>
              <a:rPr sz="1700" spc="-85" dirty="0">
                <a:latin typeface="Calibri"/>
                <a:cs typeface="Calibri"/>
              </a:rPr>
              <a:t>statement</a:t>
            </a:r>
            <a:r>
              <a:rPr sz="1700" spc="-80" dirty="0">
                <a:latin typeface="Calibri"/>
                <a:cs typeface="Calibri"/>
              </a:rPr>
              <a:t> </a:t>
            </a:r>
            <a:r>
              <a:rPr sz="1700" spc="-45" dirty="0">
                <a:latin typeface="Calibri"/>
                <a:cs typeface="Calibri"/>
              </a:rPr>
              <a:t>converts character </a:t>
            </a:r>
            <a:r>
              <a:rPr sz="1700" spc="-50" dirty="0">
                <a:latin typeface="Calibri"/>
                <a:cs typeface="Calibri"/>
              </a:rPr>
              <a:t>array </a:t>
            </a:r>
            <a:r>
              <a:rPr sz="1700" dirty="0">
                <a:latin typeface="Calibri"/>
                <a:cs typeface="Calibri"/>
              </a:rPr>
              <a:t>ch </a:t>
            </a:r>
            <a:r>
              <a:rPr sz="1700" spc="-75" dirty="0">
                <a:latin typeface="Calibri"/>
                <a:cs typeface="Calibri"/>
              </a:rPr>
              <a:t>to</a:t>
            </a:r>
            <a:r>
              <a:rPr sz="1700" spc="-70" dirty="0">
                <a:latin typeface="Calibri"/>
                <a:cs typeface="Calibri"/>
              </a:rPr>
              <a:t> </a:t>
            </a:r>
            <a:r>
              <a:rPr sz="1700" spc="-50" dirty="0">
                <a:latin typeface="Calibri"/>
                <a:cs typeface="Calibri"/>
              </a:rPr>
              <a:t>string </a:t>
            </a:r>
            <a:r>
              <a:rPr sz="1700" spc="-40" dirty="0">
                <a:latin typeface="Calibri"/>
                <a:cs typeface="Calibri"/>
              </a:rPr>
              <a:t>and </a:t>
            </a:r>
            <a:r>
              <a:rPr sz="1700" spc="-60" dirty="0">
                <a:latin typeface="Calibri"/>
                <a:cs typeface="Calibri"/>
              </a:rPr>
              <a:t>store </a:t>
            </a:r>
            <a:r>
              <a:rPr sz="1700" spc="-370" dirty="0">
                <a:latin typeface="Calibri"/>
                <a:cs typeface="Calibri"/>
              </a:rPr>
              <a:t> </a:t>
            </a:r>
            <a:r>
              <a:rPr sz="1700" dirty="0">
                <a:latin typeface="Calibri"/>
                <a:cs typeface="Calibri"/>
              </a:rPr>
              <a:t>in</a:t>
            </a:r>
            <a:r>
              <a:rPr sz="1700" spc="35" dirty="0">
                <a:latin typeface="Calibri"/>
                <a:cs typeface="Calibri"/>
              </a:rPr>
              <a:t> </a:t>
            </a:r>
            <a:r>
              <a:rPr sz="1700" spc="-55" dirty="0">
                <a:latin typeface="Calibri"/>
                <a:cs typeface="Calibri"/>
              </a:rPr>
              <a:t>string</a:t>
            </a:r>
            <a:r>
              <a:rPr sz="1700" spc="60" dirty="0">
                <a:latin typeface="Calibri"/>
                <a:cs typeface="Calibri"/>
              </a:rPr>
              <a:t> </a:t>
            </a:r>
            <a:r>
              <a:rPr sz="1700" spc="-55" dirty="0">
                <a:latin typeface="Calibri"/>
                <a:cs typeface="Calibri"/>
              </a:rPr>
              <a:t>object</a:t>
            </a:r>
            <a:r>
              <a:rPr sz="1700" spc="10" dirty="0">
                <a:latin typeface="Calibri"/>
                <a:cs typeface="Calibri"/>
              </a:rPr>
              <a:t> </a:t>
            </a:r>
            <a:r>
              <a:rPr sz="1700" spc="-70" dirty="0">
                <a:latin typeface="Calibri"/>
                <a:cs typeface="Calibri"/>
              </a:rPr>
              <a:t>s.*/</a:t>
            </a:r>
            <a:endParaRPr sz="1700" dirty="0">
              <a:latin typeface="Calibri"/>
              <a:cs typeface="Calibri"/>
            </a:endParaRPr>
          </a:p>
          <a:p>
            <a:pPr marL="12700">
              <a:lnSpc>
                <a:spcPct val="100000"/>
              </a:lnSpc>
              <a:spcBef>
                <a:spcPts val="515"/>
              </a:spcBef>
            </a:pPr>
            <a:r>
              <a:rPr sz="1700" spc="5" dirty="0">
                <a:latin typeface="Arial MT"/>
                <a:cs typeface="Arial MT"/>
              </a:rPr>
              <a:t>This</a:t>
            </a:r>
            <a:r>
              <a:rPr sz="1700" spc="-75" dirty="0">
                <a:latin typeface="Arial MT"/>
                <a:cs typeface="Arial MT"/>
              </a:rPr>
              <a:t> </a:t>
            </a:r>
            <a:r>
              <a:rPr sz="1700" spc="10" dirty="0">
                <a:latin typeface="Arial MT"/>
                <a:cs typeface="Arial MT"/>
              </a:rPr>
              <a:t>is</a:t>
            </a:r>
            <a:r>
              <a:rPr sz="1700" spc="-35" dirty="0">
                <a:latin typeface="Arial MT"/>
                <a:cs typeface="Arial MT"/>
              </a:rPr>
              <a:t> </a:t>
            </a:r>
            <a:r>
              <a:rPr sz="1700" spc="15" dirty="0">
                <a:latin typeface="Arial MT"/>
                <a:cs typeface="Arial MT"/>
              </a:rPr>
              <a:t>same</a:t>
            </a:r>
            <a:r>
              <a:rPr sz="1700" spc="-95" dirty="0">
                <a:latin typeface="Arial MT"/>
                <a:cs typeface="Arial MT"/>
              </a:rPr>
              <a:t> </a:t>
            </a:r>
            <a:r>
              <a:rPr sz="1700" dirty="0">
                <a:latin typeface="Arial MT"/>
                <a:cs typeface="Arial MT"/>
              </a:rPr>
              <a:t>as</a:t>
            </a:r>
          </a:p>
          <a:p>
            <a:pPr marL="12700">
              <a:lnSpc>
                <a:spcPct val="100000"/>
              </a:lnSpc>
              <a:spcBef>
                <a:spcPts val="320"/>
              </a:spcBef>
            </a:pPr>
            <a:r>
              <a:rPr sz="1700" spc="-25" dirty="0">
                <a:solidFill>
                  <a:srgbClr val="3232FF"/>
                </a:solidFill>
                <a:latin typeface="Calibri"/>
                <a:cs typeface="Calibri"/>
              </a:rPr>
              <a:t>String</a:t>
            </a:r>
            <a:r>
              <a:rPr sz="1700" spc="25" dirty="0">
                <a:solidFill>
                  <a:srgbClr val="3232FF"/>
                </a:solidFill>
                <a:latin typeface="Calibri"/>
                <a:cs typeface="Calibri"/>
              </a:rPr>
              <a:t> </a:t>
            </a:r>
            <a:r>
              <a:rPr sz="1700" spc="-25" dirty="0">
                <a:latin typeface="Calibri"/>
                <a:cs typeface="Calibri"/>
              </a:rPr>
              <a:t>s=“Hello";</a:t>
            </a:r>
            <a:r>
              <a:rPr sz="1700" spc="130" dirty="0">
                <a:latin typeface="Calibri"/>
                <a:cs typeface="Calibri"/>
              </a:rPr>
              <a:t> </a:t>
            </a:r>
            <a:r>
              <a:rPr sz="1700" spc="-75" dirty="0">
                <a:latin typeface="Calibri"/>
                <a:cs typeface="Calibri"/>
              </a:rPr>
              <a:t>//creating</a:t>
            </a:r>
            <a:r>
              <a:rPr sz="1700" spc="-15" dirty="0">
                <a:latin typeface="Calibri"/>
                <a:cs typeface="Calibri"/>
              </a:rPr>
              <a:t> </a:t>
            </a:r>
            <a:r>
              <a:rPr sz="1700" spc="-50" dirty="0">
                <a:latin typeface="Calibri"/>
                <a:cs typeface="Calibri"/>
              </a:rPr>
              <a:t>string</a:t>
            </a:r>
            <a:r>
              <a:rPr sz="1700" spc="60" dirty="0">
                <a:latin typeface="Calibri"/>
                <a:cs typeface="Calibri"/>
              </a:rPr>
              <a:t> </a:t>
            </a:r>
            <a:r>
              <a:rPr sz="1700" spc="-40" dirty="0">
                <a:latin typeface="Calibri"/>
                <a:cs typeface="Calibri"/>
              </a:rPr>
              <a:t>by</a:t>
            </a:r>
            <a:r>
              <a:rPr sz="1700" spc="15" dirty="0">
                <a:latin typeface="Calibri"/>
                <a:cs typeface="Calibri"/>
              </a:rPr>
              <a:t> </a:t>
            </a:r>
            <a:r>
              <a:rPr sz="1700" spc="-75" dirty="0">
                <a:latin typeface="Calibri"/>
                <a:cs typeface="Calibri"/>
              </a:rPr>
              <a:t>java</a:t>
            </a:r>
            <a:r>
              <a:rPr sz="1700" spc="35" dirty="0">
                <a:latin typeface="Calibri"/>
                <a:cs typeface="Calibri"/>
              </a:rPr>
              <a:t> </a:t>
            </a:r>
            <a:r>
              <a:rPr sz="1700" spc="-50" dirty="0">
                <a:latin typeface="Calibri"/>
                <a:cs typeface="Calibri"/>
              </a:rPr>
              <a:t>string</a:t>
            </a:r>
            <a:r>
              <a:rPr sz="1700" spc="60" dirty="0">
                <a:latin typeface="Calibri"/>
                <a:cs typeface="Calibri"/>
              </a:rPr>
              <a:t> </a:t>
            </a:r>
            <a:r>
              <a:rPr sz="1700" spc="-40" dirty="0">
                <a:latin typeface="Calibri"/>
                <a:cs typeface="Calibri"/>
              </a:rPr>
              <a:t>literal</a:t>
            </a:r>
            <a:endParaRPr sz="1700" dirty="0">
              <a:latin typeface="Calibri"/>
              <a:cs typeface="Calibri"/>
            </a:endParaRPr>
          </a:p>
        </p:txBody>
      </p:sp>
      <p:sp>
        <p:nvSpPr>
          <p:cNvPr id="5" name="object 5"/>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a:spLocks noGrp="1"/>
          </p:cNvSpPr>
          <p:nvPr>
            <p:ph type="title"/>
          </p:nvPr>
        </p:nvSpPr>
        <p:spPr>
          <a:xfrm>
            <a:off x="2108200" y="726272"/>
            <a:ext cx="1666875" cy="318135"/>
          </a:xfrm>
          <a:prstGeom prst="rect">
            <a:avLst/>
          </a:prstGeom>
        </p:spPr>
        <p:txBody>
          <a:bodyPr vert="horz" wrap="square" lIns="0" tIns="14604" rIns="0" bIns="0" rtlCol="0">
            <a:spAutoFit/>
          </a:bodyPr>
          <a:lstStyle/>
          <a:p>
            <a:pPr marL="12700">
              <a:lnSpc>
                <a:spcPct val="100000"/>
              </a:lnSpc>
              <a:spcBef>
                <a:spcPts val="114"/>
              </a:spcBef>
            </a:pPr>
            <a:r>
              <a:rPr dirty="0">
                <a:solidFill>
                  <a:schemeClr val="tx1"/>
                </a:solidFill>
              </a:rPr>
              <a:t>String</a:t>
            </a:r>
            <a:r>
              <a:rPr spc="-40" dirty="0">
                <a:solidFill>
                  <a:schemeClr val="tx1"/>
                </a:solidFill>
              </a:rPr>
              <a:t> </a:t>
            </a:r>
            <a:r>
              <a:rPr spc="10" dirty="0">
                <a:solidFill>
                  <a:schemeClr val="tx1"/>
                </a:solidFill>
              </a:rPr>
              <a:t>methods</a:t>
            </a:r>
          </a:p>
        </p:txBody>
      </p:sp>
      <p:sp>
        <p:nvSpPr>
          <p:cNvPr id="4" name="object 4"/>
          <p:cNvSpPr txBox="1"/>
          <p:nvPr/>
        </p:nvSpPr>
        <p:spPr>
          <a:xfrm>
            <a:off x="364664" y="1205577"/>
            <a:ext cx="5483225" cy="1231265"/>
          </a:xfrm>
          <a:prstGeom prst="rect">
            <a:avLst/>
          </a:prstGeom>
        </p:spPr>
        <p:txBody>
          <a:bodyPr vert="horz" wrap="square" lIns="0" tIns="70485" rIns="0" bIns="0" rtlCol="0">
            <a:spAutoFit/>
          </a:bodyPr>
          <a:lstStyle/>
          <a:p>
            <a:pPr marL="194945" indent="-182880">
              <a:lnSpc>
                <a:spcPct val="100000"/>
              </a:lnSpc>
              <a:spcBef>
                <a:spcPts val="555"/>
              </a:spcBef>
              <a:buChar char="•"/>
              <a:tabLst>
                <a:tab pos="195580" algn="l"/>
              </a:tabLst>
            </a:pPr>
            <a:r>
              <a:rPr sz="1700" spc="5" dirty="0">
                <a:latin typeface="Arial MT"/>
                <a:cs typeface="Arial MT"/>
              </a:rPr>
              <a:t>length()</a:t>
            </a:r>
            <a:endParaRPr sz="1700">
              <a:latin typeface="Arial MT"/>
              <a:cs typeface="Arial MT"/>
            </a:endParaRPr>
          </a:p>
          <a:p>
            <a:pPr marL="255904">
              <a:lnSpc>
                <a:spcPct val="100000"/>
              </a:lnSpc>
              <a:spcBef>
                <a:spcPts val="405"/>
              </a:spcBef>
            </a:pPr>
            <a:r>
              <a:rPr sz="1450" spc="15" dirty="0">
                <a:latin typeface="Arial MT"/>
                <a:cs typeface="Arial MT"/>
              </a:rPr>
              <a:t>–</a:t>
            </a:r>
            <a:r>
              <a:rPr sz="1450" spc="-30" dirty="0">
                <a:latin typeface="Arial MT"/>
                <a:cs typeface="Arial MT"/>
              </a:rPr>
              <a:t> </a:t>
            </a:r>
            <a:r>
              <a:rPr sz="1450" spc="20" dirty="0">
                <a:latin typeface="Arial MT"/>
                <a:cs typeface="Arial MT"/>
              </a:rPr>
              <a:t>The</a:t>
            </a:r>
            <a:r>
              <a:rPr sz="1450" spc="10" dirty="0">
                <a:latin typeface="Arial MT"/>
                <a:cs typeface="Arial MT"/>
              </a:rPr>
              <a:t> </a:t>
            </a:r>
            <a:r>
              <a:rPr sz="1450" dirty="0">
                <a:latin typeface="Arial MT"/>
                <a:cs typeface="Arial MT"/>
              </a:rPr>
              <a:t>length</a:t>
            </a:r>
            <a:r>
              <a:rPr sz="1450" spc="85" dirty="0">
                <a:latin typeface="Arial MT"/>
                <a:cs typeface="Arial MT"/>
              </a:rPr>
              <a:t> </a:t>
            </a:r>
            <a:r>
              <a:rPr sz="1450" spc="15" dirty="0">
                <a:latin typeface="Arial MT"/>
                <a:cs typeface="Arial MT"/>
              </a:rPr>
              <a:t>of</a:t>
            </a:r>
            <a:r>
              <a:rPr sz="1450" spc="25" dirty="0">
                <a:latin typeface="Arial MT"/>
                <a:cs typeface="Arial MT"/>
              </a:rPr>
              <a:t> </a:t>
            </a:r>
            <a:r>
              <a:rPr sz="1450" spc="15" dirty="0">
                <a:latin typeface="Arial MT"/>
                <a:cs typeface="Arial MT"/>
              </a:rPr>
              <a:t>a</a:t>
            </a:r>
            <a:r>
              <a:rPr sz="1450" spc="10" dirty="0">
                <a:latin typeface="Arial MT"/>
                <a:cs typeface="Arial MT"/>
              </a:rPr>
              <a:t> </a:t>
            </a:r>
            <a:r>
              <a:rPr sz="1450" spc="-5" dirty="0">
                <a:latin typeface="Arial MT"/>
                <a:cs typeface="Arial MT"/>
              </a:rPr>
              <a:t>string</a:t>
            </a:r>
            <a:r>
              <a:rPr sz="1450" spc="125" dirty="0">
                <a:latin typeface="Arial MT"/>
                <a:cs typeface="Arial MT"/>
              </a:rPr>
              <a:t> </a:t>
            </a:r>
            <a:r>
              <a:rPr sz="1450" spc="10" dirty="0">
                <a:latin typeface="Arial MT"/>
                <a:cs typeface="Arial MT"/>
              </a:rPr>
              <a:t>can</a:t>
            </a:r>
            <a:r>
              <a:rPr sz="1450" spc="15" dirty="0">
                <a:latin typeface="Arial MT"/>
                <a:cs typeface="Arial MT"/>
              </a:rPr>
              <a:t> </a:t>
            </a:r>
            <a:r>
              <a:rPr sz="1450" spc="20" dirty="0">
                <a:latin typeface="Arial MT"/>
                <a:cs typeface="Arial MT"/>
              </a:rPr>
              <a:t>be</a:t>
            </a:r>
            <a:r>
              <a:rPr sz="1450" spc="10" dirty="0">
                <a:latin typeface="Arial MT"/>
                <a:cs typeface="Arial MT"/>
              </a:rPr>
              <a:t> </a:t>
            </a:r>
            <a:r>
              <a:rPr sz="1450" spc="15" dirty="0">
                <a:latin typeface="Arial MT"/>
                <a:cs typeface="Arial MT"/>
              </a:rPr>
              <a:t>found</a:t>
            </a:r>
            <a:r>
              <a:rPr sz="1450" spc="10" dirty="0">
                <a:latin typeface="Arial MT"/>
                <a:cs typeface="Arial MT"/>
              </a:rPr>
              <a:t> </a:t>
            </a:r>
            <a:r>
              <a:rPr sz="1450" spc="-5" dirty="0">
                <a:latin typeface="Arial MT"/>
                <a:cs typeface="Arial MT"/>
              </a:rPr>
              <a:t>with</a:t>
            </a:r>
            <a:r>
              <a:rPr sz="1450" spc="85" dirty="0">
                <a:latin typeface="Arial MT"/>
                <a:cs typeface="Arial MT"/>
              </a:rPr>
              <a:t> </a:t>
            </a:r>
            <a:r>
              <a:rPr sz="1450" spc="10" dirty="0">
                <a:latin typeface="Arial MT"/>
                <a:cs typeface="Arial MT"/>
              </a:rPr>
              <a:t>the</a:t>
            </a:r>
            <a:r>
              <a:rPr sz="1450" spc="15" dirty="0">
                <a:latin typeface="Arial MT"/>
                <a:cs typeface="Arial MT"/>
              </a:rPr>
              <a:t> </a:t>
            </a:r>
            <a:r>
              <a:rPr sz="1450" dirty="0">
                <a:latin typeface="Arial MT"/>
                <a:cs typeface="Arial MT"/>
              </a:rPr>
              <a:t>length()</a:t>
            </a:r>
            <a:r>
              <a:rPr sz="1450" spc="140" dirty="0">
                <a:latin typeface="Arial MT"/>
                <a:cs typeface="Arial MT"/>
              </a:rPr>
              <a:t> </a:t>
            </a:r>
            <a:r>
              <a:rPr sz="1450" spc="10" dirty="0">
                <a:latin typeface="Arial MT"/>
                <a:cs typeface="Arial MT"/>
              </a:rPr>
              <a:t>method.</a:t>
            </a:r>
            <a:endParaRPr sz="1450">
              <a:latin typeface="Arial MT"/>
              <a:cs typeface="Arial MT"/>
            </a:endParaRPr>
          </a:p>
          <a:p>
            <a:pPr marL="12700">
              <a:lnSpc>
                <a:spcPct val="100000"/>
              </a:lnSpc>
              <a:spcBef>
                <a:spcPts val="370"/>
              </a:spcBef>
            </a:pPr>
            <a:r>
              <a:rPr sz="1700" spc="-55" dirty="0">
                <a:latin typeface="Times New Roman"/>
                <a:cs typeface="Times New Roman"/>
              </a:rPr>
              <a:t>class</a:t>
            </a:r>
            <a:r>
              <a:rPr sz="1700" spc="-20" dirty="0">
                <a:latin typeface="Times New Roman"/>
                <a:cs typeface="Times New Roman"/>
              </a:rPr>
              <a:t> </a:t>
            </a:r>
            <a:r>
              <a:rPr sz="1700" spc="-15" dirty="0">
                <a:latin typeface="Times New Roman"/>
                <a:cs typeface="Times New Roman"/>
              </a:rPr>
              <a:t>Sample</a:t>
            </a:r>
            <a:r>
              <a:rPr sz="1700" spc="-30" dirty="0">
                <a:latin typeface="Times New Roman"/>
                <a:cs typeface="Times New Roman"/>
              </a:rPr>
              <a:t> </a:t>
            </a:r>
            <a:r>
              <a:rPr sz="1700" spc="-315" dirty="0">
                <a:latin typeface="Times New Roman"/>
                <a:cs typeface="Times New Roman"/>
              </a:rPr>
              <a:t>{</a:t>
            </a:r>
            <a:endParaRPr sz="1700">
              <a:latin typeface="Times New Roman"/>
              <a:cs typeface="Times New Roman"/>
            </a:endParaRPr>
          </a:p>
          <a:p>
            <a:pPr marL="194945">
              <a:lnSpc>
                <a:spcPct val="100000"/>
              </a:lnSpc>
              <a:spcBef>
                <a:spcPts val="395"/>
              </a:spcBef>
            </a:pPr>
            <a:r>
              <a:rPr sz="1700" spc="-15" dirty="0">
                <a:latin typeface="Times New Roman"/>
                <a:cs typeface="Times New Roman"/>
              </a:rPr>
              <a:t>public</a:t>
            </a:r>
            <a:r>
              <a:rPr sz="1700" spc="-40" dirty="0">
                <a:latin typeface="Times New Roman"/>
                <a:cs typeface="Times New Roman"/>
              </a:rPr>
              <a:t> </a:t>
            </a:r>
            <a:r>
              <a:rPr sz="1700" spc="-50" dirty="0">
                <a:latin typeface="Times New Roman"/>
                <a:cs typeface="Times New Roman"/>
              </a:rPr>
              <a:t>static</a:t>
            </a:r>
            <a:r>
              <a:rPr sz="1700" dirty="0">
                <a:latin typeface="Times New Roman"/>
                <a:cs typeface="Times New Roman"/>
              </a:rPr>
              <a:t> </a:t>
            </a:r>
            <a:r>
              <a:rPr sz="1700" spc="-35" dirty="0">
                <a:latin typeface="Times New Roman"/>
                <a:cs typeface="Times New Roman"/>
              </a:rPr>
              <a:t>void</a:t>
            </a:r>
            <a:r>
              <a:rPr sz="1700" spc="-25" dirty="0">
                <a:latin typeface="Times New Roman"/>
                <a:cs typeface="Times New Roman"/>
              </a:rPr>
              <a:t> </a:t>
            </a:r>
            <a:r>
              <a:rPr sz="1700" spc="-35" dirty="0">
                <a:latin typeface="Times New Roman"/>
                <a:cs typeface="Times New Roman"/>
              </a:rPr>
              <a:t>main(String</a:t>
            </a:r>
            <a:r>
              <a:rPr sz="1700" spc="10" dirty="0">
                <a:latin typeface="Times New Roman"/>
                <a:cs typeface="Times New Roman"/>
              </a:rPr>
              <a:t> </a:t>
            </a:r>
            <a:r>
              <a:rPr sz="1700" spc="-55" dirty="0">
                <a:latin typeface="Times New Roman"/>
                <a:cs typeface="Times New Roman"/>
              </a:rPr>
              <a:t>args[])</a:t>
            </a:r>
            <a:endParaRPr sz="1700">
              <a:latin typeface="Times New Roman"/>
              <a:cs typeface="Times New Roman"/>
            </a:endParaRPr>
          </a:p>
        </p:txBody>
      </p:sp>
      <p:sp>
        <p:nvSpPr>
          <p:cNvPr id="5" name="object 5"/>
          <p:cNvSpPr txBox="1"/>
          <p:nvPr/>
        </p:nvSpPr>
        <p:spPr>
          <a:xfrm>
            <a:off x="608105" y="2416306"/>
            <a:ext cx="3320415" cy="1268730"/>
          </a:xfrm>
          <a:prstGeom prst="rect">
            <a:avLst/>
          </a:prstGeom>
        </p:spPr>
        <p:txBody>
          <a:bodyPr vert="horz" wrap="square" lIns="0" tIns="62230" rIns="0" bIns="0" rtlCol="0">
            <a:spAutoFit/>
          </a:bodyPr>
          <a:lstStyle/>
          <a:p>
            <a:pPr marL="12700">
              <a:lnSpc>
                <a:spcPct val="100000"/>
              </a:lnSpc>
              <a:spcBef>
                <a:spcPts val="490"/>
              </a:spcBef>
            </a:pPr>
            <a:r>
              <a:rPr sz="1700" spc="-315" dirty="0">
                <a:latin typeface="Times New Roman"/>
                <a:cs typeface="Times New Roman"/>
              </a:rPr>
              <a:t>{</a:t>
            </a:r>
            <a:endParaRPr sz="1700">
              <a:latin typeface="Times New Roman"/>
              <a:cs typeface="Times New Roman"/>
            </a:endParaRPr>
          </a:p>
          <a:p>
            <a:pPr marL="12700" marR="5080">
              <a:lnSpc>
                <a:spcPts val="2480"/>
              </a:lnSpc>
              <a:spcBef>
                <a:spcPts val="114"/>
              </a:spcBef>
            </a:pPr>
            <a:r>
              <a:rPr sz="1700" spc="-50" dirty="0">
                <a:latin typeface="Times New Roman"/>
                <a:cs typeface="Times New Roman"/>
              </a:rPr>
              <a:t>String</a:t>
            </a:r>
            <a:r>
              <a:rPr sz="1700" spc="-20" dirty="0">
                <a:latin typeface="Times New Roman"/>
                <a:cs typeface="Times New Roman"/>
              </a:rPr>
              <a:t> </a:t>
            </a:r>
            <a:r>
              <a:rPr sz="1700" dirty="0">
                <a:solidFill>
                  <a:srgbClr val="C00000"/>
                </a:solidFill>
                <a:latin typeface="Times New Roman"/>
                <a:cs typeface="Times New Roman"/>
              </a:rPr>
              <a:t>s</a:t>
            </a:r>
            <a:r>
              <a:rPr sz="1700" dirty="0">
                <a:latin typeface="Calibri"/>
                <a:cs typeface="Calibri"/>
              </a:rPr>
              <a:t>=“Hello”; </a:t>
            </a:r>
            <a:r>
              <a:rPr sz="1700" spc="5" dirty="0">
                <a:latin typeface="Calibri"/>
                <a:cs typeface="Calibri"/>
              </a:rPr>
              <a:t> </a:t>
            </a:r>
            <a:r>
              <a:rPr sz="1700" spc="-30" dirty="0">
                <a:latin typeface="Calibri"/>
                <a:cs typeface="Calibri"/>
              </a:rPr>
              <a:t>System.out.print(“Length=”,</a:t>
            </a:r>
            <a:r>
              <a:rPr sz="1700" spc="-30" dirty="0">
                <a:solidFill>
                  <a:srgbClr val="C00000"/>
                </a:solidFill>
                <a:latin typeface="Times New Roman"/>
                <a:cs typeface="Times New Roman"/>
              </a:rPr>
              <a:t>s</a:t>
            </a:r>
            <a:r>
              <a:rPr sz="1700" spc="-30" dirty="0">
                <a:solidFill>
                  <a:srgbClr val="0000CC"/>
                </a:solidFill>
                <a:latin typeface="Times New Roman"/>
                <a:cs typeface="Times New Roman"/>
              </a:rPr>
              <a:t>.length()</a:t>
            </a:r>
            <a:r>
              <a:rPr sz="1700" spc="-30" dirty="0">
                <a:latin typeface="Times New Roman"/>
                <a:cs typeface="Times New Roman"/>
              </a:rPr>
              <a:t>);</a:t>
            </a:r>
            <a:endParaRPr sz="1700">
              <a:latin typeface="Times New Roman"/>
              <a:cs typeface="Times New Roman"/>
            </a:endParaRPr>
          </a:p>
          <a:p>
            <a:pPr marL="12700">
              <a:lnSpc>
                <a:spcPct val="100000"/>
              </a:lnSpc>
              <a:spcBef>
                <a:spcPts val="240"/>
              </a:spcBef>
            </a:pPr>
            <a:r>
              <a:rPr sz="1700" spc="-315" dirty="0">
                <a:latin typeface="Times New Roman"/>
                <a:cs typeface="Times New Roman"/>
              </a:rPr>
              <a:t>}</a:t>
            </a:r>
            <a:endParaRPr sz="1700">
              <a:latin typeface="Times New Roman"/>
              <a:cs typeface="Times New Roman"/>
            </a:endParaRPr>
          </a:p>
        </p:txBody>
      </p:sp>
      <p:sp>
        <p:nvSpPr>
          <p:cNvPr id="6" name="object 6"/>
          <p:cNvSpPr txBox="1"/>
          <p:nvPr/>
        </p:nvSpPr>
        <p:spPr>
          <a:xfrm>
            <a:off x="364662" y="3707369"/>
            <a:ext cx="89535" cy="287655"/>
          </a:xfrm>
          <a:prstGeom prst="rect">
            <a:avLst/>
          </a:prstGeom>
        </p:spPr>
        <p:txBody>
          <a:bodyPr vert="horz" wrap="square" lIns="0" tIns="14604" rIns="0" bIns="0" rtlCol="0">
            <a:spAutoFit/>
          </a:bodyPr>
          <a:lstStyle/>
          <a:p>
            <a:pPr marL="12700">
              <a:lnSpc>
                <a:spcPct val="100000"/>
              </a:lnSpc>
              <a:spcBef>
                <a:spcPts val="114"/>
              </a:spcBef>
            </a:pPr>
            <a:r>
              <a:rPr sz="1700" spc="-315" dirty="0">
                <a:latin typeface="Times New Roman"/>
                <a:cs typeface="Times New Roman"/>
              </a:rPr>
              <a:t>}</a:t>
            </a:r>
            <a:endParaRPr sz="1700">
              <a:latin typeface="Times New Roman"/>
              <a:cs typeface="Times New Roman"/>
            </a:endParaRPr>
          </a:p>
        </p:txBody>
      </p:sp>
      <p:grpSp>
        <p:nvGrpSpPr>
          <p:cNvPr id="8" name="object 8"/>
          <p:cNvGrpSpPr/>
          <p:nvPr/>
        </p:nvGrpSpPr>
        <p:grpSpPr>
          <a:xfrm>
            <a:off x="4479202" y="2498639"/>
            <a:ext cx="993775" cy="593090"/>
            <a:chOff x="4479202" y="2498639"/>
            <a:chExt cx="993775" cy="593090"/>
          </a:xfrm>
        </p:grpSpPr>
        <p:pic>
          <p:nvPicPr>
            <p:cNvPr id="9" name="object 9"/>
            <p:cNvPicPr/>
            <p:nvPr/>
          </p:nvPicPr>
          <p:blipFill>
            <a:blip r:embed="rId3" cstate="print"/>
            <a:stretch>
              <a:fillRect/>
            </a:stretch>
          </p:blipFill>
          <p:spPr>
            <a:xfrm>
              <a:off x="4540012" y="2529048"/>
              <a:ext cx="932540" cy="481474"/>
            </a:xfrm>
            <a:prstGeom prst="rect">
              <a:avLst/>
            </a:prstGeom>
          </p:spPr>
        </p:pic>
        <p:pic>
          <p:nvPicPr>
            <p:cNvPr id="10" name="object 10"/>
            <p:cNvPicPr/>
            <p:nvPr/>
          </p:nvPicPr>
          <p:blipFill>
            <a:blip r:embed="rId4" cstate="print"/>
            <a:stretch>
              <a:fillRect/>
            </a:stretch>
          </p:blipFill>
          <p:spPr>
            <a:xfrm>
              <a:off x="4479202" y="2498639"/>
              <a:ext cx="978154" cy="592974"/>
            </a:xfrm>
            <a:prstGeom prst="rect">
              <a:avLst/>
            </a:prstGeom>
          </p:spPr>
        </p:pic>
        <p:pic>
          <p:nvPicPr>
            <p:cNvPr id="11" name="object 11"/>
            <p:cNvPicPr/>
            <p:nvPr/>
          </p:nvPicPr>
          <p:blipFill>
            <a:blip r:embed="rId5" cstate="print"/>
            <a:stretch>
              <a:fillRect/>
            </a:stretch>
          </p:blipFill>
          <p:spPr>
            <a:xfrm>
              <a:off x="4559482" y="2539217"/>
              <a:ext cx="891995" cy="441777"/>
            </a:xfrm>
            <a:prstGeom prst="rect">
              <a:avLst/>
            </a:prstGeom>
          </p:spPr>
        </p:pic>
      </p:grpSp>
      <p:sp>
        <p:nvSpPr>
          <p:cNvPr id="12" name="object 12"/>
          <p:cNvSpPr txBox="1"/>
          <p:nvPr/>
        </p:nvSpPr>
        <p:spPr>
          <a:xfrm>
            <a:off x="4559482" y="2539217"/>
            <a:ext cx="892175" cy="441959"/>
          </a:xfrm>
          <a:prstGeom prst="rect">
            <a:avLst/>
          </a:prstGeom>
          <a:ln w="5073">
            <a:solidFill>
              <a:srgbClr val="000000"/>
            </a:solidFill>
          </a:ln>
        </p:spPr>
        <p:txBody>
          <a:bodyPr vert="horz" wrap="square" lIns="0" tIns="25400" rIns="0" bIns="0" rtlCol="0">
            <a:spAutoFit/>
          </a:bodyPr>
          <a:lstStyle/>
          <a:p>
            <a:pPr marL="52069">
              <a:lnSpc>
                <a:spcPct val="100000"/>
              </a:lnSpc>
              <a:spcBef>
                <a:spcPts val="200"/>
              </a:spcBef>
            </a:pPr>
            <a:r>
              <a:rPr sz="1250" spc="5" dirty="0">
                <a:solidFill>
                  <a:srgbClr val="C00000"/>
                </a:solidFill>
                <a:latin typeface="Arial MT"/>
                <a:cs typeface="Arial MT"/>
              </a:rPr>
              <a:t>OUTPUT</a:t>
            </a:r>
            <a:endParaRPr sz="1250">
              <a:latin typeface="Arial MT"/>
              <a:cs typeface="Arial MT"/>
            </a:endParaRPr>
          </a:p>
          <a:p>
            <a:pPr marL="52069">
              <a:lnSpc>
                <a:spcPct val="100000"/>
              </a:lnSpc>
              <a:spcBef>
                <a:spcPts val="55"/>
              </a:spcBef>
            </a:pPr>
            <a:r>
              <a:rPr sz="1250" spc="5" dirty="0">
                <a:latin typeface="Arial MT"/>
                <a:cs typeface="Arial MT"/>
              </a:rPr>
              <a:t>Length=5</a:t>
            </a:r>
            <a:endParaRPr sz="1250">
              <a:latin typeface="Arial MT"/>
              <a:cs typeface="Arial MT"/>
            </a:endParaRPr>
          </a:p>
        </p:txBody>
      </p:sp>
      <p:sp>
        <p:nvSpPr>
          <p:cNvPr id="13" name="object 13"/>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176167"/>
            <a:ext cx="6487240" cy="684201"/>
          </a:xfrm>
          <a:prstGeom prst="rect">
            <a:avLst/>
          </a:prstGeom>
        </p:spPr>
      </p:pic>
      <p:sp>
        <p:nvSpPr>
          <p:cNvPr id="3" name="object 3"/>
          <p:cNvSpPr txBox="1"/>
          <p:nvPr/>
        </p:nvSpPr>
        <p:spPr>
          <a:xfrm>
            <a:off x="364661" y="748186"/>
            <a:ext cx="5657215" cy="885190"/>
          </a:xfrm>
          <a:prstGeom prst="rect">
            <a:avLst/>
          </a:prstGeom>
        </p:spPr>
        <p:txBody>
          <a:bodyPr vert="horz" wrap="square" lIns="0" tIns="70485" rIns="0" bIns="0" rtlCol="0">
            <a:spAutoFit/>
          </a:bodyPr>
          <a:lstStyle/>
          <a:p>
            <a:pPr marL="194945" indent="-182880">
              <a:lnSpc>
                <a:spcPct val="100000"/>
              </a:lnSpc>
              <a:spcBef>
                <a:spcPts val="555"/>
              </a:spcBef>
              <a:buChar char="•"/>
              <a:tabLst>
                <a:tab pos="195580" algn="l"/>
              </a:tabLst>
            </a:pPr>
            <a:r>
              <a:rPr sz="1700" spc="5" dirty="0">
                <a:latin typeface="Arial MT"/>
                <a:cs typeface="Arial MT"/>
              </a:rPr>
              <a:t>toUpperCase()</a:t>
            </a:r>
            <a:r>
              <a:rPr sz="1700" spc="-130" dirty="0">
                <a:latin typeface="Arial MT"/>
                <a:cs typeface="Arial MT"/>
              </a:rPr>
              <a:t> </a:t>
            </a:r>
            <a:r>
              <a:rPr sz="1700" spc="5" dirty="0">
                <a:latin typeface="Arial MT"/>
                <a:cs typeface="Arial MT"/>
              </a:rPr>
              <a:t>and</a:t>
            </a:r>
            <a:r>
              <a:rPr sz="1700" spc="-30" dirty="0">
                <a:latin typeface="Arial MT"/>
                <a:cs typeface="Arial MT"/>
              </a:rPr>
              <a:t> </a:t>
            </a:r>
            <a:r>
              <a:rPr sz="1700" spc="-5" dirty="0">
                <a:latin typeface="Arial MT"/>
                <a:cs typeface="Arial MT"/>
              </a:rPr>
              <a:t>toLowerCase()</a:t>
            </a:r>
            <a:endParaRPr sz="1700">
              <a:latin typeface="Arial MT"/>
              <a:cs typeface="Arial MT"/>
            </a:endParaRPr>
          </a:p>
          <a:p>
            <a:pPr marL="255904">
              <a:lnSpc>
                <a:spcPct val="100000"/>
              </a:lnSpc>
              <a:spcBef>
                <a:spcPts val="405"/>
              </a:spcBef>
            </a:pPr>
            <a:r>
              <a:rPr sz="1450" spc="15" dirty="0">
                <a:latin typeface="Arial MT"/>
                <a:cs typeface="Arial MT"/>
              </a:rPr>
              <a:t>–</a:t>
            </a:r>
            <a:r>
              <a:rPr sz="1450" spc="-30" dirty="0">
                <a:latin typeface="Arial MT"/>
                <a:cs typeface="Arial MT"/>
              </a:rPr>
              <a:t> </a:t>
            </a:r>
            <a:r>
              <a:rPr sz="1450" spc="20" dirty="0">
                <a:latin typeface="Arial MT"/>
                <a:cs typeface="Arial MT"/>
              </a:rPr>
              <a:t>To</a:t>
            </a:r>
            <a:r>
              <a:rPr sz="1450" spc="15" dirty="0">
                <a:latin typeface="Arial MT"/>
                <a:cs typeface="Arial MT"/>
              </a:rPr>
              <a:t> </a:t>
            </a:r>
            <a:r>
              <a:rPr sz="1450" dirty="0">
                <a:latin typeface="Arial MT"/>
                <a:cs typeface="Arial MT"/>
              </a:rPr>
              <a:t>convert</a:t>
            </a:r>
            <a:r>
              <a:rPr sz="1450" spc="100" dirty="0">
                <a:latin typeface="Arial MT"/>
                <a:cs typeface="Arial MT"/>
              </a:rPr>
              <a:t> </a:t>
            </a:r>
            <a:r>
              <a:rPr sz="1450" spc="5" dirty="0">
                <a:latin typeface="Arial MT"/>
                <a:cs typeface="Arial MT"/>
              </a:rPr>
              <a:t>from</a:t>
            </a:r>
            <a:r>
              <a:rPr sz="1450" spc="40" dirty="0">
                <a:latin typeface="Arial MT"/>
                <a:cs typeface="Arial MT"/>
              </a:rPr>
              <a:t> </a:t>
            </a:r>
            <a:r>
              <a:rPr sz="1450" dirty="0">
                <a:latin typeface="Arial MT"/>
                <a:cs typeface="Arial MT"/>
              </a:rPr>
              <a:t>lower</a:t>
            </a:r>
            <a:r>
              <a:rPr sz="1450" spc="100" dirty="0">
                <a:latin typeface="Arial MT"/>
                <a:cs typeface="Arial MT"/>
              </a:rPr>
              <a:t> </a:t>
            </a:r>
            <a:r>
              <a:rPr sz="1450" dirty="0">
                <a:latin typeface="Arial MT"/>
                <a:cs typeface="Arial MT"/>
              </a:rPr>
              <a:t>to</a:t>
            </a:r>
            <a:r>
              <a:rPr sz="1450" spc="15" dirty="0">
                <a:latin typeface="Arial MT"/>
                <a:cs typeface="Arial MT"/>
              </a:rPr>
              <a:t> upper</a:t>
            </a:r>
            <a:r>
              <a:rPr sz="1450" spc="60" dirty="0">
                <a:latin typeface="Arial MT"/>
                <a:cs typeface="Arial MT"/>
              </a:rPr>
              <a:t> </a:t>
            </a:r>
            <a:r>
              <a:rPr sz="1450" spc="10" dirty="0">
                <a:latin typeface="Arial MT"/>
                <a:cs typeface="Arial MT"/>
              </a:rPr>
              <a:t>and</a:t>
            </a:r>
            <a:r>
              <a:rPr sz="1450" spc="15" dirty="0">
                <a:latin typeface="Arial MT"/>
                <a:cs typeface="Arial MT"/>
              </a:rPr>
              <a:t> upper</a:t>
            </a:r>
            <a:r>
              <a:rPr sz="1450" spc="60" dirty="0">
                <a:latin typeface="Arial MT"/>
                <a:cs typeface="Arial MT"/>
              </a:rPr>
              <a:t> </a:t>
            </a:r>
            <a:r>
              <a:rPr sz="1450" dirty="0">
                <a:latin typeface="Arial MT"/>
                <a:cs typeface="Arial MT"/>
              </a:rPr>
              <a:t>to</a:t>
            </a:r>
            <a:r>
              <a:rPr sz="1450" spc="15" dirty="0">
                <a:latin typeface="Arial MT"/>
                <a:cs typeface="Arial MT"/>
              </a:rPr>
              <a:t> </a:t>
            </a:r>
            <a:r>
              <a:rPr sz="1450" dirty="0">
                <a:latin typeface="Arial MT"/>
                <a:cs typeface="Arial MT"/>
              </a:rPr>
              <a:t>lower</a:t>
            </a:r>
            <a:r>
              <a:rPr sz="1450" spc="105" dirty="0">
                <a:latin typeface="Arial MT"/>
                <a:cs typeface="Arial MT"/>
              </a:rPr>
              <a:t> </a:t>
            </a:r>
            <a:r>
              <a:rPr sz="1450" dirty="0">
                <a:latin typeface="Arial MT"/>
                <a:cs typeface="Arial MT"/>
              </a:rPr>
              <a:t>respectively</a:t>
            </a:r>
            <a:endParaRPr sz="1450">
              <a:latin typeface="Arial MT"/>
              <a:cs typeface="Arial MT"/>
            </a:endParaRPr>
          </a:p>
          <a:p>
            <a:pPr marL="12700">
              <a:lnSpc>
                <a:spcPct val="100000"/>
              </a:lnSpc>
              <a:spcBef>
                <a:spcPts val="380"/>
              </a:spcBef>
            </a:pPr>
            <a:r>
              <a:rPr sz="1450" spc="-30" dirty="0">
                <a:latin typeface="Calibri"/>
                <a:cs typeface="Calibri"/>
              </a:rPr>
              <a:t>class</a:t>
            </a:r>
            <a:r>
              <a:rPr sz="1450" spc="35" dirty="0">
                <a:latin typeface="Calibri"/>
                <a:cs typeface="Calibri"/>
              </a:rPr>
              <a:t> </a:t>
            </a:r>
            <a:r>
              <a:rPr sz="1450" dirty="0">
                <a:latin typeface="Calibri"/>
                <a:cs typeface="Calibri"/>
              </a:rPr>
              <a:t>Sample</a:t>
            </a:r>
            <a:r>
              <a:rPr sz="1450" spc="55" dirty="0">
                <a:latin typeface="Calibri"/>
                <a:cs typeface="Calibri"/>
              </a:rPr>
              <a:t> </a:t>
            </a:r>
            <a:r>
              <a:rPr sz="1450" spc="-25" dirty="0">
                <a:latin typeface="Calibri"/>
                <a:cs typeface="Calibri"/>
              </a:rPr>
              <a:t>{</a:t>
            </a:r>
            <a:endParaRPr sz="1450">
              <a:latin typeface="Calibri"/>
              <a:cs typeface="Calibri"/>
            </a:endParaRPr>
          </a:p>
        </p:txBody>
      </p:sp>
      <p:sp>
        <p:nvSpPr>
          <p:cNvPr id="4" name="object 4"/>
          <p:cNvSpPr txBox="1"/>
          <p:nvPr/>
        </p:nvSpPr>
        <p:spPr>
          <a:xfrm>
            <a:off x="364661" y="1602519"/>
            <a:ext cx="3083560" cy="1938655"/>
          </a:xfrm>
          <a:prstGeom prst="rect">
            <a:avLst/>
          </a:prstGeom>
        </p:spPr>
        <p:txBody>
          <a:bodyPr vert="horz" wrap="square" lIns="0" tIns="64769" rIns="0" bIns="0" rtlCol="0">
            <a:spAutoFit/>
          </a:bodyPr>
          <a:lstStyle/>
          <a:p>
            <a:pPr marL="12700">
              <a:lnSpc>
                <a:spcPct val="100000"/>
              </a:lnSpc>
              <a:spcBef>
                <a:spcPts val="509"/>
              </a:spcBef>
            </a:pPr>
            <a:r>
              <a:rPr sz="1450" dirty="0">
                <a:latin typeface="Calibri"/>
                <a:cs typeface="Calibri"/>
              </a:rPr>
              <a:t>public</a:t>
            </a:r>
            <a:r>
              <a:rPr sz="1450" spc="85" dirty="0">
                <a:latin typeface="Calibri"/>
                <a:cs typeface="Calibri"/>
              </a:rPr>
              <a:t> </a:t>
            </a:r>
            <a:r>
              <a:rPr sz="1450" spc="-45" dirty="0">
                <a:latin typeface="Calibri"/>
                <a:cs typeface="Calibri"/>
              </a:rPr>
              <a:t>static</a:t>
            </a:r>
            <a:r>
              <a:rPr sz="1450" spc="10" dirty="0">
                <a:latin typeface="Calibri"/>
                <a:cs typeface="Calibri"/>
              </a:rPr>
              <a:t> </a:t>
            </a:r>
            <a:r>
              <a:rPr sz="1450" spc="-10" dirty="0">
                <a:latin typeface="Calibri"/>
                <a:cs typeface="Calibri"/>
              </a:rPr>
              <a:t>void</a:t>
            </a:r>
            <a:r>
              <a:rPr sz="1450" spc="85" dirty="0">
                <a:latin typeface="Calibri"/>
                <a:cs typeface="Calibri"/>
              </a:rPr>
              <a:t> </a:t>
            </a:r>
            <a:r>
              <a:rPr sz="1450" spc="-10" dirty="0">
                <a:latin typeface="Calibri"/>
                <a:cs typeface="Calibri"/>
              </a:rPr>
              <a:t>main(String</a:t>
            </a:r>
            <a:r>
              <a:rPr sz="1450" spc="55" dirty="0">
                <a:latin typeface="Calibri"/>
                <a:cs typeface="Calibri"/>
              </a:rPr>
              <a:t> </a:t>
            </a:r>
            <a:r>
              <a:rPr sz="1450" spc="-30" dirty="0">
                <a:latin typeface="Calibri"/>
                <a:cs typeface="Calibri"/>
              </a:rPr>
              <a:t>args[])</a:t>
            </a:r>
            <a:endParaRPr sz="1450">
              <a:latin typeface="Calibri"/>
              <a:cs typeface="Calibri"/>
            </a:endParaRPr>
          </a:p>
          <a:p>
            <a:pPr marL="255904">
              <a:lnSpc>
                <a:spcPct val="100000"/>
              </a:lnSpc>
              <a:spcBef>
                <a:spcPts val="420"/>
              </a:spcBef>
            </a:pPr>
            <a:r>
              <a:rPr sz="1450" spc="-25" dirty="0">
                <a:latin typeface="Calibri"/>
                <a:cs typeface="Calibri"/>
              </a:rPr>
              <a:t>{</a:t>
            </a:r>
            <a:endParaRPr sz="1450">
              <a:latin typeface="Calibri"/>
              <a:cs typeface="Calibri"/>
            </a:endParaRPr>
          </a:p>
          <a:p>
            <a:pPr marL="255904" marR="5080">
              <a:lnSpc>
                <a:spcPct val="122900"/>
              </a:lnSpc>
              <a:spcBef>
                <a:spcPts val="15"/>
              </a:spcBef>
            </a:pPr>
            <a:r>
              <a:rPr sz="1450" spc="-10" dirty="0">
                <a:latin typeface="Calibri"/>
                <a:cs typeface="Calibri"/>
              </a:rPr>
              <a:t>String</a:t>
            </a:r>
            <a:r>
              <a:rPr sz="1450" spc="55" dirty="0">
                <a:latin typeface="Calibri"/>
                <a:cs typeface="Calibri"/>
              </a:rPr>
              <a:t> </a:t>
            </a:r>
            <a:r>
              <a:rPr sz="1450" spc="25" dirty="0">
                <a:solidFill>
                  <a:srgbClr val="C00000"/>
                </a:solidFill>
                <a:latin typeface="Calibri"/>
                <a:cs typeface="Calibri"/>
              </a:rPr>
              <a:t>s</a:t>
            </a:r>
            <a:r>
              <a:rPr sz="1450" spc="25" dirty="0">
                <a:latin typeface="Calibri"/>
                <a:cs typeface="Calibri"/>
              </a:rPr>
              <a:t>=“Hello</a:t>
            </a:r>
            <a:r>
              <a:rPr sz="1450" spc="100" dirty="0">
                <a:latin typeface="Calibri"/>
                <a:cs typeface="Calibri"/>
              </a:rPr>
              <a:t> </a:t>
            </a:r>
            <a:r>
              <a:rPr sz="1450" spc="30" dirty="0">
                <a:latin typeface="Calibri"/>
                <a:cs typeface="Calibri"/>
              </a:rPr>
              <a:t>World”; </a:t>
            </a:r>
            <a:r>
              <a:rPr sz="1450" spc="35" dirty="0">
                <a:latin typeface="Calibri"/>
                <a:cs typeface="Calibri"/>
              </a:rPr>
              <a:t> </a:t>
            </a:r>
            <a:r>
              <a:rPr sz="1450" spc="-20" dirty="0">
                <a:latin typeface="Calibri"/>
                <a:cs typeface="Calibri"/>
              </a:rPr>
              <a:t>System.out.println(</a:t>
            </a:r>
            <a:r>
              <a:rPr sz="1450" b="1" spc="-20" dirty="0">
                <a:solidFill>
                  <a:srgbClr val="C00000"/>
                </a:solidFill>
                <a:latin typeface="Calibri"/>
                <a:cs typeface="Calibri"/>
              </a:rPr>
              <a:t>s</a:t>
            </a:r>
            <a:r>
              <a:rPr sz="1450" b="1" spc="-20" dirty="0">
                <a:solidFill>
                  <a:srgbClr val="0000CC"/>
                </a:solidFill>
                <a:latin typeface="Calibri"/>
                <a:cs typeface="Calibri"/>
              </a:rPr>
              <a:t>.</a:t>
            </a:r>
            <a:r>
              <a:rPr sz="1450" b="1" spc="145" dirty="0">
                <a:solidFill>
                  <a:srgbClr val="0000CC"/>
                </a:solidFill>
                <a:latin typeface="Calibri"/>
                <a:cs typeface="Calibri"/>
              </a:rPr>
              <a:t> </a:t>
            </a:r>
            <a:r>
              <a:rPr sz="1450" b="1" dirty="0">
                <a:solidFill>
                  <a:srgbClr val="0000CC"/>
                </a:solidFill>
                <a:latin typeface="Calibri"/>
                <a:cs typeface="Calibri"/>
              </a:rPr>
              <a:t>toUpperCase()</a:t>
            </a:r>
            <a:r>
              <a:rPr sz="1450" dirty="0">
                <a:latin typeface="Calibri"/>
                <a:cs typeface="Calibri"/>
              </a:rPr>
              <a:t>); </a:t>
            </a:r>
            <a:r>
              <a:rPr sz="1450" spc="-310" dirty="0">
                <a:latin typeface="Calibri"/>
                <a:cs typeface="Calibri"/>
              </a:rPr>
              <a:t> </a:t>
            </a:r>
            <a:r>
              <a:rPr sz="1450" spc="-20" dirty="0">
                <a:latin typeface="Calibri"/>
                <a:cs typeface="Calibri"/>
              </a:rPr>
              <a:t>System.out.println(</a:t>
            </a:r>
            <a:r>
              <a:rPr sz="1450" b="1" spc="-20" dirty="0">
                <a:solidFill>
                  <a:srgbClr val="C00000"/>
                </a:solidFill>
                <a:latin typeface="Calibri"/>
                <a:cs typeface="Calibri"/>
              </a:rPr>
              <a:t>s</a:t>
            </a:r>
            <a:r>
              <a:rPr sz="1450" b="1" spc="-20" dirty="0">
                <a:solidFill>
                  <a:srgbClr val="0000CC"/>
                </a:solidFill>
                <a:latin typeface="Calibri"/>
                <a:cs typeface="Calibri"/>
              </a:rPr>
              <a:t>.</a:t>
            </a:r>
            <a:r>
              <a:rPr sz="1450" b="1" spc="105" dirty="0">
                <a:solidFill>
                  <a:srgbClr val="0000CC"/>
                </a:solidFill>
                <a:latin typeface="Calibri"/>
                <a:cs typeface="Calibri"/>
              </a:rPr>
              <a:t> </a:t>
            </a:r>
            <a:r>
              <a:rPr sz="1450" b="1" dirty="0">
                <a:solidFill>
                  <a:srgbClr val="0000CC"/>
                </a:solidFill>
                <a:latin typeface="Calibri"/>
                <a:cs typeface="Calibri"/>
              </a:rPr>
              <a:t>toLowerCase()</a:t>
            </a:r>
            <a:r>
              <a:rPr sz="1450" dirty="0">
                <a:latin typeface="Calibri"/>
                <a:cs typeface="Calibri"/>
              </a:rPr>
              <a:t>);</a:t>
            </a:r>
            <a:endParaRPr sz="1450">
              <a:latin typeface="Calibri"/>
              <a:cs typeface="Calibri"/>
            </a:endParaRPr>
          </a:p>
          <a:p>
            <a:pPr marL="255904">
              <a:lnSpc>
                <a:spcPct val="100000"/>
              </a:lnSpc>
              <a:spcBef>
                <a:spcPts val="420"/>
              </a:spcBef>
            </a:pPr>
            <a:r>
              <a:rPr sz="1450" spc="-25" dirty="0">
                <a:latin typeface="Calibri"/>
                <a:cs typeface="Calibri"/>
              </a:rPr>
              <a:t>}</a:t>
            </a:r>
            <a:endParaRPr sz="1450">
              <a:latin typeface="Calibri"/>
              <a:cs typeface="Calibri"/>
            </a:endParaRPr>
          </a:p>
          <a:p>
            <a:pPr marL="12700">
              <a:lnSpc>
                <a:spcPct val="100000"/>
              </a:lnSpc>
              <a:spcBef>
                <a:spcPts val="420"/>
              </a:spcBef>
            </a:pPr>
            <a:r>
              <a:rPr sz="1450" spc="-25" dirty="0">
                <a:latin typeface="Calibri"/>
                <a:cs typeface="Calibri"/>
              </a:rPr>
              <a:t>}</a:t>
            </a:r>
            <a:endParaRPr sz="1450">
              <a:latin typeface="Calibri"/>
              <a:cs typeface="Calibri"/>
            </a:endParaRPr>
          </a:p>
        </p:txBody>
      </p:sp>
      <p:grpSp>
        <p:nvGrpSpPr>
          <p:cNvPr id="6" name="object 6"/>
          <p:cNvGrpSpPr/>
          <p:nvPr/>
        </p:nvGrpSpPr>
        <p:grpSpPr>
          <a:xfrm>
            <a:off x="4246067" y="1853726"/>
            <a:ext cx="1536065" cy="786130"/>
            <a:chOff x="4246067" y="1853726"/>
            <a:chExt cx="1536065" cy="786130"/>
          </a:xfrm>
        </p:grpSpPr>
        <p:pic>
          <p:nvPicPr>
            <p:cNvPr id="7" name="object 7"/>
            <p:cNvPicPr/>
            <p:nvPr/>
          </p:nvPicPr>
          <p:blipFill>
            <a:blip r:embed="rId3" cstate="print"/>
            <a:stretch>
              <a:fillRect/>
            </a:stretch>
          </p:blipFill>
          <p:spPr>
            <a:xfrm>
              <a:off x="4301808" y="1884135"/>
              <a:ext cx="1479901" cy="679133"/>
            </a:xfrm>
            <a:prstGeom prst="rect">
              <a:avLst/>
            </a:prstGeom>
          </p:spPr>
        </p:pic>
        <p:pic>
          <p:nvPicPr>
            <p:cNvPr id="8" name="object 8"/>
            <p:cNvPicPr/>
            <p:nvPr/>
          </p:nvPicPr>
          <p:blipFill>
            <a:blip r:embed="rId4" cstate="print"/>
            <a:stretch>
              <a:fillRect/>
            </a:stretch>
          </p:blipFill>
          <p:spPr>
            <a:xfrm>
              <a:off x="4246067" y="1853726"/>
              <a:ext cx="1490038" cy="785564"/>
            </a:xfrm>
            <a:prstGeom prst="rect">
              <a:avLst/>
            </a:prstGeom>
          </p:spPr>
        </p:pic>
        <p:pic>
          <p:nvPicPr>
            <p:cNvPr id="9" name="object 9"/>
            <p:cNvPicPr/>
            <p:nvPr/>
          </p:nvPicPr>
          <p:blipFill>
            <a:blip r:embed="rId5" cstate="print"/>
            <a:stretch>
              <a:fillRect/>
            </a:stretch>
          </p:blipFill>
          <p:spPr>
            <a:xfrm>
              <a:off x="4323768" y="1893428"/>
              <a:ext cx="1437665" cy="639431"/>
            </a:xfrm>
            <a:prstGeom prst="rect">
              <a:avLst/>
            </a:prstGeom>
          </p:spPr>
        </p:pic>
      </p:grpSp>
      <p:sp>
        <p:nvSpPr>
          <p:cNvPr id="10" name="object 10"/>
          <p:cNvSpPr txBox="1"/>
          <p:nvPr/>
        </p:nvSpPr>
        <p:spPr>
          <a:xfrm>
            <a:off x="4323768" y="1893428"/>
            <a:ext cx="1438275" cy="639445"/>
          </a:xfrm>
          <a:prstGeom prst="rect">
            <a:avLst/>
          </a:prstGeom>
          <a:ln w="5073">
            <a:solidFill>
              <a:srgbClr val="000000"/>
            </a:solidFill>
          </a:ln>
        </p:spPr>
        <p:txBody>
          <a:bodyPr vert="horz" wrap="square" lIns="0" tIns="17780" rIns="0" bIns="0" rtlCol="0">
            <a:spAutoFit/>
          </a:bodyPr>
          <a:lstStyle/>
          <a:p>
            <a:pPr marL="51435" marR="186690">
              <a:lnSpc>
                <a:spcPct val="103899"/>
              </a:lnSpc>
              <a:spcBef>
                <a:spcPts val="140"/>
              </a:spcBef>
            </a:pPr>
            <a:r>
              <a:rPr sz="1250" spc="10" dirty="0">
                <a:solidFill>
                  <a:srgbClr val="C00000"/>
                </a:solidFill>
                <a:latin typeface="Arial MT"/>
                <a:cs typeface="Arial MT"/>
              </a:rPr>
              <a:t>OUTPUT </a:t>
            </a:r>
            <a:r>
              <a:rPr sz="1250" spc="15" dirty="0">
                <a:solidFill>
                  <a:srgbClr val="C00000"/>
                </a:solidFill>
                <a:latin typeface="Arial MT"/>
                <a:cs typeface="Arial MT"/>
              </a:rPr>
              <a:t> </a:t>
            </a:r>
            <a:r>
              <a:rPr sz="1250" spc="15" dirty="0">
                <a:latin typeface="Arial MT"/>
                <a:cs typeface="Arial MT"/>
              </a:rPr>
              <a:t>HELLO</a:t>
            </a:r>
            <a:r>
              <a:rPr sz="1250" spc="-80" dirty="0">
                <a:latin typeface="Arial MT"/>
                <a:cs typeface="Arial MT"/>
              </a:rPr>
              <a:t> </a:t>
            </a:r>
            <a:r>
              <a:rPr sz="1250" spc="35" dirty="0">
                <a:latin typeface="Arial MT"/>
                <a:cs typeface="Arial MT"/>
              </a:rPr>
              <a:t>WORLD</a:t>
            </a:r>
            <a:endParaRPr sz="1250">
              <a:latin typeface="Arial MT"/>
              <a:cs typeface="Arial MT"/>
            </a:endParaRPr>
          </a:p>
          <a:p>
            <a:pPr marL="51435">
              <a:lnSpc>
                <a:spcPct val="100000"/>
              </a:lnSpc>
              <a:spcBef>
                <a:spcPts val="20"/>
              </a:spcBef>
            </a:pPr>
            <a:r>
              <a:rPr sz="1250" dirty="0">
                <a:latin typeface="Arial MT"/>
                <a:cs typeface="Arial MT"/>
              </a:rPr>
              <a:t>hello</a:t>
            </a:r>
            <a:r>
              <a:rPr sz="1250" spc="10" dirty="0">
                <a:latin typeface="Arial MT"/>
                <a:cs typeface="Arial MT"/>
              </a:rPr>
              <a:t> </a:t>
            </a:r>
            <a:r>
              <a:rPr sz="1250" spc="5" dirty="0">
                <a:latin typeface="Arial MT"/>
                <a:cs typeface="Arial MT"/>
              </a:rPr>
              <a:t>world</a:t>
            </a:r>
            <a:endParaRPr sz="1250">
              <a:latin typeface="Arial MT"/>
              <a:cs typeface="Arial MT"/>
            </a:endParaRPr>
          </a:p>
        </p:txBody>
      </p:sp>
      <p:sp>
        <p:nvSpPr>
          <p:cNvPr id="11" name="object 11"/>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p:nvPr/>
        </p:nvSpPr>
        <p:spPr>
          <a:xfrm>
            <a:off x="364664" y="1205577"/>
            <a:ext cx="5747385" cy="1108075"/>
          </a:xfrm>
          <a:prstGeom prst="rect">
            <a:avLst/>
          </a:prstGeom>
        </p:spPr>
        <p:txBody>
          <a:bodyPr vert="horz" wrap="square" lIns="0" tIns="70485" rIns="0" bIns="0" rtlCol="0">
            <a:spAutoFit/>
          </a:bodyPr>
          <a:lstStyle/>
          <a:p>
            <a:pPr marL="194945" indent="-182880">
              <a:lnSpc>
                <a:spcPct val="100000"/>
              </a:lnSpc>
              <a:spcBef>
                <a:spcPts val="555"/>
              </a:spcBef>
              <a:buChar char="•"/>
              <a:tabLst>
                <a:tab pos="195580" algn="l"/>
              </a:tabLst>
            </a:pPr>
            <a:r>
              <a:rPr sz="1700" spc="10" dirty="0">
                <a:latin typeface="Arial MT"/>
                <a:cs typeface="Arial MT"/>
              </a:rPr>
              <a:t>indexOf()</a:t>
            </a:r>
            <a:endParaRPr sz="1700" dirty="0">
              <a:latin typeface="Arial MT"/>
              <a:cs typeface="Arial MT"/>
            </a:endParaRPr>
          </a:p>
          <a:p>
            <a:pPr marL="407670" marR="5080" indent="-152400">
              <a:lnSpc>
                <a:spcPct val="103299"/>
              </a:lnSpc>
              <a:spcBef>
                <a:spcPts val="350"/>
              </a:spcBef>
            </a:pPr>
            <a:r>
              <a:rPr sz="1450" spc="15" dirty="0">
                <a:latin typeface="Arial MT"/>
                <a:cs typeface="Arial MT"/>
              </a:rPr>
              <a:t>–</a:t>
            </a:r>
            <a:r>
              <a:rPr sz="1450" spc="-30" dirty="0">
                <a:latin typeface="Arial MT"/>
                <a:cs typeface="Arial MT"/>
              </a:rPr>
              <a:t> </a:t>
            </a:r>
            <a:r>
              <a:rPr sz="1450" spc="20" dirty="0">
                <a:latin typeface="Arial MT"/>
                <a:cs typeface="Arial MT"/>
              </a:rPr>
              <a:t>The</a:t>
            </a:r>
            <a:r>
              <a:rPr sz="1450" spc="10" dirty="0">
                <a:latin typeface="Arial MT"/>
                <a:cs typeface="Arial MT"/>
              </a:rPr>
              <a:t> </a:t>
            </a:r>
            <a:r>
              <a:rPr sz="1450" spc="-5" dirty="0">
                <a:latin typeface="Arial MT"/>
                <a:cs typeface="Arial MT"/>
              </a:rPr>
              <a:t>indexOf()</a:t>
            </a:r>
            <a:r>
              <a:rPr sz="1450" spc="180" dirty="0">
                <a:latin typeface="Arial MT"/>
                <a:cs typeface="Arial MT"/>
              </a:rPr>
              <a:t> </a:t>
            </a:r>
            <a:r>
              <a:rPr sz="1450" spc="10" dirty="0">
                <a:latin typeface="Arial MT"/>
                <a:cs typeface="Arial MT"/>
              </a:rPr>
              <a:t>method</a:t>
            </a:r>
            <a:r>
              <a:rPr sz="1450" spc="45" dirty="0">
                <a:latin typeface="Arial MT"/>
                <a:cs typeface="Arial MT"/>
              </a:rPr>
              <a:t> </a:t>
            </a:r>
            <a:r>
              <a:rPr sz="1450" spc="5" dirty="0">
                <a:latin typeface="Arial MT"/>
                <a:cs typeface="Arial MT"/>
              </a:rPr>
              <a:t>returns</a:t>
            </a:r>
            <a:r>
              <a:rPr sz="1450" spc="90" dirty="0">
                <a:latin typeface="Arial MT"/>
                <a:cs typeface="Arial MT"/>
              </a:rPr>
              <a:t> </a:t>
            </a:r>
            <a:r>
              <a:rPr sz="1450" spc="10" dirty="0">
                <a:latin typeface="Arial MT"/>
                <a:cs typeface="Arial MT"/>
              </a:rPr>
              <a:t>the</a:t>
            </a:r>
            <a:r>
              <a:rPr sz="1450" spc="15" dirty="0">
                <a:latin typeface="Arial MT"/>
                <a:cs typeface="Arial MT"/>
              </a:rPr>
              <a:t> </a:t>
            </a:r>
            <a:r>
              <a:rPr sz="1450" dirty="0">
                <a:latin typeface="Arial MT"/>
                <a:cs typeface="Arial MT"/>
              </a:rPr>
              <a:t>index</a:t>
            </a:r>
            <a:r>
              <a:rPr sz="1450" spc="90" dirty="0">
                <a:latin typeface="Arial MT"/>
                <a:cs typeface="Arial MT"/>
              </a:rPr>
              <a:t> </a:t>
            </a:r>
            <a:r>
              <a:rPr sz="1450" spc="5" dirty="0">
                <a:latin typeface="Arial MT"/>
                <a:cs typeface="Arial MT"/>
              </a:rPr>
              <a:t>(the</a:t>
            </a:r>
            <a:r>
              <a:rPr sz="1450" spc="50" dirty="0">
                <a:latin typeface="Arial MT"/>
                <a:cs typeface="Arial MT"/>
              </a:rPr>
              <a:t> </a:t>
            </a:r>
            <a:r>
              <a:rPr sz="1450" dirty="0">
                <a:latin typeface="Arial MT"/>
                <a:cs typeface="Arial MT"/>
              </a:rPr>
              <a:t>position)</a:t>
            </a:r>
            <a:r>
              <a:rPr sz="1450" spc="140" dirty="0">
                <a:latin typeface="Arial MT"/>
                <a:cs typeface="Arial MT"/>
              </a:rPr>
              <a:t> </a:t>
            </a:r>
            <a:r>
              <a:rPr sz="1450" spc="15" dirty="0">
                <a:latin typeface="Arial MT"/>
                <a:cs typeface="Arial MT"/>
              </a:rPr>
              <a:t>of</a:t>
            </a:r>
            <a:r>
              <a:rPr sz="1450" spc="-15" dirty="0">
                <a:latin typeface="Arial MT"/>
                <a:cs typeface="Arial MT"/>
              </a:rPr>
              <a:t> </a:t>
            </a:r>
            <a:r>
              <a:rPr sz="1450" spc="10" dirty="0">
                <a:latin typeface="Arial MT"/>
                <a:cs typeface="Arial MT"/>
              </a:rPr>
              <a:t>the</a:t>
            </a:r>
            <a:r>
              <a:rPr sz="1450" spc="50" dirty="0">
                <a:latin typeface="Arial MT"/>
                <a:cs typeface="Arial MT"/>
              </a:rPr>
              <a:t> </a:t>
            </a:r>
            <a:r>
              <a:rPr sz="1450" spc="-15" dirty="0">
                <a:latin typeface="Arial MT"/>
                <a:cs typeface="Arial MT"/>
              </a:rPr>
              <a:t>first </a:t>
            </a:r>
            <a:r>
              <a:rPr sz="1450" spc="-385" dirty="0">
                <a:latin typeface="Arial MT"/>
                <a:cs typeface="Arial MT"/>
              </a:rPr>
              <a:t> </a:t>
            </a:r>
            <a:r>
              <a:rPr sz="1450" spc="15" dirty="0">
                <a:latin typeface="Arial MT"/>
                <a:cs typeface="Arial MT"/>
              </a:rPr>
              <a:t>occurrence</a:t>
            </a:r>
            <a:r>
              <a:rPr sz="1450" spc="5" dirty="0">
                <a:latin typeface="Arial MT"/>
                <a:cs typeface="Arial MT"/>
              </a:rPr>
              <a:t> </a:t>
            </a:r>
            <a:r>
              <a:rPr sz="1450" spc="15" dirty="0">
                <a:latin typeface="Arial MT"/>
                <a:cs typeface="Arial MT"/>
              </a:rPr>
              <a:t>of</a:t>
            </a:r>
            <a:r>
              <a:rPr sz="1450" spc="20" dirty="0">
                <a:latin typeface="Arial MT"/>
                <a:cs typeface="Arial MT"/>
              </a:rPr>
              <a:t> </a:t>
            </a:r>
            <a:r>
              <a:rPr sz="1450" spc="15" dirty="0">
                <a:latin typeface="Arial MT"/>
                <a:cs typeface="Arial MT"/>
              </a:rPr>
              <a:t>a</a:t>
            </a:r>
            <a:r>
              <a:rPr sz="1450" spc="10" dirty="0">
                <a:latin typeface="Arial MT"/>
                <a:cs typeface="Arial MT"/>
              </a:rPr>
              <a:t> </a:t>
            </a:r>
            <a:r>
              <a:rPr sz="1450" spc="-10" dirty="0">
                <a:latin typeface="Arial MT"/>
                <a:cs typeface="Arial MT"/>
              </a:rPr>
              <a:t>specified</a:t>
            </a:r>
            <a:r>
              <a:rPr sz="1450" spc="204" dirty="0">
                <a:latin typeface="Arial MT"/>
                <a:cs typeface="Arial MT"/>
              </a:rPr>
              <a:t> </a:t>
            </a:r>
            <a:r>
              <a:rPr sz="1450" spc="-15" dirty="0">
                <a:latin typeface="Arial MT"/>
                <a:cs typeface="Arial MT"/>
              </a:rPr>
              <a:t>text</a:t>
            </a:r>
            <a:r>
              <a:rPr sz="1450" spc="140" dirty="0">
                <a:latin typeface="Arial MT"/>
                <a:cs typeface="Arial MT"/>
              </a:rPr>
              <a:t> </a:t>
            </a:r>
            <a:r>
              <a:rPr sz="1450" spc="-15" dirty="0">
                <a:latin typeface="Arial MT"/>
                <a:cs typeface="Arial MT"/>
              </a:rPr>
              <a:t>in</a:t>
            </a:r>
            <a:r>
              <a:rPr sz="1450" spc="40" dirty="0">
                <a:latin typeface="Arial MT"/>
                <a:cs typeface="Arial MT"/>
              </a:rPr>
              <a:t> </a:t>
            </a:r>
            <a:r>
              <a:rPr sz="1450" spc="15" dirty="0">
                <a:latin typeface="Arial MT"/>
                <a:cs typeface="Arial MT"/>
              </a:rPr>
              <a:t>a</a:t>
            </a:r>
            <a:r>
              <a:rPr sz="1450" spc="10" dirty="0">
                <a:latin typeface="Arial MT"/>
                <a:cs typeface="Arial MT"/>
              </a:rPr>
              <a:t> </a:t>
            </a:r>
            <a:r>
              <a:rPr sz="1450" spc="-5" dirty="0">
                <a:latin typeface="Arial MT"/>
                <a:cs typeface="Arial MT"/>
              </a:rPr>
              <a:t>string</a:t>
            </a:r>
            <a:r>
              <a:rPr sz="1450" spc="125" dirty="0">
                <a:latin typeface="Arial MT"/>
                <a:cs typeface="Arial MT"/>
              </a:rPr>
              <a:t> </a:t>
            </a:r>
            <a:r>
              <a:rPr sz="1450" dirty="0">
                <a:latin typeface="Arial MT"/>
                <a:cs typeface="Arial MT"/>
              </a:rPr>
              <a:t>(including</a:t>
            </a:r>
            <a:r>
              <a:rPr sz="1450" spc="165" dirty="0">
                <a:latin typeface="Arial MT"/>
                <a:cs typeface="Arial MT"/>
              </a:rPr>
              <a:t> </a:t>
            </a:r>
            <a:r>
              <a:rPr sz="1450" dirty="0">
                <a:latin typeface="Arial MT"/>
                <a:cs typeface="Arial MT"/>
              </a:rPr>
              <a:t>whitespace)</a:t>
            </a:r>
          </a:p>
          <a:p>
            <a:pPr marL="12700">
              <a:lnSpc>
                <a:spcPct val="100000"/>
              </a:lnSpc>
              <a:spcBef>
                <a:spcPts val="335"/>
              </a:spcBef>
            </a:pPr>
            <a:r>
              <a:rPr sz="1450" spc="-40" dirty="0">
                <a:latin typeface="Times New Roman"/>
                <a:cs typeface="Times New Roman"/>
              </a:rPr>
              <a:t>class</a:t>
            </a:r>
            <a:r>
              <a:rPr sz="1450" spc="5" dirty="0">
                <a:latin typeface="Times New Roman"/>
                <a:cs typeface="Times New Roman"/>
              </a:rPr>
              <a:t> </a:t>
            </a:r>
            <a:r>
              <a:rPr sz="1450" dirty="0">
                <a:latin typeface="Times New Roman"/>
                <a:cs typeface="Times New Roman"/>
              </a:rPr>
              <a:t>Sample</a:t>
            </a:r>
            <a:r>
              <a:rPr sz="1450" spc="20" dirty="0">
                <a:latin typeface="Times New Roman"/>
                <a:cs typeface="Times New Roman"/>
              </a:rPr>
              <a:t> </a:t>
            </a:r>
            <a:r>
              <a:rPr sz="1450" spc="-265" dirty="0">
                <a:latin typeface="Times New Roman"/>
                <a:cs typeface="Times New Roman"/>
              </a:rPr>
              <a:t>{</a:t>
            </a:r>
            <a:endParaRPr sz="1450" dirty="0">
              <a:latin typeface="Times New Roman"/>
              <a:cs typeface="Times New Roman"/>
            </a:endParaRPr>
          </a:p>
        </p:txBody>
      </p:sp>
      <p:sp>
        <p:nvSpPr>
          <p:cNvPr id="4" name="object 4"/>
          <p:cNvSpPr txBox="1"/>
          <p:nvPr/>
        </p:nvSpPr>
        <p:spPr>
          <a:xfrm>
            <a:off x="364664" y="2288041"/>
            <a:ext cx="3043555" cy="1664970"/>
          </a:xfrm>
          <a:prstGeom prst="rect">
            <a:avLst/>
          </a:prstGeom>
        </p:spPr>
        <p:txBody>
          <a:bodyPr vert="horz" wrap="square" lIns="0" tIns="64769" rIns="0" bIns="0" rtlCol="0">
            <a:spAutoFit/>
          </a:bodyPr>
          <a:lstStyle/>
          <a:p>
            <a:pPr marL="12700">
              <a:lnSpc>
                <a:spcPct val="100000"/>
              </a:lnSpc>
              <a:spcBef>
                <a:spcPts val="509"/>
              </a:spcBef>
            </a:pPr>
            <a:r>
              <a:rPr sz="1450" spc="-10" dirty="0">
                <a:latin typeface="Times New Roman"/>
                <a:cs typeface="Times New Roman"/>
              </a:rPr>
              <a:t>public</a:t>
            </a:r>
            <a:r>
              <a:rPr sz="1450" spc="50" dirty="0">
                <a:latin typeface="Times New Roman"/>
                <a:cs typeface="Times New Roman"/>
              </a:rPr>
              <a:t> </a:t>
            </a:r>
            <a:r>
              <a:rPr sz="1450" spc="-25" dirty="0">
                <a:latin typeface="Times New Roman"/>
                <a:cs typeface="Times New Roman"/>
              </a:rPr>
              <a:t>static</a:t>
            </a:r>
            <a:r>
              <a:rPr sz="1450" spc="-20" dirty="0">
                <a:latin typeface="Times New Roman"/>
                <a:cs typeface="Times New Roman"/>
              </a:rPr>
              <a:t> </a:t>
            </a:r>
            <a:r>
              <a:rPr sz="1450" spc="-25" dirty="0">
                <a:latin typeface="Times New Roman"/>
                <a:cs typeface="Times New Roman"/>
              </a:rPr>
              <a:t>void</a:t>
            </a:r>
            <a:r>
              <a:rPr sz="1450" spc="55" dirty="0">
                <a:latin typeface="Times New Roman"/>
                <a:cs typeface="Times New Roman"/>
              </a:rPr>
              <a:t> </a:t>
            </a:r>
            <a:r>
              <a:rPr sz="1450" spc="-20" dirty="0">
                <a:latin typeface="Times New Roman"/>
                <a:cs typeface="Times New Roman"/>
              </a:rPr>
              <a:t>main(String</a:t>
            </a:r>
            <a:r>
              <a:rPr sz="1450" spc="25" dirty="0">
                <a:latin typeface="Times New Roman"/>
                <a:cs typeface="Times New Roman"/>
              </a:rPr>
              <a:t> </a:t>
            </a:r>
            <a:r>
              <a:rPr sz="1450" spc="-45" dirty="0">
                <a:latin typeface="Times New Roman"/>
                <a:cs typeface="Times New Roman"/>
              </a:rPr>
              <a:t>args[])</a:t>
            </a:r>
            <a:endParaRPr sz="1450" dirty="0">
              <a:latin typeface="Times New Roman"/>
              <a:cs typeface="Times New Roman"/>
            </a:endParaRPr>
          </a:p>
          <a:p>
            <a:pPr marL="255904">
              <a:lnSpc>
                <a:spcPct val="100000"/>
              </a:lnSpc>
              <a:spcBef>
                <a:spcPts val="420"/>
              </a:spcBef>
            </a:pPr>
            <a:r>
              <a:rPr sz="1450" spc="-265" dirty="0">
                <a:latin typeface="Times New Roman"/>
                <a:cs typeface="Times New Roman"/>
              </a:rPr>
              <a:t>{</a:t>
            </a:r>
            <a:endParaRPr sz="1450" dirty="0">
              <a:latin typeface="Times New Roman"/>
              <a:cs typeface="Times New Roman"/>
            </a:endParaRPr>
          </a:p>
          <a:p>
            <a:pPr marL="255904">
              <a:lnSpc>
                <a:spcPct val="100000"/>
              </a:lnSpc>
              <a:spcBef>
                <a:spcPts val="420"/>
              </a:spcBef>
            </a:pPr>
            <a:r>
              <a:rPr sz="1450" spc="-30" dirty="0">
                <a:latin typeface="Times New Roman"/>
                <a:cs typeface="Times New Roman"/>
              </a:rPr>
              <a:t>String</a:t>
            </a:r>
            <a:r>
              <a:rPr sz="1450" spc="20" dirty="0">
                <a:latin typeface="Times New Roman"/>
                <a:cs typeface="Times New Roman"/>
              </a:rPr>
              <a:t> </a:t>
            </a:r>
            <a:r>
              <a:rPr sz="1450" spc="25" dirty="0">
                <a:solidFill>
                  <a:srgbClr val="C00000"/>
                </a:solidFill>
                <a:latin typeface="Times New Roman"/>
                <a:cs typeface="Times New Roman"/>
              </a:rPr>
              <a:t>s</a:t>
            </a:r>
            <a:r>
              <a:rPr sz="1450" spc="25" dirty="0">
                <a:latin typeface="Calibri"/>
                <a:cs typeface="Calibri"/>
              </a:rPr>
              <a:t>=“I</a:t>
            </a:r>
            <a:r>
              <a:rPr sz="1450" spc="90" dirty="0">
                <a:latin typeface="Calibri"/>
                <a:cs typeface="Calibri"/>
              </a:rPr>
              <a:t> </a:t>
            </a:r>
            <a:r>
              <a:rPr sz="1450" spc="-20" dirty="0">
                <a:latin typeface="Calibri"/>
                <a:cs typeface="Calibri"/>
              </a:rPr>
              <a:t>am</a:t>
            </a:r>
            <a:r>
              <a:rPr sz="1450" spc="35" dirty="0">
                <a:latin typeface="Calibri"/>
                <a:cs typeface="Calibri"/>
              </a:rPr>
              <a:t> </a:t>
            </a:r>
            <a:r>
              <a:rPr sz="1450" spc="10" dirty="0">
                <a:latin typeface="Calibri"/>
                <a:cs typeface="Calibri"/>
              </a:rPr>
              <a:t>fine.I</a:t>
            </a:r>
            <a:r>
              <a:rPr sz="1450" spc="90" dirty="0">
                <a:latin typeface="Calibri"/>
                <a:cs typeface="Calibri"/>
              </a:rPr>
              <a:t> </a:t>
            </a:r>
            <a:r>
              <a:rPr sz="1450" spc="-20" dirty="0">
                <a:latin typeface="Calibri"/>
                <a:cs typeface="Calibri"/>
              </a:rPr>
              <a:t>am</a:t>
            </a:r>
            <a:r>
              <a:rPr sz="1450" spc="35" dirty="0">
                <a:latin typeface="Calibri"/>
                <a:cs typeface="Calibri"/>
              </a:rPr>
              <a:t> </a:t>
            </a:r>
            <a:r>
              <a:rPr sz="1450" dirty="0">
                <a:latin typeface="Calibri"/>
                <a:cs typeface="Calibri"/>
              </a:rPr>
              <a:t>ok”;</a:t>
            </a:r>
          </a:p>
          <a:p>
            <a:pPr marL="255904">
              <a:lnSpc>
                <a:spcPct val="100000"/>
              </a:lnSpc>
              <a:spcBef>
                <a:spcPts val="375"/>
              </a:spcBef>
            </a:pPr>
            <a:r>
              <a:rPr sz="1450" spc="-5" dirty="0">
                <a:latin typeface="Times New Roman"/>
                <a:cs typeface="Times New Roman"/>
              </a:rPr>
              <a:t>System.out.println(</a:t>
            </a:r>
            <a:r>
              <a:rPr sz="1450" b="1" spc="-5" dirty="0">
                <a:solidFill>
                  <a:srgbClr val="C00000"/>
                </a:solidFill>
                <a:latin typeface="Calibri"/>
                <a:cs typeface="Calibri"/>
              </a:rPr>
              <a:t>s</a:t>
            </a:r>
            <a:r>
              <a:rPr sz="1450" b="1" spc="-5" dirty="0">
                <a:solidFill>
                  <a:srgbClr val="0000CC"/>
                </a:solidFill>
                <a:latin typeface="Calibri"/>
                <a:cs typeface="Calibri"/>
              </a:rPr>
              <a:t>.indexOf</a:t>
            </a:r>
            <a:r>
              <a:rPr sz="1450" b="1" spc="-5" dirty="0">
                <a:latin typeface="Calibri"/>
                <a:cs typeface="Calibri"/>
              </a:rPr>
              <a:t>(“am”)</a:t>
            </a:r>
            <a:r>
              <a:rPr sz="1450" spc="-5" dirty="0">
                <a:solidFill>
                  <a:srgbClr val="0000CC"/>
                </a:solidFill>
                <a:latin typeface="Times New Roman"/>
                <a:cs typeface="Times New Roman"/>
              </a:rPr>
              <a:t>);</a:t>
            </a:r>
            <a:endParaRPr sz="1450" dirty="0">
              <a:latin typeface="Times New Roman"/>
              <a:cs typeface="Times New Roman"/>
            </a:endParaRPr>
          </a:p>
          <a:p>
            <a:pPr marL="255904">
              <a:lnSpc>
                <a:spcPct val="100000"/>
              </a:lnSpc>
              <a:spcBef>
                <a:spcPts val="420"/>
              </a:spcBef>
            </a:pPr>
            <a:r>
              <a:rPr sz="1450" spc="-265" dirty="0">
                <a:latin typeface="Times New Roman"/>
                <a:cs typeface="Times New Roman"/>
              </a:rPr>
              <a:t>}</a:t>
            </a:r>
            <a:endParaRPr sz="1450" dirty="0">
              <a:latin typeface="Times New Roman"/>
              <a:cs typeface="Times New Roman"/>
            </a:endParaRPr>
          </a:p>
          <a:p>
            <a:pPr marL="12700">
              <a:lnSpc>
                <a:spcPct val="100000"/>
              </a:lnSpc>
              <a:spcBef>
                <a:spcPts val="415"/>
              </a:spcBef>
            </a:pPr>
            <a:r>
              <a:rPr sz="1450" spc="-265" dirty="0">
                <a:latin typeface="Times New Roman"/>
                <a:cs typeface="Times New Roman"/>
              </a:rPr>
              <a:t>}</a:t>
            </a:r>
            <a:endParaRPr sz="1450" dirty="0">
              <a:latin typeface="Times New Roman"/>
              <a:cs typeface="Times New Roman"/>
            </a:endParaRPr>
          </a:p>
        </p:txBody>
      </p:sp>
      <p:grpSp>
        <p:nvGrpSpPr>
          <p:cNvPr id="6" name="object 6"/>
          <p:cNvGrpSpPr/>
          <p:nvPr/>
        </p:nvGrpSpPr>
        <p:grpSpPr>
          <a:xfrm>
            <a:off x="5041759" y="2473298"/>
            <a:ext cx="1231900" cy="593090"/>
            <a:chOff x="5041759" y="2473298"/>
            <a:chExt cx="1231900" cy="593090"/>
          </a:xfrm>
        </p:grpSpPr>
        <p:pic>
          <p:nvPicPr>
            <p:cNvPr id="7" name="object 7"/>
            <p:cNvPicPr/>
            <p:nvPr/>
          </p:nvPicPr>
          <p:blipFill>
            <a:blip r:embed="rId3" cstate="print"/>
            <a:stretch>
              <a:fillRect/>
            </a:stretch>
          </p:blipFill>
          <p:spPr>
            <a:xfrm>
              <a:off x="5102585" y="2503707"/>
              <a:ext cx="1170744" cy="481474"/>
            </a:xfrm>
            <a:prstGeom prst="rect">
              <a:avLst/>
            </a:prstGeom>
          </p:spPr>
        </p:pic>
        <p:pic>
          <p:nvPicPr>
            <p:cNvPr id="8" name="object 8"/>
            <p:cNvPicPr/>
            <p:nvPr/>
          </p:nvPicPr>
          <p:blipFill>
            <a:blip r:embed="rId4" cstate="print"/>
            <a:stretch>
              <a:fillRect/>
            </a:stretch>
          </p:blipFill>
          <p:spPr>
            <a:xfrm>
              <a:off x="5041759" y="2473298"/>
              <a:ext cx="957881" cy="592974"/>
            </a:xfrm>
            <a:prstGeom prst="rect">
              <a:avLst/>
            </a:prstGeom>
          </p:spPr>
        </p:pic>
        <p:pic>
          <p:nvPicPr>
            <p:cNvPr id="9" name="object 9"/>
            <p:cNvPicPr/>
            <p:nvPr/>
          </p:nvPicPr>
          <p:blipFill>
            <a:blip r:embed="rId5" cstate="print"/>
            <a:stretch>
              <a:fillRect/>
            </a:stretch>
          </p:blipFill>
          <p:spPr>
            <a:xfrm>
              <a:off x="5120352" y="2513033"/>
              <a:ext cx="1135267" cy="442621"/>
            </a:xfrm>
            <a:prstGeom prst="rect">
              <a:avLst/>
            </a:prstGeom>
          </p:spPr>
        </p:pic>
      </p:grpSp>
      <p:sp>
        <p:nvSpPr>
          <p:cNvPr id="10" name="object 10"/>
          <p:cNvSpPr txBox="1"/>
          <p:nvPr/>
        </p:nvSpPr>
        <p:spPr>
          <a:xfrm>
            <a:off x="5120352" y="2513033"/>
            <a:ext cx="1135380" cy="443230"/>
          </a:xfrm>
          <a:prstGeom prst="rect">
            <a:avLst/>
          </a:prstGeom>
          <a:ln w="5073">
            <a:solidFill>
              <a:srgbClr val="000000"/>
            </a:solidFill>
          </a:ln>
        </p:spPr>
        <p:txBody>
          <a:bodyPr vert="horz" wrap="square" lIns="0" tIns="25400" rIns="0" bIns="0" rtlCol="0">
            <a:spAutoFit/>
          </a:bodyPr>
          <a:lstStyle/>
          <a:p>
            <a:pPr marL="52069">
              <a:lnSpc>
                <a:spcPct val="100000"/>
              </a:lnSpc>
              <a:spcBef>
                <a:spcPts val="200"/>
              </a:spcBef>
            </a:pPr>
            <a:r>
              <a:rPr sz="1250" spc="10" dirty="0">
                <a:solidFill>
                  <a:srgbClr val="C00000"/>
                </a:solidFill>
                <a:latin typeface="Arial MT"/>
                <a:cs typeface="Arial MT"/>
              </a:rPr>
              <a:t>OUTPUT</a:t>
            </a:r>
            <a:endParaRPr sz="1250">
              <a:latin typeface="Arial MT"/>
              <a:cs typeface="Arial MT"/>
            </a:endParaRPr>
          </a:p>
          <a:p>
            <a:pPr marL="52069">
              <a:lnSpc>
                <a:spcPct val="100000"/>
              </a:lnSpc>
              <a:spcBef>
                <a:spcPts val="55"/>
              </a:spcBef>
            </a:pPr>
            <a:r>
              <a:rPr sz="1250" spc="15" dirty="0">
                <a:latin typeface="Arial MT"/>
                <a:cs typeface="Arial MT"/>
              </a:rPr>
              <a:t>2</a:t>
            </a:r>
            <a:endParaRPr sz="1250">
              <a:latin typeface="Arial MT"/>
              <a:cs typeface="Arial MT"/>
            </a:endParaRPr>
          </a:p>
        </p:txBody>
      </p:sp>
      <p:sp>
        <p:nvSpPr>
          <p:cNvPr id="11" name="object 11"/>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176167"/>
            <a:ext cx="6487240" cy="684201"/>
          </a:xfrm>
          <a:prstGeom prst="rect">
            <a:avLst/>
          </a:prstGeom>
        </p:spPr>
      </p:pic>
      <p:sp>
        <p:nvSpPr>
          <p:cNvPr id="3" name="object 3"/>
          <p:cNvSpPr txBox="1"/>
          <p:nvPr/>
        </p:nvSpPr>
        <p:spPr>
          <a:xfrm>
            <a:off x="320742" y="655117"/>
            <a:ext cx="5605780" cy="1504315"/>
          </a:xfrm>
          <a:prstGeom prst="rect">
            <a:avLst/>
          </a:prstGeom>
        </p:spPr>
        <p:txBody>
          <a:bodyPr vert="horz" wrap="square" lIns="0" tIns="66675" rIns="0" bIns="0" rtlCol="0">
            <a:spAutoFit/>
          </a:bodyPr>
          <a:lstStyle/>
          <a:p>
            <a:pPr marL="194945" indent="-182880">
              <a:lnSpc>
                <a:spcPct val="100000"/>
              </a:lnSpc>
              <a:spcBef>
                <a:spcPts val="525"/>
              </a:spcBef>
              <a:buChar char="•"/>
              <a:tabLst>
                <a:tab pos="195580" algn="l"/>
              </a:tabLst>
            </a:pPr>
            <a:r>
              <a:rPr sz="1450" dirty="0">
                <a:latin typeface="Arial MT"/>
                <a:cs typeface="Arial MT"/>
              </a:rPr>
              <a:t>String</a:t>
            </a:r>
            <a:r>
              <a:rPr sz="1450" spc="55" dirty="0">
                <a:latin typeface="Arial MT"/>
                <a:cs typeface="Arial MT"/>
              </a:rPr>
              <a:t> </a:t>
            </a:r>
            <a:r>
              <a:rPr sz="1450" spc="5" dirty="0">
                <a:latin typeface="Arial MT"/>
                <a:cs typeface="Arial MT"/>
              </a:rPr>
              <a:t>concatenation</a:t>
            </a:r>
            <a:endParaRPr sz="1450" dirty="0">
              <a:latin typeface="Arial MT"/>
              <a:cs typeface="Arial MT"/>
            </a:endParaRPr>
          </a:p>
          <a:p>
            <a:pPr marL="407670" lvl="1" indent="-152400">
              <a:lnSpc>
                <a:spcPct val="100000"/>
              </a:lnSpc>
              <a:spcBef>
                <a:spcPts val="375"/>
              </a:spcBef>
              <a:buChar char="–"/>
              <a:tabLst>
                <a:tab pos="408305" algn="l"/>
              </a:tabLst>
            </a:pPr>
            <a:r>
              <a:rPr sz="1250" spc="5" dirty="0">
                <a:latin typeface="Arial MT"/>
                <a:cs typeface="Arial MT"/>
              </a:rPr>
              <a:t>Method</a:t>
            </a:r>
            <a:r>
              <a:rPr sz="1250" spc="55" dirty="0">
                <a:latin typeface="Arial MT"/>
                <a:cs typeface="Arial MT"/>
              </a:rPr>
              <a:t> </a:t>
            </a:r>
            <a:r>
              <a:rPr sz="1250" spc="10" dirty="0">
                <a:latin typeface="Arial MT"/>
                <a:cs typeface="Arial MT"/>
              </a:rPr>
              <a:t>1:The</a:t>
            </a:r>
            <a:r>
              <a:rPr sz="1250" spc="-25" dirty="0">
                <a:latin typeface="Arial MT"/>
                <a:cs typeface="Arial MT"/>
              </a:rPr>
              <a:t> </a:t>
            </a:r>
            <a:r>
              <a:rPr sz="1250" spc="15" dirty="0">
                <a:latin typeface="Arial MT"/>
                <a:cs typeface="Arial MT"/>
              </a:rPr>
              <a:t>+</a:t>
            </a:r>
            <a:r>
              <a:rPr sz="1250" spc="20" dirty="0">
                <a:latin typeface="Arial MT"/>
                <a:cs typeface="Arial MT"/>
              </a:rPr>
              <a:t> </a:t>
            </a:r>
            <a:r>
              <a:rPr sz="1250" spc="-10" dirty="0">
                <a:latin typeface="Arial MT"/>
                <a:cs typeface="Arial MT"/>
              </a:rPr>
              <a:t>operator</a:t>
            </a:r>
            <a:r>
              <a:rPr sz="1250" spc="145" dirty="0">
                <a:latin typeface="Arial MT"/>
                <a:cs typeface="Arial MT"/>
              </a:rPr>
              <a:t> </a:t>
            </a:r>
            <a:r>
              <a:rPr sz="1250" dirty="0">
                <a:latin typeface="Arial MT"/>
                <a:cs typeface="Arial MT"/>
              </a:rPr>
              <a:t>can</a:t>
            </a:r>
            <a:r>
              <a:rPr sz="1250" spc="10" dirty="0">
                <a:latin typeface="Arial MT"/>
                <a:cs typeface="Arial MT"/>
              </a:rPr>
              <a:t> </a:t>
            </a:r>
            <a:r>
              <a:rPr sz="1250" dirty="0">
                <a:latin typeface="Arial MT"/>
                <a:cs typeface="Arial MT"/>
              </a:rPr>
              <a:t>be</a:t>
            </a:r>
            <a:r>
              <a:rPr sz="1250" spc="60" dirty="0">
                <a:latin typeface="Arial MT"/>
                <a:cs typeface="Arial MT"/>
              </a:rPr>
              <a:t> </a:t>
            </a:r>
            <a:r>
              <a:rPr sz="1250" spc="5" dirty="0">
                <a:latin typeface="Arial MT"/>
                <a:cs typeface="Arial MT"/>
              </a:rPr>
              <a:t>used</a:t>
            </a:r>
            <a:r>
              <a:rPr sz="1250" spc="15" dirty="0">
                <a:latin typeface="Arial MT"/>
                <a:cs typeface="Arial MT"/>
              </a:rPr>
              <a:t> </a:t>
            </a:r>
            <a:r>
              <a:rPr sz="1250" spc="-5" dirty="0">
                <a:latin typeface="Arial MT"/>
                <a:cs typeface="Arial MT"/>
              </a:rPr>
              <a:t>between</a:t>
            </a:r>
            <a:r>
              <a:rPr sz="1250" spc="140" dirty="0">
                <a:latin typeface="Arial MT"/>
                <a:cs typeface="Arial MT"/>
              </a:rPr>
              <a:t> </a:t>
            </a:r>
            <a:r>
              <a:rPr sz="1250" spc="5" dirty="0">
                <a:latin typeface="Arial MT"/>
                <a:cs typeface="Arial MT"/>
              </a:rPr>
              <a:t>strings </a:t>
            </a:r>
            <a:r>
              <a:rPr sz="1250" spc="10" dirty="0">
                <a:latin typeface="Arial MT"/>
                <a:cs typeface="Arial MT"/>
              </a:rPr>
              <a:t>to</a:t>
            </a:r>
            <a:r>
              <a:rPr sz="1250" spc="20" dirty="0">
                <a:latin typeface="Arial MT"/>
                <a:cs typeface="Arial MT"/>
              </a:rPr>
              <a:t> </a:t>
            </a:r>
            <a:r>
              <a:rPr sz="1250" spc="5" dirty="0">
                <a:latin typeface="Arial MT"/>
                <a:cs typeface="Arial MT"/>
              </a:rPr>
              <a:t>combine</a:t>
            </a:r>
            <a:r>
              <a:rPr sz="1250" spc="55" dirty="0">
                <a:latin typeface="Arial MT"/>
                <a:cs typeface="Arial MT"/>
              </a:rPr>
              <a:t> </a:t>
            </a:r>
            <a:r>
              <a:rPr sz="1250" spc="5" dirty="0">
                <a:latin typeface="Arial MT"/>
                <a:cs typeface="Arial MT"/>
              </a:rPr>
              <a:t>them.</a:t>
            </a:r>
            <a:endParaRPr sz="1250" dirty="0">
              <a:latin typeface="Arial MT"/>
              <a:cs typeface="Arial MT"/>
            </a:endParaRPr>
          </a:p>
          <a:p>
            <a:pPr marL="407670">
              <a:lnSpc>
                <a:spcPct val="100000"/>
              </a:lnSpc>
              <a:spcBef>
                <a:spcPts val="20"/>
              </a:spcBef>
            </a:pPr>
            <a:r>
              <a:rPr sz="1250" spc="5" dirty="0">
                <a:latin typeface="Arial MT"/>
                <a:cs typeface="Arial MT"/>
              </a:rPr>
              <a:t>This</a:t>
            </a:r>
            <a:r>
              <a:rPr sz="1250" spc="-5" dirty="0">
                <a:latin typeface="Arial MT"/>
                <a:cs typeface="Arial MT"/>
              </a:rPr>
              <a:t> </a:t>
            </a:r>
            <a:r>
              <a:rPr sz="1250" spc="5" dirty="0">
                <a:latin typeface="Arial MT"/>
                <a:cs typeface="Arial MT"/>
              </a:rPr>
              <a:t>is</a:t>
            </a:r>
            <a:r>
              <a:rPr sz="1250" spc="-5" dirty="0">
                <a:latin typeface="Arial MT"/>
                <a:cs typeface="Arial MT"/>
              </a:rPr>
              <a:t> called</a:t>
            </a:r>
            <a:r>
              <a:rPr sz="1250" spc="80" dirty="0">
                <a:latin typeface="Arial MT"/>
                <a:cs typeface="Arial MT"/>
              </a:rPr>
              <a:t> </a:t>
            </a:r>
            <a:r>
              <a:rPr sz="1250" dirty="0">
                <a:latin typeface="Arial MT"/>
                <a:cs typeface="Arial MT"/>
              </a:rPr>
              <a:t>concatenation</a:t>
            </a:r>
          </a:p>
          <a:p>
            <a:pPr marL="407670" lvl="1" indent="-152400">
              <a:lnSpc>
                <a:spcPct val="100000"/>
              </a:lnSpc>
              <a:spcBef>
                <a:spcPts val="340"/>
              </a:spcBef>
              <a:buChar char="–"/>
              <a:tabLst>
                <a:tab pos="408305" algn="l"/>
              </a:tabLst>
            </a:pPr>
            <a:r>
              <a:rPr sz="1250" spc="5" dirty="0">
                <a:latin typeface="Arial MT"/>
                <a:cs typeface="Arial MT"/>
              </a:rPr>
              <a:t>Method</a:t>
            </a:r>
            <a:r>
              <a:rPr sz="1250" spc="55" dirty="0">
                <a:latin typeface="Arial MT"/>
                <a:cs typeface="Arial MT"/>
              </a:rPr>
              <a:t> </a:t>
            </a:r>
            <a:r>
              <a:rPr sz="1250" spc="35" dirty="0">
                <a:latin typeface="Arial MT"/>
                <a:cs typeface="Arial MT"/>
              </a:rPr>
              <a:t>2:We</a:t>
            </a:r>
            <a:r>
              <a:rPr sz="1250" spc="-95" dirty="0">
                <a:latin typeface="Arial MT"/>
                <a:cs typeface="Arial MT"/>
              </a:rPr>
              <a:t> </a:t>
            </a:r>
            <a:r>
              <a:rPr sz="1250" dirty="0">
                <a:latin typeface="Arial MT"/>
                <a:cs typeface="Arial MT"/>
              </a:rPr>
              <a:t>can</a:t>
            </a:r>
            <a:r>
              <a:rPr sz="1250" spc="60" dirty="0">
                <a:latin typeface="Arial MT"/>
                <a:cs typeface="Arial MT"/>
              </a:rPr>
              <a:t> </a:t>
            </a:r>
            <a:r>
              <a:rPr sz="1250" spc="15" dirty="0">
                <a:latin typeface="Arial MT"/>
                <a:cs typeface="Arial MT"/>
              </a:rPr>
              <a:t>use</a:t>
            </a:r>
            <a:r>
              <a:rPr sz="1250" dirty="0">
                <a:latin typeface="Arial MT"/>
                <a:cs typeface="Arial MT"/>
              </a:rPr>
              <a:t> </a:t>
            </a:r>
            <a:r>
              <a:rPr sz="1250" b="1" spc="10" dirty="0">
                <a:solidFill>
                  <a:srgbClr val="0000CC"/>
                </a:solidFill>
                <a:latin typeface="Arial"/>
                <a:cs typeface="Arial"/>
              </a:rPr>
              <a:t>concat()</a:t>
            </a:r>
            <a:r>
              <a:rPr sz="1250" b="1" spc="-5" dirty="0">
                <a:solidFill>
                  <a:srgbClr val="0000CC"/>
                </a:solidFill>
                <a:latin typeface="Arial"/>
                <a:cs typeface="Arial"/>
              </a:rPr>
              <a:t> </a:t>
            </a:r>
            <a:r>
              <a:rPr sz="1250" spc="5" dirty="0">
                <a:latin typeface="Arial MT"/>
                <a:cs typeface="Arial MT"/>
              </a:rPr>
              <a:t>method</a:t>
            </a:r>
            <a:r>
              <a:rPr sz="1250" spc="60" dirty="0">
                <a:latin typeface="Arial MT"/>
                <a:cs typeface="Arial MT"/>
              </a:rPr>
              <a:t> </a:t>
            </a:r>
            <a:r>
              <a:rPr sz="1250" spc="10" dirty="0">
                <a:latin typeface="Arial MT"/>
                <a:cs typeface="Arial MT"/>
              </a:rPr>
              <a:t>to</a:t>
            </a:r>
            <a:r>
              <a:rPr sz="1250" spc="25" dirty="0">
                <a:latin typeface="Arial MT"/>
                <a:cs typeface="Arial MT"/>
              </a:rPr>
              <a:t> </a:t>
            </a:r>
            <a:r>
              <a:rPr sz="1250" dirty="0">
                <a:latin typeface="Arial MT"/>
                <a:cs typeface="Arial MT"/>
              </a:rPr>
              <a:t>concatenate</a:t>
            </a:r>
            <a:r>
              <a:rPr sz="1250" spc="105" dirty="0">
                <a:latin typeface="Arial MT"/>
                <a:cs typeface="Arial MT"/>
              </a:rPr>
              <a:t> </a:t>
            </a:r>
            <a:r>
              <a:rPr sz="1250" spc="10" dirty="0">
                <a:latin typeface="Arial MT"/>
                <a:cs typeface="Arial MT"/>
              </a:rPr>
              <a:t>two</a:t>
            </a:r>
            <a:r>
              <a:rPr sz="1250" spc="20" dirty="0">
                <a:latin typeface="Arial MT"/>
                <a:cs typeface="Arial MT"/>
              </a:rPr>
              <a:t> </a:t>
            </a:r>
            <a:r>
              <a:rPr sz="1250" spc="5" dirty="0">
                <a:latin typeface="Arial MT"/>
                <a:cs typeface="Arial MT"/>
              </a:rPr>
              <a:t>strings.</a:t>
            </a:r>
            <a:endParaRPr sz="1250" dirty="0">
              <a:latin typeface="Arial MT"/>
              <a:cs typeface="Arial MT"/>
            </a:endParaRPr>
          </a:p>
          <a:p>
            <a:pPr marL="12700">
              <a:lnSpc>
                <a:spcPct val="100000"/>
              </a:lnSpc>
              <a:spcBef>
                <a:spcPts val="335"/>
              </a:spcBef>
            </a:pPr>
            <a:r>
              <a:rPr sz="1450" spc="-30" dirty="0">
                <a:latin typeface="Calibri"/>
                <a:cs typeface="Calibri"/>
              </a:rPr>
              <a:t>class</a:t>
            </a:r>
            <a:r>
              <a:rPr sz="1450" spc="35" dirty="0">
                <a:latin typeface="Calibri"/>
                <a:cs typeface="Calibri"/>
              </a:rPr>
              <a:t> </a:t>
            </a:r>
            <a:r>
              <a:rPr sz="1450" dirty="0">
                <a:latin typeface="Calibri"/>
                <a:cs typeface="Calibri"/>
              </a:rPr>
              <a:t>Sample</a:t>
            </a:r>
            <a:r>
              <a:rPr sz="1450" spc="55" dirty="0">
                <a:latin typeface="Calibri"/>
                <a:cs typeface="Calibri"/>
              </a:rPr>
              <a:t> </a:t>
            </a:r>
            <a:r>
              <a:rPr sz="1450" spc="-25" dirty="0">
                <a:latin typeface="Calibri"/>
                <a:cs typeface="Calibri"/>
              </a:rPr>
              <a:t>{</a:t>
            </a:r>
            <a:endParaRPr sz="1450" dirty="0">
              <a:latin typeface="Calibri"/>
              <a:cs typeface="Calibri"/>
            </a:endParaRPr>
          </a:p>
          <a:p>
            <a:pPr marL="12700">
              <a:lnSpc>
                <a:spcPct val="100000"/>
              </a:lnSpc>
              <a:spcBef>
                <a:spcPts val="420"/>
              </a:spcBef>
            </a:pPr>
            <a:r>
              <a:rPr sz="1450" dirty="0">
                <a:latin typeface="Calibri"/>
                <a:cs typeface="Calibri"/>
              </a:rPr>
              <a:t>public</a:t>
            </a:r>
            <a:r>
              <a:rPr sz="1450" spc="85" dirty="0">
                <a:latin typeface="Calibri"/>
                <a:cs typeface="Calibri"/>
              </a:rPr>
              <a:t> </a:t>
            </a:r>
            <a:r>
              <a:rPr sz="1450" spc="-45" dirty="0">
                <a:latin typeface="Calibri"/>
                <a:cs typeface="Calibri"/>
              </a:rPr>
              <a:t>static</a:t>
            </a:r>
            <a:r>
              <a:rPr sz="1450" spc="10" dirty="0">
                <a:latin typeface="Calibri"/>
                <a:cs typeface="Calibri"/>
              </a:rPr>
              <a:t> </a:t>
            </a:r>
            <a:r>
              <a:rPr sz="1450" spc="-10" dirty="0">
                <a:latin typeface="Calibri"/>
                <a:cs typeface="Calibri"/>
              </a:rPr>
              <a:t>void</a:t>
            </a:r>
            <a:r>
              <a:rPr sz="1450" spc="85" dirty="0">
                <a:latin typeface="Calibri"/>
                <a:cs typeface="Calibri"/>
              </a:rPr>
              <a:t> </a:t>
            </a:r>
            <a:r>
              <a:rPr sz="1450" spc="-10" dirty="0">
                <a:latin typeface="Calibri"/>
                <a:cs typeface="Calibri"/>
              </a:rPr>
              <a:t>main(String</a:t>
            </a:r>
            <a:r>
              <a:rPr sz="1450" spc="55" dirty="0">
                <a:latin typeface="Calibri"/>
                <a:cs typeface="Calibri"/>
              </a:rPr>
              <a:t> </a:t>
            </a:r>
            <a:r>
              <a:rPr sz="1450" spc="-30" dirty="0">
                <a:latin typeface="Calibri"/>
                <a:cs typeface="Calibri"/>
              </a:rPr>
              <a:t>args[])</a:t>
            </a:r>
            <a:endParaRPr sz="1450" dirty="0">
              <a:latin typeface="Calibri"/>
              <a:cs typeface="Calibri"/>
            </a:endParaRPr>
          </a:p>
        </p:txBody>
      </p:sp>
      <p:sp>
        <p:nvSpPr>
          <p:cNvPr id="4" name="object 4"/>
          <p:cNvSpPr txBox="1"/>
          <p:nvPr/>
        </p:nvSpPr>
        <p:spPr>
          <a:xfrm>
            <a:off x="320742" y="2177213"/>
            <a:ext cx="80645" cy="251460"/>
          </a:xfrm>
          <a:prstGeom prst="rect">
            <a:avLst/>
          </a:prstGeom>
        </p:spPr>
        <p:txBody>
          <a:bodyPr vert="horz" wrap="square" lIns="0" tIns="16510" rIns="0" bIns="0" rtlCol="0">
            <a:spAutoFit/>
          </a:bodyPr>
          <a:lstStyle/>
          <a:p>
            <a:pPr marL="12700">
              <a:lnSpc>
                <a:spcPct val="100000"/>
              </a:lnSpc>
              <a:spcBef>
                <a:spcPts val="130"/>
              </a:spcBef>
            </a:pPr>
            <a:r>
              <a:rPr sz="1450" spc="-25" dirty="0">
                <a:latin typeface="Calibri"/>
                <a:cs typeface="Calibri"/>
              </a:rPr>
              <a:t>{</a:t>
            </a:r>
            <a:endParaRPr sz="1450">
              <a:latin typeface="Calibri"/>
              <a:cs typeface="Calibri"/>
            </a:endParaRPr>
          </a:p>
        </p:txBody>
      </p:sp>
      <p:sp>
        <p:nvSpPr>
          <p:cNvPr id="5" name="object 5"/>
          <p:cNvSpPr txBox="1"/>
          <p:nvPr/>
        </p:nvSpPr>
        <p:spPr>
          <a:xfrm>
            <a:off x="417037" y="2402639"/>
            <a:ext cx="1722755" cy="847725"/>
          </a:xfrm>
          <a:prstGeom prst="rect">
            <a:avLst/>
          </a:prstGeom>
        </p:spPr>
        <p:txBody>
          <a:bodyPr vert="horz" wrap="square" lIns="0" tIns="12065" rIns="0" bIns="0" rtlCol="0">
            <a:spAutoFit/>
          </a:bodyPr>
          <a:lstStyle/>
          <a:p>
            <a:pPr marL="57785" marR="5080" indent="-45720">
              <a:lnSpc>
                <a:spcPct val="124000"/>
              </a:lnSpc>
              <a:spcBef>
                <a:spcPts val="95"/>
              </a:spcBef>
            </a:pPr>
            <a:r>
              <a:rPr sz="1450" spc="-10" dirty="0">
                <a:latin typeface="Calibri"/>
                <a:cs typeface="Calibri"/>
              </a:rPr>
              <a:t>String </a:t>
            </a:r>
            <a:r>
              <a:rPr sz="1450" spc="-30" dirty="0">
                <a:latin typeface="Calibri"/>
                <a:cs typeface="Calibri"/>
              </a:rPr>
              <a:t>s1="Sachin</a:t>
            </a:r>
            <a:r>
              <a:rPr sz="1450" spc="-25" dirty="0">
                <a:latin typeface="Calibri"/>
                <a:cs typeface="Calibri"/>
              </a:rPr>
              <a:t> </a:t>
            </a:r>
            <a:r>
              <a:rPr sz="1450" spc="-130" dirty="0">
                <a:latin typeface="Calibri"/>
                <a:cs typeface="Calibri"/>
              </a:rPr>
              <a:t>"; </a:t>
            </a:r>
            <a:r>
              <a:rPr sz="1450" spc="-125" dirty="0">
                <a:latin typeface="Calibri"/>
                <a:cs typeface="Calibri"/>
              </a:rPr>
              <a:t> </a:t>
            </a:r>
            <a:r>
              <a:rPr sz="1450" spc="-10" dirty="0">
                <a:latin typeface="Calibri"/>
                <a:cs typeface="Calibri"/>
              </a:rPr>
              <a:t>String </a:t>
            </a:r>
            <a:r>
              <a:rPr sz="1450" spc="-20" dirty="0">
                <a:latin typeface="Calibri"/>
                <a:cs typeface="Calibri"/>
              </a:rPr>
              <a:t>s2="Tendulkar"; </a:t>
            </a:r>
            <a:r>
              <a:rPr sz="1450" spc="-315" dirty="0">
                <a:latin typeface="Calibri"/>
                <a:cs typeface="Calibri"/>
              </a:rPr>
              <a:t> </a:t>
            </a:r>
            <a:r>
              <a:rPr sz="1450" spc="-10" dirty="0">
                <a:latin typeface="Calibri"/>
                <a:cs typeface="Calibri"/>
              </a:rPr>
              <a:t>String</a:t>
            </a:r>
            <a:r>
              <a:rPr sz="1450" spc="50" dirty="0">
                <a:latin typeface="Calibri"/>
                <a:cs typeface="Calibri"/>
              </a:rPr>
              <a:t> </a:t>
            </a:r>
            <a:r>
              <a:rPr sz="1450" spc="-30" dirty="0">
                <a:latin typeface="Calibri"/>
                <a:cs typeface="Calibri"/>
              </a:rPr>
              <a:t>s3=s1+s2;</a:t>
            </a:r>
            <a:endParaRPr sz="1450">
              <a:latin typeface="Calibri"/>
              <a:cs typeface="Calibri"/>
            </a:endParaRPr>
          </a:p>
        </p:txBody>
      </p:sp>
      <p:sp>
        <p:nvSpPr>
          <p:cNvPr id="6" name="object 6"/>
          <p:cNvSpPr txBox="1"/>
          <p:nvPr/>
        </p:nvSpPr>
        <p:spPr>
          <a:xfrm>
            <a:off x="462650" y="3273625"/>
            <a:ext cx="3154045" cy="250825"/>
          </a:xfrm>
          <a:prstGeom prst="rect">
            <a:avLst/>
          </a:prstGeom>
        </p:spPr>
        <p:txBody>
          <a:bodyPr vert="horz" wrap="square" lIns="0" tIns="15875" rIns="0" bIns="0" rtlCol="0">
            <a:spAutoFit/>
          </a:bodyPr>
          <a:lstStyle/>
          <a:p>
            <a:pPr marL="12700">
              <a:lnSpc>
                <a:spcPct val="100000"/>
              </a:lnSpc>
              <a:spcBef>
                <a:spcPts val="125"/>
              </a:spcBef>
            </a:pPr>
            <a:r>
              <a:rPr sz="1450" spc="-25" dirty="0">
                <a:latin typeface="Calibri"/>
                <a:cs typeface="Calibri"/>
              </a:rPr>
              <a:t>System.out.println(s3);//Sachin</a:t>
            </a:r>
            <a:r>
              <a:rPr sz="1450" spc="260" dirty="0">
                <a:latin typeface="Calibri"/>
                <a:cs typeface="Calibri"/>
              </a:rPr>
              <a:t> </a:t>
            </a:r>
            <a:r>
              <a:rPr sz="1450" spc="25" dirty="0">
                <a:latin typeface="Calibri"/>
                <a:cs typeface="Calibri"/>
              </a:rPr>
              <a:t>Tendulkar</a:t>
            </a:r>
            <a:endParaRPr sz="1450">
              <a:latin typeface="Calibri"/>
              <a:cs typeface="Calibri"/>
            </a:endParaRPr>
          </a:p>
        </p:txBody>
      </p:sp>
      <p:sp>
        <p:nvSpPr>
          <p:cNvPr id="7" name="object 7"/>
          <p:cNvSpPr txBox="1"/>
          <p:nvPr/>
        </p:nvSpPr>
        <p:spPr>
          <a:xfrm>
            <a:off x="320742" y="3542405"/>
            <a:ext cx="137160" cy="251460"/>
          </a:xfrm>
          <a:prstGeom prst="rect">
            <a:avLst/>
          </a:prstGeom>
        </p:spPr>
        <p:txBody>
          <a:bodyPr vert="horz" wrap="square" lIns="0" tIns="16510" rIns="0" bIns="0" rtlCol="0">
            <a:spAutoFit/>
          </a:bodyPr>
          <a:lstStyle/>
          <a:p>
            <a:pPr marL="12700">
              <a:lnSpc>
                <a:spcPct val="100000"/>
              </a:lnSpc>
              <a:spcBef>
                <a:spcPts val="130"/>
              </a:spcBef>
            </a:pPr>
            <a:r>
              <a:rPr sz="1450" spc="-25" dirty="0">
                <a:latin typeface="Calibri"/>
                <a:cs typeface="Calibri"/>
              </a:rPr>
              <a:t>}}</a:t>
            </a:r>
            <a:endParaRPr sz="1450">
              <a:latin typeface="Calibri"/>
              <a:cs typeface="Calibri"/>
            </a:endParaRPr>
          </a:p>
        </p:txBody>
      </p:sp>
      <p:grpSp>
        <p:nvGrpSpPr>
          <p:cNvPr id="9" name="object 9"/>
          <p:cNvGrpSpPr/>
          <p:nvPr/>
        </p:nvGrpSpPr>
        <p:grpSpPr>
          <a:xfrm>
            <a:off x="3333799" y="2162884"/>
            <a:ext cx="2042795" cy="588010"/>
            <a:chOff x="3333799" y="2162884"/>
            <a:chExt cx="2042795" cy="588010"/>
          </a:xfrm>
        </p:grpSpPr>
        <p:pic>
          <p:nvPicPr>
            <p:cNvPr id="10" name="object 10"/>
            <p:cNvPicPr/>
            <p:nvPr/>
          </p:nvPicPr>
          <p:blipFill>
            <a:blip r:embed="rId3" cstate="print"/>
            <a:stretch>
              <a:fillRect/>
            </a:stretch>
          </p:blipFill>
          <p:spPr>
            <a:xfrm>
              <a:off x="3389540" y="2193293"/>
              <a:ext cx="1986717" cy="481474"/>
            </a:xfrm>
            <a:prstGeom prst="rect">
              <a:avLst/>
            </a:prstGeom>
          </p:spPr>
        </p:pic>
        <p:pic>
          <p:nvPicPr>
            <p:cNvPr id="11" name="object 11"/>
            <p:cNvPicPr/>
            <p:nvPr/>
          </p:nvPicPr>
          <p:blipFill>
            <a:blip r:embed="rId4" cstate="print"/>
            <a:stretch>
              <a:fillRect/>
            </a:stretch>
          </p:blipFill>
          <p:spPr>
            <a:xfrm>
              <a:off x="3333799" y="2162884"/>
              <a:ext cx="1454561" cy="587906"/>
            </a:xfrm>
            <a:prstGeom prst="rect">
              <a:avLst/>
            </a:prstGeom>
          </p:spPr>
        </p:pic>
        <p:pic>
          <p:nvPicPr>
            <p:cNvPr id="12" name="object 12"/>
            <p:cNvPicPr/>
            <p:nvPr/>
          </p:nvPicPr>
          <p:blipFill>
            <a:blip r:embed="rId5" cstate="print"/>
            <a:stretch>
              <a:fillRect/>
            </a:stretch>
          </p:blipFill>
          <p:spPr>
            <a:xfrm>
              <a:off x="3409813" y="2203462"/>
              <a:ext cx="1946172" cy="441777"/>
            </a:xfrm>
            <a:prstGeom prst="rect">
              <a:avLst/>
            </a:prstGeom>
          </p:spPr>
        </p:pic>
      </p:grpSp>
      <p:sp>
        <p:nvSpPr>
          <p:cNvPr id="13" name="object 13"/>
          <p:cNvSpPr txBox="1"/>
          <p:nvPr/>
        </p:nvSpPr>
        <p:spPr>
          <a:xfrm>
            <a:off x="3409813" y="2203462"/>
            <a:ext cx="1946275" cy="441959"/>
          </a:xfrm>
          <a:prstGeom prst="rect">
            <a:avLst/>
          </a:prstGeom>
          <a:ln w="5073">
            <a:solidFill>
              <a:srgbClr val="000000"/>
            </a:solidFill>
          </a:ln>
        </p:spPr>
        <p:txBody>
          <a:bodyPr vert="horz" wrap="square" lIns="0" tIns="25400" rIns="0" bIns="0" rtlCol="0">
            <a:spAutoFit/>
          </a:bodyPr>
          <a:lstStyle/>
          <a:p>
            <a:pPr marL="50800">
              <a:lnSpc>
                <a:spcPts val="1490"/>
              </a:lnSpc>
              <a:spcBef>
                <a:spcPts val="200"/>
              </a:spcBef>
            </a:pPr>
            <a:r>
              <a:rPr sz="1250" spc="10" dirty="0">
                <a:solidFill>
                  <a:srgbClr val="C00000"/>
                </a:solidFill>
                <a:latin typeface="Arial MT"/>
                <a:cs typeface="Arial MT"/>
              </a:rPr>
              <a:t>OUTPUT</a:t>
            </a:r>
            <a:endParaRPr sz="1250">
              <a:latin typeface="Arial MT"/>
              <a:cs typeface="Arial MT"/>
            </a:endParaRPr>
          </a:p>
          <a:p>
            <a:pPr marL="50800">
              <a:lnSpc>
                <a:spcPts val="1490"/>
              </a:lnSpc>
            </a:pPr>
            <a:r>
              <a:rPr sz="1250" spc="15" dirty="0">
                <a:latin typeface="Calibri"/>
                <a:cs typeface="Calibri"/>
              </a:rPr>
              <a:t>Sachin</a:t>
            </a:r>
            <a:r>
              <a:rPr sz="1250" spc="-20" dirty="0">
                <a:latin typeface="Calibri"/>
                <a:cs typeface="Calibri"/>
              </a:rPr>
              <a:t> </a:t>
            </a:r>
            <a:r>
              <a:rPr sz="1250" spc="30" dirty="0">
                <a:latin typeface="Calibri"/>
                <a:cs typeface="Calibri"/>
              </a:rPr>
              <a:t>Tendulkar</a:t>
            </a:r>
            <a:endParaRPr sz="1250">
              <a:latin typeface="Calibri"/>
              <a:cs typeface="Calibri"/>
            </a:endParaRPr>
          </a:p>
        </p:txBody>
      </p:sp>
      <p:sp>
        <p:nvSpPr>
          <p:cNvPr id="14" name="object 14"/>
          <p:cNvSpPr/>
          <p:nvPr/>
        </p:nvSpPr>
        <p:spPr>
          <a:xfrm>
            <a:off x="4015" y="176230"/>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1" y="633558"/>
            <a:ext cx="6487240" cy="684201"/>
          </a:xfrm>
          <a:prstGeom prst="rect">
            <a:avLst/>
          </a:prstGeom>
        </p:spPr>
      </p:pic>
      <p:sp>
        <p:nvSpPr>
          <p:cNvPr id="3" name="object 3"/>
          <p:cNvSpPr txBox="1"/>
          <p:nvPr/>
        </p:nvSpPr>
        <p:spPr>
          <a:xfrm>
            <a:off x="364664" y="1260930"/>
            <a:ext cx="5681980" cy="814069"/>
          </a:xfrm>
          <a:prstGeom prst="rect">
            <a:avLst/>
          </a:prstGeom>
        </p:spPr>
        <p:txBody>
          <a:bodyPr vert="horz" wrap="square" lIns="0" tIns="10160" rIns="0" bIns="0" rtlCol="0">
            <a:spAutoFit/>
          </a:bodyPr>
          <a:lstStyle/>
          <a:p>
            <a:pPr marL="194945" marR="5080" indent="-182880">
              <a:lnSpc>
                <a:spcPct val="101899"/>
              </a:lnSpc>
              <a:spcBef>
                <a:spcPts val="80"/>
              </a:spcBef>
              <a:buChar char="•"/>
              <a:tabLst>
                <a:tab pos="195580" algn="l"/>
              </a:tabLst>
            </a:pPr>
            <a:r>
              <a:rPr sz="1700" spc="5" dirty="0">
                <a:latin typeface="Arial MT"/>
                <a:cs typeface="Arial MT"/>
              </a:rPr>
              <a:t>If</a:t>
            </a:r>
            <a:r>
              <a:rPr sz="1700" spc="-35" dirty="0">
                <a:latin typeface="Arial MT"/>
                <a:cs typeface="Arial MT"/>
              </a:rPr>
              <a:t> we</a:t>
            </a:r>
            <a:r>
              <a:rPr sz="1700" spc="85" dirty="0">
                <a:latin typeface="Arial MT"/>
                <a:cs typeface="Arial MT"/>
              </a:rPr>
              <a:t> </a:t>
            </a:r>
            <a:r>
              <a:rPr sz="1700" spc="5" dirty="0">
                <a:latin typeface="Arial MT"/>
                <a:cs typeface="Arial MT"/>
              </a:rPr>
              <a:t>add</a:t>
            </a:r>
            <a:r>
              <a:rPr sz="1700" spc="-30" dirty="0">
                <a:latin typeface="Arial MT"/>
                <a:cs typeface="Arial MT"/>
              </a:rPr>
              <a:t> </a:t>
            </a:r>
            <a:r>
              <a:rPr sz="1700" spc="10" dirty="0">
                <a:latin typeface="Arial MT"/>
                <a:cs typeface="Arial MT"/>
              </a:rPr>
              <a:t>a</a:t>
            </a:r>
            <a:r>
              <a:rPr sz="1700" spc="-30" dirty="0">
                <a:latin typeface="Arial MT"/>
                <a:cs typeface="Arial MT"/>
              </a:rPr>
              <a:t> </a:t>
            </a:r>
            <a:r>
              <a:rPr sz="1700" spc="5" dirty="0">
                <a:latin typeface="Arial MT"/>
                <a:cs typeface="Arial MT"/>
              </a:rPr>
              <a:t>number</a:t>
            </a:r>
            <a:r>
              <a:rPr sz="1700" spc="-85" dirty="0">
                <a:latin typeface="Arial MT"/>
                <a:cs typeface="Arial MT"/>
              </a:rPr>
              <a:t> </a:t>
            </a:r>
            <a:r>
              <a:rPr sz="1700" spc="5" dirty="0">
                <a:latin typeface="Arial MT"/>
                <a:cs typeface="Arial MT"/>
              </a:rPr>
              <a:t>and</a:t>
            </a:r>
            <a:r>
              <a:rPr sz="1700" spc="-30" dirty="0">
                <a:latin typeface="Arial MT"/>
                <a:cs typeface="Arial MT"/>
              </a:rPr>
              <a:t> </a:t>
            </a:r>
            <a:r>
              <a:rPr sz="1700" spc="10" dirty="0">
                <a:latin typeface="Arial MT"/>
                <a:cs typeface="Arial MT"/>
              </a:rPr>
              <a:t>a</a:t>
            </a:r>
            <a:r>
              <a:rPr sz="1700" spc="5" dirty="0">
                <a:latin typeface="Arial MT"/>
                <a:cs typeface="Arial MT"/>
              </a:rPr>
              <a:t> string,</a:t>
            </a:r>
            <a:r>
              <a:rPr sz="1700" spc="-110" dirty="0">
                <a:latin typeface="Arial MT"/>
                <a:cs typeface="Arial MT"/>
              </a:rPr>
              <a:t> </a:t>
            </a:r>
            <a:r>
              <a:rPr sz="1700" spc="5" dirty="0">
                <a:latin typeface="Arial MT"/>
                <a:cs typeface="Arial MT"/>
              </a:rPr>
              <a:t>the</a:t>
            </a:r>
            <a:r>
              <a:rPr sz="1700" spc="-30" dirty="0">
                <a:latin typeface="Arial MT"/>
                <a:cs typeface="Arial MT"/>
              </a:rPr>
              <a:t> </a:t>
            </a:r>
            <a:r>
              <a:rPr sz="1700" spc="5" dirty="0">
                <a:latin typeface="Arial MT"/>
                <a:cs typeface="Arial MT"/>
              </a:rPr>
              <a:t>result</a:t>
            </a:r>
            <a:r>
              <a:rPr sz="1700" spc="-70" dirty="0">
                <a:latin typeface="Arial MT"/>
                <a:cs typeface="Arial MT"/>
              </a:rPr>
              <a:t> </a:t>
            </a:r>
            <a:r>
              <a:rPr sz="1700" spc="-10" dirty="0">
                <a:latin typeface="Arial MT"/>
                <a:cs typeface="Arial MT"/>
              </a:rPr>
              <a:t>will</a:t>
            </a:r>
            <a:r>
              <a:rPr sz="1700" spc="60" dirty="0">
                <a:latin typeface="Arial MT"/>
                <a:cs typeface="Arial MT"/>
              </a:rPr>
              <a:t> </a:t>
            </a:r>
            <a:r>
              <a:rPr sz="1700" spc="5" dirty="0">
                <a:latin typeface="Arial MT"/>
                <a:cs typeface="Arial MT"/>
              </a:rPr>
              <a:t>be</a:t>
            </a:r>
            <a:r>
              <a:rPr sz="1700" spc="-30" dirty="0">
                <a:latin typeface="Arial MT"/>
                <a:cs typeface="Arial MT"/>
              </a:rPr>
              <a:t> </a:t>
            </a:r>
            <a:r>
              <a:rPr sz="1700" spc="10" dirty="0">
                <a:latin typeface="Arial MT"/>
                <a:cs typeface="Arial MT"/>
              </a:rPr>
              <a:t>a</a:t>
            </a:r>
            <a:r>
              <a:rPr sz="1700" spc="-30" dirty="0">
                <a:latin typeface="Arial MT"/>
                <a:cs typeface="Arial MT"/>
              </a:rPr>
              <a:t> </a:t>
            </a:r>
            <a:r>
              <a:rPr sz="1700" spc="5" dirty="0">
                <a:latin typeface="Arial MT"/>
                <a:cs typeface="Arial MT"/>
              </a:rPr>
              <a:t>string </a:t>
            </a:r>
            <a:r>
              <a:rPr sz="1700" spc="-455" dirty="0">
                <a:latin typeface="Arial MT"/>
                <a:cs typeface="Arial MT"/>
              </a:rPr>
              <a:t> </a:t>
            </a:r>
            <a:r>
              <a:rPr sz="1700" dirty="0">
                <a:latin typeface="Arial MT"/>
                <a:cs typeface="Arial MT"/>
              </a:rPr>
              <a:t>concatenation.</a:t>
            </a:r>
            <a:endParaRPr sz="1700">
              <a:latin typeface="Arial MT"/>
              <a:cs typeface="Arial MT"/>
            </a:endParaRPr>
          </a:p>
          <a:p>
            <a:pPr marL="12700">
              <a:lnSpc>
                <a:spcPct val="100000"/>
              </a:lnSpc>
              <a:spcBef>
                <a:spcPts val="325"/>
              </a:spcBef>
            </a:pPr>
            <a:r>
              <a:rPr sz="1450" spc="-40" dirty="0">
                <a:latin typeface="Times New Roman"/>
                <a:cs typeface="Times New Roman"/>
              </a:rPr>
              <a:t>class</a:t>
            </a:r>
            <a:r>
              <a:rPr sz="1450" spc="5" dirty="0">
                <a:latin typeface="Times New Roman"/>
                <a:cs typeface="Times New Roman"/>
              </a:rPr>
              <a:t> </a:t>
            </a:r>
            <a:r>
              <a:rPr sz="1450" dirty="0">
                <a:latin typeface="Times New Roman"/>
                <a:cs typeface="Times New Roman"/>
              </a:rPr>
              <a:t>Sample</a:t>
            </a:r>
            <a:r>
              <a:rPr sz="1450" spc="20" dirty="0">
                <a:latin typeface="Times New Roman"/>
                <a:cs typeface="Times New Roman"/>
              </a:rPr>
              <a:t> </a:t>
            </a:r>
            <a:r>
              <a:rPr sz="1450" spc="-265" dirty="0">
                <a:latin typeface="Times New Roman"/>
                <a:cs typeface="Times New Roman"/>
              </a:rPr>
              <a:t>{</a:t>
            </a:r>
            <a:endParaRPr sz="1450">
              <a:latin typeface="Times New Roman"/>
              <a:cs typeface="Times New Roman"/>
            </a:endParaRPr>
          </a:p>
        </p:txBody>
      </p:sp>
      <p:sp>
        <p:nvSpPr>
          <p:cNvPr id="4" name="object 4"/>
          <p:cNvSpPr txBox="1"/>
          <p:nvPr/>
        </p:nvSpPr>
        <p:spPr>
          <a:xfrm>
            <a:off x="364664" y="2049368"/>
            <a:ext cx="2687955" cy="2208530"/>
          </a:xfrm>
          <a:prstGeom prst="rect">
            <a:avLst/>
          </a:prstGeom>
        </p:spPr>
        <p:txBody>
          <a:bodyPr vert="horz" wrap="square" lIns="0" tIns="64769" rIns="0" bIns="0" rtlCol="0">
            <a:spAutoFit/>
          </a:bodyPr>
          <a:lstStyle/>
          <a:p>
            <a:pPr marL="12700">
              <a:lnSpc>
                <a:spcPct val="100000"/>
              </a:lnSpc>
              <a:spcBef>
                <a:spcPts val="509"/>
              </a:spcBef>
            </a:pPr>
            <a:r>
              <a:rPr sz="1450" spc="-10" dirty="0">
                <a:latin typeface="Times New Roman"/>
                <a:cs typeface="Times New Roman"/>
              </a:rPr>
              <a:t>public</a:t>
            </a:r>
            <a:r>
              <a:rPr sz="1450" spc="50" dirty="0">
                <a:latin typeface="Times New Roman"/>
                <a:cs typeface="Times New Roman"/>
              </a:rPr>
              <a:t> </a:t>
            </a:r>
            <a:r>
              <a:rPr sz="1450" spc="-25" dirty="0">
                <a:latin typeface="Times New Roman"/>
                <a:cs typeface="Times New Roman"/>
              </a:rPr>
              <a:t>static</a:t>
            </a:r>
            <a:r>
              <a:rPr sz="1450" spc="-20" dirty="0">
                <a:latin typeface="Times New Roman"/>
                <a:cs typeface="Times New Roman"/>
              </a:rPr>
              <a:t> </a:t>
            </a:r>
            <a:r>
              <a:rPr sz="1450" spc="-25" dirty="0">
                <a:latin typeface="Times New Roman"/>
                <a:cs typeface="Times New Roman"/>
              </a:rPr>
              <a:t>void</a:t>
            </a:r>
            <a:r>
              <a:rPr sz="1450" spc="55" dirty="0">
                <a:latin typeface="Times New Roman"/>
                <a:cs typeface="Times New Roman"/>
              </a:rPr>
              <a:t> </a:t>
            </a:r>
            <a:r>
              <a:rPr sz="1450" spc="-20" dirty="0">
                <a:latin typeface="Times New Roman"/>
                <a:cs typeface="Times New Roman"/>
              </a:rPr>
              <a:t>main(String</a:t>
            </a:r>
            <a:r>
              <a:rPr sz="1450" spc="25" dirty="0">
                <a:latin typeface="Times New Roman"/>
                <a:cs typeface="Times New Roman"/>
              </a:rPr>
              <a:t> </a:t>
            </a:r>
            <a:r>
              <a:rPr sz="1450" spc="-45" dirty="0">
                <a:latin typeface="Times New Roman"/>
                <a:cs typeface="Times New Roman"/>
              </a:rPr>
              <a:t>args[])</a:t>
            </a:r>
            <a:endParaRPr sz="1450">
              <a:latin typeface="Times New Roman"/>
              <a:cs typeface="Times New Roman"/>
            </a:endParaRPr>
          </a:p>
          <a:p>
            <a:pPr marL="255904">
              <a:lnSpc>
                <a:spcPct val="100000"/>
              </a:lnSpc>
              <a:spcBef>
                <a:spcPts val="420"/>
              </a:spcBef>
            </a:pPr>
            <a:r>
              <a:rPr sz="1450" spc="-265" dirty="0">
                <a:latin typeface="Times New Roman"/>
                <a:cs typeface="Times New Roman"/>
              </a:rPr>
              <a:t>{</a:t>
            </a:r>
            <a:endParaRPr sz="1450">
              <a:latin typeface="Times New Roman"/>
              <a:cs typeface="Times New Roman"/>
            </a:endParaRPr>
          </a:p>
          <a:p>
            <a:pPr marL="255904" marR="496570">
              <a:lnSpc>
                <a:spcPts val="2160"/>
              </a:lnSpc>
              <a:spcBef>
                <a:spcPts val="100"/>
              </a:spcBef>
            </a:pPr>
            <a:r>
              <a:rPr sz="1450" spc="-10" dirty="0">
                <a:latin typeface="Calibri"/>
                <a:cs typeface="Calibri"/>
              </a:rPr>
              <a:t>String </a:t>
            </a:r>
            <a:r>
              <a:rPr sz="1450" spc="-20" dirty="0">
                <a:latin typeface="Calibri"/>
                <a:cs typeface="Calibri"/>
              </a:rPr>
              <a:t>s1=“10</a:t>
            </a:r>
            <a:r>
              <a:rPr sz="1450" spc="-15" dirty="0">
                <a:latin typeface="Calibri"/>
                <a:cs typeface="Calibri"/>
              </a:rPr>
              <a:t> </a:t>
            </a:r>
            <a:r>
              <a:rPr sz="1450" spc="-10" dirty="0">
                <a:latin typeface="Calibri"/>
                <a:cs typeface="Calibri"/>
              </a:rPr>
              <a:t>” , </a:t>
            </a:r>
            <a:r>
              <a:rPr sz="1450" spc="-20" dirty="0">
                <a:latin typeface="Calibri"/>
                <a:cs typeface="Calibri"/>
              </a:rPr>
              <a:t>s2=“12”; </a:t>
            </a:r>
            <a:r>
              <a:rPr sz="1450" spc="-315" dirty="0">
                <a:latin typeface="Calibri"/>
                <a:cs typeface="Calibri"/>
              </a:rPr>
              <a:t> </a:t>
            </a:r>
            <a:r>
              <a:rPr sz="1450" spc="-15" dirty="0">
                <a:latin typeface="Times New Roman"/>
                <a:cs typeface="Times New Roman"/>
              </a:rPr>
              <a:t>int</a:t>
            </a:r>
            <a:r>
              <a:rPr sz="1450" spc="5" dirty="0">
                <a:latin typeface="Times New Roman"/>
                <a:cs typeface="Times New Roman"/>
              </a:rPr>
              <a:t> </a:t>
            </a:r>
            <a:r>
              <a:rPr sz="1450" spc="-35" dirty="0">
                <a:latin typeface="Times New Roman"/>
                <a:cs typeface="Times New Roman"/>
              </a:rPr>
              <a:t>a=13; </a:t>
            </a:r>
            <a:r>
              <a:rPr sz="1450" spc="-30" dirty="0">
                <a:latin typeface="Times New Roman"/>
                <a:cs typeface="Times New Roman"/>
              </a:rPr>
              <a:t> </a:t>
            </a:r>
            <a:r>
              <a:rPr sz="1450" spc="-15" dirty="0">
                <a:latin typeface="Times New Roman"/>
                <a:cs typeface="Times New Roman"/>
              </a:rPr>
              <a:t>System.out.println(s1</a:t>
            </a:r>
            <a:r>
              <a:rPr sz="1450" b="1" spc="-15" dirty="0">
                <a:solidFill>
                  <a:srgbClr val="C00000"/>
                </a:solidFill>
                <a:latin typeface="Calibri"/>
                <a:cs typeface="Calibri"/>
              </a:rPr>
              <a:t>+</a:t>
            </a:r>
            <a:r>
              <a:rPr sz="1450" spc="-15" dirty="0">
                <a:latin typeface="Times New Roman"/>
                <a:cs typeface="Times New Roman"/>
              </a:rPr>
              <a:t>s2</a:t>
            </a:r>
            <a:r>
              <a:rPr sz="1450" spc="-15" dirty="0">
                <a:solidFill>
                  <a:srgbClr val="0000CC"/>
                </a:solidFill>
                <a:latin typeface="Times New Roman"/>
                <a:cs typeface="Times New Roman"/>
              </a:rPr>
              <a:t>); </a:t>
            </a:r>
            <a:r>
              <a:rPr sz="1450" spc="-350" dirty="0">
                <a:solidFill>
                  <a:srgbClr val="0000CC"/>
                </a:solidFill>
                <a:latin typeface="Times New Roman"/>
                <a:cs typeface="Times New Roman"/>
              </a:rPr>
              <a:t> </a:t>
            </a:r>
            <a:r>
              <a:rPr sz="1450" spc="-10" dirty="0">
                <a:latin typeface="Times New Roman"/>
                <a:cs typeface="Times New Roman"/>
              </a:rPr>
              <a:t>System.out.println(s1</a:t>
            </a:r>
            <a:r>
              <a:rPr sz="1450" b="1" spc="-10" dirty="0">
                <a:solidFill>
                  <a:srgbClr val="C00000"/>
                </a:solidFill>
                <a:latin typeface="Calibri"/>
                <a:cs typeface="Calibri"/>
              </a:rPr>
              <a:t>+</a:t>
            </a:r>
            <a:r>
              <a:rPr sz="1450" spc="-10" dirty="0">
                <a:latin typeface="Times New Roman"/>
                <a:cs typeface="Times New Roman"/>
              </a:rPr>
              <a:t>a</a:t>
            </a:r>
            <a:r>
              <a:rPr sz="1450" b="1" spc="-10" dirty="0">
                <a:latin typeface="Calibri"/>
                <a:cs typeface="Calibri"/>
              </a:rPr>
              <a:t>)</a:t>
            </a:r>
            <a:r>
              <a:rPr sz="1450" spc="-10" dirty="0">
                <a:latin typeface="Times New Roman"/>
                <a:cs typeface="Times New Roman"/>
              </a:rPr>
              <a:t>;</a:t>
            </a:r>
            <a:endParaRPr sz="1450">
              <a:latin typeface="Times New Roman"/>
              <a:cs typeface="Times New Roman"/>
            </a:endParaRPr>
          </a:p>
          <a:p>
            <a:pPr marL="255904">
              <a:lnSpc>
                <a:spcPct val="100000"/>
              </a:lnSpc>
              <a:spcBef>
                <a:spcPts val="229"/>
              </a:spcBef>
            </a:pPr>
            <a:r>
              <a:rPr sz="1450" spc="-265" dirty="0">
                <a:latin typeface="Times New Roman"/>
                <a:cs typeface="Times New Roman"/>
              </a:rPr>
              <a:t>}</a:t>
            </a:r>
            <a:endParaRPr sz="1450">
              <a:latin typeface="Times New Roman"/>
              <a:cs typeface="Times New Roman"/>
            </a:endParaRPr>
          </a:p>
          <a:p>
            <a:pPr marL="12700">
              <a:lnSpc>
                <a:spcPct val="100000"/>
              </a:lnSpc>
              <a:spcBef>
                <a:spcPts val="420"/>
              </a:spcBef>
            </a:pPr>
            <a:r>
              <a:rPr sz="1450" spc="-265" dirty="0">
                <a:latin typeface="Times New Roman"/>
                <a:cs typeface="Times New Roman"/>
              </a:rPr>
              <a:t>}</a:t>
            </a:r>
            <a:endParaRPr sz="1450">
              <a:latin typeface="Times New Roman"/>
              <a:cs typeface="Times New Roman"/>
            </a:endParaRPr>
          </a:p>
        </p:txBody>
      </p:sp>
      <p:grpSp>
        <p:nvGrpSpPr>
          <p:cNvPr id="6" name="object 6"/>
          <p:cNvGrpSpPr/>
          <p:nvPr/>
        </p:nvGrpSpPr>
        <p:grpSpPr>
          <a:xfrm>
            <a:off x="3876083" y="2179345"/>
            <a:ext cx="1303020" cy="1044575"/>
            <a:chOff x="3876083" y="2179345"/>
            <a:chExt cx="1303020" cy="1044575"/>
          </a:xfrm>
        </p:grpSpPr>
        <p:pic>
          <p:nvPicPr>
            <p:cNvPr id="7" name="object 7"/>
            <p:cNvPicPr/>
            <p:nvPr/>
          </p:nvPicPr>
          <p:blipFill>
            <a:blip r:embed="rId3" cstate="print"/>
            <a:stretch>
              <a:fillRect/>
            </a:stretch>
          </p:blipFill>
          <p:spPr>
            <a:xfrm>
              <a:off x="3972378" y="2240163"/>
              <a:ext cx="1206221" cy="871722"/>
            </a:xfrm>
            <a:prstGeom prst="rect">
              <a:avLst/>
            </a:prstGeom>
          </p:spPr>
        </p:pic>
        <p:pic>
          <p:nvPicPr>
            <p:cNvPr id="8" name="object 8"/>
            <p:cNvPicPr/>
            <p:nvPr/>
          </p:nvPicPr>
          <p:blipFill>
            <a:blip r:embed="rId4" cstate="print"/>
            <a:stretch>
              <a:fillRect/>
            </a:stretch>
          </p:blipFill>
          <p:spPr>
            <a:xfrm>
              <a:off x="3876083" y="2179345"/>
              <a:ext cx="1277175" cy="1044040"/>
            </a:xfrm>
            <a:prstGeom prst="rect">
              <a:avLst/>
            </a:prstGeom>
          </p:spPr>
        </p:pic>
        <p:pic>
          <p:nvPicPr>
            <p:cNvPr id="9" name="object 9"/>
            <p:cNvPicPr/>
            <p:nvPr/>
          </p:nvPicPr>
          <p:blipFill>
            <a:blip r:embed="rId5" cstate="print"/>
            <a:stretch>
              <a:fillRect/>
            </a:stretch>
          </p:blipFill>
          <p:spPr>
            <a:xfrm>
              <a:off x="3991848" y="2247797"/>
              <a:ext cx="1164795" cy="835371"/>
            </a:xfrm>
            <a:prstGeom prst="rect">
              <a:avLst/>
            </a:prstGeom>
          </p:spPr>
        </p:pic>
      </p:grpSp>
      <p:sp>
        <p:nvSpPr>
          <p:cNvPr id="10" name="object 10"/>
          <p:cNvSpPr txBox="1"/>
          <p:nvPr/>
        </p:nvSpPr>
        <p:spPr>
          <a:xfrm>
            <a:off x="3991848" y="2247797"/>
            <a:ext cx="1165225" cy="835660"/>
          </a:xfrm>
          <a:prstGeom prst="rect">
            <a:avLst/>
          </a:prstGeom>
          <a:ln w="5073">
            <a:solidFill>
              <a:srgbClr val="000000"/>
            </a:solidFill>
          </a:ln>
        </p:spPr>
        <p:txBody>
          <a:bodyPr vert="horz" wrap="square" lIns="0" tIns="13335" rIns="0" bIns="0" rtlCol="0">
            <a:spAutoFit/>
          </a:bodyPr>
          <a:lstStyle/>
          <a:p>
            <a:pPr marL="51435" marR="210820">
              <a:lnSpc>
                <a:spcPct val="101899"/>
              </a:lnSpc>
              <a:spcBef>
                <a:spcPts val="105"/>
              </a:spcBef>
            </a:pPr>
            <a:r>
              <a:rPr sz="1700" spc="-10" dirty="0">
                <a:solidFill>
                  <a:srgbClr val="C00000"/>
                </a:solidFill>
                <a:latin typeface="Arial MT"/>
                <a:cs typeface="Arial MT"/>
              </a:rPr>
              <a:t>O</a:t>
            </a:r>
            <a:r>
              <a:rPr sz="1700" spc="5" dirty="0">
                <a:solidFill>
                  <a:srgbClr val="C00000"/>
                </a:solidFill>
                <a:latin typeface="Arial MT"/>
                <a:cs typeface="Arial MT"/>
              </a:rPr>
              <a:t>U</a:t>
            </a:r>
            <a:r>
              <a:rPr sz="1700" spc="-5" dirty="0">
                <a:solidFill>
                  <a:srgbClr val="C00000"/>
                </a:solidFill>
                <a:latin typeface="Arial MT"/>
                <a:cs typeface="Arial MT"/>
              </a:rPr>
              <a:t>T</a:t>
            </a:r>
            <a:r>
              <a:rPr sz="1700" spc="20" dirty="0">
                <a:solidFill>
                  <a:srgbClr val="C00000"/>
                </a:solidFill>
                <a:latin typeface="Arial MT"/>
                <a:cs typeface="Arial MT"/>
              </a:rPr>
              <a:t>P</a:t>
            </a:r>
            <a:r>
              <a:rPr sz="1700" spc="5" dirty="0">
                <a:solidFill>
                  <a:srgbClr val="C00000"/>
                </a:solidFill>
                <a:latin typeface="Arial MT"/>
                <a:cs typeface="Arial MT"/>
              </a:rPr>
              <a:t>UT </a:t>
            </a:r>
            <a:r>
              <a:rPr sz="1700" spc="-5" dirty="0">
                <a:solidFill>
                  <a:srgbClr val="C00000"/>
                </a:solidFill>
                <a:latin typeface="Times New Roman"/>
                <a:cs typeface="Times New Roman"/>
              </a:rPr>
              <a:t> </a:t>
            </a:r>
            <a:r>
              <a:rPr sz="1700" spc="10" dirty="0">
                <a:latin typeface="Arial MT"/>
                <a:cs typeface="Arial MT"/>
              </a:rPr>
              <a:t>1012</a:t>
            </a:r>
            <a:endParaRPr sz="1700">
              <a:latin typeface="Arial MT"/>
              <a:cs typeface="Arial MT"/>
            </a:endParaRPr>
          </a:p>
          <a:p>
            <a:pPr marL="51435">
              <a:lnSpc>
                <a:spcPts val="2039"/>
              </a:lnSpc>
            </a:pPr>
            <a:r>
              <a:rPr sz="1700" spc="10" dirty="0">
                <a:latin typeface="Arial MT"/>
                <a:cs typeface="Arial MT"/>
              </a:rPr>
              <a:t>1013</a:t>
            </a:r>
            <a:endParaRPr sz="1700">
              <a:latin typeface="Arial MT"/>
              <a:cs typeface="Arial MT"/>
            </a:endParaRPr>
          </a:p>
        </p:txBody>
      </p:sp>
      <p:sp>
        <p:nvSpPr>
          <p:cNvPr id="11" name="object 11"/>
          <p:cNvSpPr/>
          <p:nvPr/>
        </p:nvSpPr>
        <p:spPr>
          <a:xfrm>
            <a:off x="4015" y="633646"/>
            <a:ext cx="6487795" cy="3649345"/>
          </a:xfrm>
          <a:custGeom>
            <a:avLst/>
            <a:gdLst/>
            <a:ahLst/>
            <a:cxnLst/>
            <a:rect l="l" t="t" r="r" b="b"/>
            <a:pathLst>
              <a:path w="6487795" h="3649345">
                <a:moveTo>
                  <a:pt x="0" y="0"/>
                </a:moveTo>
                <a:lnTo>
                  <a:pt x="6487240" y="0"/>
                </a:lnTo>
                <a:lnTo>
                  <a:pt x="6487240" y="3649072"/>
                </a:lnTo>
                <a:lnTo>
                  <a:pt x="0" y="3649072"/>
                </a:lnTo>
                <a:lnTo>
                  <a:pt x="0" y="0"/>
                </a:lnTo>
                <a:close/>
              </a:path>
            </a:pathLst>
          </a:custGeom>
          <a:ln w="10806">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706B6-941A-8D9F-FF17-EC3FA2F3904D}"/>
              </a:ext>
            </a:extLst>
          </p:cNvPr>
          <p:cNvSpPr>
            <a:spLocks noGrp="1"/>
          </p:cNvSpPr>
          <p:nvPr>
            <p:ph type="title" idx="4294967295"/>
          </p:nvPr>
        </p:nvSpPr>
        <p:spPr>
          <a:xfrm>
            <a:off x="0" y="268288"/>
            <a:ext cx="5765800" cy="293687"/>
          </a:xfrm>
        </p:spPr>
        <p:txBody>
          <a:bodyPr/>
          <a:lstStyle/>
          <a:p>
            <a:r>
              <a:rPr lang="en-US" dirty="0">
                <a:solidFill>
                  <a:schemeClr val="tx2"/>
                </a:solidFill>
              </a:rPr>
              <a:t>		Vector Class</a:t>
            </a:r>
          </a:p>
        </p:txBody>
      </p:sp>
      <p:sp>
        <p:nvSpPr>
          <p:cNvPr id="3" name="Text Placeholder 2">
            <a:extLst>
              <a:ext uri="{FF2B5EF4-FFF2-40B4-BE49-F238E27FC236}">
                <a16:creationId xmlns:a16="http://schemas.microsoft.com/office/drawing/2014/main" id="{C8C99785-E7D4-F5A4-BF7E-D8F5FEC51A1C}"/>
              </a:ext>
            </a:extLst>
          </p:cNvPr>
          <p:cNvSpPr>
            <a:spLocks noGrp="1"/>
          </p:cNvSpPr>
          <p:nvPr>
            <p:ph type="body" idx="4294967295"/>
          </p:nvPr>
        </p:nvSpPr>
        <p:spPr>
          <a:xfrm>
            <a:off x="127000" y="622300"/>
            <a:ext cx="6375400" cy="3055938"/>
          </a:xfrm>
        </p:spPr>
        <p:txBody>
          <a:bodyPr/>
          <a:lstStyle/>
          <a:p>
            <a:pPr marL="285750" indent="-285750">
              <a:lnSpc>
                <a:spcPct val="150000"/>
              </a:lnSpc>
              <a:buFont typeface="Arial" panose="020B0604020202020204" pitchFamily="34" charset="0"/>
              <a:buChar char="•"/>
            </a:pPr>
            <a:r>
              <a:rPr lang="en-US" sz="1600" dirty="0">
                <a:latin typeface="Arial" panose="020B0604020202020204" pitchFamily="34" charset="0"/>
                <a:cs typeface="Arial" panose="020B0604020202020204" pitchFamily="34" charset="0"/>
              </a:rPr>
              <a:t>Vector implements a dynamic array.</a:t>
            </a:r>
          </a:p>
          <a:p>
            <a:pPr marL="285750" indent="-285750">
              <a:lnSpc>
                <a:spcPct val="150000"/>
              </a:lnSpc>
              <a:buFont typeface="Arial" panose="020B0604020202020204" pitchFamily="34" charset="0"/>
              <a:buChar char="•"/>
            </a:pPr>
            <a:r>
              <a:rPr lang="en-US" sz="1600" dirty="0">
                <a:latin typeface="Arial" panose="020B0604020202020204" pitchFamily="34" charset="0"/>
                <a:cs typeface="Arial" panose="020B0604020202020204" pitchFamily="34" charset="0"/>
              </a:rPr>
              <a:t>Vector class is contained in </a:t>
            </a:r>
            <a:r>
              <a:rPr lang="en-US" sz="1600" dirty="0" err="1">
                <a:latin typeface="Arial" panose="020B0604020202020204" pitchFamily="34" charset="0"/>
                <a:cs typeface="Arial" panose="020B0604020202020204" pitchFamily="34" charset="0"/>
              </a:rPr>
              <a:t>java.util</a:t>
            </a:r>
            <a:r>
              <a:rPr lang="en-US" sz="1600" dirty="0">
                <a:latin typeface="Arial" panose="020B0604020202020204" pitchFamily="34" charset="0"/>
                <a:cs typeface="Arial" panose="020B0604020202020204" pitchFamily="34" charset="0"/>
              </a:rPr>
              <a:t> package</a:t>
            </a:r>
          </a:p>
          <a:p>
            <a:pPr marL="285750" indent="-285750">
              <a:lnSpc>
                <a:spcPct val="150000"/>
              </a:lnSpc>
              <a:buFont typeface="Arial" panose="020B0604020202020204" pitchFamily="34" charset="0"/>
              <a:buChar char="•"/>
            </a:pPr>
            <a:r>
              <a:rPr lang="en-US" sz="1600" spc="10" dirty="0">
                <a:latin typeface="Arial" panose="020B0604020202020204" pitchFamily="34" charset="0"/>
                <a:cs typeface="Arial" panose="020B0604020202020204" pitchFamily="34" charset="0"/>
              </a:rPr>
              <a:t>Vector is </a:t>
            </a:r>
            <a:r>
              <a:rPr lang="en-US" sz="1600" spc="5" dirty="0">
                <a:latin typeface="Arial" panose="020B0604020202020204" pitchFamily="34" charset="0"/>
                <a:cs typeface="Arial" panose="020B0604020202020204" pitchFamily="34" charset="0"/>
              </a:rPr>
              <a:t>useful </a:t>
            </a:r>
            <a:r>
              <a:rPr lang="en-US" sz="1600" spc="-20" dirty="0">
                <a:latin typeface="Arial" panose="020B0604020202020204" pitchFamily="34" charset="0"/>
                <a:cs typeface="Arial" panose="020B0604020202020204" pitchFamily="34" charset="0"/>
              </a:rPr>
              <a:t>if </a:t>
            </a:r>
            <a:r>
              <a:rPr lang="en-US" sz="1600" spc="-5" dirty="0">
                <a:latin typeface="Arial" panose="020B0604020202020204" pitchFamily="34" charset="0"/>
                <a:cs typeface="Arial" panose="020B0604020202020204" pitchFamily="34" charset="0"/>
              </a:rPr>
              <a:t>you </a:t>
            </a:r>
            <a:r>
              <a:rPr lang="en-US" sz="1600" spc="15" dirty="0">
                <a:latin typeface="Arial" panose="020B0604020202020204" pitchFamily="34" charset="0"/>
                <a:cs typeface="Arial" panose="020B0604020202020204" pitchFamily="34" charset="0"/>
              </a:rPr>
              <a:t>don't </a:t>
            </a:r>
            <a:r>
              <a:rPr lang="en-US" sz="1600" spc="25" dirty="0">
                <a:latin typeface="Arial" panose="020B0604020202020204" pitchFamily="34" charset="0"/>
                <a:cs typeface="Arial" panose="020B0604020202020204" pitchFamily="34" charset="0"/>
              </a:rPr>
              <a:t>know </a:t>
            </a:r>
            <a:r>
              <a:rPr lang="en-US" sz="1600" spc="10" dirty="0">
                <a:latin typeface="Arial" panose="020B0604020202020204" pitchFamily="34" charset="0"/>
                <a:cs typeface="Arial" panose="020B0604020202020204" pitchFamily="34" charset="0"/>
              </a:rPr>
              <a:t>the </a:t>
            </a:r>
            <a:r>
              <a:rPr lang="en-US" sz="1600" spc="-15" dirty="0">
                <a:latin typeface="Arial" panose="020B0604020202020204" pitchFamily="34" charset="0"/>
                <a:cs typeface="Arial" panose="020B0604020202020204" pitchFamily="34" charset="0"/>
              </a:rPr>
              <a:t>size </a:t>
            </a:r>
            <a:r>
              <a:rPr lang="en-US" sz="1600" spc="15" dirty="0">
                <a:latin typeface="Arial" panose="020B0604020202020204" pitchFamily="34" charset="0"/>
                <a:cs typeface="Arial" panose="020B0604020202020204" pitchFamily="34" charset="0"/>
              </a:rPr>
              <a:t>of </a:t>
            </a:r>
            <a:r>
              <a:rPr lang="en-US" sz="1600" spc="10" dirty="0">
                <a:latin typeface="Arial" panose="020B0604020202020204" pitchFamily="34" charset="0"/>
                <a:cs typeface="Arial" panose="020B0604020202020204" pitchFamily="34" charset="0"/>
              </a:rPr>
              <a:t>the </a:t>
            </a:r>
            <a:r>
              <a:rPr lang="en-US" sz="1600" spc="15" dirty="0">
                <a:latin typeface="Arial" panose="020B0604020202020204" pitchFamily="34" charset="0"/>
                <a:cs typeface="Arial" panose="020B0604020202020204" pitchFamily="34" charset="0"/>
              </a:rPr>
              <a:t> </a:t>
            </a:r>
            <a:r>
              <a:rPr lang="en-US" sz="1600" spc="-5" dirty="0">
                <a:latin typeface="Arial" panose="020B0604020202020204" pitchFamily="34" charset="0"/>
                <a:cs typeface="Arial" panose="020B0604020202020204" pitchFamily="34" charset="0"/>
              </a:rPr>
              <a:t>array</a:t>
            </a:r>
            <a:r>
              <a:rPr lang="en-US" sz="1600" spc="130" dirty="0">
                <a:latin typeface="Arial" panose="020B0604020202020204" pitchFamily="34" charset="0"/>
                <a:cs typeface="Arial" panose="020B0604020202020204" pitchFamily="34" charset="0"/>
              </a:rPr>
              <a:t> </a:t>
            </a:r>
            <a:r>
              <a:rPr lang="en-US" sz="1600" spc="-15" dirty="0">
                <a:latin typeface="Arial" panose="020B0604020202020204" pitchFamily="34" charset="0"/>
                <a:cs typeface="Arial" panose="020B0604020202020204" pitchFamily="34" charset="0"/>
              </a:rPr>
              <a:t>in</a:t>
            </a:r>
            <a:r>
              <a:rPr lang="en-US" sz="1600" spc="50"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advance</a:t>
            </a:r>
            <a:r>
              <a:rPr lang="en-US" sz="1600" spc="130" dirty="0">
                <a:latin typeface="Arial" panose="020B0604020202020204" pitchFamily="34" charset="0"/>
                <a:cs typeface="Arial" panose="020B0604020202020204" pitchFamily="34" charset="0"/>
              </a:rPr>
              <a:t> </a:t>
            </a:r>
            <a:r>
              <a:rPr lang="en-US" sz="1600" spc="15" dirty="0">
                <a:latin typeface="Arial" panose="020B0604020202020204" pitchFamily="34" charset="0"/>
                <a:cs typeface="Arial" panose="020B0604020202020204" pitchFamily="34" charset="0"/>
              </a:rPr>
              <a:t>or</a:t>
            </a:r>
            <a:r>
              <a:rPr lang="en-US" sz="1600" spc="25" dirty="0">
                <a:latin typeface="Arial" panose="020B0604020202020204" pitchFamily="34" charset="0"/>
                <a:cs typeface="Arial" panose="020B0604020202020204" pitchFamily="34" charset="0"/>
              </a:rPr>
              <a:t> </a:t>
            </a:r>
            <a:r>
              <a:rPr lang="en-US" sz="1600" spc="-5" dirty="0">
                <a:latin typeface="Arial" panose="020B0604020202020204" pitchFamily="34" charset="0"/>
                <a:cs typeface="Arial" panose="020B0604020202020204" pitchFamily="34" charset="0"/>
              </a:rPr>
              <a:t>you</a:t>
            </a:r>
            <a:r>
              <a:rPr lang="en-US" sz="1600" spc="45" dirty="0">
                <a:latin typeface="Arial" panose="020B0604020202020204" pitchFamily="34" charset="0"/>
                <a:cs typeface="Arial" panose="020B0604020202020204" pitchFamily="34" charset="0"/>
              </a:rPr>
              <a:t> </a:t>
            </a:r>
            <a:r>
              <a:rPr lang="en-US" sz="1600" spc="10" dirty="0">
                <a:latin typeface="Arial" panose="020B0604020202020204" pitchFamily="34" charset="0"/>
                <a:cs typeface="Arial" panose="020B0604020202020204" pitchFamily="34" charset="0"/>
              </a:rPr>
              <a:t>just</a:t>
            </a:r>
            <a:r>
              <a:rPr lang="en-US" sz="1600" spc="25" dirty="0">
                <a:latin typeface="Arial" panose="020B0604020202020204" pitchFamily="34" charset="0"/>
                <a:cs typeface="Arial" panose="020B0604020202020204" pitchFamily="34" charset="0"/>
              </a:rPr>
              <a:t> </a:t>
            </a:r>
            <a:r>
              <a:rPr lang="en-US" sz="1600" spc="5" dirty="0">
                <a:latin typeface="Arial" panose="020B0604020202020204" pitchFamily="34" charset="0"/>
                <a:cs typeface="Arial" panose="020B0604020202020204" pitchFamily="34" charset="0"/>
              </a:rPr>
              <a:t>need</a:t>
            </a:r>
            <a:r>
              <a:rPr lang="en-US" sz="1600" spc="45" dirty="0">
                <a:latin typeface="Arial" panose="020B0604020202020204" pitchFamily="34" charset="0"/>
                <a:cs typeface="Arial" panose="020B0604020202020204" pitchFamily="34" charset="0"/>
              </a:rPr>
              <a:t> </a:t>
            </a:r>
            <a:r>
              <a:rPr lang="en-US" sz="1600" spc="20" dirty="0">
                <a:latin typeface="Arial" panose="020B0604020202020204" pitchFamily="34" charset="0"/>
                <a:cs typeface="Arial" panose="020B0604020202020204" pitchFamily="34" charset="0"/>
              </a:rPr>
              <a:t>one</a:t>
            </a:r>
            <a:r>
              <a:rPr lang="en-US" sz="1600" spc="15"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that</a:t>
            </a:r>
            <a:r>
              <a:rPr lang="en-US" sz="1600" spc="60" dirty="0">
                <a:latin typeface="Arial" panose="020B0604020202020204" pitchFamily="34" charset="0"/>
                <a:cs typeface="Arial" panose="020B0604020202020204" pitchFamily="34" charset="0"/>
              </a:rPr>
              <a:t> </a:t>
            </a:r>
            <a:r>
              <a:rPr lang="en-US" sz="1600" spc="10" dirty="0">
                <a:latin typeface="Arial" panose="020B0604020202020204" pitchFamily="34" charset="0"/>
                <a:cs typeface="Arial" panose="020B0604020202020204" pitchFamily="34" charset="0"/>
              </a:rPr>
              <a:t>can</a:t>
            </a:r>
            <a:r>
              <a:rPr lang="en-US" sz="1600" spc="50" dirty="0">
                <a:latin typeface="Arial" panose="020B0604020202020204" pitchFamily="34" charset="0"/>
                <a:cs typeface="Arial" panose="020B0604020202020204" pitchFamily="34" charset="0"/>
              </a:rPr>
              <a:t> </a:t>
            </a:r>
            <a:r>
              <a:rPr lang="en-US" sz="1600" spc="15" dirty="0">
                <a:latin typeface="Arial" panose="020B0604020202020204" pitchFamily="34" charset="0"/>
                <a:cs typeface="Arial" panose="020B0604020202020204" pitchFamily="34" charset="0"/>
              </a:rPr>
              <a:t>change</a:t>
            </a:r>
            <a:r>
              <a:rPr lang="en-US" sz="1600" spc="10" dirty="0">
                <a:latin typeface="Arial" panose="020B0604020202020204" pitchFamily="34" charset="0"/>
                <a:cs typeface="Arial" panose="020B0604020202020204" pitchFamily="34" charset="0"/>
              </a:rPr>
              <a:t> </a:t>
            </a:r>
            <a:r>
              <a:rPr lang="en-US" sz="1600" spc="-15" dirty="0">
                <a:latin typeface="Arial" panose="020B0604020202020204" pitchFamily="34" charset="0"/>
                <a:cs typeface="Arial" panose="020B0604020202020204" pitchFamily="34" charset="0"/>
              </a:rPr>
              <a:t>sizes</a:t>
            </a:r>
            <a:r>
              <a:rPr lang="en-US" sz="1600" spc="135" dirty="0">
                <a:latin typeface="Arial" panose="020B0604020202020204" pitchFamily="34" charset="0"/>
                <a:cs typeface="Arial" panose="020B0604020202020204" pitchFamily="34" charset="0"/>
              </a:rPr>
              <a:t> </a:t>
            </a:r>
            <a:r>
              <a:rPr lang="en-US" sz="1600" spc="-10" dirty="0">
                <a:latin typeface="Arial" panose="020B0604020202020204" pitchFamily="34" charset="0"/>
                <a:cs typeface="Arial" panose="020B0604020202020204" pitchFamily="34" charset="0"/>
              </a:rPr>
              <a:t>over </a:t>
            </a:r>
            <a:r>
              <a:rPr lang="en-US" sz="1600" spc="-390" dirty="0">
                <a:latin typeface="Arial" panose="020B0604020202020204" pitchFamily="34" charset="0"/>
                <a:cs typeface="Arial" panose="020B0604020202020204" pitchFamily="34" charset="0"/>
              </a:rPr>
              <a:t> </a:t>
            </a:r>
            <a:r>
              <a:rPr lang="en-US" sz="1600" spc="10" dirty="0">
                <a:latin typeface="Arial" panose="020B0604020202020204" pitchFamily="34" charset="0"/>
                <a:cs typeface="Arial" panose="020B0604020202020204" pitchFamily="34" charset="0"/>
              </a:rPr>
              <a:t>the</a:t>
            </a:r>
            <a:r>
              <a:rPr lang="en-US" sz="1600" spc="5" dirty="0">
                <a:latin typeface="Arial" panose="020B0604020202020204" pitchFamily="34" charset="0"/>
                <a:cs typeface="Arial" panose="020B0604020202020204" pitchFamily="34" charset="0"/>
              </a:rPr>
              <a:t> </a:t>
            </a:r>
            <a:r>
              <a:rPr lang="en-US" sz="1600" spc="-5" dirty="0">
                <a:latin typeface="Arial" panose="020B0604020202020204" pitchFamily="34" charset="0"/>
                <a:cs typeface="Arial" panose="020B0604020202020204" pitchFamily="34" charset="0"/>
              </a:rPr>
              <a:t>lifetime</a:t>
            </a:r>
            <a:r>
              <a:rPr lang="en-US" sz="1600" spc="165" dirty="0">
                <a:latin typeface="Arial" panose="020B0604020202020204" pitchFamily="34" charset="0"/>
                <a:cs typeface="Arial" panose="020B0604020202020204" pitchFamily="34" charset="0"/>
              </a:rPr>
              <a:t> </a:t>
            </a:r>
            <a:r>
              <a:rPr lang="en-US" sz="1600" spc="15" dirty="0">
                <a:latin typeface="Arial" panose="020B0604020202020204" pitchFamily="34" charset="0"/>
                <a:cs typeface="Arial" panose="020B0604020202020204" pitchFamily="34" charset="0"/>
              </a:rPr>
              <a:t>of</a:t>
            </a:r>
            <a:r>
              <a:rPr lang="en-US" sz="1600" spc="20" dirty="0">
                <a:latin typeface="Arial" panose="020B0604020202020204" pitchFamily="34" charset="0"/>
                <a:cs typeface="Arial" panose="020B0604020202020204" pitchFamily="34" charset="0"/>
              </a:rPr>
              <a:t> </a:t>
            </a:r>
            <a:r>
              <a:rPr lang="en-US" sz="1600" spc="15" dirty="0">
                <a:latin typeface="Arial" panose="020B0604020202020204" pitchFamily="34" charset="0"/>
                <a:cs typeface="Arial" panose="020B0604020202020204" pitchFamily="34" charset="0"/>
              </a:rPr>
              <a:t>a</a:t>
            </a:r>
            <a:r>
              <a:rPr lang="en-US" sz="1600" spc="10" dirty="0">
                <a:latin typeface="Arial" panose="020B0604020202020204" pitchFamily="34" charset="0"/>
                <a:cs typeface="Arial" panose="020B0604020202020204" pitchFamily="34" charset="0"/>
              </a:rPr>
              <a:t> program.</a:t>
            </a:r>
            <a:endParaRPr lang="en-US" sz="16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sz="1600" dirty="0">
                <a:latin typeface="Arial" panose="020B0604020202020204" pitchFamily="34" charset="0"/>
                <a:cs typeface="Arial" panose="020B0604020202020204" pitchFamily="34" charset="0"/>
              </a:rPr>
              <a:t>Vector is different from </a:t>
            </a:r>
            <a:r>
              <a:rPr lang="en-US" sz="1600" dirty="0" err="1">
                <a:latin typeface="Arial" panose="020B0604020202020204" pitchFamily="34" charset="0"/>
                <a:cs typeface="Arial" panose="020B0604020202020204" pitchFamily="34" charset="0"/>
              </a:rPr>
              <a:t>ArrayList</a:t>
            </a:r>
            <a:r>
              <a:rPr lang="en-US" sz="1600" dirty="0">
                <a:latin typeface="Arial" panose="020B0604020202020204" pitchFamily="34" charset="0"/>
                <a:cs typeface="Arial" panose="020B0604020202020204" pitchFamily="34" charset="0"/>
              </a:rPr>
              <a:t> in two ways:-</a:t>
            </a:r>
          </a:p>
          <a:p>
            <a:pPr marL="652145" lvl="1" indent="-182880">
              <a:spcBef>
                <a:spcPts val="420"/>
              </a:spcBef>
              <a:buChar char="•"/>
              <a:tabLst>
                <a:tab pos="195580" algn="l"/>
              </a:tabLst>
            </a:pPr>
            <a:r>
              <a:rPr lang="en-US" sz="1600" spc="10" dirty="0">
                <a:latin typeface="Arial" panose="020B0604020202020204" pitchFamily="34" charset="0"/>
                <a:cs typeface="Arial" panose="020B0604020202020204" pitchFamily="34" charset="0"/>
              </a:rPr>
              <a:t>Vector</a:t>
            </a:r>
            <a:r>
              <a:rPr lang="en-US" sz="1600" spc="5" dirty="0">
                <a:latin typeface="Arial" panose="020B0604020202020204" pitchFamily="34" charset="0"/>
                <a:cs typeface="Arial" panose="020B0604020202020204" pitchFamily="34" charset="0"/>
              </a:rPr>
              <a:t> </a:t>
            </a:r>
            <a:r>
              <a:rPr lang="en-US" sz="1600" spc="-15" dirty="0">
                <a:latin typeface="Arial" panose="020B0604020202020204" pitchFamily="34" charset="0"/>
                <a:cs typeface="Arial" panose="020B0604020202020204" pitchFamily="34" charset="0"/>
              </a:rPr>
              <a:t>is</a:t>
            </a:r>
            <a:r>
              <a:rPr lang="en-US" sz="1600" spc="75"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synchronized.</a:t>
            </a:r>
          </a:p>
          <a:p>
            <a:pPr marL="652145" marR="348615" lvl="1" indent="-182880">
              <a:lnSpc>
                <a:spcPct val="103400"/>
              </a:lnSpc>
              <a:spcBef>
                <a:spcPts val="355"/>
              </a:spcBef>
              <a:buChar char="•"/>
              <a:tabLst>
                <a:tab pos="195580" algn="l"/>
              </a:tabLst>
            </a:pPr>
            <a:r>
              <a:rPr lang="en-US" sz="1600" spc="10" dirty="0">
                <a:latin typeface="Arial" panose="020B0604020202020204" pitchFamily="34" charset="0"/>
                <a:cs typeface="Arial" panose="020B0604020202020204" pitchFamily="34" charset="0"/>
              </a:rPr>
              <a:t>Vector</a:t>
            </a:r>
            <a:r>
              <a:rPr lang="en-US" sz="1600" spc="20" dirty="0">
                <a:latin typeface="Arial" panose="020B0604020202020204" pitchFamily="34" charset="0"/>
                <a:cs typeface="Arial" panose="020B0604020202020204" pitchFamily="34" charset="0"/>
              </a:rPr>
              <a:t> </a:t>
            </a:r>
            <a:r>
              <a:rPr lang="en-US" sz="1600" spc="5" dirty="0">
                <a:latin typeface="Arial" panose="020B0604020202020204" pitchFamily="34" charset="0"/>
                <a:cs typeface="Arial" panose="020B0604020202020204" pitchFamily="34" charset="0"/>
              </a:rPr>
              <a:t>contains</a:t>
            </a:r>
            <a:r>
              <a:rPr lang="en-US" sz="1600" spc="90" dirty="0">
                <a:latin typeface="Arial" panose="020B0604020202020204" pitchFamily="34" charset="0"/>
                <a:cs typeface="Arial" panose="020B0604020202020204" pitchFamily="34" charset="0"/>
              </a:rPr>
              <a:t> </a:t>
            </a:r>
            <a:r>
              <a:rPr lang="en-US" sz="1600" spc="10" dirty="0">
                <a:latin typeface="Arial" panose="020B0604020202020204" pitchFamily="34" charset="0"/>
                <a:cs typeface="Arial" panose="020B0604020202020204" pitchFamily="34" charset="0"/>
              </a:rPr>
              <a:t>many</a:t>
            </a:r>
            <a:r>
              <a:rPr lang="en-US" sz="1600" spc="55"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legacy</a:t>
            </a:r>
            <a:r>
              <a:rPr lang="en-US" sz="1600" spc="90" dirty="0">
                <a:latin typeface="Arial" panose="020B0604020202020204" pitchFamily="34" charset="0"/>
                <a:cs typeface="Arial" panose="020B0604020202020204" pitchFamily="34" charset="0"/>
              </a:rPr>
              <a:t> </a:t>
            </a:r>
            <a:r>
              <a:rPr lang="en-US" sz="1600" spc="10" dirty="0">
                <a:latin typeface="Arial" panose="020B0604020202020204" pitchFamily="34" charset="0"/>
                <a:cs typeface="Arial" panose="020B0604020202020204" pitchFamily="34" charset="0"/>
              </a:rPr>
              <a:t>methods</a:t>
            </a:r>
            <a:r>
              <a:rPr lang="en-US" sz="1600" spc="55"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that</a:t>
            </a:r>
            <a:r>
              <a:rPr lang="en-US" sz="1600" spc="60"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are</a:t>
            </a:r>
            <a:r>
              <a:rPr lang="en-US" sz="1600" spc="55" dirty="0">
                <a:latin typeface="Arial" panose="020B0604020202020204" pitchFamily="34" charset="0"/>
                <a:cs typeface="Arial" panose="020B0604020202020204" pitchFamily="34" charset="0"/>
              </a:rPr>
              <a:t> </a:t>
            </a:r>
            <a:r>
              <a:rPr lang="en-US" sz="1600" spc="20" dirty="0">
                <a:latin typeface="Arial" panose="020B0604020202020204" pitchFamily="34" charset="0"/>
                <a:cs typeface="Arial" panose="020B0604020202020204" pitchFamily="34" charset="0"/>
              </a:rPr>
              <a:t>not </a:t>
            </a:r>
            <a:r>
              <a:rPr lang="en-US" sz="1600" spc="5" dirty="0">
                <a:latin typeface="Arial" panose="020B0604020202020204" pitchFamily="34" charset="0"/>
                <a:cs typeface="Arial" panose="020B0604020202020204" pitchFamily="34" charset="0"/>
              </a:rPr>
              <a:t>part</a:t>
            </a:r>
            <a:r>
              <a:rPr lang="en-US" sz="1600" spc="25" dirty="0">
                <a:latin typeface="Arial" panose="020B0604020202020204" pitchFamily="34" charset="0"/>
                <a:cs typeface="Arial" panose="020B0604020202020204" pitchFamily="34" charset="0"/>
              </a:rPr>
              <a:t> </a:t>
            </a:r>
            <a:r>
              <a:rPr lang="en-US" sz="1600" spc="15" dirty="0">
                <a:latin typeface="Arial" panose="020B0604020202020204" pitchFamily="34" charset="0"/>
                <a:cs typeface="Arial" panose="020B0604020202020204" pitchFamily="34" charset="0"/>
              </a:rPr>
              <a:t>of</a:t>
            </a:r>
            <a:r>
              <a:rPr lang="en-US" sz="1600" spc="20" dirty="0">
                <a:latin typeface="Arial" panose="020B0604020202020204" pitchFamily="34" charset="0"/>
                <a:cs typeface="Arial" panose="020B0604020202020204" pitchFamily="34" charset="0"/>
              </a:rPr>
              <a:t> </a:t>
            </a:r>
            <a:r>
              <a:rPr lang="en-US" sz="1600" spc="10" dirty="0">
                <a:latin typeface="Arial" panose="020B0604020202020204" pitchFamily="34" charset="0"/>
                <a:cs typeface="Arial" panose="020B0604020202020204" pitchFamily="34" charset="0"/>
              </a:rPr>
              <a:t>the </a:t>
            </a:r>
            <a:r>
              <a:rPr lang="en-US" sz="1600" spc="-385"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collections</a:t>
            </a:r>
            <a:r>
              <a:rPr lang="en-US" sz="1600" spc="170" dirty="0">
                <a:latin typeface="Arial" panose="020B0604020202020204" pitchFamily="34" charset="0"/>
                <a:cs typeface="Arial" panose="020B0604020202020204" pitchFamily="34" charset="0"/>
              </a:rPr>
              <a:t> </a:t>
            </a:r>
            <a:r>
              <a:rPr lang="en-US" sz="1600" spc="5" dirty="0">
                <a:latin typeface="Arial" panose="020B0604020202020204" pitchFamily="34" charset="0"/>
                <a:cs typeface="Arial" panose="020B0604020202020204" pitchFamily="34" charset="0"/>
              </a:rPr>
              <a:t>framework</a:t>
            </a: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9572606"/>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68288"/>
            <a:ext cx="5765800" cy="585787"/>
          </a:xfrm>
        </p:spPr>
        <p:txBody>
          <a:bodyPr/>
          <a:lstStyle/>
          <a:p>
            <a:r>
              <a:rPr lang="en-IN" dirty="0"/>
              <a:t/>
            </a:r>
            <a:br>
              <a:rPr lang="en-IN" dirty="0"/>
            </a:br>
            <a:r>
              <a:rPr lang="en-IN" dirty="0"/>
              <a:t>Creating a Vector</a:t>
            </a:r>
          </a:p>
        </p:txBody>
      </p:sp>
      <p:sp>
        <p:nvSpPr>
          <p:cNvPr id="3" name="Content Placeholder 2"/>
          <p:cNvSpPr>
            <a:spLocks noGrp="1"/>
          </p:cNvSpPr>
          <p:nvPr>
            <p:ph idx="4294967295"/>
          </p:nvPr>
        </p:nvSpPr>
        <p:spPr>
          <a:xfrm>
            <a:off x="431800" y="268288"/>
            <a:ext cx="5943600" cy="2462213"/>
          </a:xfrm>
        </p:spPr>
        <p:txBody>
          <a:bodyPr/>
          <a:lstStyle/>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We can create vectors in Java as:</a:t>
            </a:r>
          </a:p>
          <a:p>
            <a:pPr marL="1329618" lvl="5" indent="-171450">
              <a:buFont typeface="Arial" panose="020B0604020202020204" pitchFamily="34" charset="0"/>
              <a:buChar char="•"/>
            </a:pPr>
            <a:r>
              <a:rPr lang="en-US" sz="2000" dirty="0">
                <a:solidFill>
                  <a:srgbClr val="FF0000"/>
                </a:solidFill>
                <a:latin typeface="Arial" panose="020B0604020202020204" pitchFamily="34" charset="0"/>
                <a:cs typeface="Arial" panose="020B0604020202020204" pitchFamily="34" charset="0"/>
              </a:rPr>
              <a:t>Vector&lt;Type&gt; vector = new Vector&lt;&gt;();</a:t>
            </a:r>
          </a:p>
          <a:p>
            <a:pPr marL="285750" indent="-285750">
              <a:buFont typeface="Arial" panose="020B0604020202020204" pitchFamily="34" charset="0"/>
              <a:buChar char="•"/>
            </a:pPr>
            <a:r>
              <a:rPr lang="en-US" sz="2000" dirty="0" err="1">
                <a:latin typeface="Arial" panose="020B0604020202020204" pitchFamily="34" charset="0"/>
                <a:cs typeface="Arial" panose="020B0604020202020204" pitchFamily="34" charset="0"/>
              </a:rPr>
              <a:t>Eg</a:t>
            </a:r>
            <a:r>
              <a:rPr lang="en-US" sz="2000" dirty="0">
                <a:latin typeface="Arial" panose="020B0604020202020204" pitchFamily="34" charset="0"/>
                <a:cs typeface="Arial" panose="020B0604020202020204" pitchFamily="34" charset="0"/>
              </a:rPr>
              <a:t>:</a:t>
            </a:r>
          </a:p>
          <a:p>
            <a:pPr marL="1329618" lvl="5" indent="-171450">
              <a:buFont typeface="Arial" panose="020B0604020202020204" pitchFamily="34" charset="0"/>
              <a:buChar char="•"/>
            </a:pPr>
            <a:r>
              <a:rPr lang="en-US" sz="2000" dirty="0">
                <a:latin typeface="Arial" panose="020B0604020202020204" pitchFamily="34" charset="0"/>
                <a:cs typeface="Arial" panose="020B0604020202020204" pitchFamily="34" charset="0"/>
              </a:rPr>
              <a:t>// create Integer Vector</a:t>
            </a:r>
          </a:p>
          <a:p>
            <a:pPr marL="1329618" lvl="5" indent="-171450">
              <a:buFont typeface="Arial" panose="020B0604020202020204" pitchFamily="34" charset="0"/>
              <a:buChar char="•"/>
            </a:pPr>
            <a:r>
              <a:rPr lang="en-US" sz="2000" dirty="0">
                <a:latin typeface="Arial" panose="020B0604020202020204" pitchFamily="34" charset="0"/>
                <a:cs typeface="Arial" panose="020B0604020202020204" pitchFamily="34" charset="0"/>
              </a:rPr>
              <a:t>Vector&lt;Integer&gt; vector= new Vector&lt;&gt;();</a:t>
            </a:r>
          </a:p>
          <a:p>
            <a:pPr marL="1329618" lvl="5" indent="-171450">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1329618" lvl="5" indent="-171450">
              <a:buFont typeface="Arial" panose="020B0604020202020204" pitchFamily="34" charset="0"/>
              <a:buChar char="•"/>
            </a:pPr>
            <a:r>
              <a:rPr lang="en-US" sz="2000" dirty="0">
                <a:latin typeface="Arial" panose="020B0604020202020204" pitchFamily="34" charset="0"/>
                <a:cs typeface="Arial" panose="020B0604020202020204" pitchFamily="34" charset="0"/>
              </a:rPr>
              <a:t>// create String Vector</a:t>
            </a:r>
          </a:p>
          <a:p>
            <a:pPr marL="1329618" lvl="5" indent="-171450">
              <a:buFont typeface="Arial" panose="020B0604020202020204" pitchFamily="34" charset="0"/>
              <a:buChar char="•"/>
            </a:pPr>
            <a:r>
              <a:rPr lang="en-US" sz="2000" dirty="0">
                <a:latin typeface="Arial" panose="020B0604020202020204" pitchFamily="34" charset="0"/>
                <a:cs typeface="Arial" panose="020B0604020202020204" pitchFamily="34" charset="0"/>
              </a:rPr>
              <a:t>Vector&lt;String&gt; vector= new Vector&lt;&gt;();</a:t>
            </a:r>
          </a:p>
        </p:txBody>
      </p:sp>
    </p:spTree>
    <p:extLst>
      <p:ext uri="{BB962C8B-B14F-4D97-AF65-F5344CB8AC3E}">
        <p14:creationId xmlns:p14="http://schemas.microsoft.com/office/powerpoint/2010/main" val="958415628"/>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68288"/>
            <a:ext cx="5765800" cy="585787"/>
          </a:xfrm>
        </p:spPr>
        <p:txBody>
          <a:bodyPr/>
          <a:lstStyle/>
          <a:p>
            <a:r>
              <a:rPr lang="en-IN" dirty="0"/>
              <a:t/>
            </a:r>
            <a:br>
              <a:rPr lang="en-IN" dirty="0"/>
            </a:br>
            <a:r>
              <a:rPr lang="en-IN" dirty="0"/>
              <a:t>Creating a Vector</a:t>
            </a:r>
          </a:p>
        </p:txBody>
      </p:sp>
      <p:sp>
        <p:nvSpPr>
          <p:cNvPr id="3" name="Content Placeholder 2"/>
          <p:cNvSpPr>
            <a:spLocks noGrp="1"/>
          </p:cNvSpPr>
          <p:nvPr>
            <p:ph idx="4294967295"/>
          </p:nvPr>
        </p:nvSpPr>
        <p:spPr>
          <a:xfrm>
            <a:off x="0" y="317500"/>
            <a:ext cx="6451599" cy="3600986"/>
          </a:xfrm>
        </p:spPr>
        <p:txBody>
          <a:bodyPr/>
          <a:lstStyle/>
          <a:p>
            <a:pPr marL="342900" indent="-342900" algn="just">
              <a:buFont typeface="Arial" panose="020B0604020202020204" pitchFamily="34" charset="0"/>
              <a:buChar char="•"/>
            </a:pPr>
            <a:r>
              <a:rPr lang="en-US" sz="1800" dirty="0">
                <a:latin typeface="Arial" panose="020B0604020202020204" pitchFamily="34" charset="0"/>
                <a:cs typeface="Arial" panose="020B0604020202020204" pitchFamily="34" charset="0"/>
              </a:rPr>
              <a:t>Vectors Constructors</a:t>
            </a:r>
          </a:p>
          <a:p>
            <a:pPr marL="800100" lvl="1" indent="-342900" algn="just">
              <a:buFont typeface="Arial" panose="020B0604020202020204" pitchFamily="34" charset="0"/>
              <a:buChar char="•"/>
            </a:pPr>
            <a:r>
              <a:rPr lang="en-US" dirty="0">
                <a:latin typeface="Arial" panose="020B0604020202020204" pitchFamily="34" charset="0"/>
                <a:cs typeface="Arial" panose="020B0604020202020204" pitchFamily="34" charset="0"/>
              </a:rPr>
              <a:t>Vector(int </a:t>
            </a:r>
            <a:r>
              <a:rPr lang="en-US" dirty="0" err="1">
                <a:latin typeface="Arial" panose="020B0604020202020204" pitchFamily="34" charset="0"/>
                <a:cs typeface="Arial" panose="020B0604020202020204" pitchFamily="34" charset="0"/>
              </a:rPr>
              <a:t>initialCapacity</a:t>
            </a:r>
            <a:r>
              <a:rPr lang="en-US" dirty="0">
                <a:latin typeface="Arial" panose="020B0604020202020204" pitchFamily="34" charset="0"/>
                <a:cs typeface="Arial" panose="020B0604020202020204" pitchFamily="34" charset="0"/>
              </a:rPr>
              <a:t>, int Increment)</a:t>
            </a:r>
          </a:p>
          <a:p>
            <a:pPr marL="1257300" lvl="2" indent="-342900" algn="just">
              <a:buFont typeface="Arial" panose="020B0604020202020204" pitchFamily="34" charset="0"/>
              <a:buChar char="•"/>
            </a:pPr>
            <a:r>
              <a:rPr lang="en-US" dirty="0">
                <a:latin typeface="Arial" panose="020B0604020202020204" pitchFamily="34" charset="0"/>
                <a:cs typeface="Arial" panose="020B0604020202020204" pitchFamily="34" charset="0"/>
              </a:rPr>
              <a:t>Constructs a vector with given </a:t>
            </a:r>
            <a:r>
              <a:rPr lang="en-US" dirty="0" err="1">
                <a:latin typeface="Arial" panose="020B0604020202020204" pitchFamily="34" charset="0"/>
                <a:cs typeface="Arial" panose="020B0604020202020204" pitchFamily="34" charset="0"/>
              </a:rPr>
              <a:t>initialCapacity</a:t>
            </a:r>
            <a:r>
              <a:rPr lang="en-US" dirty="0">
                <a:latin typeface="Arial" panose="020B0604020202020204" pitchFamily="34" charset="0"/>
                <a:cs typeface="Arial" panose="020B0604020202020204" pitchFamily="34" charset="0"/>
              </a:rPr>
              <a:t> and its Increment in size.</a:t>
            </a:r>
          </a:p>
          <a:p>
            <a:pPr marL="800100" lvl="1" indent="-342900" algn="just">
              <a:buFont typeface="Arial" panose="020B0604020202020204" pitchFamily="34" charset="0"/>
              <a:buChar char="•"/>
            </a:pPr>
            <a:r>
              <a:rPr lang="en-US" dirty="0">
                <a:latin typeface="Arial" panose="020B0604020202020204" pitchFamily="34" charset="0"/>
                <a:cs typeface="Arial" panose="020B0604020202020204" pitchFamily="34" charset="0"/>
              </a:rPr>
              <a:t>Vector(int </a:t>
            </a:r>
            <a:r>
              <a:rPr lang="en-US" dirty="0" err="1">
                <a:latin typeface="Arial" panose="020B0604020202020204" pitchFamily="34" charset="0"/>
                <a:cs typeface="Arial" panose="020B0604020202020204" pitchFamily="34" charset="0"/>
              </a:rPr>
              <a:t>initialCapacity</a:t>
            </a:r>
            <a:r>
              <a:rPr lang="en-US" dirty="0">
                <a:latin typeface="Arial" panose="020B0604020202020204" pitchFamily="34" charset="0"/>
                <a:cs typeface="Arial" panose="020B0604020202020204" pitchFamily="34" charset="0"/>
              </a:rPr>
              <a:t>)</a:t>
            </a:r>
          </a:p>
          <a:p>
            <a:pPr marL="1257300" lvl="2" indent="-342900" algn="just">
              <a:buFont typeface="Arial" panose="020B0604020202020204" pitchFamily="34" charset="0"/>
              <a:buChar char="•"/>
            </a:pPr>
            <a:r>
              <a:rPr lang="en-US" dirty="0">
                <a:latin typeface="Arial" panose="020B0604020202020204" pitchFamily="34" charset="0"/>
                <a:cs typeface="Arial" panose="020B0604020202020204" pitchFamily="34" charset="0"/>
              </a:rPr>
              <a:t>Constructs an empty vector with given </a:t>
            </a:r>
            <a:r>
              <a:rPr lang="en-US" dirty="0" err="1">
                <a:latin typeface="Arial" panose="020B0604020202020204" pitchFamily="34" charset="0"/>
                <a:cs typeface="Arial" panose="020B0604020202020204" pitchFamily="34" charset="0"/>
              </a:rPr>
              <a:t>initialCapacity</a:t>
            </a:r>
            <a:r>
              <a:rPr lang="en-US" dirty="0">
                <a:latin typeface="Arial" panose="020B0604020202020204" pitchFamily="34" charset="0"/>
                <a:cs typeface="Arial" panose="020B0604020202020204" pitchFamily="34" charset="0"/>
              </a:rPr>
              <a:t>. In this case, Increment is zero.</a:t>
            </a:r>
          </a:p>
          <a:p>
            <a:pPr marL="800100" lvl="1" indent="-342900" algn="just">
              <a:buFont typeface="Arial" panose="020B0604020202020204" pitchFamily="34" charset="0"/>
              <a:buChar char="•"/>
            </a:pPr>
            <a:r>
              <a:rPr lang="en-US" dirty="0">
                <a:latin typeface="Arial" panose="020B0604020202020204" pitchFamily="34" charset="0"/>
                <a:cs typeface="Arial" panose="020B0604020202020204" pitchFamily="34" charset="0"/>
              </a:rPr>
              <a:t>Vector() </a:t>
            </a:r>
          </a:p>
          <a:p>
            <a:pPr marL="1257300" lvl="2" indent="-342900" algn="just">
              <a:buFont typeface="Arial" panose="020B0604020202020204" pitchFamily="34" charset="0"/>
              <a:buChar char="•"/>
            </a:pPr>
            <a:r>
              <a:rPr lang="en-US" dirty="0">
                <a:latin typeface="Arial" panose="020B0604020202020204" pitchFamily="34" charset="0"/>
                <a:cs typeface="Arial" panose="020B0604020202020204" pitchFamily="34" charset="0"/>
              </a:rPr>
              <a:t>Constructs a default vector of capacity 10.</a:t>
            </a:r>
          </a:p>
          <a:p>
            <a:pPr marL="800100" lvl="1" indent="-342900" algn="just">
              <a:buFont typeface="Arial" panose="020B0604020202020204" pitchFamily="34" charset="0"/>
              <a:buChar char="•"/>
            </a:pPr>
            <a:r>
              <a:rPr lang="en-US" dirty="0">
                <a:latin typeface="Arial" panose="020B0604020202020204" pitchFamily="34" charset="0"/>
                <a:cs typeface="Arial" panose="020B0604020202020204" pitchFamily="34" charset="0"/>
              </a:rPr>
              <a:t>Vector(Collection c) </a:t>
            </a:r>
          </a:p>
          <a:p>
            <a:pPr marL="1257300" lvl="2" indent="-342900" algn="just">
              <a:buFont typeface="Arial" panose="020B0604020202020204" pitchFamily="34" charset="0"/>
              <a:buChar char="•"/>
            </a:pPr>
            <a:r>
              <a:rPr lang="en-US" dirty="0">
                <a:latin typeface="Arial" panose="020B0604020202020204" pitchFamily="34" charset="0"/>
                <a:cs typeface="Arial" panose="020B0604020202020204" pitchFamily="34" charset="0"/>
              </a:rPr>
              <a:t>Constructs a vector with a given collection, the order of the elements is same as returned by the collection’s iterator.</a:t>
            </a:r>
          </a:p>
        </p:txBody>
      </p:sp>
    </p:spTree>
    <p:extLst>
      <p:ext uri="{BB962C8B-B14F-4D97-AF65-F5344CB8AC3E}">
        <p14:creationId xmlns:p14="http://schemas.microsoft.com/office/powerpoint/2010/main" val="2624092633"/>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68288"/>
            <a:ext cx="5765800" cy="585787"/>
          </a:xfrm>
        </p:spPr>
        <p:txBody>
          <a:bodyPr/>
          <a:lstStyle/>
          <a:p>
            <a:r>
              <a:rPr lang="en-IN" dirty="0"/>
              <a:t/>
            </a:r>
            <a:br>
              <a:rPr lang="en-IN" dirty="0"/>
            </a:br>
            <a:r>
              <a:rPr lang="en-IN" dirty="0"/>
              <a:t>Add Elements to Vector</a:t>
            </a:r>
          </a:p>
        </p:txBody>
      </p:sp>
      <p:sp>
        <p:nvSpPr>
          <p:cNvPr id="3" name="Content Placeholder 2"/>
          <p:cNvSpPr>
            <a:spLocks noGrp="1"/>
          </p:cNvSpPr>
          <p:nvPr>
            <p:ph idx="4294967295"/>
          </p:nvPr>
        </p:nvSpPr>
        <p:spPr>
          <a:xfrm>
            <a:off x="-101600" y="435620"/>
            <a:ext cx="2519680" cy="2244080"/>
          </a:xfrm>
          <a:ln>
            <a:solidFill>
              <a:schemeClr val="tx1"/>
            </a:solidFill>
          </a:ln>
        </p:spPr>
        <p:txBody>
          <a:bodyPr/>
          <a:lstStyle/>
          <a:p>
            <a:pPr marL="285750" indent="-285750">
              <a:buFont typeface="Arial" panose="020B0604020202020204" pitchFamily="34" charset="0"/>
              <a:buChar char="•"/>
            </a:pPr>
            <a:r>
              <a:rPr lang="en-US" dirty="0">
                <a:latin typeface="Courier New" panose="02070309020205020404" pitchFamily="49" charset="0"/>
                <a:cs typeface="Courier New" panose="02070309020205020404" pitchFamily="49" charset="0"/>
              </a:rPr>
              <a:t>add(element) </a:t>
            </a:r>
            <a:r>
              <a:rPr lang="en-US" dirty="0"/>
              <a:t>- adds an element to vectors</a:t>
            </a:r>
          </a:p>
          <a:p>
            <a:pPr marL="285750" indent="-285750">
              <a:buFont typeface="Arial" panose="020B0604020202020204" pitchFamily="34" charset="0"/>
              <a:buChar char="•"/>
            </a:pPr>
            <a:endParaRPr lang="en-US" dirty="0">
              <a:latin typeface="Courier New" panose="02070309020205020404" pitchFamily="49" charset="0"/>
              <a:cs typeface="Courier New" panose="02070309020205020404" pitchFamily="49" charset="0"/>
            </a:endParaRPr>
          </a:p>
          <a:p>
            <a:pPr marL="285750" indent="-285750">
              <a:buFont typeface="Arial" panose="020B0604020202020204" pitchFamily="34" charset="0"/>
              <a:buChar char="•"/>
            </a:pPr>
            <a:r>
              <a:rPr lang="en-US" dirty="0">
                <a:latin typeface="Courier New" panose="02070309020205020404" pitchFamily="49" charset="0"/>
                <a:cs typeface="Courier New" panose="02070309020205020404" pitchFamily="49" charset="0"/>
              </a:rPr>
              <a:t>add(index, element) </a:t>
            </a:r>
            <a:r>
              <a:rPr lang="en-US" dirty="0"/>
              <a:t>- adds an element to the specified position</a:t>
            </a:r>
          </a:p>
          <a:p>
            <a:pPr marL="285750" indent="-285750">
              <a:buFont typeface="Arial" panose="020B0604020202020204" pitchFamily="34" charset="0"/>
              <a:buChar char="•"/>
            </a:pPr>
            <a:endParaRPr lang="en-US" dirty="0">
              <a:latin typeface="Courier New" panose="02070309020205020404" pitchFamily="49" charset="0"/>
              <a:cs typeface="Courier New" panose="02070309020205020404" pitchFamily="49" charset="0"/>
            </a:endParaRPr>
          </a:p>
          <a:p>
            <a:pPr marL="285750" indent="-285750">
              <a:buFont typeface="Arial" panose="020B0604020202020204" pitchFamily="34" charset="0"/>
              <a:buChar char="•"/>
            </a:pPr>
            <a:r>
              <a:rPr lang="en-US" dirty="0" err="1">
                <a:latin typeface="Courier New" panose="02070309020205020404" pitchFamily="49" charset="0"/>
                <a:cs typeface="Courier New" panose="02070309020205020404" pitchFamily="49" charset="0"/>
              </a:rPr>
              <a:t>addAll</a:t>
            </a:r>
            <a:r>
              <a:rPr lang="en-US" dirty="0">
                <a:latin typeface="Courier New" panose="02070309020205020404" pitchFamily="49" charset="0"/>
                <a:cs typeface="Courier New" panose="02070309020205020404" pitchFamily="49" charset="0"/>
              </a:rPr>
              <a:t>(vector) </a:t>
            </a:r>
            <a:r>
              <a:rPr lang="en-US" dirty="0"/>
              <a:t>- adds all elements of a vector to another vector</a:t>
            </a:r>
            <a:endParaRPr lang="en-US" sz="960" dirty="0">
              <a:latin typeface="Courier New" panose="02070309020205020404" pitchFamily="49" charset="0"/>
              <a:cs typeface="Courier New" panose="02070309020205020404" pitchFamily="49" charset="0"/>
            </a:endParaRPr>
          </a:p>
        </p:txBody>
      </p:sp>
      <p:pic>
        <p:nvPicPr>
          <p:cNvPr id="4" name="Picture 3" descr="OOPJ - S3 2019 Batch/src/com/sjcet/basicPrograms/VectorAddElementsDemo.java - Eclipse IDE"/>
          <p:cNvPicPr>
            <a:picLocks noChangeAspect="1"/>
          </p:cNvPicPr>
          <p:nvPr/>
        </p:nvPicPr>
        <p:blipFill rotWithShape="1">
          <a:blip r:embed="rId2" cstate="print">
            <a:extLst>
              <a:ext uri="{28A0092B-C50C-407E-A947-70E740481C1C}">
                <a14:useLocalDpi xmlns:a14="http://schemas.microsoft.com/office/drawing/2010/main" val="0"/>
              </a:ext>
            </a:extLst>
          </a:blip>
          <a:srcRect l="4523" t="29249" r="58859" b="5220"/>
          <a:stretch/>
        </p:blipFill>
        <p:spPr>
          <a:xfrm>
            <a:off x="2418080" y="23380"/>
            <a:ext cx="4004705" cy="3875520"/>
          </a:xfrm>
          <a:prstGeom prst="rect">
            <a:avLst/>
          </a:prstGeom>
          <a:ln>
            <a:solidFill>
              <a:schemeClr val="tx1"/>
            </a:solidFill>
          </a:ln>
        </p:spPr>
      </p:pic>
      <p:sp>
        <p:nvSpPr>
          <p:cNvPr id="5" name="Rectangle 4"/>
          <p:cNvSpPr/>
          <p:nvPr/>
        </p:nvSpPr>
        <p:spPr>
          <a:xfrm>
            <a:off x="236220" y="3626619"/>
            <a:ext cx="3319779" cy="577081"/>
          </a:xfrm>
          <a:prstGeom prst="rect">
            <a:avLst/>
          </a:prstGeom>
        </p:spPr>
        <p:txBody>
          <a:bodyPr wrap="square">
            <a:spAutoFit/>
          </a:bodyPr>
          <a:lstStyle/>
          <a:p>
            <a:r>
              <a:rPr lang="en-IN" sz="1050" b="1" dirty="0">
                <a:solidFill>
                  <a:srgbClr val="000000"/>
                </a:solidFill>
                <a:latin typeface="Consolas" panose="020B0609020204030204" pitchFamily="49" charset="0"/>
              </a:rPr>
              <a:t>Output</a:t>
            </a:r>
          </a:p>
          <a:p>
            <a:r>
              <a:rPr lang="en-IN" sz="1050" dirty="0">
                <a:solidFill>
                  <a:srgbClr val="000000"/>
                </a:solidFill>
                <a:latin typeface="Consolas" panose="020B0609020204030204" pitchFamily="49" charset="0"/>
              </a:rPr>
              <a:t>Vector: [Dog, Horse, Cat]</a:t>
            </a:r>
          </a:p>
          <a:p>
            <a:r>
              <a:rPr lang="en-US" sz="1050" dirty="0">
                <a:solidFill>
                  <a:srgbClr val="000000"/>
                </a:solidFill>
                <a:latin typeface="Consolas" panose="020B0609020204030204" pitchFamily="49" charset="0"/>
              </a:rPr>
              <a:t>New Vector: [Crocodile, Dog, Horse, Cat]</a:t>
            </a:r>
            <a:endParaRPr lang="en-IN" sz="1050" dirty="0"/>
          </a:p>
        </p:txBody>
      </p:sp>
    </p:spTree>
    <p:extLst>
      <p:ext uri="{BB962C8B-B14F-4D97-AF65-F5344CB8AC3E}">
        <p14:creationId xmlns:p14="http://schemas.microsoft.com/office/powerpoint/2010/main" val="2193363631"/>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68288"/>
            <a:ext cx="5765800" cy="877887"/>
          </a:xfrm>
        </p:spPr>
        <p:txBody>
          <a:bodyPr/>
          <a:lstStyle/>
          <a:p>
            <a:r>
              <a:rPr lang="en-IN" dirty="0"/>
              <a:t/>
            </a:r>
            <a:br>
              <a:rPr lang="en-IN" dirty="0"/>
            </a:br>
            <a:r>
              <a:rPr lang="en-IN" dirty="0"/>
              <a:t>Access Vector Elements</a:t>
            </a:r>
            <a:br>
              <a:rPr lang="en-IN" dirty="0"/>
            </a:br>
            <a:endParaRPr lang="en-IN" dirty="0"/>
          </a:p>
        </p:txBody>
      </p:sp>
      <p:sp>
        <p:nvSpPr>
          <p:cNvPr id="3" name="Content Placeholder 2"/>
          <p:cNvSpPr>
            <a:spLocks noGrp="1"/>
          </p:cNvSpPr>
          <p:nvPr>
            <p:ph idx="4294967295"/>
          </p:nvPr>
        </p:nvSpPr>
        <p:spPr>
          <a:xfrm>
            <a:off x="-25400" y="0"/>
            <a:ext cx="1916842" cy="1661993"/>
          </a:xfrm>
          <a:ln>
            <a:solidFill>
              <a:schemeClr val="tx1"/>
            </a:solidFill>
          </a:ln>
        </p:spPr>
        <p:txBody>
          <a:bodyPr/>
          <a:lstStyle/>
          <a:p>
            <a:pPr marL="285750" indent="-285750">
              <a:buFont typeface="Arial" panose="020B0604020202020204" pitchFamily="34" charset="0"/>
              <a:buChar char="•"/>
            </a:pPr>
            <a:r>
              <a:rPr lang="en-US" sz="1200" b="1" dirty="0">
                <a:latin typeface="Courier New" panose="02070309020205020404" pitchFamily="49" charset="0"/>
                <a:cs typeface="Courier New" panose="02070309020205020404" pitchFamily="49" charset="0"/>
              </a:rPr>
              <a:t>get(index) - </a:t>
            </a:r>
            <a:r>
              <a:rPr lang="en-US" sz="1200" b="1" dirty="0"/>
              <a:t>returns an element specified by the index</a:t>
            </a:r>
          </a:p>
          <a:p>
            <a:pPr marL="285750" indent="-285750">
              <a:buFont typeface="Arial" panose="020B0604020202020204" pitchFamily="34" charset="0"/>
              <a:buChar char="•"/>
            </a:pPr>
            <a:endParaRPr lang="en-US" sz="1200" b="1" dirty="0">
              <a:latin typeface="Courier New" panose="02070309020205020404" pitchFamily="49" charset="0"/>
              <a:cs typeface="Courier New" panose="02070309020205020404" pitchFamily="49" charset="0"/>
            </a:endParaRPr>
          </a:p>
          <a:p>
            <a:pPr marL="285750" indent="-285750">
              <a:buFont typeface="Arial" panose="020B0604020202020204" pitchFamily="34" charset="0"/>
              <a:buChar char="•"/>
            </a:pPr>
            <a:r>
              <a:rPr lang="en-US" sz="1200" b="1" dirty="0">
                <a:latin typeface="Courier New" panose="02070309020205020404" pitchFamily="49" charset="0"/>
                <a:cs typeface="Courier New" panose="02070309020205020404" pitchFamily="49" charset="0"/>
              </a:rPr>
              <a:t>iterator() - </a:t>
            </a:r>
            <a:r>
              <a:rPr lang="en-US" sz="1200" b="1" dirty="0"/>
              <a:t>returns an iterator object to sequentially access vector elements</a:t>
            </a:r>
            <a:endParaRPr lang="en-US" sz="800" b="1" dirty="0"/>
          </a:p>
        </p:txBody>
      </p:sp>
      <p:sp>
        <p:nvSpPr>
          <p:cNvPr id="5" name="Rectangle 4"/>
          <p:cNvSpPr/>
          <p:nvPr/>
        </p:nvSpPr>
        <p:spPr>
          <a:xfrm>
            <a:off x="50800" y="3029598"/>
            <a:ext cx="1840642" cy="535531"/>
          </a:xfrm>
          <a:prstGeom prst="rect">
            <a:avLst/>
          </a:prstGeom>
        </p:spPr>
        <p:txBody>
          <a:bodyPr wrap="square">
            <a:spAutoFit/>
          </a:bodyPr>
          <a:lstStyle/>
          <a:p>
            <a:r>
              <a:rPr lang="en-IN" sz="960" b="1" dirty="0">
                <a:solidFill>
                  <a:srgbClr val="000000"/>
                </a:solidFill>
                <a:latin typeface="Consolas" panose="020B0609020204030204" pitchFamily="49" charset="0"/>
              </a:rPr>
              <a:t>Output</a:t>
            </a:r>
          </a:p>
          <a:p>
            <a:r>
              <a:rPr lang="da-DK" sz="960" dirty="0">
                <a:latin typeface="Consolas" panose="020B0609020204030204" pitchFamily="49" charset="0"/>
              </a:rPr>
              <a:t>Element at index 2: Cat</a:t>
            </a:r>
          </a:p>
          <a:p>
            <a:r>
              <a:rPr lang="en-IN" sz="960" dirty="0">
                <a:latin typeface="Consolas" panose="020B0609020204030204" pitchFamily="49" charset="0"/>
              </a:rPr>
              <a:t>Vector: Dog, Horse, Cat, </a:t>
            </a:r>
          </a:p>
        </p:txBody>
      </p:sp>
      <p:pic>
        <p:nvPicPr>
          <p:cNvPr id="6" name="Picture 5" descr="OOPJ - S3 2019 Batch/src/com/sjcet/basicPrograms/VectorAccessElementDemo.java - Eclipse IDE"/>
          <p:cNvPicPr>
            <a:picLocks noChangeAspect="1"/>
          </p:cNvPicPr>
          <p:nvPr/>
        </p:nvPicPr>
        <p:blipFill rotWithShape="1">
          <a:blip r:embed="rId2" cstate="print">
            <a:extLst>
              <a:ext uri="{28A0092B-C50C-407E-A947-70E740481C1C}">
                <a14:useLocalDpi xmlns:a14="http://schemas.microsoft.com/office/drawing/2010/main" val="0"/>
              </a:ext>
            </a:extLst>
          </a:blip>
          <a:srcRect l="4523" t="23787" r="53544" b="7404"/>
          <a:stretch/>
        </p:blipFill>
        <p:spPr>
          <a:xfrm>
            <a:off x="1916842" y="0"/>
            <a:ext cx="4382358" cy="4292600"/>
          </a:xfrm>
          <a:prstGeom prst="rect">
            <a:avLst/>
          </a:prstGeom>
        </p:spPr>
      </p:pic>
    </p:spTree>
    <p:extLst>
      <p:ext uri="{BB962C8B-B14F-4D97-AF65-F5344CB8AC3E}">
        <p14:creationId xmlns:p14="http://schemas.microsoft.com/office/powerpoint/2010/main" val="408570087"/>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68288"/>
            <a:ext cx="5765800" cy="585787"/>
          </a:xfrm>
        </p:spPr>
        <p:txBody>
          <a:bodyPr/>
          <a:lstStyle/>
          <a:p>
            <a:r>
              <a:rPr lang="en-IN" dirty="0"/>
              <a:t/>
            </a:r>
            <a:br>
              <a:rPr lang="en-IN" dirty="0"/>
            </a:br>
            <a:r>
              <a:rPr lang="en-IN" dirty="0"/>
              <a:t>Remove Vector Elements</a:t>
            </a:r>
          </a:p>
        </p:txBody>
      </p:sp>
      <p:sp>
        <p:nvSpPr>
          <p:cNvPr id="3" name="Content Placeholder 2"/>
          <p:cNvSpPr>
            <a:spLocks noGrp="1"/>
          </p:cNvSpPr>
          <p:nvPr>
            <p:ph idx="4294967295"/>
          </p:nvPr>
        </p:nvSpPr>
        <p:spPr>
          <a:xfrm>
            <a:off x="-101600" y="241300"/>
            <a:ext cx="2286000" cy="2031325"/>
          </a:xfrm>
          <a:ln>
            <a:solidFill>
              <a:schemeClr val="tx2"/>
            </a:solidFill>
          </a:ln>
        </p:spPr>
        <p:txBody>
          <a:bodyPr/>
          <a:lstStyle/>
          <a:p>
            <a:pPr marL="285750" indent="-285750">
              <a:buFont typeface="Arial" panose="020B0604020202020204" pitchFamily="34" charset="0"/>
              <a:buChar char="•"/>
            </a:pPr>
            <a:r>
              <a:rPr lang="en-US" sz="1200" b="1" dirty="0">
                <a:latin typeface="Courier New" panose="02070309020205020404" pitchFamily="49" charset="0"/>
                <a:cs typeface="Courier New" panose="02070309020205020404" pitchFamily="49" charset="0"/>
              </a:rPr>
              <a:t>remove(index) - </a:t>
            </a:r>
            <a:r>
              <a:rPr lang="en-US" sz="1200" b="1" dirty="0"/>
              <a:t>removes an element from specified position</a:t>
            </a:r>
          </a:p>
          <a:p>
            <a:pPr marL="285750" indent="-285750">
              <a:buFont typeface="Arial" panose="020B0604020202020204" pitchFamily="34" charset="0"/>
              <a:buChar char="•"/>
            </a:pPr>
            <a:endParaRPr lang="en-US" sz="1200" b="1" dirty="0"/>
          </a:p>
          <a:p>
            <a:pPr marL="285750" indent="-285750">
              <a:buFont typeface="Arial" panose="020B0604020202020204" pitchFamily="34" charset="0"/>
              <a:buChar char="•"/>
            </a:pPr>
            <a:r>
              <a:rPr lang="en-US" sz="1200" b="1" dirty="0" err="1">
                <a:latin typeface="Courier New" panose="02070309020205020404" pitchFamily="49" charset="0"/>
                <a:cs typeface="Courier New" panose="02070309020205020404" pitchFamily="49" charset="0"/>
              </a:rPr>
              <a:t>removeAll</a:t>
            </a:r>
            <a:r>
              <a:rPr lang="en-US" sz="1200" b="1" dirty="0">
                <a:latin typeface="Courier New" panose="02070309020205020404" pitchFamily="49" charset="0"/>
                <a:cs typeface="Courier New" panose="02070309020205020404" pitchFamily="49" charset="0"/>
              </a:rPr>
              <a:t>() - </a:t>
            </a:r>
            <a:r>
              <a:rPr lang="en-US" sz="1200" b="1" dirty="0"/>
              <a:t>removes all the elements</a:t>
            </a:r>
          </a:p>
          <a:p>
            <a:pPr marL="285750" indent="-285750">
              <a:buFont typeface="Arial" panose="020B0604020202020204" pitchFamily="34" charset="0"/>
              <a:buChar char="•"/>
            </a:pPr>
            <a:endParaRPr lang="en-US" sz="1200" b="1" dirty="0"/>
          </a:p>
          <a:p>
            <a:pPr marL="285750" indent="-285750">
              <a:buFont typeface="Arial" panose="020B0604020202020204" pitchFamily="34" charset="0"/>
              <a:buChar char="•"/>
            </a:pPr>
            <a:r>
              <a:rPr lang="en-US" sz="1200" b="1" dirty="0">
                <a:latin typeface="Courier New" panose="02070309020205020404" pitchFamily="49" charset="0"/>
                <a:cs typeface="Courier New" panose="02070309020205020404" pitchFamily="49" charset="0"/>
              </a:rPr>
              <a:t>clear() - </a:t>
            </a:r>
            <a:r>
              <a:rPr lang="en-US" sz="1200" b="1" dirty="0"/>
              <a:t>removes all elements. It is more efficient than </a:t>
            </a:r>
            <a:r>
              <a:rPr lang="en-US" sz="1200" b="1" dirty="0" err="1">
                <a:latin typeface="Courier New" panose="02070309020205020404" pitchFamily="49" charset="0"/>
                <a:cs typeface="Courier New" panose="02070309020205020404" pitchFamily="49" charset="0"/>
              </a:rPr>
              <a:t>removeAll</a:t>
            </a:r>
            <a:r>
              <a:rPr lang="en-US" sz="1200" b="1" dirty="0">
                <a:latin typeface="Courier New" panose="02070309020205020404" pitchFamily="49" charset="0"/>
                <a:cs typeface="Courier New" panose="02070309020205020404" pitchFamily="49" charset="0"/>
              </a:rPr>
              <a:t>()</a:t>
            </a:r>
            <a:endParaRPr lang="en-US" sz="800" b="1" dirty="0"/>
          </a:p>
        </p:txBody>
      </p:sp>
      <p:sp>
        <p:nvSpPr>
          <p:cNvPr id="5" name="Rectangle 4"/>
          <p:cNvSpPr/>
          <p:nvPr/>
        </p:nvSpPr>
        <p:spPr>
          <a:xfrm>
            <a:off x="-76200" y="2908300"/>
            <a:ext cx="2489200" cy="830997"/>
          </a:xfrm>
          <a:prstGeom prst="rect">
            <a:avLst/>
          </a:prstGeom>
        </p:spPr>
        <p:txBody>
          <a:bodyPr wrap="square">
            <a:spAutoFit/>
          </a:bodyPr>
          <a:lstStyle/>
          <a:p>
            <a:r>
              <a:rPr lang="en-IN" sz="960" b="1" dirty="0">
                <a:solidFill>
                  <a:srgbClr val="000000"/>
                </a:solidFill>
                <a:latin typeface="Consolas" panose="020B0609020204030204" pitchFamily="49" charset="0"/>
              </a:rPr>
              <a:t>Output</a:t>
            </a:r>
          </a:p>
          <a:p>
            <a:r>
              <a:rPr lang="en-US" sz="960" dirty="0">
                <a:latin typeface="Consolas" panose="020B0609020204030204" pitchFamily="49" charset="0"/>
              </a:rPr>
              <a:t>Initial Vector: [Dog, Horse, Cat]</a:t>
            </a:r>
          </a:p>
          <a:p>
            <a:r>
              <a:rPr lang="en-IN" sz="960" dirty="0">
                <a:latin typeface="Consolas" panose="020B0609020204030204" pitchFamily="49" charset="0"/>
              </a:rPr>
              <a:t>Removed Element: Horse</a:t>
            </a:r>
          </a:p>
          <a:p>
            <a:r>
              <a:rPr lang="en-IN" sz="960" dirty="0">
                <a:latin typeface="Consolas" panose="020B0609020204030204" pitchFamily="49" charset="0"/>
              </a:rPr>
              <a:t>New Vector: [Dog, Cat]</a:t>
            </a:r>
          </a:p>
          <a:p>
            <a:r>
              <a:rPr lang="en-IN" sz="960" dirty="0">
                <a:latin typeface="Consolas" panose="020B0609020204030204" pitchFamily="49" charset="0"/>
              </a:rPr>
              <a:t>Vector after clear(): []</a:t>
            </a:r>
          </a:p>
        </p:txBody>
      </p:sp>
      <p:pic>
        <p:nvPicPr>
          <p:cNvPr id="4" name="Picture 3" descr="OOPJ - S3 2019 Batch/src/com/sjcet/basicPrograms/VectorRemoveElementDemo.java - Eclipse IDE"/>
          <p:cNvPicPr>
            <a:picLocks noChangeAspect="1"/>
          </p:cNvPicPr>
          <p:nvPr/>
        </p:nvPicPr>
        <p:blipFill rotWithShape="1">
          <a:blip r:embed="rId2" cstate="print">
            <a:extLst>
              <a:ext uri="{28A0092B-C50C-407E-A947-70E740481C1C}">
                <a14:useLocalDpi xmlns:a14="http://schemas.microsoft.com/office/drawing/2010/main" val="0"/>
              </a:ext>
            </a:extLst>
          </a:blip>
          <a:srcRect l="4523" t="29248" r="51772" b="7405"/>
          <a:stretch/>
        </p:blipFill>
        <p:spPr>
          <a:xfrm>
            <a:off x="2260600" y="0"/>
            <a:ext cx="4546600" cy="4508500"/>
          </a:xfrm>
          <a:prstGeom prst="rect">
            <a:avLst/>
          </a:prstGeom>
          <a:ln>
            <a:solidFill>
              <a:schemeClr val="tx1"/>
            </a:solidFill>
          </a:ln>
        </p:spPr>
      </p:pic>
    </p:spTree>
    <p:extLst>
      <p:ext uri="{BB962C8B-B14F-4D97-AF65-F5344CB8AC3E}">
        <p14:creationId xmlns:p14="http://schemas.microsoft.com/office/powerpoint/2010/main" val="147388004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1191</TotalTime>
  <Words>5451</Words>
  <Application>Microsoft Office PowerPoint</Application>
  <PresentationFormat>Custom</PresentationFormat>
  <Paragraphs>921</Paragraphs>
  <Slides>120</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120</vt:i4>
      </vt:variant>
    </vt:vector>
  </HeadingPairs>
  <TitlesOfParts>
    <vt:vector size="129" baseType="lpstr">
      <vt:lpstr>Arial</vt:lpstr>
      <vt:lpstr>Arial MT</vt:lpstr>
      <vt:lpstr>Calibri</vt:lpstr>
      <vt:lpstr>Consolas</vt:lpstr>
      <vt:lpstr>Courier New</vt:lpstr>
      <vt:lpstr>Tahoma</vt:lpstr>
      <vt:lpstr>Times New Roman</vt:lpstr>
      <vt:lpstr>Wingdings</vt:lpstr>
      <vt:lpstr>Office Theme</vt:lpstr>
      <vt:lpstr>PowerPoint Presentation</vt:lpstr>
      <vt:lpstr>Syllabus</vt:lpstr>
      <vt:lpstr>      Data Types</vt:lpstr>
      <vt:lpstr>PowerPoint Presentation</vt:lpstr>
      <vt:lpstr>PowerPoint Presentation</vt:lpstr>
      <vt:lpstr>  Data Types : Integer Type</vt:lpstr>
      <vt:lpstr>Data Types : Floating point Type</vt:lpstr>
      <vt:lpstr>PowerPoint Presentation</vt:lpstr>
      <vt:lpstr>Data Types : Character Type</vt:lpstr>
      <vt:lpstr>CHARACTER TYPE Example</vt:lpstr>
      <vt:lpstr>PowerPoint Presentation</vt:lpstr>
      <vt:lpstr>Data Types : Boolean Type</vt:lpstr>
      <vt:lpstr>PowerPoint Presentation</vt:lpstr>
      <vt:lpstr>Literals  - Integer Literals </vt:lpstr>
      <vt:lpstr>Integer Literals  - Integer Literals </vt:lpstr>
      <vt:lpstr>Floating-Point Literals</vt:lpstr>
      <vt:lpstr>Boolean Literals</vt:lpstr>
      <vt:lpstr>Character Literal</vt:lpstr>
      <vt:lpstr>Keywords</vt:lpstr>
      <vt:lpstr>Variables</vt:lpstr>
      <vt:lpstr>PowerPoint Presentation</vt:lpstr>
      <vt:lpstr>Escape sequences</vt:lpstr>
      <vt:lpstr>The Scope and Lifetime of Variables</vt:lpstr>
      <vt:lpstr>PowerPoint Presentation</vt:lpstr>
      <vt:lpstr>PowerPoint Presentation</vt:lpstr>
      <vt:lpstr>PowerPoint Presentation</vt:lpstr>
      <vt:lpstr>PowerPoint Presentation</vt:lpstr>
      <vt:lpstr>PowerPoint Presentation</vt:lpstr>
      <vt:lpstr>Operators</vt:lpstr>
      <vt:lpstr>PowerPoint Presentation</vt:lpstr>
      <vt:lpstr>The Modulus Operator</vt:lpstr>
      <vt:lpstr>Arithmetic Compound Assignment Operators</vt:lpstr>
      <vt:lpstr>Increment and Decrement</vt:lpstr>
      <vt:lpstr>Pre-Increment Post increment(Prefix/Postfix)</vt:lpstr>
      <vt:lpstr>PowerPoint Presentation</vt:lpstr>
      <vt:lpstr>                              Bitwise operators</vt:lpstr>
      <vt:lpstr>Bitwise logical operators</vt:lpstr>
      <vt:lpstr>Examples</vt:lpstr>
      <vt:lpstr>Left shift</vt:lpstr>
      <vt:lpstr>Right shift</vt:lpstr>
      <vt:lpstr>PowerPoint Presentation</vt:lpstr>
      <vt:lpstr>Bitwise Operators : Unsigned Right Shift Operators</vt:lpstr>
      <vt:lpstr>Boolean Logical Operators</vt:lpstr>
      <vt:lpstr>int a = 4;  int b = 1; boolean c = a &lt; b;//c contains false. 4 is not less than 1</vt:lpstr>
      <vt:lpstr>PowerPoint Presentation</vt:lpstr>
      <vt:lpstr>Relational operators</vt:lpstr>
      <vt:lpstr>Assignment Operator</vt:lpstr>
      <vt:lpstr>Ternary (conditional or three-way) operator</vt:lpstr>
      <vt:lpstr>Operator Precedence</vt:lpstr>
      <vt:lpstr>PowerPoint Presentation</vt:lpstr>
      <vt:lpstr>Associativity of operators</vt:lpstr>
      <vt:lpstr>Operator Associativity</vt:lpstr>
      <vt:lpstr>Operator Associativity</vt:lpstr>
      <vt:lpstr>Associativity</vt:lpstr>
      <vt:lpstr>Control statements</vt:lpstr>
      <vt:lpstr>PowerPoint Presentation</vt:lpstr>
      <vt:lpstr>PowerPoint Presentation</vt:lpstr>
      <vt:lpstr>if statement</vt:lpstr>
      <vt:lpstr>class Sample{</vt:lpstr>
      <vt:lpstr>If-else statement</vt:lpstr>
      <vt:lpstr> if-else</vt:lpstr>
      <vt:lpstr>class Sample{ public static void main(String args[]) {  int a=5, b=3;</vt:lpstr>
      <vt:lpstr>Nested if</vt:lpstr>
      <vt:lpstr>if(i == 10) { </vt:lpstr>
      <vt:lpstr>The if-else-if Ladder</vt:lpstr>
      <vt:lpstr>PowerPoint Presentation</vt:lpstr>
      <vt:lpstr>Switch statement</vt:lpstr>
      <vt:lpstr>Syntax of switch</vt:lpstr>
      <vt:lpstr>Working of switch</vt:lpstr>
      <vt:lpstr>Nested switch Statements</vt:lpstr>
      <vt:lpstr>Iteration Statements</vt:lpstr>
      <vt:lpstr>while</vt:lpstr>
      <vt:lpstr>// Demonstrate the while loop.  class Whileeg {</vt:lpstr>
      <vt:lpstr> do-while</vt:lpstr>
      <vt:lpstr>PowerPoint Presentation</vt:lpstr>
      <vt:lpstr>                                       for</vt:lpstr>
      <vt:lpstr>Working of for loop</vt:lpstr>
      <vt:lpstr>Nested loops</vt:lpstr>
      <vt:lpstr>Jump Statements</vt:lpstr>
      <vt:lpstr>break statement</vt:lpstr>
      <vt:lpstr>PowerPoint Presentation</vt:lpstr>
      <vt:lpstr>Using break as a Form of Goto</vt:lpstr>
      <vt:lpstr>// Using break as a civilized form of goto. class Breakeg {</vt:lpstr>
      <vt:lpstr>public static void main(String args[]) {  for(int i=0; i&lt;6; i++)</vt:lpstr>
      <vt:lpstr>return statement</vt:lpstr>
      <vt:lpstr>// Demonstrate return.  class Return { public static void main(String args[]) {</vt:lpstr>
      <vt:lpstr>Type Conversion and Casting</vt:lpstr>
      <vt:lpstr>PowerPoint Presentation</vt:lpstr>
      <vt:lpstr>PowerPoint Presentation</vt:lpstr>
      <vt:lpstr>PowerPoint Presentation</vt:lpstr>
      <vt:lpstr>Explicit Type Conversion </vt:lpstr>
      <vt:lpstr>PowerPoint Presentation</vt:lpstr>
      <vt:lpstr>Arrays</vt:lpstr>
      <vt:lpstr>One-Dimensional Arrays</vt:lpstr>
      <vt:lpstr>PowerPoint Presentation</vt:lpstr>
      <vt:lpstr>PowerPoint Presentation</vt:lpstr>
      <vt:lpstr>Store value in array</vt:lpstr>
      <vt:lpstr>Array initialization</vt:lpstr>
      <vt:lpstr>PowerPoint Presentation</vt:lpstr>
      <vt:lpstr>// Average value in an array.  class Average {</vt:lpstr>
      <vt:lpstr>Multidimensional Arrays</vt:lpstr>
      <vt:lpstr>PowerPoint Presentation</vt:lpstr>
      <vt:lpstr>PowerPoint Presentation</vt:lpstr>
      <vt:lpstr>PowerPoint Presentation</vt:lpstr>
      <vt:lpstr>Multidimensional array initialization</vt:lpstr>
      <vt:lpstr>class Matrix {</vt:lpstr>
      <vt:lpstr>String class</vt:lpstr>
      <vt:lpstr>class Sample { public static void main(String args[])</vt:lpstr>
      <vt:lpstr>PowerPoint Presentation</vt:lpstr>
      <vt:lpstr>String methods</vt:lpstr>
      <vt:lpstr>PowerPoint Presentation</vt:lpstr>
      <vt:lpstr>PowerPoint Presentation</vt:lpstr>
      <vt:lpstr>PowerPoint Presentation</vt:lpstr>
      <vt:lpstr>PowerPoint Presentation</vt:lpstr>
      <vt:lpstr>  Vector Class</vt:lpstr>
      <vt:lpstr> Creating a Vector</vt:lpstr>
      <vt:lpstr> Creating a Vector</vt:lpstr>
      <vt:lpstr> Add Elements to Vector</vt:lpstr>
      <vt:lpstr> Access Vector Elements </vt:lpstr>
      <vt:lpstr> Remove Vector Elements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HP</cp:lastModifiedBy>
  <cp:revision>177</cp:revision>
  <dcterms:created xsi:type="dcterms:W3CDTF">2023-09-28T18:18:24Z</dcterms:created>
  <dcterms:modified xsi:type="dcterms:W3CDTF">2024-01-11T16:49:35Z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2023-09-28T00:00:00Z</vt:filetime>
  </property>
  <property fmtid="{D5CDD505-2E9C-101B-9397-08002B2CF9AE}" pid="3" name="Creator">
    <vt:lpwstr>pdftk-java 3.0.9</vt:lpwstr>
  </property>
  <property fmtid="{D5CDD505-2E9C-101B-9397-08002B2CF9AE}" pid="4" name="LastSaved">
    <vt:filetime>2023-09-28T00:00:00Z</vt:filetime>
  </property>
</Properties>
</file>