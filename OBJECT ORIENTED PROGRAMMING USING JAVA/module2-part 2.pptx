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257" r:id="rId2"/>
    <p:sldId id="258" r:id="rId3"/>
    <p:sldId id="259" r:id="rId4"/>
    <p:sldId id="260" r:id="rId5"/>
    <p:sldId id="261" r:id="rId6"/>
    <p:sldId id="459" r:id="rId7"/>
    <p:sldId id="272" r:id="rId8"/>
    <p:sldId id="273" r:id="rId9"/>
    <p:sldId id="461" r:id="rId10"/>
    <p:sldId id="465" r:id="rId11"/>
    <p:sldId id="464" r:id="rId12"/>
    <p:sldId id="274" r:id="rId13"/>
    <p:sldId id="276" r:id="rId14"/>
    <p:sldId id="271" r:id="rId15"/>
    <p:sldId id="275" r:id="rId16"/>
    <p:sldId id="262" r:id="rId17"/>
    <p:sldId id="295" r:id="rId18"/>
    <p:sldId id="264" r:id="rId19"/>
    <p:sldId id="280" r:id="rId20"/>
    <p:sldId id="281" r:id="rId21"/>
    <p:sldId id="282" r:id="rId22"/>
    <p:sldId id="438" r:id="rId23"/>
    <p:sldId id="466" r:id="rId24"/>
    <p:sldId id="467" r:id="rId25"/>
    <p:sldId id="267" r:id="rId26"/>
    <p:sldId id="268" r:id="rId27"/>
    <p:sldId id="269" r:id="rId28"/>
    <p:sldId id="270" r:id="rId29"/>
    <p:sldId id="286" r:id="rId30"/>
    <p:sldId id="287" r:id="rId31"/>
    <p:sldId id="288" r:id="rId32"/>
    <p:sldId id="289" r:id="rId33"/>
    <p:sldId id="290" r:id="rId34"/>
    <p:sldId id="291" r:id="rId35"/>
    <p:sldId id="293" r:id="rId36"/>
    <p:sldId id="294" r:id="rId37"/>
    <p:sldId id="292" r:id="rId38"/>
    <p:sldId id="296" r:id="rId39"/>
    <p:sldId id="297" r:id="rId40"/>
    <p:sldId id="298" r:id="rId41"/>
    <p:sldId id="299" r:id="rId42"/>
    <p:sldId id="300" r:id="rId43"/>
    <p:sldId id="442" r:id="rId44"/>
    <p:sldId id="302" r:id="rId45"/>
    <p:sldId id="443" r:id="rId46"/>
    <p:sldId id="304" r:id="rId47"/>
    <p:sldId id="452" r:id="rId48"/>
    <p:sldId id="305" r:id="rId49"/>
    <p:sldId id="444" r:id="rId50"/>
    <p:sldId id="308" r:id="rId51"/>
    <p:sldId id="447" r:id="rId52"/>
    <p:sldId id="453" r:id="rId53"/>
    <p:sldId id="454" r:id="rId5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2294" y="34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577143E8-B598-4436-8B84-408453BF6698}" type="datetimeFigureOut">
              <a:rPr lang="en-US" smtClean="0"/>
              <a:pPr/>
              <a:t>10/22/2023</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E9784F62-C9D9-42DF-87B4-ACD42A8E3F9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is because the implicit return type of a </a:t>
            </a:r>
            <a:r>
              <a:rPr lang="en-US" sz="1200" dirty="0" err="1"/>
              <a:t>class'</a:t>
            </a:r>
            <a:r>
              <a:rPr lang="en-US" sz="1200" dirty="0"/>
              <a:t> constructor is the class type itself.</a:t>
            </a:r>
          </a:p>
          <a:p>
            <a:endParaRPr lang="en-US" dirty="0"/>
          </a:p>
        </p:txBody>
      </p:sp>
      <p:sp>
        <p:nvSpPr>
          <p:cNvPr id="4" name="Slide Number Placeholder 3"/>
          <p:cNvSpPr>
            <a:spLocks noGrp="1"/>
          </p:cNvSpPr>
          <p:nvPr>
            <p:ph type="sldNum" sz="quarter" idx="5"/>
          </p:nvPr>
        </p:nvSpPr>
        <p:spPr/>
        <p:txBody>
          <a:bodyPr/>
          <a:lstStyle/>
          <a:p>
            <a:fld id="{E9784F62-C9D9-42DF-87B4-ACD42A8E3F9B}" type="slidenum">
              <a:rPr lang="en-US" smtClean="0"/>
              <a:pPr/>
              <a:t>26</a:t>
            </a:fld>
            <a:endParaRPr lang="en-US"/>
          </a:p>
        </p:txBody>
      </p:sp>
    </p:spTree>
    <p:extLst>
      <p:ext uri="{BB962C8B-B14F-4D97-AF65-F5344CB8AC3E}">
        <p14:creationId xmlns:p14="http://schemas.microsoft.com/office/powerpoint/2010/main" val="22037797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useBgFill="1">
        <p:nvSpPr>
          <p:cNvPr id="5" name="Rounded Rectangle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6" name="Rectangle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7" name="Rectangle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0" name="Rectangle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p:cNvSpPr>
            <a:spLocks noGrp="1"/>
          </p:cNvSpPr>
          <p:nvPr>
            <p:ph type="dt" sz="half" idx="10"/>
          </p:nvPr>
        </p:nvSpPr>
        <p:spPr/>
        <p:txBody>
          <a:bodyPr/>
          <a:lstStyle>
            <a:lvl1pPr>
              <a:defRPr smtClean="0"/>
            </a:lvl1pPr>
          </a:lstStyle>
          <a:p>
            <a:pPr>
              <a:defRPr/>
            </a:pPr>
            <a:endParaRPr lang="en-US"/>
          </a:p>
        </p:txBody>
      </p:sp>
      <p:sp>
        <p:nvSpPr>
          <p:cNvPr id="12" name="Footer Placeholder 16"/>
          <p:cNvSpPr>
            <a:spLocks noGrp="1"/>
          </p:cNvSpPr>
          <p:nvPr>
            <p:ph type="ftr" sz="quarter" idx="11"/>
          </p:nvPr>
        </p:nvSpPr>
        <p:spPr/>
        <p:txBody>
          <a:bodyPr/>
          <a:lstStyle>
            <a:lvl1pPr>
              <a:defRPr smtClean="0"/>
            </a:lvl1pPr>
          </a:lstStyle>
          <a:p>
            <a:pPr>
              <a:defRPr/>
            </a:pPr>
            <a:endParaRPr lang="en-US"/>
          </a:p>
        </p:txBody>
      </p:sp>
      <p:sp>
        <p:nvSpPr>
          <p:cNvPr id="13" name="Slide Number Placeholder 28"/>
          <p:cNvSpPr>
            <a:spLocks noGrp="1"/>
          </p:cNvSpPr>
          <p:nvPr>
            <p:ph type="sldNum" sz="quarter" idx="12"/>
          </p:nvPr>
        </p:nvSpPr>
        <p:spPr/>
        <p:txBody>
          <a:bodyPr/>
          <a:lstStyle>
            <a:lvl1pPr>
              <a:defRPr smtClean="0"/>
            </a:lvl1pPr>
          </a:lstStyle>
          <a:p>
            <a:pPr>
              <a:defRPr/>
            </a:pPr>
            <a:fld id="{67A674B6-02DF-4A9C-990D-1E314492590B}"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BE519399-85ED-4AFB-87FF-6713D056E6DC}" type="datetimeFigureOut">
              <a:rPr lang="en-US"/>
              <a:pPr>
                <a:defRPr/>
              </a:pPr>
              <a:t>10/22/2023</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7F50D522-CBA4-4108-90DA-9951FACF1C0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useBgFill="1">
        <p:nvSpPr>
          <p:cNvPr id="5" name="Rounded Rectangle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6" name="Rectangle 5"/>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7" name="Rectangle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8" name="Rectangle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p:cNvSpPr>
            <a:spLocks noGrp="1"/>
          </p:cNvSpPr>
          <p:nvPr>
            <p:ph type="dt" sz="half" idx="10"/>
          </p:nvPr>
        </p:nvSpPr>
        <p:spPr/>
        <p:txBody>
          <a:bodyPr/>
          <a:lstStyle>
            <a:lvl1pPr>
              <a:defRPr smtClean="0"/>
            </a:lvl1pPr>
          </a:lstStyle>
          <a:p>
            <a:pPr>
              <a:defRPr/>
            </a:pPr>
            <a:fld id="{76D6E367-B22E-453A-81C7-9289B535E715}" type="datetimeFigureOut">
              <a:rPr lang="en-US"/>
              <a:pPr>
                <a:defRPr/>
              </a:pPr>
              <a:t>10/22/2023</a:t>
            </a:fld>
            <a:endParaRPr lang="en-US"/>
          </a:p>
        </p:txBody>
      </p:sp>
      <p:sp>
        <p:nvSpPr>
          <p:cNvPr id="10" name="Footer Placeholder 4"/>
          <p:cNvSpPr>
            <a:spLocks noGrp="1"/>
          </p:cNvSpPr>
          <p:nvPr>
            <p:ph type="ftr" sz="quarter" idx="11"/>
          </p:nvPr>
        </p:nvSpPr>
        <p:spPr>
          <a:xfrm>
            <a:off x="800100" y="6172200"/>
            <a:ext cx="4000500" cy="457200"/>
          </a:xfrm>
        </p:spPr>
        <p:txBody>
          <a:bodyPr/>
          <a:lstStyle>
            <a:lvl1pPr>
              <a:defRPr smtClean="0"/>
            </a:lvl1pPr>
          </a:lstStyle>
          <a:p>
            <a:pPr>
              <a:defRPr/>
            </a:pPr>
            <a:endParaRPr lang="en-US"/>
          </a:p>
        </p:txBody>
      </p:sp>
      <p:sp>
        <p:nvSpPr>
          <p:cNvPr id="11" name="Slide Number Placeholder 5"/>
          <p:cNvSpPr>
            <a:spLocks noGrp="1"/>
          </p:cNvSpPr>
          <p:nvPr>
            <p:ph type="sldNum" sz="quarter" idx="12"/>
          </p:nvPr>
        </p:nvSpPr>
        <p:spPr>
          <a:xfrm>
            <a:off x="146050" y="6208713"/>
            <a:ext cx="457200" cy="457200"/>
          </a:xfrm>
        </p:spPr>
        <p:txBody>
          <a:bodyPr/>
          <a:lstStyle>
            <a:lvl1pPr>
              <a:defRPr smtClean="0"/>
            </a:lvl1pPr>
          </a:lstStyle>
          <a:p>
            <a:pPr>
              <a:defRPr/>
            </a:pPr>
            <a:fld id="{A4FD465E-6FD1-4E4A-99E8-ABB1C347E21D}"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5B2764FC-3511-4E82-81A4-F22F42068382}" type="datetimeFigureOut">
              <a:rPr lang="en-US"/>
              <a:pPr>
                <a:defRPr/>
              </a:pPr>
              <a:t>10/22/2023</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4497D325-13A3-4398-B812-45F97DE91C5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fld id="{136E7FDA-98C6-49B7-93AE-891ADB34DF8D}" type="datetimeFigureOut">
              <a:rPr lang="en-US"/>
              <a:pPr>
                <a:defRPr/>
              </a:pPr>
              <a:t>10/22/2023</a:t>
            </a:fld>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683BB0C1-E487-44CA-BD87-A0754170BA6F}"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fld id="{52371D2E-9839-40D5-BB7C-0B500CEC50F0}" type="datetimeFigureOut">
              <a:rPr lang="en-US"/>
              <a:pPr>
                <a:defRPr/>
              </a:pPr>
              <a:t>10/22/2023</a:t>
            </a:fld>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4A02BD9B-5884-4D8A-9CFB-FE1014D7882D}"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5DEE3FA0-EAB9-42B5-AA6E-D4A057AF2840}" type="datetimeFigureOut">
              <a:rPr lang="en-US"/>
              <a:pPr>
                <a:defRPr/>
              </a:pPr>
              <a:t>10/22/2023</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pPr>
              <a:defRPr/>
            </a:pPr>
            <a:fld id="{3DEBBF22-F54E-4CFA-8EDC-551F1532246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useBgFill="1">
        <p:nvSpPr>
          <p:cNvPr id="6" name="Rounded Rectangle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smtClean="0"/>
            </a:lvl1pPr>
          </a:lstStyle>
          <a:p>
            <a:pPr>
              <a:defRPr/>
            </a:pPr>
            <a:fld id="{5A8F3208-673D-4B5C-B52D-B45F5716B432}" type="datetimeFigureOut">
              <a:rPr lang="en-US"/>
              <a:pPr>
                <a:defRPr/>
              </a:pPr>
              <a:t>10/22/2023</a:t>
            </a:fld>
            <a:endParaRPr lang="en-US"/>
          </a:p>
        </p:txBody>
      </p:sp>
      <p:sp>
        <p:nvSpPr>
          <p:cNvPr id="8" name="Footer Placeholder 5"/>
          <p:cNvSpPr>
            <a:spLocks noGrp="1"/>
          </p:cNvSpPr>
          <p:nvPr>
            <p:ph type="ftr" sz="quarter" idx="11"/>
          </p:nvPr>
        </p:nvSpPr>
        <p:spPr/>
        <p:txBody>
          <a:bodyPr/>
          <a:lstStyle>
            <a:lvl1pPr>
              <a:defRPr smtClean="0"/>
            </a:lvl1pPr>
          </a:lstStyle>
          <a:p>
            <a:pPr>
              <a:defRPr/>
            </a:pPr>
            <a:endParaRPr lang="en-US"/>
          </a:p>
        </p:txBody>
      </p:sp>
      <p:sp>
        <p:nvSpPr>
          <p:cNvPr id="9" name="Slide Number Placeholder 6"/>
          <p:cNvSpPr>
            <a:spLocks noGrp="1"/>
          </p:cNvSpPr>
          <p:nvPr>
            <p:ph type="sldNum" sz="quarter" idx="12"/>
          </p:nvPr>
        </p:nvSpPr>
        <p:spPr/>
        <p:txBody>
          <a:bodyPr/>
          <a:lstStyle>
            <a:lvl1pPr>
              <a:defRPr smtClean="0"/>
            </a:lvl1pPr>
          </a:lstStyle>
          <a:p>
            <a:pPr>
              <a:defRPr/>
            </a:pPr>
            <a:fld id="{CCAB2B7C-642C-46ED-B03E-70E9DD20ED8C}"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6" name="Rectangle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7" name="Rectangle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p:cNvSpPr>
            <a:spLocks noGrp="1"/>
          </p:cNvSpPr>
          <p:nvPr>
            <p:ph type="dt" sz="half" idx="10"/>
          </p:nvPr>
        </p:nvSpPr>
        <p:spPr/>
        <p:txBody>
          <a:bodyPr/>
          <a:lstStyle>
            <a:lvl1pPr>
              <a:defRPr smtClean="0"/>
            </a:lvl1pPr>
          </a:lstStyle>
          <a:p>
            <a:pPr>
              <a:defRPr/>
            </a:pPr>
            <a:fld id="{C7503DEE-C07C-40DC-8E0D-2F2D9CCAF8F3}" type="datetimeFigureOut">
              <a:rPr lang="en-US"/>
              <a:pPr>
                <a:defRPr/>
              </a:pPr>
              <a:t>10/22/2023</a:t>
            </a:fld>
            <a:endParaRPr lang="en-US"/>
          </a:p>
        </p:txBody>
      </p:sp>
      <p:sp>
        <p:nvSpPr>
          <p:cNvPr id="9" name="Footer Placeholder 5"/>
          <p:cNvSpPr>
            <a:spLocks noGrp="1"/>
          </p:cNvSpPr>
          <p:nvPr>
            <p:ph type="ftr" sz="quarter" idx="11"/>
          </p:nvPr>
        </p:nvSpPr>
        <p:spPr>
          <a:xfrm>
            <a:off x="914400" y="6172200"/>
            <a:ext cx="3886200" cy="457200"/>
          </a:xfrm>
        </p:spPr>
        <p:txBody>
          <a:bodyPr/>
          <a:lstStyle>
            <a:lvl1pPr>
              <a:defRPr smtClean="0"/>
            </a:lvl1pPr>
          </a:lstStyle>
          <a:p>
            <a:pPr>
              <a:defRPr/>
            </a:pPr>
            <a:endParaRPr lang="en-US"/>
          </a:p>
        </p:txBody>
      </p:sp>
      <p:sp>
        <p:nvSpPr>
          <p:cNvPr id="10" name="Slide Number Placeholder 6"/>
          <p:cNvSpPr>
            <a:spLocks noGrp="1"/>
          </p:cNvSpPr>
          <p:nvPr>
            <p:ph type="sldNum" sz="quarter" idx="12"/>
          </p:nvPr>
        </p:nvSpPr>
        <p:spPr>
          <a:xfrm>
            <a:off x="146050" y="6208713"/>
            <a:ext cx="457200" cy="457200"/>
          </a:xfrm>
        </p:spPr>
        <p:txBody>
          <a:bodyPr/>
          <a:lstStyle>
            <a:lvl1pPr>
              <a:defRPr smtClean="0"/>
            </a:lvl1pPr>
          </a:lstStyle>
          <a:p>
            <a:pPr>
              <a:defRPr/>
            </a:pPr>
            <a:fld id="{E426F8A1-2B51-419A-9C97-BA8108A5318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E7A6E3CB-6C44-4E21-9625-42F7E2C75EEC}" type="datetimeFigureOut">
              <a:rPr lang="en-US"/>
              <a:pPr>
                <a:defRPr/>
              </a:pPr>
              <a:t>10/22/2023</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3FC577C8-B45A-45BE-9EC8-4ABC22177E51}"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DF3AFA7C-7994-4DE7-9492-A802F9FD3EE0}" type="datetimeFigureOut">
              <a:rPr lang="en-US"/>
              <a:pPr>
                <a:defRPr/>
              </a:pPr>
              <a:t>10/22/2023</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2D985102-F400-415F-B8E0-09A6C37A24C5}"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4"/>
          <p:cNvSpPr>
            <a:spLocks noGrp="1" noChangeArrowheads="1"/>
          </p:cNvSpPr>
          <p:nvPr>
            <p:ph type="ftr" sz="quarter" idx="10"/>
          </p:nvPr>
        </p:nvSpPr>
        <p:spPr/>
        <p:txBody>
          <a:bodyPr/>
          <a:lstStyle>
            <a:lvl1pPr>
              <a:defRPr smtClean="0"/>
            </a:lvl1pPr>
          </a:lstStyle>
          <a:p>
            <a:pPr>
              <a:defRPr/>
            </a:pPr>
            <a:endParaRPr lang="en-US"/>
          </a:p>
        </p:txBody>
      </p:sp>
      <p:sp>
        <p:nvSpPr>
          <p:cNvPr id="4" name="Rectangle 15"/>
          <p:cNvSpPr>
            <a:spLocks noGrp="1" noChangeArrowheads="1"/>
          </p:cNvSpPr>
          <p:nvPr>
            <p:ph type="sldNum" sz="quarter" idx="11"/>
          </p:nvPr>
        </p:nvSpPr>
        <p:spPr/>
        <p:txBody>
          <a:bodyPr/>
          <a:lstStyle>
            <a:lvl1pPr>
              <a:defRPr smtClean="0"/>
            </a:lvl1pPr>
          </a:lstStyle>
          <a:p>
            <a:pPr>
              <a:defRPr/>
            </a:pPr>
            <a:fld id="{33839D3B-3205-427D-9D59-DB6614474A7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028" name="Title Placeholder 21"/>
          <p:cNvSpPr>
            <a:spLocks noGrp="1"/>
          </p:cNvSpPr>
          <p:nvPr>
            <p:ph type="title"/>
          </p:nvPr>
        </p:nvSpPr>
        <p:spPr bwMode="auto">
          <a:xfrm>
            <a:off x="914400" y="274638"/>
            <a:ext cx="77724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en-US"/>
              <a:t>Click to edit Master title style</a:t>
            </a:r>
          </a:p>
        </p:txBody>
      </p:sp>
      <p:sp>
        <p:nvSpPr>
          <p:cNvPr id="1029" name="Text Placeholder 12"/>
          <p:cNvSpPr>
            <a:spLocks noGrp="1"/>
          </p:cNvSpPr>
          <p:nvPr>
            <p:ph type="body" idx="1"/>
          </p:nvPr>
        </p:nvSpPr>
        <p:spPr bwMode="auto">
          <a:xfrm>
            <a:off x="914400" y="1447800"/>
            <a:ext cx="77724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smtClean="0">
                <a:solidFill>
                  <a:schemeClr val="tx2"/>
                </a:solidFill>
              </a:defRPr>
            </a:lvl1pPr>
          </a:lstStyle>
          <a:p>
            <a:pPr>
              <a:defRPr/>
            </a:pPr>
            <a:fld id="{D2F6E4A4-D9F1-4E31-BF7E-42F566DCD1D2}" type="datetimeFigureOut">
              <a:rPr lang="en-US"/>
              <a:pPr>
                <a:defRPr/>
              </a:pPr>
              <a:t>10/22/2023</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vert="horz" wrap="square" lIns="91440" tIns="45720" rIns="91440" bIns="45720" numCol="1" anchor="ctr" anchorCtr="0" compatLnSpc="1">
            <a:prstTxWarp prst="textNoShape">
              <a:avLst/>
            </a:prstTxWarp>
          </a:bodyPr>
          <a:lstStyle>
            <a:lvl1pPr eaLnBrk="1" hangingPunct="1">
              <a:defRPr sz="1400" smtClean="0">
                <a:solidFill>
                  <a:schemeClr val="tx2"/>
                </a:solidFill>
              </a:defRPr>
            </a:lvl1pPr>
          </a:lstStyle>
          <a:p>
            <a:pPr>
              <a:defRPr/>
            </a:pPr>
            <a:endParaRPr lang="en-US"/>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smtClean="0">
                <a:solidFill>
                  <a:srgbClr val="FFFFFF"/>
                </a:solidFill>
                <a:latin typeface="Franklin Gothic Book" pitchFamily="34" charset="0"/>
              </a:defRPr>
            </a:lvl1pPr>
          </a:lstStyle>
          <a:p>
            <a:pPr>
              <a:defRPr/>
            </a:pPr>
            <a:fld id="{AF27BB78-1560-49B4-9BFD-FFE369C6612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p:cNvSpPr>
          <p:nvPr>
            <p:ph type="subTitle" idx="1"/>
          </p:nvPr>
        </p:nvSpPr>
        <p:spPr>
          <a:xfrm>
            <a:off x="1295400" y="3200400"/>
            <a:ext cx="6400800" cy="1600200"/>
          </a:xfrm>
        </p:spPr>
        <p:txBody>
          <a:bodyPr/>
          <a:lstStyle/>
          <a:p>
            <a:pPr eaLnBrk="1" hangingPunct="1"/>
            <a:r>
              <a:rPr lang="en-US" sz="3600" b="1" dirty="0"/>
              <a:t>Module 2</a:t>
            </a:r>
          </a:p>
          <a:p>
            <a:pPr eaLnBrk="1" hangingPunct="1"/>
            <a:r>
              <a:rPr lang="en-US" sz="3600" b="1" dirty="0"/>
              <a:t>Core Java Fundamentals</a:t>
            </a:r>
          </a:p>
        </p:txBody>
      </p:sp>
      <p:sp>
        <p:nvSpPr>
          <p:cNvPr id="7171" name="Title 1"/>
          <p:cNvSpPr>
            <a:spLocks noGrp="1"/>
          </p:cNvSpPr>
          <p:nvPr>
            <p:ph type="ctrTitle"/>
          </p:nvPr>
        </p:nvSpPr>
        <p:spPr>
          <a:xfrm>
            <a:off x="457200" y="1506538"/>
            <a:ext cx="8229600" cy="1470025"/>
          </a:xfrm>
        </p:spPr>
        <p:txBody>
          <a:bodyPr/>
          <a:lstStyle/>
          <a:p>
            <a:pPr eaLnBrk="1" hangingPunct="1"/>
            <a:r>
              <a:rPr b="1" dirty="0">
                <a:solidFill>
                  <a:schemeClr val="bg1"/>
                </a:solidFill>
                <a:latin typeface="Perpetua" pitchFamily="18" charset="0"/>
                <a:cs typeface="Times New Roman" pitchFamily="18" charset="0"/>
              </a:rPr>
              <a:t>CST205: OBJECT ORIENTED </a:t>
            </a:r>
            <a:r>
              <a:rPr lang="en-US" b="1" dirty="0">
                <a:solidFill>
                  <a:schemeClr val="bg1"/>
                </a:solidFill>
                <a:latin typeface="Perpetua" pitchFamily="18" charset="0"/>
                <a:cs typeface="Times New Roman" pitchFamily="18" charset="0"/>
              </a:rPr>
              <a:t>PR</a:t>
            </a:r>
            <a:r>
              <a:rPr b="1" dirty="0">
                <a:solidFill>
                  <a:schemeClr val="bg1"/>
                </a:solidFill>
                <a:latin typeface="Perpetua" pitchFamily="18" charset="0"/>
                <a:cs typeface="Times New Roman" pitchFamily="18" charset="0"/>
              </a:rPr>
              <a:t>OGRAMMING USING JAVA</a:t>
            </a:r>
            <a:endParaRPr dirty="0">
              <a:solidFill>
                <a:schemeClr val="bg1"/>
              </a:solidFill>
              <a:latin typeface="Perpetua"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76200" y="609600"/>
            <a:ext cx="8915400" cy="5410200"/>
          </a:xfrm>
        </p:spPr>
        <p:txBody>
          <a:bodyPr/>
          <a:lstStyle/>
          <a:p>
            <a:pPr marL="0" indent="0">
              <a:buNone/>
            </a:pPr>
            <a:r>
              <a:rPr lang="en-US" sz="2800" b="1" dirty="0"/>
              <a:t>Class Fundamentals</a:t>
            </a:r>
          </a:p>
          <a:p>
            <a:r>
              <a:rPr lang="en-US" sz="2800" dirty="0"/>
              <a:t> The class is the core of Java.</a:t>
            </a:r>
          </a:p>
          <a:p>
            <a:pPr lvl="1"/>
            <a:r>
              <a:rPr lang="en-US" sz="2800" dirty="0"/>
              <a:t> The class forms the basis for object-oriented programming in Java.</a:t>
            </a:r>
          </a:p>
          <a:p>
            <a:r>
              <a:rPr lang="en-US" sz="2800" dirty="0"/>
              <a:t> A class is a "blueprint" for creating objects</a:t>
            </a:r>
          </a:p>
          <a:p>
            <a:r>
              <a:rPr lang="en-US" sz="2800" dirty="0"/>
              <a:t> A class is a template for an object.</a:t>
            </a:r>
          </a:p>
          <a:p>
            <a:pPr lvl="1"/>
            <a:r>
              <a:rPr lang="en-US" sz="2800" dirty="0"/>
              <a:t>Object is an instance of a class.</a:t>
            </a:r>
          </a:p>
          <a:p>
            <a:r>
              <a:rPr lang="en-US" sz="2800" dirty="0"/>
              <a:t> A class defines a new type of data.</a:t>
            </a:r>
          </a:p>
          <a:p>
            <a:r>
              <a:rPr lang="en-US" sz="2800" dirty="0"/>
              <a:t> A class creates a logical framework that defines the relationship between its members.</a:t>
            </a:r>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2</a:t>
            </a:fld>
            <a:endParaRPr lang="en-US"/>
          </a:p>
        </p:txBody>
      </p:sp>
    </p:spTree>
    <p:extLst>
      <p:ext uri="{BB962C8B-B14F-4D97-AF65-F5344CB8AC3E}">
        <p14:creationId xmlns:p14="http://schemas.microsoft.com/office/powerpoint/2010/main" val="1596317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76200" y="609600"/>
            <a:ext cx="8915400" cy="5410200"/>
          </a:xfrm>
        </p:spPr>
        <p:txBody>
          <a:bodyPr/>
          <a:lstStyle/>
          <a:p>
            <a:pPr marL="0" indent="0">
              <a:buNone/>
            </a:pPr>
            <a:r>
              <a:rPr lang="en-US" sz="2800" dirty="0" err="1"/>
              <a:t>Eg</a:t>
            </a:r>
            <a:r>
              <a:rPr lang="en-US" sz="2800" dirty="0"/>
              <a:t>:</a:t>
            </a:r>
          </a:p>
          <a:p>
            <a:pPr marL="0" indent="0">
              <a:buNone/>
            </a:pPr>
            <a:endParaRPr lang="en-US" sz="2800" dirty="0"/>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3</a:t>
            </a:fld>
            <a:endParaRPr lang="en-US"/>
          </a:p>
        </p:txBody>
      </p:sp>
      <p:pic>
        <p:nvPicPr>
          <p:cNvPr id="5" name="Picture 4">
            <a:extLst>
              <a:ext uri="{FF2B5EF4-FFF2-40B4-BE49-F238E27FC236}">
                <a16:creationId xmlns:a16="http://schemas.microsoft.com/office/drawing/2014/main" id="{0B1DD8FF-C618-DF0C-1434-59C0CAB2BAF2}"/>
              </a:ext>
            </a:extLst>
          </p:cNvPr>
          <p:cNvPicPr>
            <a:picLocks noChangeAspect="1"/>
          </p:cNvPicPr>
          <p:nvPr/>
        </p:nvPicPr>
        <p:blipFill>
          <a:blip r:embed="rId2"/>
          <a:stretch>
            <a:fillRect/>
          </a:stretch>
        </p:blipFill>
        <p:spPr>
          <a:xfrm>
            <a:off x="1890712" y="1447800"/>
            <a:ext cx="5362575" cy="3733800"/>
          </a:xfrm>
          <a:prstGeom prst="rect">
            <a:avLst/>
          </a:prstGeom>
        </p:spPr>
      </p:pic>
    </p:spTree>
    <p:extLst>
      <p:ext uri="{BB962C8B-B14F-4D97-AF65-F5344CB8AC3E}">
        <p14:creationId xmlns:p14="http://schemas.microsoft.com/office/powerpoint/2010/main" val="386034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76200" y="609600"/>
            <a:ext cx="8915400" cy="5410200"/>
          </a:xfrm>
        </p:spPr>
        <p:txBody>
          <a:bodyPr/>
          <a:lstStyle/>
          <a:p>
            <a:pPr algn="just">
              <a:buFont typeface="Arial" panose="020B0604020202020204" pitchFamily="34" charset="0"/>
              <a:buChar char="•"/>
            </a:pPr>
            <a:r>
              <a:rPr lang="en-US" sz="3200" dirty="0"/>
              <a:t> A class is declared using the keyword class</a:t>
            </a:r>
          </a:p>
          <a:p>
            <a:pPr algn="just">
              <a:buFont typeface="Arial" panose="020B0604020202020204" pitchFamily="34" charset="0"/>
              <a:buChar char="•"/>
            </a:pPr>
            <a:r>
              <a:rPr lang="en-US" sz="3200" dirty="0"/>
              <a:t> The data or variables, defined within a class are called instance variables.</a:t>
            </a:r>
          </a:p>
          <a:p>
            <a:pPr lvl="1" algn="just">
              <a:buFont typeface="Arial" panose="020B0604020202020204" pitchFamily="34" charset="0"/>
              <a:buChar char="•"/>
            </a:pPr>
            <a:r>
              <a:rPr lang="en-US" sz="3000" dirty="0"/>
              <a:t>because each instance of the class (</a:t>
            </a:r>
            <a:r>
              <a:rPr lang="en-US" sz="3000" dirty="0" err="1"/>
              <a:t>ie,each</a:t>
            </a:r>
            <a:r>
              <a:rPr lang="en-US" sz="3000" dirty="0"/>
              <a:t> object of the </a:t>
            </a:r>
            <a:r>
              <a:rPr lang="en-US" sz="3200" dirty="0"/>
              <a:t>class) contains its own copy of these variables.</a:t>
            </a:r>
          </a:p>
          <a:p>
            <a:pPr lvl="1" algn="just">
              <a:buFont typeface="Arial" panose="020B0604020202020204" pitchFamily="34" charset="0"/>
              <a:buChar char="•"/>
            </a:pPr>
            <a:r>
              <a:rPr lang="en-US" sz="3000" dirty="0"/>
              <a:t>the data for each object is separate and unique.</a:t>
            </a:r>
          </a:p>
          <a:p>
            <a:pPr algn="just">
              <a:buFont typeface="Arial" panose="020B0604020202020204" pitchFamily="34" charset="0"/>
              <a:buChar char="•"/>
            </a:pPr>
            <a:r>
              <a:rPr lang="en-US" sz="3200" dirty="0"/>
              <a:t>Functions inside class are called methods.</a:t>
            </a:r>
          </a:p>
          <a:p>
            <a:pPr algn="just">
              <a:buFont typeface="Arial" panose="020B0604020202020204" pitchFamily="34" charset="0"/>
              <a:buChar char="•"/>
            </a:pPr>
            <a:r>
              <a:rPr lang="en-US" sz="3200" dirty="0"/>
              <a:t>The methods and variables defined within a class are called members of the class.</a:t>
            </a:r>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4</a:t>
            </a:fld>
            <a:endParaRPr lang="en-US"/>
          </a:p>
        </p:txBody>
      </p:sp>
    </p:spTree>
    <p:extLst>
      <p:ext uri="{BB962C8B-B14F-4D97-AF65-F5344CB8AC3E}">
        <p14:creationId xmlns:p14="http://schemas.microsoft.com/office/powerpoint/2010/main" val="3747690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533400" y="76200"/>
            <a:ext cx="8915400" cy="5410200"/>
          </a:xfrm>
        </p:spPr>
        <p:txBody>
          <a:bodyPr/>
          <a:lstStyle/>
          <a:p>
            <a:pPr marL="0" indent="0" algn="ctr">
              <a:buNone/>
            </a:pPr>
            <a:r>
              <a:rPr lang="en-US" sz="2800" b="1" dirty="0"/>
              <a:t>The General Form of a Class</a:t>
            </a:r>
          </a:p>
          <a:p>
            <a:pPr marL="0" indent="0">
              <a:buNone/>
            </a:pPr>
            <a:r>
              <a:rPr lang="en-US" sz="2800" b="1" dirty="0"/>
              <a:t>• </a:t>
            </a:r>
            <a:r>
              <a:rPr lang="en-US" sz="2800" dirty="0"/>
              <a:t>A general form of a class definition is</a:t>
            </a:r>
          </a:p>
          <a:p>
            <a:pPr marL="0" indent="0">
              <a:buNone/>
            </a:pPr>
            <a:r>
              <a:rPr lang="en-US" sz="2800" dirty="0"/>
              <a:t>class classname </a:t>
            </a:r>
          </a:p>
          <a:p>
            <a:pPr marL="0" indent="0">
              <a:buNone/>
            </a:pPr>
            <a:r>
              <a:rPr lang="en-US" sz="2800" dirty="0"/>
              <a:t>{</a:t>
            </a:r>
          </a:p>
          <a:p>
            <a:pPr marL="0" indent="0">
              <a:buNone/>
            </a:pPr>
            <a:r>
              <a:rPr lang="en-US" sz="2800" dirty="0"/>
              <a:t>type instance-variable1 ;</a:t>
            </a:r>
          </a:p>
          <a:p>
            <a:pPr marL="0" indent="0">
              <a:buNone/>
            </a:pPr>
            <a:r>
              <a:rPr lang="en-US" sz="2800" dirty="0"/>
              <a:t>type instance-variable;</a:t>
            </a:r>
          </a:p>
          <a:p>
            <a:pPr marL="0" indent="0">
              <a:buNone/>
            </a:pPr>
            <a:r>
              <a:rPr lang="en-US" sz="2800" dirty="0"/>
              <a:t>type methodname1(parameter-list)</a:t>
            </a:r>
          </a:p>
          <a:p>
            <a:pPr marL="0" indent="0">
              <a:buNone/>
            </a:pPr>
            <a:r>
              <a:rPr lang="en-US" sz="2800" dirty="0"/>
              <a:t>{</a:t>
            </a:r>
          </a:p>
          <a:p>
            <a:pPr marL="0" indent="0">
              <a:buNone/>
            </a:pPr>
            <a:r>
              <a:rPr lang="en-US" sz="2800" dirty="0"/>
              <a:t>// body of method</a:t>
            </a:r>
          </a:p>
          <a:p>
            <a:pPr marL="0" indent="0">
              <a:buNone/>
            </a:pPr>
            <a:r>
              <a:rPr lang="en-US" sz="2800" dirty="0"/>
              <a:t>}</a:t>
            </a:r>
          </a:p>
          <a:p>
            <a:pPr marL="0" indent="0">
              <a:buNone/>
            </a:pPr>
            <a:r>
              <a:rPr lang="en-US" sz="2800" dirty="0"/>
              <a:t>type </a:t>
            </a:r>
            <a:r>
              <a:rPr lang="en-US" sz="2800" dirty="0" err="1"/>
              <a:t>methodnameN</a:t>
            </a:r>
            <a:r>
              <a:rPr lang="en-US" sz="2800" dirty="0"/>
              <a:t>(parameter-list)</a:t>
            </a:r>
          </a:p>
          <a:p>
            <a:pPr marL="0" indent="0">
              <a:buNone/>
            </a:pPr>
            <a:r>
              <a:rPr lang="en-US" sz="2800" dirty="0"/>
              <a:t>{ </a:t>
            </a:r>
          </a:p>
          <a:p>
            <a:pPr marL="0" indent="0">
              <a:buNone/>
            </a:pPr>
            <a:r>
              <a:rPr lang="en-US" sz="2800" dirty="0"/>
              <a:t>// body of method</a:t>
            </a:r>
          </a:p>
          <a:p>
            <a:pPr marL="0" indent="0">
              <a:buNone/>
            </a:pPr>
            <a:r>
              <a:rPr lang="en-US" sz="2800" dirty="0"/>
              <a:t>}</a:t>
            </a:r>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5</a:t>
            </a:fld>
            <a:endParaRPr lang="en-US"/>
          </a:p>
        </p:txBody>
      </p:sp>
      <p:sp>
        <p:nvSpPr>
          <p:cNvPr id="2" name="Right Brace 1">
            <a:extLst>
              <a:ext uri="{FF2B5EF4-FFF2-40B4-BE49-F238E27FC236}">
                <a16:creationId xmlns:a16="http://schemas.microsoft.com/office/drawing/2014/main" id="{C50459E1-D683-3C88-31A3-960BCDD987DE}"/>
              </a:ext>
            </a:extLst>
          </p:cNvPr>
          <p:cNvSpPr/>
          <p:nvPr/>
        </p:nvSpPr>
        <p:spPr>
          <a:xfrm>
            <a:off x="4572000" y="1981200"/>
            <a:ext cx="426719" cy="1143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ight Brace 4">
            <a:extLst>
              <a:ext uri="{FF2B5EF4-FFF2-40B4-BE49-F238E27FC236}">
                <a16:creationId xmlns:a16="http://schemas.microsoft.com/office/drawing/2014/main" id="{2FE3A387-7D07-444F-DC98-0FE66C0B0ED5}"/>
              </a:ext>
            </a:extLst>
          </p:cNvPr>
          <p:cNvSpPr/>
          <p:nvPr/>
        </p:nvSpPr>
        <p:spPr>
          <a:xfrm>
            <a:off x="5364481" y="5257800"/>
            <a:ext cx="426719" cy="1143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a:extLst>
              <a:ext uri="{FF2B5EF4-FFF2-40B4-BE49-F238E27FC236}">
                <a16:creationId xmlns:a16="http://schemas.microsoft.com/office/drawing/2014/main" id="{538A193D-A508-B94C-DBB2-20D5463508E4}"/>
              </a:ext>
            </a:extLst>
          </p:cNvPr>
          <p:cNvSpPr/>
          <p:nvPr/>
        </p:nvSpPr>
        <p:spPr>
          <a:xfrm>
            <a:off x="5212081" y="3276600"/>
            <a:ext cx="426719" cy="1143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ABB5D314-2F5D-0A8F-6D49-07DC10BB34FF}"/>
              </a:ext>
            </a:extLst>
          </p:cNvPr>
          <p:cNvSpPr txBox="1"/>
          <p:nvPr/>
        </p:nvSpPr>
        <p:spPr>
          <a:xfrm>
            <a:off x="5638800" y="1981200"/>
            <a:ext cx="1371600" cy="923330"/>
          </a:xfrm>
          <a:prstGeom prst="rect">
            <a:avLst/>
          </a:prstGeom>
          <a:noFill/>
        </p:spPr>
        <p:txBody>
          <a:bodyPr wrap="square" rtlCol="0">
            <a:spAutoFit/>
          </a:bodyPr>
          <a:lstStyle/>
          <a:p>
            <a:r>
              <a:rPr lang="en-US" b="1" dirty="0"/>
              <a:t>Properties</a:t>
            </a:r>
          </a:p>
          <a:p>
            <a:r>
              <a:rPr lang="en-US" b="1" dirty="0"/>
              <a:t>(instance </a:t>
            </a:r>
          </a:p>
          <a:p>
            <a:r>
              <a:rPr lang="en-US" b="1" dirty="0"/>
              <a:t>variables)</a:t>
            </a:r>
          </a:p>
        </p:txBody>
      </p:sp>
      <p:sp>
        <p:nvSpPr>
          <p:cNvPr id="8" name="TextBox 7">
            <a:extLst>
              <a:ext uri="{FF2B5EF4-FFF2-40B4-BE49-F238E27FC236}">
                <a16:creationId xmlns:a16="http://schemas.microsoft.com/office/drawing/2014/main" id="{FBC95E9F-2009-83CF-C430-F4B4EFC94085}"/>
              </a:ext>
            </a:extLst>
          </p:cNvPr>
          <p:cNvSpPr txBox="1"/>
          <p:nvPr/>
        </p:nvSpPr>
        <p:spPr>
          <a:xfrm>
            <a:off x="5791200" y="3343870"/>
            <a:ext cx="1371600" cy="923330"/>
          </a:xfrm>
          <a:prstGeom prst="rect">
            <a:avLst/>
          </a:prstGeom>
          <a:noFill/>
        </p:spPr>
        <p:txBody>
          <a:bodyPr wrap="square" rtlCol="0">
            <a:spAutoFit/>
          </a:bodyPr>
          <a:lstStyle/>
          <a:p>
            <a:r>
              <a:rPr lang="en-US" b="1" dirty="0" err="1"/>
              <a:t>Behaviour</a:t>
            </a:r>
            <a:r>
              <a:rPr lang="en-US" b="1" dirty="0"/>
              <a:t> or Method or Function</a:t>
            </a:r>
          </a:p>
        </p:txBody>
      </p:sp>
      <p:sp>
        <p:nvSpPr>
          <p:cNvPr id="10" name="TextBox 9">
            <a:extLst>
              <a:ext uri="{FF2B5EF4-FFF2-40B4-BE49-F238E27FC236}">
                <a16:creationId xmlns:a16="http://schemas.microsoft.com/office/drawing/2014/main" id="{6911EB75-98C2-087F-F282-E39E18687A88}"/>
              </a:ext>
            </a:extLst>
          </p:cNvPr>
          <p:cNvSpPr txBox="1"/>
          <p:nvPr/>
        </p:nvSpPr>
        <p:spPr>
          <a:xfrm>
            <a:off x="5943600" y="4944070"/>
            <a:ext cx="1371600" cy="923330"/>
          </a:xfrm>
          <a:prstGeom prst="rect">
            <a:avLst/>
          </a:prstGeom>
          <a:noFill/>
        </p:spPr>
        <p:txBody>
          <a:bodyPr wrap="square" rtlCol="0">
            <a:spAutoFit/>
          </a:bodyPr>
          <a:lstStyle/>
          <a:p>
            <a:r>
              <a:rPr lang="en-US" b="1" dirty="0" err="1"/>
              <a:t>Behaviour</a:t>
            </a:r>
            <a:r>
              <a:rPr lang="en-US" b="1" dirty="0"/>
              <a:t> or Method or Function</a:t>
            </a:r>
          </a:p>
        </p:txBody>
      </p:sp>
      <p:sp>
        <p:nvSpPr>
          <p:cNvPr id="12" name="TextBox 11">
            <a:extLst>
              <a:ext uri="{FF2B5EF4-FFF2-40B4-BE49-F238E27FC236}">
                <a16:creationId xmlns:a16="http://schemas.microsoft.com/office/drawing/2014/main" id="{EF91084D-1499-0047-EF6A-5F0D3B8C409D}"/>
              </a:ext>
            </a:extLst>
          </p:cNvPr>
          <p:cNvSpPr txBox="1"/>
          <p:nvPr/>
        </p:nvSpPr>
        <p:spPr>
          <a:xfrm>
            <a:off x="7620000" y="3352800"/>
            <a:ext cx="1371600" cy="646331"/>
          </a:xfrm>
          <a:prstGeom prst="rect">
            <a:avLst/>
          </a:prstGeom>
          <a:noFill/>
        </p:spPr>
        <p:txBody>
          <a:bodyPr wrap="square" rtlCol="0">
            <a:spAutoFit/>
          </a:bodyPr>
          <a:lstStyle/>
          <a:p>
            <a:r>
              <a:rPr lang="en-US" b="1" dirty="0"/>
              <a:t>Members of Class</a:t>
            </a:r>
          </a:p>
        </p:txBody>
      </p:sp>
      <p:cxnSp>
        <p:nvCxnSpPr>
          <p:cNvPr id="14" name="Straight Arrow Connector 13">
            <a:extLst>
              <a:ext uri="{FF2B5EF4-FFF2-40B4-BE49-F238E27FC236}">
                <a16:creationId xmlns:a16="http://schemas.microsoft.com/office/drawing/2014/main" id="{996F20F2-87FA-E997-DCA8-128B927E07E9}"/>
              </a:ext>
            </a:extLst>
          </p:cNvPr>
          <p:cNvCxnSpPr>
            <a:cxnSpLocks/>
          </p:cNvCxnSpPr>
          <p:nvPr/>
        </p:nvCxnSpPr>
        <p:spPr>
          <a:xfrm flipH="1" flipV="1">
            <a:off x="6661731" y="2514600"/>
            <a:ext cx="958269"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4EC6707-4661-7674-994B-F0EC1D699353}"/>
              </a:ext>
            </a:extLst>
          </p:cNvPr>
          <p:cNvCxnSpPr>
            <a:cxnSpLocks/>
          </p:cNvCxnSpPr>
          <p:nvPr/>
        </p:nvCxnSpPr>
        <p:spPr>
          <a:xfrm flipH="1">
            <a:off x="6988466" y="3429000"/>
            <a:ext cx="631534" cy="2869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FF57502-1B06-B338-F7D8-7D43DD6D0F77}"/>
              </a:ext>
            </a:extLst>
          </p:cNvPr>
          <p:cNvCxnSpPr>
            <a:cxnSpLocks/>
          </p:cNvCxnSpPr>
          <p:nvPr/>
        </p:nvCxnSpPr>
        <p:spPr>
          <a:xfrm flipH="1">
            <a:off x="7140865" y="3429000"/>
            <a:ext cx="479135" cy="1874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287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533400" y="76200"/>
            <a:ext cx="8915400" cy="6477000"/>
          </a:xfrm>
        </p:spPr>
        <p:txBody>
          <a:bodyPr/>
          <a:lstStyle/>
          <a:p>
            <a:pPr marL="0" indent="0" algn="ctr">
              <a:buNone/>
            </a:pPr>
            <a:r>
              <a:rPr lang="en-US" sz="2800" b="1" dirty="0"/>
              <a:t>A Simple Class</a:t>
            </a:r>
          </a:p>
          <a:p>
            <a:pPr marL="0" indent="0">
              <a:buNone/>
            </a:pPr>
            <a:r>
              <a:rPr lang="en-US" sz="2800" dirty="0"/>
              <a:t>class Box </a:t>
            </a:r>
          </a:p>
          <a:p>
            <a:pPr marL="0" indent="0">
              <a:buNone/>
            </a:pPr>
            <a:r>
              <a:rPr lang="en-US" sz="2800" dirty="0"/>
              <a:t>{</a:t>
            </a:r>
          </a:p>
          <a:p>
            <a:pPr marL="0" indent="0">
              <a:buNone/>
            </a:pPr>
            <a:r>
              <a:rPr lang="en-US" sz="2800" dirty="0"/>
              <a:t>double length;</a:t>
            </a:r>
          </a:p>
          <a:p>
            <a:pPr marL="0" indent="0">
              <a:buNone/>
            </a:pPr>
            <a:r>
              <a:rPr lang="en-US" sz="2800" dirty="0"/>
              <a:t>double width;</a:t>
            </a:r>
          </a:p>
          <a:p>
            <a:pPr marL="0" indent="0">
              <a:buNone/>
            </a:pPr>
            <a:r>
              <a:rPr lang="en-US" sz="2800" dirty="0"/>
              <a:t>double height;</a:t>
            </a:r>
          </a:p>
          <a:p>
            <a:pPr marL="0" indent="0">
              <a:buNone/>
            </a:pPr>
            <a:r>
              <a:rPr lang="en-US" sz="2800" dirty="0"/>
              <a:t>}</a:t>
            </a:r>
          </a:p>
          <a:p>
            <a:pPr marL="0" indent="0">
              <a:buNone/>
            </a:pPr>
            <a:r>
              <a:rPr lang="en-US" sz="2800" dirty="0"/>
              <a:t>void volume()</a:t>
            </a:r>
          </a:p>
          <a:p>
            <a:pPr marL="0" indent="0">
              <a:buNone/>
            </a:pPr>
            <a:r>
              <a:rPr lang="en-US" sz="2800" dirty="0"/>
              <a:t>{</a:t>
            </a:r>
          </a:p>
          <a:p>
            <a:pPr marL="0" indent="0">
              <a:buNone/>
            </a:pPr>
            <a:r>
              <a:rPr lang="en-US" sz="2800" dirty="0"/>
              <a:t>//statements</a:t>
            </a:r>
          </a:p>
          <a:p>
            <a:pPr marL="0" indent="0">
              <a:buNone/>
            </a:pPr>
            <a:r>
              <a:rPr lang="en-US" sz="2800" dirty="0"/>
              <a:t>}</a:t>
            </a:r>
          </a:p>
          <a:p>
            <a:pPr marL="0" indent="0">
              <a:buNone/>
            </a:pPr>
            <a:r>
              <a:rPr lang="en-US" sz="2800" dirty="0"/>
              <a:t>}</a:t>
            </a:r>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6</a:t>
            </a:fld>
            <a:endParaRPr lang="en-US"/>
          </a:p>
        </p:txBody>
      </p:sp>
      <p:sp>
        <p:nvSpPr>
          <p:cNvPr id="2" name="Right Brace 1">
            <a:extLst>
              <a:ext uri="{FF2B5EF4-FFF2-40B4-BE49-F238E27FC236}">
                <a16:creationId xmlns:a16="http://schemas.microsoft.com/office/drawing/2014/main" id="{C50459E1-D683-3C88-31A3-960BCDD987DE}"/>
              </a:ext>
            </a:extLst>
          </p:cNvPr>
          <p:cNvSpPr/>
          <p:nvPr/>
        </p:nvSpPr>
        <p:spPr>
          <a:xfrm>
            <a:off x="4572000" y="1981200"/>
            <a:ext cx="426719" cy="1143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a:extLst>
              <a:ext uri="{FF2B5EF4-FFF2-40B4-BE49-F238E27FC236}">
                <a16:creationId xmlns:a16="http://schemas.microsoft.com/office/drawing/2014/main" id="{538A193D-A508-B94C-DBB2-20D5463508E4}"/>
              </a:ext>
            </a:extLst>
          </p:cNvPr>
          <p:cNvSpPr/>
          <p:nvPr/>
        </p:nvSpPr>
        <p:spPr>
          <a:xfrm>
            <a:off x="4114800" y="3810000"/>
            <a:ext cx="426719" cy="1143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ABB5D314-2F5D-0A8F-6D49-07DC10BB34FF}"/>
              </a:ext>
            </a:extLst>
          </p:cNvPr>
          <p:cNvSpPr txBox="1"/>
          <p:nvPr/>
        </p:nvSpPr>
        <p:spPr>
          <a:xfrm>
            <a:off x="5638800" y="1981200"/>
            <a:ext cx="1371600" cy="923330"/>
          </a:xfrm>
          <a:prstGeom prst="rect">
            <a:avLst/>
          </a:prstGeom>
          <a:noFill/>
        </p:spPr>
        <p:txBody>
          <a:bodyPr wrap="square" rtlCol="0">
            <a:spAutoFit/>
          </a:bodyPr>
          <a:lstStyle/>
          <a:p>
            <a:r>
              <a:rPr lang="en-US" b="1" dirty="0"/>
              <a:t>Properties</a:t>
            </a:r>
          </a:p>
          <a:p>
            <a:r>
              <a:rPr lang="en-US" b="1" dirty="0"/>
              <a:t>(instance </a:t>
            </a:r>
          </a:p>
          <a:p>
            <a:r>
              <a:rPr lang="en-US" b="1" dirty="0"/>
              <a:t>variables)</a:t>
            </a:r>
          </a:p>
        </p:txBody>
      </p:sp>
      <p:sp>
        <p:nvSpPr>
          <p:cNvPr id="8" name="TextBox 7">
            <a:extLst>
              <a:ext uri="{FF2B5EF4-FFF2-40B4-BE49-F238E27FC236}">
                <a16:creationId xmlns:a16="http://schemas.microsoft.com/office/drawing/2014/main" id="{FBC95E9F-2009-83CF-C430-F4B4EFC94085}"/>
              </a:ext>
            </a:extLst>
          </p:cNvPr>
          <p:cNvSpPr txBox="1"/>
          <p:nvPr/>
        </p:nvSpPr>
        <p:spPr>
          <a:xfrm>
            <a:off x="5410200" y="4182070"/>
            <a:ext cx="1371600" cy="923330"/>
          </a:xfrm>
          <a:prstGeom prst="rect">
            <a:avLst/>
          </a:prstGeom>
          <a:noFill/>
        </p:spPr>
        <p:txBody>
          <a:bodyPr wrap="square" rtlCol="0">
            <a:spAutoFit/>
          </a:bodyPr>
          <a:lstStyle/>
          <a:p>
            <a:r>
              <a:rPr lang="en-US" b="1" dirty="0" err="1"/>
              <a:t>Behaviour</a:t>
            </a:r>
            <a:r>
              <a:rPr lang="en-US" b="1" dirty="0"/>
              <a:t> or Method or Function</a:t>
            </a:r>
          </a:p>
        </p:txBody>
      </p:sp>
      <p:sp>
        <p:nvSpPr>
          <p:cNvPr id="12" name="TextBox 11">
            <a:extLst>
              <a:ext uri="{FF2B5EF4-FFF2-40B4-BE49-F238E27FC236}">
                <a16:creationId xmlns:a16="http://schemas.microsoft.com/office/drawing/2014/main" id="{EF91084D-1499-0047-EF6A-5F0D3B8C409D}"/>
              </a:ext>
            </a:extLst>
          </p:cNvPr>
          <p:cNvSpPr txBox="1"/>
          <p:nvPr/>
        </p:nvSpPr>
        <p:spPr>
          <a:xfrm>
            <a:off x="7620000" y="3352800"/>
            <a:ext cx="1371600" cy="646331"/>
          </a:xfrm>
          <a:prstGeom prst="rect">
            <a:avLst/>
          </a:prstGeom>
          <a:noFill/>
        </p:spPr>
        <p:txBody>
          <a:bodyPr wrap="square" rtlCol="0">
            <a:spAutoFit/>
          </a:bodyPr>
          <a:lstStyle/>
          <a:p>
            <a:r>
              <a:rPr lang="en-US" b="1" dirty="0"/>
              <a:t>Members of Class</a:t>
            </a:r>
          </a:p>
        </p:txBody>
      </p:sp>
      <p:cxnSp>
        <p:nvCxnSpPr>
          <p:cNvPr id="14" name="Straight Arrow Connector 13">
            <a:extLst>
              <a:ext uri="{FF2B5EF4-FFF2-40B4-BE49-F238E27FC236}">
                <a16:creationId xmlns:a16="http://schemas.microsoft.com/office/drawing/2014/main" id="{996F20F2-87FA-E997-DCA8-128B927E07E9}"/>
              </a:ext>
            </a:extLst>
          </p:cNvPr>
          <p:cNvCxnSpPr>
            <a:cxnSpLocks/>
          </p:cNvCxnSpPr>
          <p:nvPr/>
        </p:nvCxnSpPr>
        <p:spPr>
          <a:xfrm flipH="1" flipV="1">
            <a:off x="6661731" y="2514600"/>
            <a:ext cx="958269"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4EC6707-4661-7674-994B-F0EC1D699353}"/>
              </a:ext>
            </a:extLst>
          </p:cNvPr>
          <p:cNvCxnSpPr>
            <a:cxnSpLocks/>
          </p:cNvCxnSpPr>
          <p:nvPr/>
        </p:nvCxnSpPr>
        <p:spPr>
          <a:xfrm flipH="1">
            <a:off x="6248400" y="3429000"/>
            <a:ext cx="1371600"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452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76200" y="609600"/>
            <a:ext cx="8915400" cy="5410200"/>
          </a:xfrm>
        </p:spPr>
        <p:txBody>
          <a:bodyPr/>
          <a:lstStyle/>
          <a:p>
            <a:pPr marL="0" indent="0" algn="just">
              <a:buNone/>
            </a:pPr>
            <a:r>
              <a:rPr lang="en-US" sz="2800" b="1" dirty="0"/>
              <a:t>			Declaring Objects</a:t>
            </a:r>
          </a:p>
          <a:p>
            <a:pPr marL="0" indent="0" algn="just">
              <a:buNone/>
            </a:pPr>
            <a:r>
              <a:rPr lang="en-US" sz="2800" dirty="0"/>
              <a:t>• </a:t>
            </a:r>
            <a:r>
              <a:rPr lang="en-US" sz="3200" dirty="0"/>
              <a:t>When we create a class, we are creating a new data type.</a:t>
            </a:r>
          </a:p>
          <a:p>
            <a:pPr marL="0" indent="0" algn="just">
              <a:buNone/>
            </a:pPr>
            <a:r>
              <a:rPr lang="en-US" sz="3200" dirty="0"/>
              <a:t>— We can use this type to declare objects of that type.</a:t>
            </a:r>
          </a:p>
          <a:p>
            <a:pPr marL="0" indent="0" algn="just">
              <a:buNone/>
            </a:pPr>
            <a:r>
              <a:rPr lang="en-US" sz="3200" dirty="0"/>
              <a:t>• Obtaining objects of a class is a two-step process.</a:t>
            </a:r>
          </a:p>
          <a:p>
            <a:pPr marL="0" indent="0" algn="just">
              <a:buNone/>
            </a:pPr>
            <a:r>
              <a:rPr lang="en-US" sz="3200" dirty="0"/>
              <a:t>— First, we must declare a variable of the class type.</a:t>
            </a:r>
          </a:p>
          <a:p>
            <a:pPr marL="274638" lvl="1" indent="0" algn="just">
              <a:buNone/>
            </a:pPr>
            <a:r>
              <a:rPr lang="en-US" sz="3000" dirty="0"/>
              <a:t>• This variable does not define an object.</a:t>
            </a:r>
          </a:p>
          <a:p>
            <a:pPr marL="274638" lvl="1" indent="0" algn="just">
              <a:buNone/>
            </a:pPr>
            <a:r>
              <a:rPr lang="en-US" sz="3000" dirty="0"/>
              <a:t>• It is simply a variable that can refer to an object.</a:t>
            </a:r>
          </a:p>
          <a:p>
            <a:pPr marL="0" indent="0" algn="just">
              <a:buNone/>
            </a:pPr>
            <a:r>
              <a:rPr lang="en-US" sz="3200" dirty="0"/>
              <a:t>— Second, we must acquire an actual, physical copy of the object and assign it to that variable (using new operator)</a:t>
            </a:r>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7</a:t>
            </a:fld>
            <a:endParaRPr lang="en-US"/>
          </a:p>
        </p:txBody>
      </p:sp>
    </p:spTree>
    <p:extLst>
      <p:ext uri="{BB962C8B-B14F-4D97-AF65-F5344CB8AC3E}">
        <p14:creationId xmlns:p14="http://schemas.microsoft.com/office/powerpoint/2010/main" val="3775254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76200" y="609600"/>
            <a:ext cx="8915400" cy="5410200"/>
          </a:xfrm>
        </p:spPr>
        <p:txBody>
          <a:bodyPr/>
          <a:lstStyle/>
          <a:p>
            <a:pPr marL="0" indent="0">
              <a:buNone/>
            </a:pPr>
            <a:r>
              <a:rPr lang="en-US" sz="3200" b="1" dirty="0"/>
              <a:t>Classname </a:t>
            </a:r>
            <a:r>
              <a:rPr lang="en-US" sz="3200" b="1" dirty="0" err="1"/>
              <a:t>objectname</a:t>
            </a:r>
            <a:r>
              <a:rPr lang="en-US" sz="3200" b="1" dirty="0"/>
              <a:t> </a:t>
            </a:r>
            <a:r>
              <a:rPr lang="en-US" sz="3200" dirty="0"/>
              <a:t>; // declare reference to object</a:t>
            </a:r>
          </a:p>
          <a:p>
            <a:pPr marL="0" indent="0">
              <a:buNone/>
            </a:pPr>
            <a:r>
              <a:rPr lang="en-US" sz="3200" b="1" dirty="0" err="1"/>
              <a:t>objectname</a:t>
            </a:r>
            <a:r>
              <a:rPr lang="en-US" sz="3200" b="1" dirty="0"/>
              <a:t> = new Classname(); </a:t>
            </a:r>
            <a:r>
              <a:rPr lang="en-US" sz="3200" dirty="0"/>
              <a:t>// allocate an object</a:t>
            </a:r>
          </a:p>
          <a:p>
            <a:pPr marL="0" indent="0">
              <a:buNone/>
            </a:pPr>
            <a:endParaRPr lang="en-US" sz="3200" dirty="0"/>
          </a:p>
          <a:p>
            <a:pPr marL="0" indent="0">
              <a:buNone/>
            </a:pPr>
            <a:r>
              <a:rPr lang="en-US" sz="3200" dirty="0"/>
              <a:t>• We can write this in a single statement</a:t>
            </a:r>
          </a:p>
          <a:p>
            <a:pPr marL="0" indent="0">
              <a:buNone/>
            </a:pPr>
            <a:r>
              <a:rPr lang="en-US" sz="3200" b="1" dirty="0"/>
              <a:t>Classname </a:t>
            </a:r>
            <a:r>
              <a:rPr lang="en-US" sz="3200" b="1" dirty="0" err="1"/>
              <a:t>objectname</a:t>
            </a:r>
            <a:r>
              <a:rPr lang="en-US" sz="3200" b="1" dirty="0"/>
              <a:t> = new Classname();</a:t>
            </a:r>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8</a:t>
            </a:fld>
            <a:endParaRPr lang="en-US"/>
          </a:p>
        </p:txBody>
      </p:sp>
    </p:spTree>
    <p:extLst>
      <p:ext uri="{BB962C8B-B14F-4D97-AF65-F5344CB8AC3E}">
        <p14:creationId xmlns:p14="http://schemas.microsoft.com/office/powerpoint/2010/main" val="2633107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9</a:t>
            </a:fld>
            <a:endParaRPr lang="en-US"/>
          </a:p>
        </p:txBody>
      </p:sp>
      <p:sp>
        <p:nvSpPr>
          <p:cNvPr id="7" name="TextBox 6">
            <a:extLst>
              <a:ext uri="{FF2B5EF4-FFF2-40B4-BE49-F238E27FC236}">
                <a16:creationId xmlns:a16="http://schemas.microsoft.com/office/drawing/2014/main" id="{F0EDED65-9560-13E3-3AFD-D8B8F3B6CB6F}"/>
              </a:ext>
            </a:extLst>
          </p:cNvPr>
          <p:cNvSpPr txBox="1"/>
          <p:nvPr/>
        </p:nvSpPr>
        <p:spPr>
          <a:xfrm>
            <a:off x="374650" y="0"/>
            <a:ext cx="8623300" cy="6986528"/>
          </a:xfrm>
          <a:prstGeom prst="rect">
            <a:avLst/>
          </a:prstGeom>
          <a:noFill/>
          <a:ln>
            <a:solidFill>
              <a:schemeClr val="tx1"/>
            </a:solidFill>
          </a:ln>
        </p:spPr>
        <p:txBody>
          <a:bodyPr wrap="square" rtlCol="0">
            <a:spAutoFit/>
          </a:bodyPr>
          <a:lstStyle/>
          <a:p>
            <a:pPr marL="0" indent="0" algn="just">
              <a:buNone/>
            </a:pPr>
            <a:r>
              <a:rPr lang="en-US" sz="3200" dirty="0"/>
              <a:t>class Box{</a:t>
            </a:r>
          </a:p>
          <a:p>
            <a:pPr marL="0" indent="0" algn="just">
              <a:buNone/>
            </a:pPr>
            <a:r>
              <a:rPr lang="en-US" sz="3200" dirty="0"/>
              <a:t>double length;</a:t>
            </a:r>
          </a:p>
          <a:p>
            <a:pPr marL="0" indent="0" algn="just">
              <a:buNone/>
            </a:pPr>
            <a:r>
              <a:rPr lang="en-US" sz="3200" dirty="0"/>
              <a:t>double width;</a:t>
            </a:r>
          </a:p>
          <a:p>
            <a:pPr marL="0" indent="0" algn="just">
              <a:buNone/>
            </a:pPr>
            <a:r>
              <a:rPr lang="en-US" sz="3200" dirty="0"/>
              <a:t>double height;</a:t>
            </a:r>
          </a:p>
          <a:p>
            <a:pPr marL="0" indent="0" algn="just">
              <a:buNone/>
            </a:pPr>
            <a:r>
              <a:rPr lang="en-US" sz="3200" dirty="0"/>
              <a:t>}</a:t>
            </a:r>
          </a:p>
          <a:p>
            <a:pPr marL="0" indent="0" algn="just">
              <a:buNone/>
            </a:pPr>
            <a:r>
              <a:rPr lang="en-US" sz="3200" b="1" dirty="0"/>
              <a:t>Box </a:t>
            </a:r>
            <a:r>
              <a:rPr lang="en-US" sz="3200" b="1" dirty="0" err="1"/>
              <a:t>mybox</a:t>
            </a:r>
            <a:r>
              <a:rPr lang="en-US" sz="3200" b="1" dirty="0"/>
              <a:t>;</a:t>
            </a:r>
          </a:p>
          <a:p>
            <a:pPr algn="just"/>
            <a:r>
              <a:rPr lang="en-US" sz="3200" dirty="0"/>
              <a:t>• This line declares </a:t>
            </a:r>
            <a:r>
              <a:rPr lang="en-US" sz="3200" dirty="0" err="1"/>
              <a:t>mybox</a:t>
            </a:r>
            <a:r>
              <a:rPr lang="en-US" sz="3200" dirty="0"/>
              <a:t> as a reference to an object of type Box.  Here </a:t>
            </a:r>
            <a:r>
              <a:rPr lang="en-US" sz="3200" dirty="0" err="1"/>
              <a:t>mybox</a:t>
            </a:r>
            <a:r>
              <a:rPr lang="en-US" sz="3200" dirty="0"/>
              <a:t> contains the value null, which indicates that it does not yet point to an actual object</a:t>
            </a:r>
          </a:p>
          <a:p>
            <a:pPr algn="just"/>
            <a:r>
              <a:rPr lang="en-US" sz="3200" b="1" dirty="0" err="1"/>
              <a:t>mybox</a:t>
            </a:r>
            <a:r>
              <a:rPr lang="en-US" sz="3200" b="1" dirty="0"/>
              <a:t> = new Box();</a:t>
            </a:r>
          </a:p>
          <a:p>
            <a:pPr algn="just"/>
            <a:r>
              <a:rPr lang="en-US" sz="3200" dirty="0"/>
              <a:t>• This line allocates an actual object and assigns a reference to it to </a:t>
            </a:r>
            <a:r>
              <a:rPr lang="en-US" sz="3200" dirty="0" err="1"/>
              <a:t>mybox</a:t>
            </a:r>
            <a:r>
              <a:rPr lang="en-US" sz="3200" dirty="0"/>
              <a:t>.  </a:t>
            </a:r>
            <a:r>
              <a:rPr lang="en-US" sz="3200" dirty="0" err="1"/>
              <a:t>mybox</a:t>
            </a:r>
            <a:r>
              <a:rPr lang="en-US" sz="3200" dirty="0"/>
              <a:t> holds the memory address of the actual Box object.</a:t>
            </a:r>
          </a:p>
          <a:p>
            <a:pPr marL="0" indent="0" algn="just">
              <a:buNone/>
            </a:pPr>
            <a:endParaRPr lang="en-US" sz="3200" dirty="0"/>
          </a:p>
        </p:txBody>
      </p:sp>
    </p:spTree>
    <p:extLst>
      <p:ext uri="{BB962C8B-B14F-4D97-AF65-F5344CB8AC3E}">
        <p14:creationId xmlns:p14="http://schemas.microsoft.com/office/powerpoint/2010/main" val="1333342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10</a:t>
            </a:fld>
            <a:endParaRPr lang="en-US"/>
          </a:p>
        </p:txBody>
      </p:sp>
      <p:sp>
        <p:nvSpPr>
          <p:cNvPr id="7" name="TextBox 6">
            <a:extLst>
              <a:ext uri="{FF2B5EF4-FFF2-40B4-BE49-F238E27FC236}">
                <a16:creationId xmlns:a16="http://schemas.microsoft.com/office/drawing/2014/main" id="{F0EDED65-9560-13E3-3AFD-D8B8F3B6CB6F}"/>
              </a:ext>
            </a:extLst>
          </p:cNvPr>
          <p:cNvSpPr txBox="1"/>
          <p:nvPr/>
        </p:nvSpPr>
        <p:spPr>
          <a:xfrm>
            <a:off x="412750" y="392936"/>
            <a:ext cx="8623300" cy="6986528"/>
          </a:xfrm>
          <a:prstGeom prst="rect">
            <a:avLst/>
          </a:prstGeom>
          <a:noFill/>
          <a:ln>
            <a:solidFill>
              <a:schemeClr val="tx1"/>
            </a:solidFill>
          </a:ln>
        </p:spPr>
        <p:txBody>
          <a:bodyPr wrap="square" rtlCol="0">
            <a:spAutoFit/>
          </a:bodyPr>
          <a:lstStyle/>
          <a:p>
            <a:pPr marL="0" indent="0" algn="just">
              <a:buNone/>
            </a:pPr>
            <a:r>
              <a:rPr lang="en-US" sz="3200" dirty="0"/>
              <a:t>class Box{</a:t>
            </a:r>
          </a:p>
          <a:p>
            <a:pPr marL="0" indent="0" algn="just">
              <a:buNone/>
            </a:pPr>
            <a:r>
              <a:rPr lang="en-US" sz="3200" dirty="0"/>
              <a:t>double length;</a:t>
            </a:r>
          </a:p>
          <a:p>
            <a:pPr marL="0" indent="0" algn="just">
              <a:buNone/>
            </a:pPr>
            <a:r>
              <a:rPr lang="en-US" sz="3200" dirty="0"/>
              <a:t>double width;</a:t>
            </a:r>
          </a:p>
          <a:p>
            <a:pPr marL="0" indent="0" algn="just">
              <a:buNone/>
            </a:pPr>
            <a:r>
              <a:rPr lang="en-US" sz="3200" dirty="0"/>
              <a:t>double height;</a:t>
            </a:r>
          </a:p>
          <a:p>
            <a:pPr marL="0" indent="0" algn="just">
              <a:buNone/>
            </a:pPr>
            <a:r>
              <a:rPr lang="en-US" sz="3200" dirty="0"/>
              <a:t>}</a:t>
            </a:r>
          </a:p>
          <a:p>
            <a:pPr marL="0" indent="0" algn="just">
              <a:buNone/>
            </a:pPr>
            <a:r>
              <a:rPr lang="en-US" sz="3200" b="1" dirty="0"/>
              <a:t>Box </a:t>
            </a:r>
            <a:r>
              <a:rPr lang="en-US" sz="3200" b="1" dirty="0" err="1"/>
              <a:t>mybox</a:t>
            </a:r>
            <a:r>
              <a:rPr lang="en-US" sz="3200" b="1" dirty="0"/>
              <a:t>;</a:t>
            </a:r>
          </a:p>
          <a:p>
            <a:pPr algn="just"/>
            <a:r>
              <a:rPr lang="en-US" sz="3200" dirty="0"/>
              <a:t>			</a:t>
            </a:r>
          </a:p>
          <a:p>
            <a:pPr algn="just"/>
            <a:r>
              <a:rPr lang="en-US" sz="3200" b="1" dirty="0" err="1"/>
              <a:t>mybox</a:t>
            </a:r>
            <a:r>
              <a:rPr lang="en-US" sz="3200" b="1" dirty="0"/>
              <a:t> = new Box();</a:t>
            </a:r>
          </a:p>
          <a:p>
            <a:pPr algn="just"/>
            <a:endParaRPr lang="en-US" sz="3200" dirty="0"/>
          </a:p>
          <a:p>
            <a:pPr algn="just"/>
            <a:endParaRPr lang="en-US" sz="3200" dirty="0"/>
          </a:p>
          <a:p>
            <a:pPr algn="just"/>
            <a:endParaRPr lang="en-US" sz="3200" dirty="0"/>
          </a:p>
          <a:p>
            <a:pPr algn="just"/>
            <a:endParaRPr lang="en-US" sz="3200" dirty="0"/>
          </a:p>
          <a:p>
            <a:pPr algn="just"/>
            <a:endParaRPr lang="en-US" sz="3200" dirty="0"/>
          </a:p>
          <a:p>
            <a:pPr algn="just"/>
            <a:endParaRPr lang="en-US" sz="3200" dirty="0"/>
          </a:p>
        </p:txBody>
      </p:sp>
      <p:sp>
        <p:nvSpPr>
          <p:cNvPr id="3" name="TextBox 2">
            <a:extLst>
              <a:ext uri="{FF2B5EF4-FFF2-40B4-BE49-F238E27FC236}">
                <a16:creationId xmlns:a16="http://schemas.microsoft.com/office/drawing/2014/main" id="{7CA38CEC-42FE-373F-3002-3810B017459E}"/>
              </a:ext>
            </a:extLst>
          </p:cNvPr>
          <p:cNvSpPr txBox="1"/>
          <p:nvPr/>
        </p:nvSpPr>
        <p:spPr>
          <a:xfrm>
            <a:off x="4572000" y="2524780"/>
            <a:ext cx="1066800" cy="523220"/>
          </a:xfrm>
          <a:prstGeom prst="rect">
            <a:avLst/>
          </a:prstGeom>
          <a:noFill/>
          <a:ln>
            <a:solidFill>
              <a:schemeClr val="tx1"/>
            </a:solidFill>
          </a:ln>
        </p:spPr>
        <p:txBody>
          <a:bodyPr wrap="square" rtlCol="0">
            <a:spAutoFit/>
          </a:bodyPr>
          <a:lstStyle/>
          <a:p>
            <a:r>
              <a:rPr lang="en-US" sz="2800" b="1" dirty="0"/>
              <a:t>null</a:t>
            </a:r>
          </a:p>
        </p:txBody>
      </p:sp>
      <p:sp>
        <p:nvSpPr>
          <p:cNvPr id="5" name="TextBox 4">
            <a:extLst>
              <a:ext uri="{FF2B5EF4-FFF2-40B4-BE49-F238E27FC236}">
                <a16:creationId xmlns:a16="http://schemas.microsoft.com/office/drawing/2014/main" id="{1A7546CC-4F7A-4D34-BF1E-FD6417B53934}"/>
              </a:ext>
            </a:extLst>
          </p:cNvPr>
          <p:cNvSpPr txBox="1"/>
          <p:nvPr/>
        </p:nvSpPr>
        <p:spPr>
          <a:xfrm>
            <a:off x="4724400" y="3743980"/>
            <a:ext cx="1066800" cy="523220"/>
          </a:xfrm>
          <a:prstGeom prst="rect">
            <a:avLst/>
          </a:prstGeom>
          <a:noFill/>
          <a:ln>
            <a:solidFill>
              <a:schemeClr val="tx1"/>
            </a:solidFill>
          </a:ln>
        </p:spPr>
        <p:txBody>
          <a:bodyPr wrap="square" rtlCol="0">
            <a:spAutoFit/>
          </a:bodyPr>
          <a:lstStyle/>
          <a:p>
            <a:endParaRPr lang="en-US" sz="2800" b="1" dirty="0"/>
          </a:p>
        </p:txBody>
      </p:sp>
      <p:cxnSp>
        <p:nvCxnSpPr>
          <p:cNvPr id="8" name="Straight Arrow Connector 7">
            <a:extLst>
              <a:ext uri="{FF2B5EF4-FFF2-40B4-BE49-F238E27FC236}">
                <a16:creationId xmlns:a16="http://schemas.microsoft.com/office/drawing/2014/main" id="{FE7E0856-953F-0A9F-24E5-07D5D3132492}"/>
              </a:ext>
            </a:extLst>
          </p:cNvPr>
          <p:cNvCxnSpPr>
            <a:cxnSpLocks/>
          </p:cNvCxnSpPr>
          <p:nvPr/>
        </p:nvCxnSpPr>
        <p:spPr>
          <a:xfrm>
            <a:off x="5105400" y="4038600"/>
            <a:ext cx="1524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92D9A7E-BF4B-764F-0A9F-A3020F2B8D1E}"/>
              </a:ext>
            </a:extLst>
          </p:cNvPr>
          <p:cNvSpPr txBox="1"/>
          <p:nvPr/>
        </p:nvSpPr>
        <p:spPr>
          <a:xfrm>
            <a:off x="7010400" y="3276600"/>
            <a:ext cx="1524000" cy="2209800"/>
          </a:xfrm>
          <a:prstGeom prst="rect">
            <a:avLst/>
          </a:prstGeom>
          <a:noFill/>
          <a:ln>
            <a:solidFill>
              <a:schemeClr val="tx1"/>
            </a:solidFill>
          </a:ln>
        </p:spPr>
        <p:txBody>
          <a:bodyPr wrap="square" rtlCol="0">
            <a:spAutoFit/>
          </a:bodyPr>
          <a:lstStyle/>
          <a:p>
            <a:endParaRPr lang="en-US" dirty="0"/>
          </a:p>
        </p:txBody>
      </p:sp>
      <p:cxnSp>
        <p:nvCxnSpPr>
          <p:cNvPr id="11" name="Straight Connector 10">
            <a:extLst>
              <a:ext uri="{FF2B5EF4-FFF2-40B4-BE49-F238E27FC236}">
                <a16:creationId xmlns:a16="http://schemas.microsoft.com/office/drawing/2014/main" id="{65DCBB16-3339-56BD-0BCC-6DE6095EC2FE}"/>
              </a:ext>
            </a:extLst>
          </p:cNvPr>
          <p:cNvCxnSpPr/>
          <p:nvPr/>
        </p:nvCxnSpPr>
        <p:spPr>
          <a:xfrm>
            <a:off x="7010400" y="3886200"/>
            <a:ext cx="152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4265E43-059E-7562-74C5-CCB724EA1809}"/>
              </a:ext>
            </a:extLst>
          </p:cNvPr>
          <p:cNvCxnSpPr/>
          <p:nvPr/>
        </p:nvCxnSpPr>
        <p:spPr>
          <a:xfrm>
            <a:off x="7010400" y="4572000"/>
            <a:ext cx="152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D3B2EAB-2B23-3B1F-4A4B-688C66DDA76D}"/>
              </a:ext>
            </a:extLst>
          </p:cNvPr>
          <p:cNvSpPr txBox="1"/>
          <p:nvPr/>
        </p:nvSpPr>
        <p:spPr>
          <a:xfrm>
            <a:off x="7010400" y="3352800"/>
            <a:ext cx="1524000" cy="369332"/>
          </a:xfrm>
          <a:prstGeom prst="rect">
            <a:avLst/>
          </a:prstGeom>
          <a:noFill/>
        </p:spPr>
        <p:txBody>
          <a:bodyPr wrap="square" rtlCol="0">
            <a:spAutoFit/>
          </a:bodyPr>
          <a:lstStyle/>
          <a:p>
            <a:pPr algn="ctr"/>
            <a:r>
              <a:rPr lang="en-US" dirty="0"/>
              <a:t>length</a:t>
            </a:r>
          </a:p>
        </p:txBody>
      </p:sp>
      <p:sp>
        <p:nvSpPr>
          <p:cNvPr id="16" name="TextBox 15">
            <a:extLst>
              <a:ext uri="{FF2B5EF4-FFF2-40B4-BE49-F238E27FC236}">
                <a16:creationId xmlns:a16="http://schemas.microsoft.com/office/drawing/2014/main" id="{CCF33A9F-D590-A159-63AC-5F3BC744E78E}"/>
              </a:ext>
            </a:extLst>
          </p:cNvPr>
          <p:cNvSpPr txBox="1"/>
          <p:nvPr/>
        </p:nvSpPr>
        <p:spPr>
          <a:xfrm>
            <a:off x="7010400" y="4038600"/>
            <a:ext cx="1524000" cy="369332"/>
          </a:xfrm>
          <a:prstGeom prst="rect">
            <a:avLst/>
          </a:prstGeom>
          <a:noFill/>
        </p:spPr>
        <p:txBody>
          <a:bodyPr wrap="square" rtlCol="0">
            <a:spAutoFit/>
          </a:bodyPr>
          <a:lstStyle/>
          <a:p>
            <a:pPr algn="ctr"/>
            <a:r>
              <a:rPr lang="en-US" dirty="0"/>
              <a:t>width</a:t>
            </a:r>
          </a:p>
        </p:txBody>
      </p:sp>
      <p:sp>
        <p:nvSpPr>
          <p:cNvPr id="17" name="TextBox 16">
            <a:extLst>
              <a:ext uri="{FF2B5EF4-FFF2-40B4-BE49-F238E27FC236}">
                <a16:creationId xmlns:a16="http://schemas.microsoft.com/office/drawing/2014/main" id="{6EB5E6EE-4EF8-11C8-4591-BFDDCB1D62DF}"/>
              </a:ext>
            </a:extLst>
          </p:cNvPr>
          <p:cNvSpPr txBox="1"/>
          <p:nvPr/>
        </p:nvSpPr>
        <p:spPr>
          <a:xfrm>
            <a:off x="7010400" y="4964668"/>
            <a:ext cx="1524000" cy="369332"/>
          </a:xfrm>
          <a:prstGeom prst="rect">
            <a:avLst/>
          </a:prstGeom>
          <a:noFill/>
        </p:spPr>
        <p:txBody>
          <a:bodyPr wrap="square" rtlCol="0">
            <a:spAutoFit/>
          </a:bodyPr>
          <a:lstStyle/>
          <a:p>
            <a:pPr algn="ctr"/>
            <a:r>
              <a:rPr lang="en-US" dirty="0"/>
              <a:t>height</a:t>
            </a:r>
          </a:p>
        </p:txBody>
      </p:sp>
      <p:sp>
        <p:nvSpPr>
          <p:cNvPr id="18" name="TextBox 17">
            <a:extLst>
              <a:ext uri="{FF2B5EF4-FFF2-40B4-BE49-F238E27FC236}">
                <a16:creationId xmlns:a16="http://schemas.microsoft.com/office/drawing/2014/main" id="{499954AA-FC33-6666-8C69-6061FE7E0C6C}"/>
              </a:ext>
            </a:extLst>
          </p:cNvPr>
          <p:cNvSpPr txBox="1"/>
          <p:nvPr/>
        </p:nvSpPr>
        <p:spPr>
          <a:xfrm>
            <a:off x="7086600" y="5638800"/>
            <a:ext cx="1524000" cy="369332"/>
          </a:xfrm>
          <a:prstGeom prst="rect">
            <a:avLst/>
          </a:prstGeom>
          <a:noFill/>
        </p:spPr>
        <p:txBody>
          <a:bodyPr wrap="square" rtlCol="0">
            <a:spAutoFit/>
          </a:bodyPr>
          <a:lstStyle/>
          <a:p>
            <a:pPr algn="ctr"/>
            <a:r>
              <a:rPr lang="en-US" dirty="0"/>
              <a:t>Box object</a:t>
            </a:r>
          </a:p>
        </p:txBody>
      </p:sp>
      <p:sp>
        <p:nvSpPr>
          <p:cNvPr id="19" name="TextBox 18">
            <a:extLst>
              <a:ext uri="{FF2B5EF4-FFF2-40B4-BE49-F238E27FC236}">
                <a16:creationId xmlns:a16="http://schemas.microsoft.com/office/drawing/2014/main" id="{2729A72A-5911-9F9E-C458-C9379595567A}"/>
              </a:ext>
            </a:extLst>
          </p:cNvPr>
          <p:cNvSpPr txBox="1"/>
          <p:nvPr/>
        </p:nvSpPr>
        <p:spPr>
          <a:xfrm>
            <a:off x="4343400" y="2983468"/>
            <a:ext cx="1524000" cy="369332"/>
          </a:xfrm>
          <a:prstGeom prst="rect">
            <a:avLst/>
          </a:prstGeom>
          <a:noFill/>
        </p:spPr>
        <p:txBody>
          <a:bodyPr wrap="square" rtlCol="0">
            <a:spAutoFit/>
          </a:bodyPr>
          <a:lstStyle/>
          <a:p>
            <a:pPr algn="ctr"/>
            <a:r>
              <a:rPr lang="en-US" dirty="0" err="1"/>
              <a:t>mybox</a:t>
            </a:r>
            <a:endParaRPr lang="en-US" dirty="0"/>
          </a:p>
        </p:txBody>
      </p:sp>
      <p:sp>
        <p:nvSpPr>
          <p:cNvPr id="20" name="TextBox 19">
            <a:extLst>
              <a:ext uri="{FF2B5EF4-FFF2-40B4-BE49-F238E27FC236}">
                <a16:creationId xmlns:a16="http://schemas.microsoft.com/office/drawing/2014/main" id="{2A026225-B4E6-9E1E-893A-0FDB73DA5040}"/>
              </a:ext>
            </a:extLst>
          </p:cNvPr>
          <p:cNvSpPr txBox="1"/>
          <p:nvPr/>
        </p:nvSpPr>
        <p:spPr>
          <a:xfrm>
            <a:off x="4495800" y="4202668"/>
            <a:ext cx="1524000" cy="369332"/>
          </a:xfrm>
          <a:prstGeom prst="rect">
            <a:avLst/>
          </a:prstGeom>
          <a:noFill/>
        </p:spPr>
        <p:txBody>
          <a:bodyPr wrap="square" rtlCol="0">
            <a:spAutoFit/>
          </a:bodyPr>
          <a:lstStyle/>
          <a:p>
            <a:pPr algn="ctr"/>
            <a:r>
              <a:rPr lang="en-US" dirty="0" err="1"/>
              <a:t>mybox</a:t>
            </a:r>
            <a:endParaRPr lang="en-US" dirty="0"/>
          </a:p>
        </p:txBody>
      </p:sp>
    </p:spTree>
    <p:extLst>
      <p:ext uri="{BB962C8B-B14F-4D97-AF65-F5344CB8AC3E}">
        <p14:creationId xmlns:p14="http://schemas.microsoft.com/office/powerpoint/2010/main" val="337685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A408C-8979-8F12-9996-518854BCEF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BED1D4-92ED-BDCA-8330-EC2941837938}"/>
              </a:ext>
            </a:extLst>
          </p:cNvPr>
          <p:cNvSpPr>
            <a:spLocks noGrp="1"/>
          </p:cNvSpPr>
          <p:nvPr>
            <p:ph sz="quarter" idx="1"/>
          </p:nvPr>
        </p:nvSpPr>
        <p:spPr>
          <a:xfrm>
            <a:off x="914400" y="1447800"/>
            <a:ext cx="8077200" cy="4572000"/>
          </a:xfrm>
        </p:spPr>
        <p:txBody>
          <a:bodyPr/>
          <a:lstStyle/>
          <a:p>
            <a:pPr algn="just">
              <a:buFont typeface="Arial" panose="020B0604020202020204" pitchFamily="34" charset="0"/>
              <a:buChar char="•"/>
            </a:pPr>
            <a:r>
              <a:rPr lang="en-US" sz="3200" dirty="0"/>
              <a:t> The class name followed by parentheses specifies the constructor for the class.</a:t>
            </a:r>
          </a:p>
          <a:p>
            <a:pPr algn="just">
              <a:buFont typeface="Arial" panose="020B0604020202020204" pitchFamily="34" charset="0"/>
              <a:buChar char="•"/>
            </a:pPr>
            <a:r>
              <a:rPr lang="en-US" sz="3200" dirty="0"/>
              <a:t>Box </a:t>
            </a:r>
            <a:r>
              <a:rPr lang="en-US" sz="3200" dirty="0" err="1"/>
              <a:t>mybox</a:t>
            </a:r>
            <a:r>
              <a:rPr lang="en-US" sz="3200" dirty="0"/>
              <a:t> = new Box();</a:t>
            </a:r>
          </a:p>
          <a:p>
            <a:pPr algn="just">
              <a:buFont typeface="Arial" panose="020B0604020202020204" pitchFamily="34" charset="0"/>
              <a:buChar char="•"/>
            </a:pPr>
            <a:r>
              <a:rPr lang="en-US" sz="3200" dirty="0"/>
              <a:t> Here Box is the class. Box()is the constructor.</a:t>
            </a:r>
          </a:p>
          <a:p>
            <a:pPr algn="just">
              <a:buFont typeface="Arial" panose="020B0604020202020204" pitchFamily="34" charset="0"/>
              <a:buChar char="•"/>
            </a:pPr>
            <a:r>
              <a:rPr lang="en-US" sz="3200" dirty="0"/>
              <a:t> A constructor defines what occurs when an object of a class is created.</a:t>
            </a:r>
          </a:p>
        </p:txBody>
      </p:sp>
      <p:sp>
        <p:nvSpPr>
          <p:cNvPr id="4" name="Slide Number Placeholder 3">
            <a:extLst>
              <a:ext uri="{FF2B5EF4-FFF2-40B4-BE49-F238E27FC236}">
                <a16:creationId xmlns:a16="http://schemas.microsoft.com/office/drawing/2014/main" id="{7A9A08FE-0A7D-F927-AEC1-048D0D63D839}"/>
              </a:ext>
            </a:extLst>
          </p:cNvPr>
          <p:cNvSpPr>
            <a:spLocks noGrp="1"/>
          </p:cNvSpPr>
          <p:nvPr>
            <p:ph type="sldNum" sz="quarter" idx="12"/>
          </p:nvPr>
        </p:nvSpPr>
        <p:spPr/>
        <p:txBody>
          <a:bodyPr/>
          <a:lstStyle/>
          <a:p>
            <a:pPr>
              <a:defRPr/>
            </a:pPr>
            <a:fld id="{7F50D522-CBA4-4108-90DA-9951FACF1C08}" type="slidenum">
              <a:rPr lang="en-US" smtClean="0"/>
              <a:pPr>
                <a:defRPr/>
              </a:pPr>
              <a:t>11</a:t>
            </a:fld>
            <a:endParaRPr lang="en-US"/>
          </a:p>
        </p:txBody>
      </p:sp>
    </p:spTree>
    <p:extLst>
      <p:ext uri="{BB962C8B-B14F-4D97-AF65-F5344CB8AC3E}">
        <p14:creationId xmlns:p14="http://schemas.microsoft.com/office/powerpoint/2010/main" val="2511546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146050" y="76200"/>
            <a:ext cx="8845550" cy="6362700"/>
          </a:xfrm>
        </p:spPr>
        <p:txBody>
          <a:bodyPr/>
          <a:lstStyle/>
          <a:p>
            <a:pPr marL="0" indent="0" algn="just">
              <a:buNone/>
            </a:pPr>
            <a:r>
              <a:rPr lang="en-US" sz="2800" b="1" dirty="0"/>
              <a:t>Assigning Object Reference Variables</a:t>
            </a:r>
          </a:p>
          <a:p>
            <a:pPr marL="0" indent="0" algn="just">
              <a:buNone/>
            </a:pPr>
            <a:r>
              <a:rPr lang="en-US" sz="2800" dirty="0"/>
              <a:t>• Object reference variables act differently when an assignment takes place</a:t>
            </a:r>
          </a:p>
          <a:p>
            <a:pPr marL="0" indent="0" algn="just">
              <a:buNone/>
            </a:pPr>
            <a:r>
              <a:rPr lang="en-US" sz="2800" dirty="0"/>
              <a:t>• E.g.</a:t>
            </a:r>
          </a:p>
          <a:p>
            <a:pPr marL="0" indent="0" algn="just">
              <a:buNone/>
            </a:pPr>
            <a:r>
              <a:rPr lang="en-US" sz="2800" dirty="0"/>
              <a:t>Box b1 = new Box();</a:t>
            </a:r>
          </a:p>
          <a:p>
            <a:pPr marL="0" indent="0" algn="just">
              <a:buNone/>
            </a:pPr>
            <a:r>
              <a:rPr lang="en-US" sz="2800" dirty="0"/>
              <a:t>Box b2 = b1;</a:t>
            </a:r>
          </a:p>
          <a:p>
            <a:pPr marL="0" indent="0" algn="just">
              <a:buNone/>
            </a:pPr>
            <a:r>
              <a:rPr lang="en-US" sz="2800" dirty="0"/>
              <a:t>• Here bl and b2 will both refer to the same object.</a:t>
            </a:r>
          </a:p>
          <a:p>
            <a:pPr marL="0" indent="0" algn="just">
              <a:buNone/>
            </a:pPr>
            <a:r>
              <a:rPr lang="en-US" sz="2800" dirty="0"/>
              <a:t>• Any changes made to the object through b2 will affect the object which is referred by b1 , because they are the same object.</a:t>
            </a:r>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12</a:t>
            </a:fld>
            <a:endParaRPr lang="en-US"/>
          </a:p>
        </p:txBody>
      </p:sp>
      <p:pic>
        <p:nvPicPr>
          <p:cNvPr id="5" name="Picture 4">
            <a:extLst>
              <a:ext uri="{FF2B5EF4-FFF2-40B4-BE49-F238E27FC236}">
                <a16:creationId xmlns:a16="http://schemas.microsoft.com/office/drawing/2014/main" id="{C5DE8B85-E51B-719B-1FFA-5539F72D768F}"/>
              </a:ext>
            </a:extLst>
          </p:cNvPr>
          <p:cNvPicPr>
            <a:picLocks noChangeAspect="1"/>
          </p:cNvPicPr>
          <p:nvPr/>
        </p:nvPicPr>
        <p:blipFill>
          <a:blip r:embed="rId2"/>
          <a:stretch>
            <a:fillRect/>
          </a:stretch>
        </p:blipFill>
        <p:spPr>
          <a:xfrm>
            <a:off x="3886201" y="4385691"/>
            <a:ext cx="4911344" cy="2167509"/>
          </a:xfrm>
          <a:prstGeom prst="rect">
            <a:avLst/>
          </a:prstGeom>
        </p:spPr>
      </p:pic>
    </p:spTree>
    <p:extLst>
      <p:ext uri="{BB962C8B-B14F-4D97-AF65-F5344CB8AC3E}">
        <p14:creationId xmlns:p14="http://schemas.microsoft.com/office/powerpoint/2010/main" val="998017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D5FBC7-8088-ACFB-912C-B9B63EFB94BF}"/>
              </a:ext>
            </a:extLst>
          </p:cNvPr>
          <p:cNvSpPr>
            <a:spLocks noGrp="1"/>
          </p:cNvSpPr>
          <p:nvPr>
            <p:ph sz="quarter" idx="1"/>
          </p:nvPr>
        </p:nvSpPr>
        <p:spPr/>
        <p:txBody>
          <a:bodyPr/>
          <a:lstStyle/>
          <a:p>
            <a:endParaRPr lang="en-US"/>
          </a:p>
        </p:txBody>
      </p:sp>
      <p:sp>
        <p:nvSpPr>
          <p:cNvPr id="4" name="Slide Number Placeholder 3">
            <a:extLst>
              <a:ext uri="{FF2B5EF4-FFF2-40B4-BE49-F238E27FC236}">
                <a16:creationId xmlns:a16="http://schemas.microsoft.com/office/drawing/2014/main" id="{7038B648-1DA1-E881-3455-C1E3355847A5}"/>
              </a:ext>
            </a:extLst>
          </p:cNvPr>
          <p:cNvSpPr>
            <a:spLocks noGrp="1"/>
          </p:cNvSpPr>
          <p:nvPr>
            <p:ph type="sldNum" sz="quarter" idx="12"/>
          </p:nvPr>
        </p:nvSpPr>
        <p:spPr/>
        <p:txBody>
          <a:bodyPr/>
          <a:lstStyle/>
          <a:p>
            <a:pPr>
              <a:defRPr/>
            </a:pPr>
            <a:fld id="{7F50D522-CBA4-4108-90DA-9951FACF1C08}" type="slidenum">
              <a:rPr lang="en-US" smtClean="0"/>
              <a:pPr>
                <a:defRPr/>
              </a:pPr>
              <a:t>13</a:t>
            </a:fld>
            <a:endParaRPr lang="en-US"/>
          </a:p>
        </p:txBody>
      </p:sp>
      <p:pic>
        <p:nvPicPr>
          <p:cNvPr id="6" name="Picture 5">
            <a:extLst>
              <a:ext uri="{FF2B5EF4-FFF2-40B4-BE49-F238E27FC236}">
                <a16:creationId xmlns:a16="http://schemas.microsoft.com/office/drawing/2014/main" id="{3C43C639-DCEE-1BD2-7108-8835C891CD78}"/>
              </a:ext>
            </a:extLst>
          </p:cNvPr>
          <p:cNvPicPr>
            <a:picLocks noChangeAspect="1"/>
          </p:cNvPicPr>
          <p:nvPr/>
        </p:nvPicPr>
        <p:blipFill>
          <a:blip r:embed="rId2"/>
          <a:stretch>
            <a:fillRect/>
          </a:stretch>
        </p:blipFill>
        <p:spPr>
          <a:xfrm>
            <a:off x="143730" y="558062"/>
            <a:ext cx="8924070" cy="5047401"/>
          </a:xfrm>
          <a:prstGeom prst="rect">
            <a:avLst/>
          </a:prstGeom>
        </p:spPr>
      </p:pic>
    </p:spTree>
    <p:extLst>
      <p:ext uri="{BB962C8B-B14F-4D97-AF65-F5344CB8AC3E}">
        <p14:creationId xmlns:p14="http://schemas.microsoft.com/office/powerpoint/2010/main" val="2343584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3CD16FAB-930F-53CA-7A05-83FBC222DB43}"/>
              </a:ext>
            </a:extLst>
          </p:cNvPr>
          <p:cNvPicPr>
            <a:picLocks noGrp="1" noChangeAspect="1"/>
          </p:cNvPicPr>
          <p:nvPr>
            <p:ph sz="quarter" idx="1"/>
          </p:nvPr>
        </p:nvPicPr>
        <p:blipFill>
          <a:blip r:embed="rId2"/>
          <a:stretch>
            <a:fillRect/>
          </a:stretch>
        </p:blipFill>
        <p:spPr>
          <a:xfrm>
            <a:off x="119244" y="381000"/>
            <a:ext cx="8872356" cy="5562599"/>
          </a:xfrm>
        </p:spPr>
      </p:pic>
      <p:sp>
        <p:nvSpPr>
          <p:cNvPr id="4" name="Slide Number Placeholder 3">
            <a:extLst>
              <a:ext uri="{FF2B5EF4-FFF2-40B4-BE49-F238E27FC236}">
                <a16:creationId xmlns:a16="http://schemas.microsoft.com/office/drawing/2014/main" id="{2B71F94D-540C-8601-A3D9-A9ABF3E9A016}"/>
              </a:ext>
            </a:extLst>
          </p:cNvPr>
          <p:cNvSpPr>
            <a:spLocks noGrp="1"/>
          </p:cNvSpPr>
          <p:nvPr>
            <p:ph type="sldNum" sz="quarter" idx="12"/>
          </p:nvPr>
        </p:nvSpPr>
        <p:spPr/>
        <p:txBody>
          <a:bodyPr/>
          <a:lstStyle/>
          <a:p>
            <a:pPr>
              <a:defRPr/>
            </a:pPr>
            <a:fld id="{7F50D522-CBA4-4108-90DA-9951FACF1C08}" type="slidenum">
              <a:rPr lang="en-US" smtClean="0"/>
              <a:pPr>
                <a:defRPr/>
              </a:pPr>
              <a:t>14</a:t>
            </a:fld>
            <a:endParaRPr lang="en-US"/>
          </a:p>
        </p:txBody>
      </p:sp>
    </p:spTree>
    <p:extLst>
      <p:ext uri="{BB962C8B-B14F-4D97-AF65-F5344CB8AC3E}">
        <p14:creationId xmlns:p14="http://schemas.microsoft.com/office/powerpoint/2010/main" val="2016851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B70DDD-C3DA-938F-1457-1A2870B1E0B9}"/>
              </a:ext>
            </a:extLst>
          </p:cNvPr>
          <p:cNvSpPr>
            <a:spLocks noGrp="1"/>
          </p:cNvSpPr>
          <p:nvPr>
            <p:ph sz="quarter" idx="1"/>
          </p:nvPr>
        </p:nvSpPr>
        <p:spPr>
          <a:xfrm>
            <a:off x="374650" y="163068"/>
            <a:ext cx="8540750" cy="5791200"/>
          </a:xfrm>
        </p:spPr>
        <p:txBody>
          <a:bodyPr/>
          <a:lstStyle/>
          <a:p>
            <a:pPr marL="0" indent="0">
              <a:buNone/>
            </a:pPr>
            <a:r>
              <a:rPr lang="en-US" sz="4000" dirty="0"/>
              <a:t>Introducing Methods</a:t>
            </a:r>
            <a:br>
              <a:rPr lang="en-US" sz="4000" dirty="0"/>
            </a:br>
            <a:r>
              <a:rPr lang="en-US" sz="2800" dirty="0"/>
              <a:t>The general form of a method:</a:t>
            </a:r>
          </a:p>
          <a:p>
            <a:pPr marL="0" indent="0">
              <a:buNone/>
            </a:pPr>
            <a:r>
              <a:rPr lang="en-US" sz="2800" dirty="0"/>
              <a:t>            type name(parameter-list)</a:t>
            </a:r>
          </a:p>
          <a:p>
            <a:pPr marL="0" indent="0">
              <a:buNone/>
            </a:pPr>
            <a:r>
              <a:rPr lang="en-US" sz="2800" dirty="0"/>
              <a:t>	{</a:t>
            </a:r>
          </a:p>
          <a:p>
            <a:pPr marL="0" indent="0">
              <a:buNone/>
            </a:pPr>
            <a:r>
              <a:rPr lang="en-US" sz="2800" dirty="0"/>
              <a:t>	   //body of method</a:t>
            </a:r>
          </a:p>
          <a:p>
            <a:pPr marL="0" indent="0">
              <a:buNone/>
            </a:pPr>
            <a:r>
              <a:rPr lang="en-US" sz="2800" dirty="0"/>
              <a:t>	}</a:t>
            </a:r>
          </a:p>
          <a:p>
            <a:r>
              <a:rPr lang="en-US" sz="2800" dirty="0"/>
              <a:t>Methods that have a return type other than void return a value to the calling routine</a:t>
            </a:r>
          </a:p>
          <a:p>
            <a:r>
              <a:rPr lang="en-US" sz="2800" dirty="0"/>
              <a:t>Syntax :</a:t>
            </a:r>
          </a:p>
          <a:p>
            <a:pPr marL="0" indent="0">
              <a:buNone/>
            </a:pPr>
            <a:r>
              <a:rPr lang="en-US" sz="2800" dirty="0"/>
              <a:t>    return value;</a:t>
            </a:r>
          </a:p>
          <a:p>
            <a:r>
              <a:rPr lang="en-US" sz="2800" dirty="0"/>
              <a:t>The type specifies the type of data returned by the method.</a:t>
            </a:r>
          </a:p>
          <a:p>
            <a:r>
              <a:rPr lang="en-US" sz="2800" dirty="0"/>
              <a:t> The parameter-list or argument list is a sequence of type and identifier pairs separated by commas.</a:t>
            </a:r>
          </a:p>
          <a:p>
            <a:endParaRPr lang="en-US" sz="2800" dirty="0"/>
          </a:p>
        </p:txBody>
      </p:sp>
      <p:sp>
        <p:nvSpPr>
          <p:cNvPr id="4" name="Slide Number Placeholder 3">
            <a:extLst>
              <a:ext uri="{FF2B5EF4-FFF2-40B4-BE49-F238E27FC236}">
                <a16:creationId xmlns:a16="http://schemas.microsoft.com/office/drawing/2014/main" id="{FF9413E1-9A05-0B31-8925-F0E827BE384C}"/>
              </a:ext>
            </a:extLst>
          </p:cNvPr>
          <p:cNvSpPr>
            <a:spLocks noGrp="1"/>
          </p:cNvSpPr>
          <p:nvPr>
            <p:ph type="sldNum" sz="quarter" idx="12"/>
          </p:nvPr>
        </p:nvSpPr>
        <p:spPr/>
        <p:txBody>
          <a:bodyPr/>
          <a:lstStyle/>
          <a:p>
            <a:pPr>
              <a:defRPr/>
            </a:pPr>
            <a:fld id="{7F50D522-CBA4-4108-90DA-9951FACF1C08}" type="slidenum">
              <a:rPr lang="en-US" smtClean="0"/>
              <a:pPr>
                <a:defRPr/>
              </a:pPr>
              <a:t>15</a:t>
            </a:fld>
            <a:endParaRPr lang="en-US"/>
          </a:p>
        </p:txBody>
      </p:sp>
    </p:spTree>
    <p:extLst>
      <p:ext uri="{BB962C8B-B14F-4D97-AF65-F5344CB8AC3E}">
        <p14:creationId xmlns:p14="http://schemas.microsoft.com/office/powerpoint/2010/main" val="690185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76200" y="609600"/>
            <a:ext cx="8915400" cy="5410200"/>
          </a:xfrm>
        </p:spPr>
        <p:txBody>
          <a:bodyPr/>
          <a:lstStyle/>
          <a:p>
            <a:pPr marL="0" indent="0" algn="just">
              <a:buNone/>
            </a:pPr>
            <a:r>
              <a:rPr lang="en-US" sz="2800" dirty="0"/>
              <a:t>• Create a class Box with instance variables length, width and height. Include a method volume to compute the volume of the box.</a:t>
            </a:r>
          </a:p>
          <a:p>
            <a:pPr marL="0" indent="0" algn="just">
              <a:buNone/>
            </a:pPr>
            <a:r>
              <a:rPr lang="en-US" sz="2800" dirty="0"/>
              <a:t>• Create another class </a:t>
            </a:r>
            <a:r>
              <a:rPr lang="en-US" sz="2800" dirty="0" err="1"/>
              <a:t>BoxDemo</a:t>
            </a:r>
            <a:r>
              <a:rPr lang="en-US" sz="2800" dirty="0"/>
              <a:t> with main function that creates an object of class Box named mybox1 and set the values for instance variables(length, width and height).Invoke the function volume in Box to compute the volume of the created object mybox1.</a:t>
            </a:r>
          </a:p>
          <a:p>
            <a:pPr marL="0" indent="0" algn="just">
              <a:buNone/>
            </a:pPr>
            <a:r>
              <a:rPr lang="en-US" sz="2800" dirty="0"/>
              <a:t> </a:t>
            </a:r>
          </a:p>
          <a:p>
            <a:pPr marL="0" indent="0" algn="just">
              <a:buNone/>
            </a:pPr>
            <a:endParaRPr lang="en-US" sz="2800" dirty="0"/>
          </a:p>
          <a:p>
            <a:pPr marL="0" indent="0" algn="just">
              <a:buNone/>
            </a:pPr>
            <a:endParaRPr lang="en-US" sz="2800" dirty="0"/>
          </a:p>
          <a:p>
            <a:pPr marL="0" indent="0" algn="just">
              <a:buNone/>
            </a:pPr>
            <a:endParaRPr lang="en-US" sz="2800" dirty="0"/>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16</a:t>
            </a:fld>
            <a:endParaRPr lang="en-US"/>
          </a:p>
        </p:txBody>
      </p:sp>
    </p:spTree>
    <p:extLst>
      <p:ext uri="{BB962C8B-B14F-4D97-AF65-F5344CB8AC3E}">
        <p14:creationId xmlns:p14="http://schemas.microsoft.com/office/powerpoint/2010/main" val="2588798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C63B8-C4AA-ED57-8495-04D8AAC396B7}"/>
              </a:ext>
            </a:extLst>
          </p:cNvPr>
          <p:cNvSpPr>
            <a:spLocks noGrp="1"/>
          </p:cNvSpPr>
          <p:nvPr>
            <p:ph type="title"/>
          </p:nvPr>
        </p:nvSpPr>
        <p:spPr>
          <a:xfrm>
            <a:off x="914400" y="266700"/>
            <a:ext cx="7772400" cy="1143000"/>
          </a:xfrm>
        </p:spPr>
        <p:txBody>
          <a:bodyPr/>
          <a:lstStyle/>
          <a:p>
            <a:r>
              <a:rPr lang="en-US" dirty="0"/>
              <a:t>Algorithm</a:t>
            </a:r>
            <a:br>
              <a:rPr lang="en-US" dirty="0"/>
            </a:br>
            <a:endParaRPr lang="en-US" dirty="0"/>
          </a:p>
        </p:txBody>
      </p:sp>
      <p:sp>
        <p:nvSpPr>
          <p:cNvPr id="3" name="Content Placeholder 2">
            <a:extLst>
              <a:ext uri="{FF2B5EF4-FFF2-40B4-BE49-F238E27FC236}">
                <a16:creationId xmlns:a16="http://schemas.microsoft.com/office/drawing/2014/main" id="{A0E53C98-9ABA-4C2D-2B75-1E37F81429D1}"/>
              </a:ext>
            </a:extLst>
          </p:cNvPr>
          <p:cNvSpPr>
            <a:spLocks noGrp="1"/>
          </p:cNvSpPr>
          <p:nvPr>
            <p:ph sz="quarter" idx="1"/>
          </p:nvPr>
        </p:nvSpPr>
        <p:spPr>
          <a:xfrm>
            <a:off x="762000" y="914400"/>
            <a:ext cx="8229600" cy="5105400"/>
          </a:xfrm>
        </p:spPr>
        <p:txBody>
          <a:bodyPr/>
          <a:lstStyle/>
          <a:p>
            <a:pPr marL="514350" indent="-514350" algn="just">
              <a:buFont typeface="+mj-lt"/>
              <a:buAutoNum type="arabicPeriod"/>
            </a:pPr>
            <a:r>
              <a:rPr lang="en-US" dirty="0"/>
              <a:t>Start</a:t>
            </a:r>
          </a:p>
          <a:p>
            <a:pPr marL="514350" indent="-514350" algn="just">
              <a:buFont typeface="+mj-lt"/>
              <a:buAutoNum type="arabicPeriod"/>
            </a:pPr>
            <a:r>
              <a:rPr lang="en-US" dirty="0"/>
              <a:t>Create a class Box with instance variables </a:t>
            </a:r>
            <a:r>
              <a:rPr lang="en-US" sz="2400" dirty="0"/>
              <a:t>length, width and height</a:t>
            </a:r>
            <a:r>
              <a:rPr lang="en-US" dirty="0"/>
              <a:t> and method volume() that returns volume.</a:t>
            </a:r>
          </a:p>
          <a:p>
            <a:pPr marL="514350" indent="-514350" algn="just">
              <a:buFont typeface="+mj-lt"/>
              <a:buAutoNum type="arabicPeriod"/>
            </a:pPr>
            <a:r>
              <a:rPr lang="en-US" dirty="0"/>
              <a:t>Create another classes </a:t>
            </a:r>
            <a:r>
              <a:rPr lang="en-US" dirty="0" err="1"/>
              <a:t>BoxDemo</a:t>
            </a:r>
            <a:r>
              <a:rPr lang="en-US" dirty="0"/>
              <a:t> with the main function. Inside the main function do the steps 4 to 6.</a:t>
            </a:r>
          </a:p>
          <a:p>
            <a:pPr marL="514350" indent="-514350" algn="just">
              <a:buFont typeface="+mj-lt"/>
              <a:buAutoNum type="arabicPeriod"/>
            </a:pPr>
            <a:r>
              <a:rPr lang="en-US" dirty="0"/>
              <a:t>Create an object of Box mybox1 class and assign appropriate values to the variables.</a:t>
            </a:r>
          </a:p>
          <a:p>
            <a:pPr marL="514350" indent="-514350" algn="just">
              <a:buFont typeface="+mj-lt"/>
              <a:buAutoNum type="arabicPeriod"/>
            </a:pPr>
            <a:r>
              <a:rPr lang="en-US" dirty="0"/>
              <a:t> Invoke the function volume() using object .</a:t>
            </a:r>
          </a:p>
          <a:p>
            <a:pPr marL="514350" indent="-514350" algn="just">
              <a:buFont typeface="+mj-lt"/>
              <a:buAutoNum type="arabicPeriod"/>
            </a:pPr>
            <a:r>
              <a:rPr lang="en-US" dirty="0"/>
              <a:t>Print the value of volume </a:t>
            </a:r>
          </a:p>
          <a:p>
            <a:pPr marL="514350" indent="-514350" algn="just">
              <a:buFont typeface="+mj-lt"/>
              <a:buAutoNum type="arabicPeriod"/>
            </a:pPr>
            <a:r>
              <a:rPr lang="en-US" dirty="0"/>
              <a:t>End</a:t>
            </a:r>
          </a:p>
        </p:txBody>
      </p:sp>
      <p:sp>
        <p:nvSpPr>
          <p:cNvPr id="4" name="Slide Number Placeholder 3">
            <a:extLst>
              <a:ext uri="{FF2B5EF4-FFF2-40B4-BE49-F238E27FC236}">
                <a16:creationId xmlns:a16="http://schemas.microsoft.com/office/drawing/2014/main" id="{1C3DC9B9-FA14-A7AE-FE14-618EB1C3F443}"/>
              </a:ext>
            </a:extLst>
          </p:cNvPr>
          <p:cNvSpPr>
            <a:spLocks noGrp="1"/>
          </p:cNvSpPr>
          <p:nvPr>
            <p:ph type="sldNum" sz="quarter" idx="12"/>
          </p:nvPr>
        </p:nvSpPr>
        <p:spPr/>
        <p:txBody>
          <a:bodyPr/>
          <a:lstStyle/>
          <a:p>
            <a:pPr>
              <a:defRPr/>
            </a:pPr>
            <a:fld id="{7F50D522-CBA4-4108-90DA-9951FACF1C08}" type="slidenum">
              <a:rPr lang="en-US" smtClean="0"/>
              <a:pPr>
                <a:defRPr/>
              </a:pPr>
              <a:t>17</a:t>
            </a:fld>
            <a:endParaRPr lang="en-US"/>
          </a:p>
        </p:txBody>
      </p:sp>
    </p:spTree>
    <p:extLst>
      <p:ext uri="{BB962C8B-B14F-4D97-AF65-F5344CB8AC3E}">
        <p14:creationId xmlns:p14="http://schemas.microsoft.com/office/powerpoint/2010/main" val="2162371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18</a:t>
            </a:fld>
            <a:endParaRPr lang="en-US"/>
          </a:p>
        </p:txBody>
      </p:sp>
      <p:sp>
        <p:nvSpPr>
          <p:cNvPr id="8" name="TextBox 7">
            <a:extLst>
              <a:ext uri="{FF2B5EF4-FFF2-40B4-BE49-F238E27FC236}">
                <a16:creationId xmlns:a16="http://schemas.microsoft.com/office/drawing/2014/main" id="{C6771877-8CAE-75B8-C497-EB8264F0C3C9}"/>
              </a:ext>
            </a:extLst>
          </p:cNvPr>
          <p:cNvSpPr txBox="1"/>
          <p:nvPr/>
        </p:nvSpPr>
        <p:spPr>
          <a:xfrm>
            <a:off x="603250" y="0"/>
            <a:ext cx="8235950" cy="6863417"/>
          </a:xfrm>
          <a:prstGeom prst="rect">
            <a:avLst/>
          </a:prstGeom>
          <a:noFill/>
        </p:spPr>
        <p:txBody>
          <a:bodyPr wrap="square">
            <a:spAutoFit/>
          </a:bodyPr>
          <a:lstStyle/>
          <a:p>
            <a:r>
              <a:rPr lang="en-US" sz="2000" b="1" dirty="0"/>
              <a:t>class Box</a:t>
            </a:r>
          </a:p>
          <a:p>
            <a:r>
              <a:rPr lang="en-US" sz="2000" b="1" dirty="0"/>
              <a:t>{</a:t>
            </a:r>
          </a:p>
          <a:p>
            <a:r>
              <a:rPr lang="en-US" sz="2000" b="1" dirty="0"/>
              <a:t> double length;</a:t>
            </a:r>
          </a:p>
          <a:p>
            <a:r>
              <a:rPr lang="en-US" sz="2000" b="1" dirty="0"/>
              <a:t> double width;</a:t>
            </a:r>
          </a:p>
          <a:p>
            <a:r>
              <a:rPr lang="en-US" sz="2000" b="1" dirty="0"/>
              <a:t> double height;</a:t>
            </a:r>
          </a:p>
          <a:p>
            <a:r>
              <a:rPr lang="en-US" sz="2000" b="1" dirty="0"/>
              <a:t> void volume()</a:t>
            </a:r>
          </a:p>
          <a:p>
            <a:r>
              <a:rPr lang="en-US" sz="2000" b="1" dirty="0"/>
              <a:t> {</a:t>
            </a:r>
          </a:p>
          <a:p>
            <a:r>
              <a:rPr lang="en-US" sz="2000" b="1" dirty="0"/>
              <a:t>     double vol=length*width*</a:t>
            </a:r>
            <a:r>
              <a:rPr lang="en-US" sz="2000" dirty="0"/>
              <a:t> </a:t>
            </a:r>
            <a:r>
              <a:rPr lang="en-US" sz="2000" b="1" dirty="0"/>
              <a:t>height;</a:t>
            </a:r>
          </a:p>
          <a:p>
            <a:r>
              <a:rPr lang="en-US" sz="2000" b="1" dirty="0"/>
              <a:t>     </a:t>
            </a:r>
            <a:r>
              <a:rPr lang="en-US" sz="2000" b="1" dirty="0" err="1"/>
              <a:t>System.out.println</a:t>
            </a:r>
            <a:r>
              <a:rPr lang="en-US" sz="2000" b="1" dirty="0"/>
              <a:t>("Volume="+vol);</a:t>
            </a:r>
          </a:p>
          <a:p>
            <a:r>
              <a:rPr lang="en-US" sz="2000" b="1" dirty="0"/>
              <a:t> }</a:t>
            </a:r>
          </a:p>
          <a:p>
            <a:r>
              <a:rPr lang="en-US" sz="2000" b="1" dirty="0"/>
              <a:t>}</a:t>
            </a:r>
          </a:p>
          <a:p>
            <a:r>
              <a:rPr lang="en-US" sz="2000" b="1" dirty="0"/>
              <a:t>class </a:t>
            </a:r>
            <a:r>
              <a:rPr lang="en-US" sz="2000" b="1" dirty="0" err="1"/>
              <a:t>BoxDemo</a:t>
            </a:r>
            <a:endParaRPr lang="en-US" sz="2000" b="1" dirty="0"/>
          </a:p>
          <a:p>
            <a:r>
              <a:rPr lang="en-US" sz="2000" b="1" dirty="0"/>
              <a:t> {</a:t>
            </a:r>
          </a:p>
          <a:p>
            <a:r>
              <a:rPr lang="en-US" sz="2000" b="1" dirty="0"/>
              <a:t>    public static void main(String[]  </a:t>
            </a:r>
            <a:r>
              <a:rPr lang="en-US" sz="2000" b="1" dirty="0" err="1"/>
              <a:t>args</a:t>
            </a:r>
            <a:r>
              <a:rPr lang="en-US" sz="2000" b="1" dirty="0"/>
              <a:t>) </a:t>
            </a:r>
          </a:p>
          <a:p>
            <a:r>
              <a:rPr lang="en-US" sz="2000" b="1" dirty="0"/>
              <a:t>{</a:t>
            </a:r>
          </a:p>
          <a:p>
            <a:r>
              <a:rPr lang="en-US" sz="2000" b="1" dirty="0"/>
              <a:t>        Box mybox1</a:t>
            </a:r>
            <a:r>
              <a:rPr lang="en-US" sz="2000" dirty="0"/>
              <a:t> </a:t>
            </a:r>
            <a:r>
              <a:rPr lang="en-US" sz="2000" b="1" dirty="0"/>
              <a:t>=new Box();</a:t>
            </a:r>
          </a:p>
          <a:p>
            <a:r>
              <a:rPr lang="en-US" sz="2000" b="1" dirty="0"/>
              <a:t>        mybox1.length=10;</a:t>
            </a:r>
          </a:p>
          <a:p>
            <a:r>
              <a:rPr lang="en-US" sz="2000" b="1" dirty="0"/>
              <a:t>        mybox1.width=20;</a:t>
            </a:r>
          </a:p>
          <a:p>
            <a:r>
              <a:rPr lang="en-US" sz="2000" b="1" dirty="0"/>
              <a:t>        mybox1.</a:t>
            </a:r>
            <a:r>
              <a:rPr lang="en-US" sz="2000" dirty="0"/>
              <a:t> </a:t>
            </a:r>
            <a:r>
              <a:rPr lang="en-US" sz="2000" b="1" dirty="0"/>
              <a:t>height</a:t>
            </a:r>
            <a:r>
              <a:rPr lang="en-US" sz="2000" dirty="0"/>
              <a:t> </a:t>
            </a:r>
            <a:r>
              <a:rPr lang="en-US" sz="2000" b="1" dirty="0"/>
              <a:t>=30;</a:t>
            </a:r>
          </a:p>
          <a:p>
            <a:r>
              <a:rPr lang="en-US" sz="2000" b="1" dirty="0"/>
              <a:t>        mybox1.volume();</a:t>
            </a:r>
          </a:p>
          <a:p>
            <a:r>
              <a:rPr lang="en-US" sz="2000" b="1" dirty="0"/>
              <a:t>         }</a:t>
            </a:r>
          </a:p>
          <a:p>
            <a:r>
              <a:rPr lang="en-US" sz="2000" b="1" dirty="0"/>
              <a:t>}</a:t>
            </a:r>
          </a:p>
        </p:txBody>
      </p:sp>
    </p:spTree>
    <p:extLst>
      <p:ext uri="{BB962C8B-B14F-4D97-AF65-F5344CB8AC3E}">
        <p14:creationId xmlns:p14="http://schemas.microsoft.com/office/powerpoint/2010/main" val="1767532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19</a:t>
            </a:fld>
            <a:endParaRPr lang="en-US"/>
          </a:p>
        </p:txBody>
      </p:sp>
      <p:sp>
        <p:nvSpPr>
          <p:cNvPr id="8" name="TextBox 7">
            <a:extLst>
              <a:ext uri="{FF2B5EF4-FFF2-40B4-BE49-F238E27FC236}">
                <a16:creationId xmlns:a16="http://schemas.microsoft.com/office/drawing/2014/main" id="{C6771877-8CAE-75B8-C497-EB8264F0C3C9}"/>
              </a:ext>
            </a:extLst>
          </p:cNvPr>
          <p:cNvSpPr txBox="1"/>
          <p:nvPr/>
        </p:nvSpPr>
        <p:spPr>
          <a:xfrm>
            <a:off x="603250" y="-228600"/>
            <a:ext cx="8235950" cy="7171194"/>
          </a:xfrm>
          <a:prstGeom prst="rect">
            <a:avLst/>
          </a:prstGeom>
          <a:noFill/>
        </p:spPr>
        <p:txBody>
          <a:bodyPr wrap="square">
            <a:spAutoFit/>
          </a:bodyPr>
          <a:lstStyle/>
          <a:p>
            <a:endParaRPr lang="en-US" sz="2000" b="1" dirty="0"/>
          </a:p>
          <a:p>
            <a:r>
              <a:rPr lang="en-US" sz="2000" b="1" dirty="0"/>
              <a:t>Modify the program using return statement</a:t>
            </a:r>
          </a:p>
          <a:p>
            <a:r>
              <a:rPr lang="en-US" sz="2000" b="1" dirty="0"/>
              <a:t>class Box{</a:t>
            </a:r>
          </a:p>
          <a:p>
            <a:r>
              <a:rPr lang="en-US" sz="2000" b="1" dirty="0"/>
              <a:t> double length;</a:t>
            </a:r>
          </a:p>
          <a:p>
            <a:r>
              <a:rPr lang="en-US" sz="2000" b="1" dirty="0"/>
              <a:t> double width;</a:t>
            </a:r>
          </a:p>
          <a:p>
            <a:r>
              <a:rPr lang="en-US" sz="2000" b="1" dirty="0"/>
              <a:t> double height;</a:t>
            </a:r>
          </a:p>
          <a:p>
            <a:r>
              <a:rPr lang="en-US" sz="2000" b="1" dirty="0"/>
              <a:t> double volume()</a:t>
            </a:r>
          </a:p>
          <a:p>
            <a:r>
              <a:rPr lang="en-US" sz="2000" b="1" dirty="0"/>
              <a:t> {</a:t>
            </a:r>
          </a:p>
          <a:p>
            <a:r>
              <a:rPr lang="en-US" sz="2000" b="1" dirty="0"/>
              <a:t>     double vol=length*width*</a:t>
            </a:r>
            <a:r>
              <a:rPr lang="en-US" sz="2000" dirty="0"/>
              <a:t> </a:t>
            </a:r>
            <a:r>
              <a:rPr lang="en-US" sz="2000" b="1" dirty="0"/>
              <a:t>height;</a:t>
            </a:r>
          </a:p>
          <a:p>
            <a:r>
              <a:rPr lang="en-US" sz="2000" b="1" dirty="0"/>
              <a:t>     return vol;</a:t>
            </a:r>
          </a:p>
          <a:p>
            <a:r>
              <a:rPr lang="en-US" sz="2000" b="1" dirty="0"/>
              <a:t> }</a:t>
            </a:r>
          </a:p>
          <a:p>
            <a:r>
              <a:rPr lang="en-US" sz="2000" b="1" dirty="0"/>
              <a:t>}</a:t>
            </a:r>
          </a:p>
          <a:p>
            <a:r>
              <a:rPr lang="en-US" sz="2000" b="1" dirty="0"/>
              <a:t>class </a:t>
            </a:r>
            <a:r>
              <a:rPr lang="en-US" sz="2000" b="1" dirty="0" err="1"/>
              <a:t>BoxDemo</a:t>
            </a:r>
            <a:r>
              <a:rPr lang="en-US" sz="2000" b="1" dirty="0"/>
              <a:t> {  </a:t>
            </a:r>
          </a:p>
          <a:p>
            <a:r>
              <a:rPr lang="en-US" sz="2000" b="1" dirty="0"/>
              <a:t>  public static void main(String[]  </a:t>
            </a:r>
            <a:r>
              <a:rPr lang="en-US" sz="2000" b="1" dirty="0" err="1"/>
              <a:t>args</a:t>
            </a:r>
            <a:r>
              <a:rPr lang="en-US" sz="2000" b="1" dirty="0"/>
              <a:t>) </a:t>
            </a:r>
          </a:p>
          <a:p>
            <a:r>
              <a:rPr lang="en-US" sz="2000" b="1" dirty="0"/>
              <a:t>{</a:t>
            </a:r>
          </a:p>
          <a:p>
            <a:r>
              <a:rPr lang="en-US" sz="2000" b="1" dirty="0"/>
              <a:t>        Box mybox1</a:t>
            </a:r>
            <a:r>
              <a:rPr lang="en-US" sz="2000" dirty="0"/>
              <a:t> </a:t>
            </a:r>
            <a:r>
              <a:rPr lang="en-US" sz="2000" b="1" dirty="0"/>
              <a:t>=new Box();</a:t>
            </a:r>
          </a:p>
          <a:p>
            <a:r>
              <a:rPr lang="en-US" sz="2000" b="1" dirty="0"/>
              <a:t>        mybox1.length=10;</a:t>
            </a:r>
          </a:p>
          <a:p>
            <a:r>
              <a:rPr lang="en-US" sz="2000" b="1" dirty="0"/>
              <a:t>        mybox1.width=20;</a:t>
            </a:r>
          </a:p>
          <a:p>
            <a:r>
              <a:rPr lang="en-US" sz="2000" b="1" dirty="0"/>
              <a:t>        mybox1.</a:t>
            </a:r>
            <a:r>
              <a:rPr lang="en-US" sz="2000" dirty="0"/>
              <a:t> </a:t>
            </a:r>
            <a:r>
              <a:rPr lang="en-US" sz="2000" b="1" dirty="0"/>
              <a:t>height</a:t>
            </a:r>
            <a:r>
              <a:rPr lang="en-US" sz="2000" dirty="0"/>
              <a:t> </a:t>
            </a:r>
            <a:r>
              <a:rPr lang="en-US" sz="2000" b="1" dirty="0"/>
              <a:t>=30;</a:t>
            </a:r>
          </a:p>
          <a:p>
            <a:r>
              <a:rPr lang="en-US" sz="2000" b="1" dirty="0"/>
              <a:t>        double v=mybox1.volume();</a:t>
            </a:r>
          </a:p>
          <a:p>
            <a:r>
              <a:rPr lang="en-US" sz="2000" b="1" dirty="0"/>
              <a:t>        </a:t>
            </a:r>
            <a:r>
              <a:rPr lang="en-US" sz="2000" b="1" dirty="0" err="1"/>
              <a:t>System.out.println</a:t>
            </a:r>
            <a:r>
              <a:rPr lang="en-US" sz="2000" b="1" dirty="0"/>
              <a:t>("Volume="+v);</a:t>
            </a:r>
          </a:p>
          <a:p>
            <a:r>
              <a:rPr lang="en-US" sz="2000" b="1" dirty="0"/>
              <a:t>         } </a:t>
            </a:r>
          </a:p>
          <a:p>
            <a:r>
              <a:rPr lang="en-US" sz="2000" b="1" dirty="0"/>
              <a:t> }</a:t>
            </a:r>
          </a:p>
        </p:txBody>
      </p:sp>
    </p:spTree>
    <p:extLst>
      <p:ext uri="{BB962C8B-B14F-4D97-AF65-F5344CB8AC3E}">
        <p14:creationId xmlns:p14="http://schemas.microsoft.com/office/powerpoint/2010/main" val="3675069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34CFC6-B464-4756-2FFD-BEBA61DBD860}"/>
              </a:ext>
            </a:extLst>
          </p:cNvPr>
          <p:cNvSpPr>
            <a:spLocks noGrp="1"/>
          </p:cNvSpPr>
          <p:nvPr>
            <p:ph type="sldNum" sz="quarter" idx="12"/>
          </p:nvPr>
        </p:nvSpPr>
        <p:spPr/>
        <p:txBody>
          <a:bodyPr/>
          <a:lstStyle/>
          <a:p>
            <a:pPr>
              <a:defRPr/>
            </a:pPr>
            <a:fld id="{7F50D522-CBA4-4108-90DA-9951FACF1C08}" type="slidenum">
              <a:rPr lang="en-US" smtClean="0"/>
              <a:pPr>
                <a:defRPr/>
              </a:pPr>
              <a:t>20</a:t>
            </a:fld>
            <a:endParaRPr lang="en-US"/>
          </a:p>
        </p:txBody>
      </p:sp>
      <p:sp>
        <p:nvSpPr>
          <p:cNvPr id="6" name="TextBox 5">
            <a:extLst>
              <a:ext uri="{FF2B5EF4-FFF2-40B4-BE49-F238E27FC236}">
                <a16:creationId xmlns:a16="http://schemas.microsoft.com/office/drawing/2014/main" id="{11853889-4C71-F487-86AC-EA5EE1DF690C}"/>
              </a:ext>
            </a:extLst>
          </p:cNvPr>
          <p:cNvSpPr txBox="1"/>
          <p:nvPr/>
        </p:nvSpPr>
        <p:spPr>
          <a:xfrm>
            <a:off x="450850" y="363915"/>
            <a:ext cx="8464550" cy="6986528"/>
          </a:xfrm>
          <a:prstGeom prst="rect">
            <a:avLst/>
          </a:prstGeom>
          <a:noFill/>
        </p:spPr>
        <p:txBody>
          <a:bodyPr wrap="square">
            <a:spAutoFit/>
          </a:bodyPr>
          <a:lstStyle/>
          <a:p>
            <a:r>
              <a:rPr lang="en-US" sz="3200" b="1" dirty="0"/>
              <a:t>Modify the program to take input from user</a:t>
            </a:r>
          </a:p>
          <a:p>
            <a:r>
              <a:rPr lang="en-US" sz="3200" dirty="0"/>
              <a:t>import java. util. Scanner;</a:t>
            </a:r>
          </a:p>
          <a:p>
            <a:r>
              <a:rPr lang="en-US" sz="3200" dirty="0"/>
              <a:t>class Box</a:t>
            </a:r>
          </a:p>
          <a:p>
            <a:r>
              <a:rPr lang="en-US" sz="3200" dirty="0"/>
              <a:t>{</a:t>
            </a:r>
          </a:p>
          <a:p>
            <a:r>
              <a:rPr lang="en-US" sz="3200" dirty="0"/>
              <a:t> double length;</a:t>
            </a:r>
          </a:p>
          <a:p>
            <a:r>
              <a:rPr lang="en-US" sz="3200" dirty="0"/>
              <a:t> double width;</a:t>
            </a:r>
          </a:p>
          <a:p>
            <a:r>
              <a:rPr lang="en-US" sz="3200" dirty="0"/>
              <a:t> double height;</a:t>
            </a:r>
          </a:p>
          <a:p>
            <a:r>
              <a:rPr lang="en-US" sz="3200" dirty="0"/>
              <a:t> double volume()</a:t>
            </a:r>
          </a:p>
          <a:p>
            <a:r>
              <a:rPr lang="en-US" sz="3200" dirty="0"/>
              <a:t> {</a:t>
            </a:r>
          </a:p>
          <a:p>
            <a:r>
              <a:rPr lang="en-US" sz="3200" dirty="0"/>
              <a:t>     double vol=length*width*height;</a:t>
            </a:r>
          </a:p>
          <a:p>
            <a:r>
              <a:rPr lang="en-US" sz="3200" dirty="0"/>
              <a:t>     return vol;</a:t>
            </a:r>
          </a:p>
          <a:p>
            <a:r>
              <a:rPr lang="en-US" sz="3200" dirty="0"/>
              <a:t> }</a:t>
            </a:r>
          </a:p>
          <a:p>
            <a:r>
              <a:rPr lang="en-US" sz="3200" dirty="0"/>
              <a:t>}</a:t>
            </a:r>
          </a:p>
          <a:p>
            <a:endParaRPr lang="en-US" sz="3200" dirty="0"/>
          </a:p>
        </p:txBody>
      </p:sp>
    </p:spTree>
    <p:extLst>
      <p:ext uri="{BB962C8B-B14F-4D97-AF65-F5344CB8AC3E}">
        <p14:creationId xmlns:p14="http://schemas.microsoft.com/office/powerpoint/2010/main" val="1684372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34CFC6-B464-4756-2FFD-BEBA61DBD860}"/>
              </a:ext>
            </a:extLst>
          </p:cNvPr>
          <p:cNvSpPr>
            <a:spLocks noGrp="1"/>
          </p:cNvSpPr>
          <p:nvPr>
            <p:ph type="sldNum" sz="quarter" idx="12"/>
          </p:nvPr>
        </p:nvSpPr>
        <p:spPr/>
        <p:txBody>
          <a:bodyPr/>
          <a:lstStyle/>
          <a:p>
            <a:pPr>
              <a:defRPr/>
            </a:pPr>
            <a:fld id="{7F50D522-CBA4-4108-90DA-9951FACF1C08}" type="slidenum">
              <a:rPr lang="en-US" smtClean="0"/>
              <a:pPr>
                <a:defRPr/>
              </a:pPr>
              <a:t>21</a:t>
            </a:fld>
            <a:endParaRPr lang="en-US"/>
          </a:p>
        </p:txBody>
      </p:sp>
      <p:sp>
        <p:nvSpPr>
          <p:cNvPr id="6" name="TextBox 5">
            <a:extLst>
              <a:ext uri="{FF2B5EF4-FFF2-40B4-BE49-F238E27FC236}">
                <a16:creationId xmlns:a16="http://schemas.microsoft.com/office/drawing/2014/main" id="{11853889-4C71-F487-86AC-EA5EE1DF690C}"/>
              </a:ext>
            </a:extLst>
          </p:cNvPr>
          <p:cNvSpPr txBox="1"/>
          <p:nvPr/>
        </p:nvSpPr>
        <p:spPr>
          <a:xfrm>
            <a:off x="527050" y="152400"/>
            <a:ext cx="8693150" cy="6124754"/>
          </a:xfrm>
          <a:prstGeom prst="rect">
            <a:avLst/>
          </a:prstGeom>
          <a:noFill/>
        </p:spPr>
        <p:txBody>
          <a:bodyPr wrap="square">
            <a:spAutoFit/>
          </a:bodyPr>
          <a:lstStyle/>
          <a:p>
            <a:r>
              <a:rPr lang="en-US" sz="2800" dirty="0"/>
              <a:t>class </a:t>
            </a:r>
            <a:r>
              <a:rPr lang="en-US" sz="2800" dirty="0" err="1"/>
              <a:t>BoxDemo</a:t>
            </a:r>
            <a:endParaRPr lang="en-US" sz="2800" dirty="0"/>
          </a:p>
          <a:p>
            <a:r>
              <a:rPr lang="en-US" sz="2800" dirty="0"/>
              <a:t>{</a:t>
            </a:r>
          </a:p>
          <a:p>
            <a:r>
              <a:rPr lang="en-US" sz="2800" dirty="0"/>
              <a:t>    public static void main(String[] </a:t>
            </a:r>
            <a:r>
              <a:rPr lang="en-US" sz="2800" dirty="0" err="1"/>
              <a:t>args</a:t>
            </a:r>
            <a:r>
              <a:rPr lang="en-US" sz="2800" dirty="0"/>
              <a:t>) </a:t>
            </a:r>
          </a:p>
          <a:p>
            <a:r>
              <a:rPr lang="en-US" sz="2800" dirty="0"/>
              <a:t>{</a:t>
            </a:r>
          </a:p>
          <a:p>
            <a:r>
              <a:rPr lang="en-US" sz="2800" dirty="0"/>
              <a:t>    Scanner </a:t>
            </a:r>
            <a:r>
              <a:rPr lang="en-US" sz="2800" dirty="0" err="1"/>
              <a:t>sc</a:t>
            </a:r>
            <a:r>
              <a:rPr lang="en-US" sz="2800" dirty="0"/>
              <a:t>=new Scanner (System. in) ;</a:t>
            </a:r>
          </a:p>
          <a:p>
            <a:r>
              <a:rPr lang="en-US" sz="2800" dirty="0"/>
              <a:t>    Box mybox1=new Box();</a:t>
            </a:r>
          </a:p>
          <a:p>
            <a:r>
              <a:rPr lang="en-US" sz="2800" dirty="0"/>
              <a:t>    </a:t>
            </a:r>
            <a:r>
              <a:rPr lang="en-US" sz="2800" dirty="0" err="1"/>
              <a:t>System.out.println</a:t>
            </a:r>
            <a:r>
              <a:rPr lang="en-US" sz="2800" dirty="0"/>
              <a:t> ("Enter length, width , height ");</a:t>
            </a:r>
          </a:p>
          <a:p>
            <a:r>
              <a:rPr lang="en-US" sz="2800" dirty="0"/>
              <a:t>    mybox1.length=</a:t>
            </a:r>
            <a:r>
              <a:rPr lang="en-US" sz="2800" dirty="0" err="1"/>
              <a:t>sc.nextDouble</a:t>
            </a:r>
            <a:r>
              <a:rPr lang="en-US" sz="2800" dirty="0"/>
              <a:t> ( ) ;</a:t>
            </a:r>
          </a:p>
          <a:p>
            <a:r>
              <a:rPr lang="en-US" sz="2800" dirty="0"/>
              <a:t>    mybox1.width=</a:t>
            </a:r>
            <a:r>
              <a:rPr lang="en-US" sz="2800" dirty="0" err="1"/>
              <a:t>sc.nextDouble</a:t>
            </a:r>
            <a:r>
              <a:rPr lang="en-US" sz="2800" dirty="0"/>
              <a:t> ( ) ;</a:t>
            </a:r>
          </a:p>
          <a:p>
            <a:r>
              <a:rPr lang="en-US" sz="2800" dirty="0"/>
              <a:t>    mybox1.height=</a:t>
            </a:r>
            <a:r>
              <a:rPr lang="en-US" sz="2800" dirty="0" err="1"/>
              <a:t>sc.nextDouble</a:t>
            </a:r>
            <a:r>
              <a:rPr lang="en-US" sz="2800" dirty="0"/>
              <a:t> ( ) ;</a:t>
            </a:r>
          </a:p>
          <a:p>
            <a:r>
              <a:rPr lang="en-US" sz="2800" dirty="0"/>
              <a:t>    double v=mybox1.volume();</a:t>
            </a:r>
          </a:p>
          <a:p>
            <a:r>
              <a:rPr lang="en-US" sz="2800" dirty="0"/>
              <a:t>    </a:t>
            </a:r>
            <a:r>
              <a:rPr lang="en-US" sz="2800" dirty="0" err="1"/>
              <a:t>System.out.println</a:t>
            </a:r>
            <a:r>
              <a:rPr lang="en-US" sz="2800" dirty="0"/>
              <a:t>("Volume="+v);</a:t>
            </a:r>
          </a:p>
          <a:p>
            <a:r>
              <a:rPr lang="en-US" sz="2800" dirty="0"/>
              <a:t>    }</a:t>
            </a:r>
          </a:p>
          <a:p>
            <a:r>
              <a:rPr lang="en-US" sz="2800" dirty="0"/>
              <a:t>}</a:t>
            </a:r>
          </a:p>
        </p:txBody>
      </p:sp>
    </p:spTree>
    <p:extLst>
      <p:ext uri="{BB962C8B-B14F-4D97-AF65-F5344CB8AC3E}">
        <p14:creationId xmlns:p14="http://schemas.microsoft.com/office/powerpoint/2010/main" val="2255556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93B45C-5DE6-41CF-8C74-1C113ADBB632}"/>
              </a:ext>
            </a:extLst>
          </p:cNvPr>
          <p:cNvSpPr>
            <a:spLocks noGrp="1"/>
          </p:cNvSpPr>
          <p:nvPr>
            <p:ph type="sldNum" sz="quarter" idx="12"/>
          </p:nvPr>
        </p:nvSpPr>
        <p:spPr/>
        <p:txBody>
          <a:bodyPr/>
          <a:lstStyle/>
          <a:p>
            <a:pPr>
              <a:defRPr/>
            </a:pPr>
            <a:fld id="{3DEBBF22-F54E-4CFA-8EDC-551F15322463}" type="slidenum">
              <a:rPr lang="en-US" smtClean="0"/>
              <a:pPr>
                <a:defRPr/>
              </a:pPr>
              <a:t>22</a:t>
            </a:fld>
            <a:endParaRPr lang="en-US"/>
          </a:p>
        </p:txBody>
      </p:sp>
      <p:sp>
        <p:nvSpPr>
          <p:cNvPr id="4" name="TextBox 3">
            <a:extLst>
              <a:ext uri="{FF2B5EF4-FFF2-40B4-BE49-F238E27FC236}">
                <a16:creationId xmlns:a16="http://schemas.microsoft.com/office/drawing/2014/main" id="{5EEA076A-8E10-B0F2-6FF6-CF2197A711F9}"/>
              </a:ext>
            </a:extLst>
          </p:cNvPr>
          <p:cNvSpPr txBox="1"/>
          <p:nvPr/>
        </p:nvSpPr>
        <p:spPr>
          <a:xfrm>
            <a:off x="304800" y="190500"/>
            <a:ext cx="8534400" cy="5450338"/>
          </a:xfrm>
          <a:prstGeom prst="rect">
            <a:avLst/>
          </a:prstGeom>
          <a:noFill/>
        </p:spPr>
        <p:txBody>
          <a:bodyPr wrap="square">
            <a:spAutoFit/>
          </a:bodyPr>
          <a:lstStyle/>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1.Create a class Box with instance variables length, width and height. Calculate volume using methods with return type</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import java. </a:t>
            </a:r>
            <a:r>
              <a:rPr lang="en-US" sz="3200" kern="100" dirty="0" err="1">
                <a:effectLst/>
                <a:ea typeface="Calibri" panose="020F0502020204030204" pitchFamily="34" charset="0"/>
                <a:cs typeface="Times New Roman" panose="02020603050405020304" pitchFamily="18" charset="0"/>
              </a:rPr>
              <a:t>util.Scanner</a:t>
            </a:r>
            <a:r>
              <a:rPr lang="en-US" sz="3200" kern="100" dirty="0">
                <a:effectLst/>
                <a:ea typeface="Calibri" panose="020F0502020204030204" pitchFamily="34" charset="0"/>
                <a:cs typeface="Times New Roman" panose="02020603050405020304" pitchFamily="18" charset="0"/>
              </a:rPr>
              <a:t>;</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class Rectangle</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double length;</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double breadth;</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a:t>
            </a:r>
            <a:endParaRPr lang="en-US" sz="3200" dirty="0"/>
          </a:p>
        </p:txBody>
      </p:sp>
    </p:spTree>
    <p:extLst>
      <p:ext uri="{BB962C8B-B14F-4D97-AF65-F5344CB8AC3E}">
        <p14:creationId xmlns:p14="http://schemas.microsoft.com/office/powerpoint/2010/main" val="18610672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93B45C-5DE6-41CF-8C74-1C113ADBB632}"/>
              </a:ext>
            </a:extLst>
          </p:cNvPr>
          <p:cNvSpPr>
            <a:spLocks noGrp="1"/>
          </p:cNvSpPr>
          <p:nvPr>
            <p:ph type="sldNum" sz="quarter" idx="12"/>
          </p:nvPr>
        </p:nvSpPr>
        <p:spPr/>
        <p:txBody>
          <a:bodyPr/>
          <a:lstStyle/>
          <a:p>
            <a:pPr>
              <a:defRPr/>
            </a:pPr>
            <a:fld id="{3DEBBF22-F54E-4CFA-8EDC-551F15322463}" type="slidenum">
              <a:rPr lang="en-US" smtClean="0"/>
              <a:pPr>
                <a:defRPr/>
              </a:pPr>
              <a:t>23</a:t>
            </a:fld>
            <a:endParaRPr lang="en-US"/>
          </a:p>
        </p:txBody>
      </p:sp>
      <p:sp>
        <p:nvSpPr>
          <p:cNvPr id="4" name="TextBox 3">
            <a:extLst>
              <a:ext uri="{FF2B5EF4-FFF2-40B4-BE49-F238E27FC236}">
                <a16:creationId xmlns:a16="http://schemas.microsoft.com/office/drawing/2014/main" id="{5EEA076A-8E10-B0F2-6FF6-CF2197A711F9}"/>
              </a:ext>
            </a:extLst>
          </p:cNvPr>
          <p:cNvSpPr txBox="1"/>
          <p:nvPr/>
        </p:nvSpPr>
        <p:spPr>
          <a:xfrm>
            <a:off x="368300" y="0"/>
            <a:ext cx="8851900" cy="6914585"/>
          </a:xfrm>
          <a:prstGeom prst="rect">
            <a:avLst/>
          </a:prstGeom>
          <a:noFill/>
        </p:spPr>
        <p:txBody>
          <a:bodyPr wrap="square">
            <a:spAutoFit/>
          </a:bodyPr>
          <a:lstStyle/>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double </a:t>
            </a:r>
            <a:r>
              <a:rPr lang="en-US" sz="3200" kern="100" dirty="0" err="1">
                <a:effectLst/>
                <a:ea typeface="Calibri" panose="020F0502020204030204" pitchFamily="34" charset="0"/>
                <a:cs typeface="Times New Roman" panose="02020603050405020304" pitchFamily="18" charset="0"/>
              </a:rPr>
              <a:t>getArea</a:t>
            </a:r>
            <a:r>
              <a:rPr lang="en-US" sz="3200" kern="100" dirty="0">
                <a:effectLst/>
                <a:ea typeface="Calibri" panose="020F0502020204030204" pitchFamily="34" charset="0"/>
                <a:cs typeface="Times New Roman" panose="02020603050405020304" pitchFamily="18" charset="0"/>
              </a:rPr>
              <a:t>() </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double area = length*breadth;</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return area;</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double </a:t>
            </a:r>
            <a:r>
              <a:rPr lang="en-US" sz="3200" kern="100" dirty="0" err="1">
                <a:effectLst/>
                <a:ea typeface="Calibri" panose="020F0502020204030204" pitchFamily="34" charset="0"/>
                <a:cs typeface="Times New Roman" panose="02020603050405020304" pitchFamily="18" charset="0"/>
              </a:rPr>
              <a:t>getPerimeter</a:t>
            </a:r>
            <a:r>
              <a:rPr lang="en-US" sz="3200" kern="100" dirty="0">
                <a:effectLst/>
                <a:ea typeface="Calibri" panose="020F0502020204030204" pitchFamily="34" charset="0"/>
                <a:cs typeface="Times New Roman" panose="02020603050405020304" pitchFamily="18" charset="0"/>
              </a:rPr>
              <a:t>()</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double perimeter = 2 * (</a:t>
            </a:r>
            <a:r>
              <a:rPr lang="en-US" sz="3200" kern="100" dirty="0" err="1">
                <a:effectLst/>
                <a:ea typeface="Calibri" panose="020F0502020204030204" pitchFamily="34" charset="0"/>
                <a:cs typeface="Times New Roman" panose="02020603050405020304" pitchFamily="18" charset="0"/>
              </a:rPr>
              <a:t>length+breadth</a:t>
            </a:r>
            <a:r>
              <a:rPr lang="en-US" sz="3200" kern="100" dirty="0">
                <a:effectLst/>
                <a:ea typeface="Calibri" panose="020F0502020204030204" pitchFamily="34" charset="0"/>
                <a:cs typeface="Times New Roman" panose="02020603050405020304" pitchFamily="18" charset="0"/>
              </a:rPr>
              <a:t>);</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return perimeter;</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a:t>
            </a:r>
          </a:p>
          <a:p>
            <a:pPr>
              <a:lnSpc>
                <a:spcPct val="107000"/>
              </a:lnSpc>
              <a:spcAft>
                <a:spcPts val="800"/>
              </a:spcAft>
            </a:pPr>
            <a:r>
              <a:rPr lang="en-US" sz="3200" kern="100" dirty="0">
                <a:effectLst/>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137094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93B45C-5DE6-41CF-8C74-1C113ADBB632}"/>
              </a:ext>
            </a:extLst>
          </p:cNvPr>
          <p:cNvSpPr>
            <a:spLocks noGrp="1"/>
          </p:cNvSpPr>
          <p:nvPr>
            <p:ph type="sldNum" sz="quarter" idx="12"/>
          </p:nvPr>
        </p:nvSpPr>
        <p:spPr/>
        <p:txBody>
          <a:bodyPr/>
          <a:lstStyle/>
          <a:p>
            <a:pPr>
              <a:defRPr/>
            </a:pPr>
            <a:fld id="{3DEBBF22-F54E-4CFA-8EDC-551F15322463}" type="slidenum">
              <a:rPr lang="en-US" smtClean="0"/>
              <a:pPr>
                <a:defRPr/>
              </a:pPr>
              <a:t>24</a:t>
            </a:fld>
            <a:endParaRPr lang="en-US"/>
          </a:p>
        </p:txBody>
      </p:sp>
      <p:sp>
        <p:nvSpPr>
          <p:cNvPr id="4" name="TextBox 3">
            <a:extLst>
              <a:ext uri="{FF2B5EF4-FFF2-40B4-BE49-F238E27FC236}">
                <a16:creationId xmlns:a16="http://schemas.microsoft.com/office/drawing/2014/main" id="{5EEA076A-8E10-B0F2-6FF6-CF2197A711F9}"/>
              </a:ext>
            </a:extLst>
          </p:cNvPr>
          <p:cNvSpPr txBox="1"/>
          <p:nvPr/>
        </p:nvSpPr>
        <p:spPr>
          <a:xfrm>
            <a:off x="527050" y="-1547"/>
            <a:ext cx="9912350" cy="6753131"/>
          </a:xfrm>
          <a:prstGeom prst="rect">
            <a:avLst/>
          </a:prstGeom>
          <a:noFill/>
        </p:spPr>
        <p:txBody>
          <a:bodyPr wrap="square">
            <a:spAutoFit/>
          </a:bodyPr>
          <a:lstStyle/>
          <a:p>
            <a:pPr>
              <a:lnSpc>
                <a:spcPct val="107000"/>
              </a:lnSpc>
              <a:spcAft>
                <a:spcPts val="800"/>
              </a:spcAft>
            </a:pPr>
            <a:r>
              <a:rPr lang="en-US" sz="2800" kern="100" dirty="0">
                <a:effectLst/>
                <a:ea typeface="Calibri" panose="020F0502020204030204" pitchFamily="34" charset="0"/>
                <a:cs typeface="Times New Roman" panose="02020603050405020304" pitchFamily="18" charset="0"/>
              </a:rPr>
              <a:t>class </a:t>
            </a:r>
            <a:r>
              <a:rPr lang="en-US" sz="2800" kern="100" dirty="0" err="1">
                <a:effectLst/>
                <a:ea typeface="Calibri" panose="020F0502020204030204" pitchFamily="34" charset="0"/>
                <a:cs typeface="Times New Roman" panose="02020603050405020304" pitchFamily="18" charset="0"/>
              </a:rPr>
              <a:t>RectDemo</a:t>
            </a:r>
            <a:r>
              <a:rPr lang="en-US" sz="2800" kern="100" dirty="0">
                <a:effectLst/>
                <a:ea typeface="Calibri" panose="020F0502020204030204" pitchFamily="34" charset="0"/>
                <a:cs typeface="Times New Roman" panose="02020603050405020304" pitchFamily="18" charset="0"/>
              </a:rPr>
              <a:t> {</a:t>
            </a:r>
          </a:p>
          <a:p>
            <a:pPr>
              <a:lnSpc>
                <a:spcPct val="107000"/>
              </a:lnSpc>
              <a:spcAft>
                <a:spcPts val="800"/>
              </a:spcAft>
            </a:pPr>
            <a:r>
              <a:rPr lang="en-US" sz="2800" kern="100" dirty="0">
                <a:effectLst/>
                <a:ea typeface="Calibri" panose="020F0502020204030204" pitchFamily="34" charset="0"/>
                <a:cs typeface="Times New Roman" panose="02020603050405020304" pitchFamily="18" charset="0"/>
              </a:rPr>
              <a:t>  public static void main(String[] s) {</a:t>
            </a:r>
          </a:p>
          <a:p>
            <a:pPr>
              <a:lnSpc>
                <a:spcPct val="107000"/>
              </a:lnSpc>
              <a:spcAft>
                <a:spcPts val="800"/>
              </a:spcAft>
            </a:pPr>
            <a:r>
              <a:rPr lang="en-US" sz="2800" kern="100" dirty="0">
                <a:effectLst/>
                <a:ea typeface="Calibri" panose="020F0502020204030204" pitchFamily="34" charset="0"/>
                <a:cs typeface="Times New Roman" panose="02020603050405020304" pitchFamily="18" charset="0"/>
              </a:rPr>
              <a:t>    Scanner </a:t>
            </a:r>
            <a:r>
              <a:rPr lang="en-US" sz="2800" kern="100" dirty="0" err="1">
                <a:effectLst/>
                <a:ea typeface="Calibri" panose="020F0502020204030204" pitchFamily="34" charset="0"/>
                <a:cs typeface="Times New Roman" panose="02020603050405020304" pitchFamily="18" charset="0"/>
              </a:rPr>
              <a:t>sc</a:t>
            </a:r>
            <a:r>
              <a:rPr lang="en-US" sz="2800" kern="100" dirty="0">
                <a:effectLst/>
                <a:ea typeface="Calibri" panose="020F0502020204030204" pitchFamily="34" charset="0"/>
                <a:cs typeface="Times New Roman" panose="02020603050405020304" pitchFamily="18" charset="0"/>
              </a:rPr>
              <a:t>=new Scanner(System.in);</a:t>
            </a:r>
          </a:p>
          <a:p>
            <a:pPr>
              <a:lnSpc>
                <a:spcPct val="107000"/>
              </a:lnSpc>
              <a:spcAft>
                <a:spcPts val="800"/>
              </a:spcAft>
            </a:pPr>
            <a:r>
              <a:rPr lang="en-US" sz="2800" kern="100" dirty="0">
                <a:effectLst/>
                <a:ea typeface="Calibri" panose="020F0502020204030204" pitchFamily="34" charset="0"/>
                <a:cs typeface="Times New Roman" panose="02020603050405020304" pitchFamily="18" charset="0"/>
              </a:rPr>
              <a:t>    Rectangle </a:t>
            </a:r>
            <a:r>
              <a:rPr lang="en-US" sz="2800" kern="100" dirty="0" err="1">
                <a:effectLst/>
                <a:ea typeface="Calibri" panose="020F0502020204030204" pitchFamily="34" charset="0"/>
                <a:cs typeface="Times New Roman" panose="02020603050405020304" pitchFamily="18" charset="0"/>
              </a:rPr>
              <a:t>rect</a:t>
            </a:r>
            <a:r>
              <a:rPr lang="en-US" sz="2800" kern="100" dirty="0">
                <a:effectLst/>
                <a:ea typeface="Calibri" panose="020F0502020204030204" pitchFamily="34" charset="0"/>
                <a:cs typeface="Times New Roman" panose="02020603050405020304" pitchFamily="18" charset="0"/>
              </a:rPr>
              <a:t> = new Rectangle();</a:t>
            </a:r>
          </a:p>
          <a:p>
            <a:pPr>
              <a:lnSpc>
                <a:spcPct val="107000"/>
              </a:lnSpc>
              <a:spcAft>
                <a:spcPts val="800"/>
              </a:spcAft>
            </a:pPr>
            <a:r>
              <a:rPr lang="en-US" sz="2800" kern="100" dirty="0">
                <a:effectLst/>
                <a:ea typeface="Calibri" panose="020F0502020204030204" pitchFamily="34" charset="0"/>
                <a:cs typeface="Times New Roman" panose="02020603050405020304" pitchFamily="18" charset="0"/>
              </a:rPr>
              <a:t>    </a:t>
            </a:r>
            <a:r>
              <a:rPr lang="en-US" sz="2800" kern="100" dirty="0" err="1">
                <a:effectLst/>
                <a:ea typeface="Calibri" panose="020F0502020204030204" pitchFamily="34" charset="0"/>
                <a:cs typeface="Times New Roman" panose="02020603050405020304" pitchFamily="18" charset="0"/>
              </a:rPr>
              <a:t>System.out.println</a:t>
            </a:r>
            <a:r>
              <a:rPr lang="en-US" sz="2800" kern="100" dirty="0">
                <a:effectLst/>
                <a:ea typeface="Calibri" panose="020F0502020204030204" pitchFamily="34" charset="0"/>
                <a:cs typeface="Times New Roman" panose="02020603050405020304" pitchFamily="18" charset="0"/>
              </a:rPr>
              <a:t>("Enter length of rectangle");</a:t>
            </a:r>
          </a:p>
          <a:p>
            <a:pPr>
              <a:lnSpc>
                <a:spcPct val="107000"/>
              </a:lnSpc>
              <a:spcAft>
                <a:spcPts val="800"/>
              </a:spcAft>
            </a:pPr>
            <a:r>
              <a:rPr lang="en-US" sz="2800" kern="100" dirty="0">
                <a:effectLst/>
                <a:ea typeface="Calibri" panose="020F0502020204030204" pitchFamily="34" charset="0"/>
                <a:cs typeface="Times New Roman" panose="02020603050405020304" pitchFamily="18" charset="0"/>
              </a:rPr>
              <a:t>    </a:t>
            </a:r>
            <a:r>
              <a:rPr lang="en-US" sz="2800" kern="100" dirty="0" err="1">
                <a:effectLst/>
                <a:ea typeface="Calibri" panose="020F0502020204030204" pitchFamily="34" charset="0"/>
                <a:cs typeface="Times New Roman" panose="02020603050405020304" pitchFamily="18" charset="0"/>
              </a:rPr>
              <a:t>rect.length</a:t>
            </a:r>
            <a:r>
              <a:rPr lang="en-US" sz="2800" kern="100" dirty="0">
                <a:effectLst/>
                <a:ea typeface="Calibri" panose="020F0502020204030204" pitchFamily="34" charset="0"/>
                <a:cs typeface="Times New Roman" panose="02020603050405020304" pitchFamily="18" charset="0"/>
              </a:rPr>
              <a:t>=</a:t>
            </a:r>
            <a:r>
              <a:rPr lang="en-US" sz="2800" kern="100" dirty="0" err="1">
                <a:effectLst/>
                <a:ea typeface="Calibri" panose="020F0502020204030204" pitchFamily="34" charset="0"/>
                <a:cs typeface="Times New Roman" panose="02020603050405020304" pitchFamily="18" charset="0"/>
              </a:rPr>
              <a:t>sc.nextDouble</a:t>
            </a:r>
            <a:r>
              <a:rPr lang="en-US" sz="2800" kern="100" dirty="0">
                <a:effectLst/>
                <a:ea typeface="Calibri" panose="020F0502020204030204" pitchFamily="34" charset="0"/>
                <a:cs typeface="Times New Roman" panose="02020603050405020304" pitchFamily="18" charset="0"/>
              </a:rPr>
              <a:t>();</a:t>
            </a:r>
          </a:p>
          <a:p>
            <a:pPr>
              <a:lnSpc>
                <a:spcPct val="107000"/>
              </a:lnSpc>
              <a:spcAft>
                <a:spcPts val="800"/>
              </a:spcAft>
            </a:pPr>
            <a:r>
              <a:rPr lang="en-US" sz="2800" kern="100" dirty="0">
                <a:effectLst/>
                <a:ea typeface="Calibri" panose="020F0502020204030204" pitchFamily="34" charset="0"/>
                <a:cs typeface="Times New Roman" panose="02020603050405020304" pitchFamily="18" charset="0"/>
              </a:rPr>
              <a:t>    </a:t>
            </a:r>
            <a:r>
              <a:rPr lang="en-US" sz="2800" kern="100" dirty="0" err="1">
                <a:effectLst/>
                <a:ea typeface="Calibri" panose="020F0502020204030204" pitchFamily="34" charset="0"/>
                <a:cs typeface="Times New Roman" panose="02020603050405020304" pitchFamily="18" charset="0"/>
              </a:rPr>
              <a:t>System.out.println</a:t>
            </a:r>
            <a:r>
              <a:rPr lang="en-US" sz="2800" kern="100" dirty="0">
                <a:effectLst/>
                <a:ea typeface="Calibri" panose="020F0502020204030204" pitchFamily="34" charset="0"/>
                <a:cs typeface="Times New Roman" panose="02020603050405020304" pitchFamily="18" charset="0"/>
              </a:rPr>
              <a:t>("Enter breadth of rectangle");</a:t>
            </a:r>
          </a:p>
          <a:p>
            <a:pPr>
              <a:lnSpc>
                <a:spcPct val="107000"/>
              </a:lnSpc>
              <a:spcAft>
                <a:spcPts val="800"/>
              </a:spcAft>
            </a:pPr>
            <a:r>
              <a:rPr lang="en-US" sz="2800" kern="100" dirty="0">
                <a:effectLst/>
                <a:ea typeface="Calibri" panose="020F0502020204030204" pitchFamily="34" charset="0"/>
                <a:cs typeface="Times New Roman" panose="02020603050405020304" pitchFamily="18" charset="0"/>
              </a:rPr>
              <a:t>    </a:t>
            </a:r>
            <a:r>
              <a:rPr lang="en-US" sz="2800" kern="100" dirty="0" err="1">
                <a:effectLst/>
                <a:ea typeface="Calibri" panose="020F0502020204030204" pitchFamily="34" charset="0"/>
                <a:cs typeface="Times New Roman" panose="02020603050405020304" pitchFamily="18" charset="0"/>
              </a:rPr>
              <a:t>rect.breadth</a:t>
            </a:r>
            <a:r>
              <a:rPr lang="en-US" sz="2800" kern="100" dirty="0">
                <a:effectLst/>
                <a:ea typeface="Calibri" panose="020F0502020204030204" pitchFamily="34" charset="0"/>
                <a:cs typeface="Times New Roman" panose="02020603050405020304" pitchFamily="18" charset="0"/>
              </a:rPr>
              <a:t>=</a:t>
            </a:r>
            <a:r>
              <a:rPr lang="en-US" sz="2800" kern="100" dirty="0" err="1">
                <a:effectLst/>
                <a:ea typeface="Calibri" panose="020F0502020204030204" pitchFamily="34" charset="0"/>
                <a:cs typeface="Times New Roman" panose="02020603050405020304" pitchFamily="18" charset="0"/>
              </a:rPr>
              <a:t>sc.nextDouble</a:t>
            </a:r>
            <a:r>
              <a:rPr lang="en-US" sz="2800" kern="100" dirty="0">
                <a:effectLst/>
                <a:ea typeface="Calibri" panose="020F0502020204030204" pitchFamily="34" charset="0"/>
                <a:cs typeface="Times New Roman" panose="02020603050405020304" pitchFamily="18" charset="0"/>
              </a:rPr>
              <a:t>();</a:t>
            </a:r>
          </a:p>
          <a:p>
            <a:pPr>
              <a:lnSpc>
                <a:spcPct val="107000"/>
              </a:lnSpc>
              <a:spcAft>
                <a:spcPts val="800"/>
              </a:spcAft>
            </a:pPr>
            <a:r>
              <a:rPr lang="en-US" sz="2800" kern="100" dirty="0">
                <a:effectLst/>
                <a:ea typeface="Calibri" panose="020F0502020204030204" pitchFamily="34" charset="0"/>
                <a:cs typeface="Times New Roman" panose="02020603050405020304" pitchFamily="18" charset="0"/>
              </a:rPr>
              <a:t>    </a:t>
            </a:r>
            <a:r>
              <a:rPr lang="en-US" sz="2800" kern="100" dirty="0" err="1">
                <a:effectLst/>
                <a:ea typeface="Calibri" panose="020F0502020204030204" pitchFamily="34" charset="0"/>
                <a:cs typeface="Times New Roman" panose="02020603050405020304" pitchFamily="18" charset="0"/>
              </a:rPr>
              <a:t>System.out.println</a:t>
            </a:r>
            <a:r>
              <a:rPr lang="en-US" sz="2800" kern="100" dirty="0">
                <a:effectLst/>
                <a:ea typeface="Calibri" panose="020F0502020204030204" pitchFamily="34" charset="0"/>
                <a:cs typeface="Times New Roman" panose="02020603050405020304" pitchFamily="18" charset="0"/>
              </a:rPr>
              <a:t>("Area of rectangle:" + </a:t>
            </a:r>
            <a:r>
              <a:rPr lang="en-US" sz="2800" kern="100" dirty="0" err="1">
                <a:effectLst/>
                <a:ea typeface="Calibri" panose="020F0502020204030204" pitchFamily="34" charset="0"/>
                <a:cs typeface="Times New Roman" panose="02020603050405020304" pitchFamily="18" charset="0"/>
              </a:rPr>
              <a:t>rect.getArea</a:t>
            </a:r>
            <a:r>
              <a:rPr lang="en-US" sz="2800" kern="100" dirty="0">
                <a:effectLst/>
                <a:ea typeface="Calibri" panose="020F0502020204030204" pitchFamily="34" charset="0"/>
                <a:cs typeface="Times New Roman" panose="02020603050405020304" pitchFamily="18" charset="0"/>
              </a:rPr>
              <a:t>());</a:t>
            </a:r>
          </a:p>
          <a:p>
            <a:pPr>
              <a:lnSpc>
                <a:spcPct val="107000"/>
              </a:lnSpc>
              <a:spcAft>
                <a:spcPts val="800"/>
              </a:spcAft>
            </a:pPr>
            <a:r>
              <a:rPr lang="en-US" sz="2800" kern="100" dirty="0">
                <a:effectLst/>
                <a:ea typeface="Calibri" panose="020F0502020204030204" pitchFamily="34" charset="0"/>
                <a:cs typeface="Times New Roman" panose="02020603050405020304" pitchFamily="18" charset="0"/>
              </a:rPr>
              <a:t>    </a:t>
            </a:r>
            <a:r>
              <a:rPr lang="en-US" sz="2800" kern="100" dirty="0" err="1">
                <a:effectLst/>
                <a:ea typeface="Calibri" panose="020F0502020204030204" pitchFamily="34" charset="0"/>
                <a:cs typeface="Times New Roman" panose="02020603050405020304" pitchFamily="18" charset="0"/>
              </a:rPr>
              <a:t>System.out.println</a:t>
            </a:r>
            <a:r>
              <a:rPr lang="en-US" sz="2800" kern="100" dirty="0">
                <a:effectLst/>
                <a:ea typeface="Calibri" panose="020F0502020204030204" pitchFamily="34" charset="0"/>
                <a:cs typeface="Times New Roman" panose="02020603050405020304" pitchFamily="18" charset="0"/>
              </a:rPr>
              <a:t>("Perimeter of rectangle:"</a:t>
            </a:r>
          </a:p>
          <a:p>
            <a:pPr>
              <a:lnSpc>
                <a:spcPct val="107000"/>
              </a:lnSpc>
              <a:spcAft>
                <a:spcPts val="800"/>
              </a:spcAft>
            </a:pPr>
            <a:r>
              <a:rPr lang="en-US" sz="2800" kern="100" dirty="0">
                <a:ea typeface="Calibri" panose="020F0502020204030204" pitchFamily="34" charset="0"/>
                <a:cs typeface="Times New Roman" panose="02020603050405020304" pitchFamily="18" charset="0"/>
              </a:rPr>
              <a:t>			</a:t>
            </a:r>
            <a:r>
              <a:rPr lang="en-US" sz="2800" kern="100" dirty="0">
                <a:effectLst/>
                <a:ea typeface="Calibri" panose="020F0502020204030204" pitchFamily="34" charset="0"/>
                <a:cs typeface="Times New Roman" panose="02020603050405020304" pitchFamily="18" charset="0"/>
              </a:rPr>
              <a:t> + </a:t>
            </a:r>
            <a:r>
              <a:rPr lang="en-US" sz="2800" kern="100" dirty="0" err="1">
                <a:effectLst/>
                <a:ea typeface="Calibri" panose="020F0502020204030204" pitchFamily="34" charset="0"/>
                <a:cs typeface="Times New Roman" panose="02020603050405020304" pitchFamily="18" charset="0"/>
              </a:rPr>
              <a:t>rect.getPerimeter</a:t>
            </a:r>
            <a:r>
              <a:rPr lang="en-US" sz="2800" kern="100" dirty="0">
                <a:effectLst/>
                <a:ea typeface="Calibri" panose="020F0502020204030204" pitchFamily="34" charset="0"/>
                <a:cs typeface="Times New Roman" panose="02020603050405020304" pitchFamily="18" charset="0"/>
              </a:rPr>
              <a:t>());</a:t>
            </a:r>
          </a:p>
          <a:p>
            <a:pPr>
              <a:lnSpc>
                <a:spcPct val="107000"/>
              </a:lnSpc>
              <a:spcAft>
                <a:spcPts val="800"/>
              </a:spcAft>
            </a:pPr>
            <a:r>
              <a:rPr lang="en-US" sz="2800" kern="100" dirty="0">
                <a:effectLst/>
                <a:ea typeface="Calibri" panose="020F0502020204030204" pitchFamily="34" charset="0"/>
                <a:cs typeface="Times New Roman" panose="02020603050405020304" pitchFamily="18" charset="0"/>
              </a:rPr>
              <a:t>  } </a:t>
            </a:r>
            <a:r>
              <a:rPr lang="en-US" sz="2800" dirty="0">
                <a:effectLst/>
                <a:ea typeface="Calibri" panose="020F0502020204030204" pitchFamily="34" charset="0"/>
                <a:cs typeface="Times New Roman" panose="02020603050405020304" pitchFamily="18" charset="0"/>
              </a:rPr>
              <a:t>}</a:t>
            </a:r>
            <a:endParaRPr lang="en-US" sz="2800" dirty="0"/>
          </a:p>
        </p:txBody>
      </p:sp>
    </p:spTree>
    <p:extLst>
      <p:ext uri="{BB962C8B-B14F-4D97-AF65-F5344CB8AC3E}">
        <p14:creationId xmlns:p14="http://schemas.microsoft.com/office/powerpoint/2010/main" val="1716266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76200" y="609600"/>
            <a:ext cx="8915400" cy="5410200"/>
          </a:xfrm>
        </p:spPr>
        <p:txBody>
          <a:bodyPr/>
          <a:lstStyle/>
          <a:p>
            <a:pPr marL="0" indent="0" algn="just">
              <a:buNone/>
            </a:pPr>
            <a:r>
              <a:rPr lang="en-US" sz="3200" b="1" dirty="0"/>
              <a:t>Constructor</a:t>
            </a:r>
          </a:p>
          <a:p>
            <a:pPr algn="just"/>
            <a:r>
              <a:rPr lang="en-US" sz="3200" dirty="0"/>
              <a:t>A constructor help to </a:t>
            </a:r>
            <a:r>
              <a:rPr lang="en-US" sz="3200" dirty="0">
                <a:solidFill>
                  <a:srgbClr val="FF0000"/>
                </a:solidFill>
              </a:rPr>
              <a:t>initialize an object(give values) immediately upon creation.</a:t>
            </a:r>
          </a:p>
          <a:p>
            <a:pPr algn="just"/>
            <a:r>
              <a:rPr lang="en-US" sz="3200" dirty="0"/>
              <a:t>Constructor is a special method inside the class.</a:t>
            </a:r>
          </a:p>
          <a:p>
            <a:pPr algn="just"/>
            <a:r>
              <a:rPr lang="en-US" sz="3200" dirty="0"/>
              <a:t>Constructor has the </a:t>
            </a:r>
            <a:r>
              <a:rPr lang="en-US" sz="3200" dirty="0">
                <a:solidFill>
                  <a:srgbClr val="FF0000"/>
                </a:solidFill>
              </a:rPr>
              <a:t>same name as the class </a:t>
            </a:r>
            <a:r>
              <a:rPr lang="en-US" sz="3200" dirty="0"/>
              <a:t>in which it  resides.</a:t>
            </a:r>
          </a:p>
          <a:p>
            <a:pPr algn="just"/>
            <a:r>
              <a:rPr lang="en-US" sz="3200" dirty="0"/>
              <a:t>Once defined, the constructor is </a:t>
            </a:r>
            <a:r>
              <a:rPr lang="en-US" sz="3200" dirty="0">
                <a:solidFill>
                  <a:srgbClr val="FF0000"/>
                </a:solidFill>
              </a:rPr>
              <a:t>automatically called immediately after the object is created, before the new operator completes.</a:t>
            </a:r>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25</a:t>
            </a:fld>
            <a:endParaRPr lang="en-US"/>
          </a:p>
        </p:txBody>
      </p:sp>
    </p:spTree>
    <p:extLst>
      <p:ext uri="{BB962C8B-B14F-4D97-AF65-F5344CB8AC3E}">
        <p14:creationId xmlns:p14="http://schemas.microsoft.com/office/powerpoint/2010/main" val="423823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374650" y="292608"/>
            <a:ext cx="8613648" cy="6374892"/>
          </a:xfrm>
        </p:spPr>
        <p:txBody>
          <a:bodyPr/>
          <a:lstStyle/>
          <a:p>
            <a:pPr marL="0" indent="0" algn="just">
              <a:buNone/>
            </a:pPr>
            <a:r>
              <a:rPr lang="en-US" sz="3200" dirty="0"/>
              <a:t>• The </a:t>
            </a:r>
            <a:r>
              <a:rPr lang="en-US" sz="3200" dirty="0">
                <a:solidFill>
                  <a:srgbClr val="FF0000"/>
                </a:solidFill>
              </a:rPr>
              <a:t>constructor name must match the class name</a:t>
            </a:r>
            <a:r>
              <a:rPr lang="en-US" sz="3200" dirty="0"/>
              <a:t>, and it cannot have a return type </a:t>
            </a:r>
          </a:p>
          <a:p>
            <a:pPr algn="just"/>
            <a:r>
              <a:rPr lang="en-US" sz="3200" dirty="0"/>
              <a:t>If there is no constructor in a class, compiler automatically creates a default constructor.</a:t>
            </a:r>
          </a:p>
          <a:p>
            <a:pPr marL="0" indent="0" algn="just">
              <a:buNone/>
            </a:pPr>
            <a:r>
              <a:rPr lang="en-US" sz="3200" dirty="0"/>
              <a:t>• All classes have constructors by default</a:t>
            </a:r>
          </a:p>
          <a:p>
            <a:pPr marL="0" indent="0" algn="just">
              <a:buNone/>
            </a:pPr>
            <a:r>
              <a:rPr lang="en-US" sz="3200" dirty="0"/>
              <a:t>• If you do not create a class constructor yourself, Java creates one for you. Then you are not able to set initial values for object attributes.</a:t>
            </a:r>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26</a:t>
            </a:fld>
            <a:endParaRPr lang="en-US"/>
          </a:p>
        </p:txBody>
      </p:sp>
    </p:spTree>
    <p:extLst>
      <p:ext uri="{BB962C8B-B14F-4D97-AF65-F5344CB8AC3E}">
        <p14:creationId xmlns:p14="http://schemas.microsoft.com/office/powerpoint/2010/main" val="11901931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76200" y="609600"/>
            <a:ext cx="8915400" cy="5410200"/>
          </a:xfrm>
        </p:spPr>
        <p:txBody>
          <a:bodyPr/>
          <a:lstStyle/>
          <a:p>
            <a:pPr marL="0" indent="0">
              <a:buNone/>
            </a:pPr>
            <a:r>
              <a:rPr lang="en-US" sz="3600" dirty="0"/>
              <a:t>• Two types of constructors</a:t>
            </a:r>
          </a:p>
          <a:p>
            <a:pPr lvl="1">
              <a:buFont typeface="Arial" panose="020B0604020202020204" pitchFamily="34" charset="0"/>
              <a:buChar char="•"/>
            </a:pPr>
            <a:r>
              <a:rPr lang="en-US" sz="3200" dirty="0">
                <a:solidFill>
                  <a:srgbClr val="FF0000"/>
                </a:solidFill>
              </a:rPr>
              <a:t>Default</a:t>
            </a:r>
            <a:r>
              <a:rPr lang="en-US" sz="3200" dirty="0"/>
              <a:t> constructor</a:t>
            </a:r>
          </a:p>
          <a:p>
            <a:pPr lvl="1">
              <a:buFont typeface="Arial" panose="020B0604020202020204" pitchFamily="34" charset="0"/>
              <a:buChar char="•"/>
            </a:pPr>
            <a:r>
              <a:rPr lang="en-US" sz="3200" dirty="0">
                <a:solidFill>
                  <a:srgbClr val="FF0000"/>
                </a:solidFill>
              </a:rPr>
              <a:t>Parameterized</a:t>
            </a:r>
            <a:r>
              <a:rPr lang="en-US" sz="3200" dirty="0"/>
              <a:t> constructor</a:t>
            </a:r>
          </a:p>
          <a:p>
            <a:pPr marL="0" indent="0">
              <a:buNone/>
            </a:pPr>
            <a:endParaRPr lang="en-US" sz="3600" dirty="0"/>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27</a:t>
            </a:fld>
            <a:endParaRPr lang="en-US"/>
          </a:p>
        </p:txBody>
      </p:sp>
    </p:spTree>
    <p:extLst>
      <p:ext uri="{BB962C8B-B14F-4D97-AF65-F5344CB8AC3E}">
        <p14:creationId xmlns:p14="http://schemas.microsoft.com/office/powerpoint/2010/main" val="1783870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FCFCE-593E-DD67-6052-6C886AD1E371}"/>
              </a:ext>
            </a:extLst>
          </p:cNvPr>
          <p:cNvSpPr>
            <a:spLocks noGrp="1"/>
          </p:cNvSpPr>
          <p:nvPr>
            <p:ph sz="quarter" idx="1"/>
          </p:nvPr>
        </p:nvSpPr>
        <p:spPr>
          <a:xfrm>
            <a:off x="304800" y="76200"/>
            <a:ext cx="8534400" cy="6400800"/>
          </a:xfrm>
        </p:spPr>
        <p:txBody>
          <a:bodyPr/>
          <a:lstStyle/>
          <a:p>
            <a:pPr marL="0" indent="0" algn="just">
              <a:buNone/>
            </a:pPr>
            <a:r>
              <a:rPr lang="en-US" sz="3200" b="1" dirty="0"/>
              <a:t>Default constructor</a:t>
            </a:r>
          </a:p>
          <a:p>
            <a:pPr algn="just">
              <a:buFont typeface="Arial" panose="020B0604020202020204" pitchFamily="34" charset="0"/>
              <a:buChar char="•"/>
            </a:pPr>
            <a:r>
              <a:rPr lang="en-US" sz="3200" dirty="0"/>
              <a:t>Default constructor has no arguments or parameters.</a:t>
            </a:r>
          </a:p>
          <a:p>
            <a:pPr marL="0" indent="0" algn="just">
              <a:buNone/>
            </a:pPr>
            <a:r>
              <a:rPr lang="en-US" sz="3200" dirty="0"/>
              <a:t>• When a constructor is not explicitly defined for a class, Java creates a default constructor for the class.</a:t>
            </a:r>
          </a:p>
          <a:p>
            <a:pPr marL="0" indent="0" algn="just">
              <a:buNone/>
            </a:pPr>
            <a:r>
              <a:rPr lang="en-US" sz="3200" dirty="0"/>
              <a:t>• The purpose of a default constructor </a:t>
            </a:r>
            <a:r>
              <a:rPr lang="en-US" sz="3200"/>
              <a:t>is to </a:t>
            </a:r>
            <a:r>
              <a:rPr lang="en-US" sz="3200" dirty="0"/>
              <a:t>provide the default values to the object like 0, null, etc., depending on the type.</a:t>
            </a:r>
          </a:p>
          <a:p>
            <a:pPr marL="0" indent="0" algn="just">
              <a:buNone/>
            </a:pPr>
            <a:r>
              <a:rPr lang="en-US" sz="3200" dirty="0" err="1"/>
              <a:t>Eg</a:t>
            </a:r>
            <a:r>
              <a:rPr lang="en-US" sz="3200" dirty="0"/>
              <a:t>:</a:t>
            </a:r>
          </a:p>
        </p:txBody>
      </p:sp>
      <p:sp>
        <p:nvSpPr>
          <p:cNvPr id="4" name="Slide Number Placeholder 3">
            <a:extLst>
              <a:ext uri="{FF2B5EF4-FFF2-40B4-BE49-F238E27FC236}">
                <a16:creationId xmlns:a16="http://schemas.microsoft.com/office/drawing/2014/main" id="{49BAC0E0-B859-F3C0-E756-0C3E7F3574A6}"/>
              </a:ext>
            </a:extLst>
          </p:cNvPr>
          <p:cNvSpPr>
            <a:spLocks noGrp="1"/>
          </p:cNvSpPr>
          <p:nvPr>
            <p:ph type="sldNum" sz="quarter" idx="12"/>
          </p:nvPr>
        </p:nvSpPr>
        <p:spPr/>
        <p:txBody>
          <a:bodyPr/>
          <a:lstStyle/>
          <a:p>
            <a:pPr>
              <a:defRPr/>
            </a:pPr>
            <a:fld id="{7F50D522-CBA4-4108-90DA-9951FACF1C08}" type="slidenum">
              <a:rPr lang="en-US" smtClean="0"/>
              <a:pPr>
                <a:defRPr/>
              </a:pPr>
              <a:t>28</a:t>
            </a:fld>
            <a:endParaRPr lang="en-US"/>
          </a:p>
        </p:txBody>
      </p:sp>
      <p:pic>
        <p:nvPicPr>
          <p:cNvPr id="5" name="Picture 4">
            <a:extLst>
              <a:ext uri="{FF2B5EF4-FFF2-40B4-BE49-F238E27FC236}">
                <a16:creationId xmlns:a16="http://schemas.microsoft.com/office/drawing/2014/main" id="{5AD2D5BC-AC10-7D74-EEDC-9C26C03019A6}"/>
              </a:ext>
            </a:extLst>
          </p:cNvPr>
          <p:cNvPicPr>
            <a:picLocks noChangeAspect="1"/>
          </p:cNvPicPr>
          <p:nvPr/>
        </p:nvPicPr>
        <p:blipFill>
          <a:blip r:embed="rId2"/>
          <a:stretch>
            <a:fillRect/>
          </a:stretch>
        </p:blipFill>
        <p:spPr>
          <a:xfrm>
            <a:off x="1981200" y="3733800"/>
            <a:ext cx="5867185" cy="2762250"/>
          </a:xfrm>
          <a:prstGeom prst="rect">
            <a:avLst/>
          </a:prstGeom>
        </p:spPr>
      </p:pic>
    </p:spTree>
    <p:extLst>
      <p:ext uri="{BB962C8B-B14F-4D97-AF65-F5344CB8AC3E}">
        <p14:creationId xmlns:p14="http://schemas.microsoft.com/office/powerpoint/2010/main" val="4097735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7C89-B33A-FA81-DC16-845AF32E1799}"/>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B7A70BBF-210A-170B-44E3-26BA99B0930C}"/>
              </a:ext>
            </a:extLst>
          </p:cNvPr>
          <p:cNvPicPr>
            <a:picLocks noGrp="1" noChangeAspect="1"/>
          </p:cNvPicPr>
          <p:nvPr>
            <p:ph sz="quarter" idx="1"/>
          </p:nvPr>
        </p:nvPicPr>
        <p:blipFill>
          <a:blip r:embed="rId2"/>
          <a:stretch>
            <a:fillRect/>
          </a:stretch>
        </p:blipFill>
        <p:spPr>
          <a:xfrm>
            <a:off x="341516" y="1630969"/>
            <a:ext cx="8497684" cy="3931631"/>
          </a:xfrm>
        </p:spPr>
      </p:pic>
      <p:sp>
        <p:nvSpPr>
          <p:cNvPr id="4" name="Slide Number Placeholder 3">
            <a:extLst>
              <a:ext uri="{FF2B5EF4-FFF2-40B4-BE49-F238E27FC236}">
                <a16:creationId xmlns:a16="http://schemas.microsoft.com/office/drawing/2014/main" id="{15B706D2-4262-99D2-B541-703F7109C7F5}"/>
              </a:ext>
            </a:extLst>
          </p:cNvPr>
          <p:cNvSpPr>
            <a:spLocks noGrp="1"/>
          </p:cNvSpPr>
          <p:nvPr>
            <p:ph type="sldNum" sz="quarter" idx="12"/>
          </p:nvPr>
        </p:nvSpPr>
        <p:spPr/>
        <p:txBody>
          <a:bodyPr/>
          <a:lstStyle/>
          <a:p>
            <a:pPr>
              <a:defRPr/>
            </a:pPr>
            <a:fld id="{7F50D522-CBA4-4108-90DA-9951FACF1C08}" type="slidenum">
              <a:rPr lang="en-US" smtClean="0"/>
              <a:pPr>
                <a:defRPr/>
              </a:pPr>
              <a:t>29</a:t>
            </a:fld>
            <a:endParaRPr lang="en-US"/>
          </a:p>
        </p:txBody>
      </p:sp>
    </p:spTree>
    <p:extLst>
      <p:ext uri="{BB962C8B-B14F-4D97-AF65-F5344CB8AC3E}">
        <p14:creationId xmlns:p14="http://schemas.microsoft.com/office/powerpoint/2010/main" val="10299057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939A4-A394-E70D-D8BF-E5361E9F5A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0E232A-28F5-9EC1-FFAF-BA00603E7FF9}"/>
              </a:ext>
            </a:extLst>
          </p:cNvPr>
          <p:cNvSpPr>
            <a:spLocks noGrp="1"/>
          </p:cNvSpPr>
          <p:nvPr>
            <p:ph sz="quarter" idx="1"/>
          </p:nvPr>
        </p:nvSpPr>
        <p:spPr/>
        <p:txBody>
          <a:bodyPr/>
          <a:lstStyle/>
          <a:p>
            <a:r>
              <a:rPr lang="en-US" dirty="0"/>
              <a:t>class Box</a:t>
            </a:r>
          </a:p>
          <a:p>
            <a:r>
              <a:rPr lang="en-US" dirty="0"/>
              <a:t>{</a:t>
            </a:r>
          </a:p>
          <a:p>
            <a:r>
              <a:rPr lang="en-US" dirty="0"/>
              <a:t> double length;</a:t>
            </a:r>
          </a:p>
          <a:p>
            <a:r>
              <a:rPr lang="en-US" dirty="0"/>
              <a:t> double width;</a:t>
            </a:r>
          </a:p>
          <a:p>
            <a:r>
              <a:rPr lang="en-US" dirty="0"/>
              <a:t> double height;</a:t>
            </a:r>
          </a:p>
          <a:p>
            <a:r>
              <a:rPr lang="en-US" dirty="0"/>
              <a:t> Box()</a:t>
            </a:r>
          </a:p>
          <a:p>
            <a:r>
              <a:rPr lang="en-US" dirty="0"/>
              <a:t>{</a:t>
            </a:r>
          </a:p>
          <a:p>
            <a:r>
              <a:rPr lang="en-US" dirty="0"/>
              <a:t>   </a:t>
            </a:r>
            <a:r>
              <a:rPr lang="en-US" dirty="0" err="1"/>
              <a:t>System.out.println</a:t>
            </a:r>
            <a:r>
              <a:rPr lang="en-US" dirty="0"/>
              <a:t>("Inside Constructor");</a:t>
            </a:r>
          </a:p>
          <a:p>
            <a:r>
              <a:rPr lang="en-US" dirty="0"/>
              <a:t>   length=10;</a:t>
            </a:r>
          </a:p>
          <a:p>
            <a:r>
              <a:rPr lang="en-US" dirty="0"/>
              <a:t>   width=20;</a:t>
            </a:r>
          </a:p>
          <a:p>
            <a:r>
              <a:rPr lang="en-US" dirty="0"/>
              <a:t>   height=30;</a:t>
            </a:r>
          </a:p>
          <a:p>
            <a:r>
              <a:rPr lang="en-US" dirty="0"/>
              <a:t>}</a:t>
            </a:r>
          </a:p>
          <a:p>
            <a:r>
              <a:rPr lang="en-US" dirty="0"/>
              <a:t>double volume()</a:t>
            </a:r>
          </a:p>
          <a:p>
            <a:r>
              <a:rPr lang="en-US" dirty="0"/>
              <a:t> {</a:t>
            </a:r>
          </a:p>
          <a:p>
            <a:r>
              <a:rPr lang="en-US" dirty="0"/>
              <a:t>     double vol=length*width* height;</a:t>
            </a:r>
          </a:p>
          <a:p>
            <a:r>
              <a:rPr lang="en-US" dirty="0"/>
              <a:t>    return vol;</a:t>
            </a:r>
          </a:p>
          <a:p>
            <a:r>
              <a:rPr lang="en-US" dirty="0"/>
              <a:t> }</a:t>
            </a:r>
          </a:p>
          <a:p>
            <a:r>
              <a:rPr lang="en-US" dirty="0"/>
              <a:t>}</a:t>
            </a:r>
          </a:p>
          <a:p>
            <a:r>
              <a:rPr lang="en-US" dirty="0"/>
              <a:t>class </a:t>
            </a:r>
            <a:r>
              <a:rPr lang="en-US" dirty="0" err="1"/>
              <a:t>BoxDemo</a:t>
            </a:r>
            <a:endParaRPr lang="en-US" dirty="0"/>
          </a:p>
          <a:p>
            <a:r>
              <a:rPr lang="en-US" dirty="0"/>
              <a:t> {</a:t>
            </a:r>
          </a:p>
          <a:p>
            <a:r>
              <a:rPr lang="en-US" dirty="0"/>
              <a:t>    public static void main(String[]  </a:t>
            </a:r>
            <a:r>
              <a:rPr lang="en-US" dirty="0" err="1"/>
              <a:t>args</a:t>
            </a:r>
            <a:r>
              <a:rPr lang="en-US" dirty="0"/>
              <a:t>) </a:t>
            </a:r>
          </a:p>
          <a:p>
            <a:r>
              <a:rPr lang="en-US" dirty="0"/>
              <a:t>{</a:t>
            </a:r>
          </a:p>
          <a:p>
            <a:r>
              <a:rPr lang="en-US" dirty="0"/>
              <a:t>        Box mybox1 =new Box();</a:t>
            </a:r>
          </a:p>
          <a:p>
            <a:r>
              <a:rPr lang="en-US" dirty="0"/>
              <a:t>        Box mybox2 =new Box();</a:t>
            </a:r>
          </a:p>
          <a:p>
            <a:r>
              <a:rPr lang="en-US" dirty="0"/>
              <a:t>        double v;</a:t>
            </a:r>
          </a:p>
          <a:p>
            <a:r>
              <a:rPr lang="en-US" dirty="0"/>
              <a:t>        v=mybox1.volume();</a:t>
            </a:r>
          </a:p>
          <a:p>
            <a:r>
              <a:rPr lang="en-US" dirty="0"/>
              <a:t>        </a:t>
            </a:r>
            <a:r>
              <a:rPr lang="en-US" dirty="0" err="1"/>
              <a:t>System.out.println</a:t>
            </a:r>
            <a:r>
              <a:rPr lang="en-US" dirty="0"/>
              <a:t>("volume is="+v);</a:t>
            </a:r>
          </a:p>
          <a:p>
            <a:r>
              <a:rPr lang="en-US" dirty="0"/>
              <a:t>        v=mybox2.volume();</a:t>
            </a:r>
          </a:p>
          <a:p>
            <a:r>
              <a:rPr lang="en-US" dirty="0"/>
              <a:t>        </a:t>
            </a:r>
            <a:r>
              <a:rPr lang="en-US" dirty="0" err="1"/>
              <a:t>System.out.println</a:t>
            </a:r>
            <a:r>
              <a:rPr lang="en-US" dirty="0"/>
              <a:t>("volume is="+v);</a:t>
            </a:r>
          </a:p>
          <a:p>
            <a:r>
              <a:rPr lang="en-US" dirty="0"/>
              <a:t>         }</a:t>
            </a:r>
          </a:p>
          <a:p>
            <a:r>
              <a:rPr lang="en-US" dirty="0"/>
              <a:t>}</a:t>
            </a:r>
          </a:p>
          <a:p>
            <a:endParaRPr lang="en-US" dirty="0"/>
          </a:p>
        </p:txBody>
      </p:sp>
      <p:sp>
        <p:nvSpPr>
          <p:cNvPr id="4" name="Slide Number Placeholder 3">
            <a:extLst>
              <a:ext uri="{FF2B5EF4-FFF2-40B4-BE49-F238E27FC236}">
                <a16:creationId xmlns:a16="http://schemas.microsoft.com/office/drawing/2014/main" id="{628E3E07-60C4-E391-9526-A846647E6FE4}"/>
              </a:ext>
            </a:extLst>
          </p:cNvPr>
          <p:cNvSpPr>
            <a:spLocks noGrp="1"/>
          </p:cNvSpPr>
          <p:nvPr>
            <p:ph type="sldNum" sz="quarter" idx="12"/>
          </p:nvPr>
        </p:nvSpPr>
        <p:spPr/>
        <p:txBody>
          <a:bodyPr/>
          <a:lstStyle/>
          <a:p>
            <a:pPr>
              <a:defRPr/>
            </a:pPr>
            <a:fld id="{7F50D522-CBA4-4108-90DA-9951FACF1C08}" type="slidenum">
              <a:rPr lang="en-US" smtClean="0"/>
              <a:pPr>
                <a:defRPr/>
              </a:pPr>
              <a:t>30</a:t>
            </a:fld>
            <a:endParaRPr lang="en-US"/>
          </a:p>
        </p:txBody>
      </p:sp>
    </p:spTree>
    <p:extLst>
      <p:ext uri="{BB962C8B-B14F-4D97-AF65-F5344CB8AC3E}">
        <p14:creationId xmlns:p14="http://schemas.microsoft.com/office/powerpoint/2010/main" val="1559477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620030-AABA-C867-2027-B1BD586EEDA6}"/>
              </a:ext>
            </a:extLst>
          </p:cNvPr>
          <p:cNvSpPr>
            <a:spLocks noGrp="1"/>
          </p:cNvSpPr>
          <p:nvPr>
            <p:ph sz="quarter" idx="1"/>
          </p:nvPr>
        </p:nvSpPr>
        <p:spPr>
          <a:xfrm>
            <a:off x="304800" y="190500"/>
            <a:ext cx="8382000" cy="5829300"/>
          </a:xfrm>
        </p:spPr>
        <p:txBody>
          <a:bodyPr/>
          <a:lstStyle/>
          <a:p>
            <a:pPr marL="0" indent="0">
              <a:buNone/>
            </a:pPr>
            <a:r>
              <a:rPr lang="en-US" sz="2800" dirty="0"/>
              <a:t>class Box</a:t>
            </a:r>
          </a:p>
          <a:p>
            <a:pPr marL="0" indent="0">
              <a:buNone/>
            </a:pPr>
            <a:r>
              <a:rPr lang="en-US" sz="2800" dirty="0"/>
              <a:t>{</a:t>
            </a:r>
          </a:p>
          <a:p>
            <a:pPr marL="0" indent="0">
              <a:buNone/>
            </a:pPr>
            <a:r>
              <a:rPr lang="en-US" sz="2800" dirty="0"/>
              <a:t> double length;</a:t>
            </a:r>
          </a:p>
          <a:p>
            <a:pPr marL="0" indent="0">
              <a:buNone/>
            </a:pPr>
            <a:r>
              <a:rPr lang="en-US" sz="2800" dirty="0"/>
              <a:t> double width;</a:t>
            </a:r>
          </a:p>
          <a:p>
            <a:pPr marL="0" indent="0">
              <a:buNone/>
            </a:pPr>
            <a:r>
              <a:rPr lang="en-US" sz="2800" dirty="0"/>
              <a:t> double height;</a:t>
            </a:r>
          </a:p>
          <a:p>
            <a:pPr marL="0" indent="0">
              <a:buNone/>
            </a:pPr>
            <a:r>
              <a:rPr lang="en-US" sz="2800" dirty="0"/>
              <a:t> Box()</a:t>
            </a:r>
          </a:p>
          <a:p>
            <a:pPr marL="0" indent="0">
              <a:buNone/>
            </a:pPr>
            <a:r>
              <a:rPr lang="en-US" sz="2800" dirty="0"/>
              <a:t>{</a:t>
            </a:r>
          </a:p>
          <a:p>
            <a:pPr marL="0" indent="0">
              <a:buNone/>
            </a:pPr>
            <a:r>
              <a:rPr lang="en-US" sz="2800" dirty="0"/>
              <a:t>   </a:t>
            </a:r>
            <a:r>
              <a:rPr lang="en-US" sz="2800" dirty="0" err="1"/>
              <a:t>System.out.println</a:t>
            </a:r>
            <a:r>
              <a:rPr lang="en-US" sz="2800" dirty="0"/>
              <a:t>("Inside Constructor");</a:t>
            </a:r>
          </a:p>
          <a:p>
            <a:pPr marL="0" indent="0">
              <a:buNone/>
            </a:pPr>
            <a:r>
              <a:rPr lang="en-US" sz="2800" dirty="0"/>
              <a:t>   length=10;</a:t>
            </a:r>
          </a:p>
          <a:p>
            <a:pPr marL="0" indent="0">
              <a:buNone/>
            </a:pPr>
            <a:r>
              <a:rPr lang="en-US" sz="2800" dirty="0"/>
              <a:t>   width=20;</a:t>
            </a:r>
          </a:p>
          <a:p>
            <a:pPr marL="0" indent="0">
              <a:buNone/>
            </a:pPr>
            <a:r>
              <a:rPr lang="en-US" sz="2800" dirty="0"/>
              <a:t>   height=30;</a:t>
            </a:r>
          </a:p>
          <a:p>
            <a:pPr marL="0" indent="0">
              <a:buNone/>
            </a:pPr>
            <a:r>
              <a:rPr lang="en-US" sz="2800" dirty="0"/>
              <a:t>}</a:t>
            </a:r>
          </a:p>
          <a:p>
            <a:pPr marL="0" indent="0">
              <a:buNone/>
            </a:pPr>
            <a:endParaRPr lang="en-US" sz="2800" dirty="0"/>
          </a:p>
        </p:txBody>
      </p:sp>
      <p:sp>
        <p:nvSpPr>
          <p:cNvPr id="4" name="Slide Number Placeholder 3">
            <a:extLst>
              <a:ext uri="{FF2B5EF4-FFF2-40B4-BE49-F238E27FC236}">
                <a16:creationId xmlns:a16="http://schemas.microsoft.com/office/drawing/2014/main" id="{E47F2D7C-D92D-05B8-EBBC-364668E42865}"/>
              </a:ext>
            </a:extLst>
          </p:cNvPr>
          <p:cNvSpPr>
            <a:spLocks noGrp="1"/>
          </p:cNvSpPr>
          <p:nvPr>
            <p:ph type="sldNum" sz="quarter" idx="12"/>
          </p:nvPr>
        </p:nvSpPr>
        <p:spPr/>
        <p:txBody>
          <a:bodyPr/>
          <a:lstStyle/>
          <a:p>
            <a:pPr>
              <a:defRPr/>
            </a:pPr>
            <a:fld id="{7F50D522-CBA4-4108-90DA-9951FACF1C08}" type="slidenum">
              <a:rPr lang="en-US" smtClean="0"/>
              <a:pPr>
                <a:defRPr/>
              </a:pPr>
              <a:t>31</a:t>
            </a:fld>
            <a:endParaRPr lang="en-US"/>
          </a:p>
        </p:txBody>
      </p:sp>
    </p:spTree>
    <p:extLst>
      <p:ext uri="{BB962C8B-B14F-4D97-AF65-F5344CB8AC3E}">
        <p14:creationId xmlns:p14="http://schemas.microsoft.com/office/powerpoint/2010/main" val="26879512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620030-AABA-C867-2027-B1BD586EEDA6}"/>
              </a:ext>
            </a:extLst>
          </p:cNvPr>
          <p:cNvSpPr>
            <a:spLocks noGrp="1"/>
          </p:cNvSpPr>
          <p:nvPr>
            <p:ph sz="quarter" idx="1"/>
          </p:nvPr>
        </p:nvSpPr>
        <p:spPr>
          <a:xfrm>
            <a:off x="381000" y="0"/>
            <a:ext cx="8305800" cy="5829300"/>
          </a:xfrm>
        </p:spPr>
        <p:txBody>
          <a:bodyPr/>
          <a:lstStyle/>
          <a:p>
            <a:pPr marL="0" indent="0">
              <a:spcBef>
                <a:spcPts val="0"/>
              </a:spcBef>
              <a:buNone/>
            </a:pPr>
            <a:r>
              <a:rPr lang="en-US" sz="2400" dirty="0"/>
              <a:t>double volume()</a:t>
            </a:r>
          </a:p>
          <a:p>
            <a:pPr marL="0" indent="0">
              <a:spcBef>
                <a:spcPts val="0"/>
              </a:spcBef>
              <a:buNone/>
            </a:pPr>
            <a:r>
              <a:rPr lang="en-US" sz="2400" dirty="0"/>
              <a:t> {</a:t>
            </a:r>
          </a:p>
          <a:p>
            <a:pPr marL="0" indent="0">
              <a:spcBef>
                <a:spcPts val="0"/>
              </a:spcBef>
              <a:buNone/>
            </a:pPr>
            <a:r>
              <a:rPr lang="en-US" sz="2400" dirty="0"/>
              <a:t>     double vol=length*width* height;</a:t>
            </a:r>
          </a:p>
          <a:p>
            <a:pPr marL="0" indent="0">
              <a:spcBef>
                <a:spcPts val="0"/>
              </a:spcBef>
              <a:buNone/>
            </a:pPr>
            <a:r>
              <a:rPr lang="en-US" sz="2400" dirty="0"/>
              <a:t>    return vol;</a:t>
            </a:r>
          </a:p>
          <a:p>
            <a:pPr marL="0" indent="0">
              <a:spcBef>
                <a:spcPts val="0"/>
              </a:spcBef>
              <a:buNone/>
            </a:pPr>
            <a:r>
              <a:rPr lang="en-US" sz="2400" dirty="0"/>
              <a:t> }</a:t>
            </a:r>
          </a:p>
          <a:p>
            <a:pPr marL="0" indent="0">
              <a:spcBef>
                <a:spcPts val="0"/>
              </a:spcBef>
              <a:buNone/>
            </a:pPr>
            <a:r>
              <a:rPr lang="en-US" sz="2400" dirty="0"/>
              <a:t>}</a:t>
            </a:r>
          </a:p>
          <a:p>
            <a:pPr marL="0" indent="0">
              <a:spcBef>
                <a:spcPts val="0"/>
              </a:spcBef>
              <a:buNone/>
            </a:pPr>
            <a:r>
              <a:rPr lang="en-US" sz="2400" dirty="0"/>
              <a:t>class </a:t>
            </a:r>
            <a:r>
              <a:rPr lang="en-US" sz="2400" dirty="0" err="1"/>
              <a:t>BoxDemo</a:t>
            </a:r>
            <a:endParaRPr lang="en-US" sz="2400" dirty="0"/>
          </a:p>
          <a:p>
            <a:pPr marL="0" indent="0">
              <a:spcBef>
                <a:spcPts val="0"/>
              </a:spcBef>
              <a:buNone/>
            </a:pPr>
            <a:r>
              <a:rPr lang="en-US" sz="2400" dirty="0"/>
              <a:t> {</a:t>
            </a:r>
          </a:p>
          <a:p>
            <a:pPr marL="0" indent="0">
              <a:spcBef>
                <a:spcPts val="0"/>
              </a:spcBef>
              <a:buNone/>
            </a:pPr>
            <a:r>
              <a:rPr lang="en-US" sz="2400" dirty="0"/>
              <a:t>    public static void main(String[]  </a:t>
            </a:r>
            <a:r>
              <a:rPr lang="en-US" sz="2400" dirty="0" err="1"/>
              <a:t>args</a:t>
            </a:r>
            <a:r>
              <a:rPr lang="en-US" sz="2400" dirty="0"/>
              <a:t>) </a:t>
            </a:r>
          </a:p>
          <a:p>
            <a:pPr marL="0" indent="0">
              <a:spcBef>
                <a:spcPts val="0"/>
              </a:spcBef>
              <a:buNone/>
            </a:pPr>
            <a:r>
              <a:rPr lang="en-US" sz="2400" dirty="0"/>
              <a:t>{</a:t>
            </a:r>
          </a:p>
          <a:p>
            <a:pPr marL="0" indent="0">
              <a:spcBef>
                <a:spcPts val="0"/>
              </a:spcBef>
              <a:buNone/>
            </a:pPr>
            <a:r>
              <a:rPr lang="en-US" sz="2400" dirty="0"/>
              <a:t>        Box mybox1 =new Box();</a:t>
            </a:r>
          </a:p>
          <a:p>
            <a:pPr marL="0" indent="0">
              <a:spcBef>
                <a:spcPts val="0"/>
              </a:spcBef>
              <a:buNone/>
            </a:pPr>
            <a:r>
              <a:rPr lang="en-US" sz="2400" dirty="0"/>
              <a:t>        Box mybox2 =new Box();</a:t>
            </a:r>
          </a:p>
          <a:p>
            <a:pPr marL="0" indent="0">
              <a:spcBef>
                <a:spcPts val="0"/>
              </a:spcBef>
              <a:buNone/>
            </a:pPr>
            <a:r>
              <a:rPr lang="en-US" sz="2400" dirty="0"/>
              <a:t>        double v;</a:t>
            </a:r>
          </a:p>
          <a:p>
            <a:pPr marL="0" indent="0">
              <a:spcBef>
                <a:spcPts val="0"/>
              </a:spcBef>
              <a:buNone/>
            </a:pPr>
            <a:r>
              <a:rPr lang="en-US" sz="2400" dirty="0"/>
              <a:t>        v=mybox1.volume();</a:t>
            </a:r>
          </a:p>
          <a:p>
            <a:pPr marL="0" indent="0">
              <a:spcBef>
                <a:spcPts val="0"/>
              </a:spcBef>
              <a:buNone/>
            </a:pPr>
            <a:r>
              <a:rPr lang="en-US" sz="2400" dirty="0"/>
              <a:t>        </a:t>
            </a:r>
            <a:r>
              <a:rPr lang="en-US" sz="2400" dirty="0" err="1"/>
              <a:t>System.out.println</a:t>
            </a:r>
            <a:r>
              <a:rPr lang="en-US" sz="2400" dirty="0"/>
              <a:t>("volume is="+v);</a:t>
            </a:r>
          </a:p>
          <a:p>
            <a:pPr marL="0" indent="0">
              <a:spcBef>
                <a:spcPts val="0"/>
              </a:spcBef>
              <a:buNone/>
            </a:pPr>
            <a:r>
              <a:rPr lang="en-US" sz="2400" dirty="0"/>
              <a:t>        v=mybox2.volume();</a:t>
            </a:r>
          </a:p>
          <a:p>
            <a:pPr marL="0" indent="0">
              <a:spcBef>
                <a:spcPts val="0"/>
              </a:spcBef>
              <a:buNone/>
            </a:pPr>
            <a:r>
              <a:rPr lang="en-US" sz="2400" dirty="0"/>
              <a:t>        </a:t>
            </a:r>
            <a:r>
              <a:rPr lang="en-US" sz="2400" dirty="0" err="1"/>
              <a:t>System.out.println</a:t>
            </a:r>
            <a:r>
              <a:rPr lang="en-US" sz="2400" dirty="0"/>
              <a:t>("volume is="+v);</a:t>
            </a:r>
          </a:p>
          <a:p>
            <a:pPr marL="0" indent="0">
              <a:spcBef>
                <a:spcPts val="0"/>
              </a:spcBef>
              <a:buNone/>
            </a:pPr>
            <a:r>
              <a:rPr lang="en-US" sz="2400" dirty="0"/>
              <a:t>         }</a:t>
            </a:r>
          </a:p>
          <a:p>
            <a:pPr marL="0" indent="0">
              <a:spcBef>
                <a:spcPts val="0"/>
              </a:spcBef>
              <a:buNone/>
            </a:pPr>
            <a:r>
              <a:rPr lang="en-US" sz="2400" dirty="0"/>
              <a:t>}</a:t>
            </a:r>
          </a:p>
          <a:p>
            <a:pPr marL="0" indent="0">
              <a:spcBef>
                <a:spcPts val="0"/>
              </a:spcBef>
              <a:buNone/>
            </a:pPr>
            <a:endParaRPr lang="en-US" sz="2400" dirty="0"/>
          </a:p>
        </p:txBody>
      </p:sp>
      <p:sp>
        <p:nvSpPr>
          <p:cNvPr id="4" name="Slide Number Placeholder 3">
            <a:extLst>
              <a:ext uri="{FF2B5EF4-FFF2-40B4-BE49-F238E27FC236}">
                <a16:creationId xmlns:a16="http://schemas.microsoft.com/office/drawing/2014/main" id="{E47F2D7C-D92D-05B8-EBBC-364668E42865}"/>
              </a:ext>
            </a:extLst>
          </p:cNvPr>
          <p:cNvSpPr>
            <a:spLocks noGrp="1"/>
          </p:cNvSpPr>
          <p:nvPr>
            <p:ph type="sldNum" sz="quarter" idx="12"/>
          </p:nvPr>
        </p:nvSpPr>
        <p:spPr/>
        <p:txBody>
          <a:bodyPr/>
          <a:lstStyle/>
          <a:p>
            <a:pPr>
              <a:defRPr/>
            </a:pPr>
            <a:fld id="{7F50D522-CBA4-4108-90DA-9951FACF1C08}" type="slidenum">
              <a:rPr lang="en-US" smtClean="0"/>
              <a:pPr>
                <a:defRPr/>
              </a:pPr>
              <a:t>32</a:t>
            </a:fld>
            <a:endParaRPr lang="en-US"/>
          </a:p>
        </p:txBody>
      </p:sp>
    </p:spTree>
    <p:extLst>
      <p:ext uri="{BB962C8B-B14F-4D97-AF65-F5344CB8AC3E}">
        <p14:creationId xmlns:p14="http://schemas.microsoft.com/office/powerpoint/2010/main" val="1144532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620030-AABA-C867-2027-B1BD586EEDA6}"/>
              </a:ext>
            </a:extLst>
          </p:cNvPr>
          <p:cNvSpPr>
            <a:spLocks noGrp="1"/>
          </p:cNvSpPr>
          <p:nvPr>
            <p:ph sz="quarter" idx="1"/>
          </p:nvPr>
        </p:nvSpPr>
        <p:spPr>
          <a:xfrm>
            <a:off x="381000" y="0"/>
            <a:ext cx="8305800" cy="5829300"/>
          </a:xfrm>
        </p:spPr>
        <p:txBody>
          <a:bodyPr/>
          <a:lstStyle/>
          <a:p>
            <a:pPr marL="0" indent="0">
              <a:spcBef>
                <a:spcPts val="0"/>
              </a:spcBef>
              <a:buNone/>
            </a:pPr>
            <a:r>
              <a:rPr lang="en-US" sz="2400" b="1" dirty="0"/>
              <a:t>Output</a:t>
            </a:r>
          </a:p>
          <a:p>
            <a:pPr marL="0" indent="0">
              <a:spcBef>
                <a:spcPts val="0"/>
              </a:spcBef>
              <a:buNone/>
            </a:pPr>
            <a:endParaRPr lang="en-US" sz="2400" dirty="0"/>
          </a:p>
        </p:txBody>
      </p:sp>
      <p:sp>
        <p:nvSpPr>
          <p:cNvPr id="4" name="Slide Number Placeholder 3">
            <a:extLst>
              <a:ext uri="{FF2B5EF4-FFF2-40B4-BE49-F238E27FC236}">
                <a16:creationId xmlns:a16="http://schemas.microsoft.com/office/drawing/2014/main" id="{E47F2D7C-D92D-05B8-EBBC-364668E42865}"/>
              </a:ext>
            </a:extLst>
          </p:cNvPr>
          <p:cNvSpPr>
            <a:spLocks noGrp="1"/>
          </p:cNvSpPr>
          <p:nvPr>
            <p:ph type="sldNum" sz="quarter" idx="12"/>
          </p:nvPr>
        </p:nvSpPr>
        <p:spPr/>
        <p:txBody>
          <a:bodyPr/>
          <a:lstStyle/>
          <a:p>
            <a:pPr>
              <a:defRPr/>
            </a:pPr>
            <a:fld id="{7F50D522-CBA4-4108-90DA-9951FACF1C08}" type="slidenum">
              <a:rPr lang="en-US" smtClean="0"/>
              <a:pPr>
                <a:defRPr/>
              </a:pPr>
              <a:t>33</a:t>
            </a:fld>
            <a:endParaRPr lang="en-US"/>
          </a:p>
        </p:txBody>
      </p:sp>
      <p:pic>
        <p:nvPicPr>
          <p:cNvPr id="5" name="Picture 4">
            <a:extLst>
              <a:ext uri="{FF2B5EF4-FFF2-40B4-BE49-F238E27FC236}">
                <a16:creationId xmlns:a16="http://schemas.microsoft.com/office/drawing/2014/main" id="{718C58EE-79FA-C55C-1E01-E0987C56076E}"/>
              </a:ext>
            </a:extLst>
          </p:cNvPr>
          <p:cNvPicPr>
            <a:picLocks noChangeAspect="1"/>
          </p:cNvPicPr>
          <p:nvPr/>
        </p:nvPicPr>
        <p:blipFill>
          <a:blip r:embed="rId2"/>
          <a:stretch>
            <a:fillRect/>
          </a:stretch>
        </p:blipFill>
        <p:spPr>
          <a:xfrm>
            <a:off x="1295400" y="677779"/>
            <a:ext cx="6096000" cy="3208421"/>
          </a:xfrm>
          <a:prstGeom prst="rect">
            <a:avLst/>
          </a:prstGeom>
        </p:spPr>
      </p:pic>
    </p:spTree>
    <p:extLst>
      <p:ext uri="{BB962C8B-B14F-4D97-AF65-F5344CB8AC3E}">
        <p14:creationId xmlns:p14="http://schemas.microsoft.com/office/powerpoint/2010/main" val="18700213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25C0D8-527B-79D9-617A-5D3452BE9138}"/>
              </a:ext>
            </a:extLst>
          </p:cNvPr>
          <p:cNvSpPr>
            <a:spLocks noGrp="1"/>
          </p:cNvSpPr>
          <p:nvPr>
            <p:ph sz="quarter" idx="1"/>
          </p:nvPr>
        </p:nvSpPr>
        <p:spPr>
          <a:xfrm>
            <a:off x="228600" y="0"/>
            <a:ext cx="8839200" cy="6019800"/>
          </a:xfrm>
        </p:spPr>
        <p:txBody>
          <a:bodyPr/>
          <a:lstStyle/>
          <a:p>
            <a:pPr marL="0" indent="0">
              <a:buNone/>
            </a:pPr>
            <a:r>
              <a:rPr lang="en-US" b="1" dirty="0"/>
              <a:t>Parameterized Constructors</a:t>
            </a:r>
          </a:p>
          <a:p>
            <a:r>
              <a:rPr lang="en-US" dirty="0"/>
              <a:t>Constructors with arguments are called parameterized constructors.</a:t>
            </a:r>
          </a:p>
          <a:p>
            <a:pPr marL="0" indent="0">
              <a:buNone/>
            </a:pPr>
            <a:r>
              <a:rPr lang="en-US" dirty="0"/>
              <a:t>class Box</a:t>
            </a:r>
          </a:p>
          <a:p>
            <a:pPr marL="0" indent="0">
              <a:buNone/>
            </a:pPr>
            <a:r>
              <a:rPr lang="en-US" dirty="0"/>
              <a:t>{</a:t>
            </a:r>
          </a:p>
          <a:p>
            <a:pPr marL="0" indent="0">
              <a:buNone/>
            </a:pPr>
            <a:r>
              <a:rPr lang="en-US" dirty="0"/>
              <a:t>double width;</a:t>
            </a:r>
          </a:p>
          <a:p>
            <a:pPr marL="0" indent="0">
              <a:buNone/>
            </a:pPr>
            <a:r>
              <a:rPr lang="en-US" dirty="0"/>
              <a:t>double height;</a:t>
            </a:r>
          </a:p>
          <a:p>
            <a:pPr marL="0" indent="0">
              <a:buNone/>
            </a:pPr>
            <a:r>
              <a:rPr lang="en-US" dirty="0"/>
              <a:t>double length;</a:t>
            </a:r>
          </a:p>
          <a:p>
            <a:pPr marL="0" indent="0">
              <a:buNone/>
            </a:pPr>
            <a:r>
              <a:rPr lang="en-US" dirty="0"/>
              <a:t>Box(double w, double h, double l)</a:t>
            </a:r>
          </a:p>
          <a:p>
            <a:pPr marL="0" indent="0">
              <a:buNone/>
            </a:pPr>
            <a:r>
              <a:rPr lang="en-US" dirty="0"/>
              <a:t>{</a:t>
            </a:r>
          </a:p>
          <a:p>
            <a:pPr marL="0" indent="0">
              <a:buNone/>
            </a:pPr>
            <a:r>
              <a:rPr lang="en-US" dirty="0"/>
              <a:t>width = w;</a:t>
            </a:r>
          </a:p>
          <a:p>
            <a:pPr marL="0" indent="0">
              <a:buNone/>
            </a:pPr>
            <a:r>
              <a:rPr lang="en-US" dirty="0"/>
              <a:t>height = h;</a:t>
            </a:r>
          </a:p>
          <a:p>
            <a:pPr marL="0" indent="0">
              <a:buNone/>
            </a:pPr>
            <a:r>
              <a:rPr lang="en-US" dirty="0"/>
              <a:t>length= l;</a:t>
            </a:r>
          </a:p>
          <a:p>
            <a:pPr marL="0" indent="0">
              <a:buNone/>
            </a:pPr>
            <a:r>
              <a:rPr lang="en-US" dirty="0"/>
              <a:t>}</a:t>
            </a:r>
          </a:p>
        </p:txBody>
      </p:sp>
      <p:sp>
        <p:nvSpPr>
          <p:cNvPr id="4" name="Slide Number Placeholder 3">
            <a:extLst>
              <a:ext uri="{FF2B5EF4-FFF2-40B4-BE49-F238E27FC236}">
                <a16:creationId xmlns:a16="http://schemas.microsoft.com/office/drawing/2014/main" id="{3D7A5AC3-B0EF-B76F-D20D-8132B4441FE1}"/>
              </a:ext>
            </a:extLst>
          </p:cNvPr>
          <p:cNvSpPr>
            <a:spLocks noGrp="1"/>
          </p:cNvSpPr>
          <p:nvPr>
            <p:ph type="sldNum" sz="quarter" idx="12"/>
          </p:nvPr>
        </p:nvSpPr>
        <p:spPr/>
        <p:txBody>
          <a:bodyPr/>
          <a:lstStyle/>
          <a:p>
            <a:pPr>
              <a:defRPr/>
            </a:pPr>
            <a:fld id="{7F50D522-CBA4-4108-90DA-9951FACF1C08}" type="slidenum">
              <a:rPr lang="en-US" smtClean="0"/>
              <a:pPr>
                <a:defRPr/>
              </a:pPr>
              <a:t>34</a:t>
            </a:fld>
            <a:endParaRPr lang="en-US"/>
          </a:p>
        </p:txBody>
      </p:sp>
    </p:spTree>
    <p:extLst>
      <p:ext uri="{BB962C8B-B14F-4D97-AF65-F5344CB8AC3E}">
        <p14:creationId xmlns:p14="http://schemas.microsoft.com/office/powerpoint/2010/main" val="1833003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25C0D8-527B-79D9-617A-5D3452BE9138}"/>
              </a:ext>
            </a:extLst>
          </p:cNvPr>
          <p:cNvSpPr>
            <a:spLocks noGrp="1"/>
          </p:cNvSpPr>
          <p:nvPr>
            <p:ph sz="quarter" idx="1"/>
          </p:nvPr>
        </p:nvSpPr>
        <p:spPr>
          <a:xfrm>
            <a:off x="685800" y="76200"/>
            <a:ext cx="8458200" cy="6477000"/>
          </a:xfrm>
        </p:spPr>
        <p:txBody>
          <a:bodyPr/>
          <a:lstStyle/>
          <a:p>
            <a:pPr marL="0" indent="0">
              <a:buNone/>
            </a:pPr>
            <a:r>
              <a:rPr lang="en-US" sz="2400" dirty="0"/>
              <a:t>double volume(){</a:t>
            </a:r>
          </a:p>
          <a:p>
            <a:pPr marL="0" indent="0">
              <a:buNone/>
            </a:pPr>
            <a:r>
              <a:rPr lang="en-US" sz="2400" dirty="0"/>
              <a:t>return(width * height * length);</a:t>
            </a:r>
          </a:p>
          <a:p>
            <a:pPr marL="0" indent="0">
              <a:buNone/>
            </a:pPr>
            <a:r>
              <a:rPr lang="en-US" sz="2400" dirty="0"/>
              <a:t>}</a:t>
            </a:r>
          </a:p>
          <a:p>
            <a:pPr marL="0" indent="0">
              <a:buNone/>
            </a:pPr>
            <a:r>
              <a:rPr lang="en-US" sz="2400" dirty="0"/>
              <a:t>}</a:t>
            </a:r>
          </a:p>
          <a:p>
            <a:pPr marL="0" indent="0">
              <a:buNone/>
            </a:pPr>
            <a:r>
              <a:rPr lang="en-US" sz="2400" dirty="0"/>
              <a:t>class </a:t>
            </a:r>
            <a:r>
              <a:rPr lang="en-US" sz="2400" dirty="0" err="1"/>
              <a:t>BoxDemo</a:t>
            </a:r>
            <a:r>
              <a:rPr lang="en-US" sz="2400" dirty="0"/>
              <a:t> {</a:t>
            </a:r>
          </a:p>
          <a:p>
            <a:pPr marL="0" indent="0">
              <a:buNone/>
            </a:pPr>
            <a:r>
              <a:rPr lang="en-US" sz="2400" dirty="0"/>
              <a:t>public static void main(String </a:t>
            </a:r>
            <a:r>
              <a:rPr lang="en-US" sz="2400" dirty="0" err="1"/>
              <a:t>args</a:t>
            </a:r>
            <a:r>
              <a:rPr lang="en-US" sz="2400" dirty="0"/>
              <a:t>[]) {</a:t>
            </a:r>
          </a:p>
          <a:p>
            <a:pPr marL="0" indent="0">
              <a:buNone/>
            </a:pPr>
            <a:r>
              <a:rPr lang="en-US" sz="2400" dirty="0"/>
              <a:t>Box mybox1=new Box(10, 20, 15);</a:t>
            </a:r>
          </a:p>
          <a:p>
            <a:pPr marL="0" indent="0">
              <a:buNone/>
            </a:pPr>
            <a:r>
              <a:rPr lang="en-US" sz="2400" dirty="0"/>
              <a:t>Box mybox2= new Box(3, 6, 2);</a:t>
            </a:r>
          </a:p>
          <a:p>
            <a:pPr marL="0" indent="0">
              <a:buNone/>
            </a:pPr>
            <a:r>
              <a:rPr lang="en-US" sz="2400" dirty="0"/>
              <a:t>double vol;</a:t>
            </a:r>
          </a:p>
          <a:p>
            <a:pPr marL="0" indent="0">
              <a:buNone/>
            </a:pPr>
            <a:r>
              <a:rPr lang="en-US" sz="2400" dirty="0"/>
              <a:t>vol= mybox1.volume();</a:t>
            </a:r>
          </a:p>
          <a:p>
            <a:pPr marL="0" indent="0">
              <a:buNone/>
            </a:pPr>
            <a:r>
              <a:rPr lang="en-US" sz="2400" dirty="0" err="1"/>
              <a:t>System.out.println</a:t>
            </a:r>
            <a:r>
              <a:rPr lang="en-US" sz="2400" dirty="0"/>
              <a:t>("Volume is " + vol);</a:t>
            </a:r>
          </a:p>
          <a:p>
            <a:pPr marL="0" indent="0">
              <a:buNone/>
            </a:pPr>
            <a:r>
              <a:rPr lang="en-US" sz="2400" dirty="0"/>
              <a:t>vol= mybox2.volume();</a:t>
            </a:r>
          </a:p>
          <a:p>
            <a:pPr marL="0" indent="0">
              <a:buNone/>
            </a:pPr>
            <a:r>
              <a:rPr lang="en-US" sz="2400" dirty="0" err="1"/>
              <a:t>System.out.println</a:t>
            </a:r>
            <a:r>
              <a:rPr lang="en-US" sz="2400" dirty="0"/>
              <a:t>("Volume is " + vol);</a:t>
            </a:r>
          </a:p>
          <a:p>
            <a:pPr marL="0" indent="0">
              <a:buNone/>
            </a:pPr>
            <a:r>
              <a:rPr lang="en-US" sz="2400" dirty="0"/>
              <a:t>}</a:t>
            </a:r>
          </a:p>
          <a:p>
            <a:pPr marL="0" indent="0">
              <a:buNone/>
            </a:pPr>
            <a:r>
              <a:rPr lang="en-US" sz="2400" dirty="0"/>
              <a:t>}</a:t>
            </a:r>
          </a:p>
        </p:txBody>
      </p:sp>
      <p:sp>
        <p:nvSpPr>
          <p:cNvPr id="4" name="Slide Number Placeholder 3">
            <a:extLst>
              <a:ext uri="{FF2B5EF4-FFF2-40B4-BE49-F238E27FC236}">
                <a16:creationId xmlns:a16="http://schemas.microsoft.com/office/drawing/2014/main" id="{3D7A5AC3-B0EF-B76F-D20D-8132B4441FE1}"/>
              </a:ext>
            </a:extLst>
          </p:cNvPr>
          <p:cNvSpPr>
            <a:spLocks noGrp="1"/>
          </p:cNvSpPr>
          <p:nvPr>
            <p:ph type="sldNum" sz="quarter" idx="12"/>
          </p:nvPr>
        </p:nvSpPr>
        <p:spPr/>
        <p:txBody>
          <a:bodyPr/>
          <a:lstStyle/>
          <a:p>
            <a:pPr>
              <a:defRPr/>
            </a:pPr>
            <a:fld id="{7F50D522-CBA4-4108-90DA-9951FACF1C08}" type="slidenum">
              <a:rPr lang="en-US" smtClean="0"/>
              <a:pPr>
                <a:defRPr/>
              </a:pPr>
              <a:t>35</a:t>
            </a:fld>
            <a:endParaRPr lang="en-US"/>
          </a:p>
        </p:txBody>
      </p:sp>
    </p:spTree>
    <p:extLst>
      <p:ext uri="{BB962C8B-B14F-4D97-AF65-F5344CB8AC3E}">
        <p14:creationId xmlns:p14="http://schemas.microsoft.com/office/powerpoint/2010/main" val="2028296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A1731-C52F-044E-D539-EB712AC05C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64A3EF-554A-B2CA-AAAC-D0FB1C26D0D1}"/>
              </a:ext>
            </a:extLst>
          </p:cNvPr>
          <p:cNvSpPr>
            <a:spLocks noGrp="1"/>
          </p:cNvSpPr>
          <p:nvPr>
            <p:ph sz="quarter" idx="1"/>
          </p:nvPr>
        </p:nvSpPr>
        <p:spPr/>
        <p:txBody>
          <a:bodyPr/>
          <a:lstStyle/>
          <a:p>
            <a:pPr marL="0" indent="0">
              <a:buNone/>
            </a:pPr>
            <a:r>
              <a:rPr lang="en-US" dirty="0"/>
              <a:t>Box mybox1 = new Box(10, 20, 15);</a:t>
            </a:r>
          </a:p>
          <a:p>
            <a:r>
              <a:rPr lang="en-US" dirty="0"/>
              <a:t> Here the values 10, 20, and 15 are passed to the Box( )</a:t>
            </a:r>
          </a:p>
          <a:p>
            <a:pPr marL="0" indent="0">
              <a:buNone/>
            </a:pPr>
            <a:r>
              <a:rPr lang="en-US" dirty="0"/>
              <a:t>constructor when new creates the object mybox1 .</a:t>
            </a:r>
          </a:p>
        </p:txBody>
      </p:sp>
      <p:sp>
        <p:nvSpPr>
          <p:cNvPr id="4" name="Slide Number Placeholder 3">
            <a:extLst>
              <a:ext uri="{FF2B5EF4-FFF2-40B4-BE49-F238E27FC236}">
                <a16:creationId xmlns:a16="http://schemas.microsoft.com/office/drawing/2014/main" id="{C0C692EE-AAB0-C612-A5F2-21EDFF137799}"/>
              </a:ext>
            </a:extLst>
          </p:cNvPr>
          <p:cNvSpPr>
            <a:spLocks noGrp="1"/>
          </p:cNvSpPr>
          <p:nvPr>
            <p:ph type="sldNum" sz="quarter" idx="12"/>
          </p:nvPr>
        </p:nvSpPr>
        <p:spPr/>
        <p:txBody>
          <a:bodyPr/>
          <a:lstStyle/>
          <a:p>
            <a:pPr>
              <a:defRPr/>
            </a:pPr>
            <a:fld id="{7F50D522-CBA4-4108-90DA-9951FACF1C08}" type="slidenum">
              <a:rPr lang="en-US" smtClean="0"/>
              <a:pPr>
                <a:defRPr/>
              </a:pPr>
              <a:t>36</a:t>
            </a:fld>
            <a:endParaRPr lang="en-US"/>
          </a:p>
        </p:txBody>
      </p:sp>
    </p:spTree>
    <p:extLst>
      <p:ext uri="{BB962C8B-B14F-4D97-AF65-F5344CB8AC3E}">
        <p14:creationId xmlns:p14="http://schemas.microsoft.com/office/powerpoint/2010/main" val="24468079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8464A-E4CF-0180-6B53-46FDBCC54D89}"/>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E25F7FEB-D09B-B912-90BB-A315C19D4DCD}"/>
              </a:ext>
            </a:extLst>
          </p:cNvPr>
          <p:cNvPicPr>
            <a:picLocks noGrp="1" noChangeAspect="1"/>
          </p:cNvPicPr>
          <p:nvPr>
            <p:ph sz="quarter" idx="1"/>
          </p:nvPr>
        </p:nvPicPr>
        <p:blipFill>
          <a:blip r:embed="rId2"/>
          <a:stretch>
            <a:fillRect/>
          </a:stretch>
        </p:blipFill>
        <p:spPr>
          <a:xfrm>
            <a:off x="914400" y="1277803"/>
            <a:ext cx="7772400" cy="4056197"/>
          </a:xfrm>
        </p:spPr>
      </p:pic>
      <p:sp>
        <p:nvSpPr>
          <p:cNvPr id="4" name="Slide Number Placeholder 3">
            <a:extLst>
              <a:ext uri="{FF2B5EF4-FFF2-40B4-BE49-F238E27FC236}">
                <a16:creationId xmlns:a16="http://schemas.microsoft.com/office/drawing/2014/main" id="{C5F580ED-F388-8859-81C2-C4BFFF8C2125}"/>
              </a:ext>
            </a:extLst>
          </p:cNvPr>
          <p:cNvSpPr>
            <a:spLocks noGrp="1"/>
          </p:cNvSpPr>
          <p:nvPr>
            <p:ph type="sldNum" sz="quarter" idx="12"/>
          </p:nvPr>
        </p:nvSpPr>
        <p:spPr/>
        <p:txBody>
          <a:bodyPr/>
          <a:lstStyle/>
          <a:p>
            <a:pPr>
              <a:defRPr/>
            </a:pPr>
            <a:fld id="{7F50D522-CBA4-4108-90DA-9951FACF1C08}" type="slidenum">
              <a:rPr lang="en-US" smtClean="0"/>
              <a:pPr>
                <a:defRPr/>
              </a:pPr>
              <a:t>37</a:t>
            </a:fld>
            <a:endParaRPr lang="en-US"/>
          </a:p>
        </p:txBody>
      </p:sp>
    </p:spTree>
    <p:extLst>
      <p:ext uri="{BB962C8B-B14F-4D97-AF65-F5344CB8AC3E}">
        <p14:creationId xmlns:p14="http://schemas.microsoft.com/office/powerpoint/2010/main" val="15771526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34292-C73D-059E-D818-AC886C5AFDBF}"/>
              </a:ext>
            </a:extLst>
          </p:cNvPr>
          <p:cNvSpPr>
            <a:spLocks noGrp="1"/>
          </p:cNvSpPr>
          <p:nvPr>
            <p:ph type="title"/>
          </p:nvPr>
        </p:nvSpPr>
        <p:spPr>
          <a:xfrm>
            <a:off x="914400" y="0"/>
            <a:ext cx="7772400" cy="715962"/>
          </a:xfrm>
        </p:spPr>
        <p:txBody>
          <a:bodyPr/>
          <a:lstStyle/>
          <a:p>
            <a:r>
              <a:rPr lang="en-US" dirty="0"/>
              <a:t>		</a:t>
            </a:r>
            <a:r>
              <a:rPr lang="en-US" b="1" dirty="0">
                <a:solidFill>
                  <a:srgbClr val="FF0000"/>
                </a:solidFill>
              </a:rPr>
              <a:t>this</a:t>
            </a:r>
            <a:r>
              <a:rPr lang="en-US" dirty="0"/>
              <a:t>  keyword</a:t>
            </a:r>
          </a:p>
        </p:txBody>
      </p:sp>
      <p:sp>
        <p:nvSpPr>
          <p:cNvPr id="3" name="Content Placeholder 2">
            <a:extLst>
              <a:ext uri="{FF2B5EF4-FFF2-40B4-BE49-F238E27FC236}">
                <a16:creationId xmlns:a16="http://schemas.microsoft.com/office/drawing/2014/main" id="{6CBC5793-8E7F-7BF7-4AB4-D58D58C1B475}"/>
              </a:ext>
            </a:extLst>
          </p:cNvPr>
          <p:cNvSpPr>
            <a:spLocks noGrp="1"/>
          </p:cNvSpPr>
          <p:nvPr>
            <p:ph sz="quarter" idx="1"/>
          </p:nvPr>
        </p:nvSpPr>
        <p:spPr>
          <a:xfrm>
            <a:off x="146050" y="685800"/>
            <a:ext cx="8851900" cy="5638800"/>
          </a:xfrm>
        </p:spPr>
        <p:txBody>
          <a:bodyPr/>
          <a:lstStyle/>
          <a:p>
            <a:pPr algn="just"/>
            <a:r>
              <a:rPr lang="en-US" sz="3200" dirty="0"/>
              <a:t> The </a:t>
            </a:r>
            <a:r>
              <a:rPr lang="en-US" sz="3200" b="1" dirty="0"/>
              <a:t>this</a:t>
            </a:r>
            <a:r>
              <a:rPr lang="en-US" sz="3200" dirty="0"/>
              <a:t> keyword can be used inside any method to refer to the current object.</a:t>
            </a:r>
          </a:p>
          <a:p>
            <a:pPr algn="just"/>
            <a:r>
              <a:rPr lang="en-US" sz="3200" dirty="0"/>
              <a:t> </a:t>
            </a:r>
            <a:r>
              <a:rPr lang="en-US" sz="3200" b="1" dirty="0"/>
              <a:t>this</a:t>
            </a:r>
            <a:r>
              <a:rPr lang="en-US" sz="3200" dirty="0"/>
              <a:t> is always a reference to the object on which the method was invoked.</a:t>
            </a:r>
          </a:p>
          <a:p>
            <a:pPr algn="just"/>
            <a:r>
              <a:rPr lang="en-US" sz="3200" dirty="0"/>
              <a:t> </a:t>
            </a:r>
            <a:r>
              <a:rPr lang="en-US" sz="3200" b="1" dirty="0"/>
              <a:t>this</a:t>
            </a:r>
            <a:r>
              <a:rPr lang="en-US" sz="3200" dirty="0"/>
              <a:t> can be used to refer current class instance variable.</a:t>
            </a:r>
          </a:p>
          <a:p>
            <a:pPr algn="just"/>
            <a:r>
              <a:rPr lang="en-US" sz="3200" dirty="0"/>
              <a:t> </a:t>
            </a:r>
            <a:r>
              <a:rPr lang="en-US" sz="3200" b="1" dirty="0"/>
              <a:t>this</a:t>
            </a:r>
            <a:r>
              <a:rPr lang="en-US" sz="3200" dirty="0"/>
              <a:t> can be used to invoke current class method (implicitly)</a:t>
            </a:r>
          </a:p>
          <a:p>
            <a:pPr algn="just"/>
            <a:r>
              <a:rPr lang="en-US" sz="3200" dirty="0"/>
              <a:t> </a:t>
            </a:r>
            <a:r>
              <a:rPr lang="en-US" sz="3200" b="1" dirty="0"/>
              <a:t>this</a:t>
            </a:r>
            <a:r>
              <a:rPr lang="en-US" sz="3200" dirty="0"/>
              <a:t>() can be used to invoke current class constructor.</a:t>
            </a:r>
          </a:p>
          <a:p>
            <a:pPr algn="just"/>
            <a:r>
              <a:rPr lang="en-US" sz="3200" dirty="0"/>
              <a:t> </a:t>
            </a:r>
            <a:r>
              <a:rPr lang="en-US" sz="3200" b="1" dirty="0"/>
              <a:t>this</a:t>
            </a:r>
            <a:r>
              <a:rPr lang="en-US" sz="3200" dirty="0"/>
              <a:t> can be passed as an argument in the method call.</a:t>
            </a:r>
          </a:p>
          <a:p>
            <a:pPr algn="just"/>
            <a:r>
              <a:rPr lang="en-US" sz="3200" dirty="0"/>
              <a:t> </a:t>
            </a:r>
            <a:r>
              <a:rPr lang="en-US" sz="3200" b="1" dirty="0"/>
              <a:t>this</a:t>
            </a:r>
            <a:r>
              <a:rPr lang="en-US" sz="3200" dirty="0"/>
              <a:t> can be passed as argument in the constructor call.</a:t>
            </a:r>
          </a:p>
        </p:txBody>
      </p:sp>
      <p:sp>
        <p:nvSpPr>
          <p:cNvPr id="4" name="Slide Number Placeholder 3">
            <a:extLst>
              <a:ext uri="{FF2B5EF4-FFF2-40B4-BE49-F238E27FC236}">
                <a16:creationId xmlns:a16="http://schemas.microsoft.com/office/drawing/2014/main" id="{92DAE268-B615-E497-1376-E43C6C1C1B41}"/>
              </a:ext>
            </a:extLst>
          </p:cNvPr>
          <p:cNvSpPr>
            <a:spLocks noGrp="1"/>
          </p:cNvSpPr>
          <p:nvPr>
            <p:ph type="sldNum" sz="quarter" idx="12"/>
          </p:nvPr>
        </p:nvSpPr>
        <p:spPr/>
        <p:txBody>
          <a:bodyPr/>
          <a:lstStyle/>
          <a:p>
            <a:pPr>
              <a:defRPr/>
            </a:pPr>
            <a:fld id="{7F50D522-CBA4-4108-90DA-9951FACF1C08}" type="slidenum">
              <a:rPr lang="en-US" smtClean="0"/>
              <a:pPr>
                <a:defRPr/>
              </a:pPr>
              <a:t>38</a:t>
            </a:fld>
            <a:endParaRPr lang="en-US"/>
          </a:p>
        </p:txBody>
      </p:sp>
    </p:spTree>
    <p:extLst>
      <p:ext uri="{BB962C8B-B14F-4D97-AF65-F5344CB8AC3E}">
        <p14:creationId xmlns:p14="http://schemas.microsoft.com/office/powerpoint/2010/main" val="14152695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DF13-9A65-67D7-4E48-9E1FB39923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B1EA72-44C9-BF61-AB47-0450B7313842}"/>
              </a:ext>
            </a:extLst>
          </p:cNvPr>
          <p:cNvSpPr>
            <a:spLocks noGrp="1"/>
          </p:cNvSpPr>
          <p:nvPr>
            <p:ph sz="quarter" idx="1"/>
          </p:nvPr>
        </p:nvSpPr>
        <p:spPr/>
        <p:txBody>
          <a:bodyPr/>
          <a:lstStyle/>
          <a:p>
            <a:pPr marL="0" indent="0">
              <a:buNone/>
            </a:pPr>
            <a:r>
              <a:rPr lang="en-US" dirty="0"/>
              <a:t>Box(double w, double h, double l)</a:t>
            </a:r>
          </a:p>
          <a:p>
            <a:pPr marL="0" indent="0">
              <a:buNone/>
            </a:pPr>
            <a:r>
              <a:rPr lang="en-US" dirty="0" err="1"/>
              <a:t>this.width</a:t>
            </a:r>
            <a:r>
              <a:rPr lang="en-US" dirty="0"/>
              <a:t> = w;</a:t>
            </a:r>
          </a:p>
          <a:p>
            <a:pPr marL="0" indent="0">
              <a:buNone/>
            </a:pPr>
            <a:r>
              <a:rPr lang="en-US" dirty="0" err="1"/>
              <a:t>this.height</a:t>
            </a:r>
            <a:r>
              <a:rPr lang="en-US" dirty="0"/>
              <a:t> = h;</a:t>
            </a:r>
          </a:p>
          <a:p>
            <a:pPr marL="0" indent="0">
              <a:buNone/>
            </a:pPr>
            <a:r>
              <a:rPr lang="en-US" dirty="0" err="1"/>
              <a:t>this.length</a:t>
            </a:r>
            <a:r>
              <a:rPr lang="en-US" dirty="0"/>
              <a:t> = l;</a:t>
            </a:r>
          </a:p>
          <a:p>
            <a:pPr marL="0" indent="0">
              <a:buNone/>
            </a:pPr>
            <a:endParaRPr lang="en-US" dirty="0"/>
          </a:p>
          <a:p>
            <a:pPr marL="0" indent="0">
              <a:buNone/>
            </a:pPr>
            <a:r>
              <a:rPr lang="en-US" dirty="0"/>
              <a:t>Here </a:t>
            </a:r>
            <a:r>
              <a:rPr lang="en-US" b="1" dirty="0"/>
              <a:t>this</a:t>
            </a:r>
            <a:r>
              <a:rPr lang="en-US" dirty="0"/>
              <a:t> will always refer to the object invoking the method</a:t>
            </a:r>
          </a:p>
        </p:txBody>
      </p:sp>
      <p:sp>
        <p:nvSpPr>
          <p:cNvPr id="4" name="Slide Number Placeholder 3">
            <a:extLst>
              <a:ext uri="{FF2B5EF4-FFF2-40B4-BE49-F238E27FC236}">
                <a16:creationId xmlns:a16="http://schemas.microsoft.com/office/drawing/2014/main" id="{A7B13AA2-2B97-8291-DE58-DE0B4E366B01}"/>
              </a:ext>
            </a:extLst>
          </p:cNvPr>
          <p:cNvSpPr>
            <a:spLocks noGrp="1"/>
          </p:cNvSpPr>
          <p:nvPr>
            <p:ph type="sldNum" sz="quarter" idx="12"/>
          </p:nvPr>
        </p:nvSpPr>
        <p:spPr/>
        <p:txBody>
          <a:bodyPr/>
          <a:lstStyle/>
          <a:p>
            <a:pPr>
              <a:defRPr/>
            </a:pPr>
            <a:fld id="{7F50D522-CBA4-4108-90DA-9951FACF1C08}" type="slidenum">
              <a:rPr lang="en-US" smtClean="0"/>
              <a:pPr>
                <a:defRPr/>
              </a:pPr>
              <a:t>39</a:t>
            </a:fld>
            <a:endParaRPr lang="en-US"/>
          </a:p>
        </p:txBody>
      </p:sp>
    </p:spTree>
    <p:extLst>
      <p:ext uri="{BB962C8B-B14F-4D97-AF65-F5344CB8AC3E}">
        <p14:creationId xmlns:p14="http://schemas.microsoft.com/office/powerpoint/2010/main" val="13455514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C692EE-AAB0-C612-A5F2-21EDFF137799}"/>
              </a:ext>
            </a:extLst>
          </p:cNvPr>
          <p:cNvSpPr>
            <a:spLocks noGrp="1"/>
          </p:cNvSpPr>
          <p:nvPr>
            <p:ph type="sldNum" sz="quarter" idx="12"/>
          </p:nvPr>
        </p:nvSpPr>
        <p:spPr/>
        <p:txBody>
          <a:bodyPr/>
          <a:lstStyle/>
          <a:p>
            <a:pPr>
              <a:defRPr/>
            </a:pPr>
            <a:fld id="{7F50D522-CBA4-4108-90DA-9951FACF1C08}" type="slidenum">
              <a:rPr lang="en-US" smtClean="0"/>
              <a:pPr>
                <a:defRPr/>
              </a:pPr>
              <a:t>40</a:t>
            </a:fld>
            <a:endParaRPr lang="en-US"/>
          </a:p>
        </p:txBody>
      </p:sp>
      <p:pic>
        <p:nvPicPr>
          <p:cNvPr id="6" name="Picture 5">
            <a:extLst>
              <a:ext uri="{FF2B5EF4-FFF2-40B4-BE49-F238E27FC236}">
                <a16:creationId xmlns:a16="http://schemas.microsoft.com/office/drawing/2014/main" id="{3CC03105-D7C0-55A8-385F-8E091F6B0314}"/>
              </a:ext>
            </a:extLst>
          </p:cNvPr>
          <p:cNvPicPr>
            <a:picLocks noChangeAspect="1"/>
          </p:cNvPicPr>
          <p:nvPr/>
        </p:nvPicPr>
        <p:blipFill>
          <a:blip r:embed="rId2"/>
          <a:stretch>
            <a:fillRect/>
          </a:stretch>
        </p:blipFill>
        <p:spPr>
          <a:xfrm>
            <a:off x="0" y="1179000"/>
            <a:ext cx="9144000" cy="4500000"/>
          </a:xfrm>
          <a:prstGeom prst="rect">
            <a:avLst/>
          </a:prstGeom>
        </p:spPr>
      </p:pic>
    </p:spTree>
    <p:extLst>
      <p:ext uri="{BB962C8B-B14F-4D97-AF65-F5344CB8AC3E}">
        <p14:creationId xmlns:p14="http://schemas.microsoft.com/office/powerpoint/2010/main" val="1795209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A1731-C52F-044E-D539-EB712AC05C95}"/>
              </a:ext>
            </a:extLst>
          </p:cNvPr>
          <p:cNvSpPr>
            <a:spLocks noGrp="1"/>
          </p:cNvSpPr>
          <p:nvPr>
            <p:ph type="title"/>
          </p:nvPr>
        </p:nvSpPr>
        <p:spPr/>
        <p:txBody>
          <a:bodyPr/>
          <a:lstStyle/>
          <a:p>
            <a:r>
              <a:rPr lang="en-US" dirty="0"/>
              <a:t>Instance variable hiding-using this</a:t>
            </a:r>
            <a:br>
              <a:rPr lang="en-US" dirty="0"/>
            </a:br>
            <a:endParaRPr lang="en-US" dirty="0"/>
          </a:p>
        </p:txBody>
      </p:sp>
      <p:sp>
        <p:nvSpPr>
          <p:cNvPr id="3" name="Content Placeholder 2">
            <a:extLst>
              <a:ext uri="{FF2B5EF4-FFF2-40B4-BE49-F238E27FC236}">
                <a16:creationId xmlns:a16="http://schemas.microsoft.com/office/drawing/2014/main" id="{0B64A3EF-554A-B2CA-AAAC-D0FB1C26D0D1}"/>
              </a:ext>
            </a:extLst>
          </p:cNvPr>
          <p:cNvSpPr>
            <a:spLocks noGrp="1"/>
          </p:cNvSpPr>
          <p:nvPr>
            <p:ph sz="quarter" idx="1"/>
          </p:nvPr>
        </p:nvSpPr>
        <p:spPr>
          <a:xfrm>
            <a:off x="304800" y="1219200"/>
            <a:ext cx="8610600" cy="4800600"/>
          </a:xfrm>
        </p:spPr>
        <p:txBody>
          <a:bodyPr/>
          <a:lstStyle/>
          <a:p>
            <a:pPr algn="just"/>
            <a:r>
              <a:rPr lang="en-US" sz="3200" dirty="0"/>
              <a:t>We can have local variables, including formal </a:t>
            </a:r>
            <a:r>
              <a:rPr lang="en-US" sz="3200"/>
              <a:t>parameters to methods</a:t>
            </a:r>
            <a:r>
              <a:rPr lang="en-US" sz="3200" dirty="0"/>
              <a:t>, which has the same name of the class instance  variables(attributes).</a:t>
            </a:r>
          </a:p>
          <a:p>
            <a:pPr algn="just"/>
            <a:r>
              <a:rPr lang="en-US" sz="3200" dirty="0"/>
              <a:t>When a local variable has the same name as an instance variable, the local variable hides the instance variable.</a:t>
            </a:r>
          </a:p>
          <a:p>
            <a:pPr lvl="1" algn="just"/>
            <a:r>
              <a:rPr lang="en-US" sz="2800" dirty="0"/>
              <a:t>  </a:t>
            </a:r>
            <a:r>
              <a:rPr lang="en-US" sz="2800" dirty="0">
                <a:solidFill>
                  <a:srgbClr val="FF0000"/>
                </a:solidFill>
              </a:rPr>
              <a:t>this</a:t>
            </a:r>
            <a:r>
              <a:rPr lang="en-US" sz="2800" dirty="0"/>
              <a:t> helps to solve the issue</a:t>
            </a:r>
          </a:p>
          <a:p>
            <a:pPr lvl="1" algn="just"/>
            <a:r>
              <a:rPr lang="en-US" sz="2800" dirty="0"/>
              <a:t>Use </a:t>
            </a:r>
            <a:r>
              <a:rPr lang="en-US" sz="2800" dirty="0">
                <a:solidFill>
                  <a:srgbClr val="FF0000"/>
                </a:solidFill>
              </a:rPr>
              <a:t>this.</a:t>
            </a:r>
            <a:r>
              <a:rPr lang="en-US" sz="2800" dirty="0"/>
              <a:t> along with instance variables.</a:t>
            </a:r>
          </a:p>
        </p:txBody>
      </p:sp>
      <p:sp>
        <p:nvSpPr>
          <p:cNvPr id="4" name="Slide Number Placeholder 3">
            <a:extLst>
              <a:ext uri="{FF2B5EF4-FFF2-40B4-BE49-F238E27FC236}">
                <a16:creationId xmlns:a16="http://schemas.microsoft.com/office/drawing/2014/main" id="{C0C692EE-AAB0-C612-A5F2-21EDFF137799}"/>
              </a:ext>
            </a:extLst>
          </p:cNvPr>
          <p:cNvSpPr>
            <a:spLocks noGrp="1"/>
          </p:cNvSpPr>
          <p:nvPr>
            <p:ph type="sldNum" sz="quarter" idx="12"/>
          </p:nvPr>
        </p:nvSpPr>
        <p:spPr/>
        <p:txBody>
          <a:bodyPr/>
          <a:lstStyle/>
          <a:p>
            <a:pPr>
              <a:defRPr/>
            </a:pPr>
            <a:fld id="{7F50D522-CBA4-4108-90DA-9951FACF1C08}" type="slidenum">
              <a:rPr lang="en-US" smtClean="0"/>
              <a:pPr>
                <a:defRPr/>
              </a:pPr>
              <a:t>41</a:t>
            </a:fld>
            <a:endParaRPr lang="en-US"/>
          </a:p>
        </p:txBody>
      </p:sp>
    </p:spTree>
    <p:extLst>
      <p:ext uri="{BB962C8B-B14F-4D97-AF65-F5344CB8AC3E}">
        <p14:creationId xmlns:p14="http://schemas.microsoft.com/office/powerpoint/2010/main" val="1257763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A1731-C52F-044E-D539-EB712AC05C9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B64A3EF-554A-B2CA-AAAC-D0FB1C26D0D1}"/>
              </a:ext>
            </a:extLst>
          </p:cNvPr>
          <p:cNvSpPr>
            <a:spLocks noGrp="1"/>
          </p:cNvSpPr>
          <p:nvPr>
            <p:ph sz="quarter" idx="1"/>
          </p:nvPr>
        </p:nvSpPr>
        <p:spPr/>
        <p:txBody>
          <a:bodyPr/>
          <a:lstStyle/>
          <a:p>
            <a:pPr marL="0" indent="0">
              <a:buNone/>
            </a:pPr>
            <a:endParaRPr lang="en-US" dirty="0"/>
          </a:p>
        </p:txBody>
      </p:sp>
      <p:sp>
        <p:nvSpPr>
          <p:cNvPr id="4" name="Slide Number Placeholder 3">
            <a:extLst>
              <a:ext uri="{FF2B5EF4-FFF2-40B4-BE49-F238E27FC236}">
                <a16:creationId xmlns:a16="http://schemas.microsoft.com/office/drawing/2014/main" id="{C0C692EE-AAB0-C612-A5F2-21EDFF137799}"/>
              </a:ext>
            </a:extLst>
          </p:cNvPr>
          <p:cNvSpPr>
            <a:spLocks noGrp="1"/>
          </p:cNvSpPr>
          <p:nvPr>
            <p:ph type="sldNum" sz="quarter" idx="12"/>
          </p:nvPr>
        </p:nvSpPr>
        <p:spPr/>
        <p:txBody>
          <a:bodyPr/>
          <a:lstStyle/>
          <a:p>
            <a:pPr>
              <a:defRPr/>
            </a:pPr>
            <a:fld id="{7F50D522-CBA4-4108-90DA-9951FACF1C08}" type="slidenum">
              <a:rPr lang="en-US" smtClean="0"/>
              <a:pPr>
                <a:defRPr/>
              </a:pPr>
              <a:t>42</a:t>
            </a:fld>
            <a:endParaRPr lang="en-US"/>
          </a:p>
        </p:txBody>
      </p:sp>
      <p:pic>
        <p:nvPicPr>
          <p:cNvPr id="7" name="Picture 6">
            <a:extLst>
              <a:ext uri="{FF2B5EF4-FFF2-40B4-BE49-F238E27FC236}">
                <a16:creationId xmlns:a16="http://schemas.microsoft.com/office/drawing/2014/main" id="{0B526E82-39E7-1F5F-72CD-2B7B192B0F39}"/>
              </a:ext>
            </a:extLst>
          </p:cNvPr>
          <p:cNvPicPr>
            <a:picLocks noChangeAspect="1"/>
          </p:cNvPicPr>
          <p:nvPr/>
        </p:nvPicPr>
        <p:blipFill>
          <a:blip r:embed="rId2"/>
          <a:stretch>
            <a:fillRect/>
          </a:stretch>
        </p:blipFill>
        <p:spPr>
          <a:xfrm>
            <a:off x="955918" y="838200"/>
            <a:ext cx="7426082" cy="5372099"/>
          </a:xfrm>
          <a:prstGeom prst="rect">
            <a:avLst/>
          </a:prstGeom>
        </p:spPr>
      </p:pic>
      <p:sp>
        <p:nvSpPr>
          <p:cNvPr id="5" name="TextBox 4">
            <a:extLst>
              <a:ext uri="{FF2B5EF4-FFF2-40B4-BE49-F238E27FC236}">
                <a16:creationId xmlns:a16="http://schemas.microsoft.com/office/drawing/2014/main" id="{AA089B0D-6D9C-4D34-7E43-E0B21B05C1E0}"/>
              </a:ext>
            </a:extLst>
          </p:cNvPr>
          <p:cNvSpPr txBox="1"/>
          <p:nvPr/>
        </p:nvSpPr>
        <p:spPr>
          <a:xfrm>
            <a:off x="2514600" y="5334000"/>
            <a:ext cx="1219200" cy="461665"/>
          </a:xfrm>
          <a:prstGeom prst="rect">
            <a:avLst/>
          </a:prstGeom>
          <a:solidFill>
            <a:schemeClr val="bg1"/>
          </a:solidFill>
        </p:spPr>
        <p:txBody>
          <a:bodyPr wrap="square" rtlCol="0">
            <a:spAutoFit/>
          </a:bodyPr>
          <a:lstStyle/>
          <a:p>
            <a:r>
              <a:rPr lang="en-US" sz="2400" b="1" dirty="0"/>
              <a:t>height;</a:t>
            </a:r>
          </a:p>
        </p:txBody>
      </p:sp>
      <p:sp>
        <p:nvSpPr>
          <p:cNvPr id="8" name="TextBox 7">
            <a:extLst>
              <a:ext uri="{FF2B5EF4-FFF2-40B4-BE49-F238E27FC236}">
                <a16:creationId xmlns:a16="http://schemas.microsoft.com/office/drawing/2014/main" id="{A170F27C-8D67-4900-DBDD-11F584D794DE}"/>
              </a:ext>
            </a:extLst>
          </p:cNvPr>
          <p:cNvSpPr txBox="1"/>
          <p:nvPr/>
        </p:nvSpPr>
        <p:spPr>
          <a:xfrm>
            <a:off x="2438400" y="1752600"/>
            <a:ext cx="457200" cy="400110"/>
          </a:xfrm>
          <a:prstGeom prst="rect">
            <a:avLst/>
          </a:prstGeom>
          <a:noFill/>
        </p:spPr>
        <p:txBody>
          <a:bodyPr wrap="square" rtlCol="0">
            <a:spAutoFit/>
          </a:bodyPr>
          <a:lstStyle/>
          <a:p>
            <a:r>
              <a:rPr lang="en-US" sz="2000" b="1" dirty="0"/>
              <a:t>;</a:t>
            </a:r>
          </a:p>
        </p:txBody>
      </p:sp>
    </p:spTree>
    <p:extLst>
      <p:ext uri="{BB962C8B-B14F-4D97-AF65-F5344CB8AC3E}">
        <p14:creationId xmlns:p14="http://schemas.microsoft.com/office/powerpoint/2010/main" val="20291135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955E6-32D0-3474-CFE4-1E0DFA424D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2473BC-E679-F51C-ADD9-10152E84B99F}"/>
              </a:ext>
            </a:extLst>
          </p:cNvPr>
          <p:cNvSpPr>
            <a:spLocks noGrp="1"/>
          </p:cNvSpPr>
          <p:nvPr>
            <p:ph sz="quarter" idx="1"/>
          </p:nvPr>
        </p:nvSpPr>
        <p:spPr>
          <a:xfrm>
            <a:off x="0" y="685800"/>
            <a:ext cx="8686800" cy="5791200"/>
          </a:xfrm>
        </p:spPr>
        <p:txBody>
          <a:bodyPr/>
          <a:lstStyle/>
          <a:p>
            <a:endParaRPr lang="en-US" dirty="0"/>
          </a:p>
        </p:txBody>
      </p:sp>
      <p:sp>
        <p:nvSpPr>
          <p:cNvPr id="4" name="Slide Number Placeholder 3">
            <a:extLst>
              <a:ext uri="{FF2B5EF4-FFF2-40B4-BE49-F238E27FC236}">
                <a16:creationId xmlns:a16="http://schemas.microsoft.com/office/drawing/2014/main" id="{6F3126A7-4FD6-942B-6FFF-C6AEC56E027E}"/>
              </a:ext>
            </a:extLst>
          </p:cNvPr>
          <p:cNvSpPr>
            <a:spLocks noGrp="1"/>
          </p:cNvSpPr>
          <p:nvPr>
            <p:ph type="sldNum" sz="quarter" idx="12"/>
          </p:nvPr>
        </p:nvSpPr>
        <p:spPr/>
        <p:txBody>
          <a:bodyPr/>
          <a:lstStyle/>
          <a:p>
            <a:pPr>
              <a:defRPr/>
            </a:pPr>
            <a:fld id="{7F50D522-CBA4-4108-90DA-9951FACF1C08}" type="slidenum">
              <a:rPr lang="en-US" smtClean="0"/>
              <a:pPr>
                <a:defRPr/>
              </a:pPr>
              <a:t>43</a:t>
            </a:fld>
            <a:endParaRPr lang="en-US"/>
          </a:p>
        </p:txBody>
      </p:sp>
      <p:pic>
        <p:nvPicPr>
          <p:cNvPr id="6" name="Picture 5">
            <a:extLst>
              <a:ext uri="{FF2B5EF4-FFF2-40B4-BE49-F238E27FC236}">
                <a16:creationId xmlns:a16="http://schemas.microsoft.com/office/drawing/2014/main" id="{7EFC2DF4-5115-C30E-B0FD-AC9B361F0162}"/>
              </a:ext>
            </a:extLst>
          </p:cNvPr>
          <p:cNvPicPr>
            <a:picLocks noChangeAspect="1"/>
          </p:cNvPicPr>
          <p:nvPr/>
        </p:nvPicPr>
        <p:blipFill>
          <a:blip r:embed="rId2"/>
          <a:stretch>
            <a:fillRect/>
          </a:stretch>
        </p:blipFill>
        <p:spPr>
          <a:xfrm>
            <a:off x="603250" y="474542"/>
            <a:ext cx="8007350" cy="5316658"/>
          </a:xfrm>
          <a:prstGeom prst="rect">
            <a:avLst/>
          </a:prstGeom>
        </p:spPr>
      </p:pic>
    </p:spTree>
    <p:extLst>
      <p:ext uri="{BB962C8B-B14F-4D97-AF65-F5344CB8AC3E}">
        <p14:creationId xmlns:p14="http://schemas.microsoft.com/office/powerpoint/2010/main" val="3982677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4B33A-1730-4A6F-CF1A-5BCD89494F22}"/>
              </a:ext>
            </a:extLst>
          </p:cNvPr>
          <p:cNvSpPr>
            <a:spLocks noGrp="1"/>
          </p:cNvSpPr>
          <p:nvPr>
            <p:ph type="title"/>
          </p:nvPr>
        </p:nvSpPr>
        <p:spPr>
          <a:xfrm>
            <a:off x="914400" y="274638"/>
            <a:ext cx="7772400" cy="1020762"/>
          </a:xfrm>
        </p:spPr>
        <p:txBody>
          <a:bodyPr/>
          <a:lstStyle/>
          <a:p>
            <a:r>
              <a:rPr lang="en-US" dirty="0"/>
              <a:t>Method Overloading</a:t>
            </a:r>
            <a:br>
              <a:rPr lang="en-US" dirty="0"/>
            </a:br>
            <a:endParaRPr lang="en-US" dirty="0"/>
          </a:p>
        </p:txBody>
      </p:sp>
      <p:sp>
        <p:nvSpPr>
          <p:cNvPr id="3" name="Content Placeholder 2">
            <a:extLst>
              <a:ext uri="{FF2B5EF4-FFF2-40B4-BE49-F238E27FC236}">
                <a16:creationId xmlns:a16="http://schemas.microsoft.com/office/drawing/2014/main" id="{E9C9997D-D4BC-8120-F9C6-CBE12C9DCCDE}"/>
              </a:ext>
            </a:extLst>
          </p:cNvPr>
          <p:cNvSpPr>
            <a:spLocks noGrp="1"/>
          </p:cNvSpPr>
          <p:nvPr>
            <p:ph sz="quarter" idx="1"/>
          </p:nvPr>
        </p:nvSpPr>
        <p:spPr>
          <a:xfrm>
            <a:off x="0" y="533400"/>
            <a:ext cx="8997950" cy="5867400"/>
          </a:xfrm>
        </p:spPr>
        <p:txBody>
          <a:bodyPr/>
          <a:lstStyle/>
          <a:p>
            <a:pPr algn="just"/>
            <a:r>
              <a:rPr lang="en-US" sz="3200" dirty="0"/>
              <a:t> It is possible to define two or more methods with same name within the same class, but their parameter declarations should be different.</a:t>
            </a:r>
          </a:p>
          <a:p>
            <a:pPr algn="just"/>
            <a:r>
              <a:rPr lang="en-US" sz="3200" dirty="0"/>
              <a:t>This is called method overloading.</a:t>
            </a:r>
          </a:p>
          <a:p>
            <a:pPr algn="just"/>
            <a:r>
              <a:rPr lang="en-US" sz="3200" dirty="0"/>
              <a:t>This is a form of polymorphism.</a:t>
            </a:r>
          </a:p>
          <a:p>
            <a:pPr algn="just"/>
            <a:r>
              <a:rPr lang="en-US" sz="3200" dirty="0"/>
              <a:t> Overloaded methods must differ in the type and/or number of their parameters. (return types is not significant.)</a:t>
            </a:r>
          </a:p>
          <a:p>
            <a:pPr algn="just"/>
            <a:r>
              <a:rPr lang="en-US" sz="3200" dirty="0"/>
              <a:t> When an overloaded method is invoked, Java uses the type and/or number of arguments to determine which version of the overloaded method to actually call.</a:t>
            </a:r>
          </a:p>
        </p:txBody>
      </p:sp>
      <p:sp>
        <p:nvSpPr>
          <p:cNvPr id="4" name="Slide Number Placeholder 3">
            <a:extLst>
              <a:ext uri="{FF2B5EF4-FFF2-40B4-BE49-F238E27FC236}">
                <a16:creationId xmlns:a16="http://schemas.microsoft.com/office/drawing/2014/main" id="{761AA38D-CC34-E204-BABC-D1FBE6D56B04}"/>
              </a:ext>
            </a:extLst>
          </p:cNvPr>
          <p:cNvSpPr>
            <a:spLocks noGrp="1"/>
          </p:cNvSpPr>
          <p:nvPr>
            <p:ph type="sldNum" sz="quarter" idx="12"/>
          </p:nvPr>
        </p:nvSpPr>
        <p:spPr/>
        <p:txBody>
          <a:bodyPr/>
          <a:lstStyle/>
          <a:p>
            <a:pPr>
              <a:defRPr/>
            </a:pPr>
            <a:fld id="{7F50D522-CBA4-4108-90DA-9951FACF1C08}" type="slidenum">
              <a:rPr lang="en-US" smtClean="0"/>
              <a:pPr>
                <a:defRPr/>
              </a:pPr>
              <a:t>44</a:t>
            </a:fld>
            <a:endParaRPr lang="en-US"/>
          </a:p>
        </p:txBody>
      </p:sp>
    </p:spTree>
    <p:extLst>
      <p:ext uri="{BB962C8B-B14F-4D97-AF65-F5344CB8AC3E}">
        <p14:creationId xmlns:p14="http://schemas.microsoft.com/office/powerpoint/2010/main" val="38195569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019AFC-7FE3-F652-ABD6-D263C3936E2E}"/>
              </a:ext>
            </a:extLst>
          </p:cNvPr>
          <p:cNvSpPr>
            <a:spLocks noGrp="1"/>
          </p:cNvSpPr>
          <p:nvPr>
            <p:ph type="title"/>
          </p:nvPr>
        </p:nvSpPr>
        <p:spPr>
          <a:xfrm>
            <a:off x="914400" y="-76200"/>
            <a:ext cx="7772400" cy="1295400"/>
          </a:xfrm>
        </p:spPr>
        <p:txBody>
          <a:bodyPr/>
          <a:lstStyle/>
          <a:p>
            <a:r>
              <a:rPr lang="en-US" dirty="0"/>
              <a:t>Demonstrate method overloading</a:t>
            </a:r>
            <a:br>
              <a:rPr lang="en-US" dirty="0"/>
            </a:br>
            <a:endParaRPr lang="en-US" dirty="0"/>
          </a:p>
        </p:txBody>
      </p:sp>
      <p:sp>
        <p:nvSpPr>
          <p:cNvPr id="7" name="Content Placeholder 6">
            <a:extLst>
              <a:ext uri="{FF2B5EF4-FFF2-40B4-BE49-F238E27FC236}">
                <a16:creationId xmlns:a16="http://schemas.microsoft.com/office/drawing/2014/main" id="{682604CD-E953-77C1-D33B-E64DCCE2E687}"/>
              </a:ext>
            </a:extLst>
          </p:cNvPr>
          <p:cNvSpPr>
            <a:spLocks noGrp="1"/>
          </p:cNvSpPr>
          <p:nvPr>
            <p:ph sz="half" idx="2"/>
          </p:nvPr>
        </p:nvSpPr>
        <p:spPr>
          <a:xfrm>
            <a:off x="76200" y="457200"/>
            <a:ext cx="4425950" cy="5867400"/>
          </a:xfrm>
          <a:ln>
            <a:solidFill>
              <a:schemeClr val="tx1"/>
            </a:solidFill>
          </a:ln>
        </p:spPr>
        <p:txBody>
          <a:bodyPr/>
          <a:lstStyle/>
          <a:p>
            <a:pPr marL="0" indent="0">
              <a:buNone/>
            </a:pPr>
            <a:r>
              <a:rPr lang="en-US" sz="3000" dirty="0"/>
              <a:t>class Over{</a:t>
            </a:r>
          </a:p>
          <a:p>
            <a:pPr marL="0" indent="0">
              <a:buNone/>
            </a:pPr>
            <a:r>
              <a:rPr lang="en-US" sz="3000" dirty="0"/>
              <a:t>void test(){</a:t>
            </a:r>
          </a:p>
          <a:p>
            <a:pPr marL="0" indent="0">
              <a:buNone/>
            </a:pPr>
            <a:r>
              <a:rPr lang="en-US" sz="3000" dirty="0" err="1"/>
              <a:t>System.out.println</a:t>
            </a:r>
            <a:r>
              <a:rPr lang="en-US" sz="3000" dirty="0"/>
              <a:t>("Empty");</a:t>
            </a:r>
          </a:p>
          <a:p>
            <a:pPr marL="0" indent="0">
              <a:buNone/>
            </a:pPr>
            <a:r>
              <a:rPr lang="en-US" sz="3000" dirty="0"/>
              <a:t>}</a:t>
            </a:r>
          </a:p>
          <a:p>
            <a:pPr marL="0" indent="0">
              <a:buNone/>
            </a:pPr>
            <a:r>
              <a:rPr lang="en-US" sz="3000" dirty="0"/>
              <a:t>void test(int a) {</a:t>
            </a:r>
          </a:p>
          <a:p>
            <a:pPr marL="0" indent="0">
              <a:buNone/>
            </a:pPr>
            <a:r>
              <a:rPr lang="en-US" sz="3000" dirty="0" err="1"/>
              <a:t>System.out.println</a:t>
            </a:r>
            <a:r>
              <a:rPr lang="en-US" sz="3000" dirty="0"/>
              <a:t>("a=" + a);</a:t>
            </a:r>
          </a:p>
          <a:p>
            <a:pPr marL="0" indent="0">
              <a:buNone/>
            </a:pPr>
            <a:r>
              <a:rPr lang="en-US" sz="3000" dirty="0"/>
              <a:t>}</a:t>
            </a:r>
          </a:p>
          <a:p>
            <a:pPr marL="0" indent="0">
              <a:buNone/>
            </a:pPr>
            <a:r>
              <a:rPr lang="en-US" sz="3000" dirty="0"/>
              <a:t>void test(int a, int b) {</a:t>
            </a:r>
          </a:p>
          <a:p>
            <a:pPr marL="0" indent="0">
              <a:buNone/>
            </a:pPr>
            <a:r>
              <a:rPr lang="en-US" sz="3000" dirty="0" err="1"/>
              <a:t>System.out.println</a:t>
            </a:r>
            <a:r>
              <a:rPr lang="en-US" sz="3000" dirty="0"/>
              <a:t>("a="+a);</a:t>
            </a:r>
          </a:p>
          <a:p>
            <a:pPr marL="0" indent="0">
              <a:buNone/>
            </a:pPr>
            <a:r>
              <a:rPr lang="en-US" sz="3000" dirty="0" err="1"/>
              <a:t>System.out.println</a:t>
            </a:r>
            <a:r>
              <a:rPr lang="en-US" sz="3000" dirty="0"/>
              <a:t>(“b="+b);</a:t>
            </a:r>
          </a:p>
          <a:p>
            <a:pPr marL="0" indent="0">
              <a:buNone/>
            </a:pPr>
            <a:r>
              <a:rPr lang="en-US" sz="3000" dirty="0"/>
              <a:t>} }</a:t>
            </a:r>
          </a:p>
        </p:txBody>
      </p:sp>
      <p:sp>
        <p:nvSpPr>
          <p:cNvPr id="9" name="Content Placeholder 8">
            <a:extLst>
              <a:ext uri="{FF2B5EF4-FFF2-40B4-BE49-F238E27FC236}">
                <a16:creationId xmlns:a16="http://schemas.microsoft.com/office/drawing/2014/main" id="{CA59A56C-EA34-E3D8-90C8-8C9571E82B74}"/>
              </a:ext>
            </a:extLst>
          </p:cNvPr>
          <p:cNvSpPr>
            <a:spLocks noGrp="1"/>
          </p:cNvSpPr>
          <p:nvPr>
            <p:ph sz="half" idx="4"/>
          </p:nvPr>
        </p:nvSpPr>
        <p:spPr>
          <a:xfrm>
            <a:off x="4572000" y="457200"/>
            <a:ext cx="5334000" cy="6400800"/>
          </a:xfrm>
          <a:ln>
            <a:solidFill>
              <a:schemeClr val="tx1"/>
            </a:solidFill>
          </a:ln>
        </p:spPr>
        <p:txBody>
          <a:bodyPr/>
          <a:lstStyle/>
          <a:p>
            <a:pPr marL="0" indent="0">
              <a:buNone/>
            </a:pPr>
            <a:r>
              <a:rPr lang="en-US" sz="3000" dirty="0"/>
              <a:t>class Sample {</a:t>
            </a:r>
          </a:p>
          <a:p>
            <a:pPr marL="0" indent="0">
              <a:buNone/>
            </a:pPr>
            <a:r>
              <a:rPr lang="en-US" sz="3000" dirty="0"/>
              <a:t>public static void main(String </a:t>
            </a:r>
            <a:r>
              <a:rPr lang="en-US" sz="3000" dirty="0" err="1"/>
              <a:t>args</a:t>
            </a:r>
            <a:r>
              <a:rPr lang="en-US" sz="3000" dirty="0"/>
              <a:t>[])</a:t>
            </a:r>
          </a:p>
          <a:p>
            <a:pPr marL="0" indent="0">
              <a:buNone/>
            </a:pPr>
            <a:r>
              <a:rPr lang="en-US" sz="3000" dirty="0"/>
              <a:t>{</a:t>
            </a:r>
          </a:p>
          <a:p>
            <a:pPr marL="0" indent="0">
              <a:buNone/>
            </a:pPr>
            <a:r>
              <a:rPr lang="en-US" sz="3000" dirty="0"/>
              <a:t>Over </a:t>
            </a:r>
            <a:r>
              <a:rPr lang="en-US" sz="3000" dirty="0" err="1"/>
              <a:t>ob</a:t>
            </a:r>
            <a:r>
              <a:rPr lang="en-US" sz="3000" dirty="0"/>
              <a:t> = new Over();</a:t>
            </a:r>
          </a:p>
          <a:p>
            <a:pPr marL="0" indent="0">
              <a:buNone/>
            </a:pPr>
            <a:r>
              <a:rPr lang="en-US" sz="3000" dirty="0" err="1"/>
              <a:t>ob.test</a:t>
            </a:r>
            <a:r>
              <a:rPr lang="en-US" sz="3000" dirty="0"/>
              <a:t>();</a:t>
            </a:r>
          </a:p>
          <a:p>
            <a:pPr marL="0" indent="0">
              <a:buNone/>
            </a:pPr>
            <a:r>
              <a:rPr lang="en-US" sz="3000" dirty="0" err="1"/>
              <a:t>ob.test</a:t>
            </a:r>
            <a:r>
              <a:rPr lang="en-US" sz="3000" dirty="0"/>
              <a:t>(10);</a:t>
            </a:r>
          </a:p>
          <a:p>
            <a:pPr marL="0" indent="0">
              <a:buNone/>
            </a:pPr>
            <a:r>
              <a:rPr lang="en-US" sz="3000" dirty="0" err="1"/>
              <a:t>ob.test</a:t>
            </a:r>
            <a:r>
              <a:rPr lang="en-US" sz="3000" dirty="0"/>
              <a:t>(2, 5);</a:t>
            </a:r>
          </a:p>
          <a:p>
            <a:pPr marL="0" indent="0">
              <a:buNone/>
            </a:pPr>
            <a:r>
              <a:rPr lang="en-US" sz="3000" dirty="0"/>
              <a:t>}}</a:t>
            </a:r>
          </a:p>
          <a:p>
            <a:pPr marL="0" indent="0">
              <a:buNone/>
            </a:pPr>
            <a:r>
              <a:rPr lang="en-US" sz="2000" u="sng" dirty="0"/>
              <a:t>Output</a:t>
            </a:r>
          </a:p>
          <a:p>
            <a:pPr marL="0" indent="0">
              <a:buNone/>
            </a:pPr>
            <a:r>
              <a:rPr lang="en-US" sz="2000" dirty="0"/>
              <a:t>Empty</a:t>
            </a:r>
          </a:p>
          <a:p>
            <a:pPr marL="0" indent="0">
              <a:buNone/>
            </a:pPr>
            <a:r>
              <a:rPr lang="en-US" sz="2000" dirty="0"/>
              <a:t>a=10</a:t>
            </a:r>
          </a:p>
          <a:p>
            <a:pPr marL="0" indent="0">
              <a:buNone/>
            </a:pPr>
            <a:r>
              <a:rPr lang="en-US" sz="2000" dirty="0"/>
              <a:t>a=2</a:t>
            </a:r>
          </a:p>
          <a:p>
            <a:pPr marL="0" indent="0">
              <a:buNone/>
            </a:pPr>
            <a:r>
              <a:rPr lang="en-US" sz="2000" dirty="0"/>
              <a:t>b=5</a:t>
            </a:r>
          </a:p>
          <a:p>
            <a:pPr marL="0" indent="0">
              <a:buNone/>
            </a:pPr>
            <a:endParaRPr lang="en-US" sz="3000" u="sng" dirty="0"/>
          </a:p>
          <a:p>
            <a:pPr marL="0" indent="0">
              <a:buNone/>
            </a:pPr>
            <a:endParaRPr lang="en-US" sz="3000" u="sng" dirty="0"/>
          </a:p>
        </p:txBody>
      </p:sp>
      <p:sp>
        <p:nvSpPr>
          <p:cNvPr id="4" name="Slide Number Placeholder 3">
            <a:extLst>
              <a:ext uri="{FF2B5EF4-FFF2-40B4-BE49-F238E27FC236}">
                <a16:creationId xmlns:a16="http://schemas.microsoft.com/office/drawing/2014/main" id="{92456F26-B404-6A42-41D9-1A4C393BD20E}"/>
              </a:ext>
            </a:extLst>
          </p:cNvPr>
          <p:cNvSpPr>
            <a:spLocks noGrp="1"/>
          </p:cNvSpPr>
          <p:nvPr>
            <p:ph type="sldNum" sz="quarter" idx="12"/>
          </p:nvPr>
        </p:nvSpPr>
        <p:spPr/>
        <p:txBody>
          <a:bodyPr/>
          <a:lstStyle/>
          <a:p>
            <a:pPr>
              <a:defRPr/>
            </a:pPr>
            <a:fld id="{7F50D522-CBA4-4108-90DA-9951FACF1C08}" type="slidenum">
              <a:rPr lang="en-US" smtClean="0"/>
              <a:pPr>
                <a:defRPr/>
              </a:pPr>
              <a:t>45</a:t>
            </a:fld>
            <a:endParaRPr lang="en-US"/>
          </a:p>
        </p:txBody>
      </p:sp>
    </p:spTree>
    <p:extLst>
      <p:ext uri="{BB962C8B-B14F-4D97-AF65-F5344CB8AC3E}">
        <p14:creationId xmlns:p14="http://schemas.microsoft.com/office/powerpoint/2010/main" val="26972095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747A45-323A-A8D6-0C13-DFF4844E61E5}"/>
              </a:ext>
            </a:extLst>
          </p:cNvPr>
          <p:cNvSpPr>
            <a:spLocks noGrp="1"/>
          </p:cNvSpPr>
          <p:nvPr>
            <p:ph sz="quarter" idx="1"/>
          </p:nvPr>
        </p:nvSpPr>
        <p:spPr>
          <a:xfrm>
            <a:off x="603250" y="190500"/>
            <a:ext cx="8388350" cy="5829300"/>
          </a:xfrm>
        </p:spPr>
        <p:txBody>
          <a:bodyPr/>
          <a:lstStyle/>
          <a:p>
            <a:pPr algn="just"/>
            <a:r>
              <a:rPr lang="en-US" sz="3200" dirty="0"/>
              <a:t>Here, test( ) is overloaded three times.</a:t>
            </a:r>
          </a:p>
          <a:p>
            <a:pPr lvl="1" algn="just"/>
            <a:r>
              <a:rPr lang="en-US" sz="3200" dirty="0"/>
              <a:t> The first version test() takes no parameters,</a:t>
            </a:r>
          </a:p>
          <a:p>
            <a:pPr lvl="1" algn="just"/>
            <a:r>
              <a:rPr lang="en-US" sz="3200" dirty="0"/>
              <a:t> the second test(int a)takes one integer parameter</a:t>
            </a:r>
          </a:p>
          <a:p>
            <a:pPr lvl="1" algn="just"/>
            <a:r>
              <a:rPr lang="en-US" sz="3200" dirty="0"/>
              <a:t> the third test(int </a:t>
            </a:r>
            <a:r>
              <a:rPr lang="en-US" sz="3200" dirty="0" err="1"/>
              <a:t>a,int</a:t>
            </a:r>
            <a:r>
              <a:rPr lang="en-US" sz="3200" dirty="0"/>
              <a:t> b) takes two integer parameters.</a:t>
            </a:r>
          </a:p>
          <a:p>
            <a:pPr algn="just"/>
            <a:r>
              <a:rPr lang="en-US" sz="3200" dirty="0"/>
              <a:t> When an overloaded method is called, Java looks for a match between the arguments used to call the method and the method's parameters</a:t>
            </a:r>
          </a:p>
          <a:p>
            <a:pPr algn="just"/>
            <a:r>
              <a:rPr lang="en-US" sz="3200" dirty="0"/>
              <a:t> This match need not always be exact.</a:t>
            </a:r>
          </a:p>
          <a:p>
            <a:pPr lvl="1" algn="just"/>
            <a:r>
              <a:rPr lang="en-US" sz="3200" dirty="0"/>
              <a:t> In some cases, Java's automatic type conversions can play a role in overload resolution.</a:t>
            </a:r>
          </a:p>
        </p:txBody>
      </p:sp>
      <p:sp>
        <p:nvSpPr>
          <p:cNvPr id="4" name="Slide Number Placeholder 3">
            <a:extLst>
              <a:ext uri="{FF2B5EF4-FFF2-40B4-BE49-F238E27FC236}">
                <a16:creationId xmlns:a16="http://schemas.microsoft.com/office/drawing/2014/main" id="{BD5B5411-15B9-76B8-6C29-DF89C2F22479}"/>
              </a:ext>
            </a:extLst>
          </p:cNvPr>
          <p:cNvSpPr>
            <a:spLocks noGrp="1"/>
          </p:cNvSpPr>
          <p:nvPr>
            <p:ph type="sldNum" sz="quarter" idx="12"/>
          </p:nvPr>
        </p:nvSpPr>
        <p:spPr/>
        <p:txBody>
          <a:bodyPr/>
          <a:lstStyle/>
          <a:p>
            <a:pPr>
              <a:defRPr/>
            </a:pPr>
            <a:fld id="{7F50D522-CBA4-4108-90DA-9951FACF1C08}" type="slidenum">
              <a:rPr lang="en-US" smtClean="0"/>
              <a:pPr>
                <a:defRPr/>
              </a:pPr>
              <a:t>46</a:t>
            </a:fld>
            <a:endParaRPr lang="en-US"/>
          </a:p>
        </p:txBody>
      </p:sp>
    </p:spTree>
    <p:extLst>
      <p:ext uri="{BB962C8B-B14F-4D97-AF65-F5344CB8AC3E}">
        <p14:creationId xmlns:p14="http://schemas.microsoft.com/office/powerpoint/2010/main" val="16198344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2F4B5-B867-F4CD-3BB9-B106D1D28DE6}"/>
              </a:ext>
            </a:extLst>
          </p:cNvPr>
          <p:cNvSpPr>
            <a:spLocks noGrp="1"/>
          </p:cNvSpPr>
          <p:nvPr>
            <p:ph type="title"/>
          </p:nvPr>
        </p:nvSpPr>
        <p:spPr>
          <a:xfrm>
            <a:off x="-228600" y="220980"/>
            <a:ext cx="10744200" cy="876300"/>
          </a:xfrm>
        </p:spPr>
        <p:txBody>
          <a:bodyPr/>
          <a:lstStyle/>
          <a:p>
            <a:r>
              <a:rPr lang="en-US" sz="3600" dirty="0"/>
              <a:t>Overloading -through automatic type conversions</a:t>
            </a:r>
          </a:p>
        </p:txBody>
      </p:sp>
      <p:sp>
        <p:nvSpPr>
          <p:cNvPr id="5" name="Content Placeholder 4">
            <a:extLst>
              <a:ext uri="{FF2B5EF4-FFF2-40B4-BE49-F238E27FC236}">
                <a16:creationId xmlns:a16="http://schemas.microsoft.com/office/drawing/2014/main" id="{57BBC53F-CCF5-6ACC-7DA2-A6D5F5A9AFE5}"/>
              </a:ext>
            </a:extLst>
          </p:cNvPr>
          <p:cNvSpPr>
            <a:spLocks noGrp="1"/>
          </p:cNvSpPr>
          <p:nvPr>
            <p:ph sz="quarter" idx="1"/>
          </p:nvPr>
        </p:nvSpPr>
        <p:spPr>
          <a:xfrm>
            <a:off x="-76200" y="1028700"/>
            <a:ext cx="4709160" cy="4914900"/>
          </a:xfrm>
          <a:ln>
            <a:solidFill>
              <a:schemeClr val="tx1"/>
            </a:solidFill>
          </a:ln>
        </p:spPr>
        <p:txBody>
          <a:bodyPr/>
          <a:lstStyle/>
          <a:p>
            <a:pPr marL="0" indent="0">
              <a:buNone/>
            </a:pPr>
            <a:r>
              <a:rPr lang="en-US" sz="3200" dirty="0"/>
              <a:t>class Over{</a:t>
            </a:r>
          </a:p>
          <a:p>
            <a:pPr marL="0" indent="0">
              <a:buNone/>
            </a:pPr>
            <a:r>
              <a:rPr lang="en-US" sz="3200" dirty="0"/>
              <a:t>void test(){</a:t>
            </a:r>
          </a:p>
          <a:p>
            <a:pPr marL="0" indent="0">
              <a:buNone/>
            </a:pPr>
            <a:r>
              <a:rPr lang="en-US" sz="3200" dirty="0" err="1"/>
              <a:t>System.out.println</a:t>
            </a:r>
            <a:r>
              <a:rPr lang="en-US" sz="3200" dirty="0"/>
              <a:t>("Empty");</a:t>
            </a:r>
          </a:p>
          <a:p>
            <a:pPr marL="0" indent="0">
              <a:buNone/>
            </a:pPr>
            <a:r>
              <a:rPr lang="en-US" sz="3200" dirty="0"/>
              <a:t>}</a:t>
            </a:r>
          </a:p>
          <a:p>
            <a:pPr marL="0" indent="0">
              <a:buNone/>
            </a:pPr>
            <a:r>
              <a:rPr lang="en-US" sz="3200" dirty="0"/>
              <a:t>void test(double a) {</a:t>
            </a:r>
          </a:p>
          <a:p>
            <a:pPr marL="0" indent="0">
              <a:buNone/>
            </a:pPr>
            <a:r>
              <a:rPr lang="en-US" sz="3200" dirty="0" err="1"/>
              <a:t>System.out.println</a:t>
            </a:r>
            <a:r>
              <a:rPr lang="en-US" sz="3200" dirty="0"/>
              <a:t>("a=" + a);</a:t>
            </a:r>
          </a:p>
          <a:p>
            <a:pPr marL="0" indent="0">
              <a:buNone/>
            </a:pPr>
            <a:r>
              <a:rPr lang="en-US" sz="3200" dirty="0"/>
              <a:t>}</a:t>
            </a:r>
          </a:p>
          <a:p>
            <a:pPr marL="0" indent="0">
              <a:buNone/>
            </a:pPr>
            <a:r>
              <a:rPr lang="en-US" sz="3200" dirty="0"/>
              <a:t> }</a:t>
            </a:r>
          </a:p>
          <a:p>
            <a:pPr marL="0" indent="0">
              <a:buNone/>
            </a:pPr>
            <a:endParaRPr lang="en-US" sz="3200" dirty="0"/>
          </a:p>
        </p:txBody>
      </p:sp>
      <p:sp>
        <p:nvSpPr>
          <p:cNvPr id="6" name="Content Placeholder 5">
            <a:extLst>
              <a:ext uri="{FF2B5EF4-FFF2-40B4-BE49-F238E27FC236}">
                <a16:creationId xmlns:a16="http://schemas.microsoft.com/office/drawing/2014/main" id="{4D6357DD-BC8F-D309-BC1E-35D18D0C25F9}"/>
              </a:ext>
            </a:extLst>
          </p:cNvPr>
          <p:cNvSpPr>
            <a:spLocks noGrp="1"/>
          </p:cNvSpPr>
          <p:nvPr>
            <p:ph sz="quarter" idx="2"/>
          </p:nvPr>
        </p:nvSpPr>
        <p:spPr>
          <a:xfrm>
            <a:off x="4724400" y="1028700"/>
            <a:ext cx="4591050" cy="5829300"/>
          </a:xfrm>
          <a:ln>
            <a:solidFill>
              <a:schemeClr val="tx1"/>
            </a:solidFill>
          </a:ln>
        </p:spPr>
        <p:txBody>
          <a:bodyPr/>
          <a:lstStyle/>
          <a:p>
            <a:pPr marL="0" indent="0">
              <a:buNone/>
            </a:pPr>
            <a:r>
              <a:rPr lang="en-US" dirty="0"/>
              <a:t>class Sample {</a:t>
            </a:r>
          </a:p>
          <a:p>
            <a:pPr marL="0" indent="0">
              <a:buNone/>
            </a:pPr>
            <a:r>
              <a:rPr lang="en-US" dirty="0"/>
              <a:t>public static void main(String </a:t>
            </a:r>
            <a:r>
              <a:rPr lang="en-US" dirty="0" err="1"/>
              <a:t>args</a:t>
            </a:r>
            <a:r>
              <a:rPr lang="en-US" dirty="0"/>
              <a:t>[])</a:t>
            </a:r>
          </a:p>
          <a:p>
            <a:pPr marL="0" indent="0">
              <a:buNone/>
            </a:pPr>
            <a:r>
              <a:rPr lang="en-US" dirty="0"/>
              <a:t>{</a:t>
            </a:r>
          </a:p>
          <a:p>
            <a:pPr marL="0" indent="0">
              <a:buNone/>
            </a:pPr>
            <a:r>
              <a:rPr lang="en-US" dirty="0"/>
              <a:t>Over </a:t>
            </a:r>
            <a:r>
              <a:rPr lang="en-US" dirty="0" err="1"/>
              <a:t>ob</a:t>
            </a:r>
            <a:r>
              <a:rPr lang="en-US" dirty="0"/>
              <a:t> = new Over();</a:t>
            </a:r>
          </a:p>
          <a:p>
            <a:pPr marL="0" indent="0">
              <a:buNone/>
            </a:pPr>
            <a:r>
              <a:rPr lang="en-US" dirty="0" err="1"/>
              <a:t>ob.test</a:t>
            </a:r>
            <a:r>
              <a:rPr lang="en-US" dirty="0"/>
              <a:t>();</a:t>
            </a:r>
          </a:p>
          <a:p>
            <a:pPr marL="0" indent="0">
              <a:buNone/>
            </a:pPr>
            <a:r>
              <a:rPr lang="en-US" dirty="0" err="1"/>
              <a:t>ob.test</a:t>
            </a:r>
            <a:r>
              <a:rPr lang="en-US" dirty="0"/>
              <a:t>(10);</a:t>
            </a:r>
          </a:p>
          <a:p>
            <a:pPr marL="0" indent="0">
              <a:buNone/>
            </a:pPr>
            <a:r>
              <a:rPr lang="en-US" dirty="0" err="1"/>
              <a:t>ob.test</a:t>
            </a:r>
            <a:r>
              <a:rPr lang="en-US" dirty="0"/>
              <a:t>(2.5);</a:t>
            </a:r>
          </a:p>
          <a:p>
            <a:pPr marL="0" indent="0">
              <a:buNone/>
            </a:pPr>
            <a:r>
              <a:rPr lang="en-US" dirty="0"/>
              <a:t>}}</a:t>
            </a:r>
            <a:endParaRPr lang="en-US" dirty="0">
              <a:solidFill>
                <a:srgbClr val="FF0000"/>
              </a:solidFill>
            </a:endParaRPr>
          </a:p>
          <a:p>
            <a:r>
              <a:rPr lang="en-US" dirty="0"/>
              <a:t>o/p</a:t>
            </a:r>
          </a:p>
          <a:p>
            <a:pPr marL="0" indent="0">
              <a:buNone/>
            </a:pPr>
            <a:r>
              <a:rPr lang="en-US" dirty="0"/>
              <a:t>Empty</a:t>
            </a:r>
          </a:p>
          <a:p>
            <a:pPr marL="0" indent="0">
              <a:buNone/>
            </a:pPr>
            <a:r>
              <a:rPr lang="en-US" dirty="0"/>
              <a:t>a=10.0</a:t>
            </a:r>
          </a:p>
          <a:p>
            <a:pPr marL="0" indent="0">
              <a:buNone/>
            </a:pPr>
            <a:r>
              <a:rPr lang="en-US" dirty="0"/>
              <a:t>a=2.5</a:t>
            </a:r>
          </a:p>
        </p:txBody>
      </p:sp>
      <p:sp>
        <p:nvSpPr>
          <p:cNvPr id="4" name="Slide Number Placeholder 3">
            <a:extLst>
              <a:ext uri="{FF2B5EF4-FFF2-40B4-BE49-F238E27FC236}">
                <a16:creationId xmlns:a16="http://schemas.microsoft.com/office/drawing/2014/main" id="{225B532F-D77A-3701-10C9-206F69E552EC}"/>
              </a:ext>
            </a:extLst>
          </p:cNvPr>
          <p:cNvSpPr>
            <a:spLocks noGrp="1"/>
          </p:cNvSpPr>
          <p:nvPr>
            <p:ph type="sldNum" sz="quarter" idx="12"/>
          </p:nvPr>
        </p:nvSpPr>
        <p:spPr/>
        <p:txBody>
          <a:bodyPr/>
          <a:lstStyle/>
          <a:p>
            <a:pPr>
              <a:defRPr/>
            </a:pPr>
            <a:fld id="{7F50D522-CBA4-4108-90DA-9951FACF1C08}" type="slidenum">
              <a:rPr lang="en-US" smtClean="0"/>
              <a:pPr>
                <a:defRPr/>
              </a:pPr>
              <a:t>47</a:t>
            </a:fld>
            <a:endParaRPr lang="en-US"/>
          </a:p>
        </p:txBody>
      </p:sp>
    </p:spTree>
    <p:extLst>
      <p:ext uri="{BB962C8B-B14F-4D97-AF65-F5344CB8AC3E}">
        <p14:creationId xmlns:p14="http://schemas.microsoft.com/office/powerpoint/2010/main" val="39857358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C9520-9777-F8F3-2550-7640F55D18AD}"/>
              </a:ext>
            </a:extLst>
          </p:cNvPr>
          <p:cNvSpPr>
            <a:spLocks noGrp="1"/>
          </p:cNvSpPr>
          <p:nvPr>
            <p:ph type="title"/>
          </p:nvPr>
        </p:nvSpPr>
        <p:spPr/>
        <p:txBody>
          <a:bodyPr/>
          <a:lstStyle/>
          <a:p>
            <a:r>
              <a:rPr lang="en-US" dirty="0"/>
              <a:t>Overloading Constructors</a:t>
            </a:r>
            <a:br>
              <a:rPr lang="en-US" dirty="0"/>
            </a:br>
            <a:endParaRPr lang="en-US" dirty="0"/>
          </a:p>
        </p:txBody>
      </p:sp>
      <p:sp>
        <p:nvSpPr>
          <p:cNvPr id="3" name="Content Placeholder 2">
            <a:extLst>
              <a:ext uri="{FF2B5EF4-FFF2-40B4-BE49-F238E27FC236}">
                <a16:creationId xmlns:a16="http://schemas.microsoft.com/office/drawing/2014/main" id="{751F3254-CF4F-9405-B0A7-4DF7592BAA99}"/>
              </a:ext>
            </a:extLst>
          </p:cNvPr>
          <p:cNvSpPr>
            <a:spLocks noGrp="1"/>
          </p:cNvSpPr>
          <p:nvPr>
            <p:ph sz="quarter" idx="1"/>
          </p:nvPr>
        </p:nvSpPr>
        <p:spPr>
          <a:xfrm>
            <a:off x="76200" y="762000"/>
            <a:ext cx="8839200" cy="5638800"/>
          </a:xfrm>
        </p:spPr>
        <p:txBody>
          <a:bodyPr/>
          <a:lstStyle/>
          <a:p>
            <a:r>
              <a:rPr lang="en-US" sz="3200" dirty="0"/>
              <a:t> Constructors can be overloaded. </a:t>
            </a:r>
          </a:p>
          <a:p>
            <a:r>
              <a:rPr lang="en-US" sz="3200" dirty="0"/>
              <a:t>A  class can have any number of constructors</a:t>
            </a:r>
          </a:p>
          <a:p>
            <a:pPr lvl="1"/>
            <a:r>
              <a:rPr lang="en-US" sz="3200" dirty="0"/>
              <a:t> one default constructor, many parameterized constructors</a:t>
            </a:r>
          </a:p>
          <a:p>
            <a:pPr marL="0" indent="0">
              <a:buNone/>
            </a:pPr>
            <a:r>
              <a:rPr lang="en-US" sz="3200" dirty="0"/>
              <a:t>class A{</a:t>
            </a:r>
          </a:p>
          <a:p>
            <a:pPr marL="0" indent="0">
              <a:buNone/>
            </a:pPr>
            <a:r>
              <a:rPr lang="en-US" sz="3200" dirty="0"/>
              <a:t>A() { //statements}</a:t>
            </a:r>
          </a:p>
          <a:p>
            <a:pPr marL="0" indent="0">
              <a:buNone/>
            </a:pPr>
            <a:r>
              <a:rPr lang="en-US" sz="3200" dirty="0"/>
              <a:t>A(int a) { //statements}</a:t>
            </a:r>
          </a:p>
          <a:p>
            <a:pPr marL="0" indent="0">
              <a:buNone/>
            </a:pPr>
            <a:r>
              <a:rPr lang="en-US" sz="3200" dirty="0"/>
              <a:t>A(int </a:t>
            </a:r>
            <a:r>
              <a:rPr lang="en-US" sz="3200" dirty="0" err="1"/>
              <a:t>a,float</a:t>
            </a:r>
            <a:r>
              <a:rPr lang="en-US" sz="3200" dirty="0"/>
              <a:t> b) { //statements}</a:t>
            </a:r>
          </a:p>
          <a:p>
            <a:pPr marL="0" indent="0">
              <a:buNone/>
            </a:pPr>
            <a:r>
              <a:rPr lang="en-US" sz="3200" dirty="0"/>
              <a:t>}</a:t>
            </a:r>
          </a:p>
        </p:txBody>
      </p:sp>
      <p:sp>
        <p:nvSpPr>
          <p:cNvPr id="4" name="Slide Number Placeholder 3">
            <a:extLst>
              <a:ext uri="{FF2B5EF4-FFF2-40B4-BE49-F238E27FC236}">
                <a16:creationId xmlns:a16="http://schemas.microsoft.com/office/drawing/2014/main" id="{EDC9EEC0-B5B6-64D2-0185-910C73881FD2}"/>
              </a:ext>
            </a:extLst>
          </p:cNvPr>
          <p:cNvSpPr>
            <a:spLocks noGrp="1"/>
          </p:cNvSpPr>
          <p:nvPr>
            <p:ph type="sldNum" sz="quarter" idx="12"/>
          </p:nvPr>
        </p:nvSpPr>
        <p:spPr/>
        <p:txBody>
          <a:bodyPr/>
          <a:lstStyle/>
          <a:p>
            <a:pPr>
              <a:defRPr/>
            </a:pPr>
            <a:fld id="{7F50D522-CBA4-4108-90DA-9951FACF1C08}" type="slidenum">
              <a:rPr lang="en-US" smtClean="0"/>
              <a:pPr>
                <a:defRPr/>
              </a:pPr>
              <a:t>48</a:t>
            </a:fld>
            <a:endParaRPr lang="en-US"/>
          </a:p>
        </p:txBody>
      </p:sp>
    </p:spTree>
    <p:extLst>
      <p:ext uri="{BB962C8B-B14F-4D97-AF65-F5344CB8AC3E}">
        <p14:creationId xmlns:p14="http://schemas.microsoft.com/office/powerpoint/2010/main" val="8163024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3B7564-4D3E-7A8A-36FF-1233C1470D3D}"/>
              </a:ext>
            </a:extLst>
          </p:cNvPr>
          <p:cNvSpPr>
            <a:spLocks noGrp="1"/>
          </p:cNvSpPr>
          <p:nvPr>
            <p:ph sz="half" idx="2"/>
          </p:nvPr>
        </p:nvSpPr>
        <p:spPr>
          <a:xfrm>
            <a:off x="0" y="-76200"/>
            <a:ext cx="4191000" cy="6858000"/>
          </a:xfrm>
          <a:ln>
            <a:solidFill>
              <a:schemeClr val="tx1"/>
            </a:solidFill>
          </a:ln>
        </p:spPr>
        <p:txBody>
          <a:bodyPr/>
          <a:lstStyle/>
          <a:p>
            <a:pPr marL="0" indent="0">
              <a:buNone/>
            </a:pPr>
            <a:r>
              <a:rPr lang="en-US" dirty="0"/>
              <a:t>class Box{</a:t>
            </a:r>
          </a:p>
          <a:p>
            <a:pPr marL="0" indent="0">
              <a:buNone/>
            </a:pPr>
            <a:r>
              <a:rPr lang="en-US" dirty="0"/>
              <a:t>double width;</a:t>
            </a:r>
          </a:p>
          <a:p>
            <a:pPr marL="0" indent="0">
              <a:buNone/>
            </a:pPr>
            <a:r>
              <a:rPr lang="en-US" dirty="0"/>
              <a:t>double length;</a:t>
            </a:r>
          </a:p>
          <a:p>
            <a:pPr marL="0" indent="0">
              <a:buNone/>
            </a:pPr>
            <a:r>
              <a:rPr lang="en-US" dirty="0"/>
              <a:t>double height;</a:t>
            </a:r>
          </a:p>
          <a:p>
            <a:pPr marL="0" indent="0">
              <a:buNone/>
            </a:pPr>
            <a:r>
              <a:rPr lang="en-US" dirty="0"/>
              <a:t>Box(double w, double </a:t>
            </a:r>
            <a:r>
              <a:rPr lang="en-US" dirty="0" err="1"/>
              <a:t>l,double</a:t>
            </a:r>
            <a:r>
              <a:rPr lang="en-US" dirty="0"/>
              <a:t> h)</a:t>
            </a:r>
          </a:p>
          <a:p>
            <a:pPr marL="0" indent="0">
              <a:buNone/>
            </a:pPr>
            <a:r>
              <a:rPr lang="en-US" dirty="0"/>
              <a:t>{</a:t>
            </a:r>
          </a:p>
          <a:p>
            <a:pPr marL="0" indent="0">
              <a:buNone/>
            </a:pPr>
            <a:r>
              <a:rPr lang="en-US" dirty="0"/>
              <a:t>width = w;</a:t>
            </a:r>
          </a:p>
          <a:p>
            <a:pPr marL="0" indent="0">
              <a:buNone/>
            </a:pPr>
            <a:r>
              <a:rPr lang="en-US" dirty="0"/>
              <a:t>length = l;</a:t>
            </a:r>
          </a:p>
          <a:p>
            <a:pPr marL="0" indent="0">
              <a:buNone/>
            </a:pPr>
            <a:r>
              <a:rPr lang="en-US" dirty="0"/>
              <a:t>height = h;</a:t>
            </a:r>
          </a:p>
          <a:p>
            <a:pPr marL="0" indent="0">
              <a:buNone/>
            </a:pPr>
            <a:r>
              <a:rPr lang="en-US" dirty="0"/>
              <a:t>}</a:t>
            </a:r>
          </a:p>
          <a:p>
            <a:pPr marL="0" indent="0">
              <a:buNone/>
            </a:pPr>
            <a:r>
              <a:rPr lang="en-US" dirty="0"/>
              <a:t>Box(){</a:t>
            </a:r>
          </a:p>
          <a:p>
            <a:pPr marL="0" indent="0">
              <a:buNone/>
            </a:pPr>
            <a:r>
              <a:rPr lang="en-US" dirty="0"/>
              <a:t>width = 0;</a:t>
            </a:r>
          </a:p>
          <a:p>
            <a:pPr marL="0" indent="0">
              <a:buNone/>
            </a:pPr>
            <a:r>
              <a:rPr lang="en-US" dirty="0"/>
              <a:t>length =0;</a:t>
            </a:r>
          </a:p>
          <a:p>
            <a:pPr marL="0" indent="0">
              <a:buNone/>
            </a:pPr>
            <a:r>
              <a:rPr lang="en-US" dirty="0"/>
              <a:t>height=0;</a:t>
            </a:r>
          </a:p>
          <a:p>
            <a:pPr marL="0" indent="0">
              <a:buNone/>
            </a:pPr>
            <a:r>
              <a:rPr lang="en-US" dirty="0"/>
              <a:t>}}</a:t>
            </a:r>
          </a:p>
        </p:txBody>
      </p:sp>
      <p:sp>
        <p:nvSpPr>
          <p:cNvPr id="12" name="Content Placeholder 11">
            <a:extLst>
              <a:ext uri="{FF2B5EF4-FFF2-40B4-BE49-F238E27FC236}">
                <a16:creationId xmlns:a16="http://schemas.microsoft.com/office/drawing/2014/main" id="{153CF95B-FAEE-9491-A59A-CA8BD00823E3}"/>
              </a:ext>
            </a:extLst>
          </p:cNvPr>
          <p:cNvSpPr>
            <a:spLocks noGrp="1"/>
          </p:cNvSpPr>
          <p:nvPr>
            <p:ph sz="half" idx="4"/>
          </p:nvPr>
        </p:nvSpPr>
        <p:spPr>
          <a:xfrm>
            <a:off x="4191000" y="-76200"/>
            <a:ext cx="5029200" cy="6629400"/>
          </a:xfrm>
        </p:spPr>
        <p:txBody>
          <a:bodyPr/>
          <a:lstStyle/>
          <a:p>
            <a:pPr marL="0" indent="0">
              <a:buNone/>
            </a:pPr>
            <a:r>
              <a:rPr lang="en-US" sz="2400" dirty="0"/>
              <a:t>class </a:t>
            </a:r>
            <a:r>
              <a:rPr lang="en-US" sz="2400" dirty="0" err="1"/>
              <a:t>BoxDemo</a:t>
            </a:r>
            <a:r>
              <a:rPr lang="en-US" sz="2400" dirty="0"/>
              <a:t> {</a:t>
            </a:r>
          </a:p>
          <a:p>
            <a:pPr marL="0" indent="0">
              <a:buNone/>
            </a:pPr>
            <a:r>
              <a:rPr lang="en-US" sz="2400" dirty="0"/>
              <a:t>public static void main(String </a:t>
            </a:r>
            <a:r>
              <a:rPr lang="en-US" sz="2400" dirty="0" err="1"/>
              <a:t>args</a:t>
            </a:r>
            <a:r>
              <a:rPr lang="en-US" sz="2400" dirty="0"/>
              <a:t>[]) {</a:t>
            </a:r>
          </a:p>
          <a:p>
            <a:pPr marL="0" indent="0">
              <a:buNone/>
            </a:pPr>
            <a:r>
              <a:rPr lang="en-US" sz="2400" dirty="0"/>
              <a:t>Box mybox1 = new Box();</a:t>
            </a:r>
          </a:p>
          <a:p>
            <a:pPr marL="0" indent="0">
              <a:buNone/>
            </a:pPr>
            <a:r>
              <a:rPr lang="en-US" sz="2400" dirty="0"/>
              <a:t>Box mybox2 = new Box(3, 6, 2);</a:t>
            </a:r>
          </a:p>
          <a:p>
            <a:pPr marL="0" indent="0">
              <a:buNone/>
            </a:pPr>
            <a:r>
              <a:rPr lang="en-US" sz="2400" dirty="0" err="1"/>
              <a:t>System.out.println</a:t>
            </a:r>
            <a:r>
              <a:rPr lang="en-US" sz="2400" dirty="0"/>
              <a:t>( "</a:t>
            </a:r>
            <a:r>
              <a:rPr lang="en-US" sz="2400" dirty="0" err="1"/>
              <a:t>mybox</a:t>
            </a:r>
            <a:r>
              <a:rPr lang="en-US" sz="2400" dirty="0"/>
              <a:t> 1 ");</a:t>
            </a:r>
          </a:p>
          <a:p>
            <a:pPr marL="0" indent="0">
              <a:buNone/>
            </a:pPr>
            <a:r>
              <a:rPr lang="en-US" sz="2400" dirty="0" err="1"/>
              <a:t>System.out.println</a:t>
            </a:r>
            <a:r>
              <a:rPr lang="en-US" sz="2400" dirty="0"/>
              <a:t>(mybox1 .width +" "</a:t>
            </a:r>
          </a:p>
          <a:p>
            <a:pPr marL="0" indent="0">
              <a:buNone/>
            </a:pPr>
            <a:r>
              <a:rPr lang="en-US" sz="2400" dirty="0"/>
              <a:t>+mybox1 .length + " "+ mybox1 .height);</a:t>
            </a:r>
          </a:p>
          <a:p>
            <a:pPr marL="0" indent="0">
              <a:buNone/>
            </a:pPr>
            <a:r>
              <a:rPr lang="en-US" sz="2400" dirty="0" err="1"/>
              <a:t>System.out.println</a:t>
            </a:r>
            <a:r>
              <a:rPr lang="en-US" sz="2400" dirty="0"/>
              <a:t>( "mybox2”);</a:t>
            </a:r>
          </a:p>
          <a:p>
            <a:pPr marL="0" indent="0">
              <a:buNone/>
            </a:pPr>
            <a:r>
              <a:rPr lang="en-US" sz="2400" dirty="0" err="1"/>
              <a:t>System.out.println</a:t>
            </a:r>
            <a:r>
              <a:rPr lang="en-US" sz="2400" dirty="0"/>
              <a:t>(mybox2.width + " " +mybox2.length + " " + mybox2 .height);</a:t>
            </a:r>
          </a:p>
          <a:p>
            <a:pPr marL="0" indent="0">
              <a:buNone/>
            </a:pPr>
            <a:r>
              <a:rPr lang="en-US" sz="2400" dirty="0"/>
              <a:t>}}</a:t>
            </a:r>
          </a:p>
          <a:p>
            <a:pPr marL="0" indent="0">
              <a:buNone/>
            </a:pPr>
            <a:r>
              <a:rPr lang="en-US" sz="2400" dirty="0"/>
              <a:t>Output</a:t>
            </a:r>
          </a:p>
          <a:p>
            <a:pPr marL="0" indent="0">
              <a:buNone/>
            </a:pPr>
            <a:r>
              <a:rPr lang="en-US" sz="2400" dirty="0" err="1"/>
              <a:t>mybox</a:t>
            </a:r>
            <a:r>
              <a:rPr lang="en-US" sz="2400" dirty="0"/>
              <a:t> 1 </a:t>
            </a:r>
          </a:p>
          <a:p>
            <a:pPr marL="0" indent="0">
              <a:buNone/>
            </a:pPr>
            <a:r>
              <a:rPr lang="en-US" sz="2400" dirty="0"/>
              <a:t>0.0 0.0</a:t>
            </a:r>
          </a:p>
          <a:p>
            <a:pPr marL="0" indent="0">
              <a:buNone/>
            </a:pPr>
            <a:r>
              <a:rPr lang="en-US" sz="2400" dirty="0"/>
              <a:t>mybox2</a:t>
            </a:r>
          </a:p>
          <a:p>
            <a:pPr marL="0" indent="0">
              <a:buNone/>
            </a:pPr>
            <a:r>
              <a:rPr lang="en-US" sz="2400" dirty="0"/>
              <a:t>3.0 6.0 2.0</a:t>
            </a:r>
          </a:p>
          <a:p>
            <a:pPr marL="0" indent="0">
              <a:buNone/>
            </a:pPr>
            <a:endParaRPr lang="en-US" sz="2400" dirty="0"/>
          </a:p>
          <a:p>
            <a:pPr marL="0" indent="0">
              <a:buNone/>
            </a:pPr>
            <a:endParaRPr lang="en-US" sz="2400" dirty="0"/>
          </a:p>
          <a:p>
            <a:endParaRPr lang="en-US" sz="2400" dirty="0"/>
          </a:p>
        </p:txBody>
      </p:sp>
    </p:spTree>
    <p:extLst>
      <p:ext uri="{BB962C8B-B14F-4D97-AF65-F5344CB8AC3E}">
        <p14:creationId xmlns:p14="http://schemas.microsoft.com/office/powerpoint/2010/main" val="20444305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1443DB7-1953-3C9E-9805-7AA3219DA6C5}"/>
              </a:ext>
            </a:extLst>
          </p:cNvPr>
          <p:cNvSpPr>
            <a:spLocks noGrp="1"/>
          </p:cNvSpPr>
          <p:nvPr>
            <p:ph type="sldNum" sz="quarter" idx="12"/>
          </p:nvPr>
        </p:nvSpPr>
        <p:spPr/>
        <p:txBody>
          <a:bodyPr/>
          <a:lstStyle/>
          <a:p>
            <a:pPr>
              <a:defRPr/>
            </a:pPr>
            <a:fld id="{683BB0C1-E487-44CA-BD87-A0754170BA6F}" type="slidenum">
              <a:rPr lang="en-US" smtClean="0"/>
              <a:pPr>
                <a:defRPr/>
              </a:pPr>
              <a:t>50</a:t>
            </a:fld>
            <a:endParaRPr lang="en-US"/>
          </a:p>
        </p:txBody>
      </p:sp>
      <p:sp>
        <p:nvSpPr>
          <p:cNvPr id="9" name="TextBox 8">
            <a:extLst>
              <a:ext uri="{FF2B5EF4-FFF2-40B4-BE49-F238E27FC236}">
                <a16:creationId xmlns:a16="http://schemas.microsoft.com/office/drawing/2014/main" id="{5B370739-E004-283A-D15D-CA870D06DD7E}"/>
              </a:ext>
            </a:extLst>
          </p:cNvPr>
          <p:cNvSpPr txBox="1"/>
          <p:nvPr/>
        </p:nvSpPr>
        <p:spPr>
          <a:xfrm>
            <a:off x="457200" y="-76200"/>
            <a:ext cx="8305800" cy="6986528"/>
          </a:xfrm>
          <a:prstGeom prst="rect">
            <a:avLst/>
          </a:prstGeom>
          <a:noFill/>
        </p:spPr>
        <p:txBody>
          <a:bodyPr wrap="square">
            <a:spAutoFit/>
          </a:bodyPr>
          <a:lstStyle/>
          <a:p>
            <a:r>
              <a:rPr lang="en-US" sz="2800" dirty="0"/>
              <a:t>class Box{</a:t>
            </a:r>
          </a:p>
          <a:p>
            <a:r>
              <a:rPr lang="en-US" sz="2800" dirty="0"/>
              <a:t>double width;</a:t>
            </a:r>
          </a:p>
          <a:p>
            <a:r>
              <a:rPr lang="en-US" sz="2800" dirty="0"/>
              <a:t>double length;</a:t>
            </a:r>
          </a:p>
          <a:p>
            <a:r>
              <a:rPr lang="en-US" sz="2800" dirty="0"/>
              <a:t>double height;</a:t>
            </a:r>
          </a:p>
          <a:p>
            <a:r>
              <a:rPr lang="en-US" sz="2800" dirty="0"/>
              <a:t>Box(double w, double </a:t>
            </a:r>
            <a:r>
              <a:rPr lang="en-US" sz="2800" dirty="0" err="1"/>
              <a:t>l,double</a:t>
            </a:r>
            <a:r>
              <a:rPr lang="en-US" sz="2800" dirty="0"/>
              <a:t> h){</a:t>
            </a:r>
          </a:p>
          <a:p>
            <a:r>
              <a:rPr lang="en-US" sz="2800" dirty="0" err="1"/>
              <a:t>this.width</a:t>
            </a:r>
            <a:r>
              <a:rPr lang="en-US" sz="2800" dirty="0"/>
              <a:t> = w;</a:t>
            </a:r>
          </a:p>
          <a:p>
            <a:r>
              <a:rPr lang="en-US" sz="2800" dirty="0" err="1"/>
              <a:t>this.length</a:t>
            </a:r>
            <a:r>
              <a:rPr lang="en-US" sz="2800" dirty="0"/>
              <a:t> = l;</a:t>
            </a:r>
          </a:p>
          <a:p>
            <a:r>
              <a:rPr lang="en-US" sz="2800" dirty="0" err="1"/>
              <a:t>this.height</a:t>
            </a:r>
            <a:r>
              <a:rPr lang="en-US" sz="2800" dirty="0"/>
              <a:t> = h;</a:t>
            </a:r>
          </a:p>
          <a:p>
            <a:r>
              <a:rPr lang="en-US" sz="2800" dirty="0"/>
              <a:t>}}</a:t>
            </a:r>
          </a:p>
          <a:p>
            <a:r>
              <a:rPr lang="en-US" sz="2800" dirty="0"/>
              <a:t>class </a:t>
            </a:r>
            <a:r>
              <a:rPr lang="en-US" sz="2800" dirty="0" err="1"/>
              <a:t>BoxDemo</a:t>
            </a:r>
            <a:r>
              <a:rPr lang="en-US" sz="2800" dirty="0"/>
              <a:t> {</a:t>
            </a:r>
          </a:p>
          <a:p>
            <a:r>
              <a:rPr lang="en-US" sz="2800" dirty="0"/>
              <a:t>public static void main(String </a:t>
            </a:r>
            <a:r>
              <a:rPr lang="en-US" sz="2800" dirty="0" err="1"/>
              <a:t>args</a:t>
            </a:r>
            <a:r>
              <a:rPr lang="en-US" sz="2800" dirty="0"/>
              <a:t>[]) {</a:t>
            </a:r>
          </a:p>
          <a:p>
            <a:r>
              <a:rPr lang="en-US" sz="2800" dirty="0"/>
              <a:t>Box mybox1 = new Box(); //ERROR</a:t>
            </a:r>
          </a:p>
          <a:p>
            <a:r>
              <a:rPr lang="en-US" sz="2800" dirty="0"/>
              <a:t>Box mybox2 = new Box(3, 6, 2);</a:t>
            </a:r>
          </a:p>
          <a:p>
            <a:r>
              <a:rPr lang="en-US" sz="2800" dirty="0"/>
              <a:t>} } </a:t>
            </a:r>
          </a:p>
          <a:p>
            <a:r>
              <a:rPr lang="en-US" sz="2800" dirty="0">
                <a:solidFill>
                  <a:srgbClr val="FF0000"/>
                </a:solidFill>
              </a:rPr>
              <a:t>Box class has constructor but no default constructor is there. So error occurs</a:t>
            </a:r>
          </a:p>
        </p:txBody>
      </p:sp>
    </p:spTree>
    <p:extLst>
      <p:ext uri="{BB962C8B-B14F-4D97-AF65-F5344CB8AC3E}">
        <p14:creationId xmlns:p14="http://schemas.microsoft.com/office/powerpoint/2010/main" val="40197385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163C2-6AF3-C471-5789-6E17F6EA36E5}"/>
              </a:ext>
            </a:extLst>
          </p:cNvPr>
          <p:cNvSpPr>
            <a:spLocks noGrp="1"/>
          </p:cNvSpPr>
          <p:nvPr>
            <p:ph type="title"/>
          </p:nvPr>
        </p:nvSpPr>
        <p:spPr/>
        <p:txBody>
          <a:bodyPr/>
          <a:lstStyle/>
          <a:p>
            <a:r>
              <a:rPr lang="en-US" dirty="0"/>
              <a:t>Using Objects as Parameters</a:t>
            </a:r>
          </a:p>
        </p:txBody>
      </p:sp>
      <p:sp>
        <p:nvSpPr>
          <p:cNvPr id="3" name="Content Placeholder 2">
            <a:extLst>
              <a:ext uri="{FF2B5EF4-FFF2-40B4-BE49-F238E27FC236}">
                <a16:creationId xmlns:a16="http://schemas.microsoft.com/office/drawing/2014/main" id="{8B1A988D-2CB0-1F0C-289C-947B8E552DBC}"/>
              </a:ext>
            </a:extLst>
          </p:cNvPr>
          <p:cNvSpPr>
            <a:spLocks noGrp="1"/>
          </p:cNvSpPr>
          <p:nvPr>
            <p:ph sz="quarter" idx="1"/>
          </p:nvPr>
        </p:nvSpPr>
        <p:spPr>
          <a:xfrm>
            <a:off x="914400" y="1447800"/>
            <a:ext cx="8534400" cy="4572000"/>
          </a:xfrm>
        </p:spPr>
        <p:txBody>
          <a:bodyPr/>
          <a:lstStyle/>
          <a:p>
            <a:r>
              <a:rPr lang="en-US" sz="3200" dirty="0"/>
              <a:t> We can pass objects as arguments to method</a:t>
            </a:r>
          </a:p>
          <a:p>
            <a:r>
              <a:rPr lang="en-US" sz="3200" dirty="0"/>
              <a:t>Objects are passed by reference(call by reference).</a:t>
            </a:r>
          </a:p>
        </p:txBody>
      </p:sp>
      <p:sp>
        <p:nvSpPr>
          <p:cNvPr id="4" name="Slide Number Placeholder 3">
            <a:extLst>
              <a:ext uri="{FF2B5EF4-FFF2-40B4-BE49-F238E27FC236}">
                <a16:creationId xmlns:a16="http://schemas.microsoft.com/office/drawing/2014/main" id="{04BAC247-9BAD-5C87-0C91-DBE8FB2ACF9B}"/>
              </a:ext>
            </a:extLst>
          </p:cNvPr>
          <p:cNvSpPr>
            <a:spLocks noGrp="1"/>
          </p:cNvSpPr>
          <p:nvPr>
            <p:ph type="sldNum" sz="quarter" idx="12"/>
          </p:nvPr>
        </p:nvSpPr>
        <p:spPr/>
        <p:txBody>
          <a:bodyPr/>
          <a:lstStyle/>
          <a:p>
            <a:pPr>
              <a:defRPr/>
            </a:pPr>
            <a:fld id="{7F50D522-CBA4-4108-90DA-9951FACF1C08}" type="slidenum">
              <a:rPr lang="en-US" smtClean="0"/>
              <a:pPr>
                <a:defRPr/>
              </a:pPr>
              <a:t>51</a:t>
            </a:fld>
            <a:endParaRPr lang="en-US"/>
          </a:p>
        </p:txBody>
      </p:sp>
    </p:spTree>
    <p:extLst>
      <p:ext uri="{BB962C8B-B14F-4D97-AF65-F5344CB8AC3E}">
        <p14:creationId xmlns:p14="http://schemas.microsoft.com/office/powerpoint/2010/main" val="11145028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5A0A4982-E660-0972-A9A6-0F984ADF2C35}"/>
              </a:ext>
            </a:extLst>
          </p:cNvPr>
          <p:cNvSpPr>
            <a:spLocks noGrp="1"/>
          </p:cNvSpPr>
          <p:nvPr>
            <p:ph sz="half" idx="2"/>
          </p:nvPr>
        </p:nvSpPr>
        <p:spPr>
          <a:xfrm>
            <a:off x="304800" y="609600"/>
            <a:ext cx="3886200" cy="5486400"/>
          </a:xfrm>
          <a:ln>
            <a:solidFill>
              <a:schemeClr val="tx1"/>
            </a:solidFill>
          </a:ln>
        </p:spPr>
        <p:txBody>
          <a:bodyPr/>
          <a:lstStyle/>
          <a:p>
            <a:pPr marL="0" indent="0">
              <a:buNone/>
            </a:pPr>
            <a:r>
              <a:rPr lang="en-US" dirty="0"/>
              <a:t>class Test {</a:t>
            </a:r>
          </a:p>
          <a:p>
            <a:pPr marL="0" indent="0">
              <a:buNone/>
            </a:pPr>
            <a:r>
              <a:rPr lang="en-US" dirty="0"/>
              <a:t>int a, b;</a:t>
            </a:r>
          </a:p>
          <a:p>
            <a:pPr marL="0" indent="0">
              <a:buNone/>
            </a:pPr>
            <a:r>
              <a:rPr lang="en-US" dirty="0"/>
              <a:t>Test(int </a:t>
            </a:r>
            <a:r>
              <a:rPr lang="en-US" dirty="0" err="1"/>
              <a:t>i</a:t>
            </a:r>
            <a:r>
              <a:rPr lang="en-US" dirty="0"/>
              <a:t>, int j){</a:t>
            </a:r>
          </a:p>
          <a:p>
            <a:pPr marL="0" indent="0">
              <a:buNone/>
            </a:pPr>
            <a:r>
              <a:rPr lang="en-US" dirty="0"/>
              <a:t>a=</a:t>
            </a:r>
            <a:r>
              <a:rPr lang="en-US" dirty="0" err="1"/>
              <a:t>i</a:t>
            </a:r>
            <a:r>
              <a:rPr lang="en-US" dirty="0"/>
              <a:t>;</a:t>
            </a:r>
          </a:p>
          <a:p>
            <a:pPr marL="0" indent="0">
              <a:buNone/>
            </a:pPr>
            <a:r>
              <a:rPr lang="en-US" dirty="0"/>
              <a:t>b=j;</a:t>
            </a:r>
          </a:p>
          <a:p>
            <a:pPr marL="0" indent="0">
              <a:buNone/>
            </a:pPr>
            <a:r>
              <a:rPr lang="en-US" dirty="0"/>
              <a:t>}</a:t>
            </a:r>
          </a:p>
          <a:p>
            <a:pPr marL="0" indent="0">
              <a:buNone/>
            </a:pPr>
            <a:r>
              <a:rPr lang="en-US" dirty="0" err="1"/>
              <a:t>boolean</a:t>
            </a:r>
            <a:r>
              <a:rPr lang="en-US" dirty="0"/>
              <a:t> equals(Test o){</a:t>
            </a:r>
          </a:p>
          <a:p>
            <a:pPr marL="0" indent="0">
              <a:buNone/>
            </a:pPr>
            <a:r>
              <a:rPr lang="en-US" dirty="0"/>
              <a:t>if(</a:t>
            </a:r>
            <a:r>
              <a:rPr lang="en-US" dirty="0" err="1"/>
              <a:t>o.a</a:t>
            </a:r>
            <a:r>
              <a:rPr lang="en-US" dirty="0"/>
              <a:t>== a &amp;&amp; </a:t>
            </a:r>
            <a:r>
              <a:rPr lang="en-US" dirty="0" err="1"/>
              <a:t>o.b</a:t>
            </a:r>
            <a:r>
              <a:rPr lang="en-US" dirty="0"/>
              <a:t>== b)</a:t>
            </a:r>
          </a:p>
          <a:p>
            <a:pPr marL="0" indent="0">
              <a:buNone/>
            </a:pPr>
            <a:r>
              <a:rPr lang="en-US" dirty="0"/>
              <a:t>return true;</a:t>
            </a:r>
          </a:p>
          <a:p>
            <a:pPr marL="0" indent="0">
              <a:buNone/>
            </a:pPr>
            <a:r>
              <a:rPr lang="en-US" dirty="0"/>
              <a:t>else return false;</a:t>
            </a:r>
          </a:p>
          <a:p>
            <a:pPr marL="0" indent="0">
              <a:buNone/>
            </a:pPr>
            <a:r>
              <a:rPr lang="en-US" dirty="0"/>
              <a:t>}}</a:t>
            </a:r>
          </a:p>
        </p:txBody>
      </p:sp>
      <p:sp>
        <p:nvSpPr>
          <p:cNvPr id="9" name="Content Placeholder 8">
            <a:extLst>
              <a:ext uri="{FF2B5EF4-FFF2-40B4-BE49-F238E27FC236}">
                <a16:creationId xmlns:a16="http://schemas.microsoft.com/office/drawing/2014/main" id="{62DF25AC-3076-2210-5F20-91098A0F2AD6}"/>
              </a:ext>
            </a:extLst>
          </p:cNvPr>
          <p:cNvSpPr>
            <a:spLocks noGrp="1"/>
          </p:cNvSpPr>
          <p:nvPr>
            <p:ph sz="half" idx="4"/>
          </p:nvPr>
        </p:nvSpPr>
        <p:spPr>
          <a:xfrm>
            <a:off x="4419600" y="685800"/>
            <a:ext cx="4724400" cy="4533900"/>
          </a:xfrm>
          <a:ln>
            <a:solidFill>
              <a:schemeClr val="tx1"/>
            </a:solidFill>
          </a:ln>
        </p:spPr>
        <p:txBody>
          <a:bodyPr/>
          <a:lstStyle/>
          <a:p>
            <a:pPr marL="0" indent="0">
              <a:buNone/>
            </a:pPr>
            <a:r>
              <a:rPr lang="en-US" dirty="0"/>
              <a:t>class </a:t>
            </a:r>
            <a:r>
              <a:rPr lang="en-US" dirty="0" err="1"/>
              <a:t>PassOb</a:t>
            </a:r>
            <a:r>
              <a:rPr lang="en-US" dirty="0"/>
              <a:t> {</a:t>
            </a:r>
          </a:p>
          <a:p>
            <a:pPr marL="0" indent="0">
              <a:buNone/>
            </a:pPr>
            <a:r>
              <a:rPr lang="en-US" dirty="0"/>
              <a:t>public static void main(String </a:t>
            </a:r>
            <a:r>
              <a:rPr lang="en-US" dirty="0" err="1"/>
              <a:t>args</a:t>
            </a:r>
            <a:r>
              <a:rPr lang="en-US" dirty="0"/>
              <a:t>[]){</a:t>
            </a:r>
          </a:p>
          <a:p>
            <a:pPr marL="0" indent="0">
              <a:buNone/>
            </a:pPr>
            <a:r>
              <a:rPr lang="en-US" dirty="0"/>
              <a:t>Test ob1 = new Test(100, 22);</a:t>
            </a:r>
          </a:p>
          <a:p>
            <a:pPr marL="0" indent="0">
              <a:buNone/>
            </a:pPr>
            <a:r>
              <a:rPr lang="en-US" dirty="0"/>
              <a:t>Test ob2 = new Test(100, 22);</a:t>
            </a:r>
          </a:p>
          <a:p>
            <a:pPr marL="0" indent="0">
              <a:buNone/>
            </a:pPr>
            <a:r>
              <a:rPr lang="en-US" dirty="0"/>
              <a:t>Test ob3 = new Test(-l,-1);</a:t>
            </a:r>
          </a:p>
          <a:p>
            <a:pPr marL="0" indent="0">
              <a:buNone/>
            </a:pPr>
            <a:r>
              <a:rPr lang="en-US" dirty="0" err="1"/>
              <a:t>System.out.println</a:t>
            </a:r>
            <a:r>
              <a:rPr lang="en-US" dirty="0"/>
              <a:t>(ob1.equals(ob2));</a:t>
            </a:r>
          </a:p>
          <a:p>
            <a:pPr marL="0" indent="0">
              <a:buNone/>
            </a:pPr>
            <a:r>
              <a:rPr lang="en-US" dirty="0" err="1"/>
              <a:t>System.out.println</a:t>
            </a:r>
            <a:r>
              <a:rPr lang="en-US" dirty="0"/>
              <a:t>(ob1.equals(ob3));</a:t>
            </a:r>
          </a:p>
          <a:p>
            <a:pPr marL="0" indent="0">
              <a:buNone/>
            </a:pPr>
            <a:r>
              <a:rPr lang="en-US" dirty="0"/>
              <a:t>}}</a:t>
            </a:r>
          </a:p>
          <a:p>
            <a:pPr marL="0" indent="0">
              <a:buNone/>
            </a:pPr>
            <a:endParaRPr lang="en-US" dirty="0"/>
          </a:p>
          <a:p>
            <a:pPr marL="0" indent="0">
              <a:buNone/>
            </a:pPr>
            <a:r>
              <a:rPr lang="en-US" dirty="0"/>
              <a:t>o/p</a:t>
            </a:r>
          </a:p>
          <a:p>
            <a:pPr marL="0" indent="0">
              <a:buNone/>
            </a:pPr>
            <a:r>
              <a:rPr lang="en-US" dirty="0"/>
              <a:t>true</a:t>
            </a:r>
          </a:p>
          <a:p>
            <a:pPr marL="0" indent="0">
              <a:buNone/>
            </a:pPr>
            <a:r>
              <a:rPr lang="en-US" dirty="0"/>
              <a:t>false</a:t>
            </a:r>
          </a:p>
        </p:txBody>
      </p:sp>
      <p:sp>
        <p:nvSpPr>
          <p:cNvPr id="4" name="Slide Number Placeholder 3">
            <a:extLst>
              <a:ext uri="{FF2B5EF4-FFF2-40B4-BE49-F238E27FC236}">
                <a16:creationId xmlns:a16="http://schemas.microsoft.com/office/drawing/2014/main" id="{77BB1BA6-FE69-5B97-CB15-88FBAC06C1B6}"/>
              </a:ext>
            </a:extLst>
          </p:cNvPr>
          <p:cNvSpPr>
            <a:spLocks noGrp="1"/>
          </p:cNvSpPr>
          <p:nvPr>
            <p:ph type="sldNum" sz="quarter" idx="12"/>
          </p:nvPr>
        </p:nvSpPr>
        <p:spPr/>
        <p:txBody>
          <a:bodyPr/>
          <a:lstStyle/>
          <a:p>
            <a:pPr>
              <a:defRPr/>
            </a:pPr>
            <a:fld id="{7F50D522-CBA4-4108-90DA-9951FACF1C08}" type="slidenum">
              <a:rPr lang="en-US" smtClean="0"/>
              <a:pPr>
                <a:defRPr/>
              </a:pPr>
              <a:t>52</a:t>
            </a:fld>
            <a:endParaRPr lang="en-US"/>
          </a:p>
        </p:txBody>
      </p:sp>
    </p:spTree>
    <p:extLst>
      <p:ext uri="{BB962C8B-B14F-4D97-AF65-F5344CB8AC3E}">
        <p14:creationId xmlns:p14="http://schemas.microsoft.com/office/powerpoint/2010/main" val="23747545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6EF9376-31E7-8D76-40E2-F031DAB2C8A7}"/>
              </a:ext>
            </a:extLst>
          </p:cNvPr>
          <p:cNvSpPr>
            <a:spLocks noGrp="1"/>
          </p:cNvSpPr>
          <p:nvPr>
            <p:ph type="title"/>
          </p:nvPr>
        </p:nvSpPr>
        <p:spPr>
          <a:xfrm>
            <a:off x="914400" y="273050"/>
            <a:ext cx="7772400" cy="450850"/>
          </a:xfrm>
        </p:spPr>
        <p:txBody>
          <a:bodyPr/>
          <a:lstStyle/>
          <a:p>
            <a:r>
              <a:rPr lang="en-US" dirty="0"/>
              <a:t>Object to initialize another object</a:t>
            </a:r>
          </a:p>
        </p:txBody>
      </p:sp>
      <p:sp>
        <p:nvSpPr>
          <p:cNvPr id="3" name="Content Placeholder 2">
            <a:extLst>
              <a:ext uri="{FF2B5EF4-FFF2-40B4-BE49-F238E27FC236}">
                <a16:creationId xmlns:a16="http://schemas.microsoft.com/office/drawing/2014/main" id="{2FE714B1-DDC2-53DA-668F-6E0F5FA352C0}"/>
              </a:ext>
            </a:extLst>
          </p:cNvPr>
          <p:cNvSpPr>
            <a:spLocks noGrp="1"/>
          </p:cNvSpPr>
          <p:nvPr>
            <p:ph sz="half" idx="2"/>
          </p:nvPr>
        </p:nvSpPr>
        <p:spPr>
          <a:xfrm>
            <a:off x="146050" y="609600"/>
            <a:ext cx="4273550" cy="5524500"/>
          </a:xfrm>
          <a:ln>
            <a:solidFill>
              <a:schemeClr val="tx1"/>
            </a:solidFill>
          </a:ln>
        </p:spPr>
        <p:txBody>
          <a:bodyPr/>
          <a:lstStyle/>
          <a:p>
            <a:pPr marL="0" indent="0">
              <a:buNone/>
            </a:pPr>
            <a:r>
              <a:rPr lang="en-US" dirty="0"/>
              <a:t>class Box</a:t>
            </a:r>
          </a:p>
          <a:p>
            <a:pPr marL="0" indent="0">
              <a:buNone/>
            </a:pPr>
            <a:r>
              <a:rPr lang="en-US" dirty="0"/>
              <a:t>{</a:t>
            </a:r>
          </a:p>
          <a:p>
            <a:pPr marL="0" indent="0">
              <a:buNone/>
            </a:pPr>
            <a:r>
              <a:rPr lang="en-US" dirty="0"/>
              <a:t>double width</a:t>
            </a:r>
          </a:p>
          <a:p>
            <a:pPr marL="0" indent="0">
              <a:buNone/>
            </a:pPr>
            <a:r>
              <a:rPr lang="en-US" dirty="0"/>
              <a:t>double length;</a:t>
            </a:r>
          </a:p>
          <a:p>
            <a:pPr marL="0" indent="0">
              <a:buNone/>
            </a:pPr>
            <a:r>
              <a:rPr lang="en-US" dirty="0"/>
              <a:t>double height;</a:t>
            </a:r>
          </a:p>
          <a:p>
            <a:pPr marL="0" indent="0">
              <a:buNone/>
            </a:pPr>
            <a:r>
              <a:rPr lang="en-US" dirty="0"/>
              <a:t>}</a:t>
            </a:r>
          </a:p>
          <a:p>
            <a:pPr marL="0" indent="0">
              <a:buNone/>
            </a:pPr>
            <a:r>
              <a:rPr lang="en-US" dirty="0"/>
              <a:t>Box(double w, double l, double h)</a:t>
            </a:r>
          </a:p>
          <a:p>
            <a:pPr marL="0" indent="0">
              <a:buNone/>
            </a:pPr>
            <a:r>
              <a:rPr lang="en-US" dirty="0"/>
              <a:t>{</a:t>
            </a:r>
          </a:p>
          <a:p>
            <a:pPr marL="0" indent="0">
              <a:buNone/>
            </a:pPr>
            <a:r>
              <a:rPr lang="en-US" dirty="0"/>
              <a:t>width = w</a:t>
            </a:r>
          </a:p>
          <a:p>
            <a:pPr marL="0" indent="0">
              <a:buNone/>
            </a:pPr>
            <a:r>
              <a:rPr lang="en-US" dirty="0"/>
              <a:t>length = l;</a:t>
            </a:r>
          </a:p>
          <a:p>
            <a:pPr marL="0" indent="0">
              <a:buNone/>
            </a:pPr>
            <a:r>
              <a:rPr lang="en-US" dirty="0"/>
              <a:t>height = h;</a:t>
            </a:r>
          </a:p>
          <a:p>
            <a:pPr marL="0" indent="0">
              <a:buNone/>
            </a:pPr>
            <a:r>
              <a:rPr lang="en-US" dirty="0"/>
              <a:t>}</a:t>
            </a:r>
          </a:p>
        </p:txBody>
      </p:sp>
      <p:sp>
        <p:nvSpPr>
          <p:cNvPr id="5" name="Content Placeholder 4">
            <a:extLst>
              <a:ext uri="{FF2B5EF4-FFF2-40B4-BE49-F238E27FC236}">
                <a16:creationId xmlns:a16="http://schemas.microsoft.com/office/drawing/2014/main" id="{D0EF1B07-A720-DEAC-0B39-A6C8B260867A}"/>
              </a:ext>
            </a:extLst>
          </p:cNvPr>
          <p:cNvSpPr>
            <a:spLocks noGrp="1"/>
          </p:cNvSpPr>
          <p:nvPr>
            <p:ph sz="half" idx="4"/>
          </p:nvPr>
        </p:nvSpPr>
        <p:spPr>
          <a:xfrm>
            <a:off x="4419600" y="609600"/>
            <a:ext cx="4800600" cy="5524500"/>
          </a:xfrm>
          <a:ln>
            <a:solidFill>
              <a:schemeClr val="tx1"/>
            </a:solidFill>
          </a:ln>
        </p:spPr>
        <p:txBody>
          <a:bodyPr/>
          <a:lstStyle/>
          <a:p>
            <a:pPr marL="0" indent="0">
              <a:buNone/>
            </a:pPr>
            <a:r>
              <a:rPr lang="en-US" dirty="0"/>
              <a:t>class </a:t>
            </a:r>
            <a:r>
              <a:rPr lang="en-US" dirty="0" err="1"/>
              <a:t>BoxDemo</a:t>
            </a:r>
            <a:endParaRPr lang="en-US" dirty="0"/>
          </a:p>
          <a:p>
            <a:pPr marL="0" indent="0">
              <a:buNone/>
            </a:pPr>
            <a:r>
              <a:rPr lang="en-US" dirty="0"/>
              <a:t> {</a:t>
            </a:r>
          </a:p>
          <a:p>
            <a:pPr marL="0" indent="0">
              <a:buNone/>
            </a:pPr>
            <a:r>
              <a:rPr lang="en-US" dirty="0"/>
              <a:t>public static void main(String </a:t>
            </a:r>
            <a:r>
              <a:rPr lang="en-US" dirty="0" err="1"/>
              <a:t>args</a:t>
            </a:r>
            <a:r>
              <a:rPr lang="en-US" dirty="0"/>
              <a:t>[])</a:t>
            </a:r>
          </a:p>
          <a:p>
            <a:pPr marL="0" indent="0">
              <a:buNone/>
            </a:pPr>
            <a:r>
              <a:rPr lang="en-US" dirty="0"/>
              <a:t>Box bl = new Box(10, 20, 15);</a:t>
            </a:r>
          </a:p>
          <a:p>
            <a:pPr marL="0" indent="0">
              <a:buNone/>
            </a:pPr>
            <a:r>
              <a:rPr lang="en-US" dirty="0"/>
              <a:t>Box b2 = new Box(bl);</a:t>
            </a:r>
          </a:p>
          <a:p>
            <a:pPr marL="0" indent="0">
              <a:buNone/>
            </a:pPr>
            <a:r>
              <a:rPr lang="en-US" dirty="0"/>
              <a:t>}</a:t>
            </a:r>
          </a:p>
          <a:p>
            <a:pPr marL="0" indent="0">
              <a:buNone/>
            </a:pPr>
            <a:r>
              <a:rPr lang="en-US" dirty="0"/>
              <a:t>}</a:t>
            </a:r>
          </a:p>
          <a:p>
            <a:pPr marL="0" indent="0">
              <a:buNone/>
            </a:pPr>
            <a:endParaRPr lang="en-US" dirty="0"/>
          </a:p>
          <a:p>
            <a:pPr marL="0" indent="0">
              <a:buNone/>
            </a:pPr>
            <a:endParaRPr lang="en-US" dirty="0"/>
          </a:p>
          <a:p>
            <a:pPr>
              <a:buFont typeface="Arial" panose="020B0604020202020204" pitchFamily="34" charset="0"/>
              <a:buChar char="•"/>
            </a:pPr>
            <a:r>
              <a:rPr lang="en-US" dirty="0"/>
              <a:t>The object b2 is initialized using initial values of object b1</a:t>
            </a:r>
          </a:p>
        </p:txBody>
      </p:sp>
      <p:sp>
        <p:nvSpPr>
          <p:cNvPr id="7" name="Slide Number Placeholder 6">
            <a:extLst>
              <a:ext uri="{FF2B5EF4-FFF2-40B4-BE49-F238E27FC236}">
                <a16:creationId xmlns:a16="http://schemas.microsoft.com/office/drawing/2014/main" id="{4D70C6DE-2791-2FCE-DC41-6EE12D1E4E33}"/>
              </a:ext>
            </a:extLst>
          </p:cNvPr>
          <p:cNvSpPr>
            <a:spLocks noGrp="1"/>
          </p:cNvSpPr>
          <p:nvPr>
            <p:ph type="sldNum" sz="quarter" idx="12"/>
          </p:nvPr>
        </p:nvSpPr>
        <p:spPr/>
        <p:txBody>
          <a:bodyPr/>
          <a:lstStyle/>
          <a:p>
            <a:pPr>
              <a:defRPr/>
            </a:pPr>
            <a:fld id="{683BB0C1-E487-44CA-BD87-A0754170BA6F}" type="slidenum">
              <a:rPr lang="en-US" smtClean="0"/>
              <a:pPr>
                <a:defRPr/>
              </a:pPr>
              <a:t>53</a:t>
            </a:fld>
            <a:endParaRPr lang="en-US"/>
          </a:p>
        </p:txBody>
      </p:sp>
    </p:spTree>
    <p:extLst>
      <p:ext uri="{BB962C8B-B14F-4D97-AF65-F5344CB8AC3E}">
        <p14:creationId xmlns:p14="http://schemas.microsoft.com/office/powerpoint/2010/main" val="963775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4820</TotalTime>
  <Words>3293</Words>
  <Application>Microsoft Office PowerPoint</Application>
  <PresentationFormat>On-screen Show (4:3)</PresentationFormat>
  <Paragraphs>579</Paragraphs>
  <Slides>53</Slides>
  <Notes>1</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Franklin Gothic Book</vt:lpstr>
      <vt:lpstr>Perpetua</vt:lpstr>
      <vt:lpstr>Wingdings 2</vt:lpstr>
      <vt:lpstr>Equity</vt:lpstr>
      <vt:lpstr>CST205: OBJECT ORIENTED PROGRAMMING USING JAVA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this  keyword</vt:lpstr>
      <vt:lpstr>PowerPoint Presentation</vt:lpstr>
      <vt:lpstr>PowerPoint Presentation</vt:lpstr>
      <vt:lpstr>Instance variable hiding-using this </vt:lpstr>
      <vt:lpstr>PowerPoint Presentation</vt:lpstr>
      <vt:lpstr>PowerPoint Presentation</vt:lpstr>
      <vt:lpstr>Method Overloading </vt:lpstr>
      <vt:lpstr>Demonstrate method overloading </vt:lpstr>
      <vt:lpstr>PowerPoint Presentation</vt:lpstr>
      <vt:lpstr>Overloading -through automatic type conversions</vt:lpstr>
      <vt:lpstr>Overloading Constructors </vt:lpstr>
      <vt:lpstr>PowerPoint Presentation</vt:lpstr>
      <vt:lpstr>PowerPoint Presentation</vt:lpstr>
      <vt:lpstr>Using Objects as Parameters</vt:lpstr>
      <vt:lpstr>PowerPoint Presentation</vt:lpstr>
      <vt:lpstr>Object to initialize another object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hai</dc:creator>
  <cp:lastModifiedBy>libsy baby</cp:lastModifiedBy>
  <cp:revision>664</cp:revision>
  <dcterms:created xsi:type="dcterms:W3CDTF">2020-08-01T18:02:10Z</dcterms:created>
  <dcterms:modified xsi:type="dcterms:W3CDTF">2023-10-22T13:58:03Z</dcterms:modified>
</cp:coreProperties>
</file>