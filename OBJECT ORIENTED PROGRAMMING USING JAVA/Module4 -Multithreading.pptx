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7" r:id="rId2"/>
    <p:sldId id="261" r:id="rId3"/>
    <p:sldId id="265" r:id="rId4"/>
    <p:sldId id="375" r:id="rId5"/>
    <p:sldId id="382" r:id="rId6"/>
    <p:sldId id="383" r:id="rId7"/>
    <p:sldId id="385" r:id="rId8"/>
    <p:sldId id="391" r:id="rId9"/>
    <p:sldId id="393" r:id="rId10"/>
    <p:sldId id="419" r:id="rId11"/>
    <p:sldId id="396" r:id="rId12"/>
    <p:sldId id="397" r:id="rId13"/>
    <p:sldId id="398" r:id="rId14"/>
    <p:sldId id="400" r:id="rId15"/>
    <p:sldId id="416" r:id="rId16"/>
    <p:sldId id="406" r:id="rId17"/>
    <p:sldId id="417" r:id="rId18"/>
    <p:sldId id="402" r:id="rId19"/>
    <p:sldId id="399" r:id="rId20"/>
    <p:sldId id="401" r:id="rId21"/>
    <p:sldId id="410" r:id="rId22"/>
    <p:sldId id="433" r:id="rId23"/>
    <p:sldId id="413" r:id="rId24"/>
    <p:sldId id="412" r:id="rId25"/>
    <p:sldId id="404" r:id="rId26"/>
    <p:sldId id="408" r:id="rId27"/>
    <p:sldId id="443" r:id="rId28"/>
    <p:sldId id="444" r:id="rId29"/>
    <p:sldId id="442" r:id="rId30"/>
    <p:sldId id="420" r:id="rId31"/>
    <p:sldId id="436" r:id="rId32"/>
    <p:sldId id="438" r:id="rId33"/>
    <p:sldId id="437" r:id="rId34"/>
    <p:sldId id="409" r:id="rId35"/>
    <p:sldId id="447" r:id="rId36"/>
    <p:sldId id="448" r:id="rId37"/>
    <p:sldId id="449" r:id="rId38"/>
    <p:sldId id="422" r:id="rId39"/>
    <p:sldId id="424" r:id="rId40"/>
    <p:sldId id="427" r:id="rId41"/>
    <p:sldId id="431"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3" d="100"/>
          <a:sy n="63" d="100"/>
        </p:scale>
        <p:origin x="136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E3033D-4D0B-454A-9741-72A4F40B6FE4}" type="datetimeFigureOut">
              <a:rPr lang="en-US" smtClean="0"/>
              <a:t>11/27/2023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A367DD-7C11-4986-BF8A-AEFCC2DEBD06}" type="slidenum">
              <a:rPr lang="en-US" smtClean="0"/>
              <a:t>‹#›</a:t>
            </a:fld>
            <a:endParaRPr lang="en-US"/>
          </a:p>
        </p:txBody>
      </p:sp>
    </p:spTree>
    <p:extLst>
      <p:ext uri="{BB962C8B-B14F-4D97-AF65-F5344CB8AC3E}">
        <p14:creationId xmlns:p14="http://schemas.microsoft.com/office/powerpoint/2010/main" val="1206568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A367DD-7C11-4986-BF8A-AEFCC2DEBD06}" type="slidenum">
              <a:rPr lang="en-US" smtClean="0"/>
              <a:t>1</a:t>
            </a:fld>
            <a:endParaRPr lang="en-US"/>
          </a:p>
        </p:txBody>
      </p:sp>
    </p:spTree>
    <p:extLst>
      <p:ext uri="{BB962C8B-B14F-4D97-AF65-F5344CB8AC3E}">
        <p14:creationId xmlns:p14="http://schemas.microsoft.com/office/powerpoint/2010/main" val="139626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Using thread we can do multiple activities at the same time.</a:t>
            </a:r>
          </a:p>
          <a:p>
            <a:pPr algn="just">
              <a:buFont typeface="Arial" panose="020B0604020202020204" pitchFamily="34" charset="0"/>
              <a:buChar char="•"/>
            </a:pPr>
            <a:r>
              <a:rPr lang="en-US" sz="1200" b="1" dirty="0"/>
              <a:t>All Java programs have at least one thread, known as </a:t>
            </a:r>
            <a:r>
              <a:rPr lang="en-US" sz="1200" b="1" dirty="0">
                <a:solidFill>
                  <a:schemeClr val="tx1"/>
                </a:solidFill>
              </a:rPr>
              <a:t>the</a:t>
            </a:r>
            <a:r>
              <a:rPr lang="en-US" sz="1200" b="1" dirty="0">
                <a:solidFill>
                  <a:srgbClr val="FF0000"/>
                </a:solidFill>
              </a:rPr>
              <a:t> main thread</a:t>
            </a:r>
          </a:p>
          <a:p>
            <a:pPr marL="0" indent="0" algn="just">
              <a:buNone/>
            </a:pPr>
            <a:r>
              <a:rPr lang="en-US" sz="1200" b="1" dirty="0"/>
              <a:t>	— which is created by the Java Virtual Machine (JVM) at the program's start, when the main() method is invoked with the main thread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p>
          <a:p>
            <a:pPr marL="0" indent="0" algn="just">
              <a:buNone/>
            </a:pPr>
            <a:r>
              <a:rPr lang="en-US" sz="1200" b="1" dirty="0"/>
              <a:t>	 		Multithreaded Programming </a:t>
            </a:r>
          </a:p>
          <a:p>
            <a:pPr algn="just">
              <a:buFont typeface="Arial" panose="020B0604020202020204" pitchFamily="34" charset="0"/>
              <a:buChar char="•"/>
            </a:pPr>
            <a:r>
              <a:rPr lang="en-US" sz="1200" b="1" dirty="0"/>
              <a:t>Java provides built-in support for multithreaded programming. </a:t>
            </a:r>
          </a:p>
          <a:p>
            <a:pPr algn="just">
              <a:buFont typeface="Arial" panose="020B0604020202020204" pitchFamily="34" charset="0"/>
              <a:buChar char="•"/>
            </a:pPr>
            <a:r>
              <a:rPr lang="en-US" sz="1200" b="1" dirty="0"/>
              <a:t>A multithreaded program contains two or more parts that can run concurrently. </a:t>
            </a:r>
          </a:p>
          <a:p>
            <a:pPr algn="just">
              <a:buFont typeface="Arial" panose="020B0604020202020204" pitchFamily="34" charset="0"/>
              <a:buChar char="•"/>
            </a:pPr>
            <a:r>
              <a:rPr lang="en-US" sz="1200" b="1" dirty="0"/>
              <a:t>Each part of such a program is called a thread, and each thread defines a separate path of execution.</a:t>
            </a:r>
          </a:p>
          <a:p>
            <a:pPr algn="just">
              <a:buFont typeface="Arial" panose="020B0604020202020204" pitchFamily="34" charset="0"/>
              <a:buChar char="•"/>
            </a:pPr>
            <a:r>
              <a:rPr lang="en-US" sz="1200" b="1" dirty="0"/>
              <a:t>Separate memory area is not allocated to threads.</a:t>
            </a:r>
          </a:p>
          <a:p>
            <a:pPr algn="just">
              <a:buFont typeface="Arial" panose="020B0604020202020204" pitchFamily="34" charset="0"/>
              <a:buChar char="•"/>
            </a:pPr>
            <a:r>
              <a:rPr lang="en-US" sz="1200" b="1" dirty="0">
                <a:solidFill>
                  <a:srgbClr val="FF0000"/>
                </a:solidFill>
              </a:rPr>
              <a:t>Threads are lightweight processes within a process.</a:t>
            </a:r>
          </a:p>
          <a:p>
            <a:pPr algn="just">
              <a:buFont typeface="Arial" panose="020B0604020202020204" pitchFamily="34" charset="0"/>
              <a:buChar char="•"/>
            </a:pPr>
            <a:r>
              <a:rPr lang="en-US" sz="1200" b="1" dirty="0"/>
              <a:t>Multithreading is a specialized form of multitasking.</a:t>
            </a:r>
          </a:p>
          <a:p>
            <a:pPr algn="just">
              <a:buFont typeface="Arial" panose="020B0604020202020204" pitchFamily="34" charset="0"/>
              <a:buChar char="•"/>
            </a:pPr>
            <a:r>
              <a:rPr lang="en-US" sz="1200" b="1" dirty="0"/>
              <a:t>Multithreading maximizes the utilization of CPU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p>
          <a:p>
            <a:endParaRPr lang="en-US" dirty="0"/>
          </a:p>
          <a:p>
            <a:endParaRPr lang="en-US" dirty="0"/>
          </a:p>
        </p:txBody>
      </p:sp>
      <p:sp>
        <p:nvSpPr>
          <p:cNvPr id="4" name="Slide Number Placeholder 3"/>
          <p:cNvSpPr>
            <a:spLocks noGrp="1"/>
          </p:cNvSpPr>
          <p:nvPr>
            <p:ph type="sldNum" sz="quarter" idx="5"/>
          </p:nvPr>
        </p:nvSpPr>
        <p:spPr/>
        <p:txBody>
          <a:bodyPr/>
          <a:lstStyle/>
          <a:p>
            <a:fld id="{01A367DD-7C11-4986-BF8A-AEFCC2DEBD06}" type="slidenum">
              <a:rPr lang="en-US" smtClean="0"/>
              <a:t>2</a:t>
            </a:fld>
            <a:endParaRPr lang="en-US"/>
          </a:p>
        </p:txBody>
      </p:sp>
    </p:spTree>
    <p:extLst>
      <p:ext uri="{BB962C8B-B14F-4D97-AF65-F5344CB8AC3E}">
        <p14:creationId xmlns:p14="http://schemas.microsoft.com/office/powerpoint/2010/main" val="2690623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Asynchronous threading means, a thread once start executing a task, can hold it in mid, save the current state and start executing another task.</a:t>
            </a:r>
          </a:p>
          <a:p>
            <a:endParaRPr lang="en-US" dirty="0"/>
          </a:p>
        </p:txBody>
      </p:sp>
      <p:sp>
        <p:nvSpPr>
          <p:cNvPr id="4" name="Slide Number Placeholder 3"/>
          <p:cNvSpPr>
            <a:spLocks noGrp="1"/>
          </p:cNvSpPr>
          <p:nvPr>
            <p:ph type="sldNum" sz="quarter" idx="5"/>
          </p:nvPr>
        </p:nvSpPr>
        <p:spPr/>
        <p:txBody>
          <a:bodyPr/>
          <a:lstStyle/>
          <a:p>
            <a:fld id="{01A367DD-7C11-4986-BF8A-AEFCC2DEBD06}" type="slidenum">
              <a:rPr lang="en-US" smtClean="0"/>
              <a:t>3</a:t>
            </a:fld>
            <a:endParaRPr lang="en-US"/>
          </a:p>
        </p:txBody>
      </p:sp>
    </p:spTree>
    <p:extLst>
      <p:ext uri="{BB962C8B-B14F-4D97-AF65-F5344CB8AC3E}">
        <p14:creationId xmlns:p14="http://schemas.microsoft.com/office/powerpoint/2010/main" val="2798251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sz="3200" b="1" dirty="0"/>
              <a:t>Thread</a:t>
            </a:r>
            <a:r>
              <a:rPr lang="en-US" sz="3200" dirty="0"/>
              <a:t> </a:t>
            </a:r>
          </a:p>
          <a:p>
            <a:pPr marL="457200" indent="-457200">
              <a:buFont typeface="Arial" panose="020B0604020202020204" pitchFamily="34" charset="0"/>
              <a:buChar char="•"/>
            </a:pPr>
            <a:r>
              <a:rPr lang="en-US" sz="3200" dirty="0"/>
              <a:t>Threads exist in several states.</a:t>
            </a:r>
          </a:p>
          <a:p>
            <a:pPr marL="457200" indent="-457200">
              <a:buFont typeface="Arial" panose="020B0604020202020204" pitchFamily="34" charset="0"/>
              <a:buChar char="•"/>
            </a:pPr>
            <a:r>
              <a:rPr lang="en-US" sz="3200" dirty="0"/>
              <a:t>A thread can be running.</a:t>
            </a:r>
          </a:p>
          <a:p>
            <a:pPr marL="457200" indent="-457200">
              <a:buFont typeface="Arial" panose="020B0604020202020204" pitchFamily="34" charset="0"/>
              <a:buChar char="•"/>
            </a:pPr>
            <a:r>
              <a:rPr lang="en-US" sz="3200" dirty="0"/>
              <a:t> It can be ready to run(runnable) as soon as it gets CPU time.</a:t>
            </a:r>
          </a:p>
          <a:p>
            <a:pPr marL="457200" indent="-457200">
              <a:buFont typeface="Arial" panose="020B0604020202020204" pitchFamily="34" charset="0"/>
              <a:buChar char="•"/>
            </a:pPr>
            <a:r>
              <a:rPr lang="en-US" sz="3200" dirty="0"/>
              <a:t> A running thread can be suspended(blocked), which temporarily suspends its activity.</a:t>
            </a:r>
          </a:p>
          <a:p>
            <a:pPr marL="457200" indent="-457200">
              <a:buFont typeface="Arial" panose="020B0604020202020204" pitchFamily="34" charset="0"/>
              <a:buChar char="•"/>
            </a:pPr>
            <a:r>
              <a:rPr lang="en-US" sz="3200" dirty="0"/>
              <a:t>A suspended thread can then be resumed(runnable), allowing it to pick up where it left off.</a:t>
            </a:r>
          </a:p>
          <a:p>
            <a:pPr marL="457200" indent="-457200">
              <a:buFont typeface="Arial" panose="020B0604020202020204" pitchFamily="34" charset="0"/>
              <a:buChar char="•"/>
            </a:pPr>
            <a:r>
              <a:rPr lang="en-US" sz="3200" dirty="0"/>
              <a:t>A thread can be blocked when waiting for a resource.</a:t>
            </a:r>
          </a:p>
          <a:p>
            <a:pPr marL="457200" indent="-457200">
              <a:buFont typeface="Arial" panose="020B0604020202020204" pitchFamily="34" charset="0"/>
              <a:buChar char="•"/>
            </a:pPr>
            <a:r>
              <a:rPr lang="en-US" sz="3200" dirty="0"/>
              <a:t>At any time, a thread can be terminated, which halts its execution immediately.</a:t>
            </a:r>
          </a:p>
          <a:p>
            <a:pPr marL="914400" lvl="1" indent="-457200">
              <a:buFont typeface="Arial" panose="020B0604020202020204" pitchFamily="34" charset="0"/>
              <a:buChar char="•"/>
            </a:pPr>
            <a:r>
              <a:rPr lang="en-US" sz="3200" dirty="0"/>
              <a:t> Once terminated, a thread cannot be resumed.</a:t>
            </a:r>
          </a:p>
          <a:p>
            <a:endParaRPr lang="en-US" dirty="0"/>
          </a:p>
        </p:txBody>
      </p:sp>
      <p:sp>
        <p:nvSpPr>
          <p:cNvPr id="4" name="Slide Number Placeholder 3"/>
          <p:cNvSpPr>
            <a:spLocks noGrp="1"/>
          </p:cNvSpPr>
          <p:nvPr>
            <p:ph type="sldNum" sz="quarter" idx="5"/>
          </p:nvPr>
        </p:nvSpPr>
        <p:spPr/>
        <p:txBody>
          <a:bodyPr/>
          <a:lstStyle/>
          <a:p>
            <a:fld id="{01A367DD-7C11-4986-BF8A-AEFCC2DEBD06}" type="slidenum">
              <a:rPr lang="en-US" smtClean="0"/>
              <a:t>4</a:t>
            </a:fld>
            <a:endParaRPr lang="en-US"/>
          </a:p>
        </p:txBody>
      </p:sp>
    </p:spTree>
    <p:extLst>
      <p:ext uri="{BB962C8B-B14F-4D97-AF65-F5344CB8AC3E}">
        <p14:creationId xmlns:p14="http://schemas.microsoft.com/office/powerpoint/2010/main" val="1976890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288709-EBC2-416A-8269-71C11AB47709}" type="datetimeFigureOut">
              <a:rPr lang="en-US" smtClean="0"/>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1142F-036D-4ED1-B76F-67DAA851015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2335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288709-EBC2-416A-8269-71C11AB47709}" type="datetimeFigureOut">
              <a:rPr lang="en-US" smtClean="0"/>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1142F-036D-4ED1-B76F-67DAA8510156}" type="slidenum">
              <a:rPr lang="en-US" smtClean="0"/>
              <a:t>‹#›</a:t>
            </a:fld>
            <a:endParaRPr lang="en-US"/>
          </a:p>
        </p:txBody>
      </p:sp>
    </p:spTree>
    <p:extLst>
      <p:ext uri="{BB962C8B-B14F-4D97-AF65-F5344CB8AC3E}">
        <p14:creationId xmlns:p14="http://schemas.microsoft.com/office/powerpoint/2010/main" val="1861002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288709-EBC2-416A-8269-71C11AB47709}" type="datetimeFigureOut">
              <a:rPr lang="en-US" smtClean="0"/>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1142F-036D-4ED1-B76F-67DAA851015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8567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288709-EBC2-416A-8269-71C11AB47709}" type="datetimeFigureOut">
              <a:rPr lang="en-US" smtClean="0"/>
              <a:t>11/27/2023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A1142F-036D-4ED1-B76F-67DAA8510156}" type="slidenum">
              <a:rPr lang="en-US" smtClean="0"/>
              <a:t>‹#›</a:t>
            </a:fld>
            <a:endParaRPr lang="en-US"/>
          </a:p>
        </p:txBody>
      </p:sp>
    </p:spTree>
    <p:extLst>
      <p:ext uri="{BB962C8B-B14F-4D97-AF65-F5344CB8AC3E}">
        <p14:creationId xmlns:p14="http://schemas.microsoft.com/office/powerpoint/2010/main" val="996338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288709-EBC2-416A-8269-71C11AB47709}" type="datetimeFigureOut">
              <a:rPr lang="en-US" smtClean="0"/>
              <a:t>11/27/2023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A1142F-036D-4ED1-B76F-67DAA8510156}" type="slidenum">
              <a:rPr lang="en-US" smtClean="0"/>
              <a:t>‹#›</a:t>
            </a:fld>
            <a:endParaRPr lang="en-US"/>
          </a:p>
        </p:txBody>
      </p:sp>
    </p:spTree>
    <p:extLst>
      <p:ext uri="{BB962C8B-B14F-4D97-AF65-F5344CB8AC3E}">
        <p14:creationId xmlns:p14="http://schemas.microsoft.com/office/powerpoint/2010/main" val="2786961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288709-EBC2-416A-8269-71C11AB47709}" type="datetimeFigureOut">
              <a:rPr lang="en-US" smtClean="0"/>
              <a:t>11/27/2023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A1142F-036D-4ED1-B76F-67DAA8510156}" type="slidenum">
              <a:rPr lang="en-US" smtClean="0"/>
              <a:t>‹#›</a:t>
            </a:fld>
            <a:endParaRPr lang="en-US"/>
          </a:p>
        </p:txBody>
      </p:sp>
    </p:spTree>
    <p:extLst>
      <p:ext uri="{BB962C8B-B14F-4D97-AF65-F5344CB8AC3E}">
        <p14:creationId xmlns:p14="http://schemas.microsoft.com/office/powerpoint/2010/main" val="1177673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1288709-EBC2-416A-8269-71C11AB47709}" type="datetimeFigureOut">
              <a:rPr lang="en-US" smtClean="0"/>
              <a:t>11/27/2023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DA1142F-036D-4ED1-B76F-67DAA8510156}" type="slidenum">
              <a:rPr lang="en-US" smtClean="0"/>
              <a:t>‹#›</a:t>
            </a:fld>
            <a:endParaRPr lang="en-US"/>
          </a:p>
        </p:txBody>
      </p:sp>
    </p:spTree>
    <p:extLst>
      <p:ext uri="{BB962C8B-B14F-4D97-AF65-F5344CB8AC3E}">
        <p14:creationId xmlns:p14="http://schemas.microsoft.com/office/powerpoint/2010/main" val="533557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1288709-EBC2-416A-8269-71C11AB47709}" type="datetimeFigureOut">
              <a:rPr lang="en-US" smtClean="0"/>
              <a:t>11/27/2023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DA1142F-036D-4ED1-B76F-67DAA8510156}" type="slidenum">
              <a:rPr lang="en-US" smtClean="0"/>
              <a:t>‹#›</a:t>
            </a:fld>
            <a:endParaRPr lang="en-US"/>
          </a:p>
        </p:txBody>
      </p:sp>
    </p:spTree>
    <p:extLst>
      <p:ext uri="{BB962C8B-B14F-4D97-AF65-F5344CB8AC3E}">
        <p14:creationId xmlns:p14="http://schemas.microsoft.com/office/powerpoint/2010/main" val="2682439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288709-EBC2-416A-8269-71C11AB47709}" type="datetimeFigureOut">
              <a:rPr lang="en-US" smtClean="0"/>
              <a:t>11/27/2023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A1142F-036D-4ED1-B76F-67DAA8510156}" type="slidenum">
              <a:rPr lang="en-US" smtClean="0"/>
              <a:t>‹#›</a:t>
            </a:fld>
            <a:endParaRPr lang="en-US"/>
          </a:p>
        </p:txBody>
      </p:sp>
    </p:spTree>
    <p:extLst>
      <p:ext uri="{BB962C8B-B14F-4D97-AF65-F5344CB8AC3E}">
        <p14:creationId xmlns:p14="http://schemas.microsoft.com/office/powerpoint/2010/main" val="3375139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288709-EBC2-416A-8269-71C11AB47709}" type="datetimeFigureOut">
              <a:rPr lang="en-US" smtClean="0"/>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1142F-036D-4ED1-B76F-67DAA8510156}" type="slidenum">
              <a:rPr lang="en-US" smtClean="0"/>
              <a:t>‹#›</a:t>
            </a:fld>
            <a:endParaRPr lang="en-US"/>
          </a:p>
        </p:txBody>
      </p:sp>
    </p:spTree>
    <p:extLst>
      <p:ext uri="{BB962C8B-B14F-4D97-AF65-F5344CB8AC3E}">
        <p14:creationId xmlns:p14="http://schemas.microsoft.com/office/powerpoint/2010/main" val="3113618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288709-EBC2-416A-8269-71C11AB47709}" type="datetimeFigureOut">
              <a:rPr lang="en-US" smtClean="0"/>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1142F-036D-4ED1-B76F-67DAA8510156}" type="slidenum">
              <a:rPr lang="en-US" smtClean="0"/>
              <a:t>‹#›</a:t>
            </a:fld>
            <a:endParaRPr lang="en-US"/>
          </a:p>
        </p:txBody>
      </p:sp>
    </p:spTree>
    <p:extLst>
      <p:ext uri="{BB962C8B-B14F-4D97-AF65-F5344CB8AC3E}">
        <p14:creationId xmlns:p14="http://schemas.microsoft.com/office/powerpoint/2010/main" val="2351680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1288709-EBC2-416A-8269-71C11AB47709}" type="datetimeFigureOut">
              <a:rPr lang="en-US" smtClean="0"/>
              <a:t>11/27/2023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DA1142F-036D-4ED1-B76F-67DAA8510156}"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94555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54434-9589-0316-5BD6-38C0AD16A1F7}"/>
              </a:ext>
            </a:extLst>
          </p:cNvPr>
          <p:cNvSpPr>
            <a:spLocks noGrp="1"/>
          </p:cNvSpPr>
          <p:nvPr>
            <p:ph type="ctrTitle"/>
          </p:nvPr>
        </p:nvSpPr>
        <p:spPr/>
        <p:txBody>
          <a:bodyPr>
            <a:normAutofit/>
          </a:bodyPr>
          <a:lstStyle/>
          <a:p>
            <a:r>
              <a:rPr lang="en-US" b="1" dirty="0"/>
              <a:t>				</a:t>
            </a:r>
            <a:br>
              <a:rPr lang="en-US" sz="4800" b="1" dirty="0"/>
            </a:br>
            <a:r>
              <a:rPr lang="en-US" sz="4800" b="1" dirty="0"/>
              <a:t>		</a:t>
            </a:r>
            <a:endParaRPr lang="en-US" dirty="0"/>
          </a:p>
        </p:txBody>
      </p:sp>
      <p:sp>
        <p:nvSpPr>
          <p:cNvPr id="11" name="Subtitle 10">
            <a:extLst>
              <a:ext uri="{FF2B5EF4-FFF2-40B4-BE49-F238E27FC236}">
                <a16:creationId xmlns:a16="http://schemas.microsoft.com/office/drawing/2014/main" id="{43EC9795-4658-BF17-2C24-8D2ACAB07B79}"/>
              </a:ext>
            </a:extLst>
          </p:cNvPr>
          <p:cNvSpPr>
            <a:spLocks noGrp="1"/>
          </p:cNvSpPr>
          <p:nvPr>
            <p:ph type="subTitle" idx="1"/>
          </p:nvPr>
        </p:nvSpPr>
        <p:spPr/>
        <p:txBody>
          <a:bodyPr>
            <a:normAutofit fontScale="92500" lnSpcReduction="10000"/>
          </a:bodyPr>
          <a:lstStyle/>
          <a:p>
            <a:r>
              <a:rPr lang="en-US" b="1" dirty="0"/>
              <a:t>				</a:t>
            </a:r>
            <a:br>
              <a:rPr lang="en-US" b="1" dirty="0"/>
            </a:br>
            <a:r>
              <a:rPr lang="en-US" b="1" dirty="0"/>
              <a:t>		Module 4 - Advanced features of Java</a:t>
            </a:r>
          </a:p>
          <a:p>
            <a:r>
              <a:rPr lang="en-US" b="1" dirty="0"/>
              <a:t>		Multithreaded Programming</a:t>
            </a:r>
          </a:p>
        </p:txBody>
      </p:sp>
    </p:spTree>
    <p:extLst>
      <p:ext uri="{BB962C8B-B14F-4D97-AF65-F5344CB8AC3E}">
        <p14:creationId xmlns:p14="http://schemas.microsoft.com/office/powerpoint/2010/main" val="2041577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16265-6FAB-B3A4-B282-A52C1F600625}"/>
              </a:ext>
            </a:extLst>
          </p:cNvPr>
          <p:cNvSpPr>
            <a:spLocks noGrp="1"/>
          </p:cNvSpPr>
          <p:nvPr>
            <p:ph idx="4294967295"/>
          </p:nvPr>
        </p:nvSpPr>
        <p:spPr>
          <a:xfrm>
            <a:off x="417688" y="203200"/>
            <a:ext cx="11427947" cy="5665789"/>
          </a:xfrm>
          <a:ln>
            <a:solidFill>
              <a:schemeClr val="tx1"/>
            </a:solidFill>
          </a:ln>
        </p:spPr>
        <p:txBody>
          <a:bodyPr>
            <a:normAutofit/>
          </a:bodyPr>
          <a:lstStyle/>
          <a:p>
            <a:pPr marL="0" indent="0" algn="just">
              <a:buNone/>
            </a:pPr>
            <a:r>
              <a:rPr lang="en-US" sz="3200" dirty="0"/>
              <a:t>					Thread</a:t>
            </a:r>
          </a:p>
          <a:p>
            <a:pPr algn="just">
              <a:buFont typeface="Arial" panose="020B0604020202020204" pitchFamily="34" charset="0"/>
              <a:buChar char="•"/>
            </a:pPr>
            <a:r>
              <a:rPr lang="en-US" sz="3200" dirty="0">
                <a:solidFill>
                  <a:srgbClr val="FF0000"/>
                </a:solidFill>
              </a:rPr>
              <a:t>A thread in Java, is the path followed when executing a program.</a:t>
            </a:r>
          </a:p>
          <a:p>
            <a:pPr algn="just">
              <a:buFont typeface="Arial" panose="020B0604020202020204" pitchFamily="34" charset="0"/>
              <a:buChar char="•"/>
            </a:pPr>
            <a:r>
              <a:rPr lang="en-US" sz="3200" dirty="0"/>
              <a:t>All Java programs have at least one thread, known as </a:t>
            </a:r>
            <a:r>
              <a:rPr lang="en-US" sz="3200" dirty="0">
                <a:solidFill>
                  <a:schemeClr val="tx1"/>
                </a:solidFill>
              </a:rPr>
              <a:t>the</a:t>
            </a:r>
            <a:r>
              <a:rPr lang="en-US" sz="3200" dirty="0">
                <a:solidFill>
                  <a:srgbClr val="FF0000"/>
                </a:solidFill>
              </a:rPr>
              <a:t> main thread.</a:t>
            </a:r>
          </a:p>
          <a:p>
            <a:pPr algn="just">
              <a:buFont typeface="Arial" panose="020B0604020202020204" pitchFamily="34" charset="0"/>
              <a:buChar char="•"/>
            </a:pPr>
            <a:r>
              <a:rPr lang="en-US" sz="3200" dirty="0"/>
              <a:t>A multithreaded program contains two or more parts that can run concurrently.</a:t>
            </a:r>
          </a:p>
          <a:p>
            <a:pPr algn="just">
              <a:buFont typeface="Arial" panose="020B0604020202020204" pitchFamily="34" charset="0"/>
              <a:buChar char="•"/>
            </a:pPr>
            <a:r>
              <a:rPr lang="en-US" sz="3200" dirty="0">
                <a:solidFill>
                  <a:srgbClr val="FF0000"/>
                </a:solidFill>
              </a:rPr>
              <a:t>Threads are lightweight processes within a process.</a:t>
            </a:r>
          </a:p>
          <a:p>
            <a:pPr algn="just">
              <a:buFont typeface="Arial" panose="020B0604020202020204" pitchFamily="34" charset="0"/>
              <a:buChar char="•"/>
            </a:pPr>
            <a:endParaRPr lang="en-US" sz="3200" dirty="0">
              <a:solidFill>
                <a:srgbClr val="FF0000"/>
              </a:solidFill>
            </a:endParaRPr>
          </a:p>
          <a:p>
            <a:pPr algn="just">
              <a:buFont typeface="Arial" panose="020B0604020202020204" pitchFamily="34" charset="0"/>
              <a:buChar char="•"/>
            </a:pPr>
            <a:endParaRPr lang="en-US" sz="3200" dirty="0"/>
          </a:p>
          <a:p>
            <a:pPr marL="0" indent="0" algn="just">
              <a:buNone/>
            </a:pPr>
            <a:endParaRPr lang="en-US" sz="3200" dirty="0"/>
          </a:p>
          <a:p>
            <a:pPr algn="just"/>
            <a:endParaRPr lang="en-US" sz="3200" dirty="0"/>
          </a:p>
        </p:txBody>
      </p:sp>
    </p:spTree>
    <p:extLst>
      <p:ext uri="{BB962C8B-B14F-4D97-AF65-F5344CB8AC3E}">
        <p14:creationId xmlns:p14="http://schemas.microsoft.com/office/powerpoint/2010/main" val="7084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16265-6FAB-B3A4-B282-A52C1F600625}"/>
              </a:ext>
            </a:extLst>
          </p:cNvPr>
          <p:cNvSpPr>
            <a:spLocks noGrp="1"/>
          </p:cNvSpPr>
          <p:nvPr>
            <p:ph idx="4294967295"/>
          </p:nvPr>
        </p:nvSpPr>
        <p:spPr>
          <a:xfrm>
            <a:off x="338666" y="169333"/>
            <a:ext cx="11506969" cy="5699656"/>
          </a:xfrm>
          <a:ln>
            <a:solidFill>
              <a:schemeClr val="tx1"/>
            </a:solidFill>
          </a:ln>
        </p:spPr>
        <p:txBody>
          <a:bodyPr>
            <a:noAutofit/>
          </a:bodyPr>
          <a:lstStyle/>
          <a:p>
            <a:pPr marL="0" indent="0" algn="just">
              <a:buNone/>
            </a:pPr>
            <a:r>
              <a:rPr lang="en-US" sz="3200" dirty="0"/>
              <a:t>				Java Thread Model </a:t>
            </a:r>
          </a:p>
          <a:p>
            <a:pPr algn="just">
              <a:buFont typeface="Arial" panose="020B0604020202020204" pitchFamily="34" charset="0"/>
              <a:buChar char="•"/>
            </a:pPr>
            <a:r>
              <a:rPr lang="en-US" sz="3200" dirty="0"/>
              <a:t>All the </a:t>
            </a:r>
            <a:r>
              <a:rPr lang="en-US" sz="3200" dirty="0">
                <a:solidFill>
                  <a:srgbClr val="FF0000"/>
                </a:solidFill>
              </a:rPr>
              <a:t>class libraries are designed with multithreading</a:t>
            </a:r>
            <a:r>
              <a:rPr lang="en-US" sz="3200" dirty="0"/>
              <a:t>.</a:t>
            </a:r>
          </a:p>
          <a:p>
            <a:pPr algn="just">
              <a:buFont typeface="Arial" panose="020B0604020202020204" pitchFamily="34" charset="0"/>
              <a:buChar char="•"/>
            </a:pPr>
            <a:r>
              <a:rPr lang="en-US" sz="3200" dirty="0"/>
              <a:t> Java uses threads to enable the entire environment to be asynchronous.</a:t>
            </a:r>
          </a:p>
          <a:p>
            <a:pPr algn="just">
              <a:buFont typeface="Arial" panose="020B0604020202020204" pitchFamily="34" charset="0"/>
              <a:buChar char="•"/>
            </a:pPr>
            <a:r>
              <a:rPr lang="en-US" sz="3200" dirty="0"/>
              <a:t>This helps to </a:t>
            </a:r>
            <a:r>
              <a:rPr lang="en-US" sz="3200" dirty="0">
                <a:solidFill>
                  <a:srgbClr val="FF0000"/>
                </a:solidFill>
              </a:rPr>
              <a:t>reduce inefficiency by preventing the waste of CPU cycles.</a:t>
            </a:r>
          </a:p>
          <a:p>
            <a:pPr algn="just">
              <a:buFont typeface="Arial" panose="020B0604020202020204" pitchFamily="34" charset="0"/>
              <a:buChar char="•"/>
            </a:pPr>
            <a:r>
              <a:rPr lang="en-US" sz="3000" dirty="0"/>
              <a:t>The benefit of Java’s multithreading is that the main loop/polling mechanism is eliminated.</a:t>
            </a:r>
          </a:p>
          <a:p>
            <a:pPr lvl="2" algn="just">
              <a:buFont typeface="Arial" panose="020B0604020202020204" pitchFamily="34" charset="0"/>
              <a:buChar char="•"/>
            </a:pPr>
            <a:r>
              <a:rPr lang="en-US" sz="3000" dirty="0"/>
              <a:t>One thread can pause without stopping other parts of your program.</a:t>
            </a:r>
          </a:p>
          <a:p>
            <a:pPr lvl="2" algn="just">
              <a:buFont typeface="Arial" panose="020B0604020202020204" pitchFamily="34" charset="0"/>
              <a:buChar char="•"/>
            </a:pPr>
            <a:r>
              <a:rPr lang="en-US" sz="3000" dirty="0"/>
              <a:t>When a thread blocks in a Java program, only the single thread that is blocked pauses. All other threads continue to run.</a:t>
            </a:r>
          </a:p>
          <a:p>
            <a:pPr algn="just">
              <a:buFont typeface="Arial" panose="020B0604020202020204" pitchFamily="34" charset="0"/>
              <a:buChar char="•"/>
            </a:pPr>
            <a:endParaRPr lang="en-US" sz="3200" dirty="0"/>
          </a:p>
        </p:txBody>
      </p:sp>
    </p:spTree>
    <p:extLst>
      <p:ext uri="{BB962C8B-B14F-4D97-AF65-F5344CB8AC3E}">
        <p14:creationId xmlns:p14="http://schemas.microsoft.com/office/powerpoint/2010/main" val="2706971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4</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69334"/>
            <a:ext cx="12112978" cy="5078313"/>
          </a:xfrm>
          <a:prstGeom prst="rect">
            <a:avLst/>
          </a:prstGeom>
          <a:noFill/>
          <a:ln>
            <a:solidFill>
              <a:schemeClr val="tx1"/>
            </a:solidFill>
          </a:ln>
        </p:spPr>
        <p:txBody>
          <a:bodyPr wrap="square">
            <a:spAutoFit/>
          </a:bodyPr>
          <a:lstStyle/>
          <a:p>
            <a:pPr algn="ctr"/>
            <a:r>
              <a:rPr lang="en-US" sz="3600" i="0" dirty="0">
                <a:solidFill>
                  <a:srgbClr val="FF0000"/>
                </a:solidFill>
                <a:effectLst/>
              </a:rPr>
              <a:t>Thread States in Java</a:t>
            </a:r>
          </a:p>
          <a:p>
            <a:pPr algn="just">
              <a:buFont typeface="+mj-lt"/>
              <a:buAutoNum type="arabicPeriod"/>
            </a:pPr>
            <a:r>
              <a:rPr lang="en-US" sz="3600" i="0" dirty="0">
                <a:effectLst/>
              </a:rPr>
              <a:t>New -</a:t>
            </a:r>
            <a:r>
              <a:rPr lang="en-US" sz="3600" i="0" dirty="0">
                <a:solidFill>
                  <a:srgbClr val="333333"/>
                </a:solidFill>
                <a:effectLst/>
              </a:rPr>
              <a:t>thread is born</a:t>
            </a:r>
            <a:endParaRPr lang="en-US" sz="3600" i="0" dirty="0">
              <a:effectLst/>
            </a:endParaRPr>
          </a:p>
          <a:p>
            <a:pPr algn="just">
              <a:buFont typeface="+mj-lt"/>
              <a:buAutoNum type="arabicPeriod"/>
            </a:pPr>
            <a:r>
              <a:rPr lang="en-US" sz="3600" i="0" dirty="0">
                <a:effectLst/>
              </a:rPr>
              <a:t>Runnable-thread is ready to run(start () invoked)</a:t>
            </a:r>
            <a:endParaRPr lang="en-US" sz="3600" dirty="0"/>
          </a:p>
          <a:p>
            <a:pPr algn="just">
              <a:buFont typeface="+mj-lt"/>
              <a:buAutoNum type="arabicPeriod"/>
            </a:pPr>
            <a:r>
              <a:rPr lang="en-US" sz="3600" i="0" dirty="0">
                <a:effectLst/>
              </a:rPr>
              <a:t>Running –</a:t>
            </a:r>
            <a:r>
              <a:rPr lang="en-US" sz="3600" i="0" dirty="0">
                <a:solidFill>
                  <a:srgbClr val="333333"/>
                </a:solidFill>
                <a:effectLst/>
              </a:rPr>
              <a:t>CPU has allocated time slot to thread for its execution.</a:t>
            </a:r>
            <a:endParaRPr lang="en-US" sz="3600" i="0" dirty="0">
              <a:effectLst/>
            </a:endParaRPr>
          </a:p>
          <a:p>
            <a:pPr algn="just">
              <a:buFont typeface="+mj-lt"/>
              <a:buAutoNum type="arabicPeriod"/>
            </a:pPr>
            <a:r>
              <a:rPr lang="en-US" sz="3600" i="0" dirty="0">
                <a:effectLst/>
              </a:rPr>
              <a:t>Blocked (Non-runnable state)-</a:t>
            </a:r>
            <a:r>
              <a:rPr lang="en-US" sz="3600" dirty="0"/>
              <a:t> thread is alive, but not eligible to run </a:t>
            </a:r>
            <a:endParaRPr lang="en-US" sz="3600" i="0" dirty="0">
              <a:effectLst/>
            </a:endParaRPr>
          </a:p>
          <a:p>
            <a:pPr algn="just">
              <a:buFont typeface="+mj-lt"/>
              <a:buAutoNum type="arabicPeriod"/>
            </a:pPr>
            <a:r>
              <a:rPr lang="en-US" sz="3600" i="0" dirty="0">
                <a:effectLst/>
              </a:rPr>
              <a:t>Terminated-</a:t>
            </a:r>
            <a:r>
              <a:rPr lang="en-US" sz="3600" dirty="0"/>
              <a:t> thread completed its execution </a:t>
            </a:r>
            <a:endParaRPr lang="en-US" sz="3600" i="0" dirty="0">
              <a:effectLst/>
            </a:endParaRPr>
          </a:p>
          <a:p>
            <a:pPr marL="914400" lvl="1" indent="-457200">
              <a:buFont typeface="Arial" panose="020B0604020202020204" pitchFamily="34" charset="0"/>
              <a:buChar char="•"/>
            </a:pP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B2AEC86-759C-BDE3-75D0-0572E09578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25" y="56606"/>
            <a:ext cx="10420350" cy="6276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102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6</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54638" y="-111082"/>
            <a:ext cx="12015442" cy="5078313"/>
          </a:xfrm>
          <a:prstGeom prst="rect">
            <a:avLst/>
          </a:prstGeom>
          <a:noFill/>
          <a:ln>
            <a:solidFill>
              <a:schemeClr val="tx1"/>
            </a:solidFill>
          </a:ln>
        </p:spPr>
        <p:txBody>
          <a:bodyPr wrap="square">
            <a:spAutoFit/>
          </a:bodyPr>
          <a:lstStyle/>
          <a:p>
            <a:pPr algn="ctr"/>
            <a:r>
              <a:rPr lang="en-US" sz="3600" i="0" dirty="0">
                <a:solidFill>
                  <a:srgbClr val="FF0000"/>
                </a:solidFill>
                <a:effectLst/>
              </a:rPr>
              <a:t>Thread Priorities</a:t>
            </a:r>
          </a:p>
          <a:p>
            <a:pPr marL="914400" lvl="1" indent="-457200" algn="just">
              <a:buFont typeface="Arial" panose="020B0604020202020204" pitchFamily="34" charset="0"/>
              <a:buChar char="•"/>
            </a:pPr>
            <a:r>
              <a:rPr lang="en-US" sz="3600" dirty="0"/>
              <a:t>Java assigns to each thread a </a:t>
            </a:r>
            <a:r>
              <a:rPr lang="en-US" sz="3600" dirty="0">
                <a:solidFill>
                  <a:srgbClr val="FF0000"/>
                </a:solidFill>
              </a:rPr>
              <a:t>priority</a:t>
            </a:r>
            <a:r>
              <a:rPr lang="en-US" sz="3600" dirty="0"/>
              <a:t> that </a:t>
            </a:r>
            <a:r>
              <a:rPr lang="en-US" sz="3600" dirty="0">
                <a:solidFill>
                  <a:srgbClr val="FF0000"/>
                </a:solidFill>
              </a:rPr>
              <a:t>determines how that thread should be treated with respect to the others.</a:t>
            </a:r>
          </a:p>
          <a:p>
            <a:pPr marL="914400" lvl="1" indent="-457200" algn="just">
              <a:buFont typeface="Arial" panose="020B0604020202020204" pitchFamily="34" charset="0"/>
              <a:buChar char="•"/>
            </a:pPr>
            <a:r>
              <a:rPr lang="en-US" sz="3600" dirty="0"/>
              <a:t>Thread priorities are </a:t>
            </a:r>
            <a:r>
              <a:rPr lang="en-US" sz="3600" dirty="0">
                <a:solidFill>
                  <a:srgbClr val="FF0000"/>
                </a:solidFill>
              </a:rPr>
              <a:t>integers</a:t>
            </a:r>
            <a:r>
              <a:rPr lang="en-US" sz="3600" dirty="0"/>
              <a:t> that specify the relative priority of one thread to another. </a:t>
            </a:r>
          </a:p>
          <a:p>
            <a:pPr marL="914400" lvl="1" indent="-457200" algn="just">
              <a:buFont typeface="Arial" panose="020B0604020202020204" pitchFamily="34" charset="0"/>
              <a:buChar char="•"/>
            </a:pPr>
            <a:r>
              <a:rPr lang="en-US" sz="3600" dirty="0"/>
              <a:t>A thread’s priority is used to decide when to switch from one running thread to the next.</a:t>
            </a:r>
          </a:p>
          <a:p>
            <a:pPr marL="914400" lvl="1" indent="-457200" algn="just">
              <a:buFont typeface="Arial" panose="020B0604020202020204" pitchFamily="34" charset="0"/>
              <a:buChar char="•"/>
            </a:pPr>
            <a:r>
              <a:rPr lang="en-US" sz="3600" dirty="0"/>
              <a:t>Switching from one thread to another is called a </a:t>
            </a:r>
            <a:r>
              <a:rPr lang="en-US" sz="3600" dirty="0">
                <a:solidFill>
                  <a:srgbClr val="FF0000"/>
                </a:solidFill>
              </a:rPr>
              <a:t>context switch. </a:t>
            </a:r>
          </a:p>
        </p:txBody>
      </p:sp>
    </p:spTree>
    <p:extLst>
      <p:ext uri="{BB962C8B-B14F-4D97-AF65-F5344CB8AC3E}">
        <p14:creationId xmlns:p14="http://schemas.microsoft.com/office/powerpoint/2010/main" val="2092529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7</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69334"/>
            <a:ext cx="12112978" cy="4161460"/>
          </a:xfrm>
          <a:prstGeom prst="rect">
            <a:avLst/>
          </a:prstGeom>
          <a:noFill/>
          <a:ln>
            <a:solidFill>
              <a:schemeClr val="tx1"/>
            </a:solidFill>
          </a:ln>
        </p:spPr>
        <p:txBody>
          <a:bodyPr wrap="square">
            <a:spAutoFit/>
          </a:bodyPr>
          <a:lstStyle/>
          <a:p>
            <a:pPr algn="ctr">
              <a:lnSpc>
                <a:spcPct val="150000"/>
              </a:lnSpc>
            </a:pPr>
            <a:endParaRPr lang="en-US" sz="3600" b="1" i="0" dirty="0">
              <a:effectLst/>
            </a:endParaRPr>
          </a:p>
          <a:p>
            <a:pPr marL="0" lvl="1">
              <a:lnSpc>
                <a:spcPct val="150000"/>
              </a:lnSpc>
            </a:pPr>
            <a:r>
              <a:rPr lang="en-US" sz="3600" dirty="0"/>
              <a:t>The rules that determine when a context switch takes place are:</a:t>
            </a:r>
          </a:p>
          <a:p>
            <a:pPr marL="1028700" lvl="1" indent="-571500">
              <a:lnSpc>
                <a:spcPct val="150000"/>
              </a:lnSpc>
              <a:buFont typeface="Arial" panose="020B0604020202020204" pitchFamily="34" charset="0"/>
              <a:buChar char="•"/>
            </a:pPr>
            <a:r>
              <a:rPr lang="en-US" sz="3600" dirty="0">
                <a:solidFill>
                  <a:srgbClr val="FF0000"/>
                </a:solidFill>
              </a:rPr>
              <a:t>A thread can voluntarily relinquish control.</a:t>
            </a:r>
          </a:p>
          <a:p>
            <a:pPr marL="1028700" lvl="1" indent="-571500">
              <a:lnSpc>
                <a:spcPct val="150000"/>
              </a:lnSpc>
              <a:buFont typeface="Arial" panose="020B0604020202020204" pitchFamily="34" charset="0"/>
              <a:buChar char="•"/>
            </a:pPr>
            <a:r>
              <a:rPr lang="en-US" sz="3600" dirty="0">
                <a:solidFill>
                  <a:srgbClr val="FF0000"/>
                </a:solidFill>
              </a:rPr>
              <a:t>A thread can be preempted by a higher-priority thread</a:t>
            </a:r>
          </a:p>
          <a:p>
            <a:pPr marL="914400" lvl="1" indent="-457200">
              <a:lnSpc>
                <a:spcPct val="150000"/>
              </a:lnSpc>
              <a:buFont typeface="Arial" panose="020B0604020202020204" pitchFamily="34" charset="0"/>
              <a:buChar char="•"/>
            </a:pPr>
            <a:endParaRPr lang="en-US" sz="3600" dirty="0"/>
          </a:p>
        </p:txBody>
      </p:sp>
    </p:spTree>
    <p:extLst>
      <p:ext uri="{BB962C8B-B14F-4D97-AF65-F5344CB8AC3E}">
        <p14:creationId xmlns:p14="http://schemas.microsoft.com/office/powerpoint/2010/main" val="417698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8</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69334"/>
            <a:ext cx="12112978" cy="6186309"/>
          </a:xfrm>
          <a:prstGeom prst="rect">
            <a:avLst/>
          </a:prstGeom>
          <a:noFill/>
          <a:ln>
            <a:solidFill>
              <a:schemeClr val="tx1"/>
            </a:solidFill>
          </a:ln>
        </p:spPr>
        <p:txBody>
          <a:bodyPr wrap="square">
            <a:spAutoFit/>
          </a:bodyPr>
          <a:lstStyle/>
          <a:p>
            <a:pPr marL="0" lvl="1" algn="just"/>
            <a:r>
              <a:rPr lang="en-US" sz="3600" dirty="0">
                <a:solidFill>
                  <a:srgbClr val="FF0000"/>
                </a:solidFill>
              </a:rPr>
              <a:t>								The Main Thread</a:t>
            </a:r>
          </a:p>
          <a:p>
            <a:pPr marL="571500" lvl="1" indent="-571500" algn="just">
              <a:buFont typeface="Arial" panose="020B0604020202020204" pitchFamily="34" charset="0"/>
              <a:buChar char="•"/>
            </a:pPr>
            <a:r>
              <a:rPr lang="en-US" sz="3600" dirty="0"/>
              <a:t> When a Java program starts up, one thread begins running immediately.</a:t>
            </a:r>
          </a:p>
          <a:p>
            <a:pPr marL="571500" lvl="1" indent="-571500" algn="just">
              <a:buFont typeface="Arial" panose="020B0604020202020204" pitchFamily="34" charset="0"/>
              <a:buChar char="•"/>
            </a:pPr>
            <a:r>
              <a:rPr lang="en-US" sz="3600" dirty="0"/>
              <a:t> This is usually called the main thread of your program, because it is the one that is executed when your program begins. </a:t>
            </a:r>
          </a:p>
          <a:p>
            <a:pPr marL="571500" lvl="1" indent="-571500" algn="just">
              <a:buFont typeface="Arial" panose="020B0604020202020204" pitchFamily="34" charset="0"/>
              <a:buChar char="•"/>
            </a:pPr>
            <a:r>
              <a:rPr lang="en-US" sz="3600" dirty="0"/>
              <a:t>The main thread is important for two reasons: </a:t>
            </a:r>
          </a:p>
          <a:p>
            <a:pPr marL="1028700" lvl="2" indent="-571500" algn="just">
              <a:buFont typeface="Arial" panose="020B0604020202020204" pitchFamily="34" charset="0"/>
              <a:buChar char="•"/>
            </a:pPr>
            <a:r>
              <a:rPr lang="en-US" sz="3600" dirty="0"/>
              <a:t> It is the </a:t>
            </a:r>
            <a:r>
              <a:rPr lang="en-US" sz="3600" dirty="0">
                <a:solidFill>
                  <a:srgbClr val="FF0000"/>
                </a:solidFill>
              </a:rPr>
              <a:t>thread from which other “child” threads will be spawned. </a:t>
            </a:r>
          </a:p>
          <a:p>
            <a:pPr marL="1028700" lvl="2" indent="-571500" algn="just">
              <a:buFont typeface="Arial" panose="020B0604020202020204" pitchFamily="34" charset="0"/>
              <a:buChar char="•"/>
            </a:pPr>
            <a:r>
              <a:rPr lang="en-US" sz="3600" dirty="0"/>
              <a:t> Often, it must be the </a:t>
            </a:r>
            <a:r>
              <a:rPr lang="en-US" sz="3600" dirty="0">
                <a:solidFill>
                  <a:srgbClr val="FF0000"/>
                </a:solidFill>
              </a:rPr>
              <a:t>last thread to finish execution </a:t>
            </a:r>
            <a:r>
              <a:rPr lang="en-US" sz="3600" dirty="0"/>
              <a:t>because it performs various shutdown actions. </a:t>
            </a:r>
          </a:p>
        </p:txBody>
      </p:sp>
    </p:spTree>
    <p:extLst>
      <p:ext uri="{BB962C8B-B14F-4D97-AF65-F5344CB8AC3E}">
        <p14:creationId xmlns:p14="http://schemas.microsoft.com/office/powerpoint/2010/main" val="712625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9</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124178" y="53960"/>
            <a:ext cx="12455878" cy="6001643"/>
          </a:xfrm>
          <a:prstGeom prst="rect">
            <a:avLst/>
          </a:prstGeom>
          <a:noFill/>
          <a:ln>
            <a:solidFill>
              <a:schemeClr val="tx1"/>
            </a:solidFill>
          </a:ln>
        </p:spPr>
        <p:txBody>
          <a:bodyPr wrap="square">
            <a:spAutoFit/>
          </a:bodyPr>
          <a:lstStyle/>
          <a:p>
            <a:pPr marL="571500" lvl="1" indent="-571500">
              <a:buFont typeface="Arial" panose="020B0604020202020204" pitchFamily="34" charset="0"/>
              <a:buChar char="•"/>
            </a:pPr>
            <a:r>
              <a:rPr lang="en-US" sz="3200" dirty="0"/>
              <a:t>Main thread  can be controlled through a Thread object by  calling </a:t>
            </a:r>
            <a:r>
              <a:rPr lang="en-US" sz="3200" dirty="0" err="1">
                <a:solidFill>
                  <a:srgbClr val="FF0000"/>
                </a:solidFill>
              </a:rPr>
              <a:t>currentThread</a:t>
            </a:r>
            <a:r>
              <a:rPr lang="en-US" sz="3200" dirty="0">
                <a:solidFill>
                  <a:srgbClr val="FF0000"/>
                </a:solidFill>
              </a:rPr>
              <a:t>( ) </a:t>
            </a:r>
            <a:r>
              <a:rPr lang="en-US" sz="3200" dirty="0"/>
              <a:t>method </a:t>
            </a:r>
          </a:p>
          <a:p>
            <a:pPr marL="0" lvl="1"/>
            <a:r>
              <a:rPr lang="en-US" sz="3200" dirty="0" err="1"/>
              <a:t>Eg</a:t>
            </a:r>
            <a:r>
              <a:rPr lang="en-US" sz="3200" dirty="0"/>
              <a:t>:</a:t>
            </a:r>
          </a:p>
          <a:p>
            <a:pPr lvl="1" defTabSz="447675"/>
            <a:r>
              <a:rPr lang="en-US" sz="3200" dirty="0"/>
              <a:t>class </a:t>
            </a:r>
            <a:r>
              <a:rPr lang="en-US" sz="3200" dirty="0" err="1"/>
              <a:t>CurrentThreadDemo</a:t>
            </a:r>
            <a:r>
              <a:rPr lang="en-US" sz="3200" dirty="0"/>
              <a:t> </a:t>
            </a:r>
          </a:p>
          <a:p>
            <a:pPr lvl="1" defTabSz="447675"/>
            <a:r>
              <a:rPr lang="en-US" sz="3200" dirty="0"/>
              <a:t>{</a:t>
            </a:r>
          </a:p>
          <a:p>
            <a:pPr lvl="1" defTabSz="447675"/>
            <a:r>
              <a:rPr lang="en-US" sz="3200" dirty="0"/>
              <a:t> public static void main(String </a:t>
            </a:r>
            <a:r>
              <a:rPr lang="en-US" sz="3200" dirty="0" err="1"/>
              <a:t>args</a:t>
            </a:r>
            <a:r>
              <a:rPr lang="en-US" sz="3200" dirty="0"/>
              <a:t>[])</a:t>
            </a:r>
          </a:p>
          <a:p>
            <a:pPr lvl="1" defTabSz="447675"/>
            <a:r>
              <a:rPr lang="en-US" sz="3200" dirty="0"/>
              <a:t> {</a:t>
            </a:r>
          </a:p>
          <a:p>
            <a:pPr lvl="1" defTabSz="447675"/>
            <a:r>
              <a:rPr lang="en-US" sz="3200" dirty="0"/>
              <a:t>	 Thread t = </a:t>
            </a:r>
            <a:r>
              <a:rPr lang="en-US" sz="3200" dirty="0" err="1"/>
              <a:t>Thread.currentThread</a:t>
            </a:r>
            <a:r>
              <a:rPr lang="en-US" sz="3200" dirty="0"/>
              <a:t>();  </a:t>
            </a:r>
            <a:r>
              <a:rPr lang="en-US" sz="2800" dirty="0">
                <a:solidFill>
                  <a:srgbClr val="FF0000"/>
                </a:solidFill>
              </a:rPr>
              <a:t>//t is a reference to the main thread</a:t>
            </a:r>
            <a:endParaRPr lang="en-US" sz="3200" dirty="0">
              <a:solidFill>
                <a:srgbClr val="FF0000"/>
              </a:solidFill>
            </a:endParaRPr>
          </a:p>
          <a:p>
            <a:pPr lvl="1" defTabSz="447675"/>
            <a:r>
              <a:rPr lang="en-US" sz="3200" dirty="0"/>
              <a:t>	 </a:t>
            </a:r>
            <a:r>
              <a:rPr lang="en-US" sz="3200" dirty="0" err="1"/>
              <a:t>System.out.println</a:t>
            </a:r>
            <a:r>
              <a:rPr lang="en-US" sz="3200" dirty="0"/>
              <a:t>("Current thread: " + t);</a:t>
            </a:r>
          </a:p>
          <a:p>
            <a:pPr lvl="1" defTabSz="447675"/>
            <a:r>
              <a:rPr lang="en-US" sz="3200" dirty="0"/>
              <a:t>	 </a:t>
            </a:r>
            <a:r>
              <a:rPr lang="en-US" sz="3200" dirty="0" err="1"/>
              <a:t>t.setName</a:t>
            </a:r>
            <a:r>
              <a:rPr lang="en-US" sz="3200" dirty="0"/>
              <a:t>("My Thread"); </a:t>
            </a:r>
            <a:r>
              <a:rPr lang="en-US" sz="3200" dirty="0">
                <a:solidFill>
                  <a:srgbClr val="FF0000"/>
                </a:solidFill>
              </a:rPr>
              <a:t>// </a:t>
            </a:r>
            <a:r>
              <a:rPr lang="en-US" sz="2800" dirty="0">
                <a:solidFill>
                  <a:srgbClr val="FF0000"/>
                </a:solidFill>
              </a:rPr>
              <a:t>change the name of the thread</a:t>
            </a:r>
          </a:p>
          <a:p>
            <a:pPr lvl="1" defTabSz="447675"/>
            <a:r>
              <a:rPr lang="en-US" sz="3200" dirty="0"/>
              <a:t> 	 </a:t>
            </a:r>
            <a:r>
              <a:rPr lang="en-US" sz="3200" dirty="0" err="1"/>
              <a:t>System.out.println</a:t>
            </a:r>
            <a:r>
              <a:rPr lang="en-US" sz="3200" dirty="0"/>
              <a:t>("After name change: " + t); </a:t>
            </a:r>
            <a:r>
              <a:rPr lang="en-US" sz="3200" dirty="0">
                <a:solidFill>
                  <a:srgbClr val="FF0000"/>
                </a:solidFill>
              </a:rPr>
              <a:t>//</a:t>
            </a:r>
            <a:r>
              <a:rPr lang="en-US" sz="2800" dirty="0">
                <a:solidFill>
                  <a:srgbClr val="FF0000"/>
                </a:solidFill>
              </a:rPr>
              <a:t>print changed name</a:t>
            </a:r>
            <a:endParaRPr lang="en-US" sz="3200" dirty="0">
              <a:solidFill>
                <a:srgbClr val="FF0000"/>
              </a:solidFill>
            </a:endParaRPr>
          </a:p>
          <a:p>
            <a:pPr lvl="1" defTabSz="447675"/>
            <a:r>
              <a:rPr lang="en-US" sz="3200" dirty="0"/>
              <a:t> </a:t>
            </a:r>
          </a:p>
        </p:txBody>
      </p:sp>
    </p:spTree>
    <p:extLst>
      <p:ext uri="{BB962C8B-B14F-4D97-AF65-F5344CB8AC3E}">
        <p14:creationId xmlns:p14="http://schemas.microsoft.com/office/powerpoint/2010/main" val="1702252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10</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98440"/>
            <a:ext cx="12112978" cy="7171194"/>
          </a:xfrm>
          <a:prstGeom prst="rect">
            <a:avLst/>
          </a:prstGeom>
          <a:noFill/>
          <a:ln>
            <a:solidFill>
              <a:schemeClr val="tx1"/>
            </a:solidFill>
          </a:ln>
        </p:spPr>
        <p:txBody>
          <a:bodyPr wrap="square">
            <a:spAutoFit/>
          </a:bodyPr>
          <a:lstStyle/>
          <a:p>
            <a:pPr lvl="1" defTabSz="447675"/>
            <a:r>
              <a:rPr lang="en-US" sz="3000" dirty="0"/>
              <a:t>try {</a:t>
            </a:r>
          </a:p>
          <a:p>
            <a:pPr lvl="1" defTabSz="447675"/>
            <a:r>
              <a:rPr lang="en-US" sz="3000" dirty="0"/>
              <a:t>	 for(int n = 5; n &gt; 0; n--) {  </a:t>
            </a:r>
            <a:r>
              <a:rPr lang="en-US" sz="3000" dirty="0">
                <a:solidFill>
                  <a:srgbClr val="FF0000"/>
                </a:solidFill>
              </a:rPr>
              <a:t>// loop counts down from 5 pausing 1 sec</a:t>
            </a:r>
            <a:r>
              <a:rPr lang="en-US" sz="3000" dirty="0"/>
              <a:t>. </a:t>
            </a:r>
          </a:p>
          <a:p>
            <a:pPr lvl="1" defTabSz="447675"/>
            <a:r>
              <a:rPr lang="en-US" sz="3000" dirty="0"/>
              <a:t> 	 </a:t>
            </a:r>
            <a:r>
              <a:rPr lang="en-US" sz="3000" dirty="0" err="1"/>
              <a:t>System.out.println</a:t>
            </a:r>
            <a:r>
              <a:rPr lang="en-US" sz="3000" dirty="0"/>
              <a:t>(n);</a:t>
            </a:r>
          </a:p>
          <a:p>
            <a:pPr lvl="1" defTabSz="447675"/>
            <a:r>
              <a:rPr lang="en-US" sz="3000" dirty="0"/>
              <a:t> 	 </a:t>
            </a:r>
            <a:r>
              <a:rPr lang="en-US" sz="3000" dirty="0" err="1"/>
              <a:t>Thread.sleep</a:t>
            </a:r>
            <a:r>
              <a:rPr lang="en-US" sz="3000" dirty="0"/>
              <a:t>(1000); </a:t>
            </a:r>
            <a:r>
              <a:rPr lang="en-US" sz="3000" dirty="0">
                <a:solidFill>
                  <a:srgbClr val="FF0000"/>
                </a:solidFill>
              </a:rPr>
              <a:t>// 1000  specifies the delay period in milliseconds</a:t>
            </a:r>
          </a:p>
          <a:p>
            <a:pPr lvl="1" defTabSz="447675"/>
            <a:r>
              <a:rPr lang="en-US" sz="3000" dirty="0"/>
              <a:t> } }</a:t>
            </a:r>
          </a:p>
          <a:p>
            <a:pPr lvl="1" defTabSz="447675"/>
            <a:r>
              <a:rPr lang="en-US" sz="3000" dirty="0"/>
              <a:t>catch (</a:t>
            </a:r>
            <a:r>
              <a:rPr lang="en-US" sz="3000" dirty="0" err="1"/>
              <a:t>InterruptedException</a:t>
            </a:r>
            <a:r>
              <a:rPr lang="en-US" sz="3000" dirty="0"/>
              <a:t> e)  {</a:t>
            </a:r>
          </a:p>
          <a:p>
            <a:pPr lvl="1" defTabSz="447675"/>
            <a:r>
              <a:rPr lang="en-US" sz="3000" dirty="0"/>
              <a:t>	 </a:t>
            </a:r>
            <a:r>
              <a:rPr lang="en-US" sz="3000" dirty="0" err="1"/>
              <a:t>System.out.println</a:t>
            </a:r>
            <a:r>
              <a:rPr lang="en-US" sz="3000" dirty="0"/>
              <a:t>("Main thread interrupted");</a:t>
            </a:r>
          </a:p>
          <a:p>
            <a:pPr lvl="1" defTabSz="447675"/>
            <a:r>
              <a:rPr lang="en-US" sz="3000" dirty="0"/>
              <a:t>  } }}</a:t>
            </a:r>
          </a:p>
          <a:p>
            <a:r>
              <a:rPr lang="en-US" sz="2400" b="1" dirty="0"/>
              <a:t>Output</a:t>
            </a:r>
            <a:endParaRPr lang="en-US" sz="2400" dirty="0"/>
          </a:p>
          <a:p>
            <a:r>
              <a:rPr lang="en-US" sz="2400" dirty="0"/>
              <a:t>Current thread: Thread[main,5,main]</a:t>
            </a:r>
          </a:p>
          <a:p>
            <a:r>
              <a:rPr lang="en-US" sz="2400" dirty="0"/>
              <a:t>After name change: Thread[My Thread,5,main]</a:t>
            </a:r>
          </a:p>
          <a:p>
            <a:r>
              <a:rPr lang="en-US" sz="2400" dirty="0"/>
              <a:t> 5</a:t>
            </a:r>
          </a:p>
          <a:p>
            <a:r>
              <a:rPr lang="en-US" sz="2400" dirty="0"/>
              <a:t> 4</a:t>
            </a:r>
          </a:p>
          <a:p>
            <a:r>
              <a:rPr lang="en-US" sz="2400" dirty="0"/>
              <a:t> 3 </a:t>
            </a:r>
          </a:p>
          <a:p>
            <a:r>
              <a:rPr lang="en-US" sz="2400" dirty="0"/>
              <a:t> 2</a:t>
            </a:r>
          </a:p>
          <a:p>
            <a:r>
              <a:rPr lang="en-US" sz="2400" dirty="0"/>
              <a:t> 1</a:t>
            </a:r>
          </a:p>
          <a:p>
            <a:pPr lvl="1" defTabSz="447675"/>
            <a:endParaRPr lang="en-US" sz="2800" dirty="0"/>
          </a:p>
        </p:txBody>
      </p:sp>
    </p:spTree>
    <p:extLst>
      <p:ext uri="{BB962C8B-B14F-4D97-AF65-F5344CB8AC3E}">
        <p14:creationId xmlns:p14="http://schemas.microsoft.com/office/powerpoint/2010/main" val="2050525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11</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1288"/>
            <a:ext cx="12112978" cy="4161460"/>
          </a:xfrm>
          <a:prstGeom prst="rect">
            <a:avLst/>
          </a:prstGeom>
          <a:noFill/>
          <a:ln>
            <a:solidFill>
              <a:schemeClr val="tx1"/>
            </a:solidFill>
          </a:ln>
        </p:spPr>
        <p:txBody>
          <a:bodyPr wrap="square">
            <a:spAutoFit/>
          </a:bodyPr>
          <a:lstStyle/>
          <a:p>
            <a:pPr marL="0" lvl="1" defTabSz="447675">
              <a:lnSpc>
                <a:spcPct val="150000"/>
              </a:lnSpc>
            </a:pPr>
            <a:r>
              <a:rPr lang="en-US" sz="3600" dirty="0"/>
              <a:t>	</a:t>
            </a:r>
          </a:p>
          <a:p>
            <a:pPr marL="0" lvl="1" defTabSz="447675">
              <a:lnSpc>
                <a:spcPct val="150000"/>
              </a:lnSpc>
            </a:pPr>
            <a:r>
              <a:rPr lang="en-US" sz="3600" dirty="0">
                <a:solidFill>
                  <a:srgbClr val="FF0000"/>
                </a:solidFill>
              </a:rPr>
              <a:t>							Creating a Thread</a:t>
            </a:r>
          </a:p>
          <a:p>
            <a:pPr marL="0" lvl="1" defTabSz="447675">
              <a:lnSpc>
                <a:spcPct val="150000"/>
              </a:lnSpc>
            </a:pPr>
            <a:r>
              <a:rPr lang="en-US" sz="3600" dirty="0"/>
              <a:t> Java defines two ways for creating a thread : </a:t>
            </a:r>
          </a:p>
          <a:p>
            <a:pPr marL="0" lvl="1" defTabSz="447675">
              <a:lnSpc>
                <a:spcPct val="150000"/>
              </a:lnSpc>
            </a:pPr>
            <a:r>
              <a:rPr lang="en-US" sz="3600" dirty="0"/>
              <a:t>	• </a:t>
            </a:r>
            <a:r>
              <a:rPr lang="en-US" sz="3600" dirty="0">
                <a:solidFill>
                  <a:srgbClr val="FF0000"/>
                </a:solidFill>
              </a:rPr>
              <a:t>implementing</a:t>
            </a:r>
            <a:r>
              <a:rPr lang="en-US" sz="3600" dirty="0"/>
              <a:t> the </a:t>
            </a:r>
            <a:r>
              <a:rPr lang="en-US" sz="3600" dirty="0">
                <a:solidFill>
                  <a:srgbClr val="FF0000"/>
                </a:solidFill>
              </a:rPr>
              <a:t>Runnable interface</a:t>
            </a:r>
            <a:r>
              <a:rPr lang="en-US" sz="3600" dirty="0"/>
              <a:t>.</a:t>
            </a:r>
          </a:p>
          <a:p>
            <a:pPr indent="-457200" defTabSz="315913">
              <a:lnSpc>
                <a:spcPct val="150000"/>
              </a:lnSpc>
            </a:pPr>
            <a:r>
              <a:rPr lang="en-US" sz="3600" dirty="0"/>
              <a:t>	 • </a:t>
            </a:r>
            <a:r>
              <a:rPr lang="en-US" sz="3600" dirty="0">
                <a:solidFill>
                  <a:srgbClr val="FF0000"/>
                </a:solidFill>
              </a:rPr>
              <a:t>extending</a:t>
            </a:r>
            <a:r>
              <a:rPr lang="en-US" sz="3600" dirty="0"/>
              <a:t> the </a:t>
            </a:r>
            <a:r>
              <a:rPr lang="en-US" sz="3600" dirty="0">
                <a:solidFill>
                  <a:srgbClr val="FF0000"/>
                </a:solidFill>
              </a:rPr>
              <a:t>Thread class</a:t>
            </a:r>
          </a:p>
        </p:txBody>
      </p:sp>
    </p:spTree>
    <p:extLst>
      <p:ext uri="{BB962C8B-B14F-4D97-AF65-F5344CB8AC3E}">
        <p14:creationId xmlns:p14="http://schemas.microsoft.com/office/powerpoint/2010/main" val="1105931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12</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1288"/>
            <a:ext cx="12112978" cy="6001643"/>
          </a:xfrm>
          <a:prstGeom prst="rect">
            <a:avLst/>
          </a:prstGeom>
          <a:noFill/>
          <a:ln>
            <a:solidFill>
              <a:schemeClr val="tx1"/>
            </a:solidFill>
          </a:ln>
        </p:spPr>
        <p:txBody>
          <a:bodyPr wrap="square">
            <a:spAutoFit/>
          </a:bodyPr>
          <a:lstStyle/>
          <a:p>
            <a:pPr marL="0" lvl="1" defTabSz="447675"/>
            <a:r>
              <a:rPr lang="en-US" sz="3200" dirty="0">
                <a:solidFill>
                  <a:srgbClr val="FF0000"/>
                </a:solidFill>
              </a:rPr>
              <a:t>									Extending Thread </a:t>
            </a:r>
          </a:p>
          <a:p>
            <a:pPr lvl="1" indent="-457200" defTabSz="447675">
              <a:buFont typeface="Arial" panose="020B0604020202020204" pitchFamily="34" charset="0"/>
              <a:buChar char="•"/>
            </a:pPr>
            <a:r>
              <a:rPr lang="en-US" sz="3200" dirty="0"/>
              <a:t>The Thread class provide constructors and methods to create and perform thread operations</a:t>
            </a:r>
          </a:p>
          <a:p>
            <a:pPr lvl="1" indent="-457200" defTabSz="447675">
              <a:buFont typeface="Arial" panose="020B0604020202020204" pitchFamily="34" charset="0"/>
              <a:buChar char="•"/>
            </a:pPr>
            <a:r>
              <a:rPr lang="en-US" sz="3200" dirty="0"/>
              <a:t>The Thread class extends Object class and implements Runnable interface</a:t>
            </a:r>
          </a:p>
          <a:p>
            <a:pPr lvl="1" indent="-457200" defTabSz="447675">
              <a:buFont typeface="Arial" panose="020B0604020202020204" pitchFamily="34" charset="0"/>
              <a:buChar char="•"/>
            </a:pPr>
            <a:r>
              <a:rPr lang="en-US" sz="3200" dirty="0"/>
              <a:t>Commonly used Constructors of Thread class: </a:t>
            </a:r>
          </a:p>
          <a:p>
            <a:pPr lvl="2" indent="-457200" defTabSz="447675">
              <a:buFont typeface="Arial" panose="020B0604020202020204" pitchFamily="34" charset="0"/>
              <a:buChar char="•"/>
            </a:pPr>
            <a:r>
              <a:rPr lang="en-US" sz="3200" dirty="0">
                <a:solidFill>
                  <a:srgbClr val="FF0000"/>
                </a:solidFill>
              </a:rPr>
              <a:t>Thread() </a:t>
            </a:r>
          </a:p>
          <a:p>
            <a:pPr lvl="2" indent="-457200" defTabSz="447675">
              <a:buFont typeface="Arial" panose="020B0604020202020204" pitchFamily="34" charset="0"/>
              <a:buChar char="•"/>
            </a:pPr>
            <a:r>
              <a:rPr lang="en-US" sz="3200" dirty="0">
                <a:solidFill>
                  <a:srgbClr val="FF0000"/>
                </a:solidFill>
              </a:rPr>
              <a:t>Thread(String name) </a:t>
            </a:r>
          </a:p>
          <a:p>
            <a:pPr lvl="2" indent="-457200" defTabSz="447675">
              <a:buFont typeface="Arial" panose="020B0604020202020204" pitchFamily="34" charset="0"/>
              <a:buChar char="•"/>
            </a:pPr>
            <a:r>
              <a:rPr lang="en-US" sz="3200" dirty="0">
                <a:solidFill>
                  <a:srgbClr val="FF0000"/>
                </a:solidFill>
              </a:rPr>
              <a:t>Thread(Runnable r) </a:t>
            </a:r>
          </a:p>
          <a:p>
            <a:pPr lvl="2" indent="-457200" defTabSz="447675">
              <a:buFont typeface="Arial" panose="020B0604020202020204" pitchFamily="34" charset="0"/>
              <a:buChar char="•"/>
            </a:pPr>
            <a:r>
              <a:rPr lang="en-US" sz="3200" dirty="0">
                <a:solidFill>
                  <a:srgbClr val="FF0000"/>
                </a:solidFill>
              </a:rPr>
              <a:t>Thread(Runnable r, String name)</a:t>
            </a:r>
          </a:p>
          <a:p>
            <a:pPr lvl="1" indent="-457200" defTabSz="447675">
              <a:buFont typeface="Arial" panose="020B0604020202020204" pitchFamily="34" charset="0"/>
              <a:buChar char="•"/>
            </a:pPr>
            <a:endParaRPr lang="en-US" sz="3200" dirty="0"/>
          </a:p>
          <a:p>
            <a:pPr lvl="1" indent="-457200" defTabSz="447675">
              <a:buFont typeface="Arial" panose="020B0604020202020204" pitchFamily="34" charset="0"/>
              <a:buChar char="•"/>
            </a:pPr>
            <a:endParaRPr lang="en-US" sz="3200" dirty="0"/>
          </a:p>
        </p:txBody>
      </p:sp>
    </p:spTree>
    <p:extLst>
      <p:ext uri="{BB962C8B-B14F-4D97-AF65-F5344CB8AC3E}">
        <p14:creationId xmlns:p14="http://schemas.microsoft.com/office/powerpoint/2010/main" val="3149537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13</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1288"/>
            <a:ext cx="12112978" cy="6001643"/>
          </a:xfrm>
          <a:prstGeom prst="rect">
            <a:avLst/>
          </a:prstGeom>
          <a:noFill/>
          <a:ln>
            <a:solidFill>
              <a:schemeClr val="tx1"/>
            </a:solidFill>
          </a:ln>
        </p:spPr>
        <p:txBody>
          <a:bodyPr wrap="square">
            <a:spAutoFit/>
          </a:bodyPr>
          <a:lstStyle/>
          <a:p>
            <a:pPr marL="0" lvl="1" defTabSz="447675"/>
            <a:r>
              <a:rPr lang="en-US" sz="3200" dirty="0">
                <a:solidFill>
                  <a:srgbClr val="FF0000"/>
                </a:solidFill>
              </a:rPr>
              <a:t>									 Thread Methods </a:t>
            </a:r>
          </a:p>
          <a:p>
            <a:pPr marL="0" lvl="1" defTabSz="447675"/>
            <a:r>
              <a:rPr lang="en-US" sz="3200" dirty="0"/>
              <a:t>	Important methods available in the Thread class are</a:t>
            </a:r>
          </a:p>
          <a:p>
            <a:pPr lvl="1" indent="-457200" defTabSz="447675">
              <a:buFont typeface="Arial" panose="020B0604020202020204" pitchFamily="34" charset="0"/>
              <a:buChar char="•"/>
            </a:pPr>
            <a:r>
              <a:rPr lang="en-US" sz="3200" dirty="0"/>
              <a:t>public void run() </a:t>
            </a:r>
          </a:p>
          <a:p>
            <a:pPr lvl="2" indent="-457200" defTabSz="447675">
              <a:buFont typeface="Arial" panose="020B0604020202020204" pitchFamily="34" charset="0"/>
              <a:buChar char="•"/>
            </a:pPr>
            <a:r>
              <a:rPr lang="en-US" sz="3200" dirty="0"/>
              <a:t> used to perform action for a thread. </a:t>
            </a:r>
          </a:p>
          <a:p>
            <a:pPr lvl="1" indent="-457200" defTabSz="447675">
              <a:buFont typeface="Arial" panose="020B0604020202020204" pitchFamily="34" charset="0"/>
              <a:buChar char="•"/>
            </a:pPr>
            <a:r>
              <a:rPr lang="en-US" sz="3200" dirty="0"/>
              <a:t>public void start() </a:t>
            </a:r>
          </a:p>
          <a:p>
            <a:pPr lvl="2" indent="-457200" defTabSz="447675">
              <a:buFont typeface="Arial" panose="020B0604020202020204" pitchFamily="34" charset="0"/>
              <a:buChar char="•"/>
            </a:pPr>
            <a:r>
              <a:rPr lang="en-US" sz="3200" dirty="0"/>
              <a:t>starts the execution of the thread. JVM calls the run() method on the thread. </a:t>
            </a:r>
          </a:p>
          <a:p>
            <a:pPr lvl="1" indent="-457200" defTabSz="447675">
              <a:buFont typeface="Arial" panose="020B0604020202020204" pitchFamily="34" charset="0"/>
              <a:buChar char="•"/>
            </a:pPr>
            <a:r>
              <a:rPr lang="en-US" sz="3200" dirty="0"/>
              <a:t>public void sleep(long milliseconds) </a:t>
            </a:r>
          </a:p>
          <a:p>
            <a:pPr lvl="2" indent="-457200" defTabSz="447675">
              <a:buFont typeface="Arial" panose="020B0604020202020204" pitchFamily="34" charset="0"/>
              <a:buChar char="•"/>
            </a:pPr>
            <a:r>
              <a:rPr lang="en-US" sz="3200" dirty="0"/>
              <a:t>Causes the currently executing thread to sleep (temporarily cease execution) for the specified number of milliseconds. </a:t>
            </a:r>
          </a:p>
          <a:p>
            <a:pPr lvl="1" indent="-457200" defTabSz="447675">
              <a:buFont typeface="Arial" panose="020B0604020202020204" pitchFamily="34" charset="0"/>
              <a:buChar char="•"/>
            </a:pPr>
            <a:r>
              <a:rPr lang="en-US" sz="3200" dirty="0"/>
              <a:t>public void join() </a:t>
            </a:r>
          </a:p>
          <a:p>
            <a:pPr lvl="2" indent="-457200" defTabSz="447675">
              <a:buFont typeface="Arial" panose="020B0604020202020204" pitchFamily="34" charset="0"/>
              <a:buChar char="•"/>
            </a:pPr>
            <a:r>
              <a:rPr lang="en-US" sz="3200" dirty="0"/>
              <a:t>waits for a thread to die. </a:t>
            </a:r>
          </a:p>
        </p:txBody>
      </p:sp>
    </p:spTree>
    <p:extLst>
      <p:ext uri="{BB962C8B-B14F-4D97-AF65-F5344CB8AC3E}">
        <p14:creationId xmlns:p14="http://schemas.microsoft.com/office/powerpoint/2010/main" val="1916591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14</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1288"/>
            <a:ext cx="12112978" cy="6494085"/>
          </a:xfrm>
          <a:prstGeom prst="rect">
            <a:avLst/>
          </a:prstGeom>
          <a:noFill/>
          <a:ln>
            <a:solidFill>
              <a:schemeClr val="tx1"/>
            </a:solidFill>
          </a:ln>
        </p:spPr>
        <p:txBody>
          <a:bodyPr wrap="square">
            <a:spAutoFit/>
          </a:bodyPr>
          <a:lstStyle/>
          <a:p>
            <a:pPr lvl="1" indent="-457200" defTabSz="447675">
              <a:buFont typeface="Arial" panose="020B0604020202020204" pitchFamily="34" charset="0"/>
              <a:buChar char="•"/>
            </a:pPr>
            <a:r>
              <a:rPr lang="en-US" sz="3200" dirty="0"/>
              <a:t>public int </a:t>
            </a:r>
            <a:r>
              <a:rPr lang="en-US" sz="3200" dirty="0" err="1"/>
              <a:t>getPriority</a:t>
            </a:r>
            <a:r>
              <a:rPr lang="en-US" sz="3200" dirty="0"/>
              <a:t>() </a:t>
            </a:r>
          </a:p>
          <a:p>
            <a:pPr lvl="2" indent="-457200" defTabSz="447675">
              <a:buFont typeface="Arial" panose="020B0604020202020204" pitchFamily="34" charset="0"/>
              <a:buChar char="•"/>
            </a:pPr>
            <a:r>
              <a:rPr lang="en-US" sz="3200" dirty="0"/>
              <a:t>returns the priority of the thread. </a:t>
            </a:r>
          </a:p>
          <a:p>
            <a:pPr lvl="1" indent="-457200" defTabSz="447675">
              <a:buFont typeface="Arial" panose="020B0604020202020204" pitchFamily="34" charset="0"/>
              <a:buChar char="•"/>
            </a:pPr>
            <a:r>
              <a:rPr lang="en-US" sz="3200" dirty="0"/>
              <a:t>public int </a:t>
            </a:r>
            <a:r>
              <a:rPr lang="en-US" sz="3200" dirty="0" err="1"/>
              <a:t>setPriority</a:t>
            </a:r>
            <a:r>
              <a:rPr lang="en-US" sz="3200" dirty="0"/>
              <a:t>(int priority) </a:t>
            </a:r>
          </a:p>
          <a:p>
            <a:pPr lvl="2" indent="-457200" defTabSz="447675">
              <a:buFont typeface="Arial" panose="020B0604020202020204" pitchFamily="34" charset="0"/>
              <a:buChar char="•"/>
            </a:pPr>
            <a:r>
              <a:rPr lang="en-US" sz="3200" dirty="0"/>
              <a:t> changes the priority of the thread.</a:t>
            </a:r>
          </a:p>
          <a:p>
            <a:pPr lvl="1" indent="-457200" defTabSz="447675">
              <a:buFont typeface="Arial" panose="020B0604020202020204" pitchFamily="34" charset="0"/>
              <a:buChar char="•"/>
            </a:pPr>
            <a:r>
              <a:rPr lang="en-US" sz="3200" dirty="0"/>
              <a:t>public String </a:t>
            </a:r>
            <a:r>
              <a:rPr lang="en-US" sz="3200" dirty="0" err="1"/>
              <a:t>getName</a:t>
            </a:r>
            <a:r>
              <a:rPr lang="en-US" sz="3200" dirty="0"/>
              <a:t>()</a:t>
            </a:r>
          </a:p>
          <a:p>
            <a:pPr lvl="2" indent="-457200" defTabSz="447675">
              <a:buFont typeface="Arial" panose="020B0604020202020204" pitchFamily="34" charset="0"/>
              <a:buChar char="•"/>
            </a:pPr>
            <a:r>
              <a:rPr lang="en-US" sz="3200" dirty="0"/>
              <a:t>returns the name of the thread. </a:t>
            </a:r>
          </a:p>
          <a:p>
            <a:pPr lvl="1" indent="-457200" defTabSz="447675">
              <a:buFont typeface="Arial" panose="020B0604020202020204" pitchFamily="34" charset="0"/>
              <a:buChar char="•"/>
            </a:pPr>
            <a:r>
              <a:rPr lang="en-US" sz="3200" dirty="0"/>
              <a:t>public Thread </a:t>
            </a:r>
            <a:r>
              <a:rPr lang="en-US" sz="3200" dirty="0" err="1"/>
              <a:t>currentThread</a:t>
            </a:r>
            <a:r>
              <a:rPr lang="en-US" sz="3200" dirty="0"/>
              <a:t>() </a:t>
            </a:r>
          </a:p>
          <a:p>
            <a:pPr lvl="2" indent="-457200" defTabSz="447675">
              <a:buFont typeface="Arial" panose="020B0604020202020204" pitchFamily="34" charset="0"/>
              <a:buChar char="•"/>
            </a:pPr>
            <a:r>
              <a:rPr lang="en-US" sz="3200" dirty="0"/>
              <a:t>returns the reference of currently executing thread. </a:t>
            </a:r>
          </a:p>
          <a:p>
            <a:pPr lvl="1" indent="-457200" defTabSz="447675">
              <a:buFont typeface="Arial" panose="020B0604020202020204" pitchFamily="34" charset="0"/>
              <a:buChar char="•"/>
            </a:pPr>
            <a:r>
              <a:rPr lang="en-US" sz="3200" dirty="0"/>
              <a:t>public void stop() </a:t>
            </a:r>
          </a:p>
          <a:p>
            <a:pPr lvl="2" indent="-457200" defTabSz="447675">
              <a:buFont typeface="Arial" panose="020B0604020202020204" pitchFamily="34" charset="0"/>
              <a:buChar char="•"/>
            </a:pPr>
            <a:r>
              <a:rPr lang="en-US" sz="3200" dirty="0"/>
              <a:t>used to stop the thread(</a:t>
            </a:r>
            <a:r>
              <a:rPr lang="en-US" sz="3200" dirty="0" err="1"/>
              <a:t>depricated</a:t>
            </a:r>
            <a:r>
              <a:rPr lang="en-US" sz="3200" dirty="0"/>
              <a:t>). </a:t>
            </a:r>
          </a:p>
          <a:p>
            <a:pPr lvl="1" indent="-457200" defTabSz="447675">
              <a:buFont typeface="Arial" panose="020B0604020202020204" pitchFamily="34" charset="0"/>
              <a:buChar char="•"/>
            </a:pPr>
            <a:r>
              <a:rPr lang="en-US" sz="3200" dirty="0"/>
              <a:t>public </a:t>
            </a:r>
            <a:r>
              <a:rPr lang="en-US" sz="3200" dirty="0" err="1"/>
              <a:t>boolean</a:t>
            </a:r>
            <a:r>
              <a:rPr lang="en-US" sz="3200" dirty="0"/>
              <a:t> </a:t>
            </a:r>
            <a:r>
              <a:rPr lang="en-US" sz="3200" dirty="0" err="1"/>
              <a:t>isDaemon</a:t>
            </a:r>
            <a:r>
              <a:rPr lang="en-US" sz="3200" dirty="0"/>
              <a:t>() </a:t>
            </a:r>
          </a:p>
          <a:p>
            <a:pPr lvl="2" indent="-457200" defTabSz="447675">
              <a:buFont typeface="Arial" panose="020B0604020202020204" pitchFamily="34" charset="0"/>
              <a:buChar char="•"/>
            </a:pPr>
            <a:r>
              <a:rPr lang="en-US" sz="3200" dirty="0"/>
              <a:t>tests if the thread is a daemon thread.</a:t>
            </a:r>
          </a:p>
          <a:p>
            <a:pPr lvl="1" indent="-457200" defTabSz="447675">
              <a:buFont typeface="Arial" panose="020B0604020202020204" pitchFamily="34" charset="0"/>
              <a:buChar char="•"/>
            </a:pPr>
            <a:endParaRPr lang="en-US" sz="3200" dirty="0"/>
          </a:p>
        </p:txBody>
      </p:sp>
    </p:spTree>
    <p:extLst>
      <p:ext uri="{BB962C8B-B14F-4D97-AF65-F5344CB8AC3E}">
        <p14:creationId xmlns:p14="http://schemas.microsoft.com/office/powerpoint/2010/main" val="2949052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C0B8AE-8E8F-BAE3-FD1B-3716CF35CFBE}"/>
              </a:ext>
            </a:extLst>
          </p:cNvPr>
          <p:cNvSpPr txBox="1"/>
          <p:nvPr/>
        </p:nvSpPr>
        <p:spPr>
          <a:xfrm>
            <a:off x="353568" y="402336"/>
            <a:ext cx="11509248" cy="5016758"/>
          </a:xfrm>
          <a:prstGeom prst="rect">
            <a:avLst/>
          </a:prstGeom>
          <a:noFill/>
          <a:ln>
            <a:solidFill>
              <a:schemeClr val="tx1"/>
            </a:solidFill>
          </a:ln>
        </p:spPr>
        <p:txBody>
          <a:bodyPr wrap="square">
            <a:spAutoFit/>
          </a:bodyPr>
          <a:lstStyle/>
          <a:p>
            <a:pPr algn="just">
              <a:buFontTx/>
              <a:buNone/>
            </a:pPr>
            <a:r>
              <a:rPr lang="en-IN" altLang="en-US" sz="3200" dirty="0"/>
              <a:t>start () </a:t>
            </a:r>
          </a:p>
          <a:p>
            <a:pPr algn="just"/>
            <a:r>
              <a:rPr lang="en-IN" altLang="en-US" sz="3200" dirty="0"/>
              <a:t>when we call the start() method of our thread class instance, a </a:t>
            </a:r>
            <a:r>
              <a:rPr lang="en-IN" altLang="en-US" sz="3200" dirty="0">
                <a:solidFill>
                  <a:srgbClr val="FF0000"/>
                </a:solidFill>
              </a:rPr>
              <a:t>new thread </a:t>
            </a:r>
            <a:r>
              <a:rPr lang="en-IN" altLang="en-US" sz="3200" dirty="0"/>
              <a:t>is </a:t>
            </a:r>
            <a:r>
              <a:rPr lang="en-IN" altLang="en-US" sz="3200" dirty="0">
                <a:solidFill>
                  <a:srgbClr val="FF0000"/>
                </a:solidFill>
              </a:rPr>
              <a:t>created</a:t>
            </a:r>
            <a:r>
              <a:rPr lang="en-IN" altLang="en-US" sz="3200" dirty="0"/>
              <a:t> with default name </a:t>
            </a:r>
            <a:r>
              <a:rPr lang="en-IN" altLang="en-US" sz="3200" dirty="0">
                <a:solidFill>
                  <a:srgbClr val="FF0000"/>
                </a:solidFill>
              </a:rPr>
              <a:t>Thread-0</a:t>
            </a:r>
            <a:r>
              <a:rPr lang="en-IN" altLang="en-US" sz="3200" dirty="0"/>
              <a:t> and </a:t>
            </a:r>
            <a:r>
              <a:rPr lang="en-IN" altLang="en-US" sz="3200" dirty="0">
                <a:solidFill>
                  <a:srgbClr val="FF0000"/>
                </a:solidFill>
              </a:rPr>
              <a:t>then run() method is called and everything inside it is executed on the newly created thread. </a:t>
            </a:r>
          </a:p>
          <a:p>
            <a:pPr algn="just">
              <a:buFontTx/>
              <a:buNone/>
            </a:pPr>
            <a:r>
              <a:rPr lang="en-IN" altLang="en-US" sz="3200" dirty="0"/>
              <a:t>run () </a:t>
            </a:r>
          </a:p>
          <a:p>
            <a:pPr algn="just"/>
            <a:r>
              <a:rPr lang="en-IN" altLang="en-US" sz="3200" dirty="0"/>
              <a:t>when we called the run() method of our </a:t>
            </a:r>
            <a:r>
              <a:rPr lang="en-IN" altLang="en-US" sz="3200" dirty="0" err="1"/>
              <a:t>MyThread</a:t>
            </a:r>
            <a:r>
              <a:rPr lang="en-IN" altLang="en-US" sz="3200" dirty="0"/>
              <a:t> class, </a:t>
            </a:r>
            <a:r>
              <a:rPr lang="en-IN" altLang="en-US" sz="3200" dirty="0">
                <a:solidFill>
                  <a:srgbClr val="FF0000"/>
                </a:solidFill>
              </a:rPr>
              <a:t>no new thread is created and the run() method is executed on the current thread i.e. main thread</a:t>
            </a:r>
            <a:r>
              <a:rPr lang="en-IN" altLang="en-US" sz="3200" dirty="0"/>
              <a:t>. Hence, no multi-threading took place. The run() method is called as a normal function call.</a:t>
            </a:r>
          </a:p>
        </p:txBody>
      </p:sp>
    </p:spTree>
    <p:extLst>
      <p:ext uri="{BB962C8B-B14F-4D97-AF65-F5344CB8AC3E}">
        <p14:creationId xmlns:p14="http://schemas.microsoft.com/office/powerpoint/2010/main" val="2418564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075FEA-342D-E06E-7DCE-05FAE452C474}"/>
              </a:ext>
            </a:extLst>
          </p:cNvPr>
          <p:cNvSpPr txBox="1"/>
          <p:nvPr/>
        </p:nvSpPr>
        <p:spPr>
          <a:xfrm>
            <a:off x="134112" y="60961"/>
            <a:ext cx="11935968" cy="5693866"/>
          </a:xfrm>
          <a:prstGeom prst="rect">
            <a:avLst/>
          </a:prstGeom>
          <a:noFill/>
          <a:ln>
            <a:solidFill>
              <a:schemeClr val="tx1"/>
            </a:solidFill>
          </a:ln>
        </p:spPr>
        <p:txBody>
          <a:bodyPr wrap="square">
            <a:spAutoFit/>
          </a:bodyPr>
          <a:lstStyle/>
          <a:p>
            <a:r>
              <a:rPr lang="en-US" sz="2800" dirty="0"/>
              <a:t>class </a:t>
            </a:r>
            <a:r>
              <a:rPr lang="en-US" sz="2800" dirty="0" err="1"/>
              <a:t>MyThread</a:t>
            </a:r>
            <a:r>
              <a:rPr lang="en-US" sz="2800" dirty="0"/>
              <a:t> extends Thread{</a:t>
            </a:r>
          </a:p>
          <a:p>
            <a:r>
              <a:rPr lang="en-US" sz="2800" dirty="0"/>
              <a:t>public void run(){</a:t>
            </a:r>
          </a:p>
          <a:p>
            <a:r>
              <a:rPr lang="en-US" sz="2800" dirty="0" err="1"/>
              <a:t>System.out.println</a:t>
            </a:r>
            <a:r>
              <a:rPr lang="en-US" sz="2800" dirty="0"/>
              <a:t>("Current thread name:"+ </a:t>
            </a:r>
            <a:r>
              <a:rPr lang="en-US" sz="2800" dirty="0" err="1"/>
              <a:t>Thread.currentThread</a:t>
            </a:r>
            <a:r>
              <a:rPr lang="en-US" sz="2800" dirty="0"/>
              <a:t>().</a:t>
            </a:r>
            <a:r>
              <a:rPr lang="en-US" sz="2800" dirty="0" err="1"/>
              <a:t>getName</a:t>
            </a:r>
            <a:r>
              <a:rPr lang="en-US" sz="2800" dirty="0"/>
              <a:t>());</a:t>
            </a:r>
          </a:p>
          <a:p>
            <a:r>
              <a:rPr lang="en-US" sz="2800" dirty="0" err="1"/>
              <a:t>System.out.println</a:t>
            </a:r>
            <a:r>
              <a:rPr lang="en-US" sz="2800" dirty="0"/>
              <a:t> ("run method called");</a:t>
            </a:r>
          </a:p>
          <a:p>
            <a:r>
              <a:rPr lang="en-US" sz="2800" dirty="0"/>
              <a:t>}}</a:t>
            </a:r>
          </a:p>
          <a:p>
            <a:r>
              <a:rPr lang="en-US" sz="2800" dirty="0"/>
              <a:t>class </a:t>
            </a:r>
            <a:r>
              <a:rPr lang="en-US" sz="2800" dirty="0" err="1"/>
              <a:t>ThreadClass</a:t>
            </a:r>
            <a:r>
              <a:rPr lang="en-US" sz="2800" dirty="0"/>
              <a:t> {</a:t>
            </a:r>
          </a:p>
          <a:p>
            <a:r>
              <a:rPr lang="en-US" sz="2800" dirty="0"/>
              <a:t>public static void main(String[] </a:t>
            </a:r>
            <a:r>
              <a:rPr lang="en-US" sz="2800" dirty="0" err="1"/>
              <a:t>args</a:t>
            </a:r>
            <a:r>
              <a:rPr lang="en-US" sz="2800" dirty="0"/>
              <a:t>){</a:t>
            </a:r>
          </a:p>
          <a:p>
            <a:r>
              <a:rPr lang="en-US" sz="2800" dirty="0" err="1"/>
              <a:t>MyThread</a:t>
            </a:r>
            <a:r>
              <a:rPr lang="en-US" sz="2800" dirty="0"/>
              <a:t> t = new </a:t>
            </a:r>
            <a:r>
              <a:rPr lang="en-US" sz="2800" dirty="0" err="1"/>
              <a:t>MyThread</a:t>
            </a:r>
            <a:r>
              <a:rPr lang="en-US" sz="2800" dirty="0"/>
              <a:t>();</a:t>
            </a:r>
          </a:p>
          <a:p>
            <a:r>
              <a:rPr lang="en-US" sz="2800" dirty="0" err="1">
                <a:solidFill>
                  <a:srgbClr val="FF0000"/>
                </a:solidFill>
              </a:rPr>
              <a:t>t.start</a:t>
            </a:r>
            <a:r>
              <a:rPr lang="en-US" sz="2800" dirty="0">
                <a:solidFill>
                  <a:srgbClr val="FF0000"/>
                </a:solidFill>
              </a:rPr>
              <a:t>()</a:t>
            </a:r>
            <a:r>
              <a:rPr lang="en-US" sz="2800" dirty="0"/>
              <a:t>;// create a new thread and it execute run()</a:t>
            </a:r>
          </a:p>
          <a:p>
            <a:r>
              <a:rPr lang="en-US" sz="2800" dirty="0"/>
              <a:t>}}</a:t>
            </a:r>
          </a:p>
          <a:p>
            <a:r>
              <a:rPr lang="en-US" sz="2800" u="sng" dirty="0"/>
              <a:t>Output</a:t>
            </a:r>
          </a:p>
          <a:p>
            <a:r>
              <a:rPr lang="en-US" sz="2800" dirty="0"/>
              <a:t>Current thread name:Thread-0</a:t>
            </a:r>
          </a:p>
          <a:p>
            <a:r>
              <a:rPr lang="en-US" sz="2800" dirty="0"/>
              <a:t>run method called</a:t>
            </a:r>
          </a:p>
        </p:txBody>
      </p:sp>
    </p:spTree>
    <p:extLst>
      <p:ext uri="{BB962C8B-B14F-4D97-AF65-F5344CB8AC3E}">
        <p14:creationId xmlns:p14="http://schemas.microsoft.com/office/powerpoint/2010/main" val="2589171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075FEA-342D-E06E-7DCE-05FAE452C474}"/>
              </a:ext>
            </a:extLst>
          </p:cNvPr>
          <p:cNvSpPr txBox="1"/>
          <p:nvPr/>
        </p:nvSpPr>
        <p:spPr>
          <a:xfrm>
            <a:off x="134112" y="60961"/>
            <a:ext cx="11935968" cy="6555641"/>
          </a:xfrm>
          <a:prstGeom prst="rect">
            <a:avLst/>
          </a:prstGeom>
          <a:noFill/>
          <a:ln>
            <a:solidFill>
              <a:schemeClr val="tx1"/>
            </a:solidFill>
          </a:ln>
        </p:spPr>
        <p:txBody>
          <a:bodyPr wrap="square">
            <a:spAutoFit/>
          </a:bodyPr>
          <a:lstStyle/>
          <a:p>
            <a:r>
              <a:rPr lang="en-US" sz="2800" dirty="0"/>
              <a:t>class </a:t>
            </a:r>
            <a:r>
              <a:rPr lang="en-US" sz="2800" dirty="0" err="1"/>
              <a:t>MyThread</a:t>
            </a:r>
            <a:r>
              <a:rPr lang="en-US" sz="2800" dirty="0"/>
              <a:t> extends Thread{</a:t>
            </a:r>
          </a:p>
          <a:p>
            <a:r>
              <a:rPr lang="en-US" sz="2800" dirty="0"/>
              <a:t>public void run(){</a:t>
            </a:r>
          </a:p>
          <a:p>
            <a:r>
              <a:rPr lang="en-US" sz="2800" dirty="0" err="1"/>
              <a:t>System.out.println</a:t>
            </a:r>
            <a:r>
              <a:rPr lang="en-US" sz="2800" dirty="0"/>
              <a:t>("Current thread name:"+ </a:t>
            </a:r>
            <a:r>
              <a:rPr lang="en-US" sz="2800" dirty="0" err="1"/>
              <a:t>Thread.currentThread</a:t>
            </a:r>
            <a:r>
              <a:rPr lang="en-US" sz="2800" dirty="0"/>
              <a:t>().</a:t>
            </a:r>
            <a:r>
              <a:rPr lang="en-US" sz="2800" dirty="0" err="1"/>
              <a:t>getName</a:t>
            </a:r>
            <a:r>
              <a:rPr lang="en-US" sz="2800" dirty="0"/>
              <a:t>());</a:t>
            </a:r>
          </a:p>
          <a:p>
            <a:r>
              <a:rPr lang="en-US" sz="2800" dirty="0" err="1"/>
              <a:t>System.out.println</a:t>
            </a:r>
            <a:r>
              <a:rPr lang="en-US" sz="2800" dirty="0"/>
              <a:t> ("run method called");</a:t>
            </a:r>
          </a:p>
          <a:p>
            <a:r>
              <a:rPr lang="en-US" sz="2800" dirty="0"/>
              <a:t>}}</a:t>
            </a:r>
          </a:p>
          <a:p>
            <a:r>
              <a:rPr lang="en-US" sz="2800" dirty="0"/>
              <a:t>class ThreadClass1 {</a:t>
            </a:r>
          </a:p>
          <a:p>
            <a:r>
              <a:rPr lang="en-US" sz="2800" dirty="0"/>
              <a:t>public static void main(String[] </a:t>
            </a:r>
            <a:r>
              <a:rPr lang="en-US" sz="2800" dirty="0" err="1"/>
              <a:t>args</a:t>
            </a:r>
            <a:r>
              <a:rPr lang="en-US" sz="2800" dirty="0"/>
              <a:t>)</a:t>
            </a:r>
          </a:p>
          <a:p>
            <a:r>
              <a:rPr lang="en-US" sz="2800" dirty="0"/>
              <a:t>{</a:t>
            </a:r>
          </a:p>
          <a:p>
            <a:r>
              <a:rPr lang="en-US" sz="2800" dirty="0" err="1"/>
              <a:t>MyThread</a:t>
            </a:r>
            <a:r>
              <a:rPr lang="en-US" sz="2800" dirty="0"/>
              <a:t> t = new </a:t>
            </a:r>
            <a:r>
              <a:rPr lang="en-US" sz="2800" dirty="0" err="1"/>
              <a:t>MyThread</a:t>
            </a:r>
            <a:r>
              <a:rPr lang="en-US" sz="2800" dirty="0"/>
              <a:t>();</a:t>
            </a:r>
          </a:p>
          <a:p>
            <a:r>
              <a:rPr lang="en-US" sz="2800" dirty="0" err="1">
                <a:solidFill>
                  <a:srgbClr val="FF0000"/>
                </a:solidFill>
              </a:rPr>
              <a:t>t.run</a:t>
            </a:r>
            <a:r>
              <a:rPr lang="en-US" sz="2800" dirty="0">
                <a:solidFill>
                  <a:srgbClr val="FF0000"/>
                </a:solidFill>
              </a:rPr>
              <a:t>();</a:t>
            </a:r>
          </a:p>
          <a:p>
            <a:r>
              <a:rPr lang="en-US" sz="2800" dirty="0"/>
              <a:t>}}</a:t>
            </a:r>
          </a:p>
          <a:p>
            <a:r>
              <a:rPr lang="en-US" sz="2800" u="sng" dirty="0"/>
              <a:t>output</a:t>
            </a:r>
          </a:p>
          <a:p>
            <a:r>
              <a:rPr lang="en-US" sz="2800" dirty="0"/>
              <a:t>Current thread </a:t>
            </a:r>
            <a:r>
              <a:rPr lang="en-US" sz="2800" dirty="0" err="1"/>
              <a:t>name:main</a:t>
            </a:r>
            <a:endParaRPr lang="en-US" sz="2800" dirty="0"/>
          </a:p>
          <a:p>
            <a:r>
              <a:rPr lang="en-US" sz="2800" dirty="0"/>
              <a:t>run method called</a:t>
            </a:r>
          </a:p>
          <a:p>
            <a:endParaRPr lang="en-US" sz="2800" dirty="0"/>
          </a:p>
        </p:txBody>
      </p:sp>
    </p:spTree>
    <p:extLst>
      <p:ext uri="{BB962C8B-B14F-4D97-AF65-F5344CB8AC3E}">
        <p14:creationId xmlns:p14="http://schemas.microsoft.com/office/powerpoint/2010/main" val="3311051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EDE830-8B7F-1C33-DD09-3D6BE53D54A4}"/>
              </a:ext>
            </a:extLst>
          </p:cNvPr>
          <p:cNvPicPr>
            <a:picLocks noChangeAspect="1"/>
          </p:cNvPicPr>
          <p:nvPr/>
        </p:nvPicPr>
        <p:blipFill>
          <a:blip r:embed="rId2"/>
          <a:stretch>
            <a:fillRect/>
          </a:stretch>
        </p:blipFill>
        <p:spPr>
          <a:xfrm>
            <a:off x="1340695" y="196686"/>
            <a:ext cx="8898327" cy="6192825"/>
          </a:xfrm>
          <a:prstGeom prst="rect">
            <a:avLst/>
          </a:prstGeom>
        </p:spPr>
      </p:pic>
    </p:spTree>
    <p:extLst>
      <p:ext uri="{BB962C8B-B14F-4D97-AF65-F5344CB8AC3E}">
        <p14:creationId xmlns:p14="http://schemas.microsoft.com/office/powerpoint/2010/main" val="3269501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19</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1288"/>
            <a:ext cx="12112978" cy="4524315"/>
          </a:xfrm>
          <a:prstGeom prst="rect">
            <a:avLst/>
          </a:prstGeom>
          <a:noFill/>
          <a:ln>
            <a:solidFill>
              <a:schemeClr val="tx1"/>
            </a:solidFill>
          </a:ln>
        </p:spPr>
        <p:txBody>
          <a:bodyPr wrap="square">
            <a:spAutoFit/>
          </a:bodyPr>
          <a:lstStyle/>
          <a:p>
            <a:pPr marL="0" lvl="1" defTabSz="447675"/>
            <a:r>
              <a:rPr lang="en-US" sz="3200" dirty="0"/>
              <a:t>							Implementing Runnable interface</a:t>
            </a:r>
          </a:p>
          <a:p>
            <a:pPr lvl="1" indent="-457200" defTabSz="447675">
              <a:buFont typeface="Arial" panose="020B0604020202020204" pitchFamily="34" charset="0"/>
              <a:buChar char="•"/>
            </a:pPr>
            <a:endParaRPr lang="en-US" sz="3200" dirty="0"/>
          </a:p>
          <a:p>
            <a:pPr lvl="1" indent="-457200" defTabSz="447675">
              <a:buFont typeface="Arial" panose="020B0604020202020204" pitchFamily="34" charset="0"/>
              <a:buChar char="•"/>
            </a:pPr>
            <a:r>
              <a:rPr lang="en-US" sz="3200" dirty="0"/>
              <a:t>The Runnable interface should be implemented by any class whose instances are intended to be executed by a thread. </a:t>
            </a:r>
          </a:p>
          <a:p>
            <a:pPr lvl="1" indent="-457200" defTabSz="447675">
              <a:buFont typeface="Arial" panose="020B0604020202020204" pitchFamily="34" charset="0"/>
              <a:buChar char="•"/>
            </a:pPr>
            <a:r>
              <a:rPr lang="en-US" sz="3200" dirty="0"/>
              <a:t>Runnable interface have </a:t>
            </a:r>
            <a:r>
              <a:rPr lang="en-US" sz="3200" dirty="0">
                <a:solidFill>
                  <a:srgbClr val="FF0000"/>
                </a:solidFill>
              </a:rPr>
              <a:t>only one method named run().</a:t>
            </a:r>
          </a:p>
          <a:p>
            <a:pPr marL="0" lvl="1" defTabSz="447675"/>
            <a:r>
              <a:rPr lang="en-US" sz="3200" dirty="0"/>
              <a:t>		</a:t>
            </a:r>
          </a:p>
          <a:p>
            <a:pPr marL="0" lvl="1" defTabSz="447675"/>
            <a:r>
              <a:rPr lang="en-US" sz="3200" dirty="0"/>
              <a:t>				 public void run() - used to perform action for a thread.</a:t>
            </a:r>
          </a:p>
          <a:p>
            <a:pPr lvl="1" indent="-457200" defTabSz="447675">
              <a:buFont typeface="Arial" panose="020B0604020202020204" pitchFamily="34" charset="0"/>
              <a:buChar char="•"/>
            </a:pPr>
            <a:endParaRPr lang="en-US" sz="3200" dirty="0"/>
          </a:p>
          <a:p>
            <a:pPr lvl="1" indent="-457200" defTabSz="447675">
              <a:buFont typeface="Arial" panose="020B0604020202020204" pitchFamily="34" charset="0"/>
              <a:buChar char="•"/>
            </a:pPr>
            <a:endParaRPr lang="en-US" sz="3200" dirty="0"/>
          </a:p>
        </p:txBody>
      </p:sp>
    </p:spTree>
    <p:extLst>
      <p:ext uri="{BB962C8B-B14F-4D97-AF65-F5344CB8AC3E}">
        <p14:creationId xmlns:p14="http://schemas.microsoft.com/office/powerpoint/2010/main" val="1457703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20</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1288"/>
            <a:ext cx="12112978" cy="4524315"/>
          </a:xfrm>
          <a:prstGeom prst="rect">
            <a:avLst/>
          </a:prstGeom>
          <a:noFill/>
          <a:ln>
            <a:solidFill>
              <a:schemeClr val="tx1"/>
            </a:solidFill>
          </a:ln>
        </p:spPr>
        <p:txBody>
          <a:bodyPr wrap="square">
            <a:spAutoFit/>
          </a:bodyPr>
          <a:lstStyle/>
          <a:p>
            <a:pPr marL="0" lvl="1" algn="just" defTabSz="447675"/>
            <a:r>
              <a:rPr lang="en-US" sz="3200" dirty="0"/>
              <a:t>				Steps to create a new Thread using Runnable </a:t>
            </a:r>
          </a:p>
          <a:p>
            <a:pPr lvl="1" indent="-457200" algn="just" defTabSz="447675">
              <a:buFont typeface="Arial" panose="020B0604020202020204" pitchFamily="34" charset="0"/>
              <a:buChar char="•"/>
            </a:pPr>
            <a:endParaRPr lang="en-US" sz="3200" dirty="0"/>
          </a:p>
          <a:p>
            <a:pPr lvl="1" indent="-457200" algn="just" defTabSz="447675">
              <a:buFont typeface="Arial" panose="020B0604020202020204" pitchFamily="34" charset="0"/>
              <a:buChar char="•"/>
            </a:pPr>
            <a:r>
              <a:rPr lang="en-US" sz="3200" dirty="0"/>
              <a:t>Create a Runnable implementer and implement run() method. </a:t>
            </a:r>
          </a:p>
          <a:p>
            <a:pPr lvl="1" indent="-457200" algn="just" defTabSz="447675">
              <a:buFont typeface="Arial" panose="020B0604020202020204" pitchFamily="34" charset="0"/>
              <a:buChar char="•"/>
            </a:pPr>
            <a:r>
              <a:rPr lang="en-US" sz="3200" dirty="0"/>
              <a:t>Instantiate Thread class and pass the implementer to the Thread, Thread has a constructor which accepts Runnable instance. </a:t>
            </a:r>
          </a:p>
          <a:p>
            <a:pPr lvl="1" indent="-457200" algn="just" defTabSz="447675">
              <a:buFont typeface="Arial" panose="020B0604020202020204" pitchFamily="34" charset="0"/>
              <a:buChar char="•"/>
            </a:pPr>
            <a:r>
              <a:rPr lang="en-US" sz="3200" dirty="0"/>
              <a:t>Invoke start() of Thread instance, start internally calls run() of the implementer. Invoking start(), creates a new Thread which executes the code written in run().</a:t>
            </a:r>
          </a:p>
          <a:p>
            <a:pPr lvl="1" indent="-457200" algn="just" defTabSz="447675">
              <a:buFont typeface="Arial" panose="020B0604020202020204" pitchFamily="34" charset="0"/>
              <a:buChar char="•"/>
            </a:pPr>
            <a:endParaRPr lang="en-US" sz="3200" dirty="0"/>
          </a:p>
        </p:txBody>
      </p:sp>
    </p:spTree>
    <p:extLst>
      <p:ext uri="{BB962C8B-B14F-4D97-AF65-F5344CB8AC3E}">
        <p14:creationId xmlns:p14="http://schemas.microsoft.com/office/powerpoint/2010/main" val="1704489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0BE4F0-764B-5C86-E586-A1425FEA9768}"/>
              </a:ext>
            </a:extLst>
          </p:cNvPr>
          <p:cNvSpPr txBox="1"/>
          <p:nvPr/>
        </p:nvSpPr>
        <p:spPr>
          <a:xfrm>
            <a:off x="670560" y="304800"/>
            <a:ext cx="11314176" cy="5262979"/>
          </a:xfrm>
          <a:prstGeom prst="rect">
            <a:avLst/>
          </a:prstGeom>
          <a:noFill/>
          <a:ln>
            <a:solidFill>
              <a:schemeClr val="tx1"/>
            </a:solidFill>
          </a:ln>
        </p:spPr>
        <p:txBody>
          <a:bodyPr wrap="square">
            <a:spAutoFit/>
          </a:bodyPr>
          <a:lstStyle/>
          <a:p>
            <a:r>
              <a:rPr lang="en-US" sz="2800" dirty="0" err="1"/>
              <a:t>Eg</a:t>
            </a:r>
            <a:r>
              <a:rPr lang="en-US" sz="2800" dirty="0"/>
              <a:t>:</a:t>
            </a:r>
          </a:p>
          <a:p>
            <a:r>
              <a:rPr lang="en-US" sz="2800" dirty="0"/>
              <a:t>class Multi3 implements Runnable{  </a:t>
            </a:r>
          </a:p>
          <a:p>
            <a:r>
              <a:rPr lang="en-US" sz="2800" dirty="0"/>
              <a:t>public void run(){  </a:t>
            </a:r>
          </a:p>
          <a:p>
            <a:r>
              <a:rPr lang="en-US" sz="2800" dirty="0" err="1"/>
              <a:t>System.out.println</a:t>
            </a:r>
            <a:r>
              <a:rPr lang="en-US" sz="2800" dirty="0"/>
              <a:t>("thread is running...");  </a:t>
            </a:r>
          </a:p>
          <a:p>
            <a:r>
              <a:rPr lang="en-US" sz="2800" dirty="0"/>
              <a:t>}  </a:t>
            </a:r>
          </a:p>
          <a:p>
            <a:r>
              <a:rPr lang="en-US" sz="2800" dirty="0"/>
              <a:t>  </a:t>
            </a:r>
          </a:p>
          <a:p>
            <a:r>
              <a:rPr lang="en-US" sz="2800" dirty="0"/>
              <a:t>public static void main(String </a:t>
            </a:r>
            <a:r>
              <a:rPr lang="en-US" sz="2800" dirty="0" err="1"/>
              <a:t>args</a:t>
            </a:r>
            <a:r>
              <a:rPr lang="en-US" sz="2800" dirty="0"/>
              <a:t>[]){  </a:t>
            </a:r>
          </a:p>
          <a:p>
            <a:r>
              <a:rPr lang="en-US" sz="2800" dirty="0"/>
              <a:t>Multi3 m1=new Multi3();  //object of implementer created</a:t>
            </a:r>
          </a:p>
          <a:p>
            <a:r>
              <a:rPr lang="en-US" sz="2800" dirty="0"/>
              <a:t>Thread t1 =new Thread(m1);   // Using the constructor Thread(Runnable r)  </a:t>
            </a:r>
          </a:p>
          <a:p>
            <a:r>
              <a:rPr lang="en-US" sz="2800" dirty="0"/>
              <a:t>t1.start();  </a:t>
            </a:r>
          </a:p>
          <a:p>
            <a:r>
              <a:rPr lang="en-US" sz="2800" dirty="0"/>
              <a:t> }  </a:t>
            </a:r>
          </a:p>
          <a:p>
            <a:r>
              <a:rPr lang="en-US" sz="2800" dirty="0"/>
              <a:t>}</a:t>
            </a:r>
          </a:p>
        </p:txBody>
      </p:sp>
    </p:spTree>
    <p:extLst>
      <p:ext uri="{BB962C8B-B14F-4D97-AF65-F5344CB8AC3E}">
        <p14:creationId xmlns:p14="http://schemas.microsoft.com/office/powerpoint/2010/main" val="1684226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66D746-0D48-B62C-C2D4-5571642C1145}"/>
              </a:ext>
            </a:extLst>
          </p:cNvPr>
          <p:cNvSpPr txBox="1"/>
          <p:nvPr/>
        </p:nvSpPr>
        <p:spPr>
          <a:xfrm>
            <a:off x="606286" y="367748"/>
            <a:ext cx="10939537" cy="5693866"/>
          </a:xfrm>
          <a:prstGeom prst="rect">
            <a:avLst/>
          </a:prstGeom>
          <a:noFill/>
          <a:ln>
            <a:solidFill>
              <a:schemeClr val="tx1"/>
            </a:solidFill>
          </a:ln>
        </p:spPr>
        <p:txBody>
          <a:bodyPr wrap="square">
            <a:spAutoFit/>
          </a:bodyPr>
          <a:lstStyle/>
          <a:p>
            <a:r>
              <a:rPr lang="en-US" sz="2800" dirty="0"/>
              <a:t> 						Creating Multiple Threads</a:t>
            </a:r>
          </a:p>
          <a:p>
            <a:r>
              <a:rPr lang="en-US" sz="2800" dirty="0"/>
              <a:t>class </a:t>
            </a:r>
            <a:r>
              <a:rPr lang="en-US" sz="2800" dirty="0" err="1"/>
              <a:t>ThreadA</a:t>
            </a:r>
            <a:r>
              <a:rPr lang="en-US" sz="2800" dirty="0"/>
              <a:t> extends Thread</a:t>
            </a:r>
          </a:p>
          <a:p>
            <a:r>
              <a:rPr lang="en-US" sz="2800" dirty="0"/>
              <a:t>{</a:t>
            </a:r>
          </a:p>
          <a:p>
            <a:pPr lvl="1"/>
            <a:r>
              <a:rPr lang="en-US" sz="2800" dirty="0"/>
              <a:t>public void run()</a:t>
            </a:r>
          </a:p>
          <a:p>
            <a:pPr lvl="1"/>
            <a:r>
              <a:rPr lang="en-US" sz="2800" dirty="0"/>
              <a:t>{</a:t>
            </a:r>
          </a:p>
          <a:p>
            <a:pPr lvl="1"/>
            <a:r>
              <a:rPr lang="en-US" sz="2800" dirty="0"/>
              <a:t>for(int </a:t>
            </a:r>
            <a:r>
              <a:rPr lang="en-US" sz="2800" dirty="0" err="1"/>
              <a:t>i</a:t>
            </a:r>
            <a:r>
              <a:rPr lang="en-US" sz="2800" dirty="0"/>
              <a:t>=1;i&lt;=5;i++)</a:t>
            </a:r>
          </a:p>
          <a:p>
            <a:pPr lvl="1"/>
            <a:r>
              <a:rPr lang="en-US" sz="2800" dirty="0"/>
              <a:t>   {</a:t>
            </a:r>
          </a:p>
          <a:p>
            <a:pPr lvl="1"/>
            <a:r>
              <a:rPr lang="en-US" sz="2800" dirty="0"/>
              <a:t>	</a:t>
            </a:r>
            <a:r>
              <a:rPr lang="en-US" sz="2800" dirty="0" err="1"/>
              <a:t>System.out.println</a:t>
            </a:r>
            <a:r>
              <a:rPr lang="en-US" sz="2800" dirty="0"/>
              <a:t>("</a:t>
            </a:r>
            <a:r>
              <a:rPr lang="en-US" sz="2800" dirty="0" err="1"/>
              <a:t>ThreadA</a:t>
            </a:r>
            <a:r>
              <a:rPr lang="en-US" sz="2800" dirty="0"/>
              <a:t> </a:t>
            </a:r>
            <a:r>
              <a:rPr lang="en-US" sz="2800" dirty="0" err="1"/>
              <a:t>i</a:t>
            </a:r>
            <a:r>
              <a:rPr lang="en-US" sz="2800" dirty="0"/>
              <a:t>="+(1*</a:t>
            </a:r>
            <a:r>
              <a:rPr lang="en-US" sz="2800" dirty="0" err="1"/>
              <a:t>i</a:t>
            </a:r>
            <a:r>
              <a:rPr lang="en-US" sz="2800" dirty="0"/>
              <a:t>));</a:t>
            </a:r>
          </a:p>
          <a:p>
            <a:pPr lvl="1"/>
            <a:r>
              <a:rPr lang="en-US" sz="2800" dirty="0"/>
              <a:t>   }</a:t>
            </a:r>
          </a:p>
          <a:p>
            <a:pPr lvl="1"/>
            <a:r>
              <a:rPr lang="en-US" sz="2800" dirty="0" err="1"/>
              <a:t>System.out.println</a:t>
            </a:r>
            <a:r>
              <a:rPr lang="en-US" sz="2800" dirty="0"/>
              <a:t>("Exiting </a:t>
            </a:r>
            <a:r>
              <a:rPr lang="en-US" sz="2800" dirty="0" err="1"/>
              <a:t>ThreadA</a:t>
            </a:r>
            <a:r>
              <a:rPr lang="en-US" sz="2800" dirty="0"/>
              <a:t>");</a:t>
            </a:r>
          </a:p>
          <a:p>
            <a:r>
              <a:rPr lang="en-US" sz="2800" dirty="0"/>
              <a:t>    } </a:t>
            </a:r>
          </a:p>
          <a:p>
            <a:r>
              <a:rPr lang="en-US" sz="2800" dirty="0"/>
              <a:t>}</a:t>
            </a:r>
          </a:p>
          <a:p>
            <a:endParaRPr lang="en-US" sz="2800" dirty="0"/>
          </a:p>
        </p:txBody>
      </p:sp>
    </p:spTree>
    <p:extLst>
      <p:ext uri="{BB962C8B-B14F-4D97-AF65-F5344CB8AC3E}">
        <p14:creationId xmlns:p14="http://schemas.microsoft.com/office/powerpoint/2010/main" val="3826506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66D746-0D48-B62C-C2D4-5571642C1145}"/>
              </a:ext>
            </a:extLst>
          </p:cNvPr>
          <p:cNvSpPr txBox="1"/>
          <p:nvPr/>
        </p:nvSpPr>
        <p:spPr>
          <a:xfrm>
            <a:off x="548640" y="650246"/>
            <a:ext cx="10997184" cy="5262979"/>
          </a:xfrm>
          <a:prstGeom prst="rect">
            <a:avLst/>
          </a:prstGeom>
          <a:noFill/>
          <a:ln>
            <a:solidFill>
              <a:schemeClr val="tx1"/>
            </a:solidFill>
          </a:ln>
        </p:spPr>
        <p:txBody>
          <a:bodyPr wrap="square">
            <a:spAutoFit/>
          </a:bodyPr>
          <a:lstStyle/>
          <a:p>
            <a:r>
              <a:rPr lang="en-US" sz="2800" dirty="0"/>
              <a:t> 						</a:t>
            </a:r>
          </a:p>
          <a:p>
            <a:r>
              <a:rPr lang="en-US" sz="2800" dirty="0"/>
              <a:t>class </a:t>
            </a:r>
            <a:r>
              <a:rPr lang="en-US" sz="2800" dirty="0" err="1"/>
              <a:t>ThreadB</a:t>
            </a:r>
            <a:r>
              <a:rPr lang="en-US" sz="2800" dirty="0"/>
              <a:t> extends Thread</a:t>
            </a:r>
          </a:p>
          <a:p>
            <a:r>
              <a:rPr lang="en-US" sz="2800" dirty="0"/>
              <a:t>{</a:t>
            </a:r>
          </a:p>
          <a:p>
            <a:pPr lvl="1"/>
            <a:r>
              <a:rPr lang="en-US" sz="2800" dirty="0"/>
              <a:t>public void run()</a:t>
            </a:r>
          </a:p>
          <a:p>
            <a:pPr lvl="1"/>
            <a:r>
              <a:rPr lang="en-US" sz="2800" dirty="0"/>
              <a:t>{</a:t>
            </a:r>
          </a:p>
          <a:p>
            <a:pPr lvl="1"/>
            <a:r>
              <a:rPr lang="en-US" sz="2800" dirty="0"/>
              <a:t>	for(int j=1;j&lt;=5;j++)</a:t>
            </a:r>
          </a:p>
          <a:p>
            <a:pPr lvl="1"/>
            <a:r>
              <a:rPr lang="en-US" sz="2800" dirty="0"/>
              <a:t>	{</a:t>
            </a:r>
          </a:p>
          <a:p>
            <a:pPr lvl="1"/>
            <a:r>
              <a:rPr lang="en-US" sz="2800" dirty="0"/>
              <a:t>		</a:t>
            </a:r>
            <a:r>
              <a:rPr lang="en-US" sz="2800" dirty="0" err="1"/>
              <a:t>System.out.println</a:t>
            </a:r>
            <a:r>
              <a:rPr lang="en-US" sz="2800" dirty="0"/>
              <a:t>("</a:t>
            </a:r>
            <a:r>
              <a:rPr lang="en-US" sz="2800" dirty="0" err="1"/>
              <a:t>ThreadB</a:t>
            </a:r>
            <a:r>
              <a:rPr lang="en-US" sz="2800" dirty="0"/>
              <a:t> j="+(2*j));</a:t>
            </a:r>
          </a:p>
          <a:p>
            <a:pPr lvl="1"/>
            <a:r>
              <a:rPr lang="en-US" sz="2800" dirty="0"/>
              <a:t>	}</a:t>
            </a:r>
          </a:p>
          <a:p>
            <a:r>
              <a:rPr lang="en-US" sz="2800" dirty="0"/>
              <a:t>	</a:t>
            </a:r>
            <a:r>
              <a:rPr lang="en-US" sz="2800" dirty="0" err="1"/>
              <a:t>System.out.println</a:t>
            </a:r>
            <a:r>
              <a:rPr lang="en-US" sz="2800" dirty="0"/>
              <a:t>("Exiting </a:t>
            </a:r>
            <a:r>
              <a:rPr lang="en-US" sz="2800" dirty="0" err="1"/>
              <a:t>ThreadB</a:t>
            </a:r>
            <a:r>
              <a:rPr lang="en-US" sz="2800" dirty="0"/>
              <a:t>");</a:t>
            </a:r>
          </a:p>
          <a:p>
            <a:r>
              <a:rPr lang="en-US" sz="2800" dirty="0"/>
              <a:t>  }</a:t>
            </a:r>
          </a:p>
          <a:p>
            <a:r>
              <a:rPr lang="en-US" sz="2800" dirty="0"/>
              <a:t>}</a:t>
            </a:r>
          </a:p>
        </p:txBody>
      </p:sp>
    </p:spTree>
    <p:extLst>
      <p:ext uri="{BB962C8B-B14F-4D97-AF65-F5344CB8AC3E}">
        <p14:creationId xmlns:p14="http://schemas.microsoft.com/office/powerpoint/2010/main" val="3090365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521782-23BA-B0C2-2729-C7975F4B5D26}"/>
              </a:ext>
            </a:extLst>
          </p:cNvPr>
          <p:cNvPicPr>
            <a:picLocks noChangeAspect="1"/>
          </p:cNvPicPr>
          <p:nvPr/>
        </p:nvPicPr>
        <p:blipFill>
          <a:blip r:embed="rId2"/>
          <a:stretch>
            <a:fillRect/>
          </a:stretch>
        </p:blipFill>
        <p:spPr>
          <a:xfrm>
            <a:off x="9572790" y="353121"/>
            <a:ext cx="1924050" cy="3600450"/>
          </a:xfrm>
          <a:prstGeom prst="rect">
            <a:avLst/>
          </a:prstGeom>
        </p:spPr>
      </p:pic>
      <p:sp>
        <p:nvSpPr>
          <p:cNvPr id="5" name="TextBox 4">
            <a:extLst>
              <a:ext uri="{FF2B5EF4-FFF2-40B4-BE49-F238E27FC236}">
                <a16:creationId xmlns:a16="http://schemas.microsoft.com/office/drawing/2014/main" id="{AD66D746-0D48-B62C-C2D4-5571642C1145}"/>
              </a:ext>
            </a:extLst>
          </p:cNvPr>
          <p:cNvSpPr txBox="1"/>
          <p:nvPr/>
        </p:nvSpPr>
        <p:spPr>
          <a:xfrm>
            <a:off x="402335" y="-144885"/>
            <a:ext cx="8875777" cy="6986528"/>
          </a:xfrm>
          <a:prstGeom prst="rect">
            <a:avLst/>
          </a:prstGeom>
          <a:noFill/>
          <a:ln>
            <a:solidFill>
              <a:schemeClr val="tx1"/>
            </a:solidFill>
          </a:ln>
        </p:spPr>
        <p:txBody>
          <a:bodyPr wrap="square">
            <a:spAutoFit/>
          </a:bodyPr>
          <a:lstStyle/>
          <a:p>
            <a:r>
              <a:rPr lang="en-US" sz="2800" dirty="0"/>
              <a:t>class </a:t>
            </a:r>
            <a:r>
              <a:rPr lang="en-US" sz="2800" dirty="0" err="1"/>
              <a:t>ThreadC</a:t>
            </a:r>
            <a:r>
              <a:rPr lang="en-US" sz="2800" dirty="0"/>
              <a:t> extends Thread{</a:t>
            </a:r>
          </a:p>
          <a:p>
            <a:r>
              <a:rPr lang="en-US" sz="2800" dirty="0"/>
              <a:t>public void run() {</a:t>
            </a:r>
          </a:p>
          <a:p>
            <a:r>
              <a:rPr lang="en-US" sz="2800" dirty="0"/>
              <a:t>for(int k=1;k&lt;=5;k++){</a:t>
            </a:r>
          </a:p>
          <a:p>
            <a:r>
              <a:rPr lang="en-US" sz="2800" dirty="0" err="1"/>
              <a:t>System.out.println</a:t>
            </a:r>
            <a:r>
              <a:rPr lang="en-US" sz="2800" dirty="0"/>
              <a:t>("</a:t>
            </a:r>
            <a:r>
              <a:rPr lang="en-US" sz="2800" dirty="0" err="1"/>
              <a:t>ThreadC</a:t>
            </a:r>
            <a:r>
              <a:rPr lang="en-US" sz="2800" dirty="0"/>
              <a:t> k="+(3*k));</a:t>
            </a:r>
          </a:p>
          <a:p>
            <a:r>
              <a:rPr lang="en-US" sz="2800" dirty="0"/>
              <a:t>}</a:t>
            </a:r>
          </a:p>
          <a:p>
            <a:r>
              <a:rPr lang="en-US" sz="2800" dirty="0" err="1"/>
              <a:t>System.out.println</a:t>
            </a:r>
            <a:r>
              <a:rPr lang="en-US" sz="2800" dirty="0"/>
              <a:t>("Exiting </a:t>
            </a:r>
            <a:r>
              <a:rPr lang="en-US" sz="2800" dirty="0" err="1"/>
              <a:t>ThreadC</a:t>
            </a:r>
            <a:r>
              <a:rPr lang="en-US" sz="2800" dirty="0"/>
              <a:t>");</a:t>
            </a:r>
          </a:p>
          <a:p>
            <a:r>
              <a:rPr lang="en-US" sz="2800" dirty="0"/>
              <a:t>}}</a:t>
            </a:r>
          </a:p>
          <a:p>
            <a:r>
              <a:rPr lang="en-US" sz="2800" dirty="0"/>
              <a:t>class </a:t>
            </a:r>
            <a:r>
              <a:rPr lang="en-US" sz="2800" dirty="0" err="1"/>
              <a:t>MultiThreadDemo</a:t>
            </a:r>
            <a:r>
              <a:rPr lang="en-US" sz="2800" dirty="0"/>
              <a:t>{</a:t>
            </a:r>
          </a:p>
          <a:p>
            <a:r>
              <a:rPr lang="en-US" sz="2800" dirty="0"/>
              <a:t>public static void main(String </a:t>
            </a:r>
            <a:r>
              <a:rPr lang="en-US" sz="2800" dirty="0" err="1"/>
              <a:t>args</a:t>
            </a:r>
            <a:r>
              <a:rPr lang="en-US" sz="2800" dirty="0"/>
              <a:t>[]){</a:t>
            </a:r>
          </a:p>
          <a:p>
            <a:r>
              <a:rPr lang="en-US" sz="2800" dirty="0"/>
              <a:t> </a:t>
            </a:r>
            <a:r>
              <a:rPr lang="en-US" sz="2800" dirty="0" err="1"/>
              <a:t>ThreadA</a:t>
            </a:r>
            <a:r>
              <a:rPr lang="en-US" sz="2800" dirty="0"/>
              <a:t> t1= new </a:t>
            </a:r>
            <a:r>
              <a:rPr lang="en-US" sz="2800" dirty="0" err="1"/>
              <a:t>ThreadA</a:t>
            </a:r>
            <a:r>
              <a:rPr lang="en-US" sz="2800" dirty="0"/>
              <a:t>();</a:t>
            </a:r>
          </a:p>
          <a:p>
            <a:r>
              <a:rPr lang="en-US" sz="2800" dirty="0"/>
              <a:t> </a:t>
            </a:r>
            <a:r>
              <a:rPr lang="en-US" sz="2800" dirty="0" err="1"/>
              <a:t>ThreadB</a:t>
            </a:r>
            <a:r>
              <a:rPr lang="en-US" sz="2800" dirty="0"/>
              <a:t> t2= new </a:t>
            </a:r>
            <a:r>
              <a:rPr lang="en-US" sz="2800" dirty="0" err="1"/>
              <a:t>ThreadB</a:t>
            </a:r>
            <a:r>
              <a:rPr lang="en-US" sz="2800" dirty="0"/>
              <a:t>();</a:t>
            </a:r>
          </a:p>
          <a:p>
            <a:r>
              <a:rPr lang="en-US" sz="2800" dirty="0"/>
              <a:t> </a:t>
            </a:r>
            <a:r>
              <a:rPr lang="en-US" sz="2800" dirty="0" err="1"/>
              <a:t>ThreadC</a:t>
            </a:r>
            <a:r>
              <a:rPr lang="en-US" sz="2800" dirty="0"/>
              <a:t> t3= new </a:t>
            </a:r>
            <a:r>
              <a:rPr lang="en-US" sz="2800" dirty="0" err="1"/>
              <a:t>ThreadC</a:t>
            </a:r>
            <a:r>
              <a:rPr lang="en-US" sz="2800" dirty="0"/>
              <a:t>();</a:t>
            </a:r>
          </a:p>
          <a:p>
            <a:r>
              <a:rPr lang="en-US" sz="2800" dirty="0"/>
              <a:t> t1.start();</a:t>
            </a:r>
          </a:p>
          <a:p>
            <a:r>
              <a:rPr lang="en-US" sz="2800" dirty="0"/>
              <a:t> t2.start();</a:t>
            </a:r>
          </a:p>
          <a:p>
            <a:r>
              <a:rPr lang="en-US" sz="2800" dirty="0"/>
              <a:t> t3.start();</a:t>
            </a:r>
          </a:p>
          <a:p>
            <a:r>
              <a:rPr lang="en-US" sz="2800" dirty="0"/>
              <a:t>} }</a:t>
            </a:r>
          </a:p>
        </p:txBody>
      </p:sp>
    </p:spTree>
    <p:extLst>
      <p:ext uri="{BB962C8B-B14F-4D97-AF65-F5344CB8AC3E}">
        <p14:creationId xmlns:p14="http://schemas.microsoft.com/office/powerpoint/2010/main" val="169340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25</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33090"/>
            <a:ext cx="11988800" cy="6001643"/>
          </a:xfrm>
          <a:prstGeom prst="rect">
            <a:avLst/>
          </a:prstGeom>
          <a:noFill/>
          <a:ln>
            <a:solidFill>
              <a:schemeClr val="tx1"/>
            </a:solidFill>
          </a:ln>
        </p:spPr>
        <p:txBody>
          <a:bodyPr wrap="square">
            <a:spAutoFit/>
          </a:bodyPr>
          <a:lstStyle/>
          <a:p>
            <a:pPr marL="0" lvl="1" algn="just" defTabSz="447675"/>
            <a:r>
              <a:rPr lang="en-US" sz="3200" dirty="0"/>
              <a:t>				        		   Thread Synchronization</a:t>
            </a:r>
          </a:p>
          <a:p>
            <a:pPr lvl="1" indent="-457200" algn="just" defTabSz="447675">
              <a:buFont typeface="Arial" panose="020B0604020202020204" pitchFamily="34" charset="0"/>
              <a:buChar char="•"/>
            </a:pPr>
            <a:r>
              <a:rPr lang="en-US" sz="3200" dirty="0"/>
              <a:t>When we start two or more threads within a program, there may be a situation when </a:t>
            </a:r>
            <a:r>
              <a:rPr lang="en-US" sz="3200" dirty="0">
                <a:solidFill>
                  <a:srgbClr val="FF0000"/>
                </a:solidFill>
              </a:rPr>
              <a:t>multiple threads try to access the same resource and finally they can produce unforeseen result due to concurrency issues. </a:t>
            </a:r>
          </a:p>
          <a:p>
            <a:pPr lvl="1" indent="-457200" algn="just" defTabSz="447675">
              <a:buFont typeface="Arial" panose="020B0604020202020204" pitchFamily="34" charset="0"/>
              <a:buChar char="•"/>
            </a:pPr>
            <a:r>
              <a:rPr lang="en-US" sz="3200" dirty="0"/>
              <a:t>Synchronization in java is the capability of controlling the access of multiple threads to any shared resource.</a:t>
            </a:r>
          </a:p>
          <a:p>
            <a:pPr lvl="1" indent="-457200" algn="just" defTabSz="447675">
              <a:buFont typeface="Arial" panose="020B0604020202020204" pitchFamily="34" charset="0"/>
              <a:buChar char="•"/>
            </a:pPr>
            <a:r>
              <a:rPr lang="en-US" sz="3200" dirty="0"/>
              <a:t>For example, if multiple threads try to write within a same file then they may corrupt the data because one of the threads can override data or while one thread is opening the same file at the same time another thread might be closing the same file.</a:t>
            </a:r>
          </a:p>
          <a:p>
            <a:pPr lvl="1" indent="-457200" algn="just" defTabSz="447675">
              <a:buFont typeface="Arial" panose="020B0604020202020204" pitchFamily="34" charset="0"/>
              <a:buChar char="•"/>
            </a:pPr>
            <a:endParaRPr lang="en-US" sz="3200" dirty="0"/>
          </a:p>
        </p:txBody>
      </p:sp>
    </p:spTree>
    <p:extLst>
      <p:ext uri="{BB962C8B-B14F-4D97-AF65-F5344CB8AC3E}">
        <p14:creationId xmlns:p14="http://schemas.microsoft.com/office/powerpoint/2010/main" val="1254013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26</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1288"/>
            <a:ext cx="12112978" cy="5386090"/>
          </a:xfrm>
          <a:prstGeom prst="rect">
            <a:avLst/>
          </a:prstGeom>
          <a:noFill/>
          <a:ln>
            <a:solidFill>
              <a:schemeClr val="tx1"/>
            </a:solidFill>
          </a:ln>
        </p:spPr>
        <p:txBody>
          <a:bodyPr wrap="square">
            <a:spAutoFit/>
          </a:bodyPr>
          <a:lstStyle/>
          <a:p>
            <a:pPr marL="571500" indent="-571500" algn="just">
              <a:buFont typeface="Arial" panose="020B0604020202020204" pitchFamily="34" charset="0"/>
              <a:buChar char="•"/>
            </a:pPr>
            <a:r>
              <a:rPr lang="en-IN" altLang="en-US" sz="3600" dirty="0"/>
              <a:t> So there is a need to synchronize the action of multiple threads and make sure that only one thread can access the resource at a given point in time. </a:t>
            </a:r>
          </a:p>
          <a:p>
            <a:pPr marL="571500" indent="-571500" algn="just">
              <a:buFont typeface="Arial" panose="020B0604020202020204" pitchFamily="34" charset="0"/>
              <a:buChar char="•"/>
            </a:pPr>
            <a:endParaRPr lang="en-IN" altLang="en-US" sz="3600" dirty="0"/>
          </a:p>
          <a:p>
            <a:pPr marL="571500" indent="-571500" algn="just">
              <a:buFont typeface="Arial" panose="020B0604020202020204" pitchFamily="34" charset="0"/>
              <a:buChar char="•"/>
            </a:pPr>
            <a:r>
              <a:rPr lang="en-IN" altLang="en-US" sz="3600" dirty="0"/>
              <a:t>General form of the synchronized statement : </a:t>
            </a:r>
          </a:p>
          <a:p>
            <a:pPr marL="571500" indent="-571500" algn="just">
              <a:buFont typeface="Arial" panose="020B0604020202020204" pitchFamily="34" charset="0"/>
              <a:buChar char="•"/>
            </a:pPr>
            <a:endParaRPr lang="en-IN" altLang="en-US" sz="3600" dirty="0"/>
          </a:p>
          <a:p>
            <a:pPr algn="just"/>
            <a:r>
              <a:rPr lang="en-IN" altLang="en-US" sz="3600" dirty="0"/>
              <a:t>synchronized(object identifier)</a:t>
            </a:r>
          </a:p>
          <a:p>
            <a:pPr algn="just"/>
            <a:r>
              <a:rPr lang="en-IN" altLang="en-US" sz="3600" dirty="0"/>
              <a:t> { // Access shared variables and other shared resources</a:t>
            </a:r>
          </a:p>
          <a:p>
            <a:pPr algn="just"/>
            <a:r>
              <a:rPr lang="en-IN" altLang="en-US" sz="3600" dirty="0"/>
              <a:t> }</a:t>
            </a:r>
          </a:p>
          <a:p>
            <a:pPr marL="342900" lvl="1" indent="-342900" algn="just" defTabSz="447675">
              <a:buFont typeface="Arial" panose="020B0604020202020204" pitchFamily="34" charset="0"/>
              <a:buChar char="•"/>
            </a:pPr>
            <a:endParaRPr lang="en-US" sz="2000" dirty="0"/>
          </a:p>
        </p:txBody>
      </p:sp>
    </p:spTree>
    <p:extLst>
      <p:ext uri="{BB962C8B-B14F-4D97-AF65-F5344CB8AC3E}">
        <p14:creationId xmlns:p14="http://schemas.microsoft.com/office/powerpoint/2010/main" val="2259169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27</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1288"/>
            <a:ext cx="12112978" cy="5016758"/>
          </a:xfrm>
          <a:prstGeom prst="rect">
            <a:avLst/>
          </a:prstGeom>
          <a:noFill/>
          <a:ln>
            <a:solidFill>
              <a:schemeClr val="tx1"/>
            </a:solidFill>
          </a:ln>
        </p:spPr>
        <p:txBody>
          <a:bodyPr wrap="square">
            <a:spAutoFit/>
          </a:bodyPr>
          <a:lstStyle/>
          <a:p>
            <a:pPr marL="0" lvl="1" algn="just" defTabSz="447675"/>
            <a:r>
              <a:rPr lang="en-IN" altLang="en-US" sz="3200" b="1" dirty="0"/>
              <a:t>		Understanding the problem without Synchronization</a:t>
            </a:r>
          </a:p>
          <a:p>
            <a:pPr marL="685800" lvl="1" indent="-685800" algn="just" defTabSz="447675">
              <a:buFont typeface="Arial" panose="020B0604020202020204" pitchFamily="34" charset="0"/>
              <a:buChar char="•"/>
            </a:pPr>
            <a:r>
              <a:rPr lang="en-IN" altLang="en-US" sz="3200" dirty="0"/>
              <a:t>In this example, we are not using synchronization and creating multiple threads that are accessing display method and produce the random output.</a:t>
            </a:r>
          </a:p>
          <a:p>
            <a:pPr lvl="1" indent="-457200" algn="just" defTabSz="447675">
              <a:buFont typeface="Arial" panose="020B0604020202020204" pitchFamily="34" charset="0"/>
              <a:buChar char="•"/>
            </a:pPr>
            <a:endParaRPr lang="en-US" sz="3200" b="1" dirty="0"/>
          </a:p>
          <a:p>
            <a:pPr lvl="1" indent="-457200" algn="just" defTabSz="447675">
              <a:buFont typeface="Arial" panose="020B0604020202020204" pitchFamily="34" charset="0"/>
              <a:buChar char="•"/>
            </a:pPr>
            <a:r>
              <a:rPr lang="en-US" sz="3200" dirty="0"/>
              <a:t>The object </a:t>
            </a:r>
            <a:r>
              <a:rPr lang="en-US" sz="3200" dirty="0" err="1"/>
              <a:t>fnew</a:t>
            </a:r>
            <a:r>
              <a:rPr lang="en-US" sz="3200" dirty="0"/>
              <a:t> of class First is shared by all the three running threads(ss,ss1 and ss2) to call the shared method (void display).Hence the result is non synchronized and such  condition is called race condition.</a:t>
            </a:r>
          </a:p>
          <a:p>
            <a:pPr marL="0" lvl="1" algn="just" defTabSz="447675"/>
            <a:endParaRPr lang="en-US" sz="3200" b="1" dirty="0"/>
          </a:p>
        </p:txBody>
      </p:sp>
    </p:spTree>
    <p:extLst>
      <p:ext uri="{BB962C8B-B14F-4D97-AF65-F5344CB8AC3E}">
        <p14:creationId xmlns:p14="http://schemas.microsoft.com/office/powerpoint/2010/main" val="3622821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77BFB5-4BB2-4054-A0BA-35A9846DC73F}"/>
              </a:ext>
            </a:extLst>
          </p:cNvPr>
          <p:cNvSpPr txBox="1"/>
          <p:nvPr/>
        </p:nvSpPr>
        <p:spPr>
          <a:xfrm>
            <a:off x="73151" y="161175"/>
            <a:ext cx="5059681" cy="6093976"/>
          </a:xfrm>
          <a:prstGeom prst="rect">
            <a:avLst/>
          </a:prstGeom>
          <a:noFill/>
          <a:ln>
            <a:solidFill>
              <a:schemeClr val="tx1"/>
            </a:solidFill>
          </a:ln>
        </p:spPr>
        <p:txBody>
          <a:bodyPr wrap="square">
            <a:spAutoFit/>
          </a:bodyPr>
          <a:lstStyle/>
          <a:p>
            <a:r>
              <a:rPr lang="en-US" sz="2600" dirty="0"/>
              <a:t>class First{</a:t>
            </a:r>
          </a:p>
          <a:p>
            <a:r>
              <a:rPr lang="en-US" sz="2600" dirty="0"/>
              <a:t>public void display(String msg) {</a:t>
            </a:r>
          </a:p>
          <a:p>
            <a:r>
              <a:rPr lang="en-US" sz="2600" dirty="0" err="1"/>
              <a:t>System.out.print</a:t>
            </a:r>
            <a:r>
              <a:rPr lang="en-US" sz="2600" dirty="0"/>
              <a:t>("["+msg);</a:t>
            </a:r>
          </a:p>
          <a:p>
            <a:r>
              <a:rPr lang="en-US" sz="2600" dirty="0"/>
              <a:t>try {</a:t>
            </a:r>
          </a:p>
          <a:p>
            <a:r>
              <a:rPr lang="en-US" sz="2600" dirty="0" err="1"/>
              <a:t>Thread.sleep</a:t>
            </a:r>
            <a:r>
              <a:rPr lang="en-US" sz="2600" dirty="0"/>
              <a:t>(1000);</a:t>
            </a:r>
          </a:p>
          <a:p>
            <a:r>
              <a:rPr lang="en-US" sz="2600" dirty="0"/>
              <a:t>}</a:t>
            </a:r>
          </a:p>
          <a:p>
            <a:r>
              <a:rPr lang="en-US" sz="2600" dirty="0"/>
              <a:t>catch(</a:t>
            </a:r>
            <a:r>
              <a:rPr lang="en-US" sz="2600" dirty="0" err="1"/>
              <a:t>InterruptedException</a:t>
            </a:r>
            <a:r>
              <a:rPr lang="en-US" sz="2600" dirty="0"/>
              <a:t> e) {</a:t>
            </a:r>
          </a:p>
          <a:p>
            <a:r>
              <a:rPr lang="en-US" sz="2600" dirty="0" err="1"/>
              <a:t>e.printStackTrace</a:t>
            </a:r>
            <a:r>
              <a:rPr lang="en-US" sz="2600" dirty="0"/>
              <a:t>();</a:t>
            </a:r>
          </a:p>
          <a:p>
            <a:r>
              <a:rPr lang="en-US" sz="2600" dirty="0"/>
              <a:t>}</a:t>
            </a:r>
          </a:p>
          <a:p>
            <a:r>
              <a:rPr lang="en-US" sz="2600" dirty="0" err="1"/>
              <a:t>System.out.println</a:t>
            </a:r>
            <a:r>
              <a:rPr lang="en-US" sz="2600" dirty="0"/>
              <a:t>("]");</a:t>
            </a:r>
          </a:p>
          <a:p>
            <a:r>
              <a:rPr lang="en-US" sz="2600" dirty="0"/>
              <a:t>}}</a:t>
            </a:r>
          </a:p>
          <a:p>
            <a:r>
              <a:rPr lang="en-US" sz="2600" dirty="0"/>
              <a:t>class Second extends Thread {</a:t>
            </a:r>
          </a:p>
          <a:p>
            <a:r>
              <a:rPr lang="en-US" sz="2600" dirty="0"/>
              <a:t>String msg;</a:t>
            </a:r>
          </a:p>
          <a:p>
            <a:r>
              <a:rPr lang="en-US" sz="2600" dirty="0"/>
              <a:t>First </a:t>
            </a:r>
            <a:r>
              <a:rPr lang="en-US" sz="2600" dirty="0" err="1"/>
              <a:t>fobj</a:t>
            </a:r>
            <a:r>
              <a:rPr lang="en-US" sz="2600" dirty="0"/>
              <a:t>;</a:t>
            </a:r>
          </a:p>
          <a:p>
            <a:endParaRPr lang="en-US" sz="2600" dirty="0"/>
          </a:p>
        </p:txBody>
      </p:sp>
      <p:sp>
        <p:nvSpPr>
          <p:cNvPr id="7" name="TextBox 6">
            <a:extLst>
              <a:ext uri="{FF2B5EF4-FFF2-40B4-BE49-F238E27FC236}">
                <a16:creationId xmlns:a16="http://schemas.microsoft.com/office/drawing/2014/main" id="{9AE71B42-8A8C-FE26-1D08-E2A06327AA4C}"/>
              </a:ext>
            </a:extLst>
          </p:cNvPr>
          <p:cNvSpPr txBox="1"/>
          <p:nvPr/>
        </p:nvSpPr>
        <p:spPr>
          <a:xfrm>
            <a:off x="5132832" y="152400"/>
            <a:ext cx="6986017" cy="6093976"/>
          </a:xfrm>
          <a:prstGeom prst="rect">
            <a:avLst/>
          </a:prstGeom>
          <a:noFill/>
          <a:ln>
            <a:solidFill>
              <a:schemeClr val="tx1"/>
            </a:solidFill>
          </a:ln>
        </p:spPr>
        <p:txBody>
          <a:bodyPr wrap="square">
            <a:spAutoFit/>
          </a:bodyPr>
          <a:lstStyle/>
          <a:p>
            <a:r>
              <a:rPr lang="en-US" sz="2600" dirty="0"/>
              <a:t>Second (First </a:t>
            </a:r>
            <a:r>
              <a:rPr lang="en-US" sz="2600" dirty="0" err="1"/>
              <a:t>fp,String</a:t>
            </a:r>
            <a:r>
              <a:rPr lang="en-US" sz="2600" dirty="0"/>
              <a:t> str) {</a:t>
            </a:r>
          </a:p>
          <a:p>
            <a:r>
              <a:rPr lang="en-US" sz="2600" dirty="0" err="1"/>
              <a:t>fobj</a:t>
            </a:r>
            <a:r>
              <a:rPr lang="en-US" sz="2600" dirty="0"/>
              <a:t> = </a:t>
            </a:r>
            <a:r>
              <a:rPr lang="en-US" sz="2600" dirty="0" err="1"/>
              <a:t>fp</a:t>
            </a:r>
            <a:r>
              <a:rPr lang="en-US" sz="2600" dirty="0"/>
              <a:t>;</a:t>
            </a:r>
          </a:p>
          <a:p>
            <a:r>
              <a:rPr lang="en-US" sz="2600" dirty="0"/>
              <a:t>msg= str;</a:t>
            </a:r>
          </a:p>
          <a:p>
            <a:r>
              <a:rPr lang="en-US" sz="2600" dirty="0"/>
              <a:t>start();</a:t>
            </a:r>
          </a:p>
          <a:p>
            <a:r>
              <a:rPr lang="en-US" sz="2600" dirty="0"/>
              <a:t>}</a:t>
            </a:r>
          </a:p>
          <a:p>
            <a:r>
              <a:rPr lang="en-US" sz="2600" dirty="0"/>
              <a:t>public void run() {</a:t>
            </a:r>
          </a:p>
          <a:p>
            <a:r>
              <a:rPr lang="en-US" sz="2600" dirty="0" err="1"/>
              <a:t>fobj.display</a:t>
            </a:r>
            <a:r>
              <a:rPr lang="en-US" sz="2600" dirty="0"/>
              <a:t>(msg);</a:t>
            </a:r>
          </a:p>
          <a:p>
            <a:r>
              <a:rPr lang="en-US" sz="2600" dirty="0"/>
              <a:t>} }</a:t>
            </a:r>
          </a:p>
          <a:p>
            <a:r>
              <a:rPr lang="en-US" sz="2600" dirty="0"/>
              <a:t>public class </a:t>
            </a:r>
            <a:r>
              <a:rPr lang="en-US" sz="2600" dirty="0" err="1"/>
              <a:t>notSync</a:t>
            </a:r>
            <a:r>
              <a:rPr lang="en-US" sz="2600" dirty="0"/>
              <a:t>{</a:t>
            </a:r>
          </a:p>
          <a:p>
            <a:r>
              <a:rPr lang="en-US" sz="2600" dirty="0"/>
              <a:t>public static void main (String[] </a:t>
            </a:r>
            <a:r>
              <a:rPr lang="en-US" sz="2600" dirty="0" err="1"/>
              <a:t>args</a:t>
            </a:r>
            <a:r>
              <a:rPr lang="en-US" sz="2600" dirty="0"/>
              <a:t>){</a:t>
            </a:r>
          </a:p>
          <a:p>
            <a:r>
              <a:rPr lang="en-US" sz="2600" dirty="0"/>
              <a:t>First </a:t>
            </a:r>
            <a:r>
              <a:rPr lang="en-US" sz="2600" dirty="0" err="1"/>
              <a:t>fnew</a:t>
            </a:r>
            <a:r>
              <a:rPr lang="en-US" sz="2600" dirty="0"/>
              <a:t> = new First();</a:t>
            </a:r>
          </a:p>
          <a:p>
            <a:r>
              <a:rPr lang="en-US" sz="2600" dirty="0"/>
              <a:t>Second ss = new Second(</a:t>
            </a:r>
            <a:r>
              <a:rPr lang="en-US" sz="2600" dirty="0" err="1"/>
              <a:t>fnew</a:t>
            </a:r>
            <a:r>
              <a:rPr lang="en-US" sz="2600" dirty="0"/>
              <a:t>,"welcome");</a:t>
            </a:r>
          </a:p>
          <a:p>
            <a:r>
              <a:rPr lang="en-US" sz="2600" dirty="0"/>
              <a:t>Second ss1= new Second(</a:t>
            </a:r>
            <a:r>
              <a:rPr lang="en-US" sz="2600" dirty="0" err="1"/>
              <a:t>fnew</a:t>
            </a:r>
            <a:r>
              <a:rPr lang="en-US" sz="2600" dirty="0"/>
              <a:t>,"new");</a:t>
            </a:r>
          </a:p>
          <a:p>
            <a:r>
              <a:rPr lang="en-US" sz="2600" dirty="0"/>
              <a:t>Second ss2= new Second(</a:t>
            </a:r>
            <a:r>
              <a:rPr lang="en-US" sz="2600" dirty="0" err="1"/>
              <a:t>fnew</a:t>
            </a:r>
            <a:r>
              <a:rPr lang="en-US" sz="2600" dirty="0"/>
              <a:t>, "programmer");</a:t>
            </a:r>
          </a:p>
          <a:p>
            <a:r>
              <a:rPr lang="en-US" sz="2600" dirty="0"/>
              <a:t>} }</a:t>
            </a:r>
          </a:p>
        </p:txBody>
      </p:sp>
    </p:spTree>
    <p:extLst>
      <p:ext uri="{BB962C8B-B14F-4D97-AF65-F5344CB8AC3E}">
        <p14:creationId xmlns:p14="http://schemas.microsoft.com/office/powerpoint/2010/main" val="505829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62F870-D95A-2CE7-D724-3790E670003C}"/>
              </a:ext>
            </a:extLst>
          </p:cNvPr>
          <p:cNvSpPr txBox="1"/>
          <p:nvPr/>
        </p:nvSpPr>
        <p:spPr>
          <a:xfrm>
            <a:off x="889000" y="859135"/>
            <a:ext cx="8255000" cy="1815882"/>
          </a:xfrm>
          <a:prstGeom prst="rect">
            <a:avLst/>
          </a:prstGeom>
          <a:noFill/>
        </p:spPr>
        <p:txBody>
          <a:bodyPr wrap="square">
            <a:spAutoFit/>
          </a:bodyPr>
          <a:lstStyle/>
          <a:p>
            <a:r>
              <a:rPr lang="en-US" sz="2800" b="1" dirty="0"/>
              <a:t>Output</a:t>
            </a:r>
          </a:p>
          <a:p>
            <a:r>
              <a:rPr lang="en-US" sz="2800" b="1" dirty="0"/>
              <a:t>[welcome[programmer[new]</a:t>
            </a:r>
          </a:p>
          <a:p>
            <a:r>
              <a:rPr lang="en-US" sz="2800" b="1" dirty="0"/>
              <a:t>]</a:t>
            </a:r>
          </a:p>
          <a:p>
            <a:r>
              <a:rPr lang="en-US" sz="2800" b="1" dirty="0"/>
              <a:t>]</a:t>
            </a:r>
          </a:p>
        </p:txBody>
      </p:sp>
    </p:spTree>
    <p:extLst>
      <p:ext uri="{BB962C8B-B14F-4D97-AF65-F5344CB8AC3E}">
        <p14:creationId xmlns:p14="http://schemas.microsoft.com/office/powerpoint/2010/main" val="1192563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30</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00740"/>
            <a:ext cx="12112978" cy="5509200"/>
          </a:xfrm>
          <a:prstGeom prst="rect">
            <a:avLst/>
          </a:prstGeom>
          <a:noFill/>
          <a:ln>
            <a:solidFill>
              <a:schemeClr val="tx1"/>
            </a:solidFill>
          </a:ln>
        </p:spPr>
        <p:txBody>
          <a:bodyPr wrap="square">
            <a:spAutoFit/>
          </a:bodyPr>
          <a:lstStyle/>
          <a:p>
            <a:pPr algn="just"/>
            <a:r>
              <a:rPr lang="en-IN" altLang="en-US" sz="3200" dirty="0"/>
              <a:t>						 	   Synchronized Keyword</a:t>
            </a:r>
            <a:endParaRPr lang="en-US" altLang="en-US" sz="3200" dirty="0"/>
          </a:p>
          <a:p>
            <a:pPr marL="342900" lvl="1" indent="-342900" algn="just" defTabSz="447675">
              <a:buFont typeface="Arial" panose="020B0604020202020204" pitchFamily="34" charset="0"/>
              <a:buChar char="•"/>
            </a:pPr>
            <a:r>
              <a:rPr lang="en-US" sz="3200" dirty="0"/>
              <a:t>To synchronize above program, we must synchronize access to the shared display() method, making it available to only one thread at a time. This is done by using keyword synchronized with display() method. </a:t>
            </a:r>
          </a:p>
          <a:p>
            <a:pPr marL="342900" lvl="1" indent="-342900" algn="just" defTabSz="447675">
              <a:buFont typeface="Arial" panose="020B0604020202020204" pitchFamily="34" charset="0"/>
              <a:buChar char="•"/>
            </a:pPr>
            <a:r>
              <a:rPr lang="en-US" sz="3200" dirty="0"/>
              <a:t>With a synchronized method, the lock is obtained for the duration of the entire method. </a:t>
            </a:r>
          </a:p>
          <a:p>
            <a:pPr marL="342900" lvl="1" indent="-342900" algn="just" defTabSz="447675">
              <a:buFont typeface="Arial" panose="020B0604020202020204" pitchFamily="34" charset="0"/>
              <a:buChar char="•"/>
            </a:pPr>
            <a:r>
              <a:rPr lang="en-US" sz="3200" dirty="0"/>
              <a:t>So if you want to lock the whole object, use a synchronized method </a:t>
            </a:r>
          </a:p>
          <a:p>
            <a:pPr marL="0" lvl="1" algn="just" defTabSz="447675"/>
            <a:r>
              <a:rPr lang="en-US" sz="3200" dirty="0"/>
              <a:t>				synchronized void display (String msg) </a:t>
            </a:r>
          </a:p>
          <a:p>
            <a:pPr marL="0" lvl="1" algn="just" defTabSz="447675"/>
            <a:r>
              <a:rPr lang="en-US" sz="3200" dirty="0"/>
              <a:t>     </a:t>
            </a:r>
            <a:r>
              <a:rPr lang="en-US" sz="3200" dirty="0" err="1"/>
              <a:t>eg</a:t>
            </a:r>
            <a:r>
              <a:rPr lang="en-US" sz="3200" dirty="0"/>
              <a:t>:   implementation of synchronized method</a:t>
            </a:r>
          </a:p>
          <a:p>
            <a:pPr marL="342900" lvl="1" indent="-342900" algn="just" defTabSz="447675">
              <a:buFont typeface="Arial" panose="020B0604020202020204" pitchFamily="34" charset="0"/>
              <a:buChar char="•"/>
            </a:pPr>
            <a:endParaRPr lang="en-US" sz="3200" dirty="0"/>
          </a:p>
        </p:txBody>
      </p:sp>
    </p:spTree>
    <p:extLst>
      <p:ext uri="{BB962C8B-B14F-4D97-AF65-F5344CB8AC3E}">
        <p14:creationId xmlns:p14="http://schemas.microsoft.com/office/powerpoint/2010/main" val="2941820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31</a:t>
            </a:fld>
            <a:endParaRPr lang="en-US" altLang="en-US" sz="1800"/>
          </a:p>
        </p:txBody>
      </p:sp>
      <p:sp>
        <p:nvSpPr>
          <p:cNvPr id="3" name="TextBox 2">
            <a:extLst>
              <a:ext uri="{FF2B5EF4-FFF2-40B4-BE49-F238E27FC236}">
                <a16:creationId xmlns:a16="http://schemas.microsoft.com/office/drawing/2014/main" id="{787A0677-46D1-B4F0-4F03-1DA60D46C60D}"/>
              </a:ext>
            </a:extLst>
          </p:cNvPr>
          <p:cNvSpPr txBox="1"/>
          <p:nvPr/>
        </p:nvSpPr>
        <p:spPr>
          <a:xfrm>
            <a:off x="298175" y="49698"/>
            <a:ext cx="11499574" cy="6001643"/>
          </a:xfrm>
          <a:prstGeom prst="rect">
            <a:avLst/>
          </a:prstGeom>
          <a:noFill/>
          <a:ln>
            <a:solidFill>
              <a:schemeClr val="tx1"/>
            </a:solidFill>
          </a:ln>
        </p:spPr>
        <p:txBody>
          <a:bodyPr wrap="square">
            <a:spAutoFit/>
          </a:bodyPr>
          <a:lstStyle/>
          <a:p>
            <a:r>
              <a:rPr lang="en-US" sz="3200" dirty="0"/>
              <a:t>class First{</a:t>
            </a:r>
          </a:p>
          <a:p>
            <a:r>
              <a:rPr lang="en-US" sz="3200" dirty="0">
                <a:solidFill>
                  <a:srgbClr val="FF0000"/>
                </a:solidFill>
              </a:rPr>
              <a:t>synchronized </a:t>
            </a:r>
            <a:r>
              <a:rPr lang="en-US" sz="3200" dirty="0"/>
              <a:t>public void display(String msg) {</a:t>
            </a:r>
          </a:p>
          <a:p>
            <a:r>
              <a:rPr lang="en-US" sz="3200" dirty="0" err="1"/>
              <a:t>System.out.print</a:t>
            </a:r>
            <a:r>
              <a:rPr lang="en-US" sz="3200" dirty="0"/>
              <a:t>("["+msg);</a:t>
            </a:r>
          </a:p>
          <a:p>
            <a:r>
              <a:rPr lang="en-US" sz="3200" dirty="0"/>
              <a:t>try {</a:t>
            </a:r>
          </a:p>
          <a:p>
            <a:r>
              <a:rPr lang="en-US" sz="3200" dirty="0" err="1"/>
              <a:t>Thread.sleep</a:t>
            </a:r>
            <a:r>
              <a:rPr lang="en-US" sz="3200" dirty="0"/>
              <a:t>(500);</a:t>
            </a:r>
          </a:p>
          <a:p>
            <a:r>
              <a:rPr lang="en-US" sz="3200" dirty="0"/>
              <a:t>}</a:t>
            </a:r>
          </a:p>
          <a:p>
            <a:r>
              <a:rPr lang="en-US" sz="3200" dirty="0"/>
              <a:t>catch(</a:t>
            </a:r>
            <a:r>
              <a:rPr lang="en-US" sz="3200" dirty="0" err="1"/>
              <a:t>InterruptedException</a:t>
            </a:r>
            <a:r>
              <a:rPr lang="en-US" sz="3200" dirty="0"/>
              <a:t> e) {</a:t>
            </a:r>
          </a:p>
          <a:p>
            <a:r>
              <a:rPr lang="en-US" sz="3200" dirty="0" err="1"/>
              <a:t>e.printStackTrace</a:t>
            </a:r>
            <a:r>
              <a:rPr lang="en-US" sz="3200" dirty="0"/>
              <a:t>();</a:t>
            </a:r>
          </a:p>
          <a:p>
            <a:r>
              <a:rPr lang="en-US" sz="3200" dirty="0"/>
              <a:t>}</a:t>
            </a:r>
          </a:p>
          <a:p>
            <a:r>
              <a:rPr lang="en-US" sz="3200" dirty="0" err="1"/>
              <a:t>System.out.println</a:t>
            </a:r>
            <a:r>
              <a:rPr lang="en-US" sz="3200" dirty="0"/>
              <a:t>("]");</a:t>
            </a:r>
          </a:p>
          <a:p>
            <a:r>
              <a:rPr lang="en-US" sz="3200" dirty="0"/>
              <a:t>}}</a:t>
            </a:r>
          </a:p>
          <a:p>
            <a:endParaRPr lang="en-US" sz="3200" dirty="0"/>
          </a:p>
        </p:txBody>
      </p:sp>
    </p:spTree>
    <p:extLst>
      <p:ext uri="{BB962C8B-B14F-4D97-AF65-F5344CB8AC3E}">
        <p14:creationId xmlns:p14="http://schemas.microsoft.com/office/powerpoint/2010/main" val="32210709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32</a:t>
            </a:fld>
            <a:endParaRPr lang="en-US" altLang="en-US" sz="1800"/>
          </a:p>
        </p:txBody>
      </p:sp>
      <p:sp>
        <p:nvSpPr>
          <p:cNvPr id="3" name="TextBox 2">
            <a:extLst>
              <a:ext uri="{FF2B5EF4-FFF2-40B4-BE49-F238E27FC236}">
                <a16:creationId xmlns:a16="http://schemas.microsoft.com/office/drawing/2014/main" id="{787A0677-46D1-B4F0-4F03-1DA60D46C60D}"/>
              </a:ext>
            </a:extLst>
          </p:cNvPr>
          <p:cNvSpPr txBox="1"/>
          <p:nvPr/>
        </p:nvSpPr>
        <p:spPr>
          <a:xfrm>
            <a:off x="298175" y="49698"/>
            <a:ext cx="11499574" cy="6001643"/>
          </a:xfrm>
          <a:prstGeom prst="rect">
            <a:avLst/>
          </a:prstGeom>
          <a:noFill/>
          <a:ln>
            <a:solidFill>
              <a:schemeClr val="tx1"/>
            </a:solidFill>
          </a:ln>
        </p:spPr>
        <p:txBody>
          <a:bodyPr wrap="square">
            <a:spAutoFit/>
          </a:bodyPr>
          <a:lstStyle/>
          <a:p>
            <a:r>
              <a:rPr lang="en-US" sz="3200" dirty="0"/>
              <a:t>class Second extends Thread {</a:t>
            </a:r>
          </a:p>
          <a:p>
            <a:r>
              <a:rPr lang="en-US" sz="3200" dirty="0"/>
              <a:t>String msg;</a:t>
            </a:r>
          </a:p>
          <a:p>
            <a:r>
              <a:rPr lang="en-US" sz="3200" dirty="0"/>
              <a:t>First </a:t>
            </a:r>
            <a:r>
              <a:rPr lang="en-US" sz="3200" dirty="0" err="1"/>
              <a:t>fobj</a:t>
            </a:r>
            <a:r>
              <a:rPr lang="en-US" sz="3200" dirty="0"/>
              <a:t>;</a:t>
            </a:r>
          </a:p>
          <a:p>
            <a:r>
              <a:rPr lang="en-US" sz="3200" dirty="0"/>
              <a:t>Second (First </a:t>
            </a:r>
            <a:r>
              <a:rPr lang="en-US" sz="3200" dirty="0" err="1"/>
              <a:t>fp,String</a:t>
            </a:r>
            <a:r>
              <a:rPr lang="en-US" sz="3200" dirty="0"/>
              <a:t> str) {</a:t>
            </a:r>
          </a:p>
          <a:p>
            <a:r>
              <a:rPr lang="en-US" sz="3200" dirty="0" err="1"/>
              <a:t>fobj</a:t>
            </a:r>
            <a:r>
              <a:rPr lang="en-US" sz="3200" dirty="0"/>
              <a:t> = </a:t>
            </a:r>
            <a:r>
              <a:rPr lang="en-US" sz="3200" dirty="0" err="1"/>
              <a:t>fp</a:t>
            </a:r>
            <a:r>
              <a:rPr lang="en-US" sz="3200" dirty="0"/>
              <a:t>;</a:t>
            </a:r>
          </a:p>
          <a:p>
            <a:r>
              <a:rPr lang="en-US" sz="3200" dirty="0"/>
              <a:t>msg= str;</a:t>
            </a:r>
          </a:p>
          <a:p>
            <a:r>
              <a:rPr lang="en-US" sz="3200" dirty="0"/>
              <a:t>start();</a:t>
            </a:r>
          </a:p>
          <a:p>
            <a:r>
              <a:rPr lang="en-US" sz="3200" dirty="0"/>
              <a:t>}</a:t>
            </a:r>
          </a:p>
          <a:p>
            <a:r>
              <a:rPr lang="en-US" sz="3200" dirty="0"/>
              <a:t>public void run() {</a:t>
            </a:r>
          </a:p>
          <a:p>
            <a:r>
              <a:rPr lang="en-US" sz="3200" dirty="0" err="1"/>
              <a:t>fobj.display</a:t>
            </a:r>
            <a:r>
              <a:rPr lang="en-US" sz="3200" dirty="0"/>
              <a:t>(msg);</a:t>
            </a:r>
          </a:p>
          <a:p>
            <a:r>
              <a:rPr lang="en-US" sz="3200" dirty="0"/>
              <a:t>} }</a:t>
            </a:r>
          </a:p>
          <a:p>
            <a:endParaRPr lang="en-US" sz="3200" dirty="0"/>
          </a:p>
        </p:txBody>
      </p:sp>
    </p:spTree>
    <p:extLst>
      <p:ext uri="{BB962C8B-B14F-4D97-AF65-F5344CB8AC3E}">
        <p14:creationId xmlns:p14="http://schemas.microsoft.com/office/powerpoint/2010/main" val="679836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33</a:t>
            </a:fld>
            <a:endParaRPr lang="en-US" altLang="en-US" sz="1800"/>
          </a:p>
        </p:txBody>
      </p:sp>
      <p:sp>
        <p:nvSpPr>
          <p:cNvPr id="3" name="TextBox 2">
            <a:extLst>
              <a:ext uri="{FF2B5EF4-FFF2-40B4-BE49-F238E27FC236}">
                <a16:creationId xmlns:a16="http://schemas.microsoft.com/office/drawing/2014/main" id="{787A0677-46D1-B4F0-4F03-1DA60D46C60D}"/>
              </a:ext>
            </a:extLst>
          </p:cNvPr>
          <p:cNvSpPr txBox="1"/>
          <p:nvPr/>
        </p:nvSpPr>
        <p:spPr>
          <a:xfrm>
            <a:off x="506896" y="159026"/>
            <a:ext cx="11171582" cy="6124754"/>
          </a:xfrm>
          <a:prstGeom prst="rect">
            <a:avLst/>
          </a:prstGeom>
          <a:noFill/>
          <a:ln>
            <a:solidFill>
              <a:schemeClr val="tx1"/>
            </a:solidFill>
          </a:ln>
        </p:spPr>
        <p:txBody>
          <a:bodyPr wrap="square">
            <a:spAutoFit/>
          </a:bodyPr>
          <a:lstStyle/>
          <a:p>
            <a:r>
              <a:rPr lang="en-US" sz="2800" dirty="0"/>
              <a:t>public class </a:t>
            </a:r>
            <a:r>
              <a:rPr lang="en-US" sz="2800" dirty="0" err="1"/>
              <a:t>MyThreadDemo</a:t>
            </a:r>
            <a:endParaRPr lang="en-US" sz="2800" dirty="0"/>
          </a:p>
          <a:p>
            <a:r>
              <a:rPr lang="en-US" sz="2800" dirty="0"/>
              <a:t>{</a:t>
            </a:r>
          </a:p>
          <a:p>
            <a:r>
              <a:rPr lang="en-US" sz="2800" dirty="0"/>
              <a:t>public static void main (String[] </a:t>
            </a:r>
            <a:r>
              <a:rPr lang="en-US" sz="2800" dirty="0" err="1"/>
              <a:t>args</a:t>
            </a:r>
            <a:r>
              <a:rPr lang="en-US" sz="2800" dirty="0"/>
              <a:t>)</a:t>
            </a:r>
          </a:p>
          <a:p>
            <a:r>
              <a:rPr lang="en-US" sz="2800" dirty="0"/>
              <a:t>{</a:t>
            </a:r>
          </a:p>
          <a:p>
            <a:r>
              <a:rPr lang="en-US" sz="2800" dirty="0"/>
              <a:t>First </a:t>
            </a:r>
            <a:r>
              <a:rPr lang="en-US" sz="2800" dirty="0" err="1"/>
              <a:t>fnew</a:t>
            </a:r>
            <a:r>
              <a:rPr lang="en-US" sz="2800" dirty="0"/>
              <a:t> = new First();</a:t>
            </a:r>
          </a:p>
          <a:p>
            <a:r>
              <a:rPr lang="en-US" sz="2800" dirty="0"/>
              <a:t>Second ss = new Second(</a:t>
            </a:r>
            <a:r>
              <a:rPr lang="en-US" sz="2800" dirty="0" err="1"/>
              <a:t>fnew</a:t>
            </a:r>
            <a:r>
              <a:rPr lang="en-US" sz="2800" dirty="0"/>
              <a:t>,"welcome");</a:t>
            </a:r>
          </a:p>
          <a:p>
            <a:r>
              <a:rPr lang="en-US" sz="2800" dirty="0"/>
              <a:t>Second ss1= new Second(</a:t>
            </a:r>
            <a:r>
              <a:rPr lang="en-US" sz="2800" dirty="0" err="1"/>
              <a:t>fnew</a:t>
            </a:r>
            <a:r>
              <a:rPr lang="en-US" sz="2800" dirty="0"/>
              <a:t>,"new");</a:t>
            </a:r>
          </a:p>
          <a:p>
            <a:r>
              <a:rPr lang="en-US" sz="2800" dirty="0"/>
              <a:t>Second ss2= new Second(</a:t>
            </a:r>
            <a:r>
              <a:rPr lang="en-US" sz="2800" dirty="0" err="1"/>
              <a:t>fnew</a:t>
            </a:r>
            <a:r>
              <a:rPr lang="en-US" sz="2800" dirty="0"/>
              <a:t>, "programmer");</a:t>
            </a:r>
          </a:p>
          <a:p>
            <a:r>
              <a:rPr lang="en-US" sz="2800" dirty="0"/>
              <a:t>} }</a:t>
            </a:r>
          </a:p>
          <a:p>
            <a:endParaRPr lang="en-US" sz="2800" dirty="0"/>
          </a:p>
          <a:p>
            <a:r>
              <a:rPr lang="en-US" sz="2800" dirty="0"/>
              <a:t>Output</a:t>
            </a:r>
          </a:p>
          <a:p>
            <a:r>
              <a:rPr lang="en-US" sz="2800" dirty="0"/>
              <a:t>[welcome]</a:t>
            </a:r>
          </a:p>
          <a:p>
            <a:r>
              <a:rPr lang="en-US" sz="2800" dirty="0"/>
              <a:t>[new]</a:t>
            </a:r>
          </a:p>
          <a:p>
            <a:r>
              <a:rPr lang="en-US" sz="2800" dirty="0"/>
              <a:t>[programmer]</a:t>
            </a:r>
          </a:p>
        </p:txBody>
      </p:sp>
    </p:spTree>
    <p:extLst>
      <p:ext uri="{BB962C8B-B14F-4D97-AF65-F5344CB8AC3E}">
        <p14:creationId xmlns:p14="http://schemas.microsoft.com/office/powerpoint/2010/main" val="3541047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34</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1288"/>
            <a:ext cx="12112978" cy="6370975"/>
          </a:xfrm>
          <a:prstGeom prst="rect">
            <a:avLst/>
          </a:prstGeom>
          <a:noFill/>
          <a:ln>
            <a:solidFill>
              <a:schemeClr val="tx1"/>
            </a:solidFill>
          </a:ln>
        </p:spPr>
        <p:txBody>
          <a:bodyPr wrap="square">
            <a:spAutoFit/>
          </a:bodyPr>
          <a:lstStyle/>
          <a:p>
            <a:pPr marL="0" lvl="1" algn="just" defTabSz="447675"/>
            <a:r>
              <a:rPr lang="en-US" sz="2800" dirty="0"/>
              <a:t>					         </a:t>
            </a:r>
            <a:r>
              <a:rPr lang="en-IN" altLang="en-US" sz="3600" dirty="0"/>
              <a:t>Using Synchronized block</a:t>
            </a:r>
          </a:p>
          <a:p>
            <a:pPr marL="457200" indent="-457200" algn="just">
              <a:buFont typeface="Arial" panose="020B0604020202020204" pitchFamily="34" charset="0"/>
              <a:buChar char="•"/>
            </a:pPr>
            <a:r>
              <a:rPr lang="en-IN" altLang="en-US" sz="3200" dirty="0"/>
              <a:t>If we want to synchronize access to an object of a class or only a part of a method to be synchronized then we can use synchronized block for it. </a:t>
            </a:r>
          </a:p>
          <a:p>
            <a:pPr marL="457200" indent="-457200" algn="just">
              <a:buFont typeface="Arial" panose="020B0604020202020204" pitchFamily="34" charset="0"/>
              <a:buChar char="•"/>
            </a:pPr>
            <a:r>
              <a:rPr lang="en-IN" altLang="en-US" sz="3200" dirty="0"/>
              <a:t>It is capable to make any part of the object and method synchronized. </a:t>
            </a:r>
          </a:p>
          <a:p>
            <a:pPr marL="457200" indent="-457200" algn="just">
              <a:buFont typeface="Arial" panose="020B0604020202020204" pitchFamily="34" charset="0"/>
              <a:buChar char="•"/>
            </a:pPr>
            <a:r>
              <a:rPr lang="en-IN" altLang="en-US" sz="3200" dirty="0"/>
              <a:t>With synchronized blocks we can specify exactly when the lock is needed. If you want to keep other parts of the object accessible to other threads, use synchronized block. </a:t>
            </a:r>
          </a:p>
          <a:p>
            <a:pPr algn="just"/>
            <a:r>
              <a:rPr lang="en-IN" altLang="en-US" sz="3200" dirty="0" err="1"/>
              <a:t>Eg</a:t>
            </a:r>
            <a:r>
              <a:rPr lang="en-IN" altLang="en-US" sz="3200" dirty="0"/>
              <a:t>: </a:t>
            </a:r>
          </a:p>
          <a:p>
            <a:pPr lvl="1" algn="just"/>
            <a:r>
              <a:rPr lang="en-IN" altLang="en-US" sz="2800" dirty="0"/>
              <a:t>In this example, we are using synchronized block that will make the display method available for single thread at a time.</a:t>
            </a:r>
          </a:p>
          <a:p>
            <a:pPr marL="0" lvl="1" algn="just" defTabSz="447675"/>
            <a:endParaRPr lang="en-US" sz="2800" dirty="0"/>
          </a:p>
        </p:txBody>
      </p:sp>
    </p:spTree>
    <p:extLst>
      <p:ext uri="{BB962C8B-B14F-4D97-AF65-F5344CB8AC3E}">
        <p14:creationId xmlns:p14="http://schemas.microsoft.com/office/powerpoint/2010/main" val="11732042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35</a:t>
            </a:fld>
            <a:endParaRPr lang="en-US" altLang="en-US" sz="1800"/>
          </a:p>
        </p:txBody>
      </p:sp>
      <p:sp>
        <p:nvSpPr>
          <p:cNvPr id="3" name="TextBox 2">
            <a:extLst>
              <a:ext uri="{FF2B5EF4-FFF2-40B4-BE49-F238E27FC236}">
                <a16:creationId xmlns:a16="http://schemas.microsoft.com/office/drawing/2014/main" id="{787A0677-46D1-B4F0-4F03-1DA60D46C60D}"/>
              </a:ext>
            </a:extLst>
          </p:cNvPr>
          <p:cNvSpPr txBox="1"/>
          <p:nvPr/>
        </p:nvSpPr>
        <p:spPr>
          <a:xfrm>
            <a:off x="298175" y="49698"/>
            <a:ext cx="11499574" cy="6001643"/>
          </a:xfrm>
          <a:prstGeom prst="rect">
            <a:avLst/>
          </a:prstGeom>
          <a:noFill/>
          <a:ln>
            <a:solidFill>
              <a:schemeClr val="tx1"/>
            </a:solidFill>
          </a:ln>
        </p:spPr>
        <p:txBody>
          <a:bodyPr wrap="square">
            <a:spAutoFit/>
          </a:bodyPr>
          <a:lstStyle/>
          <a:p>
            <a:r>
              <a:rPr lang="en-US" sz="3200" dirty="0"/>
              <a:t>class First{</a:t>
            </a:r>
          </a:p>
          <a:p>
            <a:r>
              <a:rPr lang="en-US" sz="3200" dirty="0"/>
              <a:t>public void display(String msg) {</a:t>
            </a:r>
          </a:p>
          <a:p>
            <a:r>
              <a:rPr lang="en-US" sz="3200" dirty="0" err="1"/>
              <a:t>System.out.print</a:t>
            </a:r>
            <a:r>
              <a:rPr lang="en-US" sz="3200" dirty="0"/>
              <a:t>("["+msg);</a:t>
            </a:r>
          </a:p>
          <a:p>
            <a:r>
              <a:rPr lang="en-US" sz="3200" dirty="0"/>
              <a:t>try {</a:t>
            </a:r>
          </a:p>
          <a:p>
            <a:r>
              <a:rPr lang="en-US" sz="3200" dirty="0" err="1"/>
              <a:t>Thread.sleep</a:t>
            </a:r>
            <a:r>
              <a:rPr lang="en-US" sz="3200" dirty="0"/>
              <a:t>(1000);</a:t>
            </a:r>
          </a:p>
          <a:p>
            <a:r>
              <a:rPr lang="en-US" sz="3200" dirty="0"/>
              <a:t>}</a:t>
            </a:r>
          </a:p>
          <a:p>
            <a:r>
              <a:rPr lang="en-US" sz="3200" dirty="0"/>
              <a:t>catch(</a:t>
            </a:r>
            <a:r>
              <a:rPr lang="en-US" sz="3200" dirty="0" err="1"/>
              <a:t>InterruptedException</a:t>
            </a:r>
            <a:r>
              <a:rPr lang="en-US" sz="3200" dirty="0"/>
              <a:t> e) {</a:t>
            </a:r>
          </a:p>
          <a:p>
            <a:r>
              <a:rPr lang="en-US" sz="3200" dirty="0" err="1"/>
              <a:t>e.printStackTrace</a:t>
            </a:r>
            <a:r>
              <a:rPr lang="en-US" sz="3200" dirty="0"/>
              <a:t>();</a:t>
            </a:r>
          </a:p>
          <a:p>
            <a:r>
              <a:rPr lang="en-US" sz="3200" dirty="0"/>
              <a:t>}</a:t>
            </a:r>
          </a:p>
          <a:p>
            <a:r>
              <a:rPr lang="en-US" sz="3200" dirty="0" err="1"/>
              <a:t>System.out.println</a:t>
            </a:r>
            <a:r>
              <a:rPr lang="en-US" sz="3200" dirty="0"/>
              <a:t>("]");</a:t>
            </a:r>
          </a:p>
          <a:p>
            <a:r>
              <a:rPr lang="en-US" sz="3200" dirty="0"/>
              <a:t>}}</a:t>
            </a:r>
          </a:p>
          <a:p>
            <a:endParaRPr lang="en-US" sz="3200" dirty="0"/>
          </a:p>
        </p:txBody>
      </p:sp>
    </p:spTree>
    <p:extLst>
      <p:ext uri="{BB962C8B-B14F-4D97-AF65-F5344CB8AC3E}">
        <p14:creationId xmlns:p14="http://schemas.microsoft.com/office/powerpoint/2010/main" val="28101450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36</a:t>
            </a:fld>
            <a:endParaRPr lang="en-US" altLang="en-US" sz="1800"/>
          </a:p>
        </p:txBody>
      </p:sp>
      <p:sp>
        <p:nvSpPr>
          <p:cNvPr id="3" name="TextBox 2">
            <a:extLst>
              <a:ext uri="{FF2B5EF4-FFF2-40B4-BE49-F238E27FC236}">
                <a16:creationId xmlns:a16="http://schemas.microsoft.com/office/drawing/2014/main" id="{787A0677-46D1-B4F0-4F03-1DA60D46C60D}"/>
              </a:ext>
            </a:extLst>
          </p:cNvPr>
          <p:cNvSpPr txBox="1"/>
          <p:nvPr/>
        </p:nvSpPr>
        <p:spPr>
          <a:xfrm>
            <a:off x="298175" y="49698"/>
            <a:ext cx="11499574" cy="6494085"/>
          </a:xfrm>
          <a:prstGeom prst="rect">
            <a:avLst/>
          </a:prstGeom>
          <a:noFill/>
          <a:ln>
            <a:solidFill>
              <a:schemeClr val="tx1"/>
            </a:solidFill>
          </a:ln>
        </p:spPr>
        <p:txBody>
          <a:bodyPr wrap="square">
            <a:spAutoFit/>
          </a:bodyPr>
          <a:lstStyle/>
          <a:p>
            <a:r>
              <a:rPr lang="en-US" sz="3200" dirty="0"/>
              <a:t>class Second extends Thread {</a:t>
            </a:r>
          </a:p>
          <a:p>
            <a:r>
              <a:rPr lang="en-US" sz="3200" dirty="0"/>
              <a:t>String msg;</a:t>
            </a:r>
          </a:p>
          <a:p>
            <a:r>
              <a:rPr lang="en-US" sz="3200" dirty="0"/>
              <a:t>First </a:t>
            </a:r>
            <a:r>
              <a:rPr lang="en-US" sz="3200" dirty="0" err="1"/>
              <a:t>fobj</a:t>
            </a:r>
            <a:r>
              <a:rPr lang="en-US" sz="3200" dirty="0"/>
              <a:t>;</a:t>
            </a:r>
          </a:p>
          <a:p>
            <a:r>
              <a:rPr lang="en-US" sz="3200" dirty="0"/>
              <a:t>Second (First </a:t>
            </a:r>
            <a:r>
              <a:rPr lang="en-US" sz="3200" dirty="0" err="1"/>
              <a:t>fp,String</a:t>
            </a:r>
            <a:r>
              <a:rPr lang="en-US" sz="3200" dirty="0"/>
              <a:t> str) {</a:t>
            </a:r>
          </a:p>
          <a:p>
            <a:r>
              <a:rPr lang="en-US" sz="3200" dirty="0" err="1"/>
              <a:t>fobj</a:t>
            </a:r>
            <a:r>
              <a:rPr lang="en-US" sz="3200" dirty="0"/>
              <a:t> = </a:t>
            </a:r>
            <a:r>
              <a:rPr lang="en-US" sz="3200" dirty="0" err="1"/>
              <a:t>fp</a:t>
            </a:r>
            <a:r>
              <a:rPr lang="en-US" sz="3200" dirty="0"/>
              <a:t>;</a:t>
            </a:r>
          </a:p>
          <a:p>
            <a:r>
              <a:rPr lang="en-US" sz="3200" dirty="0"/>
              <a:t>msg= str;</a:t>
            </a:r>
          </a:p>
          <a:p>
            <a:r>
              <a:rPr lang="en-US" sz="3200" dirty="0"/>
              <a:t>start();</a:t>
            </a:r>
          </a:p>
          <a:p>
            <a:r>
              <a:rPr lang="en-US" sz="3200" dirty="0"/>
              <a:t>}</a:t>
            </a:r>
          </a:p>
          <a:p>
            <a:r>
              <a:rPr lang="en-US" sz="3200" dirty="0"/>
              <a:t>public void run() {</a:t>
            </a:r>
          </a:p>
          <a:p>
            <a:r>
              <a:rPr lang="en-US" sz="3200" dirty="0">
                <a:solidFill>
                  <a:srgbClr val="FF0000"/>
                </a:solidFill>
              </a:rPr>
              <a:t>synchronized(</a:t>
            </a:r>
            <a:r>
              <a:rPr lang="en-US" sz="3200" dirty="0" err="1">
                <a:solidFill>
                  <a:srgbClr val="FF0000"/>
                </a:solidFill>
              </a:rPr>
              <a:t>fobj</a:t>
            </a:r>
            <a:r>
              <a:rPr lang="en-US" sz="3200" dirty="0">
                <a:solidFill>
                  <a:srgbClr val="FF0000"/>
                </a:solidFill>
              </a:rPr>
              <a:t>)//</a:t>
            </a:r>
            <a:r>
              <a:rPr lang="en-US" sz="3200" dirty="0" err="1">
                <a:solidFill>
                  <a:srgbClr val="FF0000"/>
                </a:solidFill>
              </a:rPr>
              <a:t>sychronized</a:t>
            </a:r>
            <a:r>
              <a:rPr lang="en-US" sz="3200" dirty="0">
                <a:solidFill>
                  <a:srgbClr val="FF0000"/>
                </a:solidFill>
              </a:rPr>
              <a:t> block</a:t>
            </a:r>
          </a:p>
          <a:p>
            <a:r>
              <a:rPr lang="en-US" sz="3200" dirty="0"/>
              <a:t>   </a:t>
            </a:r>
            <a:r>
              <a:rPr lang="en-US" sz="3200" dirty="0">
                <a:solidFill>
                  <a:srgbClr val="FF0000"/>
                </a:solidFill>
              </a:rPr>
              <a:t>{</a:t>
            </a:r>
          </a:p>
          <a:p>
            <a:r>
              <a:rPr lang="en-US" sz="3200" dirty="0"/>
              <a:t>	</a:t>
            </a:r>
            <a:r>
              <a:rPr lang="en-US" sz="3200" dirty="0" err="1"/>
              <a:t>fobj.display</a:t>
            </a:r>
            <a:r>
              <a:rPr lang="en-US" sz="3200" dirty="0"/>
              <a:t>(msg);</a:t>
            </a:r>
          </a:p>
          <a:p>
            <a:r>
              <a:rPr lang="en-US" sz="3200" dirty="0"/>
              <a:t>   </a:t>
            </a:r>
            <a:r>
              <a:rPr lang="en-US" sz="3200" dirty="0">
                <a:solidFill>
                  <a:srgbClr val="FF0000"/>
                </a:solidFill>
              </a:rPr>
              <a:t>}</a:t>
            </a:r>
            <a:r>
              <a:rPr lang="en-US" sz="3200" dirty="0"/>
              <a:t> }}</a:t>
            </a:r>
          </a:p>
        </p:txBody>
      </p:sp>
    </p:spTree>
    <p:extLst>
      <p:ext uri="{BB962C8B-B14F-4D97-AF65-F5344CB8AC3E}">
        <p14:creationId xmlns:p14="http://schemas.microsoft.com/office/powerpoint/2010/main" val="9572028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37</a:t>
            </a:fld>
            <a:endParaRPr lang="en-US" altLang="en-US" sz="1800"/>
          </a:p>
        </p:txBody>
      </p:sp>
      <p:sp>
        <p:nvSpPr>
          <p:cNvPr id="3" name="TextBox 2">
            <a:extLst>
              <a:ext uri="{FF2B5EF4-FFF2-40B4-BE49-F238E27FC236}">
                <a16:creationId xmlns:a16="http://schemas.microsoft.com/office/drawing/2014/main" id="{787A0677-46D1-B4F0-4F03-1DA60D46C60D}"/>
              </a:ext>
            </a:extLst>
          </p:cNvPr>
          <p:cNvSpPr txBox="1"/>
          <p:nvPr/>
        </p:nvSpPr>
        <p:spPr>
          <a:xfrm>
            <a:off x="506896" y="159026"/>
            <a:ext cx="11171582" cy="6124754"/>
          </a:xfrm>
          <a:prstGeom prst="rect">
            <a:avLst/>
          </a:prstGeom>
          <a:noFill/>
          <a:ln>
            <a:solidFill>
              <a:schemeClr val="tx1"/>
            </a:solidFill>
          </a:ln>
        </p:spPr>
        <p:txBody>
          <a:bodyPr wrap="square">
            <a:spAutoFit/>
          </a:bodyPr>
          <a:lstStyle/>
          <a:p>
            <a:r>
              <a:rPr lang="en-US" sz="2800" dirty="0"/>
              <a:t>public class </a:t>
            </a:r>
            <a:r>
              <a:rPr lang="en-US" sz="2800" dirty="0" err="1"/>
              <a:t>SyncBlock</a:t>
            </a:r>
            <a:endParaRPr lang="en-US" sz="2800" dirty="0"/>
          </a:p>
          <a:p>
            <a:r>
              <a:rPr lang="en-US" sz="2800" dirty="0"/>
              <a:t>{</a:t>
            </a:r>
          </a:p>
          <a:p>
            <a:r>
              <a:rPr lang="en-US" sz="2800" dirty="0"/>
              <a:t>public static void main (String[] </a:t>
            </a:r>
            <a:r>
              <a:rPr lang="en-US" sz="2800" dirty="0" err="1"/>
              <a:t>args</a:t>
            </a:r>
            <a:r>
              <a:rPr lang="en-US" sz="2800" dirty="0"/>
              <a:t>)</a:t>
            </a:r>
          </a:p>
          <a:p>
            <a:r>
              <a:rPr lang="en-US" sz="2800" dirty="0"/>
              <a:t>{</a:t>
            </a:r>
          </a:p>
          <a:p>
            <a:r>
              <a:rPr lang="en-US" sz="2800" dirty="0"/>
              <a:t>First </a:t>
            </a:r>
            <a:r>
              <a:rPr lang="en-US" sz="2800" dirty="0" err="1"/>
              <a:t>fnew</a:t>
            </a:r>
            <a:r>
              <a:rPr lang="en-US" sz="2800" dirty="0"/>
              <a:t> = new First();</a:t>
            </a:r>
          </a:p>
          <a:p>
            <a:r>
              <a:rPr lang="en-US" sz="2800" dirty="0"/>
              <a:t>Second ss = new Second(</a:t>
            </a:r>
            <a:r>
              <a:rPr lang="en-US" sz="2800" dirty="0" err="1"/>
              <a:t>fnew</a:t>
            </a:r>
            <a:r>
              <a:rPr lang="en-US" sz="2800" dirty="0"/>
              <a:t>,"welcome");</a:t>
            </a:r>
          </a:p>
          <a:p>
            <a:r>
              <a:rPr lang="en-US" sz="2800" dirty="0"/>
              <a:t>Second ss1= new Second(</a:t>
            </a:r>
            <a:r>
              <a:rPr lang="en-US" sz="2800" dirty="0" err="1"/>
              <a:t>fnew</a:t>
            </a:r>
            <a:r>
              <a:rPr lang="en-US" sz="2800" dirty="0"/>
              <a:t>,"new");</a:t>
            </a:r>
          </a:p>
          <a:p>
            <a:r>
              <a:rPr lang="en-US" sz="2800" dirty="0"/>
              <a:t>Second ss2= new Second(</a:t>
            </a:r>
            <a:r>
              <a:rPr lang="en-US" sz="2800" dirty="0" err="1"/>
              <a:t>fnew</a:t>
            </a:r>
            <a:r>
              <a:rPr lang="en-US" sz="2800" dirty="0"/>
              <a:t>, "programmer");</a:t>
            </a:r>
          </a:p>
          <a:p>
            <a:r>
              <a:rPr lang="en-US" sz="2800" dirty="0"/>
              <a:t>} }</a:t>
            </a:r>
          </a:p>
          <a:p>
            <a:endParaRPr lang="en-US" sz="2800" dirty="0"/>
          </a:p>
          <a:p>
            <a:r>
              <a:rPr lang="en-US" sz="2800" dirty="0"/>
              <a:t>Output</a:t>
            </a:r>
          </a:p>
          <a:p>
            <a:r>
              <a:rPr lang="en-US" sz="2800" dirty="0"/>
              <a:t>[welcome]</a:t>
            </a:r>
          </a:p>
          <a:p>
            <a:r>
              <a:rPr lang="en-US" sz="2800" dirty="0"/>
              <a:t>[new]</a:t>
            </a:r>
          </a:p>
          <a:p>
            <a:r>
              <a:rPr lang="en-US" sz="2800" dirty="0"/>
              <a:t>[programmer]</a:t>
            </a:r>
          </a:p>
        </p:txBody>
      </p:sp>
    </p:spTree>
    <p:extLst>
      <p:ext uri="{BB962C8B-B14F-4D97-AF65-F5344CB8AC3E}">
        <p14:creationId xmlns:p14="http://schemas.microsoft.com/office/powerpoint/2010/main" val="325449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38</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488366"/>
            <a:ext cx="12112978" cy="4031873"/>
          </a:xfrm>
          <a:prstGeom prst="rect">
            <a:avLst/>
          </a:prstGeom>
          <a:noFill/>
          <a:ln>
            <a:solidFill>
              <a:schemeClr val="tx1"/>
            </a:solidFill>
          </a:ln>
        </p:spPr>
        <p:txBody>
          <a:bodyPr wrap="square">
            <a:spAutoFit/>
          </a:bodyPr>
          <a:lstStyle/>
          <a:p>
            <a:pPr lvl="1" indent="-457200" algn="just" defTabSz="447675">
              <a:buFont typeface="Arial" panose="020B0604020202020204" pitchFamily="34" charset="0"/>
              <a:buChar char="•"/>
            </a:pPr>
            <a:r>
              <a:rPr lang="en-US" sz="3200" dirty="0"/>
              <a:t>In Java, synchronized keyword causes a performance cost.  </a:t>
            </a:r>
          </a:p>
          <a:p>
            <a:pPr lvl="1" indent="-457200" algn="just" defTabSz="447675">
              <a:buFont typeface="Arial" panose="020B0604020202020204" pitchFamily="34" charset="0"/>
              <a:buChar char="•"/>
            </a:pPr>
            <a:r>
              <a:rPr lang="en-US" sz="3200" dirty="0"/>
              <a:t>A synchronized method in Java is very slow and can degrade performance. </a:t>
            </a:r>
          </a:p>
          <a:p>
            <a:pPr lvl="1" indent="-457200" algn="just" defTabSz="447675">
              <a:buFont typeface="Arial" panose="020B0604020202020204" pitchFamily="34" charset="0"/>
              <a:buChar char="•"/>
            </a:pPr>
            <a:r>
              <a:rPr lang="en-US" sz="3200" dirty="0"/>
              <a:t>So we must use synchronization keyword in java when it is necessary else, we should use Java synchronized block that is used for synchronizing critical section only.</a:t>
            </a:r>
          </a:p>
          <a:p>
            <a:pPr lvl="1" indent="-457200" algn="just" defTabSz="447675">
              <a:buFont typeface="Arial" panose="020B0604020202020204" pitchFamily="34" charset="0"/>
              <a:buChar char="•"/>
            </a:pPr>
            <a:endParaRPr lang="en-US" sz="3200" dirty="0"/>
          </a:p>
          <a:p>
            <a:pPr lvl="1" indent="-457200" algn="just" defTabSz="447675">
              <a:buFont typeface="Arial" panose="020B0604020202020204" pitchFamily="34" charset="0"/>
              <a:buChar char="•"/>
            </a:pPr>
            <a:endParaRPr lang="en-US" sz="3200" dirty="0"/>
          </a:p>
        </p:txBody>
      </p:sp>
    </p:spTree>
    <p:extLst>
      <p:ext uri="{BB962C8B-B14F-4D97-AF65-F5344CB8AC3E}">
        <p14:creationId xmlns:p14="http://schemas.microsoft.com/office/powerpoint/2010/main" val="3004706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39</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340608"/>
            <a:ext cx="12112978" cy="5016758"/>
          </a:xfrm>
          <a:prstGeom prst="rect">
            <a:avLst/>
          </a:prstGeom>
          <a:noFill/>
          <a:ln>
            <a:solidFill>
              <a:schemeClr val="tx1"/>
            </a:solidFill>
          </a:ln>
        </p:spPr>
        <p:txBody>
          <a:bodyPr wrap="square">
            <a:spAutoFit/>
          </a:bodyPr>
          <a:lstStyle/>
          <a:p>
            <a:pPr marL="0" lvl="1" algn="just" defTabSz="447675"/>
            <a:r>
              <a:rPr lang="en-US" sz="3200" dirty="0"/>
              <a:t>							Thread suspend() method</a:t>
            </a:r>
          </a:p>
          <a:p>
            <a:pPr marL="0" lvl="1" algn="just" defTabSz="447675"/>
            <a:endParaRPr lang="en-US" sz="3200" dirty="0"/>
          </a:p>
          <a:p>
            <a:pPr lvl="1" indent="-457200" algn="just" defTabSz="447675">
              <a:buFont typeface="Arial" panose="020B0604020202020204" pitchFamily="34" charset="0"/>
              <a:buChar char="•"/>
            </a:pPr>
            <a:r>
              <a:rPr lang="en-US" sz="3200" dirty="0"/>
              <a:t>The suspend() method of thread class puts the thread from running to waiting state. </a:t>
            </a:r>
          </a:p>
          <a:p>
            <a:pPr lvl="1" indent="-457200" algn="just" defTabSz="447675">
              <a:buFont typeface="Arial" panose="020B0604020202020204" pitchFamily="34" charset="0"/>
              <a:buChar char="•"/>
            </a:pPr>
            <a:r>
              <a:rPr lang="en-US" sz="3200" dirty="0"/>
              <a:t>This method is used if you want to stop the thread execution and start it again when a certain event occurs. </a:t>
            </a:r>
          </a:p>
          <a:p>
            <a:pPr lvl="1" indent="-457200" algn="just" defTabSz="447675">
              <a:buFont typeface="Arial" panose="020B0604020202020204" pitchFamily="34" charset="0"/>
              <a:buChar char="•"/>
            </a:pPr>
            <a:r>
              <a:rPr lang="en-US" sz="3200" dirty="0"/>
              <a:t>This method allows a thread to temporarily cease execution. </a:t>
            </a:r>
          </a:p>
          <a:p>
            <a:pPr lvl="1" indent="-457200" algn="just" defTabSz="447675">
              <a:buFont typeface="Arial" panose="020B0604020202020204" pitchFamily="34" charset="0"/>
              <a:buChar char="•"/>
            </a:pPr>
            <a:r>
              <a:rPr lang="en-US" sz="3200" dirty="0"/>
              <a:t>The suspended thread can be resumed using the resume() method. </a:t>
            </a:r>
          </a:p>
          <a:p>
            <a:pPr lvl="1" indent="-457200" algn="just" defTabSz="447675">
              <a:buFont typeface="Arial" panose="020B0604020202020204" pitchFamily="34" charset="0"/>
              <a:buChar char="•"/>
            </a:pPr>
            <a:r>
              <a:rPr lang="en-US" sz="3200" dirty="0"/>
              <a:t>Syntax </a:t>
            </a:r>
          </a:p>
          <a:p>
            <a:pPr lvl="1" indent="-457200" algn="just" defTabSz="447675">
              <a:buFont typeface="Arial" panose="020B0604020202020204" pitchFamily="34" charset="0"/>
              <a:buChar char="•"/>
            </a:pPr>
            <a:r>
              <a:rPr lang="en-US" sz="3200" dirty="0"/>
              <a:t>	public final void suspend()</a:t>
            </a:r>
          </a:p>
        </p:txBody>
      </p:sp>
    </p:spTree>
    <p:extLst>
      <p:ext uri="{BB962C8B-B14F-4D97-AF65-F5344CB8AC3E}">
        <p14:creationId xmlns:p14="http://schemas.microsoft.com/office/powerpoint/2010/main" val="33995630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40</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194048"/>
            <a:ext cx="12112978" cy="4524315"/>
          </a:xfrm>
          <a:prstGeom prst="rect">
            <a:avLst/>
          </a:prstGeom>
          <a:noFill/>
          <a:ln>
            <a:solidFill>
              <a:schemeClr val="tx1"/>
            </a:solidFill>
          </a:ln>
        </p:spPr>
        <p:txBody>
          <a:bodyPr wrap="square">
            <a:spAutoFit/>
          </a:bodyPr>
          <a:lstStyle/>
          <a:p>
            <a:pPr marL="0" lvl="1" algn="just" defTabSz="447675"/>
            <a:r>
              <a:rPr lang="en-US" sz="3200" dirty="0"/>
              <a:t>							Thread resume() method</a:t>
            </a:r>
          </a:p>
          <a:p>
            <a:pPr marL="0" lvl="1" algn="just" defTabSz="447675"/>
            <a:r>
              <a:rPr lang="en-US" sz="3200" dirty="0"/>
              <a:t>• The resume() method of thread class is only used with suspend() method. </a:t>
            </a:r>
          </a:p>
          <a:p>
            <a:pPr lvl="1" indent="-457200" algn="just" defTabSz="447675">
              <a:buFont typeface="Arial" panose="020B0604020202020204" pitchFamily="34" charset="0"/>
              <a:buChar char="•"/>
            </a:pPr>
            <a:r>
              <a:rPr lang="en-US" sz="3200" dirty="0"/>
              <a:t>This method is used to resume a thread which was suspended using suspend() method. </a:t>
            </a:r>
          </a:p>
          <a:p>
            <a:pPr lvl="1" indent="-457200" algn="just" defTabSz="447675">
              <a:buFont typeface="Arial" panose="020B0604020202020204" pitchFamily="34" charset="0"/>
              <a:buChar char="•"/>
            </a:pPr>
            <a:r>
              <a:rPr lang="en-US" sz="3200" dirty="0"/>
              <a:t>This method allows the suspended thread to start again. </a:t>
            </a:r>
          </a:p>
          <a:p>
            <a:pPr marL="0" lvl="1" algn="just" defTabSz="447675"/>
            <a:r>
              <a:rPr lang="en-US" sz="3200" dirty="0"/>
              <a:t>Syntax </a:t>
            </a:r>
          </a:p>
          <a:p>
            <a:pPr marL="0" lvl="1" algn="just" defTabSz="447675"/>
            <a:r>
              <a:rPr lang="en-US" sz="3200" dirty="0"/>
              <a:t>	public final void resume() </a:t>
            </a:r>
          </a:p>
          <a:p>
            <a:pPr marL="0" lvl="1" algn="just" defTabSz="447675"/>
            <a:endParaRPr lang="en-US" sz="3200" dirty="0"/>
          </a:p>
        </p:txBody>
      </p:sp>
    </p:spTree>
    <p:extLst>
      <p:ext uri="{BB962C8B-B14F-4D97-AF65-F5344CB8AC3E}">
        <p14:creationId xmlns:p14="http://schemas.microsoft.com/office/powerpoint/2010/main" val="2745339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Slide Number Placeholder 3">
            <a:extLst>
              <a:ext uri="{FF2B5EF4-FFF2-40B4-BE49-F238E27FC236}">
                <a16:creationId xmlns:a16="http://schemas.microsoft.com/office/drawing/2014/main" id="{F1A7FD01-FF10-8FF7-6850-A8049CEE92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fld id="{748B8112-93A1-4243-8867-88B83B970F86}" type="slidenum">
              <a:rPr lang="en-US" altLang="en-US"/>
              <a:pPr eaLnBrk="1" hangingPunct="1"/>
              <a:t>41</a:t>
            </a:fld>
            <a:endParaRPr lang="en-US" altLang="en-US" sz="1800"/>
          </a:p>
        </p:txBody>
      </p:sp>
      <p:sp>
        <p:nvSpPr>
          <p:cNvPr id="10" name="TextBox 9">
            <a:extLst>
              <a:ext uri="{FF2B5EF4-FFF2-40B4-BE49-F238E27FC236}">
                <a16:creationId xmlns:a16="http://schemas.microsoft.com/office/drawing/2014/main" id="{41F9A5F1-FB53-BA9B-5AA2-4500A5A2320B}"/>
              </a:ext>
            </a:extLst>
          </p:cNvPr>
          <p:cNvSpPr txBox="1"/>
          <p:nvPr/>
        </p:nvSpPr>
        <p:spPr>
          <a:xfrm>
            <a:off x="79022" y="1194048"/>
            <a:ext cx="12112978" cy="3539430"/>
          </a:xfrm>
          <a:prstGeom prst="rect">
            <a:avLst/>
          </a:prstGeom>
          <a:noFill/>
          <a:ln>
            <a:solidFill>
              <a:schemeClr val="tx1"/>
            </a:solidFill>
          </a:ln>
        </p:spPr>
        <p:txBody>
          <a:bodyPr wrap="square">
            <a:spAutoFit/>
          </a:bodyPr>
          <a:lstStyle/>
          <a:p>
            <a:pPr marL="0" lvl="1" algn="just" defTabSz="447675"/>
            <a:r>
              <a:rPr lang="en-US" sz="3200" dirty="0"/>
              <a:t>							Thread stop() method</a:t>
            </a:r>
          </a:p>
          <a:p>
            <a:pPr marL="0" lvl="1" algn="just" defTabSz="447675"/>
            <a:r>
              <a:rPr lang="en-US" sz="3200" dirty="0"/>
              <a:t>•The stop() method of thread class terminates the thread execution.</a:t>
            </a:r>
          </a:p>
          <a:p>
            <a:pPr lvl="1" indent="-457200" algn="just" defTabSz="447675">
              <a:buFont typeface="Arial" panose="020B0604020202020204" pitchFamily="34" charset="0"/>
              <a:buChar char="•"/>
            </a:pPr>
            <a:r>
              <a:rPr lang="en-US" sz="3200" dirty="0"/>
              <a:t>Once a thread is stopped, it cannot be restarted by start() method. </a:t>
            </a:r>
          </a:p>
          <a:p>
            <a:pPr marL="0" lvl="1" algn="just" defTabSz="447675"/>
            <a:r>
              <a:rPr lang="en-US" sz="3200" dirty="0"/>
              <a:t>Syntax </a:t>
            </a:r>
          </a:p>
          <a:p>
            <a:pPr marL="0" lvl="1" algn="just" defTabSz="447675"/>
            <a:r>
              <a:rPr lang="en-US" sz="3200" dirty="0"/>
              <a:t>	public final void stop() </a:t>
            </a:r>
          </a:p>
          <a:p>
            <a:pPr marL="0" lvl="1" algn="just" defTabSz="447675"/>
            <a:r>
              <a:rPr lang="en-US" sz="3200" dirty="0"/>
              <a:t>	public final void stop(Throwable obj) </a:t>
            </a:r>
          </a:p>
          <a:p>
            <a:pPr marL="0" lvl="1" algn="just" defTabSz="447675"/>
            <a:endParaRPr lang="en-US" sz="3200" dirty="0"/>
          </a:p>
        </p:txBody>
      </p:sp>
    </p:spTree>
    <p:extLst>
      <p:ext uri="{BB962C8B-B14F-4D97-AF65-F5344CB8AC3E}">
        <p14:creationId xmlns:p14="http://schemas.microsoft.com/office/powerpoint/2010/main" val="398883025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1862</TotalTime>
  <Words>3026</Words>
  <Application>Microsoft Office PowerPoint</Application>
  <PresentationFormat>Widescreen</PresentationFormat>
  <Paragraphs>405</Paragraphs>
  <Slides>41</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Calibri Light</vt:lpstr>
      <vt:lpstr>Retrospect</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libsy baby</dc:creator>
  <cp:lastModifiedBy>libsy baby</cp:lastModifiedBy>
  <cp:revision>346</cp:revision>
  <dcterms:created xsi:type="dcterms:W3CDTF">2023-11-19T17:55:22Z</dcterms:created>
  <dcterms:modified xsi:type="dcterms:W3CDTF">2023-11-27T16:20:09Z</dcterms:modified>
</cp:coreProperties>
</file>