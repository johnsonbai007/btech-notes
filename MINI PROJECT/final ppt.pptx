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17"/>
  </p:notesMasterIdLst>
  <p:sldIdLst>
    <p:sldId id="256" r:id="rId2"/>
    <p:sldId id="257" r:id="rId3"/>
    <p:sldId id="261" r:id="rId4"/>
    <p:sldId id="258" r:id="rId5"/>
    <p:sldId id="259" r:id="rId6"/>
    <p:sldId id="262" r:id="rId7"/>
    <p:sldId id="266" r:id="rId8"/>
    <p:sldId id="267" r:id="rId9"/>
    <p:sldId id="268" r:id="rId10"/>
    <p:sldId id="269" r:id="rId11"/>
    <p:sldId id="270" r:id="rId12"/>
    <p:sldId id="271" r:id="rId13"/>
    <p:sldId id="263" r:id="rId14"/>
    <p:sldId id="264" r:id="rId15"/>
    <p:sldId id="26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4660"/>
  </p:normalViewPr>
  <p:slideViewPr>
    <p:cSldViewPr snapToGrid="0">
      <p:cViewPr varScale="1">
        <p:scale>
          <a:sx n="104" d="100"/>
          <a:sy n="104" d="100"/>
        </p:scale>
        <p:origin x="248" y="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7AE685-E975-41A3-8B32-42BB07FC3C58}" type="datetimeFigureOut">
              <a:rPr lang="en-IN" smtClean="0"/>
              <a:t>31-03-2025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AB1A0B-5967-489B-89B2-C5891196ECCC}" type="slidenum">
              <a:rPr lang="en-IN" smtClean="0"/>
              <a:t>‹#›</a:t>
            </a:fld>
            <a:endParaRPr lang="en-IN"/>
          </a:p>
        </p:txBody>
      </p:sp>
    </p:spTree>
    <p:extLst>
      <p:ext uri="{BB962C8B-B14F-4D97-AF65-F5344CB8AC3E}">
        <p14:creationId xmlns:p14="http://schemas.microsoft.com/office/powerpoint/2010/main" val="729786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CAB1A0B-5967-489B-89B2-C5891196ECCC}" type="slidenum">
              <a:rPr lang="en-IN" smtClean="0"/>
              <a:t>6</a:t>
            </a:fld>
            <a:endParaRPr lang="en-IN"/>
          </a:p>
        </p:txBody>
      </p:sp>
    </p:spTree>
    <p:extLst>
      <p:ext uri="{BB962C8B-B14F-4D97-AF65-F5344CB8AC3E}">
        <p14:creationId xmlns:p14="http://schemas.microsoft.com/office/powerpoint/2010/main" val="821043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795B4B-6D98-4A5A-BE3E-FE573D1F189F}" type="datetimeFigureOut">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13B5A-DAA1-4E78-A57C-F10A8FF9CB4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1774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795B4B-6D98-4A5A-BE3E-FE573D1F189F}" type="datetimeFigureOut">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13B5A-DAA1-4E78-A57C-F10A8FF9CB43}" type="slidenum">
              <a:rPr lang="en-US" smtClean="0"/>
              <a:t>‹#›</a:t>
            </a:fld>
            <a:endParaRPr lang="en-US"/>
          </a:p>
        </p:txBody>
      </p:sp>
    </p:spTree>
    <p:extLst>
      <p:ext uri="{BB962C8B-B14F-4D97-AF65-F5344CB8AC3E}">
        <p14:creationId xmlns:p14="http://schemas.microsoft.com/office/powerpoint/2010/main" val="2174199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795B4B-6D98-4A5A-BE3E-FE573D1F189F}" type="datetimeFigureOut">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13B5A-DAA1-4E78-A57C-F10A8FF9CB43}"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713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795B4B-6D98-4A5A-BE3E-FE573D1F189F}" type="datetimeFigureOut">
              <a:rPr lang="en-US" smtClean="0"/>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13B5A-DAA1-4E78-A57C-F10A8FF9CB43}" type="slidenum">
              <a:rPr lang="en-US" smtClean="0"/>
              <a:t>‹#›</a:t>
            </a:fld>
            <a:endParaRPr lang="en-US"/>
          </a:p>
        </p:txBody>
      </p:sp>
    </p:spTree>
    <p:extLst>
      <p:ext uri="{BB962C8B-B14F-4D97-AF65-F5344CB8AC3E}">
        <p14:creationId xmlns:p14="http://schemas.microsoft.com/office/powerpoint/2010/main" val="552817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795B4B-6D98-4A5A-BE3E-FE573D1F189F}" type="datetimeFigureOut">
              <a:rPr lang="en-US" smtClean="0"/>
              <a:t>3/31/2025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F13B5A-DAA1-4E78-A57C-F10A8FF9CB43}" type="slidenum">
              <a:rPr lang="en-US" smtClean="0"/>
              <a:t>‹#›</a:t>
            </a:fld>
            <a:endParaRPr lang="en-US"/>
          </a:p>
        </p:txBody>
      </p:sp>
    </p:spTree>
    <p:extLst>
      <p:ext uri="{BB962C8B-B14F-4D97-AF65-F5344CB8AC3E}">
        <p14:creationId xmlns:p14="http://schemas.microsoft.com/office/powerpoint/2010/main" val="3302156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795B4B-6D98-4A5A-BE3E-FE573D1F189F}" type="datetimeFigureOut">
              <a:rPr lang="en-US" smtClean="0"/>
              <a:t>3/31/2025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F13B5A-DAA1-4E78-A57C-F10A8FF9CB43}" type="slidenum">
              <a:rPr lang="en-US" smtClean="0"/>
              <a:t>‹#›</a:t>
            </a:fld>
            <a:endParaRPr lang="en-US"/>
          </a:p>
        </p:txBody>
      </p:sp>
    </p:spTree>
    <p:extLst>
      <p:ext uri="{BB962C8B-B14F-4D97-AF65-F5344CB8AC3E}">
        <p14:creationId xmlns:p14="http://schemas.microsoft.com/office/powerpoint/2010/main" val="3654969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8795B4B-6D98-4A5A-BE3E-FE573D1F189F}" type="datetimeFigureOut">
              <a:rPr lang="en-US" smtClean="0"/>
              <a:t>3/31/2025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67F13B5A-DAA1-4E78-A57C-F10A8FF9CB43}" type="slidenum">
              <a:rPr lang="en-US" smtClean="0"/>
              <a:t>‹#›</a:t>
            </a:fld>
            <a:endParaRPr lang="en-US"/>
          </a:p>
        </p:txBody>
      </p:sp>
    </p:spTree>
    <p:extLst>
      <p:ext uri="{BB962C8B-B14F-4D97-AF65-F5344CB8AC3E}">
        <p14:creationId xmlns:p14="http://schemas.microsoft.com/office/powerpoint/2010/main" val="1055365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8795B4B-6D98-4A5A-BE3E-FE573D1F189F}" type="datetimeFigureOut">
              <a:rPr lang="en-US" smtClean="0"/>
              <a:t>3/31/2025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7F13B5A-DAA1-4E78-A57C-F10A8FF9CB43}" type="slidenum">
              <a:rPr lang="en-US" smtClean="0"/>
              <a:t>‹#›</a:t>
            </a:fld>
            <a:endParaRPr lang="en-US"/>
          </a:p>
        </p:txBody>
      </p:sp>
    </p:spTree>
    <p:extLst>
      <p:ext uri="{BB962C8B-B14F-4D97-AF65-F5344CB8AC3E}">
        <p14:creationId xmlns:p14="http://schemas.microsoft.com/office/powerpoint/2010/main" val="1981436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795B4B-6D98-4A5A-BE3E-FE573D1F189F}" type="datetimeFigureOut">
              <a:rPr lang="en-US" smtClean="0"/>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F13B5A-DAA1-4E78-A57C-F10A8FF9CB43}" type="slidenum">
              <a:rPr lang="en-US" smtClean="0"/>
              <a:t>‹#›</a:t>
            </a:fld>
            <a:endParaRPr lang="en-US"/>
          </a:p>
        </p:txBody>
      </p:sp>
    </p:spTree>
    <p:extLst>
      <p:ext uri="{BB962C8B-B14F-4D97-AF65-F5344CB8AC3E}">
        <p14:creationId xmlns:p14="http://schemas.microsoft.com/office/powerpoint/2010/main" val="2473523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795B4B-6D98-4A5A-BE3E-FE573D1F189F}" type="datetimeFigureOut">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13B5A-DAA1-4E78-A57C-F10A8FF9CB43}" type="slidenum">
              <a:rPr lang="en-US" smtClean="0"/>
              <a:t>‹#›</a:t>
            </a:fld>
            <a:endParaRPr lang="en-US"/>
          </a:p>
        </p:txBody>
      </p:sp>
    </p:spTree>
    <p:extLst>
      <p:ext uri="{BB962C8B-B14F-4D97-AF65-F5344CB8AC3E}">
        <p14:creationId xmlns:p14="http://schemas.microsoft.com/office/powerpoint/2010/main" val="180106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795B4B-6D98-4A5A-BE3E-FE573D1F189F}" type="datetimeFigureOut">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F13B5A-DAA1-4E78-A57C-F10A8FF9CB43}" type="slidenum">
              <a:rPr lang="en-US" smtClean="0"/>
              <a:t>‹#›</a:t>
            </a:fld>
            <a:endParaRPr lang="en-US"/>
          </a:p>
        </p:txBody>
      </p:sp>
    </p:spTree>
    <p:extLst>
      <p:ext uri="{BB962C8B-B14F-4D97-AF65-F5344CB8AC3E}">
        <p14:creationId xmlns:p14="http://schemas.microsoft.com/office/powerpoint/2010/main" val="2133458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8795B4B-6D98-4A5A-BE3E-FE573D1F189F}" type="datetimeFigureOut">
              <a:rPr lang="en-US" smtClean="0"/>
              <a:t>3/31/2025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7F13B5A-DAA1-4E78-A57C-F10A8FF9CB43}"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639873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581E2-F0B4-579C-AEB2-211466EA2262}"/>
              </a:ext>
            </a:extLst>
          </p:cNvPr>
          <p:cNvSpPr>
            <a:spLocks noGrp="1"/>
          </p:cNvSpPr>
          <p:nvPr>
            <p:ph type="ctrTitle"/>
          </p:nvPr>
        </p:nvSpPr>
        <p:spPr>
          <a:xfrm>
            <a:off x="1097280" y="774192"/>
            <a:ext cx="10058400" cy="2587752"/>
          </a:xfrm>
        </p:spPr>
        <p:txBody>
          <a:bodyPr/>
          <a:lstStyle/>
          <a:p>
            <a:pPr algn="ctr"/>
            <a:r>
              <a:rPr lang="en-US" dirty="0">
                <a:latin typeface="Times New Roman" pitchFamily="18" charset="0"/>
                <a:cs typeface="Times New Roman" pitchFamily="18" charset="0"/>
              </a:rPr>
              <a:t>Learn link</a:t>
            </a:r>
          </a:p>
        </p:txBody>
      </p:sp>
      <p:sp>
        <p:nvSpPr>
          <p:cNvPr id="3" name="Subtitle 2">
            <a:extLst>
              <a:ext uri="{FF2B5EF4-FFF2-40B4-BE49-F238E27FC236}">
                <a16:creationId xmlns:a16="http://schemas.microsoft.com/office/drawing/2014/main" id="{9D5CE167-75FE-335A-C845-5590D9E0A9A3}"/>
              </a:ext>
            </a:extLst>
          </p:cNvPr>
          <p:cNvSpPr>
            <a:spLocks noGrp="1"/>
          </p:cNvSpPr>
          <p:nvPr>
            <p:ph type="subTitle" idx="1"/>
          </p:nvPr>
        </p:nvSpPr>
        <p:spPr>
          <a:xfrm>
            <a:off x="1100051" y="4470860"/>
            <a:ext cx="10058400" cy="1808020"/>
          </a:xfrm>
        </p:spPr>
        <p:txBody>
          <a:bodyPr>
            <a:normAutofit/>
          </a:bodyPr>
          <a:lstStyle/>
          <a:p>
            <a:r>
              <a:rPr lang="en-US" sz="1800" dirty="0">
                <a:solidFill>
                  <a:schemeClr val="tx1"/>
                </a:solidFill>
                <a:latin typeface="Times New Roman" pitchFamily="18" charset="0"/>
                <a:cs typeface="Times New Roman" pitchFamily="18" charset="0"/>
              </a:rPr>
              <a:t>Guide 		                                 Team Members</a:t>
            </a:r>
            <a:br>
              <a:rPr lang="en-US" sz="1800" dirty="0">
                <a:solidFill>
                  <a:schemeClr val="tx1"/>
                </a:solidFill>
                <a:latin typeface="Times New Roman" pitchFamily="18" charset="0"/>
                <a:cs typeface="Times New Roman" pitchFamily="18" charset="0"/>
              </a:rPr>
            </a:br>
            <a:br>
              <a:rPr lang="en-US" sz="1800" dirty="0">
                <a:solidFill>
                  <a:schemeClr val="tx1"/>
                </a:solidFill>
                <a:latin typeface="Times New Roman" pitchFamily="18" charset="0"/>
                <a:cs typeface="Times New Roman" pitchFamily="18" charset="0"/>
              </a:rPr>
            </a:br>
            <a:r>
              <a:rPr lang="en-US" sz="1800" dirty="0" err="1">
                <a:solidFill>
                  <a:schemeClr val="tx1"/>
                </a:solidFill>
                <a:latin typeface="Times New Roman" pitchFamily="18" charset="0"/>
                <a:cs typeface="Times New Roman" pitchFamily="18" charset="0"/>
              </a:rPr>
              <a:t>Julith</a:t>
            </a:r>
            <a:r>
              <a:rPr lang="en-US" sz="1800" dirty="0">
                <a:solidFill>
                  <a:schemeClr val="tx1"/>
                </a:solidFill>
                <a:latin typeface="Times New Roman" pitchFamily="18" charset="0"/>
                <a:cs typeface="Times New Roman" pitchFamily="18" charset="0"/>
              </a:rPr>
              <a:t> Jacob				</a:t>
            </a:r>
            <a:r>
              <a:rPr lang="en-GB" sz="1800" dirty="0">
                <a:solidFill>
                  <a:srgbClr val="000000"/>
                </a:solidFill>
                <a:effectLst/>
                <a:latin typeface="Times New Roman" panose="02020603050405020304" pitchFamily="18" charset="0"/>
                <a:cs typeface="Times New Roman" panose="02020603050405020304" pitchFamily="18" charset="0"/>
              </a:rPr>
              <a:t>Aswin Jim </a:t>
            </a:r>
            <a:r>
              <a:rPr lang="en-GB" sz="1800" dirty="0" err="1">
                <a:solidFill>
                  <a:srgbClr val="000000"/>
                </a:solidFill>
                <a:effectLst/>
                <a:latin typeface="Times New Roman" panose="02020603050405020304" pitchFamily="18" charset="0"/>
                <a:cs typeface="Times New Roman" panose="02020603050405020304" pitchFamily="18" charset="0"/>
              </a:rPr>
              <a:t>Thuruthippilly</a:t>
            </a:r>
            <a:r>
              <a:rPr lang="en-GB" sz="1800" dirty="0">
                <a:solidFill>
                  <a:srgbClr val="000000"/>
                </a:solidFill>
                <a:effectLst/>
                <a:latin typeface="Times New Roman" panose="02020603050405020304" pitchFamily="18" charset="0"/>
                <a:cs typeface="Times New Roman" panose="02020603050405020304" pitchFamily="18" charset="0"/>
              </a:rPr>
              <a:t> </a:t>
            </a:r>
            <a:br>
              <a:rPr lang="en-GB" sz="1800" dirty="0">
                <a:solidFill>
                  <a:srgbClr val="000000"/>
                </a:solidFill>
                <a:effectLst/>
                <a:latin typeface="Times New Roman" panose="02020603050405020304" pitchFamily="18" charset="0"/>
                <a:cs typeface="Times New Roman" panose="02020603050405020304" pitchFamily="18" charset="0"/>
              </a:rPr>
            </a:br>
            <a:r>
              <a:rPr lang="en-GB" sz="1800" dirty="0">
                <a:solidFill>
                  <a:srgbClr val="000000"/>
                </a:solidFill>
                <a:effectLst/>
                <a:latin typeface="Times New Roman" panose="02020603050405020304" pitchFamily="18" charset="0"/>
                <a:cs typeface="Times New Roman" panose="02020603050405020304" pitchFamily="18" charset="0"/>
              </a:rPr>
              <a:t>						Christin Jose Biju </a:t>
            </a:r>
            <a:br>
              <a:rPr lang="en-GB" sz="1800" dirty="0">
                <a:solidFill>
                  <a:srgbClr val="000000"/>
                </a:solidFill>
                <a:effectLst/>
                <a:latin typeface="Times New Roman" panose="02020603050405020304" pitchFamily="18" charset="0"/>
                <a:cs typeface="Times New Roman" panose="02020603050405020304" pitchFamily="18" charset="0"/>
              </a:rPr>
            </a:br>
            <a:r>
              <a:rPr lang="en-GB" sz="1800" dirty="0">
                <a:solidFill>
                  <a:srgbClr val="000000"/>
                </a:solidFill>
                <a:effectLst/>
                <a:latin typeface="Times New Roman" panose="02020603050405020304" pitchFamily="18" charset="0"/>
                <a:cs typeface="Times New Roman" panose="02020603050405020304" pitchFamily="18" charset="0"/>
              </a:rPr>
              <a:t>						Johnson V Mathew </a:t>
            </a:r>
            <a:br>
              <a:rPr lang="en-GB" sz="1800" dirty="0">
                <a:solidFill>
                  <a:srgbClr val="000000"/>
                </a:solidFill>
                <a:effectLst/>
                <a:latin typeface="Times New Roman" panose="02020603050405020304" pitchFamily="18" charset="0"/>
                <a:cs typeface="Times New Roman" panose="02020603050405020304" pitchFamily="18" charset="0"/>
              </a:rPr>
            </a:br>
            <a:r>
              <a:rPr lang="en-GB" sz="1800" dirty="0">
                <a:solidFill>
                  <a:srgbClr val="000000"/>
                </a:solidFill>
                <a:effectLst/>
                <a:latin typeface="Times New Roman" panose="02020603050405020304" pitchFamily="18" charset="0"/>
                <a:cs typeface="Times New Roman" panose="02020603050405020304" pitchFamily="18" charset="0"/>
              </a:rPr>
              <a:t>						Rohan </a:t>
            </a:r>
            <a:r>
              <a:rPr lang="en-GB" sz="1800" dirty="0" err="1">
                <a:solidFill>
                  <a:srgbClr val="000000"/>
                </a:solidFill>
                <a:effectLst/>
                <a:latin typeface="Times New Roman" panose="02020603050405020304" pitchFamily="18" charset="0"/>
                <a:cs typeface="Times New Roman" panose="02020603050405020304" pitchFamily="18" charset="0"/>
              </a:rPr>
              <a:t>Mannaraprayil</a:t>
            </a:r>
            <a:endParaRPr lang="en-GB" sz="1100" dirty="0">
              <a:latin typeface="Times New Roman" panose="02020603050405020304" pitchFamily="18" charset="0"/>
              <a:cs typeface="Times New Roman" panose="02020603050405020304" pitchFamily="18" charset="0"/>
            </a:endParaRPr>
          </a:p>
          <a:p>
            <a:endParaRPr lang="en-GB"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95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41C1B-C2D9-A925-87DF-A7206AC8FF5A}"/>
              </a:ext>
            </a:extLst>
          </p:cNvPr>
          <p:cNvSpPr>
            <a:spLocks noGrp="1"/>
          </p:cNvSpPr>
          <p:nvPr>
            <p:ph type="title"/>
          </p:nvPr>
        </p:nvSpPr>
        <p:spPr/>
        <p:txBody>
          <a:bodyPr/>
          <a:lstStyle/>
          <a:p>
            <a:r>
              <a:rPr lang="en-US" dirty="0">
                <a:latin typeface="Times New Roman" panose="02020603050405020304" pitchFamily="18" charset="0"/>
                <a:cs typeface="Times New Roman" pitchFamily="18" charset="0"/>
              </a:rPr>
              <a:t>Problem Statement</a:t>
            </a:r>
          </a:p>
        </p:txBody>
      </p:sp>
      <p:sp>
        <p:nvSpPr>
          <p:cNvPr id="3" name="Content Placeholder 2">
            <a:extLst>
              <a:ext uri="{FF2B5EF4-FFF2-40B4-BE49-F238E27FC236}">
                <a16:creationId xmlns:a16="http://schemas.microsoft.com/office/drawing/2014/main" id="{088503D6-9AC6-7CAD-19C2-F6BC0449EF47}"/>
              </a:ext>
            </a:extLst>
          </p:cNvPr>
          <p:cNvSpPr>
            <a:spLocks noGrp="1"/>
          </p:cNvSpPr>
          <p:nvPr>
            <p:ph idx="1"/>
          </p:nvPr>
        </p:nvSpPr>
        <p:spPr>
          <a:xfrm>
            <a:off x="1232292" y="1750248"/>
            <a:ext cx="11216640" cy="4981786"/>
          </a:xfrm>
        </p:spPr>
        <p:txBody>
          <a:bodyPr>
            <a:normAutofit/>
          </a:bodyPr>
          <a:lstStyle/>
          <a:p>
            <a:pPr>
              <a:lnSpc>
                <a:spcPct val="100000"/>
              </a:lnSpc>
              <a:buClr>
                <a:schemeClr val="tx1">
                  <a:lumMod val="75000"/>
                  <a:lumOff val="25000"/>
                </a:schemeClr>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Challenges</a:t>
            </a:r>
          </a:p>
          <a:p>
            <a:pPr lvl="1">
              <a:lnSpc>
                <a:spcPct val="10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Finding a platform that integrates well and helps teams work together.</a:t>
            </a:r>
          </a:p>
          <a:p>
            <a:pPr lvl="1">
              <a:lnSpc>
                <a:spcPct val="6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Existing solutions don't effectively facilitate communication, knowledge sharing, and meaningful discussions.</a:t>
            </a:r>
          </a:p>
          <a:p>
            <a:pPr>
              <a:lnSpc>
                <a:spcPct val="10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Missing Features</a:t>
            </a:r>
          </a:p>
          <a:p>
            <a:pPr lvl="1">
              <a:lnSpc>
                <a:spcPct val="10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Seamless communication tools.</a:t>
            </a:r>
          </a:p>
          <a:p>
            <a:pPr lvl="1">
              <a:lnSpc>
                <a:spcPct val="6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AI-driven insights for informed decision-making.</a:t>
            </a:r>
          </a:p>
          <a:p>
            <a:pPr lvl="1">
              <a:lnSpc>
                <a:spcPct val="6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Intuitive design for easy use.</a:t>
            </a:r>
          </a:p>
          <a:p>
            <a:pPr>
              <a:lnSpc>
                <a:spcPct val="110000"/>
              </a:lnSpc>
              <a:buClr>
                <a:schemeClr val="tx1">
                  <a:lumMod val="75000"/>
                  <a:lumOff val="25000"/>
                </a:schemeClr>
              </a:buClr>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Consequences</a:t>
            </a:r>
          </a:p>
          <a:p>
            <a:pPr lvl="1">
              <a:lnSpc>
                <a:spcPct val="11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struggle to organize their ideas efficiently.</a:t>
            </a:r>
          </a:p>
          <a:p>
            <a:pPr lvl="1">
              <a:lnSpc>
                <a:spcPct val="7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Learning processes are not streamlined.</a:t>
            </a:r>
          </a:p>
          <a:p>
            <a:pPr>
              <a:lnSpc>
                <a:spcPct val="10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Need for a Solution</a:t>
            </a:r>
          </a:p>
          <a:p>
            <a:pPr lvl="1">
              <a:lnSpc>
                <a:spcPct val="10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comprehensive platform that boosts productivity.</a:t>
            </a:r>
          </a:p>
          <a:p>
            <a:pPr lvl="1">
              <a:lnSpc>
                <a:spcPct val="60000"/>
              </a:lnSpc>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platform that fosters academic excellence through enhanced collaboration and resource sharing.</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643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CE15B-087F-A812-388A-7E193CB38E31}"/>
              </a:ext>
            </a:extLst>
          </p:cNvPr>
          <p:cNvSpPr>
            <a:spLocks noGrp="1"/>
          </p:cNvSpPr>
          <p:nvPr>
            <p:ph type="title"/>
          </p:nvPr>
        </p:nvSpPr>
        <p:spPr/>
        <p:txBody>
          <a:bodyPr/>
          <a:lstStyle/>
          <a:p>
            <a:r>
              <a:rPr lang="en-US" dirty="0">
                <a:latin typeface="Times New Roman" panose="02020603050405020304" pitchFamily="18" charset="0"/>
                <a:cs typeface="Times New Roman" pitchFamily="18" charset="0"/>
              </a:rPr>
              <a:t>Solution Approach</a:t>
            </a:r>
          </a:p>
        </p:txBody>
      </p:sp>
      <p:sp>
        <p:nvSpPr>
          <p:cNvPr id="4" name="TextBox 3">
            <a:extLst>
              <a:ext uri="{FF2B5EF4-FFF2-40B4-BE49-F238E27FC236}">
                <a16:creationId xmlns:a16="http://schemas.microsoft.com/office/drawing/2014/main" id="{C4C482CE-590C-01EA-FA89-A0B043E6053A}"/>
              </a:ext>
            </a:extLst>
          </p:cNvPr>
          <p:cNvSpPr txBox="1"/>
          <p:nvPr/>
        </p:nvSpPr>
        <p:spPr>
          <a:xfrm>
            <a:off x="1290445" y="2532518"/>
            <a:ext cx="3090672" cy="646331"/>
          </a:xfrm>
          <a:prstGeom prst="rect">
            <a:avLst/>
          </a:prstGeom>
          <a:noFill/>
        </p:spPr>
        <p:txBody>
          <a:bodyPr wrap="square" rtlCol="0">
            <a:spAutoFit/>
          </a:bodyPr>
          <a:lstStyle/>
          <a:p>
            <a:pPr algn="ctr">
              <a:buNone/>
            </a:pPr>
            <a:r>
              <a:rPr lang="en-GB" sz="1800" dirty="0">
                <a:solidFill>
                  <a:srgbClr val="000000"/>
                </a:solidFill>
                <a:effectLst/>
                <a:latin typeface="Times New Roman" panose="02020603050405020304" pitchFamily="18" charset="0"/>
                <a:cs typeface="Times New Roman" panose="02020603050405020304" pitchFamily="18" charset="0"/>
              </a:rPr>
              <a:t>  </a:t>
            </a:r>
            <a:r>
              <a:rPr lang="en-GB" sz="1800" u="sng" dirty="0">
                <a:solidFill>
                  <a:srgbClr val="000000"/>
                </a:solidFill>
                <a:effectLst/>
                <a:latin typeface="Times New Roman" panose="02020603050405020304" pitchFamily="18" charset="0"/>
                <a:cs typeface="Times New Roman" panose="02020603050405020304" pitchFamily="18" charset="0"/>
              </a:rPr>
              <a:t>Real-Time Collaboration and Communication</a:t>
            </a:r>
            <a:r>
              <a:rPr lang="en-GB" sz="1800" dirty="0">
                <a:solidFill>
                  <a:srgbClr val="000000"/>
                </a:solidFill>
                <a:effectLst/>
                <a:latin typeface="Times New Roman" panose="02020603050405020304" pitchFamily="18" charset="0"/>
                <a:cs typeface="Times New Roman" panose="02020603050405020304" pitchFamily="18" charset="0"/>
              </a:rPr>
              <a:t> </a:t>
            </a:r>
            <a:endParaRPr lang="en-GB"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C51FB1B-2880-9E34-64AB-8CDFCAC1445E}"/>
              </a:ext>
            </a:extLst>
          </p:cNvPr>
          <p:cNvSpPr txBox="1"/>
          <p:nvPr/>
        </p:nvSpPr>
        <p:spPr>
          <a:xfrm>
            <a:off x="4639503" y="2532518"/>
            <a:ext cx="3404616" cy="369332"/>
          </a:xfrm>
          <a:prstGeom prst="rect">
            <a:avLst/>
          </a:prstGeom>
          <a:noFill/>
        </p:spPr>
        <p:txBody>
          <a:bodyPr wrap="square" rtlCol="0">
            <a:spAutoFit/>
          </a:bodyPr>
          <a:lstStyle/>
          <a:p>
            <a:pPr>
              <a:buNone/>
            </a:pPr>
            <a:r>
              <a:rPr lang="en-GB" sz="1800" u="sng" dirty="0">
                <a:solidFill>
                  <a:srgbClr val="000000"/>
                </a:solidFill>
                <a:effectLst/>
                <a:latin typeface="Times New Roman" panose="02020603050405020304" pitchFamily="18" charset="0"/>
                <a:cs typeface="Times New Roman" panose="02020603050405020304" pitchFamily="18" charset="0"/>
              </a:rPr>
              <a:t>Content Sharing and Management </a:t>
            </a:r>
            <a:endParaRPr lang="en-GB" u="sng"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1C2858D-FE41-602F-2F2B-1393D0684643}"/>
              </a:ext>
            </a:extLst>
          </p:cNvPr>
          <p:cNvSpPr txBox="1"/>
          <p:nvPr/>
        </p:nvSpPr>
        <p:spPr>
          <a:xfrm>
            <a:off x="7988561" y="2532518"/>
            <a:ext cx="3404616" cy="369332"/>
          </a:xfrm>
          <a:prstGeom prst="rect">
            <a:avLst/>
          </a:prstGeom>
          <a:noFill/>
        </p:spPr>
        <p:txBody>
          <a:bodyPr wrap="square" rtlCol="0">
            <a:spAutoFit/>
          </a:bodyPr>
          <a:lstStyle/>
          <a:p>
            <a:pPr algn="ctr">
              <a:buNone/>
            </a:pPr>
            <a:r>
              <a:rPr lang="en-GB" sz="1800" u="sng" dirty="0">
                <a:solidFill>
                  <a:srgbClr val="000000"/>
                </a:solidFill>
                <a:effectLst/>
                <a:latin typeface="Times New Roman" panose="02020603050405020304" pitchFamily="18" charset="0"/>
                <a:cs typeface="Times New Roman" panose="02020603050405020304" pitchFamily="18" charset="0"/>
              </a:rPr>
              <a:t>AI-Powered Tools </a:t>
            </a:r>
            <a:endParaRPr lang="en-GB" u="sng"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8E73009-596D-A1E9-06CC-56C131FB592F}"/>
              </a:ext>
            </a:extLst>
          </p:cNvPr>
          <p:cNvSpPr txBox="1"/>
          <p:nvPr/>
        </p:nvSpPr>
        <p:spPr>
          <a:xfrm>
            <a:off x="1399032" y="3476076"/>
            <a:ext cx="3090672" cy="1754326"/>
          </a:xfrm>
          <a:prstGeom prst="rect">
            <a:avLst/>
          </a:prstGeom>
          <a:noFill/>
        </p:spPr>
        <p:txBody>
          <a:bodyPr wrap="square" rtlCol="0">
            <a:spAutoFit/>
          </a:bodyPr>
          <a:lstStyle/>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Voice calls for discussions, brainstorming, and team learning.</a:t>
            </a:r>
          </a:p>
          <a:p>
            <a:pPr marL="285750" indent="-285750">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Voice communication</a:t>
            </a:r>
            <a:r>
              <a:rPr lang="en-US" sz="1800" dirty="0">
                <a:solidFill>
                  <a:srgbClr val="000000"/>
                </a:solidFill>
                <a:effectLst/>
                <a:latin typeface="Times New Roman" panose="02020603050405020304" pitchFamily="18" charset="0"/>
                <a:cs typeface="Times New Roman" panose="02020603050405020304" pitchFamily="18" charset="0"/>
              </a:rPr>
              <a:t>, annotations, and co-editing to enhance teamwork. </a:t>
            </a:r>
            <a:endParaRPr lang="en-GB"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75A9C68-EBAF-3D8B-09F7-9D458C42BD4B}"/>
              </a:ext>
            </a:extLst>
          </p:cNvPr>
          <p:cNvSpPr txBox="1"/>
          <p:nvPr/>
        </p:nvSpPr>
        <p:spPr>
          <a:xfrm>
            <a:off x="4563891" y="3476076"/>
            <a:ext cx="3574523" cy="1477328"/>
          </a:xfrm>
          <a:prstGeom prst="rect">
            <a:avLst/>
          </a:prstGeom>
          <a:noFill/>
        </p:spPr>
        <p:txBody>
          <a:bodyPr wrap="square" rtlCol="0">
            <a:spAutoFit/>
          </a:bodyPr>
          <a:lstStyle/>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Upload and share educational materials, question papers, and brainstorming artifacts.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Save content from brainstorming session</a:t>
            </a:r>
            <a:endParaRPr lang="en-GB"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8AAFB1C0-A620-0DF4-BE78-0FA5DD43F24A}"/>
              </a:ext>
            </a:extLst>
          </p:cNvPr>
          <p:cNvSpPr txBox="1"/>
          <p:nvPr/>
        </p:nvSpPr>
        <p:spPr>
          <a:xfrm>
            <a:off x="8212601" y="3476076"/>
            <a:ext cx="3254763" cy="2031325"/>
          </a:xfrm>
          <a:prstGeom prst="rect">
            <a:avLst/>
          </a:prstGeom>
          <a:noFill/>
        </p:spPr>
        <p:txBody>
          <a:bodyPr wrap="square" rtlCol="0">
            <a:spAutoFit/>
          </a:bodyPr>
          <a:lstStyle/>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Summaries: Create concise summaries of documents.  </a:t>
            </a:r>
            <a:endParaRPr lang="en-US"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Quiz Generation: Make quizzes for self-assessment.  </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solidFill>
                  <a:srgbClr val="000000"/>
                </a:solidFill>
                <a:effectLst/>
                <a:latin typeface="Times New Roman" panose="02020603050405020304" pitchFamily="18" charset="0"/>
                <a:cs typeface="Times New Roman" panose="02020603050405020304" pitchFamily="18" charset="0"/>
              </a:rPr>
              <a:t>Focus Area Extraction: Identify</a:t>
            </a:r>
            <a:r>
              <a:rPr lang="en-US" dirty="0">
                <a:solidFill>
                  <a:srgbClr val="000000"/>
                </a:solidFill>
                <a:latin typeface="Times New Roman" panose="02020603050405020304" pitchFamily="18" charset="0"/>
                <a:cs typeface="Times New Roman" panose="02020603050405020304" pitchFamily="18" charset="0"/>
              </a:rPr>
              <a:t> </a:t>
            </a:r>
            <a:r>
              <a:rPr lang="en-US" sz="1800" dirty="0">
                <a:solidFill>
                  <a:srgbClr val="000000"/>
                </a:solidFill>
                <a:effectLst/>
                <a:latin typeface="Times New Roman" panose="02020603050405020304" pitchFamily="18" charset="0"/>
                <a:cs typeface="Times New Roman" panose="02020603050405020304" pitchFamily="18" charset="0"/>
              </a:rPr>
              <a:t>key questions and categorize them.</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4783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D215A-A2B2-8532-9D47-189069BCEFAF}"/>
              </a:ext>
            </a:extLst>
          </p:cNvPr>
          <p:cNvSpPr>
            <a:spLocks noGrp="1"/>
          </p:cNvSpPr>
          <p:nvPr>
            <p:ph type="title"/>
          </p:nvPr>
        </p:nvSpPr>
        <p:spPr>
          <a:xfrm>
            <a:off x="1116918" y="286603"/>
            <a:ext cx="9728282" cy="1450757"/>
          </a:xfrm>
        </p:spPr>
        <p:txBody>
          <a:bodyPr/>
          <a:lstStyle/>
          <a:p>
            <a:r>
              <a:rPr lang="en-US" dirty="0">
                <a:latin typeface="Times New Roman" panose="02020603050405020304" pitchFamily="18" charset="0"/>
                <a:cs typeface="Times New Roman" pitchFamily="18" charset="0"/>
              </a:rPr>
              <a:t>Modules</a:t>
            </a:r>
          </a:p>
        </p:txBody>
      </p:sp>
      <p:sp>
        <p:nvSpPr>
          <p:cNvPr id="9" name="TextBox 8">
            <a:extLst>
              <a:ext uri="{FF2B5EF4-FFF2-40B4-BE49-F238E27FC236}">
                <a16:creationId xmlns:a16="http://schemas.microsoft.com/office/drawing/2014/main" id="{E567F1EC-AAB3-D177-D098-BF6991FA5D3A}"/>
              </a:ext>
            </a:extLst>
          </p:cNvPr>
          <p:cNvSpPr txBox="1"/>
          <p:nvPr/>
        </p:nvSpPr>
        <p:spPr>
          <a:xfrm>
            <a:off x="1116918" y="2274543"/>
            <a:ext cx="2119747" cy="369332"/>
          </a:xfrm>
          <a:prstGeom prst="rect">
            <a:avLst/>
          </a:prstGeom>
          <a:noFill/>
        </p:spPr>
        <p:txBody>
          <a:bodyPr wrap="none" rtlCol="0">
            <a:spAutoFit/>
          </a:bodyPr>
          <a:lstStyle/>
          <a:p>
            <a:r>
              <a:rPr lang="en-GB" sz="1800" dirty="0">
                <a:solidFill>
                  <a:srgbClr val="000000"/>
                </a:solidFill>
                <a:effectLst/>
                <a:latin typeface="Times New Roman" panose="02020603050405020304" pitchFamily="18" charset="0"/>
                <a:cs typeface="Times New Roman" panose="02020603050405020304" pitchFamily="18" charset="0"/>
              </a:rPr>
              <a:t>User Authentication </a:t>
            </a:r>
            <a:endParaRPr lang="en-GB"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C4901E2-2FC0-DDFC-D11F-35458D839F86}"/>
              </a:ext>
            </a:extLst>
          </p:cNvPr>
          <p:cNvSpPr txBox="1"/>
          <p:nvPr/>
        </p:nvSpPr>
        <p:spPr>
          <a:xfrm>
            <a:off x="3373340" y="2290791"/>
            <a:ext cx="1556836" cy="369332"/>
          </a:xfrm>
          <a:prstGeom prst="rect">
            <a:avLst/>
          </a:prstGeom>
          <a:noFill/>
        </p:spPr>
        <p:txBody>
          <a:bodyPr wrap="none" rtlCol="0">
            <a:spAutoFit/>
          </a:bodyPr>
          <a:lstStyle/>
          <a:p>
            <a:r>
              <a:rPr lang="en-GB" sz="1800" dirty="0">
                <a:solidFill>
                  <a:srgbClr val="000000"/>
                </a:solidFill>
                <a:effectLst/>
                <a:latin typeface="Times New Roman" panose="02020603050405020304" pitchFamily="18" charset="0"/>
                <a:cs typeface="Times New Roman" panose="02020603050405020304" pitchFamily="18" charset="0"/>
              </a:rPr>
              <a:t>AI Integration </a:t>
            </a:r>
            <a:endParaRPr lang="en-GB"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37E146C-DEC2-AAD8-E809-7940CFCDAB1F}"/>
              </a:ext>
            </a:extLst>
          </p:cNvPr>
          <p:cNvSpPr txBox="1"/>
          <p:nvPr/>
        </p:nvSpPr>
        <p:spPr>
          <a:xfrm>
            <a:off x="5867024" y="2297368"/>
            <a:ext cx="2232659" cy="369332"/>
          </a:xfrm>
          <a:prstGeom prst="rect">
            <a:avLst/>
          </a:prstGeom>
          <a:noFill/>
        </p:spPr>
        <p:txBody>
          <a:bodyPr wrap="square" rtlCol="0">
            <a:spAutoFit/>
          </a:bodyPr>
          <a:lstStyle/>
          <a:p>
            <a:r>
              <a:rPr lang="en-GB" sz="1800" dirty="0">
                <a:solidFill>
                  <a:srgbClr val="000000"/>
                </a:solidFill>
                <a:effectLst/>
                <a:latin typeface="Times New Roman" panose="02020603050405020304" pitchFamily="18" charset="0"/>
                <a:cs typeface="Times New Roman" panose="02020603050405020304" pitchFamily="18" charset="0"/>
              </a:rPr>
              <a:t>Collaboration</a:t>
            </a:r>
            <a:endParaRPr lang="en-GB"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3C25FBD-5A62-56C5-6015-22C51EC77B38}"/>
              </a:ext>
            </a:extLst>
          </p:cNvPr>
          <p:cNvSpPr txBox="1"/>
          <p:nvPr/>
        </p:nvSpPr>
        <p:spPr>
          <a:xfrm>
            <a:off x="8910320" y="2290791"/>
            <a:ext cx="1601721" cy="369332"/>
          </a:xfrm>
          <a:prstGeom prst="rect">
            <a:avLst/>
          </a:prstGeom>
          <a:noFill/>
        </p:spPr>
        <p:txBody>
          <a:bodyPr wrap="none" rtlCol="0">
            <a:spAutoFit/>
          </a:bodyPr>
          <a:lstStyle/>
          <a:p>
            <a:r>
              <a:rPr lang="en-GB" sz="1800" dirty="0">
                <a:solidFill>
                  <a:srgbClr val="000000"/>
                </a:solidFill>
                <a:effectLst/>
                <a:latin typeface="Times New Roman" panose="02020603050405020304" pitchFamily="18" charset="0"/>
                <a:cs typeface="Times New Roman" panose="02020603050405020304" pitchFamily="18" charset="0"/>
              </a:rPr>
              <a:t>File Processing</a:t>
            </a:r>
            <a:endParaRPr lang="en-GB"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1FA91F10-FAE1-3C43-0C7E-CF558E765234}"/>
              </a:ext>
            </a:extLst>
          </p:cNvPr>
          <p:cNvSpPr txBox="1"/>
          <p:nvPr/>
        </p:nvSpPr>
        <p:spPr>
          <a:xfrm>
            <a:off x="1116918" y="2977217"/>
            <a:ext cx="2558306"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00000"/>
                </a:solidFill>
                <a:effectLst/>
                <a:latin typeface="Times New Roman" panose="02020603050405020304" pitchFamily="18" charset="0"/>
                <a:cs typeface="Times New Roman" panose="02020603050405020304" pitchFamily="18" charset="0"/>
              </a:rPr>
              <a:t>User Login</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effectLst/>
                <a:latin typeface="Times New Roman" panose="02020603050405020304" pitchFamily="18" charset="0"/>
                <a:cs typeface="Times New Roman" panose="02020603050405020304" pitchFamily="18" charset="0"/>
              </a:rPr>
              <a:t>User Registration</a:t>
            </a:r>
          </a:p>
          <a:p>
            <a:endParaRPr lang="en-US" dirty="0">
              <a:solidFill>
                <a:srgbClr val="000000"/>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Google Login</a:t>
            </a:r>
          </a:p>
          <a:p>
            <a:endParaRPr lang="en-US" dirty="0">
              <a:solidFill>
                <a:srgbClr val="0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Account Settings</a:t>
            </a:r>
            <a:endParaRPr lang="en-GB"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B60AC0A1-1F57-C8F5-1DA0-AF5676506C7B}"/>
              </a:ext>
            </a:extLst>
          </p:cNvPr>
          <p:cNvSpPr txBox="1"/>
          <p:nvPr/>
        </p:nvSpPr>
        <p:spPr>
          <a:xfrm>
            <a:off x="3315961" y="3092066"/>
            <a:ext cx="2558306" cy="2585323"/>
          </a:xfrm>
          <a:prstGeom prst="rect">
            <a:avLst/>
          </a:prstGeom>
          <a:noFill/>
        </p:spPr>
        <p:txBody>
          <a:bodyPr wrap="square" rtlCol="0">
            <a:spAutoFit/>
          </a:bodyPr>
          <a:lstStyle/>
          <a:p>
            <a:pPr marL="285750" indent="-285750">
              <a:buFont typeface="Arial" panose="020B0604020202020204" pitchFamily="34" charset="0"/>
              <a:buChar char="•"/>
            </a:pPr>
            <a:r>
              <a:rPr lang="en-GB" dirty="0">
                <a:solidFill>
                  <a:srgbClr val="000000"/>
                </a:solidFill>
                <a:effectLst/>
                <a:latin typeface="Times New Roman" panose="02020603050405020304" pitchFamily="18" charset="0"/>
                <a:cs typeface="Times New Roman" panose="02020603050405020304" pitchFamily="18" charset="0"/>
              </a:rPr>
              <a:t>AI-powered Document Summarization</a:t>
            </a:r>
          </a:p>
          <a:p>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000000"/>
                </a:solidFill>
                <a:effectLst/>
                <a:latin typeface="Times New Roman" panose="02020603050405020304" pitchFamily="18" charset="0"/>
                <a:cs typeface="Times New Roman" panose="02020603050405020304" pitchFamily="18" charset="0"/>
              </a:rPr>
              <a:t>Focus Area </a:t>
            </a:r>
          </a:p>
          <a:p>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000000"/>
                </a:solidFill>
                <a:effectLst/>
                <a:latin typeface="Times New Roman" panose="02020603050405020304" pitchFamily="18" charset="0"/>
                <a:cs typeface="Times New Roman" panose="02020603050405020304" pitchFamily="18" charset="0"/>
              </a:rPr>
              <a:t>Quiz Generation</a:t>
            </a:r>
          </a:p>
          <a:p>
            <a:endParaRPr lang="en-GB" dirty="0">
              <a:solidFill>
                <a:srgbClr val="000000"/>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dirty="0">
                <a:solidFill>
                  <a:srgbClr val="000000"/>
                </a:solidFill>
                <a:latin typeface="Times New Roman" panose="02020603050405020304" pitchFamily="18" charset="0"/>
                <a:cs typeface="Times New Roman" panose="02020603050405020304" pitchFamily="18" charset="0"/>
              </a:rPr>
              <a:t>Flash Cards</a:t>
            </a:r>
            <a:endParaRPr lang="en-GB"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21907D6A-A155-0D9D-ABC4-6E58232E2C2A}"/>
              </a:ext>
            </a:extLst>
          </p:cNvPr>
          <p:cNvSpPr txBox="1"/>
          <p:nvPr/>
        </p:nvSpPr>
        <p:spPr>
          <a:xfrm>
            <a:off x="5874267" y="3116983"/>
            <a:ext cx="3000584"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00000"/>
                </a:solidFill>
                <a:effectLst/>
                <a:latin typeface="Times New Roman" panose="02020603050405020304" pitchFamily="18" charset="0"/>
                <a:cs typeface="Times New Roman" panose="02020603050405020304" pitchFamily="18" charset="0"/>
              </a:rPr>
              <a:t>Live Cursor</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effectLst/>
                <a:latin typeface="Times New Roman" panose="02020603050405020304" pitchFamily="18" charset="0"/>
                <a:cs typeface="Times New Roman" panose="02020603050405020304" pitchFamily="18" charset="0"/>
              </a:rPr>
              <a:t>Collaborative canvas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effectLst/>
                <a:latin typeface="Times New Roman" panose="02020603050405020304" pitchFamily="18" charset="0"/>
                <a:cs typeface="Times New Roman" panose="02020603050405020304" pitchFamily="18" charset="0"/>
              </a:rPr>
              <a:t>Voice Communication</a:t>
            </a:r>
            <a:endParaRPr lang="en-GB"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B4E2CC7A-8B43-0A5D-FFCA-2E45E17CF805}"/>
              </a:ext>
            </a:extLst>
          </p:cNvPr>
          <p:cNvSpPr txBox="1"/>
          <p:nvPr/>
        </p:nvSpPr>
        <p:spPr>
          <a:xfrm>
            <a:off x="8874851" y="3126127"/>
            <a:ext cx="2838613"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000000"/>
                </a:solidFill>
                <a:effectLst/>
                <a:latin typeface="Times New Roman" panose="02020603050405020304" pitchFamily="18" charset="0"/>
                <a:cs typeface="Times New Roman" panose="02020603050405020304" pitchFamily="18" charset="0"/>
              </a:rPr>
              <a:t>State Updates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effectLst/>
                <a:latin typeface="Times New Roman" panose="02020603050405020304" pitchFamily="18" charset="0"/>
                <a:cs typeface="Times New Roman" panose="02020603050405020304" pitchFamily="18" charset="0"/>
              </a:rPr>
              <a:t>File Limit Enforcement</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effectLst/>
                <a:latin typeface="Times New Roman" panose="02020603050405020304" pitchFamily="18" charset="0"/>
                <a:cs typeface="Times New Roman" panose="02020603050405020304" pitchFamily="18" charset="0"/>
              </a:rPr>
              <a:t>Duplicate Prevention</a:t>
            </a:r>
          </a:p>
          <a:p>
            <a:endParaRPr lang="en-US" dirty="0">
              <a:solidFill>
                <a:srgbClr val="000000"/>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rgbClr val="000000"/>
                </a:solidFill>
                <a:latin typeface="Times New Roman" panose="02020603050405020304" pitchFamily="18" charset="0"/>
                <a:cs typeface="Times New Roman" panose="02020603050405020304" pitchFamily="18" charset="0"/>
              </a:rPr>
              <a:t>File Type Identification</a:t>
            </a:r>
            <a:endParaRPr lang="en-GB" dirty="0">
              <a:latin typeface="Times New Roman" panose="02020603050405020304" pitchFamily="18" charset="0"/>
              <a:cs typeface="Times New Roman" panose="02020603050405020304" pitchFamily="18" charset="0"/>
            </a:endParaRPr>
          </a:p>
        </p:txBody>
      </p:sp>
      <p:cxnSp>
        <p:nvCxnSpPr>
          <p:cNvPr id="22" name="Straight Connector 21">
            <a:extLst>
              <a:ext uri="{FF2B5EF4-FFF2-40B4-BE49-F238E27FC236}">
                <a16:creationId xmlns:a16="http://schemas.microsoft.com/office/drawing/2014/main" id="{3940FEB5-0D78-159B-BA16-1407CC8569DC}"/>
              </a:ext>
            </a:extLst>
          </p:cNvPr>
          <p:cNvCxnSpPr>
            <a:cxnSpLocks/>
          </p:cNvCxnSpPr>
          <p:nvPr/>
        </p:nvCxnSpPr>
        <p:spPr>
          <a:xfrm>
            <a:off x="1233519" y="2865120"/>
            <a:ext cx="2232513" cy="0"/>
          </a:xfrm>
          <a:prstGeom prst="line">
            <a:avLst/>
          </a:prstGeom>
          <a:ln>
            <a:headEnd type="oval"/>
            <a:tailEnd type="oval"/>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1F12089-6998-961B-74DC-A33C230F163F}"/>
              </a:ext>
            </a:extLst>
          </p:cNvPr>
          <p:cNvCxnSpPr>
            <a:cxnSpLocks/>
          </p:cNvCxnSpPr>
          <p:nvPr/>
        </p:nvCxnSpPr>
        <p:spPr>
          <a:xfrm>
            <a:off x="3466032" y="2865120"/>
            <a:ext cx="2535144" cy="0"/>
          </a:xfrm>
          <a:prstGeom prst="line">
            <a:avLst/>
          </a:prstGeom>
          <a:ln>
            <a:headEnd type="oval"/>
            <a:tailEnd type="oval"/>
          </a:ln>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86DB5765-1900-86BE-7091-99040459DA54}"/>
              </a:ext>
            </a:extLst>
          </p:cNvPr>
          <p:cNvCxnSpPr>
            <a:cxnSpLocks/>
          </p:cNvCxnSpPr>
          <p:nvPr/>
        </p:nvCxnSpPr>
        <p:spPr>
          <a:xfrm>
            <a:off x="6001176" y="2865120"/>
            <a:ext cx="3000584" cy="0"/>
          </a:xfrm>
          <a:prstGeom prst="line">
            <a:avLst/>
          </a:prstGeom>
          <a:ln>
            <a:headEnd type="oval"/>
            <a:tailEnd type="ova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D32B7A35-9BBE-83ED-CD4C-0CD229EB34E5}"/>
              </a:ext>
            </a:extLst>
          </p:cNvPr>
          <p:cNvCxnSpPr>
            <a:cxnSpLocks/>
          </p:cNvCxnSpPr>
          <p:nvPr/>
        </p:nvCxnSpPr>
        <p:spPr>
          <a:xfrm>
            <a:off x="9001760" y="2865120"/>
            <a:ext cx="2525560" cy="0"/>
          </a:xfrm>
          <a:prstGeom prst="line">
            <a:avLst/>
          </a:prstGeom>
          <a:ln>
            <a:headEnd type="oval"/>
            <a:tailEnd type="none" w="sm" len="s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23810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C6E4B-2612-CB1A-C1B3-27FDA52FAEE4}"/>
              </a:ext>
            </a:extLst>
          </p:cNvPr>
          <p:cNvSpPr>
            <a:spLocks noGrp="1"/>
          </p:cNvSpPr>
          <p:nvPr>
            <p:ph type="title"/>
          </p:nvPr>
        </p:nvSpPr>
        <p:spPr/>
        <p:txBody>
          <a:bodyPr/>
          <a:lstStyle/>
          <a:p>
            <a:r>
              <a:rPr lang="en-US" dirty="0">
                <a:latin typeface="Times New Roman" panose="02020603050405020304" pitchFamily="18" charset="0"/>
                <a:cs typeface="Times New Roman" pitchFamily="18" charset="0"/>
              </a:rPr>
              <a:t>Technology Stack</a:t>
            </a:r>
          </a:p>
        </p:txBody>
      </p:sp>
      <p:sp>
        <p:nvSpPr>
          <p:cNvPr id="3" name="Content Placeholder 2">
            <a:extLst>
              <a:ext uri="{FF2B5EF4-FFF2-40B4-BE49-F238E27FC236}">
                <a16:creationId xmlns:a16="http://schemas.microsoft.com/office/drawing/2014/main" id="{1CE94ECB-55DF-1438-2125-76A0BC0D0AF8}"/>
              </a:ext>
            </a:extLst>
          </p:cNvPr>
          <p:cNvSpPr>
            <a:spLocks noGrp="1"/>
          </p:cNvSpPr>
          <p:nvPr>
            <p:ph idx="1"/>
          </p:nvPr>
        </p:nvSpPr>
        <p:spPr>
          <a:xfrm>
            <a:off x="1097280" y="2060644"/>
            <a:ext cx="9997440" cy="3808449"/>
          </a:xfrm>
        </p:spPr>
        <p:txBody>
          <a:bodyPr>
            <a:normAutofit fontScale="92500" lnSpcReduction="10000"/>
          </a:bodyPr>
          <a:lstStyle/>
          <a:p>
            <a:r>
              <a:rPr lang="en-US" sz="2400" u="sng" dirty="0">
                <a:latin typeface="Times New Roman" pitchFamily="18" charset="0"/>
                <a:cs typeface="Times New Roman" pitchFamily="18" charset="0"/>
              </a:rPr>
              <a:t>Front End</a:t>
            </a:r>
          </a:p>
          <a:p>
            <a:endParaRPr lang="en-US" sz="2400" u="sng" dirty="0">
              <a:latin typeface="Times New Roman" pitchFamily="18" charset="0"/>
              <a:cs typeface="Times New Roman" pitchFamily="18" charset="0"/>
            </a:endParaRPr>
          </a:p>
          <a:p>
            <a:endParaRPr lang="en-US" sz="2400" u="sng" dirty="0">
              <a:latin typeface="Times New Roman" pitchFamily="18" charset="0"/>
              <a:cs typeface="Times New Roman" pitchFamily="18" charset="0"/>
            </a:endParaRPr>
          </a:p>
          <a:p>
            <a:r>
              <a:rPr lang="en-US" sz="2400" u="sng" dirty="0">
                <a:latin typeface="Times New Roman" pitchFamily="18" charset="0"/>
                <a:cs typeface="Times New Roman" pitchFamily="18" charset="0"/>
              </a:rPr>
              <a:t>Back End</a:t>
            </a:r>
          </a:p>
          <a:p>
            <a:endParaRPr lang="en-US" sz="2400" u="sng" dirty="0">
              <a:latin typeface="Times New Roman" pitchFamily="18" charset="0"/>
              <a:cs typeface="Times New Roman" pitchFamily="18" charset="0"/>
            </a:endParaRPr>
          </a:p>
          <a:p>
            <a:endParaRPr lang="en-US" sz="2400" u="sng" dirty="0">
              <a:latin typeface="Times New Roman" pitchFamily="18" charset="0"/>
              <a:cs typeface="Times New Roman" pitchFamily="18" charset="0"/>
            </a:endParaRPr>
          </a:p>
          <a:p>
            <a:br>
              <a:rPr lang="en-US" sz="2400" u="sng" dirty="0">
                <a:latin typeface="Times New Roman" pitchFamily="18" charset="0"/>
                <a:cs typeface="Times New Roman" pitchFamily="18" charset="0"/>
              </a:rPr>
            </a:br>
            <a:r>
              <a:rPr lang="en-US" sz="2400" u="sng" dirty="0">
                <a:latin typeface="Times New Roman" pitchFamily="18" charset="0"/>
                <a:cs typeface="Times New Roman" pitchFamily="18" charset="0"/>
              </a:rPr>
              <a:t>API Used</a:t>
            </a:r>
            <a:br>
              <a:rPr lang="en-US" sz="2400" u="sng" dirty="0">
                <a:latin typeface="Times New Roman" pitchFamily="18" charset="0"/>
                <a:cs typeface="Times New Roman" pitchFamily="18" charset="0"/>
              </a:rPr>
            </a:br>
            <a:endParaRPr lang="en-US" sz="2400" u="sng" dirty="0">
              <a:latin typeface="Times New Roman" pitchFamily="18" charset="0"/>
              <a:cs typeface="Times New Roman" pitchFamily="18" charset="0"/>
            </a:endParaRPr>
          </a:p>
          <a:p>
            <a:endParaRPr lang="en-US" sz="2400" u="sng" dirty="0">
              <a:latin typeface="Times New Roman" pitchFamily="18" charset="0"/>
              <a:cs typeface="Times New Roman" pitchFamily="18" charset="0"/>
            </a:endParaRPr>
          </a:p>
        </p:txBody>
      </p:sp>
      <p:sp>
        <p:nvSpPr>
          <p:cNvPr id="4" name="TextBox 3">
            <a:extLst>
              <a:ext uri="{FF2B5EF4-FFF2-40B4-BE49-F238E27FC236}">
                <a16:creationId xmlns:a16="http://schemas.microsoft.com/office/drawing/2014/main" id="{63C33479-61AB-2D06-49B5-6F107CC8E476}"/>
              </a:ext>
            </a:extLst>
          </p:cNvPr>
          <p:cNvSpPr txBox="1"/>
          <p:nvPr/>
        </p:nvSpPr>
        <p:spPr>
          <a:xfrm>
            <a:off x="1097280" y="2418080"/>
            <a:ext cx="8129148" cy="646331"/>
          </a:xfrm>
          <a:prstGeom prst="rect">
            <a:avLst/>
          </a:prstGeom>
          <a:noFill/>
        </p:spPr>
        <p:txBody>
          <a:bodyPr wrap="none" rtlCol="0">
            <a:spAutoFit/>
          </a:bodyPr>
          <a:lstStyle/>
          <a:p>
            <a:pPr>
              <a:buNone/>
            </a:pPr>
            <a:r>
              <a:rPr lang="en-GB" sz="1800" dirty="0">
                <a:solidFill>
                  <a:srgbClr val="000000"/>
                </a:solidFill>
                <a:effectLst/>
                <a:latin typeface="Times New Roman" panose="02020603050405020304" pitchFamily="18" charset="0"/>
                <a:cs typeface="Times New Roman" panose="02020603050405020304" pitchFamily="18" charset="0"/>
              </a:rPr>
              <a:t>React </a:t>
            </a:r>
            <a:r>
              <a:rPr lang="en-GB" sz="1800" dirty="0" err="1">
                <a:solidFill>
                  <a:srgbClr val="000000"/>
                </a:solidFill>
                <a:effectLst/>
                <a:latin typeface="Times New Roman" panose="02020603050405020304" pitchFamily="18" charset="0"/>
                <a:cs typeface="Times New Roman" panose="02020603050405020304" pitchFamily="18" charset="0"/>
              </a:rPr>
              <a:t>js</a:t>
            </a:r>
            <a:r>
              <a:rPr lang="en-GB" sz="1800" dirty="0">
                <a:solidFill>
                  <a:srgbClr val="000000"/>
                </a:solidFill>
                <a:effectLst/>
                <a:latin typeface="Times New Roman" panose="02020603050405020304" pitchFamily="18" charset="0"/>
                <a:cs typeface="Times New Roman" panose="02020603050405020304" pitchFamily="18" charset="0"/>
              </a:rPr>
              <a:t> 	 : </a:t>
            </a:r>
            <a:r>
              <a:rPr lang="en-US" sz="1800" dirty="0">
                <a:solidFill>
                  <a:srgbClr val="000000"/>
                </a:solidFill>
                <a:effectLst/>
                <a:latin typeface="Times New Roman" panose="02020603050405020304" pitchFamily="18" charset="0"/>
                <a:cs typeface="Times New Roman" panose="02020603050405020304" pitchFamily="18" charset="0"/>
              </a:rPr>
              <a:t>React.js is a powerful JavaScript library used for building user interfaces. </a:t>
            </a:r>
            <a:endParaRPr lang="en-US" dirty="0">
              <a:latin typeface="Times New Roman" panose="02020603050405020304" pitchFamily="18" charset="0"/>
              <a:cs typeface="Times New Roman" panose="02020603050405020304" pitchFamily="18" charset="0"/>
            </a:endParaRPr>
          </a:p>
          <a:p>
            <a:pPr>
              <a:buNone/>
            </a:pPr>
            <a:r>
              <a:rPr lang="en-US" sz="1800" dirty="0">
                <a:solidFill>
                  <a:srgbClr val="000000"/>
                </a:solidFill>
                <a:effectLst/>
                <a:latin typeface="Times New Roman" panose="02020603050405020304" pitchFamily="18" charset="0"/>
                <a:cs typeface="Times New Roman" panose="02020603050405020304" pitchFamily="18" charset="0"/>
              </a:rPr>
              <a:t>Scan/cd 	 : Frontend component Library</a:t>
            </a:r>
            <a:endParaRPr lang="en-GB"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89D3595-D833-2F2A-0246-AA7F0A546A13}"/>
              </a:ext>
            </a:extLst>
          </p:cNvPr>
          <p:cNvSpPr txBox="1"/>
          <p:nvPr/>
        </p:nvSpPr>
        <p:spPr>
          <a:xfrm>
            <a:off x="1097280" y="4022314"/>
            <a:ext cx="10020307" cy="1200329"/>
          </a:xfrm>
          <a:prstGeom prst="rect">
            <a:avLst/>
          </a:prstGeom>
          <a:noFill/>
        </p:spPr>
        <p:txBody>
          <a:bodyPr wrap="none" rtlCol="0">
            <a:spAutoFit/>
          </a:bodyPr>
          <a:lstStyle/>
          <a:p>
            <a:pPr>
              <a:buNone/>
            </a:pPr>
            <a:r>
              <a:rPr lang="en-US" sz="1800" dirty="0">
                <a:solidFill>
                  <a:srgbClr val="000000"/>
                </a:solidFill>
                <a:effectLst/>
                <a:latin typeface="Times New Roman" panose="02020603050405020304" pitchFamily="18" charset="0"/>
                <a:cs typeface="Times New Roman" panose="02020603050405020304" pitchFamily="18" charset="0"/>
              </a:rPr>
              <a:t>Node </a:t>
            </a:r>
            <a:r>
              <a:rPr lang="en-US" dirty="0" err="1">
                <a:solidFill>
                  <a:srgbClr val="000000"/>
                </a:solidFill>
                <a:latin typeface="Times New Roman" panose="02020603050405020304" pitchFamily="18" charset="0"/>
                <a:cs typeface="Times New Roman" panose="02020603050405020304" pitchFamily="18" charset="0"/>
              </a:rPr>
              <a:t>js</a:t>
            </a:r>
            <a:r>
              <a:rPr lang="en-US" dirty="0">
                <a:solidFill>
                  <a:srgbClr val="000000"/>
                </a:solidFill>
                <a:latin typeface="Times New Roman" panose="02020603050405020304" pitchFamily="18" charset="0"/>
                <a:cs typeface="Times New Roman" panose="02020603050405020304" pitchFamily="18" charset="0"/>
              </a:rPr>
              <a:t>      : </a:t>
            </a:r>
            <a:r>
              <a:rPr lang="en-US" sz="1800" dirty="0">
                <a:solidFill>
                  <a:srgbClr val="000000"/>
                </a:solidFill>
                <a:effectLst/>
                <a:latin typeface="Times New Roman" panose="02020603050405020304" pitchFamily="18" charset="0"/>
                <a:cs typeface="Times New Roman" panose="02020603050405020304" pitchFamily="18" charset="0"/>
              </a:rPr>
              <a:t>JavaScript runtime for server-side applications. </a:t>
            </a:r>
            <a:endParaRPr lang="en-US" sz="2000" dirty="0">
              <a:latin typeface="Times New Roman" panose="02020603050405020304" pitchFamily="18" charset="0"/>
              <a:cs typeface="Times New Roman" panose="02020603050405020304" pitchFamily="18" charset="0"/>
            </a:endParaRPr>
          </a:p>
          <a:p>
            <a:pPr>
              <a:buNone/>
            </a:pPr>
            <a:r>
              <a:rPr lang="en-US" sz="1800" dirty="0">
                <a:solidFill>
                  <a:srgbClr val="000000"/>
                </a:solidFill>
                <a:effectLst/>
                <a:latin typeface="Times New Roman" panose="02020603050405020304" pitchFamily="18" charset="0"/>
                <a:cs typeface="Times New Roman" panose="02020603050405020304" pitchFamily="18" charset="0"/>
              </a:rPr>
              <a:t>Express </a:t>
            </a:r>
            <a:r>
              <a:rPr lang="en-US" sz="1800" dirty="0" err="1">
                <a:solidFill>
                  <a:srgbClr val="000000"/>
                </a:solidFill>
                <a:effectLst/>
                <a:latin typeface="Times New Roman" panose="02020603050405020304" pitchFamily="18" charset="0"/>
                <a:cs typeface="Times New Roman" panose="02020603050405020304" pitchFamily="18" charset="0"/>
              </a:rPr>
              <a:t>js</a:t>
            </a:r>
            <a:r>
              <a:rPr lang="en-US" sz="1800" dirty="0">
                <a:solidFill>
                  <a:srgbClr val="000000"/>
                </a:solidFill>
                <a:effectLst/>
                <a:latin typeface="Times New Roman" panose="02020603050405020304" pitchFamily="18" charset="0"/>
                <a:cs typeface="Times New Roman" panose="02020603050405020304" pitchFamily="18" charset="0"/>
              </a:rPr>
              <a:t>  : Web application framework for Node.js that simplifies server-side development by providing </a:t>
            </a:r>
            <a:endParaRPr lang="en-US" sz="2000" dirty="0">
              <a:latin typeface="Times New Roman" panose="02020603050405020304" pitchFamily="18" charset="0"/>
              <a:cs typeface="Times New Roman" panose="02020603050405020304" pitchFamily="18" charset="0"/>
            </a:endParaRPr>
          </a:p>
          <a:p>
            <a:pPr>
              <a:buNone/>
            </a:pPr>
            <a:r>
              <a:rPr lang="en-US" sz="1800" dirty="0">
                <a:solidFill>
                  <a:srgbClr val="000000"/>
                </a:solidFill>
                <a:effectLst/>
                <a:latin typeface="Times New Roman" panose="02020603050405020304" pitchFamily="18" charset="0"/>
                <a:cs typeface="Times New Roman" panose="02020603050405020304" pitchFamily="18" charset="0"/>
              </a:rPr>
              <a:t>		    robust features for building web applications.</a:t>
            </a:r>
            <a:endParaRPr lang="en-US" sz="2400" u="sng" dirty="0">
              <a:latin typeface="Times New Roman" panose="02020603050405020304" pitchFamily="18" charset="0"/>
              <a:cs typeface="Times New Roman" pitchFamily="18" charset="0"/>
            </a:endParaRPr>
          </a:p>
          <a:p>
            <a:endParaRPr lang="en-GB"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BE29969-06E6-CB09-EC82-CE62C1E66BCF}"/>
              </a:ext>
            </a:extLst>
          </p:cNvPr>
          <p:cNvSpPr txBox="1"/>
          <p:nvPr/>
        </p:nvSpPr>
        <p:spPr>
          <a:xfrm>
            <a:off x="1097280" y="5545928"/>
            <a:ext cx="7076874" cy="646331"/>
          </a:xfrm>
          <a:prstGeom prst="rect">
            <a:avLst/>
          </a:prstGeom>
          <a:noFill/>
        </p:spPr>
        <p:txBody>
          <a:bodyPr wrap="none" rtlCol="0">
            <a:spAutoFit/>
          </a:bodyPr>
          <a:lstStyle/>
          <a:p>
            <a:r>
              <a:rPr lang="en-US" sz="1800" dirty="0">
                <a:solidFill>
                  <a:srgbClr val="000000"/>
                </a:solidFill>
                <a:effectLst/>
                <a:latin typeface="Times New Roman" panose="02020603050405020304" pitchFamily="18" charset="0"/>
                <a:cs typeface="Times New Roman" panose="02020603050405020304" pitchFamily="18" charset="0"/>
              </a:rPr>
              <a:t>Gemini API  : AI-powered text and media processing. </a:t>
            </a:r>
            <a:br>
              <a:rPr lang="en-US" sz="1800" dirty="0">
                <a:solidFill>
                  <a:srgbClr val="000000"/>
                </a:solidFill>
                <a:effectLst/>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Auth0           : </a:t>
            </a:r>
            <a:r>
              <a:rPr lang="en-US" sz="1800" dirty="0">
                <a:solidFill>
                  <a:srgbClr val="000000"/>
                </a:solidFill>
                <a:effectLst/>
                <a:latin typeface="Times New Roman" panose="02020603050405020304" pitchFamily="18" charset="0"/>
                <a:cs typeface="Times New Roman" panose="02020603050405020304" pitchFamily="18" charset="0"/>
              </a:rPr>
              <a:t>Auth0 enables secure user authentication and authorization</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02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1450757"/>
          </a:xfrm>
        </p:spPr>
        <p:txBody>
          <a:bodyPr/>
          <a:lstStyle/>
          <a:p>
            <a:r>
              <a:rPr lang="en-IN" dirty="0">
                <a:latin typeface="Times New Roman" pitchFamily="18" charset="0"/>
                <a:cs typeface="Times New Roman" pitchFamily="18" charset="0"/>
              </a:rPr>
              <a:t>Implementation Details</a:t>
            </a:r>
          </a:p>
        </p:txBody>
      </p:sp>
      <p:sp>
        <p:nvSpPr>
          <p:cNvPr id="3" name="Content Placeholder 2"/>
          <p:cNvSpPr>
            <a:spLocks noGrp="1"/>
          </p:cNvSpPr>
          <p:nvPr>
            <p:ph idx="1"/>
          </p:nvPr>
        </p:nvSpPr>
        <p:spPr>
          <a:xfrm>
            <a:off x="1213881" y="1833459"/>
            <a:ext cx="10058400" cy="4186851"/>
          </a:xfrm>
        </p:spPr>
        <p:txBody>
          <a:bodyPr>
            <a:normAutofit/>
          </a:bodyPr>
          <a:lstStyle/>
          <a:p>
            <a:pPr marL="0" indent="0">
              <a:buNone/>
            </a:pPr>
            <a:r>
              <a:rPr lang="en-IN" i="0" u="sng" dirty="0">
                <a:effectLst/>
                <a:latin typeface="Times New Roman" panose="02020603050405020304" pitchFamily="18" charset="0"/>
                <a:cs typeface="Times New Roman" panose="02020603050405020304" pitchFamily="18" charset="0"/>
              </a:rPr>
              <a:t>User Authentication</a:t>
            </a:r>
          </a:p>
          <a:p>
            <a:pPr marL="0" indent="0">
              <a:buClr>
                <a:schemeClr val="tx1">
                  <a:lumMod val="75000"/>
                  <a:lumOff val="25000"/>
                </a:schemeClr>
              </a:buClr>
              <a:buNone/>
            </a:pPr>
            <a:r>
              <a:rPr lang="en-IN" sz="1800" i="0" dirty="0">
                <a:effectLst/>
                <a:latin typeface="Times New Roman" panose="02020603050405020304" pitchFamily="18" charset="0"/>
                <a:cs typeface="Times New Roman" panose="02020603050405020304" pitchFamily="18" charset="0"/>
              </a:rPr>
              <a:t>1.Auth0</a:t>
            </a:r>
            <a:r>
              <a:rPr lang="en-IN" sz="1800" b="1" i="0" dirty="0">
                <a:effectLst/>
                <a:latin typeface="Times New Roman" panose="02020603050405020304" pitchFamily="18" charset="0"/>
                <a:cs typeface="Times New Roman" panose="02020603050405020304" pitchFamily="18" charset="0"/>
              </a:rPr>
              <a:t> </a:t>
            </a:r>
            <a:r>
              <a:rPr lang="en-IN" sz="1800" i="0" dirty="0">
                <a:effectLst/>
                <a:latin typeface="Times New Roman" panose="02020603050405020304" pitchFamily="18" charset="0"/>
                <a:cs typeface="Times New Roman" panose="02020603050405020304" pitchFamily="18" charset="0"/>
              </a:rPr>
              <a:t>Integration</a:t>
            </a:r>
            <a:r>
              <a:rPr lang="en-IN" sz="1800" b="0" i="0" dirty="0">
                <a:effectLst/>
                <a:latin typeface="Times New Roman" panose="02020603050405020304" pitchFamily="18" charset="0"/>
                <a:cs typeface="Times New Roman" panose="02020603050405020304" pitchFamily="18" charset="0"/>
              </a:rPr>
              <a:t>:</a:t>
            </a:r>
          </a:p>
          <a:p>
            <a:pPr lvl="1">
              <a:buClr>
                <a:schemeClr val="tx1">
                  <a:lumMod val="75000"/>
                  <a:lumOff val="25000"/>
                </a:schemeClr>
              </a:buClr>
              <a:buFont typeface="Arial" panose="020B0604020202020204" pitchFamily="34" charset="0"/>
              <a:buChar char="•"/>
            </a:pPr>
            <a:r>
              <a:rPr lang="en-US" b="0" i="0" dirty="0">
                <a:solidFill>
                  <a:srgbClr val="CCCCCC"/>
                </a:solidFill>
                <a:effectLst/>
                <a:latin typeface="Times New Roman" panose="02020603050405020304" pitchFamily="18" charset="0"/>
                <a:cs typeface="Times New Roman" panose="02020603050405020304" pitchFamily="18" charset="0"/>
              </a:rPr>
              <a:t> </a:t>
            </a:r>
            <a:r>
              <a:rPr lang="en-US" b="0" i="0" dirty="0">
                <a:effectLst/>
                <a:latin typeface="Times New Roman" panose="02020603050405020304" pitchFamily="18" charset="0"/>
                <a:cs typeface="Times New Roman" panose="02020603050405020304" pitchFamily="18" charset="0"/>
              </a:rPr>
              <a:t>Auth0Provider wraps the app for authentication</a:t>
            </a:r>
            <a:r>
              <a:rPr lang="en-US" b="0" i="0" dirty="0">
                <a:solidFill>
                  <a:srgbClr val="CCCCCC"/>
                </a:solidFill>
                <a:effectLst/>
                <a:latin typeface="Times New Roman" panose="02020603050405020304" pitchFamily="18" charset="0"/>
                <a:cs typeface="Times New Roman" panose="02020603050405020304" pitchFamily="18" charset="0"/>
              </a:rPr>
              <a:t>.</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Configured with domain, </a:t>
            </a:r>
            <a:r>
              <a:rPr lang="en-US" dirty="0" err="1">
                <a:latin typeface="Times New Roman" panose="02020603050405020304" pitchFamily="18" charset="0"/>
                <a:cs typeface="Times New Roman" panose="02020603050405020304" pitchFamily="18" charset="0"/>
              </a:rPr>
              <a:t>clientId</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redirect_uri</a:t>
            </a:r>
            <a:r>
              <a:rPr lang="en-US" dirty="0">
                <a:latin typeface="Times New Roman" panose="02020603050405020304" pitchFamily="18" charset="0"/>
                <a:cs typeface="Times New Roman" panose="02020603050405020304" pitchFamily="18" charset="0"/>
              </a:rPr>
              <a:t> from environment variables.</a:t>
            </a:r>
            <a:endParaRPr lang="en-US" sz="1800" dirty="0">
              <a:latin typeface="Times New Roman" panose="02020603050405020304" pitchFamily="18" charset="0"/>
              <a:cs typeface="Times New Roman" panose="02020603050405020304" pitchFamily="18" charset="0"/>
            </a:endParaRPr>
          </a:p>
          <a:p>
            <a:pPr marL="0" indent="0">
              <a:buClr>
                <a:schemeClr val="tx1">
                  <a:lumMod val="75000"/>
                  <a:lumOff val="25000"/>
                </a:schemeClr>
              </a:buClr>
              <a:buNone/>
            </a:pPr>
            <a:r>
              <a:rPr lang="en-IN" sz="1800" dirty="0">
                <a:latin typeface="Times New Roman" panose="02020603050405020304" pitchFamily="18" charset="0"/>
                <a:cs typeface="Times New Roman" panose="02020603050405020304" pitchFamily="18" charset="0"/>
              </a:rPr>
              <a:t>2. Session Management:</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Sessions persist using </a:t>
            </a:r>
            <a:r>
              <a:rPr lang="en-US" dirty="0" err="1">
                <a:latin typeface="Times New Roman" panose="02020603050405020304" pitchFamily="18" charset="0"/>
                <a:cs typeface="Times New Roman" panose="02020603050405020304" pitchFamily="18" charset="0"/>
              </a:rPr>
              <a:t>localstorage</a:t>
            </a:r>
            <a:r>
              <a:rPr lang="en-US"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marL="0" indent="0">
              <a:buClr>
                <a:schemeClr val="tx1">
                  <a:lumMod val="75000"/>
                  <a:lumOff val="25000"/>
                </a:schemeClr>
              </a:buClr>
              <a:buNone/>
            </a:pPr>
            <a:r>
              <a:rPr lang="en-US" sz="1800" dirty="0">
                <a:latin typeface="Times New Roman" panose="02020603050405020304" pitchFamily="18" charset="0"/>
                <a:cs typeface="Times New Roman" panose="02020603050405020304" pitchFamily="18" charset="0"/>
              </a:rPr>
              <a:t>3. Redirect Handling:</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Redirects users to /dashboard after login.</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Custom callback ensures proper navigation</a:t>
            </a:r>
            <a:r>
              <a:rPr lang="en-US" sz="1700" dirty="0">
                <a:latin typeface="Times New Roman" panose="02020603050405020304" pitchFamily="18" charset="0"/>
                <a:cs typeface="Times New Roman" panose="02020603050405020304" pitchFamily="18" charset="0"/>
              </a:rPr>
              <a:t>.</a:t>
            </a:r>
          </a:p>
          <a:p>
            <a:pPr marL="0" indent="0">
              <a:buNone/>
            </a:pPr>
            <a:r>
              <a:rPr lang="en-IN" sz="1800" dirty="0">
                <a:latin typeface="Times New Roman" panose="02020603050405020304" pitchFamily="18" charset="0"/>
                <a:cs typeface="Times New Roman" panose="02020603050405020304" pitchFamily="18" charset="0"/>
              </a:rPr>
              <a:t>4.Error Handling:</a:t>
            </a:r>
          </a:p>
          <a:p>
            <a:pPr lvl="1">
              <a:buClr>
                <a:schemeClr val="tx1">
                  <a:lumMod val="75000"/>
                  <a:lumOff val="25000"/>
                </a:schemeClr>
              </a:buCl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Logs authentication errors for debugging.</a:t>
            </a:r>
          </a:p>
          <a:p>
            <a:pPr marL="201168" lvl="1" indent="0">
              <a:buClr>
                <a:schemeClr val="tx1">
                  <a:lumMod val="75000"/>
                  <a:lumOff val="25000"/>
                </a:schemeClr>
              </a:buClr>
              <a:buNone/>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2793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26491A8-74D3-7EEA-F895-EE738500F5E6}"/>
              </a:ext>
            </a:extLst>
          </p:cNvPr>
          <p:cNvSpPr>
            <a:spLocks noGrp="1"/>
          </p:cNvSpPr>
          <p:nvPr>
            <p:ph type="title"/>
          </p:nvPr>
        </p:nvSpPr>
        <p:spPr>
          <a:xfrm>
            <a:off x="1097280" y="286603"/>
            <a:ext cx="9983530" cy="1450757"/>
          </a:xfrm>
        </p:spPr>
        <p:txBody>
          <a:bodyPr/>
          <a:lstStyle/>
          <a:p>
            <a:r>
              <a:rPr lang="en-IN" dirty="0">
                <a:latin typeface="Times New Roman" pitchFamily="18" charset="0"/>
                <a:cs typeface="Times New Roman" pitchFamily="18" charset="0"/>
              </a:rPr>
              <a:t>Implementation Details</a:t>
            </a:r>
            <a:endParaRPr lang="en-IN" dirty="0"/>
          </a:p>
        </p:txBody>
      </p:sp>
      <p:sp>
        <p:nvSpPr>
          <p:cNvPr id="14" name="Content Placeholder 13">
            <a:extLst>
              <a:ext uri="{FF2B5EF4-FFF2-40B4-BE49-F238E27FC236}">
                <a16:creationId xmlns:a16="http://schemas.microsoft.com/office/drawing/2014/main" id="{FAF8E7D5-E537-03B4-6022-FFA91F2A1A38}"/>
              </a:ext>
            </a:extLst>
          </p:cNvPr>
          <p:cNvSpPr>
            <a:spLocks noGrp="1"/>
          </p:cNvSpPr>
          <p:nvPr>
            <p:ph idx="1"/>
          </p:nvPr>
        </p:nvSpPr>
        <p:spPr>
          <a:xfrm>
            <a:off x="1022410" y="1851870"/>
            <a:ext cx="10058400" cy="4358685"/>
          </a:xfrm>
        </p:spPr>
        <p:txBody>
          <a:bodyPr>
            <a:normAutofit/>
          </a:bodyPr>
          <a:lstStyle/>
          <a:p>
            <a:pPr marL="201168" lvl="1" indent="0">
              <a:buClr>
                <a:schemeClr val="tx1">
                  <a:lumMod val="75000"/>
                  <a:lumOff val="25000"/>
                </a:schemeClr>
              </a:buClr>
              <a:buNone/>
            </a:pPr>
            <a:r>
              <a:rPr lang="en-IN" u="sng" dirty="0">
                <a:latin typeface="Times New Roman" panose="02020603050405020304" pitchFamily="18" charset="0"/>
                <a:cs typeface="Times New Roman" panose="02020603050405020304" pitchFamily="18" charset="0"/>
              </a:rPr>
              <a:t>AI Integration Implementation</a:t>
            </a:r>
          </a:p>
          <a:p>
            <a:pPr marL="544068" lvl="1" indent="-342900">
              <a:buClr>
                <a:schemeClr val="tx1">
                  <a:lumMod val="75000"/>
                  <a:lumOff val="25000"/>
                </a:schemeClr>
              </a:buClr>
              <a:buAutoNum type="arabicPeriod"/>
            </a:pPr>
            <a:r>
              <a:rPr lang="en-IN" dirty="0">
                <a:latin typeface="Times New Roman" panose="02020603050405020304" pitchFamily="18" charset="0"/>
                <a:cs typeface="Times New Roman" panose="02020603050405020304" pitchFamily="18" charset="0"/>
              </a:rPr>
              <a:t>Purpose:</a:t>
            </a:r>
          </a:p>
          <a:p>
            <a:pPr lvl="2">
              <a:buClr>
                <a:schemeClr val="tx1">
                  <a:lumMod val="75000"/>
                  <a:lumOff val="25000"/>
                </a:schemeClr>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Enhances user experience with intelligent features.</a:t>
            </a:r>
          </a:p>
          <a:p>
            <a:pPr marL="201168" lvl="1" indent="0">
              <a:buClr>
                <a:schemeClr val="tx1">
                  <a:lumMod val="75000"/>
                  <a:lumOff val="25000"/>
                </a:schemeClr>
              </a:buClr>
              <a:buNone/>
            </a:pPr>
            <a:r>
              <a:rPr lang="en-US" dirty="0">
                <a:latin typeface="Times New Roman" panose="02020603050405020304" pitchFamily="18" charset="0"/>
                <a:cs typeface="Times New Roman" panose="02020603050405020304" pitchFamily="18" charset="0"/>
              </a:rPr>
              <a:t>2. Integration: </a:t>
            </a:r>
          </a:p>
          <a:p>
            <a:pPr lvl="2">
              <a:buClr>
                <a:schemeClr val="tx1">
                  <a:lumMod val="75000"/>
                  <a:lumOff val="25000"/>
                </a:schemeClr>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AI services accessed via APIs or libraries</a:t>
            </a:r>
          </a:p>
          <a:p>
            <a:pPr marL="201168" lvl="1" indent="0">
              <a:buClr>
                <a:schemeClr val="tx1">
                  <a:lumMod val="75000"/>
                  <a:lumOff val="25000"/>
                </a:schemeClr>
              </a:buClr>
              <a:buNone/>
            </a:pPr>
            <a:r>
              <a:rPr lang="en-US" dirty="0">
                <a:latin typeface="Times New Roman" panose="02020603050405020304" pitchFamily="18" charset="0"/>
                <a:cs typeface="Times New Roman" panose="02020603050405020304" pitchFamily="18" charset="0"/>
              </a:rPr>
              <a:t>3.Frontend: </a:t>
            </a:r>
          </a:p>
          <a:p>
            <a:pPr lvl="2">
              <a:buClr>
                <a:schemeClr val="tx1">
                  <a:lumMod val="75000"/>
                  <a:lumOff val="25000"/>
                </a:schemeClr>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React components interact with AI for real-time responses.</a:t>
            </a:r>
          </a:p>
          <a:p>
            <a:pPr marL="201168" lvl="1" indent="0">
              <a:buClr>
                <a:schemeClr val="tx1">
                  <a:lumMod val="75000"/>
                  <a:lumOff val="25000"/>
                </a:schemeClr>
              </a:buClr>
              <a:buNone/>
            </a:pPr>
            <a:r>
              <a:rPr lang="en-US" dirty="0">
                <a:latin typeface="Times New Roman" panose="02020603050405020304" pitchFamily="18" charset="0"/>
                <a:cs typeface="Times New Roman" panose="02020603050405020304" pitchFamily="18" charset="0"/>
              </a:rPr>
              <a:t>4.Optimization: </a:t>
            </a:r>
          </a:p>
          <a:p>
            <a:pPr lvl="2">
              <a:buClr>
                <a:schemeClr val="tx1">
                  <a:lumMod val="75000"/>
                  <a:lumOff val="25000"/>
                </a:schemeClr>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Asynchronous calls and caching for performance.</a:t>
            </a:r>
          </a:p>
          <a:p>
            <a:pPr marL="384048" lvl="2" indent="0">
              <a:buClr>
                <a:schemeClr val="tx1">
                  <a:lumMod val="75000"/>
                  <a:lumOff val="25000"/>
                </a:schemeClr>
              </a:buClr>
              <a:buNone/>
            </a:pPr>
            <a:endParaRPr lang="en-US" sz="1800" dirty="0">
              <a:latin typeface="Times New Roman" panose="02020603050405020304" pitchFamily="18" charset="0"/>
              <a:cs typeface="Times New Roman" panose="02020603050405020304" pitchFamily="18" charset="0"/>
            </a:endParaRPr>
          </a:p>
          <a:p>
            <a:pPr marL="201168" lvl="1" indent="0">
              <a:buClr>
                <a:schemeClr val="tx1">
                  <a:lumMod val="75000"/>
                  <a:lumOff val="25000"/>
                </a:schemeClr>
              </a:buClr>
              <a:buNone/>
            </a:pPr>
            <a:r>
              <a:rPr lang="en-US" u="sng" dirty="0">
                <a:latin typeface="Times New Roman" panose="02020603050405020304" pitchFamily="18" charset="0"/>
                <a:cs typeface="Times New Roman" panose="02020603050405020304" pitchFamily="18" charset="0"/>
              </a:rPr>
              <a:t>Collaboration</a:t>
            </a:r>
          </a:p>
          <a:p>
            <a:pPr marL="201168" lvl="1" indent="0">
              <a:buClr>
                <a:schemeClr val="tx1">
                  <a:lumMod val="75000"/>
                  <a:lumOff val="25000"/>
                </a:schemeClr>
              </a:buClr>
              <a:buNone/>
            </a:pPr>
            <a:r>
              <a:rPr lang="en-US" dirty="0">
                <a:latin typeface="Times New Roman" panose="02020603050405020304" pitchFamily="18" charset="0"/>
                <a:cs typeface="Times New Roman" panose="02020603050405020304" pitchFamily="18" charset="0"/>
              </a:rPr>
              <a:t>1.Real-Time Features:</a:t>
            </a:r>
          </a:p>
          <a:p>
            <a:pPr lvl="2">
              <a:buClr>
                <a:schemeClr val="tx1">
                  <a:lumMod val="75000"/>
                  <a:lumOff val="25000"/>
                </a:schemeClr>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Enables multiple users to interact or work together in real time (</a:t>
            </a:r>
            <a:r>
              <a:rPr lang="en-US" sz="1800" dirty="0" err="1">
                <a:latin typeface="Times New Roman" panose="02020603050405020304" pitchFamily="18" charset="0"/>
                <a:cs typeface="Times New Roman" panose="02020603050405020304" pitchFamily="18" charset="0"/>
              </a:rPr>
              <a:t>e.g.,Live</a:t>
            </a:r>
            <a:r>
              <a:rPr lang="en-US" sz="1800" dirty="0">
                <a:latin typeface="Times New Roman" panose="02020603050405020304" pitchFamily="18" charset="0"/>
                <a:cs typeface="Times New Roman" panose="02020603050405020304" pitchFamily="18" charset="0"/>
              </a:rPr>
              <a:t> cursor or Voice calls). </a:t>
            </a:r>
          </a:p>
        </p:txBody>
      </p:sp>
    </p:spTree>
    <p:extLst>
      <p:ext uri="{BB962C8B-B14F-4D97-AF65-F5344CB8AC3E}">
        <p14:creationId xmlns:p14="http://schemas.microsoft.com/office/powerpoint/2010/main" val="3626878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03F4-B42C-D2BF-2AB7-9C53D710516A}"/>
              </a:ext>
            </a:extLst>
          </p:cNvPr>
          <p:cNvSpPr>
            <a:spLocks noGrp="1"/>
          </p:cNvSpPr>
          <p:nvPr>
            <p:ph type="title"/>
          </p:nvPr>
        </p:nvSpPr>
        <p:spPr>
          <a:xfrm>
            <a:off x="1066800" y="275801"/>
            <a:ext cx="10058400" cy="1450757"/>
          </a:xfrm>
        </p:spPr>
        <p:txBody>
          <a:bodyPr>
            <a:normAutofit/>
          </a:bodyPr>
          <a:lstStyle/>
          <a:p>
            <a:r>
              <a:rPr lang="en-IN" dirty="0">
                <a:latin typeface="Times New Roman" pitchFamily="18" charset="0"/>
                <a:cs typeface="Times New Roman" pitchFamily="18" charset="0"/>
              </a:rPr>
              <a:t>Implementation Details</a:t>
            </a:r>
            <a:endParaRPr lang="en-IN" dirty="0"/>
          </a:p>
        </p:txBody>
      </p:sp>
      <p:sp>
        <p:nvSpPr>
          <p:cNvPr id="3" name="Content Placeholder 2">
            <a:extLst>
              <a:ext uri="{FF2B5EF4-FFF2-40B4-BE49-F238E27FC236}">
                <a16:creationId xmlns:a16="http://schemas.microsoft.com/office/drawing/2014/main" id="{EDF7AF0B-3102-412D-9D91-33FA79182718}"/>
              </a:ext>
            </a:extLst>
          </p:cNvPr>
          <p:cNvSpPr>
            <a:spLocks noGrp="1"/>
          </p:cNvSpPr>
          <p:nvPr>
            <p:ph idx="1"/>
          </p:nvPr>
        </p:nvSpPr>
        <p:spPr>
          <a:xfrm>
            <a:off x="1213881" y="1833460"/>
            <a:ext cx="10058400" cy="4023360"/>
          </a:xfrm>
        </p:spPr>
        <p:txBody>
          <a:bodyPr/>
          <a:lstStyle/>
          <a:p>
            <a:pPr marL="0" indent="0">
              <a:buNone/>
            </a:pPr>
            <a:r>
              <a:rPr lang="en-US" sz="1800" dirty="0">
                <a:latin typeface="Times New Roman" panose="02020603050405020304" pitchFamily="18" charset="0"/>
                <a:cs typeface="Times New Roman" panose="02020603050405020304" pitchFamily="18" charset="0"/>
              </a:rPr>
              <a:t>2.Backend Integration:</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t>
            </a:r>
            <a:r>
              <a:rPr lang="en-US" dirty="0" err="1">
                <a:latin typeface="Times New Roman" panose="02020603050405020304" pitchFamily="18" charset="0"/>
                <a:cs typeface="Times New Roman" panose="02020603050405020304" pitchFamily="18" charset="0"/>
              </a:rPr>
              <a:t>WebSockets</a:t>
            </a:r>
            <a:r>
              <a:rPr lang="en-US" dirty="0">
                <a:latin typeface="Times New Roman" panose="02020603050405020304" pitchFamily="18" charset="0"/>
                <a:cs typeface="Times New Roman" panose="02020603050405020304" pitchFamily="18" charset="0"/>
              </a:rPr>
              <a:t>, REST APIs, or third-party services for real-time data synchronization</a:t>
            </a:r>
            <a:r>
              <a:rPr lang="en-US" dirty="0"/>
              <a:t>.</a:t>
            </a:r>
            <a:endParaRPr lang="en-IN" dirty="0"/>
          </a:p>
          <a:p>
            <a:pPr marL="0">
              <a:buClr>
                <a:schemeClr val="tx1">
                  <a:lumMod val="75000"/>
                  <a:lumOff val="25000"/>
                </a:schemeClr>
              </a:buClr>
              <a:buNone/>
            </a:pPr>
            <a:r>
              <a:rPr lang="en-US" sz="1800" dirty="0">
                <a:latin typeface="Times New Roman" panose="02020603050405020304" pitchFamily="18" charset="0"/>
                <a:cs typeface="Times New Roman" panose="02020603050405020304" pitchFamily="18" charset="0"/>
              </a:rPr>
              <a:t>3.Frontend Interaction:</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React components dynamically update the UI based on collaborative actions.</a:t>
            </a:r>
          </a:p>
          <a:p>
            <a:pPr marL="0">
              <a:buClr>
                <a:schemeClr val="tx1">
                  <a:lumMod val="75000"/>
                  <a:lumOff val="25000"/>
                </a:schemeClr>
              </a:buClr>
              <a:buNone/>
            </a:pPr>
            <a:r>
              <a:rPr lang="en-US" sz="1800" dirty="0">
                <a:latin typeface="Times New Roman" panose="02020603050405020304" pitchFamily="18" charset="0"/>
                <a:cs typeface="Times New Roman" panose="02020603050405020304" pitchFamily="18" charset="0"/>
              </a:rPr>
              <a:t>4.User Roles:</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Implements role-based access control for managing permissions in collaborative environments.</a:t>
            </a:r>
          </a:p>
          <a:p>
            <a:pPr marL="0">
              <a:buClr>
                <a:schemeClr val="tx1">
                  <a:lumMod val="75000"/>
                  <a:lumOff val="25000"/>
                </a:schemeClr>
              </a:buClr>
              <a:buNone/>
            </a:pPr>
            <a:r>
              <a:rPr lang="en-US" sz="1800" u="sng" dirty="0">
                <a:latin typeface="Times New Roman" panose="02020603050405020304" pitchFamily="18" charset="0"/>
                <a:cs typeface="Times New Roman" panose="02020603050405020304" pitchFamily="18" charset="0"/>
              </a:rPr>
              <a:t>File Processing</a:t>
            </a:r>
          </a:p>
          <a:p>
            <a:pPr marL="251460" indent="-342900">
              <a:buClr>
                <a:schemeClr val="tx1">
                  <a:lumMod val="75000"/>
                  <a:lumOff val="25000"/>
                </a:schemeClr>
              </a:buClr>
              <a:buAutoNum type="arabicPeriod"/>
            </a:pPr>
            <a:r>
              <a:rPr lang="en-US" sz="1800" dirty="0">
                <a:latin typeface="Times New Roman" panose="02020603050405020304" pitchFamily="18" charset="0"/>
                <a:cs typeface="Times New Roman" panose="02020603050405020304" pitchFamily="18" charset="0"/>
              </a:rPr>
              <a:t>File Upload:</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can upload files via a React-based UI.</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Files are sent to the backend using APIs.</a:t>
            </a:r>
          </a:p>
        </p:txBody>
      </p:sp>
    </p:spTree>
    <p:extLst>
      <p:ext uri="{BB962C8B-B14F-4D97-AF65-F5344CB8AC3E}">
        <p14:creationId xmlns:p14="http://schemas.microsoft.com/office/powerpoint/2010/main" val="3248790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2DEC2-4254-AB2E-AB11-EFB509F94C05}"/>
              </a:ext>
            </a:extLst>
          </p:cNvPr>
          <p:cNvSpPr>
            <a:spLocks noGrp="1"/>
          </p:cNvSpPr>
          <p:nvPr>
            <p:ph type="title"/>
          </p:nvPr>
        </p:nvSpPr>
        <p:spPr>
          <a:xfrm>
            <a:off x="1115691" y="263527"/>
            <a:ext cx="10058400" cy="1450757"/>
          </a:xfrm>
        </p:spPr>
        <p:txBody>
          <a:bodyPr/>
          <a:lstStyle/>
          <a:p>
            <a:r>
              <a:rPr lang="en-IN" dirty="0">
                <a:latin typeface="Times New Roman" pitchFamily="18" charset="0"/>
                <a:cs typeface="Times New Roman" pitchFamily="18" charset="0"/>
              </a:rPr>
              <a:t>Implementation Details</a:t>
            </a:r>
            <a:endParaRPr lang="en-IN" dirty="0"/>
          </a:p>
        </p:txBody>
      </p:sp>
      <p:sp>
        <p:nvSpPr>
          <p:cNvPr id="3" name="Content Placeholder 2">
            <a:extLst>
              <a:ext uri="{FF2B5EF4-FFF2-40B4-BE49-F238E27FC236}">
                <a16:creationId xmlns:a16="http://schemas.microsoft.com/office/drawing/2014/main" id="{6AA4E46E-F751-5E3D-0E27-D6F1E16E2E67}"/>
              </a:ext>
            </a:extLst>
          </p:cNvPr>
          <p:cNvSpPr>
            <a:spLocks noGrp="1"/>
          </p:cNvSpPr>
          <p:nvPr>
            <p:ph idx="1"/>
          </p:nvPr>
        </p:nvSpPr>
        <p:spPr>
          <a:xfrm>
            <a:off x="1232292" y="1845734"/>
            <a:ext cx="10058400" cy="4023360"/>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2.Backend Handling:</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Files are processed on the server</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PDFs.</a:t>
            </a:r>
            <a:endParaRPr lang="en-IN" dirty="0">
              <a:latin typeface="Times New Roman" panose="02020603050405020304" pitchFamily="18" charset="0"/>
              <a:cs typeface="Times New Roman" panose="02020603050405020304" pitchFamily="18" charset="0"/>
            </a:endParaRPr>
          </a:p>
          <a:p>
            <a:pPr marL="0">
              <a:buClr>
                <a:schemeClr val="tx1">
                  <a:lumMod val="75000"/>
                  <a:lumOff val="25000"/>
                </a:schemeClr>
              </a:buClr>
              <a:buNone/>
            </a:pPr>
            <a:r>
              <a:rPr lang="en-US" sz="1800" dirty="0">
                <a:latin typeface="Times New Roman" panose="02020603050405020304" pitchFamily="18" charset="0"/>
                <a:cs typeface="Times New Roman" panose="02020603050405020304" pitchFamily="18" charset="0"/>
              </a:rPr>
              <a:t>3.Feedback to Users:</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progress indicators for uploads.</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Error messages for invalid files or processing failures</a:t>
            </a:r>
            <a:r>
              <a:rPr lang="en-US" sz="1600" dirty="0">
                <a:latin typeface="Times New Roman" panose="02020603050405020304" pitchFamily="18" charset="0"/>
                <a:cs typeface="Times New Roman" panose="02020603050405020304" pitchFamily="18" charset="0"/>
              </a:rPr>
              <a:t>.</a:t>
            </a:r>
          </a:p>
          <a:p>
            <a:pPr marL="0">
              <a:buClr>
                <a:schemeClr val="tx1">
                  <a:lumMod val="75000"/>
                  <a:lumOff val="25000"/>
                </a:schemeClr>
              </a:buClr>
              <a:buNone/>
            </a:pPr>
            <a:r>
              <a:rPr lang="en-US" sz="1800" dirty="0">
                <a:latin typeface="Times New Roman" panose="02020603050405020304" pitchFamily="18" charset="0"/>
                <a:cs typeface="Times New Roman" panose="02020603050405020304" pitchFamily="18" charset="0"/>
              </a:rPr>
              <a:t>4.Security:</a:t>
            </a:r>
          </a:p>
          <a:p>
            <a:pPr lvl="1">
              <a:buClr>
                <a:schemeClr val="tx1">
                  <a:lumMod val="75000"/>
                  <a:lumOff val="25000"/>
                </a:schemeClr>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Implements file size limits and type validation to prevent malicious uploads.</a:t>
            </a:r>
          </a:p>
        </p:txBody>
      </p:sp>
    </p:spTree>
    <p:extLst>
      <p:ext uri="{BB962C8B-B14F-4D97-AF65-F5344CB8AC3E}">
        <p14:creationId xmlns:p14="http://schemas.microsoft.com/office/powerpoint/2010/main" val="339462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C7270-57AB-60DD-4B25-985CA3CE36E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Screenshots</a:t>
            </a:r>
            <a:endParaRPr lang="en-IN" dirty="0">
              <a:latin typeface="Times New Roman" panose="02020603050405020304" pitchFamily="18" charset="0"/>
              <a:cs typeface="Times New Roman" panose="02020603050405020304" pitchFamily="18" charset="0"/>
            </a:endParaRPr>
          </a:p>
        </p:txBody>
      </p:sp>
      <p:pic>
        <p:nvPicPr>
          <p:cNvPr id="9" name="Content Placeholder 8">
            <a:extLst>
              <a:ext uri="{FF2B5EF4-FFF2-40B4-BE49-F238E27FC236}">
                <a16:creationId xmlns:a16="http://schemas.microsoft.com/office/drawing/2014/main" id="{5F2BC9BA-F783-44AA-C737-7A52CE25CB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53765" y="1846263"/>
            <a:ext cx="7144796" cy="4022725"/>
          </a:xfrm>
        </p:spPr>
      </p:pic>
      <p:sp>
        <p:nvSpPr>
          <p:cNvPr id="10" name="TextBox 9">
            <a:extLst>
              <a:ext uri="{FF2B5EF4-FFF2-40B4-BE49-F238E27FC236}">
                <a16:creationId xmlns:a16="http://schemas.microsoft.com/office/drawing/2014/main" id="{C5DAFE93-45CB-B6A0-9A23-AEB0910BF128}"/>
              </a:ext>
            </a:extLst>
          </p:cNvPr>
          <p:cNvSpPr txBox="1"/>
          <p:nvPr/>
        </p:nvSpPr>
        <p:spPr>
          <a:xfrm>
            <a:off x="5074204" y="5868988"/>
            <a:ext cx="204359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Img1:Dashboard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6675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8E2774-3B9A-E2A2-8096-44A51949A0E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Screenshots</a:t>
            </a:r>
            <a:endParaRPr lang="en-IN" dirty="0"/>
          </a:p>
        </p:txBody>
      </p:sp>
      <p:pic>
        <p:nvPicPr>
          <p:cNvPr id="8" name="Content Placeholder 7">
            <a:extLst>
              <a:ext uri="{FF2B5EF4-FFF2-40B4-BE49-F238E27FC236}">
                <a16:creationId xmlns:a16="http://schemas.microsoft.com/office/drawing/2014/main" id="{E430DCF5-D4B8-592F-968A-5C27810010F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396407" y="1846263"/>
            <a:ext cx="2267647" cy="3898637"/>
          </a:xfrm>
        </p:spPr>
      </p:pic>
      <p:pic>
        <p:nvPicPr>
          <p:cNvPr id="14" name="Content Placeholder 13">
            <a:extLst>
              <a:ext uri="{FF2B5EF4-FFF2-40B4-BE49-F238E27FC236}">
                <a16:creationId xmlns:a16="http://schemas.microsoft.com/office/drawing/2014/main" id="{BB565CAA-788E-BA10-3180-1BEAC8AFDF5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569378" y="1846264"/>
            <a:ext cx="2195726" cy="3952308"/>
          </a:xfrm>
        </p:spPr>
      </p:pic>
      <p:sp>
        <p:nvSpPr>
          <p:cNvPr id="9" name="TextBox 8">
            <a:extLst>
              <a:ext uri="{FF2B5EF4-FFF2-40B4-BE49-F238E27FC236}">
                <a16:creationId xmlns:a16="http://schemas.microsoft.com/office/drawing/2014/main" id="{3671019C-0872-B2DD-383F-5D91A3A5BB0D}"/>
              </a:ext>
            </a:extLst>
          </p:cNvPr>
          <p:cNvSpPr txBox="1"/>
          <p:nvPr/>
        </p:nvSpPr>
        <p:spPr>
          <a:xfrm>
            <a:off x="2132519" y="5798571"/>
            <a:ext cx="279542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Img2:User Authentication</a:t>
            </a:r>
            <a:endParaRPr lang="en-IN"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0BDAB2AB-F48E-0811-CFA9-BF5FBDB65547}"/>
              </a:ext>
            </a:extLst>
          </p:cNvPr>
          <p:cNvSpPr txBox="1"/>
          <p:nvPr/>
        </p:nvSpPr>
        <p:spPr>
          <a:xfrm>
            <a:off x="7485345" y="5847919"/>
            <a:ext cx="236379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Img3:Voice Chat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142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174A8-7238-786C-9242-A2EA5FEBB8E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Screenshots</a:t>
            </a:r>
            <a:endParaRPr lang="en-IN" dirty="0"/>
          </a:p>
        </p:txBody>
      </p:sp>
      <p:pic>
        <p:nvPicPr>
          <p:cNvPr id="6" name="Content Placeholder 5">
            <a:extLst>
              <a:ext uri="{FF2B5EF4-FFF2-40B4-BE49-F238E27FC236}">
                <a16:creationId xmlns:a16="http://schemas.microsoft.com/office/drawing/2014/main" id="{88BE3C52-5BF8-8B7E-2639-BB3389CF2D2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818564" y="1846263"/>
            <a:ext cx="3495509" cy="4022725"/>
          </a:xfrm>
        </p:spPr>
      </p:pic>
      <p:pic>
        <p:nvPicPr>
          <p:cNvPr id="9" name="Content Placeholder 8">
            <a:extLst>
              <a:ext uri="{FF2B5EF4-FFF2-40B4-BE49-F238E27FC236}">
                <a16:creationId xmlns:a16="http://schemas.microsoft.com/office/drawing/2014/main" id="{4F705B11-E8FB-987E-C46E-A7BEE6841EA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307997" y="1846263"/>
            <a:ext cx="2757607" cy="4022725"/>
          </a:xfrm>
        </p:spPr>
      </p:pic>
      <p:sp>
        <p:nvSpPr>
          <p:cNvPr id="7" name="TextBox 6">
            <a:extLst>
              <a:ext uri="{FF2B5EF4-FFF2-40B4-BE49-F238E27FC236}">
                <a16:creationId xmlns:a16="http://schemas.microsoft.com/office/drawing/2014/main" id="{D6369E1D-7CB9-EB74-179A-43E36BEB7587}"/>
              </a:ext>
            </a:extLst>
          </p:cNvPr>
          <p:cNvSpPr txBox="1"/>
          <p:nvPr/>
        </p:nvSpPr>
        <p:spPr>
          <a:xfrm>
            <a:off x="2025181" y="5928258"/>
            <a:ext cx="298867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Img4:AI Integration</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2F1813A-252D-8984-8676-E52F9919D60E}"/>
              </a:ext>
            </a:extLst>
          </p:cNvPr>
          <p:cNvSpPr txBox="1"/>
          <p:nvPr/>
        </p:nvSpPr>
        <p:spPr>
          <a:xfrm>
            <a:off x="7493170" y="5928258"/>
            <a:ext cx="238725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Img5: File processing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5004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itchFamily="18" charset="0"/>
                <a:cs typeface="Times New Roman" pitchFamily="18" charset="0"/>
              </a:rPr>
              <a:t>Conclusion</a:t>
            </a:r>
          </a:p>
        </p:txBody>
      </p:sp>
      <p:sp>
        <p:nvSpPr>
          <p:cNvPr id="8" name="TextBox 7">
            <a:extLst>
              <a:ext uri="{FF2B5EF4-FFF2-40B4-BE49-F238E27FC236}">
                <a16:creationId xmlns:a16="http://schemas.microsoft.com/office/drawing/2014/main" id="{7DA4C554-38A0-5137-2B74-D397001CD4B3}"/>
              </a:ext>
            </a:extLst>
          </p:cNvPr>
          <p:cNvSpPr txBox="1"/>
          <p:nvPr/>
        </p:nvSpPr>
        <p:spPr>
          <a:xfrm>
            <a:off x="1112520" y="1828800"/>
            <a:ext cx="9966960" cy="461305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Learn-Link stands as a testament to the transformative power of technology in education.</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By addressing key limitations of traditional learning such as collaboration, interactivity, and efficiency, Learn-Link has set a new standard for productive and engaging learning experiences.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Through its innovative use of real-time tools and AI, the desktop website not only provides users with a dynamic and collaborative platform to explore but also offers a glimpse into the future of learning.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success of Learn-Link highlights the potential for technology to revolutionize education, offering a wide range of benefits that transcend traditional learning methods.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From enhanced teamwork and personalized insights to streamlined resources and secure access, this platform opens up new possibilities for learners. As web technologies continue to advance, the potential for innovative and transformative learning experiences will only continue to grow, making Learn-Link a pioneering example of the future of education.</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9520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0"/>
            <a:ext cx="10058400" cy="1450757"/>
          </a:xfrm>
        </p:spPr>
        <p:txBody>
          <a:bodyPr/>
          <a:lstStyle/>
          <a:p>
            <a:r>
              <a:rPr lang="en-IN" dirty="0">
                <a:latin typeface="Times New Roman" pitchFamily="18" charset="0"/>
                <a:cs typeface="Times New Roman" pitchFamily="18" charset="0"/>
              </a:rPr>
              <a:t>References</a:t>
            </a:r>
          </a:p>
        </p:txBody>
      </p:sp>
      <p:sp>
        <p:nvSpPr>
          <p:cNvPr id="6" name="Rectangle 2">
            <a:extLst>
              <a:ext uri="{FF2B5EF4-FFF2-40B4-BE49-F238E27FC236}">
                <a16:creationId xmlns:a16="http://schemas.microsoft.com/office/drawing/2014/main" id="{8B4C1BD8-3EC5-2F0F-7D68-645096BC8D19}"/>
              </a:ext>
            </a:extLst>
          </p:cNvPr>
          <p:cNvSpPr>
            <a:spLocks noChangeArrowheads="1"/>
          </p:cNvSpPr>
          <p:nvPr/>
        </p:nvSpPr>
        <p:spPr bwMode="auto">
          <a:xfrm>
            <a:off x="1097280" y="1842360"/>
            <a:ext cx="10169144"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Dillenbourg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Jarvela, S., Fischer, F. (2018). The evolution of research on collaborative learning. In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Handbook</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Learning</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Sciences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(pp. 27-38). Routledge.</a:t>
            </a:r>
            <a:endParaRPr lang="en-US" altLang="en-US" dirty="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Chi, M. T. H., Wylie, R. (2014). The ICAP framework: Linking cognitive engagement to active learning outcomes.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Educational</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Psychologist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49(4), 219-243.</a:t>
            </a:r>
            <a:endParaRPr lang="en-US" altLang="en-US" dirty="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Schneider, B., Nebel, 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Beege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 Rey, G. D. (2020). The cognitive-affective-social theory of learning in digital environments (CASTLE).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Educational</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Psychology</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Review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32, 1-29.</a:t>
            </a:r>
            <a:endParaRPr lang="en-US" altLang="en-US" dirty="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Hwang, G. J., Fu, Q. K. (2019). Trends in the use of artificial intelligence in computer-supported collaborative learning: A systematic review.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British</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Educational</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50(3), 990-1004.</a:t>
            </a:r>
            <a:endParaRPr lang="en-US" altLang="en-US" dirty="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Rose, C. P., Wang, Y. C., Cui, Z.,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Arastoopour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 Steinkuehler, C. (2019). AI and collaborative learning: The state of the field.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International</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Journal</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Intelligence</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29(3), 397-417.</a:t>
            </a:r>
          </a:p>
        </p:txBody>
      </p:sp>
    </p:spTree>
    <p:extLst>
      <p:ext uri="{BB962C8B-B14F-4D97-AF65-F5344CB8AC3E}">
        <p14:creationId xmlns:p14="http://schemas.microsoft.com/office/powerpoint/2010/main" val="539675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A2847-1EE3-9F2D-0B06-0FBA31F2717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1CDF786-EDD9-7FD4-62DB-770E6C758B51}"/>
              </a:ext>
            </a:extLst>
          </p:cNvPr>
          <p:cNvSpPr>
            <a:spLocks noGrp="1"/>
          </p:cNvSpPr>
          <p:nvPr>
            <p:ph idx="1"/>
          </p:nvPr>
        </p:nvSpPr>
        <p:spPr>
          <a:xfrm>
            <a:off x="612648" y="1097281"/>
            <a:ext cx="10058400" cy="4023360"/>
          </a:xfrm>
        </p:spPr>
        <p:txBody>
          <a:bodyPr>
            <a:normAutofit/>
          </a:bodyPr>
          <a:lstStyle/>
          <a:p>
            <a:endParaRPr lang="en-US" sz="2800" dirty="0"/>
          </a:p>
          <a:p>
            <a:endParaRPr lang="en-US" sz="2800" dirty="0"/>
          </a:p>
          <a:p>
            <a:endParaRPr lang="en-US" sz="2800" dirty="0"/>
          </a:p>
          <a:p>
            <a:endParaRPr lang="en-US" sz="2800" dirty="0"/>
          </a:p>
          <a:p>
            <a:r>
              <a:rPr lang="en-US" sz="2800" dirty="0"/>
              <a:t>                                             </a:t>
            </a:r>
            <a:r>
              <a:rPr lang="en-US" sz="5400" dirty="0">
                <a:latin typeface="Times New Roman" pitchFamily="18" charset="0"/>
                <a:cs typeface="Times New Roman" pitchFamily="18" charset="0"/>
              </a:rPr>
              <a:t>Thank you</a:t>
            </a:r>
          </a:p>
        </p:txBody>
      </p:sp>
    </p:spTree>
    <p:extLst>
      <p:ext uri="{BB962C8B-B14F-4D97-AF65-F5344CB8AC3E}">
        <p14:creationId xmlns:p14="http://schemas.microsoft.com/office/powerpoint/2010/main" val="228947344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1988</TotalTime>
  <Words>1018</Words>
  <Application>Microsoft Office PowerPoint</Application>
  <PresentationFormat>Widescreen</PresentationFormat>
  <Paragraphs>144</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Retrospect</vt:lpstr>
      <vt:lpstr>Learn link</vt:lpstr>
      <vt:lpstr>Problem Statement</vt:lpstr>
      <vt:lpstr>Solution Approach</vt:lpstr>
      <vt:lpstr>Modules</vt:lpstr>
      <vt:lpstr>Technology Stack</vt:lpstr>
      <vt:lpstr>Implementation Details</vt:lpstr>
      <vt:lpstr>Implementation Details</vt:lpstr>
      <vt:lpstr>Implementation Details</vt:lpstr>
      <vt:lpstr>Implementation Details</vt:lpstr>
      <vt:lpstr>Screenshots</vt:lpstr>
      <vt:lpstr>Screenshots</vt:lpstr>
      <vt:lpstr>Screenshots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Name</dc:title>
  <dc:creator>libsy baby</dc:creator>
  <cp:lastModifiedBy>Rohan Mannaraprayil</cp:lastModifiedBy>
  <cp:revision>32</cp:revision>
  <dcterms:created xsi:type="dcterms:W3CDTF">2024-01-31T03:50:52Z</dcterms:created>
  <dcterms:modified xsi:type="dcterms:W3CDTF">2025-04-01T05:21:49Z</dcterms:modified>
</cp:coreProperties>
</file>