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7" r:id="rId4"/>
    <p:sldId id="258" r:id="rId5"/>
    <p:sldId id="259" r:id="rId6"/>
    <p:sldId id="260" r:id="rId7"/>
    <p:sldId id="261" r:id="rId8"/>
    <p:sldId id="262" r:id="rId9"/>
    <p:sldId id="263" r:id="rId10"/>
    <p:sldId id="264"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313" r:id="rId27"/>
    <p:sldId id="282" r:id="rId28"/>
    <p:sldId id="283" r:id="rId29"/>
    <p:sldId id="284" r:id="rId30"/>
    <p:sldId id="285" r:id="rId31"/>
    <p:sldId id="288" r:id="rId32"/>
    <p:sldId id="286" r:id="rId33"/>
    <p:sldId id="287" r:id="rId34"/>
    <p:sldId id="290" r:id="rId35"/>
    <p:sldId id="289" r:id="rId36"/>
    <p:sldId id="291" r:id="rId37"/>
    <p:sldId id="292" r:id="rId38"/>
    <p:sldId id="293" r:id="rId39"/>
    <p:sldId id="294" r:id="rId40"/>
    <p:sldId id="295" r:id="rId41"/>
    <p:sldId id="296" r:id="rId42"/>
    <p:sldId id="309" r:id="rId43"/>
    <p:sldId id="310" r:id="rId44"/>
    <p:sldId id="297" r:id="rId45"/>
    <p:sldId id="298" r:id="rId46"/>
    <p:sldId id="304" r:id="rId47"/>
    <p:sldId id="299" r:id="rId48"/>
    <p:sldId id="300" r:id="rId49"/>
    <p:sldId id="314" r:id="rId50"/>
    <p:sldId id="303" r:id="rId51"/>
    <p:sldId id="305" r:id="rId52"/>
    <p:sldId id="306" r:id="rId53"/>
    <p:sldId id="307" r:id="rId54"/>
    <p:sldId id="308" r:id="rId55"/>
    <p:sldId id="311" r:id="rId56"/>
    <p:sldId id="312" r:id="rId57"/>
    <p:sldId id="315" r:id="rId58"/>
    <p:sldId id="316" r:id="rId59"/>
    <p:sldId id="317" r:id="rId60"/>
    <p:sldId id="318" r:id="rId61"/>
    <p:sldId id="319" r:id="rId62"/>
    <p:sldId id="320" r:id="rId63"/>
    <p:sldId id="321" r:id="rId64"/>
    <p:sldId id="322"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EC27-8728-BD82-3320-3DDEB8DE78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B60E85-1E6F-FC59-600E-1BC6D1A939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EB707F-CB12-5B98-7AC7-1C9836BB5B3B}"/>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5" name="Footer Placeholder 4">
            <a:extLst>
              <a:ext uri="{FF2B5EF4-FFF2-40B4-BE49-F238E27FC236}">
                <a16:creationId xmlns:a16="http://schemas.microsoft.com/office/drawing/2014/main" id="{7B8271D5-A122-C691-1471-D382E5FA2A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67D300-2385-D697-44FE-8DF2B63FFE30}"/>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3655586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5F742-D761-8B76-46B0-12953C4856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A9ED4B-2745-C407-0C66-B61018B0E1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E63C8E-5F23-4D14-5F78-BE851F403B9B}"/>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5" name="Footer Placeholder 4">
            <a:extLst>
              <a:ext uri="{FF2B5EF4-FFF2-40B4-BE49-F238E27FC236}">
                <a16:creationId xmlns:a16="http://schemas.microsoft.com/office/drawing/2014/main" id="{764A50CE-6CFE-8E7C-8047-69856F2A80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CB9693-21BC-EDC6-21F1-9C824C26DA80}"/>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1645935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54B3B-7AF3-B929-2DE8-9B950C45DF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A0323C-BAAB-A1E3-E74C-F55C7E7BFF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E50BA2-C216-7A0B-E9AB-8ADF19E79A04}"/>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5" name="Footer Placeholder 4">
            <a:extLst>
              <a:ext uri="{FF2B5EF4-FFF2-40B4-BE49-F238E27FC236}">
                <a16:creationId xmlns:a16="http://schemas.microsoft.com/office/drawing/2014/main" id="{F0EE3A79-7DA6-709A-AA24-6095BD1315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77D51C-8348-D0A9-81E5-E4009AC414FD}"/>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3919901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2453-9607-C138-1FD8-920D102A22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A37CA8-D3FE-714D-138E-83558AF6D6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A0DA37-CFF2-A702-4231-D3FBB1AB77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2A7858-3E13-A17D-81A0-0D31CF3BEA58}"/>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6" name="Footer Placeholder 5">
            <a:extLst>
              <a:ext uri="{FF2B5EF4-FFF2-40B4-BE49-F238E27FC236}">
                <a16:creationId xmlns:a16="http://schemas.microsoft.com/office/drawing/2014/main" id="{D98E0A07-32D3-2228-3FB7-50C903604C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C87628-D31A-F855-C135-7EB9C9DC581C}"/>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962820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725B-8C41-F176-4F00-6FDBDF1DC7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1C8BF9-5176-FEC8-EE28-2F5B5E7B3E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0F0C67-E3D7-4D4F-7581-10F143986C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7866462-E96C-CC2B-3005-B31FC9B0FE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45A767-9192-BE72-1772-025FC49BFC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6FBC90-1A1C-F1A7-6DE0-A8EB565C8F89}"/>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8" name="Footer Placeholder 7">
            <a:extLst>
              <a:ext uri="{FF2B5EF4-FFF2-40B4-BE49-F238E27FC236}">
                <a16:creationId xmlns:a16="http://schemas.microsoft.com/office/drawing/2014/main" id="{CEDB041E-8AFC-4130-92C6-C3B65D9848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09F713-79D3-870D-AA18-535C89BFB232}"/>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1467899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B00E3-AC53-F8FC-894D-295D2D2B3D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D45E0C-52A9-4DA2-86D8-6EDAD2AE50D1}"/>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4" name="Footer Placeholder 3">
            <a:extLst>
              <a:ext uri="{FF2B5EF4-FFF2-40B4-BE49-F238E27FC236}">
                <a16:creationId xmlns:a16="http://schemas.microsoft.com/office/drawing/2014/main" id="{317BFC9F-B5FE-5A6D-9C38-379AF07C9F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C0E4E1-CF0F-0576-3AC8-56B82D2E8AE4}"/>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1123787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84CF6D-D22A-B477-B2DC-2760799AD860}"/>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3" name="Footer Placeholder 2">
            <a:extLst>
              <a:ext uri="{FF2B5EF4-FFF2-40B4-BE49-F238E27FC236}">
                <a16:creationId xmlns:a16="http://schemas.microsoft.com/office/drawing/2014/main" id="{9D73ABAF-0DEE-DC89-20C3-C4D96D7B03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7400AA-AC23-7BAE-C64E-9AF09DE4ED47}"/>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3703338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7E862-E19E-6DDD-964B-B4E3F0044A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B38B1D5-2460-D4E3-7CFC-7CFC503CF2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37E02BA-61B7-92BD-1A3D-7C3B676A08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AD59A7-FF9F-7E73-6079-9626D4871885}"/>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6" name="Footer Placeholder 5">
            <a:extLst>
              <a:ext uri="{FF2B5EF4-FFF2-40B4-BE49-F238E27FC236}">
                <a16:creationId xmlns:a16="http://schemas.microsoft.com/office/drawing/2014/main" id="{E83B0CE9-E127-A61D-E8B4-D3BEEADE40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D62AC1-9AE7-9861-4570-0F524CF2C98A}"/>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2990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E2528-3897-B2DA-1C9C-401ECC8BD8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FE8345-8991-15FD-3509-4785818633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8848D70-E5F4-A976-3C81-520A38FE4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2AA5F1-0E76-A0B2-2FB5-135FA5A7DC2D}"/>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6" name="Footer Placeholder 5">
            <a:extLst>
              <a:ext uri="{FF2B5EF4-FFF2-40B4-BE49-F238E27FC236}">
                <a16:creationId xmlns:a16="http://schemas.microsoft.com/office/drawing/2014/main" id="{66F5F880-94EC-F93D-5CE0-60C6B121C2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D401DA-A366-CBBC-615F-230941505AF5}"/>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616197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DCC1D-9FDD-25FC-4555-F8D6E1803F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D04322-A42C-88F6-AC60-2549CAA1B7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9FE05C-7EEB-ADE7-3900-61523DFFFBBE}"/>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5" name="Footer Placeholder 4">
            <a:extLst>
              <a:ext uri="{FF2B5EF4-FFF2-40B4-BE49-F238E27FC236}">
                <a16:creationId xmlns:a16="http://schemas.microsoft.com/office/drawing/2014/main" id="{6DD51EDF-7845-3B62-0667-D9B527A50C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353B74-D2B6-2453-78F4-03D633F99EEE}"/>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2580570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F3EC3-E91F-7D09-6493-634454D158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2D5B89-5FC0-4E6E-3484-8194EFD508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B7DAF2-4EB5-4707-4877-8795CF9912A8}"/>
              </a:ext>
            </a:extLst>
          </p:cNvPr>
          <p:cNvSpPr>
            <a:spLocks noGrp="1"/>
          </p:cNvSpPr>
          <p:nvPr>
            <p:ph type="dt" sz="half" idx="10"/>
          </p:nvPr>
        </p:nvSpPr>
        <p:spPr/>
        <p:txBody>
          <a:bodyPr/>
          <a:lstStyle/>
          <a:p>
            <a:fld id="{E65BD955-21D4-4E0E-97AF-8D69B3FA6D94}" type="datetimeFigureOut">
              <a:rPr lang="en-IN" smtClean="0"/>
              <a:t>08-08-2024</a:t>
            </a:fld>
            <a:endParaRPr lang="en-IN"/>
          </a:p>
        </p:txBody>
      </p:sp>
      <p:sp>
        <p:nvSpPr>
          <p:cNvPr id="5" name="Footer Placeholder 4">
            <a:extLst>
              <a:ext uri="{FF2B5EF4-FFF2-40B4-BE49-F238E27FC236}">
                <a16:creationId xmlns:a16="http://schemas.microsoft.com/office/drawing/2014/main" id="{C93A175D-C0A5-533D-AF7F-6039249CD2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4BF2D8-C406-2900-94B1-6469FBA3270E}"/>
              </a:ext>
            </a:extLst>
          </p:cNvPr>
          <p:cNvSpPr>
            <a:spLocks noGrp="1"/>
          </p:cNvSpPr>
          <p:nvPr>
            <p:ph type="sldNum" sz="quarter" idx="12"/>
          </p:nvPr>
        </p:nvSpPr>
        <p:spPr/>
        <p:txBody>
          <a:bodyPr/>
          <a:lstStyle/>
          <a:p>
            <a:fld id="{7246A06C-C53A-4801-955E-8FABBB0BC21F}" type="slidenum">
              <a:rPr lang="en-IN" smtClean="0"/>
              <a:t>‹#›</a:t>
            </a:fld>
            <a:endParaRPr lang="en-IN"/>
          </a:p>
        </p:txBody>
      </p:sp>
    </p:spTree>
    <p:extLst>
      <p:ext uri="{BB962C8B-B14F-4D97-AF65-F5344CB8AC3E}">
        <p14:creationId xmlns:p14="http://schemas.microsoft.com/office/powerpoint/2010/main" val="3479375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55F894-CE9F-28F8-F550-4365B78C05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CD0664-1405-5CDC-5F41-2B29A334B5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EBF23A-8148-1D2C-164C-9E0DF5728B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5BD955-21D4-4E0E-97AF-8D69B3FA6D94}" type="datetimeFigureOut">
              <a:rPr lang="en-IN" smtClean="0"/>
              <a:t>08-08-2024</a:t>
            </a:fld>
            <a:endParaRPr lang="en-IN"/>
          </a:p>
        </p:txBody>
      </p:sp>
      <p:sp>
        <p:nvSpPr>
          <p:cNvPr id="5" name="Footer Placeholder 4">
            <a:extLst>
              <a:ext uri="{FF2B5EF4-FFF2-40B4-BE49-F238E27FC236}">
                <a16:creationId xmlns:a16="http://schemas.microsoft.com/office/drawing/2014/main" id="{9FE505A6-2C43-23B3-14A3-71BA7E94B2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931900-DCF1-FF07-6525-92D95E0152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46A06C-C53A-4801-955E-8FABBB0BC21F}" type="slidenum">
              <a:rPr lang="en-IN" smtClean="0"/>
              <a:t>‹#›</a:t>
            </a:fld>
            <a:endParaRPr lang="en-IN"/>
          </a:p>
        </p:txBody>
      </p:sp>
    </p:spTree>
    <p:extLst>
      <p:ext uri="{BB962C8B-B14F-4D97-AF65-F5344CB8AC3E}">
        <p14:creationId xmlns:p14="http://schemas.microsoft.com/office/powerpoint/2010/main" val="37438766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oreilly.com/library/view/designing-interfaces-3rd/9781492051954/ch01.html#ch01fn2"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www.w3schools.com/bootstrap/default.asp"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E060D-770F-5404-3188-E005552A21AD}"/>
              </a:ext>
            </a:extLst>
          </p:cNvPr>
          <p:cNvSpPr>
            <a:spLocks noGrp="1"/>
          </p:cNvSpPr>
          <p:nvPr>
            <p:ph type="ctrTitle"/>
          </p:nvPr>
        </p:nvSpPr>
        <p:spPr>
          <a:xfrm>
            <a:off x="1524000" y="658761"/>
            <a:ext cx="9144000" cy="2851202"/>
          </a:xfrm>
        </p:spPr>
        <p:txBody>
          <a:bodyPr>
            <a:normAutofit/>
          </a:bodyPr>
          <a:lstStyle/>
          <a:p>
            <a:r>
              <a:rPr lang="en-US" sz="3600" b="1" dirty="0">
                <a:solidFill>
                  <a:srgbClr val="000000"/>
                </a:solidFill>
                <a:effectLst/>
                <a:latin typeface="Times New Roman" panose="02020603050405020304" pitchFamily="18" charset="0"/>
                <a:ea typeface="Times New Roman" panose="02020603050405020304" pitchFamily="18" charset="0"/>
              </a:rPr>
              <a:t>CXT 401 </a:t>
            </a:r>
            <a:br>
              <a:rPr lang="en-US" sz="3600" b="1" dirty="0">
                <a:solidFill>
                  <a:srgbClr val="000000"/>
                </a:solidFill>
                <a:effectLst/>
                <a:latin typeface="Times New Roman" panose="02020603050405020304" pitchFamily="18" charset="0"/>
                <a:ea typeface="Times New Roman" panose="02020603050405020304" pitchFamily="18" charset="0"/>
              </a:rPr>
            </a:br>
            <a:r>
              <a:rPr lang="en-US" sz="3600" b="1" dirty="0">
                <a:solidFill>
                  <a:srgbClr val="000000"/>
                </a:solidFill>
                <a:effectLst/>
                <a:latin typeface="Times New Roman" panose="02020603050405020304" pitchFamily="18" charset="0"/>
                <a:ea typeface="Times New Roman" panose="02020603050405020304" pitchFamily="18" charset="0"/>
              </a:rPr>
              <a:t>USER INTERFACE SOFTWARE &amp; TECHNOLOGY</a:t>
            </a:r>
            <a:endParaRPr lang="en-IN" sz="9600" dirty="0"/>
          </a:p>
        </p:txBody>
      </p:sp>
      <p:sp>
        <p:nvSpPr>
          <p:cNvPr id="3" name="Subtitle 2">
            <a:extLst>
              <a:ext uri="{FF2B5EF4-FFF2-40B4-BE49-F238E27FC236}">
                <a16:creationId xmlns:a16="http://schemas.microsoft.com/office/drawing/2014/main" id="{2EF12848-8CFA-ADC3-03C4-A80AC7D3BA3A}"/>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187848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40944-DD7C-4DE2-CDB5-7B0AE6FF50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EA1A412-2A60-654E-61F8-D6BCC9BA7600}"/>
              </a:ext>
            </a:extLst>
          </p:cNvPr>
          <p:cNvSpPr>
            <a:spLocks noGrp="1"/>
          </p:cNvSpPr>
          <p:nvPr>
            <p:ph idx="1"/>
          </p:nvPr>
        </p:nvSpPr>
        <p:spPr/>
        <p:txBody>
          <a:bodyPr/>
          <a:lstStyle/>
          <a:p>
            <a:pPr marL="279400"/>
            <a:r>
              <a:rPr lang="en-US" sz="1800" b="1" kern="0" dirty="0">
                <a:effectLst/>
                <a:latin typeface="Times New Roman" panose="02020603050405020304" pitchFamily="18" charset="0"/>
              </a:rPr>
              <a:t>Module - 1 (</a:t>
            </a:r>
            <a:r>
              <a:rPr lang="en-US" sz="1800" b="1" kern="0" dirty="0">
                <a:solidFill>
                  <a:srgbClr val="0D0D0D"/>
                </a:solidFill>
                <a:effectLst/>
                <a:latin typeface="Times New Roman" panose="02020603050405020304" pitchFamily="18" charset="0"/>
              </a:rPr>
              <a:t>Understanding User Behavior and Research</a:t>
            </a:r>
            <a:r>
              <a:rPr lang="en-US" sz="1800" b="0" kern="0" dirty="0">
                <a:solidFill>
                  <a:srgbClr val="0D0D0D"/>
                </a:solidFill>
                <a:effectLst/>
                <a:latin typeface="Times New Roman" panose="02020603050405020304" pitchFamily="18" charset="0"/>
              </a:rPr>
              <a:t>)</a:t>
            </a:r>
            <a:endParaRPr lang="en-IN" sz="1800" b="1" kern="0" dirty="0">
              <a:effectLst/>
              <a:latin typeface="Times New Roman" panose="02020603050405020304" pitchFamily="18" charset="0"/>
            </a:endParaRPr>
          </a:p>
          <a:p>
            <a:pPr marL="279400" indent="279400"/>
            <a:endParaRPr lang="en-IN" sz="1800" b="1" kern="0" dirty="0">
              <a:effectLst/>
              <a:latin typeface="Times New Roman" panose="02020603050405020304" pitchFamily="18" charset="0"/>
            </a:endParaRPr>
          </a:p>
          <a:p>
            <a:pPr marL="0" indent="0">
              <a:lnSpc>
                <a:spcPct val="115000"/>
              </a:lnSpc>
              <a:buNone/>
            </a:pPr>
            <a:r>
              <a:rPr lang="en-US" sz="1800" dirty="0">
                <a:solidFill>
                  <a:srgbClr val="0D0D0D"/>
                </a:solidFill>
                <a:effectLst/>
                <a:highlight>
                  <a:srgbClr val="FFFFFF"/>
                </a:highlight>
                <a:latin typeface="Times New Roman" panose="02020603050405020304" pitchFamily="18" charset="0"/>
                <a:ea typeface="Times New Roman" panose="02020603050405020304" pitchFamily="18" charset="0"/>
              </a:rPr>
              <a:t>       Introduction to user research and its importance in interface design, Exploring user motivations and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0" indent="0">
              <a:lnSpc>
                <a:spcPct val="115000"/>
              </a:lnSpc>
              <a:buNone/>
            </a:pPr>
            <a:r>
              <a:rPr lang="en-US" sz="1800" dirty="0">
                <a:solidFill>
                  <a:srgbClr val="0D0D0D"/>
                </a:solidFill>
                <a:effectLst/>
                <a:highlight>
                  <a:srgbClr val="FFFFFF"/>
                </a:highlight>
                <a:latin typeface="Times New Roman" panose="02020603050405020304" pitchFamily="18" charset="0"/>
                <a:ea typeface="Times New Roman" panose="02020603050405020304" pitchFamily="18" charset="0"/>
              </a:rPr>
              <a:t>       behavior patterns -Analyzing common user behaviors - safe exploration, instant gratification,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0" indent="0">
              <a:lnSpc>
                <a:spcPct val="115000"/>
              </a:lnSpc>
              <a:buNone/>
            </a:pPr>
            <a:r>
              <a:rPr lang="en-US" sz="1800" dirty="0">
                <a:solidFill>
                  <a:srgbClr val="0D0D0D"/>
                </a:solidFill>
                <a:effectLst/>
                <a:highlight>
                  <a:srgbClr val="FFFFFF"/>
                </a:highlight>
                <a:latin typeface="Times New Roman" panose="02020603050405020304" pitchFamily="18" charset="0"/>
                <a:ea typeface="Times New Roman" panose="02020603050405020304" pitchFamily="18" charset="0"/>
              </a:rPr>
              <a:t>       satisficing, habituation, and streamlined repetition. </a:t>
            </a: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Introduction to Bootstrap 5-layout structures- grid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0" indent="0">
              <a:lnSpc>
                <a:spcPct val="115000"/>
              </a:lnSpc>
              <a:buNone/>
            </a:pPr>
            <a:r>
              <a:rPr lang="en-US" sz="1800" dirty="0">
                <a:solidFill>
                  <a:srgbClr val="000000"/>
                </a:solidFill>
                <a:effectLst/>
                <a:highlight>
                  <a:srgbClr val="FFFFFF"/>
                </a:highlight>
                <a:latin typeface="Times New Roman" panose="02020603050405020304" pitchFamily="18" charset="0"/>
                <a:ea typeface="Times New Roman" panose="02020603050405020304" pitchFamily="18" charset="0"/>
              </a:rPr>
              <a:t>       system, containers, and spacing utilities.  </a:t>
            </a:r>
            <a:endParaRPr lang="en-IN" sz="1800" dirty="0">
              <a:effectLst/>
              <a:highlight>
                <a:srgbClr val="FFFFFF"/>
              </a:highligh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428034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894C3-5B15-CF2C-DE64-EDD64D410238}"/>
              </a:ext>
            </a:extLst>
          </p:cNvPr>
          <p:cNvSpPr>
            <a:spLocks noGrp="1"/>
          </p:cNvSpPr>
          <p:nvPr>
            <p:ph type="title"/>
          </p:nvPr>
        </p:nvSpPr>
        <p:spPr/>
        <p:txBody>
          <a:bodyPr/>
          <a:lstStyle/>
          <a:p>
            <a:r>
              <a:rPr lang="en-US" sz="4400" dirty="0">
                <a:solidFill>
                  <a:srgbClr val="0D0D0D"/>
                </a:solidFill>
                <a:effectLst/>
                <a:highlight>
                  <a:srgbClr val="FFFFFF"/>
                </a:highlight>
                <a:latin typeface="Times New Roman" panose="02020603050405020304" pitchFamily="18" charset="0"/>
                <a:ea typeface="Times New Roman" panose="02020603050405020304" pitchFamily="18" charset="0"/>
              </a:rPr>
              <a:t> Introduction </a:t>
            </a:r>
            <a:endParaRPr lang="en-IN" b="1" dirty="0"/>
          </a:p>
        </p:txBody>
      </p:sp>
      <p:sp>
        <p:nvSpPr>
          <p:cNvPr id="3" name="Content Placeholder 2">
            <a:extLst>
              <a:ext uri="{FF2B5EF4-FFF2-40B4-BE49-F238E27FC236}">
                <a16:creationId xmlns:a16="http://schemas.microsoft.com/office/drawing/2014/main" id="{29AE67D7-C98D-F246-456C-D115B4E70E4A}"/>
              </a:ext>
            </a:extLst>
          </p:cNvPr>
          <p:cNvSpPr>
            <a:spLocks noGrp="1"/>
          </p:cNvSpPr>
          <p:nvPr>
            <p:ph idx="1"/>
          </p:nvPr>
        </p:nvSpPr>
        <p:spPr/>
        <p:txBody>
          <a:bodyPr>
            <a:normAutofit/>
          </a:bodyPr>
          <a:lstStyle/>
          <a:p>
            <a:pPr marL="0" indent="0">
              <a:buNone/>
            </a:pPr>
            <a:r>
              <a:rPr lang="en-US" b="1" dirty="0"/>
              <a:t>UIST stands for User Interface Software and Technology. It focuses on designing and improving the ways users interact with computers, smartphones, and other devices. This involves making software and hardware easy and enjoyable to use.</a:t>
            </a:r>
          </a:p>
          <a:p>
            <a:r>
              <a:rPr lang="en-US" dirty="0"/>
              <a:t>Good interface design doesn’t start with pictures. </a:t>
            </a:r>
          </a:p>
          <a:p>
            <a:r>
              <a:rPr lang="en-US" dirty="0"/>
              <a:t>It starts with an understanding of people: what they’re like, why they use a given piece of software, and how they might interact with it. </a:t>
            </a:r>
          </a:p>
          <a:p>
            <a:r>
              <a:rPr lang="en-US" dirty="0"/>
              <a:t>The more you know about them, and the more you empathize with them, the more effectively you can design for them. </a:t>
            </a:r>
            <a:endParaRPr lang="en-IN" dirty="0"/>
          </a:p>
        </p:txBody>
      </p:sp>
    </p:spTree>
    <p:extLst>
      <p:ext uri="{BB962C8B-B14F-4D97-AF65-F5344CB8AC3E}">
        <p14:creationId xmlns:p14="http://schemas.microsoft.com/office/powerpoint/2010/main" val="3965949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1BBBB-79BE-21A4-E353-77DC4BFBAA61}"/>
              </a:ext>
            </a:extLst>
          </p:cNvPr>
          <p:cNvSpPr>
            <a:spLocks noGrp="1"/>
          </p:cNvSpPr>
          <p:nvPr>
            <p:ph type="title"/>
          </p:nvPr>
        </p:nvSpPr>
        <p:spPr/>
        <p:txBody>
          <a:bodyPr/>
          <a:lstStyle/>
          <a:p>
            <a:r>
              <a:rPr lang="en-US" sz="4400" dirty="0">
                <a:solidFill>
                  <a:srgbClr val="0D0D0D"/>
                </a:solidFill>
                <a:effectLst/>
                <a:highlight>
                  <a:srgbClr val="FFFFFF"/>
                </a:highlight>
                <a:latin typeface="Times New Roman" panose="02020603050405020304" pitchFamily="18" charset="0"/>
                <a:ea typeface="Times New Roman" panose="02020603050405020304" pitchFamily="18" charset="0"/>
              </a:rPr>
              <a:t> Introduction </a:t>
            </a:r>
            <a:endParaRPr lang="en-IN" dirty="0"/>
          </a:p>
        </p:txBody>
      </p:sp>
      <p:sp>
        <p:nvSpPr>
          <p:cNvPr id="3" name="Content Placeholder 2">
            <a:extLst>
              <a:ext uri="{FF2B5EF4-FFF2-40B4-BE49-F238E27FC236}">
                <a16:creationId xmlns:a16="http://schemas.microsoft.com/office/drawing/2014/main" id="{12529EFB-6276-4B51-8CCD-A8322FB615DA}"/>
              </a:ext>
            </a:extLst>
          </p:cNvPr>
          <p:cNvSpPr>
            <a:spLocks noGrp="1"/>
          </p:cNvSpPr>
          <p:nvPr>
            <p:ph idx="1"/>
          </p:nvPr>
        </p:nvSpPr>
        <p:spPr/>
        <p:txBody>
          <a:bodyPr>
            <a:normAutofit/>
          </a:bodyPr>
          <a:lstStyle/>
          <a:p>
            <a:pPr algn="just"/>
            <a:r>
              <a:rPr lang="en-US" dirty="0"/>
              <a:t>Each time someone uses an application, or any digital product, he carries on a conversation with the machine. </a:t>
            </a:r>
          </a:p>
          <a:p>
            <a:pPr algn="just"/>
            <a:r>
              <a:rPr lang="en-US" dirty="0"/>
              <a:t>It may be literal, as with a command line or phone menu, or tacit, like the “conversation” an artist has with her paints and canvas the give and take between the craftsperson and the thing being built. </a:t>
            </a:r>
          </a:p>
          <a:p>
            <a:pPr algn="just"/>
            <a:r>
              <a:rPr lang="en-US" dirty="0"/>
              <a:t>With social software, it may even be a conversation by proxy. Whatever the case, the user interface mediates that conversation, helping users achieve whatever ends they had in mind</a:t>
            </a:r>
            <a:endParaRPr lang="en-IN" dirty="0"/>
          </a:p>
        </p:txBody>
      </p:sp>
    </p:spTree>
    <p:extLst>
      <p:ext uri="{BB962C8B-B14F-4D97-AF65-F5344CB8AC3E}">
        <p14:creationId xmlns:p14="http://schemas.microsoft.com/office/powerpoint/2010/main" val="3020008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BA6A-5E60-C9F1-E3EB-2EC7D4A687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209AAEF-28CF-E207-3B63-0D2FC8120E4B}"/>
              </a:ext>
            </a:extLst>
          </p:cNvPr>
          <p:cNvSpPr>
            <a:spLocks noGrp="1"/>
          </p:cNvSpPr>
          <p:nvPr>
            <p:ph idx="1"/>
          </p:nvPr>
        </p:nvSpPr>
        <p:spPr>
          <a:xfrm>
            <a:off x="838200" y="855406"/>
            <a:ext cx="10515600" cy="5321557"/>
          </a:xfrm>
        </p:spPr>
        <p:txBody>
          <a:bodyPr>
            <a:normAutofit lnSpcReduction="10000"/>
          </a:bodyPr>
          <a:lstStyle/>
          <a:p>
            <a:r>
              <a:rPr lang="en-US" dirty="0"/>
              <a:t>As a user interface designer, you need to script the conversation, or at least define its terms. </a:t>
            </a:r>
          </a:p>
          <a:p>
            <a:r>
              <a:rPr lang="en-US" dirty="0"/>
              <a:t>And if you’re going to script a conversation, you should understand the human’s side as well as possible. </a:t>
            </a:r>
          </a:p>
          <a:p>
            <a:pPr>
              <a:buFont typeface="Wingdings" panose="05000000000000000000" pitchFamily="2" charset="2"/>
              <a:buChar char="Ø"/>
            </a:pPr>
            <a:r>
              <a:rPr lang="en-US" dirty="0"/>
              <a:t>What are the user’s motives and intentions? </a:t>
            </a:r>
          </a:p>
          <a:p>
            <a:pPr>
              <a:buFont typeface="Wingdings" panose="05000000000000000000" pitchFamily="2" charset="2"/>
              <a:buChar char="Ø"/>
            </a:pPr>
            <a:r>
              <a:rPr lang="en-US" dirty="0"/>
              <a:t>What “vocabulary” of words, icons, and gestures does the user expect to employ? </a:t>
            </a:r>
          </a:p>
          <a:p>
            <a:pPr>
              <a:buFont typeface="Wingdings" panose="05000000000000000000" pitchFamily="2" charset="2"/>
              <a:buChar char="Ø"/>
            </a:pPr>
            <a:r>
              <a:rPr lang="en-US" dirty="0"/>
              <a:t>How can the application set expectations appropriately for the user? </a:t>
            </a:r>
          </a:p>
          <a:p>
            <a:pPr>
              <a:buFont typeface="Wingdings" panose="05000000000000000000" pitchFamily="2" charset="2"/>
              <a:buChar char="Ø"/>
            </a:pPr>
            <a:r>
              <a:rPr lang="en-US" dirty="0"/>
              <a:t>How do the user and the machine finally end up communicating meaning to each other?</a:t>
            </a:r>
          </a:p>
          <a:p>
            <a:pPr marL="0" indent="0">
              <a:buNone/>
            </a:pPr>
            <a:r>
              <a:rPr lang="en-US" dirty="0"/>
              <a:t>There’s a maxim in the field of interface design: “Know thy users, for they are not you!”</a:t>
            </a:r>
            <a:endParaRPr lang="en-IN" dirty="0"/>
          </a:p>
        </p:txBody>
      </p:sp>
    </p:spTree>
    <p:extLst>
      <p:ext uri="{BB962C8B-B14F-4D97-AF65-F5344CB8AC3E}">
        <p14:creationId xmlns:p14="http://schemas.microsoft.com/office/powerpoint/2010/main" val="853780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B780D-D33B-881B-FD8D-F44E27A52680}"/>
              </a:ext>
            </a:extLst>
          </p:cNvPr>
          <p:cNvSpPr>
            <a:spLocks noGrp="1"/>
          </p:cNvSpPr>
          <p:nvPr>
            <p:ph type="title"/>
          </p:nvPr>
        </p:nvSpPr>
        <p:spPr/>
        <p:txBody>
          <a:bodyPr/>
          <a:lstStyle/>
          <a:p>
            <a:r>
              <a:rPr lang="en-US" b="1" dirty="0"/>
              <a:t>A Means to an End</a:t>
            </a:r>
            <a:endParaRPr lang="en-IN" b="1" dirty="0"/>
          </a:p>
        </p:txBody>
      </p:sp>
      <p:sp>
        <p:nvSpPr>
          <p:cNvPr id="3" name="Content Placeholder 2">
            <a:extLst>
              <a:ext uri="{FF2B5EF4-FFF2-40B4-BE49-F238E27FC236}">
                <a16:creationId xmlns:a16="http://schemas.microsoft.com/office/drawing/2014/main" id="{481DE420-2286-EC33-F1CC-EBCDC6D4A735}"/>
              </a:ext>
            </a:extLst>
          </p:cNvPr>
          <p:cNvSpPr>
            <a:spLocks noGrp="1"/>
          </p:cNvSpPr>
          <p:nvPr>
            <p:ph idx="1"/>
          </p:nvPr>
        </p:nvSpPr>
        <p:spPr/>
        <p:txBody>
          <a:bodyPr>
            <a:normAutofit lnSpcReduction="10000"/>
          </a:bodyPr>
          <a:lstStyle/>
          <a:p>
            <a:r>
              <a:rPr lang="en-US" dirty="0"/>
              <a:t>Everyone who uses a tool , software or otherwise has a reason for using it. For instance:</a:t>
            </a:r>
          </a:p>
          <a:p>
            <a:pPr>
              <a:buFont typeface="Wingdings" panose="05000000000000000000" pitchFamily="2" charset="2"/>
              <a:buChar char="ü"/>
            </a:pPr>
            <a:r>
              <a:rPr lang="en-US" dirty="0"/>
              <a:t>Finding some fact or object</a:t>
            </a:r>
          </a:p>
          <a:p>
            <a:pPr>
              <a:buFont typeface="Wingdings" panose="05000000000000000000" pitchFamily="2" charset="2"/>
              <a:buChar char="ü"/>
            </a:pPr>
            <a:r>
              <a:rPr lang="en-US" dirty="0"/>
              <a:t>Learning something</a:t>
            </a:r>
          </a:p>
          <a:p>
            <a:pPr>
              <a:buFont typeface="Wingdings" panose="05000000000000000000" pitchFamily="2" charset="2"/>
              <a:buChar char="ü"/>
            </a:pPr>
            <a:r>
              <a:rPr lang="en-US" dirty="0"/>
              <a:t>Performing a transaction</a:t>
            </a:r>
          </a:p>
          <a:p>
            <a:pPr>
              <a:buFont typeface="Wingdings" panose="05000000000000000000" pitchFamily="2" charset="2"/>
              <a:buChar char="ü"/>
            </a:pPr>
            <a:r>
              <a:rPr lang="en-US" dirty="0"/>
              <a:t>Controlling or monitoring something</a:t>
            </a:r>
          </a:p>
          <a:p>
            <a:pPr>
              <a:buFont typeface="Wingdings" panose="05000000000000000000" pitchFamily="2" charset="2"/>
              <a:buChar char="ü"/>
            </a:pPr>
            <a:r>
              <a:rPr lang="en-US" dirty="0"/>
              <a:t>Creating something</a:t>
            </a:r>
          </a:p>
          <a:p>
            <a:pPr>
              <a:buFont typeface="Wingdings" panose="05000000000000000000" pitchFamily="2" charset="2"/>
              <a:buChar char="ü"/>
            </a:pPr>
            <a:r>
              <a:rPr lang="en-US" dirty="0"/>
              <a:t>Conversing with other people</a:t>
            </a:r>
          </a:p>
          <a:p>
            <a:pPr>
              <a:buFont typeface="Wingdings" panose="05000000000000000000" pitchFamily="2" charset="2"/>
              <a:buChar char="ü"/>
            </a:pPr>
            <a:r>
              <a:rPr lang="en-US" dirty="0"/>
              <a:t>Being entertained</a:t>
            </a:r>
            <a:endParaRPr lang="en-IN" dirty="0"/>
          </a:p>
        </p:txBody>
      </p:sp>
    </p:spTree>
    <p:extLst>
      <p:ext uri="{BB962C8B-B14F-4D97-AF65-F5344CB8AC3E}">
        <p14:creationId xmlns:p14="http://schemas.microsoft.com/office/powerpoint/2010/main" val="942356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77048-301A-C66B-C49F-DBFFA8E30C3C}"/>
              </a:ext>
            </a:extLst>
          </p:cNvPr>
          <p:cNvSpPr>
            <a:spLocks noGrp="1"/>
          </p:cNvSpPr>
          <p:nvPr>
            <p:ph type="title"/>
          </p:nvPr>
        </p:nvSpPr>
        <p:spPr/>
        <p:txBody>
          <a:bodyPr/>
          <a:lstStyle/>
          <a:p>
            <a:r>
              <a:rPr lang="en-US" b="1" dirty="0"/>
              <a:t>A Means to an End</a:t>
            </a:r>
            <a:endParaRPr lang="en-IN" dirty="0"/>
          </a:p>
        </p:txBody>
      </p:sp>
      <p:sp>
        <p:nvSpPr>
          <p:cNvPr id="3" name="Content Placeholder 2">
            <a:extLst>
              <a:ext uri="{FF2B5EF4-FFF2-40B4-BE49-F238E27FC236}">
                <a16:creationId xmlns:a16="http://schemas.microsoft.com/office/drawing/2014/main" id="{5779F538-C6FB-E3BD-1A20-E7854FBAE568}"/>
              </a:ext>
            </a:extLst>
          </p:cNvPr>
          <p:cNvSpPr>
            <a:spLocks noGrp="1"/>
          </p:cNvSpPr>
          <p:nvPr>
            <p:ph idx="1"/>
          </p:nvPr>
        </p:nvSpPr>
        <p:spPr/>
        <p:txBody>
          <a:bodyPr/>
          <a:lstStyle/>
          <a:p>
            <a:r>
              <a:rPr lang="en-US" dirty="0"/>
              <a:t>The first step in designing an interface is to figure out what its users are really trying to accomplish.</a:t>
            </a:r>
          </a:p>
          <a:p>
            <a:r>
              <a:rPr lang="en-US" dirty="0"/>
              <a:t> Filling out a form, for example, is almost never a goal in and of itself people only do it because they’re trying to buy something online, renew their driver’s license, or install software. </a:t>
            </a:r>
          </a:p>
          <a:p>
            <a:pPr marL="0" indent="0">
              <a:buNone/>
            </a:pPr>
            <a:endParaRPr lang="en-IN" dirty="0"/>
          </a:p>
        </p:txBody>
      </p:sp>
    </p:spTree>
    <p:extLst>
      <p:ext uri="{BB962C8B-B14F-4D97-AF65-F5344CB8AC3E}">
        <p14:creationId xmlns:p14="http://schemas.microsoft.com/office/powerpoint/2010/main" val="1490168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A92E0-35CF-CA43-5C8A-538BA42AFA4D}"/>
              </a:ext>
            </a:extLst>
          </p:cNvPr>
          <p:cNvSpPr>
            <a:spLocks noGrp="1"/>
          </p:cNvSpPr>
          <p:nvPr>
            <p:ph type="title"/>
          </p:nvPr>
        </p:nvSpPr>
        <p:spPr/>
        <p:txBody>
          <a:bodyPr/>
          <a:lstStyle/>
          <a:p>
            <a:r>
              <a:rPr lang="en-US" b="1" dirty="0"/>
              <a:t>A Means to an End</a:t>
            </a:r>
            <a:endParaRPr lang="en-IN" dirty="0"/>
          </a:p>
        </p:txBody>
      </p:sp>
      <p:sp>
        <p:nvSpPr>
          <p:cNvPr id="3" name="Content Placeholder 2">
            <a:extLst>
              <a:ext uri="{FF2B5EF4-FFF2-40B4-BE49-F238E27FC236}">
                <a16:creationId xmlns:a16="http://schemas.microsoft.com/office/drawing/2014/main" id="{5C9C4AD2-6B28-DECB-AF1D-0ECDAC4E2009}"/>
              </a:ext>
            </a:extLst>
          </p:cNvPr>
          <p:cNvSpPr>
            <a:spLocks noGrp="1"/>
          </p:cNvSpPr>
          <p:nvPr>
            <p:ph idx="1"/>
          </p:nvPr>
        </p:nvSpPr>
        <p:spPr/>
        <p:txBody>
          <a:bodyPr>
            <a:normAutofit/>
          </a:bodyPr>
          <a:lstStyle/>
          <a:p>
            <a:r>
              <a:rPr lang="en-US" dirty="0"/>
              <a:t>Asking the right questions can help you connect user goals to the design process. </a:t>
            </a:r>
          </a:p>
          <a:p>
            <a:r>
              <a:rPr lang="en-US" dirty="0"/>
              <a:t>Users and clients typically speak to you in terms of desired features and solutions, not of needs and problems. </a:t>
            </a:r>
          </a:p>
          <a:p>
            <a:r>
              <a:rPr lang="en-US" dirty="0"/>
              <a:t>When a user or client tells you he wants a certain feature, ask why he wants it determine his immediate goal. </a:t>
            </a:r>
          </a:p>
          <a:p>
            <a:r>
              <a:rPr lang="en-US" dirty="0"/>
              <a:t>Then to the answer of this question, ask “why” again and again. Keep asking until you move well beyond the boundaries of the immediate design problem. </a:t>
            </a:r>
            <a:endParaRPr lang="en-IN" dirty="0"/>
          </a:p>
        </p:txBody>
      </p:sp>
    </p:spTree>
    <p:extLst>
      <p:ext uri="{BB962C8B-B14F-4D97-AF65-F5344CB8AC3E}">
        <p14:creationId xmlns:p14="http://schemas.microsoft.com/office/powerpoint/2010/main" val="954554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AB43F-A8BA-0688-1354-376F09385FFA}"/>
              </a:ext>
            </a:extLst>
          </p:cNvPr>
          <p:cNvSpPr>
            <a:spLocks noGrp="1"/>
          </p:cNvSpPr>
          <p:nvPr>
            <p:ph type="title"/>
          </p:nvPr>
        </p:nvSpPr>
        <p:spPr/>
        <p:txBody>
          <a:bodyPr/>
          <a:lstStyle/>
          <a:p>
            <a:r>
              <a:rPr lang="en-US" b="1" dirty="0"/>
              <a:t>A Means to an End</a:t>
            </a:r>
            <a:endParaRPr lang="en-IN" dirty="0"/>
          </a:p>
        </p:txBody>
      </p:sp>
      <p:sp>
        <p:nvSpPr>
          <p:cNvPr id="3" name="Content Placeholder 2">
            <a:extLst>
              <a:ext uri="{FF2B5EF4-FFF2-40B4-BE49-F238E27FC236}">
                <a16:creationId xmlns:a16="http://schemas.microsoft.com/office/drawing/2014/main" id="{EBF4C409-6B6E-9351-EA81-6F047DDEC483}"/>
              </a:ext>
            </a:extLst>
          </p:cNvPr>
          <p:cNvSpPr>
            <a:spLocks noGrp="1"/>
          </p:cNvSpPr>
          <p:nvPr>
            <p:ph idx="1"/>
          </p:nvPr>
        </p:nvSpPr>
        <p:spPr/>
        <p:txBody>
          <a:bodyPr/>
          <a:lstStyle/>
          <a:p>
            <a:r>
              <a:rPr lang="en-US" dirty="0"/>
              <a:t>Maybe you’re good at building forms that ask for just the right information, with the right controls, all laid out nicely. </a:t>
            </a:r>
          </a:p>
          <a:p>
            <a:r>
              <a:rPr lang="en-US" dirty="0"/>
              <a:t>But the </a:t>
            </a:r>
            <a:r>
              <a:rPr lang="en-US" b="1" dirty="0"/>
              <a:t>real art of interface design lies in solving the right problem.</a:t>
            </a:r>
            <a:endParaRPr lang="en-IN" b="1" dirty="0"/>
          </a:p>
        </p:txBody>
      </p:sp>
    </p:spTree>
    <p:extLst>
      <p:ext uri="{BB962C8B-B14F-4D97-AF65-F5344CB8AC3E}">
        <p14:creationId xmlns:p14="http://schemas.microsoft.com/office/powerpoint/2010/main" val="23074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51A44-3A70-5EDC-86DD-0E045975C21A}"/>
              </a:ext>
            </a:extLst>
          </p:cNvPr>
          <p:cNvSpPr>
            <a:spLocks noGrp="1"/>
          </p:cNvSpPr>
          <p:nvPr>
            <p:ph type="title"/>
          </p:nvPr>
        </p:nvSpPr>
        <p:spPr/>
        <p:txBody>
          <a:bodyPr/>
          <a:lstStyle/>
          <a:p>
            <a:r>
              <a:rPr lang="en-US" b="1" dirty="0"/>
              <a:t>The Basics of User Research</a:t>
            </a:r>
            <a:endParaRPr lang="en-IN" b="1" dirty="0"/>
          </a:p>
        </p:txBody>
      </p:sp>
      <p:sp>
        <p:nvSpPr>
          <p:cNvPr id="3" name="Content Placeholder 2">
            <a:extLst>
              <a:ext uri="{FF2B5EF4-FFF2-40B4-BE49-F238E27FC236}">
                <a16:creationId xmlns:a16="http://schemas.microsoft.com/office/drawing/2014/main" id="{C43CD43F-6481-E978-9B5B-C9E9088BF416}"/>
              </a:ext>
            </a:extLst>
          </p:cNvPr>
          <p:cNvSpPr>
            <a:spLocks noGrp="1"/>
          </p:cNvSpPr>
          <p:nvPr>
            <p:ph idx="1"/>
          </p:nvPr>
        </p:nvSpPr>
        <p:spPr>
          <a:xfrm>
            <a:off x="838200" y="1825624"/>
            <a:ext cx="10515600" cy="4486943"/>
          </a:xfrm>
        </p:spPr>
        <p:txBody>
          <a:bodyPr>
            <a:normAutofit fontScale="92500" lnSpcReduction="20000"/>
          </a:bodyPr>
          <a:lstStyle/>
          <a:p>
            <a:pPr algn="just"/>
            <a:r>
              <a:rPr lang="en-US" b="1" dirty="0"/>
              <a:t>User research aims to understand users' needs, behaviors, and challenges to design better interfaces and interactions.</a:t>
            </a:r>
          </a:p>
          <a:p>
            <a:pPr algn="just"/>
            <a:r>
              <a:rPr lang="en-US" dirty="0"/>
              <a:t> To get a design started, you’ll need to characterize the kinds of people who will be using your design, and the best way to do that is to go out and meet them.</a:t>
            </a:r>
          </a:p>
          <a:p>
            <a:pPr algn="just"/>
            <a:r>
              <a:rPr lang="en-US" dirty="0"/>
              <a:t>Each user group is unique.</a:t>
            </a:r>
          </a:p>
          <a:p>
            <a:pPr algn="just"/>
            <a:r>
              <a:rPr lang="en-US" dirty="0"/>
              <a:t> The target audience for, say, a new mobile phone app will differ dramatically from the target audience for a piece of scientific software. </a:t>
            </a:r>
          </a:p>
          <a:p>
            <a:pPr algn="just"/>
            <a:r>
              <a:rPr lang="en-US" dirty="0"/>
              <a:t>Even if the same person uses both, his expectations for each are different a researcher using scientific software might tolerate a less-polished interface in exchange for high functionality, whereas that same person may stop using the mobile app if he finds its UI to be too hard to use after a few days.</a:t>
            </a:r>
            <a:endParaRPr lang="en-IN" dirty="0"/>
          </a:p>
          <a:p>
            <a:endParaRPr lang="en-IN" dirty="0"/>
          </a:p>
        </p:txBody>
      </p:sp>
    </p:spTree>
    <p:extLst>
      <p:ext uri="{BB962C8B-B14F-4D97-AF65-F5344CB8AC3E}">
        <p14:creationId xmlns:p14="http://schemas.microsoft.com/office/powerpoint/2010/main" val="3228755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37E61-8962-3789-42B8-CC4206DC6D46}"/>
              </a:ext>
            </a:extLst>
          </p:cNvPr>
          <p:cNvSpPr>
            <a:spLocks noGrp="1"/>
          </p:cNvSpPr>
          <p:nvPr>
            <p:ph type="title"/>
          </p:nvPr>
        </p:nvSpPr>
        <p:spPr/>
        <p:txBody>
          <a:bodyPr/>
          <a:lstStyle/>
          <a:p>
            <a:r>
              <a:rPr lang="en-US" b="1" dirty="0"/>
              <a:t>The Basics of User Research</a:t>
            </a:r>
            <a:endParaRPr lang="en-IN" dirty="0"/>
          </a:p>
        </p:txBody>
      </p:sp>
      <p:sp>
        <p:nvSpPr>
          <p:cNvPr id="3" name="Content Placeholder 2">
            <a:extLst>
              <a:ext uri="{FF2B5EF4-FFF2-40B4-BE49-F238E27FC236}">
                <a16:creationId xmlns:a16="http://schemas.microsoft.com/office/drawing/2014/main" id="{EEC77693-70C6-DFDF-7A46-8A5684570649}"/>
              </a:ext>
            </a:extLst>
          </p:cNvPr>
          <p:cNvSpPr>
            <a:spLocks noGrp="1"/>
          </p:cNvSpPr>
          <p:nvPr>
            <p:ph idx="1"/>
          </p:nvPr>
        </p:nvSpPr>
        <p:spPr/>
        <p:txBody>
          <a:bodyPr>
            <a:normAutofit/>
          </a:bodyPr>
          <a:lstStyle/>
          <a:p>
            <a:r>
              <a:rPr lang="en-US" dirty="0"/>
              <a:t>Specifically, you’ll want to learn:</a:t>
            </a:r>
          </a:p>
          <a:p>
            <a:pPr>
              <a:buFont typeface="Wingdings" panose="05000000000000000000" pitchFamily="2" charset="2"/>
              <a:buChar char="Ø"/>
            </a:pPr>
            <a:r>
              <a:rPr lang="en-US" dirty="0"/>
              <a:t> Their goals in using the software or site</a:t>
            </a:r>
          </a:p>
          <a:p>
            <a:pPr>
              <a:buFont typeface="Wingdings" panose="05000000000000000000" pitchFamily="2" charset="2"/>
              <a:buChar char="Ø"/>
            </a:pPr>
            <a:r>
              <a:rPr lang="en-US" dirty="0"/>
              <a:t> The specific tasks they undertake in pursuit of those goals</a:t>
            </a:r>
          </a:p>
          <a:p>
            <a:pPr>
              <a:buFont typeface="Wingdings" panose="05000000000000000000" pitchFamily="2" charset="2"/>
              <a:buChar char="Ø"/>
            </a:pPr>
            <a:r>
              <a:rPr lang="en-US" dirty="0"/>
              <a:t> The language and words they use to describe what they’re doing</a:t>
            </a:r>
          </a:p>
          <a:p>
            <a:pPr>
              <a:buFont typeface="Wingdings" panose="05000000000000000000" pitchFamily="2" charset="2"/>
              <a:buChar char="Ø"/>
            </a:pPr>
            <a:r>
              <a:rPr lang="en-US" dirty="0"/>
              <a:t> Their skill at using software similar to what you’re designing</a:t>
            </a:r>
          </a:p>
          <a:p>
            <a:pPr>
              <a:buFont typeface="Wingdings" panose="05000000000000000000" pitchFamily="2" charset="2"/>
              <a:buChar char="Ø"/>
            </a:pPr>
            <a:r>
              <a:rPr lang="en-US" dirty="0"/>
              <a:t>Their attitudes toward the kind of thing you’re designing, and how different designs might affect those attitude</a:t>
            </a:r>
            <a:endParaRPr lang="en-IN" dirty="0"/>
          </a:p>
        </p:txBody>
      </p:sp>
    </p:spTree>
    <p:extLst>
      <p:ext uri="{BB962C8B-B14F-4D97-AF65-F5344CB8AC3E}">
        <p14:creationId xmlns:p14="http://schemas.microsoft.com/office/powerpoint/2010/main" val="1853396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84691-570A-8678-07B7-E8D060D776F1}"/>
              </a:ext>
            </a:extLst>
          </p:cNvPr>
          <p:cNvSpPr>
            <a:spLocks noGrp="1"/>
          </p:cNvSpPr>
          <p:nvPr>
            <p:ph type="title"/>
          </p:nvPr>
        </p:nvSpPr>
        <p:spPr/>
        <p:txBody>
          <a:bodyPr/>
          <a:lstStyle/>
          <a:p>
            <a:r>
              <a:rPr lang="en-US" b="1" dirty="0"/>
              <a:t>The Basics of User Research</a:t>
            </a:r>
            <a:endParaRPr lang="en-IN" dirty="0"/>
          </a:p>
        </p:txBody>
      </p:sp>
      <p:sp>
        <p:nvSpPr>
          <p:cNvPr id="3" name="Content Placeholder 2">
            <a:extLst>
              <a:ext uri="{FF2B5EF4-FFF2-40B4-BE49-F238E27FC236}">
                <a16:creationId xmlns:a16="http://schemas.microsoft.com/office/drawing/2014/main" id="{3248387C-DCE9-AC33-1169-EAC6E92ABA38}"/>
              </a:ext>
            </a:extLst>
          </p:cNvPr>
          <p:cNvSpPr>
            <a:spLocks noGrp="1"/>
          </p:cNvSpPr>
          <p:nvPr>
            <p:ph idx="1"/>
          </p:nvPr>
        </p:nvSpPr>
        <p:spPr/>
        <p:txBody>
          <a:bodyPr/>
          <a:lstStyle/>
          <a:p>
            <a:r>
              <a:rPr lang="en-US" dirty="0"/>
              <a:t>Unfortunately, this user-discovery phase will consume serious time early in the design cycle. It’s expensive. But it’s worth it, because you stand a better chance at solving the right problem—you’ll build the right thing in the first place</a:t>
            </a:r>
            <a:endParaRPr lang="en-IN" dirty="0"/>
          </a:p>
        </p:txBody>
      </p:sp>
    </p:spTree>
    <p:extLst>
      <p:ext uri="{BB962C8B-B14F-4D97-AF65-F5344CB8AC3E}">
        <p14:creationId xmlns:p14="http://schemas.microsoft.com/office/powerpoint/2010/main" val="4065688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4E65B-F745-7FDA-7A46-E10C58693E1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252F915-710F-086F-FA96-5CCE861CEA05}"/>
              </a:ext>
            </a:extLst>
          </p:cNvPr>
          <p:cNvSpPr>
            <a:spLocks noGrp="1"/>
          </p:cNvSpPr>
          <p:nvPr>
            <p:ph idx="1"/>
          </p:nvPr>
        </p:nvSpPr>
        <p:spPr>
          <a:xfrm>
            <a:off x="838200" y="365126"/>
            <a:ext cx="10515600" cy="5811838"/>
          </a:xfrm>
        </p:spPr>
        <p:txBody>
          <a:bodyPr>
            <a:normAutofit/>
          </a:bodyPr>
          <a:lstStyle/>
          <a:p>
            <a:pPr marL="0" indent="0">
              <a:buNone/>
            </a:pPr>
            <a:endParaRPr lang="en-US" b="1" u="sng" dirty="0"/>
          </a:p>
          <a:p>
            <a:pPr marL="0" indent="0">
              <a:buNone/>
            </a:pPr>
            <a:r>
              <a:rPr lang="en-US" b="1" dirty="0"/>
              <a:t>The Basics of User Research-METHODS</a:t>
            </a:r>
            <a:endParaRPr lang="en-US" b="1" u="sng" dirty="0"/>
          </a:p>
          <a:p>
            <a:pPr marL="0" indent="0">
              <a:buNone/>
            </a:pPr>
            <a:endParaRPr lang="en-US" b="1" u="sng" dirty="0"/>
          </a:p>
          <a:p>
            <a:pPr marL="0" indent="0">
              <a:buNone/>
            </a:pPr>
            <a:r>
              <a:rPr lang="en-US" b="1" u="sng" dirty="0"/>
              <a:t>Direct observation</a:t>
            </a:r>
          </a:p>
          <a:p>
            <a:pPr>
              <a:lnSpc>
                <a:spcPct val="120000"/>
              </a:lnSpc>
            </a:pPr>
            <a:r>
              <a:rPr lang="en-US" dirty="0"/>
              <a:t>Interviews and onsite user visits put you directly into the user’s world. You can ask users about what their goals are and what tasks they typically do. </a:t>
            </a:r>
          </a:p>
          <a:p>
            <a:pPr>
              <a:lnSpc>
                <a:spcPct val="120000"/>
              </a:lnSpc>
            </a:pPr>
            <a:r>
              <a:rPr lang="en-US" dirty="0"/>
              <a:t>Interviews can be structured with a predefined set of questions or unstructured, where you probe whatever subject comes up. Interviews gives a lot of flexibility;</a:t>
            </a:r>
          </a:p>
        </p:txBody>
      </p:sp>
    </p:spTree>
    <p:extLst>
      <p:ext uri="{BB962C8B-B14F-4D97-AF65-F5344CB8AC3E}">
        <p14:creationId xmlns:p14="http://schemas.microsoft.com/office/powerpoint/2010/main" val="587600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6E6E4-5E99-ACF0-DBFC-5EA533073C5C}"/>
              </a:ext>
            </a:extLst>
          </p:cNvPr>
          <p:cNvSpPr>
            <a:spLocks noGrp="1"/>
          </p:cNvSpPr>
          <p:nvPr>
            <p:ph type="title"/>
          </p:nvPr>
        </p:nvSpPr>
        <p:spPr/>
        <p:txBody>
          <a:bodyPr/>
          <a:lstStyle/>
          <a:p>
            <a:r>
              <a:rPr lang="en-US" b="1" dirty="0"/>
              <a:t>The Basics of User Research-METHODS</a:t>
            </a:r>
            <a:br>
              <a:rPr lang="en-US" b="1" u="sng" dirty="0"/>
            </a:br>
            <a:endParaRPr lang="en-IN" dirty="0"/>
          </a:p>
        </p:txBody>
      </p:sp>
      <p:sp>
        <p:nvSpPr>
          <p:cNvPr id="3" name="Content Placeholder 2">
            <a:extLst>
              <a:ext uri="{FF2B5EF4-FFF2-40B4-BE49-F238E27FC236}">
                <a16:creationId xmlns:a16="http://schemas.microsoft.com/office/drawing/2014/main" id="{C2AEC1BF-DE79-636B-451C-45549A0832DA}"/>
              </a:ext>
            </a:extLst>
          </p:cNvPr>
          <p:cNvSpPr>
            <a:spLocks noGrp="1"/>
          </p:cNvSpPr>
          <p:nvPr>
            <p:ph idx="1"/>
          </p:nvPr>
        </p:nvSpPr>
        <p:spPr/>
        <p:txBody>
          <a:bodyPr>
            <a:normAutofit fontScale="62500" lnSpcReduction="20000"/>
          </a:bodyPr>
          <a:lstStyle/>
          <a:p>
            <a:pPr marL="0" indent="0">
              <a:buNone/>
            </a:pPr>
            <a:r>
              <a:rPr lang="en-US" sz="4000" b="1" u="sng" dirty="0"/>
              <a:t>Case studies</a:t>
            </a:r>
          </a:p>
          <a:p>
            <a:r>
              <a:rPr lang="en-US" sz="4000" dirty="0"/>
              <a:t>They provide deep and detailed views of representative users or user groups.</a:t>
            </a:r>
          </a:p>
          <a:p>
            <a:r>
              <a:rPr lang="en-US" sz="4000" dirty="0"/>
              <a:t>Useful for exploring extreme users who push software boundaries, especially in redesign projects.</a:t>
            </a:r>
          </a:p>
          <a:p>
            <a:r>
              <a:rPr lang="en-US" sz="4000" dirty="0"/>
              <a:t>Essential for designing custom software for a specific user or site, understanding their context of use is crucial.</a:t>
            </a:r>
            <a:endParaRPr lang="en-US" sz="4000" b="1" u="sng" dirty="0"/>
          </a:p>
          <a:p>
            <a:pPr marL="0" indent="0">
              <a:buNone/>
            </a:pPr>
            <a:r>
              <a:rPr lang="en-US" sz="4000" b="1" u="sng" dirty="0"/>
              <a:t>Surveys</a:t>
            </a:r>
          </a:p>
          <a:p>
            <a:pPr>
              <a:lnSpc>
                <a:spcPct val="100000"/>
              </a:lnSpc>
            </a:pPr>
            <a:r>
              <a:rPr lang="en-US" sz="4000" dirty="0"/>
              <a:t>Written surveys can collect information from many users. </a:t>
            </a:r>
          </a:p>
          <a:p>
            <a:pPr>
              <a:lnSpc>
                <a:spcPct val="100000"/>
              </a:lnSpc>
            </a:pPr>
            <a:r>
              <a:rPr lang="en-US" sz="4000" dirty="0"/>
              <a:t>Careful survey design is essential. If you want reliable numbers instead of a qualitative “feel” for the target audience, you absolutely must write the questions correctly, pick the survey recipients correctly, and analyze the answers correctly—and that’s a science.</a:t>
            </a:r>
          </a:p>
        </p:txBody>
      </p:sp>
    </p:spTree>
    <p:extLst>
      <p:ext uri="{BB962C8B-B14F-4D97-AF65-F5344CB8AC3E}">
        <p14:creationId xmlns:p14="http://schemas.microsoft.com/office/powerpoint/2010/main" val="693492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3D80-84A5-E4B6-FA11-BE317A14A448}"/>
              </a:ext>
            </a:extLst>
          </p:cNvPr>
          <p:cNvSpPr>
            <a:spLocks noGrp="1"/>
          </p:cNvSpPr>
          <p:nvPr>
            <p:ph type="title"/>
          </p:nvPr>
        </p:nvSpPr>
        <p:spPr/>
        <p:txBody>
          <a:bodyPr/>
          <a:lstStyle/>
          <a:p>
            <a:r>
              <a:rPr lang="en-US" b="1" dirty="0"/>
              <a:t>The Basics of User Research-METHODS</a:t>
            </a:r>
            <a:br>
              <a:rPr lang="en-US" b="1" u="sng" dirty="0"/>
            </a:br>
            <a:endParaRPr lang="en-IN" dirty="0"/>
          </a:p>
        </p:txBody>
      </p:sp>
      <p:sp>
        <p:nvSpPr>
          <p:cNvPr id="3" name="Content Placeholder 2">
            <a:extLst>
              <a:ext uri="{FF2B5EF4-FFF2-40B4-BE49-F238E27FC236}">
                <a16:creationId xmlns:a16="http://schemas.microsoft.com/office/drawing/2014/main" id="{BE36AA8F-81F3-0DAC-05C9-CC173DAE5929}"/>
              </a:ext>
            </a:extLst>
          </p:cNvPr>
          <p:cNvSpPr>
            <a:spLocks noGrp="1"/>
          </p:cNvSpPr>
          <p:nvPr>
            <p:ph idx="1"/>
          </p:nvPr>
        </p:nvSpPr>
        <p:spPr/>
        <p:txBody>
          <a:bodyPr>
            <a:normAutofit fontScale="85000" lnSpcReduction="20000"/>
          </a:bodyPr>
          <a:lstStyle/>
          <a:p>
            <a:pPr marL="0" indent="0">
              <a:lnSpc>
                <a:spcPct val="100000"/>
              </a:lnSpc>
              <a:buFont typeface="Arial" panose="020B0604020202020204" pitchFamily="34" charset="0"/>
              <a:buNone/>
            </a:pPr>
            <a:r>
              <a:rPr lang="en-US" sz="2800" b="1" u="sng" dirty="0"/>
              <a:t>Personas</a:t>
            </a:r>
          </a:p>
          <a:p>
            <a:pPr>
              <a:lnSpc>
                <a:spcPct val="100000"/>
              </a:lnSpc>
            </a:pPr>
            <a:endParaRPr lang="en-US" sz="2800" dirty="0"/>
          </a:p>
          <a:p>
            <a:pPr>
              <a:lnSpc>
                <a:spcPct val="100000"/>
              </a:lnSpc>
            </a:pPr>
            <a:r>
              <a:rPr lang="en-US" sz="2800" dirty="0"/>
              <a:t>Personas aren’t a data-gathering method, but they help to figure out what to do with </a:t>
            </a:r>
            <a:r>
              <a:rPr lang="en-US" dirty="0"/>
              <a:t>the given</a:t>
            </a:r>
            <a:r>
              <a:rPr lang="en-US" sz="2800" dirty="0"/>
              <a:t> data.</a:t>
            </a:r>
          </a:p>
          <a:p>
            <a:pPr>
              <a:lnSpc>
                <a:spcPct val="100000"/>
              </a:lnSpc>
            </a:pPr>
            <a:r>
              <a:rPr lang="en-US" sz="2800" dirty="0"/>
              <a:t>This is a design technique that “models” the target audiences. </a:t>
            </a:r>
          </a:p>
          <a:p>
            <a:pPr>
              <a:lnSpc>
                <a:spcPct val="100000"/>
              </a:lnSpc>
            </a:pPr>
            <a:r>
              <a:rPr lang="en-US" sz="2800" dirty="0"/>
              <a:t>For each major user group, </a:t>
            </a:r>
            <a:r>
              <a:rPr lang="en-US" dirty="0"/>
              <a:t>it</a:t>
            </a:r>
            <a:r>
              <a:rPr lang="en-US" sz="2800" dirty="0"/>
              <a:t> create a character that captures the most important aspects of the users in that group: </a:t>
            </a:r>
          </a:p>
          <a:p>
            <a:pPr>
              <a:lnSpc>
                <a:spcPct val="100000"/>
              </a:lnSpc>
            </a:pPr>
            <a:r>
              <a:rPr lang="en-US" dirty="0"/>
              <a:t>W</a:t>
            </a:r>
            <a:r>
              <a:rPr lang="en-US" sz="2800" dirty="0"/>
              <a:t>hat tasks they’re trying to accomplish, their ultimate goals, and their experience levels in the subject domain and with computers in general.</a:t>
            </a:r>
          </a:p>
          <a:p>
            <a:pPr>
              <a:lnSpc>
                <a:spcPct val="100000"/>
              </a:lnSpc>
            </a:pPr>
            <a:r>
              <a:rPr lang="en-US" sz="2800" dirty="0"/>
              <a:t> </a:t>
            </a:r>
            <a:r>
              <a:rPr lang="en-US" dirty="0"/>
              <a:t>Personas keep your design focused. As you work, ask yourself, "Would this persona really do X? What would they do instead?"</a:t>
            </a:r>
            <a:endParaRPr lang="en-IN" dirty="0"/>
          </a:p>
        </p:txBody>
      </p:sp>
    </p:spTree>
    <p:extLst>
      <p:ext uri="{BB962C8B-B14F-4D97-AF65-F5344CB8AC3E}">
        <p14:creationId xmlns:p14="http://schemas.microsoft.com/office/powerpoint/2010/main" val="4060426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8B5F-D4E7-5820-AC91-465E980C7A1F}"/>
              </a:ext>
            </a:extLst>
          </p:cNvPr>
          <p:cNvSpPr>
            <a:spLocks noGrp="1"/>
          </p:cNvSpPr>
          <p:nvPr>
            <p:ph type="title"/>
          </p:nvPr>
        </p:nvSpPr>
        <p:spPr/>
        <p:txBody>
          <a:bodyPr/>
          <a:lstStyle/>
          <a:p>
            <a:r>
              <a:rPr lang="en-US" b="1" dirty="0"/>
              <a:t>The Basics of User Research-METHODS</a:t>
            </a:r>
            <a:endParaRPr lang="en-IN" dirty="0"/>
          </a:p>
        </p:txBody>
      </p:sp>
      <p:sp>
        <p:nvSpPr>
          <p:cNvPr id="3" name="Content Placeholder 2">
            <a:extLst>
              <a:ext uri="{FF2B5EF4-FFF2-40B4-BE49-F238E27FC236}">
                <a16:creationId xmlns:a16="http://schemas.microsoft.com/office/drawing/2014/main" id="{20DEAE8F-0B67-CA38-49EA-B618C3F0DF9B}"/>
              </a:ext>
            </a:extLst>
          </p:cNvPr>
          <p:cNvSpPr>
            <a:spLocks noGrp="1"/>
          </p:cNvSpPr>
          <p:nvPr>
            <p:ph idx="1"/>
          </p:nvPr>
        </p:nvSpPr>
        <p:spPr/>
        <p:txBody>
          <a:bodyPr>
            <a:normAutofit/>
          </a:bodyPr>
          <a:lstStyle/>
          <a:p>
            <a:r>
              <a:rPr lang="en-US" dirty="0"/>
              <a:t>By above methods , designers are trying to understand the people who use the software</a:t>
            </a:r>
          </a:p>
          <a:p>
            <a:r>
              <a:rPr lang="en-US" dirty="0"/>
              <a:t>Some of these techniques are very formal, and some aren’t. </a:t>
            </a:r>
          </a:p>
          <a:p>
            <a:r>
              <a:rPr lang="en-US" dirty="0"/>
              <a:t>Formal and quantitative methods are valuable because they’re good science. </a:t>
            </a:r>
          </a:p>
          <a:p>
            <a:r>
              <a:rPr lang="en-US" dirty="0"/>
              <a:t>When applied correctly, they helps to see the world as it actually is, not how you think it is.</a:t>
            </a:r>
          </a:p>
          <a:p>
            <a:r>
              <a:rPr lang="en-US" dirty="0"/>
              <a:t>Even if there's no time for formal methods, it's better to meet a few users informally than to not do any discovery at all.</a:t>
            </a:r>
            <a:endParaRPr lang="en-IN" dirty="0"/>
          </a:p>
        </p:txBody>
      </p:sp>
    </p:spTree>
    <p:extLst>
      <p:ext uri="{BB962C8B-B14F-4D97-AF65-F5344CB8AC3E}">
        <p14:creationId xmlns:p14="http://schemas.microsoft.com/office/powerpoint/2010/main" val="587536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21914-A2F2-F8DB-2FE1-92D92EDE5A6F}"/>
              </a:ext>
            </a:extLst>
          </p:cNvPr>
          <p:cNvSpPr>
            <a:spLocks noGrp="1"/>
          </p:cNvSpPr>
          <p:nvPr>
            <p:ph type="title"/>
          </p:nvPr>
        </p:nvSpPr>
        <p:spPr/>
        <p:txBody>
          <a:bodyPr/>
          <a:lstStyle/>
          <a:p>
            <a:r>
              <a:rPr lang="en-IN" b="1" dirty="0"/>
              <a:t>Users’ Motivation to Learn</a:t>
            </a:r>
          </a:p>
        </p:txBody>
      </p:sp>
      <p:sp>
        <p:nvSpPr>
          <p:cNvPr id="3" name="Content Placeholder 2">
            <a:extLst>
              <a:ext uri="{FF2B5EF4-FFF2-40B4-BE49-F238E27FC236}">
                <a16:creationId xmlns:a16="http://schemas.microsoft.com/office/drawing/2014/main" id="{ADC54AAC-6938-22C3-D7A3-3FFB0F23D062}"/>
              </a:ext>
            </a:extLst>
          </p:cNvPr>
          <p:cNvSpPr>
            <a:spLocks noGrp="1"/>
          </p:cNvSpPr>
          <p:nvPr>
            <p:ph idx="1"/>
          </p:nvPr>
        </p:nvSpPr>
        <p:spPr>
          <a:xfrm>
            <a:off x="838200" y="1502229"/>
            <a:ext cx="10515600" cy="5225142"/>
          </a:xfrm>
        </p:spPr>
        <p:txBody>
          <a:bodyPr>
            <a:normAutofit/>
          </a:bodyPr>
          <a:lstStyle/>
          <a:p>
            <a:pPr algn="just"/>
            <a:r>
              <a:rPr lang="en-US" dirty="0"/>
              <a:t>When you carry on a conversation with someone about a given subject, you adjust what you say according to your understanding of the other person. You might consider </a:t>
            </a:r>
          </a:p>
          <a:p>
            <a:pPr algn="just">
              <a:buFont typeface="Wingdings" panose="05000000000000000000" pitchFamily="2" charset="2"/>
              <a:buChar char="Ø"/>
            </a:pPr>
            <a:r>
              <a:rPr lang="en-US" dirty="0"/>
              <a:t>How much he cares about the subject, </a:t>
            </a:r>
          </a:p>
          <a:p>
            <a:pPr algn="just">
              <a:buFont typeface="Wingdings" panose="05000000000000000000" pitchFamily="2" charset="2"/>
              <a:buChar char="Ø"/>
            </a:pPr>
            <a:r>
              <a:rPr lang="en-US" dirty="0"/>
              <a:t>How much he already knows about it, </a:t>
            </a:r>
          </a:p>
          <a:p>
            <a:pPr algn="just">
              <a:buFont typeface="Wingdings" panose="05000000000000000000" pitchFamily="2" charset="2"/>
              <a:buChar char="Ø"/>
            </a:pPr>
            <a:r>
              <a:rPr lang="en-US" dirty="0"/>
              <a:t>How receptive he is </a:t>
            </a:r>
          </a:p>
          <a:p>
            <a:pPr algn="just">
              <a:buFont typeface="Wingdings" panose="05000000000000000000" pitchFamily="2" charset="2"/>
              <a:buChar char="Ø"/>
            </a:pPr>
            <a:r>
              <a:rPr lang="en-US" dirty="0"/>
              <a:t>whether he’s even interested in the conversation in the first place</a:t>
            </a:r>
          </a:p>
          <a:p>
            <a:pPr algn="just"/>
            <a:r>
              <a:rPr lang="en-US" dirty="0"/>
              <a:t>If you get any of that wrong, bad things happen he might feel uninterested, impatient, or utterly baffled.</a:t>
            </a:r>
            <a:endParaRPr lang="en-IN" dirty="0"/>
          </a:p>
        </p:txBody>
      </p:sp>
    </p:spTree>
    <p:extLst>
      <p:ext uri="{BB962C8B-B14F-4D97-AF65-F5344CB8AC3E}">
        <p14:creationId xmlns:p14="http://schemas.microsoft.com/office/powerpoint/2010/main" val="2040785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03DF2-55FC-E272-EAFD-E3073BF348FE}"/>
              </a:ext>
            </a:extLst>
          </p:cNvPr>
          <p:cNvSpPr>
            <a:spLocks noGrp="1"/>
          </p:cNvSpPr>
          <p:nvPr>
            <p:ph type="title"/>
          </p:nvPr>
        </p:nvSpPr>
        <p:spPr/>
        <p:txBody>
          <a:bodyPr/>
          <a:lstStyle/>
          <a:p>
            <a:r>
              <a:rPr lang="en-IN" b="1" dirty="0"/>
              <a:t>Users’ Motivation to Learn</a:t>
            </a:r>
            <a:endParaRPr lang="en-IN" dirty="0"/>
          </a:p>
        </p:txBody>
      </p:sp>
      <p:sp>
        <p:nvSpPr>
          <p:cNvPr id="3" name="Content Placeholder 2">
            <a:extLst>
              <a:ext uri="{FF2B5EF4-FFF2-40B4-BE49-F238E27FC236}">
                <a16:creationId xmlns:a16="http://schemas.microsoft.com/office/drawing/2014/main" id="{8CF6C15A-1247-4581-4D2C-FBE5F6973655}"/>
              </a:ext>
            </a:extLst>
          </p:cNvPr>
          <p:cNvSpPr>
            <a:spLocks noGrp="1"/>
          </p:cNvSpPr>
          <p:nvPr>
            <p:ph idx="1"/>
          </p:nvPr>
        </p:nvSpPr>
        <p:spPr>
          <a:xfrm>
            <a:off x="838200" y="1484145"/>
            <a:ext cx="10515600" cy="5115606"/>
          </a:xfrm>
        </p:spPr>
        <p:txBody>
          <a:bodyPr>
            <a:normAutofit fontScale="92500" lnSpcReduction="10000"/>
          </a:bodyPr>
          <a:lstStyle/>
          <a:p>
            <a:r>
              <a:rPr lang="en-US" dirty="0"/>
              <a:t>If they don’t know computers very well, don’t make them use sophisticated widget or uncommon interface-design conventions. </a:t>
            </a:r>
          </a:p>
          <a:p>
            <a:r>
              <a:rPr lang="en-US" dirty="0"/>
              <a:t>If their level of interest might be low, respect that, and don’t ask for too much effort for too little reward.</a:t>
            </a:r>
          </a:p>
          <a:p>
            <a:pPr marL="0" indent="0">
              <a:buNone/>
            </a:pPr>
            <a:r>
              <a:rPr lang="en-US" sz="3100" b="1" dirty="0"/>
              <a:t>How much effort are your users willing to spend to learn your interface?</a:t>
            </a:r>
          </a:p>
          <a:p>
            <a:r>
              <a:rPr lang="en-US" dirty="0"/>
              <a:t>When designing software, consider how users will engage with it:</a:t>
            </a:r>
          </a:p>
          <a:p>
            <a:pPr>
              <a:buFont typeface="Wingdings" panose="05000000000000000000" pitchFamily="2" charset="2"/>
              <a:buChar char="Ø"/>
            </a:pPr>
            <a:r>
              <a:rPr lang="en-US" dirty="0"/>
              <a:t>Some might use it daily and become experts.</a:t>
            </a:r>
          </a:p>
          <a:p>
            <a:pPr>
              <a:buFont typeface="Wingdings" panose="05000000000000000000" pitchFamily="2" charset="2"/>
              <a:buChar char="Ø"/>
            </a:pPr>
            <a:r>
              <a:rPr lang="en-US" dirty="0"/>
              <a:t>Others might use it occasionally, learning enough to manage.</a:t>
            </a:r>
          </a:p>
          <a:p>
            <a:pPr>
              <a:buFont typeface="Wingdings" panose="05000000000000000000" pitchFamily="2" charset="2"/>
              <a:buChar char="Ø"/>
            </a:pPr>
            <a:r>
              <a:rPr lang="en-US" dirty="0"/>
              <a:t>Many might only encounter it briefly, perhaps just once.</a:t>
            </a:r>
          </a:p>
          <a:p>
            <a:r>
              <a:rPr lang="en-US" dirty="0"/>
              <a:t>Be realistic: Will most users become intermediate or expert users, or will they likely stay beginners?</a:t>
            </a:r>
          </a:p>
        </p:txBody>
      </p:sp>
    </p:spTree>
    <p:extLst>
      <p:ext uri="{BB962C8B-B14F-4D97-AF65-F5344CB8AC3E}">
        <p14:creationId xmlns:p14="http://schemas.microsoft.com/office/powerpoint/2010/main" val="1153929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2611-75F6-C104-BF79-3F9C29884476}"/>
              </a:ext>
            </a:extLst>
          </p:cNvPr>
          <p:cNvSpPr>
            <a:spLocks noGrp="1"/>
          </p:cNvSpPr>
          <p:nvPr>
            <p:ph type="title"/>
          </p:nvPr>
        </p:nvSpPr>
        <p:spPr/>
        <p:txBody>
          <a:bodyPr/>
          <a:lstStyle/>
          <a:p>
            <a:r>
              <a:rPr lang="en-IN" b="1" dirty="0"/>
              <a:t>Users’ Motivation to Learn</a:t>
            </a:r>
            <a:endParaRPr lang="en-IN" dirty="0"/>
          </a:p>
        </p:txBody>
      </p:sp>
      <p:sp>
        <p:nvSpPr>
          <p:cNvPr id="3" name="Content Placeholder 2">
            <a:extLst>
              <a:ext uri="{FF2B5EF4-FFF2-40B4-BE49-F238E27FC236}">
                <a16:creationId xmlns:a16="http://schemas.microsoft.com/office/drawing/2014/main" id="{396A3A48-58DA-D96A-C417-12C72C03AB08}"/>
              </a:ext>
            </a:extLst>
          </p:cNvPr>
          <p:cNvSpPr>
            <a:spLocks noGrp="1"/>
          </p:cNvSpPr>
          <p:nvPr>
            <p:ph idx="1"/>
          </p:nvPr>
        </p:nvSpPr>
        <p:spPr/>
        <p:txBody>
          <a:bodyPr>
            <a:normAutofit/>
          </a:bodyPr>
          <a:lstStyle/>
          <a:p>
            <a:r>
              <a:rPr lang="en-IN" dirty="0"/>
              <a:t>Software designed for intermediate-to-expert users includes:</a:t>
            </a:r>
          </a:p>
          <a:p>
            <a:pPr>
              <a:buFont typeface="Wingdings" panose="05000000000000000000" pitchFamily="2" charset="2"/>
              <a:buChar char="Ø"/>
            </a:pPr>
            <a:r>
              <a:rPr lang="en-IN" dirty="0"/>
              <a:t>	Photoshop</a:t>
            </a:r>
          </a:p>
          <a:p>
            <a:pPr>
              <a:buFont typeface="Wingdings" panose="05000000000000000000" pitchFamily="2" charset="2"/>
              <a:buChar char="Ø"/>
            </a:pPr>
            <a:r>
              <a:rPr lang="en-IN" dirty="0"/>
              <a:t>	Dreamweaver</a:t>
            </a:r>
          </a:p>
          <a:p>
            <a:pPr>
              <a:buFont typeface="Wingdings" panose="05000000000000000000" pitchFamily="2" charset="2"/>
              <a:buChar char="Ø"/>
            </a:pPr>
            <a:r>
              <a:rPr lang="en-IN" dirty="0"/>
              <a:t>	Excel</a:t>
            </a:r>
          </a:p>
          <a:p>
            <a:pPr>
              <a:buFont typeface="Wingdings" panose="05000000000000000000" pitchFamily="2" charset="2"/>
              <a:buChar char="Ø"/>
            </a:pPr>
            <a:r>
              <a:rPr lang="en-IN" dirty="0"/>
              <a:t>	Code development environments</a:t>
            </a:r>
          </a:p>
          <a:p>
            <a:pPr>
              <a:buFont typeface="Wingdings" panose="05000000000000000000" pitchFamily="2" charset="2"/>
              <a:buChar char="Ø"/>
            </a:pPr>
            <a:r>
              <a:rPr lang="en-IN" dirty="0"/>
              <a:t>	 System-administration tools for web servers</a:t>
            </a:r>
          </a:p>
        </p:txBody>
      </p:sp>
    </p:spTree>
    <p:extLst>
      <p:ext uri="{BB962C8B-B14F-4D97-AF65-F5344CB8AC3E}">
        <p14:creationId xmlns:p14="http://schemas.microsoft.com/office/powerpoint/2010/main" val="1897298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6D98D-86CE-2AC3-254F-15A4BACB4B16}"/>
              </a:ext>
            </a:extLst>
          </p:cNvPr>
          <p:cNvSpPr>
            <a:spLocks noGrp="1"/>
          </p:cNvSpPr>
          <p:nvPr>
            <p:ph type="title"/>
          </p:nvPr>
        </p:nvSpPr>
        <p:spPr/>
        <p:txBody>
          <a:bodyPr/>
          <a:lstStyle/>
          <a:p>
            <a:r>
              <a:rPr lang="en-IN" b="1" dirty="0"/>
              <a:t>Users’ Motivation to Learn</a:t>
            </a:r>
            <a:endParaRPr lang="en-IN" dirty="0"/>
          </a:p>
        </p:txBody>
      </p:sp>
      <p:sp>
        <p:nvSpPr>
          <p:cNvPr id="3" name="Content Placeholder 2">
            <a:extLst>
              <a:ext uri="{FF2B5EF4-FFF2-40B4-BE49-F238E27FC236}">
                <a16:creationId xmlns:a16="http://schemas.microsoft.com/office/drawing/2014/main" id="{FDB22D8C-793B-7636-13C5-462DC60054B0}"/>
              </a:ext>
            </a:extLst>
          </p:cNvPr>
          <p:cNvSpPr>
            <a:spLocks noGrp="1"/>
          </p:cNvSpPr>
          <p:nvPr>
            <p:ph idx="1"/>
          </p:nvPr>
        </p:nvSpPr>
        <p:spPr/>
        <p:txBody>
          <a:bodyPr/>
          <a:lstStyle/>
          <a:p>
            <a:r>
              <a:rPr lang="en-IN" dirty="0"/>
              <a:t>In contrast, here are some things designed for occasional users:</a:t>
            </a:r>
          </a:p>
          <a:p>
            <a:pPr marL="0" indent="0">
              <a:buNone/>
            </a:pPr>
            <a:r>
              <a:rPr lang="en-IN" dirty="0"/>
              <a:t>	• Kiosks in tourist </a:t>
            </a:r>
            <a:r>
              <a:rPr lang="en-IN" dirty="0" err="1"/>
              <a:t>centers</a:t>
            </a:r>
            <a:r>
              <a:rPr lang="en-IN" dirty="0"/>
              <a:t> or museums</a:t>
            </a:r>
          </a:p>
          <a:p>
            <a:pPr marL="0" indent="0">
              <a:buNone/>
            </a:pPr>
            <a:r>
              <a:rPr lang="en-IN" dirty="0"/>
              <a:t>	• Windows or Mac OS controls for setting desktop backgrounds</a:t>
            </a:r>
          </a:p>
          <a:p>
            <a:pPr marL="0" indent="0">
              <a:buNone/>
            </a:pPr>
            <a:r>
              <a:rPr lang="en-IN" dirty="0"/>
              <a:t>	• Purchase pages for online stores</a:t>
            </a:r>
          </a:p>
          <a:p>
            <a:pPr marL="0" indent="0">
              <a:buNone/>
            </a:pPr>
            <a:r>
              <a:rPr lang="en-IN" dirty="0"/>
              <a:t>	• Installation wizards</a:t>
            </a:r>
          </a:p>
          <a:p>
            <a:pPr marL="0" indent="0">
              <a:buNone/>
            </a:pPr>
            <a:r>
              <a:rPr lang="en-IN" dirty="0"/>
              <a:t>	• Automated teller machines</a:t>
            </a:r>
          </a:p>
          <a:p>
            <a:endParaRPr lang="en-IN" dirty="0"/>
          </a:p>
        </p:txBody>
      </p:sp>
    </p:spTree>
    <p:extLst>
      <p:ext uri="{BB962C8B-B14F-4D97-AF65-F5344CB8AC3E}">
        <p14:creationId xmlns:p14="http://schemas.microsoft.com/office/powerpoint/2010/main" val="861269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2BFCD-BE50-D08A-31EF-B8739AAE34BA}"/>
              </a:ext>
            </a:extLst>
          </p:cNvPr>
          <p:cNvSpPr>
            <a:spLocks noGrp="1"/>
          </p:cNvSpPr>
          <p:nvPr>
            <p:ph type="title"/>
          </p:nvPr>
        </p:nvSpPr>
        <p:spPr/>
        <p:txBody>
          <a:bodyPr/>
          <a:lstStyle/>
          <a:p>
            <a:r>
              <a:rPr lang="en-IN" b="1" dirty="0"/>
              <a:t>Users’ Motivation to Learn</a:t>
            </a:r>
            <a:endParaRPr lang="en-IN" dirty="0"/>
          </a:p>
        </p:txBody>
      </p:sp>
      <p:sp>
        <p:nvSpPr>
          <p:cNvPr id="3" name="Content Placeholder 2">
            <a:extLst>
              <a:ext uri="{FF2B5EF4-FFF2-40B4-BE49-F238E27FC236}">
                <a16:creationId xmlns:a16="http://schemas.microsoft.com/office/drawing/2014/main" id="{25776F05-5D6C-A7F3-527C-FF5BE4F454A4}"/>
              </a:ext>
            </a:extLst>
          </p:cNvPr>
          <p:cNvSpPr>
            <a:spLocks noGrp="1"/>
          </p:cNvSpPr>
          <p:nvPr>
            <p:ph idx="1"/>
          </p:nvPr>
        </p:nvSpPr>
        <p:spPr/>
        <p:txBody>
          <a:bodyPr/>
          <a:lstStyle/>
          <a:p>
            <a:r>
              <a:rPr lang="en-US" dirty="0"/>
              <a:t>The truth is that most applications fall into this middle ground. </a:t>
            </a:r>
          </a:p>
          <a:p>
            <a:r>
              <a:rPr lang="en-US" dirty="0"/>
              <a:t>They need to serve people on both ends adequately to help new users learn the tool (and satisfy their need for instant gratification), while enabling frequent-user intermediates to get things done smoothly.</a:t>
            </a:r>
            <a:endParaRPr lang="en-IN" dirty="0"/>
          </a:p>
        </p:txBody>
      </p:sp>
    </p:spTree>
    <p:extLst>
      <p:ext uri="{BB962C8B-B14F-4D97-AF65-F5344CB8AC3E}">
        <p14:creationId xmlns:p14="http://schemas.microsoft.com/office/powerpoint/2010/main" val="2845840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00D4C-3342-023E-6919-AF8A87170312}"/>
              </a:ext>
            </a:extLst>
          </p:cNvPr>
          <p:cNvSpPr>
            <a:spLocks noGrp="1"/>
          </p:cNvSpPr>
          <p:nvPr>
            <p:ph type="title"/>
          </p:nvPr>
        </p:nvSpPr>
        <p:spPr/>
        <p:txBody>
          <a:bodyPr>
            <a:normAutofit/>
          </a:bodyPr>
          <a:lstStyle/>
          <a:p>
            <a:r>
              <a:rPr lang="en-IN" sz="4800" b="1" dirty="0"/>
              <a:t>The Patterns</a:t>
            </a:r>
          </a:p>
        </p:txBody>
      </p:sp>
      <p:sp>
        <p:nvSpPr>
          <p:cNvPr id="3" name="Content Placeholder 2">
            <a:extLst>
              <a:ext uri="{FF2B5EF4-FFF2-40B4-BE49-F238E27FC236}">
                <a16:creationId xmlns:a16="http://schemas.microsoft.com/office/drawing/2014/main" id="{7F6B26B4-91CF-A734-25DA-BAD62BE89BC2}"/>
              </a:ext>
            </a:extLst>
          </p:cNvPr>
          <p:cNvSpPr>
            <a:spLocks noGrp="1"/>
          </p:cNvSpPr>
          <p:nvPr>
            <p:ph idx="1"/>
          </p:nvPr>
        </p:nvSpPr>
        <p:spPr/>
        <p:txBody>
          <a:bodyPr>
            <a:normAutofit fontScale="92500"/>
          </a:bodyPr>
          <a:lstStyle/>
          <a:p>
            <a:pPr algn="just"/>
            <a:r>
              <a:rPr lang="en-US" dirty="0"/>
              <a:t>Even though individuals are unique, people behave predictably.</a:t>
            </a:r>
          </a:p>
          <a:p>
            <a:pPr algn="just"/>
            <a:r>
              <a:rPr lang="en-US" dirty="0"/>
              <a:t>Designers and researchers have spent years doing site visits and observing users to understand how they think and act.</a:t>
            </a:r>
          </a:p>
          <a:p>
            <a:pPr algn="just"/>
            <a:r>
              <a:rPr lang="en-US" dirty="0"/>
              <a:t>When you watch people using your software or engaging in activities that the new software supports, you'll notice certain behavioral patterns. </a:t>
            </a:r>
          </a:p>
          <a:p>
            <a:pPr algn="just"/>
            <a:r>
              <a:rPr lang="en-US" dirty="0"/>
              <a:t>These patterns are commonly observed in user studies.</a:t>
            </a:r>
          </a:p>
          <a:p>
            <a:r>
              <a:rPr lang="en-US" dirty="0">
                <a:latin typeface="Times New Roman" panose="02020603050405020304" charset="0"/>
                <a:cs typeface="Times New Roman" panose="02020603050405020304" charset="0"/>
              </a:rPr>
              <a:t>User behavior refers to the way users interact with your app and its features. </a:t>
            </a:r>
          </a:p>
          <a:p>
            <a:r>
              <a:rPr lang="en-IN" altLang="en-US" dirty="0">
                <a:latin typeface="Times New Roman" panose="02020603050405020304" charset="0"/>
                <a:cs typeface="Times New Roman" panose="02020603050405020304" charset="0"/>
              </a:rPr>
              <a:t>U</a:t>
            </a:r>
            <a:r>
              <a:rPr lang="en-US" dirty="0">
                <a:latin typeface="Times New Roman" panose="02020603050405020304" charset="0"/>
                <a:cs typeface="Times New Roman" panose="02020603050405020304" charset="0"/>
              </a:rPr>
              <a:t>ser behavior patterns are common behaviors people exhibit when interacting with a product’s user interface (UI).</a:t>
            </a:r>
          </a:p>
          <a:p>
            <a:pPr algn="just"/>
            <a:endParaRPr lang="en-IN" dirty="0"/>
          </a:p>
        </p:txBody>
      </p:sp>
    </p:spTree>
    <p:extLst>
      <p:ext uri="{BB962C8B-B14F-4D97-AF65-F5344CB8AC3E}">
        <p14:creationId xmlns:p14="http://schemas.microsoft.com/office/powerpoint/2010/main" val="4438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82D64-07DC-F372-1180-2CEAA7A0E76E}"/>
              </a:ext>
            </a:extLst>
          </p:cNvPr>
          <p:cNvSpPr>
            <a:spLocks noGrp="1"/>
          </p:cNvSpPr>
          <p:nvPr>
            <p:ph type="title"/>
          </p:nvPr>
        </p:nvSpPr>
        <p:spPr/>
        <p:txBody>
          <a:bodyPr/>
          <a:lstStyle/>
          <a:p>
            <a:r>
              <a:rPr lang="en-IN" sz="4400" b="1" dirty="0"/>
              <a:t>The Patterns</a:t>
            </a:r>
            <a:endParaRPr lang="en-IN" dirty="0"/>
          </a:p>
        </p:txBody>
      </p:sp>
      <p:sp>
        <p:nvSpPr>
          <p:cNvPr id="3" name="Content Placeholder 2">
            <a:extLst>
              <a:ext uri="{FF2B5EF4-FFF2-40B4-BE49-F238E27FC236}">
                <a16:creationId xmlns:a16="http://schemas.microsoft.com/office/drawing/2014/main" id="{1D61C8CE-00EB-0D94-02DD-470FBD2FCD81}"/>
              </a:ext>
            </a:extLst>
          </p:cNvPr>
          <p:cNvSpPr>
            <a:spLocks noGrp="1"/>
          </p:cNvSpPr>
          <p:nvPr>
            <p:ph idx="1"/>
          </p:nvPr>
        </p:nvSpPr>
        <p:spPr/>
        <p:txBody>
          <a:bodyPr>
            <a:normAutofit/>
          </a:bodyPr>
          <a:lstStyle/>
          <a:p>
            <a:endParaRPr lang="en-US" dirty="0"/>
          </a:p>
          <a:p>
            <a:r>
              <a:rPr lang="en-US" dirty="0"/>
              <a:t>Creating an interface that fits these user patterns helps them achieve their goals more effectively. </a:t>
            </a:r>
          </a:p>
          <a:p>
            <a:r>
              <a:rPr lang="en-US" dirty="0"/>
              <a:t>It's not just about the interface—it includes everything like how the software works, the features it offers, and the instructions</a:t>
            </a:r>
          </a:p>
          <a:p>
            <a:r>
              <a:rPr lang="en-US" dirty="0"/>
              <a:t> As a designer, you need to think about these aspects as much as anyone else </a:t>
            </a:r>
          </a:p>
        </p:txBody>
      </p:sp>
    </p:spTree>
    <p:extLst>
      <p:ext uri="{BB962C8B-B14F-4D97-AF65-F5344CB8AC3E}">
        <p14:creationId xmlns:p14="http://schemas.microsoft.com/office/powerpoint/2010/main" val="1948430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C667-7B5A-E293-430D-483F5A760035}"/>
              </a:ext>
            </a:extLst>
          </p:cNvPr>
          <p:cNvSpPr>
            <a:spLocks noGrp="1"/>
          </p:cNvSpPr>
          <p:nvPr>
            <p:ph type="title"/>
          </p:nvPr>
        </p:nvSpPr>
        <p:spPr/>
        <p:txBody>
          <a:bodyPr/>
          <a:lstStyle/>
          <a:p>
            <a:r>
              <a:rPr lang="en-IN" b="1" dirty="0"/>
              <a:t>Safe Exploration</a:t>
            </a:r>
          </a:p>
        </p:txBody>
      </p:sp>
      <p:sp>
        <p:nvSpPr>
          <p:cNvPr id="3" name="Content Placeholder 2">
            <a:extLst>
              <a:ext uri="{FF2B5EF4-FFF2-40B4-BE49-F238E27FC236}">
                <a16:creationId xmlns:a16="http://schemas.microsoft.com/office/drawing/2014/main" id="{9E69F0AA-C450-AD20-BD8E-06C900C5222D}"/>
              </a:ext>
            </a:extLst>
          </p:cNvPr>
          <p:cNvSpPr>
            <a:spLocks noGrp="1"/>
          </p:cNvSpPr>
          <p:nvPr>
            <p:ph idx="1"/>
          </p:nvPr>
        </p:nvSpPr>
        <p:spPr/>
        <p:txBody>
          <a:bodyPr>
            <a:normAutofit lnSpcReduction="10000"/>
          </a:bodyPr>
          <a:lstStyle/>
          <a:p>
            <a:pPr marL="0" indent="0">
              <a:buNone/>
            </a:pPr>
            <a:r>
              <a:rPr lang="en-US" b="1" dirty="0"/>
              <a:t>Let user explore without getting into trouble. Support functions like “undo” and “go back”. Provide warnings about and before destructive actions.</a:t>
            </a:r>
          </a:p>
          <a:p>
            <a:pPr marL="0" indent="0">
              <a:buNone/>
            </a:pPr>
            <a:r>
              <a:rPr lang="en-US" dirty="0"/>
              <a:t>Good software allows people to try something unfamiliar, back out, and try something else, all without stress.</a:t>
            </a:r>
          </a:p>
          <a:p>
            <a:pPr marL="0" indent="0">
              <a:buNone/>
            </a:pPr>
            <a:r>
              <a:rPr lang="en-US" dirty="0"/>
              <a:t>Even minor inconveniences can stop people from trying things.</a:t>
            </a:r>
          </a:p>
          <a:p>
            <a:pPr marL="0" indent="0">
              <a:buNone/>
            </a:pPr>
            <a:r>
              <a:rPr lang="en-US" dirty="0"/>
              <a:t>Things like closing pop-ups, redoing lost work, or muting unexpected loud music on a website can be frustrating.</a:t>
            </a:r>
          </a:p>
          <a:p>
            <a:pPr marL="0" indent="0">
              <a:buNone/>
            </a:pPr>
            <a:r>
              <a:rPr lang="en-US" dirty="0"/>
              <a:t>When designing software, give users lots of ways to explore without hassle or cost.</a:t>
            </a:r>
            <a:endParaRPr lang="en-IN" dirty="0"/>
          </a:p>
        </p:txBody>
      </p:sp>
    </p:spTree>
    <p:extLst>
      <p:ext uri="{BB962C8B-B14F-4D97-AF65-F5344CB8AC3E}">
        <p14:creationId xmlns:p14="http://schemas.microsoft.com/office/powerpoint/2010/main" val="3649530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0971F-D97C-29BE-02D3-D63A94905014}"/>
              </a:ext>
            </a:extLst>
          </p:cNvPr>
          <p:cNvSpPr>
            <a:spLocks noGrp="1"/>
          </p:cNvSpPr>
          <p:nvPr>
            <p:ph type="title"/>
          </p:nvPr>
        </p:nvSpPr>
        <p:spPr/>
        <p:txBody>
          <a:bodyPr/>
          <a:lstStyle/>
          <a:p>
            <a:r>
              <a:rPr lang="en-IN" b="1" dirty="0"/>
              <a:t>Safe Exploration</a:t>
            </a:r>
            <a:endParaRPr lang="en-IN" dirty="0"/>
          </a:p>
        </p:txBody>
      </p:sp>
      <p:sp>
        <p:nvSpPr>
          <p:cNvPr id="3" name="Content Placeholder 2">
            <a:extLst>
              <a:ext uri="{FF2B5EF4-FFF2-40B4-BE49-F238E27FC236}">
                <a16:creationId xmlns:a16="http://schemas.microsoft.com/office/drawing/2014/main" id="{9F48CE16-7A2D-C40F-4B47-06D6BB219126}"/>
              </a:ext>
            </a:extLst>
          </p:cNvPr>
          <p:cNvSpPr>
            <a:spLocks noGrp="1"/>
          </p:cNvSpPr>
          <p:nvPr>
            <p:ph idx="1"/>
          </p:nvPr>
        </p:nvSpPr>
        <p:spPr/>
        <p:txBody>
          <a:bodyPr>
            <a:normAutofit fontScale="92500" lnSpcReduction="10000"/>
          </a:bodyPr>
          <a:lstStyle/>
          <a:p>
            <a:pPr marL="0" indent="0">
              <a:buNone/>
            </a:pPr>
            <a:r>
              <a:rPr lang="en-US" b="1" dirty="0"/>
              <a:t>Design Strategies</a:t>
            </a:r>
            <a:r>
              <a:rPr lang="en-US" dirty="0"/>
              <a:t>:</a:t>
            </a:r>
          </a:p>
          <a:p>
            <a:pPr marL="457200" lvl="1" indent="-457200">
              <a:lnSpc>
                <a:spcPct val="110000"/>
              </a:lnSpc>
              <a:spcBef>
                <a:spcPts val="1000"/>
              </a:spcBef>
            </a:pPr>
            <a:r>
              <a:rPr lang="en-US" sz="3000" b="1" dirty="0"/>
              <a:t>Undo Options</a:t>
            </a:r>
            <a:r>
              <a:rPr lang="en-US" sz="3000" dirty="0"/>
              <a:t>: Provide clear and simple ways to reverse actions.</a:t>
            </a:r>
          </a:p>
          <a:p>
            <a:pPr marL="457200" lvl="1" indent="-457200">
              <a:lnSpc>
                <a:spcPct val="110000"/>
              </a:lnSpc>
              <a:spcBef>
                <a:spcPts val="1000"/>
              </a:spcBef>
            </a:pPr>
            <a:r>
              <a:rPr lang="en-US" sz="3000" b="1" dirty="0"/>
              <a:t>Confirmation Prompts</a:t>
            </a:r>
            <a:r>
              <a:rPr lang="en-US" sz="3000" dirty="0"/>
              <a:t>: Use prompts to confirm important or potentially harmful actions.</a:t>
            </a:r>
          </a:p>
          <a:p>
            <a:pPr marL="457200" lvl="1" indent="-457200">
              <a:lnSpc>
                <a:spcPct val="110000"/>
              </a:lnSpc>
              <a:spcBef>
                <a:spcPts val="1000"/>
              </a:spcBef>
            </a:pPr>
            <a:r>
              <a:rPr lang="en-US" sz="3000" b="1" dirty="0"/>
              <a:t>Non-destructive Actions: </a:t>
            </a:r>
            <a:r>
              <a:rPr lang="en-US" sz="3000" dirty="0"/>
              <a:t>Ensure that exploring options does not result in data loss or major disruptions.</a:t>
            </a:r>
          </a:p>
          <a:p>
            <a:r>
              <a:rPr lang="en-US" dirty="0"/>
              <a:t>Designing with safe exploration in mind helps users feel confident while interacting with the interface and encourages them to fully explore its features.</a:t>
            </a:r>
          </a:p>
        </p:txBody>
      </p:sp>
    </p:spTree>
    <p:extLst>
      <p:ext uri="{BB962C8B-B14F-4D97-AF65-F5344CB8AC3E}">
        <p14:creationId xmlns:p14="http://schemas.microsoft.com/office/powerpoint/2010/main" val="1055919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A877B-71C2-2ABF-7B51-8C965822EC62}"/>
              </a:ext>
            </a:extLst>
          </p:cNvPr>
          <p:cNvSpPr>
            <a:spLocks noGrp="1"/>
          </p:cNvSpPr>
          <p:nvPr>
            <p:ph type="title"/>
          </p:nvPr>
        </p:nvSpPr>
        <p:spPr/>
        <p:txBody>
          <a:bodyPr/>
          <a:lstStyle/>
          <a:p>
            <a:r>
              <a:rPr lang="en-IN" b="1" dirty="0"/>
              <a:t>Safe Exploration</a:t>
            </a:r>
            <a:endParaRPr lang="en-IN" dirty="0"/>
          </a:p>
        </p:txBody>
      </p:sp>
      <p:sp>
        <p:nvSpPr>
          <p:cNvPr id="3" name="Content Placeholder 2">
            <a:extLst>
              <a:ext uri="{FF2B5EF4-FFF2-40B4-BE49-F238E27FC236}">
                <a16:creationId xmlns:a16="http://schemas.microsoft.com/office/drawing/2014/main" id="{8822F6EC-8088-6319-E21A-F5DC2D741D5E}"/>
              </a:ext>
            </a:extLst>
          </p:cNvPr>
          <p:cNvSpPr>
            <a:spLocks noGrp="1"/>
          </p:cNvSpPr>
          <p:nvPr>
            <p:ph idx="1"/>
          </p:nvPr>
        </p:nvSpPr>
        <p:spPr/>
        <p:txBody>
          <a:bodyPr>
            <a:normAutofit fontScale="92500"/>
          </a:bodyPr>
          <a:lstStyle/>
          <a:p>
            <a:pPr marL="0" indent="0">
              <a:buNone/>
            </a:pPr>
            <a:r>
              <a:rPr lang="en-US" dirty="0"/>
              <a:t>This pattern encompasses several of the most effective usability guidelines, based on research, as identified by usability expert Jakob Nielsen:</a:t>
            </a:r>
            <a:r>
              <a:rPr lang="en-US" baseline="30000" dirty="0">
                <a:hlinkClick r:id="rId2"/>
              </a:rPr>
              <a:t>2</a:t>
            </a:r>
            <a:endParaRPr lang="en-US" dirty="0"/>
          </a:p>
          <a:p>
            <a:pPr>
              <a:buFont typeface="Wingdings" panose="05000000000000000000" pitchFamily="2" charset="2"/>
              <a:buChar char="Ø"/>
            </a:pPr>
            <a:r>
              <a:rPr lang="en-US" dirty="0"/>
              <a:t>Visibility of system status</a:t>
            </a:r>
          </a:p>
          <a:p>
            <a:pPr>
              <a:buFont typeface="Wingdings" panose="05000000000000000000" pitchFamily="2" charset="2"/>
              <a:buChar char="Ø"/>
            </a:pPr>
            <a:r>
              <a:rPr lang="en-US" dirty="0"/>
              <a:t>Match between the system and the real world</a:t>
            </a:r>
          </a:p>
          <a:p>
            <a:pPr>
              <a:buFont typeface="Wingdings" panose="05000000000000000000" pitchFamily="2" charset="2"/>
              <a:buChar char="Ø"/>
            </a:pPr>
            <a:r>
              <a:rPr lang="en-US" dirty="0"/>
              <a:t>User control and freedom</a:t>
            </a:r>
          </a:p>
          <a:p>
            <a:pPr marL="0" indent="0">
              <a:buNone/>
            </a:pPr>
            <a:r>
              <a:rPr lang="en-US" b="1" dirty="0"/>
              <a:t>Example</a:t>
            </a:r>
          </a:p>
          <a:p>
            <a:r>
              <a:rPr lang="en-US" dirty="0"/>
              <a:t>A photographer tries out a few image filters in an image-processing application. He then decides he doesn’t like the results, and clicks Undo a few times to get back to where he was. Then he tries another filter, and another, each time being able to back out of what he did</a:t>
            </a:r>
            <a:endParaRPr lang="en-IN" dirty="0"/>
          </a:p>
          <a:p>
            <a:pPr marL="0" indent="0">
              <a:buNone/>
            </a:pPr>
            <a:endParaRPr lang="en-US" dirty="0"/>
          </a:p>
          <a:p>
            <a:endParaRPr lang="en-IN" dirty="0"/>
          </a:p>
        </p:txBody>
      </p:sp>
    </p:spTree>
    <p:extLst>
      <p:ext uri="{BB962C8B-B14F-4D97-AF65-F5344CB8AC3E}">
        <p14:creationId xmlns:p14="http://schemas.microsoft.com/office/powerpoint/2010/main" val="560675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32151-92F0-5E92-1776-65B88FDCAF27}"/>
              </a:ext>
            </a:extLst>
          </p:cNvPr>
          <p:cNvSpPr>
            <a:spLocks noGrp="1"/>
          </p:cNvSpPr>
          <p:nvPr>
            <p:ph type="title"/>
          </p:nvPr>
        </p:nvSpPr>
        <p:spPr/>
        <p:txBody>
          <a:bodyPr/>
          <a:lstStyle/>
          <a:p>
            <a:r>
              <a:rPr lang="en-IN" b="1" dirty="0"/>
              <a:t>Instant Gratification</a:t>
            </a:r>
          </a:p>
        </p:txBody>
      </p:sp>
      <p:sp>
        <p:nvSpPr>
          <p:cNvPr id="3" name="Content Placeholder 2">
            <a:extLst>
              <a:ext uri="{FF2B5EF4-FFF2-40B4-BE49-F238E27FC236}">
                <a16:creationId xmlns:a16="http://schemas.microsoft.com/office/drawing/2014/main" id="{9C9AE178-6EA7-6FF6-49CF-B19E92E11A9A}"/>
              </a:ext>
            </a:extLst>
          </p:cNvPr>
          <p:cNvSpPr>
            <a:spLocks noGrp="1"/>
          </p:cNvSpPr>
          <p:nvPr>
            <p:ph idx="1"/>
          </p:nvPr>
        </p:nvSpPr>
        <p:spPr>
          <a:xfrm>
            <a:off x="838200" y="1825625"/>
            <a:ext cx="10515600" cy="4667250"/>
          </a:xfrm>
        </p:spPr>
        <p:txBody>
          <a:bodyPr>
            <a:normAutofit fontScale="92500" lnSpcReduction="20000"/>
          </a:bodyPr>
          <a:lstStyle/>
          <a:p>
            <a:pPr marL="0" indent="0">
              <a:buNone/>
            </a:pPr>
            <a:r>
              <a:rPr lang="en-US" b="1" dirty="0"/>
              <a:t>I want to accomplish something now, not later.</a:t>
            </a:r>
          </a:p>
          <a:p>
            <a:pPr marL="0" indent="0">
              <a:buNone/>
            </a:pPr>
            <a:r>
              <a:rPr lang="en-US" dirty="0"/>
              <a:t>Instant gratification in UIST refers to the user’s desire for immediate rewards or feedback when interacting with a system or interface.</a:t>
            </a:r>
            <a:endParaRPr lang="en-US" b="1" dirty="0"/>
          </a:p>
          <a:p>
            <a:r>
              <a:rPr lang="en-US" dirty="0"/>
              <a:t>If someone starts using an application and gets a “success experience” within the first few seconds, that’s gratifying! He’ll be more likely to keep using it, even if it gets harder later.</a:t>
            </a:r>
          </a:p>
          <a:p>
            <a:r>
              <a:rPr lang="en-US" dirty="0"/>
              <a:t>They will feel more confident in the application, and more confident in themselves, than if it had taken a while to figure things out.</a:t>
            </a:r>
          </a:p>
          <a:p>
            <a:pPr marL="0" indent="0">
              <a:buNone/>
            </a:pPr>
            <a:r>
              <a:rPr lang="en-US" b="1" dirty="0"/>
              <a:t>Importance</a:t>
            </a:r>
            <a:r>
              <a:rPr lang="en-US" dirty="0"/>
              <a:t>:</a:t>
            </a:r>
          </a:p>
          <a:p>
            <a:pPr>
              <a:buFont typeface="Arial" panose="020B0604020202020204" pitchFamily="34" charset="0"/>
              <a:buChar char="•"/>
            </a:pPr>
            <a:r>
              <a:rPr lang="en-US" b="1" dirty="0"/>
              <a:t>User Satisfaction</a:t>
            </a:r>
            <a:r>
              <a:rPr lang="en-US" dirty="0"/>
              <a:t>: Providing quick responses and results enhances the user experience and keeps users engaged.</a:t>
            </a:r>
          </a:p>
          <a:p>
            <a:pPr>
              <a:buFont typeface="Arial" panose="020B0604020202020204" pitchFamily="34" charset="0"/>
              <a:buChar char="•"/>
            </a:pPr>
            <a:r>
              <a:rPr lang="en-US" b="1" dirty="0"/>
              <a:t>Efficiency</a:t>
            </a:r>
            <a:r>
              <a:rPr lang="en-US" dirty="0"/>
              <a:t>: Users prefer interfaces that offer immediate feedback, which helps them feel productive and reduces frustration.</a:t>
            </a:r>
          </a:p>
          <a:p>
            <a:endParaRPr lang="en-US" dirty="0"/>
          </a:p>
        </p:txBody>
      </p:sp>
    </p:spTree>
    <p:extLst>
      <p:ext uri="{BB962C8B-B14F-4D97-AF65-F5344CB8AC3E}">
        <p14:creationId xmlns:p14="http://schemas.microsoft.com/office/powerpoint/2010/main" val="33738707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EAE85-1AD9-91CF-0606-AE23A7B905A5}"/>
              </a:ext>
            </a:extLst>
          </p:cNvPr>
          <p:cNvSpPr>
            <a:spLocks noGrp="1"/>
          </p:cNvSpPr>
          <p:nvPr>
            <p:ph type="title"/>
          </p:nvPr>
        </p:nvSpPr>
        <p:spPr/>
        <p:txBody>
          <a:bodyPr/>
          <a:lstStyle/>
          <a:p>
            <a:r>
              <a:rPr lang="en-IN" b="1" dirty="0"/>
              <a:t>Instant Gratification</a:t>
            </a:r>
            <a:endParaRPr lang="en-IN" dirty="0"/>
          </a:p>
        </p:txBody>
      </p:sp>
      <p:sp>
        <p:nvSpPr>
          <p:cNvPr id="3" name="Content Placeholder 2">
            <a:extLst>
              <a:ext uri="{FF2B5EF4-FFF2-40B4-BE49-F238E27FC236}">
                <a16:creationId xmlns:a16="http://schemas.microsoft.com/office/drawing/2014/main" id="{C06BC448-089E-359B-3216-176D4C151BA9}"/>
              </a:ext>
            </a:extLst>
          </p:cNvPr>
          <p:cNvSpPr>
            <a:spLocks noGrp="1"/>
          </p:cNvSpPr>
          <p:nvPr>
            <p:ph idx="1"/>
          </p:nvPr>
        </p:nvSpPr>
        <p:spPr/>
        <p:txBody>
          <a:bodyPr>
            <a:normAutofit fontScale="92500"/>
          </a:bodyPr>
          <a:lstStyle/>
          <a:p>
            <a:pPr marL="0" indent="0">
              <a:buNone/>
            </a:pPr>
            <a:r>
              <a:rPr lang="en-US" b="1" dirty="0"/>
              <a:t>Design Strategies</a:t>
            </a:r>
            <a:r>
              <a:rPr lang="en-US" dirty="0"/>
              <a:t>:</a:t>
            </a:r>
          </a:p>
          <a:p>
            <a:pPr>
              <a:buFont typeface="Arial" panose="020B0604020202020204" pitchFamily="34" charset="0"/>
              <a:buChar char="•"/>
            </a:pPr>
            <a:r>
              <a:rPr lang="en-US" b="1" dirty="0"/>
              <a:t>Responsive Feedback</a:t>
            </a:r>
            <a:r>
              <a:rPr lang="en-US" dirty="0"/>
              <a:t>: Ensure that the interface provides immediate visual or auditory feedback for user actions.</a:t>
            </a:r>
          </a:p>
          <a:p>
            <a:pPr>
              <a:buFont typeface="Arial" panose="020B0604020202020204" pitchFamily="34" charset="0"/>
              <a:buChar char="•"/>
            </a:pPr>
            <a:r>
              <a:rPr lang="en-US" b="1" dirty="0"/>
              <a:t>Fast Loading Times</a:t>
            </a:r>
            <a:r>
              <a:rPr lang="en-US" dirty="0"/>
              <a:t>: Optimize performance to minimize delays in processing and displaying results.</a:t>
            </a:r>
          </a:p>
          <a:p>
            <a:r>
              <a:rPr lang="en-US" b="1" dirty="0"/>
              <a:t>Streamlined Processes</a:t>
            </a:r>
            <a:r>
              <a:rPr lang="en-US" dirty="0"/>
              <a:t>: Simplify tasks to reduce waiting times and provide instant outcomes. Avoid placing introductory functions behind barriers like registrations, long instructions, slow-loading screens, or advertisements. </a:t>
            </a:r>
          </a:p>
          <a:p>
            <a:pPr marL="0" indent="0">
              <a:buNone/>
            </a:pPr>
            <a:r>
              <a:rPr lang="en-US" dirty="0"/>
              <a:t>Designing for instant gratification makes the experience more enjoyable and user-friendly by giving users quick and satisfying responses.</a:t>
            </a:r>
          </a:p>
          <a:p>
            <a:endParaRPr lang="en-IN" dirty="0"/>
          </a:p>
        </p:txBody>
      </p:sp>
    </p:spTree>
    <p:extLst>
      <p:ext uri="{BB962C8B-B14F-4D97-AF65-F5344CB8AC3E}">
        <p14:creationId xmlns:p14="http://schemas.microsoft.com/office/powerpoint/2010/main" val="1815295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C9C5-3BA3-AF32-0C04-28948955B94E}"/>
              </a:ext>
            </a:extLst>
          </p:cNvPr>
          <p:cNvSpPr>
            <a:spLocks noGrp="1"/>
          </p:cNvSpPr>
          <p:nvPr>
            <p:ph type="title"/>
          </p:nvPr>
        </p:nvSpPr>
        <p:spPr/>
        <p:txBody>
          <a:bodyPr/>
          <a:lstStyle/>
          <a:p>
            <a:r>
              <a:rPr lang="en-IN" b="1" dirty="0"/>
              <a:t>Satisficing</a:t>
            </a:r>
          </a:p>
        </p:txBody>
      </p:sp>
      <p:sp>
        <p:nvSpPr>
          <p:cNvPr id="3" name="Content Placeholder 2">
            <a:extLst>
              <a:ext uri="{FF2B5EF4-FFF2-40B4-BE49-F238E27FC236}">
                <a16:creationId xmlns:a16="http://schemas.microsoft.com/office/drawing/2014/main" id="{7EE97A3E-03A2-36E9-7671-595009FF9AB0}"/>
              </a:ext>
            </a:extLst>
          </p:cNvPr>
          <p:cNvSpPr>
            <a:spLocks noGrp="1"/>
          </p:cNvSpPr>
          <p:nvPr>
            <p:ph idx="1"/>
          </p:nvPr>
        </p:nvSpPr>
        <p:spPr/>
        <p:txBody>
          <a:bodyPr>
            <a:normAutofit/>
          </a:bodyPr>
          <a:lstStyle/>
          <a:p>
            <a:pPr marL="0" indent="0">
              <a:buNone/>
            </a:pPr>
            <a:r>
              <a:rPr lang="en-US" b="1" dirty="0"/>
              <a:t>This is good enough. I don’t want to spend more time learning to do it better.”</a:t>
            </a:r>
          </a:p>
          <a:p>
            <a:pPr marL="0" indent="0">
              <a:buNone/>
            </a:pPr>
            <a:r>
              <a:rPr lang="en-US" dirty="0"/>
              <a:t>Satisficing is a decision-making strategy where users select the first option that meets their needs sufficiently, rather than searching for the optimal or perfect choice.</a:t>
            </a:r>
            <a:endParaRPr lang="en-US" b="1" dirty="0"/>
          </a:p>
          <a:p>
            <a:pPr marL="0" indent="0">
              <a:buNone/>
            </a:pPr>
            <a:r>
              <a:rPr lang="en-US" b="1" dirty="0"/>
              <a:t>User Behavior</a:t>
            </a:r>
            <a:r>
              <a:rPr lang="en-US" dirty="0"/>
              <a:t>: Users often choose the first option that seems good enough rather than exploring all possibilities.</a:t>
            </a:r>
          </a:p>
          <a:p>
            <a:pPr marL="0" indent="0">
              <a:buNone/>
            </a:pPr>
            <a:r>
              <a:rPr lang="en-US" b="1" dirty="0"/>
              <a:t>Don’t Make Me Think , people don’t like to think any more than they have to it’s work!</a:t>
            </a:r>
          </a:p>
        </p:txBody>
      </p:sp>
    </p:spTree>
    <p:extLst>
      <p:ext uri="{BB962C8B-B14F-4D97-AF65-F5344CB8AC3E}">
        <p14:creationId xmlns:p14="http://schemas.microsoft.com/office/powerpoint/2010/main" val="1554360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B354C-2C1B-C7AE-B053-FF44FCE77AC5}"/>
              </a:ext>
            </a:extLst>
          </p:cNvPr>
          <p:cNvSpPr>
            <a:spLocks noGrp="1"/>
          </p:cNvSpPr>
          <p:nvPr>
            <p:ph type="title"/>
          </p:nvPr>
        </p:nvSpPr>
        <p:spPr/>
        <p:txBody>
          <a:bodyPr/>
          <a:lstStyle/>
          <a:p>
            <a:r>
              <a:rPr lang="en-IN" b="1" dirty="0"/>
              <a:t>Satisficing</a:t>
            </a:r>
            <a:endParaRPr lang="en-IN" dirty="0"/>
          </a:p>
        </p:txBody>
      </p:sp>
      <p:sp>
        <p:nvSpPr>
          <p:cNvPr id="3" name="Content Placeholder 2">
            <a:extLst>
              <a:ext uri="{FF2B5EF4-FFF2-40B4-BE49-F238E27FC236}">
                <a16:creationId xmlns:a16="http://schemas.microsoft.com/office/drawing/2014/main" id="{E5FAF894-FE94-60F7-0105-3FACACE84E6A}"/>
              </a:ext>
            </a:extLst>
          </p:cNvPr>
          <p:cNvSpPr>
            <a:spLocks noGrp="1"/>
          </p:cNvSpPr>
          <p:nvPr>
            <p:ph idx="1"/>
          </p:nvPr>
        </p:nvSpPr>
        <p:spPr>
          <a:xfrm>
            <a:off x="838200" y="1427747"/>
            <a:ext cx="10515600" cy="4749216"/>
          </a:xfrm>
        </p:spPr>
        <p:txBody>
          <a:bodyPr>
            <a:normAutofit/>
          </a:bodyPr>
          <a:lstStyle/>
          <a:p>
            <a:pPr>
              <a:buFont typeface="Wingdings" panose="05000000000000000000" pitchFamily="2" charset="2"/>
              <a:buChar char="Ø"/>
            </a:pPr>
            <a:endParaRPr lang="en-US" dirty="0"/>
          </a:p>
          <a:p>
            <a:pPr marL="0" indent="0">
              <a:buNone/>
            </a:pPr>
            <a:r>
              <a:rPr lang="en-US" b="1" dirty="0"/>
              <a:t>This means several things for designers(</a:t>
            </a:r>
            <a:r>
              <a:rPr lang="en-IN" b="1" dirty="0"/>
              <a:t>Design Implications</a:t>
            </a:r>
            <a:r>
              <a:rPr lang="en-IN" dirty="0"/>
              <a:t>:</a:t>
            </a:r>
            <a:r>
              <a:rPr lang="en-US" b="1" dirty="0"/>
              <a:t>):</a:t>
            </a:r>
          </a:p>
          <a:p>
            <a:pPr>
              <a:buFont typeface="Wingdings" panose="05000000000000000000" pitchFamily="2" charset="2"/>
              <a:buChar char="Ø"/>
            </a:pPr>
            <a:r>
              <a:rPr lang="en-US" dirty="0"/>
              <a:t>Give directions to user. </a:t>
            </a:r>
          </a:p>
          <a:p>
            <a:pPr>
              <a:buFont typeface="Wingdings" panose="05000000000000000000" pitchFamily="2" charset="2"/>
              <a:buChar char="Ø"/>
            </a:pPr>
            <a:r>
              <a:rPr lang="en-US" dirty="0"/>
              <a:t>Make labels short and easy to read.</a:t>
            </a:r>
          </a:p>
          <a:p>
            <a:pPr>
              <a:buFont typeface="Wingdings" panose="05000000000000000000" pitchFamily="2" charset="2"/>
              <a:buChar char="Ø"/>
            </a:pPr>
            <a:r>
              <a:rPr lang="en-US" dirty="0"/>
              <a:t> Use the layout of the interface to communicate meaning.</a:t>
            </a:r>
          </a:p>
          <a:p>
            <a:pPr>
              <a:buFont typeface="Wingdings" panose="05000000000000000000" pitchFamily="2" charset="2"/>
              <a:buChar char="Ø"/>
            </a:pPr>
            <a:r>
              <a:rPr lang="en-US" dirty="0"/>
              <a:t>Make it easy to move around the interface, especially for going back to where a wrong choice  might have been made.</a:t>
            </a:r>
          </a:p>
          <a:p>
            <a:pPr>
              <a:buFont typeface="Wingdings" panose="05000000000000000000" pitchFamily="2" charset="2"/>
              <a:buChar char="Ø"/>
            </a:pPr>
            <a:r>
              <a:rPr lang="en-US" dirty="0"/>
              <a:t>Keep cognitive load low. </a:t>
            </a:r>
          </a:p>
          <a:p>
            <a:pPr>
              <a:buFont typeface="Wingdings" panose="05000000000000000000" pitchFamily="2" charset="2"/>
              <a:buChar char="Ø"/>
            </a:pPr>
            <a:r>
              <a:rPr lang="en-US" dirty="0"/>
              <a:t>Make it hard to (learn to) do things wrong.</a:t>
            </a:r>
            <a:endParaRPr lang="en-US" b="1" dirty="0"/>
          </a:p>
          <a:p>
            <a:endParaRPr lang="en-IN" dirty="0"/>
          </a:p>
        </p:txBody>
      </p:sp>
    </p:spTree>
    <p:extLst>
      <p:ext uri="{BB962C8B-B14F-4D97-AF65-F5344CB8AC3E}">
        <p14:creationId xmlns:p14="http://schemas.microsoft.com/office/powerpoint/2010/main" val="20473849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54D82-AE65-6358-2DCC-2C369AA8AA52}"/>
              </a:ext>
            </a:extLst>
          </p:cNvPr>
          <p:cNvSpPr>
            <a:spLocks noGrp="1"/>
          </p:cNvSpPr>
          <p:nvPr>
            <p:ph type="title"/>
          </p:nvPr>
        </p:nvSpPr>
        <p:spPr>
          <a:xfrm>
            <a:off x="838200" y="365125"/>
            <a:ext cx="10515600" cy="1325563"/>
          </a:xfrm>
        </p:spPr>
        <p:txBody>
          <a:bodyPr/>
          <a:lstStyle/>
          <a:p>
            <a:r>
              <a:rPr lang="en-IN" dirty="0"/>
              <a:t>Satisficing</a:t>
            </a:r>
          </a:p>
        </p:txBody>
      </p:sp>
      <p:sp>
        <p:nvSpPr>
          <p:cNvPr id="3" name="Content Placeholder 2">
            <a:extLst>
              <a:ext uri="{FF2B5EF4-FFF2-40B4-BE49-F238E27FC236}">
                <a16:creationId xmlns:a16="http://schemas.microsoft.com/office/drawing/2014/main" id="{2F16B51A-107A-6F3F-CE10-D2D5BE967F29}"/>
              </a:ext>
            </a:extLst>
          </p:cNvPr>
          <p:cNvSpPr>
            <a:spLocks noGrp="1"/>
          </p:cNvSpPr>
          <p:nvPr>
            <p:ph idx="1"/>
          </p:nvPr>
        </p:nvSpPr>
        <p:spPr>
          <a:xfrm>
            <a:off x="838200" y="1825625"/>
            <a:ext cx="10515600" cy="4351338"/>
          </a:xfrm>
        </p:spPr>
        <p:txBody>
          <a:bodyPr/>
          <a:lstStyle/>
          <a:p>
            <a:r>
              <a:rPr lang="en-US" dirty="0"/>
              <a:t>The term satisficing is a combination of satisfying and sufficing, which is used it to describe the behavior of people in all kinds of economic and social situations.</a:t>
            </a:r>
          </a:p>
          <a:p>
            <a:endParaRPr lang="en-IN" dirty="0"/>
          </a:p>
        </p:txBody>
      </p:sp>
    </p:spTree>
    <p:extLst>
      <p:ext uri="{BB962C8B-B14F-4D97-AF65-F5344CB8AC3E}">
        <p14:creationId xmlns:p14="http://schemas.microsoft.com/office/powerpoint/2010/main" val="556773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8459E-18DA-F1BE-C159-827F700F47B3}"/>
              </a:ext>
            </a:extLst>
          </p:cNvPr>
          <p:cNvSpPr>
            <a:spLocks noGrp="1"/>
          </p:cNvSpPr>
          <p:nvPr>
            <p:ph type="title"/>
          </p:nvPr>
        </p:nvSpPr>
        <p:spPr/>
        <p:txBody>
          <a:bodyPr/>
          <a:lstStyle/>
          <a:p>
            <a:r>
              <a:rPr lang="en-IN" b="1" dirty="0"/>
              <a:t>Habituation</a:t>
            </a:r>
          </a:p>
        </p:txBody>
      </p:sp>
      <p:sp>
        <p:nvSpPr>
          <p:cNvPr id="3" name="Content Placeholder 2">
            <a:extLst>
              <a:ext uri="{FF2B5EF4-FFF2-40B4-BE49-F238E27FC236}">
                <a16:creationId xmlns:a16="http://schemas.microsoft.com/office/drawing/2014/main" id="{8AFBE204-1F80-DD8F-4B75-3A3DDF74B092}"/>
              </a:ext>
            </a:extLst>
          </p:cNvPr>
          <p:cNvSpPr>
            <a:spLocks noGrp="1"/>
          </p:cNvSpPr>
          <p:nvPr>
            <p:ph idx="1"/>
          </p:nvPr>
        </p:nvSpPr>
        <p:spPr/>
        <p:txBody>
          <a:bodyPr>
            <a:normAutofit/>
          </a:bodyPr>
          <a:lstStyle/>
          <a:p>
            <a:r>
              <a:rPr lang="en-US" dirty="0"/>
              <a:t>“</a:t>
            </a:r>
            <a:r>
              <a:rPr lang="en-US" b="1" dirty="0"/>
              <a:t>That gesture works everywhere else; why doesn’t it work here, too?”</a:t>
            </a:r>
          </a:p>
          <a:p>
            <a:r>
              <a:rPr lang="en-US" dirty="0"/>
              <a:t>Habituation refers to the process where users become familiar with certain actions or gestures in a user interface through repeated use.</a:t>
            </a:r>
          </a:p>
          <a:p>
            <a:pPr>
              <a:buFont typeface="Arial" panose="020B0604020202020204" pitchFamily="34" charset="0"/>
              <a:buChar char="•"/>
            </a:pPr>
            <a:r>
              <a:rPr lang="en-US" b="1" dirty="0"/>
              <a:t>Benefits</a:t>
            </a:r>
            <a:r>
              <a:rPr lang="en-US" dirty="0"/>
              <a:t>:</a:t>
            </a:r>
          </a:p>
          <a:p>
            <a:pPr marL="742950" lvl="1" indent="-285750">
              <a:buFont typeface="Arial" panose="020B0604020202020204" pitchFamily="34" charset="0"/>
              <a:buChar char="•"/>
            </a:pPr>
            <a:r>
              <a:rPr lang="en-US" b="1" dirty="0"/>
              <a:t>Expertise</a:t>
            </a:r>
            <a:r>
              <a:rPr lang="en-US" dirty="0"/>
              <a:t>: Users become more skilled and efficient with the tool.</a:t>
            </a:r>
          </a:p>
          <a:p>
            <a:pPr marL="742950" lvl="1" indent="-285750">
              <a:buFont typeface="Arial" panose="020B0604020202020204" pitchFamily="34" charset="0"/>
              <a:buChar char="•"/>
            </a:pPr>
            <a:r>
              <a:rPr lang="en-US" b="1" dirty="0"/>
              <a:t>Flow</a:t>
            </a:r>
            <a:r>
              <a:rPr lang="en-US" dirty="0"/>
              <a:t>: Helps users work smoothly without needing to think about every action.</a:t>
            </a:r>
          </a:p>
          <a:p>
            <a:endParaRPr lang="en-US" b="1" dirty="0"/>
          </a:p>
        </p:txBody>
      </p:sp>
    </p:spTree>
    <p:extLst>
      <p:ext uri="{BB962C8B-B14F-4D97-AF65-F5344CB8AC3E}">
        <p14:creationId xmlns:p14="http://schemas.microsoft.com/office/powerpoint/2010/main" val="4264590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A1D16-D73A-F578-6C28-DDB1C8EAB2A6}"/>
              </a:ext>
            </a:extLst>
          </p:cNvPr>
          <p:cNvSpPr>
            <a:spLocks noGrp="1"/>
          </p:cNvSpPr>
          <p:nvPr>
            <p:ph type="title"/>
          </p:nvPr>
        </p:nvSpPr>
        <p:spPr/>
        <p:txBody>
          <a:bodyPr/>
          <a:lstStyle/>
          <a:p>
            <a:r>
              <a:rPr lang="en-IN" b="1" dirty="0"/>
              <a:t>Habituation</a:t>
            </a:r>
            <a:endParaRPr lang="en-IN" dirty="0"/>
          </a:p>
        </p:txBody>
      </p:sp>
      <p:sp>
        <p:nvSpPr>
          <p:cNvPr id="3" name="Content Placeholder 2">
            <a:extLst>
              <a:ext uri="{FF2B5EF4-FFF2-40B4-BE49-F238E27FC236}">
                <a16:creationId xmlns:a16="http://schemas.microsoft.com/office/drawing/2014/main" id="{BD19A9BC-A21A-7134-4F8E-CA20AAB8431D}"/>
              </a:ext>
            </a:extLst>
          </p:cNvPr>
          <p:cNvSpPr>
            <a:spLocks noGrp="1"/>
          </p:cNvSpPr>
          <p:nvPr>
            <p:ph idx="1"/>
          </p:nvPr>
        </p:nvSpPr>
        <p:spPr/>
        <p:txBody>
          <a:bodyPr/>
          <a:lstStyle/>
          <a:p>
            <a:pPr>
              <a:buFont typeface="Arial" panose="020B0604020202020204" pitchFamily="34" charset="0"/>
              <a:buChar char="•"/>
            </a:pPr>
            <a:r>
              <a:rPr lang="en-US" b="1" dirty="0"/>
              <a:t>Risks</a:t>
            </a:r>
            <a:r>
              <a:rPr lang="en-US" dirty="0"/>
              <a:t>:</a:t>
            </a:r>
          </a:p>
          <a:p>
            <a:pPr marL="742950" lvl="1" indent="-285750">
              <a:buFont typeface="Arial" panose="020B0604020202020204" pitchFamily="34" charset="0"/>
              <a:buChar char="•"/>
            </a:pPr>
            <a:r>
              <a:rPr lang="en-US" b="1" dirty="0"/>
              <a:t>Unexpected Problems</a:t>
            </a:r>
            <a:r>
              <a:rPr lang="en-US" dirty="0"/>
              <a:t>: Users might rely on habitual gestures that don’t work in all situations.</a:t>
            </a:r>
          </a:p>
          <a:p>
            <a:pPr marL="742950" lvl="1" indent="-285750">
              <a:buFont typeface="Arial" panose="020B0604020202020204" pitchFamily="34" charset="0"/>
              <a:buChar char="•"/>
            </a:pPr>
            <a:r>
              <a:rPr lang="en-US" b="1" dirty="0"/>
              <a:t>Confusion</a:t>
            </a:r>
            <a:r>
              <a:rPr lang="en-US" dirty="0"/>
              <a:t>: If a habit doesn’t work or causes issues, users may be confused and need to figure out how to fix it or correct mistakes.</a:t>
            </a:r>
          </a:p>
          <a:p>
            <a:r>
              <a:rPr lang="en-US" dirty="0"/>
              <a:t>Understanding habituation helps in designing interfaces that support efficient use while minimizing potential problems.</a:t>
            </a:r>
          </a:p>
          <a:p>
            <a:endParaRPr lang="en-IN" dirty="0"/>
          </a:p>
        </p:txBody>
      </p:sp>
    </p:spTree>
    <p:extLst>
      <p:ext uri="{BB962C8B-B14F-4D97-AF65-F5344CB8AC3E}">
        <p14:creationId xmlns:p14="http://schemas.microsoft.com/office/powerpoint/2010/main" val="687307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54AF-E80C-B600-333E-D1E726B2DB9E}"/>
              </a:ext>
            </a:extLst>
          </p:cNvPr>
          <p:cNvSpPr>
            <a:spLocks noGrp="1"/>
          </p:cNvSpPr>
          <p:nvPr>
            <p:ph type="title"/>
          </p:nvPr>
        </p:nvSpPr>
        <p:spPr/>
        <p:txBody>
          <a:bodyPr/>
          <a:lstStyle/>
          <a:p>
            <a:r>
              <a:rPr lang="en-IN" b="1" dirty="0"/>
              <a:t>Streamlined Repetition</a:t>
            </a:r>
          </a:p>
        </p:txBody>
      </p:sp>
      <p:sp>
        <p:nvSpPr>
          <p:cNvPr id="3" name="Content Placeholder 2">
            <a:extLst>
              <a:ext uri="{FF2B5EF4-FFF2-40B4-BE49-F238E27FC236}">
                <a16:creationId xmlns:a16="http://schemas.microsoft.com/office/drawing/2014/main" id="{F9A6BC6E-03C5-514B-2B65-91848248CE68}"/>
              </a:ext>
            </a:extLst>
          </p:cNvPr>
          <p:cNvSpPr>
            <a:spLocks noGrp="1"/>
          </p:cNvSpPr>
          <p:nvPr>
            <p:ph idx="1"/>
          </p:nvPr>
        </p:nvSpPr>
        <p:spPr/>
        <p:txBody>
          <a:bodyPr>
            <a:normAutofit/>
          </a:bodyPr>
          <a:lstStyle/>
          <a:p>
            <a:pPr marL="0" indent="0">
              <a:buNone/>
            </a:pPr>
            <a:r>
              <a:rPr lang="en-US" dirty="0"/>
              <a:t>Streamlined repetition involves making repetitive tasks more efficient and less tedious by simplifying and automating them.</a:t>
            </a:r>
          </a:p>
          <a:p>
            <a:pPr marL="0" indent="0">
              <a:buNone/>
            </a:pPr>
            <a:r>
              <a:rPr lang="en-US" b="1" dirty="0"/>
              <a:t>Importance</a:t>
            </a:r>
            <a:r>
              <a:rPr lang="en-US" dirty="0"/>
              <a:t>:</a:t>
            </a:r>
          </a:p>
          <a:p>
            <a:pPr marL="742950" lvl="1" indent="-285750">
              <a:buFont typeface="Arial" panose="020B0604020202020204" pitchFamily="34" charset="0"/>
              <a:buChar char="•"/>
            </a:pPr>
            <a:r>
              <a:rPr lang="en-US" b="1" dirty="0"/>
              <a:t>Increases Efficiency</a:t>
            </a:r>
            <a:r>
              <a:rPr lang="en-US" dirty="0"/>
              <a:t>: Reduces the time and effort required to perform repeated actions.</a:t>
            </a:r>
          </a:p>
          <a:p>
            <a:pPr marL="742950" lvl="1" indent="-285750">
              <a:buFont typeface="Arial" panose="020B0604020202020204" pitchFamily="34" charset="0"/>
              <a:buChar char="•"/>
            </a:pPr>
            <a:r>
              <a:rPr lang="en-US" b="1" dirty="0"/>
              <a:t>Enhances User Experience</a:t>
            </a:r>
            <a:r>
              <a:rPr lang="en-US" dirty="0"/>
              <a:t>: Makes interactions smoother and less frustrating for users.</a:t>
            </a:r>
          </a:p>
          <a:p>
            <a:pPr marL="0" indent="0">
              <a:buNone/>
            </a:pPr>
            <a:endParaRPr lang="en-IN" dirty="0"/>
          </a:p>
        </p:txBody>
      </p:sp>
    </p:spTree>
    <p:extLst>
      <p:ext uri="{BB962C8B-B14F-4D97-AF65-F5344CB8AC3E}">
        <p14:creationId xmlns:p14="http://schemas.microsoft.com/office/powerpoint/2010/main" val="3992405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FF4F-6CCC-04FC-445D-478A47B8BD69}"/>
              </a:ext>
            </a:extLst>
          </p:cNvPr>
          <p:cNvSpPr>
            <a:spLocks noGrp="1"/>
          </p:cNvSpPr>
          <p:nvPr>
            <p:ph type="title"/>
          </p:nvPr>
        </p:nvSpPr>
        <p:spPr/>
        <p:txBody>
          <a:bodyPr/>
          <a:lstStyle/>
          <a:p>
            <a:r>
              <a:rPr lang="en-IN" b="1" dirty="0"/>
              <a:t>Streamlined Repetition</a:t>
            </a:r>
            <a:endParaRPr lang="en-IN" dirty="0"/>
          </a:p>
        </p:txBody>
      </p:sp>
      <p:sp>
        <p:nvSpPr>
          <p:cNvPr id="3" name="Content Placeholder 2">
            <a:extLst>
              <a:ext uri="{FF2B5EF4-FFF2-40B4-BE49-F238E27FC236}">
                <a16:creationId xmlns:a16="http://schemas.microsoft.com/office/drawing/2014/main" id="{BBAE1101-9F1D-86B7-7CF7-37BA8E27D5B8}"/>
              </a:ext>
            </a:extLst>
          </p:cNvPr>
          <p:cNvSpPr>
            <a:spLocks noGrp="1"/>
          </p:cNvSpPr>
          <p:nvPr>
            <p:ph idx="1"/>
          </p:nvPr>
        </p:nvSpPr>
        <p:spPr/>
        <p:txBody>
          <a:bodyPr/>
          <a:lstStyle/>
          <a:p>
            <a:pPr marL="0" indent="0">
              <a:buNone/>
            </a:pPr>
            <a:r>
              <a:rPr lang="en-US" b="1" dirty="0"/>
              <a:t>Design Strategies</a:t>
            </a:r>
            <a:r>
              <a:rPr lang="en-US" dirty="0"/>
              <a:t>:</a:t>
            </a:r>
          </a:p>
          <a:p>
            <a:pPr marL="742950" lvl="1" indent="-285750">
              <a:buFont typeface="Arial" panose="020B0604020202020204" pitchFamily="34" charset="0"/>
              <a:buChar char="•"/>
            </a:pPr>
            <a:r>
              <a:rPr lang="en-US" b="1" dirty="0"/>
              <a:t>Automate Tasks</a:t>
            </a:r>
            <a:r>
              <a:rPr lang="en-US" dirty="0"/>
              <a:t>: Implement features like shortcuts, macros, or automation tools to handle repetitive actions.</a:t>
            </a:r>
          </a:p>
          <a:p>
            <a:pPr marL="742950" lvl="1" indent="-285750">
              <a:buFont typeface="Arial" panose="020B0604020202020204" pitchFamily="34" charset="0"/>
              <a:buChar char="•"/>
            </a:pPr>
            <a:r>
              <a:rPr lang="en-US" b="1" dirty="0"/>
              <a:t>Consistent Design</a:t>
            </a:r>
            <a:r>
              <a:rPr lang="en-US" dirty="0"/>
              <a:t>: Use consistent layouts and controls to make repeated tasks easier to perform.</a:t>
            </a:r>
          </a:p>
          <a:p>
            <a:pPr marL="742950" lvl="1" indent="-285750">
              <a:buFont typeface="Arial" panose="020B0604020202020204" pitchFamily="34" charset="0"/>
              <a:buChar char="•"/>
            </a:pPr>
            <a:r>
              <a:rPr lang="en-US" b="1" dirty="0"/>
              <a:t>Provide Feedback</a:t>
            </a:r>
            <a:r>
              <a:rPr lang="en-US" dirty="0"/>
              <a:t>: Offer clear feedback for repeated actions to confirm that tasks are completed successfully.</a:t>
            </a:r>
          </a:p>
          <a:p>
            <a:pPr marL="0" indent="0">
              <a:buNone/>
            </a:pPr>
            <a:r>
              <a:rPr lang="en-US" dirty="0"/>
              <a:t>Designing for streamlined repetition helps users perform repetitive tasks more quickly and with less effort, improving overall efficiency and satisfaction.</a:t>
            </a:r>
          </a:p>
          <a:p>
            <a:endParaRPr lang="en-IN" dirty="0"/>
          </a:p>
        </p:txBody>
      </p:sp>
    </p:spTree>
    <p:extLst>
      <p:ext uri="{BB962C8B-B14F-4D97-AF65-F5344CB8AC3E}">
        <p14:creationId xmlns:p14="http://schemas.microsoft.com/office/powerpoint/2010/main" val="1556260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C6E9C-81CD-310E-3131-BD0D982B7DB4}"/>
              </a:ext>
            </a:extLst>
          </p:cNvPr>
          <p:cNvSpPr>
            <a:spLocks noGrp="1"/>
          </p:cNvSpPr>
          <p:nvPr>
            <p:ph type="title"/>
          </p:nvPr>
        </p:nvSpPr>
        <p:spPr/>
        <p:txBody>
          <a:bodyPr/>
          <a:lstStyle/>
          <a:p>
            <a:r>
              <a:rPr lang="en-IN" b="1" dirty="0"/>
              <a:t>Streamlined Repetition</a:t>
            </a:r>
            <a:endParaRPr lang="en-IN" dirty="0"/>
          </a:p>
        </p:txBody>
      </p:sp>
      <p:sp>
        <p:nvSpPr>
          <p:cNvPr id="3" name="Content Placeholder 2">
            <a:extLst>
              <a:ext uri="{FF2B5EF4-FFF2-40B4-BE49-F238E27FC236}">
                <a16:creationId xmlns:a16="http://schemas.microsoft.com/office/drawing/2014/main" id="{076A0592-8E1A-5C96-77EB-380765384D72}"/>
              </a:ext>
            </a:extLst>
          </p:cNvPr>
          <p:cNvSpPr>
            <a:spLocks noGrp="1"/>
          </p:cNvSpPr>
          <p:nvPr>
            <p:ph idx="1"/>
          </p:nvPr>
        </p:nvSpPr>
        <p:spPr/>
        <p:txBody>
          <a:bodyPr>
            <a:normAutofit/>
          </a:bodyPr>
          <a:lstStyle/>
          <a:p>
            <a:pPr marL="0" indent="0">
              <a:buNone/>
            </a:pPr>
            <a:r>
              <a:rPr lang="en-IN" dirty="0"/>
              <a:t>EXAMPLE</a:t>
            </a:r>
          </a:p>
          <a:p>
            <a:pPr marL="0" indent="0" algn="just">
              <a:buNone/>
            </a:pPr>
            <a:r>
              <a:rPr lang="en-US" dirty="0"/>
              <a:t>Find and Replace dialog boxes, commonly used in text editors (like Word or email composers), are designed to simplify repetitive tasks. Users enter the old phrase and the new phrase, then use a single Replace button to change each occurrence one by one. If users are sure they want to replace every instance, they can click the Replace All button, which performs the entire task with just one click.</a:t>
            </a:r>
            <a:endParaRPr lang="en-IN" dirty="0"/>
          </a:p>
        </p:txBody>
      </p:sp>
    </p:spTree>
    <p:extLst>
      <p:ext uri="{BB962C8B-B14F-4D97-AF65-F5344CB8AC3E}">
        <p14:creationId xmlns:p14="http://schemas.microsoft.com/office/powerpoint/2010/main" val="39124509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9CAFD-A841-5F33-0410-9727F331866F}"/>
              </a:ext>
            </a:extLst>
          </p:cNvPr>
          <p:cNvSpPr>
            <a:spLocks noGrp="1"/>
          </p:cNvSpPr>
          <p:nvPr>
            <p:ph type="title"/>
          </p:nvPr>
        </p:nvSpPr>
        <p:spPr/>
        <p:txBody>
          <a:bodyPr/>
          <a:lstStyle/>
          <a:p>
            <a:r>
              <a:rPr lang="en-IN" b="1" dirty="0"/>
              <a:t>BOOTSTRAP</a:t>
            </a:r>
          </a:p>
        </p:txBody>
      </p:sp>
      <p:sp>
        <p:nvSpPr>
          <p:cNvPr id="3" name="Content Placeholder 2">
            <a:extLst>
              <a:ext uri="{FF2B5EF4-FFF2-40B4-BE49-F238E27FC236}">
                <a16:creationId xmlns:a16="http://schemas.microsoft.com/office/drawing/2014/main" id="{BCC92C2C-740F-AD26-8C7F-837CEE9A2A37}"/>
              </a:ext>
            </a:extLst>
          </p:cNvPr>
          <p:cNvSpPr>
            <a:spLocks noGrp="1"/>
          </p:cNvSpPr>
          <p:nvPr>
            <p:ph idx="1"/>
          </p:nvPr>
        </p:nvSpPr>
        <p:spPr/>
        <p:txBody>
          <a:bodyPr>
            <a:normAutofit fontScale="92500" lnSpcReduction="20000"/>
          </a:bodyPr>
          <a:lstStyle/>
          <a:p>
            <a:r>
              <a:rPr lang="en-US" b="1" dirty="0"/>
              <a:t>What is Bootstrap?</a:t>
            </a:r>
          </a:p>
          <a:p>
            <a:pPr>
              <a:buFont typeface="Arial" panose="020B0604020202020204" pitchFamily="34" charset="0"/>
              <a:buChar char="•"/>
            </a:pPr>
            <a:r>
              <a:rPr lang="en-US" dirty="0"/>
              <a:t>Bootstrap is a free front-end framework for faster and easier web development</a:t>
            </a:r>
          </a:p>
          <a:p>
            <a:pPr>
              <a:buFont typeface="Arial" panose="020B0604020202020204" pitchFamily="34" charset="0"/>
              <a:buChar char="•"/>
            </a:pPr>
            <a:r>
              <a:rPr lang="en-US" dirty="0"/>
              <a:t>Bootstrap includes HTML and CSS based design templates for typography, forms, buttons, tables, navigation, modals, image carousels and many other, as well as optional JavaScript plugins</a:t>
            </a:r>
          </a:p>
          <a:p>
            <a:pPr>
              <a:buFont typeface="Arial" panose="020B0604020202020204" pitchFamily="34" charset="0"/>
              <a:buChar char="•"/>
            </a:pPr>
            <a:r>
              <a:rPr lang="en-US" dirty="0"/>
              <a:t>Bootstrap also gives you the ability to easily create responsive designs</a:t>
            </a:r>
          </a:p>
          <a:p>
            <a:r>
              <a:rPr lang="en-US" b="1" dirty="0"/>
              <a:t>What is Responsive Web Design?</a:t>
            </a:r>
            <a:br>
              <a:rPr lang="en-US" dirty="0"/>
            </a:br>
            <a:br>
              <a:rPr lang="en-US" dirty="0"/>
            </a:br>
            <a:r>
              <a:rPr lang="en-US" dirty="0"/>
              <a:t>Responsive web design is about creating web sites which automatically adjust themselves to look good on all devices, from small phones to large desktops.</a:t>
            </a:r>
            <a:endParaRPr lang="en-IN" dirty="0"/>
          </a:p>
        </p:txBody>
      </p:sp>
    </p:spTree>
    <p:extLst>
      <p:ext uri="{BB962C8B-B14F-4D97-AF65-F5344CB8AC3E}">
        <p14:creationId xmlns:p14="http://schemas.microsoft.com/office/powerpoint/2010/main" val="11282198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6FF37-616C-5347-4FC4-ACFB0E0E53E7}"/>
              </a:ext>
            </a:extLst>
          </p:cNvPr>
          <p:cNvSpPr>
            <a:spLocks noGrp="1"/>
          </p:cNvSpPr>
          <p:nvPr>
            <p:ph type="title"/>
          </p:nvPr>
        </p:nvSpPr>
        <p:spPr/>
        <p:txBody>
          <a:bodyPr/>
          <a:lstStyle/>
          <a:p>
            <a:r>
              <a:rPr lang="en-US" b="1" dirty="0"/>
              <a:t>Bootstrap 5</a:t>
            </a:r>
            <a:endParaRPr lang="en-IN" b="1" dirty="0"/>
          </a:p>
        </p:txBody>
      </p:sp>
      <p:sp>
        <p:nvSpPr>
          <p:cNvPr id="3" name="Content Placeholder 2">
            <a:extLst>
              <a:ext uri="{FF2B5EF4-FFF2-40B4-BE49-F238E27FC236}">
                <a16:creationId xmlns:a16="http://schemas.microsoft.com/office/drawing/2014/main" id="{750B4D03-DA24-2AC9-FADD-5933A6937FF6}"/>
              </a:ext>
            </a:extLst>
          </p:cNvPr>
          <p:cNvSpPr>
            <a:spLocks noGrp="1"/>
          </p:cNvSpPr>
          <p:nvPr>
            <p:ph idx="1"/>
          </p:nvPr>
        </p:nvSpPr>
        <p:spPr/>
        <p:txBody>
          <a:bodyPr/>
          <a:lstStyle/>
          <a:p>
            <a:r>
              <a:rPr lang="en-US" dirty="0"/>
              <a:t>Bootstrap 5 (released 2021) is the newest version of </a:t>
            </a:r>
            <a:r>
              <a:rPr lang="en-US" dirty="0">
                <a:hlinkClick r:id="rId2"/>
              </a:rPr>
              <a:t>Bootstrap</a:t>
            </a:r>
            <a:r>
              <a:rPr lang="en-US" dirty="0"/>
              <a:t> (released 2013); with new components, faster stylesheet and more responsiveness.</a:t>
            </a:r>
          </a:p>
          <a:p>
            <a:r>
              <a:rPr lang="en-US" dirty="0"/>
              <a:t>Bootstrap 5 supports the latest, stable releases of all major browsers and platforms. However, Internet Explorer 11 and down is not supported.</a:t>
            </a:r>
          </a:p>
          <a:p>
            <a:r>
              <a:rPr lang="en-US" dirty="0"/>
              <a:t>The main differences between Bootstrap 5 and Bootstrap 3 &amp; 4, is that Bootstrap 5 has switched to vanilla JavaScript instead of jQuery.</a:t>
            </a:r>
          </a:p>
          <a:p>
            <a:endParaRPr lang="en-IN" dirty="0"/>
          </a:p>
        </p:txBody>
      </p:sp>
    </p:spTree>
    <p:extLst>
      <p:ext uri="{BB962C8B-B14F-4D97-AF65-F5344CB8AC3E}">
        <p14:creationId xmlns:p14="http://schemas.microsoft.com/office/powerpoint/2010/main" val="29555467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ACDF4-A929-B56F-2261-4DE31BC1F7B6}"/>
              </a:ext>
            </a:extLst>
          </p:cNvPr>
          <p:cNvSpPr>
            <a:spLocks noGrp="1"/>
          </p:cNvSpPr>
          <p:nvPr>
            <p:ph type="title"/>
          </p:nvPr>
        </p:nvSpPr>
        <p:spPr/>
        <p:txBody>
          <a:bodyPr/>
          <a:lstStyle/>
          <a:p>
            <a:r>
              <a:rPr lang="en-US" b="1" dirty="0"/>
              <a:t>Advantages of Bootstrap:</a:t>
            </a:r>
            <a:br>
              <a:rPr lang="en-US" b="1" dirty="0"/>
            </a:br>
            <a:endParaRPr lang="en-IN" b="1" dirty="0"/>
          </a:p>
        </p:txBody>
      </p:sp>
      <p:sp>
        <p:nvSpPr>
          <p:cNvPr id="3" name="Content Placeholder 2">
            <a:extLst>
              <a:ext uri="{FF2B5EF4-FFF2-40B4-BE49-F238E27FC236}">
                <a16:creationId xmlns:a16="http://schemas.microsoft.com/office/drawing/2014/main" id="{F480CEE9-4262-5108-8B87-30B3A05FE878}"/>
              </a:ext>
            </a:extLst>
          </p:cNvPr>
          <p:cNvSpPr>
            <a:spLocks noGrp="1"/>
          </p:cNvSpPr>
          <p:nvPr>
            <p:ph idx="1"/>
          </p:nvPr>
        </p:nvSpPr>
        <p:spPr/>
        <p:txBody>
          <a:bodyPr>
            <a:normAutofit/>
          </a:bodyPr>
          <a:lstStyle/>
          <a:p>
            <a:pPr>
              <a:buFont typeface="Arial" panose="020B0604020202020204" pitchFamily="34" charset="0"/>
              <a:buChar char="•"/>
            </a:pPr>
            <a:r>
              <a:rPr lang="en-US" b="1" dirty="0"/>
              <a:t>Easy to use:</a:t>
            </a:r>
            <a:r>
              <a:rPr lang="en-US" dirty="0"/>
              <a:t> Anybody with just basic knowledge of HTML and CSS can start using Bootstrap</a:t>
            </a:r>
          </a:p>
          <a:p>
            <a:pPr>
              <a:buFont typeface="Arial" panose="020B0604020202020204" pitchFamily="34" charset="0"/>
              <a:buChar char="•"/>
            </a:pPr>
            <a:r>
              <a:rPr lang="en-US" b="1" dirty="0"/>
              <a:t>Responsive features:</a:t>
            </a:r>
            <a:r>
              <a:rPr lang="en-US" dirty="0"/>
              <a:t> Bootstrap's responsive CSS adjusts to phones, tablets, and desktops</a:t>
            </a:r>
          </a:p>
          <a:p>
            <a:pPr>
              <a:buFont typeface="Arial" panose="020B0604020202020204" pitchFamily="34" charset="0"/>
              <a:buChar char="•"/>
            </a:pPr>
            <a:r>
              <a:rPr lang="en-US" b="1" dirty="0"/>
              <a:t>Mobile-first approach:</a:t>
            </a:r>
            <a:r>
              <a:rPr lang="en-US" dirty="0"/>
              <a:t> In Bootstrap, mobile-first styles are part of the core framework</a:t>
            </a:r>
          </a:p>
          <a:p>
            <a:pPr>
              <a:buFont typeface="Arial" panose="020B0604020202020204" pitchFamily="34" charset="0"/>
              <a:buChar char="•"/>
            </a:pPr>
            <a:r>
              <a:rPr lang="en-US" b="1" dirty="0"/>
              <a:t>Browser compatibility:</a:t>
            </a:r>
            <a:r>
              <a:rPr lang="en-US" dirty="0"/>
              <a:t> Bootstrap 5 is compatible with all modern browsers (Chrome, Firefox, Edge, Safari, and Opera). </a:t>
            </a:r>
            <a:r>
              <a:rPr lang="en-US" b="1" dirty="0"/>
              <a:t>Note</a:t>
            </a:r>
            <a:r>
              <a:rPr lang="en-US" dirty="0"/>
              <a:t> that if you need support for IE11 and down, you must use either BS4 or BS3.</a:t>
            </a:r>
          </a:p>
          <a:p>
            <a:endParaRPr lang="en-IN" dirty="0"/>
          </a:p>
        </p:txBody>
      </p:sp>
    </p:spTree>
    <p:extLst>
      <p:ext uri="{BB962C8B-B14F-4D97-AF65-F5344CB8AC3E}">
        <p14:creationId xmlns:p14="http://schemas.microsoft.com/office/powerpoint/2010/main" val="2239750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42BE-4DB5-5F15-8E18-778C3F81CFB5}"/>
              </a:ext>
            </a:extLst>
          </p:cNvPr>
          <p:cNvSpPr>
            <a:spLocks noGrp="1"/>
          </p:cNvSpPr>
          <p:nvPr>
            <p:ph type="title"/>
          </p:nvPr>
        </p:nvSpPr>
        <p:spPr/>
        <p:txBody>
          <a:bodyPr/>
          <a:lstStyle/>
          <a:p>
            <a:r>
              <a:rPr lang="en-US" b="1" dirty="0"/>
              <a:t>Create Your First Web Page With Bootstrap 5</a:t>
            </a:r>
            <a:br>
              <a:rPr lang="en-US" b="1" dirty="0"/>
            </a:br>
            <a:endParaRPr lang="en-IN" dirty="0"/>
          </a:p>
        </p:txBody>
      </p:sp>
      <p:sp>
        <p:nvSpPr>
          <p:cNvPr id="3" name="Content Placeholder 2">
            <a:extLst>
              <a:ext uri="{FF2B5EF4-FFF2-40B4-BE49-F238E27FC236}">
                <a16:creationId xmlns:a16="http://schemas.microsoft.com/office/drawing/2014/main" id="{94D62534-4874-0FFB-FD9C-136FA17FCE3D}"/>
              </a:ext>
            </a:extLst>
          </p:cNvPr>
          <p:cNvSpPr>
            <a:spLocks noGrp="1"/>
          </p:cNvSpPr>
          <p:nvPr>
            <p:ph idx="1"/>
          </p:nvPr>
        </p:nvSpPr>
        <p:spPr/>
        <p:txBody>
          <a:bodyPr>
            <a:normAutofit/>
          </a:bodyPr>
          <a:lstStyle/>
          <a:p>
            <a:r>
              <a:rPr lang="en-US" dirty="0"/>
              <a:t>Bootstrap 5 uses HTML elements and CSS properties that require the HTML5 doctype.</a:t>
            </a:r>
          </a:p>
          <a:p>
            <a:r>
              <a:rPr lang="en-US" dirty="0"/>
              <a:t>Always include the HTML5 doctype at the beginning of the page, along with the lang attribute and the correct title and character set:</a:t>
            </a:r>
          </a:p>
          <a:p>
            <a:r>
              <a:rPr lang="en-US" dirty="0"/>
              <a:t>Bootstrap 5 is designed to be responsive to mobile devices. Mobile-first styles are part of the core framework.</a:t>
            </a:r>
          </a:p>
          <a:p>
            <a:r>
              <a:rPr lang="en-US" dirty="0"/>
              <a:t>To ensure proper rendering and touch zooming, </a:t>
            </a:r>
            <a:r>
              <a:rPr lang="en-US" b="1" dirty="0"/>
              <a:t>add the responsive viewport meta tag</a:t>
            </a:r>
            <a:r>
              <a:rPr lang="en-US" dirty="0"/>
              <a:t> </a:t>
            </a:r>
            <a:r>
              <a:rPr kumimoji="0" lang="en-US" altLang="en-US" sz="3600" b="0" i="0" u="none" strike="noStrike" cap="none" normalizeH="0" baseline="0" dirty="0">
                <a:ln>
                  <a:noFill/>
                </a:ln>
                <a:solidFill>
                  <a:schemeClr val="tx1"/>
                </a:solidFill>
                <a:effectLst/>
                <a:latin typeface="Arial Unicode MS"/>
              </a:rPr>
              <a:t>&lt;meta&gt;</a:t>
            </a:r>
            <a:r>
              <a:rPr kumimoji="0" lang="en-US" altLang="en-US" sz="2800" b="0" i="0" u="none" strike="noStrike" cap="none" normalizeH="0" baseline="0" dirty="0">
                <a:ln>
                  <a:noFill/>
                </a:ln>
                <a:solidFill>
                  <a:schemeClr val="tx1"/>
                </a:solidFill>
                <a:effectLst/>
              </a:rPr>
              <a:t> tag inside the </a:t>
            </a:r>
            <a:r>
              <a:rPr kumimoji="0" lang="en-US" altLang="en-US" sz="3600" b="0" i="0" u="none" strike="noStrike" cap="none" normalizeH="0" baseline="0" dirty="0">
                <a:ln>
                  <a:noFill/>
                </a:ln>
                <a:solidFill>
                  <a:schemeClr val="tx1"/>
                </a:solidFill>
                <a:effectLst/>
                <a:latin typeface="Arial Unicode MS"/>
              </a:rPr>
              <a:t>&lt;head&gt;</a:t>
            </a:r>
            <a:r>
              <a:rPr kumimoji="0" lang="en-US" altLang="en-US" sz="2800" b="0" i="0" u="none" strike="noStrike" cap="none" normalizeH="0" baseline="0" dirty="0">
                <a:ln>
                  <a:noFill/>
                </a:ln>
                <a:solidFill>
                  <a:schemeClr val="tx1"/>
                </a:solidFill>
                <a:effectLst/>
              </a:rPr>
              <a:t> element: </a:t>
            </a:r>
            <a:endParaRPr kumimoji="0" lang="en-US" altLang="en-US" sz="6600" b="0" i="0" u="none" strike="noStrike" cap="none" normalizeH="0" baseline="0" dirty="0">
              <a:ln>
                <a:noFill/>
              </a:ln>
              <a:solidFill>
                <a:schemeClr val="tx1"/>
              </a:solidFill>
              <a:effectLst/>
              <a:latin typeface="Arial" panose="020B0604020202020204" pitchFamily="34" charset="0"/>
            </a:endParaRPr>
          </a:p>
          <a:p>
            <a:r>
              <a:rPr lang="en-US" dirty="0"/>
              <a:t> </a:t>
            </a:r>
          </a:p>
          <a:p>
            <a:endParaRPr lang="en-US" dirty="0"/>
          </a:p>
          <a:p>
            <a:endParaRPr lang="en-US" dirty="0"/>
          </a:p>
          <a:p>
            <a:endParaRPr lang="en-IN" dirty="0"/>
          </a:p>
        </p:txBody>
      </p:sp>
      <p:sp>
        <p:nvSpPr>
          <p:cNvPr id="5" name="Rectangle 2">
            <a:extLst>
              <a:ext uri="{FF2B5EF4-FFF2-40B4-BE49-F238E27FC236}">
                <a16:creationId xmlns:a16="http://schemas.microsoft.com/office/drawing/2014/main" id="{3AD901E8-6446-015A-0BB2-60E80937EBEB}"/>
              </a:ext>
            </a:extLst>
          </p:cNvPr>
          <p:cNvSpPr>
            <a:spLocks noChangeArrowheads="1"/>
          </p:cNvSpPr>
          <p:nvPr/>
        </p:nvSpPr>
        <p:spPr bwMode="auto">
          <a:xfrm>
            <a:off x="0" y="43934"/>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0477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58FD-3D2B-A0E1-1F99-ED2D8E74D5B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34CFAAC-41F8-BE80-B025-A0A862BF54EF}"/>
              </a:ext>
            </a:extLst>
          </p:cNvPr>
          <p:cNvSpPr>
            <a:spLocks noGrp="1"/>
          </p:cNvSpPr>
          <p:nvPr>
            <p:ph idx="1"/>
          </p:nvPr>
        </p:nvSpPr>
        <p:spPr>
          <a:xfrm>
            <a:off x="403123" y="1825625"/>
            <a:ext cx="11169445" cy="4351338"/>
          </a:xfrm>
        </p:spPr>
        <p:txBody>
          <a:bodyPr>
            <a:normAutofit lnSpcReduction="10000"/>
          </a:bodyPr>
          <a:lstStyle/>
          <a:p>
            <a:r>
              <a:rPr lang="en-IN" dirty="0">
                <a:solidFill>
                  <a:srgbClr val="0000CD"/>
                </a:solidFill>
                <a:effectLst/>
              </a:rPr>
              <a:t>&lt;</a:t>
            </a:r>
            <a:r>
              <a:rPr lang="en-IN" dirty="0">
                <a:solidFill>
                  <a:srgbClr val="A52A2A"/>
                </a:solidFill>
                <a:effectLst/>
              </a:rPr>
              <a:t>!DOCTYPE</a:t>
            </a:r>
            <a:r>
              <a:rPr lang="en-IN" dirty="0">
                <a:solidFill>
                  <a:srgbClr val="FF0000"/>
                </a:solidFill>
                <a:effectLst/>
              </a:rPr>
              <a:t> html</a:t>
            </a:r>
            <a:r>
              <a:rPr lang="en-IN" dirty="0">
                <a:solidFill>
                  <a:srgbClr val="0000CD"/>
                </a:solidFill>
                <a:effectLst/>
              </a:rPr>
              <a:t>&gt;</a:t>
            </a:r>
            <a:br>
              <a:rPr lang="en-IN" dirty="0"/>
            </a:br>
            <a:r>
              <a:rPr lang="en-IN" dirty="0">
                <a:solidFill>
                  <a:srgbClr val="0000CD"/>
                </a:solidFill>
                <a:effectLst/>
              </a:rPr>
              <a:t>&lt;</a:t>
            </a:r>
            <a:r>
              <a:rPr lang="en-IN" dirty="0">
                <a:solidFill>
                  <a:srgbClr val="A52A2A"/>
                </a:solidFill>
                <a:effectLst/>
              </a:rPr>
              <a:t>html</a:t>
            </a:r>
            <a:r>
              <a:rPr lang="en-IN" dirty="0">
                <a:solidFill>
                  <a:srgbClr val="FF0000"/>
                </a:solidFill>
                <a:effectLst/>
              </a:rPr>
              <a:t> lang</a:t>
            </a:r>
            <a:r>
              <a:rPr lang="en-IN" dirty="0">
                <a:solidFill>
                  <a:srgbClr val="0000CD"/>
                </a:solidFill>
                <a:effectLst/>
              </a:rPr>
              <a:t>="</a:t>
            </a:r>
            <a:r>
              <a:rPr lang="en-IN" dirty="0" err="1">
                <a:solidFill>
                  <a:srgbClr val="0000CD"/>
                </a:solidFill>
                <a:effectLst/>
              </a:rPr>
              <a:t>en</a:t>
            </a:r>
            <a:r>
              <a:rPr lang="en-IN" dirty="0">
                <a:solidFill>
                  <a:srgbClr val="0000CD"/>
                </a:solidFill>
                <a:effectLst/>
              </a:rPr>
              <a:t>"&gt;</a:t>
            </a:r>
            <a:br>
              <a:rPr lang="en-IN" dirty="0"/>
            </a:br>
            <a:r>
              <a:rPr lang="en-IN" dirty="0">
                <a:solidFill>
                  <a:srgbClr val="0000CD"/>
                </a:solidFill>
                <a:effectLst/>
              </a:rPr>
              <a:t>&lt;</a:t>
            </a:r>
            <a:r>
              <a:rPr lang="en-IN" dirty="0">
                <a:solidFill>
                  <a:srgbClr val="A52A2A"/>
                </a:solidFill>
                <a:effectLst/>
              </a:rPr>
              <a:t>head</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title</a:t>
            </a:r>
            <a:r>
              <a:rPr lang="en-IN" dirty="0">
                <a:solidFill>
                  <a:srgbClr val="0000CD"/>
                </a:solidFill>
                <a:effectLst/>
              </a:rPr>
              <a:t>&gt;</a:t>
            </a:r>
            <a:r>
              <a:rPr lang="en-IN" dirty="0"/>
              <a:t>Bootstrap Example</a:t>
            </a:r>
            <a:r>
              <a:rPr lang="en-IN" dirty="0">
                <a:solidFill>
                  <a:srgbClr val="0000CD"/>
                </a:solidFill>
                <a:effectLst/>
              </a:rPr>
              <a:t>&lt;</a:t>
            </a:r>
            <a:r>
              <a:rPr lang="en-IN" dirty="0">
                <a:solidFill>
                  <a:srgbClr val="A52A2A"/>
                </a:solidFill>
                <a:effectLst/>
              </a:rPr>
              <a:t>/title</a:t>
            </a:r>
            <a:r>
              <a:rPr lang="en-IN" dirty="0">
                <a:solidFill>
                  <a:srgbClr val="0000CD"/>
                </a:solidFill>
                <a:effectLst/>
              </a:rPr>
              <a:t>&gt;</a:t>
            </a:r>
            <a:br>
              <a:rPr lang="en-IN" dirty="0"/>
            </a:br>
            <a:r>
              <a:rPr lang="en-IN" dirty="0"/>
              <a:t>  </a:t>
            </a:r>
            <a:r>
              <a:rPr lang="en-IN" dirty="0">
                <a:solidFill>
                  <a:srgbClr val="0000CD"/>
                </a:solidFill>
                <a:effectLst/>
              </a:rPr>
              <a:t>&lt;</a:t>
            </a:r>
            <a:r>
              <a:rPr lang="en-IN" dirty="0">
                <a:solidFill>
                  <a:srgbClr val="A52A2A"/>
                </a:solidFill>
                <a:effectLst/>
              </a:rPr>
              <a:t>meta</a:t>
            </a:r>
            <a:r>
              <a:rPr lang="en-IN" dirty="0">
                <a:solidFill>
                  <a:srgbClr val="FF0000"/>
                </a:solidFill>
                <a:effectLst/>
              </a:rPr>
              <a:t> charset</a:t>
            </a:r>
            <a:r>
              <a:rPr lang="en-IN" dirty="0">
                <a:solidFill>
                  <a:srgbClr val="0000CD"/>
                </a:solidFill>
                <a:effectLst/>
              </a:rPr>
              <a:t>="utf-8"&gt;</a:t>
            </a:r>
            <a:br>
              <a:rPr lang="en-IN" dirty="0"/>
            </a:br>
            <a:r>
              <a:rPr lang="en-IN" dirty="0"/>
              <a:t>  </a:t>
            </a:r>
            <a:r>
              <a:rPr lang="en-IN" dirty="0">
                <a:solidFill>
                  <a:srgbClr val="0000CD"/>
                </a:solidFill>
                <a:effectLst/>
              </a:rPr>
              <a:t>&lt;</a:t>
            </a:r>
            <a:r>
              <a:rPr lang="en-IN" dirty="0">
                <a:solidFill>
                  <a:srgbClr val="A52A2A"/>
                </a:solidFill>
                <a:effectLst/>
              </a:rPr>
              <a:t>meta</a:t>
            </a:r>
            <a:r>
              <a:rPr lang="en-IN" dirty="0">
                <a:solidFill>
                  <a:srgbClr val="FF0000"/>
                </a:solidFill>
                <a:effectLst/>
              </a:rPr>
              <a:t> name</a:t>
            </a:r>
            <a:r>
              <a:rPr lang="en-IN" dirty="0">
                <a:solidFill>
                  <a:srgbClr val="0000CD"/>
                </a:solidFill>
                <a:effectLst/>
              </a:rPr>
              <a:t>="viewport"</a:t>
            </a:r>
            <a:r>
              <a:rPr lang="en-IN" dirty="0">
                <a:solidFill>
                  <a:srgbClr val="FF0000"/>
                </a:solidFill>
                <a:effectLst/>
              </a:rPr>
              <a:t> content</a:t>
            </a:r>
            <a:r>
              <a:rPr lang="en-IN" dirty="0">
                <a:solidFill>
                  <a:srgbClr val="0000CD"/>
                </a:solidFill>
                <a:effectLst/>
              </a:rPr>
              <a:t>="width=device-width, initial-scale=1"&gt;</a:t>
            </a:r>
            <a:br>
              <a:rPr lang="en-IN" dirty="0"/>
            </a:br>
            <a:r>
              <a:rPr lang="en-IN" dirty="0"/>
              <a:t>  </a:t>
            </a:r>
            <a:r>
              <a:rPr lang="en-IN" dirty="0">
                <a:solidFill>
                  <a:srgbClr val="0000CD"/>
                </a:solidFill>
                <a:effectLst/>
              </a:rPr>
              <a:t>&lt;</a:t>
            </a:r>
            <a:r>
              <a:rPr lang="en-IN" dirty="0">
                <a:solidFill>
                  <a:srgbClr val="A52A2A"/>
                </a:solidFill>
                <a:effectLst/>
              </a:rPr>
              <a:t>/head</a:t>
            </a:r>
            <a:r>
              <a:rPr lang="en-IN" dirty="0">
                <a:solidFill>
                  <a:srgbClr val="0000CD"/>
                </a:solidFill>
                <a:effectLst/>
              </a:rPr>
              <a:t>&gt;</a:t>
            </a:r>
          </a:p>
          <a:p>
            <a:r>
              <a:rPr lang="en-US" dirty="0"/>
              <a:t>The </a:t>
            </a:r>
            <a:r>
              <a:rPr lang="en-IN" dirty="0">
                <a:solidFill>
                  <a:srgbClr val="0000CD"/>
                </a:solidFill>
                <a:effectLst/>
              </a:rPr>
              <a:t>width=device-width  </a:t>
            </a:r>
            <a:r>
              <a:rPr lang="en-US" dirty="0"/>
              <a:t>part sets the width of the page to follow the screen-width of the device (which will vary depending on the device).</a:t>
            </a:r>
          </a:p>
          <a:p>
            <a:r>
              <a:rPr lang="en-IN" dirty="0">
                <a:solidFill>
                  <a:srgbClr val="0000CD"/>
                </a:solidFill>
                <a:effectLst/>
              </a:rPr>
              <a:t>The initial-scale=1 </a:t>
            </a:r>
            <a:r>
              <a:rPr lang="en-US" dirty="0"/>
              <a:t>part sets the initial zoom level when the page is first loaded by the browser.</a:t>
            </a:r>
            <a:endParaRPr lang="en-IN" dirty="0"/>
          </a:p>
        </p:txBody>
      </p:sp>
    </p:spTree>
    <p:extLst>
      <p:ext uri="{BB962C8B-B14F-4D97-AF65-F5344CB8AC3E}">
        <p14:creationId xmlns:p14="http://schemas.microsoft.com/office/powerpoint/2010/main" val="1241896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A8EB7-4FDF-D2FF-6C65-D2A0B7F723E6}"/>
              </a:ext>
            </a:extLst>
          </p:cNvPr>
          <p:cNvSpPr>
            <a:spLocks noGrp="1"/>
          </p:cNvSpPr>
          <p:nvPr>
            <p:ph type="title"/>
          </p:nvPr>
        </p:nvSpPr>
        <p:spPr/>
        <p:txBody>
          <a:bodyPr/>
          <a:lstStyle/>
          <a:p>
            <a:r>
              <a:rPr lang="en-IN" b="1" dirty="0"/>
              <a:t>Breakpoints</a:t>
            </a:r>
            <a:br>
              <a:rPr lang="en-IN" b="1" dirty="0"/>
            </a:br>
            <a:endParaRPr lang="en-IN" dirty="0"/>
          </a:p>
        </p:txBody>
      </p:sp>
      <p:sp>
        <p:nvSpPr>
          <p:cNvPr id="3" name="Content Placeholder 2">
            <a:extLst>
              <a:ext uri="{FF2B5EF4-FFF2-40B4-BE49-F238E27FC236}">
                <a16:creationId xmlns:a16="http://schemas.microsoft.com/office/drawing/2014/main" id="{EFC06473-8BF2-0ECE-609A-E0592EB58A68}"/>
              </a:ext>
            </a:extLst>
          </p:cNvPr>
          <p:cNvSpPr>
            <a:spLocks noGrp="1"/>
          </p:cNvSpPr>
          <p:nvPr>
            <p:ph idx="1"/>
          </p:nvPr>
        </p:nvSpPr>
        <p:spPr/>
        <p:txBody>
          <a:bodyPr/>
          <a:lstStyle/>
          <a:p>
            <a:r>
              <a:rPr lang="en-US" dirty="0"/>
              <a:t>Breakpoints are customizable widths that determine how your responsive layout behaves across device or viewport sizes in Bootstrap.</a:t>
            </a:r>
            <a:endParaRPr lang="en-IN" dirty="0"/>
          </a:p>
        </p:txBody>
      </p:sp>
    </p:spTree>
    <p:extLst>
      <p:ext uri="{BB962C8B-B14F-4D97-AF65-F5344CB8AC3E}">
        <p14:creationId xmlns:p14="http://schemas.microsoft.com/office/powerpoint/2010/main" val="29357124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4631-0EBD-1D10-0030-B647C43E355F}"/>
              </a:ext>
            </a:extLst>
          </p:cNvPr>
          <p:cNvSpPr>
            <a:spLocks noGrp="1"/>
          </p:cNvSpPr>
          <p:nvPr>
            <p:ph type="title"/>
          </p:nvPr>
        </p:nvSpPr>
        <p:spPr/>
        <p:txBody>
          <a:bodyPr/>
          <a:lstStyle/>
          <a:p>
            <a:r>
              <a:rPr lang="en-IN" b="1" dirty="0"/>
              <a:t>Breakpoints</a:t>
            </a:r>
            <a:br>
              <a:rPr lang="en-IN" b="1" dirty="0"/>
            </a:br>
            <a:endParaRPr lang="en-IN" dirty="0"/>
          </a:p>
        </p:txBody>
      </p:sp>
      <p:sp>
        <p:nvSpPr>
          <p:cNvPr id="3" name="Content Placeholder 2">
            <a:extLst>
              <a:ext uri="{FF2B5EF4-FFF2-40B4-BE49-F238E27FC236}">
                <a16:creationId xmlns:a16="http://schemas.microsoft.com/office/drawing/2014/main" id="{4849E324-7F38-01EB-FA7F-6BC50D9BBF85}"/>
              </a:ext>
            </a:extLst>
          </p:cNvPr>
          <p:cNvSpPr>
            <a:spLocks noGrp="1"/>
          </p:cNvSpPr>
          <p:nvPr>
            <p:ph idx="1"/>
          </p:nvPr>
        </p:nvSpPr>
        <p:spPr/>
        <p:txBody>
          <a:bodyPr/>
          <a:lstStyle/>
          <a:p>
            <a:r>
              <a:rPr lang="en-US" dirty="0"/>
              <a:t>Bootstrap includes six default breakpoints, sometimes referred to as </a:t>
            </a:r>
            <a:r>
              <a:rPr lang="en-US" i="1" dirty="0"/>
              <a:t>grid tiers</a:t>
            </a:r>
            <a:r>
              <a:rPr lang="en-US" dirty="0"/>
              <a:t>, for building responsively. </a:t>
            </a:r>
          </a:p>
          <a:p>
            <a:endParaRPr lang="en-IN" dirty="0"/>
          </a:p>
        </p:txBody>
      </p:sp>
      <p:pic>
        <p:nvPicPr>
          <p:cNvPr id="5" name="Picture 4">
            <a:extLst>
              <a:ext uri="{FF2B5EF4-FFF2-40B4-BE49-F238E27FC236}">
                <a16:creationId xmlns:a16="http://schemas.microsoft.com/office/drawing/2014/main" id="{814F2440-6CF1-B655-1FA8-4B2B75175444}"/>
              </a:ext>
            </a:extLst>
          </p:cNvPr>
          <p:cNvPicPr>
            <a:picLocks noChangeAspect="1"/>
          </p:cNvPicPr>
          <p:nvPr/>
        </p:nvPicPr>
        <p:blipFill>
          <a:blip r:embed="rId2"/>
          <a:stretch>
            <a:fillRect/>
          </a:stretch>
        </p:blipFill>
        <p:spPr>
          <a:xfrm>
            <a:off x="1085150" y="2658611"/>
            <a:ext cx="10021699" cy="3600953"/>
          </a:xfrm>
          <a:prstGeom prst="rect">
            <a:avLst/>
          </a:prstGeom>
        </p:spPr>
      </p:pic>
    </p:spTree>
    <p:extLst>
      <p:ext uri="{BB962C8B-B14F-4D97-AF65-F5344CB8AC3E}">
        <p14:creationId xmlns:p14="http://schemas.microsoft.com/office/powerpoint/2010/main" val="15402350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3437A-173E-1885-E971-1200A5B42F56}"/>
              </a:ext>
            </a:extLst>
          </p:cNvPr>
          <p:cNvSpPr>
            <a:spLocks noGrp="1"/>
          </p:cNvSpPr>
          <p:nvPr>
            <p:ph type="title"/>
          </p:nvPr>
        </p:nvSpPr>
        <p:spPr/>
        <p:txBody>
          <a:bodyPr/>
          <a:lstStyle/>
          <a:p>
            <a:r>
              <a:rPr lang="en-IN" b="1" dirty="0"/>
              <a:t>Containers</a:t>
            </a:r>
            <a:br>
              <a:rPr lang="en-IN" b="1" dirty="0"/>
            </a:br>
            <a:endParaRPr lang="en-IN" dirty="0"/>
          </a:p>
        </p:txBody>
      </p:sp>
      <p:sp>
        <p:nvSpPr>
          <p:cNvPr id="3" name="Content Placeholder 2">
            <a:extLst>
              <a:ext uri="{FF2B5EF4-FFF2-40B4-BE49-F238E27FC236}">
                <a16:creationId xmlns:a16="http://schemas.microsoft.com/office/drawing/2014/main" id="{5C73BBE7-D0AD-F9D2-5EE4-A2465C0C1F3F}"/>
              </a:ext>
            </a:extLst>
          </p:cNvPr>
          <p:cNvSpPr>
            <a:spLocks noGrp="1"/>
          </p:cNvSpPr>
          <p:nvPr>
            <p:ph idx="1"/>
          </p:nvPr>
        </p:nvSpPr>
        <p:spPr/>
        <p:txBody>
          <a:bodyPr/>
          <a:lstStyle/>
          <a:p>
            <a:r>
              <a:rPr lang="en-US" dirty="0"/>
              <a:t>Containers are the most basic layout element in Bootstrap and are </a:t>
            </a:r>
            <a:r>
              <a:rPr lang="en-US" b="1" dirty="0"/>
              <a:t>required when using our default grid system</a:t>
            </a:r>
            <a:r>
              <a:rPr lang="en-US" dirty="0"/>
              <a:t>. </a:t>
            </a:r>
          </a:p>
          <a:p>
            <a:r>
              <a:rPr lang="en-US" dirty="0"/>
              <a:t>Containers are used to contain, pad, and (sometimes) center the content within them. While containers </a:t>
            </a:r>
            <a:r>
              <a:rPr lang="en-US" i="1" dirty="0"/>
              <a:t>can</a:t>
            </a:r>
            <a:r>
              <a:rPr lang="en-US" dirty="0"/>
              <a:t> be nested, most layouts do not require a nested container.</a:t>
            </a:r>
            <a:endParaRPr lang="en-IN" dirty="0"/>
          </a:p>
        </p:txBody>
      </p:sp>
    </p:spTree>
    <p:extLst>
      <p:ext uri="{BB962C8B-B14F-4D97-AF65-F5344CB8AC3E}">
        <p14:creationId xmlns:p14="http://schemas.microsoft.com/office/powerpoint/2010/main" val="2486139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50ED7C-A3AE-72C7-E4C9-31B8B92C7F2C}"/>
              </a:ext>
            </a:extLst>
          </p:cNvPr>
          <p:cNvSpPr>
            <a:spLocks noGrp="1"/>
          </p:cNvSpPr>
          <p:nvPr>
            <p:ph idx="1"/>
          </p:nvPr>
        </p:nvSpPr>
        <p:spPr>
          <a:xfrm>
            <a:off x="838200" y="324465"/>
            <a:ext cx="10515600" cy="5852498"/>
          </a:xfrm>
        </p:spPr>
        <p:txBody>
          <a:bodyPr/>
          <a:lstStyle/>
          <a:p>
            <a:r>
              <a:rPr lang="en-US" dirty="0"/>
              <a:t>Bootstrap comes with three different containers:</a:t>
            </a:r>
          </a:p>
          <a:p>
            <a:endParaRPr lang="en-US" dirty="0"/>
          </a:p>
          <a:p>
            <a:endParaRPr lang="en-US" dirty="0"/>
          </a:p>
          <a:p>
            <a:pPr marL="0" indent="0">
              <a:buNone/>
            </a:pPr>
            <a:endParaRPr lang="en-US" dirty="0"/>
          </a:p>
          <a:p>
            <a:pPr>
              <a:buFont typeface="Wingdings" panose="05000000000000000000" pitchFamily="2" charset="2"/>
              <a:buChar char="Ø"/>
            </a:pPr>
            <a:r>
              <a:rPr lang="en-IN" b="1" i="1" dirty="0"/>
              <a:t>container- </a:t>
            </a:r>
            <a:r>
              <a:rPr lang="en-IN" dirty="0"/>
              <a:t>Default container/Fixed Container</a:t>
            </a:r>
          </a:p>
          <a:p>
            <a:pPr>
              <a:buFont typeface="Wingdings" panose="05000000000000000000" pitchFamily="2" charset="2"/>
              <a:buChar char="Ø"/>
            </a:pPr>
            <a:r>
              <a:rPr lang="en-IN" b="1" i="1" dirty="0"/>
              <a:t>container-{breakpoint} </a:t>
            </a:r>
            <a:r>
              <a:rPr lang="en-IN" i="1" dirty="0"/>
              <a:t>– </a:t>
            </a:r>
            <a:r>
              <a:rPr lang="en-IN" dirty="0"/>
              <a:t>Responsive container</a:t>
            </a:r>
          </a:p>
        </p:txBody>
      </p:sp>
      <p:sp>
        <p:nvSpPr>
          <p:cNvPr id="5" name="Rectangle 2">
            <a:extLst>
              <a:ext uri="{FF2B5EF4-FFF2-40B4-BE49-F238E27FC236}">
                <a16:creationId xmlns:a16="http://schemas.microsoft.com/office/drawing/2014/main" id="{3A69C94B-CBEA-808F-750F-607142078A48}"/>
              </a:ext>
            </a:extLst>
          </p:cNvPr>
          <p:cNvSpPr>
            <a:spLocks noChangeArrowheads="1"/>
          </p:cNvSpPr>
          <p:nvPr/>
        </p:nvSpPr>
        <p:spPr bwMode="auto">
          <a:xfrm>
            <a:off x="1022555" y="2245616"/>
            <a:ext cx="125951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Unicode MS"/>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C5C2C73A-6FA4-3D13-397E-5ED8FC232638}"/>
              </a:ext>
            </a:extLst>
          </p:cNvPr>
          <p:cNvPicPr>
            <a:picLocks noChangeAspect="1"/>
          </p:cNvPicPr>
          <p:nvPr/>
        </p:nvPicPr>
        <p:blipFill>
          <a:blip r:embed="rId2"/>
          <a:stretch>
            <a:fillRect/>
          </a:stretch>
        </p:blipFill>
        <p:spPr>
          <a:xfrm>
            <a:off x="621890" y="973394"/>
            <a:ext cx="7577641" cy="1445111"/>
          </a:xfrm>
          <a:prstGeom prst="rect">
            <a:avLst/>
          </a:prstGeom>
        </p:spPr>
      </p:pic>
      <p:pic>
        <p:nvPicPr>
          <p:cNvPr id="8" name="Picture 7">
            <a:extLst>
              <a:ext uri="{FF2B5EF4-FFF2-40B4-BE49-F238E27FC236}">
                <a16:creationId xmlns:a16="http://schemas.microsoft.com/office/drawing/2014/main" id="{2393F390-454C-7A24-6F6D-2A8A129D81B1}"/>
              </a:ext>
            </a:extLst>
          </p:cNvPr>
          <p:cNvPicPr>
            <a:picLocks noChangeAspect="1"/>
          </p:cNvPicPr>
          <p:nvPr/>
        </p:nvPicPr>
        <p:blipFill>
          <a:blip r:embed="rId3"/>
          <a:stretch>
            <a:fillRect/>
          </a:stretch>
        </p:blipFill>
        <p:spPr>
          <a:xfrm>
            <a:off x="452284" y="3873911"/>
            <a:ext cx="10776155" cy="2437990"/>
          </a:xfrm>
          <a:prstGeom prst="rect">
            <a:avLst/>
          </a:prstGeom>
        </p:spPr>
      </p:pic>
    </p:spTree>
    <p:extLst>
      <p:ext uri="{BB962C8B-B14F-4D97-AF65-F5344CB8AC3E}">
        <p14:creationId xmlns:p14="http://schemas.microsoft.com/office/powerpoint/2010/main" val="1117445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53EB8070-67E4-7602-53C7-9C18DC6ABDAF}"/>
              </a:ext>
            </a:extLst>
          </p:cNvPr>
          <p:cNvPicPr>
            <a:picLocks noGrp="1" noChangeAspect="1"/>
          </p:cNvPicPr>
          <p:nvPr>
            <p:ph idx="1"/>
          </p:nvPr>
        </p:nvPicPr>
        <p:blipFill>
          <a:blip r:embed="rId2"/>
          <a:stretch>
            <a:fillRect/>
          </a:stretch>
        </p:blipFill>
        <p:spPr>
          <a:xfrm>
            <a:off x="720212" y="933208"/>
            <a:ext cx="10515600" cy="3429634"/>
          </a:xfrm>
        </p:spPr>
      </p:pic>
      <p:sp>
        <p:nvSpPr>
          <p:cNvPr id="8" name="TextBox 7">
            <a:extLst>
              <a:ext uri="{FF2B5EF4-FFF2-40B4-BE49-F238E27FC236}">
                <a16:creationId xmlns:a16="http://schemas.microsoft.com/office/drawing/2014/main" id="{2251CE69-AAA9-EC5A-A5B5-97233CECEADE}"/>
              </a:ext>
            </a:extLst>
          </p:cNvPr>
          <p:cNvSpPr txBox="1"/>
          <p:nvPr/>
        </p:nvSpPr>
        <p:spPr>
          <a:xfrm>
            <a:off x="1101212" y="4744127"/>
            <a:ext cx="6577781" cy="1200329"/>
          </a:xfrm>
          <a:prstGeom prst="rect">
            <a:avLst/>
          </a:prstGeom>
          <a:noFill/>
        </p:spPr>
        <p:txBody>
          <a:bodyPr wrap="square">
            <a:spAutoFit/>
          </a:bodyPr>
          <a:lstStyle/>
          <a:p>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="container"&gt;</a:t>
            </a:r>
            <a:br>
              <a:rPr lang="en-US" dirty="0"/>
            </a:br>
            <a:r>
              <a:rPr lang="en-US" dirty="0"/>
              <a:t>  </a:t>
            </a:r>
            <a:r>
              <a:rPr lang="en-US" dirty="0">
                <a:solidFill>
                  <a:srgbClr val="0000CD"/>
                </a:solidFill>
                <a:effectLst/>
              </a:rPr>
              <a:t>&lt;</a:t>
            </a:r>
            <a:r>
              <a:rPr lang="en-US" dirty="0">
                <a:solidFill>
                  <a:srgbClr val="A52A2A"/>
                </a:solidFill>
                <a:effectLst/>
              </a:rPr>
              <a:t>h1</a:t>
            </a:r>
            <a:r>
              <a:rPr lang="en-US" dirty="0">
                <a:solidFill>
                  <a:srgbClr val="0000CD"/>
                </a:solidFill>
                <a:effectLst/>
              </a:rPr>
              <a:t>&gt;</a:t>
            </a:r>
            <a:r>
              <a:rPr lang="en-US" dirty="0"/>
              <a:t>My First Bootstrap Page</a:t>
            </a:r>
            <a:r>
              <a:rPr lang="en-US" dirty="0">
                <a:solidFill>
                  <a:srgbClr val="0000CD"/>
                </a:solidFill>
                <a:effectLst/>
              </a:rPr>
              <a:t>&lt;</a:t>
            </a:r>
            <a:r>
              <a:rPr lang="en-US" dirty="0">
                <a:solidFill>
                  <a:srgbClr val="A52A2A"/>
                </a:solidFill>
                <a:effectLst/>
              </a:rPr>
              <a:t>/h1</a:t>
            </a:r>
            <a:r>
              <a:rPr lang="en-US" dirty="0">
                <a:solidFill>
                  <a:srgbClr val="0000CD"/>
                </a:solidFill>
                <a:effectLst/>
              </a:rPr>
              <a:t>&gt;</a:t>
            </a:r>
            <a:br>
              <a:rPr lang="en-US" dirty="0"/>
            </a:br>
            <a:r>
              <a:rPr lang="en-US" dirty="0"/>
              <a:t>  </a:t>
            </a:r>
            <a:r>
              <a:rPr lang="en-US" dirty="0">
                <a:solidFill>
                  <a:srgbClr val="0000CD"/>
                </a:solidFill>
                <a:effectLst/>
              </a:rPr>
              <a:t>&lt;</a:t>
            </a:r>
            <a:r>
              <a:rPr lang="en-US" dirty="0">
                <a:solidFill>
                  <a:srgbClr val="A52A2A"/>
                </a:solidFill>
                <a:effectLst/>
              </a:rPr>
              <a:t>p</a:t>
            </a:r>
            <a:r>
              <a:rPr lang="en-US" dirty="0">
                <a:solidFill>
                  <a:srgbClr val="0000CD"/>
                </a:solidFill>
                <a:effectLst/>
              </a:rPr>
              <a:t>&gt;</a:t>
            </a:r>
            <a:r>
              <a:rPr lang="en-US" dirty="0"/>
              <a:t>This is some text.</a:t>
            </a:r>
            <a:r>
              <a:rPr lang="en-US" dirty="0">
                <a:solidFill>
                  <a:srgbClr val="0000CD"/>
                </a:solidFill>
                <a:effectLst/>
              </a:rPr>
              <a:t>&lt;</a:t>
            </a:r>
            <a:r>
              <a:rPr lang="en-US" dirty="0">
                <a:solidFill>
                  <a:srgbClr val="A52A2A"/>
                </a:solidFill>
                <a:effectLst/>
              </a:rPr>
              <a:t>/p</a:t>
            </a:r>
            <a:r>
              <a:rPr lang="en-US" dirty="0">
                <a:solidFill>
                  <a:srgbClr val="0000CD"/>
                </a:solidFill>
                <a:effectLst/>
              </a:rPr>
              <a:t>&gt;</a:t>
            </a:r>
            <a:r>
              <a:rPr lang="en-US" dirty="0"/>
              <a:t> </a:t>
            </a:r>
            <a:br>
              <a:rPr lang="en-US" dirty="0"/>
            </a:br>
            <a:r>
              <a:rPr lang="en-US" dirty="0">
                <a:solidFill>
                  <a:srgbClr val="0000CD"/>
                </a:solidFill>
                <a:effectLst/>
              </a:rPr>
              <a:t>&lt;</a:t>
            </a:r>
            <a:r>
              <a:rPr lang="en-US" dirty="0">
                <a:solidFill>
                  <a:srgbClr val="A52A2A"/>
                </a:solidFill>
                <a:effectLst/>
              </a:rPr>
              <a:t>/div</a:t>
            </a:r>
            <a:r>
              <a:rPr lang="en-US" dirty="0">
                <a:solidFill>
                  <a:srgbClr val="0000CD"/>
                </a:solidFill>
                <a:effectLst/>
              </a:rPr>
              <a:t>&gt;</a:t>
            </a:r>
            <a:r>
              <a:rPr lang="en-US" dirty="0"/>
              <a:t> </a:t>
            </a:r>
          </a:p>
        </p:txBody>
      </p:sp>
    </p:spTree>
    <p:extLst>
      <p:ext uri="{BB962C8B-B14F-4D97-AF65-F5344CB8AC3E}">
        <p14:creationId xmlns:p14="http://schemas.microsoft.com/office/powerpoint/2010/main" val="39327135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E266-657C-E343-02BD-FBC0250A7DC9}"/>
              </a:ext>
            </a:extLst>
          </p:cNvPr>
          <p:cNvSpPr>
            <a:spLocks noGrp="1"/>
          </p:cNvSpPr>
          <p:nvPr>
            <p:ph type="title"/>
          </p:nvPr>
        </p:nvSpPr>
        <p:spPr/>
        <p:txBody>
          <a:bodyPr/>
          <a:lstStyle/>
          <a:p>
            <a:r>
              <a:rPr lang="en-IN" dirty="0"/>
              <a:t>Responsive Container</a:t>
            </a:r>
          </a:p>
        </p:txBody>
      </p:sp>
      <p:pic>
        <p:nvPicPr>
          <p:cNvPr id="5" name="Content Placeholder 4">
            <a:extLst>
              <a:ext uri="{FF2B5EF4-FFF2-40B4-BE49-F238E27FC236}">
                <a16:creationId xmlns:a16="http://schemas.microsoft.com/office/drawing/2014/main" id="{5A61D533-0948-7C51-AD01-0CB003F54E54}"/>
              </a:ext>
            </a:extLst>
          </p:cNvPr>
          <p:cNvPicPr>
            <a:picLocks noGrp="1" noChangeAspect="1"/>
          </p:cNvPicPr>
          <p:nvPr>
            <p:ph idx="1"/>
          </p:nvPr>
        </p:nvPicPr>
        <p:blipFill>
          <a:blip r:embed="rId2"/>
          <a:stretch>
            <a:fillRect/>
          </a:stretch>
        </p:blipFill>
        <p:spPr>
          <a:xfrm>
            <a:off x="931724" y="1825625"/>
            <a:ext cx="10328552" cy="4351338"/>
          </a:xfrm>
        </p:spPr>
      </p:pic>
    </p:spTree>
    <p:extLst>
      <p:ext uri="{BB962C8B-B14F-4D97-AF65-F5344CB8AC3E}">
        <p14:creationId xmlns:p14="http://schemas.microsoft.com/office/powerpoint/2010/main" val="2649788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9E8F-110B-05FF-BD0A-8354C247699C}"/>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225F1A10-0803-5B77-63C9-EFC227EB2BD0}"/>
              </a:ext>
            </a:extLst>
          </p:cNvPr>
          <p:cNvPicPr>
            <a:picLocks noGrp="1" noChangeAspect="1"/>
          </p:cNvPicPr>
          <p:nvPr>
            <p:ph idx="1"/>
          </p:nvPr>
        </p:nvPicPr>
        <p:blipFill>
          <a:blip r:embed="rId2"/>
          <a:stretch>
            <a:fillRect/>
          </a:stretch>
        </p:blipFill>
        <p:spPr>
          <a:xfrm>
            <a:off x="838200" y="1549832"/>
            <a:ext cx="8817077" cy="2248214"/>
          </a:xfrm>
        </p:spPr>
      </p:pic>
    </p:spTree>
    <p:extLst>
      <p:ext uri="{BB962C8B-B14F-4D97-AF65-F5344CB8AC3E}">
        <p14:creationId xmlns:p14="http://schemas.microsoft.com/office/powerpoint/2010/main" val="15924812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E5F72-60B2-8B65-D863-79D3D178A8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C136928-7884-D848-7D09-6AB5E4FE370D}"/>
              </a:ext>
            </a:extLst>
          </p:cNvPr>
          <p:cNvSpPr>
            <a:spLocks noGrp="1"/>
          </p:cNvSpPr>
          <p:nvPr>
            <p:ph idx="1"/>
          </p:nvPr>
        </p:nvSpPr>
        <p:spPr/>
        <p:txBody>
          <a:bodyPr/>
          <a:lstStyle/>
          <a:p>
            <a:pPr marL="0" indent="0">
              <a:buNone/>
            </a:pPr>
            <a:r>
              <a:rPr lang="en-US" b="1" dirty="0"/>
              <a:t>Container Border and Color</a:t>
            </a:r>
          </a:p>
          <a:p>
            <a:r>
              <a:rPr lang="en-US" dirty="0"/>
              <a:t>Other utilities, such as borders and colors, are also often used together with containers:</a:t>
            </a:r>
          </a:p>
          <a:p>
            <a:r>
              <a:rPr lang="en-US" dirty="0">
                <a:solidFill>
                  <a:srgbClr val="0000CD"/>
                </a:solidFill>
                <a:effectLst/>
              </a:rPr>
              <a:t>&lt;</a:t>
            </a:r>
            <a:r>
              <a:rPr lang="en-US" dirty="0">
                <a:solidFill>
                  <a:srgbClr val="A52A2A"/>
                </a:solidFill>
                <a:effectLst/>
              </a:rPr>
              <a:t>div</a:t>
            </a:r>
            <a:r>
              <a:rPr lang="en-US" dirty="0">
                <a:solidFill>
                  <a:srgbClr val="FF0000"/>
                </a:solidFill>
                <a:effectLst/>
              </a:rPr>
              <a:t> class</a:t>
            </a:r>
            <a:r>
              <a:rPr lang="en-US" dirty="0">
                <a:solidFill>
                  <a:srgbClr val="0000CD"/>
                </a:solidFill>
                <a:effectLst/>
              </a:rPr>
              <a:t>="container p-5 my-5 </a:t>
            </a:r>
            <a:r>
              <a:rPr lang="en-US" dirty="0" err="1">
                <a:solidFill>
                  <a:srgbClr val="0000CD"/>
                </a:solidFill>
                <a:effectLst/>
              </a:rPr>
              <a:t>bg</a:t>
            </a:r>
            <a:r>
              <a:rPr lang="en-US" dirty="0">
                <a:solidFill>
                  <a:srgbClr val="0000CD"/>
                </a:solidFill>
                <a:effectLst/>
              </a:rPr>
              <a:t>-primary text-white"&gt;&lt;</a:t>
            </a:r>
            <a:r>
              <a:rPr lang="en-US" dirty="0">
                <a:solidFill>
                  <a:srgbClr val="A52A2A"/>
                </a:solidFill>
                <a:effectLst/>
              </a:rPr>
              <a:t>/div</a:t>
            </a:r>
            <a:r>
              <a:rPr lang="en-US" dirty="0">
                <a:solidFill>
                  <a:srgbClr val="0000CD"/>
                </a:solidFill>
                <a:effectLst/>
              </a:rPr>
              <a:t>&gt;</a:t>
            </a:r>
            <a:endParaRPr lang="en-IN" dirty="0"/>
          </a:p>
        </p:txBody>
      </p:sp>
    </p:spTree>
    <p:extLst>
      <p:ext uri="{BB962C8B-B14F-4D97-AF65-F5344CB8AC3E}">
        <p14:creationId xmlns:p14="http://schemas.microsoft.com/office/powerpoint/2010/main" val="4304717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3DD90-0C6C-AD5E-CA79-DD338E8B4E8F}"/>
              </a:ext>
            </a:extLst>
          </p:cNvPr>
          <p:cNvSpPr>
            <a:spLocks noGrp="1"/>
          </p:cNvSpPr>
          <p:nvPr>
            <p:ph type="title"/>
          </p:nvPr>
        </p:nvSpPr>
        <p:spPr/>
        <p:txBody>
          <a:bodyPr/>
          <a:lstStyle/>
          <a:p>
            <a:r>
              <a:rPr lang="en-IN" b="1" dirty="0"/>
              <a:t>Bootstrap 5 Grid System</a:t>
            </a:r>
            <a:br>
              <a:rPr lang="en-IN" b="1" dirty="0"/>
            </a:br>
            <a:endParaRPr lang="en-IN" dirty="0"/>
          </a:p>
        </p:txBody>
      </p:sp>
      <p:sp>
        <p:nvSpPr>
          <p:cNvPr id="3" name="Content Placeholder 2">
            <a:extLst>
              <a:ext uri="{FF2B5EF4-FFF2-40B4-BE49-F238E27FC236}">
                <a16:creationId xmlns:a16="http://schemas.microsoft.com/office/drawing/2014/main" id="{D508264D-971F-1C8A-DA83-4D473F594276}"/>
              </a:ext>
            </a:extLst>
          </p:cNvPr>
          <p:cNvSpPr>
            <a:spLocks noGrp="1"/>
          </p:cNvSpPr>
          <p:nvPr>
            <p:ph idx="1"/>
          </p:nvPr>
        </p:nvSpPr>
        <p:spPr>
          <a:xfrm>
            <a:off x="680884" y="1253331"/>
            <a:ext cx="10515600" cy="4351338"/>
          </a:xfrm>
        </p:spPr>
        <p:txBody>
          <a:bodyPr/>
          <a:lstStyle/>
          <a:p>
            <a:endParaRPr lang="en-US" dirty="0"/>
          </a:p>
          <a:p>
            <a:r>
              <a:rPr lang="en-US" dirty="0"/>
              <a:t>Mobile-first flexbox grid to build layouts of all shapes and sizes with a twelve column system, six default responsive tiers.</a:t>
            </a:r>
          </a:p>
          <a:p>
            <a:r>
              <a:rPr lang="en-US" dirty="0"/>
              <a:t>Bootstrap's grid system is built with flexbox and allows up to 12 columns across the page.</a:t>
            </a:r>
          </a:p>
          <a:p>
            <a:r>
              <a:rPr lang="en-US" dirty="0"/>
              <a:t>If you do not want to use all 12 columns individually, you can group the columns together to create wider columns:</a:t>
            </a:r>
          </a:p>
          <a:p>
            <a:r>
              <a:rPr lang="en-US" dirty="0"/>
              <a:t>The grid system is responsive, and the columns will re-arrange automatically depending on the screen size.</a:t>
            </a:r>
            <a:endParaRPr lang="en-IN" dirty="0"/>
          </a:p>
        </p:txBody>
      </p:sp>
    </p:spTree>
    <p:extLst>
      <p:ext uri="{BB962C8B-B14F-4D97-AF65-F5344CB8AC3E}">
        <p14:creationId xmlns:p14="http://schemas.microsoft.com/office/powerpoint/2010/main" val="3322637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7DB33A-62E5-EB1A-5976-7CF19E89B6DD}"/>
              </a:ext>
            </a:extLst>
          </p:cNvPr>
          <p:cNvPicPr>
            <a:picLocks noGrp="1" noChangeAspect="1"/>
          </p:cNvPicPr>
          <p:nvPr>
            <p:ph idx="1"/>
          </p:nvPr>
        </p:nvPicPr>
        <p:blipFill>
          <a:blip r:embed="rId2"/>
          <a:stretch>
            <a:fillRect/>
          </a:stretch>
        </p:blipFill>
        <p:spPr>
          <a:xfrm>
            <a:off x="621890" y="652364"/>
            <a:ext cx="10515600" cy="2776636"/>
          </a:xfrm>
        </p:spPr>
      </p:pic>
      <p:pic>
        <p:nvPicPr>
          <p:cNvPr id="6" name="Content Placeholder 5">
            <a:extLst>
              <a:ext uri="{FF2B5EF4-FFF2-40B4-BE49-F238E27FC236}">
                <a16:creationId xmlns:a16="http://schemas.microsoft.com/office/drawing/2014/main" id="{96FB2A96-8C49-BBA4-ECD1-B1AEF272776C}"/>
              </a:ext>
            </a:extLst>
          </p:cNvPr>
          <p:cNvPicPr>
            <a:picLocks noChangeAspect="1"/>
          </p:cNvPicPr>
          <p:nvPr/>
        </p:nvPicPr>
        <p:blipFill>
          <a:blip r:embed="rId3"/>
          <a:stretch>
            <a:fillRect/>
          </a:stretch>
        </p:blipFill>
        <p:spPr>
          <a:xfrm>
            <a:off x="1341299" y="3314205"/>
            <a:ext cx="2705478" cy="3543795"/>
          </a:xfrm>
          <a:prstGeom prst="rect">
            <a:avLst/>
          </a:prstGeom>
        </p:spPr>
      </p:pic>
      <p:pic>
        <p:nvPicPr>
          <p:cNvPr id="2" name="Picture 1">
            <a:extLst>
              <a:ext uri="{FF2B5EF4-FFF2-40B4-BE49-F238E27FC236}">
                <a16:creationId xmlns:a16="http://schemas.microsoft.com/office/drawing/2014/main" id="{DBA827D5-AC0C-5E9A-56BF-E2C3CB0C664D}"/>
              </a:ext>
            </a:extLst>
          </p:cNvPr>
          <p:cNvPicPr>
            <a:picLocks noChangeAspect="1"/>
          </p:cNvPicPr>
          <p:nvPr/>
        </p:nvPicPr>
        <p:blipFill>
          <a:blip r:embed="rId4"/>
          <a:stretch>
            <a:fillRect/>
          </a:stretch>
        </p:blipFill>
        <p:spPr>
          <a:xfrm>
            <a:off x="4123116" y="4522152"/>
            <a:ext cx="7014374" cy="1242695"/>
          </a:xfrm>
          <a:prstGeom prst="rect">
            <a:avLst/>
          </a:prstGeom>
        </p:spPr>
      </p:pic>
    </p:spTree>
    <p:extLst>
      <p:ext uri="{BB962C8B-B14F-4D97-AF65-F5344CB8AC3E}">
        <p14:creationId xmlns:p14="http://schemas.microsoft.com/office/powerpoint/2010/main" val="33765719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42D67-12EE-C448-83C7-005E37DABC0B}"/>
              </a:ext>
            </a:extLst>
          </p:cNvPr>
          <p:cNvSpPr>
            <a:spLocks noGrp="1"/>
          </p:cNvSpPr>
          <p:nvPr>
            <p:ph type="title"/>
          </p:nvPr>
        </p:nvSpPr>
        <p:spPr/>
        <p:txBody>
          <a:bodyPr/>
          <a:lstStyle/>
          <a:p>
            <a:endParaRPr lang="en-IN"/>
          </a:p>
        </p:txBody>
      </p:sp>
      <p:pic>
        <p:nvPicPr>
          <p:cNvPr id="10" name="Content Placeholder 9">
            <a:extLst>
              <a:ext uri="{FF2B5EF4-FFF2-40B4-BE49-F238E27FC236}">
                <a16:creationId xmlns:a16="http://schemas.microsoft.com/office/drawing/2014/main" id="{C97687D9-822C-58EF-A5C6-43436C9C7378}"/>
              </a:ext>
            </a:extLst>
          </p:cNvPr>
          <p:cNvPicPr>
            <a:picLocks noGrp="1" noChangeAspect="1"/>
          </p:cNvPicPr>
          <p:nvPr>
            <p:ph idx="1"/>
          </p:nvPr>
        </p:nvPicPr>
        <p:blipFill>
          <a:blip r:embed="rId2"/>
          <a:stretch>
            <a:fillRect/>
          </a:stretch>
        </p:blipFill>
        <p:spPr>
          <a:xfrm>
            <a:off x="838200" y="1199535"/>
            <a:ext cx="9296963" cy="4449814"/>
          </a:xfrm>
        </p:spPr>
      </p:pic>
    </p:spTree>
    <p:extLst>
      <p:ext uri="{BB962C8B-B14F-4D97-AF65-F5344CB8AC3E}">
        <p14:creationId xmlns:p14="http://schemas.microsoft.com/office/powerpoint/2010/main" val="109564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1D3AC-4170-D93A-8BB9-95A699F115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CB3C678-34DF-5831-6098-BD879815B930}"/>
              </a:ext>
            </a:extLst>
          </p:cNvPr>
          <p:cNvSpPr>
            <a:spLocks noGrp="1"/>
          </p:cNvSpPr>
          <p:nvPr>
            <p:ph idx="1"/>
          </p:nvPr>
        </p:nvSpPr>
        <p:spPr/>
        <p:txBody>
          <a:bodyPr>
            <a:normAutofit lnSpcReduction="10000"/>
          </a:bodyPr>
          <a:lstStyle/>
          <a:p>
            <a:r>
              <a:rPr lang="en-US" b="1" dirty="0"/>
              <a:t>Our grid supports six responsive breakpoints.</a:t>
            </a:r>
          </a:p>
          <a:p>
            <a:r>
              <a:rPr lang="en-US" b="1" dirty="0"/>
              <a:t>Containers center and horizontally pad your content.</a:t>
            </a:r>
          </a:p>
          <a:p>
            <a:r>
              <a:rPr lang="en-US" b="1" dirty="0"/>
              <a:t>Rows are wrappers for columns.</a:t>
            </a:r>
            <a:r>
              <a:rPr lang="en-US" dirty="0"/>
              <a:t> </a:t>
            </a:r>
            <a:endParaRPr lang="en-US" b="1" dirty="0"/>
          </a:p>
          <a:p>
            <a:r>
              <a:rPr lang="en-US" b="1" dirty="0"/>
              <a:t>Columns are incredibly flexible.</a:t>
            </a:r>
            <a:r>
              <a:rPr lang="en-US" dirty="0"/>
              <a:t> There are 12 template columns available per row, allowing you to create different combinations of elements that span any number of columns.</a:t>
            </a:r>
            <a:endParaRPr lang="en-US" b="1" dirty="0"/>
          </a:p>
          <a:p>
            <a:r>
              <a:rPr lang="en-US" b="1" dirty="0"/>
              <a:t>Gutters are also responsive and customizable.</a:t>
            </a:r>
            <a:r>
              <a:rPr lang="en-US" dirty="0"/>
              <a:t> Gutter classes are available across all breakpoints, with all the same sizes as our margin and padding spacing. (</a:t>
            </a:r>
            <a:r>
              <a:rPr lang="en-US" sz="2200" i="1" dirty="0"/>
              <a:t>Gutters are the padding between your columns, used to responsively space and align content in the Bootstrap grid system</a:t>
            </a:r>
            <a:r>
              <a:rPr lang="en-US" dirty="0"/>
              <a:t>.)</a:t>
            </a:r>
            <a:endParaRPr lang="en-US" b="1" dirty="0"/>
          </a:p>
        </p:txBody>
      </p:sp>
    </p:spTree>
    <p:extLst>
      <p:ext uri="{BB962C8B-B14F-4D97-AF65-F5344CB8AC3E}">
        <p14:creationId xmlns:p14="http://schemas.microsoft.com/office/powerpoint/2010/main" val="6465606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739D-5FC3-273C-4EF4-6A8D792932CE}"/>
              </a:ext>
            </a:extLst>
          </p:cNvPr>
          <p:cNvSpPr>
            <a:spLocks noGrp="1"/>
          </p:cNvSpPr>
          <p:nvPr>
            <p:ph type="title"/>
          </p:nvPr>
        </p:nvSpPr>
        <p:spPr/>
        <p:txBody>
          <a:bodyPr/>
          <a:lstStyle/>
          <a:p>
            <a:r>
              <a:rPr lang="en-US" b="1" dirty="0"/>
              <a:t>BOOTSTRAP- Utilities</a:t>
            </a:r>
            <a:endParaRPr lang="en-IN" b="1" dirty="0"/>
          </a:p>
        </p:txBody>
      </p:sp>
      <p:sp>
        <p:nvSpPr>
          <p:cNvPr id="3" name="Content Placeholder 2">
            <a:extLst>
              <a:ext uri="{FF2B5EF4-FFF2-40B4-BE49-F238E27FC236}">
                <a16:creationId xmlns:a16="http://schemas.microsoft.com/office/drawing/2014/main" id="{89FC8132-58A3-BA8F-0FE5-48A67856C2FB}"/>
              </a:ext>
            </a:extLst>
          </p:cNvPr>
          <p:cNvSpPr>
            <a:spLocks noGrp="1"/>
          </p:cNvSpPr>
          <p:nvPr>
            <p:ph idx="1"/>
          </p:nvPr>
        </p:nvSpPr>
        <p:spPr/>
        <p:txBody>
          <a:bodyPr>
            <a:normAutofit fontScale="77500" lnSpcReduction="20000"/>
          </a:bodyPr>
          <a:lstStyle/>
          <a:p>
            <a:r>
              <a:rPr lang="en-US" dirty="0"/>
              <a:t>BOOTSTRAP provides a lot of utilities to make a stylish, mobile-friendly, and responsive front-end website without using any CSS code. The utility layout is used for showing, hiding, aligning, and spacing content.</a:t>
            </a:r>
          </a:p>
          <a:p>
            <a:r>
              <a:rPr lang="en-US" b="1" dirty="0"/>
              <a:t>Bootstrap 5 utilities for layout:</a:t>
            </a:r>
            <a:endParaRPr lang="en-US" dirty="0"/>
          </a:p>
          <a:p>
            <a:pPr>
              <a:buFont typeface="Arial" panose="020B0604020202020204" pitchFamily="34" charset="0"/>
              <a:buChar char="•"/>
            </a:pPr>
            <a:r>
              <a:rPr lang="en-US" b="1" dirty="0"/>
              <a:t>Changing display: </a:t>
            </a:r>
            <a:r>
              <a:rPr lang="en-US" dirty="0"/>
              <a:t>Bootstrap 5 provides some display properties for setting the display. Some display properties like set to display responsive and display toggling, etc. It can be mixed with a grid system, content, or component for a responsive output.</a:t>
            </a:r>
          </a:p>
          <a:p>
            <a:pPr>
              <a:buFont typeface="Arial" panose="020B0604020202020204" pitchFamily="34" charset="0"/>
              <a:buChar char="•"/>
            </a:pPr>
            <a:r>
              <a:rPr lang="en-US" b="1" dirty="0"/>
              <a:t>Flexbox options: </a:t>
            </a:r>
            <a:r>
              <a:rPr lang="en-US" dirty="0"/>
              <a:t>The Flexible Box Layout Module in bootstrap5 is used for designing the flexible and responsive layout structure. Most of the components are made with flexbox enabled.</a:t>
            </a:r>
          </a:p>
          <a:p>
            <a:pPr>
              <a:buFont typeface="Arial" panose="020B0604020202020204" pitchFamily="34" charset="0"/>
              <a:buChar char="•"/>
            </a:pPr>
            <a:r>
              <a:rPr lang="en-US" b="1" dirty="0"/>
              <a:t>Margin and padding: </a:t>
            </a:r>
            <a:r>
              <a:rPr lang="en-US" dirty="0"/>
              <a:t>In Bootstrap 5, we use the margin and padding (spacing) utility to set the space and size of an element. It includes a six-level scale for spacing utilities, based on a 1rem value. We can choose values for viewports or choose specific viewports.</a:t>
            </a:r>
          </a:p>
          <a:p>
            <a:pPr>
              <a:buFont typeface="Arial" panose="020B0604020202020204" pitchFamily="34" charset="0"/>
              <a:buChar char="•"/>
            </a:pPr>
            <a:r>
              <a:rPr lang="en-US" b="1" dirty="0"/>
              <a:t>Toggle visibility: </a:t>
            </a:r>
            <a:r>
              <a:rPr lang="en-US" dirty="0"/>
              <a:t>Bootstrap 5 regulates element visibility without changing display content. Invisible elements still affect the page layout but are hidden from display.</a:t>
            </a:r>
          </a:p>
          <a:p>
            <a:endParaRPr lang="en-IN" dirty="0"/>
          </a:p>
        </p:txBody>
      </p:sp>
    </p:spTree>
    <p:extLst>
      <p:ext uri="{BB962C8B-B14F-4D97-AF65-F5344CB8AC3E}">
        <p14:creationId xmlns:p14="http://schemas.microsoft.com/office/powerpoint/2010/main" val="2390552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BACE0-A317-3691-F37A-902A044F8746}"/>
              </a:ext>
            </a:extLst>
          </p:cNvPr>
          <p:cNvSpPr>
            <a:spLocks noGrp="1"/>
          </p:cNvSpPr>
          <p:nvPr>
            <p:ph type="title"/>
          </p:nvPr>
        </p:nvSpPr>
        <p:spPr>
          <a:xfrm>
            <a:off x="838200" y="79990"/>
            <a:ext cx="10515600" cy="1325563"/>
          </a:xfrm>
        </p:spPr>
        <p:txBody>
          <a:bodyPr/>
          <a:lstStyle/>
          <a:p>
            <a:r>
              <a:rPr lang="en-US" b="1" dirty="0"/>
              <a:t>BOOTSTRAP- Utilities</a:t>
            </a:r>
            <a:endParaRPr lang="en-IN" dirty="0"/>
          </a:p>
        </p:txBody>
      </p:sp>
      <p:pic>
        <p:nvPicPr>
          <p:cNvPr id="7" name="Content Placeholder 6">
            <a:extLst>
              <a:ext uri="{FF2B5EF4-FFF2-40B4-BE49-F238E27FC236}">
                <a16:creationId xmlns:a16="http://schemas.microsoft.com/office/drawing/2014/main" id="{09DD28BC-1E31-FFD2-645B-239C196C5427}"/>
              </a:ext>
            </a:extLst>
          </p:cNvPr>
          <p:cNvPicPr>
            <a:picLocks noGrp="1" noChangeAspect="1"/>
          </p:cNvPicPr>
          <p:nvPr>
            <p:ph idx="1"/>
          </p:nvPr>
        </p:nvPicPr>
        <p:blipFill>
          <a:blip r:embed="rId2"/>
          <a:stretch>
            <a:fillRect/>
          </a:stretch>
        </p:blipFill>
        <p:spPr>
          <a:xfrm>
            <a:off x="648929" y="1199536"/>
            <a:ext cx="9723031" cy="5283507"/>
          </a:xfrm>
        </p:spPr>
      </p:pic>
    </p:spTree>
    <p:extLst>
      <p:ext uri="{BB962C8B-B14F-4D97-AF65-F5344CB8AC3E}">
        <p14:creationId xmlns:p14="http://schemas.microsoft.com/office/powerpoint/2010/main" val="3717205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50C2-0E4C-7F35-860D-E7642B5F0E1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3095B1E-2A4A-9DCC-78EF-7FE6D851A283}"/>
              </a:ext>
            </a:extLst>
          </p:cNvPr>
          <p:cNvPicPr>
            <a:picLocks noGrp="1" noChangeAspect="1"/>
          </p:cNvPicPr>
          <p:nvPr>
            <p:ph idx="1"/>
          </p:nvPr>
        </p:nvPicPr>
        <p:blipFill>
          <a:blip r:embed="rId2"/>
          <a:stretch>
            <a:fillRect/>
          </a:stretch>
        </p:blipFill>
        <p:spPr>
          <a:xfrm>
            <a:off x="1133429" y="1690687"/>
            <a:ext cx="5857306" cy="2773157"/>
          </a:xfrm>
        </p:spPr>
      </p:pic>
    </p:spTree>
    <p:extLst>
      <p:ext uri="{BB962C8B-B14F-4D97-AF65-F5344CB8AC3E}">
        <p14:creationId xmlns:p14="http://schemas.microsoft.com/office/powerpoint/2010/main" val="18041395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1940"/>
            <a:ext cx="10515600" cy="5895340"/>
          </a:xfrm>
        </p:spPr>
        <p:txBody>
          <a:bodyPr>
            <a:noAutofit/>
          </a:bodyPr>
          <a:lstStyle/>
          <a:p>
            <a:pPr marL="0" indent="0">
              <a:buNone/>
            </a:pPr>
            <a:r>
              <a:rPr lang="en-US" sz="2000" u="sng" dirty="0">
                <a:latin typeface="Times New Roman" panose="02020603050405020304" charset="0"/>
                <a:cs typeface="Times New Roman" panose="02020603050405020304" charset="0"/>
              </a:rPr>
              <a:t>Horizontal centering</a:t>
            </a:r>
          </a:p>
          <a:p>
            <a:r>
              <a:rPr lang="en-US" sz="2000" dirty="0">
                <a:latin typeface="Times New Roman" panose="02020603050405020304" charset="0"/>
                <a:cs typeface="Times New Roman" panose="02020603050405020304" charset="0"/>
              </a:rPr>
              <a:t>Additionally, Bootstrap also includes an .mx-auto class for horizontally centering fixed-width block level content—that is, content that has display: block and a width set—by setting the horizontal margins to auto.</a:t>
            </a:r>
          </a:p>
          <a:p>
            <a:pPr marL="0" indent="457200">
              <a:buNone/>
            </a:pPr>
            <a:r>
              <a:rPr lang="en-US" sz="2000" dirty="0">
                <a:latin typeface="Times New Roman" panose="02020603050405020304" charset="0"/>
                <a:cs typeface="Times New Roman" panose="02020603050405020304" charset="0"/>
              </a:rPr>
              <a:t>&lt;div class="mx-auto" style="width: 200px;"&gt;</a:t>
            </a:r>
          </a:p>
          <a:p>
            <a:pPr marL="0" indent="0">
              <a:buNone/>
            </a:pPr>
            <a:r>
              <a:rPr lang="en-US" sz="2000" dirty="0">
                <a:latin typeface="Times New Roman" panose="02020603050405020304" charset="0"/>
                <a:cs typeface="Times New Roman" panose="02020603050405020304" charset="0"/>
              </a:rPr>
              <a:t>  </a:t>
            </a:r>
            <a:r>
              <a:rPr lang="en-IN" altLang="en-US" sz="2000" dirty="0">
                <a:latin typeface="Times New Roman" panose="02020603050405020304" charset="0"/>
                <a:cs typeface="Times New Roman" panose="02020603050405020304" charset="0"/>
              </a:rPr>
              <a:t>		</a:t>
            </a:r>
            <a:r>
              <a:rPr lang="en-US" sz="2000" dirty="0">
                <a:latin typeface="Times New Roman" panose="02020603050405020304" charset="0"/>
                <a:cs typeface="Times New Roman" panose="02020603050405020304" charset="0"/>
              </a:rPr>
              <a:t>Centered element</a:t>
            </a:r>
          </a:p>
          <a:p>
            <a:pPr marL="0" indent="457200">
              <a:buNone/>
            </a:pPr>
            <a:r>
              <a:rPr lang="en-US" sz="2000" dirty="0">
                <a:latin typeface="Times New Roman" panose="02020603050405020304" charset="0"/>
                <a:cs typeface="Times New Roman" panose="02020603050405020304" charset="0"/>
              </a:rPr>
              <a:t>&lt;/div&gt;</a:t>
            </a:r>
          </a:p>
          <a:p>
            <a:pPr marL="0" indent="457200">
              <a:buNone/>
            </a:pPr>
            <a:r>
              <a:rPr lang="en-US" sz="2000" u="sng" dirty="0">
                <a:latin typeface="Times New Roman" panose="02020603050405020304" charset="0"/>
                <a:cs typeface="Times New Roman" panose="02020603050405020304" charset="0"/>
              </a:rPr>
              <a:t>Negative margin</a:t>
            </a:r>
          </a:p>
          <a:p>
            <a:pPr marL="0" indent="457200">
              <a:buNone/>
            </a:pPr>
            <a:r>
              <a:rPr lang="en-US" sz="2000" dirty="0">
                <a:latin typeface="Times New Roman" panose="02020603050405020304" charset="0"/>
                <a:cs typeface="Times New Roman" panose="02020603050405020304" charset="0"/>
              </a:rPr>
              <a:t>In CSS, margin properties can utilize negative values (padding cannot). These negative margins are disabled by default, but can be enabled in Sass by setting $enable-negative-margins: true.</a:t>
            </a:r>
          </a:p>
          <a:p>
            <a:pPr marL="0" indent="457200">
              <a:buNone/>
            </a:pPr>
            <a:endParaRPr lang="en-US" sz="2000" dirty="0">
              <a:latin typeface="Times New Roman" panose="02020603050405020304" charset="0"/>
              <a:cs typeface="Times New Roman" panose="02020603050405020304" charset="0"/>
            </a:endParaRPr>
          </a:p>
          <a:p>
            <a:pPr marL="0" indent="457200">
              <a:buNone/>
            </a:pPr>
            <a:r>
              <a:rPr lang="en-US" sz="2000" dirty="0">
                <a:latin typeface="Times New Roman" panose="02020603050405020304" charset="0"/>
                <a:cs typeface="Times New Roman" panose="02020603050405020304" charset="0"/>
              </a:rPr>
              <a:t>The syntax is nearly the same as the default, positive margin utilities, but with the addition of n before the requested size. Here’s an example class that’s the opposite of .mt-1:</a:t>
            </a:r>
          </a:p>
          <a:p>
            <a:pPr marL="0" indent="457200">
              <a:buNone/>
            </a:pPr>
            <a:endParaRPr lang="en-US" sz="2000" dirty="0">
              <a:latin typeface="Times New Roman" panose="02020603050405020304" charset="0"/>
              <a:cs typeface="Times New Roman" panose="02020603050405020304" charset="0"/>
            </a:endParaRPr>
          </a:p>
          <a:p>
            <a:pPr marL="0" indent="457200">
              <a:buNone/>
            </a:pPr>
            <a:r>
              <a:rPr lang="en-US" sz="2000" dirty="0">
                <a:latin typeface="Times New Roman" panose="02020603050405020304" charset="0"/>
                <a:cs typeface="Times New Roman" panose="02020603050405020304" charset="0"/>
              </a:rPr>
              <a:t>.mt-n1 {</a:t>
            </a:r>
          </a:p>
          <a:p>
            <a:pPr marL="0" indent="457200">
              <a:buNone/>
            </a:pPr>
            <a:r>
              <a:rPr lang="en-US" sz="2000" dirty="0">
                <a:latin typeface="Times New Roman" panose="02020603050405020304" charset="0"/>
                <a:cs typeface="Times New Roman" panose="02020603050405020304" charset="0"/>
              </a:rPr>
              <a:t>  margin-top: -0.25rem !important;</a:t>
            </a:r>
          </a:p>
          <a:p>
            <a:pPr marL="0" indent="457200">
              <a:buNone/>
            </a:pPr>
            <a:r>
              <a:rPr lang="en-US" sz="2000" dirty="0">
                <a:latin typeface="Times New Roman" panose="02020603050405020304" charset="0"/>
                <a:cs typeface="Times New Roman" panose="02020603050405020304" charset="0"/>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I</a:t>
            </a:r>
            <a:r>
              <a:rPr lang="en-US"/>
              <a:t>mportance in interface design</a:t>
            </a:r>
          </a:p>
        </p:txBody>
      </p:sp>
      <p:sp>
        <p:nvSpPr>
          <p:cNvPr id="3" name="Content Placeholder 2"/>
          <p:cNvSpPr>
            <a:spLocks noGrp="1"/>
          </p:cNvSpPr>
          <p:nvPr>
            <p:ph idx="1"/>
          </p:nvPr>
        </p:nvSpPr>
        <p:spPr/>
        <p:txBody>
          <a:bodyPr>
            <a:normAutofit fontScale="97500" lnSpcReduction="10000"/>
          </a:bodyPr>
          <a:lstStyle/>
          <a:p>
            <a:r>
              <a:rPr lang="en-US"/>
              <a:t>The user interface design is important because it influences how people interact with your product to achieve their goals and satisfy their needs.</a:t>
            </a:r>
          </a:p>
          <a:p>
            <a:endParaRPr lang="en-US"/>
          </a:p>
          <a:p>
            <a:pPr marL="0" indent="0">
              <a:buNone/>
            </a:pPr>
            <a:r>
              <a:rPr lang="en-US"/>
              <a:t>What is a User Interface?</a:t>
            </a:r>
          </a:p>
          <a:p>
            <a:r>
              <a:rPr lang="en-US"/>
              <a:t>Simply put, the User Interface is the place for user-computer interaction and communication. For a website, it is the link between users and a website.</a:t>
            </a:r>
          </a:p>
          <a:p>
            <a:r>
              <a:rPr lang="en-US"/>
              <a:t>User interface refers to those qualities which make a website, application, or software easily accessible for users. </a:t>
            </a:r>
          </a:p>
          <a:p>
            <a:r>
              <a:rPr lang="en-US"/>
              <a:t>User Interface is not just the look and feel, but much more than that.</a:t>
            </a:r>
          </a:p>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4685"/>
            <a:ext cx="10515600" cy="5522595"/>
          </a:xfrm>
        </p:spPr>
        <p:txBody>
          <a:bodyPr>
            <a:normAutofit lnSpcReduction="10000"/>
          </a:bodyPr>
          <a:lstStyle/>
          <a:p>
            <a:r>
              <a:rPr lang="en-US">
                <a:sym typeface="+mn-ea"/>
              </a:rPr>
              <a:t> It’s a combination of attributes and features that your website or software provides. </a:t>
            </a:r>
          </a:p>
          <a:p>
            <a:r>
              <a:rPr lang="en-US">
                <a:sym typeface="+mn-ea"/>
              </a:rPr>
              <a:t>A good User interface is a combination of design, good human-computer interaction, appealing graphics, organized layout, proper screen fit, and good typography among other characteristics.</a:t>
            </a:r>
          </a:p>
          <a:p>
            <a:r>
              <a:rPr lang="en-US"/>
              <a:t>In general, UI is further divided into three sub-categories:</a:t>
            </a:r>
          </a:p>
          <a:p>
            <a:endParaRPr lang="en-US"/>
          </a:p>
          <a:p>
            <a:pPr marL="0" indent="0">
              <a:buNone/>
            </a:pPr>
            <a:r>
              <a:rPr lang="en-IN" altLang="en-US">
                <a:highlight>
                  <a:srgbClr val="FFFF00"/>
                </a:highlight>
              </a:rPr>
              <a:t>1. </a:t>
            </a:r>
            <a:r>
              <a:rPr lang="en-US">
                <a:highlight>
                  <a:srgbClr val="FFFF00"/>
                </a:highlight>
              </a:rPr>
              <a:t>Graphical control Interfaces </a:t>
            </a:r>
            <a:r>
              <a:rPr lang="en-US"/>
              <a:t>such as the desktop operating systems and mobile operating systems that use GUI.</a:t>
            </a:r>
          </a:p>
          <a:p>
            <a:pPr marL="0" indent="0">
              <a:buNone/>
            </a:pPr>
            <a:r>
              <a:rPr lang="en-IN" altLang="en-US">
                <a:highlight>
                  <a:srgbClr val="FFFF00"/>
                </a:highlight>
              </a:rPr>
              <a:t>2. </a:t>
            </a:r>
            <a:r>
              <a:rPr lang="en-US">
                <a:highlight>
                  <a:srgbClr val="FFFF00"/>
                </a:highlight>
              </a:rPr>
              <a:t>Voice-controlled interfaces </a:t>
            </a:r>
            <a:r>
              <a:rPr lang="en-US"/>
              <a:t>smart assistants like Siri, Alexa, and google assistance interact with humans with artificial voice.</a:t>
            </a:r>
          </a:p>
          <a:p>
            <a:pPr marL="0" indent="0">
              <a:buNone/>
            </a:pPr>
            <a:r>
              <a:rPr lang="en-IN" altLang="en-US">
                <a:highlight>
                  <a:srgbClr val="FFFF00"/>
                </a:highlight>
              </a:rPr>
              <a:t>3. </a:t>
            </a:r>
            <a:r>
              <a:rPr lang="en-US">
                <a:highlight>
                  <a:srgbClr val="FFFF00"/>
                </a:highlight>
              </a:rPr>
              <a:t>Gesture-based interfaces</a:t>
            </a:r>
            <a:r>
              <a:rPr lang="en-US"/>
              <a:t> are the most recent type and include 3-D design spaces, VR games, etc.</a:t>
            </a:r>
          </a:p>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What is the Importance of User Interface?</a:t>
            </a:r>
            <a:endParaRPr lang="en-US"/>
          </a:p>
        </p:txBody>
      </p:sp>
      <p:sp>
        <p:nvSpPr>
          <p:cNvPr id="3" name="Content Placeholder 2"/>
          <p:cNvSpPr>
            <a:spLocks noGrp="1"/>
          </p:cNvSpPr>
          <p:nvPr>
            <p:ph idx="1"/>
          </p:nvPr>
        </p:nvSpPr>
        <p:spPr>
          <a:xfrm>
            <a:off x="838200" y="1487170"/>
            <a:ext cx="10515600" cy="4690110"/>
          </a:xfrm>
        </p:spPr>
        <p:txBody>
          <a:bodyPr/>
          <a:lstStyle/>
          <a:p>
            <a:r>
              <a:rPr lang="en-US"/>
              <a:t>The user interface not only serves one but many purposes for a successful website application such as handling traffic, attracting visitors, linking seamlessly with users’ needs, helping visitors understand the overall website, and other technical features.</a:t>
            </a:r>
          </a:p>
          <a:p>
            <a:pPr marL="0" indent="0">
              <a:buNone/>
            </a:pPr>
            <a:r>
              <a:rPr lang="en-IN" altLang="en-US"/>
              <a:t>1. To build confidence and acquire new customers.</a:t>
            </a:r>
          </a:p>
          <a:p>
            <a:pPr marL="0" indent="0">
              <a:buNone/>
            </a:pPr>
            <a:r>
              <a:rPr lang="en-IN" altLang="en-US"/>
              <a:t>2. To increase customer conversion.</a:t>
            </a:r>
          </a:p>
          <a:p>
            <a:pPr marL="0" indent="0">
              <a:buNone/>
            </a:pPr>
            <a:r>
              <a:rPr lang="en-IN" altLang="en-US"/>
              <a:t>3. To reduce confusion and boost customer retention.</a:t>
            </a:r>
          </a:p>
          <a:p>
            <a:endParaRPr lang="en-I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a:sym typeface="+mn-ea"/>
              </a:rPr>
              <a:t>1. </a:t>
            </a:r>
            <a:r>
              <a:rPr lang="en-IN" altLang="en-US">
                <a:latin typeface="Times New Roman" panose="02020603050405020304" charset="0"/>
                <a:cs typeface="Times New Roman" panose="02020603050405020304" charset="0"/>
                <a:sym typeface="+mn-ea"/>
              </a:rPr>
              <a:t>To build confidence and acquire new customers</a:t>
            </a:r>
            <a:endParaRPr lang="en-US">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a:bodyPr>
          <a:lstStyle/>
          <a:p>
            <a:r>
              <a:rPr lang="en-IN" altLang="en-US" dirty="0">
                <a:latin typeface="Times New Roman" panose="02020603050405020304" charset="0"/>
                <a:cs typeface="Times New Roman" panose="02020603050405020304" charset="0"/>
                <a:sym typeface="+mn-ea"/>
              </a:rPr>
              <a:t>A quality user interface builds a confident environment throughout your website that users find trustworthy. </a:t>
            </a:r>
            <a:endParaRPr lang="en-IN" altLang="en-US" dirty="0">
              <a:latin typeface="Times New Roman" panose="02020603050405020304" charset="0"/>
              <a:cs typeface="Times New Roman" panose="02020603050405020304" charset="0"/>
            </a:endParaRPr>
          </a:p>
          <a:p>
            <a:r>
              <a:rPr lang="en-IN" altLang="en-US" dirty="0">
                <a:latin typeface="Times New Roman" panose="02020603050405020304" charset="0"/>
                <a:cs typeface="Times New Roman" panose="02020603050405020304" charset="0"/>
                <a:sym typeface="+mn-ea"/>
              </a:rPr>
              <a:t>Customers are automatically attracted to a website that is well designed, easy to navigate, delivers the right information.</a:t>
            </a:r>
          </a:p>
          <a:p>
            <a:r>
              <a:rPr lang="en-US" dirty="0">
                <a:latin typeface="Times New Roman" panose="02020603050405020304" charset="0"/>
                <a:cs typeface="Times New Roman" panose="02020603050405020304" charset="0"/>
              </a:rPr>
              <a:t>The competition is always high, and competitors are trying hard to improve user interface and design to attract the same audience you are working hard to impress.</a:t>
            </a:r>
          </a:p>
          <a:p>
            <a:r>
              <a:rPr lang="en-US" dirty="0">
                <a:latin typeface="Times New Roman" panose="02020603050405020304" charset="0"/>
                <a:cs typeface="Times New Roman" panose="02020603050405020304" charset="0"/>
              </a:rPr>
              <a:t> Having a good user experience keeps your website a step ahead of competitors and helps you stand out for your audience.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600" b="1"/>
              <a:t>2. </a:t>
            </a:r>
            <a:r>
              <a:rPr lang="en-IN" altLang="en-US" sz="3600" b="1">
                <a:sym typeface="+mn-ea"/>
              </a:rPr>
              <a:t>To increase customer conversion</a:t>
            </a:r>
            <a:endParaRPr lang="en-IN" altLang="en-US" sz="3600" b="1"/>
          </a:p>
        </p:txBody>
      </p:sp>
      <p:sp>
        <p:nvSpPr>
          <p:cNvPr id="3" name="Content Placeholder 2"/>
          <p:cNvSpPr>
            <a:spLocks noGrp="1"/>
          </p:cNvSpPr>
          <p:nvPr>
            <p:ph idx="1"/>
          </p:nvPr>
        </p:nvSpPr>
        <p:spPr/>
        <p:txBody>
          <a:bodyPr>
            <a:normAutofit/>
          </a:bodyPr>
          <a:lstStyle/>
          <a:p>
            <a:r>
              <a:rPr lang="en-IN" altLang="en-US">
                <a:latin typeface="Times New Roman" panose="02020603050405020304" charset="0"/>
                <a:cs typeface="Times New Roman" panose="02020603050405020304" charset="0"/>
              </a:rPr>
              <a:t>U</a:t>
            </a:r>
            <a:r>
              <a:rPr lang="en-US">
                <a:latin typeface="Times New Roman" panose="02020603050405020304" charset="0"/>
                <a:cs typeface="Times New Roman" panose="02020603050405020304" charset="0"/>
              </a:rPr>
              <a:t>ser interface design is one of the main ways to increase traffic to your website. </a:t>
            </a:r>
          </a:p>
          <a:p>
            <a:r>
              <a:rPr lang="en-US">
                <a:latin typeface="Times New Roman" panose="02020603050405020304" charset="0"/>
                <a:cs typeface="Times New Roman" panose="02020603050405020304" charset="0"/>
              </a:rPr>
              <a:t>A good UI design captivates your visitors and persuades them to stay longer on your site. </a:t>
            </a:r>
          </a:p>
          <a:p>
            <a:r>
              <a:rPr lang="en-US">
                <a:latin typeface="Times New Roman" panose="02020603050405020304" charset="0"/>
                <a:cs typeface="Times New Roman" panose="02020603050405020304" charset="0"/>
              </a:rPr>
              <a:t> A good UI design is an intelligent interface that can assist visitors to buy your products and also provide a great user experience. </a:t>
            </a:r>
          </a:p>
          <a:p>
            <a:r>
              <a:rPr lang="en-US">
                <a:latin typeface="Times New Roman" panose="02020603050405020304" charset="0"/>
                <a:cs typeface="Times New Roman" panose="02020603050405020304" charset="0"/>
              </a:rPr>
              <a:t>Since visitors are impressed by an impactful website, there’s a higher chance that they’ll turn into a customer and go on to recommend your website to others, which is free mouth-to-mouth advertising for your website.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a:t>3. </a:t>
            </a:r>
            <a:r>
              <a:rPr lang="en-IN" altLang="en-US">
                <a:latin typeface="Times New Roman" panose="02020603050405020304" charset="0"/>
                <a:cs typeface="Times New Roman" panose="02020603050405020304" charset="0"/>
              </a:rPr>
              <a:t>To reduce confusion and boost customer retention</a:t>
            </a:r>
          </a:p>
        </p:txBody>
      </p:sp>
      <p:sp>
        <p:nvSpPr>
          <p:cNvPr id="3" name="Content Placeholder 2"/>
          <p:cNvSpPr>
            <a:spLocks noGrp="1"/>
          </p:cNvSpPr>
          <p:nvPr>
            <p:ph idx="1"/>
          </p:nvPr>
        </p:nvSpPr>
        <p:spPr/>
        <p:txBody>
          <a:bodyPr>
            <a:normAutofit fontScale="92500"/>
          </a:bodyPr>
          <a:lstStyle/>
          <a:p>
            <a:r>
              <a:rPr lang="en-US">
                <a:latin typeface="Times New Roman" panose="02020603050405020304" charset="0"/>
                <a:cs typeface="Times New Roman" panose="02020603050405020304" charset="0"/>
              </a:rPr>
              <a:t>The purpose of UI is to make a website as user-friendly as possible.</a:t>
            </a:r>
          </a:p>
          <a:p>
            <a:r>
              <a:rPr lang="en-US">
                <a:latin typeface="Times New Roman" panose="02020603050405020304" charset="0"/>
                <a:cs typeface="Times New Roman" panose="02020603050405020304" charset="0"/>
              </a:rPr>
              <a:t> If a website has a disproportionate setup, poor color contrast, unnecessary pop-ups, and haphazard grouping of tools it will be confusing for visitors to move ahead in the website. </a:t>
            </a:r>
          </a:p>
          <a:p>
            <a:r>
              <a:rPr lang="en-US">
                <a:latin typeface="Times New Roman" panose="02020603050405020304" charset="0"/>
                <a:cs typeface="Times New Roman" panose="02020603050405020304" charset="0"/>
              </a:rPr>
              <a:t>UI designers ensure that a website is tidy, organized, appealing, and problem-solving. </a:t>
            </a:r>
          </a:p>
          <a:p>
            <a:r>
              <a:rPr lang="en-US">
                <a:latin typeface="Times New Roman" panose="02020603050405020304" charset="0"/>
                <a:cs typeface="Times New Roman" panose="02020603050405020304" charset="0"/>
              </a:rPr>
              <a:t>This will attract more customers and result in better conversion rates. Customers who like your website will be loyal to your brand. </a:t>
            </a:r>
          </a:p>
          <a:p>
            <a:r>
              <a:rPr lang="en-US">
                <a:latin typeface="Times New Roman" panose="02020603050405020304" charset="0"/>
                <a:cs typeface="Times New Roman" panose="02020603050405020304" charset="0"/>
              </a:rPr>
              <a:t>With a better SEO, your website will further improve in reaching a greater audience that will boost traffic and maximize customer retention.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10515600" cy="1325563"/>
          </a:xfrm>
        </p:spPr>
        <p:txBody>
          <a:bodyPr/>
          <a:lstStyle/>
          <a:p>
            <a:r>
              <a:rPr lang="en-US"/>
              <a:t>Small Interface Pieces, Loosely Joined</a:t>
            </a:r>
          </a:p>
        </p:txBody>
      </p:sp>
      <p:pic>
        <p:nvPicPr>
          <p:cNvPr id="4" name="Content Placeholder 3"/>
          <p:cNvPicPr>
            <a:picLocks noGrp="1" noChangeAspect="1"/>
          </p:cNvPicPr>
          <p:nvPr>
            <p:ph idx="1"/>
          </p:nvPr>
        </p:nvPicPr>
        <p:blipFill>
          <a:blip r:embed="rId2"/>
          <a:stretch>
            <a:fillRect/>
          </a:stretch>
        </p:blipFill>
        <p:spPr>
          <a:xfrm>
            <a:off x="838835" y="885190"/>
            <a:ext cx="10734675" cy="58616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2697</TotalTime>
  <Words>4620</Words>
  <Application>Microsoft Office PowerPoint</Application>
  <PresentationFormat>Widescreen</PresentationFormat>
  <Paragraphs>319</Paragraphs>
  <Slides>64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Arial</vt:lpstr>
      <vt:lpstr>Arial Unicode MS</vt:lpstr>
      <vt:lpstr>Calibri</vt:lpstr>
      <vt:lpstr>Calibri Light</vt:lpstr>
      <vt:lpstr>Times New Roman</vt:lpstr>
      <vt:lpstr>Wingdings</vt:lpstr>
      <vt:lpstr>Office Theme</vt:lpstr>
      <vt:lpstr>CXT 401  USER INTERFACE SOFTWARE &amp; TECHNOLOGY</vt:lpstr>
      <vt:lpstr>PowerPoint Presentation</vt:lpstr>
      <vt:lpstr> Introduction </vt:lpstr>
      <vt:lpstr> Introduction </vt:lpstr>
      <vt:lpstr>PowerPoint Presentation</vt:lpstr>
      <vt:lpstr>A Means to an End</vt:lpstr>
      <vt:lpstr>A Means to an End</vt:lpstr>
      <vt:lpstr>A Means to an End</vt:lpstr>
      <vt:lpstr>A Means to an End</vt:lpstr>
      <vt:lpstr>The Basics of User Research</vt:lpstr>
      <vt:lpstr>The Basics of User Research</vt:lpstr>
      <vt:lpstr>The Basics of User Research</vt:lpstr>
      <vt:lpstr>PowerPoint Presentation</vt:lpstr>
      <vt:lpstr>The Basics of User Research-METHODS </vt:lpstr>
      <vt:lpstr>The Basics of User Research-METHODS </vt:lpstr>
      <vt:lpstr>The Basics of User Research-METHODS</vt:lpstr>
      <vt:lpstr>Users’ Motivation to Learn</vt:lpstr>
      <vt:lpstr>Users’ Motivation to Learn</vt:lpstr>
      <vt:lpstr>Users’ Motivation to Learn</vt:lpstr>
      <vt:lpstr>Users’ Motivation to Learn</vt:lpstr>
      <vt:lpstr>Users’ Motivation to Learn</vt:lpstr>
      <vt:lpstr>The Patterns</vt:lpstr>
      <vt:lpstr>The Patterns</vt:lpstr>
      <vt:lpstr>Safe Exploration</vt:lpstr>
      <vt:lpstr>Safe Exploration</vt:lpstr>
      <vt:lpstr>Safe Exploration</vt:lpstr>
      <vt:lpstr>Instant Gratification</vt:lpstr>
      <vt:lpstr>Instant Gratification</vt:lpstr>
      <vt:lpstr>Satisficing</vt:lpstr>
      <vt:lpstr>Satisficing</vt:lpstr>
      <vt:lpstr>Satisficing</vt:lpstr>
      <vt:lpstr>Habituation</vt:lpstr>
      <vt:lpstr>Habituation</vt:lpstr>
      <vt:lpstr>Streamlined Repetition</vt:lpstr>
      <vt:lpstr>Streamlined Repetition</vt:lpstr>
      <vt:lpstr>Streamlined Repetition</vt:lpstr>
      <vt:lpstr>BOOTSTRAP</vt:lpstr>
      <vt:lpstr>Bootstrap 5</vt:lpstr>
      <vt:lpstr>Advantages of Bootstrap: </vt:lpstr>
      <vt:lpstr>Create Your First Web Page With Bootstrap 5 </vt:lpstr>
      <vt:lpstr>PowerPoint Presentation</vt:lpstr>
      <vt:lpstr>Breakpoints </vt:lpstr>
      <vt:lpstr>Breakpoints </vt:lpstr>
      <vt:lpstr>Containers </vt:lpstr>
      <vt:lpstr>PowerPoint Presentation</vt:lpstr>
      <vt:lpstr>PowerPoint Presentation</vt:lpstr>
      <vt:lpstr>Responsive Container</vt:lpstr>
      <vt:lpstr>PowerPoint Presentation</vt:lpstr>
      <vt:lpstr>PowerPoint Presentation</vt:lpstr>
      <vt:lpstr>Bootstrap 5 Grid System </vt:lpstr>
      <vt:lpstr>PowerPoint Presentation</vt:lpstr>
      <vt:lpstr>PowerPoint Presentation</vt:lpstr>
      <vt:lpstr>PowerPoint Presentation</vt:lpstr>
      <vt:lpstr>BOOTSTRAP- Utilities</vt:lpstr>
      <vt:lpstr>BOOTSTRAP- Utilities</vt:lpstr>
      <vt:lpstr>PowerPoint Presentation</vt:lpstr>
      <vt:lpstr>PowerPoint Presentation</vt:lpstr>
      <vt:lpstr>Importance in interface design</vt:lpstr>
      <vt:lpstr>PowerPoint Presentation</vt:lpstr>
      <vt:lpstr>What is the Importance of User Interface?</vt:lpstr>
      <vt:lpstr>1. To build confidence and acquire new customers</vt:lpstr>
      <vt:lpstr>2. To increase customer conversion</vt:lpstr>
      <vt:lpstr>3. To reduce confusion and boost customer retention</vt:lpstr>
      <vt:lpstr>Small Interface Pieces, Loosely Joined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HONEY JOHN</dc:creator>
  <cp:lastModifiedBy>HONEY JOHN</cp:lastModifiedBy>
  <cp:revision>24</cp:revision>
  <dcterms:created xsi:type="dcterms:W3CDTF">2024-07-21T10:26:11Z</dcterms:created>
  <dcterms:modified xsi:type="dcterms:W3CDTF">2024-08-08T10:44:22Z</dcterms:modified>
</cp:coreProperties>
</file>