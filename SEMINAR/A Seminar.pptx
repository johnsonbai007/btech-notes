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61" r:id="rId3"/>
    <p:sldId id="258" r:id="rId4"/>
    <p:sldId id="259" r:id="rId5"/>
    <p:sldId id="262" r:id="rId6"/>
    <p:sldId id="284" r:id="rId7"/>
    <p:sldId id="283" r:id="rId8"/>
    <p:sldId id="265" r:id="rId9"/>
    <p:sldId id="285" r:id="rId10"/>
    <p:sldId id="286" r:id="rId11"/>
    <p:sldId id="263" r:id="rId12"/>
    <p:sldId id="280" r:id="rId13"/>
    <p:sldId id="264" r:id="rId14"/>
    <p:sldId id="266" r:id="rId15"/>
    <p:sldId id="267" r:id="rId16"/>
    <p:sldId id="270" r:id="rId17"/>
    <p:sldId id="273" r:id="rId18"/>
    <p:sldId id="260" r:id="rId19"/>
    <p:sldId id="276" r:id="rId20"/>
    <p:sldId id="279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5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78" y="62"/>
      </p:cViewPr>
      <p:guideLst>
        <p:guide orient="horz" pos="2160"/>
        <p:guide pos="385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8176CF-9DD3-4DE0-89F8-79ED43C86D45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223677-CBF2-40B9-800B-6D36A31BB3EF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23677-CBF2-40B9-800B-6D36A31BB3E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384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0604B-3484-4BE6-AA97-948C6FE64399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3B5A-DAA1-4E78-A57C-F10A8FF9CB4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945C7-1EB5-4187-9F33-B7CB34B58943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3B5A-DAA1-4E78-A57C-F10A8FF9CB4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E4E81-6704-404F-88C5-A5CC0B0F6B96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3B5A-DAA1-4E78-A57C-F10A8FF9CB4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492CC-66E4-4A94-ABD3-F64CA2E399CC}" type="datetime1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3B5A-DAA1-4E78-A57C-F10A8FF9CB4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A463D-9188-4068-BDAC-44393107B686}" type="datetime1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3B5A-DAA1-4E78-A57C-F10A8FF9CB4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597B6-FDF5-4693-A3F2-4208E6C1FC32}" type="datetime1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3B5A-DAA1-4E78-A57C-F10A8FF9CB4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0FBE3-E910-4017-B7B3-CC87A5C8B764}" type="datetime1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3B5A-DAA1-4E78-A57C-F10A8FF9CB4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F96E716-72B6-4C9F-AA28-06815E22DBFA}" type="datetime1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F13B5A-DAA1-4E78-A57C-F10A8FF9CB4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EC1AD-616C-495F-A78B-F304C66BD470}" type="datetime1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3B5A-DAA1-4E78-A57C-F10A8FF9CB4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DDE3-9D1C-42F0-9FA3-23ED591365B4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3B5A-DAA1-4E78-A57C-F10A8FF9CB4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4E800-7079-4823-9C6F-E6480CC8C562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3B5A-DAA1-4E78-A57C-F10A8FF9CB4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CBEC8C2-90A1-49B6-A81D-08C652EC24F9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7F13B5A-DAA1-4E78-A57C-F10A8FF9CB43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SEMINAR ON </a:t>
            </a:r>
            <a:b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IoT-Driven Machine Learning for Precision Viticulture Optimization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1347588" cy="1571554"/>
          </a:xfrm>
        </p:spPr>
        <p:txBody>
          <a:bodyPr>
            <a:normAutofit lnSpcReduction="10000"/>
          </a:bodyPr>
          <a:lstStyle/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OF,		                         </a:t>
            </a:r>
            <a:r>
              <a:rPr lang="en-IN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IN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JOHNSON V MATHEW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MRS.NEENU SHEREEF		                                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S7 CG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PROFESSOR,CG  			          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Roll NO : 35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3B5A-DAA1-4E78-A57C-F10A8FF9CB43}" type="slidenum">
              <a:rPr lang="en-US" smtClean="0"/>
              <a:t>1</a:t>
            </a:fld>
            <a:r>
              <a:rPr lang="en-US" dirty="0"/>
              <a:t>/20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3B5A-DAA1-4E78-A57C-F10A8FF9CB43}" type="slidenum">
              <a:rPr lang="en-US" smtClean="0"/>
              <a:t>2</a:t>
            </a:fld>
            <a:r>
              <a:rPr lang="en-US" dirty="0"/>
              <a:t>/20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sz="half" idx="2"/>
          </p:nvPr>
        </p:nvSpPr>
        <p:spPr bwMode="auto">
          <a:xfrm>
            <a:off x="1301637" y="2072789"/>
            <a:ext cx="3348994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Related Works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Precision Agriculture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 Diagram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Frost Prediction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Soil Moisture Prediction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sz="quarter" idx="4"/>
          </p:nvPr>
        </p:nvSpPr>
        <p:spPr bwMode="auto">
          <a:xfrm>
            <a:off x="6327561" y="2026623"/>
            <a:ext cx="2622834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Disease Prediction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3B5A-DAA1-4E78-A57C-F10A8FF9CB43}" type="slidenum">
              <a:rPr lang="en-US" smtClean="0"/>
              <a:t>3</a:t>
            </a:fld>
            <a:r>
              <a:rPr lang="en-US" dirty="0"/>
              <a:t>/20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132443" y="1834158"/>
            <a:ext cx="9988073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</a:pP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Precision viticulture (PV) applies digital technologies to vineyards, addressing spatial and temporal variability to standardize yields, enhance quality, and mitigate environmental impact.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sensors collect high-resolution meteorological and soil data. 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(ML) models use these data for predictive decision support in frost mitigation, irrigation, and disease management.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Challenges: weather unpredictability, irrigation needs, disease outbreaks.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3B5A-DAA1-4E78-A57C-F10A8FF9CB43}" type="slidenum">
              <a:rPr lang="en-US" smtClean="0"/>
              <a:t>4</a:t>
            </a:fld>
            <a:r>
              <a:rPr lang="en-US" dirty="0"/>
              <a:t>/20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33648" y="1822934"/>
            <a:ext cx="9985663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for Frost &amp; Disease Prediction: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models like neural networks improve frost warnings for grapes and spot crop diseases (e.g., in wheat) using photos—with 95% accuracy.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Soil Moisture Prediction &amp; Smart Irrigation: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ML algorithms predict soil moisture for optimized irrigation, reducing water use by 20-30% in smart systems integrated with IoT sensors.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+ ML + Remote Sensing: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Widely used for wheat and maize in Morocco—e.g., satellite imagery for crop health, IoT sensors for soil/rain data, plus AI models predict yields with 99% accuracy via farmer apps.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endParaRPr lang="en-GB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MacBook Pro</a:t>
            </a:r>
          </a:p>
          <a:p>
            <a:pPr lvl="1">
              <a:buClr>
                <a:srgbClr val="FFC000"/>
              </a:buClr>
              <a:buFont typeface="Arial" panose="020B0604020202020204" pitchFamily="34" charset="0"/>
              <a:buChar char="•"/>
            </a:pPr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Clr>
                <a:srgbClr val="FFC000"/>
              </a:buClr>
              <a:buFont typeface="Arial" panose="020B0604020202020204" pitchFamily="34" charset="0"/>
              <a:buChar char="•"/>
            </a:pPr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1295" lvl="1" indent="0">
              <a:buClr>
                <a:srgbClr val="FFC000"/>
              </a:buClr>
              <a:buNone/>
            </a:pPr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1295" lvl="1" indent="0">
              <a:buClr>
                <a:srgbClr val="FFC000"/>
              </a:buClr>
              <a:buNone/>
            </a:pPr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Davis Vantage Pro2 weather station</a:t>
            </a:r>
          </a:p>
          <a:p>
            <a:pPr lvl="1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GB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Acclima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TDR-315H soil moisture probes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3B5A-DAA1-4E78-A57C-F10A8FF9CB43}" type="slidenum">
              <a:rPr lang="en-US" smtClean="0"/>
              <a:t>5</a:t>
            </a:fld>
            <a:r>
              <a:rPr lang="en-US" dirty="0"/>
              <a:t>/20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B0DE4D8-52E6-CD72-5DC0-0F57B28C48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283284"/>
              </p:ext>
            </p:extLst>
          </p:nvPr>
        </p:nvGraphicFramePr>
        <p:xfrm>
          <a:off x="1493520" y="3227494"/>
          <a:ext cx="6248400" cy="134450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124200">
                  <a:extLst>
                    <a:ext uri="{9D8B030D-6E8A-4147-A177-3AD203B41FA5}">
                      <a16:colId xmlns:a16="http://schemas.microsoft.com/office/drawing/2014/main" val="186936064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512953375"/>
                    </a:ext>
                  </a:extLst>
                </a:gridCol>
              </a:tblGrid>
              <a:tr h="4440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Processor (CPU)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GB" dirty="0" err="1">
                          <a:solidFill>
                            <a:schemeClr val="tx1"/>
                          </a:solidFill>
                        </a:rPr>
                        <a:t>ntel</a:t>
                      </a: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 Core i7, 2.6 GHz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5671244"/>
                  </a:ext>
                </a:extLst>
              </a:tr>
              <a:tr h="4502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b="1" dirty="0"/>
                        <a:t>Memory (RAM)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2667 MHz DDR4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170324"/>
                  </a:ext>
                </a:extLst>
              </a:tr>
              <a:tr h="4502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b="1" dirty="0"/>
                        <a:t>Graphics (GPU)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I</a:t>
                      </a:r>
                      <a:r>
                        <a:rPr lang="en-GB" dirty="0" err="1"/>
                        <a:t>ntel</a:t>
                      </a:r>
                      <a:r>
                        <a:rPr lang="en-GB" dirty="0"/>
                        <a:t> UHD Graphics 630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01397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25583-55B9-60E3-9FB4-E7DE1B75D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45A13-550B-37A6-E239-497ABDB47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D61AB-6EC3-FF12-9CF6-6029FF0DC0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Clr>
                <a:srgbClr val="FFC000"/>
              </a:buClr>
              <a:buFont typeface="Wingdings" panose="05000000000000000000" pitchFamily="2" charset="2"/>
              <a:buChar char="§"/>
            </a:pPr>
            <a:endParaRPr lang="en-GB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n-GB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3.7.6</a:t>
            </a:r>
          </a:p>
          <a:p>
            <a:pPr lvl="1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PyCharm IDE</a:t>
            </a:r>
          </a:p>
          <a:p>
            <a:pPr lvl="1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ML library</a:t>
            </a:r>
          </a:p>
          <a:p>
            <a:pPr lvl="1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GB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WeatherLink</a:t>
            </a:r>
            <a:r>
              <a:rPr lang="en-GB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sensor data management</a:t>
            </a:r>
          </a:p>
          <a:p>
            <a:pPr lvl="1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 algorithms used : Linear Regression, Random Forest,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buClr>
                <a:srgbClr val="FFC000"/>
              </a:buClr>
              <a:buFont typeface="Arial" panose="020B0604020202020204" pitchFamily="34" charset="0"/>
              <a:buChar char="•"/>
            </a:pPr>
            <a:endParaRPr lang="en-GB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98682D-60D9-F093-B0EC-AD8287439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3B5A-DAA1-4E78-A57C-F10A8FF9CB43}" type="slidenum">
              <a:rPr lang="en-US" smtClean="0"/>
              <a:t>6</a:t>
            </a:fld>
            <a:r>
              <a:rPr lang="en-US" dirty="0"/>
              <a:t>/20</a:t>
            </a:r>
          </a:p>
        </p:txBody>
      </p:sp>
    </p:spTree>
    <p:extLst>
      <p:ext uri="{BB962C8B-B14F-4D97-AF65-F5344CB8AC3E}">
        <p14:creationId xmlns:p14="http://schemas.microsoft.com/office/powerpoint/2010/main" val="1705949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 AGRICULTURE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3B5A-DAA1-4E78-A57C-F10A8FF9CB43}" type="slidenum">
              <a:rPr lang="en-US" smtClean="0"/>
              <a:t>7</a:t>
            </a:fld>
            <a:r>
              <a:rPr lang="en-US" dirty="0"/>
              <a:t>/20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5922337" y="2611457"/>
            <a:ext cx="2616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34BA78-7289-EEDD-A1E4-E9FD3C2391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5077" y="1876307"/>
            <a:ext cx="5100177" cy="4282485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3B5A-DAA1-4E78-A57C-F10A8FF9CB43}" type="slidenum">
              <a:rPr lang="en-US" smtClean="0"/>
              <a:t>8</a:t>
            </a:fld>
            <a:r>
              <a:rPr lang="en-US" dirty="0"/>
              <a:t>/20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8160FAE-2A3A-1DF7-32ED-FE0D739FB4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1966267"/>
            <a:ext cx="968961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Frost Damage Mitigation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Late-spring frosts can wipe out grape buds and shoots, costing vineyards millions better temperature forecasts help farmers act fast to protect crops and keep yields high.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Soil Moisture Optimization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Uneven soil moisture stresses vines and causes droughts, wasting water accurate predictions let farmers irrigate smartly for healthier plants and bigger harvests.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Grapevine Disease Management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Sudden diseases like mildew lead to over-spraying pesticides, hurting the environment early warnings allow targeted treatments to cut chemical use safely.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94930-6870-E1A7-E8F4-A3F6550D6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627C5-0A51-DCC3-04EF-A5DB442F0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B847BF-E8A1-453F-45C6-D074E99EF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3B5A-DAA1-4E78-A57C-F10A8FF9CB43}" type="slidenum">
              <a:rPr lang="en-US" smtClean="0"/>
              <a:t>9</a:t>
            </a:fld>
            <a:r>
              <a:rPr lang="en-US" dirty="0"/>
              <a:t>/20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5324857-90E2-A368-0181-62E8EBD3C0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36177" y="1737360"/>
            <a:ext cx="1021381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None/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Acquisition and Area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 21">
            <a:extLst>
              <a:ext uri="{FF2B5EF4-FFF2-40B4-BE49-F238E27FC236}">
                <a16:creationId xmlns:a16="http://schemas.microsoft.com/office/drawing/2014/main" id="{839C5D61-CC9D-80A5-053C-2DFDE98BB7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6283" y="2199025"/>
            <a:ext cx="933954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Taurasi DOCG area,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Montemiletto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(Campania, Italy).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 Span: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2021 to 2023 (approx. 2 years).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Frequency: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5 minutes.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Hardware: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Meteorological Data: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Davis Vantage Pro2 Plus wired weather station (Air temp, humidity, dew point, wind, precipitation, solar radiation).</a:t>
            </a:r>
          </a:p>
          <a:p>
            <a:pPr marL="800100" lvl="1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Soil Data: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Three TDR probes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Acclima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TDR-315H) at 30, 60, and 90 cm (Soil temp, soil moisture).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3418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CFFC3-E3FF-27C8-1BEA-676C3CB38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5C65B-0D50-624A-5B8C-0132938E2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34175E-A55D-6C74-DB5A-4BD973000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3B5A-DAA1-4E78-A57C-F10A8FF9CB43}" type="slidenum">
              <a:rPr lang="en-US" smtClean="0"/>
              <a:t>10</a:t>
            </a:fld>
            <a:r>
              <a:rPr lang="en-US" dirty="0"/>
              <a:t>/20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7531DCC-9D28-BBB6-6E72-4BF709EC7E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82475" y="1352055"/>
            <a:ext cx="1021381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None/>
            </a:pPr>
            <a:endParaRPr lang="en-GB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None/>
            </a:pPr>
            <a:r>
              <a:rPr lang="en-GB" sz="2400" b="1" dirty="0"/>
              <a:t>Data Processing &amp; Features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None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0035F46-46DB-B6E6-C5E6-67ED0C8F93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1036442"/>
              </p:ext>
            </p:extLst>
          </p:nvPr>
        </p:nvGraphicFramePr>
        <p:xfrm>
          <a:off x="1573058" y="2366031"/>
          <a:ext cx="9492339" cy="3602325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386226">
                  <a:extLst>
                    <a:ext uri="{9D8B030D-6E8A-4147-A177-3AD203B41FA5}">
                      <a16:colId xmlns:a16="http://schemas.microsoft.com/office/drawing/2014/main" val="1072442074"/>
                    </a:ext>
                  </a:extLst>
                </a:gridCol>
                <a:gridCol w="1232775">
                  <a:extLst>
                    <a:ext uri="{9D8B030D-6E8A-4147-A177-3AD203B41FA5}">
                      <a16:colId xmlns:a16="http://schemas.microsoft.com/office/drawing/2014/main" val="1424855633"/>
                    </a:ext>
                  </a:extLst>
                </a:gridCol>
                <a:gridCol w="2093437">
                  <a:extLst>
                    <a:ext uri="{9D8B030D-6E8A-4147-A177-3AD203B41FA5}">
                      <a16:colId xmlns:a16="http://schemas.microsoft.com/office/drawing/2014/main" val="633362178"/>
                    </a:ext>
                  </a:extLst>
                </a:gridCol>
                <a:gridCol w="4779901">
                  <a:extLst>
                    <a:ext uri="{9D8B030D-6E8A-4147-A177-3AD203B41FA5}">
                      <a16:colId xmlns:a16="http://schemas.microsoft.com/office/drawing/2014/main" val="3686407863"/>
                    </a:ext>
                  </a:extLst>
                </a:gridCol>
              </a:tblGrid>
              <a:tr h="6205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</a:t>
                      </a:r>
                    </a:p>
                  </a:txBody>
                  <a:tcPr marL="65946" marR="65946" marT="32973" marB="329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Type</a:t>
                      </a:r>
                    </a:p>
                  </a:txBody>
                  <a:tcPr marL="65946" marR="65946" marT="32973" marB="329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Target</a:t>
                      </a:r>
                    </a:p>
                  </a:txBody>
                  <a:tcPr marL="65946" marR="65946" marT="32973" marB="329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Input Features</a:t>
                      </a:r>
                    </a:p>
                  </a:txBody>
                  <a:tcPr marL="65946" marR="65946" marT="32973" marB="32973" anchor="ctr"/>
                </a:tc>
                <a:extLst>
                  <a:ext uri="{0D108BD9-81ED-4DB2-BD59-A6C34878D82A}">
                    <a16:rowId xmlns:a16="http://schemas.microsoft.com/office/drawing/2014/main" val="736584547"/>
                  </a:ext>
                </a:extLst>
              </a:tr>
              <a:tr h="9005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Frost (D+1)</a:t>
                      </a:r>
                      <a:endParaRPr lang="en-GB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46" marR="65946" marT="32973" marB="329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Regression</a:t>
                      </a:r>
                    </a:p>
                  </a:txBody>
                  <a:tcPr marL="65946" marR="65946" marT="32973" marB="329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 air temp next day (TMIN)</a:t>
                      </a:r>
                    </a:p>
                  </a:txBody>
                  <a:tcPr marL="65946" marR="65946" marT="32973" marB="3297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Daily mean temp (TAVG), solar radiation at 23:00 (RAD14), dew point humidity at 23:00 (DP23-H23), accumulated daily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precip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(RSUM).</a:t>
                      </a:r>
                    </a:p>
                  </a:txBody>
                  <a:tcPr marL="65946" marR="65946" marT="32973" marB="32973" anchor="ctr"/>
                </a:tc>
                <a:extLst>
                  <a:ext uri="{0D108BD9-81ED-4DB2-BD59-A6C34878D82A}">
                    <a16:rowId xmlns:a16="http://schemas.microsoft.com/office/drawing/2014/main" val="1163169724"/>
                  </a:ext>
                </a:extLst>
              </a:tr>
              <a:tr h="9005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Soil Moisture (D+1)</a:t>
                      </a:r>
                      <a:endParaRPr lang="en-GB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46" marR="65946" marT="32973" marB="329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Regression</a:t>
                      </a:r>
                    </a:p>
                  </a:txBody>
                  <a:tcPr marL="65946" marR="65946" marT="32973" marB="329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Overall daily avg soil moisture next day</a:t>
                      </a:r>
                    </a:p>
                  </a:txBody>
                  <a:tcPr marL="65946" marR="65946" marT="32973" marB="3297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Daily mean temp (TAVG), </a:t>
                      </a:r>
                      <a:r>
                        <a:rPr lang="en-GB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precip</a:t>
                      </a:r>
                      <a:r>
                        <a:rPr 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(RSUM), daily </a:t>
                      </a:r>
                      <a:r>
                        <a:rPr lang="en-GB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</a:t>
                      </a:r>
                      <a:r>
                        <a:rPr 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humidity (HAV G), overall daily </a:t>
                      </a:r>
                      <a:r>
                        <a:rPr lang="en-GB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</a:t>
                      </a:r>
                      <a:r>
                        <a:rPr 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soil temp/moisture (STAVGSMV).</a:t>
                      </a:r>
                    </a:p>
                  </a:txBody>
                  <a:tcPr marL="65946" marR="65946" marT="32973" marB="32973" anchor="ctr"/>
                </a:tc>
                <a:extLst>
                  <a:ext uri="{0D108BD9-81ED-4DB2-BD59-A6C34878D82A}">
                    <a16:rowId xmlns:a16="http://schemas.microsoft.com/office/drawing/2014/main" val="1184303730"/>
                  </a:ext>
                </a:extLst>
              </a:tr>
              <a:tr h="11805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Disease (D+1)</a:t>
                      </a:r>
                      <a:endParaRPr lang="en-GB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46" marR="65946" marT="32973" marB="329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Binary Class</a:t>
                      </a:r>
                    </a:p>
                  </a:txBody>
                  <a:tcPr marL="65946" marR="65946" marT="32973" marB="329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Downy mildew/Powdery mildew (1=infection, 0=otherwise)</a:t>
                      </a:r>
                    </a:p>
                  </a:txBody>
                  <a:tcPr marL="65946" marR="65946" marT="32973" marB="3297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Daily max temp (TMAX), max wind speed (WSMAX), max solar rad (SRMAX), max humidity (HMAX), cumulative daily </a:t>
                      </a:r>
                      <a:r>
                        <a:rPr lang="en-GB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precip</a:t>
                      </a:r>
                      <a:r>
                        <a:rPr 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(RSUM).</a:t>
                      </a:r>
                    </a:p>
                  </a:txBody>
                  <a:tcPr marL="65946" marR="65946" marT="32973" marB="32973" anchor="ctr"/>
                </a:tc>
                <a:extLst>
                  <a:ext uri="{0D108BD9-81ED-4DB2-BD59-A6C34878D82A}">
                    <a16:rowId xmlns:a16="http://schemas.microsoft.com/office/drawing/2014/main" val="38407711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06072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 DIAGRAM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endParaRPr lang="en-IN" b="1" dirty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3B5A-DAA1-4E78-A57C-F10A8FF9CB43}" type="slidenum">
              <a:rPr lang="en-US" smtClean="0"/>
              <a:t>11</a:t>
            </a:fld>
            <a:r>
              <a:rPr lang="en-US" dirty="0"/>
              <a:t>/20</a:t>
            </a:r>
          </a:p>
        </p:txBody>
      </p:sp>
      <p:pic>
        <p:nvPicPr>
          <p:cNvPr id="1026" name="Picture 2" descr="researchgate.net/figure/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955" y="1926980"/>
            <a:ext cx="6794090" cy="4237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3B5A-DAA1-4E78-A57C-F10A8FF9CB43}" type="slidenum">
              <a:rPr lang="en-US" smtClean="0"/>
              <a:t>12</a:t>
            </a:fld>
            <a:r>
              <a:rPr lang="en-US" dirty="0"/>
              <a:t>/20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2070100" y="6858000"/>
            <a:ext cx="999998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Statistics calculate: Min, Max, Mean.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Models trained/tested using 80/20 split.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metrics: MAE, MSE, RMSE, R², F1, Precision, Recall.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A71C6638-DD78-10EE-DFD0-6B228E54A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7280" y="1523456"/>
            <a:ext cx="1005840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Experiments conducted using free version of PyCharm IDE on MacBook Pro (2.6 GHz Intel Core i7 6-Core, 16 GB 2667 MHz DDR4 RAM, Intel UHD Graphics 630 with 1536 MB VRAM) with Python 3.7.6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algorithms sourced from scikit-learn Python module, equipped with useful ML functions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Applied several well-known ML algorithms to address regression and binary classification tasks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Regression algorithms: Linear Regression (LR), Random Forest (RF) regressor,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(XGB), Support Vector Regression (SVR), Multilayer Perceptron (MLP) regressor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Binary classification models: Random Forest (RF), Support Vector Machine (SVM),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(XGB)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Employed grid-search tuning technique to identify most effective hyperparameters for models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Performed random dataset split for each database: 80% for training, 20% for testing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3B5A-DAA1-4E78-A57C-F10A8FF9CB43}" type="slidenum">
              <a:rPr lang="en-US" smtClean="0"/>
              <a:t>13</a:t>
            </a:fld>
            <a:r>
              <a:rPr lang="en-US" dirty="0"/>
              <a:t>/20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046153" y="6858000"/>
            <a:ext cx="918315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Vineyard Location: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Montemiletto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Avellino, Italy.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period: 2021–2023, collected every 5 mins.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Meteorological: temperature, humidity, wind, dew point, solar radiation.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Soil: moisture at 30, 60, 90 cm depths using TDR probes.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859" y="2104772"/>
            <a:ext cx="3267075" cy="32194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4206" y="2328610"/>
            <a:ext cx="4029075" cy="27717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6541" y="2212151"/>
            <a:ext cx="3514725" cy="32670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FROST PREDICTION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3B5A-DAA1-4E78-A57C-F10A8FF9CB43}" type="slidenum">
              <a:rPr lang="en-US" smtClean="0"/>
              <a:t>14</a:t>
            </a:fld>
            <a:r>
              <a:rPr lang="en-US" dirty="0"/>
              <a:t>/20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242752" y="2159580"/>
            <a:ext cx="6146876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Goal: Predict next day’s minimum temperature.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Best Models: LR and RF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RMSE ≈ 1.6°C, R² ≈ 0.92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Accurate for frost prevention planning.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D8D2314-3313-FEDA-6FFE-A37D5B2A6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755" y="1967834"/>
            <a:ext cx="3971925" cy="35909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SOIL MOISTURE PREDICTION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3B5A-DAA1-4E78-A57C-F10A8FF9CB43}" type="slidenum">
              <a:rPr lang="en-US" smtClean="0"/>
              <a:t>15</a:t>
            </a:fld>
            <a:r>
              <a:rPr lang="en-US" dirty="0"/>
              <a:t>/20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21971" y="1905522"/>
            <a:ext cx="7112845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Goal: Optimize irrigation using soil moisture forecasts.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Best Models: RF and LR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RMSE ≈ 0.8 ,R² ≈ 0.93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reduce water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waste and energy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usage.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C3786D-45CD-E043-8AE1-AB12589EC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5663" y="2729110"/>
            <a:ext cx="6671602" cy="253459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 PREDICTION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3B5A-DAA1-4E78-A57C-F10A8FF9CB43}" type="slidenum">
              <a:rPr lang="en-US" smtClean="0"/>
              <a:t>16</a:t>
            </a:fld>
            <a:r>
              <a:rPr lang="en-US" dirty="0"/>
              <a:t>/20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idx="1"/>
          </p:nvPr>
        </p:nvSpPr>
        <p:spPr bwMode="auto">
          <a:xfrm>
            <a:off x="1242753" y="1974914"/>
            <a:ext cx="607089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Spot disease risks early for quick action.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 on: Downy Mildew &amp; Powdery Mildew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Best Models: XGB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Accuracy: Up to 97% (F1-score, Precision)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 act early to stop disease spread.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b="1" dirty="0"/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222663" y="1502834"/>
            <a:ext cx="10058400" cy="4023360"/>
          </a:xfrm>
        </p:spPr>
        <p:txBody>
          <a:bodyPr/>
          <a:lstStyle/>
          <a:p>
            <a:pPr lvl="1">
              <a:buClr>
                <a:srgbClr val="FFC000"/>
              </a:buClr>
              <a:buFont typeface="Wingdings" panose="05000000000000000000" pitchFamily="2" charset="2"/>
              <a:buChar char="§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hourly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instead of daily → better real-time control</a:t>
            </a:r>
          </a:p>
          <a:p>
            <a:pPr lvl="1"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rainfall prediction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smarter irrigation</a:t>
            </a:r>
          </a:p>
          <a:p>
            <a:pPr lvl="1"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UAVs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aerial monitoring</a:t>
            </a:r>
          </a:p>
          <a:p>
            <a:pPr lvl="1"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image-based disease diagnosis</a:t>
            </a:r>
          </a:p>
          <a:p>
            <a:pPr lvl="1"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model to other crops and regions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3B5A-DAA1-4E78-A57C-F10A8FF9CB43}" type="slidenum">
              <a:rPr lang="en-US" smtClean="0"/>
              <a:t>17</a:t>
            </a:fld>
            <a:r>
              <a:rPr lang="en-US" dirty="0"/>
              <a:t>/20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b="1" dirty="0"/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3B5A-DAA1-4E78-A57C-F10A8FF9CB43}" type="slidenum">
              <a:rPr lang="en-US" smtClean="0"/>
              <a:t>18</a:t>
            </a:fld>
            <a:r>
              <a:rPr lang="en-US" dirty="0"/>
              <a:t>/20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idx="1"/>
          </p:nvPr>
        </p:nvSpPr>
        <p:spPr bwMode="auto">
          <a:xfrm>
            <a:off x="1232362" y="2075057"/>
            <a:ext cx="719139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IoT + ML offers smart, sustainable agriculture solutions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Accurate forecasting improves yields and reduces waste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Real-world testing in vineyards shows high success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Approach is scalable, cost-effective, and field-ready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q"/>
            </a:pPr>
            <a:endParaRPr lang="en-IN" dirty="0"/>
          </a:p>
          <a:p>
            <a:pPr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en-GB" sz="1800" dirty="0"/>
              <a:t>C. Pero, S. Bakshi, M. Nappi, and G. Tortora, “IoT-Driven Machine Learning for Precision Viticulture Optimization,” </a:t>
            </a:r>
            <a:r>
              <a:rPr lang="en-GB" sz="1800" i="1" dirty="0"/>
              <a:t>IEEE Journal of Selected Topics in Applied Earth Observations and Remote Sensing</a:t>
            </a:r>
            <a:r>
              <a:rPr lang="en-GB" sz="1800" dirty="0"/>
              <a:t>, vol. 17, pp. 2437-2447, 2024, </a:t>
            </a:r>
            <a:r>
              <a:rPr lang="en-GB" sz="1800" dirty="0" err="1"/>
              <a:t>doi</a:t>
            </a:r>
            <a:r>
              <a:rPr lang="en-GB" sz="1800" dirty="0"/>
              <a:t>: 10.1109/JSTARS.2023.3345473</a:t>
            </a:r>
          </a:p>
          <a:p>
            <a:pPr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J. Nie, Y. Wang, Y. Li, and X. Chao, “Sustainable computing in smart agriculture: Survey and challenges,” Turkish J. Agriculture Forestry, vol. 46, no. 4, pp. 550–566, 2022.</a:t>
            </a:r>
          </a:p>
          <a:p>
            <a:pPr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L. Trivelli, A. Apicella, F. Chiarello, R. Rana, G. Fantoni, and A.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Tarabella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“From precision agriculture to industry 4.0: Unveiling technological connections in the agrifood sector,” Brit. Food J., vol. 121, no. 8, pp. 1730–1743, 2019. </a:t>
            </a:r>
          </a:p>
          <a:p>
            <a:pPr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N. Zhang, M. Wang, and N. Wang, “Precision agriculture—a worldwide overview,”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Electron. Agriculture, vol. 36, no. 2/3, pp. 113–132, 2002.</a:t>
            </a:r>
          </a:p>
          <a:p>
            <a:pPr marL="0" indent="0">
              <a:buNone/>
            </a:pPr>
            <a:endParaRPr lang="en-US" sz="1800" dirty="0"/>
          </a:p>
          <a:p>
            <a:pPr>
              <a:buFont typeface="Wingdings" panose="05000000000000000000" pitchFamily="2" charset="2"/>
              <a:buChar char="q"/>
            </a:pPr>
            <a:endParaRPr lang="en-US" sz="2800" dirty="0"/>
          </a:p>
          <a:p>
            <a:pPr>
              <a:buFont typeface="Wingdings" panose="05000000000000000000" pitchFamily="2" charset="2"/>
              <a:buChar char="q"/>
            </a:pPr>
            <a:endParaRPr lang="en-US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3B5A-DAA1-4E78-A57C-F10A8FF9CB43}" type="slidenum">
              <a:rPr lang="en-US" smtClean="0"/>
              <a:t>19</a:t>
            </a:fld>
            <a:r>
              <a:rPr lang="en-US" dirty="0"/>
              <a:t>/20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r>
              <a:rPr lang="en-US" sz="5400" dirty="0"/>
              <a:t> 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3B5A-DAA1-4E78-A57C-F10A8FF9CB43}" type="slidenum">
              <a:rPr lang="en-US" smtClean="0"/>
              <a:t>20</a:t>
            </a:fld>
            <a:r>
              <a:rPr lang="en-US" dirty="0"/>
              <a:t>/20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1226</TotalTime>
  <Words>1329</Words>
  <Application>Microsoft Office PowerPoint</Application>
  <PresentationFormat>Widescreen</PresentationFormat>
  <Paragraphs>168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Wingdings</vt:lpstr>
      <vt:lpstr>Retrospect</vt:lpstr>
      <vt:lpstr>A SEMINAR ON    IoT-Driven Machine Learning for Precision Viticulture Optimization</vt:lpstr>
      <vt:lpstr>CONTENTS</vt:lpstr>
      <vt:lpstr>INTRODUCTION</vt:lpstr>
      <vt:lpstr>RELATED WORKS</vt:lpstr>
      <vt:lpstr>SYSTEM REQUIREMENTS</vt:lpstr>
      <vt:lpstr>SYSTEM REQUIREMENTS</vt:lpstr>
      <vt:lpstr>PRECISION AGRICULTURE</vt:lpstr>
      <vt:lpstr>PROBLEM STATEMENT </vt:lpstr>
      <vt:lpstr>PROPOSED SYSTEM</vt:lpstr>
      <vt:lpstr>PROPOSED SYSTEM</vt:lpstr>
      <vt:lpstr>ARCHITECTURAL DIAGRAM</vt:lpstr>
      <vt:lpstr>EXPERIMENTAL SETUP</vt:lpstr>
      <vt:lpstr>Evaluation Metrics</vt:lpstr>
      <vt:lpstr>FROST PREDICTION</vt:lpstr>
      <vt:lpstr>SOIL MOISTURE PREDICTION</vt:lpstr>
      <vt:lpstr> DISEASE PREDICTION</vt:lpstr>
      <vt:lpstr> FUTURE WORK</vt:lpstr>
      <vt:lpstr> CONCLUSION</vt:lpstr>
      <vt:lpstr>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Name</dc:title>
  <dc:creator>libsy baby</dc:creator>
  <cp:lastModifiedBy>Johnson V Mathew</cp:lastModifiedBy>
  <cp:revision>37</cp:revision>
  <dcterms:created xsi:type="dcterms:W3CDTF">2024-01-31T03:50:00Z</dcterms:created>
  <dcterms:modified xsi:type="dcterms:W3CDTF">2025-10-13T01:17:38Z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F15B263781A84A6FBEAF1A44C3AC549B_12</vt:lpwstr>
  </property>
  <property fmtid="{D5CDD505-2E9C-101B-9397-08002B2CF9AE}" pid="3" name="KSOProductBuildVer">
    <vt:lpwstr>1033-12.2.0.22549</vt:lpwstr>
  </property>
</Properties>
</file>