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8"/>
  </p:notesMasterIdLst>
  <p:sldIdLst>
    <p:sldId id="756" r:id="rId2"/>
    <p:sldId id="257" r:id="rId3"/>
    <p:sldId id="258" r:id="rId4"/>
    <p:sldId id="843" r:id="rId5"/>
    <p:sldId id="845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9" r:id="rId17"/>
    <p:sldId id="280" r:id="rId18"/>
    <p:sldId id="281" r:id="rId19"/>
    <p:sldId id="282" r:id="rId20"/>
    <p:sldId id="847" r:id="rId21"/>
    <p:sldId id="835" r:id="rId22"/>
    <p:sldId id="838" r:id="rId23"/>
    <p:sldId id="836" r:id="rId24"/>
    <p:sldId id="841" r:id="rId25"/>
    <p:sldId id="842" r:id="rId26"/>
    <p:sldId id="806" r:id="rId27"/>
  </p:sldIdLst>
  <p:sldSz cx="24384000" cy="13716000"/>
  <p:notesSz cx="6858000" cy="9144000"/>
  <p:embeddedFontLst>
    <p:embeddedFont>
      <p:font typeface="Algerian" panose="04020705040A02060702" pitchFamily="82" charset="0"/>
      <p:regular r:id="rId29"/>
    </p:embeddedFont>
    <p:embeddedFont>
      <p:font typeface="Baskerville Old Face" panose="02020602080505020303" pitchFamily="18" charset="0"/>
      <p:regular r:id="rId30"/>
    </p:embeddedFont>
    <p:embeddedFont>
      <p:font typeface="Helvetica Neue" panose="020B0604020202020204" charset="0"/>
      <p:regular r:id="rId31"/>
      <p:bold r:id="rId32"/>
      <p:italic r:id="rId33"/>
      <p:boldItalic r:id="rId34"/>
    </p:embeddedFont>
    <p:embeddedFont>
      <p:font typeface="Times" panose="02020603050405020304" pitchFamily="18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FF"/>
    <a:srgbClr val="2B1BA5"/>
    <a:srgbClr val="DF0F41"/>
    <a:srgbClr val="0033CC"/>
    <a:srgbClr val="9900CC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75F0CE-A362-4DAC-9FC9-68171C41BA2F}">
  <a:tblStyle styleId="{4575F0CE-A362-4DAC-9FC9-68171C41BA2F}" styleName="Table_0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3E5E8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86364" autoAdjust="0"/>
  </p:normalViewPr>
  <p:slideViewPr>
    <p:cSldViewPr snapToGrid="0">
      <p:cViewPr varScale="1">
        <p:scale>
          <a:sx n="29" d="100"/>
          <a:sy n="29" d="100"/>
        </p:scale>
        <p:origin x="1867" y="67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16308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Know base-everything related to image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all done together</a:t>
            </a:r>
            <a:endParaRPr dirty="0"/>
          </a:p>
        </p:txBody>
      </p:sp>
      <p:sp>
        <p:nvSpPr>
          <p:cNvPr id="162" name="Google Shape;1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Wavelet-frequency and time information are available together</a:t>
            </a:r>
            <a:endParaRPr dirty="0"/>
          </a:p>
        </p:txBody>
      </p:sp>
      <p:sp>
        <p:nvSpPr>
          <p:cNvPr id="269" name="Google Shape;2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 basic operations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Erosion-unwanted bulging removal –made smooth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Dialation</a:t>
            </a:r>
            <a:r>
              <a:rPr lang="en-US"/>
              <a:t>- boundary gap </a:t>
            </a:r>
            <a:r>
              <a:rPr lang="en-US" dirty="0"/>
              <a:t>filling using near pixel intensity values</a:t>
            </a:r>
            <a:endParaRPr dirty="0"/>
          </a:p>
        </p:txBody>
      </p:sp>
      <p:sp>
        <p:nvSpPr>
          <p:cNvPr id="279" name="Google Shape;27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6" name="Google Shape;37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8493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2" name="Google Shape;3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30512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2" name="Google Shape;3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70743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2" name="Google Shape;3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9671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2" name="Google Shape;3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79324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2" name="Google Shape;3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09586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Opacity describes the degree to which an object or material is not transmitting light</a:t>
            </a:r>
          </a:p>
          <a:p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The lower the opacity or the more light that can pass through an object</a:t>
            </a:r>
          </a:p>
          <a:p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the lighter and more see-through it is. The higher the opacity or the less light that can pass through said object the more solid it 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635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3"/>
          </p:nvPr>
        </p:nvSpPr>
        <p:spPr>
          <a:xfrm>
            <a:off x="8432800" y="1263848"/>
            <a:ext cx="16850010" cy="1118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bg>
      <p:bgPr>
        <a:solidFill>
          <a:srgbClr val="00346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00"/>
              <a:buFont typeface="Helvetica Neue"/>
              <a:buNone/>
              <a:defRPr sz="116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1600"/>
              <a:buFont typeface="Helvetica Neue"/>
              <a:buNone/>
              <a:defRPr sz="11600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1600"/>
              <a:buFont typeface="Helvetica Neue"/>
              <a:buNone/>
              <a:defRPr sz="11600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1600"/>
              <a:buFont typeface="Helvetica Neue"/>
              <a:buNone/>
              <a:defRPr sz="11600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1600"/>
              <a:buFont typeface="Helvetica Neue"/>
              <a:buNone/>
              <a:defRPr sz="11600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1600"/>
              <a:buFont typeface="Helvetica Neue"/>
              <a:buNone/>
              <a:defRPr sz="11600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Fact">
  <p:cSld name="Big Fa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25000"/>
              <a:buFont typeface="Helvetica Neue"/>
              <a:buNone/>
              <a:defRPr sz="25000" b="1">
                <a:solidFill>
                  <a:srgbClr val="004C7F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25000"/>
              <a:buFont typeface="Helvetica Neue"/>
              <a:buNone/>
              <a:defRPr sz="25000" b="1">
                <a:solidFill>
                  <a:srgbClr val="004C7F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25000"/>
              <a:buFont typeface="Helvetica Neue"/>
              <a:buNone/>
              <a:defRPr sz="25000" b="1">
                <a:solidFill>
                  <a:srgbClr val="004C7F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25000"/>
              <a:buFont typeface="Helvetica Neue"/>
              <a:buNone/>
              <a:defRPr sz="25000" b="1">
                <a:solidFill>
                  <a:srgbClr val="004C7F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25000"/>
              <a:buFont typeface="Helvetica Neue"/>
              <a:buNone/>
              <a:defRPr sz="25000" b="1">
                <a:solidFill>
                  <a:srgbClr val="004C7F"/>
                </a:solidFill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53" cy="383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>
            <a:spLocks noGrp="1"/>
          </p:cNvSpPr>
          <p:nvPr>
            <p:ph type="pic" idx="2"/>
          </p:nvPr>
        </p:nvSpPr>
        <p:spPr>
          <a:xfrm>
            <a:off x="0" y="-1270000"/>
            <a:ext cx="24384001" cy="1625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30F9647-2A6F-AB86-DAF1-286ED81F86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77A62-D941-4705-8FE8-2B8DE29854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732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1" r:id="rId10"/>
    <p:sldLayoutId id="2147483662" r:id="rId11"/>
    <p:sldLayoutId id="214748366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3537347-375F-08AE-18D4-7FB771450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5609" y="7850372"/>
            <a:ext cx="19960857" cy="5181600"/>
          </a:xfrm>
        </p:spPr>
        <p:txBody>
          <a:bodyPr/>
          <a:lstStyle/>
          <a:p>
            <a:pPr eaLnBrk="1" hangingPunct="1"/>
            <a: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  <a:t>         </a:t>
            </a: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  <a:t>       </a:t>
            </a: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  <a:t>											</a:t>
            </a:r>
            <a:br>
              <a:rPr lang="en-US" altLang="en-US" sz="14400" dirty="0">
                <a:solidFill>
                  <a:srgbClr val="7030A0"/>
                </a:solidFill>
                <a:latin typeface="Algerian" panose="04020705040A02060702" pitchFamily="82" charset="0"/>
              </a:rPr>
            </a:br>
            <a:r>
              <a:rPr lang="en-US" altLang="en-US" sz="5600" dirty="0">
                <a:solidFill>
                  <a:schemeClr val="accent1"/>
                </a:solidFill>
                <a:latin typeface="Algerian" panose="04020705040A02060702" pitchFamily="82" charset="0"/>
              </a:rPr>
              <a:t>lines</a:t>
            </a:r>
            <a:br>
              <a:rPr lang="en-US" altLang="en-US" sz="5600" dirty="0">
                <a:solidFill>
                  <a:schemeClr val="accent1"/>
                </a:solidFill>
                <a:latin typeface="Algerian" panose="04020705040A02060702" pitchFamily="82" charset="0"/>
              </a:rPr>
            </a:br>
            <a:r>
              <a:rPr lang="en-US" altLang="en-US" sz="5600" dirty="0">
                <a:solidFill>
                  <a:schemeClr val="accent1"/>
                </a:solidFill>
                <a:latin typeface="Algerian" panose="04020705040A02060702" pitchFamily="82" charset="0"/>
              </a:rPr>
              <a:t>  -Cohen-Sutherland Line Clipping</a:t>
            </a:r>
            <a:br>
              <a:rPr lang="en-US" altLang="en-US" sz="5600" dirty="0">
                <a:solidFill>
                  <a:schemeClr val="accent1"/>
                </a:solidFill>
                <a:latin typeface="Algerian" panose="04020705040A02060702" pitchFamily="82" charset="0"/>
              </a:rPr>
            </a:br>
            <a:r>
              <a:rPr lang="en-US" altLang="en-US" sz="5600" dirty="0">
                <a:solidFill>
                  <a:schemeClr val="accent1"/>
                </a:solidFill>
                <a:latin typeface="Algerian" panose="04020705040A02060702" pitchFamily="82" charset="0"/>
              </a:rPr>
              <a:t>  </a:t>
            </a:r>
            <a:br>
              <a:rPr lang="en-US" altLang="en-US" sz="5600" dirty="0"/>
            </a:br>
            <a:r>
              <a:rPr lang="en-US" altLang="en-US" sz="5600" dirty="0">
                <a:solidFill>
                  <a:srgbClr val="990033"/>
                </a:solidFill>
                <a:latin typeface="Algerian" panose="04020705040A02060702" pitchFamily="82" charset="0"/>
              </a:rPr>
              <a:t>polygons</a:t>
            </a:r>
            <a:br>
              <a:rPr lang="en-US" altLang="en-US" sz="5600" dirty="0">
                <a:solidFill>
                  <a:srgbClr val="990033"/>
                </a:solidFill>
              </a:rPr>
            </a:br>
            <a:r>
              <a:rPr lang="en-US" altLang="en-US" sz="5600" dirty="0">
                <a:solidFill>
                  <a:srgbClr val="990033"/>
                </a:solidFill>
              </a:rPr>
              <a:t> </a:t>
            </a:r>
            <a:r>
              <a:rPr lang="en-US" altLang="en-US" sz="5600" dirty="0">
                <a:solidFill>
                  <a:srgbClr val="990033"/>
                </a:solidFill>
                <a:latin typeface="Algerian" panose="04020705040A02060702" pitchFamily="82" charset="0"/>
              </a:rPr>
              <a:t>-Sutherland-Hodgeman Polygon Clipping</a:t>
            </a:r>
            <a:br>
              <a:rPr lang="en-US" altLang="en-US" sz="5600" dirty="0">
                <a:solidFill>
                  <a:srgbClr val="990033"/>
                </a:solidFill>
                <a:latin typeface="Algerian" panose="04020705040A02060702" pitchFamily="82" charset="0"/>
              </a:rPr>
            </a:br>
            <a:endParaRPr lang="en-US" altLang="en-US" sz="5600" dirty="0">
              <a:solidFill>
                <a:srgbClr val="990033"/>
              </a:solidFill>
              <a:latin typeface="Algerian" panose="04020705040A02060702" pitchFamily="82" charset="0"/>
            </a:endParaRPr>
          </a:p>
        </p:txBody>
      </p:sp>
      <p:sp>
        <p:nvSpPr>
          <p:cNvPr id="5123" name="TextBox 6">
            <a:extLst>
              <a:ext uri="{FF2B5EF4-FFF2-40B4-BE49-F238E27FC236}">
                <a16:creationId xmlns:a16="http://schemas.microsoft.com/office/drawing/2014/main" id="{AEABC058-0342-ED33-9DC4-F7A2E80DE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302" y="48819"/>
            <a:ext cx="23958698" cy="14385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0" b="1" dirty="0">
                <a:solidFill>
                  <a:srgbClr val="C00000"/>
                </a:solidFill>
                <a:latin typeface="Times" panose="02020603050405020304" pitchFamily="18" charset="0"/>
              </a:rPr>
              <a:t>CST 304 -Computer Graphics &amp; Image Processing</a:t>
            </a:r>
            <a:br>
              <a:rPr lang="en-US" altLang="en-US" sz="8000" dirty="0">
                <a:solidFill>
                  <a:srgbClr val="3333CC"/>
                </a:solidFill>
                <a:latin typeface="Times" panose="02020603050405020304" pitchFamily="18" charset="0"/>
              </a:rPr>
            </a:br>
            <a:r>
              <a:rPr lang="en-US" altLang="en-US" sz="8000" dirty="0">
                <a:solidFill>
                  <a:srgbClr val="3333CC"/>
                </a:solidFill>
                <a:latin typeface="Times" panose="02020603050405020304" pitchFamily="18" charset="0"/>
              </a:rPr>
              <a:t>									</a:t>
            </a:r>
            <a:r>
              <a:rPr lang="en-US" altLang="en-US" sz="8000" b="1" dirty="0">
                <a:solidFill>
                  <a:srgbClr val="7030A0"/>
                </a:solidFill>
                <a:latin typeface="Times" panose="02020603050405020304" pitchFamily="18" charset="0"/>
              </a:rPr>
              <a:t>Module - 4 </a:t>
            </a:r>
            <a:br>
              <a:rPr lang="en-US" altLang="en-US" sz="8000" b="1" dirty="0">
                <a:solidFill>
                  <a:srgbClr val="3333CC"/>
                </a:solidFill>
                <a:latin typeface="Times" panose="02020603050405020304" pitchFamily="18" charset="0"/>
              </a:rPr>
            </a:br>
            <a:r>
              <a:rPr lang="en-US" altLang="en-US" sz="8000" b="1" dirty="0">
                <a:solidFill>
                  <a:srgbClr val="3333CC"/>
                </a:solidFill>
                <a:latin typeface="Times" panose="02020603050405020304" pitchFamily="18" charset="0"/>
              </a:rPr>
              <a:t>		</a:t>
            </a:r>
            <a:r>
              <a:rPr lang="en-US" sz="8000" b="1" i="0" u="none" strike="noStrike" cap="none" dirty="0">
                <a:solidFill>
                  <a:srgbClr val="0000FF"/>
                </a:solidFill>
                <a:latin typeface="Times" panose="02020603050405020304" pitchFamily="18" charset="0"/>
                <a:ea typeface="Helvetica Neue"/>
                <a:cs typeface="Times" panose="02020603050405020304" pitchFamily="18" charset="0"/>
                <a:sym typeface="Helvetica Neue"/>
              </a:rPr>
              <a:t>Fundamentals of Digital Image Processing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6000" dirty="0" err="1"/>
              <a:t>Text:Rafael</a:t>
            </a:r>
            <a:r>
              <a:rPr lang="en-US" sz="6000" dirty="0"/>
              <a:t> C. Gonzalez and Richard E. Woods, Digital Image Processing. Pearson, 4e, 2017</a:t>
            </a:r>
            <a:endParaRPr lang="en-US" sz="8000" b="1" i="0" u="none" strike="noStrike" cap="none" dirty="0">
              <a:solidFill>
                <a:srgbClr val="0000FF"/>
              </a:solidFill>
              <a:latin typeface="Times" panose="02020603050405020304" pitchFamily="18" charset="0"/>
              <a:ea typeface="Helvetica Neue"/>
              <a:cs typeface="Times" panose="02020603050405020304" pitchFamily="18" charset="0"/>
              <a:sym typeface="Helvetica Neue"/>
            </a:endParaRPr>
          </a:p>
          <a:p>
            <a:pPr algn="l">
              <a:buClr>
                <a:schemeClr val="accent6">
                  <a:lumMod val="75000"/>
                </a:schemeClr>
              </a:buClr>
              <a:buNone/>
            </a:pPr>
            <a:r>
              <a:rPr lang="en-US" sz="5400" b="1" i="0" u="sng" strike="noStrike" baseline="0" dirty="0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SYLLABUS</a:t>
            </a:r>
          </a:p>
          <a:p>
            <a:pPr marL="446088" indent="-446088" algn="l">
              <a:buClr>
                <a:schemeClr val="accent6">
                  <a:lumMod val="75000"/>
                </a:schemeClr>
              </a:buClr>
            </a:pPr>
            <a:r>
              <a:rPr lang="en-US" sz="5400" b="0" i="0" u="none" strike="noStrike" baseline="0" dirty="0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Introduction to Image Processing and applications. </a:t>
            </a:r>
          </a:p>
          <a:p>
            <a:pPr marL="446088" indent="-446088" algn="l">
              <a:buClr>
                <a:schemeClr val="accent6">
                  <a:lumMod val="75000"/>
                </a:schemeClr>
              </a:buClr>
            </a:pPr>
            <a:r>
              <a:rPr lang="en-US" sz="5400" b="0" i="0" u="none" strike="noStrike" baseline="0" dirty="0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Image as 2D data. Image representation in Gray scale, Binary and </a:t>
            </a:r>
            <a:r>
              <a:rPr lang="en-US" sz="5400" b="0" i="0" u="none" strike="noStrike" baseline="0" dirty="0" err="1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Colour</a:t>
            </a:r>
            <a:r>
              <a:rPr lang="en-US" sz="5400" b="0" i="0" u="none" strike="noStrike" baseline="0" dirty="0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 images. </a:t>
            </a:r>
          </a:p>
          <a:p>
            <a:pPr marL="446088" indent="-446088" algn="l">
              <a:buClr>
                <a:schemeClr val="accent6">
                  <a:lumMod val="75000"/>
                </a:schemeClr>
              </a:buClr>
            </a:pPr>
            <a:r>
              <a:rPr lang="en-US" sz="5400" b="0" i="0" u="none" strike="noStrike" baseline="0" dirty="0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Fundamental steps in Image Processing. Components of image processing system. Coordinate conventions. Sampling and quantization. Spatial and Gray Level Resolution. </a:t>
            </a:r>
          </a:p>
          <a:p>
            <a:pPr marL="446088" indent="-446088" algn="l">
              <a:buClr>
                <a:schemeClr val="accent6">
                  <a:lumMod val="75000"/>
                </a:schemeClr>
              </a:buClr>
            </a:pPr>
            <a:r>
              <a:rPr lang="en-US" sz="5400" b="0" i="0" u="none" strike="noStrike" baseline="0" dirty="0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Basic relationship between pixels– </a:t>
            </a:r>
            <a:r>
              <a:rPr lang="en-US" sz="5400" dirty="0" err="1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N</a:t>
            </a:r>
            <a:r>
              <a:rPr lang="en-US" sz="5400" b="0" i="0" u="none" strike="noStrike" baseline="0" dirty="0" err="1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eighbourhood</a:t>
            </a:r>
            <a:r>
              <a:rPr lang="en-US" sz="5400" b="0" i="0" u="none" strike="noStrike" baseline="0" dirty="0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, Adjacency, Connectivity.</a:t>
            </a:r>
          </a:p>
          <a:p>
            <a:pPr marL="446088" indent="-446088" algn="l">
              <a:buClr>
                <a:schemeClr val="accent6">
                  <a:lumMod val="75000"/>
                </a:schemeClr>
              </a:buClr>
            </a:pPr>
            <a:r>
              <a:rPr lang="en-US" sz="5400" b="0" i="0" u="none" strike="noStrike" baseline="0" dirty="0">
                <a:solidFill>
                  <a:schemeClr val="accent6">
                    <a:lumMod val="75000"/>
                  </a:schemeClr>
                </a:solidFill>
                <a:latin typeface="Baskerville Old Face" panose="02020602080505020303" pitchFamily="18" charset="0"/>
              </a:rPr>
              <a:t>Fundamentals of spatial domain- Convolution operation</a:t>
            </a:r>
            <a:r>
              <a:rPr lang="en-US" sz="5400" b="0" i="0" u="none" strike="noStrike" baseline="0" dirty="0">
                <a:latin typeface="Baskerville Old Face" panose="02020602080505020303" pitchFamily="18" charset="0"/>
              </a:rPr>
              <a:t>.</a:t>
            </a:r>
            <a:endParaRPr lang="en-US" sz="5400" dirty="0">
              <a:solidFill>
                <a:srgbClr val="0000FF"/>
              </a:solidFill>
              <a:latin typeface="Baskerville Old Face" panose="02020602080505020303" pitchFamily="18" charset="0"/>
              <a:cs typeface="Times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7200" b="1" dirty="0">
              <a:solidFill>
                <a:srgbClr val="3333CC"/>
              </a:solidFill>
              <a:latin typeface="Times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9D6675-12DE-61EB-2604-142223547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577A62-D941-4705-8FE8-2B8DE29854BD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1206500" y="297180"/>
            <a:ext cx="21971000" cy="81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</a:pPr>
            <a:r>
              <a:rPr lang="en-US" sz="6000" b="1" i="0" u="none" strike="noStrike" cap="none" dirty="0">
                <a:solidFill>
                  <a:srgbClr val="C00000"/>
                </a:solidFill>
                <a:latin typeface="Helvetica Neue" panose="020B0604020202020204" charset="0"/>
                <a:sym typeface="Helvetica Neue"/>
              </a:rPr>
              <a:t>IMAGE PROCESSING –</a:t>
            </a:r>
            <a:r>
              <a:rPr lang="en-US" sz="6000" b="1" i="0" u="none" strike="noStrike" cap="none" dirty="0">
                <a:solidFill>
                  <a:srgbClr val="C00000"/>
                </a:solidFill>
                <a:latin typeface="Helvetica Neue" panose="020B0604020202020204" charset="0"/>
                <a:cs typeface="Times" panose="02020603050405020304" pitchFamily="18" charset="0"/>
                <a:sym typeface="Helvetica Neue"/>
              </a:rPr>
              <a:t> Fundamentals </a:t>
            </a:r>
            <a:endParaRPr sz="6000" dirty="0">
              <a:solidFill>
                <a:srgbClr val="C00000"/>
              </a:solidFill>
              <a:latin typeface="Helvetica Neue" panose="020B0604020202020204" charset="0"/>
            </a:endParaRPr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2"/>
          </p:nvPr>
        </p:nvSpPr>
        <p:spPr>
          <a:xfrm>
            <a:off x="680720" y="1451066"/>
            <a:ext cx="23459440" cy="1196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481583" lvl="0" indent="-48158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63"/>
              <a:buFont typeface="Helvetica Neue"/>
              <a:buChar char="•"/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Image processing</a:t>
            </a:r>
            <a:r>
              <a:rPr lang="en-US" sz="4400" dirty="0">
                <a:solidFill>
                  <a:srgbClr val="C00000"/>
                </a:solidFill>
              </a:rPr>
              <a:t> </a:t>
            </a:r>
            <a:r>
              <a:rPr lang="en-US" sz="4400" dirty="0"/>
              <a:t>involves </a:t>
            </a:r>
            <a:r>
              <a:rPr lang="en-US" sz="4400" dirty="0">
                <a:solidFill>
                  <a:srgbClr val="0000FF"/>
                </a:solidFill>
              </a:rPr>
              <a:t>processing or altering an existing image in a desired manner</a:t>
            </a:r>
            <a:r>
              <a:rPr lang="en-US" sz="4400" dirty="0"/>
              <a:t>.</a:t>
            </a:r>
            <a:endParaRPr sz="4400" dirty="0"/>
          </a:p>
          <a:p>
            <a:pPr marL="481583" lvl="0" indent="-481583" algn="l" rtl="0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4663"/>
              <a:buFont typeface="Helvetica Neue"/>
              <a:buChar char="•"/>
            </a:pPr>
            <a:r>
              <a:rPr lang="en-US" b="1" dirty="0">
                <a:solidFill>
                  <a:srgbClr val="C00000"/>
                </a:solidFill>
              </a:rPr>
              <a:t>Digital Image Processing - Two major tasks : </a:t>
            </a:r>
            <a:endParaRPr b="1" dirty="0">
              <a:solidFill>
                <a:srgbClr val="C00000"/>
              </a:solidFill>
            </a:endParaRPr>
          </a:p>
          <a:p>
            <a:pPr marL="963167" lvl="1" indent="-481583" algn="l" rtl="0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4663"/>
              <a:buFont typeface="Helvetica Neue"/>
              <a:buChar char="•"/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Improvement of pictorial information </a:t>
            </a:r>
            <a:r>
              <a:rPr lang="en-US" sz="4400" dirty="0"/>
              <a:t>for </a:t>
            </a:r>
            <a:r>
              <a:rPr lang="en-US" sz="4400" dirty="0">
                <a:solidFill>
                  <a:srgbClr val="0000FF"/>
                </a:solidFill>
              </a:rPr>
              <a:t>human interpretation </a:t>
            </a:r>
            <a:endParaRPr sz="4400" dirty="0">
              <a:solidFill>
                <a:srgbClr val="0000FF"/>
              </a:solidFill>
            </a:endParaRPr>
          </a:p>
          <a:p>
            <a:pPr marL="963167" lvl="1" indent="-481583" algn="l" rtl="0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4663"/>
              <a:buFont typeface="Helvetica Neue"/>
              <a:buChar char="•"/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Processing of image data </a:t>
            </a:r>
            <a:r>
              <a:rPr lang="en-US" sz="4400" dirty="0"/>
              <a:t>for </a:t>
            </a:r>
            <a:r>
              <a:rPr lang="en-US" sz="4400" dirty="0">
                <a:solidFill>
                  <a:srgbClr val="0000FF"/>
                </a:solidFill>
              </a:rPr>
              <a:t>storage, transmission and representation for autonomous machine perception </a:t>
            </a:r>
            <a:endParaRPr sz="4400" dirty="0">
              <a:solidFill>
                <a:srgbClr val="0000FF"/>
              </a:solidFill>
            </a:endParaRPr>
          </a:p>
          <a:p>
            <a:pPr marL="481583" lvl="0" indent="-481583" algn="l" rtl="0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4663"/>
              <a:buFont typeface="Helvetica Neue"/>
              <a:buChar char="•"/>
            </a:pPr>
            <a:r>
              <a:rPr lang="en-US" sz="4400" dirty="0"/>
              <a:t> </a:t>
            </a:r>
            <a:r>
              <a:rPr lang="en-US" b="1" dirty="0">
                <a:solidFill>
                  <a:srgbClr val="C00000"/>
                </a:solidFill>
              </a:rPr>
              <a:t>Need(Purpose) of image processing:-</a:t>
            </a:r>
            <a:endParaRPr b="1" dirty="0">
              <a:solidFill>
                <a:srgbClr val="C00000"/>
              </a:solidFill>
            </a:endParaRPr>
          </a:p>
          <a:p>
            <a:pPr marL="963167" lvl="1" indent="-481583" algn="l" rtl="0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4663"/>
              <a:buFont typeface="Helvetica Neue"/>
              <a:buChar char="•"/>
            </a:pPr>
            <a:r>
              <a:rPr lang="en-US" sz="4400" dirty="0"/>
              <a:t>Since the digital image is 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“invisible” </a:t>
            </a:r>
            <a:r>
              <a:rPr lang="en-US" sz="4400" dirty="0"/>
              <a:t>it must be </a:t>
            </a:r>
            <a:r>
              <a:rPr lang="en-US" sz="4400" dirty="0">
                <a:solidFill>
                  <a:srgbClr val="0000FF"/>
                </a:solidFill>
              </a:rPr>
              <a:t>prepared for viewing on one or more output device</a:t>
            </a:r>
            <a:r>
              <a:rPr lang="en-US" sz="4400" dirty="0"/>
              <a:t> (laser printer, monitor, </a:t>
            </a:r>
            <a:r>
              <a:rPr lang="en-US" sz="4400" dirty="0" err="1"/>
              <a:t>etc</a:t>
            </a:r>
            <a:r>
              <a:rPr lang="en-US" sz="4400" dirty="0"/>
              <a:t>)</a:t>
            </a:r>
            <a:endParaRPr sz="4400" dirty="0"/>
          </a:p>
          <a:p>
            <a:pPr marL="963167" lvl="1" indent="-481583" algn="l" rtl="0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4663"/>
              <a:buFont typeface="Helvetica Neue"/>
              <a:buChar char="•"/>
            </a:pPr>
            <a:r>
              <a:rPr lang="en-US" sz="4400" dirty="0"/>
              <a:t>The digital image can be 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optimized</a:t>
            </a:r>
            <a:r>
              <a:rPr lang="en-US" sz="4400" dirty="0"/>
              <a:t> for the application by </a:t>
            </a:r>
            <a:r>
              <a:rPr lang="en-US" sz="4400" dirty="0">
                <a:solidFill>
                  <a:srgbClr val="0000FF"/>
                </a:solidFill>
              </a:rPr>
              <a:t>enhancing or altering the appearance of structures </a:t>
            </a:r>
            <a:r>
              <a:rPr lang="en-US" sz="4400" dirty="0"/>
              <a:t>within it (based on: body part, diagnostic task, viewing preferences, </a:t>
            </a:r>
            <a:r>
              <a:rPr lang="en-US" sz="4400" dirty="0" err="1"/>
              <a:t>etc</a:t>
            </a:r>
            <a:r>
              <a:rPr lang="en-US" sz="4400" dirty="0"/>
              <a:t>)</a:t>
            </a:r>
            <a:endParaRPr sz="4400" dirty="0"/>
          </a:p>
          <a:p>
            <a:pPr marL="963167" lvl="1" indent="-481583" algn="l" rtl="0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4663"/>
              <a:buFont typeface="Helvetica Neue"/>
              <a:buChar char="•"/>
            </a:pPr>
            <a:r>
              <a:rPr lang="en-US" sz="4400" dirty="0"/>
              <a:t>It might be possible to 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analyze the image in the computer and provide cues </a:t>
            </a:r>
            <a:r>
              <a:rPr lang="en-US" sz="4400" dirty="0"/>
              <a:t>to the radiologists to help </a:t>
            </a:r>
            <a:r>
              <a:rPr lang="en-US" sz="4400" dirty="0">
                <a:solidFill>
                  <a:srgbClr val="0000FF"/>
                </a:solidFill>
              </a:rPr>
              <a:t>detect important/suspicious structures </a:t>
            </a:r>
            <a:r>
              <a:rPr lang="en-US" sz="4400" dirty="0"/>
              <a:t>(</a:t>
            </a:r>
            <a:r>
              <a:rPr lang="en-US" sz="4400" dirty="0" err="1"/>
              <a:t>e.g.:Computed</a:t>
            </a:r>
            <a:r>
              <a:rPr lang="en-US" sz="4400" dirty="0"/>
              <a:t> Aided Diagnosis, CAD)</a:t>
            </a:r>
            <a:endParaRPr sz="4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C8E6AE-39E8-0128-7C5A-2FA82B27A7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882433" y="258277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</a:pPr>
            <a:r>
              <a:rPr lang="en-US" sz="6000" b="1" i="0" u="none" strike="noStrike" cap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Processing Fields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547281" y="1639143"/>
            <a:ext cx="21971000" cy="3708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962025" lvl="2" indent="-685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Wingdings" panose="05000000000000000000" pitchFamily="2" charset="2"/>
              <a:buChar char="v"/>
            </a:pPr>
            <a:r>
              <a:rPr lang="en-US" sz="4800" b="0" i="0" u="none" strike="noStrike" cap="none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Graphics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48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Creation of images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  <a:p>
            <a:pPr marL="962025" lvl="2" indent="-68580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Wingdings" panose="05000000000000000000" pitchFamily="2" charset="2"/>
              <a:buChar char="v"/>
            </a:pPr>
            <a:r>
              <a:rPr lang="en-US" sz="4800" b="0" i="0" u="none" strike="noStrike" cap="none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Processing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48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Enhancement or other manipulation of the image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  <a:p>
            <a:pPr marL="962025" lvl="2" indent="-68580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Wingdings" panose="05000000000000000000" pitchFamily="2" charset="2"/>
              <a:buChar char="v"/>
            </a:pPr>
            <a:r>
              <a:rPr lang="en-US" sz="4800" b="0" i="0" u="none" strike="noStrike" cap="none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Vision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48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 of the image content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882433" y="5347196"/>
            <a:ext cx="21971000" cy="171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continuum from </a:t>
            </a:r>
            <a:r>
              <a:rPr lang="en-US" sz="4800" b="0" i="0" u="none" strike="noStrike" cap="none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processing to computer vision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broken up into </a:t>
            </a:r>
            <a:r>
              <a:rPr lang="en-US" sz="48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low, mid and </a:t>
            </a:r>
            <a:r>
              <a:rPr lang="en-US" sz="4800" b="0" i="0" u="none" strike="noStrike" cap="none">
                <a:solidFill>
                  <a:schemeClr val="accent6">
                    <a:lumMod val="75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high-level processes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91" name="Google Shape;91;p19"/>
          <p:cNvGraphicFramePr/>
          <p:nvPr>
            <p:extLst>
              <p:ext uri="{D42A27DB-BD31-4B8C-83A1-F6EECF244321}">
                <p14:modId xmlns:p14="http://schemas.microsoft.com/office/powerpoint/2010/main" val="1235037171"/>
              </p:ext>
            </p:extLst>
          </p:nvPr>
        </p:nvGraphicFramePr>
        <p:xfrm>
          <a:off x="2645272" y="8344712"/>
          <a:ext cx="4578566" cy="3963250"/>
        </p:xfrm>
        <a:graphic>
          <a:graphicData uri="http://schemas.openxmlformats.org/drawingml/2006/table">
            <a:tbl>
              <a:tblPr>
                <a:noFill/>
                <a:tableStyleId>{4575F0CE-A362-4DAC-9FC9-68171C41BA2F}</a:tableStyleId>
              </a:tblPr>
              <a:tblGrid>
                <a:gridCol w="4578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8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100"/>
                        <a:buFont typeface="Helvetica Neue"/>
                        <a:buNone/>
                      </a:pPr>
                      <a:r>
                        <a:rPr lang="en-US" sz="3600" u="none" strike="noStrike" cap="none" dirty="0">
                          <a:solidFill>
                            <a:srgbClr val="0000FF"/>
                          </a:solidFill>
                        </a:rPr>
                        <a:t>Low Level Process</a:t>
                      </a:r>
                      <a:endParaRPr sz="3600" dirty="0">
                        <a:solidFill>
                          <a:srgbClr val="0000FF"/>
                        </a:solidFill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4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Helvetica Neue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Input: Image </a:t>
                      </a:r>
                      <a:b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</a:br>
                      <a: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Output: Image </a:t>
                      </a:r>
                      <a:b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</a:br>
                      <a: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Examples: Noise removal, image sharpening </a:t>
                      </a:r>
                      <a:endParaRPr sz="36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" name="Google Shape;92;p19"/>
          <p:cNvGraphicFramePr/>
          <p:nvPr>
            <p:extLst>
              <p:ext uri="{D42A27DB-BD31-4B8C-83A1-F6EECF244321}">
                <p14:modId xmlns:p14="http://schemas.microsoft.com/office/powerpoint/2010/main" val="4241080909"/>
              </p:ext>
            </p:extLst>
          </p:nvPr>
        </p:nvGraphicFramePr>
        <p:xfrm>
          <a:off x="8137972" y="8344712"/>
          <a:ext cx="4578566" cy="3963250"/>
        </p:xfrm>
        <a:graphic>
          <a:graphicData uri="http://schemas.openxmlformats.org/drawingml/2006/table">
            <a:tbl>
              <a:tblPr>
                <a:noFill/>
                <a:tableStyleId>{4575F0CE-A362-4DAC-9FC9-68171C41BA2F}</a:tableStyleId>
              </a:tblPr>
              <a:tblGrid>
                <a:gridCol w="4578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8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100"/>
                        <a:buFont typeface="Helvetica Neue"/>
                        <a:buNone/>
                      </a:pPr>
                      <a:r>
                        <a:rPr lang="en-US" sz="3600" u="none" strike="noStrike" cap="none" dirty="0">
                          <a:solidFill>
                            <a:srgbClr val="0000FF"/>
                          </a:solidFill>
                        </a:rPr>
                        <a:t>Mid Level Process</a:t>
                      </a:r>
                      <a:endParaRPr sz="3600" dirty="0">
                        <a:solidFill>
                          <a:srgbClr val="0000FF"/>
                        </a:solidFill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4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Helvetica Neue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Input: Image </a:t>
                      </a:r>
                      <a:b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</a:br>
                      <a: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Output: Attributes</a:t>
                      </a:r>
                      <a:b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</a:br>
                      <a: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Examples: Object recognition, segmentation </a:t>
                      </a:r>
                      <a:endParaRPr sz="36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3" name="Google Shape;93;p19"/>
          <p:cNvGraphicFramePr/>
          <p:nvPr>
            <p:extLst>
              <p:ext uri="{D42A27DB-BD31-4B8C-83A1-F6EECF244321}">
                <p14:modId xmlns:p14="http://schemas.microsoft.com/office/powerpoint/2010/main" val="1934455036"/>
              </p:ext>
            </p:extLst>
          </p:nvPr>
        </p:nvGraphicFramePr>
        <p:xfrm>
          <a:off x="13220335" y="8344712"/>
          <a:ext cx="5446839" cy="3963250"/>
        </p:xfrm>
        <a:graphic>
          <a:graphicData uri="http://schemas.openxmlformats.org/drawingml/2006/table">
            <a:tbl>
              <a:tblPr>
                <a:noFill/>
                <a:tableStyleId>{4575F0CE-A362-4DAC-9FC9-68171C41BA2F}</a:tableStyleId>
              </a:tblPr>
              <a:tblGrid>
                <a:gridCol w="5446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8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100"/>
                        <a:buFont typeface="Helvetica Neue"/>
                        <a:buNone/>
                      </a:pPr>
                      <a:r>
                        <a:rPr lang="en-US" sz="3600" u="none" strike="noStrike" cap="none" dirty="0">
                          <a:solidFill>
                            <a:srgbClr val="0000FF"/>
                          </a:solidFill>
                        </a:rPr>
                        <a:t>High Level Process</a:t>
                      </a:r>
                      <a:endParaRPr sz="3600" dirty="0">
                        <a:solidFill>
                          <a:srgbClr val="0000FF"/>
                        </a:solidFill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4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Helvetica Neue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Input: Attributes</a:t>
                      </a:r>
                      <a:b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</a:br>
                      <a: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Output: Understanding </a:t>
                      </a:r>
                      <a:b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</a:br>
                      <a:r>
                        <a:rPr lang="en-US" sz="3600" u="none" strike="noStrike" cap="none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Examples: Scene understanding, autonomous navigation</a:t>
                      </a:r>
                      <a:endParaRPr sz="36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4" name="Google Shape;94;p19"/>
          <p:cNvSpPr/>
          <p:nvPr/>
        </p:nvSpPr>
        <p:spPr>
          <a:xfrm>
            <a:off x="2645271" y="12605676"/>
            <a:ext cx="16238152" cy="408576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B5A2B4-0822-8A21-5F94-7A4FE4E04D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6C4725-F34D-0927-47CE-0E87EE524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2659" y="80683"/>
            <a:ext cx="22074841" cy="12316257"/>
          </a:xfrm>
        </p:spPr>
        <p:txBody>
          <a:bodyPr/>
          <a:lstStyle/>
          <a:p>
            <a:pPr marL="88011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4400" dirty="0">
                <a:solidFill>
                  <a:srgbClr val="FF0000"/>
                </a:solidFill>
              </a:rPr>
              <a:t>       Digital Image Processing Applications</a:t>
            </a:r>
          </a:p>
          <a:p>
            <a:pPr marL="8801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4000" dirty="0">
                <a:solidFill>
                  <a:schemeClr val="tx1"/>
                </a:solidFill>
              </a:rPr>
              <a:t>1)Gamma Ray Imaging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Astronomical observations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Medical applications</a:t>
            </a:r>
          </a:p>
          <a:p>
            <a:pPr marL="88011" indent="0">
              <a:lnSpc>
                <a:spcPct val="100000"/>
              </a:lnSpc>
              <a:spcBef>
                <a:spcPts val="0"/>
              </a:spcBef>
              <a:buNone/>
              <a:tabLst>
                <a:tab pos="268288" algn="l"/>
              </a:tabLst>
            </a:pPr>
            <a:r>
              <a:rPr lang="en-US" sz="4000" dirty="0">
                <a:solidFill>
                  <a:schemeClr val="tx1"/>
                </a:solidFill>
              </a:rPr>
              <a:t>	2) X-ray Imaging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Medical diagnostics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Angiography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Computerized axial tomography (CT scan)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Industry applications</a:t>
            </a:r>
          </a:p>
          <a:p>
            <a:pPr marL="8801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4000" dirty="0">
                <a:solidFill>
                  <a:schemeClr val="tx1"/>
                </a:solidFill>
              </a:rPr>
              <a:t>3) Ultraviolet Imaging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Lithography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Industrial inspection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microscopy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lasers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tx1"/>
                </a:solidFill>
              </a:rPr>
              <a:t>astronomical observations.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065EF-FAAF-1E00-24B3-F8B1FBE744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9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6C4725-F34D-0927-47CE-0E87EE524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2659" y="80683"/>
            <a:ext cx="22074841" cy="12316257"/>
          </a:xfrm>
        </p:spPr>
        <p:txBody>
          <a:bodyPr/>
          <a:lstStyle/>
          <a:p>
            <a:pPr marL="88011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4800" dirty="0">
                <a:solidFill>
                  <a:srgbClr val="FF0000"/>
                </a:solidFill>
              </a:rPr>
              <a:t> Digital Image Processing Applications</a:t>
            </a:r>
            <a:endParaRPr lang="en-US" dirty="0">
              <a:solidFill>
                <a:srgbClr val="FF0000"/>
              </a:solidFill>
            </a:endParaRPr>
          </a:p>
          <a:p>
            <a:pPr marL="8801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4400" dirty="0">
                <a:solidFill>
                  <a:schemeClr val="tx1"/>
                </a:solidFill>
              </a:rPr>
              <a:t>4) Imaging in the visible and Infrared band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tx1"/>
                </a:solidFill>
              </a:rPr>
              <a:t>light microscopy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tx1"/>
                </a:solidFill>
              </a:rPr>
              <a:t>astronomy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tx1"/>
                </a:solidFill>
              </a:rPr>
              <a:t>remote sensing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tx1"/>
                </a:solidFill>
              </a:rPr>
              <a:t>industry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tx1"/>
                </a:solidFill>
              </a:rPr>
              <a:t>law enforcement (biometrics)</a:t>
            </a:r>
          </a:p>
          <a:p>
            <a:pPr marL="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4400" dirty="0">
                <a:solidFill>
                  <a:schemeClr val="tx1"/>
                </a:solidFill>
              </a:rPr>
              <a:t>5)Imaging in the Microwave Band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tx1"/>
                </a:solidFill>
              </a:rPr>
              <a:t>Radar —collect data over virtually any region at any time , regardless of weather or ambient lighting conditions</a:t>
            </a:r>
          </a:p>
          <a:p>
            <a:pPr marL="8801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4400" dirty="0">
                <a:solidFill>
                  <a:schemeClr val="tx1"/>
                </a:solidFill>
              </a:rPr>
              <a:t> 6) Imaging in the Radio Band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tx1"/>
                </a:solidFill>
              </a:rPr>
              <a:t>Medicine —magnetic resonance imaging (MRI)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tx1"/>
                </a:solidFill>
              </a:rPr>
              <a:t>Astronomy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AF8CB4-20ED-0BF2-A4C1-29DFC6D127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1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1159665" y="83026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790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Fundamental Steps in Digital Image Processing</a:t>
            </a:r>
            <a:endParaRPr sz="6000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16ECA-774B-6B6D-07EF-10E180506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335" y="1127051"/>
            <a:ext cx="21450721" cy="125059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9AD2A46-D999-FCC9-D3FB-3EDA65563849}"/>
              </a:ext>
            </a:extLst>
          </p:cNvPr>
          <p:cNvSpPr/>
          <p:nvPr/>
        </p:nvSpPr>
        <p:spPr>
          <a:xfrm>
            <a:off x="1667435" y="10515600"/>
            <a:ext cx="537883" cy="56477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47A8B7-A9D8-6669-CA0B-A208A06E23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>
            <a:spLocks noGrp="1"/>
          </p:cNvSpPr>
          <p:nvPr>
            <p:ph type="body" idx="1"/>
          </p:nvPr>
        </p:nvSpPr>
        <p:spPr>
          <a:xfrm>
            <a:off x="324601" y="786809"/>
            <a:ext cx="23734798" cy="232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Step 1 : Image Acquisition</a:t>
            </a:r>
          </a:p>
          <a:p>
            <a:pPr marL="36195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 panose="020B0604020202020204" pitchFamily="34" charset="0"/>
              <a:buChar char="•"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image is captured by a </a:t>
            </a:r>
            <a:r>
              <a:rPr lang="en-US" sz="4800" b="0" i="0" u="none" strike="noStrike" cap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sensor (</a:t>
            </a:r>
            <a:r>
              <a:rPr lang="en-US" sz="4800" b="0" i="0" u="none" strike="noStrike" cap="none" dirty="0" err="1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eg.</a:t>
            </a:r>
            <a:r>
              <a:rPr lang="en-US" sz="4800" b="0" i="0" u="none" strike="noStrike" cap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Camera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and </a:t>
            </a:r>
            <a:r>
              <a:rPr lang="en-US" sz="4800" b="0" i="0" u="none" strike="noStrike" cap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digitized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the output of the camera or sensor is not already in digital form, </a:t>
            </a:r>
            <a:r>
              <a:rPr lang="en-US"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analog-to-digital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convertor.</a:t>
            </a:r>
            <a:endParaRPr sz="4800" dirty="0">
              <a:solidFill>
                <a:srgbClr val="0000FF"/>
              </a:solidFill>
            </a:endParaRPr>
          </a:p>
        </p:txBody>
      </p:sp>
      <p:pic>
        <p:nvPicPr>
          <p:cNvPr id="242" name="Google Shape;242;p30" descr="Screenshot 2020-12-28 at 12.09.5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147" y="3416968"/>
            <a:ext cx="22932190" cy="100246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64;p29">
            <a:extLst>
              <a:ext uri="{FF2B5EF4-FFF2-40B4-BE49-F238E27FC236}">
                <a16:creationId xmlns:a16="http://schemas.microsoft.com/office/drawing/2014/main" id="{40B0F065-58FC-FD64-58D3-AD9E27136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665" y="83026"/>
            <a:ext cx="21971000" cy="703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790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Fundamental Steps in Digital Image Processing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4092D3-2D01-666F-A555-341558963D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>
            <a:spLocks noGrp="1"/>
          </p:cNvSpPr>
          <p:nvPr>
            <p:ph type="body" idx="1"/>
          </p:nvPr>
        </p:nvSpPr>
        <p:spPr>
          <a:xfrm>
            <a:off x="350610" y="1076327"/>
            <a:ext cx="219711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Step 2 : Image Enhancement</a:t>
            </a:r>
          </a:p>
          <a:p>
            <a:pPr marL="414527" lvl="0" indent="-414527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4015"/>
              <a:buFont typeface="Helvetica Neue"/>
              <a:buChar char="•"/>
            </a:pPr>
            <a:r>
              <a:rPr lang="en-US" sz="4800" b="0" dirty="0"/>
              <a:t>The process of manipulating an image so that the </a:t>
            </a:r>
            <a:r>
              <a:rPr lang="en-US" sz="4800" b="0" dirty="0">
                <a:solidFill>
                  <a:srgbClr val="0000FF"/>
                </a:solidFill>
              </a:rPr>
              <a:t>result is more suitable than the original for specific applications. </a:t>
            </a:r>
          </a:p>
          <a:p>
            <a:pPr marL="414527" lvl="0" indent="-414527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4015"/>
              <a:buFont typeface="Helvetica Neue"/>
              <a:buChar char="•"/>
            </a:pPr>
            <a:r>
              <a:rPr lang="en-US" sz="4800" b="0" dirty="0"/>
              <a:t>The idea behind </a:t>
            </a:r>
            <a:r>
              <a:rPr lang="en-US" sz="4800" b="0" dirty="0">
                <a:solidFill>
                  <a:srgbClr val="C00000"/>
                </a:solidFill>
              </a:rPr>
              <a:t>enhancement techniques </a:t>
            </a:r>
            <a:r>
              <a:rPr lang="en-US" sz="4800" b="0" dirty="0"/>
              <a:t>is to </a:t>
            </a:r>
            <a:r>
              <a:rPr lang="en-US" sz="4800" b="0" dirty="0">
                <a:solidFill>
                  <a:srgbClr val="0000FF"/>
                </a:solidFill>
              </a:rPr>
              <a:t>bring out details that are hidden</a:t>
            </a:r>
            <a:r>
              <a:rPr lang="en-US" sz="4800" b="0" dirty="0"/>
              <a:t>, or simply to </a:t>
            </a:r>
            <a:r>
              <a:rPr lang="en-US" sz="4800" b="0" dirty="0">
                <a:solidFill>
                  <a:srgbClr val="0000FF"/>
                </a:solidFill>
              </a:rPr>
              <a:t>highlight certain features of interest </a:t>
            </a:r>
            <a:r>
              <a:rPr lang="en-US" sz="4800" b="0" dirty="0"/>
              <a:t>in an image.	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endParaRPr dirty="0">
              <a:solidFill>
                <a:srgbClr val="0000FF"/>
              </a:solidFill>
            </a:endParaRPr>
          </a:p>
        </p:txBody>
      </p:sp>
      <p:pic>
        <p:nvPicPr>
          <p:cNvPr id="250" name="Google Shape;250;p31" descr="Screenshot 2020-12-28 at 12.16.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0379" y="5592727"/>
            <a:ext cx="17975179" cy="739855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64;p29">
            <a:extLst>
              <a:ext uri="{FF2B5EF4-FFF2-40B4-BE49-F238E27FC236}">
                <a16:creationId xmlns:a16="http://schemas.microsoft.com/office/drawing/2014/main" id="{2180C04E-8BCC-0722-FB16-37DA366FAE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665" y="83027"/>
            <a:ext cx="219710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790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Fundamental Steps in Digital Image Processing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0922CB-2E28-28DC-A5E6-45139F2965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>
            <a:spLocks noGrp="1"/>
          </p:cNvSpPr>
          <p:nvPr>
            <p:ph type="body" idx="1"/>
          </p:nvPr>
        </p:nvSpPr>
        <p:spPr>
          <a:xfrm>
            <a:off x="563793" y="1046868"/>
            <a:ext cx="23635909" cy="4733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Step 3 : Image Restoration</a:t>
            </a:r>
          </a:p>
          <a:p>
            <a:pPr marL="469391" marR="0" lvl="0" indent="-469391" algn="l" defTabSz="914400" rtl="0" eaLnBrk="1" fontAlgn="auto" latinLnBrk="0" hangingPunct="1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4546"/>
              <a:buFont typeface="Helvetica Neue"/>
              <a:buChar char="•"/>
              <a:tabLst/>
              <a:defRPr/>
            </a:pPr>
            <a:r>
              <a:rPr lang="en-US" sz="4800" b="0" dirty="0">
                <a:solidFill>
                  <a:srgbClr val="C00000"/>
                </a:solidFill>
              </a:rPr>
              <a:t>Restoration</a:t>
            </a:r>
            <a:r>
              <a:rPr lang="en-US" sz="4800" b="1" dirty="0">
                <a:solidFill>
                  <a:srgbClr val="0000FF"/>
                </a:solidFill>
              </a:rPr>
              <a:t> - 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 Neue"/>
                <a:sym typeface="Helvetica Neue"/>
              </a:rPr>
              <a:t>Improving the appearance 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t>of an image. Tend to be 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 Neue"/>
                <a:sym typeface="Helvetica Neue"/>
              </a:rPr>
              <a:t>mathematical or probabilistic models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t>. (objective procedure)</a:t>
            </a:r>
          </a:p>
          <a:p>
            <a:pPr marL="469391" marR="0" lvl="0" indent="-469391" algn="l" defTabSz="914400" rtl="0" eaLnBrk="1" fontAlgn="auto" latinLnBrk="0" hangingPunct="1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ts val="4546"/>
              <a:buFont typeface="Helvetica Neue"/>
              <a:buChar char="•"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/>
                <a:sym typeface="Helvetica Neue"/>
              </a:rPr>
              <a:t>Enhancement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t>, on the other hand, is based on 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 Neue"/>
                <a:sym typeface="Helvetica Neue"/>
              </a:rPr>
              <a:t>human subjective preferences 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t>regarding what constitutes a 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 Neue"/>
                <a:sym typeface="Helvetica Neue"/>
              </a:rPr>
              <a:t>“good” enhancement result.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endParaRPr lang="en-US" sz="4800" b="1" dirty="0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endParaRPr dirty="0">
              <a:solidFill>
                <a:srgbClr val="0000FF"/>
              </a:solidFill>
            </a:endParaRPr>
          </a:p>
        </p:txBody>
      </p:sp>
      <p:pic>
        <p:nvPicPr>
          <p:cNvPr id="258" name="Google Shape;258;p32" descr="Screenshot 2020-12-28 at 12.22.2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1745" y="5780577"/>
            <a:ext cx="13448004" cy="78511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64;p29">
            <a:extLst>
              <a:ext uri="{FF2B5EF4-FFF2-40B4-BE49-F238E27FC236}">
                <a16:creationId xmlns:a16="http://schemas.microsoft.com/office/drawing/2014/main" id="{07CB9AC2-7D65-47C7-B049-683E11818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665" y="83027"/>
            <a:ext cx="219710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790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Fundamental Steps in Digital Image Processing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FA25BD-2A21-653A-7CE3-D87A1C81E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>
            <a:spLocks noGrp="1"/>
          </p:cNvSpPr>
          <p:nvPr>
            <p:ph type="body" idx="1"/>
          </p:nvPr>
        </p:nvSpPr>
        <p:spPr>
          <a:xfrm>
            <a:off x="1047121" y="1206589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Step 4 : </a:t>
            </a:r>
            <a:r>
              <a:rPr lang="en-US" sz="5500" b="1" dirty="0" err="1">
                <a:solidFill>
                  <a:srgbClr val="0000FF"/>
                </a:solidFill>
              </a:rPr>
              <a:t>Colour</a:t>
            </a:r>
            <a:r>
              <a:rPr lang="en-US" sz="5500" b="1" dirty="0">
                <a:solidFill>
                  <a:srgbClr val="0000FF"/>
                </a:solidFill>
              </a:rPr>
              <a:t> Image Processing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colour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the image to extract features of interest in an image</a:t>
            </a:r>
            <a:endParaRPr lang="en-US" sz="4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endParaRPr dirty="0">
              <a:solidFill>
                <a:srgbClr val="0000FF"/>
              </a:solidFill>
            </a:endParaRPr>
          </a:p>
        </p:txBody>
      </p:sp>
      <p:pic>
        <p:nvPicPr>
          <p:cNvPr id="266" name="Google Shape;266;p33" descr="Screenshot 2020-12-28 at 12.26.1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7116" y="4465674"/>
            <a:ext cx="15239964" cy="80437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E440CB-E600-B0E9-30B5-A24142553209}"/>
              </a:ext>
            </a:extLst>
          </p:cNvPr>
          <p:cNvSpPr txBox="1"/>
          <p:nvPr/>
        </p:nvSpPr>
        <p:spPr>
          <a:xfrm>
            <a:off x="6097772" y="6704112"/>
            <a:ext cx="12195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Restoration</a:t>
            </a:r>
            <a:endParaRPr lang="en-IN" dirty="0"/>
          </a:p>
        </p:txBody>
      </p:sp>
      <p:sp>
        <p:nvSpPr>
          <p:cNvPr id="10" name="Google Shape;164;p29">
            <a:extLst>
              <a:ext uri="{FF2B5EF4-FFF2-40B4-BE49-F238E27FC236}">
                <a16:creationId xmlns:a16="http://schemas.microsoft.com/office/drawing/2014/main" id="{76A5D364-C421-0B49-A8F3-309072FF73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665" y="83027"/>
            <a:ext cx="219710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790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Fundamental Steps in Digital Image Processing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2FBD8E-A534-F424-F351-AB40D275C4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4" descr="Screenshot 2020-12-28 at 12.32.5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3348" y="4488201"/>
            <a:ext cx="10513809" cy="893210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4"/>
          <p:cNvSpPr txBox="1">
            <a:spLocks noGrp="1"/>
          </p:cNvSpPr>
          <p:nvPr>
            <p:ph type="body" idx="1"/>
          </p:nvPr>
        </p:nvSpPr>
        <p:spPr>
          <a:xfrm>
            <a:off x="366843" y="1075637"/>
            <a:ext cx="22561283" cy="289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Step 5 : Wavelets(both frequency and time info </a:t>
            </a:r>
            <a:r>
              <a:rPr lang="en-US" sz="5500" b="1">
                <a:solidFill>
                  <a:srgbClr val="0000FF"/>
                </a:solidFill>
              </a:rPr>
              <a:t>are available)</a:t>
            </a:r>
            <a:endParaRPr lang="en-US" sz="5500" b="1" dirty="0">
              <a:solidFill>
                <a:srgbClr val="0000FF"/>
              </a:solidFill>
            </a:endParaRPr>
          </a:p>
          <a:p>
            <a:pPr marL="446088" indent="-446088">
              <a:buFont typeface="Arial" panose="020B0604020202020204" pitchFamily="34" charset="0"/>
              <a:buChar char="•"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the foundation of representing images in various degrees of resolution. </a:t>
            </a:r>
          </a:p>
          <a:p>
            <a:pPr marL="446088" indent="-446088">
              <a:buFont typeface="Arial" panose="020B0604020202020204" pitchFamily="34" charset="0"/>
              <a:buChar char="•"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used for image data compression.</a:t>
            </a:r>
            <a:endParaRPr lang="en-US" sz="4800" dirty="0"/>
          </a:p>
          <a:p>
            <a:pPr marL="446088" lvl="0" indent="-4460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 panose="020B0604020202020204" pitchFamily="34" charset="0"/>
              <a:buChar char="•"/>
            </a:pPr>
            <a:endParaRPr lang="en-US" sz="4800" b="1" dirty="0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endParaRPr dirty="0">
              <a:solidFill>
                <a:srgbClr val="0000FF"/>
              </a:solidFill>
            </a:endParaRPr>
          </a:p>
        </p:txBody>
      </p:sp>
      <p:sp>
        <p:nvSpPr>
          <p:cNvPr id="274" name="Google Shape;274;p34"/>
          <p:cNvSpPr txBox="1"/>
          <p:nvPr/>
        </p:nvSpPr>
        <p:spPr>
          <a:xfrm>
            <a:off x="196722" y="5759682"/>
            <a:ext cx="13115241" cy="3194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i="0" u="none" strike="noStrike" cap="none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6 : Compression</a:t>
            </a:r>
          </a:p>
          <a:p>
            <a:pPr marL="361950" indent="-361950">
              <a:buSzPts val="5500"/>
              <a:buFont typeface="Arial" panose="020B0604020202020204" pitchFamily="34" charset="0"/>
              <a:buChar char="•"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Techniques for reducing the storage required </a:t>
            </a:r>
          </a:p>
          <a:p>
            <a:pPr>
              <a:buSzPts val="5500"/>
            </a:pPr>
            <a:r>
              <a:rPr lang="en-US" sz="4800" dirty="0"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save an image or the bandwidth required</a:t>
            </a:r>
          </a:p>
          <a:p>
            <a:pPr>
              <a:buSzPts val="5500"/>
            </a:pPr>
            <a:r>
              <a:rPr lang="en-US" sz="4800" dirty="0"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transmit it.</a:t>
            </a:r>
            <a:endParaRPr lang="en-US" sz="4800" dirty="0"/>
          </a:p>
          <a:p>
            <a:pPr marL="685800" marR="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 panose="020B0604020202020204" pitchFamily="34" charset="0"/>
              <a:buChar char="•"/>
            </a:pPr>
            <a:endParaRPr lang="en-US" sz="4800" b="1" i="0" u="none" strike="noStrike" cap="none" dirty="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12" name="Google Shape;164;p29">
            <a:extLst>
              <a:ext uri="{FF2B5EF4-FFF2-40B4-BE49-F238E27FC236}">
                <a16:creationId xmlns:a16="http://schemas.microsoft.com/office/drawing/2014/main" id="{1352E5C1-FBC7-CFD2-5827-D774FD0450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665" y="83027"/>
            <a:ext cx="219710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790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Fundamental Steps in Digital Image Processing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179D38-E12C-D1EF-9182-9B4D9F7C54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>
            <a:spLocks noGrp="1"/>
          </p:cNvSpPr>
          <p:nvPr>
            <p:ph type="body" idx="1"/>
          </p:nvPr>
        </p:nvSpPr>
        <p:spPr>
          <a:xfrm>
            <a:off x="331548" y="1118858"/>
            <a:ext cx="23102610" cy="4261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Step 7 : Morphological Processing</a:t>
            </a:r>
          </a:p>
          <a:p>
            <a:pPr marL="57600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lang="en-US" sz="4800" b="0" i="0" u="none" strike="noStrike" cap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Tools for extracting image components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are useful in the </a:t>
            </a:r>
            <a:r>
              <a:rPr lang="en-US" sz="4800" b="0" i="0" u="none" strike="noStrike" cap="none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representation and description of shape. </a:t>
            </a:r>
          </a:p>
          <a:p>
            <a:pPr marL="57600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this step, there would be a </a:t>
            </a:r>
            <a:r>
              <a:rPr lang="en-US" sz="4800" b="0" i="0" u="none" strike="noStrike" cap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transition from processes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</a:t>
            </a:r>
            <a:r>
              <a:rPr lang="en-US" sz="4800" b="0" i="0" u="none" strike="noStrike" cap="none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images, to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processes that </a:t>
            </a:r>
            <a:r>
              <a:rPr lang="en-US" sz="4800" b="0" i="0" u="none" strike="noStrike" cap="none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image attributes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lang="en-US" sz="4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endParaRPr dirty="0">
              <a:solidFill>
                <a:srgbClr val="0000FF"/>
              </a:solidFill>
            </a:endParaRPr>
          </a:p>
        </p:txBody>
      </p:sp>
      <p:pic>
        <p:nvPicPr>
          <p:cNvPr id="284" name="Google Shape;284;p35" descr="Screenshot 2020-12-28 at 12.36.4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47504" y="4912243"/>
            <a:ext cx="9986654" cy="854857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64;p29">
            <a:extLst>
              <a:ext uri="{FF2B5EF4-FFF2-40B4-BE49-F238E27FC236}">
                <a16:creationId xmlns:a16="http://schemas.microsoft.com/office/drawing/2014/main" id="{CF35A231-F5DD-64EE-7FD5-B9B8D0BEC9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665" y="83027"/>
            <a:ext cx="219710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790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Fundamental Steps in Digital Image Processing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5CAD07-8196-9DDC-408D-70C8BD0D6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>
            <a:spLocks noGrp="1"/>
          </p:cNvSpPr>
          <p:nvPr>
            <p:ph type="body" idx="1"/>
          </p:nvPr>
        </p:nvSpPr>
        <p:spPr>
          <a:xfrm>
            <a:off x="939320" y="1076327"/>
            <a:ext cx="23026465" cy="211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Step 8 : Image Segmentation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Segmentation procedures </a:t>
            </a:r>
            <a:r>
              <a:rPr lang="en-US" sz="4800" b="0" i="0" u="none" strike="noStrike" cap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partition an image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into its </a:t>
            </a:r>
            <a:r>
              <a:rPr lang="en-US" sz="4800" b="0" i="0" u="none" strike="noStrike" cap="none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constituent parts or objects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>
              <a:solidFill>
                <a:srgbClr val="0000FF"/>
              </a:solidFill>
            </a:endParaRPr>
          </a:p>
        </p:txBody>
      </p:sp>
      <p:pic>
        <p:nvPicPr>
          <p:cNvPr id="292" name="Google Shape;292;p36" descr="Screenshot 2020-12-28 at 12.57.2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8595" y="3836535"/>
            <a:ext cx="12036995" cy="88031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64;p29">
            <a:extLst>
              <a:ext uri="{FF2B5EF4-FFF2-40B4-BE49-F238E27FC236}">
                <a16:creationId xmlns:a16="http://schemas.microsoft.com/office/drawing/2014/main" id="{9094638A-6B44-71DC-DD5A-C06C945D47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9665" y="83027"/>
            <a:ext cx="219710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790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Fundamental Steps in Digital Image Processing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C1637E-48DA-13B7-F038-0B184878AA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97FF43-DAF9-57B8-8FA1-367FC32D4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6064" y="2804752"/>
            <a:ext cx="8662794" cy="9228651"/>
          </a:xfrm>
          <a:prstGeom prst="rect">
            <a:avLst/>
          </a:prstGeom>
        </p:spPr>
      </p:pic>
      <p:sp>
        <p:nvSpPr>
          <p:cNvPr id="299" name="Google Shape;299;p37"/>
          <p:cNvSpPr txBox="1">
            <a:spLocks noGrp="1"/>
          </p:cNvSpPr>
          <p:nvPr>
            <p:ph type="body" idx="2"/>
          </p:nvPr>
        </p:nvSpPr>
        <p:spPr>
          <a:xfrm>
            <a:off x="240202" y="993300"/>
            <a:ext cx="15559780" cy="12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SzPts val="4428"/>
              <a:buNone/>
            </a:pPr>
            <a:r>
              <a:rPr lang="en-US" sz="5400" b="1" dirty="0">
                <a:solidFill>
                  <a:srgbClr val="0000FF"/>
                </a:solidFill>
              </a:rPr>
              <a:t>Step 9 : Representation and Description</a:t>
            </a:r>
            <a:endParaRPr lang="en-US" sz="5400" dirty="0">
              <a:solidFill>
                <a:srgbClr val="0000FF"/>
              </a:solidFill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428"/>
              <a:buFont typeface="Helvetica Neue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Representation:  </a:t>
            </a:r>
            <a:r>
              <a:rPr lang="en-US" dirty="0"/>
              <a:t>Make a decision whether the data should be represented as </a:t>
            </a:r>
            <a:r>
              <a:rPr lang="en-US" dirty="0">
                <a:solidFill>
                  <a:srgbClr val="0000FF"/>
                </a:solidFill>
              </a:rPr>
              <a:t>a boundary or as a complete region</a:t>
            </a:r>
            <a:r>
              <a:rPr lang="en-US" dirty="0"/>
              <a:t>. It almost always follows the output of a segmentation stage.</a:t>
            </a:r>
            <a:endParaRPr dirty="0"/>
          </a:p>
          <a:p>
            <a:pPr marL="914400" lvl="1" indent="-457200" algn="l" rtl="0">
              <a:lnSpc>
                <a:spcPct val="9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4428"/>
              <a:buFont typeface="Helvetica Neue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Boundary Representation: </a:t>
            </a:r>
            <a:r>
              <a:rPr lang="en-US" dirty="0"/>
              <a:t>Focus on </a:t>
            </a:r>
            <a:r>
              <a:rPr lang="en-US" dirty="0">
                <a:solidFill>
                  <a:srgbClr val="0000FF"/>
                </a:solidFill>
              </a:rPr>
              <a:t>external shape characteristics, such as corners </a:t>
            </a:r>
            <a:endParaRPr dirty="0">
              <a:solidFill>
                <a:srgbClr val="0000FF"/>
              </a:solidFill>
            </a:endParaRPr>
          </a:p>
          <a:p>
            <a:pPr marL="914400" lvl="1" indent="-457200" algn="l" rtl="0">
              <a:lnSpc>
                <a:spcPct val="9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4428"/>
              <a:buFont typeface="Helvetica Neue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Region Representation: </a:t>
            </a:r>
            <a:r>
              <a:rPr lang="en-US" dirty="0"/>
              <a:t>Focus on </a:t>
            </a:r>
            <a:r>
              <a:rPr lang="en-US" dirty="0">
                <a:solidFill>
                  <a:srgbClr val="0000FF"/>
                </a:solidFill>
              </a:rPr>
              <a:t>internal properties, such as texture </a:t>
            </a:r>
            <a:endParaRPr dirty="0">
              <a:solidFill>
                <a:srgbClr val="0000FF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4428"/>
              <a:buFont typeface="Helvetica Neue"/>
              <a:buChar char="•"/>
            </a:pPr>
            <a:r>
              <a:rPr lang="en-US" dirty="0"/>
              <a:t>Choosing a representation is only part of the solution for </a:t>
            </a:r>
            <a:r>
              <a:rPr lang="en-US" dirty="0">
                <a:solidFill>
                  <a:srgbClr val="0000FF"/>
                </a:solidFill>
              </a:rPr>
              <a:t>transforming raw data into a form suitable for subsequent computer processing </a:t>
            </a:r>
            <a:r>
              <a:rPr lang="en-US" dirty="0"/>
              <a:t>(mainly recognition).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4428"/>
              <a:buFont typeface="Helvetica Neue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Description:</a:t>
            </a:r>
            <a:r>
              <a:rPr lang="en-US" dirty="0"/>
              <a:t> also called,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feature selection</a:t>
            </a:r>
            <a:r>
              <a:rPr lang="en-US" dirty="0"/>
              <a:t>, deals with </a:t>
            </a:r>
            <a:r>
              <a:rPr lang="en-US" dirty="0">
                <a:solidFill>
                  <a:srgbClr val="0000FF"/>
                </a:solidFill>
              </a:rPr>
              <a:t>extracting attributes that result in some information of interest</a:t>
            </a:r>
            <a:r>
              <a:rPr lang="en-US" sz="3600" dirty="0">
                <a:solidFill>
                  <a:srgbClr val="0000FF"/>
                </a:solidFill>
              </a:rPr>
              <a:t>.</a:t>
            </a:r>
            <a:endParaRPr dirty="0">
              <a:solidFill>
                <a:srgbClr val="0000FF"/>
              </a:solidFill>
            </a:endParaRPr>
          </a:p>
        </p:txBody>
      </p:sp>
      <p:sp>
        <p:nvSpPr>
          <p:cNvPr id="8" name="Google Shape;164;p29">
            <a:extLst>
              <a:ext uri="{FF2B5EF4-FFF2-40B4-BE49-F238E27FC236}">
                <a16:creationId xmlns:a16="http://schemas.microsoft.com/office/drawing/2014/main" id="{EB6019CA-24E2-07A2-B8E7-275619BCB1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302" y="0"/>
            <a:ext cx="219710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790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Fundamental Steps in Digital Image Processing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DA3E62-BADE-5958-78D4-7CA2B03639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"/>
          <p:cNvSpPr txBox="1">
            <a:spLocks noGrp="1"/>
          </p:cNvSpPr>
          <p:nvPr>
            <p:ph type="body" idx="1"/>
          </p:nvPr>
        </p:nvSpPr>
        <p:spPr>
          <a:xfrm>
            <a:off x="649302" y="893462"/>
            <a:ext cx="23085396" cy="261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Step 10: Object Recognition</a:t>
            </a:r>
          </a:p>
          <a:p>
            <a:pPr marL="446088" indent="-446088">
              <a:buFont typeface="Arial" panose="020B0604020202020204" pitchFamily="34" charset="0"/>
              <a:buChar char="•"/>
            </a:pPr>
            <a:r>
              <a:rPr lang="en-US" sz="4800" b="0" i="0" u="none" strike="noStrike" cap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Recognition: 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process that assigns label to an object based on the information provided by its description.</a:t>
            </a:r>
            <a:endParaRPr lang="en-US" sz="4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 </a:t>
            </a:r>
            <a:endParaRPr dirty="0">
              <a:solidFill>
                <a:srgbClr val="0000FF"/>
              </a:solidFill>
            </a:endParaRPr>
          </a:p>
        </p:txBody>
      </p:sp>
      <p:sp>
        <p:nvSpPr>
          <p:cNvPr id="8" name="Google Shape;164;p29">
            <a:extLst>
              <a:ext uri="{FF2B5EF4-FFF2-40B4-BE49-F238E27FC236}">
                <a16:creationId xmlns:a16="http://schemas.microsoft.com/office/drawing/2014/main" id="{32D67EE4-ECF7-FA2E-2DFD-3CE2A13824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302" y="0"/>
            <a:ext cx="219710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790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Fundamental Steps in Digital Image Processing</a:t>
            </a:r>
            <a:endParaRPr sz="6000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B6292-E1D5-929F-A279-56CC12436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1172" y="2806995"/>
            <a:ext cx="12179130" cy="83997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181E51-C2F7-5C35-10CC-2F3C5958D4FB}"/>
              </a:ext>
            </a:extLst>
          </p:cNvPr>
          <p:cNvSpPr txBox="1"/>
          <p:nvPr/>
        </p:nvSpPr>
        <p:spPr>
          <a:xfrm>
            <a:off x="649302" y="10760149"/>
            <a:ext cx="2289118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 Neue"/>
                <a:sym typeface="Helvetica Neue"/>
              </a:rPr>
              <a:t>Step 11 : Knowledge Base</a:t>
            </a:r>
          </a:p>
          <a:p>
            <a:pPr marL="446088" marR="0" lvl="0" indent="-4460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Knowledge about a problem domain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 is coded into an image processing system in the form of a 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knowledge database</a:t>
            </a: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383A7F-E229-3319-83FB-8E558DC498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>
            <a:spLocks noGrp="1"/>
          </p:cNvSpPr>
          <p:nvPr>
            <p:ph type="title"/>
          </p:nvPr>
        </p:nvSpPr>
        <p:spPr>
          <a:xfrm>
            <a:off x="1206500" y="341987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24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Components of an Image Processing System</a:t>
            </a:r>
            <a:endParaRPr sz="6000" dirty="0">
              <a:solidFill>
                <a:srgbClr val="C00000"/>
              </a:solidFill>
            </a:endParaRPr>
          </a:p>
        </p:txBody>
      </p:sp>
      <p:grpSp>
        <p:nvGrpSpPr>
          <p:cNvPr id="321" name="Google Shape;321;p40"/>
          <p:cNvGrpSpPr/>
          <p:nvPr/>
        </p:nvGrpSpPr>
        <p:grpSpPr>
          <a:xfrm>
            <a:off x="2238255" y="1263937"/>
            <a:ext cx="18707885" cy="11984231"/>
            <a:chOff x="0" y="0"/>
            <a:chExt cx="17234245" cy="11018004"/>
          </a:xfrm>
        </p:grpSpPr>
        <p:cxnSp>
          <p:nvCxnSpPr>
            <p:cNvPr id="322" name="Google Shape;322;p40"/>
            <p:cNvCxnSpPr/>
            <p:nvPr/>
          </p:nvCxnSpPr>
          <p:spPr>
            <a:xfrm>
              <a:off x="1447254" y="822238"/>
              <a:ext cx="13488145" cy="3428"/>
            </a:xfrm>
            <a:prstGeom prst="straightConnector1">
              <a:avLst/>
            </a:prstGeom>
            <a:noFill/>
            <a:ln w="9525" cap="sq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323" name="Google Shape;323;p40"/>
            <p:cNvSpPr txBox="1"/>
            <p:nvPr/>
          </p:nvSpPr>
          <p:spPr>
            <a:xfrm>
              <a:off x="6473918" y="0"/>
              <a:ext cx="5404766" cy="761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775" tIns="46775" rIns="46775" bIns="467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</p:txBody>
        </p:sp>
        <p:grpSp>
          <p:nvGrpSpPr>
            <p:cNvPr id="324" name="Google Shape;324;p40"/>
            <p:cNvGrpSpPr/>
            <p:nvPr/>
          </p:nvGrpSpPr>
          <p:grpSpPr>
            <a:xfrm>
              <a:off x="296119" y="1644478"/>
              <a:ext cx="4768989" cy="2795614"/>
              <a:chOff x="0" y="0"/>
              <a:chExt cx="4768987" cy="2795613"/>
            </a:xfrm>
          </p:grpSpPr>
          <p:sp>
            <p:nvSpPr>
              <p:cNvPr id="325" name="Google Shape;325;p40"/>
              <p:cNvSpPr/>
              <p:nvPr/>
            </p:nvSpPr>
            <p:spPr>
              <a:xfrm>
                <a:off x="0" y="0"/>
                <a:ext cx="4768987" cy="2795613"/>
              </a:xfrm>
              <a:prstGeom prst="rect">
                <a:avLst/>
              </a:prstGeom>
              <a:solidFill>
                <a:srgbClr val="FFFFFF"/>
              </a:solidFill>
              <a:ln w="25550" cap="sq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63500" dist="38183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40"/>
              <p:cNvSpPr txBox="1"/>
              <p:nvPr/>
            </p:nvSpPr>
            <p:spPr>
              <a:xfrm>
                <a:off x="120810" y="1017093"/>
                <a:ext cx="4527366" cy="7614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775" tIns="46775" rIns="46775" bIns="467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lang="en-US" sz="3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Image displays</a:t>
                </a:r>
                <a:endParaRPr/>
              </a:p>
            </p:txBody>
          </p:sp>
        </p:grpSp>
        <p:grpSp>
          <p:nvGrpSpPr>
            <p:cNvPr id="327" name="Google Shape;327;p40"/>
            <p:cNvGrpSpPr/>
            <p:nvPr/>
          </p:nvGrpSpPr>
          <p:grpSpPr>
            <a:xfrm>
              <a:off x="5558449" y="1644478"/>
              <a:ext cx="4768989" cy="2795614"/>
              <a:chOff x="0" y="0"/>
              <a:chExt cx="4768987" cy="2795613"/>
            </a:xfrm>
          </p:grpSpPr>
          <p:sp>
            <p:nvSpPr>
              <p:cNvPr id="328" name="Google Shape;328;p40"/>
              <p:cNvSpPr/>
              <p:nvPr/>
            </p:nvSpPr>
            <p:spPr>
              <a:xfrm>
                <a:off x="0" y="0"/>
                <a:ext cx="4768987" cy="2795613"/>
              </a:xfrm>
              <a:prstGeom prst="rect">
                <a:avLst/>
              </a:prstGeom>
              <a:solidFill>
                <a:srgbClr val="FFFFFF"/>
              </a:solidFill>
              <a:ln w="25550" cap="sq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63500" dist="38183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40"/>
              <p:cNvSpPr txBox="1"/>
              <p:nvPr/>
            </p:nvSpPr>
            <p:spPr>
              <a:xfrm>
                <a:off x="120810" y="1017093"/>
                <a:ext cx="4527366" cy="7614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775" tIns="46775" rIns="46775" bIns="467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lang="en-US" sz="3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Computer</a:t>
                </a:r>
                <a:endParaRPr/>
              </a:p>
            </p:txBody>
          </p:sp>
        </p:grpSp>
        <p:grpSp>
          <p:nvGrpSpPr>
            <p:cNvPr id="330" name="Google Shape;330;p40"/>
            <p:cNvGrpSpPr/>
            <p:nvPr/>
          </p:nvGrpSpPr>
          <p:grpSpPr>
            <a:xfrm>
              <a:off x="10820779" y="1644478"/>
              <a:ext cx="4768988" cy="2795614"/>
              <a:chOff x="0" y="0"/>
              <a:chExt cx="4768987" cy="2795613"/>
            </a:xfrm>
          </p:grpSpPr>
          <p:sp>
            <p:nvSpPr>
              <p:cNvPr id="331" name="Google Shape;331;p40"/>
              <p:cNvSpPr/>
              <p:nvPr/>
            </p:nvSpPr>
            <p:spPr>
              <a:xfrm>
                <a:off x="0" y="0"/>
                <a:ext cx="4768987" cy="2795613"/>
              </a:xfrm>
              <a:prstGeom prst="rect">
                <a:avLst/>
              </a:prstGeom>
              <a:solidFill>
                <a:srgbClr val="FFFFFF"/>
              </a:solidFill>
              <a:ln w="25550" cap="sq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63500" dist="38183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40"/>
              <p:cNvSpPr txBox="1"/>
              <p:nvPr/>
            </p:nvSpPr>
            <p:spPr>
              <a:xfrm>
                <a:off x="120810" y="1017093"/>
                <a:ext cx="4527366" cy="7614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775" tIns="46775" rIns="46775" bIns="467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lang="en-US" sz="3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Mass storage</a:t>
                </a:r>
                <a:endParaRPr/>
              </a:p>
            </p:txBody>
          </p:sp>
        </p:grpSp>
        <p:grpSp>
          <p:nvGrpSpPr>
            <p:cNvPr id="333" name="Google Shape;333;p40"/>
            <p:cNvGrpSpPr/>
            <p:nvPr/>
          </p:nvGrpSpPr>
          <p:grpSpPr>
            <a:xfrm>
              <a:off x="296119" y="4933433"/>
              <a:ext cx="4768989" cy="2795615"/>
              <a:chOff x="0" y="0"/>
              <a:chExt cx="4768987" cy="2795613"/>
            </a:xfrm>
          </p:grpSpPr>
          <p:sp>
            <p:nvSpPr>
              <p:cNvPr id="334" name="Google Shape;334;p40"/>
              <p:cNvSpPr/>
              <p:nvPr/>
            </p:nvSpPr>
            <p:spPr>
              <a:xfrm>
                <a:off x="0" y="0"/>
                <a:ext cx="4768987" cy="2795613"/>
              </a:xfrm>
              <a:prstGeom prst="rect">
                <a:avLst/>
              </a:prstGeom>
              <a:solidFill>
                <a:srgbClr val="FFFFFF"/>
              </a:solidFill>
              <a:ln w="25550" cap="sq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63500" dist="38183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40"/>
              <p:cNvSpPr txBox="1"/>
              <p:nvPr/>
            </p:nvSpPr>
            <p:spPr>
              <a:xfrm>
                <a:off x="120810" y="1017093"/>
                <a:ext cx="4527366" cy="7614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775" tIns="46775" rIns="46775" bIns="467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lang="en-US" sz="3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Hardcopy</a:t>
                </a:r>
                <a:endParaRPr/>
              </a:p>
            </p:txBody>
          </p:sp>
        </p:grpSp>
        <p:grpSp>
          <p:nvGrpSpPr>
            <p:cNvPr id="336" name="Google Shape;336;p40"/>
            <p:cNvGrpSpPr/>
            <p:nvPr/>
          </p:nvGrpSpPr>
          <p:grpSpPr>
            <a:xfrm>
              <a:off x="5558449" y="4933433"/>
              <a:ext cx="4768989" cy="2795615"/>
              <a:chOff x="0" y="0"/>
              <a:chExt cx="4768987" cy="2795613"/>
            </a:xfrm>
          </p:grpSpPr>
          <p:sp>
            <p:nvSpPr>
              <p:cNvPr id="337" name="Google Shape;337;p40"/>
              <p:cNvSpPr/>
              <p:nvPr/>
            </p:nvSpPr>
            <p:spPr>
              <a:xfrm>
                <a:off x="0" y="0"/>
                <a:ext cx="4768987" cy="2795613"/>
              </a:xfrm>
              <a:prstGeom prst="rect">
                <a:avLst/>
              </a:prstGeom>
              <a:solidFill>
                <a:srgbClr val="FFFFFF"/>
              </a:solidFill>
              <a:ln w="25550" cap="sq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63500" dist="38183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40"/>
              <p:cNvSpPr txBox="1"/>
              <p:nvPr/>
            </p:nvSpPr>
            <p:spPr>
              <a:xfrm>
                <a:off x="120810" y="441525"/>
                <a:ext cx="4527366" cy="19125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775" tIns="46775" rIns="46775" bIns="467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lang="en-US" sz="3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Specialized image processing hardware</a:t>
                </a:r>
                <a:endParaRPr/>
              </a:p>
            </p:txBody>
          </p:sp>
        </p:grpSp>
        <p:grpSp>
          <p:nvGrpSpPr>
            <p:cNvPr id="339" name="Google Shape;339;p40"/>
            <p:cNvGrpSpPr/>
            <p:nvPr/>
          </p:nvGrpSpPr>
          <p:grpSpPr>
            <a:xfrm>
              <a:off x="10820779" y="4933433"/>
              <a:ext cx="4768988" cy="2795615"/>
              <a:chOff x="0" y="0"/>
              <a:chExt cx="4768987" cy="2795613"/>
            </a:xfrm>
          </p:grpSpPr>
          <p:sp>
            <p:nvSpPr>
              <p:cNvPr id="340" name="Google Shape;340;p40"/>
              <p:cNvSpPr/>
              <p:nvPr/>
            </p:nvSpPr>
            <p:spPr>
              <a:xfrm>
                <a:off x="0" y="0"/>
                <a:ext cx="4768987" cy="2795613"/>
              </a:xfrm>
              <a:prstGeom prst="rect">
                <a:avLst/>
              </a:prstGeom>
              <a:solidFill>
                <a:srgbClr val="FFFFFF"/>
              </a:solidFill>
              <a:ln w="25550" cap="sq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63500" dist="38183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40"/>
              <p:cNvSpPr txBox="1"/>
              <p:nvPr/>
            </p:nvSpPr>
            <p:spPr>
              <a:xfrm>
                <a:off x="120810" y="729309"/>
                <a:ext cx="4527366" cy="1336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775" tIns="46775" rIns="46775" bIns="467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lang="en-US" sz="3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Image processing software</a:t>
                </a:r>
                <a:endParaRPr/>
              </a:p>
            </p:txBody>
          </p:sp>
        </p:grpSp>
        <p:grpSp>
          <p:nvGrpSpPr>
            <p:cNvPr id="342" name="Google Shape;342;p40"/>
            <p:cNvGrpSpPr/>
            <p:nvPr/>
          </p:nvGrpSpPr>
          <p:grpSpPr>
            <a:xfrm>
              <a:off x="5558449" y="8222389"/>
              <a:ext cx="4768989" cy="2795615"/>
              <a:chOff x="0" y="0"/>
              <a:chExt cx="4768987" cy="2795613"/>
            </a:xfrm>
          </p:grpSpPr>
          <p:sp>
            <p:nvSpPr>
              <p:cNvPr id="343" name="Google Shape;343;p40"/>
              <p:cNvSpPr/>
              <p:nvPr/>
            </p:nvSpPr>
            <p:spPr>
              <a:xfrm>
                <a:off x="0" y="0"/>
                <a:ext cx="4768987" cy="2795613"/>
              </a:xfrm>
              <a:prstGeom prst="rect">
                <a:avLst/>
              </a:prstGeom>
              <a:solidFill>
                <a:srgbClr val="FFFFFF"/>
              </a:solidFill>
              <a:ln w="25550" cap="sq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63500" dist="38183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40"/>
              <p:cNvSpPr txBox="1"/>
              <p:nvPr/>
            </p:nvSpPr>
            <p:spPr>
              <a:xfrm>
                <a:off x="120810" y="1017093"/>
                <a:ext cx="4527366" cy="7614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775" tIns="46775" rIns="46775" bIns="467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lang="en-US" sz="3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Image sensors</a:t>
                </a:r>
                <a:endParaRPr/>
              </a:p>
            </p:txBody>
          </p:sp>
        </p:grpSp>
        <p:sp>
          <p:nvSpPr>
            <p:cNvPr id="345" name="Google Shape;345;p40"/>
            <p:cNvSpPr/>
            <p:nvPr/>
          </p:nvSpPr>
          <p:spPr>
            <a:xfrm>
              <a:off x="3749523" y="9702419"/>
              <a:ext cx="1480032" cy="65779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25550" cap="sq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0"/>
            <p:cNvSpPr txBox="1"/>
            <p:nvPr/>
          </p:nvSpPr>
          <p:spPr>
            <a:xfrm>
              <a:off x="0" y="9650601"/>
              <a:ext cx="4582527" cy="7614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775" tIns="46775" rIns="46775" bIns="467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 Domain</a:t>
              </a: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 rot="-5400000">
              <a:off x="7237187" y="7564597"/>
              <a:ext cx="1116876" cy="856500"/>
            </a:xfrm>
            <a:prstGeom prst="leftRightArrow">
              <a:avLst>
                <a:gd name="adj1" fmla="val 50000"/>
                <a:gd name="adj2" fmla="val 49860"/>
              </a:avLst>
            </a:prstGeom>
            <a:solidFill>
              <a:srgbClr val="FFFFFF"/>
            </a:solidFill>
            <a:ln w="25550" cap="sq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0"/>
            <p:cNvSpPr/>
            <p:nvPr/>
          </p:nvSpPr>
          <p:spPr>
            <a:xfrm rot="-5400000">
              <a:off x="7237187" y="4241382"/>
              <a:ext cx="1116876" cy="856500"/>
            </a:xfrm>
            <a:prstGeom prst="leftRightArrow">
              <a:avLst>
                <a:gd name="adj1" fmla="val 50000"/>
                <a:gd name="adj2" fmla="val 49860"/>
              </a:avLst>
            </a:prstGeom>
            <a:solidFill>
              <a:srgbClr val="FFFFFF"/>
            </a:solidFill>
            <a:ln w="25550" cap="sq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0"/>
            <p:cNvSpPr/>
            <p:nvPr/>
          </p:nvSpPr>
          <p:spPr>
            <a:xfrm rot="2700000">
              <a:off x="9998540" y="4237956"/>
              <a:ext cx="1116876" cy="856500"/>
            </a:xfrm>
            <a:prstGeom prst="leftRightArrow">
              <a:avLst>
                <a:gd name="adj1" fmla="val 50000"/>
                <a:gd name="adj2" fmla="val 49860"/>
              </a:avLst>
            </a:prstGeom>
            <a:solidFill>
              <a:srgbClr val="FFFFFF"/>
            </a:solidFill>
            <a:ln w="25550" cap="sq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0"/>
            <p:cNvSpPr/>
            <p:nvPr/>
          </p:nvSpPr>
          <p:spPr>
            <a:xfrm rot="8100000">
              <a:off x="4794452" y="4224252"/>
              <a:ext cx="1120302" cy="853074"/>
            </a:xfrm>
            <a:prstGeom prst="leftRightArrow">
              <a:avLst>
                <a:gd name="adj1" fmla="val 50000"/>
                <a:gd name="adj2" fmla="val 50214"/>
              </a:avLst>
            </a:prstGeom>
            <a:solidFill>
              <a:srgbClr val="FFFFFF"/>
            </a:solidFill>
            <a:ln w="25550" cap="sq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0"/>
            <p:cNvSpPr/>
            <p:nvPr/>
          </p:nvSpPr>
          <p:spPr>
            <a:xfrm rot="10800000">
              <a:off x="4770470" y="2603756"/>
              <a:ext cx="1116876" cy="856500"/>
            </a:xfrm>
            <a:prstGeom prst="leftRightArrow">
              <a:avLst>
                <a:gd name="adj1" fmla="val 50000"/>
                <a:gd name="adj2" fmla="val 49860"/>
              </a:avLst>
            </a:prstGeom>
            <a:solidFill>
              <a:srgbClr val="FFFFFF"/>
            </a:solidFill>
            <a:ln w="25550" cap="sq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0"/>
            <p:cNvSpPr/>
            <p:nvPr/>
          </p:nvSpPr>
          <p:spPr>
            <a:xfrm rot="10800000">
              <a:off x="9998540" y="2638016"/>
              <a:ext cx="1116876" cy="856500"/>
            </a:xfrm>
            <a:prstGeom prst="leftRightArrow">
              <a:avLst>
                <a:gd name="adj1" fmla="val 50000"/>
                <a:gd name="adj2" fmla="val 49860"/>
              </a:avLst>
            </a:prstGeom>
            <a:solidFill>
              <a:srgbClr val="FFFFFF"/>
            </a:solidFill>
            <a:ln w="25550" cap="sq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" name="Google Shape;353;p40"/>
            <p:cNvGrpSpPr/>
            <p:nvPr/>
          </p:nvGrpSpPr>
          <p:grpSpPr>
            <a:xfrm>
              <a:off x="11643018" y="8057941"/>
              <a:ext cx="5591227" cy="2960062"/>
              <a:chOff x="0" y="0"/>
              <a:chExt cx="5591226" cy="2960061"/>
            </a:xfrm>
          </p:grpSpPr>
          <p:sp>
            <p:nvSpPr>
              <p:cNvPr id="354" name="Google Shape;354;p40"/>
              <p:cNvSpPr/>
              <p:nvPr/>
            </p:nvSpPr>
            <p:spPr>
              <a:xfrm>
                <a:off x="0" y="0"/>
                <a:ext cx="5591226" cy="2960061"/>
              </a:xfrm>
              <a:prstGeom prst="ellipse">
                <a:avLst/>
              </a:prstGeom>
              <a:solidFill>
                <a:srgbClr val="BBE0E3"/>
              </a:solidFill>
              <a:ln w="9525" cap="sq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40"/>
              <p:cNvSpPr txBox="1"/>
              <p:nvPr/>
            </p:nvSpPr>
            <p:spPr>
              <a:xfrm>
                <a:off x="922082" y="443556"/>
                <a:ext cx="3747061" cy="1912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775" tIns="46775" rIns="46775" bIns="467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lang="en-US" sz="3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Typical general-purpose DIP system</a:t>
                </a:r>
                <a:endParaRPr/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E26D5E-A687-89C7-268A-F82C4D2BAE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"/>
          <p:cNvSpPr txBox="1">
            <a:spLocks noGrp="1"/>
          </p:cNvSpPr>
          <p:nvPr>
            <p:ph type="body" idx="2"/>
          </p:nvPr>
        </p:nvSpPr>
        <p:spPr>
          <a:xfrm>
            <a:off x="393058" y="1581946"/>
            <a:ext cx="23597883" cy="1153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265113" lvl="0" indent="-265113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b="1" dirty="0">
                <a:solidFill>
                  <a:srgbClr val="0000FF"/>
                </a:solidFill>
                <a:latin typeface="+mn-lt"/>
                <a:ea typeface="Arial"/>
                <a:cs typeface="Arial"/>
                <a:sym typeface="Arial"/>
              </a:rPr>
              <a:t>. Image Sensors - </a:t>
            </a:r>
            <a:r>
              <a:rPr lang="en-US" b="1" dirty="0">
                <a:latin typeface="+mn-lt"/>
              </a:rPr>
              <a:t>  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Two elements are required to acquire digital images. The first is </a:t>
            </a:r>
            <a:r>
              <a:rPr lang="en-US" dirty="0">
                <a:solidFill>
                  <a:srgbClr val="0000FF"/>
                </a:solidFill>
                <a:latin typeface="+mn-lt"/>
                <a:ea typeface="Arial"/>
                <a:cs typeface="Arial"/>
                <a:sym typeface="Arial"/>
              </a:rPr>
              <a:t>the physical device that is sensitive to the energy radiated by the object 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we wish to image </a:t>
            </a:r>
            <a:r>
              <a:rPr lang="en-US" dirty="0">
                <a:solidFill>
                  <a:srgbClr val="C00000"/>
                </a:solidFill>
                <a:latin typeface="+mn-lt"/>
                <a:ea typeface="Arial"/>
                <a:cs typeface="Arial"/>
                <a:sym typeface="Arial"/>
              </a:rPr>
              <a:t>(</a:t>
            </a:r>
            <a:r>
              <a:rPr lang="en-US" i="1" dirty="0">
                <a:solidFill>
                  <a:srgbClr val="C00000"/>
                </a:solidFill>
                <a:latin typeface="+mn-lt"/>
              </a:rPr>
              <a:t>Sensor</a:t>
            </a:r>
            <a:r>
              <a:rPr lang="en-US" dirty="0">
                <a:solidFill>
                  <a:srgbClr val="C00000"/>
                </a:solidFill>
                <a:latin typeface="+mn-lt"/>
                <a:ea typeface="Arial"/>
                <a:cs typeface="Arial"/>
                <a:sym typeface="Arial"/>
              </a:rPr>
              <a:t>). 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The second, called a </a:t>
            </a:r>
            <a:r>
              <a:rPr lang="en-US" i="1" dirty="0">
                <a:solidFill>
                  <a:srgbClr val="C00000"/>
                </a:solidFill>
                <a:latin typeface="+mn-lt"/>
              </a:rPr>
              <a:t>digitizer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, is </a:t>
            </a:r>
            <a:r>
              <a:rPr lang="en-US" dirty="0">
                <a:solidFill>
                  <a:srgbClr val="0000FF"/>
                </a:solidFill>
                <a:latin typeface="+mn-lt"/>
                <a:ea typeface="Arial"/>
                <a:cs typeface="Arial"/>
                <a:sym typeface="Arial"/>
              </a:rPr>
              <a:t>a device for converting the output of the physical sensing device into digital form.</a:t>
            </a:r>
            <a:endParaRPr dirty="0">
              <a:solidFill>
                <a:srgbClr val="0000FF"/>
              </a:solidFill>
              <a:latin typeface="+mn-lt"/>
            </a:endParaRPr>
          </a:p>
          <a:p>
            <a:pPr marL="265113" lvl="0" indent="-265113" algn="just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 b="1" dirty="0">
                <a:solidFill>
                  <a:srgbClr val="0000FF"/>
                </a:solidFill>
                <a:latin typeface="+mn-lt"/>
                <a:ea typeface="Arial"/>
                <a:cs typeface="Arial"/>
                <a:sym typeface="Arial"/>
              </a:rPr>
              <a:t>2. Specialized Image Processing Hardware - 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Usually consists of the </a:t>
            </a:r>
            <a:r>
              <a:rPr lang="en-US" dirty="0">
                <a:solidFill>
                  <a:srgbClr val="C00000"/>
                </a:solidFill>
                <a:latin typeface="+mn-lt"/>
                <a:ea typeface="Arial"/>
                <a:cs typeface="Arial"/>
                <a:sym typeface="Arial"/>
              </a:rPr>
              <a:t>digitizer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, mentioned before, plus </a:t>
            </a:r>
            <a:r>
              <a:rPr lang="en-US" dirty="0">
                <a:solidFill>
                  <a:srgbClr val="C00000"/>
                </a:solidFill>
                <a:latin typeface="+mn-lt"/>
                <a:ea typeface="Arial"/>
                <a:cs typeface="Arial"/>
                <a:sym typeface="Arial"/>
              </a:rPr>
              <a:t>hardware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 that performs other primitive operations, such as an </a:t>
            </a:r>
            <a:r>
              <a:rPr lang="en-US" dirty="0">
                <a:solidFill>
                  <a:srgbClr val="C00000"/>
                </a:solidFill>
                <a:latin typeface="+mn-lt"/>
                <a:ea typeface="Arial"/>
                <a:cs typeface="Arial"/>
                <a:sym typeface="Arial"/>
              </a:rPr>
              <a:t>arithmetic logic unit (ALU),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 which performs </a:t>
            </a:r>
            <a:r>
              <a:rPr lang="en-US" dirty="0">
                <a:solidFill>
                  <a:srgbClr val="0000FF"/>
                </a:solidFill>
                <a:latin typeface="+mn-lt"/>
                <a:ea typeface="Arial"/>
                <a:cs typeface="Arial"/>
                <a:sym typeface="Arial"/>
              </a:rPr>
              <a:t>arithmetic and logical operations 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in parallel on entire images. </a:t>
            </a:r>
            <a:endParaRPr dirty="0">
              <a:latin typeface="+mn-lt"/>
            </a:endParaRPr>
          </a:p>
          <a:p>
            <a:pPr marL="265113" lvl="1" indent="-265113" algn="just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dirty="0">
                <a:latin typeface="+mn-lt"/>
                <a:ea typeface="Arial"/>
                <a:cs typeface="Arial"/>
                <a:sym typeface="Arial"/>
              </a:rPr>
              <a:t>  This type of hardware sometimes is called a </a:t>
            </a:r>
            <a:r>
              <a:rPr lang="en-US" dirty="0">
                <a:solidFill>
                  <a:srgbClr val="C00000"/>
                </a:solidFill>
                <a:latin typeface="+mn-lt"/>
                <a:ea typeface="Arial"/>
                <a:cs typeface="Arial"/>
                <a:sym typeface="Arial"/>
              </a:rPr>
              <a:t>front-end subsystem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, and its most distinguishing characteristic is </a:t>
            </a:r>
            <a:r>
              <a:rPr lang="en-US" dirty="0">
                <a:solidFill>
                  <a:srgbClr val="0000FF"/>
                </a:solidFill>
                <a:latin typeface="+mn-lt"/>
                <a:ea typeface="Arial"/>
                <a:cs typeface="Arial"/>
                <a:sym typeface="Arial"/>
              </a:rPr>
              <a:t>speed.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 In other words, this unit </a:t>
            </a:r>
            <a:r>
              <a:rPr lang="en-US" dirty="0">
                <a:solidFill>
                  <a:srgbClr val="0000FF"/>
                </a:solidFill>
                <a:latin typeface="+mn-lt"/>
                <a:ea typeface="Arial"/>
                <a:cs typeface="Arial"/>
                <a:sym typeface="Arial"/>
              </a:rPr>
              <a:t>performs functions that require fast data throughputs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 that the typical main computer cannot handle.</a:t>
            </a:r>
            <a:endParaRPr dirty="0">
              <a:latin typeface="+mn-lt"/>
            </a:endParaRPr>
          </a:p>
          <a:p>
            <a:pPr marL="265113" lvl="0" indent="-265113" algn="just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 b="1" dirty="0">
                <a:solidFill>
                  <a:srgbClr val="0000FF"/>
                </a:solidFill>
                <a:latin typeface="+mn-lt"/>
                <a:ea typeface="Arial"/>
                <a:cs typeface="Arial"/>
                <a:sym typeface="Arial"/>
              </a:rPr>
              <a:t>3. Computer - 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The computer in an image processing system is a </a:t>
            </a:r>
            <a:r>
              <a:rPr lang="en-US" dirty="0">
                <a:solidFill>
                  <a:srgbClr val="C00000"/>
                </a:solidFill>
                <a:latin typeface="+mn-lt"/>
                <a:ea typeface="Arial"/>
                <a:cs typeface="Arial"/>
                <a:sym typeface="Arial"/>
              </a:rPr>
              <a:t>general-purpose computer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 and can range from a PC to a supercomputer. In dedicated applications, sometimes </a:t>
            </a:r>
            <a:r>
              <a:rPr lang="en-US" dirty="0">
                <a:solidFill>
                  <a:srgbClr val="C00000"/>
                </a:solidFill>
                <a:latin typeface="+mn-lt"/>
                <a:ea typeface="Arial"/>
                <a:cs typeface="Arial"/>
                <a:sym typeface="Arial"/>
              </a:rPr>
              <a:t>specially designed computers 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are used to achieve a </a:t>
            </a:r>
            <a:r>
              <a:rPr lang="en-US" dirty="0">
                <a:solidFill>
                  <a:srgbClr val="0000FF"/>
                </a:solidFill>
                <a:latin typeface="+mn-lt"/>
                <a:ea typeface="Arial"/>
                <a:cs typeface="Arial"/>
                <a:sym typeface="Arial"/>
              </a:rPr>
              <a:t>required level of performance</a:t>
            </a:r>
            <a:r>
              <a:rPr lang="en-US" dirty="0">
                <a:latin typeface="+mn-lt"/>
                <a:ea typeface="Arial"/>
                <a:cs typeface="Arial"/>
                <a:sym typeface="Arial"/>
              </a:rPr>
              <a:t>.  </a:t>
            </a:r>
            <a:endParaRPr lang="en-US" dirty="0">
              <a:latin typeface="+mn-lt"/>
            </a:endParaRPr>
          </a:p>
        </p:txBody>
      </p:sp>
      <p:sp>
        <p:nvSpPr>
          <p:cNvPr id="6" name="Google Shape;320;p40">
            <a:extLst>
              <a:ext uri="{FF2B5EF4-FFF2-40B4-BE49-F238E27FC236}">
                <a16:creationId xmlns:a16="http://schemas.microsoft.com/office/drawing/2014/main" id="{CDFE1B9B-D7F8-455D-AB81-6700E8AA76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6500" y="276446"/>
            <a:ext cx="21971000" cy="91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24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Components of an Image Processing System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B0DD74-9A40-72B0-0A80-BCF14A4B2C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"/>
          <p:cNvSpPr txBox="1">
            <a:spLocks noGrp="1"/>
          </p:cNvSpPr>
          <p:nvPr>
            <p:ph type="body" idx="2"/>
          </p:nvPr>
        </p:nvSpPr>
        <p:spPr>
          <a:xfrm>
            <a:off x="591668" y="758796"/>
            <a:ext cx="23908872" cy="1228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528638" lvl="0" indent="-528638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 sz="44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 Image Processing Software - 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Software for image processing consists of </a:t>
            </a:r>
            <a:r>
              <a:rPr lang="en-US" sz="44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specialized modules 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that perform specific tasks. A well-designed package also includes the </a:t>
            </a:r>
            <a:r>
              <a:rPr lang="en-US" sz="44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capability for the user to write code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 that, as a minimum, utilizes the specialized modules.</a:t>
            </a:r>
            <a:endParaRPr lang="en-US" sz="4400" dirty="0"/>
          </a:p>
          <a:p>
            <a:pPr marL="500951" indent="-500951" algn="just">
              <a:lnSpc>
                <a:spcPct val="100000"/>
              </a:lnSpc>
              <a:spcBef>
                <a:spcPts val="700"/>
              </a:spcBef>
              <a:buSzPts val="3136"/>
              <a:buNone/>
            </a:pPr>
            <a:r>
              <a:rPr lang="en-US" sz="4400" b="1" dirty="0">
                <a:solidFill>
                  <a:srgbClr val="0000FF"/>
                </a:solidFill>
                <a:latin typeface="Arial"/>
                <a:cs typeface="Arial"/>
              </a:rPr>
              <a:t>5. Mass Storage Capability - 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Mass storage capability is a must in a image processing applications. An image of size 1024 * 1024 pixels requires one megabyte of storage space    if the image is not compressed.</a:t>
            </a:r>
            <a:endParaRPr sz="4400" dirty="0"/>
          </a:p>
          <a:p>
            <a:pPr marL="169863" lvl="0" indent="-169863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Font typeface="Wingdings" panose="05000000000000000000" pitchFamily="2" charset="2"/>
              <a:buChar char="q"/>
              <a:tabLst>
                <a:tab pos="361950" algn="l"/>
                <a:tab pos="446088" algn="l"/>
              </a:tabLst>
            </a:pP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	 </a:t>
            </a:r>
            <a:r>
              <a:rPr lang="en-US" sz="44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Digital storage for image processing applications 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falls into three principal categories:</a:t>
            </a:r>
            <a:endParaRPr sz="4400" dirty="0"/>
          </a:p>
          <a:p>
            <a:pPr marL="893763" lvl="0" indent="-447675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Font typeface="Wingdings" panose="05000000000000000000" pitchFamily="2" charset="2"/>
              <a:buChar char="ü"/>
            </a:pPr>
            <a:r>
              <a:rPr lang="en-US" sz="4400" b="1" dirty="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Short-term storage for use during processing</a:t>
            </a:r>
            <a:endParaRPr sz="4400" b="1" dirty="0">
              <a:solidFill>
                <a:srgbClr val="9900CC"/>
              </a:solidFill>
            </a:endParaRPr>
          </a:p>
          <a:p>
            <a:pPr marL="893763" lvl="0" indent="-447675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Font typeface="Wingdings" panose="05000000000000000000" pitchFamily="2" charset="2"/>
              <a:buChar char="ü"/>
            </a:pPr>
            <a:r>
              <a:rPr lang="en-US" sz="4400" b="1" dirty="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Online storage for relatively fast recall</a:t>
            </a:r>
            <a:endParaRPr lang="en-US" sz="4400" b="1" dirty="0">
              <a:solidFill>
                <a:srgbClr val="9900CC"/>
              </a:solidFill>
            </a:endParaRPr>
          </a:p>
          <a:p>
            <a:pPr marL="893763" lvl="0" indent="-447675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Font typeface="Wingdings" panose="05000000000000000000" pitchFamily="2" charset="2"/>
              <a:buChar char="ü"/>
            </a:pPr>
            <a:r>
              <a:rPr lang="en-US" sz="4400" b="1" dirty="0">
                <a:solidFill>
                  <a:srgbClr val="9900CC"/>
                </a:solidFill>
                <a:latin typeface="Arial"/>
                <a:ea typeface="Arial"/>
                <a:cs typeface="Arial"/>
                <a:sym typeface="Arial"/>
              </a:rPr>
              <a:t>Archival storage, characterized by infrequent access</a:t>
            </a:r>
            <a:endParaRPr lang="en-US" sz="4400" b="1" dirty="0">
              <a:solidFill>
                <a:srgbClr val="9900CC"/>
              </a:solidFill>
            </a:endParaRPr>
          </a:p>
          <a:p>
            <a:pPr marL="500063" lvl="0" indent="-500063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Font typeface="Arial"/>
              <a:buNone/>
            </a:pP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	One method of providing </a:t>
            </a:r>
            <a:r>
              <a:rPr lang="en-US" sz="44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short-term storage 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lang="en-US" sz="44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computer memory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. Another is by </a:t>
            </a:r>
            <a:r>
              <a:rPr lang="en-US" sz="44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specialized boards, called frame buffers,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 that store one or more images and can be accessed rapidly. </a:t>
            </a:r>
            <a:endParaRPr sz="4400" dirty="0"/>
          </a:p>
          <a:p>
            <a:pPr marL="500063" lvl="0" indent="-500063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Font typeface="Arial"/>
              <a:buNone/>
            </a:pP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	The </a:t>
            </a:r>
            <a:r>
              <a:rPr lang="en-US" sz="44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on-line storage method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, allows </a:t>
            </a:r>
            <a:r>
              <a:rPr lang="en-US" sz="44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virtually instantaneous image zoom, as well as scroll (vertical shifts) and pan (horizontal shifts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). On-line storage generally takes the form of </a:t>
            </a:r>
            <a:r>
              <a:rPr lang="en-US" sz="44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magnetic disks and optical-media storage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. The key factor of on-line storage is </a:t>
            </a:r>
            <a:r>
              <a:rPr lang="en-US" sz="44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frequent access 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to the stored data.</a:t>
            </a:r>
            <a:endParaRPr sz="4400" dirty="0"/>
          </a:p>
          <a:p>
            <a:pPr marL="500063" lvl="0" indent="-500063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Font typeface="Arial"/>
              <a:buNone/>
            </a:pP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	Finally, </a:t>
            </a:r>
            <a:r>
              <a:rPr lang="en-US" sz="44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archival storage 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is characterized by </a:t>
            </a:r>
            <a:r>
              <a:rPr lang="en-US" sz="44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massive storage requirements</a:t>
            </a:r>
            <a:r>
              <a:rPr lang="en-US" sz="4400" dirty="0">
                <a:latin typeface="Arial"/>
                <a:ea typeface="Arial"/>
                <a:cs typeface="Arial"/>
                <a:sym typeface="Arial"/>
              </a:rPr>
              <a:t> but </a:t>
            </a:r>
            <a:r>
              <a:rPr lang="en-US" sz="44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infrequent need for access.</a:t>
            </a:r>
            <a:endParaRPr sz="4400" dirty="0">
              <a:solidFill>
                <a:srgbClr val="0000FF"/>
              </a:solidFill>
            </a:endParaRPr>
          </a:p>
        </p:txBody>
      </p:sp>
      <p:sp>
        <p:nvSpPr>
          <p:cNvPr id="6" name="Google Shape;320;p40">
            <a:extLst>
              <a:ext uri="{FF2B5EF4-FFF2-40B4-BE49-F238E27FC236}">
                <a16:creationId xmlns:a16="http://schemas.microsoft.com/office/drawing/2014/main" id="{A62EDD9D-0E21-993F-62B4-227C39686F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6500" y="61294"/>
            <a:ext cx="21971000" cy="91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245"/>
              <a:buFont typeface="Helvetica Neue"/>
              <a:buNone/>
            </a:pPr>
            <a:r>
              <a:rPr lang="en-US" sz="6000" dirty="0">
                <a:solidFill>
                  <a:srgbClr val="C00000"/>
                </a:solidFill>
              </a:rPr>
              <a:t>Components of an Image Processing System</a:t>
            </a:r>
            <a:endParaRPr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2766A5-C564-C27D-E9D4-512FD7E740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body" idx="2"/>
          </p:nvPr>
        </p:nvSpPr>
        <p:spPr>
          <a:xfrm>
            <a:off x="389861" y="1483243"/>
            <a:ext cx="23604278" cy="1074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500951" lvl="0" indent="-500951" algn="just">
              <a:lnSpc>
                <a:spcPct val="100000"/>
              </a:lnSpc>
              <a:spcBef>
                <a:spcPts val="700"/>
              </a:spcBef>
              <a:buSzPts val="3136"/>
              <a:buNone/>
            </a:pPr>
            <a:r>
              <a:rPr lang="en-US" b="1" dirty="0">
                <a:solidFill>
                  <a:srgbClr val="0000FF"/>
                </a:solidFill>
                <a:latin typeface="+mj-lt"/>
                <a:cs typeface="Arial"/>
                <a:sym typeface="Arial"/>
              </a:rPr>
              <a:t>6. Image Displays</a:t>
            </a:r>
            <a:endParaRPr lang="en-US" b="1" dirty="0">
              <a:solidFill>
                <a:srgbClr val="0000FF"/>
              </a:solidFill>
              <a:latin typeface="+mj-lt"/>
              <a:cs typeface="Arial"/>
            </a:endParaRPr>
          </a:p>
          <a:p>
            <a:pPr marL="500951" lvl="0" indent="-500951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36"/>
              <a:buFont typeface="Arial"/>
              <a:buNone/>
            </a:pPr>
            <a:r>
              <a:rPr lang="en-US" dirty="0">
                <a:latin typeface="+mj-lt"/>
                <a:ea typeface="Arial"/>
                <a:cs typeface="Arial"/>
                <a:sym typeface="Arial"/>
              </a:rPr>
              <a:t>	The </a:t>
            </a:r>
            <a:r>
              <a:rPr lang="en-US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displays</a:t>
            </a:r>
            <a:r>
              <a:rPr lang="en-US" dirty="0">
                <a:latin typeface="+mj-lt"/>
                <a:ea typeface="Arial"/>
                <a:cs typeface="Arial"/>
                <a:sym typeface="Arial"/>
              </a:rPr>
              <a:t> in use today are mainly </a:t>
            </a:r>
            <a:r>
              <a:rPr lang="en-US" dirty="0" err="1">
                <a:solidFill>
                  <a:srgbClr val="0000FF"/>
                </a:solidFill>
                <a:latin typeface="+mj-lt"/>
                <a:ea typeface="Arial"/>
                <a:cs typeface="Arial"/>
                <a:sym typeface="Arial"/>
              </a:rPr>
              <a:t>colour</a:t>
            </a:r>
            <a:r>
              <a:rPr lang="en-US" dirty="0">
                <a:solidFill>
                  <a:srgbClr val="0000FF"/>
                </a:solidFill>
                <a:latin typeface="+mj-lt"/>
                <a:ea typeface="Arial"/>
                <a:cs typeface="Arial"/>
                <a:sym typeface="Arial"/>
              </a:rPr>
              <a:t> (preferably flat screen) TV monitors</a:t>
            </a:r>
            <a:r>
              <a:rPr lang="en-US" dirty="0">
                <a:latin typeface="+mj-lt"/>
                <a:ea typeface="Arial"/>
                <a:cs typeface="Arial"/>
                <a:sym typeface="Arial"/>
              </a:rPr>
              <a:t>. Monitors are driven by the </a:t>
            </a:r>
            <a:r>
              <a:rPr lang="en-US" dirty="0">
                <a:solidFill>
                  <a:srgbClr val="0000FF"/>
                </a:solidFill>
                <a:latin typeface="+mj-lt"/>
                <a:ea typeface="Arial"/>
                <a:cs typeface="Arial"/>
                <a:sym typeface="Arial"/>
              </a:rPr>
              <a:t>outputs of the image and graphics display cards</a:t>
            </a:r>
            <a:r>
              <a:rPr lang="en-US" dirty="0">
                <a:latin typeface="+mj-lt"/>
                <a:ea typeface="Arial"/>
                <a:cs typeface="Arial"/>
                <a:sym typeface="Arial"/>
              </a:rPr>
              <a:t> that are an integral part of a computer system.</a:t>
            </a:r>
            <a:endParaRPr lang="en-US" dirty="0">
              <a:latin typeface="+mj-lt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rPr lang="en-US" b="1" dirty="0">
                <a:solidFill>
                  <a:srgbClr val="0000FF"/>
                </a:solidFill>
                <a:latin typeface="+mj-lt"/>
                <a:ea typeface="Arial"/>
                <a:cs typeface="Arial"/>
                <a:sym typeface="Arial"/>
              </a:rPr>
              <a:t>7. Hardcopy devices</a:t>
            </a:r>
            <a:endParaRPr dirty="0">
              <a:solidFill>
                <a:srgbClr val="0000FF"/>
              </a:solidFill>
              <a:latin typeface="+mj-lt"/>
            </a:endParaRPr>
          </a:p>
          <a:p>
            <a:pPr marL="511175" lvl="0" indent="-511175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dirty="0">
                <a:latin typeface="+mj-lt"/>
                <a:ea typeface="Arial"/>
                <a:cs typeface="Arial"/>
                <a:sym typeface="Arial"/>
              </a:rPr>
              <a:t>	Used for </a:t>
            </a:r>
            <a:r>
              <a:rPr lang="en-US" dirty="0">
                <a:solidFill>
                  <a:srgbClr val="0000FF"/>
                </a:solidFill>
                <a:latin typeface="+mj-lt"/>
                <a:ea typeface="Arial"/>
                <a:cs typeface="Arial"/>
                <a:sym typeface="Arial"/>
              </a:rPr>
              <a:t>recording images, include laser printers, film cameras, heat-sensitive devices, inkjet units and digital units, such as optical and </a:t>
            </a:r>
            <a:r>
              <a:rPr lang="en-US" dirty="0" err="1">
                <a:solidFill>
                  <a:srgbClr val="0000FF"/>
                </a:solidFill>
                <a:latin typeface="+mj-lt"/>
                <a:ea typeface="Arial"/>
                <a:cs typeface="Arial"/>
                <a:sym typeface="Arial"/>
              </a:rPr>
              <a:t>CD-Rom</a:t>
            </a:r>
            <a:r>
              <a:rPr lang="en-US" dirty="0">
                <a:solidFill>
                  <a:srgbClr val="0000FF"/>
                </a:solidFill>
                <a:latin typeface="+mj-lt"/>
                <a:ea typeface="Arial"/>
                <a:cs typeface="Arial"/>
                <a:sym typeface="Arial"/>
              </a:rPr>
              <a:t> disks.</a:t>
            </a:r>
            <a:endParaRPr lang="en-US" dirty="0">
              <a:solidFill>
                <a:srgbClr val="0000FF"/>
              </a:solidFill>
              <a:latin typeface="+mj-lt"/>
              <a:ea typeface="Arial"/>
              <a:cs typeface="Arial"/>
            </a:endParaRPr>
          </a:p>
          <a:p>
            <a:pPr marL="511175" lvl="0" indent="-511175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b="1" dirty="0">
                <a:solidFill>
                  <a:srgbClr val="0000FF"/>
                </a:solidFill>
                <a:latin typeface="+mj-lt"/>
                <a:ea typeface="Arial"/>
                <a:cs typeface="Arial"/>
                <a:sym typeface="Arial"/>
              </a:rPr>
              <a:t>8. Networking</a:t>
            </a:r>
            <a:endParaRPr dirty="0">
              <a:solidFill>
                <a:srgbClr val="0000FF"/>
              </a:solidFill>
              <a:latin typeface="+mj-lt"/>
            </a:endParaRPr>
          </a:p>
          <a:p>
            <a:pPr marL="511175" lvl="0" indent="-50800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dirty="0">
                <a:latin typeface="+mj-lt"/>
                <a:ea typeface="Arial"/>
                <a:cs typeface="Arial"/>
                <a:sym typeface="Arial"/>
              </a:rPr>
              <a:t> 	It i</a:t>
            </a:r>
            <a:r>
              <a:rPr lang="en-US" dirty="0">
                <a:latin typeface="+mj-lt"/>
              </a:rPr>
              <a:t>s almost a default function in any computer system, in use today. Because of the large amount of data inherent in image processing applications the key consideration in </a:t>
            </a:r>
            <a:r>
              <a:rPr lang="en-US" dirty="0">
                <a:solidFill>
                  <a:srgbClr val="0000FF"/>
                </a:solidFill>
                <a:latin typeface="+mj-lt"/>
              </a:rPr>
              <a:t>image transmission is bandwidth. </a:t>
            </a:r>
            <a:endParaRPr dirty="0">
              <a:solidFill>
                <a:srgbClr val="0000FF"/>
              </a:solidFill>
              <a:latin typeface="+mj-lt"/>
            </a:endParaRPr>
          </a:p>
          <a:p>
            <a:pPr marL="511175" lvl="0" indent="-50800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dirty="0">
                <a:latin typeface="+mj-lt"/>
                <a:ea typeface="Arial"/>
                <a:cs typeface="Arial"/>
                <a:sym typeface="Arial"/>
              </a:rPr>
              <a:t>	In dedicated networks, this typically is not a problem, but </a:t>
            </a:r>
            <a:r>
              <a:rPr lang="en-US" dirty="0">
                <a:solidFill>
                  <a:srgbClr val="0000FF"/>
                </a:solidFill>
                <a:latin typeface="+mj-lt"/>
                <a:ea typeface="Arial"/>
                <a:cs typeface="Arial"/>
                <a:sym typeface="Arial"/>
              </a:rPr>
              <a:t>communications with remote sites via the internet are not always as efficient.</a:t>
            </a:r>
            <a:endParaRPr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" name="Google Shape;320;p40">
            <a:extLst>
              <a:ext uri="{FF2B5EF4-FFF2-40B4-BE49-F238E27FC236}">
                <a16:creationId xmlns:a16="http://schemas.microsoft.com/office/drawing/2014/main" id="{7E6305BF-1387-33DE-7FA8-7B4B5874304C}"/>
              </a:ext>
            </a:extLst>
          </p:cNvPr>
          <p:cNvSpPr txBox="1">
            <a:spLocks/>
          </p:cNvSpPr>
          <p:nvPr/>
        </p:nvSpPr>
        <p:spPr>
          <a:xfrm>
            <a:off x="1206500" y="276446"/>
            <a:ext cx="21971000" cy="91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8245"/>
            </a:pPr>
            <a:r>
              <a:rPr lang="en-US" sz="6000">
                <a:solidFill>
                  <a:srgbClr val="C00000"/>
                </a:solidFill>
              </a:rPr>
              <a:t>Components of an Image Processing System</a:t>
            </a:r>
            <a:endParaRPr lang="en-US" sz="60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29E995-3E44-2A3E-51E2-5BD5F324E8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"/>
          <p:cNvSpPr txBox="1">
            <a:spLocks noGrp="1"/>
          </p:cNvSpPr>
          <p:nvPr>
            <p:ph type="title"/>
          </p:nvPr>
        </p:nvSpPr>
        <p:spPr>
          <a:xfrm>
            <a:off x="1206500" y="314547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8500"/>
              <a:buFont typeface="Helvetica Neue"/>
              <a:buNone/>
            </a:pPr>
            <a:r>
              <a:rPr lang="en-US" sz="4800" b="1" i="0" u="none" strike="noStrike" cap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DIGITAL IMAGE REPRESENTATION</a:t>
            </a:r>
            <a:endParaRPr sz="4800" dirty="0">
              <a:solidFill>
                <a:srgbClr val="C00000"/>
              </a:solidFill>
            </a:endParaRPr>
          </a:p>
        </p:txBody>
      </p:sp>
      <p:sp>
        <p:nvSpPr>
          <p:cNvPr id="379" name="Google Shape;379;p44"/>
          <p:cNvSpPr txBox="1">
            <a:spLocks noGrp="1"/>
          </p:cNvSpPr>
          <p:nvPr>
            <p:ph type="body" idx="2"/>
          </p:nvPr>
        </p:nvSpPr>
        <p:spPr>
          <a:xfrm>
            <a:off x="800231" y="1979067"/>
            <a:ext cx="23123025" cy="1035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493776" lvl="0" indent="-49377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82"/>
              <a:buFont typeface="Helvetica Neue"/>
              <a:buChar char="•"/>
            </a:pPr>
            <a:r>
              <a:rPr lang="en-US" dirty="0">
                <a:solidFill>
                  <a:srgbClr val="C00000"/>
                </a:solidFill>
              </a:rPr>
              <a:t>An image </a:t>
            </a:r>
            <a:r>
              <a:rPr lang="en-US" dirty="0"/>
              <a:t>can be defined as a </a:t>
            </a:r>
            <a:r>
              <a:rPr lang="en-US" dirty="0">
                <a:solidFill>
                  <a:srgbClr val="C00000"/>
                </a:solidFill>
              </a:rPr>
              <a:t>two-dimensional function f(</a:t>
            </a:r>
            <a:r>
              <a:rPr lang="en-US" dirty="0" err="1">
                <a:solidFill>
                  <a:srgbClr val="C00000"/>
                </a:solidFill>
              </a:rPr>
              <a:t>x,y</a:t>
            </a:r>
            <a:r>
              <a:rPr lang="en-US" dirty="0">
                <a:solidFill>
                  <a:srgbClr val="C00000"/>
                </a:solidFill>
              </a:rPr>
              <a:t>)</a:t>
            </a:r>
            <a:endParaRPr dirty="0">
              <a:solidFill>
                <a:srgbClr val="C00000"/>
              </a:solidFill>
            </a:endParaRPr>
          </a:p>
          <a:p>
            <a:pPr marL="987552" lvl="1" indent="-493776" algn="l" rtl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782"/>
              <a:buFont typeface="Helvetica Neue"/>
              <a:buChar char="•"/>
            </a:pPr>
            <a:r>
              <a:rPr lang="en-US" dirty="0" err="1">
                <a:solidFill>
                  <a:srgbClr val="9900CC"/>
                </a:solidFill>
              </a:rPr>
              <a:t>x,y</a:t>
            </a:r>
            <a:r>
              <a:rPr lang="en-US" dirty="0">
                <a:solidFill>
                  <a:srgbClr val="9900CC"/>
                </a:solidFill>
              </a:rPr>
              <a:t> : </a:t>
            </a:r>
            <a:r>
              <a:rPr lang="en-US" dirty="0">
                <a:solidFill>
                  <a:srgbClr val="0000FF"/>
                </a:solidFill>
              </a:rPr>
              <a:t>Spatial coordinate</a:t>
            </a:r>
            <a:endParaRPr dirty="0">
              <a:solidFill>
                <a:srgbClr val="0000FF"/>
              </a:solidFill>
            </a:endParaRPr>
          </a:p>
          <a:p>
            <a:pPr marL="987552" lvl="1" indent="-493776" algn="l" rtl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782"/>
              <a:buFont typeface="Helvetica Neue"/>
              <a:buChar char="•"/>
            </a:pPr>
            <a:r>
              <a:rPr lang="en-US" dirty="0">
                <a:solidFill>
                  <a:srgbClr val="9900CC"/>
                </a:solidFill>
              </a:rPr>
              <a:t>f(</a:t>
            </a:r>
            <a:r>
              <a:rPr lang="en-US" dirty="0" err="1">
                <a:solidFill>
                  <a:srgbClr val="9900CC"/>
                </a:solidFill>
              </a:rPr>
              <a:t>x,y</a:t>
            </a:r>
            <a:r>
              <a:rPr lang="en-US" dirty="0">
                <a:solidFill>
                  <a:srgbClr val="9900CC"/>
                </a:solidFill>
              </a:rPr>
              <a:t>) :  </a:t>
            </a: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amplitude of any pair of coordinate </a:t>
            </a:r>
            <a:r>
              <a:rPr lang="en-US" dirty="0" err="1">
                <a:solidFill>
                  <a:srgbClr val="0000FF"/>
                </a:solidFill>
              </a:rPr>
              <a:t>x,y</a:t>
            </a:r>
            <a:r>
              <a:rPr lang="en-US" dirty="0"/>
              <a:t>, which is called the </a:t>
            </a:r>
            <a:r>
              <a:rPr lang="en-US" dirty="0">
                <a:solidFill>
                  <a:srgbClr val="9900CC"/>
                </a:solidFill>
              </a:rPr>
              <a:t>intensity or gray level of the image </a:t>
            </a:r>
            <a:r>
              <a:rPr lang="en-US" dirty="0"/>
              <a:t>at that point.</a:t>
            </a:r>
            <a:endParaRPr dirty="0"/>
          </a:p>
          <a:p>
            <a:pPr marL="987552" lvl="1" indent="-493776" algn="l" rtl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782"/>
              <a:buFont typeface="Helvetica Neue"/>
              <a:buChar char="•"/>
            </a:pPr>
            <a:r>
              <a:rPr lang="en-US" dirty="0" err="1"/>
              <a:t>x,y</a:t>
            </a:r>
            <a:r>
              <a:rPr lang="en-US" dirty="0"/>
              <a:t> and f, are all </a:t>
            </a:r>
            <a:r>
              <a:rPr lang="en-US" dirty="0">
                <a:solidFill>
                  <a:srgbClr val="0000FF"/>
                </a:solidFill>
              </a:rPr>
              <a:t>finite and discrete quantities</a:t>
            </a:r>
            <a:r>
              <a:rPr lang="en-US" dirty="0"/>
              <a:t>.</a:t>
            </a:r>
            <a:endParaRPr dirty="0"/>
          </a:p>
          <a:p>
            <a:pPr marL="493776" lvl="0" indent="-493776" algn="l" rtl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782"/>
              <a:buFont typeface="Helvetica Neue"/>
              <a:buChar char="•"/>
            </a:pPr>
            <a:r>
              <a:rPr lang="en-US" dirty="0"/>
              <a:t>An image can be defined by a two-dimensional array specifically arranged in </a:t>
            </a:r>
            <a:r>
              <a:rPr lang="en-US" dirty="0">
                <a:solidFill>
                  <a:srgbClr val="9900CC"/>
                </a:solidFill>
              </a:rPr>
              <a:t>rows and columns.</a:t>
            </a:r>
            <a:endParaRPr dirty="0">
              <a:solidFill>
                <a:srgbClr val="9900CC"/>
              </a:solidFill>
            </a:endParaRPr>
          </a:p>
          <a:p>
            <a:pPr marL="493776" lvl="0" indent="-493776" algn="l" rtl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782"/>
              <a:buFont typeface="Helvetica Neue"/>
              <a:buChar char="•"/>
            </a:pPr>
            <a:r>
              <a:rPr lang="en-US" dirty="0"/>
              <a:t>Digital Image is composed of a finite number of elements, each of which elements have a particular value at a particular location. These elements are referred to as </a:t>
            </a:r>
            <a:r>
              <a:rPr lang="en-US" dirty="0">
                <a:solidFill>
                  <a:srgbClr val="0000FF"/>
                </a:solidFill>
              </a:rPr>
              <a:t>picture elements, image elements, and pixels.</a:t>
            </a:r>
            <a:endParaRPr dirty="0">
              <a:solidFill>
                <a:srgbClr val="0000FF"/>
              </a:solidFill>
            </a:endParaRPr>
          </a:p>
          <a:p>
            <a:pPr marL="493776" lvl="0" indent="-493776" algn="l" rtl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782"/>
              <a:buFont typeface="Helvetica Neue"/>
              <a:buChar char="•"/>
            </a:pPr>
            <a:r>
              <a:rPr lang="en-US" dirty="0"/>
              <a:t>A Pixel is most widely used to denote the elements of a Digital Image.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A4FAC6-F81F-9F83-BD01-6416CDF104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53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"/>
          <p:cNvSpPr txBox="1">
            <a:spLocks noGrp="1"/>
          </p:cNvSpPr>
          <p:nvPr>
            <p:ph type="body" idx="1"/>
          </p:nvPr>
        </p:nvSpPr>
        <p:spPr>
          <a:xfrm>
            <a:off x="1206500" y="1031128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Types of an image</a:t>
            </a:r>
            <a:endParaRPr dirty="0">
              <a:solidFill>
                <a:srgbClr val="0000FF"/>
              </a:solidFill>
            </a:endParaRPr>
          </a:p>
        </p:txBody>
      </p:sp>
      <p:sp>
        <p:nvSpPr>
          <p:cNvPr id="386" name="Google Shape;386;p45"/>
          <p:cNvSpPr txBox="1">
            <a:spLocks noGrp="1"/>
          </p:cNvSpPr>
          <p:nvPr>
            <p:ph type="body" idx="2"/>
          </p:nvPr>
        </p:nvSpPr>
        <p:spPr>
          <a:xfrm>
            <a:off x="294905" y="2149744"/>
            <a:ext cx="23794189" cy="1125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571500" lvl="0" indent="-571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72"/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</a:rPr>
              <a:t>BINARY IMAGE </a:t>
            </a:r>
            <a:endParaRPr b="1" dirty="0">
              <a:solidFill>
                <a:srgbClr val="C00000"/>
              </a:solidFill>
            </a:endParaRP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/>
              <a:t>The binary image as its name suggests, contain only </a:t>
            </a:r>
            <a:r>
              <a:rPr lang="en-US" dirty="0">
                <a:solidFill>
                  <a:srgbClr val="0000FF"/>
                </a:solidFill>
              </a:rPr>
              <a:t>two pixel elements </a:t>
            </a:r>
            <a:r>
              <a:rPr lang="en-US" dirty="0" err="1">
                <a:solidFill>
                  <a:srgbClr val="0000FF"/>
                </a:solidFill>
              </a:rPr>
              <a:t>i.e</a:t>
            </a:r>
            <a:r>
              <a:rPr lang="en-US" dirty="0">
                <a:solidFill>
                  <a:srgbClr val="0000FF"/>
                </a:solidFill>
              </a:rPr>
              <a:t> 0 &amp; 1</a:t>
            </a:r>
            <a:r>
              <a:rPr lang="en-US" dirty="0"/>
              <a:t>, where 0 refers to black and 1 refers to white. 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/>
              <a:t>This image is also known as </a:t>
            </a:r>
            <a:r>
              <a:rPr lang="en-US" dirty="0">
                <a:solidFill>
                  <a:srgbClr val="0000FF"/>
                </a:solidFill>
              </a:rPr>
              <a:t>Monochrome.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>
                <a:solidFill>
                  <a:srgbClr val="0000FF"/>
                </a:solidFill>
              </a:rPr>
              <a:t>Binary images have a format of PBM ( Portable bit map )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7" name="Google Shape;378;p44">
            <a:extLst>
              <a:ext uri="{FF2B5EF4-FFF2-40B4-BE49-F238E27FC236}">
                <a16:creationId xmlns:a16="http://schemas.microsoft.com/office/drawing/2014/main" id="{529ED56C-E8A8-6531-BCD3-1171B8A65ABB}"/>
              </a:ext>
            </a:extLst>
          </p:cNvPr>
          <p:cNvSpPr txBox="1">
            <a:spLocks/>
          </p:cNvSpPr>
          <p:nvPr/>
        </p:nvSpPr>
        <p:spPr>
          <a:xfrm>
            <a:off x="941805" y="222629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>
              <a:buSzPts val="8500"/>
            </a:pPr>
            <a:r>
              <a:rPr lang="en-US" sz="4800" dirty="0">
                <a:solidFill>
                  <a:srgbClr val="C00000"/>
                </a:solidFill>
              </a:rPr>
              <a:t>DIGITAL IMAGE REPRESENTATION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33037-EC4B-B8A0-B23E-2A224BAD0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400" y="7360580"/>
            <a:ext cx="9568355" cy="48224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40CAB4-B481-5993-BA14-B895186DEF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4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"/>
          <p:cNvSpPr txBox="1">
            <a:spLocks noGrp="1"/>
          </p:cNvSpPr>
          <p:nvPr>
            <p:ph type="body" idx="1"/>
          </p:nvPr>
        </p:nvSpPr>
        <p:spPr>
          <a:xfrm>
            <a:off x="1206500" y="1031128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Types of an image</a:t>
            </a:r>
            <a:endParaRPr dirty="0">
              <a:solidFill>
                <a:srgbClr val="0000FF"/>
              </a:solidFill>
            </a:endParaRPr>
          </a:p>
        </p:txBody>
      </p:sp>
      <p:sp>
        <p:nvSpPr>
          <p:cNvPr id="386" name="Google Shape;386;p45"/>
          <p:cNvSpPr txBox="1">
            <a:spLocks noGrp="1"/>
          </p:cNvSpPr>
          <p:nvPr>
            <p:ph type="body" idx="2"/>
          </p:nvPr>
        </p:nvSpPr>
        <p:spPr>
          <a:xfrm>
            <a:off x="294905" y="1880804"/>
            <a:ext cx="23794189" cy="1125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571500" indent="-571500">
              <a:lnSpc>
                <a:spcPct val="100000"/>
              </a:lnSpc>
              <a:spcBef>
                <a:spcPts val="600"/>
              </a:spcBef>
              <a:buSzPts val="3072"/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</a:rPr>
              <a:t>8 bit COLOR FORMAT(Gray Image)</a:t>
            </a:r>
            <a:endParaRPr b="1" dirty="0">
              <a:solidFill>
                <a:srgbClr val="C00000"/>
              </a:solidFill>
            </a:endParaRP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/>
              <a:t>It is the </a:t>
            </a:r>
            <a:r>
              <a:rPr lang="en-US" dirty="0">
                <a:solidFill>
                  <a:srgbClr val="0000FF"/>
                </a:solidFill>
              </a:rPr>
              <a:t>most famous image format</a:t>
            </a:r>
            <a:r>
              <a:rPr lang="en-US" dirty="0"/>
              <a:t>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/>
              <a:t>It has </a:t>
            </a:r>
            <a:r>
              <a:rPr lang="en-US" dirty="0">
                <a:solidFill>
                  <a:srgbClr val="9900CC"/>
                </a:solidFill>
              </a:rPr>
              <a:t>256 different shades of colors </a:t>
            </a:r>
            <a:r>
              <a:rPr lang="en-US" dirty="0"/>
              <a:t>in it and commonly known as </a:t>
            </a:r>
            <a:r>
              <a:rPr lang="en-US" dirty="0">
                <a:solidFill>
                  <a:srgbClr val="0000FF"/>
                </a:solidFill>
              </a:rPr>
              <a:t>Grayscale Image</a:t>
            </a:r>
            <a:r>
              <a:rPr lang="en-US" dirty="0"/>
              <a:t>. 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/>
              <a:t>In this format, </a:t>
            </a:r>
            <a:r>
              <a:rPr lang="en-US" dirty="0">
                <a:solidFill>
                  <a:srgbClr val="9900CC"/>
                </a:solidFill>
              </a:rPr>
              <a:t>0 stands for Black, and 255 stands for white, and 127 stands for gray.</a:t>
            </a:r>
          </a:p>
          <a:p>
            <a:pPr marL="780287" lvl="1" indent="-390143">
              <a:lnSpc>
                <a:spcPct val="100000"/>
              </a:lnSpc>
              <a:spcBef>
                <a:spcPts val="600"/>
              </a:spcBef>
              <a:buSzPts val="3779"/>
            </a:pPr>
            <a:r>
              <a:rPr lang="en-US" dirty="0">
                <a:solidFill>
                  <a:schemeClr val="bg1"/>
                </a:solidFill>
              </a:rPr>
              <a:t>Format of these images are </a:t>
            </a:r>
            <a:r>
              <a:rPr lang="en-US" dirty="0">
                <a:solidFill>
                  <a:srgbClr val="C00000"/>
                </a:solidFill>
              </a:rPr>
              <a:t>PGM</a:t>
            </a:r>
            <a:r>
              <a:rPr lang="en-US" dirty="0">
                <a:solidFill>
                  <a:schemeClr val="bg1"/>
                </a:solidFill>
              </a:rPr>
              <a:t>( Portable Gray Map )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>
                <a:solidFill>
                  <a:srgbClr val="9900CC"/>
                </a:solidFill>
              </a:rPr>
              <a:t>This format was used initially by early models of the operating systems UNIX and the early color Macintoshes.</a:t>
            </a:r>
          </a:p>
        </p:txBody>
      </p:sp>
      <p:sp>
        <p:nvSpPr>
          <p:cNvPr id="7" name="Google Shape;378;p44">
            <a:extLst>
              <a:ext uri="{FF2B5EF4-FFF2-40B4-BE49-F238E27FC236}">
                <a16:creationId xmlns:a16="http://schemas.microsoft.com/office/drawing/2014/main" id="{529ED56C-E8A8-6531-BCD3-1171B8A65ABB}"/>
              </a:ext>
            </a:extLst>
          </p:cNvPr>
          <p:cNvSpPr txBox="1">
            <a:spLocks/>
          </p:cNvSpPr>
          <p:nvPr/>
        </p:nvSpPr>
        <p:spPr>
          <a:xfrm>
            <a:off x="941805" y="222629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>
              <a:buSzPts val="8500"/>
            </a:pPr>
            <a:r>
              <a:rPr lang="en-US" sz="4800" dirty="0">
                <a:solidFill>
                  <a:srgbClr val="C00000"/>
                </a:solidFill>
              </a:rPr>
              <a:t>DIGITAL IMAGE REPRESENTATION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BE18F-FE67-D697-2232-4B84973E9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782" y="7422776"/>
            <a:ext cx="6851132" cy="628574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F9EB3-1038-3BB6-825F-DD33D0BA30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87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"/>
          <p:cNvSpPr txBox="1">
            <a:spLocks noGrp="1"/>
          </p:cNvSpPr>
          <p:nvPr>
            <p:ph type="body" idx="1"/>
          </p:nvPr>
        </p:nvSpPr>
        <p:spPr>
          <a:xfrm>
            <a:off x="1206500" y="1031128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Types of an image</a:t>
            </a:r>
            <a:endParaRPr dirty="0">
              <a:solidFill>
                <a:srgbClr val="0000FF"/>
              </a:solidFill>
            </a:endParaRPr>
          </a:p>
        </p:txBody>
      </p:sp>
      <p:sp>
        <p:nvSpPr>
          <p:cNvPr id="386" name="Google Shape;386;p45"/>
          <p:cNvSpPr txBox="1">
            <a:spLocks noGrp="1"/>
          </p:cNvSpPr>
          <p:nvPr>
            <p:ph type="body" idx="2"/>
          </p:nvPr>
        </p:nvSpPr>
        <p:spPr>
          <a:xfrm>
            <a:off x="294905" y="2149744"/>
            <a:ext cx="23794189" cy="1125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571500" lvl="0" indent="-571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72"/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</a:rPr>
              <a:t>16 bit COLOR FORMAT</a:t>
            </a:r>
            <a:endParaRPr b="1" dirty="0">
              <a:solidFill>
                <a:srgbClr val="C00000"/>
              </a:solidFill>
            </a:endParaRP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/>
              <a:t>It is a color image format.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/>
              <a:t>It has </a:t>
            </a:r>
            <a:r>
              <a:rPr lang="en-US" dirty="0">
                <a:solidFill>
                  <a:srgbClr val="9900CC"/>
                </a:solidFill>
              </a:rPr>
              <a:t>65,536 different colors </a:t>
            </a:r>
            <a:r>
              <a:rPr lang="en-US" dirty="0"/>
              <a:t>in it.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/>
              <a:t>It is also known as </a:t>
            </a:r>
            <a:r>
              <a:rPr lang="en-US" dirty="0">
                <a:solidFill>
                  <a:srgbClr val="9900CC"/>
                </a:solidFill>
              </a:rPr>
              <a:t>High Color Format</a:t>
            </a:r>
            <a:r>
              <a:rPr lang="en-US" dirty="0"/>
              <a:t>. 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/>
              <a:t>In this format the distribution of color is not as same as Grayscale image.</a:t>
            </a:r>
            <a:endParaRPr dirty="0"/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/>
              <a:t>It is actually divided into three further formats which are </a:t>
            </a:r>
            <a:r>
              <a:rPr lang="en-US" dirty="0">
                <a:solidFill>
                  <a:srgbClr val="9900CC"/>
                </a:solidFill>
              </a:rPr>
              <a:t>Red, Green and Blue (RGB format).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dirty="0">
                <a:solidFill>
                  <a:schemeClr val="bg1"/>
                </a:solidFill>
              </a:rPr>
              <a:t>It is pictorially represented in the image below.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Google Shape;378;p44">
            <a:extLst>
              <a:ext uri="{FF2B5EF4-FFF2-40B4-BE49-F238E27FC236}">
                <a16:creationId xmlns:a16="http://schemas.microsoft.com/office/drawing/2014/main" id="{529ED56C-E8A8-6531-BCD3-1171B8A65ABB}"/>
              </a:ext>
            </a:extLst>
          </p:cNvPr>
          <p:cNvSpPr txBox="1">
            <a:spLocks/>
          </p:cNvSpPr>
          <p:nvPr/>
        </p:nvSpPr>
        <p:spPr>
          <a:xfrm>
            <a:off x="941805" y="222629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>
              <a:buSzPts val="8500"/>
            </a:pPr>
            <a:r>
              <a:rPr lang="en-US" sz="4800" dirty="0">
                <a:solidFill>
                  <a:srgbClr val="C00000"/>
                </a:solidFill>
              </a:rPr>
              <a:t>DIGITAL IMAGE REPRESENTATION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8F8859-421B-86E1-B27F-A788FEB8D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554" y="8552329"/>
            <a:ext cx="8284671" cy="508477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DBFDB-554B-3C51-9440-1BAF22C85F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50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"/>
          <p:cNvSpPr txBox="1">
            <a:spLocks noGrp="1"/>
          </p:cNvSpPr>
          <p:nvPr>
            <p:ph type="body" idx="1"/>
          </p:nvPr>
        </p:nvSpPr>
        <p:spPr>
          <a:xfrm>
            <a:off x="1206500" y="1031128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Types of an image</a:t>
            </a:r>
            <a:endParaRPr dirty="0">
              <a:solidFill>
                <a:srgbClr val="0000FF"/>
              </a:solidFill>
            </a:endParaRPr>
          </a:p>
        </p:txBody>
      </p:sp>
      <p:sp>
        <p:nvSpPr>
          <p:cNvPr id="386" name="Google Shape;386;p45"/>
          <p:cNvSpPr txBox="1">
            <a:spLocks noGrp="1"/>
          </p:cNvSpPr>
          <p:nvPr>
            <p:ph type="body" idx="2"/>
          </p:nvPr>
        </p:nvSpPr>
        <p:spPr>
          <a:xfrm>
            <a:off x="294905" y="1827016"/>
            <a:ext cx="23794189" cy="1125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571500" lvl="0" indent="-571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72"/>
              <a:buFont typeface="Wingdings" panose="05000000000000000000" pitchFamily="2" charset="2"/>
              <a:buChar char="v"/>
            </a:pPr>
            <a:r>
              <a:rPr lang="en-US" sz="5400" dirty="0">
                <a:solidFill>
                  <a:schemeClr val="bg1"/>
                </a:solidFill>
              </a:rPr>
              <a:t>How would you distribute 16 into three. If you do it like this,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5 bits for R, 5 bits for G, 5 bits for B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Then there is one bit remains in the end.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So the distribution of 16 bit has been done like this.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accent1"/>
                </a:solidFill>
              </a:rPr>
              <a:t>5 bits for R, 6 bits for G, 5 bits for B.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The additional bit that was left behind is added into the green bit.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Because green is the color which is most soothing to eyes in all of these three colors.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This distribution is not followed by all the systems.</a:t>
            </a:r>
          </a:p>
        </p:txBody>
      </p:sp>
      <p:sp>
        <p:nvSpPr>
          <p:cNvPr id="7" name="Google Shape;378;p44">
            <a:extLst>
              <a:ext uri="{FF2B5EF4-FFF2-40B4-BE49-F238E27FC236}">
                <a16:creationId xmlns:a16="http://schemas.microsoft.com/office/drawing/2014/main" id="{529ED56C-E8A8-6531-BCD3-1171B8A65ABB}"/>
              </a:ext>
            </a:extLst>
          </p:cNvPr>
          <p:cNvSpPr txBox="1">
            <a:spLocks/>
          </p:cNvSpPr>
          <p:nvPr/>
        </p:nvSpPr>
        <p:spPr>
          <a:xfrm>
            <a:off x="941805" y="222629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>
              <a:buSzPts val="8500"/>
            </a:pPr>
            <a:r>
              <a:rPr lang="en-US" sz="4800" dirty="0">
                <a:solidFill>
                  <a:srgbClr val="C00000"/>
                </a:solidFill>
              </a:rPr>
              <a:t>DIGITAL IMAGE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157595-01AC-A47B-3117-E3DA8278C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4358" y="8554450"/>
            <a:ext cx="5498447" cy="46954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05E554-BE6F-57D2-FCF5-2E30BC42EA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72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"/>
          <p:cNvSpPr txBox="1">
            <a:spLocks noGrp="1"/>
          </p:cNvSpPr>
          <p:nvPr>
            <p:ph type="body" idx="1"/>
          </p:nvPr>
        </p:nvSpPr>
        <p:spPr>
          <a:xfrm>
            <a:off x="1206500" y="1031128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lang="en-US" sz="5500" b="1" dirty="0">
                <a:solidFill>
                  <a:srgbClr val="0000FF"/>
                </a:solidFill>
              </a:rPr>
              <a:t>Types of an image</a:t>
            </a:r>
            <a:endParaRPr dirty="0">
              <a:solidFill>
                <a:srgbClr val="0000FF"/>
              </a:solidFill>
            </a:endParaRPr>
          </a:p>
        </p:txBody>
      </p:sp>
      <p:sp>
        <p:nvSpPr>
          <p:cNvPr id="386" name="Google Shape;386;p45"/>
          <p:cNvSpPr txBox="1">
            <a:spLocks noGrp="1"/>
          </p:cNvSpPr>
          <p:nvPr>
            <p:ph type="body" idx="2"/>
          </p:nvPr>
        </p:nvSpPr>
        <p:spPr>
          <a:xfrm>
            <a:off x="294905" y="1827016"/>
            <a:ext cx="23794189" cy="1125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571500" indent="-571500">
              <a:lnSpc>
                <a:spcPct val="100000"/>
              </a:lnSpc>
              <a:spcBef>
                <a:spcPts val="600"/>
              </a:spcBef>
              <a:buSzPts val="3072"/>
              <a:buFont typeface="Wingdings" panose="05000000000000000000" pitchFamily="2" charset="2"/>
              <a:buChar char="v"/>
            </a:pPr>
            <a:r>
              <a:rPr lang="en-US" sz="5400" b="1" dirty="0">
                <a:solidFill>
                  <a:srgbClr val="C00000"/>
                </a:solidFill>
              </a:rPr>
              <a:t>24 bit COLOR FORMAT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24 bit color format also known as true color format.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In a 24 bit color format, the 24 bits are distributed in three different formats of Red, Green and Blue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Since 24 is equally divided on 8, so it has been distributed equally between three different color channels.</a:t>
            </a:r>
          </a:p>
          <a:p>
            <a:pPr marL="780287" lvl="1" indent="-39014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779"/>
              <a:buFont typeface="Helvetica Neue"/>
              <a:buChar char="•"/>
            </a:pPr>
            <a:r>
              <a:rPr lang="en-US" sz="5400" dirty="0">
                <a:solidFill>
                  <a:schemeClr val="bg1"/>
                </a:solidFill>
              </a:rPr>
              <a:t>Their distribution is like this.</a:t>
            </a:r>
          </a:p>
          <a:p>
            <a:pPr marL="1237487" lvl="2" indent="-390143">
              <a:lnSpc>
                <a:spcPct val="100000"/>
              </a:lnSpc>
              <a:spcBef>
                <a:spcPts val="600"/>
              </a:spcBef>
              <a:buSzPts val="3779"/>
            </a:pPr>
            <a:r>
              <a:rPr lang="en-US" sz="5400" dirty="0">
                <a:solidFill>
                  <a:schemeClr val="bg1"/>
                </a:solidFill>
              </a:rPr>
              <a:t>8 bits for R, 8 bits for G, 8 bits for B. </a:t>
            </a:r>
          </a:p>
          <a:p>
            <a:pPr marL="1237487" lvl="2" indent="-390143">
              <a:lnSpc>
                <a:spcPct val="100000"/>
              </a:lnSpc>
              <a:spcBef>
                <a:spcPts val="600"/>
              </a:spcBef>
              <a:buSzPts val="3779"/>
            </a:pPr>
            <a:r>
              <a:rPr lang="en-US" sz="5400" dirty="0">
                <a:solidFill>
                  <a:schemeClr val="bg1"/>
                </a:solidFill>
              </a:rPr>
              <a:t>Format</a:t>
            </a:r>
          </a:p>
          <a:p>
            <a:pPr marL="1694687" lvl="3" indent="-390143">
              <a:lnSpc>
                <a:spcPct val="100000"/>
              </a:lnSpc>
              <a:spcBef>
                <a:spcPts val="600"/>
              </a:spcBef>
              <a:buSzPts val="3779"/>
            </a:pPr>
            <a:r>
              <a:rPr lang="en-US" sz="5400" dirty="0">
                <a:solidFill>
                  <a:schemeClr val="bg1"/>
                </a:solidFill>
              </a:rPr>
              <a:t>It is the most common used format. Its format is PPM ( Portable </a:t>
            </a:r>
            <a:r>
              <a:rPr lang="en-US" sz="5400" dirty="0" err="1">
                <a:solidFill>
                  <a:schemeClr val="bg1"/>
                </a:solidFill>
              </a:rPr>
              <a:t>pixMap</a:t>
            </a:r>
            <a:r>
              <a:rPr lang="en-US" sz="5400" dirty="0">
                <a:solidFill>
                  <a:schemeClr val="bg1"/>
                </a:solidFill>
              </a:rPr>
              <a:t>) which is supported by Linux operating system. </a:t>
            </a:r>
          </a:p>
          <a:p>
            <a:pPr marL="1694687" lvl="3" indent="-390143">
              <a:lnSpc>
                <a:spcPct val="100000"/>
              </a:lnSpc>
              <a:spcBef>
                <a:spcPts val="600"/>
              </a:spcBef>
              <a:buSzPts val="3779"/>
            </a:pPr>
            <a:r>
              <a:rPr lang="en-US" sz="5400" dirty="0">
                <a:solidFill>
                  <a:schemeClr val="bg1"/>
                </a:solidFill>
              </a:rPr>
              <a:t>Windows has its own format for it which is BMP ( Bitmap)</a:t>
            </a:r>
            <a:endParaRPr sz="5400" dirty="0">
              <a:solidFill>
                <a:schemeClr val="bg1"/>
              </a:solidFill>
            </a:endParaRPr>
          </a:p>
        </p:txBody>
      </p:sp>
      <p:sp>
        <p:nvSpPr>
          <p:cNvPr id="7" name="Google Shape;378;p44">
            <a:extLst>
              <a:ext uri="{FF2B5EF4-FFF2-40B4-BE49-F238E27FC236}">
                <a16:creationId xmlns:a16="http://schemas.microsoft.com/office/drawing/2014/main" id="{529ED56C-E8A8-6531-BCD3-1171B8A65ABB}"/>
              </a:ext>
            </a:extLst>
          </p:cNvPr>
          <p:cNvSpPr txBox="1">
            <a:spLocks/>
          </p:cNvSpPr>
          <p:nvPr/>
        </p:nvSpPr>
        <p:spPr>
          <a:xfrm>
            <a:off x="941805" y="222629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>
              <a:buSzPts val="8500"/>
            </a:pPr>
            <a:r>
              <a:rPr lang="en-US" sz="4800" dirty="0">
                <a:solidFill>
                  <a:srgbClr val="C00000"/>
                </a:solidFill>
              </a:rPr>
              <a:t>DIGITAL IMAGE REPRESENTATION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F30F5-46F5-DBA4-F9AB-D24EF6BBD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6860" y="6239437"/>
            <a:ext cx="6208092" cy="36881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998A55-757A-2C73-B3BD-F8CD43313F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43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773EDE-4E45-9C86-2B0E-5E881FAD8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050" y="1374314"/>
            <a:ext cx="23475950" cy="531524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5400" dirty="0"/>
              <a:t>Common image formats include: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5400" dirty="0">
                <a:solidFill>
                  <a:srgbClr val="C00000"/>
                </a:solidFill>
              </a:rPr>
              <a:t>1 sample per point </a:t>
            </a:r>
            <a:r>
              <a:rPr lang="en-US" sz="5400" dirty="0"/>
              <a:t>( </a:t>
            </a:r>
            <a:r>
              <a:rPr lang="en-US" sz="5400" dirty="0">
                <a:solidFill>
                  <a:srgbClr val="9900CC"/>
                </a:solidFill>
              </a:rPr>
              <a:t>B&amp;W or Grayscale</a:t>
            </a:r>
            <a:r>
              <a:rPr lang="en-US" sz="5400" dirty="0"/>
              <a:t>)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5400" dirty="0">
                <a:solidFill>
                  <a:srgbClr val="C00000"/>
                </a:solidFill>
              </a:rPr>
              <a:t>3 samples per point </a:t>
            </a:r>
            <a:r>
              <a:rPr lang="en-US" sz="5400" dirty="0"/>
              <a:t>( </a:t>
            </a:r>
            <a:r>
              <a:rPr lang="en-US" sz="5400" dirty="0">
                <a:solidFill>
                  <a:srgbClr val="9900CC"/>
                </a:solidFill>
              </a:rPr>
              <a:t>Red, Green, and Blue</a:t>
            </a:r>
            <a:r>
              <a:rPr lang="en-US" sz="5400" dirty="0"/>
              <a:t>)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5400" dirty="0">
                <a:solidFill>
                  <a:srgbClr val="C00000"/>
                </a:solidFill>
              </a:rPr>
              <a:t>4 samples per point </a:t>
            </a:r>
            <a:r>
              <a:rPr lang="en-US" sz="5400" dirty="0"/>
              <a:t>( </a:t>
            </a:r>
            <a:r>
              <a:rPr lang="en-US" sz="5400" dirty="0">
                <a:solidFill>
                  <a:srgbClr val="9900CC"/>
                </a:solidFill>
              </a:rPr>
              <a:t>Red, Green, Blue, and “Alpha”- Opacity</a:t>
            </a:r>
            <a:r>
              <a:rPr lang="en-US" sz="5400" dirty="0"/>
              <a:t>)</a:t>
            </a:r>
          </a:p>
          <a:p>
            <a:pPr marL="8801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5400" b="0" i="0" dirty="0">
                <a:solidFill>
                  <a:srgbClr val="1F1F1F"/>
                </a:solidFill>
                <a:effectLst/>
                <a:latin typeface="Google Sans"/>
              </a:rPr>
              <a:t>(Opacity describes the degree to which an object or material is not transmitting light .</a:t>
            </a:r>
            <a:r>
              <a:rPr lang="en-US" sz="5400" dirty="0">
                <a:solidFill>
                  <a:srgbClr val="474747"/>
                </a:solidFill>
                <a:latin typeface="Google Sans"/>
              </a:rPr>
              <a:t>)</a:t>
            </a:r>
            <a:endParaRPr lang="en-US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DC7E6-AA95-D9DE-0DBE-947D1D5A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674" y="6689558"/>
            <a:ext cx="19948358" cy="6026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49416E-5B0B-36DB-5D47-AF69DDB9F8CB}"/>
              </a:ext>
            </a:extLst>
          </p:cNvPr>
          <p:cNvSpPr txBox="1"/>
          <p:nvPr/>
        </p:nvSpPr>
        <p:spPr>
          <a:xfrm>
            <a:off x="1377616" y="327375"/>
            <a:ext cx="12187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00FF"/>
                </a:solidFill>
              </a:rPr>
              <a:t>Common image formats </a:t>
            </a:r>
            <a:endParaRPr lang="en-IN" sz="5400" b="1" dirty="0">
              <a:solidFill>
                <a:srgbClr val="0000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8CCBD5-8923-9564-DF95-0A0EB6D6DB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2050"/>
      </p:ext>
    </p:extLst>
  </p:cSld>
  <p:clrMapOvr>
    <a:masterClrMapping/>
  </p:clrMapOvr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3276</TotalTime>
  <Words>2423</Words>
  <Application>Microsoft Office PowerPoint</Application>
  <PresentationFormat>Custom</PresentationFormat>
  <Paragraphs>227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Google Sans</vt:lpstr>
      <vt:lpstr>Wingdings</vt:lpstr>
      <vt:lpstr>Algerian</vt:lpstr>
      <vt:lpstr>Helvetica Neue</vt:lpstr>
      <vt:lpstr>Baskerville Old Face</vt:lpstr>
      <vt:lpstr>Times</vt:lpstr>
      <vt:lpstr>30_BasicColor</vt:lpstr>
      <vt:lpstr>                                                               lines   -Cohen-Sutherland Line Clipping    polygons  -Sutherland-Hodgeman Polygon Clipping </vt:lpstr>
      <vt:lpstr>IMAGE PROCESSING – Fundamentals </vt:lpstr>
      <vt:lpstr>Image Processing Fields</vt:lpstr>
      <vt:lpstr>PowerPoint Presentation</vt:lpstr>
      <vt:lpstr>PowerPoint Presentation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Fundamental Steps in Digital Image Processing</vt:lpstr>
      <vt:lpstr>Components of an Image Processing System</vt:lpstr>
      <vt:lpstr>Components of an Image Processing System</vt:lpstr>
      <vt:lpstr>Components of an Image Processing System</vt:lpstr>
      <vt:lpstr>PowerPoint Presentation</vt:lpstr>
      <vt:lpstr>DIGITAL IMAGE REPRESENTATION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CS401: COMPUTER GRAPHICS</dc:title>
  <dc:creator>USER</dc:creator>
  <cp:lastModifiedBy>libsy baby</cp:lastModifiedBy>
  <cp:revision>414</cp:revision>
  <dcterms:modified xsi:type="dcterms:W3CDTF">2025-03-14T04:39:48Z</dcterms:modified>
</cp:coreProperties>
</file>