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Default Extension="wdp" ContentType="image/vnd.ms-photo"/>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7" r:id="rId5"/>
    <p:sldId id="266" r:id="rId6"/>
    <p:sldId id="263" r:id="rId7"/>
    <p:sldId id="264" r:id="rId8"/>
    <p:sldId id="288" r:id="rId9"/>
    <p:sldId id="289" r:id="rId10"/>
    <p:sldId id="290" r:id="rId11"/>
    <p:sldId id="291" r:id="rId12"/>
    <p:sldId id="265" r:id="rId13"/>
    <p:sldId id="292" r:id="rId14"/>
    <p:sldId id="311" r:id="rId15"/>
    <p:sldId id="312" r:id="rId16"/>
    <p:sldId id="313" r:id="rId17"/>
    <p:sldId id="314" r:id="rId18"/>
    <p:sldId id="273" r:id="rId19"/>
    <p:sldId id="300" r:id="rId20"/>
    <p:sldId id="301" r:id="rId21"/>
    <p:sldId id="302" r:id="rId22"/>
    <p:sldId id="303" r:id="rId23"/>
    <p:sldId id="306" r:id="rId24"/>
    <p:sldId id="284" r:id="rId25"/>
    <p:sldId id="305" r:id="rId26"/>
    <p:sldId id="285" r:id="rId27"/>
    <p:sldId id="304" r:id="rId28"/>
    <p:sldId id="307" r:id="rId29"/>
    <p:sldId id="286" r:id="rId30"/>
    <p:sldId id="287" r:id="rId31"/>
    <p:sldId id="274" r:id="rId32"/>
    <p:sldId id="275" r:id="rId33"/>
    <p:sldId id="315" r:id="rId34"/>
    <p:sldId id="276" r:id="rId35"/>
    <p:sldId id="277" r:id="rId36"/>
    <p:sldId id="296" r:id="rId37"/>
    <p:sldId id="316" r:id="rId38"/>
    <p:sldId id="278" r:id="rId39"/>
    <p:sldId id="279" r:id="rId40"/>
    <p:sldId id="317" r:id="rId41"/>
    <p:sldId id="280" r:id="rId42"/>
    <p:sldId id="281" r:id="rId43"/>
    <p:sldId id="282" r:id="rId44"/>
    <p:sldId id="318" r:id="rId45"/>
    <p:sldId id="319" r:id="rId46"/>
    <p:sldId id="295" r:id="rId47"/>
    <p:sldId id="310" r:id="rId48"/>
    <p:sldId id="309" r:id="rId49"/>
    <p:sldId id="308"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74" y="-3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533400"/>
            <a:ext cx="7772400" cy="1470025"/>
          </a:xfrm>
        </p:spPr>
        <p:txBody>
          <a:bodyPr/>
          <a:lstStyle/>
          <a:p>
            <a:r>
              <a:rPr lang="en-IN" dirty="0" smtClean="0">
                <a:latin typeface="Times New Roman" pitchFamily="18" charset="0"/>
                <a:cs typeface="Times New Roman" pitchFamily="18" charset="0"/>
              </a:rPr>
              <a:t>Module 5</a:t>
            </a:r>
            <a:endParaRPr lang="en-IN" dirty="0">
              <a:latin typeface="Times New Roman" pitchFamily="18" charset="0"/>
              <a:cs typeface="Times New Roman" pitchFamily="18" charset="0"/>
            </a:endParaRPr>
          </a:p>
        </p:txBody>
      </p:sp>
      <p:sp>
        <p:nvSpPr>
          <p:cNvPr id="3" name="Subtitle 2"/>
          <p:cNvSpPr>
            <a:spLocks noGrp="1"/>
          </p:cNvSpPr>
          <p:nvPr>
            <p:ph type="subTitle" idx="1"/>
          </p:nvPr>
        </p:nvSpPr>
        <p:spPr>
          <a:xfrm>
            <a:off x="533400" y="1905000"/>
            <a:ext cx="8077200" cy="1752600"/>
          </a:xfrm>
        </p:spPr>
        <p:txBody>
          <a:bodyPr>
            <a:noAutofit/>
          </a:bodyPr>
          <a:lstStyle/>
          <a:p>
            <a:pPr algn="just"/>
            <a:r>
              <a:rPr lang="en-IN" sz="2000" b="1" dirty="0">
                <a:solidFill>
                  <a:schemeClr val="tx1"/>
                </a:solidFill>
                <a:latin typeface="Times New Roman" pitchFamily="18" charset="0"/>
                <a:cs typeface="Times New Roman" pitchFamily="18" charset="0"/>
              </a:rPr>
              <a:t>Shift </a:t>
            </a:r>
            <a:r>
              <a:rPr lang="en-IN" sz="2000" b="1" dirty="0" smtClean="0">
                <a:solidFill>
                  <a:schemeClr val="tx1"/>
                </a:solidFill>
                <a:latin typeface="Times New Roman" pitchFamily="18" charset="0"/>
                <a:cs typeface="Times New Roman" pitchFamily="18" charset="0"/>
              </a:rPr>
              <a:t>registers: </a:t>
            </a:r>
            <a:r>
              <a:rPr lang="en-IN" sz="2000" dirty="0">
                <a:solidFill>
                  <a:schemeClr val="tx1"/>
                </a:solidFill>
                <a:latin typeface="Times New Roman" pitchFamily="18" charset="0"/>
                <a:cs typeface="Times New Roman" pitchFamily="18" charset="0"/>
              </a:rPr>
              <a:t>Shift registers – </a:t>
            </a:r>
            <a:r>
              <a:rPr lang="en-IN" sz="2000" b="1" dirty="0">
                <a:solidFill>
                  <a:srgbClr val="FF0000"/>
                </a:solidFill>
                <a:latin typeface="Times New Roman" pitchFamily="18" charset="0"/>
                <a:cs typeface="Times New Roman" pitchFamily="18" charset="0"/>
              </a:rPr>
              <a:t>Serial In Serial Out, Serial In Parallel Out, Bidirectional Shift Register with Parallel </a:t>
            </a:r>
            <a:r>
              <a:rPr lang="en-IN" sz="2000" b="1" dirty="0" smtClean="0">
                <a:solidFill>
                  <a:srgbClr val="FF0000"/>
                </a:solidFill>
                <a:latin typeface="Times New Roman" pitchFamily="18" charset="0"/>
                <a:cs typeface="Times New Roman" pitchFamily="18" charset="0"/>
              </a:rPr>
              <a:t>load</a:t>
            </a:r>
            <a:r>
              <a:rPr lang="en-IN" sz="2000" dirty="0" smtClean="0">
                <a:solidFill>
                  <a:schemeClr val="tx1"/>
                </a:solidFill>
                <a:latin typeface="Times New Roman" pitchFamily="18" charset="0"/>
                <a:cs typeface="Times New Roman" pitchFamily="18" charset="0"/>
              </a:rPr>
              <a:t>. </a:t>
            </a:r>
            <a:r>
              <a:rPr lang="en-IN" sz="2000" dirty="0">
                <a:solidFill>
                  <a:schemeClr val="tx1"/>
                </a:solidFill>
                <a:latin typeface="Times New Roman" pitchFamily="18" charset="0"/>
                <a:cs typeface="Times New Roman" pitchFamily="18" charset="0"/>
              </a:rPr>
              <a:t>Ring counter. Johnson counter- timing sequences and state diagrams. </a:t>
            </a:r>
            <a:endParaRPr lang="en-IN" sz="2000" dirty="0" smtClean="0">
              <a:solidFill>
                <a:schemeClr val="tx1"/>
              </a:solidFill>
              <a:latin typeface="Times New Roman" pitchFamily="18" charset="0"/>
              <a:cs typeface="Times New Roman" pitchFamily="18" charset="0"/>
            </a:endParaRPr>
          </a:p>
          <a:p>
            <a:pPr algn="just"/>
            <a:endParaRPr lang="en-IN" sz="2000" dirty="0">
              <a:solidFill>
                <a:schemeClr val="tx1"/>
              </a:solidFill>
              <a:latin typeface="Times New Roman" pitchFamily="18" charset="0"/>
              <a:cs typeface="Times New Roman" pitchFamily="18" charset="0"/>
            </a:endParaRPr>
          </a:p>
          <a:p>
            <a:pPr algn="just"/>
            <a:r>
              <a:rPr lang="en-IN" sz="2000" b="1" dirty="0" smtClean="0">
                <a:solidFill>
                  <a:schemeClr val="tx1"/>
                </a:solidFill>
                <a:latin typeface="Times New Roman" pitchFamily="18" charset="0"/>
                <a:cs typeface="Times New Roman" pitchFamily="18" charset="0"/>
              </a:rPr>
              <a:t>Arithmetic algorithms: </a:t>
            </a:r>
            <a:r>
              <a:rPr lang="en-IN" sz="2000" dirty="0">
                <a:solidFill>
                  <a:schemeClr val="tx1"/>
                </a:solidFill>
                <a:latin typeface="Times New Roman" pitchFamily="18" charset="0"/>
                <a:cs typeface="Times New Roman" pitchFamily="18" charset="0"/>
              </a:rPr>
              <a:t>Algorithms for addition and subtraction of binary numbers in signed magnitude and 2’s complement representations. Algorithm for addition and subtraction of BCD numbers. Representation of floating point numbers, Algorithm for addition and subtraction of floating point numbers. </a:t>
            </a:r>
            <a:endParaRPr lang="en-IN" sz="2000" dirty="0" smtClean="0">
              <a:solidFill>
                <a:schemeClr val="tx1"/>
              </a:solidFill>
              <a:latin typeface="Times New Roman" pitchFamily="18" charset="0"/>
              <a:cs typeface="Times New Roman" pitchFamily="18" charset="0"/>
            </a:endParaRPr>
          </a:p>
          <a:p>
            <a:pPr algn="just"/>
            <a:endParaRPr lang="en-IN" sz="2000" dirty="0">
              <a:solidFill>
                <a:schemeClr val="tx1"/>
              </a:solidFill>
              <a:latin typeface="Times New Roman" pitchFamily="18" charset="0"/>
              <a:cs typeface="Times New Roman" pitchFamily="18" charset="0"/>
            </a:endParaRPr>
          </a:p>
          <a:p>
            <a:pPr algn="just"/>
            <a:r>
              <a:rPr lang="en-IN" sz="2000" b="1" dirty="0" smtClean="0">
                <a:solidFill>
                  <a:schemeClr val="tx1"/>
                </a:solidFill>
                <a:latin typeface="Times New Roman" pitchFamily="18" charset="0"/>
                <a:cs typeface="Times New Roman" pitchFamily="18" charset="0"/>
              </a:rPr>
              <a:t>Programmable </a:t>
            </a:r>
            <a:r>
              <a:rPr lang="en-IN" sz="2000" b="1" dirty="0">
                <a:solidFill>
                  <a:schemeClr val="tx1"/>
                </a:solidFill>
                <a:latin typeface="Times New Roman" pitchFamily="18" charset="0"/>
                <a:cs typeface="Times New Roman" pitchFamily="18" charset="0"/>
              </a:rPr>
              <a:t>Logic </a:t>
            </a:r>
            <a:r>
              <a:rPr lang="en-IN" sz="2000" b="1" dirty="0" smtClean="0">
                <a:solidFill>
                  <a:schemeClr val="tx1"/>
                </a:solidFill>
                <a:latin typeface="Times New Roman" pitchFamily="18" charset="0"/>
                <a:cs typeface="Times New Roman" pitchFamily="18" charset="0"/>
              </a:rPr>
              <a:t>devices: </a:t>
            </a:r>
            <a:r>
              <a:rPr lang="en-IN" sz="2000" dirty="0">
                <a:solidFill>
                  <a:schemeClr val="tx1"/>
                </a:solidFill>
                <a:latin typeface="Times New Roman" pitchFamily="18" charset="0"/>
                <a:cs typeface="Times New Roman" pitchFamily="18" charset="0"/>
              </a:rPr>
              <a:t>ROM. Programmable Logic Array(PLA)- Implementation of simple circuits using PLA. </a:t>
            </a:r>
          </a:p>
        </p:txBody>
      </p:sp>
    </p:spTree>
    <p:extLst>
      <p:ext uri="{BB962C8B-B14F-4D97-AF65-F5344CB8AC3E}">
        <p14:creationId xmlns="" xmlns:p14="http://schemas.microsoft.com/office/powerpoint/2010/main" val="2177934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52400" y="16548"/>
            <a:ext cx="8915400" cy="71558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We know that one flip-flop can store one-bit of information.</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In order to store multiple bits of information, we require multiple</a:t>
            </a:r>
          </a:p>
          <a:p>
            <a:pPr marR="0" lvl="0" algn="just" defTabSz="914400" rtl="0" eaLnBrk="1" fontAlgn="base" latinLnBrk="0" hangingPunct="1">
              <a:lnSpc>
                <a:spcPct val="100000"/>
              </a:lnSpc>
              <a:spcBef>
                <a:spcPct val="0"/>
              </a:spcBef>
              <a:spcAft>
                <a:spcPct val="0"/>
              </a:spcAft>
              <a:buClrTx/>
              <a:buSzTx/>
              <a:tabLst/>
            </a:pPr>
            <a:r>
              <a:rPr lang="en-US" sz="2200" dirty="0">
                <a:solidFill>
                  <a:srgbClr val="000000"/>
                </a:solidFill>
                <a:latin typeface="Times New Roman" pitchFamily="18" charset="0"/>
                <a:cs typeface="Times New Roman" pitchFamily="18" charset="0"/>
              </a:rPr>
              <a:t> </a:t>
            </a:r>
            <a:r>
              <a:rPr lang="en-US" sz="2200" dirty="0" smtClean="0">
                <a:solidFill>
                  <a:srgbClr val="000000"/>
                </a:solidFill>
                <a:latin typeface="Times New Roman" pitchFamily="18" charset="0"/>
                <a:cs typeface="Times New Roman" pitchFamily="18" charset="0"/>
              </a:rPr>
              <a:t>    </a:t>
            </a: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flip-flops. </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The group of flip-flops, which are used to hold or</a:t>
            </a:r>
            <a:r>
              <a:rPr kumimoji="0" lang="en-US" sz="2200" b="0" i="0" u="none" strike="noStrike" cap="none" normalizeH="0" dirty="0" smtClean="0">
                <a:ln>
                  <a:noFill/>
                </a:ln>
                <a:solidFill>
                  <a:srgbClr val="000000"/>
                </a:solidFill>
                <a:effectLst/>
                <a:latin typeface="Times New Roman" pitchFamily="18" charset="0"/>
                <a:cs typeface="Times New Roman" pitchFamily="18" charset="0"/>
              </a:rPr>
              <a:t> </a:t>
            </a: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store the binary data is known as </a:t>
            </a:r>
            <a:r>
              <a:rPr kumimoji="0" lang="en-US" sz="2200" b="1" i="0" u="none" strike="noStrike" cap="none" normalizeH="0" baseline="0" dirty="0" smtClean="0">
                <a:ln>
                  <a:noFill/>
                </a:ln>
                <a:solidFill>
                  <a:srgbClr val="000000"/>
                </a:solidFill>
                <a:effectLst/>
                <a:latin typeface="Times New Roman" pitchFamily="18" charset="0"/>
                <a:cs typeface="Times New Roman" pitchFamily="18" charset="0"/>
              </a:rPr>
              <a:t>register</a:t>
            </a: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a:t>
            </a:r>
            <a:endParaRPr lang="en-US" sz="2200" dirty="0">
              <a:latin typeface="Times New Roman" pitchFamily="18" charset="0"/>
              <a:cs typeface="Times New Roman" pitchFamily="18" charset="0"/>
            </a:endParaRP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If the register is capable of shifting bits either towards right hand side or towards left hand side is known as </a:t>
            </a:r>
            <a:r>
              <a:rPr kumimoji="0" lang="en-US" sz="2200" b="1" i="0" u="none" strike="noStrike" cap="none" normalizeH="0" baseline="0" dirty="0" smtClean="0">
                <a:ln>
                  <a:noFill/>
                </a:ln>
                <a:solidFill>
                  <a:srgbClr val="000000"/>
                </a:solidFill>
                <a:effectLst/>
                <a:latin typeface="Times New Roman" pitchFamily="18" charset="0"/>
                <a:cs typeface="Times New Roman" pitchFamily="18" charset="0"/>
              </a:rPr>
              <a:t>shift register</a:t>
            </a: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 </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An ‘N’ bit shift register contains ‘N’ flip-flops.</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 Following are the four types of shift registers based on applying inputs and accessing of outputs.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sz="2200" b="1" i="0" u="none" strike="noStrike" cap="none" normalizeH="0" baseline="0" dirty="0" smtClean="0">
                <a:ln>
                  <a:noFill/>
                </a:ln>
                <a:solidFill>
                  <a:srgbClr val="FF0000"/>
                </a:solidFill>
                <a:effectLst/>
                <a:latin typeface="Times New Roman" pitchFamily="18" charset="0"/>
                <a:cs typeface="Times New Roman" pitchFamily="18" charset="0"/>
              </a:rPr>
              <a:t> Serial In − Serial Out shift register</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sz="2200" b="1" i="0" u="none" strike="noStrike" cap="none" normalizeH="0" baseline="0" dirty="0" smtClean="0">
                <a:ln>
                  <a:noFill/>
                </a:ln>
                <a:solidFill>
                  <a:srgbClr val="FF0000"/>
                </a:solidFill>
                <a:effectLst/>
                <a:latin typeface="Times New Roman" pitchFamily="18" charset="0"/>
                <a:cs typeface="Times New Roman" pitchFamily="18" charset="0"/>
              </a:rPr>
              <a:t> Serial In − Parallel Out shift register</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sz="2200" b="1" i="0" u="none" strike="noStrike" cap="none" normalizeH="0" baseline="0" dirty="0" smtClean="0">
                <a:ln>
                  <a:noFill/>
                </a:ln>
                <a:solidFill>
                  <a:schemeClr val="tx1"/>
                </a:solidFill>
                <a:effectLst/>
                <a:latin typeface="Times New Roman" pitchFamily="18" charset="0"/>
                <a:cs typeface="Times New Roman" pitchFamily="18" charset="0"/>
              </a:rPr>
              <a:t> Parallel In − Serial Out shift register</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sz="2200" b="1" i="0" u="none" strike="noStrike" cap="none" normalizeH="0" baseline="0" dirty="0" smtClean="0">
                <a:ln>
                  <a:noFill/>
                </a:ln>
                <a:solidFill>
                  <a:schemeClr val="tx1"/>
                </a:solidFill>
                <a:effectLst/>
                <a:latin typeface="Times New Roman" pitchFamily="18" charset="0"/>
                <a:cs typeface="Times New Roman" pitchFamily="18" charset="0"/>
              </a:rPr>
              <a:t> Parallel In − Parallel Out shift register</a:t>
            </a:r>
          </a:p>
          <a:p>
            <a:pPr marR="0" lvl="0" algn="just" defTabSz="914400" rtl="0" eaLnBrk="0" fontAlgn="base" latinLnBrk="0" hangingPunct="0">
              <a:lnSpc>
                <a:spcPct val="100000"/>
              </a:lnSpc>
              <a:spcBef>
                <a:spcPct val="0"/>
              </a:spcBef>
              <a:spcAft>
                <a:spcPct val="0"/>
              </a:spcAft>
              <a:buClrTx/>
              <a:buSzTx/>
              <a:tabLst/>
            </a:pPr>
            <a:endParaRPr kumimoji="0" lang="en-US" sz="2200" b="1" i="0" u="none" strike="noStrike" cap="none" normalizeH="0" baseline="0" dirty="0" smtClean="0">
              <a:ln>
                <a:noFill/>
              </a:ln>
              <a:solidFill>
                <a:schemeClr val="tx1"/>
              </a:solidFill>
              <a:effectLst/>
              <a:latin typeface="Times New Roman" pitchFamily="18" charset="0"/>
              <a:cs typeface="Times New Roman" pitchFamily="18" charset="0"/>
            </a:endParaRPr>
          </a:p>
          <a:p>
            <a:pPr marL="342900" indent="-342900" algn="just" eaLnBrk="0" fontAlgn="base" hangingPunct="0">
              <a:spcBef>
                <a:spcPct val="0"/>
              </a:spcBef>
              <a:spcAft>
                <a:spcPct val="0"/>
              </a:spcAft>
              <a:buFont typeface="Arial" pitchFamily="34" charset="0"/>
              <a:buChar char="•"/>
            </a:pPr>
            <a:r>
              <a:rPr lang="en-US" sz="2200" dirty="0" smtClean="0">
                <a:latin typeface="Times New Roman" pitchFamily="18" charset="0"/>
                <a:cs typeface="Times New Roman" pitchFamily="18" charset="0"/>
              </a:rPr>
              <a:t>The shift register circuit  which is capable of shifting the data  in both the direction - </a:t>
            </a:r>
            <a:r>
              <a:rPr lang="en-US" sz="2200" b="1" dirty="0" smtClean="0">
                <a:latin typeface="Times New Roman" pitchFamily="18" charset="0"/>
                <a:cs typeface="Times New Roman" pitchFamily="18" charset="0"/>
              </a:rPr>
              <a:t>Bidirectional </a:t>
            </a:r>
            <a:r>
              <a:rPr lang="en-US" sz="2200" b="1" dirty="0">
                <a:latin typeface="Times New Roman" pitchFamily="18" charset="0"/>
                <a:cs typeface="Times New Roman" pitchFamily="18" charset="0"/>
              </a:rPr>
              <a:t>shift </a:t>
            </a:r>
            <a:r>
              <a:rPr lang="en-US" sz="2200" b="1" dirty="0" smtClean="0">
                <a:latin typeface="Times New Roman" pitchFamily="18" charset="0"/>
                <a:cs typeface="Times New Roman" pitchFamily="18" charset="0"/>
              </a:rPr>
              <a:t>register.</a:t>
            </a:r>
          </a:p>
          <a:p>
            <a:pPr marL="342900" indent="-342900" algn="just" eaLnBrk="0" fontAlgn="base" hangingPunct="0">
              <a:spcBef>
                <a:spcPct val="0"/>
              </a:spcBef>
              <a:spcAft>
                <a:spcPct val="0"/>
              </a:spcAft>
              <a:buFont typeface="Arial" pitchFamily="34" charset="0"/>
              <a:buChar char="•"/>
            </a:pPr>
            <a:r>
              <a:rPr lang="en-US" sz="2200" dirty="0">
                <a:latin typeface="Times New Roman" pitchFamily="18" charset="0"/>
                <a:cs typeface="Times New Roman" pitchFamily="18" charset="0"/>
              </a:rPr>
              <a:t>The shift register circuit  which is capable </a:t>
            </a:r>
            <a:r>
              <a:rPr lang="en-US" sz="2200" dirty="0" smtClean="0">
                <a:latin typeface="Times New Roman" pitchFamily="18" charset="0"/>
                <a:cs typeface="Times New Roman" pitchFamily="18" charset="0"/>
              </a:rPr>
              <a:t>of doing all the four types of shift operations is called </a:t>
            </a:r>
            <a:r>
              <a:rPr lang="en-US" sz="2200" b="1" dirty="0" smtClean="0">
                <a:solidFill>
                  <a:srgbClr val="FF0000"/>
                </a:solidFill>
                <a:latin typeface="Times New Roman" pitchFamily="18" charset="0"/>
                <a:cs typeface="Times New Roman" pitchFamily="18" charset="0"/>
              </a:rPr>
              <a:t>Universal Shift Register also called Bidirectional shift register with parallel load</a:t>
            </a:r>
            <a:r>
              <a:rPr lang="en-US" sz="2200" dirty="0" smtClean="0">
                <a:latin typeface="Times New Roman" pitchFamily="18" charset="0"/>
                <a:cs typeface="Times New Roman" pitchFamily="18" charset="0"/>
              </a:rPr>
              <a:t>.</a:t>
            </a:r>
            <a:endParaRPr kumimoji="0" lang="en-US"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1849717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rmAutofit/>
          </a:bodyPr>
          <a:lstStyle/>
          <a:p>
            <a:pPr algn="l"/>
            <a:r>
              <a:rPr lang="en-IN" sz="3200" b="1" dirty="0" smtClean="0">
                <a:solidFill>
                  <a:srgbClr val="FF0000"/>
                </a:solidFill>
                <a:latin typeface="Times New Roman" pitchFamily="18" charset="0"/>
                <a:cs typeface="Times New Roman" pitchFamily="18" charset="0"/>
              </a:rPr>
              <a:t>Types of shift Registers</a:t>
            </a:r>
            <a:endParaRPr lang="en-IN"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5279" t="3919" r="3461" b="4216"/>
          <a:stretch/>
        </p:blipFill>
        <p:spPr bwMode="auto">
          <a:xfrm>
            <a:off x="180109" y="505690"/>
            <a:ext cx="8839200" cy="399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cstate="print">
            <a:extLst>
              <a:ext uri="{28A0092B-C50C-407E-A947-70E740481C1C}">
                <a14:useLocalDpi xmlns="" xmlns:a14="http://schemas.microsoft.com/office/drawing/2010/main" val="0"/>
              </a:ext>
            </a:extLst>
          </a:blip>
          <a:srcRect t="7483"/>
          <a:stretch/>
        </p:blipFill>
        <p:spPr bwMode="auto">
          <a:xfrm>
            <a:off x="0" y="4558145"/>
            <a:ext cx="8991600" cy="23605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8174318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5503814" cy="400110"/>
          </a:xfrm>
          <a:prstGeom prst="rect">
            <a:avLst/>
          </a:prstGeom>
        </p:spPr>
        <p:txBody>
          <a:bodyPr wrap="none">
            <a:spAutoFit/>
          </a:bodyPr>
          <a:lstStyle/>
          <a:p>
            <a:r>
              <a:rPr lang="en-IN" sz="2000" b="1" dirty="0">
                <a:solidFill>
                  <a:srgbClr val="FF0000"/>
                </a:solidFill>
                <a:latin typeface="Times New Roman" pitchFamily="18" charset="0"/>
                <a:cs typeface="Times New Roman" pitchFamily="18" charset="0"/>
              </a:rPr>
              <a:t>SERIAL-IN, SERIAL-OUT, SHIFT REGISTER</a:t>
            </a:r>
          </a:p>
        </p:txBody>
      </p:sp>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18654" y="838200"/>
            <a:ext cx="8139545" cy="3505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AutoShape 4" descr="What Is Serial In Serial Out (siso) Shift Register"/>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 xmlns:p14="http://schemas.microsoft.com/office/powerpoint/2010/main" val="32099307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355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0" y="43934"/>
            <a:ext cx="9144000" cy="68140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038600" y="43934"/>
            <a:ext cx="989951" cy="369332"/>
          </a:xfrm>
          <a:prstGeom prst="rect">
            <a:avLst/>
          </a:prstGeom>
          <a:noFill/>
        </p:spPr>
        <p:txBody>
          <a:bodyPr wrap="none" rtlCol="0">
            <a:spAutoFit/>
          </a:bodyPr>
          <a:lstStyle/>
          <a:p>
            <a:r>
              <a:rPr lang="en-IN" b="1" dirty="0" smtClean="0">
                <a:solidFill>
                  <a:srgbClr val="FF0000"/>
                </a:solidFill>
              </a:rPr>
              <a:t>Working</a:t>
            </a:r>
            <a:endParaRPr lang="en-IN" b="1" dirty="0">
              <a:solidFill>
                <a:srgbClr val="FF0000"/>
              </a:solidFill>
            </a:endParaRPr>
          </a:p>
        </p:txBody>
      </p:sp>
    </p:spTree>
    <p:extLst>
      <p:ext uri="{BB962C8B-B14F-4D97-AF65-F5344CB8AC3E}">
        <p14:creationId xmlns="" xmlns:p14="http://schemas.microsoft.com/office/powerpoint/2010/main" val="13218392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4799" y="228600"/>
            <a:ext cx="8581073" cy="5791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4582118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 y="311726"/>
            <a:ext cx="9026927" cy="60890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1502931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09600" y="581891"/>
            <a:ext cx="7368493" cy="5410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262976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228600"/>
            <a:ext cx="5346400" cy="369332"/>
          </a:xfrm>
          <a:prstGeom prst="rect">
            <a:avLst/>
          </a:prstGeom>
        </p:spPr>
        <p:txBody>
          <a:bodyPr wrap="none">
            <a:spAutoFit/>
          </a:bodyPr>
          <a:lstStyle/>
          <a:p>
            <a:r>
              <a:rPr lang="en-IN" b="1" dirty="0">
                <a:latin typeface="Times New Roman" pitchFamily="18" charset="0"/>
                <a:cs typeface="Times New Roman" pitchFamily="18" charset="0"/>
              </a:rPr>
              <a:t>SERIAL-IN, PARALLEL-OUT, SHIFT REGISTER</a:t>
            </a:r>
          </a:p>
        </p:txBody>
      </p:sp>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90600" y="1066800"/>
            <a:ext cx="7371000" cy="4800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690870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762000"/>
            <a:ext cx="8458200" cy="3785652"/>
          </a:xfrm>
          <a:prstGeom prst="rect">
            <a:avLst/>
          </a:prstGeom>
        </p:spPr>
        <p:txBody>
          <a:bodyPr wrap="square">
            <a:spAutoFit/>
          </a:bodyPr>
          <a:lstStyle/>
          <a:p>
            <a:pPr marL="342900" indent="-342900" algn="just">
              <a:buFont typeface="Arial" pitchFamily="34" charset="0"/>
              <a:buChar char="•"/>
            </a:pPr>
            <a:r>
              <a:rPr lang="en-IN" sz="2400" dirty="0">
                <a:latin typeface="Times New Roman" pitchFamily="18" charset="0"/>
                <a:cs typeface="Times New Roman" pitchFamily="18" charset="0"/>
              </a:rPr>
              <a:t>In such types of operations, the data is entered serially and taken out in parallel fashion.</a:t>
            </a:r>
          </a:p>
          <a:p>
            <a:pPr marL="342900" indent="-342900" algn="just">
              <a:buFont typeface="Arial" pitchFamily="34" charset="0"/>
              <a:buChar char="•"/>
            </a:pPr>
            <a:r>
              <a:rPr lang="en-IN" sz="2400" dirty="0">
                <a:latin typeface="Times New Roman" pitchFamily="18" charset="0"/>
                <a:cs typeface="Times New Roman" pitchFamily="18" charset="0"/>
              </a:rPr>
              <a:t>Data is loaded bit by bit. The outputs are disabled as long as the data is loading.</a:t>
            </a:r>
          </a:p>
          <a:p>
            <a:pPr marL="342900" indent="-342900" algn="just">
              <a:buFont typeface="Arial" pitchFamily="34" charset="0"/>
              <a:buChar char="•"/>
            </a:pPr>
            <a:r>
              <a:rPr lang="en-IN" sz="2400" dirty="0">
                <a:latin typeface="Times New Roman" pitchFamily="18" charset="0"/>
                <a:cs typeface="Times New Roman" pitchFamily="18" charset="0"/>
              </a:rPr>
              <a:t>As soon as the data loading gets completed, all the flip-flops contain their required data, the outputs are enabled so that all the loaded data is made available over all the output lines at the same time.</a:t>
            </a:r>
          </a:p>
          <a:p>
            <a:pPr marL="342900" indent="-342900" algn="just">
              <a:buFont typeface="Arial" pitchFamily="34" charset="0"/>
              <a:buChar char="•"/>
            </a:pPr>
            <a:r>
              <a:rPr lang="en-IN" sz="2400" dirty="0">
                <a:latin typeface="Times New Roman" pitchFamily="18" charset="0"/>
                <a:cs typeface="Times New Roman" pitchFamily="18" charset="0"/>
              </a:rPr>
              <a:t>4 clock cycles are required to load a four bit word. Hence the speed of operation of SIPO mode is same as that of SISO mode.</a:t>
            </a:r>
          </a:p>
        </p:txBody>
      </p:sp>
    </p:spTree>
    <p:extLst>
      <p:ext uri="{BB962C8B-B14F-4D97-AF65-F5344CB8AC3E}">
        <p14:creationId xmlns="" xmlns:p14="http://schemas.microsoft.com/office/powerpoint/2010/main" val="21747995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3058" r="2561"/>
          <a:stretch/>
        </p:blipFill>
        <p:spPr bwMode="auto">
          <a:xfrm>
            <a:off x="70216" y="679999"/>
            <a:ext cx="8768984" cy="5695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extBox 3"/>
          <p:cNvSpPr txBox="1"/>
          <p:nvPr/>
        </p:nvSpPr>
        <p:spPr>
          <a:xfrm>
            <a:off x="457200" y="43934"/>
            <a:ext cx="4229556" cy="369332"/>
          </a:xfrm>
          <a:prstGeom prst="rect">
            <a:avLst/>
          </a:prstGeom>
          <a:noFill/>
        </p:spPr>
        <p:txBody>
          <a:bodyPr wrap="none" rtlCol="0">
            <a:spAutoFit/>
          </a:bodyPr>
          <a:lstStyle/>
          <a:p>
            <a:r>
              <a:rPr lang="en-IN" b="1" dirty="0" smtClean="0">
                <a:solidFill>
                  <a:srgbClr val="FF0000"/>
                </a:solidFill>
              </a:rPr>
              <a:t>PARALLEL-IN,SERIAL OUT SHIFT REGISTERS</a:t>
            </a:r>
            <a:endParaRPr lang="en-IN" b="1" dirty="0">
              <a:solidFill>
                <a:srgbClr val="FF0000"/>
              </a:solidFill>
            </a:endParaRPr>
          </a:p>
        </p:txBody>
      </p:sp>
      <p:pic>
        <p:nvPicPr>
          <p:cNvPr id="4099" name="Picture 3"/>
          <p:cNvPicPr>
            <a:picLocks noChangeAspect="1" noChangeArrowheads="1"/>
          </p:cNvPicPr>
          <p:nvPr/>
        </p:nvPicPr>
        <p:blipFill>
          <a:blip r:embed="rId3" cstate="print">
            <a:extLst>
              <a:ext uri="{BEBA8EAE-BF5A-486C-A8C5-ECC9F3942E4B}">
                <a14:imgProps xmlns:a14="http://schemas.microsoft.com/office/drawing/2010/main" xmlns="">
                  <a14:imgLayer r:embed="rId4">
                    <a14:imgEffect>
                      <a14:brightnessContrast bright="12000" contrast="20000"/>
                    </a14:imgEffect>
                  </a14:imgLayer>
                </a14:imgProps>
              </a:ext>
              <a:ext uri="{28A0092B-C50C-407E-A947-70E740481C1C}">
                <a14:useLocalDpi xmlns:a14="http://schemas.microsoft.com/office/drawing/2010/main" xmlns="" val="0"/>
              </a:ext>
            </a:extLst>
          </a:blip>
          <a:srcRect/>
          <a:stretch>
            <a:fillRect/>
          </a:stretch>
        </p:blipFill>
        <p:spPr bwMode="auto">
          <a:xfrm>
            <a:off x="5056909" y="75073"/>
            <a:ext cx="4114800" cy="839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067017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0999" y="221673"/>
            <a:ext cx="8090267" cy="3429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95745" y="3726873"/>
            <a:ext cx="8012400" cy="31311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extBox 3"/>
          <p:cNvSpPr txBox="1"/>
          <p:nvPr/>
        </p:nvSpPr>
        <p:spPr>
          <a:xfrm>
            <a:off x="-1" y="25339"/>
            <a:ext cx="6961073" cy="369332"/>
          </a:xfrm>
          <a:prstGeom prst="rect">
            <a:avLst/>
          </a:prstGeom>
          <a:solidFill>
            <a:srgbClr val="FFFF00"/>
          </a:solidFill>
        </p:spPr>
        <p:txBody>
          <a:bodyPr wrap="none" rtlCol="0">
            <a:spAutoFit/>
          </a:bodyPr>
          <a:lstStyle/>
          <a:p>
            <a:r>
              <a:rPr lang="en-IN" dirty="0" smtClean="0"/>
              <a:t>When shift/load= 0, all the data will enter into the shift register </a:t>
            </a:r>
            <a:r>
              <a:rPr lang="en-IN" dirty="0" err="1" smtClean="0"/>
              <a:t>parallelly</a:t>
            </a:r>
            <a:endParaRPr lang="en-IN" dirty="0"/>
          </a:p>
        </p:txBody>
      </p:sp>
      <p:cxnSp>
        <p:nvCxnSpPr>
          <p:cNvPr id="6" name="Straight Connector 5"/>
          <p:cNvCxnSpPr/>
          <p:nvPr/>
        </p:nvCxnSpPr>
        <p:spPr>
          <a:xfrm>
            <a:off x="1205713" y="46304"/>
            <a:ext cx="3991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855" y="3542207"/>
            <a:ext cx="6444008" cy="369332"/>
          </a:xfrm>
          <a:prstGeom prst="rect">
            <a:avLst/>
          </a:prstGeom>
          <a:solidFill>
            <a:srgbClr val="FFFF00"/>
          </a:solidFill>
        </p:spPr>
        <p:txBody>
          <a:bodyPr wrap="none" rtlCol="0">
            <a:spAutoFit/>
          </a:bodyPr>
          <a:lstStyle/>
          <a:p>
            <a:r>
              <a:rPr lang="en-IN" dirty="0" smtClean="0"/>
              <a:t>When shift/load= 1, all the data will shift right upon the clock cycle</a:t>
            </a:r>
            <a:endParaRPr lang="en-IN" dirty="0"/>
          </a:p>
        </p:txBody>
      </p:sp>
      <p:cxnSp>
        <p:nvCxnSpPr>
          <p:cNvPr id="10" name="Straight Connector 9"/>
          <p:cNvCxnSpPr/>
          <p:nvPr/>
        </p:nvCxnSpPr>
        <p:spPr>
          <a:xfrm>
            <a:off x="1294088" y="3574656"/>
            <a:ext cx="3991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210110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3908" y="162132"/>
            <a:ext cx="4544292" cy="2554545"/>
          </a:xfrm>
          <a:prstGeom prst="rect">
            <a:avLst/>
          </a:prstGeom>
        </p:spPr>
        <p:txBody>
          <a:bodyPr wrap="square">
            <a:spAutoFit/>
          </a:bodyPr>
          <a:lstStyle/>
          <a:p>
            <a:pPr algn="just"/>
            <a:r>
              <a:rPr lang="en-IN" sz="2000" dirty="0">
                <a:latin typeface="Times New Roman" pitchFamily="18" charset="0"/>
                <a:cs typeface="Times New Roman" pitchFamily="18" charset="0"/>
              </a:rPr>
              <a:t>Parallel Input Serial Output (PISO)</a:t>
            </a:r>
          </a:p>
          <a:p>
            <a:pPr marL="342900" indent="-342900" algn="just">
              <a:buFont typeface="Arial" pitchFamily="34" charset="0"/>
              <a:buChar char="•"/>
            </a:pPr>
            <a:r>
              <a:rPr lang="en-IN" sz="2000" dirty="0">
                <a:latin typeface="Times New Roman" pitchFamily="18" charset="0"/>
                <a:cs typeface="Times New Roman" pitchFamily="18" charset="0"/>
              </a:rPr>
              <a:t>Data bits are entered in parallel fashion.</a:t>
            </a:r>
          </a:p>
          <a:p>
            <a:pPr marL="342900" indent="-342900" algn="just">
              <a:buFont typeface="Arial" pitchFamily="34" charset="0"/>
              <a:buChar char="•"/>
            </a:pPr>
            <a:r>
              <a:rPr lang="en-IN" sz="2000" dirty="0">
                <a:latin typeface="Times New Roman" pitchFamily="18" charset="0"/>
                <a:cs typeface="Times New Roman" pitchFamily="18" charset="0"/>
              </a:rPr>
              <a:t>The circuit shown below is a four bit parallel input serial output register.</a:t>
            </a:r>
          </a:p>
          <a:p>
            <a:pPr marL="342900" indent="-342900" algn="just">
              <a:buFont typeface="Arial" pitchFamily="34" charset="0"/>
              <a:buChar char="•"/>
            </a:pPr>
            <a:r>
              <a:rPr lang="en-IN" sz="2000" dirty="0">
                <a:latin typeface="Times New Roman" pitchFamily="18" charset="0"/>
                <a:cs typeface="Times New Roman" pitchFamily="18" charset="0"/>
              </a:rPr>
              <a:t>Output of previous Flip Flop is connected to the input of the next one via a combinational circuit</a:t>
            </a:r>
            <a:r>
              <a:rPr lang="en-IN" sz="2000" dirty="0" smtClean="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pic>
        <p:nvPicPr>
          <p:cNvPr id="27650" name="Picture 2" descr="Block Diagram of PISO Registe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800600" y="162132"/>
            <a:ext cx="4329545" cy="2494718"/>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p:cNvSpPr/>
          <p:nvPr/>
        </p:nvSpPr>
        <p:spPr>
          <a:xfrm>
            <a:off x="103908" y="2656850"/>
            <a:ext cx="8901545" cy="4093428"/>
          </a:xfrm>
          <a:prstGeom prst="rect">
            <a:avLst/>
          </a:prstGeom>
        </p:spPr>
        <p:txBody>
          <a:bodyPr wrap="square">
            <a:spAutoFit/>
          </a:bodyPr>
          <a:lstStyle/>
          <a:p>
            <a:pPr marL="342900" indent="-342900" algn="just">
              <a:buFont typeface="Arial" pitchFamily="34" charset="0"/>
              <a:buChar char="•"/>
            </a:pPr>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binary input word B</a:t>
            </a:r>
            <a:r>
              <a:rPr lang="en-IN" sz="2000" baseline="-25000" dirty="0">
                <a:latin typeface="Times New Roman" pitchFamily="18" charset="0"/>
                <a:cs typeface="Times New Roman" pitchFamily="18" charset="0"/>
              </a:rPr>
              <a:t>0</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3</a:t>
            </a:r>
            <a:r>
              <a:rPr lang="en-IN" sz="2000" dirty="0">
                <a:latin typeface="Times New Roman" pitchFamily="18" charset="0"/>
                <a:cs typeface="Times New Roman" pitchFamily="18" charset="0"/>
              </a:rPr>
              <a:t> is applied though the same combinational circuit.</a:t>
            </a:r>
          </a:p>
          <a:p>
            <a:pPr marL="342900" indent="-342900" algn="just">
              <a:buFont typeface="Arial" pitchFamily="34" charset="0"/>
              <a:buChar char="•"/>
            </a:pPr>
            <a:r>
              <a:rPr lang="en-IN" sz="2000" dirty="0">
                <a:latin typeface="Times New Roman" pitchFamily="18" charset="0"/>
                <a:cs typeface="Times New Roman" pitchFamily="18" charset="0"/>
              </a:rPr>
              <a:t>There are two modes in which this circuit can work namely - shift mode or load mode.</a:t>
            </a:r>
          </a:p>
          <a:p>
            <a:pPr marL="342900" indent="-342900" algn="just">
              <a:buFont typeface="Arial" pitchFamily="34" charset="0"/>
              <a:buChar char="•"/>
            </a:pPr>
            <a:r>
              <a:rPr lang="en-IN" sz="2000" b="1" dirty="0">
                <a:latin typeface="Times New Roman" pitchFamily="18" charset="0"/>
                <a:cs typeface="Times New Roman" pitchFamily="18" charset="0"/>
              </a:rPr>
              <a:t>Load </a:t>
            </a:r>
            <a:r>
              <a:rPr lang="en-IN" sz="2000" b="1" dirty="0" smtClean="0">
                <a:latin typeface="Times New Roman" pitchFamily="18" charset="0"/>
                <a:cs typeface="Times New Roman" pitchFamily="18" charset="0"/>
              </a:rPr>
              <a:t>mode-</a:t>
            </a:r>
            <a:r>
              <a:rPr lang="en-IN" sz="2000" dirty="0" smtClean="0">
                <a:latin typeface="Times New Roman" pitchFamily="18" charset="0"/>
                <a:cs typeface="Times New Roman" pitchFamily="18" charset="0"/>
              </a:rPr>
              <a:t>When </a:t>
            </a:r>
            <a:r>
              <a:rPr lang="en-IN" sz="2000" dirty="0">
                <a:latin typeface="Times New Roman" pitchFamily="18" charset="0"/>
                <a:cs typeface="Times New Roman" pitchFamily="18" charset="0"/>
              </a:rPr>
              <a:t>the shift/load bar line is low (0), the AND gate 2, 4 and 6 become active they will pass B</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3</a:t>
            </a:r>
            <a:r>
              <a:rPr lang="en-IN" sz="2000" dirty="0">
                <a:latin typeface="Times New Roman" pitchFamily="18" charset="0"/>
                <a:cs typeface="Times New Roman" pitchFamily="18" charset="0"/>
              </a:rPr>
              <a:t> bits to the corresponding flip-flops. On the low going edge of clock, the binary input B</a:t>
            </a:r>
            <a:r>
              <a:rPr lang="en-IN" sz="2000" baseline="-25000" dirty="0">
                <a:latin typeface="Times New Roman" pitchFamily="18" charset="0"/>
                <a:cs typeface="Times New Roman" pitchFamily="18" charset="0"/>
              </a:rPr>
              <a:t>0</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B</a:t>
            </a:r>
            <a:r>
              <a:rPr lang="en-IN" sz="2000" baseline="-25000" dirty="0">
                <a:latin typeface="Times New Roman" pitchFamily="18" charset="0"/>
                <a:cs typeface="Times New Roman" pitchFamily="18" charset="0"/>
              </a:rPr>
              <a:t>3</a:t>
            </a:r>
            <a:r>
              <a:rPr lang="en-IN" sz="2000" dirty="0">
                <a:latin typeface="Times New Roman" pitchFamily="18" charset="0"/>
                <a:cs typeface="Times New Roman" pitchFamily="18" charset="0"/>
              </a:rPr>
              <a:t> will get loaded into the corresponding flip-flops. Thus parallel loading takes place.</a:t>
            </a:r>
          </a:p>
          <a:p>
            <a:pPr marL="342900" indent="-342900" algn="just">
              <a:buFont typeface="Arial" pitchFamily="34" charset="0"/>
              <a:buChar char="•"/>
            </a:pPr>
            <a:r>
              <a:rPr lang="en-IN" sz="2000" b="1" dirty="0">
                <a:latin typeface="Times New Roman" pitchFamily="18" charset="0"/>
                <a:cs typeface="Times New Roman" pitchFamily="18" charset="0"/>
              </a:rPr>
              <a:t>Shift </a:t>
            </a:r>
            <a:r>
              <a:rPr lang="en-IN" sz="2000" b="1" dirty="0" smtClean="0">
                <a:latin typeface="Times New Roman" pitchFamily="18" charset="0"/>
                <a:cs typeface="Times New Roman" pitchFamily="18" charset="0"/>
              </a:rPr>
              <a:t>mode- </a:t>
            </a:r>
            <a:r>
              <a:rPr lang="en-IN" sz="2000" dirty="0" smtClean="0">
                <a:latin typeface="Times New Roman" pitchFamily="18" charset="0"/>
                <a:cs typeface="Times New Roman" pitchFamily="18" charset="0"/>
              </a:rPr>
              <a:t>When </a:t>
            </a:r>
            <a:r>
              <a:rPr lang="en-IN" sz="2000" dirty="0">
                <a:latin typeface="Times New Roman" pitchFamily="18" charset="0"/>
                <a:cs typeface="Times New Roman" pitchFamily="18" charset="0"/>
              </a:rPr>
              <a:t>the shift/load bar line is low (1), the AND gate 2, 4 and 6 become inactive. Hence the parallel loading of the data becomes impossible. But the AND gate 1,3 and 5 become active. Therefore the shifting of data from left to right bit by bit on application of clock pulses. Thus the parallel in serial out operation takes place.</a:t>
            </a:r>
          </a:p>
        </p:txBody>
      </p:sp>
    </p:spTree>
    <p:extLst>
      <p:ext uri="{BB962C8B-B14F-4D97-AF65-F5344CB8AC3E}">
        <p14:creationId xmlns:p14="http://schemas.microsoft.com/office/powerpoint/2010/main" xmlns="" val="6376622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09600" y="122959"/>
            <a:ext cx="4800600" cy="41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1000" y="542059"/>
            <a:ext cx="8382000" cy="35251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Rectangle 5"/>
          <p:cNvSpPr/>
          <p:nvPr/>
        </p:nvSpPr>
        <p:spPr>
          <a:xfrm>
            <a:off x="142009" y="4162761"/>
            <a:ext cx="8859982" cy="2308324"/>
          </a:xfrm>
          <a:prstGeom prst="rect">
            <a:avLst/>
          </a:prstGeom>
        </p:spPr>
        <p:txBody>
          <a:bodyPr wrap="square">
            <a:spAutoFit/>
          </a:bodyPr>
          <a:lstStyle/>
          <a:p>
            <a:pPr marL="342900" indent="-342900" algn="just">
              <a:buFont typeface="Arial" pitchFamily="34" charset="0"/>
              <a:buChar char="•"/>
            </a:pPr>
            <a:r>
              <a:rPr lang="en-IN" sz="2400" dirty="0">
                <a:latin typeface="Times New Roman" pitchFamily="18" charset="0"/>
                <a:cs typeface="Times New Roman" pitchFamily="18" charset="0"/>
              </a:rPr>
              <a:t>In this mode, the 4 bit binary input B</a:t>
            </a:r>
            <a:r>
              <a:rPr lang="en-IN" sz="2400" baseline="-25000" dirty="0">
                <a:latin typeface="Times New Roman" pitchFamily="18" charset="0"/>
                <a:cs typeface="Times New Roman" pitchFamily="18" charset="0"/>
              </a:rPr>
              <a:t>0</a:t>
            </a:r>
            <a:r>
              <a:rPr lang="en-IN" sz="2400" dirty="0">
                <a:latin typeface="Times New Roman" pitchFamily="18" charset="0"/>
                <a:cs typeface="Times New Roman" pitchFamily="18" charset="0"/>
              </a:rPr>
              <a:t>, B</a:t>
            </a:r>
            <a:r>
              <a:rPr lang="en-IN" sz="2400" baseline="-25000" dirty="0">
                <a:latin typeface="Times New Roman" pitchFamily="18" charset="0"/>
                <a:cs typeface="Times New Roman" pitchFamily="18" charset="0"/>
              </a:rPr>
              <a:t>1</a:t>
            </a:r>
            <a:r>
              <a:rPr lang="en-IN" sz="2400" dirty="0">
                <a:latin typeface="Times New Roman" pitchFamily="18" charset="0"/>
                <a:cs typeface="Times New Roman" pitchFamily="18" charset="0"/>
              </a:rPr>
              <a:t>, B</a:t>
            </a:r>
            <a:r>
              <a:rPr lang="en-IN" sz="2400" baseline="-25000" dirty="0">
                <a:latin typeface="Times New Roman" pitchFamily="18" charset="0"/>
                <a:cs typeface="Times New Roman" pitchFamily="18" charset="0"/>
              </a:rPr>
              <a:t>2</a:t>
            </a:r>
            <a:r>
              <a:rPr lang="en-IN" sz="2400" dirty="0">
                <a:latin typeface="Times New Roman" pitchFamily="18" charset="0"/>
                <a:cs typeface="Times New Roman" pitchFamily="18" charset="0"/>
              </a:rPr>
              <a:t>, B</a:t>
            </a:r>
            <a:r>
              <a:rPr lang="en-IN" sz="2400" baseline="-25000" dirty="0">
                <a:latin typeface="Times New Roman" pitchFamily="18" charset="0"/>
                <a:cs typeface="Times New Roman" pitchFamily="18" charset="0"/>
              </a:rPr>
              <a:t>3</a:t>
            </a:r>
            <a:r>
              <a:rPr lang="en-IN" sz="2400" dirty="0">
                <a:latin typeface="Times New Roman" pitchFamily="18" charset="0"/>
                <a:cs typeface="Times New Roman" pitchFamily="18" charset="0"/>
              </a:rPr>
              <a:t> is applied to the data inputs D</a:t>
            </a:r>
            <a:r>
              <a:rPr lang="en-IN" sz="2400" baseline="-25000" dirty="0">
                <a:latin typeface="Times New Roman" pitchFamily="18" charset="0"/>
                <a:cs typeface="Times New Roman" pitchFamily="18" charset="0"/>
              </a:rPr>
              <a:t>0</a:t>
            </a:r>
            <a:r>
              <a:rPr lang="en-IN" sz="2400" dirty="0">
                <a:latin typeface="Times New Roman" pitchFamily="18" charset="0"/>
                <a:cs typeface="Times New Roman" pitchFamily="18" charset="0"/>
              </a:rPr>
              <a:t>, D</a:t>
            </a:r>
            <a:r>
              <a:rPr lang="en-IN" sz="2400" baseline="-25000" dirty="0">
                <a:latin typeface="Times New Roman" pitchFamily="18" charset="0"/>
                <a:cs typeface="Times New Roman" pitchFamily="18" charset="0"/>
              </a:rPr>
              <a:t>1</a:t>
            </a:r>
            <a:r>
              <a:rPr lang="en-IN" sz="2400" dirty="0">
                <a:latin typeface="Times New Roman" pitchFamily="18" charset="0"/>
                <a:cs typeface="Times New Roman" pitchFamily="18" charset="0"/>
              </a:rPr>
              <a:t>, D</a:t>
            </a:r>
            <a:r>
              <a:rPr lang="en-IN" sz="2400" baseline="-25000" dirty="0">
                <a:latin typeface="Times New Roman" pitchFamily="18" charset="0"/>
                <a:cs typeface="Times New Roman" pitchFamily="18" charset="0"/>
              </a:rPr>
              <a:t>2</a:t>
            </a:r>
            <a:r>
              <a:rPr lang="en-IN" sz="2400" dirty="0">
                <a:latin typeface="Times New Roman" pitchFamily="18" charset="0"/>
                <a:cs typeface="Times New Roman" pitchFamily="18" charset="0"/>
              </a:rPr>
              <a:t>, D</a:t>
            </a:r>
            <a:r>
              <a:rPr lang="en-IN" sz="2400" baseline="-25000" dirty="0">
                <a:latin typeface="Times New Roman" pitchFamily="18" charset="0"/>
                <a:cs typeface="Times New Roman" pitchFamily="18" charset="0"/>
              </a:rPr>
              <a:t>3</a:t>
            </a:r>
            <a:r>
              <a:rPr lang="en-IN" sz="2400" dirty="0">
                <a:latin typeface="Times New Roman" pitchFamily="18" charset="0"/>
                <a:cs typeface="Times New Roman" pitchFamily="18" charset="0"/>
              </a:rPr>
              <a:t> respectively of the four flip-flops. </a:t>
            </a:r>
            <a:endParaRPr lang="en-IN" sz="2400" dirty="0" smtClean="0">
              <a:latin typeface="Times New Roman" pitchFamily="18" charset="0"/>
              <a:cs typeface="Times New Roman" pitchFamily="18" charset="0"/>
            </a:endParaRPr>
          </a:p>
          <a:p>
            <a:pPr marL="342900" indent="-342900" algn="just">
              <a:buFont typeface="Arial" pitchFamily="34" charset="0"/>
              <a:buChar char="•"/>
            </a:pPr>
            <a:r>
              <a:rPr lang="en-IN" sz="2400" dirty="0" smtClean="0">
                <a:latin typeface="Times New Roman" pitchFamily="18" charset="0"/>
                <a:cs typeface="Times New Roman" pitchFamily="18" charset="0"/>
              </a:rPr>
              <a:t>As </a:t>
            </a:r>
            <a:r>
              <a:rPr lang="en-IN" sz="2400" dirty="0">
                <a:latin typeface="Times New Roman" pitchFamily="18" charset="0"/>
                <a:cs typeface="Times New Roman" pitchFamily="18" charset="0"/>
              </a:rPr>
              <a:t>soon as a </a:t>
            </a:r>
            <a:r>
              <a:rPr lang="en-IN" sz="2400" dirty="0" smtClean="0">
                <a:latin typeface="Times New Roman" pitchFamily="18" charset="0"/>
                <a:cs typeface="Times New Roman" pitchFamily="18" charset="0"/>
              </a:rPr>
              <a:t>negative/positive </a:t>
            </a:r>
            <a:r>
              <a:rPr lang="en-IN" sz="2400" dirty="0">
                <a:latin typeface="Times New Roman" pitchFamily="18" charset="0"/>
                <a:cs typeface="Times New Roman" pitchFamily="18" charset="0"/>
              </a:rPr>
              <a:t>clock edge is applied, the input binary bits will be loaded into the flip-flops simultaneously. </a:t>
            </a:r>
            <a:endParaRPr lang="en-IN" sz="2400" dirty="0" smtClean="0">
              <a:latin typeface="Times New Roman" pitchFamily="18" charset="0"/>
              <a:cs typeface="Times New Roman" pitchFamily="18" charset="0"/>
            </a:endParaRPr>
          </a:p>
          <a:p>
            <a:pPr marL="342900" indent="-342900" algn="just">
              <a:buFont typeface="Arial" pitchFamily="34" charset="0"/>
              <a:buChar char="•"/>
            </a:pPr>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loaded bits will appear simultaneously to the output side. Only clock pulse is essential to load all the bits.</a:t>
            </a:r>
          </a:p>
        </p:txBody>
      </p:sp>
    </p:spTree>
    <p:extLst>
      <p:ext uri="{BB962C8B-B14F-4D97-AF65-F5344CB8AC3E}">
        <p14:creationId xmlns:p14="http://schemas.microsoft.com/office/powerpoint/2010/main" xmlns="" val="26038218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228600"/>
            <a:ext cx="3437159" cy="400110"/>
          </a:xfrm>
          <a:prstGeom prst="rect">
            <a:avLst/>
          </a:prstGeom>
        </p:spPr>
        <p:txBody>
          <a:bodyPr wrap="none">
            <a:spAutoFit/>
          </a:bodyPr>
          <a:lstStyle/>
          <a:p>
            <a:r>
              <a:rPr lang="en-IN" sz="2000" b="1" dirty="0"/>
              <a:t>UNIVERSAL SHIFT REGISTERRS </a:t>
            </a:r>
          </a:p>
        </p:txBody>
      </p:sp>
      <p:pic>
        <p:nvPicPr>
          <p:cNvPr id="9218" name="Picture 2"/>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1276"/>
          <a:stretch/>
        </p:blipFill>
        <p:spPr bwMode="auto">
          <a:xfrm>
            <a:off x="0" y="1752600"/>
            <a:ext cx="8575964" cy="5105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l="15484" b="9412"/>
          <a:stretch>
            <a:fillRect/>
          </a:stretch>
        </p:blipFill>
        <p:spPr bwMode="auto">
          <a:xfrm>
            <a:off x="5650213" y="0"/>
            <a:ext cx="3493787" cy="1905000"/>
          </a:xfrm>
          <a:prstGeom prst="rect">
            <a:avLst/>
          </a:prstGeom>
          <a:noFill/>
          <a:ln w="50800">
            <a:solidFill>
              <a:srgbClr val="FF0000"/>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81000" y="597932"/>
            <a:ext cx="5036956" cy="400110"/>
          </a:xfrm>
          <a:prstGeom prst="rect">
            <a:avLst/>
          </a:prstGeom>
        </p:spPr>
        <p:txBody>
          <a:bodyPr wrap="none">
            <a:spAutoFit/>
          </a:bodyPr>
          <a:lstStyle/>
          <a:p>
            <a:r>
              <a:rPr lang="en-IN" sz="2000" dirty="0" smtClean="0">
                <a:latin typeface="Times New Roman" pitchFamily="18" charset="0"/>
                <a:cs typeface="Times New Roman" pitchFamily="18" charset="0"/>
              </a:rPr>
              <a:t>(Bidirectional </a:t>
            </a:r>
            <a:r>
              <a:rPr lang="en-IN" sz="2000" dirty="0">
                <a:latin typeface="Times New Roman" pitchFamily="18" charset="0"/>
                <a:cs typeface="Times New Roman" pitchFamily="18" charset="0"/>
              </a:rPr>
              <a:t>Shift Register with Parallel </a:t>
            </a:r>
            <a:r>
              <a:rPr lang="en-IN" sz="2000" dirty="0" smtClean="0">
                <a:latin typeface="Times New Roman" pitchFamily="18" charset="0"/>
                <a:cs typeface="Times New Roman" pitchFamily="18" charset="0"/>
              </a:rPr>
              <a:t>load)</a:t>
            </a:r>
            <a:endParaRPr lang="en-IN" sz="2000" dirty="0"/>
          </a:p>
        </p:txBody>
      </p:sp>
      <p:sp>
        <p:nvSpPr>
          <p:cNvPr id="6" name="TextBox 5"/>
          <p:cNvSpPr txBox="1"/>
          <p:nvPr/>
        </p:nvSpPr>
        <p:spPr>
          <a:xfrm>
            <a:off x="8229600" y="838200"/>
            <a:ext cx="288862" cy="1077218"/>
          </a:xfrm>
          <a:prstGeom prst="rect">
            <a:avLst/>
          </a:prstGeom>
          <a:noFill/>
        </p:spPr>
        <p:txBody>
          <a:bodyPr wrap="none" rtlCol="0">
            <a:spAutoFit/>
          </a:bodyPr>
          <a:lstStyle/>
          <a:p>
            <a:r>
              <a:rPr lang="en-US" sz="1600" b="1" dirty="0" smtClean="0">
                <a:solidFill>
                  <a:srgbClr val="FF0000"/>
                </a:solidFill>
              </a:rPr>
              <a:t>0</a:t>
            </a:r>
          </a:p>
          <a:p>
            <a:r>
              <a:rPr lang="en-US" sz="1600" b="1" dirty="0" smtClean="0">
                <a:solidFill>
                  <a:srgbClr val="FF0000"/>
                </a:solidFill>
              </a:rPr>
              <a:t>1</a:t>
            </a:r>
          </a:p>
          <a:p>
            <a:r>
              <a:rPr lang="en-US" sz="1600" b="1" dirty="0" smtClean="0">
                <a:solidFill>
                  <a:srgbClr val="FF0000"/>
                </a:solidFill>
              </a:rPr>
              <a:t>2</a:t>
            </a:r>
          </a:p>
          <a:p>
            <a:r>
              <a:rPr lang="en-US" sz="1600" b="1" dirty="0" smtClean="0">
                <a:solidFill>
                  <a:srgbClr val="FF0000"/>
                </a:solidFill>
              </a:rPr>
              <a:t>3</a:t>
            </a:r>
            <a:endParaRPr lang="en-US" sz="1600" b="1" dirty="0">
              <a:solidFill>
                <a:srgbClr val="FF0000"/>
              </a:solidFill>
            </a:endParaRPr>
          </a:p>
        </p:txBody>
      </p:sp>
    </p:spTree>
    <p:extLst>
      <p:ext uri="{BB962C8B-B14F-4D97-AF65-F5344CB8AC3E}">
        <p14:creationId xmlns="" xmlns:p14="http://schemas.microsoft.com/office/powerpoint/2010/main" val="19080797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81013" y="895350"/>
            <a:ext cx="8181975" cy="5067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763557" y="3435927"/>
            <a:ext cx="301686" cy="646331"/>
          </a:xfrm>
          <a:prstGeom prst="rect">
            <a:avLst/>
          </a:prstGeom>
          <a:solidFill>
            <a:srgbClr val="FFFF00"/>
          </a:solidFill>
        </p:spPr>
        <p:txBody>
          <a:bodyPr wrap="none" rtlCol="0">
            <a:spAutoFit/>
          </a:bodyPr>
          <a:lstStyle/>
          <a:p>
            <a:r>
              <a:rPr lang="en-IN" dirty="0" smtClean="0"/>
              <a:t>0</a:t>
            </a:r>
          </a:p>
          <a:p>
            <a:r>
              <a:rPr lang="en-IN" dirty="0"/>
              <a:t>0</a:t>
            </a:r>
          </a:p>
        </p:txBody>
      </p:sp>
      <p:sp>
        <p:nvSpPr>
          <p:cNvPr id="7" name="TextBox 6"/>
          <p:cNvSpPr txBox="1"/>
          <p:nvPr/>
        </p:nvSpPr>
        <p:spPr>
          <a:xfrm>
            <a:off x="3286791" y="3426584"/>
            <a:ext cx="347768" cy="646331"/>
          </a:xfrm>
          <a:prstGeom prst="rect">
            <a:avLst/>
          </a:prstGeom>
          <a:solidFill>
            <a:schemeClr val="bg1">
              <a:alpha val="0"/>
            </a:schemeClr>
          </a:solidFill>
        </p:spPr>
        <p:txBody>
          <a:bodyPr wrap="square" rtlCol="0">
            <a:spAutoFit/>
          </a:bodyPr>
          <a:lstStyle/>
          <a:p>
            <a:r>
              <a:rPr lang="en-IN" b="1" dirty="0" smtClean="0">
                <a:solidFill>
                  <a:srgbClr val="00B050"/>
                </a:solidFill>
              </a:rPr>
              <a:t>0</a:t>
            </a:r>
          </a:p>
          <a:p>
            <a:r>
              <a:rPr lang="en-IN" b="1" dirty="0" smtClean="0">
                <a:solidFill>
                  <a:srgbClr val="00B050"/>
                </a:solidFill>
              </a:rPr>
              <a:t>0</a:t>
            </a:r>
            <a:endParaRPr lang="en-IN" b="1" dirty="0">
              <a:solidFill>
                <a:srgbClr val="00B050"/>
              </a:solidFill>
            </a:endParaRPr>
          </a:p>
        </p:txBody>
      </p:sp>
      <p:sp>
        <p:nvSpPr>
          <p:cNvPr id="8" name="TextBox 7"/>
          <p:cNvSpPr txBox="1"/>
          <p:nvPr/>
        </p:nvSpPr>
        <p:spPr>
          <a:xfrm>
            <a:off x="5257800" y="3435927"/>
            <a:ext cx="347768" cy="646331"/>
          </a:xfrm>
          <a:prstGeom prst="rect">
            <a:avLst/>
          </a:prstGeom>
          <a:solidFill>
            <a:schemeClr val="bg1">
              <a:alpha val="0"/>
            </a:schemeClr>
          </a:solidFill>
        </p:spPr>
        <p:txBody>
          <a:bodyPr wrap="square" rtlCol="0">
            <a:spAutoFit/>
          </a:bodyPr>
          <a:lstStyle/>
          <a:p>
            <a:r>
              <a:rPr lang="en-IN" b="1" dirty="0" smtClean="0">
                <a:solidFill>
                  <a:srgbClr val="00B050"/>
                </a:solidFill>
              </a:rPr>
              <a:t>0</a:t>
            </a:r>
          </a:p>
          <a:p>
            <a:r>
              <a:rPr lang="en-IN" b="1" dirty="0" smtClean="0">
                <a:solidFill>
                  <a:srgbClr val="00B050"/>
                </a:solidFill>
              </a:rPr>
              <a:t>0</a:t>
            </a:r>
            <a:endParaRPr lang="en-IN" b="1" dirty="0">
              <a:solidFill>
                <a:srgbClr val="00B050"/>
              </a:solidFill>
            </a:endParaRPr>
          </a:p>
        </p:txBody>
      </p:sp>
      <p:sp>
        <p:nvSpPr>
          <p:cNvPr id="9" name="TextBox 8"/>
          <p:cNvSpPr txBox="1"/>
          <p:nvPr/>
        </p:nvSpPr>
        <p:spPr>
          <a:xfrm>
            <a:off x="7054772" y="3435927"/>
            <a:ext cx="347768" cy="646331"/>
          </a:xfrm>
          <a:prstGeom prst="rect">
            <a:avLst/>
          </a:prstGeom>
          <a:solidFill>
            <a:schemeClr val="bg1">
              <a:alpha val="0"/>
            </a:schemeClr>
          </a:solidFill>
        </p:spPr>
        <p:txBody>
          <a:bodyPr wrap="square" rtlCol="0">
            <a:spAutoFit/>
          </a:bodyPr>
          <a:lstStyle/>
          <a:p>
            <a:r>
              <a:rPr lang="en-IN" b="1" dirty="0" smtClean="0">
                <a:solidFill>
                  <a:srgbClr val="00B050"/>
                </a:solidFill>
              </a:rPr>
              <a:t>0</a:t>
            </a:r>
          </a:p>
          <a:p>
            <a:r>
              <a:rPr lang="en-IN" b="1" dirty="0" smtClean="0">
                <a:solidFill>
                  <a:srgbClr val="00B050"/>
                </a:solidFill>
              </a:rPr>
              <a:t>0</a:t>
            </a:r>
            <a:endParaRPr lang="en-IN" b="1" dirty="0">
              <a:solidFill>
                <a:srgbClr val="00B050"/>
              </a:solidFill>
            </a:endParaRPr>
          </a:p>
        </p:txBody>
      </p:sp>
      <p:sp>
        <p:nvSpPr>
          <p:cNvPr id="10" name="TextBox 9"/>
          <p:cNvSpPr txBox="1"/>
          <p:nvPr/>
        </p:nvSpPr>
        <p:spPr>
          <a:xfrm>
            <a:off x="481013" y="533400"/>
            <a:ext cx="3032561" cy="369332"/>
          </a:xfrm>
          <a:prstGeom prst="rect">
            <a:avLst/>
          </a:prstGeom>
          <a:solidFill>
            <a:srgbClr val="FFFF00"/>
          </a:solidFill>
        </p:spPr>
        <p:txBody>
          <a:bodyPr wrap="none" rtlCol="0">
            <a:spAutoFit/>
          </a:bodyPr>
          <a:lstStyle/>
          <a:p>
            <a:r>
              <a:rPr lang="en-IN" dirty="0" smtClean="0"/>
              <a:t>S1=S0=0; No change condition</a:t>
            </a:r>
            <a:endParaRPr lang="en-IN" dirty="0"/>
          </a:p>
        </p:txBody>
      </p:sp>
    </p:spTree>
    <p:extLst>
      <p:ext uri="{BB962C8B-B14F-4D97-AF65-F5344CB8AC3E}">
        <p14:creationId xmlns="" xmlns:p14="http://schemas.microsoft.com/office/powerpoint/2010/main" val="37717477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81013" y="947738"/>
            <a:ext cx="8181975" cy="4962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85800" y="369332"/>
            <a:ext cx="2232791" cy="369332"/>
          </a:xfrm>
          <a:prstGeom prst="rect">
            <a:avLst/>
          </a:prstGeom>
          <a:solidFill>
            <a:srgbClr val="FFFF00"/>
          </a:solidFill>
        </p:spPr>
        <p:txBody>
          <a:bodyPr wrap="none" rtlCol="0">
            <a:spAutoFit/>
          </a:bodyPr>
          <a:lstStyle/>
          <a:p>
            <a:r>
              <a:rPr lang="en-IN" dirty="0" smtClean="0"/>
              <a:t>S1=0,S0=1; Shift Right</a:t>
            </a:r>
            <a:endParaRPr lang="en-IN" dirty="0"/>
          </a:p>
        </p:txBody>
      </p:sp>
      <p:sp>
        <p:nvSpPr>
          <p:cNvPr id="5" name="TextBox 4"/>
          <p:cNvSpPr txBox="1"/>
          <p:nvPr/>
        </p:nvSpPr>
        <p:spPr>
          <a:xfrm>
            <a:off x="1600200" y="4572000"/>
            <a:ext cx="583108" cy="338554"/>
          </a:xfrm>
          <a:prstGeom prst="rect">
            <a:avLst/>
          </a:prstGeom>
          <a:noFill/>
        </p:spPr>
        <p:txBody>
          <a:bodyPr wrap="none" rtlCol="0">
            <a:spAutoFit/>
          </a:bodyPr>
          <a:lstStyle/>
          <a:p>
            <a:r>
              <a:rPr lang="en-US" sz="1600" b="1" dirty="0" smtClean="0"/>
              <a:t>Data</a:t>
            </a:r>
            <a:endParaRPr lang="en-US" sz="1600" b="1" dirty="0"/>
          </a:p>
        </p:txBody>
      </p:sp>
    </p:spTree>
    <p:extLst>
      <p:ext uri="{BB962C8B-B14F-4D97-AF65-F5344CB8AC3E}">
        <p14:creationId xmlns="" xmlns:p14="http://schemas.microsoft.com/office/powerpoint/2010/main" val="18407031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369332"/>
            <a:ext cx="2115836" cy="369332"/>
          </a:xfrm>
          <a:prstGeom prst="rect">
            <a:avLst/>
          </a:prstGeom>
          <a:solidFill>
            <a:srgbClr val="FFFF00"/>
          </a:solidFill>
        </p:spPr>
        <p:txBody>
          <a:bodyPr wrap="none" rtlCol="0">
            <a:spAutoFit/>
          </a:bodyPr>
          <a:lstStyle/>
          <a:p>
            <a:r>
              <a:rPr lang="en-IN" dirty="0" smtClean="0"/>
              <a:t>S1=1,S0=0; Shift  left</a:t>
            </a:r>
            <a:endParaRPr lang="en-IN" dirty="0"/>
          </a:p>
        </p:txBody>
      </p:sp>
      <p:pic>
        <p:nvPicPr>
          <p:cNvPr id="614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81013" y="938213"/>
            <a:ext cx="8181975" cy="4981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3463667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369332"/>
            <a:ext cx="2457660" cy="369332"/>
          </a:xfrm>
          <a:prstGeom prst="rect">
            <a:avLst/>
          </a:prstGeom>
          <a:solidFill>
            <a:srgbClr val="FFFF00"/>
          </a:solidFill>
        </p:spPr>
        <p:txBody>
          <a:bodyPr wrap="none" rtlCol="0">
            <a:spAutoFit/>
          </a:bodyPr>
          <a:lstStyle/>
          <a:p>
            <a:r>
              <a:rPr lang="en-IN" dirty="0" smtClean="0"/>
              <a:t>S1=1,S0=1; Parallel Load</a:t>
            </a:r>
            <a:endParaRPr lang="en-IN" dirty="0"/>
          </a:p>
        </p:txBody>
      </p:sp>
      <p:pic>
        <p:nvPicPr>
          <p:cNvPr id="717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85775" y="900113"/>
            <a:ext cx="8172450" cy="5057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6138149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u="sng" dirty="0" smtClean="0">
                <a:latin typeface="Times New Roman" pitchFamily="18" charset="0"/>
                <a:cs typeface="Times New Roman" pitchFamily="18" charset="0"/>
              </a:rPr>
              <a:t>Shift Register Counters</a:t>
            </a:r>
            <a:endParaRPr lang="en-US"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304800" y="1219200"/>
            <a:ext cx="8534400" cy="4525963"/>
          </a:xfrm>
        </p:spPr>
        <p:txBody>
          <a:bodyPr>
            <a:normAutofit/>
          </a:bodyPr>
          <a:lstStyle/>
          <a:p>
            <a:pPr marL="457200" indent="-457200" algn="just">
              <a:buAutoNum type="arabicPeriod"/>
            </a:pPr>
            <a:r>
              <a:rPr lang="en-US" sz="2400" b="1" dirty="0" smtClean="0">
                <a:latin typeface="Times New Roman" pitchFamily="18" charset="0"/>
                <a:cs typeface="Times New Roman" pitchFamily="18" charset="0"/>
              </a:rPr>
              <a:t>Ring counter:  </a:t>
            </a:r>
            <a:r>
              <a:rPr lang="en-US" sz="2400" dirty="0" smtClean="0">
                <a:latin typeface="Times New Roman" pitchFamily="18" charset="0"/>
                <a:cs typeface="Times New Roman" pitchFamily="18" charset="0"/>
              </a:rPr>
              <a:t>A </a:t>
            </a:r>
            <a:r>
              <a:rPr lang="en-US" sz="2400" b="1" dirty="0" smtClean="0">
                <a:latin typeface="Times New Roman" pitchFamily="18" charset="0"/>
                <a:cs typeface="Times New Roman" pitchFamily="18" charset="0"/>
              </a:rPr>
              <a:t>ring counter </a:t>
            </a:r>
            <a:r>
              <a:rPr lang="en-US" sz="2400" dirty="0" smtClean="0">
                <a:latin typeface="Times New Roman" pitchFamily="18" charset="0"/>
                <a:cs typeface="Times New Roman" pitchFamily="18" charset="0"/>
              </a:rPr>
              <a:t>is a typical application of the Shift register. The ring counter is almost the same as the shift counter. The only change is that the output of the last flip-flop is connected to the input of the first flip-flop in the case of the ring counter but in the case of the shift resister it is taken as output. So, for designing a 4-bit Ring counter we need 4 flip-flops.</a:t>
            </a:r>
          </a:p>
          <a:p>
            <a:pPr marL="457200" indent="-457200" algn="just">
              <a:buAutoNum type="arabicPeriod"/>
            </a:pPr>
            <a:endParaRPr lang="en-US" sz="2400" dirty="0" smtClean="0">
              <a:latin typeface="Times New Roman" pitchFamily="18" charset="0"/>
              <a:cs typeface="Times New Roman" pitchFamily="18" charset="0"/>
            </a:endParaRPr>
          </a:p>
          <a:p>
            <a:pPr marL="457200" indent="-457200" algn="just">
              <a:buNone/>
            </a:pPr>
            <a:r>
              <a:rPr lang="en-US" sz="2400" dirty="0" smtClean="0">
                <a:latin typeface="Times New Roman" pitchFamily="18" charset="0"/>
                <a:cs typeface="Times New Roman" pitchFamily="18" charset="0"/>
              </a:rPr>
              <a:t>The clock pulse (CLK) is applied to all the flip-flops simultaneously, </a:t>
            </a:r>
            <a:r>
              <a:rPr lang="en-US" sz="2400" dirty="0" err="1" smtClean="0">
                <a:latin typeface="Times New Roman" pitchFamily="18" charset="0"/>
                <a:cs typeface="Times New Roman" pitchFamily="18" charset="0"/>
              </a:rPr>
              <a:t>ie</a:t>
            </a:r>
            <a:r>
              <a:rPr lang="en-US" sz="2400" dirty="0" smtClean="0">
                <a:latin typeface="Times New Roman" pitchFamily="18" charset="0"/>
                <a:cs typeface="Times New Roman" pitchFamily="18" charset="0"/>
              </a:rPr>
              <a:t>. it works synchronously. It is also a synchronous counter. </a:t>
            </a:r>
          </a:p>
        </p:txBody>
      </p:sp>
      <p:pic>
        <p:nvPicPr>
          <p:cNvPr id="2050" name="Picture 2"/>
          <p:cNvPicPr>
            <a:picLocks noChangeAspect="1" noChangeArrowheads="1"/>
          </p:cNvPicPr>
          <p:nvPr/>
        </p:nvPicPr>
        <p:blipFill>
          <a:blip r:embed="rId2" cstate="print"/>
          <a:srcRect/>
          <a:stretch>
            <a:fillRect/>
          </a:stretch>
        </p:blipFill>
        <p:spPr bwMode="auto">
          <a:xfrm>
            <a:off x="2209800" y="3505200"/>
            <a:ext cx="4667250" cy="45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r="3959"/>
          <a:stretch>
            <a:fillRect/>
          </a:stretch>
        </p:blipFill>
        <p:spPr bwMode="auto">
          <a:xfrm>
            <a:off x="990600" y="304800"/>
            <a:ext cx="8106710" cy="3657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04800" y="228600"/>
            <a:ext cx="2061013" cy="461665"/>
          </a:xfrm>
          <a:prstGeom prst="rect">
            <a:avLst/>
          </a:prstGeom>
        </p:spPr>
        <p:txBody>
          <a:bodyPr wrap="none">
            <a:spAutoFit/>
          </a:bodyPr>
          <a:lstStyle/>
          <a:p>
            <a:r>
              <a:rPr lang="en-IN" sz="2400" b="1" u="sng" dirty="0">
                <a:latin typeface="Times New Roman" pitchFamily="18" charset="0"/>
                <a:cs typeface="Times New Roman" pitchFamily="18" charset="0"/>
              </a:rPr>
              <a:t>Ring Counter </a:t>
            </a:r>
          </a:p>
        </p:txBody>
      </p:sp>
      <p:pic>
        <p:nvPicPr>
          <p:cNvPr id="4"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b="56313"/>
          <a:stretch>
            <a:fillRect/>
          </a:stretch>
        </p:blipFill>
        <p:spPr bwMode="auto">
          <a:xfrm>
            <a:off x="457200" y="3962400"/>
            <a:ext cx="7724990" cy="2895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1508932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81000" y="457200"/>
            <a:ext cx="8458200" cy="586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14400" y="914400"/>
            <a:ext cx="6941060" cy="434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5892095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t="45587"/>
          <a:stretch>
            <a:fillRect/>
          </a:stretch>
        </p:blipFill>
        <p:spPr bwMode="auto">
          <a:xfrm>
            <a:off x="685800" y="1600200"/>
            <a:ext cx="7572590" cy="29300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382000" cy="4525963"/>
          </a:xfrm>
        </p:spPr>
        <p:txBody>
          <a:bodyPr>
            <a:noAutofit/>
          </a:bodyPr>
          <a:lstStyle/>
          <a:p>
            <a:pPr algn="just">
              <a:buNone/>
            </a:pPr>
            <a:r>
              <a:rPr lang="en-US" sz="2400" b="1" u="sng" dirty="0" smtClean="0">
                <a:latin typeface="Times New Roman" pitchFamily="18" charset="0"/>
                <a:cs typeface="Times New Roman" pitchFamily="18" charset="0"/>
              </a:rPr>
              <a:t>2.Johnson counter </a:t>
            </a:r>
            <a:r>
              <a:rPr lang="en-US" sz="2400" dirty="0" smtClean="0">
                <a:latin typeface="Times New Roman" pitchFamily="18" charset="0"/>
                <a:cs typeface="Times New Roman" pitchFamily="18" charset="0"/>
              </a:rPr>
              <a:t>: Another application of shift register counter. It is also a synchronous counter. In Johnson counter, the complemented output of last flip flop is connected to input of first flip flop and to implement n-bit Johnson counter we require n flip-flop. It is one of the most important type of shift register counter. Another name of Johnson counter is twisted ring counter.</a:t>
            </a:r>
            <a:endParaRPr lang="en-US" sz="24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srcRect t="21818" b="32727"/>
          <a:stretch>
            <a:fillRect/>
          </a:stretch>
        </p:blipFill>
        <p:spPr bwMode="auto">
          <a:xfrm>
            <a:off x="2438400" y="3200400"/>
            <a:ext cx="5238750" cy="533399"/>
          </a:xfrm>
          <a:prstGeom prst="rect">
            <a:avLst/>
          </a:prstGeom>
          <a:noFill/>
          <a:ln w="9525">
            <a:noFill/>
            <a:miter lim="800000"/>
            <a:headEnd/>
            <a:tailEnd/>
          </a:ln>
        </p:spPr>
      </p:pic>
      <p:sp>
        <p:nvSpPr>
          <p:cNvPr id="5" name="TextBox 4"/>
          <p:cNvSpPr txBox="1"/>
          <p:nvPr/>
        </p:nvSpPr>
        <p:spPr>
          <a:xfrm>
            <a:off x="5181600" y="3429000"/>
            <a:ext cx="1760418" cy="369332"/>
          </a:xfrm>
          <a:prstGeom prst="rect">
            <a:avLst/>
          </a:prstGeom>
          <a:noFill/>
        </p:spPr>
        <p:txBody>
          <a:bodyPr wrap="none" rtlCol="0">
            <a:spAutoFit/>
          </a:bodyPr>
          <a:lstStyle/>
          <a:p>
            <a:r>
              <a:rPr lang="en-US" dirty="0" smtClean="0"/>
              <a:t>n is the no. of FF</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15531"/>
            <a:ext cx="5332870" cy="461665"/>
          </a:xfrm>
          <a:prstGeom prst="rect">
            <a:avLst/>
          </a:prstGeom>
        </p:spPr>
        <p:txBody>
          <a:bodyPr wrap="none">
            <a:spAutoFit/>
          </a:bodyPr>
          <a:lstStyle/>
          <a:p>
            <a:r>
              <a:rPr lang="en-IN" sz="2400" u="sng" dirty="0">
                <a:latin typeface="Times New Roman" pitchFamily="18" charset="0"/>
                <a:cs typeface="Times New Roman" pitchFamily="18" charset="0"/>
              </a:rPr>
              <a:t>Twisted Ring Counter (Johnson Counter) </a:t>
            </a:r>
          </a:p>
        </p:txBody>
      </p:sp>
      <p:pic>
        <p:nvPicPr>
          <p:cNvPr id="2150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33399" y="762000"/>
            <a:ext cx="8275441" cy="5334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0633386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8200" y="6926"/>
            <a:ext cx="8001000" cy="684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7575410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4400" y="1447800"/>
            <a:ext cx="7239000" cy="2062103"/>
          </a:xfrm>
          <a:prstGeom prst="rect">
            <a:avLst/>
          </a:prstGeom>
        </p:spPr>
        <p:txBody>
          <a:bodyPr wrap="square">
            <a:spAutoFit/>
          </a:bodyPr>
          <a:lstStyle/>
          <a:p>
            <a:pPr algn="ctr"/>
            <a:r>
              <a:rPr lang="en-IN" sz="3200" b="1" u="sng" dirty="0">
                <a:latin typeface="Times New Roman" pitchFamily="18" charset="0"/>
                <a:cs typeface="Times New Roman" pitchFamily="18" charset="0"/>
              </a:rPr>
              <a:t>Programmable Logic </a:t>
            </a:r>
            <a:r>
              <a:rPr lang="en-IN" sz="3200" b="1" u="sng" dirty="0" smtClean="0">
                <a:latin typeface="Times New Roman" pitchFamily="18" charset="0"/>
                <a:cs typeface="Times New Roman" pitchFamily="18" charset="0"/>
              </a:rPr>
              <a:t>devices</a:t>
            </a:r>
          </a:p>
          <a:p>
            <a:pPr algn="ctr"/>
            <a:r>
              <a:rPr lang="en-IN" sz="2400" b="1" u="sng" dirty="0" smtClean="0">
                <a:latin typeface="Times New Roman" pitchFamily="18" charset="0"/>
                <a:cs typeface="Times New Roman" pitchFamily="18" charset="0"/>
              </a:rPr>
              <a:t> </a:t>
            </a:r>
          </a:p>
          <a:p>
            <a:r>
              <a:rPr lang="en-IN" sz="2400" dirty="0" smtClean="0">
                <a:latin typeface="Times New Roman" pitchFamily="18" charset="0"/>
                <a:cs typeface="Times New Roman" pitchFamily="18" charset="0"/>
              </a:rPr>
              <a:t>       1.ROM</a:t>
            </a:r>
            <a:r>
              <a:rPr lang="en-IN" sz="2400" dirty="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2.Programmable </a:t>
            </a:r>
            <a:r>
              <a:rPr lang="en-IN" sz="2400" dirty="0">
                <a:latin typeface="Times New Roman" pitchFamily="18" charset="0"/>
                <a:cs typeface="Times New Roman" pitchFamily="18" charset="0"/>
              </a:rPr>
              <a:t>Logic Array(PLA)- Implementation </a:t>
            </a:r>
            <a:r>
              <a:rPr lang="en-IN" sz="2400" dirty="0" smtClean="0">
                <a:latin typeface="Times New Roman" pitchFamily="18" charset="0"/>
                <a:cs typeface="Times New Roman" pitchFamily="18" charset="0"/>
              </a:rPr>
              <a:t>   </a:t>
            </a:r>
          </a:p>
          <a:p>
            <a:r>
              <a:rPr lang="en-IN" sz="2400" dirty="0">
                <a:latin typeface="Times New Roman" pitchFamily="18" charset="0"/>
                <a:cs typeface="Times New Roman" pitchFamily="18" charset="0"/>
              </a:rPr>
              <a:t> </a:t>
            </a:r>
            <a:r>
              <a:rPr lang="en-IN" sz="2400" dirty="0" smtClean="0">
                <a:latin typeface="Times New Roman" pitchFamily="18" charset="0"/>
                <a:cs typeface="Times New Roman" pitchFamily="18" charset="0"/>
              </a:rPr>
              <a:t>         of </a:t>
            </a:r>
            <a:r>
              <a:rPr lang="en-IN" sz="2400" dirty="0">
                <a:latin typeface="Times New Roman" pitchFamily="18" charset="0"/>
                <a:cs typeface="Times New Roman" pitchFamily="18" charset="0"/>
              </a:rPr>
              <a:t>simple </a:t>
            </a:r>
            <a:r>
              <a:rPr lang="en-IN" sz="2400" dirty="0" smtClean="0">
                <a:latin typeface="Times New Roman" pitchFamily="18" charset="0"/>
                <a:cs typeface="Times New Roman" pitchFamily="18" charset="0"/>
              </a:rPr>
              <a:t>circuits </a:t>
            </a:r>
            <a:r>
              <a:rPr lang="en-IN" sz="2400" dirty="0">
                <a:latin typeface="Times New Roman" pitchFamily="18" charset="0"/>
                <a:cs typeface="Times New Roman" pitchFamily="18" charset="0"/>
              </a:rPr>
              <a:t>using PLA. </a:t>
            </a:r>
          </a:p>
        </p:txBody>
      </p:sp>
    </p:spTree>
    <p:extLst>
      <p:ext uri="{BB962C8B-B14F-4D97-AF65-F5344CB8AC3E}">
        <p14:creationId xmlns="" xmlns:p14="http://schemas.microsoft.com/office/powerpoint/2010/main" val="41588438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83029" y="-32266"/>
            <a:ext cx="8686800" cy="66941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R="0" lvl="0" algn="just" defTabSz="914400" rtl="0" eaLnBrk="1" fontAlgn="base" latinLnBrk="0" hangingPunct="1">
              <a:lnSpc>
                <a:spcPct val="100000"/>
              </a:lnSpc>
              <a:spcBef>
                <a:spcPct val="0"/>
              </a:spcBef>
              <a:spcAft>
                <a:spcPct val="0"/>
              </a:spcAft>
              <a:buClrTx/>
              <a:buSzTx/>
              <a:tabLst/>
            </a:pPr>
            <a:r>
              <a:rPr kumimoji="0" lang="en-US" sz="2400" b="0" i="0" u="sng" strike="noStrike" cap="none" normalizeH="0" baseline="0" dirty="0" smtClean="0">
                <a:ln>
                  <a:noFill/>
                </a:ln>
                <a:solidFill>
                  <a:srgbClr val="000000"/>
                </a:solidFill>
                <a:effectLst/>
                <a:latin typeface="Times New Roman" pitchFamily="18" charset="0"/>
                <a:cs typeface="Times New Roman" pitchFamily="18" charset="0"/>
              </a:rPr>
              <a:t>Programmable Logic Devices PLDs </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2400" b="0" i="0" u="sng" strike="noStrike" cap="none" normalizeH="0" baseline="0" dirty="0" smtClean="0">
              <a:ln>
                <a:noFill/>
              </a:ln>
              <a:solidFill>
                <a:srgbClr val="000000"/>
              </a:solidFill>
              <a:effectLst/>
              <a:latin typeface="Times New Roman" pitchFamily="18" charset="0"/>
              <a:cs typeface="Times New Roman" pitchFamily="18" charset="0"/>
            </a:endParaRP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PLDs are the integrated circuits. They contain an array of AND gates &amp; another array of OR gates</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2400" b="0" i="0" u="none" strike="noStrike" cap="none" normalizeH="0" baseline="0" dirty="0" smtClean="0">
              <a:ln>
                <a:noFill/>
              </a:ln>
              <a:solidFill>
                <a:srgbClr val="000000"/>
              </a:solidFill>
              <a:effectLst/>
              <a:latin typeface="Times New Roman" pitchFamily="18" charset="0"/>
              <a:cs typeface="Times New Roman" pitchFamily="18" charset="0"/>
            </a:endParaRP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There are </a:t>
            </a: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three kinds of PLDs </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based on the type of arrays, which has programmable feature.</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indent="-342900" algn="just" eaLnBrk="0" fontAlgn="base" hangingPunct="0">
              <a:spcBef>
                <a:spcPct val="0"/>
              </a:spcBef>
              <a:spcAft>
                <a:spcPct val="0"/>
              </a:spcAft>
              <a:buFont typeface="Wingdings" pitchFamily="2" charset="2"/>
              <a:buChar char="Ø"/>
            </a:pP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Programmable Read Only Memory</a:t>
            </a:r>
            <a:r>
              <a:rPr lang="en-US" sz="2400" dirty="0">
                <a:latin typeface="Times New Roman" pitchFamily="18" charset="0"/>
                <a:cs typeface="Times New Roman" pitchFamily="18" charset="0"/>
              </a:rPr>
              <a:t>(Mentioned in the syllabus</a:t>
            </a:r>
            <a:r>
              <a:rPr lang="en-US" sz="2400" dirty="0" smtClean="0">
                <a:latin typeface="Times New Roman" pitchFamily="18" charset="0"/>
                <a:cs typeface="Times New Roman" pitchFamily="18" charset="0"/>
              </a:rPr>
              <a:t>)</a:t>
            </a:r>
            <a:endParaRPr kumimoji="0" lang="en-US" sz="2400" b="0" i="0" u="none" strike="noStrike" cap="none" normalizeH="0" baseline="0" dirty="0" smtClean="0">
              <a:ln>
                <a:noFill/>
              </a:ln>
              <a:solidFill>
                <a:srgbClr val="FF0000"/>
              </a:solidFill>
              <a:effectLst/>
              <a:latin typeface="Times New Roman" pitchFamily="18" charset="0"/>
              <a:cs typeface="Times New Roman"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Programmable Array Logic</a:t>
            </a:r>
          </a:p>
          <a:p>
            <a:pPr marL="342900" marR="0" lvl="0" indent="-34290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Programmable Logic Array </a:t>
            </a:r>
            <a:r>
              <a:rPr kumimoji="0" lang="en-US" sz="2400" b="0" i="0" u="none" strike="noStrike" cap="none" normalizeH="0" baseline="0" dirty="0" smtClean="0">
                <a:ln>
                  <a:noFill/>
                </a:ln>
                <a:effectLst/>
                <a:latin typeface="Times New Roman" pitchFamily="18" charset="0"/>
                <a:cs typeface="Times New Roman" pitchFamily="18" charset="0"/>
              </a:rPr>
              <a:t>(Mentioned</a:t>
            </a:r>
            <a:r>
              <a:rPr kumimoji="0" lang="en-US" sz="2400" b="0" i="0" u="none" strike="noStrike" cap="none" normalizeH="0" dirty="0" smtClean="0">
                <a:ln>
                  <a:noFill/>
                </a:ln>
                <a:effectLst/>
                <a:latin typeface="Times New Roman" pitchFamily="18" charset="0"/>
                <a:cs typeface="Times New Roman" pitchFamily="18" charset="0"/>
              </a:rPr>
              <a:t> in the syllabus)</a:t>
            </a:r>
            <a:endParaRPr kumimoji="0" lang="en-US" sz="2400" b="0" i="0" u="none" strike="noStrike" cap="none" normalizeH="0" baseline="0" dirty="0" smtClean="0">
              <a:ln>
                <a:noFill/>
              </a:ln>
              <a:effectLst/>
              <a:latin typeface="Times New Roman" pitchFamily="18" charset="0"/>
              <a:cs typeface="Times New Roman" pitchFamily="18" charset="0"/>
            </a:endParaRPr>
          </a:p>
          <a:p>
            <a:pPr marR="0" lvl="0" algn="just" defTabSz="914400" rtl="0" eaLnBrk="0" fontAlgn="base" latinLnBrk="0" hangingPunct="0">
              <a:lnSpc>
                <a:spcPct val="100000"/>
              </a:lnSpc>
              <a:spcBef>
                <a:spcPct val="0"/>
              </a:spcBef>
              <a:spcAft>
                <a:spcPct val="0"/>
              </a:spcAft>
              <a:buClrTx/>
              <a:buSzTx/>
              <a:tabLst/>
            </a:pPr>
            <a:endParaRPr lang="en-US" sz="2400" dirty="0">
              <a:latin typeface="Times New Roman" pitchFamily="18" charset="0"/>
              <a:cs typeface="Times New Roman" pitchFamily="18" charset="0"/>
            </a:endParaRPr>
          </a:p>
          <a:p>
            <a:pPr lvl="0" algn="just" eaLnBrk="0" fontAlgn="base" hangingPunct="0">
              <a:spcBef>
                <a:spcPct val="0"/>
              </a:spcBef>
              <a:spcAft>
                <a:spcPct val="0"/>
              </a:spcAft>
            </a:pPr>
            <a:r>
              <a:rPr lang="en-IN" sz="2400" dirty="0">
                <a:latin typeface="Times New Roman" pitchFamily="18" charset="0"/>
                <a:cs typeface="Times New Roman" pitchFamily="18" charset="0"/>
              </a:rPr>
              <a:t>The process of entering the information into these devices is known as </a:t>
            </a:r>
            <a:r>
              <a:rPr lang="en-IN" sz="2400" b="1" dirty="0">
                <a:latin typeface="Times New Roman" pitchFamily="18" charset="0"/>
                <a:cs typeface="Times New Roman" pitchFamily="18" charset="0"/>
              </a:rPr>
              <a:t>programming</a:t>
            </a:r>
            <a:r>
              <a:rPr lang="en-IN" sz="2400" dirty="0">
                <a:latin typeface="Times New Roman" pitchFamily="18" charset="0"/>
                <a:cs typeface="Times New Roman" pitchFamily="18" charset="0"/>
              </a:rPr>
              <a:t>. Basically, users can program these devices or ICs electrically in order to implement the Boolean functions based on the requirement. Here, the term programming refers to hardware programming </a:t>
            </a:r>
            <a:r>
              <a:rPr lang="en-IN" sz="2400" dirty="0" smtClean="0">
                <a:latin typeface="Times New Roman" pitchFamily="18" charset="0"/>
                <a:cs typeface="Times New Roman" pitchFamily="18" charset="0"/>
              </a:rPr>
              <a:t>, not the </a:t>
            </a:r>
            <a:r>
              <a:rPr lang="en-IN" sz="2400" dirty="0">
                <a:latin typeface="Times New Roman" pitchFamily="18" charset="0"/>
                <a:cs typeface="Times New Roman" pitchFamily="18" charset="0"/>
              </a:rPr>
              <a:t>software programming.</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308263447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571644" y="609600"/>
            <a:ext cx="8267556" cy="60198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228600"/>
            <a:ext cx="6248400" cy="461665"/>
          </a:xfrm>
          <a:prstGeom prst="rect">
            <a:avLst/>
          </a:prstGeom>
        </p:spPr>
        <p:txBody>
          <a:bodyPr wrap="square">
            <a:spAutoFit/>
          </a:bodyPr>
          <a:lstStyle/>
          <a:p>
            <a:r>
              <a:rPr lang="en-US" sz="2400" b="1" u="sng" dirty="0">
                <a:solidFill>
                  <a:srgbClr val="FF0000"/>
                </a:solidFill>
                <a:latin typeface="Times New Roman" pitchFamily="18" charset="0"/>
                <a:cs typeface="Times New Roman" pitchFamily="18" charset="0"/>
              </a:rPr>
              <a:t>Programmable Read Only </a:t>
            </a:r>
            <a:r>
              <a:rPr lang="en-US" sz="2400" b="1" u="sng" dirty="0" smtClean="0">
                <a:solidFill>
                  <a:srgbClr val="FF0000"/>
                </a:solidFill>
                <a:latin typeface="Times New Roman" pitchFamily="18" charset="0"/>
                <a:cs typeface="Times New Roman" pitchFamily="18" charset="0"/>
              </a:rPr>
              <a:t>Memory </a:t>
            </a:r>
            <a:r>
              <a:rPr lang="en-US" sz="2400" b="1" u="sng" dirty="0" smtClean="0">
                <a:latin typeface="Times New Roman" pitchFamily="18" charset="0"/>
                <a:cs typeface="Times New Roman" pitchFamily="18" charset="0"/>
              </a:rPr>
              <a:t>(</a:t>
            </a:r>
            <a:r>
              <a:rPr lang="en-IN" sz="2400" u="sng" dirty="0" smtClean="0">
                <a:latin typeface="Times New Roman" pitchFamily="18" charset="0"/>
                <a:cs typeface="Times New Roman" pitchFamily="18" charset="0"/>
              </a:rPr>
              <a:t>PROM)</a:t>
            </a:r>
            <a:endParaRPr lang="en-IN" sz="2400" b="1" u="sng" dirty="0">
              <a:latin typeface="Times New Roman" pitchFamily="18" charset="0"/>
              <a:cs typeface="Times New Roman" pitchFamily="18" charset="0"/>
            </a:endParaRPr>
          </a:p>
        </p:txBody>
      </p:sp>
      <p:sp>
        <p:nvSpPr>
          <p:cNvPr id="5" name="Rectangle 1"/>
          <p:cNvSpPr>
            <a:spLocks noChangeArrowheads="1"/>
          </p:cNvSpPr>
          <p:nvPr/>
        </p:nvSpPr>
        <p:spPr bwMode="auto">
          <a:xfrm>
            <a:off x="152400" y="1014439"/>
            <a:ext cx="8783724" cy="41549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Read Only Memory (ROM) is a memory device, which stores the </a:t>
            </a:r>
          </a:p>
          <a:p>
            <a:pPr marR="0" lvl="0" algn="just" defTabSz="914400" rtl="0" eaLnBrk="1" fontAlgn="base" latinLnBrk="0" hangingPunct="1">
              <a:lnSpc>
                <a:spcPct val="100000"/>
              </a:lnSpc>
              <a:spcBef>
                <a:spcPct val="0"/>
              </a:spcBef>
              <a:spcAft>
                <a:spcPct val="0"/>
              </a:spcAft>
              <a:buClrTx/>
              <a:buSzTx/>
              <a:tabLst/>
            </a:pPr>
            <a:r>
              <a:rPr lang="en-US" sz="2400" dirty="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    </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binary information permanently.</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That means, we </a:t>
            </a: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can’t change that stored information </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by  any means later.</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If the ROM has programmable feature, then it is called as </a:t>
            </a:r>
            <a:r>
              <a:rPr kumimoji="0" lang="en-US" sz="2400" b="1" i="0" u="none" strike="noStrike" cap="none" normalizeH="0" baseline="0" dirty="0" smtClean="0">
                <a:ln>
                  <a:noFill/>
                </a:ln>
                <a:solidFill>
                  <a:srgbClr val="000000"/>
                </a:solidFill>
                <a:effectLst/>
                <a:latin typeface="Times New Roman" pitchFamily="18" charset="0"/>
                <a:cs typeface="Times New Roman" pitchFamily="18" charset="0"/>
              </a:rPr>
              <a:t>Programmable ROM (</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PROM). </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The user has the flexibility to program the binary information electrically </a:t>
            </a:r>
            <a:r>
              <a:rPr kumimoji="0" lang="en-US" sz="2400" b="1" i="0" u="none" strike="noStrike" cap="none" normalizeH="0" baseline="0" dirty="0" smtClean="0">
                <a:ln>
                  <a:noFill/>
                </a:ln>
                <a:solidFill>
                  <a:srgbClr val="000000"/>
                </a:solidFill>
                <a:effectLst/>
                <a:latin typeface="Times New Roman" pitchFamily="18" charset="0"/>
                <a:cs typeface="Times New Roman" pitchFamily="18" charset="0"/>
              </a:rPr>
              <a:t>once</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by using PROM programmer.</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PROM is a programmable logic device that has fixed AND array &amp; </a:t>
            </a:r>
          </a:p>
          <a:p>
            <a:pPr marR="0" lvl="0" algn="just" defTabSz="914400" rtl="0" eaLnBrk="0" fontAlgn="base" latinLnBrk="0" hangingPunct="0">
              <a:lnSpc>
                <a:spcPct val="100000"/>
              </a:lnSpc>
              <a:spcBef>
                <a:spcPct val="0"/>
              </a:spcBef>
              <a:spcAft>
                <a:spcPct val="0"/>
              </a:spcAft>
              <a:buClrTx/>
              <a:buSzTx/>
              <a:tabLst/>
            </a:pP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 </a:t>
            </a:r>
            <a:r>
              <a:rPr kumimoji="0" lang="en-US" sz="2400" b="0" i="0" u="none" strike="noStrike" cap="none" normalizeH="0" dirty="0" smtClean="0">
                <a:ln>
                  <a:noFill/>
                </a:ln>
                <a:solidFill>
                  <a:srgbClr val="FF0000"/>
                </a:solidFill>
                <a:effectLst/>
                <a:latin typeface="Times New Roman" pitchFamily="18" charset="0"/>
                <a:cs typeface="Times New Roman" pitchFamily="18" charset="0"/>
              </a:rPr>
              <a:t>    </a:t>
            </a: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Programmable OR array. </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The </a:t>
            </a:r>
            <a:r>
              <a:rPr kumimoji="0" lang="en-US" sz="2400" b="1" i="0" u="none" strike="noStrike" cap="none" normalizeH="0" baseline="0" dirty="0" smtClean="0">
                <a:ln>
                  <a:noFill/>
                </a:ln>
                <a:solidFill>
                  <a:srgbClr val="000000"/>
                </a:solidFill>
                <a:effectLst/>
                <a:latin typeface="Times New Roman" pitchFamily="18" charset="0"/>
                <a:cs typeface="Times New Roman" pitchFamily="18" charset="0"/>
              </a:rPr>
              <a:t>block diagram</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of PROM is shown       </a:t>
            </a:r>
          </a:p>
          <a:p>
            <a:pPr marR="0" lvl="0" algn="just" defTabSz="914400" rtl="0" eaLnBrk="0" fontAlgn="base" latinLnBrk="0" hangingPunct="0">
              <a:lnSpc>
                <a:spcPct val="100000"/>
              </a:lnSpc>
              <a:spcBef>
                <a:spcPct val="0"/>
              </a:spcBef>
              <a:spcAft>
                <a:spcPct val="0"/>
              </a:spcAft>
              <a:buClrTx/>
              <a:buSzTx/>
              <a:tabLst/>
            </a:pPr>
            <a:r>
              <a:rPr lang="en-US" sz="2400" dirty="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    </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in the following figure.</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34085309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PROM"/>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00200" y="436418"/>
            <a:ext cx="5715000" cy="192578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p:cNvSpPr/>
          <p:nvPr/>
        </p:nvSpPr>
        <p:spPr>
          <a:xfrm>
            <a:off x="436418" y="2514600"/>
            <a:ext cx="8326582" cy="3785652"/>
          </a:xfrm>
          <a:prstGeom prst="rect">
            <a:avLst/>
          </a:prstGeom>
        </p:spPr>
        <p:txBody>
          <a:bodyPr wrap="square">
            <a:spAutoFit/>
          </a:bodyPr>
          <a:lstStyle/>
          <a:p>
            <a:r>
              <a:rPr lang="en-IN" sz="2400" dirty="0">
                <a:latin typeface="Times New Roman" pitchFamily="18" charset="0"/>
                <a:cs typeface="Times New Roman" pitchFamily="18" charset="0"/>
              </a:rPr>
              <a:t>Here, the inputs of AND gates are not of programmable type. So, we have to generate 2</a:t>
            </a:r>
            <a:r>
              <a:rPr lang="en-IN" sz="2400" baseline="30000" dirty="0">
                <a:latin typeface="Times New Roman" pitchFamily="18" charset="0"/>
                <a:cs typeface="Times New Roman" pitchFamily="18" charset="0"/>
              </a:rPr>
              <a:t>n</a:t>
            </a:r>
            <a:r>
              <a:rPr lang="en-IN" sz="2400" dirty="0">
                <a:latin typeface="Times New Roman" pitchFamily="18" charset="0"/>
                <a:cs typeface="Times New Roman" pitchFamily="18" charset="0"/>
              </a:rPr>
              <a:t> product terms by using 2</a:t>
            </a:r>
            <a:r>
              <a:rPr lang="en-IN" sz="2400" baseline="30000" dirty="0">
                <a:latin typeface="Times New Roman" pitchFamily="18" charset="0"/>
                <a:cs typeface="Times New Roman" pitchFamily="18" charset="0"/>
              </a:rPr>
              <a:t>n</a:t>
            </a:r>
            <a:r>
              <a:rPr lang="en-IN" sz="2400" dirty="0">
                <a:latin typeface="Times New Roman" pitchFamily="18" charset="0"/>
                <a:cs typeface="Times New Roman" pitchFamily="18" charset="0"/>
              </a:rPr>
              <a:t> AND gates having n inputs each. We can implement these product terms by using </a:t>
            </a:r>
            <a:r>
              <a:rPr lang="en-IN" sz="2400" dirty="0" smtClean="0">
                <a:latin typeface="Times New Roman" pitchFamily="18" charset="0"/>
                <a:cs typeface="Times New Roman" pitchFamily="18" charset="0"/>
              </a:rPr>
              <a:t>nx2</a:t>
            </a:r>
            <a:r>
              <a:rPr lang="en-IN" sz="2400" baseline="30000" dirty="0" smtClean="0">
                <a:latin typeface="Times New Roman" pitchFamily="18" charset="0"/>
                <a:cs typeface="Times New Roman" pitchFamily="18" charset="0"/>
              </a:rPr>
              <a:t>n</a:t>
            </a:r>
            <a:r>
              <a:rPr lang="en-IN" sz="2400" dirty="0">
                <a:latin typeface="Times New Roman" pitchFamily="18" charset="0"/>
                <a:cs typeface="Times New Roman" pitchFamily="18" charset="0"/>
              </a:rPr>
              <a:t> decoder. So, this decoder generates 2</a:t>
            </a:r>
            <a:r>
              <a:rPr lang="en-IN" sz="2400" baseline="30000" dirty="0">
                <a:latin typeface="Times New Roman" pitchFamily="18" charset="0"/>
                <a:cs typeface="Times New Roman" pitchFamily="18" charset="0"/>
              </a:rPr>
              <a:t>n</a:t>
            </a:r>
            <a:r>
              <a:rPr lang="en-IN"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min terms</a:t>
            </a:r>
            <a:r>
              <a:rPr lang="en-IN" sz="2400" dirty="0" smtClean="0">
                <a:latin typeface="Times New Roman" pitchFamily="18" charset="0"/>
                <a:cs typeface="Times New Roman" pitchFamily="18" charset="0"/>
              </a:rPr>
              <a:t>.</a:t>
            </a:r>
          </a:p>
          <a:p>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Here, the inputs of OR gates are programmable. That means, we can program any number of required product terms, since all the outputs of AND gates are applied as inputs to each OR gate. Therefore, the outputs of PROM will be in the form of </a:t>
            </a:r>
            <a:r>
              <a:rPr lang="en-IN" sz="2400" b="1" dirty="0">
                <a:latin typeface="Times New Roman" pitchFamily="18" charset="0"/>
                <a:cs typeface="Times New Roman" pitchFamily="18" charset="0"/>
              </a:rPr>
              <a:t>sum of min terms</a:t>
            </a:r>
            <a:r>
              <a:rPr lang="en-IN" sz="2400" dirty="0">
                <a:latin typeface="Times New Roman" pitchFamily="18" charset="0"/>
                <a:cs typeface="Times New Roman" pitchFamily="18" charset="0"/>
              </a:rPr>
              <a:t>.</a:t>
            </a:r>
          </a:p>
        </p:txBody>
      </p:sp>
    </p:spTree>
    <p:extLst>
      <p:ext uri="{BB962C8B-B14F-4D97-AF65-F5344CB8AC3E}">
        <p14:creationId xmlns="" xmlns:p14="http://schemas.microsoft.com/office/powerpoint/2010/main" val="29252392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Programmable Read-Only Memory(PROM)"/>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8675"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14400" y="457199"/>
            <a:ext cx="5334000" cy="52133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323109" y="5684375"/>
            <a:ext cx="2370585" cy="369332"/>
          </a:xfrm>
          <a:prstGeom prst="rect">
            <a:avLst/>
          </a:prstGeom>
          <a:noFill/>
        </p:spPr>
        <p:txBody>
          <a:bodyPr wrap="none" rtlCol="0">
            <a:spAutoFit/>
          </a:bodyPr>
          <a:lstStyle/>
          <a:p>
            <a:r>
              <a:rPr lang="en-IN" dirty="0" smtClean="0"/>
              <a:t>Logic diagram of PROM</a:t>
            </a:r>
            <a:endParaRPr lang="en-IN" dirty="0"/>
          </a:p>
        </p:txBody>
      </p:sp>
    </p:spTree>
    <p:extLst>
      <p:ext uri="{BB962C8B-B14F-4D97-AF65-F5344CB8AC3E}">
        <p14:creationId xmlns="" xmlns:p14="http://schemas.microsoft.com/office/powerpoint/2010/main" val="36480365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 y="838200"/>
            <a:ext cx="3838575" cy="45720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800600" y="1219200"/>
            <a:ext cx="4038600" cy="43434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6927" y="-108466"/>
            <a:ext cx="8258992" cy="26776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Let us implement the following </a:t>
            </a:r>
            <a:r>
              <a:rPr kumimoji="0" lang="en-US" sz="2400" b="1" i="0" u="none" strike="noStrike" cap="none" normalizeH="0" baseline="0" dirty="0" smtClean="0">
                <a:ln>
                  <a:noFill/>
                </a:ln>
                <a:solidFill>
                  <a:srgbClr val="000000"/>
                </a:solidFill>
                <a:effectLst/>
                <a:latin typeface="Times New Roman" pitchFamily="18" charset="0"/>
                <a:cs typeface="Times New Roman" pitchFamily="18" charset="0"/>
              </a:rPr>
              <a:t>Boolean functions</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using PROM.</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A(X,Y,Z</a:t>
            </a: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)=∑m(5,6,7</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dirty="0" smtClean="0">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B(X,Y,Z</a:t>
            </a:r>
            <a:r>
              <a:rPr kumimoji="0" lang="en-US" sz="2400" b="0" i="0" u="none" strike="noStrike" cap="none" normalizeH="0" baseline="0" dirty="0" smtClean="0">
                <a:ln>
                  <a:noFill/>
                </a:ln>
                <a:solidFill>
                  <a:srgbClr val="FF0000"/>
                </a:solidFill>
                <a:effectLst/>
                <a:latin typeface="Times New Roman" pitchFamily="18" charset="0"/>
                <a:cs typeface="Times New Roman" pitchFamily="18" charset="0"/>
              </a:rPr>
              <a:t>)=∑m(3,5,6,7)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b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Rectangle 4"/>
          <p:cNvSpPr/>
          <p:nvPr/>
        </p:nvSpPr>
        <p:spPr>
          <a:xfrm>
            <a:off x="6477000" y="685800"/>
            <a:ext cx="2667000" cy="2554545"/>
          </a:xfrm>
          <a:prstGeom prst="rect">
            <a:avLst/>
          </a:prstGeom>
        </p:spPr>
        <p:txBody>
          <a:bodyPr wrap="square">
            <a:spAutoFit/>
          </a:bodyPr>
          <a:lstStyle/>
          <a:p>
            <a:r>
              <a:rPr lang="en-IN" sz="1600" dirty="0">
                <a:solidFill>
                  <a:srgbClr val="0070C0"/>
                </a:solidFill>
                <a:latin typeface="Times New Roman" pitchFamily="18" charset="0"/>
                <a:cs typeface="Times New Roman" pitchFamily="18" charset="0"/>
              </a:rPr>
              <a:t>The given two functions are in sum of min terms form and each function is having three variables X, Y &amp; Z. So, we require a 3 to 8 decoder and two programmable OR gates for producing these two functions. The corresponding </a:t>
            </a:r>
            <a:r>
              <a:rPr lang="en-IN" sz="1600" b="1" dirty="0">
                <a:solidFill>
                  <a:srgbClr val="0070C0"/>
                </a:solidFill>
                <a:latin typeface="Times New Roman" pitchFamily="18" charset="0"/>
                <a:cs typeface="Times New Roman" pitchFamily="18" charset="0"/>
              </a:rPr>
              <a:t>PROM</a:t>
            </a:r>
            <a:r>
              <a:rPr lang="en-IN" sz="1600" dirty="0">
                <a:solidFill>
                  <a:srgbClr val="0070C0"/>
                </a:solidFill>
                <a:latin typeface="Times New Roman" pitchFamily="18" charset="0"/>
                <a:cs typeface="Times New Roman" pitchFamily="18" charset="0"/>
              </a:rPr>
              <a:t> is shown in the following figure.</a:t>
            </a:r>
          </a:p>
        </p:txBody>
      </p:sp>
      <p:pic>
        <p:nvPicPr>
          <p:cNvPr id="13315" name="Picture 3" descr="Prom Exampl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8600" y="1976927"/>
            <a:ext cx="5527623" cy="4495801"/>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6248400" y="3261127"/>
            <a:ext cx="2819400" cy="3416320"/>
          </a:xfrm>
          <a:prstGeom prst="rect">
            <a:avLst/>
          </a:prstGeom>
        </p:spPr>
        <p:txBody>
          <a:bodyPr wrap="square">
            <a:spAutoFit/>
          </a:bodyPr>
          <a:lstStyle/>
          <a:p>
            <a:r>
              <a:rPr lang="en-IN" dirty="0">
                <a:solidFill>
                  <a:srgbClr val="FF0000"/>
                </a:solidFill>
                <a:latin typeface="Times New Roman" pitchFamily="18" charset="0"/>
                <a:cs typeface="Times New Roman" pitchFamily="18" charset="0"/>
              </a:rPr>
              <a:t>Here, 3 to 8 decoder generates eight min terms. The two programmable OR gates have the access of all these min terms. But, only the required min terms are programmed in order to produce the respective Boolean functions by each OR gate. The symbol ‘X’ is used for programmable connections.</a:t>
            </a:r>
          </a:p>
        </p:txBody>
      </p:sp>
    </p:spTree>
    <p:extLst>
      <p:ext uri="{BB962C8B-B14F-4D97-AF65-F5344CB8AC3E}">
        <p14:creationId xmlns="" xmlns:p14="http://schemas.microsoft.com/office/powerpoint/2010/main" val="18115813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55418" y="0"/>
            <a:ext cx="4430059"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sng" strike="noStrike" cap="none" normalizeH="0" baseline="0" dirty="0" smtClean="0">
                <a:ln>
                  <a:noFill/>
                </a:ln>
                <a:solidFill>
                  <a:schemeClr val="tx1"/>
                </a:solidFill>
                <a:effectLst/>
                <a:latin typeface="Times New Roman" pitchFamily="18" charset="0"/>
                <a:cs typeface="Times New Roman" pitchFamily="18" charset="0"/>
              </a:rPr>
              <a:t>Programmable Logic Array (PLA)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sng" strike="noStrike" cap="none" normalizeH="0" baseline="0" dirty="0" smtClean="0">
                <a:ln>
                  <a:noFill/>
                </a:ln>
                <a:solidFill>
                  <a:schemeClr val="tx1"/>
                </a:solidFill>
                <a:effectLst/>
                <a:latin typeface="Times New Roman" pitchFamily="18" charset="0"/>
                <a:cs typeface="Times New Roman" pitchFamily="18" charset="0"/>
              </a:rPr>
              <a:t/>
            </a:r>
            <a:br>
              <a:rPr kumimoji="0" lang="en-US" sz="2400" b="0" i="0" u="sng" strike="noStrike" cap="none" normalizeH="0" baseline="0" dirty="0" smtClean="0">
                <a:ln>
                  <a:noFill/>
                </a:ln>
                <a:solidFill>
                  <a:schemeClr val="tx1"/>
                </a:solidFill>
                <a:effectLst/>
                <a:latin typeface="Times New Roman" pitchFamily="18" charset="0"/>
                <a:cs typeface="Times New Roman" pitchFamily="18" charset="0"/>
              </a:rPr>
            </a:br>
            <a:endParaRPr kumimoji="0" lang="en-US" sz="2400" b="0" i="0" u="sng"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14339" name="Picture 3" descr="PLA"/>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27977" y="1821274"/>
            <a:ext cx="5715000" cy="2064925"/>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tangle 4"/>
          <p:cNvSpPr/>
          <p:nvPr/>
        </p:nvSpPr>
        <p:spPr>
          <a:xfrm>
            <a:off x="142077" y="600164"/>
            <a:ext cx="8686800" cy="1200329"/>
          </a:xfrm>
          <a:prstGeom prst="rect">
            <a:avLst/>
          </a:prstGeom>
        </p:spPr>
        <p:txBody>
          <a:bodyPr wrap="square">
            <a:spAutoFit/>
          </a:bodyPr>
          <a:lstStyle/>
          <a:p>
            <a:r>
              <a:rPr lang="en-IN" sz="2400" dirty="0">
                <a:latin typeface="Times New Roman" pitchFamily="18" charset="0"/>
                <a:cs typeface="Times New Roman" pitchFamily="18" charset="0"/>
              </a:rPr>
              <a:t>PLA is a programmable logic device that has both Programmable AND array &amp; Programmable OR array. Hence, it is the most flexible PLD. The </a:t>
            </a:r>
            <a:r>
              <a:rPr lang="en-IN" sz="2400" b="1" dirty="0">
                <a:latin typeface="Times New Roman" pitchFamily="18" charset="0"/>
                <a:cs typeface="Times New Roman" pitchFamily="18" charset="0"/>
              </a:rPr>
              <a:t>block diagram</a:t>
            </a:r>
            <a:r>
              <a:rPr lang="en-IN" sz="2400" dirty="0">
                <a:latin typeface="Times New Roman" pitchFamily="18" charset="0"/>
                <a:cs typeface="Times New Roman" pitchFamily="18" charset="0"/>
              </a:rPr>
              <a:t> of PLA is shown in the following figure.</a:t>
            </a:r>
          </a:p>
        </p:txBody>
      </p:sp>
      <p:sp>
        <p:nvSpPr>
          <p:cNvPr id="6" name="Rectangle 5"/>
          <p:cNvSpPr/>
          <p:nvPr/>
        </p:nvSpPr>
        <p:spPr>
          <a:xfrm>
            <a:off x="218276" y="3920834"/>
            <a:ext cx="8849524" cy="2554545"/>
          </a:xfrm>
          <a:prstGeom prst="rect">
            <a:avLst/>
          </a:prstGeom>
        </p:spPr>
        <p:txBody>
          <a:bodyPr wrap="square">
            <a:spAutoFit/>
          </a:bodyPr>
          <a:lstStyle/>
          <a:p>
            <a:pPr algn="just"/>
            <a:r>
              <a:rPr lang="en-IN" sz="2000" dirty="0">
                <a:latin typeface="Times New Roman" pitchFamily="18" charset="0"/>
                <a:cs typeface="Times New Roman" pitchFamily="18" charset="0"/>
              </a:rPr>
              <a:t>Here, </a:t>
            </a:r>
            <a:r>
              <a:rPr lang="en-IN" sz="2000" dirty="0">
                <a:solidFill>
                  <a:srgbClr val="FF0000"/>
                </a:solidFill>
                <a:latin typeface="Times New Roman" pitchFamily="18" charset="0"/>
                <a:cs typeface="Times New Roman" pitchFamily="18" charset="0"/>
              </a:rPr>
              <a:t>the inputs of AND gates are programmable</a:t>
            </a:r>
            <a:r>
              <a:rPr lang="en-IN" sz="2000" dirty="0">
                <a:latin typeface="Times New Roman" pitchFamily="18" charset="0"/>
                <a:cs typeface="Times New Roman" pitchFamily="18" charset="0"/>
              </a:rPr>
              <a:t>. That means each AND gate has both normal and complemented inputs of variables. So, based on the requirement, we can program any of those inputs. So, we can generate only the required </a:t>
            </a:r>
            <a:r>
              <a:rPr lang="en-IN" sz="2000" b="1" dirty="0">
                <a:latin typeface="Times New Roman" pitchFamily="18" charset="0"/>
                <a:cs typeface="Times New Roman" pitchFamily="18" charset="0"/>
              </a:rPr>
              <a:t>product terms</a:t>
            </a:r>
            <a:r>
              <a:rPr lang="en-IN" sz="2000" dirty="0">
                <a:latin typeface="Times New Roman" pitchFamily="18" charset="0"/>
                <a:cs typeface="Times New Roman" pitchFamily="18" charset="0"/>
              </a:rPr>
              <a:t> by using these AND gates.</a:t>
            </a:r>
          </a:p>
          <a:p>
            <a:pPr algn="just"/>
            <a:r>
              <a:rPr lang="en-IN" sz="2000" dirty="0">
                <a:latin typeface="Times New Roman" pitchFamily="18" charset="0"/>
                <a:cs typeface="Times New Roman" pitchFamily="18" charset="0"/>
              </a:rPr>
              <a:t>Here, </a:t>
            </a:r>
            <a:r>
              <a:rPr lang="en-IN" sz="2000" dirty="0">
                <a:solidFill>
                  <a:srgbClr val="FF0000"/>
                </a:solidFill>
                <a:latin typeface="Times New Roman" pitchFamily="18" charset="0"/>
                <a:cs typeface="Times New Roman" pitchFamily="18" charset="0"/>
              </a:rPr>
              <a:t>the inputs of OR gates are also programmable</a:t>
            </a:r>
            <a:r>
              <a:rPr lang="en-IN" sz="2000" dirty="0">
                <a:latin typeface="Times New Roman" pitchFamily="18" charset="0"/>
                <a:cs typeface="Times New Roman" pitchFamily="18" charset="0"/>
              </a:rPr>
              <a:t>. So, we can program any number of required product terms, since all the outputs of AND gates are applied as inputs to each OR gate. Therefore, the outputs of PAL will be in the form of </a:t>
            </a:r>
            <a:r>
              <a:rPr lang="en-IN" sz="2000" b="1" dirty="0">
                <a:latin typeface="Times New Roman" pitchFamily="18" charset="0"/>
                <a:cs typeface="Times New Roman" pitchFamily="18" charset="0"/>
              </a:rPr>
              <a:t>sum of products form</a:t>
            </a:r>
            <a:r>
              <a:rPr lang="en-IN" sz="2000" dirty="0">
                <a:latin typeface="Times New Roman" pitchFamily="18" charset="0"/>
                <a:cs typeface="Times New Roman" pitchFamily="18" charset="0"/>
              </a:rPr>
              <a:t>.</a:t>
            </a:r>
          </a:p>
        </p:txBody>
      </p:sp>
    </p:spTree>
    <p:extLst>
      <p:ext uri="{BB962C8B-B14F-4D97-AF65-F5344CB8AC3E}">
        <p14:creationId xmlns="" xmlns:p14="http://schemas.microsoft.com/office/powerpoint/2010/main" val="4630384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5" name="Picture 3"/>
          <p:cNvPicPr>
            <a:picLocks noChangeAspect="1" noChangeArrowheads="1"/>
          </p:cNvPicPr>
          <p:nvPr/>
        </p:nvPicPr>
        <p:blipFill>
          <a:blip r:embed="rId2" cstate="print"/>
          <a:srcRect/>
          <a:stretch>
            <a:fillRect/>
          </a:stretch>
        </p:blipFill>
        <p:spPr bwMode="auto">
          <a:xfrm>
            <a:off x="1981200" y="228600"/>
            <a:ext cx="4953000" cy="60960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0" y="0"/>
            <a:ext cx="8991600" cy="23083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Let us implement the following </a:t>
            </a:r>
            <a:r>
              <a:rPr kumimoji="0" lang="en-US" sz="2400" b="1" i="0" u="none" strike="noStrike" cap="none" normalizeH="0" baseline="0" dirty="0" smtClean="0">
                <a:ln>
                  <a:noFill/>
                </a:ln>
                <a:solidFill>
                  <a:srgbClr val="000000"/>
                </a:solidFill>
                <a:effectLst/>
                <a:latin typeface="Times New Roman" pitchFamily="18" charset="0"/>
                <a:cs typeface="Times New Roman" pitchFamily="18" charset="0"/>
              </a:rPr>
              <a:t>Boolean functions</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using PLA.</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A=XY+XZ′</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B=XY′+YZ+XZ′</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b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Rectangle 2"/>
          <p:cNvSpPr>
            <a:spLocks noChangeArrowheads="1"/>
          </p:cNvSpPr>
          <p:nvPr/>
        </p:nvSpPr>
        <p:spPr bwMode="auto">
          <a:xfrm>
            <a:off x="76200" y="1600200"/>
            <a:ext cx="89154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The given two functions are in sum of products form. The number of product terms present in the given Boolean functions A &amp; B are two and three respectively. One product term, Z′X is common in each function</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6" name="Rectangle 5"/>
          <p:cNvSpPr/>
          <p:nvPr/>
        </p:nvSpPr>
        <p:spPr>
          <a:xfrm>
            <a:off x="90054" y="3429000"/>
            <a:ext cx="8901546" cy="1569660"/>
          </a:xfrm>
          <a:prstGeom prst="rect">
            <a:avLst/>
          </a:prstGeom>
        </p:spPr>
        <p:txBody>
          <a:bodyPr wrap="square">
            <a:spAutoFit/>
          </a:bodyPr>
          <a:lstStyle/>
          <a:p>
            <a:r>
              <a:rPr lang="en-IN" sz="2400" dirty="0">
                <a:solidFill>
                  <a:srgbClr val="FF0000"/>
                </a:solidFill>
                <a:latin typeface="Times New Roman" pitchFamily="18" charset="0"/>
                <a:cs typeface="Times New Roman" pitchFamily="18" charset="0"/>
              </a:rPr>
              <a:t>So, we require four programmable AND gates &amp; two programmable OR gates for producing those two functions. </a:t>
            </a:r>
            <a:endParaRPr lang="en-IN" sz="2400" dirty="0" smtClean="0">
              <a:solidFill>
                <a:srgbClr val="FF0000"/>
              </a:solidFill>
              <a:latin typeface="Times New Roman" pitchFamily="18" charset="0"/>
              <a:cs typeface="Times New Roman" pitchFamily="18" charset="0"/>
            </a:endParaRP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corresponding</a:t>
            </a:r>
            <a:r>
              <a:rPr lang="en-IN" sz="2400" dirty="0">
                <a:latin typeface="Times New Roman" pitchFamily="18" charset="0"/>
                <a:cs typeface="Times New Roman" pitchFamily="18" charset="0"/>
              </a:rPr>
              <a:t> </a:t>
            </a: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PLA</a:t>
            </a:r>
            <a:r>
              <a:rPr lang="en-IN" sz="2400" dirty="0">
                <a:latin typeface="Times New Roman" pitchFamily="18" charset="0"/>
                <a:cs typeface="Times New Roman" pitchFamily="18" charset="0"/>
              </a:rPr>
              <a:t> is shown in the following figure.</a:t>
            </a:r>
          </a:p>
        </p:txBody>
      </p:sp>
    </p:spTree>
    <p:extLst>
      <p:ext uri="{BB962C8B-B14F-4D97-AF65-F5344CB8AC3E}">
        <p14:creationId xmlns="" xmlns:p14="http://schemas.microsoft.com/office/powerpoint/2010/main" val="14402047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PLA Circuit Diagram"/>
          <p:cNvPicPr>
            <a:picLocks noChangeAspect="1" noChangeArrowheads="1"/>
          </p:cNvPicPr>
          <p:nvPr/>
        </p:nvPicPr>
        <p:blipFill>
          <a:blip r:embed="rId2" cstate="print">
            <a:lum contrast="66000"/>
            <a:extLst>
              <a:ext uri="{BEBA8EAE-BF5A-486C-A8C5-ECC9F3942E4B}">
                <a14:imgProps xmlns="" xmlns:a14="http://schemas.microsoft.com/office/drawing/2010/main">
                  <a14:imgLayer r:embed="rId3">
                    <a14:imgEffect>
                      <a14:brightnessContrast bright="-40000" contrast="40000"/>
                    </a14:imgEffect>
                  </a14:imgLayer>
                </a14:imgProps>
              </a:ext>
              <a:ext uri="{28A0092B-C50C-407E-A947-70E740481C1C}">
                <a14:useLocalDpi xmlns="" xmlns:a14="http://schemas.microsoft.com/office/drawing/2010/main" val="0"/>
              </a:ext>
            </a:extLst>
          </a:blip>
          <a:srcRect/>
          <a:stretch>
            <a:fillRect/>
          </a:stretch>
        </p:blipFill>
        <p:spPr bwMode="auto">
          <a:xfrm>
            <a:off x="1066800" y="1371600"/>
            <a:ext cx="7696200" cy="495300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tangle 1"/>
          <p:cNvSpPr>
            <a:spLocks noChangeArrowheads="1"/>
          </p:cNvSpPr>
          <p:nvPr/>
        </p:nvSpPr>
        <p:spPr bwMode="auto">
          <a:xfrm>
            <a:off x="20782" y="32266"/>
            <a:ext cx="8991600" cy="19389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latin typeface="Times New Roman" pitchFamily="18" charset="0"/>
                <a:cs typeface="Times New Roman" pitchFamily="18" charset="0"/>
              </a:rPr>
              <a:t>Let us implement the following </a:t>
            </a:r>
            <a:r>
              <a:rPr kumimoji="0" lang="en-US" sz="2000" b="1" i="0" u="none" strike="noStrike" cap="none" normalizeH="0" baseline="0" dirty="0" smtClean="0">
                <a:ln>
                  <a:noFill/>
                </a:ln>
                <a:solidFill>
                  <a:srgbClr val="000000"/>
                </a:solidFill>
                <a:effectLst/>
                <a:latin typeface="Times New Roman" pitchFamily="18" charset="0"/>
                <a:cs typeface="Times New Roman" pitchFamily="18" charset="0"/>
              </a:rPr>
              <a:t>Boolean functions</a:t>
            </a:r>
            <a:r>
              <a:rPr kumimoji="0" lang="en-US" sz="2000" b="0" i="0" u="none" strike="noStrike" cap="none" normalizeH="0" baseline="0" dirty="0" smtClean="0">
                <a:ln>
                  <a:noFill/>
                </a:ln>
                <a:solidFill>
                  <a:srgbClr val="000000"/>
                </a:solidFill>
                <a:effectLst/>
                <a:latin typeface="Times New Roman" pitchFamily="18" charset="0"/>
                <a:cs typeface="Times New Roman" pitchFamily="18" charset="0"/>
              </a:rPr>
              <a:t> using PLA.</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FF0000"/>
                </a:solidFill>
                <a:effectLst/>
                <a:latin typeface="Times New Roman" pitchFamily="18" charset="0"/>
                <a:cs typeface="Times New Roman" pitchFamily="18" charset="0"/>
              </a:rPr>
              <a:t>A=XY+XZ′</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FF0000"/>
                </a:solidFill>
                <a:effectLst/>
                <a:latin typeface="Times New Roman" pitchFamily="18" charset="0"/>
                <a:cs typeface="Times New Roman" pitchFamily="18" charset="0"/>
              </a:rPr>
              <a:t>B=XY′+YZ+XZ′</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b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10993067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52400" y="499316"/>
            <a:ext cx="8610600" cy="41549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The </a:t>
            </a:r>
            <a:r>
              <a:rPr kumimoji="0" lang="en-US" sz="2400" b="1" i="0" u="none" strike="noStrike" cap="none" normalizeH="0" baseline="0" dirty="0" smtClean="0">
                <a:ln>
                  <a:noFill/>
                </a:ln>
                <a:solidFill>
                  <a:srgbClr val="000000"/>
                </a:solidFill>
                <a:effectLst/>
                <a:latin typeface="Times New Roman" pitchFamily="18" charset="0"/>
                <a:cs typeface="Times New Roman" pitchFamily="18" charset="0"/>
              </a:rPr>
              <a:t>programmable AND gates</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have the access of both normal and complemented inputs of variables. In the above figure, the inputs X, X′, Y, Y′, Z &amp; Z′, are available at the inputs of each AND gate.</a:t>
            </a:r>
          </a:p>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So, program only the required literals in order to generate one product term by each AND gate.</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All these product terms are available at the inputs of each </a:t>
            </a:r>
            <a:r>
              <a:rPr kumimoji="0" lang="en-US" sz="2400" b="1" i="0" u="none" strike="noStrike" cap="none" normalizeH="0" baseline="0" dirty="0" smtClean="0">
                <a:ln>
                  <a:noFill/>
                </a:ln>
                <a:solidFill>
                  <a:srgbClr val="000000"/>
                </a:solidFill>
                <a:effectLst/>
                <a:latin typeface="Times New Roman" pitchFamily="18" charset="0"/>
                <a:cs typeface="Times New Roman" pitchFamily="18" charset="0"/>
              </a:rPr>
              <a:t>programmable OR gate</a:t>
            </a: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 </a:t>
            </a: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But, only program the required product terms in order to produce the respective Boolean functions by each OR gate. </a:t>
            </a: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imes New Roman" pitchFamily="18" charset="0"/>
                <a:cs typeface="Times New Roman" pitchFamily="18" charset="0"/>
              </a:rPr>
              <a:t>The symbol ‘X’ is used for programmable connections.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124241802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457200" y="228600"/>
            <a:ext cx="8652244" cy="266700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457200" y="2667000"/>
            <a:ext cx="7844701" cy="385762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685800" y="457201"/>
            <a:ext cx="8077199" cy="609600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1143000"/>
          </a:xfrm>
        </p:spPr>
        <p:txBody>
          <a:bodyPr>
            <a:normAutofit/>
          </a:bodyPr>
          <a:lstStyle/>
          <a:p>
            <a:r>
              <a:rPr lang="en-IN" sz="3600" b="1" u="sng" dirty="0" smtClean="0">
                <a:latin typeface="Times New Roman" pitchFamily="18" charset="0"/>
                <a:cs typeface="Times New Roman" pitchFamily="18" charset="0"/>
              </a:rPr>
              <a:t>Representation of floating point numbers</a:t>
            </a:r>
            <a:endParaRPr lang="en-US" sz="3600" b="1" u="sng" dirty="0"/>
          </a:p>
        </p:txBody>
      </p:sp>
      <p:sp>
        <p:nvSpPr>
          <p:cNvPr id="5" name="TextBox 4"/>
          <p:cNvSpPr txBox="1"/>
          <p:nvPr/>
        </p:nvSpPr>
        <p:spPr>
          <a:xfrm>
            <a:off x="304800" y="1066800"/>
            <a:ext cx="8839200" cy="1938992"/>
          </a:xfrm>
          <a:prstGeom prst="rect">
            <a:avLst/>
          </a:prstGeom>
          <a:noFill/>
        </p:spPr>
        <p:txBody>
          <a:bodyPr wrap="square" rtlCol="0">
            <a:spAutoFit/>
          </a:bodyPr>
          <a:lstStyle/>
          <a:p>
            <a:pPr>
              <a:buFont typeface="Arial" pitchFamily="34" charset="0"/>
              <a:buChar char="•"/>
            </a:pPr>
            <a:r>
              <a:rPr lang="en-IN" sz="2400" dirty="0" smtClean="0">
                <a:latin typeface="Times New Roman" pitchFamily="18" charset="0"/>
                <a:cs typeface="Times New Roman" pitchFamily="18" charset="0"/>
              </a:rPr>
              <a:t> Most of the binary floating-point representations follow the IEEE-754 standard. </a:t>
            </a:r>
          </a:p>
          <a:p>
            <a:pPr>
              <a:buFont typeface="Arial" pitchFamily="34" charset="0"/>
              <a:buChar char="•"/>
            </a:pPr>
            <a:r>
              <a:rPr lang="en-IN" sz="2400" dirty="0" smtClean="0">
                <a:latin typeface="Times New Roman" pitchFamily="18" charset="0"/>
                <a:cs typeface="Times New Roman" pitchFamily="18" charset="0"/>
              </a:rPr>
              <a:t> The data type float uses IEEE 32-bit single precision format and the data type double uses IEEE 64-bit double precision format.</a:t>
            </a:r>
            <a:endParaRPr lang="en-US" sz="2400" dirty="0" smtClean="0">
              <a:latin typeface="Times New Roman" pitchFamily="18" charset="0"/>
              <a:cs typeface="Times New Roman" pitchFamily="18" charset="0"/>
            </a:endParaRPr>
          </a:p>
          <a:p>
            <a:pPr>
              <a:buFont typeface="Arial" pitchFamily="34" charset="0"/>
              <a:buChar char="•"/>
            </a:pPr>
            <a:endParaRPr lang="en-US" sz="2400" dirty="0">
              <a:latin typeface="Times New Roman" pitchFamily="18" charset="0"/>
              <a:cs typeface="Times New Roman" pitchFamily="18" charset="0"/>
            </a:endParaRPr>
          </a:p>
        </p:txBody>
      </p:sp>
      <p:pic>
        <p:nvPicPr>
          <p:cNvPr id="6" name="Picture 5" descr="IEEE Standard 754 Floating Point Numbers - GeeksforGeeks"/>
          <p:cNvPicPr/>
          <p:nvPr/>
        </p:nvPicPr>
        <p:blipFill>
          <a:blip r:embed="rId2"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rcRect t="6316" b="6316"/>
          <a:stretch>
            <a:fillRect/>
          </a:stretch>
        </p:blipFill>
        <p:spPr bwMode="auto">
          <a:xfrm>
            <a:off x="1752600" y="2743200"/>
            <a:ext cx="5410200" cy="1828800"/>
          </a:xfrm>
          <a:prstGeom prst="rect">
            <a:avLst/>
          </a:prstGeom>
          <a:noFill/>
          <a:ln>
            <a:noFill/>
          </a:ln>
        </p:spPr>
      </p:pic>
      <p:sp>
        <p:nvSpPr>
          <p:cNvPr id="3073" name="Rectangle 1"/>
          <p:cNvSpPr>
            <a:spLocks noChangeArrowheads="1"/>
          </p:cNvSpPr>
          <p:nvPr/>
        </p:nvSpPr>
        <p:spPr bwMode="auto">
          <a:xfrm>
            <a:off x="304800" y="4648200"/>
            <a:ext cx="838200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Single precision numbers include an 8-bit exponent field and a 23-bit fraction, for a total of 32 bits.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sign bit is 0 for positive numbers and 1 for negative numbers.</a:t>
            </a:r>
            <a:r>
              <a:rPr kumimoji="0" lang="en-US" sz="2400" b="0" i="0" u="none" strike="noStrike" cap="none" normalizeH="0" baseline="0" dirty="0" smtClean="0">
                <a:ln>
                  <a:noFill/>
                </a:ln>
                <a:solidFill>
                  <a:srgbClr val="202122"/>
                </a:solidFill>
                <a:effectLst/>
                <a:latin typeface="Times New Roman" pitchFamily="18" charset="0"/>
                <a:ea typeface="Calibri" pitchFamily="34" charset="0"/>
                <a:cs typeface="Times New Roman" pitchFamily="18" charset="0"/>
              </a:rPr>
              <a:t> The exponent range for normalized numbers is [−126, 127] for single precision.</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296000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ChangeArrowheads="1"/>
          </p:cNvSpPr>
          <p:nvPr/>
        </p:nvSpPr>
        <p:spPr bwMode="auto">
          <a:xfrm>
            <a:off x="304800" y="131802"/>
            <a:ext cx="8610600"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1"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Example:      </a:t>
            </a:r>
            <a:r>
              <a:rPr kumimoji="0" lang="en-US" sz="24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85.125</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85 = 1010101</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0.125 = 001</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85.125 = 1010101.001</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=1.</a:t>
            </a:r>
            <a:r>
              <a:rPr kumimoji="0" lang="en-US" sz="2400" b="0" i="0" u="none" strike="noStrike" cap="none" normalizeH="0" baseline="0" dirty="0" smtClean="0">
                <a:ln>
                  <a:noFill/>
                </a:ln>
                <a:solidFill>
                  <a:srgbClr val="FF0000"/>
                </a:solidFill>
                <a:effectLst/>
                <a:latin typeface="Times New Roman" pitchFamily="18" charset="0"/>
                <a:ea typeface="Times New Roman" pitchFamily="18" charset="0"/>
                <a:cs typeface="Times New Roman" pitchFamily="18" charset="0"/>
              </a:rPr>
              <a:t>010101001</a:t>
            </a: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x 2^6 </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sign = 0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2400" dirty="0" smtClean="0">
              <a:solidFill>
                <a:srgbClr val="000000"/>
              </a:solidFill>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1. Single precision:</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biased exponent 127+6=133</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133 = </a:t>
            </a:r>
            <a:r>
              <a:rPr kumimoji="0" lang="en-US" sz="2400" b="0" i="0" u="none" strike="noStrike" cap="none" normalizeH="0" baseline="0" dirty="0" smtClean="0">
                <a:ln>
                  <a:noFill/>
                </a:ln>
                <a:solidFill>
                  <a:srgbClr val="00B050"/>
                </a:solidFill>
                <a:effectLst/>
                <a:latin typeface="Times New Roman" pitchFamily="18" charset="0"/>
                <a:ea typeface="Times New Roman" pitchFamily="18" charset="0"/>
                <a:cs typeface="Times New Roman" pitchFamily="18" charset="0"/>
              </a:rPr>
              <a:t>10000101</a:t>
            </a:r>
            <a:endParaRPr kumimoji="0" lang="en-US" sz="2400" b="0" i="0" u="none" strike="noStrike" cap="none" normalizeH="0" baseline="0" dirty="0" smtClean="0">
              <a:ln>
                <a:noFill/>
              </a:ln>
              <a:solidFill>
                <a:srgbClr val="00B05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err="1" smtClean="0">
                <a:ln>
                  <a:noFill/>
                </a:ln>
                <a:solidFill>
                  <a:srgbClr val="000000"/>
                </a:solidFill>
                <a:effectLst/>
                <a:latin typeface="Times New Roman" pitchFamily="18" charset="0"/>
                <a:ea typeface="Times New Roman" pitchFamily="18" charset="0"/>
                <a:cs typeface="Times New Roman" pitchFamily="18" charset="0"/>
              </a:rPr>
              <a:t>Normalised</a:t>
            </a: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mantissa = </a:t>
            </a:r>
            <a:r>
              <a:rPr kumimoji="0" lang="en-US" sz="2400" b="0" i="0" u="none" strike="noStrike" cap="none" normalizeH="0" baseline="0" dirty="0" smtClean="0">
                <a:ln>
                  <a:noFill/>
                </a:ln>
                <a:solidFill>
                  <a:srgbClr val="FF0000"/>
                </a:solidFill>
                <a:effectLst/>
                <a:latin typeface="Times New Roman" pitchFamily="18" charset="0"/>
                <a:ea typeface="Times New Roman" pitchFamily="18" charset="0"/>
                <a:cs typeface="Times New Roman" pitchFamily="18" charset="0"/>
              </a:rPr>
              <a:t>010101001</a:t>
            </a:r>
            <a:endParaRPr kumimoji="0" lang="en-US" sz="2400" b="0" i="0" u="none" strike="noStrike" cap="none" normalizeH="0" baseline="0" dirty="0" smtClean="0">
              <a:ln>
                <a:noFill/>
              </a:ln>
              <a:solidFill>
                <a:srgbClr val="FF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we can add 0's to complete the 23 bits.</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The IEEE 754 Single precision is: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0 </a:t>
            </a:r>
            <a:r>
              <a:rPr kumimoji="0" lang="en-US" sz="2400" b="0" i="0" u="none" strike="noStrike" cap="none" normalizeH="0" baseline="0" dirty="0" smtClean="0">
                <a:ln>
                  <a:noFill/>
                </a:ln>
                <a:solidFill>
                  <a:srgbClr val="00B050"/>
                </a:solidFill>
                <a:effectLst/>
                <a:latin typeface="Times New Roman" pitchFamily="18" charset="0"/>
                <a:ea typeface="Times New Roman" pitchFamily="18" charset="0"/>
                <a:cs typeface="Times New Roman" pitchFamily="18" charset="0"/>
              </a:rPr>
              <a:t>10000101</a:t>
            </a: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a:t>
            </a:r>
            <a:r>
              <a:rPr kumimoji="0" lang="en-US" sz="2400" b="0" i="0" u="none" strike="noStrike" cap="none" normalizeH="0" baseline="0" dirty="0" smtClean="0">
                <a:ln>
                  <a:noFill/>
                </a:ln>
                <a:solidFill>
                  <a:srgbClr val="FF0000"/>
                </a:solidFill>
                <a:effectLst/>
                <a:latin typeface="Times New Roman" pitchFamily="18" charset="0"/>
                <a:ea typeface="Times New Roman" pitchFamily="18" charset="0"/>
                <a:cs typeface="Times New Roman" pitchFamily="18" charset="0"/>
              </a:rPr>
              <a:t>010101001</a:t>
            </a: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00000000000000</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EEE Standard 754 Floating Point Numbers - GeeksforGeeks"/>
          <p:cNvPicPr/>
          <p:nvPr/>
        </p:nvPicPr>
        <p:blipFill>
          <a:blip r:embed="rId2"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rcRect t="3609" b="3609"/>
          <a:stretch>
            <a:fillRect/>
          </a:stretch>
        </p:blipFill>
        <p:spPr bwMode="auto">
          <a:xfrm>
            <a:off x="457200" y="228600"/>
            <a:ext cx="7772400" cy="1676400"/>
          </a:xfrm>
          <a:prstGeom prst="rect">
            <a:avLst/>
          </a:prstGeom>
          <a:noFill/>
          <a:ln>
            <a:noFill/>
          </a:ln>
        </p:spPr>
      </p:pic>
      <p:sp>
        <p:nvSpPr>
          <p:cNvPr id="1025" name="Rectangle 1"/>
          <p:cNvSpPr>
            <a:spLocks noChangeArrowheads="1"/>
          </p:cNvSpPr>
          <p:nvPr/>
        </p:nvSpPr>
        <p:spPr bwMode="auto">
          <a:xfrm>
            <a:off x="228600" y="2209800"/>
            <a:ext cx="891540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Double precision numbers have an 11-bit exponent field and a 52-bit fraction, for a total of 64 bits.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0" algn="just" eaLnBrk="0" fontAlgn="base" hangingPunct="0">
              <a:spcBef>
                <a:spcPct val="0"/>
              </a:spcBef>
              <a:spcAft>
                <a:spcPct val="0"/>
              </a:spcAft>
              <a:buFontTx/>
              <a:buChar char="•"/>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The sign bit is 0 for positive numbers and 1 for negative numbers.</a:t>
            </a:r>
            <a:r>
              <a:rPr kumimoji="0" lang="en-US" sz="2400" b="0" i="0" u="none" strike="noStrike" cap="none" normalizeH="0" baseline="0" dirty="0" smtClean="0">
                <a:ln>
                  <a:noFill/>
                </a:ln>
                <a:solidFill>
                  <a:srgbClr val="202122"/>
                </a:solidFill>
                <a:effectLst/>
                <a:latin typeface="Times New Roman" pitchFamily="18" charset="0"/>
                <a:ea typeface="Calibri" pitchFamily="34" charset="0"/>
                <a:cs typeface="Times New Roman" pitchFamily="18" charset="0"/>
              </a:rPr>
              <a:t> The exponent range for normalized numbers is [−1022, 1023] for double </a:t>
            </a:r>
            <a:r>
              <a:rPr lang="en-US" sz="2400" dirty="0" smtClean="0">
                <a:latin typeface="Times New Roman" pitchFamily="18" charset="0"/>
                <a:ea typeface="Calibri" pitchFamily="34" charset="0"/>
                <a:cs typeface="Times New Roman" pitchFamily="18" charset="0"/>
              </a:rPr>
              <a:t>precision</a:t>
            </a:r>
            <a:r>
              <a:rPr kumimoji="0" lang="en-US" sz="2400" b="0" i="0" u="none" strike="noStrike" cap="none" normalizeH="0" baseline="0" dirty="0" smtClean="0">
                <a:ln>
                  <a:noFill/>
                </a:ln>
                <a:solidFill>
                  <a:srgbClr val="202122"/>
                </a:solidFill>
                <a:effectLst/>
                <a:latin typeface="Times New Roman" pitchFamily="18" charset="0"/>
                <a:ea typeface="Calibri" pitchFamily="34" charset="0"/>
                <a:cs typeface="Times New Roman" pitchFamily="18" charset="0"/>
              </a:rPr>
              <a:t>.</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026" name="Rectangle 2"/>
          <p:cNvSpPr>
            <a:spLocks noChangeArrowheads="1"/>
          </p:cNvSpPr>
          <p:nvPr/>
        </p:nvSpPr>
        <p:spPr bwMode="auto">
          <a:xfrm>
            <a:off x="0" y="4395787"/>
            <a:ext cx="8728672" cy="22467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2. </a:t>
            </a:r>
            <a:r>
              <a:rPr kumimoji="0" lang="en-US" sz="20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Double precision:</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biased exponent 1023+6=1029</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1029 = 10000000101</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0" i="0" u="none" strike="noStrike" cap="none" normalizeH="0" baseline="0" dirty="0" err="1" smtClean="0">
                <a:ln>
                  <a:noFill/>
                </a:ln>
                <a:solidFill>
                  <a:srgbClr val="000000"/>
                </a:solidFill>
                <a:effectLst/>
                <a:latin typeface="Times New Roman" pitchFamily="18" charset="0"/>
                <a:ea typeface="Times New Roman" pitchFamily="18" charset="0"/>
                <a:cs typeface="Times New Roman" pitchFamily="18" charset="0"/>
              </a:rPr>
              <a:t>Normalised</a:t>
            </a: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mantissa = 010101001</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we will add 0's to complete the 52 bits</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The IEEE 754 Double precision is:</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0 10000000101 0101010010000000000000000000000000000000000000000000</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latin typeface="Times New Roman" pitchFamily="18" charset="0"/>
                <a:cs typeface="Times New Roman" pitchFamily="18" charset="0"/>
              </a:rPr>
              <a:t>Algorithm for addition and subtraction of floating point numbers.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0878270D45214FAEC0BE4347FF20F5" ma:contentTypeVersion="2" ma:contentTypeDescription="Create a new document." ma:contentTypeScope="" ma:versionID="1d4e4734975d0787c7f71dcf8f60d091">
  <xsd:schema xmlns:xsd="http://www.w3.org/2001/XMLSchema" xmlns:xs="http://www.w3.org/2001/XMLSchema" xmlns:p="http://schemas.microsoft.com/office/2006/metadata/properties" xmlns:ns2="d8c16487-0398-4b6e-9a0f-519d255dfaa0" targetNamespace="http://schemas.microsoft.com/office/2006/metadata/properties" ma:root="true" ma:fieldsID="1c229066ed7dd537124e8a26659c9bb5" ns2:_="">
    <xsd:import namespace="d8c16487-0398-4b6e-9a0f-519d255dfaa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c16487-0398-4b6e-9a0f-519d255dfa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E3EC507-FB02-4E56-A0E2-FD65D3467230}"/>
</file>

<file path=customXml/itemProps2.xml><?xml version="1.0" encoding="utf-8"?>
<ds:datastoreItem xmlns:ds="http://schemas.openxmlformats.org/officeDocument/2006/customXml" ds:itemID="{5C37496D-78E4-47FF-B5DE-59617AF1E1A1}">
  <ds:schemaRefs>
    <ds:schemaRef ds:uri="http://schemas.microsoft.com/sharepoint/v3/contenttype/forms"/>
  </ds:schemaRefs>
</ds:datastoreItem>
</file>

<file path=customXml/itemProps3.xml><?xml version="1.0" encoding="utf-8"?>
<ds:datastoreItem xmlns:ds="http://schemas.openxmlformats.org/officeDocument/2006/customXml" ds:itemID="{620DD552-3C1D-4FD7-8CA7-1774A2006D5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1277</TotalTime>
  <Words>1160</Words>
  <Application>Microsoft Office PowerPoint</Application>
  <PresentationFormat>On-screen Show (4:3)</PresentationFormat>
  <Paragraphs>161</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Module 5</vt:lpstr>
      <vt:lpstr>Slide 2</vt:lpstr>
      <vt:lpstr>Types of shift Registers</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Shift Register Counters</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Representation of floating point numbers</vt:lpstr>
      <vt:lpstr>Slide 44</vt:lpstr>
      <vt:lpstr>Slide 45</vt:lpstr>
      <vt:lpstr>Algorithm for addition and subtraction of floating point numbers.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Arithmetic Algorithms </dc:title>
  <dc:creator>Ms. Anu C Kunjachan</dc:creator>
  <cp:lastModifiedBy>ADMIN LLS</cp:lastModifiedBy>
  <cp:revision>40</cp:revision>
  <dcterms:created xsi:type="dcterms:W3CDTF">2006-08-16T00:00:00Z</dcterms:created>
  <dcterms:modified xsi:type="dcterms:W3CDTF">2023-01-06T09:10:07Z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0x0101006B0878270D45214FAEC0BE4347FF20F5</vt:lpwstr>
  </property>
</Properties>
</file>