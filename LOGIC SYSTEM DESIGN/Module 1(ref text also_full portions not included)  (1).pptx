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1"/>
  </p:notesMasterIdLst>
  <p:sldIdLst>
    <p:sldId id="344" r:id="rId5"/>
    <p:sldId id="345" r:id="rId6"/>
    <p:sldId id="346" r:id="rId7"/>
    <p:sldId id="347" r:id="rId8"/>
    <p:sldId id="348" r:id="rId9"/>
    <p:sldId id="353" r:id="rId10"/>
    <p:sldId id="350" r:id="rId11"/>
    <p:sldId id="351"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29" r:id="rId48"/>
    <p:sldId id="330" r:id="rId49"/>
    <p:sldId id="331" r:id="rId50"/>
    <p:sldId id="332" r:id="rId51"/>
    <p:sldId id="333" r:id="rId52"/>
    <p:sldId id="334" r:id="rId53"/>
    <p:sldId id="335" r:id="rId54"/>
    <p:sldId id="336" r:id="rId55"/>
    <p:sldId id="337" r:id="rId56"/>
    <p:sldId id="338" r:id="rId57"/>
    <p:sldId id="339" r:id="rId58"/>
    <p:sldId id="340" r:id="rId59"/>
    <p:sldId id="341" r:id="rId60"/>
    <p:sldId id="342" r:id="rId61"/>
    <p:sldId id="354" r:id="rId62"/>
    <p:sldId id="355" r:id="rId63"/>
    <p:sldId id="356" r:id="rId64"/>
    <p:sldId id="357" r:id="rId65"/>
    <p:sldId id="262" r:id="rId66"/>
    <p:sldId id="256" r:id="rId67"/>
    <p:sldId id="257" r:id="rId68"/>
    <p:sldId id="258" r:id="rId69"/>
    <p:sldId id="259" r:id="rId70"/>
    <p:sldId id="260" r:id="rId71"/>
    <p:sldId id="261" r:id="rId72"/>
    <p:sldId id="266" r:id="rId73"/>
    <p:sldId id="278" r:id="rId74"/>
    <p:sldId id="270" r:id="rId75"/>
    <p:sldId id="267" r:id="rId76"/>
    <p:sldId id="282" r:id="rId77"/>
    <p:sldId id="269" r:id="rId78"/>
    <p:sldId id="268" r:id="rId79"/>
    <p:sldId id="281" r:id="rId80"/>
    <p:sldId id="283" r:id="rId81"/>
    <p:sldId id="276" r:id="rId82"/>
    <p:sldId id="284" r:id="rId83"/>
    <p:sldId id="285" r:id="rId84"/>
    <p:sldId id="286" r:id="rId85"/>
    <p:sldId id="287" r:id="rId86"/>
    <p:sldId id="288" r:id="rId87"/>
    <p:sldId id="273" r:id="rId88"/>
    <p:sldId id="293" r:id="rId89"/>
    <p:sldId id="272"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451EB9-0969-4D8E-99DD-ADD26934A256}" type="datetimeFigureOut">
              <a:rPr lang="en-IN" smtClean="0"/>
              <a:pPr/>
              <a:t>10-10-2023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E49A1-4434-4817-B3D2-4877B8D7A8F5}" type="slidenum">
              <a:rPr lang="en-IN" smtClean="0"/>
              <a:pPr/>
              <a:t>‹#›</a:t>
            </a:fld>
            <a:endParaRPr lang="en-IN"/>
          </a:p>
        </p:txBody>
      </p:sp>
    </p:spTree>
    <p:extLst>
      <p:ext uri="{BB962C8B-B14F-4D97-AF65-F5344CB8AC3E}">
        <p14:creationId xmlns:p14="http://schemas.microsoft.com/office/powerpoint/2010/main" val="624431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FE49A1-4434-4817-B3D2-4877B8D7A8F5}" type="slidenum">
              <a:rPr lang="en-IN" smtClean="0"/>
              <a:pPr/>
              <a:t>58</a:t>
            </a:fld>
            <a:endParaRPr lang="en-IN"/>
          </a:p>
        </p:txBody>
      </p:sp>
    </p:spTree>
    <p:extLst>
      <p:ext uri="{BB962C8B-B14F-4D97-AF65-F5344CB8AC3E}">
        <p14:creationId xmlns:p14="http://schemas.microsoft.com/office/powerpoint/2010/main" val="2406286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800" baseline="-25000">
                <a:solidFill>
                  <a:schemeClr val="accent2"/>
                </a:solidFill>
                <a:latin typeface="Times New Roman" panose="02020603050405020304" pitchFamily="18" charset="0"/>
              </a:defRPr>
            </a:lvl1pPr>
            <a:lvl2pPr marL="742950" indent="-285750" defTabSz="965200">
              <a:defRPr sz="2800" baseline="-25000">
                <a:solidFill>
                  <a:schemeClr val="accent2"/>
                </a:solidFill>
                <a:latin typeface="Times New Roman" panose="02020603050405020304" pitchFamily="18" charset="0"/>
              </a:defRPr>
            </a:lvl2pPr>
            <a:lvl3pPr marL="1143000" indent="-228600" defTabSz="965200">
              <a:defRPr sz="2800" baseline="-25000">
                <a:solidFill>
                  <a:schemeClr val="accent2"/>
                </a:solidFill>
                <a:latin typeface="Times New Roman" panose="02020603050405020304" pitchFamily="18" charset="0"/>
              </a:defRPr>
            </a:lvl3pPr>
            <a:lvl4pPr marL="1600200" indent="-228600" defTabSz="965200">
              <a:defRPr sz="2800" baseline="-25000">
                <a:solidFill>
                  <a:schemeClr val="accent2"/>
                </a:solidFill>
                <a:latin typeface="Times New Roman" panose="02020603050405020304" pitchFamily="18" charset="0"/>
              </a:defRPr>
            </a:lvl4pPr>
            <a:lvl5pPr marL="2057400" indent="-228600" defTabSz="965200">
              <a:defRPr sz="2800" baseline="-25000">
                <a:solidFill>
                  <a:schemeClr val="accent2"/>
                </a:solidFill>
                <a:latin typeface="Times New Roman" panose="02020603050405020304" pitchFamily="18" charset="0"/>
              </a:defRPr>
            </a:lvl5pPr>
            <a:lvl6pPr marL="25146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6pPr>
            <a:lvl7pPr marL="29718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7pPr>
            <a:lvl8pPr marL="34290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8pPr>
            <a:lvl9pPr marL="38862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9pPr>
          </a:lstStyle>
          <a:p>
            <a:fld id="{E93758E5-64DA-45EC-9D52-3253CC5D87B0}" type="slidenum">
              <a:rPr lang="zh-TW" altLang="en-US" sz="1400" baseline="0">
                <a:solidFill>
                  <a:schemeClr val="tx1"/>
                </a:solidFill>
              </a:rPr>
              <a:pPr/>
              <a:t>78</a:t>
            </a:fld>
            <a:endParaRPr lang="en-US" altLang="zh-TW" sz="1400" baseline="0">
              <a:solidFill>
                <a:schemeClr val="tx1"/>
              </a:solidFill>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3226666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800" baseline="-25000">
                <a:solidFill>
                  <a:schemeClr val="accent2"/>
                </a:solidFill>
                <a:latin typeface="Times New Roman" panose="02020603050405020304" pitchFamily="18" charset="0"/>
              </a:defRPr>
            </a:lvl1pPr>
            <a:lvl2pPr marL="742950" indent="-285750" defTabSz="965200">
              <a:defRPr sz="2800" baseline="-25000">
                <a:solidFill>
                  <a:schemeClr val="accent2"/>
                </a:solidFill>
                <a:latin typeface="Times New Roman" panose="02020603050405020304" pitchFamily="18" charset="0"/>
              </a:defRPr>
            </a:lvl2pPr>
            <a:lvl3pPr marL="1143000" indent="-228600" defTabSz="965200">
              <a:defRPr sz="2800" baseline="-25000">
                <a:solidFill>
                  <a:schemeClr val="accent2"/>
                </a:solidFill>
                <a:latin typeface="Times New Roman" panose="02020603050405020304" pitchFamily="18" charset="0"/>
              </a:defRPr>
            </a:lvl3pPr>
            <a:lvl4pPr marL="1600200" indent="-228600" defTabSz="965200">
              <a:defRPr sz="2800" baseline="-25000">
                <a:solidFill>
                  <a:schemeClr val="accent2"/>
                </a:solidFill>
                <a:latin typeface="Times New Roman" panose="02020603050405020304" pitchFamily="18" charset="0"/>
              </a:defRPr>
            </a:lvl4pPr>
            <a:lvl5pPr marL="2057400" indent="-228600" defTabSz="965200">
              <a:defRPr sz="2800" baseline="-25000">
                <a:solidFill>
                  <a:schemeClr val="accent2"/>
                </a:solidFill>
                <a:latin typeface="Times New Roman" panose="02020603050405020304" pitchFamily="18" charset="0"/>
              </a:defRPr>
            </a:lvl5pPr>
            <a:lvl6pPr marL="25146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6pPr>
            <a:lvl7pPr marL="29718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7pPr>
            <a:lvl8pPr marL="34290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8pPr>
            <a:lvl9pPr marL="3886200" indent="-228600" defTabSz="9652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9pPr>
          </a:lstStyle>
          <a:p>
            <a:fld id="{1B1F099D-971F-46DF-974A-7916AD06A274}" type="slidenum">
              <a:rPr lang="zh-TW" altLang="en-US" sz="1400" baseline="0">
                <a:solidFill>
                  <a:schemeClr val="tx1"/>
                </a:solidFill>
              </a:rPr>
              <a:pPr/>
              <a:t>84</a:t>
            </a:fld>
            <a:endParaRPr lang="en-US" altLang="zh-TW" sz="1400" baseline="0">
              <a:solidFill>
                <a:schemeClr val="tx1"/>
              </a:solidFill>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3391596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8119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3552326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2436057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1448916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1009431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795443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216611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2369765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133679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3812762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66FF393-E0D3-4336-B7AF-FBC94AF38BD0}" type="datetimeFigureOut">
              <a:rPr lang="en-IN" smtClean="0"/>
              <a:pPr/>
              <a:t>10-10-2023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A8679-2724-4389-872A-21B68CFDF559}" type="slidenum">
              <a:rPr lang="en-IN" smtClean="0"/>
              <a:pPr/>
              <a:t>‹#›</a:t>
            </a:fld>
            <a:endParaRPr lang="en-IN"/>
          </a:p>
        </p:txBody>
      </p:sp>
    </p:spTree>
    <p:extLst>
      <p:ext uri="{BB962C8B-B14F-4D97-AF65-F5344CB8AC3E}">
        <p14:creationId xmlns:p14="http://schemas.microsoft.com/office/powerpoint/2010/main" val="899893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6FF393-E0D3-4336-B7AF-FBC94AF38BD0}" type="datetimeFigureOut">
              <a:rPr lang="en-IN" smtClean="0"/>
              <a:pPr/>
              <a:t>10-10-2023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7A8679-2724-4389-872A-21B68CFDF559}" type="slidenum">
              <a:rPr lang="en-IN" smtClean="0"/>
              <a:pPr/>
              <a:t>‹#›</a:t>
            </a:fld>
            <a:endParaRPr lang="en-IN"/>
          </a:p>
        </p:txBody>
      </p:sp>
    </p:spTree>
    <p:extLst>
      <p:ext uri="{BB962C8B-B14F-4D97-AF65-F5344CB8AC3E}">
        <p14:creationId xmlns:p14="http://schemas.microsoft.com/office/powerpoint/2010/main" val="4254950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6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xml"/><Relationship Id="rId4" Type="http://schemas.openxmlformats.org/officeDocument/2006/relationships/image" Target="../media/image91.png"/></Relationships>
</file>

<file path=ppt/slides/_rels/slide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6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3.jpeg"/></Relationships>
</file>

<file path=ppt/slides/_rels/slide7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CAFCF-D0BD-3B3F-7B67-26BD8321367D}"/>
              </a:ext>
            </a:extLst>
          </p:cNvPr>
          <p:cNvSpPr>
            <a:spLocks noGrp="1"/>
          </p:cNvSpPr>
          <p:nvPr>
            <p:ph type="ctrTitle"/>
          </p:nvPr>
        </p:nvSpPr>
        <p:spPr>
          <a:xfrm>
            <a:off x="344129" y="1507524"/>
            <a:ext cx="11629568" cy="3742749"/>
          </a:xfrm>
        </p:spPr>
        <p:txBody>
          <a:bodyPr>
            <a:noAutofit/>
          </a:bodyPr>
          <a:lstStyle/>
          <a:p>
            <a:pPr algn="just"/>
            <a:br>
              <a:rPr lang="en-IN" sz="2400" b="1" i="0" u="none" strike="noStrike" baseline="0" dirty="0">
                <a:solidFill>
                  <a:srgbClr val="000000"/>
                </a:solidFill>
                <a:latin typeface="Times New Roman" panose="02020603050405020304" pitchFamily="18" charset="0"/>
                <a:cs typeface="Times New Roman" panose="02020603050405020304" pitchFamily="18" charset="0"/>
              </a:rPr>
            </a:br>
            <a:br>
              <a:rPr lang="en-IN" sz="2400" b="1" i="0" u="none" strike="noStrike" baseline="0" dirty="0">
                <a:solidFill>
                  <a:srgbClr val="000000"/>
                </a:solidFill>
                <a:latin typeface="Times New Roman" panose="02020603050405020304" pitchFamily="18" charset="0"/>
                <a:cs typeface="Times New Roman" panose="02020603050405020304" pitchFamily="18" charset="0"/>
              </a:rPr>
            </a:br>
            <a:r>
              <a:rPr lang="en-US" sz="2400" b="0" i="0" u="none" strike="noStrike" baseline="0" dirty="0">
                <a:solidFill>
                  <a:srgbClr val="00000A"/>
                </a:solidFill>
                <a:latin typeface="Times New Roman" panose="02020603050405020304" pitchFamily="18" charset="0"/>
                <a:cs typeface="Times New Roman" panose="02020603050405020304" pitchFamily="18" charset="0"/>
              </a:rPr>
              <a:t>Decimal, Binary, Octal and Hexadecimal Number Systems- Number Base Conversions.</a:t>
            </a:r>
            <a:br>
              <a:rPr lang="en-US" sz="2400" b="0" i="0" u="none" strike="noStrike" baseline="0" dirty="0">
                <a:solidFill>
                  <a:srgbClr val="00000A"/>
                </a:solidFill>
                <a:latin typeface="Times New Roman" panose="02020603050405020304" pitchFamily="18" charset="0"/>
                <a:cs typeface="Times New Roman" panose="02020603050405020304" pitchFamily="18" charset="0"/>
              </a:rPr>
            </a:br>
            <a:r>
              <a:rPr lang="en-US" sz="2400" b="0" i="0" u="none" strike="noStrike" baseline="0" dirty="0">
                <a:solidFill>
                  <a:srgbClr val="00000A"/>
                </a:solidFill>
                <a:latin typeface="Times New Roman" panose="02020603050405020304" pitchFamily="18" charset="0"/>
                <a:cs typeface="Times New Roman" panose="02020603050405020304" pitchFamily="18" charset="0"/>
              </a:rPr>
              <a:t>Addition, Subtraction, Multiplication and Division of binary numbers. Representation of</a:t>
            </a:r>
            <a:br>
              <a:rPr lang="en-US" sz="2400" b="0" i="0" u="none" strike="noStrike" baseline="0" dirty="0">
                <a:solidFill>
                  <a:srgbClr val="00000A"/>
                </a:solidFill>
                <a:latin typeface="Times New Roman" panose="02020603050405020304" pitchFamily="18" charset="0"/>
                <a:cs typeface="Times New Roman" panose="02020603050405020304" pitchFamily="18" charset="0"/>
              </a:rPr>
            </a:br>
            <a:r>
              <a:rPr lang="en-US" sz="2400" b="0" i="0" u="none" strike="noStrike" baseline="0" dirty="0">
                <a:solidFill>
                  <a:srgbClr val="00000A"/>
                </a:solidFill>
                <a:latin typeface="Times New Roman" panose="02020603050405020304" pitchFamily="18" charset="0"/>
                <a:cs typeface="Times New Roman" panose="02020603050405020304" pitchFamily="18" charset="0"/>
              </a:rPr>
              <a:t>negative numbers- Complements, Subtraction with complements. Addition and subtraction of</a:t>
            </a:r>
            <a:br>
              <a:rPr lang="en-US" sz="2400" b="0" i="0" u="none" strike="noStrike" baseline="0" dirty="0">
                <a:solidFill>
                  <a:srgbClr val="00000A"/>
                </a:solidFill>
                <a:latin typeface="Times New Roman" panose="02020603050405020304" pitchFamily="18" charset="0"/>
                <a:cs typeface="Times New Roman" panose="02020603050405020304" pitchFamily="18" charset="0"/>
              </a:rPr>
            </a:br>
            <a:r>
              <a:rPr lang="en-IN" sz="2400" b="0" i="0" u="none" strike="noStrike" baseline="0" dirty="0">
                <a:solidFill>
                  <a:srgbClr val="00000A"/>
                </a:solidFill>
                <a:latin typeface="Times New Roman" panose="02020603050405020304" pitchFamily="18" charset="0"/>
                <a:cs typeface="Times New Roman" panose="02020603050405020304" pitchFamily="18" charset="0"/>
              </a:rPr>
              <a:t>BCD, Octal and Hexadecimal numbers. Binary codes- Decimal codes, Error detection codes,</a:t>
            </a:r>
            <a:br>
              <a:rPr lang="en-IN" sz="2400" b="0" i="0" u="none" strike="noStrike" baseline="0" dirty="0">
                <a:solidFill>
                  <a:srgbClr val="00000A"/>
                </a:solidFill>
                <a:latin typeface="Times New Roman" panose="02020603050405020304" pitchFamily="18" charset="0"/>
                <a:cs typeface="Times New Roman" panose="02020603050405020304" pitchFamily="18" charset="0"/>
              </a:rPr>
            </a:br>
            <a:r>
              <a:rPr lang="en-US" sz="2400" b="0" i="0" u="none" strike="noStrike" baseline="0" dirty="0">
                <a:solidFill>
                  <a:srgbClr val="00000A"/>
                </a:solidFill>
                <a:latin typeface="Times New Roman" panose="02020603050405020304" pitchFamily="18" charset="0"/>
                <a:cs typeface="Times New Roman" panose="02020603050405020304" pitchFamily="18" charset="0"/>
              </a:rPr>
              <a:t>Reflected code, Character coding schemes – ASCII, EBCDIC.</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4962E93-FD7C-FF7F-EE0A-B80C0F923217}"/>
              </a:ext>
            </a:extLst>
          </p:cNvPr>
          <p:cNvSpPr txBox="1"/>
          <p:nvPr/>
        </p:nvSpPr>
        <p:spPr>
          <a:xfrm>
            <a:off x="2113005" y="2203791"/>
            <a:ext cx="7330645" cy="1077218"/>
          </a:xfrm>
          <a:prstGeom prst="rect">
            <a:avLst/>
          </a:prstGeom>
          <a:noFill/>
        </p:spPr>
        <p:txBody>
          <a:bodyPr wrap="square">
            <a:spAutoFit/>
          </a:bodyPr>
          <a:lstStyle/>
          <a:p>
            <a:pPr algn="ctr"/>
            <a:r>
              <a:rPr lang="en-IN" sz="3200" b="1" i="0" u="none" strike="noStrike" baseline="0" dirty="0">
                <a:solidFill>
                  <a:srgbClr val="000000"/>
                </a:solidFill>
                <a:latin typeface="Times New Roman" panose="02020603050405020304" pitchFamily="18" charset="0"/>
                <a:cs typeface="Times New Roman" panose="02020603050405020304" pitchFamily="18" charset="0"/>
              </a:rPr>
              <a:t>Module I</a:t>
            </a:r>
            <a:br>
              <a:rPr lang="en-IN" sz="3200" b="1" i="0" u="none" strike="noStrike" baseline="0" dirty="0">
                <a:solidFill>
                  <a:srgbClr val="000000"/>
                </a:solidFill>
                <a:latin typeface="Times New Roman" panose="02020603050405020304" pitchFamily="18" charset="0"/>
                <a:cs typeface="Times New Roman" panose="02020603050405020304" pitchFamily="18" charset="0"/>
              </a:rPr>
            </a:br>
            <a:r>
              <a:rPr lang="en-IN" sz="3200" b="1" i="0" u="none" strike="noStrike" baseline="0" dirty="0">
                <a:solidFill>
                  <a:srgbClr val="000000"/>
                </a:solidFill>
                <a:latin typeface="Times New Roman" panose="02020603050405020304" pitchFamily="18" charset="0"/>
                <a:cs typeface="Times New Roman" panose="02020603050405020304" pitchFamily="18" charset="0"/>
              </a:rPr>
              <a:t>Number systems, Operations &amp; Codes</a:t>
            </a:r>
            <a:endParaRPr lang="en-IN" sz="3200" dirty="0"/>
          </a:p>
        </p:txBody>
      </p:sp>
    </p:spTree>
    <p:extLst>
      <p:ext uri="{BB962C8B-B14F-4D97-AF65-F5344CB8AC3E}">
        <p14:creationId xmlns:p14="http://schemas.microsoft.com/office/powerpoint/2010/main" val="3190791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Number System in Digital Electronics? Defintion &amp; Types of Number  Systems - Circuit Globe">
            <a:extLst>
              <a:ext uri="{FF2B5EF4-FFF2-40B4-BE49-F238E27FC236}">
                <a16:creationId xmlns:a16="http://schemas.microsoft.com/office/drawing/2014/main" id="{DC5FAD3F-B6B3-888D-2589-CDCA7635F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139" y="1136395"/>
            <a:ext cx="8622584" cy="40813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23FEA3-736C-9078-A549-2E02C02F47CE}"/>
              </a:ext>
            </a:extLst>
          </p:cNvPr>
          <p:cNvSpPr txBox="1"/>
          <p:nvPr/>
        </p:nvSpPr>
        <p:spPr>
          <a:xfrm>
            <a:off x="855407" y="5075274"/>
            <a:ext cx="9635612" cy="830997"/>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The base or radix of the number system is the total number of symbols used to denoted the numbers in the number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414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EA46D-382F-3FB9-4807-CEF6D34375F8}"/>
              </a:ext>
            </a:extLst>
          </p:cNvPr>
          <p:cNvSpPr>
            <a:spLocks noGrp="1"/>
          </p:cNvSpPr>
          <p:nvPr>
            <p:ph idx="1"/>
          </p:nvPr>
        </p:nvSpPr>
        <p:spPr>
          <a:xfrm>
            <a:off x="186813" y="216310"/>
            <a:ext cx="11798709" cy="5960653"/>
          </a:xfrm>
        </p:spPr>
        <p:txBody>
          <a:bodyPr>
            <a:no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The system of numbers which has base or radix 10, i.e. uses total 10 symbols to represent numbers of the system is called </a:t>
            </a:r>
            <a:r>
              <a:rPr lang="en-US" sz="2400" b="1" i="0" dirty="0">
                <a:solidFill>
                  <a:srgbClr val="000000"/>
                </a:solidFill>
                <a:effectLst/>
                <a:latin typeface="Times New Roman" panose="02020603050405020304" pitchFamily="18" charset="0"/>
                <a:cs typeface="Times New Roman" panose="02020603050405020304" pitchFamily="18" charset="0"/>
              </a:rPr>
              <a:t>decimal number system</a:t>
            </a:r>
            <a:r>
              <a:rPr lang="en-US" sz="2400" b="0" i="0" dirty="0">
                <a:solidFill>
                  <a:srgbClr val="000000"/>
                </a:solidFill>
                <a:effectLst/>
                <a:latin typeface="Times New Roman" panose="02020603050405020304" pitchFamily="18" charset="0"/>
                <a:cs typeface="Times New Roman" panose="02020603050405020304" pitchFamily="18" charset="0"/>
              </a:rPr>
              <a:t>. The symbols used in the decimal number system are 0, 1, 2, 3, 4, 5, 6, 7, 8, 9; where each of these symbols assigned a specific value.</a:t>
            </a:r>
          </a:p>
          <a:p>
            <a:pPr algn="just"/>
            <a:r>
              <a:rPr lang="en-US" sz="2400" b="0" i="0" dirty="0">
                <a:solidFill>
                  <a:srgbClr val="FF0000"/>
                </a:solidFill>
                <a:effectLst/>
                <a:latin typeface="Times New Roman" panose="02020603050405020304" pitchFamily="18" charset="0"/>
                <a:cs typeface="Times New Roman" panose="02020603050405020304" pitchFamily="18" charset="0"/>
              </a:rPr>
              <a:t>A number system with base or radix 2 is called </a:t>
            </a:r>
            <a:r>
              <a:rPr lang="en-US" sz="2400" b="1" i="0" dirty="0">
                <a:solidFill>
                  <a:srgbClr val="FF0000"/>
                </a:solidFill>
                <a:effectLst/>
                <a:latin typeface="Times New Roman" panose="02020603050405020304" pitchFamily="18" charset="0"/>
                <a:cs typeface="Times New Roman" panose="02020603050405020304" pitchFamily="18" charset="0"/>
              </a:rPr>
              <a:t>binary number system</a:t>
            </a:r>
            <a:r>
              <a:rPr lang="en-US" sz="2400" b="0" i="0" dirty="0">
                <a:solidFill>
                  <a:srgbClr val="FF0000"/>
                </a:solidFill>
                <a:effectLst/>
                <a:latin typeface="Times New Roman" panose="02020603050405020304" pitchFamily="18" charset="0"/>
                <a:cs typeface="Times New Roman" panose="02020603050405020304" pitchFamily="18" charset="0"/>
              </a:rPr>
              <a:t>. The binary number system uses only 2 symbols (0 and 1) to represent binary numbers. All modern digital devices like computers, combinational circuits, sequential circuits, etc. use the binary number system to operate.</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A number system which has base 8 is called an </a:t>
            </a:r>
            <a:r>
              <a:rPr lang="en-US" sz="2400" b="1" i="0" dirty="0">
                <a:solidFill>
                  <a:srgbClr val="000000"/>
                </a:solidFill>
                <a:effectLst/>
                <a:latin typeface="Times New Roman" panose="02020603050405020304" pitchFamily="18" charset="0"/>
                <a:cs typeface="Times New Roman" panose="02020603050405020304" pitchFamily="18" charset="0"/>
              </a:rPr>
              <a:t>octal number system</a:t>
            </a:r>
            <a:r>
              <a:rPr lang="en-US" sz="2400" b="0" i="0" dirty="0">
                <a:solidFill>
                  <a:srgbClr val="000000"/>
                </a:solidFill>
                <a:effectLst/>
                <a:latin typeface="Times New Roman" panose="02020603050405020304" pitchFamily="18" charset="0"/>
                <a:cs typeface="Times New Roman" panose="02020603050405020304" pitchFamily="18" charset="0"/>
              </a:rPr>
              <a:t>. Therefore, the octal number system uses 8 symbols, (0, 1, 2, 3, 4, 5, 6, 7) to represent the number.</a:t>
            </a:r>
          </a:p>
          <a:p>
            <a:pPr algn="just"/>
            <a:r>
              <a:rPr lang="en-US" sz="2400" b="0" i="0" dirty="0">
                <a:solidFill>
                  <a:srgbClr val="FF0000"/>
                </a:solidFill>
                <a:effectLst/>
                <a:latin typeface="Times New Roman" panose="02020603050405020304" pitchFamily="18" charset="0"/>
                <a:cs typeface="Times New Roman" panose="02020603050405020304" pitchFamily="18" charset="0"/>
              </a:rPr>
              <a:t>Hexadecimal Number System- The number system with base or radix 16 is called as </a:t>
            </a:r>
            <a:r>
              <a:rPr lang="en-US" sz="2400" b="1" i="0" dirty="0">
                <a:solidFill>
                  <a:srgbClr val="FF0000"/>
                </a:solidFill>
                <a:effectLst/>
                <a:latin typeface="Times New Roman" panose="02020603050405020304" pitchFamily="18" charset="0"/>
                <a:cs typeface="Times New Roman" panose="02020603050405020304" pitchFamily="18" charset="0"/>
              </a:rPr>
              <a:t>hexadecimal number system</a:t>
            </a:r>
            <a:r>
              <a:rPr lang="en-US" sz="2400" b="0" i="0" dirty="0">
                <a:solidFill>
                  <a:srgbClr val="FF0000"/>
                </a:solidFill>
                <a:effectLst/>
                <a:latin typeface="Times New Roman" panose="02020603050405020304" pitchFamily="18" charset="0"/>
                <a:cs typeface="Times New Roman" panose="02020603050405020304" pitchFamily="18" charset="0"/>
              </a:rPr>
              <a:t>. Thus, the hexadecimal number system uses 16 symbol to represent numbers. These symbols are 0, 1, 2, 3, 4, 5, 6, 7, 8, 9, A, B, C, D, E, F. Where, A = 10; B = 11; C = 12; D = 13; E = 14; F = 15.</a:t>
            </a:r>
          </a:p>
          <a:p>
            <a:pPr algn="just"/>
            <a:r>
              <a:rPr lang="en-US" sz="2400" b="0" i="0" dirty="0">
                <a:solidFill>
                  <a:srgbClr val="000000"/>
                </a:solidFill>
                <a:effectLst/>
                <a:latin typeface="Times New Roman" panose="02020603050405020304" pitchFamily="18" charset="0"/>
                <a:cs typeface="Times New Roman" panose="02020603050405020304" pitchFamily="18" charset="0"/>
              </a:rPr>
              <a:t>The hexadecimal number system is extensively used in microprocessors and microcontrollers. The most significant advantage of hexadecimal number system over binary number system is that the hexadecimal numbers are much shorter in size than the binary numbers, which makes these hexadecimal numbers more readable.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0542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49AE016-3A1F-7501-E2C6-C3A7FDB949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0472" y="-83127"/>
            <a:ext cx="7453745" cy="6750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5183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21E37-4066-69E0-8659-1862267EE364}"/>
              </a:ext>
            </a:extLst>
          </p:cNvPr>
          <p:cNvSpPr>
            <a:spLocks noGrp="1"/>
          </p:cNvSpPr>
          <p:nvPr>
            <p:ph type="title"/>
          </p:nvPr>
        </p:nvSpPr>
        <p:spPr/>
        <p:txBody>
          <a:bodyPr>
            <a:normAutofit fontScale="90000"/>
          </a:bodyPr>
          <a:lstStyle/>
          <a:p>
            <a:r>
              <a:rPr lang="en-US" b="0" i="0" dirty="0">
                <a:solidFill>
                  <a:srgbClr val="610B38"/>
                </a:solidFill>
                <a:effectLst/>
                <a:latin typeface="Times New Roman" panose="02020603050405020304" pitchFamily="18" charset="0"/>
                <a:cs typeface="Times New Roman" panose="02020603050405020304" pitchFamily="18" charset="0"/>
              </a:rPr>
              <a:t>Conversion of Binary to other Number Systems</a:t>
            </a:r>
            <a:br>
              <a:rPr lang="en-US" b="0" i="0" dirty="0">
                <a:solidFill>
                  <a:srgbClr val="610B38"/>
                </a:solidFill>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2A5219-0E53-3817-2992-F10260222B77}"/>
              </a:ext>
            </a:extLst>
          </p:cNvPr>
          <p:cNvSpPr>
            <a:spLocks noGrp="1"/>
          </p:cNvSpPr>
          <p:nvPr>
            <p:ph idx="1"/>
          </p:nvPr>
        </p:nvSpPr>
        <p:spPr>
          <a:xfrm>
            <a:off x="838200" y="1081548"/>
            <a:ext cx="10960510" cy="5411327"/>
          </a:xfrm>
        </p:spPr>
        <p:txBody>
          <a:bodyPr>
            <a:normAutofit fontScale="85000" lnSpcReduction="20000"/>
          </a:bodyPr>
          <a:lstStyle/>
          <a:p>
            <a:pPr marL="0" indent="0">
              <a:buNone/>
            </a:pPr>
            <a:r>
              <a:rPr lang="en-IN" b="1" i="0" u="sng" dirty="0">
                <a:solidFill>
                  <a:srgbClr val="FF0000"/>
                </a:solidFill>
                <a:effectLst/>
                <a:latin typeface="Times New Roman" panose="02020603050405020304" pitchFamily="18" charset="0"/>
                <a:cs typeface="Times New Roman" panose="02020603050405020304" pitchFamily="18" charset="0"/>
              </a:rPr>
              <a:t>Binary to Decimal Conversion</a:t>
            </a:r>
          </a:p>
          <a:p>
            <a:pPr marL="0" indent="0" algn="just">
              <a:buNone/>
            </a:pPr>
            <a:r>
              <a:rPr lang="en-US" b="1" i="0" dirty="0">
                <a:solidFill>
                  <a:srgbClr val="0070C0"/>
                </a:solidFill>
                <a:effectLst/>
                <a:latin typeface="Times New Roman" panose="02020603050405020304" pitchFamily="18" charset="0"/>
                <a:cs typeface="Times New Roman" panose="02020603050405020304" pitchFamily="18" charset="0"/>
              </a:rPr>
              <a:t>Example 1: (10110)</a:t>
            </a:r>
            <a:r>
              <a:rPr lang="en-US" b="1" i="0" baseline="-25000" dirty="0">
                <a:solidFill>
                  <a:srgbClr val="0070C0"/>
                </a:solidFill>
                <a:effectLst/>
                <a:latin typeface="Times New Roman" panose="02020603050405020304" pitchFamily="18" charset="0"/>
                <a:cs typeface="Times New Roman" panose="02020603050405020304" pitchFamily="18" charset="0"/>
              </a:rPr>
              <a:t>2</a:t>
            </a:r>
            <a:endParaRPr lang="en-US" b="0" i="0" dirty="0">
              <a:solidFill>
                <a:srgbClr val="0070C0"/>
              </a:solidFill>
              <a:effectLst/>
              <a:latin typeface="Times New Roman" panose="02020603050405020304" pitchFamily="18" charset="0"/>
              <a:cs typeface="Times New Roman" panose="02020603050405020304" pitchFamily="18" charset="0"/>
            </a:endParaRPr>
          </a:p>
          <a:p>
            <a:pPr marL="0" indent="0" algn="just">
              <a:buNone/>
            </a:pPr>
            <a:r>
              <a:rPr lang="en-US" b="0" i="0" dirty="0">
                <a:solidFill>
                  <a:srgbClr val="333333"/>
                </a:solidFill>
                <a:effectLst/>
                <a:latin typeface="Times New Roman" panose="02020603050405020304" pitchFamily="18" charset="0"/>
                <a:cs typeface="Times New Roman" panose="02020603050405020304" pitchFamily="18" charset="0"/>
              </a:rPr>
              <a:t>We multiplied each bit of (10110)</a:t>
            </a:r>
            <a:r>
              <a:rPr lang="en-US" b="0" i="0" baseline="-25000" dirty="0">
                <a:solidFill>
                  <a:srgbClr val="333333"/>
                </a:solidFill>
                <a:effectLst/>
                <a:latin typeface="Times New Roman" panose="02020603050405020304" pitchFamily="18" charset="0"/>
                <a:cs typeface="Times New Roman" panose="02020603050405020304" pitchFamily="18" charset="0"/>
              </a:rPr>
              <a:t>2</a:t>
            </a:r>
            <a:r>
              <a:rPr lang="en-US" b="0" i="0" dirty="0">
                <a:solidFill>
                  <a:srgbClr val="333333"/>
                </a:solidFill>
                <a:effectLst/>
                <a:latin typeface="Times New Roman" panose="02020603050405020304" pitchFamily="18" charset="0"/>
                <a:cs typeface="Times New Roman" panose="02020603050405020304" pitchFamily="18" charset="0"/>
              </a:rPr>
              <a:t> with its respective positional weight, and last we add the products of all the bits with its weight.</a:t>
            </a:r>
          </a:p>
          <a:p>
            <a:pPr marL="0" indent="0" algn="just">
              <a:buNone/>
            </a:pPr>
            <a:r>
              <a:rPr lang="en-US" b="1" i="0" dirty="0">
                <a:solidFill>
                  <a:srgbClr val="333333"/>
                </a:solidFill>
                <a:effectLst/>
                <a:latin typeface="Times New Roman" panose="02020603050405020304" pitchFamily="18" charset="0"/>
                <a:cs typeface="Times New Roman" panose="02020603050405020304" pitchFamily="18" charset="0"/>
              </a:rPr>
              <a:t>(10110)</a:t>
            </a:r>
            <a:r>
              <a:rPr lang="en-US" b="1" i="0" baseline="-25000" dirty="0">
                <a:solidFill>
                  <a:srgbClr val="333333"/>
                </a:solidFill>
                <a:effectLst/>
                <a:latin typeface="Times New Roman" panose="02020603050405020304" pitchFamily="18" charset="0"/>
                <a:cs typeface="Times New Roman" panose="02020603050405020304" pitchFamily="18" charset="0"/>
              </a:rPr>
              <a:t>2   </a:t>
            </a:r>
            <a:r>
              <a:rPr lang="en-US" b="0" i="0" dirty="0">
                <a:solidFill>
                  <a:srgbClr val="333333"/>
                </a:solidFill>
                <a:effectLst/>
                <a:latin typeface="Times New Roman" panose="02020603050405020304" pitchFamily="18" charset="0"/>
                <a:cs typeface="Times New Roman" panose="02020603050405020304" pitchFamily="18" charset="0"/>
              </a:rPr>
              <a:t>= (1×2</a:t>
            </a:r>
            <a:r>
              <a:rPr lang="en-US" b="0" i="0" baseline="30000" dirty="0">
                <a:solidFill>
                  <a:srgbClr val="333333"/>
                </a:solidFill>
                <a:effectLst/>
                <a:latin typeface="Times New Roman" panose="02020603050405020304" pitchFamily="18" charset="0"/>
                <a:cs typeface="Times New Roman" panose="02020603050405020304" pitchFamily="18" charset="0"/>
              </a:rPr>
              <a:t>4</a:t>
            </a:r>
            <a:r>
              <a:rPr lang="en-US" b="0" i="0" dirty="0">
                <a:solidFill>
                  <a:srgbClr val="333333"/>
                </a:solidFill>
                <a:effectLst/>
                <a:latin typeface="Times New Roman" panose="02020603050405020304" pitchFamily="18" charset="0"/>
                <a:cs typeface="Times New Roman" panose="02020603050405020304" pitchFamily="18" charset="0"/>
              </a:rPr>
              <a:t>)+(0×2</a:t>
            </a:r>
            <a:r>
              <a:rPr lang="en-US" b="0" i="0" baseline="30000" dirty="0">
                <a:solidFill>
                  <a:srgbClr val="333333"/>
                </a:solidFill>
                <a:effectLst/>
                <a:latin typeface="Times New Roman" panose="02020603050405020304" pitchFamily="18" charset="0"/>
                <a:cs typeface="Times New Roman" panose="02020603050405020304" pitchFamily="18" charset="0"/>
              </a:rPr>
              <a:t>3</a:t>
            </a:r>
            <a:r>
              <a:rPr lang="en-US" b="0" i="0" dirty="0">
                <a:solidFill>
                  <a:srgbClr val="333333"/>
                </a:solidFill>
                <a:effectLst/>
                <a:latin typeface="Times New Roman" panose="02020603050405020304" pitchFamily="18" charset="0"/>
                <a:cs typeface="Times New Roman" panose="02020603050405020304" pitchFamily="18" charset="0"/>
              </a:rPr>
              <a:t>)+(1×2</a:t>
            </a:r>
            <a:r>
              <a:rPr lang="en-US" b="0" i="0" baseline="30000" dirty="0">
                <a:solidFill>
                  <a:srgbClr val="333333"/>
                </a:solidFill>
                <a:effectLst/>
                <a:latin typeface="Times New Roman" panose="02020603050405020304" pitchFamily="18" charset="0"/>
                <a:cs typeface="Times New Roman" panose="02020603050405020304" pitchFamily="18" charset="0"/>
              </a:rPr>
              <a:t>2</a:t>
            </a:r>
            <a:r>
              <a:rPr lang="en-US" b="0" i="0" dirty="0">
                <a:solidFill>
                  <a:srgbClr val="333333"/>
                </a:solidFill>
                <a:effectLst/>
                <a:latin typeface="Times New Roman" panose="02020603050405020304" pitchFamily="18" charset="0"/>
                <a:cs typeface="Times New Roman" panose="02020603050405020304" pitchFamily="18" charset="0"/>
              </a:rPr>
              <a:t>)+(1×2</a:t>
            </a:r>
            <a:r>
              <a:rPr lang="en-US" b="0" i="0" baseline="30000" dirty="0">
                <a:solidFill>
                  <a:srgbClr val="333333"/>
                </a:solidFill>
                <a:effectLst/>
                <a:latin typeface="Times New Roman" panose="02020603050405020304" pitchFamily="18" charset="0"/>
                <a:cs typeface="Times New Roman" panose="02020603050405020304" pitchFamily="18" charset="0"/>
              </a:rPr>
              <a:t>1</a:t>
            </a:r>
            <a:r>
              <a:rPr lang="en-US" b="0" i="0" dirty="0">
                <a:solidFill>
                  <a:srgbClr val="333333"/>
                </a:solidFill>
                <a:effectLst/>
                <a:latin typeface="Times New Roman" panose="02020603050405020304" pitchFamily="18" charset="0"/>
                <a:cs typeface="Times New Roman" panose="02020603050405020304" pitchFamily="18" charset="0"/>
              </a:rPr>
              <a:t>)+(0×2</a:t>
            </a:r>
            <a:r>
              <a:rPr lang="en-US" b="0" i="0" baseline="30000" dirty="0">
                <a:solidFill>
                  <a:srgbClr val="333333"/>
                </a:solidFill>
                <a:effectLst/>
                <a:latin typeface="Times New Roman" panose="02020603050405020304" pitchFamily="18" charset="0"/>
                <a:cs typeface="Times New Roman" panose="02020603050405020304" pitchFamily="18" charset="0"/>
              </a:rPr>
              <a:t>0</a:t>
            </a:r>
            <a:r>
              <a:rPr lang="en-US" b="0" i="0" dirty="0">
                <a:solidFill>
                  <a:srgbClr val="333333"/>
                </a:solidFill>
                <a:effectLst/>
                <a:latin typeface="Times New Roman" panose="02020603050405020304" pitchFamily="18" charset="0"/>
                <a:cs typeface="Times New Roman" panose="02020603050405020304" pitchFamily="18" charset="0"/>
              </a:rPr>
              <a:t>) 		     </a:t>
            </a:r>
          </a:p>
          <a:p>
            <a:pPr marL="0" indent="0" algn="just">
              <a:buNone/>
            </a:pPr>
            <a:r>
              <a:rPr lang="en-US" dirty="0">
                <a:solidFill>
                  <a:srgbClr val="333333"/>
                </a:solidFill>
                <a:latin typeface="Times New Roman" panose="02020603050405020304" pitchFamily="18" charset="0"/>
                <a:cs typeface="Times New Roman" panose="02020603050405020304" pitchFamily="18" charset="0"/>
              </a:rPr>
              <a:t>                </a:t>
            </a:r>
            <a:r>
              <a:rPr lang="en-US" b="0" i="0" dirty="0">
                <a:solidFill>
                  <a:srgbClr val="333333"/>
                </a:solidFill>
                <a:effectLst/>
                <a:latin typeface="Times New Roman" panose="02020603050405020304" pitchFamily="18" charset="0"/>
                <a:cs typeface="Times New Roman" panose="02020603050405020304" pitchFamily="18" charset="0"/>
              </a:rPr>
              <a:t>= (1×16)+(0×8)+(1×4)+(1×2)+(0×1)</a:t>
            </a:r>
          </a:p>
          <a:p>
            <a:pPr marL="0" indent="0">
              <a:buNone/>
            </a:pPr>
            <a:r>
              <a:rPr lang="en-US" b="0" i="0" dirty="0">
                <a:solidFill>
                  <a:srgbClr val="333333"/>
                </a:solidFill>
                <a:effectLst/>
                <a:latin typeface="Times New Roman" panose="02020603050405020304" pitchFamily="18" charset="0"/>
                <a:cs typeface="Times New Roman" panose="02020603050405020304" pitchFamily="18" charset="0"/>
              </a:rPr>
              <a:t>                 =16+0+4+2+0 </a:t>
            </a:r>
          </a:p>
          <a:p>
            <a:pPr marL="0" indent="0">
              <a:buNone/>
            </a:pPr>
            <a:r>
              <a:rPr lang="en-US" dirty="0">
                <a:solidFill>
                  <a:srgbClr val="333333"/>
                </a:solidFill>
                <a:latin typeface="Times New Roman" panose="02020603050405020304" pitchFamily="18" charset="0"/>
                <a:cs typeface="Times New Roman" panose="02020603050405020304" pitchFamily="18" charset="0"/>
              </a:rPr>
              <a:t>                 </a:t>
            </a:r>
            <a:r>
              <a:rPr lang="en-US" b="0" i="0" dirty="0">
                <a:solidFill>
                  <a:srgbClr val="333333"/>
                </a:solidFill>
                <a:effectLst/>
                <a:latin typeface="Times New Roman" panose="02020603050405020304" pitchFamily="18" charset="0"/>
                <a:cs typeface="Times New Roman" panose="02020603050405020304" pitchFamily="18" charset="0"/>
              </a:rPr>
              <a:t>=</a:t>
            </a:r>
            <a:r>
              <a:rPr lang="en-US" b="1" i="0" dirty="0">
                <a:solidFill>
                  <a:srgbClr val="333333"/>
                </a:solidFill>
                <a:effectLst/>
                <a:latin typeface="Times New Roman" panose="02020603050405020304" pitchFamily="18" charset="0"/>
                <a:cs typeface="Times New Roman" panose="02020603050405020304" pitchFamily="18" charset="0"/>
              </a:rPr>
              <a:t>(22)</a:t>
            </a:r>
            <a:r>
              <a:rPr lang="en-US" b="1" i="0" baseline="-25000" dirty="0">
                <a:solidFill>
                  <a:srgbClr val="333333"/>
                </a:solidFill>
                <a:effectLst/>
                <a:latin typeface="Times New Roman" panose="02020603050405020304" pitchFamily="18" charset="0"/>
                <a:cs typeface="Times New Roman" panose="02020603050405020304" pitchFamily="18" charset="0"/>
              </a:rPr>
              <a:t>10</a:t>
            </a:r>
            <a:br>
              <a:rPr lang="en-US" b="0" i="0" dirty="0">
                <a:solidFill>
                  <a:srgbClr val="333333"/>
                </a:solidFill>
                <a:effectLst/>
                <a:latin typeface="Times New Roman" panose="02020603050405020304" pitchFamily="18" charset="0"/>
                <a:cs typeface="Times New Roman" panose="02020603050405020304" pitchFamily="18" charset="0"/>
              </a:rPr>
            </a:br>
            <a:r>
              <a:rPr lang="en-US" b="1" dirty="0">
                <a:solidFill>
                  <a:srgbClr val="333333"/>
                </a:solidFill>
                <a:latin typeface="Times New Roman" panose="02020603050405020304" pitchFamily="18" charset="0"/>
                <a:cs typeface="Times New Roman" panose="02020603050405020304" pitchFamily="18" charset="0"/>
              </a:rPr>
              <a:t>		</a:t>
            </a:r>
            <a:endParaRPr lang="en-US" b="0" i="0" dirty="0">
              <a:solidFill>
                <a:srgbClr val="333333"/>
              </a:solidFill>
              <a:effectLst/>
              <a:latin typeface="Times New Roman" panose="02020603050405020304" pitchFamily="18" charset="0"/>
              <a:cs typeface="Times New Roman" panose="02020603050405020304" pitchFamily="18" charset="0"/>
            </a:endParaRPr>
          </a:p>
          <a:p>
            <a:pPr marL="0" indent="0">
              <a:buNone/>
            </a:pPr>
            <a:r>
              <a:rPr lang="en-US" b="1" i="0" dirty="0">
                <a:solidFill>
                  <a:srgbClr val="0070C0"/>
                </a:solidFill>
                <a:effectLst/>
                <a:latin typeface="Times New Roman" panose="02020603050405020304" pitchFamily="18" charset="0"/>
                <a:cs typeface="Times New Roman" panose="02020603050405020304" pitchFamily="18" charset="0"/>
              </a:rPr>
              <a:t>Example 2 : (10110.001)</a:t>
            </a:r>
            <a:r>
              <a:rPr lang="en-US" b="1" i="0" baseline="-25000" dirty="0">
                <a:solidFill>
                  <a:srgbClr val="0070C0"/>
                </a:solidFill>
                <a:effectLst/>
                <a:latin typeface="Times New Roman" panose="02020603050405020304" pitchFamily="18" charset="0"/>
                <a:cs typeface="Times New Roman" panose="02020603050405020304" pitchFamily="18" charset="0"/>
              </a:rPr>
              <a:t>2</a:t>
            </a:r>
            <a:endParaRPr lang="en-US" b="0" i="0" dirty="0">
              <a:solidFill>
                <a:srgbClr val="0070C0"/>
              </a:solidFill>
              <a:effectLst/>
              <a:latin typeface="Times New Roman" panose="02020603050405020304" pitchFamily="18" charset="0"/>
              <a:cs typeface="Times New Roman" panose="02020603050405020304" pitchFamily="18" charset="0"/>
            </a:endParaRPr>
          </a:p>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(10110.001)</a:t>
            </a:r>
            <a:r>
              <a:rPr lang="en-US" b="1" i="0" baseline="-25000" dirty="0">
                <a:solidFill>
                  <a:srgbClr val="333333"/>
                </a:solidFill>
                <a:effectLst/>
                <a:latin typeface="Times New Roman" panose="02020603050405020304" pitchFamily="18" charset="0"/>
                <a:cs typeface="Times New Roman" panose="02020603050405020304" pitchFamily="18" charset="0"/>
              </a:rPr>
              <a:t>2  </a:t>
            </a:r>
            <a:r>
              <a:rPr lang="en-US" b="0" i="0" dirty="0">
                <a:solidFill>
                  <a:srgbClr val="333333"/>
                </a:solidFill>
                <a:effectLst/>
                <a:latin typeface="Times New Roman" panose="02020603050405020304" pitchFamily="18" charset="0"/>
                <a:cs typeface="Times New Roman" panose="02020603050405020304" pitchFamily="18" charset="0"/>
              </a:rPr>
              <a:t>=(1×2</a:t>
            </a:r>
            <a:r>
              <a:rPr lang="en-US" b="0" i="0" baseline="30000" dirty="0">
                <a:solidFill>
                  <a:srgbClr val="333333"/>
                </a:solidFill>
                <a:effectLst/>
                <a:latin typeface="Times New Roman" panose="02020603050405020304" pitchFamily="18" charset="0"/>
                <a:cs typeface="Times New Roman" panose="02020603050405020304" pitchFamily="18" charset="0"/>
              </a:rPr>
              <a:t>4</a:t>
            </a:r>
            <a:r>
              <a:rPr lang="en-US" b="0" i="0" dirty="0">
                <a:solidFill>
                  <a:srgbClr val="333333"/>
                </a:solidFill>
                <a:effectLst/>
                <a:latin typeface="Times New Roman" panose="02020603050405020304" pitchFamily="18" charset="0"/>
                <a:cs typeface="Times New Roman" panose="02020603050405020304" pitchFamily="18" charset="0"/>
              </a:rPr>
              <a:t>)+(0×2</a:t>
            </a:r>
            <a:r>
              <a:rPr lang="en-US" b="0" i="0" baseline="30000" dirty="0">
                <a:solidFill>
                  <a:srgbClr val="333333"/>
                </a:solidFill>
                <a:effectLst/>
                <a:latin typeface="Times New Roman" panose="02020603050405020304" pitchFamily="18" charset="0"/>
                <a:cs typeface="Times New Roman" panose="02020603050405020304" pitchFamily="18" charset="0"/>
              </a:rPr>
              <a:t>3</a:t>
            </a:r>
            <a:r>
              <a:rPr lang="en-US" b="0" i="0" dirty="0">
                <a:solidFill>
                  <a:srgbClr val="333333"/>
                </a:solidFill>
                <a:effectLst/>
                <a:latin typeface="Times New Roman" panose="02020603050405020304" pitchFamily="18" charset="0"/>
                <a:cs typeface="Times New Roman" panose="02020603050405020304" pitchFamily="18" charset="0"/>
              </a:rPr>
              <a:t>)+(1×2</a:t>
            </a:r>
            <a:r>
              <a:rPr lang="en-US" b="0" i="0" baseline="30000" dirty="0">
                <a:solidFill>
                  <a:srgbClr val="333333"/>
                </a:solidFill>
                <a:effectLst/>
                <a:latin typeface="Times New Roman" panose="02020603050405020304" pitchFamily="18" charset="0"/>
                <a:cs typeface="Times New Roman" panose="02020603050405020304" pitchFamily="18" charset="0"/>
              </a:rPr>
              <a:t>2</a:t>
            </a:r>
            <a:r>
              <a:rPr lang="en-US" b="0" i="0" dirty="0">
                <a:solidFill>
                  <a:srgbClr val="333333"/>
                </a:solidFill>
                <a:effectLst/>
                <a:latin typeface="Times New Roman" panose="02020603050405020304" pitchFamily="18" charset="0"/>
                <a:cs typeface="Times New Roman" panose="02020603050405020304" pitchFamily="18" charset="0"/>
              </a:rPr>
              <a:t>)+(1×2</a:t>
            </a:r>
            <a:r>
              <a:rPr lang="en-US" b="0" i="0" baseline="30000" dirty="0">
                <a:solidFill>
                  <a:srgbClr val="333333"/>
                </a:solidFill>
                <a:effectLst/>
                <a:latin typeface="Times New Roman" panose="02020603050405020304" pitchFamily="18" charset="0"/>
                <a:cs typeface="Times New Roman" panose="02020603050405020304" pitchFamily="18" charset="0"/>
              </a:rPr>
              <a:t>1</a:t>
            </a:r>
            <a:r>
              <a:rPr lang="en-US" b="0" i="0" dirty="0">
                <a:solidFill>
                  <a:srgbClr val="333333"/>
                </a:solidFill>
                <a:effectLst/>
                <a:latin typeface="Times New Roman" panose="02020603050405020304" pitchFamily="18" charset="0"/>
                <a:cs typeface="Times New Roman" panose="02020603050405020304" pitchFamily="18" charset="0"/>
              </a:rPr>
              <a:t>)+(0×2</a:t>
            </a:r>
            <a:r>
              <a:rPr lang="en-US" b="0" i="0" baseline="30000" dirty="0">
                <a:solidFill>
                  <a:srgbClr val="333333"/>
                </a:solidFill>
                <a:effectLst/>
                <a:latin typeface="Times New Roman" panose="02020603050405020304" pitchFamily="18" charset="0"/>
                <a:cs typeface="Times New Roman" panose="02020603050405020304" pitchFamily="18" charset="0"/>
              </a:rPr>
              <a:t>0</a:t>
            </a:r>
            <a:r>
              <a:rPr lang="en-US" b="0" i="0" dirty="0">
                <a:solidFill>
                  <a:srgbClr val="333333"/>
                </a:solidFill>
                <a:effectLst/>
                <a:latin typeface="Times New Roman" panose="02020603050405020304" pitchFamily="18" charset="0"/>
                <a:cs typeface="Times New Roman" panose="02020603050405020304" pitchFamily="18" charset="0"/>
              </a:rPr>
              <a:t>)+(0×2</a:t>
            </a:r>
            <a:r>
              <a:rPr lang="en-US" b="0" i="0" baseline="30000" dirty="0">
                <a:solidFill>
                  <a:srgbClr val="333333"/>
                </a:solidFill>
                <a:effectLst/>
                <a:latin typeface="Times New Roman" panose="02020603050405020304" pitchFamily="18" charset="0"/>
                <a:cs typeface="Times New Roman" panose="02020603050405020304" pitchFamily="18" charset="0"/>
              </a:rPr>
              <a:t>-1</a:t>
            </a:r>
            <a:r>
              <a:rPr lang="en-US" b="0" i="0" dirty="0">
                <a:solidFill>
                  <a:srgbClr val="333333"/>
                </a:solidFill>
                <a:effectLst/>
                <a:latin typeface="Times New Roman" panose="02020603050405020304" pitchFamily="18" charset="0"/>
                <a:cs typeface="Times New Roman" panose="02020603050405020304" pitchFamily="18" charset="0"/>
              </a:rPr>
              <a:t>)+(0×2</a:t>
            </a:r>
            <a:r>
              <a:rPr lang="en-US" b="0" i="0" baseline="30000" dirty="0">
                <a:solidFill>
                  <a:srgbClr val="333333"/>
                </a:solidFill>
                <a:effectLst/>
                <a:latin typeface="Times New Roman" panose="02020603050405020304" pitchFamily="18" charset="0"/>
                <a:cs typeface="Times New Roman" panose="02020603050405020304" pitchFamily="18" charset="0"/>
              </a:rPr>
              <a:t>-2</a:t>
            </a:r>
            <a:r>
              <a:rPr lang="en-US" b="0" i="0" dirty="0">
                <a:solidFill>
                  <a:srgbClr val="333333"/>
                </a:solidFill>
                <a:effectLst/>
                <a:latin typeface="Times New Roman" panose="02020603050405020304" pitchFamily="18" charset="0"/>
                <a:cs typeface="Times New Roman" panose="02020603050405020304" pitchFamily="18" charset="0"/>
              </a:rPr>
              <a:t>)+(1×2</a:t>
            </a:r>
            <a:r>
              <a:rPr lang="en-US" b="0" i="0" baseline="30000" dirty="0">
                <a:solidFill>
                  <a:srgbClr val="333333"/>
                </a:solidFill>
                <a:effectLst/>
                <a:latin typeface="Times New Roman" panose="02020603050405020304" pitchFamily="18" charset="0"/>
                <a:cs typeface="Times New Roman" panose="02020603050405020304" pitchFamily="18" charset="0"/>
              </a:rPr>
              <a:t>-3</a:t>
            </a:r>
            <a:r>
              <a:rPr lang="en-US" b="0" i="0" dirty="0">
                <a:solidFill>
                  <a:srgbClr val="333333"/>
                </a:solidFill>
                <a:effectLst/>
                <a:latin typeface="Times New Roman" panose="02020603050405020304" pitchFamily="18" charset="0"/>
                <a:cs typeface="Times New Roman" panose="02020603050405020304" pitchFamily="18" charset="0"/>
              </a:rPr>
              <a:t>)</a:t>
            </a:r>
            <a:br>
              <a:rPr lang="en-US" b="0" i="0" dirty="0">
                <a:solidFill>
                  <a:srgbClr val="333333"/>
                </a:solidFill>
                <a:effectLst/>
                <a:latin typeface="Times New Roman" panose="02020603050405020304" pitchFamily="18" charset="0"/>
                <a:cs typeface="Times New Roman" panose="02020603050405020304" pitchFamily="18" charset="0"/>
              </a:rPr>
            </a:br>
            <a:r>
              <a:rPr lang="en-US" b="0" i="0" dirty="0">
                <a:solidFill>
                  <a:srgbClr val="333333"/>
                </a:solidFill>
                <a:effectLst/>
                <a:latin typeface="Times New Roman" panose="02020603050405020304" pitchFamily="18" charset="0"/>
                <a:cs typeface="Times New Roman" panose="02020603050405020304" pitchFamily="18" charset="0"/>
              </a:rPr>
              <a:t>		</a:t>
            </a:r>
          </a:p>
          <a:p>
            <a:pPr marL="0" indent="0">
              <a:buNone/>
            </a:pPr>
            <a:r>
              <a:rPr lang="en-US" dirty="0">
                <a:solidFill>
                  <a:srgbClr val="333333"/>
                </a:solidFill>
                <a:latin typeface="Times New Roman" panose="02020603050405020304" pitchFamily="18" charset="0"/>
                <a:cs typeface="Times New Roman" panose="02020603050405020304" pitchFamily="18" charset="0"/>
              </a:rPr>
              <a:t>                      </a:t>
            </a:r>
            <a:r>
              <a:rPr lang="en-US" b="0" i="0" dirty="0">
                <a:solidFill>
                  <a:srgbClr val="333333"/>
                </a:solidFill>
                <a:effectLst/>
                <a:latin typeface="Times New Roman" panose="02020603050405020304" pitchFamily="18" charset="0"/>
                <a:cs typeface="Times New Roman" panose="02020603050405020304" pitchFamily="18" charset="0"/>
              </a:rPr>
              <a:t>=(1×16)+(0×8)+(1×4)+(1×2)+(0×1)+(0×1⁄2)+(0×1⁄4)+(1×1⁄8)</a:t>
            </a:r>
            <a:br>
              <a:rPr lang="en-US" b="0" i="0" dirty="0">
                <a:solidFill>
                  <a:srgbClr val="333333"/>
                </a:solidFill>
                <a:effectLst/>
                <a:latin typeface="Times New Roman" panose="02020603050405020304" pitchFamily="18" charset="0"/>
                <a:cs typeface="Times New Roman" panose="02020603050405020304" pitchFamily="18" charset="0"/>
              </a:rPr>
            </a:br>
            <a:r>
              <a:rPr lang="en-US" b="1" dirty="0">
                <a:solidFill>
                  <a:srgbClr val="333333"/>
                </a:solidFill>
                <a:latin typeface="Times New Roman" panose="02020603050405020304" pitchFamily="18" charset="0"/>
                <a:cs typeface="Times New Roman" panose="02020603050405020304" pitchFamily="18" charset="0"/>
              </a:rPr>
              <a:t>		</a:t>
            </a:r>
          </a:p>
          <a:p>
            <a:pPr marL="0" indent="0">
              <a:buNone/>
            </a:pPr>
            <a:r>
              <a:rPr lang="en-US" b="0" i="0" dirty="0">
                <a:solidFill>
                  <a:srgbClr val="333333"/>
                </a:solidFill>
                <a:effectLst/>
                <a:latin typeface="Times New Roman" panose="02020603050405020304" pitchFamily="18" charset="0"/>
                <a:cs typeface="Times New Roman" panose="02020603050405020304" pitchFamily="18" charset="0"/>
              </a:rPr>
              <a:t>                       =16+0+4+2+0+0+0+0.125 =</a:t>
            </a:r>
            <a:r>
              <a:rPr lang="en-US" b="1" i="0" dirty="0">
                <a:solidFill>
                  <a:srgbClr val="333333"/>
                </a:solidFill>
                <a:effectLst/>
                <a:latin typeface="Times New Roman" panose="02020603050405020304" pitchFamily="18" charset="0"/>
                <a:cs typeface="Times New Roman" panose="02020603050405020304" pitchFamily="18" charset="0"/>
              </a:rPr>
              <a:t>(22.125 )</a:t>
            </a:r>
            <a:r>
              <a:rPr lang="en-US" b="1" i="0" baseline="-25000" dirty="0">
                <a:solidFill>
                  <a:srgbClr val="333333"/>
                </a:solidFill>
                <a:effectLst/>
                <a:latin typeface="Times New Roman" panose="02020603050405020304" pitchFamily="18" charset="0"/>
                <a:cs typeface="Times New Roman" panose="02020603050405020304" pitchFamily="18" charset="0"/>
              </a:rPr>
              <a:t>10</a:t>
            </a:r>
            <a:endParaRPr lang="en-US" b="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8557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3AC1-F497-ECDB-1101-C2B239F64F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A58A92-4B19-6CDE-7F20-F59C4348701F}"/>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Convert  the following binary number to decimal</a:t>
            </a:r>
          </a:p>
          <a:p>
            <a:pPr marL="514350" indent="-514350">
              <a:buFont typeface="+mj-lt"/>
              <a:buAutoNum type="arabicParenR"/>
            </a:pPr>
            <a:r>
              <a:rPr lang="en-US" dirty="0">
                <a:latin typeface="Times New Roman" panose="02020603050405020304" pitchFamily="18" charset="0"/>
                <a:cs typeface="Times New Roman" panose="02020603050405020304" pitchFamily="18" charset="0"/>
              </a:rPr>
              <a:t>10101</a:t>
            </a:r>
            <a:r>
              <a:rPr lang="en-US" baseline="-25000" dirty="0">
                <a:latin typeface="Times New Roman" panose="02020603050405020304" pitchFamily="18" charset="0"/>
                <a:cs typeface="Times New Roman" panose="02020603050405020304" pitchFamily="18" charset="0"/>
              </a:rPr>
              <a:t>2</a:t>
            </a:r>
          </a:p>
          <a:p>
            <a:pPr marL="514350" indent="-514350">
              <a:buFont typeface="+mj-lt"/>
              <a:buAutoNum type="arabicParenR"/>
            </a:pPr>
            <a:r>
              <a:rPr lang="en-IN" dirty="0">
                <a:latin typeface="Times New Roman" panose="02020603050405020304" pitchFamily="18" charset="0"/>
                <a:cs typeface="Times New Roman" panose="02020603050405020304" pitchFamily="18" charset="0"/>
              </a:rPr>
              <a:t>11011.101</a:t>
            </a:r>
            <a:r>
              <a:rPr lang="en-IN" baseline="-25000" dirty="0">
                <a:latin typeface="Times New Roman" panose="02020603050405020304" pitchFamily="18" charset="0"/>
                <a:cs typeface="Times New Roman" panose="02020603050405020304" pitchFamily="18" charset="0"/>
              </a:rPr>
              <a:t>2</a:t>
            </a:r>
          </a:p>
          <a:p>
            <a:pPr marL="514350" indent="-514350">
              <a:buFont typeface="+mj-lt"/>
              <a:buAutoNum type="arabicParenR"/>
            </a:pPr>
            <a:r>
              <a:rPr lang="en-IN" dirty="0">
                <a:latin typeface="Times New Roman" panose="02020603050405020304" pitchFamily="18" charset="0"/>
                <a:cs typeface="Times New Roman" panose="02020603050405020304" pitchFamily="18" charset="0"/>
              </a:rPr>
              <a:t>1001011</a:t>
            </a:r>
            <a:r>
              <a:rPr lang="en-IN" baseline="-25000"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3555819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DB286-04C8-D3CF-2337-16537F32D9F3}"/>
              </a:ext>
            </a:extLst>
          </p:cNvPr>
          <p:cNvSpPr>
            <a:spLocks noGrp="1"/>
          </p:cNvSpPr>
          <p:nvPr>
            <p:ph type="title"/>
          </p:nvPr>
        </p:nvSpPr>
        <p:spPr>
          <a:xfrm>
            <a:off x="838200" y="365125"/>
            <a:ext cx="10515600" cy="900257"/>
          </a:xfrm>
        </p:spPr>
        <p:txBody>
          <a:bodyPr/>
          <a:lstStyle/>
          <a:p>
            <a:r>
              <a:rPr lang="en-IN" b="0" i="0" dirty="0">
                <a:solidFill>
                  <a:srgbClr val="610B4B"/>
                </a:solidFill>
                <a:effectLst/>
                <a:latin typeface="erdana"/>
              </a:rPr>
              <a:t>Binary to Octal Conversion</a:t>
            </a:r>
            <a:endParaRPr lang="en-IN" dirty="0"/>
          </a:p>
        </p:txBody>
      </p:sp>
      <p:sp>
        <p:nvSpPr>
          <p:cNvPr id="3" name="Content Placeholder 2">
            <a:extLst>
              <a:ext uri="{FF2B5EF4-FFF2-40B4-BE49-F238E27FC236}">
                <a16:creationId xmlns:a16="http://schemas.microsoft.com/office/drawing/2014/main" id="{26632C8E-A4BB-00BB-38E4-23DA9C83AD1A}"/>
              </a:ext>
            </a:extLst>
          </p:cNvPr>
          <p:cNvSpPr>
            <a:spLocks noGrp="1"/>
          </p:cNvSpPr>
          <p:nvPr>
            <p:ph idx="1"/>
          </p:nvPr>
        </p:nvSpPr>
        <p:spPr>
          <a:xfrm>
            <a:off x="230909" y="1265382"/>
            <a:ext cx="10993582" cy="5329382"/>
          </a:xfrm>
        </p:spPr>
        <p:txBody>
          <a:bodyPr>
            <a:normAutofit fontScale="92500" lnSpcReduction="10000"/>
          </a:bodyPr>
          <a:lstStyle/>
          <a:p>
            <a:pPr marL="0" indent="0" algn="just">
              <a:buNone/>
            </a:pPr>
            <a:r>
              <a:rPr lang="en-US" sz="2400" b="1" i="0" dirty="0">
                <a:solidFill>
                  <a:srgbClr val="333333"/>
                </a:solidFill>
                <a:effectLst/>
                <a:latin typeface="Times New Roman" panose="02020603050405020304" pitchFamily="18" charset="0"/>
                <a:cs typeface="Times New Roman" panose="02020603050405020304" pitchFamily="18" charset="0"/>
              </a:rPr>
              <a:t>Example 1: (111110101011.0011)</a:t>
            </a:r>
            <a:r>
              <a:rPr lang="en-US" sz="2400" b="1" i="0" baseline="-25000" dirty="0">
                <a:solidFill>
                  <a:srgbClr val="333333"/>
                </a:solidFill>
                <a:effectLst/>
                <a:latin typeface="Times New Roman" panose="02020603050405020304" pitchFamily="18" charset="0"/>
                <a:cs typeface="Times New Roman" panose="02020603050405020304" pitchFamily="18" charset="0"/>
              </a:rPr>
              <a:t>2</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1. Firstly, we make pairs of three bits on both sides of the binary point.</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111       110       101       011.001       1</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On the right side of the binary point, the last pair has only one bit. To make it a complete pair of three bits, we added two zeros on the extreme side.</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111       110       101       011.001       100</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2. Then, we wrote the octal digits, which correspond to each pair.</a:t>
            </a:r>
          </a:p>
          <a:p>
            <a:pPr marL="0" indent="0" algn="just">
              <a:buNone/>
            </a:pPr>
            <a:r>
              <a:rPr lang="en-US" sz="2400" b="1" i="0" dirty="0">
                <a:solidFill>
                  <a:srgbClr val="333333"/>
                </a:solidFill>
                <a:effectLst/>
                <a:latin typeface="Times New Roman" panose="02020603050405020304" pitchFamily="18" charset="0"/>
                <a:cs typeface="Times New Roman" panose="02020603050405020304" pitchFamily="18" charset="0"/>
              </a:rPr>
              <a:t>	(111110101011.0011)</a:t>
            </a:r>
            <a:r>
              <a:rPr lang="en-US" sz="2400" b="1" i="0" baseline="-25000" dirty="0">
                <a:solidFill>
                  <a:srgbClr val="333333"/>
                </a:solidFill>
                <a:effectLst/>
                <a:latin typeface="Times New Roman" panose="02020603050405020304" pitchFamily="18" charset="0"/>
                <a:cs typeface="Times New Roman" panose="02020603050405020304" pitchFamily="18" charset="0"/>
              </a:rPr>
              <a:t>2</a:t>
            </a:r>
            <a:r>
              <a:rPr lang="en-US" sz="2400" b="1" i="0" dirty="0">
                <a:solidFill>
                  <a:srgbClr val="333333"/>
                </a:solidFill>
                <a:effectLst/>
                <a:latin typeface="Times New Roman" panose="02020603050405020304" pitchFamily="18" charset="0"/>
                <a:cs typeface="Times New Roman" panose="02020603050405020304" pitchFamily="18" charset="0"/>
              </a:rPr>
              <a:t>=(7653.14)</a:t>
            </a:r>
            <a:r>
              <a:rPr lang="en-US" sz="2400" b="1" i="0" baseline="-25000" dirty="0">
                <a:solidFill>
                  <a:srgbClr val="333333"/>
                </a:solidFill>
                <a:effectLst/>
                <a:latin typeface="Times New Roman" panose="02020603050405020304" pitchFamily="18" charset="0"/>
                <a:cs typeface="Times New Roman" panose="02020603050405020304" pitchFamily="18" charset="0"/>
              </a:rPr>
              <a:t>8</a:t>
            </a:r>
          </a:p>
          <a:p>
            <a:pPr marL="0" indent="0" algn="just">
              <a:buNone/>
            </a:pPr>
            <a:endParaRPr lang="en-US" sz="2400" b="1" baseline="-250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1" i="0" dirty="0">
                <a:solidFill>
                  <a:srgbClr val="333333"/>
                </a:solidFill>
                <a:effectLst/>
                <a:latin typeface="Times New Roman" panose="02020603050405020304" pitchFamily="18" charset="0"/>
                <a:cs typeface="Times New Roman" panose="02020603050405020304" pitchFamily="18" charset="0"/>
              </a:rPr>
              <a:t>Convert the following binary numbers to octal.</a:t>
            </a:r>
          </a:p>
          <a:p>
            <a:pPr marL="457200" indent="-457200" algn="just">
              <a:buFont typeface="+mj-lt"/>
              <a:buAutoNum type="arabicParenR"/>
            </a:pPr>
            <a:r>
              <a:rPr lang="en-US" sz="2400" b="1" i="0" dirty="0">
                <a:solidFill>
                  <a:srgbClr val="333333"/>
                </a:solidFill>
                <a:effectLst/>
                <a:latin typeface="Times New Roman" panose="02020603050405020304" pitchFamily="18" charset="0"/>
                <a:cs typeface="Times New Roman" panose="02020603050405020304" pitchFamily="18" charset="0"/>
              </a:rPr>
              <a:t>110101.101010</a:t>
            </a:r>
          </a:p>
          <a:p>
            <a:pPr marL="457200" indent="-457200" algn="just">
              <a:buFont typeface="+mj-lt"/>
              <a:buAutoNum type="arabicParenR"/>
            </a:pPr>
            <a:r>
              <a:rPr lang="en-US" sz="2400" b="1" dirty="0">
                <a:solidFill>
                  <a:srgbClr val="333333"/>
                </a:solidFill>
                <a:latin typeface="Times New Roman" panose="02020603050405020304" pitchFamily="18" charset="0"/>
                <a:cs typeface="Times New Roman" panose="02020603050405020304" pitchFamily="18" charset="0"/>
              </a:rPr>
              <a:t>1010</a:t>
            </a:r>
          </a:p>
          <a:p>
            <a:pPr marL="457200" indent="-457200" algn="just">
              <a:buFont typeface="+mj-lt"/>
              <a:buAutoNum type="arabicParenR"/>
            </a:pPr>
            <a:r>
              <a:rPr lang="en-US" sz="2400" b="1" i="0" dirty="0">
                <a:solidFill>
                  <a:srgbClr val="333333"/>
                </a:solidFill>
                <a:effectLst/>
                <a:latin typeface="Times New Roman" panose="02020603050405020304" pitchFamily="18" charset="0"/>
                <a:cs typeface="Times New Roman" panose="02020603050405020304" pitchFamily="18" charset="0"/>
              </a:rPr>
              <a:t>1111.1</a:t>
            </a:r>
          </a:p>
          <a:p>
            <a:pPr marL="457200" indent="-457200" algn="just">
              <a:buFont typeface="+mj-lt"/>
              <a:buAutoNum type="arabicParenR"/>
            </a:pPr>
            <a:r>
              <a:rPr lang="en-US" sz="2400" b="1" dirty="0">
                <a:solidFill>
                  <a:srgbClr val="333333"/>
                </a:solidFill>
                <a:latin typeface="Times New Roman" panose="02020603050405020304" pitchFamily="18" charset="0"/>
                <a:cs typeface="Times New Roman" panose="02020603050405020304" pitchFamily="18" charset="0"/>
              </a:rPr>
              <a:t>10101111001.0111</a:t>
            </a:r>
            <a:endParaRPr lang="en-US" sz="2400" b="1"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9117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59357-DFFF-7484-9A4D-7D31D7C9CBB2}"/>
              </a:ext>
            </a:extLst>
          </p:cNvPr>
          <p:cNvSpPr>
            <a:spLocks noGrp="1"/>
          </p:cNvSpPr>
          <p:nvPr>
            <p:ph type="title"/>
          </p:nvPr>
        </p:nvSpPr>
        <p:spPr/>
        <p:txBody>
          <a:bodyPr/>
          <a:lstStyle/>
          <a:p>
            <a:r>
              <a:rPr lang="en-IN" b="0" i="0" dirty="0">
                <a:solidFill>
                  <a:srgbClr val="610B4B"/>
                </a:solidFill>
                <a:effectLst/>
                <a:latin typeface="erdana"/>
              </a:rPr>
              <a:t>Binary to Hexadecimal Conversion</a:t>
            </a:r>
            <a:br>
              <a:rPr lang="en-IN"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4BE6B13C-79C9-62D7-D9F1-CF853FD1F889}"/>
              </a:ext>
            </a:extLst>
          </p:cNvPr>
          <p:cNvSpPr>
            <a:spLocks noGrp="1"/>
          </p:cNvSpPr>
          <p:nvPr>
            <p:ph idx="1"/>
          </p:nvPr>
        </p:nvSpPr>
        <p:spPr>
          <a:xfrm>
            <a:off x="838200" y="1278194"/>
            <a:ext cx="10515600" cy="4898769"/>
          </a:xfrm>
        </p:spPr>
        <p:txBody>
          <a:bodyPr>
            <a:normAutofit lnSpcReduction="10000"/>
          </a:bodyPr>
          <a:lstStyle/>
          <a:p>
            <a:pPr marL="0" indent="0" algn="just">
              <a:buNone/>
            </a:pPr>
            <a:r>
              <a:rPr lang="en-US" sz="2400" b="1" i="0" dirty="0">
                <a:solidFill>
                  <a:srgbClr val="333333"/>
                </a:solidFill>
                <a:effectLst/>
                <a:latin typeface="Times New Roman" panose="02020603050405020304" pitchFamily="18" charset="0"/>
                <a:cs typeface="Times New Roman" panose="02020603050405020304" pitchFamily="18" charset="0"/>
              </a:rPr>
              <a:t>Example 1: (11110101011.0011)</a:t>
            </a:r>
            <a:r>
              <a:rPr lang="en-US" sz="2400" b="1" i="0" baseline="-25000" dirty="0">
                <a:solidFill>
                  <a:srgbClr val="333333"/>
                </a:solidFill>
                <a:effectLst/>
                <a:latin typeface="Times New Roman" panose="02020603050405020304" pitchFamily="18" charset="0"/>
                <a:cs typeface="Times New Roman" panose="02020603050405020304" pitchFamily="18" charset="0"/>
              </a:rPr>
              <a:t>2</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1. Firstly, we make pairs of four bits on both sides of the binary point.</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111 1010 1011.0011</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On the left side of the binary point, the first pair has three bits. To make it a complete pair of four bits, add one zero on the extreme side.</a:t>
            </a: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0111 1010 1011.0011</a:t>
            </a:r>
          </a:p>
          <a:p>
            <a:pPr marL="0" indent="0">
              <a:buNone/>
            </a:pPr>
            <a:r>
              <a:rPr lang="en-US" sz="2400" b="0" i="0" dirty="0">
                <a:solidFill>
                  <a:srgbClr val="333333"/>
                </a:solidFill>
                <a:effectLst/>
                <a:latin typeface="Times New Roman" panose="02020603050405020304" pitchFamily="18" charset="0"/>
                <a:cs typeface="Times New Roman" panose="02020603050405020304" pitchFamily="18" charset="0"/>
              </a:rPr>
              <a:t>2. Then, we write the hexadecimal digits, which correspond to each pair.</a:t>
            </a:r>
          </a:p>
          <a:p>
            <a:pPr marL="0" indent="0">
              <a:buNone/>
            </a:pPr>
            <a:r>
              <a:rPr lang="en-IN" sz="2400" b="1" i="0" dirty="0">
                <a:solidFill>
                  <a:srgbClr val="333333"/>
                </a:solidFill>
                <a:effectLst/>
                <a:latin typeface="Times New Roman" panose="02020603050405020304" pitchFamily="18" charset="0"/>
                <a:cs typeface="Times New Roman" panose="02020603050405020304" pitchFamily="18" charset="0"/>
              </a:rPr>
              <a:t>	(011110101011.0011)</a:t>
            </a:r>
            <a:r>
              <a:rPr lang="en-IN" sz="2400" b="1" i="0" baseline="-25000" dirty="0">
                <a:solidFill>
                  <a:srgbClr val="333333"/>
                </a:solidFill>
                <a:effectLst/>
                <a:latin typeface="Times New Roman" panose="02020603050405020304" pitchFamily="18" charset="0"/>
                <a:cs typeface="Times New Roman" panose="02020603050405020304" pitchFamily="18" charset="0"/>
              </a:rPr>
              <a:t>2</a:t>
            </a:r>
            <a:r>
              <a:rPr lang="en-IN" sz="2400" b="1" i="0" dirty="0">
                <a:solidFill>
                  <a:srgbClr val="333333"/>
                </a:solidFill>
                <a:effectLst/>
                <a:latin typeface="Times New Roman" panose="02020603050405020304" pitchFamily="18" charset="0"/>
                <a:cs typeface="Times New Roman" panose="02020603050405020304" pitchFamily="18" charset="0"/>
              </a:rPr>
              <a:t>=(7AB.3)</a:t>
            </a:r>
            <a:r>
              <a:rPr lang="en-IN" sz="2400" b="1" i="0" baseline="-25000" dirty="0">
                <a:solidFill>
                  <a:srgbClr val="333333"/>
                </a:solidFill>
                <a:effectLst/>
                <a:latin typeface="Times New Roman" panose="02020603050405020304" pitchFamily="18" charset="0"/>
                <a:cs typeface="Times New Roman" panose="02020603050405020304" pitchFamily="18" charset="0"/>
              </a:rPr>
              <a:t>16</a:t>
            </a:r>
          </a:p>
          <a:p>
            <a:pPr marL="0" indent="0" algn="just">
              <a:buNone/>
            </a:pPr>
            <a:endParaRPr lang="en-US" sz="2400" b="1" baseline="-250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1" i="0" dirty="0">
                <a:solidFill>
                  <a:srgbClr val="333333"/>
                </a:solidFill>
                <a:effectLst/>
                <a:latin typeface="Times New Roman" panose="02020603050405020304" pitchFamily="18" charset="0"/>
                <a:cs typeface="Times New Roman" panose="02020603050405020304" pitchFamily="18" charset="0"/>
              </a:rPr>
              <a:t>Convert the following binary numbers to octal.</a:t>
            </a:r>
          </a:p>
          <a:p>
            <a:pPr marL="457200" indent="-457200" algn="just">
              <a:buFont typeface="+mj-lt"/>
              <a:buAutoNum type="arabicParenR"/>
            </a:pPr>
            <a:r>
              <a:rPr lang="en-US" sz="2400" b="1" dirty="0">
                <a:solidFill>
                  <a:srgbClr val="333333"/>
                </a:solidFill>
                <a:latin typeface="Times New Roman" panose="02020603050405020304" pitchFamily="18" charset="0"/>
                <a:cs typeface="Times New Roman" panose="02020603050405020304" pitchFamily="18" charset="0"/>
              </a:rPr>
              <a:t>1011011011=0010 1101 1011= 2DB</a:t>
            </a:r>
          </a:p>
          <a:p>
            <a:pPr marL="457200" indent="-457200" algn="just">
              <a:buFont typeface="+mj-lt"/>
              <a:buAutoNum type="arabicParenR"/>
            </a:pPr>
            <a:r>
              <a:rPr lang="en-US" sz="2400" b="1" i="0" dirty="0">
                <a:solidFill>
                  <a:srgbClr val="333333"/>
                </a:solidFill>
                <a:effectLst/>
                <a:latin typeface="Times New Roman" panose="02020603050405020304" pitchFamily="18" charset="0"/>
                <a:cs typeface="Times New Roman" panose="02020603050405020304" pitchFamily="18" charset="0"/>
              </a:rPr>
              <a:t>01011111011.011111</a:t>
            </a:r>
            <a:r>
              <a:rPr lang="en-US" sz="2400" b="1" i="0">
                <a:solidFill>
                  <a:srgbClr val="333333"/>
                </a:solidFill>
                <a:effectLst/>
                <a:latin typeface="Times New Roman" panose="02020603050405020304" pitchFamily="18" charset="0"/>
                <a:cs typeface="Times New Roman" panose="02020603050405020304" pitchFamily="18" charset="0"/>
              </a:rPr>
              <a:t>= 0010 1111 1011.0111 1100= 2FB.7C</a:t>
            </a:r>
            <a:endParaRPr lang="en-US" sz="2400" b="1"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470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731818" y="130058"/>
            <a:ext cx="7279737" cy="4095578"/>
          </a:xfrm>
          <a:prstGeom prst="rect">
            <a:avLst/>
          </a:prstGeom>
        </p:spPr>
      </p:pic>
      <p:pic>
        <p:nvPicPr>
          <p:cNvPr id="5" name="Picture 4"/>
          <p:cNvPicPr>
            <a:picLocks noChangeAspect="1"/>
          </p:cNvPicPr>
          <p:nvPr/>
        </p:nvPicPr>
        <p:blipFill rotWithShape="1">
          <a:blip r:embed="rId3" cstate="print"/>
          <a:srcRect t="13379" b="11297"/>
          <a:stretch/>
        </p:blipFill>
        <p:spPr>
          <a:xfrm>
            <a:off x="1882488" y="4225636"/>
            <a:ext cx="6665767" cy="2272145"/>
          </a:xfrm>
          <a:prstGeom prst="rect">
            <a:avLst/>
          </a:prstGeom>
        </p:spPr>
      </p:pic>
    </p:spTree>
    <p:extLst>
      <p:ext uri="{BB962C8B-B14F-4D97-AF65-F5344CB8AC3E}">
        <p14:creationId xmlns:p14="http://schemas.microsoft.com/office/powerpoint/2010/main" val="977494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685692" y="734291"/>
            <a:ext cx="10581724" cy="5278581"/>
          </a:xfrm>
          <a:prstGeom prst="rect">
            <a:avLst/>
          </a:prstGeom>
        </p:spPr>
      </p:pic>
    </p:spTree>
    <p:extLst>
      <p:ext uri="{BB962C8B-B14F-4D97-AF65-F5344CB8AC3E}">
        <p14:creationId xmlns:p14="http://schemas.microsoft.com/office/powerpoint/2010/main" val="1249050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48008" y="350638"/>
            <a:ext cx="11902677" cy="2046198"/>
          </a:xfrm>
          <a:prstGeom prst="rect">
            <a:avLst/>
          </a:prstGeom>
        </p:spPr>
      </p:pic>
      <p:pic>
        <p:nvPicPr>
          <p:cNvPr id="5" name="Picture 4"/>
          <p:cNvPicPr>
            <a:picLocks noChangeAspect="1"/>
          </p:cNvPicPr>
          <p:nvPr/>
        </p:nvPicPr>
        <p:blipFill>
          <a:blip r:embed="rId3" cstate="print"/>
          <a:stretch>
            <a:fillRect/>
          </a:stretch>
        </p:blipFill>
        <p:spPr>
          <a:xfrm>
            <a:off x="148008" y="2189018"/>
            <a:ext cx="11902677" cy="1149927"/>
          </a:xfrm>
          <a:prstGeom prst="rect">
            <a:avLst/>
          </a:prstGeom>
        </p:spPr>
      </p:pic>
      <p:pic>
        <p:nvPicPr>
          <p:cNvPr id="6" name="Picture 5"/>
          <p:cNvPicPr>
            <a:picLocks noChangeAspect="1"/>
          </p:cNvPicPr>
          <p:nvPr/>
        </p:nvPicPr>
        <p:blipFill rotWithShape="1">
          <a:blip r:embed="rId4" cstate="print"/>
          <a:srcRect l="5746" t="7834"/>
          <a:stretch/>
        </p:blipFill>
        <p:spPr>
          <a:xfrm>
            <a:off x="226403" y="3920836"/>
            <a:ext cx="11745885" cy="549907"/>
          </a:xfrm>
          <a:prstGeom prst="rect">
            <a:avLst/>
          </a:prstGeom>
          <a:ln w="12700">
            <a:solidFill>
              <a:srgbClr val="FF0000"/>
            </a:solidFill>
          </a:ln>
        </p:spPr>
      </p:pic>
    </p:spTree>
    <p:extLst>
      <p:ext uri="{BB962C8B-B14F-4D97-AF65-F5344CB8AC3E}">
        <p14:creationId xmlns:p14="http://schemas.microsoft.com/office/powerpoint/2010/main" val="876076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81465" y="0"/>
            <a:ext cx="11766040" cy="2173913"/>
          </a:xfrm>
          <a:prstGeom prst="rect">
            <a:avLst/>
          </a:prstGeom>
        </p:spPr>
      </p:pic>
      <p:pic>
        <p:nvPicPr>
          <p:cNvPr id="6" name="Picture 5"/>
          <p:cNvPicPr>
            <a:picLocks noChangeAspect="1"/>
          </p:cNvPicPr>
          <p:nvPr/>
        </p:nvPicPr>
        <p:blipFill>
          <a:blip r:embed="rId3" cstate="print"/>
          <a:stretch>
            <a:fillRect/>
          </a:stretch>
        </p:blipFill>
        <p:spPr>
          <a:xfrm>
            <a:off x="318963" y="2173912"/>
            <a:ext cx="11702336" cy="4282305"/>
          </a:xfrm>
          <a:prstGeom prst="rect">
            <a:avLst/>
          </a:prstGeom>
        </p:spPr>
      </p:pic>
    </p:spTree>
    <p:extLst>
      <p:ext uri="{BB962C8B-B14F-4D97-AF65-F5344CB8AC3E}">
        <p14:creationId xmlns:p14="http://schemas.microsoft.com/office/powerpoint/2010/main" val="1366071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798131" y="797484"/>
            <a:ext cx="10453492" cy="726516"/>
          </a:xfrm>
          <a:prstGeom prst="rect">
            <a:avLst/>
          </a:prstGeom>
        </p:spPr>
      </p:pic>
      <p:pic>
        <p:nvPicPr>
          <p:cNvPr id="5" name="Picture 4"/>
          <p:cNvPicPr>
            <a:picLocks noChangeAspect="1"/>
          </p:cNvPicPr>
          <p:nvPr/>
        </p:nvPicPr>
        <p:blipFill>
          <a:blip r:embed="rId3" cstate="print"/>
          <a:stretch>
            <a:fillRect/>
          </a:stretch>
        </p:blipFill>
        <p:spPr>
          <a:xfrm>
            <a:off x="798130" y="2026974"/>
            <a:ext cx="10576451" cy="3972044"/>
          </a:xfrm>
          <a:prstGeom prst="rect">
            <a:avLst/>
          </a:prstGeom>
        </p:spPr>
      </p:pic>
    </p:spTree>
    <p:extLst>
      <p:ext uri="{BB962C8B-B14F-4D97-AF65-F5344CB8AC3E}">
        <p14:creationId xmlns:p14="http://schemas.microsoft.com/office/powerpoint/2010/main" val="326315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37897" y="616940"/>
            <a:ext cx="10954911" cy="893205"/>
          </a:xfrm>
          <a:prstGeom prst="rect">
            <a:avLst/>
          </a:prstGeom>
        </p:spPr>
      </p:pic>
      <p:pic>
        <p:nvPicPr>
          <p:cNvPr id="5" name="Picture 4"/>
          <p:cNvPicPr>
            <a:picLocks noChangeAspect="1"/>
          </p:cNvPicPr>
          <p:nvPr/>
        </p:nvPicPr>
        <p:blipFill>
          <a:blip r:embed="rId3" cstate="print"/>
          <a:stretch>
            <a:fillRect/>
          </a:stretch>
        </p:blipFill>
        <p:spPr>
          <a:xfrm>
            <a:off x="537897" y="1971598"/>
            <a:ext cx="11357798" cy="2863638"/>
          </a:xfrm>
          <a:prstGeom prst="rect">
            <a:avLst/>
          </a:prstGeom>
        </p:spPr>
      </p:pic>
    </p:spTree>
    <p:extLst>
      <p:ext uri="{BB962C8B-B14F-4D97-AF65-F5344CB8AC3E}">
        <p14:creationId xmlns:p14="http://schemas.microsoft.com/office/powerpoint/2010/main" val="348425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56080" y="590101"/>
            <a:ext cx="10968165" cy="767643"/>
          </a:xfrm>
          <a:prstGeom prst="rect">
            <a:avLst/>
          </a:prstGeom>
        </p:spPr>
      </p:pic>
      <p:pic>
        <p:nvPicPr>
          <p:cNvPr id="5" name="Picture 4"/>
          <p:cNvPicPr>
            <a:picLocks noChangeAspect="1"/>
          </p:cNvPicPr>
          <p:nvPr/>
        </p:nvPicPr>
        <p:blipFill>
          <a:blip r:embed="rId3" cstate="print"/>
          <a:stretch>
            <a:fillRect/>
          </a:stretch>
        </p:blipFill>
        <p:spPr>
          <a:xfrm>
            <a:off x="556080" y="1555114"/>
            <a:ext cx="10847401" cy="2157904"/>
          </a:xfrm>
          <a:prstGeom prst="rect">
            <a:avLst/>
          </a:prstGeom>
        </p:spPr>
      </p:pic>
      <p:pic>
        <p:nvPicPr>
          <p:cNvPr id="6" name="Picture 5"/>
          <p:cNvPicPr>
            <a:picLocks noChangeAspect="1"/>
          </p:cNvPicPr>
          <p:nvPr/>
        </p:nvPicPr>
        <p:blipFill>
          <a:blip r:embed="rId4" cstate="print"/>
          <a:stretch>
            <a:fillRect/>
          </a:stretch>
        </p:blipFill>
        <p:spPr>
          <a:xfrm>
            <a:off x="403184" y="4076642"/>
            <a:ext cx="11153192" cy="1201940"/>
          </a:xfrm>
          <a:prstGeom prst="rect">
            <a:avLst/>
          </a:prstGeom>
        </p:spPr>
      </p:pic>
    </p:spTree>
    <p:extLst>
      <p:ext uri="{BB962C8B-B14F-4D97-AF65-F5344CB8AC3E}">
        <p14:creationId xmlns:p14="http://schemas.microsoft.com/office/powerpoint/2010/main" val="86016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67790" y="734291"/>
            <a:ext cx="10300209" cy="817418"/>
          </a:xfrm>
          <a:prstGeom prst="rect">
            <a:avLst/>
          </a:prstGeom>
        </p:spPr>
      </p:pic>
      <p:pic>
        <p:nvPicPr>
          <p:cNvPr id="5" name="Picture 4"/>
          <p:cNvPicPr>
            <a:picLocks noChangeAspect="1"/>
          </p:cNvPicPr>
          <p:nvPr/>
        </p:nvPicPr>
        <p:blipFill>
          <a:blip r:embed="rId3" cstate="print"/>
          <a:stretch>
            <a:fillRect/>
          </a:stretch>
        </p:blipFill>
        <p:spPr>
          <a:xfrm>
            <a:off x="367791" y="1697967"/>
            <a:ext cx="11341985" cy="3164977"/>
          </a:xfrm>
          <a:prstGeom prst="rect">
            <a:avLst/>
          </a:prstGeom>
        </p:spPr>
      </p:pic>
    </p:spTree>
    <p:extLst>
      <p:ext uri="{BB962C8B-B14F-4D97-AF65-F5344CB8AC3E}">
        <p14:creationId xmlns:p14="http://schemas.microsoft.com/office/powerpoint/2010/main" val="282250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51316" y="639886"/>
            <a:ext cx="10733207" cy="994949"/>
          </a:xfrm>
          <a:prstGeom prst="rect">
            <a:avLst/>
          </a:prstGeom>
        </p:spPr>
      </p:pic>
      <p:pic>
        <p:nvPicPr>
          <p:cNvPr id="5" name="Picture 4"/>
          <p:cNvPicPr>
            <a:picLocks noChangeAspect="1"/>
          </p:cNvPicPr>
          <p:nvPr/>
        </p:nvPicPr>
        <p:blipFill>
          <a:blip r:embed="rId3" cstate="print"/>
          <a:stretch>
            <a:fillRect/>
          </a:stretch>
        </p:blipFill>
        <p:spPr>
          <a:xfrm>
            <a:off x="551315" y="1797993"/>
            <a:ext cx="10252253" cy="2538480"/>
          </a:xfrm>
          <a:prstGeom prst="rect">
            <a:avLst/>
          </a:prstGeom>
        </p:spPr>
      </p:pic>
    </p:spTree>
    <p:extLst>
      <p:ext uri="{BB962C8B-B14F-4D97-AF65-F5344CB8AC3E}">
        <p14:creationId xmlns:p14="http://schemas.microsoft.com/office/powerpoint/2010/main" val="18775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10403" y="723034"/>
            <a:ext cx="11743619" cy="5054311"/>
          </a:xfrm>
          <a:prstGeom prst="rect">
            <a:avLst/>
          </a:prstGeom>
        </p:spPr>
      </p:pic>
    </p:spTree>
    <p:extLst>
      <p:ext uri="{BB962C8B-B14F-4D97-AF65-F5344CB8AC3E}">
        <p14:creationId xmlns:p14="http://schemas.microsoft.com/office/powerpoint/2010/main" val="3180627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34735" y="763273"/>
            <a:ext cx="11053701" cy="760728"/>
          </a:xfrm>
          <a:prstGeom prst="rect">
            <a:avLst/>
          </a:prstGeom>
        </p:spPr>
      </p:pic>
      <p:pic>
        <p:nvPicPr>
          <p:cNvPr id="5" name="Picture 4"/>
          <p:cNvPicPr>
            <a:picLocks noChangeAspect="1"/>
          </p:cNvPicPr>
          <p:nvPr/>
        </p:nvPicPr>
        <p:blipFill>
          <a:blip r:embed="rId3" cstate="print"/>
          <a:stretch>
            <a:fillRect/>
          </a:stretch>
        </p:blipFill>
        <p:spPr>
          <a:xfrm>
            <a:off x="334735" y="1975428"/>
            <a:ext cx="11320297" cy="3206172"/>
          </a:xfrm>
          <a:prstGeom prst="rect">
            <a:avLst/>
          </a:prstGeom>
        </p:spPr>
      </p:pic>
    </p:spTree>
    <p:extLst>
      <p:ext uri="{BB962C8B-B14F-4D97-AF65-F5344CB8AC3E}">
        <p14:creationId xmlns:p14="http://schemas.microsoft.com/office/powerpoint/2010/main" val="743961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87928" y="1017010"/>
            <a:ext cx="11191062" cy="3499572"/>
          </a:xfrm>
          <a:prstGeom prst="rect">
            <a:avLst/>
          </a:prstGeom>
        </p:spPr>
      </p:pic>
    </p:spTree>
    <p:extLst>
      <p:ext uri="{BB962C8B-B14F-4D97-AF65-F5344CB8AC3E}">
        <p14:creationId xmlns:p14="http://schemas.microsoft.com/office/powerpoint/2010/main" val="2184408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11790" y="519088"/>
            <a:ext cx="11362226" cy="713965"/>
          </a:xfrm>
          <a:prstGeom prst="rect">
            <a:avLst/>
          </a:prstGeom>
        </p:spPr>
      </p:pic>
      <p:pic>
        <p:nvPicPr>
          <p:cNvPr id="5" name="Picture 4"/>
          <p:cNvPicPr>
            <a:picLocks noChangeAspect="1"/>
          </p:cNvPicPr>
          <p:nvPr/>
        </p:nvPicPr>
        <p:blipFill>
          <a:blip r:embed="rId3" cstate="print"/>
          <a:stretch>
            <a:fillRect/>
          </a:stretch>
        </p:blipFill>
        <p:spPr>
          <a:xfrm>
            <a:off x="434358" y="1579417"/>
            <a:ext cx="11117089" cy="3422073"/>
          </a:xfrm>
          <a:prstGeom prst="rect">
            <a:avLst/>
          </a:prstGeom>
        </p:spPr>
      </p:pic>
    </p:spTree>
    <p:extLst>
      <p:ext uri="{BB962C8B-B14F-4D97-AF65-F5344CB8AC3E}">
        <p14:creationId xmlns:p14="http://schemas.microsoft.com/office/powerpoint/2010/main" val="174454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006713" y="1066471"/>
            <a:ext cx="6696414" cy="679202"/>
          </a:xfrm>
          <a:prstGeom prst="rect">
            <a:avLst/>
          </a:prstGeom>
        </p:spPr>
      </p:pic>
      <p:pic>
        <p:nvPicPr>
          <p:cNvPr id="5" name="Picture 4"/>
          <p:cNvPicPr>
            <a:picLocks noChangeAspect="1"/>
          </p:cNvPicPr>
          <p:nvPr/>
        </p:nvPicPr>
        <p:blipFill>
          <a:blip r:embed="rId3" cstate="print"/>
          <a:stretch>
            <a:fillRect/>
          </a:stretch>
        </p:blipFill>
        <p:spPr>
          <a:xfrm>
            <a:off x="170485" y="2294539"/>
            <a:ext cx="11769862" cy="2651533"/>
          </a:xfrm>
          <a:prstGeom prst="rect">
            <a:avLst/>
          </a:prstGeom>
        </p:spPr>
      </p:pic>
    </p:spTree>
    <p:extLst>
      <p:ext uri="{BB962C8B-B14F-4D97-AF65-F5344CB8AC3E}">
        <p14:creationId xmlns:p14="http://schemas.microsoft.com/office/powerpoint/2010/main" val="216811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84564" y="413015"/>
            <a:ext cx="10338854" cy="701638"/>
          </a:xfrm>
          <a:prstGeom prst="rect">
            <a:avLst/>
          </a:prstGeom>
        </p:spPr>
      </p:pic>
      <p:pic>
        <p:nvPicPr>
          <p:cNvPr id="5" name="Picture 4"/>
          <p:cNvPicPr>
            <a:picLocks noChangeAspect="1"/>
          </p:cNvPicPr>
          <p:nvPr/>
        </p:nvPicPr>
        <p:blipFill>
          <a:blip r:embed="rId3" cstate="print"/>
          <a:stretch>
            <a:fillRect/>
          </a:stretch>
        </p:blipFill>
        <p:spPr>
          <a:xfrm>
            <a:off x="384565" y="1275327"/>
            <a:ext cx="10875364" cy="3740017"/>
          </a:xfrm>
          <a:prstGeom prst="rect">
            <a:avLst/>
          </a:prstGeom>
        </p:spPr>
      </p:pic>
    </p:spTree>
    <p:extLst>
      <p:ext uri="{BB962C8B-B14F-4D97-AF65-F5344CB8AC3E}">
        <p14:creationId xmlns:p14="http://schemas.microsoft.com/office/powerpoint/2010/main" val="3907835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29558" y="366688"/>
            <a:ext cx="9762481" cy="644693"/>
          </a:xfrm>
          <a:prstGeom prst="rect">
            <a:avLst/>
          </a:prstGeom>
        </p:spPr>
      </p:pic>
      <p:pic>
        <p:nvPicPr>
          <p:cNvPr id="5" name="Picture 4"/>
          <p:cNvPicPr>
            <a:picLocks noChangeAspect="1"/>
          </p:cNvPicPr>
          <p:nvPr/>
        </p:nvPicPr>
        <p:blipFill>
          <a:blip r:embed="rId3" cstate="print"/>
          <a:stretch>
            <a:fillRect/>
          </a:stretch>
        </p:blipFill>
        <p:spPr>
          <a:xfrm>
            <a:off x="329558" y="1438249"/>
            <a:ext cx="11294182" cy="2776563"/>
          </a:xfrm>
          <a:prstGeom prst="rect">
            <a:avLst/>
          </a:prstGeom>
        </p:spPr>
      </p:pic>
    </p:spTree>
    <p:extLst>
      <p:ext uri="{BB962C8B-B14F-4D97-AF65-F5344CB8AC3E}">
        <p14:creationId xmlns:p14="http://schemas.microsoft.com/office/powerpoint/2010/main" val="207785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71166" y="428596"/>
            <a:ext cx="8930022" cy="943003"/>
          </a:xfrm>
          <a:prstGeom prst="rect">
            <a:avLst/>
          </a:prstGeom>
        </p:spPr>
      </p:pic>
      <p:pic>
        <p:nvPicPr>
          <p:cNvPr id="5" name="Picture 4"/>
          <p:cNvPicPr>
            <a:picLocks noChangeAspect="1"/>
          </p:cNvPicPr>
          <p:nvPr/>
        </p:nvPicPr>
        <p:blipFill>
          <a:blip r:embed="rId3" cstate="print"/>
          <a:stretch>
            <a:fillRect/>
          </a:stretch>
        </p:blipFill>
        <p:spPr>
          <a:xfrm>
            <a:off x="466186" y="1519115"/>
            <a:ext cx="11488635" cy="3038598"/>
          </a:xfrm>
          <a:prstGeom prst="rect">
            <a:avLst/>
          </a:prstGeom>
        </p:spPr>
      </p:pic>
    </p:spTree>
    <p:extLst>
      <p:ext uri="{BB962C8B-B14F-4D97-AF65-F5344CB8AC3E}">
        <p14:creationId xmlns:p14="http://schemas.microsoft.com/office/powerpoint/2010/main" val="3919104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075794" y="775854"/>
            <a:ext cx="9204279" cy="4220619"/>
          </a:xfrm>
          <a:prstGeom prst="rect">
            <a:avLst/>
          </a:prstGeom>
        </p:spPr>
      </p:pic>
    </p:spTree>
    <p:extLst>
      <p:ext uri="{BB962C8B-B14F-4D97-AF65-F5344CB8AC3E}">
        <p14:creationId xmlns:p14="http://schemas.microsoft.com/office/powerpoint/2010/main" val="3932290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33400" y="748578"/>
            <a:ext cx="10633364" cy="4502295"/>
          </a:xfrm>
          <a:prstGeom prst="rect">
            <a:avLst/>
          </a:prstGeom>
        </p:spPr>
      </p:pic>
    </p:spTree>
    <p:extLst>
      <p:ext uri="{BB962C8B-B14F-4D97-AF65-F5344CB8AC3E}">
        <p14:creationId xmlns:p14="http://schemas.microsoft.com/office/powerpoint/2010/main" val="2826723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Octal Number System</a:t>
            </a:r>
          </a:p>
        </p:txBody>
      </p:sp>
      <p:pic>
        <p:nvPicPr>
          <p:cNvPr id="1027" name="Picture 3"/>
          <p:cNvPicPr>
            <a:picLocks noChangeAspect="1" noChangeArrowheads="1"/>
          </p:cNvPicPr>
          <p:nvPr/>
        </p:nvPicPr>
        <p:blipFill>
          <a:blip r:embed="rId2" cstate="print"/>
          <a:srcRect/>
          <a:stretch>
            <a:fillRect/>
          </a:stretch>
        </p:blipFill>
        <p:spPr bwMode="auto">
          <a:xfrm>
            <a:off x="1531694" y="1823452"/>
            <a:ext cx="7026426" cy="1327711"/>
          </a:xfrm>
          <a:prstGeom prst="rect">
            <a:avLst/>
          </a:prstGeom>
          <a:noFill/>
          <a:ln w="9525">
            <a:noFill/>
            <a:miter lim="800000"/>
            <a:headEnd/>
            <a:tailEnd/>
          </a:ln>
        </p:spPr>
      </p:pic>
      <p:sp>
        <p:nvSpPr>
          <p:cNvPr id="6" name="TextBox 5"/>
          <p:cNvSpPr txBox="1"/>
          <p:nvPr/>
        </p:nvSpPr>
        <p:spPr>
          <a:xfrm>
            <a:off x="478301" y="3699803"/>
            <a:ext cx="11330346" cy="2677656"/>
          </a:xfrm>
          <a:prstGeom prst="rect">
            <a:avLst/>
          </a:prstGeom>
          <a:noFill/>
        </p:spPr>
        <p:txBody>
          <a:bodyPr wrap="none" rtlCol="0">
            <a:spAutoFit/>
          </a:bodyPr>
          <a:lstStyle/>
          <a:p>
            <a:pPr>
              <a:buFont typeface="Arial" pitchFamily="34" charset="0"/>
              <a:buChar char="•"/>
            </a:pPr>
            <a:r>
              <a:rPr lang="en-US" sz="2800" dirty="0">
                <a:latin typeface="Times New Roman" pitchFamily="18" charset="0"/>
                <a:cs typeface="Times New Roman" pitchFamily="18" charset="0"/>
              </a:rPr>
              <a:t> Positional Weighted system</a:t>
            </a:r>
          </a:p>
          <a:p>
            <a:pPr>
              <a:buFont typeface="Arial" pitchFamily="34" charset="0"/>
              <a:buChar char="•"/>
            </a:pPr>
            <a:r>
              <a:rPr lang="en-US" sz="2800" dirty="0">
                <a:latin typeface="Times New Roman" pitchFamily="18" charset="0"/>
                <a:cs typeface="Times New Roman" pitchFamily="18" charset="0"/>
              </a:rPr>
              <a:t> Since its base is 8=2</a:t>
            </a:r>
            <a:r>
              <a:rPr lang="en-US" sz="2800" baseline="30000" dirty="0">
                <a:latin typeface="Times New Roman" pitchFamily="18" charset="0"/>
                <a:cs typeface="Times New Roman" pitchFamily="18" charset="0"/>
              </a:rPr>
              <a:t>3  </a:t>
            </a:r>
            <a:r>
              <a:rPr lang="en-US" sz="2800" dirty="0">
                <a:latin typeface="Times New Roman" pitchFamily="18" charset="0"/>
                <a:cs typeface="Times New Roman" pitchFamily="18" charset="0"/>
              </a:rPr>
              <a:t> ,every 3 bit group of binary can be represented by an </a:t>
            </a:r>
          </a:p>
          <a:p>
            <a:r>
              <a:rPr lang="en-US" sz="2800" dirty="0">
                <a:latin typeface="Times New Roman" pitchFamily="18" charset="0"/>
                <a:cs typeface="Times New Roman" pitchFamily="18" charset="0"/>
              </a:rPr>
              <a:t>   octal digit.</a:t>
            </a:r>
          </a:p>
          <a:p>
            <a:pPr>
              <a:buFont typeface="Arial" pitchFamily="34" charset="0"/>
              <a:buChar char="•"/>
            </a:pPr>
            <a:r>
              <a:rPr lang="en-US" sz="2800" dirty="0">
                <a:latin typeface="Times New Roman" pitchFamily="18" charset="0"/>
                <a:cs typeface="Times New Roman" pitchFamily="18" charset="0"/>
              </a:rPr>
              <a:t> The Octal Number system is widely used in </a:t>
            </a:r>
            <a:r>
              <a:rPr lang="en-US" sz="2800" b="1" dirty="0">
                <a:latin typeface="Times New Roman" pitchFamily="18" charset="0"/>
                <a:cs typeface="Times New Roman" pitchFamily="18" charset="0"/>
              </a:rPr>
              <a:t>computer application sectors </a:t>
            </a:r>
          </a:p>
          <a:p>
            <a:r>
              <a:rPr lang="en-US" sz="2800" b="1" dirty="0">
                <a:latin typeface="Times New Roman" pitchFamily="18" charset="0"/>
                <a:cs typeface="Times New Roman" pitchFamily="18" charset="0"/>
              </a:rPr>
              <a:t>  and digital numbering systems</a:t>
            </a:r>
            <a:r>
              <a:rPr lang="en-US" sz="2800" dirty="0">
                <a:latin typeface="Times New Roman" pitchFamily="18" charset="0"/>
                <a:cs typeface="Times New Roman" pitchFamily="18" charset="0"/>
              </a:rPr>
              <a:t>.</a:t>
            </a:r>
            <a:endParaRPr lang="en-US" sz="2800" baseline="300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278966" y="773372"/>
            <a:ext cx="6550959" cy="5725901"/>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520944" y="351692"/>
            <a:ext cx="11345710" cy="1730326"/>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717453" y="2366817"/>
            <a:ext cx="10577296" cy="3147718"/>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11236" y="1016390"/>
            <a:ext cx="11591912" cy="4484078"/>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602639" y="996390"/>
            <a:ext cx="11123989" cy="278782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304506" y="295423"/>
            <a:ext cx="11498287" cy="603504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300624" y="583004"/>
            <a:ext cx="11473401" cy="3299679"/>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314472" y="4090913"/>
            <a:ext cx="11506006" cy="216921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127174" y="558604"/>
            <a:ext cx="10041172" cy="4843389"/>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626451" y="659569"/>
            <a:ext cx="10979395" cy="4207853"/>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196947" y="0"/>
            <a:ext cx="11995053" cy="1163992"/>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450165" y="1291354"/>
            <a:ext cx="10727943" cy="537491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504752" y="856152"/>
            <a:ext cx="11213636" cy="2956193"/>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1252392" y="309489"/>
            <a:ext cx="2489614" cy="679133"/>
          </a:xfrm>
          <a:prstGeom prst="rect">
            <a:avLst/>
          </a:prstGeom>
          <a:noFill/>
          <a:ln w="9525">
            <a:noFill/>
            <a:miter lim="800000"/>
            <a:headEnd/>
            <a:tailEnd/>
          </a:ln>
        </p:spPr>
      </p:pic>
      <p:pic>
        <p:nvPicPr>
          <p:cNvPr id="12291" name="Picture 3"/>
          <p:cNvPicPr>
            <a:picLocks noChangeAspect="1" noChangeArrowheads="1"/>
          </p:cNvPicPr>
          <p:nvPr/>
        </p:nvPicPr>
        <p:blipFill>
          <a:blip r:embed="rId3" cstate="print"/>
          <a:srcRect/>
          <a:stretch>
            <a:fillRect/>
          </a:stretch>
        </p:blipFill>
        <p:spPr bwMode="auto">
          <a:xfrm>
            <a:off x="1345222" y="1625550"/>
            <a:ext cx="8039735" cy="2285267"/>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a:stretch>
            <a:fillRect/>
          </a:stretch>
        </p:blipFill>
        <p:spPr bwMode="auto">
          <a:xfrm>
            <a:off x="353304" y="1224256"/>
            <a:ext cx="11449502" cy="3235203"/>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a:stretch>
            <a:fillRect/>
          </a:stretch>
        </p:blipFill>
        <p:spPr bwMode="auto">
          <a:xfrm>
            <a:off x="647992" y="900332"/>
            <a:ext cx="11019297" cy="3305908"/>
          </a:xfrm>
          <a:prstGeom prst="rect">
            <a:avLst/>
          </a:prstGeom>
          <a:noFill/>
          <a:ln w="9525">
            <a:noFill/>
            <a:miter lim="800000"/>
            <a:headEnd/>
            <a:tailEnd/>
          </a:ln>
        </p:spPr>
      </p:pic>
      <p:pic>
        <p:nvPicPr>
          <p:cNvPr id="14339" name="Picture 3"/>
          <p:cNvPicPr>
            <a:picLocks noChangeAspect="1" noChangeArrowheads="1"/>
          </p:cNvPicPr>
          <p:nvPr/>
        </p:nvPicPr>
        <p:blipFill>
          <a:blip r:embed="rId3" cstate="print"/>
          <a:srcRect/>
          <a:stretch>
            <a:fillRect/>
          </a:stretch>
        </p:blipFill>
        <p:spPr bwMode="auto">
          <a:xfrm>
            <a:off x="848603" y="5600773"/>
            <a:ext cx="10067925" cy="912569"/>
          </a:xfrm>
          <a:prstGeom prst="rect">
            <a:avLst/>
          </a:prstGeom>
          <a:noFill/>
          <a:ln w="9525">
            <a:solidFill>
              <a:srgbClr val="FF0000"/>
            </a:solidFill>
            <a:miter lim="800000"/>
            <a:headEnd/>
            <a:tailEnd/>
          </a:ln>
        </p:spPr>
      </p:pic>
      <p:sp>
        <p:nvSpPr>
          <p:cNvPr id="2" name="TextBox 1">
            <a:extLst>
              <a:ext uri="{FF2B5EF4-FFF2-40B4-BE49-F238E27FC236}">
                <a16:creationId xmlns:a16="http://schemas.microsoft.com/office/drawing/2014/main" id="{E96E9EFE-C4C8-1866-4BD6-9DC67187BC80}"/>
              </a:ext>
            </a:extLst>
          </p:cNvPr>
          <p:cNvSpPr txBox="1"/>
          <p:nvPr/>
        </p:nvSpPr>
        <p:spPr>
          <a:xfrm flipH="1">
            <a:off x="2172925" y="2703871"/>
            <a:ext cx="875073" cy="584775"/>
          </a:xfrm>
          <a:prstGeom prst="rect">
            <a:avLst/>
          </a:prstGeom>
          <a:solidFill>
            <a:schemeClr val="bg1"/>
          </a:solidFill>
        </p:spPr>
        <p:txBody>
          <a:bodyPr wrap="square" rtlCol="0">
            <a:spAutoFit/>
          </a:bodyPr>
          <a:lstStyle/>
          <a:p>
            <a:r>
              <a:rPr lang="en-US" sz="3200" dirty="0"/>
              <a:t>46</a:t>
            </a:r>
            <a:r>
              <a:rPr lang="en-US" sz="3200" baseline="-25000" dirty="0"/>
              <a:t>8</a:t>
            </a:r>
            <a:endParaRPr lang="en-IN" sz="3200" baseline="-25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2727" y="1010434"/>
            <a:ext cx="10709564" cy="830997"/>
          </a:xfrm>
          <a:prstGeom prst="rect">
            <a:avLst/>
          </a:prstGeom>
        </p:spPr>
        <p:txBody>
          <a:bodyPr wrap="square">
            <a:spAutoFit/>
          </a:bodyPr>
          <a:lstStyle/>
          <a:p>
            <a:r>
              <a:rPr lang="en-US" sz="2400" dirty="0">
                <a:solidFill>
                  <a:srgbClr val="202124"/>
                </a:solidFill>
                <a:latin typeface="Times New Roman" panose="02020603050405020304" pitchFamily="18" charset="0"/>
                <a:cs typeface="Times New Roman" panose="02020603050405020304" pitchFamily="18" charset="0"/>
              </a:rPr>
              <a:t>The hexadecimal number system is described as a 16 digit number representation of numbers from 0 - 9 and digits from A – F.  </a:t>
            </a:r>
            <a:r>
              <a:rPr lang="en-US" sz="2400" b="1" dirty="0">
                <a:solidFill>
                  <a:schemeClr val="accent1">
                    <a:lumMod val="75000"/>
                  </a:schemeClr>
                </a:solidFill>
                <a:latin typeface="Times New Roman" panose="02020603050405020304" pitchFamily="18" charset="0"/>
                <a:cs typeface="Times New Roman" panose="02020603050405020304" pitchFamily="18" charset="0"/>
              </a:rPr>
              <a:t>Base=16</a:t>
            </a:r>
            <a:endParaRPr lang="en-IN" sz="24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Rectangle 4"/>
          <p:cNvSpPr/>
          <p:nvPr/>
        </p:nvSpPr>
        <p:spPr>
          <a:xfrm>
            <a:off x="1169005" y="193350"/>
            <a:ext cx="4695453" cy="523220"/>
          </a:xfrm>
          <a:prstGeom prst="rect">
            <a:avLst/>
          </a:prstGeom>
        </p:spPr>
        <p:txBody>
          <a:bodyPr wrap="none">
            <a:spAutoFit/>
          </a:bodyPr>
          <a:lstStyle/>
          <a:p>
            <a:r>
              <a:rPr lang="en-US" sz="2800" b="1" u="sng" dirty="0">
                <a:solidFill>
                  <a:srgbClr val="202124"/>
                </a:solidFill>
                <a:latin typeface="Times New Roman" panose="02020603050405020304" pitchFamily="18" charset="0"/>
                <a:cs typeface="Times New Roman" panose="02020603050405020304" pitchFamily="18" charset="0"/>
              </a:rPr>
              <a:t>Hexadecimal number system </a:t>
            </a:r>
            <a:endParaRPr lang="en-IN" sz="2800" b="1" u="sng"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stretch>
            <a:fillRect/>
          </a:stretch>
        </p:blipFill>
        <p:spPr>
          <a:xfrm>
            <a:off x="2062988" y="1955410"/>
            <a:ext cx="7870721" cy="4461840"/>
          </a:xfrm>
          <a:prstGeom prst="rect">
            <a:avLst/>
          </a:prstGeom>
        </p:spPr>
      </p:pic>
      <p:sp>
        <p:nvSpPr>
          <p:cNvPr id="6" name="Rectangle 5"/>
          <p:cNvSpPr/>
          <p:nvPr/>
        </p:nvSpPr>
        <p:spPr>
          <a:xfrm>
            <a:off x="4642339" y="2560319"/>
            <a:ext cx="4853354" cy="3798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7" idx="0"/>
          </p:cNvCxnSpPr>
          <p:nvPr/>
        </p:nvCxnSpPr>
        <p:spPr>
          <a:xfrm>
            <a:off x="5998349" y="1955410"/>
            <a:ext cx="36691" cy="4902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56406" y="2475914"/>
            <a:ext cx="9284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635218" y="2459502"/>
            <a:ext cx="9284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490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01445" y="675230"/>
            <a:ext cx="10997250" cy="5507539"/>
          </a:xfrm>
          <a:prstGeom prst="rect">
            <a:avLst/>
          </a:prstGeom>
        </p:spPr>
      </p:pic>
    </p:spTree>
    <p:extLst>
      <p:ext uri="{BB962C8B-B14F-4D97-AF65-F5344CB8AC3E}">
        <p14:creationId xmlns:p14="http://schemas.microsoft.com/office/powerpoint/2010/main" val="325238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237127" y="164440"/>
            <a:ext cx="11788617" cy="2269271"/>
          </a:xfrm>
          <a:prstGeom prst="rect">
            <a:avLst/>
          </a:prstGeom>
        </p:spPr>
      </p:pic>
      <p:sp>
        <p:nvSpPr>
          <p:cNvPr id="5" name="Rectangle 4"/>
          <p:cNvSpPr/>
          <p:nvPr/>
        </p:nvSpPr>
        <p:spPr>
          <a:xfrm>
            <a:off x="2489982" y="1983544"/>
            <a:ext cx="3344059" cy="3879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a:blip r:embed="rId3" cstate="print"/>
          <a:srcRect t="7999"/>
          <a:stretch>
            <a:fillRect/>
          </a:stretch>
        </p:blipFill>
        <p:spPr>
          <a:xfrm>
            <a:off x="968963" y="2412523"/>
            <a:ext cx="9074009" cy="2183561"/>
          </a:xfrm>
          <a:prstGeom prst="rect">
            <a:avLst/>
          </a:prstGeom>
        </p:spPr>
      </p:pic>
      <p:pic>
        <p:nvPicPr>
          <p:cNvPr id="7" name="Picture 6"/>
          <p:cNvPicPr>
            <a:picLocks noChangeAspect="1"/>
          </p:cNvPicPr>
          <p:nvPr/>
        </p:nvPicPr>
        <p:blipFill>
          <a:blip r:embed="rId4" cstate="print"/>
          <a:stretch>
            <a:fillRect/>
          </a:stretch>
        </p:blipFill>
        <p:spPr>
          <a:xfrm>
            <a:off x="939927" y="4220308"/>
            <a:ext cx="8840956" cy="2068377"/>
          </a:xfrm>
          <a:prstGeom prst="rect">
            <a:avLst/>
          </a:prstGeom>
        </p:spPr>
      </p:pic>
    </p:spTree>
    <p:extLst>
      <p:ext uri="{BB962C8B-B14F-4D97-AF65-F5344CB8AC3E}">
        <p14:creationId xmlns:p14="http://schemas.microsoft.com/office/powerpoint/2010/main" val="2581349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259488" y="1163781"/>
            <a:ext cx="11281348" cy="3117273"/>
          </a:xfrm>
          <a:prstGeom prst="rect">
            <a:avLst/>
          </a:prstGeom>
        </p:spPr>
      </p:pic>
    </p:spTree>
    <p:extLst>
      <p:ext uri="{BB962C8B-B14F-4D97-AF65-F5344CB8AC3E}">
        <p14:creationId xmlns:p14="http://schemas.microsoft.com/office/powerpoint/2010/main" val="4115593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438900" y="874850"/>
            <a:ext cx="11545282" cy="3891113"/>
          </a:xfrm>
          <a:prstGeom prst="rect">
            <a:avLst/>
          </a:prstGeom>
        </p:spPr>
      </p:pic>
    </p:spTree>
    <p:extLst>
      <p:ext uri="{BB962C8B-B14F-4D97-AF65-F5344CB8AC3E}">
        <p14:creationId xmlns:p14="http://schemas.microsoft.com/office/powerpoint/2010/main" val="2603725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23888" y="2250831"/>
            <a:ext cx="10944225" cy="2149719"/>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71135" y="872198"/>
            <a:ext cx="7348976" cy="887364"/>
          </a:xfrm>
          <a:prstGeom prst="rect">
            <a:avLst/>
          </a:prstGeom>
          <a:noFill/>
          <a:ln w="9525">
            <a:noFill/>
            <a:miter lim="800000"/>
            <a:headEnd/>
            <a:tailEnd/>
          </a:ln>
        </p:spPr>
      </p:pic>
    </p:spTree>
    <p:extLst>
      <p:ext uri="{BB962C8B-B14F-4D97-AF65-F5344CB8AC3E}">
        <p14:creationId xmlns:p14="http://schemas.microsoft.com/office/powerpoint/2010/main" val="351372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437993" y="970358"/>
            <a:ext cx="11122028" cy="3559440"/>
          </a:xfrm>
          <a:prstGeom prst="rect">
            <a:avLst/>
          </a:prstGeom>
        </p:spPr>
      </p:pic>
    </p:spTree>
    <p:extLst>
      <p:ext uri="{BB962C8B-B14F-4D97-AF65-F5344CB8AC3E}">
        <p14:creationId xmlns:p14="http://schemas.microsoft.com/office/powerpoint/2010/main" val="33202702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466511" y="930963"/>
            <a:ext cx="11146662" cy="3500359"/>
          </a:xfrm>
          <a:prstGeom prst="rect">
            <a:avLst/>
          </a:prstGeom>
        </p:spPr>
      </p:pic>
    </p:spTree>
    <p:extLst>
      <p:ext uri="{BB962C8B-B14F-4D97-AF65-F5344CB8AC3E}">
        <p14:creationId xmlns:p14="http://schemas.microsoft.com/office/powerpoint/2010/main" val="3585447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792657" y="943753"/>
            <a:ext cx="11067258" cy="2284356"/>
          </a:xfrm>
          <a:prstGeom prst="rect">
            <a:avLst/>
          </a:prstGeom>
        </p:spPr>
      </p:pic>
      <p:pic>
        <p:nvPicPr>
          <p:cNvPr id="5" name="Picture 4"/>
          <p:cNvPicPr>
            <a:picLocks noChangeAspect="1"/>
          </p:cNvPicPr>
          <p:nvPr/>
        </p:nvPicPr>
        <p:blipFill>
          <a:blip r:embed="rId3" cstate="print"/>
          <a:stretch>
            <a:fillRect/>
          </a:stretch>
        </p:blipFill>
        <p:spPr>
          <a:xfrm>
            <a:off x="3586311" y="3228109"/>
            <a:ext cx="7504834" cy="1122218"/>
          </a:xfrm>
          <a:prstGeom prst="rect">
            <a:avLst/>
          </a:prstGeom>
        </p:spPr>
      </p:pic>
    </p:spTree>
    <p:extLst>
      <p:ext uri="{BB962C8B-B14F-4D97-AF65-F5344CB8AC3E}">
        <p14:creationId xmlns:p14="http://schemas.microsoft.com/office/powerpoint/2010/main" val="3100990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87820" y="713772"/>
            <a:ext cx="11160210" cy="4564809"/>
          </a:xfrm>
          <a:prstGeom prst="rect">
            <a:avLst/>
          </a:prstGeom>
        </p:spPr>
      </p:pic>
    </p:spTree>
    <p:extLst>
      <p:ext uri="{BB962C8B-B14F-4D97-AF65-F5344CB8AC3E}">
        <p14:creationId xmlns:p14="http://schemas.microsoft.com/office/powerpoint/2010/main" val="12640124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srcRect b="4237"/>
          <a:stretch/>
        </p:blipFill>
        <p:spPr>
          <a:xfrm>
            <a:off x="568787" y="527925"/>
            <a:ext cx="11155111" cy="5859020"/>
          </a:xfrm>
          <a:prstGeom prst="rect">
            <a:avLst/>
          </a:prstGeom>
        </p:spPr>
      </p:pic>
    </p:spTree>
    <p:extLst>
      <p:ext uri="{BB962C8B-B14F-4D97-AF65-F5344CB8AC3E}">
        <p14:creationId xmlns:p14="http://schemas.microsoft.com/office/powerpoint/2010/main" val="34354344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srcRect t="1842"/>
          <a:stretch/>
        </p:blipFill>
        <p:spPr>
          <a:xfrm>
            <a:off x="1047236" y="1302327"/>
            <a:ext cx="10481241" cy="3491346"/>
          </a:xfrm>
          <a:prstGeom prst="rect">
            <a:avLst/>
          </a:prstGeom>
        </p:spPr>
      </p:pic>
    </p:spTree>
    <p:extLst>
      <p:ext uri="{BB962C8B-B14F-4D97-AF65-F5344CB8AC3E}">
        <p14:creationId xmlns:p14="http://schemas.microsoft.com/office/powerpoint/2010/main" val="24264867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31094" y="45616"/>
            <a:ext cx="11640746" cy="1145876"/>
          </a:xfrm>
          <a:prstGeom prst="rect">
            <a:avLst/>
          </a:prstGeom>
          <a:ln>
            <a:solidFill>
              <a:srgbClr val="FF0000"/>
            </a:solidFill>
          </a:ln>
        </p:spPr>
      </p:pic>
      <p:pic>
        <p:nvPicPr>
          <p:cNvPr id="5" name="Picture 4"/>
          <p:cNvPicPr>
            <a:picLocks noChangeAspect="1"/>
          </p:cNvPicPr>
          <p:nvPr/>
        </p:nvPicPr>
        <p:blipFill>
          <a:blip r:embed="rId3" cstate="print"/>
          <a:stretch>
            <a:fillRect/>
          </a:stretch>
        </p:blipFill>
        <p:spPr>
          <a:xfrm>
            <a:off x="331094" y="1191492"/>
            <a:ext cx="11301307" cy="2188245"/>
          </a:xfrm>
          <a:prstGeom prst="rect">
            <a:avLst/>
          </a:prstGeom>
        </p:spPr>
      </p:pic>
      <p:pic>
        <p:nvPicPr>
          <p:cNvPr id="6" name="Picture 5"/>
          <p:cNvPicPr>
            <a:picLocks noChangeAspect="1"/>
          </p:cNvPicPr>
          <p:nvPr/>
        </p:nvPicPr>
        <p:blipFill rotWithShape="1">
          <a:blip r:embed="rId4" cstate="print"/>
          <a:srcRect t="8576"/>
          <a:stretch/>
        </p:blipFill>
        <p:spPr>
          <a:xfrm>
            <a:off x="637309" y="3103418"/>
            <a:ext cx="10557164" cy="3505200"/>
          </a:xfrm>
          <a:prstGeom prst="rect">
            <a:avLst/>
          </a:prstGeom>
        </p:spPr>
      </p:pic>
    </p:spTree>
    <p:extLst>
      <p:ext uri="{BB962C8B-B14F-4D97-AF65-F5344CB8AC3E}">
        <p14:creationId xmlns:p14="http://schemas.microsoft.com/office/powerpoint/2010/main" val="747165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32509" y="993908"/>
            <a:ext cx="11414566" cy="4575619"/>
          </a:xfrm>
          <a:prstGeom prst="rect">
            <a:avLst/>
          </a:prstGeom>
        </p:spPr>
      </p:pic>
    </p:spTree>
    <p:extLst>
      <p:ext uri="{BB962C8B-B14F-4D97-AF65-F5344CB8AC3E}">
        <p14:creationId xmlns:p14="http://schemas.microsoft.com/office/powerpoint/2010/main" val="1069249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28073" y="762667"/>
            <a:ext cx="11326422" cy="4626751"/>
          </a:xfrm>
          <a:prstGeom prst="rect">
            <a:avLst/>
          </a:prstGeom>
        </p:spPr>
      </p:pic>
    </p:spTree>
    <p:extLst>
      <p:ext uri="{BB962C8B-B14F-4D97-AF65-F5344CB8AC3E}">
        <p14:creationId xmlns:p14="http://schemas.microsoft.com/office/powerpoint/2010/main" val="26137096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458801" y="419327"/>
            <a:ext cx="11181374" cy="5136346"/>
          </a:xfrm>
          <a:prstGeom prst="rect">
            <a:avLst/>
          </a:prstGeom>
        </p:spPr>
      </p:pic>
    </p:spTree>
    <p:extLst>
      <p:ext uri="{BB962C8B-B14F-4D97-AF65-F5344CB8AC3E}">
        <p14:creationId xmlns:p14="http://schemas.microsoft.com/office/powerpoint/2010/main" val="25919658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29315-015A-DE35-2C83-D0BAC42A12A3}"/>
              </a:ext>
            </a:extLst>
          </p:cNvPr>
          <p:cNvSpPr>
            <a:spLocks noGrp="1"/>
          </p:cNvSpPr>
          <p:nvPr>
            <p:ph type="title"/>
          </p:nvPr>
        </p:nvSpPr>
        <p:spPr>
          <a:xfrm>
            <a:off x="553065" y="89821"/>
            <a:ext cx="10515600" cy="1325563"/>
          </a:xfrm>
        </p:spPr>
        <p:txBody>
          <a:bodyPr/>
          <a:lstStyle/>
          <a:p>
            <a:r>
              <a:rPr lang="en-US" dirty="0">
                <a:latin typeface="Times New Roman" panose="02020603050405020304" pitchFamily="18" charset="0"/>
                <a:cs typeface="Times New Roman" panose="02020603050405020304" pitchFamily="18" charset="0"/>
              </a:rPr>
              <a:t>Hexadecimal Arithmetic</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17CE65E-E9D6-4AD1-8FDA-2503B2A80F3E}"/>
              </a:ext>
            </a:extLst>
          </p:cNvPr>
          <p:cNvPicPr>
            <a:picLocks noChangeAspect="1"/>
          </p:cNvPicPr>
          <p:nvPr/>
        </p:nvPicPr>
        <p:blipFill>
          <a:blip r:embed="rId3"/>
          <a:stretch>
            <a:fillRect/>
          </a:stretch>
        </p:blipFill>
        <p:spPr>
          <a:xfrm>
            <a:off x="1754725" y="1504335"/>
            <a:ext cx="3118985" cy="892840"/>
          </a:xfrm>
          <a:prstGeom prst="rect">
            <a:avLst/>
          </a:prstGeom>
        </p:spPr>
      </p:pic>
      <p:pic>
        <p:nvPicPr>
          <p:cNvPr id="7" name="Picture 6">
            <a:extLst>
              <a:ext uri="{FF2B5EF4-FFF2-40B4-BE49-F238E27FC236}">
                <a16:creationId xmlns:a16="http://schemas.microsoft.com/office/drawing/2014/main" id="{E16AF34C-499D-B457-11EC-7320E9306B3E}"/>
              </a:ext>
            </a:extLst>
          </p:cNvPr>
          <p:cNvPicPr>
            <a:picLocks noChangeAspect="1"/>
          </p:cNvPicPr>
          <p:nvPr/>
        </p:nvPicPr>
        <p:blipFill>
          <a:blip r:embed="rId4"/>
          <a:stretch>
            <a:fillRect/>
          </a:stretch>
        </p:blipFill>
        <p:spPr>
          <a:xfrm>
            <a:off x="3688777" y="2574092"/>
            <a:ext cx="6623642" cy="1886734"/>
          </a:xfrm>
          <a:prstGeom prst="rect">
            <a:avLst/>
          </a:prstGeom>
        </p:spPr>
      </p:pic>
      <p:sp>
        <p:nvSpPr>
          <p:cNvPr id="8" name="TextBox 7">
            <a:extLst>
              <a:ext uri="{FF2B5EF4-FFF2-40B4-BE49-F238E27FC236}">
                <a16:creationId xmlns:a16="http://schemas.microsoft.com/office/drawing/2014/main" id="{6699CD43-7461-387C-EE8E-EA0DB8CE745A}"/>
              </a:ext>
            </a:extLst>
          </p:cNvPr>
          <p:cNvSpPr txBox="1"/>
          <p:nvPr/>
        </p:nvSpPr>
        <p:spPr>
          <a:xfrm>
            <a:off x="2045109" y="5850194"/>
            <a:ext cx="484730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Try:   Add C5</a:t>
            </a:r>
            <a:r>
              <a:rPr lang="en-US" sz="2400" baseline="-25000" dirty="0">
                <a:latin typeface="Times New Roman" panose="02020603050405020304" pitchFamily="18" charset="0"/>
                <a:cs typeface="Times New Roman" panose="02020603050405020304" pitchFamily="18" charset="0"/>
              </a:rPr>
              <a:t>16</a:t>
            </a:r>
            <a:r>
              <a:rPr lang="en-US" sz="2400" dirty="0">
                <a:latin typeface="Times New Roman" panose="02020603050405020304" pitchFamily="18" charset="0"/>
                <a:cs typeface="Times New Roman" panose="02020603050405020304" pitchFamily="18" charset="0"/>
              </a:rPr>
              <a:t> and A3</a:t>
            </a:r>
            <a:r>
              <a:rPr lang="en-US" sz="2400" baseline="-25000" dirty="0">
                <a:latin typeface="Times New Roman" panose="02020603050405020304" pitchFamily="18" charset="0"/>
                <a:cs typeface="Times New Roman" panose="02020603050405020304" pitchFamily="18" charset="0"/>
              </a:rPr>
              <a:t>16</a:t>
            </a:r>
            <a:endParaRPr lang="en-IN"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5003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E918CE-9B72-7153-C0B9-94C4ABA16818}"/>
              </a:ext>
            </a:extLst>
          </p:cNvPr>
          <p:cNvPicPr>
            <a:picLocks noChangeAspect="1"/>
          </p:cNvPicPr>
          <p:nvPr/>
        </p:nvPicPr>
        <p:blipFill>
          <a:blip r:embed="rId2"/>
          <a:stretch>
            <a:fillRect/>
          </a:stretch>
        </p:blipFill>
        <p:spPr>
          <a:xfrm>
            <a:off x="1753422" y="1063396"/>
            <a:ext cx="3728916" cy="706409"/>
          </a:xfrm>
          <a:prstGeom prst="rect">
            <a:avLst/>
          </a:prstGeom>
        </p:spPr>
      </p:pic>
      <p:pic>
        <p:nvPicPr>
          <p:cNvPr id="7" name="Picture 6">
            <a:extLst>
              <a:ext uri="{FF2B5EF4-FFF2-40B4-BE49-F238E27FC236}">
                <a16:creationId xmlns:a16="http://schemas.microsoft.com/office/drawing/2014/main" id="{257DF316-E758-0447-42B3-3CF51C44D448}"/>
              </a:ext>
            </a:extLst>
          </p:cNvPr>
          <p:cNvPicPr>
            <a:picLocks noChangeAspect="1"/>
          </p:cNvPicPr>
          <p:nvPr/>
        </p:nvPicPr>
        <p:blipFill>
          <a:blip r:embed="rId3"/>
          <a:stretch>
            <a:fillRect/>
          </a:stretch>
        </p:blipFill>
        <p:spPr>
          <a:xfrm>
            <a:off x="3039343" y="2334503"/>
            <a:ext cx="7363186" cy="1863872"/>
          </a:xfrm>
          <a:prstGeom prst="rect">
            <a:avLst/>
          </a:prstGeom>
        </p:spPr>
      </p:pic>
    </p:spTree>
    <p:extLst>
      <p:ext uri="{BB962C8B-B14F-4D97-AF65-F5344CB8AC3E}">
        <p14:creationId xmlns:p14="http://schemas.microsoft.com/office/powerpoint/2010/main" val="17952954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F7F98E-F227-516F-B528-97BE8411D7C6}"/>
              </a:ext>
            </a:extLst>
          </p:cNvPr>
          <p:cNvPicPr>
            <a:picLocks noChangeAspect="1"/>
          </p:cNvPicPr>
          <p:nvPr/>
        </p:nvPicPr>
        <p:blipFill>
          <a:blip r:embed="rId2"/>
          <a:stretch>
            <a:fillRect/>
          </a:stretch>
        </p:blipFill>
        <p:spPr>
          <a:xfrm>
            <a:off x="1986116" y="1199211"/>
            <a:ext cx="1898072" cy="708918"/>
          </a:xfrm>
          <a:prstGeom prst="rect">
            <a:avLst/>
          </a:prstGeom>
        </p:spPr>
      </p:pic>
      <p:pic>
        <p:nvPicPr>
          <p:cNvPr id="7" name="Picture 6">
            <a:extLst>
              <a:ext uri="{FF2B5EF4-FFF2-40B4-BE49-F238E27FC236}">
                <a16:creationId xmlns:a16="http://schemas.microsoft.com/office/drawing/2014/main" id="{0E9A6DEE-9DD7-C834-0320-FCEF69349F5D}"/>
              </a:ext>
            </a:extLst>
          </p:cNvPr>
          <p:cNvPicPr>
            <a:picLocks noChangeAspect="1"/>
          </p:cNvPicPr>
          <p:nvPr/>
        </p:nvPicPr>
        <p:blipFill>
          <a:blip r:embed="rId3"/>
          <a:stretch>
            <a:fillRect/>
          </a:stretch>
        </p:blipFill>
        <p:spPr>
          <a:xfrm>
            <a:off x="3705242" y="1326557"/>
            <a:ext cx="1535351" cy="581572"/>
          </a:xfrm>
          <a:prstGeom prst="rect">
            <a:avLst/>
          </a:prstGeom>
        </p:spPr>
      </p:pic>
      <p:pic>
        <p:nvPicPr>
          <p:cNvPr id="9" name="Picture 8">
            <a:extLst>
              <a:ext uri="{FF2B5EF4-FFF2-40B4-BE49-F238E27FC236}">
                <a16:creationId xmlns:a16="http://schemas.microsoft.com/office/drawing/2014/main" id="{F775D55E-B7ED-744C-C581-1DC1CFDD6745}"/>
              </a:ext>
            </a:extLst>
          </p:cNvPr>
          <p:cNvPicPr>
            <a:picLocks noChangeAspect="1"/>
          </p:cNvPicPr>
          <p:nvPr/>
        </p:nvPicPr>
        <p:blipFill>
          <a:blip r:embed="rId4"/>
          <a:stretch>
            <a:fillRect/>
          </a:stretch>
        </p:blipFill>
        <p:spPr>
          <a:xfrm>
            <a:off x="2409598" y="2182825"/>
            <a:ext cx="9296857" cy="1503276"/>
          </a:xfrm>
          <a:prstGeom prst="rect">
            <a:avLst/>
          </a:prstGeom>
        </p:spPr>
      </p:pic>
      <p:pic>
        <p:nvPicPr>
          <p:cNvPr id="11" name="Picture 10">
            <a:extLst>
              <a:ext uri="{FF2B5EF4-FFF2-40B4-BE49-F238E27FC236}">
                <a16:creationId xmlns:a16="http://schemas.microsoft.com/office/drawing/2014/main" id="{8AEEDECB-8556-4158-35D4-066A05E33A3D}"/>
              </a:ext>
            </a:extLst>
          </p:cNvPr>
          <p:cNvPicPr>
            <a:picLocks noChangeAspect="1"/>
          </p:cNvPicPr>
          <p:nvPr/>
        </p:nvPicPr>
        <p:blipFill>
          <a:blip r:embed="rId5"/>
          <a:stretch>
            <a:fillRect/>
          </a:stretch>
        </p:blipFill>
        <p:spPr>
          <a:xfrm>
            <a:off x="2702141" y="4066493"/>
            <a:ext cx="8613576" cy="613661"/>
          </a:xfrm>
          <a:prstGeom prst="rect">
            <a:avLst/>
          </a:prstGeom>
        </p:spPr>
      </p:pic>
      <p:pic>
        <p:nvPicPr>
          <p:cNvPr id="13" name="Picture 12">
            <a:extLst>
              <a:ext uri="{FF2B5EF4-FFF2-40B4-BE49-F238E27FC236}">
                <a16:creationId xmlns:a16="http://schemas.microsoft.com/office/drawing/2014/main" id="{DAD93D9B-C135-2CB1-7E50-91916BE26872}"/>
              </a:ext>
            </a:extLst>
          </p:cNvPr>
          <p:cNvPicPr>
            <a:picLocks noChangeAspect="1"/>
          </p:cNvPicPr>
          <p:nvPr/>
        </p:nvPicPr>
        <p:blipFill>
          <a:blip r:embed="rId6"/>
          <a:stretch>
            <a:fillRect/>
          </a:stretch>
        </p:blipFill>
        <p:spPr>
          <a:xfrm>
            <a:off x="423509" y="5953652"/>
            <a:ext cx="11282946" cy="594412"/>
          </a:xfrm>
          <a:prstGeom prst="rect">
            <a:avLst/>
          </a:prstGeom>
        </p:spPr>
      </p:pic>
    </p:spTree>
    <p:extLst>
      <p:ext uri="{BB962C8B-B14F-4D97-AF65-F5344CB8AC3E}">
        <p14:creationId xmlns:p14="http://schemas.microsoft.com/office/powerpoint/2010/main" val="17698814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6A5B36-E15B-E1E0-7090-E633D8BD9EE1}"/>
              </a:ext>
            </a:extLst>
          </p:cNvPr>
          <p:cNvSpPr txBox="1"/>
          <p:nvPr/>
        </p:nvSpPr>
        <p:spPr>
          <a:xfrm>
            <a:off x="766917" y="489521"/>
            <a:ext cx="6489290" cy="4893647"/>
          </a:xfrm>
          <a:prstGeom prst="rect">
            <a:avLst/>
          </a:prstGeom>
          <a:noFill/>
        </p:spPr>
        <p:txBody>
          <a:bodyPr wrap="square">
            <a:spAutoFit/>
          </a:bodyPr>
          <a:lstStyle/>
          <a:p>
            <a:pPr algn="just"/>
            <a:r>
              <a:rPr lang="en-US" sz="3200" b="1" i="0" dirty="0">
                <a:solidFill>
                  <a:srgbClr val="202124"/>
                </a:solidFill>
                <a:effectLst/>
                <a:latin typeface="Times New Roman" panose="02020603050405020304" pitchFamily="18" charset="0"/>
                <a:cs typeface="Times New Roman" panose="02020603050405020304" pitchFamily="18" charset="0"/>
              </a:rPr>
              <a:t>Binary Coded Decimal (BCD) code</a:t>
            </a:r>
          </a:p>
          <a:p>
            <a:pPr algn="just"/>
            <a:endParaRPr lang="en-US" sz="2800" dirty="0">
              <a:solidFill>
                <a:srgbClr val="202124"/>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a:solidFill>
                  <a:srgbClr val="FF0000"/>
                </a:solidFill>
                <a:effectLst/>
                <a:latin typeface="Times New Roman" panose="02020603050405020304" pitchFamily="18" charset="0"/>
                <a:cs typeface="Times New Roman" panose="02020603050405020304" pitchFamily="18" charset="0"/>
              </a:rPr>
              <a:t>BCD is a way to express each of the decimal digits with a binary code. </a:t>
            </a:r>
          </a:p>
          <a:p>
            <a:pPr marL="457200" indent="-457200" algn="just">
              <a:buFont typeface="Arial" panose="020B0604020202020204" pitchFamily="34" charset="0"/>
              <a:buChar char="•"/>
            </a:pPr>
            <a:r>
              <a:rPr lang="en-US" sz="2800" b="0" i="0" dirty="0">
                <a:solidFill>
                  <a:srgbClr val="202124"/>
                </a:solidFill>
                <a:effectLst/>
                <a:latin typeface="Times New Roman" panose="02020603050405020304" pitchFamily="18" charset="0"/>
                <a:cs typeface="Times New Roman" panose="02020603050405020304" pitchFamily="18" charset="0"/>
              </a:rPr>
              <a:t>In the Binary, </a:t>
            </a:r>
            <a:r>
              <a:rPr lang="en-US" sz="2800" b="0" i="0" dirty="0">
                <a:solidFill>
                  <a:srgbClr val="040C28"/>
                </a:solidFill>
                <a:effectLst/>
                <a:latin typeface="Times New Roman" panose="02020603050405020304" pitchFamily="18" charset="0"/>
                <a:cs typeface="Times New Roman" panose="02020603050405020304" pitchFamily="18" charset="0"/>
              </a:rPr>
              <a:t>with four bits we can represent sixteen numbers (0000 to 1111)</a:t>
            </a:r>
            <a:r>
              <a:rPr lang="en-US" sz="2800" b="0" i="0" dirty="0">
                <a:solidFill>
                  <a:srgbClr val="202124"/>
                </a:solidFill>
                <a:effectLst/>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b="0" i="0" dirty="0">
                <a:solidFill>
                  <a:srgbClr val="FF0000"/>
                </a:solidFill>
                <a:effectLst/>
                <a:latin typeface="Times New Roman" panose="02020603050405020304" pitchFamily="18" charset="0"/>
                <a:cs typeface="Times New Roman" panose="02020603050405020304" pitchFamily="18" charset="0"/>
              </a:rPr>
              <a:t>But in BCD code only first ten of these are used (0000 to 1001). </a:t>
            </a:r>
          </a:p>
          <a:p>
            <a:pPr marL="457200" indent="-457200" algn="just">
              <a:buFont typeface="Arial" panose="020B0604020202020204" pitchFamily="34" charset="0"/>
              <a:buChar char="•"/>
            </a:pPr>
            <a:r>
              <a:rPr lang="en-US" sz="2800" b="0" i="0" dirty="0">
                <a:solidFill>
                  <a:srgbClr val="202124"/>
                </a:solidFill>
                <a:effectLst/>
                <a:latin typeface="Times New Roman" panose="02020603050405020304" pitchFamily="18" charset="0"/>
                <a:cs typeface="Times New Roman" panose="02020603050405020304" pitchFamily="18" charset="0"/>
              </a:rPr>
              <a:t>The remaining six code combinations i.e. 1010 to 1111 are invalid in BCD.</a:t>
            </a:r>
            <a:endParaRPr lang="en-IN" sz="2800" dirty="0">
              <a:latin typeface="Times New Roman" panose="02020603050405020304" pitchFamily="18" charset="0"/>
              <a:cs typeface="Times New Roman" panose="02020603050405020304" pitchFamily="18" charset="0"/>
            </a:endParaRPr>
          </a:p>
        </p:txBody>
      </p:sp>
      <p:pic>
        <p:nvPicPr>
          <p:cNvPr id="1026" name="Picture 2" descr="Codes in digital electronics, BCD, Excess-3, Error Detection, ASCII, Gray">
            <a:extLst>
              <a:ext uri="{FF2B5EF4-FFF2-40B4-BE49-F238E27FC236}">
                <a16:creationId xmlns:a16="http://schemas.microsoft.com/office/drawing/2014/main" id="{4AA43A27-922B-1B37-DE84-9DFA8378A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3792" y="1180947"/>
            <a:ext cx="3470660" cy="4202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0533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68035" y="667758"/>
            <a:ext cx="11208329" cy="5262979"/>
          </a:xfrm>
          <a:prstGeom prst="rect">
            <a:avLst/>
          </a:prstGeom>
        </p:spPr>
        <p:txBody>
          <a:bodyPr wrap="square">
            <a:spAutoFit/>
          </a:bodyPr>
          <a:lstStyle/>
          <a:p>
            <a:pPr algn="just"/>
            <a:r>
              <a:rPr lang="en-US" sz="2800" b="1" i="0" u="sng" dirty="0">
                <a:solidFill>
                  <a:srgbClr val="000000"/>
                </a:solidFill>
                <a:effectLst/>
                <a:latin typeface="Times New Roman" panose="02020603050405020304" pitchFamily="18" charset="0"/>
                <a:cs typeface="Times New Roman" panose="02020603050405020304" pitchFamily="18" charset="0"/>
              </a:rPr>
              <a:t>BCD Addition </a:t>
            </a:r>
            <a:endParaRPr lang="en-US" sz="2800" b="0" i="0" u="sng" dirty="0">
              <a:solidFill>
                <a:srgbClr val="000000"/>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28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The </a:t>
            </a:r>
            <a:r>
              <a:rPr lang="en-US" sz="2800" b="1" i="0" dirty="0">
                <a:solidFill>
                  <a:srgbClr val="000000"/>
                </a:solidFill>
                <a:effectLst/>
                <a:latin typeface="Times New Roman" panose="02020603050405020304" pitchFamily="18" charset="0"/>
                <a:cs typeface="Times New Roman" panose="02020603050405020304" pitchFamily="18" charset="0"/>
              </a:rPr>
              <a:t>addition of BCD numbers</a:t>
            </a:r>
            <a:r>
              <a:rPr lang="en-US" sz="2800" b="0" i="0" dirty="0">
                <a:solidFill>
                  <a:srgbClr val="000000"/>
                </a:solidFill>
                <a:effectLst/>
                <a:latin typeface="Times New Roman" panose="02020603050405020304" pitchFamily="18" charset="0"/>
                <a:cs typeface="Times New Roman" panose="02020603050405020304" pitchFamily="18" charset="0"/>
              </a:rPr>
              <a:t> is slightly different from </a:t>
            </a:r>
            <a:r>
              <a:rPr lang="en-US" sz="2800" b="1" i="0" dirty="0">
                <a:solidFill>
                  <a:srgbClr val="000000"/>
                </a:solidFill>
                <a:effectLst/>
                <a:latin typeface="Times New Roman" panose="02020603050405020304" pitchFamily="18" charset="0"/>
                <a:cs typeface="Times New Roman" panose="02020603050405020304" pitchFamily="18" charset="0"/>
              </a:rPr>
              <a:t>binary addition</a:t>
            </a:r>
            <a:r>
              <a:rPr lang="en-US" sz="2800" b="0" i="0" dirty="0">
                <a:solidFill>
                  <a:srgbClr val="000000"/>
                </a:solidFill>
                <a:effectLst/>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b="0" i="0" dirty="0">
                <a:solidFill>
                  <a:srgbClr val="FF0000"/>
                </a:solidFill>
                <a:effectLst/>
                <a:latin typeface="Times New Roman" panose="02020603050405020304" pitchFamily="18" charset="0"/>
                <a:cs typeface="Times New Roman" panose="02020603050405020304" pitchFamily="18" charset="0"/>
              </a:rPr>
              <a:t>Here</a:t>
            </a:r>
            <a:r>
              <a:rPr lang="en-US" sz="2800" b="0" i="0" dirty="0">
                <a:solidFill>
                  <a:srgbClr val="000000"/>
                </a:solidFill>
                <a:effectLst/>
                <a:latin typeface="Times New Roman" panose="02020603050405020304" pitchFamily="18" charset="0"/>
                <a:cs typeface="Times New Roman" panose="02020603050405020304" pitchFamily="18" charset="0"/>
              </a:rPr>
              <a:t>, </a:t>
            </a:r>
            <a:r>
              <a:rPr lang="en-US" sz="2800" b="0" i="0" dirty="0">
                <a:solidFill>
                  <a:srgbClr val="FF0000"/>
                </a:solidFill>
                <a:effectLst/>
                <a:latin typeface="Times New Roman" panose="02020603050405020304" pitchFamily="18" charset="0"/>
                <a:cs typeface="Times New Roman" panose="02020603050405020304" pitchFamily="18" charset="0"/>
              </a:rPr>
              <a:t>the rules of binary addition are partially applicable only to the individual 4-bit groups. </a:t>
            </a:r>
          </a:p>
          <a:p>
            <a:pPr marL="457200" indent="-457200" algn="just">
              <a:buFont typeface="Arial" panose="020B0604020202020204" pitchFamily="34" charset="0"/>
              <a:buChar char="•"/>
            </a:pPr>
            <a:r>
              <a:rPr lang="en-US" sz="2800" b="0" i="0" dirty="0">
                <a:solidFill>
                  <a:srgbClr val="000000"/>
                </a:solidFill>
                <a:effectLst/>
                <a:latin typeface="Times New Roman" panose="02020603050405020304" pitchFamily="18" charset="0"/>
                <a:cs typeface="Times New Roman" panose="02020603050405020304" pitchFamily="18" charset="0"/>
              </a:rPr>
              <a:t>The </a:t>
            </a:r>
            <a:r>
              <a:rPr lang="en-US" sz="2800" b="1" i="0" dirty="0">
                <a:solidFill>
                  <a:srgbClr val="000000"/>
                </a:solidFill>
                <a:effectLst/>
                <a:latin typeface="Times New Roman" panose="02020603050405020304" pitchFamily="18" charset="0"/>
                <a:cs typeface="Times New Roman" panose="02020603050405020304" pitchFamily="18" charset="0"/>
              </a:rPr>
              <a:t>BCD addition</a:t>
            </a:r>
            <a:r>
              <a:rPr lang="en-US" sz="2800" b="0" i="0" dirty="0">
                <a:solidFill>
                  <a:srgbClr val="000000"/>
                </a:solidFill>
                <a:effectLst/>
                <a:latin typeface="Times New Roman" panose="02020603050405020304" pitchFamily="18" charset="0"/>
                <a:cs typeface="Times New Roman" panose="02020603050405020304" pitchFamily="18" charset="0"/>
              </a:rPr>
              <a:t>, is thus carried out by individually adding the corresponding 4-bit groups starting from the LSB side.</a:t>
            </a:r>
          </a:p>
          <a:p>
            <a:pPr algn="just"/>
            <a:endParaRPr lang="en-US" sz="2800" b="0" i="0" dirty="0">
              <a:solidFill>
                <a:srgbClr val="000000"/>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I</a:t>
            </a:r>
            <a:r>
              <a:rPr lang="en-US" sz="2800" b="0" i="0" dirty="0">
                <a:solidFill>
                  <a:srgbClr val="000000"/>
                </a:solidFill>
                <a:effectLst/>
                <a:latin typeface="Times New Roman" panose="02020603050405020304" pitchFamily="18" charset="0"/>
                <a:cs typeface="Times New Roman" panose="02020603050405020304" pitchFamily="18" charset="0"/>
              </a:rPr>
              <a:t>f there is a carry to the next group, or if the result belongs to any of the 6 illegal states than we add </a:t>
            </a:r>
            <a:r>
              <a:rPr lang="en-US" sz="2800" b="1" i="0" dirty="0">
                <a:solidFill>
                  <a:srgbClr val="000000"/>
                </a:solidFill>
                <a:effectLst/>
                <a:latin typeface="Times New Roman" panose="02020603050405020304" pitchFamily="18" charset="0"/>
                <a:cs typeface="Times New Roman" panose="02020603050405020304" pitchFamily="18" charset="0"/>
              </a:rPr>
              <a:t>6</a:t>
            </a:r>
            <a:r>
              <a:rPr lang="en-US" sz="2800" b="1" i="0" baseline="-25000" dirty="0">
                <a:solidFill>
                  <a:srgbClr val="000000"/>
                </a:solidFill>
                <a:effectLst/>
                <a:latin typeface="Times New Roman" panose="02020603050405020304" pitchFamily="18" charset="0"/>
                <a:cs typeface="Times New Roman" panose="02020603050405020304" pitchFamily="18" charset="0"/>
              </a:rPr>
              <a:t>10</a:t>
            </a:r>
            <a:r>
              <a:rPr lang="en-US" sz="2800" b="1" i="0" dirty="0">
                <a:solidFill>
                  <a:srgbClr val="000000"/>
                </a:solidFill>
                <a:effectLst/>
                <a:latin typeface="Times New Roman" panose="02020603050405020304" pitchFamily="18" charset="0"/>
                <a:cs typeface="Times New Roman" panose="02020603050405020304" pitchFamily="18" charset="0"/>
              </a:rPr>
              <a:t>(0110)</a:t>
            </a:r>
            <a:r>
              <a:rPr lang="en-US" sz="2800" b="0" i="0" dirty="0">
                <a:solidFill>
                  <a:srgbClr val="000000"/>
                </a:solidFill>
                <a:effectLst/>
                <a:latin typeface="Times New Roman" panose="02020603050405020304" pitchFamily="18" charset="0"/>
                <a:cs typeface="Times New Roman" panose="02020603050405020304" pitchFamily="18" charset="0"/>
              </a:rPr>
              <a:t> to the sum term of that group and resulting carry is added in the next group.</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9183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grayscl/>
          </a:blip>
          <a:stretch>
            <a:fillRect/>
          </a:stretch>
        </p:blipFill>
        <p:spPr>
          <a:xfrm>
            <a:off x="479849" y="551561"/>
            <a:ext cx="10646378" cy="806184"/>
          </a:xfrm>
          <a:prstGeom prst="rect">
            <a:avLst/>
          </a:prstGeom>
        </p:spPr>
      </p:pic>
      <p:pic>
        <p:nvPicPr>
          <p:cNvPr id="5" name="Picture 4"/>
          <p:cNvPicPr>
            <a:picLocks noChangeAspect="1"/>
          </p:cNvPicPr>
          <p:nvPr/>
        </p:nvPicPr>
        <p:blipFill>
          <a:blip r:embed="rId3" cstate="print"/>
          <a:stretch>
            <a:fillRect/>
          </a:stretch>
        </p:blipFill>
        <p:spPr>
          <a:xfrm>
            <a:off x="727288" y="1674214"/>
            <a:ext cx="2410542" cy="667203"/>
          </a:xfrm>
          <a:prstGeom prst="rect">
            <a:avLst/>
          </a:prstGeom>
        </p:spPr>
      </p:pic>
      <p:pic>
        <p:nvPicPr>
          <p:cNvPr id="6" name="Picture 5"/>
          <p:cNvPicPr>
            <a:picLocks noChangeAspect="1"/>
          </p:cNvPicPr>
          <p:nvPr/>
        </p:nvPicPr>
        <p:blipFill>
          <a:blip r:embed="rId4" cstate="print">
            <a:grayscl/>
          </a:blip>
          <a:stretch>
            <a:fillRect/>
          </a:stretch>
        </p:blipFill>
        <p:spPr>
          <a:xfrm>
            <a:off x="727288" y="2758699"/>
            <a:ext cx="10978301" cy="2741556"/>
          </a:xfrm>
          <a:prstGeom prst="rect">
            <a:avLst/>
          </a:prstGeom>
        </p:spPr>
      </p:pic>
    </p:spTree>
    <p:extLst>
      <p:ext uri="{BB962C8B-B14F-4D97-AF65-F5344CB8AC3E}">
        <p14:creationId xmlns:p14="http://schemas.microsoft.com/office/powerpoint/2010/main" val="30333420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19000"/>
                    </a14:imgEffect>
                  </a14:imgLayer>
                </a14:imgProps>
              </a:ext>
            </a:extLst>
          </a:blip>
          <a:stretch>
            <a:fillRect/>
          </a:stretch>
        </p:blipFill>
        <p:spPr>
          <a:xfrm>
            <a:off x="403430" y="374072"/>
            <a:ext cx="11465893" cy="6289963"/>
          </a:xfrm>
          <a:prstGeom prst="rect">
            <a:avLst/>
          </a:prstGeom>
          <a:effectLst>
            <a:outerShdw blurRad="50800" dist="50800" dir="5400000" algn="ctr" rotWithShape="0">
              <a:srgbClr val="000000"/>
            </a:outerShdw>
          </a:effectLst>
        </p:spPr>
      </p:pic>
    </p:spTree>
    <p:extLst>
      <p:ext uri="{BB962C8B-B14F-4D97-AF65-F5344CB8AC3E}">
        <p14:creationId xmlns:p14="http://schemas.microsoft.com/office/powerpoint/2010/main" val="23042001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62993" y="1593274"/>
            <a:ext cx="11359061" cy="2757052"/>
          </a:xfrm>
          <a:prstGeom prst="rect">
            <a:avLst/>
          </a:prstGeom>
        </p:spPr>
      </p:pic>
      <p:sp>
        <p:nvSpPr>
          <p:cNvPr id="5" name="TextBox 4"/>
          <p:cNvSpPr txBox="1"/>
          <p:nvPr/>
        </p:nvSpPr>
        <p:spPr>
          <a:xfrm>
            <a:off x="2272145" y="235527"/>
            <a:ext cx="3608680" cy="646331"/>
          </a:xfrm>
          <a:prstGeom prst="rect">
            <a:avLst/>
          </a:prstGeom>
          <a:noFill/>
        </p:spPr>
        <p:txBody>
          <a:bodyPr wrap="none" rtlCol="0">
            <a:spAutoFit/>
          </a:bodyPr>
          <a:lstStyle/>
          <a:p>
            <a:r>
              <a:rPr lang="en-US" sz="3600" b="1" u="sng" dirty="0">
                <a:latin typeface="Times New Roman" panose="02020603050405020304" pitchFamily="18" charset="0"/>
                <a:cs typeface="Times New Roman" panose="02020603050405020304" pitchFamily="18" charset="0"/>
              </a:rPr>
              <a:t>BCD Subtraction</a:t>
            </a:r>
            <a:endParaRPr lang="en-IN" sz="3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0717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15987" y="279233"/>
            <a:ext cx="11676013" cy="773712"/>
          </a:xfrm>
          <a:prstGeom prst="rect">
            <a:avLst/>
          </a:prstGeom>
        </p:spPr>
      </p:pic>
      <p:pic>
        <p:nvPicPr>
          <p:cNvPr id="5" name="Picture 4"/>
          <p:cNvPicPr>
            <a:picLocks noChangeAspect="1"/>
          </p:cNvPicPr>
          <p:nvPr/>
        </p:nvPicPr>
        <p:blipFill>
          <a:blip r:embed="rId3" cstate="print"/>
          <a:stretch>
            <a:fillRect/>
          </a:stretch>
        </p:blipFill>
        <p:spPr>
          <a:xfrm>
            <a:off x="840734" y="1052945"/>
            <a:ext cx="2577220" cy="1014437"/>
          </a:xfrm>
          <a:prstGeom prst="rect">
            <a:avLst/>
          </a:prstGeom>
        </p:spPr>
      </p:pic>
      <p:pic>
        <p:nvPicPr>
          <p:cNvPr id="6" name="Picture 5"/>
          <p:cNvPicPr>
            <a:picLocks noChangeAspect="1"/>
          </p:cNvPicPr>
          <p:nvPr/>
        </p:nvPicPr>
        <p:blipFill>
          <a:blip r:embed="rId4" cstate="print"/>
          <a:stretch>
            <a:fillRect/>
          </a:stretch>
        </p:blipFill>
        <p:spPr>
          <a:xfrm>
            <a:off x="1163782" y="2711523"/>
            <a:ext cx="10224653" cy="2539350"/>
          </a:xfrm>
          <a:prstGeom prst="rect">
            <a:avLst/>
          </a:prstGeom>
        </p:spPr>
      </p:pic>
    </p:spTree>
    <p:extLst>
      <p:ext uri="{BB962C8B-B14F-4D97-AF65-F5344CB8AC3E}">
        <p14:creationId xmlns:p14="http://schemas.microsoft.com/office/powerpoint/2010/main" val="17264151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55474" y="966262"/>
            <a:ext cx="11111073" cy="3494901"/>
          </a:xfrm>
          <a:prstGeom prst="rect">
            <a:avLst/>
          </a:prstGeom>
        </p:spPr>
      </p:pic>
    </p:spTree>
    <p:extLst>
      <p:ext uri="{BB962C8B-B14F-4D97-AF65-F5344CB8AC3E}">
        <p14:creationId xmlns:p14="http://schemas.microsoft.com/office/powerpoint/2010/main" val="24647966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3495498" y="0"/>
            <a:ext cx="4677563" cy="646331"/>
          </a:xfrm>
          <a:prstGeom prst="rect">
            <a:avLst/>
          </a:prstGeom>
        </p:spPr>
        <p:txBody>
          <a:bodyPr wrap="none">
            <a:spAutoFit/>
          </a:bodyPr>
          <a:lstStyle/>
          <a:p>
            <a:r>
              <a:rPr lang="en-IN" sz="3600" b="1" i="0" u="sng" dirty="0">
                <a:solidFill>
                  <a:srgbClr val="000000"/>
                </a:solidFill>
                <a:effectLst/>
                <a:latin typeface="Times New Roman" panose="02020603050405020304" pitchFamily="18" charset="0"/>
                <a:cs typeface="Times New Roman" panose="02020603050405020304" pitchFamily="18" charset="0"/>
              </a:rPr>
              <a:t>Excess-3 code (or XS3)</a:t>
            </a:r>
            <a:endParaRPr lang="en-IN" sz="3600" b="1" u="sng" dirty="0">
              <a:latin typeface="Times New Roman" panose="02020603050405020304" pitchFamily="18" charset="0"/>
              <a:cs typeface="Times New Roman" panose="02020603050405020304" pitchFamily="18" charset="0"/>
            </a:endParaRPr>
          </a:p>
        </p:txBody>
      </p:sp>
      <p:sp>
        <p:nvSpPr>
          <p:cNvPr id="6" name="Rectangle 5"/>
          <p:cNvSpPr/>
          <p:nvPr/>
        </p:nvSpPr>
        <p:spPr>
          <a:xfrm>
            <a:off x="92365" y="646331"/>
            <a:ext cx="11961983" cy="1877437"/>
          </a:xfrm>
          <a:prstGeom prst="rect">
            <a:avLst/>
          </a:prstGeom>
        </p:spPr>
        <p:txBody>
          <a:bodyPr wrap="square">
            <a:spAutoFit/>
          </a:bodyPr>
          <a:lstStyle/>
          <a:p>
            <a:pPr marL="457200" lvl="0" indent="-457200" eaLnBrk="0" fontAlgn="base" hangingPunct="0">
              <a:spcBef>
                <a:spcPct val="0"/>
              </a:spcBef>
              <a:spcAft>
                <a:spcPct val="0"/>
              </a:spcAft>
              <a:buFont typeface="Arial" panose="020B0604020202020204" pitchFamily="34" charset="0"/>
              <a:buChar char="•"/>
            </a:pPr>
            <a:r>
              <a:rPr lang="en-US" sz="2800" b="1" i="0" dirty="0">
                <a:solidFill>
                  <a:srgbClr val="000000"/>
                </a:solidFill>
                <a:effectLst/>
                <a:latin typeface="Times New Roman" panose="02020603050405020304" pitchFamily="18" charset="0"/>
                <a:cs typeface="Times New Roman" panose="02020603050405020304" pitchFamily="18" charset="0"/>
              </a:rPr>
              <a:t>The excess-3 code (or XS3) is a non-weighted BCD code.</a:t>
            </a:r>
          </a:p>
          <a:p>
            <a:pPr lvl="0" algn="just" eaLnBrk="0" fontAlgn="base" hangingPunct="0">
              <a:spcBef>
                <a:spcPct val="0"/>
              </a:spcBef>
              <a:spcAft>
                <a:spcPct val="0"/>
              </a:spcAft>
              <a:buFontTx/>
              <a:buChar char="•"/>
            </a:pPr>
            <a:r>
              <a:rPr lang="en-US" altLang="en-US" sz="2800" dirty="0">
                <a:solidFill>
                  <a:srgbClr val="000000"/>
                </a:solidFill>
                <a:latin typeface="Times New Roman" panose="02020603050405020304" pitchFamily="18" charset="0"/>
                <a:cs typeface="Times New Roman" panose="02020603050405020304" pitchFamily="18" charset="0"/>
              </a:rPr>
              <a:t>  </a:t>
            </a:r>
            <a:r>
              <a:rPr lang="en-US" altLang="en-US" sz="2800" dirty="0">
                <a:solidFill>
                  <a:srgbClr val="FF0000"/>
                </a:solidFill>
                <a:latin typeface="Times New Roman" panose="02020603050405020304" pitchFamily="18" charset="0"/>
                <a:cs typeface="Times New Roman" panose="02020603050405020304" pitchFamily="18" charset="0"/>
              </a:rPr>
              <a:t>We will get the Excess 3 code of a decimal number by adding three </a:t>
            </a:r>
            <a:r>
              <a:rPr lang="en-US" altLang="en-US" sz="3200" dirty="0">
                <a:solidFill>
                  <a:srgbClr val="FF0000"/>
                </a:solidFill>
                <a:latin typeface="Times New Roman" panose="02020603050405020304" pitchFamily="18" charset="0"/>
                <a:cs typeface="Times New Roman" panose="02020603050405020304" pitchFamily="18" charset="0"/>
              </a:rPr>
              <a:t>(</a:t>
            </a:r>
            <a:r>
              <a:rPr lang="en-US" altLang="en-US" sz="2800" dirty="0">
                <a:solidFill>
                  <a:srgbClr val="FF0000"/>
                </a:solidFill>
                <a:latin typeface="Times New Roman" panose="02020603050405020304" pitchFamily="18" charset="0"/>
                <a:cs typeface="Times New Roman" panose="02020603050405020304" pitchFamily="18" charset="0"/>
              </a:rPr>
              <a:t>0011) to the binary equivalent of that decimal number.  Hence, it is called as Excess 3 code.</a:t>
            </a:r>
          </a:p>
          <a:p>
            <a:pPr lvl="0" algn="just" eaLnBrk="0" fontAlgn="base" hangingPunct="0">
              <a:spcBef>
                <a:spcPct val="0"/>
              </a:spcBef>
              <a:spcAft>
                <a:spcPct val="0"/>
              </a:spcAft>
            </a:pPr>
            <a:endParaRPr lang="en-US" altLang="en-US" sz="2800" dirty="0">
              <a:solidFill>
                <a:srgbClr val="000000"/>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0" y="-300082"/>
            <a:ext cx="184731"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C09E4567-AD0F-4EF2-B187-6F6D6E6D8BF8}"/>
              </a:ext>
            </a:extLst>
          </p:cNvPr>
          <p:cNvPicPr>
            <a:picLocks noChangeAspect="1"/>
          </p:cNvPicPr>
          <p:nvPr/>
        </p:nvPicPr>
        <p:blipFill>
          <a:blip r:embed="rId2" cstate="print"/>
          <a:stretch>
            <a:fillRect/>
          </a:stretch>
        </p:blipFill>
        <p:spPr>
          <a:xfrm>
            <a:off x="1267019" y="2061979"/>
            <a:ext cx="8663562" cy="4720938"/>
          </a:xfrm>
          <a:prstGeom prst="rect">
            <a:avLst/>
          </a:prstGeom>
        </p:spPr>
      </p:pic>
    </p:spTree>
    <p:extLst>
      <p:ext uri="{BB962C8B-B14F-4D97-AF65-F5344CB8AC3E}">
        <p14:creationId xmlns:p14="http://schemas.microsoft.com/office/powerpoint/2010/main" val="3993643773"/>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err="1">
                <a:latin typeface="Times New Roman" panose="02020603050405020304" pitchFamily="18" charset="0"/>
                <a:cs typeface="Times New Roman" panose="02020603050405020304" pitchFamily="18" charset="0"/>
              </a:rPr>
              <a:t>Gray</a:t>
            </a:r>
            <a:r>
              <a:rPr lang="en-IN" b="1" u="sng" dirty="0">
                <a:latin typeface="Times New Roman" panose="02020603050405020304" pitchFamily="18" charset="0"/>
                <a:cs typeface="Times New Roman" panose="02020603050405020304" pitchFamily="18" charset="0"/>
              </a:rPr>
              <a:t> Code</a:t>
            </a:r>
            <a:br>
              <a:rPr lang="en-IN" dirty="0"/>
            </a:br>
            <a:endParaRPr lang="en-IN" dirty="0"/>
          </a:p>
        </p:txBody>
      </p:sp>
      <p:sp>
        <p:nvSpPr>
          <p:cNvPr id="3" name="Content Placeholder 2"/>
          <p:cNvSpPr>
            <a:spLocks noGrp="1"/>
          </p:cNvSpPr>
          <p:nvPr>
            <p:ph idx="1"/>
          </p:nvPr>
        </p:nvSpPr>
        <p:spPr>
          <a:xfrm>
            <a:off x="838200" y="1122218"/>
            <a:ext cx="10515600" cy="5054745"/>
          </a:xfrm>
        </p:spPr>
        <p:txBody>
          <a:bodyPr/>
          <a:lstStyle/>
          <a:p>
            <a:pPr algn="just"/>
            <a:endParaRPr lang="en-US" dirty="0"/>
          </a:p>
          <a:p>
            <a:pPr algn="just"/>
            <a:r>
              <a:rPr lang="en-IN" dirty="0">
                <a:latin typeface="Times New Roman" panose="02020603050405020304" pitchFamily="18" charset="0"/>
                <a:ea typeface="Calibri" panose="020F0502020204030204" pitchFamily="34" charset="0"/>
                <a:cs typeface="Times New Roman" panose="02020603050405020304" pitchFamily="18" charset="0"/>
              </a:rPr>
              <a:t>The </a:t>
            </a:r>
            <a:r>
              <a:rPr lang="en-IN" dirty="0" err="1">
                <a:latin typeface="Times New Roman" panose="02020603050405020304" pitchFamily="18" charset="0"/>
                <a:ea typeface="Calibri" panose="020F0502020204030204" pitchFamily="34" charset="0"/>
                <a:cs typeface="Times New Roman" panose="02020603050405020304" pitchFamily="18" charset="0"/>
              </a:rPr>
              <a:t>Gray</a:t>
            </a:r>
            <a:r>
              <a:rPr lang="en-IN" dirty="0">
                <a:latin typeface="Times New Roman" panose="02020603050405020304" pitchFamily="18" charset="0"/>
                <a:ea typeface="Calibri" panose="020F0502020204030204" pitchFamily="34" charset="0"/>
                <a:cs typeface="Times New Roman" panose="02020603050405020304" pitchFamily="18" charset="0"/>
              </a:rPr>
              <a:t> code is non-weighted code, as the position of </a:t>
            </a:r>
            <a:r>
              <a:rPr lang="en-IN" spc="-20" dirty="0">
                <a:latin typeface="Times New Roman" panose="02020603050405020304" pitchFamily="18" charset="0"/>
                <a:ea typeface="Calibri" panose="020F0502020204030204" pitchFamily="34" charset="0"/>
                <a:cs typeface="Times New Roman" panose="02020603050405020304" pitchFamily="18" charset="0"/>
              </a:rPr>
              <a:t>bit </a:t>
            </a:r>
            <a:r>
              <a:rPr lang="en-IN" dirty="0">
                <a:latin typeface="Times New Roman" panose="02020603050405020304" pitchFamily="18" charset="0"/>
                <a:ea typeface="Calibri" panose="020F0502020204030204" pitchFamily="34" charset="0"/>
                <a:cs typeface="Times New Roman" panose="02020603050405020304" pitchFamily="18" charset="0"/>
              </a:rPr>
              <a:t>does not contain any weight. </a:t>
            </a:r>
          </a:p>
          <a:p>
            <a:pPr algn="just"/>
            <a:r>
              <a:rPr lang="en-IN" dirty="0">
                <a:latin typeface="Times New Roman" panose="02020603050405020304" pitchFamily="18" charset="0"/>
                <a:ea typeface="Calibri" panose="020F0502020204030204" pitchFamily="34" charset="0"/>
                <a:cs typeface="Times New Roman" panose="02020603050405020304" pitchFamily="18" charset="0"/>
              </a:rPr>
              <a:t>The </a:t>
            </a:r>
            <a:r>
              <a:rPr lang="en-IN" b="1" dirty="0" err="1">
                <a:latin typeface="Times New Roman" panose="02020603050405020304" pitchFamily="18" charset="0"/>
                <a:ea typeface="Calibri" panose="020F0502020204030204" pitchFamily="34" charset="0"/>
                <a:cs typeface="Times New Roman" panose="02020603050405020304" pitchFamily="18" charset="0"/>
              </a:rPr>
              <a:t>Gray</a:t>
            </a:r>
            <a:r>
              <a:rPr lang="en-IN" b="1" dirty="0">
                <a:latin typeface="Times New Roman" panose="02020603050405020304" pitchFamily="18" charset="0"/>
                <a:ea typeface="Calibri" panose="020F0502020204030204" pitchFamily="34" charset="0"/>
                <a:cs typeface="Times New Roman" panose="02020603050405020304" pitchFamily="18" charset="0"/>
              </a:rPr>
              <a:t> code </a:t>
            </a:r>
            <a:r>
              <a:rPr lang="en-IN" spc="-15" dirty="0">
                <a:latin typeface="Times New Roman" panose="02020603050405020304" pitchFamily="18" charset="0"/>
                <a:ea typeface="Calibri" panose="020F0502020204030204" pitchFamily="34" charset="0"/>
                <a:cs typeface="Times New Roman" panose="02020603050405020304" pitchFamily="18" charset="0"/>
              </a:rPr>
              <a:t>is </a:t>
            </a:r>
            <a:r>
              <a:rPr lang="en-IN" dirty="0">
                <a:latin typeface="Times New Roman" panose="02020603050405020304" pitchFamily="18" charset="0"/>
                <a:ea typeface="Calibri" panose="020F0502020204030204" pitchFamily="34" charset="0"/>
                <a:cs typeface="Times New Roman" panose="02020603050405020304" pitchFamily="18" charset="0"/>
              </a:rPr>
              <a:t>a </a:t>
            </a:r>
            <a:r>
              <a:rPr lang="en-IN" b="1" dirty="0">
                <a:latin typeface="Times New Roman" panose="02020603050405020304" pitchFamily="18" charset="0"/>
                <a:ea typeface="Calibri" panose="020F0502020204030204" pitchFamily="34" charset="0"/>
                <a:cs typeface="Times New Roman" panose="02020603050405020304" pitchFamily="18" charset="0"/>
              </a:rPr>
              <a:t>reflective digital code </a:t>
            </a:r>
            <a:r>
              <a:rPr lang="en-IN" dirty="0">
                <a:latin typeface="Times New Roman" panose="02020603050405020304" pitchFamily="18" charset="0"/>
                <a:ea typeface="Calibri" panose="020F0502020204030204" pitchFamily="34" charset="0"/>
                <a:cs typeface="Times New Roman" panose="02020603050405020304" pitchFamily="18" charset="0"/>
              </a:rPr>
              <a:t>which has the special property that any two subsequent numbers codes differ by only one bit. This </a:t>
            </a:r>
            <a:r>
              <a:rPr lang="en-IN" spc="-15" dirty="0">
                <a:latin typeface="Times New Roman" panose="02020603050405020304" pitchFamily="18" charset="0"/>
                <a:ea typeface="Calibri" panose="020F0502020204030204" pitchFamily="34" charset="0"/>
                <a:cs typeface="Times New Roman" panose="02020603050405020304" pitchFamily="18" charset="0"/>
              </a:rPr>
              <a:t>is </a:t>
            </a:r>
            <a:r>
              <a:rPr lang="en-IN" dirty="0">
                <a:latin typeface="Times New Roman" panose="02020603050405020304" pitchFamily="18" charset="0"/>
                <a:ea typeface="Calibri" panose="020F0502020204030204" pitchFamily="34" charset="0"/>
                <a:cs typeface="Times New Roman" panose="02020603050405020304" pitchFamily="18" charset="0"/>
              </a:rPr>
              <a:t>also called a </a:t>
            </a:r>
            <a:r>
              <a:rPr lang="en-IN" b="1" dirty="0">
                <a:latin typeface="Times New Roman" panose="02020603050405020304" pitchFamily="18" charset="0"/>
                <a:ea typeface="Calibri" panose="020F0502020204030204" pitchFamily="34" charset="0"/>
                <a:cs typeface="Times New Roman" panose="02020603050405020304" pitchFamily="18" charset="0"/>
              </a:rPr>
              <a:t>unit- distance code</a:t>
            </a: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66652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2059978-19B7-4E97-9197-AD685CE121F4}"/>
              </a:ext>
            </a:extLst>
          </p:cNvPr>
          <p:cNvSpPr/>
          <p:nvPr/>
        </p:nvSpPr>
        <p:spPr>
          <a:xfrm>
            <a:off x="277091" y="961563"/>
            <a:ext cx="6885709" cy="5047536"/>
          </a:xfrm>
          <a:prstGeom prst="rect">
            <a:avLst/>
          </a:prstGeom>
        </p:spPr>
        <p:txBody>
          <a:bodyPr wrap="square">
            <a:spAutoFit/>
          </a:bodyPr>
          <a:lstStyle/>
          <a:p>
            <a:pPr marL="457200" indent="-457200" algn="just">
              <a:lnSpc>
                <a:spcPct val="115000"/>
              </a:lnSpc>
              <a:spcAft>
                <a:spcPts val="0"/>
              </a:spcAft>
              <a:buFont typeface="Arial" panose="020B0604020202020204" pitchFamily="34" charset="0"/>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most significant bit (MSB) of the Gray code is always equal to the MSB of the given binary code other bits of the output Gray code can be obtained by </a:t>
            </a:r>
            <a:r>
              <a:rPr lang="en-IN" sz="2800"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Xoring</a:t>
            </a:r>
            <a:r>
              <a:rPr lang="en-IN" sz="2800" dirty="0">
                <a:latin typeface="Times New Roman" panose="02020603050405020304" pitchFamily="18" charset="0"/>
                <a:ea typeface="Calibri" panose="020F0502020204030204" pitchFamily="34" charset="0"/>
                <a:cs typeface="Times New Roman" panose="02020603050405020304" pitchFamily="18" charset="0"/>
              </a:rPr>
              <a:t> binary code bit at that index and previous index.</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15000"/>
              </a:lnSpc>
              <a:spcAft>
                <a:spcPts val="0"/>
              </a:spcAft>
              <a:buFont typeface="Arial" panose="020B0604020202020204" pitchFamily="34" charset="0"/>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binary to Gray code conversions can be done by using XOR logic gate. </a:t>
            </a:r>
            <a:r>
              <a:rPr lang="en-IN" sz="2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The input is binary code and the output is equivalent Gray code.</a:t>
            </a:r>
            <a:endParaRPr lang="en-IN" sz="2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p:cNvSpPr txBox="1"/>
          <p:nvPr/>
        </p:nvSpPr>
        <p:spPr>
          <a:xfrm>
            <a:off x="581890" y="387927"/>
            <a:ext cx="4354077"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Binary to Gray code conversion</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6146" name="Picture 2" descr="grumpy-sec: Encrypting messages with an XOR ciph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95310" y="1297853"/>
            <a:ext cx="3452968" cy="39530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584873" y="1297853"/>
            <a:ext cx="1237839" cy="369332"/>
          </a:xfrm>
          <a:prstGeom prst="rect">
            <a:avLst/>
          </a:prstGeom>
          <a:noFill/>
        </p:spPr>
        <p:txBody>
          <a:bodyPr wrap="none" rtlCol="0">
            <a:spAutoFit/>
          </a:bodyPr>
          <a:lstStyle/>
          <a:p>
            <a:r>
              <a:rPr lang="en-US" b="1" dirty="0"/>
              <a:t>(XOR Gate)</a:t>
            </a:r>
            <a:endParaRPr lang="en-IN" b="1" dirty="0"/>
          </a:p>
        </p:txBody>
      </p:sp>
    </p:spTree>
    <p:extLst>
      <p:ext uri="{BB962C8B-B14F-4D97-AF65-F5344CB8AC3E}">
        <p14:creationId xmlns:p14="http://schemas.microsoft.com/office/powerpoint/2010/main" val="138597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81890" y="387927"/>
            <a:ext cx="4354077" cy="461665"/>
          </a:xfrm>
          <a:prstGeom prst="rect">
            <a:avLst/>
          </a:prstGeom>
          <a:noFill/>
        </p:spPr>
        <p:txBody>
          <a:bodyPr wrap="non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Binary to Gray code conversion</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cstate="print"/>
          <a:stretch>
            <a:fillRect/>
          </a:stretch>
        </p:blipFill>
        <p:spPr>
          <a:xfrm>
            <a:off x="1162046" y="1050347"/>
            <a:ext cx="5391150" cy="2457450"/>
          </a:xfrm>
          <a:prstGeom prst="rect">
            <a:avLst/>
          </a:prstGeom>
        </p:spPr>
      </p:pic>
      <p:pic>
        <p:nvPicPr>
          <p:cNvPr id="13" name="Picture 12"/>
          <p:cNvPicPr>
            <a:picLocks noChangeAspect="1"/>
          </p:cNvPicPr>
          <p:nvPr/>
        </p:nvPicPr>
        <p:blipFill rotWithShape="1">
          <a:blip r:embed="rId3" cstate="print"/>
          <a:srcRect t="22188" r="6293" b="6873"/>
          <a:stretch/>
        </p:blipFill>
        <p:spPr>
          <a:xfrm>
            <a:off x="1413165" y="3708552"/>
            <a:ext cx="7633854" cy="3149448"/>
          </a:xfrm>
          <a:prstGeom prst="rect">
            <a:avLst/>
          </a:prstGeom>
          <a:ln w="12700">
            <a:solidFill>
              <a:srgbClr val="FF0000"/>
            </a:solidFill>
          </a:ln>
        </p:spPr>
      </p:pic>
    </p:spTree>
    <p:extLst>
      <p:ext uri="{BB962C8B-B14F-4D97-AF65-F5344CB8AC3E}">
        <p14:creationId xmlns:p14="http://schemas.microsoft.com/office/powerpoint/2010/main" val="36125839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gital logic | Code Converters – Binary to/from Gray Code -  Tutorialspoint.dev"/>
          <p:cNvPicPr>
            <a:picLocks noChangeAspect="1" noChangeArrowheads="1"/>
          </p:cNvPicPr>
          <p:nvPr/>
        </p:nvPicPr>
        <p:blipFill>
          <a:blip r:embed="rId2" cstate="print">
            <a:biLevel thresh="50000"/>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627909" y="235527"/>
            <a:ext cx="5811982" cy="6346393"/>
          </a:xfrm>
          <a:prstGeom prst="rect">
            <a:avLst/>
          </a:prstGeom>
          <a:blipFill dpi="0" rotWithShape="1">
            <a:blip r:embed="rId4" cstate="print">
              <a:alphaModFix amt="98000"/>
              <a:biLevel thresh="50000"/>
            </a:blip>
            <a:srcRect/>
            <a:tile tx="0" ty="0" sx="100000" sy="100000" flip="none" algn="tl"/>
          </a:blipFill>
        </p:spPr>
      </p:pic>
    </p:spTree>
    <p:extLst>
      <p:ext uri="{BB962C8B-B14F-4D97-AF65-F5344CB8AC3E}">
        <p14:creationId xmlns:p14="http://schemas.microsoft.com/office/powerpoint/2010/main" val="32430100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65016" y="120673"/>
            <a:ext cx="10773235"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Convert (10)</a:t>
            </a:r>
            <a:r>
              <a:rPr kumimoji="0" lang="en-US" altLang="en-US" sz="2400" b="1"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10</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into Gray Code.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Solution: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Firstly, we convert decimal number to binary number and then convert binary to gray code.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Therefore (10)</a:t>
            </a:r>
            <a:r>
              <a:rPr kumimoji="0" lang="en-US" altLang="en-US" sz="2000" b="1"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10</a:t>
            </a: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(1111)</a:t>
            </a:r>
            <a:r>
              <a:rPr kumimoji="0" lang="en-US" altLang="en-US" sz="2000" b="1" i="0"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8435" name="Picture 3" descr="Binary to Gray code conversion | Exampl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41080" y="1329605"/>
            <a:ext cx="3762375" cy="23526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17452" y="5542671"/>
            <a:ext cx="10350526" cy="369332"/>
          </a:xfrm>
          <a:prstGeom prst="rect">
            <a:avLst/>
          </a:prstGeom>
          <a:noFill/>
        </p:spPr>
        <p:txBody>
          <a:bodyPr wrap="none" rtlCol="0">
            <a:spAutoFit/>
          </a:bodyPr>
          <a:lstStyle/>
          <a:p>
            <a:r>
              <a:rPr lang="en-US" b="1" dirty="0">
                <a:solidFill>
                  <a:srgbClr val="FF0000"/>
                </a:solidFill>
              </a:rPr>
              <a:t>Note: Conversion from any number system to Gray code or Gray code to any number system can be asked  </a:t>
            </a:r>
          </a:p>
        </p:txBody>
      </p:sp>
    </p:spTree>
    <p:extLst>
      <p:ext uri="{BB962C8B-B14F-4D97-AF65-F5344CB8AC3E}">
        <p14:creationId xmlns:p14="http://schemas.microsoft.com/office/powerpoint/2010/main" val="7602898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inary ,Gray Code Conversion"/>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44687"/>
          <a:stretch/>
        </p:blipFill>
        <p:spPr bwMode="auto">
          <a:xfrm>
            <a:off x="2065439" y="494290"/>
            <a:ext cx="7606146" cy="341269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4" name="TextBox 3"/>
          <p:cNvSpPr txBox="1"/>
          <p:nvPr/>
        </p:nvSpPr>
        <p:spPr>
          <a:xfrm>
            <a:off x="180109" y="0"/>
            <a:ext cx="4362092"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Gray to Binary Conversion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2332965" y="598202"/>
            <a:ext cx="835499" cy="4188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G3</a:t>
            </a:r>
            <a:endParaRPr lang="en-IN" sz="2000" b="1" dirty="0">
              <a:solidFill>
                <a:schemeClr val="tx1"/>
              </a:solidFill>
            </a:endParaRPr>
          </a:p>
        </p:txBody>
      </p:sp>
      <p:sp>
        <p:nvSpPr>
          <p:cNvPr id="12" name="Rectangle 11"/>
          <p:cNvSpPr/>
          <p:nvPr/>
        </p:nvSpPr>
        <p:spPr>
          <a:xfrm>
            <a:off x="4096719" y="550926"/>
            <a:ext cx="627681" cy="3911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G2</a:t>
            </a:r>
            <a:endParaRPr lang="en-IN" sz="2000" b="1" dirty="0">
              <a:solidFill>
                <a:schemeClr val="tx1"/>
              </a:solidFill>
            </a:endParaRPr>
          </a:p>
        </p:txBody>
      </p:sp>
      <p:sp>
        <p:nvSpPr>
          <p:cNvPr id="13" name="Rectangle 12"/>
          <p:cNvSpPr/>
          <p:nvPr/>
        </p:nvSpPr>
        <p:spPr>
          <a:xfrm>
            <a:off x="5396910" y="494290"/>
            <a:ext cx="1001801" cy="5227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G1</a:t>
            </a:r>
            <a:endParaRPr lang="en-IN" sz="2000" b="1" dirty="0">
              <a:solidFill>
                <a:schemeClr val="tx1"/>
              </a:solidFill>
            </a:endParaRPr>
          </a:p>
        </p:txBody>
      </p:sp>
      <p:sp>
        <p:nvSpPr>
          <p:cNvPr id="14" name="Rectangle 13"/>
          <p:cNvSpPr/>
          <p:nvPr/>
        </p:nvSpPr>
        <p:spPr>
          <a:xfrm>
            <a:off x="7267276" y="550926"/>
            <a:ext cx="796069" cy="3911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G0</a:t>
            </a:r>
            <a:endParaRPr lang="en-IN" sz="2000" b="1" dirty="0">
              <a:solidFill>
                <a:schemeClr val="tx1"/>
              </a:solidFill>
            </a:endParaRPr>
          </a:p>
        </p:txBody>
      </p:sp>
      <p:sp>
        <p:nvSpPr>
          <p:cNvPr id="15" name="Rectangle 14"/>
          <p:cNvSpPr/>
          <p:nvPr/>
        </p:nvSpPr>
        <p:spPr>
          <a:xfrm>
            <a:off x="2332965" y="2840178"/>
            <a:ext cx="835499" cy="3879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B3</a:t>
            </a:r>
            <a:endParaRPr lang="en-IN" sz="2000" b="1" dirty="0">
              <a:solidFill>
                <a:schemeClr val="tx1"/>
              </a:solidFill>
            </a:endParaRPr>
          </a:p>
        </p:txBody>
      </p:sp>
      <p:sp>
        <p:nvSpPr>
          <p:cNvPr id="16" name="Rectangle 15"/>
          <p:cNvSpPr/>
          <p:nvPr/>
        </p:nvSpPr>
        <p:spPr>
          <a:xfrm>
            <a:off x="3966280" y="2812462"/>
            <a:ext cx="809928" cy="4156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B2</a:t>
            </a:r>
            <a:endParaRPr lang="en-IN" sz="2000" b="1" dirty="0">
              <a:solidFill>
                <a:schemeClr val="tx1"/>
              </a:solidFill>
            </a:endParaRPr>
          </a:p>
        </p:txBody>
      </p:sp>
      <p:sp>
        <p:nvSpPr>
          <p:cNvPr id="17" name="Rectangle 16"/>
          <p:cNvSpPr/>
          <p:nvPr/>
        </p:nvSpPr>
        <p:spPr>
          <a:xfrm>
            <a:off x="5460916" y="2798602"/>
            <a:ext cx="937795" cy="4295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B1</a:t>
            </a:r>
            <a:endParaRPr lang="en-IN" sz="2000" b="1" dirty="0">
              <a:solidFill>
                <a:schemeClr val="tx1"/>
              </a:solidFill>
            </a:endParaRPr>
          </a:p>
        </p:txBody>
      </p:sp>
      <p:sp>
        <p:nvSpPr>
          <p:cNvPr id="18" name="Rectangle 17"/>
          <p:cNvSpPr/>
          <p:nvPr/>
        </p:nvSpPr>
        <p:spPr>
          <a:xfrm>
            <a:off x="7083419" y="2812462"/>
            <a:ext cx="979926" cy="4156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B0</a:t>
            </a:r>
            <a:endParaRPr lang="en-IN" sz="2000" b="1" dirty="0">
              <a:solidFill>
                <a:schemeClr val="tx1"/>
              </a:solidFill>
            </a:endParaRPr>
          </a:p>
        </p:txBody>
      </p:sp>
      <p:pic>
        <p:nvPicPr>
          <p:cNvPr id="19" name="Picture 2" descr="Gray to Binary Converte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422" b="12442"/>
          <a:stretch/>
        </p:blipFill>
        <p:spPr bwMode="auto">
          <a:xfrm>
            <a:off x="1507031" y="4100944"/>
            <a:ext cx="7952508" cy="2757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1857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 egin{tabular}{||c|c|c|c||c|c|c|c||} hline  multicolumn{4}{||c||}{Gray Code} &amp; multicolumn{4}{|c||}{Binary}\ hline  g_3 &amp; g_2 &amp; g_1 &amp; g_0 &amp; b_3 &amp; b_2 &amp; b_1 &amp; b_0\ hline hline  0 &amp; 0 &amp; 0 &amp; 0 &amp; 0 &amp; 0 &amp; 0 &amp; 0 \  hline  0 &amp; 0 &amp; 0 &amp; 1 &amp; 0 &amp; 0 &amp; 0 &amp; 1 \  hline  0 &amp; 0 &amp; 1 &amp; 0 &amp; 0 &amp; 0 &amp; 1 &amp; 1 \  hline  0 &amp; 0 &amp; 1 &amp; 1 &amp; 0 &amp; 0 &amp; 1 &amp; 0 \  hline hline  0 &amp; 1 &amp; 0 &amp; 0 &amp; 0 &amp; 1 &amp; 1 &amp; 1 \  hline  0 &amp; 1 &amp; 0 &amp; 1 &amp; 0 &amp; 1 &amp; 1 &amp; 0 \  hline  0 &amp; 1 &amp; 1 &amp; 0 &amp; 0 &amp; 1 &amp; 0 &amp; 0 \  hline  0 &amp; 1 &amp; 1 &amp; 1 &amp; 0 &amp; 1 &amp; 0 &amp; 1 \  hline hline  1 &amp; 0 &amp; 0 &amp; 0 &amp; 1 &amp; 1 &amp; 1 &amp; 1 \  hline  1 &amp; 0 &amp; 0 &amp; 1 &amp; 1 &amp; 1 &amp; 1 &amp; 0 \  hline  1 &amp; 0 &amp; 1 &amp; 0 &amp; 1 &amp; 1 &amp; 0 &amp; 0 \  hline  1 &amp; 0 &amp; 1 &amp; 1 &amp; 1 &amp; 1 &amp; 0 &amp; 1 \  hline hline  1 &amp; 1 &amp; 0 &amp; 0 &amp; 1 &amp; 0 &amp; 0 &amp; 0 \  hline  1 &amp; 1 &amp; 0 &amp; 1 &amp; 1 &amp; 0 &amp; 0 &amp; 1 \  hline  1 &amp; 1 &amp; 1 &amp; 0 &amp; 1 &amp; 0 &amp; 1 &amp; 1 \  hline  1 &amp; 1 &amp; 1 &amp; 1 &amp; 1 &amp; 0 &amp; 1 &amp; 0 \  hline hline end{tabular} "/>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444048" y="263236"/>
            <a:ext cx="5635625" cy="6525491"/>
          </a:xfrm>
          <a:prstGeom prst="rect">
            <a:avLst/>
          </a:prstGeom>
          <a:blipFill dpi="0" rotWithShape="1">
            <a:blip r:embed="rId3" cstate="print">
              <a:alphaModFix amt="86000"/>
              <a:biLevel thresh="25000"/>
            </a:blip>
            <a:srcRect/>
            <a:tile tx="0" ty="0" sx="100000" sy="100000" flip="none" algn="tl"/>
          </a:blipFill>
        </p:spPr>
      </p:pic>
      <p:sp>
        <p:nvSpPr>
          <p:cNvPr id="4" name="Rectangle 3"/>
          <p:cNvSpPr/>
          <p:nvPr/>
        </p:nvSpPr>
        <p:spPr>
          <a:xfrm>
            <a:off x="1551708" y="678873"/>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G3</a:t>
            </a:r>
            <a:endParaRPr lang="en-IN" dirty="0">
              <a:solidFill>
                <a:schemeClr val="tx1"/>
              </a:solidFill>
            </a:endParaRPr>
          </a:p>
        </p:txBody>
      </p:sp>
      <p:sp>
        <p:nvSpPr>
          <p:cNvPr id="6" name="Rectangle 5"/>
          <p:cNvSpPr/>
          <p:nvPr/>
        </p:nvSpPr>
        <p:spPr>
          <a:xfrm>
            <a:off x="2241258" y="678872"/>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G2</a:t>
            </a:r>
            <a:endParaRPr lang="en-IN" dirty="0">
              <a:solidFill>
                <a:schemeClr val="tx1"/>
              </a:solidFill>
            </a:endParaRPr>
          </a:p>
        </p:txBody>
      </p:sp>
      <p:sp>
        <p:nvSpPr>
          <p:cNvPr id="7" name="Rectangle 6"/>
          <p:cNvSpPr/>
          <p:nvPr/>
        </p:nvSpPr>
        <p:spPr>
          <a:xfrm>
            <a:off x="2850857" y="678871"/>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G1</a:t>
            </a:r>
            <a:endParaRPr lang="en-IN" dirty="0">
              <a:solidFill>
                <a:schemeClr val="tx1"/>
              </a:solidFill>
            </a:endParaRPr>
          </a:p>
        </p:txBody>
      </p:sp>
      <p:sp>
        <p:nvSpPr>
          <p:cNvPr id="8" name="Rectangle 7"/>
          <p:cNvSpPr/>
          <p:nvPr/>
        </p:nvSpPr>
        <p:spPr>
          <a:xfrm>
            <a:off x="3554258" y="678870"/>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G0</a:t>
            </a:r>
            <a:endParaRPr lang="en-IN" dirty="0">
              <a:solidFill>
                <a:schemeClr val="tx1"/>
              </a:solidFill>
            </a:endParaRPr>
          </a:p>
        </p:txBody>
      </p:sp>
      <p:sp>
        <p:nvSpPr>
          <p:cNvPr id="9" name="Rectangle 8"/>
          <p:cNvSpPr/>
          <p:nvPr/>
        </p:nvSpPr>
        <p:spPr>
          <a:xfrm>
            <a:off x="4299225" y="678869"/>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B3</a:t>
            </a:r>
            <a:endParaRPr lang="en-IN" dirty="0">
              <a:solidFill>
                <a:schemeClr val="tx1"/>
              </a:solidFill>
            </a:endParaRPr>
          </a:p>
        </p:txBody>
      </p:sp>
      <p:sp>
        <p:nvSpPr>
          <p:cNvPr id="10" name="Rectangle 9"/>
          <p:cNvSpPr/>
          <p:nvPr/>
        </p:nvSpPr>
        <p:spPr>
          <a:xfrm>
            <a:off x="4988775" y="678869"/>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B2</a:t>
            </a:r>
            <a:endParaRPr lang="en-IN" dirty="0">
              <a:solidFill>
                <a:schemeClr val="tx1"/>
              </a:solidFill>
            </a:endParaRPr>
          </a:p>
        </p:txBody>
      </p:sp>
      <p:sp>
        <p:nvSpPr>
          <p:cNvPr id="11" name="Rectangle 10"/>
          <p:cNvSpPr/>
          <p:nvPr/>
        </p:nvSpPr>
        <p:spPr>
          <a:xfrm>
            <a:off x="5693319" y="678868"/>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B1</a:t>
            </a:r>
            <a:endParaRPr lang="en-IN" dirty="0">
              <a:solidFill>
                <a:schemeClr val="tx1"/>
              </a:solidFill>
            </a:endParaRPr>
          </a:p>
        </p:txBody>
      </p:sp>
      <p:sp>
        <p:nvSpPr>
          <p:cNvPr id="12" name="Rectangle 11"/>
          <p:cNvSpPr/>
          <p:nvPr/>
        </p:nvSpPr>
        <p:spPr>
          <a:xfrm>
            <a:off x="6358330" y="678867"/>
            <a:ext cx="581891" cy="263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B0</a:t>
            </a:r>
            <a:endParaRPr lang="en-IN" dirty="0">
              <a:solidFill>
                <a:schemeClr val="tx1"/>
              </a:solidFill>
            </a:endParaRPr>
          </a:p>
        </p:txBody>
      </p:sp>
    </p:spTree>
    <p:extLst>
      <p:ext uri="{BB962C8B-B14F-4D97-AF65-F5344CB8AC3E}">
        <p14:creationId xmlns:p14="http://schemas.microsoft.com/office/powerpoint/2010/main" val="12759940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2942" y="528843"/>
            <a:ext cx="4842095" cy="369332"/>
          </a:xfrm>
          <a:prstGeom prst="rect">
            <a:avLst/>
          </a:prstGeom>
        </p:spPr>
        <p:txBody>
          <a:bodyPr wrap="none">
            <a:spAutoFit/>
          </a:bodyPr>
          <a:lstStyle/>
          <a:p>
            <a:r>
              <a:rPr lang="en-US" b="1" dirty="0">
                <a:solidFill>
                  <a:srgbClr val="000000"/>
                </a:solidFill>
                <a:latin typeface="segoe ui" panose="020B0502040204020203" pitchFamily="34" charset="0"/>
              </a:rPr>
              <a:t>1. Convert (110011100)</a:t>
            </a:r>
            <a:r>
              <a:rPr lang="en-US" b="1" baseline="-25000" dirty="0">
                <a:solidFill>
                  <a:srgbClr val="000000"/>
                </a:solidFill>
                <a:latin typeface="segoe ui" panose="020B0502040204020203" pitchFamily="34" charset="0"/>
              </a:rPr>
              <a:t>g</a:t>
            </a:r>
            <a:r>
              <a:rPr lang="en-US" b="1" dirty="0">
                <a:solidFill>
                  <a:srgbClr val="000000"/>
                </a:solidFill>
                <a:latin typeface="segoe ui" panose="020B0502040204020203" pitchFamily="34" charset="0"/>
              </a:rPr>
              <a:t> to binary number.</a:t>
            </a:r>
            <a:endParaRPr lang="en-IN" dirty="0"/>
          </a:p>
        </p:txBody>
      </p:sp>
      <p:pic>
        <p:nvPicPr>
          <p:cNvPr id="17410" name="Picture 2" descr="Binary to Gray code conversion | Exampl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6266" y="898175"/>
            <a:ext cx="4238625" cy="169545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566266" y="2962958"/>
            <a:ext cx="4579908" cy="369332"/>
          </a:xfrm>
          <a:prstGeom prst="rect">
            <a:avLst/>
          </a:prstGeom>
        </p:spPr>
        <p:txBody>
          <a:bodyPr wrap="none">
            <a:spAutoFit/>
          </a:bodyPr>
          <a:lstStyle/>
          <a:p>
            <a:r>
              <a:rPr lang="en-IN" b="1" dirty="0">
                <a:solidFill>
                  <a:srgbClr val="000000"/>
                </a:solidFill>
                <a:latin typeface="segoe ui" panose="020B0502040204020203" pitchFamily="34" charset="0"/>
              </a:rPr>
              <a:t>Therefore, (110011100)</a:t>
            </a:r>
            <a:r>
              <a:rPr lang="en-IN" b="1" baseline="-25000" dirty="0">
                <a:solidFill>
                  <a:srgbClr val="000000"/>
                </a:solidFill>
                <a:latin typeface="segoe ui" panose="020B0502040204020203" pitchFamily="34" charset="0"/>
              </a:rPr>
              <a:t>g</a:t>
            </a:r>
            <a:r>
              <a:rPr lang="en-IN" b="1" dirty="0">
                <a:solidFill>
                  <a:srgbClr val="000000"/>
                </a:solidFill>
                <a:latin typeface="segoe ui" panose="020B0502040204020203" pitchFamily="34" charset="0"/>
              </a:rPr>
              <a:t> = (100010111)</a:t>
            </a:r>
            <a:r>
              <a:rPr lang="en-IN" b="1" baseline="-25000" dirty="0">
                <a:solidFill>
                  <a:srgbClr val="000000"/>
                </a:solidFill>
                <a:latin typeface="segoe ui" panose="020B0502040204020203" pitchFamily="34" charset="0"/>
              </a:rPr>
              <a:t>2</a:t>
            </a:r>
            <a:endParaRPr lang="en-IN" dirty="0"/>
          </a:p>
        </p:txBody>
      </p:sp>
      <p:sp>
        <p:nvSpPr>
          <p:cNvPr id="6" name="Rectangle 5"/>
          <p:cNvSpPr/>
          <p:nvPr/>
        </p:nvSpPr>
        <p:spPr>
          <a:xfrm>
            <a:off x="742942" y="3881643"/>
            <a:ext cx="4842095" cy="369332"/>
          </a:xfrm>
          <a:prstGeom prst="rect">
            <a:avLst/>
          </a:prstGeom>
        </p:spPr>
        <p:txBody>
          <a:bodyPr wrap="none">
            <a:spAutoFit/>
          </a:bodyPr>
          <a:lstStyle/>
          <a:p>
            <a:r>
              <a:rPr lang="en-US" b="1" dirty="0">
                <a:solidFill>
                  <a:srgbClr val="000000"/>
                </a:solidFill>
                <a:latin typeface="segoe ui" panose="020B0502040204020203" pitchFamily="34" charset="0"/>
              </a:rPr>
              <a:t>2. Convert (101010101)</a:t>
            </a:r>
            <a:r>
              <a:rPr lang="en-US" b="1" baseline="-25000" dirty="0">
                <a:solidFill>
                  <a:srgbClr val="000000"/>
                </a:solidFill>
                <a:latin typeface="segoe ui" panose="020B0502040204020203" pitchFamily="34" charset="0"/>
              </a:rPr>
              <a:t>g</a:t>
            </a:r>
            <a:r>
              <a:rPr lang="en-US" b="1" dirty="0">
                <a:solidFill>
                  <a:srgbClr val="000000"/>
                </a:solidFill>
                <a:latin typeface="segoe ui" panose="020B0502040204020203" pitchFamily="34" charset="0"/>
              </a:rPr>
              <a:t> to binary number.</a:t>
            </a:r>
            <a:endParaRPr lang="en-IN" dirty="0"/>
          </a:p>
        </p:txBody>
      </p:sp>
      <p:pic>
        <p:nvPicPr>
          <p:cNvPr id="17412" name="Picture 4" descr="Binary to Gray code conversion | Exampl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6266" y="4363171"/>
            <a:ext cx="5667375" cy="144780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395624" y="6131092"/>
            <a:ext cx="4579908" cy="369332"/>
          </a:xfrm>
          <a:prstGeom prst="rect">
            <a:avLst/>
          </a:prstGeom>
        </p:spPr>
        <p:txBody>
          <a:bodyPr wrap="none">
            <a:spAutoFit/>
          </a:bodyPr>
          <a:lstStyle/>
          <a:p>
            <a:r>
              <a:rPr lang="en-IN" b="1" dirty="0">
                <a:solidFill>
                  <a:srgbClr val="000000"/>
                </a:solidFill>
                <a:latin typeface="segoe ui" panose="020B0502040204020203" pitchFamily="34" charset="0"/>
              </a:rPr>
              <a:t>Therefore, (101010101)</a:t>
            </a:r>
            <a:r>
              <a:rPr lang="en-IN" b="1" baseline="-25000" dirty="0">
                <a:solidFill>
                  <a:srgbClr val="000000"/>
                </a:solidFill>
                <a:latin typeface="segoe ui" panose="020B0502040204020203" pitchFamily="34" charset="0"/>
              </a:rPr>
              <a:t>g</a:t>
            </a:r>
            <a:r>
              <a:rPr lang="en-IN" b="1" dirty="0">
                <a:solidFill>
                  <a:srgbClr val="000000"/>
                </a:solidFill>
                <a:latin typeface="segoe ui" panose="020B0502040204020203" pitchFamily="34" charset="0"/>
              </a:rPr>
              <a:t> = (110011001)</a:t>
            </a:r>
            <a:r>
              <a:rPr lang="en-IN" b="1" baseline="-25000" dirty="0">
                <a:solidFill>
                  <a:srgbClr val="000000"/>
                </a:solidFill>
                <a:latin typeface="segoe ui" panose="020B0502040204020203" pitchFamily="34" charset="0"/>
              </a:rPr>
              <a:t>2</a:t>
            </a:r>
            <a:endParaRPr lang="en-IN" dirty="0"/>
          </a:p>
        </p:txBody>
      </p:sp>
    </p:spTree>
    <p:extLst>
      <p:ext uri="{BB962C8B-B14F-4D97-AF65-F5344CB8AC3E}">
        <p14:creationId xmlns:p14="http://schemas.microsoft.com/office/powerpoint/2010/main" val="168614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040"/>
            <a:ext cx="10515600" cy="831272"/>
          </a:xfrm>
        </p:spPr>
        <p:txBody>
          <a:bodyPr>
            <a:normAutofit/>
          </a:bodyPr>
          <a:lstStyle/>
          <a:p>
            <a:r>
              <a:rPr lang="en-US" dirty="0">
                <a:latin typeface="Times New Roman" panose="02020603050405020304" pitchFamily="18" charset="0"/>
                <a:cs typeface="Times New Roman" panose="02020603050405020304" pitchFamily="18" charset="0"/>
              </a:rPr>
              <a:t>why gray code is also called reflective code?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5527" y="947312"/>
            <a:ext cx="11014364" cy="5486400"/>
          </a:xfrm>
        </p:spPr>
        <p:txBody>
          <a:bodyPr>
            <a:normAutofit/>
          </a:bodyPr>
          <a:lstStyle/>
          <a:p>
            <a:pPr algn="just"/>
            <a:r>
              <a:rPr lang="en-US" dirty="0">
                <a:solidFill>
                  <a:srgbClr val="FF0000"/>
                </a:solidFill>
                <a:latin typeface="Times New Roman" panose="02020603050405020304" pitchFamily="18" charset="0"/>
                <a:cs typeface="Times New Roman" panose="02020603050405020304" pitchFamily="18" charset="0"/>
              </a:rPr>
              <a:t>Gray code also known as reflected binary code, </a:t>
            </a:r>
            <a:r>
              <a:rPr lang="en-US" b="1" dirty="0">
                <a:solidFill>
                  <a:srgbClr val="FF0000"/>
                </a:solidFill>
                <a:latin typeface="Times New Roman" panose="02020603050405020304" pitchFamily="18" charset="0"/>
                <a:cs typeface="Times New Roman" panose="02020603050405020304" pitchFamily="18" charset="0"/>
              </a:rPr>
              <a:t>because the last (n/2) values are reflection of the first (n/2) values</a:t>
            </a:r>
            <a:r>
              <a:rPr lang="en-US" dirty="0">
                <a:solidFill>
                  <a:srgbClr val="FF0000"/>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DFCD1C52-5E09-33D3-5198-77A2C936287F}"/>
              </a:ext>
            </a:extLst>
          </p:cNvPr>
          <p:cNvPicPr>
            <a:picLocks noChangeAspect="1"/>
          </p:cNvPicPr>
          <p:nvPr/>
        </p:nvPicPr>
        <p:blipFill>
          <a:blip r:embed="rId2" cstate="print"/>
          <a:stretch>
            <a:fillRect/>
          </a:stretch>
        </p:blipFill>
        <p:spPr>
          <a:xfrm>
            <a:off x="1644669" y="1778584"/>
            <a:ext cx="9377292" cy="5048043"/>
          </a:xfrm>
          <a:prstGeom prst="rect">
            <a:avLst/>
          </a:prstGeom>
        </p:spPr>
      </p:pic>
    </p:spTree>
    <p:extLst>
      <p:ext uri="{BB962C8B-B14F-4D97-AF65-F5344CB8AC3E}">
        <p14:creationId xmlns:p14="http://schemas.microsoft.com/office/powerpoint/2010/main" val="39293427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81200" y="0"/>
            <a:ext cx="8229600" cy="1143000"/>
          </a:xfrm>
        </p:spPr>
        <p:txBody>
          <a:bodyPr>
            <a:normAutofit/>
          </a:bodyPr>
          <a:lstStyle/>
          <a:p>
            <a:pPr algn="ctr"/>
            <a:r>
              <a:rPr lang="en-US" altLang="zh-TW" sz="3200" b="1" u="sng" dirty="0">
                <a:latin typeface="Times New Roman" panose="02020603050405020304" pitchFamily="18" charset="0"/>
                <a:ea typeface="新細明體" pitchFamily="18" charset="-120"/>
                <a:cs typeface="Times New Roman" panose="02020603050405020304" pitchFamily="18" charset="0"/>
              </a:rPr>
              <a:t>PARITY BIT - Error-Detection Codes</a:t>
            </a:r>
          </a:p>
        </p:txBody>
      </p:sp>
      <p:sp>
        <p:nvSpPr>
          <p:cNvPr id="43011" name="Rectangle 3"/>
          <p:cNvSpPr>
            <a:spLocks noGrp="1" noChangeArrowheads="1"/>
          </p:cNvSpPr>
          <p:nvPr>
            <p:ph idx="1"/>
          </p:nvPr>
        </p:nvSpPr>
        <p:spPr>
          <a:xfrm>
            <a:off x="309489" y="1143000"/>
            <a:ext cx="11465169" cy="5313217"/>
          </a:xfrm>
        </p:spPr>
        <p:txBody>
          <a:bodyPr>
            <a:normAutofit/>
          </a:bodyPr>
          <a:lstStyle/>
          <a:p>
            <a:pPr algn="just">
              <a:lnSpc>
                <a:spcPct val="90000"/>
              </a:lnSpc>
            </a:pPr>
            <a:r>
              <a:rPr lang="en-US" altLang="zh-TW" b="1" dirty="0">
                <a:solidFill>
                  <a:srgbClr val="FF0000"/>
                </a:solidFill>
                <a:latin typeface="Times New Roman" panose="02020603050405020304" pitchFamily="18" charset="0"/>
                <a:cs typeface="Times New Roman" panose="02020603050405020304" pitchFamily="18" charset="0"/>
              </a:rPr>
              <a:t>A parity bit is an extra bit appended onto the code word to make the number of 1’s odd or even. </a:t>
            </a:r>
          </a:p>
          <a:p>
            <a:pPr algn="just">
              <a:lnSpc>
                <a:spcPct val="90000"/>
              </a:lnSpc>
            </a:pPr>
            <a:r>
              <a:rPr lang="en-US" altLang="zh-TW" b="1" dirty="0">
                <a:latin typeface="Times New Roman" panose="02020603050405020304" pitchFamily="18" charset="0"/>
                <a:cs typeface="Times New Roman" panose="02020603050405020304" pitchFamily="18" charset="0"/>
              </a:rPr>
              <a:t>Parity can detect all single-bit errors and some multiple-bit errors (rarely).</a:t>
            </a:r>
          </a:p>
          <a:p>
            <a:pPr algn="just"/>
            <a:r>
              <a:rPr lang="en-US" dirty="0">
                <a:solidFill>
                  <a:srgbClr val="FF0000"/>
                </a:solidFill>
                <a:latin typeface="Times New Roman" panose="02020603050405020304" pitchFamily="18" charset="0"/>
                <a:cs typeface="Times New Roman" panose="02020603050405020304" pitchFamily="18" charset="0"/>
              </a:rPr>
              <a:t>The parity code is </a:t>
            </a:r>
            <a:r>
              <a:rPr lang="en-US" b="1" dirty="0">
                <a:solidFill>
                  <a:srgbClr val="FF0000"/>
                </a:solidFill>
                <a:latin typeface="Times New Roman" panose="02020603050405020304" pitchFamily="18" charset="0"/>
                <a:cs typeface="Times New Roman" panose="02020603050405020304" pitchFamily="18" charset="0"/>
              </a:rPr>
              <a:t>used for the purpose of detecting errors during the transmission of binary information in communication system</a:t>
            </a:r>
            <a:r>
              <a:rPr lang="en-US" dirty="0">
                <a:solidFill>
                  <a:srgbClr val="FF0000"/>
                </a:solidFill>
                <a:latin typeface="Times New Roman" panose="02020603050405020304" pitchFamily="18" charset="0"/>
                <a:cs typeface="Times New Roman" panose="02020603050405020304" pitchFamily="18" charset="0"/>
              </a:rPr>
              <a:t>. </a:t>
            </a:r>
          </a:p>
          <a:p>
            <a:pPr algn="just">
              <a:lnSpc>
                <a:spcPct val="90000"/>
              </a:lnSpc>
            </a:pPr>
            <a:r>
              <a:rPr lang="en-US" altLang="zh-TW" b="1" dirty="0">
                <a:latin typeface="Times New Roman" panose="02020603050405020304" pitchFamily="18" charset="0"/>
                <a:cs typeface="Times New Roman" panose="02020603050405020304" pitchFamily="18" charset="0"/>
              </a:rPr>
              <a:t>A code word has </a:t>
            </a:r>
            <a:r>
              <a:rPr lang="en-US" altLang="zh-TW" b="1" u="sng" dirty="0">
                <a:solidFill>
                  <a:srgbClr val="FF0000"/>
                </a:solidFill>
                <a:latin typeface="Times New Roman" panose="02020603050405020304" pitchFamily="18" charset="0"/>
                <a:cs typeface="Times New Roman" panose="02020603050405020304" pitchFamily="18" charset="0"/>
              </a:rPr>
              <a:t>even parity</a:t>
            </a:r>
            <a:r>
              <a:rPr lang="en-US" altLang="zh-TW" b="1" dirty="0">
                <a:solidFill>
                  <a:srgbClr val="FF0000"/>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if the number of 1’s in the code word is even.</a:t>
            </a:r>
            <a:endParaRPr lang="en-US" altLang="zh-TW" dirty="0">
              <a:latin typeface="Times New Roman" panose="02020603050405020304" pitchFamily="18" charset="0"/>
              <a:cs typeface="Times New Roman" panose="02020603050405020304" pitchFamily="18" charset="0"/>
            </a:endParaRPr>
          </a:p>
          <a:p>
            <a:pPr algn="just">
              <a:lnSpc>
                <a:spcPct val="90000"/>
              </a:lnSpc>
            </a:pPr>
            <a:r>
              <a:rPr lang="en-US" altLang="zh-TW" b="1" dirty="0">
                <a:latin typeface="Times New Roman" panose="02020603050405020304" pitchFamily="18" charset="0"/>
                <a:cs typeface="Times New Roman" panose="02020603050405020304" pitchFamily="18" charset="0"/>
              </a:rPr>
              <a:t>A code word has </a:t>
            </a:r>
            <a:r>
              <a:rPr lang="en-US" altLang="zh-TW" b="1" u="sng" dirty="0">
                <a:solidFill>
                  <a:srgbClr val="FF0000"/>
                </a:solidFill>
                <a:latin typeface="Times New Roman" panose="02020603050405020304" pitchFamily="18" charset="0"/>
                <a:cs typeface="Times New Roman" panose="02020603050405020304" pitchFamily="18" charset="0"/>
              </a:rPr>
              <a:t>odd parity</a:t>
            </a:r>
            <a:r>
              <a:rPr lang="en-US" altLang="zh-TW" b="1" dirty="0">
                <a:solidFill>
                  <a:srgbClr val="FF0000"/>
                </a:solidFill>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if the number of 1’s in the code word is odd.</a:t>
            </a:r>
            <a:endParaRPr lang="en-US" altLang="zh-TW" dirty="0">
              <a:latin typeface="Times New Roman" panose="02020603050405020304" pitchFamily="18" charset="0"/>
              <a:cs typeface="Times New Roman" panose="02020603050405020304" pitchFamily="18" charset="0"/>
            </a:endParaRPr>
          </a:p>
          <a:p>
            <a:pPr algn="just">
              <a:lnSpc>
                <a:spcPct val="90000"/>
              </a:lnSpc>
            </a:pP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203804"/>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www.electrically4u.com/wp-content/uploads/2020/08/parity-code.png?ezimgfmt=rs:561x288/rscb4/ng:webp/ngcb4"/>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cstate="print"/>
          <a:stretch>
            <a:fillRect/>
          </a:stretch>
        </p:blipFill>
        <p:spPr>
          <a:xfrm>
            <a:off x="155575" y="674340"/>
            <a:ext cx="11464070" cy="5712605"/>
          </a:xfrm>
          <a:prstGeom prst="rect">
            <a:avLst/>
          </a:prstGeom>
        </p:spPr>
      </p:pic>
    </p:spTree>
    <p:extLst>
      <p:ext uri="{BB962C8B-B14F-4D97-AF65-F5344CB8AC3E}">
        <p14:creationId xmlns:p14="http://schemas.microsoft.com/office/powerpoint/2010/main" val="28279728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696130" y="383458"/>
            <a:ext cx="11047889" cy="3729177"/>
          </a:xfrm>
          <a:prstGeom prst="rect">
            <a:avLst/>
          </a:prstGeom>
        </p:spPr>
      </p:pic>
    </p:spTree>
    <p:extLst>
      <p:ext uri="{BB962C8B-B14F-4D97-AF65-F5344CB8AC3E}">
        <p14:creationId xmlns:p14="http://schemas.microsoft.com/office/powerpoint/2010/main" val="24538483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93951" y="120467"/>
            <a:ext cx="10766775" cy="6737533"/>
          </a:xfrm>
          <a:prstGeom prst="rect">
            <a:avLst/>
          </a:prstGeom>
        </p:spPr>
      </p:pic>
    </p:spTree>
    <p:extLst>
      <p:ext uri="{BB962C8B-B14F-4D97-AF65-F5344CB8AC3E}">
        <p14:creationId xmlns:p14="http://schemas.microsoft.com/office/powerpoint/2010/main" val="9824240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1891" y="376720"/>
            <a:ext cx="10986654" cy="2000548"/>
          </a:xfrm>
          <a:prstGeom prst="rect">
            <a:avLst/>
          </a:prstGeom>
        </p:spPr>
        <p:txBody>
          <a:bodyPr wrap="square">
            <a:spAutoFit/>
          </a:bodyPr>
          <a:lstStyle/>
          <a:p>
            <a:r>
              <a:rPr lang="en-US" sz="2400" b="1" dirty="0">
                <a:solidFill>
                  <a:srgbClr val="CF2E2E"/>
                </a:solidFill>
                <a:latin typeface="Times New Roman" panose="02020603050405020304" pitchFamily="18" charset="0"/>
                <a:cs typeface="Times New Roman" panose="02020603050405020304" pitchFamily="18" charset="0"/>
              </a:rPr>
              <a:t>Block Parity</a:t>
            </a:r>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When several binary words are transmitted and received at a time, then such information is regarded as a block of data, having rows and columns. </a:t>
            </a:r>
          </a:p>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For example, let us consider four eight-bit </a:t>
            </a:r>
            <a:r>
              <a:rPr lang="en-US" sz="2800" dirty="0">
                <a:solidFill>
                  <a:srgbClr val="000000"/>
                </a:solidFill>
                <a:latin typeface="Times New Roman" panose="02020603050405020304" pitchFamily="18" charset="0"/>
                <a:cs typeface="Times New Roman" panose="02020603050405020304" pitchFamily="18" charset="0"/>
              </a:rPr>
              <a:t>words</a:t>
            </a:r>
            <a:r>
              <a:rPr lang="en-US" sz="2400" dirty="0">
                <a:solidFill>
                  <a:srgbClr val="000000"/>
                </a:solidFill>
                <a:latin typeface="Times New Roman" panose="02020603050405020304" pitchFamily="18" charset="0"/>
                <a:cs typeface="Times New Roman" panose="02020603050405020304" pitchFamily="18" charset="0"/>
              </a:rPr>
              <a:t>, which are to be transmitted, forms a 4 x 8 block. Parity bits are assigned to both rows and columns.</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stretch>
            <a:fillRect/>
          </a:stretch>
        </p:blipFill>
        <p:spPr>
          <a:xfrm>
            <a:off x="581891" y="2377267"/>
            <a:ext cx="10986654" cy="4259060"/>
          </a:xfrm>
          <a:prstGeom prst="rect">
            <a:avLst/>
          </a:prstGeom>
        </p:spPr>
      </p:pic>
    </p:spTree>
    <p:extLst>
      <p:ext uri="{BB962C8B-B14F-4D97-AF65-F5344CB8AC3E}">
        <p14:creationId xmlns:p14="http://schemas.microsoft.com/office/powerpoint/2010/main" val="3053963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3236" y="183170"/>
            <a:ext cx="11582400" cy="6555641"/>
          </a:xfrm>
          <a:prstGeom prst="rect">
            <a:avLst/>
          </a:prstGeom>
        </p:spPr>
        <p:txBody>
          <a:bodyPr wrap="square">
            <a:spAutoFit/>
          </a:bodyPr>
          <a:lstStyle/>
          <a:p>
            <a:pPr marL="342900" indent="-342900" algn="just">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As shown in example, even parity is given to each eight-bit word and for each column. In this case, the parity bit is called </a:t>
            </a:r>
            <a:r>
              <a:rPr lang="en-US" sz="2800" dirty="0">
                <a:solidFill>
                  <a:srgbClr val="FF0000"/>
                </a:solidFill>
                <a:latin typeface="Times New Roman" panose="02020603050405020304" pitchFamily="18" charset="0"/>
                <a:cs typeface="Times New Roman" panose="02020603050405020304" pitchFamily="18" charset="0"/>
              </a:rPr>
              <a:t>block parity. </a:t>
            </a:r>
          </a:p>
          <a:p>
            <a:pPr marL="342900" indent="-342900" algn="just">
              <a:buFont typeface="Arial" panose="020B0604020202020204" pitchFamily="34" charset="0"/>
              <a:buChar char="•"/>
            </a:pPr>
            <a:endParaRPr lang="en-US" sz="2800" dirty="0">
              <a:solidFill>
                <a:srgbClr val="FF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The block of data is transmitted from the transmitter side.</a:t>
            </a:r>
          </a:p>
          <a:p>
            <a:pPr marL="342900" indent="-342900" algn="just">
              <a:buFont typeface="Arial" panose="020B0604020202020204" pitchFamily="34" charset="0"/>
              <a:buChar char="•"/>
            </a:pPr>
            <a:endParaRPr lang="en-US" sz="28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Upon analyzing the received block of data(b), the first row has no error as the even parity is maintained. </a:t>
            </a:r>
            <a:r>
              <a:rPr lang="en-US" sz="2800" b="1" dirty="0">
                <a:solidFill>
                  <a:srgbClr val="000000"/>
                </a:solidFill>
                <a:latin typeface="Times New Roman" panose="02020603050405020304" pitchFamily="18" charset="0"/>
                <a:cs typeface="Times New Roman" panose="02020603050405020304" pitchFamily="18" charset="0"/>
              </a:rPr>
              <a:t>In the second row, the even parity is changed to odd parity. So there is an error in the 2</a:t>
            </a:r>
            <a:r>
              <a:rPr lang="en-US" sz="2800" b="1" baseline="30000" dirty="0">
                <a:solidFill>
                  <a:srgbClr val="000000"/>
                </a:solidFill>
                <a:latin typeface="Times New Roman" panose="02020603050405020304" pitchFamily="18" charset="0"/>
                <a:cs typeface="Times New Roman" panose="02020603050405020304" pitchFamily="18" charset="0"/>
              </a:rPr>
              <a:t>nd</a:t>
            </a:r>
            <a:r>
              <a:rPr lang="en-US" sz="2800" b="1" dirty="0">
                <a:solidFill>
                  <a:srgbClr val="000000"/>
                </a:solidFill>
                <a:latin typeface="Times New Roman" panose="02020603050405020304" pitchFamily="18" charset="0"/>
                <a:cs typeface="Times New Roman" panose="02020603050405020304" pitchFamily="18" charset="0"/>
              </a:rPr>
              <a:t> row.</a:t>
            </a:r>
            <a:r>
              <a:rPr lang="en-US" sz="2800" dirty="0">
                <a:solidFill>
                  <a:srgbClr val="000000"/>
                </a:solidFill>
                <a:latin typeface="Times New Roman" panose="02020603050405020304" pitchFamily="18" charset="0"/>
                <a:cs typeface="Times New Roman" panose="02020603050405020304" pitchFamily="18" charset="0"/>
              </a:rPr>
              <a:t> Even parity is maintained in the third and fourth row and thus, there is no error.</a:t>
            </a:r>
          </a:p>
          <a:p>
            <a:pPr marL="342900" indent="-342900" algn="just">
              <a:buFont typeface="Arial" panose="020B0604020202020204" pitchFamily="34" charset="0"/>
              <a:buChar char="•"/>
            </a:pPr>
            <a:endParaRPr lang="en-US" sz="28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To find out the error bit in the second row, let’s check the column-wise parity. If you do so, </a:t>
            </a:r>
            <a:r>
              <a:rPr lang="en-US" sz="2800" b="1" dirty="0">
                <a:solidFill>
                  <a:srgbClr val="000000"/>
                </a:solidFill>
                <a:latin typeface="Times New Roman" panose="02020603050405020304" pitchFamily="18" charset="0"/>
                <a:cs typeface="Times New Roman" panose="02020603050405020304" pitchFamily="18" charset="0"/>
              </a:rPr>
              <a:t>in the 2</a:t>
            </a:r>
            <a:r>
              <a:rPr lang="en-US" sz="2800" b="1" baseline="30000" dirty="0">
                <a:solidFill>
                  <a:srgbClr val="000000"/>
                </a:solidFill>
                <a:latin typeface="Times New Roman" panose="02020603050405020304" pitchFamily="18" charset="0"/>
                <a:cs typeface="Times New Roman" panose="02020603050405020304" pitchFamily="18" charset="0"/>
              </a:rPr>
              <a:t>nd</a:t>
            </a:r>
            <a:r>
              <a:rPr lang="en-US" sz="2800" b="1" dirty="0">
                <a:solidFill>
                  <a:srgbClr val="000000"/>
                </a:solidFill>
                <a:latin typeface="Times New Roman" panose="02020603050405020304" pitchFamily="18" charset="0"/>
                <a:cs typeface="Times New Roman" panose="02020603050405020304" pitchFamily="18" charset="0"/>
              </a:rPr>
              <a:t> column, you can notice the even parity is changed to odd parity. So there is an error in the second column.</a:t>
            </a:r>
            <a:r>
              <a:rPr lang="en-US" sz="2800" dirty="0">
                <a:solidFill>
                  <a:srgbClr val="000000"/>
                </a:solidFill>
                <a:latin typeface="Times New Roman" panose="02020603050405020304" pitchFamily="18" charset="0"/>
                <a:cs typeface="Times New Roman" panose="02020603050405020304" pitchFamily="18" charset="0"/>
              </a:rPr>
              <a:t> In all other columns, there is no change in the even parity and hence no error in other columns.</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2314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31273" y="0"/>
            <a:ext cx="9351818" cy="1143000"/>
          </a:xfrm>
        </p:spPr>
        <p:txBody>
          <a:bodyPr/>
          <a:lstStyle/>
          <a:p>
            <a:r>
              <a:rPr lang="en-US" altLang="zh-TW" sz="3200" u="sng" dirty="0">
                <a:solidFill>
                  <a:srgbClr val="FF0000"/>
                </a:solidFill>
                <a:latin typeface="Times New Roman" panose="02020603050405020304" pitchFamily="18" charset="0"/>
                <a:ea typeface="新細明體" pitchFamily="18" charset="-120"/>
                <a:cs typeface="Times New Roman" panose="02020603050405020304" pitchFamily="18" charset="0"/>
              </a:rPr>
              <a:t>ALPHANUMERIC CODES</a:t>
            </a:r>
          </a:p>
        </p:txBody>
      </p:sp>
      <p:sp>
        <p:nvSpPr>
          <p:cNvPr id="57346" name="投影片編號版面配置區 3"/>
          <p:cNvSpPr>
            <a:spLocks noGrp="1"/>
          </p:cNvSpPr>
          <p:nvPr>
            <p:ph type="sldNum" sz="quarter" idx="12"/>
          </p:nvPr>
        </p:nvSpPr>
        <p:spPr/>
        <p:txBody>
          <a:bodyPr/>
          <a:lstStyle>
            <a:lvl1pPr>
              <a:defRPr sz="2800" baseline="-25000">
                <a:solidFill>
                  <a:schemeClr val="accent2"/>
                </a:solidFill>
                <a:latin typeface="Times New Roman" panose="02020603050405020304" pitchFamily="18" charset="0"/>
              </a:defRPr>
            </a:lvl1pPr>
            <a:lvl2pPr marL="742950" indent="-285750">
              <a:defRPr sz="2800" baseline="-25000">
                <a:solidFill>
                  <a:schemeClr val="accent2"/>
                </a:solidFill>
                <a:latin typeface="Times New Roman" panose="02020603050405020304" pitchFamily="18" charset="0"/>
              </a:defRPr>
            </a:lvl2pPr>
            <a:lvl3pPr marL="1143000" indent="-228600">
              <a:defRPr sz="2800" baseline="-25000">
                <a:solidFill>
                  <a:schemeClr val="accent2"/>
                </a:solidFill>
                <a:latin typeface="Times New Roman" panose="02020603050405020304" pitchFamily="18" charset="0"/>
              </a:defRPr>
            </a:lvl3pPr>
            <a:lvl4pPr marL="1600200" indent="-228600">
              <a:defRPr sz="2800" baseline="-25000">
                <a:solidFill>
                  <a:schemeClr val="accent2"/>
                </a:solidFill>
                <a:latin typeface="Times New Roman" panose="02020603050405020304" pitchFamily="18" charset="0"/>
              </a:defRPr>
            </a:lvl4pPr>
            <a:lvl5pPr marL="2057400" indent="-228600">
              <a:defRPr sz="2800" baseline="-25000">
                <a:solidFill>
                  <a:schemeClr val="accent2"/>
                </a:solidFill>
                <a:latin typeface="Times New Roman" panose="02020603050405020304" pitchFamily="18" charset="0"/>
              </a:defRPr>
            </a:lvl5pPr>
            <a:lvl6pPr marL="2514600" indent="-2286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6pPr>
            <a:lvl7pPr marL="2971800" indent="-2286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7pPr>
            <a:lvl8pPr marL="3429000" indent="-2286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8pPr>
            <a:lvl9pPr marL="3886200" indent="-228600" eaLnBrk="0" fontAlgn="base" hangingPunct="0">
              <a:spcBef>
                <a:spcPct val="20000"/>
              </a:spcBef>
              <a:spcAft>
                <a:spcPct val="0"/>
              </a:spcAft>
              <a:buFont typeface="Wingdings" panose="05000000000000000000" pitchFamily="2" charset="2"/>
              <a:buChar char="§"/>
              <a:defRPr sz="2800" baseline="-25000">
                <a:solidFill>
                  <a:schemeClr val="accent2"/>
                </a:solidFill>
                <a:latin typeface="Times New Roman" panose="02020603050405020304" pitchFamily="18" charset="0"/>
              </a:defRPr>
            </a:lvl9pPr>
          </a:lstStyle>
          <a:p>
            <a:r>
              <a:rPr lang="en-US" altLang="zh-TW" sz="1200">
                <a:solidFill>
                  <a:srgbClr val="045C75"/>
                </a:solidFill>
              </a:rPr>
              <a:t>Chapter 1            </a:t>
            </a:r>
            <a:fld id="{6EE986CC-861B-4FF2-A996-996D92541C58}" type="slidenum">
              <a:rPr lang="en-US" altLang="zh-TW" sz="1200">
                <a:solidFill>
                  <a:srgbClr val="045C75"/>
                </a:solidFill>
              </a:rPr>
              <a:pPr/>
              <a:t>84</a:t>
            </a:fld>
            <a:endParaRPr lang="en-US" altLang="zh-TW" sz="1200">
              <a:solidFill>
                <a:srgbClr val="045C75"/>
              </a:solidFill>
            </a:endParaRPr>
          </a:p>
        </p:txBody>
      </p:sp>
      <p:sp>
        <p:nvSpPr>
          <p:cNvPr id="3" name="Rectangle 2"/>
          <p:cNvSpPr/>
          <p:nvPr/>
        </p:nvSpPr>
        <p:spPr>
          <a:xfrm>
            <a:off x="471054" y="1108364"/>
            <a:ext cx="11014363" cy="3785652"/>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A binary digit or bit can represent only two symbols as it has only two states '0' or '1'. For the communication </a:t>
            </a:r>
            <a:r>
              <a:rPr lang="en-US" sz="2400" dirty="0">
                <a:solidFill>
                  <a:srgbClr val="FF0000"/>
                </a:solidFill>
                <a:latin typeface="Times New Roman" panose="02020603050405020304" pitchFamily="18" charset="0"/>
                <a:cs typeface="Times New Roman" panose="02020603050405020304" pitchFamily="18" charset="0"/>
              </a:rPr>
              <a:t>between two computers or I/O devices like printers, keyboard </a:t>
            </a:r>
            <a:r>
              <a:rPr lang="en-US" sz="2400" dirty="0" err="1">
                <a:solidFill>
                  <a:srgbClr val="FF0000"/>
                </a:solidFill>
                <a:latin typeface="Times New Roman" panose="02020603050405020304" pitchFamily="18" charset="0"/>
                <a:cs typeface="Times New Roman" panose="02020603050405020304" pitchFamily="18" charset="0"/>
              </a:rPr>
              <a:t>etc</a:t>
            </a:r>
            <a:r>
              <a:rPr lang="en-US" sz="2400" dirty="0">
                <a:solidFill>
                  <a:srgbClr val="FF0000"/>
                </a:solidFill>
                <a:latin typeface="Times New Roman" panose="02020603050405020304" pitchFamily="18" charset="0"/>
                <a:cs typeface="Times New Roman" panose="02020603050405020304" pitchFamily="18" charset="0"/>
              </a:rPr>
              <a:t>, we need many more symbols for communication.</a:t>
            </a: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These symbols are required to represent 26 alphabets with capital and small letters, numbers from 0 to 9, !,@,#,{,]……. and other symbols.</a:t>
            </a:r>
          </a:p>
          <a:p>
            <a:pPr marL="342900" indent="-342900" algn="just">
              <a:buFont typeface="Arial" panose="020B0604020202020204" pitchFamily="34" charset="0"/>
              <a:buChar char="•"/>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err="1">
                <a:solidFill>
                  <a:srgbClr val="FF0000"/>
                </a:solidFill>
                <a:latin typeface="Times New Roman" panose="02020603050405020304" pitchFamily="18" charset="0"/>
                <a:cs typeface="Times New Roman" panose="02020603050405020304" pitchFamily="18" charset="0"/>
              </a:rPr>
              <a:t>ie</a:t>
            </a:r>
            <a:r>
              <a:rPr lang="en-US" sz="2400" dirty="0">
                <a:solidFill>
                  <a:srgbClr val="FF0000"/>
                </a:solidFill>
                <a:latin typeface="Times New Roman" panose="02020603050405020304" pitchFamily="18" charset="0"/>
                <a:cs typeface="Times New Roman" panose="02020603050405020304" pitchFamily="18" charset="0"/>
              </a:rPr>
              <a:t>., The alphanumeric codes are the codes that represent, and alphabets and  characters. They use </a:t>
            </a:r>
            <a:r>
              <a:rPr lang="en-US" sz="2400" b="1" dirty="0">
                <a:solidFill>
                  <a:srgbClr val="FF0000"/>
                </a:solidFill>
                <a:latin typeface="Times New Roman" panose="02020603050405020304" pitchFamily="18" charset="0"/>
                <a:cs typeface="Times New Roman" panose="02020603050405020304" pitchFamily="18" charset="0"/>
              </a:rPr>
              <a:t>bit pattern for wide range of symbols.</a:t>
            </a:r>
          </a:p>
          <a:p>
            <a:pPr marL="342900" indent="-342900" algn="just">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386647" y="4528686"/>
            <a:ext cx="11139055" cy="1938992"/>
          </a:xfrm>
          <a:prstGeom prst="rect">
            <a:avLst/>
          </a:prstGeom>
        </p:spPr>
        <p:txBody>
          <a:bodyPr wrap="square">
            <a:spAutoFit/>
          </a:bodyPr>
          <a:lstStyle/>
          <a:p>
            <a:pPr marL="342900" indent="-342900" algn="just">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The following three alphanumeric codes are very commonly used for the data representation.</a:t>
            </a: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400" dirty="0">
                <a:solidFill>
                  <a:srgbClr val="0070C0"/>
                </a:solidFill>
                <a:latin typeface="Times New Roman" panose="02020603050405020304" pitchFamily="18" charset="0"/>
                <a:cs typeface="Times New Roman" panose="02020603050405020304" pitchFamily="18" charset="0"/>
              </a:rPr>
              <a:t>American Standard Code for Information Interchange (ASCII).</a:t>
            </a:r>
          </a:p>
          <a:p>
            <a:pPr marL="285750" indent="-285750">
              <a:buFont typeface="Wingdings" panose="05000000000000000000" pitchFamily="2" charset="2"/>
              <a:buChar char="Ø"/>
            </a:pPr>
            <a:r>
              <a:rPr lang="en-IN" sz="2400" dirty="0">
                <a:solidFill>
                  <a:srgbClr val="0070C0"/>
                </a:solidFill>
                <a:latin typeface="Times New Roman" panose="02020603050405020304" pitchFamily="18" charset="0"/>
                <a:cs typeface="Times New Roman" panose="02020603050405020304" pitchFamily="18" charset="0"/>
              </a:rPr>
              <a:t>Extended Binary Coded Decimal Interchange Code (EBCDIC).</a:t>
            </a:r>
          </a:p>
        </p:txBody>
      </p:sp>
    </p:spTree>
    <p:extLst>
      <p:ext uri="{BB962C8B-B14F-4D97-AF65-F5344CB8AC3E}">
        <p14:creationId xmlns:p14="http://schemas.microsoft.com/office/powerpoint/2010/main" val="2922235446"/>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9226" y="57947"/>
            <a:ext cx="10986655" cy="2000548"/>
          </a:xfrm>
          <a:prstGeom prst="rect">
            <a:avLst/>
          </a:prstGeom>
        </p:spPr>
        <p:txBody>
          <a:bodyPr wrap="square">
            <a:spAutoFit/>
          </a:bodyPr>
          <a:lstStyle/>
          <a:p>
            <a:endParaRPr lang="en-US" sz="28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ASCII code is a 7-bit code,ie.2</a:t>
            </a:r>
            <a:r>
              <a:rPr lang="en-US" sz="2400" baseline="30000" dirty="0">
                <a:latin typeface="Times New Roman" panose="02020603050405020304" pitchFamily="18" charset="0"/>
                <a:cs typeface="Times New Roman" panose="02020603050405020304" pitchFamily="18" charset="0"/>
              </a:rPr>
              <a:t>7</a:t>
            </a:r>
            <a:r>
              <a:rPr lang="en-US" sz="2400" dirty="0">
                <a:latin typeface="Times New Roman" panose="02020603050405020304" pitchFamily="18" charset="0"/>
                <a:cs typeface="Times New Roman" panose="02020603050405020304" pitchFamily="18" charset="0"/>
              </a:rPr>
              <a:t>=128 different patterns can be created. ASCII code is more commonly used in world wide. It is </a:t>
            </a:r>
            <a:r>
              <a:rPr lang="en-US" sz="2400" b="0" i="0" dirty="0">
                <a:solidFill>
                  <a:srgbClr val="202124"/>
                </a:solidFill>
                <a:effectLst/>
                <a:latin typeface="Times New Roman" panose="02020603050405020304" pitchFamily="18" charset="0"/>
                <a:cs typeface="Times New Roman" panose="02020603050405020304" pitchFamily="18" charset="0"/>
              </a:rPr>
              <a:t>a standard data-encoding format for electronic communication between computers.</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429276" y="0"/>
            <a:ext cx="10919849" cy="523220"/>
          </a:xfrm>
          <a:prstGeom prst="rect">
            <a:avLst/>
          </a:prstGeom>
        </p:spPr>
        <p:txBody>
          <a:bodyPr wrap="none">
            <a:spAutoFit/>
          </a:bodyPr>
          <a:lstStyle/>
          <a:p>
            <a:r>
              <a:rPr lang="en-IN" sz="2800" b="1" i="0" u="sng" dirty="0">
                <a:solidFill>
                  <a:srgbClr val="040C28"/>
                </a:solidFill>
                <a:effectLst/>
                <a:latin typeface="Times New Roman" panose="02020603050405020304" pitchFamily="18" charset="0"/>
                <a:cs typeface="Times New Roman" panose="02020603050405020304" pitchFamily="18" charset="0"/>
              </a:rPr>
              <a:t>American Standard Code for Information Interchange(</a:t>
            </a:r>
            <a:r>
              <a:rPr lang="en-US" altLang="zh-TW" sz="2800" b="1" u="sng" dirty="0">
                <a:solidFill>
                  <a:srgbClr val="FF0000"/>
                </a:solidFill>
                <a:latin typeface="Times New Roman" panose="02020603050405020304" pitchFamily="18" charset="0"/>
                <a:ea typeface="新細明體" pitchFamily="18" charset="-120"/>
                <a:cs typeface="Times New Roman" panose="02020603050405020304" pitchFamily="18" charset="0"/>
              </a:rPr>
              <a:t>ASCII)  Codes</a:t>
            </a:r>
            <a:endParaRPr lang="en-IN" sz="2800" b="1" u="sng"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429276" y="1654474"/>
            <a:ext cx="10346879" cy="5203526"/>
          </a:xfrm>
          <a:prstGeom prst="rect">
            <a:avLst/>
          </a:prstGeom>
          <a:noFill/>
          <a:ln w="9525">
            <a:noFill/>
            <a:miter lim="800000"/>
            <a:headEnd/>
            <a:tailEnd/>
          </a:ln>
        </p:spPr>
      </p:pic>
    </p:spTree>
    <p:extLst>
      <p:ext uri="{BB962C8B-B14F-4D97-AF65-F5344CB8AC3E}">
        <p14:creationId xmlns:p14="http://schemas.microsoft.com/office/powerpoint/2010/main" val="85955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5422" y="0"/>
            <a:ext cx="11453307" cy="1200329"/>
          </a:xfrm>
          <a:prstGeom prst="rect">
            <a:avLst/>
          </a:prstGeom>
        </p:spPr>
        <p:txBody>
          <a:bodyPr wrap="square">
            <a:spAutoFit/>
          </a:bodyPr>
          <a:lstStyle/>
          <a:p>
            <a:r>
              <a:rPr lang="en-US" sz="2400" b="1" u="sng" dirty="0">
                <a:solidFill>
                  <a:srgbClr val="FF0000"/>
                </a:solidFill>
                <a:latin typeface="Times New Roman" panose="02020603050405020304" pitchFamily="18" charset="0"/>
                <a:cs typeface="Times New Roman" panose="02020603050405020304" pitchFamily="18" charset="0"/>
              </a:rPr>
              <a:t>EBCDIC </a:t>
            </a:r>
            <a:r>
              <a:rPr lang="en-US" sz="2400" b="1" dirty="0">
                <a:latin typeface="Times New Roman" panose="02020603050405020304" pitchFamily="18" charset="0"/>
                <a:cs typeface="Times New Roman" panose="02020603050405020304" pitchFamily="18" charset="0"/>
              </a:rPr>
              <a:t>is an 8-bit  alphanumeric code, </a:t>
            </a:r>
            <a:r>
              <a:rPr lang="en-US" sz="2400" dirty="0">
                <a:latin typeface="Times New Roman" panose="02020603050405020304" pitchFamily="18" charset="0"/>
                <a:cs typeface="Times New Roman" panose="02020603050405020304" pitchFamily="18" charset="0"/>
              </a:rPr>
              <a:t>2</a:t>
            </a:r>
            <a:r>
              <a:rPr lang="en-US" sz="2400" baseline="30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=256 patterns can be created. while EBCDIC is used  primarily in large IBM computers</a:t>
            </a:r>
            <a:endParaRPr lang="en-US" sz="3200" dirty="0">
              <a:latin typeface="Times New Roman" panose="02020603050405020304" pitchFamily="18" charset="0"/>
              <a:cs typeface="Times New Roman" panose="02020603050405020304" pitchFamily="18" charset="0"/>
            </a:endParaRPr>
          </a:p>
          <a:p>
            <a:endParaRPr lang="en-IN" sz="2400" b="1" u="sng" dirty="0"/>
          </a:p>
        </p:txBody>
      </p:sp>
      <p:pic>
        <p:nvPicPr>
          <p:cNvPr id="3074" name="Picture 2"/>
          <p:cNvPicPr>
            <a:picLocks noChangeAspect="1" noChangeArrowheads="1"/>
          </p:cNvPicPr>
          <p:nvPr/>
        </p:nvPicPr>
        <p:blipFill>
          <a:blip r:embed="rId2" cstate="print"/>
          <a:srcRect/>
          <a:stretch>
            <a:fillRect/>
          </a:stretch>
        </p:blipFill>
        <p:spPr bwMode="auto">
          <a:xfrm>
            <a:off x="590843" y="829994"/>
            <a:ext cx="10438228" cy="6028006"/>
          </a:xfrm>
          <a:prstGeom prst="rect">
            <a:avLst/>
          </a:prstGeom>
          <a:noFill/>
          <a:ln w="9525">
            <a:noFill/>
            <a:miter lim="800000"/>
            <a:headEnd/>
            <a:tailEnd/>
          </a:ln>
        </p:spPr>
      </p:pic>
    </p:spTree>
    <p:extLst>
      <p:ext uri="{BB962C8B-B14F-4D97-AF65-F5344CB8AC3E}">
        <p14:creationId xmlns:p14="http://schemas.microsoft.com/office/powerpoint/2010/main" val="2066023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B0878270D45214FAEC0BE4347FF20F5" ma:contentTypeVersion="2" ma:contentTypeDescription="Create a new document." ma:contentTypeScope="" ma:versionID="1d4e4734975d0787c7f71dcf8f60d091">
  <xsd:schema xmlns:xsd="http://www.w3.org/2001/XMLSchema" xmlns:xs="http://www.w3.org/2001/XMLSchema" xmlns:p="http://schemas.microsoft.com/office/2006/metadata/properties" xmlns:ns2="d8c16487-0398-4b6e-9a0f-519d255dfaa0" targetNamespace="http://schemas.microsoft.com/office/2006/metadata/properties" ma:root="true" ma:fieldsID="1c229066ed7dd537124e8a26659c9bb5" ns2:_="">
    <xsd:import namespace="d8c16487-0398-4b6e-9a0f-519d255dfaa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c16487-0398-4b6e-9a0f-519d255dfa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3A69CA-F218-406B-B015-760C83BF7F50}">
  <ds:schemaRefs>
    <ds:schemaRef ds:uri="http://schemas.microsoft.com/sharepoint/v3/contenttype/forms"/>
  </ds:schemaRefs>
</ds:datastoreItem>
</file>

<file path=customXml/itemProps2.xml><?xml version="1.0" encoding="utf-8"?>
<ds:datastoreItem xmlns:ds="http://schemas.openxmlformats.org/officeDocument/2006/customXml" ds:itemID="{ABC33F6C-A8BF-420C-8825-253486BDBA7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F724E06-5608-4D77-8DA1-9C3307F256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c16487-0398-4b6e-9a0f-519d255dfa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891</TotalTime>
  <Words>1945</Words>
  <Application>Microsoft Office PowerPoint</Application>
  <PresentationFormat>Widescreen</PresentationFormat>
  <Paragraphs>158</Paragraphs>
  <Slides>86</Slides>
  <Notes>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Arial</vt:lpstr>
      <vt:lpstr>Calibri</vt:lpstr>
      <vt:lpstr>Calibri Light</vt:lpstr>
      <vt:lpstr>erdana</vt:lpstr>
      <vt:lpstr>segoe ui</vt:lpstr>
      <vt:lpstr>Times New Roman</vt:lpstr>
      <vt:lpstr>Wingdings</vt:lpstr>
      <vt:lpstr>Office Theme</vt:lpstr>
      <vt:lpstr>  Decimal, Binary, Octal and Hexadecimal Number Systems- Number Base Conversions. Addition, Subtraction, Multiplication and Division of binary numbers. Representation of negative numbers- Complements, Subtraction with complements. Addition and subtraction of BCD, Octal and Hexadecimal numbers. Binary codes- Decimal codes, Error detection codes, Reflected code, Character coding schemes – ASCII, EBCDIC.</vt:lpstr>
      <vt:lpstr>PowerPoint Presentation</vt:lpstr>
      <vt:lpstr>PowerPoint Presentation</vt:lpstr>
      <vt:lpstr>PowerPoint Presentation</vt:lpstr>
      <vt:lpstr>Conversion of Binary to other Number Systems </vt:lpstr>
      <vt:lpstr>PowerPoint Presentation</vt:lpstr>
      <vt:lpstr>Binary to Octal Conversion</vt:lpstr>
      <vt:lpstr>Binary to Hexadecimal Conversion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Octal Number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Hexadecimal Arithmetic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Gray Code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gray code is also called reflective code?</vt:lpstr>
      <vt:lpstr>PARITY BIT - Error-Detection Codes</vt:lpstr>
      <vt:lpstr>PowerPoint Presentation</vt:lpstr>
      <vt:lpstr>PowerPoint Presentation</vt:lpstr>
      <vt:lpstr>PowerPoint Presentation</vt:lpstr>
      <vt:lpstr>PowerPoint Presentation</vt:lpstr>
      <vt:lpstr>PowerPoint Presentation</vt:lpstr>
      <vt:lpstr>ALPHANUMERIC CODES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Anu C Kunjachan</dc:creator>
  <cp:lastModifiedBy>ANU C KUNJACHAN</cp:lastModifiedBy>
  <cp:revision>61</cp:revision>
  <dcterms:created xsi:type="dcterms:W3CDTF">2021-12-08T04:41:04Z</dcterms:created>
  <dcterms:modified xsi:type="dcterms:W3CDTF">2023-10-10T08:16:47Z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0x0101006B0878270D45214FAEC0BE4347FF20F5</vt:lpwstr>
  </property>
</Properties>
</file>