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3" r:id="rId8"/>
    <p:sldId id="356" r:id="rId9"/>
    <p:sldId id="260" r:id="rId10"/>
    <p:sldId id="264" r:id="rId11"/>
    <p:sldId id="265" r:id="rId12"/>
    <p:sldId id="268" r:id="rId13"/>
    <p:sldId id="267" r:id="rId14"/>
    <p:sldId id="266" r:id="rId15"/>
    <p:sldId id="269" r:id="rId16"/>
    <p:sldId id="270" r:id="rId17"/>
    <p:sldId id="271" r:id="rId18"/>
    <p:sldId id="261" r:id="rId19"/>
    <p:sldId id="262" r:id="rId20"/>
    <p:sldId id="273" r:id="rId21"/>
    <p:sldId id="275" r:id="rId22"/>
    <p:sldId id="274" r:id="rId23"/>
    <p:sldId id="276" r:id="rId24"/>
    <p:sldId id="283" r:id="rId25"/>
    <p:sldId id="277" r:id="rId26"/>
    <p:sldId id="284" r:id="rId27"/>
    <p:sldId id="299" r:id="rId28"/>
    <p:sldId id="285" r:id="rId29"/>
    <p:sldId id="286" r:id="rId30"/>
    <p:sldId id="287" r:id="rId31"/>
    <p:sldId id="288" r:id="rId32"/>
    <p:sldId id="279" r:id="rId33"/>
    <p:sldId id="300" r:id="rId34"/>
    <p:sldId id="289" r:id="rId35"/>
    <p:sldId id="290" r:id="rId36"/>
    <p:sldId id="278" r:id="rId37"/>
    <p:sldId id="291" r:id="rId38"/>
    <p:sldId id="292" r:id="rId39"/>
    <p:sldId id="293" r:id="rId40"/>
    <p:sldId id="297" r:id="rId41"/>
    <p:sldId id="294" r:id="rId42"/>
    <p:sldId id="298" r:id="rId43"/>
    <p:sldId id="280" r:id="rId44"/>
    <p:sldId id="281" r:id="rId45"/>
    <p:sldId id="295" r:id="rId46"/>
    <p:sldId id="301" r:id="rId47"/>
    <p:sldId id="296" r:id="rId48"/>
    <p:sldId id="304" r:id="rId49"/>
    <p:sldId id="310" r:id="rId50"/>
    <p:sldId id="311" r:id="rId51"/>
    <p:sldId id="305" r:id="rId52"/>
    <p:sldId id="306" r:id="rId53"/>
    <p:sldId id="308" r:id="rId54"/>
    <p:sldId id="323" r:id="rId55"/>
    <p:sldId id="307" r:id="rId56"/>
    <p:sldId id="302" r:id="rId57"/>
    <p:sldId id="312" r:id="rId58"/>
    <p:sldId id="313" r:id="rId59"/>
    <p:sldId id="314" r:id="rId60"/>
    <p:sldId id="309" r:id="rId61"/>
    <p:sldId id="315" r:id="rId62"/>
    <p:sldId id="316" r:id="rId63"/>
    <p:sldId id="317" r:id="rId64"/>
    <p:sldId id="318" r:id="rId65"/>
    <p:sldId id="320" r:id="rId66"/>
    <p:sldId id="321" r:id="rId67"/>
    <p:sldId id="322" r:id="rId68"/>
    <p:sldId id="319" r:id="rId69"/>
    <p:sldId id="336" r:id="rId70"/>
    <p:sldId id="324" r:id="rId71"/>
    <p:sldId id="337" r:id="rId72"/>
    <p:sldId id="325" r:id="rId73"/>
    <p:sldId id="326" r:id="rId74"/>
    <p:sldId id="327" r:id="rId75"/>
    <p:sldId id="329" r:id="rId76"/>
    <p:sldId id="330" r:id="rId77"/>
    <p:sldId id="332" r:id="rId78"/>
    <p:sldId id="334" r:id="rId79"/>
    <p:sldId id="331" r:id="rId80"/>
    <p:sldId id="333" r:id="rId81"/>
    <p:sldId id="338" r:id="rId82"/>
    <p:sldId id="335" r:id="rId83"/>
    <p:sldId id="340" r:id="rId84"/>
    <p:sldId id="341" r:id="rId85"/>
    <p:sldId id="342" r:id="rId86"/>
    <p:sldId id="343" r:id="rId87"/>
    <p:sldId id="344" r:id="rId88"/>
    <p:sldId id="345" r:id="rId89"/>
    <p:sldId id="346" r:id="rId90"/>
    <p:sldId id="347" r:id="rId91"/>
    <p:sldId id="348" r:id="rId92"/>
    <p:sldId id="349" r:id="rId93"/>
    <p:sldId id="350" r:id="rId94"/>
    <p:sldId id="339" r:id="rId95"/>
    <p:sldId id="351" r:id="rId96"/>
    <p:sldId id="352" r:id="rId97"/>
    <p:sldId id="353" r:id="rId98"/>
    <p:sldId id="354" r:id="rId9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9559" autoAdjust="0"/>
    <p:restoredTop sz="94660"/>
  </p:normalViewPr>
  <p:slideViewPr>
    <p:cSldViewPr>
      <p:cViewPr varScale="1">
        <p:scale>
          <a:sx n="82" d="100"/>
          <a:sy n="82" d="100"/>
        </p:scale>
        <p:origin x="193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9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130425"/>
            <a:ext cx="8229600" cy="1470025"/>
          </a:xfrm>
        </p:spPr>
        <p:txBody>
          <a:bodyPr>
            <a:noAutofit/>
          </a:bodyPr>
          <a:lstStyle/>
          <a:p>
            <a:pPr algn="just"/>
            <a:r>
              <a:rPr lang="en-IN" sz="2400" b="1" dirty="0">
                <a:latin typeface="Times New Roman" pitchFamily="18" charset="0"/>
                <a:cs typeface="Times New Roman" pitchFamily="18" charset="0"/>
              </a:rPr>
              <a:t>MODULE-4</a:t>
            </a:r>
            <a:br>
              <a:rPr lang="en-IN" sz="2400" dirty="0">
                <a:latin typeface="Times New Roman" pitchFamily="18" charset="0"/>
                <a:cs typeface="Times New Roman" pitchFamily="18" charset="0"/>
              </a:rPr>
            </a:br>
            <a:r>
              <a:rPr lang="en-IN" sz="2400" b="1" dirty="0">
                <a:latin typeface="Times New Roman" pitchFamily="18" charset="0"/>
                <a:cs typeface="Times New Roman" pitchFamily="18" charset="0"/>
              </a:rPr>
              <a:t>Sequential logic circuits:</a:t>
            </a:r>
            <a:r>
              <a:rPr lang="en-IN" sz="2400" dirty="0">
                <a:latin typeface="Times New Roman" pitchFamily="18" charset="0"/>
                <a:cs typeface="Times New Roman" pitchFamily="18" charset="0"/>
              </a:rPr>
              <a:t> Flip-flops- SR, JK, T and D. Triggering of flip-flops- Master slave flip- flops, Edge- triggered flip- flops. Excitation table and characteristic equation. </a:t>
            </a:r>
            <a:r>
              <a:rPr lang="en-IN" sz="2400" dirty="0">
                <a:solidFill>
                  <a:srgbClr val="FF0000"/>
                </a:solidFill>
                <a:latin typeface="Times New Roman" pitchFamily="18" charset="0"/>
                <a:cs typeface="Times New Roman" pitchFamily="18" charset="0"/>
              </a:rPr>
              <a:t>Registers- register with parallel load.</a:t>
            </a:r>
            <a:r>
              <a:rPr lang="en-IN" sz="2400" dirty="0">
                <a:latin typeface="Times New Roman" pitchFamily="18" charset="0"/>
                <a:cs typeface="Times New Roman" pitchFamily="18" charset="0"/>
              </a:rPr>
              <a:t> Counter design: Asynchronous counters- Binary and BCD counters, timing sequences and state diagrams. Synchronous counters- Binary Up- down counter, BCD counter. </a:t>
            </a:r>
          </a:p>
        </p:txBody>
      </p:sp>
    </p:spTree>
    <p:extLst>
      <p:ext uri="{BB962C8B-B14F-4D97-AF65-F5344CB8AC3E}">
        <p14:creationId xmlns:p14="http://schemas.microsoft.com/office/powerpoint/2010/main" val="169944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066800"/>
            <a:ext cx="3811588" cy="659554"/>
          </a:xfrm>
          <a:ln>
            <a:solidFill>
              <a:srgbClr val="FF0000"/>
            </a:solidFill>
          </a:ln>
        </p:spPr>
        <p:txBody>
          <a:bodyPr>
            <a:normAutofit/>
          </a:bodyPr>
          <a:lstStyle/>
          <a:p>
            <a:pPr algn="ctr"/>
            <a:r>
              <a:rPr lang="en-IN" dirty="0">
                <a:latin typeface="Times New Roman" pitchFamily="18" charset="0"/>
                <a:cs typeface="Times New Roman" pitchFamily="18" charset="0"/>
              </a:rPr>
              <a:t>combinational circuits</a:t>
            </a:r>
          </a:p>
        </p:txBody>
      </p:sp>
      <p:sp>
        <p:nvSpPr>
          <p:cNvPr id="5" name="Text Placeholder 4"/>
          <p:cNvSpPr>
            <a:spLocks noGrp="1"/>
          </p:cNvSpPr>
          <p:nvPr>
            <p:ph type="body" sz="quarter" idx="3"/>
          </p:nvPr>
        </p:nvSpPr>
        <p:spPr>
          <a:xfrm>
            <a:off x="5102224" y="1219200"/>
            <a:ext cx="3813176" cy="659554"/>
          </a:xfrm>
          <a:ln>
            <a:solidFill>
              <a:srgbClr val="FF0000"/>
            </a:solidFill>
          </a:ln>
        </p:spPr>
        <p:txBody>
          <a:bodyPr>
            <a:normAutofit fontScale="25000" lnSpcReduction="20000"/>
          </a:bodyPr>
          <a:lstStyle/>
          <a:p>
            <a:endParaRPr lang="en-IN" dirty="0">
              <a:latin typeface="Times New Roman" pitchFamily="18" charset="0"/>
              <a:cs typeface="Times New Roman" pitchFamily="18" charset="0"/>
            </a:endParaRPr>
          </a:p>
          <a:p>
            <a:endParaRPr lang="en-IN" sz="3100" dirty="0">
              <a:latin typeface="Times New Roman" pitchFamily="18" charset="0"/>
              <a:cs typeface="Times New Roman" pitchFamily="18" charset="0"/>
            </a:endParaRPr>
          </a:p>
          <a:p>
            <a:pPr algn="ctr"/>
            <a:r>
              <a:rPr lang="en-IN" sz="9600" dirty="0">
                <a:latin typeface="Times New Roman" pitchFamily="18" charset="0"/>
                <a:cs typeface="Times New Roman" pitchFamily="18" charset="0"/>
              </a:rPr>
              <a:t>Sequential circuits</a:t>
            </a:r>
          </a:p>
          <a:p>
            <a:endParaRPr lang="en-IN"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667000"/>
            <a:ext cx="3876675" cy="30613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2362200"/>
            <a:ext cx="4114800" cy="419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533400" y="304800"/>
            <a:ext cx="8153401" cy="475947"/>
          </a:xfrm>
          <a:prstGeom prst="rect">
            <a:avLst/>
          </a:prstGeom>
        </p:spPr>
        <p:txBody>
          <a:bodyPr wrap="square">
            <a:spAutoFit/>
          </a:bodyPr>
          <a:lstStyle/>
          <a:p>
            <a:r>
              <a:rPr lang="en-IN" sz="2400" dirty="0">
                <a:latin typeface="Times New Roman" pitchFamily="18" charset="0"/>
                <a:cs typeface="Times New Roman" pitchFamily="18" charset="0"/>
              </a:rPr>
              <a:t>Comparison between combinational and sequential circuits</a:t>
            </a:r>
          </a:p>
        </p:txBody>
      </p:sp>
    </p:spTree>
    <p:extLst>
      <p:ext uri="{BB962C8B-B14F-4D97-AF65-F5344CB8AC3E}">
        <p14:creationId xmlns:p14="http://schemas.microsoft.com/office/powerpoint/2010/main" val="313565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91837" y="364912"/>
            <a:ext cx="8153400" cy="461665"/>
          </a:xfrm>
          <a:prstGeom prst="rect">
            <a:avLst/>
          </a:prstGeom>
        </p:spPr>
        <p:txBody>
          <a:bodyPr wrap="square">
            <a:spAutoFit/>
          </a:bodyPr>
          <a:lstStyle/>
          <a:p>
            <a:r>
              <a:rPr lang="en-IN" sz="2400" dirty="0">
                <a:latin typeface="Times New Roman" pitchFamily="18" charset="0"/>
                <a:cs typeface="Times New Roman" pitchFamily="18" charset="0"/>
              </a:rPr>
              <a:t>Comparison between combinational and sequential circuits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826577"/>
            <a:ext cx="8686800" cy="5650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7200" y="6096000"/>
            <a:ext cx="3306546" cy="369332"/>
          </a:xfrm>
          <a:prstGeom prst="rect">
            <a:avLst/>
          </a:prstGeom>
          <a:noFill/>
        </p:spPr>
        <p:txBody>
          <a:bodyPr wrap="none" rtlCol="0">
            <a:spAutoFit/>
          </a:bodyPr>
          <a:lstStyle/>
          <a:p>
            <a:r>
              <a:rPr lang="en-US" dirty="0" err="1"/>
              <a:t>Example:MUX,Adder,Decoder</a:t>
            </a:r>
            <a:r>
              <a:rPr lang="en-US" dirty="0"/>
              <a:t> etc</a:t>
            </a:r>
          </a:p>
        </p:txBody>
      </p:sp>
      <p:sp>
        <p:nvSpPr>
          <p:cNvPr id="5" name="TextBox 4"/>
          <p:cNvSpPr txBox="1"/>
          <p:nvPr/>
        </p:nvSpPr>
        <p:spPr>
          <a:xfrm>
            <a:off x="5334000" y="6324600"/>
            <a:ext cx="3120341" cy="369332"/>
          </a:xfrm>
          <a:prstGeom prst="rect">
            <a:avLst/>
          </a:prstGeom>
          <a:noFill/>
        </p:spPr>
        <p:txBody>
          <a:bodyPr wrap="none" rtlCol="0">
            <a:spAutoFit/>
          </a:bodyPr>
          <a:lstStyle/>
          <a:p>
            <a:r>
              <a:rPr lang="en-US" dirty="0" err="1"/>
              <a:t>Example:Counters,Registers</a:t>
            </a:r>
            <a:r>
              <a:rPr lang="en-US" dirty="0"/>
              <a:t> etc</a:t>
            </a:r>
          </a:p>
        </p:txBody>
      </p:sp>
    </p:spTree>
    <p:extLst>
      <p:ext uri="{BB962C8B-B14F-4D97-AF65-F5344CB8AC3E}">
        <p14:creationId xmlns:p14="http://schemas.microsoft.com/office/powerpoint/2010/main" val="1565905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627806"/>
            <a:ext cx="7543800" cy="667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28600" y="1447800"/>
            <a:ext cx="8686800" cy="4524315"/>
          </a:xfrm>
          <a:prstGeom prst="rect">
            <a:avLst/>
          </a:prstGeom>
        </p:spPr>
        <p:txBody>
          <a:bodyPr wrap="square">
            <a:spAutoFit/>
          </a:bodyPr>
          <a:lstStyle/>
          <a:p>
            <a:pPr marL="285750" indent="-285750" algn="just">
              <a:buFont typeface="Arial" pitchFamily="34" charset="0"/>
              <a:buChar char="•"/>
            </a:pPr>
            <a:r>
              <a:rPr lang="en-IN" sz="2400" dirty="0">
                <a:latin typeface="Times New Roman" pitchFamily="18" charset="0"/>
                <a:cs typeface="Times New Roman" pitchFamily="18" charset="0"/>
              </a:rPr>
              <a:t>The sequential circuits may be classified as </a:t>
            </a:r>
            <a:r>
              <a:rPr lang="en-IN" sz="2400" b="1" dirty="0">
                <a:latin typeface="Times New Roman" pitchFamily="18" charset="0"/>
                <a:cs typeface="Times New Roman" pitchFamily="18" charset="0"/>
              </a:rPr>
              <a:t>synchronous sequential circuits and asynchronous sequential circuits </a:t>
            </a:r>
            <a:r>
              <a:rPr lang="en-IN" sz="2400" dirty="0">
                <a:latin typeface="Times New Roman" pitchFamily="18" charset="0"/>
                <a:cs typeface="Times New Roman" pitchFamily="18" charset="0"/>
              </a:rPr>
              <a:t>depending on the timing of their signals.  </a:t>
            </a:r>
          </a:p>
          <a:p>
            <a:pPr marL="285750" indent="-285750" algn="just">
              <a:buFont typeface="Arial" pitchFamily="34" charset="0"/>
              <a:buChar char="•"/>
            </a:pPr>
            <a:r>
              <a:rPr lang="en-IN" sz="2400" dirty="0">
                <a:solidFill>
                  <a:srgbClr val="FF0000"/>
                </a:solidFill>
                <a:latin typeface="Times New Roman" pitchFamily="18" charset="0"/>
                <a:cs typeface="Times New Roman" pitchFamily="18" charset="0"/>
              </a:rPr>
              <a:t>The sequential circuits in which all the FF’s are controlled by same clock are called </a:t>
            </a:r>
            <a:r>
              <a:rPr lang="en-IN" sz="2400" b="1" dirty="0">
                <a:solidFill>
                  <a:srgbClr val="FF0000"/>
                </a:solidFill>
                <a:latin typeface="Times New Roman" pitchFamily="18" charset="0"/>
                <a:cs typeface="Times New Roman" pitchFamily="18" charset="0"/>
              </a:rPr>
              <a:t>synchronous sequential circuits</a:t>
            </a:r>
            <a:r>
              <a:rPr lang="en-IN" sz="2400" dirty="0">
                <a:solidFill>
                  <a:srgbClr val="FF0000"/>
                </a:solidFill>
                <a:latin typeface="Times New Roman" pitchFamily="18" charset="0"/>
                <a:cs typeface="Times New Roman" pitchFamily="18" charset="0"/>
              </a:rPr>
              <a:t>. </a:t>
            </a:r>
          </a:p>
          <a:p>
            <a:pPr marL="285750" indent="-285750" algn="just">
              <a:buFont typeface="Arial" pitchFamily="34" charset="0"/>
              <a:buChar char="•"/>
            </a:pPr>
            <a:r>
              <a:rPr lang="en-IN" sz="2400" dirty="0">
                <a:latin typeface="Times New Roman" pitchFamily="18" charset="0"/>
                <a:cs typeface="Times New Roman" pitchFamily="18" charset="0"/>
              </a:rPr>
              <a:t>These circuits will be active only when same clock signal is present to all the flipflops. </a:t>
            </a:r>
          </a:p>
          <a:p>
            <a:pPr marL="285750" indent="-285750" algn="just">
              <a:buFont typeface="Arial" pitchFamily="34" charset="0"/>
              <a:buChar char="•"/>
            </a:pPr>
            <a:r>
              <a:rPr lang="en-IN" sz="2400" dirty="0">
                <a:latin typeface="Times New Roman" pitchFamily="18" charset="0"/>
                <a:cs typeface="Times New Roman" pitchFamily="18" charset="0"/>
              </a:rPr>
              <a:t>The sequential circuits in which all the FF’s are </a:t>
            </a:r>
            <a:r>
              <a:rPr lang="en-IN" sz="2400" dirty="0">
                <a:solidFill>
                  <a:srgbClr val="FF0000"/>
                </a:solidFill>
                <a:latin typeface="Times New Roman" pitchFamily="18" charset="0"/>
                <a:cs typeface="Times New Roman" pitchFamily="18" charset="0"/>
              </a:rPr>
              <a:t>not controlled by a same clock are called </a:t>
            </a:r>
            <a:r>
              <a:rPr lang="en-IN" sz="2400" b="1" dirty="0">
                <a:solidFill>
                  <a:srgbClr val="FF0000"/>
                </a:solidFill>
                <a:latin typeface="Times New Roman" pitchFamily="18" charset="0"/>
                <a:cs typeface="Times New Roman" pitchFamily="18" charset="0"/>
              </a:rPr>
              <a:t>asynchronous sequential circuits</a:t>
            </a:r>
            <a:r>
              <a:rPr lang="en-IN" sz="2400" dirty="0">
                <a:latin typeface="Times New Roman" pitchFamily="18" charset="0"/>
                <a:cs typeface="Times New Roman" pitchFamily="18" charset="0"/>
              </a:rPr>
              <a:t>, i.e. the sequential circuits in which events can take place any time the inputs are applied are called asynchronous sequential circuits. Same clock signal is not given to all the </a:t>
            </a:r>
            <a:r>
              <a:rPr lang="en-IN" sz="2400" dirty="0" err="1">
                <a:latin typeface="Times New Roman" pitchFamily="18" charset="0"/>
                <a:cs typeface="Times New Roman" pitchFamily="18" charset="0"/>
              </a:rPr>
              <a:t>flipflops</a:t>
            </a:r>
            <a:r>
              <a:rPr lang="en-IN" sz="2400" dirty="0">
                <a:latin typeface="Times New Roman" pitchFamily="18" charset="0"/>
                <a:cs typeface="Times New Roman" pitchFamily="18" charset="0"/>
              </a:rPr>
              <a:t>. </a:t>
            </a:r>
          </a:p>
        </p:txBody>
      </p:sp>
    </p:spTree>
    <p:extLst>
      <p:ext uri="{BB962C8B-B14F-4D97-AF65-F5344CB8AC3E}">
        <p14:creationId xmlns:p14="http://schemas.microsoft.com/office/powerpoint/2010/main" val="387766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40D4609-2905-D0F0-4BC1-FFA90D35287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5758"/>
          <a:stretch/>
        </p:blipFill>
        <p:spPr bwMode="auto">
          <a:xfrm>
            <a:off x="190500" y="152400"/>
            <a:ext cx="87630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6637E59-E93E-82A3-00B7-1F857DE153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3741577"/>
            <a:ext cx="5867400" cy="2480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7538E294-4785-5AB6-D0E8-203A5AEE5471}"/>
              </a:ext>
            </a:extLst>
          </p:cNvPr>
          <p:cNvSpPr txBox="1"/>
          <p:nvPr/>
        </p:nvSpPr>
        <p:spPr>
          <a:xfrm>
            <a:off x="1600200" y="3429000"/>
            <a:ext cx="4572000" cy="369332"/>
          </a:xfrm>
          <a:prstGeom prst="rect">
            <a:avLst/>
          </a:prstGeom>
          <a:noFill/>
        </p:spPr>
        <p:txBody>
          <a:bodyPr wrap="square">
            <a:spAutoFit/>
          </a:bodyPr>
          <a:lstStyle/>
          <a:p>
            <a:r>
              <a:rPr lang="en-IN" sz="1800" dirty="0">
                <a:solidFill>
                  <a:srgbClr val="FF0000"/>
                </a:solidFill>
                <a:highlight>
                  <a:srgbClr val="FFFF00"/>
                </a:highlight>
                <a:latin typeface="Times New Roman" pitchFamily="18" charset="0"/>
                <a:cs typeface="Times New Roman" pitchFamily="18" charset="0"/>
              </a:rPr>
              <a:t>Example: </a:t>
            </a:r>
            <a:r>
              <a:rPr lang="en-IN" dirty="0">
                <a:solidFill>
                  <a:srgbClr val="FF0000"/>
                </a:solidFill>
                <a:highlight>
                  <a:srgbClr val="FFFF00"/>
                </a:highlight>
                <a:latin typeface="Times New Roman" pitchFamily="18" charset="0"/>
                <a:cs typeface="Times New Roman" pitchFamily="18" charset="0"/>
              </a:rPr>
              <a:t>S</a:t>
            </a:r>
            <a:r>
              <a:rPr lang="en-IN" sz="1800" dirty="0">
                <a:solidFill>
                  <a:srgbClr val="FF0000"/>
                </a:solidFill>
                <a:highlight>
                  <a:srgbClr val="FFFF00"/>
                </a:highlight>
                <a:latin typeface="Times New Roman" pitchFamily="18" charset="0"/>
                <a:cs typeface="Times New Roman" pitchFamily="18" charset="0"/>
              </a:rPr>
              <a:t>ynchronous sequential circuits</a:t>
            </a:r>
            <a:endParaRPr lang="en-IN" dirty="0">
              <a:highlight>
                <a:srgbClr val="FFFF00"/>
              </a:highlight>
            </a:endParaRPr>
          </a:p>
        </p:txBody>
      </p:sp>
      <p:sp>
        <p:nvSpPr>
          <p:cNvPr id="6" name="TextBox 5">
            <a:extLst>
              <a:ext uri="{FF2B5EF4-FFF2-40B4-BE49-F238E27FC236}">
                <a16:creationId xmlns:a16="http://schemas.microsoft.com/office/drawing/2014/main" id="{5DF141C7-31E2-F355-C4F6-09414248F978}"/>
              </a:ext>
            </a:extLst>
          </p:cNvPr>
          <p:cNvSpPr txBox="1"/>
          <p:nvPr/>
        </p:nvSpPr>
        <p:spPr>
          <a:xfrm>
            <a:off x="762000" y="183111"/>
            <a:ext cx="4572000" cy="369332"/>
          </a:xfrm>
          <a:prstGeom prst="rect">
            <a:avLst/>
          </a:prstGeom>
          <a:noFill/>
        </p:spPr>
        <p:txBody>
          <a:bodyPr wrap="square">
            <a:spAutoFit/>
          </a:bodyPr>
          <a:lstStyle/>
          <a:p>
            <a:r>
              <a:rPr lang="en-IN" sz="1800" dirty="0">
                <a:solidFill>
                  <a:srgbClr val="FF0000"/>
                </a:solidFill>
                <a:highlight>
                  <a:srgbClr val="FFFF00"/>
                </a:highlight>
                <a:latin typeface="Times New Roman" pitchFamily="18" charset="0"/>
                <a:cs typeface="Times New Roman" pitchFamily="18" charset="0"/>
              </a:rPr>
              <a:t>Example: Asynchronous sequential circuits</a:t>
            </a:r>
            <a:endParaRPr lang="en-IN" dirty="0">
              <a:highlight>
                <a:srgbClr val="FFFF00"/>
              </a:highlight>
            </a:endParaRPr>
          </a:p>
        </p:txBody>
      </p:sp>
      <p:sp>
        <p:nvSpPr>
          <p:cNvPr id="7" name="TextBox 6">
            <a:extLst>
              <a:ext uri="{FF2B5EF4-FFF2-40B4-BE49-F238E27FC236}">
                <a16:creationId xmlns:a16="http://schemas.microsoft.com/office/drawing/2014/main" id="{CEF6CE0A-9D6E-2322-19AC-D242D547CBBE}"/>
              </a:ext>
            </a:extLst>
          </p:cNvPr>
          <p:cNvSpPr txBox="1"/>
          <p:nvPr/>
        </p:nvSpPr>
        <p:spPr>
          <a:xfrm>
            <a:off x="7955902" y="1970038"/>
            <a:ext cx="1219200" cy="2308324"/>
          </a:xfrm>
          <a:prstGeom prst="rect">
            <a:avLst/>
          </a:prstGeom>
          <a:noFill/>
        </p:spPr>
        <p:txBody>
          <a:bodyPr wrap="square" rtlCol="0">
            <a:spAutoFit/>
          </a:bodyPr>
          <a:lstStyle/>
          <a:p>
            <a:r>
              <a:rPr lang="en-US" sz="2400" dirty="0">
                <a:highlight>
                  <a:srgbClr val="00FFFF"/>
                </a:highlight>
                <a:latin typeface="Times New Roman" panose="02020603050405020304" pitchFamily="18" charset="0"/>
                <a:cs typeface="Times New Roman" panose="02020603050405020304" pitchFamily="18" charset="0"/>
              </a:rPr>
              <a:t>See how the </a:t>
            </a:r>
            <a:r>
              <a:rPr lang="en-US" sz="2400" dirty="0" err="1">
                <a:highlight>
                  <a:srgbClr val="00FFFF"/>
                </a:highlight>
                <a:latin typeface="Times New Roman" panose="02020603050405020304" pitchFamily="18" charset="0"/>
                <a:cs typeface="Times New Roman" panose="02020603050405020304" pitchFamily="18" charset="0"/>
              </a:rPr>
              <a:t>clk</a:t>
            </a:r>
            <a:r>
              <a:rPr lang="en-US" sz="2400" dirty="0">
                <a:highlight>
                  <a:srgbClr val="00FFFF"/>
                </a:highlight>
                <a:latin typeface="Times New Roman" panose="02020603050405020304" pitchFamily="18" charset="0"/>
                <a:cs typeface="Times New Roman" panose="02020603050405020304" pitchFamily="18" charset="0"/>
              </a:rPr>
              <a:t> or clock is connected</a:t>
            </a:r>
            <a:endParaRPr lang="en-IN" sz="2400" dirty="0">
              <a:highlight>
                <a:srgbClr val="00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72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28600"/>
            <a:ext cx="602742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018308"/>
            <a:ext cx="8991600" cy="4925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284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2910" y="1783140"/>
            <a:ext cx="2360475" cy="523220"/>
          </a:xfrm>
          <a:prstGeom prst="rect">
            <a:avLst/>
          </a:prstGeom>
        </p:spPr>
        <p:txBody>
          <a:bodyPr wrap="square">
            <a:spAutoFit/>
          </a:bodyPr>
          <a:lstStyle/>
          <a:p>
            <a:pPr algn="just" fontAlgn="base"/>
            <a:r>
              <a:rPr lang="en-IN" sz="2800" b="1" dirty="0">
                <a:latin typeface="Times New Roman" pitchFamily="18" charset="0"/>
                <a:cs typeface="Times New Roman" pitchFamily="18" charset="0"/>
              </a:rPr>
              <a:t>Latches  </a:t>
            </a:r>
          </a:p>
        </p:txBody>
      </p:sp>
      <p:sp>
        <p:nvSpPr>
          <p:cNvPr id="8" name="Rectangle 7"/>
          <p:cNvSpPr/>
          <p:nvPr/>
        </p:nvSpPr>
        <p:spPr>
          <a:xfrm>
            <a:off x="533399" y="2240340"/>
            <a:ext cx="8382000" cy="1569660"/>
          </a:xfrm>
          <a:prstGeom prst="rect">
            <a:avLst/>
          </a:prstGeom>
        </p:spPr>
        <p:txBody>
          <a:bodyPr wrap="square">
            <a:spAutoFit/>
          </a:bodyPr>
          <a:lstStyle/>
          <a:p>
            <a:pPr marL="342900" indent="-342900" algn="just">
              <a:buFont typeface="Arial" pitchFamily="34" charset="0"/>
              <a:buChar char="•"/>
            </a:pPr>
            <a:r>
              <a:rPr lang="en-IN" sz="2400" dirty="0">
                <a:latin typeface="Times New Roman" pitchFamily="18" charset="0"/>
                <a:cs typeface="Times New Roman" pitchFamily="18" charset="0"/>
              </a:rPr>
              <a:t>Latches are basic storage elements that operate with signal levels (rather than signal transitions). Latches controlled by a clock transition are </a:t>
            </a:r>
            <a:r>
              <a:rPr lang="en-IN" sz="2400" u="sng" dirty="0">
                <a:latin typeface="Times New Roman" pitchFamily="18" charset="0"/>
                <a:cs typeface="Times New Roman" pitchFamily="18" charset="0"/>
              </a:rPr>
              <a:t>flip-flops</a:t>
            </a:r>
            <a:r>
              <a:rPr lang="en-IN" sz="2400" dirty="0">
                <a:latin typeface="Times New Roman" pitchFamily="18" charset="0"/>
                <a:cs typeface="Times New Roman" pitchFamily="18" charset="0"/>
              </a:rPr>
              <a:t>. Latches are level-sensitive devices.</a:t>
            </a: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3886200"/>
            <a:ext cx="8610600" cy="201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6269" y="308975"/>
            <a:ext cx="9037731" cy="646331"/>
          </a:xfrm>
          <a:prstGeom prst="rect">
            <a:avLst/>
          </a:prstGeom>
          <a:solidFill>
            <a:srgbClr val="FFFF00"/>
          </a:solidFill>
        </p:spPr>
        <p:txBody>
          <a:bodyPr wrap="square" rtlCol="0">
            <a:spAutoFit/>
          </a:bodyPr>
          <a:lstStyle/>
          <a:p>
            <a:r>
              <a:rPr lang="en-IN" dirty="0"/>
              <a:t>Latches are not mentioned in your syllabus; But latches are the basic element in the flip-flops;</a:t>
            </a:r>
          </a:p>
          <a:p>
            <a:r>
              <a:rPr lang="en-IN" dirty="0"/>
              <a:t> Study flip-flops thoroughly first after that just go through latches and flip-flop comparisons. </a:t>
            </a:r>
          </a:p>
        </p:txBody>
      </p:sp>
    </p:spTree>
    <p:extLst>
      <p:ext uri="{BB962C8B-B14F-4D97-AF65-F5344CB8AC3E}">
        <p14:creationId xmlns:p14="http://schemas.microsoft.com/office/powerpoint/2010/main" val="3588261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85800"/>
            <a:ext cx="9030764"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5244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447800"/>
            <a:ext cx="8551252"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0409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Active HIGH SR Latch</a:t>
            </a:r>
          </a:p>
        </p:txBody>
      </p:sp>
      <p:sp>
        <p:nvSpPr>
          <p:cNvPr id="3" name="Content Placeholder 2"/>
          <p:cNvSpPr>
            <a:spLocks noGrp="1"/>
          </p:cNvSpPr>
          <p:nvPr>
            <p:ph idx="1"/>
          </p:nvPr>
        </p:nvSpPr>
        <p:spPr/>
        <p:txBody>
          <a:bodyPr/>
          <a:lstStyle/>
          <a:p>
            <a:endParaRPr lang="en-IN"/>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474" y="1371600"/>
            <a:ext cx="8541326"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976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IN" dirty="0"/>
              <a:t>Active LOW SR Latch</a:t>
            </a:r>
          </a:p>
        </p:txBody>
      </p:sp>
      <p:sp>
        <p:nvSpPr>
          <p:cNvPr id="4" name="Rectangle 3"/>
          <p:cNvSpPr/>
          <p:nvPr/>
        </p:nvSpPr>
        <p:spPr>
          <a:xfrm>
            <a:off x="152400" y="1114961"/>
            <a:ext cx="8763000" cy="1323439"/>
          </a:xfrm>
          <a:prstGeom prst="rect">
            <a:avLst/>
          </a:prstGeom>
        </p:spPr>
        <p:txBody>
          <a:bodyPr wrap="square">
            <a:spAutoFit/>
          </a:bodyPr>
          <a:lstStyle/>
          <a:p>
            <a:r>
              <a:rPr lang="en-IN" sz="2000" dirty="0">
                <a:latin typeface="Times New Roman" pitchFamily="18" charset="0"/>
                <a:cs typeface="Times New Roman" pitchFamily="18" charset="0"/>
              </a:rPr>
              <a:t>An active low SR latch (or active low SR Flip Flop) is a type of latch which is SET when S = 0(LOW). An active low SR latch is typically designed by using NAND gates. The logical circuit for a SR latch is shown below.</a:t>
            </a:r>
            <a:br>
              <a:rPr lang="en-IN" sz="2000" dirty="0">
                <a:latin typeface="Times New Roman" pitchFamily="18" charset="0"/>
                <a:cs typeface="Times New Roman" pitchFamily="18" charset="0"/>
              </a:rPr>
            </a:br>
            <a:endParaRPr lang="en-IN" sz="2000" dirty="0">
              <a:latin typeface="Times New Roman" pitchFamily="18" charset="0"/>
              <a:cs typeface="Times New Roman" pitchFamily="18" charset="0"/>
            </a:endParaRPr>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164" y="2133600"/>
            <a:ext cx="7526762" cy="355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68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a:bodyPr>
          <a:lstStyle/>
          <a:p>
            <a:r>
              <a:rPr lang="en-IN" dirty="0">
                <a:latin typeface="Times New Roman" pitchFamily="18" charset="0"/>
                <a:cs typeface="Times New Roman" pitchFamily="18" charset="0"/>
              </a:rPr>
              <a:t>Gated Latches</a:t>
            </a:r>
            <a:endParaRPr lang="en-IN" sz="3600" dirty="0">
              <a:latin typeface="Times New Roman" pitchFamily="18" charset="0"/>
              <a:cs typeface="Times New Roman" pitchFamily="18" charset="0"/>
            </a:endParaRPr>
          </a:p>
        </p:txBody>
      </p:sp>
      <p:sp>
        <p:nvSpPr>
          <p:cNvPr id="4" name="Rectangle 3"/>
          <p:cNvSpPr/>
          <p:nvPr/>
        </p:nvSpPr>
        <p:spPr>
          <a:xfrm>
            <a:off x="609600" y="1371600"/>
            <a:ext cx="8077200" cy="2308324"/>
          </a:xfrm>
          <a:prstGeom prst="rect">
            <a:avLst/>
          </a:prstGeom>
        </p:spPr>
        <p:txBody>
          <a:bodyPr wrap="square">
            <a:spAutoFit/>
          </a:bodyPr>
          <a:lstStyle/>
          <a:p>
            <a:pPr marL="285750" indent="-285750">
              <a:buFont typeface="Arial" pitchFamily="34" charset="0"/>
              <a:buChar char="•"/>
            </a:pPr>
            <a:r>
              <a:rPr lang="en-IN" sz="2400" dirty="0">
                <a:latin typeface="Times New Roman" pitchFamily="18" charset="0"/>
                <a:cs typeface="Times New Roman" pitchFamily="18" charset="0"/>
              </a:rPr>
              <a:t>A controlling signal can be connected at the input of the latch. Here enable (EN) signal is connected at the input using another set of logic gates.</a:t>
            </a:r>
          </a:p>
          <a:p>
            <a:pPr marL="285750" indent="-285750">
              <a:buFont typeface="Arial" pitchFamily="34" charset="0"/>
              <a:buChar char="•"/>
            </a:pPr>
            <a:r>
              <a:rPr lang="en-IN" sz="2400" dirty="0">
                <a:latin typeface="Times New Roman" pitchFamily="18" charset="0"/>
                <a:cs typeface="Times New Roman" pitchFamily="18" charset="0"/>
              </a:rPr>
              <a:t>The S and R inputs can be fed to the latch section only when     EN = HIGH or ‘logic 1’.</a:t>
            </a:r>
          </a:p>
          <a:p>
            <a:pPr marL="285750" indent="-285750">
              <a:buFont typeface="Arial" pitchFamily="34" charset="0"/>
              <a:buChar char="•"/>
            </a:pPr>
            <a:r>
              <a:rPr lang="en-IN"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Latches are level triggered</a:t>
            </a:r>
            <a:endParaRPr lang="en-IN" sz="2400" b="1" dirty="0"/>
          </a:p>
        </p:txBody>
      </p:sp>
      <p:pic>
        <p:nvPicPr>
          <p:cNvPr id="12290" name="Picture 2" descr="High Level Trigg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455" y="3810000"/>
            <a:ext cx="4000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709305" y="4774533"/>
            <a:ext cx="533400" cy="928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S      </a:t>
            </a:r>
          </a:p>
          <a:p>
            <a:pPr algn="ctr"/>
            <a:endParaRPr lang="en-IN" sz="1400" b="1" dirty="0">
              <a:solidFill>
                <a:schemeClr val="tx1"/>
              </a:solidFill>
            </a:endParaRPr>
          </a:p>
          <a:p>
            <a:pPr algn="ctr"/>
            <a:r>
              <a:rPr lang="en-IN" sz="1400" b="1" dirty="0">
                <a:solidFill>
                  <a:schemeClr val="tx1"/>
                </a:solidFill>
              </a:rPr>
              <a:t>EN     </a:t>
            </a:r>
          </a:p>
          <a:p>
            <a:pPr algn="ctr"/>
            <a:endParaRPr lang="en-IN" sz="1400" b="1" dirty="0">
              <a:solidFill>
                <a:schemeClr val="tx1"/>
              </a:solidFill>
            </a:endParaRPr>
          </a:p>
          <a:p>
            <a:pPr algn="ctr"/>
            <a:r>
              <a:rPr lang="en-IN" sz="1400" b="1" dirty="0">
                <a:solidFill>
                  <a:schemeClr val="tx1"/>
                </a:solidFill>
              </a:rPr>
              <a:t>R</a:t>
            </a:r>
          </a:p>
        </p:txBody>
      </p:sp>
      <p:sp>
        <p:nvSpPr>
          <p:cNvPr id="6" name="Rectangle 5"/>
          <p:cNvSpPr/>
          <p:nvPr/>
        </p:nvSpPr>
        <p:spPr>
          <a:xfrm>
            <a:off x="2667000" y="5010150"/>
            <a:ext cx="5334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292" name="Picture 4" descr="Low Level Trigg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0377" y="3789218"/>
            <a:ext cx="3943350" cy="27146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324600" y="4746391"/>
            <a:ext cx="533400" cy="928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S      </a:t>
            </a:r>
          </a:p>
          <a:p>
            <a:pPr algn="ctr"/>
            <a:endParaRPr lang="en-IN" sz="1400" b="1" dirty="0">
              <a:solidFill>
                <a:schemeClr val="tx1"/>
              </a:solidFill>
            </a:endParaRPr>
          </a:p>
          <a:p>
            <a:pPr algn="ctr"/>
            <a:r>
              <a:rPr lang="en-IN" sz="1400" b="1" dirty="0">
                <a:solidFill>
                  <a:schemeClr val="tx1"/>
                </a:solidFill>
              </a:rPr>
              <a:t>EN     </a:t>
            </a:r>
          </a:p>
          <a:p>
            <a:pPr algn="ctr"/>
            <a:endParaRPr lang="en-IN" sz="1400" b="1" dirty="0">
              <a:solidFill>
                <a:schemeClr val="tx1"/>
              </a:solidFill>
            </a:endParaRPr>
          </a:p>
          <a:p>
            <a:pPr algn="ctr"/>
            <a:r>
              <a:rPr lang="en-IN" sz="1400" b="1" dirty="0">
                <a:solidFill>
                  <a:schemeClr val="tx1"/>
                </a:solidFill>
              </a:rPr>
              <a:t>R</a:t>
            </a:r>
          </a:p>
        </p:txBody>
      </p:sp>
      <p:sp>
        <p:nvSpPr>
          <p:cNvPr id="10" name="Rectangle 9"/>
          <p:cNvSpPr/>
          <p:nvPr/>
        </p:nvSpPr>
        <p:spPr>
          <a:xfrm>
            <a:off x="7190509" y="5010150"/>
            <a:ext cx="5334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61590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04800"/>
            <a:ext cx="8763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0786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838200"/>
            <a:ext cx="7924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5838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616951374"/>
              </p:ext>
            </p:extLst>
          </p:nvPr>
        </p:nvGraphicFramePr>
        <p:xfrm>
          <a:off x="152400" y="685800"/>
          <a:ext cx="8915400" cy="5795001"/>
        </p:xfrm>
        <a:graphic>
          <a:graphicData uri="http://schemas.openxmlformats.org/drawingml/2006/table">
            <a:tbl>
              <a:tblPr/>
              <a:tblGrid>
                <a:gridCol w="609600">
                  <a:extLst>
                    <a:ext uri="{9D8B030D-6E8A-4147-A177-3AD203B41FA5}">
                      <a16:colId xmlns:a16="http://schemas.microsoft.com/office/drawing/2014/main" val="20000"/>
                    </a:ext>
                  </a:extLst>
                </a:gridCol>
                <a:gridCol w="4541520">
                  <a:extLst>
                    <a:ext uri="{9D8B030D-6E8A-4147-A177-3AD203B41FA5}">
                      <a16:colId xmlns:a16="http://schemas.microsoft.com/office/drawing/2014/main" val="20001"/>
                    </a:ext>
                  </a:extLst>
                </a:gridCol>
                <a:gridCol w="3764280">
                  <a:extLst>
                    <a:ext uri="{9D8B030D-6E8A-4147-A177-3AD203B41FA5}">
                      <a16:colId xmlns:a16="http://schemas.microsoft.com/office/drawing/2014/main" val="20002"/>
                    </a:ext>
                  </a:extLst>
                </a:gridCol>
              </a:tblGrid>
              <a:tr h="677406">
                <a:tc>
                  <a:txBody>
                    <a:bodyPr/>
                    <a:lstStyle/>
                    <a:p>
                      <a:pPr algn="l" fontAlgn="base"/>
                      <a:r>
                        <a:rPr lang="en-IN" sz="2000" b="0" dirty="0" err="1">
                          <a:effectLst/>
                          <a:latin typeface="Times New Roman" pitchFamily="18" charset="0"/>
                          <a:cs typeface="Times New Roman" pitchFamily="18" charset="0"/>
                        </a:rPr>
                        <a:t>SNo</a:t>
                      </a:r>
                      <a:endParaRPr lang="en-IN" sz="2000" b="0" dirty="0">
                        <a:effectLst/>
                        <a:latin typeface="Times New Roman" pitchFamily="18" charset="0"/>
                        <a:cs typeface="Times New Roman" pitchFamily="18" charset="0"/>
                      </a:endParaRP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ase"/>
                      <a:r>
                        <a:rPr lang="en-IN" sz="2400" b="0" dirty="0">
                          <a:effectLst/>
                          <a:latin typeface="Times New Roman" pitchFamily="18" charset="0"/>
                          <a:cs typeface="Times New Roman" pitchFamily="18" charset="0"/>
                        </a:rPr>
                        <a:t>Flip-flop</a:t>
                      </a: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ase"/>
                      <a:r>
                        <a:rPr lang="en-IN" sz="2400" b="0" dirty="0">
                          <a:effectLst/>
                          <a:latin typeface="Times New Roman" pitchFamily="18" charset="0"/>
                          <a:cs typeface="Times New Roman" pitchFamily="18" charset="0"/>
                        </a:rPr>
                        <a:t>Latch</a:t>
                      </a: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1430925">
                <a:tc>
                  <a:txBody>
                    <a:bodyPr/>
                    <a:lstStyle/>
                    <a:p>
                      <a:pPr algn="l" fontAlgn="base"/>
                      <a:r>
                        <a:rPr lang="en-IN" sz="2400" b="0">
                          <a:effectLst/>
                          <a:latin typeface="Times New Roman" pitchFamily="18" charset="0"/>
                          <a:cs typeface="Times New Roman" pitchFamily="18" charset="0"/>
                        </a:rPr>
                        <a:t>1</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Flip-flop is a bistable device i.e., it has two stable states that are represented as 0 and 1.</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Latch is also a bistable device whose states are also represented as 0 and 1.</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608259">
                <a:tc>
                  <a:txBody>
                    <a:bodyPr/>
                    <a:lstStyle/>
                    <a:p>
                      <a:pPr algn="l" fontAlgn="base"/>
                      <a:r>
                        <a:rPr lang="en-IN" sz="2400" b="0">
                          <a:effectLst/>
                          <a:latin typeface="Times New Roman" pitchFamily="18" charset="0"/>
                          <a:cs typeface="Times New Roman" pitchFamily="18" charset="0"/>
                        </a:rPr>
                        <a:t>2</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It checks the inputs but changes the output only at times defined by the clock signal or any other control signal.</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It checks the inputs continuously and responds to the changes in inputs immediately.</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4625">
                <a:tc>
                  <a:txBody>
                    <a:bodyPr/>
                    <a:lstStyle/>
                    <a:p>
                      <a:pPr algn="l" fontAlgn="base"/>
                      <a:r>
                        <a:rPr lang="en-IN" sz="2400" b="0">
                          <a:effectLst/>
                          <a:latin typeface="Times New Roman" pitchFamily="18" charset="0"/>
                          <a:cs typeface="Times New Roman" pitchFamily="18" charset="0"/>
                        </a:rPr>
                        <a:t>3</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It is a edge triggered device.</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It is a level triggered device.</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49985">
                <a:tc>
                  <a:txBody>
                    <a:bodyPr/>
                    <a:lstStyle/>
                    <a:p>
                      <a:pPr algn="l" fontAlgn="base"/>
                      <a:r>
                        <a:rPr lang="en-IN" sz="2400" b="0">
                          <a:effectLst/>
                          <a:latin typeface="Times New Roman" pitchFamily="18" charset="0"/>
                          <a:cs typeface="Times New Roman" pitchFamily="18" charset="0"/>
                        </a:rPr>
                        <a:t>4</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Gates like NOR, NOT, AND, NAND are building blocks of flip flops.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These are also made up of gates.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4"/>
          <p:cNvSpPr/>
          <p:nvPr/>
        </p:nvSpPr>
        <p:spPr>
          <a:xfrm>
            <a:off x="304800" y="168396"/>
            <a:ext cx="8610600" cy="461665"/>
          </a:xfrm>
          <a:prstGeom prst="rect">
            <a:avLst/>
          </a:prstGeom>
        </p:spPr>
        <p:txBody>
          <a:bodyPr wrap="square">
            <a:spAutoFit/>
          </a:bodyPr>
          <a:lstStyle/>
          <a:p>
            <a:r>
              <a:rPr lang="en-IN" sz="2400" b="1" dirty="0">
                <a:latin typeface="Times New Roman" pitchFamily="18" charset="0"/>
                <a:cs typeface="Times New Roman" pitchFamily="18" charset="0"/>
              </a:rPr>
              <a:t>Comparison between </a:t>
            </a:r>
            <a:r>
              <a:rPr lang="en-IN" sz="2400" b="1" dirty="0" err="1">
                <a:latin typeface="Times New Roman" pitchFamily="18" charset="0"/>
                <a:cs typeface="Times New Roman" pitchFamily="18" charset="0"/>
              </a:rPr>
              <a:t>Flipflop</a:t>
            </a:r>
            <a:r>
              <a:rPr lang="en-IN" sz="2400" b="1" dirty="0">
                <a:latin typeface="Times New Roman" pitchFamily="18" charset="0"/>
                <a:cs typeface="Times New Roman" pitchFamily="18" charset="0"/>
              </a:rPr>
              <a:t> and Latch</a:t>
            </a:r>
          </a:p>
        </p:txBody>
      </p:sp>
    </p:spTree>
    <p:extLst>
      <p:ext uri="{BB962C8B-B14F-4D97-AF65-F5344CB8AC3E}">
        <p14:creationId xmlns:p14="http://schemas.microsoft.com/office/powerpoint/2010/main" val="3911256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0145017"/>
              </p:ext>
            </p:extLst>
          </p:nvPr>
        </p:nvGraphicFramePr>
        <p:xfrm>
          <a:off x="381000" y="990600"/>
          <a:ext cx="8534400" cy="5425290"/>
        </p:xfrm>
        <a:graphic>
          <a:graphicData uri="http://schemas.openxmlformats.org/drawingml/2006/table">
            <a:tbl>
              <a:tblPr/>
              <a:tblGrid>
                <a:gridCol w="568960">
                  <a:extLst>
                    <a:ext uri="{9D8B030D-6E8A-4147-A177-3AD203B41FA5}">
                      <a16:colId xmlns:a16="http://schemas.microsoft.com/office/drawing/2014/main" val="20000"/>
                    </a:ext>
                  </a:extLst>
                </a:gridCol>
                <a:gridCol w="3793067">
                  <a:extLst>
                    <a:ext uri="{9D8B030D-6E8A-4147-A177-3AD203B41FA5}">
                      <a16:colId xmlns:a16="http://schemas.microsoft.com/office/drawing/2014/main" val="20001"/>
                    </a:ext>
                  </a:extLst>
                </a:gridCol>
                <a:gridCol w="4172373">
                  <a:extLst>
                    <a:ext uri="{9D8B030D-6E8A-4147-A177-3AD203B41FA5}">
                      <a16:colId xmlns:a16="http://schemas.microsoft.com/office/drawing/2014/main" val="20002"/>
                    </a:ext>
                  </a:extLst>
                </a:gridCol>
              </a:tblGrid>
              <a:tr h="656830">
                <a:tc>
                  <a:txBody>
                    <a:bodyPr/>
                    <a:lstStyle/>
                    <a:p>
                      <a:pPr algn="l" fontAlgn="base"/>
                      <a:r>
                        <a:rPr lang="en-IN" sz="1800" b="0" dirty="0" err="1">
                          <a:effectLst/>
                          <a:latin typeface="Times New Roman" pitchFamily="18" charset="0"/>
                          <a:cs typeface="Times New Roman" pitchFamily="18" charset="0"/>
                        </a:rPr>
                        <a:t>SNo</a:t>
                      </a:r>
                      <a:endParaRPr lang="en-IN" sz="1800" b="0" dirty="0">
                        <a:effectLst/>
                        <a:latin typeface="Times New Roman" pitchFamily="18" charset="0"/>
                        <a:cs typeface="Times New Roman" pitchFamily="18" charset="0"/>
                      </a:endParaRP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ase"/>
                      <a:r>
                        <a:rPr lang="en-IN" sz="2400" b="0" dirty="0">
                          <a:effectLst/>
                          <a:latin typeface="Times New Roman" pitchFamily="18" charset="0"/>
                          <a:cs typeface="Times New Roman" pitchFamily="18" charset="0"/>
                        </a:rPr>
                        <a:t>Flip-flop</a:t>
                      </a: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ase"/>
                      <a:r>
                        <a:rPr lang="en-IN" sz="2400" b="0" dirty="0">
                          <a:effectLst/>
                          <a:latin typeface="Times New Roman" pitchFamily="18" charset="0"/>
                          <a:cs typeface="Times New Roman" pitchFamily="18" charset="0"/>
                        </a:rPr>
                        <a:t>Latch</a:t>
                      </a:r>
                    </a:p>
                  </a:txBody>
                  <a:tcPr marL="51093" marR="51093" marT="25546" marB="255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656830">
                <a:tc>
                  <a:txBody>
                    <a:bodyPr/>
                    <a:lstStyle/>
                    <a:p>
                      <a:pPr algn="l" fontAlgn="base"/>
                      <a:r>
                        <a:rPr lang="en-IN" sz="2400" b="0" dirty="0">
                          <a:effectLst/>
                          <a:latin typeface="Times New Roman" pitchFamily="18" charset="0"/>
                          <a:cs typeface="Times New Roman" pitchFamily="18" charset="0"/>
                        </a:rPr>
                        <a:t>5</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They are classified into asynchronous or synchronous </a:t>
                      </a:r>
                      <a:r>
                        <a:rPr lang="en-IN" sz="2400" b="0" dirty="0" err="1">
                          <a:effectLst/>
                          <a:latin typeface="Times New Roman" pitchFamily="18" charset="0"/>
                          <a:cs typeface="Times New Roman" pitchFamily="18" charset="0"/>
                        </a:rPr>
                        <a:t>flipflops</a:t>
                      </a:r>
                      <a:r>
                        <a:rPr lang="en-IN" sz="2400" b="0" dirty="0">
                          <a:effectLst/>
                          <a:latin typeface="Times New Roman" pitchFamily="18" charset="0"/>
                          <a:cs typeface="Times New Roman" pitchFamily="18" charset="0"/>
                        </a:rPr>
                        <a:t>.</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There is no such classification in latches.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3943">
                <a:tc>
                  <a:txBody>
                    <a:bodyPr/>
                    <a:lstStyle/>
                    <a:p>
                      <a:pPr algn="l" fontAlgn="base"/>
                      <a:r>
                        <a:rPr lang="en-IN" sz="2400" b="0">
                          <a:effectLst/>
                          <a:latin typeface="Times New Roman" pitchFamily="18" charset="0"/>
                          <a:cs typeface="Times New Roman" pitchFamily="18" charset="0"/>
                        </a:rPr>
                        <a:t>6</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It forms the basic building blocks of many sequential circuits like counters.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These can be used for the designing of sequential circuits but are not generally preferred.</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7445">
                <a:tc>
                  <a:txBody>
                    <a:bodyPr/>
                    <a:lstStyle/>
                    <a:p>
                      <a:pPr algn="l" fontAlgn="base"/>
                      <a:r>
                        <a:rPr lang="en-IN" sz="2400" b="0">
                          <a:effectLst/>
                          <a:latin typeface="Times New Roman" pitchFamily="18" charset="0"/>
                          <a:cs typeface="Times New Roman" pitchFamily="18" charset="0"/>
                        </a:rPr>
                        <a:t>7</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a, Flip-flop always have a clock signal</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err="1">
                          <a:effectLst/>
                          <a:latin typeface="Times New Roman" pitchFamily="18" charset="0"/>
                          <a:cs typeface="Times New Roman" pitchFamily="18" charset="0"/>
                        </a:rPr>
                        <a:t>latche</a:t>
                      </a:r>
                      <a:r>
                        <a:rPr lang="en-IN" sz="2400" b="0" dirty="0">
                          <a:effectLst/>
                          <a:latin typeface="Times New Roman" pitchFamily="18" charset="0"/>
                          <a:cs typeface="Times New Roman" pitchFamily="18" charset="0"/>
                        </a:rPr>
                        <a:t> doesn’t have a clock signal</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7445">
                <a:tc>
                  <a:txBody>
                    <a:bodyPr/>
                    <a:lstStyle/>
                    <a:p>
                      <a:pPr algn="l" fontAlgn="base"/>
                      <a:r>
                        <a:rPr lang="en-IN" sz="2400" b="0">
                          <a:effectLst/>
                          <a:latin typeface="Times New Roman" pitchFamily="18" charset="0"/>
                          <a:cs typeface="Times New Roman" pitchFamily="18" charset="0"/>
                        </a:rPr>
                        <a:t>8</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Flip-flop can be build from Latches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a:effectLst/>
                          <a:latin typeface="Times New Roman" pitchFamily="18" charset="0"/>
                          <a:cs typeface="Times New Roman" pitchFamily="18" charset="0"/>
                        </a:rPr>
                        <a:t>Latches can be build from gates</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07445">
                <a:tc>
                  <a:txBody>
                    <a:bodyPr/>
                    <a:lstStyle/>
                    <a:p>
                      <a:pPr algn="l" fontAlgn="base"/>
                      <a:r>
                        <a:rPr lang="en-IN" sz="2400" b="0">
                          <a:effectLst/>
                          <a:latin typeface="Times New Roman" pitchFamily="18" charset="0"/>
                          <a:cs typeface="Times New Roman" pitchFamily="18" charset="0"/>
                        </a:rPr>
                        <a:t>9</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a:effectLst/>
                          <a:latin typeface="Times New Roman" pitchFamily="18" charset="0"/>
                          <a:cs typeface="Times New Roman" pitchFamily="18" charset="0"/>
                        </a:rPr>
                        <a:t>ex:D Flip-flop, JK Flip-flop</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2400" b="0" dirty="0" err="1">
                          <a:effectLst/>
                          <a:latin typeface="Times New Roman" pitchFamily="18" charset="0"/>
                          <a:cs typeface="Times New Roman" pitchFamily="18" charset="0"/>
                        </a:rPr>
                        <a:t>ex:SR</a:t>
                      </a:r>
                      <a:r>
                        <a:rPr lang="en-IN" sz="2400" b="0" dirty="0">
                          <a:effectLst/>
                          <a:latin typeface="Times New Roman" pitchFamily="18" charset="0"/>
                          <a:cs typeface="Times New Roman" pitchFamily="18" charset="0"/>
                        </a:rPr>
                        <a:t> Latch, D Latch</a:t>
                      </a:r>
                    </a:p>
                  </a:txBody>
                  <a:tcPr marL="53222" marR="53222" marT="74510" marB="74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Box 4"/>
          <p:cNvSpPr txBox="1"/>
          <p:nvPr/>
        </p:nvSpPr>
        <p:spPr>
          <a:xfrm>
            <a:off x="381000" y="381000"/>
            <a:ext cx="1333507" cy="369332"/>
          </a:xfrm>
          <a:prstGeom prst="rect">
            <a:avLst/>
          </a:prstGeom>
          <a:noFill/>
        </p:spPr>
        <p:txBody>
          <a:bodyPr wrap="none" rtlCol="0">
            <a:spAutoFit/>
          </a:bodyPr>
          <a:lstStyle/>
          <a:p>
            <a:r>
              <a:rPr lang="en-IN" dirty="0"/>
              <a:t>Continued…</a:t>
            </a:r>
          </a:p>
        </p:txBody>
      </p:sp>
    </p:spTree>
    <p:extLst>
      <p:ext uri="{BB962C8B-B14F-4D97-AF65-F5344CB8AC3E}">
        <p14:creationId xmlns:p14="http://schemas.microsoft.com/office/powerpoint/2010/main" val="347052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399"/>
            <a:ext cx="8229600" cy="1143000"/>
          </a:xfrm>
        </p:spPr>
        <p:txBody>
          <a:bodyPr>
            <a:normAutofit/>
          </a:bodyPr>
          <a:lstStyle/>
          <a:p>
            <a:r>
              <a:rPr lang="en-IN" b="1" dirty="0">
                <a:latin typeface="Times New Roman" pitchFamily="18" charset="0"/>
                <a:cs typeface="Times New Roman" pitchFamily="18" charset="0"/>
              </a:rPr>
              <a:t>Triggering of Flip Flops</a:t>
            </a:r>
            <a:endParaRPr lang="en-IN" dirty="0">
              <a:latin typeface="Times New Roman" pitchFamily="18" charset="0"/>
              <a:cs typeface="Times New Roman" pitchFamily="18" charset="0"/>
            </a:endParaRPr>
          </a:p>
        </p:txBody>
      </p:sp>
      <p:sp>
        <p:nvSpPr>
          <p:cNvPr id="4" name="Rectangle 3"/>
          <p:cNvSpPr/>
          <p:nvPr/>
        </p:nvSpPr>
        <p:spPr>
          <a:xfrm>
            <a:off x="152400" y="1295399"/>
            <a:ext cx="8991600" cy="1569660"/>
          </a:xfrm>
          <a:prstGeom prst="rect">
            <a:avLst/>
          </a:prstGeom>
        </p:spPr>
        <p:txBody>
          <a:bodyPr wrap="square">
            <a:spAutoFit/>
          </a:bodyPr>
          <a:lstStyle/>
          <a:p>
            <a:r>
              <a:rPr lang="en-IN" sz="2400" dirty="0">
                <a:latin typeface="Times New Roman" pitchFamily="18" charset="0"/>
                <a:cs typeface="Times New Roman" pitchFamily="18" charset="0"/>
              </a:rPr>
              <a:t>There are mainly four types of pulse-triggering methods. They differ in the manner in which the electronic circuits respond to the pulse. They are </a:t>
            </a:r>
            <a:r>
              <a:rPr lang="en-IN" sz="2400" b="1" i="1" dirty="0">
                <a:latin typeface="Times New Roman" pitchFamily="18" charset="0"/>
                <a:cs typeface="Times New Roman" pitchFamily="18" charset="0"/>
              </a:rPr>
              <a:t>HIGH Level Triggering, LOW Level Triggering, POSITIVE edge triggering and NEGATIVE edge triggering.</a:t>
            </a:r>
            <a:endParaRPr lang="en-IN" sz="2400" dirty="0">
              <a:latin typeface="Times New Roman" pitchFamily="18" charset="0"/>
              <a:cs typeface="Times New Roman" pitchFamily="18" charset="0"/>
            </a:endParaRPr>
          </a:p>
        </p:txBody>
      </p:sp>
      <p:sp>
        <p:nvSpPr>
          <p:cNvPr id="5" name="Rectangle 4"/>
          <p:cNvSpPr/>
          <p:nvPr/>
        </p:nvSpPr>
        <p:spPr>
          <a:xfrm>
            <a:off x="180109" y="3200400"/>
            <a:ext cx="4572000" cy="2308324"/>
          </a:xfrm>
          <a:prstGeom prst="rect">
            <a:avLst/>
          </a:prstGeom>
        </p:spPr>
        <p:txBody>
          <a:bodyPr>
            <a:spAutoFit/>
          </a:bodyPr>
          <a:lstStyle/>
          <a:p>
            <a:pPr algn="just" fontAlgn="base"/>
            <a:r>
              <a:rPr lang="en-IN" sz="2400" b="1" dirty="0">
                <a:latin typeface="Times New Roman" pitchFamily="18" charset="0"/>
                <a:cs typeface="Times New Roman" pitchFamily="18" charset="0"/>
              </a:rPr>
              <a:t>1. High Level Triggering</a:t>
            </a:r>
          </a:p>
          <a:p>
            <a:pPr algn="just" fontAlgn="base"/>
            <a:r>
              <a:rPr lang="en-IN" sz="2400" dirty="0">
                <a:latin typeface="Times New Roman" pitchFamily="18" charset="0"/>
                <a:cs typeface="Times New Roman" pitchFamily="18" charset="0"/>
              </a:rPr>
              <a:t>When a flip flop or a sequential circuit is required to respond at HIGH level of clock input,  a HIGH level triggering method is used. </a:t>
            </a:r>
          </a:p>
        </p:txBody>
      </p:sp>
      <p:pic>
        <p:nvPicPr>
          <p:cNvPr id="16386" name="Picture 2" descr="High Level Trigg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0" y="3165764"/>
            <a:ext cx="4000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45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4572000" cy="3046988"/>
          </a:xfrm>
          <a:prstGeom prst="rect">
            <a:avLst/>
          </a:prstGeom>
        </p:spPr>
        <p:txBody>
          <a:bodyPr>
            <a:spAutoFit/>
          </a:bodyPr>
          <a:lstStyle/>
          <a:p>
            <a:pPr algn="just" fontAlgn="base"/>
            <a:r>
              <a:rPr lang="en-IN" sz="2400" b="1" dirty="0">
                <a:latin typeface="Times New Roman" pitchFamily="18" charset="0"/>
                <a:cs typeface="Times New Roman" pitchFamily="18" charset="0"/>
              </a:rPr>
              <a:t>2. Low Level Triggering</a:t>
            </a:r>
          </a:p>
          <a:p>
            <a:pPr algn="just" fontAlgn="base"/>
            <a:r>
              <a:rPr lang="en-IN" sz="2400" dirty="0">
                <a:latin typeface="Times New Roman" pitchFamily="18" charset="0"/>
                <a:cs typeface="Times New Roman" pitchFamily="18" charset="0"/>
              </a:rPr>
              <a:t>When a flip flop or a sequential circuit is required to respond at LOW level of clock input,  a LOW level triggering method is used. </a:t>
            </a:r>
          </a:p>
          <a:p>
            <a:pPr algn="just" fontAlgn="base"/>
            <a:r>
              <a:rPr lang="en-IN" sz="2400" dirty="0">
                <a:latin typeface="Times New Roman" pitchFamily="18" charset="0"/>
                <a:cs typeface="Times New Roman" pitchFamily="18" charset="0"/>
              </a:rPr>
              <a:t>It is mainly identified from the clock input lead along with a low state indicator bubble</a:t>
            </a:r>
          </a:p>
        </p:txBody>
      </p:sp>
      <p:pic>
        <p:nvPicPr>
          <p:cNvPr id="17410" name="Picture 2" descr="Low Level Trigg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5400" y="381000"/>
            <a:ext cx="3943350" cy="27146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07818" y="4114800"/>
            <a:ext cx="4572000" cy="2677656"/>
          </a:xfrm>
          <a:prstGeom prst="rect">
            <a:avLst/>
          </a:prstGeom>
        </p:spPr>
        <p:txBody>
          <a:bodyPr>
            <a:spAutoFit/>
          </a:bodyPr>
          <a:lstStyle/>
          <a:p>
            <a:pPr algn="just" fontAlgn="base"/>
            <a:r>
              <a:rPr lang="en-IN" sz="2400" b="1" dirty="0">
                <a:latin typeface="Times New Roman" pitchFamily="18" charset="0"/>
                <a:cs typeface="Times New Roman" pitchFamily="18" charset="0"/>
              </a:rPr>
              <a:t>3. Positive Edge Triggering</a:t>
            </a:r>
          </a:p>
          <a:p>
            <a:pPr algn="just" fontAlgn="base"/>
            <a:r>
              <a:rPr lang="en-IN" sz="2400" dirty="0">
                <a:latin typeface="Times New Roman" pitchFamily="18" charset="0"/>
                <a:cs typeface="Times New Roman" pitchFamily="18" charset="0"/>
              </a:rPr>
              <a:t>When a flip flop is required to respond at a LOW to HIGH transition state,  POSITIVE edge triggering method is used. It is mainly identified from the clock input lead along with a triangle.</a:t>
            </a:r>
          </a:p>
        </p:txBody>
      </p:sp>
      <p:pic>
        <p:nvPicPr>
          <p:cNvPr id="17412" name="Picture 4" descr="v"/>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3962" y="3657600"/>
            <a:ext cx="4086225" cy="28575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a:cxnSpLocks/>
          </p:cNvCxnSpPr>
          <p:nvPr/>
        </p:nvCxnSpPr>
        <p:spPr>
          <a:xfrm flipV="1">
            <a:off x="5867400" y="4800600"/>
            <a:ext cx="0" cy="2658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069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685800"/>
            <a:ext cx="4572000" cy="3046988"/>
          </a:xfrm>
          <a:prstGeom prst="rect">
            <a:avLst/>
          </a:prstGeom>
        </p:spPr>
        <p:txBody>
          <a:bodyPr>
            <a:spAutoFit/>
          </a:bodyPr>
          <a:lstStyle/>
          <a:p>
            <a:pPr algn="just" fontAlgn="base"/>
            <a:r>
              <a:rPr lang="en-IN" sz="2400" b="1" dirty="0">
                <a:latin typeface="Times New Roman" pitchFamily="18" charset="0"/>
                <a:cs typeface="Times New Roman" pitchFamily="18" charset="0"/>
              </a:rPr>
              <a:t>4. Negative Edge Triggering</a:t>
            </a:r>
          </a:p>
          <a:p>
            <a:pPr algn="just" fontAlgn="base"/>
            <a:r>
              <a:rPr lang="en-IN" sz="2400" dirty="0">
                <a:latin typeface="Times New Roman" pitchFamily="18" charset="0"/>
                <a:cs typeface="Times New Roman" pitchFamily="18" charset="0"/>
              </a:rPr>
              <a:t>When a flip flop is required to respond during the HIGH to LOW transition state,  a NEGATIVE edge triggering method is used.. It is mainly identified from the clock input lead along with a low-state indicator and a triangle.</a:t>
            </a:r>
          </a:p>
        </p:txBody>
      </p:sp>
      <p:pic>
        <p:nvPicPr>
          <p:cNvPr id="18434" name="Picture 2" descr="Negative Edge Trigg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0600" y="1161037"/>
            <a:ext cx="3867150" cy="264795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5818910" y="2342137"/>
            <a:ext cx="0" cy="26756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940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600" b="1" u="sng" dirty="0">
                <a:latin typeface="Times New Roman" pitchFamily="18" charset="0"/>
                <a:cs typeface="Times New Roman" pitchFamily="18" charset="0"/>
              </a:rPr>
              <a:t>Types of flip flops (</a:t>
            </a:r>
            <a:r>
              <a:rPr lang="en-IN" sz="3600" b="1" u="sng" dirty="0">
                <a:latin typeface="Times New Roman" pitchFamily="18" charset="0"/>
                <a:cs typeface="Times New Roman" pitchFamily="18" charset="0"/>
              </a:rPr>
              <a:t>Edge triggered flip flops)</a:t>
            </a:r>
            <a:endParaRPr lang="en-US" sz="3600" b="1" u="sng" dirty="0"/>
          </a:p>
        </p:txBody>
      </p:sp>
      <p:sp>
        <p:nvSpPr>
          <p:cNvPr id="3" name="Content Placeholder 2"/>
          <p:cNvSpPr>
            <a:spLocks noGrp="1"/>
          </p:cNvSpPr>
          <p:nvPr>
            <p:ph idx="1"/>
          </p:nvPr>
        </p:nvSpPr>
        <p:spPr>
          <a:xfrm>
            <a:off x="228600" y="1600200"/>
            <a:ext cx="8763000" cy="4525963"/>
          </a:xfrm>
        </p:spPr>
        <p:txBody>
          <a:bodyPr/>
          <a:lstStyle/>
          <a:p>
            <a:pPr>
              <a:buNone/>
            </a:pPr>
            <a:r>
              <a:rPr lang="en-US" dirty="0">
                <a:latin typeface="Times New Roman" pitchFamily="18" charset="0"/>
                <a:cs typeface="Times New Roman" pitchFamily="18" charset="0"/>
              </a:rPr>
              <a:t>There are basically four different types of flip flops :</a:t>
            </a:r>
          </a:p>
          <a:p>
            <a:pPr>
              <a:buNone/>
            </a:pP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1. Set-Reset (SR) flip-flop</a:t>
            </a:r>
          </a:p>
          <a:p>
            <a:pPr>
              <a:buNone/>
            </a:pPr>
            <a:r>
              <a:rPr lang="en-US" dirty="0">
                <a:latin typeface="Times New Roman" pitchFamily="18" charset="0"/>
                <a:cs typeface="Times New Roman" pitchFamily="18" charset="0"/>
              </a:rPr>
              <a:t>2. JK (Jack </a:t>
            </a:r>
            <a:r>
              <a:rPr lang="en-US" dirty="0" err="1">
                <a:latin typeface="Times New Roman" pitchFamily="18" charset="0"/>
                <a:cs typeface="Times New Roman" pitchFamily="18" charset="0"/>
              </a:rPr>
              <a:t>Kilby</a:t>
            </a:r>
            <a:r>
              <a:rPr lang="en-US" dirty="0">
                <a:latin typeface="Times New Roman" pitchFamily="18" charset="0"/>
                <a:cs typeface="Times New Roman" pitchFamily="18" charset="0"/>
              </a:rPr>
              <a:t>)flip-flop</a:t>
            </a:r>
          </a:p>
          <a:p>
            <a:pPr>
              <a:buNone/>
            </a:pPr>
            <a:r>
              <a:rPr lang="en-US" dirty="0">
                <a:latin typeface="Times New Roman" pitchFamily="18" charset="0"/>
                <a:cs typeface="Times New Roman" pitchFamily="18" charset="0"/>
              </a:rPr>
              <a:t>3. D (Data or Delay) flip-flop</a:t>
            </a:r>
          </a:p>
          <a:p>
            <a:pPr>
              <a:buNone/>
            </a:pPr>
            <a:r>
              <a:rPr lang="en-US" dirty="0">
                <a:latin typeface="Times New Roman" pitchFamily="18" charset="0"/>
                <a:cs typeface="Times New Roman" pitchFamily="18" charset="0"/>
              </a:rPr>
              <a:t>4. T (Toggle) flip-flop</a:t>
            </a:r>
          </a:p>
          <a:p>
            <a:pPr>
              <a:buNone/>
            </a:pPr>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1" name="Picture 5"/>
          <p:cNvPicPr>
            <a:picLocks noChangeAspect="1" noChangeArrowheads="1"/>
          </p:cNvPicPr>
          <p:nvPr/>
        </p:nvPicPr>
        <p:blipFill rotWithShape="1">
          <a:blip r:embed="rId2" cstate="print"/>
          <a:srcRect b="69863"/>
          <a:stretch/>
        </p:blipFill>
        <p:spPr bwMode="auto">
          <a:xfrm>
            <a:off x="609600" y="304800"/>
            <a:ext cx="7924800" cy="1837151"/>
          </a:xfrm>
          <a:prstGeom prst="rect">
            <a:avLst/>
          </a:prstGeom>
          <a:noFill/>
          <a:ln w="9525">
            <a:noFill/>
            <a:miter lim="800000"/>
            <a:headEnd/>
            <a:tailEnd/>
          </a:ln>
        </p:spPr>
      </p:pic>
      <p:pic>
        <p:nvPicPr>
          <p:cNvPr id="2050" name="Picture 2" descr="Latches -- Advanced Solid-State Logic: Flip-Flops, Shift Registers,  Counters, and Timer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2286000"/>
            <a:ext cx="7010400" cy="436916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0789" y="3952838"/>
            <a:ext cx="263842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62400" y="6400800"/>
            <a:ext cx="273367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6" cstate="print"/>
          <a:srcRect/>
          <a:stretch>
            <a:fillRect/>
          </a:stretch>
        </p:blipFill>
        <p:spPr bwMode="auto">
          <a:xfrm>
            <a:off x="7620000" y="4495800"/>
            <a:ext cx="1228725" cy="1524000"/>
          </a:xfrm>
          <a:prstGeom prst="rect">
            <a:avLst/>
          </a:prstGeom>
          <a:noFill/>
          <a:ln w="9525">
            <a:noFill/>
            <a:miter lim="800000"/>
            <a:headEnd/>
            <a:tailEnd/>
          </a:ln>
        </p:spPr>
      </p:pic>
      <p:pic>
        <p:nvPicPr>
          <p:cNvPr id="1027" name="Picture 3"/>
          <p:cNvPicPr>
            <a:picLocks noChangeAspect="1" noChangeArrowheads="1"/>
          </p:cNvPicPr>
          <p:nvPr/>
        </p:nvPicPr>
        <p:blipFill>
          <a:blip r:embed="rId7" cstate="print"/>
          <a:srcRect/>
          <a:stretch>
            <a:fillRect/>
          </a:stretch>
        </p:blipFill>
        <p:spPr bwMode="auto">
          <a:xfrm>
            <a:off x="7543800" y="2362200"/>
            <a:ext cx="1314450" cy="14478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534400" cy="2677656"/>
          </a:xfrm>
          <a:prstGeom prst="rect">
            <a:avLst/>
          </a:prstGeom>
        </p:spPr>
        <p:txBody>
          <a:bodyPr wrap="square">
            <a:spAutoFit/>
          </a:bodyPr>
          <a:lstStyle/>
          <a:p>
            <a:pPr algn="just"/>
            <a:r>
              <a:rPr lang="en-US" sz="2400" b="1" u="sng" dirty="0">
                <a:latin typeface="Times New Roman" pitchFamily="18" charset="0"/>
                <a:cs typeface="Times New Roman" pitchFamily="18" charset="0"/>
              </a:rPr>
              <a:t>Set-Reset or S-R Flip-flop</a:t>
            </a:r>
          </a:p>
          <a:p>
            <a:pPr algn="just"/>
            <a:r>
              <a:rPr lang="en-US" sz="2400" dirty="0">
                <a:latin typeface="Times New Roman" pitchFamily="18" charset="0"/>
                <a:cs typeface="Times New Roman" pitchFamily="18" charset="0"/>
              </a:rPr>
              <a:t>This is the simplest flip-flop circuit. It has a set input (S) and a reset input (R). When in this circuit when S is set as active, the output Q would be high and the Q’ will be low. If R is set to active then the output Q is low and the Q’ is high. Once the outputs are established, the results of the circuit are maintained until S or R get changed, or the power is turned off.</a:t>
            </a:r>
          </a:p>
        </p:txBody>
      </p:sp>
      <p:pic>
        <p:nvPicPr>
          <p:cNvPr id="5122" name="Picture 2" descr="https://www.tutorialspoint.com/assets/questions/media/52531/sr_ff.jpg"/>
          <p:cNvPicPr>
            <a:picLocks noChangeAspect="1" noChangeArrowheads="1"/>
          </p:cNvPicPr>
          <p:nvPr/>
        </p:nvPicPr>
        <p:blipFill>
          <a:blip r:embed="rId2" cstate="print"/>
          <a:srcRect l="20571" r="20571"/>
          <a:stretch>
            <a:fillRect/>
          </a:stretch>
        </p:blipFill>
        <p:spPr bwMode="auto">
          <a:xfrm>
            <a:off x="0" y="3048000"/>
            <a:ext cx="4572000" cy="3276600"/>
          </a:xfrm>
          <a:prstGeom prst="rect">
            <a:avLst/>
          </a:prstGeom>
          <a:noFill/>
        </p:spPr>
      </p:pic>
      <p:graphicFrame>
        <p:nvGraphicFramePr>
          <p:cNvPr id="7" name="Table 6"/>
          <p:cNvGraphicFramePr>
            <a:graphicFrameLocks noGrp="1"/>
          </p:cNvGraphicFramePr>
          <p:nvPr/>
        </p:nvGraphicFramePr>
        <p:xfrm>
          <a:off x="4724400" y="3124201"/>
          <a:ext cx="4114800" cy="2451822"/>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429627">
                <a:tc>
                  <a:txBody>
                    <a:bodyPr/>
                    <a:lstStyle/>
                    <a:p>
                      <a:pPr algn="ctr" fontAlgn="t"/>
                      <a:r>
                        <a:rPr lang="en-US" sz="2000" dirty="0">
                          <a:latin typeface="Times New Roman" pitchFamily="18" charset="0"/>
                          <a:cs typeface="Times New Roman" pitchFamily="18" charset="0"/>
                        </a:rPr>
                        <a:t>S</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latin typeface="Times New Roman" pitchFamily="18" charset="0"/>
                          <a:cs typeface="Times New Roman" pitchFamily="18" charset="0"/>
                        </a:rPr>
                        <a:t>R</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latin typeface="Times New Roman" pitchFamily="18" charset="0"/>
                          <a:cs typeface="Times New Roman" pitchFamily="18" charset="0"/>
                        </a:rPr>
                        <a:t>Q</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latin typeface="Times New Roman" pitchFamily="18" charset="0"/>
                          <a:cs typeface="Times New Roman" pitchFamily="18" charset="0"/>
                        </a:rPr>
                        <a:t>State</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29627">
                <a:tc>
                  <a:txBody>
                    <a:bodyPr/>
                    <a:lstStyle/>
                    <a:p>
                      <a:pPr algn="ctr" fontAlgn="t"/>
                      <a:r>
                        <a:rPr lang="en-US" sz="2000" dirty="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No Change</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29627">
                <a:tc>
                  <a:txBody>
                    <a:bodyPr/>
                    <a:lstStyle/>
                    <a:p>
                      <a:pPr algn="ctr" fontAlgn="t"/>
                      <a:r>
                        <a:rPr lang="en-US" sz="200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latin typeface="Times New Roman" pitchFamily="18" charset="0"/>
                          <a:cs typeface="Times New Roman" pitchFamily="18" charset="0"/>
                        </a:rPr>
                        <a:t>Reset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29627">
                <a:tc>
                  <a:txBody>
                    <a:bodyPr/>
                    <a:lstStyle/>
                    <a:p>
                      <a:pPr algn="ctr" fontAlgn="t"/>
                      <a:r>
                        <a:rPr lang="en-US" sz="2000">
                          <a:latin typeface="Times New Roman" pitchFamily="18" charset="0"/>
                          <a:cs typeface="Times New Roman" pitchFamily="18" charset="0"/>
                        </a:rPr>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latin typeface="Times New Roman" pitchFamily="18" charset="0"/>
                          <a:cs typeface="Times New Roman" pitchFamily="18" charset="0"/>
                        </a:rPr>
                        <a:t>Set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643694">
                <a:tc>
                  <a:txBody>
                    <a:bodyPr/>
                    <a:lstStyle/>
                    <a:p>
                      <a:pPr algn="ctr" fontAlgn="t"/>
                      <a:r>
                        <a:rPr lang="en-US" sz="2000">
                          <a:latin typeface="Times New Roman" pitchFamily="18" charset="0"/>
                          <a:cs typeface="Times New Roman" pitchFamily="18" charset="0"/>
                        </a:rPr>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latin typeface="Times New Roman" pitchFamily="18" charset="0"/>
                          <a:cs typeface="Times New Roman" pitchFamily="18" charset="0"/>
                        </a:rPr>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X</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latin typeface="Times New Roman" pitchFamily="18" charset="0"/>
                          <a:cs typeface="Times New Roman" pitchFamily="18" charset="0"/>
                        </a:rPr>
                        <a:t>Invalid</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angle 8"/>
          <p:cNvSpPr/>
          <p:nvPr/>
        </p:nvSpPr>
        <p:spPr>
          <a:xfrm>
            <a:off x="4724400" y="2743200"/>
            <a:ext cx="2834943"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Truth table of S-R flip-flop</a:t>
            </a:r>
            <a:endParaRPr lang="en-US" dirty="0">
              <a:solidFill>
                <a:srgbClr val="FF0000"/>
              </a:solidFill>
              <a:latin typeface="Times New Roman" pitchFamily="18" charset="0"/>
              <a:cs typeface="Times New Roman" pitchFamily="18" charset="0"/>
            </a:endParaRPr>
          </a:p>
        </p:txBody>
      </p:sp>
      <p:sp>
        <p:nvSpPr>
          <p:cNvPr id="10" name="Rectangle 9"/>
          <p:cNvSpPr/>
          <p:nvPr/>
        </p:nvSpPr>
        <p:spPr>
          <a:xfrm>
            <a:off x="533400" y="6172200"/>
            <a:ext cx="3309560"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Circuit diagram of S-R flip-flop</a:t>
            </a:r>
            <a:endParaRPr lang="en-US" dirty="0">
              <a:solidFill>
                <a:srgbClr val="FF0000"/>
              </a:solidFill>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990599" y="1143000"/>
            <a:ext cx="6403649" cy="48768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676400" y="838200"/>
            <a:ext cx="4238625" cy="3333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fontScale="90000"/>
          </a:bodyPr>
          <a:lstStyle/>
          <a:p>
            <a:r>
              <a:rPr lang="en-IN" u="sng" dirty="0">
                <a:latin typeface="Times New Roman" pitchFamily="18" charset="0"/>
                <a:cs typeface="Times New Roman" pitchFamily="18" charset="0"/>
              </a:rPr>
              <a:t>Working of positive edge triggered S-R FF </a:t>
            </a:r>
          </a:p>
        </p:txBody>
      </p:sp>
      <p:sp>
        <p:nvSpPr>
          <p:cNvPr id="3" name="Content Placeholder 2"/>
          <p:cNvSpPr>
            <a:spLocks noGrp="1"/>
          </p:cNvSpPr>
          <p:nvPr>
            <p:ph idx="1"/>
          </p:nvPr>
        </p:nvSpPr>
        <p:spPr>
          <a:xfrm>
            <a:off x="0" y="1295400"/>
            <a:ext cx="9144000" cy="4525963"/>
          </a:xfrm>
        </p:spPr>
        <p:txBody>
          <a:bodyPr>
            <a:noAutofit/>
          </a:bodyPr>
          <a:lstStyle/>
          <a:p>
            <a:pPr algn="just"/>
            <a:r>
              <a:rPr lang="en-IN" sz="2200" dirty="0">
                <a:latin typeface="Times New Roman" pitchFamily="18" charset="0"/>
                <a:cs typeface="Times New Roman" pitchFamily="18" charset="0"/>
              </a:rPr>
              <a:t>Table gives the truth table for positive edge triggered S-R flip-flop. The S and R inputs of the flip-flop are synchronous control input as the output changes with respect to the input only on the positive edge of the clock pulse.</a:t>
            </a:r>
          </a:p>
          <a:p>
            <a:pPr algn="just"/>
            <a:r>
              <a:rPr lang="en-IN" sz="2200" dirty="0">
                <a:latin typeface="Times New Roman" pitchFamily="18" charset="0"/>
                <a:cs typeface="Times New Roman" pitchFamily="18" charset="0"/>
              </a:rPr>
              <a:t> When there is no clock pulse or even at the trailing edge (shown in red dotted line of figure 1) then S and R inputs have no effect on the output. </a:t>
            </a:r>
          </a:p>
          <a:p>
            <a:pPr algn="just"/>
            <a:r>
              <a:rPr lang="en-IN" sz="2200" dirty="0">
                <a:latin typeface="Times New Roman" pitchFamily="18" charset="0"/>
                <a:cs typeface="Times New Roman" pitchFamily="18" charset="0"/>
              </a:rPr>
              <a:t>However </a:t>
            </a:r>
            <a:r>
              <a:rPr lang="en-IN" sz="2200" dirty="0">
                <a:solidFill>
                  <a:srgbClr val="FF0000"/>
                </a:solidFill>
                <a:latin typeface="Times New Roman" pitchFamily="18" charset="0"/>
                <a:cs typeface="Times New Roman" pitchFamily="18" charset="0"/>
              </a:rPr>
              <a:t>at the positive edge/leading edge of the clock the flip-flop become active and follows the change in S and R input. </a:t>
            </a:r>
          </a:p>
          <a:p>
            <a:pPr algn="just"/>
            <a:r>
              <a:rPr lang="en-IN" sz="2200" dirty="0">
                <a:solidFill>
                  <a:srgbClr val="FF0000"/>
                </a:solidFill>
                <a:latin typeface="Times New Roman" pitchFamily="18" charset="0"/>
                <a:cs typeface="Times New Roman" pitchFamily="18" charset="0"/>
              </a:rPr>
              <a:t>When S is high and R is low then the output goes HIGH at the positive edge of the clock pulse and SET the flip-flop.</a:t>
            </a:r>
          </a:p>
          <a:p>
            <a:pPr algn="just"/>
            <a:r>
              <a:rPr lang="en-IN" sz="2200" dirty="0">
                <a:solidFill>
                  <a:srgbClr val="FF0000"/>
                </a:solidFill>
                <a:latin typeface="Times New Roman" pitchFamily="18" charset="0"/>
                <a:cs typeface="Times New Roman" pitchFamily="18" charset="0"/>
              </a:rPr>
              <a:t> When S is low and R is high then the output goes LOW at the positive edge of the clock pulse and RESET the flip-flop. </a:t>
            </a:r>
          </a:p>
          <a:p>
            <a:pPr algn="just"/>
            <a:r>
              <a:rPr lang="en-IN" sz="2200" dirty="0">
                <a:solidFill>
                  <a:srgbClr val="FF0000"/>
                </a:solidFill>
                <a:latin typeface="Times New Roman" pitchFamily="18" charset="0"/>
                <a:cs typeface="Times New Roman" pitchFamily="18" charset="0"/>
              </a:rPr>
              <a:t>When both the inputs are low the output retains its previous state and observes no change, at the leading edge of the clock pulse. When both inputs are high the flip-flop is in forbidden state or invalid state. </a:t>
            </a:r>
          </a:p>
        </p:txBody>
      </p:sp>
    </p:spTree>
    <p:extLst>
      <p:ext uri="{BB962C8B-B14F-4D97-AF65-F5344CB8AC3E}">
        <p14:creationId xmlns:p14="http://schemas.microsoft.com/office/powerpoint/2010/main" val="565033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 y="228600"/>
            <a:ext cx="8696864" cy="63246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0" y="533400"/>
            <a:ext cx="8808221" cy="51054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srcRect/>
          <a:stretch>
            <a:fillRect/>
          </a:stretch>
        </p:blipFill>
        <p:spPr bwMode="auto">
          <a:xfrm>
            <a:off x="0" y="914400"/>
            <a:ext cx="8943753" cy="48006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533400" y="228600"/>
            <a:ext cx="4724400" cy="29718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1" y="3124200"/>
            <a:ext cx="8932101" cy="35052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228600"/>
            <a:ext cx="8763000" cy="2677656"/>
          </a:xfrm>
          <a:prstGeom prst="rect">
            <a:avLst/>
          </a:prstGeom>
        </p:spPr>
        <p:txBody>
          <a:bodyPr wrap="square">
            <a:spAutoFit/>
          </a:bodyPr>
          <a:lstStyle/>
          <a:p>
            <a:pPr algn="just"/>
            <a:r>
              <a:rPr lang="en-US" sz="2400" b="1" u="sng" dirty="0">
                <a:latin typeface="Times New Roman" pitchFamily="18" charset="0"/>
                <a:cs typeface="Times New Roman" pitchFamily="18" charset="0"/>
              </a:rPr>
              <a:t>D Flip-flop</a:t>
            </a:r>
          </a:p>
          <a:p>
            <a:pPr algn="just"/>
            <a:r>
              <a:rPr lang="en-US" sz="2400" dirty="0">
                <a:latin typeface="Times New Roman" pitchFamily="18" charset="0"/>
                <a:cs typeface="Times New Roman" pitchFamily="18" charset="0"/>
              </a:rPr>
              <a:t>In a D flip-flop, the output can only be changed at positive or negative clock transitions, and when the inputs changed at other times, the output will remain unaffected. The D flip-flops are generally used for shift-registers and counters. The change in output state of D flip-flop depends upon the active transition of clock. The output (Q) is same as input and changes only at active transition of clock</a:t>
            </a:r>
          </a:p>
        </p:txBody>
      </p:sp>
      <p:pic>
        <p:nvPicPr>
          <p:cNvPr id="3074" name="Picture 2" descr="https://www.tutorialspoint.com/assets/questions/media/52531/d_ff.jpg"/>
          <p:cNvPicPr>
            <a:picLocks noChangeAspect="1" noChangeArrowheads="1"/>
          </p:cNvPicPr>
          <p:nvPr/>
        </p:nvPicPr>
        <p:blipFill>
          <a:blip r:embed="rId2" cstate="print"/>
          <a:srcRect l="23314" t="12522" r="23314" b="12522"/>
          <a:stretch>
            <a:fillRect/>
          </a:stretch>
        </p:blipFill>
        <p:spPr bwMode="auto">
          <a:xfrm>
            <a:off x="304800" y="3048000"/>
            <a:ext cx="4560518" cy="2819400"/>
          </a:xfrm>
          <a:prstGeom prst="rect">
            <a:avLst/>
          </a:prstGeom>
          <a:noFill/>
        </p:spPr>
      </p:pic>
      <p:sp>
        <p:nvSpPr>
          <p:cNvPr id="6" name="Rectangle 5"/>
          <p:cNvSpPr/>
          <p:nvPr/>
        </p:nvSpPr>
        <p:spPr>
          <a:xfrm>
            <a:off x="685800" y="5943600"/>
            <a:ext cx="3104376"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Circuit diagram of D flip-flop</a:t>
            </a:r>
            <a:endParaRPr lang="en-US" dirty="0">
              <a:solidFill>
                <a:srgbClr val="FF0000"/>
              </a:solidFill>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5867400" y="4191000"/>
          <a:ext cx="2971800" cy="1538976"/>
        </p:xfrm>
        <a:graphic>
          <a:graphicData uri="http://schemas.openxmlformats.org/drawingml/2006/table">
            <a:tbl>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412247">
                <a:tc>
                  <a:txBody>
                    <a:bodyPr/>
                    <a:lstStyle/>
                    <a:p>
                      <a:pPr algn="ctr" fontAlgn="t"/>
                      <a:r>
                        <a:rPr lang="en-US" sz="2400" dirty="0"/>
                        <a:t>D</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a:t>Q</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12247">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12247">
                <a:tc>
                  <a:txBody>
                    <a:bodyPr/>
                    <a:lstStyle/>
                    <a:p>
                      <a:pPr algn="ctr" fontAlgn="t"/>
                      <a:r>
                        <a:rPr lang="en-US" sz="24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075" name="Rectangle 3"/>
          <p:cNvSpPr>
            <a:spLocks noChangeArrowheads="1"/>
          </p:cNvSpPr>
          <p:nvPr/>
        </p:nvSpPr>
        <p:spPr bwMode="auto">
          <a:xfrm>
            <a:off x="5562600" y="3282806"/>
            <a:ext cx="2743200" cy="292388"/>
          </a:xfrm>
          <a:prstGeom prst="rect">
            <a:avLst/>
          </a:prstGeom>
          <a:noFill/>
          <a:ln w="9525">
            <a:noFill/>
            <a:miter lim="800000"/>
            <a:headEnd/>
            <a:tailEnd/>
          </a:ln>
          <a:effec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1600" b="1" i="0" u="none" strike="noStrike" cap="none" normalizeH="0" baseline="0" dirty="0">
                <a:ln>
                  <a:noFill/>
                </a:ln>
                <a:solidFill>
                  <a:srgbClr val="FF0000"/>
                </a:solidFill>
                <a:effectLst/>
                <a:latin typeface="Arial" pitchFamily="34" charset="0"/>
                <a:cs typeface="Arial" pitchFamily="34" charset="0"/>
              </a:rPr>
              <a:t>Truth table of D flip-flop</a:t>
            </a:r>
            <a:endParaRPr kumimoji="0" lang="en-US" sz="28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 Flip Flop Explained in Detail - DCAClab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457200"/>
            <a:ext cx="62484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38200" y="896748"/>
            <a:ext cx="533400" cy="369332"/>
          </a:xfrm>
          <a:prstGeom prst="rect">
            <a:avLst/>
          </a:prstGeom>
          <a:solidFill>
            <a:schemeClr val="bg1"/>
          </a:solidFill>
        </p:spPr>
        <p:txBody>
          <a:bodyPr wrap="square" rtlCol="0">
            <a:spAutoFit/>
          </a:bodyPr>
          <a:lstStyle/>
          <a:p>
            <a:r>
              <a:rPr lang="en-IN" dirty="0"/>
              <a:t>CLK</a:t>
            </a:r>
          </a:p>
        </p:txBody>
      </p:sp>
      <p:sp>
        <p:nvSpPr>
          <p:cNvPr id="5" name="TextBox 4"/>
          <p:cNvSpPr txBox="1"/>
          <p:nvPr/>
        </p:nvSpPr>
        <p:spPr>
          <a:xfrm>
            <a:off x="631205" y="152399"/>
            <a:ext cx="1480790" cy="461665"/>
          </a:xfrm>
          <a:prstGeom prst="rect">
            <a:avLst/>
          </a:prstGeom>
          <a:noFill/>
        </p:spPr>
        <p:txBody>
          <a:bodyPr wrap="none" rtlCol="0">
            <a:spAutoFit/>
          </a:bodyPr>
          <a:lstStyle/>
          <a:p>
            <a:r>
              <a:rPr lang="en-IN" sz="2400" dirty="0"/>
              <a:t>Waveform</a:t>
            </a:r>
          </a:p>
        </p:txBody>
      </p:sp>
      <p:cxnSp>
        <p:nvCxnSpPr>
          <p:cNvPr id="7" name="Straight Arrow Connector 6"/>
          <p:cNvCxnSpPr/>
          <p:nvPr/>
        </p:nvCxnSpPr>
        <p:spPr>
          <a:xfrm flipV="1">
            <a:off x="1853852" y="744348"/>
            <a:ext cx="0" cy="3194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048000" y="737041"/>
            <a:ext cx="0" cy="3194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4191000" y="744348"/>
            <a:ext cx="0" cy="3194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410200" y="762000"/>
            <a:ext cx="0" cy="3194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37468" y="3962400"/>
            <a:ext cx="7820732" cy="1938992"/>
          </a:xfrm>
          <a:prstGeom prst="rect">
            <a:avLst/>
          </a:prstGeom>
        </p:spPr>
        <p:txBody>
          <a:bodyPr wrap="square">
            <a:spAutoFit/>
          </a:bodyPr>
          <a:lstStyle/>
          <a:p>
            <a:r>
              <a:rPr lang="en-IN" sz="2000" u="sng" dirty="0">
                <a:latin typeface="Times New Roman" pitchFamily="18" charset="0"/>
                <a:cs typeface="Times New Roman" pitchFamily="18" charset="0"/>
              </a:rPr>
              <a:t>Working</a:t>
            </a:r>
            <a:r>
              <a:rPr lang="en-IN" sz="2000" dirty="0">
                <a:latin typeface="Times New Roman" pitchFamily="18" charset="0"/>
                <a:cs typeface="Times New Roman" pitchFamily="18" charset="0"/>
              </a:rPr>
              <a:t> </a:t>
            </a:r>
          </a:p>
          <a:p>
            <a:pPr marL="342900" indent="-342900">
              <a:buFont typeface="Arial" pitchFamily="34" charset="0"/>
              <a:buChar char="•"/>
            </a:pPr>
            <a:r>
              <a:rPr lang="en-IN" sz="2000" dirty="0">
                <a:latin typeface="Times New Roman" pitchFamily="18" charset="0"/>
                <a:cs typeface="Times New Roman" pitchFamily="18" charset="0"/>
              </a:rPr>
              <a:t>In D flip flop, the single input "D" is referred to as the "Data" input. When the data input is set to 1, the flip flop would be set </a:t>
            </a:r>
            <a:r>
              <a:rPr lang="en-IN" sz="2000" dirty="0" err="1">
                <a:latin typeface="Times New Roman" pitchFamily="18" charset="0"/>
                <a:cs typeface="Times New Roman" pitchFamily="18" charset="0"/>
              </a:rPr>
              <a:t>ie</a:t>
            </a:r>
            <a:r>
              <a:rPr lang="en-IN" sz="2000" dirty="0">
                <a:latin typeface="Times New Roman" pitchFamily="18" charset="0"/>
                <a:cs typeface="Times New Roman" pitchFamily="18" charset="0"/>
              </a:rPr>
              <a:t> Q=1 , and when it is set to 0, </a:t>
            </a:r>
            <a:r>
              <a:rPr lang="en-IN" sz="2000" b="1" dirty="0">
                <a:latin typeface="Times New Roman" pitchFamily="18" charset="0"/>
                <a:cs typeface="Times New Roman" pitchFamily="18" charset="0"/>
              </a:rPr>
              <a:t>the flip flop would change and become reset </a:t>
            </a:r>
            <a:r>
              <a:rPr lang="en-IN" sz="2000" b="1" dirty="0" err="1">
                <a:latin typeface="Times New Roman" pitchFamily="18" charset="0"/>
                <a:cs typeface="Times New Roman" pitchFamily="18" charset="0"/>
              </a:rPr>
              <a:t>ie</a:t>
            </a:r>
            <a:r>
              <a:rPr lang="en-IN" sz="2000" b="1" dirty="0">
                <a:latin typeface="Times New Roman" pitchFamily="18" charset="0"/>
                <a:cs typeface="Times New Roman" pitchFamily="18" charset="0"/>
              </a:rPr>
              <a:t> Q=0</a:t>
            </a:r>
            <a:r>
              <a:rPr lang="en-IN" sz="2000" dirty="0">
                <a:latin typeface="Times New Roman" pitchFamily="18" charset="0"/>
                <a:cs typeface="Times New Roman" pitchFamily="18" charset="0"/>
              </a:rPr>
              <a:t>. When the clock input is set to true, the D input condition is only copied to the output Q.</a:t>
            </a:r>
          </a:p>
        </p:txBody>
      </p:sp>
    </p:spTree>
    <p:extLst>
      <p:ext uri="{BB962C8B-B14F-4D97-AF65-F5344CB8AC3E}">
        <p14:creationId xmlns:p14="http://schemas.microsoft.com/office/powerpoint/2010/main" val="175824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838200" y="607563"/>
            <a:ext cx="7600138" cy="5717037"/>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533400" y="228600"/>
            <a:ext cx="7821535" cy="3429000"/>
          </a:xfrm>
          <a:prstGeom prst="rect">
            <a:avLst/>
          </a:prstGeom>
          <a:noFill/>
          <a:ln w="9525">
            <a:noFill/>
            <a:miter lim="800000"/>
            <a:headEnd/>
            <a:tailEnd/>
          </a:ln>
        </p:spPr>
      </p:pic>
      <p:pic>
        <p:nvPicPr>
          <p:cNvPr id="11269" name="Picture 5"/>
          <p:cNvPicPr>
            <a:picLocks noChangeAspect="1" noChangeArrowheads="1"/>
          </p:cNvPicPr>
          <p:nvPr/>
        </p:nvPicPr>
        <p:blipFill>
          <a:blip r:embed="rId3" cstate="print"/>
          <a:srcRect/>
          <a:stretch>
            <a:fillRect/>
          </a:stretch>
        </p:blipFill>
        <p:spPr bwMode="auto">
          <a:xfrm>
            <a:off x="1687491" y="4114800"/>
            <a:ext cx="3867150" cy="21907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228600"/>
            <a:ext cx="8686800" cy="3139321"/>
          </a:xfrm>
          <a:prstGeom prst="rect">
            <a:avLst/>
          </a:prstGeom>
        </p:spPr>
        <p:txBody>
          <a:bodyPr wrap="square">
            <a:spAutoFit/>
          </a:bodyPr>
          <a:lstStyle/>
          <a:p>
            <a:pPr algn="just"/>
            <a:r>
              <a:rPr lang="en-US" sz="2200" b="1" u="sng" dirty="0">
                <a:latin typeface="Times New Roman" pitchFamily="18" charset="0"/>
                <a:cs typeface="Times New Roman" pitchFamily="18" charset="0"/>
              </a:rPr>
              <a:t>J-K Flip-flop </a:t>
            </a:r>
            <a:r>
              <a:rPr lang="en-US" sz="2200" b="1" dirty="0">
                <a:latin typeface="Times New Roman" pitchFamily="18" charset="0"/>
                <a:cs typeface="Times New Roman" pitchFamily="18" charset="0"/>
              </a:rPr>
              <a:t>(</a:t>
            </a:r>
            <a:r>
              <a:rPr lang="en-IN" sz="2200" dirty="0">
                <a:latin typeface="Times New Roman" pitchFamily="18" charset="0"/>
                <a:cs typeface="Times New Roman" pitchFamily="18" charset="0"/>
              </a:rPr>
              <a:t>The JK Flip Flop name has been kept on the inventor name of the circuit known as </a:t>
            </a:r>
            <a:r>
              <a:rPr lang="en-IN" sz="2200" b="1" dirty="0">
                <a:latin typeface="Times New Roman" pitchFamily="18" charset="0"/>
                <a:cs typeface="Times New Roman" pitchFamily="18" charset="0"/>
              </a:rPr>
              <a:t>Jack </a:t>
            </a:r>
            <a:r>
              <a:rPr lang="en-IN" sz="2200" b="1" dirty="0" err="1">
                <a:latin typeface="Times New Roman" pitchFamily="18" charset="0"/>
                <a:cs typeface="Times New Roman" pitchFamily="18" charset="0"/>
              </a:rPr>
              <a:t>Kilby</a:t>
            </a:r>
            <a:r>
              <a:rPr lang="en-IN" sz="2200" b="1" dirty="0"/>
              <a:t>)</a:t>
            </a:r>
            <a:endParaRPr lang="en-US" sz="2200" b="1" u="sng"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Because of the invalid state corresponding to S=R=1 in the SR flip-flop, there is a need of another flip-flop. The JK flip-flop operates with only positive or negative clock transitions. The operation of the JK flip-flop is similar to the SR flip-flop. When the input J and K are different then the output Q takes the value of J at the next clock edge. When J and K both are low then NO change occurs at the output. If both J and K are high, then at the clock edge, the output will toggle from one state to the other.</a:t>
            </a:r>
          </a:p>
        </p:txBody>
      </p:sp>
      <p:pic>
        <p:nvPicPr>
          <p:cNvPr id="4098" name="Picture 2" descr="https://www.tutorialspoint.com/assets/questions/media/52531/JK.jpg"/>
          <p:cNvPicPr>
            <a:picLocks noChangeAspect="1" noChangeArrowheads="1"/>
          </p:cNvPicPr>
          <p:nvPr/>
        </p:nvPicPr>
        <p:blipFill>
          <a:blip r:embed="rId2" cstate="print"/>
          <a:srcRect l="19200" r="17829"/>
          <a:stretch>
            <a:fillRect/>
          </a:stretch>
        </p:blipFill>
        <p:spPr bwMode="auto">
          <a:xfrm>
            <a:off x="331940" y="3488695"/>
            <a:ext cx="4198463" cy="2514600"/>
          </a:xfrm>
          <a:prstGeom prst="rect">
            <a:avLst/>
          </a:prstGeom>
          <a:noFill/>
        </p:spPr>
      </p:pic>
      <p:graphicFrame>
        <p:nvGraphicFramePr>
          <p:cNvPr id="7" name="Table 6"/>
          <p:cNvGraphicFramePr>
            <a:graphicFrameLocks noGrp="1"/>
          </p:cNvGraphicFramePr>
          <p:nvPr/>
        </p:nvGraphicFramePr>
        <p:xfrm>
          <a:off x="5257800" y="3810000"/>
          <a:ext cx="3429000" cy="2260160"/>
        </p:xfrm>
        <a:graphic>
          <a:graphicData uri="http://schemas.openxmlformats.org/drawingml/2006/table">
            <a:tbl>
              <a:tblPr/>
              <a:tblGrid>
                <a:gridCol w="4572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21364">
                <a:tc>
                  <a:txBody>
                    <a:bodyPr/>
                    <a:lstStyle/>
                    <a:p>
                      <a:pPr algn="ctr" fontAlgn="t"/>
                      <a:r>
                        <a:rPr lang="en-US" sz="2000" dirty="0"/>
                        <a:t>J</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dirty="0"/>
                        <a:t>K</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t>Q</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dirty="0"/>
                        <a:t>State</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221364">
                <a:tc>
                  <a:txBody>
                    <a:bodyPr/>
                    <a:lstStyle/>
                    <a:p>
                      <a:pPr algn="ctr" fontAlgn="t"/>
                      <a:r>
                        <a:rPr lang="en-US" sz="20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No Change</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21364">
                <a:tc>
                  <a:txBody>
                    <a:bodyPr/>
                    <a:lstStyle/>
                    <a:p>
                      <a:pPr algn="ctr" fontAlgn="t"/>
                      <a:r>
                        <a:rPr lang="en-US" sz="2000" dirty="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Reset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21364">
                <a:tc>
                  <a:txBody>
                    <a:bodyPr/>
                    <a:lstStyle/>
                    <a:p>
                      <a:pPr algn="ctr" fontAlgn="t"/>
                      <a:r>
                        <a:rPr lang="en-US" sz="20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a:t>Set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21364">
                <a:tc>
                  <a:txBody>
                    <a:bodyPr/>
                    <a:lstStyle/>
                    <a:p>
                      <a:pPr algn="ctr" fontAlgn="t"/>
                      <a:r>
                        <a:rPr lang="en-US" sz="20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t>Toggles</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000" dirty="0"/>
                        <a:t>Toggles</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099" name="Rectangle 3"/>
          <p:cNvSpPr>
            <a:spLocks noChangeArrowheads="1"/>
          </p:cNvSpPr>
          <p:nvPr/>
        </p:nvSpPr>
        <p:spPr bwMode="auto">
          <a:xfrm>
            <a:off x="5334000" y="3488695"/>
            <a:ext cx="2362200" cy="261610"/>
          </a:xfrm>
          <a:prstGeom prst="rect">
            <a:avLst/>
          </a:prstGeom>
          <a:noFill/>
          <a:ln w="9525">
            <a:noFill/>
            <a:miter lim="800000"/>
            <a:headEnd/>
            <a:tailEnd/>
          </a:ln>
          <a:effec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1400" b="1" i="0" u="none" strike="noStrike" cap="none" normalizeH="0" baseline="0" dirty="0">
                <a:ln>
                  <a:noFill/>
                </a:ln>
                <a:solidFill>
                  <a:srgbClr val="FF0000"/>
                </a:solidFill>
                <a:effectLst/>
                <a:latin typeface="Arial" pitchFamily="34" charset="0"/>
                <a:cs typeface="Arial" pitchFamily="34" charset="0"/>
              </a:rPr>
              <a:t>Truth table of JK flip-flop</a:t>
            </a:r>
            <a:endParaRPr kumimoji="0" lang="en-US" sz="2400" b="0" i="0" u="none" strike="noStrike" cap="none" normalizeH="0" baseline="0" dirty="0">
              <a:ln>
                <a:noFill/>
              </a:ln>
              <a:solidFill>
                <a:srgbClr val="FF0000"/>
              </a:solidFill>
              <a:effectLst/>
              <a:latin typeface="Arial" pitchFamily="34" charset="0"/>
              <a:cs typeface="Arial" pitchFamily="34" charset="0"/>
            </a:endParaRPr>
          </a:p>
        </p:txBody>
      </p:sp>
      <p:sp>
        <p:nvSpPr>
          <p:cNvPr id="9" name="Rectangle 8"/>
          <p:cNvSpPr/>
          <p:nvPr/>
        </p:nvSpPr>
        <p:spPr>
          <a:xfrm>
            <a:off x="533400" y="6172200"/>
            <a:ext cx="3232616"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Circuit diagram of JK flip-flop</a:t>
            </a:r>
            <a:endParaRPr lang="en-US" dirty="0">
              <a:solidFill>
                <a:srgbClr val="FF0000"/>
              </a:solidFill>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457200" y="533400"/>
            <a:ext cx="8458200" cy="55626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228600" y="1828800"/>
            <a:ext cx="8686800" cy="2366963"/>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304800" y="609600"/>
            <a:ext cx="8534400" cy="58674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4338" name="Picture 2"/>
          <p:cNvPicPr>
            <a:picLocks noChangeAspect="1" noChangeArrowheads="1"/>
          </p:cNvPicPr>
          <p:nvPr/>
        </p:nvPicPr>
        <p:blipFill>
          <a:blip r:embed="rId2" cstate="print"/>
          <a:srcRect/>
          <a:stretch>
            <a:fillRect/>
          </a:stretch>
        </p:blipFill>
        <p:spPr bwMode="auto">
          <a:xfrm>
            <a:off x="228600" y="533400"/>
            <a:ext cx="8458200" cy="55626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p:cNvPicPr>
            <a:picLocks noChangeAspect="1" noChangeArrowheads="1"/>
          </p:cNvPicPr>
          <p:nvPr/>
        </p:nvPicPr>
        <p:blipFill>
          <a:blip r:embed="rId2" cstate="print"/>
          <a:srcRect/>
          <a:stretch>
            <a:fillRect/>
          </a:stretch>
        </p:blipFill>
        <p:spPr bwMode="auto">
          <a:xfrm>
            <a:off x="304800" y="304800"/>
            <a:ext cx="8610599" cy="583882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15362" name="Picture 2"/>
          <p:cNvPicPr>
            <a:picLocks noChangeAspect="1" noChangeArrowheads="1"/>
          </p:cNvPicPr>
          <p:nvPr/>
        </p:nvPicPr>
        <p:blipFill>
          <a:blip r:embed="rId2" cstate="print"/>
          <a:srcRect/>
          <a:stretch>
            <a:fillRect/>
          </a:stretch>
        </p:blipFill>
        <p:spPr bwMode="auto">
          <a:xfrm>
            <a:off x="304800" y="1295400"/>
            <a:ext cx="8534400" cy="4876799"/>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04800"/>
            <a:ext cx="8686800" cy="2308324"/>
          </a:xfrm>
          <a:prstGeom prst="rect">
            <a:avLst/>
          </a:prstGeom>
        </p:spPr>
        <p:txBody>
          <a:bodyPr wrap="square">
            <a:spAutoFit/>
          </a:bodyPr>
          <a:lstStyle/>
          <a:p>
            <a:pPr algn="just"/>
            <a:r>
              <a:rPr lang="en-US" sz="2400" b="1" u="sng" dirty="0">
                <a:latin typeface="Times New Roman" pitchFamily="18" charset="0"/>
                <a:cs typeface="Times New Roman" pitchFamily="18" charset="0"/>
              </a:rPr>
              <a:t>T Flip-flop</a:t>
            </a:r>
          </a:p>
          <a:p>
            <a:pPr algn="just"/>
            <a:r>
              <a:rPr lang="en-US" sz="2400" dirty="0">
                <a:latin typeface="Times New Roman" pitchFamily="18" charset="0"/>
                <a:cs typeface="Times New Roman" pitchFamily="18" charset="0"/>
              </a:rPr>
              <a:t>A T flip-flop (Toggle Flip-flop) is a simplified version of JK flip-flop. The T flop is obtained by connecting the J and K inputs together. The flip-flop has one input terminal and clock input. These flip-flops are said to be T flip-flops because of their ability to toggle the input state. Toggle flip-flops are mostly used in counters.</a:t>
            </a:r>
          </a:p>
        </p:txBody>
      </p:sp>
      <p:graphicFrame>
        <p:nvGraphicFramePr>
          <p:cNvPr id="6" name="Table 5"/>
          <p:cNvGraphicFramePr>
            <a:graphicFrameLocks noGrp="1"/>
          </p:cNvGraphicFramePr>
          <p:nvPr/>
        </p:nvGraphicFramePr>
        <p:xfrm>
          <a:off x="5867400" y="3886200"/>
          <a:ext cx="2971800" cy="2564960"/>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81000">
                <a:tc>
                  <a:txBody>
                    <a:bodyPr/>
                    <a:lstStyle/>
                    <a:p>
                      <a:pPr algn="ctr" fontAlgn="t"/>
                      <a:r>
                        <a:rPr lang="en-US" sz="2400" dirty="0"/>
                        <a:t>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a:t>Q(t)</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dirty="0"/>
                        <a:t>Q(t+1)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12247">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12247">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12247">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12247">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a:t>1</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400" dirty="0"/>
                        <a:t>0</a:t>
                      </a:r>
                    </a:p>
                  </a:txBody>
                  <a:tcPr marL="73616" marR="73616" marT="73616" marB="73616">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51" name="Rectangle 3"/>
          <p:cNvSpPr>
            <a:spLocks noChangeArrowheads="1"/>
          </p:cNvSpPr>
          <p:nvPr/>
        </p:nvSpPr>
        <p:spPr bwMode="auto">
          <a:xfrm>
            <a:off x="5867400" y="2837021"/>
            <a:ext cx="9144000" cy="600164"/>
          </a:xfrm>
          <a:prstGeom prst="rect">
            <a:avLst/>
          </a:prstGeom>
          <a:noFill/>
          <a:ln w="9525">
            <a:noFill/>
            <a:miter lim="800000"/>
            <a:headEnd/>
            <a:tailEnd/>
          </a:ln>
          <a:effectLst/>
        </p:spPr>
        <p:txBody>
          <a:bodyPr vert="horz" wrap="square" lIns="91440" tIns="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a:ln>
                  <a:noFill/>
                </a:ln>
                <a:solidFill>
                  <a:srgbClr val="FF0000"/>
                </a:solidFill>
                <a:effectLst/>
                <a:latin typeface="Arial" pitchFamily="34" charset="0"/>
                <a:cs typeface="Arial" pitchFamily="34" charset="0"/>
              </a:rPr>
              <a:t>Truth Table of T flip-flop</a:t>
            </a:r>
            <a:endParaRPr kumimoji="0" lang="en-US" sz="3200" b="0" i="0" u="none" strike="noStrike" cap="none" normalizeH="0" baseline="0" dirty="0">
              <a:ln>
                <a:noFill/>
              </a:ln>
              <a:solidFill>
                <a:srgbClr val="FF0000"/>
              </a:solidFill>
              <a:effectLst/>
              <a:latin typeface="Arial" pitchFamily="34" charset="0"/>
              <a:cs typeface="Arial" pitchFamily="34" charset="0"/>
            </a:endParaRPr>
          </a:p>
        </p:txBody>
      </p:sp>
      <p:sp>
        <p:nvSpPr>
          <p:cNvPr id="8" name="Rectangle 7"/>
          <p:cNvSpPr/>
          <p:nvPr/>
        </p:nvSpPr>
        <p:spPr>
          <a:xfrm>
            <a:off x="1066800" y="6096000"/>
            <a:ext cx="3104376"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Circuit diagram of T flip-flop</a:t>
            </a:r>
            <a:endParaRPr lang="en-US" dirty="0">
              <a:solidFill>
                <a:srgbClr val="FF0000"/>
              </a:solidFill>
              <a:latin typeface="Times New Roman" pitchFamily="18" charset="0"/>
              <a:cs typeface="Times New Roman" pitchFamily="18" charset="0"/>
            </a:endParaRPr>
          </a:p>
        </p:txBody>
      </p:sp>
      <p:pic>
        <p:nvPicPr>
          <p:cNvPr id="2053" name="Picture 5" descr="T Flip Flop | Toggle Flip-Flop, Circuit (NOR, NAND), Working, Applications"/>
          <p:cNvPicPr>
            <a:picLocks noChangeAspect="1" noChangeArrowheads="1"/>
          </p:cNvPicPr>
          <p:nvPr/>
        </p:nvPicPr>
        <p:blipFill>
          <a:blip r:embed="rId2" cstate="print"/>
          <a:srcRect/>
          <a:stretch>
            <a:fillRect/>
          </a:stretch>
        </p:blipFill>
        <p:spPr bwMode="auto">
          <a:xfrm>
            <a:off x="152400" y="2895600"/>
            <a:ext cx="4724400" cy="3133726"/>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9218" name="Picture 2"/>
          <p:cNvPicPr>
            <a:picLocks noChangeAspect="1" noChangeArrowheads="1"/>
          </p:cNvPicPr>
          <p:nvPr/>
        </p:nvPicPr>
        <p:blipFill>
          <a:blip r:embed="rId2" cstate="print"/>
          <a:srcRect t="41558"/>
          <a:stretch>
            <a:fillRect/>
          </a:stretch>
        </p:blipFill>
        <p:spPr bwMode="auto">
          <a:xfrm>
            <a:off x="652463" y="1447800"/>
            <a:ext cx="7839075" cy="418147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838200" y="152400"/>
            <a:ext cx="6681788" cy="3576638"/>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0" y="3810000"/>
            <a:ext cx="6553200" cy="3048000"/>
          </a:xfrm>
          <a:prstGeom prst="rect">
            <a:avLst/>
          </a:prstGeom>
          <a:noFill/>
          <a:ln w="9525">
            <a:noFill/>
            <a:miter lim="800000"/>
            <a:headEnd/>
            <a:tailEnd/>
          </a:ln>
        </p:spPr>
      </p:pic>
      <p:pic>
        <p:nvPicPr>
          <p:cNvPr id="10244" name="Picture 4"/>
          <p:cNvPicPr>
            <a:picLocks noChangeAspect="1" noChangeArrowheads="1"/>
          </p:cNvPicPr>
          <p:nvPr/>
        </p:nvPicPr>
        <p:blipFill>
          <a:blip r:embed="rId4" cstate="print"/>
          <a:srcRect/>
          <a:stretch>
            <a:fillRect/>
          </a:stretch>
        </p:blipFill>
        <p:spPr bwMode="auto">
          <a:xfrm>
            <a:off x="5410201" y="4267200"/>
            <a:ext cx="3733799" cy="23622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1066800" y="1371600"/>
            <a:ext cx="4965193" cy="2586038"/>
          </a:xfrm>
          <a:prstGeom prst="rect">
            <a:avLst/>
          </a:prstGeom>
          <a:noFill/>
          <a:ln w="9525">
            <a:noFill/>
            <a:miter lim="800000"/>
            <a:headEnd/>
            <a:tailEnd/>
          </a:ln>
        </p:spPr>
      </p:pic>
      <p:cxnSp>
        <p:nvCxnSpPr>
          <p:cNvPr id="5" name="Straight Arrow Connector 4"/>
          <p:cNvCxnSpPr/>
          <p:nvPr/>
        </p:nvCxnSpPr>
        <p:spPr>
          <a:xfrm flipV="1">
            <a:off x="2421699" y="1752600"/>
            <a:ext cx="0" cy="2286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3124200" y="1768258"/>
            <a:ext cx="0" cy="2286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962400" y="1742684"/>
            <a:ext cx="0" cy="2286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4648200" y="1742684"/>
            <a:ext cx="0" cy="2286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410200" y="1783394"/>
            <a:ext cx="0" cy="2286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177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p:cNvPicPr>
            <a:picLocks noChangeAspect="1" noChangeArrowheads="1"/>
          </p:cNvPicPr>
          <p:nvPr/>
        </p:nvPicPr>
        <p:blipFill>
          <a:blip r:embed="rId2" cstate="print"/>
          <a:srcRect/>
          <a:stretch>
            <a:fillRect/>
          </a:stretch>
        </p:blipFill>
        <p:spPr bwMode="auto">
          <a:xfrm>
            <a:off x="533400" y="1295400"/>
            <a:ext cx="7772399" cy="3262313"/>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600200"/>
            <a:ext cx="8382000" cy="4525963"/>
          </a:xfrm>
        </p:spPr>
        <p:txBody>
          <a:bodyPr>
            <a:noAutofit/>
          </a:bodyPr>
          <a:lstStyle/>
          <a:p>
            <a:pPr marL="0" indent="0" algn="just" fontAlgn="base">
              <a:buNone/>
            </a:pPr>
            <a:r>
              <a:rPr lang="en-US" sz="2800" b="1" dirty="0">
                <a:latin typeface="Times New Roman" pitchFamily="18" charset="0"/>
                <a:cs typeface="Times New Roman" pitchFamily="18" charset="0"/>
              </a:rPr>
              <a:t>Race Around Condition In JK Flip-flop –</a:t>
            </a:r>
            <a:r>
              <a:rPr lang="en-US" sz="2800" dirty="0">
                <a:latin typeface="Times New Roman" pitchFamily="18" charset="0"/>
                <a:cs typeface="Times New Roman" pitchFamily="18" charset="0"/>
              </a:rPr>
              <a:t> </a:t>
            </a:r>
          </a:p>
          <a:p>
            <a:pPr algn="just" fontAlgn="base"/>
            <a:r>
              <a:rPr lang="en-IN" sz="2800" dirty="0">
                <a:latin typeface="Times New Roman" pitchFamily="18" charset="0"/>
                <a:cs typeface="Times New Roman" pitchFamily="18" charset="0"/>
              </a:rPr>
              <a:t>In level triggered or pulse triggered JK Flip-flop,</a:t>
            </a:r>
            <a:r>
              <a:rPr lang="en-US" sz="2800" b="1" dirty="0">
                <a:solidFill>
                  <a:srgbClr val="FF0000"/>
                </a:solidFill>
                <a:latin typeface="Times New Roman" pitchFamily="18" charset="0"/>
                <a:cs typeface="Times New Roman" pitchFamily="18" charset="0"/>
              </a:rPr>
              <a:t>For J-K flip-flop, if J=K=1, and if </a:t>
            </a:r>
            <a:r>
              <a:rPr lang="en-US" sz="2800" b="1" dirty="0" err="1">
                <a:solidFill>
                  <a:srgbClr val="FF0000"/>
                </a:solidFill>
                <a:latin typeface="Times New Roman" pitchFamily="18" charset="0"/>
                <a:cs typeface="Times New Roman" pitchFamily="18" charset="0"/>
              </a:rPr>
              <a:t>clk</a:t>
            </a:r>
            <a:r>
              <a:rPr lang="en-US" sz="2800" b="1" dirty="0">
                <a:solidFill>
                  <a:srgbClr val="FF0000"/>
                </a:solidFill>
                <a:latin typeface="Times New Roman" pitchFamily="18" charset="0"/>
                <a:cs typeface="Times New Roman" pitchFamily="18" charset="0"/>
              </a:rPr>
              <a:t>=1 for a long period of time, then Q output will toggle as long as CLK is high, which makes the output of the flip-flop unstable or uncertain</a:t>
            </a:r>
            <a:r>
              <a:rPr lang="en-US" sz="2800" dirty="0">
                <a:latin typeface="Times New Roman" pitchFamily="18" charset="0"/>
                <a:cs typeface="Times New Roman" pitchFamily="18" charset="0"/>
              </a:rPr>
              <a:t>. </a:t>
            </a:r>
          </a:p>
          <a:p>
            <a:pPr algn="just" fontAlgn="base"/>
            <a:r>
              <a:rPr lang="en-US" sz="2800" dirty="0">
                <a:latin typeface="Times New Roman" pitchFamily="18" charset="0"/>
                <a:cs typeface="Times New Roman" pitchFamily="18" charset="0"/>
              </a:rPr>
              <a:t>This problem is called race around condition in J-K flip-flop. This problem (Race Around Condition) can be avoided by ensuring that the clock input is at logic “1” only for a very short time. This introduced the concept of </a:t>
            </a:r>
            <a:r>
              <a:rPr lang="en-US" sz="2800" b="1" dirty="0">
                <a:latin typeface="Times New Roman" pitchFamily="18" charset="0"/>
                <a:cs typeface="Times New Roman" pitchFamily="18" charset="0"/>
              </a:rPr>
              <a:t>Master Slave JK</a:t>
            </a:r>
            <a:r>
              <a:rPr lang="en-US" sz="2800" dirty="0">
                <a:latin typeface="Times New Roman" pitchFamily="18" charset="0"/>
                <a:cs typeface="Times New Roman" pitchFamily="18" charset="0"/>
              </a:rPr>
              <a:t> flip flop.</a:t>
            </a:r>
          </a:p>
          <a:p>
            <a:pPr algn="just"/>
            <a:endParaRPr lang="en-US" sz="2800" dirty="0">
              <a:latin typeface="Times New Roman" pitchFamily="18" charset="0"/>
              <a:cs typeface="Times New Roman" pitchFamily="18" charset="0"/>
            </a:endParaRPr>
          </a:p>
        </p:txBody>
      </p:sp>
      <p:sp>
        <p:nvSpPr>
          <p:cNvPr id="4" name="Rectangle 3"/>
          <p:cNvSpPr/>
          <p:nvPr/>
        </p:nvSpPr>
        <p:spPr>
          <a:xfrm>
            <a:off x="304800" y="685800"/>
            <a:ext cx="3922228" cy="523220"/>
          </a:xfrm>
          <a:prstGeom prst="rect">
            <a:avLst/>
          </a:prstGeom>
        </p:spPr>
        <p:txBody>
          <a:bodyPr wrap="none">
            <a:spAutoFit/>
          </a:bodyPr>
          <a:lstStyle/>
          <a:p>
            <a:r>
              <a:rPr lang="en-US" sz="2800" b="1" u="sng" dirty="0">
                <a:latin typeface="Times New Roman" pitchFamily="18" charset="0"/>
                <a:cs typeface="Times New Roman" pitchFamily="18" charset="0"/>
              </a:rPr>
              <a:t>Race Around Condition </a:t>
            </a:r>
            <a:endParaRPr lang="en-IN" sz="2800" u="sng"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raw the circuit diagram of JK FF using NAND gates. Derive its  characteristic equation and excitation tab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609600"/>
            <a:ext cx="7734298" cy="5791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09600" y="1133605"/>
            <a:ext cx="944489" cy="369332"/>
          </a:xfrm>
          <a:prstGeom prst="rect">
            <a:avLst/>
          </a:prstGeom>
          <a:noFill/>
        </p:spPr>
        <p:txBody>
          <a:bodyPr wrap="none" rtlCol="0">
            <a:spAutoFit/>
          </a:bodyPr>
          <a:lstStyle/>
          <a:p>
            <a:r>
              <a:rPr lang="en-IN" dirty="0"/>
              <a:t>or clock</a:t>
            </a:r>
          </a:p>
        </p:txBody>
      </p:sp>
      <p:cxnSp>
        <p:nvCxnSpPr>
          <p:cNvPr id="6" name="Straight Arrow Connector 5"/>
          <p:cNvCxnSpPr/>
          <p:nvPr/>
        </p:nvCxnSpPr>
        <p:spPr>
          <a:xfrm>
            <a:off x="4343400" y="1133605"/>
            <a:ext cx="914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124200" y="1133605"/>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953541" y="948939"/>
            <a:ext cx="341760" cy="369332"/>
          </a:xfrm>
          <a:prstGeom prst="rect">
            <a:avLst/>
          </a:prstGeom>
          <a:noFill/>
        </p:spPr>
        <p:txBody>
          <a:bodyPr wrap="none" rtlCol="0">
            <a:spAutoFit/>
          </a:bodyPr>
          <a:lstStyle/>
          <a:p>
            <a:r>
              <a:rPr lang="en-IN" dirty="0"/>
              <a:t>t</a:t>
            </a:r>
            <a:r>
              <a:rPr lang="en-IN" baseline="-25000" dirty="0"/>
              <a:t>p</a:t>
            </a:r>
          </a:p>
        </p:txBody>
      </p:sp>
      <p:sp>
        <p:nvSpPr>
          <p:cNvPr id="11" name="Isosceles Triangle 10"/>
          <p:cNvSpPr/>
          <p:nvPr/>
        </p:nvSpPr>
        <p:spPr>
          <a:xfrm>
            <a:off x="6676358" y="3352800"/>
            <a:ext cx="76200" cy="762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6714458" y="3168134"/>
            <a:ext cx="261610" cy="369332"/>
          </a:xfrm>
          <a:prstGeom prst="rect">
            <a:avLst/>
          </a:prstGeom>
          <a:noFill/>
        </p:spPr>
        <p:txBody>
          <a:bodyPr wrap="none" rtlCol="0">
            <a:spAutoFit/>
          </a:bodyPr>
          <a:lstStyle/>
          <a:p>
            <a:r>
              <a:rPr lang="en-IN" dirty="0"/>
              <a:t>t</a:t>
            </a:r>
          </a:p>
        </p:txBody>
      </p:sp>
      <p:sp>
        <p:nvSpPr>
          <p:cNvPr id="14" name="Left Brace 13"/>
          <p:cNvSpPr/>
          <p:nvPr/>
        </p:nvSpPr>
        <p:spPr>
          <a:xfrm>
            <a:off x="6584920" y="3260467"/>
            <a:ext cx="45719" cy="26086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Right Brace 14"/>
          <p:cNvSpPr/>
          <p:nvPr/>
        </p:nvSpPr>
        <p:spPr>
          <a:xfrm>
            <a:off x="6845263" y="3244334"/>
            <a:ext cx="130805" cy="26086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306612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133600"/>
            <a:ext cx="8610600" cy="4525963"/>
          </a:xfrm>
        </p:spPr>
        <p:txBody>
          <a:bodyPr>
            <a:normAutofit/>
          </a:bodyPr>
          <a:lstStyle/>
          <a:p>
            <a:r>
              <a:rPr lang="en-IN" sz="2800" dirty="0">
                <a:latin typeface="Times New Roman" pitchFamily="18" charset="0"/>
                <a:cs typeface="Times New Roman" pitchFamily="18" charset="0"/>
              </a:rPr>
              <a:t>This problem was present in the level triggered or pulse triggered JK Flip-flop.</a:t>
            </a:r>
          </a:p>
          <a:p>
            <a:r>
              <a:rPr lang="en-IN" sz="2800" dirty="0">
                <a:latin typeface="Times New Roman" pitchFamily="18" charset="0"/>
                <a:cs typeface="Times New Roman" pitchFamily="18" charset="0"/>
              </a:rPr>
              <a:t>There are three ways using which we can eliminate the race around condition in </a:t>
            </a:r>
            <a:r>
              <a:rPr lang="en-IN" sz="2800" b="1" dirty="0">
                <a:latin typeface="Times New Roman" pitchFamily="18" charset="0"/>
                <a:cs typeface="Times New Roman" pitchFamily="18" charset="0"/>
              </a:rPr>
              <a:t>JK</a:t>
            </a:r>
            <a:r>
              <a:rPr lang="en-IN" sz="2800" dirty="0">
                <a:latin typeface="Times New Roman" pitchFamily="18" charset="0"/>
                <a:cs typeface="Times New Roman" pitchFamily="18" charset="0"/>
              </a:rPr>
              <a:t> flip flop, which are discussed below:</a:t>
            </a:r>
          </a:p>
          <a:p>
            <a:pPr>
              <a:buFont typeface="Wingdings" pitchFamily="2" charset="2"/>
              <a:buChar char="Ø"/>
            </a:pPr>
            <a:r>
              <a:rPr lang="en-IN" sz="2800" b="1" dirty="0">
                <a:solidFill>
                  <a:srgbClr val="FF0000"/>
                </a:solidFill>
                <a:latin typeface="Times New Roman" pitchFamily="18" charset="0"/>
                <a:cs typeface="Times New Roman" pitchFamily="18" charset="0"/>
              </a:rPr>
              <a:t>Race around condition exists when t</a:t>
            </a:r>
            <a:r>
              <a:rPr lang="en-IN" sz="2800" b="1" baseline="-25000" dirty="0">
                <a:solidFill>
                  <a:srgbClr val="FF0000"/>
                </a:solidFill>
                <a:latin typeface="Times New Roman" pitchFamily="18" charset="0"/>
                <a:cs typeface="Times New Roman" pitchFamily="18" charset="0"/>
              </a:rPr>
              <a:t>p</a:t>
            </a:r>
            <a:r>
              <a:rPr lang="en-IN" sz="2800" b="1" dirty="0">
                <a:solidFill>
                  <a:srgbClr val="FF0000"/>
                </a:solidFill>
                <a:latin typeface="Times New Roman" pitchFamily="18" charset="0"/>
                <a:cs typeface="Times New Roman" pitchFamily="18" charset="0"/>
              </a:rPr>
              <a:t> ≥ Δt. Thus, by keeping t</a:t>
            </a:r>
            <a:r>
              <a:rPr lang="en-IN" sz="2800" b="1" baseline="-25000" dirty="0">
                <a:solidFill>
                  <a:srgbClr val="FF0000"/>
                </a:solidFill>
                <a:latin typeface="Times New Roman" pitchFamily="18" charset="0"/>
                <a:cs typeface="Times New Roman" pitchFamily="18" charset="0"/>
              </a:rPr>
              <a:t>p</a:t>
            </a:r>
            <a:r>
              <a:rPr lang="en-IN" sz="2800" b="1" dirty="0">
                <a:solidFill>
                  <a:srgbClr val="FF0000"/>
                </a:solidFill>
                <a:latin typeface="Times New Roman" pitchFamily="18" charset="0"/>
                <a:cs typeface="Times New Roman" pitchFamily="18" charset="0"/>
              </a:rPr>
              <a:t> &lt; Δt, we can avoid race around condition. </a:t>
            </a:r>
          </a:p>
          <a:p>
            <a:pPr>
              <a:buFont typeface="Wingdings" pitchFamily="2" charset="2"/>
              <a:buChar char="Ø"/>
            </a:pPr>
            <a:r>
              <a:rPr lang="en-IN" sz="2800" b="1" dirty="0">
                <a:solidFill>
                  <a:srgbClr val="FF0000"/>
                </a:solidFill>
                <a:latin typeface="Times New Roman" pitchFamily="18" charset="0"/>
                <a:cs typeface="Times New Roman" pitchFamily="18" charset="0"/>
              </a:rPr>
              <a:t>Use of edge triggering in flip flops.</a:t>
            </a:r>
          </a:p>
          <a:p>
            <a:pPr>
              <a:buFont typeface="Wingdings" pitchFamily="2" charset="2"/>
              <a:buChar char="Ø"/>
            </a:pPr>
            <a:r>
              <a:rPr lang="en-IN" sz="2800" b="1" dirty="0">
                <a:solidFill>
                  <a:srgbClr val="FF0000"/>
                </a:solidFill>
                <a:latin typeface="Times New Roman" pitchFamily="18" charset="0"/>
                <a:cs typeface="Times New Roman" pitchFamily="18" charset="0"/>
              </a:rPr>
              <a:t>By using a master-slave flip-flop.</a:t>
            </a:r>
          </a:p>
          <a:p>
            <a:endParaRPr lang="en-IN" sz="28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218" y="152398"/>
            <a:ext cx="7843381" cy="198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20476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609600"/>
            <a:ext cx="8382000" cy="5262979"/>
          </a:xfrm>
          <a:prstGeom prst="rect">
            <a:avLst/>
          </a:prstGeom>
        </p:spPr>
        <p:txBody>
          <a:bodyPr wrap="square">
            <a:spAutoFit/>
          </a:bodyPr>
          <a:lstStyle/>
          <a:p>
            <a:pPr algn="just" fontAlgn="base"/>
            <a:r>
              <a:rPr lang="en-US" sz="2800" b="1" dirty="0">
                <a:latin typeface="Times New Roman" pitchFamily="18" charset="0"/>
                <a:cs typeface="Times New Roman" pitchFamily="18" charset="0"/>
              </a:rPr>
              <a:t>Master Slave JK flip flop –</a:t>
            </a:r>
          </a:p>
          <a:p>
            <a:pPr algn="just" fontAlgn="base"/>
            <a:endParaRPr lang="en-US" sz="2800" dirty="0">
              <a:latin typeface="Times New Roman" pitchFamily="18" charset="0"/>
              <a:cs typeface="Times New Roman" pitchFamily="18" charset="0"/>
            </a:endParaRPr>
          </a:p>
          <a:p>
            <a:pPr marL="457200" indent="-457200" algn="just" fontAlgn="base">
              <a:buFont typeface="Wingdings" pitchFamily="2" charset="2"/>
              <a:buChar char="Ø"/>
            </a:pPr>
            <a:r>
              <a:rPr lang="en-US" sz="2800" dirty="0">
                <a:latin typeface="Times New Roman" pitchFamily="18" charset="0"/>
                <a:cs typeface="Times New Roman" pitchFamily="18" charset="0"/>
              </a:rPr>
              <a:t>The Master-Slave Flip-Flop is basically a combination of two JK flip-flops connected together in a series configuration.</a:t>
            </a:r>
          </a:p>
          <a:p>
            <a:pPr marL="457200" indent="-457200" algn="just" fontAlgn="base">
              <a:buFont typeface="Wingdings" pitchFamily="2" charset="2"/>
              <a:buChar char="Ø"/>
            </a:pPr>
            <a:r>
              <a:rPr lang="en-US" sz="2800" dirty="0">
                <a:latin typeface="Times New Roman" pitchFamily="18" charset="0"/>
                <a:cs typeface="Times New Roman" pitchFamily="18" charset="0"/>
              </a:rPr>
              <a:t> Out of these, one acts as the </a:t>
            </a:r>
            <a:r>
              <a:rPr lang="en-US" sz="2800" b="1" dirty="0">
                <a:latin typeface="Times New Roman" pitchFamily="18" charset="0"/>
                <a:cs typeface="Times New Roman" pitchFamily="18" charset="0"/>
              </a:rPr>
              <a:t>“master”</a:t>
            </a:r>
            <a:r>
              <a:rPr lang="en-US" sz="2800" dirty="0">
                <a:latin typeface="Times New Roman" pitchFamily="18" charset="0"/>
                <a:cs typeface="Times New Roman" pitchFamily="18" charset="0"/>
              </a:rPr>
              <a:t> and the other as a </a:t>
            </a:r>
            <a:r>
              <a:rPr lang="en-US" sz="2800" b="1" dirty="0">
                <a:latin typeface="Times New Roman" pitchFamily="18" charset="0"/>
                <a:cs typeface="Times New Roman" pitchFamily="18" charset="0"/>
              </a:rPr>
              <a:t>“slave”</a:t>
            </a:r>
            <a:r>
              <a:rPr lang="en-US" sz="2800" dirty="0">
                <a:latin typeface="Times New Roman" pitchFamily="18" charset="0"/>
                <a:cs typeface="Times New Roman" pitchFamily="18" charset="0"/>
              </a:rPr>
              <a:t>. The output from the master flip flop is connected to the two inputs of the slave flip flop whose output is fed back to inputs of the master flip flop.</a:t>
            </a:r>
          </a:p>
          <a:p>
            <a:pPr marL="457200" indent="-457200" algn="just" fontAlgn="base">
              <a:buFont typeface="Wingdings" pitchFamily="2" charset="2"/>
              <a:buChar char="Ø"/>
            </a:pPr>
            <a:r>
              <a:rPr lang="en-US" sz="2800" dirty="0">
                <a:latin typeface="Times New Roman" pitchFamily="18" charset="0"/>
                <a:cs typeface="Times New Roman" pitchFamily="18" charset="0"/>
              </a:rPr>
              <a:t>In addition to these two flip-flops, the circuit also includes an </a:t>
            </a:r>
            <a:r>
              <a:rPr lang="en-US" sz="2800" b="1" dirty="0">
                <a:latin typeface="Times New Roman" pitchFamily="18" charset="0"/>
                <a:cs typeface="Times New Roman" pitchFamily="18" charset="0"/>
              </a:rPr>
              <a:t>inverter</a:t>
            </a:r>
            <a:r>
              <a:rPr lang="en-US" sz="2800" dirty="0">
                <a:latin typeface="Times New Roman" pitchFamily="18" charset="0"/>
                <a:cs typeface="Times New Roman" pitchFamily="18" charset="0"/>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2" cstate="print"/>
          <a:srcRect/>
          <a:stretch>
            <a:fillRect/>
          </a:stretch>
        </p:blipFill>
        <p:spPr bwMode="auto">
          <a:xfrm>
            <a:off x="609600" y="1874460"/>
            <a:ext cx="7315200" cy="4214030"/>
          </a:xfrm>
          <a:prstGeom prst="rect">
            <a:avLst/>
          </a:prstGeom>
          <a:noFill/>
          <a:ln w="9525">
            <a:noFill/>
            <a:miter lim="800000"/>
            <a:headEnd/>
            <a:tailEnd/>
          </a:ln>
        </p:spPr>
      </p:pic>
      <p:sp>
        <p:nvSpPr>
          <p:cNvPr id="4" name="Rectangle 3"/>
          <p:cNvSpPr/>
          <p:nvPr/>
        </p:nvSpPr>
        <p:spPr>
          <a:xfrm>
            <a:off x="304800" y="304800"/>
            <a:ext cx="8534400" cy="1569660"/>
          </a:xfrm>
          <a:prstGeom prst="rect">
            <a:avLst/>
          </a:prstGeom>
        </p:spPr>
        <p:txBody>
          <a:bodyPr wrap="square">
            <a:spAutoFit/>
          </a:bodyPr>
          <a:lstStyle/>
          <a:p>
            <a:pPr algn="just"/>
            <a:r>
              <a:rPr lang="en-US" sz="2400" dirty="0">
                <a:latin typeface="Times New Roman" pitchFamily="18" charset="0"/>
                <a:cs typeface="Times New Roman" pitchFamily="18" charset="0"/>
              </a:rPr>
              <a:t>The inverter is connected to clock pulse in such a way that the inverted clock pulse is given to the slave flip-flop. In other words if </a:t>
            </a:r>
            <a:r>
              <a:rPr lang="en-US" sz="2400" dirty="0" err="1">
                <a:latin typeface="Times New Roman" pitchFamily="18" charset="0"/>
                <a:cs typeface="Times New Roman" pitchFamily="18" charset="0"/>
              </a:rPr>
              <a:t>Clk</a:t>
            </a:r>
            <a:r>
              <a:rPr lang="en-US" sz="2400" dirty="0">
                <a:latin typeface="Times New Roman" pitchFamily="18" charset="0"/>
                <a:cs typeface="Times New Roman" pitchFamily="18" charset="0"/>
              </a:rPr>
              <a:t>=0 for a master flip-flop, then </a:t>
            </a:r>
            <a:r>
              <a:rPr lang="en-US" sz="2400" dirty="0" err="1">
                <a:latin typeface="Times New Roman" pitchFamily="18" charset="0"/>
                <a:cs typeface="Times New Roman" pitchFamily="18" charset="0"/>
              </a:rPr>
              <a:t>Clk</a:t>
            </a:r>
            <a:r>
              <a:rPr lang="en-US" sz="2400" dirty="0">
                <a:latin typeface="Times New Roman" pitchFamily="18" charset="0"/>
                <a:cs typeface="Times New Roman" pitchFamily="18" charset="0"/>
              </a:rPr>
              <a:t>=1 for a slave flip-flop and if </a:t>
            </a:r>
            <a:r>
              <a:rPr lang="en-US" sz="2400" dirty="0" err="1">
                <a:latin typeface="Times New Roman" pitchFamily="18" charset="0"/>
                <a:cs typeface="Times New Roman" pitchFamily="18" charset="0"/>
              </a:rPr>
              <a:t>Clk</a:t>
            </a:r>
            <a:r>
              <a:rPr lang="en-US" sz="2400" dirty="0">
                <a:latin typeface="Times New Roman" pitchFamily="18" charset="0"/>
                <a:cs typeface="Times New Roman" pitchFamily="18" charset="0"/>
              </a:rPr>
              <a:t>=1 for master flip flop then it becomes 0 for slave flip flop.</a:t>
            </a:r>
            <a:endParaRPr lang="en-IN" sz="2400" dirty="0"/>
          </a:p>
        </p:txBody>
      </p:sp>
      <p:cxnSp>
        <p:nvCxnSpPr>
          <p:cNvPr id="6" name="Straight Connector 5"/>
          <p:cNvCxnSpPr/>
          <p:nvPr/>
        </p:nvCxnSpPr>
        <p:spPr>
          <a:xfrm flipH="1">
            <a:off x="1096549" y="5334000"/>
            <a:ext cx="381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63149" y="4724400"/>
            <a:ext cx="914400" cy="914400"/>
          </a:xfrm>
          <a:prstGeom prst="rect">
            <a:avLst/>
          </a:prstGeom>
          <a:solidFill>
            <a:schemeClr val="bg1">
              <a:alpha val="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CLK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AutoShape 2" descr="JK Flip Flop and the Master-Slave JK Flip Flop Tutorial"/>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1444" name="Picture 4" descr="JK Flip Flop and the Master-Slave JK Flip Flop Tutorial"/>
          <p:cNvPicPr>
            <a:picLocks noChangeAspect="1" noChangeArrowheads="1"/>
          </p:cNvPicPr>
          <p:nvPr/>
        </p:nvPicPr>
        <p:blipFill>
          <a:blip r:embed="rId2" cstate="print"/>
          <a:srcRect/>
          <a:stretch>
            <a:fillRect/>
          </a:stretch>
        </p:blipFill>
        <p:spPr bwMode="auto">
          <a:xfrm>
            <a:off x="533400" y="1447800"/>
            <a:ext cx="7848600" cy="3790950"/>
          </a:xfrm>
          <a:prstGeom prst="rect">
            <a:avLst/>
          </a:prstGeom>
          <a:noFill/>
        </p:spPr>
      </p:pic>
      <p:sp>
        <p:nvSpPr>
          <p:cNvPr id="2" name="TextBox 1"/>
          <p:cNvSpPr txBox="1"/>
          <p:nvPr/>
        </p:nvSpPr>
        <p:spPr>
          <a:xfrm>
            <a:off x="460375" y="381000"/>
            <a:ext cx="5150000" cy="461665"/>
          </a:xfrm>
          <a:prstGeom prst="rect">
            <a:avLst/>
          </a:prstGeom>
          <a:noFill/>
        </p:spPr>
        <p:txBody>
          <a:bodyPr wrap="none" rtlCol="0">
            <a:spAutoFit/>
          </a:bodyPr>
          <a:lstStyle/>
          <a:p>
            <a:r>
              <a:rPr lang="en-IN" sz="2400" b="1" dirty="0">
                <a:latin typeface="Times New Roman" pitchFamily="18" charset="0"/>
                <a:cs typeface="Times New Roman" pitchFamily="18" charset="0"/>
              </a:rPr>
              <a:t>Logic diagram of Master Slave JK FF</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lum contrast="50000"/>
            <a:extLst>
              <a:ext uri="{28A0092B-C50C-407E-A947-70E740481C1C}">
                <a14:useLocalDpi xmlns:a14="http://schemas.microsoft.com/office/drawing/2010/main" val="0"/>
              </a:ext>
            </a:extLst>
          </a:blip>
          <a:srcRect/>
          <a:stretch>
            <a:fillRect/>
          </a:stretch>
        </p:blipFill>
        <p:spPr bwMode="auto">
          <a:xfrm>
            <a:off x="457198" y="228600"/>
            <a:ext cx="8233083"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3568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81000"/>
            <a:ext cx="8610600" cy="5847755"/>
          </a:xfrm>
          <a:prstGeom prst="rect">
            <a:avLst/>
          </a:prstGeom>
        </p:spPr>
        <p:txBody>
          <a:bodyPr wrap="square">
            <a:spAutoFit/>
          </a:bodyPr>
          <a:lstStyle/>
          <a:p>
            <a:pPr algn="just" fontAlgn="base"/>
            <a:r>
              <a:rPr lang="en-US" sz="2200" b="1" dirty="0">
                <a:latin typeface="Times New Roman" pitchFamily="18" charset="0"/>
                <a:cs typeface="Times New Roman" pitchFamily="18" charset="0"/>
              </a:rPr>
              <a:t>Working of a master slave flip flop –</a:t>
            </a:r>
            <a:endParaRPr lang="en-US" sz="2200" dirty="0">
              <a:latin typeface="Times New Roman" pitchFamily="18" charset="0"/>
              <a:cs typeface="Times New Roman" pitchFamily="18" charset="0"/>
            </a:endParaRPr>
          </a:p>
          <a:p>
            <a:pPr algn="just" fontAlgn="base">
              <a:buFont typeface="Arial" pitchFamily="34" charset="0"/>
              <a:buChar char="•"/>
            </a:pPr>
            <a:r>
              <a:rPr lang="en-US" sz="2200" dirty="0">
                <a:latin typeface="Times New Roman" pitchFamily="18" charset="0"/>
                <a:cs typeface="Times New Roman" pitchFamily="18" charset="0"/>
              </a:rPr>
              <a:t>When the clock pulse goes to 1, the slave is isolated; J and K inputs may affect the state of the system. The slave flip-flop is isolated until the </a:t>
            </a:r>
            <a:r>
              <a:rPr lang="en-US" sz="2200" dirty="0" err="1">
                <a:latin typeface="Times New Roman" pitchFamily="18" charset="0"/>
                <a:cs typeface="Times New Roman" pitchFamily="18" charset="0"/>
              </a:rPr>
              <a:t>Clk</a:t>
            </a:r>
            <a:r>
              <a:rPr lang="en-US" sz="2200" dirty="0">
                <a:latin typeface="Times New Roman" pitchFamily="18" charset="0"/>
                <a:cs typeface="Times New Roman" pitchFamily="18" charset="0"/>
              </a:rPr>
              <a:t> goes to 0. </a:t>
            </a:r>
          </a:p>
          <a:p>
            <a:pPr algn="just" fontAlgn="base">
              <a:buFont typeface="Arial" pitchFamily="34" charset="0"/>
              <a:buChar char="•"/>
            </a:pPr>
            <a:r>
              <a:rPr lang="en-US" sz="2200" dirty="0">
                <a:latin typeface="Times New Roman" pitchFamily="18" charset="0"/>
                <a:cs typeface="Times New Roman" pitchFamily="18" charset="0"/>
              </a:rPr>
              <a:t>When the </a:t>
            </a:r>
            <a:r>
              <a:rPr lang="en-US" sz="2200" dirty="0" err="1">
                <a:latin typeface="Times New Roman" pitchFamily="18" charset="0"/>
                <a:cs typeface="Times New Roman" pitchFamily="18" charset="0"/>
              </a:rPr>
              <a:t>Clk</a:t>
            </a:r>
            <a:r>
              <a:rPr lang="en-US" sz="2200" dirty="0">
                <a:latin typeface="Times New Roman" pitchFamily="18" charset="0"/>
                <a:cs typeface="Times New Roman" pitchFamily="18" charset="0"/>
              </a:rPr>
              <a:t> goes back to 0, information is passed from the master flip-flop to the slave and output is obtained.</a:t>
            </a:r>
          </a:p>
          <a:p>
            <a:pPr algn="just" fontAlgn="base"/>
            <a:r>
              <a:rPr lang="en-US" sz="2200" dirty="0">
                <a:solidFill>
                  <a:srgbClr val="FF0000"/>
                </a:solidFill>
                <a:latin typeface="Times New Roman" pitchFamily="18" charset="0"/>
                <a:cs typeface="Times New Roman" pitchFamily="18" charset="0"/>
              </a:rPr>
              <a:t>Firstly the master flip flop is positive level triggered and the slave flip flop is negative level triggered, so the master responds before the slave.</a:t>
            </a:r>
          </a:p>
          <a:p>
            <a:pPr algn="just" fontAlgn="base">
              <a:buFont typeface="Arial" pitchFamily="34" charset="0"/>
              <a:buChar char="•"/>
            </a:pPr>
            <a:r>
              <a:rPr lang="en-US" sz="2200" dirty="0">
                <a:latin typeface="Times New Roman" pitchFamily="18" charset="0"/>
                <a:cs typeface="Times New Roman" pitchFamily="18" charset="0"/>
              </a:rPr>
              <a:t> If J=0 and K=1;Q=0 and Q’ =1; Q and Q’ output of the master goes to the J and K inputs of the slave and the clock forces the slave to reset, thus the slave copies the master.</a:t>
            </a:r>
          </a:p>
          <a:p>
            <a:pPr algn="just" fontAlgn="base">
              <a:buFont typeface="Arial" pitchFamily="34" charset="0"/>
              <a:buChar char="•"/>
            </a:pPr>
            <a:r>
              <a:rPr lang="en-US" sz="2200" dirty="0">
                <a:latin typeface="Times New Roman" pitchFamily="18" charset="0"/>
                <a:cs typeface="Times New Roman" pitchFamily="18" charset="0"/>
              </a:rPr>
              <a:t> If J=1 and K=0; Q=1 and Q’ =0; Q and Q’ output of the master goes to the J K inputs of the slave at the Negative transition of the clock , again  the slave copies the master.</a:t>
            </a:r>
          </a:p>
          <a:p>
            <a:pPr algn="just" fontAlgn="base">
              <a:buFont typeface="Arial" pitchFamily="34" charset="0"/>
              <a:buChar char="•"/>
            </a:pPr>
            <a:r>
              <a:rPr lang="en-US" sz="2200" dirty="0">
                <a:latin typeface="Times New Roman" pitchFamily="18" charset="0"/>
                <a:cs typeface="Times New Roman" pitchFamily="18" charset="0"/>
              </a:rPr>
              <a:t> If J=1 and K=1, it toggles on the positive transition of the clock and thus the slave toggles on the negative transition of the clock.</a:t>
            </a:r>
          </a:p>
          <a:p>
            <a:pPr algn="just" fontAlgn="base">
              <a:buFont typeface="Arial" pitchFamily="34" charset="0"/>
              <a:buChar char="•"/>
            </a:pPr>
            <a:r>
              <a:rPr lang="en-US" sz="2200" dirty="0">
                <a:latin typeface="Times New Roman" pitchFamily="18" charset="0"/>
                <a:cs typeface="Times New Roman" pitchFamily="18" charset="0"/>
              </a:rPr>
              <a:t> If J=0 and K=0, the flip flop is disabled and Q remains unchanged.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a:latin typeface="Times New Roman" pitchFamily="18" charset="0"/>
                <a:cs typeface="Times New Roman" pitchFamily="18" charset="0"/>
              </a:rPr>
              <a:t>Asynchronous Inputs</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990600"/>
            <a:ext cx="8826124"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581" y="765131"/>
            <a:ext cx="8844419" cy="528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790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241" y="838200"/>
            <a:ext cx="8915400" cy="398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35245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051" r="7425"/>
          <a:stretch/>
        </p:blipFill>
        <p:spPr bwMode="auto">
          <a:xfrm rot="21084666">
            <a:off x="884058" y="1058671"/>
            <a:ext cx="6302517" cy="3843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0227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2050" name="AutoShape 2" descr="blob:https://web.whatsapp.com/ab974a24-7b74-4222-bfa6-a2eac47bb5f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354971">
            <a:off x="256504" y="144137"/>
            <a:ext cx="7242207" cy="388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3886200"/>
            <a:ext cx="3505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8247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381000" y="1600200"/>
            <a:ext cx="8229600" cy="4525963"/>
          </a:xfrm>
        </p:spPr>
        <p:txBody>
          <a:bodyPr/>
          <a:lstStyle/>
          <a:p>
            <a:endParaRPr lang="en-IN" dirty="0"/>
          </a:p>
        </p:txBody>
      </p:sp>
      <p:pic>
        <p:nvPicPr>
          <p:cNvPr id="4" name="Picture 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rightnessContrast bright="40000" contrast="-40000"/>
                    </a14:imgEffect>
                  </a14:imgLayer>
                </a14:imgProps>
              </a:ext>
            </a:extLst>
          </a:blip>
          <a:srcRect l="3633" r="6973"/>
          <a:stretch/>
        </p:blipFill>
        <p:spPr bwMode="auto">
          <a:xfrm>
            <a:off x="13570" y="473903"/>
            <a:ext cx="6477000" cy="5791200"/>
          </a:xfrm>
          <a:prstGeom prst="rect">
            <a:avLst/>
          </a:prstGeom>
          <a:noFill/>
          <a:ln w="9525">
            <a:noFill/>
            <a:miter lim="800000"/>
            <a:headEnd/>
            <a:tailEnd/>
          </a:ln>
        </p:spPr>
      </p:pic>
      <p:pic>
        <p:nvPicPr>
          <p:cNvPr id="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14370" y="1600200"/>
            <a:ext cx="257723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13271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143001"/>
            <a:ext cx="8610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8055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8217" y="316468"/>
            <a:ext cx="1803699" cy="584775"/>
          </a:xfrm>
          <a:prstGeom prst="rect">
            <a:avLst/>
          </a:prstGeom>
          <a:noFill/>
        </p:spPr>
        <p:txBody>
          <a:bodyPr wrap="none" rtlCol="0">
            <a:spAutoFit/>
          </a:bodyPr>
          <a:lstStyle/>
          <a:p>
            <a:r>
              <a:rPr lang="en-IN" sz="3200" b="1" u="sng" dirty="0">
                <a:latin typeface="Times New Roman" pitchFamily="18" charset="0"/>
                <a:cs typeface="Times New Roman" pitchFamily="18" charset="0"/>
              </a:rPr>
              <a:t>Counters</a:t>
            </a: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449" y="1143000"/>
            <a:ext cx="8466551"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72748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786"/>
          <a:stretch/>
        </p:blipFill>
        <p:spPr bwMode="auto">
          <a:xfrm>
            <a:off x="152400" y="475988"/>
            <a:ext cx="8839200" cy="531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3375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304800"/>
            <a:ext cx="745151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289" y="1557338"/>
            <a:ext cx="8799311" cy="476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71389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625258"/>
            <a:ext cx="8458200" cy="3870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31326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907" y="381000"/>
            <a:ext cx="8310057"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79193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599" y="228600"/>
            <a:ext cx="8651631"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31185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28600" y="304800"/>
            <a:ext cx="8686800" cy="6324600"/>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990600"/>
            <a:ext cx="86868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09600" y="609600"/>
            <a:ext cx="4559261" cy="369332"/>
          </a:xfrm>
          <a:prstGeom prst="rect">
            <a:avLst/>
          </a:prstGeom>
          <a:noFill/>
        </p:spPr>
        <p:txBody>
          <a:bodyPr wrap="none" rtlCol="0">
            <a:spAutoFit/>
          </a:bodyPr>
          <a:lstStyle/>
          <a:p>
            <a:r>
              <a:rPr lang="en-US" dirty="0"/>
              <a:t>2 bit negative edge triggered up-down counter</a:t>
            </a:r>
          </a:p>
        </p:txBody>
      </p:sp>
    </p:spTree>
    <p:extLst>
      <p:ext uri="{BB962C8B-B14F-4D97-AF65-F5344CB8AC3E}">
        <p14:creationId xmlns:p14="http://schemas.microsoft.com/office/powerpoint/2010/main" val="36385399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solidFill>
                  <a:srgbClr val="FF0000"/>
                </a:solidFill>
              </a:rPr>
              <a:t>We have discussed 3 bit up-down counter in class…for n bit counter-you have to use n FFs.</a:t>
            </a:r>
          </a:p>
          <a:p>
            <a:r>
              <a:rPr lang="en-US" dirty="0">
                <a:solidFill>
                  <a:srgbClr val="FF0000"/>
                </a:solidFill>
              </a:rPr>
              <a:t>I have shared the materials of 3 bit up-down counter in </a:t>
            </a:r>
            <a:r>
              <a:rPr lang="en-US" dirty="0" err="1">
                <a:solidFill>
                  <a:srgbClr val="FF0000"/>
                </a:solidFill>
              </a:rPr>
              <a:t>whatsapp</a:t>
            </a:r>
            <a:r>
              <a:rPr lang="en-US" dirty="0">
                <a:solidFill>
                  <a:srgbClr val="FF0000"/>
                </a:solidFill>
              </a:rPr>
              <a:t>.</a:t>
            </a:r>
          </a:p>
          <a:p>
            <a:r>
              <a:rPr lang="en-US" dirty="0">
                <a:solidFill>
                  <a:srgbClr val="FF0000"/>
                </a:solidFill>
              </a:rPr>
              <a:t>Study asynchronous counter using negative edge triggered thoroughly , after that study the changes that have to be made for counters using positive edge triggered FF.</a:t>
            </a:r>
          </a:p>
          <a:p>
            <a:endParaRPr lang="en-US"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52400"/>
            <a:ext cx="89154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a:xfrm>
            <a:off x="4419600" y="762000"/>
            <a:ext cx="35052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7148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700" y="228600"/>
            <a:ext cx="90043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327753"/>
            <a:ext cx="83583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953000" y="609600"/>
            <a:ext cx="35052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706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81000"/>
            <a:ext cx="877057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5257800" y="1066800"/>
            <a:ext cx="35052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5921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4525963"/>
          </a:xfrm>
        </p:spPr>
        <p:txBody>
          <a:bodyPr>
            <a:normAutofit/>
          </a:bodyPr>
          <a:lstStyle/>
          <a:p>
            <a:r>
              <a:rPr lang="en-IN" sz="2800" dirty="0">
                <a:latin typeface="Times New Roman" pitchFamily="18" charset="0"/>
                <a:cs typeface="Times New Roman" pitchFamily="18" charset="0"/>
              </a:rPr>
              <a:t>The </a:t>
            </a:r>
            <a:r>
              <a:rPr lang="en-IN" sz="2800" b="1" dirty="0">
                <a:solidFill>
                  <a:srgbClr val="FF0000"/>
                </a:solidFill>
                <a:latin typeface="Times New Roman" pitchFamily="18" charset="0"/>
                <a:cs typeface="Times New Roman" pitchFamily="18" charset="0"/>
              </a:rPr>
              <a:t>modulus of a counter </a:t>
            </a:r>
            <a:r>
              <a:rPr lang="en-IN" sz="2800" dirty="0">
                <a:latin typeface="Times New Roman" pitchFamily="18" charset="0"/>
                <a:cs typeface="Times New Roman" pitchFamily="18" charset="0"/>
              </a:rPr>
              <a:t>is </a:t>
            </a:r>
            <a:r>
              <a:rPr lang="en-IN" sz="2800" b="1" dirty="0">
                <a:latin typeface="Times New Roman" pitchFamily="18" charset="0"/>
                <a:cs typeface="Times New Roman" pitchFamily="18" charset="0"/>
              </a:rPr>
              <a:t>the number of states in its count sequence</a:t>
            </a:r>
            <a:r>
              <a:rPr lang="en-IN" sz="2800" dirty="0">
                <a:latin typeface="Times New Roman" pitchFamily="18" charset="0"/>
                <a:cs typeface="Times New Roman" pitchFamily="18" charset="0"/>
              </a:rPr>
              <a:t>. The maximum possible modulus is determined by the number of flip-flops. </a:t>
            </a:r>
          </a:p>
          <a:p>
            <a:r>
              <a:rPr lang="en-IN" sz="2800" dirty="0">
                <a:latin typeface="Times New Roman" pitchFamily="18" charset="0"/>
                <a:cs typeface="Times New Roman" pitchFamily="18" charset="0"/>
              </a:rPr>
              <a:t>For example, a four-bit counter can have a modulus of up to 16 (2^4).We can call it as MOD-16 counter.</a:t>
            </a:r>
          </a:p>
          <a:p>
            <a:r>
              <a:rPr lang="en-IN" sz="2800" dirty="0" err="1">
                <a:latin typeface="Times New Roman" pitchFamily="18" charset="0"/>
                <a:cs typeface="Times New Roman" pitchFamily="18" charset="0"/>
              </a:rPr>
              <a:t>ie,by</a:t>
            </a:r>
            <a:r>
              <a:rPr lang="en-IN" sz="2800" dirty="0">
                <a:latin typeface="Times New Roman" pitchFamily="18" charset="0"/>
                <a:cs typeface="Times New Roman" pitchFamily="18" charset="0"/>
              </a:rPr>
              <a:t> using n FFs,2</a:t>
            </a:r>
            <a:r>
              <a:rPr lang="en-IN" sz="2800" baseline="30000" dirty="0">
                <a:latin typeface="Times New Roman" pitchFamily="18" charset="0"/>
                <a:cs typeface="Times New Roman" pitchFamily="18" charset="0"/>
              </a:rPr>
              <a:t>n </a:t>
            </a:r>
            <a:r>
              <a:rPr lang="en-IN" sz="2800" dirty="0">
                <a:latin typeface="Times New Roman" pitchFamily="18" charset="0"/>
                <a:cs typeface="Times New Roman" pitchFamily="18" charset="0"/>
              </a:rPr>
              <a:t>states can be counted.</a:t>
            </a:r>
          </a:p>
          <a:p>
            <a:r>
              <a:rPr lang="en-IN" sz="2800" dirty="0">
                <a:latin typeface="Times New Roman" pitchFamily="18" charset="0"/>
                <a:cs typeface="Times New Roman" pitchFamily="18" charset="0"/>
              </a:rPr>
              <a:t>So a 3 flip-flop counter will have a maximum count of 2</a:t>
            </a:r>
            <a:r>
              <a:rPr lang="en-IN" sz="2800" baseline="30000" dirty="0">
                <a:latin typeface="Times New Roman" pitchFamily="18" charset="0"/>
                <a:cs typeface="Times New Roman" pitchFamily="18" charset="0"/>
              </a:rPr>
              <a:t>3</a:t>
            </a:r>
            <a:r>
              <a:rPr lang="en-IN" sz="2800" dirty="0">
                <a:latin typeface="Times New Roman" pitchFamily="18" charset="0"/>
                <a:cs typeface="Times New Roman" pitchFamily="18" charset="0"/>
              </a:rPr>
              <a:t> = 8 counting states and would be called a MOD-8 counter.</a:t>
            </a:r>
            <a:r>
              <a:rPr lang="en-IN" sz="2800" dirty="0"/>
              <a:t> </a:t>
            </a:r>
          </a:p>
          <a:p>
            <a:endParaRPr lang="en-IN" sz="2800" dirty="0">
              <a:latin typeface="Times New Roman" pitchFamily="18" charset="0"/>
              <a:cs typeface="Times New Roman" pitchFamily="18" charset="0"/>
            </a:endParaRPr>
          </a:p>
          <a:p>
            <a:endParaRPr lang="en-IN" sz="2800" dirty="0">
              <a:latin typeface="Times New Roman" pitchFamily="18" charset="0"/>
              <a:cs typeface="Times New Roman" pitchFamily="18" charset="0"/>
            </a:endParaRPr>
          </a:p>
          <a:p>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1329058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1143000"/>
          </a:xfrm>
        </p:spPr>
        <p:txBody>
          <a:bodyPr>
            <a:normAutofit/>
          </a:bodyPr>
          <a:lstStyle/>
          <a:p>
            <a:r>
              <a:rPr lang="en-IN" sz="4000" dirty="0">
                <a:solidFill>
                  <a:srgbClr val="FF0000"/>
                </a:solidFill>
                <a:latin typeface="Times New Roman" pitchFamily="18" charset="0"/>
                <a:cs typeface="Times New Roman" pitchFamily="18" charset="0"/>
              </a:rPr>
              <a:t>Design of Asynchronous Counters</a:t>
            </a:r>
          </a:p>
        </p:txBody>
      </p:sp>
      <p:sp>
        <p:nvSpPr>
          <p:cNvPr id="3" name="Content Placeholder 2"/>
          <p:cNvSpPr>
            <a:spLocks noGrp="1"/>
          </p:cNvSpPr>
          <p:nvPr>
            <p:ph idx="1"/>
          </p:nvPr>
        </p:nvSpPr>
        <p:spPr/>
        <p:txBody>
          <a:bodyPr/>
          <a:lstStyle/>
          <a:p>
            <a:pPr marL="0" indent="0">
              <a:buNone/>
            </a:pPr>
            <a:endParaRPr lang="en-IN"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19200"/>
            <a:ext cx="8991600" cy="217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610" y="3483540"/>
            <a:ext cx="8781790" cy="3145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07656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327" y="304800"/>
            <a:ext cx="8968673"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41410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7419975" cy="648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73696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85800"/>
            <a:ext cx="8763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65266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72024"/>
            <a:ext cx="6832285" cy="61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674317"/>
            <a:ext cx="8458200" cy="6097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52552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609600" y="457200"/>
            <a:ext cx="2543175" cy="4581525"/>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572000" y="685800"/>
            <a:ext cx="2743200" cy="3876675"/>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718"/>
          <a:stretch/>
        </p:blipFill>
        <p:spPr bwMode="auto">
          <a:xfrm>
            <a:off x="152400" y="762000"/>
            <a:ext cx="8477250" cy="457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03121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81000"/>
            <a:ext cx="86868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35265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1"/>
            <a:ext cx="8839200" cy="429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399" y="4572000"/>
            <a:ext cx="8711133"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14107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26451"/>
            <a:ext cx="5514975" cy="6402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45033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39818"/>
            <a:ext cx="5181600" cy="686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09" y="609600"/>
            <a:ext cx="876948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97675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799" y="333375"/>
            <a:ext cx="8736037" cy="614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53679" y="5329443"/>
            <a:ext cx="375424" cy="369332"/>
          </a:xfrm>
          <a:prstGeom prst="rect">
            <a:avLst/>
          </a:prstGeom>
          <a:solidFill>
            <a:schemeClr val="bg1"/>
          </a:solidFill>
        </p:spPr>
        <p:txBody>
          <a:bodyPr wrap="none" rtlCol="0">
            <a:spAutoFit/>
          </a:bodyPr>
          <a:lstStyle/>
          <a:p>
            <a:r>
              <a:rPr lang="en-IN" dirty="0"/>
              <a:t>J2</a:t>
            </a:r>
          </a:p>
        </p:txBody>
      </p:sp>
      <p:sp>
        <p:nvSpPr>
          <p:cNvPr id="6" name="TextBox 5"/>
          <p:cNvSpPr txBox="1"/>
          <p:nvPr/>
        </p:nvSpPr>
        <p:spPr>
          <a:xfrm>
            <a:off x="6154554" y="5329443"/>
            <a:ext cx="421910" cy="369332"/>
          </a:xfrm>
          <a:prstGeom prst="rect">
            <a:avLst/>
          </a:prstGeom>
          <a:solidFill>
            <a:schemeClr val="bg1"/>
          </a:solidFill>
        </p:spPr>
        <p:txBody>
          <a:bodyPr wrap="none" rtlCol="0">
            <a:spAutoFit/>
          </a:bodyPr>
          <a:lstStyle/>
          <a:p>
            <a:r>
              <a:rPr lang="en-IN" dirty="0"/>
              <a:t>K2</a:t>
            </a:r>
          </a:p>
        </p:txBody>
      </p:sp>
    </p:spTree>
    <p:extLst>
      <p:ext uri="{BB962C8B-B14F-4D97-AF65-F5344CB8AC3E}">
        <p14:creationId xmlns:p14="http://schemas.microsoft.com/office/powerpoint/2010/main" val="2603485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lum bright="-8000" contrast="50000"/>
          </a:blip>
          <a:srcRect/>
          <a:stretch>
            <a:fillRect/>
          </a:stretch>
        </p:blipFill>
        <p:spPr bwMode="auto">
          <a:xfrm>
            <a:off x="304800" y="1143000"/>
            <a:ext cx="8458200" cy="4648200"/>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72" y="228600"/>
            <a:ext cx="889686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858982"/>
            <a:ext cx="4800600" cy="5835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2675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52400"/>
            <a:ext cx="8686800" cy="6365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08325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04801"/>
            <a:ext cx="8915400" cy="449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58893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067800"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cstate="print">
            <a:lum contrast="61000"/>
          </a:blip>
          <a:srcRect/>
          <a:stretch>
            <a:fillRect/>
          </a:stretch>
        </p:blipFill>
        <p:spPr bwMode="auto">
          <a:xfrm>
            <a:off x="762000" y="3810000"/>
            <a:ext cx="6705600" cy="2838450"/>
          </a:xfrm>
          <a:prstGeom prst="rect">
            <a:avLst/>
          </a:prstGeom>
          <a:noFill/>
          <a:ln w="9525">
            <a:noFill/>
            <a:miter lim="800000"/>
            <a:headEnd/>
            <a:tailEnd/>
          </a:ln>
        </p:spPr>
      </p:pic>
    </p:spTree>
    <p:extLst>
      <p:ext uri="{BB962C8B-B14F-4D97-AF65-F5344CB8AC3E}">
        <p14:creationId xmlns:p14="http://schemas.microsoft.com/office/powerpoint/2010/main" val="13962837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905000"/>
            <a:ext cx="8305800" cy="386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srcRect/>
          <a:stretch>
            <a:fillRect/>
          </a:stretch>
        </p:blipFill>
        <p:spPr bwMode="auto">
          <a:xfrm>
            <a:off x="838200" y="990600"/>
            <a:ext cx="6019800" cy="45720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838200" y="381000"/>
            <a:ext cx="5962650" cy="571500"/>
          </a:xfrm>
          <a:prstGeom prst="rect">
            <a:avLst/>
          </a:prstGeom>
          <a:noFill/>
          <a:ln w="9525">
            <a:noFill/>
            <a:miter lim="800000"/>
            <a:headEnd/>
            <a:tailEnd/>
          </a:ln>
        </p:spPr>
      </p:pic>
    </p:spTree>
    <p:extLst>
      <p:ext uri="{BB962C8B-B14F-4D97-AF65-F5344CB8AC3E}">
        <p14:creationId xmlns:p14="http://schemas.microsoft.com/office/powerpoint/2010/main" val="2981562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52400" y="228600"/>
            <a:ext cx="8610600" cy="5029199"/>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381000" y="381000"/>
            <a:ext cx="8534400" cy="6095999"/>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04800" y="0"/>
            <a:ext cx="8610600" cy="3076575"/>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0" y="3200400"/>
            <a:ext cx="8839200" cy="3429000"/>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762000" y="1447800"/>
            <a:ext cx="7548563" cy="3733800"/>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Binary Up- down counter, BCD counter are mentioned in syllabus.</a:t>
            </a:r>
          </a:p>
          <a:p>
            <a:r>
              <a:rPr lang="en-US" dirty="0"/>
              <a:t>Refer </a:t>
            </a:r>
            <a:r>
              <a:rPr lang="en-US" dirty="0">
                <a:solidFill>
                  <a:srgbClr val="FF0000"/>
                </a:solidFill>
              </a:rPr>
              <a:t>synchronous counters.pdf  </a:t>
            </a:r>
            <a:r>
              <a:rPr lang="en-US" dirty="0"/>
              <a:t>for various types of synchronous counter design .</a:t>
            </a:r>
          </a:p>
          <a:p>
            <a:r>
              <a:rPr lang="en-IN" dirty="0">
                <a:latin typeface="Times New Roman" pitchFamily="18" charset="0"/>
                <a:cs typeface="Times New Roman" pitchFamily="18" charset="0"/>
              </a:rPr>
              <a:t>Registers- register with parallel load.-is explained along </a:t>
            </a:r>
            <a:r>
              <a:rPr lang="en-IN">
                <a:latin typeface="Times New Roman" pitchFamily="18" charset="0"/>
                <a:cs typeface="Times New Roman" pitchFamily="18" charset="0"/>
              </a:rPr>
              <a:t>with module 5</a:t>
            </a: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B0878270D45214FAEC0BE4347FF20F5" ma:contentTypeVersion="2" ma:contentTypeDescription="Create a new document." ma:contentTypeScope="" ma:versionID="1d4e4734975d0787c7f71dcf8f60d091">
  <xsd:schema xmlns:xsd="http://www.w3.org/2001/XMLSchema" xmlns:xs="http://www.w3.org/2001/XMLSchema" xmlns:p="http://schemas.microsoft.com/office/2006/metadata/properties" xmlns:ns2="d8c16487-0398-4b6e-9a0f-519d255dfaa0" targetNamespace="http://schemas.microsoft.com/office/2006/metadata/properties" ma:root="true" ma:fieldsID="1c229066ed7dd537124e8a26659c9bb5" ns2:_="">
    <xsd:import namespace="d8c16487-0398-4b6e-9a0f-519d255dfaa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c16487-0398-4b6e-9a0f-519d255dfa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752F4C-00A1-4F31-88C4-F76D5115579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08F797C-320C-4F12-BE6D-C425E2A25637}">
  <ds:schemaRefs>
    <ds:schemaRef ds:uri="http://schemas.microsoft.com/sharepoint/v3/contenttype/forms"/>
  </ds:schemaRefs>
</ds:datastoreItem>
</file>

<file path=customXml/itemProps3.xml><?xml version="1.0" encoding="utf-8"?>
<ds:datastoreItem xmlns:ds="http://schemas.openxmlformats.org/officeDocument/2006/customXml" ds:itemID="{63DE6116-4FF1-4D27-A40D-07EED108D6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c16487-0398-4b6e-9a0f-519d255dfa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9511</TotalTime>
  <Words>2492</Words>
  <Application>Microsoft Office PowerPoint</Application>
  <PresentationFormat>On-screen Show (4:3)</PresentationFormat>
  <Paragraphs>224</Paragraphs>
  <Slides>95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Arial</vt:lpstr>
      <vt:lpstr>Calibri</vt:lpstr>
      <vt:lpstr>Times New Roman</vt:lpstr>
      <vt:lpstr>Wingdings</vt:lpstr>
      <vt:lpstr>Office Theme</vt:lpstr>
      <vt:lpstr>MODULE-4 Sequential logic circuits: Flip-flops- SR, JK, T and D. Triggering of flip-flops- Master slave flip- flops, Edge- triggered flip- flops. Excitation table and characteristic equation. Registers- register with parallel load. Counter design: Asynchronous counters- Binary and BCD counters, timing sequences and state diagrams. Synchronous counters- Binary Up- down counter, BCD counter.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Active HIGH SR Latch</vt:lpstr>
      <vt:lpstr>Active LOW SR Latch</vt:lpstr>
      <vt:lpstr>Gated Latches</vt:lpstr>
      <vt:lpstr>PowerPoint Presentation</vt:lpstr>
      <vt:lpstr>PowerPoint Presentation</vt:lpstr>
      <vt:lpstr>PowerPoint Presentation</vt:lpstr>
      <vt:lpstr>PowerPoint Presentation</vt:lpstr>
      <vt:lpstr>Triggering of Flip Flops</vt:lpstr>
      <vt:lpstr>PowerPoint Presentation</vt:lpstr>
      <vt:lpstr>PowerPoint Presentation</vt:lpstr>
      <vt:lpstr>Types of flip flops (Edge triggered flip flops)</vt:lpstr>
      <vt:lpstr>PowerPoint Presentation</vt:lpstr>
      <vt:lpstr>PowerPoint Presentation</vt:lpstr>
      <vt:lpstr>PowerPoint Presentation</vt:lpstr>
      <vt:lpstr>Working of positive edge triggered S-R FF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Asynchronous Inputs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 of Asynchronous Counters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MODULE-4 Sequential logic circuits: Flip-flops- SR, JK, T and D. Triggering of flip-flops- Master slave flip- flops, Edge- triggered flip- flops. Excitation table and characteristic equation. Registers- register with parallel load. Counter design: Asynchronous counters- Binary and BCD counters, timing sequences and state diagrams. Synchronous counters- Binary Up- down counter, BCD counter.</dc:title>
  <dc:creator>Ms. Anu C Kunjachan</dc:creator>
  <cp:lastModifiedBy>ANU C KUNJACHAN</cp:lastModifiedBy>
  <cp:revision>76</cp:revision>
  <dcterms:created xsi:type="dcterms:W3CDTF">2006-08-16T00:00:00Z</dcterms:created>
  <dcterms:modified xsi:type="dcterms:W3CDTF">2023-11-27T06:52:44Z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0x0101006B0878270D45214FAEC0BE4347FF20F5</vt:lpwstr>
  </property>
</Properties>
</file>